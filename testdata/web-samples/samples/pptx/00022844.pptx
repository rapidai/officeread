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34"/>
  </p:notesMasterIdLst>
  <p:handoutMasterIdLst>
    <p:handoutMasterId r:id="rId35"/>
  </p:handoutMasterIdLst>
  <p:sldIdLst>
    <p:sldId id="256" r:id="rId2"/>
    <p:sldId id="257" r:id="rId3"/>
    <p:sldId id="320" r:id="rId4"/>
    <p:sldId id="321" r:id="rId5"/>
    <p:sldId id="326" r:id="rId6"/>
    <p:sldId id="327" r:id="rId7"/>
    <p:sldId id="328" r:id="rId8"/>
    <p:sldId id="330" r:id="rId9"/>
    <p:sldId id="287" r:id="rId10"/>
    <p:sldId id="288" r:id="rId11"/>
    <p:sldId id="310" r:id="rId12"/>
    <p:sldId id="313" r:id="rId13"/>
    <p:sldId id="323" r:id="rId14"/>
    <p:sldId id="292" r:id="rId15"/>
    <p:sldId id="325" r:id="rId16"/>
    <p:sldId id="302" r:id="rId17"/>
    <p:sldId id="303" r:id="rId18"/>
    <p:sldId id="304" r:id="rId19"/>
    <p:sldId id="312" r:id="rId20"/>
    <p:sldId id="305" r:id="rId21"/>
    <p:sldId id="306" r:id="rId22"/>
    <p:sldId id="307" r:id="rId23"/>
    <p:sldId id="308" r:id="rId24"/>
    <p:sldId id="309" r:id="rId25"/>
    <p:sldId id="314" r:id="rId26"/>
    <p:sldId id="315" r:id="rId27"/>
    <p:sldId id="319" r:id="rId28"/>
    <p:sldId id="318" r:id="rId29"/>
    <p:sldId id="297" r:id="rId30"/>
    <p:sldId id="322" r:id="rId31"/>
    <p:sldId id="317" r:id="rId32"/>
    <p:sldId id="324" r:id="rId33"/>
  </p:sldIdLst>
  <p:sldSz cx="9144000" cy="6858000" type="screen4x3"/>
  <p:notesSz cx="6997700" cy="92837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FF00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109" d="100"/>
          <a:sy n="109" d="100"/>
        </p:scale>
        <p:origin x="-1602"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14"/>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HOMENCS_HOME_WXYZ_SERVER\HOME_WXYZ\HOME\WEINB001\EXCEL\2020%20census\1970-2020%20Life%20Cycle%20Estimate%2030Aug10.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autoTitleDeleted val="1"/>
    <c:plotArea>
      <c:layout/>
      <c:lineChart>
        <c:grouping val="standard"/>
        <c:ser>
          <c:idx val="2"/>
          <c:order val="1"/>
          <c:cat>
            <c:strRef>
              <c:f>'cost by decade'!$B$16:$G$16</c:f>
              <c:strCache>
                <c:ptCount val="6"/>
                <c:pt idx="0">
                  <c:v>1970</c:v>
                </c:pt>
                <c:pt idx="1">
                  <c:v>1980</c:v>
                </c:pt>
                <c:pt idx="2">
                  <c:v>1990</c:v>
                </c:pt>
                <c:pt idx="3">
                  <c:v>2000</c:v>
                </c:pt>
                <c:pt idx="4">
                  <c:v>2010 (estd)</c:v>
                </c:pt>
                <c:pt idx="5">
                  <c:v>2020 (proj)</c:v>
                </c:pt>
              </c:strCache>
            </c:strRef>
          </c:cat>
          <c:val>
            <c:numRef>
              <c:f>'cost by decade'!$B$17:$G$17</c:f>
              <c:numCache>
                <c:formatCode>"$"#,##0_);[Red]\("$"#,##0\)</c:formatCode>
                <c:ptCount val="6"/>
                <c:pt idx="0">
                  <c:v>14.38848920863313</c:v>
                </c:pt>
                <c:pt idx="1">
                  <c:v>29.050279329608937</c:v>
                </c:pt>
                <c:pt idx="2">
                  <c:v>39.613526570048244</c:v>
                </c:pt>
                <c:pt idx="3">
                  <c:v>69.78723404255318</c:v>
                </c:pt>
                <c:pt idx="4">
                  <c:v>98.174395307944394</c:v>
                </c:pt>
                <c:pt idx="5">
                  <c:v>155.53128259385358</c:v>
                </c:pt>
              </c:numCache>
            </c:numRef>
          </c:val>
        </c:ser>
        <c:ser>
          <c:idx val="4"/>
          <c:order val="2"/>
          <c:spPr>
            <a:ln>
              <a:solidFill>
                <a:srgbClr val="FF0000"/>
              </a:solidFill>
            </a:ln>
          </c:spPr>
          <c:dLbls>
            <c:dLbl>
              <c:idx val="4"/>
              <c:layout>
                <c:manualLayout>
                  <c:x val="-7.4145350563465356E-2"/>
                  <c:y val="5.671287182852193E-2"/>
                </c:manualLayout>
              </c:layout>
              <c:tx>
                <c:rich>
                  <a:bodyPr/>
                  <a:lstStyle/>
                  <a:p>
                    <a:r>
                      <a:rPr lang="en-US"/>
                      <a:t>$81 </a:t>
                    </a:r>
                  </a:p>
                  <a:p>
                    <a:r>
                      <a:rPr lang="en-US"/>
                      <a:t>(short</a:t>
                    </a:r>
                    <a:r>
                      <a:rPr lang="en-US" baseline="0"/>
                      <a:t> form only)</a:t>
                    </a:r>
                    <a:r>
                      <a:rPr lang="en-US"/>
                      <a:t> </a:t>
                    </a:r>
                  </a:p>
                </c:rich>
              </c:tx>
              <c:showVal val="1"/>
            </c:dLbl>
            <c:dLbl>
              <c:idx val="5"/>
              <c:layout>
                <c:manualLayout>
                  <c:x val="-4.1666671924423956E-2"/>
                  <c:y val="7.6388888888888923E-2"/>
                </c:manualLayout>
              </c:layout>
              <c:tx>
                <c:rich>
                  <a:bodyPr/>
                  <a:lstStyle/>
                  <a:p>
                    <a:r>
                      <a:rPr lang="en-US" dirty="0"/>
                      <a:t>$81</a:t>
                    </a:r>
                  </a:p>
                  <a:p>
                    <a:r>
                      <a:rPr lang="en-US" dirty="0"/>
                      <a:t>(</a:t>
                    </a:r>
                    <a:r>
                      <a:rPr lang="en-US" dirty="0" smtClean="0"/>
                      <a:t>target*)</a:t>
                    </a:r>
                    <a:endParaRPr lang="en-US" dirty="0"/>
                  </a:p>
                  <a:p>
                    <a:r>
                      <a:rPr lang="en-US" dirty="0"/>
                      <a:t> </a:t>
                    </a:r>
                  </a:p>
                </c:rich>
              </c:tx>
              <c:showVal val="1"/>
            </c:dLbl>
            <c:showVal val="1"/>
          </c:dLbls>
          <c:cat>
            <c:strRef>
              <c:f>'cost by decade'!$B$16:$G$16</c:f>
              <c:strCache>
                <c:ptCount val="6"/>
                <c:pt idx="0">
                  <c:v>1970</c:v>
                </c:pt>
                <c:pt idx="1">
                  <c:v>1980</c:v>
                </c:pt>
                <c:pt idx="2">
                  <c:v>1990</c:v>
                </c:pt>
                <c:pt idx="3">
                  <c:v>2000</c:v>
                </c:pt>
                <c:pt idx="4">
                  <c:v>2010 (estd)</c:v>
                </c:pt>
                <c:pt idx="5">
                  <c:v>2020 (proj)</c:v>
                </c:pt>
              </c:strCache>
            </c:strRef>
          </c:cat>
          <c:val>
            <c:numRef>
              <c:f>'cost by decade'!$B$19:$G$19</c:f>
              <c:numCache>
                <c:formatCode>General</c:formatCode>
                <c:ptCount val="6"/>
                <c:pt idx="4" formatCode="&quot;$&quot;#,##0_);[Red]\(&quot;$&quot;#,##0\)">
                  <c:v>81.048695554033628</c:v>
                </c:pt>
                <c:pt idx="5" formatCode="&quot;$&quot;#,##0_);[Red]\(&quot;$&quot;#,##0\)">
                  <c:v>81.048695554033628</c:v>
                </c:pt>
              </c:numCache>
            </c:numRef>
          </c:val>
        </c:ser>
        <c:ser>
          <c:idx val="0"/>
          <c:order val="0"/>
          <c:spPr>
            <a:ln>
              <a:solidFill>
                <a:srgbClr val="002060"/>
              </a:solidFill>
            </a:ln>
          </c:spPr>
          <c:dLbls>
            <c:dLblPos val="t"/>
            <c:showVal val="1"/>
          </c:dLbls>
          <c:cat>
            <c:strRef>
              <c:f>'cost by decade'!$B$16:$G$16</c:f>
              <c:strCache>
                <c:ptCount val="6"/>
                <c:pt idx="0">
                  <c:v>1970</c:v>
                </c:pt>
                <c:pt idx="1">
                  <c:v>1980</c:v>
                </c:pt>
                <c:pt idx="2">
                  <c:v>1990</c:v>
                </c:pt>
                <c:pt idx="3">
                  <c:v>2000</c:v>
                </c:pt>
                <c:pt idx="4">
                  <c:v>2010 (estd)</c:v>
                </c:pt>
                <c:pt idx="5">
                  <c:v>2020 (proj)</c:v>
                </c:pt>
              </c:strCache>
            </c:strRef>
          </c:cat>
          <c:val>
            <c:numRef>
              <c:f>'cost by decade'!$B$17:$G$17</c:f>
              <c:numCache>
                <c:formatCode>"$"#,##0_);[Red]\("$"#,##0\)</c:formatCode>
                <c:ptCount val="6"/>
                <c:pt idx="0">
                  <c:v>14.38848920863313</c:v>
                </c:pt>
                <c:pt idx="1">
                  <c:v>29.050279329608937</c:v>
                </c:pt>
                <c:pt idx="2">
                  <c:v>39.613526570048244</c:v>
                </c:pt>
                <c:pt idx="3">
                  <c:v>69.78723404255318</c:v>
                </c:pt>
                <c:pt idx="4">
                  <c:v>98.174395307944394</c:v>
                </c:pt>
                <c:pt idx="5">
                  <c:v>155.53128259385358</c:v>
                </c:pt>
              </c:numCache>
            </c:numRef>
          </c:val>
        </c:ser>
        <c:marker val="1"/>
        <c:axId val="110670208"/>
        <c:axId val="110671744"/>
      </c:lineChart>
      <c:catAx>
        <c:axId val="110670208"/>
        <c:scaling>
          <c:orientation val="minMax"/>
        </c:scaling>
        <c:axPos val="b"/>
        <c:numFmt formatCode="General" sourceLinked="1"/>
        <c:tickLblPos val="nextTo"/>
        <c:crossAx val="110671744"/>
        <c:crosses val="autoZero"/>
        <c:auto val="1"/>
        <c:lblAlgn val="ctr"/>
        <c:lblOffset val="100"/>
      </c:catAx>
      <c:valAx>
        <c:axId val="110671744"/>
        <c:scaling>
          <c:orientation val="minMax"/>
        </c:scaling>
        <c:axPos val="l"/>
        <c:majorGridlines/>
        <c:numFmt formatCode="&quot;$&quot;#,##0_);[Red]\(&quot;$&quot;#,##0\)" sourceLinked="1"/>
        <c:tickLblPos val="nextTo"/>
        <c:crossAx val="110670208"/>
        <c:crosses val="autoZero"/>
        <c:crossBetween val="between"/>
      </c:valAx>
    </c:plotArea>
    <c:plotVisOnly val="1"/>
    <c:dispBlanksAs val="gap"/>
  </c:chart>
  <c:externalData r:id="rId2"/>
  <c:userShapes r:id="rId3"/>
</c:chartSpace>
</file>

<file path=ppt/drawings/drawing1.xml><?xml version="1.0" encoding="utf-8"?>
<c:userShapes xmlns:c="http://schemas.openxmlformats.org/drawingml/2006/chart">
  <cdr:relSizeAnchor xmlns:cdr="http://schemas.openxmlformats.org/drawingml/2006/chartDrawing">
    <cdr:from>
      <cdr:x>0.88958</cdr:x>
      <cdr:y>0.17846</cdr:y>
    </cdr:from>
    <cdr:to>
      <cdr:x>1</cdr:x>
      <cdr:y>0.26042</cdr:y>
    </cdr:to>
    <cdr:sp macro="" textlink="">
      <cdr:nvSpPr>
        <cdr:cNvPr id="2" name="TextBox 1"/>
        <cdr:cNvSpPr txBox="1"/>
      </cdr:nvSpPr>
      <cdr:spPr>
        <a:xfrm xmlns:a="http://schemas.openxmlformats.org/drawingml/2006/main">
          <a:off x="4095735" y="489555"/>
          <a:ext cx="504840" cy="22483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p>
      </cdr:txBody>
    </cdr:sp>
  </cdr:relSizeAnchor>
  <cdr:relSizeAnchor xmlns:cdr="http://schemas.openxmlformats.org/drawingml/2006/chartDrawing">
    <cdr:from>
      <cdr:x>0.88959</cdr:x>
      <cdr:y>0.29513</cdr:y>
    </cdr:from>
    <cdr:to>
      <cdr:x>0.98334</cdr:x>
      <cdr:y>0.37847</cdr:y>
    </cdr:to>
    <cdr:sp macro="" textlink="">
      <cdr:nvSpPr>
        <cdr:cNvPr id="4" name="TextBox 3"/>
        <cdr:cNvSpPr txBox="1"/>
      </cdr:nvSpPr>
      <cdr:spPr>
        <a:xfrm xmlns:a="http://schemas.openxmlformats.org/drawingml/2006/main">
          <a:off x="4067190" y="809613"/>
          <a:ext cx="428625" cy="228618"/>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0.88958</cdr:x>
      <cdr:y>0.23264</cdr:y>
    </cdr:from>
    <cdr:to>
      <cdr:x>0.98125</cdr:x>
      <cdr:y>0.32292</cdr:y>
    </cdr:to>
    <cdr:sp macro="" textlink="">
      <cdr:nvSpPr>
        <cdr:cNvPr id="5" name="TextBox 4"/>
        <cdr:cNvSpPr txBox="1"/>
      </cdr:nvSpPr>
      <cdr:spPr>
        <a:xfrm xmlns:a="http://schemas.openxmlformats.org/drawingml/2006/main">
          <a:off x="4067160" y="638181"/>
          <a:ext cx="419115" cy="24764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0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32125" cy="463550"/>
          </a:xfrm>
          <a:prstGeom prst="rect">
            <a:avLst/>
          </a:prstGeom>
          <a:noFill/>
          <a:ln w="9525">
            <a:noFill/>
            <a:miter lim="800000"/>
            <a:headEnd/>
            <a:tailEnd/>
          </a:ln>
        </p:spPr>
        <p:txBody>
          <a:bodyPr vert="horz" wrap="square" lIns="93027" tIns="46514" rIns="93027" bIns="46514" numCol="1" anchor="t" anchorCtr="0" compatLnSpc="1">
            <a:prstTxWarp prst="textNoShape">
              <a:avLst/>
            </a:prstTxWarp>
          </a:bodyPr>
          <a:lstStyle>
            <a:lvl1pPr defTabSz="879475">
              <a:defRPr sz="1300"/>
            </a:lvl1pPr>
          </a:lstStyle>
          <a:p>
            <a:endParaRPr lang="en-US"/>
          </a:p>
        </p:txBody>
      </p:sp>
      <p:sp>
        <p:nvSpPr>
          <p:cNvPr id="3" name="Date Placeholder 2"/>
          <p:cNvSpPr>
            <a:spLocks noGrp="1"/>
          </p:cNvSpPr>
          <p:nvPr>
            <p:ph type="dt" sz="quarter" idx="1"/>
          </p:nvPr>
        </p:nvSpPr>
        <p:spPr bwMode="auto">
          <a:xfrm>
            <a:off x="3963988" y="0"/>
            <a:ext cx="3032125" cy="463550"/>
          </a:xfrm>
          <a:prstGeom prst="rect">
            <a:avLst/>
          </a:prstGeom>
          <a:noFill/>
          <a:ln w="9525">
            <a:noFill/>
            <a:miter lim="800000"/>
            <a:headEnd/>
            <a:tailEnd/>
          </a:ln>
        </p:spPr>
        <p:txBody>
          <a:bodyPr vert="horz" wrap="square" lIns="93027" tIns="46514" rIns="93027" bIns="46514" numCol="1" anchor="t" anchorCtr="0" compatLnSpc="1">
            <a:prstTxWarp prst="textNoShape">
              <a:avLst/>
            </a:prstTxWarp>
          </a:bodyPr>
          <a:lstStyle>
            <a:lvl1pPr algn="r" defTabSz="879475">
              <a:defRPr sz="1300"/>
            </a:lvl1pPr>
          </a:lstStyle>
          <a:p>
            <a:fld id="{4B11328C-E0E6-4B93-A70F-27D4DD0E7F6B}" type="datetimeFigureOut">
              <a:rPr lang="en-US"/>
              <a:pPr/>
              <a:t>11/10/2010</a:t>
            </a:fld>
            <a:endParaRPr lang="en-US"/>
          </a:p>
        </p:txBody>
      </p:sp>
      <p:sp>
        <p:nvSpPr>
          <p:cNvPr id="4" name="Footer Placeholder 3"/>
          <p:cNvSpPr>
            <a:spLocks noGrp="1"/>
          </p:cNvSpPr>
          <p:nvPr>
            <p:ph type="ftr" sz="quarter" idx="2"/>
          </p:nvPr>
        </p:nvSpPr>
        <p:spPr bwMode="auto">
          <a:xfrm>
            <a:off x="0" y="8818563"/>
            <a:ext cx="3032125" cy="463550"/>
          </a:xfrm>
          <a:prstGeom prst="rect">
            <a:avLst/>
          </a:prstGeom>
          <a:noFill/>
          <a:ln w="9525">
            <a:noFill/>
            <a:miter lim="800000"/>
            <a:headEnd/>
            <a:tailEnd/>
          </a:ln>
        </p:spPr>
        <p:txBody>
          <a:bodyPr vert="horz" wrap="square" lIns="93027" tIns="46514" rIns="93027" bIns="46514" numCol="1" anchor="b" anchorCtr="0" compatLnSpc="1">
            <a:prstTxWarp prst="textNoShape">
              <a:avLst/>
            </a:prstTxWarp>
          </a:bodyPr>
          <a:lstStyle>
            <a:lvl1pPr defTabSz="879475">
              <a:defRPr sz="1300"/>
            </a:lvl1pPr>
          </a:lstStyle>
          <a:p>
            <a:endParaRPr lang="en-US"/>
          </a:p>
        </p:txBody>
      </p:sp>
      <p:sp>
        <p:nvSpPr>
          <p:cNvPr id="5" name="Slide Number Placeholder 4"/>
          <p:cNvSpPr>
            <a:spLocks noGrp="1"/>
          </p:cNvSpPr>
          <p:nvPr>
            <p:ph type="sldNum" sz="quarter" idx="3"/>
          </p:nvPr>
        </p:nvSpPr>
        <p:spPr bwMode="auto">
          <a:xfrm>
            <a:off x="3963988" y="8818563"/>
            <a:ext cx="3032125" cy="463550"/>
          </a:xfrm>
          <a:prstGeom prst="rect">
            <a:avLst/>
          </a:prstGeom>
          <a:noFill/>
          <a:ln w="9525">
            <a:noFill/>
            <a:miter lim="800000"/>
            <a:headEnd/>
            <a:tailEnd/>
          </a:ln>
        </p:spPr>
        <p:txBody>
          <a:bodyPr vert="horz" wrap="square" lIns="93027" tIns="46514" rIns="93027" bIns="46514" numCol="1" anchor="b" anchorCtr="0" compatLnSpc="1">
            <a:prstTxWarp prst="textNoShape">
              <a:avLst/>
            </a:prstTxWarp>
          </a:bodyPr>
          <a:lstStyle>
            <a:lvl1pPr algn="r" defTabSz="879475">
              <a:defRPr sz="1300"/>
            </a:lvl1pPr>
          </a:lstStyle>
          <a:p>
            <a:fld id="{5CA0247B-5367-469F-B9B7-27E52977BBF5}"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03427"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F73A181C-008E-4F8F-9F49-7E026606A945}" type="datetimeFigureOut">
              <a:rPr lang="en-US"/>
              <a:pPr/>
              <a:t>11/10/2010</a:t>
            </a:fld>
            <a:endParaRPr lang="en-US"/>
          </a:p>
        </p:txBody>
      </p:sp>
      <p:sp>
        <p:nvSpPr>
          <p:cNvPr id="103428" name="Rectangle 4"/>
          <p:cNvSpPr>
            <a:spLocks noRo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103429" name="Rectangle 5"/>
          <p:cNvSpPr>
            <a:spLocks noGrp="1" noChangeArrowheads="1"/>
          </p:cNvSpPr>
          <p:nvPr>
            <p:ph type="body" sz="quarter" idx="3"/>
          </p:nvPr>
        </p:nvSpPr>
        <p:spPr bwMode="auto">
          <a:xfrm>
            <a:off x="700088" y="4410075"/>
            <a:ext cx="5597525" cy="4176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430" name="Rectangle 6"/>
          <p:cNvSpPr>
            <a:spLocks noGrp="1" noChangeArrowheads="1"/>
          </p:cNvSpPr>
          <p:nvPr>
            <p:ph type="ftr" sz="quarter" idx="4"/>
          </p:nvPr>
        </p:nvSpPr>
        <p:spPr bwMode="auto">
          <a:xfrm>
            <a:off x="0"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03431" name="Rectangle 7"/>
          <p:cNvSpPr>
            <a:spLocks noGrp="1" noChangeArrowheads="1"/>
          </p:cNvSpPr>
          <p:nvPr>
            <p:ph type="sldNum" sz="quarter" idx="5"/>
          </p:nvPr>
        </p:nvSpPr>
        <p:spPr bwMode="auto">
          <a:xfrm>
            <a:off x="3963988"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A25FFDF-2281-4AB8-9F29-E6925DD27B7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Calibri" pitchFamily="34" charset="0"/>
        <a:ea typeface="+mn-ea"/>
        <a:cs typeface="+mn-cs"/>
      </a:defRPr>
    </a:lvl1pPr>
    <a:lvl2pPr marL="457200" algn="l" rtl="0" fontAlgn="base">
      <a:spcBef>
        <a:spcPct val="30000"/>
      </a:spcBef>
      <a:spcAft>
        <a:spcPct val="0"/>
      </a:spcAft>
      <a:defRPr sz="1200" kern="1200">
        <a:solidFill>
          <a:schemeClr val="tx1"/>
        </a:solidFill>
        <a:latin typeface="Calibri" pitchFamily="34" charset="0"/>
        <a:ea typeface="+mn-ea"/>
        <a:cs typeface="+mn-cs"/>
      </a:defRPr>
    </a:lvl2pPr>
    <a:lvl3pPr marL="914400" algn="l" rtl="0" fontAlgn="base">
      <a:spcBef>
        <a:spcPct val="30000"/>
      </a:spcBef>
      <a:spcAft>
        <a:spcPct val="0"/>
      </a:spcAft>
      <a:defRPr sz="1200" kern="1200">
        <a:solidFill>
          <a:schemeClr val="tx1"/>
        </a:solidFill>
        <a:latin typeface="Calibri" pitchFamily="34" charset="0"/>
        <a:ea typeface="+mn-ea"/>
        <a:cs typeface="+mn-cs"/>
      </a:defRPr>
    </a:lvl3pPr>
    <a:lvl4pPr marL="1371600" algn="l" rtl="0" fontAlgn="base">
      <a:spcBef>
        <a:spcPct val="30000"/>
      </a:spcBef>
      <a:spcAft>
        <a:spcPct val="0"/>
      </a:spcAft>
      <a:defRPr sz="1200" kern="1200">
        <a:solidFill>
          <a:schemeClr val="tx1"/>
        </a:solidFill>
        <a:latin typeface="Calibri" pitchFamily="34" charset="0"/>
        <a:ea typeface="+mn-ea"/>
        <a:cs typeface="+mn-cs"/>
      </a:defRPr>
    </a:lvl4pPr>
    <a:lvl5pPr marL="1828800" algn="l" rtl="0" fontAlgn="base">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fld id="{FC482CF2-4A5B-4E5F-B941-D28212AE9787}" type="datetimeFigureOut">
              <a:rPr lang="en-US"/>
              <a:pPr/>
              <a:t>11/10/2010</a:t>
            </a:fld>
            <a:endParaRPr lang="en-US"/>
          </a:p>
        </p:txBody>
      </p:sp>
      <p:sp>
        <p:nvSpPr>
          <p:cNvPr id="10" name="Footer Placeholder 16"/>
          <p:cNvSpPr>
            <a:spLocks noGrp="1"/>
          </p:cNvSpPr>
          <p:nvPr>
            <p:ph type="ftr" sz="quarter" idx="11"/>
          </p:nvPr>
        </p:nvSpPr>
        <p:spPr>
          <a:xfrm>
            <a:off x="2085975" y="236538"/>
            <a:ext cx="5867400" cy="365125"/>
          </a:xfrm>
        </p:spPr>
        <p:txBody>
          <a:bodyPr/>
          <a:lstStyle>
            <a:lvl1pPr>
              <a:defRPr/>
            </a:lvl1pPr>
          </a:lstStyle>
          <a:p>
            <a:endParaRPr lang="en-US"/>
          </a:p>
        </p:txBody>
      </p:sp>
      <p:sp>
        <p:nvSpPr>
          <p:cNvPr id="11" name="Slide Number Placeholder 28"/>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F5247E6D-547E-4B0D-AC8E-6D463CC2FD1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fld id="{8E789D8A-1054-483C-A95C-B356451D325E}" type="datetimeFigureOut">
              <a:rPr lang="en-US"/>
              <a:pPr/>
              <a:t>11/10/2010</a:t>
            </a:fld>
            <a:endParaRPr lang="en-US"/>
          </a:p>
        </p:txBody>
      </p:sp>
      <p:sp>
        <p:nvSpPr>
          <p:cNvPr id="5" name="Footer Placeholder 2"/>
          <p:cNvSpPr>
            <a:spLocks noGrp="1"/>
          </p:cNvSpPr>
          <p:nvPr>
            <p:ph type="ftr" sz="quarter" idx="11"/>
          </p:nvPr>
        </p:nvSpPr>
        <p:spPr/>
        <p:txBody>
          <a:bodyPr/>
          <a:lstStyle>
            <a:lvl1pPr>
              <a:defRPr/>
            </a:lvl1pPr>
          </a:lstStyle>
          <a:p>
            <a:endParaRPr lang="en-US"/>
          </a:p>
        </p:txBody>
      </p:sp>
      <p:sp>
        <p:nvSpPr>
          <p:cNvPr id="6" name="Slide Number Placeholder 22"/>
          <p:cNvSpPr>
            <a:spLocks noGrp="1"/>
          </p:cNvSpPr>
          <p:nvPr>
            <p:ph type="sldNum" sz="quarter" idx="12"/>
          </p:nvPr>
        </p:nvSpPr>
        <p:spPr/>
        <p:txBody>
          <a:bodyPr/>
          <a:lstStyle>
            <a:lvl1pPr>
              <a:defRPr/>
            </a:lvl1pPr>
          </a:lstStyle>
          <a:p>
            <a:pPr>
              <a:defRPr/>
            </a:pPr>
            <a:fld id="{69ED87C0-E1EA-4C81-9141-AD221D8193F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a:p>
        </p:txBody>
      </p:sp>
      <p:sp>
        <p:nvSpPr>
          <p:cNvPr id="7" name="Date Placeholder 11"/>
          <p:cNvSpPr>
            <a:spLocks noGrp="1"/>
          </p:cNvSpPr>
          <p:nvPr>
            <p:ph type="dt" sz="half" idx="10"/>
          </p:nvPr>
        </p:nvSpPr>
        <p:spPr/>
        <p:txBody>
          <a:bodyPr/>
          <a:lstStyle>
            <a:lvl1pPr>
              <a:defRPr/>
            </a:lvl1pPr>
          </a:lstStyle>
          <a:p>
            <a:fld id="{45D5C465-04DE-4DD5-9BB3-FD8464DF3F43}" type="datetimeFigureOut">
              <a:rPr lang="en-US"/>
              <a:pPr/>
              <a:t>11/10/2010</a:t>
            </a:fld>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smtClean="0">
                <a:solidFill>
                  <a:srgbClr val="FFFFFF"/>
                </a:solidFill>
              </a:defRPr>
            </a:lvl1pPr>
          </a:lstStyle>
          <a:p>
            <a:pPr>
              <a:defRPr/>
            </a:pPr>
            <a:fld id="{676F2417-EB62-4C6D-B9BD-0D2B6FC10944}"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p:txBody>
          <a:bodyPr/>
          <a:lstStyle>
            <a:lvl1pPr>
              <a:defRPr/>
            </a:lvl1pPr>
          </a:lstStyle>
          <a:p>
            <a:fld id="{E135240A-A921-4EFC-BD2D-826355F7591E}" type="datetimeFigureOut">
              <a:rPr lang="en-US"/>
              <a:pPr/>
              <a:t>11/10/2010</a:t>
            </a:fld>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94A68926-3287-4D77-8A2F-90AF83227132}" type="slidenum">
              <a:rPr lang="en-US"/>
              <a:pPr>
                <a:defRPr/>
              </a:pPr>
              <a:t>‹#›</a:t>
            </a:fld>
            <a:endParaRPr lang="en-US"/>
          </a:p>
        </p:txBody>
      </p:sp>
      <p:sp>
        <p:nvSpPr>
          <p:cNvPr id="7" name="Footer Placeholder 11"/>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7" name="Date Placeholder 9"/>
          <p:cNvSpPr>
            <a:spLocks noGrp="1"/>
          </p:cNvSpPr>
          <p:nvPr>
            <p:ph type="dt" sz="half" idx="10"/>
          </p:nvPr>
        </p:nvSpPr>
        <p:spPr/>
        <p:txBody>
          <a:bodyPr/>
          <a:lstStyle>
            <a:lvl1pPr>
              <a:defRPr/>
            </a:lvl1pPr>
          </a:lstStyle>
          <a:p>
            <a:fld id="{85F587AA-4023-48EA-A7E4-ECA576F2D06D}" type="datetimeFigureOut">
              <a:rPr lang="en-US"/>
              <a:pPr/>
              <a:t>11/10/2010</a:t>
            </a:fld>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4499DCD6-B5F1-4252-969F-270A436AF293}"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fld id="{6BBD3974-2D94-4B63-BA57-5DECD3C88A9E}" type="datetimeFigureOut">
              <a:rPr lang="en-US"/>
              <a:pPr/>
              <a:t>11/10/2010</a:t>
            </a:fld>
            <a:endParaRPr lang="en-US"/>
          </a:p>
        </p:txBody>
      </p:sp>
      <p:sp>
        <p:nvSpPr>
          <p:cNvPr id="4" name="Footer Placeholder 2"/>
          <p:cNvSpPr>
            <a:spLocks noGrp="1"/>
          </p:cNvSpPr>
          <p:nvPr>
            <p:ph type="ftr" sz="quarter" idx="11"/>
          </p:nvPr>
        </p:nvSpPr>
        <p:spPr/>
        <p:txBody>
          <a:bodyPr/>
          <a:lstStyle>
            <a:lvl1pPr>
              <a:defRPr/>
            </a:lvl1pPr>
          </a:lstStyle>
          <a:p>
            <a:endParaRPr lang="en-US"/>
          </a:p>
        </p:txBody>
      </p:sp>
      <p:sp>
        <p:nvSpPr>
          <p:cNvPr id="5" name="Slide Number Placeholder 22"/>
          <p:cNvSpPr>
            <a:spLocks noGrp="1"/>
          </p:cNvSpPr>
          <p:nvPr>
            <p:ph type="sldNum" sz="quarter" idx="12"/>
          </p:nvPr>
        </p:nvSpPr>
        <p:spPr/>
        <p:txBody>
          <a:bodyPr/>
          <a:lstStyle>
            <a:lvl1pPr>
              <a:defRPr/>
            </a:lvl1pPr>
          </a:lstStyle>
          <a:p>
            <a:pPr>
              <a:defRPr/>
            </a:pPr>
            <a:fld id="{25C2D86D-D3C9-48B2-8280-CE918FF4710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9B1BBEF6-151B-415F-822A-33B0F5EF786C}" type="datetimeFigureOut">
              <a:rPr lang="en-US"/>
              <a:pPr/>
              <a:t>11/10/2010</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smtClean="0">
                <a:solidFill>
                  <a:schemeClr val="tx2"/>
                </a:solidFill>
              </a:defRPr>
            </a:lvl1pPr>
          </a:lstStyle>
          <a:p>
            <a:pPr>
              <a:defRPr/>
            </a:pPr>
            <a:fld id="{F808F604-EB11-42C7-B33B-0E176A1A1ED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smtClean="0"/>
              <a:t>Click to edit Master title style</a:t>
            </a:r>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fld id="{544D0846-6ECA-40BB-88BC-0B3FFD2AD8B5}" type="datetimeFigureOut">
              <a:rPr lang="en-US"/>
              <a:pPr/>
              <a:t>11/10/2010</a:t>
            </a:fld>
            <a:endParaRPr lang="en-US"/>
          </a:p>
        </p:txBody>
      </p:sp>
      <p:sp>
        <p:nvSpPr>
          <p:cNvPr id="6" name="Footer Placeholder 2"/>
          <p:cNvSpPr>
            <a:spLocks noGrp="1"/>
          </p:cNvSpPr>
          <p:nvPr>
            <p:ph type="ftr" sz="quarter" idx="11"/>
          </p:nvPr>
        </p:nvSpPr>
        <p:spPr/>
        <p:txBody>
          <a:bodyPr/>
          <a:lstStyle>
            <a:lvl1pPr>
              <a:defRPr/>
            </a:lvl1pPr>
          </a:lstStyle>
          <a:p>
            <a:endParaRPr lang="en-US"/>
          </a:p>
        </p:txBody>
      </p:sp>
      <p:sp>
        <p:nvSpPr>
          <p:cNvPr id="7" name="Slide Number Placeholder 22"/>
          <p:cNvSpPr>
            <a:spLocks noGrp="1"/>
          </p:cNvSpPr>
          <p:nvPr>
            <p:ph type="sldNum" sz="quarter" idx="12"/>
          </p:nvPr>
        </p:nvSpPr>
        <p:spPr/>
        <p:txBody>
          <a:bodyPr/>
          <a:lstStyle>
            <a:lvl1pPr>
              <a:defRPr/>
            </a:lvl1pPr>
          </a:lstStyle>
          <a:p>
            <a:pPr>
              <a:defRPr/>
            </a:pPr>
            <a:fld id="{A6306655-C0C0-4DB6-AB5A-28CB653D9A1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a:lstStyle>
            <a:lvl1pPr>
              <a:defRPr/>
            </a:lvl1pPr>
          </a:lstStyle>
          <a:p>
            <a:fld id="{B3C01B61-827F-4AB7-9A25-386C5AF5FFE6}" type="datetimeFigureOut">
              <a:rPr lang="en-US"/>
              <a:pPr/>
              <a:t>11/10/2010</a:t>
            </a:fld>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smtClean="0"/>
            </a:lvl1pPr>
          </a:lstStyle>
          <a:p>
            <a:pPr>
              <a:defRPr/>
            </a:pPr>
            <a:fld id="{9E2B5B84-1CCA-4D6A-85E6-220CE5280599}" type="slidenum">
              <a:rPr lang="en-US"/>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a:lstStyle>
            <a:lvl1pPr>
              <a:defRPr/>
            </a:lvl1p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fld id="{F2680347-8531-48BA-AAC2-389F906B3551}" type="datetimeFigureOut">
              <a:rPr lang="en-US"/>
              <a:pPr/>
              <a:t>11/10/2010</a:t>
            </a:fld>
            <a:endParaRPr lang="en-US"/>
          </a:p>
        </p:txBody>
      </p:sp>
      <p:sp>
        <p:nvSpPr>
          <p:cNvPr id="5" name="Footer Placeholder 2"/>
          <p:cNvSpPr>
            <a:spLocks noGrp="1"/>
          </p:cNvSpPr>
          <p:nvPr>
            <p:ph type="ftr" sz="quarter" idx="11"/>
          </p:nvPr>
        </p:nvSpPr>
        <p:spPr/>
        <p:txBody>
          <a:bodyPr/>
          <a:lstStyle>
            <a:lvl1pPr>
              <a:defRPr/>
            </a:lvl1pPr>
          </a:lstStyle>
          <a:p>
            <a:endParaRPr lang="en-US"/>
          </a:p>
        </p:txBody>
      </p:sp>
      <p:sp>
        <p:nvSpPr>
          <p:cNvPr id="6" name="Slide Number Placeholder 22"/>
          <p:cNvSpPr>
            <a:spLocks noGrp="1"/>
          </p:cNvSpPr>
          <p:nvPr>
            <p:ph type="sldNum" sz="quarter" idx="12"/>
          </p:nvPr>
        </p:nvSpPr>
        <p:spPr/>
        <p:txBody>
          <a:bodyPr/>
          <a:lstStyle>
            <a:lvl1pPr>
              <a:defRPr/>
            </a:lvl1pPr>
          </a:lstStyle>
          <a:p>
            <a:pPr>
              <a:defRPr/>
            </a:pPr>
            <a:fld id="{77FEBAA5-5EF0-490C-BE37-5A3747ED1F0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6553200" y="6248400"/>
            <a:ext cx="2209800" cy="365125"/>
          </a:xfrm>
        </p:spPr>
        <p:txBody>
          <a:bodyPr/>
          <a:lstStyle>
            <a:lvl1pPr>
              <a:defRPr/>
            </a:lvl1pPr>
          </a:lstStyle>
          <a:p>
            <a:fld id="{84B52FF1-A9B4-4D87-BE9A-7DEF8E9BC14D}" type="datetimeFigureOut">
              <a:rPr lang="en-US"/>
              <a:pPr/>
              <a:t>11/10/2010</a:t>
            </a:fld>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F7DD90CF-2A2C-4F46-81CF-3E7AEB6D9540}"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153400" cy="990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12775" y="1600200"/>
            <a:ext cx="40005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5675" y="1600200"/>
            <a:ext cx="40005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0" y="6248400"/>
            <a:ext cx="2667000" cy="365125"/>
          </a:xfrm>
        </p:spPr>
        <p:txBody>
          <a:bodyPr/>
          <a:lstStyle>
            <a:lvl1pPr>
              <a:defRPr/>
            </a:lvl1pPr>
          </a:lstStyle>
          <a:p>
            <a:fld id="{FF63F858-7B99-4BB0-B029-F6A3BC917CD9}" type="datetimeFigureOut">
              <a:rPr lang="en-US"/>
              <a:pPr/>
              <a:t>11/10/2010</a:t>
            </a:fld>
            <a:endParaRPr lang="en-US"/>
          </a:p>
        </p:txBody>
      </p:sp>
      <p:sp>
        <p:nvSpPr>
          <p:cNvPr id="6" name="Footer Placeholder 5"/>
          <p:cNvSpPr>
            <a:spLocks noGrp="1"/>
          </p:cNvSpPr>
          <p:nvPr>
            <p:ph type="ftr" sz="quarter" idx="11"/>
          </p:nvPr>
        </p:nvSpPr>
        <p:spPr>
          <a:xfrm>
            <a:off x="609600" y="6248400"/>
            <a:ext cx="5421313" cy="365125"/>
          </a:xfrm>
        </p:spPr>
        <p:txBody>
          <a:bodyPr/>
          <a:lstStyle>
            <a:lvl1pPr>
              <a:defRPr/>
            </a:lvl1pPr>
          </a:lstStyle>
          <a:p>
            <a:endParaRPr lang="en-US"/>
          </a:p>
        </p:txBody>
      </p:sp>
      <p:sp>
        <p:nvSpPr>
          <p:cNvPr id="7" name="Slide Number Placeholder 6"/>
          <p:cNvSpPr>
            <a:spLocks noGrp="1"/>
          </p:cNvSpPr>
          <p:nvPr>
            <p:ph type="sldNum" sz="quarter" idx="12"/>
          </p:nvPr>
        </p:nvSpPr>
        <p:spPr>
          <a:xfrm>
            <a:off x="0" y="1271588"/>
            <a:ext cx="533400" cy="244475"/>
          </a:xfrm>
        </p:spPr>
        <p:txBody>
          <a:bodyPr/>
          <a:lstStyle>
            <a:lvl1pPr>
              <a:defRPr/>
            </a:lvl1pPr>
          </a:lstStyle>
          <a:p>
            <a:pPr>
              <a:defRPr/>
            </a:pPr>
            <a:fld id="{E30B4FD7-025D-4F6B-A5DE-8550D0AC0704}"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p:spPr>
        <p:txBody>
          <a:bodyPr/>
          <a:lstStyle>
            <a:lvl1pPr>
              <a:defRPr/>
            </a:lvl1pPr>
          </a:lstStyle>
          <a:p>
            <a:fld id="{D705B303-346F-44C1-8631-85FE67FA8ECB}" type="datetimeFigureOut">
              <a:rPr lang="en-US"/>
              <a:pPr/>
              <a:t>11/10/2010</a:t>
            </a:fld>
            <a:endParaRPr lang="en-US"/>
          </a:p>
        </p:txBody>
      </p:sp>
      <p:sp>
        <p:nvSpPr>
          <p:cNvPr id="3" name="Footer Placeholder 2"/>
          <p:cNvSpPr>
            <a:spLocks noGrp="1"/>
          </p:cNvSpPr>
          <p:nvPr>
            <p:ph type="ftr" sz="quarter" idx="11"/>
          </p:nvPr>
        </p:nvSpPr>
        <p:spPr>
          <a:xfrm>
            <a:off x="609600" y="6248400"/>
            <a:ext cx="5421313" cy="365125"/>
          </a:xfrm>
        </p:spPr>
        <p:txBody>
          <a:bodyPr/>
          <a:lstStyle>
            <a:lvl1pPr>
              <a:defRPr/>
            </a:lvl1pPr>
          </a:lstStyle>
          <a:p>
            <a:endParaRPr lang="en-US"/>
          </a:p>
        </p:txBody>
      </p:sp>
      <p:sp>
        <p:nvSpPr>
          <p:cNvPr id="4" name="Slide Number Placeholder 3"/>
          <p:cNvSpPr>
            <a:spLocks noGrp="1"/>
          </p:cNvSpPr>
          <p:nvPr>
            <p:ph type="sldNum" sz="quarter" idx="12"/>
          </p:nvPr>
        </p:nvSpPr>
        <p:spPr>
          <a:xfrm>
            <a:off x="0" y="1271588"/>
            <a:ext cx="533400" cy="244475"/>
          </a:xfrm>
        </p:spPr>
        <p:txBody>
          <a:bodyPr/>
          <a:lstStyle>
            <a:lvl1pPr>
              <a:defRPr/>
            </a:lvl1pPr>
          </a:lstStyle>
          <a:p>
            <a:pPr>
              <a:defRPr/>
            </a:pPr>
            <a:fld id="{0BCB822F-E856-4B5E-B766-1BA03E7950A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98" name="Title Placeholder 21"/>
          <p:cNvSpPr>
            <a:spLocks noGrp="1"/>
          </p:cNvSpPr>
          <p:nvPr>
            <p:ph type="title"/>
          </p:nvPr>
        </p:nvSpPr>
        <p:spPr bwMode="auto">
          <a:xfrm>
            <a:off x="609600" y="228600"/>
            <a:ext cx="8153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Text Placeholder 12"/>
          <p:cNvSpPr>
            <a:spLocks noGrp="1"/>
          </p:cNvSpPr>
          <p:nvPr>
            <p:ph type="body" idx="1"/>
          </p:nvPr>
        </p:nvSpPr>
        <p:spPr bwMode="auto">
          <a:xfrm>
            <a:off x="612775" y="1600200"/>
            <a:ext cx="8153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400">
                <a:solidFill>
                  <a:schemeClr val="tx2"/>
                </a:solidFill>
              </a:defRPr>
            </a:lvl1pPr>
          </a:lstStyle>
          <a:p>
            <a:fld id="{3A34BBC8-A117-479A-99A3-776D1C539C32}" type="datetimeFigureOut">
              <a:rPr lang="en-US"/>
              <a:pPr/>
              <a:t>11/10/2010</a:t>
            </a:fld>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a:solidFill>
                  <a:schemeClr val="tx2"/>
                </a:solidFill>
              </a:defRPr>
            </a:lvl1pPr>
          </a:lstStyle>
          <a:p>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smtClean="0">
                <a:solidFill>
                  <a:srgbClr val="FFFFFF"/>
                </a:solidFill>
              </a:defRPr>
            </a:lvl1pPr>
          </a:lstStyle>
          <a:p>
            <a:pPr>
              <a:defRPr/>
            </a:pPr>
            <a:fld id="{43C77D79-BEA4-4FE5-AB39-237C83BCDFB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19" r:id="rId2"/>
    <p:sldLayoutId id="2147483723" r:id="rId3"/>
    <p:sldLayoutId id="2147483724" r:id="rId4"/>
    <p:sldLayoutId id="2147483725" r:id="rId5"/>
    <p:sldLayoutId id="2147483718" r:id="rId6"/>
    <p:sldLayoutId id="2147483726" r:id="rId7"/>
    <p:sldLayoutId id="2147483717" r:id="rId8"/>
    <p:sldLayoutId id="2147483727" r:id="rId9"/>
    <p:sldLayoutId id="2147483716" r:id="rId10"/>
    <p:sldLayoutId id="2147483728" r:id="rId11"/>
    <p:sldLayoutId id="2147483720" r:id="rId12"/>
    <p:sldLayoutId id="2147483721" r:id="rId13"/>
  </p:sldLayoutIdLst>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Arial" charset="0"/>
        </a:defRPr>
      </a:lvl2pPr>
      <a:lvl3pPr algn="l" rtl="0" fontAlgn="base">
        <a:spcBef>
          <a:spcPct val="0"/>
        </a:spcBef>
        <a:spcAft>
          <a:spcPct val="0"/>
        </a:spcAft>
        <a:defRPr sz="4400">
          <a:solidFill>
            <a:schemeClr val="tx2"/>
          </a:solidFill>
          <a:latin typeface="Arial" charset="0"/>
        </a:defRPr>
      </a:lvl3pPr>
      <a:lvl4pPr algn="l" rtl="0" fontAlgn="base">
        <a:spcBef>
          <a:spcPct val="0"/>
        </a:spcBef>
        <a:spcAft>
          <a:spcPct val="0"/>
        </a:spcAft>
        <a:defRPr sz="4400">
          <a:solidFill>
            <a:schemeClr val="tx2"/>
          </a:solidFill>
          <a:latin typeface="Arial" charset="0"/>
        </a:defRPr>
      </a:lvl4pPr>
      <a:lvl5pPr algn="l" rtl="0" fontAlgn="base">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p:titleStyle>
    <p:bodyStyle>
      <a:lvl1pPr marL="319088" indent="-319088" algn="l" rtl="0" fontAlgn="base">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2010.census.gov/2010census/why/constitutional.ph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gao.gov/highlights/d08550thigh2_1.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chaffetz.house.gov/press-releases/2010/08/chaffetz-challenges-census-savings.s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census.gov/population/www/cen2010/glanc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prisonpolicy.org/atlas/anamosa.html" TargetMode="External"/><Relationship Id="rId13"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hyperlink" Target="http://www.prisonersofthecensus.org/nes/2004/04/19/twenty-one/" TargetMode="External"/><Relationship Id="rId2" Type="http://schemas.openxmlformats.org/officeDocument/2006/relationships/hyperlink" Target="http://www.nytimes.com/2010/08/23/opinion/23mon3.html" TargetMode="External"/><Relationship Id="rId1" Type="http://schemas.openxmlformats.org/officeDocument/2006/relationships/slideLayout" Target="../slideLayouts/slideLayout2.xml"/><Relationship Id="rId6" Type="http://schemas.openxmlformats.org/officeDocument/2006/relationships/hyperlink" Target="http://www.prisonpolicy.org/news/ipr11032009.html" TargetMode="External"/><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hyperlink" Target="http://www.nytimes.com/2008/10/24/us/politics/24census.html" TargetMode="External"/><Relationship Id="rId4" Type="http://schemas.openxmlformats.org/officeDocument/2006/relationships/hyperlink" Target="http://www.prisonersofthecensus.org/50states/" TargetMode="External"/><Relationship Id="rId9"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hyperlink" Target="http://www.census.gov/acs/www/data_documentation/2009_release_schedule/"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factfinder.census.gov/home/saff/main.html?_lang=e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factfinder.census.gov/home/saff/aff2.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www.ipums.org/"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www.nsf.gov/pub/2010/nsf10621/nsf10621.ht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hyperlink" Target="http://archive.itif.org/files/eCensusUnplugged.pdf" TargetMode="Externa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hyperlink" Target="http://2010.census.gov/news/press-kits/operational-press-briefing/april-28-2010.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09600" y="1066800"/>
            <a:ext cx="7772400" cy="1470025"/>
          </a:xfrm>
        </p:spPr>
        <p:txBody>
          <a:bodyPr>
            <a:normAutofit/>
          </a:bodyPr>
          <a:lstStyle/>
          <a:p>
            <a:r>
              <a:rPr lang="en-US" sz="4300" cap="none" smtClean="0">
                <a:latin typeface="Calibri" pitchFamily="34" charset="0"/>
              </a:rPr>
              <a:t>THE 2010 CENSUS [United States]</a:t>
            </a:r>
          </a:p>
        </p:txBody>
      </p:sp>
      <p:sp>
        <p:nvSpPr>
          <p:cNvPr id="2051" name="Rectangle 3"/>
          <p:cNvSpPr>
            <a:spLocks noGrp="1" noChangeArrowheads="1"/>
          </p:cNvSpPr>
          <p:nvPr>
            <p:ph type="subTitle" idx="1"/>
          </p:nvPr>
        </p:nvSpPr>
        <p:spPr>
          <a:xfrm>
            <a:off x="1371600" y="3200400"/>
            <a:ext cx="6400800" cy="2438400"/>
          </a:xfrm>
        </p:spPr>
        <p:txBody>
          <a:bodyPr/>
          <a:lstStyle/>
          <a:p>
            <a:pPr>
              <a:lnSpc>
                <a:spcPct val="80000"/>
              </a:lnSpc>
            </a:pPr>
            <a:endParaRPr lang="en-US" sz="1400" smtClean="0"/>
          </a:p>
          <a:p>
            <a:pPr>
              <a:lnSpc>
                <a:spcPct val="80000"/>
              </a:lnSpc>
            </a:pPr>
            <a:endParaRPr lang="en-US" sz="1200" smtClean="0"/>
          </a:p>
          <a:p>
            <a:pPr>
              <a:lnSpc>
                <a:spcPct val="80000"/>
              </a:lnSpc>
            </a:pPr>
            <a:r>
              <a:rPr lang="en-US" sz="3200" smtClean="0"/>
              <a:t>Reynolds Farley</a:t>
            </a:r>
          </a:p>
          <a:p>
            <a:pPr>
              <a:lnSpc>
                <a:spcPct val="80000"/>
              </a:lnSpc>
            </a:pPr>
            <a:r>
              <a:rPr lang="en-US" sz="3200" smtClean="0"/>
              <a:t>Lisa Neidert</a:t>
            </a:r>
          </a:p>
          <a:p>
            <a:pPr>
              <a:lnSpc>
                <a:spcPct val="80000"/>
              </a:lnSpc>
            </a:pPr>
            <a:endParaRPr lang="en-US" sz="1400" smtClean="0"/>
          </a:p>
          <a:p>
            <a:pPr>
              <a:lnSpc>
                <a:spcPct val="80000"/>
              </a:lnSpc>
            </a:pPr>
            <a:endParaRPr lang="en-US" sz="1400" smtClean="0"/>
          </a:p>
          <a:p>
            <a:pPr>
              <a:lnSpc>
                <a:spcPct val="80000"/>
              </a:lnSpc>
            </a:pPr>
            <a:r>
              <a:rPr lang="en-US" sz="2400" smtClean="0">
                <a:latin typeface="Calibri" pitchFamily="34" charset="0"/>
              </a:rPr>
              <a:t>November 10, 2010</a:t>
            </a:r>
          </a:p>
          <a:p>
            <a:pPr>
              <a:lnSpc>
                <a:spcPct val="80000"/>
              </a:lnSpc>
            </a:pPr>
            <a:endParaRPr 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2775" y="228600"/>
            <a:ext cx="8153400" cy="990600"/>
          </a:xfrm>
        </p:spPr>
        <p:txBody>
          <a:bodyPr/>
          <a:lstStyle/>
          <a:p>
            <a:r>
              <a:rPr lang="en-US" smtClean="0">
                <a:latin typeface="Calibri" pitchFamily="34" charset="0"/>
              </a:rPr>
              <a:t>Overview</a:t>
            </a:r>
          </a:p>
        </p:txBody>
      </p:sp>
      <p:sp>
        <p:nvSpPr>
          <p:cNvPr id="15363" name="Rectangle 3"/>
          <p:cNvSpPr>
            <a:spLocks noGrp="1" noChangeArrowheads="1"/>
          </p:cNvSpPr>
          <p:nvPr>
            <p:ph sz="quarter" idx="1"/>
          </p:nvPr>
        </p:nvSpPr>
        <p:spPr>
          <a:xfrm>
            <a:off x="612775" y="1600200"/>
            <a:ext cx="8153400" cy="4495800"/>
          </a:xfrm>
        </p:spPr>
        <p:txBody>
          <a:bodyPr/>
          <a:lstStyle/>
          <a:p>
            <a:pPr>
              <a:buFont typeface="Wingdings" pitchFamily="2" charset="2"/>
              <a:buNone/>
            </a:pPr>
            <a:endParaRPr lang="en-US" sz="2000" smtClean="0"/>
          </a:p>
          <a:p>
            <a:r>
              <a:rPr lang="en-US" smtClean="0"/>
              <a:t> History &amp; Background</a:t>
            </a:r>
          </a:p>
          <a:p>
            <a:pPr>
              <a:buFont typeface="Wingdings" pitchFamily="2" charset="2"/>
              <a:buNone/>
            </a:pPr>
            <a:endParaRPr lang="en-US" sz="2000" smtClean="0"/>
          </a:p>
          <a:p>
            <a:r>
              <a:rPr lang="en-US" smtClean="0"/>
              <a:t> Success</a:t>
            </a:r>
          </a:p>
          <a:p>
            <a:pPr>
              <a:buFont typeface="Wingdings" pitchFamily="2" charset="2"/>
              <a:buNone/>
            </a:pPr>
            <a:endParaRPr lang="en-US" sz="2000" smtClean="0"/>
          </a:p>
          <a:p>
            <a:r>
              <a:rPr lang="en-US" smtClean="0"/>
              <a:t> User Experience</a:t>
            </a:r>
          </a:p>
          <a:p>
            <a:pPr marL="1143000" lvl="2"/>
            <a:endParaRPr lang="en-US" sz="2000" smtClean="0"/>
          </a:p>
          <a:p>
            <a:r>
              <a:rPr lang="en-US" smtClean="0"/>
              <a:t> The Future</a:t>
            </a:r>
          </a:p>
          <a:p>
            <a:pPr>
              <a:buFont typeface="Wingdings" pitchFamily="2" charset="2"/>
              <a:buNone/>
            </a:pPr>
            <a:endParaRPr lang="en-US" sz="1600" smtClean="0"/>
          </a:p>
          <a:p>
            <a:pPr>
              <a:buFont typeface="Wingdings" pitchFamily="2" charset="2"/>
              <a:buNone/>
            </a:pPr>
            <a:endParaRPr lang="en-US" smtClean="0"/>
          </a:p>
          <a:p>
            <a:pPr>
              <a:buFont typeface="Wingdings" pitchFamily="2" charset="2"/>
              <a:buNone/>
            </a:pPr>
            <a:r>
              <a:rPr lang="en-US" smtClean="0"/>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a:xfrm>
            <a:off x="609600" y="228600"/>
            <a:ext cx="8153400" cy="990600"/>
          </a:xfrm>
        </p:spPr>
        <p:txBody>
          <a:bodyPr/>
          <a:lstStyle/>
          <a:p>
            <a:r>
              <a:rPr lang="en-US" sz="3600" smtClean="0"/>
              <a:t>It is in the Constitution</a:t>
            </a:r>
          </a:p>
        </p:txBody>
      </p:sp>
      <p:sp>
        <p:nvSpPr>
          <p:cNvPr id="111619" name="Rectangle 3"/>
          <p:cNvSpPr>
            <a:spLocks noGrp="1"/>
          </p:cNvSpPr>
          <p:nvPr>
            <p:ph type="body" idx="1"/>
          </p:nvPr>
        </p:nvSpPr>
        <p:spPr>
          <a:xfrm>
            <a:off x="612775" y="1600200"/>
            <a:ext cx="8153400" cy="4525963"/>
          </a:xfrm>
        </p:spPr>
        <p:txBody>
          <a:bodyPr/>
          <a:lstStyle/>
          <a:p>
            <a:r>
              <a:rPr lang="en-US" smtClean="0"/>
              <a:t>The framers of the Constitution mandated a decennial census to:</a:t>
            </a:r>
          </a:p>
          <a:p>
            <a:pPr>
              <a:buFont typeface="Wingdings" pitchFamily="2" charset="2"/>
              <a:buNone/>
            </a:pPr>
            <a:endParaRPr lang="en-US" sz="1600" smtClean="0"/>
          </a:p>
          <a:p>
            <a:pPr lvl="1"/>
            <a:r>
              <a:rPr lang="en-US" smtClean="0"/>
              <a:t>Ensure that population size - not political influence or economic wealth - determined how many representatives each state had in the lower house of Congress</a:t>
            </a:r>
          </a:p>
          <a:p>
            <a:pPr lvl="1">
              <a:buFont typeface="Wingdings 2" pitchFamily="18" charset="2"/>
              <a:buNone/>
            </a:pPr>
            <a:endParaRPr lang="en-US" sz="1200" smtClean="0"/>
          </a:p>
          <a:p>
            <a:pPr lvl="1"/>
            <a:r>
              <a:rPr lang="en-US" smtClean="0"/>
              <a:t>Ensure that federal taxes would be levied upon states in proportion to their population size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a:xfrm>
            <a:off x="609600" y="228600"/>
            <a:ext cx="8153400" cy="990600"/>
          </a:xfrm>
        </p:spPr>
        <p:txBody>
          <a:bodyPr/>
          <a:lstStyle/>
          <a:p>
            <a:r>
              <a:rPr lang="en-US" sz="3600" smtClean="0"/>
              <a:t>         Language from the Constitution</a:t>
            </a:r>
          </a:p>
        </p:txBody>
      </p:sp>
      <p:sp>
        <p:nvSpPr>
          <p:cNvPr id="112643" name="Rectangle 3"/>
          <p:cNvSpPr>
            <a:spLocks noGrp="1"/>
          </p:cNvSpPr>
          <p:nvPr>
            <p:ph type="body" idx="1"/>
          </p:nvPr>
        </p:nvSpPr>
        <p:spPr>
          <a:xfrm>
            <a:off x="612775" y="1600200"/>
            <a:ext cx="8153400" cy="4525963"/>
          </a:xfrm>
        </p:spPr>
        <p:txBody>
          <a:bodyPr/>
          <a:lstStyle/>
          <a:p>
            <a:pPr>
              <a:lnSpc>
                <a:spcPct val="90000"/>
              </a:lnSpc>
            </a:pPr>
            <a:r>
              <a:rPr lang="en-US" sz="1800" smtClean="0">
                <a:latin typeface="Arial Narrow" pitchFamily="34" charset="0"/>
              </a:rPr>
              <a:t>“Representatives and direct Taxes shall be apportioned among the several States which may be included within this Union, according to their respective Numbers, which shall be determined by adding to the whole Number of free Persons, including those bound to Service for a Term of Years, and excluding Indians not taxed, three-fifths of all other Persons. The actual Enumeration shall be made within three Years after the first Meeting of the Congress of the United States, and within every subsequent Term of Ten Years, in such Manner as they shall by Law direct. The Number of Representatives shall not exceed one for every thirty Thousand but each State shall have at Least one Representative”. . . (Article 1, Section 2)</a:t>
            </a:r>
          </a:p>
          <a:p>
            <a:pPr lvl="1">
              <a:lnSpc>
                <a:spcPct val="90000"/>
              </a:lnSpc>
            </a:pPr>
            <a:r>
              <a:rPr lang="en-US" sz="1600" b="1" smtClean="0">
                <a:solidFill>
                  <a:schemeClr val="accent2"/>
                </a:solidFill>
              </a:rPr>
              <a:t>Amendment XIV adopted in 1868 allocated representatives according to the whole number of persons excluding Indians not taxed.</a:t>
            </a:r>
          </a:p>
          <a:p>
            <a:pPr>
              <a:lnSpc>
                <a:spcPct val="90000"/>
              </a:lnSpc>
            </a:pPr>
            <a:endParaRPr lang="en-US" sz="1600" b="1" smtClean="0"/>
          </a:p>
          <a:p>
            <a:pPr>
              <a:lnSpc>
                <a:spcPct val="90000"/>
              </a:lnSpc>
            </a:pPr>
            <a:r>
              <a:rPr lang="en-US" sz="1800" smtClean="0">
                <a:latin typeface="Arial Narrow" pitchFamily="34" charset="0"/>
              </a:rPr>
              <a:t>“No Capitation, or other direct Tax shall be laid, unless in Proportion to the Census or Enumeration herein before directed to be taken”</a:t>
            </a:r>
          </a:p>
          <a:p>
            <a:pPr lvl="1">
              <a:lnSpc>
                <a:spcPct val="90000"/>
              </a:lnSpc>
            </a:pPr>
            <a:r>
              <a:rPr lang="en-US" sz="1600" b="1" smtClean="0">
                <a:solidFill>
                  <a:schemeClr val="accent2"/>
                </a:solidFill>
              </a:rPr>
              <a:t>After the War of 1812, the federal government stopped imposing taxes on states on the basis of their population size. Amendment XVI, adopted in 1913, permitted an income tax.</a:t>
            </a:r>
          </a:p>
        </p:txBody>
      </p:sp>
      <p:pic>
        <p:nvPicPr>
          <p:cNvPr id="112645" name="Picture 5">
            <a:hlinkClick r:id="rId2"/>
          </p:cNvPr>
          <p:cNvPicPr>
            <a:picLocks noChangeAspect="1" noChangeArrowheads="1"/>
          </p:cNvPicPr>
          <p:nvPr/>
        </p:nvPicPr>
        <p:blipFill>
          <a:blip r:embed="rId3" cstate="print"/>
          <a:srcRect/>
          <a:stretch>
            <a:fillRect/>
          </a:stretch>
        </p:blipFill>
        <p:spPr bwMode="auto">
          <a:xfrm>
            <a:off x="304800" y="152400"/>
            <a:ext cx="1428750" cy="1028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609600" y="228600"/>
            <a:ext cx="8153400" cy="990600"/>
          </a:xfrm>
        </p:spPr>
        <p:txBody>
          <a:bodyPr/>
          <a:lstStyle/>
          <a:p>
            <a:r>
              <a:rPr lang="en-US" sz="3200" smtClean="0"/>
              <a:t>Nineteenth Century Developments</a:t>
            </a:r>
          </a:p>
        </p:txBody>
      </p:sp>
      <p:sp>
        <p:nvSpPr>
          <p:cNvPr id="118787" name="Rectangle 3"/>
          <p:cNvSpPr>
            <a:spLocks noGrp="1"/>
          </p:cNvSpPr>
          <p:nvPr>
            <p:ph type="body" idx="1"/>
          </p:nvPr>
        </p:nvSpPr>
        <p:spPr>
          <a:xfrm>
            <a:off x="612775" y="1600200"/>
            <a:ext cx="8153400" cy="4525963"/>
          </a:xfrm>
        </p:spPr>
        <p:txBody>
          <a:bodyPr/>
          <a:lstStyle/>
          <a:p>
            <a:pPr>
              <a:lnSpc>
                <a:spcPct val="90000"/>
              </a:lnSpc>
            </a:pPr>
            <a:r>
              <a:rPr lang="en-US" sz="2200" smtClean="0"/>
              <a:t>United States settled the Continent and terminated slavery</a:t>
            </a:r>
            <a:r>
              <a:rPr lang="en-US" sz="2000" smtClean="0"/>
              <a:t/>
            </a:r>
            <a:br>
              <a:rPr lang="en-US" sz="2000" smtClean="0"/>
            </a:br>
            <a:endParaRPr lang="en-US" sz="800" smtClean="0"/>
          </a:p>
          <a:p>
            <a:pPr lvl="1">
              <a:lnSpc>
                <a:spcPct val="90000"/>
              </a:lnSpc>
            </a:pPr>
            <a:r>
              <a:rPr lang="en-US" sz="2000" smtClean="0"/>
              <a:t>Decennial censuses became a means for gathering data about manufacturing, literacy, immigration and the mulatto population.</a:t>
            </a:r>
          </a:p>
          <a:p>
            <a:pPr>
              <a:lnSpc>
                <a:spcPct val="90000"/>
              </a:lnSpc>
            </a:pPr>
            <a:endParaRPr lang="en-US" sz="2000" smtClean="0"/>
          </a:p>
          <a:p>
            <a:pPr>
              <a:lnSpc>
                <a:spcPct val="90000"/>
              </a:lnSpc>
            </a:pPr>
            <a:r>
              <a:rPr lang="en-US" sz="2200" smtClean="0"/>
              <a:t>The United States became an urban and industrial nation</a:t>
            </a:r>
          </a:p>
          <a:p>
            <a:pPr>
              <a:lnSpc>
                <a:spcPct val="90000"/>
              </a:lnSpc>
              <a:buFont typeface="Wingdings" pitchFamily="2" charset="2"/>
              <a:buNone/>
            </a:pPr>
            <a:endParaRPr lang="en-US" sz="800" smtClean="0"/>
          </a:p>
          <a:p>
            <a:pPr lvl="1">
              <a:lnSpc>
                <a:spcPct val="90000"/>
              </a:lnSpc>
            </a:pPr>
            <a:r>
              <a:rPr lang="en-US" sz="2000" smtClean="0"/>
              <a:t>Census added many questions about nativity, languages, conditions in cities and some about labor force activities.</a:t>
            </a:r>
            <a:br>
              <a:rPr lang="en-US" sz="2000" smtClean="0"/>
            </a:br>
            <a:endParaRPr lang="en-US" sz="2000" smtClean="0"/>
          </a:p>
          <a:p>
            <a:pPr>
              <a:lnSpc>
                <a:spcPct val="90000"/>
              </a:lnSpc>
            </a:pPr>
            <a:r>
              <a:rPr lang="en-US" sz="2200" smtClean="0"/>
              <a:t>Scientific thinking and quantitative literacy</a:t>
            </a:r>
          </a:p>
          <a:p>
            <a:pPr>
              <a:lnSpc>
                <a:spcPct val="90000"/>
              </a:lnSpc>
              <a:buFont typeface="Wingdings" pitchFamily="2" charset="2"/>
              <a:buNone/>
            </a:pPr>
            <a:endParaRPr lang="en-US" sz="800" smtClean="0"/>
          </a:p>
          <a:p>
            <a:pPr lvl="1">
              <a:lnSpc>
                <a:spcPct val="90000"/>
              </a:lnSpc>
            </a:pPr>
            <a:r>
              <a:rPr lang="en-US" sz="2000" smtClean="0"/>
              <a:t>A gradual development of a federal statistical system not tied to the census.  It gathered data about employment, immigration, agriculture and manufacturing.</a:t>
            </a:r>
          </a:p>
          <a:p>
            <a:pPr>
              <a:lnSpc>
                <a:spcPct val="90000"/>
              </a:lnSpc>
            </a:pPr>
            <a:endParaRPr lang="en-US" sz="2000" smtClean="0"/>
          </a:p>
          <a:p>
            <a:pPr lvl="1">
              <a:lnSpc>
                <a:spcPct val="90000"/>
              </a:lnSpc>
            </a:pPr>
            <a:endParaRPr lang="en-US" sz="210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p:cNvSpPr>
          <p:nvPr>
            <p:ph type="title"/>
          </p:nvPr>
        </p:nvSpPr>
        <p:spPr>
          <a:xfrm>
            <a:off x="609600" y="228600"/>
            <a:ext cx="8153400" cy="990600"/>
          </a:xfrm>
        </p:spPr>
        <p:txBody>
          <a:bodyPr/>
          <a:lstStyle/>
          <a:p>
            <a:r>
              <a:rPr lang="en-US" sz="2800" smtClean="0"/>
              <a:t>The Depression Era (1930s) and Its Consequences for Federal Statistics</a:t>
            </a:r>
          </a:p>
        </p:txBody>
      </p:sp>
      <p:sp>
        <p:nvSpPr>
          <p:cNvPr id="119811" name="Rectangle 3"/>
          <p:cNvSpPr>
            <a:spLocks noGrp="1"/>
          </p:cNvSpPr>
          <p:nvPr>
            <p:ph type="body" idx="1"/>
          </p:nvPr>
        </p:nvSpPr>
        <p:spPr>
          <a:xfrm>
            <a:off x="612775" y="1600200"/>
            <a:ext cx="8153400" cy="4525963"/>
          </a:xfrm>
        </p:spPr>
        <p:txBody>
          <a:bodyPr/>
          <a:lstStyle/>
          <a:p>
            <a:endParaRPr lang="en-US" sz="2400" smtClean="0"/>
          </a:p>
          <a:p>
            <a:r>
              <a:rPr lang="en-US" sz="2400" smtClean="0"/>
              <a:t>The Depression Years: 1930 to 1940</a:t>
            </a:r>
          </a:p>
          <a:p>
            <a:pPr lvl="1"/>
            <a:r>
              <a:rPr lang="en-US" sz="2000" smtClean="0"/>
              <a:t>To address major problems of economic chaos and assess new federal programs, numerous governmental agencies began collecting extensive data about employment, financial activities, agriculture, health and mortality.</a:t>
            </a:r>
          </a:p>
          <a:p>
            <a:pPr>
              <a:buFont typeface="Wingdings" pitchFamily="2" charset="2"/>
              <a:buNone/>
            </a:pPr>
            <a:endParaRPr lang="en-US" sz="800" smtClean="0"/>
          </a:p>
          <a:p>
            <a:pPr lvl="2">
              <a:buFont typeface="Wingdings" pitchFamily="2" charset="2"/>
              <a:buNone/>
            </a:pPr>
            <a:endParaRPr lang="en-US" sz="800" smtClean="0"/>
          </a:p>
          <a:p>
            <a:r>
              <a:rPr lang="en-US" sz="2400" smtClean="0"/>
              <a:t>The Census of 1940</a:t>
            </a:r>
          </a:p>
          <a:p>
            <a:pPr lvl="1"/>
            <a:r>
              <a:rPr lang="en-US" sz="2000" smtClean="0"/>
              <a:t>This was the first modern census and the first census to use sampling.  Innovative questions were added about labor market activities, educational attainment, earnings, housing conditions and migration.</a:t>
            </a:r>
          </a:p>
          <a:p>
            <a:pPr lvl="1"/>
            <a:endParaRPr lang="en-US" sz="200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p:cNvSpPr>
          <p:nvPr>
            <p:ph type="title"/>
          </p:nvPr>
        </p:nvSpPr>
        <p:spPr>
          <a:xfrm>
            <a:off x="609600" y="228600"/>
            <a:ext cx="8153400" cy="990600"/>
          </a:xfrm>
        </p:spPr>
        <p:txBody>
          <a:bodyPr/>
          <a:lstStyle/>
          <a:p>
            <a:r>
              <a:rPr lang="en-US" sz="3600" smtClean="0"/>
              <a:t>Censuses of 1950 - 2000</a:t>
            </a:r>
          </a:p>
        </p:txBody>
      </p:sp>
      <p:sp>
        <p:nvSpPr>
          <p:cNvPr id="120835" name="Rectangle 3"/>
          <p:cNvSpPr>
            <a:spLocks noGrp="1"/>
          </p:cNvSpPr>
          <p:nvPr>
            <p:ph type="body" idx="1"/>
          </p:nvPr>
        </p:nvSpPr>
        <p:spPr>
          <a:xfrm>
            <a:off x="612775" y="1600200"/>
            <a:ext cx="8153400" cy="4525963"/>
          </a:xfrm>
        </p:spPr>
        <p:txBody>
          <a:bodyPr/>
          <a:lstStyle/>
          <a:p>
            <a:pPr>
              <a:buSzTx/>
            </a:pPr>
            <a:r>
              <a:rPr lang="en-US" sz="2200" smtClean="0"/>
              <a:t>These were very much similar to the Census of 1940. New questions were added about disabilities.</a:t>
            </a:r>
          </a:p>
          <a:p>
            <a:pPr>
              <a:buSzTx/>
              <a:buFont typeface="Wingdings" pitchFamily="2" charset="2"/>
              <a:buNone/>
            </a:pPr>
            <a:endParaRPr lang="en-US" sz="1200" smtClean="0"/>
          </a:p>
          <a:p>
            <a:pPr>
              <a:buSzTx/>
            </a:pPr>
            <a:r>
              <a:rPr lang="en-US" sz="2200" smtClean="0"/>
              <a:t>By 1960 a clear distinction developed between the short form questionnaire and the long form questionnaire.</a:t>
            </a:r>
          </a:p>
          <a:p>
            <a:pPr>
              <a:buSzTx/>
              <a:buFont typeface="Wingdings" pitchFamily="2" charset="2"/>
              <a:buNone/>
            </a:pPr>
            <a:endParaRPr lang="en-US" sz="1400" smtClean="0"/>
          </a:p>
          <a:p>
            <a:pPr lvl="1">
              <a:buSzTx/>
            </a:pPr>
            <a:r>
              <a:rPr lang="en-US" sz="2000" smtClean="0"/>
              <a:t>The short form questionnaire was sent to every household and gathered the basic demographic data needed for Constitutional reasons.</a:t>
            </a:r>
          </a:p>
          <a:p>
            <a:pPr lvl="1">
              <a:buSzTx/>
              <a:buFont typeface="Wingdings 2" pitchFamily="18" charset="2"/>
              <a:buNone/>
            </a:pPr>
            <a:endParaRPr lang="en-US" sz="1000" smtClean="0"/>
          </a:p>
          <a:p>
            <a:pPr lvl="1">
              <a:buSzTx/>
            </a:pPr>
            <a:r>
              <a:rPr lang="en-US" sz="2000" smtClean="0"/>
              <a:t>The long-form questionnaire included the short-form questions.  It was sent to about one housing unit in six and asked about 60 additional social, economic and demographic questions.</a:t>
            </a:r>
          </a:p>
          <a:p>
            <a:pPr lvl="2">
              <a:buSzTx/>
            </a:pPr>
            <a:endParaRPr lang="en-US" sz="200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p:cNvSpPr>
          <p:nvPr>
            <p:ph type="title"/>
          </p:nvPr>
        </p:nvSpPr>
        <p:spPr>
          <a:xfrm>
            <a:off x="609600" y="228600"/>
            <a:ext cx="8153400" cy="990600"/>
          </a:xfrm>
        </p:spPr>
        <p:txBody>
          <a:bodyPr/>
          <a:lstStyle/>
          <a:p>
            <a:r>
              <a:rPr lang="en-US" sz="3600" smtClean="0"/>
              <a:t>Census 2010: Back to the Future</a:t>
            </a:r>
          </a:p>
        </p:txBody>
      </p:sp>
      <p:sp>
        <p:nvSpPr>
          <p:cNvPr id="122883" name="Rectangle 3"/>
          <p:cNvSpPr>
            <a:spLocks noGrp="1"/>
          </p:cNvSpPr>
          <p:nvPr>
            <p:ph type="body" idx="1"/>
          </p:nvPr>
        </p:nvSpPr>
        <p:spPr>
          <a:xfrm>
            <a:off x="612775" y="1600200"/>
            <a:ext cx="8153400" cy="4525963"/>
          </a:xfrm>
        </p:spPr>
        <p:txBody>
          <a:bodyPr/>
          <a:lstStyle/>
          <a:p>
            <a:r>
              <a:rPr lang="en-US" sz="2400" smtClean="0"/>
              <a:t>This was a short-form only questionnaire.  The residents of every household answered 10 basic demographic questions.</a:t>
            </a:r>
          </a:p>
          <a:p>
            <a:pPr>
              <a:buFont typeface="Wingdings" pitchFamily="2" charset="2"/>
              <a:buNone/>
            </a:pPr>
            <a:endParaRPr lang="en-US" sz="2400" smtClean="0"/>
          </a:p>
          <a:p>
            <a:r>
              <a:rPr lang="en-US" sz="2400" smtClean="0"/>
              <a:t>The American Community Survey now gathers the social, economic and demographic information that used to be obtained with the census long-form questionnaire.  It provides annual data based on a sample size of about three million households every year.</a:t>
            </a:r>
          </a:p>
          <a:p>
            <a:endParaRPr lang="en-US" sz="240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a:xfrm>
            <a:off x="609600" y="228600"/>
            <a:ext cx="8153400" cy="990600"/>
          </a:xfrm>
        </p:spPr>
        <p:txBody>
          <a:bodyPr/>
          <a:lstStyle/>
          <a:p>
            <a:r>
              <a:rPr lang="en-US" smtClean="0"/>
              <a:t>Background</a:t>
            </a:r>
          </a:p>
        </p:txBody>
      </p:sp>
      <p:sp>
        <p:nvSpPr>
          <p:cNvPr id="62467" name="Rectangle 3"/>
          <p:cNvSpPr>
            <a:spLocks noGrp="1"/>
          </p:cNvSpPr>
          <p:nvPr>
            <p:ph type="body" idx="1"/>
          </p:nvPr>
        </p:nvSpPr>
        <p:spPr>
          <a:xfrm>
            <a:off x="612775" y="1600200"/>
            <a:ext cx="8153400" cy="4525963"/>
          </a:xfrm>
        </p:spPr>
        <p:txBody>
          <a:bodyPr/>
          <a:lstStyle/>
          <a:p>
            <a:pPr>
              <a:lnSpc>
                <a:spcPct val="90000"/>
              </a:lnSpc>
            </a:pPr>
            <a:r>
              <a:rPr lang="en-US" smtClean="0"/>
              <a:t>2010 Census was a short-form only census</a:t>
            </a:r>
          </a:p>
          <a:p>
            <a:pPr lvl="1">
              <a:lnSpc>
                <a:spcPct val="90000"/>
              </a:lnSpc>
            </a:pPr>
            <a:r>
              <a:rPr lang="en-US" smtClean="0"/>
              <a:t>10 questions 10 minutes</a:t>
            </a:r>
          </a:p>
          <a:p>
            <a:pPr lvl="1">
              <a:lnSpc>
                <a:spcPct val="90000"/>
              </a:lnSpc>
              <a:buFont typeface="Wingdings 2" pitchFamily="18" charset="2"/>
              <a:buNone/>
            </a:pPr>
            <a:endParaRPr lang="en-US" smtClean="0"/>
          </a:p>
          <a:p>
            <a:pPr>
              <a:lnSpc>
                <a:spcPct val="90000"/>
              </a:lnSpc>
            </a:pPr>
            <a:r>
              <a:rPr lang="en-US" smtClean="0"/>
              <a:t>Replacement for the long-form is the American Community Survey (ACS)</a:t>
            </a:r>
          </a:p>
          <a:p>
            <a:pPr lvl="1">
              <a:lnSpc>
                <a:spcPct val="90000"/>
              </a:lnSpc>
            </a:pPr>
            <a:r>
              <a:rPr lang="en-US" smtClean="0"/>
              <a:t>In full production since 2005</a:t>
            </a:r>
          </a:p>
          <a:p>
            <a:pPr lvl="1">
              <a:lnSpc>
                <a:spcPct val="90000"/>
              </a:lnSpc>
              <a:buFont typeface="Wingdings 2" pitchFamily="18" charset="2"/>
              <a:buNone/>
            </a:pPr>
            <a:endParaRPr lang="en-US" smtClean="0"/>
          </a:p>
          <a:p>
            <a:pPr>
              <a:lnSpc>
                <a:spcPct val="90000"/>
              </a:lnSpc>
            </a:pPr>
            <a:r>
              <a:rPr lang="en-US" smtClean="0"/>
              <a:t>Census &amp; ACS are intertwined</a:t>
            </a:r>
          </a:p>
          <a:p>
            <a:pPr lvl="1">
              <a:lnSpc>
                <a:spcPct val="90000"/>
              </a:lnSpc>
            </a:pPr>
            <a:r>
              <a:rPr lang="en-US" smtClean="0"/>
              <a:t>Discussion will go back and forth between Census and ACS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609600" y="228600"/>
            <a:ext cx="8153400" cy="990600"/>
          </a:xfrm>
        </p:spPr>
        <p:txBody>
          <a:bodyPr/>
          <a:lstStyle/>
          <a:p>
            <a:r>
              <a:rPr lang="en-US" smtClean="0"/>
              <a:t>Census 2010 a Success</a:t>
            </a:r>
          </a:p>
        </p:txBody>
      </p:sp>
      <p:sp>
        <p:nvSpPr>
          <p:cNvPr id="63491" name="Rectangle 3"/>
          <p:cNvSpPr>
            <a:spLocks noGrp="1"/>
          </p:cNvSpPr>
          <p:nvPr>
            <p:ph type="body" idx="1"/>
          </p:nvPr>
        </p:nvSpPr>
        <p:spPr>
          <a:xfrm>
            <a:off x="612775" y="1600200"/>
            <a:ext cx="8153400" cy="4525963"/>
          </a:xfrm>
        </p:spPr>
        <p:txBody>
          <a:bodyPr/>
          <a:lstStyle/>
          <a:p>
            <a:r>
              <a:rPr lang="en-US" smtClean="0"/>
              <a:t>GAO  “Critical List” </a:t>
            </a:r>
          </a:p>
          <a:p>
            <a:pPr lvl="1"/>
            <a:r>
              <a:rPr lang="en-US" smtClean="0"/>
              <a:t>March 8, 2008</a:t>
            </a:r>
          </a:p>
          <a:p>
            <a:pPr lvl="1">
              <a:buFont typeface="Wingdings 2" pitchFamily="18" charset="2"/>
              <a:buNone/>
            </a:pPr>
            <a:endParaRPr lang="en-US" smtClean="0"/>
          </a:p>
          <a:p>
            <a:r>
              <a:rPr lang="en-US" smtClean="0"/>
              <a:t>Participation Rate </a:t>
            </a:r>
          </a:p>
          <a:p>
            <a:pPr lvl="1"/>
            <a:r>
              <a:rPr lang="en-US" smtClean="0"/>
              <a:t>  </a:t>
            </a:r>
          </a:p>
          <a:p>
            <a:pPr>
              <a:buFont typeface="Wingdings" pitchFamily="2" charset="2"/>
              <a:buNone/>
            </a:pPr>
            <a:r>
              <a:rPr lang="en-US" smtClean="0"/>
              <a:t>   </a:t>
            </a:r>
          </a:p>
          <a:p>
            <a:pPr>
              <a:buFont typeface="Wingdings" pitchFamily="2" charset="2"/>
              <a:buNone/>
            </a:pPr>
            <a:endParaRPr lang="en-US" sz="1000" smtClean="0"/>
          </a:p>
          <a:p>
            <a:r>
              <a:rPr lang="en-US" smtClean="0"/>
              <a:t>Cost</a:t>
            </a:r>
          </a:p>
          <a:p>
            <a:pPr lvl="1"/>
            <a:r>
              <a:rPr lang="en-US" smtClean="0"/>
              <a:t>Returned 1.6B</a:t>
            </a:r>
          </a:p>
        </p:txBody>
      </p:sp>
      <p:pic>
        <p:nvPicPr>
          <p:cNvPr id="63494" name="Picture 6"/>
          <p:cNvPicPr>
            <a:picLocks noChangeAspect="1" noChangeArrowheads="1"/>
          </p:cNvPicPr>
          <p:nvPr/>
        </p:nvPicPr>
        <p:blipFill>
          <a:blip r:embed="rId2" cstate="print"/>
          <a:srcRect/>
          <a:stretch>
            <a:fillRect/>
          </a:stretch>
        </p:blipFill>
        <p:spPr bwMode="auto">
          <a:xfrm>
            <a:off x="1447800" y="3581400"/>
            <a:ext cx="1657350" cy="666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p:cNvSpPr>
          <p:nvPr>
            <p:ph type="title"/>
          </p:nvPr>
        </p:nvSpPr>
        <p:spPr>
          <a:xfrm>
            <a:off x="609600" y="228600"/>
            <a:ext cx="8153400" cy="990600"/>
          </a:xfrm>
        </p:spPr>
        <p:txBody>
          <a:bodyPr/>
          <a:lstStyle/>
          <a:p>
            <a:r>
              <a:rPr lang="en-US" smtClean="0"/>
              <a:t>Success: GAO Critical List</a:t>
            </a:r>
          </a:p>
        </p:txBody>
      </p:sp>
      <p:pic>
        <p:nvPicPr>
          <p:cNvPr id="100356" name="Picture 4">
            <a:hlinkClick r:id="rId2"/>
          </p:cNvPr>
          <p:cNvPicPr>
            <a:picLocks noChangeAspect="1" noChangeArrowheads="1"/>
          </p:cNvPicPr>
          <p:nvPr>
            <p:ph type="body" idx="1"/>
          </p:nvPr>
        </p:nvPicPr>
        <p:blipFill>
          <a:blip r:embed="rId3" cstate="print"/>
          <a:srcRect b="3984"/>
          <a:stretch>
            <a:fillRect/>
          </a:stretch>
        </p:blipFill>
        <p:spPr>
          <a:xfrm>
            <a:off x="1447800" y="1981200"/>
            <a:ext cx="6078538" cy="2913063"/>
          </a:xfrm>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p:cNvSpPr>
          <p:nvPr>
            <p:ph type="title"/>
          </p:nvPr>
        </p:nvSpPr>
        <p:spPr>
          <a:xfrm>
            <a:off x="609600" y="228600"/>
            <a:ext cx="8153400" cy="990600"/>
          </a:xfrm>
        </p:spPr>
        <p:txBody>
          <a:bodyPr/>
          <a:lstStyle/>
          <a:p>
            <a:r>
              <a:rPr lang="en-US" sz="3200" smtClean="0"/>
              <a:t>Participation Rates: Comparisons</a:t>
            </a:r>
          </a:p>
        </p:txBody>
      </p:sp>
      <p:pic>
        <p:nvPicPr>
          <p:cNvPr id="104452" name="Picture 4"/>
          <p:cNvPicPr>
            <a:picLocks noChangeAspect="1" noChangeArrowheads="1"/>
          </p:cNvPicPr>
          <p:nvPr>
            <p:ph type="body" idx="1"/>
          </p:nvPr>
        </p:nvPicPr>
        <p:blipFill>
          <a:blip r:embed="rId2" cstate="print"/>
          <a:srcRect/>
          <a:stretch>
            <a:fillRect/>
          </a:stretch>
        </p:blipFill>
        <p:spPr>
          <a:xfrm>
            <a:off x="1524000" y="1614488"/>
            <a:ext cx="6462713" cy="5243512"/>
          </a:xfrm>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a:xfrm>
            <a:off x="609600" y="228600"/>
            <a:ext cx="8153400" cy="990600"/>
          </a:xfrm>
        </p:spPr>
        <p:txBody>
          <a:bodyPr/>
          <a:lstStyle/>
          <a:p>
            <a:r>
              <a:rPr lang="en-US" sz="3600" smtClean="0"/>
              <a:t>Census 2010 Mail Participation Rates:</a:t>
            </a:r>
            <a:r>
              <a:rPr lang="en-US" sz="4000" smtClean="0"/>
              <a:t> </a:t>
            </a:r>
            <a:r>
              <a:rPr lang="en-US" sz="3200" smtClean="0"/>
              <a:t>by County (blue is bad)</a:t>
            </a:r>
          </a:p>
        </p:txBody>
      </p:sp>
      <p:pic>
        <p:nvPicPr>
          <p:cNvPr id="114692" name="Picture 4"/>
          <p:cNvPicPr>
            <a:picLocks noChangeAspect="1" noChangeArrowheads="1"/>
          </p:cNvPicPr>
          <p:nvPr>
            <p:ph type="body" idx="1"/>
          </p:nvPr>
        </p:nvPicPr>
        <p:blipFill>
          <a:blip r:embed="rId2" cstate="print"/>
          <a:srcRect/>
          <a:stretch>
            <a:fillRect/>
          </a:stretch>
        </p:blipFill>
        <p:spPr>
          <a:xfrm>
            <a:off x="1447800" y="1600200"/>
            <a:ext cx="6618288" cy="5062538"/>
          </a:xfrm>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0" name="Rectangle 6"/>
          <p:cNvSpPr>
            <a:spLocks noGrp="1"/>
          </p:cNvSpPr>
          <p:nvPr>
            <p:ph type="title"/>
          </p:nvPr>
        </p:nvSpPr>
        <p:spPr>
          <a:xfrm>
            <a:off x="609600" y="228600"/>
            <a:ext cx="8153400" cy="990600"/>
          </a:xfrm>
        </p:spPr>
        <p:txBody>
          <a:bodyPr/>
          <a:lstStyle/>
          <a:p>
            <a:r>
              <a:rPr lang="en-US" sz="3600" smtClean="0"/>
              <a:t>Participation Rates: 2010 vs 2000</a:t>
            </a:r>
          </a:p>
        </p:txBody>
      </p:sp>
      <p:sp>
        <p:nvSpPr>
          <p:cNvPr id="72711" name="Rectangle 7"/>
          <p:cNvSpPr>
            <a:spLocks noGrp="1"/>
          </p:cNvSpPr>
          <p:nvPr>
            <p:ph idx="1"/>
          </p:nvPr>
        </p:nvSpPr>
        <p:spPr>
          <a:xfrm>
            <a:off x="612775" y="1600200"/>
            <a:ext cx="8153400" cy="4525963"/>
          </a:xfrm>
        </p:spPr>
        <p:txBody>
          <a:bodyPr/>
          <a:lstStyle/>
          <a:p>
            <a:endParaRPr lang="en-US" smtClean="0"/>
          </a:p>
        </p:txBody>
      </p:sp>
      <p:pic>
        <p:nvPicPr>
          <p:cNvPr id="72708" name="Picture 4"/>
          <p:cNvPicPr>
            <a:picLocks noChangeAspect="1" noChangeArrowheads="1"/>
          </p:cNvPicPr>
          <p:nvPr/>
        </p:nvPicPr>
        <p:blipFill>
          <a:blip r:embed="rId2" cstate="print"/>
          <a:srcRect l="3999" t="21333" r="21333" b="11734"/>
          <a:stretch>
            <a:fillRect/>
          </a:stretch>
        </p:blipFill>
        <p:spPr bwMode="auto">
          <a:xfrm>
            <a:off x="1447800" y="2057400"/>
            <a:ext cx="6134100" cy="3443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p:cNvSpPr>
          <p:nvPr>
            <p:ph type="title"/>
          </p:nvPr>
        </p:nvSpPr>
        <p:spPr>
          <a:xfrm>
            <a:off x="609600" y="228600"/>
            <a:ext cx="8153400" cy="990600"/>
          </a:xfrm>
        </p:spPr>
        <p:txBody>
          <a:bodyPr/>
          <a:lstStyle/>
          <a:p>
            <a:r>
              <a:rPr lang="en-US" sz="3600" smtClean="0"/>
              <a:t>Success: Cost, but some beg to differ</a:t>
            </a:r>
          </a:p>
        </p:txBody>
      </p:sp>
      <p:pic>
        <p:nvPicPr>
          <p:cNvPr id="117764" name="Picture 4">
            <a:hlinkClick r:id="rId2"/>
          </p:cNvPr>
          <p:cNvPicPr>
            <a:picLocks noChangeArrowheads="1"/>
          </p:cNvPicPr>
          <p:nvPr>
            <p:ph type="body" idx="1"/>
          </p:nvPr>
        </p:nvPicPr>
        <p:blipFill>
          <a:blip r:embed="rId3" cstate="print"/>
          <a:srcRect l="5232" t="13441" r="5232"/>
          <a:stretch>
            <a:fillRect/>
          </a:stretch>
        </p:blipFill>
        <p:spPr>
          <a:xfrm>
            <a:off x="990600" y="1752600"/>
            <a:ext cx="7772400" cy="4876800"/>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457200" y="228600"/>
            <a:ext cx="8305800" cy="990600"/>
          </a:xfrm>
        </p:spPr>
        <p:txBody>
          <a:bodyPr/>
          <a:lstStyle/>
          <a:p>
            <a:r>
              <a:rPr lang="en-US" sz="3600" smtClean="0"/>
              <a:t>Information for Potential Users</a:t>
            </a:r>
          </a:p>
        </p:txBody>
      </p:sp>
      <p:sp>
        <p:nvSpPr>
          <p:cNvPr id="88067" name="Rectangle 3"/>
          <p:cNvSpPr>
            <a:spLocks noGrp="1"/>
          </p:cNvSpPr>
          <p:nvPr>
            <p:ph type="body" idx="1"/>
          </p:nvPr>
        </p:nvSpPr>
        <p:spPr>
          <a:xfrm>
            <a:off x="612775" y="1600200"/>
            <a:ext cx="8153400" cy="4525963"/>
          </a:xfrm>
        </p:spPr>
        <p:txBody>
          <a:bodyPr/>
          <a:lstStyle/>
          <a:p>
            <a:pPr>
              <a:buFont typeface="Wingdings" pitchFamily="2" charset="2"/>
              <a:buNone/>
            </a:pPr>
            <a:endParaRPr lang="en-US" sz="1400" smtClean="0"/>
          </a:p>
          <a:p>
            <a:r>
              <a:rPr lang="en-US" sz="2500" smtClean="0"/>
              <a:t>US census data are public &amp; free</a:t>
            </a:r>
          </a:p>
          <a:p>
            <a:pPr>
              <a:buFont typeface="Wingdings" pitchFamily="2" charset="2"/>
              <a:buNone/>
            </a:pPr>
            <a:endParaRPr lang="en-US" sz="1800" smtClean="0"/>
          </a:p>
          <a:p>
            <a:r>
              <a:rPr lang="en-US" sz="2500" smtClean="0"/>
              <a:t>Quick turn-around between collection &amp; dissemination</a:t>
            </a:r>
          </a:p>
          <a:p>
            <a:pPr lvl="1"/>
            <a:r>
              <a:rPr lang="en-US" sz="2200" smtClean="0"/>
              <a:t>American Community Survey data for 2009  released in September 2010</a:t>
            </a:r>
          </a:p>
          <a:p>
            <a:pPr>
              <a:buFont typeface="Wingdings" pitchFamily="2" charset="2"/>
              <a:buNone/>
            </a:pPr>
            <a:endParaRPr lang="en-US" sz="1800" smtClean="0"/>
          </a:p>
          <a:p>
            <a:r>
              <a:rPr lang="en-US" sz="2500" smtClean="0"/>
              <a:t>Dissemination Portals</a:t>
            </a:r>
          </a:p>
          <a:p>
            <a:pPr>
              <a:buFont typeface="Wingdings" pitchFamily="2" charset="2"/>
              <a:buNone/>
            </a:pPr>
            <a:endParaRPr lang="en-US" sz="1800" smtClean="0"/>
          </a:p>
          <a:p>
            <a:r>
              <a:rPr lang="en-US" sz="2500" smtClean="0"/>
              <a:t>Potential for confusion</a:t>
            </a:r>
          </a:p>
          <a:p>
            <a:pPr>
              <a:buFont typeface="Wingdings" pitchFamily="2" charset="2"/>
              <a:buNone/>
            </a:pPr>
            <a:endParaRPr lang="en-US" sz="1800" smtClean="0"/>
          </a:p>
          <a:p>
            <a:pPr>
              <a:buFont typeface="Wingdings" pitchFamily="2" charset="2"/>
              <a:buNone/>
            </a:pPr>
            <a:endParaRPr lang="en-US" sz="25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609600" y="228600"/>
            <a:ext cx="8153400" cy="990600"/>
          </a:xfrm>
        </p:spPr>
        <p:txBody>
          <a:bodyPr/>
          <a:lstStyle/>
          <a:p>
            <a:r>
              <a:rPr lang="en-US" sz="3600" smtClean="0"/>
              <a:t>Census Data are Public Access &amp; Free</a:t>
            </a:r>
          </a:p>
        </p:txBody>
      </p:sp>
      <p:sp>
        <p:nvSpPr>
          <p:cNvPr id="89091" name="Rectangle 3"/>
          <p:cNvSpPr>
            <a:spLocks noGrp="1"/>
          </p:cNvSpPr>
          <p:nvPr>
            <p:ph type="body" idx="1"/>
          </p:nvPr>
        </p:nvSpPr>
        <p:spPr>
          <a:xfrm>
            <a:off x="612775" y="1600200"/>
            <a:ext cx="8153400" cy="4525963"/>
          </a:xfrm>
        </p:spPr>
        <p:txBody>
          <a:bodyPr/>
          <a:lstStyle/>
          <a:p>
            <a:pPr>
              <a:lnSpc>
                <a:spcPct val="80000"/>
              </a:lnSpc>
            </a:pPr>
            <a:r>
              <a:rPr lang="en-US" sz="2500" smtClean="0"/>
              <a:t>The Census Bureau has a long history of making data publically available, including microdata</a:t>
            </a:r>
          </a:p>
          <a:p>
            <a:pPr>
              <a:lnSpc>
                <a:spcPct val="80000"/>
              </a:lnSpc>
              <a:buFont typeface="Wingdings" pitchFamily="2" charset="2"/>
              <a:buNone/>
            </a:pPr>
            <a:endParaRPr lang="en-US" sz="1600" smtClean="0"/>
          </a:p>
          <a:p>
            <a:pPr>
              <a:lnSpc>
                <a:spcPct val="80000"/>
              </a:lnSpc>
            </a:pPr>
            <a:r>
              <a:rPr lang="en-US" sz="2500" smtClean="0"/>
              <a:t>Allows for re-distribution by others (including commercial ventures)</a:t>
            </a:r>
          </a:p>
          <a:p>
            <a:pPr lvl="1">
              <a:lnSpc>
                <a:spcPct val="80000"/>
              </a:lnSpc>
            </a:pPr>
            <a:r>
              <a:rPr lang="en-US" sz="2200" smtClean="0"/>
              <a:t>ICPSR</a:t>
            </a:r>
          </a:p>
          <a:p>
            <a:pPr lvl="1">
              <a:lnSpc>
                <a:spcPct val="80000"/>
              </a:lnSpc>
            </a:pPr>
            <a:r>
              <a:rPr lang="en-US" sz="2200" smtClean="0"/>
              <a:t>Minnesota Population Center</a:t>
            </a:r>
          </a:p>
          <a:p>
            <a:pPr lvl="2">
              <a:lnSpc>
                <a:spcPct val="80000"/>
              </a:lnSpc>
            </a:pPr>
            <a:r>
              <a:rPr lang="en-US" sz="2100" smtClean="0"/>
              <a:t>IPUMS (microdata)</a:t>
            </a:r>
          </a:p>
          <a:p>
            <a:pPr lvl="2">
              <a:lnSpc>
                <a:spcPct val="80000"/>
              </a:lnSpc>
            </a:pPr>
            <a:r>
              <a:rPr lang="en-US" sz="2100" smtClean="0"/>
              <a:t>NHGIS/Social Explorer (summary)</a:t>
            </a:r>
          </a:p>
          <a:p>
            <a:pPr lvl="2">
              <a:lnSpc>
                <a:spcPct val="80000"/>
              </a:lnSpc>
              <a:buFont typeface="Wingdings" pitchFamily="2" charset="2"/>
              <a:buNone/>
            </a:pPr>
            <a:endParaRPr lang="en-US" sz="1600" smtClean="0"/>
          </a:p>
          <a:p>
            <a:pPr>
              <a:lnSpc>
                <a:spcPct val="80000"/>
              </a:lnSpc>
            </a:pPr>
            <a:r>
              <a:rPr lang="en-US" sz="2500" smtClean="0"/>
              <a:t>Exceptions </a:t>
            </a:r>
          </a:p>
          <a:p>
            <a:pPr lvl="1">
              <a:lnSpc>
                <a:spcPct val="80000"/>
              </a:lnSpc>
            </a:pPr>
            <a:r>
              <a:rPr lang="en-US" sz="2200" smtClean="0"/>
              <a:t>Special Tabulations ($$$)</a:t>
            </a:r>
          </a:p>
          <a:p>
            <a:pPr lvl="1">
              <a:lnSpc>
                <a:spcPct val="80000"/>
              </a:lnSpc>
            </a:pPr>
            <a:r>
              <a:rPr lang="en-US" sz="2200" smtClean="0"/>
              <a:t>Restricted Data Centers  </a:t>
            </a:r>
          </a:p>
          <a:p>
            <a:pPr>
              <a:lnSpc>
                <a:spcPct val="80000"/>
              </a:lnSpc>
              <a:buFont typeface="Wingdings" pitchFamily="2" charset="2"/>
              <a:buNone/>
            </a:pPr>
            <a:endParaRPr lang="en-US" sz="2500" smtClean="0"/>
          </a:p>
          <a:p>
            <a:pPr>
              <a:lnSpc>
                <a:spcPct val="80000"/>
              </a:lnSpc>
            </a:pPr>
            <a:endParaRPr lang="en-US" sz="250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609600" y="228600"/>
            <a:ext cx="8153400" cy="990600"/>
          </a:xfrm>
        </p:spPr>
        <p:txBody>
          <a:bodyPr/>
          <a:lstStyle/>
          <a:p>
            <a:r>
              <a:rPr lang="en-US" sz="3600" smtClean="0"/>
              <a:t>Quick Turnaround</a:t>
            </a:r>
            <a:br>
              <a:rPr lang="en-US" sz="3600" smtClean="0"/>
            </a:br>
            <a:r>
              <a:rPr lang="en-US" sz="3200" smtClean="0"/>
              <a:t>Dissemination Schedule - Census</a:t>
            </a:r>
          </a:p>
        </p:txBody>
      </p:sp>
      <p:graphicFrame>
        <p:nvGraphicFramePr>
          <p:cNvPr id="90216" name="Group 104"/>
          <p:cNvGraphicFramePr>
            <a:graphicFrameLocks noGrp="1"/>
          </p:cNvGraphicFramePr>
          <p:nvPr>
            <p:ph idx="1"/>
          </p:nvPr>
        </p:nvGraphicFramePr>
        <p:xfrm>
          <a:off x="612775" y="1600200"/>
          <a:ext cx="8153400" cy="4876800"/>
        </p:xfrm>
        <a:graphic>
          <a:graphicData uri="http://schemas.openxmlformats.org/drawingml/2006/table">
            <a:tbl>
              <a:tblPr/>
              <a:tblGrid>
                <a:gridCol w="5102225"/>
                <a:gridCol w="3051175"/>
              </a:tblGrid>
              <a:tr h="7620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500" b="0" i="0" u="none" strike="noStrike" cap="none" normalizeH="0" baseline="0" smtClean="0">
                          <a:ln>
                            <a:noFill/>
                          </a:ln>
                          <a:solidFill>
                            <a:schemeClr val="bg1"/>
                          </a:solidFill>
                          <a:effectLst/>
                          <a:latin typeface="Arial" charset="0"/>
                        </a:rPr>
                        <a:t>Product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500" b="0" i="0" u="none" strike="noStrike" cap="none" normalizeH="0" baseline="0" smtClean="0">
                          <a:ln>
                            <a:noFill/>
                          </a:ln>
                          <a:solidFill>
                            <a:schemeClr val="bg1"/>
                          </a:solidFill>
                          <a:effectLst/>
                          <a:latin typeface="Arial" charset="0"/>
                        </a:rPr>
                        <a:t>Date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5334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1" u="none" strike="noStrike" cap="none" normalizeH="0" baseline="0" smtClean="0">
                          <a:ln>
                            <a:noFill/>
                          </a:ln>
                          <a:solidFill>
                            <a:schemeClr val="tx1"/>
                          </a:solidFill>
                          <a:effectLst/>
                          <a:latin typeface="Arial" charset="0"/>
                        </a:rPr>
                        <a:t>Population Estimates (not 2010 census)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1" u="none" strike="noStrike" cap="none" normalizeH="0" baseline="0" smtClean="0">
                          <a:ln>
                            <a:noFill/>
                          </a:ln>
                          <a:solidFill>
                            <a:schemeClr val="tx1"/>
                          </a:solidFill>
                          <a:effectLst/>
                          <a:latin typeface="Arial" charset="0"/>
                        </a:rPr>
                        <a:t>December 2010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Apportionment Counts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December 31, 2010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Redistricting File (P.L. 94-171)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Feb – Mar 2011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“GQ File”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May 2011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Summary File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Jun – Aug 2011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Summary File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Dec – Apr 2012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Public Use Microdata File (short-form only)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TBD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1200" b="1" i="0" u="none" strike="noStrike" cap="none" normalizeH="0" baseline="0" smtClean="0">
                          <a:ln>
                            <a:noFill/>
                          </a:ln>
                          <a:solidFill>
                            <a:schemeClr val="tx1"/>
                          </a:solidFill>
                          <a:effectLst/>
                          <a:latin typeface="Arial" charset="0"/>
                        </a:rPr>
                        <a:t>Source: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1200" b="0" i="0" u="none" strike="noStrike" cap="none" normalizeH="0" baseline="0" smtClean="0">
                          <a:ln>
                            <a:noFill/>
                          </a:ln>
                          <a:solidFill>
                            <a:schemeClr val="tx1"/>
                          </a:solidFill>
                          <a:effectLst/>
                          <a:latin typeface="Arial" charset="0"/>
                          <a:hlinkClick r:id="rId2"/>
                        </a:rPr>
                        <a:t>http://www.census.gov/population/www/cen2010/glance/</a:t>
                      </a:r>
                      <a:endParaRPr kumimoji="0" lang="en-US" sz="12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p:cNvSpPr>
          <p:nvPr>
            <p:ph type="title"/>
          </p:nvPr>
        </p:nvSpPr>
        <p:spPr>
          <a:xfrm>
            <a:off x="609600" y="228600"/>
            <a:ext cx="8153400" cy="990600"/>
          </a:xfrm>
        </p:spPr>
        <p:txBody>
          <a:bodyPr/>
          <a:lstStyle/>
          <a:p>
            <a:r>
              <a:rPr lang="en-US" sz="3600" smtClean="0"/>
              <a:t>Responsiveness to User Concerns</a:t>
            </a:r>
          </a:p>
        </p:txBody>
      </p:sp>
      <p:pic>
        <p:nvPicPr>
          <p:cNvPr id="102403" name="Picture 3">
            <a:hlinkClick r:id="rId2"/>
          </p:cNvPr>
          <p:cNvPicPr>
            <a:picLocks noChangeAspect="1" noChangeArrowheads="1"/>
          </p:cNvPicPr>
          <p:nvPr>
            <p:ph type="body" idx="1"/>
          </p:nvPr>
        </p:nvPicPr>
        <p:blipFill>
          <a:blip r:embed="rId3" cstate="print"/>
          <a:srcRect/>
          <a:stretch>
            <a:fillRect/>
          </a:stretch>
        </p:blipFill>
        <p:spPr>
          <a:xfrm>
            <a:off x="381000" y="4419600"/>
            <a:ext cx="2220913" cy="1231900"/>
          </a:xfrm>
        </p:spPr>
      </p:pic>
      <p:pic>
        <p:nvPicPr>
          <p:cNvPr id="102404" name="Picture 4">
            <a:hlinkClick r:id="rId4"/>
          </p:cNvPr>
          <p:cNvPicPr>
            <a:picLocks noChangeAspect="1" noChangeArrowheads="1"/>
          </p:cNvPicPr>
          <p:nvPr/>
        </p:nvPicPr>
        <p:blipFill>
          <a:blip r:embed="rId5" cstate="print"/>
          <a:srcRect t="19539" b="9769"/>
          <a:stretch>
            <a:fillRect/>
          </a:stretch>
        </p:blipFill>
        <p:spPr bwMode="auto">
          <a:xfrm>
            <a:off x="2819400" y="4800600"/>
            <a:ext cx="6146800" cy="663575"/>
          </a:xfrm>
          <a:prstGeom prst="rect">
            <a:avLst/>
          </a:prstGeom>
          <a:noFill/>
          <a:ln w="9525">
            <a:noFill/>
            <a:miter lim="800000"/>
            <a:headEnd/>
            <a:tailEnd/>
          </a:ln>
          <a:effectLst/>
        </p:spPr>
      </p:pic>
      <p:pic>
        <p:nvPicPr>
          <p:cNvPr id="102405" name="Picture 5">
            <a:hlinkClick r:id="rId6"/>
          </p:cNvPr>
          <p:cNvPicPr>
            <a:picLocks noChangeAspect="1" noChangeArrowheads="1"/>
          </p:cNvPicPr>
          <p:nvPr/>
        </p:nvPicPr>
        <p:blipFill>
          <a:blip r:embed="rId7" cstate="print"/>
          <a:srcRect/>
          <a:stretch>
            <a:fillRect/>
          </a:stretch>
        </p:blipFill>
        <p:spPr bwMode="auto">
          <a:xfrm>
            <a:off x="6705600" y="3352800"/>
            <a:ext cx="2114550" cy="1169988"/>
          </a:xfrm>
          <a:prstGeom prst="rect">
            <a:avLst/>
          </a:prstGeom>
          <a:noFill/>
          <a:ln w="9525">
            <a:noFill/>
            <a:miter lim="800000"/>
            <a:headEnd/>
            <a:tailEnd/>
          </a:ln>
          <a:effectLst/>
        </p:spPr>
      </p:pic>
      <p:pic>
        <p:nvPicPr>
          <p:cNvPr id="102406" name="Picture 6">
            <a:hlinkClick r:id="rId8"/>
          </p:cNvPr>
          <p:cNvPicPr>
            <a:picLocks noChangeAspect="1" noChangeArrowheads="1"/>
          </p:cNvPicPr>
          <p:nvPr/>
        </p:nvPicPr>
        <p:blipFill>
          <a:blip r:embed="rId9" cstate="print"/>
          <a:srcRect l="3540"/>
          <a:stretch>
            <a:fillRect/>
          </a:stretch>
        </p:blipFill>
        <p:spPr bwMode="auto">
          <a:xfrm>
            <a:off x="6264275" y="1600200"/>
            <a:ext cx="2490788" cy="1871663"/>
          </a:xfrm>
          <a:prstGeom prst="rect">
            <a:avLst/>
          </a:prstGeom>
          <a:noFill/>
          <a:ln w="9525">
            <a:noFill/>
            <a:miter lim="800000"/>
            <a:headEnd/>
            <a:tailEnd/>
          </a:ln>
          <a:effectLst/>
        </p:spPr>
      </p:pic>
      <p:pic>
        <p:nvPicPr>
          <p:cNvPr id="102407" name="Picture 7">
            <a:hlinkClick r:id="rId10"/>
          </p:cNvPr>
          <p:cNvPicPr>
            <a:picLocks noChangeAspect="1" noChangeArrowheads="1"/>
          </p:cNvPicPr>
          <p:nvPr/>
        </p:nvPicPr>
        <p:blipFill>
          <a:blip r:embed="rId11" cstate="print"/>
          <a:srcRect b="3877"/>
          <a:stretch>
            <a:fillRect/>
          </a:stretch>
        </p:blipFill>
        <p:spPr bwMode="auto">
          <a:xfrm>
            <a:off x="3733800" y="2057400"/>
            <a:ext cx="2654300" cy="2265363"/>
          </a:xfrm>
          <a:prstGeom prst="rect">
            <a:avLst/>
          </a:prstGeom>
          <a:noFill/>
          <a:ln w="9525">
            <a:noFill/>
            <a:miter lim="800000"/>
            <a:headEnd/>
            <a:tailEnd/>
          </a:ln>
          <a:effectLst/>
        </p:spPr>
      </p:pic>
      <p:pic>
        <p:nvPicPr>
          <p:cNvPr id="102408" name="Picture 8">
            <a:hlinkClick r:id="rId12"/>
          </p:cNvPr>
          <p:cNvPicPr>
            <a:picLocks noChangeAspect="1" noChangeArrowheads="1"/>
          </p:cNvPicPr>
          <p:nvPr/>
        </p:nvPicPr>
        <p:blipFill>
          <a:blip r:embed="rId13" cstate="print"/>
          <a:srcRect/>
          <a:stretch>
            <a:fillRect/>
          </a:stretch>
        </p:blipFill>
        <p:spPr bwMode="auto">
          <a:xfrm>
            <a:off x="0" y="1600200"/>
            <a:ext cx="3675063" cy="27543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a:lstStyle/>
          <a:p>
            <a:r>
              <a:rPr lang="en-US" sz="3600" smtClean="0"/>
              <a:t>Quick Turnaround</a:t>
            </a:r>
            <a:r>
              <a:rPr lang="en-US" sz="3200" smtClean="0"/>
              <a:t/>
            </a:r>
            <a:br>
              <a:rPr lang="en-US" sz="3200" smtClean="0"/>
            </a:br>
            <a:r>
              <a:rPr lang="en-US" sz="3200" smtClean="0"/>
              <a:t>Dissemination Schedule - ACS</a:t>
            </a:r>
          </a:p>
        </p:txBody>
      </p:sp>
      <p:sp>
        <p:nvSpPr>
          <p:cNvPr id="94211" name="Rectangle 3"/>
          <p:cNvSpPr>
            <a:spLocks noGrp="1"/>
          </p:cNvSpPr>
          <p:nvPr>
            <p:ph type="body" sz="half" idx="1"/>
          </p:nvPr>
        </p:nvSpPr>
        <p:spPr/>
        <p:txBody>
          <a:bodyPr/>
          <a:lstStyle/>
          <a:p>
            <a:r>
              <a:rPr lang="en-US" sz="2500" smtClean="0"/>
              <a:t>Data collection in the field (Jan 1 – Dec 31)</a:t>
            </a:r>
          </a:p>
          <a:p>
            <a:pPr>
              <a:buFont typeface="Wingdings" pitchFamily="2" charset="2"/>
              <a:buNone/>
            </a:pPr>
            <a:endParaRPr lang="en-US" sz="2500" smtClean="0"/>
          </a:p>
          <a:p>
            <a:pPr>
              <a:buFont typeface="Wingdings" pitchFamily="2" charset="2"/>
              <a:buNone/>
            </a:pPr>
            <a:endParaRPr lang="en-US" sz="2500" smtClean="0"/>
          </a:p>
          <a:p>
            <a:r>
              <a:rPr lang="en-US" sz="2500" smtClean="0"/>
              <a:t>Data released in the following year according to table</a:t>
            </a:r>
          </a:p>
          <a:p>
            <a:pPr>
              <a:buFont typeface="Wingdings" pitchFamily="2" charset="2"/>
              <a:buNone/>
            </a:pPr>
            <a:endParaRPr lang="en-US" sz="2500" smtClean="0"/>
          </a:p>
          <a:p>
            <a:pPr>
              <a:buFont typeface="Wingdings" pitchFamily="2" charset="2"/>
              <a:buNone/>
            </a:pPr>
            <a:endParaRPr lang="en-US" sz="2500" smtClean="0"/>
          </a:p>
          <a:p>
            <a:r>
              <a:rPr lang="en-US" sz="1200" smtClean="0">
                <a:hlinkClick r:id="rId2"/>
              </a:rPr>
              <a:t>http://www.census.gov/acs/www/data_documentation/2009_release_schedule/</a:t>
            </a:r>
            <a:endParaRPr lang="en-US" sz="1200" smtClean="0"/>
          </a:p>
          <a:p>
            <a:endParaRPr lang="en-US" sz="1200" smtClean="0"/>
          </a:p>
          <a:p>
            <a:endParaRPr lang="en-US" sz="1200" smtClean="0"/>
          </a:p>
          <a:p>
            <a:pPr lvl="1"/>
            <a:endParaRPr lang="en-US" sz="2200" smtClean="0"/>
          </a:p>
        </p:txBody>
      </p:sp>
      <p:graphicFrame>
        <p:nvGraphicFramePr>
          <p:cNvPr id="94303" name="Group 95"/>
          <p:cNvGraphicFramePr>
            <a:graphicFrameLocks noGrp="1"/>
          </p:cNvGraphicFramePr>
          <p:nvPr>
            <p:ph sz="half" idx="2"/>
          </p:nvPr>
        </p:nvGraphicFramePr>
        <p:xfrm>
          <a:off x="4765675" y="1600200"/>
          <a:ext cx="4000500" cy="4525965"/>
        </p:xfrm>
        <a:graphic>
          <a:graphicData uri="http://schemas.openxmlformats.org/drawingml/2006/table">
            <a:tbl>
              <a:tblPr/>
              <a:tblGrid>
                <a:gridCol w="2000250"/>
                <a:gridCol w="2000250"/>
              </a:tblGrid>
              <a:tr h="754063">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500" b="0" i="0" u="none" strike="noStrike" cap="none" normalizeH="0" baseline="0" smtClean="0">
                          <a:ln>
                            <a:noFill/>
                          </a:ln>
                          <a:solidFill>
                            <a:schemeClr val="bg1"/>
                          </a:solidFill>
                          <a:effectLst/>
                          <a:latin typeface="Arial" charset="0"/>
                        </a:rPr>
                        <a:t>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500" b="0" i="0" u="none" strike="noStrike" cap="none" normalizeH="0" baseline="0" smtClean="0">
                          <a:ln>
                            <a:noFill/>
                          </a:ln>
                          <a:solidFill>
                            <a:schemeClr val="bg1"/>
                          </a:solidFill>
                          <a:effectLst/>
                          <a:latin typeface="Arial" charset="0"/>
                        </a:rPr>
                        <a:t>Product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754063">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September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1-year summary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5650">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November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1-year microdata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4063">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December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5-year summary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4063">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January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3-year summary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4063">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February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ts val="700"/>
                        </a:spcBef>
                        <a:spcAft>
                          <a:spcPct val="0"/>
                        </a:spcAft>
                        <a:buClr>
                          <a:schemeClr val="accent2"/>
                        </a:buClr>
                        <a:buSzPct val="60000"/>
                        <a:buFont typeface="Wingdings" pitchFamily="2" charset="2"/>
                        <a:buNone/>
                        <a:tabLst/>
                      </a:pPr>
                      <a:r>
                        <a:rPr kumimoji="0" lang="en-US" sz="2000" b="0" i="0" u="none" strike="noStrike" cap="none" normalizeH="0" baseline="0" smtClean="0">
                          <a:ln>
                            <a:noFill/>
                          </a:ln>
                          <a:solidFill>
                            <a:schemeClr val="tx1"/>
                          </a:solidFill>
                          <a:effectLst/>
                          <a:latin typeface="Arial" charset="0"/>
                        </a:rPr>
                        <a:t>3-year &amp; 5-year microdata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p:cNvSpPr>
          <p:nvPr>
            <p:ph type="title"/>
          </p:nvPr>
        </p:nvSpPr>
        <p:spPr>
          <a:xfrm>
            <a:off x="609600" y="228600"/>
            <a:ext cx="8153400" cy="990600"/>
          </a:xfrm>
        </p:spPr>
        <p:txBody>
          <a:bodyPr/>
          <a:lstStyle/>
          <a:p>
            <a:r>
              <a:rPr lang="en-US" sz="3600" smtClean="0"/>
              <a:t>Dissemination Portal:</a:t>
            </a:r>
            <a:br>
              <a:rPr lang="en-US" sz="3600" smtClean="0"/>
            </a:br>
            <a:r>
              <a:rPr lang="en-US" sz="3200" smtClean="0"/>
              <a:t>American FactFinder</a:t>
            </a:r>
          </a:p>
        </p:txBody>
      </p:sp>
      <p:sp>
        <p:nvSpPr>
          <p:cNvPr id="96259" name="Rectangle 3"/>
          <p:cNvSpPr>
            <a:spLocks noGrp="1"/>
          </p:cNvSpPr>
          <p:nvPr>
            <p:ph type="body" idx="1"/>
          </p:nvPr>
        </p:nvSpPr>
        <p:spPr>
          <a:xfrm>
            <a:off x="612775" y="1600200"/>
            <a:ext cx="8153400" cy="4525963"/>
          </a:xfrm>
        </p:spPr>
        <p:txBody>
          <a:bodyPr/>
          <a:lstStyle/>
          <a:p>
            <a:r>
              <a:rPr lang="en-US" smtClean="0"/>
              <a:t>American FactFinder for summary data</a:t>
            </a:r>
          </a:p>
        </p:txBody>
      </p:sp>
      <p:pic>
        <p:nvPicPr>
          <p:cNvPr id="96260" name="Picture 4">
            <a:hlinkClick r:id="rId2"/>
          </p:cNvPr>
          <p:cNvPicPr>
            <a:picLocks noChangeAspect="1" noChangeArrowheads="1"/>
          </p:cNvPicPr>
          <p:nvPr/>
        </p:nvPicPr>
        <p:blipFill>
          <a:blip r:embed="rId3" cstate="print"/>
          <a:srcRect/>
          <a:stretch>
            <a:fillRect/>
          </a:stretch>
        </p:blipFill>
        <p:spPr bwMode="auto">
          <a:xfrm>
            <a:off x="2590800" y="2286000"/>
            <a:ext cx="3848100" cy="3867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p:cNvSpPr>
          <p:nvPr>
            <p:ph type="title"/>
          </p:nvPr>
        </p:nvSpPr>
        <p:spPr>
          <a:xfrm>
            <a:off x="609600" y="228600"/>
            <a:ext cx="8153400" cy="990600"/>
          </a:xfrm>
        </p:spPr>
        <p:txBody>
          <a:bodyPr/>
          <a:lstStyle/>
          <a:p>
            <a:r>
              <a:rPr lang="en-US" sz="3600" smtClean="0"/>
              <a:t>Yikes:</a:t>
            </a:r>
            <a:br>
              <a:rPr lang="en-US" sz="3600" smtClean="0"/>
            </a:br>
            <a:r>
              <a:rPr lang="en-US" sz="3200" smtClean="0"/>
              <a:t>New Release of American FactFinder</a:t>
            </a:r>
          </a:p>
        </p:txBody>
      </p:sp>
      <p:sp>
        <p:nvSpPr>
          <p:cNvPr id="97283" name="Rectangle 3"/>
          <p:cNvSpPr>
            <a:spLocks noGrp="1"/>
          </p:cNvSpPr>
          <p:nvPr>
            <p:ph type="body" idx="1"/>
          </p:nvPr>
        </p:nvSpPr>
        <p:spPr>
          <a:xfrm>
            <a:off x="612775" y="1600200"/>
            <a:ext cx="8153400" cy="4525963"/>
          </a:xfrm>
        </p:spPr>
        <p:txBody>
          <a:bodyPr/>
          <a:lstStyle/>
          <a:p>
            <a:r>
              <a:rPr lang="en-US" smtClean="0"/>
              <a:t>New version rolling out in Jan/Feb 2011</a:t>
            </a:r>
          </a:p>
        </p:txBody>
      </p:sp>
      <p:pic>
        <p:nvPicPr>
          <p:cNvPr id="97284" name="Picture 4">
            <a:hlinkClick r:id="rId2"/>
          </p:cNvPr>
          <p:cNvPicPr>
            <a:picLocks noChangeAspect="1" noChangeArrowheads="1"/>
          </p:cNvPicPr>
          <p:nvPr/>
        </p:nvPicPr>
        <p:blipFill>
          <a:blip r:embed="rId3" cstate="print"/>
          <a:srcRect l="3334" t="15997" r="16669" b="4266"/>
          <a:stretch>
            <a:fillRect/>
          </a:stretch>
        </p:blipFill>
        <p:spPr bwMode="auto">
          <a:xfrm>
            <a:off x="914400" y="2438400"/>
            <a:ext cx="6523038" cy="3608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1"/>
          </p:nvPr>
        </p:nvSpPr>
        <p:spPr/>
        <p:txBody>
          <a:bodyPr/>
          <a:lstStyle/>
          <a:p>
            <a:r>
              <a:rPr lang="en-US"/>
              <a:t>User Experience</a:t>
            </a:r>
          </a:p>
        </p:txBody>
      </p:sp>
      <p:sp>
        <p:nvSpPr>
          <p:cNvPr id="98306" name="Rectangle 2"/>
          <p:cNvSpPr>
            <a:spLocks noGrp="1"/>
          </p:cNvSpPr>
          <p:nvPr>
            <p:ph type="title"/>
          </p:nvPr>
        </p:nvSpPr>
        <p:spPr>
          <a:xfrm>
            <a:off x="609600" y="228600"/>
            <a:ext cx="8153400" cy="990600"/>
          </a:xfrm>
        </p:spPr>
        <p:txBody>
          <a:bodyPr/>
          <a:lstStyle/>
          <a:p>
            <a:r>
              <a:rPr lang="en-US" sz="3600" smtClean="0"/>
              <a:t>Dissemination Portal:</a:t>
            </a:r>
            <a:br>
              <a:rPr lang="en-US" sz="3600" smtClean="0"/>
            </a:br>
            <a:r>
              <a:rPr lang="en-US" sz="3200" smtClean="0"/>
              <a:t>IPUMS for microdata</a:t>
            </a:r>
          </a:p>
        </p:txBody>
      </p:sp>
      <p:sp>
        <p:nvSpPr>
          <p:cNvPr id="98307" name="Rectangle 3"/>
          <p:cNvSpPr>
            <a:spLocks noGrp="1"/>
          </p:cNvSpPr>
          <p:nvPr>
            <p:ph type="body" idx="1"/>
          </p:nvPr>
        </p:nvSpPr>
        <p:spPr>
          <a:xfrm>
            <a:off x="612775" y="1600200"/>
            <a:ext cx="8153400" cy="4525963"/>
          </a:xfrm>
        </p:spPr>
        <p:txBody>
          <a:bodyPr/>
          <a:lstStyle/>
          <a:p>
            <a:r>
              <a:rPr lang="en-US" smtClean="0"/>
              <a:t>Do not recommend Census Bureau venues</a:t>
            </a:r>
          </a:p>
          <a:p>
            <a:r>
              <a:rPr lang="en-US" smtClean="0"/>
              <a:t>Use IPUMS</a:t>
            </a:r>
          </a:p>
        </p:txBody>
      </p:sp>
      <p:pic>
        <p:nvPicPr>
          <p:cNvPr id="98308" name="Picture 4">
            <a:hlinkClick r:id="rId2"/>
          </p:cNvPr>
          <p:cNvPicPr>
            <a:picLocks noChangeAspect="1" noChangeArrowheads="1"/>
          </p:cNvPicPr>
          <p:nvPr/>
        </p:nvPicPr>
        <p:blipFill>
          <a:blip r:embed="rId3" cstate="print"/>
          <a:srcRect t="14401" r="2991" b="6721"/>
          <a:stretch>
            <a:fillRect/>
          </a:stretch>
        </p:blipFill>
        <p:spPr bwMode="auto">
          <a:xfrm>
            <a:off x="1752600" y="2590800"/>
            <a:ext cx="6407150" cy="4057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p:cNvSpPr>
          <p:nvPr>
            <p:ph type="title"/>
          </p:nvPr>
        </p:nvSpPr>
        <p:spPr>
          <a:xfrm>
            <a:off x="609600" y="228600"/>
            <a:ext cx="8153400" cy="990600"/>
          </a:xfrm>
        </p:spPr>
        <p:txBody>
          <a:bodyPr/>
          <a:lstStyle/>
          <a:p>
            <a:r>
              <a:rPr lang="en-US" smtClean="0"/>
              <a:t>User Confusion</a:t>
            </a:r>
          </a:p>
        </p:txBody>
      </p:sp>
      <p:sp>
        <p:nvSpPr>
          <p:cNvPr id="99331" name="Rectangle 3"/>
          <p:cNvSpPr>
            <a:spLocks noGrp="1"/>
          </p:cNvSpPr>
          <p:nvPr>
            <p:ph type="body" idx="1"/>
          </p:nvPr>
        </p:nvSpPr>
        <p:spPr>
          <a:xfrm>
            <a:off x="612775" y="1600200"/>
            <a:ext cx="8153400" cy="4525963"/>
          </a:xfrm>
        </p:spPr>
        <p:txBody>
          <a:bodyPr/>
          <a:lstStyle/>
          <a:p>
            <a:pPr>
              <a:lnSpc>
                <a:spcPct val="80000"/>
              </a:lnSpc>
            </a:pPr>
            <a:r>
              <a:rPr lang="en-US" sz="2400" smtClean="0"/>
              <a:t>ACS vs Census</a:t>
            </a:r>
          </a:p>
          <a:p>
            <a:pPr lvl="1">
              <a:lnSpc>
                <a:spcPct val="80000"/>
              </a:lnSpc>
            </a:pPr>
            <a:r>
              <a:rPr lang="en-US" sz="2000" smtClean="0"/>
              <a:t>5-year vs P.L. 94-171</a:t>
            </a:r>
          </a:p>
          <a:p>
            <a:pPr lvl="1">
              <a:lnSpc>
                <a:spcPct val="80000"/>
              </a:lnSpc>
            </a:pPr>
            <a:r>
              <a:rPr lang="en-US" sz="2000" smtClean="0"/>
              <a:t>5-year vs SF1</a:t>
            </a:r>
          </a:p>
          <a:p>
            <a:pPr lvl="1">
              <a:lnSpc>
                <a:spcPct val="80000"/>
              </a:lnSpc>
              <a:buFont typeface="Wingdings 2" pitchFamily="18" charset="2"/>
              <a:buNone/>
            </a:pPr>
            <a:endParaRPr lang="en-US" sz="1400" smtClean="0"/>
          </a:p>
          <a:p>
            <a:pPr>
              <a:lnSpc>
                <a:spcPct val="80000"/>
              </a:lnSpc>
            </a:pPr>
            <a:r>
              <a:rPr lang="en-US" sz="2400" smtClean="0"/>
              <a:t>ACS Comparisons</a:t>
            </a:r>
          </a:p>
          <a:p>
            <a:pPr lvl="1">
              <a:lnSpc>
                <a:spcPct val="80000"/>
              </a:lnSpc>
            </a:pPr>
            <a:r>
              <a:rPr lang="en-US" sz="2100" smtClean="0"/>
              <a:t>1-year; 3-year; 5-year </a:t>
            </a:r>
          </a:p>
          <a:p>
            <a:pPr lvl="1">
              <a:lnSpc>
                <a:spcPct val="80000"/>
              </a:lnSpc>
            </a:pPr>
            <a:r>
              <a:rPr lang="en-US" sz="2100" smtClean="0"/>
              <a:t>Group Quarters (in sample or not?)</a:t>
            </a:r>
          </a:p>
          <a:p>
            <a:pPr lvl="1">
              <a:lnSpc>
                <a:spcPct val="80000"/>
              </a:lnSpc>
              <a:buFont typeface="Wingdings 2" pitchFamily="18" charset="2"/>
              <a:buNone/>
            </a:pPr>
            <a:endParaRPr lang="en-US" sz="1600" smtClean="0"/>
          </a:p>
          <a:p>
            <a:pPr>
              <a:lnSpc>
                <a:spcPct val="80000"/>
              </a:lnSpc>
            </a:pPr>
            <a:r>
              <a:rPr lang="en-US" sz="2400" smtClean="0"/>
              <a:t>Unemployment/jobs data</a:t>
            </a:r>
          </a:p>
          <a:p>
            <a:pPr lvl="1">
              <a:lnSpc>
                <a:spcPct val="80000"/>
              </a:lnSpc>
            </a:pPr>
            <a:r>
              <a:rPr lang="en-US" sz="2000" smtClean="0"/>
              <a:t>ACS vs CPS vs Establishment (Employer) Survey</a:t>
            </a:r>
          </a:p>
          <a:p>
            <a:pPr lvl="1">
              <a:lnSpc>
                <a:spcPct val="80000"/>
              </a:lnSpc>
              <a:buFont typeface="Wingdings 2" pitchFamily="18" charset="2"/>
              <a:buNone/>
            </a:pPr>
            <a:endParaRPr lang="en-US" sz="1600" smtClean="0"/>
          </a:p>
          <a:p>
            <a:pPr>
              <a:lnSpc>
                <a:spcPct val="80000"/>
              </a:lnSpc>
            </a:pPr>
            <a:r>
              <a:rPr lang="en-US" sz="2400" smtClean="0"/>
              <a:t>Poverty/Income</a:t>
            </a:r>
          </a:p>
          <a:p>
            <a:pPr lvl="1">
              <a:lnSpc>
                <a:spcPct val="80000"/>
              </a:lnSpc>
            </a:pPr>
            <a:r>
              <a:rPr lang="en-US" sz="2000" smtClean="0"/>
              <a:t>ACS vs CPS </a:t>
            </a:r>
          </a:p>
          <a:p>
            <a:pPr lvl="1">
              <a:lnSpc>
                <a:spcPct val="80000"/>
              </a:lnSpc>
              <a:buFont typeface="Wingdings 2" pitchFamily="18" charset="2"/>
              <a:buNone/>
            </a:pPr>
            <a:endParaRPr lang="en-US" sz="20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p:cNvSpPr>
          <p:nvPr>
            <p:ph type="title"/>
          </p:nvPr>
        </p:nvSpPr>
        <p:spPr>
          <a:xfrm>
            <a:off x="609600" y="228600"/>
            <a:ext cx="8153400" cy="990600"/>
          </a:xfrm>
        </p:spPr>
        <p:txBody>
          <a:bodyPr/>
          <a:lstStyle/>
          <a:p>
            <a:r>
              <a:rPr lang="en-US" smtClean="0"/>
              <a:t>The Future</a:t>
            </a:r>
          </a:p>
        </p:txBody>
      </p:sp>
      <p:sp>
        <p:nvSpPr>
          <p:cNvPr id="105475" name="Rectangle 3"/>
          <p:cNvSpPr>
            <a:spLocks noGrp="1"/>
          </p:cNvSpPr>
          <p:nvPr>
            <p:ph type="body" idx="1"/>
          </p:nvPr>
        </p:nvSpPr>
        <p:spPr>
          <a:xfrm>
            <a:off x="612775" y="1600200"/>
            <a:ext cx="8153400" cy="4525963"/>
          </a:xfrm>
        </p:spPr>
        <p:txBody>
          <a:bodyPr/>
          <a:lstStyle/>
          <a:p>
            <a:pPr>
              <a:lnSpc>
                <a:spcPct val="90000"/>
              </a:lnSpc>
            </a:pPr>
            <a:r>
              <a:rPr lang="en-US" smtClean="0"/>
              <a:t>Costs &amp; Congress</a:t>
            </a:r>
          </a:p>
          <a:p>
            <a:pPr>
              <a:lnSpc>
                <a:spcPct val="90000"/>
              </a:lnSpc>
              <a:buFont typeface="Wingdings" pitchFamily="2" charset="2"/>
              <a:buNone/>
            </a:pPr>
            <a:endParaRPr lang="en-US" sz="1600" smtClean="0"/>
          </a:p>
          <a:p>
            <a:pPr>
              <a:lnSpc>
                <a:spcPct val="90000"/>
              </a:lnSpc>
            </a:pPr>
            <a:r>
              <a:rPr lang="en-US" smtClean="0"/>
              <a:t>Re-engineered census</a:t>
            </a:r>
          </a:p>
          <a:p>
            <a:pPr>
              <a:lnSpc>
                <a:spcPct val="90000"/>
              </a:lnSpc>
              <a:buFont typeface="Wingdings" pitchFamily="2" charset="2"/>
              <a:buNone/>
            </a:pPr>
            <a:endParaRPr lang="en-US" sz="1600" smtClean="0"/>
          </a:p>
          <a:p>
            <a:pPr>
              <a:lnSpc>
                <a:spcPct val="90000"/>
              </a:lnSpc>
            </a:pPr>
            <a:r>
              <a:rPr lang="en-US" smtClean="0"/>
              <a:t>Cost Drivers and Solutions</a:t>
            </a:r>
          </a:p>
          <a:p>
            <a:pPr>
              <a:lnSpc>
                <a:spcPct val="90000"/>
              </a:lnSpc>
              <a:buFont typeface="Wingdings" pitchFamily="2" charset="2"/>
              <a:buNone/>
            </a:pPr>
            <a:endParaRPr lang="en-US" sz="1600" smtClean="0"/>
          </a:p>
          <a:p>
            <a:pPr>
              <a:lnSpc>
                <a:spcPct val="90000"/>
              </a:lnSpc>
            </a:pPr>
            <a:r>
              <a:rPr lang="en-US" smtClean="0"/>
              <a:t>E-census; just-in-time mailing</a:t>
            </a:r>
          </a:p>
          <a:p>
            <a:pPr>
              <a:lnSpc>
                <a:spcPct val="90000"/>
              </a:lnSpc>
              <a:buFont typeface="Wingdings" pitchFamily="2" charset="2"/>
              <a:buNone/>
            </a:pPr>
            <a:endParaRPr lang="en-US" sz="1600" smtClean="0"/>
          </a:p>
          <a:p>
            <a:pPr>
              <a:lnSpc>
                <a:spcPct val="90000"/>
              </a:lnSpc>
            </a:pPr>
            <a:r>
              <a:rPr lang="en-US" smtClean="0"/>
              <a:t>Use of administrative records</a:t>
            </a:r>
          </a:p>
          <a:p>
            <a:pPr>
              <a:lnSpc>
                <a:spcPct val="90000"/>
              </a:lnSpc>
              <a:buFont typeface="Wingdings" pitchFamily="2" charset="2"/>
              <a:buNone/>
            </a:pPr>
            <a:endParaRPr lang="en-US" sz="1800" smtClean="0"/>
          </a:p>
          <a:p>
            <a:pPr>
              <a:lnSpc>
                <a:spcPct val="90000"/>
              </a:lnSpc>
            </a:pPr>
            <a:r>
              <a:rPr lang="en-US" smtClean="0"/>
              <a:t>A likely scenario</a:t>
            </a:r>
          </a:p>
          <a:p>
            <a:pPr>
              <a:lnSpc>
                <a:spcPct val="90000"/>
              </a:lnSpc>
            </a:pPr>
            <a:endParaRPr lang="en-US"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p:cNvSpPr>
          <p:nvPr>
            <p:ph type="title"/>
          </p:nvPr>
        </p:nvSpPr>
        <p:spPr>
          <a:xfrm>
            <a:off x="609600" y="228600"/>
            <a:ext cx="8153400" cy="990600"/>
          </a:xfrm>
        </p:spPr>
        <p:txBody>
          <a:bodyPr/>
          <a:lstStyle/>
          <a:p>
            <a:r>
              <a:rPr lang="en-US" sz="3200" smtClean="0"/>
              <a:t>Increasing cost of census is unsustainable</a:t>
            </a:r>
          </a:p>
        </p:txBody>
      </p:sp>
      <p:graphicFrame>
        <p:nvGraphicFramePr>
          <p:cNvPr id="7" name="Chart 6"/>
          <p:cNvGraphicFramePr/>
          <p:nvPr/>
        </p:nvGraphicFramePr>
        <p:xfrm>
          <a:off x="727075" y="2033588"/>
          <a:ext cx="7924799"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106501" name="Text Box 5"/>
          <p:cNvSpPr txBox="1">
            <a:spLocks noChangeArrowheads="1"/>
          </p:cNvSpPr>
          <p:nvPr/>
        </p:nvSpPr>
        <p:spPr bwMode="auto">
          <a:xfrm>
            <a:off x="2819400" y="3048000"/>
            <a:ext cx="3187700" cy="385763"/>
          </a:xfrm>
          <a:prstGeom prst="rect">
            <a:avLst/>
          </a:prstGeom>
          <a:noFill/>
          <a:ln w="19050">
            <a:solidFill>
              <a:schemeClr val="accent2"/>
            </a:solidFill>
            <a:miter lim="800000"/>
            <a:headEnd/>
            <a:tailEnd/>
          </a:ln>
          <a:effectLst/>
        </p:spPr>
        <p:txBody>
          <a:bodyPr wrap="none">
            <a:spAutoFit/>
          </a:bodyPr>
          <a:lstStyle/>
          <a:p>
            <a:r>
              <a:rPr lang="en-US"/>
              <a:t>Cost per household in 2010 $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a:xfrm>
            <a:off x="609600" y="228600"/>
            <a:ext cx="8153400" cy="990600"/>
          </a:xfrm>
        </p:spPr>
        <p:txBody>
          <a:bodyPr/>
          <a:lstStyle/>
          <a:p>
            <a:r>
              <a:rPr lang="en-US" sz="3600" smtClean="0"/>
              <a:t>Re-engineering the census</a:t>
            </a:r>
          </a:p>
        </p:txBody>
      </p:sp>
      <p:pic>
        <p:nvPicPr>
          <p:cNvPr id="110595" name="Picture 3">
            <a:hlinkClick r:id="rId2"/>
          </p:cNvPr>
          <p:cNvPicPr>
            <a:picLocks noChangeAspect="1" noChangeArrowheads="1"/>
          </p:cNvPicPr>
          <p:nvPr>
            <p:ph type="body" idx="1"/>
          </p:nvPr>
        </p:nvPicPr>
        <p:blipFill>
          <a:blip r:embed="rId3" cstate="print"/>
          <a:srcRect t="20264" r="42673" b="11731"/>
          <a:stretch>
            <a:fillRect/>
          </a:stretch>
        </p:blipFill>
        <p:spPr>
          <a:xfrm>
            <a:off x="533400" y="1752600"/>
            <a:ext cx="7140575" cy="4700588"/>
          </a:xfr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p:cNvSpPr>
          <p:nvPr>
            <p:ph type="title"/>
          </p:nvPr>
        </p:nvSpPr>
        <p:spPr>
          <a:xfrm>
            <a:off x="609600" y="228600"/>
            <a:ext cx="8153400" cy="990600"/>
          </a:xfrm>
        </p:spPr>
        <p:txBody>
          <a:bodyPr/>
          <a:lstStyle/>
          <a:p>
            <a:r>
              <a:rPr lang="en-US" sz="3600" smtClean="0"/>
              <a:t>Potential Research:</a:t>
            </a:r>
            <a:br>
              <a:rPr lang="en-US" sz="3600" smtClean="0"/>
            </a:br>
            <a:r>
              <a:rPr lang="en-US" sz="3200" smtClean="0"/>
              <a:t>Administrative Records</a:t>
            </a:r>
          </a:p>
        </p:txBody>
      </p:sp>
      <p:pic>
        <p:nvPicPr>
          <p:cNvPr id="109572" name="Picture 4"/>
          <p:cNvPicPr>
            <a:picLocks noChangeAspect="1" noChangeArrowheads="1"/>
          </p:cNvPicPr>
          <p:nvPr>
            <p:ph type="body" idx="1"/>
          </p:nvPr>
        </p:nvPicPr>
        <p:blipFill>
          <a:blip r:embed="rId2" cstate="print"/>
          <a:srcRect/>
          <a:stretch>
            <a:fillRect/>
          </a:stretch>
        </p:blipFill>
        <p:spPr>
          <a:xfrm>
            <a:off x="1752600" y="1828800"/>
            <a:ext cx="6296025" cy="4521200"/>
          </a:xfrm>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idx="4294967295"/>
          </p:nvPr>
        </p:nvSpPr>
        <p:spPr>
          <a:xfrm>
            <a:off x="990600" y="228600"/>
            <a:ext cx="8153400" cy="990600"/>
          </a:xfrm>
        </p:spPr>
        <p:txBody>
          <a:bodyPr/>
          <a:lstStyle/>
          <a:p>
            <a:r>
              <a:rPr lang="en-US" sz="3600" smtClean="0"/>
              <a:t>e-Census as a mode in 2020?</a:t>
            </a:r>
          </a:p>
        </p:txBody>
      </p:sp>
      <p:pic>
        <p:nvPicPr>
          <p:cNvPr id="82947" name="Picture 3">
            <a:hlinkClick r:id="rId2"/>
          </p:cNvPr>
          <p:cNvPicPr>
            <a:picLocks noChangeAspect="1" noChangeArrowheads="1"/>
          </p:cNvPicPr>
          <p:nvPr/>
        </p:nvPicPr>
        <p:blipFill>
          <a:blip r:embed="rId3" cstate="print"/>
          <a:srcRect t="5121"/>
          <a:stretch>
            <a:fillRect/>
          </a:stretch>
        </p:blipFill>
        <p:spPr bwMode="auto">
          <a:xfrm>
            <a:off x="3216275" y="1874838"/>
            <a:ext cx="3446463" cy="4308475"/>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p:nvPr>
        </p:nvSpPr>
        <p:spPr>
          <a:xfrm>
            <a:off x="609600" y="228600"/>
            <a:ext cx="8153400" cy="990600"/>
          </a:xfrm>
        </p:spPr>
        <p:txBody>
          <a:bodyPr/>
          <a:lstStyle/>
          <a:p>
            <a:r>
              <a:rPr lang="en-US" sz="3600" smtClean="0"/>
              <a:t>Targeting: Benefits of second mailing</a:t>
            </a:r>
          </a:p>
        </p:txBody>
      </p:sp>
      <p:pic>
        <p:nvPicPr>
          <p:cNvPr id="113668" name="Picture 4">
            <a:hlinkClick r:id="rId2"/>
          </p:cNvPr>
          <p:cNvPicPr>
            <a:picLocks noChangeAspect="1" noChangeArrowheads="1"/>
          </p:cNvPicPr>
          <p:nvPr>
            <p:ph type="body" idx="1"/>
          </p:nvPr>
        </p:nvPicPr>
        <p:blipFill>
          <a:blip r:embed="rId3" cstate="print"/>
          <a:srcRect/>
          <a:stretch>
            <a:fillRect/>
          </a:stretch>
        </p:blipFill>
        <p:spPr>
          <a:xfrm>
            <a:off x="1371600" y="1682750"/>
            <a:ext cx="6764338" cy="5175250"/>
          </a:xfrm>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p:cNvSpPr>
          <p:nvPr>
            <p:ph type="title"/>
          </p:nvPr>
        </p:nvSpPr>
        <p:spPr>
          <a:xfrm>
            <a:off x="609600" y="228600"/>
            <a:ext cx="8153400" cy="990600"/>
          </a:xfrm>
        </p:spPr>
        <p:txBody>
          <a:bodyPr/>
          <a:lstStyle/>
          <a:p>
            <a:r>
              <a:rPr lang="en-US" sz="3600" smtClean="0"/>
              <a:t>2020 Census: One option</a:t>
            </a:r>
          </a:p>
        </p:txBody>
      </p:sp>
      <p:pic>
        <p:nvPicPr>
          <p:cNvPr id="108548" name="Picture 4"/>
          <p:cNvPicPr>
            <a:picLocks noChangeAspect="1" noChangeArrowheads="1"/>
          </p:cNvPicPr>
          <p:nvPr>
            <p:ph type="body" idx="1"/>
          </p:nvPr>
        </p:nvPicPr>
        <p:blipFill>
          <a:blip r:embed="rId2" cstate="print"/>
          <a:srcRect/>
          <a:stretch>
            <a:fillRect/>
          </a:stretch>
        </p:blipFill>
        <p:spPr>
          <a:xfrm>
            <a:off x="1701800" y="1600200"/>
            <a:ext cx="5973763" cy="4525963"/>
          </a:xfrm>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a:xfrm>
            <a:off x="609600" y="228600"/>
            <a:ext cx="8153400" cy="990600"/>
          </a:xfrm>
        </p:spPr>
        <p:txBody>
          <a:bodyPr/>
          <a:lstStyle/>
          <a:p>
            <a:r>
              <a:rPr lang="en-US" sz="3600" smtClean="0"/>
              <a:t>Questions?</a:t>
            </a:r>
          </a:p>
        </p:txBody>
      </p:sp>
      <p:sp>
        <p:nvSpPr>
          <p:cNvPr id="116739" name="Rectangle 3"/>
          <p:cNvSpPr>
            <a:spLocks noGrp="1"/>
          </p:cNvSpPr>
          <p:nvPr>
            <p:ph type="body" idx="1"/>
          </p:nvPr>
        </p:nvSpPr>
        <p:spPr>
          <a:xfrm>
            <a:off x="612775" y="1600200"/>
            <a:ext cx="8153400" cy="4525963"/>
          </a:xfrm>
        </p:spPr>
        <p:txBody>
          <a:bodyPr/>
          <a:lstStyle/>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ppt/theme/themeOverride2.xml><?xml version="1.0" encoding="utf-8"?>
<a:themeOverride xmlns:a="http://schemas.openxmlformats.org/drawingml/2006/main">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Median</Template>
  <TotalTime>43081</TotalTime>
  <Words>1005</Words>
  <Application>Microsoft Office PowerPoint</Application>
  <PresentationFormat>On-screen Show (4:3)</PresentationFormat>
  <Paragraphs>198</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Wingdings</vt:lpstr>
      <vt:lpstr>Wingdings 2</vt:lpstr>
      <vt:lpstr>Calibri</vt:lpstr>
      <vt:lpstr>Arial Narrow</vt:lpstr>
      <vt:lpstr>Median</vt:lpstr>
      <vt:lpstr>THE 2010 CENSUS [United States]</vt:lpstr>
      <vt:lpstr>Overview</vt:lpstr>
      <vt:lpstr>It is in the Constitution</vt:lpstr>
      <vt:lpstr>         Language from the Constitution</vt:lpstr>
      <vt:lpstr>Nineteenth Century Developments</vt:lpstr>
      <vt:lpstr>The Depression Era (1930s) and Its Consequences for Federal Statistics</vt:lpstr>
      <vt:lpstr>Censuses of 1950 - 2000</vt:lpstr>
      <vt:lpstr>Census 2010: Back to the Future</vt:lpstr>
      <vt:lpstr>Background</vt:lpstr>
      <vt:lpstr>Census 2010 a Success</vt:lpstr>
      <vt:lpstr>Success: GAO Critical List</vt:lpstr>
      <vt:lpstr>Participation Rates: Comparisons</vt:lpstr>
      <vt:lpstr>Census 2010 Mail Participation Rates: by County (blue is bad)</vt:lpstr>
      <vt:lpstr>Participation Rates: 2010 vs 2000</vt:lpstr>
      <vt:lpstr>Success: Cost, but some beg to differ</vt:lpstr>
      <vt:lpstr>Information for Potential Users</vt:lpstr>
      <vt:lpstr>Census Data are Public Access &amp; Free</vt:lpstr>
      <vt:lpstr>Quick Turnaround Dissemination Schedule - Census</vt:lpstr>
      <vt:lpstr>Responsiveness to User Concerns</vt:lpstr>
      <vt:lpstr>Quick Turnaround Dissemination Schedule - ACS</vt:lpstr>
      <vt:lpstr>Dissemination Portal: American FactFinder</vt:lpstr>
      <vt:lpstr>Yikes: New Release of American FactFinder</vt:lpstr>
      <vt:lpstr>Dissemination Portal: IPUMS for microdata</vt:lpstr>
      <vt:lpstr>User Confusion</vt:lpstr>
      <vt:lpstr>The Future</vt:lpstr>
      <vt:lpstr>Increasing cost of census is unsustainable</vt:lpstr>
      <vt:lpstr>Re-engineering the census</vt:lpstr>
      <vt:lpstr>Potential Research: Administrative Records</vt:lpstr>
      <vt:lpstr>e-Census as a mode in 2020?</vt:lpstr>
      <vt:lpstr>Targeting: Benefits of second mailing</vt:lpstr>
      <vt:lpstr>2020 Census: One option</vt:lpstr>
      <vt:lpstr>Questions?</vt:lpstr>
    </vt:vector>
  </TitlesOfParts>
  <Company>University of Michigan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Prospects and Challenges for a Successful 2010 Census</dc:title>
  <dc:creator>lisan</dc:creator>
  <cp:lastModifiedBy>lindamd</cp:lastModifiedBy>
  <cp:revision>97</cp:revision>
  <dcterms:created xsi:type="dcterms:W3CDTF">2009-12-03T13:26:09Z</dcterms:created>
  <dcterms:modified xsi:type="dcterms:W3CDTF">2010-11-10T14:38:56Z</dcterms:modified>
</cp:coreProperties>
</file>