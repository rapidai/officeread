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xlsx" ContentType="application/vnd.openxmlformats-officedocument.spreadsheetml.sheet"/>
  <Default Extension="vml" ContentType="application/vnd.openxmlformats-officedocument.vmlDrawing"/>
  <Default Extension="gif" ContentType="image/gif"/>
  <Default Extension="wdp" ContentType="image/vnd.ms-photo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5.xml" ContentType="application/vnd.openxmlformats-officedocument.presentationml.tags+xml"/>
  <Override PartName="/ppt/notesSlides/notesSlide28.xml" ContentType="application/vnd.openxmlformats-officedocument.presentationml.notesSlide+xml"/>
  <Override PartName="/ppt/embeddings/oleObject1.bin" ContentType="application/vnd.openxmlformats-officedocument.oleObject"/>
  <Override PartName="/ppt/notesSlides/notesSlide29.xml" ContentType="application/vnd.openxmlformats-officedocument.presentationml.notesSlide+xml"/>
  <Override PartName="/ppt/charts/chart1.xml" ContentType="application/vnd.openxmlformats-officedocument.drawingml.chart+xml"/>
  <Override PartName="/ppt/tags/tag6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tags/tag7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embeddings/oleObject2.bin" ContentType="application/vnd.openxmlformats-officedocument.oleObject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embeddings/oleObject3.bin" ContentType="application/vnd.openxmlformats-officedocument.oleObject"/>
  <Override PartName="/ppt/notesSlides/notesSlide39.xml" ContentType="application/vnd.openxmlformats-officedocument.presentationml.notesSlide+xml"/>
  <Override PartName="/ppt/embeddings/oleObject4.bin" ContentType="application/vnd.openxmlformats-officedocument.oleObject"/>
  <Override PartName="/ppt/notesSlides/notesSlide4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8.xml" ContentType="application/vnd.openxmlformats-officedocument.presentationml.tags+xml"/>
  <Override PartName="/ppt/notesSlides/notesSlide41.xml" ContentType="application/vnd.openxmlformats-officedocument.presentationml.notesSlide+xml"/>
  <Override PartName="/ppt/charts/chart2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1" r:id="rId2"/>
  </p:sldMasterIdLst>
  <p:notesMasterIdLst>
    <p:notesMasterId r:id="rId82"/>
  </p:notesMasterIdLst>
  <p:handoutMasterIdLst>
    <p:handoutMasterId r:id="rId83"/>
  </p:handoutMasterIdLst>
  <p:sldIdLst>
    <p:sldId id="257" r:id="rId3"/>
    <p:sldId id="258" r:id="rId4"/>
    <p:sldId id="259" r:id="rId5"/>
    <p:sldId id="260" r:id="rId6"/>
    <p:sldId id="429" r:id="rId7"/>
    <p:sldId id="341" r:id="rId8"/>
    <p:sldId id="342" r:id="rId9"/>
    <p:sldId id="343" r:id="rId10"/>
    <p:sldId id="344" r:id="rId11"/>
    <p:sldId id="262" r:id="rId12"/>
    <p:sldId id="431" r:id="rId13"/>
    <p:sldId id="337" r:id="rId14"/>
    <p:sldId id="420" r:id="rId15"/>
    <p:sldId id="444" r:id="rId16"/>
    <p:sldId id="269" r:id="rId17"/>
    <p:sldId id="443" r:id="rId18"/>
    <p:sldId id="433" r:id="rId19"/>
    <p:sldId id="434" r:id="rId20"/>
    <p:sldId id="386" r:id="rId21"/>
    <p:sldId id="396" r:id="rId22"/>
    <p:sldId id="419" r:id="rId23"/>
    <p:sldId id="397" r:id="rId24"/>
    <p:sldId id="398" r:id="rId25"/>
    <p:sldId id="387" r:id="rId26"/>
    <p:sldId id="275" r:id="rId27"/>
    <p:sldId id="401" r:id="rId28"/>
    <p:sldId id="402" r:id="rId29"/>
    <p:sldId id="435" r:id="rId30"/>
    <p:sldId id="421" r:id="rId31"/>
    <p:sldId id="276" r:id="rId32"/>
    <p:sldId id="388" r:id="rId33"/>
    <p:sldId id="283" r:id="rId34"/>
    <p:sldId id="417" r:id="rId35"/>
    <p:sldId id="422" r:id="rId36"/>
    <p:sldId id="285" r:id="rId37"/>
    <p:sldId id="288" r:id="rId38"/>
    <p:sldId id="423" r:id="rId39"/>
    <p:sldId id="439" r:id="rId40"/>
    <p:sldId id="425" r:id="rId41"/>
    <p:sldId id="445" r:id="rId42"/>
    <p:sldId id="440" r:id="rId43"/>
    <p:sldId id="424" r:id="rId44"/>
    <p:sldId id="426" r:id="rId45"/>
    <p:sldId id="289" r:id="rId46"/>
    <p:sldId id="447" r:id="rId47"/>
    <p:sldId id="427" r:id="rId48"/>
    <p:sldId id="356" r:id="rId49"/>
    <p:sldId id="357" r:id="rId50"/>
    <p:sldId id="360" r:id="rId51"/>
    <p:sldId id="307" r:id="rId52"/>
    <p:sldId id="366" r:id="rId53"/>
    <p:sldId id="309" r:id="rId54"/>
    <p:sldId id="363" r:id="rId55"/>
    <p:sldId id="365" r:id="rId56"/>
    <p:sldId id="442" r:id="rId57"/>
    <p:sldId id="400" r:id="rId58"/>
    <p:sldId id="319" r:id="rId59"/>
    <p:sldId id="321" r:id="rId60"/>
    <p:sldId id="371" r:id="rId61"/>
    <p:sldId id="329" r:id="rId62"/>
    <p:sldId id="446" r:id="rId63"/>
    <p:sldId id="373" r:id="rId64"/>
    <p:sldId id="368" r:id="rId65"/>
    <p:sldId id="369" r:id="rId66"/>
    <p:sldId id="441" r:id="rId67"/>
    <p:sldId id="399" r:id="rId68"/>
    <p:sldId id="409" r:id="rId69"/>
    <p:sldId id="375" r:id="rId70"/>
    <p:sldId id="412" r:id="rId71"/>
    <p:sldId id="408" r:id="rId72"/>
    <p:sldId id="414" r:id="rId73"/>
    <p:sldId id="415" r:id="rId74"/>
    <p:sldId id="416" r:id="rId75"/>
    <p:sldId id="381" r:id="rId76"/>
    <p:sldId id="382" r:id="rId77"/>
    <p:sldId id="383" r:id="rId78"/>
    <p:sldId id="384" r:id="rId79"/>
    <p:sldId id="428" r:id="rId80"/>
    <p:sldId id="448" r:id="rId8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A895E-8CDA-E148-B51F-6183C416BF74}">
          <p14:sldIdLst>
            <p14:sldId id="257"/>
            <p14:sldId id="258"/>
            <p14:sldId id="259"/>
            <p14:sldId id="260"/>
            <p14:sldId id="429"/>
            <p14:sldId id="341"/>
            <p14:sldId id="342"/>
            <p14:sldId id="343"/>
            <p14:sldId id="344"/>
            <p14:sldId id="262"/>
            <p14:sldId id="431"/>
            <p14:sldId id="337"/>
            <p14:sldId id="420"/>
            <p14:sldId id="444"/>
            <p14:sldId id="269"/>
            <p14:sldId id="443"/>
            <p14:sldId id="433"/>
            <p14:sldId id="434"/>
            <p14:sldId id="386"/>
            <p14:sldId id="396"/>
            <p14:sldId id="419"/>
            <p14:sldId id="397"/>
            <p14:sldId id="398"/>
            <p14:sldId id="387"/>
            <p14:sldId id="275"/>
            <p14:sldId id="401"/>
            <p14:sldId id="402"/>
            <p14:sldId id="435"/>
            <p14:sldId id="421"/>
            <p14:sldId id="276"/>
            <p14:sldId id="388"/>
            <p14:sldId id="283"/>
            <p14:sldId id="417"/>
            <p14:sldId id="422"/>
            <p14:sldId id="285"/>
            <p14:sldId id="288"/>
            <p14:sldId id="423"/>
            <p14:sldId id="439"/>
            <p14:sldId id="425"/>
            <p14:sldId id="445"/>
            <p14:sldId id="440"/>
            <p14:sldId id="424"/>
            <p14:sldId id="426"/>
            <p14:sldId id="289"/>
            <p14:sldId id="447"/>
            <p14:sldId id="427"/>
            <p14:sldId id="356"/>
            <p14:sldId id="357"/>
            <p14:sldId id="360"/>
            <p14:sldId id="307"/>
            <p14:sldId id="366"/>
            <p14:sldId id="309"/>
            <p14:sldId id="363"/>
            <p14:sldId id="365"/>
            <p14:sldId id="442"/>
            <p14:sldId id="400"/>
            <p14:sldId id="319"/>
            <p14:sldId id="321"/>
            <p14:sldId id="371"/>
            <p14:sldId id="329"/>
            <p14:sldId id="446"/>
            <p14:sldId id="373"/>
            <p14:sldId id="368"/>
            <p14:sldId id="369"/>
            <p14:sldId id="441"/>
            <p14:sldId id="399"/>
            <p14:sldId id="409"/>
            <p14:sldId id="375"/>
            <p14:sldId id="412"/>
            <p14:sldId id="408"/>
            <p14:sldId id="414"/>
            <p14:sldId id="415"/>
            <p14:sldId id="416"/>
            <p14:sldId id="381"/>
            <p14:sldId id="382"/>
            <p14:sldId id="383"/>
            <p14:sldId id="384"/>
            <p14:sldId id="428"/>
            <p14:sldId id="44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5F0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0" autoAdjust="0"/>
    <p:restoredTop sz="86957" autoAdjust="0"/>
  </p:normalViewPr>
  <p:slideViewPr>
    <p:cSldViewPr snapToGrid="0" snapToObjects="1" showGuides="1">
      <p:cViewPr>
        <p:scale>
          <a:sx n="90" d="100"/>
          <a:sy n="90" d="100"/>
        </p:scale>
        <p:origin x="-1208" y="200"/>
      </p:cViewPr>
      <p:guideLst>
        <p:guide orient="horz" pos="2198"/>
        <p:guide pos="2863"/>
      </p:guideLst>
    </p:cSldViewPr>
  </p:slideViewPr>
  <p:outlineViewPr>
    <p:cViewPr>
      <p:scale>
        <a:sx n="33" d="100"/>
        <a:sy n="33" d="100"/>
      </p:scale>
      <p:origin x="0" y="9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20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printerSettings" Target="printerSettings/printerSettings1.bin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KINGSTON:als_rmse_plo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MapReduceBP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8000.0</c:v>
                </c:pt>
                <c:pt idx="1">
                  <c:v>3999.0</c:v>
                </c:pt>
                <c:pt idx="2">
                  <c:v>2800.0</c:v>
                </c:pt>
                <c:pt idx="3">
                  <c:v>2000.0</c:v>
                </c:pt>
                <c:pt idx="4">
                  <c:v>1800.0</c:v>
                </c:pt>
                <c:pt idx="5">
                  <c:v>1500.0</c:v>
                </c:pt>
                <c:pt idx="6">
                  <c:v>1300.0</c:v>
                </c:pt>
                <c:pt idx="7">
                  <c:v>1200.0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SplashBP</c:v>
                </c:pt>
              </c:strCache>
            </c:strRef>
          </c:tx>
          <c:xVal>
            <c:numRef>
              <c:f>Sheet1!$A$2:$A$9</c:f>
              <c:numCache>
                <c:formatCode>General</c:formatCode>
                <c:ptCount val="8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</c:numCache>
            </c:numRef>
          </c:xVal>
          <c:yVal>
            <c:numRef>
              <c:f>Sheet1!$C$2:$C$9</c:f>
              <c:numCache>
                <c:formatCode>General</c:formatCode>
                <c:ptCount val="8"/>
                <c:pt idx="0">
                  <c:v>1000.0</c:v>
                </c:pt>
                <c:pt idx="1">
                  <c:v>500.0</c:v>
                </c:pt>
                <c:pt idx="2">
                  <c:v>333.3333333333333</c:v>
                </c:pt>
                <c:pt idx="3">
                  <c:v>250.0</c:v>
                </c:pt>
                <c:pt idx="4">
                  <c:v>200.0</c:v>
                </c:pt>
                <c:pt idx="5">
                  <c:v>166.6666666666663</c:v>
                </c:pt>
                <c:pt idx="6">
                  <c:v>142.8571428571434</c:v>
                </c:pt>
                <c:pt idx="7">
                  <c:v>125.0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4061688"/>
        <c:axId val="2124034456"/>
      </c:scatterChart>
      <c:valAx>
        <c:axId val="2124061688"/>
        <c:scaling>
          <c:orientation val="minMax"/>
          <c:max val="8.0"/>
          <c:min val="1.0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Number</a:t>
                </a:r>
                <a:r>
                  <a:rPr lang="en-US" baseline="0" dirty="0" smtClean="0"/>
                  <a:t> of CPUs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0.473589066169361"/>
              <c:y val="0.804438263151889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124034456"/>
        <c:crosses val="autoZero"/>
        <c:crossBetween val="midCat"/>
        <c:majorUnit val="1.0"/>
      </c:valAx>
      <c:valAx>
        <c:axId val="212403445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Runtime in Seconds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124061688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577947917801"/>
          <c:y val="0.0338101430429129"/>
          <c:w val="0.817814748962831"/>
          <c:h val="0.803385732018155"/>
        </c:manualLayout>
      </c:layout>
      <c:scatterChart>
        <c:scatterStyle val="lineMarker"/>
        <c:varyColors val="0"/>
        <c:ser>
          <c:idx val="2"/>
          <c:order val="0"/>
          <c:tx>
            <c:strRef>
              <c:f>Sheet1!$F$1</c:f>
              <c:strCache>
                <c:ptCount val="1"/>
                <c:pt idx="0">
                  <c:v>d=20 Racing</c:v>
                </c:pt>
              </c:strCache>
            </c:strRef>
          </c:tx>
          <c:spPr>
            <a:ln>
              <a:solidFill>
                <a:srgbClr val="FF0000"/>
              </a:solidFill>
            </a:ln>
          </c:spPr>
          <c:marker>
            <c:symbol val="none"/>
          </c:marker>
          <c:xVal>
            <c:numRef>
              <c:f>Sheet1!$E$4:$E$16</c:f>
              <c:numCache>
                <c:formatCode>General</c:formatCode>
                <c:ptCount val="13"/>
                <c:pt idx="0">
                  <c:v>288.779</c:v>
                </c:pt>
                <c:pt idx="1">
                  <c:v>406.088</c:v>
                </c:pt>
                <c:pt idx="2">
                  <c:v>535.698</c:v>
                </c:pt>
                <c:pt idx="3">
                  <c:v>698.9690000000001</c:v>
                </c:pt>
                <c:pt idx="4">
                  <c:v>780.723</c:v>
                </c:pt>
                <c:pt idx="5">
                  <c:v>883.581</c:v>
                </c:pt>
                <c:pt idx="6">
                  <c:v>981.909</c:v>
                </c:pt>
                <c:pt idx="7">
                  <c:v>1094.28</c:v>
                </c:pt>
                <c:pt idx="8">
                  <c:v>1156.84</c:v>
                </c:pt>
                <c:pt idx="9">
                  <c:v>1194.41</c:v>
                </c:pt>
                <c:pt idx="10">
                  <c:v>1274.71</c:v>
                </c:pt>
                <c:pt idx="11">
                  <c:v>1364.77</c:v>
                </c:pt>
                <c:pt idx="12">
                  <c:v>1447.19</c:v>
                </c:pt>
              </c:numCache>
            </c:numRef>
          </c:xVal>
          <c:yVal>
            <c:numRef>
              <c:f>Sheet1!$F$4:$F$16</c:f>
              <c:numCache>
                <c:formatCode>General</c:formatCode>
                <c:ptCount val="13"/>
                <c:pt idx="0">
                  <c:v>0.239685</c:v>
                </c:pt>
                <c:pt idx="1">
                  <c:v>0.116708</c:v>
                </c:pt>
                <c:pt idx="2">
                  <c:v>0.0493814</c:v>
                </c:pt>
                <c:pt idx="3">
                  <c:v>0.0303074</c:v>
                </c:pt>
                <c:pt idx="4">
                  <c:v>0.0267504</c:v>
                </c:pt>
                <c:pt idx="5">
                  <c:v>0.0223066</c:v>
                </c:pt>
                <c:pt idx="6">
                  <c:v>0.019653</c:v>
                </c:pt>
                <c:pt idx="7">
                  <c:v>0.0187885</c:v>
                </c:pt>
                <c:pt idx="8">
                  <c:v>0.0180339</c:v>
                </c:pt>
                <c:pt idx="9">
                  <c:v>0.017858</c:v>
                </c:pt>
                <c:pt idx="10">
                  <c:v>0.0177177</c:v>
                </c:pt>
                <c:pt idx="11">
                  <c:v>0.017477</c:v>
                </c:pt>
                <c:pt idx="12">
                  <c:v>0.0173762</c:v>
                </c:pt>
              </c:numCache>
            </c:numRef>
          </c:yVal>
          <c:smooth val="0"/>
        </c:ser>
        <c:ser>
          <c:idx val="3"/>
          <c:order val="1"/>
          <c:tx>
            <c:strRef>
              <c:f>Sheet1!$H$1</c:f>
              <c:strCache>
                <c:ptCount val="1"/>
                <c:pt idx="0">
                  <c:v>d=20</c:v>
                </c:pt>
              </c:strCache>
            </c:strRef>
          </c:tx>
          <c:spPr>
            <a:ln>
              <a:solidFill>
                <a:srgbClr val="0000FF"/>
              </a:solidFill>
            </a:ln>
          </c:spPr>
          <c:marker>
            <c:symbol val="none"/>
          </c:marker>
          <c:xVal>
            <c:numRef>
              <c:f>Sheet1!$G$4:$G$59</c:f>
              <c:numCache>
                <c:formatCode>General</c:formatCode>
                <c:ptCount val="56"/>
                <c:pt idx="0">
                  <c:v>114.1</c:v>
                </c:pt>
                <c:pt idx="1">
                  <c:v>166.633</c:v>
                </c:pt>
                <c:pt idx="2">
                  <c:v>188.392</c:v>
                </c:pt>
                <c:pt idx="3">
                  <c:v>249.037</c:v>
                </c:pt>
                <c:pt idx="4">
                  <c:v>274.277</c:v>
                </c:pt>
                <c:pt idx="5">
                  <c:v>293.515</c:v>
                </c:pt>
                <c:pt idx="6">
                  <c:v>340.624</c:v>
                </c:pt>
                <c:pt idx="7">
                  <c:v>360.455</c:v>
                </c:pt>
                <c:pt idx="8">
                  <c:v>385.629</c:v>
                </c:pt>
                <c:pt idx="9">
                  <c:v>423.569</c:v>
                </c:pt>
                <c:pt idx="10">
                  <c:v>437.521</c:v>
                </c:pt>
                <c:pt idx="11">
                  <c:v>451.732</c:v>
                </c:pt>
                <c:pt idx="12">
                  <c:v>482.657</c:v>
                </c:pt>
                <c:pt idx="13">
                  <c:v>510.582</c:v>
                </c:pt>
                <c:pt idx="14">
                  <c:v>525.177</c:v>
                </c:pt>
                <c:pt idx="15">
                  <c:v>540.167</c:v>
                </c:pt>
                <c:pt idx="16">
                  <c:v>599.989</c:v>
                </c:pt>
                <c:pt idx="17">
                  <c:v>617.361</c:v>
                </c:pt>
                <c:pt idx="18">
                  <c:v>637.221</c:v>
                </c:pt>
                <c:pt idx="19">
                  <c:v>682.356</c:v>
                </c:pt>
                <c:pt idx="20">
                  <c:v>709.442</c:v>
                </c:pt>
                <c:pt idx="21">
                  <c:v>723.419</c:v>
                </c:pt>
                <c:pt idx="22">
                  <c:v>747.221</c:v>
                </c:pt>
                <c:pt idx="23">
                  <c:v>792.224</c:v>
                </c:pt>
                <c:pt idx="24">
                  <c:v>805.614</c:v>
                </c:pt>
                <c:pt idx="25">
                  <c:v>825.174</c:v>
                </c:pt>
                <c:pt idx="26">
                  <c:v>873.133</c:v>
                </c:pt>
                <c:pt idx="27">
                  <c:v>889.908</c:v>
                </c:pt>
                <c:pt idx="28">
                  <c:v>907.739</c:v>
                </c:pt>
                <c:pt idx="29">
                  <c:v>921.189</c:v>
                </c:pt>
                <c:pt idx="30">
                  <c:v>969.768</c:v>
                </c:pt>
                <c:pt idx="31">
                  <c:v>995.373</c:v>
                </c:pt>
                <c:pt idx="32">
                  <c:v>1010.84</c:v>
                </c:pt>
                <c:pt idx="33">
                  <c:v>1036.03</c:v>
                </c:pt>
                <c:pt idx="34">
                  <c:v>1063.33</c:v>
                </c:pt>
                <c:pt idx="35">
                  <c:v>1077.47</c:v>
                </c:pt>
                <c:pt idx="36">
                  <c:v>1092.85</c:v>
                </c:pt>
                <c:pt idx="37">
                  <c:v>1106.09</c:v>
                </c:pt>
                <c:pt idx="38">
                  <c:v>1142.91</c:v>
                </c:pt>
                <c:pt idx="39">
                  <c:v>1166.68</c:v>
                </c:pt>
                <c:pt idx="40">
                  <c:v>1183.48</c:v>
                </c:pt>
                <c:pt idx="41">
                  <c:v>1203.94</c:v>
                </c:pt>
                <c:pt idx="42">
                  <c:v>1241.17</c:v>
                </c:pt>
                <c:pt idx="43">
                  <c:v>1254.9</c:v>
                </c:pt>
                <c:pt idx="44">
                  <c:v>1268.91</c:v>
                </c:pt>
                <c:pt idx="45">
                  <c:v>1286.54</c:v>
                </c:pt>
                <c:pt idx="46">
                  <c:v>1320.89</c:v>
                </c:pt>
                <c:pt idx="47">
                  <c:v>1338.14</c:v>
                </c:pt>
                <c:pt idx="48">
                  <c:v>1353.95</c:v>
                </c:pt>
                <c:pt idx="49">
                  <c:v>1372.83</c:v>
                </c:pt>
                <c:pt idx="50">
                  <c:v>1411.21</c:v>
                </c:pt>
                <c:pt idx="51">
                  <c:v>1427.82</c:v>
                </c:pt>
                <c:pt idx="52">
                  <c:v>1441.28</c:v>
                </c:pt>
                <c:pt idx="53">
                  <c:v>1455.75</c:v>
                </c:pt>
                <c:pt idx="54">
                  <c:v>1485.12</c:v>
                </c:pt>
                <c:pt idx="55">
                  <c:v>1498.92</c:v>
                </c:pt>
              </c:numCache>
            </c:numRef>
          </c:xVal>
          <c:yVal>
            <c:numRef>
              <c:f>Sheet1!$H$4:$H$59</c:f>
              <c:numCache>
                <c:formatCode>General</c:formatCode>
                <c:ptCount val="56"/>
                <c:pt idx="0">
                  <c:v>0.0433891</c:v>
                </c:pt>
                <c:pt idx="1">
                  <c:v>0.0379304</c:v>
                </c:pt>
                <c:pt idx="2">
                  <c:v>0.0368921</c:v>
                </c:pt>
                <c:pt idx="3">
                  <c:v>0.0347305</c:v>
                </c:pt>
                <c:pt idx="4">
                  <c:v>0.03329</c:v>
                </c:pt>
                <c:pt idx="5">
                  <c:v>0.0316172</c:v>
                </c:pt>
                <c:pt idx="6">
                  <c:v>0.0294728</c:v>
                </c:pt>
                <c:pt idx="7">
                  <c:v>0.0287413</c:v>
                </c:pt>
                <c:pt idx="8">
                  <c:v>0.0268399</c:v>
                </c:pt>
                <c:pt idx="9">
                  <c:v>0.0248038</c:v>
                </c:pt>
                <c:pt idx="10">
                  <c:v>0.0246218</c:v>
                </c:pt>
                <c:pt idx="11">
                  <c:v>0.0242967</c:v>
                </c:pt>
                <c:pt idx="12">
                  <c:v>0.0231543</c:v>
                </c:pt>
                <c:pt idx="13">
                  <c:v>0.0219718</c:v>
                </c:pt>
                <c:pt idx="14">
                  <c:v>0.0218243</c:v>
                </c:pt>
                <c:pt idx="15">
                  <c:v>0.0215429</c:v>
                </c:pt>
                <c:pt idx="16">
                  <c:v>0.0207114</c:v>
                </c:pt>
                <c:pt idx="17">
                  <c:v>0.0202429</c:v>
                </c:pt>
                <c:pt idx="18">
                  <c:v>0.0200029</c:v>
                </c:pt>
                <c:pt idx="19">
                  <c:v>0.0195186</c:v>
                </c:pt>
                <c:pt idx="20">
                  <c:v>0.0192557</c:v>
                </c:pt>
                <c:pt idx="21">
                  <c:v>0.019137</c:v>
                </c:pt>
                <c:pt idx="22">
                  <c:v>0.0188442</c:v>
                </c:pt>
                <c:pt idx="23">
                  <c:v>0.0185769</c:v>
                </c:pt>
                <c:pt idx="24">
                  <c:v>0.018489</c:v>
                </c:pt>
                <c:pt idx="25">
                  <c:v>0.0183071</c:v>
                </c:pt>
                <c:pt idx="26">
                  <c:v>0.018111</c:v>
                </c:pt>
                <c:pt idx="27">
                  <c:v>0.0180606</c:v>
                </c:pt>
                <c:pt idx="28">
                  <c:v>0.0180331</c:v>
                </c:pt>
                <c:pt idx="29">
                  <c:v>0.0179232</c:v>
                </c:pt>
                <c:pt idx="30">
                  <c:v>0.0177471</c:v>
                </c:pt>
                <c:pt idx="31">
                  <c:v>0.0176615</c:v>
                </c:pt>
                <c:pt idx="32">
                  <c:v>0.017586</c:v>
                </c:pt>
                <c:pt idx="33">
                  <c:v>0.0174678</c:v>
                </c:pt>
                <c:pt idx="34">
                  <c:v>0.0173616</c:v>
                </c:pt>
                <c:pt idx="35">
                  <c:v>0.0173411</c:v>
                </c:pt>
                <c:pt idx="36">
                  <c:v>0.0173277</c:v>
                </c:pt>
                <c:pt idx="37">
                  <c:v>0.0172623</c:v>
                </c:pt>
                <c:pt idx="38">
                  <c:v>0.0171395</c:v>
                </c:pt>
                <c:pt idx="39">
                  <c:v>0.0170741</c:v>
                </c:pt>
                <c:pt idx="40">
                  <c:v>0.0170535</c:v>
                </c:pt>
                <c:pt idx="41">
                  <c:v>0.0169827</c:v>
                </c:pt>
                <c:pt idx="42">
                  <c:v>0.0168754</c:v>
                </c:pt>
                <c:pt idx="43">
                  <c:v>0.0168475</c:v>
                </c:pt>
                <c:pt idx="44">
                  <c:v>0.0168279</c:v>
                </c:pt>
                <c:pt idx="45">
                  <c:v>0.0167617</c:v>
                </c:pt>
                <c:pt idx="46">
                  <c:v>0.0166766</c:v>
                </c:pt>
                <c:pt idx="47">
                  <c:v>0.0166553</c:v>
                </c:pt>
                <c:pt idx="48">
                  <c:v>0.016641</c:v>
                </c:pt>
                <c:pt idx="49">
                  <c:v>0.0165832</c:v>
                </c:pt>
                <c:pt idx="50">
                  <c:v>0.0165189</c:v>
                </c:pt>
                <c:pt idx="51">
                  <c:v>0.0164894</c:v>
                </c:pt>
                <c:pt idx="52">
                  <c:v>0.01648</c:v>
                </c:pt>
                <c:pt idx="53">
                  <c:v>0.0164552</c:v>
                </c:pt>
                <c:pt idx="54">
                  <c:v>0.016401</c:v>
                </c:pt>
                <c:pt idx="55">
                  <c:v>0.0163523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2497624"/>
        <c:axId val="2070115784"/>
      </c:scatterChart>
      <c:valAx>
        <c:axId val="21224976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Time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2070115784"/>
        <c:crossesAt val="0.0"/>
        <c:crossBetween val="midCat"/>
      </c:valAx>
      <c:valAx>
        <c:axId val="2070115784"/>
        <c:scaling>
          <c:logBase val="10.0"/>
          <c:orientation val="minMax"/>
          <c:max val="1.0"/>
          <c:min val="0.01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RMSE</a:t>
                </a:r>
              </a:p>
            </c:rich>
          </c:tx>
          <c:layout>
            <c:manualLayout>
              <c:xMode val="edge"/>
              <c:yMode val="edge"/>
              <c:x val="0.0"/>
              <c:y val="0.366899137607799"/>
            </c:manualLayout>
          </c:layout>
          <c:overlay val="0"/>
        </c:title>
        <c:numFmt formatCode="General" sourceLinked="1"/>
        <c:majorTickMark val="out"/>
        <c:minorTickMark val="none"/>
        <c:tickLblPos val="nextTo"/>
        <c:crossAx val="2122497624"/>
        <c:crosses val="autoZero"/>
        <c:crossBetween val="midCat"/>
        <c:majorUnit val="10.0"/>
        <c:minorUnit val="10.0"/>
      </c:valAx>
    </c:plotArea>
    <c:legend>
      <c:legendPos val="r"/>
      <c:layout>
        <c:manualLayout>
          <c:xMode val="edge"/>
          <c:yMode val="edge"/>
          <c:x val="0.534834310604791"/>
          <c:y val="0.148463389410524"/>
          <c:w val="0.351232032166192"/>
          <c:h val="0.282592179228572"/>
        </c:manualLayout>
      </c:layout>
      <c:overlay val="1"/>
    </c:legend>
    <c:plotVisOnly val="1"/>
    <c:dispBlanksAs val="gap"/>
    <c:showDLblsOverMax val="0"/>
  </c:chart>
  <c:txPr>
    <a:bodyPr/>
    <a:lstStyle/>
    <a:p>
      <a:pPr>
        <a:defRPr sz="2000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D0D928-C45F-5F42-A957-DFF8984ED55B}" type="doc">
      <dgm:prSet loTypeId="urn:microsoft.com/office/officeart/2005/8/layout/radial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56028B4-0D67-F44B-93C0-8187A78D6C79}">
      <dgm:prSet phldrT="[Text]">
        <dgm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No Consistency</a:t>
          </a:r>
          <a:endParaRPr lang="en-US" dirty="0"/>
        </a:p>
      </dgm:t>
    </dgm:pt>
    <dgm:pt modelId="{D03C3C0E-E90C-8343-A452-813372521C23}" type="parTrans" cxnId="{22FA490C-0EB2-C545-91BA-AAEF3C59E011}">
      <dgm:prSet/>
      <dgm:spPr/>
      <dgm:t>
        <a:bodyPr/>
        <a:lstStyle/>
        <a:p>
          <a:endParaRPr lang="en-US"/>
        </a:p>
      </dgm:t>
    </dgm:pt>
    <dgm:pt modelId="{160075D1-19B3-414D-9224-B775BEC26A53}" type="sibTrans" cxnId="{22FA490C-0EB2-C545-91BA-AAEF3C59E011}">
      <dgm:prSet/>
      <dgm:spPr/>
      <dgm:t>
        <a:bodyPr/>
        <a:lstStyle/>
        <a:p>
          <a:endParaRPr lang="en-US"/>
        </a:p>
      </dgm:t>
    </dgm:pt>
    <dgm:pt modelId="{80A6D90F-06FC-2F40-BDD7-A7266B7AC0F7}">
      <dgm:prSet phldrT="[Text]"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>
        <a:solidFill>
          <a:srgbClr val="008000"/>
        </a:solidFill>
      </dgm:spPr>
      <dgm:t>
        <a:bodyPr/>
        <a:lstStyle/>
        <a:p>
          <a:r>
            <a:rPr lang="en-US" sz="2800" dirty="0" smtClean="0"/>
            <a:t>Higher Throughput</a:t>
          </a:r>
        </a:p>
        <a:p>
          <a:r>
            <a:rPr lang="en-US" sz="2400" dirty="0" smtClean="0"/>
            <a:t>(#updates/sec)</a:t>
          </a:r>
        </a:p>
        <a:p>
          <a:endParaRPr lang="en-US" sz="100" dirty="0"/>
        </a:p>
      </dgm:t>
    </dgm:pt>
    <dgm:pt modelId="{EEC4F355-D5D0-004D-84EA-77CA5BE8A2B1}" type="parTrans" cxnId="{A14632A1-346A-C345-81CE-5E32262FABD1}">
      <dgm:prSet/>
      <dgm:spPr/>
      <dgm:t>
        <a:bodyPr/>
        <a:lstStyle/>
        <a:p>
          <a:endParaRPr lang="en-US"/>
        </a:p>
      </dgm:t>
    </dgm:pt>
    <dgm:pt modelId="{7CEA458E-4A58-644D-B996-CCD8D685718C}" type="sibTrans" cxnId="{A14632A1-346A-C345-81CE-5E32262FABD1}">
      <dgm:prSet/>
      <dgm:spPr/>
      <dgm:t>
        <a:bodyPr/>
        <a:lstStyle/>
        <a:p>
          <a:endParaRPr lang="en-US"/>
        </a:p>
      </dgm:t>
    </dgm:pt>
    <dgm:pt modelId="{3DC89C90-A5FE-3142-AE27-A508D3476A59}">
      <dgm:prSet phldrT="[Text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 smtClean="0"/>
            <a:t>Potentially Slower Convergence of ML</a:t>
          </a:r>
          <a:endParaRPr lang="en-US" dirty="0"/>
        </a:p>
      </dgm:t>
    </dgm:pt>
    <dgm:pt modelId="{8C996950-4AF6-4F40-BDCE-34B0E7097089}" type="parTrans" cxnId="{0B9B498B-CF89-EE42-98A1-0A230BCE40CC}">
      <dgm:prSet/>
      <dgm:spPr/>
      <dgm:t>
        <a:bodyPr/>
        <a:lstStyle/>
        <a:p>
          <a:endParaRPr lang="en-US"/>
        </a:p>
      </dgm:t>
    </dgm:pt>
    <dgm:pt modelId="{8E5FA6B0-FBBE-DB46-9D61-4A26557DCDFF}" type="sibTrans" cxnId="{0B9B498B-CF89-EE42-98A1-0A230BCE40CC}">
      <dgm:prSet/>
      <dgm:spPr/>
      <dgm:t>
        <a:bodyPr/>
        <a:lstStyle/>
        <a:p>
          <a:endParaRPr lang="en-US"/>
        </a:p>
      </dgm:t>
    </dgm:pt>
    <dgm:pt modelId="{3F540CB2-3E41-FB4D-B60D-E6465734B984}" type="pres">
      <dgm:prSet presAssocID="{01D0D928-C45F-5F42-A957-DFF8984ED55B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392F85B-A4D4-004E-BC51-B47318811D33}" type="pres">
      <dgm:prSet presAssocID="{556028B4-0D67-F44B-93C0-8187A78D6C79}" presName="centerShape" presStyleLbl="node0" presStyleIdx="0" presStyleCnt="1" custScaleX="285237"/>
      <dgm:spPr/>
      <dgm:t>
        <a:bodyPr/>
        <a:lstStyle/>
        <a:p>
          <a:endParaRPr lang="en-US"/>
        </a:p>
      </dgm:t>
    </dgm:pt>
    <dgm:pt modelId="{5911F2A4-8491-C049-BF1C-F99FD29E1722}" type="pres">
      <dgm:prSet presAssocID="{EEC4F355-D5D0-004D-84EA-77CA5BE8A2B1}" presName="parTrans" presStyleLbl="sibTrans2D1" presStyleIdx="0" presStyleCnt="2"/>
      <dgm:spPr/>
      <dgm:t>
        <a:bodyPr/>
        <a:lstStyle/>
        <a:p>
          <a:endParaRPr lang="en-US"/>
        </a:p>
      </dgm:t>
    </dgm:pt>
    <dgm:pt modelId="{6DD03805-3A88-1E43-AC98-2BBDFAC47E0D}" type="pres">
      <dgm:prSet presAssocID="{EEC4F355-D5D0-004D-84EA-77CA5BE8A2B1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E0B5F66C-5288-9D49-B866-4DD2852D061A}" type="pres">
      <dgm:prSet presAssocID="{80A6D90F-06FC-2F40-BDD7-A7266B7AC0F7}" presName="node" presStyleLbl="node1" presStyleIdx="0" presStyleCnt="2" custScaleX="2852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B2D7F1E-5B05-8A45-9891-72C4758740A2}" type="pres">
      <dgm:prSet presAssocID="{8C996950-4AF6-4F40-BDCE-34B0E7097089}" presName="parTrans" presStyleLbl="sibTrans2D1" presStyleIdx="1" presStyleCnt="2"/>
      <dgm:spPr/>
      <dgm:t>
        <a:bodyPr/>
        <a:lstStyle/>
        <a:p>
          <a:endParaRPr lang="en-US"/>
        </a:p>
      </dgm:t>
    </dgm:pt>
    <dgm:pt modelId="{4454C3B2-9983-B446-B4FC-091AA32149C1}" type="pres">
      <dgm:prSet presAssocID="{8C996950-4AF6-4F40-BDCE-34B0E7097089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881B9259-28EF-094B-8BC6-5A5F740C8C05}" type="pres">
      <dgm:prSet presAssocID="{3DC89C90-A5FE-3142-AE27-A508D3476A59}" presName="node" presStyleLbl="node1" presStyleIdx="1" presStyleCnt="2" custScaleX="2852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95A7295-CAD0-E847-AC2D-A489EA6CB8F3}" type="presOf" srcId="{8C996950-4AF6-4F40-BDCE-34B0E7097089}" destId="{2B2D7F1E-5B05-8A45-9891-72C4758740A2}" srcOrd="0" destOrd="0" presId="urn:microsoft.com/office/officeart/2005/8/layout/radial5"/>
    <dgm:cxn modelId="{C7DE166D-811A-9442-9C26-A1777F8BDBE7}" type="presOf" srcId="{EEC4F355-D5D0-004D-84EA-77CA5BE8A2B1}" destId="{6DD03805-3A88-1E43-AC98-2BBDFAC47E0D}" srcOrd="1" destOrd="0" presId="urn:microsoft.com/office/officeart/2005/8/layout/radial5"/>
    <dgm:cxn modelId="{0B9B498B-CF89-EE42-98A1-0A230BCE40CC}" srcId="{556028B4-0D67-F44B-93C0-8187A78D6C79}" destId="{3DC89C90-A5FE-3142-AE27-A508D3476A59}" srcOrd="1" destOrd="0" parTransId="{8C996950-4AF6-4F40-BDCE-34B0E7097089}" sibTransId="{8E5FA6B0-FBBE-DB46-9D61-4A26557DCDFF}"/>
    <dgm:cxn modelId="{2D701180-AE95-7E43-9B01-D566277E7887}" type="presOf" srcId="{3DC89C90-A5FE-3142-AE27-A508D3476A59}" destId="{881B9259-28EF-094B-8BC6-5A5F740C8C05}" srcOrd="0" destOrd="0" presId="urn:microsoft.com/office/officeart/2005/8/layout/radial5"/>
    <dgm:cxn modelId="{F96B9DD6-111B-1A41-82C2-617632BC226D}" type="presOf" srcId="{80A6D90F-06FC-2F40-BDD7-A7266B7AC0F7}" destId="{E0B5F66C-5288-9D49-B866-4DD2852D061A}" srcOrd="0" destOrd="0" presId="urn:microsoft.com/office/officeart/2005/8/layout/radial5"/>
    <dgm:cxn modelId="{E15FDF77-7675-854D-9C16-602823F9AC13}" type="presOf" srcId="{556028B4-0D67-F44B-93C0-8187A78D6C79}" destId="{6392F85B-A4D4-004E-BC51-B47318811D33}" srcOrd="0" destOrd="0" presId="urn:microsoft.com/office/officeart/2005/8/layout/radial5"/>
    <dgm:cxn modelId="{38F0C5A5-8972-804C-AAF7-DE0E764813C5}" type="presOf" srcId="{8C996950-4AF6-4F40-BDCE-34B0E7097089}" destId="{4454C3B2-9983-B446-B4FC-091AA32149C1}" srcOrd="1" destOrd="0" presId="urn:microsoft.com/office/officeart/2005/8/layout/radial5"/>
    <dgm:cxn modelId="{22FA490C-0EB2-C545-91BA-AAEF3C59E011}" srcId="{01D0D928-C45F-5F42-A957-DFF8984ED55B}" destId="{556028B4-0D67-F44B-93C0-8187A78D6C79}" srcOrd="0" destOrd="0" parTransId="{D03C3C0E-E90C-8343-A452-813372521C23}" sibTransId="{160075D1-19B3-414D-9224-B775BEC26A53}"/>
    <dgm:cxn modelId="{F67FB70D-B5B5-6E4C-BA98-3231C4580861}" type="presOf" srcId="{EEC4F355-D5D0-004D-84EA-77CA5BE8A2B1}" destId="{5911F2A4-8491-C049-BF1C-F99FD29E1722}" srcOrd="0" destOrd="0" presId="urn:microsoft.com/office/officeart/2005/8/layout/radial5"/>
    <dgm:cxn modelId="{44BA5307-3685-B544-8289-6E3B111C2EDB}" type="presOf" srcId="{01D0D928-C45F-5F42-A957-DFF8984ED55B}" destId="{3F540CB2-3E41-FB4D-B60D-E6465734B984}" srcOrd="0" destOrd="0" presId="urn:microsoft.com/office/officeart/2005/8/layout/radial5"/>
    <dgm:cxn modelId="{A14632A1-346A-C345-81CE-5E32262FABD1}" srcId="{556028B4-0D67-F44B-93C0-8187A78D6C79}" destId="{80A6D90F-06FC-2F40-BDD7-A7266B7AC0F7}" srcOrd="0" destOrd="0" parTransId="{EEC4F355-D5D0-004D-84EA-77CA5BE8A2B1}" sibTransId="{7CEA458E-4A58-644D-B996-CCD8D685718C}"/>
    <dgm:cxn modelId="{245C2822-97FC-224E-B4E9-85C9692D0FB8}" type="presParOf" srcId="{3F540CB2-3E41-FB4D-B60D-E6465734B984}" destId="{6392F85B-A4D4-004E-BC51-B47318811D33}" srcOrd="0" destOrd="0" presId="urn:microsoft.com/office/officeart/2005/8/layout/radial5"/>
    <dgm:cxn modelId="{1B7CA937-8822-AD4B-8701-9FCF07777830}" type="presParOf" srcId="{3F540CB2-3E41-FB4D-B60D-E6465734B984}" destId="{5911F2A4-8491-C049-BF1C-F99FD29E1722}" srcOrd="1" destOrd="0" presId="urn:microsoft.com/office/officeart/2005/8/layout/radial5"/>
    <dgm:cxn modelId="{3EE3D43B-97BB-9940-8A7A-4594EA4D92B7}" type="presParOf" srcId="{5911F2A4-8491-C049-BF1C-F99FD29E1722}" destId="{6DD03805-3A88-1E43-AC98-2BBDFAC47E0D}" srcOrd="0" destOrd="0" presId="urn:microsoft.com/office/officeart/2005/8/layout/radial5"/>
    <dgm:cxn modelId="{EEDFC38C-74E9-0A47-ACD4-0CEA734E132D}" type="presParOf" srcId="{3F540CB2-3E41-FB4D-B60D-E6465734B984}" destId="{E0B5F66C-5288-9D49-B866-4DD2852D061A}" srcOrd="2" destOrd="0" presId="urn:microsoft.com/office/officeart/2005/8/layout/radial5"/>
    <dgm:cxn modelId="{21BB687C-255E-7541-943E-F4667E44D8C5}" type="presParOf" srcId="{3F540CB2-3E41-FB4D-B60D-E6465734B984}" destId="{2B2D7F1E-5B05-8A45-9891-72C4758740A2}" srcOrd="3" destOrd="0" presId="urn:microsoft.com/office/officeart/2005/8/layout/radial5"/>
    <dgm:cxn modelId="{FA7C60EF-0ADB-2342-A882-F23FB3E32597}" type="presParOf" srcId="{2B2D7F1E-5B05-8A45-9891-72C4758740A2}" destId="{4454C3B2-9983-B446-B4FC-091AA32149C1}" srcOrd="0" destOrd="0" presId="urn:microsoft.com/office/officeart/2005/8/layout/radial5"/>
    <dgm:cxn modelId="{29231FB4-2E44-D641-9413-48726974926E}" type="presParOf" srcId="{3F540CB2-3E41-FB4D-B60D-E6465734B984}" destId="{881B9259-28EF-094B-8BC6-5A5F740C8C05}" srcOrd="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92F85B-A4D4-004E-BC51-B47318811D33}">
      <dsp:nvSpPr>
        <dsp:cNvPr id="0" name=""/>
        <dsp:cNvSpPr/>
      </dsp:nvSpPr>
      <dsp:spPr>
        <a:xfrm>
          <a:off x="1485261" y="1909353"/>
          <a:ext cx="3887476" cy="1362893"/>
        </a:xfrm>
        <a:prstGeom prst="ellipse">
          <a:avLst/>
        </a:prstGeom>
        <a:gradFill rotWithShape="1">
          <a:gsLst>
            <a:gs pos="0">
              <a:schemeClr val="dk1">
                <a:shade val="51000"/>
                <a:satMod val="130000"/>
              </a:schemeClr>
            </a:gs>
            <a:gs pos="80000">
              <a:schemeClr val="dk1">
                <a:shade val="93000"/>
                <a:satMod val="130000"/>
              </a:schemeClr>
            </a:gs>
            <a:gs pos="100000">
              <a:schemeClr val="dk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dk1"/>
        </a:lnRef>
        <a:fillRef idx="3">
          <a:schemeClr val="dk1"/>
        </a:fillRef>
        <a:effectRef idx="3">
          <a:schemeClr val="dk1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No Consistency</a:t>
          </a:r>
          <a:endParaRPr lang="en-US" sz="3100" kern="1200" dirty="0"/>
        </a:p>
      </dsp:txBody>
      <dsp:txXfrm>
        <a:off x="2054569" y="2108944"/>
        <a:ext cx="2748860" cy="963711"/>
      </dsp:txXfrm>
    </dsp:sp>
    <dsp:sp modelId="{5911F2A4-8491-C049-BF1C-F99FD29E1722}">
      <dsp:nvSpPr>
        <dsp:cNvPr id="0" name=""/>
        <dsp:cNvSpPr/>
      </dsp:nvSpPr>
      <dsp:spPr>
        <a:xfrm rot="16200000">
          <a:off x="3284790" y="1413731"/>
          <a:ext cx="288418" cy="4633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3328053" y="1549671"/>
        <a:ext cx="201893" cy="278029"/>
      </dsp:txXfrm>
    </dsp:sp>
    <dsp:sp modelId="{E0B5F66C-5288-9D49-B866-4DD2852D061A}">
      <dsp:nvSpPr>
        <dsp:cNvPr id="0" name=""/>
        <dsp:cNvSpPr/>
      </dsp:nvSpPr>
      <dsp:spPr>
        <a:xfrm>
          <a:off x="1485261" y="2273"/>
          <a:ext cx="3887476" cy="1362893"/>
        </a:xfrm>
        <a:prstGeom prst="ellipse">
          <a:avLst/>
        </a:prstGeom>
        <a:solidFill>
          <a:srgbClr val="0080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 smtClean="0"/>
            <a:t>Higher Throughput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(#updates/sec)</a:t>
          </a:r>
        </a:p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" kern="1200" dirty="0"/>
        </a:p>
      </dsp:txBody>
      <dsp:txXfrm>
        <a:off x="2054569" y="201864"/>
        <a:ext cx="2748860" cy="963711"/>
      </dsp:txXfrm>
    </dsp:sp>
    <dsp:sp modelId="{2B2D7F1E-5B05-8A45-9891-72C4758740A2}">
      <dsp:nvSpPr>
        <dsp:cNvPr id="0" name=""/>
        <dsp:cNvSpPr/>
      </dsp:nvSpPr>
      <dsp:spPr>
        <a:xfrm rot="5400000">
          <a:off x="3284790" y="3304485"/>
          <a:ext cx="288418" cy="46338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kern="1200"/>
        </a:p>
      </dsp:txBody>
      <dsp:txXfrm>
        <a:off x="3328053" y="3353900"/>
        <a:ext cx="201893" cy="278029"/>
      </dsp:txXfrm>
    </dsp:sp>
    <dsp:sp modelId="{881B9259-28EF-094B-8BC6-5A5F740C8C05}">
      <dsp:nvSpPr>
        <dsp:cNvPr id="0" name=""/>
        <dsp:cNvSpPr/>
      </dsp:nvSpPr>
      <dsp:spPr>
        <a:xfrm>
          <a:off x="1485261" y="3816432"/>
          <a:ext cx="3887476" cy="1362893"/>
        </a:xfrm>
        <a:prstGeom prst="ellipse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smtClean="0"/>
            <a:t>Potentially Slower Convergence of ML</a:t>
          </a:r>
          <a:endParaRPr lang="en-US" sz="2600" kern="1200" dirty="0"/>
        </a:p>
      </dsp:txBody>
      <dsp:txXfrm>
        <a:off x="2054569" y="4016023"/>
        <a:ext cx="2748860" cy="9637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53BE1-2C9B-C747-9EF4-77C4BDD4A77B}" type="datetimeFigureOut">
              <a:rPr lang="en-US" smtClean="0"/>
              <a:t>8/28/12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721D-7D4D-1B49-A844-9E3DC9916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998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7C5BC-5942-8F40-A10A-ADC16C17D2E2}" type="datetimeFigureOut">
              <a:rPr lang="en-US" smtClean="0"/>
              <a:t>8/28/12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A8629-6138-A14F-8352-22ADB8888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416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 - everywhere</a:t>
            </a:r>
          </a:p>
          <a:p>
            <a:r>
              <a:rPr lang="en-US" baseline="0" dirty="0" smtClean="0"/>
              <a:t> - useless -&gt; actionable. </a:t>
            </a:r>
          </a:p>
          <a:p>
            <a:r>
              <a:rPr lang="en-US" baseline="0" dirty="0" smtClean="0"/>
              <a:t> - identify trends, create models, discover patterns. </a:t>
            </a:r>
            <a:r>
              <a:rPr lang="en-US" baseline="0" dirty="0" smtClean="0">
                <a:sym typeface="Wingdings"/>
              </a:rPr>
              <a:t> Machine Learning. Big Learning.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40F1E5-AD06-4561-BD73-71867974E0BE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326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11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-  shift towards parallelism in different forms: …</a:t>
            </a:r>
          </a:p>
          <a:p>
            <a:r>
              <a:rPr lang="en-US" baseline="0" dirty="0" smtClean="0"/>
              <a:t> - addressing</a:t>
            </a:r>
          </a:p>
          <a:p>
            <a:r>
              <a:rPr lang="en-US" baseline="0" dirty="0" smtClean="0"/>
              <a:t> - built to solve very specific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  <a:latin typeface="Calibri"/>
              </a:rPr>
              <a:pPr>
                <a:defRPr/>
              </a:pPr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baseline="0" dirty="0" smtClean="0"/>
              <a:t> - An example:</a:t>
            </a:r>
          </a:p>
          <a:p>
            <a:r>
              <a:rPr lang="en-US" b="0" baseline="0" dirty="0" smtClean="0"/>
              <a:t> - </a:t>
            </a:r>
            <a:r>
              <a:rPr lang="en-US" b="0" baseline="0" dirty="0" err="1" smtClean="0"/>
              <a:t>MapReduce</a:t>
            </a:r>
            <a:r>
              <a:rPr lang="en-US" b="0" baseline="0" dirty="0" smtClean="0"/>
              <a:t>. Two Phases.</a:t>
            </a:r>
          </a:p>
          <a:p>
            <a:r>
              <a:rPr lang="en-US" b="0" baseline="0" dirty="0" smtClean="0"/>
              <a:t> - Map phase: independent </a:t>
            </a:r>
            <a:r>
              <a:rPr lang="en-US" b="0" baseline="0" dirty="0" err="1" smtClean="0"/>
              <a:t>embarassingly</a:t>
            </a:r>
            <a:r>
              <a:rPr lang="en-US" b="0" baseline="0" dirty="0" smtClean="0"/>
              <a:t> parallel computation : feature extraction from images.</a:t>
            </a:r>
          </a:p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baseline="0" dirty="0" smtClean="0"/>
              <a:t> - </a:t>
            </a:r>
            <a:r>
              <a:rPr lang="en-US" b="0" baseline="0" dirty="0" err="1" smtClean="0"/>
              <a:t>MapReduce</a:t>
            </a:r>
            <a:r>
              <a:rPr lang="en-US" b="0" baseline="0" dirty="0" smtClean="0"/>
              <a:t>. Two Phases.</a:t>
            </a:r>
          </a:p>
          <a:p>
            <a:r>
              <a:rPr lang="en-US" b="0" baseline="0" dirty="0" smtClean="0"/>
              <a:t> - Map phase: independent </a:t>
            </a:r>
            <a:r>
              <a:rPr lang="en-US" b="0" baseline="0" dirty="0" err="1" smtClean="0"/>
              <a:t>embarassingly</a:t>
            </a:r>
            <a:r>
              <a:rPr lang="en-US" b="0" baseline="0" dirty="0" smtClean="0"/>
              <a:t> parallel computation : feature extraction from images.</a:t>
            </a:r>
          </a:p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baseline="0" dirty="0" smtClean="0"/>
              <a:t> - </a:t>
            </a:r>
            <a:r>
              <a:rPr lang="en-US" b="0" baseline="0" dirty="0" err="1" smtClean="0"/>
              <a:t>MapReduce</a:t>
            </a:r>
            <a:r>
              <a:rPr lang="en-US" b="0" baseline="0" dirty="0" smtClean="0"/>
              <a:t>. Two Phases.</a:t>
            </a:r>
          </a:p>
          <a:p>
            <a:r>
              <a:rPr lang="en-US" b="0" baseline="0" dirty="0" smtClean="0"/>
              <a:t> - Map phase: independent </a:t>
            </a:r>
            <a:r>
              <a:rPr lang="en-US" b="0" baseline="0" dirty="0" err="1" smtClean="0"/>
              <a:t>embarassingly</a:t>
            </a:r>
            <a:r>
              <a:rPr lang="en-US" b="0" baseline="0" dirty="0" smtClean="0"/>
              <a:t> parallel computation : feature extraction from images.</a:t>
            </a:r>
          </a:p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0" baseline="0" dirty="0" smtClean="0"/>
              <a:t> - </a:t>
            </a:r>
            <a:r>
              <a:rPr lang="en-US" b="0" baseline="0" dirty="0" err="1" smtClean="0"/>
              <a:t>MapReduce</a:t>
            </a:r>
            <a:r>
              <a:rPr lang="en-US" b="0" baseline="0" dirty="0" smtClean="0"/>
              <a:t>. Two Phases.</a:t>
            </a:r>
          </a:p>
          <a:p>
            <a:r>
              <a:rPr lang="en-US" b="0" baseline="0" dirty="0" smtClean="0"/>
              <a:t> - Map phase: independent </a:t>
            </a:r>
            <a:r>
              <a:rPr lang="en-US" b="0" baseline="0" dirty="0" err="1" smtClean="0"/>
              <a:t>embarassingly</a:t>
            </a:r>
            <a:r>
              <a:rPr lang="en-US" b="0" baseline="0" dirty="0" smtClean="0"/>
              <a:t> parallel computation : feature extraction from images.</a:t>
            </a:r>
          </a:p>
          <a:p>
            <a:endParaRPr lang="en-US" b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baseline="0" dirty="0" smtClean="0"/>
              <a:t>“fold” or an aggregation operation over the results. </a:t>
            </a:r>
          </a:p>
          <a:p>
            <a:r>
              <a:rPr lang="en-US" baseline="0" dirty="0" smtClean="0"/>
              <a:t> - features of ugly faces, and features of attractive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 - data parallel are map </a:t>
            </a:r>
            <a:r>
              <a:rPr lang="en-US" baseline="0" dirty="0" err="1" smtClean="0"/>
              <a:t>reduceable</a:t>
            </a:r>
            <a:endParaRPr lang="en-US" baseline="0" dirty="0" smtClean="0"/>
          </a:p>
          <a:p>
            <a:r>
              <a:rPr lang="en-US" baseline="0" dirty="0" smtClean="0"/>
              <a:t>Is there more to ML?</a:t>
            </a:r>
          </a:p>
          <a:p>
            <a:r>
              <a:rPr lang="en-US" baseline="0" dirty="0" smtClean="0"/>
              <a:t>Yes!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  <a:latin typeface="Calibri"/>
              </a:rPr>
              <a:pPr>
                <a:defRPr/>
              </a:pPr>
              <a:t>10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 lot of powerful ML methods come in </a:t>
            </a:r>
            <a:r>
              <a:rPr lang="en-US" baseline="0" dirty="0" err="1" smtClean="0"/>
              <a:t>exploitng</a:t>
            </a:r>
            <a:r>
              <a:rPr lang="en-US" baseline="0" dirty="0" smtClean="0"/>
              <a:t> dependencies between data!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4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 - </a:t>
            </a:r>
            <a:r>
              <a:rPr lang="en-US" baseline="0" dirty="0" smtClean="0"/>
              <a:t>product </a:t>
            </a:r>
            <a:r>
              <a:rPr lang="en-US" baseline="0" dirty="0" err="1" smtClean="0"/>
              <a:t>recommentations</a:t>
            </a:r>
            <a:r>
              <a:rPr lang="en-US" baseline="0" dirty="0" smtClean="0"/>
              <a:t>.</a:t>
            </a:r>
            <a:endParaRPr lang="en-US" baseline="0" dirty="0" smtClean="0"/>
          </a:p>
          <a:p>
            <a:r>
              <a:rPr lang="en-US" baseline="0" dirty="0" smtClean="0"/>
              <a:t> - Impossible. Social Network.</a:t>
            </a:r>
          </a:p>
          <a:p>
            <a:r>
              <a:rPr lang="en-US" baseline="0" dirty="0" smtClean="0"/>
              <a:t> - Close friends.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66D470-C10E-414C-905E-BBE6EFAB8802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- infer interests</a:t>
            </a:r>
          </a:p>
          <a:p>
            <a:r>
              <a:rPr lang="en-US" baseline="0" dirty="0" smtClean="0"/>
              <a:t> - collaborative filtering: sparse matrix of movie rentals </a:t>
            </a:r>
          </a:p>
          <a:p>
            <a:r>
              <a:rPr lang="en-US" baseline="0" dirty="0" smtClean="0"/>
              <a:t>- text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relate random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40F1E5-AD06-4561-BD73-71867974E0B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Data related to each other via a graph</a:t>
            </a:r>
            <a:endParaRPr lang="en-US" baseline="0" dirty="0" smtClean="0"/>
          </a:p>
          <a:p>
            <a:r>
              <a:rPr lang="en-US" baseline="0" dirty="0" smtClean="0"/>
              <a:t> - Computation has locality properties. The computation of parameters on a vertex may depend only on the vertices adjacent to it.</a:t>
            </a:r>
          </a:p>
          <a:p>
            <a:r>
              <a:rPr lang="en-US" baseline="0" dirty="0" smtClean="0"/>
              <a:t> - Iterative in nature. Sequence of operations that are repeated</a:t>
            </a:r>
          </a:p>
          <a:p>
            <a:r>
              <a:rPr lang="en-US" baseline="0" dirty="0" smtClean="0"/>
              <a:t>(3.30)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41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 - Universe</a:t>
            </a:r>
          </a:p>
          <a:p>
            <a:r>
              <a:rPr lang="en-US" baseline="0" dirty="0" smtClean="0"/>
              <a:t> - </a:t>
            </a:r>
            <a:r>
              <a:rPr lang="en-US" baseline="0" dirty="0" err="1" smtClean="0"/>
              <a:t>GraphLab</a:t>
            </a:r>
            <a:r>
              <a:rPr lang="en-US" baseline="0" dirty="0" smtClean="0"/>
              <a:t> is designed to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  <a:latin typeface="Calibri"/>
              </a:rPr>
              <a:pPr>
                <a:defRPr/>
              </a:pPr>
              <a:t>15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A whole universe of methods which we call Graph Parallel.</a:t>
            </a:r>
          </a:p>
          <a:p>
            <a:r>
              <a:rPr lang="en-US" baseline="0" dirty="0" smtClean="0"/>
              <a:t>And that is what </a:t>
            </a:r>
            <a:r>
              <a:rPr lang="en-US" baseline="0" dirty="0" err="1" smtClean="0"/>
              <a:t>GraphLab</a:t>
            </a:r>
            <a:r>
              <a:rPr lang="en-US" baseline="0" dirty="0" smtClean="0"/>
              <a:t> is designed to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  <a:latin typeface="Calibri"/>
              </a:rPr>
              <a:pPr>
                <a:defRPr/>
              </a:pPr>
              <a:t>16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Data lives</a:t>
            </a:r>
            <a:r>
              <a:rPr lang="en-US" baseline="0" dirty="0" smtClean="0"/>
              <a:t> in a graph.</a:t>
            </a:r>
          </a:p>
          <a:p>
            <a:r>
              <a:rPr lang="en-US" baseline="0" dirty="0" smtClean="0"/>
              <a:t> - Computation has locality properties. The computation of parameters on a vertex may depend only on the vertices adjacent to it.</a:t>
            </a:r>
          </a:p>
          <a:p>
            <a:r>
              <a:rPr lang="en-US" baseline="0" dirty="0" smtClean="0"/>
              <a:t> - Iterative in 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41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err="1" smtClean="0"/>
              <a:t>GraphLab</a:t>
            </a:r>
            <a:r>
              <a:rPr lang="en-US" baseline="0" dirty="0" smtClean="0"/>
              <a:t> is a high level abstraction used to target this family of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  <a:latin typeface="Calibri"/>
              </a:rPr>
              <a:pPr>
                <a:defRPr/>
              </a:pPr>
              <a:t>18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2010 we first proposed and</a:t>
            </a:r>
            <a:r>
              <a:rPr lang="en-US" baseline="0" dirty="0" smtClean="0"/>
              <a:t> developed a shared memory implementation of </a:t>
            </a:r>
            <a:r>
              <a:rPr lang="en-US" baseline="0" dirty="0" err="1" smtClean="0"/>
              <a:t>GraphLab</a:t>
            </a:r>
            <a:r>
              <a:rPr lang="en-US" baseline="0" dirty="0" smtClean="0"/>
              <a:t> on which we demonstrated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very good scaling on a variety of ML</a:t>
            </a:r>
            <a:r>
              <a:rPr lang="en-US" baseline="0" dirty="0" smtClean="0"/>
              <a:t>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950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Algorithms</a:t>
            </a:r>
          </a:p>
          <a:p>
            <a:pPr marL="171450" indent="-171450">
              <a:buFontTx/>
              <a:buChar char="-"/>
            </a:pPr>
            <a:r>
              <a:rPr lang="en-US" dirty="0" smtClean="0"/>
              <a:t>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697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59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 - classical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185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 - overview</a:t>
            </a:r>
          </a:p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 - - -</a:t>
            </a:r>
          </a:p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dirty="0" smtClean="0"/>
              <a:t>Core</a:t>
            </a:r>
            <a:r>
              <a:rPr lang="en-US" baseline="0" dirty="0" smtClean="0"/>
              <a:t> GL </a:t>
            </a:r>
            <a:r>
              <a:rPr lang="en-US" baseline="0" dirty="0" err="1" smtClean="0"/>
              <a:t>datastrucutre</a:t>
            </a:r>
            <a:r>
              <a:rPr lang="en-US" baseline="0" dirty="0" smtClean="0"/>
              <a:t>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Arbitrary graph</a:t>
            </a:r>
            <a:endParaRPr lang="en-US" baseline="0" dirty="0" smtClean="0"/>
          </a:p>
          <a:p>
            <a:r>
              <a:rPr lang="en-US" baseline="0" dirty="0" smtClean="0"/>
              <a:t>(5)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 - cut along edges</a:t>
            </a:r>
          </a:p>
          <a:p>
            <a:r>
              <a:rPr lang="en-US" baseline="0" dirty="0" smtClean="0"/>
              <a:t> - gaps. Local-&gt; remote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36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 - ghost. Maintain adjacency. replicate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386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- Too difficult -&gt; random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638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 - However, given this data, what can I do with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weighted sum </a:t>
            </a:r>
          </a:p>
          <a:p>
            <a:r>
              <a:rPr lang="en-US" baseline="0" dirty="0" smtClean="0"/>
              <a:t>Neighbors needs to be recomputed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This relates to work in</a:t>
            </a:r>
            <a:r>
              <a:rPr lang="en-US" baseline="0" dirty="0" smtClean="0"/>
              <a:t> graphical model inference we did in the past, where we demonstrated that there are ML problems where asynchronous/dynamic computation can be substantially faster than synchronous. </a:t>
            </a:r>
          </a:p>
          <a:p>
            <a:r>
              <a:rPr lang="en-US" baseline="0" dirty="0" smtClean="0"/>
              <a:t>For instance, in this work we did in 2009, we demonstrated that a well designed asynchronous/dynamic computation can converge substantially faster than a synchronous version: here, running faster on 1 </a:t>
            </a:r>
            <a:r>
              <a:rPr lang="en-US" baseline="0" dirty="0" err="1" smtClean="0"/>
              <a:t>proc</a:t>
            </a:r>
            <a:r>
              <a:rPr lang="en-US" baseline="0" dirty="0" smtClean="0"/>
              <a:t>, than synchronous on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084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baseline="0" dirty="0" smtClean="0"/>
              <a:t>Focus on where it is </a:t>
            </a:r>
            <a:r>
              <a:rPr lang="en-US" baseline="0" dirty="0" smtClean="0"/>
              <a:t>hardest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Dynamic graphical model inference procedure. </a:t>
            </a:r>
            <a:endParaRPr lang="en-US" baseline="0" dirty="0" smtClean="0"/>
          </a:p>
          <a:p>
            <a:pPr marL="171450" indent="-171450">
              <a:buFontTx/>
              <a:buChar char="-"/>
            </a:pPr>
            <a:r>
              <a:rPr lang="en-US" baseline="0" dirty="0" smtClean="0"/>
              <a:t>Observe that the procedure </a:t>
            </a:r>
            <a:r>
              <a:rPr lang="en-US" baseline="0" dirty="0" err="1" smtClean="0"/>
              <a:t>quicky</a:t>
            </a:r>
            <a:r>
              <a:rPr lang="en-US" baseline="0" dirty="0" smtClean="0"/>
              <a:t> focuses on where the problem is hardest. The ability to focus computation on where it matters can produce substantial performance 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B5BF8-25FD-433C-B671-01541186FB72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baseline="0" dirty="0" smtClean="0"/>
              <a:t>Implement </a:t>
            </a:r>
            <a:r>
              <a:rPr lang="en-US" baseline="0" dirty="0" err="1" smtClean="0"/>
              <a:t>dyanimc</a:t>
            </a:r>
            <a:r>
              <a:rPr lang="en-US" baseline="0" dirty="0" smtClean="0"/>
              <a:t> asynchronous in shared memory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Each task is an update function applied on a vertex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 scheduler = parallel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smtClean="0"/>
              <a:t>Each machine does the same</a:t>
            </a:r>
            <a:r>
              <a:rPr lang="en-US" baseline="0" dirty="0" smtClean="0"/>
              <a:t> as in the shared memory setting.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Pulls a task out and runs it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8468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in such an asynchronous, dynamic computation</a:t>
            </a:r>
            <a:r>
              <a:rPr lang="en-US" baseline="0" dirty="0" smtClean="0"/>
              <a:t> environment, where ...access scope..</a:t>
            </a:r>
            <a:endParaRPr lang="en-US" dirty="0" smtClean="0"/>
          </a:p>
          <a:p>
            <a:r>
              <a:rPr lang="en-US" dirty="0" smtClean="0"/>
              <a:t>-</a:t>
            </a:r>
            <a:r>
              <a:rPr lang="en-US" b="1" dirty="0" smtClean="0"/>
              <a:t>prevent</a:t>
            </a:r>
            <a:r>
              <a:rPr lang="en-US" dirty="0" smtClean="0"/>
              <a:t> </a:t>
            </a:r>
            <a:r>
              <a:rPr lang="en-US" baseline="0" dirty="0" smtClean="0"/>
              <a:t>race conditions.</a:t>
            </a:r>
          </a:p>
          <a:p>
            <a:r>
              <a:rPr lang="en-US" baseline="0" dirty="0" smtClean="0"/>
              <a:t> - </a:t>
            </a:r>
            <a:r>
              <a:rPr lang="en-US" b="1" baseline="0" dirty="0" smtClean="0"/>
              <a:t>overlap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3925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But</a:t>
            </a:r>
            <a:r>
              <a:rPr lang="en-US" baseline="0" dirty="0" smtClean="0"/>
              <a:t> if two adjacent vertices are updated simultaneously…. We could get a clash on the center edge.</a:t>
            </a:r>
          </a:p>
          <a:p>
            <a:r>
              <a:rPr lang="en-US" baseline="0" dirty="0" smtClean="0"/>
              <a:t>The result on the center edges could become inconsistent. For instance, the left vertex could write the blue histogram to the edge. </a:t>
            </a:r>
          </a:p>
          <a:p>
            <a:r>
              <a:rPr lang="en-US" baseline="0" dirty="0" smtClean="0"/>
              <a:t>The right. </a:t>
            </a:r>
          </a:p>
          <a:p>
            <a:r>
              <a:rPr lang="en-US" baseline="0" dirty="0" smtClean="0"/>
              <a:t>But due to the collision, it is possible for the final value can be very wrong.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revisit</a:t>
            </a:r>
          </a:p>
          <a:p>
            <a:r>
              <a:rPr lang="en-US" dirty="0" smtClean="0"/>
              <a:t> - core piece of computation.</a:t>
            </a:r>
          </a:p>
          <a:p>
            <a:r>
              <a:rPr lang="en-US" baseline="0" dirty="0" smtClean="0"/>
              <a:t> - see how it </a:t>
            </a:r>
            <a:r>
              <a:rPr lang="en-US" baseline="0" dirty="0" smtClean="0"/>
              <a:t>behaves if we allow it to race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795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Plot error to ground truth over time.</a:t>
            </a:r>
          </a:p>
          <a:p>
            <a:r>
              <a:rPr lang="en-US" baseline="0" dirty="0" smtClean="0"/>
              <a:t> - if we can run consistently. Converges just fine</a:t>
            </a:r>
          </a:p>
          <a:p>
            <a:r>
              <a:rPr lang="en-US" baseline="0" dirty="0" smtClean="0"/>
              <a:t> - if we don’t.</a:t>
            </a:r>
          </a:p>
          <a:p>
            <a:r>
              <a:rPr lang="en-US" baseline="0" dirty="0" smtClean="0"/>
              <a:t> - zoom in. </a:t>
            </a:r>
            <a:r>
              <a:rPr lang="en-US" baseline="0" dirty="0" err="1" smtClean="0"/>
              <a:t>Fluctures</a:t>
            </a:r>
            <a:r>
              <a:rPr lang="en-US" baseline="0" dirty="0" smtClean="0"/>
              <a:t> near convergence and never quite gets there.</a:t>
            </a:r>
          </a:p>
          <a:p>
            <a:r>
              <a:rPr lang="en-US" baseline="0" dirty="0" smtClean="0"/>
              <a:t> - PageRank: provably convergent under inconsistency. Yet it does not converge.</a:t>
            </a:r>
          </a:p>
          <a:p>
            <a:r>
              <a:rPr lang="en-US" baseline="0" dirty="0" smtClean="0"/>
              <a:t> - Why?</a:t>
            </a:r>
          </a:p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40F1E5-AD06-4561-BD73-71867974E0BE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656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Take a look at the code again. Can we </a:t>
            </a:r>
            <a:r>
              <a:rPr lang="en-US" baseline="0" dirty="0" smtClean="0"/>
              <a:t>see the problem?</a:t>
            </a:r>
          </a:p>
          <a:p>
            <a:r>
              <a:rPr lang="en-US" baseline="0" dirty="0" smtClean="0"/>
              <a:t> - fluctuates when neighbors read. Resulting in propagation of bad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795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Store in a temporary, and only modify</a:t>
            </a:r>
            <a:r>
              <a:rPr lang="en-US" baseline="0" dirty="0" smtClean="0"/>
              <a:t> the vertex once at the end.</a:t>
            </a:r>
          </a:p>
          <a:p>
            <a:r>
              <a:rPr lang="en-US" baseline="0" dirty="0" smtClean="0"/>
              <a:t> - First problem: without consistency, the programmer has to be constantly aware of that fact and be careful to code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09640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It has been said that ML algorithms</a:t>
            </a:r>
            <a:r>
              <a:rPr lang="en-US" baseline="0" dirty="0" smtClean="0"/>
              <a:t> are </a:t>
            </a:r>
            <a:r>
              <a:rPr lang="en-US" dirty="0" smtClean="0"/>
              <a:t>robust</a:t>
            </a:r>
            <a:r>
              <a:rPr lang="en-US" baseline="0" dirty="0" smtClean="0"/>
              <a:t> to no consistency … ignore it .. And it will still work out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- Allow computation to race</a:t>
            </a:r>
            <a:endParaRPr lang="en-US" baseline="0" dirty="0" smtClean="0"/>
          </a:p>
          <a:p>
            <a:r>
              <a:rPr lang="en-US" baseline="0" dirty="0" smtClean="0"/>
              <a:t>- … higher throughput … != finish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503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 - matrix factorization</a:t>
            </a:r>
          </a:p>
          <a:p>
            <a:r>
              <a:rPr lang="en-US" baseline="0" dirty="0" smtClean="0"/>
              <a:t> - Training RMSE over time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 - much larger number of updates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40F1E5-AD06-4561-BD73-71867974E0B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0619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- </a:t>
            </a:r>
            <a:r>
              <a:rPr lang="en-US" dirty="0" smtClean="0"/>
              <a:t>defines race </a:t>
            </a:r>
            <a:r>
              <a:rPr lang="en-US" dirty="0" smtClean="0"/>
              <a:t>free </a:t>
            </a:r>
            <a:r>
              <a:rPr lang="en-US" dirty="0" smtClean="0"/>
              <a:t>operation using</a:t>
            </a:r>
            <a:r>
              <a:rPr lang="en-US" baseline="0" dirty="0" smtClean="0"/>
              <a:t> </a:t>
            </a:r>
            <a:r>
              <a:rPr lang="en-US" baseline="0" dirty="0" smtClean="0"/>
              <a:t>notion of </a:t>
            </a:r>
            <a:r>
              <a:rPr lang="en-US" baseline="0" dirty="0" err="1" smtClean="0"/>
              <a:t>serializability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 - </a:t>
            </a:r>
            <a:r>
              <a:rPr lang="en-US" baseline="0" dirty="0" err="1" smtClean="0"/>
              <a:t>serializability</a:t>
            </a:r>
            <a:r>
              <a:rPr lang="en-US" baseline="0" dirty="0" smtClean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Example: …</a:t>
            </a:r>
          </a:p>
          <a:p>
            <a:r>
              <a:rPr lang="en-US" baseline="0" dirty="0" smtClean="0"/>
              <a:t> - expert user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 - only focus on edge consistency.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can also define stronger or weaker consistency</a:t>
            </a:r>
            <a:r>
              <a:rPr lang="en-US" baseline="0" dirty="0" smtClean="0"/>
              <a:t> levels using the same techniques.</a:t>
            </a:r>
          </a:p>
          <a:p>
            <a:r>
              <a:rPr lang="en-US" baseline="0" dirty="0" smtClean="0"/>
              <a:t>Say the update function writes to its neighbors. Then to achieve consistency, only updates which are two vertices apart may run in parallel. This, we call full consistency.</a:t>
            </a:r>
          </a:p>
          <a:p>
            <a:endParaRPr lang="en-US" baseline="0" dirty="0" smtClean="0"/>
          </a:p>
          <a:p>
            <a:r>
              <a:rPr lang="en-US" baseline="0" dirty="0" smtClean="0"/>
              <a:t>Similarly, if the update function only writes to the central vertex. Then all updates can be run in parallel and we call this vertex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6838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baseline="0" dirty="0" smtClean="0"/>
              <a:t>simple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754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factor sparse matrix</a:t>
            </a:r>
          </a:p>
          <a:p>
            <a:r>
              <a:rPr lang="en-US" baseline="0" dirty="0" smtClean="0"/>
              <a:t> -easy to color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8233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good performance with D.</a:t>
            </a:r>
            <a:r>
              <a:rPr lang="en-US" baseline="0" dirty="0" smtClean="0"/>
              <a:t> </a:t>
            </a:r>
            <a:r>
              <a:rPr lang="en-US" b="1" baseline="0" dirty="0" smtClean="0"/>
              <a:t>D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 - two orders. MPI.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609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less discussed. Cost. Time is money. Wrong Abstraction costs money.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runtime and cost, difference cluster sizes on EC2.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- 100x more, 100x longer. Logarithmic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008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-Answer questions</a:t>
            </a:r>
          </a:p>
          <a:p>
            <a:r>
              <a:rPr lang="en-US" baseline="0" dirty="0" smtClean="0"/>
              <a:t>- Construct bipartite graph from corpus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aseline="0" dirty="0" smtClean="0"/>
              <a:t>We scale moderately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Complex graphs, user cannot provide</a:t>
            </a:r>
            <a:r>
              <a:rPr lang="en-US" baseline="0" dirty="0" smtClean="0"/>
              <a:t> a graph coloring. And we cannot use the chromatic engine to find a graph coloring.</a:t>
            </a:r>
          </a:p>
          <a:p>
            <a:r>
              <a:rPr lang="en-US" dirty="0" smtClean="0"/>
              <a:t> -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4152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Thus we have a second engine implementation built around distributed 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180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We associate 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rw</a:t>
            </a:r>
            <a:r>
              <a:rPr lang="en-US" baseline="0" dirty="0" smtClean="0"/>
              <a:t>-lock with each vertex.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328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write on center, read on adjacent, taking care to acquire locks in canonical</a:t>
            </a:r>
            <a:r>
              <a:rPr lang="en-US" baseline="0" dirty="0" smtClean="0"/>
              <a:t> ordering</a:t>
            </a:r>
            <a:endParaRPr lang="en-US" dirty="0" smtClean="0"/>
          </a:p>
          <a:p>
            <a:r>
              <a:rPr lang="en-US" dirty="0" smtClean="0"/>
              <a:t> - read</a:t>
            </a:r>
            <a:r>
              <a:rPr lang="en-US" baseline="0" dirty="0" smtClean="0"/>
              <a:t> lock acquired more than once</a:t>
            </a:r>
          </a:p>
          <a:p>
            <a:r>
              <a:rPr lang="en-US" baseline="0" dirty="0" smtClean="0"/>
              <a:t>- minor variations.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76354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easy in shared.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 - distributed, latency, limiting.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6904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visualize</a:t>
            </a:r>
          </a:p>
          <a:p>
            <a:r>
              <a:rPr lang="en-US" dirty="0" smtClean="0"/>
              <a:t> - acquire a remote lock, send a message.</a:t>
            </a:r>
          </a:p>
          <a:p>
            <a:r>
              <a:rPr lang="en-US" baseline="0" dirty="0" smtClean="0"/>
              <a:t> - only when locks are acquire then machine can run the update function.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6011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large</a:t>
            </a:r>
            <a:r>
              <a:rPr lang="en-US" baseline="0" dirty="0" smtClean="0"/>
              <a:t> number (10K) simultaneous.</a:t>
            </a:r>
          </a:p>
          <a:p>
            <a:r>
              <a:rPr lang="en-US" dirty="0" smtClean="0"/>
              <a:t> - update</a:t>
            </a:r>
            <a:r>
              <a:rPr lang="en-US" baseline="0" dirty="0" smtClean="0"/>
              <a:t> function when locks ready. In flight.</a:t>
            </a:r>
          </a:p>
          <a:p>
            <a:r>
              <a:rPr lang="en-US" baseline="0" dirty="0" smtClean="0"/>
              <a:t> -  Hide latency of individual.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6011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Small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188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- To evaluate…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Highly dynamic and stresses the locking engine. We do pretty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2744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Concludes.</a:t>
            </a:r>
          </a:p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 - how data is distributed , how computation is performed , how consistency is maintained</a:t>
            </a:r>
          </a:p>
          <a:p>
            <a:pPr defTabSz="899404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smtClean="0"/>
              <a:t>However,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DAE87-5955-4B76-87EE-B76E9A46D816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8638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- evaluate behavior.</a:t>
            </a:r>
            <a:r>
              <a:rPr lang="en-US" baseline="0" dirty="0" smtClean="0"/>
              <a:t> Plot progress.</a:t>
            </a:r>
          </a:p>
          <a:p>
            <a:r>
              <a:rPr lang="en-US" baseline="0" dirty="0" smtClean="0"/>
              <a:t> - linear progress</a:t>
            </a:r>
          </a:p>
          <a:p>
            <a:r>
              <a:rPr lang="en-US" dirty="0" smtClean="0"/>
              <a:t> - Introduce one slow machine into the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1993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Typically hard to implement. 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Our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layer design makes it hard to implement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0737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instead of snapshotting machines, lets think extremely fine grained. We have a graph. Lets map this to the graph.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On such granularity, did we make the problem harder?</a:t>
            </a: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given edge consistency, extremely  easy in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GraphLab</a:t>
            </a:r>
            <a:r>
              <a:rPr lang="en-US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! </a:t>
            </a:r>
          </a:p>
          <a:p>
            <a:pPr marL="171450" indent="-171450">
              <a:buFontTx/>
              <a:buChar char="-"/>
            </a:pPr>
            <a:r>
              <a:rPr lang="en-US" dirty="0" err="1" smtClean="0"/>
              <a:t>GraphLab’s</a:t>
            </a:r>
            <a:r>
              <a:rPr lang="en-US" dirty="0" smtClean="0"/>
              <a:t> </a:t>
            </a:r>
            <a:r>
              <a:rPr lang="en-US" dirty="0" err="1" smtClean="0"/>
              <a:t>async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checkpointing</a:t>
            </a:r>
            <a:r>
              <a:rPr lang="en-US" baseline="0" dirty="0" smtClean="0"/>
              <a:t> can be done entirely within </a:t>
            </a:r>
            <a:r>
              <a:rPr lang="en-US" baseline="0" dirty="0" err="1" smtClean="0"/>
              <a:t>GraphLab</a:t>
            </a:r>
            <a:r>
              <a:rPr lang="en-US" baseline="0" smtClean="0"/>
              <a:t>!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0737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Lets</a:t>
            </a:r>
            <a:r>
              <a:rPr lang="en-US" baseline="0" dirty="0" smtClean="0"/>
              <a:t> see the behavior of this Asynchronous Snapshot procedure.</a:t>
            </a:r>
          </a:p>
          <a:p>
            <a:r>
              <a:rPr lang="en-US" baseline="0" dirty="0" smtClean="0"/>
              <a:t> Instead of a flat-line, we get a little curve.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1993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Obtain Performance ,efficiency</a:t>
            </a:r>
            <a:r>
              <a:rPr lang="en-US" baseline="0" dirty="0" smtClean="0"/>
              <a:t> and scalability while as a high level abstraction, while as a high level abstraction without sacrificing </a:t>
            </a:r>
            <a:r>
              <a:rPr lang="en-US" baseline="0" dirty="0" err="1" smtClean="0"/>
              <a:t>useability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011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9FED196-89B7-4434-BEFE-0F88F5CA0D2A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----- Meeting Notes (11/15/11 20:27) -----</a:t>
            </a:r>
          </a:p>
          <a:p>
            <a:r>
              <a:rPr lang="en-US" dirty="0"/>
              <a:t>Review of the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E35F6D-BA34-F541-9DBB-DD8D7132CE4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21138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Improved graph</a:t>
            </a:r>
            <a:r>
              <a:rPr lang="en-US" baseline="0" dirty="0" smtClean="0"/>
              <a:t> placement, improved </a:t>
            </a:r>
            <a:r>
              <a:rPr lang="en-US" baseline="0" dirty="0" smtClean="0"/>
              <a:t>parallel locking </a:t>
            </a:r>
            <a:r>
              <a:rPr lang="en-US" baseline="0" dirty="0" smtClean="0"/>
              <a:t>procedure, modifications which improve scalability </a:t>
            </a:r>
            <a:r>
              <a:rPr lang="en-US" baseline="0" dirty="0" smtClean="0"/>
              <a:t>to </a:t>
            </a:r>
          </a:p>
          <a:p>
            <a:r>
              <a:rPr lang="en-US" baseline="0" smtClean="0"/>
              <a:t>BILLIONS </a:t>
            </a:r>
            <a:r>
              <a:rPr lang="en-US" baseline="0" dirty="0" smtClean="0"/>
              <a:t>of vertices, 10s/100s BILLIONS of edges..</a:t>
            </a:r>
          </a:p>
          <a:p>
            <a:r>
              <a:rPr lang="en-US" baseline="0" dirty="0" smtClean="0"/>
              <a:t>- 1min 30s for the entire twitter graph. Or about 2 minutes end to end loading from raw text. </a:t>
            </a:r>
            <a:r>
              <a:rPr lang="en-US" baseline="0" dirty="0" err="1" smtClean="0"/>
              <a:t>Hadoop</a:t>
            </a:r>
            <a:r>
              <a:rPr lang="en-US" baseline="0" dirty="0" smtClean="0"/>
              <a:t> running on a much much larger cluster took 7 hours.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6885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Improved graph</a:t>
            </a:r>
            <a:r>
              <a:rPr lang="en-US" baseline="0" dirty="0" smtClean="0"/>
              <a:t> placement, improved locking procedure, modifications which improve scalability even further.</a:t>
            </a:r>
          </a:p>
          <a:p>
            <a:r>
              <a:rPr lang="en-US" baseline="0" dirty="0" smtClean="0"/>
              <a:t>  - We also provide a few toolkits, all running distributed, to perform some graph analytics, topic </a:t>
            </a:r>
            <a:r>
              <a:rPr lang="en-US" baseline="0" dirty="0" err="1" smtClean="0"/>
              <a:t>modelling,collaborative</a:t>
            </a:r>
            <a:r>
              <a:rPr lang="en-US" baseline="0" dirty="0" smtClean="0"/>
              <a:t> filter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7A8629-6138-A14F-8352-22ADB8888C8A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46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371600" y="1219200"/>
            <a:ext cx="6400800" cy="16764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>
            <a:lvl1pPr marL="0" indent="0" algn="ctr">
              <a:buFont typeface="Wingdings" pitchFamily="-64" charset="2"/>
              <a:buNone/>
              <a:defRPr sz="4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6" name="Picture 45" descr="select-lab-red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6324600"/>
            <a:ext cx="2209800" cy="379413"/>
          </a:xfrm>
          <a:prstGeom prst="rect">
            <a:avLst/>
          </a:prstGeom>
          <a:noFill/>
        </p:spPr>
      </p:pic>
      <p:sp>
        <p:nvSpPr>
          <p:cNvPr id="7" name="Rectangle 46"/>
          <p:cNvSpPr>
            <a:spLocks noChangeArrowheads="1"/>
          </p:cNvSpPr>
          <p:nvPr userDrawn="1"/>
        </p:nvSpPr>
        <p:spPr bwMode="auto">
          <a:xfrm>
            <a:off x="6686469" y="6248400"/>
            <a:ext cx="2381331" cy="46166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defTabSz="914400"/>
            <a:r>
              <a:rPr lang="en-US" sz="2400" b="1" dirty="0">
                <a:solidFill>
                  <a:srgbClr val="630000"/>
                </a:solidFill>
                <a:latin typeface="Times" pitchFamily="-64" charset="0"/>
              </a:rPr>
              <a:t>Carnegie Mellon</a:t>
            </a:r>
          </a:p>
        </p:txBody>
      </p:sp>
    </p:spTree>
    <p:extLst>
      <p:ext uri="{BB962C8B-B14F-4D97-AF65-F5344CB8AC3E}">
        <p14:creationId xmlns:p14="http://schemas.microsoft.com/office/powerpoint/2010/main" val="6718533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371600" y="1219200"/>
            <a:ext cx="6400800" cy="16764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>
            <a:lvl1pPr marL="0" indent="0" algn="ctr">
              <a:buFont typeface="Wingdings" pitchFamily="-64" charset="2"/>
              <a:buNone/>
              <a:defRPr sz="4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2989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9900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65955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76700" cy="5141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076700" cy="5141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1051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3914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013872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2044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61732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9908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7299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371600" y="1219200"/>
            <a:ext cx="6400800" cy="16764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>
            <a:lvl1pPr marL="0" indent="0" algn="ctr">
              <a:buFont typeface="Wingdings" pitchFamily="-64" charset="2"/>
              <a:buNone/>
              <a:defRPr sz="4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pic>
        <p:nvPicPr>
          <p:cNvPr id="6" name="Picture 45" descr="select-lab-red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600" y="6324600"/>
            <a:ext cx="2209800" cy="379413"/>
          </a:xfrm>
          <a:prstGeom prst="rect">
            <a:avLst/>
          </a:prstGeom>
          <a:noFill/>
        </p:spPr>
      </p:pic>
      <p:sp>
        <p:nvSpPr>
          <p:cNvPr id="7" name="Rectangle 46"/>
          <p:cNvSpPr>
            <a:spLocks noChangeArrowheads="1"/>
          </p:cNvSpPr>
          <p:nvPr userDrawn="1"/>
        </p:nvSpPr>
        <p:spPr bwMode="auto">
          <a:xfrm>
            <a:off x="6096000" y="6337578"/>
            <a:ext cx="2916183" cy="36933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defTabSz="914400"/>
            <a:r>
              <a:rPr lang="en-US" b="1" dirty="0">
                <a:solidFill>
                  <a:srgbClr val="630000"/>
                </a:solidFill>
                <a:latin typeface="Times" pitchFamily="-64" charset="0"/>
              </a:rPr>
              <a:t>Carnegie </a:t>
            </a:r>
            <a:r>
              <a:rPr lang="en-US" b="1" dirty="0" smtClean="0">
                <a:solidFill>
                  <a:srgbClr val="630000"/>
                </a:solidFill>
                <a:latin typeface="Times" pitchFamily="-64" charset="0"/>
              </a:rPr>
              <a:t>Mellon University</a:t>
            </a:r>
            <a:endParaRPr lang="en-US" b="1" dirty="0">
              <a:solidFill>
                <a:srgbClr val="630000"/>
              </a:solidFill>
              <a:latin typeface="Times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5018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371600" y="1219200"/>
            <a:ext cx="6400800" cy="16764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/>
          <a:lstStyle>
            <a:lvl1pPr marL="0" indent="0" algn="ctr">
              <a:buFont typeface="Wingdings" pitchFamily="-64" charset="2"/>
              <a:buNone/>
              <a:defRPr sz="40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84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15174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699846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76700" cy="5141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076700" cy="51419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7976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73914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5154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9653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22190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9057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366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image" Target="../media/image5.png"/><Relationship Id="rId17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theme" Target="../theme/theme2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Relationship Id="rId15" Type="http://schemas.openxmlformats.org/officeDocument/2006/relationships/image" Target="../media/image4.png"/><Relationship Id="rId16" Type="http://schemas.openxmlformats.org/officeDocument/2006/relationships/image" Target="../media/image5.png"/><Relationship Id="rId17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3025" y="76200"/>
            <a:ext cx="74961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305800" cy="51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/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 defTabSz="914400"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55" descr="logo3"/>
          <p:cNvPicPr>
            <a:picLocks noChangeAspect="1" noChangeArrowheads="1"/>
          </p:cNvPicPr>
          <p:nvPr userDrawn="1"/>
        </p:nvPicPr>
        <p:blipFill>
          <a:blip r:embed="rId1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187325"/>
            <a:ext cx="1066800" cy="5921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81662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-64" charset="2"/>
        <a:buBlip>
          <a:blip r:embed="rId13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018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-64" charset="2"/>
        <a:buBlip>
          <a:blip r:embed="rId14"/>
        </a:buBlip>
        <a:defRPr sz="2400"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-64" charset="2"/>
        <a:buBlip>
          <a:blip r:embed="rId15"/>
        </a:buBlip>
        <a:defRPr sz="2000">
          <a:solidFill>
            <a:schemeClr val="tx1"/>
          </a:solidFill>
          <a:latin typeface="+mn-lt"/>
        </a:defRPr>
      </a:lvl3pPr>
      <a:lvl4pPr marL="1546225" indent="-17462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-64" charset="2"/>
        <a:buBlip>
          <a:blip r:embed="rId16"/>
        </a:buBlip>
        <a:defRPr>
          <a:solidFill>
            <a:schemeClr val="tx1"/>
          </a:solidFill>
          <a:latin typeface="+mn-lt"/>
        </a:defRPr>
      </a:lvl4pPr>
      <a:lvl5pPr marL="19954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5pPr>
      <a:lvl6pPr marL="24526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6pPr>
      <a:lvl7pPr marL="29098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7pPr>
      <a:lvl8pPr marL="33670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8pPr>
      <a:lvl9pPr marL="38242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43025" y="76200"/>
            <a:ext cx="74961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305800" cy="51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pPr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 defTabSz="914400"/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 defTabSz="914400"/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 defTabSz="914400"/>
              <a:t>‹#›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Picture 55" descr="logo3"/>
          <p:cNvPicPr>
            <a:picLocks noChangeAspect="1" noChangeArrowheads="1"/>
          </p:cNvPicPr>
          <p:nvPr userDrawn="1"/>
        </p:nvPicPr>
        <p:blipFill>
          <a:blip r:embed="rId1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200" y="187325"/>
            <a:ext cx="1066800" cy="5921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99291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-6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-64" charset="2"/>
        <a:buBlip>
          <a:blip r:embed="rId13"/>
        </a:buBlip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7388" indent="-230188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-64" charset="2"/>
        <a:buBlip>
          <a:blip r:embed="rId14"/>
        </a:buBlip>
        <a:defRPr sz="2400">
          <a:solidFill>
            <a:schemeClr val="tx1"/>
          </a:solidFill>
          <a:latin typeface="+mn-lt"/>
        </a:defRPr>
      </a:lvl2pPr>
      <a:lvl3pPr marL="1089025" indent="-174625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-64" charset="2"/>
        <a:buBlip>
          <a:blip r:embed="rId15"/>
        </a:buBlip>
        <a:defRPr sz="2000">
          <a:solidFill>
            <a:schemeClr val="tx1"/>
          </a:solidFill>
          <a:latin typeface="+mn-lt"/>
        </a:defRPr>
      </a:lvl3pPr>
      <a:lvl4pPr marL="1546225" indent="-174625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-64" charset="2"/>
        <a:buBlip>
          <a:blip r:embed="rId16"/>
        </a:buBlip>
        <a:defRPr>
          <a:solidFill>
            <a:schemeClr val="tx1"/>
          </a:solidFill>
          <a:latin typeface="+mn-lt"/>
        </a:defRPr>
      </a:lvl4pPr>
      <a:lvl5pPr marL="19954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5pPr>
      <a:lvl6pPr marL="24526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6pPr>
      <a:lvl7pPr marL="29098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7pPr>
      <a:lvl8pPr marL="33670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8pPr>
      <a:lvl9pPr marL="3824288" indent="-16668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5000"/>
        <a:buFont typeface="Wingdings" pitchFamily="-64" charset="2"/>
        <a:buBlip>
          <a:blip r:embed="rId17"/>
        </a:buBlip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4" Type="http://schemas.openxmlformats.org/officeDocument/2006/relationships/image" Target="../media/image10.png"/><Relationship Id="rId5" Type="http://schemas.openxmlformats.org/officeDocument/2006/relationships/image" Target="../media/image11.jpeg"/><Relationship Id="rId6" Type="http://schemas.openxmlformats.org/officeDocument/2006/relationships/image" Target="../media/image12.jpeg"/><Relationship Id="rId7" Type="http://schemas.openxmlformats.org/officeDocument/2006/relationships/image" Target="../media/image13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16.jpe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1" Type="http://schemas.openxmlformats.org/officeDocument/2006/relationships/tags" Target="../tags/tag1.xml"/><Relationship Id="rId2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png"/><Relationship Id="rId1" Type="http://schemas.openxmlformats.org/officeDocument/2006/relationships/tags" Target="../tags/tag2.xml"/><Relationship Id="rId2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2.jpeg"/><Relationship Id="rId12" Type="http://schemas.openxmlformats.org/officeDocument/2006/relationships/image" Target="../media/image33.jpeg"/><Relationship Id="rId13" Type="http://schemas.openxmlformats.org/officeDocument/2006/relationships/image" Target="../media/image34.jpeg"/><Relationship Id="rId14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image" Target="../media/image27.jpeg"/><Relationship Id="rId7" Type="http://schemas.openxmlformats.org/officeDocument/2006/relationships/image" Target="../media/image28.jpeg"/><Relationship Id="rId8" Type="http://schemas.openxmlformats.org/officeDocument/2006/relationships/image" Target="../media/image29.jpeg"/><Relationship Id="rId9" Type="http://schemas.openxmlformats.org/officeDocument/2006/relationships/image" Target="../media/image30.jpeg"/><Relationship Id="rId10" Type="http://schemas.openxmlformats.org/officeDocument/2006/relationships/image" Target="../media/image31.jpeg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2.jpeg"/><Relationship Id="rId12" Type="http://schemas.openxmlformats.org/officeDocument/2006/relationships/image" Target="../media/image33.jpeg"/><Relationship Id="rId13" Type="http://schemas.openxmlformats.org/officeDocument/2006/relationships/image" Target="../media/image34.jpeg"/><Relationship Id="rId14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jpeg"/><Relationship Id="rId4" Type="http://schemas.openxmlformats.org/officeDocument/2006/relationships/image" Target="../media/image25.jpeg"/><Relationship Id="rId5" Type="http://schemas.openxmlformats.org/officeDocument/2006/relationships/image" Target="../media/image26.jpeg"/><Relationship Id="rId6" Type="http://schemas.openxmlformats.org/officeDocument/2006/relationships/image" Target="../media/image27.jpeg"/><Relationship Id="rId7" Type="http://schemas.openxmlformats.org/officeDocument/2006/relationships/image" Target="../media/image28.jpeg"/><Relationship Id="rId8" Type="http://schemas.openxmlformats.org/officeDocument/2006/relationships/image" Target="../media/image29.jpeg"/><Relationship Id="rId9" Type="http://schemas.openxmlformats.org/officeDocument/2006/relationships/image" Target="../media/image30.jpeg"/><Relationship Id="rId10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4" Type="http://schemas.openxmlformats.org/officeDocument/2006/relationships/image" Target="../media/image26.jpeg"/><Relationship Id="rId5" Type="http://schemas.openxmlformats.org/officeDocument/2006/relationships/image" Target="../media/image29.jpeg"/><Relationship Id="rId6" Type="http://schemas.openxmlformats.org/officeDocument/2006/relationships/image" Target="../media/image30.jpeg"/><Relationship Id="rId7" Type="http://schemas.openxmlformats.org/officeDocument/2006/relationships/image" Target="../media/image32.jpeg"/><Relationship Id="rId8" Type="http://schemas.openxmlformats.org/officeDocument/2006/relationships/image" Target="../media/image33.jpeg"/><Relationship Id="rId9" Type="http://schemas.openxmlformats.org/officeDocument/2006/relationships/image" Target="../media/image34.jpeg"/><Relationship Id="rId10" Type="http://schemas.openxmlformats.org/officeDocument/2006/relationships/image" Target="../media/image35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4" Type="http://schemas.openxmlformats.org/officeDocument/2006/relationships/image" Target="../media/image30.jpeg"/><Relationship Id="rId5" Type="http://schemas.openxmlformats.org/officeDocument/2006/relationships/image" Target="../media/image33.jpeg"/><Relationship Id="rId6" Type="http://schemas.openxmlformats.org/officeDocument/2006/relationships/image" Target="../media/image34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37.jpeg"/><Relationship Id="rId5" Type="http://schemas.openxmlformats.org/officeDocument/2006/relationships/image" Target="../media/image38.png"/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4" Type="http://schemas.openxmlformats.org/officeDocument/2006/relationships/image" Target="../media/image40.jpeg"/><Relationship Id="rId5" Type="http://schemas.openxmlformats.org/officeDocument/2006/relationships/image" Target="../media/image41.jpeg"/><Relationship Id="rId6" Type="http://schemas.openxmlformats.org/officeDocument/2006/relationships/image" Target="../media/image42.jpeg"/><Relationship Id="rId7" Type="http://schemas.openxmlformats.org/officeDocument/2006/relationships/image" Target="../media/image43.jpeg"/><Relationship Id="rId8" Type="http://schemas.openxmlformats.org/officeDocument/2006/relationships/image" Target="../media/image44.jpeg"/><Relationship Id="rId9" Type="http://schemas.openxmlformats.org/officeDocument/2006/relationships/image" Target="../media/image45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4" Type="http://schemas.openxmlformats.org/officeDocument/2006/relationships/image" Target="../media/image40.jpeg"/><Relationship Id="rId5" Type="http://schemas.openxmlformats.org/officeDocument/2006/relationships/image" Target="../media/image41.jpeg"/><Relationship Id="rId6" Type="http://schemas.openxmlformats.org/officeDocument/2006/relationships/image" Target="../media/image42.jpeg"/><Relationship Id="rId7" Type="http://schemas.openxmlformats.org/officeDocument/2006/relationships/image" Target="../media/image43.jpeg"/><Relationship Id="rId8" Type="http://schemas.openxmlformats.org/officeDocument/2006/relationships/image" Target="../media/image44.jpeg"/><Relationship Id="rId9" Type="http://schemas.openxmlformats.org/officeDocument/2006/relationships/image" Target="../media/image45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g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Relationship Id="rId5" Type="http://schemas.openxmlformats.org/officeDocument/2006/relationships/oleObject" Target="../embeddings/oleObject1.bin"/><Relationship Id="rId6" Type="http://schemas.openxmlformats.org/officeDocument/2006/relationships/image" Target="../media/image49.emf"/><Relationship Id="rId1" Type="http://schemas.openxmlformats.org/officeDocument/2006/relationships/vmlDrawing" Target="../drawings/vmlDrawing1.vml"/><Relationship Id="rId2" Type="http://schemas.openxmlformats.org/officeDocument/2006/relationships/tags" Target="../tags/tag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video" Target="file://localhost/Users/yuchenglow/Dropbox/ylow/updates.avi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0.xml"/><Relationship Id="rId6" Type="http://schemas.openxmlformats.org/officeDocument/2006/relationships/image" Target="../media/image52.jpeg"/><Relationship Id="rId7" Type="http://schemas.openxmlformats.org/officeDocument/2006/relationships/image" Target="../media/image53.png"/><Relationship Id="rId1" Type="http://schemas.openxmlformats.org/officeDocument/2006/relationships/tags" Target="../tags/tag6.xml"/><Relationship Id="rId2" Type="http://schemas.microsoft.com/office/2007/relationships/media" Target="file://localhost/Users/yuchenglow/Dropbox/ylow/updates.avi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54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4" Type="http://schemas.microsoft.com/office/2007/relationships/hdphoto" Target="../media/hdphoto1.wdp"/><Relationship Id="rId5" Type="http://schemas.openxmlformats.org/officeDocument/2006/relationships/image" Target="../media/image56.png"/><Relationship Id="rId6" Type="http://schemas.microsoft.com/office/2007/relationships/hdphoto" Target="../media/hdphoto2.wdp"/><Relationship Id="rId7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54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54.emf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4" Type="http://schemas.openxmlformats.org/officeDocument/2006/relationships/chart" Target="../charts/chart2.xml"/><Relationship Id="rId1" Type="http://schemas.openxmlformats.org/officeDocument/2006/relationships/tags" Target="../tags/tag8.xml"/><Relationship Id="rId2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4" Type="http://schemas.openxmlformats.org/officeDocument/2006/relationships/image" Target="../media/image59.emf"/><Relationship Id="rId5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1.emf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2.e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7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jpe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1.e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1.e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2.jpe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3.e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74.png"/><Relationship Id="rId3" Type="http://schemas.openxmlformats.org/officeDocument/2006/relationships/image" Target="../media/image46.gif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3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5783" y="2689225"/>
            <a:ext cx="6400800" cy="838200"/>
          </a:xfrm>
        </p:spPr>
        <p:txBody>
          <a:bodyPr/>
          <a:lstStyle/>
          <a:p>
            <a:r>
              <a:rPr lang="en-US" sz="3600" dirty="0" smtClean="0"/>
              <a:t>Yucheng Low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2243716" y="4052866"/>
            <a:ext cx="914400" cy="2056031"/>
            <a:chOff x="3013219" y="4267200"/>
            <a:chExt cx="914400" cy="2056031"/>
          </a:xfrm>
        </p:grpSpPr>
        <p:pic>
          <p:nvPicPr>
            <p:cNvPr id="1027" name="Picture 3" descr="Z:\Documents\svn\select\www\people\images\aapo.jpg"/>
            <p:cNvPicPr>
              <a:picLocks noChangeAspect="1" noChangeArrowheads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3219" y="4267200"/>
              <a:ext cx="914400" cy="1371600"/>
            </a:xfrm>
            <a:prstGeom prst="rect">
              <a:avLst/>
            </a:prstGeom>
            <a:noFill/>
          </p:spPr>
        </p:pic>
        <p:sp>
          <p:nvSpPr>
            <p:cNvPr id="12" name="TextBox 11"/>
            <p:cNvSpPr txBox="1"/>
            <p:nvPr/>
          </p:nvSpPr>
          <p:spPr>
            <a:xfrm>
              <a:off x="3096675" y="5676900"/>
              <a:ext cx="7612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Aapo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  <a:p>
              <a:pPr algn="ctr" defTabSz="914400"/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Kyrola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925810" y="4052866"/>
            <a:ext cx="916858" cy="2056031"/>
            <a:chOff x="5179142" y="4267200"/>
            <a:chExt cx="916858" cy="2056031"/>
          </a:xfrm>
        </p:grpSpPr>
        <p:pic>
          <p:nvPicPr>
            <p:cNvPr id="1028" name="Picture 4" descr="Z:\Documents\svn\select\www\people\images\bickson.jpg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9142" y="4267200"/>
              <a:ext cx="903642" cy="1371600"/>
            </a:xfrm>
            <a:prstGeom prst="rect">
              <a:avLst/>
            </a:prstGeom>
            <a:noFill/>
          </p:spPr>
        </p:pic>
        <p:sp>
          <p:nvSpPr>
            <p:cNvPr id="13" name="TextBox 12"/>
            <p:cNvSpPr txBox="1"/>
            <p:nvPr/>
          </p:nvSpPr>
          <p:spPr>
            <a:xfrm>
              <a:off x="5200113" y="5676900"/>
              <a:ext cx="89588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Danny</a:t>
              </a:r>
            </a:p>
            <a:p>
              <a:pPr algn="ctr" defTabSz="914400"/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Bickson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5510" y="1828800"/>
            <a:ext cx="883916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/>
              <a:t>A Framework for Machine Learning and Data Mining in the Cloud </a:t>
            </a:r>
            <a:endParaRPr lang="en-US" sz="25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441965" y="4052866"/>
            <a:ext cx="1034057" cy="2056031"/>
            <a:chOff x="1546672" y="4267200"/>
            <a:chExt cx="1034057" cy="2056031"/>
          </a:xfrm>
        </p:grpSpPr>
        <p:sp>
          <p:nvSpPr>
            <p:cNvPr id="30" name="TextBox 29"/>
            <p:cNvSpPr txBox="1"/>
            <p:nvPr/>
          </p:nvSpPr>
          <p:spPr>
            <a:xfrm>
              <a:off x="1546672" y="5676900"/>
              <a:ext cx="103405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Joseph</a:t>
              </a:r>
            </a:p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Gonzalez</a:t>
              </a: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63769" y="4267200"/>
              <a:ext cx="999862" cy="1371600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5610362" y="4052866"/>
            <a:ext cx="1020762" cy="2056031"/>
            <a:chOff x="3322638" y="4343400"/>
            <a:chExt cx="1020762" cy="2056031"/>
          </a:xfrm>
        </p:grpSpPr>
        <p:pic>
          <p:nvPicPr>
            <p:cNvPr id="22" name="Picture 5" descr="Z:\Documents\svn\select\www\people\images\guestrin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2638" y="4343400"/>
              <a:ext cx="1020762" cy="1371600"/>
            </a:xfrm>
            <a:prstGeom prst="rect">
              <a:avLst/>
            </a:prstGeom>
            <a:noFill/>
          </p:spPr>
        </p:pic>
        <p:sp>
          <p:nvSpPr>
            <p:cNvPr id="24" name="TextBox 23"/>
            <p:cNvSpPr txBox="1"/>
            <p:nvPr/>
          </p:nvSpPr>
          <p:spPr>
            <a:xfrm>
              <a:off x="3347931" y="5753100"/>
              <a:ext cx="9868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Carlos</a:t>
              </a:r>
            </a:p>
            <a:p>
              <a:pPr algn="ctr"/>
              <a:r>
                <a:rPr lang="en-US" dirty="0" err="1" smtClean="0"/>
                <a:t>Guestrin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7398818" y="4052866"/>
            <a:ext cx="1193533" cy="2056031"/>
            <a:chOff x="6610730" y="4343400"/>
            <a:chExt cx="1193533" cy="2056031"/>
          </a:xfrm>
        </p:grpSpPr>
        <p:pic>
          <p:nvPicPr>
            <p:cNvPr id="23" name="Picture 11" descr="http://blog.swivel.com/photos/uncategorized/2007/06/18/jmhcas.jpg"/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9121" y="4343400"/>
              <a:ext cx="1116992" cy="1371600"/>
            </a:xfrm>
            <a:prstGeom prst="rect">
              <a:avLst/>
            </a:prstGeom>
            <a:noFill/>
          </p:spPr>
        </p:pic>
        <p:sp>
          <p:nvSpPr>
            <p:cNvPr id="25" name="TextBox 24"/>
            <p:cNvSpPr txBox="1"/>
            <p:nvPr/>
          </p:nvSpPr>
          <p:spPr>
            <a:xfrm>
              <a:off x="6610730" y="5753100"/>
              <a:ext cx="11935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/>
                <a:t>Joe</a:t>
              </a:r>
            </a:p>
            <a:p>
              <a:pPr algn="ctr"/>
              <a:r>
                <a:rPr lang="en-US" dirty="0" err="1" smtClean="0"/>
                <a:t>Hellerstein</a:t>
              </a:r>
              <a:endParaRPr lang="en-US" dirty="0"/>
            </a:p>
          </p:txBody>
        </p: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8150" y="115423"/>
            <a:ext cx="5021512" cy="171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83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8587" y="151150"/>
            <a:ext cx="7496175" cy="762000"/>
          </a:xfrm>
        </p:spPr>
        <p:txBody>
          <a:bodyPr/>
          <a:lstStyle/>
          <a:p>
            <a:r>
              <a:rPr lang="en-US" dirty="0" smtClean="0"/>
              <a:t>Big Data is Everywhere</a:t>
            </a:r>
            <a:endParaRPr lang="en-US" dirty="0"/>
          </a:p>
        </p:txBody>
      </p:sp>
      <p:grpSp>
        <p:nvGrpSpPr>
          <p:cNvPr id="24" name="Group 23"/>
          <p:cNvGrpSpPr/>
          <p:nvPr/>
        </p:nvGrpSpPr>
        <p:grpSpPr>
          <a:xfrm>
            <a:off x="6714768" y="1430028"/>
            <a:ext cx="1928420" cy="1534161"/>
            <a:chOff x="4942911" y="4410075"/>
            <a:chExt cx="2519002" cy="2003998"/>
          </a:xfrm>
        </p:grpSpPr>
        <p:pic>
          <p:nvPicPr>
            <p:cNvPr id="129042" name="Picture 18" descr="http://www.textually.org/tv/archives/2010/07/30/youtube-logo(2).jpe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1600" y="4410075"/>
              <a:ext cx="1953414" cy="1381125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4942911" y="5569803"/>
              <a:ext cx="2519002" cy="844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72 Hours 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a Minute</a:t>
              </a:r>
            </a:p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YouTube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480877" y="1258669"/>
            <a:ext cx="1723549" cy="1876878"/>
            <a:chOff x="593567" y="1135797"/>
            <a:chExt cx="2251390" cy="2451674"/>
          </a:xfrm>
        </p:grpSpPr>
        <p:sp>
          <p:nvSpPr>
            <p:cNvPr id="4" name="TextBox 3"/>
            <p:cNvSpPr txBox="1"/>
            <p:nvPr/>
          </p:nvSpPr>
          <p:spPr>
            <a:xfrm>
              <a:off x="593567" y="2743200"/>
              <a:ext cx="2251390" cy="8442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28 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Million </a:t>
              </a:r>
            </a:p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Wikipedia Pages</a:t>
              </a:r>
            </a:p>
          </p:txBody>
        </p:sp>
        <p:pic>
          <p:nvPicPr>
            <p:cNvPr id="129026" name="Picture 2" descr="http://www.bioteams.com/images/wikipedia_as_a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135797"/>
              <a:ext cx="1600200" cy="1600200"/>
            </a:xfrm>
            <a:prstGeom prst="rect">
              <a:avLst/>
            </a:prstGeom>
            <a:noFill/>
          </p:spPr>
        </p:pic>
      </p:grpSp>
      <p:grpSp>
        <p:nvGrpSpPr>
          <p:cNvPr id="19" name="Group 18"/>
          <p:cNvGrpSpPr/>
          <p:nvPr/>
        </p:nvGrpSpPr>
        <p:grpSpPr>
          <a:xfrm>
            <a:off x="4537045" y="1465599"/>
            <a:ext cx="1802372" cy="1463018"/>
            <a:chOff x="3436848" y="1676400"/>
            <a:chExt cx="2354352" cy="1911069"/>
          </a:xfrm>
        </p:grpSpPr>
        <p:sp>
          <p:nvSpPr>
            <p:cNvPr id="6" name="TextBox 5"/>
            <p:cNvSpPr txBox="1"/>
            <p:nvPr/>
          </p:nvSpPr>
          <p:spPr>
            <a:xfrm>
              <a:off x="3489480" y="2743199"/>
              <a:ext cx="2167861" cy="844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 smtClean="0">
                  <a:solidFill>
                    <a:prstClr val="black"/>
                  </a:solidFill>
                  <a:latin typeface="Calibri"/>
                </a:rPr>
                <a:t>900 Million</a:t>
              </a:r>
              <a:endParaRPr lang="en-US" dirty="0">
                <a:solidFill>
                  <a:prstClr val="black"/>
                </a:solidFill>
                <a:latin typeface="Calibri"/>
              </a:endParaRPr>
            </a:p>
            <a:p>
              <a:pPr algn="ctr" defTabSz="914400"/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Facebook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Users</a:t>
              </a:r>
            </a:p>
          </p:txBody>
        </p:sp>
        <p:pic>
          <p:nvPicPr>
            <p:cNvPr id="129032" name="Picture 8" descr="http://jchutchins.net/site/wp-content/uploads/2009/06/facebook-logo.jpg"/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6848" y="1676400"/>
              <a:ext cx="2354352" cy="885825"/>
            </a:xfrm>
            <a:prstGeom prst="rect">
              <a:avLst/>
            </a:prstGeom>
            <a:noFill/>
          </p:spPr>
        </p:pic>
      </p:grpSp>
      <p:grpSp>
        <p:nvGrpSpPr>
          <p:cNvPr id="18" name="Group 17"/>
          <p:cNvGrpSpPr/>
          <p:nvPr/>
        </p:nvGrpSpPr>
        <p:grpSpPr>
          <a:xfrm>
            <a:off x="381000" y="1492008"/>
            <a:ext cx="1771922" cy="1410199"/>
            <a:chOff x="6172200" y="1752600"/>
            <a:chExt cx="2314575" cy="1842073"/>
          </a:xfrm>
        </p:grpSpPr>
        <p:sp>
          <p:nvSpPr>
            <p:cNvPr id="5" name="TextBox 4"/>
            <p:cNvSpPr txBox="1"/>
            <p:nvPr/>
          </p:nvSpPr>
          <p:spPr>
            <a:xfrm>
              <a:off x="6461746" y="2750403"/>
              <a:ext cx="1807149" cy="8442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dirty="0">
                  <a:solidFill>
                    <a:prstClr val="black"/>
                  </a:solidFill>
                  <a:latin typeface="Calibri"/>
                </a:rPr>
                <a:t>6 Billion </a:t>
              </a:r>
            </a:p>
            <a:p>
              <a:pPr algn="ctr" defTabSz="914400"/>
              <a:r>
                <a:rPr lang="en-US" dirty="0" err="1">
                  <a:solidFill>
                    <a:prstClr val="black"/>
                  </a:solidFill>
                  <a:latin typeface="Calibri"/>
                </a:rPr>
                <a:t>Flickr</a:t>
              </a:r>
              <a:r>
                <a:rPr lang="en-US" dirty="0">
                  <a:solidFill>
                    <a:prstClr val="black"/>
                  </a:solidFill>
                  <a:latin typeface="Calibri"/>
                </a:rPr>
                <a:t> Photos</a:t>
              </a:r>
            </a:p>
          </p:txBody>
        </p:sp>
        <p:pic>
          <p:nvPicPr>
            <p:cNvPr id="129036" name="Picture 12" descr="Flickr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172200" y="1752600"/>
              <a:ext cx="2314575" cy="914400"/>
            </a:xfrm>
            <a:prstGeom prst="rect">
              <a:avLst/>
            </a:prstGeom>
            <a:noFill/>
          </p:spPr>
        </p:pic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473764" y="4241800"/>
            <a:ext cx="8169424" cy="2082800"/>
            <a:chOff x="473764" y="4241800"/>
            <a:chExt cx="8169424" cy="2082800"/>
          </a:xfrm>
        </p:grpSpPr>
        <p:grpSp>
          <p:nvGrpSpPr>
            <p:cNvPr id="10" name="Group 9"/>
            <p:cNvGrpSpPr/>
            <p:nvPr/>
          </p:nvGrpSpPr>
          <p:grpSpPr>
            <a:xfrm>
              <a:off x="473764" y="4241800"/>
              <a:ext cx="8126562" cy="2082800"/>
              <a:chOff x="1169838" y="3962400"/>
              <a:chExt cx="8126562" cy="2082800"/>
            </a:xfrm>
          </p:grpSpPr>
          <p:pic>
            <p:nvPicPr>
              <p:cNvPr id="7" name="Picture 6" descr="Screen Shot 2012-02-13 at 12.12.48 AM.png"/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69838" y="3962400"/>
                <a:ext cx="2868762" cy="2082800"/>
              </a:xfrm>
              <a:prstGeom prst="rect">
                <a:avLst/>
              </a:prstGeom>
            </p:spPr>
          </p:pic>
          <p:sp>
            <p:nvSpPr>
              <p:cNvPr id="9" name="Rectangle 8"/>
              <p:cNvSpPr/>
              <p:nvPr/>
            </p:nvSpPr>
            <p:spPr>
              <a:xfrm>
                <a:off x="4217838" y="5067300"/>
                <a:ext cx="507856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914400"/>
                <a:r>
                  <a:rPr lang="en-US" sz="2400" dirty="0">
                    <a:solidFill>
                      <a:prstClr val="black"/>
                    </a:solidFill>
                    <a:latin typeface="Calibri"/>
                  </a:rPr>
                  <a:t>“… data a new class of economic asset, like currency or gold.”</a:t>
                </a:r>
              </a:p>
            </p:txBody>
          </p:sp>
        </p:grpSp>
        <p:sp>
          <p:nvSpPr>
            <p:cNvPr id="21" name="Rectangle 20"/>
            <p:cNvSpPr/>
            <p:nvPr/>
          </p:nvSpPr>
          <p:spPr>
            <a:xfrm>
              <a:off x="3564626" y="4472632"/>
              <a:ext cx="507856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4400"/>
              <a:r>
                <a:rPr lang="en-US" sz="2400" dirty="0" smtClean="0">
                  <a:solidFill>
                    <a:prstClr val="black"/>
                  </a:solidFill>
                  <a:latin typeface="Calibri"/>
                </a:rPr>
                <a:t>“…</a:t>
              </a:r>
              <a:r>
                <a:rPr lang="en-US" sz="2400" dirty="0" smtClean="0"/>
                <a:t>growing </a:t>
              </a:r>
              <a:r>
                <a:rPr lang="en-US" sz="2400" dirty="0"/>
                <a:t>at 50 percent a </a:t>
              </a:r>
              <a:r>
                <a:rPr lang="en-US" sz="2400" dirty="0" smtClean="0"/>
                <a:t>year</a:t>
              </a:r>
              <a:r>
                <a:rPr lang="en-US" sz="2400" dirty="0" smtClean="0">
                  <a:solidFill>
                    <a:prstClr val="black"/>
                  </a:solidFill>
                  <a:latin typeface="Calibri"/>
                </a:rPr>
                <a:t>…”</a:t>
              </a:r>
              <a:endParaRPr lang="en-US" sz="2400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07668618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609600" y="2438400"/>
            <a:ext cx="7772400" cy="3124200"/>
          </a:xfrm>
        </p:spPr>
        <p:txBody>
          <a:bodyPr>
            <a:noAutofit/>
          </a:bodyPr>
          <a:lstStyle/>
          <a:p>
            <a:pPr algn="ctr"/>
            <a:r>
              <a:rPr lang="en-US" sz="4800" dirty="0" smtClean="0">
                <a:solidFill>
                  <a:schemeClr val="tx1"/>
                </a:solidFill>
              </a:rPr>
              <a:t>How will we</a:t>
            </a:r>
            <a:br>
              <a:rPr lang="en-US" sz="4800" dirty="0" smtClean="0">
                <a:solidFill>
                  <a:schemeClr val="tx1"/>
                </a:solidFill>
              </a:rPr>
            </a:br>
            <a:r>
              <a:rPr lang="en-US" sz="4800" b="1" dirty="0" smtClean="0">
                <a:solidFill>
                  <a:schemeClr val="tx1"/>
                </a:solidFill>
              </a:rPr>
              <a:t>design</a:t>
            </a:r>
            <a:r>
              <a:rPr lang="en-US" sz="4800" dirty="0" smtClean="0">
                <a:solidFill>
                  <a:schemeClr val="tx1"/>
                </a:solidFill>
              </a:rPr>
              <a:t> and </a:t>
            </a:r>
            <a:r>
              <a:rPr lang="en-US" sz="4800" b="1" dirty="0" smtClean="0">
                <a:solidFill>
                  <a:schemeClr val="tx1"/>
                </a:solidFill>
              </a:rPr>
              <a:t>implement</a:t>
            </a:r>
            <a:r>
              <a:rPr lang="en-US" sz="4800" dirty="0" smtClean="0">
                <a:solidFill>
                  <a:schemeClr val="tx1"/>
                </a:solidFill>
              </a:rPr>
              <a:t> </a:t>
            </a:r>
            <a:br>
              <a:rPr lang="en-US" sz="4800" dirty="0" smtClean="0">
                <a:solidFill>
                  <a:schemeClr val="tx1"/>
                </a:solidFill>
              </a:rPr>
            </a:br>
            <a:r>
              <a:rPr lang="en-US" sz="4800" i="1" dirty="0" smtClean="0">
                <a:solidFill>
                  <a:schemeClr val="tx1"/>
                </a:solidFill>
              </a:rPr>
              <a:t>Big </a:t>
            </a:r>
            <a:r>
              <a:rPr lang="en-US" sz="4800" dirty="0" smtClean="0">
                <a:solidFill>
                  <a:schemeClr val="tx1"/>
                </a:solidFill>
              </a:rPr>
              <a:t>learning systems?</a:t>
            </a:r>
            <a:br>
              <a:rPr lang="en-US" sz="4800" dirty="0" smtClean="0">
                <a:solidFill>
                  <a:schemeClr val="tx1"/>
                </a:solidFill>
              </a:rPr>
            </a:br>
            <a:endParaRPr lang="en-US" sz="4800" dirty="0"/>
          </a:p>
        </p:txBody>
      </p:sp>
      <p:sp>
        <p:nvSpPr>
          <p:cNvPr id="4" name="TextBox 3"/>
          <p:cNvSpPr txBox="1"/>
          <p:nvPr/>
        </p:nvSpPr>
        <p:spPr>
          <a:xfrm>
            <a:off x="2165804" y="457200"/>
            <a:ext cx="47706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7200" dirty="0">
                <a:solidFill>
                  <a:srgbClr val="1F497D"/>
                </a:solidFill>
                <a:latin typeface="Calibri"/>
              </a:rPr>
              <a:t>Big Learning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097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76200"/>
            <a:ext cx="7800975" cy="762000"/>
          </a:xfrm>
        </p:spPr>
        <p:txBody>
          <a:bodyPr/>
          <a:lstStyle/>
          <a:p>
            <a:r>
              <a:rPr lang="en-US" sz="3800" dirty="0" smtClean="0"/>
              <a:t>Shift Towards Use Of Parallelism in ML</a:t>
            </a:r>
            <a:endParaRPr lang="en-US" sz="3800" dirty="0"/>
          </a:p>
        </p:txBody>
      </p:sp>
      <p:grpSp>
        <p:nvGrpSpPr>
          <p:cNvPr id="4" name="Group 3"/>
          <p:cNvGrpSpPr/>
          <p:nvPr/>
        </p:nvGrpSpPr>
        <p:grpSpPr>
          <a:xfrm>
            <a:off x="151099" y="952440"/>
            <a:ext cx="8992901" cy="1943160"/>
            <a:chOff x="151099" y="2114549"/>
            <a:chExt cx="8992901" cy="1943160"/>
          </a:xfrm>
        </p:grpSpPr>
        <p:pic>
          <p:nvPicPr>
            <p:cNvPr id="126978" name="Picture 2" descr="http://www.nvidia.com/docs/IO/56076/GeForce_GTX_280_3qtr.jpg"/>
            <p:cNvPicPr>
              <a:picLocks noChangeAspect="1" noChangeArrowheads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099" y="2593999"/>
              <a:ext cx="1447800" cy="987400"/>
            </a:xfrm>
            <a:prstGeom prst="rect">
              <a:avLst/>
            </a:prstGeom>
            <a:noFill/>
          </p:spPr>
        </p:pic>
        <p:pic>
          <p:nvPicPr>
            <p:cNvPr id="126980" name="Picture 4" descr="http://benchmarkreviews.com/images/reviews/processor/Intel_Core_i7/Intel_Nehalem_Die_Callout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2184" y="2724148"/>
              <a:ext cx="1360715" cy="857251"/>
            </a:xfrm>
            <a:prstGeom prst="rect">
              <a:avLst/>
            </a:prstGeom>
            <a:noFill/>
          </p:spPr>
        </p:pic>
        <p:pic>
          <p:nvPicPr>
            <p:cNvPr id="126982" name="Picture 6" descr="http://tampabaytechs.net/images/server_rack.jpg"/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7699" y="2114549"/>
              <a:ext cx="1249045" cy="1466850"/>
            </a:xfrm>
            <a:prstGeom prst="rect">
              <a:avLst/>
            </a:prstGeom>
            <a:noFill/>
          </p:spPr>
        </p:pic>
        <p:pic>
          <p:nvPicPr>
            <p:cNvPr id="126990" name="Picture 14" descr="http://files.wizardstower.co.uk/wordpress/wp-content/uploads/2008/11/amazon_aws_logo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4986413" y="2593999"/>
              <a:ext cx="2133600" cy="867664"/>
            </a:xfrm>
            <a:prstGeom prst="rect">
              <a:avLst/>
            </a:prstGeom>
            <a:noFill/>
          </p:spPr>
        </p:pic>
        <p:sp>
          <p:nvSpPr>
            <p:cNvPr id="10" name="TextBox 9"/>
            <p:cNvSpPr txBox="1"/>
            <p:nvPr/>
          </p:nvSpPr>
          <p:spPr>
            <a:xfrm>
              <a:off x="379093" y="3657599"/>
              <a:ext cx="7457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333399"/>
                  </a:solidFill>
                  <a:latin typeface="Tahoma" pitchFamily="34" charset="0"/>
                  <a:ea typeface="ＭＳ Ｐゴシック"/>
                  <a:cs typeface="ＭＳ Ｐゴシック"/>
                </a:rPr>
                <a:t>GPUs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873852" y="3657599"/>
              <a:ext cx="12002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err="1">
                  <a:solidFill>
                    <a:srgbClr val="333399"/>
                  </a:solidFill>
                  <a:latin typeface="Tahoma" pitchFamily="34" charset="0"/>
                  <a:ea typeface="ＭＳ Ｐゴシック"/>
                  <a:cs typeface="ＭＳ Ｐゴシック"/>
                </a:rPr>
                <a:t>Multicore</a:t>
              </a:r>
              <a:endParaRPr lang="en-US" sz="2000" dirty="0">
                <a:solidFill>
                  <a:srgbClr val="333399"/>
                </a:solidFill>
                <a:latin typeface="Tahoma" pitchFamily="34" charset="0"/>
                <a:ea typeface="ＭＳ Ｐゴシック"/>
                <a:cs typeface="ＭＳ Ｐゴシック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80099" y="3657599"/>
              <a:ext cx="10114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333399"/>
                  </a:solidFill>
                  <a:latin typeface="Tahoma" pitchFamily="34" charset="0"/>
                  <a:ea typeface="ＭＳ Ｐゴシック"/>
                  <a:cs typeface="ＭＳ Ｐゴシック"/>
                </a:rPr>
                <a:t>Clusters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01621" y="3657599"/>
              <a:ext cx="9358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333399"/>
                  </a:solidFill>
                  <a:latin typeface="Tahoma" pitchFamily="34" charset="0"/>
                  <a:ea typeface="ＭＳ Ｐゴシック"/>
                  <a:cs typeface="ＭＳ Ｐゴシック"/>
                </a:rPr>
                <a:t>Clouds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20013" y="3657599"/>
              <a:ext cx="20239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>
                  <a:solidFill>
                    <a:srgbClr val="333399"/>
                  </a:solidFill>
                  <a:latin typeface="Tahoma" pitchFamily="34" charset="0"/>
                  <a:ea typeface="ＭＳ Ｐゴシック"/>
                  <a:cs typeface="ＭＳ Ｐゴシック"/>
                </a:rPr>
                <a:t>Supercomputers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362272" y="2335315"/>
              <a:ext cx="1531105" cy="1218471"/>
            </a:xfrm>
            <a:prstGeom prst="rect">
              <a:avLst/>
            </a:prstGeom>
          </p:spPr>
        </p:pic>
      </p:grp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457200" y="2989294"/>
            <a:ext cx="8305800" cy="2438400"/>
          </a:xfrm>
        </p:spPr>
        <p:txBody>
          <a:bodyPr/>
          <a:lstStyle/>
          <a:p>
            <a:r>
              <a:rPr lang="en-US" dirty="0" smtClean="0"/>
              <a:t>  ML experts   </a:t>
            </a:r>
            <a:r>
              <a:rPr lang="en-US" b="1" dirty="0" smtClean="0"/>
              <a:t>repeatedly</a:t>
            </a:r>
            <a:r>
              <a:rPr lang="en-US" dirty="0" smtClean="0"/>
              <a:t> solve the same parallel design challenges:</a:t>
            </a:r>
          </a:p>
          <a:p>
            <a:pPr lvl="1"/>
            <a:r>
              <a:rPr lang="en-US" dirty="0" smtClean="0"/>
              <a:t>Race conditions, distributed state, communication… </a:t>
            </a:r>
          </a:p>
          <a:p>
            <a:pPr>
              <a:buClr>
                <a:srgbClr val="0000FF"/>
              </a:buClr>
            </a:pPr>
            <a:r>
              <a:rPr lang="en-US" dirty="0">
                <a:solidFill>
                  <a:prstClr val="black"/>
                </a:solidFill>
              </a:rPr>
              <a:t>R</a:t>
            </a:r>
            <a:r>
              <a:rPr lang="en-US" dirty="0" smtClean="0">
                <a:solidFill>
                  <a:prstClr val="black"/>
                </a:solidFill>
              </a:rPr>
              <a:t>esulting code is very specialized:</a:t>
            </a:r>
          </a:p>
          <a:p>
            <a:pPr lvl="1">
              <a:buClr>
                <a:srgbClr val="0000FF"/>
              </a:buClr>
            </a:pPr>
            <a:r>
              <a:rPr lang="en-US" sz="2000" dirty="0">
                <a:solidFill>
                  <a:prstClr val="black"/>
                </a:solidFill>
              </a:rPr>
              <a:t>d</a:t>
            </a:r>
            <a:r>
              <a:rPr lang="en-US" sz="2000" dirty="0" smtClean="0">
                <a:solidFill>
                  <a:prstClr val="black"/>
                </a:solidFill>
              </a:rPr>
              <a:t>ifficult to maintain, extend, debug… </a:t>
            </a:r>
          </a:p>
        </p:txBody>
      </p:sp>
      <p:sp>
        <p:nvSpPr>
          <p:cNvPr id="18" name="Rectangle 17"/>
          <p:cNvSpPr/>
          <p:nvPr/>
        </p:nvSpPr>
        <p:spPr>
          <a:xfrm rot="21364725">
            <a:off x="758346" y="3050260"/>
            <a:ext cx="2047665" cy="46166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91440" rIns="0" bIns="91440">
            <a:spAutoFit/>
          </a:bodyPr>
          <a:lstStyle/>
          <a:p>
            <a:pPr defTabSz="914400"/>
            <a:r>
              <a:rPr lang="en-US" dirty="0">
                <a:solidFill>
                  <a:prstClr val="black"/>
                </a:solidFill>
                <a:latin typeface="Comic Sans MS"/>
                <a:cs typeface="Comic Sans MS"/>
              </a:rPr>
              <a:t>Graduate</a:t>
            </a:r>
            <a:r>
              <a:rPr lang="en-US" sz="1600" dirty="0">
                <a:solidFill>
                  <a:prstClr val="black"/>
                </a:solidFill>
                <a:latin typeface="Comic Sans MS"/>
                <a:cs typeface="Comic Sans MS"/>
              </a:rPr>
              <a:t> </a:t>
            </a:r>
            <a:r>
              <a:rPr lang="en-US" dirty="0">
                <a:solidFill>
                  <a:prstClr val="black"/>
                </a:solidFill>
                <a:latin typeface="Comic Sans MS"/>
                <a:cs typeface="Comic Sans MS"/>
              </a:rPr>
              <a:t>students</a:t>
            </a:r>
            <a:endParaRPr lang="en-US" sz="1600" dirty="0">
              <a:solidFill>
                <a:prstClr val="black"/>
              </a:solidFill>
              <a:latin typeface="Comic Sans MS"/>
              <a:cs typeface="Comic Sans M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5505271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/>
            <a:r>
              <a:rPr lang="en-US" sz="3600" dirty="0">
                <a:solidFill>
                  <a:prstClr val="black"/>
                </a:solidFill>
                <a:latin typeface="Calibri"/>
              </a:rPr>
              <a:t>Avoid these problems by using </a:t>
            </a:r>
          </a:p>
          <a:p>
            <a:pPr algn="ctr" defTabSz="914400"/>
            <a:r>
              <a:rPr lang="en-US" sz="3600" b="1" dirty="0">
                <a:solidFill>
                  <a:srgbClr val="FF0000"/>
                </a:solidFill>
                <a:latin typeface="Calibri"/>
              </a:rPr>
              <a:t>high-level abstractions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60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7" grpId="1" build="p"/>
      <p:bldP spid="18" grpId="0" animBg="1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263304" y="4757443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4589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276747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488905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7010635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– Map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263304" y="1363081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pic>
        <p:nvPicPr>
          <p:cNvPr id="25" name="Picture 24" descr="aapo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901" y="1464681"/>
            <a:ext cx="485339" cy="728009"/>
          </a:xfrm>
          <a:prstGeom prst="rect">
            <a:avLst/>
          </a:prstGeom>
        </p:spPr>
      </p:pic>
      <p:pic>
        <p:nvPicPr>
          <p:cNvPr id="30" name="Picture 29" descr="anton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910" y="1454346"/>
            <a:ext cx="492229" cy="738344"/>
          </a:xfrm>
          <a:prstGeom prst="rect">
            <a:avLst/>
          </a:prstGeom>
        </p:spPr>
      </p:pic>
      <p:pic>
        <p:nvPicPr>
          <p:cNvPr id="31" name="Picture 30" descr="arthur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00" y="1447800"/>
            <a:ext cx="574934" cy="728009"/>
          </a:xfrm>
          <a:prstGeom prst="rect">
            <a:avLst/>
          </a:prstGeom>
        </p:spPr>
      </p:pic>
      <p:pic>
        <p:nvPicPr>
          <p:cNvPr id="34" name="Picture 33" descr="bickson.jp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00" y="1447800"/>
            <a:ext cx="593766" cy="728009"/>
          </a:xfrm>
          <a:prstGeom prst="rect">
            <a:avLst/>
          </a:prstGeom>
        </p:spPr>
      </p:pic>
      <p:pic>
        <p:nvPicPr>
          <p:cNvPr id="36" name="Picture 35" descr="bradley.jp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309" y="1484313"/>
            <a:ext cx="536108" cy="718713"/>
          </a:xfrm>
          <a:prstGeom prst="rect">
            <a:avLst/>
          </a:prstGeom>
        </p:spPr>
      </p:pic>
      <p:pic>
        <p:nvPicPr>
          <p:cNvPr id="39" name="Picture 38" descr="dudik.jp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2516" y="1484313"/>
            <a:ext cx="599710" cy="708377"/>
          </a:xfrm>
          <a:prstGeom prst="rect">
            <a:avLst/>
          </a:prstGeom>
        </p:spPr>
      </p:pic>
      <p:pic>
        <p:nvPicPr>
          <p:cNvPr id="40" name="Picture 39" descr="funiak.jp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8325" y="1484313"/>
            <a:ext cx="638863" cy="708377"/>
          </a:xfrm>
          <a:prstGeom prst="rect">
            <a:avLst/>
          </a:prstGeom>
        </p:spPr>
      </p:pic>
      <p:pic>
        <p:nvPicPr>
          <p:cNvPr id="42" name="Picture 41" descr="gonzalez.jp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3287" y="1484313"/>
            <a:ext cx="520700" cy="728979"/>
          </a:xfrm>
          <a:prstGeom prst="rect">
            <a:avLst/>
          </a:prstGeom>
        </p:spPr>
      </p:pic>
      <p:pic>
        <p:nvPicPr>
          <p:cNvPr id="45" name="Picture 44" descr="guestrin.jpg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086" y="1484313"/>
            <a:ext cx="527184" cy="708377"/>
          </a:xfrm>
          <a:prstGeom prst="rect">
            <a:avLst/>
          </a:prstGeom>
        </p:spPr>
      </p:pic>
      <p:pic>
        <p:nvPicPr>
          <p:cNvPr id="46" name="Picture 45" descr="hong.jpg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371" y="1484313"/>
            <a:ext cx="539939" cy="728008"/>
          </a:xfrm>
          <a:prstGeom prst="rect">
            <a:avLst/>
          </a:prstGeom>
        </p:spPr>
      </p:pic>
      <p:pic>
        <p:nvPicPr>
          <p:cNvPr id="47" name="Picture 46" descr="huang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4203" y="1484313"/>
            <a:ext cx="520007" cy="728009"/>
          </a:xfrm>
          <a:prstGeom prst="rect">
            <a:avLst/>
          </a:prstGeom>
        </p:spPr>
      </p:pic>
      <p:pic>
        <p:nvPicPr>
          <p:cNvPr id="49" name="Picture 48" descr="ylow.jpg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7884" y="1484313"/>
            <a:ext cx="560220" cy="70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36030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263304" y="4757443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4589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276747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488905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7010635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– Map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263304" y="1363081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3304" y="5702306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Embarrassingly Parallel independent computation </a:t>
            </a:r>
            <a:endParaRPr lang="en-US" b="1" dirty="0"/>
          </a:p>
        </p:txBody>
      </p:sp>
      <p:pic>
        <p:nvPicPr>
          <p:cNvPr id="25" name="Picture 24" descr="aapo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0901" y="1464681"/>
            <a:ext cx="485339" cy="728009"/>
          </a:xfrm>
          <a:prstGeom prst="rect">
            <a:avLst/>
          </a:prstGeom>
        </p:spPr>
      </p:pic>
      <p:pic>
        <p:nvPicPr>
          <p:cNvPr id="30" name="Picture 29" descr="anton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910" y="1454346"/>
            <a:ext cx="492229" cy="738344"/>
          </a:xfrm>
          <a:prstGeom prst="rect">
            <a:avLst/>
          </a:prstGeom>
        </p:spPr>
      </p:pic>
      <p:pic>
        <p:nvPicPr>
          <p:cNvPr id="31" name="Picture 30" descr="arthur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00" y="1447800"/>
            <a:ext cx="574934" cy="728009"/>
          </a:xfrm>
          <a:prstGeom prst="rect">
            <a:avLst/>
          </a:prstGeom>
        </p:spPr>
      </p:pic>
      <p:pic>
        <p:nvPicPr>
          <p:cNvPr id="34" name="Picture 33" descr="bickson.jp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38400" y="1447800"/>
            <a:ext cx="593766" cy="728009"/>
          </a:xfrm>
          <a:prstGeom prst="rect">
            <a:avLst/>
          </a:prstGeom>
        </p:spPr>
      </p:pic>
      <p:pic>
        <p:nvPicPr>
          <p:cNvPr id="36" name="Picture 35" descr="bradley.jp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0309" y="1484313"/>
            <a:ext cx="536108" cy="718713"/>
          </a:xfrm>
          <a:prstGeom prst="rect">
            <a:avLst/>
          </a:prstGeom>
        </p:spPr>
      </p:pic>
      <p:pic>
        <p:nvPicPr>
          <p:cNvPr id="39" name="Picture 38" descr="dudik.jp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2516" y="1484313"/>
            <a:ext cx="599710" cy="708377"/>
          </a:xfrm>
          <a:prstGeom prst="rect">
            <a:avLst/>
          </a:prstGeom>
        </p:spPr>
      </p:pic>
      <p:pic>
        <p:nvPicPr>
          <p:cNvPr id="40" name="Picture 39" descr="funiak.jp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8325" y="1484313"/>
            <a:ext cx="638863" cy="708377"/>
          </a:xfrm>
          <a:prstGeom prst="rect">
            <a:avLst/>
          </a:prstGeom>
        </p:spPr>
      </p:pic>
      <p:pic>
        <p:nvPicPr>
          <p:cNvPr id="42" name="Picture 41" descr="gonzalez.jp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3287" y="1484313"/>
            <a:ext cx="520700" cy="728979"/>
          </a:xfrm>
          <a:prstGeom prst="rect">
            <a:avLst/>
          </a:prstGeom>
        </p:spPr>
      </p:pic>
      <p:pic>
        <p:nvPicPr>
          <p:cNvPr id="45" name="Picture 44" descr="guestrin.jpg"/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086" y="1484313"/>
            <a:ext cx="527184" cy="708377"/>
          </a:xfrm>
          <a:prstGeom prst="rect">
            <a:avLst/>
          </a:prstGeom>
        </p:spPr>
      </p:pic>
      <p:pic>
        <p:nvPicPr>
          <p:cNvPr id="46" name="Picture 45" descr="hong.jpg"/>
          <p:cNvPicPr>
            <a:picLocks noChangeAspect="1"/>
          </p:cNvPicPr>
          <p:nvPr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371" y="1484313"/>
            <a:ext cx="539939" cy="728008"/>
          </a:xfrm>
          <a:prstGeom prst="rect">
            <a:avLst/>
          </a:prstGeom>
        </p:spPr>
      </p:pic>
      <p:pic>
        <p:nvPicPr>
          <p:cNvPr id="47" name="Picture 46" descr="huang.jpg"/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4203" y="1484313"/>
            <a:ext cx="520007" cy="728009"/>
          </a:xfrm>
          <a:prstGeom prst="rect">
            <a:avLst/>
          </a:prstGeom>
        </p:spPr>
      </p:pic>
      <p:pic>
        <p:nvPicPr>
          <p:cNvPr id="49" name="Picture 48" descr="ylow.jpg"/>
          <p:cNvPicPr>
            <a:picLocks noChangeAspect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7884" y="1484313"/>
            <a:ext cx="560220" cy="70837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 bwMode="auto">
          <a:xfrm>
            <a:off x="1228543" y="312699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3360504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5505163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7616407" y="31099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50604" y="6030267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No Communication needed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46509681"/>
      </p:ext>
    </p:extLst>
  </p:cSld>
  <p:clrMapOvr>
    <a:masterClrMapping/>
  </p:clrMapOvr>
  <p:transition xmlns:p14="http://schemas.microsoft.com/office/powerpoint/2010/main" advClick="0" advTm="0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8.14815E-6 L 0.06806 0.23587 " pathEditMode="relative" ptsTypes="AA">
                                      <p:cBhvr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0.08194 0.23611 " pathEditMode="relative" ptsTypes="AA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7 L 0.09584 0.23866 " pathEditMode="relative" ptsTypes="AA">
                                      <p:cBhvr>
                                        <p:cTn id="1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44444E-6 L 0.09167 0.23403 " pathEditMode="relative" ptsTypes="AA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33333E-6 L -0.06962 0.25486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" y="1270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6 L -0.07899 0.25509 " pathEditMode="relative" ptsTypes="AA">
                                      <p:cBhvr>
                                        <p:cTn id="5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7778E-6 3.7037E-6 L -0.09235 0.25509 " pathEditMode="relative" ptsTypes="AA">
                                      <p:cBhvr>
                                        <p:cTn id="6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6 L -0.08768 0.25509 " pathEditMode="relative" ptsTypes="AA">
                                      <p:cBhvr>
                                        <p:cTn id="6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0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263304" y="4757443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4589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276747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488905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7010635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– Map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263304" y="1363081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pic>
        <p:nvPicPr>
          <p:cNvPr id="30" name="Picture 29" descr="anton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6910" y="1454346"/>
            <a:ext cx="492229" cy="738344"/>
          </a:xfrm>
          <a:prstGeom prst="rect">
            <a:avLst/>
          </a:prstGeom>
        </p:spPr>
      </p:pic>
      <p:pic>
        <p:nvPicPr>
          <p:cNvPr id="31" name="Picture 30" descr="arthur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00" y="1447800"/>
            <a:ext cx="574934" cy="728009"/>
          </a:xfrm>
          <a:prstGeom prst="rect">
            <a:avLst/>
          </a:prstGeom>
        </p:spPr>
      </p:pic>
      <p:pic>
        <p:nvPicPr>
          <p:cNvPr id="39" name="Picture 38" descr="dudik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2516" y="1484313"/>
            <a:ext cx="599710" cy="708377"/>
          </a:xfrm>
          <a:prstGeom prst="rect">
            <a:avLst/>
          </a:prstGeom>
        </p:spPr>
      </p:pic>
      <p:pic>
        <p:nvPicPr>
          <p:cNvPr id="40" name="Picture 39" descr="funiak.jp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8325" y="1484313"/>
            <a:ext cx="638863" cy="708377"/>
          </a:xfrm>
          <a:prstGeom prst="rect">
            <a:avLst/>
          </a:prstGeom>
        </p:spPr>
      </p:pic>
      <p:pic>
        <p:nvPicPr>
          <p:cNvPr id="45" name="Picture 44" descr="guestrin.jpg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086" y="1484313"/>
            <a:ext cx="527184" cy="708377"/>
          </a:xfrm>
          <a:prstGeom prst="rect">
            <a:avLst/>
          </a:prstGeom>
        </p:spPr>
      </p:pic>
      <p:pic>
        <p:nvPicPr>
          <p:cNvPr id="46" name="Picture 45" descr="hong.jpg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371" y="1484313"/>
            <a:ext cx="539939" cy="728008"/>
          </a:xfrm>
          <a:prstGeom prst="rect">
            <a:avLst/>
          </a:prstGeom>
        </p:spPr>
      </p:pic>
      <p:pic>
        <p:nvPicPr>
          <p:cNvPr id="47" name="Picture 46" descr="huang.jpg"/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4203" y="1484313"/>
            <a:ext cx="520007" cy="728009"/>
          </a:xfrm>
          <a:prstGeom prst="rect">
            <a:avLst/>
          </a:prstGeom>
        </p:spPr>
      </p:pic>
      <p:pic>
        <p:nvPicPr>
          <p:cNvPr id="49" name="Picture 48" descr="ylow.jpg"/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7884" y="1484313"/>
            <a:ext cx="560220" cy="708377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 bwMode="auto">
          <a:xfrm>
            <a:off x="5665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26112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6813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68276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228543" y="312699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.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 bwMode="auto">
          <a:xfrm>
            <a:off x="3360504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>
                <a:ea typeface="ＭＳ Ｐゴシック" pitchFamily="-111" charset="-128"/>
              </a:rPr>
              <a:t>8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.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3</a:t>
            </a:r>
          </a:p>
        </p:txBody>
      </p:sp>
      <p:sp>
        <p:nvSpPr>
          <p:cNvPr id="35" name="Rectangle 34"/>
          <p:cNvSpPr/>
          <p:nvPr/>
        </p:nvSpPr>
        <p:spPr bwMode="auto">
          <a:xfrm>
            <a:off x="5354456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>
                <a:ea typeface="ＭＳ Ｐゴシック" pitchFamily="-111" charset="-128"/>
              </a:rPr>
              <a:t>1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8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.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 bwMode="auto">
          <a:xfrm>
            <a:off x="7424556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200" dirty="0" smtClean="0">
                <a:ea typeface="ＭＳ Ｐゴシック" pitchFamily="-111" charset="-128"/>
              </a:rPr>
              <a:t>8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.</a:t>
            </a:r>
          </a:p>
          <a:p>
            <a:pPr algn="ctr"/>
            <a:r>
              <a:rPr lang="en-US" sz="1200" dirty="0" smtClean="0">
                <a:ea typeface="ＭＳ Ｐゴシック" pitchFamily="-111" charset="-128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04" y="5702306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Embarrassingly Parallel independent computation </a:t>
            </a:r>
            <a:endParaRPr lang="en-US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250604" y="6030267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No Communication needed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32688372"/>
      </p:ext>
    </p:extLst>
  </p:cSld>
  <p:clrMapOvr>
    <a:masterClrMapping/>
  </p:clrMapOvr>
  <p:transition xmlns:p14="http://schemas.microsoft.com/office/powerpoint/2010/main" advClick="0" advTm="0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093 L 0.00035 0.23796 " pathEditMode="relative" ptsTypes="AA">
                                      <p:cBhvr>
                                        <p:cTn id="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94444E-6 -9.25926E-6 L 6.94444E-6 0.23912 " pathEditMode="relative" ptsTypes="AA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7 4.44444E-6 L 0.00017 0.23588 " pathEditMode="relative" ptsTypes="AA">
                                      <p:cBhvr>
                                        <p:cTn id="1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4.44444E-6 L 1.11111E-6 0.23588 " pathEditMode="relative" ptsTypes="AA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0694 L 0.00087 0.24792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7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8 -0.00093 L 0.00295 0.25648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29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4.81481E-6 L -1.11111E-6 0.26157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-0.00417 L 0.00121 0.25764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37" grpId="0" animBg="1"/>
      <p:bldP spid="3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263304" y="4757444"/>
            <a:ext cx="8423496" cy="95097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64589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276747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Rounded Rectangle 27"/>
          <p:cNvSpPr/>
          <p:nvPr/>
        </p:nvSpPr>
        <p:spPr bwMode="auto">
          <a:xfrm>
            <a:off x="4889056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9" name="Rounded Rectangle 28"/>
          <p:cNvSpPr/>
          <p:nvPr/>
        </p:nvSpPr>
        <p:spPr bwMode="auto">
          <a:xfrm>
            <a:off x="7010635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– Map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263304" y="1363081"/>
            <a:ext cx="8423496" cy="94486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pic>
        <p:nvPicPr>
          <p:cNvPr id="31" name="Picture 30" descr="arthur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2600" y="1447800"/>
            <a:ext cx="574934" cy="728009"/>
          </a:xfrm>
          <a:prstGeom prst="rect">
            <a:avLst/>
          </a:prstGeom>
        </p:spPr>
      </p:pic>
      <p:pic>
        <p:nvPicPr>
          <p:cNvPr id="40" name="Picture 39" descr="funiak.jpg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8325" y="1484313"/>
            <a:ext cx="638863" cy="708377"/>
          </a:xfrm>
          <a:prstGeom prst="rect">
            <a:avLst/>
          </a:prstGeom>
        </p:spPr>
      </p:pic>
      <p:pic>
        <p:nvPicPr>
          <p:cNvPr id="46" name="Picture 45" descr="hong.jp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3371" y="1484313"/>
            <a:ext cx="539939" cy="728008"/>
          </a:xfrm>
          <a:prstGeom prst="rect">
            <a:avLst/>
          </a:prstGeom>
        </p:spPr>
      </p:pic>
      <p:pic>
        <p:nvPicPr>
          <p:cNvPr id="47" name="Picture 46" descr="huang.jpg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84203" y="1484313"/>
            <a:ext cx="520007" cy="728009"/>
          </a:xfrm>
          <a:prstGeom prst="rect">
            <a:avLst/>
          </a:prstGeom>
        </p:spPr>
      </p:pic>
      <p:sp>
        <p:nvSpPr>
          <p:cNvPr id="50" name="Rectangle 49"/>
          <p:cNvSpPr/>
          <p:nvPr/>
        </p:nvSpPr>
        <p:spPr bwMode="auto">
          <a:xfrm>
            <a:off x="5665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2" name="Rectangle 51"/>
          <p:cNvSpPr/>
          <p:nvPr/>
        </p:nvSpPr>
        <p:spPr bwMode="auto">
          <a:xfrm>
            <a:off x="26112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3" name="Rectangle 52"/>
          <p:cNvSpPr/>
          <p:nvPr/>
        </p:nvSpPr>
        <p:spPr bwMode="auto">
          <a:xfrm>
            <a:off x="46813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4" name="Rectangle 53"/>
          <p:cNvSpPr/>
          <p:nvPr/>
        </p:nvSpPr>
        <p:spPr bwMode="auto">
          <a:xfrm>
            <a:off x="6827656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228543" y="312699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7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3360504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6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7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5354456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7424556" y="3109401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1266461" y="4875213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3398422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5392374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7462474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63304" y="5702306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Embarrassingly Parallel independent computation 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250604" y="6030267"/>
            <a:ext cx="8423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No Communication needed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83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0.07639 0.24514 " pathEditMode="relative" ptsTypes="AA">
                                      <p:cBhvr>
                                        <p:cTn id="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6 4.07407E-6 L -0.071 0.24537 " pathEditMode="relative" ptsTypes="AA">
                                      <p:cBhvr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4.81481E-6 L -0.06112 0.24537 " pathEditMode="relative" ptsTypes="AA">
                                      <p:cBhvr>
                                        <p:cTn id="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27778E-6 4.07407E-6 L -0.04584 0.23958 " pathEditMode="relative" ptsTypes="AA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6 L 0.07465 0.24838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00" y="1240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0.00671 L 0.07396 0.2631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0" y="128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962 0.00532 L 0.10052 0.26088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00" y="1280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57 0.00092 L 0.09688 0.2625 " pathEditMode="relative" rAng="0" ptsTypes="AA">
                                      <p:cBhvr>
                                        <p:cTn id="6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00" y="13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37" grpId="0" animBg="1"/>
      <p:bldP spid="3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263304" y="4757442"/>
            <a:ext cx="8423496" cy="12344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6" name="Rounded Rectangle 25"/>
          <p:cNvSpPr/>
          <p:nvPr/>
        </p:nvSpPr>
        <p:spPr bwMode="auto">
          <a:xfrm>
            <a:off x="1863301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Rounded Rectangle 26"/>
          <p:cNvSpPr/>
          <p:nvPr/>
        </p:nvSpPr>
        <p:spPr bwMode="auto">
          <a:xfrm>
            <a:off x="5700845" y="3126997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MapReduce</a:t>
            </a:r>
            <a:r>
              <a:rPr lang="en-US" dirty="0" smtClean="0"/>
              <a:t> – Reduce Phase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1" name="Rectangle 20"/>
          <p:cNvSpPr/>
          <p:nvPr/>
        </p:nvSpPr>
        <p:spPr bwMode="auto">
          <a:xfrm>
            <a:off x="566556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627220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4687884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6748548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1253444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3314108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374772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435436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8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1" name="Rectangle 30"/>
          <p:cNvSpPr/>
          <p:nvPr/>
        </p:nvSpPr>
        <p:spPr bwMode="auto">
          <a:xfrm>
            <a:off x="1940332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7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4000996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6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7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5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6061660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9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8122320" y="4857617"/>
            <a:ext cx="228963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2449238" y="3122101"/>
            <a:ext cx="343445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22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26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6252522" y="3109401"/>
            <a:ext cx="432526" cy="749300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17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26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.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 smtClean="0">
                <a:ea typeface="ＭＳ Ｐゴシック" pitchFamily="-111" charset="-128"/>
              </a:rPr>
              <a:t>31</a:t>
            </a:r>
            <a:endParaRPr kumimoji="0" lang="en-US" sz="1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3304" y="6019800"/>
            <a:ext cx="842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Image Features</a:t>
            </a:r>
            <a:endParaRPr 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813128" y="1524000"/>
            <a:ext cx="1615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Attractive Face </a:t>
            </a:r>
          </a:p>
          <a:p>
            <a:pPr algn="ctr"/>
            <a:r>
              <a:rPr lang="en-US" b="1" dirty="0" smtClean="0"/>
              <a:t>Statistics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791200" y="1524000"/>
            <a:ext cx="1095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smtClean="0"/>
              <a:t>Ugly Face </a:t>
            </a:r>
          </a:p>
          <a:p>
            <a:pPr algn="ctr"/>
            <a:r>
              <a:rPr lang="en-US" b="1" dirty="0" smtClean="0"/>
              <a:t>Statistics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55626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U          A           A          U          U           U           A           A          U           A          U          A</a:t>
            </a:r>
            <a:endParaRPr lang="en-US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152400" y="3276600"/>
            <a:ext cx="1672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Attractive Faces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276600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smtClean="0"/>
              <a:t>Ugly Faces</a:t>
            </a:r>
          </a:p>
        </p:txBody>
      </p:sp>
    </p:spTree>
    <p:extLst>
      <p:ext uri="{BB962C8B-B14F-4D97-AF65-F5344CB8AC3E}">
        <p14:creationId xmlns:p14="http://schemas.microsoft.com/office/powerpoint/2010/main" val="305165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-0.00648 L 0.62965 -0.2581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673" y="-1258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46 -0.00625 L -0.24088 -0.25792 " pathEditMode="relative" rAng="0" ptsTypes="AA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80" y="-12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0.00023 L 0.13473 -0.2581 " pathEditMode="relative" ptsTypes="AA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7452E-6 -4.8161E-6 L -0.31361 -0.2519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89" y="-126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48148E-6 L 0.06702 -0.25833 " pathEditMode="relative" ptsTypes="AA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3.7037E-6 L 0.0309 -0.26065 " pathEditMode="relative" ptsTypes="AA">
                                      <p:cBhvr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99 -0.00648 L 0.40438 -0.25815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10" y="-1258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79 -0.00625 L -0.46615 -0.25792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27" y="-12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34 -0.00648 L 0.32923 -0.2581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44" y="-12584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7778E-6 -1.48148E-6 L -0.11805 -0.25833 " pathEditMode="relative" ptsTypes="AA">
                                      <p:cBhvr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0.00462 L 0.25425 -0.25816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29" y="-13139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76 -0.00602 L -0.61627 -0.25792 " pathEditMode="relative" rAng="0" ptsTypes="AA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476" y="-126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53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500"/>
                            </p:stCondLst>
                            <p:childTnLst>
                              <p:par>
                                <p:cTn id="96" presetID="53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4000"/>
                            </p:stCondLst>
                            <p:childTnLst>
                              <p:par>
                                <p:cTn id="10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3 -0.0051 L 0.16111 -0.25139 " pathEditMode="relative" rAng="0" ptsTypes="AA">
                                      <p:cBhvr>
                                        <p:cTn id="10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00" y="-1230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2 -0.00347 L -0.15556 -0.24791 " pathEditMode="relative" rAng="0" ptsTypes="AA">
                                      <p:cBhvr>
                                        <p:cTn id="11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600" y="-12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" grpId="0"/>
      <p:bldP spid="3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/>
              <a:t>MapReduce</a:t>
            </a:r>
            <a:r>
              <a:rPr lang="en-US" sz="4000" dirty="0" smtClean="0"/>
              <a:t> for Data-Parallel ML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762000"/>
          </a:xfrm>
        </p:spPr>
        <p:txBody>
          <a:bodyPr/>
          <a:lstStyle/>
          <a:p>
            <a:r>
              <a:rPr lang="en-US" dirty="0" smtClean="0"/>
              <a:t>Excellent for large data-parallel tasks!</a:t>
            </a:r>
            <a:endParaRPr lang="en-US" dirty="0"/>
          </a:p>
        </p:txBody>
      </p:sp>
      <p:sp>
        <p:nvSpPr>
          <p:cNvPr id="5" name="Left-Right Arrow 4"/>
          <p:cNvSpPr/>
          <p:nvPr/>
        </p:nvSpPr>
        <p:spPr bwMode="auto">
          <a:xfrm>
            <a:off x="542310" y="2014571"/>
            <a:ext cx="7999987" cy="957229"/>
          </a:xfrm>
          <a:prstGeom prst="leftRightArrow">
            <a:avLst>
              <a:gd name="adj1" fmla="val 64701"/>
              <a:gd name="adj2" fmla="val 50000"/>
            </a:avLst>
          </a:prstGeom>
          <a:gradFill flip="none" rotWithShape="1">
            <a:gsLst>
              <a:gs pos="0">
                <a:schemeClr val="bg1"/>
              </a:gs>
              <a:gs pos="82000">
                <a:schemeClr val="accent2">
                  <a:shade val="94000"/>
                  <a:satMod val="135000"/>
                </a:schemeClr>
              </a:gs>
            </a:gsLst>
            <a:lin ang="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Data-Parallel         </a:t>
            </a:r>
            <a:r>
              <a:rPr lang="en-US" sz="2800" dirty="0" smtClean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            </a:t>
            </a:r>
            <a:r>
              <a:rPr lang="en-US" sz="2800" dirty="0">
                <a:solidFill>
                  <a:prstClr val="white"/>
                </a:solidFill>
                <a:latin typeface="Tahoma" pitchFamily="34" charset="0"/>
                <a:ea typeface="ＭＳ Ｐゴシック" pitchFamily="-111" charset="-128"/>
              </a:rPr>
              <a:t>Graph-Parallel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4733" y="3810000"/>
            <a:ext cx="1434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Cross</a:t>
            </a:r>
          </a:p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388" y="3810000"/>
            <a:ext cx="1447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Feature </a:t>
            </a:r>
          </a:p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Extraction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4905" y="2971800"/>
            <a:ext cx="2788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4000" dirty="0" err="1" smtClean="0">
                <a:solidFill>
                  <a:prstClr val="black"/>
                </a:solidFill>
                <a:latin typeface="Calibri"/>
              </a:rPr>
              <a:t>MapReduce</a:t>
            </a:r>
            <a:endParaRPr lang="en-US" sz="4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6653" y="4687669"/>
            <a:ext cx="237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Computing Sufficient</a:t>
            </a:r>
          </a:p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Statistics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89" y="3815715"/>
            <a:ext cx="20466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Graphical Models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Gibbs Sampling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Belief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Variational</a:t>
            </a:r>
            <a:r>
              <a:rPr lang="en-US" dirty="0" smtClean="0">
                <a:solidFill>
                  <a:schemeClr val="accent1"/>
                </a:solidFill>
              </a:rPr>
              <a:t> Opt.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858" y="3815715"/>
            <a:ext cx="20191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Semi-Supervised </a:t>
            </a:r>
            <a:br>
              <a:rPr lang="en-US" sz="2000" b="1" dirty="0" smtClean="0"/>
            </a:br>
            <a:r>
              <a:rPr lang="en-US" sz="2000" b="1" dirty="0" smtClean="0"/>
              <a:t>Learning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Label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CoEM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40551" y="5111115"/>
            <a:ext cx="18257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 Analysis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PageRank</a:t>
            </a:r>
            <a:endParaRPr lang="en-US" dirty="0" smtClean="0">
              <a:solidFill>
                <a:schemeClr val="accent1"/>
              </a:solidFill>
            </a:endParaRP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Triangle Counting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34058" y="5111115"/>
            <a:ext cx="206530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Collaborative </a:t>
            </a:r>
          </a:p>
          <a:p>
            <a:pPr algn="ctr"/>
            <a:r>
              <a:rPr lang="en-US" sz="2000" b="1" dirty="0" smtClean="0"/>
              <a:t>Filtering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Tensor Factorization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4547924" y="1981200"/>
            <a:ext cx="4062676" cy="4191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11500" dirty="0" smtClean="0">
              <a:solidFill>
                <a:prstClr val="black"/>
              </a:solidFill>
              <a:latin typeface="Calibri"/>
              <a:ea typeface="ＭＳ Ｐゴシック" pitchFamily="-111" charset="-128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953000" y="2819400"/>
            <a:ext cx="3764172" cy="26776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600" dirty="0" smtClean="0">
                <a:solidFill>
                  <a:prstClr val="black"/>
                </a:solidFill>
                <a:latin typeface="Calibri"/>
                <a:ea typeface="ＭＳ Ｐゴシック" pitchFamily="-111" charset="-128"/>
              </a:rPr>
              <a:t>Is there more to</a:t>
            </a:r>
          </a:p>
          <a:p>
            <a:pPr algn="ctr"/>
            <a:r>
              <a:rPr lang="en-US" sz="3600" dirty="0" smtClean="0">
                <a:solidFill>
                  <a:prstClr val="black"/>
                </a:solidFill>
                <a:latin typeface="Calibri"/>
                <a:ea typeface="ＭＳ Ｐゴシック" pitchFamily="-111" charset="-128"/>
              </a:rPr>
              <a:t>Machine Learning</a:t>
            </a:r>
          </a:p>
          <a:p>
            <a:pPr algn="ctr"/>
            <a:r>
              <a:rPr lang="en-US" sz="9600" dirty="0" smtClean="0">
                <a:solidFill>
                  <a:prstClr val="black"/>
                </a:solidFill>
                <a:latin typeface="Calibri"/>
                <a:ea typeface="ＭＳ Ｐゴシック" pitchFamily="-111" charset="-128"/>
              </a:rPr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201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371600" y="1953504"/>
            <a:ext cx="6400800" cy="1676400"/>
          </a:xfrm>
        </p:spPr>
        <p:txBody>
          <a:bodyPr/>
          <a:lstStyle/>
          <a:p>
            <a:r>
              <a:rPr lang="en-US" dirty="0" smtClean="0"/>
              <a:t>Exploit Dependencies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54520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 Placeholder 10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78A9D-47DB-49FD-9415-23D209E6C172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grpSp>
        <p:nvGrpSpPr>
          <p:cNvPr id="169" name="Group 168"/>
          <p:cNvGrpSpPr/>
          <p:nvPr/>
        </p:nvGrpSpPr>
        <p:grpSpPr>
          <a:xfrm>
            <a:off x="256751" y="609530"/>
            <a:ext cx="8844363" cy="5740741"/>
            <a:chOff x="448432" y="789261"/>
            <a:chExt cx="8382930" cy="5441232"/>
          </a:xfrm>
        </p:grpSpPr>
        <p:pic>
          <p:nvPicPr>
            <p:cNvPr id="1026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335817" y="3125343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6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297712" y="3274556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26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68512" y="5144643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30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92994" y="899776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34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48432" y="3298519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52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08380" y="789261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54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316512" y="2807831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56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808380" y="5144643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58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692842" y="4211193"/>
              <a:ext cx="1085850" cy="1085850"/>
            </a:xfrm>
            <a:prstGeom prst="rect">
              <a:avLst/>
            </a:prstGeom>
            <a:noFill/>
          </p:spPr>
        </p:pic>
        <p:pic>
          <p:nvPicPr>
            <p:cNvPr id="159" name="Picture 2" descr="C:\Users\jegonzal\AppData\Local\Microsoft\Windows\Temporary Internet Files\Content.IE5\JIWITE16\MC900433938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745512" y="1985626"/>
              <a:ext cx="1085850" cy="1085850"/>
            </a:xfrm>
            <a:prstGeom prst="rect">
              <a:avLst/>
            </a:prstGeom>
            <a:noFill/>
          </p:spPr>
        </p:pic>
      </p:grpSp>
      <p:grpSp>
        <p:nvGrpSpPr>
          <p:cNvPr id="171" name="Group 170"/>
          <p:cNvGrpSpPr/>
          <p:nvPr/>
        </p:nvGrpSpPr>
        <p:grpSpPr>
          <a:xfrm>
            <a:off x="817581" y="1182340"/>
            <a:ext cx="7698743" cy="4711305"/>
            <a:chOff x="1039146" y="1391394"/>
            <a:chExt cx="7698743" cy="4622876"/>
          </a:xfrm>
        </p:grpSpPr>
        <p:cxnSp>
          <p:nvCxnSpPr>
            <p:cNvPr id="128" name="Straight Connector 127"/>
            <p:cNvCxnSpPr/>
            <p:nvPr/>
          </p:nvCxnSpPr>
          <p:spPr>
            <a:xfrm flipV="1">
              <a:off x="2064534" y="4322792"/>
              <a:ext cx="579656" cy="11731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H="1" flipV="1">
              <a:off x="1534282" y="1875111"/>
              <a:ext cx="820080" cy="147564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stCxn id="134" idx="0"/>
              <a:endCxn id="130" idx="2"/>
            </p:cNvCxnSpPr>
            <p:nvPr/>
          </p:nvCxnSpPr>
          <p:spPr>
            <a:xfrm flipV="1">
              <a:off x="1039146" y="2067862"/>
              <a:ext cx="152519" cy="135916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134" idx="3"/>
              <a:endCxn id="1026" idx="1"/>
            </p:cNvCxnSpPr>
            <p:nvPr/>
          </p:nvCxnSpPr>
          <p:spPr>
            <a:xfrm flipV="1">
              <a:off x="1611956" y="3809803"/>
              <a:ext cx="845655" cy="17927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1039146" y="4551141"/>
              <a:ext cx="393238" cy="1188622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>
              <a:stCxn id="152" idx="2"/>
              <a:endCxn id="6" idx="0"/>
            </p:cNvCxnSpPr>
            <p:nvPr/>
          </p:nvCxnSpPr>
          <p:spPr>
            <a:xfrm>
              <a:off x="6706109" y="1953453"/>
              <a:ext cx="516267" cy="144876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>
              <a:stCxn id="152" idx="3"/>
              <a:endCxn id="159" idx="1"/>
            </p:cNvCxnSpPr>
            <p:nvPr/>
          </p:nvCxnSpPr>
          <p:spPr>
            <a:xfrm>
              <a:off x="7266939" y="1391394"/>
              <a:ext cx="898140" cy="1238527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flipV="1">
              <a:off x="7518832" y="2919043"/>
              <a:ext cx="765507" cy="56205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>
              <a:stCxn id="158" idx="0"/>
              <a:endCxn id="159" idx="2"/>
            </p:cNvCxnSpPr>
            <p:nvPr/>
          </p:nvCxnSpPr>
          <p:spPr>
            <a:xfrm flipV="1">
              <a:off x="8682320" y="3191979"/>
              <a:ext cx="55569" cy="11798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>
              <a:stCxn id="158" idx="1"/>
            </p:cNvCxnSpPr>
            <p:nvPr/>
          </p:nvCxnSpPr>
          <p:spPr>
            <a:xfrm flipH="1" flipV="1">
              <a:off x="7518832" y="4526334"/>
              <a:ext cx="602658" cy="40758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 flipH="1">
              <a:off x="7202221" y="5609982"/>
              <a:ext cx="1415381" cy="40428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>
              <a:stCxn id="156" idx="0"/>
              <a:endCxn id="6" idx="1"/>
            </p:cNvCxnSpPr>
            <p:nvPr/>
          </p:nvCxnSpPr>
          <p:spPr>
            <a:xfrm flipH="1" flipV="1">
              <a:off x="6649566" y="3964274"/>
              <a:ext cx="56543" cy="137393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>
              <a:stCxn id="6" idx="1"/>
            </p:cNvCxnSpPr>
            <p:nvPr/>
          </p:nvCxnSpPr>
          <p:spPr>
            <a:xfrm flipH="1" flipV="1">
              <a:off x="5609842" y="3652465"/>
              <a:ext cx="1039724" cy="31181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9" name="Straight Connector 188"/>
            <p:cNvCxnSpPr>
              <a:stCxn id="1026" idx="3"/>
              <a:endCxn id="154" idx="1"/>
            </p:cNvCxnSpPr>
            <p:nvPr/>
          </p:nvCxnSpPr>
          <p:spPr>
            <a:xfrm flipV="1">
              <a:off x="3603231" y="3481102"/>
              <a:ext cx="944101" cy="32870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0" name="Group 169"/>
          <p:cNvGrpSpPr/>
          <p:nvPr/>
        </p:nvGrpSpPr>
        <p:grpSpPr>
          <a:xfrm>
            <a:off x="2384301" y="2487144"/>
            <a:ext cx="4673852" cy="618638"/>
            <a:chOff x="2575981" y="2666874"/>
            <a:chExt cx="4430005" cy="586362"/>
          </a:xfrm>
        </p:grpSpPr>
        <p:sp>
          <p:nvSpPr>
            <p:cNvPr id="8" name="Cloud Callout 7"/>
            <p:cNvSpPr/>
            <p:nvPr/>
          </p:nvSpPr>
          <p:spPr>
            <a:xfrm>
              <a:off x="5808380" y="2714314"/>
              <a:ext cx="1197606" cy="538922"/>
            </a:xfrm>
            <a:prstGeom prst="cloudCallout">
              <a:avLst>
                <a:gd name="adj1" fmla="val 33794"/>
                <a:gd name="adj2" fmla="val 6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Hockey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Cloud Callout 6"/>
            <p:cNvSpPr/>
            <p:nvPr/>
          </p:nvSpPr>
          <p:spPr>
            <a:xfrm>
              <a:off x="2575981" y="2666874"/>
              <a:ext cx="1197606" cy="538922"/>
            </a:xfrm>
            <a:prstGeom prst="cloudCallou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Scuba Diving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219" name="Cloud Callout 218"/>
          <p:cNvSpPr/>
          <p:nvPr/>
        </p:nvSpPr>
        <p:spPr>
          <a:xfrm>
            <a:off x="3543243" y="1916228"/>
            <a:ext cx="1759223" cy="728478"/>
          </a:xfrm>
          <a:prstGeom prst="cloudCallout">
            <a:avLst>
              <a:gd name="adj1" fmla="val 33794"/>
              <a:gd name="adj2" fmla="val 62500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b="1" dirty="0" smtClean="0">
                <a:solidFill>
                  <a:prstClr val="black"/>
                </a:solidFill>
                <a:latin typeface="Calibri"/>
              </a:rPr>
              <a:t>Underwater Hockey</a:t>
            </a:r>
            <a:endParaRPr lang="en-US" b="1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737562" y="490402"/>
            <a:ext cx="2078188" cy="4729301"/>
            <a:chOff x="737562" y="490402"/>
            <a:chExt cx="2078188" cy="4729301"/>
          </a:xfrm>
        </p:grpSpPr>
        <p:sp>
          <p:nvSpPr>
            <p:cNvPr id="146" name="Cloud Callout 145"/>
            <p:cNvSpPr/>
            <p:nvPr/>
          </p:nvSpPr>
          <p:spPr>
            <a:xfrm>
              <a:off x="737562" y="2645444"/>
              <a:ext cx="1263527" cy="568587"/>
            </a:xfrm>
            <a:prstGeom prst="cloudCallou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Scuba Diving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48" name="Cloud Callout 147"/>
            <p:cNvSpPr/>
            <p:nvPr/>
          </p:nvSpPr>
          <p:spPr>
            <a:xfrm>
              <a:off x="1095507" y="490402"/>
              <a:ext cx="1263527" cy="568587"/>
            </a:xfrm>
            <a:prstGeom prst="cloudCallou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Scuba Diving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9" name="Cloud Callout 208"/>
            <p:cNvSpPr/>
            <p:nvPr/>
          </p:nvSpPr>
          <p:spPr>
            <a:xfrm>
              <a:off x="1552223" y="4651116"/>
              <a:ext cx="1263527" cy="568587"/>
            </a:xfrm>
            <a:prstGeom prst="cloudCallou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Scuba Diving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5164474" y="325236"/>
            <a:ext cx="3757656" cy="4964727"/>
            <a:chOff x="5164474" y="325236"/>
            <a:chExt cx="3757656" cy="4964727"/>
          </a:xfrm>
        </p:grpSpPr>
        <p:sp>
          <p:nvSpPr>
            <p:cNvPr id="212" name="Cloud Callout 211"/>
            <p:cNvSpPr/>
            <p:nvPr/>
          </p:nvSpPr>
          <p:spPr>
            <a:xfrm>
              <a:off x="7297266" y="1332827"/>
              <a:ext cx="1263527" cy="568587"/>
            </a:xfrm>
            <a:prstGeom prst="cloudCallout">
              <a:avLst>
                <a:gd name="adj1" fmla="val 33794"/>
                <a:gd name="adj2" fmla="val 6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Hockey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3" name="Cloud Callout 212"/>
            <p:cNvSpPr/>
            <p:nvPr/>
          </p:nvSpPr>
          <p:spPr>
            <a:xfrm>
              <a:off x="7658603" y="3643068"/>
              <a:ext cx="1263527" cy="568587"/>
            </a:xfrm>
            <a:prstGeom prst="cloudCallout">
              <a:avLst>
                <a:gd name="adj1" fmla="val 33794"/>
                <a:gd name="adj2" fmla="val 6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Hockey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1" name="Cloud Callout 50"/>
            <p:cNvSpPr/>
            <p:nvPr/>
          </p:nvSpPr>
          <p:spPr>
            <a:xfrm>
              <a:off x="5164474" y="325236"/>
              <a:ext cx="1263527" cy="568587"/>
            </a:xfrm>
            <a:prstGeom prst="cloudCallout">
              <a:avLst>
                <a:gd name="adj1" fmla="val 33794"/>
                <a:gd name="adj2" fmla="val 6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Hockey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2" name="Cloud Callout 51"/>
            <p:cNvSpPr/>
            <p:nvPr/>
          </p:nvSpPr>
          <p:spPr>
            <a:xfrm>
              <a:off x="5221017" y="4721376"/>
              <a:ext cx="1263527" cy="568587"/>
            </a:xfrm>
            <a:prstGeom prst="cloudCallout">
              <a:avLst>
                <a:gd name="adj1" fmla="val 33794"/>
                <a:gd name="adj2" fmla="val 62500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b="1" dirty="0" smtClean="0">
                  <a:solidFill>
                    <a:prstClr val="black"/>
                  </a:solidFill>
                  <a:latin typeface="Calibri"/>
                </a:rPr>
                <a:t>Hockey</a:t>
              </a:r>
              <a:endParaRPr lang="en-US" b="1" dirty="0">
                <a:solidFill>
                  <a:prstClr val="black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264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Graphs are Everywhere</a:t>
            </a:r>
            <a:endParaRPr lang="en-US" sz="4000" dirty="0"/>
          </a:p>
        </p:txBody>
      </p:sp>
      <p:grpSp>
        <p:nvGrpSpPr>
          <p:cNvPr id="4" name="Group 3"/>
          <p:cNvGrpSpPr/>
          <p:nvPr/>
        </p:nvGrpSpPr>
        <p:grpSpPr>
          <a:xfrm>
            <a:off x="4343400" y="990600"/>
            <a:ext cx="3200400" cy="2438400"/>
            <a:chOff x="4343400" y="990600"/>
            <a:chExt cx="3200400" cy="2438400"/>
          </a:xfrm>
        </p:grpSpPr>
        <p:grpSp>
          <p:nvGrpSpPr>
            <p:cNvPr id="8" name="Group 7"/>
            <p:cNvGrpSpPr/>
            <p:nvPr/>
          </p:nvGrpSpPr>
          <p:grpSpPr>
            <a:xfrm>
              <a:off x="4343400" y="1482433"/>
              <a:ext cx="3200400" cy="1946567"/>
              <a:chOff x="4343400" y="1482433"/>
              <a:chExt cx="3200400" cy="1946567"/>
            </a:xfrm>
          </p:grpSpPr>
          <p:sp>
            <p:nvSpPr>
              <p:cNvPr id="14" name="Cube 13"/>
              <p:cNvSpPr/>
              <p:nvPr/>
            </p:nvSpPr>
            <p:spPr bwMode="auto">
              <a:xfrm>
                <a:off x="4800600" y="1482433"/>
                <a:ext cx="1619311" cy="1505521"/>
              </a:xfrm>
              <a:prstGeom prst="cube">
                <a:avLst>
                  <a:gd name="adj" fmla="val 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200" dirty="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5" name="Rectangle 14"/>
              <p:cNvSpPr/>
              <p:nvPr/>
            </p:nvSpPr>
            <p:spPr bwMode="auto">
              <a:xfrm>
                <a:off x="4800600" y="3078134"/>
                <a:ext cx="1619311" cy="33175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 bwMode="auto">
              <a:xfrm rot="16200000">
                <a:off x="3800556" y="2054104"/>
                <a:ext cx="1488981" cy="365071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 rot="16200000">
                <a:off x="4124355" y="1800136"/>
                <a:ext cx="838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Users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4991065" y="3028890"/>
                <a:ext cx="9525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Movies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4800600" y="2508242"/>
                <a:ext cx="1619311" cy="63448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 bwMode="auto">
              <a:xfrm>
                <a:off x="6134965" y="1482434"/>
                <a:ext cx="56989" cy="1505520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 bwMode="auto">
              <a:xfrm>
                <a:off x="6134965" y="3078133"/>
                <a:ext cx="45719" cy="331757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 bwMode="auto">
              <a:xfrm>
                <a:off x="4363296" y="2508241"/>
                <a:ext cx="366792" cy="56989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33" name="Rectangle 132"/>
              <p:cNvSpPr/>
              <p:nvPr/>
            </p:nvSpPr>
            <p:spPr>
              <a:xfrm>
                <a:off x="4800600" y="1733490"/>
                <a:ext cx="132318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3200" b="1" dirty="0" smtClean="0">
                    <a:solidFill>
                      <a:schemeClr val="bg1"/>
                    </a:solidFill>
                    <a:ea typeface="ＭＳ Ｐゴシック" pitchFamily="-111" charset="-128"/>
                  </a:rPr>
                  <a:t>Netflix</a:t>
                </a:r>
              </a:p>
            </p:txBody>
          </p:sp>
          <p:cxnSp>
            <p:nvCxnSpPr>
              <p:cNvPr id="155" name="Straight Connector 154"/>
              <p:cNvCxnSpPr>
                <a:stCxn id="136" idx="3"/>
                <a:endCxn id="146" idx="1"/>
              </p:cNvCxnSpPr>
              <p:nvPr/>
            </p:nvCxnSpPr>
            <p:spPr bwMode="auto">
              <a:xfrm>
                <a:off x="6858000" y="1537547"/>
                <a:ext cx="45720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/>
              <p:cNvCxnSpPr>
                <a:stCxn id="137" idx="3"/>
                <a:endCxn id="146" idx="1"/>
              </p:cNvCxnSpPr>
              <p:nvPr/>
            </p:nvCxnSpPr>
            <p:spPr bwMode="auto">
              <a:xfrm flipV="1">
                <a:off x="6858000" y="1537547"/>
                <a:ext cx="457200" cy="20682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/>
              <p:cNvCxnSpPr>
                <a:endCxn id="148" idx="1"/>
              </p:cNvCxnSpPr>
              <p:nvPr/>
            </p:nvCxnSpPr>
            <p:spPr bwMode="auto">
              <a:xfrm>
                <a:off x="6858000" y="1787919"/>
                <a:ext cx="457200" cy="21771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>
                <a:stCxn id="137" idx="3"/>
                <a:endCxn id="152" idx="1"/>
              </p:cNvCxnSpPr>
              <p:nvPr/>
            </p:nvCxnSpPr>
            <p:spPr bwMode="auto">
              <a:xfrm>
                <a:off x="6858000" y="1744376"/>
                <a:ext cx="457200" cy="91440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>
                <a:stCxn id="138" idx="3"/>
                <a:endCxn id="151" idx="1"/>
              </p:cNvCxnSpPr>
              <p:nvPr/>
            </p:nvCxnSpPr>
            <p:spPr bwMode="auto">
              <a:xfrm>
                <a:off x="6858000" y="1951205"/>
                <a:ext cx="457200" cy="50074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>
                <a:stCxn id="139" idx="3"/>
                <a:endCxn id="152" idx="1"/>
              </p:cNvCxnSpPr>
              <p:nvPr/>
            </p:nvCxnSpPr>
            <p:spPr bwMode="auto">
              <a:xfrm>
                <a:off x="6858000" y="2158034"/>
                <a:ext cx="457200" cy="50074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/>
              <p:cNvCxnSpPr>
                <a:stCxn id="141" idx="3"/>
                <a:endCxn id="147" idx="1"/>
              </p:cNvCxnSpPr>
              <p:nvPr/>
            </p:nvCxnSpPr>
            <p:spPr bwMode="auto">
              <a:xfrm flipV="1">
                <a:off x="6858000" y="1777034"/>
                <a:ext cx="457200" cy="79465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173"/>
              <p:cNvCxnSpPr>
                <a:stCxn id="142" idx="3"/>
                <a:endCxn id="152" idx="1"/>
              </p:cNvCxnSpPr>
              <p:nvPr/>
            </p:nvCxnSpPr>
            <p:spPr bwMode="auto">
              <a:xfrm flipV="1">
                <a:off x="6858000" y="2658776"/>
                <a:ext cx="457200" cy="11974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/>
              <p:cNvCxnSpPr>
                <a:stCxn id="143" idx="3"/>
                <a:endCxn id="152" idx="1"/>
              </p:cNvCxnSpPr>
              <p:nvPr/>
            </p:nvCxnSpPr>
            <p:spPr bwMode="auto">
              <a:xfrm flipV="1">
                <a:off x="6858000" y="2658776"/>
                <a:ext cx="457200" cy="326571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79"/>
              <p:cNvCxnSpPr>
                <a:stCxn id="142" idx="3"/>
                <a:endCxn id="153" idx="1"/>
              </p:cNvCxnSpPr>
              <p:nvPr/>
            </p:nvCxnSpPr>
            <p:spPr bwMode="auto">
              <a:xfrm>
                <a:off x="6858000" y="2778521"/>
                <a:ext cx="457200" cy="20682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/>
              <p:cNvCxnSpPr>
                <a:stCxn id="139" idx="3"/>
                <a:endCxn id="148" idx="1"/>
              </p:cNvCxnSpPr>
              <p:nvPr/>
            </p:nvCxnSpPr>
            <p:spPr bwMode="auto">
              <a:xfrm flipV="1">
                <a:off x="6858000" y="2005634"/>
                <a:ext cx="457200" cy="15240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>
                <a:stCxn id="138" idx="3"/>
                <a:endCxn id="149" idx="1"/>
              </p:cNvCxnSpPr>
              <p:nvPr/>
            </p:nvCxnSpPr>
            <p:spPr bwMode="auto">
              <a:xfrm>
                <a:off x="6858000" y="1951205"/>
                <a:ext cx="457200" cy="28302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>
                <a:stCxn id="140" idx="3"/>
                <a:endCxn id="153" idx="1"/>
              </p:cNvCxnSpPr>
              <p:nvPr/>
            </p:nvCxnSpPr>
            <p:spPr bwMode="auto">
              <a:xfrm>
                <a:off x="6858000" y="2364863"/>
                <a:ext cx="457200" cy="62048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>
                <a:stCxn id="141" idx="3"/>
                <a:endCxn id="147" idx="1"/>
              </p:cNvCxnSpPr>
              <p:nvPr/>
            </p:nvCxnSpPr>
            <p:spPr bwMode="auto">
              <a:xfrm flipV="1">
                <a:off x="6858000" y="1777034"/>
                <a:ext cx="457200" cy="79465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6" name="Rectangle 135"/>
              <p:cNvSpPr/>
              <p:nvPr/>
            </p:nvSpPr>
            <p:spPr bwMode="auto">
              <a:xfrm>
                <a:off x="6629400" y="1504890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37" name="Rectangle 136"/>
              <p:cNvSpPr/>
              <p:nvPr/>
            </p:nvSpPr>
            <p:spPr bwMode="auto">
              <a:xfrm>
                <a:off x="6629400" y="1711719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38" name="Rectangle 137"/>
              <p:cNvSpPr/>
              <p:nvPr/>
            </p:nvSpPr>
            <p:spPr bwMode="auto">
              <a:xfrm>
                <a:off x="6629400" y="1918548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39" name="Rectangle 138"/>
              <p:cNvSpPr/>
              <p:nvPr/>
            </p:nvSpPr>
            <p:spPr bwMode="auto">
              <a:xfrm>
                <a:off x="6629400" y="212537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0" name="Rectangle 139"/>
              <p:cNvSpPr/>
              <p:nvPr/>
            </p:nvSpPr>
            <p:spPr bwMode="auto">
              <a:xfrm>
                <a:off x="6629400" y="2332206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1" name="Rectangle 140"/>
              <p:cNvSpPr/>
              <p:nvPr/>
            </p:nvSpPr>
            <p:spPr bwMode="auto">
              <a:xfrm>
                <a:off x="6629400" y="2539035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2" name="Rectangle 141"/>
              <p:cNvSpPr/>
              <p:nvPr/>
            </p:nvSpPr>
            <p:spPr bwMode="auto">
              <a:xfrm>
                <a:off x="6629400" y="2745864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3" name="Rectangle 142"/>
              <p:cNvSpPr/>
              <p:nvPr/>
            </p:nvSpPr>
            <p:spPr bwMode="auto">
              <a:xfrm>
                <a:off x="6629400" y="2952690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6" name="Rectangle 145"/>
              <p:cNvSpPr/>
              <p:nvPr/>
            </p:nvSpPr>
            <p:spPr bwMode="auto">
              <a:xfrm>
                <a:off x="7315200" y="1504890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7" name="Rectangle 146"/>
              <p:cNvSpPr/>
              <p:nvPr/>
            </p:nvSpPr>
            <p:spPr bwMode="auto">
              <a:xfrm>
                <a:off x="7315200" y="174437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8" name="Rectangle 147"/>
              <p:cNvSpPr/>
              <p:nvPr/>
            </p:nvSpPr>
            <p:spPr bwMode="auto">
              <a:xfrm>
                <a:off x="7315200" y="197297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49" name="Rectangle 148"/>
              <p:cNvSpPr/>
              <p:nvPr/>
            </p:nvSpPr>
            <p:spPr bwMode="auto">
              <a:xfrm>
                <a:off x="7315200" y="220157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51" name="Rectangle 150"/>
              <p:cNvSpPr/>
              <p:nvPr/>
            </p:nvSpPr>
            <p:spPr bwMode="auto">
              <a:xfrm>
                <a:off x="7315200" y="2419290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52" name="Rectangle 151"/>
              <p:cNvSpPr/>
              <p:nvPr/>
            </p:nvSpPr>
            <p:spPr bwMode="auto">
              <a:xfrm>
                <a:off x="7315200" y="2626119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53" name="Rectangle 152"/>
              <p:cNvSpPr/>
              <p:nvPr/>
            </p:nvSpPr>
            <p:spPr bwMode="auto">
              <a:xfrm>
                <a:off x="7315200" y="2952690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135" name="TextBox 134"/>
            <p:cNvSpPr txBox="1"/>
            <p:nvPr/>
          </p:nvSpPr>
          <p:spPr>
            <a:xfrm>
              <a:off x="4468672" y="990600"/>
              <a:ext cx="29351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Collaborative Filtering</a:t>
              </a:r>
              <a:endParaRPr lang="en-US" sz="2400" dirty="0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4724400" y="3699167"/>
            <a:ext cx="3200400" cy="2438400"/>
            <a:chOff x="4724400" y="3699167"/>
            <a:chExt cx="3200400" cy="2438400"/>
          </a:xfrm>
        </p:grpSpPr>
        <p:grpSp>
          <p:nvGrpSpPr>
            <p:cNvPr id="7" name="Group 6"/>
            <p:cNvGrpSpPr/>
            <p:nvPr/>
          </p:nvGrpSpPr>
          <p:grpSpPr>
            <a:xfrm>
              <a:off x="4724400" y="4191000"/>
              <a:ext cx="3200400" cy="1946567"/>
              <a:chOff x="4724400" y="4191000"/>
              <a:chExt cx="3200400" cy="1946567"/>
            </a:xfrm>
          </p:grpSpPr>
          <p:sp>
            <p:nvSpPr>
              <p:cNvPr id="264" name="Cube 263"/>
              <p:cNvSpPr/>
              <p:nvPr/>
            </p:nvSpPr>
            <p:spPr bwMode="auto">
              <a:xfrm>
                <a:off x="5181600" y="4191000"/>
                <a:ext cx="1619311" cy="1505521"/>
              </a:xfrm>
              <a:prstGeom prst="cube">
                <a:avLst>
                  <a:gd name="adj" fmla="val 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3200" dirty="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65" name="Rectangle 264"/>
              <p:cNvSpPr/>
              <p:nvPr/>
            </p:nvSpPr>
            <p:spPr bwMode="auto">
              <a:xfrm>
                <a:off x="5181600" y="5786701"/>
                <a:ext cx="1619311" cy="33175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66" name="Rectangle 265"/>
              <p:cNvSpPr/>
              <p:nvPr/>
            </p:nvSpPr>
            <p:spPr bwMode="auto">
              <a:xfrm rot="16200000">
                <a:off x="4181556" y="4762671"/>
                <a:ext cx="1488981" cy="365071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67" name="TextBox 266"/>
              <p:cNvSpPr txBox="1"/>
              <p:nvPr/>
            </p:nvSpPr>
            <p:spPr>
              <a:xfrm rot="16200000">
                <a:off x="4505355" y="4508703"/>
                <a:ext cx="838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Docs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8" name="TextBox 267"/>
              <p:cNvSpPr txBox="1"/>
              <p:nvPr/>
            </p:nvSpPr>
            <p:spPr>
              <a:xfrm>
                <a:off x="5372065" y="5737457"/>
                <a:ext cx="95253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Words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69" name="Rectangle 268"/>
              <p:cNvSpPr/>
              <p:nvPr/>
            </p:nvSpPr>
            <p:spPr bwMode="auto">
              <a:xfrm>
                <a:off x="5181600" y="5216809"/>
                <a:ext cx="1619311" cy="63448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70" name="Rectangle 269"/>
              <p:cNvSpPr/>
              <p:nvPr/>
            </p:nvSpPr>
            <p:spPr bwMode="auto">
              <a:xfrm>
                <a:off x="6515965" y="4191001"/>
                <a:ext cx="56989" cy="1505520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71" name="Rectangle 270"/>
              <p:cNvSpPr/>
              <p:nvPr/>
            </p:nvSpPr>
            <p:spPr bwMode="auto">
              <a:xfrm>
                <a:off x="6515965" y="5786700"/>
                <a:ext cx="45719" cy="331757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72" name="Rectangle 271"/>
              <p:cNvSpPr/>
              <p:nvPr/>
            </p:nvSpPr>
            <p:spPr bwMode="auto">
              <a:xfrm>
                <a:off x="4744296" y="5216808"/>
                <a:ext cx="366792" cy="56989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458" name="Rectangle 457"/>
              <p:cNvSpPr/>
              <p:nvPr/>
            </p:nvSpPr>
            <p:spPr>
              <a:xfrm>
                <a:off x="5365640" y="4442057"/>
                <a:ext cx="955109" cy="5847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:r>
                  <a:rPr lang="en-US" sz="3200" b="1" dirty="0" smtClean="0">
                    <a:ea typeface="ＭＳ Ｐゴシック" pitchFamily="-111" charset="-128"/>
                  </a:rPr>
                  <a:t>Wiki</a:t>
                </a:r>
                <a:endParaRPr lang="en-US" sz="3200" b="1" dirty="0" smtClean="0">
                  <a:solidFill>
                    <a:schemeClr val="bg1"/>
                  </a:solidFill>
                  <a:ea typeface="ＭＳ Ｐゴシック" pitchFamily="-111" charset="-128"/>
                </a:endParaRPr>
              </a:p>
            </p:txBody>
          </p:sp>
          <p:cxnSp>
            <p:nvCxnSpPr>
              <p:cNvPr id="459" name="Straight Connector 458"/>
              <p:cNvCxnSpPr>
                <a:stCxn id="473" idx="3"/>
                <a:endCxn id="481" idx="1"/>
              </p:cNvCxnSpPr>
              <p:nvPr/>
            </p:nvCxnSpPr>
            <p:spPr bwMode="auto">
              <a:xfrm>
                <a:off x="7239000" y="4246114"/>
                <a:ext cx="45720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/>
              <p:cNvCxnSpPr>
                <a:stCxn id="474" idx="3"/>
                <a:endCxn id="481" idx="1"/>
              </p:cNvCxnSpPr>
              <p:nvPr/>
            </p:nvCxnSpPr>
            <p:spPr bwMode="auto">
              <a:xfrm flipV="1">
                <a:off x="7239000" y="4246114"/>
                <a:ext cx="457200" cy="20682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/>
              <p:cNvCxnSpPr>
                <a:endCxn id="483" idx="1"/>
              </p:cNvCxnSpPr>
              <p:nvPr/>
            </p:nvCxnSpPr>
            <p:spPr bwMode="auto">
              <a:xfrm>
                <a:off x="7239000" y="4496486"/>
                <a:ext cx="457200" cy="21771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/>
              <p:cNvCxnSpPr>
                <a:stCxn id="474" idx="3"/>
                <a:endCxn id="486" idx="1"/>
              </p:cNvCxnSpPr>
              <p:nvPr/>
            </p:nvCxnSpPr>
            <p:spPr bwMode="auto">
              <a:xfrm>
                <a:off x="7239000" y="4452943"/>
                <a:ext cx="457200" cy="91440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/>
              <p:cNvCxnSpPr>
                <a:stCxn id="475" idx="3"/>
                <a:endCxn id="487" idx="1"/>
              </p:cNvCxnSpPr>
              <p:nvPr/>
            </p:nvCxnSpPr>
            <p:spPr bwMode="auto">
              <a:xfrm>
                <a:off x="7239000" y="4659772"/>
                <a:ext cx="457200" cy="103414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/>
              <p:cNvCxnSpPr>
                <a:stCxn id="476" idx="3"/>
                <a:endCxn id="484" idx="1"/>
              </p:cNvCxnSpPr>
              <p:nvPr/>
            </p:nvCxnSpPr>
            <p:spPr bwMode="auto">
              <a:xfrm>
                <a:off x="7239000" y="4866601"/>
                <a:ext cx="457200" cy="7620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/>
              <p:cNvCxnSpPr>
                <a:stCxn id="478" idx="3"/>
                <a:endCxn id="486" idx="1"/>
              </p:cNvCxnSpPr>
              <p:nvPr/>
            </p:nvCxnSpPr>
            <p:spPr bwMode="auto">
              <a:xfrm>
                <a:off x="7239000" y="5280259"/>
                <a:ext cx="457200" cy="8708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/>
              <p:cNvCxnSpPr>
                <a:stCxn id="479" idx="3"/>
                <a:endCxn id="486" idx="1"/>
              </p:cNvCxnSpPr>
              <p:nvPr/>
            </p:nvCxnSpPr>
            <p:spPr bwMode="auto">
              <a:xfrm flipV="1">
                <a:off x="7239000" y="5367343"/>
                <a:ext cx="457200" cy="11974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7" name="Straight Connector 466"/>
              <p:cNvCxnSpPr>
                <a:stCxn id="480" idx="3"/>
                <a:endCxn id="486" idx="1"/>
              </p:cNvCxnSpPr>
              <p:nvPr/>
            </p:nvCxnSpPr>
            <p:spPr bwMode="auto">
              <a:xfrm flipV="1">
                <a:off x="7239000" y="5367343"/>
                <a:ext cx="457200" cy="326571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/>
              <p:cNvCxnSpPr>
                <a:stCxn id="479" idx="3"/>
                <a:endCxn id="487" idx="1"/>
              </p:cNvCxnSpPr>
              <p:nvPr/>
            </p:nvCxnSpPr>
            <p:spPr bwMode="auto">
              <a:xfrm>
                <a:off x="7239000" y="5487088"/>
                <a:ext cx="457200" cy="206826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/>
              <p:cNvCxnSpPr>
                <a:stCxn id="476" idx="3"/>
                <a:endCxn id="483" idx="1"/>
              </p:cNvCxnSpPr>
              <p:nvPr/>
            </p:nvCxnSpPr>
            <p:spPr bwMode="auto">
              <a:xfrm flipV="1">
                <a:off x="7239000" y="4714201"/>
                <a:ext cx="457200" cy="15240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0" name="Straight Connector 469"/>
              <p:cNvCxnSpPr>
                <a:stCxn id="475" idx="3"/>
                <a:endCxn id="484" idx="1"/>
              </p:cNvCxnSpPr>
              <p:nvPr/>
            </p:nvCxnSpPr>
            <p:spPr bwMode="auto">
              <a:xfrm>
                <a:off x="7239000" y="4659772"/>
                <a:ext cx="457200" cy="283029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1" name="Straight Connector 470"/>
              <p:cNvCxnSpPr>
                <a:stCxn id="477" idx="3"/>
                <a:endCxn id="485" idx="1"/>
              </p:cNvCxnSpPr>
              <p:nvPr/>
            </p:nvCxnSpPr>
            <p:spPr bwMode="auto">
              <a:xfrm>
                <a:off x="7239000" y="5073430"/>
                <a:ext cx="457200" cy="8708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2" name="Straight Connector 471"/>
              <p:cNvCxnSpPr>
                <a:stCxn id="478" idx="3"/>
                <a:endCxn id="482" idx="1"/>
              </p:cNvCxnSpPr>
              <p:nvPr/>
            </p:nvCxnSpPr>
            <p:spPr bwMode="auto">
              <a:xfrm flipV="1">
                <a:off x="7239000" y="4485601"/>
                <a:ext cx="457200" cy="79465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73" name="Rectangle 472"/>
              <p:cNvSpPr/>
              <p:nvPr/>
            </p:nvSpPr>
            <p:spPr bwMode="auto">
              <a:xfrm>
                <a:off x="7010400" y="421345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4" name="Rectangle 473"/>
              <p:cNvSpPr/>
              <p:nvPr/>
            </p:nvSpPr>
            <p:spPr bwMode="auto">
              <a:xfrm>
                <a:off x="7010400" y="4420286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5" name="Rectangle 474"/>
              <p:cNvSpPr/>
              <p:nvPr/>
            </p:nvSpPr>
            <p:spPr bwMode="auto">
              <a:xfrm>
                <a:off x="7010400" y="4627115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6" name="Rectangle 475"/>
              <p:cNvSpPr/>
              <p:nvPr/>
            </p:nvSpPr>
            <p:spPr bwMode="auto">
              <a:xfrm>
                <a:off x="7010400" y="4833944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7" name="Rectangle 476"/>
              <p:cNvSpPr/>
              <p:nvPr/>
            </p:nvSpPr>
            <p:spPr bwMode="auto">
              <a:xfrm>
                <a:off x="7010400" y="5040773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8" name="Rectangle 477"/>
              <p:cNvSpPr/>
              <p:nvPr/>
            </p:nvSpPr>
            <p:spPr bwMode="auto">
              <a:xfrm>
                <a:off x="7010400" y="5247602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79" name="Rectangle 478"/>
              <p:cNvSpPr/>
              <p:nvPr/>
            </p:nvSpPr>
            <p:spPr bwMode="auto">
              <a:xfrm>
                <a:off x="7010400" y="5454431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0" name="Rectangle 479"/>
              <p:cNvSpPr/>
              <p:nvPr/>
            </p:nvSpPr>
            <p:spPr bwMode="auto">
              <a:xfrm>
                <a:off x="7010400" y="566125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1" name="Rectangle 480"/>
              <p:cNvSpPr/>
              <p:nvPr/>
            </p:nvSpPr>
            <p:spPr bwMode="auto">
              <a:xfrm>
                <a:off x="7696200" y="421345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2" name="Rectangle 481"/>
              <p:cNvSpPr/>
              <p:nvPr/>
            </p:nvSpPr>
            <p:spPr bwMode="auto">
              <a:xfrm>
                <a:off x="7696200" y="4452944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3" name="Rectangle 482"/>
              <p:cNvSpPr/>
              <p:nvPr/>
            </p:nvSpPr>
            <p:spPr bwMode="auto">
              <a:xfrm>
                <a:off x="7696200" y="4681544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4" name="Rectangle 483"/>
              <p:cNvSpPr/>
              <p:nvPr/>
            </p:nvSpPr>
            <p:spPr bwMode="auto">
              <a:xfrm>
                <a:off x="7696200" y="4910144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5" name="Rectangle 484"/>
              <p:cNvSpPr/>
              <p:nvPr/>
            </p:nvSpPr>
            <p:spPr bwMode="auto">
              <a:xfrm>
                <a:off x="7696200" y="512785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6" name="Rectangle 485"/>
              <p:cNvSpPr/>
              <p:nvPr/>
            </p:nvSpPr>
            <p:spPr bwMode="auto">
              <a:xfrm>
                <a:off x="7696200" y="5334686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487" name="Rectangle 486"/>
              <p:cNvSpPr/>
              <p:nvPr/>
            </p:nvSpPr>
            <p:spPr bwMode="auto">
              <a:xfrm>
                <a:off x="7696200" y="5661257"/>
                <a:ext cx="228600" cy="65313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489" name="TextBox 488"/>
            <p:cNvSpPr txBox="1"/>
            <p:nvPr/>
          </p:nvSpPr>
          <p:spPr>
            <a:xfrm>
              <a:off x="5436704" y="3699167"/>
              <a:ext cx="18022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Text Analysis</a:t>
              </a:r>
              <a:endParaRPr lang="en-US" sz="2400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838200" y="1043285"/>
            <a:ext cx="2667000" cy="2461915"/>
            <a:chOff x="838200" y="1043285"/>
            <a:chExt cx="2667000" cy="2461915"/>
          </a:xfrm>
        </p:grpSpPr>
        <p:pic>
          <p:nvPicPr>
            <p:cNvPr id="623620" name="Picture 4" descr="http://www.mpiweb.org/Libraries/Magazine/Social-Network-Stock-Photo.jp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1504950"/>
              <a:ext cx="2667000" cy="2000250"/>
            </a:xfrm>
            <a:prstGeom prst="rect">
              <a:avLst/>
            </a:prstGeom>
            <a:noFill/>
          </p:spPr>
        </p:pic>
        <p:sp>
          <p:nvSpPr>
            <p:cNvPr id="216" name="TextBox 215"/>
            <p:cNvSpPr txBox="1"/>
            <p:nvPr/>
          </p:nvSpPr>
          <p:spPr>
            <a:xfrm>
              <a:off x="1221416" y="1043285"/>
              <a:ext cx="20612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Social Network</a:t>
              </a:r>
              <a:endParaRPr lang="en-US" sz="2400" dirty="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838200" y="3657600"/>
            <a:ext cx="3029042" cy="2521052"/>
            <a:chOff x="838200" y="3657600"/>
            <a:chExt cx="3029042" cy="2521052"/>
          </a:xfrm>
        </p:grpSpPr>
        <p:sp>
          <p:nvSpPr>
            <p:cNvPr id="528" name="TextBox 527"/>
            <p:cNvSpPr txBox="1"/>
            <p:nvPr/>
          </p:nvSpPr>
          <p:spPr>
            <a:xfrm>
              <a:off x="838200" y="3657600"/>
              <a:ext cx="279610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Probabilistic Analysis</a:t>
              </a:r>
              <a:endParaRPr lang="en-US" sz="2400" dirty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200" y="4185377"/>
              <a:ext cx="3029042" cy="1993275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078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Properties of Computation on Graphs</a:t>
            </a:r>
            <a:endParaRPr lang="en-US" sz="3600" dirty="0"/>
          </a:p>
        </p:txBody>
      </p:sp>
      <p:grpSp>
        <p:nvGrpSpPr>
          <p:cNvPr id="3" name="Group 107"/>
          <p:cNvGrpSpPr/>
          <p:nvPr/>
        </p:nvGrpSpPr>
        <p:grpSpPr>
          <a:xfrm>
            <a:off x="457200" y="2924135"/>
            <a:ext cx="2181114" cy="2438398"/>
            <a:chOff x="381000" y="2819402"/>
            <a:chExt cx="2181114" cy="2438398"/>
          </a:xfrm>
        </p:grpSpPr>
        <p:cxnSp>
          <p:nvCxnSpPr>
            <p:cNvPr id="69" name="Straight Connector 68"/>
            <p:cNvCxnSpPr/>
            <p:nvPr/>
          </p:nvCxnSpPr>
          <p:spPr bwMode="auto">
            <a:xfrm flipV="1">
              <a:off x="1552507" y="3021355"/>
              <a:ext cx="702904" cy="656348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auto">
            <a:xfrm flipV="1">
              <a:off x="568442" y="3677704"/>
              <a:ext cx="984066" cy="55537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flipV="1">
              <a:off x="1037044" y="3021355"/>
              <a:ext cx="1218367" cy="201953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568442" y="3172820"/>
              <a:ext cx="421743" cy="1060255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 bwMode="auto">
            <a:xfrm rot="5400000">
              <a:off x="683474" y="4171854"/>
              <a:ext cx="1363185" cy="37488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 bwMode="auto">
            <a:xfrm rot="16200000" flipH="1">
              <a:off x="445696" y="4308960"/>
              <a:ext cx="807813" cy="656044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6200000" flipH="1">
              <a:off x="1871306" y="3405460"/>
              <a:ext cx="908789" cy="140581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 rot="5400000">
              <a:off x="1855133" y="4096121"/>
              <a:ext cx="706837" cy="37488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rot="16200000" flipH="1">
              <a:off x="1307169" y="3923041"/>
              <a:ext cx="959278" cy="46860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V="1">
              <a:off x="1177625" y="4636981"/>
              <a:ext cx="843485" cy="353418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5" name="Picture 84" descr="aap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0529" y="4384539"/>
              <a:ext cx="298466" cy="48236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6" name="Picture 85" descr="arthur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8550" y="3677704"/>
              <a:ext cx="353564" cy="48236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9" name="Picture 88" descr="funiak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1110" y="2819402"/>
              <a:ext cx="392878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0" name="Picture 89" descr="gonzalez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3980633"/>
              <a:ext cx="320212" cy="48300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1" name="Picture 90" descr="guestrin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5066" y="3425261"/>
              <a:ext cx="324200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2" name="Picture 91" descr="ylow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0183" y="4788446"/>
              <a:ext cx="344515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3" name="Picture 92" descr="hong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2000" y="2895600"/>
              <a:ext cx="332043" cy="48236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95" name="TextBox 94"/>
          <p:cNvSpPr txBox="1"/>
          <p:nvPr/>
        </p:nvSpPr>
        <p:spPr>
          <a:xfrm>
            <a:off x="561638" y="1665226"/>
            <a:ext cx="2018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800" dirty="0">
                <a:solidFill>
                  <a:prstClr val="black"/>
                </a:solidFill>
                <a:latin typeface="Calibri"/>
              </a:rPr>
              <a:t>Dependency</a:t>
            </a:r>
          </a:p>
          <a:p>
            <a:pPr algn="ctr" defTabSz="914400"/>
            <a:r>
              <a:rPr lang="en-US" sz="2800" dirty="0">
                <a:solidFill>
                  <a:prstClr val="black"/>
                </a:solidFill>
                <a:latin typeface="Calibri"/>
              </a:rPr>
              <a:t>Graph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6266263" y="1704933"/>
            <a:ext cx="2572937" cy="3352800"/>
            <a:chOff x="6266263" y="1600200"/>
            <a:chExt cx="2572937" cy="3352800"/>
          </a:xfrm>
        </p:grpSpPr>
        <p:sp>
          <p:nvSpPr>
            <p:cNvPr id="96" name="TextBox 95"/>
            <p:cNvSpPr txBox="1"/>
            <p:nvPr/>
          </p:nvSpPr>
          <p:spPr>
            <a:xfrm>
              <a:off x="6452314" y="1600200"/>
              <a:ext cx="20999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Iterative</a:t>
              </a:r>
            </a:p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Computation</a:t>
              </a:r>
            </a:p>
          </p:txBody>
        </p:sp>
        <p:grpSp>
          <p:nvGrpSpPr>
            <p:cNvPr id="5" name="Group 57"/>
            <p:cNvGrpSpPr/>
            <p:nvPr/>
          </p:nvGrpSpPr>
          <p:grpSpPr>
            <a:xfrm>
              <a:off x="6266263" y="2971800"/>
              <a:ext cx="2572937" cy="1981200"/>
              <a:chOff x="5510564" y="5120037"/>
              <a:chExt cx="2877737" cy="1602445"/>
            </a:xfrm>
          </p:grpSpPr>
          <p:sp>
            <p:nvSpPr>
              <p:cNvPr id="104" name="Rectangle 103"/>
              <p:cNvSpPr/>
              <p:nvPr/>
            </p:nvSpPr>
            <p:spPr bwMode="auto">
              <a:xfrm>
                <a:off x="6056151" y="5120037"/>
                <a:ext cx="1793672" cy="42597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My Interests</a:t>
                </a:r>
                <a:endParaRPr lang="en-US" dirty="0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6049546" y="6106157"/>
                <a:ext cx="1793672" cy="61632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Friends </a:t>
                </a: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/>
                </a:r>
                <a:b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</a:b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Interests</a:t>
                </a:r>
                <a:endParaRPr lang="en-US" dirty="0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6" name="Curved Right Arrow 105"/>
              <p:cNvSpPr/>
              <p:nvPr/>
            </p:nvSpPr>
            <p:spPr bwMode="auto">
              <a:xfrm>
                <a:off x="5510564" y="5237079"/>
                <a:ext cx="538732" cy="1275106"/>
              </a:xfrm>
              <a:prstGeom prst="curvedRightArrow">
                <a:avLst>
                  <a:gd name="adj1" fmla="val 32991"/>
                  <a:gd name="adj2" fmla="val 70660"/>
                  <a:gd name="adj3" fmla="val 25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7" name="Curved Right Arrow 106"/>
              <p:cNvSpPr/>
              <p:nvPr/>
            </p:nvSpPr>
            <p:spPr bwMode="auto">
              <a:xfrm rot="10800000">
                <a:off x="7849569" y="5204644"/>
                <a:ext cx="538732" cy="1275106"/>
              </a:xfrm>
              <a:prstGeom prst="curvedRightArrow">
                <a:avLst>
                  <a:gd name="adj1" fmla="val 32991"/>
                  <a:gd name="adj2" fmla="val 70660"/>
                  <a:gd name="adj3" fmla="val 25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124200" y="1665226"/>
            <a:ext cx="2362200" cy="3897374"/>
            <a:chOff x="3124200" y="1560493"/>
            <a:chExt cx="2362200" cy="3897374"/>
          </a:xfrm>
        </p:grpSpPr>
        <p:sp>
          <p:nvSpPr>
            <p:cNvPr id="129" name="Freeform 128"/>
            <p:cNvSpPr/>
            <p:nvPr/>
          </p:nvSpPr>
          <p:spPr>
            <a:xfrm>
              <a:off x="3140845" y="2695391"/>
              <a:ext cx="1699793" cy="2762476"/>
            </a:xfrm>
            <a:custGeom>
              <a:avLst/>
              <a:gdLst>
                <a:gd name="connsiteX0" fmla="*/ 45630 w 1770936"/>
                <a:gd name="connsiteY0" fmla="*/ 1459542 h 3061433"/>
                <a:gd name="connsiteX1" fmla="*/ 555161 w 1770936"/>
                <a:gd name="connsiteY1" fmla="*/ 136235 h 3061433"/>
                <a:gd name="connsiteX2" fmla="*/ 1163557 w 1770936"/>
                <a:gd name="connsiteY2" fmla="*/ 82999 h 3061433"/>
                <a:gd name="connsiteX3" fmla="*/ 1224397 w 1770936"/>
                <a:gd name="connsiteY3" fmla="*/ 493680 h 3061433"/>
                <a:gd name="connsiteX4" fmla="*/ 806125 w 1770936"/>
                <a:gd name="connsiteY4" fmla="*/ 1117308 h 3061433"/>
                <a:gd name="connsiteX5" fmla="*/ 1163557 w 1770936"/>
                <a:gd name="connsiteY5" fmla="*/ 645784 h 3061433"/>
                <a:gd name="connsiteX6" fmla="*/ 1665484 w 1770936"/>
                <a:gd name="connsiteY6" fmla="*/ 668600 h 3061433"/>
                <a:gd name="connsiteX7" fmla="*/ 1756743 w 1770936"/>
                <a:gd name="connsiteY7" fmla="*/ 1018440 h 3061433"/>
                <a:gd name="connsiteX8" fmla="*/ 1460150 w 1770936"/>
                <a:gd name="connsiteY8" fmla="*/ 1406306 h 3061433"/>
                <a:gd name="connsiteX9" fmla="*/ 828939 w 1770936"/>
                <a:gd name="connsiteY9" fmla="*/ 1588831 h 3061433"/>
                <a:gd name="connsiteX10" fmla="*/ 1384101 w 1770936"/>
                <a:gd name="connsiteY10" fmla="*/ 2136406 h 3061433"/>
                <a:gd name="connsiteX11" fmla="*/ 1414521 w 1770936"/>
                <a:gd name="connsiteY11" fmla="*/ 2950164 h 3061433"/>
                <a:gd name="connsiteX12" fmla="*/ 692050 w 1770936"/>
                <a:gd name="connsiteY12" fmla="*/ 2912138 h 3061433"/>
                <a:gd name="connsiteX13" fmla="*/ 0 w 1770936"/>
                <a:gd name="connsiteY13" fmla="*/ 1642067 h 3061433"/>
                <a:gd name="connsiteX0" fmla="*/ 0 w 1725306"/>
                <a:gd name="connsiteY0" fmla="*/ 1459542 h 3073753"/>
                <a:gd name="connsiteX1" fmla="*/ 509531 w 1725306"/>
                <a:gd name="connsiteY1" fmla="*/ 136235 h 3073753"/>
                <a:gd name="connsiteX2" fmla="*/ 1117927 w 1725306"/>
                <a:gd name="connsiteY2" fmla="*/ 82999 h 3073753"/>
                <a:gd name="connsiteX3" fmla="*/ 1178767 w 1725306"/>
                <a:gd name="connsiteY3" fmla="*/ 493680 h 3073753"/>
                <a:gd name="connsiteX4" fmla="*/ 760495 w 1725306"/>
                <a:gd name="connsiteY4" fmla="*/ 1117308 h 3073753"/>
                <a:gd name="connsiteX5" fmla="*/ 1117927 w 1725306"/>
                <a:gd name="connsiteY5" fmla="*/ 645784 h 3073753"/>
                <a:gd name="connsiteX6" fmla="*/ 1619854 w 1725306"/>
                <a:gd name="connsiteY6" fmla="*/ 668600 h 3073753"/>
                <a:gd name="connsiteX7" fmla="*/ 1711113 w 1725306"/>
                <a:gd name="connsiteY7" fmla="*/ 1018440 h 3073753"/>
                <a:gd name="connsiteX8" fmla="*/ 1414520 w 1725306"/>
                <a:gd name="connsiteY8" fmla="*/ 1406306 h 3073753"/>
                <a:gd name="connsiteX9" fmla="*/ 783309 w 1725306"/>
                <a:gd name="connsiteY9" fmla="*/ 1588831 h 3073753"/>
                <a:gd name="connsiteX10" fmla="*/ 1338471 w 1725306"/>
                <a:gd name="connsiteY10" fmla="*/ 2136406 h 3073753"/>
                <a:gd name="connsiteX11" fmla="*/ 1368891 w 1725306"/>
                <a:gd name="connsiteY11" fmla="*/ 2950164 h 3073753"/>
                <a:gd name="connsiteX12" fmla="*/ 646420 w 1725306"/>
                <a:gd name="connsiteY12" fmla="*/ 2912138 h 3073753"/>
                <a:gd name="connsiteX13" fmla="*/ 15210 w 1725306"/>
                <a:gd name="connsiteY13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60495 w 1723947"/>
                <a:gd name="connsiteY4" fmla="*/ 1117308 h 3073753"/>
                <a:gd name="connsiteX5" fmla="*/ 1171162 w 1723947"/>
                <a:gd name="connsiteY5" fmla="*/ 683810 h 3073753"/>
                <a:gd name="connsiteX6" fmla="*/ 1619854 w 1723947"/>
                <a:gd name="connsiteY6" fmla="*/ 668600 h 3073753"/>
                <a:gd name="connsiteX7" fmla="*/ 1711113 w 1723947"/>
                <a:gd name="connsiteY7" fmla="*/ 1018440 h 3073753"/>
                <a:gd name="connsiteX8" fmla="*/ 1414520 w 1723947"/>
                <a:gd name="connsiteY8" fmla="*/ 1406306 h 3073753"/>
                <a:gd name="connsiteX9" fmla="*/ 783309 w 1723947"/>
                <a:gd name="connsiteY9" fmla="*/ 1588831 h 3073753"/>
                <a:gd name="connsiteX10" fmla="*/ 1338471 w 1723947"/>
                <a:gd name="connsiteY10" fmla="*/ 2136406 h 3073753"/>
                <a:gd name="connsiteX11" fmla="*/ 1368891 w 1723947"/>
                <a:gd name="connsiteY11" fmla="*/ 2950164 h 3073753"/>
                <a:gd name="connsiteX12" fmla="*/ 646420 w 1723947"/>
                <a:gd name="connsiteY12" fmla="*/ 2912138 h 3073753"/>
                <a:gd name="connsiteX13" fmla="*/ 15210 w 1723947"/>
                <a:gd name="connsiteY13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60495 w 1723947"/>
                <a:gd name="connsiteY4" fmla="*/ 1117308 h 3073753"/>
                <a:gd name="connsiteX5" fmla="*/ 935409 w 1723947"/>
                <a:gd name="connsiteY5" fmla="*/ 1071676 h 3073753"/>
                <a:gd name="connsiteX6" fmla="*/ 1171162 w 1723947"/>
                <a:gd name="connsiteY6" fmla="*/ 683810 h 3073753"/>
                <a:gd name="connsiteX7" fmla="*/ 1619854 w 1723947"/>
                <a:gd name="connsiteY7" fmla="*/ 668600 h 3073753"/>
                <a:gd name="connsiteX8" fmla="*/ 1711113 w 1723947"/>
                <a:gd name="connsiteY8" fmla="*/ 1018440 h 3073753"/>
                <a:gd name="connsiteX9" fmla="*/ 1414520 w 1723947"/>
                <a:gd name="connsiteY9" fmla="*/ 1406306 h 3073753"/>
                <a:gd name="connsiteX10" fmla="*/ 783309 w 1723947"/>
                <a:gd name="connsiteY10" fmla="*/ 1588831 h 3073753"/>
                <a:gd name="connsiteX11" fmla="*/ 1338471 w 1723947"/>
                <a:gd name="connsiteY11" fmla="*/ 2136406 h 3073753"/>
                <a:gd name="connsiteX12" fmla="*/ 1368891 w 1723947"/>
                <a:gd name="connsiteY12" fmla="*/ 2950164 h 3073753"/>
                <a:gd name="connsiteX13" fmla="*/ 646420 w 1723947"/>
                <a:gd name="connsiteY13" fmla="*/ 2912138 h 3073753"/>
                <a:gd name="connsiteX14" fmla="*/ 15210 w 1723947"/>
                <a:gd name="connsiteY14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90914 w 1723947"/>
                <a:gd name="connsiteY4" fmla="*/ 1018440 h 3073753"/>
                <a:gd name="connsiteX5" fmla="*/ 935409 w 1723947"/>
                <a:gd name="connsiteY5" fmla="*/ 1071676 h 3073753"/>
                <a:gd name="connsiteX6" fmla="*/ 1171162 w 1723947"/>
                <a:gd name="connsiteY6" fmla="*/ 683810 h 3073753"/>
                <a:gd name="connsiteX7" fmla="*/ 1619854 w 1723947"/>
                <a:gd name="connsiteY7" fmla="*/ 668600 h 3073753"/>
                <a:gd name="connsiteX8" fmla="*/ 1711113 w 1723947"/>
                <a:gd name="connsiteY8" fmla="*/ 1018440 h 3073753"/>
                <a:gd name="connsiteX9" fmla="*/ 1414520 w 1723947"/>
                <a:gd name="connsiteY9" fmla="*/ 1406306 h 3073753"/>
                <a:gd name="connsiteX10" fmla="*/ 783309 w 1723947"/>
                <a:gd name="connsiteY10" fmla="*/ 1588831 h 3073753"/>
                <a:gd name="connsiteX11" fmla="*/ 1338471 w 1723947"/>
                <a:gd name="connsiteY11" fmla="*/ 2136406 h 3073753"/>
                <a:gd name="connsiteX12" fmla="*/ 1368891 w 1723947"/>
                <a:gd name="connsiteY12" fmla="*/ 2950164 h 3073753"/>
                <a:gd name="connsiteX13" fmla="*/ 646420 w 1723947"/>
                <a:gd name="connsiteY13" fmla="*/ 2912138 h 3073753"/>
                <a:gd name="connsiteX14" fmla="*/ 15210 w 1723947"/>
                <a:gd name="connsiteY14" fmla="*/ 1451937 h 3073753"/>
                <a:gd name="connsiteX0" fmla="*/ 0 w 1722609"/>
                <a:gd name="connsiteY0" fmla="*/ 1459542 h 3073753"/>
                <a:gd name="connsiteX1" fmla="*/ 509531 w 1722609"/>
                <a:gd name="connsiteY1" fmla="*/ 136235 h 3073753"/>
                <a:gd name="connsiteX2" fmla="*/ 1117927 w 1722609"/>
                <a:gd name="connsiteY2" fmla="*/ 82999 h 3073753"/>
                <a:gd name="connsiteX3" fmla="*/ 1178767 w 1722609"/>
                <a:gd name="connsiteY3" fmla="*/ 493680 h 3073753"/>
                <a:gd name="connsiteX4" fmla="*/ 790914 w 1722609"/>
                <a:gd name="connsiteY4" fmla="*/ 1018440 h 3073753"/>
                <a:gd name="connsiteX5" fmla="*/ 935409 w 1722609"/>
                <a:gd name="connsiteY5" fmla="*/ 1071676 h 3073753"/>
                <a:gd name="connsiteX6" fmla="*/ 1232002 w 1722609"/>
                <a:gd name="connsiteY6" fmla="*/ 683810 h 3073753"/>
                <a:gd name="connsiteX7" fmla="*/ 1619854 w 1722609"/>
                <a:gd name="connsiteY7" fmla="*/ 668600 h 3073753"/>
                <a:gd name="connsiteX8" fmla="*/ 1711113 w 1722609"/>
                <a:gd name="connsiteY8" fmla="*/ 1018440 h 3073753"/>
                <a:gd name="connsiteX9" fmla="*/ 1414520 w 1722609"/>
                <a:gd name="connsiteY9" fmla="*/ 1406306 h 3073753"/>
                <a:gd name="connsiteX10" fmla="*/ 783309 w 1722609"/>
                <a:gd name="connsiteY10" fmla="*/ 1588831 h 3073753"/>
                <a:gd name="connsiteX11" fmla="*/ 1338471 w 1722609"/>
                <a:gd name="connsiteY11" fmla="*/ 2136406 h 3073753"/>
                <a:gd name="connsiteX12" fmla="*/ 1368891 w 1722609"/>
                <a:gd name="connsiteY12" fmla="*/ 2950164 h 3073753"/>
                <a:gd name="connsiteX13" fmla="*/ 646420 w 1722609"/>
                <a:gd name="connsiteY13" fmla="*/ 2912138 h 3073753"/>
                <a:gd name="connsiteX14" fmla="*/ 15210 w 1722609"/>
                <a:gd name="connsiteY14" fmla="*/ 1451937 h 3073753"/>
                <a:gd name="connsiteX0" fmla="*/ 0 w 1722609"/>
                <a:gd name="connsiteY0" fmla="*/ 1459542 h 2950164"/>
                <a:gd name="connsiteX1" fmla="*/ 509531 w 1722609"/>
                <a:gd name="connsiteY1" fmla="*/ 136235 h 2950164"/>
                <a:gd name="connsiteX2" fmla="*/ 1117927 w 1722609"/>
                <a:gd name="connsiteY2" fmla="*/ 82999 h 2950164"/>
                <a:gd name="connsiteX3" fmla="*/ 1178767 w 1722609"/>
                <a:gd name="connsiteY3" fmla="*/ 493680 h 2950164"/>
                <a:gd name="connsiteX4" fmla="*/ 790914 w 1722609"/>
                <a:gd name="connsiteY4" fmla="*/ 1018440 h 2950164"/>
                <a:gd name="connsiteX5" fmla="*/ 935409 w 1722609"/>
                <a:gd name="connsiteY5" fmla="*/ 1071676 h 2950164"/>
                <a:gd name="connsiteX6" fmla="*/ 1232002 w 1722609"/>
                <a:gd name="connsiteY6" fmla="*/ 683810 h 2950164"/>
                <a:gd name="connsiteX7" fmla="*/ 1619854 w 1722609"/>
                <a:gd name="connsiteY7" fmla="*/ 668600 h 2950164"/>
                <a:gd name="connsiteX8" fmla="*/ 1711113 w 1722609"/>
                <a:gd name="connsiteY8" fmla="*/ 1018440 h 2950164"/>
                <a:gd name="connsiteX9" fmla="*/ 1414520 w 1722609"/>
                <a:gd name="connsiteY9" fmla="*/ 1406306 h 2950164"/>
                <a:gd name="connsiteX10" fmla="*/ 783309 w 1722609"/>
                <a:gd name="connsiteY10" fmla="*/ 1588831 h 2950164"/>
                <a:gd name="connsiteX11" fmla="*/ 1338471 w 1722609"/>
                <a:gd name="connsiteY11" fmla="*/ 2136406 h 2950164"/>
                <a:gd name="connsiteX12" fmla="*/ 1368891 w 1722609"/>
                <a:gd name="connsiteY12" fmla="*/ 2950164 h 2950164"/>
                <a:gd name="connsiteX13" fmla="*/ 714865 w 1722609"/>
                <a:gd name="connsiteY13" fmla="*/ 2722008 h 2950164"/>
                <a:gd name="connsiteX14" fmla="*/ 15210 w 1722609"/>
                <a:gd name="connsiteY14" fmla="*/ 1451937 h 2950164"/>
                <a:gd name="connsiteX0" fmla="*/ 0 w 1722609"/>
                <a:gd name="connsiteY0" fmla="*/ 1459542 h 2831973"/>
                <a:gd name="connsiteX1" fmla="*/ 509531 w 1722609"/>
                <a:gd name="connsiteY1" fmla="*/ 136235 h 2831973"/>
                <a:gd name="connsiteX2" fmla="*/ 1117927 w 1722609"/>
                <a:gd name="connsiteY2" fmla="*/ 82999 h 2831973"/>
                <a:gd name="connsiteX3" fmla="*/ 1178767 w 1722609"/>
                <a:gd name="connsiteY3" fmla="*/ 493680 h 2831973"/>
                <a:gd name="connsiteX4" fmla="*/ 790914 w 1722609"/>
                <a:gd name="connsiteY4" fmla="*/ 1018440 h 2831973"/>
                <a:gd name="connsiteX5" fmla="*/ 935409 w 1722609"/>
                <a:gd name="connsiteY5" fmla="*/ 1071676 h 2831973"/>
                <a:gd name="connsiteX6" fmla="*/ 1232002 w 1722609"/>
                <a:gd name="connsiteY6" fmla="*/ 683810 h 2831973"/>
                <a:gd name="connsiteX7" fmla="*/ 1619854 w 1722609"/>
                <a:gd name="connsiteY7" fmla="*/ 668600 h 2831973"/>
                <a:gd name="connsiteX8" fmla="*/ 1711113 w 1722609"/>
                <a:gd name="connsiteY8" fmla="*/ 1018440 h 2831973"/>
                <a:gd name="connsiteX9" fmla="*/ 1414520 w 1722609"/>
                <a:gd name="connsiteY9" fmla="*/ 1406306 h 2831973"/>
                <a:gd name="connsiteX10" fmla="*/ 783309 w 1722609"/>
                <a:gd name="connsiteY10" fmla="*/ 1588831 h 2831973"/>
                <a:gd name="connsiteX11" fmla="*/ 1338471 w 1722609"/>
                <a:gd name="connsiteY11" fmla="*/ 2136406 h 2831973"/>
                <a:gd name="connsiteX12" fmla="*/ 1178767 w 1722609"/>
                <a:gd name="connsiteY12" fmla="*/ 2699192 h 2831973"/>
                <a:gd name="connsiteX13" fmla="*/ 714865 w 1722609"/>
                <a:gd name="connsiteY13" fmla="*/ 2722008 h 2831973"/>
                <a:gd name="connsiteX14" fmla="*/ 15210 w 1722609"/>
                <a:gd name="connsiteY14" fmla="*/ 1451937 h 2831973"/>
                <a:gd name="connsiteX0" fmla="*/ 0 w 1722609"/>
                <a:gd name="connsiteY0" fmla="*/ 1459542 h 2813818"/>
                <a:gd name="connsiteX1" fmla="*/ 509531 w 1722609"/>
                <a:gd name="connsiteY1" fmla="*/ 136235 h 2813818"/>
                <a:gd name="connsiteX2" fmla="*/ 1117927 w 1722609"/>
                <a:gd name="connsiteY2" fmla="*/ 82999 h 2813818"/>
                <a:gd name="connsiteX3" fmla="*/ 1178767 w 1722609"/>
                <a:gd name="connsiteY3" fmla="*/ 493680 h 2813818"/>
                <a:gd name="connsiteX4" fmla="*/ 790914 w 1722609"/>
                <a:gd name="connsiteY4" fmla="*/ 1018440 h 2813818"/>
                <a:gd name="connsiteX5" fmla="*/ 935409 w 1722609"/>
                <a:gd name="connsiteY5" fmla="*/ 1071676 h 2813818"/>
                <a:gd name="connsiteX6" fmla="*/ 1232002 w 1722609"/>
                <a:gd name="connsiteY6" fmla="*/ 683810 h 2813818"/>
                <a:gd name="connsiteX7" fmla="*/ 1619854 w 1722609"/>
                <a:gd name="connsiteY7" fmla="*/ 668600 h 2813818"/>
                <a:gd name="connsiteX8" fmla="*/ 1711113 w 1722609"/>
                <a:gd name="connsiteY8" fmla="*/ 1018440 h 2813818"/>
                <a:gd name="connsiteX9" fmla="*/ 1414520 w 1722609"/>
                <a:gd name="connsiteY9" fmla="*/ 1406306 h 2813818"/>
                <a:gd name="connsiteX10" fmla="*/ 783309 w 1722609"/>
                <a:gd name="connsiteY10" fmla="*/ 1588831 h 2813818"/>
                <a:gd name="connsiteX11" fmla="*/ 1338471 w 1722609"/>
                <a:gd name="connsiteY11" fmla="*/ 2136406 h 2813818"/>
                <a:gd name="connsiteX12" fmla="*/ 1178767 w 1722609"/>
                <a:gd name="connsiteY12" fmla="*/ 2699192 h 2813818"/>
                <a:gd name="connsiteX13" fmla="*/ 714865 w 1722609"/>
                <a:gd name="connsiteY13" fmla="*/ 2722008 h 2813818"/>
                <a:gd name="connsiteX14" fmla="*/ 60840 w 1722609"/>
                <a:gd name="connsiteY14" fmla="*/ 1702909 h 2813818"/>
                <a:gd name="connsiteX0" fmla="*/ 0 w 1722609"/>
                <a:gd name="connsiteY0" fmla="*/ 1459542 h 2830868"/>
                <a:gd name="connsiteX1" fmla="*/ 509531 w 1722609"/>
                <a:gd name="connsiteY1" fmla="*/ 136235 h 2830868"/>
                <a:gd name="connsiteX2" fmla="*/ 1117927 w 1722609"/>
                <a:gd name="connsiteY2" fmla="*/ 82999 h 2830868"/>
                <a:gd name="connsiteX3" fmla="*/ 1178767 w 1722609"/>
                <a:gd name="connsiteY3" fmla="*/ 493680 h 2830868"/>
                <a:gd name="connsiteX4" fmla="*/ 790914 w 1722609"/>
                <a:gd name="connsiteY4" fmla="*/ 1018440 h 2830868"/>
                <a:gd name="connsiteX5" fmla="*/ 935409 w 1722609"/>
                <a:gd name="connsiteY5" fmla="*/ 1071676 h 2830868"/>
                <a:gd name="connsiteX6" fmla="*/ 1232002 w 1722609"/>
                <a:gd name="connsiteY6" fmla="*/ 683810 h 2830868"/>
                <a:gd name="connsiteX7" fmla="*/ 1619854 w 1722609"/>
                <a:gd name="connsiteY7" fmla="*/ 668600 h 2830868"/>
                <a:gd name="connsiteX8" fmla="*/ 1711113 w 1722609"/>
                <a:gd name="connsiteY8" fmla="*/ 1018440 h 2830868"/>
                <a:gd name="connsiteX9" fmla="*/ 1414520 w 1722609"/>
                <a:gd name="connsiteY9" fmla="*/ 1406306 h 2830868"/>
                <a:gd name="connsiteX10" fmla="*/ 783309 w 1722609"/>
                <a:gd name="connsiteY10" fmla="*/ 1588831 h 2830868"/>
                <a:gd name="connsiteX11" fmla="*/ 1338471 w 1722609"/>
                <a:gd name="connsiteY11" fmla="*/ 2136406 h 2830868"/>
                <a:gd name="connsiteX12" fmla="*/ 1178767 w 1722609"/>
                <a:gd name="connsiteY12" fmla="*/ 2699192 h 2830868"/>
                <a:gd name="connsiteX13" fmla="*/ 714865 w 1722609"/>
                <a:gd name="connsiteY13" fmla="*/ 2722008 h 2830868"/>
                <a:gd name="connsiteX14" fmla="*/ 1 w 1722609"/>
                <a:gd name="connsiteY14" fmla="*/ 1467147 h 2830868"/>
                <a:gd name="connsiteX0" fmla="*/ 60839 w 1783448"/>
                <a:gd name="connsiteY0" fmla="*/ 1459542 h 2807271"/>
                <a:gd name="connsiteX1" fmla="*/ 570370 w 1783448"/>
                <a:gd name="connsiteY1" fmla="*/ 136235 h 2807271"/>
                <a:gd name="connsiteX2" fmla="*/ 1178766 w 1783448"/>
                <a:gd name="connsiteY2" fmla="*/ 82999 h 2807271"/>
                <a:gd name="connsiteX3" fmla="*/ 1239606 w 1783448"/>
                <a:gd name="connsiteY3" fmla="*/ 493680 h 2807271"/>
                <a:gd name="connsiteX4" fmla="*/ 851753 w 1783448"/>
                <a:gd name="connsiteY4" fmla="*/ 1018440 h 2807271"/>
                <a:gd name="connsiteX5" fmla="*/ 996248 w 1783448"/>
                <a:gd name="connsiteY5" fmla="*/ 1071676 h 2807271"/>
                <a:gd name="connsiteX6" fmla="*/ 1292841 w 1783448"/>
                <a:gd name="connsiteY6" fmla="*/ 683810 h 2807271"/>
                <a:gd name="connsiteX7" fmla="*/ 1680693 w 1783448"/>
                <a:gd name="connsiteY7" fmla="*/ 668600 h 2807271"/>
                <a:gd name="connsiteX8" fmla="*/ 1771952 w 1783448"/>
                <a:gd name="connsiteY8" fmla="*/ 1018440 h 2807271"/>
                <a:gd name="connsiteX9" fmla="*/ 1475359 w 1783448"/>
                <a:gd name="connsiteY9" fmla="*/ 1406306 h 2807271"/>
                <a:gd name="connsiteX10" fmla="*/ 844148 w 1783448"/>
                <a:gd name="connsiteY10" fmla="*/ 1588831 h 2807271"/>
                <a:gd name="connsiteX11" fmla="*/ 1399310 w 1783448"/>
                <a:gd name="connsiteY11" fmla="*/ 2136406 h 2807271"/>
                <a:gd name="connsiteX12" fmla="*/ 1239606 w 1783448"/>
                <a:gd name="connsiteY12" fmla="*/ 2699192 h 2807271"/>
                <a:gd name="connsiteX13" fmla="*/ 775704 w 1783448"/>
                <a:gd name="connsiteY13" fmla="*/ 2722008 h 2807271"/>
                <a:gd name="connsiteX14" fmla="*/ 0 w 1783448"/>
                <a:gd name="connsiteY14" fmla="*/ 1794171 h 2807271"/>
                <a:gd name="connsiteX0" fmla="*/ 0 w 1722609"/>
                <a:gd name="connsiteY0" fmla="*/ 1459542 h 2831973"/>
                <a:gd name="connsiteX1" fmla="*/ 509531 w 1722609"/>
                <a:gd name="connsiteY1" fmla="*/ 136235 h 2831973"/>
                <a:gd name="connsiteX2" fmla="*/ 1117927 w 1722609"/>
                <a:gd name="connsiteY2" fmla="*/ 82999 h 2831973"/>
                <a:gd name="connsiteX3" fmla="*/ 1178767 w 1722609"/>
                <a:gd name="connsiteY3" fmla="*/ 493680 h 2831973"/>
                <a:gd name="connsiteX4" fmla="*/ 790914 w 1722609"/>
                <a:gd name="connsiteY4" fmla="*/ 1018440 h 2831973"/>
                <a:gd name="connsiteX5" fmla="*/ 935409 w 1722609"/>
                <a:gd name="connsiteY5" fmla="*/ 1071676 h 2831973"/>
                <a:gd name="connsiteX6" fmla="*/ 1232002 w 1722609"/>
                <a:gd name="connsiteY6" fmla="*/ 683810 h 2831973"/>
                <a:gd name="connsiteX7" fmla="*/ 1619854 w 1722609"/>
                <a:gd name="connsiteY7" fmla="*/ 668600 h 2831973"/>
                <a:gd name="connsiteX8" fmla="*/ 1711113 w 1722609"/>
                <a:gd name="connsiteY8" fmla="*/ 1018440 h 2831973"/>
                <a:gd name="connsiteX9" fmla="*/ 1414520 w 1722609"/>
                <a:gd name="connsiteY9" fmla="*/ 1406306 h 2831973"/>
                <a:gd name="connsiteX10" fmla="*/ 783309 w 1722609"/>
                <a:gd name="connsiteY10" fmla="*/ 1588831 h 2831973"/>
                <a:gd name="connsiteX11" fmla="*/ 1338471 w 1722609"/>
                <a:gd name="connsiteY11" fmla="*/ 2136406 h 2831973"/>
                <a:gd name="connsiteX12" fmla="*/ 1178767 w 1722609"/>
                <a:gd name="connsiteY12" fmla="*/ 2699192 h 2831973"/>
                <a:gd name="connsiteX13" fmla="*/ 714865 w 1722609"/>
                <a:gd name="connsiteY13" fmla="*/ 2722008 h 2831973"/>
                <a:gd name="connsiteX14" fmla="*/ 1 w 1722609"/>
                <a:gd name="connsiteY14" fmla="*/ 1451937 h 2831973"/>
                <a:gd name="connsiteX0" fmla="*/ 0 w 1722609"/>
                <a:gd name="connsiteY0" fmla="*/ 1459542 h 2818202"/>
                <a:gd name="connsiteX1" fmla="*/ 509531 w 1722609"/>
                <a:gd name="connsiteY1" fmla="*/ 136235 h 2818202"/>
                <a:gd name="connsiteX2" fmla="*/ 1117927 w 1722609"/>
                <a:gd name="connsiteY2" fmla="*/ 82999 h 2818202"/>
                <a:gd name="connsiteX3" fmla="*/ 1178767 w 1722609"/>
                <a:gd name="connsiteY3" fmla="*/ 493680 h 2818202"/>
                <a:gd name="connsiteX4" fmla="*/ 790914 w 1722609"/>
                <a:gd name="connsiteY4" fmla="*/ 1018440 h 2818202"/>
                <a:gd name="connsiteX5" fmla="*/ 935409 w 1722609"/>
                <a:gd name="connsiteY5" fmla="*/ 1071676 h 2818202"/>
                <a:gd name="connsiteX6" fmla="*/ 1232002 w 1722609"/>
                <a:gd name="connsiteY6" fmla="*/ 683810 h 2818202"/>
                <a:gd name="connsiteX7" fmla="*/ 1619854 w 1722609"/>
                <a:gd name="connsiteY7" fmla="*/ 668600 h 2818202"/>
                <a:gd name="connsiteX8" fmla="*/ 1711113 w 1722609"/>
                <a:gd name="connsiteY8" fmla="*/ 1018440 h 2818202"/>
                <a:gd name="connsiteX9" fmla="*/ 1414520 w 1722609"/>
                <a:gd name="connsiteY9" fmla="*/ 1406306 h 2818202"/>
                <a:gd name="connsiteX10" fmla="*/ 783309 w 1722609"/>
                <a:gd name="connsiteY10" fmla="*/ 1588831 h 2818202"/>
                <a:gd name="connsiteX11" fmla="*/ 1338471 w 1722609"/>
                <a:gd name="connsiteY11" fmla="*/ 2136406 h 2818202"/>
                <a:gd name="connsiteX12" fmla="*/ 1178767 w 1722609"/>
                <a:gd name="connsiteY12" fmla="*/ 2699192 h 2818202"/>
                <a:gd name="connsiteX13" fmla="*/ 714865 w 1722609"/>
                <a:gd name="connsiteY13" fmla="*/ 2722008 h 2818202"/>
                <a:gd name="connsiteX14" fmla="*/ 22816 w 1722609"/>
                <a:gd name="connsiteY14" fmla="*/ 1642067 h 2818202"/>
                <a:gd name="connsiteX0" fmla="*/ 15209 w 1699793"/>
                <a:gd name="connsiteY0" fmla="*/ 1654646 h 2830781"/>
                <a:gd name="connsiteX1" fmla="*/ 486715 w 1699793"/>
                <a:gd name="connsiteY1" fmla="*/ 148814 h 2830781"/>
                <a:gd name="connsiteX2" fmla="*/ 1095111 w 1699793"/>
                <a:gd name="connsiteY2" fmla="*/ 95578 h 2830781"/>
                <a:gd name="connsiteX3" fmla="*/ 1155951 w 1699793"/>
                <a:gd name="connsiteY3" fmla="*/ 506259 h 2830781"/>
                <a:gd name="connsiteX4" fmla="*/ 768098 w 1699793"/>
                <a:gd name="connsiteY4" fmla="*/ 1031019 h 2830781"/>
                <a:gd name="connsiteX5" fmla="*/ 912593 w 1699793"/>
                <a:gd name="connsiteY5" fmla="*/ 1084255 h 2830781"/>
                <a:gd name="connsiteX6" fmla="*/ 1209186 w 1699793"/>
                <a:gd name="connsiteY6" fmla="*/ 696389 h 2830781"/>
                <a:gd name="connsiteX7" fmla="*/ 1597038 w 1699793"/>
                <a:gd name="connsiteY7" fmla="*/ 681179 h 2830781"/>
                <a:gd name="connsiteX8" fmla="*/ 1688297 w 1699793"/>
                <a:gd name="connsiteY8" fmla="*/ 1031019 h 2830781"/>
                <a:gd name="connsiteX9" fmla="*/ 1391704 w 1699793"/>
                <a:gd name="connsiteY9" fmla="*/ 1418885 h 2830781"/>
                <a:gd name="connsiteX10" fmla="*/ 760493 w 1699793"/>
                <a:gd name="connsiteY10" fmla="*/ 1601410 h 2830781"/>
                <a:gd name="connsiteX11" fmla="*/ 1315655 w 1699793"/>
                <a:gd name="connsiteY11" fmla="*/ 2148985 h 2830781"/>
                <a:gd name="connsiteX12" fmla="*/ 1155951 w 1699793"/>
                <a:gd name="connsiteY12" fmla="*/ 2711771 h 2830781"/>
                <a:gd name="connsiteX13" fmla="*/ 692049 w 1699793"/>
                <a:gd name="connsiteY13" fmla="*/ 2734587 h 2830781"/>
                <a:gd name="connsiteX14" fmla="*/ 0 w 1699793"/>
                <a:gd name="connsiteY14" fmla="*/ 1654646 h 2830781"/>
                <a:gd name="connsiteX0" fmla="*/ 15209 w 1699793"/>
                <a:gd name="connsiteY0" fmla="*/ 1618106 h 2794241"/>
                <a:gd name="connsiteX1" fmla="*/ 486715 w 1699793"/>
                <a:gd name="connsiteY1" fmla="*/ 173116 h 2794241"/>
                <a:gd name="connsiteX2" fmla="*/ 1095111 w 1699793"/>
                <a:gd name="connsiteY2" fmla="*/ 59038 h 2794241"/>
                <a:gd name="connsiteX3" fmla="*/ 1155951 w 1699793"/>
                <a:gd name="connsiteY3" fmla="*/ 469719 h 2794241"/>
                <a:gd name="connsiteX4" fmla="*/ 768098 w 1699793"/>
                <a:gd name="connsiteY4" fmla="*/ 994479 h 2794241"/>
                <a:gd name="connsiteX5" fmla="*/ 912593 w 1699793"/>
                <a:gd name="connsiteY5" fmla="*/ 1047715 h 2794241"/>
                <a:gd name="connsiteX6" fmla="*/ 1209186 w 1699793"/>
                <a:gd name="connsiteY6" fmla="*/ 659849 h 2794241"/>
                <a:gd name="connsiteX7" fmla="*/ 1597038 w 1699793"/>
                <a:gd name="connsiteY7" fmla="*/ 644639 h 2794241"/>
                <a:gd name="connsiteX8" fmla="*/ 1688297 w 1699793"/>
                <a:gd name="connsiteY8" fmla="*/ 994479 h 2794241"/>
                <a:gd name="connsiteX9" fmla="*/ 1391704 w 1699793"/>
                <a:gd name="connsiteY9" fmla="*/ 1382345 h 2794241"/>
                <a:gd name="connsiteX10" fmla="*/ 760493 w 1699793"/>
                <a:gd name="connsiteY10" fmla="*/ 1564870 h 2794241"/>
                <a:gd name="connsiteX11" fmla="*/ 1315655 w 1699793"/>
                <a:gd name="connsiteY11" fmla="*/ 2112445 h 2794241"/>
                <a:gd name="connsiteX12" fmla="*/ 1155951 w 1699793"/>
                <a:gd name="connsiteY12" fmla="*/ 2675231 h 2794241"/>
                <a:gd name="connsiteX13" fmla="*/ 692049 w 1699793"/>
                <a:gd name="connsiteY13" fmla="*/ 2698047 h 2794241"/>
                <a:gd name="connsiteX14" fmla="*/ 0 w 1699793"/>
                <a:gd name="connsiteY14" fmla="*/ 1618106 h 2794241"/>
                <a:gd name="connsiteX0" fmla="*/ 15209 w 1699793"/>
                <a:gd name="connsiteY0" fmla="*/ 1586341 h 2762476"/>
                <a:gd name="connsiteX1" fmla="*/ 486715 w 1699793"/>
                <a:gd name="connsiteY1" fmla="*/ 141351 h 2762476"/>
                <a:gd name="connsiteX2" fmla="*/ 1034272 w 1699793"/>
                <a:gd name="connsiteY2" fmla="*/ 88115 h 2762476"/>
                <a:gd name="connsiteX3" fmla="*/ 1155951 w 1699793"/>
                <a:gd name="connsiteY3" fmla="*/ 437954 h 2762476"/>
                <a:gd name="connsiteX4" fmla="*/ 768098 w 1699793"/>
                <a:gd name="connsiteY4" fmla="*/ 962714 h 2762476"/>
                <a:gd name="connsiteX5" fmla="*/ 912593 w 1699793"/>
                <a:gd name="connsiteY5" fmla="*/ 1015950 h 2762476"/>
                <a:gd name="connsiteX6" fmla="*/ 1209186 w 1699793"/>
                <a:gd name="connsiteY6" fmla="*/ 628084 h 2762476"/>
                <a:gd name="connsiteX7" fmla="*/ 1597038 w 1699793"/>
                <a:gd name="connsiteY7" fmla="*/ 612874 h 2762476"/>
                <a:gd name="connsiteX8" fmla="*/ 1688297 w 1699793"/>
                <a:gd name="connsiteY8" fmla="*/ 962714 h 2762476"/>
                <a:gd name="connsiteX9" fmla="*/ 1391704 w 1699793"/>
                <a:gd name="connsiteY9" fmla="*/ 1350580 h 2762476"/>
                <a:gd name="connsiteX10" fmla="*/ 760493 w 1699793"/>
                <a:gd name="connsiteY10" fmla="*/ 1533105 h 2762476"/>
                <a:gd name="connsiteX11" fmla="*/ 1315655 w 1699793"/>
                <a:gd name="connsiteY11" fmla="*/ 2080680 h 2762476"/>
                <a:gd name="connsiteX12" fmla="*/ 1155951 w 1699793"/>
                <a:gd name="connsiteY12" fmla="*/ 2643466 h 2762476"/>
                <a:gd name="connsiteX13" fmla="*/ 692049 w 1699793"/>
                <a:gd name="connsiteY13" fmla="*/ 2666282 h 2762476"/>
                <a:gd name="connsiteX14" fmla="*/ 0 w 1699793"/>
                <a:gd name="connsiteY14" fmla="*/ 1586341 h 276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99793" h="2762476">
                  <a:moveTo>
                    <a:pt x="15209" y="1586341"/>
                  </a:moveTo>
                  <a:cubicBezTo>
                    <a:pt x="176814" y="1039399"/>
                    <a:pt x="316871" y="391055"/>
                    <a:pt x="486715" y="141351"/>
                  </a:cubicBezTo>
                  <a:cubicBezTo>
                    <a:pt x="656559" y="-108353"/>
                    <a:pt x="922733" y="38681"/>
                    <a:pt x="1034272" y="88115"/>
                  </a:cubicBezTo>
                  <a:cubicBezTo>
                    <a:pt x="1145811" y="137549"/>
                    <a:pt x="1200313" y="292187"/>
                    <a:pt x="1155951" y="437954"/>
                  </a:cubicBezTo>
                  <a:cubicBezTo>
                    <a:pt x="1111589" y="583721"/>
                    <a:pt x="808658" y="866381"/>
                    <a:pt x="768098" y="962714"/>
                  </a:cubicBezTo>
                  <a:cubicBezTo>
                    <a:pt x="727538" y="1059047"/>
                    <a:pt x="844149" y="1088200"/>
                    <a:pt x="912593" y="1015950"/>
                  </a:cubicBezTo>
                  <a:cubicBezTo>
                    <a:pt x="981038" y="943700"/>
                    <a:pt x="1095112" y="695263"/>
                    <a:pt x="1209186" y="628084"/>
                  </a:cubicBezTo>
                  <a:cubicBezTo>
                    <a:pt x="1323260" y="560905"/>
                    <a:pt x="1517186" y="557102"/>
                    <a:pt x="1597038" y="612874"/>
                  </a:cubicBezTo>
                  <a:cubicBezTo>
                    <a:pt x="1676890" y="668646"/>
                    <a:pt x="1722519" y="839763"/>
                    <a:pt x="1688297" y="962714"/>
                  </a:cubicBezTo>
                  <a:cubicBezTo>
                    <a:pt x="1654075" y="1085665"/>
                    <a:pt x="1546338" y="1255515"/>
                    <a:pt x="1391704" y="1350580"/>
                  </a:cubicBezTo>
                  <a:cubicBezTo>
                    <a:pt x="1237070" y="1445645"/>
                    <a:pt x="773168" y="1411422"/>
                    <a:pt x="760493" y="1533105"/>
                  </a:cubicBezTo>
                  <a:cubicBezTo>
                    <a:pt x="747818" y="1654788"/>
                    <a:pt x="1249745" y="1895620"/>
                    <a:pt x="1315655" y="2080680"/>
                  </a:cubicBezTo>
                  <a:cubicBezTo>
                    <a:pt x="1381565" y="2265740"/>
                    <a:pt x="1259885" y="2545866"/>
                    <a:pt x="1155951" y="2643466"/>
                  </a:cubicBezTo>
                  <a:cubicBezTo>
                    <a:pt x="1052017" y="2741066"/>
                    <a:pt x="884708" y="2842470"/>
                    <a:pt x="692049" y="2666282"/>
                  </a:cubicBezTo>
                  <a:cubicBezTo>
                    <a:pt x="499390" y="2490094"/>
                    <a:pt x="0" y="1586341"/>
                    <a:pt x="0" y="1586341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prstClr val="black"/>
                </a:solidFill>
                <a:latin typeface="Tahoma" pitchFamily="-64" charset="0"/>
              </a:endParaRPr>
            </a:p>
          </p:txBody>
        </p:sp>
        <p:sp>
          <p:nvSpPr>
            <p:cNvPr id="130" name="Oval 129"/>
            <p:cNvSpPr/>
            <p:nvPr/>
          </p:nvSpPr>
          <p:spPr bwMode="auto">
            <a:xfrm>
              <a:off x="3124200" y="3886200"/>
              <a:ext cx="685800" cy="685800"/>
            </a:xfrm>
            <a:prstGeom prst="ellipse">
              <a:avLst/>
            </a:prstGeom>
            <a:solidFill>
              <a:srgbClr val="FAC090"/>
            </a:solidFill>
            <a:ln w="38100" cap="flat" cmpd="sng" algn="ctr">
              <a:solidFill>
                <a:srgbClr val="E46C0A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prstClr val="black"/>
                </a:solidFill>
                <a:latin typeface="Tahoma" pitchFamily="-64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00917" y="1560493"/>
              <a:ext cx="140372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Local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Updates</a:t>
              </a:r>
            </a:p>
          </p:txBody>
        </p:sp>
        <p:grpSp>
          <p:nvGrpSpPr>
            <p:cNvPr id="7" name="Group 109"/>
            <p:cNvGrpSpPr/>
            <p:nvPr/>
          </p:nvGrpSpPr>
          <p:grpSpPr>
            <a:xfrm>
              <a:off x="3305286" y="2819400"/>
              <a:ext cx="2181114" cy="2438398"/>
              <a:chOff x="381000" y="2819402"/>
              <a:chExt cx="2181114" cy="2438398"/>
            </a:xfrm>
          </p:grpSpPr>
          <p:cxnSp>
            <p:nvCxnSpPr>
              <p:cNvPr id="111" name="Straight Connector 110"/>
              <p:cNvCxnSpPr/>
              <p:nvPr/>
            </p:nvCxnSpPr>
            <p:spPr bwMode="auto">
              <a:xfrm flipV="1">
                <a:off x="1552507" y="3021355"/>
                <a:ext cx="702904" cy="65634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V="1">
                <a:off x="568442" y="3677704"/>
                <a:ext cx="984066" cy="55537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 bwMode="auto">
              <a:xfrm flipV="1">
                <a:off x="1037044" y="3021355"/>
                <a:ext cx="1218367" cy="201953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 bwMode="auto">
              <a:xfrm flipH="1">
                <a:off x="568442" y="3172820"/>
                <a:ext cx="421743" cy="106025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 bwMode="auto">
              <a:xfrm rot="5400000">
                <a:off x="683474" y="4171854"/>
                <a:ext cx="1363185" cy="37488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auto">
              <a:xfrm rot="16200000" flipH="1">
                <a:off x="445696" y="4308960"/>
                <a:ext cx="807813" cy="65604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auto">
              <a:xfrm rot="16200000" flipH="1">
                <a:off x="1871306" y="3405460"/>
                <a:ext cx="908789" cy="140581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rot="5400000">
                <a:off x="1855133" y="4096121"/>
                <a:ext cx="706837" cy="37488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auto">
              <a:xfrm rot="16200000" flipH="1">
                <a:off x="1307169" y="3923041"/>
                <a:ext cx="959278" cy="46860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 bwMode="auto">
              <a:xfrm flipV="1">
                <a:off x="1177625" y="4636981"/>
                <a:ext cx="843485" cy="35341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21" name="Picture 120" descr="aapo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80529" y="4384539"/>
                <a:ext cx="298466" cy="482362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2" name="Picture 121" descr="arthur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208550" y="3677704"/>
                <a:ext cx="353564" cy="482362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3" name="Picture 122" descr="funiak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21110" y="2819402"/>
                <a:ext cx="392878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4" name="Picture 123" descr="gonzalez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81000" y="3980633"/>
                <a:ext cx="320212" cy="48300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5" name="Picture 124" descr="guestrin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65066" y="3425261"/>
                <a:ext cx="324200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6" name="Picture 125" descr="ylow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90183" y="4788446"/>
                <a:ext cx="344515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7" name="Picture 126" descr="hong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49602" y="2920378"/>
                <a:ext cx="332043" cy="482360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353920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576" y="2466511"/>
            <a:ext cx="3109294" cy="10609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ML Tasks Beyond Data-Parallelism </a:t>
            </a:r>
            <a:endParaRPr lang="en-US" sz="4000" dirty="0"/>
          </a:p>
        </p:txBody>
      </p:sp>
      <p:sp>
        <p:nvSpPr>
          <p:cNvPr id="5" name="Left-Right Arrow 4"/>
          <p:cNvSpPr/>
          <p:nvPr/>
        </p:nvSpPr>
        <p:spPr bwMode="auto">
          <a:xfrm>
            <a:off x="542310" y="1481171"/>
            <a:ext cx="7999987" cy="957229"/>
          </a:xfrm>
          <a:prstGeom prst="leftRightArrow">
            <a:avLst>
              <a:gd name="adj1" fmla="val 64701"/>
              <a:gd name="adj2" fmla="val 50000"/>
            </a:avLst>
          </a:prstGeom>
          <a:gradFill flip="none" rotWithShape="1">
            <a:gsLst>
              <a:gs pos="0">
                <a:schemeClr val="bg1"/>
              </a:gs>
              <a:gs pos="82000">
                <a:schemeClr val="accent2">
                  <a:shade val="94000"/>
                  <a:satMod val="135000"/>
                </a:schemeClr>
              </a:gs>
            </a:gsLst>
            <a:lin ang="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Data-Parallel         </a:t>
            </a:r>
            <a:r>
              <a:rPr lang="en-US" sz="2800" dirty="0" smtClean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            </a:t>
            </a:r>
            <a:r>
              <a:rPr lang="en-US" sz="2800" dirty="0">
                <a:solidFill>
                  <a:prstClr val="white"/>
                </a:solidFill>
                <a:latin typeface="Tahoma" pitchFamily="34" charset="0"/>
                <a:ea typeface="ＭＳ Ｐゴシック" pitchFamily="-111" charset="-128"/>
              </a:rPr>
              <a:t>Graph-Parallel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4733" y="3276600"/>
            <a:ext cx="1434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Cross</a:t>
            </a:r>
          </a:p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388" y="3276600"/>
            <a:ext cx="1447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Feature </a:t>
            </a:r>
          </a:p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Extraction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4905" y="2438400"/>
            <a:ext cx="2788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4000" dirty="0">
                <a:solidFill>
                  <a:prstClr val="black"/>
                </a:solidFill>
                <a:latin typeface="Calibri"/>
              </a:rPr>
              <a:t>Map 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6653" y="4154269"/>
            <a:ext cx="237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Computing Sufficient</a:t>
            </a:r>
          </a:p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Statistics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5754" y="3604984"/>
            <a:ext cx="20466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Graphical Models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Gibbs Sampling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Belief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Variational</a:t>
            </a:r>
            <a:r>
              <a:rPr lang="en-US" dirty="0" smtClean="0">
                <a:solidFill>
                  <a:schemeClr val="accent1"/>
                </a:solidFill>
              </a:rPr>
              <a:t> Opt.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6223" y="3604984"/>
            <a:ext cx="20191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Semi-Supervised </a:t>
            </a:r>
            <a:br>
              <a:rPr lang="en-US" sz="2000" b="1" dirty="0" smtClean="0"/>
            </a:br>
            <a:r>
              <a:rPr lang="en-US" sz="2000" b="1" dirty="0" smtClean="0"/>
              <a:t>Learning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Label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CoEM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2916" y="4900384"/>
            <a:ext cx="18257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 Analysis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PageRank</a:t>
            </a:r>
            <a:endParaRPr lang="en-US" dirty="0" smtClean="0">
              <a:solidFill>
                <a:schemeClr val="accent1"/>
              </a:solidFill>
            </a:endParaRP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Triangle Counting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6423" y="4900384"/>
            <a:ext cx="206530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Collaborative </a:t>
            </a:r>
          </a:p>
          <a:p>
            <a:pPr algn="ctr"/>
            <a:r>
              <a:rPr lang="en-US" sz="2000" b="1" dirty="0" smtClean="0"/>
              <a:t>Filtering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Tensor Factorization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038972" y="1129042"/>
            <a:ext cx="4724400" cy="5195558"/>
          </a:xfrm>
          <a:prstGeom prst="rect">
            <a:avLst/>
          </a:prstGeom>
          <a:solidFill>
            <a:srgbClr val="FFFFFF">
              <a:alpha val="9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black"/>
              </a:solidFill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43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ML Tasks Beyond Data-Parallelism </a:t>
            </a:r>
            <a:endParaRPr lang="en-US" sz="4000" dirty="0"/>
          </a:p>
        </p:txBody>
      </p:sp>
      <p:sp>
        <p:nvSpPr>
          <p:cNvPr id="5" name="Left-Right Arrow 4"/>
          <p:cNvSpPr/>
          <p:nvPr/>
        </p:nvSpPr>
        <p:spPr bwMode="auto">
          <a:xfrm>
            <a:off x="542310" y="1481171"/>
            <a:ext cx="7999987" cy="957229"/>
          </a:xfrm>
          <a:prstGeom prst="leftRightArrow">
            <a:avLst>
              <a:gd name="adj1" fmla="val 64701"/>
              <a:gd name="adj2" fmla="val 50000"/>
            </a:avLst>
          </a:prstGeom>
          <a:gradFill flip="none" rotWithShape="1">
            <a:gsLst>
              <a:gs pos="0">
                <a:schemeClr val="bg1"/>
              </a:gs>
              <a:gs pos="82000">
                <a:schemeClr val="accent2">
                  <a:shade val="94000"/>
                  <a:satMod val="135000"/>
                </a:schemeClr>
              </a:gs>
            </a:gsLst>
            <a:lin ang="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Data-Parallel         </a:t>
            </a:r>
            <a:r>
              <a:rPr lang="en-US" sz="2800" dirty="0" smtClean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            </a:t>
            </a:r>
            <a:r>
              <a:rPr lang="en-US" sz="2800" dirty="0">
                <a:solidFill>
                  <a:prstClr val="white"/>
                </a:solidFill>
                <a:latin typeface="Tahoma" pitchFamily="34" charset="0"/>
                <a:ea typeface="ＭＳ Ｐゴシック" pitchFamily="-111" charset="-128"/>
              </a:rPr>
              <a:t>Graph-Parallel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4733" y="3276600"/>
            <a:ext cx="1434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Cross</a:t>
            </a:r>
          </a:p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388" y="3276600"/>
            <a:ext cx="1447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Feature </a:t>
            </a:r>
          </a:p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Extraction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4905" y="2438400"/>
            <a:ext cx="2788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4000" dirty="0">
                <a:solidFill>
                  <a:prstClr val="black"/>
                </a:solidFill>
                <a:latin typeface="Calibri"/>
              </a:rPr>
              <a:t>Map 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6653" y="4154269"/>
            <a:ext cx="237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Computing Sufficient</a:t>
            </a:r>
          </a:p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Statistics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5754" y="3604984"/>
            <a:ext cx="20466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Graphical Models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Gibbs Sampling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Belief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Variational</a:t>
            </a:r>
            <a:r>
              <a:rPr lang="en-US" dirty="0" smtClean="0">
                <a:solidFill>
                  <a:schemeClr val="accent1"/>
                </a:solidFill>
              </a:rPr>
              <a:t> Opt.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6223" y="3604984"/>
            <a:ext cx="20191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Semi-Supervised </a:t>
            </a:r>
            <a:br>
              <a:rPr lang="en-US" sz="2000" b="1" dirty="0" smtClean="0"/>
            </a:br>
            <a:r>
              <a:rPr lang="en-US" sz="2000" b="1" dirty="0" smtClean="0"/>
              <a:t>Learning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Label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CoEM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2916" y="4900384"/>
            <a:ext cx="18257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 Analysis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PageRank</a:t>
            </a:r>
            <a:endParaRPr lang="en-US" dirty="0" smtClean="0">
              <a:solidFill>
                <a:schemeClr val="accent1"/>
              </a:solidFill>
            </a:endParaRP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Triangle Counting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456423" y="4900384"/>
            <a:ext cx="206530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Collaborative </a:t>
            </a:r>
          </a:p>
          <a:p>
            <a:pPr algn="ctr"/>
            <a:r>
              <a:rPr lang="en-US" sz="2000" b="1" dirty="0" smtClean="0"/>
              <a:t>Filtering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Tensor Factorization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16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47718" y="2568714"/>
            <a:ext cx="30370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4000" dirty="0">
                <a:solidFill>
                  <a:prstClr val="black"/>
                </a:solidFill>
                <a:latin typeface="Calibri"/>
              </a:rPr>
              <a:t>Map </a:t>
            </a:r>
            <a:r>
              <a:rPr lang="en-US" sz="4000" dirty="0" smtClean="0">
                <a:solidFill>
                  <a:prstClr val="black"/>
                </a:solidFill>
                <a:latin typeface="Calibri"/>
              </a:rPr>
              <a:t>Reduce?</a:t>
            </a:r>
            <a:endParaRPr lang="en-US" sz="40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159532" y="1116713"/>
            <a:ext cx="4724400" cy="5195558"/>
          </a:xfrm>
          <a:prstGeom prst="rect">
            <a:avLst/>
          </a:prstGeom>
          <a:solidFill>
            <a:srgbClr val="FFFFFF">
              <a:alpha val="9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prstClr val="black"/>
              </a:solidFill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4186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Properties of Graph-Parallel Algorithms</a:t>
            </a:r>
            <a:endParaRPr lang="en-US" sz="3600" dirty="0"/>
          </a:p>
        </p:txBody>
      </p:sp>
      <p:grpSp>
        <p:nvGrpSpPr>
          <p:cNvPr id="3" name="Group 107"/>
          <p:cNvGrpSpPr/>
          <p:nvPr/>
        </p:nvGrpSpPr>
        <p:grpSpPr>
          <a:xfrm>
            <a:off x="457200" y="2924135"/>
            <a:ext cx="2181114" cy="2438398"/>
            <a:chOff x="381000" y="2819402"/>
            <a:chExt cx="2181114" cy="2438398"/>
          </a:xfrm>
        </p:grpSpPr>
        <p:cxnSp>
          <p:nvCxnSpPr>
            <p:cNvPr id="69" name="Straight Connector 68"/>
            <p:cNvCxnSpPr/>
            <p:nvPr/>
          </p:nvCxnSpPr>
          <p:spPr bwMode="auto">
            <a:xfrm flipV="1">
              <a:off x="1552507" y="3021355"/>
              <a:ext cx="702904" cy="656348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 bwMode="auto">
            <a:xfrm flipV="1">
              <a:off x="568442" y="3677704"/>
              <a:ext cx="984066" cy="55537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flipV="1">
              <a:off x="1037044" y="3021355"/>
              <a:ext cx="1218367" cy="201953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 bwMode="auto">
            <a:xfrm flipH="1">
              <a:off x="568442" y="3172820"/>
              <a:ext cx="421743" cy="1060255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 bwMode="auto">
            <a:xfrm rot="5400000">
              <a:off x="683474" y="4171854"/>
              <a:ext cx="1363185" cy="37488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 bwMode="auto">
            <a:xfrm rot="16200000" flipH="1">
              <a:off x="445696" y="4308960"/>
              <a:ext cx="807813" cy="656044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6200000" flipH="1">
              <a:off x="1871306" y="3405460"/>
              <a:ext cx="908789" cy="140581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 bwMode="auto">
            <a:xfrm rot="5400000">
              <a:off x="1855133" y="4096121"/>
              <a:ext cx="706837" cy="37488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 bwMode="auto">
            <a:xfrm rot="16200000" flipH="1">
              <a:off x="1307169" y="3923041"/>
              <a:ext cx="959278" cy="468602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 bwMode="auto">
            <a:xfrm flipV="1">
              <a:off x="1177625" y="4636981"/>
              <a:ext cx="843485" cy="353418"/>
            </a:xfrm>
            <a:prstGeom prst="line">
              <a:avLst/>
            </a:prstGeom>
            <a:ln>
              <a:headEnd type="none" w="med" len="med"/>
              <a:tailEnd type="none" w="med" len="med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85" name="Picture 84" descr="aap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80529" y="4384539"/>
              <a:ext cx="298466" cy="48236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6" name="Picture 85" descr="arthur.jp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8550" y="3677704"/>
              <a:ext cx="353564" cy="48236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89" name="Picture 88" descr="funiak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1110" y="2819402"/>
              <a:ext cx="392878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0" name="Picture 89" descr="gonzalez.jp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3980633"/>
              <a:ext cx="320212" cy="48300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1" name="Picture 90" descr="guestrin.jp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5066" y="3425261"/>
              <a:ext cx="324200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2" name="Picture 91" descr="ylow.jpg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0183" y="4788446"/>
              <a:ext cx="344515" cy="46935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93" name="Picture 92" descr="hong.jpg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2000" y="2895600"/>
              <a:ext cx="332043" cy="482360"/>
            </a:xfrm>
            <a:prstGeom prst="rect">
              <a:avLst/>
            </a:prstGeom>
            <a:ln>
              <a:noFill/>
            </a:ln>
            <a:effectLst/>
          </p:spPr>
        </p:pic>
      </p:grpSp>
      <p:sp>
        <p:nvSpPr>
          <p:cNvPr id="95" name="TextBox 94"/>
          <p:cNvSpPr txBox="1"/>
          <p:nvPr/>
        </p:nvSpPr>
        <p:spPr>
          <a:xfrm>
            <a:off x="561638" y="1665226"/>
            <a:ext cx="20185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800" dirty="0">
                <a:solidFill>
                  <a:prstClr val="black"/>
                </a:solidFill>
                <a:latin typeface="Calibri"/>
              </a:rPr>
              <a:t>Dependency</a:t>
            </a:r>
          </a:p>
          <a:p>
            <a:pPr algn="ctr" defTabSz="914400"/>
            <a:r>
              <a:rPr lang="en-US" sz="2800" dirty="0">
                <a:solidFill>
                  <a:prstClr val="black"/>
                </a:solidFill>
                <a:latin typeface="Calibri"/>
              </a:rPr>
              <a:t>Graph</a:t>
            </a:r>
          </a:p>
        </p:txBody>
      </p:sp>
      <p:grpSp>
        <p:nvGrpSpPr>
          <p:cNvPr id="4" name="Group 6"/>
          <p:cNvGrpSpPr/>
          <p:nvPr/>
        </p:nvGrpSpPr>
        <p:grpSpPr>
          <a:xfrm>
            <a:off x="6266263" y="1704933"/>
            <a:ext cx="2572937" cy="3352800"/>
            <a:chOff x="6266263" y="1600200"/>
            <a:chExt cx="2572937" cy="3352800"/>
          </a:xfrm>
        </p:grpSpPr>
        <p:sp>
          <p:nvSpPr>
            <p:cNvPr id="96" name="TextBox 95"/>
            <p:cNvSpPr txBox="1"/>
            <p:nvPr/>
          </p:nvSpPr>
          <p:spPr>
            <a:xfrm>
              <a:off x="6452314" y="1600200"/>
              <a:ext cx="20999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Iterative</a:t>
              </a:r>
            </a:p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Computation</a:t>
              </a:r>
            </a:p>
          </p:txBody>
        </p:sp>
        <p:grpSp>
          <p:nvGrpSpPr>
            <p:cNvPr id="5" name="Group 57"/>
            <p:cNvGrpSpPr/>
            <p:nvPr/>
          </p:nvGrpSpPr>
          <p:grpSpPr>
            <a:xfrm>
              <a:off x="6266263" y="2971800"/>
              <a:ext cx="2572937" cy="1981200"/>
              <a:chOff x="5510564" y="5120037"/>
              <a:chExt cx="2877737" cy="1602445"/>
            </a:xfrm>
          </p:grpSpPr>
          <p:sp>
            <p:nvSpPr>
              <p:cNvPr id="104" name="Rectangle 103"/>
              <p:cNvSpPr/>
              <p:nvPr/>
            </p:nvSpPr>
            <p:spPr bwMode="auto">
              <a:xfrm>
                <a:off x="6056151" y="5120037"/>
                <a:ext cx="1793672" cy="42597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My Interests</a:t>
                </a:r>
                <a:endParaRPr lang="en-US" dirty="0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5" name="Rectangle 104"/>
              <p:cNvSpPr/>
              <p:nvPr/>
            </p:nvSpPr>
            <p:spPr bwMode="auto">
              <a:xfrm>
                <a:off x="6049546" y="6106157"/>
                <a:ext cx="1793672" cy="61632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dirty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Friends </a:t>
                </a: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/>
                </a:r>
                <a:b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</a:br>
                <a:r>
                  <a:rPr lang="en-US" dirty="0" smtClean="0">
                    <a:solidFill>
                      <a:prstClr val="black"/>
                    </a:solidFill>
                    <a:latin typeface="Tahoma" pitchFamily="34" charset="0"/>
                    <a:ea typeface="ＭＳ Ｐゴシック" pitchFamily="-111" charset="-128"/>
                  </a:rPr>
                  <a:t>Interests</a:t>
                </a:r>
                <a:endParaRPr lang="en-US" dirty="0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6" name="Curved Right Arrow 105"/>
              <p:cNvSpPr/>
              <p:nvPr/>
            </p:nvSpPr>
            <p:spPr bwMode="auto">
              <a:xfrm>
                <a:off x="5510564" y="5237079"/>
                <a:ext cx="538732" cy="1275106"/>
              </a:xfrm>
              <a:prstGeom prst="curvedRightArrow">
                <a:avLst>
                  <a:gd name="adj1" fmla="val 32991"/>
                  <a:gd name="adj2" fmla="val 70660"/>
                  <a:gd name="adj3" fmla="val 25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7" name="Curved Right Arrow 106"/>
              <p:cNvSpPr/>
              <p:nvPr/>
            </p:nvSpPr>
            <p:spPr bwMode="auto">
              <a:xfrm rot="10800000">
                <a:off x="7849569" y="5204644"/>
                <a:ext cx="538732" cy="1275106"/>
              </a:xfrm>
              <a:prstGeom prst="curvedRightArrow">
                <a:avLst>
                  <a:gd name="adj1" fmla="val 32991"/>
                  <a:gd name="adj2" fmla="val 70660"/>
                  <a:gd name="adj3" fmla="val 25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prstClr val="black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</p:grpSp>
      <p:grpSp>
        <p:nvGrpSpPr>
          <p:cNvPr id="6" name="Group 5"/>
          <p:cNvGrpSpPr/>
          <p:nvPr/>
        </p:nvGrpSpPr>
        <p:grpSpPr>
          <a:xfrm>
            <a:off x="3124200" y="1665226"/>
            <a:ext cx="2362200" cy="3897374"/>
            <a:chOff x="3124200" y="1560493"/>
            <a:chExt cx="2362200" cy="3897374"/>
          </a:xfrm>
        </p:grpSpPr>
        <p:sp>
          <p:nvSpPr>
            <p:cNvPr id="129" name="Freeform 128"/>
            <p:cNvSpPr/>
            <p:nvPr/>
          </p:nvSpPr>
          <p:spPr>
            <a:xfrm>
              <a:off x="3140845" y="2695391"/>
              <a:ext cx="1699793" cy="2762476"/>
            </a:xfrm>
            <a:custGeom>
              <a:avLst/>
              <a:gdLst>
                <a:gd name="connsiteX0" fmla="*/ 45630 w 1770936"/>
                <a:gd name="connsiteY0" fmla="*/ 1459542 h 3061433"/>
                <a:gd name="connsiteX1" fmla="*/ 555161 w 1770936"/>
                <a:gd name="connsiteY1" fmla="*/ 136235 h 3061433"/>
                <a:gd name="connsiteX2" fmla="*/ 1163557 w 1770936"/>
                <a:gd name="connsiteY2" fmla="*/ 82999 h 3061433"/>
                <a:gd name="connsiteX3" fmla="*/ 1224397 w 1770936"/>
                <a:gd name="connsiteY3" fmla="*/ 493680 h 3061433"/>
                <a:gd name="connsiteX4" fmla="*/ 806125 w 1770936"/>
                <a:gd name="connsiteY4" fmla="*/ 1117308 h 3061433"/>
                <a:gd name="connsiteX5" fmla="*/ 1163557 w 1770936"/>
                <a:gd name="connsiteY5" fmla="*/ 645784 h 3061433"/>
                <a:gd name="connsiteX6" fmla="*/ 1665484 w 1770936"/>
                <a:gd name="connsiteY6" fmla="*/ 668600 h 3061433"/>
                <a:gd name="connsiteX7" fmla="*/ 1756743 w 1770936"/>
                <a:gd name="connsiteY7" fmla="*/ 1018440 h 3061433"/>
                <a:gd name="connsiteX8" fmla="*/ 1460150 w 1770936"/>
                <a:gd name="connsiteY8" fmla="*/ 1406306 h 3061433"/>
                <a:gd name="connsiteX9" fmla="*/ 828939 w 1770936"/>
                <a:gd name="connsiteY9" fmla="*/ 1588831 h 3061433"/>
                <a:gd name="connsiteX10" fmla="*/ 1384101 w 1770936"/>
                <a:gd name="connsiteY10" fmla="*/ 2136406 h 3061433"/>
                <a:gd name="connsiteX11" fmla="*/ 1414521 w 1770936"/>
                <a:gd name="connsiteY11" fmla="*/ 2950164 h 3061433"/>
                <a:gd name="connsiteX12" fmla="*/ 692050 w 1770936"/>
                <a:gd name="connsiteY12" fmla="*/ 2912138 h 3061433"/>
                <a:gd name="connsiteX13" fmla="*/ 0 w 1770936"/>
                <a:gd name="connsiteY13" fmla="*/ 1642067 h 3061433"/>
                <a:gd name="connsiteX0" fmla="*/ 0 w 1725306"/>
                <a:gd name="connsiteY0" fmla="*/ 1459542 h 3073753"/>
                <a:gd name="connsiteX1" fmla="*/ 509531 w 1725306"/>
                <a:gd name="connsiteY1" fmla="*/ 136235 h 3073753"/>
                <a:gd name="connsiteX2" fmla="*/ 1117927 w 1725306"/>
                <a:gd name="connsiteY2" fmla="*/ 82999 h 3073753"/>
                <a:gd name="connsiteX3" fmla="*/ 1178767 w 1725306"/>
                <a:gd name="connsiteY3" fmla="*/ 493680 h 3073753"/>
                <a:gd name="connsiteX4" fmla="*/ 760495 w 1725306"/>
                <a:gd name="connsiteY4" fmla="*/ 1117308 h 3073753"/>
                <a:gd name="connsiteX5" fmla="*/ 1117927 w 1725306"/>
                <a:gd name="connsiteY5" fmla="*/ 645784 h 3073753"/>
                <a:gd name="connsiteX6" fmla="*/ 1619854 w 1725306"/>
                <a:gd name="connsiteY6" fmla="*/ 668600 h 3073753"/>
                <a:gd name="connsiteX7" fmla="*/ 1711113 w 1725306"/>
                <a:gd name="connsiteY7" fmla="*/ 1018440 h 3073753"/>
                <a:gd name="connsiteX8" fmla="*/ 1414520 w 1725306"/>
                <a:gd name="connsiteY8" fmla="*/ 1406306 h 3073753"/>
                <a:gd name="connsiteX9" fmla="*/ 783309 w 1725306"/>
                <a:gd name="connsiteY9" fmla="*/ 1588831 h 3073753"/>
                <a:gd name="connsiteX10" fmla="*/ 1338471 w 1725306"/>
                <a:gd name="connsiteY10" fmla="*/ 2136406 h 3073753"/>
                <a:gd name="connsiteX11" fmla="*/ 1368891 w 1725306"/>
                <a:gd name="connsiteY11" fmla="*/ 2950164 h 3073753"/>
                <a:gd name="connsiteX12" fmla="*/ 646420 w 1725306"/>
                <a:gd name="connsiteY12" fmla="*/ 2912138 h 3073753"/>
                <a:gd name="connsiteX13" fmla="*/ 15210 w 1725306"/>
                <a:gd name="connsiteY13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60495 w 1723947"/>
                <a:gd name="connsiteY4" fmla="*/ 1117308 h 3073753"/>
                <a:gd name="connsiteX5" fmla="*/ 1171162 w 1723947"/>
                <a:gd name="connsiteY5" fmla="*/ 683810 h 3073753"/>
                <a:gd name="connsiteX6" fmla="*/ 1619854 w 1723947"/>
                <a:gd name="connsiteY6" fmla="*/ 668600 h 3073753"/>
                <a:gd name="connsiteX7" fmla="*/ 1711113 w 1723947"/>
                <a:gd name="connsiteY7" fmla="*/ 1018440 h 3073753"/>
                <a:gd name="connsiteX8" fmla="*/ 1414520 w 1723947"/>
                <a:gd name="connsiteY8" fmla="*/ 1406306 h 3073753"/>
                <a:gd name="connsiteX9" fmla="*/ 783309 w 1723947"/>
                <a:gd name="connsiteY9" fmla="*/ 1588831 h 3073753"/>
                <a:gd name="connsiteX10" fmla="*/ 1338471 w 1723947"/>
                <a:gd name="connsiteY10" fmla="*/ 2136406 h 3073753"/>
                <a:gd name="connsiteX11" fmla="*/ 1368891 w 1723947"/>
                <a:gd name="connsiteY11" fmla="*/ 2950164 h 3073753"/>
                <a:gd name="connsiteX12" fmla="*/ 646420 w 1723947"/>
                <a:gd name="connsiteY12" fmla="*/ 2912138 h 3073753"/>
                <a:gd name="connsiteX13" fmla="*/ 15210 w 1723947"/>
                <a:gd name="connsiteY13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60495 w 1723947"/>
                <a:gd name="connsiteY4" fmla="*/ 1117308 h 3073753"/>
                <a:gd name="connsiteX5" fmla="*/ 935409 w 1723947"/>
                <a:gd name="connsiteY5" fmla="*/ 1071676 h 3073753"/>
                <a:gd name="connsiteX6" fmla="*/ 1171162 w 1723947"/>
                <a:gd name="connsiteY6" fmla="*/ 683810 h 3073753"/>
                <a:gd name="connsiteX7" fmla="*/ 1619854 w 1723947"/>
                <a:gd name="connsiteY7" fmla="*/ 668600 h 3073753"/>
                <a:gd name="connsiteX8" fmla="*/ 1711113 w 1723947"/>
                <a:gd name="connsiteY8" fmla="*/ 1018440 h 3073753"/>
                <a:gd name="connsiteX9" fmla="*/ 1414520 w 1723947"/>
                <a:gd name="connsiteY9" fmla="*/ 1406306 h 3073753"/>
                <a:gd name="connsiteX10" fmla="*/ 783309 w 1723947"/>
                <a:gd name="connsiteY10" fmla="*/ 1588831 h 3073753"/>
                <a:gd name="connsiteX11" fmla="*/ 1338471 w 1723947"/>
                <a:gd name="connsiteY11" fmla="*/ 2136406 h 3073753"/>
                <a:gd name="connsiteX12" fmla="*/ 1368891 w 1723947"/>
                <a:gd name="connsiteY12" fmla="*/ 2950164 h 3073753"/>
                <a:gd name="connsiteX13" fmla="*/ 646420 w 1723947"/>
                <a:gd name="connsiteY13" fmla="*/ 2912138 h 3073753"/>
                <a:gd name="connsiteX14" fmla="*/ 15210 w 1723947"/>
                <a:gd name="connsiteY14" fmla="*/ 1451937 h 3073753"/>
                <a:gd name="connsiteX0" fmla="*/ 0 w 1723947"/>
                <a:gd name="connsiteY0" fmla="*/ 1459542 h 3073753"/>
                <a:gd name="connsiteX1" fmla="*/ 509531 w 1723947"/>
                <a:gd name="connsiteY1" fmla="*/ 136235 h 3073753"/>
                <a:gd name="connsiteX2" fmla="*/ 1117927 w 1723947"/>
                <a:gd name="connsiteY2" fmla="*/ 82999 h 3073753"/>
                <a:gd name="connsiteX3" fmla="*/ 1178767 w 1723947"/>
                <a:gd name="connsiteY3" fmla="*/ 493680 h 3073753"/>
                <a:gd name="connsiteX4" fmla="*/ 790914 w 1723947"/>
                <a:gd name="connsiteY4" fmla="*/ 1018440 h 3073753"/>
                <a:gd name="connsiteX5" fmla="*/ 935409 w 1723947"/>
                <a:gd name="connsiteY5" fmla="*/ 1071676 h 3073753"/>
                <a:gd name="connsiteX6" fmla="*/ 1171162 w 1723947"/>
                <a:gd name="connsiteY6" fmla="*/ 683810 h 3073753"/>
                <a:gd name="connsiteX7" fmla="*/ 1619854 w 1723947"/>
                <a:gd name="connsiteY7" fmla="*/ 668600 h 3073753"/>
                <a:gd name="connsiteX8" fmla="*/ 1711113 w 1723947"/>
                <a:gd name="connsiteY8" fmla="*/ 1018440 h 3073753"/>
                <a:gd name="connsiteX9" fmla="*/ 1414520 w 1723947"/>
                <a:gd name="connsiteY9" fmla="*/ 1406306 h 3073753"/>
                <a:gd name="connsiteX10" fmla="*/ 783309 w 1723947"/>
                <a:gd name="connsiteY10" fmla="*/ 1588831 h 3073753"/>
                <a:gd name="connsiteX11" fmla="*/ 1338471 w 1723947"/>
                <a:gd name="connsiteY11" fmla="*/ 2136406 h 3073753"/>
                <a:gd name="connsiteX12" fmla="*/ 1368891 w 1723947"/>
                <a:gd name="connsiteY12" fmla="*/ 2950164 h 3073753"/>
                <a:gd name="connsiteX13" fmla="*/ 646420 w 1723947"/>
                <a:gd name="connsiteY13" fmla="*/ 2912138 h 3073753"/>
                <a:gd name="connsiteX14" fmla="*/ 15210 w 1723947"/>
                <a:gd name="connsiteY14" fmla="*/ 1451937 h 3073753"/>
                <a:gd name="connsiteX0" fmla="*/ 0 w 1722609"/>
                <a:gd name="connsiteY0" fmla="*/ 1459542 h 3073753"/>
                <a:gd name="connsiteX1" fmla="*/ 509531 w 1722609"/>
                <a:gd name="connsiteY1" fmla="*/ 136235 h 3073753"/>
                <a:gd name="connsiteX2" fmla="*/ 1117927 w 1722609"/>
                <a:gd name="connsiteY2" fmla="*/ 82999 h 3073753"/>
                <a:gd name="connsiteX3" fmla="*/ 1178767 w 1722609"/>
                <a:gd name="connsiteY3" fmla="*/ 493680 h 3073753"/>
                <a:gd name="connsiteX4" fmla="*/ 790914 w 1722609"/>
                <a:gd name="connsiteY4" fmla="*/ 1018440 h 3073753"/>
                <a:gd name="connsiteX5" fmla="*/ 935409 w 1722609"/>
                <a:gd name="connsiteY5" fmla="*/ 1071676 h 3073753"/>
                <a:gd name="connsiteX6" fmla="*/ 1232002 w 1722609"/>
                <a:gd name="connsiteY6" fmla="*/ 683810 h 3073753"/>
                <a:gd name="connsiteX7" fmla="*/ 1619854 w 1722609"/>
                <a:gd name="connsiteY7" fmla="*/ 668600 h 3073753"/>
                <a:gd name="connsiteX8" fmla="*/ 1711113 w 1722609"/>
                <a:gd name="connsiteY8" fmla="*/ 1018440 h 3073753"/>
                <a:gd name="connsiteX9" fmla="*/ 1414520 w 1722609"/>
                <a:gd name="connsiteY9" fmla="*/ 1406306 h 3073753"/>
                <a:gd name="connsiteX10" fmla="*/ 783309 w 1722609"/>
                <a:gd name="connsiteY10" fmla="*/ 1588831 h 3073753"/>
                <a:gd name="connsiteX11" fmla="*/ 1338471 w 1722609"/>
                <a:gd name="connsiteY11" fmla="*/ 2136406 h 3073753"/>
                <a:gd name="connsiteX12" fmla="*/ 1368891 w 1722609"/>
                <a:gd name="connsiteY12" fmla="*/ 2950164 h 3073753"/>
                <a:gd name="connsiteX13" fmla="*/ 646420 w 1722609"/>
                <a:gd name="connsiteY13" fmla="*/ 2912138 h 3073753"/>
                <a:gd name="connsiteX14" fmla="*/ 15210 w 1722609"/>
                <a:gd name="connsiteY14" fmla="*/ 1451937 h 3073753"/>
                <a:gd name="connsiteX0" fmla="*/ 0 w 1722609"/>
                <a:gd name="connsiteY0" fmla="*/ 1459542 h 2950164"/>
                <a:gd name="connsiteX1" fmla="*/ 509531 w 1722609"/>
                <a:gd name="connsiteY1" fmla="*/ 136235 h 2950164"/>
                <a:gd name="connsiteX2" fmla="*/ 1117927 w 1722609"/>
                <a:gd name="connsiteY2" fmla="*/ 82999 h 2950164"/>
                <a:gd name="connsiteX3" fmla="*/ 1178767 w 1722609"/>
                <a:gd name="connsiteY3" fmla="*/ 493680 h 2950164"/>
                <a:gd name="connsiteX4" fmla="*/ 790914 w 1722609"/>
                <a:gd name="connsiteY4" fmla="*/ 1018440 h 2950164"/>
                <a:gd name="connsiteX5" fmla="*/ 935409 w 1722609"/>
                <a:gd name="connsiteY5" fmla="*/ 1071676 h 2950164"/>
                <a:gd name="connsiteX6" fmla="*/ 1232002 w 1722609"/>
                <a:gd name="connsiteY6" fmla="*/ 683810 h 2950164"/>
                <a:gd name="connsiteX7" fmla="*/ 1619854 w 1722609"/>
                <a:gd name="connsiteY7" fmla="*/ 668600 h 2950164"/>
                <a:gd name="connsiteX8" fmla="*/ 1711113 w 1722609"/>
                <a:gd name="connsiteY8" fmla="*/ 1018440 h 2950164"/>
                <a:gd name="connsiteX9" fmla="*/ 1414520 w 1722609"/>
                <a:gd name="connsiteY9" fmla="*/ 1406306 h 2950164"/>
                <a:gd name="connsiteX10" fmla="*/ 783309 w 1722609"/>
                <a:gd name="connsiteY10" fmla="*/ 1588831 h 2950164"/>
                <a:gd name="connsiteX11" fmla="*/ 1338471 w 1722609"/>
                <a:gd name="connsiteY11" fmla="*/ 2136406 h 2950164"/>
                <a:gd name="connsiteX12" fmla="*/ 1368891 w 1722609"/>
                <a:gd name="connsiteY12" fmla="*/ 2950164 h 2950164"/>
                <a:gd name="connsiteX13" fmla="*/ 714865 w 1722609"/>
                <a:gd name="connsiteY13" fmla="*/ 2722008 h 2950164"/>
                <a:gd name="connsiteX14" fmla="*/ 15210 w 1722609"/>
                <a:gd name="connsiteY14" fmla="*/ 1451937 h 2950164"/>
                <a:gd name="connsiteX0" fmla="*/ 0 w 1722609"/>
                <a:gd name="connsiteY0" fmla="*/ 1459542 h 2831973"/>
                <a:gd name="connsiteX1" fmla="*/ 509531 w 1722609"/>
                <a:gd name="connsiteY1" fmla="*/ 136235 h 2831973"/>
                <a:gd name="connsiteX2" fmla="*/ 1117927 w 1722609"/>
                <a:gd name="connsiteY2" fmla="*/ 82999 h 2831973"/>
                <a:gd name="connsiteX3" fmla="*/ 1178767 w 1722609"/>
                <a:gd name="connsiteY3" fmla="*/ 493680 h 2831973"/>
                <a:gd name="connsiteX4" fmla="*/ 790914 w 1722609"/>
                <a:gd name="connsiteY4" fmla="*/ 1018440 h 2831973"/>
                <a:gd name="connsiteX5" fmla="*/ 935409 w 1722609"/>
                <a:gd name="connsiteY5" fmla="*/ 1071676 h 2831973"/>
                <a:gd name="connsiteX6" fmla="*/ 1232002 w 1722609"/>
                <a:gd name="connsiteY6" fmla="*/ 683810 h 2831973"/>
                <a:gd name="connsiteX7" fmla="*/ 1619854 w 1722609"/>
                <a:gd name="connsiteY7" fmla="*/ 668600 h 2831973"/>
                <a:gd name="connsiteX8" fmla="*/ 1711113 w 1722609"/>
                <a:gd name="connsiteY8" fmla="*/ 1018440 h 2831973"/>
                <a:gd name="connsiteX9" fmla="*/ 1414520 w 1722609"/>
                <a:gd name="connsiteY9" fmla="*/ 1406306 h 2831973"/>
                <a:gd name="connsiteX10" fmla="*/ 783309 w 1722609"/>
                <a:gd name="connsiteY10" fmla="*/ 1588831 h 2831973"/>
                <a:gd name="connsiteX11" fmla="*/ 1338471 w 1722609"/>
                <a:gd name="connsiteY11" fmla="*/ 2136406 h 2831973"/>
                <a:gd name="connsiteX12" fmla="*/ 1178767 w 1722609"/>
                <a:gd name="connsiteY12" fmla="*/ 2699192 h 2831973"/>
                <a:gd name="connsiteX13" fmla="*/ 714865 w 1722609"/>
                <a:gd name="connsiteY13" fmla="*/ 2722008 h 2831973"/>
                <a:gd name="connsiteX14" fmla="*/ 15210 w 1722609"/>
                <a:gd name="connsiteY14" fmla="*/ 1451937 h 2831973"/>
                <a:gd name="connsiteX0" fmla="*/ 0 w 1722609"/>
                <a:gd name="connsiteY0" fmla="*/ 1459542 h 2813818"/>
                <a:gd name="connsiteX1" fmla="*/ 509531 w 1722609"/>
                <a:gd name="connsiteY1" fmla="*/ 136235 h 2813818"/>
                <a:gd name="connsiteX2" fmla="*/ 1117927 w 1722609"/>
                <a:gd name="connsiteY2" fmla="*/ 82999 h 2813818"/>
                <a:gd name="connsiteX3" fmla="*/ 1178767 w 1722609"/>
                <a:gd name="connsiteY3" fmla="*/ 493680 h 2813818"/>
                <a:gd name="connsiteX4" fmla="*/ 790914 w 1722609"/>
                <a:gd name="connsiteY4" fmla="*/ 1018440 h 2813818"/>
                <a:gd name="connsiteX5" fmla="*/ 935409 w 1722609"/>
                <a:gd name="connsiteY5" fmla="*/ 1071676 h 2813818"/>
                <a:gd name="connsiteX6" fmla="*/ 1232002 w 1722609"/>
                <a:gd name="connsiteY6" fmla="*/ 683810 h 2813818"/>
                <a:gd name="connsiteX7" fmla="*/ 1619854 w 1722609"/>
                <a:gd name="connsiteY7" fmla="*/ 668600 h 2813818"/>
                <a:gd name="connsiteX8" fmla="*/ 1711113 w 1722609"/>
                <a:gd name="connsiteY8" fmla="*/ 1018440 h 2813818"/>
                <a:gd name="connsiteX9" fmla="*/ 1414520 w 1722609"/>
                <a:gd name="connsiteY9" fmla="*/ 1406306 h 2813818"/>
                <a:gd name="connsiteX10" fmla="*/ 783309 w 1722609"/>
                <a:gd name="connsiteY10" fmla="*/ 1588831 h 2813818"/>
                <a:gd name="connsiteX11" fmla="*/ 1338471 w 1722609"/>
                <a:gd name="connsiteY11" fmla="*/ 2136406 h 2813818"/>
                <a:gd name="connsiteX12" fmla="*/ 1178767 w 1722609"/>
                <a:gd name="connsiteY12" fmla="*/ 2699192 h 2813818"/>
                <a:gd name="connsiteX13" fmla="*/ 714865 w 1722609"/>
                <a:gd name="connsiteY13" fmla="*/ 2722008 h 2813818"/>
                <a:gd name="connsiteX14" fmla="*/ 60840 w 1722609"/>
                <a:gd name="connsiteY14" fmla="*/ 1702909 h 2813818"/>
                <a:gd name="connsiteX0" fmla="*/ 0 w 1722609"/>
                <a:gd name="connsiteY0" fmla="*/ 1459542 h 2830868"/>
                <a:gd name="connsiteX1" fmla="*/ 509531 w 1722609"/>
                <a:gd name="connsiteY1" fmla="*/ 136235 h 2830868"/>
                <a:gd name="connsiteX2" fmla="*/ 1117927 w 1722609"/>
                <a:gd name="connsiteY2" fmla="*/ 82999 h 2830868"/>
                <a:gd name="connsiteX3" fmla="*/ 1178767 w 1722609"/>
                <a:gd name="connsiteY3" fmla="*/ 493680 h 2830868"/>
                <a:gd name="connsiteX4" fmla="*/ 790914 w 1722609"/>
                <a:gd name="connsiteY4" fmla="*/ 1018440 h 2830868"/>
                <a:gd name="connsiteX5" fmla="*/ 935409 w 1722609"/>
                <a:gd name="connsiteY5" fmla="*/ 1071676 h 2830868"/>
                <a:gd name="connsiteX6" fmla="*/ 1232002 w 1722609"/>
                <a:gd name="connsiteY6" fmla="*/ 683810 h 2830868"/>
                <a:gd name="connsiteX7" fmla="*/ 1619854 w 1722609"/>
                <a:gd name="connsiteY7" fmla="*/ 668600 h 2830868"/>
                <a:gd name="connsiteX8" fmla="*/ 1711113 w 1722609"/>
                <a:gd name="connsiteY8" fmla="*/ 1018440 h 2830868"/>
                <a:gd name="connsiteX9" fmla="*/ 1414520 w 1722609"/>
                <a:gd name="connsiteY9" fmla="*/ 1406306 h 2830868"/>
                <a:gd name="connsiteX10" fmla="*/ 783309 w 1722609"/>
                <a:gd name="connsiteY10" fmla="*/ 1588831 h 2830868"/>
                <a:gd name="connsiteX11" fmla="*/ 1338471 w 1722609"/>
                <a:gd name="connsiteY11" fmla="*/ 2136406 h 2830868"/>
                <a:gd name="connsiteX12" fmla="*/ 1178767 w 1722609"/>
                <a:gd name="connsiteY12" fmla="*/ 2699192 h 2830868"/>
                <a:gd name="connsiteX13" fmla="*/ 714865 w 1722609"/>
                <a:gd name="connsiteY13" fmla="*/ 2722008 h 2830868"/>
                <a:gd name="connsiteX14" fmla="*/ 1 w 1722609"/>
                <a:gd name="connsiteY14" fmla="*/ 1467147 h 2830868"/>
                <a:gd name="connsiteX0" fmla="*/ 60839 w 1783448"/>
                <a:gd name="connsiteY0" fmla="*/ 1459542 h 2807271"/>
                <a:gd name="connsiteX1" fmla="*/ 570370 w 1783448"/>
                <a:gd name="connsiteY1" fmla="*/ 136235 h 2807271"/>
                <a:gd name="connsiteX2" fmla="*/ 1178766 w 1783448"/>
                <a:gd name="connsiteY2" fmla="*/ 82999 h 2807271"/>
                <a:gd name="connsiteX3" fmla="*/ 1239606 w 1783448"/>
                <a:gd name="connsiteY3" fmla="*/ 493680 h 2807271"/>
                <a:gd name="connsiteX4" fmla="*/ 851753 w 1783448"/>
                <a:gd name="connsiteY4" fmla="*/ 1018440 h 2807271"/>
                <a:gd name="connsiteX5" fmla="*/ 996248 w 1783448"/>
                <a:gd name="connsiteY5" fmla="*/ 1071676 h 2807271"/>
                <a:gd name="connsiteX6" fmla="*/ 1292841 w 1783448"/>
                <a:gd name="connsiteY6" fmla="*/ 683810 h 2807271"/>
                <a:gd name="connsiteX7" fmla="*/ 1680693 w 1783448"/>
                <a:gd name="connsiteY7" fmla="*/ 668600 h 2807271"/>
                <a:gd name="connsiteX8" fmla="*/ 1771952 w 1783448"/>
                <a:gd name="connsiteY8" fmla="*/ 1018440 h 2807271"/>
                <a:gd name="connsiteX9" fmla="*/ 1475359 w 1783448"/>
                <a:gd name="connsiteY9" fmla="*/ 1406306 h 2807271"/>
                <a:gd name="connsiteX10" fmla="*/ 844148 w 1783448"/>
                <a:gd name="connsiteY10" fmla="*/ 1588831 h 2807271"/>
                <a:gd name="connsiteX11" fmla="*/ 1399310 w 1783448"/>
                <a:gd name="connsiteY11" fmla="*/ 2136406 h 2807271"/>
                <a:gd name="connsiteX12" fmla="*/ 1239606 w 1783448"/>
                <a:gd name="connsiteY12" fmla="*/ 2699192 h 2807271"/>
                <a:gd name="connsiteX13" fmla="*/ 775704 w 1783448"/>
                <a:gd name="connsiteY13" fmla="*/ 2722008 h 2807271"/>
                <a:gd name="connsiteX14" fmla="*/ 0 w 1783448"/>
                <a:gd name="connsiteY14" fmla="*/ 1794171 h 2807271"/>
                <a:gd name="connsiteX0" fmla="*/ 0 w 1722609"/>
                <a:gd name="connsiteY0" fmla="*/ 1459542 h 2831973"/>
                <a:gd name="connsiteX1" fmla="*/ 509531 w 1722609"/>
                <a:gd name="connsiteY1" fmla="*/ 136235 h 2831973"/>
                <a:gd name="connsiteX2" fmla="*/ 1117927 w 1722609"/>
                <a:gd name="connsiteY2" fmla="*/ 82999 h 2831973"/>
                <a:gd name="connsiteX3" fmla="*/ 1178767 w 1722609"/>
                <a:gd name="connsiteY3" fmla="*/ 493680 h 2831973"/>
                <a:gd name="connsiteX4" fmla="*/ 790914 w 1722609"/>
                <a:gd name="connsiteY4" fmla="*/ 1018440 h 2831973"/>
                <a:gd name="connsiteX5" fmla="*/ 935409 w 1722609"/>
                <a:gd name="connsiteY5" fmla="*/ 1071676 h 2831973"/>
                <a:gd name="connsiteX6" fmla="*/ 1232002 w 1722609"/>
                <a:gd name="connsiteY6" fmla="*/ 683810 h 2831973"/>
                <a:gd name="connsiteX7" fmla="*/ 1619854 w 1722609"/>
                <a:gd name="connsiteY7" fmla="*/ 668600 h 2831973"/>
                <a:gd name="connsiteX8" fmla="*/ 1711113 w 1722609"/>
                <a:gd name="connsiteY8" fmla="*/ 1018440 h 2831973"/>
                <a:gd name="connsiteX9" fmla="*/ 1414520 w 1722609"/>
                <a:gd name="connsiteY9" fmla="*/ 1406306 h 2831973"/>
                <a:gd name="connsiteX10" fmla="*/ 783309 w 1722609"/>
                <a:gd name="connsiteY10" fmla="*/ 1588831 h 2831973"/>
                <a:gd name="connsiteX11" fmla="*/ 1338471 w 1722609"/>
                <a:gd name="connsiteY11" fmla="*/ 2136406 h 2831973"/>
                <a:gd name="connsiteX12" fmla="*/ 1178767 w 1722609"/>
                <a:gd name="connsiteY12" fmla="*/ 2699192 h 2831973"/>
                <a:gd name="connsiteX13" fmla="*/ 714865 w 1722609"/>
                <a:gd name="connsiteY13" fmla="*/ 2722008 h 2831973"/>
                <a:gd name="connsiteX14" fmla="*/ 1 w 1722609"/>
                <a:gd name="connsiteY14" fmla="*/ 1451937 h 2831973"/>
                <a:gd name="connsiteX0" fmla="*/ 0 w 1722609"/>
                <a:gd name="connsiteY0" fmla="*/ 1459542 h 2818202"/>
                <a:gd name="connsiteX1" fmla="*/ 509531 w 1722609"/>
                <a:gd name="connsiteY1" fmla="*/ 136235 h 2818202"/>
                <a:gd name="connsiteX2" fmla="*/ 1117927 w 1722609"/>
                <a:gd name="connsiteY2" fmla="*/ 82999 h 2818202"/>
                <a:gd name="connsiteX3" fmla="*/ 1178767 w 1722609"/>
                <a:gd name="connsiteY3" fmla="*/ 493680 h 2818202"/>
                <a:gd name="connsiteX4" fmla="*/ 790914 w 1722609"/>
                <a:gd name="connsiteY4" fmla="*/ 1018440 h 2818202"/>
                <a:gd name="connsiteX5" fmla="*/ 935409 w 1722609"/>
                <a:gd name="connsiteY5" fmla="*/ 1071676 h 2818202"/>
                <a:gd name="connsiteX6" fmla="*/ 1232002 w 1722609"/>
                <a:gd name="connsiteY6" fmla="*/ 683810 h 2818202"/>
                <a:gd name="connsiteX7" fmla="*/ 1619854 w 1722609"/>
                <a:gd name="connsiteY7" fmla="*/ 668600 h 2818202"/>
                <a:gd name="connsiteX8" fmla="*/ 1711113 w 1722609"/>
                <a:gd name="connsiteY8" fmla="*/ 1018440 h 2818202"/>
                <a:gd name="connsiteX9" fmla="*/ 1414520 w 1722609"/>
                <a:gd name="connsiteY9" fmla="*/ 1406306 h 2818202"/>
                <a:gd name="connsiteX10" fmla="*/ 783309 w 1722609"/>
                <a:gd name="connsiteY10" fmla="*/ 1588831 h 2818202"/>
                <a:gd name="connsiteX11" fmla="*/ 1338471 w 1722609"/>
                <a:gd name="connsiteY11" fmla="*/ 2136406 h 2818202"/>
                <a:gd name="connsiteX12" fmla="*/ 1178767 w 1722609"/>
                <a:gd name="connsiteY12" fmla="*/ 2699192 h 2818202"/>
                <a:gd name="connsiteX13" fmla="*/ 714865 w 1722609"/>
                <a:gd name="connsiteY13" fmla="*/ 2722008 h 2818202"/>
                <a:gd name="connsiteX14" fmla="*/ 22816 w 1722609"/>
                <a:gd name="connsiteY14" fmla="*/ 1642067 h 2818202"/>
                <a:gd name="connsiteX0" fmla="*/ 15209 w 1699793"/>
                <a:gd name="connsiteY0" fmla="*/ 1654646 h 2830781"/>
                <a:gd name="connsiteX1" fmla="*/ 486715 w 1699793"/>
                <a:gd name="connsiteY1" fmla="*/ 148814 h 2830781"/>
                <a:gd name="connsiteX2" fmla="*/ 1095111 w 1699793"/>
                <a:gd name="connsiteY2" fmla="*/ 95578 h 2830781"/>
                <a:gd name="connsiteX3" fmla="*/ 1155951 w 1699793"/>
                <a:gd name="connsiteY3" fmla="*/ 506259 h 2830781"/>
                <a:gd name="connsiteX4" fmla="*/ 768098 w 1699793"/>
                <a:gd name="connsiteY4" fmla="*/ 1031019 h 2830781"/>
                <a:gd name="connsiteX5" fmla="*/ 912593 w 1699793"/>
                <a:gd name="connsiteY5" fmla="*/ 1084255 h 2830781"/>
                <a:gd name="connsiteX6" fmla="*/ 1209186 w 1699793"/>
                <a:gd name="connsiteY6" fmla="*/ 696389 h 2830781"/>
                <a:gd name="connsiteX7" fmla="*/ 1597038 w 1699793"/>
                <a:gd name="connsiteY7" fmla="*/ 681179 h 2830781"/>
                <a:gd name="connsiteX8" fmla="*/ 1688297 w 1699793"/>
                <a:gd name="connsiteY8" fmla="*/ 1031019 h 2830781"/>
                <a:gd name="connsiteX9" fmla="*/ 1391704 w 1699793"/>
                <a:gd name="connsiteY9" fmla="*/ 1418885 h 2830781"/>
                <a:gd name="connsiteX10" fmla="*/ 760493 w 1699793"/>
                <a:gd name="connsiteY10" fmla="*/ 1601410 h 2830781"/>
                <a:gd name="connsiteX11" fmla="*/ 1315655 w 1699793"/>
                <a:gd name="connsiteY11" fmla="*/ 2148985 h 2830781"/>
                <a:gd name="connsiteX12" fmla="*/ 1155951 w 1699793"/>
                <a:gd name="connsiteY12" fmla="*/ 2711771 h 2830781"/>
                <a:gd name="connsiteX13" fmla="*/ 692049 w 1699793"/>
                <a:gd name="connsiteY13" fmla="*/ 2734587 h 2830781"/>
                <a:gd name="connsiteX14" fmla="*/ 0 w 1699793"/>
                <a:gd name="connsiteY14" fmla="*/ 1654646 h 2830781"/>
                <a:gd name="connsiteX0" fmla="*/ 15209 w 1699793"/>
                <a:gd name="connsiteY0" fmla="*/ 1618106 h 2794241"/>
                <a:gd name="connsiteX1" fmla="*/ 486715 w 1699793"/>
                <a:gd name="connsiteY1" fmla="*/ 173116 h 2794241"/>
                <a:gd name="connsiteX2" fmla="*/ 1095111 w 1699793"/>
                <a:gd name="connsiteY2" fmla="*/ 59038 h 2794241"/>
                <a:gd name="connsiteX3" fmla="*/ 1155951 w 1699793"/>
                <a:gd name="connsiteY3" fmla="*/ 469719 h 2794241"/>
                <a:gd name="connsiteX4" fmla="*/ 768098 w 1699793"/>
                <a:gd name="connsiteY4" fmla="*/ 994479 h 2794241"/>
                <a:gd name="connsiteX5" fmla="*/ 912593 w 1699793"/>
                <a:gd name="connsiteY5" fmla="*/ 1047715 h 2794241"/>
                <a:gd name="connsiteX6" fmla="*/ 1209186 w 1699793"/>
                <a:gd name="connsiteY6" fmla="*/ 659849 h 2794241"/>
                <a:gd name="connsiteX7" fmla="*/ 1597038 w 1699793"/>
                <a:gd name="connsiteY7" fmla="*/ 644639 h 2794241"/>
                <a:gd name="connsiteX8" fmla="*/ 1688297 w 1699793"/>
                <a:gd name="connsiteY8" fmla="*/ 994479 h 2794241"/>
                <a:gd name="connsiteX9" fmla="*/ 1391704 w 1699793"/>
                <a:gd name="connsiteY9" fmla="*/ 1382345 h 2794241"/>
                <a:gd name="connsiteX10" fmla="*/ 760493 w 1699793"/>
                <a:gd name="connsiteY10" fmla="*/ 1564870 h 2794241"/>
                <a:gd name="connsiteX11" fmla="*/ 1315655 w 1699793"/>
                <a:gd name="connsiteY11" fmla="*/ 2112445 h 2794241"/>
                <a:gd name="connsiteX12" fmla="*/ 1155951 w 1699793"/>
                <a:gd name="connsiteY12" fmla="*/ 2675231 h 2794241"/>
                <a:gd name="connsiteX13" fmla="*/ 692049 w 1699793"/>
                <a:gd name="connsiteY13" fmla="*/ 2698047 h 2794241"/>
                <a:gd name="connsiteX14" fmla="*/ 0 w 1699793"/>
                <a:gd name="connsiteY14" fmla="*/ 1618106 h 2794241"/>
                <a:gd name="connsiteX0" fmla="*/ 15209 w 1699793"/>
                <a:gd name="connsiteY0" fmla="*/ 1586341 h 2762476"/>
                <a:gd name="connsiteX1" fmla="*/ 486715 w 1699793"/>
                <a:gd name="connsiteY1" fmla="*/ 141351 h 2762476"/>
                <a:gd name="connsiteX2" fmla="*/ 1034272 w 1699793"/>
                <a:gd name="connsiteY2" fmla="*/ 88115 h 2762476"/>
                <a:gd name="connsiteX3" fmla="*/ 1155951 w 1699793"/>
                <a:gd name="connsiteY3" fmla="*/ 437954 h 2762476"/>
                <a:gd name="connsiteX4" fmla="*/ 768098 w 1699793"/>
                <a:gd name="connsiteY4" fmla="*/ 962714 h 2762476"/>
                <a:gd name="connsiteX5" fmla="*/ 912593 w 1699793"/>
                <a:gd name="connsiteY5" fmla="*/ 1015950 h 2762476"/>
                <a:gd name="connsiteX6" fmla="*/ 1209186 w 1699793"/>
                <a:gd name="connsiteY6" fmla="*/ 628084 h 2762476"/>
                <a:gd name="connsiteX7" fmla="*/ 1597038 w 1699793"/>
                <a:gd name="connsiteY7" fmla="*/ 612874 h 2762476"/>
                <a:gd name="connsiteX8" fmla="*/ 1688297 w 1699793"/>
                <a:gd name="connsiteY8" fmla="*/ 962714 h 2762476"/>
                <a:gd name="connsiteX9" fmla="*/ 1391704 w 1699793"/>
                <a:gd name="connsiteY9" fmla="*/ 1350580 h 2762476"/>
                <a:gd name="connsiteX10" fmla="*/ 760493 w 1699793"/>
                <a:gd name="connsiteY10" fmla="*/ 1533105 h 2762476"/>
                <a:gd name="connsiteX11" fmla="*/ 1315655 w 1699793"/>
                <a:gd name="connsiteY11" fmla="*/ 2080680 h 2762476"/>
                <a:gd name="connsiteX12" fmla="*/ 1155951 w 1699793"/>
                <a:gd name="connsiteY12" fmla="*/ 2643466 h 2762476"/>
                <a:gd name="connsiteX13" fmla="*/ 692049 w 1699793"/>
                <a:gd name="connsiteY13" fmla="*/ 2666282 h 2762476"/>
                <a:gd name="connsiteX14" fmla="*/ 0 w 1699793"/>
                <a:gd name="connsiteY14" fmla="*/ 1586341 h 276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699793" h="2762476">
                  <a:moveTo>
                    <a:pt x="15209" y="1586341"/>
                  </a:moveTo>
                  <a:cubicBezTo>
                    <a:pt x="176814" y="1039399"/>
                    <a:pt x="316871" y="391055"/>
                    <a:pt x="486715" y="141351"/>
                  </a:cubicBezTo>
                  <a:cubicBezTo>
                    <a:pt x="656559" y="-108353"/>
                    <a:pt x="922733" y="38681"/>
                    <a:pt x="1034272" y="88115"/>
                  </a:cubicBezTo>
                  <a:cubicBezTo>
                    <a:pt x="1145811" y="137549"/>
                    <a:pt x="1200313" y="292187"/>
                    <a:pt x="1155951" y="437954"/>
                  </a:cubicBezTo>
                  <a:cubicBezTo>
                    <a:pt x="1111589" y="583721"/>
                    <a:pt x="808658" y="866381"/>
                    <a:pt x="768098" y="962714"/>
                  </a:cubicBezTo>
                  <a:cubicBezTo>
                    <a:pt x="727538" y="1059047"/>
                    <a:pt x="844149" y="1088200"/>
                    <a:pt x="912593" y="1015950"/>
                  </a:cubicBezTo>
                  <a:cubicBezTo>
                    <a:pt x="981038" y="943700"/>
                    <a:pt x="1095112" y="695263"/>
                    <a:pt x="1209186" y="628084"/>
                  </a:cubicBezTo>
                  <a:cubicBezTo>
                    <a:pt x="1323260" y="560905"/>
                    <a:pt x="1517186" y="557102"/>
                    <a:pt x="1597038" y="612874"/>
                  </a:cubicBezTo>
                  <a:cubicBezTo>
                    <a:pt x="1676890" y="668646"/>
                    <a:pt x="1722519" y="839763"/>
                    <a:pt x="1688297" y="962714"/>
                  </a:cubicBezTo>
                  <a:cubicBezTo>
                    <a:pt x="1654075" y="1085665"/>
                    <a:pt x="1546338" y="1255515"/>
                    <a:pt x="1391704" y="1350580"/>
                  </a:cubicBezTo>
                  <a:cubicBezTo>
                    <a:pt x="1237070" y="1445645"/>
                    <a:pt x="773168" y="1411422"/>
                    <a:pt x="760493" y="1533105"/>
                  </a:cubicBezTo>
                  <a:cubicBezTo>
                    <a:pt x="747818" y="1654788"/>
                    <a:pt x="1249745" y="1895620"/>
                    <a:pt x="1315655" y="2080680"/>
                  </a:cubicBezTo>
                  <a:cubicBezTo>
                    <a:pt x="1381565" y="2265740"/>
                    <a:pt x="1259885" y="2545866"/>
                    <a:pt x="1155951" y="2643466"/>
                  </a:cubicBezTo>
                  <a:cubicBezTo>
                    <a:pt x="1052017" y="2741066"/>
                    <a:pt x="884708" y="2842470"/>
                    <a:pt x="692049" y="2666282"/>
                  </a:cubicBezTo>
                  <a:cubicBezTo>
                    <a:pt x="499390" y="2490094"/>
                    <a:pt x="0" y="1586341"/>
                    <a:pt x="0" y="1586341"/>
                  </a:cubicBezTo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prstClr val="black"/>
                </a:solidFill>
                <a:latin typeface="Tahoma" pitchFamily="-64" charset="0"/>
              </a:endParaRPr>
            </a:p>
          </p:txBody>
        </p:sp>
        <p:sp>
          <p:nvSpPr>
            <p:cNvPr id="130" name="Oval 129"/>
            <p:cNvSpPr/>
            <p:nvPr/>
          </p:nvSpPr>
          <p:spPr bwMode="auto">
            <a:xfrm>
              <a:off x="3124200" y="3886200"/>
              <a:ext cx="685800" cy="685800"/>
            </a:xfrm>
            <a:prstGeom prst="ellipse">
              <a:avLst/>
            </a:prstGeom>
            <a:solidFill>
              <a:srgbClr val="FAC090"/>
            </a:solidFill>
            <a:ln w="38100" cap="flat" cmpd="sng" algn="ctr">
              <a:solidFill>
                <a:srgbClr val="E46C0A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en-US" sz="2800">
                <a:solidFill>
                  <a:prstClr val="black"/>
                </a:solidFill>
                <a:latin typeface="Tahoma" pitchFamily="-64" charset="0"/>
              </a:endParaRP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3700917" y="1560493"/>
              <a:ext cx="1403725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/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Local</a:t>
              </a:r>
              <a:br>
                <a:rPr lang="en-US" sz="2800" dirty="0">
                  <a:solidFill>
                    <a:prstClr val="black"/>
                  </a:solidFill>
                  <a:latin typeface="Calibri"/>
                </a:rPr>
              </a:br>
              <a:r>
                <a:rPr lang="en-US" sz="2800" dirty="0">
                  <a:solidFill>
                    <a:prstClr val="black"/>
                  </a:solidFill>
                  <a:latin typeface="Calibri"/>
                </a:rPr>
                <a:t>Updates</a:t>
              </a:r>
            </a:p>
          </p:txBody>
        </p:sp>
        <p:grpSp>
          <p:nvGrpSpPr>
            <p:cNvPr id="7" name="Group 109"/>
            <p:cNvGrpSpPr/>
            <p:nvPr/>
          </p:nvGrpSpPr>
          <p:grpSpPr>
            <a:xfrm>
              <a:off x="3305286" y="2819400"/>
              <a:ext cx="2181114" cy="2438398"/>
              <a:chOff x="381000" y="2819402"/>
              <a:chExt cx="2181114" cy="2438398"/>
            </a:xfrm>
          </p:grpSpPr>
          <p:cxnSp>
            <p:nvCxnSpPr>
              <p:cNvPr id="111" name="Straight Connector 110"/>
              <p:cNvCxnSpPr/>
              <p:nvPr/>
            </p:nvCxnSpPr>
            <p:spPr bwMode="auto">
              <a:xfrm flipV="1">
                <a:off x="1552507" y="3021355"/>
                <a:ext cx="702904" cy="65634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V="1">
                <a:off x="568442" y="3677704"/>
                <a:ext cx="984066" cy="55537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/>
              <p:nvPr/>
            </p:nvCxnSpPr>
            <p:spPr bwMode="auto">
              <a:xfrm flipV="1">
                <a:off x="1037044" y="3021355"/>
                <a:ext cx="1218367" cy="201953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/>
              <p:cNvCxnSpPr/>
              <p:nvPr/>
            </p:nvCxnSpPr>
            <p:spPr bwMode="auto">
              <a:xfrm flipH="1">
                <a:off x="568442" y="3172820"/>
                <a:ext cx="421743" cy="1060255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 bwMode="auto">
              <a:xfrm rot="5400000">
                <a:off x="683474" y="4171854"/>
                <a:ext cx="1363185" cy="37488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auto">
              <a:xfrm rot="16200000" flipH="1">
                <a:off x="445696" y="4308960"/>
                <a:ext cx="807813" cy="656044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auto">
              <a:xfrm rot="16200000" flipH="1">
                <a:off x="1871306" y="3405460"/>
                <a:ext cx="908789" cy="140581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auto">
              <a:xfrm rot="5400000">
                <a:off x="1855133" y="4096121"/>
                <a:ext cx="706837" cy="37488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auto">
              <a:xfrm rot="16200000" flipH="1">
                <a:off x="1307169" y="3923041"/>
                <a:ext cx="959278" cy="468602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 bwMode="auto">
              <a:xfrm flipV="1">
                <a:off x="1177625" y="4636981"/>
                <a:ext cx="843485" cy="353418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121" name="Picture 120" descr="aapo.jp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880529" y="4384539"/>
                <a:ext cx="298466" cy="482362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2" name="Picture 121" descr="arthur.jp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208550" y="3677704"/>
                <a:ext cx="353564" cy="482362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3" name="Picture 122" descr="funiak.jp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021110" y="2819402"/>
                <a:ext cx="392878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4" name="Picture 123" descr="gonzalez.jp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381000" y="3980633"/>
                <a:ext cx="320212" cy="48300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5" name="Picture 124" descr="guestrin.jp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365066" y="3425261"/>
                <a:ext cx="324200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6" name="Picture 125" descr="ylow.jp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90183" y="4788446"/>
                <a:ext cx="344515" cy="469354"/>
              </a:xfrm>
              <a:prstGeom prst="rect">
                <a:avLst/>
              </a:prstGeom>
              <a:ln>
                <a:noFill/>
              </a:ln>
              <a:effectLst/>
            </p:spPr>
          </p:pic>
          <p:pic>
            <p:nvPicPr>
              <p:cNvPr id="127" name="Picture 126" descr="hong.jp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849602" y="2920378"/>
                <a:ext cx="332043" cy="482360"/>
              </a:xfrm>
              <a:prstGeom prst="rect">
                <a:avLst/>
              </a:prstGeom>
              <a:ln>
                <a:noFill/>
              </a:ln>
              <a:effectLst/>
            </p:spPr>
          </p:pic>
        </p:grpSp>
      </p:grpSp>
    </p:spTree>
    <p:extLst>
      <p:ext uri="{BB962C8B-B14F-4D97-AF65-F5344CB8AC3E}">
        <p14:creationId xmlns:p14="http://schemas.microsoft.com/office/powerpoint/2010/main" val="344107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Map-Reduce for Data-Parallel ML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762000"/>
          </a:xfrm>
        </p:spPr>
        <p:txBody>
          <a:bodyPr/>
          <a:lstStyle/>
          <a:p>
            <a:r>
              <a:rPr lang="en-US" dirty="0" smtClean="0"/>
              <a:t>Excellent for large data-parallel tasks!</a:t>
            </a:r>
            <a:endParaRPr lang="en-US" dirty="0"/>
          </a:p>
        </p:txBody>
      </p:sp>
      <p:sp>
        <p:nvSpPr>
          <p:cNvPr id="5" name="Left-Right Arrow 4"/>
          <p:cNvSpPr/>
          <p:nvPr/>
        </p:nvSpPr>
        <p:spPr bwMode="auto">
          <a:xfrm>
            <a:off x="542310" y="2243171"/>
            <a:ext cx="7999987" cy="957229"/>
          </a:xfrm>
          <a:prstGeom prst="leftRightArrow">
            <a:avLst>
              <a:gd name="adj1" fmla="val 64701"/>
              <a:gd name="adj2" fmla="val 50000"/>
            </a:avLst>
          </a:prstGeom>
          <a:gradFill flip="none" rotWithShape="1">
            <a:gsLst>
              <a:gs pos="0">
                <a:schemeClr val="bg1"/>
              </a:gs>
              <a:gs pos="82000">
                <a:schemeClr val="accent2">
                  <a:shade val="94000"/>
                  <a:satMod val="135000"/>
                </a:schemeClr>
              </a:gs>
            </a:gsLst>
            <a:lin ang="0" scaled="1"/>
            <a:tileRect/>
          </a:gra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Data-Parallel         </a:t>
            </a:r>
            <a:r>
              <a:rPr lang="en-US" sz="2800" dirty="0" smtClean="0">
                <a:solidFill>
                  <a:prstClr val="black"/>
                </a:solidFill>
                <a:latin typeface="Tahoma" pitchFamily="34" charset="0"/>
                <a:ea typeface="ＭＳ Ｐゴシック" pitchFamily="-111" charset="-128"/>
              </a:rPr>
              <a:t>            </a:t>
            </a:r>
            <a:r>
              <a:rPr lang="en-US" sz="2800" dirty="0">
                <a:solidFill>
                  <a:prstClr val="white"/>
                </a:solidFill>
                <a:latin typeface="Tahoma" pitchFamily="34" charset="0"/>
                <a:ea typeface="ＭＳ Ｐゴシック" pitchFamily="-111" charset="-128"/>
              </a:rPr>
              <a:t>Graph-Parallel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4733" y="4038600"/>
            <a:ext cx="14342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Cross</a:t>
            </a:r>
          </a:p>
          <a:p>
            <a:pPr algn="ctr" defTabSz="914400"/>
            <a:r>
              <a:rPr lang="en-US" sz="2400" dirty="0">
                <a:solidFill>
                  <a:prstClr val="black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388" y="4038600"/>
            <a:ext cx="14472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Feature </a:t>
            </a:r>
          </a:p>
          <a:p>
            <a:pPr algn="ctr" defTabSz="914400"/>
            <a:r>
              <a:rPr lang="en-US" sz="2400" dirty="0" smtClean="0">
                <a:solidFill>
                  <a:prstClr val="black"/>
                </a:solidFill>
                <a:latin typeface="Calibri"/>
              </a:rPr>
              <a:t>Extraction</a:t>
            </a:r>
            <a:endParaRPr lang="en-US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4905" y="3200400"/>
            <a:ext cx="2788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en-US" sz="4000" dirty="0">
                <a:solidFill>
                  <a:prstClr val="black"/>
                </a:solidFill>
                <a:latin typeface="Calibri"/>
              </a:rPr>
              <a:t>Map Reduce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6653" y="4916269"/>
            <a:ext cx="237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Computing Sufficient</a:t>
            </a:r>
          </a:p>
          <a:p>
            <a:pPr algn="ctr" defTabSz="914400"/>
            <a:r>
              <a:rPr lang="en-US" sz="2000" dirty="0">
                <a:solidFill>
                  <a:prstClr val="black"/>
                </a:solidFill>
                <a:latin typeface="Calibri"/>
              </a:rPr>
              <a:t>Statistics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3389" y="4196715"/>
            <a:ext cx="20466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Graphical Models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Gibbs Sampling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Belief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Variational</a:t>
            </a:r>
            <a:r>
              <a:rPr lang="en-US" dirty="0" smtClean="0">
                <a:solidFill>
                  <a:schemeClr val="accent1"/>
                </a:solidFill>
              </a:rPr>
              <a:t> Opt.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858" y="4196715"/>
            <a:ext cx="201914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Semi-Supervised </a:t>
            </a:r>
            <a:br>
              <a:rPr lang="en-US" sz="2000" b="1" dirty="0" smtClean="0"/>
            </a:br>
            <a:r>
              <a:rPr lang="en-US" sz="2000" b="1" dirty="0" smtClean="0"/>
              <a:t>Learning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Label Propagation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CoEM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40551" y="5492115"/>
            <a:ext cx="18257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Data-Mining</a:t>
            </a:r>
          </a:p>
          <a:p>
            <a:pPr algn="ctr"/>
            <a:r>
              <a:rPr lang="en-US" dirty="0" err="1" smtClean="0">
                <a:solidFill>
                  <a:schemeClr val="accent1"/>
                </a:solidFill>
              </a:rPr>
              <a:t>PageRank</a:t>
            </a:r>
            <a:endParaRPr lang="en-US" dirty="0" smtClean="0">
              <a:solidFill>
                <a:schemeClr val="accent1"/>
              </a:solidFill>
            </a:endParaRP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Triangle Counting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34058" y="5492115"/>
            <a:ext cx="206530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Collaborative </a:t>
            </a:r>
          </a:p>
          <a:p>
            <a:pPr algn="ctr"/>
            <a:r>
              <a:rPr lang="en-US" sz="2000" b="1" dirty="0" smtClean="0"/>
              <a:t>Filtering</a:t>
            </a:r>
          </a:p>
          <a:p>
            <a:pPr algn="ctr"/>
            <a:r>
              <a:rPr lang="en-US" dirty="0" smtClean="0">
                <a:solidFill>
                  <a:schemeClr val="accent1"/>
                </a:solidFill>
              </a:rPr>
              <a:t>Tensor Factorization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4284" y="3254514"/>
            <a:ext cx="3276600" cy="70788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914400"/>
            <a:r>
              <a:rPr lang="en-US" sz="4000" dirty="0">
                <a:solidFill>
                  <a:prstClr val="white"/>
                </a:solidFill>
                <a:latin typeface="Calibri"/>
              </a:rPr>
              <a:t>Map Reduce?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3333" y="3135801"/>
            <a:ext cx="3109294" cy="10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34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from="(ppt_w)" to="(-ppt_w*2)" calcmode="lin" valueType="num">
                                      <p:cBhvr rctx="PPT">
                                        <p:cTn id="6" dur="5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7" dur="50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374775" y="3008313"/>
            <a:ext cx="6400800" cy="1676400"/>
          </a:xfrm>
        </p:spPr>
        <p:txBody>
          <a:bodyPr/>
          <a:lstStyle/>
          <a:p>
            <a:r>
              <a:rPr lang="en-US" dirty="0" smtClean="0"/>
              <a:t>What is              </a:t>
            </a:r>
            <a:r>
              <a:rPr lang="en-US" dirty="0" err="1" smtClean="0"/>
              <a:t>GraphLab</a:t>
            </a:r>
            <a:r>
              <a:rPr lang="en-US" dirty="0" smtClean="0"/>
              <a:t>?</a:t>
            </a:r>
            <a:endParaRPr lang="en-US" dirty="0"/>
          </a:p>
        </p:txBody>
      </p:sp>
      <p:pic>
        <p:nvPicPr>
          <p:cNvPr id="3" name="Picture 2" descr="GraphLa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1249" y="1213382"/>
            <a:ext cx="4714202" cy="16225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888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Shared Memory </a:t>
            </a:r>
            <a:r>
              <a:rPr lang="en-US" sz="4000" dirty="0" err="1" smtClean="0"/>
              <a:t>GraphLab</a:t>
            </a:r>
            <a:endParaRPr lang="en-US" sz="4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38294" y="993836"/>
            <a:ext cx="3144409" cy="2581337"/>
            <a:chOff x="38294" y="993836"/>
            <a:chExt cx="3144409" cy="2581337"/>
          </a:xfrm>
        </p:grpSpPr>
        <p:sp>
          <p:nvSpPr>
            <p:cNvPr id="12" name="Rectangle 11"/>
            <p:cNvSpPr/>
            <p:nvPr/>
          </p:nvSpPr>
          <p:spPr bwMode="auto">
            <a:xfrm>
              <a:off x="38295" y="993836"/>
              <a:ext cx="3144408" cy="2581337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38294" y="999076"/>
              <a:ext cx="3111420" cy="2576097"/>
              <a:chOff x="38294" y="999076"/>
              <a:chExt cx="3111420" cy="2576097"/>
            </a:xfrm>
          </p:grpSpPr>
          <p:grpSp>
            <p:nvGrpSpPr>
              <p:cNvPr id="161" name="Group 160"/>
              <p:cNvGrpSpPr/>
              <p:nvPr/>
            </p:nvGrpSpPr>
            <p:grpSpPr>
              <a:xfrm>
                <a:off x="38294" y="1278048"/>
                <a:ext cx="2970169" cy="2297125"/>
                <a:chOff x="-264324" y="2141192"/>
                <a:chExt cx="3336855" cy="2580722"/>
              </a:xfrm>
            </p:grpSpPr>
            <p:grpSp>
              <p:nvGrpSpPr>
                <p:cNvPr id="160" name="Group 159"/>
                <p:cNvGrpSpPr/>
                <p:nvPr/>
              </p:nvGrpSpPr>
              <p:grpSpPr>
                <a:xfrm>
                  <a:off x="427642" y="2263249"/>
                  <a:ext cx="2504272" cy="1913761"/>
                  <a:chOff x="427642" y="2263249"/>
                  <a:chExt cx="2504272" cy="1913761"/>
                </a:xfrm>
              </p:grpSpPr>
              <p:cxnSp>
                <p:nvCxnSpPr>
                  <p:cNvPr id="6" name="Straight Connector 5"/>
                  <p:cNvCxnSpPr/>
                  <p:nvPr/>
                </p:nvCxnSpPr>
                <p:spPr bwMode="auto">
                  <a:xfrm flipV="1">
                    <a:off x="427642" y="2331616"/>
                    <a:ext cx="2504272" cy="1845394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9" name="Freeform 8"/>
                  <p:cNvSpPr/>
                  <p:nvPr/>
                </p:nvSpPr>
                <p:spPr>
                  <a:xfrm>
                    <a:off x="462914" y="2577917"/>
                    <a:ext cx="2469000" cy="1575576"/>
                  </a:xfrm>
                  <a:custGeom>
                    <a:avLst/>
                    <a:gdLst>
                      <a:gd name="connsiteX0" fmla="*/ 0 w 3463792"/>
                      <a:gd name="connsiteY0" fmla="*/ 2210396 h 2210396"/>
                      <a:gd name="connsiteX1" fmla="*/ 1731896 w 3463792"/>
                      <a:gd name="connsiteY1" fmla="*/ 1055711 h 2210396"/>
                      <a:gd name="connsiteX2" fmla="*/ 3463792 w 3463792"/>
                      <a:gd name="connsiteY2" fmla="*/ 0 h 22103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63792" h="2210396">
                        <a:moveTo>
                          <a:pt x="0" y="2210396"/>
                        </a:moveTo>
                        <a:cubicBezTo>
                          <a:pt x="577298" y="1817253"/>
                          <a:pt x="1154597" y="1424110"/>
                          <a:pt x="1731896" y="1055711"/>
                        </a:cubicBezTo>
                        <a:cubicBezTo>
                          <a:pt x="2309195" y="687312"/>
                          <a:pt x="3463792" y="0"/>
                          <a:pt x="3463792" y="0"/>
                        </a:cubicBezTo>
                      </a:path>
                    </a:pathLst>
                  </a:custGeom>
                  <a:ln w="57150" cmpd="sng"/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ＭＳ Ｐゴシック" pitchFamily="-111" charset="-128"/>
                    </a:endParaRPr>
                  </a:p>
                </p:txBody>
              </p:sp>
              <p:cxnSp>
                <p:nvCxnSpPr>
                  <p:cNvPr id="10" name="Straight Arrow Connector 9"/>
                  <p:cNvCxnSpPr>
                    <a:stCxn id="11" idx="3"/>
                  </p:cNvCxnSpPr>
                  <p:nvPr/>
                </p:nvCxnSpPr>
                <p:spPr>
                  <a:xfrm>
                    <a:off x="1663382" y="2371880"/>
                    <a:ext cx="704188" cy="276104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1" name="Rectangle 10"/>
                  <p:cNvSpPr/>
                  <p:nvPr/>
                </p:nvSpPr>
                <p:spPr>
                  <a:xfrm>
                    <a:off x="685702" y="2263249"/>
                    <a:ext cx="977680" cy="217262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Ideal</a:t>
                    </a:r>
                    <a:endParaRPr lang="en-US" sz="1400" dirty="0"/>
                  </a:p>
                </p:txBody>
              </p:sp>
              <p:cxnSp>
                <p:nvCxnSpPr>
                  <p:cNvPr id="14" name="Straight Arrow Connector 13"/>
                  <p:cNvCxnSpPr>
                    <a:stCxn id="15" idx="0"/>
                  </p:cNvCxnSpPr>
                  <p:nvPr/>
                </p:nvCxnSpPr>
                <p:spPr>
                  <a:xfrm flipH="1" flipV="1">
                    <a:off x="2238243" y="3059996"/>
                    <a:ext cx="129328" cy="70214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15" name="Rectangle 14"/>
                  <p:cNvSpPr/>
                  <p:nvPr/>
                </p:nvSpPr>
                <p:spPr>
                  <a:xfrm>
                    <a:off x="1878731" y="3762136"/>
                    <a:ext cx="977680" cy="217262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Speedup</a:t>
                    </a:r>
                    <a:endParaRPr lang="en-US" sz="1400" dirty="0"/>
                  </a:p>
                </p:txBody>
              </p:sp>
            </p:grpSp>
            <p:grpSp>
              <p:nvGrpSpPr>
                <p:cNvPr id="99" name="Group 98"/>
                <p:cNvGrpSpPr/>
                <p:nvPr/>
              </p:nvGrpSpPr>
              <p:grpSpPr>
                <a:xfrm>
                  <a:off x="-264324" y="2141192"/>
                  <a:ext cx="3336855" cy="2580722"/>
                  <a:chOff x="-243916" y="2144169"/>
                  <a:chExt cx="3336855" cy="2580722"/>
                </a:xfrm>
              </p:grpSpPr>
              <p:cxnSp>
                <p:nvCxnSpPr>
                  <p:cNvPr id="80" name="Straight Connector 79"/>
                  <p:cNvCxnSpPr/>
                  <p:nvPr/>
                </p:nvCxnSpPr>
                <p:spPr bwMode="auto">
                  <a:xfrm>
                    <a:off x="427642" y="2166469"/>
                    <a:ext cx="0" cy="213362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81" name="Straight Connector 80"/>
                  <p:cNvCxnSpPr/>
                  <p:nvPr/>
                </p:nvCxnSpPr>
                <p:spPr bwMode="auto">
                  <a:xfrm flipH="1">
                    <a:off x="427642" y="4282829"/>
                    <a:ext cx="2504272" cy="1726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86" name="TextBox 85"/>
                  <p:cNvSpPr txBox="1"/>
                  <p:nvPr/>
                </p:nvSpPr>
                <p:spPr>
                  <a:xfrm>
                    <a:off x="1418985" y="4393399"/>
                    <a:ext cx="784008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#</a:t>
                    </a:r>
                    <a:r>
                      <a:rPr lang="en-US" sz="1400" b="1" dirty="0" err="1" smtClean="0"/>
                      <a:t>proc</a:t>
                    </a:r>
                    <a:endParaRPr lang="en-US" sz="1400" b="1" dirty="0"/>
                  </a:p>
                </p:txBody>
              </p:sp>
              <p:sp>
                <p:nvSpPr>
                  <p:cNvPr id="87" name="TextBox 86"/>
                  <p:cNvSpPr txBox="1"/>
                  <p:nvPr/>
                </p:nvSpPr>
                <p:spPr>
                  <a:xfrm rot="16200000">
                    <a:off x="-598112" y="3223488"/>
                    <a:ext cx="1039884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Speedup</a:t>
                    </a:r>
                    <a:endParaRPr lang="en-US" sz="1400" b="1" dirty="0"/>
                  </a:p>
                </p:txBody>
              </p:sp>
              <p:sp>
                <p:nvSpPr>
                  <p:cNvPr id="88" name="TextBox 87"/>
                  <p:cNvSpPr txBox="1"/>
                  <p:nvPr/>
                </p:nvSpPr>
                <p:spPr>
                  <a:xfrm>
                    <a:off x="739705" y="4267652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89" name="TextBox 88"/>
                  <p:cNvSpPr txBox="1"/>
                  <p:nvPr/>
                </p:nvSpPr>
                <p:spPr>
                  <a:xfrm>
                    <a:off x="1343211" y="4258043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90" name="TextBox 89"/>
                  <p:cNvSpPr txBox="1"/>
                  <p:nvPr/>
                </p:nvSpPr>
                <p:spPr>
                  <a:xfrm>
                    <a:off x="1948948" y="4255258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2682924" y="423543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  <p:sp>
                <p:nvSpPr>
                  <p:cNvPr id="95" name="TextBox 94"/>
                  <p:cNvSpPr txBox="1"/>
                  <p:nvPr/>
                </p:nvSpPr>
                <p:spPr>
                  <a:xfrm>
                    <a:off x="118558" y="3687079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96" name="TextBox 95"/>
                  <p:cNvSpPr txBox="1"/>
                  <p:nvPr/>
                </p:nvSpPr>
                <p:spPr>
                  <a:xfrm>
                    <a:off x="117443" y="3172775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97" name="TextBox 96"/>
                  <p:cNvSpPr txBox="1"/>
                  <p:nvPr/>
                </p:nvSpPr>
                <p:spPr>
                  <a:xfrm>
                    <a:off x="53323" y="265847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98" name="TextBox 97"/>
                  <p:cNvSpPr txBox="1"/>
                  <p:nvPr/>
                </p:nvSpPr>
                <p:spPr>
                  <a:xfrm>
                    <a:off x="55552" y="2144169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</p:grpSp>
          </p:grpSp>
          <p:sp>
            <p:nvSpPr>
              <p:cNvPr id="164" name="TextBox 163"/>
              <p:cNvSpPr txBox="1"/>
              <p:nvPr/>
            </p:nvSpPr>
            <p:spPr>
              <a:xfrm>
                <a:off x="464731" y="999076"/>
                <a:ext cx="2684983" cy="338554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 smtClean="0"/>
                  <a:t>BP+Parameter</a:t>
                </a:r>
                <a:r>
                  <a:rPr lang="en-US" sz="1600" b="1" dirty="0" smtClean="0"/>
                  <a:t> Learning</a:t>
                </a:r>
                <a:endParaRPr lang="en-US" sz="1600" b="1" dirty="0"/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031844" y="943562"/>
            <a:ext cx="2970170" cy="2648107"/>
            <a:chOff x="3031844" y="943562"/>
            <a:chExt cx="2970170" cy="2648107"/>
          </a:xfrm>
        </p:grpSpPr>
        <p:sp>
          <p:nvSpPr>
            <p:cNvPr id="128" name="Rectangle 127"/>
            <p:cNvSpPr/>
            <p:nvPr/>
          </p:nvSpPr>
          <p:spPr bwMode="auto">
            <a:xfrm>
              <a:off x="3120518" y="943562"/>
              <a:ext cx="2881496" cy="2581337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3031844" y="993837"/>
              <a:ext cx="2970169" cy="2597832"/>
              <a:chOff x="3031844" y="993837"/>
              <a:chExt cx="2970169" cy="2597832"/>
            </a:xfrm>
          </p:grpSpPr>
          <p:grpSp>
            <p:nvGrpSpPr>
              <p:cNvPr id="158" name="Group 157"/>
              <p:cNvGrpSpPr/>
              <p:nvPr/>
            </p:nvGrpSpPr>
            <p:grpSpPr>
              <a:xfrm>
                <a:off x="3031844" y="1278048"/>
                <a:ext cx="2970169" cy="2313621"/>
                <a:chOff x="3088155" y="2130339"/>
                <a:chExt cx="3336855" cy="2599254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3755819" y="2337727"/>
                  <a:ext cx="2520991" cy="1850448"/>
                  <a:chOff x="4618390" y="2414140"/>
                  <a:chExt cx="3250675" cy="2386048"/>
                </a:xfrm>
              </p:grpSpPr>
              <p:sp>
                <p:nvSpPr>
                  <p:cNvPr id="22" name="Freeform 21"/>
                  <p:cNvSpPr/>
                  <p:nvPr/>
                </p:nvSpPr>
                <p:spPr>
                  <a:xfrm>
                    <a:off x="4618390" y="3385452"/>
                    <a:ext cx="3234140" cy="1414736"/>
                  </a:xfrm>
                  <a:custGeom>
                    <a:avLst/>
                    <a:gdLst>
                      <a:gd name="connsiteX0" fmla="*/ 0 w 3645229"/>
                      <a:gd name="connsiteY0" fmla="*/ 1594563 h 1594563"/>
                      <a:gd name="connsiteX1" fmla="*/ 1435000 w 3645229"/>
                      <a:gd name="connsiteY1" fmla="*/ 852266 h 1594563"/>
                      <a:gd name="connsiteX2" fmla="*/ 2292701 w 3645229"/>
                      <a:gd name="connsiteY2" fmla="*/ 439878 h 1594563"/>
                      <a:gd name="connsiteX3" fmla="*/ 2754540 w 3645229"/>
                      <a:gd name="connsiteY3" fmla="*/ 159455 h 1594563"/>
                      <a:gd name="connsiteX4" fmla="*/ 3265862 w 3645229"/>
                      <a:gd name="connsiteY4" fmla="*/ 10996 h 1594563"/>
                      <a:gd name="connsiteX5" fmla="*/ 3645229 w 3645229"/>
                      <a:gd name="connsiteY5" fmla="*/ 10996 h 1594563"/>
                      <a:gd name="connsiteX6" fmla="*/ 3645229 w 3645229"/>
                      <a:gd name="connsiteY6" fmla="*/ 10996 h 159456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645229" h="1594563">
                        <a:moveTo>
                          <a:pt x="0" y="1594563"/>
                        </a:moveTo>
                        <a:lnTo>
                          <a:pt x="1435000" y="852266"/>
                        </a:lnTo>
                        <a:cubicBezTo>
                          <a:pt x="1817117" y="659818"/>
                          <a:pt x="2072778" y="555347"/>
                          <a:pt x="2292701" y="439878"/>
                        </a:cubicBezTo>
                        <a:cubicBezTo>
                          <a:pt x="2512624" y="324409"/>
                          <a:pt x="2592347" y="230935"/>
                          <a:pt x="2754540" y="159455"/>
                        </a:cubicBezTo>
                        <a:cubicBezTo>
                          <a:pt x="2916733" y="87975"/>
                          <a:pt x="3117414" y="35739"/>
                          <a:pt x="3265862" y="10996"/>
                        </a:cubicBezTo>
                        <a:cubicBezTo>
                          <a:pt x="3414310" y="-13747"/>
                          <a:pt x="3645229" y="10996"/>
                          <a:pt x="3645229" y="10996"/>
                        </a:cubicBezTo>
                        <a:lnTo>
                          <a:pt x="3645229" y="10996"/>
                        </a:lnTo>
                      </a:path>
                    </a:pathLst>
                  </a:custGeom>
                  <a:ln w="57150" cmpd="sng">
                    <a:solidFill>
                      <a:schemeClr val="accent2"/>
                    </a:solidFill>
                  </a:ln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ＭＳ Ｐゴシック" pitchFamily="-111" charset="-128"/>
                    </a:endParaRPr>
                  </a:p>
                </p:txBody>
              </p:sp>
              <p:cxnSp>
                <p:nvCxnSpPr>
                  <p:cNvPr id="23" name="Straight Connector 22"/>
                  <p:cNvCxnSpPr/>
                  <p:nvPr/>
                </p:nvCxnSpPr>
                <p:spPr bwMode="auto">
                  <a:xfrm flipV="1">
                    <a:off x="4618390" y="2414140"/>
                    <a:ext cx="3228985" cy="2379433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4" name="Straight Arrow Connector 23"/>
                  <p:cNvCxnSpPr>
                    <a:stCxn id="25" idx="3"/>
                  </p:cNvCxnSpPr>
                  <p:nvPr/>
                </p:nvCxnSpPr>
                <p:spPr>
                  <a:xfrm>
                    <a:off x="6154820" y="2549205"/>
                    <a:ext cx="875537" cy="343288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25" name="Rectangle 24"/>
                  <p:cNvSpPr/>
                  <p:nvPr/>
                </p:nvSpPr>
                <p:spPr>
                  <a:xfrm>
                    <a:off x="4939244" y="2414141"/>
                    <a:ext cx="1215577" cy="270128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Ideal</a:t>
                    </a:r>
                    <a:endParaRPr lang="en-US" sz="1400" dirty="0"/>
                  </a:p>
                </p:txBody>
              </p:sp>
              <p:cxnSp>
                <p:nvCxnSpPr>
                  <p:cNvPr id="26" name="Straight Arrow Connector 25"/>
                  <p:cNvCxnSpPr/>
                  <p:nvPr/>
                </p:nvCxnSpPr>
                <p:spPr>
                  <a:xfrm flipH="1" flipV="1">
                    <a:off x="7100479" y="3531885"/>
                    <a:ext cx="160797" cy="87299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27" name="Rectangle 26"/>
                  <p:cNvSpPr/>
                  <p:nvPr/>
                </p:nvSpPr>
                <p:spPr>
                  <a:xfrm>
                    <a:off x="6653488" y="4388380"/>
                    <a:ext cx="1215577" cy="270128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Speedup</a:t>
                    </a:r>
                    <a:endParaRPr lang="en-US" sz="1400" dirty="0"/>
                  </a:p>
                </p:txBody>
              </p:sp>
            </p:grpSp>
            <p:grpSp>
              <p:nvGrpSpPr>
                <p:cNvPr id="100" name="Group 99"/>
                <p:cNvGrpSpPr/>
                <p:nvPr/>
              </p:nvGrpSpPr>
              <p:grpSpPr>
                <a:xfrm>
                  <a:off x="3088155" y="2130339"/>
                  <a:ext cx="3336855" cy="2599254"/>
                  <a:chOff x="-243916" y="2144169"/>
                  <a:chExt cx="3336855" cy="2599254"/>
                </a:xfrm>
              </p:grpSpPr>
              <p:cxnSp>
                <p:nvCxnSpPr>
                  <p:cNvPr id="101" name="Straight Connector 100"/>
                  <p:cNvCxnSpPr/>
                  <p:nvPr/>
                </p:nvCxnSpPr>
                <p:spPr bwMode="auto">
                  <a:xfrm>
                    <a:off x="427642" y="2166469"/>
                    <a:ext cx="0" cy="213362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2" name="Straight Connector 101"/>
                  <p:cNvCxnSpPr/>
                  <p:nvPr/>
                </p:nvCxnSpPr>
                <p:spPr bwMode="auto">
                  <a:xfrm flipH="1">
                    <a:off x="427642" y="4282829"/>
                    <a:ext cx="2504272" cy="1726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3" name="TextBox 102"/>
                  <p:cNvSpPr txBox="1"/>
                  <p:nvPr/>
                </p:nvSpPr>
                <p:spPr>
                  <a:xfrm>
                    <a:off x="1437515" y="4411931"/>
                    <a:ext cx="784008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#</a:t>
                    </a:r>
                    <a:r>
                      <a:rPr lang="en-US" sz="1400" b="1" dirty="0" err="1" smtClean="0"/>
                      <a:t>proc</a:t>
                    </a:r>
                    <a:endParaRPr lang="en-US" sz="1400" b="1" dirty="0"/>
                  </a:p>
                </p:txBody>
              </p:sp>
              <p:sp>
                <p:nvSpPr>
                  <p:cNvPr id="104" name="TextBox 103"/>
                  <p:cNvSpPr txBox="1"/>
                  <p:nvPr/>
                </p:nvSpPr>
                <p:spPr>
                  <a:xfrm rot="16200000">
                    <a:off x="-598112" y="3223488"/>
                    <a:ext cx="1039884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Speedup</a:t>
                    </a:r>
                    <a:endParaRPr lang="en-US" sz="1400" b="1" dirty="0"/>
                  </a:p>
                </p:txBody>
              </p:sp>
              <p:sp>
                <p:nvSpPr>
                  <p:cNvPr id="105" name="TextBox 104"/>
                  <p:cNvSpPr txBox="1"/>
                  <p:nvPr/>
                </p:nvSpPr>
                <p:spPr>
                  <a:xfrm>
                    <a:off x="739705" y="4267652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06" name="TextBox 105"/>
                  <p:cNvSpPr txBox="1"/>
                  <p:nvPr/>
                </p:nvSpPr>
                <p:spPr>
                  <a:xfrm>
                    <a:off x="1343211" y="4258043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07" name="TextBox 106"/>
                  <p:cNvSpPr txBox="1"/>
                  <p:nvPr/>
                </p:nvSpPr>
                <p:spPr>
                  <a:xfrm>
                    <a:off x="1948948" y="4255258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08" name="TextBox 107"/>
                  <p:cNvSpPr txBox="1"/>
                  <p:nvPr/>
                </p:nvSpPr>
                <p:spPr>
                  <a:xfrm>
                    <a:off x="2682924" y="423543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  <p:sp>
                <p:nvSpPr>
                  <p:cNvPr id="109" name="TextBox 108"/>
                  <p:cNvSpPr txBox="1"/>
                  <p:nvPr/>
                </p:nvSpPr>
                <p:spPr>
                  <a:xfrm>
                    <a:off x="118558" y="3687079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10" name="TextBox 109"/>
                  <p:cNvSpPr txBox="1"/>
                  <p:nvPr/>
                </p:nvSpPr>
                <p:spPr>
                  <a:xfrm>
                    <a:off x="117443" y="3172775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11" name="TextBox 110"/>
                  <p:cNvSpPr txBox="1"/>
                  <p:nvPr/>
                </p:nvSpPr>
                <p:spPr>
                  <a:xfrm>
                    <a:off x="53323" y="265847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12" name="TextBox 111"/>
                  <p:cNvSpPr txBox="1"/>
                  <p:nvPr/>
                </p:nvSpPr>
                <p:spPr>
                  <a:xfrm>
                    <a:off x="55552" y="2144169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</p:grpSp>
          </p:grpSp>
          <p:sp>
            <p:nvSpPr>
              <p:cNvPr id="165" name="TextBox 164"/>
              <p:cNvSpPr txBox="1"/>
              <p:nvPr/>
            </p:nvSpPr>
            <p:spPr>
              <a:xfrm>
                <a:off x="3705396" y="993837"/>
                <a:ext cx="2066267" cy="338554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Gibbs Sampling</a:t>
                </a:r>
                <a:endParaRPr lang="en-US" sz="1600" b="1" dirty="0"/>
              </a:p>
            </p:txBody>
          </p:sp>
        </p:grpSp>
      </p:grpSp>
      <p:grpSp>
        <p:nvGrpSpPr>
          <p:cNvPr id="17" name="Group 16"/>
          <p:cNvGrpSpPr/>
          <p:nvPr/>
        </p:nvGrpSpPr>
        <p:grpSpPr>
          <a:xfrm>
            <a:off x="6025392" y="958161"/>
            <a:ext cx="2970169" cy="2633507"/>
            <a:chOff x="6025392" y="958161"/>
            <a:chExt cx="2970169" cy="2633507"/>
          </a:xfrm>
        </p:grpSpPr>
        <p:sp>
          <p:nvSpPr>
            <p:cNvPr id="142" name="Rectangle 141"/>
            <p:cNvSpPr/>
            <p:nvPr/>
          </p:nvSpPr>
          <p:spPr bwMode="auto">
            <a:xfrm>
              <a:off x="6115803" y="958161"/>
              <a:ext cx="2879758" cy="2581337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025392" y="999076"/>
              <a:ext cx="2970169" cy="2592592"/>
              <a:chOff x="6025392" y="999076"/>
              <a:chExt cx="2970169" cy="2592592"/>
            </a:xfrm>
          </p:grpSpPr>
          <p:grpSp>
            <p:nvGrpSpPr>
              <p:cNvPr id="159" name="Group 158"/>
              <p:cNvGrpSpPr/>
              <p:nvPr/>
            </p:nvGrpSpPr>
            <p:grpSpPr>
              <a:xfrm>
                <a:off x="6025392" y="1278048"/>
                <a:ext cx="2970169" cy="2313620"/>
                <a:chOff x="6033915" y="1448127"/>
                <a:chExt cx="3336855" cy="2599253"/>
              </a:xfrm>
            </p:grpSpPr>
            <p:grpSp>
              <p:nvGrpSpPr>
                <p:cNvPr id="42" name="Group 41"/>
                <p:cNvGrpSpPr/>
                <p:nvPr/>
              </p:nvGrpSpPr>
              <p:grpSpPr>
                <a:xfrm>
                  <a:off x="6727847" y="1559315"/>
                  <a:ext cx="2529900" cy="1913762"/>
                  <a:chOff x="461839" y="1917403"/>
                  <a:chExt cx="3549229" cy="2684840"/>
                </a:xfrm>
              </p:grpSpPr>
              <p:cxnSp>
                <p:nvCxnSpPr>
                  <p:cNvPr id="45" name="Straight Connector 44"/>
                  <p:cNvCxnSpPr/>
                  <p:nvPr/>
                </p:nvCxnSpPr>
                <p:spPr bwMode="auto">
                  <a:xfrm flipV="1">
                    <a:off x="461839" y="1986823"/>
                    <a:ext cx="3549229" cy="2615420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chemeClr val="hlink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6" name="Freeform 45"/>
                  <p:cNvSpPr/>
                  <p:nvPr/>
                </p:nvSpPr>
                <p:spPr>
                  <a:xfrm>
                    <a:off x="511321" y="2135502"/>
                    <a:ext cx="3463792" cy="2433749"/>
                  </a:xfrm>
                  <a:custGeom>
                    <a:avLst/>
                    <a:gdLst>
                      <a:gd name="connsiteX0" fmla="*/ 0 w 3463792"/>
                      <a:gd name="connsiteY0" fmla="*/ 2210396 h 2210396"/>
                      <a:gd name="connsiteX1" fmla="*/ 1731896 w 3463792"/>
                      <a:gd name="connsiteY1" fmla="*/ 1055711 h 2210396"/>
                      <a:gd name="connsiteX2" fmla="*/ 3463792 w 3463792"/>
                      <a:gd name="connsiteY2" fmla="*/ 0 h 2210396"/>
                      <a:gd name="connsiteX0" fmla="*/ 0 w 3463792"/>
                      <a:gd name="connsiteY0" fmla="*/ 2433749 h 2433749"/>
                      <a:gd name="connsiteX1" fmla="*/ 1731896 w 3463792"/>
                      <a:gd name="connsiteY1" fmla="*/ 1279064 h 2433749"/>
                      <a:gd name="connsiteX2" fmla="*/ 3463792 w 3463792"/>
                      <a:gd name="connsiteY2" fmla="*/ 0 h 2433749"/>
                      <a:gd name="connsiteX0" fmla="*/ 0 w 3463792"/>
                      <a:gd name="connsiteY0" fmla="*/ 2433749 h 2433749"/>
                      <a:gd name="connsiteX1" fmla="*/ 1713284 w 3463792"/>
                      <a:gd name="connsiteY1" fmla="*/ 1223227 h 2433749"/>
                      <a:gd name="connsiteX2" fmla="*/ 3463792 w 3463792"/>
                      <a:gd name="connsiteY2" fmla="*/ 0 h 24337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463792" h="2433749">
                        <a:moveTo>
                          <a:pt x="0" y="2433749"/>
                        </a:moveTo>
                        <a:cubicBezTo>
                          <a:pt x="577298" y="2040606"/>
                          <a:pt x="1135985" y="1628852"/>
                          <a:pt x="1713284" y="1223227"/>
                        </a:cubicBezTo>
                        <a:lnTo>
                          <a:pt x="3463792" y="0"/>
                        </a:lnTo>
                      </a:path>
                    </a:pathLst>
                  </a:custGeom>
                  <a:ln w="57150" cmpd="sng"/>
                </p:spPr>
                <p:style>
                  <a:lnRef idx="2">
                    <a:schemeClr val="accent2"/>
                  </a:lnRef>
                  <a:fillRef idx="0">
                    <a:schemeClr val="accent2"/>
                  </a:fillRef>
                  <a:effectRef idx="1">
                    <a:schemeClr val="accent2"/>
                  </a:effectRef>
                  <a:fontRef idx="minor">
                    <a:schemeClr val="tx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ＭＳ Ｐゴシック" pitchFamily="-111" charset="-128"/>
                    </a:endParaRPr>
                  </a:p>
                </p:txBody>
              </p:sp>
              <p:cxnSp>
                <p:nvCxnSpPr>
                  <p:cNvPr id="47" name="Straight Arrow Connector 46"/>
                  <p:cNvCxnSpPr>
                    <a:stCxn id="48" idx="3"/>
                  </p:cNvCxnSpPr>
                  <p:nvPr/>
                </p:nvCxnSpPr>
                <p:spPr>
                  <a:xfrm>
                    <a:off x="2195475" y="2069803"/>
                    <a:ext cx="987915" cy="387350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48" name="Rectangle 47"/>
                  <p:cNvSpPr/>
                  <p:nvPr/>
                </p:nvSpPr>
                <p:spPr>
                  <a:xfrm>
                    <a:off x="823875" y="1917403"/>
                    <a:ext cx="1371600" cy="304800"/>
                  </a:xfrm>
                  <a:prstGeom prst="rect">
                    <a:avLst/>
                  </a:prstGeom>
                </p:spPr>
                <p:style>
                  <a:lnRef idx="2">
                    <a:schemeClr val="accent4">
                      <a:shade val="50000"/>
                    </a:schemeClr>
                  </a:lnRef>
                  <a:fillRef idx="1">
                    <a:schemeClr val="accent4"/>
                  </a:fillRef>
                  <a:effectRef idx="0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Ideal</a:t>
                    </a:r>
                    <a:endParaRPr lang="en-US" sz="1400" dirty="0"/>
                  </a:p>
                </p:txBody>
              </p:sp>
              <p:cxnSp>
                <p:nvCxnSpPr>
                  <p:cNvPr id="49" name="Straight Arrow Connector 48"/>
                  <p:cNvCxnSpPr/>
                  <p:nvPr/>
                </p:nvCxnSpPr>
                <p:spPr>
                  <a:xfrm flipH="1" flipV="1">
                    <a:off x="3001954" y="2960721"/>
                    <a:ext cx="181436" cy="985041"/>
                  </a:xfrm>
                  <a:prstGeom prst="straightConnector1">
                    <a:avLst/>
                  </a:prstGeom>
                  <a:ln>
                    <a:tailEnd type="arrow"/>
                  </a:ln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</p:cxnSp>
              <p:sp>
                <p:nvSpPr>
                  <p:cNvPr id="50" name="Rectangle 49"/>
                  <p:cNvSpPr/>
                  <p:nvPr/>
                </p:nvSpPr>
                <p:spPr>
                  <a:xfrm>
                    <a:off x="2497590" y="3964374"/>
                    <a:ext cx="1371600" cy="304800"/>
                  </a:xfrm>
                  <a:prstGeom prst="rect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sz="1400" dirty="0" smtClean="0"/>
                      <a:t>Speedup</a:t>
                    </a:r>
                    <a:endParaRPr lang="en-US" sz="1400" dirty="0"/>
                  </a:p>
                </p:txBody>
              </p:sp>
            </p:grpSp>
            <p:grpSp>
              <p:nvGrpSpPr>
                <p:cNvPr id="115" name="Group 114"/>
                <p:cNvGrpSpPr/>
                <p:nvPr/>
              </p:nvGrpSpPr>
              <p:grpSpPr>
                <a:xfrm>
                  <a:off x="6033915" y="1448127"/>
                  <a:ext cx="3336855" cy="2599253"/>
                  <a:chOff x="-243916" y="2144169"/>
                  <a:chExt cx="3336855" cy="2599253"/>
                </a:xfrm>
              </p:grpSpPr>
              <p:cxnSp>
                <p:nvCxnSpPr>
                  <p:cNvPr id="116" name="Straight Connector 115"/>
                  <p:cNvCxnSpPr/>
                  <p:nvPr/>
                </p:nvCxnSpPr>
                <p:spPr bwMode="auto">
                  <a:xfrm>
                    <a:off x="427642" y="2166469"/>
                    <a:ext cx="0" cy="213362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7" name="Straight Connector 116"/>
                  <p:cNvCxnSpPr/>
                  <p:nvPr/>
                </p:nvCxnSpPr>
                <p:spPr bwMode="auto">
                  <a:xfrm flipH="1">
                    <a:off x="427642" y="4282829"/>
                    <a:ext cx="2504272" cy="1726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18" name="TextBox 117"/>
                  <p:cNvSpPr txBox="1"/>
                  <p:nvPr/>
                </p:nvSpPr>
                <p:spPr>
                  <a:xfrm>
                    <a:off x="1437515" y="4411930"/>
                    <a:ext cx="784008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#</a:t>
                    </a:r>
                    <a:r>
                      <a:rPr lang="en-US" sz="1400" b="1" dirty="0" err="1" smtClean="0"/>
                      <a:t>proc</a:t>
                    </a:r>
                    <a:endParaRPr lang="en-US" sz="1400" b="1" dirty="0"/>
                  </a:p>
                </p:txBody>
              </p:sp>
              <p:sp>
                <p:nvSpPr>
                  <p:cNvPr id="119" name="TextBox 118"/>
                  <p:cNvSpPr txBox="1"/>
                  <p:nvPr/>
                </p:nvSpPr>
                <p:spPr>
                  <a:xfrm rot="16200000">
                    <a:off x="-598112" y="3223488"/>
                    <a:ext cx="1039884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Speedup</a:t>
                    </a:r>
                    <a:endParaRPr lang="en-US" sz="1400" b="1" dirty="0"/>
                  </a:p>
                </p:txBody>
              </p:sp>
              <p:sp>
                <p:nvSpPr>
                  <p:cNvPr id="120" name="TextBox 119"/>
                  <p:cNvSpPr txBox="1"/>
                  <p:nvPr/>
                </p:nvSpPr>
                <p:spPr>
                  <a:xfrm>
                    <a:off x="739705" y="4267652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21" name="TextBox 120"/>
                  <p:cNvSpPr txBox="1"/>
                  <p:nvPr/>
                </p:nvSpPr>
                <p:spPr>
                  <a:xfrm>
                    <a:off x="1343211" y="4258043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22" name="TextBox 121"/>
                  <p:cNvSpPr txBox="1"/>
                  <p:nvPr/>
                </p:nvSpPr>
                <p:spPr>
                  <a:xfrm>
                    <a:off x="1948948" y="4255258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23" name="TextBox 122"/>
                  <p:cNvSpPr txBox="1"/>
                  <p:nvPr/>
                </p:nvSpPr>
                <p:spPr>
                  <a:xfrm>
                    <a:off x="2682924" y="423543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  <p:sp>
                <p:nvSpPr>
                  <p:cNvPr id="124" name="TextBox 123"/>
                  <p:cNvSpPr txBox="1"/>
                  <p:nvPr/>
                </p:nvSpPr>
                <p:spPr>
                  <a:xfrm>
                    <a:off x="118558" y="3687079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25" name="TextBox 124"/>
                  <p:cNvSpPr txBox="1"/>
                  <p:nvPr/>
                </p:nvSpPr>
                <p:spPr>
                  <a:xfrm>
                    <a:off x="117443" y="3172775"/>
                    <a:ext cx="304456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26" name="TextBox 125"/>
                  <p:cNvSpPr txBox="1"/>
                  <p:nvPr/>
                </p:nvSpPr>
                <p:spPr>
                  <a:xfrm>
                    <a:off x="53323" y="2658472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27" name="TextBox 126"/>
                  <p:cNvSpPr txBox="1"/>
                  <p:nvPr/>
                </p:nvSpPr>
                <p:spPr>
                  <a:xfrm>
                    <a:off x="55552" y="2144169"/>
                    <a:ext cx="410015" cy="33149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</p:grpSp>
          </p:grpSp>
          <p:sp>
            <p:nvSpPr>
              <p:cNvPr id="166" name="TextBox 165"/>
              <p:cNvSpPr txBox="1"/>
              <p:nvPr/>
            </p:nvSpPr>
            <p:spPr>
              <a:xfrm>
                <a:off x="7404498" y="999076"/>
                <a:ext cx="965320" cy="338554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err="1" smtClean="0"/>
                  <a:t>CoEM</a:t>
                </a:r>
                <a:endParaRPr lang="en-US" sz="1600" b="1" dirty="0"/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179513" y="3690309"/>
            <a:ext cx="3030070" cy="2666561"/>
            <a:chOff x="1179513" y="3690309"/>
            <a:chExt cx="3030070" cy="2666561"/>
          </a:xfrm>
        </p:grpSpPr>
        <p:sp>
          <p:nvSpPr>
            <p:cNvPr id="143" name="Rectangle 142"/>
            <p:cNvSpPr/>
            <p:nvPr/>
          </p:nvSpPr>
          <p:spPr bwMode="auto">
            <a:xfrm>
              <a:off x="1267534" y="3711360"/>
              <a:ext cx="2910840" cy="2581337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1179513" y="3690309"/>
              <a:ext cx="3030070" cy="2666561"/>
              <a:chOff x="1179513" y="3690309"/>
              <a:chExt cx="3030070" cy="2666561"/>
            </a:xfrm>
          </p:grpSpPr>
          <p:grpSp>
            <p:nvGrpSpPr>
              <p:cNvPr id="162" name="Group 161"/>
              <p:cNvGrpSpPr/>
              <p:nvPr/>
            </p:nvGrpSpPr>
            <p:grpSpPr>
              <a:xfrm>
                <a:off x="1179513" y="4008536"/>
                <a:ext cx="3030070" cy="2348334"/>
                <a:chOff x="1227009" y="3908722"/>
                <a:chExt cx="3323157" cy="2575476"/>
              </a:xfrm>
            </p:grpSpPr>
            <p:grpSp>
              <p:nvGrpSpPr>
                <p:cNvPr id="63" name="Group 62"/>
                <p:cNvGrpSpPr/>
                <p:nvPr/>
              </p:nvGrpSpPr>
              <p:grpSpPr>
                <a:xfrm>
                  <a:off x="1916608" y="4104008"/>
                  <a:ext cx="2541516" cy="1865770"/>
                  <a:chOff x="4832276" y="4171138"/>
                  <a:chExt cx="3431343" cy="2519006"/>
                </a:xfrm>
              </p:grpSpPr>
              <p:grpSp>
                <p:nvGrpSpPr>
                  <p:cNvPr id="52" name="Group 51"/>
                  <p:cNvGrpSpPr/>
                  <p:nvPr/>
                </p:nvGrpSpPr>
                <p:grpSpPr>
                  <a:xfrm>
                    <a:off x="4832276" y="4171138"/>
                    <a:ext cx="3412271" cy="2514496"/>
                    <a:chOff x="4618390" y="2279077"/>
                    <a:chExt cx="3412271" cy="2514496"/>
                  </a:xfrm>
                </p:grpSpPr>
                <p:cxnSp>
                  <p:nvCxnSpPr>
                    <p:cNvPr id="56" name="Straight Connector 55"/>
                    <p:cNvCxnSpPr/>
                    <p:nvPr/>
                  </p:nvCxnSpPr>
                  <p:spPr bwMode="auto">
                    <a:xfrm flipV="1">
                      <a:off x="4618390" y="2279077"/>
                      <a:ext cx="3412271" cy="2514496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57" name="Straight Arrow Connector 56"/>
                    <p:cNvCxnSpPr>
                      <a:stCxn id="58" idx="3"/>
                    </p:cNvCxnSpPr>
                    <p:nvPr/>
                  </p:nvCxnSpPr>
                  <p:spPr>
                    <a:xfrm>
                      <a:off x="6154820" y="2549205"/>
                      <a:ext cx="875537" cy="343288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2">
                      <a:schemeClr val="accent4">
                        <a:shade val="50000"/>
                      </a:schemeClr>
                    </a:lnRef>
                    <a:fillRef idx="1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58" name="Rectangle 57"/>
                    <p:cNvSpPr/>
                    <p:nvPr/>
                  </p:nvSpPr>
                  <p:spPr>
                    <a:xfrm>
                      <a:off x="4939244" y="2414141"/>
                      <a:ext cx="1215577" cy="27012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4">
                        <a:shade val="50000"/>
                      </a:schemeClr>
                    </a:lnRef>
                    <a:fillRef idx="1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400" dirty="0" smtClean="0"/>
                        <a:t>Ideal</a:t>
                      </a:r>
                      <a:endParaRPr lang="en-US" sz="1400" dirty="0"/>
                    </a:p>
                  </p:txBody>
                </p:sp>
                <p:cxnSp>
                  <p:nvCxnSpPr>
                    <p:cNvPr id="59" name="Straight Arrow Connector 58"/>
                    <p:cNvCxnSpPr/>
                    <p:nvPr/>
                  </p:nvCxnSpPr>
                  <p:spPr>
                    <a:xfrm flipH="1" flipV="1">
                      <a:off x="7100479" y="3531885"/>
                      <a:ext cx="160797" cy="872990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60" name="Rectangle 59"/>
                    <p:cNvSpPr/>
                    <p:nvPr/>
                  </p:nvSpPr>
                  <p:spPr>
                    <a:xfrm>
                      <a:off x="6653488" y="4388380"/>
                      <a:ext cx="1215577" cy="27012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400" dirty="0" smtClean="0"/>
                        <a:t>Speedup</a:t>
                      </a:r>
                      <a:endParaRPr lang="en-US" sz="1400" dirty="0"/>
                    </a:p>
                  </p:txBody>
                </p:sp>
              </p:grpSp>
              <p:sp>
                <p:nvSpPr>
                  <p:cNvPr id="61" name="Freeform 60"/>
                  <p:cNvSpPr/>
                  <p:nvPr/>
                </p:nvSpPr>
                <p:spPr>
                  <a:xfrm>
                    <a:off x="4832276" y="5096871"/>
                    <a:ext cx="3431343" cy="1593273"/>
                  </a:xfrm>
                  <a:custGeom>
                    <a:avLst/>
                    <a:gdLst>
                      <a:gd name="connsiteX0" fmla="*/ 0 w 3645229"/>
                      <a:gd name="connsiteY0" fmla="*/ 1594563 h 1594563"/>
                      <a:gd name="connsiteX1" fmla="*/ 1435000 w 3645229"/>
                      <a:gd name="connsiteY1" fmla="*/ 852266 h 1594563"/>
                      <a:gd name="connsiteX2" fmla="*/ 2292701 w 3645229"/>
                      <a:gd name="connsiteY2" fmla="*/ 439878 h 1594563"/>
                      <a:gd name="connsiteX3" fmla="*/ 2754540 w 3645229"/>
                      <a:gd name="connsiteY3" fmla="*/ 159455 h 1594563"/>
                      <a:gd name="connsiteX4" fmla="*/ 3265862 w 3645229"/>
                      <a:gd name="connsiteY4" fmla="*/ 10996 h 1594563"/>
                      <a:gd name="connsiteX5" fmla="*/ 3645229 w 3645229"/>
                      <a:gd name="connsiteY5" fmla="*/ 10996 h 1594563"/>
                      <a:gd name="connsiteX6" fmla="*/ 3645229 w 3645229"/>
                      <a:gd name="connsiteY6" fmla="*/ 10996 h 1594563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48459 h 1732026"/>
                      <a:gd name="connsiteX5" fmla="*/ 3645229 w 3991608"/>
                      <a:gd name="connsiteY5" fmla="*/ 148459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48459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64955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346405 h 1732026"/>
                      <a:gd name="connsiteX4" fmla="*/ 3265862 w 3991608"/>
                      <a:gd name="connsiteY4" fmla="*/ 164955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991608" h="1732026">
                        <a:moveTo>
                          <a:pt x="0" y="1732026"/>
                        </a:moveTo>
                        <a:lnTo>
                          <a:pt x="1435000" y="989729"/>
                        </a:lnTo>
                        <a:cubicBezTo>
                          <a:pt x="1817117" y="797281"/>
                          <a:pt x="2072778" y="684562"/>
                          <a:pt x="2292701" y="577341"/>
                        </a:cubicBezTo>
                        <a:cubicBezTo>
                          <a:pt x="2512624" y="470120"/>
                          <a:pt x="2592347" y="415136"/>
                          <a:pt x="2754540" y="346405"/>
                        </a:cubicBezTo>
                        <a:cubicBezTo>
                          <a:pt x="2916733" y="277674"/>
                          <a:pt x="3117414" y="203444"/>
                          <a:pt x="3265862" y="164955"/>
                        </a:cubicBezTo>
                        <a:cubicBezTo>
                          <a:pt x="3414310" y="126466"/>
                          <a:pt x="3524271" y="142961"/>
                          <a:pt x="3645229" y="115468"/>
                        </a:cubicBezTo>
                        <a:cubicBezTo>
                          <a:pt x="3766187" y="87976"/>
                          <a:pt x="3876148" y="49486"/>
                          <a:pt x="3991608" y="0"/>
                        </a:cubicBezTo>
                      </a:path>
                    </a:pathLst>
                  </a:custGeom>
                  <a:ln w="57150" cmpd="sng">
                    <a:solidFill>
                      <a:schemeClr val="accent2"/>
                    </a:solidFill>
                  </a:ln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ＭＳ Ｐゴシック" pitchFamily="-111" charset="-128"/>
                    </a:endParaRPr>
                  </a:p>
                </p:txBody>
              </p:sp>
            </p:grpSp>
            <p:grpSp>
              <p:nvGrpSpPr>
                <p:cNvPr id="145" name="Group 144"/>
                <p:cNvGrpSpPr/>
                <p:nvPr/>
              </p:nvGrpSpPr>
              <p:grpSpPr>
                <a:xfrm>
                  <a:off x="1227009" y="3908722"/>
                  <a:ext cx="3323157" cy="2575476"/>
                  <a:chOff x="-239973" y="2144169"/>
                  <a:chExt cx="3323157" cy="2575476"/>
                </a:xfrm>
              </p:grpSpPr>
              <p:cxnSp>
                <p:nvCxnSpPr>
                  <p:cNvPr id="146" name="Straight Connector 145"/>
                  <p:cNvCxnSpPr/>
                  <p:nvPr/>
                </p:nvCxnSpPr>
                <p:spPr bwMode="auto">
                  <a:xfrm>
                    <a:off x="427642" y="2166469"/>
                    <a:ext cx="0" cy="213362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7" name="Straight Connector 146"/>
                  <p:cNvCxnSpPr/>
                  <p:nvPr/>
                </p:nvCxnSpPr>
                <p:spPr bwMode="auto">
                  <a:xfrm flipH="1">
                    <a:off x="427642" y="4282829"/>
                    <a:ext cx="2504272" cy="1726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48" name="TextBox 147"/>
                  <p:cNvSpPr txBox="1"/>
                  <p:nvPr/>
                </p:nvSpPr>
                <p:spPr>
                  <a:xfrm>
                    <a:off x="1398250" y="4396040"/>
                    <a:ext cx="765355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#</a:t>
                    </a:r>
                    <a:r>
                      <a:rPr lang="en-US" sz="1400" b="1" dirty="0" err="1" smtClean="0"/>
                      <a:t>proc</a:t>
                    </a:r>
                    <a:endParaRPr lang="en-US" sz="1400" b="1" dirty="0"/>
                  </a:p>
                </p:txBody>
              </p:sp>
              <p:sp>
                <p:nvSpPr>
                  <p:cNvPr id="149" name="TextBox 148"/>
                  <p:cNvSpPr txBox="1"/>
                  <p:nvPr/>
                </p:nvSpPr>
                <p:spPr>
                  <a:xfrm rot="16200000">
                    <a:off x="-585742" y="3227432"/>
                    <a:ext cx="1015143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Speedup</a:t>
                    </a:r>
                    <a:endParaRPr lang="en-US" sz="1400" b="1" dirty="0"/>
                  </a:p>
                </p:txBody>
              </p:sp>
              <p:sp>
                <p:nvSpPr>
                  <p:cNvPr id="150" name="TextBox 149"/>
                  <p:cNvSpPr txBox="1"/>
                  <p:nvPr/>
                </p:nvSpPr>
                <p:spPr>
                  <a:xfrm>
                    <a:off x="739705" y="4267651"/>
                    <a:ext cx="297212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51" name="TextBox 150"/>
                  <p:cNvSpPr txBox="1"/>
                  <p:nvPr/>
                </p:nvSpPr>
                <p:spPr>
                  <a:xfrm>
                    <a:off x="1343211" y="4258043"/>
                    <a:ext cx="297212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52" name="TextBox 151"/>
                  <p:cNvSpPr txBox="1"/>
                  <p:nvPr/>
                </p:nvSpPr>
                <p:spPr>
                  <a:xfrm>
                    <a:off x="1948948" y="4255258"/>
                    <a:ext cx="400260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53" name="TextBox 152"/>
                  <p:cNvSpPr txBox="1"/>
                  <p:nvPr/>
                </p:nvSpPr>
                <p:spPr>
                  <a:xfrm>
                    <a:off x="2682924" y="4235432"/>
                    <a:ext cx="400260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  <p:sp>
                <p:nvSpPr>
                  <p:cNvPr id="154" name="TextBox 153"/>
                  <p:cNvSpPr txBox="1"/>
                  <p:nvPr/>
                </p:nvSpPr>
                <p:spPr>
                  <a:xfrm>
                    <a:off x="118558" y="3687079"/>
                    <a:ext cx="297212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55" name="TextBox 154"/>
                  <p:cNvSpPr txBox="1"/>
                  <p:nvPr/>
                </p:nvSpPr>
                <p:spPr>
                  <a:xfrm>
                    <a:off x="117443" y="3172775"/>
                    <a:ext cx="297212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56" name="TextBox 155"/>
                  <p:cNvSpPr txBox="1"/>
                  <p:nvPr/>
                </p:nvSpPr>
                <p:spPr>
                  <a:xfrm>
                    <a:off x="53323" y="2658472"/>
                    <a:ext cx="400260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57" name="TextBox 156"/>
                  <p:cNvSpPr txBox="1"/>
                  <p:nvPr/>
                </p:nvSpPr>
                <p:spPr>
                  <a:xfrm>
                    <a:off x="55552" y="2144169"/>
                    <a:ext cx="400260" cy="32360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</p:grpSp>
          </p:grpSp>
          <p:sp>
            <p:nvSpPr>
              <p:cNvPr id="167" name="TextBox 166"/>
              <p:cNvSpPr txBox="1"/>
              <p:nvPr/>
            </p:nvSpPr>
            <p:spPr>
              <a:xfrm>
                <a:off x="2396942" y="3690309"/>
                <a:ext cx="1028807" cy="338554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Lasso</a:t>
                </a:r>
                <a:endParaRPr lang="en-US" sz="1600" b="1" dirty="0"/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4672554" y="3591670"/>
            <a:ext cx="3247932" cy="2774569"/>
            <a:chOff x="4672554" y="3591670"/>
            <a:chExt cx="3247932" cy="2774569"/>
          </a:xfrm>
        </p:grpSpPr>
        <p:sp>
          <p:nvSpPr>
            <p:cNvPr id="144" name="Rectangle 143"/>
            <p:cNvSpPr/>
            <p:nvPr/>
          </p:nvSpPr>
          <p:spPr bwMode="auto">
            <a:xfrm>
              <a:off x="4776078" y="3591670"/>
              <a:ext cx="3144408" cy="2742494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672554" y="3689950"/>
              <a:ext cx="3102531" cy="2676289"/>
              <a:chOff x="4672554" y="3689950"/>
              <a:chExt cx="3102531" cy="2676289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4672554" y="4008235"/>
                <a:ext cx="3022086" cy="2358004"/>
                <a:chOff x="6121062" y="4325031"/>
                <a:chExt cx="3324944" cy="2594311"/>
              </a:xfrm>
            </p:grpSpPr>
            <p:grpSp>
              <p:nvGrpSpPr>
                <p:cNvPr id="78" name="Group 77"/>
                <p:cNvGrpSpPr/>
                <p:nvPr/>
              </p:nvGrpSpPr>
              <p:grpSpPr>
                <a:xfrm>
                  <a:off x="6801991" y="4466778"/>
                  <a:ext cx="2441990" cy="1912325"/>
                  <a:chOff x="452777" y="4473579"/>
                  <a:chExt cx="3507728" cy="2311394"/>
                </a:xfrm>
              </p:grpSpPr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452777" y="4473579"/>
                    <a:ext cx="3507728" cy="2299685"/>
                    <a:chOff x="4618390" y="2493889"/>
                    <a:chExt cx="3507728" cy="2299685"/>
                  </a:xfrm>
                </p:grpSpPr>
                <p:cxnSp>
                  <p:nvCxnSpPr>
                    <p:cNvPr id="71" name="Straight Connector 70"/>
                    <p:cNvCxnSpPr/>
                    <p:nvPr/>
                  </p:nvCxnSpPr>
                  <p:spPr bwMode="auto">
                    <a:xfrm flipV="1">
                      <a:off x="4618390" y="2549205"/>
                      <a:ext cx="3507728" cy="2244369"/>
                    </a:xfrm>
                    <a:prstGeom prst="line">
                      <a:avLst/>
                    </a:prstGeom>
                    <a:noFill/>
                    <a:ln w="571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72" name="Straight Arrow Connector 71"/>
                    <p:cNvCxnSpPr>
                      <a:stCxn id="73" idx="3"/>
                    </p:cNvCxnSpPr>
                    <p:nvPr/>
                  </p:nvCxnSpPr>
                  <p:spPr>
                    <a:xfrm>
                      <a:off x="6249589" y="2628953"/>
                      <a:ext cx="875537" cy="343288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2">
                      <a:schemeClr val="accent4">
                        <a:shade val="50000"/>
                      </a:schemeClr>
                    </a:lnRef>
                    <a:fillRef idx="1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73" name="Rectangle 72"/>
                    <p:cNvSpPr/>
                    <p:nvPr/>
                  </p:nvSpPr>
                  <p:spPr>
                    <a:xfrm>
                      <a:off x="5034013" y="2493889"/>
                      <a:ext cx="1215576" cy="270128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4">
                        <a:shade val="50000"/>
                      </a:schemeClr>
                    </a:lnRef>
                    <a:fillRef idx="1">
                      <a:schemeClr val="accent4"/>
                    </a:fillRef>
                    <a:effectRef idx="0">
                      <a:schemeClr val="accent4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dirty="0" smtClean="0"/>
                        <a:t>Ideal</a:t>
                      </a:r>
                      <a:endParaRPr lang="en-US" sz="1200" dirty="0"/>
                    </a:p>
                  </p:txBody>
                </p:sp>
                <p:cxnSp>
                  <p:nvCxnSpPr>
                    <p:cNvPr id="74" name="Straight Arrow Connector 73"/>
                    <p:cNvCxnSpPr>
                      <a:stCxn id="75" idx="0"/>
                      <a:endCxn id="65" idx="5"/>
                    </p:cNvCxnSpPr>
                    <p:nvPr/>
                  </p:nvCxnSpPr>
                  <p:spPr>
                    <a:xfrm flipH="1" flipV="1">
                      <a:off x="7064540" y="4016305"/>
                      <a:ext cx="308904" cy="339854"/>
                    </a:xfrm>
                    <a:prstGeom prst="straightConnector1">
                      <a:avLst/>
                    </a:prstGeom>
                    <a:ln>
                      <a:tailEnd type="arrow"/>
                    </a:ln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</p:cxnSp>
                <p:sp>
                  <p:nvSpPr>
                    <p:cNvPr id="75" name="Rectangle 74"/>
                    <p:cNvSpPr/>
                    <p:nvPr/>
                  </p:nvSpPr>
                  <p:spPr>
                    <a:xfrm>
                      <a:off x="6620769" y="4356159"/>
                      <a:ext cx="1505349" cy="338989"/>
                    </a:xfrm>
                    <a:prstGeom prst="rect">
                      <a:avLst/>
                    </a:prstGeom>
                  </p:spPr>
                  <p:style>
                    <a:lnRef idx="2">
                      <a:schemeClr val="accent2">
                        <a:shade val="50000"/>
                      </a:schemeClr>
                    </a:lnRef>
                    <a:fillRef idx="1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lt1"/>
                    </a:fontRef>
                  </p:style>
                  <p:txBody>
                    <a:bodyPr lIns="0" tIns="0" rIns="0" bIns="0" rtlCol="0" anchor="ctr"/>
                    <a:lstStyle/>
                    <a:p>
                      <a:pPr algn="ctr"/>
                      <a:r>
                        <a:rPr lang="en-US" sz="1200" dirty="0" smtClean="0"/>
                        <a:t>Speedup</a:t>
                      </a:r>
                      <a:endParaRPr lang="en-US" sz="1200" dirty="0"/>
                    </a:p>
                  </p:txBody>
                </p:sp>
              </p:grpSp>
              <p:sp>
                <p:nvSpPr>
                  <p:cNvPr id="65" name="Freeform 64"/>
                  <p:cNvSpPr/>
                  <p:nvPr/>
                </p:nvSpPr>
                <p:spPr>
                  <a:xfrm>
                    <a:off x="452777" y="5751140"/>
                    <a:ext cx="3507728" cy="1033833"/>
                  </a:xfrm>
                  <a:custGeom>
                    <a:avLst/>
                    <a:gdLst>
                      <a:gd name="connsiteX0" fmla="*/ 0 w 3645229"/>
                      <a:gd name="connsiteY0" fmla="*/ 1594563 h 1594563"/>
                      <a:gd name="connsiteX1" fmla="*/ 1435000 w 3645229"/>
                      <a:gd name="connsiteY1" fmla="*/ 852266 h 1594563"/>
                      <a:gd name="connsiteX2" fmla="*/ 2292701 w 3645229"/>
                      <a:gd name="connsiteY2" fmla="*/ 439878 h 1594563"/>
                      <a:gd name="connsiteX3" fmla="*/ 2754540 w 3645229"/>
                      <a:gd name="connsiteY3" fmla="*/ 159455 h 1594563"/>
                      <a:gd name="connsiteX4" fmla="*/ 3265862 w 3645229"/>
                      <a:gd name="connsiteY4" fmla="*/ 10996 h 1594563"/>
                      <a:gd name="connsiteX5" fmla="*/ 3645229 w 3645229"/>
                      <a:gd name="connsiteY5" fmla="*/ 10996 h 1594563"/>
                      <a:gd name="connsiteX6" fmla="*/ 3645229 w 3645229"/>
                      <a:gd name="connsiteY6" fmla="*/ 10996 h 1594563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48459 h 1732026"/>
                      <a:gd name="connsiteX5" fmla="*/ 3645229 w 3991608"/>
                      <a:gd name="connsiteY5" fmla="*/ 148459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48459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296918 h 1732026"/>
                      <a:gd name="connsiteX4" fmla="*/ 3265862 w 3991608"/>
                      <a:gd name="connsiteY4" fmla="*/ 164955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  <a:gd name="connsiteX0" fmla="*/ 0 w 3991608"/>
                      <a:gd name="connsiteY0" fmla="*/ 1732026 h 1732026"/>
                      <a:gd name="connsiteX1" fmla="*/ 1435000 w 3991608"/>
                      <a:gd name="connsiteY1" fmla="*/ 989729 h 1732026"/>
                      <a:gd name="connsiteX2" fmla="*/ 2292701 w 3991608"/>
                      <a:gd name="connsiteY2" fmla="*/ 577341 h 1732026"/>
                      <a:gd name="connsiteX3" fmla="*/ 2754540 w 3991608"/>
                      <a:gd name="connsiteY3" fmla="*/ 346405 h 1732026"/>
                      <a:gd name="connsiteX4" fmla="*/ 3265862 w 3991608"/>
                      <a:gd name="connsiteY4" fmla="*/ 164955 h 1732026"/>
                      <a:gd name="connsiteX5" fmla="*/ 3645229 w 3991608"/>
                      <a:gd name="connsiteY5" fmla="*/ 115468 h 1732026"/>
                      <a:gd name="connsiteX6" fmla="*/ 3991608 w 3991608"/>
                      <a:gd name="connsiteY6" fmla="*/ 0 h 1732026"/>
                      <a:gd name="connsiteX0" fmla="*/ 0 w 6850532"/>
                      <a:gd name="connsiteY0" fmla="*/ 1880486 h 1880486"/>
                      <a:gd name="connsiteX1" fmla="*/ 1435000 w 6850532"/>
                      <a:gd name="connsiteY1" fmla="*/ 1138189 h 1880486"/>
                      <a:gd name="connsiteX2" fmla="*/ 2292701 w 6850532"/>
                      <a:gd name="connsiteY2" fmla="*/ 725801 h 1880486"/>
                      <a:gd name="connsiteX3" fmla="*/ 2754540 w 6850532"/>
                      <a:gd name="connsiteY3" fmla="*/ 494865 h 1880486"/>
                      <a:gd name="connsiteX4" fmla="*/ 3265862 w 6850532"/>
                      <a:gd name="connsiteY4" fmla="*/ 313415 h 1880486"/>
                      <a:gd name="connsiteX5" fmla="*/ 3645229 w 6850532"/>
                      <a:gd name="connsiteY5" fmla="*/ 263928 h 1880486"/>
                      <a:gd name="connsiteX6" fmla="*/ 6850532 w 6850532"/>
                      <a:gd name="connsiteY6" fmla="*/ 0 h 1880486"/>
                      <a:gd name="connsiteX0" fmla="*/ 0 w 6850532"/>
                      <a:gd name="connsiteY0" fmla="*/ 1880486 h 1880486"/>
                      <a:gd name="connsiteX1" fmla="*/ 1435000 w 6850532"/>
                      <a:gd name="connsiteY1" fmla="*/ 1138189 h 1880486"/>
                      <a:gd name="connsiteX2" fmla="*/ 2292701 w 6850532"/>
                      <a:gd name="connsiteY2" fmla="*/ 725801 h 1880486"/>
                      <a:gd name="connsiteX3" fmla="*/ 2754540 w 6850532"/>
                      <a:gd name="connsiteY3" fmla="*/ 494865 h 1880486"/>
                      <a:gd name="connsiteX4" fmla="*/ 3265862 w 6850532"/>
                      <a:gd name="connsiteY4" fmla="*/ 313415 h 1880486"/>
                      <a:gd name="connsiteX5" fmla="*/ 4777287 w 6850532"/>
                      <a:gd name="connsiteY5" fmla="*/ 445378 h 1880486"/>
                      <a:gd name="connsiteX6" fmla="*/ 6850532 w 6850532"/>
                      <a:gd name="connsiteY6" fmla="*/ 0 h 1880486"/>
                      <a:gd name="connsiteX0" fmla="*/ 0 w 6850532"/>
                      <a:gd name="connsiteY0" fmla="*/ 1880486 h 1880486"/>
                      <a:gd name="connsiteX1" fmla="*/ 1435000 w 6850532"/>
                      <a:gd name="connsiteY1" fmla="*/ 1138189 h 1880486"/>
                      <a:gd name="connsiteX2" fmla="*/ 2292701 w 6850532"/>
                      <a:gd name="connsiteY2" fmla="*/ 725801 h 1880486"/>
                      <a:gd name="connsiteX3" fmla="*/ 2754540 w 6850532"/>
                      <a:gd name="connsiteY3" fmla="*/ 494865 h 1880486"/>
                      <a:gd name="connsiteX4" fmla="*/ 3246675 w 6850532"/>
                      <a:gd name="connsiteY4" fmla="*/ 494865 h 1880486"/>
                      <a:gd name="connsiteX5" fmla="*/ 4777287 w 6850532"/>
                      <a:gd name="connsiteY5" fmla="*/ 445378 h 1880486"/>
                      <a:gd name="connsiteX6" fmla="*/ 6850532 w 6850532"/>
                      <a:gd name="connsiteY6" fmla="*/ 0 h 1880486"/>
                      <a:gd name="connsiteX0" fmla="*/ 0 w 6850532"/>
                      <a:gd name="connsiteY0" fmla="*/ 1880486 h 1880486"/>
                      <a:gd name="connsiteX1" fmla="*/ 1435000 w 6850532"/>
                      <a:gd name="connsiteY1" fmla="*/ 1138189 h 1880486"/>
                      <a:gd name="connsiteX2" fmla="*/ 2292701 w 6850532"/>
                      <a:gd name="connsiteY2" fmla="*/ 725801 h 1880486"/>
                      <a:gd name="connsiteX3" fmla="*/ 2581854 w 6850532"/>
                      <a:gd name="connsiteY3" fmla="*/ 758793 h 1880486"/>
                      <a:gd name="connsiteX4" fmla="*/ 3246675 w 6850532"/>
                      <a:gd name="connsiteY4" fmla="*/ 494865 h 1880486"/>
                      <a:gd name="connsiteX5" fmla="*/ 4777287 w 6850532"/>
                      <a:gd name="connsiteY5" fmla="*/ 445378 h 1880486"/>
                      <a:gd name="connsiteX6" fmla="*/ 6850532 w 6850532"/>
                      <a:gd name="connsiteY6" fmla="*/ 0 h 1880486"/>
                      <a:gd name="connsiteX0" fmla="*/ 0 w 6850532"/>
                      <a:gd name="connsiteY0" fmla="*/ 1880486 h 1880486"/>
                      <a:gd name="connsiteX1" fmla="*/ 1435000 w 6850532"/>
                      <a:gd name="connsiteY1" fmla="*/ 1138189 h 1880486"/>
                      <a:gd name="connsiteX2" fmla="*/ 1755454 w 6850532"/>
                      <a:gd name="connsiteY2" fmla="*/ 1121693 h 1880486"/>
                      <a:gd name="connsiteX3" fmla="*/ 2581854 w 6850532"/>
                      <a:gd name="connsiteY3" fmla="*/ 758793 h 1880486"/>
                      <a:gd name="connsiteX4" fmla="*/ 3246675 w 6850532"/>
                      <a:gd name="connsiteY4" fmla="*/ 494865 h 1880486"/>
                      <a:gd name="connsiteX5" fmla="*/ 4777287 w 6850532"/>
                      <a:gd name="connsiteY5" fmla="*/ 445378 h 1880486"/>
                      <a:gd name="connsiteX6" fmla="*/ 6850532 w 6850532"/>
                      <a:gd name="connsiteY6" fmla="*/ 0 h 1880486"/>
                      <a:gd name="connsiteX0" fmla="*/ 0 w 6850532"/>
                      <a:gd name="connsiteY0" fmla="*/ 1880486 h 1880486"/>
                      <a:gd name="connsiteX1" fmla="*/ 1108814 w 6850532"/>
                      <a:gd name="connsiteY1" fmla="*/ 1435107 h 1880486"/>
                      <a:gd name="connsiteX2" fmla="*/ 1755454 w 6850532"/>
                      <a:gd name="connsiteY2" fmla="*/ 1121693 h 1880486"/>
                      <a:gd name="connsiteX3" fmla="*/ 2581854 w 6850532"/>
                      <a:gd name="connsiteY3" fmla="*/ 758793 h 1880486"/>
                      <a:gd name="connsiteX4" fmla="*/ 3246675 w 6850532"/>
                      <a:gd name="connsiteY4" fmla="*/ 494865 h 1880486"/>
                      <a:gd name="connsiteX5" fmla="*/ 4777287 w 6850532"/>
                      <a:gd name="connsiteY5" fmla="*/ 445378 h 1880486"/>
                      <a:gd name="connsiteX6" fmla="*/ 6850532 w 6850532"/>
                      <a:gd name="connsiteY6" fmla="*/ 0 h 1880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6850532" h="1880486">
                        <a:moveTo>
                          <a:pt x="0" y="1880486"/>
                        </a:moveTo>
                        <a:cubicBezTo>
                          <a:pt x="478333" y="1633054"/>
                          <a:pt x="816238" y="1561572"/>
                          <a:pt x="1108814" y="1435107"/>
                        </a:cubicBezTo>
                        <a:cubicBezTo>
                          <a:pt x="1401390" y="1308642"/>
                          <a:pt x="1509947" y="1234412"/>
                          <a:pt x="1755454" y="1121693"/>
                        </a:cubicBezTo>
                        <a:cubicBezTo>
                          <a:pt x="2000961" y="1008974"/>
                          <a:pt x="2333317" y="863264"/>
                          <a:pt x="2581854" y="758793"/>
                        </a:cubicBezTo>
                        <a:cubicBezTo>
                          <a:pt x="2830391" y="654322"/>
                          <a:pt x="2880770" y="547101"/>
                          <a:pt x="3246675" y="494865"/>
                        </a:cubicBezTo>
                        <a:cubicBezTo>
                          <a:pt x="3612580" y="442629"/>
                          <a:pt x="4267083" y="461874"/>
                          <a:pt x="4777287" y="445378"/>
                        </a:cubicBezTo>
                        <a:cubicBezTo>
                          <a:pt x="5377930" y="362901"/>
                          <a:pt x="6735072" y="49486"/>
                          <a:pt x="6850532" y="0"/>
                        </a:cubicBezTo>
                      </a:path>
                    </a:pathLst>
                  </a:custGeom>
                  <a:ln w="57150" cmpd="sng">
                    <a:solidFill>
                      <a:schemeClr val="accent2"/>
                    </a:solidFill>
                  </a:ln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16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34" charset="0"/>
                      <a:ea typeface="ＭＳ Ｐゴシック" pitchFamily="-111" charset="-128"/>
                    </a:endParaRPr>
                  </a:p>
                </p:txBody>
              </p:sp>
            </p:grpSp>
            <p:grpSp>
              <p:nvGrpSpPr>
                <p:cNvPr id="129" name="Group 128"/>
                <p:cNvGrpSpPr/>
                <p:nvPr/>
              </p:nvGrpSpPr>
              <p:grpSpPr>
                <a:xfrm>
                  <a:off x="6121062" y="4325031"/>
                  <a:ext cx="3324944" cy="2594311"/>
                  <a:chOff x="-240487" y="2144169"/>
                  <a:chExt cx="3324944" cy="2594311"/>
                </a:xfrm>
              </p:grpSpPr>
              <p:cxnSp>
                <p:nvCxnSpPr>
                  <p:cNvPr id="130" name="Straight Connector 129"/>
                  <p:cNvCxnSpPr/>
                  <p:nvPr/>
                </p:nvCxnSpPr>
                <p:spPr bwMode="auto">
                  <a:xfrm>
                    <a:off x="427642" y="2166469"/>
                    <a:ext cx="0" cy="213362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31" name="Straight Connector 130"/>
                  <p:cNvCxnSpPr/>
                  <p:nvPr/>
                </p:nvCxnSpPr>
                <p:spPr bwMode="auto">
                  <a:xfrm flipH="1">
                    <a:off x="427642" y="4282829"/>
                    <a:ext cx="2504272" cy="17265"/>
                  </a:xfrm>
                  <a:prstGeom prst="line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32" name="TextBox 131"/>
                  <p:cNvSpPr txBox="1"/>
                  <p:nvPr/>
                </p:nvSpPr>
                <p:spPr>
                  <a:xfrm>
                    <a:off x="1416684" y="4413846"/>
                    <a:ext cx="767790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#</a:t>
                    </a:r>
                    <a:r>
                      <a:rPr lang="en-US" sz="1400" b="1" dirty="0" err="1" smtClean="0"/>
                      <a:t>proc</a:t>
                    </a:r>
                    <a:endParaRPr lang="en-US" sz="1400" b="1" dirty="0"/>
                  </a:p>
                </p:txBody>
              </p:sp>
              <p:sp>
                <p:nvSpPr>
                  <p:cNvPr id="133" name="TextBox 132"/>
                  <p:cNvSpPr txBox="1"/>
                  <p:nvPr/>
                </p:nvSpPr>
                <p:spPr>
                  <a:xfrm rot="16200000">
                    <a:off x="-587356" y="3226918"/>
                    <a:ext cx="1018372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b="1" dirty="0" smtClean="0"/>
                      <a:t>Speedup</a:t>
                    </a:r>
                    <a:endParaRPr lang="en-US" sz="1400" b="1" dirty="0"/>
                  </a:p>
                </p:txBody>
              </p:sp>
              <p:sp>
                <p:nvSpPr>
                  <p:cNvPr id="134" name="TextBox 133"/>
                  <p:cNvSpPr txBox="1"/>
                  <p:nvPr/>
                </p:nvSpPr>
                <p:spPr>
                  <a:xfrm>
                    <a:off x="739705" y="4267652"/>
                    <a:ext cx="298157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35" name="TextBox 134"/>
                  <p:cNvSpPr txBox="1"/>
                  <p:nvPr/>
                </p:nvSpPr>
                <p:spPr>
                  <a:xfrm>
                    <a:off x="1343212" y="4258043"/>
                    <a:ext cx="298157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36" name="TextBox 135"/>
                  <p:cNvSpPr txBox="1"/>
                  <p:nvPr/>
                </p:nvSpPr>
                <p:spPr>
                  <a:xfrm>
                    <a:off x="1948948" y="4255258"/>
                    <a:ext cx="401533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37" name="TextBox 136"/>
                  <p:cNvSpPr txBox="1"/>
                  <p:nvPr/>
                </p:nvSpPr>
                <p:spPr>
                  <a:xfrm>
                    <a:off x="2682924" y="4235431"/>
                    <a:ext cx="401533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  <p:sp>
                <p:nvSpPr>
                  <p:cNvPr id="138" name="TextBox 137"/>
                  <p:cNvSpPr txBox="1"/>
                  <p:nvPr/>
                </p:nvSpPr>
                <p:spPr>
                  <a:xfrm>
                    <a:off x="118558" y="3687079"/>
                    <a:ext cx="298157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4</a:t>
                    </a:r>
                    <a:endParaRPr lang="en-US" sz="1400" dirty="0"/>
                  </a:p>
                </p:txBody>
              </p:sp>
              <p:sp>
                <p:nvSpPr>
                  <p:cNvPr id="139" name="TextBox 138"/>
                  <p:cNvSpPr txBox="1"/>
                  <p:nvPr/>
                </p:nvSpPr>
                <p:spPr>
                  <a:xfrm>
                    <a:off x="117443" y="3172775"/>
                    <a:ext cx="298157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8</a:t>
                    </a:r>
                    <a:endParaRPr lang="en-US" sz="1400" dirty="0"/>
                  </a:p>
                </p:txBody>
              </p:sp>
              <p:sp>
                <p:nvSpPr>
                  <p:cNvPr id="140" name="TextBox 139"/>
                  <p:cNvSpPr txBox="1"/>
                  <p:nvPr/>
                </p:nvSpPr>
                <p:spPr>
                  <a:xfrm>
                    <a:off x="53323" y="2658472"/>
                    <a:ext cx="401533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12</a:t>
                    </a:r>
                    <a:endParaRPr lang="en-US" sz="1400" dirty="0"/>
                  </a:p>
                </p:txBody>
              </p:sp>
              <p:sp>
                <p:nvSpPr>
                  <p:cNvPr id="141" name="TextBox 140"/>
                  <p:cNvSpPr txBox="1"/>
                  <p:nvPr/>
                </p:nvSpPr>
                <p:spPr>
                  <a:xfrm>
                    <a:off x="55552" y="2144169"/>
                    <a:ext cx="401533" cy="32463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400" dirty="0" smtClean="0"/>
                      <a:t>16</a:t>
                    </a:r>
                    <a:endParaRPr lang="en-US" sz="1400" dirty="0"/>
                  </a:p>
                </p:txBody>
              </p:sp>
            </p:grpSp>
          </p:grpSp>
          <p:sp>
            <p:nvSpPr>
              <p:cNvPr id="168" name="TextBox 167"/>
              <p:cNvSpPr txBox="1"/>
              <p:nvPr/>
            </p:nvSpPr>
            <p:spPr>
              <a:xfrm>
                <a:off x="5230549" y="3689950"/>
                <a:ext cx="2544536" cy="338554"/>
              </a:xfrm>
              <a:prstGeom prst="rect">
                <a:avLst/>
              </a:prstGeom>
              <a:noFill/>
              <a:ln w="28575" cmpd="sng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 smtClean="0"/>
                  <a:t>Compressed Sensing</a:t>
                </a:r>
                <a:endParaRPr lang="en-US" sz="1600" b="1" dirty="0"/>
              </a:p>
            </p:txBody>
          </p:sp>
        </p:grpSp>
      </p:grpSp>
      <p:sp>
        <p:nvSpPr>
          <p:cNvPr id="174" name="Slide Number Placeholder 1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9" name="TextBox 168"/>
          <p:cNvSpPr txBox="1"/>
          <p:nvPr/>
        </p:nvSpPr>
        <p:spPr>
          <a:xfrm>
            <a:off x="-50028" y="6391264"/>
            <a:ext cx="8593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GraphLab</a:t>
            </a:r>
            <a:r>
              <a:rPr lang="en-US" sz="1400" dirty="0"/>
              <a:t>: A New Parallel Framework for Machine Learning </a:t>
            </a:r>
            <a:endParaRPr lang="en-US" sz="1400" dirty="0" smtClean="0"/>
          </a:p>
          <a:p>
            <a:r>
              <a:rPr lang="en-US" sz="1400" dirty="0" smtClean="0"/>
              <a:t>Y. Low</a:t>
            </a:r>
            <a:r>
              <a:rPr lang="en-US" sz="1400" dirty="0"/>
              <a:t>, </a:t>
            </a:r>
            <a:r>
              <a:rPr lang="en-US" sz="1400" dirty="0" smtClean="0"/>
              <a:t>J. </a:t>
            </a:r>
            <a:r>
              <a:rPr lang="en-US" sz="1400" dirty="0"/>
              <a:t>Gonzalez, </a:t>
            </a:r>
            <a:r>
              <a:rPr lang="en-US" sz="1400" dirty="0" smtClean="0"/>
              <a:t>A. </a:t>
            </a:r>
            <a:r>
              <a:rPr lang="en-US" sz="1400" dirty="0" err="1"/>
              <a:t>Kyrola</a:t>
            </a:r>
            <a:r>
              <a:rPr lang="en-US" sz="1400" dirty="0"/>
              <a:t>, </a:t>
            </a:r>
            <a:r>
              <a:rPr lang="en-US" sz="1400" dirty="0" smtClean="0"/>
              <a:t>D. </a:t>
            </a:r>
            <a:r>
              <a:rPr lang="en-US" sz="1400" dirty="0" err="1"/>
              <a:t>Bickson</a:t>
            </a:r>
            <a:r>
              <a:rPr lang="en-US" sz="1400" dirty="0"/>
              <a:t>, </a:t>
            </a:r>
            <a:r>
              <a:rPr lang="en-US" sz="1400" dirty="0" smtClean="0"/>
              <a:t>C. </a:t>
            </a:r>
            <a:r>
              <a:rPr lang="en-US" sz="1400" dirty="0" err="1" smtClean="0"/>
              <a:t>Guestrin</a:t>
            </a:r>
            <a:r>
              <a:rPr lang="en-US" sz="1400" dirty="0"/>
              <a:t>, and </a:t>
            </a:r>
            <a:r>
              <a:rPr lang="en-US" sz="1400" dirty="0" smtClean="0"/>
              <a:t>J. M</a:t>
            </a:r>
            <a:r>
              <a:rPr lang="en-US" sz="1400" dirty="0"/>
              <a:t>. </a:t>
            </a:r>
            <a:r>
              <a:rPr lang="en-US" sz="1400" dirty="0" err="1"/>
              <a:t>Hellerstein</a:t>
            </a:r>
            <a:r>
              <a:rPr lang="en-US" sz="1400" dirty="0"/>
              <a:t> </a:t>
            </a:r>
            <a:r>
              <a:rPr lang="en-US" sz="1400" dirty="0" smtClean="0"/>
              <a:t> (UAI 2010)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4412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98083" y="1143000"/>
            <a:ext cx="28937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Bayesian Tensor </a:t>
            </a:r>
          </a:p>
          <a:p>
            <a:pPr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Factorization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16580" y="4531105"/>
            <a:ext cx="274786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Gibbs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5334000"/>
            <a:ext cx="23537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Matrix</a:t>
            </a:r>
          </a:p>
          <a:p>
            <a:pPr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Factorization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9455" y="1789185"/>
            <a:ext cx="1091164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Lasso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092047" y="3633281"/>
            <a:ext cx="956913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SVM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62203" y="1789185"/>
            <a:ext cx="325662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Belief Propagation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185" y="3731798"/>
            <a:ext cx="181211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PageRank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9400" y="914400"/>
            <a:ext cx="117111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err="1" smtClean="0">
                <a:solidFill>
                  <a:prstClr val="black"/>
                </a:solidFill>
                <a:latin typeface="Calibri"/>
              </a:rPr>
              <a:t>CoEM</a:t>
            </a:r>
            <a:endParaRPr lang="en-US" sz="3200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419600" y="228600"/>
            <a:ext cx="85852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SVD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91480" y="2593329"/>
            <a:ext cx="847107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LDA</a:t>
            </a:r>
            <a:endParaRPr lang="en-US" sz="32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42047" y="5578667"/>
            <a:ext cx="293642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457200"/>
            <a:r>
              <a:rPr lang="en-US" sz="3200" b="1" dirty="0" smtClean="0">
                <a:solidFill>
                  <a:prstClr val="black"/>
                </a:solidFill>
                <a:latin typeface="Calibri"/>
              </a:rPr>
              <a:t>…Many others…</a:t>
            </a:r>
            <a:endParaRPr lang="en-US" sz="32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2400" y="5334000"/>
            <a:ext cx="249579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Linear Solvers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6241" y="457200"/>
            <a:ext cx="2718413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Splash Sampler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" y="152400"/>
            <a:ext cx="301456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Alternating Least </a:t>
            </a:r>
          </a:p>
          <a:p>
            <a:pPr algn="ctr" defTabSz="457200"/>
            <a:r>
              <a:rPr lang="en-US" sz="3200" dirty="0" smtClean="0">
                <a:solidFill>
                  <a:prstClr val="black"/>
                </a:solidFill>
                <a:latin typeface="Calibri"/>
              </a:rPr>
              <a:t>Squares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109" y="2705123"/>
            <a:ext cx="3546183" cy="1209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65989" y="3421909"/>
            <a:ext cx="1120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C95F09"/>
                </a:solidFill>
              </a:rPr>
              <a:t>2010</a:t>
            </a:r>
            <a:endParaRPr lang="en-US" sz="3600" dirty="0">
              <a:solidFill>
                <a:srgbClr val="C95F09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61593" y="3745074"/>
            <a:ext cx="32046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C95F09"/>
                </a:solidFill>
              </a:rPr>
              <a:t>Shared Memory</a:t>
            </a:r>
            <a:endParaRPr lang="en-US" sz="3600" dirty="0">
              <a:solidFill>
                <a:srgbClr val="C95F0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25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905052" y="3975523"/>
            <a:ext cx="3776662" cy="2128838"/>
          </a:xfrm>
        </p:spPr>
        <p:txBody>
          <a:bodyPr/>
          <a:lstStyle/>
          <a:p>
            <a:r>
              <a:rPr lang="en-US" dirty="0"/>
              <a:t>Limited </a:t>
            </a:r>
            <a:r>
              <a:rPr lang="en-US" dirty="0" smtClean="0"/>
              <a:t>CPU Power</a:t>
            </a:r>
          </a:p>
          <a:p>
            <a:r>
              <a:rPr lang="en-US" dirty="0" smtClean="0"/>
              <a:t>Limited Memory</a:t>
            </a:r>
          </a:p>
          <a:p>
            <a:r>
              <a:rPr lang="en-US" dirty="0" smtClean="0"/>
              <a:t>Limited Scalability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052" y="2161514"/>
            <a:ext cx="3163138" cy="18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6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Cloud</a:t>
            </a:r>
            <a:endParaRPr lang="en-US" dirty="0"/>
          </a:p>
        </p:txBody>
      </p:sp>
      <p:sp>
        <p:nvSpPr>
          <p:cNvPr id="4" name="Cloud 3"/>
          <p:cNvSpPr/>
          <p:nvPr/>
        </p:nvSpPr>
        <p:spPr bwMode="auto">
          <a:xfrm>
            <a:off x="233573" y="998792"/>
            <a:ext cx="8605627" cy="5294313"/>
          </a:xfrm>
          <a:prstGeom prst="cloud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3125" y="2175289"/>
            <a:ext cx="1342928" cy="805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9765" y="3029296"/>
            <a:ext cx="1342928" cy="8057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117" y="3835053"/>
            <a:ext cx="1342928" cy="8057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3477" y="4689060"/>
            <a:ext cx="1342928" cy="8057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3477" y="2175289"/>
            <a:ext cx="1342928" cy="8057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117" y="3029296"/>
            <a:ext cx="1342928" cy="8057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9765" y="3987453"/>
            <a:ext cx="1342928" cy="8057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3829" y="3695468"/>
            <a:ext cx="1342928" cy="80575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7189" y="4549475"/>
            <a:ext cx="1342928" cy="80575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7189" y="2035704"/>
            <a:ext cx="1342928" cy="80575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3829" y="2949965"/>
            <a:ext cx="1342928" cy="805757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6837" y="1382347"/>
            <a:ext cx="1342928" cy="80575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0901" y="2547086"/>
            <a:ext cx="1342928" cy="8057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13" y="3987453"/>
            <a:ext cx="1342928" cy="80575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7291" y="2860513"/>
            <a:ext cx="1342928" cy="80575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2345232" y="2959153"/>
            <a:ext cx="4348866" cy="196591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Distributing State</a:t>
            </a:r>
          </a:p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en-US" sz="3200" dirty="0" smtClean="0">
                <a:solidFill>
                  <a:schemeClr val="tx1"/>
                </a:solidFill>
                <a:latin typeface="Tahoma" pitchFamily="-64" charset="0"/>
              </a:rPr>
              <a:t>Data Consistency</a:t>
            </a:r>
          </a:p>
          <a:p>
            <a:pPr marL="457200" marR="0" indent="-45720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Fault</a:t>
            </a:r>
            <a:r>
              <a:rPr kumimoji="0" lang="en-US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 Tolerance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407955" y="1108354"/>
            <a:ext cx="7917763" cy="9273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US" sz="3200" dirty="0" smtClean="0"/>
              <a:t>Unlimited amount of computation resources!</a:t>
            </a:r>
          </a:p>
          <a:p>
            <a:pPr marL="0" indent="0">
              <a:buNone/>
            </a:pPr>
            <a:r>
              <a:rPr lang="en-US" sz="2000" dirty="0" smtClean="0"/>
              <a:t>(up to funding limitations)</a:t>
            </a:r>
          </a:p>
        </p:txBody>
      </p:sp>
    </p:spTree>
    <p:extLst>
      <p:ext uri="{BB962C8B-B14F-4D97-AF65-F5344CB8AC3E}">
        <p14:creationId xmlns:p14="http://schemas.microsoft.com/office/powerpoint/2010/main" val="2204164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21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GraphLab</a:t>
            </a:r>
            <a:r>
              <a:rPr lang="en-US" dirty="0" smtClean="0"/>
              <a:t> Framework</a:t>
            </a:r>
            <a:endParaRPr lang="en-US" dirty="0"/>
          </a:p>
        </p:txBody>
      </p:sp>
      <p:grpSp>
        <p:nvGrpSpPr>
          <p:cNvPr id="8" name="Group 269"/>
          <p:cNvGrpSpPr/>
          <p:nvPr/>
        </p:nvGrpSpPr>
        <p:grpSpPr>
          <a:xfrm>
            <a:off x="2722450" y="4495800"/>
            <a:ext cx="3851499" cy="1869662"/>
            <a:chOff x="4495800" y="4267200"/>
            <a:chExt cx="3851499" cy="1869662"/>
          </a:xfrm>
        </p:grpSpPr>
        <p:sp>
          <p:nvSpPr>
            <p:cNvPr id="17" name="TextBox 16"/>
            <p:cNvSpPr txBox="1"/>
            <p:nvPr/>
          </p:nvSpPr>
          <p:spPr>
            <a:xfrm>
              <a:off x="4953000" y="4267200"/>
              <a:ext cx="2942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Consistency Model</a:t>
              </a:r>
              <a:endParaRPr lang="en-US" sz="2800" dirty="0"/>
            </a:p>
          </p:txBody>
        </p:sp>
        <p:grpSp>
          <p:nvGrpSpPr>
            <p:cNvPr id="9" name="Group 123"/>
            <p:cNvGrpSpPr/>
            <p:nvPr/>
          </p:nvGrpSpPr>
          <p:grpSpPr>
            <a:xfrm>
              <a:off x="4495800" y="4876800"/>
              <a:ext cx="3851499" cy="1260062"/>
              <a:chOff x="2905452" y="3733800"/>
              <a:chExt cx="8384848" cy="2743200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4584700" y="3733800"/>
                <a:ext cx="5029200" cy="27432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5727700" y="4114800"/>
                <a:ext cx="2895600" cy="2133600"/>
              </a:xfrm>
              <a:prstGeom prst="ellipse">
                <a:avLst/>
              </a:prstGeom>
              <a:ln>
                <a:prstDash val="dash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94475" y="4457700"/>
                <a:ext cx="1143000" cy="1600200"/>
              </a:xfrm>
              <a:prstGeom prst="ellipse">
                <a:avLst/>
              </a:prstGeom>
              <a:ln>
                <a:prstDash val="sysDot"/>
                <a:tailEnd type="non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6823075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68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Oval 6"/>
              <p:cNvSpPr/>
              <p:nvPr/>
            </p:nvSpPr>
            <p:spPr>
              <a:xfrm>
                <a:off x="487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Curved Connector 102"/>
              <p:cNvCxnSpPr>
                <a:stCxn id="98" idx="2"/>
                <a:endCxn id="100" idx="6"/>
              </p:cNvCxnSpPr>
              <p:nvPr/>
            </p:nvCxnSpPr>
            <p:spPr>
              <a:xfrm rot="10800000">
                <a:off x="5639129" y="5295904"/>
                <a:ext cx="1183948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4" name="Cube 103"/>
              <p:cNvSpPr/>
              <p:nvPr/>
            </p:nvSpPr>
            <p:spPr>
              <a:xfrm>
                <a:off x="6116818" y="5096450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7" name="Cube 106"/>
              <p:cNvSpPr/>
              <p:nvPr/>
            </p:nvSpPr>
            <p:spPr>
              <a:xfrm>
                <a:off x="889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8" name="Cube 107"/>
              <p:cNvSpPr/>
              <p:nvPr/>
            </p:nvSpPr>
            <p:spPr>
              <a:xfrm>
                <a:off x="70361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9" name="Cube 108"/>
              <p:cNvSpPr/>
              <p:nvPr/>
            </p:nvSpPr>
            <p:spPr>
              <a:xfrm>
                <a:off x="508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0" name="Curved Connector 109"/>
              <p:cNvCxnSpPr>
                <a:stCxn id="99" idx="2"/>
                <a:endCxn id="98" idx="6"/>
              </p:cNvCxnSpPr>
              <p:nvPr/>
            </p:nvCxnSpPr>
            <p:spPr>
              <a:xfrm rot="10800000" flipV="1">
                <a:off x="7585074" y="5295899"/>
                <a:ext cx="1102054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1" name="Cube 110"/>
              <p:cNvSpPr/>
              <p:nvPr/>
            </p:nvSpPr>
            <p:spPr>
              <a:xfrm>
                <a:off x="7937827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0528300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Cube 114"/>
              <p:cNvSpPr/>
              <p:nvPr/>
            </p:nvSpPr>
            <p:spPr>
              <a:xfrm>
                <a:off x="10731500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6" name="Curved Connector 115"/>
              <p:cNvCxnSpPr>
                <a:stCxn id="112" idx="2"/>
                <a:endCxn id="99" idx="6"/>
              </p:cNvCxnSpPr>
              <p:nvPr/>
            </p:nvCxnSpPr>
            <p:spPr>
              <a:xfrm rot="10800000">
                <a:off x="9449127" y="5295902"/>
                <a:ext cx="1079174" cy="3457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7" name="Cube 116"/>
              <p:cNvSpPr/>
              <p:nvPr/>
            </p:nvSpPr>
            <p:spPr>
              <a:xfrm>
                <a:off x="9779000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905452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0" name="Curved Connector 119"/>
              <p:cNvCxnSpPr>
                <a:stCxn id="100" idx="2"/>
                <a:endCxn id="118" idx="6"/>
              </p:cNvCxnSpPr>
              <p:nvPr/>
            </p:nvCxnSpPr>
            <p:spPr>
              <a:xfrm rot="10800000" flipV="1">
                <a:off x="3667453" y="5295899"/>
                <a:ext cx="1209676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1" name="Cube 120"/>
              <p:cNvSpPr/>
              <p:nvPr/>
            </p:nvSpPr>
            <p:spPr>
              <a:xfrm>
                <a:off x="4061153" y="5105398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3" name="Cube 122"/>
              <p:cNvSpPr/>
              <p:nvPr/>
            </p:nvSpPr>
            <p:spPr>
              <a:xfrm>
                <a:off x="3108652" y="5114925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0" name="Group 4"/>
          <p:cNvGrpSpPr/>
          <p:nvPr/>
        </p:nvGrpSpPr>
        <p:grpSpPr>
          <a:xfrm>
            <a:off x="609600" y="1219200"/>
            <a:ext cx="3581400" cy="2835405"/>
            <a:chOff x="381000" y="1219200"/>
            <a:chExt cx="3581400" cy="2835405"/>
          </a:xfrm>
        </p:grpSpPr>
        <p:sp>
          <p:nvSpPr>
            <p:cNvPr id="7" name="TextBox 6"/>
            <p:cNvSpPr txBox="1"/>
            <p:nvPr/>
          </p:nvSpPr>
          <p:spPr>
            <a:xfrm>
              <a:off x="381000" y="1219200"/>
              <a:ext cx="3581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Graph Based</a:t>
              </a:r>
            </a:p>
            <a:p>
              <a:pPr algn="ctr"/>
              <a:r>
                <a:rPr lang="en-US" sz="2800" i="1" dirty="0" smtClean="0"/>
                <a:t>Data Representation</a:t>
              </a:r>
              <a:endParaRPr lang="en-US" sz="2800" i="1" dirty="0"/>
            </a:p>
          </p:txBody>
        </p:sp>
        <p:grpSp>
          <p:nvGrpSpPr>
            <p:cNvPr id="11" name="Group 206"/>
            <p:cNvGrpSpPr/>
            <p:nvPr/>
          </p:nvGrpSpPr>
          <p:grpSpPr>
            <a:xfrm>
              <a:off x="1143000" y="2362200"/>
              <a:ext cx="2172054" cy="1692405"/>
              <a:chOff x="457200" y="2895600"/>
              <a:chExt cx="4122177" cy="3211886"/>
            </a:xfrm>
          </p:grpSpPr>
          <p:cxnSp>
            <p:nvCxnSpPr>
              <p:cNvPr id="210" name="Straight Arrow Connector 209"/>
              <p:cNvCxnSpPr>
                <a:stCxn id="216" idx="6"/>
                <a:endCxn id="217" idx="2"/>
              </p:cNvCxnSpPr>
              <p:nvPr/>
            </p:nvCxnSpPr>
            <p:spPr bwMode="auto">
              <a:xfrm>
                <a:off x="857063" y="30918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>
                <a:stCxn id="217" idx="6"/>
                <a:endCxn id="218" idx="2"/>
              </p:cNvCxnSpPr>
              <p:nvPr/>
            </p:nvCxnSpPr>
            <p:spPr bwMode="auto">
              <a:xfrm>
                <a:off x="2343164" y="30918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>
                <a:stCxn id="222" idx="7"/>
                <a:endCxn id="217" idx="3"/>
              </p:cNvCxnSpPr>
              <p:nvPr/>
            </p:nvCxnSpPr>
            <p:spPr bwMode="auto">
              <a:xfrm rot="5400000" flipH="1" flipV="1">
                <a:off x="1216463" y="3563843"/>
                <a:ext cx="1124928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>
                <a:stCxn id="224" idx="1"/>
                <a:endCxn id="218" idx="5"/>
              </p:cNvCxnSpPr>
              <p:nvPr/>
            </p:nvCxnSpPr>
            <p:spPr bwMode="auto">
              <a:xfrm rot="16200000" flipV="1">
                <a:off x="34456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>
                <a:stCxn id="223" idx="7"/>
                <a:endCxn id="218" idx="3"/>
              </p:cNvCxnSpPr>
              <p:nvPr/>
            </p:nvCxnSpPr>
            <p:spPr bwMode="auto">
              <a:xfrm rot="5400000" flipH="1" flipV="1">
                <a:off x="2702563" y="3563844"/>
                <a:ext cx="1124928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>
                <a:stCxn id="223" idx="1"/>
                <a:endCxn id="217" idx="5"/>
              </p:cNvCxnSpPr>
              <p:nvPr/>
            </p:nvCxnSpPr>
            <p:spPr bwMode="auto">
              <a:xfrm rot="16200000" flipV="1">
                <a:off x="19595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16" name="Oval 4"/>
              <p:cNvSpPr/>
              <p:nvPr/>
            </p:nvSpPr>
            <p:spPr bwMode="auto">
              <a:xfrm>
                <a:off x="464577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7" name="Oval 216"/>
              <p:cNvSpPr/>
              <p:nvPr/>
            </p:nvSpPr>
            <p:spPr bwMode="auto">
              <a:xfrm>
                <a:off x="19506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8" name="Oval 217"/>
              <p:cNvSpPr/>
              <p:nvPr/>
            </p:nvSpPr>
            <p:spPr bwMode="auto">
              <a:xfrm>
                <a:off x="34367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9" name="Oval 4"/>
              <p:cNvSpPr/>
              <p:nvPr/>
            </p:nvSpPr>
            <p:spPr bwMode="auto">
              <a:xfrm>
                <a:off x="464577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0" name="Oval 219"/>
              <p:cNvSpPr/>
              <p:nvPr/>
            </p:nvSpPr>
            <p:spPr bwMode="auto">
              <a:xfrm>
                <a:off x="19506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1" name="Oval 220"/>
              <p:cNvSpPr/>
              <p:nvPr/>
            </p:nvSpPr>
            <p:spPr bwMode="auto">
              <a:xfrm>
                <a:off x="34367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2" name="Oval 4"/>
              <p:cNvSpPr/>
              <p:nvPr/>
            </p:nvSpPr>
            <p:spPr bwMode="auto">
              <a:xfrm>
                <a:off x="1214690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 bwMode="auto">
              <a:xfrm>
                <a:off x="27007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4" name="Oval 223"/>
              <p:cNvSpPr/>
              <p:nvPr/>
            </p:nvSpPr>
            <p:spPr bwMode="auto">
              <a:xfrm>
                <a:off x="41868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225" name="Straight Arrow Connector 224"/>
              <p:cNvCxnSpPr>
                <a:stCxn id="219" idx="6"/>
                <a:endCxn id="220" idx="2"/>
              </p:cNvCxnSpPr>
              <p:nvPr/>
            </p:nvCxnSpPr>
            <p:spPr bwMode="auto">
              <a:xfrm>
                <a:off x="857063" y="59112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/>
              <p:cNvCxnSpPr>
                <a:stCxn id="220" idx="6"/>
                <a:endCxn id="221" idx="2"/>
              </p:cNvCxnSpPr>
              <p:nvPr/>
            </p:nvCxnSpPr>
            <p:spPr bwMode="auto">
              <a:xfrm>
                <a:off x="2343164" y="59112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/>
              <p:cNvCxnSpPr>
                <a:stCxn id="220" idx="1"/>
                <a:endCxn id="222" idx="5"/>
              </p:cNvCxnSpPr>
              <p:nvPr/>
            </p:nvCxnSpPr>
            <p:spPr bwMode="auto">
              <a:xfrm rot="16200000" flipV="1">
                <a:off x="1209221" y="4973543"/>
                <a:ext cx="1139412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/>
              <p:cNvCxnSpPr>
                <a:stCxn id="221" idx="7"/>
                <a:endCxn id="224" idx="3"/>
              </p:cNvCxnSpPr>
              <p:nvPr/>
            </p:nvCxnSpPr>
            <p:spPr bwMode="auto">
              <a:xfrm rot="5400000" flipH="1" flipV="1">
                <a:off x="34383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/>
              <p:cNvCxnSpPr>
                <a:stCxn id="221" idx="1"/>
                <a:endCxn id="223" idx="5"/>
              </p:cNvCxnSpPr>
              <p:nvPr/>
            </p:nvCxnSpPr>
            <p:spPr bwMode="auto">
              <a:xfrm rot="16200000" flipV="1">
                <a:off x="2695322" y="4973543"/>
                <a:ext cx="1139412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/>
              <p:cNvCxnSpPr>
                <a:stCxn id="220" idx="7"/>
                <a:endCxn id="223" idx="3"/>
              </p:cNvCxnSpPr>
              <p:nvPr/>
            </p:nvCxnSpPr>
            <p:spPr bwMode="auto">
              <a:xfrm rot="5400000" flipH="1" flipV="1">
                <a:off x="19522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82"/>
              <p:cNvGrpSpPr/>
              <p:nvPr/>
            </p:nvGrpSpPr>
            <p:grpSpPr>
              <a:xfrm>
                <a:off x="457200" y="2971800"/>
                <a:ext cx="4073636" cy="3124200"/>
                <a:chOff x="602223" y="2884114"/>
                <a:chExt cx="4073636" cy="3124200"/>
              </a:xfrm>
            </p:grpSpPr>
            <p:sp>
              <p:nvSpPr>
                <p:cNvPr id="245" name="Cube 244"/>
                <p:cNvSpPr/>
                <p:nvPr/>
              </p:nvSpPr>
              <p:spPr bwMode="auto">
                <a:xfrm>
                  <a:off x="658141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6" name="Cube 245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7" name="Cube 246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8" name="Cube 247"/>
                <p:cNvSpPr/>
                <p:nvPr/>
              </p:nvSpPr>
              <p:spPr bwMode="auto">
                <a:xfrm>
                  <a:off x="13716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9" name="Cube 248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0" name="Cube 249"/>
                <p:cNvSpPr/>
                <p:nvPr/>
              </p:nvSpPr>
              <p:spPr bwMode="auto">
                <a:xfrm>
                  <a:off x="3629941" y="56942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1" name="Cube 250"/>
                <p:cNvSpPr/>
                <p:nvPr/>
              </p:nvSpPr>
              <p:spPr bwMode="auto">
                <a:xfrm>
                  <a:off x="2140917" y="56561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2" name="Cube 251"/>
                <p:cNvSpPr/>
                <p:nvPr/>
              </p:nvSpPr>
              <p:spPr bwMode="auto">
                <a:xfrm>
                  <a:off x="602223" y="57035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3" name="Cube 252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3" name="Group 192"/>
              <p:cNvGrpSpPr/>
              <p:nvPr/>
            </p:nvGrpSpPr>
            <p:grpSpPr>
              <a:xfrm>
                <a:off x="1214690" y="2935878"/>
                <a:ext cx="3029680" cy="3147054"/>
                <a:chOff x="1359713" y="2848192"/>
                <a:chExt cx="3029680" cy="3147054"/>
              </a:xfrm>
            </p:grpSpPr>
            <p:sp>
              <p:nvSpPr>
                <p:cNvPr id="233" name="Cube 232"/>
                <p:cNvSpPr/>
                <p:nvPr/>
              </p:nvSpPr>
              <p:spPr bwMode="auto">
                <a:xfrm>
                  <a:off x="1359713" y="2864458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4" name="Cube 233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5" name="Cube 234"/>
                <p:cNvSpPr/>
                <p:nvPr/>
              </p:nvSpPr>
              <p:spPr bwMode="auto">
                <a:xfrm>
                  <a:off x="1750686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6" name="Cube 235"/>
                <p:cNvSpPr/>
                <p:nvPr/>
              </p:nvSpPr>
              <p:spPr bwMode="auto">
                <a:xfrm>
                  <a:off x="2547982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7" name="Cube 236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8" name="Cube 237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9" name="Cube 238"/>
                <p:cNvSpPr/>
                <p:nvPr/>
              </p:nvSpPr>
              <p:spPr bwMode="auto">
                <a:xfrm>
                  <a:off x="1737986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0" name="Cube 239"/>
                <p:cNvSpPr/>
                <p:nvPr/>
              </p:nvSpPr>
              <p:spPr bwMode="auto">
                <a:xfrm>
                  <a:off x="2535282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1" name="Cube 240"/>
                <p:cNvSpPr/>
                <p:nvPr/>
              </p:nvSpPr>
              <p:spPr bwMode="auto">
                <a:xfrm>
                  <a:off x="3270001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2" name="Cube 241"/>
                <p:cNvSpPr/>
                <p:nvPr/>
              </p:nvSpPr>
              <p:spPr bwMode="auto">
                <a:xfrm>
                  <a:off x="4044234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3" name="Cube 242"/>
                <p:cNvSpPr/>
                <p:nvPr/>
              </p:nvSpPr>
              <p:spPr bwMode="auto">
                <a:xfrm>
                  <a:off x="1359713" y="569044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4" name="Cube 243"/>
                <p:cNvSpPr/>
                <p:nvPr/>
              </p:nvSpPr>
              <p:spPr bwMode="auto">
                <a:xfrm>
                  <a:off x="2875826" y="5674180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</p:grpSp>
      <p:sp>
        <p:nvSpPr>
          <p:cNvPr id="4" name="Oval 3"/>
          <p:cNvSpPr/>
          <p:nvPr/>
        </p:nvSpPr>
        <p:spPr bwMode="auto">
          <a:xfrm>
            <a:off x="47920" y="1018440"/>
            <a:ext cx="4521973" cy="3465378"/>
          </a:xfrm>
          <a:prstGeom prst="ellips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119" name="Group 118"/>
          <p:cNvGrpSpPr/>
          <p:nvPr/>
        </p:nvGrpSpPr>
        <p:grpSpPr>
          <a:xfrm>
            <a:off x="5029200" y="1219200"/>
            <a:ext cx="3048000" cy="2826717"/>
            <a:chOff x="5029200" y="1219200"/>
            <a:chExt cx="3048000" cy="2826717"/>
          </a:xfrm>
        </p:grpSpPr>
        <p:grpSp>
          <p:nvGrpSpPr>
            <p:cNvPr id="122" name="Group 121"/>
            <p:cNvGrpSpPr/>
            <p:nvPr/>
          </p:nvGrpSpPr>
          <p:grpSpPr>
            <a:xfrm>
              <a:off x="5413269" y="2209800"/>
              <a:ext cx="2435331" cy="1836117"/>
              <a:chOff x="5413269" y="2209800"/>
              <a:chExt cx="2435331" cy="1836117"/>
            </a:xfrm>
          </p:grpSpPr>
          <p:sp>
            <p:nvSpPr>
              <p:cNvPr id="125" name="Freeform 124"/>
              <p:cNvSpPr/>
              <p:nvPr/>
            </p:nvSpPr>
            <p:spPr bwMode="auto">
              <a:xfrm>
                <a:off x="6102295" y="2209800"/>
                <a:ext cx="1746305" cy="1273742"/>
              </a:xfrm>
              <a:custGeom>
                <a:avLst/>
                <a:gdLst>
                  <a:gd name="connsiteX0" fmla="*/ 1930400 w 3149600"/>
                  <a:gd name="connsiteY0" fmla="*/ 159926 h 2455333"/>
                  <a:gd name="connsiteX1" fmla="*/ 237067 w 3149600"/>
                  <a:gd name="connsiteY1" fmla="*/ 193793 h 2455333"/>
                  <a:gd name="connsiteX2" fmla="*/ 508000 w 3149600"/>
                  <a:gd name="connsiteY2" fmla="*/ 1322682 h 2455333"/>
                  <a:gd name="connsiteX3" fmla="*/ 993423 w 3149600"/>
                  <a:gd name="connsiteY3" fmla="*/ 2304815 h 2455333"/>
                  <a:gd name="connsiteX4" fmla="*/ 1569156 w 3149600"/>
                  <a:gd name="connsiteY4" fmla="*/ 2225793 h 2455333"/>
                  <a:gd name="connsiteX5" fmla="*/ 1919111 w 3149600"/>
                  <a:gd name="connsiteY5" fmla="*/ 1175926 h 2455333"/>
                  <a:gd name="connsiteX6" fmla="*/ 2291645 w 3149600"/>
                  <a:gd name="connsiteY6" fmla="*/ 2135482 h 2455333"/>
                  <a:gd name="connsiteX7" fmla="*/ 2889956 w 3149600"/>
                  <a:gd name="connsiteY7" fmla="*/ 2304815 h 2455333"/>
                  <a:gd name="connsiteX8" fmla="*/ 3081867 w 3149600"/>
                  <a:gd name="connsiteY8" fmla="*/ 1841970 h 2455333"/>
                  <a:gd name="connsiteX9" fmla="*/ 2483556 w 3149600"/>
                  <a:gd name="connsiteY9" fmla="*/ 600193 h 2455333"/>
                  <a:gd name="connsiteX10" fmla="*/ 1930400 w 3149600"/>
                  <a:gd name="connsiteY10" fmla="*/ 159926 h 2455333"/>
                  <a:gd name="connsiteX0" fmla="*/ 1969911 w 3155244"/>
                  <a:gd name="connsiteY0" fmla="*/ 96426 h 2468033"/>
                  <a:gd name="connsiteX1" fmla="*/ 242711 w 3155244"/>
                  <a:gd name="connsiteY1" fmla="*/ 206493 h 2468033"/>
                  <a:gd name="connsiteX2" fmla="*/ 513644 w 3155244"/>
                  <a:gd name="connsiteY2" fmla="*/ 1335382 h 2468033"/>
                  <a:gd name="connsiteX3" fmla="*/ 999067 w 3155244"/>
                  <a:gd name="connsiteY3" fmla="*/ 2317515 h 2468033"/>
                  <a:gd name="connsiteX4" fmla="*/ 1574800 w 3155244"/>
                  <a:gd name="connsiteY4" fmla="*/ 2238493 h 2468033"/>
                  <a:gd name="connsiteX5" fmla="*/ 1924755 w 3155244"/>
                  <a:gd name="connsiteY5" fmla="*/ 1188626 h 2468033"/>
                  <a:gd name="connsiteX6" fmla="*/ 2297289 w 3155244"/>
                  <a:gd name="connsiteY6" fmla="*/ 2148182 h 2468033"/>
                  <a:gd name="connsiteX7" fmla="*/ 2895600 w 3155244"/>
                  <a:gd name="connsiteY7" fmla="*/ 2317515 h 2468033"/>
                  <a:gd name="connsiteX8" fmla="*/ 3087511 w 3155244"/>
                  <a:gd name="connsiteY8" fmla="*/ 1854670 h 2468033"/>
                  <a:gd name="connsiteX9" fmla="*/ 2489200 w 3155244"/>
                  <a:gd name="connsiteY9" fmla="*/ 612893 h 2468033"/>
                  <a:gd name="connsiteX10" fmla="*/ 1969911 w 3155244"/>
                  <a:gd name="connsiteY10" fmla="*/ 96426 h 2468033"/>
                  <a:gd name="connsiteX0" fmla="*/ 1969911 w 3165592"/>
                  <a:gd name="connsiteY0" fmla="*/ 96426 h 2468033"/>
                  <a:gd name="connsiteX1" fmla="*/ 242711 w 3165592"/>
                  <a:gd name="connsiteY1" fmla="*/ 206493 h 2468033"/>
                  <a:gd name="connsiteX2" fmla="*/ 513644 w 3165592"/>
                  <a:gd name="connsiteY2" fmla="*/ 1335382 h 2468033"/>
                  <a:gd name="connsiteX3" fmla="*/ 999067 w 3165592"/>
                  <a:gd name="connsiteY3" fmla="*/ 2317515 h 2468033"/>
                  <a:gd name="connsiteX4" fmla="*/ 1574800 w 3165592"/>
                  <a:gd name="connsiteY4" fmla="*/ 2238493 h 2468033"/>
                  <a:gd name="connsiteX5" fmla="*/ 1924755 w 3165592"/>
                  <a:gd name="connsiteY5" fmla="*/ 1188626 h 2468033"/>
                  <a:gd name="connsiteX6" fmla="*/ 2297289 w 3165592"/>
                  <a:gd name="connsiteY6" fmla="*/ 2148182 h 2468033"/>
                  <a:gd name="connsiteX7" fmla="*/ 2895600 w 3165592"/>
                  <a:gd name="connsiteY7" fmla="*/ 2317515 h 2468033"/>
                  <a:gd name="connsiteX8" fmla="*/ 3087511 w 3165592"/>
                  <a:gd name="connsiteY8" fmla="*/ 1854670 h 2468033"/>
                  <a:gd name="connsiteX9" fmla="*/ 2427111 w 3165592"/>
                  <a:gd name="connsiteY9" fmla="*/ 477426 h 2468033"/>
                  <a:gd name="connsiteX10" fmla="*/ 1969911 w 3165592"/>
                  <a:gd name="connsiteY10" fmla="*/ 96426 h 2468033"/>
                  <a:gd name="connsiteX0" fmla="*/ 1881011 w 3152892"/>
                  <a:gd name="connsiteY0" fmla="*/ 96426 h 2468033"/>
                  <a:gd name="connsiteX1" fmla="*/ 230011 w 3152892"/>
                  <a:gd name="connsiteY1" fmla="*/ 206493 h 2468033"/>
                  <a:gd name="connsiteX2" fmla="*/ 500944 w 3152892"/>
                  <a:gd name="connsiteY2" fmla="*/ 1335382 h 2468033"/>
                  <a:gd name="connsiteX3" fmla="*/ 986367 w 3152892"/>
                  <a:gd name="connsiteY3" fmla="*/ 2317515 h 2468033"/>
                  <a:gd name="connsiteX4" fmla="*/ 1562100 w 3152892"/>
                  <a:gd name="connsiteY4" fmla="*/ 2238493 h 2468033"/>
                  <a:gd name="connsiteX5" fmla="*/ 1912055 w 3152892"/>
                  <a:gd name="connsiteY5" fmla="*/ 1188626 h 2468033"/>
                  <a:gd name="connsiteX6" fmla="*/ 2284589 w 3152892"/>
                  <a:gd name="connsiteY6" fmla="*/ 2148182 h 2468033"/>
                  <a:gd name="connsiteX7" fmla="*/ 2882900 w 3152892"/>
                  <a:gd name="connsiteY7" fmla="*/ 2317515 h 2468033"/>
                  <a:gd name="connsiteX8" fmla="*/ 3074811 w 3152892"/>
                  <a:gd name="connsiteY8" fmla="*/ 1854670 h 2468033"/>
                  <a:gd name="connsiteX9" fmla="*/ 2414411 w 3152892"/>
                  <a:gd name="connsiteY9" fmla="*/ 477426 h 2468033"/>
                  <a:gd name="connsiteX10" fmla="*/ 1881011 w 3152892"/>
                  <a:gd name="connsiteY10" fmla="*/ 96426 h 24680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7921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92111 w 3063992"/>
                  <a:gd name="connsiteY11" fmla="*/ 50800 h 2422407"/>
                  <a:gd name="connsiteX0" fmla="*/ 17159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15911 w 3063992"/>
                  <a:gd name="connsiteY11" fmla="*/ 50800 h 2422407"/>
                  <a:gd name="connsiteX0" fmla="*/ 1779411 w 3127492"/>
                  <a:gd name="connsiteY0" fmla="*/ 38100 h 2409707"/>
                  <a:gd name="connsiteX1" fmla="*/ 1093611 w 3127492"/>
                  <a:gd name="connsiteY1" fmla="*/ 190500 h 2409707"/>
                  <a:gd name="connsiteX2" fmla="*/ 103011 w 3127492"/>
                  <a:gd name="connsiteY2" fmla="*/ 266700 h 2409707"/>
                  <a:gd name="connsiteX3" fmla="*/ 475544 w 3127492"/>
                  <a:gd name="connsiteY3" fmla="*/ 1277056 h 2409707"/>
                  <a:gd name="connsiteX4" fmla="*/ 960967 w 3127492"/>
                  <a:gd name="connsiteY4" fmla="*/ 2259189 h 2409707"/>
                  <a:gd name="connsiteX5" fmla="*/ 1536700 w 3127492"/>
                  <a:gd name="connsiteY5" fmla="*/ 2180167 h 2409707"/>
                  <a:gd name="connsiteX6" fmla="*/ 1886655 w 3127492"/>
                  <a:gd name="connsiteY6" fmla="*/ 1130300 h 2409707"/>
                  <a:gd name="connsiteX7" fmla="*/ 2259189 w 3127492"/>
                  <a:gd name="connsiteY7" fmla="*/ 2089856 h 2409707"/>
                  <a:gd name="connsiteX8" fmla="*/ 2857500 w 3127492"/>
                  <a:gd name="connsiteY8" fmla="*/ 2259189 h 2409707"/>
                  <a:gd name="connsiteX9" fmla="*/ 3049411 w 3127492"/>
                  <a:gd name="connsiteY9" fmla="*/ 1796344 h 2409707"/>
                  <a:gd name="connsiteX10" fmla="*/ 2389011 w 3127492"/>
                  <a:gd name="connsiteY10" fmla="*/ 419100 h 2409707"/>
                  <a:gd name="connsiteX11" fmla="*/ 1779411 w 3127492"/>
                  <a:gd name="connsiteY11" fmla="*/ 38100 h 2409707"/>
                  <a:gd name="connsiteX0" fmla="*/ 1855611 w 3127492"/>
                  <a:gd name="connsiteY0" fmla="*/ 38100 h 2333507"/>
                  <a:gd name="connsiteX1" fmla="*/ 1093611 w 3127492"/>
                  <a:gd name="connsiteY1" fmla="*/ 114300 h 2333507"/>
                  <a:gd name="connsiteX2" fmla="*/ 103011 w 3127492"/>
                  <a:gd name="connsiteY2" fmla="*/ 190500 h 2333507"/>
                  <a:gd name="connsiteX3" fmla="*/ 475544 w 3127492"/>
                  <a:gd name="connsiteY3" fmla="*/ 1200856 h 2333507"/>
                  <a:gd name="connsiteX4" fmla="*/ 960967 w 3127492"/>
                  <a:gd name="connsiteY4" fmla="*/ 2182989 h 2333507"/>
                  <a:gd name="connsiteX5" fmla="*/ 1536700 w 3127492"/>
                  <a:gd name="connsiteY5" fmla="*/ 2103967 h 2333507"/>
                  <a:gd name="connsiteX6" fmla="*/ 1886655 w 3127492"/>
                  <a:gd name="connsiteY6" fmla="*/ 1054100 h 2333507"/>
                  <a:gd name="connsiteX7" fmla="*/ 2259189 w 3127492"/>
                  <a:gd name="connsiteY7" fmla="*/ 2013656 h 2333507"/>
                  <a:gd name="connsiteX8" fmla="*/ 2857500 w 3127492"/>
                  <a:gd name="connsiteY8" fmla="*/ 2182989 h 2333507"/>
                  <a:gd name="connsiteX9" fmla="*/ 3049411 w 3127492"/>
                  <a:gd name="connsiteY9" fmla="*/ 1720144 h 2333507"/>
                  <a:gd name="connsiteX10" fmla="*/ 2389011 w 3127492"/>
                  <a:gd name="connsiteY10" fmla="*/ 342900 h 2333507"/>
                  <a:gd name="connsiteX11" fmla="*/ 1855611 w 3127492"/>
                  <a:gd name="connsiteY11" fmla="*/ 38100 h 2333507"/>
                  <a:gd name="connsiteX0" fmla="*/ 1765300 w 3037181"/>
                  <a:gd name="connsiteY0" fmla="*/ 38100 h 2374900"/>
                  <a:gd name="connsiteX1" fmla="*/ 1003300 w 3037181"/>
                  <a:gd name="connsiteY1" fmla="*/ 114300 h 2374900"/>
                  <a:gd name="connsiteX2" fmla="*/ 12700 w 3037181"/>
                  <a:gd name="connsiteY2" fmla="*/ 190500 h 2374900"/>
                  <a:gd name="connsiteX3" fmla="*/ 1079500 w 3037181"/>
                  <a:gd name="connsiteY3" fmla="*/ 952500 h 2374900"/>
                  <a:gd name="connsiteX4" fmla="*/ 870656 w 3037181"/>
                  <a:gd name="connsiteY4" fmla="*/ 2182989 h 2374900"/>
                  <a:gd name="connsiteX5" fmla="*/ 1446389 w 3037181"/>
                  <a:gd name="connsiteY5" fmla="*/ 2103967 h 2374900"/>
                  <a:gd name="connsiteX6" fmla="*/ 1796344 w 3037181"/>
                  <a:gd name="connsiteY6" fmla="*/ 1054100 h 2374900"/>
                  <a:gd name="connsiteX7" fmla="*/ 2168878 w 3037181"/>
                  <a:gd name="connsiteY7" fmla="*/ 2013656 h 2374900"/>
                  <a:gd name="connsiteX8" fmla="*/ 2767189 w 3037181"/>
                  <a:gd name="connsiteY8" fmla="*/ 2182989 h 2374900"/>
                  <a:gd name="connsiteX9" fmla="*/ 2959100 w 3037181"/>
                  <a:gd name="connsiteY9" fmla="*/ 1720144 h 2374900"/>
                  <a:gd name="connsiteX10" fmla="*/ 2298700 w 3037181"/>
                  <a:gd name="connsiteY10" fmla="*/ 342900 h 2374900"/>
                  <a:gd name="connsiteX11" fmla="*/ 1765300 w 3037181"/>
                  <a:gd name="connsiteY11" fmla="*/ 38100 h 2374900"/>
                  <a:gd name="connsiteX0" fmla="*/ 1765300 w 3037181"/>
                  <a:gd name="connsiteY0" fmla="*/ 38100 h 2239433"/>
                  <a:gd name="connsiteX1" fmla="*/ 1003300 w 3037181"/>
                  <a:gd name="connsiteY1" fmla="*/ 114300 h 2239433"/>
                  <a:gd name="connsiteX2" fmla="*/ 12700 w 3037181"/>
                  <a:gd name="connsiteY2" fmla="*/ 190500 h 2239433"/>
                  <a:gd name="connsiteX3" fmla="*/ 1079500 w 3037181"/>
                  <a:gd name="connsiteY3" fmla="*/ 952500 h 2239433"/>
                  <a:gd name="connsiteX4" fmla="*/ 698500 w 3037181"/>
                  <a:gd name="connsiteY4" fmla="*/ 1866899 h 2239433"/>
                  <a:gd name="connsiteX5" fmla="*/ 1446389 w 3037181"/>
                  <a:gd name="connsiteY5" fmla="*/ 2103967 h 2239433"/>
                  <a:gd name="connsiteX6" fmla="*/ 1796344 w 3037181"/>
                  <a:gd name="connsiteY6" fmla="*/ 1054100 h 2239433"/>
                  <a:gd name="connsiteX7" fmla="*/ 2168878 w 3037181"/>
                  <a:gd name="connsiteY7" fmla="*/ 2013656 h 2239433"/>
                  <a:gd name="connsiteX8" fmla="*/ 2767189 w 3037181"/>
                  <a:gd name="connsiteY8" fmla="*/ 2182989 h 2239433"/>
                  <a:gd name="connsiteX9" fmla="*/ 2959100 w 3037181"/>
                  <a:gd name="connsiteY9" fmla="*/ 1720144 h 2239433"/>
                  <a:gd name="connsiteX10" fmla="*/ 2298700 w 3037181"/>
                  <a:gd name="connsiteY10" fmla="*/ 342900 h 2239433"/>
                  <a:gd name="connsiteX11" fmla="*/ 1765300 w 3037181"/>
                  <a:gd name="connsiteY11" fmla="*/ 38100 h 2239433"/>
                  <a:gd name="connsiteX0" fmla="*/ 1765300 w 3037181"/>
                  <a:gd name="connsiteY0" fmla="*/ 38100 h 2231908"/>
                  <a:gd name="connsiteX1" fmla="*/ 1003300 w 3037181"/>
                  <a:gd name="connsiteY1" fmla="*/ 114300 h 2231908"/>
                  <a:gd name="connsiteX2" fmla="*/ 12700 w 3037181"/>
                  <a:gd name="connsiteY2" fmla="*/ 190500 h 2231908"/>
                  <a:gd name="connsiteX3" fmla="*/ 1079500 w 3037181"/>
                  <a:gd name="connsiteY3" fmla="*/ 952500 h 2231908"/>
                  <a:gd name="connsiteX4" fmla="*/ 698500 w 3037181"/>
                  <a:gd name="connsiteY4" fmla="*/ 1866899 h 2231908"/>
                  <a:gd name="connsiteX5" fmla="*/ 1384300 w 3037181"/>
                  <a:gd name="connsiteY5" fmla="*/ 2095500 h 2231908"/>
                  <a:gd name="connsiteX6" fmla="*/ 1796344 w 3037181"/>
                  <a:gd name="connsiteY6" fmla="*/ 1054100 h 2231908"/>
                  <a:gd name="connsiteX7" fmla="*/ 2168878 w 3037181"/>
                  <a:gd name="connsiteY7" fmla="*/ 2013656 h 2231908"/>
                  <a:gd name="connsiteX8" fmla="*/ 2767189 w 3037181"/>
                  <a:gd name="connsiteY8" fmla="*/ 2182989 h 2231908"/>
                  <a:gd name="connsiteX9" fmla="*/ 2959100 w 3037181"/>
                  <a:gd name="connsiteY9" fmla="*/ 1720144 h 2231908"/>
                  <a:gd name="connsiteX10" fmla="*/ 2298700 w 3037181"/>
                  <a:gd name="connsiteY10" fmla="*/ 342900 h 2231908"/>
                  <a:gd name="connsiteX11" fmla="*/ 1765300 w 3037181"/>
                  <a:gd name="connsiteY11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51741 h 2245549"/>
                  <a:gd name="connsiteX1" fmla="*/ 1092200 w 3126081"/>
                  <a:gd name="connsiteY1" fmla="*/ 127941 h 2245549"/>
                  <a:gd name="connsiteX2" fmla="*/ 101600 w 3126081"/>
                  <a:gd name="connsiteY2" fmla="*/ 204141 h 2245549"/>
                  <a:gd name="connsiteX3" fmla="*/ 177800 w 3126081"/>
                  <a:gd name="connsiteY3" fmla="*/ 661341 h 2245549"/>
                  <a:gd name="connsiteX4" fmla="*/ 1168400 w 3126081"/>
                  <a:gd name="connsiteY4" fmla="*/ 966141 h 2245549"/>
                  <a:gd name="connsiteX5" fmla="*/ 787400 w 3126081"/>
                  <a:gd name="connsiteY5" fmla="*/ 1880540 h 2245549"/>
                  <a:gd name="connsiteX6" fmla="*/ 1473200 w 3126081"/>
                  <a:gd name="connsiteY6" fmla="*/ 2109141 h 2245549"/>
                  <a:gd name="connsiteX7" fmla="*/ 1885244 w 3126081"/>
                  <a:gd name="connsiteY7" fmla="*/ 1067741 h 2245549"/>
                  <a:gd name="connsiteX8" fmla="*/ 2257778 w 3126081"/>
                  <a:gd name="connsiteY8" fmla="*/ 2027297 h 2245549"/>
                  <a:gd name="connsiteX9" fmla="*/ 2856089 w 3126081"/>
                  <a:gd name="connsiteY9" fmla="*/ 2196630 h 2245549"/>
                  <a:gd name="connsiteX10" fmla="*/ 3048000 w 3126081"/>
                  <a:gd name="connsiteY10" fmla="*/ 1733785 h 2245549"/>
                  <a:gd name="connsiteX11" fmla="*/ 2387600 w 3126081"/>
                  <a:gd name="connsiteY11" fmla="*/ 280341 h 2245549"/>
                  <a:gd name="connsiteX12" fmla="*/ 1854200 w 3126081"/>
                  <a:gd name="connsiteY12" fmla="*/ 51741 h 2245549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98931 w 3147012"/>
                  <a:gd name="connsiteY0" fmla="*/ 25400 h 2295407"/>
                  <a:gd name="connsiteX1" fmla="*/ 1113131 w 3147012"/>
                  <a:gd name="connsiteY1" fmla="*/ 177799 h 2295407"/>
                  <a:gd name="connsiteX2" fmla="*/ 122531 w 3147012"/>
                  <a:gd name="connsiteY2" fmla="*/ 253999 h 2295407"/>
                  <a:gd name="connsiteX3" fmla="*/ 198731 w 3147012"/>
                  <a:gd name="connsiteY3" fmla="*/ 711199 h 2295407"/>
                  <a:gd name="connsiteX4" fmla="*/ 1189331 w 3147012"/>
                  <a:gd name="connsiteY4" fmla="*/ 1015999 h 2295407"/>
                  <a:gd name="connsiteX5" fmla="*/ 808331 w 3147012"/>
                  <a:gd name="connsiteY5" fmla="*/ 1930398 h 2295407"/>
                  <a:gd name="connsiteX6" fmla="*/ 1494131 w 3147012"/>
                  <a:gd name="connsiteY6" fmla="*/ 2158999 h 2295407"/>
                  <a:gd name="connsiteX7" fmla="*/ 1906175 w 3147012"/>
                  <a:gd name="connsiteY7" fmla="*/ 1117599 h 2295407"/>
                  <a:gd name="connsiteX8" fmla="*/ 2278709 w 3147012"/>
                  <a:gd name="connsiteY8" fmla="*/ 2077155 h 2295407"/>
                  <a:gd name="connsiteX9" fmla="*/ 2877020 w 3147012"/>
                  <a:gd name="connsiteY9" fmla="*/ 2246488 h 2295407"/>
                  <a:gd name="connsiteX10" fmla="*/ 3068931 w 3147012"/>
                  <a:gd name="connsiteY10" fmla="*/ 1783643 h 2295407"/>
                  <a:gd name="connsiteX11" fmla="*/ 2408531 w 3147012"/>
                  <a:gd name="connsiteY11" fmla="*/ 330199 h 2295407"/>
                  <a:gd name="connsiteX12" fmla="*/ 1798931 w 3147012"/>
                  <a:gd name="connsiteY12" fmla="*/ 25400 h 229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7012" h="2295407">
                    <a:moveTo>
                      <a:pt x="1798931" y="25400"/>
                    </a:moveTo>
                    <a:cubicBezTo>
                      <a:pt x="1583031" y="0"/>
                      <a:pt x="1467320" y="173566"/>
                      <a:pt x="1113131" y="177799"/>
                    </a:cubicBezTo>
                    <a:cubicBezTo>
                      <a:pt x="837964" y="196143"/>
                      <a:pt x="332081" y="76199"/>
                      <a:pt x="122531" y="253999"/>
                    </a:cubicBezTo>
                    <a:cubicBezTo>
                      <a:pt x="0" y="433210"/>
                      <a:pt x="20931" y="584199"/>
                      <a:pt x="198731" y="711199"/>
                    </a:cubicBezTo>
                    <a:cubicBezTo>
                      <a:pt x="376531" y="838199"/>
                      <a:pt x="1087731" y="812799"/>
                      <a:pt x="1189331" y="1015999"/>
                    </a:cubicBezTo>
                    <a:cubicBezTo>
                      <a:pt x="1290931" y="1219199"/>
                      <a:pt x="757531" y="1739898"/>
                      <a:pt x="808331" y="1930398"/>
                    </a:cubicBezTo>
                    <a:cubicBezTo>
                      <a:pt x="859131" y="2120898"/>
                      <a:pt x="1311157" y="2294465"/>
                      <a:pt x="1494131" y="2158999"/>
                    </a:cubicBezTo>
                    <a:cubicBezTo>
                      <a:pt x="1677105" y="2023533"/>
                      <a:pt x="1775412" y="1131240"/>
                      <a:pt x="1906175" y="1117599"/>
                    </a:cubicBezTo>
                    <a:cubicBezTo>
                      <a:pt x="2036938" y="1103958"/>
                      <a:pt x="2116902" y="1889007"/>
                      <a:pt x="2278709" y="2077155"/>
                    </a:cubicBezTo>
                    <a:cubicBezTo>
                      <a:pt x="2440516" y="2265303"/>
                      <a:pt x="2745316" y="2295407"/>
                      <a:pt x="2877020" y="2246488"/>
                    </a:cubicBezTo>
                    <a:cubicBezTo>
                      <a:pt x="3008724" y="2197569"/>
                      <a:pt x="3147012" y="2103024"/>
                      <a:pt x="3068931" y="1783643"/>
                    </a:cubicBezTo>
                    <a:cubicBezTo>
                      <a:pt x="2990850" y="1464262"/>
                      <a:pt x="2620198" y="623240"/>
                      <a:pt x="2408531" y="330199"/>
                    </a:cubicBezTo>
                    <a:cubicBezTo>
                      <a:pt x="2196864" y="37158"/>
                      <a:pt x="2014831" y="50800"/>
                      <a:pt x="1798931" y="25400"/>
                    </a:cubicBezTo>
                    <a:close/>
                  </a:path>
                </a:pathLst>
              </a:cu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26" name="Oval 125"/>
              <p:cNvSpPr/>
              <p:nvPr/>
            </p:nvSpPr>
            <p:spPr bwMode="auto">
              <a:xfrm>
                <a:off x="6973686" y="2266179"/>
                <a:ext cx="380557" cy="38055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cxnSp>
            <p:nvCxnSpPr>
              <p:cNvPr id="127" name="Straight Arrow Connector 126"/>
              <p:cNvCxnSpPr>
                <a:stCxn id="133" idx="6"/>
                <a:endCxn id="134" idx="2"/>
              </p:cNvCxnSpPr>
              <p:nvPr/>
            </p:nvCxnSpPr>
            <p:spPr bwMode="auto">
              <a:xfrm>
                <a:off x="5631063" y="2459644"/>
                <a:ext cx="606857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28" name="Straight Arrow Connector 127"/>
              <p:cNvCxnSpPr>
                <a:stCxn id="134" idx="6"/>
                <a:endCxn id="135" idx="2"/>
              </p:cNvCxnSpPr>
              <p:nvPr/>
            </p:nvCxnSpPr>
            <p:spPr bwMode="auto">
              <a:xfrm>
                <a:off x="6455714" y="2459644"/>
                <a:ext cx="606856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29" name="Straight Arrow Connector 128"/>
              <p:cNvCxnSpPr>
                <a:stCxn id="139" idx="7"/>
                <a:endCxn id="134" idx="3"/>
              </p:cNvCxnSpPr>
              <p:nvPr/>
            </p:nvCxnSpPr>
            <p:spPr bwMode="auto">
              <a:xfrm rot="5400000" flipH="1" flipV="1">
                <a:off x="583049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30" name="Straight Arrow Connector 129"/>
              <p:cNvCxnSpPr>
                <a:stCxn id="141" idx="1"/>
                <a:endCxn id="135" idx="5"/>
              </p:cNvCxnSpPr>
              <p:nvPr/>
            </p:nvCxnSpPr>
            <p:spPr bwMode="auto">
              <a:xfrm rot="16200000" flipV="1">
                <a:off x="706747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31" name="Straight Arrow Connector 130"/>
              <p:cNvCxnSpPr>
                <a:stCxn id="140" idx="7"/>
                <a:endCxn id="135" idx="3"/>
              </p:cNvCxnSpPr>
              <p:nvPr/>
            </p:nvCxnSpPr>
            <p:spPr bwMode="auto">
              <a:xfrm rot="5400000" flipH="1" flipV="1">
                <a:off x="665514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32" name="Straight Arrow Connector 131"/>
              <p:cNvCxnSpPr>
                <a:stCxn id="140" idx="1"/>
                <a:endCxn id="134" idx="5"/>
              </p:cNvCxnSpPr>
              <p:nvPr/>
            </p:nvCxnSpPr>
            <p:spPr bwMode="auto">
              <a:xfrm rot="16200000" flipV="1">
                <a:off x="624282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33" name="Oval 4"/>
              <p:cNvSpPr/>
              <p:nvPr/>
            </p:nvSpPr>
            <p:spPr bwMode="auto">
              <a:xfrm>
                <a:off x="5413269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4" name="Oval 133"/>
              <p:cNvSpPr/>
              <p:nvPr/>
            </p:nvSpPr>
            <p:spPr bwMode="auto">
              <a:xfrm>
                <a:off x="623792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5" name="Oval 134"/>
              <p:cNvSpPr/>
              <p:nvPr/>
            </p:nvSpPr>
            <p:spPr bwMode="auto">
              <a:xfrm>
                <a:off x="706257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6" name="Oval 4"/>
              <p:cNvSpPr/>
              <p:nvPr/>
            </p:nvSpPr>
            <p:spPr bwMode="auto">
              <a:xfrm>
                <a:off x="541326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7" name="Oval 136"/>
              <p:cNvSpPr/>
              <p:nvPr/>
            </p:nvSpPr>
            <p:spPr bwMode="auto">
              <a:xfrm>
                <a:off x="623791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8" name="Oval 137"/>
              <p:cNvSpPr/>
              <p:nvPr/>
            </p:nvSpPr>
            <p:spPr bwMode="auto">
              <a:xfrm>
                <a:off x="7062570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9" name="Oval 4"/>
              <p:cNvSpPr/>
              <p:nvPr/>
            </p:nvSpPr>
            <p:spPr bwMode="auto">
              <a:xfrm>
                <a:off x="5829513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40" name="Oval 139"/>
              <p:cNvSpPr/>
              <p:nvPr/>
            </p:nvSpPr>
            <p:spPr bwMode="auto">
              <a:xfrm>
                <a:off x="665416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41" name="Oval 140"/>
              <p:cNvSpPr/>
              <p:nvPr/>
            </p:nvSpPr>
            <p:spPr bwMode="auto">
              <a:xfrm>
                <a:off x="747881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42" name="Straight Arrow Connector 141"/>
              <p:cNvCxnSpPr>
                <a:stCxn id="136" idx="6"/>
                <a:endCxn id="137" idx="2"/>
              </p:cNvCxnSpPr>
              <p:nvPr/>
            </p:nvCxnSpPr>
            <p:spPr bwMode="auto">
              <a:xfrm>
                <a:off x="5631063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43" name="Straight Arrow Connector 142"/>
              <p:cNvCxnSpPr>
                <a:stCxn id="137" idx="6"/>
                <a:endCxn id="138" idx="2"/>
              </p:cNvCxnSpPr>
              <p:nvPr/>
            </p:nvCxnSpPr>
            <p:spPr bwMode="auto">
              <a:xfrm>
                <a:off x="6455714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44" name="Straight Arrow Connector 143"/>
              <p:cNvCxnSpPr>
                <a:stCxn id="137" idx="1"/>
                <a:endCxn id="139" idx="5"/>
              </p:cNvCxnSpPr>
              <p:nvPr/>
            </p:nvCxnSpPr>
            <p:spPr bwMode="auto">
              <a:xfrm rot="16200000" flipV="1">
                <a:off x="5870047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45" name="Straight Arrow Connector 144"/>
              <p:cNvCxnSpPr>
                <a:stCxn id="138" idx="7"/>
                <a:endCxn id="141" idx="3"/>
              </p:cNvCxnSpPr>
              <p:nvPr/>
            </p:nvCxnSpPr>
            <p:spPr bwMode="auto">
              <a:xfrm rot="5400000" flipH="1" flipV="1">
                <a:off x="7107022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46" name="Straight Arrow Connector 145"/>
              <p:cNvCxnSpPr>
                <a:stCxn id="138" idx="1"/>
                <a:endCxn id="140" idx="5"/>
              </p:cNvCxnSpPr>
              <p:nvPr/>
            </p:nvCxnSpPr>
            <p:spPr bwMode="auto">
              <a:xfrm rot="16200000" flipV="1">
                <a:off x="6694698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47" name="Straight Arrow Connector 146"/>
              <p:cNvCxnSpPr>
                <a:stCxn id="137" idx="7"/>
                <a:endCxn id="140" idx="3"/>
              </p:cNvCxnSpPr>
              <p:nvPr/>
            </p:nvCxnSpPr>
            <p:spPr bwMode="auto">
              <a:xfrm rot="5400000" flipH="1" flipV="1">
                <a:off x="6282371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grpSp>
            <p:nvGrpSpPr>
              <p:cNvPr id="148" name="Group 182"/>
              <p:cNvGrpSpPr/>
              <p:nvPr/>
            </p:nvGrpSpPr>
            <p:grpSpPr>
              <a:xfrm>
                <a:off x="6258950" y="2393031"/>
                <a:ext cx="1410722" cy="930249"/>
                <a:chOff x="2133600" y="2884114"/>
                <a:chExt cx="2542259" cy="1676400"/>
              </a:xfrm>
            </p:grpSpPr>
            <p:sp>
              <p:nvSpPr>
                <p:cNvPr id="153" name="Cube 152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54" name="Cube 153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55" name="Cube 154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56" name="Cube 155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49" name="Group 192"/>
              <p:cNvGrpSpPr/>
              <p:nvPr/>
            </p:nvGrpSpPr>
            <p:grpSpPr>
              <a:xfrm>
                <a:off x="6670818" y="2373097"/>
                <a:ext cx="839892" cy="594558"/>
                <a:chOff x="2875826" y="2848192"/>
                <a:chExt cx="1513567" cy="1071452"/>
              </a:xfrm>
            </p:grpSpPr>
            <p:sp>
              <p:nvSpPr>
                <p:cNvPr id="150" name="Cube 149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51" name="Cube 150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52" name="Cube 151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  <p:sp>
          <p:nvSpPr>
            <p:cNvPr id="124" name="TextBox 123"/>
            <p:cNvSpPr txBox="1"/>
            <p:nvPr/>
          </p:nvSpPr>
          <p:spPr>
            <a:xfrm>
              <a:off x="5029200" y="1219200"/>
              <a:ext cx="3048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Update Functions</a:t>
              </a:r>
            </a:p>
            <a:p>
              <a:pPr algn="ctr"/>
              <a:r>
                <a:rPr lang="en-US" sz="2800" i="1" dirty="0" smtClean="0"/>
                <a:t>User Computation</a:t>
              </a:r>
              <a:endParaRPr lang="en-US" sz="2800" i="1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91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/>
          <p:cNvCxnSpPr>
            <a:stCxn id="102" idx="6"/>
            <a:endCxn id="103" idx="2"/>
          </p:cNvCxnSpPr>
          <p:nvPr/>
        </p:nvCxnSpPr>
        <p:spPr bwMode="auto">
          <a:xfrm>
            <a:off x="925886" y="2470757"/>
            <a:ext cx="1093615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103" idx="6"/>
            <a:endCxn id="104" idx="2"/>
          </p:cNvCxnSpPr>
          <p:nvPr/>
        </p:nvCxnSpPr>
        <p:spPr bwMode="auto">
          <a:xfrm>
            <a:off x="2411987" y="2470757"/>
            <a:ext cx="1093614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31" idx="7"/>
            <a:endCxn id="103" idx="3"/>
          </p:cNvCxnSpPr>
          <p:nvPr/>
        </p:nvCxnSpPr>
        <p:spPr bwMode="auto">
          <a:xfrm rot="5400000" flipH="1" flipV="1">
            <a:off x="1285286" y="2942757"/>
            <a:ext cx="1124928" cy="45845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33" idx="1"/>
            <a:endCxn id="104" idx="5"/>
          </p:cNvCxnSpPr>
          <p:nvPr/>
        </p:nvCxnSpPr>
        <p:spPr bwMode="auto">
          <a:xfrm rot="16200000" flipV="1">
            <a:off x="3514437" y="2935694"/>
            <a:ext cx="1124928" cy="47258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32" idx="7"/>
            <a:endCxn id="104" idx="3"/>
          </p:cNvCxnSpPr>
          <p:nvPr/>
        </p:nvCxnSpPr>
        <p:spPr bwMode="auto">
          <a:xfrm rot="5400000" flipH="1" flipV="1">
            <a:off x="2771386" y="2942758"/>
            <a:ext cx="1124928" cy="45845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2" idx="1"/>
            <a:endCxn id="103" idx="5"/>
          </p:cNvCxnSpPr>
          <p:nvPr/>
        </p:nvCxnSpPr>
        <p:spPr bwMode="auto">
          <a:xfrm rot="16200000" flipV="1">
            <a:off x="2028337" y="2935694"/>
            <a:ext cx="1124928" cy="47258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2" name="Oval 4"/>
          <p:cNvSpPr/>
          <p:nvPr/>
        </p:nvSpPr>
        <p:spPr bwMode="auto">
          <a:xfrm>
            <a:off x="533400" y="22745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3" name="Oval 102"/>
          <p:cNvSpPr/>
          <p:nvPr/>
        </p:nvSpPr>
        <p:spPr bwMode="auto">
          <a:xfrm>
            <a:off x="2019501" y="22745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3505601" y="22745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8" name="Oval 4"/>
          <p:cNvSpPr/>
          <p:nvPr/>
        </p:nvSpPr>
        <p:spPr bwMode="auto">
          <a:xfrm>
            <a:off x="533400" y="50939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9" name="Oval 108"/>
          <p:cNvSpPr/>
          <p:nvPr/>
        </p:nvSpPr>
        <p:spPr bwMode="auto">
          <a:xfrm>
            <a:off x="2019501" y="50939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19" name="Oval 118"/>
          <p:cNvSpPr/>
          <p:nvPr/>
        </p:nvSpPr>
        <p:spPr bwMode="auto">
          <a:xfrm>
            <a:off x="3505601" y="5093914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Data Graph</a:t>
            </a:r>
            <a:endParaRPr lang="en-US" dirty="0">
              <a:latin typeface="+mn-lt"/>
            </a:endParaRPr>
          </a:p>
        </p:txBody>
      </p:sp>
      <p:sp>
        <p:nvSpPr>
          <p:cNvPr id="31" name="Oval 4"/>
          <p:cNvSpPr/>
          <p:nvPr/>
        </p:nvSpPr>
        <p:spPr bwMode="auto">
          <a:xfrm>
            <a:off x="1283513" y="3676972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2769614" y="3676972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4255714" y="3676972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cxnSp>
        <p:nvCxnSpPr>
          <p:cNvPr id="16" name="Straight Arrow Connector 15"/>
          <p:cNvCxnSpPr>
            <a:stCxn id="108" idx="6"/>
            <a:endCxn id="109" idx="2"/>
          </p:cNvCxnSpPr>
          <p:nvPr/>
        </p:nvCxnSpPr>
        <p:spPr bwMode="auto">
          <a:xfrm>
            <a:off x="925886" y="5290157"/>
            <a:ext cx="1093615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9" idx="6"/>
            <a:endCxn id="119" idx="2"/>
          </p:cNvCxnSpPr>
          <p:nvPr/>
        </p:nvCxnSpPr>
        <p:spPr bwMode="auto">
          <a:xfrm>
            <a:off x="2411987" y="5290157"/>
            <a:ext cx="1093614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09" idx="1"/>
            <a:endCxn id="31" idx="5"/>
          </p:cNvCxnSpPr>
          <p:nvPr/>
        </p:nvCxnSpPr>
        <p:spPr bwMode="auto">
          <a:xfrm rot="16200000" flipV="1">
            <a:off x="1278044" y="4352457"/>
            <a:ext cx="1139412" cy="45845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19" idx="7"/>
            <a:endCxn id="33" idx="3"/>
          </p:cNvCxnSpPr>
          <p:nvPr/>
        </p:nvCxnSpPr>
        <p:spPr bwMode="auto">
          <a:xfrm rot="5400000" flipH="1" flipV="1">
            <a:off x="3507194" y="4345395"/>
            <a:ext cx="1139412" cy="47258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9" idx="1"/>
            <a:endCxn id="32" idx="5"/>
          </p:cNvCxnSpPr>
          <p:nvPr/>
        </p:nvCxnSpPr>
        <p:spPr bwMode="auto">
          <a:xfrm rot="16200000" flipV="1">
            <a:off x="2764145" y="4352457"/>
            <a:ext cx="1139412" cy="45845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9" idx="7"/>
            <a:endCxn id="32" idx="3"/>
          </p:cNvCxnSpPr>
          <p:nvPr/>
        </p:nvCxnSpPr>
        <p:spPr bwMode="auto">
          <a:xfrm rot="5400000" flipH="1" flipV="1">
            <a:off x="2021094" y="4345395"/>
            <a:ext cx="1139412" cy="47258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0440" y="1066800"/>
            <a:ext cx="8669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Data associated with vertices and edges</a:t>
            </a:r>
            <a:endParaRPr lang="en-US" sz="2800" dirty="0"/>
          </a:p>
        </p:txBody>
      </p:sp>
      <p:sp>
        <p:nvSpPr>
          <p:cNvPr id="62" name="Cube 61"/>
          <p:cNvSpPr/>
          <p:nvPr/>
        </p:nvSpPr>
        <p:spPr bwMode="auto">
          <a:xfrm>
            <a:off x="581941" y="23507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3581400" y="23507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64" name="Cube 63"/>
          <p:cNvSpPr/>
          <p:nvPr/>
        </p:nvSpPr>
        <p:spPr bwMode="auto">
          <a:xfrm>
            <a:off x="2768801" y="37223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65" name="Cube 64"/>
          <p:cNvSpPr/>
          <p:nvPr/>
        </p:nvSpPr>
        <p:spPr bwMode="auto">
          <a:xfrm>
            <a:off x="1295400" y="37223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94" name="Cube 93"/>
          <p:cNvSpPr/>
          <p:nvPr/>
        </p:nvSpPr>
        <p:spPr bwMode="auto">
          <a:xfrm>
            <a:off x="2057400" y="23507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97" name="Cube 96"/>
          <p:cNvSpPr/>
          <p:nvPr/>
        </p:nvSpPr>
        <p:spPr bwMode="auto">
          <a:xfrm>
            <a:off x="3553741" y="5160806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98" name="Cube 97"/>
          <p:cNvSpPr/>
          <p:nvPr/>
        </p:nvSpPr>
        <p:spPr bwMode="auto">
          <a:xfrm>
            <a:off x="2064717" y="5122706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99" name="Cube 98"/>
          <p:cNvSpPr/>
          <p:nvPr/>
        </p:nvSpPr>
        <p:spPr bwMode="auto">
          <a:xfrm>
            <a:off x="526023" y="51701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0" name="Cube 99"/>
          <p:cNvSpPr/>
          <p:nvPr/>
        </p:nvSpPr>
        <p:spPr bwMode="auto">
          <a:xfrm>
            <a:off x="4267200" y="372231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61" name="Cube 60"/>
          <p:cNvSpPr/>
          <p:nvPr/>
        </p:nvSpPr>
        <p:spPr bwMode="auto">
          <a:xfrm>
            <a:off x="1283513" y="2331058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2" name="Cube 71"/>
          <p:cNvSpPr/>
          <p:nvPr/>
        </p:nvSpPr>
        <p:spPr bwMode="auto">
          <a:xfrm>
            <a:off x="2799626" y="2314792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4" name="Cube 73"/>
          <p:cNvSpPr/>
          <p:nvPr/>
        </p:nvSpPr>
        <p:spPr bwMode="auto">
          <a:xfrm>
            <a:off x="1674486" y="308144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5" name="Cube 74"/>
          <p:cNvSpPr/>
          <p:nvPr/>
        </p:nvSpPr>
        <p:spPr bwMode="auto">
          <a:xfrm>
            <a:off x="2471782" y="308144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6" name="Cube 75"/>
          <p:cNvSpPr/>
          <p:nvPr/>
        </p:nvSpPr>
        <p:spPr bwMode="auto">
          <a:xfrm>
            <a:off x="3206501" y="308144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7" name="Cube 76"/>
          <p:cNvSpPr/>
          <p:nvPr/>
        </p:nvSpPr>
        <p:spPr bwMode="auto">
          <a:xfrm>
            <a:off x="3980734" y="3081444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8" name="Cube 77"/>
          <p:cNvSpPr/>
          <p:nvPr/>
        </p:nvSpPr>
        <p:spPr bwMode="auto">
          <a:xfrm>
            <a:off x="1661786" y="4410181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79" name="Cube 78"/>
          <p:cNvSpPr/>
          <p:nvPr/>
        </p:nvSpPr>
        <p:spPr bwMode="auto">
          <a:xfrm>
            <a:off x="2459082" y="4410181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0" name="Cube 79"/>
          <p:cNvSpPr/>
          <p:nvPr/>
        </p:nvSpPr>
        <p:spPr bwMode="auto">
          <a:xfrm>
            <a:off x="3193801" y="4410181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1" name="Cube 80"/>
          <p:cNvSpPr/>
          <p:nvPr/>
        </p:nvSpPr>
        <p:spPr bwMode="auto">
          <a:xfrm>
            <a:off x="3968034" y="4410181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6" name="Cube 85"/>
          <p:cNvSpPr/>
          <p:nvPr/>
        </p:nvSpPr>
        <p:spPr bwMode="auto">
          <a:xfrm>
            <a:off x="1283513" y="5157046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7" name="Cube 86"/>
          <p:cNvSpPr/>
          <p:nvPr/>
        </p:nvSpPr>
        <p:spPr bwMode="auto">
          <a:xfrm>
            <a:off x="2799626" y="5140780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3" name="Cube 82"/>
          <p:cNvSpPr/>
          <p:nvPr/>
        </p:nvSpPr>
        <p:spPr bwMode="auto">
          <a:xfrm>
            <a:off x="6781800" y="3372922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257800" y="3372922"/>
            <a:ext cx="3657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Vertex Data: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User profile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Current interests estimates</a:t>
            </a:r>
            <a:endParaRPr lang="en-US" sz="2000" dirty="0"/>
          </a:p>
        </p:txBody>
      </p:sp>
      <p:sp>
        <p:nvSpPr>
          <p:cNvPr id="85" name="TextBox 84"/>
          <p:cNvSpPr txBox="1"/>
          <p:nvPr/>
        </p:nvSpPr>
        <p:spPr>
          <a:xfrm>
            <a:off x="5257800" y="4702314"/>
            <a:ext cx="3581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Edge Data: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Relationship 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(friend, classmate, relative)</a:t>
            </a:r>
            <a:endParaRPr lang="en-US" sz="2000" dirty="0"/>
          </a:p>
        </p:txBody>
      </p:sp>
      <p:sp>
        <p:nvSpPr>
          <p:cNvPr id="89" name="Cube 88"/>
          <p:cNvSpPr/>
          <p:nvPr/>
        </p:nvSpPr>
        <p:spPr bwMode="auto">
          <a:xfrm>
            <a:off x="6705600" y="4696361"/>
            <a:ext cx="332459" cy="30480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257800" y="2382322"/>
            <a:ext cx="358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Graph: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 smtClean="0"/>
              <a:t> Social Network</a:t>
            </a:r>
            <a:endParaRPr lang="en-US" sz="2000" dirty="0"/>
          </a:p>
        </p:txBody>
      </p:sp>
      <p:cxnSp>
        <p:nvCxnSpPr>
          <p:cNvPr id="149" name="Straight Arrow Connector 148"/>
          <p:cNvCxnSpPr>
            <a:stCxn id="53" idx="6"/>
            <a:endCxn id="55" idx="2"/>
          </p:cNvCxnSpPr>
          <p:nvPr/>
        </p:nvCxnSpPr>
        <p:spPr bwMode="auto">
          <a:xfrm>
            <a:off x="6477000" y="2534722"/>
            <a:ext cx="457200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 bwMode="auto">
          <a:xfrm>
            <a:off x="6172200" y="2382322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55" name="Oval 54"/>
          <p:cNvSpPr/>
          <p:nvPr/>
        </p:nvSpPr>
        <p:spPr bwMode="auto">
          <a:xfrm>
            <a:off x="6934200" y="2382322"/>
            <a:ext cx="304800" cy="304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97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3" grpId="0" animBg="1"/>
      <p:bldP spid="64" grpId="0" animBg="1"/>
      <p:bldP spid="65" grpId="0" animBg="1"/>
      <p:bldP spid="94" grpId="0" animBg="1"/>
      <p:bldP spid="97" grpId="0" animBg="1"/>
      <p:bldP spid="98" grpId="0" animBg="1"/>
      <p:bldP spid="99" grpId="0" animBg="1"/>
      <p:bldP spid="100" grpId="0" animBg="1"/>
      <p:bldP spid="61" grpId="0" animBg="1"/>
      <p:bldP spid="72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6" grpId="0" animBg="1"/>
      <p:bldP spid="87" grpId="0" animBg="1"/>
      <p:bldP spid="83" grpId="0" animBg="1"/>
      <p:bldP spid="84" grpId="0"/>
      <p:bldP spid="85" grpId="0"/>
      <p:bldP spid="8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893" y="22410"/>
            <a:ext cx="8068235" cy="762000"/>
          </a:xfrm>
        </p:spPr>
        <p:txBody>
          <a:bodyPr/>
          <a:lstStyle/>
          <a:p>
            <a:r>
              <a:rPr lang="en-US" sz="3200" dirty="0" smtClean="0"/>
              <a:t>Distributed Graph</a:t>
            </a:r>
            <a:endParaRPr lang="en-US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27951" y="1297739"/>
            <a:ext cx="7993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Partition the graph across multiple machines.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26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4001158" y="3114514"/>
            <a:ext cx="2942461" cy="3001159"/>
            <a:chOff x="4001158" y="3114514"/>
            <a:chExt cx="2942461" cy="3001159"/>
          </a:xfrm>
        </p:grpSpPr>
        <p:grpSp>
          <p:nvGrpSpPr>
            <p:cNvPr id="4" name="Group 3"/>
            <p:cNvGrpSpPr/>
            <p:nvPr/>
          </p:nvGrpSpPr>
          <p:grpSpPr>
            <a:xfrm>
              <a:off x="4055108" y="3114514"/>
              <a:ext cx="2888511" cy="3001159"/>
              <a:chOff x="4055108" y="3114514"/>
              <a:chExt cx="2888511" cy="3001159"/>
            </a:xfrm>
          </p:grpSpPr>
          <p:sp>
            <p:nvSpPr>
              <p:cNvPr id="7" name="Oval 6"/>
              <p:cNvSpPr/>
              <p:nvPr/>
            </p:nvSpPr>
            <p:spPr bwMode="auto">
              <a:xfrm>
                <a:off x="4408841" y="4430895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8" name="Oval 7"/>
              <p:cNvSpPr/>
              <p:nvPr/>
            </p:nvSpPr>
            <p:spPr bwMode="auto">
              <a:xfrm>
                <a:off x="5803730" y="4430895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 bwMode="auto">
              <a:xfrm>
                <a:off x="6575222" y="5737823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 bwMode="auto">
              <a:xfrm>
                <a:off x="5130967" y="5747276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 bwMode="auto">
              <a:xfrm>
                <a:off x="6575222" y="3114514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 bwMode="auto">
              <a:xfrm>
                <a:off x="5130967" y="3123967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2" name="Straight Arrow Connector 11"/>
              <p:cNvCxnSpPr/>
              <p:nvPr/>
            </p:nvCxnSpPr>
            <p:spPr bwMode="auto">
              <a:xfrm>
                <a:off x="4055108" y="3298713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 bwMode="auto">
              <a:xfrm flipV="1">
                <a:off x="5499364" y="3298713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stCxn id="8" idx="1"/>
              </p:cNvCxnSpPr>
              <p:nvPr/>
            </p:nvCxnSpPr>
            <p:spPr bwMode="auto">
              <a:xfrm rot="16200000" flipV="1">
                <a:off x="5128331" y="3755496"/>
                <a:ext cx="1046432" cy="41226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>
                <a:stCxn id="7" idx="7"/>
              </p:cNvCxnSpPr>
              <p:nvPr/>
            </p:nvCxnSpPr>
            <p:spPr bwMode="auto">
              <a:xfrm rot="5400000" flipH="1" flipV="1">
                <a:off x="4430885" y="3730814"/>
                <a:ext cx="1046432" cy="46163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 bwMode="auto">
              <a:xfrm>
                <a:off x="4055108" y="5922023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 bwMode="auto">
              <a:xfrm flipV="1">
                <a:off x="5499364" y="5922023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endCxn id="8" idx="3"/>
              </p:cNvCxnSpPr>
              <p:nvPr/>
            </p:nvCxnSpPr>
            <p:spPr bwMode="auto">
              <a:xfrm rot="5400000" flipH="1" flipV="1">
                <a:off x="5123604" y="5067150"/>
                <a:ext cx="1055886" cy="41226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/>
              <p:cNvCxnSpPr>
                <a:endCxn id="7" idx="5"/>
              </p:cNvCxnSpPr>
              <p:nvPr/>
            </p:nvCxnSpPr>
            <p:spPr bwMode="auto">
              <a:xfrm rot="16200000" flipV="1">
                <a:off x="4426159" y="5042467"/>
                <a:ext cx="1055886" cy="46163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/>
            <p:cNvCxnSpPr/>
            <p:nvPr/>
          </p:nvCxnSpPr>
          <p:spPr bwMode="auto">
            <a:xfrm rot="16200000" flipV="1">
              <a:off x="3704032" y="3726086"/>
              <a:ext cx="1055885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 bwMode="auto">
            <a:xfrm rot="5400000" flipH="1" flipV="1">
              <a:off x="3708758" y="5047194"/>
              <a:ext cx="1046433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2242456" y="3114514"/>
            <a:ext cx="2888511" cy="3001159"/>
            <a:chOff x="2242456" y="3114514"/>
            <a:chExt cx="2888511" cy="3001159"/>
          </a:xfrm>
        </p:grpSpPr>
        <p:grpSp>
          <p:nvGrpSpPr>
            <p:cNvPr id="33" name="Group 32"/>
            <p:cNvGrpSpPr/>
            <p:nvPr/>
          </p:nvGrpSpPr>
          <p:grpSpPr>
            <a:xfrm>
              <a:off x="2242456" y="3114514"/>
              <a:ext cx="2220335" cy="3001159"/>
              <a:chOff x="2242456" y="3114514"/>
              <a:chExt cx="2220335" cy="3001159"/>
            </a:xfrm>
          </p:grpSpPr>
          <p:sp>
            <p:nvSpPr>
              <p:cNvPr id="6" name="Oval 4"/>
              <p:cNvSpPr/>
              <p:nvPr/>
            </p:nvSpPr>
            <p:spPr bwMode="auto">
              <a:xfrm>
                <a:off x="3013950" y="4430895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 bwMode="auto">
              <a:xfrm>
                <a:off x="3686711" y="5737823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 bwMode="auto">
              <a:xfrm>
                <a:off x="2242456" y="5747276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 bwMode="auto">
              <a:xfrm>
                <a:off x="3686711" y="3114514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 bwMode="auto">
              <a:xfrm>
                <a:off x="2242456" y="3123967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 bwMode="auto">
              <a:xfrm flipV="1">
                <a:off x="2610853" y="3308165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/>
              <p:cNvCxnSpPr/>
              <p:nvPr/>
            </p:nvCxnSpPr>
            <p:spPr bwMode="auto">
              <a:xfrm rot="5400000" flipH="1" flipV="1">
                <a:off x="3006587" y="3750771"/>
                <a:ext cx="1055885" cy="412265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>
                <a:stCxn id="7" idx="1"/>
              </p:cNvCxnSpPr>
              <p:nvPr/>
            </p:nvCxnSpPr>
            <p:spPr bwMode="auto">
              <a:xfrm rot="16200000" flipV="1">
                <a:off x="3704032" y="3726087"/>
                <a:ext cx="1055885" cy="46163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/>
              <p:nvPr/>
            </p:nvCxnSpPr>
            <p:spPr bwMode="auto">
              <a:xfrm flipV="1">
                <a:off x="2610853" y="5922023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/>
              <p:nvPr/>
            </p:nvCxnSpPr>
            <p:spPr bwMode="auto">
              <a:xfrm rot="16200000" flipV="1">
                <a:off x="3011314" y="5062424"/>
                <a:ext cx="1046433" cy="412265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endCxn id="7" idx="3"/>
              </p:cNvCxnSpPr>
              <p:nvPr/>
            </p:nvCxnSpPr>
            <p:spPr bwMode="auto">
              <a:xfrm rot="5400000" flipH="1" flipV="1">
                <a:off x="3708758" y="5037741"/>
                <a:ext cx="1046433" cy="46163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37" name="Straight Arrow Connector 36"/>
            <p:cNvCxnSpPr/>
            <p:nvPr/>
          </p:nvCxnSpPr>
          <p:spPr bwMode="auto">
            <a:xfrm>
              <a:off x="4055108" y="329398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 bwMode="auto">
            <a:xfrm>
              <a:off x="4055108" y="591729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44" name="Freeform 43"/>
          <p:cNvSpPr/>
          <p:nvPr/>
        </p:nvSpPr>
        <p:spPr>
          <a:xfrm>
            <a:off x="4025323" y="2875597"/>
            <a:ext cx="742855" cy="3570534"/>
          </a:xfrm>
          <a:custGeom>
            <a:avLst/>
            <a:gdLst>
              <a:gd name="connsiteX0" fmla="*/ 706914 w 742855"/>
              <a:gd name="connsiteY0" fmla="*/ 0 h 3570534"/>
              <a:gd name="connsiteX1" fmla="*/ 74 w 742855"/>
              <a:gd name="connsiteY1" fmla="*/ 1641487 h 3570534"/>
              <a:gd name="connsiteX2" fmla="*/ 742855 w 742855"/>
              <a:gd name="connsiteY2" fmla="*/ 3570534 h 357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2855" h="3570534">
                <a:moveTo>
                  <a:pt x="706914" y="0"/>
                </a:moveTo>
                <a:cubicBezTo>
                  <a:pt x="350499" y="523199"/>
                  <a:pt x="-5916" y="1046398"/>
                  <a:pt x="74" y="1641487"/>
                </a:cubicBezTo>
                <a:cubicBezTo>
                  <a:pt x="6064" y="2236576"/>
                  <a:pt x="742855" y="3570534"/>
                  <a:pt x="742855" y="3570534"/>
                </a:cubicBezTo>
              </a:path>
            </a:pathLst>
          </a:custGeom>
          <a:ln w="571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15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97742E-6 -4.29465E-6 L -0.1966 -4.29465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83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63703E-6 -4.29465E-6 L 0.13754 -4.29465E-6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893" y="22410"/>
            <a:ext cx="8068235" cy="762000"/>
          </a:xfrm>
        </p:spPr>
        <p:txBody>
          <a:bodyPr/>
          <a:lstStyle/>
          <a:p>
            <a:r>
              <a:rPr lang="en-US" sz="3200" dirty="0" smtClean="0"/>
              <a:t>Distributed Graph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1704582"/>
          </a:xfrm>
        </p:spPr>
        <p:txBody>
          <a:bodyPr/>
          <a:lstStyle/>
          <a:p>
            <a:r>
              <a:rPr lang="en-US" sz="3200" dirty="0" smtClean="0"/>
              <a:t>Ghost vertices maintain adjacency structure and replicate remote data.</a:t>
            </a:r>
            <a:endParaRPr lang="en-US" sz="3200" dirty="0"/>
          </a:p>
        </p:txBody>
      </p:sp>
      <p:sp>
        <p:nvSpPr>
          <p:cNvPr id="6" name="Oval 4"/>
          <p:cNvSpPr/>
          <p:nvPr/>
        </p:nvSpPr>
        <p:spPr bwMode="auto">
          <a:xfrm>
            <a:off x="1210294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1883055" y="5737823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438800" y="5747276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1883055" y="3114514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438800" y="3123967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807197" y="3308165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 bwMode="auto">
          <a:xfrm rot="5400000" flipH="1" flipV="1">
            <a:off x="1202931" y="3750771"/>
            <a:ext cx="1055885" cy="41226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 bwMode="auto">
          <a:xfrm rot="16200000" flipV="1">
            <a:off x="1900376" y="3726087"/>
            <a:ext cx="1055885" cy="46163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 bwMode="auto">
          <a:xfrm flipV="1">
            <a:off x="807197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rot="16200000" flipV="1">
            <a:off x="1207658" y="5062424"/>
            <a:ext cx="1046433" cy="41226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 bwMode="auto">
          <a:xfrm rot="5400000" flipH="1" flipV="1">
            <a:off x="1905102" y="5037741"/>
            <a:ext cx="1046433" cy="46163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5661676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7056565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7828057" y="5737823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6383802" y="5747276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7828057" y="3114514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1" name="Oval 40"/>
          <p:cNvSpPr/>
          <p:nvPr/>
        </p:nvSpPr>
        <p:spPr bwMode="auto">
          <a:xfrm>
            <a:off x="6383802" y="3123967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5307943" y="329871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 bwMode="auto">
          <a:xfrm flipV="1">
            <a:off x="6752199" y="329871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7" idx="1"/>
          </p:cNvCxnSpPr>
          <p:nvPr/>
        </p:nvCxnSpPr>
        <p:spPr bwMode="auto">
          <a:xfrm rot="16200000" flipV="1">
            <a:off x="6381166" y="3755496"/>
            <a:ext cx="1046432" cy="41226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6" idx="7"/>
          </p:cNvCxnSpPr>
          <p:nvPr/>
        </p:nvCxnSpPr>
        <p:spPr bwMode="auto">
          <a:xfrm rot="5400000" flipH="1" flipV="1">
            <a:off x="5683720" y="3730814"/>
            <a:ext cx="1046432" cy="46163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 bwMode="auto">
          <a:xfrm>
            <a:off x="5307943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 bwMode="auto">
          <a:xfrm flipV="1">
            <a:off x="6752199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7" idx="3"/>
          </p:cNvCxnSpPr>
          <p:nvPr/>
        </p:nvCxnSpPr>
        <p:spPr bwMode="auto">
          <a:xfrm rot="5400000" flipH="1" flipV="1">
            <a:off x="6376439" y="5067150"/>
            <a:ext cx="1055886" cy="41226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6" idx="5"/>
          </p:cNvCxnSpPr>
          <p:nvPr/>
        </p:nvCxnSpPr>
        <p:spPr bwMode="auto">
          <a:xfrm rot="16200000" flipV="1">
            <a:off x="5678994" y="5042467"/>
            <a:ext cx="1055886" cy="46163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2251452" y="3119240"/>
            <a:ext cx="1444256" cy="3005887"/>
            <a:chOff x="2347292" y="3119240"/>
            <a:chExt cx="1444256" cy="300588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" name="Oval 29"/>
            <p:cNvSpPr/>
            <p:nvPr/>
          </p:nvSpPr>
          <p:spPr bwMode="auto">
            <a:xfrm>
              <a:off x="2570776" y="4430895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423151" y="3119240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 bwMode="auto">
            <a:xfrm>
              <a:off x="2347292" y="329398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 bwMode="auto">
            <a:xfrm>
              <a:off x="3423151" y="5756730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 bwMode="auto">
            <a:xfrm>
              <a:off x="2347292" y="593147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4939546" y="3123968"/>
            <a:ext cx="776080" cy="2991706"/>
            <a:chOff x="4903606" y="3123968"/>
            <a:chExt cx="776080" cy="2991706"/>
          </a:xfrm>
        </p:grpSpPr>
        <p:sp>
          <p:nvSpPr>
            <p:cNvPr id="52" name="Oval 51"/>
            <p:cNvSpPr/>
            <p:nvPr/>
          </p:nvSpPr>
          <p:spPr bwMode="auto">
            <a:xfrm>
              <a:off x="4903606" y="5747277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4903606" y="3123968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 bwMode="auto">
            <a:xfrm rot="16200000" flipV="1">
              <a:off x="4920927" y="3735541"/>
              <a:ext cx="1055885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 bwMode="auto">
            <a:xfrm rot="5400000" flipH="1" flipV="1">
              <a:off x="4925653" y="5047195"/>
              <a:ext cx="1046433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3056844" y="4353999"/>
            <a:ext cx="235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“ghost” vertices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708545" y="3126496"/>
            <a:ext cx="4008949" cy="2982060"/>
            <a:chOff x="2708545" y="3126496"/>
            <a:chExt cx="4008949" cy="2982060"/>
          </a:xfrm>
        </p:grpSpPr>
        <p:grpSp>
          <p:nvGrpSpPr>
            <p:cNvPr id="13" name="Group 12"/>
            <p:cNvGrpSpPr/>
            <p:nvPr/>
          </p:nvGrpSpPr>
          <p:grpSpPr>
            <a:xfrm>
              <a:off x="2891572" y="3173189"/>
              <a:ext cx="3534007" cy="2935367"/>
              <a:chOff x="2891572" y="3173189"/>
              <a:chExt cx="3534007" cy="2935367"/>
            </a:xfrm>
          </p:grpSpPr>
          <p:cxnSp>
            <p:nvCxnSpPr>
              <p:cNvPr id="58" name="Curved Connector 57"/>
              <p:cNvCxnSpPr/>
              <p:nvPr/>
            </p:nvCxnSpPr>
            <p:spPr bwMode="auto">
              <a:xfrm rot="16200000" flipH="1">
                <a:off x="5067341" y="1843446"/>
                <a:ext cx="4727" cy="2664214"/>
              </a:xfrm>
              <a:prstGeom prst="curvedConnector3">
                <a:avLst>
                  <a:gd name="adj1" fmla="val -13186376"/>
                </a:avLst>
              </a:prstGeom>
              <a:noFill/>
              <a:ln w="38100" cap="flat" cmpd="sng" algn="ctr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" name="Curved Connector 58"/>
              <p:cNvCxnSpPr/>
              <p:nvPr/>
            </p:nvCxnSpPr>
            <p:spPr bwMode="auto">
              <a:xfrm rot="5400000" flipH="1" flipV="1">
                <a:off x="4282454" y="3087614"/>
                <a:ext cx="12700" cy="2794463"/>
              </a:xfrm>
              <a:prstGeom prst="curvedConnector3">
                <a:avLst>
                  <a:gd name="adj1" fmla="val 3078559"/>
                </a:avLst>
              </a:prstGeom>
              <a:noFill/>
              <a:ln w="38100" cap="flat" cmpd="sng" algn="ctr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" name="Curved Connector 59"/>
              <p:cNvCxnSpPr/>
              <p:nvPr/>
            </p:nvCxnSpPr>
            <p:spPr bwMode="auto">
              <a:xfrm rot="16200000" flipH="1">
                <a:off x="5088745" y="4771722"/>
                <a:ext cx="9454" cy="2664214"/>
              </a:xfrm>
              <a:prstGeom prst="curvedConnector3">
                <a:avLst>
                  <a:gd name="adj1" fmla="val 4890935"/>
                </a:avLst>
              </a:prstGeom>
              <a:noFill/>
              <a:ln w="38100" cap="flat" cmpd="sng" algn="ctr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" name="Group 9"/>
            <p:cNvGrpSpPr/>
            <p:nvPr/>
          </p:nvGrpSpPr>
          <p:grpSpPr>
            <a:xfrm>
              <a:off x="5686036" y="3126496"/>
              <a:ext cx="1031458" cy="2916127"/>
              <a:chOff x="5686036" y="3126496"/>
              <a:chExt cx="1031458" cy="2916127"/>
            </a:xfrm>
          </p:grpSpPr>
          <p:sp>
            <p:nvSpPr>
              <p:cNvPr id="61" name="Cube 60"/>
              <p:cNvSpPr/>
              <p:nvPr/>
            </p:nvSpPr>
            <p:spPr bwMode="auto">
              <a:xfrm>
                <a:off x="5686036" y="4430895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  <p:sp>
            <p:nvSpPr>
              <p:cNvPr id="62" name="Cube 61"/>
              <p:cNvSpPr/>
              <p:nvPr/>
            </p:nvSpPr>
            <p:spPr bwMode="auto">
              <a:xfrm>
                <a:off x="6376180" y="3126496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  <p:sp>
            <p:nvSpPr>
              <p:cNvPr id="63" name="Cube 62"/>
              <p:cNvSpPr/>
              <p:nvPr/>
            </p:nvSpPr>
            <p:spPr bwMode="auto">
              <a:xfrm>
                <a:off x="6385035" y="5737823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2708545" y="3180447"/>
              <a:ext cx="1031458" cy="2916127"/>
              <a:chOff x="2708545" y="3180447"/>
              <a:chExt cx="1031458" cy="2916127"/>
            </a:xfrm>
          </p:grpSpPr>
          <p:sp>
            <p:nvSpPr>
              <p:cNvPr id="64" name="Cube 63"/>
              <p:cNvSpPr/>
              <p:nvPr/>
            </p:nvSpPr>
            <p:spPr bwMode="auto">
              <a:xfrm>
                <a:off x="2708545" y="4484846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  <p:sp>
            <p:nvSpPr>
              <p:cNvPr id="65" name="Cube 64"/>
              <p:cNvSpPr/>
              <p:nvPr/>
            </p:nvSpPr>
            <p:spPr bwMode="auto">
              <a:xfrm>
                <a:off x="3398689" y="3180447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  <p:sp>
            <p:nvSpPr>
              <p:cNvPr id="66" name="Cube 65"/>
              <p:cNvSpPr/>
              <p:nvPr/>
            </p:nvSpPr>
            <p:spPr bwMode="auto">
              <a:xfrm>
                <a:off x="3407544" y="579177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ea typeface="ＭＳ Ｐゴシック" pitchFamily="-111" charset="-128"/>
                </a:endParaRPr>
              </a:p>
            </p:txBody>
          </p:sp>
        </p:grpSp>
      </p:grpSp>
      <p:grpSp>
        <p:nvGrpSpPr>
          <p:cNvPr id="15" name="Group 14"/>
          <p:cNvGrpSpPr/>
          <p:nvPr/>
        </p:nvGrpSpPr>
        <p:grpSpPr>
          <a:xfrm>
            <a:off x="2005978" y="3138478"/>
            <a:ext cx="3266025" cy="2931978"/>
            <a:chOff x="2005978" y="3138478"/>
            <a:chExt cx="3266025" cy="2931978"/>
          </a:xfrm>
        </p:grpSpPr>
        <p:sp>
          <p:nvSpPr>
            <p:cNvPr id="67" name="Cube 66"/>
            <p:cNvSpPr/>
            <p:nvPr/>
          </p:nvSpPr>
          <p:spPr bwMode="auto">
            <a:xfrm>
              <a:off x="2005978" y="3138478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68" name="Cube 67"/>
            <p:cNvSpPr/>
            <p:nvPr/>
          </p:nvSpPr>
          <p:spPr bwMode="auto">
            <a:xfrm>
              <a:off x="2014833" y="5749805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69" name="Cube 68"/>
            <p:cNvSpPr/>
            <p:nvPr/>
          </p:nvSpPr>
          <p:spPr bwMode="auto">
            <a:xfrm>
              <a:off x="4930689" y="3154329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70" name="Cube 69"/>
            <p:cNvSpPr/>
            <p:nvPr/>
          </p:nvSpPr>
          <p:spPr bwMode="auto">
            <a:xfrm>
              <a:off x="4939544" y="5765656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cxnSp>
          <p:nvCxnSpPr>
            <p:cNvPr id="71" name="Curved Connector 70"/>
            <p:cNvCxnSpPr/>
            <p:nvPr/>
          </p:nvCxnSpPr>
          <p:spPr bwMode="auto">
            <a:xfrm rot="16200000" flipH="1">
              <a:off x="3677037" y="1959514"/>
              <a:ext cx="4727" cy="2664214"/>
            </a:xfrm>
            <a:prstGeom prst="curvedConnector3">
              <a:avLst>
                <a:gd name="adj1" fmla="val -13186376"/>
              </a:avLst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Curved Connector 71"/>
            <p:cNvCxnSpPr/>
            <p:nvPr/>
          </p:nvCxnSpPr>
          <p:spPr bwMode="auto">
            <a:xfrm rot="16200000" flipH="1">
              <a:off x="3566772" y="4705789"/>
              <a:ext cx="9454" cy="2664214"/>
            </a:xfrm>
            <a:prstGeom prst="curvedConnector3">
              <a:avLst>
                <a:gd name="adj1" fmla="val 4890935"/>
              </a:avLst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605299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893" y="22410"/>
            <a:ext cx="8068235" cy="762000"/>
          </a:xfrm>
        </p:spPr>
        <p:txBody>
          <a:bodyPr/>
          <a:lstStyle/>
          <a:p>
            <a:r>
              <a:rPr lang="en-US" sz="3200" dirty="0" smtClean="0"/>
              <a:t>Distributed Graph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1704582"/>
          </a:xfrm>
        </p:spPr>
        <p:txBody>
          <a:bodyPr/>
          <a:lstStyle/>
          <a:p>
            <a:r>
              <a:rPr lang="en-US" sz="3200" dirty="0" smtClean="0"/>
              <a:t>Cut </a:t>
            </a:r>
            <a:r>
              <a:rPr lang="en-US" sz="3200" dirty="0"/>
              <a:t>efficiently using HPC Graph partitioning tools (</a:t>
            </a:r>
            <a:r>
              <a:rPr lang="en-US" sz="3200" dirty="0" err="1"/>
              <a:t>ParMetis</a:t>
            </a:r>
            <a:r>
              <a:rPr lang="en-US" sz="3200" dirty="0"/>
              <a:t> / </a:t>
            </a:r>
            <a:r>
              <a:rPr lang="en-US" sz="3200" dirty="0" smtClean="0"/>
              <a:t>Scotch / …)</a:t>
            </a:r>
            <a:endParaRPr lang="en-US" sz="3200" dirty="0"/>
          </a:p>
        </p:txBody>
      </p:sp>
      <p:sp>
        <p:nvSpPr>
          <p:cNvPr id="6" name="Oval 4"/>
          <p:cNvSpPr/>
          <p:nvPr/>
        </p:nvSpPr>
        <p:spPr bwMode="auto">
          <a:xfrm>
            <a:off x="1210294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1" name="Oval 30"/>
          <p:cNvSpPr/>
          <p:nvPr/>
        </p:nvSpPr>
        <p:spPr bwMode="auto">
          <a:xfrm>
            <a:off x="1883055" y="5737823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Oval 31"/>
          <p:cNvSpPr/>
          <p:nvPr/>
        </p:nvSpPr>
        <p:spPr bwMode="auto">
          <a:xfrm>
            <a:off x="438800" y="5747276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7" name="Oval 26"/>
          <p:cNvSpPr/>
          <p:nvPr/>
        </p:nvSpPr>
        <p:spPr bwMode="auto">
          <a:xfrm>
            <a:off x="1883055" y="3114514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8" name="Oval 27"/>
          <p:cNvSpPr/>
          <p:nvPr/>
        </p:nvSpPr>
        <p:spPr bwMode="auto">
          <a:xfrm>
            <a:off x="438800" y="3123967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V="1">
            <a:off x="807197" y="3308165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 bwMode="auto">
          <a:xfrm rot="5400000" flipH="1" flipV="1">
            <a:off x="1202931" y="3750771"/>
            <a:ext cx="1055885" cy="41226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 bwMode="auto">
          <a:xfrm rot="16200000" flipV="1">
            <a:off x="1900376" y="3726087"/>
            <a:ext cx="1055885" cy="46163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 bwMode="auto">
          <a:xfrm flipV="1">
            <a:off x="807197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 bwMode="auto">
          <a:xfrm rot="16200000" flipV="1">
            <a:off x="1207658" y="5062424"/>
            <a:ext cx="1046433" cy="41226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 bwMode="auto">
          <a:xfrm rot="5400000" flipH="1" flipV="1">
            <a:off x="1905102" y="5037741"/>
            <a:ext cx="1046433" cy="46163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 bwMode="auto">
          <a:xfrm>
            <a:off x="5661676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7" name="Oval 36"/>
          <p:cNvSpPr/>
          <p:nvPr/>
        </p:nvSpPr>
        <p:spPr bwMode="auto">
          <a:xfrm>
            <a:off x="7056565" y="4430895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Oval 37"/>
          <p:cNvSpPr/>
          <p:nvPr/>
        </p:nvSpPr>
        <p:spPr bwMode="auto">
          <a:xfrm>
            <a:off x="7828057" y="5737823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9" name="Oval 38"/>
          <p:cNvSpPr/>
          <p:nvPr/>
        </p:nvSpPr>
        <p:spPr bwMode="auto">
          <a:xfrm>
            <a:off x="6383802" y="5747276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0" name="Oval 39"/>
          <p:cNvSpPr/>
          <p:nvPr/>
        </p:nvSpPr>
        <p:spPr bwMode="auto">
          <a:xfrm>
            <a:off x="7828057" y="3114514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1" name="Oval 40"/>
          <p:cNvSpPr/>
          <p:nvPr/>
        </p:nvSpPr>
        <p:spPr bwMode="auto">
          <a:xfrm>
            <a:off x="6383802" y="3123967"/>
            <a:ext cx="368397" cy="3683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42" name="Straight Arrow Connector 41"/>
          <p:cNvCxnSpPr/>
          <p:nvPr/>
        </p:nvCxnSpPr>
        <p:spPr bwMode="auto">
          <a:xfrm>
            <a:off x="5307943" y="329871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 bwMode="auto">
          <a:xfrm flipV="1">
            <a:off x="6752199" y="329871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37" idx="1"/>
          </p:cNvCxnSpPr>
          <p:nvPr/>
        </p:nvCxnSpPr>
        <p:spPr bwMode="auto">
          <a:xfrm rot="16200000" flipV="1">
            <a:off x="6381166" y="3755496"/>
            <a:ext cx="1046432" cy="41226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36" idx="7"/>
          </p:cNvCxnSpPr>
          <p:nvPr/>
        </p:nvCxnSpPr>
        <p:spPr bwMode="auto">
          <a:xfrm rot="5400000" flipH="1" flipV="1">
            <a:off x="5683720" y="3730814"/>
            <a:ext cx="1046432" cy="46163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 bwMode="auto">
          <a:xfrm>
            <a:off x="5307943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 bwMode="auto">
          <a:xfrm flipV="1">
            <a:off x="6752199" y="5922023"/>
            <a:ext cx="1075859" cy="945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7" idx="3"/>
          </p:cNvCxnSpPr>
          <p:nvPr/>
        </p:nvCxnSpPr>
        <p:spPr bwMode="auto">
          <a:xfrm rot="5400000" flipH="1" flipV="1">
            <a:off x="6376439" y="5067150"/>
            <a:ext cx="1055886" cy="41226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36" idx="5"/>
          </p:cNvCxnSpPr>
          <p:nvPr/>
        </p:nvCxnSpPr>
        <p:spPr bwMode="auto">
          <a:xfrm rot="16200000" flipV="1">
            <a:off x="5678994" y="5042467"/>
            <a:ext cx="1055886" cy="46163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2251452" y="3119240"/>
            <a:ext cx="1444256" cy="3005887"/>
            <a:chOff x="2347292" y="3119240"/>
            <a:chExt cx="1444256" cy="300588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0" name="Oval 29"/>
            <p:cNvSpPr/>
            <p:nvPr/>
          </p:nvSpPr>
          <p:spPr bwMode="auto">
            <a:xfrm>
              <a:off x="2570776" y="4430895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3" name="Oval 32"/>
            <p:cNvSpPr/>
            <p:nvPr/>
          </p:nvSpPr>
          <p:spPr bwMode="auto">
            <a:xfrm>
              <a:off x="3423151" y="3119240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34" name="Straight Arrow Connector 33"/>
            <p:cNvCxnSpPr/>
            <p:nvPr/>
          </p:nvCxnSpPr>
          <p:spPr bwMode="auto">
            <a:xfrm>
              <a:off x="2347292" y="329398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50" name="Oval 49"/>
            <p:cNvSpPr/>
            <p:nvPr/>
          </p:nvSpPr>
          <p:spPr bwMode="auto">
            <a:xfrm>
              <a:off x="3423151" y="5756730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51" name="Straight Arrow Connector 50"/>
            <p:cNvCxnSpPr/>
            <p:nvPr/>
          </p:nvCxnSpPr>
          <p:spPr bwMode="auto">
            <a:xfrm>
              <a:off x="2347292" y="5931476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4939546" y="3123968"/>
            <a:ext cx="776080" cy="2991706"/>
            <a:chOff x="4903606" y="3123968"/>
            <a:chExt cx="776080" cy="2991706"/>
          </a:xfrm>
        </p:grpSpPr>
        <p:sp>
          <p:nvSpPr>
            <p:cNvPr id="52" name="Oval 51"/>
            <p:cNvSpPr/>
            <p:nvPr/>
          </p:nvSpPr>
          <p:spPr bwMode="auto">
            <a:xfrm>
              <a:off x="4903606" y="5747277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4903606" y="3123968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54" name="Straight Arrow Connector 53"/>
            <p:cNvCxnSpPr/>
            <p:nvPr/>
          </p:nvCxnSpPr>
          <p:spPr bwMode="auto">
            <a:xfrm rot="16200000" flipV="1">
              <a:off x="4920927" y="3735541"/>
              <a:ext cx="1055885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 bwMode="auto">
            <a:xfrm rot="5400000" flipH="1" flipV="1">
              <a:off x="4925653" y="5047195"/>
              <a:ext cx="1046433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3056844" y="4353999"/>
            <a:ext cx="23518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“ghost” vertices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015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GraphLab</a:t>
            </a:r>
            <a:r>
              <a:rPr lang="en-US" dirty="0" smtClean="0"/>
              <a:t> Framework</a:t>
            </a:r>
            <a:endParaRPr lang="en-US" dirty="0"/>
          </a:p>
        </p:txBody>
      </p:sp>
      <p:grpSp>
        <p:nvGrpSpPr>
          <p:cNvPr id="8" name="Group 269"/>
          <p:cNvGrpSpPr/>
          <p:nvPr/>
        </p:nvGrpSpPr>
        <p:grpSpPr>
          <a:xfrm>
            <a:off x="2722450" y="4495800"/>
            <a:ext cx="3851499" cy="1869662"/>
            <a:chOff x="4495800" y="4267200"/>
            <a:chExt cx="3851499" cy="1869662"/>
          </a:xfrm>
        </p:grpSpPr>
        <p:sp>
          <p:nvSpPr>
            <p:cNvPr id="17" name="TextBox 16"/>
            <p:cNvSpPr txBox="1"/>
            <p:nvPr/>
          </p:nvSpPr>
          <p:spPr>
            <a:xfrm>
              <a:off x="4953000" y="4267200"/>
              <a:ext cx="2942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Consistency Model</a:t>
              </a:r>
              <a:endParaRPr lang="en-US" sz="2800" dirty="0"/>
            </a:p>
          </p:txBody>
        </p:sp>
        <p:grpSp>
          <p:nvGrpSpPr>
            <p:cNvPr id="9" name="Group 123"/>
            <p:cNvGrpSpPr/>
            <p:nvPr/>
          </p:nvGrpSpPr>
          <p:grpSpPr>
            <a:xfrm>
              <a:off x="4495800" y="4876800"/>
              <a:ext cx="3851499" cy="1260062"/>
              <a:chOff x="2905452" y="3733800"/>
              <a:chExt cx="8384848" cy="2743200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4584700" y="3733800"/>
                <a:ext cx="5029200" cy="27432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5727700" y="4114800"/>
                <a:ext cx="2895600" cy="2133600"/>
              </a:xfrm>
              <a:prstGeom prst="ellipse">
                <a:avLst/>
              </a:prstGeom>
              <a:ln>
                <a:prstDash val="dash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94475" y="4457700"/>
                <a:ext cx="1143000" cy="1600200"/>
              </a:xfrm>
              <a:prstGeom prst="ellipse">
                <a:avLst/>
              </a:prstGeom>
              <a:ln>
                <a:prstDash val="sysDot"/>
                <a:tailEnd type="non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6823075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68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Oval 6"/>
              <p:cNvSpPr/>
              <p:nvPr/>
            </p:nvSpPr>
            <p:spPr>
              <a:xfrm>
                <a:off x="487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Curved Connector 102"/>
              <p:cNvCxnSpPr>
                <a:stCxn id="98" idx="2"/>
                <a:endCxn id="100" idx="6"/>
              </p:cNvCxnSpPr>
              <p:nvPr/>
            </p:nvCxnSpPr>
            <p:spPr>
              <a:xfrm rot="10800000">
                <a:off x="5639129" y="5295904"/>
                <a:ext cx="1183948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4" name="Cube 103"/>
              <p:cNvSpPr/>
              <p:nvPr/>
            </p:nvSpPr>
            <p:spPr>
              <a:xfrm>
                <a:off x="6116818" y="5096450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7" name="Cube 106"/>
              <p:cNvSpPr/>
              <p:nvPr/>
            </p:nvSpPr>
            <p:spPr>
              <a:xfrm>
                <a:off x="889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8" name="Cube 107"/>
              <p:cNvSpPr/>
              <p:nvPr/>
            </p:nvSpPr>
            <p:spPr>
              <a:xfrm>
                <a:off x="70361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9" name="Cube 108"/>
              <p:cNvSpPr/>
              <p:nvPr/>
            </p:nvSpPr>
            <p:spPr>
              <a:xfrm>
                <a:off x="508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0" name="Curved Connector 109"/>
              <p:cNvCxnSpPr>
                <a:stCxn id="99" idx="2"/>
                <a:endCxn id="98" idx="6"/>
              </p:cNvCxnSpPr>
              <p:nvPr/>
            </p:nvCxnSpPr>
            <p:spPr>
              <a:xfrm rot="10800000" flipV="1">
                <a:off x="7585074" y="5295899"/>
                <a:ext cx="1102054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1" name="Cube 110"/>
              <p:cNvSpPr/>
              <p:nvPr/>
            </p:nvSpPr>
            <p:spPr>
              <a:xfrm>
                <a:off x="7937827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0528300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Cube 114"/>
              <p:cNvSpPr/>
              <p:nvPr/>
            </p:nvSpPr>
            <p:spPr>
              <a:xfrm>
                <a:off x="10731500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6" name="Curved Connector 115"/>
              <p:cNvCxnSpPr>
                <a:stCxn id="112" idx="2"/>
                <a:endCxn id="99" idx="6"/>
              </p:cNvCxnSpPr>
              <p:nvPr/>
            </p:nvCxnSpPr>
            <p:spPr>
              <a:xfrm rot="10800000">
                <a:off x="9449127" y="5295902"/>
                <a:ext cx="1079174" cy="3457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7" name="Cube 116"/>
              <p:cNvSpPr/>
              <p:nvPr/>
            </p:nvSpPr>
            <p:spPr>
              <a:xfrm>
                <a:off x="9779000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905452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0" name="Curved Connector 119"/>
              <p:cNvCxnSpPr>
                <a:stCxn id="100" idx="2"/>
                <a:endCxn id="118" idx="6"/>
              </p:cNvCxnSpPr>
              <p:nvPr/>
            </p:nvCxnSpPr>
            <p:spPr>
              <a:xfrm rot="10800000" flipV="1">
                <a:off x="3667453" y="5295899"/>
                <a:ext cx="1209676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1" name="Cube 120"/>
              <p:cNvSpPr/>
              <p:nvPr/>
            </p:nvSpPr>
            <p:spPr>
              <a:xfrm>
                <a:off x="4061153" y="5105398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3" name="Cube 122"/>
              <p:cNvSpPr/>
              <p:nvPr/>
            </p:nvSpPr>
            <p:spPr>
              <a:xfrm>
                <a:off x="3108652" y="5114925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0" name="Group 4"/>
          <p:cNvGrpSpPr/>
          <p:nvPr/>
        </p:nvGrpSpPr>
        <p:grpSpPr>
          <a:xfrm>
            <a:off x="609600" y="1219200"/>
            <a:ext cx="3581400" cy="2835405"/>
            <a:chOff x="381000" y="1219200"/>
            <a:chExt cx="3581400" cy="2835405"/>
          </a:xfrm>
        </p:grpSpPr>
        <p:sp>
          <p:nvSpPr>
            <p:cNvPr id="7" name="TextBox 6"/>
            <p:cNvSpPr txBox="1"/>
            <p:nvPr/>
          </p:nvSpPr>
          <p:spPr>
            <a:xfrm>
              <a:off x="381000" y="1219200"/>
              <a:ext cx="3581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Graph Based</a:t>
              </a:r>
            </a:p>
            <a:p>
              <a:pPr algn="ctr"/>
              <a:r>
                <a:rPr lang="en-US" sz="2800" i="1" dirty="0" smtClean="0"/>
                <a:t>Data Representation</a:t>
              </a:r>
              <a:endParaRPr lang="en-US" sz="2800" i="1" dirty="0"/>
            </a:p>
          </p:txBody>
        </p:sp>
        <p:grpSp>
          <p:nvGrpSpPr>
            <p:cNvPr id="11" name="Group 206"/>
            <p:cNvGrpSpPr/>
            <p:nvPr/>
          </p:nvGrpSpPr>
          <p:grpSpPr>
            <a:xfrm>
              <a:off x="1143000" y="2362200"/>
              <a:ext cx="2172054" cy="1692405"/>
              <a:chOff x="457200" y="2895600"/>
              <a:chExt cx="4122177" cy="3211886"/>
            </a:xfrm>
          </p:grpSpPr>
          <p:cxnSp>
            <p:nvCxnSpPr>
              <p:cNvPr id="210" name="Straight Arrow Connector 209"/>
              <p:cNvCxnSpPr>
                <a:stCxn id="216" idx="6"/>
                <a:endCxn id="217" idx="2"/>
              </p:cNvCxnSpPr>
              <p:nvPr/>
            </p:nvCxnSpPr>
            <p:spPr bwMode="auto">
              <a:xfrm>
                <a:off x="857063" y="30918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>
                <a:stCxn id="217" idx="6"/>
                <a:endCxn id="218" idx="2"/>
              </p:cNvCxnSpPr>
              <p:nvPr/>
            </p:nvCxnSpPr>
            <p:spPr bwMode="auto">
              <a:xfrm>
                <a:off x="2343164" y="30918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>
                <a:stCxn id="222" idx="7"/>
                <a:endCxn id="217" idx="3"/>
              </p:cNvCxnSpPr>
              <p:nvPr/>
            </p:nvCxnSpPr>
            <p:spPr bwMode="auto">
              <a:xfrm rot="5400000" flipH="1" flipV="1">
                <a:off x="1216463" y="3563843"/>
                <a:ext cx="1124928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>
                <a:stCxn id="224" idx="1"/>
                <a:endCxn id="218" idx="5"/>
              </p:cNvCxnSpPr>
              <p:nvPr/>
            </p:nvCxnSpPr>
            <p:spPr bwMode="auto">
              <a:xfrm rot="16200000" flipV="1">
                <a:off x="34456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>
                <a:stCxn id="223" idx="7"/>
                <a:endCxn id="218" idx="3"/>
              </p:cNvCxnSpPr>
              <p:nvPr/>
            </p:nvCxnSpPr>
            <p:spPr bwMode="auto">
              <a:xfrm rot="5400000" flipH="1" flipV="1">
                <a:off x="2702563" y="3563844"/>
                <a:ext cx="1124928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>
                <a:stCxn id="223" idx="1"/>
                <a:endCxn id="217" idx="5"/>
              </p:cNvCxnSpPr>
              <p:nvPr/>
            </p:nvCxnSpPr>
            <p:spPr bwMode="auto">
              <a:xfrm rot="16200000" flipV="1">
                <a:off x="19595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16" name="Oval 4"/>
              <p:cNvSpPr/>
              <p:nvPr/>
            </p:nvSpPr>
            <p:spPr bwMode="auto">
              <a:xfrm>
                <a:off x="464577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7" name="Oval 216"/>
              <p:cNvSpPr/>
              <p:nvPr/>
            </p:nvSpPr>
            <p:spPr bwMode="auto">
              <a:xfrm>
                <a:off x="19506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8" name="Oval 217"/>
              <p:cNvSpPr/>
              <p:nvPr/>
            </p:nvSpPr>
            <p:spPr bwMode="auto">
              <a:xfrm>
                <a:off x="34367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9" name="Oval 4"/>
              <p:cNvSpPr/>
              <p:nvPr/>
            </p:nvSpPr>
            <p:spPr bwMode="auto">
              <a:xfrm>
                <a:off x="464577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0" name="Oval 219"/>
              <p:cNvSpPr/>
              <p:nvPr/>
            </p:nvSpPr>
            <p:spPr bwMode="auto">
              <a:xfrm>
                <a:off x="19506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1" name="Oval 220"/>
              <p:cNvSpPr/>
              <p:nvPr/>
            </p:nvSpPr>
            <p:spPr bwMode="auto">
              <a:xfrm>
                <a:off x="34367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2" name="Oval 4"/>
              <p:cNvSpPr/>
              <p:nvPr/>
            </p:nvSpPr>
            <p:spPr bwMode="auto">
              <a:xfrm>
                <a:off x="1214690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 bwMode="auto">
              <a:xfrm>
                <a:off x="27007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4" name="Oval 223"/>
              <p:cNvSpPr/>
              <p:nvPr/>
            </p:nvSpPr>
            <p:spPr bwMode="auto">
              <a:xfrm>
                <a:off x="41868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225" name="Straight Arrow Connector 224"/>
              <p:cNvCxnSpPr>
                <a:stCxn id="219" idx="6"/>
                <a:endCxn id="220" idx="2"/>
              </p:cNvCxnSpPr>
              <p:nvPr/>
            </p:nvCxnSpPr>
            <p:spPr bwMode="auto">
              <a:xfrm>
                <a:off x="857063" y="59112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/>
              <p:cNvCxnSpPr>
                <a:stCxn id="220" idx="6"/>
                <a:endCxn id="221" idx="2"/>
              </p:cNvCxnSpPr>
              <p:nvPr/>
            </p:nvCxnSpPr>
            <p:spPr bwMode="auto">
              <a:xfrm>
                <a:off x="2343164" y="59112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/>
              <p:cNvCxnSpPr>
                <a:stCxn id="220" idx="1"/>
                <a:endCxn id="222" idx="5"/>
              </p:cNvCxnSpPr>
              <p:nvPr/>
            </p:nvCxnSpPr>
            <p:spPr bwMode="auto">
              <a:xfrm rot="16200000" flipV="1">
                <a:off x="1209221" y="4973543"/>
                <a:ext cx="1139412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/>
              <p:cNvCxnSpPr>
                <a:stCxn id="221" idx="7"/>
                <a:endCxn id="224" idx="3"/>
              </p:cNvCxnSpPr>
              <p:nvPr/>
            </p:nvCxnSpPr>
            <p:spPr bwMode="auto">
              <a:xfrm rot="5400000" flipH="1" flipV="1">
                <a:off x="34383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/>
              <p:cNvCxnSpPr>
                <a:stCxn id="221" idx="1"/>
                <a:endCxn id="223" idx="5"/>
              </p:cNvCxnSpPr>
              <p:nvPr/>
            </p:nvCxnSpPr>
            <p:spPr bwMode="auto">
              <a:xfrm rot="16200000" flipV="1">
                <a:off x="2695322" y="4973543"/>
                <a:ext cx="1139412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/>
              <p:cNvCxnSpPr>
                <a:stCxn id="220" idx="7"/>
                <a:endCxn id="223" idx="3"/>
              </p:cNvCxnSpPr>
              <p:nvPr/>
            </p:nvCxnSpPr>
            <p:spPr bwMode="auto">
              <a:xfrm rot="5400000" flipH="1" flipV="1">
                <a:off x="19522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82"/>
              <p:cNvGrpSpPr/>
              <p:nvPr/>
            </p:nvGrpSpPr>
            <p:grpSpPr>
              <a:xfrm>
                <a:off x="457200" y="2971800"/>
                <a:ext cx="4073636" cy="3124200"/>
                <a:chOff x="602223" y="2884114"/>
                <a:chExt cx="4073636" cy="3124200"/>
              </a:xfrm>
            </p:grpSpPr>
            <p:sp>
              <p:nvSpPr>
                <p:cNvPr id="245" name="Cube 244"/>
                <p:cNvSpPr/>
                <p:nvPr/>
              </p:nvSpPr>
              <p:spPr bwMode="auto">
                <a:xfrm>
                  <a:off x="658141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6" name="Cube 245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7" name="Cube 246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8" name="Cube 247"/>
                <p:cNvSpPr/>
                <p:nvPr/>
              </p:nvSpPr>
              <p:spPr bwMode="auto">
                <a:xfrm>
                  <a:off x="13716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9" name="Cube 248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0" name="Cube 249"/>
                <p:cNvSpPr/>
                <p:nvPr/>
              </p:nvSpPr>
              <p:spPr bwMode="auto">
                <a:xfrm>
                  <a:off x="3629941" y="56942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1" name="Cube 250"/>
                <p:cNvSpPr/>
                <p:nvPr/>
              </p:nvSpPr>
              <p:spPr bwMode="auto">
                <a:xfrm>
                  <a:off x="2140917" y="56561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2" name="Cube 251"/>
                <p:cNvSpPr/>
                <p:nvPr/>
              </p:nvSpPr>
              <p:spPr bwMode="auto">
                <a:xfrm>
                  <a:off x="602223" y="57035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3" name="Cube 252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3" name="Group 192"/>
              <p:cNvGrpSpPr/>
              <p:nvPr/>
            </p:nvGrpSpPr>
            <p:grpSpPr>
              <a:xfrm>
                <a:off x="1214690" y="2935878"/>
                <a:ext cx="3029680" cy="3147054"/>
                <a:chOff x="1359713" y="2848192"/>
                <a:chExt cx="3029680" cy="3147054"/>
              </a:xfrm>
            </p:grpSpPr>
            <p:sp>
              <p:nvSpPr>
                <p:cNvPr id="233" name="Cube 232"/>
                <p:cNvSpPr/>
                <p:nvPr/>
              </p:nvSpPr>
              <p:spPr bwMode="auto">
                <a:xfrm>
                  <a:off x="1359713" y="2864458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4" name="Cube 233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5" name="Cube 234"/>
                <p:cNvSpPr/>
                <p:nvPr/>
              </p:nvSpPr>
              <p:spPr bwMode="auto">
                <a:xfrm>
                  <a:off x="1750686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6" name="Cube 235"/>
                <p:cNvSpPr/>
                <p:nvPr/>
              </p:nvSpPr>
              <p:spPr bwMode="auto">
                <a:xfrm>
                  <a:off x="2547982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7" name="Cube 236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8" name="Cube 237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9" name="Cube 238"/>
                <p:cNvSpPr/>
                <p:nvPr/>
              </p:nvSpPr>
              <p:spPr bwMode="auto">
                <a:xfrm>
                  <a:off x="1737986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0" name="Cube 239"/>
                <p:cNvSpPr/>
                <p:nvPr/>
              </p:nvSpPr>
              <p:spPr bwMode="auto">
                <a:xfrm>
                  <a:off x="2535282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1" name="Cube 240"/>
                <p:cNvSpPr/>
                <p:nvPr/>
              </p:nvSpPr>
              <p:spPr bwMode="auto">
                <a:xfrm>
                  <a:off x="3270001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2" name="Cube 241"/>
                <p:cNvSpPr/>
                <p:nvPr/>
              </p:nvSpPr>
              <p:spPr bwMode="auto">
                <a:xfrm>
                  <a:off x="4044234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3" name="Cube 242"/>
                <p:cNvSpPr/>
                <p:nvPr/>
              </p:nvSpPr>
              <p:spPr bwMode="auto">
                <a:xfrm>
                  <a:off x="1359713" y="569044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4" name="Cube 243"/>
                <p:cNvSpPr/>
                <p:nvPr/>
              </p:nvSpPr>
              <p:spPr bwMode="auto">
                <a:xfrm>
                  <a:off x="2875826" y="5674180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</p:grpSp>
      <p:grpSp>
        <p:nvGrpSpPr>
          <p:cNvPr id="6" name="Group 5"/>
          <p:cNvGrpSpPr/>
          <p:nvPr/>
        </p:nvGrpSpPr>
        <p:grpSpPr>
          <a:xfrm>
            <a:off x="5029200" y="1219200"/>
            <a:ext cx="3048000" cy="2826717"/>
            <a:chOff x="5029200" y="1219200"/>
            <a:chExt cx="3048000" cy="2826717"/>
          </a:xfrm>
        </p:grpSpPr>
        <p:grpSp>
          <p:nvGrpSpPr>
            <p:cNvPr id="5" name="Group 4"/>
            <p:cNvGrpSpPr/>
            <p:nvPr/>
          </p:nvGrpSpPr>
          <p:grpSpPr>
            <a:xfrm>
              <a:off x="5413269" y="2209800"/>
              <a:ext cx="2435331" cy="1836117"/>
              <a:chOff x="5413269" y="2209800"/>
              <a:chExt cx="2435331" cy="1836117"/>
            </a:xfrm>
          </p:grpSpPr>
          <p:sp>
            <p:nvSpPr>
              <p:cNvPr id="160" name="Freeform 159"/>
              <p:cNvSpPr/>
              <p:nvPr/>
            </p:nvSpPr>
            <p:spPr bwMode="auto">
              <a:xfrm>
                <a:off x="6102295" y="2209800"/>
                <a:ext cx="1746305" cy="1273742"/>
              </a:xfrm>
              <a:custGeom>
                <a:avLst/>
                <a:gdLst>
                  <a:gd name="connsiteX0" fmla="*/ 1930400 w 3149600"/>
                  <a:gd name="connsiteY0" fmla="*/ 159926 h 2455333"/>
                  <a:gd name="connsiteX1" fmla="*/ 237067 w 3149600"/>
                  <a:gd name="connsiteY1" fmla="*/ 193793 h 2455333"/>
                  <a:gd name="connsiteX2" fmla="*/ 508000 w 3149600"/>
                  <a:gd name="connsiteY2" fmla="*/ 1322682 h 2455333"/>
                  <a:gd name="connsiteX3" fmla="*/ 993423 w 3149600"/>
                  <a:gd name="connsiteY3" fmla="*/ 2304815 h 2455333"/>
                  <a:gd name="connsiteX4" fmla="*/ 1569156 w 3149600"/>
                  <a:gd name="connsiteY4" fmla="*/ 2225793 h 2455333"/>
                  <a:gd name="connsiteX5" fmla="*/ 1919111 w 3149600"/>
                  <a:gd name="connsiteY5" fmla="*/ 1175926 h 2455333"/>
                  <a:gd name="connsiteX6" fmla="*/ 2291645 w 3149600"/>
                  <a:gd name="connsiteY6" fmla="*/ 2135482 h 2455333"/>
                  <a:gd name="connsiteX7" fmla="*/ 2889956 w 3149600"/>
                  <a:gd name="connsiteY7" fmla="*/ 2304815 h 2455333"/>
                  <a:gd name="connsiteX8" fmla="*/ 3081867 w 3149600"/>
                  <a:gd name="connsiteY8" fmla="*/ 1841970 h 2455333"/>
                  <a:gd name="connsiteX9" fmla="*/ 2483556 w 3149600"/>
                  <a:gd name="connsiteY9" fmla="*/ 600193 h 2455333"/>
                  <a:gd name="connsiteX10" fmla="*/ 1930400 w 3149600"/>
                  <a:gd name="connsiteY10" fmla="*/ 159926 h 2455333"/>
                  <a:gd name="connsiteX0" fmla="*/ 1969911 w 3155244"/>
                  <a:gd name="connsiteY0" fmla="*/ 96426 h 2468033"/>
                  <a:gd name="connsiteX1" fmla="*/ 242711 w 3155244"/>
                  <a:gd name="connsiteY1" fmla="*/ 206493 h 2468033"/>
                  <a:gd name="connsiteX2" fmla="*/ 513644 w 3155244"/>
                  <a:gd name="connsiteY2" fmla="*/ 1335382 h 2468033"/>
                  <a:gd name="connsiteX3" fmla="*/ 999067 w 3155244"/>
                  <a:gd name="connsiteY3" fmla="*/ 2317515 h 2468033"/>
                  <a:gd name="connsiteX4" fmla="*/ 1574800 w 3155244"/>
                  <a:gd name="connsiteY4" fmla="*/ 2238493 h 2468033"/>
                  <a:gd name="connsiteX5" fmla="*/ 1924755 w 3155244"/>
                  <a:gd name="connsiteY5" fmla="*/ 1188626 h 2468033"/>
                  <a:gd name="connsiteX6" fmla="*/ 2297289 w 3155244"/>
                  <a:gd name="connsiteY6" fmla="*/ 2148182 h 2468033"/>
                  <a:gd name="connsiteX7" fmla="*/ 2895600 w 3155244"/>
                  <a:gd name="connsiteY7" fmla="*/ 2317515 h 2468033"/>
                  <a:gd name="connsiteX8" fmla="*/ 3087511 w 3155244"/>
                  <a:gd name="connsiteY8" fmla="*/ 1854670 h 2468033"/>
                  <a:gd name="connsiteX9" fmla="*/ 2489200 w 3155244"/>
                  <a:gd name="connsiteY9" fmla="*/ 612893 h 2468033"/>
                  <a:gd name="connsiteX10" fmla="*/ 1969911 w 3155244"/>
                  <a:gd name="connsiteY10" fmla="*/ 96426 h 2468033"/>
                  <a:gd name="connsiteX0" fmla="*/ 1969911 w 3165592"/>
                  <a:gd name="connsiteY0" fmla="*/ 96426 h 2468033"/>
                  <a:gd name="connsiteX1" fmla="*/ 242711 w 3165592"/>
                  <a:gd name="connsiteY1" fmla="*/ 206493 h 2468033"/>
                  <a:gd name="connsiteX2" fmla="*/ 513644 w 3165592"/>
                  <a:gd name="connsiteY2" fmla="*/ 1335382 h 2468033"/>
                  <a:gd name="connsiteX3" fmla="*/ 999067 w 3165592"/>
                  <a:gd name="connsiteY3" fmla="*/ 2317515 h 2468033"/>
                  <a:gd name="connsiteX4" fmla="*/ 1574800 w 3165592"/>
                  <a:gd name="connsiteY4" fmla="*/ 2238493 h 2468033"/>
                  <a:gd name="connsiteX5" fmla="*/ 1924755 w 3165592"/>
                  <a:gd name="connsiteY5" fmla="*/ 1188626 h 2468033"/>
                  <a:gd name="connsiteX6" fmla="*/ 2297289 w 3165592"/>
                  <a:gd name="connsiteY6" fmla="*/ 2148182 h 2468033"/>
                  <a:gd name="connsiteX7" fmla="*/ 2895600 w 3165592"/>
                  <a:gd name="connsiteY7" fmla="*/ 2317515 h 2468033"/>
                  <a:gd name="connsiteX8" fmla="*/ 3087511 w 3165592"/>
                  <a:gd name="connsiteY8" fmla="*/ 1854670 h 2468033"/>
                  <a:gd name="connsiteX9" fmla="*/ 2427111 w 3165592"/>
                  <a:gd name="connsiteY9" fmla="*/ 477426 h 2468033"/>
                  <a:gd name="connsiteX10" fmla="*/ 1969911 w 3165592"/>
                  <a:gd name="connsiteY10" fmla="*/ 96426 h 2468033"/>
                  <a:gd name="connsiteX0" fmla="*/ 1881011 w 3152892"/>
                  <a:gd name="connsiteY0" fmla="*/ 96426 h 2468033"/>
                  <a:gd name="connsiteX1" fmla="*/ 230011 w 3152892"/>
                  <a:gd name="connsiteY1" fmla="*/ 206493 h 2468033"/>
                  <a:gd name="connsiteX2" fmla="*/ 500944 w 3152892"/>
                  <a:gd name="connsiteY2" fmla="*/ 1335382 h 2468033"/>
                  <a:gd name="connsiteX3" fmla="*/ 986367 w 3152892"/>
                  <a:gd name="connsiteY3" fmla="*/ 2317515 h 2468033"/>
                  <a:gd name="connsiteX4" fmla="*/ 1562100 w 3152892"/>
                  <a:gd name="connsiteY4" fmla="*/ 2238493 h 2468033"/>
                  <a:gd name="connsiteX5" fmla="*/ 1912055 w 3152892"/>
                  <a:gd name="connsiteY5" fmla="*/ 1188626 h 2468033"/>
                  <a:gd name="connsiteX6" fmla="*/ 2284589 w 3152892"/>
                  <a:gd name="connsiteY6" fmla="*/ 2148182 h 2468033"/>
                  <a:gd name="connsiteX7" fmla="*/ 2882900 w 3152892"/>
                  <a:gd name="connsiteY7" fmla="*/ 2317515 h 2468033"/>
                  <a:gd name="connsiteX8" fmla="*/ 3074811 w 3152892"/>
                  <a:gd name="connsiteY8" fmla="*/ 1854670 h 2468033"/>
                  <a:gd name="connsiteX9" fmla="*/ 2414411 w 3152892"/>
                  <a:gd name="connsiteY9" fmla="*/ 477426 h 2468033"/>
                  <a:gd name="connsiteX10" fmla="*/ 1881011 w 3152892"/>
                  <a:gd name="connsiteY10" fmla="*/ 96426 h 24680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7921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92111 w 3063992"/>
                  <a:gd name="connsiteY11" fmla="*/ 50800 h 2422407"/>
                  <a:gd name="connsiteX0" fmla="*/ 17159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15911 w 3063992"/>
                  <a:gd name="connsiteY11" fmla="*/ 50800 h 2422407"/>
                  <a:gd name="connsiteX0" fmla="*/ 1779411 w 3127492"/>
                  <a:gd name="connsiteY0" fmla="*/ 38100 h 2409707"/>
                  <a:gd name="connsiteX1" fmla="*/ 1093611 w 3127492"/>
                  <a:gd name="connsiteY1" fmla="*/ 190500 h 2409707"/>
                  <a:gd name="connsiteX2" fmla="*/ 103011 w 3127492"/>
                  <a:gd name="connsiteY2" fmla="*/ 266700 h 2409707"/>
                  <a:gd name="connsiteX3" fmla="*/ 475544 w 3127492"/>
                  <a:gd name="connsiteY3" fmla="*/ 1277056 h 2409707"/>
                  <a:gd name="connsiteX4" fmla="*/ 960967 w 3127492"/>
                  <a:gd name="connsiteY4" fmla="*/ 2259189 h 2409707"/>
                  <a:gd name="connsiteX5" fmla="*/ 1536700 w 3127492"/>
                  <a:gd name="connsiteY5" fmla="*/ 2180167 h 2409707"/>
                  <a:gd name="connsiteX6" fmla="*/ 1886655 w 3127492"/>
                  <a:gd name="connsiteY6" fmla="*/ 1130300 h 2409707"/>
                  <a:gd name="connsiteX7" fmla="*/ 2259189 w 3127492"/>
                  <a:gd name="connsiteY7" fmla="*/ 2089856 h 2409707"/>
                  <a:gd name="connsiteX8" fmla="*/ 2857500 w 3127492"/>
                  <a:gd name="connsiteY8" fmla="*/ 2259189 h 2409707"/>
                  <a:gd name="connsiteX9" fmla="*/ 3049411 w 3127492"/>
                  <a:gd name="connsiteY9" fmla="*/ 1796344 h 2409707"/>
                  <a:gd name="connsiteX10" fmla="*/ 2389011 w 3127492"/>
                  <a:gd name="connsiteY10" fmla="*/ 419100 h 2409707"/>
                  <a:gd name="connsiteX11" fmla="*/ 1779411 w 3127492"/>
                  <a:gd name="connsiteY11" fmla="*/ 38100 h 2409707"/>
                  <a:gd name="connsiteX0" fmla="*/ 1855611 w 3127492"/>
                  <a:gd name="connsiteY0" fmla="*/ 38100 h 2333507"/>
                  <a:gd name="connsiteX1" fmla="*/ 1093611 w 3127492"/>
                  <a:gd name="connsiteY1" fmla="*/ 114300 h 2333507"/>
                  <a:gd name="connsiteX2" fmla="*/ 103011 w 3127492"/>
                  <a:gd name="connsiteY2" fmla="*/ 190500 h 2333507"/>
                  <a:gd name="connsiteX3" fmla="*/ 475544 w 3127492"/>
                  <a:gd name="connsiteY3" fmla="*/ 1200856 h 2333507"/>
                  <a:gd name="connsiteX4" fmla="*/ 960967 w 3127492"/>
                  <a:gd name="connsiteY4" fmla="*/ 2182989 h 2333507"/>
                  <a:gd name="connsiteX5" fmla="*/ 1536700 w 3127492"/>
                  <a:gd name="connsiteY5" fmla="*/ 2103967 h 2333507"/>
                  <a:gd name="connsiteX6" fmla="*/ 1886655 w 3127492"/>
                  <a:gd name="connsiteY6" fmla="*/ 1054100 h 2333507"/>
                  <a:gd name="connsiteX7" fmla="*/ 2259189 w 3127492"/>
                  <a:gd name="connsiteY7" fmla="*/ 2013656 h 2333507"/>
                  <a:gd name="connsiteX8" fmla="*/ 2857500 w 3127492"/>
                  <a:gd name="connsiteY8" fmla="*/ 2182989 h 2333507"/>
                  <a:gd name="connsiteX9" fmla="*/ 3049411 w 3127492"/>
                  <a:gd name="connsiteY9" fmla="*/ 1720144 h 2333507"/>
                  <a:gd name="connsiteX10" fmla="*/ 2389011 w 3127492"/>
                  <a:gd name="connsiteY10" fmla="*/ 342900 h 2333507"/>
                  <a:gd name="connsiteX11" fmla="*/ 1855611 w 3127492"/>
                  <a:gd name="connsiteY11" fmla="*/ 38100 h 2333507"/>
                  <a:gd name="connsiteX0" fmla="*/ 1765300 w 3037181"/>
                  <a:gd name="connsiteY0" fmla="*/ 38100 h 2374900"/>
                  <a:gd name="connsiteX1" fmla="*/ 1003300 w 3037181"/>
                  <a:gd name="connsiteY1" fmla="*/ 114300 h 2374900"/>
                  <a:gd name="connsiteX2" fmla="*/ 12700 w 3037181"/>
                  <a:gd name="connsiteY2" fmla="*/ 190500 h 2374900"/>
                  <a:gd name="connsiteX3" fmla="*/ 1079500 w 3037181"/>
                  <a:gd name="connsiteY3" fmla="*/ 952500 h 2374900"/>
                  <a:gd name="connsiteX4" fmla="*/ 870656 w 3037181"/>
                  <a:gd name="connsiteY4" fmla="*/ 2182989 h 2374900"/>
                  <a:gd name="connsiteX5" fmla="*/ 1446389 w 3037181"/>
                  <a:gd name="connsiteY5" fmla="*/ 2103967 h 2374900"/>
                  <a:gd name="connsiteX6" fmla="*/ 1796344 w 3037181"/>
                  <a:gd name="connsiteY6" fmla="*/ 1054100 h 2374900"/>
                  <a:gd name="connsiteX7" fmla="*/ 2168878 w 3037181"/>
                  <a:gd name="connsiteY7" fmla="*/ 2013656 h 2374900"/>
                  <a:gd name="connsiteX8" fmla="*/ 2767189 w 3037181"/>
                  <a:gd name="connsiteY8" fmla="*/ 2182989 h 2374900"/>
                  <a:gd name="connsiteX9" fmla="*/ 2959100 w 3037181"/>
                  <a:gd name="connsiteY9" fmla="*/ 1720144 h 2374900"/>
                  <a:gd name="connsiteX10" fmla="*/ 2298700 w 3037181"/>
                  <a:gd name="connsiteY10" fmla="*/ 342900 h 2374900"/>
                  <a:gd name="connsiteX11" fmla="*/ 1765300 w 3037181"/>
                  <a:gd name="connsiteY11" fmla="*/ 38100 h 2374900"/>
                  <a:gd name="connsiteX0" fmla="*/ 1765300 w 3037181"/>
                  <a:gd name="connsiteY0" fmla="*/ 38100 h 2239433"/>
                  <a:gd name="connsiteX1" fmla="*/ 1003300 w 3037181"/>
                  <a:gd name="connsiteY1" fmla="*/ 114300 h 2239433"/>
                  <a:gd name="connsiteX2" fmla="*/ 12700 w 3037181"/>
                  <a:gd name="connsiteY2" fmla="*/ 190500 h 2239433"/>
                  <a:gd name="connsiteX3" fmla="*/ 1079500 w 3037181"/>
                  <a:gd name="connsiteY3" fmla="*/ 952500 h 2239433"/>
                  <a:gd name="connsiteX4" fmla="*/ 698500 w 3037181"/>
                  <a:gd name="connsiteY4" fmla="*/ 1866899 h 2239433"/>
                  <a:gd name="connsiteX5" fmla="*/ 1446389 w 3037181"/>
                  <a:gd name="connsiteY5" fmla="*/ 2103967 h 2239433"/>
                  <a:gd name="connsiteX6" fmla="*/ 1796344 w 3037181"/>
                  <a:gd name="connsiteY6" fmla="*/ 1054100 h 2239433"/>
                  <a:gd name="connsiteX7" fmla="*/ 2168878 w 3037181"/>
                  <a:gd name="connsiteY7" fmla="*/ 2013656 h 2239433"/>
                  <a:gd name="connsiteX8" fmla="*/ 2767189 w 3037181"/>
                  <a:gd name="connsiteY8" fmla="*/ 2182989 h 2239433"/>
                  <a:gd name="connsiteX9" fmla="*/ 2959100 w 3037181"/>
                  <a:gd name="connsiteY9" fmla="*/ 1720144 h 2239433"/>
                  <a:gd name="connsiteX10" fmla="*/ 2298700 w 3037181"/>
                  <a:gd name="connsiteY10" fmla="*/ 342900 h 2239433"/>
                  <a:gd name="connsiteX11" fmla="*/ 1765300 w 3037181"/>
                  <a:gd name="connsiteY11" fmla="*/ 38100 h 2239433"/>
                  <a:gd name="connsiteX0" fmla="*/ 1765300 w 3037181"/>
                  <a:gd name="connsiteY0" fmla="*/ 38100 h 2231908"/>
                  <a:gd name="connsiteX1" fmla="*/ 1003300 w 3037181"/>
                  <a:gd name="connsiteY1" fmla="*/ 114300 h 2231908"/>
                  <a:gd name="connsiteX2" fmla="*/ 12700 w 3037181"/>
                  <a:gd name="connsiteY2" fmla="*/ 190500 h 2231908"/>
                  <a:gd name="connsiteX3" fmla="*/ 1079500 w 3037181"/>
                  <a:gd name="connsiteY3" fmla="*/ 952500 h 2231908"/>
                  <a:gd name="connsiteX4" fmla="*/ 698500 w 3037181"/>
                  <a:gd name="connsiteY4" fmla="*/ 1866899 h 2231908"/>
                  <a:gd name="connsiteX5" fmla="*/ 1384300 w 3037181"/>
                  <a:gd name="connsiteY5" fmla="*/ 2095500 h 2231908"/>
                  <a:gd name="connsiteX6" fmla="*/ 1796344 w 3037181"/>
                  <a:gd name="connsiteY6" fmla="*/ 1054100 h 2231908"/>
                  <a:gd name="connsiteX7" fmla="*/ 2168878 w 3037181"/>
                  <a:gd name="connsiteY7" fmla="*/ 2013656 h 2231908"/>
                  <a:gd name="connsiteX8" fmla="*/ 2767189 w 3037181"/>
                  <a:gd name="connsiteY8" fmla="*/ 2182989 h 2231908"/>
                  <a:gd name="connsiteX9" fmla="*/ 2959100 w 3037181"/>
                  <a:gd name="connsiteY9" fmla="*/ 1720144 h 2231908"/>
                  <a:gd name="connsiteX10" fmla="*/ 2298700 w 3037181"/>
                  <a:gd name="connsiteY10" fmla="*/ 342900 h 2231908"/>
                  <a:gd name="connsiteX11" fmla="*/ 1765300 w 3037181"/>
                  <a:gd name="connsiteY11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51741 h 2245549"/>
                  <a:gd name="connsiteX1" fmla="*/ 1092200 w 3126081"/>
                  <a:gd name="connsiteY1" fmla="*/ 127941 h 2245549"/>
                  <a:gd name="connsiteX2" fmla="*/ 101600 w 3126081"/>
                  <a:gd name="connsiteY2" fmla="*/ 204141 h 2245549"/>
                  <a:gd name="connsiteX3" fmla="*/ 177800 w 3126081"/>
                  <a:gd name="connsiteY3" fmla="*/ 661341 h 2245549"/>
                  <a:gd name="connsiteX4" fmla="*/ 1168400 w 3126081"/>
                  <a:gd name="connsiteY4" fmla="*/ 966141 h 2245549"/>
                  <a:gd name="connsiteX5" fmla="*/ 787400 w 3126081"/>
                  <a:gd name="connsiteY5" fmla="*/ 1880540 h 2245549"/>
                  <a:gd name="connsiteX6" fmla="*/ 1473200 w 3126081"/>
                  <a:gd name="connsiteY6" fmla="*/ 2109141 h 2245549"/>
                  <a:gd name="connsiteX7" fmla="*/ 1885244 w 3126081"/>
                  <a:gd name="connsiteY7" fmla="*/ 1067741 h 2245549"/>
                  <a:gd name="connsiteX8" fmla="*/ 2257778 w 3126081"/>
                  <a:gd name="connsiteY8" fmla="*/ 2027297 h 2245549"/>
                  <a:gd name="connsiteX9" fmla="*/ 2856089 w 3126081"/>
                  <a:gd name="connsiteY9" fmla="*/ 2196630 h 2245549"/>
                  <a:gd name="connsiteX10" fmla="*/ 3048000 w 3126081"/>
                  <a:gd name="connsiteY10" fmla="*/ 1733785 h 2245549"/>
                  <a:gd name="connsiteX11" fmla="*/ 2387600 w 3126081"/>
                  <a:gd name="connsiteY11" fmla="*/ 280341 h 2245549"/>
                  <a:gd name="connsiteX12" fmla="*/ 1854200 w 3126081"/>
                  <a:gd name="connsiteY12" fmla="*/ 51741 h 2245549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98931 w 3147012"/>
                  <a:gd name="connsiteY0" fmla="*/ 25400 h 2295407"/>
                  <a:gd name="connsiteX1" fmla="*/ 1113131 w 3147012"/>
                  <a:gd name="connsiteY1" fmla="*/ 177799 h 2295407"/>
                  <a:gd name="connsiteX2" fmla="*/ 122531 w 3147012"/>
                  <a:gd name="connsiteY2" fmla="*/ 253999 h 2295407"/>
                  <a:gd name="connsiteX3" fmla="*/ 198731 w 3147012"/>
                  <a:gd name="connsiteY3" fmla="*/ 711199 h 2295407"/>
                  <a:gd name="connsiteX4" fmla="*/ 1189331 w 3147012"/>
                  <a:gd name="connsiteY4" fmla="*/ 1015999 h 2295407"/>
                  <a:gd name="connsiteX5" fmla="*/ 808331 w 3147012"/>
                  <a:gd name="connsiteY5" fmla="*/ 1930398 h 2295407"/>
                  <a:gd name="connsiteX6" fmla="*/ 1494131 w 3147012"/>
                  <a:gd name="connsiteY6" fmla="*/ 2158999 h 2295407"/>
                  <a:gd name="connsiteX7" fmla="*/ 1906175 w 3147012"/>
                  <a:gd name="connsiteY7" fmla="*/ 1117599 h 2295407"/>
                  <a:gd name="connsiteX8" fmla="*/ 2278709 w 3147012"/>
                  <a:gd name="connsiteY8" fmla="*/ 2077155 h 2295407"/>
                  <a:gd name="connsiteX9" fmla="*/ 2877020 w 3147012"/>
                  <a:gd name="connsiteY9" fmla="*/ 2246488 h 2295407"/>
                  <a:gd name="connsiteX10" fmla="*/ 3068931 w 3147012"/>
                  <a:gd name="connsiteY10" fmla="*/ 1783643 h 2295407"/>
                  <a:gd name="connsiteX11" fmla="*/ 2408531 w 3147012"/>
                  <a:gd name="connsiteY11" fmla="*/ 330199 h 2295407"/>
                  <a:gd name="connsiteX12" fmla="*/ 1798931 w 3147012"/>
                  <a:gd name="connsiteY12" fmla="*/ 25400 h 229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7012" h="2295407">
                    <a:moveTo>
                      <a:pt x="1798931" y="25400"/>
                    </a:moveTo>
                    <a:cubicBezTo>
                      <a:pt x="1583031" y="0"/>
                      <a:pt x="1467320" y="173566"/>
                      <a:pt x="1113131" y="177799"/>
                    </a:cubicBezTo>
                    <a:cubicBezTo>
                      <a:pt x="837964" y="196143"/>
                      <a:pt x="332081" y="76199"/>
                      <a:pt x="122531" y="253999"/>
                    </a:cubicBezTo>
                    <a:cubicBezTo>
                      <a:pt x="0" y="433210"/>
                      <a:pt x="20931" y="584199"/>
                      <a:pt x="198731" y="711199"/>
                    </a:cubicBezTo>
                    <a:cubicBezTo>
                      <a:pt x="376531" y="838199"/>
                      <a:pt x="1087731" y="812799"/>
                      <a:pt x="1189331" y="1015999"/>
                    </a:cubicBezTo>
                    <a:cubicBezTo>
                      <a:pt x="1290931" y="1219199"/>
                      <a:pt x="757531" y="1739898"/>
                      <a:pt x="808331" y="1930398"/>
                    </a:cubicBezTo>
                    <a:cubicBezTo>
                      <a:pt x="859131" y="2120898"/>
                      <a:pt x="1311157" y="2294465"/>
                      <a:pt x="1494131" y="2158999"/>
                    </a:cubicBezTo>
                    <a:cubicBezTo>
                      <a:pt x="1677105" y="2023533"/>
                      <a:pt x="1775412" y="1131240"/>
                      <a:pt x="1906175" y="1117599"/>
                    </a:cubicBezTo>
                    <a:cubicBezTo>
                      <a:pt x="2036938" y="1103958"/>
                      <a:pt x="2116902" y="1889007"/>
                      <a:pt x="2278709" y="2077155"/>
                    </a:cubicBezTo>
                    <a:cubicBezTo>
                      <a:pt x="2440516" y="2265303"/>
                      <a:pt x="2745316" y="2295407"/>
                      <a:pt x="2877020" y="2246488"/>
                    </a:cubicBezTo>
                    <a:cubicBezTo>
                      <a:pt x="3008724" y="2197569"/>
                      <a:pt x="3147012" y="2103024"/>
                      <a:pt x="3068931" y="1783643"/>
                    </a:cubicBezTo>
                    <a:cubicBezTo>
                      <a:pt x="2990850" y="1464262"/>
                      <a:pt x="2620198" y="623240"/>
                      <a:pt x="2408531" y="330199"/>
                    </a:cubicBezTo>
                    <a:cubicBezTo>
                      <a:pt x="2196864" y="37158"/>
                      <a:pt x="2014831" y="50800"/>
                      <a:pt x="1798931" y="25400"/>
                    </a:cubicBezTo>
                    <a:close/>
                  </a:path>
                </a:pathLst>
              </a:cu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61" name="Oval 160"/>
              <p:cNvSpPr/>
              <p:nvPr/>
            </p:nvSpPr>
            <p:spPr bwMode="auto">
              <a:xfrm>
                <a:off x="6973686" y="2266179"/>
                <a:ext cx="380557" cy="38055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cxnSp>
            <p:nvCxnSpPr>
              <p:cNvPr id="162" name="Straight Arrow Connector 161"/>
              <p:cNvCxnSpPr>
                <a:stCxn id="168" idx="6"/>
                <a:endCxn id="169" idx="2"/>
              </p:cNvCxnSpPr>
              <p:nvPr/>
            </p:nvCxnSpPr>
            <p:spPr bwMode="auto">
              <a:xfrm>
                <a:off x="5631063" y="2459644"/>
                <a:ext cx="606857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3" name="Straight Arrow Connector 162"/>
              <p:cNvCxnSpPr>
                <a:stCxn id="169" idx="6"/>
                <a:endCxn id="170" idx="2"/>
              </p:cNvCxnSpPr>
              <p:nvPr/>
            </p:nvCxnSpPr>
            <p:spPr bwMode="auto">
              <a:xfrm>
                <a:off x="6455714" y="2459644"/>
                <a:ext cx="606856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4" name="Straight Arrow Connector 163"/>
              <p:cNvCxnSpPr>
                <a:stCxn id="174" idx="7"/>
                <a:endCxn id="169" idx="3"/>
              </p:cNvCxnSpPr>
              <p:nvPr/>
            </p:nvCxnSpPr>
            <p:spPr bwMode="auto">
              <a:xfrm rot="5400000" flipH="1" flipV="1">
                <a:off x="583049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5" name="Straight Arrow Connector 164"/>
              <p:cNvCxnSpPr>
                <a:stCxn id="176" idx="1"/>
                <a:endCxn id="170" idx="5"/>
              </p:cNvCxnSpPr>
              <p:nvPr/>
            </p:nvCxnSpPr>
            <p:spPr bwMode="auto">
              <a:xfrm rot="16200000" flipV="1">
                <a:off x="706747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6" name="Straight Arrow Connector 165"/>
              <p:cNvCxnSpPr>
                <a:stCxn id="175" idx="7"/>
                <a:endCxn id="170" idx="3"/>
              </p:cNvCxnSpPr>
              <p:nvPr/>
            </p:nvCxnSpPr>
            <p:spPr bwMode="auto">
              <a:xfrm rot="5400000" flipH="1" flipV="1">
                <a:off x="665514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7" name="Straight Arrow Connector 166"/>
              <p:cNvCxnSpPr>
                <a:stCxn id="175" idx="1"/>
                <a:endCxn id="169" idx="5"/>
              </p:cNvCxnSpPr>
              <p:nvPr/>
            </p:nvCxnSpPr>
            <p:spPr bwMode="auto">
              <a:xfrm rot="16200000" flipV="1">
                <a:off x="624282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68" name="Oval 4"/>
              <p:cNvSpPr/>
              <p:nvPr/>
            </p:nvSpPr>
            <p:spPr bwMode="auto">
              <a:xfrm>
                <a:off x="5413269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69" name="Oval 168"/>
              <p:cNvSpPr/>
              <p:nvPr/>
            </p:nvSpPr>
            <p:spPr bwMode="auto">
              <a:xfrm>
                <a:off x="623792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 bwMode="auto">
              <a:xfrm>
                <a:off x="706257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1" name="Oval 4"/>
              <p:cNvSpPr/>
              <p:nvPr/>
            </p:nvSpPr>
            <p:spPr bwMode="auto">
              <a:xfrm>
                <a:off x="541326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2" name="Oval 171"/>
              <p:cNvSpPr/>
              <p:nvPr/>
            </p:nvSpPr>
            <p:spPr bwMode="auto">
              <a:xfrm>
                <a:off x="623791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3" name="Oval 172"/>
              <p:cNvSpPr/>
              <p:nvPr/>
            </p:nvSpPr>
            <p:spPr bwMode="auto">
              <a:xfrm>
                <a:off x="7062570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4" name="Oval 4"/>
              <p:cNvSpPr/>
              <p:nvPr/>
            </p:nvSpPr>
            <p:spPr bwMode="auto">
              <a:xfrm>
                <a:off x="5829513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5" name="Oval 174"/>
              <p:cNvSpPr/>
              <p:nvPr/>
            </p:nvSpPr>
            <p:spPr bwMode="auto">
              <a:xfrm>
                <a:off x="665416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6" name="Oval 175"/>
              <p:cNvSpPr/>
              <p:nvPr/>
            </p:nvSpPr>
            <p:spPr bwMode="auto">
              <a:xfrm>
                <a:off x="747881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77" name="Straight Arrow Connector 176"/>
              <p:cNvCxnSpPr>
                <a:stCxn id="171" idx="6"/>
                <a:endCxn id="172" idx="2"/>
              </p:cNvCxnSpPr>
              <p:nvPr/>
            </p:nvCxnSpPr>
            <p:spPr bwMode="auto">
              <a:xfrm>
                <a:off x="5631063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8" name="Straight Arrow Connector 177"/>
              <p:cNvCxnSpPr>
                <a:stCxn id="172" idx="6"/>
                <a:endCxn id="173" idx="2"/>
              </p:cNvCxnSpPr>
              <p:nvPr/>
            </p:nvCxnSpPr>
            <p:spPr bwMode="auto">
              <a:xfrm>
                <a:off x="6455714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9" name="Straight Arrow Connector 178"/>
              <p:cNvCxnSpPr>
                <a:stCxn id="172" idx="1"/>
                <a:endCxn id="174" idx="5"/>
              </p:cNvCxnSpPr>
              <p:nvPr/>
            </p:nvCxnSpPr>
            <p:spPr bwMode="auto">
              <a:xfrm rot="16200000" flipV="1">
                <a:off x="5870047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0" name="Straight Arrow Connector 179"/>
              <p:cNvCxnSpPr>
                <a:stCxn id="173" idx="7"/>
                <a:endCxn id="176" idx="3"/>
              </p:cNvCxnSpPr>
              <p:nvPr/>
            </p:nvCxnSpPr>
            <p:spPr bwMode="auto">
              <a:xfrm rot="5400000" flipH="1" flipV="1">
                <a:off x="7107022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1" name="Straight Arrow Connector 180"/>
              <p:cNvCxnSpPr>
                <a:stCxn id="173" idx="1"/>
                <a:endCxn id="175" idx="5"/>
              </p:cNvCxnSpPr>
              <p:nvPr/>
            </p:nvCxnSpPr>
            <p:spPr bwMode="auto">
              <a:xfrm rot="16200000" flipV="1">
                <a:off x="6694698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2" name="Straight Arrow Connector 181"/>
              <p:cNvCxnSpPr>
                <a:stCxn id="172" idx="7"/>
                <a:endCxn id="175" idx="3"/>
              </p:cNvCxnSpPr>
              <p:nvPr/>
            </p:nvCxnSpPr>
            <p:spPr bwMode="auto">
              <a:xfrm rot="5400000" flipH="1" flipV="1">
                <a:off x="6282371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grpSp>
            <p:nvGrpSpPr>
              <p:cNvPr id="18" name="Group 182"/>
              <p:cNvGrpSpPr/>
              <p:nvPr/>
            </p:nvGrpSpPr>
            <p:grpSpPr>
              <a:xfrm>
                <a:off x="6258950" y="2393031"/>
                <a:ext cx="1410722" cy="930249"/>
                <a:chOff x="2133600" y="2884114"/>
                <a:chExt cx="2542259" cy="1676400"/>
              </a:xfrm>
            </p:grpSpPr>
            <p:sp>
              <p:nvSpPr>
                <p:cNvPr id="185" name="Cube 184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6" name="Cube 185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8" name="Cube 187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2" name="Cube 191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9" name="Group 192"/>
              <p:cNvGrpSpPr/>
              <p:nvPr/>
            </p:nvGrpSpPr>
            <p:grpSpPr>
              <a:xfrm>
                <a:off x="6670818" y="2373097"/>
                <a:ext cx="839892" cy="594558"/>
                <a:chOff x="2875826" y="2848192"/>
                <a:chExt cx="1513567" cy="1071452"/>
              </a:xfrm>
            </p:grpSpPr>
            <p:sp>
              <p:nvSpPr>
                <p:cNvPr id="195" name="Cube 194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8" name="Cube 197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9" name="Cube 198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  <p:sp>
          <p:nvSpPr>
            <p:cNvPr id="254" name="TextBox 253"/>
            <p:cNvSpPr txBox="1"/>
            <p:nvPr/>
          </p:nvSpPr>
          <p:spPr>
            <a:xfrm>
              <a:off x="5029200" y="1219200"/>
              <a:ext cx="3048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Update Functions</a:t>
              </a:r>
            </a:p>
            <a:p>
              <a:pPr algn="ctr"/>
              <a:r>
                <a:rPr lang="en-US" sz="2800" i="1" dirty="0" smtClean="0"/>
                <a:t>User Computation</a:t>
              </a:r>
              <a:endParaRPr lang="en-US" sz="2800" i="1" dirty="0"/>
            </a:p>
          </p:txBody>
        </p:sp>
      </p:grpSp>
      <p:sp>
        <p:nvSpPr>
          <p:cNvPr id="4" name="Oval 3"/>
          <p:cNvSpPr/>
          <p:nvPr/>
        </p:nvSpPr>
        <p:spPr bwMode="auto">
          <a:xfrm>
            <a:off x="47920" y="1018440"/>
            <a:ext cx="4521973" cy="3465378"/>
          </a:xfrm>
          <a:prstGeom prst="ellips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29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2250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7162E-6 -2.91869E-7 L 0.47326 -2.91869E-7 " pathEditMode="relative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auto">
          <a:xfrm>
            <a:off x="4343400" y="4572000"/>
            <a:ext cx="4419600" cy="9144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3" name="Group 7"/>
          <p:cNvGrpSpPr/>
          <p:nvPr/>
        </p:nvGrpSpPr>
        <p:grpSpPr>
          <a:xfrm>
            <a:off x="4191000" y="2390472"/>
            <a:ext cx="4862506" cy="3416320"/>
            <a:chOff x="4232379" y="2542872"/>
            <a:chExt cx="4862506" cy="3416320"/>
          </a:xfrm>
        </p:grpSpPr>
        <p:sp>
          <p:nvSpPr>
            <p:cNvPr id="49" name="TextBox 48"/>
            <p:cNvSpPr txBox="1"/>
            <p:nvPr/>
          </p:nvSpPr>
          <p:spPr>
            <a:xfrm>
              <a:off x="4232379" y="2542872"/>
              <a:ext cx="4683021" cy="34163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 smtClean="0">
                  <a:cs typeface="Consolas"/>
                </a:rPr>
                <a:t>Pagerank</a:t>
              </a:r>
              <a:r>
                <a:rPr lang="en-US" dirty="0" smtClean="0">
                  <a:cs typeface="Consolas"/>
                </a:rPr>
                <a:t>(scope){</a:t>
              </a:r>
            </a:p>
            <a:p>
              <a:r>
                <a:rPr lang="en-US" dirty="0" smtClean="0">
                  <a:cs typeface="Consolas"/>
                </a:rPr>
                <a:t>  </a:t>
              </a:r>
              <a:r>
                <a:rPr lang="en-US" dirty="0" smtClean="0">
                  <a:solidFill>
                    <a:srgbClr val="008000"/>
                  </a:solidFill>
                  <a:cs typeface="Consolas"/>
                </a:rPr>
                <a:t>// Update the current vertex data</a:t>
              </a:r>
              <a:endParaRPr lang="en-US" baseline="-25000" dirty="0">
                <a:solidFill>
                  <a:srgbClr val="008000"/>
                </a:solidFill>
                <a:cs typeface="Consolas"/>
              </a:endParaRPr>
            </a:p>
            <a:p>
              <a:endParaRPr lang="en-US" dirty="0" smtClean="0">
                <a:cs typeface="Consolas"/>
              </a:endParaRPr>
            </a:p>
            <a:p>
              <a:endParaRPr lang="en-US" dirty="0" smtClean="0">
                <a:cs typeface="Consolas"/>
              </a:endParaRPr>
            </a:p>
            <a:p>
              <a:endParaRPr lang="en-US" dirty="0">
                <a:cs typeface="Consolas"/>
              </a:endParaRPr>
            </a:p>
            <a:p>
              <a:endParaRPr lang="en-US" dirty="0" smtClean="0">
                <a:cs typeface="Consolas"/>
              </a:endParaRPr>
            </a:p>
            <a:p>
              <a:endParaRPr lang="en-US" dirty="0" smtClean="0">
                <a:cs typeface="Consolas"/>
              </a:endParaRPr>
            </a:p>
            <a:p>
              <a:endParaRPr lang="en-US" dirty="0" smtClean="0">
                <a:cs typeface="Consolas"/>
              </a:endParaRPr>
            </a:p>
            <a:p>
              <a:r>
                <a:rPr lang="en-US" dirty="0">
                  <a:cs typeface="Consolas"/>
                </a:rPr>
                <a:t> </a:t>
              </a:r>
              <a:r>
                <a:rPr lang="en-US" dirty="0" smtClean="0">
                  <a:cs typeface="Consolas"/>
                </a:rPr>
                <a:t> </a:t>
              </a:r>
              <a:r>
                <a:rPr lang="en-US" dirty="0" smtClean="0">
                  <a:solidFill>
                    <a:srgbClr val="008000"/>
                  </a:solidFill>
                  <a:cs typeface="Consolas"/>
                </a:rPr>
                <a:t>// Reschedule Neighbors if needed</a:t>
              </a:r>
            </a:p>
            <a:p>
              <a:r>
                <a:rPr lang="en-US" dirty="0">
                  <a:cs typeface="Consolas"/>
                </a:rPr>
                <a:t> </a:t>
              </a:r>
              <a:r>
                <a:rPr lang="en-US" dirty="0" smtClean="0">
                  <a:cs typeface="Consolas"/>
                </a:rPr>
                <a:t> if </a:t>
              </a:r>
              <a:r>
                <a:rPr lang="en-US" dirty="0" err="1" smtClean="0">
                  <a:cs typeface="Consolas"/>
                </a:rPr>
                <a:t>vertex.PageRank</a:t>
              </a:r>
              <a:r>
                <a:rPr lang="en-US" dirty="0" smtClean="0">
                  <a:cs typeface="Consolas"/>
                </a:rPr>
                <a:t> changes then </a:t>
              </a:r>
            </a:p>
            <a:p>
              <a:r>
                <a:rPr lang="en-US" dirty="0">
                  <a:cs typeface="Consolas"/>
                </a:rPr>
                <a:t> </a:t>
              </a:r>
              <a:r>
                <a:rPr lang="en-US" dirty="0" smtClean="0">
                  <a:cs typeface="Consolas"/>
                </a:rPr>
                <a:t>   </a:t>
              </a:r>
              <a:r>
                <a:rPr lang="en-US" dirty="0" err="1" smtClean="0">
                  <a:cs typeface="Consolas"/>
                </a:rPr>
                <a:t>reschedule_all_neighbors</a:t>
              </a:r>
              <a:r>
                <a:rPr lang="en-US" dirty="0" smtClean="0">
                  <a:cs typeface="Consolas"/>
                </a:rPr>
                <a:t>; </a:t>
              </a:r>
            </a:p>
            <a:p>
              <a:r>
                <a:rPr lang="en-US" dirty="0" smtClean="0">
                  <a:cs typeface="Consolas"/>
                </a:rPr>
                <a:t>}</a:t>
              </a:r>
            </a:p>
          </p:txBody>
        </p:sp>
        <p:graphicFrame>
          <p:nvGraphicFramePr>
            <p:cNvPr id="58" name="Object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23347649"/>
                </p:ext>
              </p:extLst>
            </p:nvPr>
          </p:nvGraphicFramePr>
          <p:xfrm>
            <a:off x="4360119" y="3285945"/>
            <a:ext cx="4734766" cy="1040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0" name="Equation" r:id="rId5" imgW="3060700" imgH="660400" progId="Equation.3">
                    <p:embed/>
                  </p:oleObj>
                </mc:Choice>
                <mc:Fallback>
                  <p:oleObj name="Equation" r:id="rId5" imgW="3060700" imgH="660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0119" y="3285945"/>
                          <a:ext cx="4734766" cy="104027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8"/>
          <p:cNvSpPr/>
          <p:nvPr/>
        </p:nvSpPr>
        <p:spPr bwMode="auto">
          <a:xfrm>
            <a:off x="4194303" y="2459317"/>
            <a:ext cx="4800600" cy="3429000"/>
          </a:xfrm>
          <a:prstGeom prst="rect">
            <a:avLst/>
          </a:prstGeom>
          <a:solidFill>
            <a:schemeClr val="bg1">
              <a:alpha val="80000"/>
            </a:schemeClr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8" name="Freeform 87"/>
          <p:cNvSpPr/>
          <p:nvPr/>
        </p:nvSpPr>
        <p:spPr bwMode="auto">
          <a:xfrm>
            <a:off x="697405" y="2284590"/>
            <a:ext cx="3489040" cy="2544877"/>
          </a:xfrm>
          <a:custGeom>
            <a:avLst/>
            <a:gdLst>
              <a:gd name="connsiteX0" fmla="*/ 1930400 w 3149600"/>
              <a:gd name="connsiteY0" fmla="*/ 159926 h 2455333"/>
              <a:gd name="connsiteX1" fmla="*/ 237067 w 3149600"/>
              <a:gd name="connsiteY1" fmla="*/ 193793 h 2455333"/>
              <a:gd name="connsiteX2" fmla="*/ 508000 w 3149600"/>
              <a:gd name="connsiteY2" fmla="*/ 1322682 h 2455333"/>
              <a:gd name="connsiteX3" fmla="*/ 993423 w 3149600"/>
              <a:gd name="connsiteY3" fmla="*/ 2304815 h 2455333"/>
              <a:gd name="connsiteX4" fmla="*/ 1569156 w 3149600"/>
              <a:gd name="connsiteY4" fmla="*/ 2225793 h 2455333"/>
              <a:gd name="connsiteX5" fmla="*/ 1919111 w 3149600"/>
              <a:gd name="connsiteY5" fmla="*/ 1175926 h 2455333"/>
              <a:gd name="connsiteX6" fmla="*/ 2291645 w 3149600"/>
              <a:gd name="connsiteY6" fmla="*/ 2135482 h 2455333"/>
              <a:gd name="connsiteX7" fmla="*/ 2889956 w 3149600"/>
              <a:gd name="connsiteY7" fmla="*/ 2304815 h 2455333"/>
              <a:gd name="connsiteX8" fmla="*/ 3081867 w 3149600"/>
              <a:gd name="connsiteY8" fmla="*/ 1841970 h 2455333"/>
              <a:gd name="connsiteX9" fmla="*/ 2483556 w 3149600"/>
              <a:gd name="connsiteY9" fmla="*/ 600193 h 2455333"/>
              <a:gd name="connsiteX10" fmla="*/ 1930400 w 3149600"/>
              <a:gd name="connsiteY10" fmla="*/ 159926 h 2455333"/>
              <a:gd name="connsiteX0" fmla="*/ 1969911 w 3155244"/>
              <a:gd name="connsiteY0" fmla="*/ 96426 h 2468033"/>
              <a:gd name="connsiteX1" fmla="*/ 242711 w 3155244"/>
              <a:gd name="connsiteY1" fmla="*/ 206493 h 2468033"/>
              <a:gd name="connsiteX2" fmla="*/ 513644 w 3155244"/>
              <a:gd name="connsiteY2" fmla="*/ 1335382 h 2468033"/>
              <a:gd name="connsiteX3" fmla="*/ 999067 w 3155244"/>
              <a:gd name="connsiteY3" fmla="*/ 2317515 h 2468033"/>
              <a:gd name="connsiteX4" fmla="*/ 1574800 w 3155244"/>
              <a:gd name="connsiteY4" fmla="*/ 2238493 h 2468033"/>
              <a:gd name="connsiteX5" fmla="*/ 1924755 w 3155244"/>
              <a:gd name="connsiteY5" fmla="*/ 1188626 h 2468033"/>
              <a:gd name="connsiteX6" fmla="*/ 2297289 w 3155244"/>
              <a:gd name="connsiteY6" fmla="*/ 2148182 h 2468033"/>
              <a:gd name="connsiteX7" fmla="*/ 2895600 w 3155244"/>
              <a:gd name="connsiteY7" fmla="*/ 2317515 h 2468033"/>
              <a:gd name="connsiteX8" fmla="*/ 3087511 w 3155244"/>
              <a:gd name="connsiteY8" fmla="*/ 1854670 h 2468033"/>
              <a:gd name="connsiteX9" fmla="*/ 2489200 w 3155244"/>
              <a:gd name="connsiteY9" fmla="*/ 612893 h 2468033"/>
              <a:gd name="connsiteX10" fmla="*/ 1969911 w 3155244"/>
              <a:gd name="connsiteY10" fmla="*/ 96426 h 2468033"/>
              <a:gd name="connsiteX0" fmla="*/ 1969911 w 3165592"/>
              <a:gd name="connsiteY0" fmla="*/ 96426 h 2468033"/>
              <a:gd name="connsiteX1" fmla="*/ 242711 w 3165592"/>
              <a:gd name="connsiteY1" fmla="*/ 206493 h 2468033"/>
              <a:gd name="connsiteX2" fmla="*/ 513644 w 3165592"/>
              <a:gd name="connsiteY2" fmla="*/ 1335382 h 2468033"/>
              <a:gd name="connsiteX3" fmla="*/ 999067 w 3165592"/>
              <a:gd name="connsiteY3" fmla="*/ 2317515 h 2468033"/>
              <a:gd name="connsiteX4" fmla="*/ 1574800 w 3165592"/>
              <a:gd name="connsiteY4" fmla="*/ 2238493 h 2468033"/>
              <a:gd name="connsiteX5" fmla="*/ 1924755 w 3165592"/>
              <a:gd name="connsiteY5" fmla="*/ 1188626 h 2468033"/>
              <a:gd name="connsiteX6" fmla="*/ 2297289 w 3165592"/>
              <a:gd name="connsiteY6" fmla="*/ 2148182 h 2468033"/>
              <a:gd name="connsiteX7" fmla="*/ 2895600 w 3165592"/>
              <a:gd name="connsiteY7" fmla="*/ 2317515 h 2468033"/>
              <a:gd name="connsiteX8" fmla="*/ 3087511 w 3165592"/>
              <a:gd name="connsiteY8" fmla="*/ 1854670 h 2468033"/>
              <a:gd name="connsiteX9" fmla="*/ 2427111 w 3165592"/>
              <a:gd name="connsiteY9" fmla="*/ 477426 h 2468033"/>
              <a:gd name="connsiteX10" fmla="*/ 1969911 w 3165592"/>
              <a:gd name="connsiteY10" fmla="*/ 96426 h 2468033"/>
              <a:gd name="connsiteX0" fmla="*/ 1881011 w 3152892"/>
              <a:gd name="connsiteY0" fmla="*/ 96426 h 2468033"/>
              <a:gd name="connsiteX1" fmla="*/ 230011 w 3152892"/>
              <a:gd name="connsiteY1" fmla="*/ 206493 h 2468033"/>
              <a:gd name="connsiteX2" fmla="*/ 500944 w 3152892"/>
              <a:gd name="connsiteY2" fmla="*/ 1335382 h 2468033"/>
              <a:gd name="connsiteX3" fmla="*/ 986367 w 3152892"/>
              <a:gd name="connsiteY3" fmla="*/ 2317515 h 2468033"/>
              <a:gd name="connsiteX4" fmla="*/ 1562100 w 3152892"/>
              <a:gd name="connsiteY4" fmla="*/ 2238493 h 2468033"/>
              <a:gd name="connsiteX5" fmla="*/ 1912055 w 3152892"/>
              <a:gd name="connsiteY5" fmla="*/ 1188626 h 2468033"/>
              <a:gd name="connsiteX6" fmla="*/ 2284589 w 3152892"/>
              <a:gd name="connsiteY6" fmla="*/ 2148182 h 2468033"/>
              <a:gd name="connsiteX7" fmla="*/ 2882900 w 3152892"/>
              <a:gd name="connsiteY7" fmla="*/ 2317515 h 2468033"/>
              <a:gd name="connsiteX8" fmla="*/ 3074811 w 3152892"/>
              <a:gd name="connsiteY8" fmla="*/ 1854670 h 2468033"/>
              <a:gd name="connsiteX9" fmla="*/ 2414411 w 3152892"/>
              <a:gd name="connsiteY9" fmla="*/ 477426 h 2468033"/>
              <a:gd name="connsiteX10" fmla="*/ 1881011 w 3152892"/>
              <a:gd name="connsiteY10" fmla="*/ 96426 h 24680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7921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92111 w 3063992"/>
              <a:gd name="connsiteY11" fmla="*/ 50800 h 2422407"/>
              <a:gd name="connsiteX0" fmla="*/ 17159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15911 w 3063992"/>
              <a:gd name="connsiteY11" fmla="*/ 50800 h 2422407"/>
              <a:gd name="connsiteX0" fmla="*/ 1779411 w 3127492"/>
              <a:gd name="connsiteY0" fmla="*/ 38100 h 2409707"/>
              <a:gd name="connsiteX1" fmla="*/ 1093611 w 3127492"/>
              <a:gd name="connsiteY1" fmla="*/ 190500 h 2409707"/>
              <a:gd name="connsiteX2" fmla="*/ 103011 w 3127492"/>
              <a:gd name="connsiteY2" fmla="*/ 266700 h 2409707"/>
              <a:gd name="connsiteX3" fmla="*/ 475544 w 3127492"/>
              <a:gd name="connsiteY3" fmla="*/ 1277056 h 2409707"/>
              <a:gd name="connsiteX4" fmla="*/ 960967 w 3127492"/>
              <a:gd name="connsiteY4" fmla="*/ 2259189 h 2409707"/>
              <a:gd name="connsiteX5" fmla="*/ 1536700 w 3127492"/>
              <a:gd name="connsiteY5" fmla="*/ 2180167 h 2409707"/>
              <a:gd name="connsiteX6" fmla="*/ 1886655 w 3127492"/>
              <a:gd name="connsiteY6" fmla="*/ 1130300 h 2409707"/>
              <a:gd name="connsiteX7" fmla="*/ 2259189 w 3127492"/>
              <a:gd name="connsiteY7" fmla="*/ 2089856 h 2409707"/>
              <a:gd name="connsiteX8" fmla="*/ 2857500 w 3127492"/>
              <a:gd name="connsiteY8" fmla="*/ 2259189 h 2409707"/>
              <a:gd name="connsiteX9" fmla="*/ 3049411 w 3127492"/>
              <a:gd name="connsiteY9" fmla="*/ 1796344 h 2409707"/>
              <a:gd name="connsiteX10" fmla="*/ 2389011 w 3127492"/>
              <a:gd name="connsiteY10" fmla="*/ 419100 h 2409707"/>
              <a:gd name="connsiteX11" fmla="*/ 1779411 w 3127492"/>
              <a:gd name="connsiteY11" fmla="*/ 38100 h 2409707"/>
              <a:gd name="connsiteX0" fmla="*/ 1855611 w 3127492"/>
              <a:gd name="connsiteY0" fmla="*/ 38100 h 2333507"/>
              <a:gd name="connsiteX1" fmla="*/ 1093611 w 3127492"/>
              <a:gd name="connsiteY1" fmla="*/ 114300 h 2333507"/>
              <a:gd name="connsiteX2" fmla="*/ 103011 w 3127492"/>
              <a:gd name="connsiteY2" fmla="*/ 190500 h 2333507"/>
              <a:gd name="connsiteX3" fmla="*/ 475544 w 3127492"/>
              <a:gd name="connsiteY3" fmla="*/ 1200856 h 2333507"/>
              <a:gd name="connsiteX4" fmla="*/ 960967 w 3127492"/>
              <a:gd name="connsiteY4" fmla="*/ 2182989 h 2333507"/>
              <a:gd name="connsiteX5" fmla="*/ 1536700 w 3127492"/>
              <a:gd name="connsiteY5" fmla="*/ 2103967 h 2333507"/>
              <a:gd name="connsiteX6" fmla="*/ 1886655 w 3127492"/>
              <a:gd name="connsiteY6" fmla="*/ 1054100 h 2333507"/>
              <a:gd name="connsiteX7" fmla="*/ 2259189 w 3127492"/>
              <a:gd name="connsiteY7" fmla="*/ 2013656 h 2333507"/>
              <a:gd name="connsiteX8" fmla="*/ 2857500 w 3127492"/>
              <a:gd name="connsiteY8" fmla="*/ 2182989 h 2333507"/>
              <a:gd name="connsiteX9" fmla="*/ 3049411 w 3127492"/>
              <a:gd name="connsiteY9" fmla="*/ 1720144 h 2333507"/>
              <a:gd name="connsiteX10" fmla="*/ 2389011 w 3127492"/>
              <a:gd name="connsiteY10" fmla="*/ 342900 h 2333507"/>
              <a:gd name="connsiteX11" fmla="*/ 1855611 w 3127492"/>
              <a:gd name="connsiteY11" fmla="*/ 38100 h 2333507"/>
              <a:gd name="connsiteX0" fmla="*/ 1765300 w 3037181"/>
              <a:gd name="connsiteY0" fmla="*/ 38100 h 2374900"/>
              <a:gd name="connsiteX1" fmla="*/ 1003300 w 3037181"/>
              <a:gd name="connsiteY1" fmla="*/ 114300 h 2374900"/>
              <a:gd name="connsiteX2" fmla="*/ 12700 w 3037181"/>
              <a:gd name="connsiteY2" fmla="*/ 190500 h 2374900"/>
              <a:gd name="connsiteX3" fmla="*/ 1079500 w 3037181"/>
              <a:gd name="connsiteY3" fmla="*/ 952500 h 2374900"/>
              <a:gd name="connsiteX4" fmla="*/ 870656 w 3037181"/>
              <a:gd name="connsiteY4" fmla="*/ 2182989 h 2374900"/>
              <a:gd name="connsiteX5" fmla="*/ 1446389 w 3037181"/>
              <a:gd name="connsiteY5" fmla="*/ 2103967 h 2374900"/>
              <a:gd name="connsiteX6" fmla="*/ 1796344 w 3037181"/>
              <a:gd name="connsiteY6" fmla="*/ 1054100 h 2374900"/>
              <a:gd name="connsiteX7" fmla="*/ 2168878 w 3037181"/>
              <a:gd name="connsiteY7" fmla="*/ 2013656 h 2374900"/>
              <a:gd name="connsiteX8" fmla="*/ 2767189 w 3037181"/>
              <a:gd name="connsiteY8" fmla="*/ 2182989 h 2374900"/>
              <a:gd name="connsiteX9" fmla="*/ 2959100 w 3037181"/>
              <a:gd name="connsiteY9" fmla="*/ 1720144 h 2374900"/>
              <a:gd name="connsiteX10" fmla="*/ 2298700 w 3037181"/>
              <a:gd name="connsiteY10" fmla="*/ 342900 h 2374900"/>
              <a:gd name="connsiteX11" fmla="*/ 1765300 w 3037181"/>
              <a:gd name="connsiteY11" fmla="*/ 38100 h 2374900"/>
              <a:gd name="connsiteX0" fmla="*/ 1765300 w 3037181"/>
              <a:gd name="connsiteY0" fmla="*/ 38100 h 2239433"/>
              <a:gd name="connsiteX1" fmla="*/ 1003300 w 3037181"/>
              <a:gd name="connsiteY1" fmla="*/ 114300 h 2239433"/>
              <a:gd name="connsiteX2" fmla="*/ 12700 w 3037181"/>
              <a:gd name="connsiteY2" fmla="*/ 190500 h 2239433"/>
              <a:gd name="connsiteX3" fmla="*/ 1079500 w 3037181"/>
              <a:gd name="connsiteY3" fmla="*/ 952500 h 2239433"/>
              <a:gd name="connsiteX4" fmla="*/ 698500 w 3037181"/>
              <a:gd name="connsiteY4" fmla="*/ 1866899 h 2239433"/>
              <a:gd name="connsiteX5" fmla="*/ 1446389 w 3037181"/>
              <a:gd name="connsiteY5" fmla="*/ 2103967 h 2239433"/>
              <a:gd name="connsiteX6" fmla="*/ 1796344 w 3037181"/>
              <a:gd name="connsiteY6" fmla="*/ 1054100 h 2239433"/>
              <a:gd name="connsiteX7" fmla="*/ 2168878 w 3037181"/>
              <a:gd name="connsiteY7" fmla="*/ 2013656 h 2239433"/>
              <a:gd name="connsiteX8" fmla="*/ 2767189 w 3037181"/>
              <a:gd name="connsiteY8" fmla="*/ 2182989 h 2239433"/>
              <a:gd name="connsiteX9" fmla="*/ 2959100 w 3037181"/>
              <a:gd name="connsiteY9" fmla="*/ 1720144 h 2239433"/>
              <a:gd name="connsiteX10" fmla="*/ 2298700 w 3037181"/>
              <a:gd name="connsiteY10" fmla="*/ 342900 h 2239433"/>
              <a:gd name="connsiteX11" fmla="*/ 1765300 w 3037181"/>
              <a:gd name="connsiteY11" fmla="*/ 38100 h 2239433"/>
              <a:gd name="connsiteX0" fmla="*/ 1765300 w 3037181"/>
              <a:gd name="connsiteY0" fmla="*/ 38100 h 2231908"/>
              <a:gd name="connsiteX1" fmla="*/ 1003300 w 3037181"/>
              <a:gd name="connsiteY1" fmla="*/ 114300 h 2231908"/>
              <a:gd name="connsiteX2" fmla="*/ 12700 w 3037181"/>
              <a:gd name="connsiteY2" fmla="*/ 190500 h 2231908"/>
              <a:gd name="connsiteX3" fmla="*/ 1079500 w 3037181"/>
              <a:gd name="connsiteY3" fmla="*/ 952500 h 2231908"/>
              <a:gd name="connsiteX4" fmla="*/ 698500 w 3037181"/>
              <a:gd name="connsiteY4" fmla="*/ 1866899 h 2231908"/>
              <a:gd name="connsiteX5" fmla="*/ 1384300 w 3037181"/>
              <a:gd name="connsiteY5" fmla="*/ 2095500 h 2231908"/>
              <a:gd name="connsiteX6" fmla="*/ 1796344 w 3037181"/>
              <a:gd name="connsiteY6" fmla="*/ 1054100 h 2231908"/>
              <a:gd name="connsiteX7" fmla="*/ 2168878 w 3037181"/>
              <a:gd name="connsiteY7" fmla="*/ 2013656 h 2231908"/>
              <a:gd name="connsiteX8" fmla="*/ 2767189 w 3037181"/>
              <a:gd name="connsiteY8" fmla="*/ 2182989 h 2231908"/>
              <a:gd name="connsiteX9" fmla="*/ 2959100 w 3037181"/>
              <a:gd name="connsiteY9" fmla="*/ 1720144 h 2231908"/>
              <a:gd name="connsiteX10" fmla="*/ 2298700 w 3037181"/>
              <a:gd name="connsiteY10" fmla="*/ 342900 h 2231908"/>
              <a:gd name="connsiteX11" fmla="*/ 1765300 w 3037181"/>
              <a:gd name="connsiteY11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51741 h 2245549"/>
              <a:gd name="connsiteX1" fmla="*/ 1092200 w 3126081"/>
              <a:gd name="connsiteY1" fmla="*/ 127941 h 2245549"/>
              <a:gd name="connsiteX2" fmla="*/ 101600 w 3126081"/>
              <a:gd name="connsiteY2" fmla="*/ 204141 h 2245549"/>
              <a:gd name="connsiteX3" fmla="*/ 177800 w 3126081"/>
              <a:gd name="connsiteY3" fmla="*/ 661341 h 2245549"/>
              <a:gd name="connsiteX4" fmla="*/ 1168400 w 3126081"/>
              <a:gd name="connsiteY4" fmla="*/ 966141 h 2245549"/>
              <a:gd name="connsiteX5" fmla="*/ 787400 w 3126081"/>
              <a:gd name="connsiteY5" fmla="*/ 1880540 h 2245549"/>
              <a:gd name="connsiteX6" fmla="*/ 1473200 w 3126081"/>
              <a:gd name="connsiteY6" fmla="*/ 2109141 h 2245549"/>
              <a:gd name="connsiteX7" fmla="*/ 1885244 w 3126081"/>
              <a:gd name="connsiteY7" fmla="*/ 1067741 h 2245549"/>
              <a:gd name="connsiteX8" fmla="*/ 2257778 w 3126081"/>
              <a:gd name="connsiteY8" fmla="*/ 2027297 h 2245549"/>
              <a:gd name="connsiteX9" fmla="*/ 2856089 w 3126081"/>
              <a:gd name="connsiteY9" fmla="*/ 2196630 h 2245549"/>
              <a:gd name="connsiteX10" fmla="*/ 3048000 w 3126081"/>
              <a:gd name="connsiteY10" fmla="*/ 1733785 h 2245549"/>
              <a:gd name="connsiteX11" fmla="*/ 2387600 w 3126081"/>
              <a:gd name="connsiteY11" fmla="*/ 280341 h 2245549"/>
              <a:gd name="connsiteX12" fmla="*/ 1854200 w 3126081"/>
              <a:gd name="connsiteY12" fmla="*/ 51741 h 2245549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98931 w 3147012"/>
              <a:gd name="connsiteY0" fmla="*/ 25400 h 2295407"/>
              <a:gd name="connsiteX1" fmla="*/ 1113131 w 3147012"/>
              <a:gd name="connsiteY1" fmla="*/ 177799 h 2295407"/>
              <a:gd name="connsiteX2" fmla="*/ 122531 w 3147012"/>
              <a:gd name="connsiteY2" fmla="*/ 253999 h 2295407"/>
              <a:gd name="connsiteX3" fmla="*/ 198731 w 3147012"/>
              <a:gd name="connsiteY3" fmla="*/ 711199 h 2295407"/>
              <a:gd name="connsiteX4" fmla="*/ 1189331 w 3147012"/>
              <a:gd name="connsiteY4" fmla="*/ 1015999 h 2295407"/>
              <a:gd name="connsiteX5" fmla="*/ 808331 w 3147012"/>
              <a:gd name="connsiteY5" fmla="*/ 1930398 h 2295407"/>
              <a:gd name="connsiteX6" fmla="*/ 1494131 w 3147012"/>
              <a:gd name="connsiteY6" fmla="*/ 2158999 h 2295407"/>
              <a:gd name="connsiteX7" fmla="*/ 1906175 w 3147012"/>
              <a:gd name="connsiteY7" fmla="*/ 1117599 h 2295407"/>
              <a:gd name="connsiteX8" fmla="*/ 2278709 w 3147012"/>
              <a:gd name="connsiteY8" fmla="*/ 2077155 h 2295407"/>
              <a:gd name="connsiteX9" fmla="*/ 2877020 w 3147012"/>
              <a:gd name="connsiteY9" fmla="*/ 2246488 h 2295407"/>
              <a:gd name="connsiteX10" fmla="*/ 3068931 w 3147012"/>
              <a:gd name="connsiteY10" fmla="*/ 1783643 h 2295407"/>
              <a:gd name="connsiteX11" fmla="*/ 2408531 w 3147012"/>
              <a:gd name="connsiteY11" fmla="*/ 330199 h 2295407"/>
              <a:gd name="connsiteX12" fmla="*/ 1798931 w 3147012"/>
              <a:gd name="connsiteY12" fmla="*/ 25400 h 229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7012" h="2295407">
                <a:moveTo>
                  <a:pt x="1798931" y="25400"/>
                </a:moveTo>
                <a:cubicBezTo>
                  <a:pt x="1583031" y="0"/>
                  <a:pt x="1467320" y="173566"/>
                  <a:pt x="1113131" y="177799"/>
                </a:cubicBezTo>
                <a:cubicBezTo>
                  <a:pt x="837964" y="196143"/>
                  <a:pt x="332081" y="76199"/>
                  <a:pt x="122531" y="253999"/>
                </a:cubicBezTo>
                <a:cubicBezTo>
                  <a:pt x="0" y="433210"/>
                  <a:pt x="20931" y="584199"/>
                  <a:pt x="198731" y="711199"/>
                </a:cubicBezTo>
                <a:cubicBezTo>
                  <a:pt x="376531" y="838199"/>
                  <a:pt x="1087731" y="812799"/>
                  <a:pt x="1189331" y="1015999"/>
                </a:cubicBezTo>
                <a:cubicBezTo>
                  <a:pt x="1290931" y="1219199"/>
                  <a:pt x="757531" y="1739898"/>
                  <a:pt x="808331" y="1930398"/>
                </a:cubicBezTo>
                <a:cubicBezTo>
                  <a:pt x="859131" y="2120898"/>
                  <a:pt x="1311157" y="2294465"/>
                  <a:pt x="1494131" y="2158999"/>
                </a:cubicBezTo>
                <a:cubicBezTo>
                  <a:pt x="1677105" y="2023533"/>
                  <a:pt x="1775412" y="1131240"/>
                  <a:pt x="1906175" y="1117599"/>
                </a:cubicBezTo>
                <a:cubicBezTo>
                  <a:pt x="2036938" y="1103958"/>
                  <a:pt x="2116902" y="1889007"/>
                  <a:pt x="2278709" y="2077155"/>
                </a:cubicBezTo>
                <a:cubicBezTo>
                  <a:pt x="2440516" y="2265303"/>
                  <a:pt x="2745316" y="2295407"/>
                  <a:pt x="2877020" y="2246488"/>
                </a:cubicBezTo>
                <a:cubicBezTo>
                  <a:pt x="3008724" y="2197569"/>
                  <a:pt x="3147012" y="2103024"/>
                  <a:pt x="3068931" y="1783643"/>
                </a:cubicBezTo>
                <a:cubicBezTo>
                  <a:pt x="2990850" y="1464262"/>
                  <a:pt x="2620198" y="623240"/>
                  <a:pt x="2408531" y="330199"/>
                </a:cubicBezTo>
                <a:cubicBezTo>
                  <a:pt x="2196864" y="37158"/>
                  <a:pt x="2014831" y="50800"/>
                  <a:pt x="1798931" y="25400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21" name="Straight Arrow Connector 120"/>
          <p:cNvCxnSpPr>
            <a:endCxn id="88" idx="11"/>
          </p:cNvCxnSpPr>
          <p:nvPr/>
        </p:nvCxnSpPr>
        <p:spPr bwMode="auto">
          <a:xfrm flipH="1">
            <a:off x="3367703" y="1828800"/>
            <a:ext cx="1813897" cy="821876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5" name="Group 127"/>
          <p:cNvGrpSpPr/>
          <p:nvPr/>
        </p:nvGrpSpPr>
        <p:grpSpPr>
          <a:xfrm>
            <a:off x="1143000" y="1828800"/>
            <a:ext cx="2055740" cy="1328766"/>
            <a:chOff x="2061955" y="1677810"/>
            <a:chExt cx="2055740" cy="1328766"/>
          </a:xfrm>
        </p:grpSpPr>
        <p:sp>
          <p:nvSpPr>
            <p:cNvPr id="89" name="Oval 88"/>
            <p:cNvSpPr/>
            <p:nvPr/>
          </p:nvSpPr>
          <p:spPr bwMode="auto">
            <a:xfrm>
              <a:off x="3357360" y="2246242"/>
              <a:ext cx="760335" cy="760334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123" name="Straight Arrow Connector 122"/>
            <p:cNvCxnSpPr>
              <a:endCxn id="89" idx="1"/>
            </p:cNvCxnSpPr>
            <p:nvPr/>
          </p:nvCxnSpPr>
          <p:spPr bwMode="auto">
            <a:xfrm>
              <a:off x="2061955" y="1677810"/>
              <a:ext cx="1406753" cy="67978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+mn-lt"/>
              </a:rPr>
              <a:t>Update Functions</a:t>
            </a:r>
            <a:endParaRPr lang="en-US" dirty="0">
              <a:latin typeface="+mn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9599" y="762000"/>
            <a:ext cx="84582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User-defined program</a:t>
            </a:r>
            <a:r>
              <a:rPr lang="en-US" sz="3200" dirty="0"/>
              <a:t>:</a:t>
            </a:r>
            <a:r>
              <a:rPr lang="en-US" sz="3200" dirty="0" smtClean="0"/>
              <a:t> applied to a</a:t>
            </a:r>
            <a:br>
              <a:rPr lang="en-US" sz="3200" dirty="0" smtClean="0"/>
            </a:br>
            <a:r>
              <a:rPr lang="en-US" sz="3200" b="1" dirty="0" smtClean="0">
                <a:solidFill>
                  <a:srgbClr val="C00000"/>
                </a:solidFill>
              </a:rPr>
              <a:t>vertex</a:t>
            </a:r>
            <a:r>
              <a:rPr lang="en-US" sz="3200" dirty="0" smtClean="0"/>
              <a:t> and transforms data in </a:t>
            </a:r>
            <a:r>
              <a:rPr lang="en-US" sz="3200" b="1" dirty="0" smtClean="0">
                <a:solidFill>
                  <a:schemeClr val="accent6"/>
                </a:solidFill>
              </a:rPr>
              <a:t>scope</a:t>
            </a:r>
            <a:r>
              <a:rPr lang="en-US" sz="3200" b="1" dirty="0" smtClean="0"/>
              <a:t> </a:t>
            </a:r>
            <a:r>
              <a:rPr lang="en-US" sz="3200" dirty="0" smtClean="0"/>
              <a:t>of vertex</a:t>
            </a:r>
            <a:endParaRPr lang="en-US" sz="3200" b="1" dirty="0"/>
          </a:p>
        </p:txBody>
      </p:sp>
      <p:cxnSp>
        <p:nvCxnSpPr>
          <p:cNvPr id="91" name="Straight Arrow Connector 90"/>
          <p:cNvCxnSpPr>
            <a:stCxn id="97" idx="6"/>
            <a:endCxn id="98" idx="2"/>
          </p:cNvCxnSpPr>
          <p:nvPr/>
        </p:nvCxnSpPr>
        <p:spPr bwMode="auto">
          <a:xfrm>
            <a:off x="1403520" y="2783766"/>
            <a:ext cx="1212472" cy="176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92" name="Straight Arrow Connector 91"/>
          <p:cNvCxnSpPr>
            <a:stCxn id="102" idx="0"/>
            <a:endCxn id="97" idx="3"/>
          </p:cNvCxnSpPr>
          <p:nvPr/>
        </p:nvCxnSpPr>
        <p:spPr bwMode="auto">
          <a:xfrm flipV="1">
            <a:off x="773029" y="2937612"/>
            <a:ext cx="259073" cy="118346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93" name="Straight Arrow Connector 92"/>
          <p:cNvCxnSpPr>
            <a:stCxn id="104" idx="1"/>
            <a:endCxn id="98" idx="5"/>
          </p:cNvCxnSpPr>
          <p:nvPr/>
        </p:nvCxnSpPr>
        <p:spPr bwMode="auto">
          <a:xfrm rot="16200000" flipV="1">
            <a:off x="2625789" y="3299234"/>
            <a:ext cx="1247188" cy="52394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94" name="Straight Arrow Connector 93"/>
          <p:cNvCxnSpPr>
            <a:stCxn id="103" idx="7"/>
            <a:endCxn id="98" idx="3"/>
          </p:cNvCxnSpPr>
          <p:nvPr/>
        </p:nvCxnSpPr>
        <p:spPr bwMode="auto">
          <a:xfrm rot="5400000" flipH="1" flipV="1">
            <a:off x="1801980" y="3307065"/>
            <a:ext cx="1247188" cy="50828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95" name="Straight Arrow Connector 94"/>
          <p:cNvCxnSpPr>
            <a:stCxn id="103" idx="1"/>
            <a:endCxn id="97" idx="5"/>
          </p:cNvCxnSpPr>
          <p:nvPr/>
        </p:nvCxnSpPr>
        <p:spPr bwMode="auto">
          <a:xfrm rot="16200000" flipV="1">
            <a:off x="978174" y="3299234"/>
            <a:ext cx="1247188" cy="52394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sp>
        <p:nvSpPr>
          <p:cNvPr id="97" name="Oval 96"/>
          <p:cNvSpPr/>
          <p:nvPr/>
        </p:nvSpPr>
        <p:spPr bwMode="auto">
          <a:xfrm>
            <a:off x="968377" y="2566195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98" name="Oval 97"/>
          <p:cNvSpPr/>
          <p:nvPr/>
        </p:nvSpPr>
        <p:spPr bwMode="auto">
          <a:xfrm>
            <a:off x="2615992" y="2566195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968376" y="5517925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2615992" y="5517925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2" name="Oval 4"/>
          <p:cNvSpPr/>
          <p:nvPr/>
        </p:nvSpPr>
        <p:spPr bwMode="auto">
          <a:xfrm>
            <a:off x="555457" y="4121076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3" name="Oval 102"/>
          <p:cNvSpPr/>
          <p:nvPr/>
        </p:nvSpPr>
        <p:spPr bwMode="auto">
          <a:xfrm>
            <a:off x="1800015" y="4121076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04" name="Oval 103"/>
          <p:cNvSpPr/>
          <p:nvPr/>
        </p:nvSpPr>
        <p:spPr bwMode="auto">
          <a:xfrm>
            <a:off x="3447630" y="4121076"/>
            <a:ext cx="435143" cy="435142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cxnSp>
        <p:nvCxnSpPr>
          <p:cNvPr id="106" name="Straight Arrow Connector 105"/>
          <p:cNvCxnSpPr>
            <a:stCxn id="100" idx="6"/>
            <a:endCxn id="101" idx="2"/>
          </p:cNvCxnSpPr>
          <p:nvPr/>
        </p:nvCxnSpPr>
        <p:spPr bwMode="auto">
          <a:xfrm>
            <a:off x="1403519" y="5735496"/>
            <a:ext cx="1212473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07" name="Straight Arrow Connector 106"/>
          <p:cNvCxnSpPr>
            <a:stCxn id="100" idx="1"/>
            <a:endCxn id="102" idx="4"/>
          </p:cNvCxnSpPr>
          <p:nvPr/>
        </p:nvCxnSpPr>
        <p:spPr bwMode="auto">
          <a:xfrm flipH="1" flipV="1">
            <a:off x="773029" y="4556218"/>
            <a:ext cx="259072" cy="102543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08" name="Straight Arrow Connector 107"/>
          <p:cNvCxnSpPr>
            <a:stCxn id="101" idx="7"/>
            <a:endCxn id="104" idx="3"/>
          </p:cNvCxnSpPr>
          <p:nvPr/>
        </p:nvCxnSpPr>
        <p:spPr bwMode="auto">
          <a:xfrm rot="5400000" flipH="1" flipV="1">
            <a:off x="2704804" y="4775100"/>
            <a:ext cx="1089157" cy="52394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09" name="Straight Arrow Connector 108"/>
          <p:cNvCxnSpPr>
            <a:stCxn id="101" idx="1"/>
            <a:endCxn id="103" idx="5"/>
          </p:cNvCxnSpPr>
          <p:nvPr/>
        </p:nvCxnSpPr>
        <p:spPr bwMode="auto">
          <a:xfrm rot="16200000" flipV="1">
            <a:off x="1880997" y="4782930"/>
            <a:ext cx="1089157" cy="50828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10" name="Straight Arrow Connector 109"/>
          <p:cNvCxnSpPr>
            <a:stCxn id="100" idx="7"/>
            <a:endCxn id="103" idx="3"/>
          </p:cNvCxnSpPr>
          <p:nvPr/>
        </p:nvCxnSpPr>
        <p:spPr bwMode="auto">
          <a:xfrm rot="5400000" flipH="1" flipV="1">
            <a:off x="1057189" y="4775099"/>
            <a:ext cx="1089157" cy="523946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grpSp>
        <p:nvGrpSpPr>
          <p:cNvPr id="6" name="Group 128"/>
          <p:cNvGrpSpPr/>
          <p:nvPr/>
        </p:nvGrpSpPr>
        <p:grpSpPr>
          <a:xfrm>
            <a:off x="1062245" y="2650677"/>
            <a:ext cx="2743200" cy="1843713"/>
            <a:chOff x="1981200" y="2499687"/>
            <a:chExt cx="2743200" cy="1843713"/>
          </a:xfrm>
        </p:grpSpPr>
        <p:sp>
          <p:nvSpPr>
            <p:cNvPr id="116" name="Cube 115"/>
            <p:cNvSpPr/>
            <p:nvPr/>
          </p:nvSpPr>
          <p:spPr bwMode="auto">
            <a:xfrm>
              <a:off x="3618983" y="2499687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7" name="Cube 116"/>
            <p:cNvSpPr/>
            <p:nvPr/>
          </p:nvSpPr>
          <p:spPr bwMode="auto">
            <a:xfrm>
              <a:off x="2819400" y="4069080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8" name="Cube 117"/>
            <p:cNvSpPr/>
            <p:nvPr/>
          </p:nvSpPr>
          <p:spPr bwMode="auto">
            <a:xfrm>
              <a:off x="1981200" y="2499687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9" name="Cube 118"/>
            <p:cNvSpPr/>
            <p:nvPr/>
          </p:nvSpPr>
          <p:spPr bwMode="auto">
            <a:xfrm>
              <a:off x="4450080" y="4069080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3" name="Cube 112"/>
            <p:cNvSpPr/>
            <p:nvPr/>
          </p:nvSpPr>
          <p:spPr bwMode="auto">
            <a:xfrm>
              <a:off x="2752244" y="2514600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4" name="Cube 113"/>
            <p:cNvSpPr/>
            <p:nvPr/>
          </p:nvSpPr>
          <p:spPr bwMode="auto">
            <a:xfrm>
              <a:off x="3203340" y="3309835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  <p:sp>
          <p:nvSpPr>
            <p:cNvPr id="115" name="Cube 114"/>
            <p:cNvSpPr/>
            <p:nvPr/>
          </p:nvSpPr>
          <p:spPr bwMode="auto">
            <a:xfrm>
              <a:off x="4038600" y="3309835"/>
              <a:ext cx="274320" cy="27432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ea typeface="ＭＳ Ｐゴシック" pitchFamily="-111" charset="-128"/>
              </a:endParaRPr>
            </a:p>
          </p:txBody>
        </p:sp>
      </p:grpSp>
      <p:sp>
        <p:nvSpPr>
          <p:cNvPr id="65" name="Rectangle 64"/>
          <p:cNvSpPr/>
          <p:nvPr/>
        </p:nvSpPr>
        <p:spPr bwMode="auto">
          <a:xfrm>
            <a:off x="4318740" y="4594084"/>
            <a:ext cx="4800600" cy="1143000"/>
          </a:xfrm>
          <a:prstGeom prst="rect">
            <a:avLst/>
          </a:prstGeom>
          <a:solidFill>
            <a:schemeClr val="bg1">
              <a:alpha val="8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7512817" y="4876800"/>
            <a:ext cx="1554983" cy="1469886"/>
            <a:chOff x="7512817" y="4876800"/>
            <a:chExt cx="1554983" cy="1469886"/>
          </a:xfrm>
        </p:grpSpPr>
        <p:sp>
          <p:nvSpPr>
            <p:cNvPr id="7" name="TextBox 6"/>
            <p:cNvSpPr txBox="1"/>
            <p:nvPr/>
          </p:nvSpPr>
          <p:spPr>
            <a:xfrm>
              <a:off x="7512817" y="5638800"/>
              <a:ext cx="1554983" cy="707886"/>
            </a:xfrm>
            <a:prstGeom prst="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n-US" sz="2000" b="1" dirty="0" smtClean="0"/>
                <a:t>Dynamic </a:t>
              </a:r>
              <a:br>
                <a:rPr lang="en-US" sz="2000" b="1" dirty="0" smtClean="0"/>
              </a:br>
              <a:r>
                <a:rPr lang="en-US" sz="2000" b="1" dirty="0" smtClean="0"/>
                <a:t>computation</a:t>
              </a:r>
              <a:endParaRPr lang="en-US" sz="2000" b="1" dirty="0"/>
            </a:p>
          </p:txBody>
        </p:sp>
        <p:cxnSp>
          <p:nvCxnSpPr>
            <p:cNvPr id="11" name="Straight Arrow Connector 10"/>
            <p:cNvCxnSpPr>
              <a:stCxn id="7" idx="0"/>
            </p:cNvCxnSpPr>
            <p:nvPr/>
          </p:nvCxnSpPr>
          <p:spPr bwMode="auto">
            <a:xfrm flipH="1" flipV="1">
              <a:off x="8153400" y="4876800"/>
              <a:ext cx="136909" cy="76200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44" name="TextBox 43"/>
          <p:cNvSpPr txBox="1"/>
          <p:nvPr/>
        </p:nvSpPr>
        <p:spPr>
          <a:xfrm>
            <a:off x="555457" y="2286744"/>
            <a:ext cx="8038829" cy="2185214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3600" dirty="0" smtClean="0"/>
              <a:t>Update function applied (asynchronously) </a:t>
            </a:r>
          </a:p>
          <a:p>
            <a:pPr algn="ctr"/>
            <a:r>
              <a:rPr lang="en-US" sz="3600" dirty="0" smtClean="0"/>
              <a:t>in parallel until convergence</a:t>
            </a:r>
          </a:p>
          <a:p>
            <a:pPr algn="ctr"/>
            <a:endParaRPr lang="en-US" sz="3600" dirty="0"/>
          </a:p>
          <a:p>
            <a:pPr algn="ctr"/>
            <a:r>
              <a:rPr lang="en-US" sz="2400" dirty="0" smtClean="0"/>
              <a:t>Many schedulers available to prioritize computation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107609" y="4783439"/>
            <a:ext cx="4841173" cy="64633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Why Dynamic?</a:t>
            </a:r>
            <a:endParaRPr lang="en-US" sz="24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440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8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9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2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4" dur="indefinite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5" dur="indefinite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7" dur="indefinite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8" dur="indefinite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3" dur="indefinite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4" dur="indefinite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7" dur="indefinite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59" dur="indefinite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0" dur="indefinite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2" dur="indefinite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3" dur="indefinite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5" dur="indefinite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6" dur="indefinite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8" dur="indefinite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9" dur="indefinite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71" dur="indefinite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2" dur="indefinite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74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5" dur="indefinite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77" dur="indefinite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8" dur="indefinite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0" dur="indefinite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1" dur="indefinite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3" dur="indefinite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4" dur="indefinite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6" dur="indefinite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87" dur="indefinite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9" dur="indefinite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0" dur="indefinite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2" dur="indefinite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3" dur="indefinite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5" dur="indefinite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6" dur="indefinite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8" dur="indefinite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9" dur="indefinite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1" dur="indefinite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2" dur="indefinite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4" dur="indefinite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5" dur="indefinite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7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8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0" dur="indefinite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1" dur="indefinite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3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4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9" grpId="0" animBg="1"/>
      <p:bldP spid="9" grpId="1" animBg="1"/>
      <p:bldP spid="88" grpId="0" animBg="1"/>
      <p:bldP spid="88" grpId="1" animBg="1"/>
      <p:bldP spid="34" grpId="0"/>
      <p:bldP spid="97" grpId="0" animBg="1"/>
      <p:bldP spid="98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65" grpId="0" animBg="1"/>
      <p:bldP spid="65" grpId="1" animBg="1"/>
      <p:bldP spid="44" grpId="0" animBg="1"/>
      <p:bldP spid="4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8600"/>
            <a:ext cx="8001000" cy="762000"/>
          </a:xfrm>
        </p:spPr>
        <p:txBody>
          <a:bodyPr/>
          <a:lstStyle/>
          <a:p>
            <a:r>
              <a:rPr lang="en-US" sz="3400" dirty="0" smtClean="0"/>
              <a:t>BSP ML Problem: </a:t>
            </a:r>
            <a:br>
              <a:rPr lang="en-US" sz="3400" dirty="0" smtClean="0"/>
            </a:br>
            <a:r>
              <a:rPr lang="en-US" sz="3400" dirty="0" smtClean="0"/>
              <a:t>Synchronous Algorithms can be </a:t>
            </a:r>
            <a:r>
              <a:rPr lang="en-US" sz="3400" b="1" dirty="0" smtClean="0"/>
              <a:t>Inefficient</a:t>
            </a:r>
            <a:endParaRPr lang="en-US" sz="3400" b="1" dirty="0"/>
          </a:p>
        </p:txBody>
      </p:sp>
      <p:grpSp>
        <p:nvGrpSpPr>
          <p:cNvPr id="4" name="Group 28"/>
          <p:cNvGrpSpPr/>
          <p:nvPr/>
        </p:nvGrpSpPr>
        <p:grpSpPr>
          <a:xfrm>
            <a:off x="1517014" y="870474"/>
            <a:ext cx="6400174" cy="762000"/>
            <a:chOff x="1517014" y="990600"/>
            <a:chExt cx="6400174" cy="762000"/>
          </a:xfrm>
        </p:grpSpPr>
        <p:pic>
          <p:nvPicPr>
            <p:cNvPr id="3" name="Picture 2" descr="Screen shot 2010-09-27 at 11.16.03 PM.png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517014" y="990600"/>
              <a:ext cx="6400174" cy="451123"/>
            </a:xfrm>
            <a:prstGeom prst="rect">
              <a:avLst/>
            </a:prstGeom>
          </p:spPr>
        </p:pic>
        <p:pic>
          <p:nvPicPr>
            <p:cNvPr id="19" name="Picture 18" descr="Screen shot 2010-09-27 at 11.16.10 PM.png"/>
            <p:cNvPicPr>
              <a:picLocks noChangeAspect="1"/>
            </p:cNvPicPr>
            <p:nvPr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96049" y="1328476"/>
              <a:ext cx="6169072" cy="424124"/>
            </a:xfrm>
            <a:prstGeom prst="rect">
              <a:avLst/>
            </a:prstGeom>
          </p:spPr>
        </p:pic>
      </p:grpSp>
      <p:graphicFrame>
        <p:nvGraphicFramePr>
          <p:cNvPr id="16" name="Chart 15"/>
          <p:cNvGraphicFramePr/>
          <p:nvPr>
            <p:extLst>
              <p:ext uri="{D42A27DB-BD31-4B8C-83A1-F6EECF244321}">
                <p14:modId xmlns:p14="http://schemas.microsoft.com/office/powerpoint/2010/main" val="176684906"/>
              </p:ext>
            </p:extLst>
          </p:nvPr>
        </p:nvGraphicFramePr>
        <p:xfrm>
          <a:off x="886553" y="1632474"/>
          <a:ext cx="7793595" cy="4717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5" name="Group 23"/>
          <p:cNvGrpSpPr/>
          <p:nvPr/>
        </p:nvGrpSpPr>
        <p:grpSpPr>
          <a:xfrm>
            <a:off x="2819399" y="2045740"/>
            <a:ext cx="3033436" cy="674132"/>
            <a:chOff x="3352800" y="2286000"/>
            <a:chExt cx="3033436" cy="674132"/>
          </a:xfrm>
        </p:grpSpPr>
        <p:cxnSp>
          <p:nvCxnSpPr>
            <p:cNvPr id="18" name="Straight Arrow Connector 17"/>
            <p:cNvCxnSpPr>
              <a:stCxn id="21" idx="1"/>
            </p:cNvCxnSpPr>
            <p:nvPr/>
          </p:nvCxnSpPr>
          <p:spPr bwMode="auto">
            <a:xfrm flipH="1">
              <a:off x="3352800" y="2470666"/>
              <a:ext cx="1143000" cy="489466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495800" y="2286000"/>
              <a:ext cx="18904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4F81BD"/>
                  </a:solidFill>
                  <a:latin typeface="Calibri"/>
                </a:rPr>
                <a:t>Bulk Synchronous</a:t>
              </a:r>
              <a:endParaRPr lang="en-US" b="1" dirty="0">
                <a:solidFill>
                  <a:srgbClr val="4F81BD"/>
                </a:solidFill>
                <a:latin typeface="Calibri"/>
              </a:endParaRPr>
            </a:p>
          </p:txBody>
        </p:sp>
      </p:grpSp>
      <p:grpSp>
        <p:nvGrpSpPr>
          <p:cNvPr id="6" name="Group 24"/>
          <p:cNvGrpSpPr/>
          <p:nvPr/>
        </p:nvGrpSpPr>
        <p:grpSpPr>
          <a:xfrm>
            <a:off x="2819400" y="3773277"/>
            <a:ext cx="3266340" cy="1143000"/>
            <a:chOff x="3733800" y="2286000"/>
            <a:chExt cx="3266340" cy="1143000"/>
          </a:xfrm>
        </p:grpSpPr>
        <p:cxnSp>
          <p:nvCxnSpPr>
            <p:cNvPr id="26" name="Straight Arrow Connector 25"/>
            <p:cNvCxnSpPr>
              <a:stCxn id="27" idx="1"/>
            </p:cNvCxnSpPr>
            <p:nvPr/>
          </p:nvCxnSpPr>
          <p:spPr bwMode="auto">
            <a:xfrm rot="10800000" flipV="1">
              <a:off x="3733800" y="2470666"/>
              <a:ext cx="762000" cy="958334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4495800" y="2286000"/>
              <a:ext cx="25043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504D"/>
                  </a:solidFill>
                  <a:latin typeface="Calibri"/>
                </a:rPr>
                <a:t>Asynchronous Splash BP</a:t>
              </a:r>
              <a:endParaRPr lang="en-US" b="1" dirty="0">
                <a:solidFill>
                  <a:srgbClr val="C0504D"/>
                </a:solidFill>
                <a:latin typeface="Calibri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071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Sub>
          <a:bldChart bld="series" animBg="0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3025" y="0"/>
            <a:ext cx="7496175" cy="762000"/>
          </a:xfrm>
        </p:spPr>
        <p:txBody>
          <a:bodyPr/>
          <a:lstStyle/>
          <a:p>
            <a:r>
              <a:rPr lang="en-US" sz="4000" dirty="0"/>
              <a:t>Asynchronous Belief Propagation</a:t>
            </a:r>
          </a:p>
        </p:txBody>
      </p:sp>
      <p:pic>
        <p:nvPicPr>
          <p:cNvPr id="4" name="Picture 3" descr="noisy.jpg"/>
          <p:cNvPicPr>
            <a:picLocks noChangeAspect="1"/>
          </p:cNvPicPr>
          <p:nvPr/>
        </p:nvPicPr>
        <p:blipFill>
          <a:blip r:embed="rId6" cstate="screen">
            <a:lum contras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850" y="1371600"/>
            <a:ext cx="2878086" cy="228600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4114800" y="1219200"/>
            <a:ext cx="4724400" cy="3676710"/>
            <a:chOff x="4114800" y="1219200"/>
            <a:chExt cx="4724400" cy="3676710"/>
          </a:xfrm>
        </p:grpSpPr>
        <p:sp>
          <p:nvSpPr>
            <p:cNvPr id="78" name="TextBox 77"/>
            <p:cNvSpPr txBox="1"/>
            <p:nvPr/>
          </p:nvSpPr>
          <p:spPr>
            <a:xfrm>
              <a:off x="4114800" y="4495800"/>
              <a:ext cx="3581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Cumulative Vertex Updates</a:t>
              </a:r>
              <a:endParaRPr lang="en-US" sz="2000" dirty="0"/>
            </a:p>
          </p:txBody>
        </p:sp>
        <p:sp>
          <p:nvSpPr>
            <p:cNvPr id="79" name="Rectangle 78"/>
            <p:cNvSpPr/>
            <p:nvPr/>
          </p:nvSpPr>
          <p:spPr bwMode="auto">
            <a:xfrm>
              <a:off x="7772400" y="1219200"/>
              <a:ext cx="1066800" cy="3240258"/>
            </a:xfrm>
            <a:prstGeom prst="rect">
              <a:avLst/>
            </a:prstGeom>
            <a:gradFill flip="none" rotWithShape="1">
              <a:gsLst>
                <a:gs pos="10000">
                  <a:schemeClr val="bg1"/>
                </a:gs>
                <a:gs pos="90000">
                  <a:schemeClr val="tx1"/>
                </a:gs>
              </a:gsLst>
              <a:lin ang="5400000" scaled="1"/>
              <a:tileRect/>
            </a:gra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7772400" y="1219200"/>
              <a:ext cx="106679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Many</a:t>
              </a:r>
            </a:p>
            <a:p>
              <a:pPr algn="ctr"/>
              <a:r>
                <a:rPr lang="en-US" dirty="0" smtClean="0"/>
                <a:t>Updates</a:t>
              </a:r>
              <a:endParaRPr lang="en-US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7772400" y="3810000"/>
              <a:ext cx="1066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Few</a:t>
              </a:r>
            </a:p>
            <a:p>
              <a:pPr algn="ctr"/>
              <a:r>
                <a:rPr lang="en-US" dirty="0" smtClean="0">
                  <a:solidFill>
                    <a:schemeClr val="bg1"/>
                  </a:solidFill>
                </a:rPr>
                <a:t>Updates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Rounded Rectangle 81"/>
          <p:cNvSpPr/>
          <p:nvPr/>
        </p:nvSpPr>
        <p:spPr bwMode="auto">
          <a:xfrm>
            <a:off x="3505200" y="5181600"/>
            <a:ext cx="5562600" cy="121920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 smtClean="0">
                <a:solidFill>
                  <a:srgbClr val="FFFFFF"/>
                </a:solidFill>
              </a:rPr>
              <a:t>Algorithm identifies and focuses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3200" dirty="0" smtClean="0">
                <a:solidFill>
                  <a:srgbClr val="FFFFFF"/>
                </a:solidFill>
              </a:rPr>
              <a:t>on hidden sequential structure</a:t>
            </a:r>
            <a:endParaRPr kumimoji="0" lang="en-US" sz="3200" b="0" i="0" u="none" strike="noStrike" cap="none" normalizeH="0" baseline="0" dirty="0" smtClean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pic>
        <p:nvPicPr>
          <p:cNvPr id="52" name="updates.avi">
            <a:hlinkClick r:id="" action="ppaction://media"/>
          </p:cNvPr>
          <p:cNvPicPr/>
          <p:nvPr>
            <a:videoFile r:link="rId3"/>
            <p:extLst>
              <p:ext uri="{DAA4B4D4-6D71-4841-9C94-3DE7FCFB9230}">
                <p14:media xmlns:p14="http://schemas.microsoft.com/office/powerpoint/2010/main" r:link="rId2"/>
              </p:ext>
            </p:extLst>
          </p:nvPr>
        </p:nvPicPr>
        <p:blipFill>
          <a:blip r:embed="rId7" cstate="print"/>
          <a:stretch>
            <a:fillRect/>
          </a:stretch>
        </p:blipFill>
        <p:spPr>
          <a:xfrm>
            <a:off x="4191000" y="1219200"/>
            <a:ext cx="3552825" cy="3267075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533400" y="4038600"/>
            <a:ext cx="2819400" cy="2667000"/>
            <a:chOff x="533400" y="4038600"/>
            <a:chExt cx="2819400" cy="2667000"/>
          </a:xfrm>
        </p:grpSpPr>
        <p:grpSp>
          <p:nvGrpSpPr>
            <p:cNvPr id="75" name="Group 74"/>
            <p:cNvGrpSpPr/>
            <p:nvPr/>
          </p:nvGrpSpPr>
          <p:grpSpPr>
            <a:xfrm>
              <a:off x="863121" y="4743510"/>
              <a:ext cx="2337279" cy="1504890"/>
              <a:chOff x="1747838" y="4038600"/>
              <a:chExt cx="2366962" cy="1524002"/>
            </a:xfrm>
          </p:grpSpPr>
          <p:cxnSp>
            <p:nvCxnSpPr>
              <p:cNvPr id="31" name="Straight Connector 30"/>
              <p:cNvCxnSpPr>
                <a:endCxn id="19" idx="6"/>
              </p:cNvCxnSpPr>
              <p:nvPr/>
            </p:nvCxnSpPr>
            <p:spPr bwMode="auto">
              <a:xfrm rot="10800000">
                <a:off x="1985962" y="4914900"/>
                <a:ext cx="2128838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37609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5" name="Straight Connector 34"/>
              <p:cNvCxnSpPr>
                <a:endCxn id="8" idx="4"/>
              </p:cNvCxnSpPr>
              <p:nvPr/>
            </p:nvCxnSpPr>
            <p:spPr bwMode="auto">
              <a:xfrm rot="16200000" flipV="1">
                <a:off x="1216819" y="4914900"/>
                <a:ext cx="1295402" cy="1"/>
              </a:xfrm>
              <a:prstGeom prst="line">
                <a:avLst/>
              </a:prstGeom>
              <a:noFill/>
              <a:ln w="38100" cap="flat" cmpd="sng" algn="ctr">
                <a:solidFill>
                  <a:srgbClr val="37609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9" name="Straight Connector 38"/>
              <p:cNvCxnSpPr>
                <a:endCxn id="13" idx="4"/>
              </p:cNvCxnSpPr>
              <p:nvPr/>
            </p:nvCxnSpPr>
            <p:spPr bwMode="auto">
              <a:xfrm rot="16200000" flipV="1">
                <a:off x="1983582" y="4914899"/>
                <a:ext cx="1295400" cy="1"/>
              </a:xfrm>
              <a:prstGeom prst="line">
                <a:avLst/>
              </a:prstGeom>
              <a:noFill/>
              <a:ln w="38100" cap="flat" cmpd="sng" algn="ctr">
                <a:solidFill>
                  <a:srgbClr val="37609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/>
              <p:cNvCxnSpPr>
                <a:endCxn id="16" idx="4"/>
              </p:cNvCxnSpPr>
              <p:nvPr/>
            </p:nvCxnSpPr>
            <p:spPr bwMode="auto">
              <a:xfrm rot="16200000" flipV="1">
                <a:off x="2745582" y="4914899"/>
                <a:ext cx="1295400" cy="1"/>
              </a:xfrm>
              <a:prstGeom prst="line">
                <a:avLst/>
              </a:prstGeom>
              <a:noFill/>
              <a:ln w="38100" cap="flat" cmpd="sng" algn="ctr">
                <a:solidFill>
                  <a:srgbClr val="37609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" name="Straight Connector 5"/>
              <p:cNvCxnSpPr>
                <a:endCxn id="8" idx="6"/>
              </p:cNvCxnSpPr>
              <p:nvPr/>
            </p:nvCxnSpPr>
            <p:spPr bwMode="auto">
              <a:xfrm rot="10800000">
                <a:off x="1981200" y="4152900"/>
                <a:ext cx="213360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37609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" name="Oval 7"/>
              <p:cNvSpPr/>
              <p:nvPr/>
            </p:nvSpPr>
            <p:spPr bwMode="auto">
              <a:xfrm>
                <a:off x="1747838" y="4038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Oval 12"/>
              <p:cNvSpPr/>
              <p:nvPr/>
            </p:nvSpPr>
            <p:spPr bwMode="auto">
              <a:xfrm>
                <a:off x="2514600" y="4038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/>
              <p:cNvSpPr/>
              <p:nvPr/>
            </p:nvSpPr>
            <p:spPr bwMode="auto">
              <a:xfrm>
                <a:off x="3276600" y="4038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/>
              <p:cNvSpPr/>
              <p:nvPr/>
            </p:nvSpPr>
            <p:spPr bwMode="auto">
              <a:xfrm>
                <a:off x="1752600" y="4800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/>
              <p:cNvSpPr/>
              <p:nvPr/>
            </p:nvSpPr>
            <p:spPr bwMode="auto">
              <a:xfrm>
                <a:off x="2519362" y="4800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Oval 24"/>
              <p:cNvSpPr/>
              <p:nvPr/>
            </p:nvSpPr>
            <p:spPr bwMode="auto">
              <a:xfrm>
                <a:off x="3276600" y="4800600"/>
                <a:ext cx="233362" cy="2286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800" smtClean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533400" y="6305490"/>
              <a:ext cx="2819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smtClean="0"/>
                <a:t>Graphical Model</a:t>
              </a:r>
              <a:endParaRPr lang="en-US" sz="2000" dirty="0"/>
            </a:p>
          </p:txBody>
        </p:sp>
        <p:sp>
          <p:nvSpPr>
            <p:cNvPr id="3" name="Down Arrow 2"/>
            <p:cNvSpPr/>
            <p:nvPr/>
          </p:nvSpPr>
          <p:spPr bwMode="auto">
            <a:xfrm>
              <a:off x="1676400" y="4038600"/>
              <a:ext cx="762000" cy="609600"/>
            </a:xfrm>
            <a:prstGeom prst="down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533400" y="762000"/>
            <a:ext cx="3177372" cy="2133600"/>
            <a:chOff x="533400" y="762000"/>
            <a:chExt cx="3177372" cy="2133600"/>
          </a:xfrm>
        </p:grpSpPr>
        <p:sp>
          <p:nvSpPr>
            <p:cNvPr id="26" name="TextBox 25"/>
            <p:cNvSpPr txBox="1"/>
            <p:nvPr/>
          </p:nvSpPr>
          <p:spPr>
            <a:xfrm>
              <a:off x="533400" y="762000"/>
              <a:ext cx="31773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Challenge = Boundaries</a:t>
              </a:r>
              <a:endParaRPr lang="en-US" sz="2400" b="1" dirty="0"/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 flipH="1">
              <a:off x="1905000" y="1143000"/>
              <a:ext cx="297662" cy="533400"/>
            </a:xfrm>
            <a:prstGeom prst="straightConnector1">
              <a:avLst/>
            </a:prstGeom>
            <a:noFill/>
            <a:ln w="38100" cap="flat" cmpd="sng" algn="ctr">
              <a:solidFill>
                <a:schemeClr val="accent5">
                  <a:lumMod val="50000"/>
                </a:schemeClr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7" name="Block Arc 6"/>
            <p:cNvSpPr/>
            <p:nvPr/>
          </p:nvSpPr>
          <p:spPr bwMode="auto">
            <a:xfrm>
              <a:off x="1066800" y="1676400"/>
              <a:ext cx="2057400" cy="1219200"/>
            </a:xfrm>
            <a:prstGeom prst="blockArc">
              <a:avLst>
                <a:gd name="adj1" fmla="val 10800000"/>
                <a:gd name="adj2" fmla="val 21556362"/>
                <a:gd name="adj3" fmla="val 4550"/>
              </a:avLst>
            </a:prstGeom>
            <a:solidFill>
              <a:schemeClr val="accent5">
                <a:lumMod val="75000"/>
              </a:schemeClr>
            </a:solidFill>
            <a:ln w="38100" cap="flat" cmpd="sng" algn="ctr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7535174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3266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3266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9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video>
              <p:cMediaNode>
                <p:cTn id="3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2"/>
                </p:tgtEl>
              </p:cMediaNode>
            </p:video>
          </p:childTnLst>
        </p:cTn>
      </p:par>
    </p:tnLst>
    <p:bldLst>
      <p:bldP spid="82" grpId="0" animBg="1"/>
    </p:bldLst>
  </p:timing>
  <p:extLst mod="1">
    <p:ext uri="{E180D4A7-C9FB-4DFB-919C-405C955672EB}">
      <p14:showEvtLst xmlns:p14="http://schemas.microsoft.com/office/powerpoint/2010/main">
        <p14:playEvt time="31388" objId="52"/>
        <p14:stopEvt time="51898" objId="52"/>
      </p14:showEvt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Freeform 56"/>
          <p:cNvSpPr/>
          <p:nvPr/>
        </p:nvSpPr>
        <p:spPr bwMode="auto">
          <a:xfrm>
            <a:off x="4069964" y="2056186"/>
            <a:ext cx="2144183" cy="755172"/>
          </a:xfrm>
          <a:custGeom>
            <a:avLst/>
            <a:gdLst>
              <a:gd name="connsiteX0" fmla="*/ 38100 w 2144183"/>
              <a:gd name="connsiteY0" fmla="*/ 410633 h 1041400"/>
              <a:gd name="connsiteX1" fmla="*/ 495300 w 2144183"/>
              <a:gd name="connsiteY1" fmla="*/ 131233 h 1041400"/>
              <a:gd name="connsiteX2" fmla="*/ 1879600 w 2144183"/>
              <a:gd name="connsiteY2" fmla="*/ 105833 h 1041400"/>
              <a:gd name="connsiteX3" fmla="*/ 2082800 w 2144183"/>
              <a:gd name="connsiteY3" fmla="*/ 766233 h 1041400"/>
              <a:gd name="connsiteX4" fmla="*/ 1536700 w 2144183"/>
              <a:gd name="connsiteY4" fmla="*/ 1007533 h 1041400"/>
              <a:gd name="connsiteX5" fmla="*/ 266700 w 2144183"/>
              <a:gd name="connsiteY5" fmla="*/ 944033 h 1041400"/>
              <a:gd name="connsiteX6" fmla="*/ 38100 w 2144183"/>
              <a:gd name="connsiteY6" fmla="*/ 410633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4183" h="1041400">
                <a:moveTo>
                  <a:pt x="38100" y="410633"/>
                </a:moveTo>
                <a:cubicBezTo>
                  <a:pt x="76200" y="275166"/>
                  <a:pt x="188383" y="182033"/>
                  <a:pt x="495300" y="131233"/>
                </a:cubicBezTo>
                <a:cubicBezTo>
                  <a:pt x="802217" y="80433"/>
                  <a:pt x="1615017" y="0"/>
                  <a:pt x="1879600" y="105833"/>
                </a:cubicBezTo>
                <a:cubicBezTo>
                  <a:pt x="2144183" y="211666"/>
                  <a:pt x="2139950" y="615950"/>
                  <a:pt x="2082800" y="766233"/>
                </a:cubicBezTo>
                <a:cubicBezTo>
                  <a:pt x="2025650" y="916516"/>
                  <a:pt x="1839383" y="977900"/>
                  <a:pt x="1536700" y="1007533"/>
                </a:cubicBezTo>
                <a:cubicBezTo>
                  <a:pt x="1234017" y="1037166"/>
                  <a:pt x="520700" y="1041400"/>
                  <a:pt x="266700" y="944033"/>
                </a:cubicBezTo>
                <a:cubicBezTo>
                  <a:pt x="12700" y="846666"/>
                  <a:pt x="0" y="546100"/>
                  <a:pt x="38100" y="410633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6" name="Freeform 55"/>
          <p:cNvSpPr/>
          <p:nvPr/>
        </p:nvSpPr>
        <p:spPr bwMode="auto">
          <a:xfrm>
            <a:off x="4112423" y="4132952"/>
            <a:ext cx="2144183" cy="755172"/>
          </a:xfrm>
          <a:custGeom>
            <a:avLst/>
            <a:gdLst>
              <a:gd name="connsiteX0" fmla="*/ 38100 w 2144183"/>
              <a:gd name="connsiteY0" fmla="*/ 410633 h 1041400"/>
              <a:gd name="connsiteX1" fmla="*/ 495300 w 2144183"/>
              <a:gd name="connsiteY1" fmla="*/ 131233 h 1041400"/>
              <a:gd name="connsiteX2" fmla="*/ 1879600 w 2144183"/>
              <a:gd name="connsiteY2" fmla="*/ 105833 h 1041400"/>
              <a:gd name="connsiteX3" fmla="*/ 2082800 w 2144183"/>
              <a:gd name="connsiteY3" fmla="*/ 766233 h 1041400"/>
              <a:gd name="connsiteX4" fmla="*/ 1536700 w 2144183"/>
              <a:gd name="connsiteY4" fmla="*/ 1007533 h 1041400"/>
              <a:gd name="connsiteX5" fmla="*/ 266700 w 2144183"/>
              <a:gd name="connsiteY5" fmla="*/ 944033 h 1041400"/>
              <a:gd name="connsiteX6" fmla="*/ 38100 w 2144183"/>
              <a:gd name="connsiteY6" fmla="*/ 410633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44183" h="1041400">
                <a:moveTo>
                  <a:pt x="38100" y="410633"/>
                </a:moveTo>
                <a:cubicBezTo>
                  <a:pt x="76200" y="275166"/>
                  <a:pt x="188383" y="182033"/>
                  <a:pt x="495300" y="131233"/>
                </a:cubicBezTo>
                <a:cubicBezTo>
                  <a:pt x="802217" y="80433"/>
                  <a:pt x="1615017" y="0"/>
                  <a:pt x="1879600" y="105833"/>
                </a:cubicBezTo>
                <a:cubicBezTo>
                  <a:pt x="2144183" y="211666"/>
                  <a:pt x="2139950" y="615950"/>
                  <a:pt x="2082800" y="766233"/>
                </a:cubicBezTo>
                <a:cubicBezTo>
                  <a:pt x="2025650" y="916516"/>
                  <a:pt x="1839383" y="977900"/>
                  <a:pt x="1536700" y="1007533"/>
                </a:cubicBezTo>
                <a:cubicBezTo>
                  <a:pt x="1234017" y="1037166"/>
                  <a:pt x="520700" y="1041400"/>
                  <a:pt x="266700" y="944033"/>
                </a:cubicBezTo>
                <a:cubicBezTo>
                  <a:pt x="12700" y="846666"/>
                  <a:pt x="0" y="546100"/>
                  <a:pt x="38100" y="410633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Shared Memory Dynamic Schedule</a:t>
            </a:r>
            <a:endParaRPr lang="en-US" sz="4000" dirty="0"/>
          </a:p>
        </p:txBody>
      </p:sp>
      <p:grpSp>
        <p:nvGrpSpPr>
          <p:cNvPr id="3" name="Group 132"/>
          <p:cNvGrpSpPr/>
          <p:nvPr/>
        </p:nvGrpSpPr>
        <p:grpSpPr>
          <a:xfrm>
            <a:off x="4509245" y="2293644"/>
            <a:ext cx="3699724" cy="2361854"/>
            <a:chOff x="2659383" y="2354414"/>
            <a:chExt cx="3699724" cy="2361854"/>
          </a:xfrm>
        </p:grpSpPr>
        <p:grpSp>
          <p:nvGrpSpPr>
            <p:cNvPr id="16" name="Group 16"/>
            <p:cNvGrpSpPr/>
            <p:nvPr/>
          </p:nvGrpSpPr>
          <p:grpSpPr>
            <a:xfrm>
              <a:off x="3266534" y="3390380"/>
              <a:ext cx="2485423" cy="289921"/>
              <a:chOff x="2112145" y="2360781"/>
              <a:chExt cx="2485423" cy="289921"/>
            </a:xfrm>
          </p:grpSpPr>
          <p:sp>
            <p:nvSpPr>
              <p:cNvPr id="5" name="Oval 4"/>
              <p:cNvSpPr/>
              <p:nvPr/>
            </p:nvSpPr>
            <p:spPr bwMode="auto">
              <a:xfrm>
                <a:off x="2112145" y="2360781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e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6" name="Oval 5"/>
              <p:cNvSpPr/>
              <p:nvPr/>
            </p:nvSpPr>
            <p:spPr bwMode="auto">
              <a:xfrm>
                <a:off x="3209896" y="2360781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f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" name="Oval 6"/>
              <p:cNvSpPr/>
              <p:nvPr/>
            </p:nvSpPr>
            <p:spPr bwMode="auto">
              <a:xfrm>
                <a:off x="4307647" y="2360781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g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grpSp>
          <p:nvGrpSpPr>
            <p:cNvPr id="17" name="Group 15"/>
            <p:cNvGrpSpPr/>
            <p:nvPr/>
          </p:nvGrpSpPr>
          <p:grpSpPr>
            <a:xfrm>
              <a:off x="2659383" y="4418908"/>
              <a:ext cx="3699724" cy="297360"/>
              <a:chOff x="1519063" y="3382942"/>
              <a:chExt cx="3699724" cy="297360"/>
            </a:xfrm>
          </p:grpSpPr>
          <p:sp>
            <p:nvSpPr>
              <p:cNvPr id="8" name="Oval 7"/>
              <p:cNvSpPr/>
              <p:nvPr/>
            </p:nvSpPr>
            <p:spPr bwMode="auto">
              <a:xfrm>
                <a:off x="4928866" y="3382942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k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9" name="Oval 8"/>
              <p:cNvSpPr/>
              <p:nvPr/>
            </p:nvSpPr>
            <p:spPr bwMode="auto">
              <a:xfrm>
                <a:off x="3792265" y="3390381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j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0" name="Oval 9"/>
              <p:cNvSpPr/>
              <p:nvPr/>
            </p:nvSpPr>
            <p:spPr bwMode="auto">
              <a:xfrm>
                <a:off x="2655664" y="3382942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i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1" name="Oval 10"/>
              <p:cNvSpPr/>
              <p:nvPr/>
            </p:nvSpPr>
            <p:spPr bwMode="auto">
              <a:xfrm>
                <a:off x="1519063" y="3390381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h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659383" y="2354414"/>
              <a:ext cx="3699724" cy="297360"/>
              <a:chOff x="1526502" y="1318448"/>
              <a:chExt cx="3699724" cy="297360"/>
            </a:xfrm>
          </p:grpSpPr>
          <p:sp>
            <p:nvSpPr>
              <p:cNvPr id="12" name="Oval 11"/>
              <p:cNvSpPr/>
              <p:nvPr/>
            </p:nvSpPr>
            <p:spPr bwMode="auto">
              <a:xfrm>
                <a:off x="4936305" y="1318448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d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 bwMode="auto">
              <a:xfrm>
                <a:off x="3799704" y="1325887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c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 bwMode="auto">
              <a:xfrm>
                <a:off x="2663103" y="1318448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err="1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b</a:t>
                </a:r>
                <a:endPara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 bwMode="auto">
              <a:xfrm>
                <a:off x="1526502" y="1325887"/>
                <a:ext cx="289921" cy="289921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dirty="0" smtClean="0">
                    <a:solidFill>
                      <a:srgbClr val="000000"/>
                    </a:solidFill>
                    <a:latin typeface="Tahoma" pitchFamily="34" charset="0"/>
                    <a:ea typeface="ＭＳ Ｐゴシック" pitchFamily="-111" charset="-128"/>
                  </a:rPr>
                  <a:t>a</a:t>
                </a:r>
              </a:p>
            </p:txBody>
          </p:sp>
        </p:grpSp>
        <p:cxnSp>
          <p:nvCxnSpPr>
            <p:cNvPr id="80" name="Straight Arrow Connector 79"/>
            <p:cNvCxnSpPr/>
            <p:nvPr/>
          </p:nvCxnSpPr>
          <p:spPr bwMode="auto">
            <a:xfrm flipV="1">
              <a:off x="2949304" y="2506814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>
              <a:stCxn id="14" idx="6"/>
              <a:endCxn id="13" idx="2"/>
            </p:cNvCxnSpPr>
            <p:nvPr/>
          </p:nvCxnSpPr>
          <p:spPr bwMode="auto">
            <a:xfrm>
              <a:off x="4085905" y="2499375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13" idx="6"/>
              <a:endCxn id="12" idx="2"/>
            </p:cNvCxnSpPr>
            <p:nvPr/>
          </p:nvCxnSpPr>
          <p:spPr bwMode="auto">
            <a:xfrm flipV="1">
              <a:off x="5222506" y="2499375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5" idx="7"/>
              <a:endCxn id="14" idx="3"/>
            </p:cNvCxnSpPr>
            <p:nvPr/>
          </p:nvCxnSpPr>
          <p:spPr bwMode="auto">
            <a:xfrm rot="5400000" flipH="1" flipV="1">
              <a:off x="3260739" y="2855136"/>
              <a:ext cx="830961" cy="32444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" idx="1"/>
              <a:endCxn id="13" idx="5"/>
            </p:cNvCxnSpPr>
            <p:nvPr/>
          </p:nvCxnSpPr>
          <p:spPr bwMode="auto">
            <a:xfrm rot="16200000" flipV="1">
              <a:off x="4930510" y="2858854"/>
              <a:ext cx="823522" cy="32444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6" idx="7"/>
              <a:endCxn id="13" idx="3"/>
            </p:cNvCxnSpPr>
            <p:nvPr/>
          </p:nvCxnSpPr>
          <p:spPr bwMode="auto">
            <a:xfrm rot="5400000" flipH="1" flipV="1">
              <a:off x="4381634" y="2839430"/>
              <a:ext cx="823522" cy="36329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>
              <a:stCxn id="6" idx="1"/>
              <a:endCxn id="14" idx="5"/>
            </p:cNvCxnSpPr>
            <p:nvPr/>
          </p:nvCxnSpPr>
          <p:spPr bwMode="auto">
            <a:xfrm rot="16200000" flipV="1">
              <a:off x="3809615" y="2835710"/>
              <a:ext cx="830961" cy="36329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11" idx="6"/>
              <a:endCxn id="10" idx="2"/>
            </p:cNvCxnSpPr>
            <p:nvPr/>
          </p:nvCxnSpPr>
          <p:spPr bwMode="auto">
            <a:xfrm flipV="1">
              <a:off x="2949304" y="4563869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10" idx="6"/>
              <a:endCxn id="9" idx="2"/>
            </p:cNvCxnSpPr>
            <p:nvPr/>
          </p:nvCxnSpPr>
          <p:spPr bwMode="auto">
            <a:xfrm>
              <a:off x="4085905" y="4563869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9" idx="6"/>
              <a:endCxn id="8" idx="2"/>
            </p:cNvCxnSpPr>
            <p:nvPr/>
          </p:nvCxnSpPr>
          <p:spPr bwMode="auto">
            <a:xfrm flipV="1">
              <a:off x="5222506" y="4563869"/>
              <a:ext cx="846680" cy="743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>
              <a:stCxn id="10" idx="1"/>
              <a:endCxn id="5" idx="5"/>
            </p:cNvCxnSpPr>
            <p:nvPr/>
          </p:nvCxnSpPr>
          <p:spPr bwMode="auto">
            <a:xfrm rot="16200000" flipV="1">
              <a:off x="3264459" y="3887382"/>
              <a:ext cx="823523" cy="32444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>
              <a:stCxn id="9" idx="7"/>
              <a:endCxn id="7" idx="3"/>
            </p:cNvCxnSpPr>
            <p:nvPr/>
          </p:nvCxnSpPr>
          <p:spPr bwMode="auto">
            <a:xfrm rot="5400000" flipH="1" flipV="1">
              <a:off x="4926790" y="3891101"/>
              <a:ext cx="830962" cy="32444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8" name="Straight Arrow Connector 117"/>
            <p:cNvCxnSpPr>
              <a:stCxn id="9" idx="1"/>
              <a:endCxn id="6" idx="5"/>
            </p:cNvCxnSpPr>
            <p:nvPr/>
          </p:nvCxnSpPr>
          <p:spPr bwMode="auto">
            <a:xfrm rot="16200000" flipV="1">
              <a:off x="4377915" y="3871676"/>
              <a:ext cx="830962" cy="36329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9" name="Straight Arrow Connector 118"/>
            <p:cNvCxnSpPr>
              <a:stCxn id="10" idx="7"/>
              <a:endCxn id="6" idx="3"/>
            </p:cNvCxnSpPr>
            <p:nvPr/>
          </p:nvCxnSpPr>
          <p:spPr bwMode="auto">
            <a:xfrm rot="5400000" flipH="1" flipV="1">
              <a:off x="3813334" y="3867957"/>
              <a:ext cx="823523" cy="36329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36" name="Up Arrow 135"/>
          <p:cNvSpPr/>
          <p:nvPr/>
        </p:nvSpPr>
        <p:spPr bwMode="auto">
          <a:xfrm>
            <a:off x="220878" y="1274188"/>
            <a:ext cx="1339072" cy="4582914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37" name="Rounded Rectangle 136"/>
          <p:cNvSpPr/>
          <p:nvPr/>
        </p:nvSpPr>
        <p:spPr bwMode="auto">
          <a:xfrm>
            <a:off x="2319218" y="2182694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CPU 1</a:t>
            </a:r>
          </a:p>
        </p:txBody>
      </p:sp>
      <p:sp>
        <p:nvSpPr>
          <p:cNvPr id="138" name="Rounded Rectangle 137"/>
          <p:cNvSpPr/>
          <p:nvPr/>
        </p:nvSpPr>
        <p:spPr bwMode="auto">
          <a:xfrm>
            <a:off x="2319218" y="4503099"/>
            <a:ext cx="1452675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CPU 2</a:t>
            </a:r>
          </a:p>
        </p:txBody>
      </p:sp>
      <p:sp>
        <p:nvSpPr>
          <p:cNvPr id="139" name="Oval 138"/>
          <p:cNvSpPr/>
          <p:nvPr/>
        </p:nvSpPr>
        <p:spPr bwMode="auto">
          <a:xfrm>
            <a:off x="768641" y="2537497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a</a:t>
            </a:r>
          </a:p>
        </p:txBody>
      </p:sp>
      <p:sp>
        <p:nvSpPr>
          <p:cNvPr id="140" name="Oval 139"/>
          <p:cNvSpPr/>
          <p:nvPr/>
        </p:nvSpPr>
        <p:spPr bwMode="auto">
          <a:xfrm>
            <a:off x="768641" y="3063681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h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42" name="Oval 141"/>
          <p:cNvSpPr/>
          <p:nvPr/>
        </p:nvSpPr>
        <p:spPr bwMode="auto">
          <a:xfrm>
            <a:off x="766990" y="3598301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a</a:t>
            </a:r>
          </a:p>
        </p:txBody>
      </p:sp>
      <p:sp>
        <p:nvSpPr>
          <p:cNvPr id="144" name="Oval 143"/>
          <p:cNvSpPr/>
          <p:nvPr/>
        </p:nvSpPr>
        <p:spPr bwMode="auto">
          <a:xfrm>
            <a:off x="766990" y="4129821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b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grpSp>
        <p:nvGrpSpPr>
          <p:cNvPr id="19" name="Group 46"/>
          <p:cNvGrpSpPr/>
          <p:nvPr/>
        </p:nvGrpSpPr>
        <p:grpSpPr>
          <a:xfrm>
            <a:off x="3098800" y="2056186"/>
            <a:ext cx="2017596" cy="807617"/>
            <a:chOff x="3098800" y="2364419"/>
            <a:chExt cx="2017596" cy="807617"/>
          </a:xfrm>
        </p:grpSpPr>
        <p:sp>
          <p:nvSpPr>
            <p:cNvPr id="44" name="Oval 43"/>
            <p:cNvSpPr/>
            <p:nvPr/>
          </p:nvSpPr>
          <p:spPr bwMode="auto">
            <a:xfrm>
              <a:off x="4334729" y="2364419"/>
              <a:ext cx="781667" cy="807617"/>
            </a:xfrm>
            <a:prstGeom prst="ellips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  <a:cs typeface="ＭＳ Ｐゴシック"/>
              </a:endParaRPr>
            </a:p>
          </p:txBody>
        </p:sp>
        <p:cxnSp>
          <p:nvCxnSpPr>
            <p:cNvPr id="46" name="Straight Arrow Connector 45"/>
            <p:cNvCxnSpPr/>
            <p:nvPr/>
          </p:nvCxnSpPr>
          <p:spPr bwMode="auto">
            <a:xfrm>
              <a:off x="3098800" y="2768228"/>
              <a:ext cx="1223229" cy="1588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" name="Group 46"/>
          <p:cNvGrpSpPr/>
          <p:nvPr/>
        </p:nvGrpSpPr>
        <p:grpSpPr>
          <a:xfrm>
            <a:off x="3098800" y="4099290"/>
            <a:ext cx="1979962" cy="807617"/>
            <a:chOff x="3136434" y="2364419"/>
            <a:chExt cx="1979962" cy="807617"/>
          </a:xfrm>
        </p:grpSpPr>
        <p:sp>
          <p:nvSpPr>
            <p:cNvPr id="62" name="Oval 61"/>
            <p:cNvSpPr/>
            <p:nvPr/>
          </p:nvSpPr>
          <p:spPr bwMode="auto">
            <a:xfrm>
              <a:off x="4334729" y="2364419"/>
              <a:ext cx="781667" cy="807617"/>
            </a:xfrm>
            <a:prstGeom prst="ellips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  <a:cs typeface="ＭＳ Ｐゴシック"/>
              </a:endParaRPr>
            </a:p>
          </p:txBody>
        </p:sp>
        <p:cxnSp>
          <p:nvCxnSpPr>
            <p:cNvPr id="63" name="Straight Arrow Connector 62"/>
            <p:cNvCxnSpPr>
              <a:endCxn id="62" idx="2"/>
            </p:cNvCxnSpPr>
            <p:nvPr/>
          </p:nvCxnSpPr>
          <p:spPr bwMode="auto">
            <a:xfrm flipV="1">
              <a:off x="3136434" y="2768228"/>
              <a:ext cx="1198295" cy="385025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51" name="Oval 50"/>
          <p:cNvSpPr/>
          <p:nvPr/>
        </p:nvSpPr>
        <p:spPr bwMode="auto">
          <a:xfrm>
            <a:off x="5645846" y="2301083"/>
            <a:ext cx="289921" cy="28992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b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2" name="Oval 51"/>
          <p:cNvSpPr/>
          <p:nvPr/>
        </p:nvSpPr>
        <p:spPr bwMode="auto">
          <a:xfrm>
            <a:off x="5645846" y="4358138"/>
            <a:ext cx="289921" cy="28992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i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1" name="Rectangle 20"/>
          <p:cNvSpPr/>
          <p:nvPr/>
        </p:nvSpPr>
        <p:spPr bwMode="auto">
          <a:xfrm>
            <a:off x="220878" y="5900888"/>
            <a:ext cx="7988091" cy="6164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Process repeats</a:t>
            </a:r>
            <a:r>
              <a:rPr kumimoji="0" lang="en-US" sz="2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 until scheduler is empty</a:t>
            </a: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4768" y="882134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Scheduler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9911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81481E-6 L 0.22674 -0.02292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0" y="-12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4.44444E-6 L 0.22691 0.24814 " pathEditMode="relative" rAng="0" ptsTypes="AA">
                                      <p:cBhvr>
                                        <p:cTn id="17" dur="10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300" y="12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grpId="1" nodeType="click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3.7037E-7 L -0.53403 0.33982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00" y="1700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1.11111E-6 L -0.53403 0.11921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700" y="5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7" grpId="1" animBg="1"/>
      <p:bldP spid="56" grpId="0" animBg="1"/>
      <p:bldP spid="56" grpId="1" animBg="1"/>
      <p:bldP spid="136" grpId="0" animBg="1"/>
      <p:bldP spid="139" grpId="0" animBg="1"/>
      <p:bldP spid="139" grpId="1" animBg="1"/>
      <p:bldP spid="140" grpId="0" animBg="1"/>
      <p:bldP spid="140" grpId="1" animBg="1"/>
      <p:bldP spid="51" grpId="0" animBg="1"/>
      <p:bldP spid="52" grpId="0" animBg="1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618" y="1433038"/>
            <a:ext cx="2802460" cy="1681476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117" y="1442492"/>
            <a:ext cx="2802460" cy="1681476"/>
          </a:xfrm>
          <a:prstGeom prst="rect">
            <a:avLst/>
          </a:prstGeom>
        </p:spPr>
      </p:pic>
      <p:sp>
        <p:nvSpPr>
          <p:cNvPr id="55" name="Cross 54"/>
          <p:cNvSpPr/>
          <p:nvPr/>
        </p:nvSpPr>
        <p:spPr bwMode="auto">
          <a:xfrm rot="2844760">
            <a:off x="4308405" y="2819782"/>
            <a:ext cx="2962120" cy="3231486"/>
          </a:xfrm>
          <a:custGeom>
            <a:avLst/>
            <a:gdLst>
              <a:gd name="connsiteX0" fmla="*/ 0 w 3661903"/>
              <a:gd name="connsiteY0" fmla="*/ 1387986 h 3577376"/>
              <a:gd name="connsiteX1" fmla="*/ 1387986 w 3661903"/>
              <a:gd name="connsiteY1" fmla="*/ 1387986 h 3577376"/>
              <a:gd name="connsiteX2" fmla="*/ 1387986 w 3661903"/>
              <a:gd name="connsiteY2" fmla="*/ 0 h 3577376"/>
              <a:gd name="connsiteX3" fmla="*/ 2273917 w 3661903"/>
              <a:gd name="connsiteY3" fmla="*/ 0 h 3577376"/>
              <a:gd name="connsiteX4" fmla="*/ 2273917 w 3661903"/>
              <a:gd name="connsiteY4" fmla="*/ 1387986 h 3577376"/>
              <a:gd name="connsiteX5" fmla="*/ 3661903 w 3661903"/>
              <a:gd name="connsiteY5" fmla="*/ 1387986 h 3577376"/>
              <a:gd name="connsiteX6" fmla="*/ 3661903 w 3661903"/>
              <a:gd name="connsiteY6" fmla="*/ 2189390 h 3577376"/>
              <a:gd name="connsiteX7" fmla="*/ 2273917 w 3661903"/>
              <a:gd name="connsiteY7" fmla="*/ 2189390 h 3577376"/>
              <a:gd name="connsiteX8" fmla="*/ 2273917 w 3661903"/>
              <a:gd name="connsiteY8" fmla="*/ 3577376 h 3577376"/>
              <a:gd name="connsiteX9" fmla="*/ 1387986 w 3661903"/>
              <a:gd name="connsiteY9" fmla="*/ 3577376 h 3577376"/>
              <a:gd name="connsiteX10" fmla="*/ 1387986 w 3661903"/>
              <a:gd name="connsiteY10" fmla="*/ 2189390 h 3577376"/>
              <a:gd name="connsiteX11" fmla="*/ 0 w 3661903"/>
              <a:gd name="connsiteY11" fmla="*/ 2189390 h 3577376"/>
              <a:gd name="connsiteX12" fmla="*/ 0 w 3661903"/>
              <a:gd name="connsiteY12" fmla="*/ 1387986 h 3577376"/>
              <a:gd name="connsiteX0" fmla="*/ 0 w 3661903"/>
              <a:gd name="connsiteY0" fmla="*/ 1387986 h 3577376"/>
              <a:gd name="connsiteX1" fmla="*/ 1387986 w 3661903"/>
              <a:gd name="connsiteY1" fmla="*/ 1387986 h 3577376"/>
              <a:gd name="connsiteX2" fmla="*/ 754440 w 3661903"/>
              <a:gd name="connsiteY2" fmla="*/ 36444 h 3577376"/>
              <a:gd name="connsiteX3" fmla="*/ 2273917 w 3661903"/>
              <a:gd name="connsiteY3" fmla="*/ 0 h 3577376"/>
              <a:gd name="connsiteX4" fmla="*/ 2273917 w 3661903"/>
              <a:gd name="connsiteY4" fmla="*/ 1387986 h 3577376"/>
              <a:gd name="connsiteX5" fmla="*/ 3661903 w 3661903"/>
              <a:gd name="connsiteY5" fmla="*/ 1387986 h 3577376"/>
              <a:gd name="connsiteX6" fmla="*/ 3661903 w 3661903"/>
              <a:gd name="connsiteY6" fmla="*/ 2189390 h 3577376"/>
              <a:gd name="connsiteX7" fmla="*/ 2273917 w 3661903"/>
              <a:gd name="connsiteY7" fmla="*/ 2189390 h 3577376"/>
              <a:gd name="connsiteX8" fmla="*/ 2273917 w 3661903"/>
              <a:gd name="connsiteY8" fmla="*/ 3577376 h 3577376"/>
              <a:gd name="connsiteX9" fmla="*/ 1387986 w 3661903"/>
              <a:gd name="connsiteY9" fmla="*/ 3577376 h 3577376"/>
              <a:gd name="connsiteX10" fmla="*/ 1387986 w 3661903"/>
              <a:gd name="connsiteY10" fmla="*/ 2189390 h 3577376"/>
              <a:gd name="connsiteX11" fmla="*/ 0 w 3661903"/>
              <a:gd name="connsiteY11" fmla="*/ 2189390 h 3577376"/>
              <a:gd name="connsiteX12" fmla="*/ 0 w 3661903"/>
              <a:gd name="connsiteY12" fmla="*/ 1387986 h 3577376"/>
              <a:gd name="connsiteX0" fmla="*/ 0 w 3661903"/>
              <a:gd name="connsiteY0" fmla="*/ 1390554 h 3579944"/>
              <a:gd name="connsiteX1" fmla="*/ 1387986 w 3661903"/>
              <a:gd name="connsiteY1" fmla="*/ 1390554 h 3579944"/>
              <a:gd name="connsiteX2" fmla="*/ 754440 w 3661903"/>
              <a:gd name="connsiteY2" fmla="*/ 39012 h 3579944"/>
              <a:gd name="connsiteX3" fmla="*/ 1638727 w 3661903"/>
              <a:gd name="connsiteY3" fmla="*/ 0 h 3579944"/>
              <a:gd name="connsiteX4" fmla="*/ 2273917 w 3661903"/>
              <a:gd name="connsiteY4" fmla="*/ 1390554 h 3579944"/>
              <a:gd name="connsiteX5" fmla="*/ 3661903 w 3661903"/>
              <a:gd name="connsiteY5" fmla="*/ 1390554 h 3579944"/>
              <a:gd name="connsiteX6" fmla="*/ 3661903 w 3661903"/>
              <a:gd name="connsiteY6" fmla="*/ 2191958 h 3579944"/>
              <a:gd name="connsiteX7" fmla="*/ 2273917 w 3661903"/>
              <a:gd name="connsiteY7" fmla="*/ 2191958 h 3579944"/>
              <a:gd name="connsiteX8" fmla="*/ 2273917 w 3661903"/>
              <a:gd name="connsiteY8" fmla="*/ 3579944 h 3579944"/>
              <a:gd name="connsiteX9" fmla="*/ 1387986 w 3661903"/>
              <a:gd name="connsiteY9" fmla="*/ 3579944 h 3579944"/>
              <a:gd name="connsiteX10" fmla="*/ 1387986 w 3661903"/>
              <a:gd name="connsiteY10" fmla="*/ 2191958 h 3579944"/>
              <a:gd name="connsiteX11" fmla="*/ 0 w 3661903"/>
              <a:gd name="connsiteY11" fmla="*/ 2191958 h 3579944"/>
              <a:gd name="connsiteX12" fmla="*/ 0 w 3661903"/>
              <a:gd name="connsiteY12" fmla="*/ 1390554 h 3579944"/>
              <a:gd name="connsiteX0" fmla="*/ 0 w 3734110"/>
              <a:gd name="connsiteY0" fmla="*/ 1390554 h 3579944"/>
              <a:gd name="connsiteX1" fmla="*/ 1387986 w 3734110"/>
              <a:gd name="connsiteY1" fmla="*/ 1390554 h 3579944"/>
              <a:gd name="connsiteX2" fmla="*/ 754440 w 3734110"/>
              <a:gd name="connsiteY2" fmla="*/ 39012 h 3579944"/>
              <a:gd name="connsiteX3" fmla="*/ 1638727 w 3734110"/>
              <a:gd name="connsiteY3" fmla="*/ 0 h 3579944"/>
              <a:gd name="connsiteX4" fmla="*/ 2273917 w 3734110"/>
              <a:gd name="connsiteY4" fmla="*/ 1390554 h 3579944"/>
              <a:gd name="connsiteX5" fmla="*/ 3661903 w 3734110"/>
              <a:gd name="connsiteY5" fmla="*/ 1390554 h 3579944"/>
              <a:gd name="connsiteX6" fmla="*/ 3734110 w 3734110"/>
              <a:gd name="connsiteY6" fmla="*/ 2745835 h 3579944"/>
              <a:gd name="connsiteX7" fmla="*/ 2273917 w 3734110"/>
              <a:gd name="connsiteY7" fmla="*/ 2191958 h 3579944"/>
              <a:gd name="connsiteX8" fmla="*/ 2273917 w 3734110"/>
              <a:gd name="connsiteY8" fmla="*/ 3579944 h 3579944"/>
              <a:gd name="connsiteX9" fmla="*/ 1387986 w 3734110"/>
              <a:gd name="connsiteY9" fmla="*/ 3579944 h 3579944"/>
              <a:gd name="connsiteX10" fmla="*/ 1387986 w 3734110"/>
              <a:gd name="connsiteY10" fmla="*/ 2191958 h 3579944"/>
              <a:gd name="connsiteX11" fmla="*/ 0 w 3734110"/>
              <a:gd name="connsiteY11" fmla="*/ 2191958 h 3579944"/>
              <a:gd name="connsiteX12" fmla="*/ 0 w 3734110"/>
              <a:gd name="connsiteY12" fmla="*/ 1390554 h 3579944"/>
              <a:gd name="connsiteX0" fmla="*/ 0 w 3840983"/>
              <a:gd name="connsiteY0" fmla="*/ 1390554 h 3579944"/>
              <a:gd name="connsiteX1" fmla="*/ 1387986 w 3840983"/>
              <a:gd name="connsiteY1" fmla="*/ 1390554 h 3579944"/>
              <a:gd name="connsiteX2" fmla="*/ 754440 w 3840983"/>
              <a:gd name="connsiteY2" fmla="*/ 39012 h 3579944"/>
              <a:gd name="connsiteX3" fmla="*/ 1638727 w 3840983"/>
              <a:gd name="connsiteY3" fmla="*/ 0 h 3579944"/>
              <a:gd name="connsiteX4" fmla="*/ 2273917 w 3840983"/>
              <a:gd name="connsiteY4" fmla="*/ 1390554 h 3579944"/>
              <a:gd name="connsiteX5" fmla="*/ 3840983 w 3840983"/>
              <a:gd name="connsiteY5" fmla="*/ 1930162 h 3579944"/>
              <a:gd name="connsiteX6" fmla="*/ 3734110 w 3840983"/>
              <a:gd name="connsiteY6" fmla="*/ 2745835 h 3579944"/>
              <a:gd name="connsiteX7" fmla="*/ 2273917 w 3840983"/>
              <a:gd name="connsiteY7" fmla="*/ 2191958 h 3579944"/>
              <a:gd name="connsiteX8" fmla="*/ 2273917 w 3840983"/>
              <a:gd name="connsiteY8" fmla="*/ 3579944 h 3579944"/>
              <a:gd name="connsiteX9" fmla="*/ 1387986 w 3840983"/>
              <a:gd name="connsiteY9" fmla="*/ 3579944 h 3579944"/>
              <a:gd name="connsiteX10" fmla="*/ 1387986 w 3840983"/>
              <a:gd name="connsiteY10" fmla="*/ 2191958 h 3579944"/>
              <a:gd name="connsiteX11" fmla="*/ 0 w 3840983"/>
              <a:gd name="connsiteY11" fmla="*/ 2191958 h 3579944"/>
              <a:gd name="connsiteX12" fmla="*/ 0 w 3840983"/>
              <a:gd name="connsiteY12" fmla="*/ 1390554 h 3579944"/>
              <a:gd name="connsiteX0" fmla="*/ 0 w 3840983"/>
              <a:gd name="connsiteY0" fmla="*/ 1390554 h 3791847"/>
              <a:gd name="connsiteX1" fmla="*/ 1387986 w 3840983"/>
              <a:gd name="connsiteY1" fmla="*/ 1390554 h 3791847"/>
              <a:gd name="connsiteX2" fmla="*/ 754440 w 3840983"/>
              <a:gd name="connsiteY2" fmla="*/ 39012 h 3791847"/>
              <a:gd name="connsiteX3" fmla="*/ 1638727 w 3840983"/>
              <a:gd name="connsiteY3" fmla="*/ 0 h 3791847"/>
              <a:gd name="connsiteX4" fmla="*/ 2273917 w 3840983"/>
              <a:gd name="connsiteY4" fmla="*/ 1390554 h 3791847"/>
              <a:gd name="connsiteX5" fmla="*/ 3840983 w 3840983"/>
              <a:gd name="connsiteY5" fmla="*/ 1930162 h 3791847"/>
              <a:gd name="connsiteX6" fmla="*/ 3734110 w 3840983"/>
              <a:gd name="connsiteY6" fmla="*/ 2745835 h 3791847"/>
              <a:gd name="connsiteX7" fmla="*/ 2273917 w 3840983"/>
              <a:gd name="connsiteY7" fmla="*/ 2191958 h 3791847"/>
              <a:gd name="connsiteX8" fmla="*/ 2810458 w 3840983"/>
              <a:gd name="connsiteY8" fmla="*/ 3791847 h 3791847"/>
              <a:gd name="connsiteX9" fmla="*/ 1387986 w 3840983"/>
              <a:gd name="connsiteY9" fmla="*/ 3579944 h 3791847"/>
              <a:gd name="connsiteX10" fmla="*/ 1387986 w 3840983"/>
              <a:gd name="connsiteY10" fmla="*/ 2191958 h 3791847"/>
              <a:gd name="connsiteX11" fmla="*/ 0 w 3840983"/>
              <a:gd name="connsiteY11" fmla="*/ 2191958 h 3791847"/>
              <a:gd name="connsiteX12" fmla="*/ 0 w 3840983"/>
              <a:gd name="connsiteY12" fmla="*/ 1390554 h 3791847"/>
              <a:gd name="connsiteX0" fmla="*/ 0 w 3840983"/>
              <a:gd name="connsiteY0" fmla="*/ 1390554 h 3791847"/>
              <a:gd name="connsiteX1" fmla="*/ 1387986 w 3840983"/>
              <a:gd name="connsiteY1" fmla="*/ 1390554 h 3791847"/>
              <a:gd name="connsiteX2" fmla="*/ 754440 w 3840983"/>
              <a:gd name="connsiteY2" fmla="*/ 39012 h 3791847"/>
              <a:gd name="connsiteX3" fmla="*/ 1638727 w 3840983"/>
              <a:gd name="connsiteY3" fmla="*/ 0 h 3791847"/>
              <a:gd name="connsiteX4" fmla="*/ 2273917 w 3840983"/>
              <a:gd name="connsiteY4" fmla="*/ 1390554 h 3791847"/>
              <a:gd name="connsiteX5" fmla="*/ 3840983 w 3840983"/>
              <a:gd name="connsiteY5" fmla="*/ 1930162 h 3791847"/>
              <a:gd name="connsiteX6" fmla="*/ 3734110 w 3840983"/>
              <a:gd name="connsiteY6" fmla="*/ 2745835 h 3791847"/>
              <a:gd name="connsiteX7" fmla="*/ 2273917 w 3840983"/>
              <a:gd name="connsiteY7" fmla="*/ 2191958 h 3791847"/>
              <a:gd name="connsiteX8" fmla="*/ 2810458 w 3840983"/>
              <a:gd name="connsiteY8" fmla="*/ 3791847 h 3791847"/>
              <a:gd name="connsiteX9" fmla="*/ 2028112 w 3840983"/>
              <a:gd name="connsiteY9" fmla="*/ 3699551 h 3791847"/>
              <a:gd name="connsiteX10" fmla="*/ 1387986 w 3840983"/>
              <a:gd name="connsiteY10" fmla="*/ 2191958 h 3791847"/>
              <a:gd name="connsiteX11" fmla="*/ 0 w 3840983"/>
              <a:gd name="connsiteY11" fmla="*/ 2191958 h 3791847"/>
              <a:gd name="connsiteX12" fmla="*/ 0 w 3840983"/>
              <a:gd name="connsiteY12" fmla="*/ 1390554 h 3791847"/>
              <a:gd name="connsiteX0" fmla="*/ 0 w 3909077"/>
              <a:gd name="connsiteY0" fmla="*/ 934209 h 3791847"/>
              <a:gd name="connsiteX1" fmla="*/ 1456080 w 3909077"/>
              <a:gd name="connsiteY1" fmla="*/ 1390554 h 3791847"/>
              <a:gd name="connsiteX2" fmla="*/ 822534 w 3909077"/>
              <a:gd name="connsiteY2" fmla="*/ 39012 h 3791847"/>
              <a:gd name="connsiteX3" fmla="*/ 1706821 w 3909077"/>
              <a:gd name="connsiteY3" fmla="*/ 0 h 3791847"/>
              <a:gd name="connsiteX4" fmla="*/ 2342011 w 3909077"/>
              <a:gd name="connsiteY4" fmla="*/ 1390554 h 3791847"/>
              <a:gd name="connsiteX5" fmla="*/ 3909077 w 3909077"/>
              <a:gd name="connsiteY5" fmla="*/ 1930162 h 3791847"/>
              <a:gd name="connsiteX6" fmla="*/ 3802204 w 3909077"/>
              <a:gd name="connsiteY6" fmla="*/ 2745835 h 3791847"/>
              <a:gd name="connsiteX7" fmla="*/ 2342011 w 3909077"/>
              <a:gd name="connsiteY7" fmla="*/ 2191958 h 3791847"/>
              <a:gd name="connsiteX8" fmla="*/ 2878552 w 3909077"/>
              <a:gd name="connsiteY8" fmla="*/ 3791847 h 3791847"/>
              <a:gd name="connsiteX9" fmla="*/ 2096206 w 3909077"/>
              <a:gd name="connsiteY9" fmla="*/ 3699551 h 3791847"/>
              <a:gd name="connsiteX10" fmla="*/ 1456080 w 3909077"/>
              <a:gd name="connsiteY10" fmla="*/ 2191958 h 3791847"/>
              <a:gd name="connsiteX11" fmla="*/ 68094 w 3909077"/>
              <a:gd name="connsiteY11" fmla="*/ 2191958 h 3791847"/>
              <a:gd name="connsiteX12" fmla="*/ 0 w 3909077"/>
              <a:gd name="connsiteY12" fmla="*/ 934209 h 3791847"/>
              <a:gd name="connsiteX0" fmla="*/ 45066 w 3954143"/>
              <a:gd name="connsiteY0" fmla="*/ 934209 h 3791847"/>
              <a:gd name="connsiteX1" fmla="*/ 1501146 w 3954143"/>
              <a:gd name="connsiteY1" fmla="*/ 1390554 h 3791847"/>
              <a:gd name="connsiteX2" fmla="*/ 867600 w 3954143"/>
              <a:gd name="connsiteY2" fmla="*/ 39012 h 3791847"/>
              <a:gd name="connsiteX3" fmla="*/ 1751887 w 3954143"/>
              <a:gd name="connsiteY3" fmla="*/ 0 h 3791847"/>
              <a:gd name="connsiteX4" fmla="*/ 2387077 w 3954143"/>
              <a:gd name="connsiteY4" fmla="*/ 1390554 h 3791847"/>
              <a:gd name="connsiteX5" fmla="*/ 3954143 w 3954143"/>
              <a:gd name="connsiteY5" fmla="*/ 1930162 h 3791847"/>
              <a:gd name="connsiteX6" fmla="*/ 3847270 w 3954143"/>
              <a:gd name="connsiteY6" fmla="*/ 2745835 h 3791847"/>
              <a:gd name="connsiteX7" fmla="*/ 2387077 w 3954143"/>
              <a:gd name="connsiteY7" fmla="*/ 2191958 h 3791847"/>
              <a:gd name="connsiteX8" fmla="*/ 2923618 w 3954143"/>
              <a:gd name="connsiteY8" fmla="*/ 3791847 h 3791847"/>
              <a:gd name="connsiteX9" fmla="*/ 2141272 w 3954143"/>
              <a:gd name="connsiteY9" fmla="*/ 3699551 h 3791847"/>
              <a:gd name="connsiteX10" fmla="*/ 1501146 w 3954143"/>
              <a:gd name="connsiteY10" fmla="*/ 2191958 h 3791847"/>
              <a:gd name="connsiteX11" fmla="*/ 0 w 3954143"/>
              <a:gd name="connsiteY11" fmla="*/ 1825446 h 3791847"/>
              <a:gd name="connsiteX12" fmla="*/ 45066 w 3954143"/>
              <a:gd name="connsiteY12" fmla="*/ 934209 h 3791847"/>
              <a:gd name="connsiteX0" fmla="*/ 45066 w 3954143"/>
              <a:gd name="connsiteY0" fmla="*/ 934209 h 3699551"/>
              <a:gd name="connsiteX1" fmla="*/ 1501146 w 3954143"/>
              <a:gd name="connsiteY1" fmla="*/ 1390554 h 3699551"/>
              <a:gd name="connsiteX2" fmla="*/ 867600 w 3954143"/>
              <a:gd name="connsiteY2" fmla="*/ 39012 h 3699551"/>
              <a:gd name="connsiteX3" fmla="*/ 1751887 w 3954143"/>
              <a:gd name="connsiteY3" fmla="*/ 0 h 3699551"/>
              <a:gd name="connsiteX4" fmla="*/ 2387077 w 3954143"/>
              <a:gd name="connsiteY4" fmla="*/ 1390554 h 3699551"/>
              <a:gd name="connsiteX5" fmla="*/ 3954143 w 3954143"/>
              <a:gd name="connsiteY5" fmla="*/ 1930162 h 3699551"/>
              <a:gd name="connsiteX6" fmla="*/ 3847270 w 3954143"/>
              <a:gd name="connsiteY6" fmla="*/ 2745835 h 3699551"/>
              <a:gd name="connsiteX7" fmla="*/ 2387077 w 3954143"/>
              <a:gd name="connsiteY7" fmla="*/ 2191958 h 3699551"/>
              <a:gd name="connsiteX8" fmla="*/ 2987368 w 3954143"/>
              <a:gd name="connsiteY8" fmla="*/ 3681688 h 3699551"/>
              <a:gd name="connsiteX9" fmla="*/ 2141272 w 3954143"/>
              <a:gd name="connsiteY9" fmla="*/ 3699551 h 3699551"/>
              <a:gd name="connsiteX10" fmla="*/ 1501146 w 3954143"/>
              <a:gd name="connsiteY10" fmla="*/ 2191958 h 3699551"/>
              <a:gd name="connsiteX11" fmla="*/ 0 w 3954143"/>
              <a:gd name="connsiteY11" fmla="*/ 1825446 h 3699551"/>
              <a:gd name="connsiteX12" fmla="*/ 45066 w 3954143"/>
              <a:gd name="connsiteY12" fmla="*/ 934209 h 3699551"/>
              <a:gd name="connsiteX0" fmla="*/ 45066 w 3954143"/>
              <a:gd name="connsiteY0" fmla="*/ 934209 h 3878153"/>
              <a:gd name="connsiteX1" fmla="*/ 1501146 w 3954143"/>
              <a:gd name="connsiteY1" fmla="*/ 1390554 h 3878153"/>
              <a:gd name="connsiteX2" fmla="*/ 867600 w 3954143"/>
              <a:gd name="connsiteY2" fmla="*/ 39012 h 3878153"/>
              <a:gd name="connsiteX3" fmla="*/ 1751887 w 3954143"/>
              <a:gd name="connsiteY3" fmla="*/ 0 h 3878153"/>
              <a:gd name="connsiteX4" fmla="*/ 2387077 w 3954143"/>
              <a:gd name="connsiteY4" fmla="*/ 1390554 h 3878153"/>
              <a:gd name="connsiteX5" fmla="*/ 3954143 w 3954143"/>
              <a:gd name="connsiteY5" fmla="*/ 1930162 h 3878153"/>
              <a:gd name="connsiteX6" fmla="*/ 3847270 w 3954143"/>
              <a:gd name="connsiteY6" fmla="*/ 2745835 h 3878153"/>
              <a:gd name="connsiteX7" fmla="*/ 2387077 w 3954143"/>
              <a:gd name="connsiteY7" fmla="*/ 2191958 h 3878153"/>
              <a:gd name="connsiteX8" fmla="*/ 2987368 w 3954143"/>
              <a:gd name="connsiteY8" fmla="*/ 3681688 h 3878153"/>
              <a:gd name="connsiteX9" fmla="*/ 2141272 w 3954143"/>
              <a:gd name="connsiteY9" fmla="*/ 3699551 h 3878153"/>
              <a:gd name="connsiteX10" fmla="*/ 1501146 w 3954143"/>
              <a:gd name="connsiteY10" fmla="*/ 2191958 h 3878153"/>
              <a:gd name="connsiteX11" fmla="*/ 0 w 3954143"/>
              <a:gd name="connsiteY11" fmla="*/ 1825446 h 3878153"/>
              <a:gd name="connsiteX12" fmla="*/ 45066 w 3954143"/>
              <a:gd name="connsiteY12" fmla="*/ 934209 h 3878153"/>
              <a:gd name="connsiteX0" fmla="*/ 45066 w 3954143"/>
              <a:gd name="connsiteY0" fmla="*/ 934209 h 3982941"/>
              <a:gd name="connsiteX1" fmla="*/ 1501146 w 3954143"/>
              <a:gd name="connsiteY1" fmla="*/ 1390554 h 3982941"/>
              <a:gd name="connsiteX2" fmla="*/ 867600 w 3954143"/>
              <a:gd name="connsiteY2" fmla="*/ 39012 h 3982941"/>
              <a:gd name="connsiteX3" fmla="*/ 1751887 w 3954143"/>
              <a:gd name="connsiteY3" fmla="*/ 0 h 3982941"/>
              <a:gd name="connsiteX4" fmla="*/ 2387077 w 3954143"/>
              <a:gd name="connsiteY4" fmla="*/ 1390554 h 3982941"/>
              <a:gd name="connsiteX5" fmla="*/ 3954143 w 3954143"/>
              <a:gd name="connsiteY5" fmla="*/ 1930162 h 3982941"/>
              <a:gd name="connsiteX6" fmla="*/ 3847270 w 3954143"/>
              <a:gd name="connsiteY6" fmla="*/ 2745835 h 3982941"/>
              <a:gd name="connsiteX7" fmla="*/ 2387077 w 3954143"/>
              <a:gd name="connsiteY7" fmla="*/ 2191958 h 3982941"/>
              <a:gd name="connsiteX8" fmla="*/ 2987368 w 3954143"/>
              <a:gd name="connsiteY8" fmla="*/ 3681688 h 3982941"/>
              <a:gd name="connsiteX9" fmla="*/ 2141272 w 3954143"/>
              <a:gd name="connsiteY9" fmla="*/ 3699551 h 3982941"/>
              <a:gd name="connsiteX10" fmla="*/ 1501146 w 3954143"/>
              <a:gd name="connsiteY10" fmla="*/ 2191958 h 3982941"/>
              <a:gd name="connsiteX11" fmla="*/ 0 w 3954143"/>
              <a:gd name="connsiteY11" fmla="*/ 1825446 h 3982941"/>
              <a:gd name="connsiteX12" fmla="*/ 45066 w 3954143"/>
              <a:gd name="connsiteY12" fmla="*/ 934209 h 3982941"/>
              <a:gd name="connsiteX0" fmla="*/ 208653 w 4117730"/>
              <a:gd name="connsiteY0" fmla="*/ 934209 h 3982941"/>
              <a:gd name="connsiteX1" fmla="*/ 1664733 w 4117730"/>
              <a:gd name="connsiteY1" fmla="*/ 1390554 h 3982941"/>
              <a:gd name="connsiteX2" fmla="*/ 1031187 w 4117730"/>
              <a:gd name="connsiteY2" fmla="*/ 39012 h 3982941"/>
              <a:gd name="connsiteX3" fmla="*/ 1915474 w 4117730"/>
              <a:gd name="connsiteY3" fmla="*/ 0 h 3982941"/>
              <a:gd name="connsiteX4" fmla="*/ 2550664 w 4117730"/>
              <a:gd name="connsiteY4" fmla="*/ 1390554 h 3982941"/>
              <a:gd name="connsiteX5" fmla="*/ 4117730 w 4117730"/>
              <a:gd name="connsiteY5" fmla="*/ 1930162 h 3982941"/>
              <a:gd name="connsiteX6" fmla="*/ 4010857 w 4117730"/>
              <a:gd name="connsiteY6" fmla="*/ 2745835 h 3982941"/>
              <a:gd name="connsiteX7" fmla="*/ 2550664 w 4117730"/>
              <a:gd name="connsiteY7" fmla="*/ 2191958 h 3982941"/>
              <a:gd name="connsiteX8" fmla="*/ 3150955 w 4117730"/>
              <a:gd name="connsiteY8" fmla="*/ 3681688 h 3982941"/>
              <a:gd name="connsiteX9" fmla="*/ 2304859 w 4117730"/>
              <a:gd name="connsiteY9" fmla="*/ 3699551 h 3982941"/>
              <a:gd name="connsiteX10" fmla="*/ 1664733 w 4117730"/>
              <a:gd name="connsiteY10" fmla="*/ 2191958 h 3982941"/>
              <a:gd name="connsiteX11" fmla="*/ 163587 w 4117730"/>
              <a:gd name="connsiteY11" fmla="*/ 1825446 h 3982941"/>
              <a:gd name="connsiteX12" fmla="*/ 208653 w 4117730"/>
              <a:gd name="connsiteY12" fmla="*/ 934209 h 3982941"/>
              <a:gd name="connsiteX0" fmla="*/ 208653 w 4117730"/>
              <a:gd name="connsiteY0" fmla="*/ 934209 h 3982941"/>
              <a:gd name="connsiteX1" fmla="*/ 1664733 w 4117730"/>
              <a:gd name="connsiteY1" fmla="*/ 1390554 h 3982941"/>
              <a:gd name="connsiteX2" fmla="*/ 1031187 w 4117730"/>
              <a:gd name="connsiteY2" fmla="*/ 39012 h 3982941"/>
              <a:gd name="connsiteX3" fmla="*/ 1915474 w 4117730"/>
              <a:gd name="connsiteY3" fmla="*/ 0 h 3982941"/>
              <a:gd name="connsiteX4" fmla="*/ 2550664 w 4117730"/>
              <a:gd name="connsiteY4" fmla="*/ 1390554 h 3982941"/>
              <a:gd name="connsiteX5" fmla="*/ 4117730 w 4117730"/>
              <a:gd name="connsiteY5" fmla="*/ 1930162 h 3982941"/>
              <a:gd name="connsiteX6" fmla="*/ 4010857 w 4117730"/>
              <a:gd name="connsiteY6" fmla="*/ 2745835 h 3982941"/>
              <a:gd name="connsiteX7" fmla="*/ 2550664 w 4117730"/>
              <a:gd name="connsiteY7" fmla="*/ 2191958 h 3982941"/>
              <a:gd name="connsiteX8" fmla="*/ 3150955 w 4117730"/>
              <a:gd name="connsiteY8" fmla="*/ 3681688 h 3982941"/>
              <a:gd name="connsiteX9" fmla="*/ 2304859 w 4117730"/>
              <a:gd name="connsiteY9" fmla="*/ 3699551 h 3982941"/>
              <a:gd name="connsiteX10" fmla="*/ 1664733 w 4117730"/>
              <a:gd name="connsiteY10" fmla="*/ 2191958 h 3982941"/>
              <a:gd name="connsiteX11" fmla="*/ 163587 w 4117730"/>
              <a:gd name="connsiteY11" fmla="*/ 1825446 h 3982941"/>
              <a:gd name="connsiteX12" fmla="*/ 208653 w 4117730"/>
              <a:gd name="connsiteY12" fmla="*/ 934209 h 3982941"/>
              <a:gd name="connsiteX0" fmla="*/ 208653 w 4117730"/>
              <a:gd name="connsiteY0" fmla="*/ 1171034 h 4219766"/>
              <a:gd name="connsiteX1" fmla="*/ 1664733 w 4117730"/>
              <a:gd name="connsiteY1" fmla="*/ 1627379 h 4219766"/>
              <a:gd name="connsiteX2" fmla="*/ 1031187 w 4117730"/>
              <a:gd name="connsiteY2" fmla="*/ 275837 h 4219766"/>
              <a:gd name="connsiteX3" fmla="*/ 1915474 w 4117730"/>
              <a:gd name="connsiteY3" fmla="*/ 236825 h 4219766"/>
              <a:gd name="connsiteX4" fmla="*/ 2550664 w 4117730"/>
              <a:gd name="connsiteY4" fmla="*/ 1627379 h 4219766"/>
              <a:gd name="connsiteX5" fmla="*/ 4117730 w 4117730"/>
              <a:gd name="connsiteY5" fmla="*/ 2166987 h 4219766"/>
              <a:gd name="connsiteX6" fmla="*/ 4010857 w 4117730"/>
              <a:gd name="connsiteY6" fmla="*/ 2982660 h 4219766"/>
              <a:gd name="connsiteX7" fmla="*/ 2550664 w 4117730"/>
              <a:gd name="connsiteY7" fmla="*/ 2428783 h 4219766"/>
              <a:gd name="connsiteX8" fmla="*/ 3150955 w 4117730"/>
              <a:gd name="connsiteY8" fmla="*/ 3918513 h 4219766"/>
              <a:gd name="connsiteX9" fmla="*/ 2304859 w 4117730"/>
              <a:gd name="connsiteY9" fmla="*/ 3936376 h 4219766"/>
              <a:gd name="connsiteX10" fmla="*/ 1664733 w 4117730"/>
              <a:gd name="connsiteY10" fmla="*/ 2428783 h 4219766"/>
              <a:gd name="connsiteX11" fmla="*/ 163587 w 4117730"/>
              <a:gd name="connsiteY11" fmla="*/ 2062271 h 4219766"/>
              <a:gd name="connsiteX12" fmla="*/ 208653 w 4117730"/>
              <a:gd name="connsiteY12" fmla="*/ 1171034 h 4219766"/>
              <a:gd name="connsiteX0" fmla="*/ 208653 w 4117730"/>
              <a:gd name="connsiteY0" fmla="*/ 1187463 h 4236195"/>
              <a:gd name="connsiteX1" fmla="*/ 1664733 w 4117730"/>
              <a:gd name="connsiteY1" fmla="*/ 1643808 h 4236195"/>
              <a:gd name="connsiteX2" fmla="*/ 1031187 w 4117730"/>
              <a:gd name="connsiteY2" fmla="*/ 292266 h 4236195"/>
              <a:gd name="connsiteX3" fmla="*/ 1915474 w 4117730"/>
              <a:gd name="connsiteY3" fmla="*/ 253254 h 4236195"/>
              <a:gd name="connsiteX4" fmla="*/ 2550664 w 4117730"/>
              <a:gd name="connsiteY4" fmla="*/ 1643808 h 4236195"/>
              <a:gd name="connsiteX5" fmla="*/ 4117730 w 4117730"/>
              <a:gd name="connsiteY5" fmla="*/ 2183416 h 4236195"/>
              <a:gd name="connsiteX6" fmla="*/ 4010857 w 4117730"/>
              <a:gd name="connsiteY6" fmla="*/ 2999089 h 4236195"/>
              <a:gd name="connsiteX7" fmla="*/ 2550664 w 4117730"/>
              <a:gd name="connsiteY7" fmla="*/ 2445212 h 4236195"/>
              <a:gd name="connsiteX8" fmla="*/ 3150955 w 4117730"/>
              <a:gd name="connsiteY8" fmla="*/ 3934942 h 4236195"/>
              <a:gd name="connsiteX9" fmla="*/ 2304859 w 4117730"/>
              <a:gd name="connsiteY9" fmla="*/ 3952805 h 4236195"/>
              <a:gd name="connsiteX10" fmla="*/ 1664733 w 4117730"/>
              <a:gd name="connsiteY10" fmla="*/ 2445212 h 4236195"/>
              <a:gd name="connsiteX11" fmla="*/ 163587 w 4117730"/>
              <a:gd name="connsiteY11" fmla="*/ 2078700 h 4236195"/>
              <a:gd name="connsiteX12" fmla="*/ 208653 w 4117730"/>
              <a:gd name="connsiteY12" fmla="*/ 1187463 h 4236195"/>
              <a:gd name="connsiteX0" fmla="*/ 208653 w 4260490"/>
              <a:gd name="connsiteY0" fmla="*/ 1187463 h 4236195"/>
              <a:gd name="connsiteX1" fmla="*/ 1664733 w 4260490"/>
              <a:gd name="connsiteY1" fmla="*/ 1643808 h 4236195"/>
              <a:gd name="connsiteX2" fmla="*/ 1031187 w 4260490"/>
              <a:gd name="connsiteY2" fmla="*/ 292266 h 4236195"/>
              <a:gd name="connsiteX3" fmla="*/ 1915474 w 4260490"/>
              <a:gd name="connsiteY3" fmla="*/ 253254 h 4236195"/>
              <a:gd name="connsiteX4" fmla="*/ 2550664 w 4260490"/>
              <a:gd name="connsiteY4" fmla="*/ 1643808 h 4236195"/>
              <a:gd name="connsiteX5" fmla="*/ 4117730 w 4260490"/>
              <a:gd name="connsiteY5" fmla="*/ 2183416 h 4236195"/>
              <a:gd name="connsiteX6" fmla="*/ 4010857 w 4260490"/>
              <a:gd name="connsiteY6" fmla="*/ 2999089 h 4236195"/>
              <a:gd name="connsiteX7" fmla="*/ 2550664 w 4260490"/>
              <a:gd name="connsiteY7" fmla="*/ 2445212 h 4236195"/>
              <a:gd name="connsiteX8" fmla="*/ 3150955 w 4260490"/>
              <a:gd name="connsiteY8" fmla="*/ 3934942 h 4236195"/>
              <a:gd name="connsiteX9" fmla="*/ 2304859 w 4260490"/>
              <a:gd name="connsiteY9" fmla="*/ 3952805 h 4236195"/>
              <a:gd name="connsiteX10" fmla="*/ 1664733 w 4260490"/>
              <a:gd name="connsiteY10" fmla="*/ 2445212 h 4236195"/>
              <a:gd name="connsiteX11" fmla="*/ 163587 w 4260490"/>
              <a:gd name="connsiteY11" fmla="*/ 2078700 h 4236195"/>
              <a:gd name="connsiteX12" fmla="*/ 208653 w 4260490"/>
              <a:gd name="connsiteY12" fmla="*/ 1187463 h 4236195"/>
              <a:gd name="connsiteX0" fmla="*/ 208653 w 4338191"/>
              <a:gd name="connsiteY0" fmla="*/ 1187463 h 4236195"/>
              <a:gd name="connsiteX1" fmla="*/ 1664733 w 4338191"/>
              <a:gd name="connsiteY1" fmla="*/ 1643808 h 4236195"/>
              <a:gd name="connsiteX2" fmla="*/ 1031187 w 4338191"/>
              <a:gd name="connsiteY2" fmla="*/ 292266 h 4236195"/>
              <a:gd name="connsiteX3" fmla="*/ 1915474 w 4338191"/>
              <a:gd name="connsiteY3" fmla="*/ 253254 h 4236195"/>
              <a:gd name="connsiteX4" fmla="*/ 2550664 w 4338191"/>
              <a:gd name="connsiteY4" fmla="*/ 1643808 h 4236195"/>
              <a:gd name="connsiteX5" fmla="*/ 4117730 w 4338191"/>
              <a:gd name="connsiteY5" fmla="*/ 2183416 h 4236195"/>
              <a:gd name="connsiteX6" fmla="*/ 4010857 w 4338191"/>
              <a:gd name="connsiteY6" fmla="*/ 2999089 h 4236195"/>
              <a:gd name="connsiteX7" fmla="*/ 2550664 w 4338191"/>
              <a:gd name="connsiteY7" fmla="*/ 2445212 h 4236195"/>
              <a:gd name="connsiteX8" fmla="*/ 3150955 w 4338191"/>
              <a:gd name="connsiteY8" fmla="*/ 3934942 h 4236195"/>
              <a:gd name="connsiteX9" fmla="*/ 2304859 w 4338191"/>
              <a:gd name="connsiteY9" fmla="*/ 3952805 h 4236195"/>
              <a:gd name="connsiteX10" fmla="*/ 1664733 w 4338191"/>
              <a:gd name="connsiteY10" fmla="*/ 2445212 h 4236195"/>
              <a:gd name="connsiteX11" fmla="*/ 163587 w 4338191"/>
              <a:gd name="connsiteY11" fmla="*/ 2078700 h 4236195"/>
              <a:gd name="connsiteX12" fmla="*/ 208653 w 4338191"/>
              <a:gd name="connsiteY12" fmla="*/ 1187463 h 4236195"/>
              <a:gd name="connsiteX0" fmla="*/ 208653 w 4180264"/>
              <a:gd name="connsiteY0" fmla="*/ 1187463 h 4236195"/>
              <a:gd name="connsiteX1" fmla="*/ 1664733 w 4180264"/>
              <a:gd name="connsiteY1" fmla="*/ 1643808 h 4236195"/>
              <a:gd name="connsiteX2" fmla="*/ 1031187 w 4180264"/>
              <a:gd name="connsiteY2" fmla="*/ 292266 h 4236195"/>
              <a:gd name="connsiteX3" fmla="*/ 1915474 w 4180264"/>
              <a:gd name="connsiteY3" fmla="*/ 253254 h 4236195"/>
              <a:gd name="connsiteX4" fmla="*/ 2550664 w 4180264"/>
              <a:gd name="connsiteY4" fmla="*/ 1643808 h 4236195"/>
              <a:gd name="connsiteX5" fmla="*/ 4117730 w 4180264"/>
              <a:gd name="connsiteY5" fmla="*/ 2183416 h 4236195"/>
              <a:gd name="connsiteX6" fmla="*/ 3604808 w 4180264"/>
              <a:gd name="connsiteY6" fmla="*/ 2869627 h 4236195"/>
              <a:gd name="connsiteX7" fmla="*/ 2550664 w 4180264"/>
              <a:gd name="connsiteY7" fmla="*/ 2445212 h 4236195"/>
              <a:gd name="connsiteX8" fmla="*/ 3150955 w 4180264"/>
              <a:gd name="connsiteY8" fmla="*/ 3934942 h 4236195"/>
              <a:gd name="connsiteX9" fmla="*/ 2304859 w 4180264"/>
              <a:gd name="connsiteY9" fmla="*/ 3952805 h 4236195"/>
              <a:gd name="connsiteX10" fmla="*/ 1664733 w 4180264"/>
              <a:gd name="connsiteY10" fmla="*/ 2445212 h 4236195"/>
              <a:gd name="connsiteX11" fmla="*/ 163587 w 4180264"/>
              <a:gd name="connsiteY11" fmla="*/ 2078700 h 4236195"/>
              <a:gd name="connsiteX12" fmla="*/ 208653 w 4180264"/>
              <a:gd name="connsiteY12" fmla="*/ 1187463 h 4236195"/>
              <a:gd name="connsiteX0" fmla="*/ 208653 w 4046922"/>
              <a:gd name="connsiteY0" fmla="*/ 1187463 h 4236195"/>
              <a:gd name="connsiteX1" fmla="*/ 1664733 w 4046922"/>
              <a:gd name="connsiteY1" fmla="*/ 1643808 h 4236195"/>
              <a:gd name="connsiteX2" fmla="*/ 1031187 w 4046922"/>
              <a:gd name="connsiteY2" fmla="*/ 292266 h 4236195"/>
              <a:gd name="connsiteX3" fmla="*/ 1915474 w 4046922"/>
              <a:gd name="connsiteY3" fmla="*/ 253254 h 4236195"/>
              <a:gd name="connsiteX4" fmla="*/ 2550664 w 4046922"/>
              <a:gd name="connsiteY4" fmla="*/ 1643808 h 4236195"/>
              <a:gd name="connsiteX5" fmla="*/ 3997107 w 4046922"/>
              <a:gd name="connsiteY5" fmla="*/ 2335052 h 4236195"/>
              <a:gd name="connsiteX6" fmla="*/ 3604808 w 4046922"/>
              <a:gd name="connsiteY6" fmla="*/ 2869627 h 4236195"/>
              <a:gd name="connsiteX7" fmla="*/ 2550664 w 4046922"/>
              <a:gd name="connsiteY7" fmla="*/ 2445212 h 4236195"/>
              <a:gd name="connsiteX8" fmla="*/ 3150955 w 4046922"/>
              <a:gd name="connsiteY8" fmla="*/ 3934942 h 4236195"/>
              <a:gd name="connsiteX9" fmla="*/ 2304859 w 4046922"/>
              <a:gd name="connsiteY9" fmla="*/ 3952805 h 4236195"/>
              <a:gd name="connsiteX10" fmla="*/ 1664733 w 4046922"/>
              <a:gd name="connsiteY10" fmla="*/ 2445212 h 4236195"/>
              <a:gd name="connsiteX11" fmla="*/ 163587 w 4046922"/>
              <a:gd name="connsiteY11" fmla="*/ 2078700 h 4236195"/>
              <a:gd name="connsiteX12" fmla="*/ 208653 w 4046922"/>
              <a:gd name="connsiteY12" fmla="*/ 1187463 h 4236195"/>
              <a:gd name="connsiteX0" fmla="*/ 208653 w 4075431"/>
              <a:gd name="connsiteY0" fmla="*/ 1187463 h 4236195"/>
              <a:gd name="connsiteX1" fmla="*/ 1664733 w 4075431"/>
              <a:gd name="connsiteY1" fmla="*/ 1643808 h 4236195"/>
              <a:gd name="connsiteX2" fmla="*/ 1031187 w 4075431"/>
              <a:gd name="connsiteY2" fmla="*/ 292266 h 4236195"/>
              <a:gd name="connsiteX3" fmla="*/ 1915474 w 4075431"/>
              <a:gd name="connsiteY3" fmla="*/ 253254 h 4236195"/>
              <a:gd name="connsiteX4" fmla="*/ 2550664 w 4075431"/>
              <a:gd name="connsiteY4" fmla="*/ 1643808 h 4236195"/>
              <a:gd name="connsiteX5" fmla="*/ 3997107 w 4075431"/>
              <a:gd name="connsiteY5" fmla="*/ 2335052 h 4236195"/>
              <a:gd name="connsiteX6" fmla="*/ 3741352 w 4075431"/>
              <a:gd name="connsiteY6" fmla="*/ 2863878 h 4236195"/>
              <a:gd name="connsiteX7" fmla="*/ 2550664 w 4075431"/>
              <a:gd name="connsiteY7" fmla="*/ 2445212 h 4236195"/>
              <a:gd name="connsiteX8" fmla="*/ 3150955 w 4075431"/>
              <a:gd name="connsiteY8" fmla="*/ 3934942 h 4236195"/>
              <a:gd name="connsiteX9" fmla="*/ 2304859 w 4075431"/>
              <a:gd name="connsiteY9" fmla="*/ 3952805 h 4236195"/>
              <a:gd name="connsiteX10" fmla="*/ 1664733 w 4075431"/>
              <a:gd name="connsiteY10" fmla="*/ 2445212 h 4236195"/>
              <a:gd name="connsiteX11" fmla="*/ 163587 w 4075431"/>
              <a:gd name="connsiteY11" fmla="*/ 2078700 h 4236195"/>
              <a:gd name="connsiteX12" fmla="*/ 208653 w 4075431"/>
              <a:gd name="connsiteY12" fmla="*/ 1187463 h 4236195"/>
              <a:gd name="connsiteX0" fmla="*/ 208653 w 4025397"/>
              <a:gd name="connsiteY0" fmla="*/ 1187463 h 4236195"/>
              <a:gd name="connsiteX1" fmla="*/ 1664733 w 4025397"/>
              <a:gd name="connsiteY1" fmla="*/ 1643808 h 4236195"/>
              <a:gd name="connsiteX2" fmla="*/ 1031187 w 4025397"/>
              <a:gd name="connsiteY2" fmla="*/ 292266 h 4236195"/>
              <a:gd name="connsiteX3" fmla="*/ 1915474 w 4025397"/>
              <a:gd name="connsiteY3" fmla="*/ 253254 h 4236195"/>
              <a:gd name="connsiteX4" fmla="*/ 2550664 w 4025397"/>
              <a:gd name="connsiteY4" fmla="*/ 1643808 h 4236195"/>
              <a:gd name="connsiteX5" fmla="*/ 3936120 w 4025397"/>
              <a:gd name="connsiteY5" fmla="*/ 2278996 h 4236195"/>
              <a:gd name="connsiteX6" fmla="*/ 3741352 w 4025397"/>
              <a:gd name="connsiteY6" fmla="*/ 2863878 h 4236195"/>
              <a:gd name="connsiteX7" fmla="*/ 2550664 w 4025397"/>
              <a:gd name="connsiteY7" fmla="*/ 2445212 h 4236195"/>
              <a:gd name="connsiteX8" fmla="*/ 3150955 w 4025397"/>
              <a:gd name="connsiteY8" fmla="*/ 3934942 h 4236195"/>
              <a:gd name="connsiteX9" fmla="*/ 2304859 w 4025397"/>
              <a:gd name="connsiteY9" fmla="*/ 3952805 h 4236195"/>
              <a:gd name="connsiteX10" fmla="*/ 1664733 w 4025397"/>
              <a:gd name="connsiteY10" fmla="*/ 2445212 h 4236195"/>
              <a:gd name="connsiteX11" fmla="*/ 163587 w 4025397"/>
              <a:gd name="connsiteY11" fmla="*/ 2078700 h 4236195"/>
              <a:gd name="connsiteX12" fmla="*/ 208653 w 4025397"/>
              <a:gd name="connsiteY12" fmla="*/ 1187463 h 4236195"/>
              <a:gd name="connsiteX0" fmla="*/ 208653 w 4025397"/>
              <a:gd name="connsiteY0" fmla="*/ 1187463 h 4055216"/>
              <a:gd name="connsiteX1" fmla="*/ 1664733 w 4025397"/>
              <a:gd name="connsiteY1" fmla="*/ 1643808 h 4055216"/>
              <a:gd name="connsiteX2" fmla="*/ 1031187 w 4025397"/>
              <a:gd name="connsiteY2" fmla="*/ 292266 h 4055216"/>
              <a:gd name="connsiteX3" fmla="*/ 1915474 w 4025397"/>
              <a:gd name="connsiteY3" fmla="*/ 253254 h 4055216"/>
              <a:gd name="connsiteX4" fmla="*/ 2550664 w 4025397"/>
              <a:gd name="connsiteY4" fmla="*/ 1643808 h 4055216"/>
              <a:gd name="connsiteX5" fmla="*/ 3936120 w 4025397"/>
              <a:gd name="connsiteY5" fmla="*/ 2278996 h 4055216"/>
              <a:gd name="connsiteX6" fmla="*/ 3741352 w 4025397"/>
              <a:gd name="connsiteY6" fmla="*/ 2863878 h 4055216"/>
              <a:gd name="connsiteX7" fmla="*/ 2550664 w 4025397"/>
              <a:gd name="connsiteY7" fmla="*/ 2445212 h 4055216"/>
              <a:gd name="connsiteX8" fmla="*/ 2957831 w 4025397"/>
              <a:gd name="connsiteY8" fmla="*/ 3757434 h 4055216"/>
              <a:gd name="connsiteX9" fmla="*/ 2304859 w 4025397"/>
              <a:gd name="connsiteY9" fmla="*/ 3952805 h 4055216"/>
              <a:gd name="connsiteX10" fmla="*/ 1664733 w 4025397"/>
              <a:gd name="connsiteY10" fmla="*/ 2445212 h 4055216"/>
              <a:gd name="connsiteX11" fmla="*/ 163587 w 4025397"/>
              <a:gd name="connsiteY11" fmla="*/ 2078700 h 4055216"/>
              <a:gd name="connsiteX12" fmla="*/ 208653 w 4025397"/>
              <a:gd name="connsiteY12" fmla="*/ 1187463 h 4055216"/>
              <a:gd name="connsiteX0" fmla="*/ 208653 w 4025397"/>
              <a:gd name="connsiteY0" fmla="*/ 1187463 h 4024023"/>
              <a:gd name="connsiteX1" fmla="*/ 1664733 w 4025397"/>
              <a:gd name="connsiteY1" fmla="*/ 1643808 h 4024023"/>
              <a:gd name="connsiteX2" fmla="*/ 1031187 w 4025397"/>
              <a:gd name="connsiteY2" fmla="*/ 292266 h 4024023"/>
              <a:gd name="connsiteX3" fmla="*/ 1915474 w 4025397"/>
              <a:gd name="connsiteY3" fmla="*/ 253254 h 4024023"/>
              <a:gd name="connsiteX4" fmla="*/ 2550664 w 4025397"/>
              <a:gd name="connsiteY4" fmla="*/ 1643808 h 4024023"/>
              <a:gd name="connsiteX5" fmla="*/ 3936120 w 4025397"/>
              <a:gd name="connsiteY5" fmla="*/ 2278996 h 4024023"/>
              <a:gd name="connsiteX6" fmla="*/ 3741352 w 4025397"/>
              <a:gd name="connsiteY6" fmla="*/ 2863878 h 4024023"/>
              <a:gd name="connsiteX7" fmla="*/ 2550664 w 4025397"/>
              <a:gd name="connsiteY7" fmla="*/ 2445212 h 4024023"/>
              <a:gd name="connsiteX8" fmla="*/ 2957831 w 4025397"/>
              <a:gd name="connsiteY8" fmla="*/ 3757434 h 4024023"/>
              <a:gd name="connsiteX9" fmla="*/ 2342227 w 4025397"/>
              <a:gd name="connsiteY9" fmla="*/ 3912149 h 4024023"/>
              <a:gd name="connsiteX10" fmla="*/ 1664733 w 4025397"/>
              <a:gd name="connsiteY10" fmla="*/ 2445212 h 4024023"/>
              <a:gd name="connsiteX11" fmla="*/ 163587 w 4025397"/>
              <a:gd name="connsiteY11" fmla="*/ 2078700 h 4024023"/>
              <a:gd name="connsiteX12" fmla="*/ 208653 w 4025397"/>
              <a:gd name="connsiteY12" fmla="*/ 1187463 h 4024023"/>
              <a:gd name="connsiteX0" fmla="*/ 312504 w 3956452"/>
              <a:gd name="connsiteY0" fmla="*/ 1346286 h 4024023"/>
              <a:gd name="connsiteX1" fmla="*/ 1595788 w 3956452"/>
              <a:gd name="connsiteY1" fmla="*/ 1643808 h 4024023"/>
              <a:gd name="connsiteX2" fmla="*/ 962242 w 3956452"/>
              <a:gd name="connsiteY2" fmla="*/ 292266 h 4024023"/>
              <a:gd name="connsiteX3" fmla="*/ 1846529 w 3956452"/>
              <a:gd name="connsiteY3" fmla="*/ 253254 h 4024023"/>
              <a:gd name="connsiteX4" fmla="*/ 2481719 w 3956452"/>
              <a:gd name="connsiteY4" fmla="*/ 1643808 h 4024023"/>
              <a:gd name="connsiteX5" fmla="*/ 3867175 w 3956452"/>
              <a:gd name="connsiteY5" fmla="*/ 2278996 h 4024023"/>
              <a:gd name="connsiteX6" fmla="*/ 3672407 w 3956452"/>
              <a:gd name="connsiteY6" fmla="*/ 2863878 h 4024023"/>
              <a:gd name="connsiteX7" fmla="*/ 2481719 w 3956452"/>
              <a:gd name="connsiteY7" fmla="*/ 2445212 h 4024023"/>
              <a:gd name="connsiteX8" fmla="*/ 2888886 w 3956452"/>
              <a:gd name="connsiteY8" fmla="*/ 3757434 h 4024023"/>
              <a:gd name="connsiteX9" fmla="*/ 2273282 w 3956452"/>
              <a:gd name="connsiteY9" fmla="*/ 3912149 h 4024023"/>
              <a:gd name="connsiteX10" fmla="*/ 1595788 w 3956452"/>
              <a:gd name="connsiteY10" fmla="*/ 2445212 h 4024023"/>
              <a:gd name="connsiteX11" fmla="*/ 94642 w 3956452"/>
              <a:gd name="connsiteY11" fmla="*/ 2078700 h 4024023"/>
              <a:gd name="connsiteX12" fmla="*/ 312504 w 3956452"/>
              <a:gd name="connsiteY12" fmla="*/ 1346286 h 4024023"/>
              <a:gd name="connsiteX0" fmla="*/ 207846 w 3851794"/>
              <a:gd name="connsiteY0" fmla="*/ 1346286 h 4024023"/>
              <a:gd name="connsiteX1" fmla="*/ 1491130 w 3851794"/>
              <a:gd name="connsiteY1" fmla="*/ 1643808 h 4024023"/>
              <a:gd name="connsiteX2" fmla="*/ 857584 w 3851794"/>
              <a:gd name="connsiteY2" fmla="*/ 292266 h 4024023"/>
              <a:gd name="connsiteX3" fmla="*/ 1741871 w 3851794"/>
              <a:gd name="connsiteY3" fmla="*/ 253254 h 4024023"/>
              <a:gd name="connsiteX4" fmla="*/ 2377061 w 3851794"/>
              <a:gd name="connsiteY4" fmla="*/ 1643808 h 4024023"/>
              <a:gd name="connsiteX5" fmla="*/ 3762517 w 3851794"/>
              <a:gd name="connsiteY5" fmla="*/ 2278996 h 4024023"/>
              <a:gd name="connsiteX6" fmla="*/ 3567749 w 3851794"/>
              <a:gd name="connsiteY6" fmla="*/ 2863878 h 4024023"/>
              <a:gd name="connsiteX7" fmla="*/ 2377061 w 3851794"/>
              <a:gd name="connsiteY7" fmla="*/ 2445212 h 4024023"/>
              <a:gd name="connsiteX8" fmla="*/ 2784228 w 3851794"/>
              <a:gd name="connsiteY8" fmla="*/ 3757434 h 4024023"/>
              <a:gd name="connsiteX9" fmla="*/ 2168624 w 3851794"/>
              <a:gd name="connsiteY9" fmla="*/ 3912149 h 4024023"/>
              <a:gd name="connsiteX10" fmla="*/ 1491130 w 3851794"/>
              <a:gd name="connsiteY10" fmla="*/ 2445212 h 4024023"/>
              <a:gd name="connsiteX11" fmla="*/ 130936 w 3851794"/>
              <a:gd name="connsiteY11" fmla="*/ 1945750 h 4024023"/>
              <a:gd name="connsiteX12" fmla="*/ 207846 w 3851794"/>
              <a:gd name="connsiteY12" fmla="*/ 1346286 h 4024023"/>
              <a:gd name="connsiteX0" fmla="*/ 207846 w 3851794"/>
              <a:gd name="connsiteY0" fmla="*/ 1158781 h 3836518"/>
              <a:gd name="connsiteX1" fmla="*/ 1491130 w 3851794"/>
              <a:gd name="connsiteY1" fmla="*/ 1456303 h 3836518"/>
              <a:gd name="connsiteX2" fmla="*/ 1043834 w 3851794"/>
              <a:gd name="connsiteY2" fmla="*/ 350952 h 3836518"/>
              <a:gd name="connsiteX3" fmla="*/ 1741871 w 3851794"/>
              <a:gd name="connsiteY3" fmla="*/ 65749 h 3836518"/>
              <a:gd name="connsiteX4" fmla="*/ 2377061 w 3851794"/>
              <a:gd name="connsiteY4" fmla="*/ 1456303 h 3836518"/>
              <a:gd name="connsiteX5" fmla="*/ 3762517 w 3851794"/>
              <a:gd name="connsiteY5" fmla="*/ 2091491 h 3836518"/>
              <a:gd name="connsiteX6" fmla="*/ 3567749 w 3851794"/>
              <a:gd name="connsiteY6" fmla="*/ 2676373 h 3836518"/>
              <a:gd name="connsiteX7" fmla="*/ 2377061 w 3851794"/>
              <a:gd name="connsiteY7" fmla="*/ 2257707 h 3836518"/>
              <a:gd name="connsiteX8" fmla="*/ 2784228 w 3851794"/>
              <a:gd name="connsiteY8" fmla="*/ 3569929 h 3836518"/>
              <a:gd name="connsiteX9" fmla="*/ 2168624 w 3851794"/>
              <a:gd name="connsiteY9" fmla="*/ 3724644 h 3836518"/>
              <a:gd name="connsiteX10" fmla="*/ 1491130 w 3851794"/>
              <a:gd name="connsiteY10" fmla="*/ 2257707 h 3836518"/>
              <a:gd name="connsiteX11" fmla="*/ 130936 w 3851794"/>
              <a:gd name="connsiteY11" fmla="*/ 1758245 h 3836518"/>
              <a:gd name="connsiteX12" fmla="*/ 207846 w 3851794"/>
              <a:gd name="connsiteY12" fmla="*/ 1158781 h 3836518"/>
              <a:gd name="connsiteX0" fmla="*/ 207846 w 3851794"/>
              <a:gd name="connsiteY0" fmla="*/ 1099866 h 3777603"/>
              <a:gd name="connsiteX1" fmla="*/ 1491130 w 3851794"/>
              <a:gd name="connsiteY1" fmla="*/ 1397388 h 3777603"/>
              <a:gd name="connsiteX2" fmla="*/ 1043834 w 3851794"/>
              <a:gd name="connsiteY2" fmla="*/ 292037 h 3777603"/>
              <a:gd name="connsiteX3" fmla="*/ 1715490 w 3851794"/>
              <a:gd name="connsiteY3" fmla="*/ 76337 h 3777603"/>
              <a:gd name="connsiteX4" fmla="*/ 2377061 w 3851794"/>
              <a:gd name="connsiteY4" fmla="*/ 1397388 h 3777603"/>
              <a:gd name="connsiteX5" fmla="*/ 3762517 w 3851794"/>
              <a:gd name="connsiteY5" fmla="*/ 2032576 h 3777603"/>
              <a:gd name="connsiteX6" fmla="*/ 3567749 w 3851794"/>
              <a:gd name="connsiteY6" fmla="*/ 2617458 h 3777603"/>
              <a:gd name="connsiteX7" fmla="*/ 2377061 w 3851794"/>
              <a:gd name="connsiteY7" fmla="*/ 2198792 h 3777603"/>
              <a:gd name="connsiteX8" fmla="*/ 2784228 w 3851794"/>
              <a:gd name="connsiteY8" fmla="*/ 3511014 h 3777603"/>
              <a:gd name="connsiteX9" fmla="*/ 2168624 w 3851794"/>
              <a:gd name="connsiteY9" fmla="*/ 3665729 h 3777603"/>
              <a:gd name="connsiteX10" fmla="*/ 1491130 w 3851794"/>
              <a:gd name="connsiteY10" fmla="*/ 2198792 h 3777603"/>
              <a:gd name="connsiteX11" fmla="*/ 130936 w 3851794"/>
              <a:gd name="connsiteY11" fmla="*/ 1699330 h 3777603"/>
              <a:gd name="connsiteX12" fmla="*/ 207846 w 3851794"/>
              <a:gd name="connsiteY12" fmla="*/ 1099866 h 3777603"/>
              <a:gd name="connsiteX0" fmla="*/ 207846 w 3851794"/>
              <a:gd name="connsiteY0" fmla="*/ 1109323 h 3787060"/>
              <a:gd name="connsiteX1" fmla="*/ 1491130 w 3851794"/>
              <a:gd name="connsiteY1" fmla="*/ 1406845 h 3787060"/>
              <a:gd name="connsiteX2" fmla="*/ 1110872 w 3851794"/>
              <a:gd name="connsiteY2" fmla="*/ 269359 h 3787060"/>
              <a:gd name="connsiteX3" fmla="*/ 1715490 w 3851794"/>
              <a:gd name="connsiteY3" fmla="*/ 85794 h 3787060"/>
              <a:gd name="connsiteX4" fmla="*/ 2377061 w 3851794"/>
              <a:gd name="connsiteY4" fmla="*/ 1406845 h 3787060"/>
              <a:gd name="connsiteX5" fmla="*/ 3762517 w 3851794"/>
              <a:gd name="connsiteY5" fmla="*/ 2042033 h 3787060"/>
              <a:gd name="connsiteX6" fmla="*/ 3567749 w 3851794"/>
              <a:gd name="connsiteY6" fmla="*/ 2626915 h 3787060"/>
              <a:gd name="connsiteX7" fmla="*/ 2377061 w 3851794"/>
              <a:gd name="connsiteY7" fmla="*/ 2208249 h 3787060"/>
              <a:gd name="connsiteX8" fmla="*/ 2784228 w 3851794"/>
              <a:gd name="connsiteY8" fmla="*/ 3520471 h 3787060"/>
              <a:gd name="connsiteX9" fmla="*/ 2168624 w 3851794"/>
              <a:gd name="connsiteY9" fmla="*/ 3675186 h 3787060"/>
              <a:gd name="connsiteX10" fmla="*/ 1491130 w 3851794"/>
              <a:gd name="connsiteY10" fmla="*/ 2208249 h 3787060"/>
              <a:gd name="connsiteX11" fmla="*/ 130936 w 3851794"/>
              <a:gd name="connsiteY11" fmla="*/ 1708787 h 3787060"/>
              <a:gd name="connsiteX12" fmla="*/ 207846 w 3851794"/>
              <a:gd name="connsiteY12" fmla="*/ 1109323 h 3787060"/>
              <a:gd name="connsiteX0" fmla="*/ 207846 w 3851794"/>
              <a:gd name="connsiteY0" fmla="*/ 1077688 h 3755425"/>
              <a:gd name="connsiteX1" fmla="*/ 1491130 w 3851794"/>
              <a:gd name="connsiteY1" fmla="*/ 1375210 h 3755425"/>
              <a:gd name="connsiteX2" fmla="*/ 1110872 w 3851794"/>
              <a:gd name="connsiteY2" fmla="*/ 237724 h 3755425"/>
              <a:gd name="connsiteX3" fmla="*/ 1678122 w 3851794"/>
              <a:gd name="connsiteY3" fmla="*/ 94814 h 3755425"/>
              <a:gd name="connsiteX4" fmla="*/ 2377061 w 3851794"/>
              <a:gd name="connsiteY4" fmla="*/ 1375210 h 3755425"/>
              <a:gd name="connsiteX5" fmla="*/ 3762517 w 3851794"/>
              <a:gd name="connsiteY5" fmla="*/ 2010398 h 3755425"/>
              <a:gd name="connsiteX6" fmla="*/ 3567749 w 3851794"/>
              <a:gd name="connsiteY6" fmla="*/ 2595280 h 3755425"/>
              <a:gd name="connsiteX7" fmla="*/ 2377061 w 3851794"/>
              <a:gd name="connsiteY7" fmla="*/ 2176614 h 3755425"/>
              <a:gd name="connsiteX8" fmla="*/ 2784228 w 3851794"/>
              <a:gd name="connsiteY8" fmla="*/ 3488836 h 3755425"/>
              <a:gd name="connsiteX9" fmla="*/ 2168624 w 3851794"/>
              <a:gd name="connsiteY9" fmla="*/ 3643551 h 3755425"/>
              <a:gd name="connsiteX10" fmla="*/ 1491130 w 3851794"/>
              <a:gd name="connsiteY10" fmla="*/ 2176614 h 3755425"/>
              <a:gd name="connsiteX11" fmla="*/ 130936 w 3851794"/>
              <a:gd name="connsiteY11" fmla="*/ 1677152 h 3755425"/>
              <a:gd name="connsiteX12" fmla="*/ 207846 w 3851794"/>
              <a:gd name="connsiteY12" fmla="*/ 1077688 h 3755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851794" h="3755425">
                <a:moveTo>
                  <a:pt x="207846" y="1077688"/>
                </a:moveTo>
                <a:cubicBezTo>
                  <a:pt x="434545" y="1027364"/>
                  <a:pt x="1354041" y="1524409"/>
                  <a:pt x="1491130" y="1375210"/>
                </a:cubicBezTo>
                <a:cubicBezTo>
                  <a:pt x="1342031" y="1006760"/>
                  <a:pt x="1079707" y="451123"/>
                  <a:pt x="1110872" y="237724"/>
                </a:cubicBezTo>
                <a:cubicBezTo>
                  <a:pt x="1142037" y="24325"/>
                  <a:pt x="1467091" y="-94767"/>
                  <a:pt x="1678122" y="94814"/>
                </a:cubicBezTo>
                <a:cubicBezTo>
                  <a:pt x="1889154" y="284395"/>
                  <a:pt x="2165331" y="911692"/>
                  <a:pt x="2377061" y="1375210"/>
                </a:cubicBezTo>
                <a:cubicBezTo>
                  <a:pt x="2744104" y="1696904"/>
                  <a:pt x="3564069" y="1807053"/>
                  <a:pt x="3762517" y="2010398"/>
                </a:cubicBezTo>
                <a:cubicBezTo>
                  <a:pt x="3960965" y="2213743"/>
                  <a:pt x="3798658" y="2567577"/>
                  <a:pt x="3567749" y="2595280"/>
                </a:cubicBezTo>
                <a:cubicBezTo>
                  <a:pt x="3336840" y="2622983"/>
                  <a:pt x="2728442" y="2318086"/>
                  <a:pt x="2377061" y="2176614"/>
                </a:cubicBezTo>
                <a:cubicBezTo>
                  <a:pt x="2233744" y="2332590"/>
                  <a:pt x="2818968" y="3244347"/>
                  <a:pt x="2784228" y="3488836"/>
                </a:cubicBezTo>
                <a:cubicBezTo>
                  <a:pt x="2749489" y="3733326"/>
                  <a:pt x="2384140" y="3862255"/>
                  <a:pt x="2168624" y="3643551"/>
                </a:cubicBezTo>
                <a:cubicBezTo>
                  <a:pt x="1953108" y="3424847"/>
                  <a:pt x="1704505" y="2679145"/>
                  <a:pt x="1491130" y="2176614"/>
                </a:cubicBezTo>
                <a:cubicBezTo>
                  <a:pt x="1134251" y="1864263"/>
                  <a:pt x="344817" y="1860306"/>
                  <a:pt x="130936" y="1677152"/>
                </a:cubicBezTo>
                <a:cubicBezTo>
                  <a:pt x="-82945" y="1493998"/>
                  <a:pt x="-18853" y="1128012"/>
                  <a:pt x="207846" y="1077688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Scheduling</a:t>
            </a:r>
            <a:endParaRPr lang="en-US" dirty="0"/>
          </a:p>
        </p:txBody>
      </p:sp>
      <p:grpSp>
        <p:nvGrpSpPr>
          <p:cNvPr id="46" name="Group 45"/>
          <p:cNvGrpSpPr/>
          <p:nvPr/>
        </p:nvGrpSpPr>
        <p:grpSpPr>
          <a:xfrm>
            <a:off x="1255032" y="3163830"/>
            <a:ext cx="2731046" cy="2524518"/>
            <a:chOff x="534640" y="3114514"/>
            <a:chExt cx="3256908" cy="3010613"/>
          </a:xfrm>
        </p:grpSpPr>
        <p:sp>
          <p:nvSpPr>
            <p:cNvPr id="5" name="Oval 4"/>
            <p:cNvSpPr/>
            <p:nvPr/>
          </p:nvSpPr>
          <p:spPr bwMode="auto">
            <a:xfrm>
              <a:off x="1306134" y="4430895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e</a:t>
              </a:r>
            </a:p>
          </p:txBody>
        </p:sp>
        <p:sp>
          <p:nvSpPr>
            <p:cNvPr id="6" name="Oval 5"/>
            <p:cNvSpPr/>
            <p:nvPr/>
          </p:nvSpPr>
          <p:spPr bwMode="auto">
            <a:xfrm>
              <a:off x="1978895" y="5737823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i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534640" y="5747276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chemeClr val="tx1"/>
                  </a:solidFill>
                  <a:latin typeface="Tahoma" pitchFamily="34" charset="0"/>
                  <a:ea typeface="ＭＳ Ｐゴシック" pitchFamily="-111" charset="-128"/>
                </a:rPr>
                <a:t>h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1978895" y="3114514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b</a:t>
              </a: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534640" y="3123967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a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 flipV="1">
              <a:off x="903037" y="3308165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 rot="5400000" flipH="1" flipV="1">
              <a:off x="1298771" y="3750771"/>
              <a:ext cx="1055885" cy="41226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 bwMode="auto">
            <a:xfrm rot="16200000" flipV="1">
              <a:off x="1996216" y="3726087"/>
              <a:ext cx="1055885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 bwMode="auto">
            <a:xfrm flipV="1">
              <a:off x="903037" y="5922023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 rot="16200000" flipV="1">
              <a:off x="1303498" y="5062424"/>
              <a:ext cx="1046433" cy="41226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 bwMode="auto">
            <a:xfrm rot="5400000" flipH="1" flipV="1">
              <a:off x="2000942" y="5037741"/>
              <a:ext cx="1046433" cy="4616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2347292" y="3119240"/>
              <a:ext cx="1444256" cy="3005887"/>
              <a:chOff x="2347292" y="3119240"/>
              <a:chExt cx="1444256" cy="3005887"/>
            </a:xfrm>
            <a:solidFill>
              <a:srgbClr val="00FF00"/>
            </a:solidFill>
          </p:grpSpPr>
          <p:sp>
            <p:nvSpPr>
              <p:cNvPr id="31" name="Oval 30"/>
              <p:cNvSpPr/>
              <p:nvPr/>
            </p:nvSpPr>
            <p:spPr bwMode="auto">
              <a:xfrm>
                <a:off x="2570776" y="4430895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2" name="Oval 31"/>
              <p:cNvSpPr/>
              <p:nvPr/>
            </p:nvSpPr>
            <p:spPr bwMode="auto">
              <a:xfrm>
                <a:off x="3423151" y="3119240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33" name="Straight Arrow Connector 32"/>
              <p:cNvCxnSpPr/>
              <p:nvPr/>
            </p:nvCxnSpPr>
            <p:spPr bwMode="auto">
              <a:xfrm>
                <a:off x="2347292" y="3293986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4" name="Oval 33"/>
              <p:cNvSpPr/>
              <p:nvPr/>
            </p:nvSpPr>
            <p:spPr bwMode="auto">
              <a:xfrm>
                <a:off x="3423151" y="5756730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35" name="Straight Arrow Connector 34"/>
              <p:cNvCxnSpPr/>
              <p:nvPr/>
            </p:nvCxnSpPr>
            <p:spPr bwMode="auto">
              <a:xfrm>
                <a:off x="2347292" y="5931476"/>
                <a:ext cx="1075859" cy="945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Group 46"/>
          <p:cNvGrpSpPr/>
          <p:nvPr/>
        </p:nvGrpSpPr>
        <p:grpSpPr>
          <a:xfrm>
            <a:off x="5032117" y="3162303"/>
            <a:ext cx="2731046" cy="2516591"/>
            <a:chOff x="4903606" y="3114514"/>
            <a:chExt cx="3256908" cy="3001160"/>
          </a:xfrm>
        </p:grpSpPr>
        <p:sp>
          <p:nvSpPr>
            <p:cNvPr id="16" name="Oval 15"/>
            <p:cNvSpPr/>
            <p:nvPr/>
          </p:nvSpPr>
          <p:spPr bwMode="auto">
            <a:xfrm>
              <a:off x="5625736" y="4430895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f</a:t>
              </a: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7020625" y="4430895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g</a:t>
              </a: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7792117" y="5737823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000" dirty="0">
                  <a:solidFill>
                    <a:schemeClr val="tx1"/>
                  </a:solidFill>
                  <a:latin typeface="Tahoma" pitchFamily="34" charset="0"/>
                  <a:ea typeface="ＭＳ Ｐゴシック" pitchFamily="-111" charset="-128"/>
                </a:rPr>
                <a:t>k</a:t>
              </a:r>
              <a:endPara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6347862" y="5747276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j</a:t>
              </a: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7792117" y="3114514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d</a:t>
              </a:r>
            </a:p>
          </p:txBody>
        </p:sp>
        <p:sp>
          <p:nvSpPr>
            <p:cNvPr id="21" name="Oval 20"/>
            <p:cNvSpPr/>
            <p:nvPr/>
          </p:nvSpPr>
          <p:spPr bwMode="auto">
            <a:xfrm>
              <a:off x="6347862" y="3123967"/>
              <a:ext cx="368397" cy="368397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c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 bwMode="auto">
            <a:xfrm>
              <a:off x="5272003" y="3298713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 flipV="1">
              <a:off x="6716259" y="3298713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7" idx="1"/>
            </p:cNvCxnSpPr>
            <p:nvPr/>
          </p:nvCxnSpPr>
          <p:spPr bwMode="auto">
            <a:xfrm rot="16200000" flipV="1">
              <a:off x="6345226" y="3755496"/>
              <a:ext cx="1046432" cy="41226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6" idx="7"/>
            </p:cNvCxnSpPr>
            <p:nvPr/>
          </p:nvCxnSpPr>
          <p:spPr bwMode="auto">
            <a:xfrm rot="5400000" flipH="1" flipV="1">
              <a:off x="5647780" y="3730814"/>
              <a:ext cx="1046432" cy="46163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 bwMode="auto">
            <a:xfrm>
              <a:off x="5272003" y="5922023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 bwMode="auto">
            <a:xfrm flipV="1">
              <a:off x="6716259" y="5922023"/>
              <a:ext cx="1075859" cy="945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17" idx="3"/>
            </p:cNvCxnSpPr>
            <p:nvPr/>
          </p:nvCxnSpPr>
          <p:spPr bwMode="auto">
            <a:xfrm rot="5400000" flipH="1" flipV="1">
              <a:off x="6340499" y="5067150"/>
              <a:ext cx="1055886" cy="41226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endCxn id="16" idx="5"/>
            </p:cNvCxnSpPr>
            <p:nvPr/>
          </p:nvCxnSpPr>
          <p:spPr bwMode="auto">
            <a:xfrm rot="16200000" flipV="1">
              <a:off x="5643054" y="5042467"/>
              <a:ext cx="1055886" cy="46163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4903606" y="3123968"/>
              <a:ext cx="776080" cy="2991706"/>
              <a:chOff x="4903606" y="3123968"/>
              <a:chExt cx="776080" cy="2991706"/>
            </a:xfrm>
            <a:solidFill>
              <a:srgbClr val="00FF00"/>
            </a:solidFill>
          </p:grpSpPr>
          <p:sp>
            <p:nvSpPr>
              <p:cNvPr id="37" name="Oval 36"/>
              <p:cNvSpPr/>
              <p:nvPr/>
            </p:nvSpPr>
            <p:spPr bwMode="auto">
              <a:xfrm>
                <a:off x="4903606" y="5747277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 bwMode="auto">
              <a:xfrm>
                <a:off x="4903606" y="3123968"/>
                <a:ext cx="368397" cy="36839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39" name="Straight Arrow Connector 38"/>
              <p:cNvCxnSpPr/>
              <p:nvPr/>
            </p:nvCxnSpPr>
            <p:spPr bwMode="auto">
              <a:xfrm rot="16200000" flipV="1">
                <a:off x="4920927" y="3735541"/>
                <a:ext cx="1055885" cy="46163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/>
              <p:nvPr/>
            </p:nvCxnSpPr>
            <p:spPr bwMode="auto">
              <a:xfrm rot="5400000" flipH="1" flipV="1">
                <a:off x="4925653" y="5047195"/>
                <a:ext cx="1046433" cy="46163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Up Arrow 43"/>
          <p:cNvSpPr/>
          <p:nvPr/>
        </p:nvSpPr>
        <p:spPr bwMode="auto">
          <a:xfrm>
            <a:off x="0" y="2015650"/>
            <a:ext cx="1027987" cy="3518241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5" name="Up Arrow 44"/>
          <p:cNvSpPr/>
          <p:nvPr/>
        </p:nvSpPr>
        <p:spPr bwMode="auto">
          <a:xfrm>
            <a:off x="8037726" y="2060515"/>
            <a:ext cx="1014878" cy="3473376"/>
          </a:xfrm>
          <a:prstGeom prst="up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8" name="Oval 47"/>
          <p:cNvSpPr/>
          <p:nvPr/>
        </p:nvSpPr>
        <p:spPr bwMode="auto">
          <a:xfrm>
            <a:off x="385270" y="2763273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a</a:t>
            </a:r>
          </a:p>
        </p:txBody>
      </p:sp>
      <p:sp>
        <p:nvSpPr>
          <p:cNvPr id="49" name="Oval 48"/>
          <p:cNvSpPr/>
          <p:nvPr/>
        </p:nvSpPr>
        <p:spPr bwMode="auto">
          <a:xfrm>
            <a:off x="385270" y="3289457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h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1" name="Oval 50"/>
          <p:cNvSpPr/>
          <p:nvPr/>
        </p:nvSpPr>
        <p:spPr bwMode="auto">
          <a:xfrm>
            <a:off x="8420739" y="2763273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f</a:t>
            </a:r>
            <a:endParaRPr lang="en-US" sz="2000" dirty="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3" name="Oval 52"/>
          <p:cNvSpPr/>
          <p:nvPr/>
        </p:nvSpPr>
        <p:spPr bwMode="auto">
          <a:xfrm>
            <a:off x="8419088" y="3287299"/>
            <a:ext cx="276097" cy="27609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g</a:t>
            </a:r>
          </a:p>
        </p:txBody>
      </p:sp>
      <p:sp>
        <p:nvSpPr>
          <p:cNvPr id="56" name="Oval 55"/>
          <p:cNvSpPr/>
          <p:nvPr/>
        </p:nvSpPr>
        <p:spPr bwMode="auto">
          <a:xfrm>
            <a:off x="6241125" y="5379431"/>
            <a:ext cx="308915" cy="30891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j</a:t>
            </a:r>
          </a:p>
        </p:txBody>
      </p:sp>
      <p:sp>
        <p:nvSpPr>
          <p:cNvPr id="57" name="Oval 56"/>
          <p:cNvSpPr/>
          <p:nvPr/>
        </p:nvSpPr>
        <p:spPr bwMode="auto">
          <a:xfrm>
            <a:off x="6241125" y="3179683"/>
            <a:ext cx="308915" cy="30891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</a:t>
            </a:r>
          </a:p>
        </p:txBody>
      </p:sp>
      <p:grpSp>
        <p:nvGrpSpPr>
          <p:cNvPr id="73" name="Group 72"/>
          <p:cNvGrpSpPr/>
          <p:nvPr/>
        </p:nvGrpSpPr>
        <p:grpSpPr>
          <a:xfrm>
            <a:off x="2620555" y="3163829"/>
            <a:ext cx="2566021" cy="2515064"/>
            <a:chOff x="2620555" y="3163829"/>
            <a:chExt cx="2566021" cy="2515064"/>
          </a:xfrm>
        </p:grpSpPr>
        <p:cxnSp>
          <p:nvCxnSpPr>
            <p:cNvPr id="58" name="Curved Connector 57"/>
            <p:cNvCxnSpPr>
              <a:stCxn id="8" idx="0"/>
              <a:endCxn id="38" idx="0"/>
            </p:cNvCxnSpPr>
            <p:nvPr/>
          </p:nvCxnSpPr>
          <p:spPr bwMode="auto">
            <a:xfrm rot="16200000" flipH="1">
              <a:off x="3900364" y="1884020"/>
              <a:ext cx="6401" cy="2566020"/>
            </a:xfrm>
            <a:prstGeom prst="curvedConnector3">
              <a:avLst>
                <a:gd name="adj1" fmla="val -6379081"/>
              </a:avLst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6" name="Curved Connector 65"/>
            <p:cNvCxnSpPr>
              <a:stCxn id="6" idx="4"/>
              <a:endCxn id="37" idx="4"/>
            </p:cNvCxnSpPr>
            <p:nvPr/>
          </p:nvCxnSpPr>
          <p:spPr bwMode="auto">
            <a:xfrm rot="16200000" flipH="1">
              <a:off x="3900365" y="4392683"/>
              <a:ext cx="6401" cy="2566020"/>
            </a:xfrm>
            <a:prstGeom prst="curvedConnector3">
              <a:avLst>
                <a:gd name="adj1" fmla="val 6104702"/>
              </a:avLst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71" name="Oval 70"/>
          <p:cNvSpPr/>
          <p:nvPr/>
        </p:nvSpPr>
        <p:spPr bwMode="auto">
          <a:xfrm>
            <a:off x="2464039" y="3159866"/>
            <a:ext cx="308915" cy="30891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b</a:t>
            </a:r>
          </a:p>
        </p:txBody>
      </p:sp>
      <p:sp>
        <p:nvSpPr>
          <p:cNvPr id="72" name="Oval 71"/>
          <p:cNvSpPr/>
          <p:nvPr/>
        </p:nvSpPr>
        <p:spPr bwMode="auto">
          <a:xfrm>
            <a:off x="2462757" y="5372194"/>
            <a:ext cx="308915" cy="30891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i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0052" y="1032305"/>
            <a:ext cx="81371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cs typeface="Calibri"/>
              </a:rPr>
              <a:t>Each machine maintains a schedule over the vertices it owns.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34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9" name="Rectangle 58"/>
          <p:cNvSpPr/>
          <p:nvPr/>
        </p:nvSpPr>
        <p:spPr bwMode="auto">
          <a:xfrm>
            <a:off x="220878" y="6091388"/>
            <a:ext cx="7988091" cy="6164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Distributed Consensus used to identify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rPr>
              <a:t> completion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338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8545E-6 -5.83739E-7 L -0.23844 -0.08038 " pathEditMode="relative" ptsTypes="AA">
                                      <p:cBhvr>
                                        <p:cTn id="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8586E-6 3.28469E-6 L 0.23863 0.08038 " pathEditMode="relative" ptsTypes="AA">
                                      <p:cBhvr>
                                        <p:cTn id="14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28586E-6 -8.50359E-6 L 0.23863 -0.17466 " pathEditMode="relative" ptsTypes="AA">
                                      <p:cBhvr>
                                        <p:cTn id="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45676E-6 -1.35047E-6 L -0.22542 0.09405 " pathEditMode="relative" ptsTypes="AA">
                                      <p:cBhvr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89753E-7 2.99977E-6 L -0.22525 -0.15103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71" y="-75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1" grpId="0" animBg="1"/>
      <p:bldP spid="56" grpId="0" animBg="1"/>
      <p:bldP spid="57" grpId="0" animBg="1"/>
      <p:bldP spid="71" grpId="0" animBg="1"/>
      <p:bldP spid="72" grpId="0" animBg="1"/>
      <p:bldP spid="5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 51"/>
          <p:cNvSpPr/>
          <p:nvPr/>
        </p:nvSpPr>
        <p:spPr>
          <a:xfrm>
            <a:off x="5325668" y="2060746"/>
            <a:ext cx="1684732" cy="3710149"/>
          </a:xfrm>
          <a:custGeom>
            <a:avLst/>
            <a:gdLst>
              <a:gd name="connsiteX0" fmla="*/ 1505586 w 1506368"/>
              <a:gd name="connsiteY0" fmla="*/ 1990232 h 4046490"/>
              <a:gd name="connsiteX1" fmla="*/ 787733 w 1506368"/>
              <a:gd name="connsiteY1" fmla="*/ 236903 h 4046490"/>
              <a:gd name="connsiteX2" fmla="*/ 856 w 1506368"/>
              <a:gd name="connsiteY2" fmla="*/ 209292 h 4046490"/>
              <a:gd name="connsiteX3" fmla="*/ 622075 w 1506368"/>
              <a:gd name="connsiteY3" fmla="*/ 2017843 h 4046490"/>
              <a:gd name="connsiteX4" fmla="*/ 856 w 1506368"/>
              <a:gd name="connsiteY4" fmla="*/ 3826395 h 4046490"/>
              <a:gd name="connsiteX5" fmla="*/ 649684 w 1506368"/>
              <a:gd name="connsiteY5" fmla="*/ 3812589 h 4046490"/>
              <a:gd name="connsiteX6" fmla="*/ 1505586 w 1506368"/>
              <a:gd name="connsiteY6" fmla="*/ 1990232 h 4046490"/>
              <a:gd name="connsiteX0" fmla="*/ 1505586 w 1506368"/>
              <a:gd name="connsiteY0" fmla="*/ 1900908 h 3957166"/>
              <a:gd name="connsiteX1" fmla="*/ 787733 w 1506368"/>
              <a:gd name="connsiteY1" fmla="*/ 147579 h 3957166"/>
              <a:gd name="connsiteX2" fmla="*/ 856 w 1506368"/>
              <a:gd name="connsiteY2" fmla="*/ 299442 h 3957166"/>
              <a:gd name="connsiteX3" fmla="*/ 622075 w 1506368"/>
              <a:gd name="connsiteY3" fmla="*/ 1928519 h 3957166"/>
              <a:gd name="connsiteX4" fmla="*/ 856 w 1506368"/>
              <a:gd name="connsiteY4" fmla="*/ 3737071 h 3957166"/>
              <a:gd name="connsiteX5" fmla="*/ 649684 w 1506368"/>
              <a:gd name="connsiteY5" fmla="*/ 3723265 h 3957166"/>
              <a:gd name="connsiteX6" fmla="*/ 1505586 w 1506368"/>
              <a:gd name="connsiteY6" fmla="*/ 1900908 h 3957166"/>
              <a:gd name="connsiteX0" fmla="*/ 1505455 w 1506076"/>
              <a:gd name="connsiteY0" fmla="*/ 1844725 h 3900983"/>
              <a:gd name="connsiteX1" fmla="*/ 773798 w 1506076"/>
              <a:gd name="connsiteY1" fmla="*/ 174230 h 3900983"/>
              <a:gd name="connsiteX2" fmla="*/ 725 w 1506076"/>
              <a:gd name="connsiteY2" fmla="*/ 243259 h 3900983"/>
              <a:gd name="connsiteX3" fmla="*/ 621944 w 1506076"/>
              <a:gd name="connsiteY3" fmla="*/ 1872336 h 3900983"/>
              <a:gd name="connsiteX4" fmla="*/ 725 w 1506076"/>
              <a:gd name="connsiteY4" fmla="*/ 3680888 h 3900983"/>
              <a:gd name="connsiteX5" fmla="*/ 649553 w 1506076"/>
              <a:gd name="connsiteY5" fmla="*/ 3667082 h 3900983"/>
              <a:gd name="connsiteX6" fmla="*/ 1505455 w 1506076"/>
              <a:gd name="connsiteY6" fmla="*/ 1844725 h 3900983"/>
              <a:gd name="connsiteX0" fmla="*/ 1505455 w 1506076"/>
              <a:gd name="connsiteY0" fmla="*/ 1779129 h 3835387"/>
              <a:gd name="connsiteX1" fmla="*/ 773798 w 1506076"/>
              <a:gd name="connsiteY1" fmla="*/ 108634 h 3835387"/>
              <a:gd name="connsiteX2" fmla="*/ 725 w 1506076"/>
              <a:gd name="connsiteY2" fmla="*/ 343332 h 3835387"/>
              <a:gd name="connsiteX3" fmla="*/ 621944 w 1506076"/>
              <a:gd name="connsiteY3" fmla="*/ 1806740 h 3835387"/>
              <a:gd name="connsiteX4" fmla="*/ 725 w 1506076"/>
              <a:gd name="connsiteY4" fmla="*/ 3615292 h 3835387"/>
              <a:gd name="connsiteX5" fmla="*/ 649553 w 1506076"/>
              <a:gd name="connsiteY5" fmla="*/ 3601486 h 3835387"/>
              <a:gd name="connsiteX6" fmla="*/ 1505455 w 1506076"/>
              <a:gd name="connsiteY6" fmla="*/ 1779129 h 3835387"/>
              <a:gd name="connsiteX0" fmla="*/ 1629698 w 1630216"/>
              <a:gd name="connsiteY0" fmla="*/ 1779129 h 3835387"/>
              <a:gd name="connsiteX1" fmla="*/ 773798 w 1630216"/>
              <a:gd name="connsiteY1" fmla="*/ 108634 h 3835387"/>
              <a:gd name="connsiteX2" fmla="*/ 725 w 1630216"/>
              <a:gd name="connsiteY2" fmla="*/ 343332 h 3835387"/>
              <a:gd name="connsiteX3" fmla="*/ 621944 w 1630216"/>
              <a:gd name="connsiteY3" fmla="*/ 1806740 h 3835387"/>
              <a:gd name="connsiteX4" fmla="*/ 725 w 1630216"/>
              <a:gd name="connsiteY4" fmla="*/ 3615292 h 3835387"/>
              <a:gd name="connsiteX5" fmla="*/ 649553 w 1630216"/>
              <a:gd name="connsiteY5" fmla="*/ 3601486 h 3835387"/>
              <a:gd name="connsiteX6" fmla="*/ 1629698 w 1630216"/>
              <a:gd name="connsiteY6" fmla="*/ 1779129 h 3835387"/>
              <a:gd name="connsiteX0" fmla="*/ 1629174 w 1629692"/>
              <a:gd name="connsiteY0" fmla="*/ 1777249 h 3833507"/>
              <a:gd name="connsiteX1" fmla="*/ 773274 w 1629692"/>
              <a:gd name="connsiteY1" fmla="*/ 106754 h 3833507"/>
              <a:gd name="connsiteX2" fmla="*/ 201 w 1629692"/>
              <a:gd name="connsiteY2" fmla="*/ 341452 h 3833507"/>
              <a:gd name="connsiteX3" fmla="*/ 690444 w 1629692"/>
              <a:gd name="connsiteY3" fmla="*/ 1749637 h 3833507"/>
              <a:gd name="connsiteX4" fmla="*/ 201 w 1629692"/>
              <a:gd name="connsiteY4" fmla="*/ 3613412 h 3833507"/>
              <a:gd name="connsiteX5" fmla="*/ 649029 w 1629692"/>
              <a:gd name="connsiteY5" fmla="*/ 3599606 h 3833507"/>
              <a:gd name="connsiteX6" fmla="*/ 1629174 w 1629692"/>
              <a:gd name="connsiteY6" fmla="*/ 1777249 h 3833507"/>
              <a:gd name="connsiteX0" fmla="*/ 1684214 w 1684732"/>
              <a:gd name="connsiteY0" fmla="*/ 1777249 h 3710149"/>
              <a:gd name="connsiteX1" fmla="*/ 828314 w 1684732"/>
              <a:gd name="connsiteY1" fmla="*/ 106754 h 3710149"/>
              <a:gd name="connsiteX2" fmla="*/ 55241 w 1684732"/>
              <a:gd name="connsiteY2" fmla="*/ 341452 h 3710149"/>
              <a:gd name="connsiteX3" fmla="*/ 745484 w 1684732"/>
              <a:gd name="connsiteY3" fmla="*/ 1749637 h 3710149"/>
              <a:gd name="connsiteX4" fmla="*/ 21 w 1684732"/>
              <a:gd name="connsiteY4" fmla="*/ 3323492 h 3710149"/>
              <a:gd name="connsiteX5" fmla="*/ 704069 w 1684732"/>
              <a:gd name="connsiteY5" fmla="*/ 3599606 h 3710149"/>
              <a:gd name="connsiteX6" fmla="*/ 1684214 w 1684732"/>
              <a:gd name="connsiteY6" fmla="*/ 1777249 h 3710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84732" h="3710149">
                <a:moveTo>
                  <a:pt x="1684214" y="1777249"/>
                </a:moveTo>
                <a:cubicBezTo>
                  <a:pt x="1704921" y="1195107"/>
                  <a:pt x="1099810" y="346054"/>
                  <a:pt x="828314" y="106754"/>
                </a:cubicBezTo>
                <a:cubicBezTo>
                  <a:pt x="556819" y="-132546"/>
                  <a:pt x="69046" y="67638"/>
                  <a:pt x="55241" y="341452"/>
                </a:cubicBezTo>
                <a:cubicBezTo>
                  <a:pt x="41436" y="615266"/>
                  <a:pt x="754687" y="1252630"/>
                  <a:pt x="745484" y="1749637"/>
                </a:cubicBezTo>
                <a:cubicBezTo>
                  <a:pt x="736281" y="2246644"/>
                  <a:pt x="-4581" y="3024368"/>
                  <a:pt x="21" y="3323492"/>
                </a:cubicBezTo>
                <a:cubicBezTo>
                  <a:pt x="4622" y="3622616"/>
                  <a:pt x="423370" y="3857313"/>
                  <a:pt x="704069" y="3599606"/>
                </a:cubicBezTo>
                <a:cubicBezTo>
                  <a:pt x="984768" y="3341899"/>
                  <a:pt x="1663507" y="2359391"/>
                  <a:pt x="1684214" y="1777249"/>
                </a:cubicBez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2296340" y="4800600"/>
            <a:ext cx="2362200" cy="99060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9" name="Rounded Rectangle 48"/>
          <p:cNvSpPr/>
          <p:nvPr/>
        </p:nvSpPr>
        <p:spPr bwMode="auto">
          <a:xfrm>
            <a:off x="2296340" y="1981200"/>
            <a:ext cx="2362200" cy="99060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pSp>
        <p:nvGrpSpPr>
          <p:cNvPr id="25" name="Group 55"/>
          <p:cNvGrpSpPr/>
          <p:nvPr/>
        </p:nvGrpSpPr>
        <p:grpSpPr>
          <a:xfrm>
            <a:off x="3105844" y="1979296"/>
            <a:ext cx="3755425" cy="3851794"/>
            <a:chOff x="2420044" y="1979296"/>
            <a:chExt cx="3755425" cy="3851794"/>
          </a:xfrm>
        </p:grpSpPr>
        <p:sp>
          <p:nvSpPr>
            <p:cNvPr id="55" name="Cross 54"/>
            <p:cNvSpPr/>
            <p:nvPr/>
          </p:nvSpPr>
          <p:spPr bwMode="auto">
            <a:xfrm rot="2844760">
              <a:off x="2371860" y="2027480"/>
              <a:ext cx="3851794" cy="3755425"/>
            </a:xfrm>
            <a:custGeom>
              <a:avLst/>
              <a:gdLst>
                <a:gd name="connsiteX0" fmla="*/ 0 w 3661903"/>
                <a:gd name="connsiteY0" fmla="*/ 1387986 h 3577376"/>
                <a:gd name="connsiteX1" fmla="*/ 1387986 w 3661903"/>
                <a:gd name="connsiteY1" fmla="*/ 1387986 h 3577376"/>
                <a:gd name="connsiteX2" fmla="*/ 1387986 w 3661903"/>
                <a:gd name="connsiteY2" fmla="*/ 0 h 3577376"/>
                <a:gd name="connsiteX3" fmla="*/ 2273917 w 3661903"/>
                <a:gd name="connsiteY3" fmla="*/ 0 h 3577376"/>
                <a:gd name="connsiteX4" fmla="*/ 2273917 w 3661903"/>
                <a:gd name="connsiteY4" fmla="*/ 1387986 h 3577376"/>
                <a:gd name="connsiteX5" fmla="*/ 3661903 w 3661903"/>
                <a:gd name="connsiteY5" fmla="*/ 1387986 h 3577376"/>
                <a:gd name="connsiteX6" fmla="*/ 3661903 w 3661903"/>
                <a:gd name="connsiteY6" fmla="*/ 2189390 h 3577376"/>
                <a:gd name="connsiteX7" fmla="*/ 2273917 w 3661903"/>
                <a:gd name="connsiteY7" fmla="*/ 2189390 h 3577376"/>
                <a:gd name="connsiteX8" fmla="*/ 2273917 w 3661903"/>
                <a:gd name="connsiteY8" fmla="*/ 3577376 h 3577376"/>
                <a:gd name="connsiteX9" fmla="*/ 1387986 w 3661903"/>
                <a:gd name="connsiteY9" fmla="*/ 3577376 h 3577376"/>
                <a:gd name="connsiteX10" fmla="*/ 1387986 w 3661903"/>
                <a:gd name="connsiteY10" fmla="*/ 2189390 h 3577376"/>
                <a:gd name="connsiteX11" fmla="*/ 0 w 3661903"/>
                <a:gd name="connsiteY11" fmla="*/ 2189390 h 3577376"/>
                <a:gd name="connsiteX12" fmla="*/ 0 w 3661903"/>
                <a:gd name="connsiteY12" fmla="*/ 1387986 h 3577376"/>
                <a:gd name="connsiteX0" fmla="*/ 0 w 3661903"/>
                <a:gd name="connsiteY0" fmla="*/ 1387986 h 3577376"/>
                <a:gd name="connsiteX1" fmla="*/ 1387986 w 3661903"/>
                <a:gd name="connsiteY1" fmla="*/ 1387986 h 3577376"/>
                <a:gd name="connsiteX2" fmla="*/ 754440 w 3661903"/>
                <a:gd name="connsiteY2" fmla="*/ 36444 h 3577376"/>
                <a:gd name="connsiteX3" fmla="*/ 2273917 w 3661903"/>
                <a:gd name="connsiteY3" fmla="*/ 0 h 3577376"/>
                <a:gd name="connsiteX4" fmla="*/ 2273917 w 3661903"/>
                <a:gd name="connsiteY4" fmla="*/ 1387986 h 3577376"/>
                <a:gd name="connsiteX5" fmla="*/ 3661903 w 3661903"/>
                <a:gd name="connsiteY5" fmla="*/ 1387986 h 3577376"/>
                <a:gd name="connsiteX6" fmla="*/ 3661903 w 3661903"/>
                <a:gd name="connsiteY6" fmla="*/ 2189390 h 3577376"/>
                <a:gd name="connsiteX7" fmla="*/ 2273917 w 3661903"/>
                <a:gd name="connsiteY7" fmla="*/ 2189390 h 3577376"/>
                <a:gd name="connsiteX8" fmla="*/ 2273917 w 3661903"/>
                <a:gd name="connsiteY8" fmla="*/ 3577376 h 3577376"/>
                <a:gd name="connsiteX9" fmla="*/ 1387986 w 3661903"/>
                <a:gd name="connsiteY9" fmla="*/ 3577376 h 3577376"/>
                <a:gd name="connsiteX10" fmla="*/ 1387986 w 3661903"/>
                <a:gd name="connsiteY10" fmla="*/ 2189390 h 3577376"/>
                <a:gd name="connsiteX11" fmla="*/ 0 w 3661903"/>
                <a:gd name="connsiteY11" fmla="*/ 2189390 h 3577376"/>
                <a:gd name="connsiteX12" fmla="*/ 0 w 3661903"/>
                <a:gd name="connsiteY12" fmla="*/ 1387986 h 3577376"/>
                <a:gd name="connsiteX0" fmla="*/ 0 w 3661903"/>
                <a:gd name="connsiteY0" fmla="*/ 1390554 h 3579944"/>
                <a:gd name="connsiteX1" fmla="*/ 1387986 w 3661903"/>
                <a:gd name="connsiteY1" fmla="*/ 1390554 h 3579944"/>
                <a:gd name="connsiteX2" fmla="*/ 754440 w 3661903"/>
                <a:gd name="connsiteY2" fmla="*/ 39012 h 3579944"/>
                <a:gd name="connsiteX3" fmla="*/ 1638727 w 3661903"/>
                <a:gd name="connsiteY3" fmla="*/ 0 h 3579944"/>
                <a:gd name="connsiteX4" fmla="*/ 2273917 w 3661903"/>
                <a:gd name="connsiteY4" fmla="*/ 1390554 h 3579944"/>
                <a:gd name="connsiteX5" fmla="*/ 3661903 w 3661903"/>
                <a:gd name="connsiteY5" fmla="*/ 1390554 h 3579944"/>
                <a:gd name="connsiteX6" fmla="*/ 3661903 w 3661903"/>
                <a:gd name="connsiteY6" fmla="*/ 2191958 h 3579944"/>
                <a:gd name="connsiteX7" fmla="*/ 2273917 w 3661903"/>
                <a:gd name="connsiteY7" fmla="*/ 2191958 h 3579944"/>
                <a:gd name="connsiteX8" fmla="*/ 2273917 w 3661903"/>
                <a:gd name="connsiteY8" fmla="*/ 3579944 h 3579944"/>
                <a:gd name="connsiteX9" fmla="*/ 1387986 w 3661903"/>
                <a:gd name="connsiteY9" fmla="*/ 3579944 h 3579944"/>
                <a:gd name="connsiteX10" fmla="*/ 1387986 w 3661903"/>
                <a:gd name="connsiteY10" fmla="*/ 2191958 h 3579944"/>
                <a:gd name="connsiteX11" fmla="*/ 0 w 3661903"/>
                <a:gd name="connsiteY11" fmla="*/ 2191958 h 3579944"/>
                <a:gd name="connsiteX12" fmla="*/ 0 w 3661903"/>
                <a:gd name="connsiteY12" fmla="*/ 1390554 h 3579944"/>
                <a:gd name="connsiteX0" fmla="*/ 0 w 3734110"/>
                <a:gd name="connsiteY0" fmla="*/ 1390554 h 3579944"/>
                <a:gd name="connsiteX1" fmla="*/ 1387986 w 3734110"/>
                <a:gd name="connsiteY1" fmla="*/ 1390554 h 3579944"/>
                <a:gd name="connsiteX2" fmla="*/ 754440 w 3734110"/>
                <a:gd name="connsiteY2" fmla="*/ 39012 h 3579944"/>
                <a:gd name="connsiteX3" fmla="*/ 1638727 w 3734110"/>
                <a:gd name="connsiteY3" fmla="*/ 0 h 3579944"/>
                <a:gd name="connsiteX4" fmla="*/ 2273917 w 3734110"/>
                <a:gd name="connsiteY4" fmla="*/ 1390554 h 3579944"/>
                <a:gd name="connsiteX5" fmla="*/ 3661903 w 3734110"/>
                <a:gd name="connsiteY5" fmla="*/ 1390554 h 3579944"/>
                <a:gd name="connsiteX6" fmla="*/ 3734110 w 3734110"/>
                <a:gd name="connsiteY6" fmla="*/ 2745835 h 3579944"/>
                <a:gd name="connsiteX7" fmla="*/ 2273917 w 3734110"/>
                <a:gd name="connsiteY7" fmla="*/ 2191958 h 3579944"/>
                <a:gd name="connsiteX8" fmla="*/ 2273917 w 3734110"/>
                <a:gd name="connsiteY8" fmla="*/ 3579944 h 3579944"/>
                <a:gd name="connsiteX9" fmla="*/ 1387986 w 3734110"/>
                <a:gd name="connsiteY9" fmla="*/ 3579944 h 3579944"/>
                <a:gd name="connsiteX10" fmla="*/ 1387986 w 3734110"/>
                <a:gd name="connsiteY10" fmla="*/ 2191958 h 3579944"/>
                <a:gd name="connsiteX11" fmla="*/ 0 w 3734110"/>
                <a:gd name="connsiteY11" fmla="*/ 2191958 h 3579944"/>
                <a:gd name="connsiteX12" fmla="*/ 0 w 3734110"/>
                <a:gd name="connsiteY12" fmla="*/ 1390554 h 3579944"/>
                <a:gd name="connsiteX0" fmla="*/ 0 w 3840983"/>
                <a:gd name="connsiteY0" fmla="*/ 1390554 h 3579944"/>
                <a:gd name="connsiteX1" fmla="*/ 1387986 w 3840983"/>
                <a:gd name="connsiteY1" fmla="*/ 1390554 h 3579944"/>
                <a:gd name="connsiteX2" fmla="*/ 754440 w 3840983"/>
                <a:gd name="connsiteY2" fmla="*/ 39012 h 3579944"/>
                <a:gd name="connsiteX3" fmla="*/ 1638727 w 3840983"/>
                <a:gd name="connsiteY3" fmla="*/ 0 h 3579944"/>
                <a:gd name="connsiteX4" fmla="*/ 2273917 w 3840983"/>
                <a:gd name="connsiteY4" fmla="*/ 1390554 h 3579944"/>
                <a:gd name="connsiteX5" fmla="*/ 3840983 w 3840983"/>
                <a:gd name="connsiteY5" fmla="*/ 1930162 h 3579944"/>
                <a:gd name="connsiteX6" fmla="*/ 3734110 w 3840983"/>
                <a:gd name="connsiteY6" fmla="*/ 2745835 h 3579944"/>
                <a:gd name="connsiteX7" fmla="*/ 2273917 w 3840983"/>
                <a:gd name="connsiteY7" fmla="*/ 2191958 h 3579944"/>
                <a:gd name="connsiteX8" fmla="*/ 2273917 w 3840983"/>
                <a:gd name="connsiteY8" fmla="*/ 3579944 h 3579944"/>
                <a:gd name="connsiteX9" fmla="*/ 1387986 w 3840983"/>
                <a:gd name="connsiteY9" fmla="*/ 3579944 h 3579944"/>
                <a:gd name="connsiteX10" fmla="*/ 1387986 w 3840983"/>
                <a:gd name="connsiteY10" fmla="*/ 2191958 h 3579944"/>
                <a:gd name="connsiteX11" fmla="*/ 0 w 3840983"/>
                <a:gd name="connsiteY11" fmla="*/ 2191958 h 3579944"/>
                <a:gd name="connsiteX12" fmla="*/ 0 w 3840983"/>
                <a:gd name="connsiteY12" fmla="*/ 1390554 h 3579944"/>
                <a:gd name="connsiteX0" fmla="*/ 0 w 3840983"/>
                <a:gd name="connsiteY0" fmla="*/ 1390554 h 3791847"/>
                <a:gd name="connsiteX1" fmla="*/ 1387986 w 3840983"/>
                <a:gd name="connsiteY1" fmla="*/ 1390554 h 3791847"/>
                <a:gd name="connsiteX2" fmla="*/ 754440 w 3840983"/>
                <a:gd name="connsiteY2" fmla="*/ 39012 h 3791847"/>
                <a:gd name="connsiteX3" fmla="*/ 1638727 w 3840983"/>
                <a:gd name="connsiteY3" fmla="*/ 0 h 3791847"/>
                <a:gd name="connsiteX4" fmla="*/ 2273917 w 3840983"/>
                <a:gd name="connsiteY4" fmla="*/ 1390554 h 3791847"/>
                <a:gd name="connsiteX5" fmla="*/ 3840983 w 3840983"/>
                <a:gd name="connsiteY5" fmla="*/ 1930162 h 3791847"/>
                <a:gd name="connsiteX6" fmla="*/ 3734110 w 3840983"/>
                <a:gd name="connsiteY6" fmla="*/ 2745835 h 3791847"/>
                <a:gd name="connsiteX7" fmla="*/ 2273917 w 3840983"/>
                <a:gd name="connsiteY7" fmla="*/ 2191958 h 3791847"/>
                <a:gd name="connsiteX8" fmla="*/ 2810458 w 3840983"/>
                <a:gd name="connsiteY8" fmla="*/ 3791847 h 3791847"/>
                <a:gd name="connsiteX9" fmla="*/ 1387986 w 3840983"/>
                <a:gd name="connsiteY9" fmla="*/ 3579944 h 3791847"/>
                <a:gd name="connsiteX10" fmla="*/ 1387986 w 3840983"/>
                <a:gd name="connsiteY10" fmla="*/ 2191958 h 3791847"/>
                <a:gd name="connsiteX11" fmla="*/ 0 w 3840983"/>
                <a:gd name="connsiteY11" fmla="*/ 2191958 h 3791847"/>
                <a:gd name="connsiteX12" fmla="*/ 0 w 3840983"/>
                <a:gd name="connsiteY12" fmla="*/ 1390554 h 3791847"/>
                <a:gd name="connsiteX0" fmla="*/ 0 w 3840983"/>
                <a:gd name="connsiteY0" fmla="*/ 1390554 h 3791847"/>
                <a:gd name="connsiteX1" fmla="*/ 1387986 w 3840983"/>
                <a:gd name="connsiteY1" fmla="*/ 1390554 h 3791847"/>
                <a:gd name="connsiteX2" fmla="*/ 754440 w 3840983"/>
                <a:gd name="connsiteY2" fmla="*/ 39012 h 3791847"/>
                <a:gd name="connsiteX3" fmla="*/ 1638727 w 3840983"/>
                <a:gd name="connsiteY3" fmla="*/ 0 h 3791847"/>
                <a:gd name="connsiteX4" fmla="*/ 2273917 w 3840983"/>
                <a:gd name="connsiteY4" fmla="*/ 1390554 h 3791847"/>
                <a:gd name="connsiteX5" fmla="*/ 3840983 w 3840983"/>
                <a:gd name="connsiteY5" fmla="*/ 1930162 h 3791847"/>
                <a:gd name="connsiteX6" fmla="*/ 3734110 w 3840983"/>
                <a:gd name="connsiteY6" fmla="*/ 2745835 h 3791847"/>
                <a:gd name="connsiteX7" fmla="*/ 2273917 w 3840983"/>
                <a:gd name="connsiteY7" fmla="*/ 2191958 h 3791847"/>
                <a:gd name="connsiteX8" fmla="*/ 2810458 w 3840983"/>
                <a:gd name="connsiteY8" fmla="*/ 3791847 h 3791847"/>
                <a:gd name="connsiteX9" fmla="*/ 2028112 w 3840983"/>
                <a:gd name="connsiteY9" fmla="*/ 3699551 h 3791847"/>
                <a:gd name="connsiteX10" fmla="*/ 1387986 w 3840983"/>
                <a:gd name="connsiteY10" fmla="*/ 2191958 h 3791847"/>
                <a:gd name="connsiteX11" fmla="*/ 0 w 3840983"/>
                <a:gd name="connsiteY11" fmla="*/ 2191958 h 3791847"/>
                <a:gd name="connsiteX12" fmla="*/ 0 w 3840983"/>
                <a:gd name="connsiteY12" fmla="*/ 1390554 h 3791847"/>
                <a:gd name="connsiteX0" fmla="*/ 0 w 3909077"/>
                <a:gd name="connsiteY0" fmla="*/ 934209 h 3791847"/>
                <a:gd name="connsiteX1" fmla="*/ 1456080 w 3909077"/>
                <a:gd name="connsiteY1" fmla="*/ 1390554 h 3791847"/>
                <a:gd name="connsiteX2" fmla="*/ 822534 w 3909077"/>
                <a:gd name="connsiteY2" fmla="*/ 39012 h 3791847"/>
                <a:gd name="connsiteX3" fmla="*/ 1706821 w 3909077"/>
                <a:gd name="connsiteY3" fmla="*/ 0 h 3791847"/>
                <a:gd name="connsiteX4" fmla="*/ 2342011 w 3909077"/>
                <a:gd name="connsiteY4" fmla="*/ 1390554 h 3791847"/>
                <a:gd name="connsiteX5" fmla="*/ 3909077 w 3909077"/>
                <a:gd name="connsiteY5" fmla="*/ 1930162 h 3791847"/>
                <a:gd name="connsiteX6" fmla="*/ 3802204 w 3909077"/>
                <a:gd name="connsiteY6" fmla="*/ 2745835 h 3791847"/>
                <a:gd name="connsiteX7" fmla="*/ 2342011 w 3909077"/>
                <a:gd name="connsiteY7" fmla="*/ 2191958 h 3791847"/>
                <a:gd name="connsiteX8" fmla="*/ 2878552 w 3909077"/>
                <a:gd name="connsiteY8" fmla="*/ 3791847 h 3791847"/>
                <a:gd name="connsiteX9" fmla="*/ 2096206 w 3909077"/>
                <a:gd name="connsiteY9" fmla="*/ 3699551 h 3791847"/>
                <a:gd name="connsiteX10" fmla="*/ 1456080 w 3909077"/>
                <a:gd name="connsiteY10" fmla="*/ 2191958 h 3791847"/>
                <a:gd name="connsiteX11" fmla="*/ 68094 w 3909077"/>
                <a:gd name="connsiteY11" fmla="*/ 2191958 h 3791847"/>
                <a:gd name="connsiteX12" fmla="*/ 0 w 3909077"/>
                <a:gd name="connsiteY12" fmla="*/ 934209 h 3791847"/>
                <a:gd name="connsiteX0" fmla="*/ 45066 w 3954143"/>
                <a:gd name="connsiteY0" fmla="*/ 934209 h 3791847"/>
                <a:gd name="connsiteX1" fmla="*/ 1501146 w 3954143"/>
                <a:gd name="connsiteY1" fmla="*/ 1390554 h 3791847"/>
                <a:gd name="connsiteX2" fmla="*/ 867600 w 3954143"/>
                <a:gd name="connsiteY2" fmla="*/ 39012 h 3791847"/>
                <a:gd name="connsiteX3" fmla="*/ 1751887 w 3954143"/>
                <a:gd name="connsiteY3" fmla="*/ 0 h 3791847"/>
                <a:gd name="connsiteX4" fmla="*/ 2387077 w 3954143"/>
                <a:gd name="connsiteY4" fmla="*/ 1390554 h 3791847"/>
                <a:gd name="connsiteX5" fmla="*/ 3954143 w 3954143"/>
                <a:gd name="connsiteY5" fmla="*/ 1930162 h 3791847"/>
                <a:gd name="connsiteX6" fmla="*/ 3847270 w 3954143"/>
                <a:gd name="connsiteY6" fmla="*/ 2745835 h 3791847"/>
                <a:gd name="connsiteX7" fmla="*/ 2387077 w 3954143"/>
                <a:gd name="connsiteY7" fmla="*/ 2191958 h 3791847"/>
                <a:gd name="connsiteX8" fmla="*/ 2923618 w 3954143"/>
                <a:gd name="connsiteY8" fmla="*/ 3791847 h 3791847"/>
                <a:gd name="connsiteX9" fmla="*/ 2141272 w 3954143"/>
                <a:gd name="connsiteY9" fmla="*/ 3699551 h 3791847"/>
                <a:gd name="connsiteX10" fmla="*/ 1501146 w 3954143"/>
                <a:gd name="connsiteY10" fmla="*/ 2191958 h 3791847"/>
                <a:gd name="connsiteX11" fmla="*/ 0 w 3954143"/>
                <a:gd name="connsiteY11" fmla="*/ 1825446 h 3791847"/>
                <a:gd name="connsiteX12" fmla="*/ 45066 w 3954143"/>
                <a:gd name="connsiteY12" fmla="*/ 934209 h 3791847"/>
                <a:gd name="connsiteX0" fmla="*/ 45066 w 3954143"/>
                <a:gd name="connsiteY0" fmla="*/ 934209 h 3699551"/>
                <a:gd name="connsiteX1" fmla="*/ 1501146 w 3954143"/>
                <a:gd name="connsiteY1" fmla="*/ 1390554 h 3699551"/>
                <a:gd name="connsiteX2" fmla="*/ 867600 w 3954143"/>
                <a:gd name="connsiteY2" fmla="*/ 39012 h 3699551"/>
                <a:gd name="connsiteX3" fmla="*/ 1751887 w 3954143"/>
                <a:gd name="connsiteY3" fmla="*/ 0 h 3699551"/>
                <a:gd name="connsiteX4" fmla="*/ 2387077 w 3954143"/>
                <a:gd name="connsiteY4" fmla="*/ 1390554 h 3699551"/>
                <a:gd name="connsiteX5" fmla="*/ 3954143 w 3954143"/>
                <a:gd name="connsiteY5" fmla="*/ 1930162 h 3699551"/>
                <a:gd name="connsiteX6" fmla="*/ 3847270 w 3954143"/>
                <a:gd name="connsiteY6" fmla="*/ 2745835 h 3699551"/>
                <a:gd name="connsiteX7" fmla="*/ 2387077 w 3954143"/>
                <a:gd name="connsiteY7" fmla="*/ 2191958 h 3699551"/>
                <a:gd name="connsiteX8" fmla="*/ 2987368 w 3954143"/>
                <a:gd name="connsiteY8" fmla="*/ 3681688 h 3699551"/>
                <a:gd name="connsiteX9" fmla="*/ 2141272 w 3954143"/>
                <a:gd name="connsiteY9" fmla="*/ 3699551 h 3699551"/>
                <a:gd name="connsiteX10" fmla="*/ 1501146 w 3954143"/>
                <a:gd name="connsiteY10" fmla="*/ 2191958 h 3699551"/>
                <a:gd name="connsiteX11" fmla="*/ 0 w 3954143"/>
                <a:gd name="connsiteY11" fmla="*/ 1825446 h 3699551"/>
                <a:gd name="connsiteX12" fmla="*/ 45066 w 3954143"/>
                <a:gd name="connsiteY12" fmla="*/ 934209 h 3699551"/>
                <a:gd name="connsiteX0" fmla="*/ 45066 w 3954143"/>
                <a:gd name="connsiteY0" fmla="*/ 934209 h 3878153"/>
                <a:gd name="connsiteX1" fmla="*/ 1501146 w 3954143"/>
                <a:gd name="connsiteY1" fmla="*/ 1390554 h 3878153"/>
                <a:gd name="connsiteX2" fmla="*/ 867600 w 3954143"/>
                <a:gd name="connsiteY2" fmla="*/ 39012 h 3878153"/>
                <a:gd name="connsiteX3" fmla="*/ 1751887 w 3954143"/>
                <a:gd name="connsiteY3" fmla="*/ 0 h 3878153"/>
                <a:gd name="connsiteX4" fmla="*/ 2387077 w 3954143"/>
                <a:gd name="connsiteY4" fmla="*/ 1390554 h 3878153"/>
                <a:gd name="connsiteX5" fmla="*/ 3954143 w 3954143"/>
                <a:gd name="connsiteY5" fmla="*/ 1930162 h 3878153"/>
                <a:gd name="connsiteX6" fmla="*/ 3847270 w 3954143"/>
                <a:gd name="connsiteY6" fmla="*/ 2745835 h 3878153"/>
                <a:gd name="connsiteX7" fmla="*/ 2387077 w 3954143"/>
                <a:gd name="connsiteY7" fmla="*/ 2191958 h 3878153"/>
                <a:gd name="connsiteX8" fmla="*/ 2987368 w 3954143"/>
                <a:gd name="connsiteY8" fmla="*/ 3681688 h 3878153"/>
                <a:gd name="connsiteX9" fmla="*/ 2141272 w 3954143"/>
                <a:gd name="connsiteY9" fmla="*/ 3699551 h 3878153"/>
                <a:gd name="connsiteX10" fmla="*/ 1501146 w 3954143"/>
                <a:gd name="connsiteY10" fmla="*/ 2191958 h 3878153"/>
                <a:gd name="connsiteX11" fmla="*/ 0 w 3954143"/>
                <a:gd name="connsiteY11" fmla="*/ 1825446 h 3878153"/>
                <a:gd name="connsiteX12" fmla="*/ 45066 w 3954143"/>
                <a:gd name="connsiteY12" fmla="*/ 934209 h 3878153"/>
                <a:gd name="connsiteX0" fmla="*/ 45066 w 3954143"/>
                <a:gd name="connsiteY0" fmla="*/ 934209 h 3982941"/>
                <a:gd name="connsiteX1" fmla="*/ 1501146 w 3954143"/>
                <a:gd name="connsiteY1" fmla="*/ 1390554 h 3982941"/>
                <a:gd name="connsiteX2" fmla="*/ 867600 w 3954143"/>
                <a:gd name="connsiteY2" fmla="*/ 39012 h 3982941"/>
                <a:gd name="connsiteX3" fmla="*/ 1751887 w 3954143"/>
                <a:gd name="connsiteY3" fmla="*/ 0 h 3982941"/>
                <a:gd name="connsiteX4" fmla="*/ 2387077 w 3954143"/>
                <a:gd name="connsiteY4" fmla="*/ 1390554 h 3982941"/>
                <a:gd name="connsiteX5" fmla="*/ 3954143 w 3954143"/>
                <a:gd name="connsiteY5" fmla="*/ 1930162 h 3982941"/>
                <a:gd name="connsiteX6" fmla="*/ 3847270 w 3954143"/>
                <a:gd name="connsiteY6" fmla="*/ 2745835 h 3982941"/>
                <a:gd name="connsiteX7" fmla="*/ 2387077 w 3954143"/>
                <a:gd name="connsiteY7" fmla="*/ 2191958 h 3982941"/>
                <a:gd name="connsiteX8" fmla="*/ 2987368 w 3954143"/>
                <a:gd name="connsiteY8" fmla="*/ 3681688 h 3982941"/>
                <a:gd name="connsiteX9" fmla="*/ 2141272 w 3954143"/>
                <a:gd name="connsiteY9" fmla="*/ 3699551 h 3982941"/>
                <a:gd name="connsiteX10" fmla="*/ 1501146 w 3954143"/>
                <a:gd name="connsiteY10" fmla="*/ 2191958 h 3982941"/>
                <a:gd name="connsiteX11" fmla="*/ 0 w 3954143"/>
                <a:gd name="connsiteY11" fmla="*/ 1825446 h 3982941"/>
                <a:gd name="connsiteX12" fmla="*/ 45066 w 3954143"/>
                <a:gd name="connsiteY12" fmla="*/ 934209 h 3982941"/>
                <a:gd name="connsiteX0" fmla="*/ 208653 w 4117730"/>
                <a:gd name="connsiteY0" fmla="*/ 934209 h 3982941"/>
                <a:gd name="connsiteX1" fmla="*/ 1664733 w 4117730"/>
                <a:gd name="connsiteY1" fmla="*/ 1390554 h 3982941"/>
                <a:gd name="connsiteX2" fmla="*/ 1031187 w 4117730"/>
                <a:gd name="connsiteY2" fmla="*/ 39012 h 3982941"/>
                <a:gd name="connsiteX3" fmla="*/ 1915474 w 4117730"/>
                <a:gd name="connsiteY3" fmla="*/ 0 h 3982941"/>
                <a:gd name="connsiteX4" fmla="*/ 2550664 w 4117730"/>
                <a:gd name="connsiteY4" fmla="*/ 1390554 h 3982941"/>
                <a:gd name="connsiteX5" fmla="*/ 4117730 w 4117730"/>
                <a:gd name="connsiteY5" fmla="*/ 1930162 h 3982941"/>
                <a:gd name="connsiteX6" fmla="*/ 4010857 w 4117730"/>
                <a:gd name="connsiteY6" fmla="*/ 2745835 h 3982941"/>
                <a:gd name="connsiteX7" fmla="*/ 2550664 w 4117730"/>
                <a:gd name="connsiteY7" fmla="*/ 2191958 h 3982941"/>
                <a:gd name="connsiteX8" fmla="*/ 3150955 w 4117730"/>
                <a:gd name="connsiteY8" fmla="*/ 3681688 h 3982941"/>
                <a:gd name="connsiteX9" fmla="*/ 2304859 w 4117730"/>
                <a:gd name="connsiteY9" fmla="*/ 3699551 h 3982941"/>
                <a:gd name="connsiteX10" fmla="*/ 1664733 w 4117730"/>
                <a:gd name="connsiteY10" fmla="*/ 2191958 h 3982941"/>
                <a:gd name="connsiteX11" fmla="*/ 163587 w 4117730"/>
                <a:gd name="connsiteY11" fmla="*/ 1825446 h 3982941"/>
                <a:gd name="connsiteX12" fmla="*/ 208653 w 4117730"/>
                <a:gd name="connsiteY12" fmla="*/ 934209 h 3982941"/>
                <a:gd name="connsiteX0" fmla="*/ 208653 w 4117730"/>
                <a:gd name="connsiteY0" fmla="*/ 934209 h 3982941"/>
                <a:gd name="connsiteX1" fmla="*/ 1664733 w 4117730"/>
                <a:gd name="connsiteY1" fmla="*/ 1390554 h 3982941"/>
                <a:gd name="connsiteX2" fmla="*/ 1031187 w 4117730"/>
                <a:gd name="connsiteY2" fmla="*/ 39012 h 3982941"/>
                <a:gd name="connsiteX3" fmla="*/ 1915474 w 4117730"/>
                <a:gd name="connsiteY3" fmla="*/ 0 h 3982941"/>
                <a:gd name="connsiteX4" fmla="*/ 2550664 w 4117730"/>
                <a:gd name="connsiteY4" fmla="*/ 1390554 h 3982941"/>
                <a:gd name="connsiteX5" fmla="*/ 4117730 w 4117730"/>
                <a:gd name="connsiteY5" fmla="*/ 1930162 h 3982941"/>
                <a:gd name="connsiteX6" fmla="*/ 4010857 w 4117730"/>
                <a:gd name="connsiteY6" fmla="*/ 2745835 h 3982941"/>
                <a:gd name="connsiteX7" fmla="*/ 2550664 w 4117730"/>
                <a:gd name="connsiteY7" fmla="*/ 2191958 h 3982941"/>
                <a:gd name="connsiteX8" fmla="*/ 3150955 w 4117730"/>
                <a:gd name="connsiteY8" fmla="*/ 3681688 h 3982941"/>
                <a:gd name="connsiteX9" fmla="*/ 2304859 w 4117730"/>
                <a:gd name="connsiteY9" fmla="*/ 3699551 h 3982941"/>
                <a:gd name="connsiteX10" fmla="*/ 1664733 w 4117730"/>
                <a:gd name="connsiteY10" fmla="*/ 2191958 h 3982941"/>
                <a:gd name="connsiteX11" fmla="*/ 163587 w 4117730"/>
                <a:gd name="connsiteY11" fmla="*/ 1825446 h 3982941"/>
                <a:gd name="connsiteX12" fmla="*/ 208653 w 4117730"/>
                <a:gd name="connsiteY12" fmla="*/ 934209 h 3982941"/>
                <a:gd name="connsiteX0" fmla="*/ 208653 w 4117730"/>
                <a:gd name="connsiteY0" fmla="*/ 1171034 h 4219766"/>
                <a:gd name="connsiteX1" fmla="*/ 1664733 w 4117730"/>
                <a:gd name="connsiteY1" fmla="*/ 1627379 h 4219766"/>
                <a:gd name="connsiteX2" fmla="*/ 1031187 w 4117730"/>
                <a:gd name="connsiteY2" fmla="*/ 275837 h 4219766"/>
                <a:gd name="connsiteX3" fmla="*/ 1915474 w 4117730"/>
                <a:gd name="connsiteY3" fmla="*/ 236825 h 4219766"/>
                <a:gd name="connsiteX4" fmla="*/ 2550664 w 4117730"/>
                <a:gd name="connsiteY4" fmla="*/ 1627379 h 4219766"/>
                <a:gd name="connsiteX5" fmla="*/ 4117730 w 4117730"/>
                <a:gd name="connsiteY5" fmla="*/ 2166987 h 4219766"/>
                <a:gd name="connsiteX6" fmla="*/ 4010857 w 4117730"/>
                <a:gd name="connsiteY6" fmla="*/ 2982660 h 4219766"/>
                <a:gd name="connsiteX7" fmla="*/ 2550664 w 4117730"/>
                <a:gd name="connsiteY7" fmla="*/ 2428783 h 4219766"/>
                <a:gd name="connsiteX8" fmla="*/ 3150955 w 4117730"/>
                <a:gd name="connsiteY8" fmla="*/ 3918513 h 4219766"/>
                <a:gd name="connsiteX9" fmla="*/ 2304859 w 4117730"/>
                <a:gd name="connsiteY9" fmla="*/ 3936376 h 4219766"/>
                <a:gd name="connsiteX10" fmla="*/ 1664733 w 4117730"/>
                <a:gd name="connsiteY10" fmla="*/ 2428783 h 4219766"/>
                <a:gd name="connsiteX11" fmla="*/ 163587 w 4117730"/>
                <a:gd name="connsiteY11" fmla="*/ 2062271 h 4219766"/>
                <a:gd name="connsiteX12" fmla="*/ 208653 w 4117730"/>
                <a:gd name="connsiteY12" fmla="*/ 1171034 h 4219766"/>
                <a:gd name="connsiteX0" fmla="*/ 208653 w 4117730"/>
                <a:gd name="connsiteY0" fmla="*/ 1187463 h 4236195"/>
                <a:gd name="connsiteX1" fmla="*/ 1664733 w 4117730"/>
                <a:gd name="connsiteY1" fmla="*/ 1643808 h 4236195"/>
                <a:gd name="connsiteX2" fmla="*/ 1031187 w 4117730"/>
                <a:gd name="connsiteY2" fmla="*/ 292266 h 4236195"/>
                <a:gd name="connsiteX3" fmla="*/ 1915474 w 4117730"/>
                <a:gd name="connsiteY3" fmla="*/ 253254 h 4236195"/>
                <a:gd name="connsiteX4" fmla="*/ 2550664 w 4117730"/>
                <a:gd name="connsiteY4" fmla="*/ 1643808 h 4236195"/>
                <a:gd name="connsiteX5" fmla="*/ 4117730 w 4117730"/>
                <a:gd name="connsiteY5" fmla="*/ 2183416 h 4236195"/>
                <a:gd name="connsiteX6" fmla="*/ 4010857 w 4117730"/>
                <a:gd name="connsiteY6" fmla="*/ 2999089 h 4236195"/>
                <a:gd name="connsiteX7" fmla="*/ 2550664 w 4117730"/>
                <a:gd name="connsiteY7" fmla="*/ 2445212 h 4236195"/>
                <a:gd name="connsiteX8" fmla="*/ 3150955 w 4117730"/>
                <a:gd name="connsiteY8" fmla="*/ 3934942 h 4236195"/>
                <a:gd name="connsiteX9" fmla="*/ 2304859 w 4117730"/>
                <a:gd name="connsiteY9" fmla="*/ 3952805 h 4236195"/>
                <a:gd name="connsiteX10" fmla="*/ 1664733 w 4117730"/>
                <a:gd name="connsiteY10" fmla="*/ 2445212 h 4236195"/>
                <a:gd name="connsiteX11" fmla="*/ 163587 w 4117730"/>
                <a:gd name="connsiteY11" fmla="*/ 2078700 h 4236195"/>
                <a:gd name="connsiteX12" fmla="*/ 208653 w 4117730"/>
                <a:gd name="connsiteY12" fmla="*/ 1187463 h 4236195"/>
                <a:gd name="connsiteX0" fmla="*/ 208653 w 4260490"/>
                <a:gd name="connsiteY0" fmla="*/ 1187463 h 4236195"/>
                <a:gd name="connsiteX1" fmla="*/ 1664733 w 4260490"/>
                <a:gd name="connsiteY1" fmla="*/ 1643808 h 4236195"/>
                <a:gd name="connsiteX2" fmla="*/ 1031187 w 4260490"/>
                <a:gd name="connsiteY2" fmla="*/ 292266 h 4236195"/>
                <a:gd name="connsiteX3" fmla="*/ 1915474 w 4260490"/>
                <a:gd name="connsiteY3" fmla="*/ 253254 h 4236195"/>
                <a:gd name="connsiteX4" fmla="*/ 2550664 w 4260490"/>
                <a:gd name="connsiteY4" fmla="*/ 1643808 h 4236195"/>
                <a:gd name="connsiteX5" fmla="*/ 4117730 w 4260490"/>
                <a:gd name="connsiteY5" fmla="*/ 2183416 h 4236195"/>
                <a:gd name="connsiteX6" fmla="*/ 4010857 w 4260490"/>
                <a:gd name="connsiteY6" fmla="*/ 2999089 h 4236195"/>
                <a:gd name="connsiteX7" fmla="*/ 2550664 w 4260490"/>
                <a:gd name="connsiteY7" fmla="*/ 2445212 h 4236195"/>
                <a:gd name="connsiteX8" fmla="*/ 3150955 w 4260490"/>
                <a:gd name="connsiteY8" fmla="*/ 3934942 h 4236195"/>
                <a:gd name="connsiteX9" fmla="*/ 2304859 w 4260490"/>
                <a:gd name="connsiteY9" fmla="*/ 3952805 h 4236195"/>
                <a:gd name="connsiteX10" fmla="*/ 1664733 w 4260490"/>
                <a:gd name="connsiteY10" fmla="*/ 2445212 h 4236195"/>
                <a:gd name="connsiteX11" fmla="*/ 163587 w 4260490"/>
                <a:gd name="connsiteY11" fmla="*/ 2078700 h 4236195"/>
                <a:gd name="connsiteX12" fmla="*/ 208653 w 4260490"/>
                <a:gd name="connsiteY12" fmla="*/ 1187463 h 4236195"/>
                <a:gd name="connsiteX0" fmla="*/ 208653 w 4338191"/>
                <a:gd name="connsiteY0" fmla="*/ 1187463 h 4236195"/>
                <a:gd name="connsiteX1" fmla="*/ 1664733 w 4338191"/>
                <a:gd name="connsiteY1" fmla="*/ 1643808 h 4236195"/>
                <a:gd name="connsiteX2" fmla="*/ 1031187 w 4338191"/>
                <a:gd name="connsiteY2" fmla="*/ 292266 h 4236195"/>
                <a:gd name="connsiteX3" fmla="*/ 1915474 w 4338191"/>
                <a:gd name="connsiteY3" fmla="*/ 253254 h 4236195"/>
                <a:gd name="connsiteX4" fmla="*/ 2550664 w 4338191"/>
                <a:gd name="connsiteY4" fmla="*/ 1643808 h 4236195"/>
                <a:gd name="connsiteX5" fmla="*/ 4117730 w 4338191"/>
                <a:gd name="connsiteY5" fmla="*/ 2183416 h 4236195"/>
                <a:gd name="connsiteX6" fmla="*/ 4010857 w 4338191"/>
                <a:gd name="connsiteY6" fmla="*/ 2999089 h 4236195"/>
                <a:gd name="connsiteX7" fmla="*/ 2550664 w 4338191"/>
                <a:gd name="connsiteY7" fmla="*/ 2445212 h 4236195"/>
                <a:gd name="connsiteX8" fmla="*/ 3150955 w 4338191"/>
                <a:gd name="connsiteY8" fmla="*/ 3934942 h 4236195"/>
                <a:gd name="connsiteX9" fmla="*/ 2304859 w 4338191"/>
                <a:gd name="connsiteY9" fmla="*/ 3952805 h 4236195"/>
                <a:gd name="connsiteX10" fmla="*/ 1664733 w 4338191"/>
                <a:gd name="connsiteY10" fmla="*/ 2445212 h 4236195"/>
                <a:gd name="connsiteX11" fmla="*/ 163587 w 4338191"/>
                <a:gd name="connsiteY11" fmla="*/ 2078700 h 4236195"/>
                <a:gd name="connsiteX12" fmla="*/ 208653 w 4338191"/>
                <a:gd name="connsiteY12" fmla="*/ 1187463 h 4236195"/>
                <a:gd name="connsiteX0" fmla="*/ 208653 w 4180264"/>
                <a:gd name="connsiteY0" fmla="*/ 1187463 h 4236195"/>
                <a:gd name="connsiteX1" fmla="*/ 1664733 w 4180264"/>
                <a:gd name="connsiteY1" fmla="*/ 1643808 h 4236195"/>
                <a:gd name="connsiteX2" fmla="*/ 1031187 w 4180264"/>
                <a:gd name="connsiteY2" fmla="*/ 292266 h 4236195"/>
                <a:gd name="connsiteX3" fmla="*/ 1915474 w 4180264"/>
                <a:gd name="connsiteY3" fmla="*/ 253254 h 4236195"/>
                <a:gd name="connsiteX4" fmla="*/ 2550664 w 4180264"/>
                <a:gd name="connsiteY4" fmla="*/ 1643808 h 4236195"/>
                <a:gd name="connsiteX5" fmla="*/ 4117730 w 4180264"/>
                <a:gd name="connsiteY5" fmla="*/ 2183416 h 4236195"/>
                <a:gd name="connsiteX6" fmla="*/ 3604808 w 4180264"/>
                <a:gd name="connsiteY6" fmla="*/ 2869627 h 4236195"/>
                <a:gd name="connsiteX7" fmla="*/ 2550664 w 4180264"/>
                <a:gd name="connsiteY7" fmla="*/ 2445212 h 4236195"/>
                <a:gd name="connsiteX8" fmla="*/ 3150955 w 4180264"/>
                <a:gd name="connsiteY8" fmla="*/ 3934942 h 4236195"/>
                <a:gd name="connsiteX9" fmla="*/ 2304859 w 4180264"/>
                <a:gd name="connsiteY9" fmla="*/ 3952805 h 4236195"/>
                <a:gd name="connsiteX10" fmla="*/ 1664733 w 4180264"/>
                <a:gd name="connsiteY10" fmla="*/ 2445212 h 4236195"/>
                <a:gd name="connsiteX11" fmla="*/ 163587 w 4180264"/>
                <a:gd name="connsiteY11" fmla="*/ 2078700 h 4236195"/>
                <a:gd name="connsiteX12" fmla="*/ 208653 w 4180264"/>
                <a:gd name="connsiteY12" fmla="*/ 1187463 h 4236195"/>
                <a:gd name="connsiteX0" fmla="*/ 208653 w 4046922"/>
                <a:gd name="connsiteY0" fmla="*/ 1187463 h 4236195"/>
                <a:gd name="connsiteX1" fmla="*/ 1664733 w 4046922"/>
                <a:gd name="connsiteY1" fmla="*/ 1643808 h 4236195"/>
                <a:gd name="connsiteX2" fmla="*/ 1031187 w 4046922"/>
                <a:gd name="connsiteY2" fmla="*/ 292266 h 4236195"/>
                <a:gd name="connsiteX3" fmla="*/ 1915474 w 4046922"/>
                <a:gd name="connsiteY3" fmla="*/ 253254 h 4236195"/>
                <a:gd name="connsiteX4" fmla="*/ 2550664 w 4046922"/>
                <a:gd name="connsiteY4" fmla="*/ 1643808 h 4236195"/>
                <a:gd name="connsiteX5" fmla="*/ 3997107 w 4046922"/>
                <a:gd name="connsiteY5" fmla="*/ 2335052 h 4236195"/>
                <a:gd name="connsiteX6" fmla="*/ 3604808 w 4046922"/>
                <a:gd name="connsiteY6" fmla="*/ 2869627 h 4236195"/>
                <a:gd name="connsiteX7" fmla="*/ 2550664 w 4046922"/>
                <a:gd name="connsiteY7" fmla="*/ 2445212 h 4236195"/>
                <a:gd name="connsiteX8" fmla="*/ 3150955 w 4046922"/>
                <a:gd name="connsiteY8" fmla="*/ 3934942 h 4236195"/>
                <a:gd name="connsiteX9" fmla="*/ 2304859 w 4046922"/>
                <a:gd name="connsiteY9" fmla="*/ 3952805 h 4236195"/>
                <a:gd name="connsiteX10" fmla="*/ 1664733 w 4046922"/>
                <a:gd name="connsiteY10" fmla="*/ 2445212 h 4236195"/>
                <a:gd name="connsiteX11" fmla="*/ 163587 w 4046922"/>
                <a:gd name="connsiteY11" fmla="*/ 2078700 h 4236195"/>
                <a:gd name="connsiteX12" fmla="*/ 208653 w 4046922"/>
                <a:gd name="connsiteY12" fmla="*/ 1187463 h 4236195"/>
                <a:gd name="connsiteX0" fmla="*/ 208653 w 4075431"/>
                <a:gd name="connsiteY0" fmla="*/ 1187463 h 4236195"/>
                <a:gd name="connsiteX1" fmla="*/ 1664733 w 4075431"/>
                <a:gd name="connsiteY1" fmla="*/ 1643808 h 4236195"/>
                <a:gd name="connsiteX2" fmla="*/ 1031187 w 4075431"/>
                <a:gd name="connsiteY2" fmla="*/ 292266 h 4236195"/>
                <a:gd name="connsiteX3" fmla="*/ 1915474 w 4075431"/>
                <a:gd name="connsiteY3" fmla="*/ 253254 h 4236195"/>
                <a:gd name="connsiteX4" fmla="*/ 2550664 w 4075431"/>
                <a:gd name="connsiteY4" fmla="*/ 1643808 h 4236195"/>
                <a:gd name="connsiteX5" fmla="*/ 3997107 w 4075431"/>
                <a:gd name="connsiteY5" fmla="*/ 2335052 h 4236195"/>
                <a:gd name="connsiteX6" fmla="*/ 3741352 w 4075431"/>
                <a:gd name="connsiteY6" fmla="*/ 2863878 h 4236195"/>
                <a:gd name="connsiteX7" fmla="*/ 2550664 w 4075431"/>
                <a:gd name="connsiteY7" fmla="*/ 2445212 h 4236195"/>
                <a:gd name="connsiteX8" fmla="*/ 3150955 w 4075431"/>
                <a:gd name="connsiteY8" fmla="*/ 3934942 h 4236195"/>
                <a:gd name="connsiteX9" fmla="*/ 2304859 w 4075431"/>
                <a:gd name="connsiteY9" fmla="*/ 3952805 h 4236195"/>
                <a:gd name="connsiteX10" fmla="*/ 1664733 w 4075431"/>
                <a:gd name="connsiteY10" fmla="*/ 2445212 h 4236195"/>
                <a:gd name="connsiteX11" fmla="*/ 163587 w 4075431"/>
                <a:gd name="connsiteY11" fmla="*/ 2078700 h 4236195"/>
                <a:gd name="connsiteX12" fmla="*/ 208653 w 4075431"/>
                <a:gd name="connsiteY12" fmla="*/ 1187463 h 4236195"/>
                <a:gd name="connsiteX0" fmla="*/ 208653 w 4025397"/>
                <a:gd name="connsiteY0" fmla="*/ 1187463 h 4236195"/>
                <a:gd name="connsiteX1" fmla="*/ 1664733 w 4025397"/>
                <a:gd name="connsiteY1" fmla="*/ 1643808 h 4236195"/>
                <a:gd name="connsiteX2" fmla="*/ 1031187 w 4025397"/>
                <a:gd name="connsiteY2" fmla="*/ 292266 h 4236195"/>
                <a:gd name="connsiteX3" fmla="*/ 1915474 w 4025397"/>
                <a:gd name="connsiteY3" fmla="*/ 253254 h 4236195"/>
                <a:gd name="connsiteX4" fmla="*/ 2550664 w 4025397"/>
                <a:gd name="connsiteY4" fmla="*/ 1643808 h 4236195"/>
                <a:gd name="connsiteX5" fmla="*/ 3936120 w 4025397"/>
                <a:gd name="connsiteY5" fmla="*/ 2278996 h 4236195"/>
                <a:gd name="connsiteX6" fmla="*/ 3741352 w 4025397"/>
                <a:gd name="connsiteY6" fmla="*/ 2863878 h 4236195"/>
                <a:gd name="connsiteX7" fmla="*/ 2550664 w 4025397"/>
                <a:gd name="connsiteY7" fmla="*/ 2445212 h 4236195"/>
                <a:gd name="connsiteX8" fmla="*/ 3150955 w 4025397"/>
                <a:gd name="connsiteY8" fmla="*/ 3934942 h 4236195"/>
                <a:gd name="connsiteX9" fmla="*/ 2304859 w 4025397"/>
                <a:gd name="connsiteY9" fmla="*/ 3952805 h 4236195"/>
                <a:gd name="connsiteX10" fmla="*/ 1664733 w 4025397"/>
                <a:gd name="connsiteY10" fmla="*/ 2445212 h 4236195"/>
                <a:gd name="connsiteX11" fmla="*/ 163587 w 4025397"/>
                <a:gd name="connsiteY11" fmla="*/ 2078700 h 4236195"/>
                <a:gd name="connsiteX12" fmla="*/ 208653 w 4025397"/>
                <a:gd name="connsiteY12" fmla="*/ 1187463 h 4236195"/>
                <a:gd name="connsiteX0" fmla="*/ 208653 w 4025397"/>
                <a:gd name="connsiteY0" fmla="*/ 1187463 h 4055216"/>
                <a:gd name="connsiteX1" fmla="*/ 1664733 w 4025397"/>
                <a:gd name="connsiteY1" fmla="*/ 1643808 h 4055216"/>
                <a:gd name="connsiteX2" fmla="*/ 1031187 w 4025397"/>
                <a:gd name="connsiteY2" fmla="*/ 292266 h 4055216"/>
                <a:gd name="connsiteX3" fmla="*/ 1915474 w 4025397"/>
                <a:gd name="connsiteY3" fmla="*/ 253254 h 4055216"/>
                <a:gd name="connsiteX4" fmla="*/ 2550664 w 4025397"/>
                <a:gd name="connsiteY4" fmla="*/ 1643808 h 4055216"/>
                <a:gd name="connsiteX5" fmla="*/ 3936120 w 4025397"/>
                <a:gd name="connsiteY5" fmla="*/ 2278996 h 4055216"/>
                <a:gd name="connsiteX6" fmla="*/ 3741352 w 4025397"/>
                <a:gd name="connsiteY6" fmla="*/ 2863878 h 4055216"/>
                <a:gd name="connsiteX7" fmla="*/ 2550664 w 4025397"/>
                <a:gd name="connsiteY7" fmla="*/ 2445212 h 4055216"/>
                <a:gd name="connsiteX8" fmla="*/ 2957831 w 4025397"/>
                <a:gd name="connsiteY8" fmla="*/ 3757434 h 4055216"/>
                <a:gd name="connsiteX9" fmla="*/ 2304859 w 4025397"/>
                <a:gd name="connsiteY9" fmla="*/ 3952805 h 4055216"/>
                <a:gd name="connsiteX10" fmla="*/ 1664733 w 4025397"/>
                <a:gd name="connsiteY10" fmla="*/ 2445212 h 4055216"/>
                <a:gd name="connsiteX11" fmla="*/ 163587 w 4025397"/>
                <a:gd name="connsiteY11" fmla="*/ 2078700 h 4055216"/>
                <a:gd name="connsiteX12" fmla="*/ 208653 w 4025397"/>
                <a:gd name="connsiteY12" fmla="*/ 1187463 h 4055216"/>
                <a:gd name="connsiteX0" fmla="*/ 208653 w 4025397"/>
                <a:gd name="connsiteY0" fmla="*/ 1187463 h 4024023"/>
                <a:gd name="connsiteX1" fmla="*/ 1664733 w 4025397"/>
                <a:gd name="connsiteY1" fmla="*/ 1643808 h 4024023"/>
                <a:gd name="connsiteX2" fmla="*/ 1031187 w 4025397"/>
                <a:gd name="connsiteY2" fmla="*/ 292266 h 4024023"/>
                <a:gd name="connsiteX3" fmla="*/ 1915474 w 4025397"/>
                <a:gd name="connsiteY3" fmla="*/ 253254 h 4024023"/>
                <a:gd name="connsiteX4" fmla="*/ 2550664 w 4025397"/>
                <a:gd name="connsiteY4" fmla="*/ 1643808 h 4024023"/>
                <a:gd name="connsiteX5" fmla="*/ 3936120 w 4025397"/>
                <a:gd name="connsiteY5" fmla="*/ 2278996 h 4024023"/>
                <a:gd name="connsiteX6" fmla="*/ 3741352 w 4025397"/>
                <a:gd name="connsiteY6" fmla="*/ 2863878 h 4024023"/>
                <a:gd name="connsiteX7" fmla="*/ 2550664 w 4025397"/>
                <a:gd name="connsiteY7" fmla="*/ 2445212 h 4024023"/>
                <a:gd name="connsiteX8" fmla="*/ 2957831 w 4025397"/>
                <a:gd name="connsiteY8" fmla="*/ 3757434 h 4024023"/>
                <a:gd name="connsiteX9" fmla="*/ 2342227 w 4025397"/>
                <a:gd name="connsiteY9" fmla="*/ 3912149 h 4024023"/>
                <a:gd name="connsiteX10" fmla="*/ 1664733 w 4025397"/>
                <a:gd name="connsiteY10" fmla="*/ 2445212 h 4024023"/>
                <a:gd name="connsiteX11" fmla="*/ 163587 w 4025397"/>
                <a:gd name="connsiteY11" fmla="*/ 2078700 h 4024023"/>
                <a:gd name="connsiteX12" fmla="*/ 208653 w 4025397"/>
                <a:gd name="connsiteY12" fmla="*/ 1187463 h 4024023"/>
                <a:gd name="connsiteX0" fmla="*/ 312504 w 3956452"/>
                <a:gd name="connsiteY0" fmla="*/ 1346286 h 4024023"/>
                <a:gd name="connsiteX1" fmla="*/ 1595788 w 3956452"/>
                <a:gd name="connsiteY1" fmla="*/ 1643808 h 4024023"/>
                <a:gd name="connsiteX2" fmla="*/ 962242 w 3956452"/>
                <a:gd name="connsiteY2" fmla="*/ 292266 h 4024023"/>
                <a:gd name="connsiteX3" fmla="*/ 1846529 w 3956452"/>
                <a:gd name="connsiteY3" fmla="*/ 253254 h 4024023"/>
                <a:gd name="connsiteX4" fmla="*/ 2481719 w 3956452"/>
                <a:gd name="connsiteY4" fmla="*/ 1643808 h 4024023"/>
                <a:gd name="connsiteX5" fmla="*/ 3867175 w 3956452"/>
                <a:gd name="connsiteY5" fmla="*/ 2278996 h 4024023"/>
                <a:gd name="connsiteX6" fmla="*/ 3672407 w 3956452"/>
                <a:gd name="connsiteY6" fmla="*/ 2863878 h 4024023"/>
                <a:gd name="connsiteX7" fmla="*/ 2481719 w 3956452"/>
                <a:gd name="connsiteY7" fmla="*/ 2445212 h 4024023"/>
                <a:gd name="connsiteX8" fmla="*/ 2888886 w 3956452"/>
                <a:gd name="connsiteY8" fmla="*/ 3757434 h 4024023"/>
                <a:gd name="connsiteX9" fmla="*/ 2273282 w 3956452"/>
                <a:gd name="connsiteY9" fmla="*/ 3912149 h 4024023"/>
                <a:gd name="connsiteX10" fmla="*/ 1595788 w 3956452"/>
                <a:gd name="connsiteY10" fmla="*/ 2445212 h 4024023"/>
                <a:gd name="connsiteX11" fmla="*/ 94642 w 3956452"/>
                <a:gd name="connsiteY11" fmla="*/ 2078700 h 4024023"/>
                <a:gd name="connsiteX12" fmla="*/ 312504 w 3956452"/>
                <a:gd name="connsiteY12" fmla="*/ 1346286 h 4024023"/>
                <a:gd name="connsiteX0" fmla="*/ 207846 w 3851794"/>
                <a:gd name="connsiteY0" fmla="*/ 1346286 h 4024023"/>
                <a:gd name="connsiteX1" fmla="*/ 1491130 w 3851794"/>
                <a:gd name="connsiteY1" fmla="*/ 1643808 h 4024023"/>
                <a:gd name="connsiteX2" fmla="*/ 857584 w 3851794"/>
                <a:gd name="connsiteY2" fmla="*/ 292266 h 4024023"/>
                <a:gd name="connsiteX3" fmla="*/ 1741871 w 3851794"/>
                <a:gd name="connsiteY3" fmla="*/ 253254 h 4024023"/>
                <a:gd name="connsiteX4" fmla="*/ 2377061 w 3851794"/>
                <a:gd name="connsiteY4" fmla="*/ 1643808 h 4024023"/>
                <a:gd name="connsiteX5" fmla="*/ 3762517 w 3851794"/>
                <a:gd name="connsiteY5" fmla="*/ 2278996 h 4024023"/>
                <a:gd name="connsiteX6" fmla="*/ 3567749 w 3851794"/>
                <a:gd name="connsiteY6" fmla="*/ 2863878 h 4024023"/>
                <a:gd name="connsiteX7" fmla="*/ 2377061 w 3851794"/>
                <a:gd name="connsiteY7" fmla="*/ 2445212 h 4024023"/>
                <a:gd name="connsiteX8" fmla="*/ 2784228 w 3851794"/>
                <a:gd name="connsiteY8" fmla="*/ 3757434 h 4024023"/>
                <a:gd name="connsiteX9" fmla="*/ 2168624 w 3851794"/>
                <a:gd name="connsiteY9" fmla="*/ 3912149 h 4024023"/>
                <a:gd name="connsiteX10" fmla="*/ 1491130 w 3851794"/>
                <a:gd name="connsiteY10" fmla="*/ 2445212 h 4024023"/>
                <a:gd name="connsiteX11" fmla="*/ 130936 w 3851794"/>
                <a:gd name="connsiteY11" fmla="*/ 1945750 h 4024023"/>
                <a:gd name="connsiteX12" fmla="*/ 207846 w 3851794"/>
                <a:gd name="connsiteY12" fmla="*/ 1346286 h 4024023"/>
                <a:gd name="connsiteX0" fmla="*/ 207846 w 3851794"/>
                <a:gd name="connsiteY0" fmla="*/ 1158781 h 3836518"/>
                <a:gd name="connsiteX1" fmla="*/ 1491130 w 3851794"/>
                <a:gd name="connsiteY1" fmla="*/ 1456303 h 3836518"/>
                <a:gd name="connsiteX2" fmla="*/ 1043834 w 3851794"/>
                <a:gd name="connsiteY2" fmla="*/ 350952 h 3836518"/>
                <a:gd name="connsiteX3" fmla="*/ 1741871 w 3851794"/>
                <a:gd name="connsiteY3" fmla="*/ 65749 h 3836518"/>
                <a:gd name="connsiteX4" fmla="*/ 2377061 w 3851794"/>
                <a:gd name="connsiteY4" fmla="*/ 1456303 h 3836518"/>
                <a:gd name="connsiteX5" fmla="*/ 3762517 w 3851794"/>
                <a:gd name="connsiteY5" fmla="*/ 2091491 h 3836518"/>
                <a:gd name="connsiteX6" fmla="*/ 3567749 w 3851794"/>
                <a:gd name="connsiteY6" fmla="*/ 2676373 h 3836518"/>
                <a:gd name="connsiteX7" fmla="*/ 2377061 w 3851794"/>
                <a:gd name="connsiteY7" fmla="*/ 2257707 h 3836518"/>
                <a:gd name="connsiteX8" fmla="*/ 2784228 w 3851794"/>
                <a:gd name="connsiteY8" fmla="*/ 3569929 h 3836518"/>
                <a:gd name="connsiteX9" fmla="*/ 2168624 w 3851794"/>
                <a:gd name="connsiteY9" fmla="*/ 3724644 h 3836518"/>
                <a:gd name="connsiteX10" fmla="*/ 1491130 w 3851794"/>
                <a:gd name="connsiteY10" fmla="*/ 2257707 h 3836518"/>
                <a:gd name="connsiteX11" fmla="*/ 130936 w 3851794"/>
                <a:gd name="connsiteY11" fmla="*/ 1758245 h 3836518"/>
                <a:gd name="connsiteX12" fmla="*/ 207846 w 3851794"/>
                <a:gd name="connsiteY12" fmla="*/ 1158781 h 3836518"/>
                <a:gd name="connsiteX0" fmla="*/ 207846 w 3851794"/>
                <a:gd name="connsiteY0" fmla="*/ 1099866 h 3777603"/>
                <a:gd name="connsiteX1" fmla="*/ 1491130 w 3851794"/>
                <a:gd name="connsiteY1" fmla="*/ 1397388 h 3777603"/>
                <a:gd name="connsiteX2" fmla="*/ 1043834 w 3851794"/>
                <a:gd name="connsiteY2" fmla="*/ 292037 h 3777603"/>
                <a:gd name="connsiteX3" fmla="*/ 1715490 w 3851794"/>
                <a:gd name="connsiteY3" fmla="*/ 76337 h 3777603"/>
                <a:gd name="connsiteX4" fmla="*/ 2377061 w 3851794"/>
                <a:gd name="connsiteY4" fmla="*/ 1397388 h 3777603"/>
                <a:gd name="connsiteX5" fmla="*/ 3762517 w 3851794"/>
                <a:gd name="connsiteY5" fmla="*/ 2032576 h 3777603"/>
                <a:gd name="connsiteX6" fmla="*/ 3567749 w 3851794"/>
                <a:gd name="connsiteY6" fmla="*/ 2617458 h 3777603"/>
                <a:gd name="connsiteX7" fmla="*/ 2377061 w 3851794"/>
                <a:gd name="connsiteY7" fmla="*/ 2198792 h 3777603"/>
                <a:gd name="connsiteX8" fmla="*/ 2784228 w 3851794"/>
                <a:gd name="connsiteY8" fmla="*/ 3511014 h 3777603"/>
                <a:gd name="connsiteX9" fmla="*/ 2168624 w 3851794"/>
                <a:gd name="connsiteY9" fmla="*/ 3665729 h 3777603"/>
                <a:gd name="connsiteX10" fmla="*/ 1491130 w 3851794"/>
                <a:gd name="connsiteY10" fmla="*/ 2198792 h 3777603"/>
                <a:gd name="connsiteX11" fmla="*/ 130936 w 3851794"/>
                <a:gd name="connsiteY11" fmla="*/ 1699330 h 3777603"/>
                <a:gd name="connsiteX12" fmla="*/ 207846 w 3851794"/>
                <a:gd name="connsiteY12" fmla="*/ 1099866 h 3777603"/>
                <a:gd name="connsiteX0" fmla="*/ 207846 w 3851794"/>
                <a:gd name="connsiteY0" fmla="*/ 1109323 h 3787060"/>
                <a:gd name="connsiteX1" fmla="*/ 1491130 w 3851794"/>
                <a:gd name="connsiteY1" fmla="*/ 1406845 h 3787060"/>
                <a:gd name="connsiteX2" fmla="*/ 1110872 w 3851794"/>
                <a:gd name="connsiteY2" fmla="*/ 269359 h 3787060"/>
                <a:gd name="connsiteX3" fmla="*/ 1715490 w 3851794"/>
                <a:gd name="connsiteY3" fmla="*/ 85794 h 3787060"/>
                <a:gd name="connsiteX4" fmla="*/ 2377061 w 3851794"/>
                <a:gd name="connsiteY4" fmla="*/ 1406845 h 3787060"/>
                <a:gd name="connsiteX5" fmla="*/ 3762517 w 3851794"/>
                <a:gd name="connsiteY5" fmla="*/ 2042033 h 3787060"/>
                <a:gd name="connsiteX6" fmla="*/ 3567749 w 3851794"/>
                <a:gd name="connsiteY6" fmla="*/ 2626915 h 3787060"/>
                <a:gd name="connsiteX7" fmla="*/ 2377061 w 3851794"/>
                <a:gd name="connsiteY7" fmla="*/ 2208249 h 3787060"/>
                <a:gd name="connsiteX8" fmla="*/ 2784228 w 3851794"/>
                <a:gd name="connsiteY8" fmla="*/ 3520471 h 3787060"/>
                <a:gd name="connsiteX9" fmla="*/ 2168624 w 3851794"/>
                <a:gd name="connsiteY9" fmla="*/ 3675186 h 3787060"/>
                <a:gd name="connsiteX10" fmla="*/ 1491130 w 3851794"/>
                <a:gd name="connsiteY10" fmla="*/ 2208249 h 3787060"/>
                <a:gd name="connsiteX11" fmla="*/ 130936 w 3851794"/>
                <a:gd name="connsiteY11" fmla="*/ 1708787 h 3787060"/>
                <a:gd name="connsiteX12" fmla="*/ 207846 w 3851794"/>
                <a:gd name="connsiteY12" fmla="*/ 1109323 h 3787060"/>
                <a:gd name="connsiteX0" fmla="*/ 207846 w 3851794"/>
                <a:gd name="connsiteY0" fmla="*/ 1077688 h 3755425"/>
                <a:gd name="connsiteX1" fmla="*/ 1491130 w 3851794"/>
                <a:gd name="connsiteY1" fmla="*/ 1375210 h 3755425"/>
                <a:gd name="connsiteX2" fmla="*/ 1110872 w 3851794"/>
                <a:gd name="connsiteY2" fmla="*/ 237724 h 3755425"/>
                <a:gd name="connsiteX3" fmla="*/ 1678122 w 3851794"/>
                <a:gd name="connsiteY3" fmla="*/ 94814 h 3755425"/>
                <a:gd name="connsiteX4" fmla="*/ 2377061 w 3851794"/>
                <a:gd name="connsiteY4" fmla="*/ 1375210 h 3755425"/>
                <a:gd name="connsiteX5" fmla="*/ 3762517 w 3851794"/>
                <a:gd name="connsiteY5" fmla="*/ 2010398 h 3755425"/>
                <a:gd name="connsiteX6" fmla="*/ 3567749 w 3851794"/>
                <a:gd name="connsiteY6" fmla="*/ 2595280 h 3755425"/>
                <a:gd name="connsiteX7" fmla="*/ 2377061 w 3851794"/>
                <a:gd name="connsiteY7" fmla="*/ 2176614 h 3755425"/>
                <a:gd name="connsiteX8" fmla="*/ 2784228 w 3851794"/>
                <a:gd name="connsiteY8" fmla="*/ 3488836 h 3755425"/>
                <a:gd name="connsiteX9" fmla="*/ 2168624 w 3851794"/>
                <a:gd name="connsiteY9" fmla="*/ 3643551 h 3755425"/>
                <a:gd name="connsiteX10" fmla="*/ 1491130 w 3851794"/>
                <a:gd name="connsiteY10" fmla="*/ 2176614 h 3755425"/>
                <a:gd name="connsiteX11" fmla="*/ 130936 w 3851794"/>
                <a:gd name="connsiteY11" fmla="*/ 1677152 h 3755425"/>
                <a:gd name="connsiteX12" fmla="*/ 207846 w 3851794"/>
                <a:gd name="connsiteY12" fmla="*/ 1077688 h 375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51794" h="3755425">
                  <a:moveTo>
                    <a:pt x="207846" y="1077688"/>
                  </a:moveTo>
                  <a:cubicBezTo>
                    <a:pt x="434545" y="1027364"/>
                    <a:pt x="1354041" y="1524409"/>
                    <a:pt x="1491130" y="1375210"/>
                  </a:cubicBezTo>
                  <a:cubicBezTo>
                    <a:pt x="1342031" y="1006760"/>
                    <a:pt x="1079707" y="451123"/>
                    <a:pt x="1110872" y="237724"/>
                  </a:cubicBezTo>
                  <a:cubicBezTo>
                    <a:pt x="1142037" y="24325"/>
                    <a:pt x="1467091" y="-94767"/>
                    <a:pt x="1678122" y="94814"/>
                  </a:cubicBezTo>
                  <a:cubicBezTo>
                    <a:pt x="1889154" y="284395"/>
                    <a:pt x="2165331" y="911692"/>
                    <a:pt x="2377061" y="1375210"/>
                  </a:cubicBezTo>
                  <a:cubicBezTo>
                    <a:pt x="2744104" y="1696904"/>
                    <a:pt x="3564069" y="1807053"/>
                    <a:pt x="3762517" y="2010398"/>
                  </a:cubicBezTo>
                  <a:cubicBezTo>
                    <a:pt x="3960965" y="2213743"/>
                    <a:pt x="3798658" y="2567577"/>
                    <a:pt x="3567749" y="2595280"/>
                  </a:cubicBezTo>
                  <a:cubicBezTo>
                    <a:pt x="3336840" y="2622983"/>
                    <a:pt x="2728442" y="2318086"/>
                    <a:pt x="2377061" y="2176614"/>
                  </a:cubicBezTo>
                  <a:cubicBezTo>
                    <a:pt x="2233744" y="2332590"/>
                    <a:pt x="2818968" y="3244347"/>
                    <a:pt x="2784228" y="3488836"/>
                  </a:cubicBezTo>
                  <a:cubicBezTo>
                    <a:pt x="2749489" y="3733326"/>
                    <a:pt x="2384140" y="3862255"/>
                    <a:pt x="2168624" y="3643551"/>
                  </a:cubicBezTo>
                  <a:cubicBezTo>
                    <a:pt x="1953108" y="3424847"/>
                    <a:pt x="1704505" y="2679145"/>
                    <a:pt x="1491130" y="2176614"/>
                  </a:cubicBezTo>
                  <a:cubicBezTo>
                    <a:pt x="1134251" y="1864263"/>
                    <a:pt x="344817" y="1860306"/>
                    <a:pt x="130936" y="1677152"/>
                  </a:cubicBezTo>
                  <a:cubicBezTo>
                    <a:pt x="-82945" y="1493998"/>
                    <a:pt x="-18853" y="1128012"/>
                    <a:pt x="207846" y="1077688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3" name="Oval 52"/>
            <p:cNvSpPr/>
            <p:nvPr/>
          </p:nvSpPr>
          <p:spPr bwMode="auto">
            <a:xfrm>
              <a:off x="4010378" y="3533422"/>
              <a:ext cx="685800" cy="685800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46" name="Oval 45"/>
          <p:cNvSpPr/>
          <p:nvPr/>
        </p:nvSpPr>
        <p:spPr bwMode="auto">
          <a:xfrm>
            <a:off x="2448740" y="4953000"/>
            <a:ext cx="685800" cy="685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7" name="Oval 46"/>
          <p:cNvSpPr/>
          <p:nvPr/>
        </p:nvSpPr>
        <p:spPr bwMode="auto">
          <a:xfrm>
            <a:off x="2448740" y="2133600"/>
            <a:ext cx="685800" cy="685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8" name="Oval 47"/>
          <p:cNvSpPr/>
          <p:nvPr/>
        </p:nvSpPr>
        <p:spPr bwMode="auto">
          <a:xfrm>
            <a:off x="6172201" y="3519311"/>
            <a:ext cx="685800" cy="6858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Ensuring Race-Free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90601"/>
            <a:ext cx="7696200" cy="685800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How much can computation </a:t>
            </a:r>
            <a:r>
              <a:rPr lang="en-US" b="1" dirty="0" smtClean="0"/>
              <a:t>overlap</a:t>
            </a:r>
            <a:r>
              <a:rPr lang="en-US" dirty="0" smtClean="0"/>
              <a:t>?</a:t>
            </a:r>
            <a:endParaRPr lang="en-US" dirty="0"/>
          </a:p>
        </p:txBody>
      </p:sp>
      <p:cxnSp>
        <p:nvCxnSpPr>
          <p:cNvPr id="4" name="Straight Arrow Connector 3"/>
          <p:cNvCxnSpPr>
            <a:stCxn id="10" idx="6"/>
            <a:endCxn id="11" idx="2"/>
          </p:cNvCxnSpPr>
          <p:nvPr/>
        </p:nvCxnSpPr>
        <p:spPr bwMode="auto">
          <a:xfrm>
            <a:off x="2993626" y="2470757"/>
            <a:ext cx="1093615" cy="158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5" name="Straight Arrow Connector 4"/>
          <p:cNvCxnSpPr>
            <a:stCxn id="11" idx="6"/>
            <a:endCxn id="12" idx="2"/>
          </p:cNvCxnSpPr>
          <p:nvPr/>
        </p:nvCxnSpPr>
        <p:spPr bwMode="auto">
          <a:xfrm>
            <a:off x="4479727" y="2470757"/>
            <a:ext cx="1093614" cy="158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6" name="Straight Arrow Connector 5"/>
          <p:cNvCxnSpPr>
            <a:stCxn id="16" idx="7"/>
            <a:endCxn id="11" idx="3"/>
          </p:cNvCxnSpPr>
          <p:nvPr/>
        </p:nvCxnSpPr>
        <p:spPr bwMode="auto">
          <a:xfrm rot="5400000" flipH="1" flipV="1">
            <a:off x="3353026" y="2942757"/>
            <a:ext cx="1124928" cy="45845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7" name="Straight Arrow Connector 6"/>
          <p:cNvCxnSpPr>
            <a:stCxn id="18" idx="1"/>
            <a:endCxn id="12" idx="5"/>
          </p:cNvCxnSpPr>
          <p:nvPr/>
        </p:nvCxnSpPr>
        <p:spPr bwMode="auto">
          <a:xfrm rot="16200000" flipV="1">
            <a:off x="5582177" y="2935694"/>
            <a:ext cx="1124928" cy="472583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8" name="Straight Arrow Connector 7"/>
          <p:cNvCxnSpPr>
            <a:stCxn id="17" idx="7"/>
            <a:endCxn id="12" idx="3"/>
          </p:cNvCxnSpPr>
          <p:nvPr/>
        </p:nvCxnSpPr>
        <p:spPr bwMode="auto">
          <a:xfrm rot="5400000" flipH="1" flipV="1">
            <a:off x="4839126" y="2942758"/>
            <a:ext cx="1124928" cy="458457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9" name="Straight Arrow Connector 8"/>
          <p:cNvCxnSpPr>
            <a:stCxn id="17" idx="1"/>
            <a:endCxn id="11" idx="5"/>
          </p:cNvCxnSpPr>
          <p:nvPr/>
        </p:nvCxnSpPr>
        <p:spPr bwMode="auto">
          <a:xfrm rot="16200000" flipV="1">
            <a:off x="4096077" y="2935694"/>
            <a:ext cx="1124928" cy="472583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10" name="Oval 4"/>
          <p:cNvSpPr/>
          <p:nvPr/>
        </p:nvSpPr>
        <p:spPr bwMode="auto">
          <a:xfrm>
            <a:off x="2601140" y="22745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4087241" y="22745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2" name="Oval 11"/>
          <p:cNvSpPr/>
          <p:nvPr/>
        </p:nvSpPr>
        <p:spPr bwMode="auto">
          <a:xfrm>
            <a:off x="5573341" y="22745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3" name="Oval 4"/>
          <p:cNvSpPr/>
          <p:nvPr/>
        </p:nvSpPr>
        <p:spPr bwMode="auto">
          <a:xfrm>
            <a:off x="2601140" y="50939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4087241" y="50939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5573341" y="5093914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6" name="Oval 4"/>
          <p:cNvSpPr/>
          <p:nvPr/>
        </p:nvSpPr>
        <p:spPr bwMode="auto">
          <a:xfrm>
            <a:off x="3351253" y="3676972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7" name="Oval 16"/>
          <p:cNvSpPr/>
          <p:nvPr/>
        </p:nvSpPr>
        <p:spPr bwMode="auto">
          <a:xfrm>
            <a:off x="4837354" y="3676972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sp>
        <p:nvSpPr>
          <p:cNvPr id="18" name="Oval 17"/>
          <p:cNvSpPr/>
          <p:nvPr/>
        </p:nvSpPr>
        <p:spPr bwMode="auto">
          <a:xfrm>
            <a:off x="6323454" y="3676972"/>
            <a:ext cx="392486" cy="392486"/>
          </a:xfrm>
          <a:prstGeom prst="ellipse">
            <a:avLst/>
          </a:prstGeom>
          <a:ln w="38100" cmpd="sng">
            <a:headEnd type="none" w="med" len="med"/>
            <a:tailEnd type="none" w="med" len="med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ea typeface="ＭＳ Ｐゴシック" pitchFamily="-111" charset="-128"/>
            </a:endParaRPr>
          </a:p>
        </p:txBody>
      </p:sp>
      <p:cxnSp>
        <p:nvCxnSpPr>
          <p:cNvPr id="19" name="Straight Arrow Connector 18"/>
          <p:cNvCxnSpPr>
            <a:stCxn id="13" idx="6"/>
            <a:endCxn id="14" idx="2"/>
          </p:cNvCxnSpPr>
          <p:nvPr/>
        </p:nvCxnSpPr>
        <p:spPr bwMode="auto">
          <a:xfrm>
            <a:off x="2993626" y="5290157"/>
            <a:ext cx="1093615" cy="158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0" name="Straight Arrow Connector 19"/>
          <p:cNvCxnSpPr>
            <a:stCxn id="14" idx="6"/>
            <a:endCxn id="15" idx="2"/>
          </p:cNvCxnSpPr>
          <p:nvPr/>
        </p:nvCxnSpPr>
        <p:spPr bwMode="auto">
          <a:xfrm>
            <a:off x="4479727" y="5290157"/>
            <a:ext cx="1093614" cy="158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1" name="Straight Arrow Connector 20"/>
          <p:cNvCxnSpPr>
            <a:stCxn id="14" idx="1"/>
            <a:endCxn id="16" idx="5"/>
          </p:cNvCxnSpPr>
          <p:nvPr/>
        </p:nvCxnSpPr>
        <p:spPr bwMode="auto">
          <a:xfrm rot="16200000" flipV="1">
            <a:off x="3345784" y="4352457"/>
            <a:ext cx="1139412" cy="458458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2" name="Straight Arrow Connector 21"/>
          <p:cNvCxnSpPr>
            <a:stCxn id="15" idx="7"/>
            <a:endCxn id="18" idx="3"/>
          </p:cNvCxnSpPr>
          <p:nvPr/>
        </p:nvCxnSpPr>
        <p:spPr bwMode="auto">
          <a:xfrm rot="5400000" flipH="1" flipV="1">
            <a:off x="5574934" y="4345395"/>
            <a:ext cx="1139412" cy="472583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3" name="Straight Arrow Connector 22"/>
          <p:cNvCxnSpPr>
            <a:stCxn id="15" idx="1"/>
            <a:endCxn id="17" idx="5"/>
          </p:cNvCxnSpPr>
          <p:nvPr/>
        </p:nvCxnSpPr>
        <p:spPr bwMode="auto">
          <a:xfrm rot="16200000" flipV="1">
            <a:off x="4831885" y="4352457"/>
            <a:ext cx="1139412" cy="458457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cxnSp>
        <p:nvCxnSpPr>
          <p:cNvPr id="24" name="Straight Arrow Connector 23"/>
          <p:cNvCxnSpPr>
            <a:stCxn id="14" idx="7"/>
            <a:endCxn id="17" idx="3"/>
          </p:cNvCxnSpPr>
          <p:nvPr/>
        </p:nvCxnSpPr>
        <p:spPr bwMode="auto">
          <a:xfrm rot="5400000" flipH="1" flipV="1">
            <a:off x="4088834" y="4345395"/>
            <a:ext cx="1139412" cy="472583"/>
          </a:xfrm>
          <a:prstGeom prst="straightConnector1">
            <a:avLst/>
          </a:prstGeom>
          <a:ln w="38100" cmpd="sng">
            <a:headEnd type="none"/>
            <a:tailEnd type="none"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</p:cxnSp>
      <p:sp>
        <p:nvSpPr>
          <p:cNvPr id="57" name="Explosion 2 56"/>
          <p:cNvSpPr/>
          <p:nvPr/>
        </p:nvSpPr>
        <p:spPr bwMode="auto">
          <a:xfrm>
            <a:off x="4114800" y="2286000"/>
            <a:ext cx="381000" cy="304800"/>
          </a:xfrm>
          <a:prstGeom prst="irregularSeal2">
            <a:avLst/>
          </a:prstGeo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6000000" scaled="0"/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8" name="Explosion 2 57"/>
          <p:cNvSpPr/>
          <p:nvPr/>
        </p:nvSpPr>
        <p:spPr bwMode="auto">
          <a:xfrm>
            <a:off x="5562600" y="2286000"/>
            <a:ext cx="381000" cy="304800"/>
          </a:xfrm>
          <a:prstGeom prst="irregularSeal2">
            <a:avLst/>
          </a:prstGeo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6000000" scaled="0"/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9" name="Explosion 2 58"/>
          <p:cNvSpPr/>
          <p:nvPr/>
        </p:nvSpPr>
        <p:spPr bwMode="auto">
          <a:xfrm>
            <a:off x="4114800" y="5105400"/>
            <a:ext cx="381000" cy="304800"/>
          </a:xfrm>
          <a:prstGeom prst="irregularSeal2">
            <a:avLst/>
          </a:prstGeo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6000000" scaled="0"/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0" name="Explosion 2 59"/>
          <p:cNvSpPr/>
          <p:nvPr/>
        </p:nvSpPr>
        <p:spPr bwMode="auto">
          <a:xfrm>
            <a:off x="5562600" y="5105400"/>
            <a:ext cx="381000" cy="304800"/>
          </a:xfrm>
          <a:prstGeom prst="irregularSeal2">
            <a:avLst/>
          </a:prstGeom>
          <a:gradFill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6000000" scaled="0"/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1292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58" grpId="0" animBg="1"/>
      <p:bldP spid="59" grpId="0" animBg="1"/>
      <p:bldP spid="6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/>
          <p:cNvGrpSpPr/>
          <p:nvPr/>
        </p:nvGrpSpPr>
        <p:grpSpPr>
          <a:xfrm>
            <a:off x="1143000" y="2057400"/>
            <a:ext cx="3810000" cy="1905000"/>
            <a:chOff x="1143000" y="2057400"/>
            <a:chExt cx="3810000" cy="1905000"/>
          </a:xfrm>
        </p:grpSpPr>
        <p:grpSp>
          <p:nvGrpSpPr>
            <p:cNvPr id="94" name="Group 93"/>
            <p:cNvGrpSpPr/>
            <p:nvPr/>
          </p:nvGrpSpPr>
          <p:grpSpPr>
            <a:xfrm>
              <a:off x="1143000" y="2057400"/>
              <a:ext cx="3810000" cy="1066800"/>
              <a:chOff x="381000" y="2057400"/>
              <a:chExt cx="3810000" cy="1066800"/>
            </a:xfrm>
          </p:grpSpPr>
          <p:sp>
            <p:nvSpPr>
              <p:cNvPr id="49" name="Rounded Rectangle 48"/>
              <p:cNvSpPr/>
              <p:nvPr/>
            </p:nvSpPr>
            <p:spPr bwMode="auto">
              <a:xfrm>
                <a:off x="381000" y="2057400"/>
                <a:ext cx="3810000" cy="1066800"/>
              </a:xfrm>
              <a:prstGeom prst="roundRect">
                <a:avLst>
                  <a:gd name="adj" fmla="val 3254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92" name="Oval 91"/>
              <p:cNvSpPr/>
              <p:nvPr/>
            </p:nvSpPr>
            <p:spPr bwMode="auto">
              <a:xfrm>
                <a:off x="1981200" y="2286000"/>
                <a:ext cx="685800" cy="6858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97" name="Rounded Rectangle 96"/>
            <p:cNvSpPr/>
            <p:nvPr/>
          </p:nvSpPr>
          <p:spPr bwMode="auto">
            <a:xfrm>
              <a:off x="2667000" y="3387490"/>
              <a:ext cx="838199" cy="57491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CPU</a:t>
              </a:r>
              <a:r>
                <a:rPr kumimoji="0" lang="en-US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 1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00" name="Straight Arrow Connector 99"/>
            <p:cNvCxnSpPr>
              <a:stCxn id="97" idx="0"/>
              <a:endCxn id="92" idx="4"/>
            </p:cNvCxnSpPr>
            <p:nvPr/>
          </p:nvCxnSpPr>
          <p:spPr bwMode="auto">
            <a:xfrm rot="5400000" flipH="1" flipV="1">
              <a:off x="2878255" y="3179645"/>
              <a:ext cx="41569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191000" y="2057400"/>
            <a:ext cx="3886200" cy="1905000"/>
            <a:chOff x="4191000" y="2057400"/>
            <a:chExt cx="3886200" cy="1905000"/>
          </a:xfrm>
        </p:grpSpPr>
        <p:grpSp>
          <p:nvGrpSpPr>
            <p:cNvPr id="95" name="Group 94"/>
            <p:cNvGrpSpPr/>
            <p:nvPr/>
          </p:nvGrpSpPr>
          <p:grpSpPr>
            <a:xfrm>
              <a:off x="4191000" y="2057400"/>
              <a:ext cx="3886200" cy="1066800"/>
              <a:chOff x="3429000" y="2057400"/>
              <a:chExt cx="3886200" cy="1066800"/>
            </a:xfrm>
          </p:grpSpPr>
          <p:sp>
            <p:nvSpPr>
              <p:cNvPr id="50" name="Rounded Rectangle 49"/>
              <p:cNvSpPr/>
              <p:nvPr/>
            </p:nvSpPr>
            <p:spPr bwMode="auto">
              <a:xfrm>
                <a:off x="3429000" y="2057400"/>
                <a:ext cx="3886200" cy="1066800"/>
              </a:xfrm>
              <a:prstGeom prst="roundRect">
                <a:avLst>
                  <a:gd name="adj" fmla="val 34657"/>
                </a:avLst>
              </a:prstGeom>
              <a:gradFill>
                <a:gsLst>
                  <a:gs pos="0">
                    <a:schemeClr val="accent6">
                      <a:tint val="50000"/>
                      <a:satMod val="300000"/>
                      <a:alpha val="72000"/>
                    </a:schemeClr>
                  </a:gs>
                  <a:gs pos="35000">
                    <a:schemeClr val="accent6">
                      <a:tint val="37000"/>
                      <a:satMod val="300000"/>
                      <a:alpha val="70000"/>
                    </a:schemeClr>
                  </a:gs>
                  <a:gs pos="100000">
                    <a:schemeClr val="accent6">
                      <a:tint val="15000"/>
                      <a:satMod val="350000"/>
                      <a:alpha val="80000"/>
                    </a:schemeClr>
                  </a:gs>
                </a:gsLst>
              </a:gradFill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93" name="Oval 92"/>
              <p:cNvSpPr/>
              <p:nvPr/>
            </p:nvSpPr>
            <p:spPr bwMode="auto">
              <a:xfrm>
                <a:off x="5029200" y="2286000"/>
                <a:ext cx="685800" cy="68580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98" name="Rounded Rectangle 97"/>
            <p:cNvSpPr/>
            <p:nvPr/>
          </p:nvSpPr>
          <p:spPr bwMode="auto">
            <a:xfrm>
              <a:off x="5715000" y="3387490"/>
              <a:ext cx="838199" cy="57491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CPU</a:t>
              </a:r>
              <a:r>
                <a:rPr kumimoji="0" lang="en-US" b="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rPr>
                <a:t> 2</a:t>
              </a:r>
              <a:endPara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02" name="Straight Arrow Connector 101"/>
            <p:cNvCxnSpPr>
              <a:stCxn id="98" idx="0"/>
              <a:endCxn id="93" idx="4"/>
            </p:cNvCxnSpPr>
            <p:nvPr/>
          </p:nvCxnSpPr>
          <p:spPr bwMode="auto">
            <a:xfrm rot="5400000" flipH="1" flipV="1">
              <a:off x="5926255" y="3179645"/>
              <a:ext cx="415690" cy="1588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Common Problem: Write-Write Race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228600" y="990600"/>
            <a:ext cx="8572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/>
            <a:r>
              <a:rPr lang="en-US" sz="2400" dirty="0" smtClean="0"/>
              <a:t>Processors running </a:t>
            </a:r>
            <a:r>
              <a:rPr lang="en-US" sz="2400" b="1" dirty="0" smtClean="0"/>
              <a:t>adjacent update functions </a:t>
            </a:r>
            <a:r>
              <a:rPr lang="en-US" sz="2400" dirty="0" smtClean="0"/>
              <a:t>simultaneously modify shared data:</a:t>
            </a:r>
            <a:endParaRPr lang="en-US" sz="2400" dirty="0"/>
          </a:p>
        </p:txBody>
      </p:sp>
      <p:cxnSp>
        <p:nvCxnSpPr>
          <p:cNvPr id="45" name="Straight Connector 44"/>
          <p:cNvCxnSpPr>
            <a:stCxn id="55" idx="6"/>
            <a:endCxn id="47" idx="2"/>
          </p:cNvCxnSpPr>
          <p:nvPr/>
        </p:nvCxnSpPr>
        <p:spPr bwMode="auto">
          <a:xfrm>
            <a:off x="1705308" y="2624572"/>
            <a:ext cx="5762292" cy="10071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sp>
        <p:nvSpPr>
          <p:cNvPr id="47" name="Oval 46"/>
          <p:cNvSpPr/>
          <p:nvPr/>
        </p:nvSpPr>
        <p:spPr bwMode="auto">
          <a:xfrm>
            <a:off x="7467600" y="2438400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8" name="Oval 47"/>
          <p:cNvSpPr/>
          <p:nvPr/>
        </p:nvSpPr>
        <p:spPr bwMode="auto">
          <a:xfrm>
            <a:off x="5928905" y="2428329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3" name="Oval 52"/>
          <p:cNvSpPr/>
          <p:nvPr/>
        </p:nvSpPr>
        <p:spPr bwMode="auto">
          <a:xfrm>
            <a:off x="4390211" y="2438400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4" name="Oval 53"/>
          <p:cNvSpPr/>
          <p:nvPr/>
        </p:nvSpPr>
        <p:spPr bwMode="auto">
          <a:xfrm>
            <a:off x="2851516" y="2418258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5" name="Oval 54"/>
          <p:cNvSpPr/>
          <p:nvPr/>
        </p:nvSpPr>
        <p:spPr bwMode="auto">
          <a:xfrm>
            <a:off x="1312822" y="2428329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grpSp>
        <p:nvGrpSpPr>
          <p:cNvPr id="3" name="Group 90"/>
          <p:cNvGrpSpPr/>
          <p:nvPr/>
        </p:nvGrpSpPr>
        <p:grpSpPr>
          <a:xfrm>
            <a:off x="228600" y="3505200"/>
            <a:ext cx="2474566" cy="1993282"/>
            <a:chOff x="297829" y="4077318"/>
            <a:chExt cx="2474566" cy="1993282"/>
          </a:xfrm>
        </p:grpSpPr>
        <p:grpSp>
          <p:nvGrpSpPr>
            <p:cNvPr id="5" name="Group 72"/>
            <p:cNvGrpSpPr/>
            <p:nvPr/>
          </p:nvGrpSpPr>
          <p:grpSpPr>
            <a:xfrm>
              <a:off x="297829" y="4317206"/>
              <a:ext cx="2474566" cy="1753394"/>
              <a:chOff x="929034" y="4318794"/>
              <a:chExt cx="2474566" cy="1753394"/>
            </a:xfrm>
          </p:grpSpPr>
          <p:cxnSp>
            <p:nvCxnSpPr>
              <p:cNvPr id="65" name="Straight Arrow Connector 64"/>
              <p:cNvCxnSpPr/>
              <p:nvPr/>
            </p:nvCxnSpPr>
            <p:spPr bwMode="auto">
              <a:xfrm>
                <a:off x="929828" y="6070600"/>
                <a:ext cx="2473772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 bwMode="auto">
              <a:xfrm rot="5400000" flipH="1" flipV="1">
                <a:off x="53528" y="5194300"/>
                <a:ext cx="1752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sp>
            <p:nvSpPr>
              <p:cNvPr id="69" name="Rectangle 68"/>
              <p:cNvSpPr/>
              <p:nvPr/>
            </p:nvSpPr>
            <p:spPr bwMode="auto">
              <a:xfrm>
                <a:off x="1277937" y="4735512"/>
                <a:ext cx="257175" cy="133508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0" name="Rectangle 69"/>
              <p:cNvSpPr/>
              <p:nvPr/>
            </p:nvSpPr>
            <p:spPr bwMode="auto">
              <a:xfrm>
                <a:off x="1768061" y="4735512"/>
                <a:ext cx="257175" cy="133508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1" name="Rectangle 70"/>
              <p:cNvSpPr/>
              <p:nvPr/>
            </p:nvSpPr>
            <p:spPr bwMode="auto">
              <a:xfrm>
                <a:off x="2241136" y="4735512"/>
                <a:ext cx="257175" cy="133508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2" name="Rectangle 71"/>
              <p:cNvSpPr/>
              <p:nvPr/>
            </p:nvSpPr>
            <p:spPr bwMode="auto">
              <a:xfrm>
                <a:off x="2701511" y="4735512"/>
                <a:ext cx="257175" cy="1335088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sp>
          <p:nvSpPr>
            <p:cNvPr id="88" name="TextBox 87"/>
            <p:cNvSpPr txBox="1"/>
            <p:nvPr/>
          </p:nvSpPr>
          <p:spPr>
            <a:xfrm>
              <a:off x="299417" y="4077318"/>
              <a:ext cx="1384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CPU1 writes:</a:t>
              </a:r>
              <a:endParaRPr lang="en-US" dirty="0"/>
            </a:p>
          </p:txBody>
        </p:sp>
      </p:grpSp>
      <p:grpSp>
        <p:nvGrpSpPr>
          <p:cNvPr id="6" name="Group 92"/>
          <p:cNvGrpSpPr/>
          <p:nvPr/>
        </p:nvGrpSpPr>
        <p:grpSpPr>
          <a:xfrm>
            <a:off x="6734617" y="3505200"/>
            <a:ext cx="2256983" cy="1994870"/>
            <a:chOff x="6331615" y="4077318"/>
            <a:chExt cx="2256983" cy="1994870"/>
          </a:xfrm>
        </p:grpSpPr>
        <p:grpSp>
          <p:nvGrpSpPr>
            <p:cNvPr id="7" name="Group 73"/>
            <p:cNvGrpSpPr/>
            <p:nvPr/>
          </p:nvGrpSpPr>
          <p:grpSpPr>
            <a:xfrm>
              <a:off x="6364634" y="4318794"/>
              <a:ext cx="2223964" cy="1753394"/>
              <a:chOff x="929034" y="4318794"/>
              <a:chExt cx="2223964" cy="1753394"/>
            </a:xfrm>
          </p:grpSpPr>
          <p:cxnSp>
            <p:nvCxnSpPr>
              <p:cNvPr id="75" name="Straight Arrow Connector 74"/>
              <p:cNvCxnSpPr/>
              <p:nvPr/>
            </p:nvCxnSpPr>
            <p:spPr bwMode="auto">
              <a:xfrm>
                <a:off x="929828" y="6070600"/>
                <a:ext cx="222317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cxnSp>
            <p:nvCxnSpPr>
              <p:cNvPr id="76" name="Straight Arrow Connector 75"/>
              <p:cNvCxnSpPr/>
              <p:nvPr/>
            </p:nvCxnSpPr>
            <p:spPr bwMode="auto">
              <a:xfrm rot="5400000" flipH="1" flipV="1">
                <a:off x="53528" y="5194300"/>
                <a:ext cx="1752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sp>
            <p:nvSpPr>
              <p:cNvPr id="77" name="Rectangle 76"/>
              <p:cNvSpPr/>
              <p:nvPr/>
            </p:nvSpPr>
            <p:spPr bwMode="auto">
              <a:xfrm>
                <a:off x="1277937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 bwMode="auto">
              <a:xfrm>
                <a:off x="1768061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9" name="Rectangle 78"/>
              <p:cNvSpPr/>
              <p:nvPr/>
            </p:nvSpPr>
            <p:spPr bwMode="auto">
              <a:xfrm>
                <a:off x="2241136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 bwMode="auto">
              <a:xfrm>
                <a:off x="2701511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sp>
          <p:nvSpPr>
            <p:cNvPr id="89" name="TextBox 88"/>
            <p:cNvSpPr txBox="1"/>
            <p:nvPr/>
          </p:nvSpPr>
          <p:spPr>
            <a:xfrm>
              <a:off x="6331615" y="4077318"/>
              <a:ext cx="13844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CPU2 writes:</a:t>
              </a:r>
              <a:endParaRPr lang="en-US" dirty="0"/>
            </a:p>
          </p:txBody>
        </p:sp>
      </p:grpSp>
      <p:grpSp>
        <p:nvGrpSpPr>
          <p:cNvPr id="8" name="Group 91"/>
          <p:cNvGrpSpPr/>
          <p:nvPr/>
        </p:nvGrpSpPr>
        <p:grpSpPr>
          <a:xfrm>
            <a:off x="3352800" y="4419749"/>
            <a:ext cx="2474566" cy="1981051"/>
            <a:chOff x="3332569" y="4087961"/>
            <a:chExt cx="2474566" cy="1981051"/>
          </a:xfrm>
        </p:grpSpPr>
        <p:grpSp>
          <p:nvGrpSpPr>
            <p:cNvPr id="9" name="Group 80"/>
            <p:cNvGrpSpPr/>
            <p:nvPr/>
          </p:nvGrpSpPr>
          <p:grpSpPr>
            <a:xfrm>
              <a:off x="3332569" y="4315618"/>
              <a:ext cx="2474566" cy="1753394"/>
              <a:chOff x="929034" y="4318794"/>
              <a:chExt cx="2474566" cy="1753394"/>
            </a:xfrm>
          </p:grpSpPr>
          <p:cxnSp>
            <p:nvCxnSpPr>
              <p:cNvPr id="82" name="Straight Arrow Connector 81"/>
              <p:cNvCxnSpPr/>
              <p:nvPr/>
            </p:nvCxnSpPr>
            <p:spPr bwMode="auto">
              <a:xfrm>
                <a:off x="929828" y="6070600"/>
                <a:ext cx="2473772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cxnSp>
            <p:nvCxnSpPr>
              <p:cNvPr id="83" name="Straight Arrow Connector 82"/>
              <p:cNvCxnSpPr/>
              <p:nvPr/>
            </p:nvCxnSpPr>
            <p:spPr bwMode="auto">
              <a:xfrm rot="5400000" flipH="1" flipV="1">
                <a:off x="53528" y="5194300"/>
                <a:ext cx="1752600" cy="158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</p:cxnSp>
          <p:sp>
            <p:nvSpPr>
              <p:cNvPr id="84" name="Rectangle 83"/>
              <p:cNvSpPr/>
              <p:nvPr/>
            </p:nvSpPr>
            <p:spPr bwMode="auto">
              <a:xfrm>
                <a:off x="1277937" y="4737100"/>
                <a:ext cx="257175" cy="13335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 bwMode="auto">
              <a:xfrm>
                <a:off x="1768061" y="4737100"/>
                <a:ext cx="257175" cy="13335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 bwMode="auto">
              <a:xfrm>
                <a:off x="2241136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87" name="Rectangle 86"/>
              <p:cNvSpPr/>
              <p:nvPr/>
            </p:nvSpPr>
            <p:spPr bwMode="auto">
              <a:xfrm>
                <a:off x="2701511" y="5334000"/>
                <a:ext cx="257175" cy="736600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sp>
          <p:nvSpPr>
            <p:cNvPr id="90" name="TextBox 89"/>
            <p:cNvSpPr txBox="1"/>
            <p:nvPr/>
          </p:nvSpPr>
          <p:spPr>
            <a:xfrm>
              <a:off x="3742132" y="4087961"/>
              <a:ext cx="16502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Final Value</a:t>
              </a:r>
              <a:endParaRPr lang="en-US" dirty="0"/>
            </a:p>
          </p:txBody>
        </p:sp>
      </p:grpSp>
      <p:sp>
        <p:nvSpPr>
          <p:cNvPr id="52" name="Cube 51"/>
          <p:cNvSpPr/>
          <p:nvPr/>
        </p:nvSpPr>
        <p:spPr bwMode="auto">
          <a:xfrm>
            <a:off x="292608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8" name="Cube 57"/>
          <p:cNvSpPr/>
          <p:nvPr/>
        </p:nvSpPr>
        <p:spPr bwMode="auto">
          <a:xfrm>
            <a:off x="36576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62" name="Cube 61"/>
          <p:cNvSpPr/>
          <p:nvPr/>
        </p:nvSpPr>
        <p:spPr bwMode="auto">
          <a:xfrm>
            <a:off x="22098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63" name="Cube 62"/>
          <p:cNvSpPr/>
          <p:nvPr/>
        </p:nvSpPr>
        <p:spPr bwMode="auto">
          <a:xfrm>
            <a:off x="445008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64" name="Cube 63"/>
          <p:cNvSpPr/>
          <p:nvPr/>
        </p:nvSpPr>
        <p:spPr bwMode="auto">
          <a:xfrm>
            <a:off x="60198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67" name="Cube 66"/>
          <p:cNvSpPr/>
          <p:nvPr/>
        </p:nvSpPr>
        <p:spPr bwMode="auto">
          <a:xfrm>
            <a:off x="75438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68" name="Cube 67"/>
          <p:cNvSpPr/>
          <p:nvPr/>
        </p:nvSpPr>
        <p:spPr bwMode="auto">
          <a:xfrm>
            <a:off x="13716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81" name="Cube 80"/>
          <p:cNvSpPr/>
          <p:nvPr/>
        </p:nvSpPr>
        <p:spPr bwMode="auto">
          <a:xfrm>
            <a:off x="67056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1" name="Cube 90"/>
          <p:cNvSpPr/>
          <p:nvPr/>
        </p:nvSpPr>
        <p:spPr bwMode="auto">
          <a:xfrm>
            <a:off x="5257800" y="2491740"/>
            <a:ext cx="274320" cy="274320"/>
          </a:xfrm>
          <a:prstGeom prst="cub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09" name="Shape 108"/>
          <p:cNvCxnSpPr>
            <a:stCxn id="97" idx="3"/>
            <a:endCxn id="53" idx="3"/>
          </p:cNvCxnSpPr>
          <p:nvPr/>
        </p:nvCxnSpPr>
        <p:spPr bwMode="auto">
          <a:xfrm flipV="1">
            <a:off x="3505199" y="2773408"/>
            <a:ext cx="942490" cy="901537"/>
          </a:xfrm>
          <a:prstGeom prst="curvedConnector2">
            <a:avLst/>
          </a:prstGeom>
          <a:ln>
            <a:headEnd type="none" w="med" len="med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2" name="Shape 111"/>
          <p:cNvCxnSpPr>
            <a:stCxn id="98" idx="1"/>
            <a:endCxn id="53" idx="5"/>
          </p:cNvCxnSpPr>
          <p:nvPr/>
        </p:nvCxnSpPr>
        <p:spPr bwMode="auto">
          <a:xfrm rot="10800000">
            <a:off x="4725220" y="2773409"/>
            <a:ext cx="989781" cy="901537"/>
          </a:xfrm>
          <a:prstGeom prst="curvedConnector2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5" name="Straight Arrow Connector 114"/>
          <p:cNvCxnSpPr>
            <a:stCxn id="53" idx="4"/>
            <a:endCxn id="90" idx="0"/>
          </p:cNvCxnSpPr>
          <p:nvPr/>
        </p:nvCxnSpPr>
        <p:spPr bwMode="auto">
          <a:xfrm rot="16200000" flipH="1">
            <a:off x="3792530" y="3624809"/>
            <a:ext cx="1588863" cy="1015"/>
          </a:xfrm>
          <a:prstGeom prst="straightConnector1">
            <a:avLst/>
          </a:prstGeom>
          <a:ln>
            <a:prstDash val="sysDot"/>
            <a:headEnd type="none" w="med" len="med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377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GraphLab</a:t>
            </a:r>
            <a:r>
              <a:rPr lang="en-US" dirty="0" smtClean="0"/>
              <a:t> Framework</a:t>
            </a:r>
            <a:endParaRPr lang="en-US" dirty="0"/>
          </a:p>
        </p:txBody>
      </p:sp>
      <p:grpSp>
        <p:nvGrpSpPr>
          <p:cNvPr id="8" name="Group 269"/>
          <p:cNvGrpSpPr/>
          <p:nvPr/>
        </p:nvGrpSpPr>
        <p:grpSpPr>
          <a:xfrm>
            <a:off x="2722450" y="4495800"/>
            <a:ext cx="3851499" cy="1869662"/>
            <a:chOff x="4495800" y="4267200"/>
            <a:chExt cx="3851499" cy="1869662"/>
          </a:xfrm>
        </p:grpSpPr>
        <p:sp>
          <p:nvSpPr>
            <p:cNvPr id="17" name="TextBox 16"/>
            <p:cNvSpPr txBox="1"/>
            <p:nvPr/>
          </p:nvSpPr>
          <p:spPr>
            <a:xfrm>
              <a:off x="4953000" y="4267200"/>
              <a:ext cx="2942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Consistency Model</a:t>
              </a:r>
              <a:endParaRPr lang="en-US" sz="2800" dirty="0"/>
            </a:p>
          </p:txBody>
        </p:sp>
        <p:grpSp>
          <p:nvGrpSpPr>
            <p:cNvPr id="9" name="Group 123"/>
            <p:cNvGrpSpPr/>
            <p:nvPr/>
          </p:nvGrpSpPr>
          <p:grpSpPr>
            <a:xfrm>
              <a:off x="4495800" y="4876800"/>
              <a:ext cx="3851499" cy="1260062"/>
              <a:chOff x="2905452" y="3733800"/>
              <a:chExt cx="8384848" cy="2743200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4584700" y="3733800"/>
                <a:ext cx="5029200" cy="27432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5727700" y="4114800"/>
                <a:ext cx="2895600" cy="2133600"/>
              </a:xfrm>
              <a:prstGeom prst="ellipse">
                <a:avLst/>
              </a:prstGeom>
              <a:ln>
                <a:prstDash val="dash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94475" y="4457700"/>
                <a:ext cx="1143000" cy="1600200"/>
              </a:xfrm>
              <a:prstGeom prst="ellipse">
                <a:avLst/>
              </a:prstGeom>
              <a:ln>
                <a:prstDash val="sysDot"/>
                <a:tailEnd type="non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6823075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68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Oval 6"/>
              <p:cNvSpPr/>
              <p:nvPr/>
            </p:nvSpPr>
            <p:spPr>
              <a:xfrm>
                <a:off x="487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Curved Connector 102"/>
              <p:cNvCxnSpPr>
                <a:stCxn id="98" idx="2"/>
                <a:endCxn id="100" idx="6"/>
              </p:cNvCxnSpPr>
              <p:nvPr/>
            </p:nvCxnSpPr>
            <p:spPr>
              <a:xfrm rot="10800000">
                <a:off x="5639129" y="5295904"/>
                <a:ext cx="1183948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4" name="Cube 103"/>
              <p:cNvSpPr/>
              <p:nvPr/>
            </p:nvSpPr>
            <p:spPr>
              <a:xfrm>
                <a:off x="6116818" y="5096450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7" name="Cube 106"/>
              <p:cNvSpPr/>
              <p:nvPr/>
            </p:nvSpPr>
            <p:spPr>
              <a:xfrm>
                <a:off x="889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8" name="Cube 107"/>
              <p:cNvSpPr/>
              <p:nvPr/>
            </p:nvSpPr>
            <p:spPr>
              <a:xfrm>
                <a:off x="70361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9" name="Cube 108"/>
              <p:cNvSpPr/>
              <p:nvPr/>
            </p:nvSpPr>
            <p:spPr>
              <a:xfrm>
                <a:off x="508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0" name="Curved Connector 109"/>
              <p:cNvCxnSpPr>
                <a:stCxn id="99" idx="2"/>
                <a:endCxn id="98" idx="6"/>
              </p:cNvCxnSpPr>
              <p:nvPr/>
            </p:nvCxnSpPr>
            <p:spPr>
              <a:xfrm rot="10800000" flipV="1">
                <a:off x="7585074" y="5295899"/>
                <a:ext cx="1102054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1" name="Cube 110"/>
              <p:cNvSpPr/>
              <p:nvPr/>
            </p:nvSpPr>
            <p:spPr>
              <a:xfrm>
                <a:off x="7937827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0528300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Cube 114"/>
              <p:cNvSpPr/>
              <p:nvPr/>
            </p:nvSpPr>
            <p:spPr>
              <a:xfrm>
                <a:off x="10731500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6" name="Curved Connector 115"/>
              <p:cNvCxnSpPr>
                <a:stCxn id="112" idx="2"/>
                <a:endCxn id="99" idx="6"/>
              </p:cNvCxnSpPr>
              <p:nvPr/>
            </p:nvCxnSpPr>
            <p:spPr>
              <a:xfrm rot="10800000">
                <a:off x="9449127" y="5295902"/>
                <a:ext cx="1079174" cy="3457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7" name="Cube 116"/>
              <p:cNvSpPr/>
              <p:nvPr/>
            </p:nvSpPr>
            <p:spPr>
              <a:xfrm>
                <a:off x="9779000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905452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0" name="Curved Connector 119"/>
              <p:cNvCxnSpPr>
                <a:stCxn id="100" idx="2"/>
                <a:endCxn id="118" idx="6"/>
              </p:cNvCxnSpPr>
              <p:nvPr/>
            </p:nvCxnSpPr>
            <p:spPr>
              <a:xfrm rot="10800000" flipV="1">
                <a:off x="3667453" y="5295899"/>
                <a:ext cx="1209676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1" name="Cube 120"/>
              <p:cNvSpPr/>
              <p:nvPr/>
            </p:nvSpPr>
            <p:spPr>
              <a:xfrm>
                <a:off x="4061153" y="5105398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3" name="Cube 122"/>
              <p:cNvSpPr/>
              <p:nvPr/>
            </p:nvSpPr>
            <p:spPr>
              <a:xfrm>
                <a:off x="3108652" y="5114925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0" name="Group 4"/>
          <p:cNvGrpSpPr/>
          <p:nvPr/>
        </p:nvGrpSpPr>
        <p:grpSpPr>
          <a:xfrm>
            <a:off x="609600" y="1219200"/>
            <a:ext cx="3581400" cy="2835405"/>
            <a:chOff x="381000" y="1219200"/>
            <a:chExt cx="3581400" cy="2835405"/>
          </a:xfrm>
        </p:grpSpPr>
        <p:sp>
          <p:nvSpPr>
            <p:cNvPr id="7" name="TextBox 6"/>
            <p:cNvSpPr txBox="1"/>
            <p:nvPr/>
          </p:nvSpPr>
          <p:spPr>
            <a:xfrm>
              <a:off x="381000" y="1219200"/>
              <a:ext cx="3581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Graph Based</a:t>
              </a:r>
            </a:p>
            <a:p>
              <a:pPr algn="ctr"/>
              <a:r>
                <a:rPr lang="en-US" sz="2800" i="1" dirty="0" smtClean="0"/>
                <a:t>Data Representation</a:t>
              </a:r>
              <a:endParaRPr lang="en-US" sz="2800" i="1" dirty="0"/>
            </a:p>
          </p:txBody>
        </p:sp>
        <p:grpSp>
          <p:nvGrpSpPr>
            <p:cNvPr id="11" name="Group 206"/>
            <p:cNvGrpSpPr/>
            <p:nvPr/>
          </p:nvGrpSpPr>
          <p:grpSpPr>
            <a:xfrm>
              <a:off x="1143000" y="2362200"/>
              <a:ext cx="2172054" cy="1692405"/>
              <a:chOff x="457200" y="2895600"/>
              <a:chExt cx="4122177" cy="3211886"/>
            </a:xfrm>
          </p:grpSpPr>
          <p:cxnSp>
            <p:nvCxnSpPr>
              <p:cNvPr id="210" name="Straight Arrow Connector 209"/>
              <p:cNvCxnSpPr>
                <a:stCxn id="216" idx="6"/>
                <a:endCxn id="217" idx="2"/>
              </p:cNvCxnSpPr>
              <p:nvPr/>
            </p:nvCxnSpPr>
            <p:spPr bwMode="auto">
              <a:xfrm>
                <a:off x="857063" y="30918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>
                <a:stCxn id="217" idx="6"/>
                <a:endCxn id="218" idx="2"/>
              </p:cNvCxnSpPr>
              <p:nvPr/>
            </p:nvCxnSpPr>
            <p:spPr bwMode="auto">
              <a:xfrm>
                <a:off x="2343164" y="30918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>
                <a:stCxn id="222" idx="7"/>
                <a:endCxn id="217" idx="3"/>
              </p:cNvCxnSpPr>
              <p:nvPr/>
            </p:nvCxnSpPr>
            <p:spPr bwMode="auto">
              <a:xfrm rot="5400000" flipH="1" flipV="1">
                <a:off x="1216463" y="3563843"/>
                <a:ext cx="1124928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>
                <a:stCxn id="224" idx="1"/>
                <a:endCxn id="218" idx="5"/>
              </p:cNvCxnSpPr>
              <p:nvPr/>
            </p:nvCxnSpPr>
            <p:spPr bwMode="auto">
              <a:xfrm rot="16200000" flipV="1">
                <a:off x="34456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>
                <a:stCxn id="223" idx="7"/>
                <a:endCxn id="218" idx="3"/>
              </p:cNvCxnSpPr>
              <p:nvPr/>
            </p:nvCxnSpPr>
            <p:spPr bwMode="auto">
              <a:xfrm rot="5400000" flipH="1" flipV="1">
                <a:off x="2702563" y="3563844"/>
                <a:ext cx="1124928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>
                <a:stCxn id="223" idx="1"/>
                <a:endCxn id="217" idx="5"/>
              </p:cNvCxnSpPr>
              <p:nvPr/>
            </p:nvCxnSpPr>
            <p:spPr bwMode="auto">
              <a:xfrm rot="16200000" flipV="1">
                <a:off x="19595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16" name="Oval 4"/>
              <p:cNvSpPr/>
              <p:nvPr/>
            </p:nvSpPr>
            <p:spPr bwMode="auto">
              <a:xfrm>
                <a:off x="464577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7" name="Oval 216"/>
              <p:cNvSpPr/>
              <p:nvPr/>
            </p:nvSpPr>
            <p:spPr bwMode="auto">
              <a:xfrm>
                <a:off x="19506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8" name="Oval 217"/>
              <p:cNvSpPr/>
              <p:nvPr/>
            </p:nvSpPr>
            <p:spPr bwMode="auto">
              <a:xfrm>
                <a:off x="34367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9" name="Oval 4"/>
              <p:cNvSpPr/>
              <p:nvPr/>
            </p:nvSpPr>
            <p:spPr bwMode="auto">
              <a:xfrm>
                <a:off x="464577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0" name="Oval 219"/>
              <p:cNvSpPr/>
              <p:nvPr/>
            </p:nvSpPr>
            <p:spPr bwMode="auto">
              <a:xfrm>
                <a:off x="19506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1" name="Oval 220"/>
              <p:cNvSpPr/>
              <p:nvPr/>
            </p:nvSpPr>
            <p:spPr bwMode="auto">
              <a:xfrm>
                <a:off x="34367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2" name="Oval 4"/>
              <p:cNvSpPr/>
              <p:nvPr/>
            </p:nvSpPr>
            <p:spPr bwMode="auto">
              <a:xfrm>
                <a:off x="1214690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 bwMode="auto">
              <a:xfrm>
                <a:off x="27007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4" name="Oval 223"/>
              <p:cNvSpPr/>
              <p:nvPr/>
            </p:nvSpPr>
            <p:spPr bwMode="auto">
              <a:xfrm>
                <a:off x="41868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225" name="Straight Arrow Connector 224"/>
              <p:cNvCxnSpPr>
                <a:stCxn id="219" idx="6"/>
                <a:endCxn id="220" idx="2"/>
              </p:cNvCxnSpPr>
              <p:nvPr/>
            </p:nvCxnSpPr>
            <p:spPr bwMode="auto">
              <a:xfrm>
                <a:off x="857063" y="59112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/>
              <p:cNvCxnSpPr>
                <a:stCxn id="220" idx="6"/>
                <a:endCxn id="221" idx="2"/>
              </p:cNvCxnSpPr>
              <p:nvPr/>
            </p:nvCxnSpPr>
            <p:spPr bwMode="auto">
              <a:xfrm>
                <a:off x="2343164" y="59112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/>
              <p:cNvCxnSpPr>
                <a:stCxn id="220" idx="1"/>
                <a:endCxn id="222" idx="5"/>
              </p:cNvCxnSpPr>
              <p:nvPr/>
            </p:nvCxnSpPr>
            <p:spPr bwMode="auto">
              <a:xfrm rot="16200000" flipV="1">
                <a:off x="1209221" y="4973543"/>
                <a:ext cx="1139412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/>
              <p:cNvCxnSpPr>
                <a:stCxn id="221" idx="7"/>
                <a:endCxn id="224" idx="3"/>
              </p:cNvCxnSpPr>
              <p:nvPr/>
            </p:nvCxnSpPr>
            <p:spPr bwMode="auto">
              <a:xfrm rot="5400000" flipH="1" flipV="1">
                <a:off x="34383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/>
              <p:cNvCxnSpPr>
                <a:stCxn id="221" idx="1"/>
                <a:endCxn id="223" idx="5"/>
              </p:cNvCxnSpPr>
              <p:nvPr/>
            </p:nvCxnSpPr>
            <p:spPr bwMode="auto">
              <a:xfrm rot="16200000" flipV="1">
                <a:off x="2695322" y="4973543"/>
                <a:ext cx="1139412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/>
              <p:cNvCxnSpPr>
                <a:stCxn id="220" idx="7"/>
                <a:endCxn id="223" idx="3"/>
              </p:cNvCxnSpPr>
              <p:nvPr/>
            </p:nvCxnSpPr>
            <p:spPr bwMode="auto">
              <a:xfrm rot="5400000" flipH="1" flipV="1">
                <a:off x="19522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82"/>
              <p:cNvGrpSpPr/>
              <p:nvPr/>
            </p:nvGrpSpPr>
            <p:grpSpPr>
              <a:xfrm>
                <a:off x="457200" y="2971800"/>
                <a:ext cx="4073636" cy="3124200"/>
                <a:chOff x="602223" y="2884114"/>
                <a:chExt cx="4073636" cy="3124200"/>
              </a:xfrm>
            </p:grpSpPr>
            <p:sp>
              <p:nvSpPr>
                <p:cNvPr id="245" name="Cube 244"/>
                <p:cNvSpPr/>
                <p:nvPr/>
              </p:nvSpPr>
              <p:spPr bwMode="auto">
                <a:xfrm>
                  <a:off x="658141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6" name="Cube 245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7" name="Cube 246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8" name="Cube 247"/>
                <p:cNvSpPr/>
                <p:nvPr/>
              </p:nvSpPr>
              <p:spPr bwMode="auto">
                <a:xfrm>
                  <a:off x="13716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9" name="Cube 248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0" name="Cube 249"/>
                <p:cNvSpPr/>
                <p:nvPr/>
              </p:nvSpPr>
              <p:spPr bwMode="auto">
                <a:xfrm>
                  <a:off x="3629941" y="56942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1" name="Cube 250"/>
                <p:cNvSpPr/>
                <p:nvPr/>
              </p:nvSpPr>
              <p:spPr bwMode="auto">
                <a:xfrm>
                  <a:off x="2140917" y="56561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2" name="Cube 251"/>
                <p:cNvSpPr/>
                <p:nvPr/>
              </p:nvSpPr>
              <p:spPr bwMode="auto">
                <a:xfrm>
                  <a:off x="602223" y="57035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3" name="Cube 252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3" name="Group 192"/>
              <p:cNvGrpSpPr/>
              <p:nvPr/>
            </p:nvGrpSpPr>
            <p:grpSpPr>
              <a:xfrm>
                <a:off x="1214690" y="2935878"/>
                <a:ext cx="3029680" cy="3147054"/>
                <a:chOff x="1359713" y="2848192"/>
                <a:chExt cx="3029680" cy="3147054"/>
              </a:xfrm>
            </p:grpSpPr>
            <p:sp>
              <p:nvSpPr>
                <p:cNvPr id="233" name="Cube 232"/>
                <p:cNvSpPr/>
                <p:nvPr/>
              </p:nvSpPr>
              <p:spPr bwMode="auto">
                <a:xfrm>
                  <a:off x="1359713" y="2864458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4" name="Cube 233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5" name="Cube 234"/>
                <p:cNvSpPr/>
                <p:nvPr/>
              </p:nvSpPr>
              <p:spPr bwMode="auto">
                <a:xfrm>
                  <a:off x="1750686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6" name="Cube 235"/>
                <p:cNvSpPr/>
                <p:nvPr/>
              </p:nvSpPr>
              <p:spPr bwMode="auto">
                <a:xfrm>
                  <a:off x="2547982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7" name="Cube 236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8" name="Cube 237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9" name="Cube 238"/>
                <p:cNvSpPr/>
                <p:nvPr/>
              </p:nvSpPr>
              <p:spPr bwMode="auto">
                <a:xfrm>
                  <a:off x="1737986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0" name="Cube 239"/>
                <p:cNvSpPr/>
                <p:nvPr/>
              </p:nvSpPr>
              <p:spPr bwMode="auto">
                <a:xfrm>
                  <a:off x="2535282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1" name="Cube 240"/>
                <p:cNvSpPr/>
                <p:nvPr/>
              </p:nvSpPr>
              <p:spPr bwMode="auto">
                <a:xfrm>
                  <a:off x="3270001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2" name="Cube 241"/>
                <p:cNvSpPr/>
                <p:nvPr/>
              </p:nvSpPr>
              <p:spPr bwMode="auto">
                <a:xfrm>
                  <a:off x="4044234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3" name="Cube 242"/>
                <p:cNvSpPr/>
                <p:nvPr/>
              </p:nvSpPr>
              <p:spPr bwMode="auto">
                <a:xfrm>
                  <a:off x="1359713" y="569044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4" name="Cube 243"/>
                <p:cNvSpPr/>
                <p:nvPr/>
              </p:nvSpPr>
              <p:spPr bwMode="auto">
                <a:xfrm>
                  <a:off x="2875826" y="5674180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</p:grpSp>
      <p:grpSp>
        <p:nvGrpSpPr>
          <p:cNvPr id="6" name="Group 5"/>
          <p:cNvGrpSpPr/>
          <p:nvPr/>
        </p:nvGrpSpPr>
        <p:grpSpPr>
          <a:xfrm>
            <a:off x="5029200" y="1219200"/>
            <a:ext cx="3048000" cy="2826717"/>
            <a:chOff x="5029200" y="1219200"/>
            <a:chExt cx="3048000" cy="2826717"/>
          </a:xfrm>
        </p:grpSpPr>
        <p:grpSp>
          <p:nvGrpSpPr>
            <p:cNvPr id="5" name="Group 4"/>
            <p:cNvGrpSpPr/>
            <p:nvPr/>
          </p:nvGrpSpPr>
          <p:grpSpPr>
            <a:xfrm>
              <a:off x="5413269" y="2209800"/>
              <a:ext cx="2435331" cy="1836117"/>
              <a:chOff x="5413269" y="2209800"/>
              <a:chExt cx="2435331" cy="1836117"/>
            </a:xfrm>
          </p:grpSpPr>
          <p:sp>
            <p:nvSpPr>
              <p:cNvPr id="160" name="Freeform 159"/>
              <p:cNvSpPr/>
              <p:nvPr/>
            </p:nvSpPr>
            <p:spPr bwMode="auto">
              <a:xfrm>
                <a:off x="6102295" y="2209800"/>
                <a:ext cx="1746305" cy="1273742"/>
              </a:xfrm>
              <a:custGeom>
                <a:avLst/>
                <a:gdLst>
                  <a:gd name="connsiteX0" fmla="*/ 1930400 w 3149600"/>
                  <a:gd name="connsiteY0" fmla="*/ 159926 h 2455333"/>
                  <a:gd name="connsiteX1" fmla="*/ 237067 w 3149600"/>
                  <a:gd name="connsiteY1" fmla="*/ 193793 h 2455333"/>
                  <a:gd name="connsiteX2" fmla="*/ 508000 w 3149600"/>
                  <a:gd name="connsiteY2" fmla="*/ 1322682 h 2455333"/>
                  <a:gd name="connsiteX3" fmla="*/ 993423 w 3149600"/>
                  <a:gd name="connsiteY3" fmla="*/ 2304815 h 2455333"/>
                  <a:gd name="connsiteX4" fmla="*/ 1569156 w 3149600"/>
                  <a:gd name="connsiteY4" fmla="*/ 2225793 h 2455333"/>
                  <a:gd name="connsiteX5" fmla="*/ 1919111 w 3149600"/>
                  <a:gd name="connsiteY5" fmla="*/ 1175926 h 2455333"/>
                  <a:gd name="connsiteX6" fmla="*/ 2291645 w 3149600"/>
                  <a:gd name="connsiteY6" fmla="*/ 2135482 h 2455333"/>
                  <a:gd name="connsiteX7" fmla="*/ 2889956 w 3149600"/>
                  <a:gd name="connsiteY7" fmla="*/ 2304815 h 2455333"/>
                  <a:gd name="connsiteX8" fmla="*/ 3081867 w 3149600"/>
                  <a:gd name="connsiteY8" fmla="*/ 1841970 h 2455333"/>
                  <a:gd name="connsiteX9" fmla="*/ 2483556 w 3149600"/>
                  <a:gd name="connsiteY9" fmla="*/ 600193 h 2455333"/>
                  <a:gd name="connsiteX10" fmla="*/ 1930400 w 3149600"/>
                  <a:gd name="connsiteY10" fmla="*/ 159926 h 2455333"/>
                  <a:gd name="connsiteX0" fmla="*/ 1969911 w 3155244"/>
                  <a:gd name="connsiteY0" fmla="*/ 96426 h 2468033"/>
                  <a:gd name="connsiteX1" fmla="*/ 242711 w 3155244"/>
                  <a:gd name="connsiteY1" fmla="*/ 206493 h 2468033"/>
                  <a:gd name="connsiteX2" fmla="*/ 513644 w 3155244"/>
                  <a:gd name="connsiteY2" fmla="*/ 1335382 h 2468033"/>
                  <a:gd name="connsiteX3" fmla="*/ 999067 w 3155244"/>
                  <a:gd name="connsiteY3" fmla="*/ 2317515 h 2468033"/>
                  <a:gd name="connsiteX4" fmla="*/ 1574800 w 3155244"/>
                  <a:gd name="connsiteY4" fmla="*/ 2238493 h 2468033"/>
                  <a:gd name="connsiteX5" fmla="*/ 1924755 w 3155244"/>
                  <a:gd name="connsiteY5" fmla="*/ 1188626 h 2468033"/>
                  <a:gd name="connsiteX6" fmla="*/ 2297289 w 3155244"/>
                  <a:gd name="connsiteY6" fmla="*/ 2148182 h 2468033"/>
                  <a:gd name="connsiteX7" fmla="*/ 2895600 w 3155244"/>
                  <a:gd name="connsiteY7" fmla="*/ 2317515 h 2468033"/>
                  <a:gd name="connsiteX8" fmla="*/ 3087511 w 3155244"/>
                  <a:gd name="connsiteY8" fmla="*/ 1854670 h 2468033"/>
                  <a:gd name="connsiteX9" fmla="*/ 2489200 w 3155244"/>
                  <a:gd name="connsiteY9" fmla="*/ 612893 h 2468033"/>
                  <a:gd name="connsiteX10" fmla="*/ 1969911 w 3155244"/>
                  <a:gd name="connsiteY10" fmla="*/ 96426 h 2468033"/>
                  <a:gd name="connsiteX0" fmla="*/ 1969911 w 3165592"/>
                  <a:gd name="connsiteY0" fmla="*/ 96426 h 2468033"/>
                  <a:gd name="connsiteX1" fmla="*/ 242711 w 3165592"/>
                  <a:gd name="connsiteY1" fmla="*/ 206493 h 2468033"/>
                  <a:gd name="connsiteX2" fmla="*/ 513644 w 3165592"/>
                  <a:gd name="connsiteY2" fmla="*/ 1335382 h 2468033"/>
                  <a:gd name="connsiteX3" fmla="*/ 999067 w 3165592"/>
                  <a:gd name="connsiteY3" fmla="*/ 2317515 h 2468033"/>
                  <a:gd name="connsiteX4" fmla="*/ 1574800 w 3165592"/>
                  <a:gd name="connsiteY4" fmla="*/ 2238493 h 2468033"/>
                  <a:gd name="connsiteX5" fmla="*/ 1924755 w 3165592"/>
                  <a:gd name="connsiteY5" fmla="*/ 1188626 h 2468033"/>
                  <a:gd name="connsiteX6" fmla="*/ 2297289 w 3165592"/>
                  <a:gd name="connsiteY6" fmla="*/ 2148182 h 2468033"/>
                  <a:gd name="connsiteX7" fmla="*/ 2895600 w 3165592"/>
                  <a:gd name="connsiteY7" fmla="*/ 2317515 h 2468033"/>
                  <a:gd name="connsiteX8" fmla="*/ 3087511 w 3165592"/>
                  <a:gd name="connsiteY8" fmla="*/ 1854670 h 2468033"/>
                  <a:gd name="connsiteX9" fmla="*/ 2427111 w 3165592"/>
                  <a:gd name="connsiteY9" fmla="*/ 477426 h 2468033"/>
                  <a:gd name="connsiteX10" fmla="*/ 1969911 w 3165592"/>
                  <a:gd name="connsiteY10" fmla="*/ 96426 h 2468033"/>
                  <a:gd name="connsiteX0" fmla="*/ 1881011 w 3152892"/>
                  <a:gd name="connsiteY0" fmla="*/ 96426 h 2468033"/>
                  <a:gd name="connsiteX1" fmla="*/ 230011 w 3152892"/>
                  <a:gd name="connsiteY1" fmla="*/ 206493 h 2468033"/>
                  <a:gd name="connsiteX2" fmla="*/ 500944 w 3152892"/>
                  <a:gd name="connsiteY2" fmla="*/ 1335382 h 2468033"/>
                  <a:gd name="connsiteX3" fmla="*/ 986367 w 3152892"/>
                  <a:gd name="connsiteY3" fmla="*/ 2317515 h 2468033"/>
                  <a:gd name="connsiteX4" fmla="*/ 1562100 w 3152892"/>
                  <a:gd name="connsiteY4" fmla="*/ 2238493 h 2468033"/>
                  <a:gd name="connsiteX5" fmla="*/ 1912055 w 3152892"/>
                  <a:gd name="connsiteY5" fmla="*/ 1188626 h 2468033"/>
                  <a:gd name="connsiteX6" fmla="*/ 2284589 w 3152892"/>
                  <a:gd name="connsiteY6" fmla="*/ 2148182 h 2468033"/>
                  <a:gd name="connsiteX7" fmla="*/ 2882900 w 3152892"/>
                  <a:gd name="connsiteY7" fmla="*/ 2317515 h 2468033"/>
                  <a:gd name="connsiteX8" fmla="*/ 3074811 w 3152892"/>
                  <a:gd name="connsiteY8" fmla="*/ 1854670 h 2468033"/>
                  <a:gd name="connsiteX9" fmla="*/ 2414411 w 3152892"/>
                  <a:gd name="connsiteY9" fmla="*/ 477426 h 2468033"/>
                  <a:gd name="connsiteX10" fmla="*/ 1881011 w 3152892"/>
                  <a:gd name="connsiteY10" fmla="*/ 96426 h 24680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7921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92111 w 3063992"/>
                  <a:gd name="connsiteY11" fmla="*/ 50800 h 2422407"/>
                  <a:gd name="connsiteX0" fmla="*/ 17159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15911 w 3063992"/>
                  <a:gd name="connsiteY11" fmla="*/ 50800 h 2422407"/>
                  <a:gd name="connsiteX0" fmla="*/ 1779411 w 3127492"/>
                  <a:gd name="connsiteY0" fmla="*/ 38100 h 2409707"/>
                  <a:gd name="connsiteX1" fmla="*/ 1093611 w 3127492"/>
                  <a:gd name="connsiteY1" fmla="*/ 190500 h 2409707"/>
                  <a:gd name="connsiteX2" fmla="*/ 103011 w 3127492"/>
                  <a:gd name="connsiteY2" fmla="*/ 266700 h 2409707"/>
                  <a:gd name="connsiteX3" fmla="*/ 475544 w 3127492"/>
                  <a:gd name="connsiteY3" fmla="*/ 1277056 h 2409707"/>
                  <a:gd name="connsiteX4" fmla="*/ 960967 w 3127492"/>
                  <a:gd name="connsiteY4" fmla="*/ 2259189 h 2409707"/>
                  <a:gd name="connsiteX5" fmla="*/ 1536700 w 3127492"/>
                  <a:gd name="connsiteY5" fmla="*/ 2180167 h 2409707"/>
                  <a:gd name="connsiteX6" fmla="*/ 1886655 w 3127492"/>
                  <a:gd name="connsiteY6" fmla="*/ 1130300 h 2409707"/>
                  <a:gd name="connsiteX7" fmla="*/ 2259189 w 3127492"/>
                  <a:gd name="connsiteY7" fmla="*/ 2089856 h 2409707"/>
                  <a:gd name="connsiteX8" fmla="*/ 2857500 w 3127492"/>
                  <a:gd name="connsiteY8" fmla="*/ 2259189 h 2409707"/>
                  <a:gd name="connsiteX9" fmla="*/ 3049411 w 3127492"/>
                  <a:gd name="connsiteY9" fmla="*/ 1796344 h 2409707"/>
                  <a:gd name="connsiteX10" fmla="*/ 2389011 w 3127492"/>
                  <a:gd name="connsiteY10" fmla="*/ 419100 h 2409707"/>
                  <a:gd name="connsiteX11" fmla="*/ 1779411 w 3127492"/>
                  <a:gd name="connsiteY11" fmla="*/ 38100 h 2409707"/>
                  <a:gd name="connsiteX0" fmla="*/ 1855611 w 3127492"/>
                  <a:gd name="connsiteY0" fmla="*/ 38100 h 2333507"/>
                  <a:gd name="connsiteX1" fmla="*/ 1093611 w 3127492"/>
                  <a:gd name="connsiteY1" fmla="*/ 114300 h 2333507"/>
                  <a:gd name="connsiteX2" fmla="*/ 103011 w 3127492"/>
                  <a:gd name="connsiteY2" fmla="*/ 190500 h 2333507"/>
                  <a:gd name="connsiteX3" fmla="*/ 475544 w 3127492"/>
                  <a:gd name="connsiteY3" fmla="*/ 1200856 h 2333507"/>
                  <a:gd name="connsiteX4" fmla="*/ 960967 w 3127492"/>
                  <a:gd name="connsiteY4" fmla="*/ 2182989 h 2333507"/>
                  <a:gd name="connsiteX5" fmla="*/ 1536700 w 3127492"/>
                  <a:gd name="connsiteY5" fmla="*/ 2103967 h 2333507"/>
                  <a:gd name="connsiteX6" fmla="*/ 1886655 w 3127492"/>
                  <a:gd name="connsiteY6" fmla="*/ 1054100 h 2333507"/>
                  <a:gd name="connsiteX7" fmla="*/ 2259189 w 3127492"/>
                  <a:gd name="connsiteY7" fmla="*/ 2013656 h 2333507"/>
                  <a:gd name="connsiteX8" fmla="*/ 2857500 w 3127492"/>
                  <a:gd name="connsiteY8" fmla="*/ 2182989 h 2333507"/>
                  <a:gd name="connsiteX9" fmla="*/ 3049411 w 3127492"/>
                  <a:gd name="connsiteY9" fmla="*/ 1720144 h 2333507"/>
                  <a:gd name="connsiteX10" fmla="*/ 2389011 w 3127492"/>
                  <a:gd name="connsiteY10" fmla="*/ 342900 h 2333507"/>
                  <a:gd name="connsiteX11" fmla="*/ 1855611 w 3127492"/>
                  <a:gd name="connsiteY11" fmla="*/ 38100 h 2333507"/>
                  <a:gd name="connsiteX0" fmla="*/ 1765300 w 3037181"/>
                  <a:gd name="connsiteY0" fmla="*/ 38100 h 2374900"/>
                  <a:gd name="connsiteX1" fmla="*/ 1003300 w 3037181"/>
                  <a:gd name="connsiteY1" fmla="*/ 114300 h 2374900"/>
                  <a:gd name="connsiteX2" fmla="*/ 12700 w 3037181"/>
                  <a:gd name="connsiteY2" fmla="*/ 190500 h 2374900"/>
                  <a:gd name="connsiteX3" fmla="*/ 1079500 w 3037181"/>
                  <a:gd name="connsiteY3" fmla="*/ 952500 h 2374900"/>
                  <a:gd name="connsiteX4" fmla="*/ 870656 w 3037181"/>
                  <a:gd name="connsiteY4" fmla="*/ 2182989 h 2374900"/>
                  <a:gd name="connsiteX5" fmla="*/ 1446389 w 3037181"/>
                  <a:gd name="connsiteY5" fmla="*/ 2103967 h 2374900"/>
                  <a:gd name="connsiteX6" fmla="*/ 1796344 w 3037181"/>
                  <a:gd name="connsiteY6" fmla="*/ 1054100 h 2374900"/>
                  <a:gd name="connsiteX7" fmla="*/ 2168878 w 3037181"/>
                  <a:gd name="connsiteY7" fmla="*/ 2013656 h 2374900"/>
                  <a:gd name="connsiteX8" fmla="*/ 2767189 w 3037181"/>
                  <a:gd name="connsiteY8" fmla="*/ 2182989 h 2374900"/>
                  <a:gd name="connsiteX9" fmla="*/ 2959100 w 3037181"/>
                  <a:gd name="connsiteY9" fmla="*/ 1720144 h 2374900"/>
                  <a:gd name="connsiteX10" fmla="*/ 2298700 w 3037181"/>
                  <a:gd name="connsiteY10" fmla="*/ 342900 h 2374900"/>
                  <a:gd name="connsiteX11" fmla="*/ 1765300 w 3037181"/>
                  <a:gd name="connsiteY11" fmla="*/ 38100 h 2374900"/>
                  <a:gd name="connsiteX0" fmla="*/ 1765300 w 3037181"/>
                  <a:gd name="connsiteY0" fmla="*/ 38100 h 2239433"/>
                  <a:gd name="connsiteX1" fmla="*/ 1003300 w 3037181"/>
                  <a:gd name="connsiteY1" fmla="*/ 114300 h 2239433"/>
                  <a:gd name="connsiteX2" fmla="*/ 12700 w 3037181"/>
                  <a:gd name="connsiteY2" fmla="*/ 190500 h 2239433"/>
                  <a:gd name="connsiteX3" fmla="*/ 1079500 w 3037181"/>
                  <a:gd name="connsiteY3" fmla="*/ 952500 h 2239433"/>
                  <a:gd name="connsiteX4" fmla="*/ 698500 w 3037181"/>
                  <a:gd name="connsiteY4" fmla="*/ 1866899 h 2239433"/>
                  <a:gd name="connsiteX5" fmla="*/ 1446389 w 3037181"/>
                  <a:gd name="connsiteY5" fmla="*/ 2103967 h 2239433"/>
                  <a:gd name="connsiteX6" fmla="*/ 1796344 w 3037181"/>
                  <a:gd name="connsiteY6" fmla="*/ 1054100 h 2239433"/>
                  <a:gd name="connsiteX7" fmla="*/ 2168878 w 3037181"/>
                  <a:gd name="connsiteY7" fmla="*/ 2013656 h 2239433"/>
                  <a:gd name="connsiteX8" fmla="*/ 2767189 w 3037181"/>
                  <a:gd name="connsiteY8" fmla="*/ 2182989 h 2239433"/>
                  <a:gd name="connsiteX9" fmla="*/ 2959100 w 3037181"/>
                  <a:gd name="connsiteY9" fmla="*/ 1720144 h 2239433"/>
                  <a:gd name="connsiteX10" fmla="*/ 2298700 w 3037181"/>
                  <a:gd name="connsiteY10" fmla="*/ 342900 h 2239433"/>
                  <a:gd name="connsiteX11" fmla="*/ 1765300 w 3037181"/>
                  <a:gd name="connsiteY11" fmla="*/ 38100 h 2239433"/>
                  <a:gd name="connsiteX0" fmla="*/ 1765300 w 3037181"/>
                  <a:gd name="connsiteY0" fmla="*/ 38100 h 2231908"/>
                  <a:gd name="connsiteX1" fmla="*/ 1003300 w 3037181"/>
                  <a:gd name="connsiteY1" fmla="*/ 114300 h 2231908"/>
                  <a:gd name="connsiteX2" fmla="*/ 12700 w 3037181"/>
                  <a:gd name="connsiteY2" fmla="*/ 190500 h 2231908"/>
                  <a:gd name="connsiteX3" fmla="*/ 1079500 w 3037181"/>
                  <a:gd name="connsiteY3" fmla="*/ 952500 h 2231908"/>
                  <a:gd name="connsiteX4" fmla="*/ 698500 w 3037181"/>
                  <a:gd name="connsiteY4" fmla="*/ 1866899 h 2231908"/>
                  <a:gd name="connsiteX5" fmla="*/ 1384300 w 3037181"/>
                  <a:gd name="connsiteY5" fmla="*/ 2095500 h 2231908"/>
                  <a:gd name="connsiteX6" fmla="*/ 1796344 w 3037181"/>
                  <a:gd name="connsiteY6" fmla="*/ 1054100 h 2231908"/>
                  <a:gd name="connsiteX7" fmla="*/ 2168878 w 3037181"/>
                  <a:gd name="connsiteY7" fmla="*/ 2013656 h 2231908"/>
                  <a:gd name="connsiteX8" fmla="*/ 2767189 w 3037181"/>
                  <a:gd name="connsiteY8" fmla="*/ 2182989 h 2231908"/>
                  <a:gd name="connsiteX9" fmla="*/ 2959100 w 3037181"/>
                  <a:gd name="connsiteY9" fmla="*/ 1720144 h 2231908"/>
                  <a:gd name="connsiteX10" fmla="*/ 2298700 w 3037181"/>
                  <a:gd name="connsiteY10" fmla="*/ 342900 h 2231908"/>
                  <a:gd name="connsiteX11" fmla="*/ 1765300 w 3037181"/>
                  <a:gd name="connsiteY11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51741 h 2245549"/>
                  <a:gd name="connsiteX1" fmla="*/ 1092200 w 3126081"/>
                  <a:gd name="connsiteY1" fmla="*/ 127941 h 2245549"/>
                  <a:gd name="connsiteX2" fmla="*/ 101600 w 3126081"/>
                  <a:gd name="connsiteY2" fmla="*/ 204141 h 2245549"/>
                  <a:gd name="connsiteX3" fmla="*/ 177800 w 3126081"/>
                  <a:gd name="connsiteY3" fmla="*/ 661341 h 2245549"/>
                  <a:gd name="connsiteX4" fmla="*/ 1168400 w 3126081"/>
                  <a:gd name="connsiteY4" fmla="*/ 966141 h 2245549"/>
                  <a:gd name="connsiteX5" fmla="*/ 787400 w 3126081"/>
                  <a:gd name="connsiteY5" fmla="*/ 1880540 h 2245549"/>
                  <a:gd name="connsiteX6" fmla="*/ 1473200 w 3126081"/>
                  <a:gd name="connsiteY6" fmla="*/ 2109141 h 2245549"/>
                  <a:gd name="connsiteX7" fmla="*/ 1885244 w 3126081"/>
                  <a:gd name="connsiteY7" fmla="*/ 1067741 h 2245549"/>
                  <a:gd name="connsiteX8" fmla="*/ 2257778 w 3126081"/>
                  <a:gd name="connsiteY8" fmla="*/ 2027297 h 2245549"/>
                  <a:gd name="connsiteX9" fmla="*/ 2856089 w 3126081"/>
                  <a:gd name="connsiteY9" fmla="*/ 2196630 h 2245549"/>
                  <a:gd name="connsiteX10" fmla="*/ 3048000 w 3126081"/>
                  <a:gd name="connsiteY10" fmla="*/ 1733785 h 2245549"/>
                  <a:gd name="connsiteX11" fmla="*/ 2387600 w 3126081"/>
                  <a:gd name="connsiteY11" fmla="*/ 280341 h 2245549"/>
                  <a:gd name="connsiteX12" fmla="*/ 1854200 w 3126081"/>
                  <a:gd name="connsiteY12" fmla="*/ 51741 h 2245549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98931 w 3147012"/>
                  <a:gd name="connsiteY0" fmla="*/ 25400 h 2295407"/>
                  <a:gd name="connsiteX1" fmla="*/ 1113131 w 3147012"/>
                  <a:gd name="connsiteY1" fmla="*/ 177799 h 2295407"/>
                  <a:gd name="connsiteX2" fmla="*/ 122531 w 3147012"/>
                  <a:gd name="connsiteY2" fmla="*/ 253999 h 2295407"/>
                  <a:gd name="connsiteX3" fmla="*/ 198731 w 3147012"/>
                  <a:gd name="connsiteY3" fmla="*/ 711199 h 2295407"/>
                  <a:gd name="connsiteX4" fmla="*/ 1189331 w 3147012"/>
                  <a:gd name="connsiteY4" fmla="*/ 1015999 h 2295407"/>
                  <a:gd name="connsiteX5" fmla="*/ 808331 w 3147012"/>
                  <a:gd name="connsiteY5" fmla="*/ 1930398 h 2295407"/>
                  <a:gd name="connsiteX6" fmla="*/ 1494131 w 3147012"/>
                  <a:gd name="connsiteY6" fmla="*/ 2158999 h 2295407"/>
                  <a:gd name="connsiteX7" fmla="*/ 1906175 w 3147012"/>
                  <a:gd name="connsiteY7" fmla="*/ 1117599 h 2295407"/>
                  <a:gd name="connsiteX8" fmla="*/ 2278709 w 3147012"/>
                  <a:gd name="connsiteY8" fmla="*/ 2077155 h 2295407"/>
                  <a:gd name="connsiteX9" fmla="*/ 2877020 w 3147012"/>
                  <a:gd name="connsiteY9" fmla="*/ 2246488 h 2295407"/>
                  <a:gd name="connsiteX10" fmla="*/ 3068931 w 3147012"/>
                  <a:gd name="connsiteY10" fmla="*/ 1783643 h 2295407"/>
                  <a:gd name="connsiteX11" fmla="*/ 2408531 w 3147012"/>
                  <a:gd name="connsiteY11" fmla="*/ 330199 h 2295407"/>
                  <a:gd name="connsiteX12" fmla="*/ 1798931 w 3147012"/>
                  <a:gd name="connsiteY12" fmla="*/ 25400 h 229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7012" h="2295407">
                    <a:moveTo>
                      <a:pt x="1798931" y="25400"/>
                    </a:moveTo>
                    <a:cubicBezTo>
                      <a:pt x="1583031" y="0"/>
                      <a:pt x="1467320" y="173566"/>
                      <a:pt x="1113131" y="177799"/>
                    </a:cubicBezTo>
                    <a:cubicBezTo>
                      <a:pt x="837964" y="196143"/>
                      <a:pt x="332081" y="76199"/>
                      <a:pt x="122531" y="253999"/>
                    </a:cubicBezTo>
                    <a:cubicBezTo>
                      <a:pt x="0" y="433210"/>
                      <a:pt x="20931" y="584199"/>
                      <a:pt x="198731" y="711199"/>
                    </a:cubicBezTo>
                    <a:cubicBezTo>
                      <a:pt x="376531" y="838199"/>
                      <a:pt x="1087731" y="812799"/>
                      <a:pt x="1189331" y="1015999"/>
                    </a:cubicBezTo>
                    <a:cubicBezTo>
                      <a:pt x="1290931" y="1219199"/>
                      <a:pt x="757531" y="1739898"/>
                      <a:pt x="808331" y="1930398"/>
                    </a:cubicBezTo>
                    <a:cubicBezTo>
                      <a:pt x="859131" y="2120898"/>
                      <a:pt x="1311157" y="2294465"/>
                      <a:pt x="1494131" y="2158999"/>
                    </a:cubicBezTo>
                    <a:cubicBezTo>
                      <a:pt x="1677105" y="2023533"/>
                      <a:pt x="1775412" y="1131240"/>
                      <a:pt x="1906175" y="1117599"/>
                    </a:cubicBezTo>
                    <a:cubicBezTo>
                      <a:pt x="2036938" y="1103958"/>
                      <a:pt x="2116902" y="1889007"/>
                      <a:pt x="2278709" y="2077155"/>
                    </a:cubicBezTo>
                    <a:cubicBezTo>
                      <a:pt x="2440516" y="2265303"/>
                      <a:pt x="2745316" y="2295407"/>
                      <a:pt x="2877020" y="2246488"/>
                    </a:cubicBezTo>
                    <a:cubicBezTo>
                      <a:pt x="3008724" y="2197569"/>
                      <a:pt x="3147012" y="2103024"/>
                      <a:pt x="3068931" y="1783643"/>
                    </a:cubicBezTo>
                    <a:cubicBezTo>
                      <a:pt x="2990850" y="1464262"/>
                      <a:pt x="2620198" y="623240"/>
                      <a:pt x="2408531" y="330199"/>
                    </a:cubicBezTo>
                    <a:cubicBezTo>
                      <a:pt x="2196864" y="37158"/>
                      <a:pt x="2014831" y="50800"/>
                      <a:pt x="1798931" y="25400"/>
                    </a:cubicBezTo>
                    <a:close/>
                  </a:path>
                </a:pathLst>
              </a:cu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61" name="Oval 160"/>
              <p:cNvSpPr/>
              <p:nvPr/>
            </p:nvSpPr>
            <p:spPr bwMode="auto">
              <a:xfrm>
                <a:off x="6973686" y="2266179"/>
                <a:ext cx="380557" cy="38055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cxnSp>
            <p:nvCxnSpPr>
              <p:cNvPr id="162" name="Straight Arrow Connector 161"/>
              <p:cNvCxnSpPr>
                <a:stCxn id="168" idx="6"/>
                <a:endCxn id="169" idx="2"/>
              </p:cNvCxnSpPr>
              <p:nvPr/>
            </p:nvCxnSpPr>
            <p:spPr bwMode="auto">
              <a:xfrm>
                <a:off x="5631063" y="2459644"/>
                <a:ext cx="606857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3" name="Straight Arrow Connector 162"/>
              <p:cNvCxnSpPr>
                <a:stCxn id="169" idx="6"/>
                <a:endCxn id="170" idx="2"/>
              </p:cNvCxnSpPr>
              <p:nvPr/>
            </p:nvCxnSpPr>
            <p:spPr bwMode="auto">
              <a:xfrm>
                <a:off x="6455714" y="2459644"/>
                <a:ext cx="606856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4" name="Straight Arrow Connector 163"/>
              <p:cNvCxnSpPr>
                <a:stCxn id="174" idx="7"/>
                <a:endCxn id="169" idx="3"/>
              </p:cNvCxnSpPr>
              <p:nvPr/>
            </p:nvCxnSpPr>
            <p:spPr bwMode="auto">
              <a:xfrm rot="5400000" flipH="1" flipV="1">
                <a:off x="583049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5" name="Straight Arrow Connector 164"/>
              <p:cNvCxnSpPr>
                <a:stCxn id="176" idx="1"/>
                <a:endCxn id="170" idx="5"/>
              </p:cNvCxnSpPr>
              <p:nvPr/>
            </p:nvCxnSpPr>
            <p:spPr bwMode="auto">
              <a:xfrm rot="16200000" flipV="1">
                <a:off x="706747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6" name="Straight Arrow Connector 165"/>
              <p:cNvCxnSpPr>
                <a:stCxn id="175" idx="7"/>
                <a:endCxn id="170" idx="3"/>
              </p:cNvCxnSpPr>
              <p:nvPr/>
            </p:nvCxnSpPr>
            <p:spPr bwMode="auto">
              <a:xfrm rot="5400000" flipH="1" flipV="1">
                <a:off x="665514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7" name="Straight Arrow Connector 166"/>
              <p:cNvCxnSpPr>
                <a:stCxn id="175" idx="1"/>
                <a:endCxn id="169" idx="5"/>
              </p:cNvCxnSpPr>
              <p:nvPr/>
            </p:nvCxnSpPr>
            <p:spPr bwMode="auto">
              <a:xfrm rot="16200000" flipV="1">
                <a:off x="624282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68" name="Oval 4"/>
              <p:cNvSpPr/>
              <p:nvPr/>
            </p:nvSpPr>
            <p:spPr bwMode="auto">
              <a:xfrm>
                <a:off x="5413269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69" name="Oval 168"/>
              <p:cNvSpPr/>
              <p:nvPr/>
            </p:nvSpPr>
            <p:spPr bwMode="auto">
              <a:xfrm>
                <a:off x="623792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 bwMode="auto">
              <a:xfrm>
                <a:off x="706257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1" name="Oval 4"/>
              <p:cNvSpPr/>
              <p:nvPr/>
            </p:nvSpPr>
            <p:spPr bwMode="auto">
              <a:xfrm>
                <a:off x="541326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2" name="Oval 171"/>
              <p:cNvSpPr/>
              <p:nvPr/>
            </p:nvSpPr>
            <p:spPr bwMode="auto">
              <a:xfrm>
                <a:off x="623791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3" name="Oval 172"/>
              <p:cNvSpPr/>
              <p:nvPr/>
            </p:nvSpPr>
            <p:spPr bwMode="auto">
              <a:xfrm>
                <a:off x="7062570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4" name="Oval 4"/>
              <p:cNvSpPr/>
              <p:nvPr/>
            </p:nvSpPr>
            <p:spPr bwMode="auto">
              <a:xfrm>
                <a:off x="5829513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5" name="Oval 174"/>
              <p:cNvSpPr/>
              <p:nvPr/>
            </p:nvSpPr>
            <p:spPr bwMode="auto">
              <a:xfrm>
                <a:off x="665416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6" name="Oval 175"/>
              <p:cNvSpPr/>
              <p:nvPr/>
            </p:nvSpPr>
            <p:spPr bwMode="auto">
              <a:xfrm>
                <a:off x="747881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77" name="Straight Arrow Connector 176"/>
              <p:cNvCxnSpPr>
                <a:stCxn id="171" idx="6"/>
                <a:endCxn id="172" idx="2"/>
              </p:cNvCxnSpPr>
              <p:nvPr/>
            </p:nvCxnSpPr>
            <p:spPr bwMode="auto">
              <a:xfrm>
                <a:off x="5631063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8" name="Straight Arrow Connector 177"/>
              <p:cNvCxnSpPr>
                <a:stCxn id="172" idx="6"/>
                <a:endCxn id="173" idx="2"/>
              </p:cNvCxnSpPr>
              <p:nvPr/>
            </p:nvCxnSpPr>
            <p:spPr bwMode="auto">
              <a:xfrm>
                <a:off x="6455714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9" name="Straight Arrow Connector 178"/>
              <p:cNvCxnSpPr>
                <a:stCxn id="172" idx="1"/>
                <a:endCxn id="174" idx="5"/>
              </p:cNvCxnSpPr>
              <p:nvPr/>
            </p:nvCxnSpPr>
            <p:spPr bwMode="auto">
              <a:xfrm rot="16200000" flipV="1">
                <a:off x="5870047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0" name="Straight Arrow Connector 179"/>
              <p:cNvCxnSpPr>
                <a:stCxn id="173" idx="7"/>
                <a:endCxn id="176" idx="3"/>
              </p:cNvCxnSpPr>
              <p:nvPr/>
            </p:nvCxnSpPr>
            <p:spPr bwMode="auto">
              <a:xfrm rot="5400000" flipH="1" flipV="1">
                <a:off x="7107022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1" name="Straight Arrow Connector 180"/>
              <p:cNvCxnSpPr>
                <a:stCxn id="173" idx="1"/>
                <a:endCxn id="175" idx="5"/>
              </p:cNvCxnSpPr>
              <p:nvPr/>
            </p:nvCxnSpPr>
            <p:spPr bwMode="auto">
              <a:xfrm rot="16200000" flipV="1">
                <a:off x="6694698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2" name="Straight Arrow Connector 181"/>
              <p:cNvCxnSpPr>
                <a:stCxn id="172" idx="7"/>
                <a:endCxn id="175" idx="3"/>
              </p:cNvCxnSpPr>
              <p:nvPr/>
            </p:nvCxnSpPr>
            <p:spPr bwMode="auto">
              <a:xfrm rot="5400000" flipH="1" flipV="1">
                <a:off x="6282371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grpSp>
            <p:nvGrpSpPr>
              <p:cNvPr id="18" name="Group 182"/>
              <p:cNvGrpSpPr/>
              <p:nvPr/>
            </p:nvGrpSpPr>
            <p:grpSpPr>
              <a:xfrm>
                <a:off x="6258950" y="2393031"/>
                <a:ext cx="1410722" cy="930249"/>
                <a:chOff x="2133600" y="2884114"/>
                <a:chExt cx="2542259" cy="1676400"/>
              </a:xfrm>
            </p:grpSpPr>
            <p:sp>
              <p:nvSpPr>
                <p:cNvPr id="185" name="Cube 184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6" name="Cube 185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8" name="Cube 187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2" name="Cube 191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9" name="Group 192"/>
              <p:cNvGrpSpPr/>
              <p:nvPr/>
            </p:nvGrpSpPr>
            <p:grpSpPr>
              <a:xfrm>
                <a:off x="6670818" y="2373097"/>
                <a:ext cx="839892" cy="594558"/>
                <a:chOff x="2875826" y="2848192"/>
                <a:chExt cx="1513567" cy="1071452"/>
              </a:xfrm>
            </p:grpSpPr>
            <p:sp>
              <p:nvSpPr>
                <p:cNvPr id="195" name="Cube 194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8" name="Cube 197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9" name="Cube 198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  <p:sp>
          <p:nvSpPr>
            <p:cNvPr id="254" name="TextBox 253"/>
            <p:cNvSpPr txBox="1"/>
            <p:nvPr/>
          </p:nvSpPr>
          <p:spPr>
            <a:xfrm>
              <a:off x="5029200" y="1219200"/>
              <a:ext cx="3048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Update Functions</a:t>
              </a:r>
            </a:p>
            <a:p>
              <a:pPr algn="ctr"/>
              <a:r>
                <a:rPr lang="en-US" sz="2800" i="1" dirty="0" smtClean="0"/>
                <a:t>User Computation</a:t>
              </a:r>
              <a:endParaRPr lang="en-US" sz="2800" i="1" dirty="0"/>
            </a:p>
          </p:txBody>
        </p:sp>
      </p:grpSp>
      <p:sp>
        <p:nvSpPr>
          <p:cNvPr id="4" name="Oval 3"/>
          <p:cNvSpPr/>
          <p:nvPr/>
        </p:nvSpPr>
        <p:spPr bwMode="auto">
          <a:xfrm>
            <a:off x="4521972" y="914047"/>
            <a:ext cx="4521973" cy="3465378"/>
          </a:xfrm>
          <a:prstGeom prst="ellipse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2510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27926E-6 2.21218E-6 L -0.22803 0.4547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10" y="227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PageRank Revisited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7" name="Group 7"/>
          <p:cNvGrpSpPr/>
          <p:nvPr/>
        </p:nvGrpSpPr>
        <p:grpSpPr>
          <a:xfrm>
            <a:off x="410231" y="1247472"/>
            <a:ext cx="7825719" cy="4524315"/>
            <a:chOff x="4232379" y="2542872"/>
            <a:chExt cx="5078356" cy="2615900"/>
          </a:xfrm>
        </p:grpSpPr>
        <p:sp>
          <p:nvSpPr>
            <p:cNvPr id="18" name="TextBox 17"/>
            <p:cNvSpPr txBox="1"/>
            <p:nvPr/>
          </p:nvSpPr>
          <p:spPr>
            <a:xfrm>
              <a:off x="4232379" y="2542872"/>
              <a:ext cx="4683021" cy="261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cs typeface="Consolas"/>
                </a:rPr>
                <a:t>Pagerank</a:t>
              </a:r>
              <a:r>
                <a:rPr lang="en-US" sz="3600" dirty="0" smtClean="0">
                  <a:cs typeface="Consolas"/>
                </a:rPr>
                <a:t>(scope) {</a:t>
              </a:r>
            </a:p>
            <a:p>
              <a:endParaRPr lang="en-US" sz="3600" dirty="0" smtClean="0">
                <a:cs typeface="Consolas"/>
              </a:endParaRPr>
            </a:p>
            <a:p>
              <a:endParaRPr lang="en-US" sz="3600" dirty="0">
                <a:cs typeface="Consolas"/>
              </a:endParaRP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 smtClean="0">
                  <a:cs typeface="Consolas"/>
                </a:rPr>
                <a:t>   </a:t>
              </a: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>
                  <a:cs typeface="Consolas"/>
                </a:rPr>
                <a:t> </a:t>
              </a:r>
              <a:r>
                <a:rPr lang="en-US" sz="3600" dirty="0" smtClean="0">
                  <a:cs typeface="Consolas"/>
                </a:rPr>
                <a:t>  …</a:t>
              </a:r>
            </a:p>
            <a:p>
              <a:r>
                <a:rPr lang="en-US" sz="3600" dirty="0" smtClean="0">
                  <a:cs typeface="Consolas"/>
                </a:rPr>
                <a:t>}</a:t>
              </a: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0982174"/>
                </p:ext>
              </p:extLst>
            </p:nvPr>
          </p:nvGraphicFramePr>
          <p:xfrm>
            <a:off x="4359695" y="2983388"/>
            <a:ext cx="4951040" cy="1464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83" name="Equation" r:id="rId4" imgW="3060700" imgH="889000" progId="Equation.3">
                    <p:embed/>
                  </p:oleObj>
                </mc:Choice>
                <mc:Fallback>
                  <p:oleObj name="Equation" r:id="rId4" imgW="30607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9695" y="2983388"/>
                          <a:ext cx="4951040" cy="14640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Rectangle 2"/>
          <p:cNvSpPr/>
          <p:nvPr/>
        </p:nvSpPr>
        <p:spPr bwMode="auto">
          <a:xfrm>
            <a:off x="557105" y="3982263"/>
            <a:ext cx="5856599" cy="752068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448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000" b="97625" l="9531" r="90000">
                        <a14:foregroundMark x1="35859" y1="34875" x2="35859" y2="34875"/>
                        <a14:foregroundMark x1="26250" y1="22125" x2="54531" y2="93750"/>
                        <a14:foregroundMark x1="21250" y1="14125" x2="21250" y2="14125"/>
                        <a14:foregroundMark x1="9531" y1="7500" x2="24531" y2="6862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987" y="1143000"/>
            <a:ext cx="9144000" cy="5715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50" b="97625" l="8828" r="91094">
                        <a14:foregroundMark x1="30547" y1="21500" x2="43906" y2="75750"/>
                        <a14:foregroundMark x1="58672" y1="22625" x2="72578" y2="81875"/>
                        <a14:foregroundMark x1="72422" y1="14625" x2="47813" y2="29500"/>
                        <a14:foregroundMark x1="13125" y1="8750" x2="32969" y2="84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987" y="1143000"/>
            <a:ext cx="9144000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Racing PageRank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698276" y="1099777"/>
            <a:ext cx="42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was actually encountered in user code.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39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4207332" y="2718397"/>
            <a:ext cx="1210600" cy="317477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2799" y="2082800"/>
            <a:ext cx="5171001" cy="3479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76697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7" name="Group 7"/>
          <p:cNvGrpSpPr/>
          <p:nvPr/>
        </p:nvGrpSpPr>
        <p:grpSpPr>
          <a:xfrm>
            <a:off x="410231" y="1247472"/>
            <a:ext cx="7825719" cy="4524315"/>
            <a:chOff x="4232379" y="2542872"/>
            <a:chExt cx="5078356" cy="2615900"/>
          </a:xfrm>
        </p:grpSpPr>
        <p:sp>
          <p:nvSpPr>
            <p:cNvPr id="18" name="TextBox 17"/>
            <p:cNvSpPr txBox="1"/>
            <p:nvPr/>
          </p:nvSpPr>
          <p:spPr>
            <a:xfrm>
              <a:off x="4232379" y="2542872"/>
              <a:ext cx="4683021" cy="261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cs typeface="Consolas"/>
                </a:rPr>
                <a:t>Pagerank</a:t>
              </a:r>
              <a:r>
                <a:rPr lang="en-US" sz="3600" dirty="0" smtClean="0">
                  <a:cs typeface="Consolas"/>
                </a:rPr>
                <a:t>(scope) {</a:t>
              </a:r>
            </a:p>
            <a:p>
              <a:endParaRPr lang="en-US" sz="3600" dirty="0" smtClean="0">
                <a:cs typeface="Consolas"/>
              </a:endParaRPr>
            </a:p>
            <a:p>
              <a:endParaRPr lang="en-US" sz="3600" dirty="0">
                <a:cs typeface="Consolas"/>
              </a:endParaRP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 smtClean="0">
                  <a:cs typeface="Consolas"/>
                </a:rPr>
                <a:t>   </a:t>
              </a: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>
                  <a:cs typeface="Consolas"/>
                </a:rPr>
                <a:t> </a:t>
              </a:r>
              <a:r>
                <a:rPr lang="en-US" sz="3600" dirty="0" smtClean="0">
                  <a:cs typeface="Consolas"/>
                </a:rPr>
                <a:t>  …</a:t>
              </a:r>
            </a:p>
            <a:p>
              <a:r>
                <a:rPr lang="en-US" sz="3600" dirty="0" smtClean="0">
                  <a:cs typeface="Consolas"/>
                </a:rPr>
                <a:t>}</a:t>
              </a: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9012871"/>
                </p:ext>
              </p:extLst>
            </p:nvPr>
          </p:nvGraphicFramePr>
          <p:xfrm>
            <a:off x="4359695" y="2983388"/>
            <a:ext cx="4951040" cy="1464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729" name="Equation" r:id="rId4" imgW="3060700" imgH="889000" progId="Equation.3">
                    <p:embed/>
                  </p:oleObj>
                </mc:Choice>
                <mc:Fallback>
                  <p:oleObj name="Equation" r:id="rId4" imgW="30607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9695" y="2983388"/>
                          <a:ext cx="4951040" cy="14640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Rectangle 2"/>
          <p:cNvSpPr/>
          <p:nvPr/>
        </p:nvSpPr>
        <p:spPr bwMode="auto">
          <a:xfrm>
            <a:off x="557105" y="3982263"/>
            <a:ext cx="5856599" cy="752068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10231" y="1816100"/>
            <a:ext cx="3399769" cy="2255063"/>
            <a:chOff x="410231" y="1816100"/>
            <a:chExt cx="3399769" cy="2255063"/>
          </a:xfrm>
        </p:grpSpPr>
        <p:sp>
          <p:nvSpPr>
            <p:cNvPr id="5" name="Oval 4"/>
            <p:cNvSpPr/>
            <p:nvPr/>
          </p:nvSpPr>
          <p:spPr bwMode="auto">
            <a:xfrm>
              <a:off x="410231" y="1816100"/>
              <a:ext cx="3044169" cy="939800"/>
            </a:xfrm>
            <a:prstGeom prst="ellips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765831" y="3131363"/>
              <a:ext cx="3044169" cy="939800"/>
            </a:xfrm>
            <a:prstGeom prst="ellips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495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7" name="Group 7"/>
          <p:cNvGrpSpPr/>
          <p:nvPr/>
        </p:nvGrpSpPr>
        <p:grpSpPr>
          <a:xfrm>
            <a:off x="410231" y="1247472"/>
            <a:ext cx="7825719" cy="4524315"/>
            <a:chOff x="4232379" y="2542872"/>
            <a:chExt cx="5078356" cy="2615900"/>
          </a:xfrm>
        </p:grpSpPr>
        <p:sp>
          <p:nvSpPr>
            <p:cNvPr id="18" name="TextBox 17"/>
            <p:cNvSpPr txBox="1"/>
            <p:nvPr/>
          </p:nvSpPr>
          <p:spPr>
            <a:xfrm>
              <a:off x="4232379" y="2542872"/>
              <a:ext cx="4683021" cy="26159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 err="1" smtClean="0">
                  <a:cs typeface="Consolas"/>
                </a:rPr>
                <a:t>Pagerank</a:t>
              </a:r>
              <a:r>
                <a:rPr lang="en-US" sz="3600" dirty="0" smtClean="0">
                  <a:cs typeface="Consolas"/>
                </a:rPr>
                <a:t>(scope) {</a:t>
              </a:r>
            </a:p>
            <a:p>
              <a:endParaRPr lang="en-US" sz="3600" dirty="0" smtClean="0">
                <a:cs typeface="Consolas"/>
              </a:endParaRPr>
            </a:p>
            <a:p>
              <a:endParaRPr lang="en-US" sz="3600" dirty="0">
                <a:cs typeface="Consolas"/>
              </a:endParaRP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 smtClean="0">
                  <a:cs typeface="Consolas"/>
                </a:rPr>
                <a:t>   </a:t>
              </a:r>
            </a:p>
            <a:p>
              <a:endParaRPr lang="en-US" sz="3600" dirty="0" smtClean="0">
                <a:cs typeface="Consolas"/>
              </a:endParaRPr>
            </a:p>
            <a:p>
              <a:r>
                <a:rPr lang="en-US" sz="3600" dirty="0">
                  <a:cs typeface="Consolas"/>
                </a:rPr>
                <a:t> </a:t>
              </a:r>
              <a:r>
                <a:rPr lang="en-US" sz="3600" dirty="0" smtClean="0">
                  <a:cs typeface="Consolas"/>
                </a:rPr>
                <a:t>  …</a:t>
              </a:r>
            </a:p>
            <a:p>
              <a:r>
                <a:rPr lang="en-US" sz="3600" dirty="0" smtClean="0">
                  <a:cs typeface="Consolas"/>
                </a:rPr>
                <a:t>}</a:t>
              </a:r>
            </a:p>
          </p:txBody>
        </p:sp>
        <p:graphicFrame>
          <p:nvGraphicFramePr>
            <p:cNvPr id="19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5463663"/>
                </p:ext>
              </p:extLst>
            </p:nvPr>
          </p:nvGraphicFramePr>
          <p:xfrm>
            <a:off x="4359695" y="2983388"/>
            <a:ext cx="4951040" cy="14640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705" name="Equation" r:id="rId4" imgW="3060700" imgH="889000" progId="Equation.3">
                    <p:embed/>
                  </p:oleObj>
                </mc:Choice>
                <mc:Fallback>
                  <p:oleObj name="Equation" r:id="rId4" imgW="3060700" imgH="889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9695" y="2983388"/>
                          <a:ext cx="4951040" cy="146400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TextBox 4"/>
          <p:cNvSpPr txBox="1"/>
          <p:nvPr/>
        </p:nvSpPr>
        <p:spPr>
          <a:xfrm>
            <a:off x="643414" y="2009364"/>
            <a:ext cx="2586963" cy="5232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 smtClean="0"/>
              <a:t>tmp</a:t>
            </a:r>
            <a:endParaRPr lang="en-US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1017747" y="3283702"/>
            <a:ext cx="2586963" cy="5232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2800" dirty="0" err="1" smtClean="0"/>
              <a:t>tmp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8302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Throughput !</a:t>
            </a:r>
            <a:r>
              <a:rPr lang="en-US" dirty="0" smtClean="0"/>
              <a:t>= Performance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014544406"/>
              </p:ext>
            </p:extLst>
          </p:nvPr>
        </p:nvGraphicFramePr>
        <p:xfrm>
          <a:off x="1143000" y="1219200"/>
          <a:ext cx="68580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11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11F2A4-8491-C049-BF1C-F99FD29E17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5911F2A4-8491-C049-BF1C-F99FD29E172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0B5F66C-5288-9D49-B866-4DD2852D06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graphicEl>
                                              <a:dgm id="{E0B5F66C-5288-9D49-B866-4DD2852D06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2D7F1E-5B05-8A45-9891-72C4758740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>
                                            <p:graphicEl>
                                              <a:dgm id="{2B2D7F1E-5B05-8A45-9891-72C4758740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81B9259-28EF-094B-8BC6-5A5F740C8C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881B9259-28EF-094B-8BC6-5A5F740C8C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76200"/>
            <a:ext cx="7896224" cy="762000"/>
          </a:xfrm>
        </p:spPr>
        <p:txBody>
          <a:bodyPr/>
          <a:lstStyle/>
          <a:p>
            <a:r>
              <a:rPr lang="en-US" sz="4000" dirty="0" smtClean="0"/>
              <a:t>Racing </a:t>
            </a:r>
            <a:r>
              <a:rPr lang="en-US" sz="4000" dirty="0" smtClean="0"/>
              <a:t>Collaborative Filtering</a:t>
            </a:r>
            <a:endParaRPr lang="en-US" sz="4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537982"/>
              </p:ext>
            </p:extLst>
          </p:nvPr>
        </p:nvGraphicFramePr>
        <p:xfrm>
          <a:off x="186267" y="1047750"/>
          <a:ext cx="8852958" cy="573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22527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Chart bld="series"/>
        </p:bldSub>
      </p:bldGraphic>
      <p:bldGraphic spid="11" grpId="1" uiExpand="1">
        <p:bldSub>
          <a:bldChart bld="series"/>
        </p:bldSub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/>
          <p:cNvCxnSpPr/>
          <p:nvPr/>
        </p:nvCxnSpPr>
        <p:spPr bwMode="auto">
          <a:xfrm>
            <a:off x="3589522" y="6182583"/>
            <a:ext cx="4640078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Serializability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2438" y="990600"/>
            <a:ext cx="822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For </a:t>
            </a:r>
            <a:r>
              <a:rPr lang="en-US" sz="2400" b="1" dirty="0" smtClean="0"/>
              <a:t>every parallel execution</a:t>
            </a:r>
            <a:r>
              <a:rPr lang="en-US" sz="2400" dirty="0" smtClean="0"/>
              <a:t>, there exists a </a:t>
            </a:r>
            <a:r>
              <a:rPr lang="en-US" sz="2400" b="1" dirty="0" smtClean="0"/>
              <a:t>sequential execution </a:t>
            </a:r>
            <a:r>
              <a:rPr lang="en-US" sz="2400" dirty="0" smtClean="0"/>
              <a:t>of update functions which produces the same result. 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611020" y="5078534"/>
            <a:ext cx="461858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3611020" y="4180910"/>
            <a:ext cx="4618580" cy="1588"/>
          </a:xfrm>
          <a:prstGeom prst="line">
            <a:avLst/>
          </a:prstGeom>
          <a:noFill/>
          <a:ln w="38100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 w="lg" len="lg"/>
          </a:ln>
          <a:effectLst/>
        </p:spPr>
      </p:cxnSp>
      <p:sp>
        <p:nvSpPr>
          <p:cNvPr id="8" name="Rounded Rectangle 7"/>
          <p:cNvSpPr/>
          <p:nvPr/>
        </p:nvSpPr>
        <p:spPr bwMode="auto">
          <a:xfrm>
            <a:off x="2017785" y="3789363"/>
            <a:ext cx="1452675" cy="7317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2051983" y="4720541"/>
            <a:ext cx="1452675" cy="7317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  <a:r>
              <a:rPr kumimoji="0" 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0" name="Oval 4"/>
          <p:cNvSpPr/>
          <p:nvPr/>
        </p:nvSpPr>
        <p:spPr bwMode="auto">
          <a:xfrm>
            <a:off x="5433473" y="3976218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1" name="Oval 10"/>
          <p:cNvSpPr/>
          <p:nvPr/>
        </p:nvSpPr>
        <p:spPr bwMode="auto">
          <a:xfrm>
            <a:off x="3970595" y="4900734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2" name="Oval 4"/>
          <p:cNvSpPr/>
          <p:nvPr/>
        </p:nvSpPr>
        <p:spPr bwMode="auto">
          <a:xfrm>
            <a:off x="4635400" y="4900734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3" name="Oval 4"/>
          <p:cNvSpPr/>
          <p:nvPr/>
        </p:nvSpPr>
        <p:spPr bwMode="auto">
          <a:xfrm>
            <a:off x="5933994" y="4900734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4" name="Oval 4"/>
          <p:cNvSpPr/>
          <p:nvPr/>
        </p:nvSpPr>
        <p:spPr bwMode="auto">
          <a:xfrm>
            <a:off x="5933994" y="3976218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5" name="Oval 4"/>
          <p:cNvSpPr/>
          <p:nvPr/>
        </p:nvSpPr>
        <p:spPr bwMode="auto">
          <a:xfrm>
            <a:off x="3970595" y="3976218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2051983" y="5836806"/>
            <a:ext cx="1452675" cy="7317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Single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238" y="4349929"/>
            <a:ext cx="11499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Parallel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76238" y="5925706"/>
            <a:ext cx="1599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Sequential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047385" y="3769668"/>
            <a:ext cx="778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4495800" y="2514600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3" name="Oval 4"/>
          <p:cNvSpPr/>
          <p:nvPr/>
        </p:nvSpPr>
        <p:spPr bwMode="auto">
          <a:xfrm>
            <a:off x="6096000" y="2514600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4" name="Oval 4"/>
          <p:cNvSpPr/>
          <p:nvPr/>
        </p:nvSpPr>
        <p:spPr bwMode="auto">
          <a:xfrm>
            <a:off x="3048000" y="2514600"/>
            <a:ext cx="373711" cy="373711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25" name="Straight Connector 24"/>
          <p:cNvCxnSpPr/>
          <p:nvPr/>
        </p:nvCxnSpPr>
        <p:spPr bwMode="auto">
          <a:xfrm>
            <a:off x="3421711" y="2701455"/>
            <a:ext cx="1074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 bwMode="auto">
          <a:xfrm rot="10800000">
            <a:off x="4869512" y="2701455"/>
            <a:ext cx="12264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/>
          <p:cNvGrpSpPr/>
          <p:nvPr/>
        </p:nvGrpSpPr>
        <p:grpSpPr>
          <a:xfrm>
            <a:off x="3971925" y="3979069"/>
            <a:ext cx="2337110" cy="1298227"/>
            <a:chOff x="4122995" y="4128618"/>
            <a:chExt cx="2337110" cy="1298227"/>
          </a:xfrm>
        </p:grpSpPr>
        <p:sp>
          <p:nvSpPr>
            <p:cNvPr id="34" name="Oval 4"/>
            <p:cNvSpPr/>
            <p:nvPr/>
          </p:nvSpPr>
          <p:spPr bwMode="auto">
            <a:xfrm>
              <a:off x="5585873" y="4128618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5" name="Oval 34"/>
            <p:cNvSpPr/>
            <p:nvPr/>
          </p:nvSpPr>
          <p:spPr bwMode="auto">
            <a:xfrm>
              <a:off x="4122995" y="5053134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6" name="Oval 4"/>
            <p:cNvSpPr/>
            <p:nvPr/>
          </p:nvSpPr>
          <p:spPr bwMode="auto">
            <a:xfrm>
              <a:off x="4787800" y="5053134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7" name="Oval 4"/>
            <p:cNvSpPr/>
            <p:nvPr/>
          </p:nvSpPr>
          <p:spPr bwMode="auto">
            <a:xfrm>
              <a:off x="6086394" y="5053134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8" name="Oval 4"/>
            <p:cNvSpPr/>
            <p:nvPr/>
          </p:nvSpPr>
          <p:spPr bwMode="auto">
            <a:xfrm>
              <a:off x="6086394" y="4128618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9" name="Oval 4"/>
            <p:cNvSpPr/>
            <p:nvPr/>
          </p:nvSpPr>
          <p:spPr bwMode="auto">
            <a:xfrm>
              <a:off x="4122995" y="4128618"/>
              <a:ext cx="373711" cy="37371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sp>
        <p:nvSpPr>
          <p:cNvPr id="29" name="Rectangle 28"/>
          <p:cNvSpPr/>
          <p:nvPr/>
        </p:nvSpPr>
        <p:spPr bwMode="auto">
          <a:xfrm>
            <a:off x="3581400" y="3657600"/>
            <a:ext cx="5356040" cy="2779146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948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44444E-6 L -0.03195 0.29167 " pathEditMode="relative" rAng="0" ptsTypes="AA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0" y="146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4479 0.1574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0" y="790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33333E-6 L 0.03316 0.15694 " pathEditMode="relative" rAng="0" ptsTypes="AA"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0" y="780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44444E-6 L 0.02361 0.2919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0" y="1460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0.04948 0.29167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146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3.33333E-6 L 0.09879 0.15671 " pathEditMode="relative" rAng="0" ptsTypes="AA">
                                      <p:cBhvr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00" y="7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animBg="1"/>
      <p:bldP spid="20" grpId="0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roup 163"/>
          <p:cNvGrpSpPr/>
          <p:nvPr/>
        </p:nvGrpSpPr>
        <p:grpSpPr>
          <a:xfrm>
            <a:off x="2068713" y="1528991"/>
            <a:ext cx="4410578" cy="4218211"/>
            <a:chOff x="2068713" y="1780613"/>
            <a:chExt cx="4410578" cy="4218211"/>
          </a:xfrm>
        </p:grpSpPr>
        <p:sp>
          <p:nvSpPr>
            <p:cNvPr id="157" name="Rounded Rectangle 156"/>
            <p:cNvSpPr/>
            <p:nvPr/>
          </p:nvSpPr>
          <p:spPr bwMode="auto">
            <a:xfrm>
              <a:off x="2068713" y="4448706"/>
              <a:ext cx="2362200" cy="990600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5" name="Rounded Rectangle 154"/>
            <p:cNvSpPr/>
            <p:nvPr/>
          </p:nvSpPr>
          <p:spPr bwMode="auto">
            <a:xfrm>
              <a:off x="2068713" y="1780613"/>
              <a:ext cx="2362200" cy="990600"/>
            </a:xfrm>
            <a:prstGeom prst="roundRect">
              <a:avLst>
                <a:gd name="adj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56" name="Freeform 155"/>
            <p:cNvSpPr/>
            <p:nvPr/>
          </p:nvSpPr>
          <p:spPr bwMode="auto">
            <a:xfrm rot="7312094">
              <a:off x="3590874" y="3110407"/>
              <a:ext cx="3340383" cy="2436451"/>
            </a:xfrm>
            <a:custGeom>
              <a:avLst/>
              <a:gdLst>
                <a:gd name="connsiteX0" fmla="*/ 1930400 w 3149600"/>
                <a:gd name="connsiteY0" fmla="*/ 159926 h 2455333"/>
                <a:gd name="connsiteX1" fmla="*/ 237067 w 3149600"/>
                <a:gd name="connsiteY1" fmla="*/ 193793 h 2455333"/>
                <a:gd name="connsiteX2" fmla="*/ 508000 w 3149600"/>
                <a:gd name="connsiteY2" fmla="*/ 1322682 h 2455333"/>
                <a:gd name="connsiteX3" fmla="*/ 993423 w 3149600"/>
                <a:gd name="connsiteY3" fmla="*/ 2304815 h 2455333"/>
                <a:gd name="connsiteX4" fmla="*/ 1569156 w 3149600"/>
                <a:gd name="connsiteY4" fmla="*/ 2225793 h 2455333"/>
                <a:gd name="connsiteX5" fmla="*/ 1919111 w 3149600"/>
                <a:gd name="connsiteY5" fmla="*/ 1175926 h 2455333"/>
                <a:gd name="connsiteX6" fmla="*/ 2291645 w 3149600"/>
                <a:gd name="connsiteY6" fmla="*/ 2135482 h 2455333"/>
                <a:gd name="connsiteX7" fmla="*/ 2889956 w 3149600"/>
                <a:gd name="connsiteY7" fmla="*/ 2304815 h 2455333"/>
                <a:gd name="connsiteX8" fmla="*/ 3081867 w 3149600"/>
                <a:gd name="connsiteY8" fmla="*/ 1841970 h 2455333"/>
                <a:gd name="connsiteX9" fmla="*/ 2483556 w 3149600"/>
                <a:gd name="connsiteY9" fmla="*/ 600193 h 2455333"/>
                <a:gd name="connsiteX10" fmla="*/ 1930400 w 3149600"/>
                <a:gd name="connsiteY10" fmla="*/ 159926 h 2455333"/>
                <a:gd name="connsiteX0" fmla="*/ 1969911 w 3155244"/>
                <a:gd name="connsiteY0" fmla="*/ 96426 h 2468033"/>
                <a:gd name="connsiteX1" fmla="*/ 242711 w 3155244"/>
                <a:gd name="connsiteY1" fmla="*/ 206493 h 2468033"/>
                <a:gd name="connsiteX2" fmla="*/ 513644 w 3155244"/>
                <a:gd name="connsiteY2" fmla="*/ 1335382 h 2468033"/>
                <a:gd name="connsiteX3" fmla="*/ 999067 w 3155244"/>
                <a:gd name="connsiteY3" fmla="*/ 2317515 h 2468033"/>
                <a:gd name="connsiteX4" fmla="*/ 1574800 w 3155244"/>
                <a:gd name="connsiteY4" fmla="*/ 2238493 h 2468033"/>
                <a:gd name="connsiteX5" fmla="*/ 1924755 w 3155244"/>
                <a:gd name="connsiteY5" fmla="*/ 1188626 h 2468033"/>
                <a:gd name="connsiteX6" fmla="*/ 2297289 w 3155244"/>
                <a:gd name="connsiteY6" fmla="*/ 2148182 h 2468033"/>
                <a:gd name="connsiteX7" fmla="*/ 2895600 w 3155244"/>
                <a:gd name="connsiteY7" fmla="*/ 2317515 h 2468033"/>
                <a:gd name="connsiteX8" fmla="*/ 3087511 w 3155244"/>
                <a:gd name="connsiteY8" fmla="*/ 1854670 h 2468033"/>
                <a:gd name="connsiteX9" fmla="*/ 2489200 w 3155244"/>
                <a:gd name="connsiteY9" fmla="*/ 612893 h 2468033"/>
                <a:gd name="connsiteX10" fmla="*/ 1969911 w 3155244"/>
                <a:gd name="connsiteY10" fmla="*/ 96426 h 2468033"/>
                <a:gd name="connsiteX0" fmla="*/ 1969911 w 3165592"/>
                <a:gd name="connsiteY0" fmla="*/ 96426 h 2468033"/>
                <a:gd name="connsiteX1" fmla="*/ 242711 w 3165592"/>
                <a:gd name="connsiteY1" fmla="*/ 206493 h 2468033"/>
                <a:gd name="connsiteX2" fmla="*/ 513644 w 3165592"/>
                <a:gd name="connsiteY2" fmla="*/ 1335382 h 2468033"/>
                <a:gd name="connsiteX3" fmla="*/ 999067 w 3165592"/>
                <a:gd name="connsiteY3" fmla="*/ 2317515 h 2468033"/>
                <a:gd name="connsiteX4" fmla="*/ 1574800 w 3165592"/>
                <a:gd name="connsiteY4" fmla="*/ 2238493 h 2468033"/>
                <a:gd name="connsiteX5" fmla="*/ 1924755 w 3165592"/>
                <a:gd name="connsiteY5" fmla="*/ 1188626 h 2468033"/>
                <a:gd name="connsiteX6" fmla="*/ 2297289 w 3165592"/>
                <a:gd name="connsiteY6" fmla="*/ 2148182 h 2468033"/>
                <a:gd name="connsiteX7" fmla="*/ 2895600 w 3165592"/>
                <a:gd name="connsiteY7" fmla="*/ 2317515 h 2468033"/>
                <a:gd name="connsiteX8" fmla="*/ 3087511 w 3165592"/>
                <a:gd name="connsiteY8" fmla="*/ 1854670 h 2468033"/>
                <a:gd name="connsiteX9" fmla="*/ 2427111 w 3165592"/>
                <a:gd name="connsiteY9" fmla="*/ 477426 h 2468033"/>
                <a:gd name="connsiteX10" fmla="*/ 1969911 w 3165592"/>
                <a:gd name="connsiteY10" fmla="*/ 96426 h 2468033"/>
                <a:gd name="connsiteX0" fmla="*/ 1881011 w 3152892"/>
                <a:gd name="connsiteY0" fmla="*/ 96426 h 2468033"/>
                <a:gd name="connsiteX1" fmla="*/ 230011 w 3152892"/>
                <a:gd name="connsiteY1" fmla="*/ 206493 h 2468033"/>
                <a:gd name="connsiteX2" fmla="*/ 500944 w 3152892"/>
                <a:gd name="connsiteY2" fmla="*/ 1335382 h 2468033"/>
                <a:gd name="connsiteX3" fmla="*/ 986367 w 3152892"/>
                <a:gd name="connsiteY3" fmla="*/ 2317515 h 2468033"/>
                <a:gd name="connsiteX4" fmla="*/ 1562100 w 3152892"/>
                <a:gd name="connsiteY4" fmla="*/ 2238493 h 2468033"/>
                <a:gd name="connsiteX5" fmla="*/ 1912055 w 3152892"/>
                <a:gd name="connsiteY5" fmla="*/ 1188626 h 2468033"/>
                <a:gd name="connsiteX6" fmla="*/ 2284589 w 3152892"/>
                <a:gd name="connsiteY6" fmla="*/ 2148182 h 2468033"/>
                <a:gd name="connsiteX7" fmla="*/ 2882900 w 3152892"/>
                <a:gd name="connsiteY7" fmla="*/ 2317515 h 2468033"/>
                <a:gd name="connsiteX8" fmla="*/ 3074811 w 3152892"/>
                <a:gd name="connsiteY8" fmla="*/ 1854670 h 2468033"/>
                <a:gd name="connsiteX9" fmla="*/ 2414411 w 3152892"/>
                <a:gd name="connsiteY9" fmla="*/ 477426 h 2468033"/>
                <a:gd name="connsiteX10" fmla="*/ 1881011 w 3152892"/>
                <a:gd name="connsiteY10" fmla="*/ 96426 h 24680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7921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92111 w 3063992"/>
                <a:gd name="connsiteY11" fmla="*/ 50800 h 2422407"/>
                <a:gd name="connsiteX0" fmla="*/ 17159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15911 w 3063992"/>
                <a:gd name="connsiteY11" fmla="*/ 50800 h 2422407"/>
                <a:gd name="connsiteX0" fmla="*/ 1779411 w 3127492"/>
                <a:gd name="connsiteY0" fmla="*/ 38100 h 2409707"/>
                <a:gd name="connsiteX1" fmla="*/ 1093611 w 3127492"/>
                <a:gd name="connsiteY1" fmla="*/ 190500 h 2409707"/>
                <a:gd name="connsiteX2" fmla="*/ 103011 w 3127492"/>
                <a:gd name="connsiteY2" fmla="*/ 266700 h 2409707"/>
                <a:gd name="connsiteX3" fmla="*/ 475544 w 3127492"/>
                <a:gd name="connsiteY3" fmla="*/ 1277056 h 2409707"/>
                <a:gd name="connsiteX4" fmla="*/ 960967 w 3127492"/>
                <a:gd name="connsiteY4" fmla="*/ 2259189 h 2409707"/>
                <a:gd name="connsiteX5" fmla="*/ 1536700 w 3127492"/>
                <a:gd name="connsiteY5" fmla="*/ 2180167 h 2409707"/>
                <a:gd name="connsiteX6" fmla="*/ 1886655 w 3127492"/>
                <a:gd name="connsiteY6" fmla="*/ 1130300 h 2409707"/>
                <a:gd name="connsiteX7" fmla="*/ 2259189 w 3127492"/>
                <a:gd name="connsiteY7" fmla="*/ 2089856 h 2409707"/>
                <a:gd name="connsiteX8" fmla="*/ 2857500 w 3127492"/>
                <a:gd name="connsiteY8" fmla="*/ 2259189 h 2409707"/>
                <a:gd name="connsiteX9" fmla="*/ 3049411 w 3127492"/>
                <a:gd name="connsiteY9" fmla="*/ 1796344 h 2409707"/>
                <a:gd name="connsiteX10" fmla="*/ 2389011 w 3127492"/>
                <a:gd name="connsiteY10" fmla="*/ 419100 h 2409707"/>
                <a:gd name="connsiteX11" fmla="*/ 1779411 w 3127492"/>
                <a:gd name="connsiteY11" fmla="*/ 38100 h 2409707"/>
                <a:gd name="connsiteX0" fmla="*/ 1855611 w 3127492"/>
                <a:gd name="connsiteY0" fmla="*/ 38100 h 2333507"/>
                <a:gd name="connsiteX1" fmla="*/ 1093611 w 3127492"/>
                <a:gd name="connsiteY1" fmla="*/ 114300 h 2333507"/>
                <a:gd name="connsiteX2" fmla="*/ 103011 w 3127492"/>
                <a:gd name="connsiteY2" fmla="*/ 190500 h 2333507"/>
                <a:gd name="connsiteX3" fmla="*/ 475544 w 3127492"/>
                <a:gd name="connsiteY3" fmla="*/ 1200856 h 2333507"/>
                <a:gd name="connsiteX4" fmla="*/ 960967 w 3127492"/>
                <a:gd name="connsiteY4" fmla="*/ 2182989 h 2333507"/>
                <a:gd name="connsiteX5" fmla="*/ 1536700 w 3127492"/>
                <a:gd name="connsiteY5" fmla="*/ 2103967 h 2333507"/>
                <a:gd name="connsiteX6" fmla="*/ 1886655 w 3127492"/>
                <a:gd name="connsiteY6" fmla="*/ 1054100 h 2333507"/>
                <a:gd name="connsiteX7" fmla="*/ 2259189 w 3127492"/>
                <a:gd name="connsiteY7" fmla="*/ 2013656 h 2333507"/>
                <a:gd name="connsiteX8" fmla="*/ 2857500 w 3127492"/>
                <a:gd name="connsiteY8" fmla="*/ 2182989 h 2333507"/>
                <a:gd name="connsiteX9" fmla="*/ 3049411 w 3127492"/>
                <a:gd name="connsiteY9" fmla="*/ 1720144 h 2333507"/>
                <a:gd name="connsiteX10" fmla="*/ 2389011 w 3127492"/>
                <a:gd name="connsiteY10" fmla="*/ 342900 h 2333507"/>
                <a:gd name="connsiteX11" fmla="*/ 1855611 w 3127492"/>
                <a:gd name="connsiteY11" fmla="*/ 38100 h 2333507"/>
                <a:gd name="connsiteX0" fmla="*/ 1765300 w 3037181"/>
                <a:gd name="connsiteY0" fmla="*/ 38100 h 2374900"/>
                <a:gd name="connsiteX1" fmla="*/ 1003300 w 3037181"/>
                <a:gd name="connsiteY1" fmla="*/ 114300 h 2374900"/>
                <a:gd name="connsiteX2" fmla="*/ 12700 w 3037181"/>
                <a:gd name="connsiteY2" fmla="*/ 190500 h 2374900"/>
                <a:gd name="connsiteX3" fmla="*/ 1079500 w 3037181"/>
                <a:gd name="connsiteY3" fmla="*/ 952500 h 2374900"/>
                <a:gd name="connsiteX4" fmla="*/ 870656 w 3037181"/>
                <a:gd name="connsiteY4" fmla="*/ 2182989 h 2374900"/>
                <a:gd name="connsiteX5" fmla="*/ 1446389 w 3037181"/>
                <a:gd name="connsiteY5" fmla="*/ 2103967 h 2374900"/>
                <a:gd name="connsiteX6" fmla="*/ 1796344 w 3037181"/>
                <a:gd name="connsiteY6" fmla="*/ 1054100 h 2374900"/>
                <a:gd name="connsiteX7" fmla="*/ 2168878 w 3037181"/>
                <a:gd name="connsiteY7" fmla="*/ 2013656 h 2374900"/>
                <a:gd name="connsiteX8" fmla="*/ 2767189 w 3037181"/>
                <a:gd name="connsiteY8" fmla="*/ 2182989 h 2374900"/>
                <a:gd name="connsiteX9" fmla="*/ 2959100 w 3037181"/>
                <a:gd name="connsiteY9" fmla="*/ 1720144 h 2374900"/>
                <a:gd name="connsiteX10" fmla="*/ 2298700 w 3037181"/>
                <a:gd name="connsiteY10" fmla="*/ 342900 h 2374900"/>
                <a:gd name="connsiteX11" fmla="*/ 1765300 w 3037181"/>
                <a:gd name="connsiteY11" fmla="*/ 38100 h 2374900"/>
                <a:gd name="connsiteX0" fmla="*/ 1765300 w 3037181"/>
                <a:gd name="connsiteY0" fmla="*/ 38100 h 2239433"/>
                <a:gd name="connsiteX1" fmla="*/ 1003300 w 3037181"/>
                <a:gd name="connsiteY1" fmla="*/ 114300 h 2239433"/>
                <a:gd name="connsiteX2" fmla="*/ 12700 w 3037181"/>
                <a:gd name="connsiteY2" fmla="*/ 190500 h 2239433"/>
                <a:gd name="connsiteX3" fmla="*/ 1079500 w 3037181"/>
                <a:gd name="connsiteY3" fmla="*/ 952500 h 2239433"/>
                <a:gd name="connsiteX4" fmla="*/ 698500 w 3037181"/>
                <a:gd name="connsiteY4" fmla="*/ 1866899 h 2239433"/>
                <a:gd name="connsiteX5" fmla="*/ 1446389 w 3037181"/>
                <a:gd name="connsiteY5" fmla="*/ 2103967 h 2239433"/>
                <a:gd name="connsiteX6" fmla="*/ 1796344 w 3037181"/>
                <a:gd name="connsiteY6" fmla="*/ 1054100 h 2239433"/>
                <a:gd name="connsiteX7" fmla="*/ 2168878 w 3037181"/>
                <a:gd name="connsiteY7" fmla="*/ 2013656 h 2239433"/>
                <a:gd name="connsiteX8" fmla="*/ 2767189 w 3037181"/>
                <a:gd name="connsiteY8" fmla="*/ 2182989 h 2239433"/>
                <a:gd name="connsiteX9" fmla="*/ 2959100 w 3037181"/>
                <a:gd name="connsiteY9" fmla="*/ 1720144 h 2239433"/>
                <a:gd name="connsiteX10" fmla="*/ 2298700 w 3037181"/>
                <a:gd name="connsiteY10" fmla="*/ 342900 h 2239433"/>
                <a:gd name="connsiteX11" fmla="*/ 1765300 w 3037181"/>
                <a:gd name="connsiteY11" fmla="*/ 38100 h 2239433"/>
                <a:gd name="connsiteX0" fmla="*/ 1765300 w 3037181"/>
                <a:gd name="connsiteY0" fmla="*/ 38100 h 2231908"/>
                <a:gd name="connsiteX1" fmla="*/ 1003300 w 3037181"/>
                <a:gd name="connsiteY1" fmla="*/ 114300 h 2231908"/>
                <a:gd name="connsiteX2" fmla="*/ 12700 w 3037181"/>
                <a:gd name="connsiteY2" fmla="*/ 190500 h 2231908"/>
                <a:gd name="connsiteX3" fmla="*/ 1079500 w 3037181"/>
                <a:gd name="connsiteY3" fmla="*/ 952500 h 2231908"/>
                <a:gd name="connsiteX4" fmla="*/ 698500 w 3037181"/>
                <a:gd name="connsiteY4" fmla="*/ 1866899 h 2231908"/>
                <a:gd name="connsiteX5" fmla="*/ 1384300 w 3037181"/>
                <a:gd name="connsiteY5" fmla="*/ 2095500 h 2231908"/>
                <a:gd name="connsiteX6" fmla="*/ 1796344 w 3037181"/>
                <a:gd name="connsiteY6" fmla="*/ 1054100 h 2231908"/>
                <a:gd name="connsiteX7" fmla="*/ 2168878 w 3037181"/>
                <a:gd name="connsiteY7" fmla="*/ 2013656 h 2231908"/>
                <a:gd name="connsiteX8" fmla="*/ 2767189 w 3037181"/>
                <a:gd name="connsiteY8" fmla="*/ 2182989 h 2231908"/>
                <a:gd name="connsiteX9" fmla="*/ 2959100 w 3037181"/>
                <a:gd name="connsiteY9" fmla="*/ 1720144 h 2231908"/>
                <a:gd name="connsiteX10" fmla="*/ 2298700 w 3037181"/>
                <a:gd name="connsiteY10" fmla="*/ 342900 h 2231908"/>
                <a:gd name="connsiteX11" fmla="*/ 1765300 w 3037181"/>
                <a:gd name="connsiteY11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51741 h 2245549"/>
                <a:gd name="connsiteX1" fmla="*/ 1092200 w 3126081"/>
                <a:gd name="connsiteY1" fmla="*/ 127941 h 2245549"/>
                <a:gd name="connsiteX2" fmla="*/ 101600 w 3126081"/>
                <a:gd name="connsiteY2" fmla="*/ 204141 h 2245549"/>
                <a:gd name="connsiteX3" fmla="*/ 177800 w 3126081"/>
                <a:gd name="connsiteY3" fmla="*/ 661341 h 2245549"/>
                <a:gd name="connsiteX4" fmla="*/ 1168400 w 3126081"/>
                <a:gd name="connsiteY4" fmla="*/ 966141 h 2245549"/>
                <a:gd name="connsiteX5" fmla="*/ 787400 w 3126081"/>
                <a:gd name="connsiteY5" fmla="*/ 1880540 h 2245549"/>
                <a:gd name="connsiteX6" fmla="*/ 1473200 w 3126081"/>
                <a:gd name="connsiteY6" fmla="*/ 2109141 h 2245549"/>
                <a:gd name="connsiteX7" fmla="*/ 1885244 w 3126081"/>
                <a:gd name="connsiteY7" fmla="*/ 1067741 h 2245549"/>
                <a:gd name="connsiteX8" fmla="*/ 2257778 w 3126081"/>
                <a:gd name="connsiteY8" fmla="*/ 2027297 h 2245549"/>
                <a:gd name="connsiteX9" fmla="*/ 2856089 w 3126081"/>
                <a:gd name="connsiteY9" fmla="*/ 2196630 h 2245549"/>
                <a:gd name="connsiteX10" fmla="*/ 3048000 w 3126081"/>
                <a:gd name="connsiteY10" fmla="*/ 1733785 h 2245549"/>
                <a:gd name="connsiteX11" fmla="*/ 2387600 w 3126081"/>
                <a:gd name="connsiteY11" fmla="*/ 280341 h 2245549"/>
                <a:gd name="connsiteX12" fmla="*/ 1854200 w 3126081"/>
                <a:gd name="connsiteY12" fmla="*/ 51741 h 2245549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98931 w 3147012"/>
                <a:gd name="connsiteY0" fmla="*/ 25400 h 2295407"/>
                <a:gd name="connsiteX1" fmla="*/ 1113131 w 3147012"/>
                <a:gd name="connsiteY1" fmla="*/ 177799 h 2295407"/>
                <a:gd name="connsiteX2" fmla="*/ 122531 w 3147012"/>
                <a:gd name="connsiteY2" fmla="*/ 253999 h 2295407"/>
                <a:gd name="connsiteX3" fmla="*/ 198731 w 3147012"/>
                <a:gd name="connsiteY3" fmla="*/ 711199 h 2295407"/>
                <a:gd name="connsiteX4" fmla="*/ 1189331 w 3147012"/>
                <a:gd name="connsiteY4" fmla="*/ 1015999 h 2295407"/>
                <a:gd name="connsiteX5" fmla="*/ 808331 w 3147012"/>
                <a:gd name="connsiteY5" fmla="*/ 1930398 h 2295407"/>
                <a:gd name="connsiteX6" fmla="*/ 1494131 w 3147012"/>
                <a:gd name="connsiteY6" fmla="*/ 2158999 h 2295407"/>
                <a:gd name="connsiteX7" fmla="*/ 1906175 w 3147012"/>
                <a:gd name="connsiteY7" fmla="*/ 1117599 h 2295407"/>
                <a:gd name="connsiteX8" fmla="*/ 2278709 w 3147012"/>
                <a:gd name="connsiteY8" fmla="*/ 2077155 h 2295407"/>
                <a:gd name="connsiteX9" fmla="*/ 2877020 w 3147012"/>
                <a:gd name="connsiteY9" fmla="*/ 2246488 h 2295407"/>
                <a:gd name="connsiteX10" fmla="*/ 3068931 w 3147012"/>
                <a:gd name="connsiteY10" fmla="*/ 1783643 h 2295407"/>
                <a:gd name="connsiteX11" fmla="*/ 2408531 w 3147012"/>
                <a:gd name="connsiteY11" fmla="*/ 330199 h 2295407"/>
                <a:gd name="connsiteX12" fmla="*/ 1798931 w 3147012"/>
                <a:gd name="connsiteY12" fmla="*/ 25400 h 229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7012" h="2295407">
                  <a:moveTo>
                    <a:pt x="1798931" y="25400"/>
                  </a:moveTo>
                  <a:cubicBezTo>
                    <a:pt x="1583031" y="0"/>
                    <a:pt x="1467320" y="173566"/>
                    <a:pt x="1113131" y="177799"/>
                  </a:cubicBezTo>
                  <a:cubicBezTo>
                    <a:pt x="837964" y="196143"/>
                    <a:pt x="332081" y="76199"/>
                    <a:pt x="122531" y="253999"/>
                  </a:cubicBezTo>
                  <a:cubicBezTo>
                    <a:pt x="0" y="433210"/>
                    <a:pt x="20931" y="584199"/>
                    <a:pt x="198731" y="711199"/>
                  </a:cubicBezTo>
                  <a:cubicBezTo>
                    <a:pt x="376531" y="838199"/>
                    <a:pt x="1087731" y="812799"/>
                    <a:pt x="1189331" y="1015999"/>
                  </a:cubicBezTo>
                  <a:cubicBezTo>
                    <a:pt x="1290931" y="1219199"/>
                    <a:pt x="757531" y="1739898"/>
                    <a:pt x="808331" y="1930398"/>
                  </a:cubicBezTo>
                  <a:cubicBezTo>
                    <a:pt x="859131" y="2120898"/>
                    <a:pt x="1311157" y="2294465"/>
                    <a:pt x="1494131" y="2158999"/>
                  </a:cubicBezTo>
                  <a:cubicBezTo>
                    <a:pt x="1677105" y="2023533"/>
                    <a:pt x="1775412" y="1131240"/>
                    <a:pt x="1906175" y="1117599"/>
                  </a:cubicBezTo>
                  <a:cubicBezTo>
                    <a:pt x="2036938" y="1103958"/>
                    <a:pt x="2116902" y="1889007"/>
                    <a:pt x="2278709" y="2077155"/>
                  </a:cubicBezTo>
                  <a:cubicBezTo>
                    <a:pt x="2440516" y="2265303"/>
                    <a:pt x="2745316" y="2295407"/>
                    <a:pt x="2877020" y="2246488"/>
                  </a:cubicBezTo>
                  <a:cubicBezTo>
                    <a:pt x="3008724" y="2197569"/>
                    <a:pt x="3147012" y="2103024"/>
                    <a:pt x="3068931" y="1783643"/>
                  </a:cubicBezTo>
                  <a:cubicBezTo>
                    <a:pt x="2990850" y="1464262"/>
                    <a:pt x="2620198" y="623240"/>
                    <a:pt x="2408531" y="330199"/>
                  </a:cubicBezTo>
                  <a:cubicBezTo>
                    <a:pt x="2196864" y="37158"/>
                    <a:pt x="2014831" y="50800"/>
                    <a:pt x="1798931" y="25400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161" name="Freeform 160"/>
            <p:cNvSpPr/>
            <p:nvPr/>
          </p:nvSpPr>
          <p:spPr>
            <a:xfrm rot="10800000">
              <a:off x="2872871" y="1785168"/>
              <a:ext cx="1684732" cy="3710149"/>
            </a:xfrm>
            <a:custGeom>
              <a:avLst/>
              <a:gdLst>
                <a:gd name="connsiteX0" fmla="*/ 1505586 w 1506368"/>
                <a:gd name="connsiteY0" fmla="*/ 1990232 h 4046490"/>
                <a:gd name="connsiteX1" fmla="*/ 787733 w 1506368"/>
                <a:gd name="connsiteY1" fmla="*/ 236903 h 4046490"/>
                <a:gd name="connsiteX2" fmla="*/ 856 w 1506368"/>
                <a:gd name="connsiteY2" fmla="*/ 209292 h 4046490"/>
                <a:gd name="connsiteX3" fmla="*/ 622075 w 1506368"/>
                <a:gd name="connsiteY3" fmla="*/ 2017843 h 4046490"/>
                <a:gd name="connsiteX4" fmla="*/ 856 w 1506368"/>
                <a:gd name="connsiteY4" fmla="*/ 3826395 h 4046490"/>
                <a:gd name="connsiteX5" fmla="*/ 649684 w 1506368"/>
                <a:gd name="connsiteY5" fmla="*/ 3812589 h 4046490"/>
                <a:gd name="connsiteX6" fmla="*/ 1505586 w 1506368"/>
                <a:gd name="connsiteY6" fmla="*/ 1990232 h 4046490"/>
                <a:gd name="connsiteX0" fmla="*/ 1505586 w 1506368"/>
                <a:gd name="connsiteY0" fmla="*/ 1900908 h 3957166"/>
                <a:gd name="connsiteX1" fmla="*/ 787733 w 1506368"/>
                <a:gd name="connsiteY1" fmla="*/ 147579 h 3957166"/>
                <a:gd name="connsiteX2" fmla="*/ 856 w 1506368"/>
                <a:gd name="connsiteY2" fmla="*/ 299442 h 3957166"/>
                <a:gd name="connsiteX3" fmla="*/ 622075 w 1506368"/>
                <a:gd name="connsiteY3" fmla="*/ 1928519 h 3957166"/>
                <a:gd name="connsiteX4" fmla="*/ 856 w 1506368"/>
                <a:gd name="connsiteY4" fmla="*/ 3737071 h 3957166"/>
                <a:gd name="connsiteX5" fmla="*/ 649684 w 1506368"/>
                <a:gd name="connsiteY5" fmla="*/ 3723265 h 3957166"/>
                <a:gd name="connsiteX6" fmla="*/ 1505586 w 1506368"/>
                <a:gd name="connsiteY6" fmla="*/ 1900908 h 3957166"/>
                <a:gd name="connsiteX0" fmla="*/ 1505455 w 1506076"/>
                <a:gd name="connsiteY0" fmla="*/ 1844725 h 3900983"/>
                <a:gd name="connsiteX1" fmla="*/ 773798 w 1506076"/>
                <a:gd name="connsiteY1" fmla="*/ 174230 h 3900983"/>
                <a:gd name="connsiteX2" fmla="*/ 725 w 1506076"/>
                <a:gd name="connsiteY2" fmla="*/ 243259 h 3900983"/>
                <a:gd name="connsiteX3" fmla="*/ 621944 w 1506076"/>
                <a:gd name="connsiteY3" fmla="*/ 1872336 h 3900983"/>
                <a:gd name="connsiteX4" fmla="*/ 725 w 1506076"/>
                <a:gd name="connsiteY4" fmla="*/ 3680888 h 3900983"/>
                <a:gd name="connsiteX5" fmla="*/ 649553 w 1506076"/>
                <a:gd name="connsiteY5" fmla="*/ 3667082 h 3900983"/>
                <a:gd name="connsiteX6" fmla="*/ 1505455 w 1506076"/>
                <a:gd name="connsiteY6" fmla="*/ 1844725 h 3900983"/>
                <a:gd name="connsiteX0" fmla="*/ 1505455 w 1506076"/>
                <a:gd name="connsiteY0" fmla="*/ 1779129 h 3835387"/>
                <a:gd name="connsiteX1" fmla="*/ 773798 w 1506076"/>
                <a:gd name="connsiteY1" fmla="*/ 108634 h 3835387"/>
                <a:gd name="connsiteX2" fmla="*/ 725 w 1506076"/>
                <a:gd name="connsiteY2" fmla="*/ 343332 h 3835387"/>
                <a:gd name="connsiteX3" fmla="*/ 621944 w 1506076"/>
                <a:gd name="connsiteY3" fmla="*/ 1806740 h 3835387"/>
                <a:gd name="connsiteX4" fmla="*/ 725 w 1506076"/>
                <a:gd name="connsiteY4" fmla="*/ 3615292 h 3835387"/>
                <a:gd name="connsiteX5" fmla="*/ 649553 w 1506076"/>
                <a:gd name="connsiteY5" fmla="*/ 3601486 h 3835387"/>
                <a:gd name="connsiteX6" fmla="*/ 1505455 w 1506076"/>
                <a:gd name="connsiteY6" fmla="*/ 1779129 h 3835387"/>
                <a:gd name="connsiteX0" fmla="*/ 1629698 w 1630216"/>
                <a:gd name="connsiteY0" fmla="*/ 1779129 h 3835387"/>
                <a:gd name="connsiteX1" fmla="*/ 773798 w 1630216"/>
                <a:gd name="connsiteY1" fmla="*/ 108634 h 3835387"/>
                <a:gd name="connsiteX2" fmla="*/ 725 w 1630216"/>
                <a:gd name="connsiteY2" fmla="*/ 343332 h 3835387"/>
                <a:gd name="connsiteX3" fmla="*/ 621944 w 1630216"/>
                <a:gd name="connsiteY3" fmla="*/ 1806740 h 3835387"/>
                <a:gd name="connsiteX4" fmla="*/ 725 w 1630216"/>
                <a:gd name="connsiteY4" fmla="*/ 3615292 h 3835387"/>
                <a:gd name="connsiteX5" fmla="*/ 649553 w 1630216"/>
                <a:gd name="connsiteY5" fmla="*/ 3601486 h 3835387"/>
                <a:gd name="connsiteX6" fmla="*/ 1629698 w 1630216"/>
                <a:gd name="connsiteY6" fmla="*/ 1779129 h 3835387"/>
                <a:gd name="connsiteX0" fmla="*/ 1629174 w 1629692"/>
                <a:gd name="connsiteY0" fmla="*/ 1777249 h 3833507"/>
                <a:gd name="connsiteX1" fmla="*/ 773274 w 1629692"/>
                <a:gd name="connsiteY1" fmla="*/ 106754 h 3833507"/>
                <a:gd name="connsiteX2" fmla="*/ 201 w 1629692"/>
                <a:gd name="connsiteY2" fmla="*/ 341452 h 3833507"/>
                <a:gd name="connsiteX3" fmla="*/ 690444 w 1629692"/>
                <a:gd name="connsiteY3" fmla="*/ 1749637 h 3833507"/>
                <a:gd name="connsiteX4" fmla="*/ 201 w 1629692"/>
                <a:gd name="connsiteY4" fmla="*/ 3613412 h 3833507"/>
                <a:gd name="connsiteX5" fmla="*/ 649029 w 1629692"/>
                <a:gd name="connsiteY5" fmla="*/ 3599606 h 3833507"/>
                <a:gd name="connsiteX6" fmla="*/ 1629174 w 1629692"/>
                <a:gd name="connsiteY6" fmla="*/ 1777249 h 3833507"/>
                <a:gd name="connsiteX0" fmla="*/ 1684214 w 1684732"/>
                <a:gd name="connsiteY0" fmla="*/ 1777249 h 3710149"/>
                <a:gd name="connsiteX1" fmla="*/ 828314 w 1684732"/>
                <a:gd name="connsiteY1" fmla="*/ 106754 h 3710149"/>
                <a:gd name="connsiteX2" fmla="*/ 55241 w 1684732"/>
                <a:gd name="connsiteY2" fmla="*/ 341452 h 3710149"/>
                <a:gd name="connsiteX3" fmla="*/ 745484 w 1684732"/>
                <a:gd name="connsiteY3" fmla="*/ 1749637 h 3710149"/>
                <a:gd name="connsiteX4" fmla="*/ 21 w 1684732"/>
                <a:gd name="connsiteY4" fmla="*/ 3323492 h 3710149"/>
                <a:gd name="connsiteX5" fmla="*/ 704069 w 1684732"/>
                <a:gd name="connsiteY5" fmla="*/ 3599606 h 3710149"/>
                <a:gd name="connsiteX6" fmla="*/ 1684214 w 1684732"/>
                <a:gd name="connsiteY6" fmla="*/ 1777249 h 371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4732" h="3710149">
                  <a:moveTo>
                    <a:pt x="1684214" y="1777249"/>
                  </a:moveTo>
                  <a:cubicBezTo>
                    <a:pt x="1704921" y="1195107"/>
                    <a:pt x="1099810" y="346054"/>
                    <a:pt x="828314" y="106754"/>
                  </a:cubicBezTo>
                  <a:cubicBezTo>
                    <a:pt x="556819" y="-132546"/>
                    <a:pt x="69046" y="67638"/>
                    <a:pt x="55241" y="341452"/>
                  </a:cubicBezTo>
                  <a:cubicBezTo>
                    <a:pt x="41436" y="615266"/>
                    <a:pt x="754687" y="1252630"/>
                    <a:pt x="745484" y="1749637"/>
                  </a:cubicBezTo>
                  <a:cubicBezTo>
                    <a:pt x="736281" y="2246644"/>
                    <a:pt x="-4581" y="3024368"/>
                    <a:pt x="21" y="3323492"/>
                  </a:cubicBezTo>
                  <a:cubicBezTo>
                    <a:pt x="4622" y="3622616"/>
                    <a:pt x="423370" y="3857313"/>
                    <a:pt x="704069" y="3599606"/>
                  </a:cubicBezTo>
                  <a:cubicBezTo>
                    <a:pt x="984768" y="3341899"/>
                    <a:pt x="1663507" y="2359391"/>
                    <a:pt x="1684214" y="1777249"/>
                  </a:cubicBezTo>
                  <a:close/>
                </a:path>
              </a:pathLst>
            </a:cu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grpSp>
        <p:nvGrpSpPr>
          <p:cNvPr id="163" name="Group 162"/>
          <p:cNvGrpSpPr/>
          <p:nvPr/>
        </p:nvGrpSpPr>
        <p:grpSpPr>
          <a:xfrm>
            <a:off x="2116633" y="1674364"/>
            <a:ext cx="3868282" cy="3540243"/>
            <a:chOff x="2116633" y="1891062"/>
            <a:chExt cx="3868282" cy="3540243"/>
          </a:xfrm>
        </p:grpSpPr>
        <p:sp>
          <p:nvSpPr>
            <p:cNvPr id="158" name="Oval 157"/>
            <p:cNvSpPr/>
            <p:nvPr/>
          </p:nvSpPr>
          <p:spPr bwMode="auto">
            <a:xfrm>
              <a:off x="5256974" y="4689884"/>
              <a:ext cx="727941" cy="727940"/>
            </a:xfrm>
            <a:prstGeom prst="ellipse">
              <a:avLst/>
            </a:prstGeom>
            <a:solidFill>
              <a:srgbClr val="C0504D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159" name="Oval 158"/>
            <p:cNvSpPr/>
            <p:nvPr/>
          </p:nvSpPr>
          <p:spPr bwMode="auto">
            <a:xfrm>
              <a:off x="2116633" y="4703365"/>
              <a:ext cx="727941" cy="727940"/>
            </a:xfrm>
            <a:prstGeom prst="ellipse">
              <a:avLst/>
            </a:prstGeom>
            <a:solidFill>
              <a:srgbClr val="C0504D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160" name="Oval 159"/>
            <p:cNvSpPr/>
            <p:nvPr/>
          </p:nvSpPr>
          <p:spPr bwMode="auto">
            <a:xfrm>
              <a:off x="2125894" y="1891062"/>
              <a:ext cx="727941" cy="727940"/>
            </a:xfrm>
            <a:prstGeom prst="ellipse">
              <a:avLst/>
            </a:prstGeom>
            <a:solidFill>
              <a:srgbClr val="C0504D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162" name="Oval 161"/>
            <p:cNvSpPr/>
            <p:nvPr/>
          </p:nvSpPr>
          <p:spPr bwMode="auto">
            <a:xfrm>
              <a:off x="2932771" y="3384553"/>
              <a:ext cx="727941" cy="727940"/>
            </a:xfrm>
            <a:prstGeom prst="ellipse">
              <a:avLst/>
            </a:prstGeom>
            <a:solidFill>
              <a:srgbClr val="C0504D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 smtClean="0"/>
              <a:t>Serializability</a:t>
            </a:r>
            <a:r>
              <a:rPr lang="en-US" sz="4000" dirty="0" smtClean="0"/>
              <a:t> Example</a:t>
            </a: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79" name="Freeform 78"/>
          <p:cNvSpPr/>
          <p:nvPr/>
        </p:nvSpPr>
        <p:spPr bwMode="auto">
          <a:xfrm>
            <a:off x="3594244" y="1570722"/>
            <a:ext cx="3340383" cy="2436451"/>
          </a:xfrm>
          <a:custGeom>
            <a:avLst/>
            <a:gdLst>
              <a:gd name="connsiteX0" fmla="*/ 1930400 w 3149600"/>
              <a:gd name="connsiteY0" fmla="*/ 159926 h 2455333"/>
              <a:gd name="connsiteX1" fmla="*/ 237067 w 3149600"/>
              <a:gd name="connsiteY1" fmla="*/ 193793 h 2455333"/>
              <a:gd name="connsiteX2" fmla="*/ 508000 w 3149600"/>
              <a:gd name="connsiteY2" fmla="*/ 1322682 h 2455333"/>
              <a:gd name="connsiteX3" fmla="*/ 993423 w 3149600"/>
              <a:gd name="connsiteY3" fmla="*/ 2304815 h 2455333"/>
              <a:gd name="connsiteX4" fmla="*/ 1569156 w 3149600"/>
              <a:gd name="connsiteY4" fmla="*/ 2225793 h 2455333"/>
              <a:gd name="connsiteX5" fmla="*/ 1919111 w 3149600"/>
              <a:gd name="connsiteY5" fmla="*/ 1175926 h 2455333"/>
              <a:gd name="connsiteX6" fmla="*/ 2291645 w 3149600"/>
              <a:gd name="connsiteY6" fmla="*/ 2135482 h 2455333"/>
              <a:gd name="connsiteX7" fmla="*/ 2889956 w 3149600"/>
              <a:gd name="connsiteY7" fmla="*/ 2304815 h 2455333"/>
              <a:gd name="connsiteX8" fmla="*/ 3081867 w 3149600"/>
              <a:gd name="connsiteY8" fmla="*/ 1841970 h 2455333"/>
              <a:gd name="connsiteX9" fmla="*/ 2483556 w 3149600"/>
              <a:gd name="connsiteY9" fmla="*/ 600193 h 2455333"/>
              <a:gd name="connsiteX10" fmla="*/ 1930400 w 3149600"/>
              <a:gd name="connsiteY10" fmla="*/ 159926 h 2455333"/>
              <a:gd name="connsiteX0" fmla="*/ 1969911 w 3155244"/>
              <a:gd name="connsiteY0" fmla="*/ 96426 h 2468033"/>
              <a:gd name="connsiteX1" fmla="*/ 242711 w 3155244"/>
              <a:gd name="connsiteY1" fmla="*/ 206493 h 2468033"/>
              <a:gd name="connsiteX2" fmla="*/ 513644 w 3155244"/>
              <a:gd name="connsiteY2" fmla="*/ 1335382 h 2468033"/>
              <a:gd name="connsiteX3" fmla="*/ 999067 w 3155244"/>
              <a:gd name="connsiteY3" fmla="*/ 2317515 h 2468033"/>
              <a:gd name="connsiteX4" fmla="*/ 1574800 w 3155244"/>
              <a:gd name="connsiteY4" fmla="*/ 2238493 h 2468033"/>
              <a:gd name="connsiteX5" fmla="*/ 1924755 w 3155244"/>
              <a:gd name="connsiteY5" fmla="*/ 1188626 h 2468033"/>
              <a:gd name="connsiteX6" fmla="*/ 2297289 w 3155244"/>
              <a:gd name="connsiteY6" fmla="*/ 2148182 h 2468033"/>
              <a:gd name="connsiteX7" fmla="*/ 2895600 w 3155244"/>
              <a:gd name="connsiteY7" fmla="*/ 2317515 h 2468033"/>
              <a:gd name="connsiteX8" fmla="*/ 3087511 w 3155244"/>
              <a:gd name="connsiteY8" fmla="*/ 1854670 h 2468033"/>
              <a:gd name="connsiteX9" fmla="*/ 2489200 w 3155244"/>
              <a:gd name="connsiteY9" fmla="*/ 612893 h 2468033"/>
              <a:gd name="connsiteX10" fmla="*/ 1969911 w 3155244"/>
              <a:gd name="connsiteY10" fmla="*/ 96426 h 2468033"/>
              <a:gd name="connsiteX0" fmla="*/ 1969911 w 3165592"/>
              <a:gd name="connsiteY0" fmla="*/ 96426 h 2468033"/>
              <a:gd name="connsiteX1" fmla="*/ 242711 w 3165592"/>
              <a:gd name="connsiteY1" fmla="*/ 206493 h 2468033"/>
              <a:gd name="connsiteX2" fmla="*/ 513644 w 3165592"/>
              <a:gd name="connsiteY2" fmla="*/ 1335382 h 2468033"/>
              <a:gd name="connsiteX3" fmla="*/ 999067 w 3165592"/>
              <a:gd name="connsiteY3" fmla="*/ 2317515 h 2468033"/>
              <a:gd name="connsiteX4" fmla="*/ 1574800 w 3165592"/>
              <a:gd name="connsiteY4" fmla="*/ 2238493 h 2468033"/>
              <a:gd name="connsiteX5" fmla="*/ 1924755 w 3165592"/>
              <a:gd name="connsiteY5" fmla="*/ 1188626 h 2468033"/>
              <a:gd name="connsiteX6" fmla="*/ 2297289 w 3165592"/>
              <a:gd name="connsiteY6" fmla="*/ 2148182 h 2468033"/>
              <a:gd name="connsiteX7" fmla="*/ 2895600 w 3165592"/>
              <a:gd name="connsiteY7" fmla="*/ 2317515 h 2468033"/>
              <a:gd name="connsiteX8" fmla="*/ 3087511 w 3165592"/>
              <a:gd name="connsiteY8" fmla="*/ 1854670 h 2468033"/>
              <a:gd name="connsiteX9" fmla="*/ 2427111 w 3165592"/>
              <a:gd name="connsiteY9" fmla="*/ 477426 h 2468033"/>
              <a:gd name="connsiteX10" fmla="*/ 1969911 w 3165592"/>
              <a:gd name="connsiteY10" fmla="*/ 96426 h 2468033"/>
              <a:gd name="connsiteX0" fmla="*/ 1881011 w 3152892"/>
              <a:gd name="connsiteY0" fmla="*/ 96426 h 2468033"/>
              <a:gd name="connsiteX1" fmla="*/ 230011 w 3152892"/>
              <a:gd name="connsiteY1" fmla="*/ 206493 h 2468033"/>
              <a:gd name="connsiteX2" fmla="*/ 500944 w 3152892"/>
              <a:gd name="connsiteY2" fmla="*/ 1335382 h 2468033"/>
              <a:gd name="connsiteX3" fmla="*/ 986367 w 3152892"/>
              <a:gd name="connsiteY3" fmla="*/ 2317515 h 2468033"/>
              <a:gd name="connsiteX4" fmla="*/ 1562100 w 3152892"/>
              <a:gd name="connsiteY4" fmla="*/ 2238493 h 2468033"/>
              <a:gd name="connsiteX5" fmla="*/ 1912055 w 3152892"/>
              <a:gd name="connsiteY5" fmla="*/ 1188626 h 2468033"/>
              <a:gd name="connsiteX6" fmla="*/ 2284589 w 3152892"/>
              <a:gd name="connsiteY6" fmla="*/ 2148182 h 2468033"/>
              <a:gd name="connsiteX7" fmla="*/ 2882900 w 3152892"/>
              <a:gd name="connsiteY7" fmla="*/ 2317515 h 2468033"/>
              <a:gd name="connsiteX8" fmla="*/ 3074811 w 3152892"/>
              <a:gd name="connsiteY8" fmla="*/ 1854670 h 2468033"/>
              <a:gd name="connsiteX9" fmla="*/ 2414411 w 3152892"/>
              <a:gd name="connsiteY9" fmla="*/ 477426 h 2468033"/>
              <a:gd name="connsiteX10" fmla="*/ 1881011 w 3152892"/>
              <a:gd name="connsiteY10" fmla="*/ 96426 h 24680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7921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92111 w 3063992"/>
              <a:gd name="connsiteY11" fmla="*/ 50800 h 2422407"/>
              <a:gd name="connsiteX0" fmla="*/ 17159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15911 w 3063992"/>
              <a:gd name="connsiteY11" fmla="*/ 50800 h 2422407"/>
              <a:gd name="connsiteX0" fmla="*/ 1779411 w 3127492"/>
              <a:gd name="connsiteY0" fmla="*/ 38100 h 2409707"/>
              <a:gd name="connsiteX1" fmla="*/ 1093611 w 3127492"/>
              <a:gd name="connsiteY1" fmla="*/ 190500 h 2409707"/>
              <a:gd name="connsiteX2" fmla="*/ 103011 w 3127492"/>
              <a:gd name="connsiteY2" fmla="*/ 266700 h 2409707"/>
              <a:gd name="connsiteX3" fmla="*/ 475544 w 3127492"/>
              <a:gd name="connsiteY3" fmla="*/ 1277056 h 2409707"/>
              <a:gd name="connsiteX4" fmla="*/ 960967 w 3127492"/>
              <a:gd name="connsiteY4" fmla="*/ 2259189 h 2409707"/>
              <a:gd name="connsiteX5" fmla="*/ 1536700 w 3127492"/>
              <a:gd name="connsiteY5" fmla="*/ 2180167 h 2409707"/>
              <a:gd name="connsiteX6" fmla="*/ 1886655 w 3127492"/>
              <a:gd name="connsiteY6" fmla="*/ 1130300 h 2409707"/>
              <a:gd name="connsiteX7" fmla="*/ 2259189 w 3127492"/>
              <a:gd name="connsiteY7" fmla="*/ 2089856 h 2409707"/>
              <a:gd name="connsiteX8" fmla="*/ 2857500 w 3127492"/>
              <a:gd name="connsiteY8" fmla="*/ 2259189 h 2409707"/>
              <a:gd name="connsiteX9" fmla="*/ 3049411 w 3127492"/>
              <a:gd name="connsiteY9" fmla="*/ 1796344 h 2409707"/>
              <a:gd name="connsiteX10" fmla="*/ 2389011 w 3127492"/>
              <a:gd name="connsiteY10" fmla="*/ 419100 h 2409707"/>
              <a:gd name="connsiteX11" fmla="*/ 1779411 w 3127492"/>
              <a:gd name="connsiteY11" fmla="*/ 38100 h 2409707"/>
              <a:gd name="connsiteX0" fmla="*/ 1855611 w 3127492"/>
              <a:gd name="connsiteY0" fmla="*/ 38100 h 2333507"/>
              <a:gd name="connsiteX1" fmla="*/ 1093611 w 3127492"/>
              <a:gd name="connsiteY1" fmla="*/ 114300 h 2333507"/>
              <a:gd name="connsiteX2" fmla="*/ 103011 w 3127492"/>
              <a:gd name="connsiteY2" fmla="*/ 190500 h 2333507"/>
              <a:gd name="connsiteX3" fmla="*/ 475544 w 3127492"/>
              <a:gd name="connsiteY3" fmla="*/ 1200856 h 2333507"/>
              <a:gd name="connsiteX4" fmla="*/ 960967 w 3127492"/>
              <a:gd name="connsiteY4" fmla="*/ 2182989 h 2333507"/>
              <a:gd name="connsiteX5" fmla="*/ 1536700 w 3127492"/>
              <a:gd name="connsiteY5" fmla="*/ 2103967 h 2333507"/>
              <a:gd name="connsiteX6" fmla="*/ 1886655 w 3127492"/>
              <a:gd name="connsiteY6" fmla="*/ 1054100 h 2333507"/>
              <a:gd name="connsiteX7" fmla="*/ 2259189 w 3127492"/>
              <a:gd name="connsiteY7" fmla="*/ 2013656 h 2333507"/>
              <a:gd name="connsiteX8" fmla="*/ 2857500 w 3127492"/>
              <a:gd name="connsiteY8" fmla="*/ 2182989 h 2333507"/>
              <a:gd name="connsiteX9" fmla="*/ 3049411 w 3127492"/>
              <a:gd name="connsiteY9" fmla="*/ 1720144 h 2333507"/>
              <a:gd name="connsiteX10" fmla="*/ 2389011 w 3127492"/>
              <a:gd name="connsiteY10" fmla="*/ 342900 h 2333507"/>
              <a:gd name="connsiteX11" fmla="*/ 1855611 w 3127492"/>
              <a:gd name="connsiteY11" fmla="*/ 38100 h 2333507"/>
              <a:gd name="connsiteX0" fmla="*/ 1765300 w 3037181"/>
              <a:gd name="connsiteY0" fmla="*/ 38100 h 2374900"/>
              <a:gd name="connsiteX1" fmla="*/ 1003300 w 3037181"/>
              <a:gd name="connsiteY1" fmla="*/ 114300 h 2374900"/>
              <a:gd name="connsiteX2" fmla="*/ 12700 w 3037181"/>
              <a:gd name="connsiteY2" fmla="*/ 190500 h 2374900"/>
              <a:gd name="connsiteX3" fmla="*/ 1079500 w 3037181"/>
              <a:gd name="connsiteY3" fmla="*/ 952500 h 2374900"/>
              <a:gd name="connsiteX4" fmla="*/ 870656 w 3037181"/>
              <a:gd name="connsiteY4" fmla="*/ 2182989 h 2374900"/>
              <a:gd name="connsiteX5" fmla="*/ 1446389 w 3037181"/>
              <a:gd name="connsiteY5" fmla="*/ 2103967 h 2374900"/>
              <a:gd name="connsiteX6" fmla="*/ 1796344 w 3037181"/>
              <a:gd name="connsiteY6" fmla="*/ 1054100 h 2374900"/>
              <a:gd name="connsiteX7" fmla="*/ 2168878 w 3037181"/>
              <a:gd name="connsiteY7" fmla="*/ 2013656 h 2374900"/>
              <a:gd name="connsiteX8" fmla="*/ 2767189 w 3037181"/>
              <a:gd name="connsiteY8" fmla="*/ 2182989 h 2374900"/>
              <a:gd name="connsiteX9" fmla="*/ 2959100 w 3037181"/>
              <a:gd name="connsiteY9" fmla="*/ 1720144 h 2374900"/>
              <a:gd name="connsiteX10" fmla="*/ 2298700 w 3037181"/>
              <a:gd name="connsiteY10" fmla="*/ 342900 h 2374900"/>
              <a:gd name="connsiteX11" fmla="*/ 1765300 w 3037181"/>
              <a:gd name="connsiteY11" fmla="*/ 38100 h 2374900"/>
              <a:gd name="connsiteX0" fmla="*/ 1765300 w 3037181"/>
              <a:gd name="connsiteY0" fmla="*/ 38100 h 2239433"/>
              <a:gd name="connsiteX1" fmla="*/ 1003300 w 3037181"/>
              <a:gd name="connsiteY1" fmla="*/ 114300 h 2239433"/>
              <a:gd name="connsiteX2" fmla="*/ 12700 w 3037181"/>
              <a:gd name="connsiteY2" fmla="*/ 190500 h 2239433"/>
              <a:gd name="connsiteX3" fmla="*/ 1079500 w 3037181"/>
              <a:gd name="connsiteY3" fmla="*/ 952500 h 2239433"/>
              <a:gd name="connsiteX4" fmla="*/ 698500 w 3037181"/>
              <a:gd name="connsiteY4" fmla="*/ 1866899 h 2239433"/>
              <a:gd name="connsiteX5" fmla="*/ 1446389 w 3037181"/>
              <a:gd name="connsiteY5" fmla="*/ 2103967 h 2239433"/>
              <a:gd name="connsiteX6" fmla="*/ 1796344 w 3037181"/>
              <a:gd name="connsiteY6" fmla="*/ 1054100 h 2239433"/>
              <a:gd name="connsiteX7" fmla="*/ 2168878 w 3037181"/>
              <a:gd name="connsiteY7" fmla="*/ 2013656 h 2239433"/>
              <a:gd name="connsiteX8" fmla="*/ 2767189 w 3037181"/>
              <a:gd name="connsiteY8" fmla="*/ 2182989 h 2239433"/>
              <a:gd name="connsiteX9" fmla="*/ 2959100 w 3037181"/>
              <a:gd name="connsiteY9" fmla="*/ 1720144 h 2239433"/>
              <a:gd name="connsiteX10" fmla="*/ 2298700 w 3037181"/>
              <a:gd name="connsiteY10" fmla="*/ 342900 h 2239433"/>
              <a:gd name="connsiteX11" fmla="*/ 1765300 w 3037181"/>
              <a:gd name="connsiteY11" fmla="*/ 38100 h 2239433"/>
              <a:gd name="connsiteX0" fmla="*/ 1765300 w 3037181"/>
              <a:gd name="connsiteY0" fmla="*/ 38100 h 2231908"/>
              <a:gd name="connsiteX1" fmla="*/ 1003300 w 3037181"/>
              <a:gd name="connsiteY1" fmla="*/ 114300 h 2231908"/>
              <a:gd name="connsiteX2" fmla="*/ 12700 w 3037181"/>
              <a:gd name="connsiteY2" fmla="*/ 190500 h 2231908"/>
              <a:gd name="connsiteX3" fmla="*/ 1079500 w 3037181"/>
              <a:gd name="connsiteY3" fmla="*/ 952500 h 2231908"/>
              <a:gd name="connsiteX4" fmla="*/ 698500 w 3037181"/>
              <a:gd name="connsiteY4" fmla="*/ 1866899 h 2231908"/>
              <a:gd name="connsiteX5" fmla="*/ 1384300 w 3037181"/>
              <a:gd name="connsiteY5" fmla="*/ 2095500 h 2231908"/>
              <a:gd name="connsiteX6" fmla="*/ 1796344 w 3037181"/>
              <a:gd name="connsiteY6" fmla="*/ 1054100 h 2231908"/>
              <a:gd name="connsiteX7" fmla="*/ 2168878 w 3037181"/>
              <a:gd name="connsiteY7" fmla="*/ 2013656 h 2231908"/>
              <a:gd name="connsiteX8" fmla="*/ 2767189 w 3037181"/>
              <a:gd name="connsiteY8" fmla="*/ 2182989 h 2231908"/>
              <a:gd name="connsiteX9" fmla="*/ 2959100 w 3037181"/>
              <a:gd name="connsiteY9" fmla="*/ 1720144 h 2231908"/>
              <a:gd name="connsiteX10" fmla="*/ 2298700 w 3037181"/>
              <a:gd name="connsiteY10" fmla="*/ 342900 h 2231908"/>
              <a:gd name="connsiteX11" fmla="*/ 1765300 w 3037181"/>
              <a:gd name="connsiteY11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51741 h 2245549"/>
              <a:gd name="connsiteX1" fmla="*/ 1092200 w 3126081"/>
              <a:gd name="connsiteY1" fmla="*/ 127941 h 2245549"/>
              <a:gd name="connsiteX2" fmla="*/ 101600 w 3126081"/>
              <a:gd name="connsiteY2" fmla="*/ 204141 h 2245549"/>
              <a:gd name="connsiteX3" fmla="*/ 177800 w 3126081"/>
              <a:gd name="connsiteY3" fmla="*/ 661341 h 2245549"/>
              <a:gd name="connsiteX4" fmla="*/ 1168400 w 3126081"/>
              <a:gd name="connsiteY4" fmla="*/ 966141 h 2245549"/>
              <a:gd name="connsiteX5" fmla="*/ 787400 w 3126081"/>
              <a:gd name="connsiteY5" fmla="*/ 1880540 h 2245549"/>
              <a:gd name="connsiteX6" fmla="*/ 1473200 w 3126081"/>
              <a:gd name="connsiteY6" fmla="*/ 2109141 h 2245549"/>
              <a:gd name="connsiteX7" fmla="*/ 1885244 w 3126081"/>
              <a:gd name="connsiteY7" fmla="*/ 1067741 h 2245549"/>
              <a:gd name="connsiteX8" fmla="*/ 2257778 w 3126081"/>
              <a:gd name="connsiteY8" fmla="*/ 2027297 h 2245549"/>
              <a:gd name="connsiteX9" fmla="*/ 2856089 w 3126081"/>
              <a:gd name="connsiteY9" fmla="*/ 2196630 h 2245549"/>
              <a:gd name="connsiteX10" fmla="*/ 3048000 w 3126081"/>
              <a:gd name="connsiteY10" fmla="*/ 1733785 h 2245549"/>
              <a:gd name="connsiteX11" fmla="*/ 2387600 w 3126081"/>
              <a:gd name="connsiteY11" fmla="*/ 280341 h 2245549"/>
              <a:gd name="connsiteX12" fmla="*/ 1854200 w 3126081"/>
              <a:gd name="connsiteY12" fmla="*/ 51741 h 2245549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98931 w 3147012"/>
              <a:gd name="connsiteY0" fmla="*/ 25400 h 2295407"/>
              <a:gd name="connsiteX1" fmla="*/ 1113131 w 3147012"/>
              <a:gd name="connsiteY1" fmla="*/ 177799 h 2295407"/>
              <a:gd name="connsiteX2" fmla="*/ 122531 w 3147012"/>
              <a:gd name="connsiteY2" fmla="*/ 253999 h 2295407"/>
              <a:gd name="connsiteX3" fmla="*/ 198731 w 3147012"/>
              <a:gd name="connsiteY3" fmla="*/ 711199 h 2295407"/>
              <a:gd name="connsiteX4" fmla="*/ 1189331 w 3147012"/>
              <a:gd name="connsiteY4" fmla="*/ 1015999 h 2295407"/>
              <a:gd name="connsiteX5" fmla="*/ 808331 w 3147012"/>
              <a:gd name="connsiteY5" fmla="*/ 1930398 h 2295407"/>
              <a:gd name="connsiteX6" fmla="*/ 1494131 w 3147012"/>
              <a:gd name="connsiteY6" fmla="*/ 2158999 h 2295407"/>
              <a:gd name="connsiteX7" fmla="*/ 1906175 w 3147012"/>
              <a:gd name="connsiteY7" fmla="*/ 1117599 h 2295407"/>
              <a:gd name="connsiteX8" fmla="*/ 2278709 w 3147012"/>
              <a:gd name="connsiteY8" fmla="*/ 2077155 h 2295407"/>
              <a:gd name="connsiteX9" fmla="*/ 2877020 w 3147012"/>
              <a:gd name="connsiteY9" fmla="*/ 2246488 h 2295407"/>
              <a:gd name="connsiteX10" fmla="*/ 3068931 w 3147012"/>
              <a:gd name="connsiteY10" fmla="*/ 1783643 h 2295407"/>
              <a:gd name="connsiteX11" fmla="*/ 2408531 w 3147012"/>
              <a:gd name="connsiteY11" fmla="*/ 330199 h 2295407"/>
              <a:gd name="connsiteX12" fmla="*/ 1798931 w 3147012"/>
              <a:gd name="connsiteY12" fmla="*/ 25400 h 229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7012" h="2295407">
                <a:moveTo>
                  <a:pt x="1798931" y="25400"/>
                </a:moveTo>
                <a:cubicBezTo>
                  <a:pt x="1583031" y="0"/>
                  <a:pt x="1467320" y="173566"/>
                  <a:pt x="1113131" y="177799"/>
                </a:cubicBezTo>
                <a:cubicBezTo>
                  <a:pt x="837964" y="196143"/>
                  <a:pt x="332081" y="76199"/>
                  <a:pt x="122531" y="253999"/>
                </a:cubicBezTo>
                <a:cubicBezTo>
                  <a:pt x="0" y="433210"/>
                  <a:pt x="20931" y="584199"/>
                  <a:pt x="198731" y="711199"/>
                </a:cubicBezTo>
                <a:cubicBezTo>
                  <a:pt x="376531" y="838199"/>
                  <a:pt x="1087731" y="812799"/>
                  <a:pt x="1189331" y="1015999"/>
                </a:cubicBezTo>
                <a:cubicBezTo>
                  <a:pt x="1290931" y="1219199"/>
                  <a:pt x="757531" y="1739898"/>
                  <a:pt x="808331" y="1930398"/>
                </a:cubicBezTo>
                <a:cubicBezTo>
                  <a:pt x="859131" y="2120898"/>
                  <a:pt x="1311157" y="2294465"/>
                  <a:pt x="1494131" y="2158999"/>
                </a:cubicBezTo>
                <a:cubicBezTo>
                  <a:pt x="1677105" y="2023533"/>
                  <a:pt x="1775412" y="1131240"/>
                  <a:pt x="1906175" y="1117599"/>
                </a:cubicBezTo>
                <a:cubicBezTo>
                  <a:pt x="2036938" y="1103958"/>
                  <a:pt x="2116902" y="1889007"/>
                  <a:pt x="2278709" y="2077155"/>
                </a:cubicBezTo>
                <a:cubicBezTo>
                  <a:pt x="2440516" y="2265303"/>
                  <a:pt x="2745316" y="2295407"/>
                  <a:pt x="2877020" y="2246488"/>
                </a:cubicBezTo>
                <a:cubicBezTo>
                  <a:pt x="3008724" y="2197569"/>
                  <a:pt x="3147012" y="2103024"/>
                  <a:pt x="3068931" y="1783643"/>
                </a:cubicBezTo>
                <a:cubicBezTo>
                  <a:pt x="2990850" y="1464262"/>
                  <a:pt x="2620198" y="623240"/>
                  <a:pt x="2408531" y="330199"/>
                </a:cubicBezTo>
                <a:cubicBezTo>
                  <a:pt x="2196864" y="37158"/>
                  <a:pt x="2014831" y="50800"/>
                  <a:pt x="1798931" y="25400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80" name="Oval 79"/>
          <p:cNvSpPr/>
          <p:nvPr/>
        </p:nvSpPr>
        <p:spPr bwMode="auto">
          <a:xfrm>
            <a:off x="5261066" y="1678565"/>
            <a:ext cx="727941" cy="727940"/>
          </a:xfrm>
          <a:prstGeom prst="ellipse">
            <a:avLst/>
          </a:prstGeom>
          <a:solidFill>
            <a:srgbClr val="C0504D"/>
          </a:solidFill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cxnSp>
        <p:nvCxnSpPr>
          <p:cNvPr id="81" name="Straight Arrow Connector 80"/>
          <p:cNvCxnSpPr>
            <a:stCxn id="87" idx="6"/>
            <a:endCxn id="88" idx="2"/>
          </p:cNvCxnSpPr>
          <p:nvPr/>
        </p:nvCxnSpPr>
        <p:spPr bwMode="auto">
          <a:xfrm>
            <a:off x="2692858" y="2048631"/>
            <a:ext cx="1160814" cy="168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82" name="Straight Arrow Connector 81"/>
          <p:cNvCxnSpPr>
            <a:stCxn id="88" idx="6"/>
            <a:endCxn id="89" idx="2"/>
          </p:cNvCxnSpPr>
          <p:nvPr/>
        </p:nvCxnSpPr>
        <p:spPr bwMode="auto">
          <a:xfrm>
            <a:off x="4270274" y="2048631"/>
            <a:ext cx="1160812" cy="168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83" name="Straight Arrow Connector 82"/>
          <p:cNvCxnSpPr>
            <a:stCxn id="93" idx="7"/>
            <a:endCxn id="88" idx="3"/>
          </p:cNvCxnSpPr>
          <p:nvPr/>
        </p:nvCxnSpPr>
        <p:spPr bwMode="auto">
          <a:xfrm rot="5400000" flipH="1" flipV="1">
            <a:off x="3074341" y="2549633"/>
            <a:ext cx="1194051" cy="48662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84" name="Straight Arrow Connector 83"/>
          <p:cNvCxnSpPr>
            <a:stCxn id="95" idx="1"/>
            <a:endCxn id="89" idx="5"/>
          </p:cNvCxnSpPr>
          <p:nvPr/>
        </p:nvCxnSpPr>
        <p:spPr bwMode="auto">
          <a:xfrm rot="16200000" flipV="1">
            <a:off x="5440465" y="2542137"/>
            <a:ext cx="1194051" cy="50162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85" name="Straight Arrow Connector 84"/>
          <p:cNvCxnSpPr>
            <a:stCxn id="94" idx="7"/>
            <a:endCxn id="89" idx="3"/>
          </p:cNvCxnSpPr>
          <p:nvPr/>
        </p:nvCxnSpPr>
        <p:spPr bwMode="auto">
          <a:xfrm rot="5400000" flipH="1" flipV="1">
            <a:off x="4651755" y="2549633"/>
            <a:ext cx="1194051" cy="48662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86" name="Straight Arrow Connector 85"/>
          <p:cNvCxnSpPr>
            <a:stCxn id="94" idx="1"/>
            <a:endCxn id="88" idx="5"/>
          </p:cNvCxnSpPr>
          <p:nvPr/>
        </p:nvCxnSpPr>
        <p:spPr bwMode="auto">
          <a:xfrm rot="16200000" flipV="1">
            <a:off x="3863050" y="2542137"/>
            <a:ext cx="1194051" cy="501622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sp>
        <p:nvSpPr>
          <p:cNvPr id="87" name="Oval 4"/>
          <p:cNvSpPr/>
          <p:nvPr/>
        </p:nvSpPr>
        <p:spPr bwMode="auto">
          <a:xfrm>
            <a:off x="2276255" y="1840330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88" name="Oval 87"/>
          <p:cNvSpPr/>
          <p:nvPr/>
        </p:nvSpPr>
        <p:spPr bwMode="auto">
          <a:xfrm>
            <a:off x="3853671" y="1840330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89" name="Oval 88"/>
          <p:cNvSpPr/>
          <p:nvPr/>
        </p:nvSpPr>
        <p:spPr bwMode="auto">
          <a:xfrm>
            <a:off x="5431086" y="1840330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0" name="Oval 4"/>
          <p:cNvSpPr/>
          <p:nvPr/>
        </p:nvSpPr>
        <p:spPr bwMode="auto">
          <a:xfrm>
            <a:off x="2276255" y="4666297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1" name="Oval 90"/>
          <p:cNvSpPr/>
          <p:nvPr/>
        </p:nvSpPr>
        <p:spPr bwMode="auto">
          <a:xfrm>
            <a:off x="3853670" y="4666297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2" name="Oval 91"/>
          <p:cNvSpPr/>
          <p:nvPr/>
        </p:nvSpPr>
        <p:spPr bwMode="auto">
          <a:xfrm>
            <a:off x="5431086" y="4666297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3" name="Oval 4"/>
          <p:cNvSpPr/>
          <p:nvPr/>
        </p:nvSpPr>
        <p:spPr bwMode="auto">
          <a:xfrm>
            <a:off x="3072459" y="3328962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4" name="Oval 93"/>
          <p:cNvSpPr/>
          <p:nvPr/>
        </p:nvSpPr>
        <p:spPr bwMode="auto">
          <a:xfrm>
            <a:off x="4649875" y="3328962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5" name="Oval 94"/>
          <p:cNvSpPr/>
          <p:nvPr/>
        </p:nvSpPr>
        <p:spPr bwMode="auto">
          <a:xfrm>
            <a:off x="6227290" y="3328962"/>
            <a:ext cx="416603" cy="41660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96" name="Straight Arrow Connector 95"/>
          <p:cNvCxnSpPr>
            <a:stCxn id="90" idx="6"/>
            <a:endCxn id="91" idx="2"/>
          </p:cNvCxnSpPr>
          <p:nvPr/>
        </p:nvCxnSpPr>
        <p:spPr bwMode="auto">
          <a:xfrm>
            <a:off x="2692858" y="4874601"/>
            <a:ext cx="1160812" cy="405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97" name="Straight Arrow Connector 96"/>
          <p:cNvCxnSpPr>
            <a:stCxn id="91" idx="6"/>
            <a:endCxn id="92" idx="2"/>
          </p:cNvCxnSpPr>
          <p:nvPr/>
        </p:nvCxnSpPr>
        <p:spPr bwMode="auto">
          <a:xfrm>
            <a:off x="4270274" y="4874601"/>
            <a:ext cx="1160812" cy="405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98" name="Straight Arrow Connector 97"/>
          <p:cNvCxnSpPr>
            <a:stCxn id="91" idx="1"/>
            <a:endCxn id="93" idx="5"/>
          </p:cNvCxnSpPr>
          <p:nvPr/>
        </p:nvCxnSpPr>
        <p:spPr bwMode="auto">
          <a:xfrm rot="16200000" flipV="1">
            <a:off x="3149993" y="3962617"/>
            <a:ext cx="1042748" cy="486626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99" name="Straight Arrow Connector 98"/>
          <p:cNvCxnSpPr>
            <a:stCxn id="92" idx="7"/>
            <a:endCxn id="95" idx="3"/>
          </p:cNvCxnSpPr>
          <p:nvPr/>
        </p:nvCxnSpPr>
        <p:spPr bwMode="auto">
          <a:xfrm rot="5400000" flipH="1" flipV="1">
            <a:off x="5516115" y="3955125"/>
            <a:ext cx="1042748" cy="50161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100" name="Straight Arrow Connector 99"/>
          <p:cNvCxnSpPr>
            <a:stCxn id="92" idx="1"/>
            <a:endCxn id="94" idx="5"/>
          </p:cNvCxnSpPr>
          <p:nvPr/>
        </p:nvCxnSpPr>
        <p:spPr bwMode="auto">
          <a:xfrm rot="16200000" flipV="1">
            <a:off x="4727410" y="3962617"/>
            <a:ext cx="1042748" cy="486626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101" name="Straight Arrow Connector 100"/>
          <p:cNvCxnSpPr>
            <a:stCxn id="91" idx="7"/>
            <a:endCxn id="94" idx="3"/>
          </p:cNvCxnSpPr>
          <p:nvPr/>
        </p:nvCxnSpPr>
        <p:spPr bwMode="auto">
          <a:xfrm rot="5400000" flipH="1" flipV="1">
            <a:off x="3938699" y="3955125"/>
            <a:ext cx="1042748" cy="50161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grpSp>
        <p:nvGrpSpPr>
          <p:cNvPr id="102" name="Group 182"/>
          <p:cNvGrpSpPr/>
          <p:nvPr/>
        </p:nvGrpSpPr>
        <p:grpSpPr>
          <a:xfrm>
            <a:off x="3893898" y="1921212"/>
            <a:ext cx="2698470" cy="1779407"/>
            <a:chOff x="2133600" y="2884114"/>
            <a:chExt cx="2542259" cy="1676400"/>
          </a:xfrm>
        </p:grpSpPr>
        <p:sp>
          <p:nvSpPr>
            <p:cNvPr id="107" name="Cube 106"/>
            <p:cNvSpPr/>
            <p:nvPr/>
          </p:nvSpPr>
          <p:spPr bwMode="auto">
            <a:xfrm>
              <a:off x="3657600" y="288411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8" name="Cube 107"/>
            <p:cNvSpPr/>
            <p:nvPr/>
          </p:nvSpPr>
          <p:spPr bwMode="auto">
            <a:xfrm>
              <a:off x="2845001" y="425571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9" name="Cube 108"/>
            <p:cNvSpPr/>
            <p:nvPr/>
          </p:nvSpPr>
          <p:spPr bwMode="auto">
            <a:xfrm>
              <a:off x="2133600" y="288411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10" name="Cube 109"/>
            <p:cNvSpPr/>
            <p:nvPr/>
          </p:nvSpPr>
          <p:spPr bwMode="auto">
            <a:xfrm>
              <a:off x="4343400" y="425571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grpSp>
        <p:nvGrpSpPr>
          <p:cNvPr id="103" name="Group 192"/>
          <p:cNvGrpSpPr/>
          <p:nvPr/>
        </p:nvGrpSpPr>
        <p:grpSpPr>
          <a:xfrm>
            <a:off x="4681731" y="1883081"/>
            <a:ext cx="1606570" cy="1137288"/>
            <a:chOff x="2875826" y="2848192"/>
            <a:chExt cx="1513567" cy="1071452"/>
          </a:xfrm>
        </p:grpSpPr>
        <p:sp>
          <p:nvSpPr>
            <p:cNvPr id="104" name="Cube 103"/>
            <p:cNvSpPr/>
            <p:nvPr/>
          </p:nvSpPr>
          <p:spPr bwMode="auto">
            <a:xfrm>
              <a:off x="2875826" y="2848192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5" name="Cube 104"/>
            <p:cNvSpPr/>
            <p:nvPr/>
          </p:nvSpPr>
          <p:spPr bwMode="auto">
            <a:xfrm>
              <a:off x="3282701" y="361484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6" name="Cube 105"/>
            <p:cNvSpPr/>
            <p:nvPr/>
          </p:nvSpPr>
          <p:spPr bwMode="auto">
            <a:xfrm>
              <a:off x="4056934" y="3614844"/>
              <a:ext cx="332459" cy="304800"/>
            </a:xfrm>
            <a:prstGeom prst="cub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grpSp>
        <p:nvGrpSpPr>
          <p:cNvPr id="131" name="Group 130"/>
          <p:cNvGrpSpPr/>
          <p:nvPr/>
        </p:nvGrpSpPr>
        <p:grpSpPr>
          <a:xfrm>
            <a:off x="4061974" y="1678565"/>
            <a:ext cx="3897668" cy="1698526"/>
            <a:chOff x="4060341" y="1895263"/>
            <a:chExt cx="3897668" cy="1698526"/>
          </a:xfrm>
        </p:grpSpPr>
        <p:cxnSp>
          <p:nvCxnSpPr>
            <p:cNvPr id="111" name="Shape 69"/>
            <p:cNvCxnSpPr>
              <a:stCxn id="95" idx="6"/>
              <a:endCxn id="80" idx="6"/>
            </p:cNvCxnSpPr>
            <p:nvPr/>
          </p:nvCxnSpPr>
          <p:spPr bwMode="auto">
            <a:xfrm flipH="1" flipV="1">
              <a:off x="5987374" y="2042535"/>
              <a:ext cx="654886" cy="1494729"/>
            </a:xfrm>
            <a:prstGeom prst="curvedConnector3">
              <a:avLst>
                <a:gd name="adj1" fmla="val -34907"/>
              </a:avLst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2" name="Shape 72"/>
            <p:cNvCxnSpPr>
              <a:stCxn id="88" idx="0"/>
              <a:endCxn id="80" idx="0"/>
            </p:cNvCxnSpPr>
            <p:nvPr/>
          </p:nvCxnSpPr>
          <p:spPr bwMode="auto">
            <a:xfrm rot="5400000" flipH="1" flipV="1">
              <a:off x="4760990" y="1194614"/>
              <a:ext cx="161765" cy="1563064"/>
            </a:xfrm>
            <a:prstGeom prst="curvedConnector3">
              <a:avLst>
                <a:gd name="adj1" fmla="val 241316"/>
              </a:avLst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9" name="Shape 69"/>
            <p:cNvCxnSpPr>
              <a:stCxn id="108" idx="0"/>
              <a:endCxn id="80" idx="2"/>
            </p:cNvCxnSpPr>
            <p:nvPr/>
          </p:nvCxnSpPr>
          <p:spPr bwMode="auto">
            <a:xfrm rot="5400000" flipH="1" flipV="1">
              <a:off x="4394571" y="2728927"/>
              <a:ext cx="1334555" cy="395169"/>
            </a:xfrm>
            <a:prstGeom prst="curvedConnector2">
              <a:avLst/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7020483" y="2623203"/>
              <a:ext cx="93752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00FF00"/>
                  </a:solidFill>
                </a:rPr>
                <a:t>Read</a:t>
              </a:r>
              <a:endParaRPr lang="en-US" sz="2800" b="1" dirty="0">
                <a:solidFill>
                  <a:srgbClr val="00FF00"/>
                </a:solidFill>
              </a:endParaRPr>
            </a:p>
          </p:txBody>
        </p:sp>
      </p:grpSp>
      <p:grpSp>
        <p:nvGrpSpPr>
          <p:cNvPr id="151" name="Group 150"/>
          <p:cNvGrpSpPr/>
          <p:nvPr/>
        </p:nvGrpSpPr>
        <p:grpSpPr>
          <a:xfrm>
            <a:off x="4817733" y="1136122"/>
            <a:ext cx="2341736" cy="1762923"/>
            <a:chOff x="4817733" y="1352820"/>
            <a:chExt cx="2341736" cy="1762923"/>
          </a:xfrm>
        </p:grpSpPr>
        <p:grpSp>
          <p:nvGrpSpPr>
            <p:cNvPr id="145" name="Group 144"/>
            <p:cNvGrpSpPr/>
            <p:nvPr/>
          </p:nvGrpSpPr>
          <p:grpSpPr>
            <a:xfrm>
              <a:off x="4817733" y="1895263"/>
              <a:ext cx="1389687" cy="1220480"/>
              <a:chOff x="4817733" y="1895263"/>
              <a:chExt cx="1389687" cy="1220480"/>
            </a:xfrm>
          </p:grpSpPr>
          <p:cxnSp>
            <p:nvCxnSpPr>
              <p:cNvPr id="132" name="Shape 72"/>
              <p:cNvCxnSpPr>
                <a:stCxn id="80" idx="0"/>
                <a:endCxn id="104" idx="1"/>
              </p:cNvCxnSpPr>
              <p:nvPr/>
            </p:nvCxnSpPr>
            <p:spPr bwMode="auto">
              <a:xfrm rot="16200000" flipH="1" flipV="1">
                <a:off x="5078686" y="1634310"/>
                <a:ext cx="285398" cy="807304"/>
              </a:xfrm>
              <a:prstGeom prst="curvedConnector3">
                <a:avLst>
                  <a:gd name="adj1" fmla="val -80099"/>
                </a:avLst>
              </a:prstGeom>
              <a:ln w="76200" cmpd="sng">
                <a:solidFill>
                  <a:srgbClr val="FF0000"/>
                </a:solidFill>
                <a:headEnd type="none" w="med" len="med"/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6" name="Shape 72"/>
              <p:cNvCxnSpPr>
                <a:stCxn id="80" idx="2"/>
                <a:endCxn id="105" idx="2"/>
              </p:cNvCxnSpPr>
              <p:nvPr/>
            </p:nvCxnSpPr>
            <p:spPr bwMode="auto">
              <a:xfrm rot="10800000" flipV="1">
                <a:off x="5113608" y="2259232"/>
                <a:ext cx="147459" cy="856511"/>
              </a:xfrm>
              <a:prstGeom prst="curvedConnector3">
                <a:avLst>
                  <a:gd name="adj1" fmla="val 255026"/>
                </a:avLst>
              </a:prstGeom>
              <a:ln w="76200" cmpd="sng">
                <a:solidFill>
                  <a:srgbClr val="FF0000"/>
                </a:solidFill>
                <a:headEnd type="none" w="med" len="med"/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9" name="Shape 72"/>
              <p:cNvCxnSpPr>
                <a:stCxn id="80" idx="5"/>
                <a:endCxn id="106" idx="4"/>
              </p:cNvCxnSpPr>
              <p:nvPr/>
            </p:nvCxnSpPr>
            <p:spPr bwMode="auto">
              <a:xfrm rot="16200000" flipH="1">
                <a:off x="5745339" y="2653663"/>
                <a:ext cx="599145" cy="325016"/>
              </a:xfrm>
              <a:prstGeom prst="curvedConnector4">
                <a:avLst>
                  <a:gd name="adj1" fmla="val 10230"/>
                  <a:gd name="adj2" fmla="val 195221"/>
                </a:avLst>
              </a:prstGeom>
              <a:ln w="76200" cmpd="sng">
                <a:solidFill>
                  <a:srgbClr val="FF0000"/>
                </a:solidFill>
                <a:headEnd type="none" w="med" len="med"/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/>
            <p:cNvSpPr txBox="1"/>
            <p:nvPr/>
          </p:nvSpPr>
          <p:spPr>
            <a:xfrm>
              <a:off x="6128317" y="1352820"/>
              <a:ext cx="10311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</a:rPr>
                <a:t>Write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0" y="5201788"/>
            <a:ext cx="914399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</a:t>
            </a:r>
            <a:r>
              <a:rPr lang="en-US" sz="2800" dirty="0" smtClean="0"/>
              <a:t>pdate functions </a:t>
            </a:r>
            <a:r>
              <a:rPr lang="en-US" sz="3200" b="1" i="1" dirty="0" smtClean="0"/>
              <a:t>one</a:t>
            </a:r>
            <a:r>
              <a:rPr lang="en-US" sz="3200" dirty="0" smtClean="0"/>
              <a:t> </a:t>
            </a:r>
            <a:r>
              <a:rPr lang="en-US" sz="2800" dirty="0" smtClean="0"/>
              <a:t>vertex apart can be run in parallel.</a:t>
            </a:r>
            <a:endParaRPr lang="en-US" sz="2800" dirty="0"/>
          </a:p>
        </p:txBody>
      </p:sp>
      <p:sp>
        <p:nvSpPr>
          <p:cNvPr id="165" name="TextBox 164"/>
          <p:cNvSpPr txBox="1"/>
          <p:nvPr/>
        </p:nvSpPr>
        <p:spPr>
          <a:xfrm>
            <a:off x="603804" y="5815463"/>
            <a:ext cx="7702137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Edge Consistency </a:t>
            </a:r>
            <a:endParaRPr lang="en-US" sz="36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4061972" y="3594100"/>
            <a:ext cx="5057696" cy="1705202"/>
            <a:chOff x="4061972" y="3594100"/>
            <a:chExt cx="5057696" cy="1705202"/>
          </a:xfrm>
        </p:grpSpPr>
        <p:sp>
          <p:nvSpPr>
            <p:cNvPr id="3" name="Rectangle 2"/>
            <p:cNvSpPr/>
            <p:nvPr/>
          </p:nvSpPr>
          <p:spPr bwMode="auto">
            <a:xfrm>
              <a:off x="6592368" y="4458002"/>
              <a:ext cx="2527300" cy="84130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rPr>
                <a:t>Overlapping regions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000" i="0" u="none" strike="noStrike" cap="none" normalizeH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rPr>
                <a:t> are only read.</a:t>
              </a:r>
              <a:endPara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cxnSp>
          <p:nvCxnSpPr>
            <p:cNvPr id="61" name="Shape 69"/>
            <p:cNvCxnSpPr>
              <a:stCxn id="3" idx="0"/>
            </p:cNvCxnSpPr>
            <p:nvPr/>
          </p:nvCxnSpPr>
          <p:spPr bwMode="auto">
            <a:xfrm rot="16200000" flipV="1">
              <a:off x="6818005" y="3419988"/>
              <a:ext cx="863902" cy="1212125"/>
            </a:xfrm>
            <a:prstGeom prst="curvedConnector2">
              <a:avLst/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4" name="Shape 69"/>
            <p:cNvCxnSpPr>
              <a:stCxn id="3" idx="0"/>
            </p:cNvCxnSpPr>
            <p:nvPr/>
          </p:nvCxnSpPr>
          <p:spPr bwMode="auto">
            <a:xfrm rot="16200000" flipV="1">
              <a:off x="6074525" y="2676509"/>
              <a:ext cx="773447" cy="2789540"/>
            </a:xfrm>
            <a:prstGeom prst="curvedConnector2">
              <a:avLst/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68" name="Shape 69"/>
            <p:cNvCxnSpPr>
              <a:stCxn id="3" idx="1"/>
              <a:endCxn id="91" idx="4"/>
            </p:cNvCxnSpPr>
            <p:nvPr/>
          </p:nvCxnSpPr>
          <p:spPr bwMode="auto">
            <a:xfrm rot="10800000" flipV="1">
              <a:off x="4061972" y="4878652"/>
              <a:ext cx="2530396" cy="204248"/>
            </a:xfrm>
            <a:prstGeom prst="curvedConnector4">
              <a:avLst>
                <a:gd name="adj1" fmla="val 3223"/>
                <a:gd name="adj2" fmla="val 237040"/>
              </a:avLst>
            </a:prstGeom>
            <a:ln w="76200" cmpd="sng">
              <a:solidFill>
                <a:srgbClr val="00FF00"/>
              </a:solidFill>
              <a:headEnd type="none" w="med" len="med"/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51" name="TextBox 250"/>
          <p:cNvSpPr txBox="1"/>
          <p:nvPr/>
        </p:nvSpPr>
        <p:spPr>
          <a:xfrm>
            <a:off x="1469188" y="1803975"/>
            <a:ext cx="6176829" cy="286232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4000" dirty="0" smtClean="0"/>
              <a:t> Stronger / Weaker </a:t>
            </a:r>
          </a:p>
          <a:p>
            <a:pPr algn="ctr"/>
            <a:r>
              <a:rPr lang="en-US" sz="4000" dirty="0" smtClean="0"/>
              <a:t>consistency levels available</a:t>
            </a:r>
          </a:p>
          <a:p>
            <a:pPr algn="ctr"/>
            <a:endParaRPr lang="en-US" sz="3600" dirty="0"/>
          </a:p>
          <a:p>
            <a:pPr algn="ctr"/>
            <a:r>
              <a:rPr lang="en-US" sz="3200" i="1" dirty="0" smtClean="0"/>
              <a:t>User-tunable consistency levels</a:t>
            </a:r>
          </a:p>
          <a:p>
            <a:pPr algn="ctr"/>
            <a:r>
              <a:rPr lang="en-US" sz="3200" i="1" dirty="0" smtClean="0"/>
              <a:t>trades off parallelism &amp; consistency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214223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0" grpId="0" animBg="1"/>
      <p:bldP spid="153" grpId="0"/>
      <p:bldP spid="165" grpId="0" animBg="1"/>
      <p:bldP spid="25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Stronger / Weaker Consistency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581352" y="1233519"/>
            <a:ext cx="3651464" cy="2647892"/>
            <a:chOff x="2276255" y="1642477"/>
            <a:chExt cx="5043199" cy="3657121"/>
          </a:xfrm>
        </p:grpSpPr>
        <p:sp>
          <p:nvSpPr>
            <p:cNvPr id="29" name="Freeform 28"/>
            <p:cNvSpPr/>
            <p:nvPr/>
          </p:nvSpPr>
          <p:spPr bwMode="auto">
            <a:xfrm>
              <a:off x="3594244" y="1787420"/>
              <a:ext cx="3340383" cy="2436451"/>
            </a:xfrm>
            <a:custGeom>
              <a:avLst/>
              <a:gdLst>
                <a:gd name="connsiteX0" fmla="*/ 1930400 w 3149600"/>
                <a:gd name="connsiteY0" fmla="*/ 159926 h 2455333"/>
                <a:gd name="connsiteX1" fmla="*/ 237067 w 3149600"/>
                <a:gd name="connsiteY1" fmla="*/ 193793 h 2455333"/>
                <a:gd name="connsiteX2" fmla="*/ 508000 w 3149600"/>
                <a:gd name="connsiteY2" fmla="*/ 1322682 h 2455333"/>
                <a:gd name="connsiteX3" fmla="*/ 993423 w 3149600"/>
                <a:gd name="connsiteY3" fmla="*/ 2304815 h 2455333"/>
                <a:gd name="connsiteX4" fmla="*/ 1569156 w 3149600"/>
                <a:gd name="connsiteY4" fmla="*/ 2225793 h 2455333"/>
                <a:gd name="connsiteX5" fmla="*/ 1919111 w 3149600"/>
                <a:gd name="connsiteY5" fmla="*/ 1175926 h 2455333"/>
                <a:gd name="connsiteX6" fmla="*/ 2291645 w 3149600"/>
                <a:gd name="connsiteY6" fmla="*/ 2135482 h 2455333"/>
                <a:gd name="connsiteX7" fmla="*/ 2889956 w 3149600"/>
                <a:gd name="connsiteY7" fmla="*/ 2304815 h 2455333"/>
                <a:gd name="connsiteX8" fmla="*/ 3081867 w 3149600"/>
                <a:gd name="connsiteY8" fmla="*/ 1841970 h 2455333"/>
                <a:gd name="connsiteX9" fmla="*/ 2483556 w 3149600"/>
                <a:gd name="connsiteY9" fmla="*/ 600193 h 2455333"/>
                <a:gd name="connsiteX10" fmla="*/ 1930400 w 3149600"/>
                <a:gd name="connsiteY10" fmla="*/ 159926 h 2455333"/>
                <a:gd name="connsiteX0" fmla="*/ 1969911 w 3155244"/>
                <a:gd name="connsiteY0" fmla="*/ 96426 h 2468033"/>
                <a:gd name="connsiteX1" fmla="*/ 242711 w 3155244"/>
                <a:gd name="connsiteY1" fmla="*/ 206493 h 2468033"/>
                <a:gd name="connsiteX2" fmla="*/ 513644 w 3155244"/>
                <a:gd name="connsiteY2" fmla="*/ 1335382 h 2468033"/>
                <a:gd name="connsiteX3" fmla="*/ 999067 w 3155244"/>
                <a:gd name="connsiteY3" fmla="*/ 2317515 h 2468033"/>
                <a:gd name="connsiteX4" fmla="*/ 1574800 w 3155244"/>
                <a:gd name="connsiteY4" fmla="*/ 2238493 h 2468033"/>
                <a:gd name="connsiteX5" fmla="*/ 1924755 w 3155244"/>
                <a:gd name="connsiteY5" fmla="*/ 1188626 h 2468033"/>
                <a:gd name="connsiteX6" fmla="*/ 2297289 w 3155244"/>
                <a:gd name="connsiteY6" fmla="*/ 2148182 h 2468033"/>
                <a:gd name="connsiteX7" fmla="*/ 2895600 w 3155244"/>
                <a:gd name="connsiteY7" fmla="*/ 2317515 h 2468033"/>
                <a:gd name="connsiteX8" fmla="*/ 3087511 w 3155244"/>
                <a:gd name="connsiteY8" fmla="*/ 1854670 h 2468033"/>
                <a:gd name="connsiteX9" fmla="*/ 2489200 w 3155244"/>
                <a:gd name="connsiteY9" fmla="*/ 612893 h 2468033"/>
                <a:gd name="connsiteX10" fmla="*/ 1969911 w 3155244"/>
                <a:gd name="connsiteY10" fmla="*/ 96426 h 2468033"/>
                <a:gd name="connsiteX0" fmla="*/ 1969911 w 3165592"/>
                <a:gd name="connsiteY0" fmla="*/ 96426 h 2468033"/>
                <a:gd name="connsiteX1" fmla="*/ 242711 w 3165592"/>
                <a:gd name="connsiteY1" fmla="*/ 206493 h 2468033"/>
                <a:gd name="connsiteX2" fmla="*/ 513644 w 3165592"/>
                <a:gd name="connsiteY2" fmla="*/ 1335382 h 2468033"/>
                <a:gd name="connsiteX3" fmla="*/ 999067 w 3165592"/>
                <a:gd name="connsiteY3" fmla="*/ 2317515 h 2468033"/>
                <a:gd name="connsiteX4" fmla="*/ 1574800 w 3165592"/>
                <a:gd name="connsiteY4" fmla="*/ 2238493 h 2468033"/>
                <a:gd name="connsiteX5" fmla="*/ 1924755 w 3165592"/>
                <a:gd name="connsiteY5" fmla="*/ 1188626 h 2468033"/>
                <a:gd name="connsiteX6" fmla="*/ 2297289 w 3165592"/>
                <a:gd name="connsiteY6" fmla="*/ 2148182 h 2468033"/>
                <a:gd name="connsiteX7" fmla="*/ 2895600 w 3165592"/>
                <a:gd name="connsiteY7" fmla="*/ 2317515 h 2468033"/>
                <a:gd name="connsiteX8" fmla="*/ 3087511 w 3165592"/>
                <a:gd name="connsiteY8" fmla="*/ 1854670 h 2468033"/>
                <a:gd name="connsiteX9" fmla="*/ 2427111 w 3165592"/>
                <a:gd name="connsiteY9" fmla="*/ 477426 h 2468033"/>
                <a:gd name="connsiteX10" fmla="*/ 1969911 w 3165592"/>
                <a:gd name="connsiteY10" fmla="*/ 96426 h 2468033"/>
                <a:gd name="connsiteX0" fmla="*/ 1881011 w 3152892"/>
                <a:gd name="connsiteY0" fmla="*/ 96426 h 2468033"/>
                <a:gd name="connsiteX1" fmla="*/ 230011 w 3152892"/>
                <a:gd name="connsiteY1" fmla="*/ 206493 h 2468033"/>
                <a:gd name="connsiteX2" fmla="*/ 500944 w 3152892"/>
                <a:gd name="connsiteY2" fmla="*/ 1335382 h 2468033"/>
                <a:gd name="connsiteX3" fmla="*/ 986367 w 3152892"/>
                <a:gd name="connsiteY3" fmla="*/ 2317515 h 2468033"/>
                <a:gd name="connsiteX4" fmla="*/ 1562100 w 3152892"/>
                <a:gd name="connsiteY4" fmla="*/ 2238493 h 2468033"/>
                <a:gd name="connsiteX5" fmla="*/ 1912055 w 3152892"/>
                <a:gd name="connsiteY5" fmla="*/ 1188626 h 2468033"/>
                <a:gd name="connsiteX6" fmla="*/ 2284589 w 3152892"/>
                <a:gd name="connsiteY6" fmla="*/ 2148182 h 2468033"/>
                <a:gd name="connsiteX7" fmla="*/ 2882900 w 3152892"/>
                <a:gd name="connsiteY7" fmla="*/ 2317515 h 2468033"/>
                <a:gd name="connsiteX8" fmla="*/ 3074811 w 3152892"/>
                <a:gd name="connsiteY8" fmla="*/ 1854670 h 2468033"/>
                <a:gd name="connsiteX9" fmla="*/ 2414411 w 3152892"/>
                <a:gd name="connsiteY9" fmla="*/ 477426 h 2468033"/>
                <a:gd name="connsiteX10" fmla="*/ 1881011 w 3152892"/>
                <a:gd name="connsiteY10" fmla="*/ 96426 h 24680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7921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92111 w 3063992"/>
                <a:gd name="connsiteY11" fmla="*/ 50800 h 2422407"/>
                <a:gd name="connsiteX0" fmla="*/ 17159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15911 w 3063992"/>
                <a:gd name="connsiteY11" fmla="*/ 50800 h 2422407"/>
                <a:gd name="connsiteX0" fmla="*/ 1779411 w 3127492"/>
                <a:gd name="connsiteY0" fmla="*/ 38100 h 2409707"/>
                <a:gd name="connsiteX1" fmla="*/ 1093611 w 3127492"/>
                <a:gd name="connsiteY1" fmla="*/ 190500 h 2409707"/>
                <a:gd name="connsiteX2" fmla="*/ 103011 w 3127492"/>
                <a:gd name="connsiteY2" fmla="*/ 266700 h 2409707"/>
                <a:gd name="connsiteX3" fmla="*/ 475544 w 3127492"/>
                <a:gd name="connsiteY3" fmla="*/ 1277056 h 2409707"/>
                <a:gd name="connsiteX4" fmla="*/ 960967 w 3127492"/>
                <a:gd name="connsiteY4" fmla="*/ 2259189 h 2409707"/>
                <a:gd name="connsiteX5" fmla="*/ 1536700 w 3127492"/>
                <a:gd name="connsiteY5" fmla="*/ 2180167 h 2409707"/>
                <a:gd name="connsiteX6" fmla="*/ 1886655 w 3127492"/>
                <a:gd name="connsiteY6" fmla="*/ 1130300 h 2409707"/>
                <a:gd name="connsiteX7" fmla="*/ 2259189 w 3127492"/>
                <a:gd name="connsiteY7" fmla="*/ 2089856 h 2409707"/>
                <a:gd name="connsiteX8" fmla="*/ 2857500 w 3127492"/>
                <a:gd name="connsiteY8" fmla="*/ 2259189 h 2409707"/>
                <a:gd name="connsiteX9" fmla="*/ 3049411 w 3127492"/>
                <a:gd name="connsiteY9" fmla="*/ 1796344 h 2409707"/>
                <a:gd name="connsiteX10" fmla="*/ 2389011 w 3127492"/>
                <a:gd name="connsiteY10" fmla="*/ 419100 h 2409707"/>
                <a:gd name="connsiteX11" fmla="*/ 1779411 w 3127492"/>
                <a:gd name="connsiteY11" fmla="*/ 38100 h 2409707"/>
                <a:gd name="connsiteX0" fmla="*/ 1855611 w 3127492"/>
                <a:gd name="connsiteY0" fmla="*/ 38100 h 2333507"/>
                <a:gd name="connsiteX1" fmla="*/ 1093611 w 3127492"/>
                <a:gd name="connsiteY1" fmla="*/ 114300 h 2333507"/>
                <a:gd name="connsiteX2" fmla="*/ 103011 w 3127492"/>
                <a:gd name="connsiteY2" fmla="*/ 190500 h 2333507"/>
                <a:gd name="connsiteX3" fmla="*/ 475544 w 3127492"/>
                <a:gd name="connsiteY3" fmla="*/ 1200856 h 2333507"/>
                <a:gd name="connsiteX4" fmla="*/ 960967 w 3127492"/>
                <a:gd name="connsiteY4" fmla="*/ 2182989 h 2333507"/>
                <a:gd name="connsiteX5" fmla="*/ 1536700 w 3127492"/>
                <a:gd name="connsiteY5" fmla="*/ 2103967 h 2333507"/>
                <a:gd name="connsiteX6" fmla="*/ 1886655 w 3127492"/>
                <a:gd name="connsiteY6" fmla="*/ 1054100 h 2333507"/>
                <a:gd name="connsiteX7" fmla="*/ 2259189 w 3127492"/>
                <a:gd name="connsiteY7" fmla="*/ 2013656 h 2333507"/>
                <a:gd name="connsiteX8" fmla="*/ 2857500 w 3127492"/>
                <a:gd name="connsiteY8" fmla="*/ 2182989 h 2333507"/>
                <a:gd name="connsiteX9" fmla="*/ 3049411 w 3127492"/>
                <a:gd name="connsiteY9" fmla="*/ 1720144 h 2333507"/>
                <a:gd name="connsiteX10" fmla="*/ 2389011 w 3127492"/>
                <a:gd name="connsiteY10" fmla="*/ 342900 h 2333507"/>
                <a:gd name="connsiteX11" fmla="*/ 1855611 w 3127492"/>
                <a:gd name="connsiteY11" fmla="*/ 38100 h 2333507"/>
                <a:gd name="connsiteX0" fmla="*/ 1765300 w 3037181"/>
                <a:gd name="connsiteY0" fmla="*/ 38100 h 2374900"/>
                <a:gd name="connsiteX1" fmla="*/ 1003300 w 3037181"/>
                <a:gd name="connsiteY1" fmla="*/ 114300 h 2374900"/>
                <a:gd name="connsiteX2" fmla="*/ 12700 w 3037181"/>
                <a:gd name="connsiteY2" fmla="*/ 190500 h 2374900"/>
                <a:gd name="connsiteX3" fmla="*/ 1079500 w 3037181"/>
                <a:gd name="connsiteY3" fmla="*/ 952500 h 2374900"/>
                <a:gd name="connsiteX4" fmla="*/ 870656 w 3037181"/>
                <a:gd name="connsiteY4" fmla="*/ 2182989 h 2374900"/>
                <a:gd name="connsiteX5" fmla="*/ 1446389 w 3037181"/>
                <a:gd name="connsiteY5" fmla="*/ 2103967 h 2374900"/>
                <a:gd name="connsiteX6" fmla="*/ 1796344 w 3037181"/>
                <a:gd name="connsiteY6" fmla="*/ 1054100 h 2374900"/>
                <a:gd name="connsiteX7" fmla="*/ 2168878 w 3037181"/>
                <a:gd name="connsiteY7" fmla="*/ 2013656 h 2374900"/>
                <a:gd name="connsiteX8" fmla="*/ 2767189 w 3037181"/>
                <a:gd name="connsiteY8" fmla="*/ 2182989 h 2374900"/>
                <a:gd name="connsiteX9" fmla="*/ 2959100 w 3037181"/>
                <a:gd name="connsiteY9" fmla="*/ 1720144 h 2374900"/>
                <a:gd name="connsiteX10" fmla="*/ 2298700 w 3037181"/>
                <a:gd name="connsiteY10" fmla="*/ 342900 h 2374900"/>
                <a:gd name="connsiteX11" fmla="*/ 1765300 w 3037181"/>
                <a:gd name="connsiteY11" fmla="*/ 38100 h 2374900"/>
                <a:gd name="connsiteX0" fmla="*/ 1765300 w 3037181"/>
                <a:gd name="connsiteY0" fmla="*/ 38100 h 2239433"/>
                <a:gd name="connsiteX1" fmla="*/ 1003300 w 3037181"/>
                <a:gd name="connsiteY1" fmla="*/ 114300 h 2239433"/>
                <a:gd name="connsiteX2" fmla="*/ 12700 w 3037181"/>
                <a:gd name="connsiteY2" fmla="*/ 190500 h 2239433"/>
                <a:gd name="connsiteX3" fmla="*/ 1079500 w 3037181"/>
                <a:gd name="connsiteY3" fmla="*/ 952500 h 2239433"/>
                <a:gd name="connsiteX4" fmla="*/ 698500 w 3037181"/>
                <a:gd name="connsiteY4" fmla="*/ 1866899 h 2239433"/>
                <a:gd name="connsiteX5" fmla="*/ 1446389 w 3037181"/>
                <a:gd name="connsiteY5" fmla="*/ 2103967 h 2239433"/>
                <a:gd name="connsiteX6" fmla="*/ 1796344 w 3037181"/>
                <a:gd name="connsiteY6" fmla="*/ 1054100 h 2239433"/>
                <a:gd name="connsiteX7" fmla="*/ 2168878 w 3037181"/>
                <a:gd name="connsiteY7" fmla="*/ 2013656 h 2239433"/>
                <a:gd name="connsiteX8" fmla="*/ 2767189 w 3037181"/>
                <a:gd name="connsiteY8" fmla="*/ 2182989 h 2239433"/>
                <a:gd name="connsiteX9" fmla="*/ 2959100 w 3037181"/>
                <a:gd name="connsiteY9" fmla="*/ 1720144 h 2239433"/>
                <a:gd name="connsiteX10" fmla="*/ 2298700 w 3037181"/>
                <a:gd name="connsiteY10" fmla="*/ 342900 h 2239433"/>
                <a:gd name="connsiteX11" fmla="*/ 1765300 w 3037181"/>
                <a:gd name="connsiteY11" fmla="*/ 38100 h 2239433"/>
                <a:gd name="connsiteX0" fmla="*/ 1765300 w 3037181"/>
                <a:gd name="connsiteY0" fmla="*/ 38100 h 2231908"/>
                <a:gd name="connsiteX1" fmla="*/ 1003300 w 3037181"/>
                <a:gd name="connsiteY1" fmla="*/ 114300 h 2231908"/>
                <a:gd name="connsiteX2" fmla="*/ 12700 w 3037181"/>
                <a:gd name="connsiteY2" fmla="*/ 190500 h 2231908"/>
                <a:gd name="connsiteX3" fmla="*/ 1079500 w 3037181"/>
                <a:gd name="connsiteY3" fmla="*/ 952500 h 2231908"/>
                <a:gd name="connsiteX4" fmla="*/ 698500 w 3037181"/>
                <a:gd name="connsiteY4" fmla="*/ 1866899 h 2231908"/>
                <a:gd name="connsiteX5" fmla="*/ 1384300 w 3037181"/>
                <a:gd name="connsiteY5" fmla="*/ 2095500 h 2231908"/>
                <a:gd name="connsiteX6" fmla="*/ 1796344 w 3037181"/>
                <a:gd name="connsiteY6" fmla="*/ 1054100 h 2231908"/>
                <a:gd name="connsiteX7" fmla="*/ 2168878 w 3037181"/>
                <a:gd name="connsiteY7" fmla="*/ 2013656 h 2231908"/>
                <a:gd name="connsiteX8" fmla="*/ 2767189 w 3037181"/>
                <a:gd name="connsiteY8" fmla="*/ 2182989 h 2231908"/>
                <a:gd name="connsiteX9" fmla="*/ 2959100 w 3037181"/>
                <a:gd name="connsiteY9" fmla="*/ 1720144 h 2231908"/>
                <a:gd name="connsiteX10" fmla="*/ 2298700 w 3037181"/>
                <a:gd name="connsiteY10" fmla="*/ 342900 h 2231908"/>
                <a:gd name="connsiteX11" fmla="*/ 1765300 w 3037181"/>
                <a:gd name="connsiteY11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51741 h 2245549"/>
                <a:gd name="connsiteX1" fmla="*/ 1092200 w 3126081"/>
                <a:gd name="connsiteY1" fmla="*/ 127941 h 2245549"/>
                <a:gd name="connsiteX2" fmla="*/ 101600 w 3126081"/>
                <a:gd name="connsiteY2" fmla="*/ 204141 h 2245549"/>
                <a:gd name="connsiteX3" fmla="*/ 177800 w 3126081"/>
                <a:gd name="connsiteY3" fmla="*/ 661341 h 2245549"/>
                <a:gd name="connsiteX4" fmla="*/ 1168400 w 3126081"/>
                <a:gd name="connsiteY4" fmla="*/ 966141 h 2245549"/>
                <a:gd name="connsiteX5" fmla="*/ 787400 w 3126081"/>
                <a:gd name="connsiteY5" fmla="*/ 1880540 h 2245549"/>
                <a:gd name="connsiteX6" fmla="*/ 1473200 w 3126081"/>
                <a:gd name="connsiteY6" fmla="*/ 2109141 h 2245549"/>
                <a:gd name="connsiteX7" fmla="*/ 1885244 w 3126081"/>
                <a:gd name="connsiteY7" fmla="*/ 1067741 h 2245549"/>
                <a:gd name="connsiteX8" fmla="*/ 2257778 w 3126081"/>
                <a:gd name="connsiteY8" fmla="*/ 2027297 h 2245549"/>
                <a:gd name="connsiteX9" fmla="*/ 2856089 w 3126081"/>
                <a:gd name="connsiteY9" fmla="*/ 2196630 h 2245549"/>
                <a:gd name="connsiteX10" fmla="*/ 3048000 w 3126081"/>
                <a:gd name="connsiteY10" fmla="*/ 1733785 h 2245549"/>
                <a:gd name="connsiteX11" fmla="*/ 2387600 w 3126081"/>
                <a:gd name="connsiteY11" fmla="*/ 280341 h 2245549"/>
                <a:gd name="connsiteX12" fmla="*/ 1854200 w 3126081"/>
                <a:gd name="connsiteY12" fmla="*/ 51741 h 2245549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98931 w 3147012"/>
                <a:gd name="connsiteY0" fmla="*/ 25400 h 2295407"/>
                <a:gd name="connsiteX1" fmla="*/ 1113131 w 3147012"/>
                <a:gd name="connsiteY1" fmla="*/ 177799 h 2295407"/>
                <a:gd name="connsiteX2" fmla="*/ 122531 w 3147012"/>
                <a:gd name="connsiteY2" fmla="*/ 253999 h 2295407"/>
                <a:gd name="connsiteX3" fmla="*/ 198731 w 3147012"/>
                <a:gd name="connsiteY3" fmla="*/ 711199 h 2295407"/>
                <a:gd name="connsiteX4" fmla="*/ 1189331 w 3147012"/>
                <a:gd name="connsiteY4" fmla="*/ 1015999 h 2295407"/>
                <a:gd name="connsiteX5" fmla="*/ 808331 w 3147012"/>
                <a:gd name="connsiteY5" fmla="*/ 1930398 h 2295407"/>
                <a:gd name="connsiteX6" fmla="*/ 1494131 w 3147012"/>
                <a:gd name="connsiteY6" fmla="*/ 2158999 h 2295407"/>
                <a:gd name="connsiteX7" fmla="*/ 1906175 w 3147012"/>
                <a:gd name="connsiteY7" fmla="*/ 1117599 h 2295407"/>
                <a:gd name="connsiteX8" fmla="*/ 2278709 w 3147012"/>
                <a:gd name="connsiteY8" fmla="*/ 2077155 h 2295407"/>
                <a:gd name="connsiteX9" fmla="*/ 2877020 w 3147012"/>
                <a:gd name="connsiteY9" fmla="*/ 2246488 h 2295407"/>
                <a:gd name="connsiteX10" fmla="*/ 3068931 w 3147012"/>
                <a:gd name="connsiteY10" fmla="*/ 1783643 h 2295407"/>
                <a:gd name="connsiteX11" fmla="*/ 2408531 w 3147012"/>
                <a:gd name="connsiteY11" fmla="*/ 330199 h 2295407"/>
                <a:gd name="connsiteX12" fmla="*/ 1798931 w 3147012"/>
                <a:gd name="connsiteY12" fmla="*/ 25400 h 229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7012" h="2295407">
                  <a:moveTo>
                    <a:pt x="1798931" y="25400"/>
                  </a:moveTo>
                  <a:cubicBezTo>
                    <a:pt x="1583031" y="0"/>
                    <a:pt x="1467320" y="173566"/>
                    <a:pt x="1113131" y="177799"/>
                  </a:cubicBezTo>
                  <a:cubicBezTo>
                    <a:pt x="837964" y="196143"/>
                    <a:pt x="332081" y="76199"/>
                    <a:pt x="122531" y="253999"/>
                  </a:cubicBezTo>
                  <a:cubicBezTo>
                    <a:pt x="0" y="433210"/>
                    <a:pt x="20931" y="584199"/>
                    <a:pt x="198731" y="711199"/>
                  </a:cubicBezTo>
                  <a:cubicBezTo>
                    <a:pt x="376531" y="838199"/>
                    <a:pt x="1087731" y="812799"/>
                    <a:pt x="1189331" y="1015999"/>
                  </a:cubicBezTo>
                  <a:cubicBezTo>
                    <a:pt x="1290931" y="1219199"/>
                    <a:pt x="757531" y="1739898"/>
                    <a:pt x="808331" y="1930398"/>
                  </a:cubicBezTo>
                  <a:cubicBezTo>
                    <a:pt x="859131" y="2120898"/>
                    <a:pt x="1311157" y="2294465"/>
                    <a:pt x="1494131" y="2158999"/>
                  </a:cubicBezTo>
                  <a:cubicBezTo>
                    <a:pt x="1677105" y="2023533"/>
                    <a:pt x="1775412" y="1131240"/>
                    <a:pt x="1906175" y="1117599"/>
                  </a:cubicBezTo>
                  <a:cubicBezTo>
                    <a:pt x="2036938" y="1103958"/>
                    <a:pt x="2116902" y="1889007"/>
                    <a:pt x="2278709" y="2077155"/>
                  </a:cubicBezTo>
                  <a:cubicBezTo>
                    <a:pt x="2440516" y="2265303"/>
                    <a:pt x="2745316" y="2295407"/>
                    <a:pt x="2877020" y="2246488"/>
                  </a:cubicBezTo>
                  <a:cubicBezTo>
                    <a:pt x="3008724" y="2197569"/>
                    <a:pt x="3147012" y="2103024"/>
                    <a:pt x="3068931" y="1783643"/>
                  </a:cubicBezTo>
                  <a:cubicBezTo>
                    <a:pt x="2990850" y="1464262"/>
                    <a:pt x="2620198" y="623240"/>
                    <a:pt x="2408531" y="330199"/>
                  </a:cubicBezTo>
                  <a:cubicBezTo>
                    <a:pt x="2196864" y="37158"/>
                    <a:pt x="2014831" y="50800"/>
                    <a:pt x="1798931" y="25400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30" name="Oval 29"/>
            <p:cNvSpPr/>
            <p:nvPr/>
          </p:nvSpPr>
          <p:spPr bwMode="auto">
            <a:xfrm>
              <a:off x="5261066" y="1895263"/>
              <a:ext cx="727941" cy="72794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cxnSp>
          <p:nvCxnSpPr>
            <p:cNvPr id="31" name="Straight Arrow Connector 30"/>
            <p:cNvCxnSpPr>
              <a:stCxn id="40" idx="6"/>
              <a:endCxn id="41" idx="2"/>
            </p:cNvCxnSpPr>
            <p:nvPr/>
          </p:nvCxnSpPr>
          <p:spPr bwMode="auto">
            <a:xfrm>
              <a:off x="2692858" y="2265329"/>
              <a:ext cx="1160814" cy="168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2" name="Straight Arrow Connector 31"/>
            <p:cNvCxnSpPr>
              <a:stCxn id="41" idx="6"/>
              <a:endCxn id="42" idx="2"/>
            </p:cNvCxnSpPr>
            <p:nvPr/>
          </p:nvCxnSpPr>
          <p:spPr bwMode="auto">
            <a:xfrm>
              <a:off x="4270274" y="2265329"/>
              <a:ext cx="1160812" cy="168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3" name="Straight Arrow Connector 32"/>
            <p:cNvCxnSpPr>
              <a:stCxn id="46" idx="7"/>
              <a:endCxn id="41" idx="3"/>
            </p:cNvCxnSpPr>
            <p:nvPr/>
          </p:nvCxnSpPr>
          <p:spPr bwMode="auto">
            <a:xfrm rot="5400000" flipH="1" flipV="1">
              <a:off x="3074341" y="2766331"/>
              <a:ext cx="1194051" cy="486628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4" name="Straight Arrow Connector 33"/>
            <p:cNvCxnSpPr>
              <a:stCxn id="48" idx="1"/>
              <a:endCxn id="42" idx="5"/>
            </p:cNvCxnSpPr>
            <p:nvPr/>
          </p:nvCxnSpPr>
          <p:spPr bwMode="auto">
            <a:xfrm rot="16200000" flipV="1">
              <a:off x="5440465" y="2758835"/>
              <a:ext cx="1194051" cy="501622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5" name="Straight Arrow Connector 34"/>
            <p:cNvCxnSpPr>
              <a:stCxn id="47" idx="7"/>
              <a:endCxn id="42" idx="3"/>
            </p:cNvCxnSpPr>
            <p:nvPr/>
          </p:nvCxnSpPr>
          <p:spPr bwMode="auto">
            <a:xfrm rot="5400000" flipH="1" flipV="1">
              <a:off x="4651755" y="2766331"/>
              <a:ext cx="1194051" cy="486628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9" name="Straight Arrow Connector 38"/>
            <p:cNvCxnSpPr>
              <a:stCxn id="47" idx="1"/>
              <a:endCxn id="41" idx="5"/>
            </p:cNvCxnSpPr>
            <p:nvPr/>
          </p:nvCxnSpPr>
          <p:spPr bwMode="auto">
            <a:xfrm rot="16200000" flipV="1">
              <a:off x="3863050" y="2758835"/>
              <a:ext cx="1194051" cy="501622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sp>
          <p:nvSpPr>
            <p:cNvPr id="40" name="Oval 4"/>
            <p:cNvSpPr/>
            <p:nvPr/>
          </p:nvSpPr>
          <p:spPr bwMode="auto">
            <a:xfrm>
              <a:off x="2276255" y="2057028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1" name="Oval 40"/>
            <p:cNvSpPr/>
            <p:nvPr/>
          </p:nvSpPr>
          <p:spPr bwMode="auto">
            <a:xfrm>
              <a:off x="3853671" y="2057028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2" name="Oval 41"/>
            <p:cNvSpPr/>
            <p:nvPr/>
          </p:nvSpPr>
          <p:spPr bwMode="auto">
            <a:xfrm>
              <a:off x="5431086" y="2057028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3" name="Oval 4"/>
            <p:cNvSpPr/>
            <p:nvPr/>
          </p:nvSpPr>
          <p:spPr bwMode="auto">
            <a:xfrm>
              <a:off x="2276255" y="4882995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4" name="Oval 43"/>
            <p:cNvSpPr/>
            <p:nvPr/>
          </p:nvSpPr>
          <p:spPr bwMode="auto">
            <a:xfrm>
              <a:off x="3853670" y="4882995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5" name="Oval 44"/>
            <p:cNvSpPr/>
            <p:nvPr/>
          </p:nvSpPr>
          <p:spPr bwMode="auto">
            <a:xfrm>
              <a:off x="5431086" y="4882995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6" name="Oval 4"/>
            <p:cNvSpPr/>
            <p:nvPr/>
          </p:nvSpPr>
          <p:spPr bwMode="auto">
            <a:xfrm>
              <a:off x="3072459" y="3545660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7" name="Oval 46"/>
            <p:cNvSpPr/>
            <p:nvPr/>
          </p:nvSpPr>
          <p:spPr bwMode="auto">
            <a:xfrm>
              <a:off x="4649875" y="3545660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48" name="Oval 47"/>
            <p:cNvSpPr/>
            <p:nvPr/>
          </p:nvSpPr>
          <p:spPr bwMode="auto">
            <a:xfrm>
              <a:off x="6227290" y="3545660"/>
              <a:ext cx="416603" cy="41660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49" name="Straight Arrow Connector 48"/>
            <p:cNvCxnSpPr>
              <a:stCxn id="43" idx="6"/>
              <a:endCxn id="44" idx="2"/>
            </p:cNvCxnSpPr>
            <p:nvPr/>
          </p:nvCxnSpPr>
          <p:spPr bwMode="auto">
            <a:xfrm>
              <a:off x="2692858" y="5091299"/>
              <a:ext cx="1160812" cy="405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55" name="Straight Arrow Connector 54"/>
            <p:cNvCxnSpPr>
              <a:stCxn id="44" idx="6"/>
              <a:endCxn id="45" idx="2"/>
            </p:cNvCxnSpPr>
            <p:nvPr/>
          </p:nvCxnSpPr>
          <p:spPr bwMode="auto">
            <a:xfrm>
              <a:off x="4270274" y="5091299"/>
              <a:ext cx="1160812" cy="405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66" name="Straight Arrow Connector 65"/>
            <p:cNvCxnSpPr>
              <a:stCxn id="44" idx="1"/>
              <a:endCxn id="46" idx="5"/>
            </p:cNvCxnSpPr>
            <p:nvPr/>
          </p:nvCxnSpPr>
          <p:spPr bwMode="auto">
            <a:xfrm rot="16200000" flipV="1">
              <a:off x="3149993" y="4179315"/>
              <a:ext cx="1042748" cy="48662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67" name="Straight Arrow Connector 66"/>
            <p:cNvCxnSpPr>
              <a:stCxn id="45" idx="7"/>
              <a:endCxn id="48" idx="3"/>
            </p:cNvCxnSpPr>
            <p:nvPr/>
          </p:nvCxnSpPr>
          <p:spPr bwMode="auto">
            <a:xfrm rot="5400000" flipH="1" flipV="1">
              <a:off x="5516115" y="4171823"/>
              <a:ext cx="1042748" cy="501618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68" name="Straight Arrow Connector 67"/>
            <p:cNvCxnSpPr>
              <a:stCxn id="45" idx="1"/>
              <a:endCxn id="47" idx="5"/>
            </p:cNvCxnSpPr>
            <p:nvPr/>
          </p:nvCxnSpPr>
          <p:spPr bwMode="auto">
            <a:xfrm rot="16200000" flipV="1">
              <a:off x="4727410" y="4179315"/>
              <a:ext cx="1042748" cy="486626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69" name="Straight Arrow Connector 68"/>
            <p:cNvCxnSpPr>
              <a:stCxn id="44" idx="7"/>
              <a:endCxn id="47" idx="3"/>
            </p:cNvCxnSpPr>
            <p:nvPr/>
          </p:nvCxnSpPr>
          <p:spPr bwMode="auto">
            <a:xfrm rot="5400000" flipH="1" flipV="1">
              <a:off x="3938699" y="4171823"/>
              <a:ext cx="1042748" cy="501618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grpSp>
          <p:nvGrpSpPr>
            <p:cNvPr id="70" name="Group 182"/>
            <p:cNvGrpSpPr/>
            <p:nvPr/>
          </p:nvGrpSpPr>
          <p:grpSpPr>
            <a:xfrm>
              <a:off x="3893898" y="2137910"/>
              <a:ext cx="2698470" cy="1779407"/>
              <a:chOff x="2133600" y="2884114"/>
              <a:chExt cx="2542259" cy="1676400"/>
            </a:xfrm>
          </p:grpSpPr>
          <p:sp>
            <p:nvSpPr>
              <p:cNvPr id="71" name="Cube 70"/>
              <p:cNvSpPr/>
              <p:nvPr/>
            </p:nvSpPr>
            <p:spPr bwMode="auto">
              <a:xfrm>
                <a:off x="3657600" y="28841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2" name="Cube 71"/>
              <p:cNvSpPr/>
              <p:nvPr/>
            </p:nvSpPr>
            <p:spPr bwMode="auto">
              <a:xfrm>
                <a:off x="2845001" y="42557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3" name="Cube 72"/>
              <p:cNvSpPr/>
              <p:nvPr/>
            </p:nvSpPr>
            <p:spPr bwMode="auto">
              <a:xfrm>
                <a:off x="2133600" y="28841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5" name="Cube 74"/>
              <p:cNvSpPr/>
              <p:nvPr/>
            </p:nvSpPr>
            <p:spPr bwMode="auto">
              <a:xfrm>
                <a:off x="4343400" y="42557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grpSp>
          <p:nvGrpSpPr>
            <p:cNvPr id="76" name="Group 192"/>
            <p:cNvGrpSpPr/>
            <p:nvPr/>
          </p:nvGrpSpPr>
          <p:grpSpPr>
            <a:xfrm>
              <a:off x="4681731" y="2099779"/>
              <a:ext cx="1606570" cy="1137288"/>
              <a:chOff x="2875826" y="2848192"/>
              <a:chExt cx="1513567" cy="1071452"/>
            </a:xfrm>
          </p:grpSpPr>
          <p:sp>
            <p:nvSpPr>
              <p:cNvPr id="77" name="Cube 76"/>
              <p:cNvSpPr/>
              <p:nvPr/>
            </p:nvSpPr>
            <p:spPr bwMode="auto">
              <a:xfrm>
                <a:off x="2875826" y="2848192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8" name="Cube 77"/>
              <p:cNvSpPr/>
              <p:nvPr/>
            </p:nvSpPr>
            <p:spPr bwMode="auto">
              <a:xfrm>
                <a:off x="3282701" y="361484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79" name="Cube 78"/>
              <p:cNvSpPr/>
              <p:nvPr/>
            </p:nvSpPr>
            <p:spPr bwMode="auto">
              <a:xfrm>
                <a:off x="4056934" y="361484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4063607" y="1895263"/>
              <a:ext cx="2581919" cy="1858699"/>
              <a:chOff x="4061974" y="1895263"/>
              <a:chExt cx="2581919" cy="1858699"/>
            </a:xfrm>
          </p:grpSpPr>
          <p:cxnSp>
            <p:nvCxnSpPr>
              <p:cNvPr id="81" name="Shape 69"/>
              <p:cNvCxnSpPr>
                <a:stCxn id="48" idx="6"/>
                <a:endCxn id="30" idx="6"/>
              </p:cNvCxnSpPr>
              <p:nvPr/>
            </p:nvCxnSpPr>
            <p:spPr bwMode="auto">
              <a:xfrm flipH="1" flipV="1">
                <a:off x="5989007" y="2259233"/>
                <a:ext cx="654886" cy="1494729"/>
              </a:xfrm>
              <a:prstGeom prst="curvedConnector3">
                <a:avLst>
                  <a:gd name="adj1" fmla="val -34907"/>
                </a:avLst>
              </a:prstGeom>
              <a:ln w="76200" cmpd="sng">
                <a:solidFill>
                  <a:srgbClr val="FF0000"/>
                </a:solidFill>
                <a:headEnd type="triangle" w="med" len="med"/>
                <a:tailEnd type="non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2" name="Shape 72"/>
              <p:cNvCxnSpPr>
                <a:stCxn id="41" idx="0"/>
                <a:endCxn id="30" idx="0"/>
              </p:cNvCxnSpPr>
              <p:nvPr/>
            </p:nvCxnSpPr>
            <p:spPr bwMode="auto">
              <a:xfrm rot="5400000" flipH="1" flipV="1">
                <a:off x="4762623" y="1194614"/>
                <a:ext cx="161765" cy="1563064"/>
              </a:xfrm>
              <a:prstGeom prst="curvedConnector3">
                <a:avLst>
                  <a:gd name="adj1" fmla="val 470928"/>
                </a:avLst>
              </a:prstGeom>
              <a:ln w="76200" cmpd="sng">
                <a:solidFill>
                  <a:srgbClr val="FF0000"/>
                </a:solidFill>
                <a:headEnd type="triangle" w="med" len="med"/>
                <a:tailEnd type="non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83" name="Shape 69"/>
              <p:cNvCxnSpPr>
                <a:stCxn id="47" idx="0"/>
                <a:endCxn id="42" idx="2"/>
              </p:cNvCxnSpPr>
              <p:nvPr/>
            </p:nvCxnSpPr>
            <p:spPr bwMode="auto">
              <a:xfrm rot="5400000" flipH="1" flipV="1">
                <a:off x="4504466" y="2619041"/>
                <a:ext cx="1280330" cy="572909"/>
              </a:xfrm>
              <a:prstGeom prst="curvedConnector2">
                <a:avLst/>
              </a:prstGeom>
              <a:ln w="76200" cmpd="sng">
                <a:solidFill>
                  <a:srgbClr val="FF0000"/>
                </a:solidFill>
                <a:headEnd type="triangle" w="med" len="med"/>
                <a:tailEnd type="non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/>
            <p:cNvSpPr txBox="1"/>
            <p:nvPr/>
          </p:nvSpPr>
          <p:spPr>
            <a:xfrm>
              <a:off x="6288303" y="1642477"/>
              <a:ext cx="10311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</a:rPr>
                <a:t>Write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798829" y="1213400"/>
            <a:ext cx="4450001" cy="2798208"/>
            <a:chOff x="4798829" y="1213400"/>
            <a:chExt cx="4450001" cy="2798208"/>
          </a:xfrm>
        </p:grpSpPr>
        <p:sp>
          <p:nvSpPr>
            <p:cNvPr id="93" name="Freeform 92"/>
            <p:cNvSpPr/>
            <p:nvPr/>
          </p:nvSpPr>
          <p:spPr bwMode="auto">
            <a:xfrm>
              <a:off x="5753102" y="1338463"/>
              <a:ext cx="2418562" cy="1764082"/>
            </a:xfrm>
            <a:custGeom>
              <a:avLst/>
              <a:gdLst>
                <a:gd name="connsiteX0" fmla="*/ 1930400 w 3149600"/>
                <a:gd name="connsiteY0" fmla="*/ 159926 h 2455333"/>
                <a:gd name="connsiteX1" fmla="*/ 237067 w 3149600"/>
                <a:gd name="connsiteY1" fmla="*/ 193793 h 2455333"/>
                <a:gd name="connsiteX2" fmla="*/ 508000 w 3149600"/>
                <a:gd name="connsiteY2" fmla="*/ 1322682 h 2455333"/>
                <a:gd name="connsiteX3" fmla="*/ 993423 w 3149600"/>
                <a:gd name="connsiteY3" fmla="*/ 2304815 h 2455333"/>
                <a:gd name="connsiteX4" fmla="*/ 1569156 w 3149600"/>
                <a:gd name="connsiteY4" fmla="*/ 2225793 h 2455333"/>
                <a:gd name="connsiteX5" fmla="*/ 1919111 w 3149600"/>
                <a:gd name="connsiteY5" fmla="*/ 1175926 h 2455333"/>
                <a:gd name="connsiteX6" fmla="*/ 2291645 w 3149600"/>
                <a:gd name="connsiteY6" fmla="*/ 2135482 h 2455333"/>
                <a:gd name="connsiteX7" fmla="*/ 2889956 w 3149600"/>
                <a:gd name="connsiteY7" fmla="*/ 2304815 h 2455333"/>
                <a:gd name="connsiteX8" fmla="*/ 3081867 w 3149600"/>
                <a:gd name="connsiteY8" fmla="*/ 1841970 h 2455333"/>
                <a:gd name="connsiteX9" fmla="*/ 2483556 w 3149600"/>
                <a:gd name="connsiteY9" fmla="*/ 600193 h 2455333"/>
                <a:gd name="connsiteX10" fmla="*/ 1930400 w 3149600"/>
                <a:gd name="connsiteY10" fmla="*/ 159926 h 2455333"/>
                <a:gd name="connsiteX0" fmla="*/ 1969911 w 3155244"/>
                <a:gd name="connsiteY0" fmla="*/ 96426 h 2468033"/>
                <a:gd name="connsiteX1" fmla="*/ 242711 w 3155244"/>
                <a:gd name="connsiteY1" fmla="*/ 206493 h 2468033"/>
                <a:gd name="connsiteX2" fmla="*/ 513644 w 3155244"/>
                <a:gd name="connsiteY2" fmla="*/ 1335382 h 2468033"/>
                <a:gd name="connsiteX3" fmla="*/ 999067 w 3155244"/>
                <a:gd name="connsiteY3" fmla="*/ 2317515 h 2468033"/>
                <a:gd name="connsiteX4" fmla="*/ 1574800 w 3155244"/>
                <a:gd name="connsiteY4" fmla="*/ 2238493 h 2468033"/>
                <a:gd name="connsiteX5" fmla="*/ 1924755 w 3155244"/>
                <a:gd name="connsiteY5" fmla="*/ 1188626 h 2468033"/>
                <a:gd name="connsiteX6" fmla="*/ 2297289 w 3155244"/>
                <a:gd name="connsiteY6" fmla="*/ 2148182 h 2468033"/>
                <a:gd name="connsiteX7" fmla="*/ 2895600 w 3155244"/>
                <a:gd name="connsiteY7" fmla="*/ 2317515 h 2468033"/>
                <a:gd name="connsiteX8" fmla="*/ 3087511 w 3155244"/>
                <a:gd name="connsiteY8" fmla="*/ 1854670 h 2468033"/>
                <a:gd name="connsiteX9" fmla="*/ 2489200 w 3155244"/>
                <a:gd name="connsiteY9" fmla="*/ 612893 h 2468033"/>
                <a:gd name="connsiteX10" fmla="*/ 1969911 w 3155244"/>
                <a:gd name="connsiteY10" fmla="*/ 96426 h 2468033"/>
                <a:gd name="connsiteX0" fmla="*/ 1969911 w 3165592"/>
                <a:gd name="connsiteY0" fmla="*/ 96426 h 2468033"/>
                <a:gd name="connsiteX1" fmla="*/ 242711 w 3165592"/>
                <a:gd name="connsiteY1" fmla="*/ 206493 h 2468033"/>
                <a:gd name="connsiteX2" fmla="*/ 513644 w 3165592"/>
                <a:gd name="connsiteY2" fmla="*/ 1335382 h 2468033"/>
                <a:gd name="connsiteX3" fmla="*/ 999067 w 3165592"/>
                <a:gd name="connsiteY3" fmla="*/ 2317515 h 2468033"/>
                <a:gd name="connsiteX4" fmla="*/ 1574800 w 3165592"/>
                <a:gd name="connsiteY4" fmla="*/ 2238493 h 2468033"/>
                <a:gd name="connsiteX5" fmla="*/ 1924755 w 3165592"/>
                <a:gd name="connsiteY5" fmla="*/ 1188626 h 2468033"/>
                <a:gd name="connsiteX6" fmla="*/ 2297289 w 3165592"/>
                <a:gd name="connsiteY6" fmla="*/ 2148182 h 2468033"/>
                <a:gd name="connsiteX7" fmla="*/ 2895600 w 3165592"/>
                <a:gd name="connsiteY7" fmla="*/ 2317515 h 2468033"/>
                <a:gd name="connsiteX8" fmla="*/ 3087511 w 3165592"/>
                <a:gd name="connsiteY8" fmla="*/ 1854670 h 2468033"/>
                <a:gd name="connsiteX9" fmla="*/ 2427111 w 3165592"/>
                <a:gd name="connsiteY9" fmla="*/ 477426 h 2468033"/>
                <a:gd name="connsiteX10" fmla="*/ 1969911 w 3165592"/>
                <a:gd name="connsiteY10" fmla="*/ 96426 h 2468033"/>
                <a:gd name="connsiteX0" fmla="*/ 1881011 w 3152892"/>
                <a:gd name="connsiteY0" fmla="*/ 96426 h 2468033"/>
                <a:gd name="connsiteX1" fmla="*/ 230011 w 3152892"/>
                <a:gd name="connsiteY1" fmla="*/ 206493 h 2468033"/>
                <a:gd name="connsiteX2" fmla="*/ 500944 w 3152892"/>
                <a:gd name="connsiteY2" fmla="*/ 1335382 h 2468033"/>
                <a:gd name="connsiteX3" fmla="*/ 986367 w 3152892"/>
                <a:gd name="connsiteY3" fmla="*/ 2317515 h 2468033"/>
                <a:gd name="connsiteX4" fmla="*/ 1562100 w 3152892"/>
                <a:gd name="connsiteY4" fmla="*/ 2238493 h 2468033"/>
                <a:gd name="connsiteX5" fmla="*/ 1912055 w 3152892"/>
                <a:gd name="connsiteY5" fmla="*/ 1188626 h 2468033"/>
                <a:gd name="connsiteX6" fmla="*/ 2284589 w 3152892"/>
                <a:gd name="connsiteY6" fmla="*/ 2148182 h 2468033"/>
                <a:gd name="connsiteX7" fmla="*/ 2882900 w 3152892"/>
                <a:gd name="connsiteY7" fmla="*/ 2317515 h 2468033"/>
                <a:gd name="connsiteX8" fmla="*/ 3074811 w 3152892"/>
                <a:gd name="connsiteY8" fmla="*/ 1854670 h 2468033"/>
                <a:gd name="connsiteX9" fmla="*/ 2414411 w 3152892"/>
                <a:gd name="connsiteY9" fmla="*/ 477426 h 2468033"/>
                <a:gd name="connsiteX10" fmla="*/ 1881011 w 3152892"/>
                <a:gd name="connsiteY10" fmla="*/ 96426 h 24680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690511 w 2962392"/>
                <a:gd name="connsiteY0" fmla="*/ 83726 h 2455333"/>
                <a:gd name="connsiteX1" fmla="*/ 547511 w 2962392"/>
                <a:gd name="connsiteY1" fmla="*/ 159926 h 2455333"/>
                <a:gd name="connsiteX2" fmla="*/ 39511 w 2962392"/>
                <a:gd name="connsiteY2" fmla="*/ 193793 h 2455333"/>
                <a:gd name="connsiteX3" fmla="*/ 310444 w 2962392"/>
                <a:gd name="connsiteY3" fmla="*/ 1322682 h 2455333"/>
                <a:gd name="connsiteX4" fmla="*/ 795867 w 2962392"/>
                <a:gd name="connsiteY4" fmla="*/ 2304815 h 2455333"/>
                <a:gd name="connsiteX5" fmla="*/ 1371600 w 2962392"/>
                <a:gd name="connsiteY5" fmla="*/ 2225793 h 2455333"/>
                <a:gd name="connsiteX6" fmla="*/ 1721555 w 2962392"/>
                <a:gd name="connsiteY6" fmla="*/ 1175926 h 2455333"/>
                <a:gd name="connsiteX7" fmla="*/ 2094089 w 2962392"/>
                <a:gd name="connsiteY7" fmla="*/ 2135482 h 2455333"/>
                <a:gd name="connsiteX8" fmla="*/ 2692400 w 2962392"/>
                <a:gd name="connsiteY8" fmla="*/ 2304815 h 2455333"/>
                <a:gd name="connsiteX9" fmla="*/ 2884311 w 2962392"/>
                <a:gd name="connsiteY9" fmla="*/ 1841970 h 2455333"/>
                <a:gd name="connsiteX10" fmla="*/ 2223911 w 2962392"/>
                <a:gd name="connsiteY10" fmla="*/ 464726 h 2455333"/>
                <a:gd name="connsiteX11" fmla="*/ 1690511 w 2962392"/>
                <a:gd name="connsiteY11" fmla="*/ 83726 h 2455333"/>
                <a:gd name="connsiteX0" fmla="*/ 17921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92111 w 3063992"/>
                <a:gd name="connsiteY11" fmla="*/ 50800 h 2422407"/>
                <a:gd name="connsiteX0" fmla="*/ 1715911 w 3063992"/>
                <a:gd name="connsiteY0" fmla="*/ 50800 h 2422407"/>
                <a:gd name="connsiteX1" fmla="*/ 649111 w 3063992"/>
                <a:gd name="connsiteY1" fmla="*/ 127000 h 2422407"/>
                <a:gd name="connsiteX2" fmla="*/ 39511 w 3063992"/>
                <a:gd name="connsiteY2" fmla="*/ 279400 h 2422407"/>
                <a:gd name="connsiteX3" fmla="*/ 412044 w 3063992"/>
                <a:gd name="connsiteY3" fmla="*/ 1289756 h 2422407"/>
                <a:gd name="connsiteX4" fmla="*/ 897467 w 3063992"/>
                <a:gd name="connsiteY4" fmla="*/ 2271889 h 2422407"/>
                <a:gd name="connsiteX5" fmla="*/ 1473200 w 3063992"/>
                <a:gd name="connsiteY5" fmla="*/ 2192867 h 2422407"/>
                <a:gd name="connsiteX6" fmla="*/ 1823155 w 3063992"/>
                <a:gd name="connsiteY6" fmla="*/ 1143000 h 2422407"/>
                <a:gd name="connsiteX7" fmla="*/ 2195689 w 3063992"/>
                <a:gd name="connsiteY7" fmla="*/ 2102556 h 2422407"/>
                <a:gd name="connsiteX8" fmla="*/ 2794000 w 3063992"/>
                <a:gd name="connsiteY8" fmla="*/ 2271889 h 2422407"/>
                <a:gd name="connsiteX9" fmla="*/ 2985911 w 3063992"/>
                <a:gd name="connsiteY9" fmla="*/ 1809044 h 2422407"/>
                <a:gd name="connsiteX10" fmla="*/ 2325511 w 3063992"/>
                <a:gd name="connsiteY10" fmla="*/ 431800 h 2422407"/>
                <a:gd name="connsiteX11" fmla="*/ 1715911 w 3063992"/>
                <a:gd name="connsiteY11" fmla="*/ 50800 h 2422407"/>
                <a:gd name="connsiteX0" fmla="*/ 1779411 w 3127492"/>
                <a:gd name="connsiteY0" fmla="*/ 38100 h 2409707"/>
                <a:gd name="connsiteX1" fmla="*/ 1093611 w 3127492"/>
                <a:gd name="connsiteY1" fmla="*/ 190500 h 2409707"/>
                <a:gd name="connsiteX2" fmla="*/ 103011 w 3127492"/>
                <a:gd name="connsiteY2" fmla="*/ 266700 h 2409707"/>
                <a:gd name="connsiteX3" fmla="*/ 475544 w 3127492"/>
                <a:gd name="connsiteY3" fmla="*/ 1277056 h 2409707"/>
                <a:gd name="connsiteX4" fmla="*/ 960967 w 3127492"/>
                <a:gd name="connsiteY4" fmla="*/ 2259189 h 2409707"/>
                <a:gd name="connsiteX5" fmla="*/ 1536700 w 3127492"/>
                <a:gd name="connsiteY5" fmla="*/ 2180167 h 2409707"/>
                <a:gd name="connsiteX6" fmla="*/ 1886655 w 3127492"/>
                <a:gd name="connsiteY6" fmla="*/ 1130300 h 2409707"/>
                <a:gd name="connsiteX7" fmla="*/ 2259189 w 3127492"/>
                <a:gd name="connsiteY7" fmla="*/ 2089856 h 2409707"/>
                <a:gd name="connsiteX8" fmla="*/ 2857500 w 3127492"/>
                <a:gd name="connsiteY8" fmla="*/ 2259189 h 2409707"/>
                <a:gd name="connsiteX9" fmla="*/ 3049411 w 3127492"/>
                <a:gd name="connsiteY9" fmla="*/ 1796344 h 2409707"/>
                <a:gd name="connsiteX10" fmla="*/ 2389011 w 3127492"/>
                <a:gd name="connsiteY10" fmla="*/ 419100 h 2409707"/>
                <a:gd name="connsiteX11" fmla="*/ 1779411 w 3127492"/>
                <a:gd name="connsiteY11" fmla="*/ 38100 h 2409707"/>
                <a:gd name="connsiteX0" fmla="*/ 1855611 w 3127492"/>
                <a:gd name="connsiteY0" fmla="*/ 38100 h 2333507"/>
                <a:gd name="connsiteX1" fmla="*/ 1093611 w 3127492"/>
                <a:gd name="connsiteY1" fmla="*/ 114300 h 2333507"/>
                <a:gd name="connsiteX2" fmla="*/ 103011 w 3127492"/>
                <a:gd name="connsiteY2" fmla="*/ 190500 h 2333507"/>
                <a:gd name="connsiteX3" fmla="*/ 475544 w 3127492"/>
                <a:gd name="connsiteY3" fmla="*/ 1200856 h 2333507"/>
                <a:gd name="connsiteX4" fmla="*/ 960967 w 3127492"/>
                <a:gd name="connsiteY4" fmla="*/ 2182989 h 2333507"/>
                <a:gd name="connsiteX5" fmla="*/ 1536700 w 3127492"/>
                <a:gd name="connsiteY5" fmla="*/ 2103967 h 2333507"/>
                <a:gd name="connsiteX6" fmla="*/ 1886655 w 3127492"/>
                <a:gd name="connsiteY6" fmla="*/ 1054100 h 2333507"/>
                <a:gd name="connsiteX7" fmla="*/ 2259189 w 3127492"/>
                <a:gd name="connsiteY7" fmla="*/ 2013656 h 2333507"/>
                <a:gd name="connsiteX8" fmla="*/ 2857500 w 3127492"/>
                <a:gd name="connsiteY8" fmla="*/ 2182989 h 2333507"/>
                <a:gd name="connsiteX9" fmla="*/ 3049411 w 3127492"/>
                <a:gd name="connsiteY9" fmla="*/ 1720144 h 2333507"/>
                <a:gd name="connsiteX10" fmla="*/ 2389011 w 3127492"/>
                <a:gd name="connsiteY10" fmla="*/ 342900 h 2333507"/>
                <a:gd name="connsiteX11" fmla="*/ 1855611 w 3127492"/>
                <a:gd name="connsiteY11" fmla="*/ 38100 h 2333507"/>
                <a:gd name="connsiteX0" fmla="*/ 1765300 w 3037181"/>
                <a:gd name="connsiteY0" fmla="*/ 38100 h 2374900"/>
                <a:gd name="connsiteX1" fmla="*/ 1003300 w 3037181"/>
                <a:gd name="connsiteY1" fmla="*/ 114300 h 2374900"/>
                <a:gd name="connsiteX2" fmla="*/ 12700 w 3037181"/>
                <a:gd name="connsiteY2" fmla="*/ 190500 h 2374900"/>
                <a:gd name="connsiteX3" fmla="*/ 1079500 w 3037181"/>
                <a:gd name="connsiteY3" fmla="*/ 952500 h 2374900"/>
                <a:gd name="connsiteX4" fmla="*/ 870656 w 3037181"/>
                <a:gd name="connsiteY4" fmla="*/ 2182989 h 2374900"/>
                <a:gd name="connsiteX5" fmla="*/ 1446389 w 3037181"/>
                <a:gd name="connsiteY5" fmla="*/ 2103967 h 2374900"/>
                <a:gd name="connsiteX6" fmla="*/ 1796344 w 3037181"/>
                <a:gd name="connsiteY6" fmla="*/ 1054100 h 2374900"/>
                <a:gd name="connsiteX7" fmla="*/ 2168878 w 3037181"/>
                <a:gd name="connsiteY7" fmla="*/ 2013656 h 2374900"/>
                <a:gd name="connsiteX8" fmla="*/ 2767189 w 3037181"/>
                <a:gd name="connsiteY8" fmla="*/ 2182989 h 2374900"/>
                <a:gd name="connsiteX9" fmla="*/ 2959100 w 3037181"/>
                <a:gd name="connsiteY9" fmla="*/ 1720144 h 2374900"/>
                <a:gd name="connsiteX10" fmla="*/ 2298700 w 3037181"/>
                <a:gd name="connsiteY10" fmla="*/ 342900 h 2374900"/>
                <a:gd name="connsiteX11" fmla="*/ 1765300 w 3037181"/>
                <a:gd name="connsiteY11" fmla="*/ 38100 h 2374900"/>
                <a:gd name="connsiteX0" fmla="*/ 1765300 w 3037181"/>
                <a:gd name="connsiteY0" fmla="*/ 38100 h 2239433"/>
                <a:gd name="connsiteX1" fmla="*/ 1003300 w 3037181"/>
                <a:gd name="connsiteY1" fmla="*/ 114300 h 2239433"/>
                <a:gd name="connsiteX2" fmla="*/ 12700 w 3037181"/>
                <a:gd name="connsiteY2" fmla="*/ 190500 h 2239433"/>
                <a:gd name="connsiteX3" fmla="*/ 1079500 w 3037181"/>
                <a:gd name="connsiteY3" fmla="*/ 952500 h 2239433"/>
                <a:gd name="connsiteX4" fmla="*/ 698500 w 3037181"/>
                <a:gd name="connsiteY4" fmla="*/ 1866899 h 2239433"/>
                <a:gd name="connsiteX5" fmla="*/ 1446389 w 3037181"/>
                <a:gd name="connsiteY5" fmla="*/ 2103967 h 2239433"/>
                <a:gd name="connsiteX6" fmla="*/ 1796344 w 3037181"/>
                <a:gd name="connsiteY6" fmla="*/ 1054100 h 2239433"/>
                <a:gd name="connsiteX7" fmla="*/ 2168878 w 3037181"/>
                <a:gd name="connsiteY7" fmla="*/ 2013656 h 2239433"/>
                <a:gd name="connsiteX8" fmla="*/ 2767189 w 3037181"/>
                <a:gd name="connsiteY8" fmla="*/ 2182989 h 2239433"/>
                <a:gd name="connsiteX9" fmla="*/ 2959100 w 3037181"/>
                <a:gd name="connsiteY9" fmla="*/ 1720144 h 2239433"/>
                <a:gd name="connsiteX10" fmla="*/ 2298700 w 3037181"/>
                <a:gd name="connsiteY10" fmla="*/ 342900 h 2239433"/>
                <a:gd name="connsiteX11" fmla="*/ 1765300 w 3037181"/>
                <a:gd name="connsiteY11" fmla="*/ 38100 h 2239433"/>
                <a:gd name="connsiteX0" fmla="*/ 1765300 w 3037181"/>
                <a:gd name="connsiteY0" fmla="*/ 38100 h 2231908"/>
                <a:gd name="connsiteX1" fmla="*/ 1003300 w 3037181"/>
                <a:gd name="connsiteY1" fmla="*/ 114300 h 2231908"/>
                <a:gd name="connsiteX2" fmla="*/ 12700 w 3037181"/>
                <a:gd name="connsiteY2" fmla="*/ 190500 h 2231908"/>
                <a:gd name="connsiteX3" fmla="*/ 1079500 w 3037181"/>
                <a:gd name="connsiteY3" fmla="*/ 952500 h 2231908"/>
                <a:gd name="connsiteX4" fmla="*/ 698500 w 3037181"/>
                <a:gd name="connsiteY4" fmla="*/ 1866899 h 2231908"/>
                <a:gd name="connsiteX5" fmla="*/ 1384300 w 3037181"/>
                <a:gd name="connsiteY5" fmla="*/ 2095500 h 2231908"/>
                <a:gd name="connsiteX6" fmla="*/ 1796344 w 3037181"/>
                <a:gd name="connsiteY6" fmla="*/ 1054100 h 2231908"/>
                <a:gd name="connsiteX7" fmla="*/ 2168878 w 3037181"/>
                <a:gd name="connsiteY7" fmla="*/ 2013656 h 2231908"/>
                <a:gd name="connsiteX8" fmla="*/ 2767189 w 3037181"/>
                <a:gd name="connsiteY8" fmla="*/ 2182989 h 2231908"/>
                <a:gd name="connsiteX9" fmla="*/ 2959100 w 3037181"/>
                <a:gd name="connsiteY9" fmla="*/ 1720144 h 2231908"/>
                <a:gd name="connsiteX10" fmla="*/ 2298700 w 3037181"/>
                <a:gd name="connsiteY10" fmla="*/ 342900 h 2231908"/>
                <a:gd name="connsiteX11" fmla="*/ 1765300 w 3037181"/>
                <a:gd name="connsiteY11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38100 h 2231908"/>
                <a:gd name="connsiteX1" fmla="*/ 1092200 w 3126081"/>
                <a:gd name="connsiteY1" fmla="*/ 114300 h 2231908"/>
                <a:gd name="connsiteX2" fmla="*/ 101600 w 3126081"/>
                <a:gd name="connsiteY2" fmla="*/ 190500 h 2231908"/>
                <a:gd name="connsiteX3" fmla="*/ 177800 w 3126081"/>
                <a:gd name="connsiteY3" fmla="*/ 647700 h 2231908"/>
                <a:gd name="connsiteX4" fmla="*/ 1168400 w 3126081"/>
                <a:gd name="connsiteY4" fmla="*/ 952500 h 2231908"/>
                <a:gd name="connsiteX5" fmla="*/ 787400 w 3126081"/>
                <a:gd name="connsiteY5" fmla="*/ 1866899 h 2231908"/>
                <a:gd name="connsiteX6" fmla="*/ 1473200 w 3126081"/>
                <a:gd name="connsiteY6" fmla="*/ 2095500 h 2231908"/>
                <a:gd name="connsiteX7" fmla="*/ 1885244 w 3126081"/>
                <a:gd name="connsiteY7" fmla="*/ 1054100 h 2231908"/>
                <a:gd name="connsiteX8" fmla="*/ 2257778 w 3126081"/>
                <a:gd name="connsiteY8" fmla="*/ 2013656 h 2231908"/>
                <a:gd name="connsiteX9" fmla="*/ 2856089 w 3126081"/>
                <a:gd name="connsiteY9" fmla="*/ 2182989 h 2231908"/>
                <a:gd name="connsiteX10" fmla="*/ 3048000 w 3126081"/>
                <a:gd name="connsiteY10" fmla="*/ 1720144 h 2231908"/>
                <a:gd name="connsiteX11" fmla="*/ 2387600 w 3126081"/>
                <a:gd name="connsiteY11" fmla="*/ 342900 h 2231908"/>
                <a:gd name="connsiteX12" fmla="*/ 1854200 w 3126081"/>
                <a:gd name="connsiteY12" fmla="*/ 38100 h 2231908"/>
                <a:gd name="connsiteX0" fmla="*/ 1854200 w 3126081"/>
                <a:gd name="connsiteY0" fmla="*/ 51741 h 2245549"/>
                <a:gd name="connsiteX1" fmla="*/ 1092200 w 3126081"/>
                <a:gd name="connsiteY1" fmla="*/ 127941 h 2245549"/>
                <a:gd name="connsiteX2" fmla="*/ 101600 w 3126081"/>
                <a:gd name="connsiteY2" fmla="*/ 204141 h 2245549"/>
                <a:gd name="connsiteX3" fmla="*/ 177800 w 3126081"/>
                <a:gd name="connsiteY3" fmla="*/ 661341 h 2245549"/>
                <a:gd name="connsiteX4" fmla="*/ 1168400 w 3126081"/>
                <a:gd name="connsiteY4" fmla="*/ 966141 h 2245549"/>
                <a:gd name="connsiteX5" fmla="*/ 787400 w 3126081"/>
                <a:gd name="connsiteY5" fmla="*/ 1880540 h 2245549"/>
                <a:gd name="connsiteX6" fmla="*/ 1473200 w 3126081"/>
                <a:gd name="connsiteY6" fmla="*/ 2109141 h 2245549"/>
                <a:gd name="connsiteX7" fmla="*/ 1885244 w 3126081"/>
                <a:gd name="connsiteY7" fmla="*/ 1067741 h 2245549"/>
                <a:gd name="connsiteX8" fmla="*/ 2257778 w 3126081"/>
                <a:gd name="connsiteY8" fmla="*/ 2027297 h 2245549"/>
                <a:gd name="connsiteX9" fmla="*/ 2856089 w 3126081"/>
                <a:gd name="connsiteY9" fmla="*/ 2196630 h 2245549"/>
                <a:gd name="connsiteX10" fmla="*/ 3048000 w 3126081"/>
                <a:gd name="connsiteY10" fmla="*/ 1733785 h 2245549"/>
                <a:gd name="connsiteX11" fmla="*/ 2387600 w 3126081"/>
                <a:gd name="connsiteY11" fmla="*/ 280341 h 2245549"/>
                <a:gd name="connsiteX12" fmla="*/ 1854200 w 3126081"/>
                <a:gd name="connsiteY12" fmla="*/ 51741 h 2245549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78000 w 3126081"/>
                <a:gd name="connsiteY0" fmla="*/ 25400 h 2295407"/>
                <a:gd name="connsiteX1" fmla="*/ 1092200 w 3126081"/>
                <a:gd name="connsiteY1" fmla="*/ 177799 h 2295407"/>
                <a:gd name="connsiteX2" fmla="*/ 101600 w 3126081"/>
                <a:gd name="connsiteY2" fmla="*/ 253999 h 2295407"/>
                <a:gd name="connsiteX3" fmla="*/ 177800 w 3126081"/>
                <a:gd name="connsiteY3" fmla="*/ 711199 h 2295407"/>
                <a:gd name="connsiteX4" fmla="*/ 1168400 w 3126081"/>
                <a:gd name="connsiteY4" fmla="*/ 1015999 h 2295407"/>
                <a:gd name="connsiteX5" fmla="*/ 787400 w 3126081"/>
                <a:gd name="connsiteY5" fmla="*/ 1930398 h 2295407"/>
                <a:gd name="connsiteX6" fmla="*/ 1473200 w 3126081"/>
                <a:gd name="connsiteY6" fmla="*/ 2158999 h 2295407"/>
                <a:gd name="connsiteX7" fmla="*/ 1885244 w 3126081"/>
                <a:gd name="connsiteY7" fmla="*/ 1117599 h 2295407"/>
                <a:gd name="connsiteX8" fmla="*/ 2257778 w 3126081"/>
                <a:gd name="connsiteY8" fmla="*/ 2077155 h 2295407"/>
                <a:gd name="connsiteX9" fmla="*/ 2856089 w 3126081"/>
                <a:gd name="connsiteY9" fmla="*/ 2246488 h 2295407"/>
                <a:gd name="connsiteX10" fmla="*/ 3048000 w 3126081"/>
                <a:gd name="connsiteY10" fmla="*/ 1783643 h 2295407"/>
                <a:gd name="connsiteX11" fmla="*/ 2387600 w 3126081"/>
                <a:gd name="connsiteY11" fmla="*/ 330199 h 2295407"/>
                <a:gd name="connsiteX12" fmla="*/ 1778000 w 3126081"/>
                <a:gd name="connsiteY12" fmla="*/ 25400 h 2295407"/>
                <a:gd name="connsiteX0" fmla="*/ 1798931 w 3147012"/>
                <a:gd name="connsiteY0" fmla="*/ 25400 h 2295407"/>
                <a:gd name="connsiteX1" fmla="*/ 1113131 w 3147012"/>
                <a:gd name="connsiteY1" fmla="*/ 177799 h 2295407"/>
                <a:gd name="connsiteX2" fmla="*/ 122531 w 3147012"/>
                <a:gd name="connsiteY2" fmla="*/ 253999 h 2295407"/>
                <a:gd name="connsiteX3" fmla="*/ 198731 w 3147012"/>
                <a:gd name="connsiteY3" fmla="*/ 711199 h 2295407"/>
                <a:gd name="connsiteX4" fmla="*/ 1189331 w 3147012"/>
                <a:gd name="connsiteY4" fmla="*/ 1015999 h 2295407"/>
                <a:gd name="connsiteX5" fmla="*/ 808331 w 3147012"/>
                <a:gd name="connsiteY5" fmla="*/ 1930398 h 2295407"/>
                <a:gd name="connsiteX6" fmla="*/ 1494131 w 3147012"/>
                <a:gd name="connsiteY6" fmla="*/ 2158999 h 2295407"/>
                <a:gd name="connsiteX7" fmla="*/ 1906175 w 3147012"/>
                <a:gd name="connsiteY7" fmla="*/ 1117599 h 2295407"/>
                <a:gd name="connsiteX8" fmla="*/ 2278709 w 3147012"/>
                <a:gd name="connsiteY8" fmla="*/ 2077155 h 2295407"/>
                <a:gd name="connsiteX9" fmla="*/ 2877020 w 3147012"/>
                <a:gd name="connsiteY9" fmla="*/ 2246488 h 2295407"/>
                <a:gd name="connsiteX10" fmla="*/ 3068931 w 3147012"/>
                <a:gd name="connsiteY10" fmla="*/ 1783643 h 2295407"/>
                <a:gd name="connsiteX11" fmla="*/ 2408531 w 3147012"/>
                <a:gd name="connsiteY11" fmla="*/ 330199 h 2295407"/>
                <a:gd name="connsiteX12" fmla="*/ 1798931 w 3147012"/>
                <a:gd name="connsiteY12" fmla="*/ 25400 h 229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47012" h="2295407">
                  <a:moveTo>
                    <a:pt x="1798931" y="25400"/>
                  </a:moveTo>
                  <a:cubicBezTo>
                    <a:pt x="1583031" y="0"/>
                    <a:pt x="1467320" y="173566"/>
                    <a:pt x="1113131" y="177799"/>
                  </a:cubicBezTo>
                  <a:cubicBezTo>
                    <a:pt x="837964" y="196143"/>
                    <a:pt x="332081" y="76199"/>
                    <a:pt x="122531" y="253999"/>
                  </a:cubicBezTo>
                  <a:cubicBezTo>
                    <a:pt x="0" y="433210"/>
                    <a:pt x="20931" y="584199"/>
                    <a:pt x="198731" y="711199"/>
                  </a:cubicBezTo>
                  <a:cubicBezTo>
                    <a:pt x="376531" y="838199"/>
                    <a:pt x="1087731" y="812799"/>
                    <a:pt x="1189331" y="1015999"/>
                  </a:cubicBezTo>
                  <a:cubicBezTo>
                    <a:pt x="1290931" y="1219199"/>
                    <a:pt x="757531" y="1739898"/>
                    <a:pt x="808331" y="1930398"/>
                  </a:cubicBezTo>
                  <a:cubicBezTo>
                    <a:pt x="859131" y="2120898"/>
                    <a:pt x="1311157" y="2294465"/>
                    <a:pt x="1494131" y="2158999"/>
                  </a:cubicBezTo>
                  <a:cubicBezTo>
                    <a:pt x="1677105" y="2023533"/>
                    <a:pt x="1775412" y="1131240"/>
                    <a:pt x="1906175" y="1117599"/>
                  </a:cubicBezTo>
                  <a:cubicBezTo>
                    <a:pt x="2036938" y="1103958"/>
                    <a:pt x="2116902" y="1889007"/>
                    <a:pt x="2278709" y="2077155"/>
                  </a:cubicBezTo>
                  <a:cubicBezTo>
                    <a:pt x="2440516" y="2265303"/>
                    <a:pt x="2745316" y="2295407"/>
                    <a:pt x="2877020" y="2246488"/>
                  </a:cubicBezTo>
                  <a:cubicBezTo>
                    <a:pt x="3008724" y="2197569"/>
                    <a:pt x="3147012" y="2103024"/>
                    <a:pt x="3068931" y="1783643"/>
                  </a:cubicBezTo>
                  <a:cubicBezTo>
                    <a:pt x="2990850" y="1464262"/>
                    <a:pt x="2620198" y="623240"/>
                    <a:pt x="2408531" y="330199"/>
                  </a:cubicBezTo>
                  <a:cubicBezTo>
                    <a:pt x="2196864" y="37158"/>
                    <a:pt x="2014831" y="50800"/>
                    <a:pt x="1798931" y="25400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94" name="Oval 93"/>
            <p:cNvSpPr/>
            <p:nvPr/>
          </p:nvSpPr>
          <p:spPr bwMode="auto">
            <a:xfrm>
              <a:off x="6959944" y="1416545"/>
              <a:ext cx="527056" cy="52705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cxnSp>
          <p:nvCxnSpPr>
            <p:cNvPr id="95" name="Straight Arrow Connector 94"/>
            <p:cNvCxnSpPr>
              <a:stCxn id="101" idx="6"/>
              <a:endCxn id="102" idx="2"/>
            </p:cNvCxnSpPr>
            <p:nvPr/>
          </p:nvCxnSpPr>
          <p:spPr bwMode="auto">
            <a:xfrm>
              <a:off x="5100465" y="1684487"/>
              <a:ext cx="840473" cy="122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96" name="Straight Arrow Connector 95"/>
            <p:cNvCxnSpPr>
              <a:stCxn id="102" idx="6"/>
              <a:endCxn id="103" idx="2"/>
            </p:cNvCxnSpPr>
            <p:nvPr/>
          </p:nvCxnSpPr>
          <p:spPr bwMode="auto">
            <a:xfrm>
              <a:off x="6242573" y="1684487"/>
              <a:ext cx="840471" cy="122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97" name="Straight Arrow Connector 96"/>
            <p:cNvCxnSpPr>
              <a:stCxn id="107" idx="7"/>
              <a:endCxn id="102" idx="3"/>
            </p:cNvCxnSpPr>
            <p:nvPr/>
          </p:nvCxnSpPr>
          <p:spPr bwMode="auto">
            <a:xfrm rot="5400000" flipH="1" flipV="1">
              <a:off x="5376673" y="2047231"/>
              <a:ext cx="864538" cy="35233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98" name="Straight Arrow Connector 97"/>
            <p:cNvCxnSpPr>
              <a:stCxn id="109" idx="1"/>
              <a:endCxn id="103" idx="5"/>
            </p:cNvCxnSpPr>
            <p:nvPr/>
          </p:nvCxnSpPr>
          <p:spPr bwMode="auto">
            <a:xfrm rot="16200000" flipV="1">
              <a:off x="7089835" y="2041804"/>
              <a:ext cx="864538" cy="36319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99" name="Straight Arrow Connector 98"/>
            <p:cNvCxnSpPr>
              <a:stCxn id="108" idx="7"/>
              <a:endCxn id="103" idx="3"/>
            </p:cNvCxnSpPr>
            <p:nvPr/>
          </p:nvCxnSpPr>
          <p:spPr bwMode="auto">
            <a:xfrm rot="5400000" flipH="1" flipV="1">
              <a:off x="6518780" y="2047231"/>
              <a:ext cx="864538" cy="35233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00" name="Straight Arrow Connector 99"/>
            <p:cNvCxnSpPr>
              <a:stCxn id="108" idx="1"/>
              <a:endCxn id="102" idx="5"/>
            </p:cNvCxnSpPr>
            <p:nvPr/>
          </p:nvCxnSpPr>
          <p:spPr bwMode="auto">
            <a:xfrm rot="16200000" flipV="1">
              <a:off x="5947728" y="2041804"/>
              <a:ext cx="864538" cy="36319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sp>
          <p:nvSpPr>
            <p:cNvPr id="101" name="Oval 4"/>
            <p:cNvSpPr/>
            <p:nvPr/>
          </p:nvSpPr>
          <p:spPr bwMode="auto">
            <a:xfrm>
              <a:off x="4798829" y="1533669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2" name="Oval 101"/>
            <p:cNvSpPr/>
            <p:nvPr/>
          </p:nvSpPr>
          <p:spPr bwMode="auto">
            <a:xfrm>
              <a:off x="5940937" y="1533669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7083045" y="1533669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4" name="Oval 4"/>
            <p:cNvSpPr/>
            <p:nvPr/>
          </p:nvSpPr>
          <p:spPr bwMode="auto">
            <a:xfrm>
              <a:off x="4798829" y="3579775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5940936" y="3579775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6" name="Oval 105"/>
            <p:cNvSpPr/>
            <p:nvPr/>
          </p:nvSpPr>
          <p:spPr bwMode="auto">
            <a:xfrm>
              <a:off x="7083045" y="3579775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7" name="Oval 4"/>
            <p:cNvSpPr/>
            <p:nvPr/>
          </p:nvSpPr>
          <p:spPr bwMode="auto">
            <a:xfrm>
              <a:off x="5375310" y="2611494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6517419" y="2611494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9" name="Oval 108"/>
            <p:cNvSpPr/>
            <p:nvPr/>
          </p:nvSpPr>
          <p:spPr bwMode="auto">
            <a:xfrm>
              <a:off x="7659526" y="2611494"/>
              <a:ext cx="301636" cy="30163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10" name="Straight Arrow Connector 109"/>
            <p:cNvCxnSpPr>
              <a:stCxn id="104" idx="6"/>
              <a:endCxn id="105" idx="2"/>
            </p:cNvCxnSpPr>
            <p:nvPr/>
          </p:nvCxnSpPr>
          <p:spPr bwMode="auto">
            <a:xfrm>
              <a:off x="5100465" y="3730595"/>
              <a:ext cx="840471" cy="29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1" name="Straight Arrow Connector 110"/>
            <p:cNvCxnSpPr>
              <a:stCxn id="105" idx="6"/>
              <a:endCxn id="106" idx="2"/>
            </p:cNvCxnSpPr>
            <p:nvPr/>
          </p:nvCxnSpPr>
          <p:spPr bwMode="auto">
            <a:xfrm>
              <a:off x="6242573" y="3730595"/>
              <a:ext cx="840471" cy="293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2" name="Straight Arrow Connector 111"/>
            <p:cNvCxnSpPr>
              <a:stCxn id="105" idx="1"/>
              <a:endCxn id="107" idx="5"/>
            </p:cNvCxnSpPr>
            <p:nvPr/>
          </p:nvCxnSpPr>
          <p:spPr bwMode="auto">
            <a:xfrm rot="16200000" flipV="1">
              <a:off x="5431448" y="3070284"/>
              <a:ext cx="754988" cy="35233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3" name="Straight Arrow Connector 112"/>
            <p:cNvCxnSpPr>
              <a:stCxn id="106" idx="7"/>
              <a:endCxn id="109" idx="3"/>
            </p:cNvCxnSpPr>
            <p:nvPr/>
          </p:nvCxnSpPr>
          <p:spPr bwMode="auto">
            <a:xfrm rot="5400000" flipH="1" flipV="1">
              <a:off x="7144609" y="3064860"/>
              <a:ext cx="754988" cy="36319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4" name="Straight Arrow Connector 113"/>
            <p:cNvCxnSpPr>
              <a:stCxn id="106" idx="1"/>
              <a:endCxn id="108" idx="5"/>
            </p:cNvCxnSpPr>
            <p:nvPr/>
          </p:nvCxnSpPr>
          <p:spPr bwMode="auto">
            <a:xfrm rot="16200000" flipV="1">
              <a:off x="6573557" y="3070284"/>
              <a:ext cx="754988" cy="35233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115" name="Straight Arrow Connector 114"/>
            <p:cNvCxnSpPr>
              <a:stCxn id="105" idx="7"/>
              <a:endCxn id="108" idx="3"/>
            </p:cNvCxnSpPr>
            <p:nvPr/>
          </p:nvCxnSpPr>
          <p:spPr bwMode="auto">
            <a:xfrm rot="5400000" flipH="1" flipV="1">
              <a:off x="6002501" y="3064860"/>
              <a:ext cx="754988" cy="363190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grpSp>
          <p:nvGrpSpPr>
            <p:cNvPr id="116" name="Group 182"/>
            <p:cNvGrpSpPr/>
            <p:nvPr/>
          </p:nvGrpSpPr>
          <p:grpSpPr>
            <a:xfrm>
              <a:off x="5970063" y="1592231"/>
              <a:ext cx="1953793" cy="1288357"/>
              <a:chOff x="2133600" y="2884114"/>
              <a:chExt cx="2542259" cy="1676400"/>
            </a:xfrm>
          </p:grpSpPr>
          <p:sp>
            <p:nvSpPr>
              <p:cNvPr id="126" name="Cube 125"/>
              <p:cNvSpPr/>
              <p:nvPr/>
            </p:nvSpPr>
            <p:spPr bwMode="auto">
              <a:xfrm>
                <a:off x="3657600" y="28841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27" name="Cube 126"/>
              <p:cNvSpPr/>
              <p:nvPr/>
            </p:nvSpPr>
            <p:spPr bwMode="auto">
              <a:xfrm>
                <a:off x="2845001" y="42557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28" name="Cube 127"/>
              <p:cNvSpPr/>
              <p:nvPr/>
            </p:nvSpPr>
            <p:spPr bwMode="auto">
              <a:xfrm>
                <a:off x="2133600" y="28841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29" name="Cube 128"/>
              <p:cNvSpPr/>
              <p:nvPr/>
            </p:nvSpPr>
            <p:spPr bwMode="auto">
              <a:xfrm>
                <a:off x="4343400" y="425571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grpSp>
          <p:nvGrpSpPr>
            <p:cNvPr id="117" name="Group 192"/>
            <p:cNvGrpSpPr/>
            <p:nvPr/>
          </p:nvGrpSpPr>
          <p:grpSpPr>
            <a:xfrm>
              <a:off x="6540484" y="1564623"/>
              <a:ext cx="1163217" cy="823439"/>
              <a:chOff x="2875826" y="2848192"/>
              <a:chExt cx="1513567" cy="1071452"/>
            </a:xfrm>
          </p:grpSpPr>
          <p:sp>
            <p:nvSpPr>
              <p:cNvPr id="123" name="Cube 122"/>
              <p:cNvSpPr/>
              <p:nvPr/>
            </p:nvSpPr>
            <p:spPr bwMode="auto">
              <a:xfrm>
                <a:off x="2875826" y="2848192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24" name="Cube 123"/>
              <p:cNvSpPr/>
              <p:nvPr/>
            </p:nvSpPr>
            <p:spPr bwMode="auto">
              <a:xfrm>
                <a:off x="3282701" y="361484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25" name="Cube 124"/>
              <p:cNvSpPr/>
              <p:nvPr/>
            </p:nvSpPr>
            <p:spPr bwMode="auto">
              <a:xfrm>
                <a:off x="4056934" y="3614844"/>
                <a:ext cx="332459" cy="304800"/>
              </a:xfrm>
              <a:prstGeom prst="cub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cxnSp>
          <p:nvCxnSpPr>
            <p:cNvPr id="121" name="Shape 72"/>
            <p:cNvCxnSpPr>
              <a:stCxn id="126" idx="5"/>
              <a:endCxn id="94" idx="0"/>
            </p:cNvCxnSpPr>
            <p:nvPr/>
          </p:nvCxnSpPr>
          <p:spPr bwMode="auto">
            <a:xfrm flipH="1" flipV="1">
              <a:off x="7223472" y="1416545"/>
              <a:ext cx="173329" cy="263529"/>
            </a:xfrm>
            <a:prstGeom prst="curvedConnector4">
              <a:avLst>
                <a:gd name="adj1" fmla="val -183927"/>
                <a:gd name="adj2" fmla="val 323144"/>
              </a:avLst>
            </a:prstGeom>
            <a:ln w="76200" cmpd="sng">
              <a:solidFill>
                <a:srgbClr val="FF0000"/>
              </a:solidFill>
              <a:headEnd type="triangle" w="med" len="med"/>
              <a:tailEnd type="non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sp>
          <p:nvSpPr>
            <p:cNvPr id="119" name="TextBox 118"/>
            <p:cNvSpPr txBox="1"/>
            <p:nvPr/>
          </p:nvSpPr>
          <p:spPr>
            <a:xfrm>
              <a:off x="7798368" y="1213400"/>
              <a:ext cx="746592" cy="378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olidFill>
                    <a:srgbClr val="FF0000"/>
                  </a:solidFill>
                </a:rPr>
                <a:t>Write</a:t>
              </a:r>
              <a:endParaRPr lang="en-US" sz="2800" b="1" dirty="0">
                <a:solidFill>
                  <a:srgbClr val="FF0000"/>
                </a:solidFill>
              </a:endParaRPr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575666" y="2995945"/>
              <a:ext cx="16731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 smtClean="0">
                  <a:solidFill>
                    <a:srgbClr val="FF0000"/>
                  </a:solidFill>
                </a:rPr>
                <a:t>Does not read</a:t>
              </a:r>
            </a:p>
            <a:p>
              <a:r>
                <a:rPr lang="en-US" sz="2000" dirty="0">
                  <a:solidFill>
                    <a:srgbClr val="FF0000"/>
                  </a:solidFill>
                </a:rPr>
                <a:t>a</a:t>
              </a:r>
              <a:r>
                <a:rPr lang="en-US" sz="2000" dirty="0" smtClean="0">
                  <a:solidFill>
                    <a:srgbClr val="FF0000"/>
                  </a:solidFill>
                </a:rPr>
                <a:t>djacent vertices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85743" y="4338929"/>
            <a:ext cx="3330910" cy="1354217"/>
            <a:chOff x="585743" y="4338929"/>
            <a:chExt cx="3330910" cy="1354217"/>
          </a:xfrm>
        </p:grpSpPr>
        <p:sp>
          <p:nvSpPr>
            <p:cNvPr id="16" name="TextBox 15"/>
            <p:cNvSpPr txBox="1"/>
            <p:nvPr/>
          </p:nvSpPr>
          <p:spPr>
            <a:xfrm>
              <a:off x="1137251" y="4338929"/>
              <a:ext cx="22278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Full Consistency</a:t>
              </a:r>
              <a:endParaRPr lang="en-US" sz="2400" b="1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85743" y="4800594"/>
              <a:ext cx="3330910" cy="892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Parallel Updates must be </a:t>
              </a:r>
            </a:p>
            <a:p>
              <a:r>
                <a:rPr lang="en-US" sz="2800" b="1" i="1" dirty="0" smtClean="0"/>
                <a:t>two</a:t>
              </a:r>
              <a:r>
                <a:rPr lang="en-US" sz="2800" dirty="0" smtClean="0"/>
                <a:t> </a:t>
              </a:r>
              <a:r>
                <a:rPr lang="en-US" sz="2400" dirty="0" smtClean="0"/>
                <a:t>vertices apart</a:t>
              </a:r>
              <a:endParaRPr lang="en-US" sz="24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294489" y="4338929"/>
            <a:ext cx="3139151" cy="1354217"/>
            <a:chOff x="5294489" y="4338929"/>
            <a:chExt cx="3139151" cy="1354217"/>
          </a:xfrm>
        </p:grpSpPr>
        <p:sp>
          <p:nvSpPr>
            <p:cNvPr id="197" name="TextBox 196"/>
            <p:cNvSpPr txBox="1"/>
            <p:nvPr/>
          </p:nvSpPr>
          <p:spPr>
            <a:xfrm>
              <a:off x="5553449" y="4338929"/>
              <a:ext cx="2621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Vertex Consistency</a:t>
              </a:r>
              <a:endParaRPr lang="en-US" sz="2400" b="1" dirty="0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5294489" y="4800594"/>
              <a:ext cx="3139151" cy="89255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 smtClean="0"/>
                <a:t>Parallel Updates can be</a:t>
              </a:r>
            </a:p>
            <a:p>
              <a:r>
                <a:rPr lang="en-US" sz="2800" b="1" i="1" dirty="0"/>
                <a:t>a</a:t>
              </a:r>
              <a:r>
                <a:rPr lang="en-US" sz="2800" b="1" i="1" dirty="0" smtClean="0"/>
                <a:t>djacent.</a:t>
              </a:r>
              <a:endParaRPr lang="en-US" sz="24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4957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432174"/>
            <a:ext cx="4545013" cy="954445"/>
          </a:xfrm>
        </p:spPr>
        <p:txBody>
          <a:bodyPr/>
          <a:lstStyle/>
          <a:p>
            <a:r>
              <a:rPr lang="en-US" dirty="0" smtClean="0"/>
              <a:t>Solution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843820"/>
            <a:ext cx="4545013" cy="1752600"/>
          </a:xfrm>
        </p:spPr>
        <p:txBody>
          <a:bodyPr/>
          <a:lstStyle/>
          <a:p>
            <a:r>
              <a:rPr lang="en-US" dirty="0" smtClean="0"/>
              <a:t>Graph Coloring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371600" y="1061777"/>
            <a:ext cx="6400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9pPr>
          </a:lstStyle>
          <a:p>
            <a:r>
              <a:rPr lang="en-US" dirty="0" smtClean="0"/>
              <a:t>Distributed Consistency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598987" y="3441063"/>
            <a:ext cx="4545013" cy="954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9pPr>
          </a:lstStyle>
          <a:p>
            <a:r>
              <a:rPr lang="en-US" dirty="0" smtClean="0"/>
              <a:t>Solution 2</a:t>
            </a:r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4545013" y="4814752"/>
            <a:ext cx="4545013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-64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-64" charset="2"/>
              <a:buBlip>
                <a:blip r:embed="rId2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-64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-64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5pPr>
            <a:lvl6pPr marL="24526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6pPr>
            <a:lvl7pPr marL="29098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7pPr>
            <a:lvl8pPr marL="33670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8pPr>
            <a:lvl9pPr marL="38242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 smtClean="0"/>
              <a:t>Distributed 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876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 build="p"/>
      <p:bldP spid="5" grpId="0"/>
      <p:bldP spid="6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Edge Consistency via Graph Coloring</a:t>
            </a:r>
            <a:endParaRPr lang="en-US" sz="3600" dirty="0"/>
          </a:p>
        </p:txBody>
      </p:sp>
      <p:grpSp>
        <p:nvGrpSpPr>
          <p:cNvPr id="5" name="Group 4"/>
          <p:cNvGrpSpPr/>
          <p:nvPr/>
        </p:nvGrpSpPr>
        <p:grpSpPr>
          <a:xfrm>
            <a:off x="2594171" y="1890461"/>
            <a:ext cx="4321165" cy="2758574"/>
            <a:chOff x="3293130" y="1068703"/>
            <a:chExt cx="5008569" cy="3197403"/>
          </a:xfrm>
        </p:grpSpPr>
        <p:sp>
          <p:nvSpPr>
            <p:cNvPr id="6" name="Oval 4"/>
            <p:cNvSpPr/>
            <p:nvPr/>
          </p:nvSpPr>
          <p:spPr bwMode="auto">
            <a:xfrm>
              <a:off x="4115072" y="2471161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7" name="Oval 6"/>
            <p:cNvSpPr/>
            <p:nvPr/>
          </p:nvSpPr>
          <p:spPr bwMode="auto">
            <a:xfrm>
              <a:off x="5601173" y="2471161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7087273" y="2471161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9" name="Oval 8"/>
            <p:cNvSpPr/>
            <p:nvPr/>
          </p:nvSpPr>
          <p:spPr bwMode="auto">
            <a:xfrm>
              <a:off x="7909213" y="3863549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" name="Oval 9"/>
            <p:cNvSpPr/>
            <p:nvPr/>
          </p:nvSpPr>
          <p:spPr bwMode="auto">
            <a:xfrm>
              <a:off x="6370519" y="3873620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4831824" y="3863549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3293130" y="3873620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3" name="Oval 12"/>
            <p:cNvSpPr/>
            <p:nvPr/>
          </p:nvSpPr>
          <p:spPr bwMode="auto">
            <a:xfrm>
              <a:off x="7909213" y="1068703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4" name="Oval 13"/>
            <p:cNvSpPr/>
            <p:nvPr/>
          </p:nvSpPr>
          <p:spPr bwMode="auto">
            <a:xfrm>
              <a:off x="6370519" y="1078774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5" name="Oval 14"/>
            <p:cNvSpPr/>
            <p:nvPr/>
          </p:nvSpPr>
          <p:spPr bwMode="auto">
            <a:xfrm>
              <a:off x="4831824" y="1068703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3293130" y="1078774"/>
              <a:ext cx="392486" cy="392486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7" name="Straight Arrow Connector 16"/>
            <p:cNvCxnSpPr/>
            <p:nvPr/>
          </p:nvCxnSpPr>
          <p:spPr bwMode="auto">
            <a:xfrm flipV="1">
              <a:off x="3685616" y="1275017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 bwMode="auto">
            <a:xfrm>
              <a:off x="5224310" y="1264947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 bwMode="auto">
            <a:xfrm flipV="1">
              <a:off x="6763005" y="1264947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 bwMode="auto">
            <a:xfrm rot="5400000" flipH="1" flipV="1">
              <a:off x="4107227" y="1746565"/>
              <a:ext cx="1124929" cy="43922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8" idx="1"/>
            </p:cNvCxnSpPr>
            <p:nvPr/>
          </p:nvCxnSpPr>
          <p:spPr bwMode="auto">
            <a:xfrm rot="16200000" flipV="1">
              <a:off x="6367710" y="1751598"/>
              <a:ext cx="1114858" cy="43922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7"/>
            </p:cNvCxnSpPr>
            <p:nvPr/>
          </p:nvCxnSpPr>
          <p:spPr bwMode="auto">
            <a:xfrm rot="5400000" flipH="1" flipV="1">
              <a:off x="5624659" y="1725302"/>
              <a:ext cx="1114858" cy="49181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>
              <a:stCxn id="7" idx="1"/>
            </p:cNvCxnSpPr>
            <p:nvPr/>
          </p:nvCxnSpPr>
          <p:spPr bwMode="auto">
            <a:xfrm rot="16200000" flipV="1">
              <a:off x="4850278" y="1720266"/>
              <a:ext cx="1124929" cy="49181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 bwMode="auto">
            <a:xfrm flipV="1">
              <a:off x="3685616" y="4059793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5224310" y="4059793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 bwMode="auto">
            <a:xfrm flipV="1">
              <a:off x="6763005" y="4059793"/>
              <a:ext cx="1146209" cy="10071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 bwMode="auto">
            <a:xfrm rot="16200000" flipV="1">
              <a:off x="4112263" y="3143986"/>
              <a:ext cx="1114859" cy="439223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endCxn id="8" idx="3"/>
            </p:cNvCxnSpPr>
            <p:nvPr/>
          </p:nvCxnSpPr>
          <p:spPr bwMode="auto">
            <a:xfrm rot="5400000" flipH="1" flipV="1">
              <a:off x="6362674" y="3149021"/>
              <a:ext cx="1124930" cy="439225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endCxn id="7" idx="5"/>
            </p:cNvCxnSpPr>
            <p:nvPr/>
          </p:nvCxnSpPr>
          <p:spPr bwMode="auto">
            <a:xfrm rot="16200000" flipV="1">
              <a:off x="5619624" y="3122724"/>
              <a:ext cx="1124930" cy="491817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7" idx="3"/>
            </p:cNvCxnSpPr>
            <p:nvPr/>
          </p:nvCxnSpPr>
          <p:spPr bwMode="auto">
            <a:xfrm rot="5400000" flipH="1" flipV="1">
              <a:off x="4855312" y="3117689"/>
              <a:ext cx="1114859" cy="491819"/>
            </a:xfrm>
            <a:prstGeom prst="straightConnector1">
              <a:avLst/>
            </a:prstGeom>
            <a:ln>
              <a:headEnd type="none"/>
              <a:tailEnd type="non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808626" y="5062520"/>
            <a:ext cx="78411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Vertices of the same color are all at least one vertex apart.</a:t>
            </a:r>
          </a:p>
          <a:p>
            <a:r>
              <a:rPr lang="en-US" sz="2000" dirty="0" smtClean="0"/>
              <a:t>Therefore, All vertices of the same color can be run in parallel!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70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Chromatic Distributed Engine</a:t>
            </a:r>
            <a:endParaRPr lang="en-US" sz="4000" dirty="0"/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4555606" y="1725717"/>
            <a:ext cx="0" cy="4831814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 rot="16200000">
            <a:off x="-48350" y="3722543"/>
            <a:ext cx="855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9" name="Down Arrow 8"/>
          <p:cNvSpPr/>
          <p:nvPr/>
        </p:nvSpPr>
        <p:spPr bwMode="auto">
          <a:xfrm>
            <a:off x="610093" y="1863775"/>
            <a:ext cx="328638" cy="469375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959655" y="2103579"/>
            <a:ext cx="2124310" cy="103562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Execute tasks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on all vertices of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color 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5029523" y="2103579"/>
            <a:ext cx="2124310" cy="14221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Execute tasks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on all vertices of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color 0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943574" y="3555094"/>
            <a:ext cx="5191902" cy="37275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Ghost Synchronization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Completion +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Barrier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1943574" y="3927850"/>
            <a:ext cx="2124310" cy="173971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Execute tasks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on all vertices of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ahoma" pitchFamily="34" charset="0"/>
                <a:ea typeface="ＭＳ Ｐゴシック" pitchFamily="-111" charset="-128"/>
              </a:rPr>
              <a:t>c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olor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024971" y="3927850"/>
            <a:ext cx="2124310" cy="95259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Execute tasks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on all vertices of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chemeClr val="tx1"/>
                </a:solidFill>
                <a:latin typeface="Tahoma" pitchFamily="34" charset="0"/>
                <a:ea typeface="ＭＳ Ｐゴシック" pitchFamily="-111" charset="-128"/>
              </a:rPr>
              <a:t>c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olor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61931" y="5674273"/>
            <a:ext cx="5191902" cy="3726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Ghost Synchronization Completion + Barrier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4080432" y="2201435"/>
            <a:ext cx="938730" cy="1279328"/>
            <a:chOff x="4080432" y="3168223"/>
            <a:chExt cx="938730" cy="1279328"/>
          </a:xfrm>
        </p:grpSpPr>
        <p:cxnSp>
          <p:nvCxnSpPr>
            <p:cNvPr id="22" name="Straight Arrow Connector 21"/>
            <p:cNvCxnSpPr/>
            <p:nvPr/>
          </p:nvCxnSpPr>
          <p:spPr bwMode="auto">
            <a:xfrm>
              <a:off x="4086241" y="3168223"/>
              <a:ext cx="927112" cy="539303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4080432" y="3189619"/>
              <a:ext cx="927112" cy="607110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" name="Straight Arrow Connector 23"/>
            <p:cNvCxnSpPr/>
            <p:nvPr/>
          </p:nvCxnSpPr>
          <p:spPr bwMode="auto">
            <a:xfrm>
              <a:off x="4086241" y="3513366"/>
              <a:ext cx="932921" cy="519131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4086241" y="3880098"/>
              <a:ext cx="932921" cy="526035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 flipH="1">
              <a:off x="4080432" y="3514590"/>
              <a:ext cx="932921" cy="607990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 flipH="1">
              <a:off x="4080432" y="3888226"/>
              <a:ext cx="932921" cy="559325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4067884" y="4065747"/>
            <a:ext cx="938730" cy="1279328"/>
            <a:chOff x="4080432" y="3168223"/>
            <a:chExt cx="938730" cy="1279328"/>
          </a:xfrm>
        </p:grpSpPr>
        <p:cxnSp>
          <p:nvCxnSpPr>
            <p:cNvPr id="30" name="Straight Arrow Connector 29"/>
            <p:cNvCxnSpPr/>
            <p:nvPr/>
          </p:nvCxnSpPr>
          <p:spPr bwMode="auto">
            <a:xfrm>
              <a:off x="4086241" y="3168223"/>
              <a:ext cx="927112" cy="539303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1" name="Straight Arrow Connector 30"/>
            <p:cNvCxnSpPr/>
            <p:nvPr/>
          </p:nvCxnSpPr>
          <p:spPr bwMode="auto">
            <a:xfrm flipH="1">
              <a:off x="4080432" y="3189619"/>
              <a:ext cx="927112" cy="607110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>
              <a:off x="4086241" y="3513366"/>
              <a:ext cx="932921" cy="519131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3" name="Straight Arrow Connector 32"/>
            <p:cNvCxnSpPr/>
            <p:nvPr/>
          </p:nvCxnSpPr>
          <p:spPr bwMode="auto">
            <a:xfrm>
              <a:off x="4086241" y="3880098"/>
              <a:ext cx="932921" cy="526035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" name="Straight Arrow Connector 33"/>
            <p:cNvCxnSpPr/>
            <p:nvPr/>
          </p:nvCxnSpPr>
          <p:spPr bwMode="auto">
            <a:xfrm flipH="1">
              <a:off x="4080432" y="3514590"/>
              <a:ext cx="932921" cy="607990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5" name="Straight Arrow Connector 34"/>
            <p:cNvCxnSpPr/>
            <p:nvPr/>
          </p:nvCxnSpPr>
          <p:spPr bwMode="auto">
            <a:xfrm flipH="1">
              <a:off x="4080432" y="3888226"/>
              <a:ext cx="932921" cy="559325"/>
            </a:xfrm>
            <a:prstGeom prst="straightConnector1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49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0523" y="828876"/>
            <a:ext cx="2015718" cy="1209431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178" y="828876"/>
            <a:ext cx="2015718" cy="120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9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Factorization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48" y="1030054"/>
            <a:ext cx="8305800" cy="5141913"/>
          </a:xfrm>
        </p:spPr>
        <p:txBody>
          <a:bodyPr/>
          <a:lstStyle/>
          <a:p>
            <a:r>
              <a:rPr lang="en-US" b="1" dirty="0" smtClean="0"/>
              <a:t>Netflix Collaborative Filtering</a:t>
            </a:r>
          </a:p>
          <a:p>
            <a:pPr lvl="1"/>
            <a:r>
              <a:rPr lang="en-US" dirty="0" smtClean="0"/>
              <a:t>Alternating Least Squares Matrix Factorization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b="1" dirty="0" smtClean="0"/>
          </a:p>
        </p:txBody>
      </p:sp>
      <p:sp>
        <p:nvSpPr>
          <p:cNvPr id="7" name="Rectangle 6"/>
          <p:cNvSpPr/>
          <p:nvPr/>
        </p:nvSpPr>
        <p:spPr>
          <a:xfrm>
            <a:off x="1111837" y="2074300"/>
            <a:ext cx="70386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b="1" dirty="0" smtClean="0">
                <a:solidFill>
                  <a:srgbClr val="FF0000"/>
                </a:solidFill>
              </a:rPr>
              <a:t>odel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r>
              <a:rPr lang="en-US" b="1" dirty="0" smtClean="0">
                <a:solidFill>
                  <a:srgbClr val="FF0000"/>
                </a:solidFill>
              </a:rPr>
              <a:t>0.5 </a:t>
            </a:r>
            <a:r>
              <a:rPr lang="en-US" b="1" dirty="0">
                <a:solidFill>
                  <a:srgbClr val="FF0000"/>
                </a:solidFill>
              </a:rPr>
              <a:t>million nodes, </a:t>
            </a:r>
            <a:r>
              <a:rPr lang="en-US" b="1" dirty="0" smtClean="0">
                <a:solidFill>
                  <a:srgbClr val="FF0000"/>
                </a:solidFill>
              </a:rPr>
              <a:t>99 </a:t>
            </a:r>
            <a:r>
              <a:rPr lang="en-US" b="1" dirty="0">
                <a:solidFill>
                  <a:srgbClr val="FF0000"/>
                </a:solidFill>
              </a:rPr>
              <a:t>million edges</a:t>
            </a:r>
          </a:p>
          <a:p>
            <a:endParaRPr lang="en-US" b="1" dirty="0" smtClean="0"/>
          </a:p>
        </p:txBody>
      </p:sp>
      <p:grpSp>
        <p:nvGrpSpPr>
          <p:cNvPr id="15" name="Group 14"/>
          <p:cNvGrpSpPr/>
          <p:nvPr/>
        </p:nvGrpSpPr>
        <p:grpSpPr>
          <a:xfrm>
            <a:off x="1046414" y="2689013"/>
            <a:ext cx="4412709" cy="3736066"/>
            <a:chOff x="3120608" y="2739628"/>
            <a:chExt cx="4412709" cy="3736066"/>
          </a:xfrm>
        </p:grpSpPr>
        <p:grpSp>
          <p:nvGrpSpPr>
            <p:cNvPr id="30" name="Group 29"/>
            <p:cNvGrpSpPr/>
            <p:nvPr/>
          </p:nvGrpSpPr>
          <p:grpSpPr>
            <a:xfrm>
              <a:off x="3120608" y="2739628"/>
              <a:ext cx="3401076" cy="3736066"/>
              <a:chOff x="3128859" y="3328479"/>
              <a:chExt cx="2755672" cy="3165564"/>
            </a:xfrm>
          </p:grpSpPr>
          <p:sp>
            <p:nvSpPr>
              <p:cNvPr id="9" name="Cube 8"/>
              <p:cNvSpPr/>
              <p:nvPr/>
            </p:nvSpPr>
            <p:spPr bwMode="auto">
              <a:xfrm>
                <a:off x="3789920" y="3697884"/>
                <a:ext cx="2094609" cy="1723610"/>
              </a:xfrm>
              <a:prstGeom prst="cube">
                <a:avLst>
                  <a:gd name="adj" fmla="val 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000" dirty="0" smtClean="0">
                    <a:solidFill>
                      <a:srgbClr val="000000"/>
                    </a:solidFill>
                    <a:ea typeface="ＭＳ Ｐゴシック" pitchFamily="-111" charset="-128"/>
                  </a:rPr>
                  <a:t>Netflix</a:t>
                </a:r>
              </a:p>
            </p:txBody>
          </p:sp>
          <p:sp>
            <p:nvSpPr>
              <p:cNvPr id="10" name="Rectangle 9"/>
              <p:cNvSpPr/>
              <p:nvPr/>
            </p:nvSpPr>
            <p:spPr bwMode="auto">
              <a:xfrm>
                <a:off x="3789920" y="5483328"/>
                <a:ext cx="2094609" cy="61060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 bwMode="auto">
              <a:xfrm rot="16200000">
                <a:off x="2597692" y="4267912"/>
                <a:ext cx="1715880" cy="575825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128859" y="3328479"/>
                <a:ext cx="8082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Users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4391643" y="6093933"/>
                <a:ext cx="9558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>
                    <a:solidFill>
                      <a:srgbClr val="000000"/>
                    </a:solidFill>
                  </a:rPr>
                  <a:t>Movies</a:t>
                </a:r>
                <a:endParaRPr lang="en-US" sz="2000" dirty="0">
                  <a:solidFill>
                    <a:srgbClr val="000000"/>
                  </a:solidFill>
                </a:endParaRPr>
              </a:p>
            </p:txBody>
          </p:sp>
          <p:cxnSp>
            <p:nvCxnSpPr>
              <p:cNvPr id="16" name="Straight Connector 15"/>
              <p:cNvCxnSpPr/>
              <p:nvPr/>
            </p:nvCxnSpPr>
            <p:spPr bwMode="auto">
              <a:xfrm rot="5400000">
                <a:off x="2491416" y="4555824"/>
                <a:ext cx="1715881" cy="1289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7" name="Straight Connector 16"/>
              <p:cNvCxnSpPr/>
              <p:nvPr/>
            </p:nvCxnSpPr>
            <p:spPr bwMode="auto">
              <a:xfrm rot="5400000">
                <a:off x="2692698" y="4556146"/>
                <a:ext cx="1715238" cy="1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8" name="Straight Connector 17"/>
              <p:cNvCxnSpPr/>
              <p:nvPr/>
            </p:nvCxnSpPr>
            <p:spPr bwMode="auto">
              <a:xfrm>
                <a:off x="3789920" y="5668828"/>
                <a:ext cx="2094609" cy="1289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/>
              <p:cNvCxnSpPr/>
              <p:nvPr/>
            </p:nvCxnSpPr>
            <p:spPr bwMode="auto">
              <a:xfrm rot="10800000" flipV="1">
                <a:off x="3789921" y="5889350"/>
                <a:ext cx="2094610" cy="1"/>
              </a:xfrm>
              <a:prstGeom prst="line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2" name="Rectangle 21"/>
              <p:cNvSpPr/>
              <p:nvPr/>
            </p:nvSpPr>
            <p:spPr bwMode="auto">
              <a:xfrm>
                <a:off x="3789920" y="4887941"/>
                <a:ext cx="1630798" cy="162313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 bwMode="auto">
              <a:xfrm>
                <a:off x="5463229" y="5065713"/>
                <a:ext cx="170098" cy="355781"/>
              </a:xfrm>
              <a:prstGeom prst="rect">
                <a:avLst/>
              </a:prstGeom>
              <a:noFill/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 bwMode="auto">
              <a:xfrm>
                <a:off x="5463229" y="5421494"/>
                <a:ext cx="170098" cy="672439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 bwMode="auto">
              <a:xfrm>
                <a:off x="3167720" y="4887941"/>
                <a:ext cx="622200" cy="162313"/>
              </a:xfrm>
              <a:prstGeom prst="rect">
                <a:avLst/>
              </a:prstGeom>
              <a:solidFill>
                <a:schemeClr val="bg1"/>
              </a:solidFill>
              <a:ln>
                <a:headEnd type="none" w="med" len="med"/>
                <a:tailEnd type="none" w="med" len="med"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2000" smtClean="0">
                  <a:solidFill>
                    <a:srgbClr val="000000"/>
                  </a:solidFill>
                  <a:ea typeface="ＭＳ Ｐゴシック" pitchFamily="-111" charset="-128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 bwMode="auto">
              <a:xfrm>
                <a:off x="5463229" y="4887941"/>
                <a:ext cx="170098" cy="162313"/>
              </a:xfrm>
              <a:prstGeom prst="rect">
                <a:avLst/>
              </a:prstGeom>
              <a:noFill/>
              <a:ln w="38100" cap="flat" cmpd="sng" algn="ctr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</p:grpSp>
        <p:sp>
          <p:nvSpPr>
            <p:cNvPr id="31" name="Right Brace 30"/>
            <p:cNvSpPr/>
            <p:nvPr/>
          </p:nvSpPr>
          <p:spPr bwMode="auto">
            <a:xfrm>
              <a:off x="6819605" y="5209849"/>
              <a:ext cx="358927" cy="793627"/>
            </a:xfrm>
            <a:prstGeom prst="rightBrac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78532" y="5319194"/>
              <a:ext cx="35478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</a:t>
              </a:r>
              <a:endParaRPr lang="en-US" dirty="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5598910" y="2837069"/>
            <a:ext cx="1988925" cy="3104424"/>
            <a:chOff x="792552" y="2899052"/>
            <a:chExt cx="1988925" cy="3104424"/>
          </a:xfrm>
        </p:grpSpPr>
        <p:cxnSp>
          <p:nvCxnSpPr>
            <p:cNvPr id="24" name="Straight Connector 23"/>
            <p:cNvCxnSpPr>
              <a:stCxn id="38" idx="3"/>
              <a:endCxn id="46" idx="1"/>
            </p:cNvCxnSpPr>
            <p:nvPr/>
          </p:nvCxnSpPr>
          <p:spPr bwMode="auto">
            <a:xfrm>
              <a:off x="1370034" y="3493007"/>
              <a:ext cx="775293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39" idx="3"/>
              <a:endCxn id="46" idx="1"/>
            </p:cNvCxnSpPr>
            <p:nvPr/>
          </p:nvCxnSpPr>
          <p:spPr bwMode="auto">
            <a:xfrm flipV="1">
              <a:off x="1370034" y="3493007"/>
              <a:ext cx="775293" cy="35072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48" idx="1"/>
            </p:cNvCxnSpPr>
            <p:nvPr/>
          </p:nvCxnSpPr>
          <p:spPr bwMode="auto">
            <a:xfrm>
              <a:off x="1370034" y="3917573"/>
              <a:ext cx="775293" cy="3691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40" idx="3"/>
              <a:endCxn id="50" idx="1"/>
            </p:cNvCxnSpPr>
            <p:nvPr/>
          </p:nvCxnSpPr>
          <p:spPr bwMode="auto">
            <a:xfrm>
              <a:off x="1370034" y="4194463"/>
              <a:ext cx="775293" cy="84912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1" idx="3"/>
              <a:endCxn id="51" idx="1"/>
            </p:cNvCxnSpPr>
            <p:nvPr/>
          </p:nvCxnSpPr>
          <p:spPr bwMode="auto">
            <a:xfrm>
              <a:off x="1370034" y="4545192"/>
              <a:ext cx="775293" cy="84912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44" idx="3"/>
              <a:endCxn id="52" idx="1"/>
            </p:cNvCxnSpPr>
            <p:nvPr/>
          </p:nvCxnSpPr>
          <p:spPr bwMode="auto">
            <a:xfrm>
              <a:off x="1370034" y="5597377"/>
              <a:ext cx="775293" cy="350723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40" idx="3"/>
              <a:endCxn id="49" idx="1"/>
            </p:cNvCxnSpPr>
            <p:nvPr/>
          </p:nvCxnSpPr>
          <p:spPr bwMode="auto">
            <a:xfrm>
              <a:off x="1370034" y="4194463"/>
              <a:ext cx="775293" cy="47994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42" idx="3"/>
              <a:endCxn id="52" idx="1"/>
            </p:cNvCxnSpPr>
            <p:nvPr/>
          </p:nvCxnSpPr>
          <p:spPr bwMode="auto">
            <a:xfrm>
              <a:off x="1370034" y="4895920"/>
              <a:ext cx="775293" cy="105218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Rectangle 37"/>
            <p:cNvSpPr/>
            <p:nvPr/>
          </p:nvSpPr>
          <p:spPr bwMode="auto">
            <a:xfrm>
              <a:off x="982388" y="3437629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982388" y="3788357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982388" y="4139086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1" name="Rectangle 40"/>
            <p:cNvSpPr/>
            <p:nvPr/>
          </p:nvSpPr>
          <p:spPr bwMode="auto">
            <a:xfrm>
              <a:off x="982388" y="4489814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2" name="Rectangle 41"/>
            <p:cNvSpPr/>
            <p:nvPr/>
          </p:nvSpPr>
          <p:spPr bwMode="auto">
            <a:xfrm>
              <a:off x="982388" y="4840542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3" name="Rectangle 42"/>
            <p:cNvSpPr/>
            <p:nvPr/>
          </p:nvSpPr>
          <p:spPr bwMode="auto">
            <a:xfrm>
              <a:off x="982388" y="5191271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4" name="Rectangle 43"/>
            <p:cNvSpPr/>
            <p:nvPr/>
          </p:nvSpPr>
          <p:spPr bwMode="auto">
            <a:xfrm>
              <a:off x="982388" y="5541999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982388" y="5892722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6" name="Rectangle 45"/>
            <p:cNvSpPr/>
            <p:nvPr/>
          </p:nvSpPr>
          <p:spPr bwMode="auto">
            <a:xfrm>
              <a:off x="2145327" y="3437629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7" name="Rectangle 46"/>
            <p:cNvSpPr/>
            <p:nvPr/>
          </p:nvSpPr>
          <p:spPr bwMode="auto">
            <a:xfrm>
              <a:off x="2145327" y="3843737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8" name="Rectangle 47"/>
            <p:cNvSpPr/>
            <p:nvPr/>
          </p:nvSpPr>
          <p:spPr bwMode="auto">
            <a:xfrm>
              <a:off x="2145327" y="4231383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2145327" y="4619029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50" name="Rectangle 49"/>
            <p:cNvSpPr/>
            <p:nvPr/>
          </p:nvSpPr>
          <p:spPr bwMode="auto">
            <a:xfrm>
              <a:off x="2145327" y="4988214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51" name="Rectangle 50"/>
            <p:cNvSpPr/>
            <p:nvPr/>
          </p:nvSpPr>
          <p:spPr bwMode="auto">
            <a:xfrm>
              <a:off x="2145327" y="5338942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52" name="Rectangle 51"/>
            <p:cNvSpPr/>
            <p:nvPr/>
          </p:nvSpPr>
          <p:spPr bwMode="auto">
            <a:xfrm>
              <a:off x="2145327" y="5892722"/>
              <a:ext cx="387646" cy="1107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cxnSp>
          <p:nvCxnSpPr>
            <p:cNvPr id="53" name="Straight Connector 52"/>
            <p:cNvCxnSpPr>
              <a:stCxn id="50" idx="1"/>
              <a:endCxn id="42" idx="3"/>
            </p:cNvCxnSpPr>
            <p:nvPr/>
          </p:nvCxnSpPr>
          <p:spPr bwMode="auto">
            <a:xfrm flipH="1" flipV="1">
              <a:off x="1370034" y="4895919"/>
              <a:ext cx="775293" cy="14767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792552" y="2905297"/>
              <a:ext cx="710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</a:rPr>
                <a:t>Users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1915359" y="2899052"/>
              <a:ext cx="8661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>
                  <a:solidFill>
                    <a:srgbClr val="000000"/>
                  </a:solidFill>
                </a:rPr>
                <a:t>Movies</a:t>
              </a:r>
              <a:endParaRPr lang="en-US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322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Netflix Collaborative Filtering</a:t>
            </a:r>
          </a:p>
        </p:txBody>
      </p:sp>
      <p:sp>
        <p:nvSpPr>
          <p:cNvPr id="76" name="Slide Number Placeholder 7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51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0" y="1642867"/>
            <a:ext cx="4452961" cy="3597417"/>
            <a:chOff x="0" y="1642867"/>
            <a:chExt cx="4452961" cy="3597417"/>
          </a:xfrm>
        </p:grpSpPr>
        <p:grpSp>
          <p:nvGrpSpPr>
            <p:cNvPr id="75" name="Group 74"/>
            <p:cNvGrpSpPr/>
            <p:nvPr/>
          </p:nvGrpSpPr>
          <p:grpSpPr>
            <a:xfrm>
              <a:off x="0" y="1642867"/>
              <a:ext cx="4452961" cy="3412751"/>
              <a:chOff x="5303254" y="4104229"/>
              <a:chExt cx="3273425" cy="2508754"/>
            </a:xfrm>
          </p:grpSpPr>
          <p:grpSp>
            <p:nvGrpSpPr>
              <p:cNvPr id="36" name="Group 35"/>
              <p:cNvGrpSpPr/>
              <p:nvPr/>
            </p:nvGrpSpPr>
            <p:grpSpPr>
              <a:xfrm>
                <a:off x="5303254" y="4104229"/>
                <a:ext cx="3273425" cy="2508754"/>
                <a:chOff x="2565208" y="4001302"/>
                <a:chExt cx="3273425" cy="2508754"/>
              </a:xfrm>
            </p:grpSpPr>
            <p:pic>
              <p:nvPicPr>
                <p:cNvPr id="4" name="Picture 3" descr="eval_compcomplex.pdf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65208" y="4001302"/>
                  <a:ext cx="3223944" cy="2508754"/>
                </a:xfrm>
                <a:prstGeom prst="rect">
                  <a:avLst/>
                </a:prstGeom>
              </p:spPr>
            </p:pic>
            <p:sp>
              <p:nvSpPr>
                <p:cNvPr id="35" name="Rectangle 34"/>
                <p:cNvSpPr/>
                <p:nvPr/>
              </p:nvSpPr>
              <p:spPr bwMode="auto">
                <a:xfrm>
                  <a:off x="2968964" y="4017797"/>
                  <a:ext cx="2869669" cy="2156096"/>
                </a:xfrm>
                <a:prstGeom prst="rect">
                  <a:avLst/>
                </a:prstGeom>
                <a:solidFill>
                  <a:srgbClr val="FFFFFF"/>
                </a:solidFill>
                <a:ln w="381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-64" charset="0"/>
                  </a:endParaRPr>
                </a:p>
              </p:txBody>
            </p:sp>
            <p:cxnSp>
              <p:nvCxnSpPr>
                <p:cNvPr id="25" name="Straight Connector 24"/>
                <p:cNvCxnSpPr/>
                <p:nvPr/>
              </p:nvCxnSpPr>
              <p:spPr bwMode="auto">
                <a:xfrm flipV="1">
                  <a:off x="2919482" y="4093766"/>
                  <a:ext cx="2655571" cy="2078201"/>
                </a:xfrm>
                <a:prstGeom prst="line">
                  <a:avLst/>
                </a:prstGeom>
                <a:noFill/>
                <a:ln w="571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6" name="Freeform 25"/>
                <p:cNvSpPr/>
                <p:nvPr/>
              </p:nvSpPr>
              <p:spPr>
                <a:xfrm>
                  <a:off x="2919482" y="4767197"/>
                  <a:ext cx="2787528" cy="1385621"/>
                </a:xfrm>
                <a:custGeom>
                  <a:avLst/>
                  <a:gdLst>
                    <a:gd name="connsiteX0" fmla="*/ 0 w 2787528"/>
                    <a:gd name="connsiteY0" fmla="*/ 1385621 h 1385621"/>
                    <a:gd name="connsiteX1" fmla="*/ 593793 w 2787528"/>
                    <a:gd name="connsiteY1" fmla="*/ 973234 h 1385621"/>
                    <a:gd name="connsiteX2" fmla="*/ 956667 w 2787528"/>
                    <a:gd name="connsiteY2" fmla="*/ 791783 h 1385621"/>
                    <a:gd name="connsiteX3" fmla="*/ 1319540 w 2787528"/>
                    <a:gd name="connsiteY3" fmla="*/ 610333 h 1385621"/>
                    <a:gd name="connsiteX4" fmla="*/ 2078276 w 2787528"/>
                    <a:gd name="connsiteY4" fmla="*/ 280423 h 1385621"/>
                    <a:gd name="connsiteX5" fmla="*/ 2787528 w 2787528"/>
                    <a:gd name="connsiteY5" fmla="*/ 0 h 13856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787528" h="1385621">
                      <a:moveTo>
                        <a:pt x="0" y="1385621"/>
                      </a:moveTo>
                      <a:cubicBezTo>
                        <a:pt x="217174" y="1228914"/>
                        <a:pt x="434349" y="1072207"/>
                        <a:pt x="593793" y="973234"/>
                      </a:cubicBezTo>
                      <a:cubicBezTo>
                        <a:pt x="753238" y="874261"/>
                        <a:pt x="956667" y="791783"/>
                        <a:pt x="956667" y="791783"/>
                      </a:cubicBezTo>
                      <a:cubicBezTo>
                        <a:pt x="1077625" y="731300"/>
                        <a:pt x="1132605" y="695560"/>
                        <a:pt x="1319540" y="610333"/>
                      </a:cubicBezTo>
                      <a:cubicBezTo>
                        <a:pt x="1506475" y="525106"/>
                        <a:pt x="1833611" y="382145"/>
                        <a:pt x="2078276" y="280423"/>
                      </a:cubicBezTo>
                      <a:cubicBezTo>
                        <a:pt x="2322941" y="178701"/>
                        <a:pt x="2787528" y="0"/>
                        <a:pt x="2787528" y="0"/>
                      </a:cubicBezTo>
                    </a:path>
                  </a:pathLst>
                </a:custGeom>
                <a:ln w="57150" cmpd="sng">
                  <a:solidFill>
                    <a:srgbClr val="008000"/>
                  </a:solidFill>
                </a:ln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-64" charset="0"/>
                  </a:endParaRPr>
                </a:p>
              </p:txBody>
            </p:sp>
            <p:sp>
              <p:nvSpPr>
                <p:cNvPr id="34" name="Freeform 33"/>
                <p:cNvSpPr/>
                <p:nvPr/>
              </p:nvSpPr>
              <p:spPr>
                <a:xfrm>
                  <a:off x="2935976" y="5591971"/>
                  <a:ext cx="2754540" cy="577342"/>
                </a:xfrm>
                <a:custGeom>
                  <a:avLst/>
                  <a:gdLst>
                    <a:gd name="connsiteX0" fmla="*/ 0 w 2754540"/>
                    <a:gd name="connsiteY0" fmla="*/ 577342 h 577342"/>
                    <a:gd name="connsiteX1" fmla="*/ 263908 w 2754540"/>
                    <a:gd name="connsiteY1" fmla="*/ 379396 h 577342"/>
                    <a:gd name="connsiteX2" fmla="*/ 577299 w 2754540"/>
                    <a:gd name="connsiteY2" fmla="*/ 280423 h 577342"/>
                    <a:gd name="connsiteX3" fmla="*/ 956667 w 2754540"/>
                    <a:gd name="connsiteY3" fmla="*/ 181451 h 577342"/>
                    <a:gd name="connsiteX4" fmla="*/ 1303046 w 2754540"/>
                    <a:gd name="connsiteY4" fmla="*/ 131964 h 577342"/>
                    <a:gd name="connsiteX5" fmla="*/ 2045287 w 2754540"/>
                    <a:gd name="connsiteY5" fmla="*/ 32991 h 577342"/>
                    <a:gd name="connsiteX6" fmla="*/ 2754540 w 2754540"/>
                    <a:gd name="connsiteY6" fmla="*/ 0 h 5773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754540" h="577342">
                      <a:moveTo>
                        <a:pt x="0" y="577342"/>
                      </a:moveTo>
                      <a:cubicBezTo>
                        <a:pt x="83846" y="503112"/>
                        <a:pt x="167692" y="428882"/>
                        <a:pt x="263908" y="379396"/>
                      </a:cubicBezTo>
                      <a:cubicBezTo>
                        <a:pt x="360125" y="329909"/>
                        <a:pt x="461839" y="313414"/>
                        <a:pt x="577299" y="280423"/>
                      </a:cubicBezTo>
                      <a:cubicBezTo>
                        <a:pt x="692759" y="247432"/>
                        <a:pt x="835709" y="206194"/>
                        <a:pt x="956667" y="181451"/>
                      </a:cubicBezTo>
                      <a:cubicBezTo>
                        <a:pt x="1077625" y="156708"/>
                        <a:pt x="1303046" y="131964"/>
                        <a:pt x="1303046" y="131964"/>
                      </a:cubicBezTo>
                      <a:cubicBezTo>
                        <a:pt x="1484483" y="107221"/>
                        <a:pt x="1803371" y="54985"/>
                        <a:pt x="2045287" y="32991"/>
                      </a:cubicBezTo>
                      <a:cubicBezTo>
                        <a:pt x="2287203" y="10997"/>
                        <a:pt x="2754540" y="0"/>
                        <a:pt x="2754540" y="0"/>
                      </a:cubicBezTo>
                    </a:path>
                  </a:pathLst>
                </a:custGeom>
                <a:ln w="57150" cmpd="sng">
                  <a:solidFill>
                    <a:srgbClr val="0000FF"/>
                  </a:solidFill>
                </a:ln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-64" charset="0"/>
                  </a:endParaRPr>
                </a:p>
              </p:txBody>
            </p:sp>
          </p:grpSp>
          <p:cxnSp>
            <p:nvCxnSpPr>
              <p:cNvPr id="58" name="Straight Arrow Connector 57"/>
              <p:cNvCxnSpPr>
                <a:stCxn id="59" idx="3"/>
              </p:cNvCxnSpPr>
              <p:nvPr/>
            </p:nvCxnSpPr>
            <p:spPr>
              <a:xfrm flipV="1">
                <a:off x="7123196" y="4552615"/>
                <a:ext cx="579619" cy="527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</p:cxnSp>
          <p:sp>
            <p:nvSpPr>
              <p:cNvPr id="59" name="Rectangle 58"/>
              <p:cNvSpPr/>
              <p:nvPr/>
            </p:nvSpPr>
            <p:spPr>
              <a:xfrm>
                <a:off x="6110775" y="4481367"/>
                <a:ext cx="1012421" cy="248071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 smtClean="0"/>
                  <a:t>Ideal</a:t>
                </a:r>
                <a:endParaRPr lang="en-US" dirty="0"/>
              </a:p>
            </p:txBody>
          </p:sp>
          <p:cxnSp>
            <p:nvCxnSpPr>
              <p:cNvPr id="62" name="Straight Arrow Connector 61"/>
              <p:cNvCxnSpPr>
                <a:stCxn id="63" idx="3"/>
              </p:cNvCxnSpPr>
              <p:nvPr/>
            </p:nvCxnSpPr>
            <p:spPr>
              <a:xfrm>
                <a:off x="6865560" y="5020740"/>
                <a:ext cx="611447" cy="12859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3"/>
              </a:lnRef>
              <a:fillRef idx="0">
                <a:schemeClr val="accent3"/>
              </a:fillRef>
              <a:effectRef idx="1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63" name="Rectangle 62"/>
              <p:cNvSpPr/>
              <p:nvPr/>
            </p:nvSpPr>
            <p:spPr>
              <a:xfrm>
                <a:off x="5958375" y="4892143"/>
                <a:ext cx="907185" cy="257193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 smtClean="0"/>
                  <a:t>D=100</a:t>
                </a:r>
                <a:endParaRPr lang="en-US" dirty="0"/>
              </a:p>
            </p:txBody>
          </p:sp>
          <p:cxnSp>
            <p:nvCxnSpPr>
              <p:cNvPr id="67" name="Straight Arrow Connector 66"/>
              <p:cNvCxnSpPr>
                <a:stCxn id="68" idx="3"/>
              </p:cNvCxnSpPr>
              <p:nvPr/>
            </p:nvCxnSpPr>
            <p:spPr>
              <a:xfrm>
                <a:off x="6483270" y="5415923"/>
                <a:ext cx="722396" cy="337413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Rectangle 67"/>
              <p:cNvSpPr/>
              <p:nvPr/>
            </p:nvSpPr>
            <p:spPr>
              <a:xfrm>
                <a:off x="5756492" y="5269246"/>
                <a:ext cx="726778" cy="29335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 smtClean="0"/>
                  <a:t>D=20</a:t>
                </a:r>
                <a:endParaRPr lang="en-US" dirty="0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1765611" y="4870952"/>
              <a:ext cx="14986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# machines</a:t>
              </a:r>
              <a:endParaRPr 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73238" y="1523815"/>
            <a:ext cx="4673467" cy="3743212"/>
            <a:chOff x="4473238" y="1523815"/>
            <a:chExt cx="4673467" cy="3743212"/>
          </a:xfrm>
        </p:grpSpPr>
        <p:grpSp>
          <p:nvGrpSpPr>
            <p:cNvPr id="5" name="Group 4"/>
            <p:cNvGrpSpPr/>
            <p:nvPr/>
          </p:nvGrpSpPr>
          <p:grpSpPr>
            <a:xfrm>
              <a:off x="4473238" y="1523815"/>
              <a:ext cx="4673467" cy="3677026"/>
              <a:chOff x="4473238" y="1523815"/>
              <a:chExt cx="4673467" cy="3677026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4473238" y="1523815"/>
                <a:ext cx="4673467" cy="3389961"/>
                <a:chOff x="5125416" y="1702560"/>
                <a:chExt cx="3298806" cy="2392833"/>
              </a:xfrm>
            </p:grpSpPr>
            <p:grpSp>
              <p:nvGrpSpPr>
                <p:cNvPr id="38" name="Group 37"/>
                <p:cNvGrpSpPr/>
                <p:nvPr/>
              </p:nvGrpSpPr>
              <p:grpSpPr>
                <a:xfrm>
                  <a:off x="5125416" y="1702560"/>
                  <a:ext cx="3298806" cy="2392833"/>
                  <a:chOff x="5393331" y="1292655"/>
                  <a:chExt cx="3298806" cy="2392833"/>
                </a:xfrm>
              </p:grpSpPr>
              <p:pic>
                <p:nvPicPr>
                  <p:cNvPr id="24" name="Content Placeholder 3" descr="eval_als_hadoop.pdf"/>
                  <p:cNvPicPr>
                    <a:picLocks noChangeAspect="1"/>
                  </p:cNvPicPr>
                  <p:nvPr/>
                </p:nvPicPr>
                <p:blipFill rotWithShape="1">
                  <a:blip r:embed="rId4" cstate="screen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rcRect t="11039" b="4816"/>
                  <a:stretch/>
                </p:blipFill>
                <p:spPr bwMode="auto">
                  <a:xfrm>
                    <a:off x="5393331" y="1502235"/>
                    <a:ext cx="3265818" cy="218325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</p:pic>
              <p:sp>
                <p:nvSpPr>
                  <p:cNvPr id="37" name="Rectangle 36"/>
                  <p:cNvSpPr/>
                  <p:nvPr/>
                </p:nvSpPr>
                <p:spPr bwMode="auto">
                  <a:xfrm>
                    <a:off x="5822468" y="1292655"/>
                    <a:ext cx="2869669" cy="2156096"/>
                  </a:xfrm>
                  <a:prstGeom prst="rect">
                    <a:avLst/>
                  </a:prstGeom>
                  <a:solidFill>
                    <a:srgbClr val="FFFFFF"/>
                  </a:solidFill>
                  <a:ln w="3810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-64" charset="0"/>
                    </a:endParaRPr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5764015" y="1388496"/>
                    <a:ext cx="2793332" cy="320094"/>
                  </a:xfrm>
                  <a:custGeom>
                    <a:avLst/>
                    <a:gdLst>
                      <a:gd name="connsiteX0" fmla="*/ 0 w 3166896"/>
                      <a:gd name="connsiteY0" fmla="*/ 0 h 362901"/>
                      <a:gd name="connsiteX1" fmla="*/ 247413 w 3166896"/>
                      <a:gd name="connsiteY1" fmla="*/ 164955 h 362901"/>
                      <a:gd name="connsiteX2" fmla="*/ 676264 w 3166896"/>
                      <a:gd name="connsiteY2" fmla="*/ 329910 h 362901"/>
                      <a:gd name="connsiteX3" fmla="*/ 1500976 w 3166896"/>
                      <a:gd name="connsiteY3" fmla="*/ 329910 h 362901"/>
                      <a:gd name="connsiteX4" fmla="*/ 3166896 w 3166896"/>
                      <a:gd name="connsiteY4" fmla="*/ 362901 h 3629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3166896" h="362901">
                        <a:moveTo>
                          <a:pt x="0" y="0"/>
                        </a:moveTo>
                        <a:cubicBezTo>
                          <a:pt x="67351" y="54985"/>
                          <a:pt x="134702" y="109970"/>
                          <a:pt x="247413" y="164955"/>
                        </a:cubicBezTo>
                        <a:cubicBezTo>
                          <a:pt x="360124" y="219940"/>
                          <a:pt x="467337" y="302418"/>
                          <a:pt x="676264" y="329910"/>
                        </a:cubicBezTo>
                        <a:cubicBezTo>
                          <a:pt x="885191" y="357402"/>
                          <a:pt x="1500976" y="329910"/>
                          <a:pt x="1500976" y="329910"/>
                        </a:cubicBezTo>
                        <a:lnTo>
                          <a:pt x="3166896" y="362901"/>
                        </a:lnTo>
                      </a:path>
                    </a:pathLst>
                  </a:custGeom>
                  <a:ln/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-64" charset="0"/>
                    </a:endParaRPr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5778563" y="2305125"/>
                    <a:ext cx="2778784" cy="742035"/>
                  </a:xfrm>
                  <a:custGeom>
                    <a:avLst/>
                    <a:gdLst>
                      <a:gd name="connsiteX0" fmla="*/ 0 w 3150402"/>
                      <a:gd name="connsiteY0" fmla="*/ 0 h 841270"/>
                      <a:gd name="connsiteX1" fmla="*/ 181437 w 3150402"/>
                      <a:gd name="connsiteY1" fmla="*/ 214442 h 841270"/>
                      <a:gd name="connsiteX2" fmla="*/ 643276 w 3150402"/>
                      <a:gd name="connsiteY2" fmla="*/ 445378 h 841270"/>
                      <a:gd name="connsiteX3" fmla="*/ 1517471 w 3150402"/>
                      <a:gd name="connsiteY3" fmla="*/ 626829 h 841270"/>
                      <a:gd name="connsiteX4" fmla="*/ 3150402 w 3150402"/>
                      <a:gd name="connsiteY4" fmla="*/ 841270 h 841270"/>
                      <a:gd name="connsiteX5" fmla="*/ 3150402 w 3150402"/>
                      <a:gd name="connsiteY5" fmla="*/ 841270 h 8412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150402" h="841270">
                        <a:moveTo>
                          <a:pt x="0" y="0"/>
                        </a:moveTo>
                        <a:cubicBezTo>
                          <a:pt x="37112" y="70106"/>
                          <a:pt x="74224" y="140212"/>
                          <a:pt x="181437" y="214442"/>
                        </a:cubicBezTo>
                        <a:cubicBezTo>
                          <a:pt x="288650" y="288672"/>
                          <a:pt x="420604" y="376647"/>
                          <a:pt x="643276" y="445378"/>
                        </a:cubicBezTo>
                        <a:cubicBezTo>
                          <a:pt x="865948" y="514109"/>
                          <a:pt x="1099617" y="560847"/>
                          <a:pt x="1517471" y="626829"/>
                        </a:cubicBezTo>
                        <a:cubicBezTo>
                          <a:pt x="1935325" y="692811"/>
                          <a:pt x="3150402" y="841270"/>
                          <a:pt x="3150402" y="841270"/>
                        </a:cubicBezTo>
                        <a:lnTo>
                          <a:pt x="3150402" y="841270"/>
                        </a:lnTo>
                      </a:path>
                    </a:pathLst>
                  </a:custGeom>
                  <a:ln/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-64" charset="0"/>
                    </a:endParaRPr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5764015" y="2537921"/>
                    <a:ext cx="2807881" cy="509239"/>
                  </a:xfrm>
                  <a:custGeom>
                    <a:avLst/>
                    <a:gdLst>
                      <a:gd name="connsiteX0" fmla="*/ 0 w 3183390"/>
                      <a:gd name="connsiteY0" fmla="*/ 0 h 577342"/>
                      <a:gd name="connsiteX1" fmla="*/ 214425 w 3183390"/>
                      <a:gd name="connsiteY1" fmla="*/ 263928 h 577342"/>
                      <a:gd name="connsiteX2" fmla="*/ 643275 w 3183390"/>
                      <a:gd name="connsiteY2" fmla="*/ 412387 h 577342"/>
                      <a:gd name="connsiteX3" fmla="*/ 1072126 w 3183390"/>
                      <a:gd name="connsiteY3" fmla="*/ 478369 h 577342"/>
                      <a:gd name="connsiteX4" fmla="*/ 1500976 w 3183390"/>
                      <a:gd name="connsiteY4" fmla="*/ 511360 h 577342"/>
                      <a:gd name="connsiteX5" fmla="*/ 2325689 w 3183390"/>
                      <a:gd name="connsiteY5" fmla="*/ 560847 h 577342"/>
                      <a:gd name="connsiteX6" fmla="*/ 3183390 w 3183390"/>
                      <a:gd name="connsiteY6" fmla="*/ 577342 h 57734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3183390" h="577342">
                        <a:moveTo>
                          <a:pt x="0" y="0"/>
                        </a:moveTo>
                        <a:cubicBezTo>
                          <a:pt x="53606" y="97598"/>
                          <a:pt x="107213" y="195197"/>
                          <a:pt x="214425" y="263928"/>
                        </a:cubicBezTo>
                        <a:cubicBezTo>
                          <a:pt x="321637" y="332659"/>
                          <a:pt x="500325" y="376647"/>
                          <a:pt x="643275" y="412387"/>
                        </a:cubicBezTo>
                        <a:cubicBezTo>
                          <a:pt x="786225" y="448127"/>
                          <a:pt x="929176" y="461874"/>
                          <a:pt x="1072126" y="478369"/>
                        </a:cubicBezTo>
                        <a:cubicBezTo>
                          <a:pt x="1215076" y="494865"/>
                          <a:pt x="1500976" y="511360"/>
                          <a:pt x="1500976" y="511360"/>
                        </a:cubicBezTo>
                        <a:cubicBezTo>
                          <a:pt x="1709903" y="525106"/>
                          <a:pt x="2045287" y="549850"/>
                          <a:pt x="2325689" y="560847"/>
                        </a:cubicBezTo>
                        <a:cubicBezTo>
                          <a:pt x="2606091" y="571844"/>
                          <a:pt x="3183390" y="577342"/>
                          <a:pt x="3183390" y="577342"/>
                        </a:cubicBezTo>
                      </a:path>
                    </a:pathLst>
                  </a:custGeom>
                  <a:ln/>
                </p:spPr>
                <p:style>
                  <a:lnRef idx="3">
                    <a:schemeClr val="accent6"/>
                  </a:lnRef>
                  <a:fillRef idx="0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tx1"/>
                  </a:fontRef>
                </p:style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ahoma" pitchFamily="-64" charset="0"/>
                    </a:endParaRPr>
                  </a:p>
                </p:txBody>
              </p:sp>
            </p:grpSp>
            <p:cxnSp>
              <p:nvCxnSpPr>
                <p:cNvPr id="39" name="Straight Arrow Connector 38"/>
                <p:cNvCxnSpPr>
                  <a:stCxn id="40" idx="0"/>
                </p:cNvCxnSpPr>
                <p:nvPr/>
              </p:nvCxnSpPr>
              <p:spPr>
                <a:xfrm flipV="1">
                  <a:off x="7477007" y="2118495"/>
                  <a:ext cx="225808" cy="32065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</p:cxnSp>
            <p:sp>
              <p:nvSpPr>
                <p:cNvPr id="40" name="Rectangle 39"/>
                <p:cNvSpPr/>
                <p:nvPr/>
              </p:nvSpPr>
              <p:spPr>
                <a:xfrm>
                  <a:off x="6970796" y="2439145"/>
                  <a:ext cx="1012421" cy="248071"/>
                </a:xfrm>
                <a:prstGeom prst="rect">
                  <a:avLst/>
                </a:prstGeom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 err="1" smtClean="0"/>
                    <a:t>Hadoop</a:t>
                  </a:r>
                  <a:endParaRPr lang="en-US" dirty="0"/>
                </a:p>
              </p:txBody>
            </p:sp>
            <p:cxnSp>
              <p:nvCxnSpPr>
                <p:cNvPr id="45" name="Straight Arrow Connector 44"/>
                <p:cNvCxnSpPr>
                  <a:stCxn id="46" idx="2"/>
                  <a:endCxn id="14" idx="2"/>
                </p:cNvCxnSpPr>
                <p:nvPr/>
              </p:nvCxnSpPr>
              <p:spPr>
                <a:xfrm flipH="1">
                  <a:off x="6078044" y="2660677"/>
                  <a:ext cx="257724" cy="447195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3"/>
                </a:lnRef>
                <a:fillRef idx="0">
                  <a:schemeClr val="accent3"/>
                </a:fillRef>
                <a:effectRef idx="1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46" name="Rectangle 45"/>
                <p:cNvSpPr/>
                <p:nvPr/>
              </p:nvSpPr>
              <p:spPr>
                <a:xfrm>
                  <a:off x="5958375" y="2412606"/>
                  <a:ext cx="754785" cy="248071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 smtClean="0"/>
                    <a:t>MPI</a:t>
                  </a:r>
                  <a:endParaRPr lang="en-US" dirty="0"/>
                </a:p>
              </p:txBody>
            </p:sp>
            <p:cxnSp>
              <p:nvCxnSpPr>
                <p:cNvPr id="51" name="Straight Arrow Connector 50"/>
                <p:cNvCxnSpPr>
                  <a:stCxn id="52" idx="1"/>
                  <a:endCxn id="15" idx="3"/>
                </p:cNvCxnSpPr>
                <p:nvPr/>
              </p:nvCxnSpPr>
              <p:spPr>
                <a:xfrm flipH="1" flipV="1">
                  <a:off x="6441760" y="3369767"/>
                  <a:ext cx="117790" cy="323047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Rectangle 51"/>
                <p:cNvSpPr/>
                <p:nvPr/>
              </p:nvSpPr>
              <p:spPr>
                <a:xfrm>
                  <a:off x="6559549" y="3568779"/>
                  <a:ext cx="1000760" cy="248071"/>
                </a:xfrm>
                <a:prstGeom prst="rect">
                  <a:avLst/>
                </a:prstGeom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 err="1" smtClean="0"/>
                    <a:t>GraphLab</a:t>
                  </a:r>
                  <a:endParaRPr lang="en-US" dirty="0"/>
                </a:p>
              </p:txBody>
            </p:sp>
          </p:grpSp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83657" y="4897695"/>
                <a:ext cx="915750" cy="303146"/>
              </a:xfrm>
              <a:prstGeom prst="rect">
                <a:avLst/>
              </a:prstGeom>
            </p:spPr>
          </p:pic>
        </p:grpSp>
        <p:sp>
          <p:nvSpPr>
            <p:cNvPr id="33" name="TextBox 32"/>
            <p:cNvSpPr txBox="1"/>
            <p:nvPr/>
          </p:nvSpPr>
          <p:spPr>
            <a:xfrm>
              <a:off x="6380584" y="4897695"/>
              <a:ext cx="14986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# machines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904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lscost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1006" y="1073548"/>
            <a:ext cx="7328338" cy="56554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Cost of </a:t>
            </a:r>
            <a:r>
              <a:rPr lang="en-US" dirty="0" err="1" smtClean="0"/>
              <a:t>Hadoop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887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CoEM</a:t>
            </a:r>
            <a:r>
              <a:rPr lang="en-US" dirty="0" smtClean="0"/>
              <a:t> (Rosie Jones, 2005)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7500" y="1066800"/>
            <a:ext cx="789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Named Entity Recognition Task </a:t>
            </a:r>
            <a:endParaRPr lang="en-US" sz="2400" b="1" dirty="0"/>
          </a:p>
        </p:txBody>
      </p:sp>
      <p:grpSp>
        <p:nvGrpSpPr>
          <p:cNvPr id="3" name="Group 50"/>
          <p:cNvGrpSpPr/>
          <p:nvPr/>
        </p:nvGrpSpPr>
        <p:grpSpPr>
          <a:xfrm>
            <a:off x="3723098" y="1524000"/>
            <a:ext cx="5725702" cy="2397776"/>
            <a:chOff x="1350552" y="3071515"/>
            <a:chExt cx="4879469" cy="1842756"/>
          </a:xfrm>
        </p:grpSpPr>
        <p:sp>
          <p:nvSpPr>
            <p:cNvPr id="10" name="Oval 9"/>
            <p:cNvSpPr/>
            <p:nvPr/>
          </p:nvSpPr>
          <p:spPr bwMode="auto">
            <a:xfrm>
              <a:off x="3016250" y="3135015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1" name="Oval 10"/>
            <p:cNvSpPr/>
            <p:nvPr/>
          </p:nvSpPr>
          <p:spPr bwMode="auto">
            <a:xfrm>
              <a:off x="3016250" y="3859543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2" name="Oval 11"/>
            <p:cNvSpPr/>
            <p:nvPr/>
          </p:nvSpPr>
          <p:spPr bwMode="auto">
            <a:xfrm>
              <a:off x="3016250" y="4584071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8" name="Oval 17"/>
            <p:cNvSpPr/>
            <p:nvPr/>
          </p:nvSpPr>
          <p:spPr bwMode="auto">
            <a:xfrm>
              <a:off x="4064000" y="3135015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9" name="Oval 18"/>
            <p:cNvSpPr/>
            <p:nvPr/>
          </p:nvSpPr>
          <p:spPr bwMode="auto">
            <a:xfrm>
              <a:off x="4064000" y="3859543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4064000" y="4584071"/>
              <a:ext cx="330200" cy="3302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73481" y="3071515"/>
              <a:ext cx="964740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 smtClean="0"/>
                <a:t>the cat</a:t>
              </a:r>
              <a:endParaRPr lang="en-US" sz="18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80044" y="3816978"/>
              <a:ext cx="1058177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 smtClean="0"/>
                <a:t>Australia</a:t>
              </a:r>
              <a:endParaRPr lang="en-US" sz="1800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350552" y="4566906"/>
              <a:ext cx="1687669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dirty="0" smtClean="0"/>
                <a:t>Istanbul</a:t>
              </a:r>
              <a:endParaRPr lang="en-US" sz="18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51338" y="3071515"/>
              <a:ext cx="1826191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&lt;X&gt; ran quickly</a:t>
              </a:r>
              <a:endParaRPr lang="en-US" sz="1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62690" y="3816978"/>
              <a:ext cx="1867331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travelled to &lt;X&gt;</a:t>
              </a:r>
              <a:endParaRPr lang="en-US" sz="18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362690" y="4566906"/>
              <a:ext cx="1813317" cy="2838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 smtClean="0"/>
                <a:t>&lt;X&gt; is pleasant</a:t>
              </a:r>
              <a:endParaRPr lang="en-US" sz="1800" dirty="0"/>
            </a:p>
          </p:txBody>
        </p:sp>
        <p:cxnSp>
          <p:nvCxnSpPr>
            <p:cNvPr id="29" name="Straight Connector 28"/>
            <p:cNvCxnSpPr>
              <a:stCxn id="10" idx="6"/>
              <a:endCxn id="18" idx="2"/>
            </p:cNvCxnSpPr>
            <p:nvPr/>
          </p:nvCxnSpPr>
          <p:spPr bwMode="auto">
            <a:xfrm>
              <a:off x="3346450" y="3300115"/>
              <a:ext cx="717550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4" name="Straight Connector 33"/>
            <p:cNvCxnSpPr>
              <a:stCxn id="11" idx="6"/>
              <a:endCxn id="19" idx="2"/>
            </p:cNvCxnSpPr>
            <p:nvPr/>
          </p:nvCxnSpPr>
          <p:spPr bwMode="auto">
            <a:xfrm>
              <a:off x="3346450" y="4024643"/>
              <a:ext cx="717550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37" name="Straight Connector 36"/>
            <p:cNvCxnSpPr>
              <a:stCxn id="12" idx="6"/>
              <a:endCxn id="20" idx="2"/>
            </p:cNvCxnSpPr>
            <p:nvPr/>
          </p:nvCxnSpPr>
          <p:spPr bwMode="auto">
            <a:xfrm>
              <a:off x="3346450" y="4749171"/>
              <a:ext cx="717550" cy="1588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40" name="Straight Connector 39"/>
            <p:cNvCxnSpPr>
              <a:stCxn id="12" idx="6"/>
              <a:endCxn id="19" idx="3"/>
            </p:cNvCxnSpPr>
            <p:nvPr/>
          </p:nvCxnSpPr>
          <p:spPr bwMode="auto">
            <a:xfrm flipV="1">
              <a:off x="3346450" y="4141386"/>
              <a:ext cx="765907" cy="607785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cxnSp>
          <p:nvCxnSpPr>
            <p:cNvPr id="43" name="Straight Connector 42"/>
            <p:cNvCxnSpPr>
              <a:stCxn id="11" idx="5"/>
              <a:endCxn id="20" idx="1"/>
            </p:cNvCxnSpPr>
            <p:nvPr/>
          </p:nvCxnSpPr>
          <p:spPr bwMode="auto">
            <a:xfrm rot="16200000" flipH="1">
              <a:off x="3459704" y="3979775"/>
              <a:ext cx="491042" cy="81426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</p:grpSp>
      <p:graphicFrame>
        <p:nvGraphicFramePr>
          <p:cNvPr id="70" name="Table 69"/>
          <p:cNvGraphicFramePr>
            <a:graphicFrameLocks noGrp="1"/>
          </p:cNvGraphicFramePr>
          <p:nvPr/>
        </p:nvGraphicFramePr>
        <p:xfrm>
          <a:off x="762000" y="4495800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Hadoop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95</a:t>
                      </a:r>
                      <a:r>
                        <a:rPr lang="en-US" sz="2800" b="1" baseline="0" dirty="0" smtClean="0"/>
                        <a:t> Cores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7.5 hrs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1" name="TextBox 70"/>
          <p:cNvSpPr txBox="1"/>
          <p:nvPr/>
        </p:nvSpPr>
        <p:spPr>
          <a:xfrm>
            <a:off x="457200" y="1676400"/>
            <a:ext cx="4249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Is “Cat” an animal?</a:t>
            </a:r>
          </a:p>
          <a:p>
            <a:r>
              <a:rPr lang="en-US" sz="2400" dirty="0" smtClean="0"/>
              <a:t>Is “Istanbul” a place?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819400"/>
            <a:ext cx="324556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smtClean="0"/>
              <a:t>Vertices:</a:t>
            </a:r>
            <a:r>
              <a:rPr lang="en-US" sz="3200" dirty="0" smtClean="0"/>
              <a:t> 2 Million</a:t>
            </a:r>
          </a:p>
          <a:p>
            <a:r>
              <a:rPr lang="en-US" sz="3200" b="1" dirty="0" smtClean="0"/>
              <a:t>Edges: </a:t>
            </a:r>
            <a:r>
              <a:rPr lang="en-US" sz="3200" dirty="0" smtClean="0"/>
              <a:t>200 Million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567971"/>
              </p:ext>
            </p:extLst>
          </p:nvPr>
        </p:nvGraphicFramePr>
        <p:xfrm>
          <a:off x="774700" y="5889024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Distributed GL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32 EC2 Nodes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80 </a:t>
                      </a:r>
                      <a:r>
                        <a:rPr lang="en-US" sz="2800" b="1" dirty="0" err="1" smtClean="0"/>
                        <a:t>secs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740228"/>
              </p:ext>
            </p:extLst>
          </p:nvPr>
        </p:nvGraphicFramePr>
        <p:xfrm>
          <a:off x="774700" y="5134856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GraphLab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16 Cores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30 min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2" name="Rounded Rectangular Callout 31"/>
          <p:cNvSpPr/>
          <p:nvPr/>
        </p:nvSpPr>
        <p:spPr bwMode="auto">
          <a:xfrm>
            <a:off x="1503816" y="3921776"/>
            <a:ext cx="4848190" cy="707158"/>
          </a:xfrm>
          <a:prstGeom prst="wedgeRoundRectCallout">
            <a:avLst>
              <a:gd name="adj1" fmla="val 47311"/>
              <a:gd name="adj2" fmla="val 255975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0.3% of </a:t>
            </a:r>
            <a:r>
              <a:rPr lang="en-US" sz="3200" b="1" dirty="0" err="1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Hadoop</a:t>
            </a:r>
            <a:r>
              <a:rPr lang="en-US" sz="3200" b="1" dirty="0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2957713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2" grpId="0" animBg="1"/>
      <p:bldP spid="32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val_coem_hadoop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949325"/>
            <a:ext cx="7340600" cy="56642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 bwMode="auto">
          <a:xfrm>
            <a:off x="1730375" y="965200"/>
            <a:ext cx="6826250" cy="4924425"/>
          </a:xfrm>
          <a:prstGeom prst="rect">
            <a:avLst/>
          </a:prstGeom>
          <a:solidFill>
            <a:srgbClr val="FFFFFF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NER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54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27" name="Group 26"/>
          <p:cNvGrpSpPr/>
          <p:nvPr/>
        </p:nvGrpSpPr>
        <p:grpSpPr>
          <a:xfrm>
            <a:off x="1682750" y="1127125"/>
            <a:ext cx="6318250" cy="2496139"/>
            <a:chOff x="1682750" y="1127125"/>
            <a:chExt cx="6318250" cy="2496139"/>
          </a:xfrm>
        </p:grpSpPr>
        <p:sp>
          <p:nvSpPr>
            <p:cNvPr id="7" name="Freeform 6"/>
            <p:cNvSpPr/>
            <p:nvPr/>
          </p:nvSpPr>
          <p:spPr>
            <a:xfrm>
              <a:off x="1682750" y="1127125"/>
              <a:ext cx="6318250" cy="1334770"/>
            </a:xfrm>
            <a:custGeom>
              <a:avLst/>
              <a:gdLst>
                <a:gd name="connsiteX0" fmla="*/ 0 w 6318250"/>
                <a:gd name="connsiteY0" fmla="*/ 0 h 1351211"/>
                <a:gd name="connsiteX1" fmla="*/ 396875 w 6318250"/>
                <a:gd name="connsiteY1" fmla="*/ 428625 h 1351211"/>
                <a:gd name="connsiteX2" fmla="*/ 1270000 w 6318250"/>
                <a:gd name="connsiteY2" fmla="*/ 1031875 h 1351211"/>
                <a:gd name="connsiteX3" fmla="*/ 2968625 w 6318250"/>
                <a:gd name="connsiteY3" fmla="*/ 1333500 h 1351211"/>
                <a:gd name="connsiteX4" fmla="*/ 6318250 w 6318250"/>
                <a:gd name="connsiteY4" fmla="*/ 1317625 h 1351211"/>
                <a:gd name="connsiteX0" fmla="*/ 0 w 6318250"/>
                <a:gd name="connsiteY0" fmla="*/ 0 h 1327992"/>
                <a:gd name="connsiteX1" fmla="*/ 396875 w 6318250"/>
                <a:gd name="connsiteY1" fmla="*/ 428625 h 1327992"/>
                <a:gd name="connsiteX2" fmla="*/ 1270000 w 6318250"/>
                <a:gd name="connsiteY2" fmla="*/ 1031875 h 1327992"/>
                <a:gd name="connsiteX3" fmla="*/ 2968625 w 6318250"/>
                <a:gd name="connsiteY3" fmla="*/ 1301750 h 1327992"/>
                <a:gd name="connsiteX4" fmla="*/ 6318250 w 6318250"/>
                <a:gd name="connsiteY4" fmla="*/ 1317625 h 1327992"/>
                <a:gd name="connsiteX0" fmla="*/ 0 w 6318250"/>
                <a:gd name="connsiteY0" fmla="*/ 0 h 1348630"/>
                <a:gd name="connsiteX1" fmla="*/ 396875 w 6318250"/>
                <a:gd name="connsiteY1" fmla="*/ 428625 h 1348630"/>
                <a:gd name="connsiteX2" fmla="*/ 1270000 w 6318250"/>
                <a:gd name="connsiteY2" fmla="*/ 1031875 h 1348630"/>
                <a:gd name="connsiteX3" fmla="*/ 2968625 w 6318250"/>
                <a:gd name="connsiteY3" fmla="*/ 1301750 h 1348630"/>
                <a:gd name="connsiteX4" fmla="*/ 6318250 w 6318250"/>
                <a:gd name="connsiteY4" fmla="*/ 1317625 h 1348630"/>
                <a:gd name="connsiteX0" fmla="*/ 0 w 6318250"/>
                <a:gd name="connsiteY0" fmla="*/ 0 h 1327992"/>
                <a:gd name="connsiteX1" fmla="*/ 396875 w 6318250"/>
                <a:gd name="connsiteY1" fmla="*/ 428625 h 1327992"/>
                <a:gd name="connsiteX2" fmla="*/ 1270000 w 6318250"/>
                <a:gd name="connsiteY2" fmla="*/ 1031875 h 1327992"/>
                <a:gd name="connsiteX3" fmla="*/ 2968625 w 6318250"/>
                <a:gd name="connsiteY3" fmla="*/ 1301750 h 1327992"/>
                <a:gd name="connsiteX4" fmla="*/ 6318250 w 6318250"/>
                <a:gd name="connsiteY4" fmla="*/ 1317625 h 1327992"/>
                <a:gd name="connsiteX0" fmla="*/ 0 w 6318250"/>
                <a:gd name="connsiteY0" fmla="*/ 0 h 1334770"/>
                <a:gd name="connsiteX1" fmla="*/ 396875 w 6318250"/>
                <a:gd name="connsiteY1" fmla="*/ 428625 h 1334770"/>
                <a:gd name="connsiteX2" fmla="*/ 1270000 w 6318250"/>
                <a:gd name="connsiteY2" fmla="*/ 1031875 h 1334770"/>
                <a:gd name="connsiteX3" fmla="*/ 2968625 w 6318250"/>
                <a:gd name="connsiteY3" fmla="*/ 1301750 h 1334770"/>
                <a:gd name="connsiteX4" fmla="*/ 6318250 w 6318250"/>
                <a:gd name="connsiteY4" fmla="*/ 1317625 h 1334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8250" h="1334770">
                  <a:moveTo>
                    <a:pt x="0" y="0"/>
                  </a:moveTo>
                  <a:cubicBezTo>
                    <a:pt x="92604" y="128323"/>
                    <a:pt x="185208" y="256646"/>
                    <a:pt x="396875" y="428625"/>
                  </a:cubicBezTo>
                  <a:cubicBezTo>
                    <a:pt x="608542" y="600604"/>
                    <a:pt x="841375" y="886354"/>
                    <a:pt x="1270000" y="1031875"/>
                  </a:cubicBezTo>
                  <a:cubicBezTo>
                    <a:pt x="1698625" y="1177396"/>
                    <a:pt x="2508250" y="1238250"/>
                    <a:pt x="2968625" y="1301750"/>
                  </a:cubicBezTo>
                  <a:cubicBezTo>
                    <a:pt x="3429000" y="1365250"/>
                    <a:pt x="6318250" y="1317625"/>
                    <a:pt x="6318250" y="1317625"/>
                  </a:cubicBezTo>
                </a:path>
              </a:pathLst>
            </a:cu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4" name="Straight Arrow Connector 13"/>
            <p:cNvCxnSpPr>
              <a:stCxn id="15" idx="0"/>
            </p:cNvCxnSpPr>
            <p:nvPr/>
          </p:nvCxnSpPr>
          <p:spPr>
            <a:xfrm flipV="1">
              <a:off x="6151233" y="2478336"/>
              <a:ext cx="177838" cy="66696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5520666" y="3145302"/>
              <a:ext cx="1261133" cy="477962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 err="1" smtClean="0"/>
                <a:t>Hadoop</a:t>
              </a:r>
              <a:endParaRPr lang="en-US" sz="2400" dirty="0"/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1698625" y="3926365"/>
            <a:ext cx="6270625" cy="867885"/>
            <a:chOff x="1698625" y="3926365"/>
            <a:chExt cx="6270625" cy="867885"/>
          </a:xfrm>
        </p:grpSpPr>
        <p:sp>
          <p:nvSpPr>
            <p:cNvPr id="9" name="Freeform 8"/>
            <p:cNvSpPr/>
            <p:nvPr/>
          </p:nvSpPr>
          <p:spPr>
            <a:xfrm>
              <a:off x="1698625" y="4048125"/>
              <a:ext cx="6270625" cy="746125"/>
            </a:xfrm>
            <a:custGeom>
              <a:avLst/>
              <a:gdLst>
                <a:gd name="connsiteX0" fmla="*/ 0 w 6270625"/>
                <a:gd name="connsiteY0" fmla="*/ 0 h 746125"/>
                <a:gd name="connsiteX1" fmla="*/ 396875 w 6270625"/>
                <a:gd name="connsiteY1" fmla="*/ 254000 h 746125"/>
                <a:gd name="connsiteX2" fmla="*/ 1238250 w 6270625"/>
                <a:gd name="connsiteY2" fmla="*/ 476250 h 746125"/>
                <a:gd name="connsiteX3" fmla="*/ 2079625 w 6270625"/>
                <a:gd name="connsiteY3" fmla="*/ 555625 h 746125"/>
                <a:gd name="connsiteX4" fmla="*/ 2921000 w 6270625"/>
                <a:gd name="connsiteY4" fmla="*/ 603250 h 746125"/>
                <a:gd name="connsiteX5" fmla="*/ 4619625 w 6270625"/>
                <a:gd name="connsiteY5" fmla="*/ 619125 h 746125"/>
                <a:gd name="connsiteX6" fmla="*/ 6270625 w 6270625"/>
                <a:gd name="connsiteY6" fmla="*/ 746125 h 746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70625" h="746125">
                  <a:moveTo>
                    <a:pt x="0" y="0"/>
                  </a:moveTo>
                  <a:cubicBezTo>
                    <a:pt x="95250" y="87312"/>
                    <a:pt x="190500" y="174625"/>
                    <a:pt x="396875" y="254000"/>
                  </a:cubicBezTo>
                  <a:cubicBezTo>
                    <a:pt x="603250" y="333375"/>
                    <a:pt x="957792" y="425979"/>
                    <a:pt x="1238250" y="476250"/>
                  </a:cubicBezTo>
                  <a:cubicBezTo>
                    <a:pt x="1518708" y="526521"/>
                    <a:pt x="1799167" y="534458"/>
                    <a:pt x="2079625" y="555625"/>
                  </a:cubicBezTo>
                  <a:cubicBezTo>
                    <a:pt x="2360083" y="576792"/>
                    <a:pt x="2497667" y="592667"/>
                    <a:pt x="2921000" y="603250"/>
                  </a:cubicBezTo>
                  <a:cubicBezTo>
                    <a:pt x="3344333" y="613833"/>
                    <a:pt x="4061354" y="595313"/>
                    <a:pt x="4619625" y="619125"/>
                  </a:cubicBezTo>
                  <a:cubicBezTo>
                    <a:pt x="5177896" y="642937"/>
                    <a:pt x="6270625" y="746125"/>
                    <a:pt x="6270625" y="746125"/>
                  </a:cubicBezTo>
                </a:path>
              </a:pathLst>
            </a:custGeom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cxnSp>
          <p:nvCxnSpPr>
            <p:cNvPr id="18" name="Straight Arrow Connector 17"/>
            <p:cNvCxnSpPr>
              <a:stCxn id="19" idx="1"/>
            </p:cNvCxnSpPr>
            <p:nvPr/>
          </p:nvCxnSpPr>
          <p:spPr>
            <a:xfrm flipH="1">
              <a:off x="5007697" y="4178456"/>
              <a:ext cx="1036272" cy="47291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19" name="Rectangle 18"/>
            <p:cNvSpPr/>
            <p:nvPr/>
          </p:nvSpPr>
          <p:spPr>
            <a:xfrm>
              <a:off x="6043969" y="3926365"/>
              <a:ext cx="1433803" cy="504181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400" dirty="0" err="1" smtClean="0"/>
                <a:t>GraphLab</a:t>
              </a:r>
              <a:endParaRPr lang="en-US" sz="2400" dirty="0"/>
            </a:p>
          </p:txBody>
        </p:sp>
      </p:grp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142003"/>
              </p:ext>
            </p:extLst>
          </p:nvPr>
        </p:nvGraphicFramePr>
        <p:xfrm>
          <a:off x="1066800" y="2227857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0" dirty="0" err="1" smtClean="0"/>
                        <a:t>Hadoop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95</a:t>
                      </a:r>
                      <a:r>
                        <a:rPr lang="en-US" sz="2800" b="0" baseline="0" dirty="0" smtClean="0"/>
                        <a:t> Cores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7.5 hrs</a:t>
                      </a:r>
                      <a:endParaRPr lang="en-US" sz="2800" b="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007650"/>
              </p:ext>
            </p:extLst>
          </p:nvPr>
        </p:nvGraphicFramePr>
        <p:xfrm>
          <a:off x="1066800" y="3729192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Distributed GL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32 EC2 Nodes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80 </a:t>
                      </a:r>
                      <a:r>
                        <a:rPr lang="en-US" sz="2800" b="1" dirty="0" err="1" smtClean="0"/>
                        <a:t>secs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198856"/>
              </p:ext>
            </p:extLst>
          </p:nvPr>
        </p:nvGraphicFramePr>
        <p:xfrm>
          <a:off x="1066800" y="2975024"/>
          <a:ext cx="736236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err="1" smtClean="0"/>
                        <a:t>GraphLab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16 Cores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30 min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Rounded Rectangular Callout 25"/>
          <p:cNvSpPr/>
          <p:nvPr/>
        </p:nvSpPr>
        <p:spPr bwMode="auto">
          <a:xfrm>
            <a:off x="3991010" y="4794250"/>
            <a:ext cx="4848190" cy="707158"/>
          </a:xfrm>
          <a:prstGeom prst="wedgeRoundRectCallout">
            <a:avLst>
              <a:gd name="adj1" fmla="val -2460"/>
              <a:gd name="adj2" fmla="val -13374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0.3% of </a:t>
            </a:r>
            <a:r>
              <a:rPr lang="en-US" sz="3200" b="1" dirty="0" err="1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Hadoop</a:t>
            </a:r>
            <a:r>
              <a:rPr lang="en-US" sz="3200" b="1" dirty="0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 time</a:t>
            </a:r>
          </a:p>
        </p:txBody>
      </p:sp>
    </p:spTree>
    <p:extLst>
      <p:ext uri="{BB962C8B-B14F-4D97-AF65-F5344CB8AC3E}">
        <p14:creationId xmlns:p14="http://schemas.microsoft.com/office/powerpoint/2010/main" val="326130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Require a </a:t>
            </a:r>
            <a:r>
              <a:rPr lang="en-US" b="1" dirty="0" smtClean="0"/>
              <a:t>graph </a:t>
            </a:r>
            <a:r>
              <a:rPr lang="en-US" b="1" dirty="0"/>
              <a:t>c</a:t>
            </a:r>
            <a:r>
              <a:rPr lang="en-US" b="1" dirty="0" smtClean="0"/>
              <a:t>oloring </a:t>
            </a:r>
            <a:r>
              <a:rPr lang="en-US" dirty="0" smtClean="0"/>
              <a:t>to be available.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b="1" dirty="0" smtClean="0"/>
              <a:t>Frequent Barriers </a:t>
            </a:r>
            <a:r>
              <a:rPr lang="en-US" dirty="0" smtClean="0"/>
              <a:t>make it extremely inefficient for highly dynamic systems where only a small number of vertices are active in each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3085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432174"/>
            <a:ext cx="4545013" cy="954445"/>
          </a:xfrm>
        </p:spPr>
        <p:txBody>
          <a:bodyPr/>
          <a:lstStyle/>
          <a:p>
            <a:r>
              <a:rPr lang="en-US" dirty="0" smtClean="0"/>
              <a:t>Solution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843820"/>
            <a:ext cx="4545013" cy="1752600"/>
          </a:xfrm>
        </p:spPr>
        <p:txBody>
          <a:bodyPr/>
          <a:lstStyle/>
          <a:p>
            <a:r>
              <a:rPr lang="en-US" dirty="0" smtClean="0"/>
              <a:t>Graph Coloring</a:t>
            </a:r>
            <a:endParaRPr lang="en-US" dirty="0"/>
          </a:p>
        </p:txBody>
      </p:sp>
      <p:sp>
        <p:nvSpPr>
          <p:cNvPr id="4" name="Title 1"/>
          <p:cNvSpPr txBox="1">
            <a:spLocks/>
          </p:cNvSpPr>
          <p:nvPr/>
        </p:nvSpPr>
        <p:spPr bwMode="auto">
          <a:xfrm>
            <a:off x="1371600" y="1061777"/>
            <a:ext cx="6400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9pPr>
          </a:lstStyle>
          <a:p>
            <a:r>
              <a:rPr lang="en-US" dirty="0" smtClean="0"/>
              <a:t>Distributed Consistency</a:t>
            </a:r>
            <a:endParaRPr lang="en-US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598987" y="3441063"/>
            <a:ext cx="4545013" cy="9544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-64" charset="0"/>
              </a:defRPr>
            </a:lvl9pPr>
          </a:lstStyle>
          <a:p>
            <a:r>
              <a:rPr lang="en-US" dirty="0" smtClean="0"/>
              <a:t>Solution 2</a:t>
            </a:r>
            <a:endParaRPr lang="en-US" dirty="0"/>
          </a:p>
        </p:txBody>
      </p:sp>
      <p:sp>
        <p:nvSpPr>
          <p:cNvPr id="6" name="Subtitle 2"/>
          <p:cNvSpPr txBox="1">
            <a:spLocks/>
          </p:cNvSpPr>
          <p:nvPr/>
        </p:nvSpPr>
        <p:spPr bwMode="auto">
          <a:xfrm>
            <a:off x="4545013" y="4814752"/>
            <a:ext cx="4545013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-64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-64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-64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-64" charset="2"/>
              <a:buBlip>
                <a:blip r:embed="rId5"/>
              </a:buBlip>
              <a:defRPr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5pPr>
            <a:lvl6pPr marL="24526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6pPr>
            <a:lvl7pPr marL="29098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7pPr>
            <a:lvl8pPr marL="33670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8pPr>
            <a:lvl9pPr marL="3824288" indent="-166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-64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 smtClean="0"/>
              <a:t>Distributed Locking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38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Locking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557585" y="1130737"/>
            <a:ext cx="79455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Edge Consistency can be guaranteed through locking.</a:t>
            </a:r>
            <a:endParaRPr lang="en-US" sz="2400" dirty="0"/>
          </a:p>
        </p:txBody>
      </p:sp>
      <p:sp>
        <p:nvSpPr>
          <p:cNvPr id="98" name="Oval 4"/>
          <p:cNvSpPr/>
          <p:nvPr/>
        </p:nvSpPr>
        <p:spPr bwMode="auto">
          <a:xfrm>
            <a:off x="2927567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9" name="Oval 98"/>
          <p:cNvSpPr/>
          <p:nvPr/>
        </p:nvSpPr>
        <p:spPr bwMode="auto">
          <a:xfrm>
            <a:off x="4413668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5899768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grpSp>
        <p:nvGrpSpPr>
          <p:cNvPr id="101" name="Group 15"/>
          <p:cNvGrpSpPr/>
          <p:nvPr/>
        </p:nvGrpSpPr>
        <p:grpSpPr>
          <a:xfrm>
            <a:off x="2105625" y="5213465"/>
            <a:ext cx="5008569" cy="402557"/>
            <a:chOff x="1519063" y="3382942"/>
            <a:chExt cx="3699724" cy="297360"/>
          </a:xfrm>
        </p:grpSpPr>
        <p:sp>
          <p:nvSpPr>
            <p:cNvPr id="102" name="Oval 101"/>
            <p:cNvSpPr/>
            <p:nvPr/>
          </p:nvSpPr>
          <p:spPr bwMode="auto">
            <a:xfrm>
              <a:off x="4928866" y="3382942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3792265" y="3390381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2655664" y="3382942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1519063" y="3390381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grpSp>
        <p:nvGrpSpPr>
          <p:cNvPr id="106" name="Group 17"/>
          <p:cNvGrpSpPr/>
          <p:nvPr/>
        </p:nvGrpSpPr>
        <p:grpSpPr>
          <a:xfrm>
            <a:off x="2105625" y="2418619"/>
            <a:ext cx="5008569" cy="402557"/>
            <a:chOff x="1526502" y="1318448"/>
            <a:chExt cx="3699724" cy="297360"/>
          </a:xfrm>
        </p:grpSpPr>
        <p:sp>
          <p:nvSpPr>
            <p:cNvPr id="107" name="Oval 106"/>
            <p:cNvSpPr/>
            <p:nvPr/>
          </p:nvSpPr>
          <p:spPr bwMode="auto">
            <a:xfrm>
              <a:off x="4936305" y="1318448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3799704" y="1325887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9" name="Oval 108"/>
            <p:cNvSpPr/>
            <p:nvPr/>
          </p:nvSpPr>
          <p:spPr bwMode="auto">
            <a:xfrm>
              <a:off x="2663103" y="1318448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10" name="Oval 109"/>
            <p:cNvSpPr/>
            <p:nvPr/>
          </p:nvSpPr>
          <p:spPr bwMode="auto">
            <a:xfrm>
              <a:off x="1526502" y="1325887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cxnSp>
        <p:nvCxnSpPr>
          <p:cNvPr id="111" name="Straight Arrow Connector 110"/>
          <p:cNvCxnSpPr/>
          <p:nvPr/>
        </p:nvCxnSpPr>
        <p:spPr bwMode="auto">
          <a:xfrm flipV="1">
            <a:off x="2498111" y="262493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 bwMode="auto">
          <a:xfrm>
            <a:off x="4036805" y="261486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 bwMode="auto">
          <a:xfrm flipV="1">
            <a:off x="5575500" y="261486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 bwMode="auto">
          <a:xfrm rot="5400000" flipH="1" flipV="1">
            <a:off x="2919722" y="3096481"/>
            <a:ext cx="1124929" cy="4392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00" idx="1"/>
          </p:cNvCxnSpPr>
          <p:nvPr/>
        </p:nvCxnSpPr>
        <p:spPr bwMode="auto">
          <a:xfrm rot="16200000" flipV="1">
            <a:off x="5180205" y="3101514"/>
            <a:ext cx="1114858" cy="43922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99" idx="7"/>
          </p:cNvCxnSpPr>
          <p:nvPr/>
        </p:nvCxnSpPr>
        <p:spPr bwMode="auto">
          <a:xfrm rot="5400000" flipH="1" flipV="1">
            <a:off x="4437154" y="3075218"/>
            <a:ext cx="1114858" cy="49181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9" idx="1"/>
          </p:cNvCxnSpPr>
          <p:nvPr/>
        </p:nvCxnSpPr>
        <p:spPr bwMode="auto">
          <a:xfrm rot="16200000" flipV="1">
            <a:off x="3662773" y="3070182"/>
            <a:ext cx="1124929" cy="49181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 bwMode="auto">
          <a:xfrm flipV="1">
            <a:off x="2498111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 bwMode="auto">
          <a:xfrm>
            <a:off x="4036805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 bwMode="auto">
          <a:xfrm flipV="1">
            <a:off x="5575500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 bwMode="auto">
          <a:xfrm rot="16200000" flipV="1">
            <a:off x="2924758" y="4493902"/>
            <a:ext cx="1114859" cy="4392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endCxn id="100" idx="3"/>
          </p:cNvCxnSpPr>
          <p:nvPr/>
        </p:nvCxnSpPr>
        <p:spPr bwMode="auto">
          <a:xfrm rot="5400000" flipH="1" flipV="1">
            <a:off x="5175169" y="4498937"/>
            <a:ext cx="1124930" cy="43922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endCxn id="99" idx="5"/>
          </p:cNvCxnSpPr>
          <p:nvPr/>
        </p:nvCxnSpPr>
        <p:spPr bwMode="auto">
          <a:xfrm rot="16200000" flipV="1">
            <a:off x="4432119" y="4472640"/>
            <a:ext cx="1124930" cy="49181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endCxn id="99" idx="3"/>
          </p:cNvCxnSpPr>
          <p:nvPr/>
        </p:nvCxnSpPr>
        <p:spPr bwMode="auto">
          <a:xfrm rot="5400000" flipH="1" flipV="1">
            <a:off x="3667807" y="4467605"/>
            <a:ext cx="1114859" cy="49181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48" name="Group 147"/>
          <p:cNvGrpSpPr/>
          <p:nvPr/>
        </p:nvGrpSpPr>
        <p:grpSpPr>
          <a:xfrm>
            <a:off x="2105625" y="2092906"/>
            <a:ext cx="5287485" cy="3432535"/>
            <a:chOff x="2105625" y="2092906"/>
            <a:chExt cx="5287485" cy="3432535"/>
          </a:xfrm>
        </p:grpSpPr>
        <p:pic>
          <p:nvPicPr>
            <p:cNvPr id="135" name="Picture 13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00410" y="2092906"/>
              <a:ext cx="557833" cy="586164"/>
            </a:xfrm>
            <a:prstGeom prst="rect">
              <a:avLst/>
            </a:prstGeom>
          </p:spPr>
        </p:pic>
        <p:pic>
          <p:nvPicPr>
            <p:cNvPr id="136" name="Picture 13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96583" y="2092906"/>
              <a:ext cx="557833" cy="586164"/>
            </a:xfrm>
            <a:prstGeom prst="rect">
              <a:avLst/>
            </a:prstGeom>
          </p:spPr>
        </p:pic>
        <p:pic>
          <p:nvPicPr>
            <p:cNvPr id="137" name="Picture 13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71147" y="3562271"/>
              <a:ext cx="557833" cy="586164"/>
            </a:xfrm>
            <a:prstGeom prst="rect">
              <a:avLst/>
            </a:prstGeom>
          </p:spPr>
        </p:pic>
        <p:pic>
          <p:nvPicPr>
            <p:cNvPr id="138" name="Picture 13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57888" y="4939277"/>
              <a:ext cx="557833" cy="586164"/>
            </a:xfrm>
            <a:prstGeom prst="rect">
              <a:avLst/>
            </a:prstGeom>
          </p:spPr>
        </p:pic>
        <p:pic>
          <p:nvPicPr>
            <p:cNvPr id="139" name="Picture 138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70386" y="4939277"/>
              <a:ext cx="557833" cy="586164"/>
            </a:xfrm>
            <a:prstGeom prst="rect">
              <a:avLst/>
            </a:prstGeom>
          </p:spPr>
        </p:pic>
        <p:pic>
          <p:nvPicPr>
            <p:cNvPr id="142" name="Picture 14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05625" y="2177533"/>
              <a:ext cx="557833" cy="586164"/>
            </a:xfrm>
            <a:prstGeom prst="rect">
              <a:avLst/>
            </a:prstGeom>
          </p:spPr>
        </p:pic>
        <p:pic>
          <p:nvPicPr>
            <p:cNvPr id="143" name="Picture 142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83659" y="3527995"/>
              <a:ext cx="557833" cy="586164"/>
            </a:xfrm>
            <a:prstGeom prst="rect">
              <a:avLst/>
            </a:prstGeom>
          </p:spPr>
        </p:pic>
        <p:pic>
          <p:nvPicPr>
            <p:cNvPr id="144" name="Picture 143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19194" y="4939277"/>
              <a:ext cx="557833" cy="586164"/>
            </a:xfrm>
            <a:prstGeom prst="rect">
              <a:avLst/>
            </a:prstGeom>
          </p:spPr>
        </p:pic>
        <p:pic>
          <p:nvPicPr>
            <p:cNvPr id="145" name="Picture 144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5277" y="4877472"/>
              <a:ext cx="557833" cy="586164"/>
            </a:xfrm>
            <a:prstGeom prst="rect">
              <a:avLst/>
            </a:prstGeom>
          </p:spPr>
        </p:pic>
        <p:pic>
          <p:nvPicPr>
            <p:cNvPr id="146" name="Picture 14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99768" y="3550503"/>
              <a:ext cx="557833" cy="586164"/>
            </a:xfrm>
            <a:prstGeom prst="rect">
              <a:avLst/>
            </a:prstGeom>
          </p:spPr>
        </p:pic>
        <p:pic>
          <p:nvPicPr>
            <p:cNvPr id="147" name="Picture 14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835277" y="2190483"/>
              <a:ext cx="557833" cy="586164"/>
            </a:xfrm>
            <a:prstGeom prst="rect">
              <a:avLst/>
            </a:prstGeom>
          </p:spPr>
        </p:pic>
      </p:grpSp>
      <p:grpSp>
        <p:nvGrpSpPr>
          <p:cNvPr id="4" name="Group 3"/>
          <p:cNvGrpSpPr/>
          <p:nvPr/>
        </p:nvGrpSpPr>
        <p:grpSpPr>
          <a:xfrm>
            <a:off x="7393110" y="3583320"/>
            <a:ext cx="1654459" cy="586164"/>
            <a:chOff x="581616" y="1506742"/>
            <a:chExt cx="1654459" cy="586164"/>
          </a:xfrm>
        </p:grpSpPr>
        <p:sp>
          <p:nvSpPr>
            <p:cNvPr id="3" name="TextBox 2"/>
            <p:cNvSpPr txBox="1"/>
            <p:nvPr/>
          </p:nvSpPr>
          <p:spPr>
            <a:xfrm>
              <a:off x="1115118" y="1612904"/>
              <a:ext cx="1120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: RW Lock</a:t>
              </a:r>
              <a:endParaRPr lang="en-US" b="1" dirty="0"/>
            </a:p>
          </p:txBody>
        </p:sp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81616" y="1506742"/>
              <a:ext cx="557833" cy="586164"/>
            </a:xfrm>
            <a:prstGeom prst="rect">
              <a:avLst/>
            </a:prstGeom>
          </p:spPr>
        </p:pic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985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/>
          <p:cNvSpPr/>
          <p:nvPr/>
        </p:nvSpPr>
        <p:spPr bwMode="auto">
          <a:xfrm>
            <a:off x="3551483" y="2141011"/>
            <a:ext cx="3967783" cy="2282939"/>
          </a:xfrm>
          <a:custGeom>
            <a:avLst/>
            <a:gdLst>
              <a:gd name="connsiteX0" fmla="*/ 1629833 w 3409950"/>
              <a:gd name="connsiteY0" fmla="*/ 55033 h 1811866"/>
              <a:gd name="connsiteX1" fmla="*/ 3026833 w 3409950"/>
              <a:gd name="connsiteY1" fmla="*/ 105833 h 1811866"/>
              <a:gd name="connsiteX2" fmla="*/ 3230033 w 3409950"/>
              <a:gd name="connsiteY2" fmla="*/ 690033 h 1811866"/>
              <a:gd name="connsiteX3" fmla="*/ 1947333 w 3409950"/>
              <a:gd name="connsiteY3" fmla="*/ 664633 h 1811866"/>
              <a:gd name="connsiteX4" fmla="*/ 2493433 w 3409950"/>
              <a:gd name="connsiteY4" fmla="*/ 1413933 h 1811866"/>
              <a:gd name="connsiteX5" fmla="*/ 2290233 w 3409950"/>
              <a:gd name="connsiteY5" fmla="*/ 1769533 h 1811866"/>
              <a:gd name="connsiteX6" fmla="*/ 1833033 w 3409950"/>
              <a:gd name="connsiteY6" fmla="*/ 1642533 h 1811866"/>
              <a:gd name="connsiteX7" fmla="*/ 1540933 w 3409950"/>
              <a:gd name="connsiteY7" fmla="*/ 753533 h 1811866"/>
              <a:gd name="connsiteX8" fmla="*/ 1274233 w 3409950"/>
              <a:gd name="connsiteY8" fmla="*/ 1591733 h 1811866"/>
              <a:gd name="connsiteX9" fmla="*/ 867833 w 3409950"/>
              <a:gd name="connsiteY9" fmla="*/ 1756833 h 1811866"/>
              <a:gd name="connsiteX10" fmla="*/ 740833 w 3409950"/>
              <a:gd name="connsiteY10" fmla="*/ 1325033 h 1811866"/>
              <a:gd name="connsiteX11" fmla="*/ 1198033 w 3409950"/>
              <a:gd name="connsiteY11" fmla="*/ 677333 h 1811866"/>
              <a:gd name="connsiteX12" fmla="*/ 194733 w 3409950"/>
              <a:gd name="connsiteY12" fmla="*/ 690033 h 1811866"/>
              <a:gd name="connsiteX13" fmla="*/ 29633 w 3409950"/>
              <a:gd name="connsiteY13" fmla="*/ 283633 h 1811866"/>
              <a:gd name="connsiteX14" fmla="*/ 372533 w 3409950"/>
              <a:gd name="connsiteY14" fmla="*/ 93133 h 1811866"/>
              <a:gd name="connsiteX15" fmla="*/ 1629833 w 3409950"/>
              <a:gd name="connsiteY15" fmla="*/ 55033 h 181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09950" h="1811866">
                <a:moveTo>
                  <a:pt x="1629833" y="55033"/>
                </a:moveTo>
                <a:cubicBezTo>
                  <a:pt x="2072216" y="57150"/>
                  <a:pt x="2760133" y="0"/>
                  <a:pt x="3026833" y="105833"/>
                </a:cubicBezTo>
                <a:cubicBezTo>
                  <a:pt x="3293533" y="211666"/>
                  <a:pt x="3409950" y="596900"/>
                  <a:pt x="3230033" y="690033"/>
                </a:cubicBezTo>
                <a:cubicBezTo>
                  <a:pt x="3050116" y="783166"/>
                  <a:pt x="2070100" y="543983"/>
                  <a:pt x="1947333" y="664633"/>
                </a:cubicBezTo>
                <a:cubicBezTo>
                  <a:pt x="1824566" y="785283"/>
                  <a:pt x="2436283" y="1229783"/>
                  <a:pt x="2493433" y="1413933"/>
                </a:cubicBezTo>
                <a:cubicBezTo>
                  <a:pt x="2550583" y="1598083"/>
                  <a:pt x="2400300" y="1731433"/>
                  <a:pt x="2290233" y="1769533"/>
                </a:cubicBezTo>
                <a:cubicBezTo>
                  <a:pt x="2180166" y="1807633"/>
                  <a:pt x="1957916" y="1811866"/>
                  <a:pt x="1833033" y="1642533"/>
                </a:cubicBezTo>
                <a:cubicBezTo>
                  <a:pt x="1708150" y="1473200"/>
                  <a:pt x="1634066" y="762000"/>
                  <a:pt x="1540933" y="753533"/>
                </a:cubicBezTo>
                <a:cubicBezTo>
                  <a:pt x="1447800" y="745066"/>
                  <a:pt x="1386416" y="1424516"/>
                  <a:pt x="1274233" y="1591733"/>
                </a:cubicBezTo>
                <a:cubicBezTo>
                  <a:pt x="1162050" y="1758950"/>
                  <a:pt x="956733" y="1801283"/>
                  <a:pt x="867833" y="1756833"/>
                </a:cubicBezTo>
                <a:cubicBezTo>
                  <a:pt x="778933" y="1712383"/>
                  <a:pt x="685800" y="1504950"/>
                  <a:pt x="740833" y="1325033"/>
                </a:cubicBezTo>
                <a:cubicBezTo>
                  <a:pt x="795866" y="1145116"/>
                  <a:pt x="1289050" y="783166"/>
                  <a:pt x="1198033" y="677333"/>
                </a:cubicBezTo>
                <a:cubicBezTo>
                  <a:pt x="1107016" y="571500"/>
                  <a:pt x="389466" y="755650"/>
                  <a:pt x="194733" y="690033"/>
                </a:cubicBezTo>
                <a:cubicBezTo>
                  <a:pt x="0" y="624416"/>
                  <a:pt x="0" y="383116"/>
                  <a:pt x="29633" y="283633"/>
                </a:cubicBezTo>
                <a:cubicBezTo>
                  <a:pt x="59266" y="184150"/>
                  <a:pt x="105833" y="131233"/>
                  <a:pt x="372533" y="93133"/>
                </a:cubicBezTo>
                <a:cubicBezTo>
                  <a:pt x="639233" y="55033"/>
                  <a:pt x="1187450" y="52916"/>
                  <a:pt x="1629833" y="55033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1" name="Freeform 40"/>
          <p:cNvSpPr/>
          <p:nvPr/>
        </p:nvSpPr>
        <p:spPr bwMode="auto">
          <a:xfrm rot="10800000">
            <a:off x="1829459" y="3562271"/>
            <a:ext cx="3967783" cy="2282939"/>
          </a:xfrm>
          <a:custGeom>
            <a:avLst/>
            <a:gdLst>
              <a:gd name="connsiteX0" fmla="*/ 1629833 w 3409950"/>
              <a:gd name="connsiteY0" fmla="*/ 55033 h 1811866"/>
              <a:gd name="connsiteX1" fmla="*/ 3026833 w 3409950"/>
              <a:gd name="connsiteY1" fmla="*/ 105833 h 1811866"/>
              <a:gd name="connsiteX2" fmla="*/ 3230033 w 3409950"/>
              <a:gd name="connsiteY2" fmla="*/ 690033 h 1811866"/>
              <a:gd name="connsiteX3" fmla="*/ 1947333 w 3409950"/>
              <a:gd name="connsiteY3" fmla="*/ 664633 h 1811866"/>
              <a:gd name="connsiteX4" fmla="*/ 2493433 w 3409950"/>
              <a:gd name="connsiteY4" fmla="*/ 1413933 h 1811866"/>
              <a:gd name="connsiteX5" fmla="*/ 2290233 w 3409950"/>
              <a:gd name="connsiteY5" fmla="*/ 1769533 h 1811866"/>
              <a:gd name="connsiteX6" fmla="*/ 1833033 w 3409950"/>
              <a:gd name="connsiteY6" fmla="*/ 1642533 h 1811866"/>
              <a:gd name="connsiteX7" fmla="*/ 1540933 w 3409950"/>
              <a:gd name="connsiteY7" fmla="*/ 753533 h 1811866"/>
              <a:gd name="connsiteX8" fmla="*/ 1274233 w 3409950"/>
              <a:gd name="connsiteY8" fmla="*/ 1591733 h 1811866"/>
              <a:gd name="connsiteX9" fmla="*/ 867833 w 3409950"/>
              <a:gd name="connsiteY9" fmla="*/ 1756833 h 1811866"/>
              <a:gd name="connsiteX10" fmla="*/ 740833 w 3409950"/>
              <a:gd name="connsiteY10" fmla="*/ 1325033 h 1811866"/>
              <a:gd name="connsiteX11" fmla="*/ 1198033 w 3409950"/>
              <a:gd name="connsiteY11" fmla="*/ 677333 h 1811866"/>
              <a:gd name="connsiteX12" fmla="*/ 194733 w 3409950"/>
              <a:gd name="connsiteY12" fmla="*/ 690033 h 1811866"/>
              <a:gd name="connsiteX13" fmla="*/ 29633 w 3409950"/>
              <a:gd name="connsiteY13" fmla="*/ 283633 h 1811866"/>
              <a:gd name="connsiteX14" fmla="*/ 372533 w 3409950"/>
              <a:gd name="connsiteY14" fmla="*/ 93133 h 1811866"/>
              <a:gd name="connsiteX15" fmla="*/ 1629833 w 3409950"/>
              <a:gd name="connsiteY15" fmla="*/ 55033 h 181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409950" h="1811866">
                <a:moveTo>
                  <a:pt x="1629833" y="55033"/>
                </a:moveTo>
                <a:cubicBezTo>
                  <a:pt x="2072216" y="57150"/>
                  <a:pt x="2760133" y="0"/>
                  <a:pt x="3026833" y="105833"/>
                </a:cubicBezTo>
                <a:cubicBezTo>
                  <a:pt x="3293533" y="211666"/>
                  <a:pt x="3409950" y="596900"/>
                  <a:pt x="3230033" y="690033"/>
                </a:cubicBezTo>
                <a:cubicBezTo>
                  <a:pt x="3050116" y="783166"/>
                  <a:pt x="2070100" y="543983"/>
                  <a:pt x="1947333" y="664633"/>
                </a:cubicBezTo>
                <a:cubicBezTo>
                  <a:pt x="1824566" y="785283"/>
                  <a:pt x="2436283" y="1229783"/>
                  <a:pt x="2493433" y="1413933"/>
                </a:cubicBezTo>
                <a:cubicBezTo>
                  <a:pt x="2550583" y="1598083"/>
                  <a:pt x="2400300" y="1731433"/>
                  <a:pt x="2290233" y="1769533"/>
                </a:cubicBezTo>
                <a:cubicBezTo>
                  <a:pt x="2180166" y="1807633"/>
                  <a:pt x="1957916" y="1811866"/>
                  <a:pt x="1833033" y="1642533"/>
                </a:cubicBezTo>
                <a:cubicBezTo>
                  <a:pt x="1708150" y="1473200"/>
                  <a:pt x="1634066" y="762000"/>
                  <a:pt x="1540933" y="753533"/>
                </a:cubicBezTo>
                <a:cubicBezTo>
                  <a:pt x="1447800" y="745066"/>
                  <a:pt x="1386416" y="1424516"/>
                  <a:pt x="1274233" y="1591733"/>
                </a:cubicBezTo>
                <a:cubicBezTo>
                  <a:pt x="1162050" y="1758950"/>
                  <a:pt x="956733" y="1801283"/>
                  <a:pt x="867833" y="1756833"/>
                </a:cubicBezTo>
                <a:cubicBezTo>
                  <a:pt x="778933" y="1712383"/>
                  <a:pt x="685800" y="1504950"/>
                  <a:pt x="740833" y="1325033"/>
                </a:cubicBezTo>
                <a:cubicBezTo>
                  <a:pt x="795866" y="1145116"/>
                  <a:pt x="1289050" y="783166"/>
                  <a:pt x="1198033" y="677333"/>
                </a:cubicBezTo>
                <a:cubicBezTo>
                  <a:pt x="1107016" y="571500"/>
                  <a:pt x="389466" y="755650"/>
                  <a:pt x="194733" y="690033"/>
                </a:cubicBezTo>
                <a:cubicBezTo>
                  <a:pt x="0" y="624416"/>
                  <a:pt x="0" y="383116"/>
                  <a:pt x="29633" y="283633"/>
                </a:cubicBezTo>
                <a:cubicBezTo>
                  <a:pt x="59266" y="184150"/>
                  <a:pt x="105833" y="131233"/>
                  <a:pt x="372533" y="93133"/>
                </a:cubicBezTo>
                <a:cubicBezTo>
                  <a:pt x="639233" y="55033"/>
                  <a:pt x="1187450" y="52916"/>
                  <a:pt x="1629833" y="55033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/>
              </a:rPr>
              <a:t>Consistency Through Locking</a:t>
            </a:r>
            <a:endParaRPr lang="en-US" dirty="0"/>
          </a:p>
        </p:txBody>
      </p:sp>
      <p:sp>
        <p:nvSpPr>
          <p:cNvPr id="98" name="Oval 4"/>
          <p:cNvSpPr/>
          <p:nvPr/>
        </p:nvSpPr>
        <p:spPr bwMode="auto">
          <a:xfrm>
            <a:off x="2927567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99" name="Oval 98"/>
          <p:cNvSpPr/>
          <p:nvPr/>
        </p:nvSpPr>
        <p:spPr bwMode="auto">
          <a:xfrm>
            <a:off x="4413668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00" name="Oval 99"/>
          <p:cNvSpPr/>
          <p:nvPr/>
        </p:nvSpPr>
        <p:spPr bwMode="auto">
          <a:xfrm>
            <a:off x="5899768" y="3821077"/>
            <a:ext cx="392486" cy="392486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grpSp>
        <p:nvGrpSpPr>
          <p:cNvPr id="101" name="Group 15"/>
          <p:cNvGrpSpPr/>
          <p:nvPr/>
        </p:nvGrpSpPr>
        <p:grpSpPr>
          <a:xfrm>
            <a:off x="2105625" y="5213465"/>
            <a:ext cx="5008569" cy="402557"/>
            <a:chOff x="1519063" y="3382942"/>
            <a:chExt cx="3699724" cy="297360"/>
          </a:xfrm>
        </p:grpSpPr>
        <p:sp>
          <p:nvSpPr>
            <p:cNvPr id="102" name="Oval 101"/>
            <p:cNvSpPr/>
            <p:nvPr/>
          </p:nvSpPr>
          <p:spPr bwMode="auto">
            <a:xfrm>
              <a:off x="4928866" y="3382942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3" name="Oval 102"/>
            <p:cNvSpPr/>
            <p:nvPr/>
          </p:nvSpPr>
          <p:spPr bwMode="auto">
            <a:xfrm>
              <a:off x="3792265" y="3390381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4" name="Oval 103"/>
            <p:cNvSpPr/>
            <p:nvPr/>
          </p:nvSpPr>
          <p:spPr bwMode="auto">
            <a:xfrm>
              <a:off x="2655664" y="3382942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5" name="Oval 104"/>
            <p:cNvSpPr/>
            <p:nvPr/>
          </p:nvSpPr>
          <p:spPr bwMode="auto">
            <a:xfrm>
              <a:off x="1519063" y="3390381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grpSp>
        <p:nvGrpSpPr>
          <p:cNvPr id="106" name="Group 17"/>
          <p:cNvGrpSpPr/>
          <p:nvPr/>
        </p:nvGrpSpPr>
        <p:grpSpPr>
          <a:xfrm>
            <a:off x="2105625" y="2418619"/>
            <a:ext cx="5008569" cy="402557"/>
            <a:chOff x="1526502" y="1318448"/>
            <a:chExt cx="3699724" cy="297360"/>
          </a:xfrm>
        </p:grpSpPr>
        <p:sp>
          <p:nvSpPr>
            <p:cNvPr id="107" name="Oval 106"/>
            <p:cNvSpPr/>
            <p:nvPr/>
          </p:nvSpPr>
          <p:spPr bwMode="auto">
            <a:xfrm>
              <a:off x="4936305" y="1318448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8" name="Oval 107"/>
            <p:cNvSpPr/>
            <p:nvPr/>
          </p:nvSpPr>
          <p:spPr bwMode="auto">
            <a:xfrm>
              <a:off x="3799704" y="1325887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09" name="Oval 108"/>
            <p:cNvSpPr/>
            <p:nvPr/>
          </p:nvSpPr>
          <p:spPr bwMode="auto">
            <a:xfrm>
              <a:off x="2663103" y="1318448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10" name="Oval 109"/>
            <p:cNvSpPr/>
            <p:nvPr/>
          </p:nvSpPr>
          <p:spPr bwMode="auto">
            <a:xfrm>
              <a:off x="1526502" y="1325887"/>
              <a:ext cx="289921" cy="289921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endParaRPr>
            </a:p>
          </p:txBody>
        </p:sp>
      </p:grpSp>
      <p:cxnSp>
        <p:nvCxnSpPr>
          <p:cNvPr id="111" name="Straight Arrow Connector 110"/>
          <p:cNvCxnSpPr/>
          <p:nvPr/>
        </p:nvCxnSpPr>
        <p:spPr bwMode="auto">
          <a:xfrm flipV="1">
            <a:off x="2498111" y="262493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 bwMode="auto">
          <a:xfrm>
            <a:off x="4036805" y="261486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 bwMode="auto">
          <a:xfrm flipV="1">
            <a:off x="5575500" y="2614863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 bwMode="auto">
          <a:xfrm rot="5400000" flipH="1" flipV="1">
            <a:off x="2919722" y="3096481"/>
            <a:ext cx="1124929" cy="4392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100" idx="1"/>
          </p:cNvCxnSpPr>
          <p:nvPr/>
        </p:nvCxnSpPr>
        <p:spPr bwMode="auto">
          <a:xfrm rot="16200000" flipV="1">
            <a:off x="5180205" y="3101514"/>
            <a:ext cx="1114858" cy="43922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99" idx="7"/>
          </p:cNvCxnSpPr>
          <p:nvPr/>
        </p:nvCxnSpPr>
        <p:spPr bwMode="auto">
          <a:xfrm rot="5400000" flipH="1" flipV="1">
            <a:off x="4437154" y="3075218"/>
            <a:ext cx="1114858" cy="49181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99" idx="1"/>
          </p:cNvCxnSpPr>
          <p:nvPr/>
        </p:nvCxnSpPr>
        <p:spPr bwMode="auto">
          <a:xfrm rot="16200000" flipV="1">
            <a:off x="3662773" y="3070182"/>
            <a:ext cx="1124929" cy="49181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 bwMode="auto">
          <a:xfrm flipV="1">
            <a:off x="2498111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 bwMode="auto">
          <a:xfrm>
            <a:off x="4036805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 bwMode="auto">
          <a:xfrm flipV="1">
            <a:off x="5575500" y="5409709"/>
            <a:ext cx="1146209" cy="1007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 bwMode="auto">
          <a:xfrm rot="16200000" flipV="1">
            <a:off x="2924758" y="4493902"/>
            <a:ext cx="1114859" cy="4392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endCxn id="100" idx="3"/>
          </p:cNvCxnSpPr>
          <p:nvPr/>
        </p:nvCxnSpPr>
        <p:spPr bwMode="auto">
          <a:xfrm rot="5400000" flipH="1" flipV="1">
            <a:off x="5175169" y="4498937"/>
            <a:ext cx="1124930" cy="439225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endCxn id="99" idx="5"/>
          </p:cNvCxnSpPr>
          <p:nvPr/>
        </p:nvCxnSpPr>
        <p:spPr bwMode="auto">
          <a:xfrm rot="16200000" flipV="1">
            <a:off x="4432119" y="4472640"/>
            <a:ext cx="1124930" cy="491817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endCxn id="99" idx="3"/>
          </p:cNvCxnSpPr>
          <p:nvPr/>
        </p:nvCxnSpPr>
        <p:spPr bwMode="auto">
          <a:xfrm rot="5400000" flipH="1" flipV="1">
            <a:off x="3667807" y="4467605"/>
            <a:ext cx="1114859" cy="491819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35" name="Picture 134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7567" y="3527995"/>
            <a:ext cx="557833" cy="586164"/>
          </a:xfrm>
          <a:prstGeom prst="rect">
            <a:avLst/>
          </a:prstGeom>
        </p:spPr>
      </p:pic>
      <p:pic>
        <p:nvPicPr>
          <p:cNvPr id="136" name="Picture 135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9194" y="4939277"/>
            <a:ext cx="557833" cy="586164"/>
          </a:xfrm>
          <a:prstGeom prst="rect">
            <a:avLst/>
          </a:prstGeom>
        </p:spPr>
      </p:pic>
      <p:pic>
        <p:nvPicPr>
          <p:cNvPr id="137" name="Picture 136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1147" y="3562271"/>
            <a:ext cx="557833" cy="586164"/>
          </a:xfrm>
          <a:prstGeom prst="rect">
            <a:avLst/>
          </a:prstGeom>
        </p:spPr>
      </p:pic>
      <p:pic>
        <p:nvPicPr>
          <p:cNvPr id="138" name="Picture 13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7888" y="4939277"/>
            <a:ext cx="557833" cy="586164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0386" y="4939277"/>
            <a:ext cx="557833" cy="58616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70386" y="2135561"/>
            <a:ext cx="557833" cy="586164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7888" y="2100711"/>
            <a:ext cx="557833" cy="586164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7247" y="3527995"/>
            <a:ext cx="557833" cy="586164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277" y="2135561"/>
            <a:ext cx="557833" cy="586164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6761" y="3569921"/>
            <a:ext cx="557833" cy="58616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1190" y="1012503"/>
            <a:ext cx="82406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Acquire write-lock on center vertex, read-lock on adjacent.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58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80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ontent Placeholder 5"/>
          <p:cNvSpPr txBox="1">
            <a:spLocks/>
          </p:cNvSpPr>
          <p:nvPr/>
        </p:nvSpPr>
        <p:spPr bwMode="auto">
          <a:xfrm>
            <a:off x="581424" y="4440180"/>
            <a:ext cx="3307281" cy="1104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Blip>
                <a:blip r:embed="rId5"/>
              </a:buBlip>
              <a:defRPr sz="18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Blip>
                <a:blip r:embed="rId6"/>
              </a:buBlip>
              <a:defRPr sz="1600"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5pPr>
            <a:lvl6pPr marL="24526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6pPr>
            <a:lvl7pPr marL="29098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7pPr>
            <a:lvl8pPr marL="33670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8pPr>
            <a:lvl9pPr marL="38242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sz="2800" dirty="0" smtClean="0">
                <a:solidFill>
                  <a:srgbClr val="000000"/>
                </a:solidFill>
                <a:latin typeface="Tahoma"/>
              </a:rPr>
              <a:t>Solution</a:t>
            </a:r>
          </a:p>
          <a:p>
            <a:pPr lvl="1">
              <a:buClr>
                <a:srgbClr val="FF0000"/>
              </a:buClr>
            </a:pPr>
            <a:r>
              <a:rPr lang="en-US" sz="2400" dirty="0" smtClean="0">
                <a:solidFill>
                  <a:srgbClr val="000000"/>
                </a:solidFill>
                <a:latin typeface="Tahoma"/>
              </a:rPr>
              <a:t>Pipelining</a:t>
            </a:r>
            <a:endParaRPr lang="en-US" sz="280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4" name="Rounded Rectangle 63"/>
          <p:cNvSpPr/>
          <p:nvPr/>
        </p:nvSpPr>
        <p:spPr bwMode="auto">
          <a:xfrm>
            <a:off x="5321594" y="3055385"/>
            <a:ext cx="931497" cy="731704"/>
          </a:xfrm>
          <a:prstGeom prst="roundRect">
            <a:avLst/>
          </a:prstGeom>
          <a:gradFill>
            <a:gsLst>
              <a:gs pos="0">
                <a:srgbClr val="02CA00"/>
              </a:gs>
              <a:gs pos="80000">
                <a:srgbClr val="00FF00"/>
              </a:gs>
              <a:gs pos="100000">
                <a:srgbClr val="00FF00"/>
              </a:gs>
            </a:gsLst>
          </a:gra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rPr>
              <a:t>CPU</a:t>
            </a:r>
          </a:p>
        </p:txBody>
      </p:sp>
      <p:sp>
        <p:nvSpPr>
          <p:cNvPr id="14" name="Rounded Rectangle 13"/>
          <p:cNvSpPr/>
          <p:nvPr/>
        </p:nvSpPr>
        <p:spPr bwMode="auto">
          <a:xfrm>
            <a:off x="6294754" y="3031949"/>
            <a:ext cx="1801919" cy="1752600"/>
          </a:xfrm>
          <a:prstGeom prst="roundRect">
            <a:avLst>
              <a:gd name="adj" fmla="val 11232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000000"/>
                </a:solidFill>
                <a:latin typeface="Tahoma" pitchFamily="-64" charset="0"/>
              </a:rPr>
              <a:t>Machine 1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294754" y="4935034"/>
            <a:ext cx="1820545" cy="1752600"/>
            <a:chOff x="7098415" y="3048230"/>
            <a:chExt cx="1740784" cy="1752600"/>
          </a:xfrm>
        </p:grpSpPr>
        <p:sp>
          <p:nvSpPr>
            <p:cNvPr id="15" name="Rounded Rectangle 14"/>
            <p:cNvSpPr/>
            <p:nvPr/>
          </p:nvSpPr>
          <p:spPr bwMode="auto">
            <a:xfrm>
              <a:off x="7098415" y="3048230"/>
              <a:ext cx="1740784" cy="1752600"/>
            </a:xfrm>
            <a:prstGeom prst="roundRect">
              <a:avLst>
                <a:gd name="adj" fmla="val 11232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solidFill>
                    <a:srgbClr val="000000"/>
                  </a:solidFill>
                  <a:latin typeface="Tahoma" pitchFamily="-64" charset="0"/>
                </a:rPr>
                <a:t>Machine 2</a:t>
              </a:r>
            </a:p>
          </p:txBody>
        </p:sp>
        <p:sp>
          <p:nvSpPr>
            <p:cNvPr id="16" name="Oval 15"/>
            <p:cNvSpPr/>
            <p:nvPr/>
          </p:nvSpPr>
          <p:spPr bwMode="auto">
            <a:xfrm>
              <a:off x="7559040" y="3657830"/>
              <a:ext cx="365760" cy="3657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FFFFFF">
                      <a:lumMod val="50000"/>
                    </a:srgbClr>
                  </a:solidFill>
                  <a:latin typeface="Tahoma" pitchFamily="-64" charset="0"/>
                </a:rPr>
                <a:t>A</a:t>
              </a:r>
              <a:endParaRPr lang="en-US" sz="2400" baseline="-25000" dirty="0" smtClean="0">
                <a:solidFill>
                  <a:srgbClr val="FFFFFF">
                    <a:lumMod val="50000"/>
                  </a:srgbClr>
                </a:solidFill>
                <a:latin typeface="Tahoma" pitchFamily="-64" charset="0"/>
              </a:endParaRPr>
            </a:p>
          </p:txBody>
        </p:sp>
        <p:sp>
          <p:nvSpPr>
            <p:cNvPr id="17" name="Oval 16"/>
            <p:cNvSpPr/>
            <p:nvPr/>
          </p:nvSpPr>
          <p:spPr bwMode="auto">
            <a:xfrm>
              <a:off x="8321040" y="3657830"/>
              <a:ext cx="365760" cy="3657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000000"/>
                  </a:solidFill>
                  <a:latin typeface="Tahoma" pitchFamily="-64" charset="0"/>
                </a:rPr>
                <a:t>C</a:t>
              </a:r>
              <a:endParaRPr lang="en-US" sz="2400" baseline="-25000" dirty="0" smtClean="0">
                <a:solidFill>
                  <a:srgbClr val="000000"/>
                </a:solidFill>
                <a:latin typeface="Tahoma" pitchFamily="-64" charset="0"/>
              </a:endParaRPr>
            </a:p>
          </p:txBody>
        </p:sp>
        <p:cxnSp>
          <p:nvCxnSpPr>
            <p:cNvPr id="18" name="Straight Connector 17"/>
            <p:cNvCxnSpPr>
              <a:stCxn id="16" idx="6"/>
              <a:endCxn id="17" idx="2"/>
            </p:cNvCxnSpPr>
            <p:nvPr/>
          </p:nvCxnSpPr>
          <p:spPr bwMode="auto">
            <a:xfrm>
              <a:off x="7924800" y="3840710"/>
              <a:ext cx="39624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Oval 18"/>
            <p:cNvSpPr/>
            <p:nvPr/>
          </p:nvSpPr>
          <p:spPr bwMode="auto">
            <a:xfrm>
              <a:off x="7559040" y="4267430"/>
              <a:ext cx="365760" cy="3657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FFFFFF">
                      <a:lumMod val="50000"/>
                    </a:srgbClr>
                  </a:solidFill>
                  <a:latin typeface="Tahoma" pitchFamily="-64" charset="0"/>
                </a:rPr>
                <a:t>B</a:t>
              </a:r>
              <a:endParaRPr lang="en-US" sz="2400" baseline="-25000" dirty="0" smtClean="0">
                <a:solidFill>
                  <a:srgbClr val="FFFFFF">
                    <a:lumMod val="50000"/>
                  </a:srgbClr>
                </a:solidFill>
                <a:latin typeface="Tahoma" pitchFamily="-64" charset="0"/>
              </a:endParaRPr>
            </a:p>
          </p:txBody>
        </p:sp>
        <p:sp>
          <p:nvSpPr>
            <p:cNvPr id="20" name="Oval 19"/>
            <p:cNvSpPr/>
            <p:nvPr/>
          </p:nvSpPr>
          <p:spPr bwMode="auto">
            <a:xfrm>
              <a:off x="8321040" y="4267430"/>
              <a:ext cx="365760" cy="3657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000000"/>
                  </a:solidFill>
                  <a:latin typeface="Tahoma" pitchFamily="-64" charset="0"/>
                </a:rPr>
                <a:t>D</a:t>
              </a:r>
              <a:endParaRPr lang="en-US" sz="2400" baseline="-25000" dirty="0" smtClean="0">
                <a:solidFill>
                  <a:srgbClr val="000000"/>
                </a:solidFill>
                <a:latin typeface="Tahoma" pitchFamily="-64" charset="0"/>
              </a:endParaRPr>
            </a:p>
          </p:txBody>
        </p:sp>
        <p:cxnSp>
          <p:nvCxnSpPr>
            <p:cNvPr id="21" name="Straight Connector 20"/>
            <p:cNvCxnSpPr>
              <a:stCxn id="19" idx="6"/>
              <a:endCxn id="20" idx="2"/>
            </p:cNvCxnSpPr>
            <p:nvPr/>
          </p:nvCxnSpPr>
          <p:spPr bwMode="auto">
            <a:xfrm>
              <a:off x="7924800" y="4450310"/>
              <a:ext cx="39624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>
              <a:stCxn id="20" idx="0"/>
              <a:endCxn id="17" idx="4"/>
            </p:cNvCxnSpPr>
            <p:nvPr/>
          </p:nvCxnSpPr>
          <p:spPr bwMode="auto">
            <a:xfrm flipV="1">
              <a:off x="8503920" y="4023590"/>
              <a:ext cx="0" cy="243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/>
                <a:cs typeface="Calibri"/>
              </a:rPr>
              <a:t>Consistency Through Locking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10" name="Text Placeholder 3"/>
          <p:cNvSpPr txBox="1">
            <a:spLocks/>
          </p:cNvSpPr>
          <p:nvPr/>
        </p:nvSpPr>
        <p:spPr bwMode="auto">
          <a:xfrm>
            <a:off x="533400" y="950305"/>
            <a:ext cx="4040188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5pPr>
            <a:lvl6pPr marL="24526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6pPr>
            <a:lvl7pPr marL="29098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7pPr>
            <a:lvl8pPr marL="33670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8pPr>
            <a:lvl9pPr marL="38242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Tahoma"/>
              </a:rPr>
              <a:t>Multicore Setting</a:t>
            </a:r>
            <a:endParaRPr lang="en-US" b="1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sz="half" idx="4294967295"/>
          </p:nvPr>
        </p:nvSpPr>
        <p:spPr>
          <a:xfrm>
            <a:off x="533399" y="1552170"/>
            <a:ext cx="3902691" cy="685800"/>
          </a:xfrm>
          <a:prstGeom prst="rect">
            <a:avLst/>
          </a:prstGeom>
        </p:spPr>
        <p:txBody>
          <a:bodyPr/>
          <a:lstStyle/>
          <a:p>
            <a:r>
              <a:rPr lang="en-US" dirty="0" err="1" smtClean="0"/>
              <a:t>PThread</a:t>
            </a:r>
            <a:r>
              <a:rPr lang="en-US" dirty="0" smtClean="0"/>
              <a:t> RW-Locks</a:t>
            </a:r>
          </a:p>
        </p:txBody>
      </p:sp>
      <p:sp>
        <p:nvSpPr>
          <p:cNvPr id="12" name="Text Placeholder 4"/>
          <p:cNvSpPr txBox="1">
            <a:spLocks/>
          </p:cNvSpPr>
          <p:nvPr/>
        </p:nvSpPr>
        <p:spPr>
          <a:xfrm>
            <a:off x="517525" y="2331365"/>
            <a:ext cx="4041775" cy="639762"/>
          </a:xfrm>
          <a:prstGeom prst="rect">
            <a:avLst/>
          </a:prstGeom>
        </p:spPr>
        <p:txBody>
          <a:bodyPr/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Blip>
                <a:blip r:embed="rId3"/>
              </a:buBlip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Blip>
                <a:blip r:embed="rId4"/>
              </a:buBlip>
              <a:defRPr sz="24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Blip>
                <a:blip r:embed="rId5"/>
              </a:buBlip>
              <a:defRPr sz="20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Blip>
                <a:blip r:embed="rId6"/>
              </a:buBlip>
              <a:defRPr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5pPr>
            <a:lvl6pPr marL="24526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6pPr>
            <a:lvl7pPr marL="29098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7pPr>
            <a:lvl8pPr marL="33670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8pPr>
            <a:lvl9pPr marL="38242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itchFamily="2" charset="2"/>
              <a:buNone/>
            </a:pPr>
            <a:r>
              <a:rPr lang="en-US" b="1" dirty="0" smtClean="0">
                <a:solidFill>
                  <a:srgbClr val="000000"/>
                </a:solidFill>
                <a:latin typeface="Tahoma"/>
              </a:rPr>
              <a:t>Distributed Setting</a:t>
            </a:r>
            <a:endParaRPr lang="en-US" b="1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1" name="Content Placeholder 5"/>
          <p:cNvSpPr txBox="1">
            <a:spLocks/>
          </p:cNvSpPr>
          <p:nvPr/>
        </p:nvSpPr>
        <p:spPr bwMode="auto">
          <a:xfrm>
            <a:off x="474663" y="2851906"/>
            <a:ext cx="339426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Blip>
                <a:blip r:embed="rId5"/>
              </a:buBlip>
              <a:defRPr sz="18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Blip>
                <a:blip r:embed="rId6"/>
              </a:buBlip>
              <a:defRPr sz="1600"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5pPr>
            <a:lvl6pPr marL="24526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6pPr>
            <a:lvl7pPr marL="29098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7pPr>
            <a:lvl8pPr marL="33670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8pPr>
            <a:lvl9pPr marL="38242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Clr>
                <a:srgbClr val="3333CC"/>
              </a:buClr>
              <a:buFont typeface="Wingdings" pitchFamily="2" charset="2"/>
              <a:buNone/>
            </a:pPr>
            <a:endParaRPr lang="en-US" sz="280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42" name="Content Placeholder 2"/>
          <p:cNvSpPr>
            <a:spLocks noGrp="1"/>
          </p:cNvSpPr>
          <p:nvPr>
            <p:ph sz="half" idx="4294967295"/>
          </p:nvPr>
        </p:nvSpPr>
        <p:spPr>
          <a:xfrm>
            <a:off x="581424" y="2971127"/>
            <a:ext cx="4185200" cy="564039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Distributed Locks</a:t>
            </a:r>
          </a:p>
        </p:txBody>
      </p:sp>
      <p:sp>
        <p:nvSpPr>
          <p:cNvPr id="43" name="Content Placeholder 5"/>
          <p:cNvSpPr txBox="1">
            <a:spLocks/>
          </p:cNvSpPr>
          <p:nvPr/>
        </p:nvSpPr>
        <p:spPr bwMode="auto">
          <a:xfrm>
            <a:off x="561642" y="3508536"/>
            <a:ext cx="3307281" cy="1104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Blip>
                <a:blip r:embed="rId3"/>
              </a:buBlip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7388" indent="-2301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</a:defRPr>
            </a:lvl2pPr>
            <a:lvl3pPr marL="10890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Blip>
                <a:blip r:embed="rId5"/>
              </a:buBlip>
              <a:defRPr sz="1800">
                <a:solidFill>
                  <a:schemeClr val="tx1"/>
                </a:solidFill>
                <a:latin typeface="+mn-lt"/>
              </a:defRPr>
            </a:lvl3pPr>
            <a:lvl4pPr marL="1546225" indent="-1746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Blip>
                <a:blip r:embed="rId6"/>
              </a:buBlip>
              <a:defRPr sz="1600">
                <a:solidFill>
                  <a:schemeClr val="tx1"/>
                </a:solidFill>
                <a:latin typeface="+mn-lt"/>
              </a:defRPr>
            </a:lvl4pPr>
            <a:lvl5pPr marL="1995488" indent="-166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5pPr>
            <a:lvl6pPr marL="24526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6pPr>
            <a:lvl7pPr marL="29098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7pPr>
            <a:lvl8pPr marL="33670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8pPr>
            <a:lvl9pPr marL="3824288" indent="-16668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5000"/>
              <a:buFont typeface="Wingdings" pitchFamily="2" charset="2"/>
              <a:buBlip>
                <a:blip r:embed="rId7"/>
              </a:buBlip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sz="2800" dirty="0" smtClean="0">
                <a:solidFill>
                  <a:srgbClr val="000000"/>
                </a:solidFill>
                <a:latin typeface="Tahoma"/>
              </a:rPr>
              <a:t>Challenges</a:t>
            </a:r>
          </a:p>
          <a:p>
            <a:pPr lvl="1">
              <a:buClr>
                <a:srgbClr val="FF0000"/>
              </a:buClr>
            </a:pPr>
            <a:r>
              <a:rPr lang="en-US" sz="2400" dirty="0" smtClean="0">
                <a:solidFill>
                  <a:srgbClr val="000000"/>
                </a:solidFill>
                <a:latin typeface="Tahoma"/>
              </a:rPr>
              <a:t>Latency</a:t>
            </a:r>
            <a:endParaRPr lang="en-US" sz="2800" dirty="0">
              <a:solidFill>
                <a:srgbClr val="000000"/>
              </a:solidFill>
              <a:latin typeface="Tahoma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111875" y="1552170"/>
            <a:ext cx="1584960" cy="1066800"/>
            <a:chOff x="6096000" y="3200400"/>
            <a:chExt cx="1584960" cy="1066800"/>
          </a:xfrm>
        </p:grpSpPr>
        <p:grpSp>
          <p:nvGrpSpPr>
            <p:cNvPr id="31" name="Group 30"/>
            <p:cNvGrpSpPr/>
            <p:nvPr/>
          </p:nvGrpSpPr>
          <p:grpSpPr>
            <a:xfrm>
              <a:off x="6096000" y="3200400"/>
              <a:ext cx="1584960" cy="1051560"/>
              <a:chOff x="6096000" y="3200400"/>
              <a:chExt cx="1584960" cy="1051560"/>
            </a:xfrm>
          </p:grpSpPr>
          <p:sp>
            <p:nvSpPr>
              <p:cNvPr id="33" name="Oval 32"/>
              <p:cNvSpPr/>
              <p:nvPr/>
            </p:nvSpPr>
            <p:spPr bwMode="auto">
              <a:xfrm>
                <a:off x="6096000" y="3200400"/>
                <a:ext cx="365760" cy="36576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>
                    <a:solidFill>
                      <a:srgbClr val="000000"/>
                    </a:solidFill>
                    <a:latin typeface="Tahoma" pitchFamily="-64" charset="0"/>
                  </a:rPr>
                  <a:t>A</a:t>
                </a:r>
                <a:endParaRPr lang="en-US" sz="2400" baseline="-25000" dirty="0" smtClean="0">
                  <a:solidFill>
                    <a:srgbClr val="000000"/>
                  </a:solidFill>
                  <a:latin typeface="Tahoma" pitchFamily="-64" charset="0"/>
                </a:endParaRPr>
              </a:p>
            </p:txBody>
          </p:sp>
          <p:sp>
            <p:nvSpPr>
              <p:cNvPr id="34" name="Oval 33"/>
              <p:cNvSpPr/>
              <p:nvPr/>
            </p:nvSpPr>
            <p:spPr bwMode="auto">
              <a:xfrm>
                <a:off x="7315200" y="3200400"/>
                <a:ext cx="365760" cy="36576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 smtClean="0">
                    <a:solidFill>
                      <a:srgbClr val="000000"/>
                    </a:solidFill>
                    <a:latin typeface="Tahoma" pitchFamily="-64" charset="0"/>
                  </a:rPr>
                  <a:t>C</a:t>
                </a:r>
                <a:endParaRPr lang="en-US" sz="2400" baseline="-25000" dirty="0" smtClean="0">
                  <a:solidFill>
                    <a:srgbClr val="000000"/>
                  </a:solidFill>
                  <a:latin typeface="Tahoma" pitchFamily="-64" charset="0"/>
                </a:endParaRPr>
              </a:p>
            </p:txBody>
          </p:sp>
          <p:cxnSp>
            <p:nvCxnSpPr>
              <p:cNvPr id="35" name="Straight Connector 34"/>
              <p:cNvCxnSpPr>
                <a:stCxn id="33" idx="6"/>
                <a:endCxn id="34" idx="2"/>
              </p:cNvCxnSpPr>
              <p:nvPr/>
            </p:nvCxnSpPr>
            <p:spPr bwMode="auto">
              <a:xfrm>
                <a:off x="6461760" y="3383280"/>
                <a:ext cx="85344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Oval 35"/>
              <p:cNvSpPr/>
              <p:nvPr/>
            </p:nvSpPr>
            <p:spPr bwMode="auto">
              <a:xfrm>
                <a:off x="6096000" y="3886200"/>
                <a:ext cx="365760" cy="36576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 smtClean="0">
                    <a:solidFill>
                      <a:srgbClr val="000000"/>
                    </a:solidFill>
                    <a:latin typeface="Tahoma" pitchFamily="-64" charset="0"/>
                  </a:rPr>
                  <a:t>B</a:t>
                </a:r>
                <a:endParaRPr lang="en-US" sz="2400" baseline="-25000" dirty="0" smtClean="0">
                  <a:solidFill>
                    <a:srgbClr val="000000"/>
                  </a:solidFill>
                  <a:latin typeface="Tahoma" pitchFamily="-64" charset="0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7315200" y="3886200"/>
                <a:ext cx="365760" cy="365760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91440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dirty="0" smtClean="0">
                    <a:solidFill>
                      <a:srgbClr val="000000"/>
                    </a:solidFill>
                    <a:latin typeface="Tahoma" pitchFamily="-64" charset="0"/>
                  </a:rPr>
                  <a:t>D</a:t>
                </a:r>
                <a:endParaRPr lang="en-US" sz="2400" baseline="-25000" dirty="0" smtClean="0">
                  <a:solidFill>
                    <a:srgbClr val="000000"/>
                  </a:solidFill>
                  <a:latin typeface="Tahoma" pitchFamily="-64" charset="0"/>
                </a:endParaRPr>
              </a:p>
            </p:txBody>
          </p:sp>
          <p:cxnSp>
            <p:nvCxnSpPr>
              <p:cNvPr id="38" name="Straight Connector 37"/>
              <p:cNvCxnSpPr>
                <a:stCxn id="36" idx="6"/>
                <a:endCxn id="37" idx="2"/>
              </p:cNvCxnSpPr>
              <p:nvPr/>
            </p:nvCxnSpPr>
            <p:spPr bwMode="auto">
              <a:xfrm>
                <a:off x="6461760" y="4069080"/>
                <a:ext cx="853440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37" idx="0"/>
                <a:endCxn id="34" idx="4"/>
              </p:cNvCxnSpPr>
              <p:nvPr/>
            </p:nvCxnSpPr>
            <p:spPr bwMode="auto">
              <a:xfrm flipV="1">
                <a:off x="7498080" y="3566160"/>
                <a:ext cx="0" cy="32004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>
                <a:stCxn id="36" idx="0"/>
                <a:endCxn id="33" idx="4"/>
              </p:cNvCxnSpPr>
              <p:nvPr/>
            </p:nvCxnSpPr>
            <p:spPr bwMode="auto">
              <a:xfrm flipV="1">
                <a:off x="6278880" y="3566160"/>
                <a:ext cx="0" cy="32004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urved Connector 31"/>
            <p:cNvCxnSpPr/>
            <p:nvPr/>
          </p:nvCxnSpPr>
          <p:spPr bwMode="auto">
            <a:xfrm rot="5400000">
              <a:off x="6362700" y="3619500"/>
              <a:ext cx="1066800" cy="228600"/>
            </a:xfrm>
            <a:prstGeom prst="curvedConnector3">
              <a:avLst/>
            </a:prstGeom>
            <a:ln>
              <a:prstDash val="sysDash"/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Group 7"/>
          <p:cNvGrpSpPr/>
          <p:nvPr/>
        </p:nvGrpSpPr>
        <p:grpSpPr>
          <a:xfrm>
            <a:off x="6764020" y="3637630"/>
            <a:ext cx="1127760" cy="975360"/>
            <a:chOff x="5486400" y="3657830"/>
            <a:chExt cx="1127760" cy="975360"/>
          </a:xfrm>
        </p:grpSpPr>
        <p:sp>
          <p:nvSpPr>
            <p:cNvPr id="23" name="Oval 22"/>
            <p:cNvSpPr/>
            <p:nvPr/>
          </p:nvSpPr>
          <p:spPr bwMode="auto">
            <a:xfrm>
              <a:off x="5486400" y="3657830"/>
              <a:ext cx="365760" cy="3657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000000"/>
                  </a:solidFill>
                  <a:latin typeface="Tahoma" pitchFamily="-64" charset="0"/>
                </a:rPr>
                <a:t>A</a:t>
              </a:r>
              <a:endParaRPr lang="en-US" sz="2400" baseline="-25000" dirty="0" smtClean="0">
                <a:solidFill>
                  <a:srgbClr val="000000"/>
                </a:solidFill>
                <a:latin typeface="Tahoma" pitchFamily="-64" charset="0"/>
              </a:endParaRPr>
            </a:p>
          </p:txBody>
        </p:sp>
        <p:sp>
          <p:nvSpPr>
            <p:cNvPr id="24" name="Oval 23"/>
            <p:cNvSpPr/>
            <p:nvPr/>
          </p:nvSpPr>
          <p:spPr bwMode="auto">
            <a:xfrm>
              <a:off x="6248400" y="3657830"/>
              <a:ext cx="365760" cy="3657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rgbClr val="FFFFFF">
                      <a:lumMod val="50000"/>
                    </a:srgbClr>
                  </a:solidFill>
                  <a:latin typeface="Tahoma" pitchFamily="-64" charset="0"/>
                </a:rPr>
                <a:t>C</a:t>
              </a:r>
              <a:endParaRPr lang="en-US" sz="2400" baseline="-25000" dirty="0" smtClean="0">
                <a:solidFill>
                  <a:srgbClr val="FFFFFF">
                    <a:lumMod val="50000"/>
                  </a:srgbClr>
                </a:solidFill>
                <a:latin typeface="Tahoma" pitchFamily="-64" charset="0"/>
              </a:endParaRPr>
            </a:p>
          </p:txBody>
        </p:sp>
        <p:cxnSp>
          <p:nvCxnSpPr>
            <p:cNvPr id="25" name="Straight Connector 24"/>
            <p:cNvCxnSpPr>
              <a:stCxn id="23" idx="6"/>
              <a:endCxn id="24" idx="2"/>
            </p:cNvCxnSpPr>
            <p:nvPr/>
          </p:nvCxnSpPr>
          <p:spPr bwMode="auto">
            <a:xfrm>
              <a:off x="5852160" y="3840710"/>
              <a:ext cx="39624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 bwMode="auto">
            <a:xfrm>
              <a:off x="5486400" y="4267430"/>
              <a:ext cx="365760" cy="3657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000000"/>
                  </a:solidFill>
                  <a:latin typeface="Tahoma" pitchFamily="-64" charset="0"/>
                </a:rPr>
                <a:t>B</a:t>
              </a:r>
              <a:endParaRPr lang="en-US" sz="2400" baseline="-25000" dirty="0" smtClean="0">
                <a:solidFill>
                  <a:srgbClr val="000000"/>
                </a:solidFill>
                <a:latin typeface="Tahoma" pitchFamily="-64" charset="0"/>
              </a:endParaRPr>
            </a:p>
          </p:txBody>
        </p:sp>
        <p:sp>
          <p:nvSpPr>
            <p:cNvPr id="27" name="Oval 26"/>
            <p:cNvSpPr/>
            <p:nvPr/>
          </p:nvSpPr>
          <p:spPr bwMode="auto">
            <a:xfrm>
              <a:off x="6248400" y="4267430"/>
              <a:ext cx="365760" cy="3657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 smtClean="0">
                  <a:solidFill>
                    <a:srgbClr val="FFFFFF">
                      <a:lumMod val="50000"/>
                    </a:srgbClr>
                  </a:solidFill>
                  <a:latin typeface="Tahoma" pitchFamily="-64" charset="0"/>
                </a:rPr>
                <a:t>D</a:t>
              </a:r>
              <a:endParaRPr lang="en-US" sz="2400" baseline="-25000" dirty="0" smtClean="0">
                <a:solidFill>
                  <a:srgbClr val="FFFFFF">
                    <a:lumMod val="50000"/>
                  </a:srgbClr>
                </a:solidFill>
                <a:latin typeface="Tahoma" pitchFamily="-64" charset="0"/>
              </a:endParaRPr>
            </a:p>
          </p:txBody>
        </p:sp>
        <p:cxnSp>
          <p:nvCxnSpPr>
            <p:cNvPr id="28" name="Straight Connector 27"/>
            <p:cNvCxnSpPr>
              <a:stCxn id="26" idx="6"/>
              <a:endCxn id="27" idx="2"/>
            </p:cNvCxnSpPr>
            <p:nvPr/>
          </p:nvCxnSpPr>
          <p:spPr bwMode="auto">
            <a:xfrm>
              <a:off x="5852160" y="4450310"/>
              <a:ext cx="396240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26" idx="0"/>
              <a:endCxn id="23" idx="4"/>
            </p:cNvCxnSpPr>
            <p:nvPr/>
          </p:nvCxnSpPr>
          <p:spPr bwMode="auto">
            <a:xfrm flipV="1">
              <a:off x="5669280" y="4023590"/>
              <a:ext cx="0" cy="24384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38" name="Picture 13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4865" y="3072780"/>
            <a:ext cx="557833" cy="586164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8072" y="3055385"/>
            <a:ext cx="557833" cy="586164"/>
          </a:xfrm>
          <a:prstGeom prst="rect">
            <a:avLst/>
          </a:prstGeom>
        </p:spPr>
      </p:pic>
      <p:pic>
        <p:nvPicPr>
          <p:cNvPr id="154" name="Picture 15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981" y="3072780"/>
            <a:ext cx="557833" cy="586164"/>
          </a:xfrm>
          <a:prstGeom prst="rect">
            <a:avLst/>
          </a:prstGeom>
        </p:spPr>
      </p:pic>
      <p:sp>
        <p:nvSpPr>
          <p:cNvPr id="137" name="Oval 136"/>
          <p:cNvSpPr/>
          <p:nvPr/>
        </p:nvSpPr>
        <p:spPr bwMode="auto">
          <a:xfrm>
            <a:off x="6755978" y="3643069"/>
            <a:ext cx="365760" cy="3657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solidFill>
                  <a:srgbClr val="000000"/>
                </a:solidFill>
                <a:latin typeface="Tahoma" pitchFamily="-64" charset="0"/>
              </a:rPr>
              <a:t>A</a:t>
            </a:r>
            <a:endParaRPr lang="en-US" sz="2400" baseline="-25000" dirty="0" smtClean="0">
              <a:solidFill>
                <a:srgbClr val="000000"/>
              </a:solidFill>
              <a:latin typeface="Tahoma" pitchFamily="-6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95AC5C-2115-43B4-93C1-A8C975FC4D86}" type="slidenum">
              <a:rPr lang="en-US" smtClean="0">
                <a:solidFill>
                  <a:srgbClr val="000000"/>
                </a:solidFill>
                <a:latin typeface="Tahoma"/>
              </a:rPr>
              <a:pPr>
                <a:defRPr/>
              </a:pPr>
              <a:t>59</a:t>
            </a:fld>
            <a:endParaRPr lang="en-US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6664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2 -0.02662 L -0.13924 -0.09607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02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2.59259E-6 L 0.11268 0.04283 " pathEditMode="relative" rAng="0" ptsTypes="AA">
                                      <p:cBhvr>
                                        <p:cTn id="4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21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2.96296E-6 L 0.20955 0.34028 " pathEditMode="relative" rAng="0" ptsTypes="AA">
                                      <p:cBhvr>
                                        <p:cTn id="48" dur="3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69" y="17014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44444E-6 L 0.12621 0.16365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621 0.16365 L -0.00018 -0.00024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319" y="-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67 0.04282 L -0.00018 -0.00024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42" y="-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955 0.34028 L -0.02048 -0.00023 " pathEditMode="relative" rAng="0" ptsTypes="AA">
                                      <p:cBhvr>
                                        <p:cTn id="65" dur="3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510" y="-17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  <p:bldP spid="64" grpId="0" animBg="1"/>
      <p:bldP spid="14" grpId="0" animBg="1"/>
      <p:bldP spid="10" grpId="0"/>
      <p:bldP spid="11" grpId="0" build="p"/>
      <p:bldP spid="12" grpId="0"/>
      <p:bldP spid="42" grpId="0" build="p"/>
      <p:bldP spid="43" grpId="0"/>
      <p:bldP spid="137" grpId="0" animBg="1"/>
      <p:bldP spid="137" grpId="1" animBg="1"/>
      <p:bldP spid="137" grpId="2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 Pipelining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961931" y="2995651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1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555606" y="2319170"/>
            <a:ext cx="0" cy="4238361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/>
          <p:cNvSpPr/>
          <p:nvPr/>
        </p:nvSpPr>
        <p:spPr bwMode="auto">
          <a:xfrm>
            <a:off x="5013353" y="3534954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1</a:t>
            </a:r>
          </a:p>
        </p:txBody>
      </p:sp>
      <p:cxnSp>
        <p:nvCxnSpPr>
          <p:cNvPr id="11" name="Straight Arrow Connector 10"/>
          <p:cNvCxnSpPr>
            <a:stCxn id="4" idx="3"/>
            <a:endCxn id="9" idx="1"/>
          </p:cNvCxnSpPr>
          <p:nvPr/>
        </p:nvCxnSpPr>
        <p:spPr bwMode="auto">
          <a:xfrm>
            <a:off x="4086241" y="3168223"/>
            <a:ext cx="927112" cy="539303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61931" y="414206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ea typeface="ＭＳ Ｐゴシック" pitchFamily="-111" charset="-128"/>
              </a:rPr>
              <a:t>scope 1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3" name="Straight Arrow Connector 12"/>
          <p:cNvCxnSpPr>
            <a:stCxn id="9" idx="1"/>
            <a:endCxn id="12" idx="3"/>
          </p:cNvCxnSpPr>
          <p:nvPr/>
        </p:nvCxnSpPr>
        <p:spPr bwMode="auto">
          <a:xfrm flipH="1">
            <a:off x="4086241" y="3707526"/>
            <a:ext cx="927112" cy="607110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Rectangle 16"/>
          <p:cNvSpPr/>
          <p:nvPr/>
        </p:nvSpPr>
        <p:spPr bwMode="auto">
          <a:xfrm>
            <a:off x="1961931" y="4487207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 smtClean="0">
                <a:ea typeface="ＭＳ Ｐゴシック" pitchFamily="-111" charset="-128"/>
              </a:rPr>
              <a:t>update_function</a:t>
            </a:r>
            <a:r>
              <a:rPr lang="en-US" sz="2000" dirty="0" smtClean="0">
                <a:ea typeface="ＭＳ Ｐゴシック" pitchFamily="-111" charset="-128"/>
              </a:rPr>
              <a:t>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961931" y="4832350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r</a:t>
            </a:r>
            <a:r>
              <a:rPr lang="en-US" sz="2000" dirty="0" smtClean="0">
                <a:ea typeface="ＭＳ Ｐゴシック" pitchFamily="-111" charset="-128"/>
              </a:rPr>
              <a:t>elease scope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 bwMode="auto">
          <a:xfrm>
            <a:off x="4086241" y="5004922"/>
            <a:ext cx="927112" cy="677326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5013353" y="5509676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release 1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-48350" y="3722543"/>
            <a:ext cx="855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26" name="Down Arrow 25"/>
          <p:cNvSpPr/>
          <p:nvPr/>
        </p:nvSpPr>
        <p:spPr bwMode="auto">
          <a:xfrm>
            <a:off x="610093" y="1863775"/>
            <a:ext cx="328638" cy="469375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60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81" y="1645356"/>
            <a:ext cx="1563580" cy="93814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33" y="1645356"/>
            <a:ext cx="1563580" cy="938148"/>
          </a:xfrm>
          <a:prstGeom prst="rect">
            <a:avLst/>
          </a:prstGeom>
        </p:spPr>
      </p:pic>
      <p:sp>
        <p:nvSpPr>
          <p:cNvPr id="14" name="Up-Down Arrow 13"/>
          <p:cNvSpPr/>
          <p:nvPr/>
        </p:nvSpPr>
        <p:spPr bwMode="auto">
          <a:xfrm>
            <a:off x="2286000" y="3317685"/>
            <a:ext cx="292100" cy="824379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456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17" grpId="0" animBg="1"/>
      <p:bldP spid="18" grpId="0" animBg="1"/>
      <p:bldP spid="20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Pipelining / Latency Hiding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12045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Hide latency using pipelining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961931" y="2995651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1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555606" y="2319170"/>
            <a:ext cx="0" cy="4238361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Rectangle 8"/>
          <p:cNvSpPr/>
          <p:nvPr/>
        </p:nvSpPr>
        <p:spPr bwMode="auto">
          <a:xfrm>
            <a:off x="5013353" y="3534954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1</a:t>
            </a:r>
          </a:p>
        </p:txBody>
      </p:sp>
      <p:cxnSp>
        <p:nvCxnSpPr>
          <p:cNvPr id="11" name="Straight Arrow Connector 10"/>
          <p:cNvCxnSpPr>
            <a:stCxn id="4" idx="3"/>
            <a:endCxn id="9" idx="1"/>
          </p:cNvCxnSpPr>
          <p:nvPr/>
        </p:nvCxnSpPr>
        <p:spPr bwMode="auto">
          <a:xfrm>
            <a:off x="4086241" y="3168223"/>
            <a:ext cx="927112" cy="539303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61931" y="414206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ea typeface="ＭＳ Ｐゴシック" pitchFamily="-111" charset="-128"/>
              </a:rPr>
              <a:t>scope 1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3" name="Straight Arrow Connector 12"/>
          <p:cNvCxnSpPr>
            <a:stCxn id="9" idx="1"/>
            <a:endCxn id="12" idx="3"/>
          </p:cNvCxnSpPr>
          <p:nvPr/>
        </p:nvCxnSpPr>
        <p:spPr bwMode="auto">
          <a:xfrm flipH="1">
            <a:off x="4086241" y="3707526"/>
            <a:ext cx="927112" cy="607110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Rectangle 16"/>
          <p:cNvSpPr/>
          <p:nvPr/>
        </p:nvSpPr>
        <p:spPr bwMode="auto">
          <a:xfrm>
            <a:off x="1961931" y="5148009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 smtClean="0">
                <a:ea typeface="ＭＳ Ｐゴシック" pitchFamily="-111" charset="-128"/>
              </a:rPr>
              <a:t>update_function</a:t>
            </a:r>
            <a:r>
              <a:rPr lang="en-US" sz="2000" dirty="0" smtClean="0">
                <a:ea typeface="ＭＳ Ｐゴシック" pitchFamily="-111" charset="-128"/>
              </a:rPr>
              <a:t>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961931" y="5515618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r</a:t>
            </a:r>
            <a:r>
              <a:rPr lang="en-US" sz="2000" dirty="0" smtClean="0">
                <a:ea typeface="ＭＳ Ｐゴシック" pitchFamily="-111" charset="-128"/>
              </a:rPr>
              <a:t>elease scope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 bwMode="auto">
          <a:xfrm>
            <a:off x="4086241" y="5688190"/>
            <a:ext cx="927112" cy="533377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5013353" y="6048995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release 1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1961931" y="334079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2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-48350" y="3722543"/>
            <a:ext cx="855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26" name="Down Arrow 25"/>
          <p:cNvSpPr/>
          <p:nvPr/>
        </p:nvSpPr>
        <p:spPr bwMode="auto">
          <a:xfrm>
            <a:off x="610093" y="1863775"/>
            <a:ext cx="328638" cy="469375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961931" y="3707526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3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5019162" y="3859925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2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5019162" y="4233561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3</a:t>
            </a:r>
          </a:p>
        </p:txBody>
      </p:sp>
      <p:cxnSp>
        <p:nvCxnSpPr>
          <p:cNvPr id="28" name="Straight Arrow Connector 27"/>
          <p:cNvCxnSpPr>
            <a:stCxn id="21" idx="3"/>
            <a:endCxn id="24" idx="1"/>
          </p:cNvCxnSpPr>
          <p:nvPr/>
        </p:nvCxnSpPr>
        <p:spPr bwMode="auto">
          <a:xfrm>
            <a:off x="4086241" y="3513366"/>
            <a:ext cx="932921" cy="519131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stCxn id="23" idx="3"/>
            <a:endCxn id="27" idx="1"/>
          </p:cNvCxnSpPr>
          <p:nvPr/>
        </p:nvCxnSpPr>
        <p:spPr bwMode="auto">
          <a:xfrm>
            <a:off x="4086241" y="3880098"/>
            <a:ext cx="932921" cy="526035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24" idx="1"/>
            <a:endCxn id="31" idx="3"/>
          </p:cNvCxnSpPr>
          <p:nvPr/>
        </p:nvCxnSpPr>
        <p:spPr bwMode="auto">
          <a:xfrm flipH="1">
            <a:off x="4086241" y="4032497"/>
            <a:ext cx="932921" cy="607990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Rectangle 30"/>
          <p:cNvSpPr/>
          <p:nvPr/>
        </p:nvSpPr>
        <p:spPr bwMode="auto">
          <a:xfrm>
            <a:off x="1961931" y="4467915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s</a:t>
            </a:r>
            <a:r>
              <a:rPr lang="en-US" sz="2000" dirty="0" smtClean="0">
                <a:ea typeface="ＭＳ Ｐゴシック" pitchFamily="-111" charset="-128"/>
              </a:rPr>
              <a:t>cope 2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961931" y="4792886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s</a:t>
            </a:r>
            <a:r>
              <a:rPr lang="en-US" sz="2000" dirty="0" smtClean="0">
                <a:ea typeface="ＭＳ Ｐゴシック" pitchFamily="-111" charset="-128"/>
              </a:rPr>
              <a:t>cope 3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34" name="Straight Arrow Connector 33"/>
          <p:cNvCxnSpPr>
            <a:stCxn id="27" idx="1"/>
            <a:endCxn id="32" idx="3"/>
          </p:cNvCxnSpPr>
          <p:nvPr/>
        </p:nvCxnSpPr>
        <p:spPr bwMode="auto">
          <a:xfrm flipH="1">
            <a:off x="4086241" y="4406133"/>
            <a:ext cx="932921" cy="559325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36"/>
          <p:cNvSpPr/>
          <p:nvPr/>
        </p:nvSpPr>
        <p:spPr bwMode="auto">
          <a:xfrm>
            <a:off x="1961931" y="587642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 smtClean="0">
                <a:ea typeface="ＭＳ Ｐゴシック" pitchFamily="-111" charset="-128"/>
              </a:rPr>
              <a:t>update_function</a:t>
            </a:r>
            <a:r>
              <a:rPr lang="en-US" sz="2000" dirty="0" smtClean="0">
                <a:ea typeface="ＭＳ Ｐゴシック" pitchFamily="-111" charset="-128"/>
              </a:rPr>
              <a:t> 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961931" y="6244033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r</a:t>
            </a:r>
            <a:r>
              <a:rPr lang="en-US" sz="2000" dirty="0" smtClean="0">
                <a:ea typeface="ＭＳ Ｐゴシック" pitchFamily="-111" charset="-128"/>
              </a:rPr>
              <a:t>elease scope 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61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581" y="1645356"/>
            <a:ext cx="1563580" cy="938148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733" y="1645356"/>
            <a:ext cx="1563580" cy="9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5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2" grpId="0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27" grpId="0" animBg="1"/>
      <p:bldP spid="31" grpId="0" animBg="1"/>
      <p:bldP spid="32" grpId="0" animBg="1"/>
      <p:bldP spid="37" grpId="0" animBg="1"/>
      <p:bldP spid="3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Latency Hiding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12045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Hide latency using request buffering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1961931" y="2995651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1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4555606" y="2319170"/>
            <a:ext cx="0" cy="4238361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7" name="Picture 6" descr="http://tampabaytechs.net/images/server_rack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734744" y="1451301"/>
            <a:ext cx="471170" cy="1185401"/>
          </a:xfrm>
          <a:prstGeom prst="rect">
            <a:avLst/>
          </a:prstGeom>
          <a:noFill/>
        </p:spPr>
      </p:pic>
      <p:pic>
        <p:nvPicPr>
          <p:cNvPr id="8" name="Picture 7" descr="http://tampabaytechs.net/images/server_rack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20508" y="1451301"/>
            <a:ext cx="471170" cy="1185401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 bwMode="auto">
          <a:xfrm>
            <a:off x="5013353" y="3534954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1</a:t>
            </a:r>
          </a:p>
        </p:txBody>
      </p:sp>
      <p:cxnSp>
        <p:nvCxnSpPr>
          <p:cNvPr id="11" name="Straight Arrow Connector 10"/>
          <p:cNvCxnSpPr>
            <a:stCxn id="4" idx="3"/>
            <a:endCxn id="9" idx="1"/>
          </p:cNvCxnSpPr>
          <p:nvPr/>
        </p:nvCxnSpPr>
        <p:spPr bwMode="auto">
          <a:xfrm>
            <a:off x="4086241" y="3168223"/>
            <a:ext cx="927112" cy="539303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1961931" y="414206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ea typeface="ＭＳ Ｐゴシック" pitchFamily="-111" charset="-128"/>
              </a:rPr>
              <a:t>scope 1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3" name="Straight Arrow Connector 12"/>
          <p:cNvCxnSpPr>
            <a:stCxn id="9" idx="1"/>
            <a:endCxn id="12" idx="3"/>
          </p:cNvCxnSpPr>
          <p:nvPr/>
        </p:nvCxnSpPr>
        <p:spPr bwMode="auto">
          <a:xfrm flipH="1">
            <a:off x="4086241" y="3707526"/>
            <a:ext cx="927112" cy="607110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Rectangle 16"/>
          <p:cNvSpPr/>
          <p:nvPr/>
        </p:nvSpPr>
        <p:spPr bwMode="auto">
          <a:xfrm>
            <a:off x="1961931" y="5148009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 smtClean="0">
                <a:ea typeface="ＭＳ Ｐゴシック" pitchFamily="-111" charset="-128"/>
              </a:rPr>
              <a:t>update_function</a:t>
            </a:r>
            <a:r>
              <a:rPr lang="en-US" sz="2000" dirty="0" smtClean="0">
                <a:ea typeface="ＭＳ Ｐゴシック" pitchFamily="-111" charset="-128"/>
              </a:rPr>
              <a:t>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961931" y="5515618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r</a:t>
            </a:r>
            <a:r>
              <a:rPr lang="en-US" sz="2000" dirty="0" smtClean="0">
                <a:ea typeface="ＭＳ Ｐゴシック" pitchFamily="-111" charset="-128"/>
              </a:rPr>
              <a:t>elease scope 1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19" name="Straight Arrow Connector 18"/>
          <p:cNvCxnSpPr>
            <a:stCxn id="18" idx="3"/>
            <a:endCxn id="20" idx="1"/>
          </p:cNvCxnSpPr>
          <p:nvPr/>
        </p:nvCxnSpPr>
        <p:spPr bwMode="auto">
          <a:xfrm>
            <a:off x="4086241" y="5688190"/>
            <a:ext cx="927112" cy="533377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Rectangle 19"/>
          <p:cNvSpPr/>
          <p:nvPr/>
        </p:nvSpPr>
        <p:spPr bwMode="auto">
          <a:xfrm>
            <a:off x="5013353" y="6048995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release 1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1961931" y="334079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2</a:t>
            </a:r>
          </a:p>
        </p:txBody>
      </p:sp>
      <p:sp>
        <p:nvSpPr>
          <p:cNvPr id="25" name="TextBox 24"/>
          <p:cNvSpPr txBox="1"/>
          <p:nvPr/>
        </p:nvSpPr>
        <p:spPr>
          <a:xfrm rot="16200000">
            <a:off x="-48350" y="3722543"/>
            <a:ext cx="855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Time</a:t>
            </a:r>
            <a:endParaRPr lang="en-US" dirty="0"/>
          </a:p>
        </p:txBody>
      </p:sp>
      <p:sp>
        <p:nvSpPr>
          <p:cNvPr id="26" name="Down Arrow 25"/>
          <p:cNvSpPr/>
          <p:nvPr/>
        </p:nvSpPr>
        <p:spPr bwMode="auto">
          <a:xfrm>
            <a:off x="610093" y="1863775"/>
            <a:ext cx="328638" cy="4693756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961931" y="3707526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lock scope 3</a:t>
            </a:r>
          </a:p>
        </p:txBody>
      </p:sp>
      <p:sp>
        <p:nvSpPr>
          <p:cNvPr id="24" name="Rectangle 23"/>
          <p:cNvSpPr/>
          <p:nvPr/>
        </p:nvSpPr>
        <p:spPr bwMode="auto">
          <a:xfrm>
            <a:off x="5019162" y="3859925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2</a:t>
            </a:r>
          </a:p>
        </p:txBody>
      </p:sp>
      <p:sp>
        <p:nvSpPr>
          <p:cNvPr id="27" name="Rectangle 26"/>
          <p:cNvSpPr/>
          <p:nvPr/>
        </p:nvSpPr>
        <p:spPr bwMode="auto">
          <a:xfrm>
            <a:off x="5019162" y="4233561"/>
            <a:ext cx="2468885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Process request 3</a:t>
            </a:r>
          </a:p>
        </p:txBody>
      </p:sp>
      <p:cxnSp>
        <p:nvCxnSpPr>
          <p:cNvPr id="28" name="Straight Arrow Connector 27"/>
          <p:cNvCxnSpPr>
            <a:stCxn id="21" idx="3"/>
            <a:endCxn id="24" idx="1"/>
          </p:cNvCxnSpPr>
          <p:nvPr/>
        </p:nvCxnSpPr>
        <p:spPr bwMode="auto">
          <a:xfrm>
            <a:off x="4086241" y="3513366"/>
            <a:ext cx="932921" cy="519131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>
            <a:stCxn id="23" idx="3"/>
            <a:endCxn id="27" idx="1"/>
          </p:cNvCxnSpPr>
          <p:nvPr/>
        </p:nvCxnSpPr>
        <p:spPr bwMode="auto">
          <a:xfrm>
            <a:off x="4086241" y="3880098"/>
            <a:ext cx="932921" cy="526035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>
            <a:stCxn id="24" idx="1"/>
            <a:endCxn id="31" idx="3"/>
          </p:cNvCxnSpPr>
          <p:nvPr/>
        </p:nvCxnSpPr>
        <p:spPr bwMode="auto">
          <a:xfrm flipH="1">
            <a:off x="4086241" y="4032497"/>
            <a:ext cx="932921" cy="607990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Rectangle 30"/>
          <p:cNvSpPr/>
          <p:nvPr/>
        </p:nvSpPr>
        <p:spPr bwMode="auto">
          <a:xfrm>
            <a:off x="1961931" y="4467915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s</a:t>
            </a:r>
            <a:r>
              <a:rPr lang="en-US" sz="2000" dirty="0" smtClean="0">
                <a:ea typeface="ＭＳ Ｐゴシック" pitchFamily="-111" charset="-128"/>
              </a:rPr>
              <a:t>cope 2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1961931" y="4792886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s</a:t>
            </a:r>
            <a:r>
              <a:rPr lang="en-US" sz="2000" dirty="0" smtClean="0">
                <a:ea typeface="ＭＳ Ｐゴシック" pitchFamily="-111" charset="-128"/>
              </a:rPr>
              <a:t>cope 3 acquired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cxnSp>
        <p:nvCxnSpPr>
          <p:cNvPr id="34" name="Straight Arrow Connector 33"/>
          <p:cNvCxnSpPr>
            <a:stCxn id="27" idx="1"/>
            <a:endCxn id="32" idx="3"/>
          </p:cNvCxnSpPr>
          <p:nvPr/>
        </p:nvCxnSpPr>
        <p:spPr bwMode="auto">
          <a:xfrm flipH="1">
            <a:off x="4086241" y="4406133"/>
            <a:ext cx="932921" cy="559325"/>
          </a:xfrm>
          <a:prstGeom prst="straightConnector1">
            <a:avLst/>
          </a:prstGeom>
          <a:noFill/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7" name="Rectangle 36"/>
          <p:cNvSpPr/>
          <p:nvPr/>
        </p:nvSpPr>
        <p:spPr bwMode="auto">
          <a:xfrm>
            <a:off x="1961931" y="5876424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err="1" smtClean="0">
                <a:ea typeface="ＭＳ Ｐゴシック" pitchFamily="-111" charset="-128"/>
              </a:rPr>
              <a:t>update_function</a:t>
            </a:r>
            <a:r>
              <a:rPr lang="en-US" sz="2000" dirty="0" smtClean="0">
                <a:ea typeface="ＭＳ Ｐゴシック" pitchFamily="-111" charset="-128"/>
              </a:rPr>
              <a:t> 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961931" y="6244033"/>
            <a:ext cx="2124310" cy="3451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ea typeface="ＭＳ Ｐゴシック" pitchFamily="-111" charset="-128"/>
              </a:rPr>
              <a:t>r</a:t>
            </a:r>
            <a:r>
              <a:rPr lang="en-US" sz="2000" dirty="0" smtClean="0">
                <a:ea typeface="ＭＳ Ｐゴシック" pitchFamily="-111" charset="-128"/>
              </a:rPr>
              <a:t>elease scope 2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41" name="Rectangle 40"/>
          <p:cNvSpPr/>
          <p:nvPr/>
        </p:nvSpPr>
        <p:spPr bwMode="auto">
          <a:xfrm>
            <a:off x="-299169" y="904762"/>
            <a:ext cx="10778238" cy="5831495"/>
          </a:xfrm>
          <a:prstGeom prst="rect">
            <a:avLst/>
          </a:prstGeom>
          <a:solidFill>
            <a:srgbClr val="FFFFFF">
              <a:alpha val="70000"/>
            </a:srgb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888653"/>
              </p:ext>
            </p:extLst>
          </p:nvPr>
        </p:nvGraphicFramePr>
        <p:xfrm>
          <a:off x="1981970" y="2227857"/>
          <a:ext cx="490824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0" dirty="0" smtClean="0"/>
                        <a:t>No Pipelining</a:t>
                      </a:r>
                      <a:endParaRPr lang="en-US" sz="2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472 s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74833"/>
              </p:ext>
            </p:extLst>
          </p:nvPr>
        </p:nvGraphicFramePr>
        <p:xfrm>
          <a:off x="1982822" y="2998837"/>
          <a:ext cx="4908240" cy="73310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54120"/>
                <a:gridCol w="2454120"/>
              </a:tblGrid>
              <a:tr h="733104"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Pipelining</a:t>
                      </a:r>
                      <a:endParaRPr lang="en-US" sz="2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1" dirty="0" smtClean="0"/>
                        <a:t>10 s</a:t>
                      </a:r>
                      <a:endParaRPr lang="en-US" sz="28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4" name="Rounded Rectangular Callout 43"/>
          <p:cNvSpPr/>
          <p:nvPr/>
        </p:nvSpPr>
        <p:spPr bwMode="auto">
          <a:xfrm>
            <a:off x="3057377" y="4227876"/>
            <a:ext cx="3118528" cy="707158"/>
          </a:xfrm>
          <a:prstGeom prst="wedgeRoundRectCallout">
            <a:avLst>
              <a:gd name="adj1" fmla="val -2460"/>
              <a:gd name="adj2" fmla="val -133740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>
                <a:solidFill>
                  <a:srgbClr val="FFFFFF"/>
                </a:solidFill>
                <a:latin typeface="Tahoma" pitchFamily="34" charset="0"/>
                <a:ea typeface="ＭＳ Ｐゴシック" pitchFamily="-111" charset="-128"/>
              </a:rPr>
              <a:t>47x Speedup</a:t>
            </a:r>
          </a:p>
        </p:txBody>
      </p:sp>
      <p:sp>
        <p:nvSpPr>
          <p:cNvPr id="45" name="Rectangle 44"/>
          <p:cNvSpPr/>
          <p:nvPr/>
        </p:nvSpPr>
        <p:spPr bwMode="auto">
          <a:xfrm>
            <a:off x="690580" y="1050777"/>
            <a:ext cx="7201200" cy="917252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ＭＳ Ｐゴシック" pitchFamily="-111" charset="-128"/>
              </a:rPr>
              <a:t>Residual BP on 190K Vertex 560K Edge Graph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latin typeface="Tahoma" pitchFamily="34" charset="0"/>
                <a:ea typeface="ＭＳ Ｐゴシック" pitchFamily="-111" charset="-128"/>
              </a:rPr>
              <a:t>4 Machines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ＭＳ Ｐゴシック" pitchFamily="-111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39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</a:t>
            </a:r>
            <a:r>
              <a:rPr lang="en-US" dirty="0" err="1" smtClean="0"/>
              <a:t>Cosegmentation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 bwMode="auto">
          <a:xfrm>
            <a:off x="493529" y="2880058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90" name="Rectangle 89"/>
          <p:cNvSpPr/>
          <p:nvPr/>
        </p:nvSpPr>
        <p:spPr bwMode="auto">
          <a:xfrm>
            <a:off x="567944" y="292699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91" name="Rectangle 90"/>
          <p:cNvSpPr/>
          <p:nvPr/>
        </p:nvSpPr>
        <p:spPr bwMode="auto">
          <a:xfrm>
            <a:off x="493529" y="2227667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92" name="Rectangle 91"/>
          <p:cNvSpPr/>
          <p:nvPr/>
        </p:nvSpPr>
        <p:spPr bwMode="auto">
          <a:xfrm>
            <a:off x="567944" y="226825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87" name="Rectangle 86"/>
          <p:cNvSpPr/>
          <p:nvPr/>
        </p:nvSpPr>
        <p:spPr bwMode="auto">
          <a:xfrm>
            <a:off x="493529" y="1591337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88" name="Rectangle 87"/>
          <p:cNvSpPr/>
          <p:nvPr/>
        </p:nvSpPr>
        <p:spPr bwMode="auto">
          <a:xfrm>
            <a:off x="567944" y="163192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78" name="Rectangle 77"/>
          <p:cNvSpPr/>
          <p:nvPr/>
        </p:nvSpPr>
        <p:spPr bwMode="auto">
          <a:xfrm>
            <a:off x="493529" y="932597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79" name="Rectangle 78"/>
          <p:cNvSpPr/>
          <p:nvPr/>
        </p:nvSpPr>
        <p:spPr bwMode="auto">
          <a:xfrm>
            <a:off x="567944" y="97318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grpSp>
        <p:nvGrpSpPr>
          <p:cNvPr id="3" name="Group 32"/>
          <p:cNvGrpSpPr/>
          <p:nvPr/>
        </p:nvGrpSpPr>
        <p:grpSpPr>
          <a:xfrm>
            <a:off x="4140199" y="1087542"/>
            <a:ext cx="4468428" cy="3283428"/>
            <a:chOff x="4140199" y="1087542"/>
            <a:chExt cx="4468428" cy="3283428"/>
          </a:xfrm>
        </p:grpSpPr>
        <p:pic>
          <p:nvPicPr>
            <p:cNvPr id="72" name="Picture 71" descr="seg1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37273" y="1087542"/>
              <a:ext cx="1879597" cy="1409698"/>
            </a:xfrm>
            <a:prstGeom prst="rect">
              <a:avLst/>
            </a:prstGeom>
          </p:spPr>
        </p:pic>
        <p:pic>
          <p:nvPicPr>
            <p:cNvPr id="75" name="Picture 74" descr="seg2.png"/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37273" y="2948574"/>
              <a:ext cx="1896528" cy="1422396"/>
            </a:xfrm>
            <a:prstGeom prst="rect">
              <a:avLst/>
            </a:prstGeom>
          </p:spPr>
        </p:pic>
        <p:sp>
          <p:nvSpPr>
            <p:cNvPr id="124" name="Right Arrow 123"/>
            <p:cNvSpPr/>
            <p:nvPr/>
          </p:nvSpPr>
          <p:spPr bwMode="auto">
            <a:xfrm>
              <a:off x="4140199" y="1554250"/>
              <a:ext cx="1841501" cy="542271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25" name="Right Arrow 124"/>
            <p:cNvSpPr/>
            <p:nvPr/>
          </p:nvSpPr>
          <p:spPr bwMode="auto">
            <a:xfrm>
              <a:off x="4165599" y="3375933"/>
              <a:ext cx="1841501" cy="542271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400" smtClean="0">
                <a:solidFill>
                  <a:srgbClr val="000000"/>
                </a:solidFill>
                <a:latin typeface="Tahoma" pitchFamily="34" charset="0"/>
                <a:ea typeface="ＭＳ Ｐゴシック" pitchFamily="-111" charset="-128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400673" y="2497240"/>
              <a:ext cx="320795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dirty="0" smtClean="0">
                  <a:solidFill>
                    <a:srgbClr val="000000"/>
                  </a:solidFill>
                  <a:latin typeface="Tahoma" pitchFamily="34" charset="0"/>
                  <a:ea typeface="ＭＳ Ｐゴシック"/>
                  <a:cs typeface="ＭＳ Ｐゴシック"/>
                </a:rPr>
                <a:t>Segments mean the same</a:t>
              </a:r>
              <a:endParaRPr lang="en-US" sz="2000" dirty="0">
                <a:solidFill>
                  <a:srgbClr val="000000"/>
                </a:solidFill>
                <a:latin typeface="Tahoma" pitchFamily="34" charset="0"/>
                <a:ea typeface="ＭＳ Ｐゴシック"/>
                <a:cs typeface="ＭＳ Ｐゴシック"/>
              </a:endParaRPr>
            </a:p>
          </p:txBody>
        </p:sp>
      </p:grpSp>
      <p:sp>
        <p:nvSpPr>
          <p:cNvPr id="146" name="Rectangle 145"/>
          <p:cNvSpPr/>
          <p:nvPr/>
        </p:nvSpPr>
        <p:spPr bwMode="auto">
          <a:xfrm>
            <a:off x="496458" y="3531578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147" name="Rectangle 146"/>
          <p:cNvSpPr/>
          <p:nvPr/>
        </p:nvSpPr>
        <p:spPr bwMode="auto">
          <a:xfrm>
            <a:off x="570873" y="357851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148" name="Rectangle 147"/>
          <p:cNvSpPr/>
          <p:nvPr/>
        </p:nvSpPr>
        <p:spPr bwMode="auto">
          <a:xfrm>
            <a:off x="496458" y="4177298"/>
            <a:ext cx="493844" cy="649438"/>
          </a:xfrm>
          <a:prstGeom prst="rect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sp>
        <p:nvSpPr>
          <p:cNvPr id="149" name="Rectangle 148"/>
          <p:cNvSpPr/>
          <p:nvPr/>
        </p:nvSpPr>
        <p:spPr bwMode="auto">
          <a:xfrm>
            <a:off x="570873" y="4224237"/>
            <a:ext cx="347696" cy="55726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Tahoma" pitchFamily="34" charset="0"/>
              <a:ea typeface="ＭＳ Ｐゴシック" pitchFamily="-111" charset="-128"/>
              <a:cs typeface="ＭＳ Ｐゴシック"/>
            </a:endParaRPr>
          </a:p>
        </p:txBody>
      </p:sp>
      <p:cxnSp>
        <p:nvCxnSpPr>
          <p:cNvPr id="81" name="Straight Connector 80"/>
          <p:cNvCxnSpPr/>
          <p:nvPr/>
        </p:nvCxnSpPr>
        <p:spPr bwMode="auto">
          <a:xfrm rot="5400000">
            <a:off x="-1411693" y="2854301"/>
            <a:ext cx="3854402" cy="1588"/>
          </a:xfrm>
          <a:prstGeom prst="line">
            <a:avLst/>
          </a:prstGeom>
          <a:noFill/>
          <a:ln w="34925" cap="flat" cmpd="sng" algn="ctr">
            <a:solidFill>
              <a:srgbClr val="FFFFF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2" name="Straight Connector 81"/>
          <p:cNvCxnSpPr/>
          <p:nvPr/>
        </p:nvCxnSpPr>
        <p:spPr bwMode="auto">
          <a:xfrm rot="5400000">
            <a:off x="-955370" y="2855095"/>
            <a:ext cx="3854402" cy="1588"/>
          </a:xfrm>
          <a:prstGeom prst="line">
            <a:avLst/>
          </a:prstGeom>
          <a:noFill/>
          <a:ln w="34925" cap="flat" cmpd="sng" algn="ctr">
            <a:solidFill>
              <a:srgbClr val="FFFFFF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4" name="Group 31"/>
          <p:cNvGrpSpPr/>
          <p:nvPr/>
        </p:nvGrpSpPr>
        <p:grpSpPr>
          <a:xfrm>
            <a:off x="915640" y="973187"/>
            <a:ext cx="3135659" cy="3397784"/>
            <a:chOff x="915640" y="973187"/>
            <a:chExt cx="3135659" cy="3397784"/>
          </a:xfrm>
        </p:grpSpPr>
        <p:pic>
          <p:nvPicPr>
            <p:cNvPr id="74" name="Picture 73" descr="src1.png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4766" y="1087539"/>
              <a:ext cx="1879600" cy="1409700"/>
            </a:xfrm>
            <a:prstGeom prst="rect">
              <a:avLst/>
            </a:prstGeom>
          </p:spPr>
        </p:pic>
        <p:pic>
          <p:nvPicPr>
            <p:cNvPr id="76" name="Picture 75" descr="src2.png"/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54766" y="2948569"/>
              <a:ext cx="1896533" cy="1422400"/>
            </a:xfrm>
            <a:prstGeom prst="rect">
              <a:avLst/>
            </a:prstGeom>
          </p:spPr>
        </p:pic>
        <p:cxnSp>
          <p:nvCxnSpPr>
            <p:cNvPr id="115" name="Straight Connector 114"/>
            <p:cNvCxnSpPr/>
            <p:nvPr/>
          </p:nvCxnSpPr>
          <p:spPr bwMode="auto">
            <a:xfrm flipV="1">
              <a:off x="918569" y="2948575"/>
              <a:ext cx="1236200" cy="620658"/>
            </a:xfrm>
            <a:prstGeom prst="line">
              <a:avLst/>
            </a:prstGeom>
            <a:noFill/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8" name="Straight Connector 117"/>
            <p:cNvCxnSpPr/>
            <p:nvPr/>
          </p:nvCxnSpPr>
          <p:spPr bwMode="auto">
            <a:xfrm>
              <a:off x="915640" y="4135782"/>
              <a:ext cx="1239127" cy="235189"/>
            </a:xfrm>
            <a:prstGeom prst="line">
              <a:avLst/>
            </a:prstGeom>
            <a:noFill/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2" name="Straight Connector 111"/>
            <p:cNvCxnSpPr/>
            <p:nvPr/>
          </p:nvCxnSpPr>
          <p:spPr bwMode="auto">
            <a:xfrm>
              <a:off x="918569" y="1530452"/>
              <a:ext cx="1236197" cy="966787"/>
            </a:xfrm>
            <a:prstGeom prst="line">
              <a:avLst/>
            </a:prstGeom>
            <a:noFill/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0" name="Straight Connector 109"/>
            <p:cNvCxnSpPr/>
            <p:nvPr/>
          </p:nvCxnSpPr>
          <p:spPr bwMode="auto">
            <a:xfrm>
              <a:off x="918569" y="973187"/>
              <a:ext cx="1236199" cy="114353"/>
            </a:xfrm>
            <a:prstGeom prst="line">
              <a:avLst/>
            </a:prstGeom>
            <a:noFill/>
            <a:ln w="38100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1" name="Rectangle 30"/>
          <p:cNvSpPr/>
          <p:nvPr/>
        </p:nvSpPr>
        <p:spPr>
          <a:xfrm>
            <a:off x="918569" y="5594764"/>
            <a:ext cx="7038627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1740 Frames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Model</a:t>
            </a:r>
            <a:r>
              <a:rPr lang="en-US" sz="2400" b="1" dirty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: </a:t>
            </a:r>
            <a:r>
              <a:rPr lang="en-US" sz="2400" dirty="0" smtClean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10.5 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million nodes, </a:t>
            </a:r>
            <a:r>
              <a:rPr lang="en-US" sz="2400" dirty="0" smtClean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31 </a:t>
            </a:r>
            <a:r>
              <a:rPr lang="en-US" sz="2400" dirty="0">
                <a:solidFill>
                  <a:srgbClr val="FF0000"/>
                </a:solidFill>
                <a:latin typeface="Tahoma" pitchFamily="34" charset="0"/>
                <a:ea typeface="ＭＳ Ｐゴシック"/>
                <a:cs typeface="ＭＳ Ｐゴシック"/>
              </a:rPr>
              <a:t>million edges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b="1" dirty="0" smtClean="0">
              <a:solidFill>
                <a:srgbClr val="000000"/>
              </a:solidFill>
              <a:latin typeface="Tahoma" pitchFamily="34" charset="0"/>
              <a:ea typeface="ＭＳ Ｐゴシック"/>
              <a:cs typeface="ＭＳ Ｐゴシック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71037" y="5012334"/>
            <a:ext cx="70386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solidFill>
                  <a:srgbClr val="000000"/>
                </a:solidFill>
                <a:latin typeface="Tahoma" pitchFamily="34" charset="0"/>
                <a:ea typeface="ＭＳ Ｐゴシック"/>
                <a:cs typeface="ＭＳ Ｐゴシック"/>
              </a:rPr>
              <a:t>Probabilistic Inference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207073" y="5467072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  <a:latin typeface="Tahoma" pitchFamily="34" charset="0"/>
              <a:ea typeface="ＭＳ Ｐゴシック"/>
              <a:cs typeface="ＭＳ Ｐ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1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6444" y="1165683"/>
            <a:ext cx="6948977" cy="54067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2070175" y="1269839"/>
            <a:ext cx="6245319" cy="45922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</a:t>
            </a:r>
            <a:r>
              <a:rPr lang="en-US" dirty="0" err="1" smtClean="0"/>
              <a:t>Coseg</a:t>
            </a:r>
            <a:r>
              <a:rPr lang="en-US" dirty="0" smtClean="0"/>
              <a:t>. Speedups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64</a:t>
            </a:fld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2000590" y="3131110"/>
            <a:ext cx="5914787" cy="2817998"/>
            <a:chOff x="2000590" y="3131110"/>
            <a:chExt cx="5914787" cy="2817998"/>
          </a:xfrm>
        </p:grpSpPr>
        <p:sp>
          <p:nvSpPr>
            <p:cNvPr id="9" name="Freeform 8"/>
            <p:cNvSpPr/>
            <p:nvPr/>
          </p:nvSpPr>
          <p:spPr>
            <a:xfrm>
              <a:off x="2000590" y="3131110"/>
              <a:ext cx="5914787" cy="2817998"/>
            </a:xfrm>
            <a:custGeom>
              <a:avLst/>
              <a:gdLst>
                <a:gd name="connsiteX0" fmla="*/ 0 w 5949580"/>
                <a:gd name="connsiteY0" fmla="*/ 2748418 h 2748418"/>
                <a:gd name="connsiteX1" fmla="*/ 452307 w 5949580"/>
                <a:gd name="connsiteY1" fmla="*/ 2417912 h 2748418"/>
                <a:gd name="connsiteX2" fmla="*/ 1304732 w 5949580"/>
                <a:gd name="connsiteY2" fmla="*/ 1948246 h 2748418"/>
                <a:gd name="connsiteX3" fmla="*/ 2122365 w 5949580"/>
                <a:gd name="connsiteY3" fmla="*/ 1374209 h 2748418"/>
                <a:gd name="connsiteX4" fmla="*/ 2853015 w 5949580"/>
                <a:gd name="connsiteY4" fmla="*/ 956728 h 2748418"/>
                <a:gd name="connsiteX5" fmla="*/ 4436090 w 5949580"/>
                <a:gd name="connsiteY5" fmla="*/ 469666 h 2748418"/>
                <a:gd name="connsiteX6" fmla="*/ 5949580 w 5949580"/>
                <a:gd name="connsiteY6" fmla="*/ 0 h 2748418"/>
                <a:gd name="connsiteX0" fmla="*/ 0 w 5914787"/>
                <a:gd name="connsiteY0" fmla="*/ 2817998 h 2817998"/>
                <a:gd name="connsiteX1" fmla="*/ 417514 w 5914787"/>
                <a:gd name="connsiteY1" fmla="*/ 2417912 h 2817998"/>
                <a:gd name="connsiteX2" fmla="*/ 1269939 w 5914787"/>
                <a:gd name="connsiteY2" fmla="*/ 1948246 h 2817998"/>
                <a:gd name="connsiteX3" fmla="*/ 2087572 w 5914787"/>
                <a:gd name="connsiteY3" fmla="*/ 1374209 h 2817998"/>
                <a:gd name="connsiteX4" fmla="*/ 2818222 w 5914787"/>
                <a:gd name="connsiteY4" fmla="*/ 956728 h 2817998"/>
                <a:gd name="connsiteX5" fmla="*/ 4401297 w 5914787"/>
                <a:gd name="connsiteY5" fmla="*/ 469666 h 2817998"/>
                <a:gd name="connsiteX6" fmla="*/ 5914787 w 5914787"/>
                <a:gd name="connsiteY6" fmla="*/ 0 h 2817998"/>
                <a:gd name="connsiteX0" fmla="*/ 0 w 5914787"/>
                <a:gd name="connsiteY0" fmla="*/ 2817998 h 2817998"/>
                <a:gd name="connsiteX1" fmla="*/ 434911 w 5914787"/>
                <a:gd name="connsiteY1" fmla="*/ 2470097 h 2817998"/>
                <a:gd name="connsiteX2" fmla="*/ 1269939 w 5914787"/>
                <a:gd name="connsiteY2" fmla="*/ 1948246 h 2817998"/>
                <a:gd name="connsiteX3" fmla="*/ 2087572 w 5914787"/>
                <a:gd name="connsiteY3" fmla="*/ 1374209 h 2817998"/>
                <a:gd name="connsiteX4" fmla="*/ 2818222 w 5914787"/>
                <a:gd name="connsiteY4" fmla="*/ 956728 h 2817998"/>
                <a:gd name="connsiteX5" fmla="*/ 4401297 w 5914787"/>
                <a:gd name="connsiteY5" fmla="*/ 469666 h 2817998"/>
                <a:gd name="connsiteX6" fmla="*/ 5914787 w 5914787"/>
                <a:gd name="connsiteY6" fmla="*/ 0 h 281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14787" h="2817998">
                  <a:moveTo>
                    <a:pt x="0" y="2817998"/>
                  </a:moveTo>
                  <a:cubicBezTo>
                    <a:pt x="117426" y="2719426"/>
                    <a:pt x="223255" y="2615056"/>
                    <a:pt x="434911" y="2470097"/>
                  </a:cubicBezTo>
                  <a:cubicBezTo>
                    <a:pt x="646567" y="2325138"/>
                    <a:pt x="994496" y="2130894"/>
                    <a:pt x="1269939" y="1948246"/>
                  </a:cubicBezTo>
                  <a:cubicBezTo>
                    <a:pt x="1545382" y="1765598"/>
                    <a:pt x="1829525" y="1539462"/>
                    <a:pt x="2087572" y="1374209"/>
                  </a:cubicBezTo>
                  <a:cubicBezTo>
                    <a:pt x="2345619" y="1208956"/>
                    <a:pt x="2432601" y="1107485"/>
                    <a:pt x="2818222" y="956728"/>
                  </a:cubicBezTo>
                  <a:cubicBezTo>
                    <a:pt x="3203843" y="805971"/>
                    <a:pt x="4401297" y="469666"/>
                    <a:pt x="4401297" y="469666"/>
                  </a:cubicBezTo>
                  <a:lnTo>
                    <a:pt x="5914787" y="0"/>
                  </a:lnTo>
                </a:path>
              </a:pathLst>
            </a:custGeom>
            <a:ln w="76200" cmpd="sng">
              <a:solidFill>
                <a:srgbClr val="0000FF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V="1">
              <a:off x="5793012" y="3652962"/>
              <a:ext cx="574082" cy="1039548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Rectangle 15"/>
            <p:cNvSpPr/>
            <p:nvPr/>
          </p:nvSpPr>
          <p:spPr>
            <a:xfrm>
              <a:off x="5024472" y="4692510"/>
              <a:ext cx="1495022" cy="5414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 err="1" smtClean="0"/>
                <a:t>GraphLab</a:t>
              </a:r>
              <a:endParaRPr lang="en-US" sz="28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052779" y="1322024"/>
            <a:ext cx="5862598" cy="4592294"/>
            <a:chOff x="2052779" y="1322024"/>
            <a:chExt cx="5862598" cy="4592294"/>
          </a:xfrm>
        </p:grpSpPr>
        <p:cxnSp>
          <p:nvCxnSpPr>
            <p:cNvPr id="7" name="Straight Connector 6"/>
            <p:cNvCxnSpPr/>
            <p:nvPr/>
          </p:nvCxnSpPr>
          <p:spPr bwMode="auto">
            <a:xfrm flipV="1">
              <a:off x="2052779" y="1322024"/>
              <a:ext cx="5862598" cy="4592294"/>
            </a:xfrm>
            <a:prstGeom prst="line">
              <a:avLst/>
            </a:prstGeom>
            <a:noFill/>
            <a:ln w="762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Arrow Connector 10"/>
            <p:cNvCxnSpPr>
              <a:stCxn id="12" idx="3"/>
            </p:cNvCxnSpPr>
            <p:nvPr/>
          </p:nvCxnSpPr>
          <p:spPr>
            <a:xfrm>
              <a:off x="5426616" y="2114607"/>
              <a:ext cx="940478" cy="270730"/>
            </a:xfrm>
            <a:prstGeom prst="straightConnector1">
              <a:avLst/>
            </a:prstGeom>
            <a:ln w="38100" cmpd="sng">
              <a:tailEnd type="arrow"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3931594" y="1843877"/>
              <a:ext cx="1495022" cy="54146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2800" dirty="0" smtClean="0"/>
                <a:t>Ideal</a:t>
              </a:r>
              <a:endParaRPr lang="en-US" sz="28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557962" y="6286194"/>
            <a:ext cx="227315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# machines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79172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GraphLab</a:t>
            </a:r>
            <a:r>
              <a:rPr lang="en-US" dirty="0" smtClean="0"/>
              <a:t> Framework</a:t>
            </a:r>
            <a:endParaRPr lang="en-US" dirty="0"/>
          </a:p>
        </p:txBody>
      </p:sp>
      <p:grpSp>
        <p:nvGrpSpPr>
          <p:cNvPr id="8" name="Group 269"/>
          <p:cNvGrpSpPr/>
          <p:nvPr/>
        </p:nvGrpSpPr>
        <p:grpSpPr>
          <a:xfrm>
            <a:off x="2722450" y="4495800"/>
            <a:ext cx="3851499" cy="1869662"/>
            <a:chOff x="4495800" y="4267200"/>
            <a:chExt cx="3851499" cy="1869662"/>
          </a:xfrm>
        </p:grpSpPr>
        <p:sp>
          <p:nvSpPr>
            <p:cNvPr id="17" name="TextBox 16"/>
            <p:cNvSpPr txBox="1"/>
            <p:nvPr/>
          </p:nvSpPr>
          <p:spPr>
            <a:xfrm>
              <a:off x="4953000" y="4267200"/>
              <a:ext cx="2942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Consistency Model</a:t>
              </a:r>
              <a:endParaRPr lang="en-US" sz="2800" dirty="0"/>
            </a:p>
          </p:txBody>
        </p:sp>
        <p:grpSp>
          <p:nvGrpSpPr>
            <p:cNvPr id="9" name="Group 123"/>
            <p:cNvGrpSpPr/>
            <p:nvPr/>
          </p:nvGrpSpPr>
          <p:grpSpPr>
            <a:xfrm>
              <a:off x="4495800" y="4876800"/>
              <a:ext cx="3851499" cy="1260062"/>
              <a:chOff x="2905452" y="3733800"/>
              <a:chExt cx="8384848" cy="2743200"/>
            </a:xfrm>
          </p:grpSpPr>
          <p:sp>
            <p:nvSpPr>
              <p:cNvPr id="90" name="Oval 89"/>
              <p:cNvSpPr/>
              <p:nvPr/>
            </p:nvSpPr>
            <p:spPr>
              <a:xfrm>
                <a:off x="4584700" y="3733800"/>
                <a:ext cx="5029200" cy="27432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5727700" y="4114800"/>
                <a:ext cx="2895600" cy="2133600"/>
              </a:xfrm>
              <a:prstGeom prst="ellipse">
                <a:avLst/>
              </a:prstGeom>
              <a:ln>
                <a:prstDash val="dash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/>
              <p:cNvSpPr/>
              <p:nvPr/>
            </p:nvSpPr>
            <p:spPr>
              <a:xfrm>
                <a:off x="6594475" y="4457700"/>
                <a:ext cx="1143000" cy="1600200"/>
              </a:xfrm>
              <a:prstGeom prst="ellipse">
                <a:avLst/>
              </a:prstGeom>
              <a:ln>
                <a:prstDash val="sysDot"/>
                <a:tailEnd type="none"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6823075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868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Oval 6"/>
              <p:cNvSpPr/>
              <p:nvPr/>
            </p:nvSpPr>
            <p:spPr>
              <a:xfrm>
                <a:off x="4877127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3" name="Curved Connector 102"/>
              <p:cNvCxnSpPr>
                <a:stCxn id="98" idx="2"/>
                <a:endCxn id="100" idx="6"/>
              </p:cNvCxnSpPr>
              <p:nvPr/>
            </p:nvCxnSpPr>
            <p:spPr>
              <a:xfrm rot="10800000">
                <a:off x="5639129" y="5295904"/>
                <a:ext cx="1183948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04" name="Cube 103"/>
              <p:cNvSpPr/>
              <p:nvPr/>
            </p:nvSpPr>
            <p:spPr>
              <a:xfrm>
                <a:off x="6116818" y="5096450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7" name="Cube 106"/>
              <p:cNvSpPr/>
              <p:nvPr/>
            </p:nvSpPr>
            <p:spPr>
              <a:xfrm>
                <a:off x="889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8" name="Cube 107"/>
              <p:cNvSpPr/>
              <p:nvPr/>
            </p:nvSpPr>
            <p:spPr>
              <a:xfrm>
                <a:off x="70361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09" name="Cube 108"/>
              <p:cNvSpPr/>
              <p:nvPr/>
            </p:nvSpPr>
            <p:spPr>
              <a:xfrm>
                <a:off x="5080327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0" name="Curved Connector 109"/>
              <p:cNvCxnSpPr>
                <a:stCxn id="99" idx="2"/>
                <a:endCxn id="98" idx="6"/>
              </p:cNvCxnSpPr>
              <p:nvPr/>
            </p:nvCxnSpPr>
            <p:spPr>
              <a:xfrm rot="10800000" flipV="1">
                <a:off x="7585074" y="5295899"/>
                <a:ext cx="1102054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1" name="Cube 110"/>
              <p:cNvSpPr/>
              <p:nvPr/>
            </p:nvSpPr>
            <p:spPr>
              <a:xfrm>
                <a:off x="7937827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10528300" y="4914900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5" name="Cube 114"/>
              <p:cNvSpPr/>
              <p:nvPr/>
            </p:nvSpPr>
            <p:spPr>
              <a:xfrm>
                <a:off x="10731500" y="5105400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cxnSp>
            <p:nvCxnSpPr>
              <p:cNvPr id="116" name="Curved Connector 115"/>
              <p:cNvCxnSpPr>
                <a:stCxn id="112" idx="2"/>
                <a:endCxn id="99" idx="6"/>
              </p:cNvCxnSpPr>
              <p:nvPr/>
            </p:nvCxnSpPr>
            <p:spPr>
              <a:xfrm rot="10800000">
                <a:off x="9449127" y="5295902"/>
                <a:ext cx="1079174" cy="3457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17" name="Cube 116"/>
              <p:cNvSpPr/>
              <p:nvPr/>
            </p:nvSpPr>
            <p:spPr>
              <a:xfrm>
                <a:off x="9779000" y="5114925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2905452" y="4924425"/>
                <a:ext cx="762000" cy="762000"/>
              </a:xfrm>
              <a:prstGeom prst="ellipse">
                <a:avLst/>
              </a:prstGeom>
              <a:ln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2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20" name="Curved Connector 119"/>
              <p:cNvCxnSpPr>
                <a:stCxn id="100" idx="2"/>
                <a:endCxn id="118" idx="6"/>
              </p:cNvCxnSpPr>
              <p:nvPr/>
            </p:nvCxnSpPr>
            <p:spPr>
              <a:xfrm rot="10800000" flipV="1">
                <a:off x="3667453" y="5295899"/>
                <a:ext cx="1209676" cy="9525"/>
              </a:xfrm>
              <a:prstGeom prst="curvedConnector3">
                <a:avLst>
                  <a:gd name="adj1" fmla="val 50000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21" name="Cube 120"/>
              <p:cNvSpPr/>
              <p:nvPr/>
            </p:nvSpPr>
            <p:spPr>
              <a:xfrm>
                <a:off x="4061153" y="5105398"/>
                <a:ext cx="371147" cy="381001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  <p:sp>
            <p:nvSpPr>
              <p:cNvPr id="123" name="Cube 122"/>
              <p:cNvSpPr/>
              <p:nvPr/>
            </p:nvSpPr>
            <p:spPr>
              <a:xfrm>
                <a:off x="3108652" y="5114925"/>
                <a:ext cx="371148" cy="381000"/>
              </a:xfrm>
              <a:prstGeom prst="cube">
                <a:avLst/>
              </a:prstGeom>
              <a:ln>
                <a:tailEnd type="none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 dirty="0"/>
              </a:p>
            </p:txBody>
          </p:sp>
        </p:grpSp>
      </p:grpSp>
      <p:grpSp>
        <p:nvGrpSpPr>
          <p:cNvPr id="10" name="Group 4"/>
          <p:cNvGrpSpPr/>
          <p:nvPr/>
        </p:nvGrpSpPr>
        <p:grpSpPr>
          <a:xfrm>
            <a:off x="609600" y="1219200"/>
            <a:ext cx="3581400" cy="2835405"/>
            <a:chOff x="381000" y="1219200"/>
            <a:chExt cx="3581400" cy="2835405"/>
          </a:xfrm>
        </p:grpSpPr>
        <p:sp>
          <p:nvSpPr>
            <p:cNvPr id="7" name="TextBox 6"/>
            <p:cNvSpPr txBox="1"/>
            <p:nvPr/>
          </p:nvSpPr>
          <p:spPr>
            <a:xfrm>
              <a:off x="381000" y="1219200"/>
              <a:ext cx="35814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Graph Based</a:t>
              </a:r>
            </a:p>
            <a:p>
              <a:pPr algn="ctr"/>
              <a:r>
                <a:rPr lang="en-US" sz="2800" i="1" dirty="0" smtClean="0"/>
                <a:t>Data Representation</a:t>
              </a:r>
              <a:endParaRPr lang="en-US" sz="2800" i="1" dirty="0"/>
            </a:p>
          </p:txBody>
        </p:sp>
        <p:grpSp>
          <p:nvGrpSpPr>
            <p:cNvPr id="11" name="Group 206"/>
            <p:cNvGrpSpPr/>
            <p:nvPr/>
          </p:nvGrpSpPr>
          <p:grpSpPr>
            <a:xfrm>
              <a:off x="1143000" y="2362200"/>
              <a:ext cx="2172054" cy="1692405"/>
              <a:chOff x="457200" y="2895600"/>
              <a:chExt cx="4122177" cy="3211886"/>
            </a:xfrm>
          </p:grpSpPr>
          <p:cxnSp>
            <p:nvCxnSpPr>
              <p:cNvPr id="210" name="Straight Arrow Connector 209"/>
              <p:cNvCxnSpPr>
                <a:stCxn id="216" idx="6"/>
                <a:endCxn id="217" idx="2"/>
              </p:cNvCxnSpPr>
              <p:nvPr/>
            </p:nvCxnSpPr>
            <p:spPr bwMode="auto">
              <a:xfrm>
                <a:off x="857063" y="30918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/>
              <p:cNvCxnSpPr>
                <a:stCxn id="217" idx="6"/>
                <a:endCxn id="218" idx="2"/>
              </p:cNvCxnSpPr>
              <p:nvPr/>
            </p:nvCxnSpPr>
            <p:spPr bwMode="auto">
              <a:xfrm>
                <a:off x="2343164" y="30918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/>
              <p:cNvCxnSpPr>
                <a:stCxn id="222" idx="7"/>
                <a:endCxn id="217" idx="3"/>
              </p:cNvCxnSpPr>
              <p:nvPr/>
            </p:nvCxnSpPr>
            <p:spPr bwMode="auto">
              <a:xfrm rot="5400000" flipH="1" flipV="1">
                <a:off x="1216463" y="3563843"/>
                <a:ext cx="1124928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/>
              <p:cNvCxnSpPr>
                <a:stCxn id="224" idx="1"/>
                <a:endCxn id="218" idx="5"/>
              </p:cNvCxnSpPr>
              <p:nvPr/>
            </p:nvCxnSpPr>
            <p:spPr bwMode="auto">
              <a:xfrm rot="16200000" flipV="1">
                <a:off x="34456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4" name="Straight Arrow Connector 213"/>
              <p:cNvCxnSpPr>
                <a:stCxn id="223" idx="7"/>
                <a:endCxn id="218" idx="3"/>
              </p:cNvCxnSpPr>
              <p:nvPr/>
            </p:nvCxnSpPr>
            <p:spPr bwMode="auto">
              <a:xfrm rot="5400000" flipH="1" flipV="1">
                <a:off x="2702563" y="3563844"/>
                <a:ext cx="1124928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15" name="Straight Arrow Connector 214"/>
              <p:cNvCxnSpPr>
                <a:stCxn id="223" idx="1"/>
                <a:endCxn id="217" idx="5"/>
              </p:cNvCxnSpPr>
              <p:nvPr/>
            </p:nvCxnSpPr>
            <p:spPr bwMode="auto">
              <a:xfrm rot="16200000" flipV="1">
                <a:off x="1959514" y="3556780"/>
                <a:ext cx="1124928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216" name="Oval 4"/>
              <p:cNvSpPr/>
              <p:nvPr/>
            </p:nvSpPr>
            <p:spPr bwMode="auto">
              <a:xfrm>
                <a:off x="464577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7" name="Oval 216"/>
              <p:cNvSpPr/>
              <p:nvPr/>
            </p:nvSpPr>
            <p:spPr bwMode="auto">
              <a:xfrm>
                <a:off x="19506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8" name="Oval 217"/>
              <p:cNvSpPr/>
              <p:nvPr/>
            </p:nvSpPr>
            <p:spPr bwMode="auto">
              <a:xfrm>
                <a:off x="3436778" y="28956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19" name="Oval 4"/>
              <p:cNvSpPr/>
              <p:nvPr/>
            </p:nvSpPr>
            <p:spPr bwMode="auto">
              <a:xfrm>
                <a:off x="464577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0" name="Oval 219"/>
              <p:cNvSpPr/>
              <p:nvPr/>
            </p:nvSpPr>
            <p:spPr bwMode="auto">
              <a:xfrm>
                <a:off x="19506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1" name="Oval 220"/>
              <p:cNvSpPr/>
              <p:nvPr/>
            </p:nvSpPr>
            <p:spPr bwMode="auto">
              <a:xfrm>
                <a:off x="3436778" y="571500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2" name="Oval 4"/>
              <p:cNvSpPr/>
              <p:nvPr/>
            </p:nvSpPr>
            <p:spPr bwMode="auto">
              <a:xfrm>
                <a:off x="1214690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3" name="Oval 222"/>
              <p:cNvSpPr/>
              <p:nvPr/>
            </p:nvSpPr>
            <p:spPr bwMode="auto">
              <a:xfrm>
                <a:off x="27007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224" name="Oval 223"/>
              <p:cNvSpPr/>
              <p:nvPr/>
            </p:nvSpPr>
            <p:spPr bwMode="auto">
              <a:xfrm>
                <a:off x="4186891" y="4298058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225" name="Straight Arrow Connector 224"/>
              <p:cNvCxnSpPr>
                <a:stCxn id="219" idx="6"/>
                <a:endCxn id="220" idx="2"/>
              </p:cNvCxnSpPr>
              <p:nvPr/>
            </p:nvCxnSpPr>
            <p:spPr bwMode="auto">
              <a:xfrm>
                <a:off x="857063" y="5911243"/>
                <a:ext cx="1093615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6" name="Straight Arrow Connector 225"/>
              <p:cNvCxnSpPr>
                <a:stCxn id="220" idx="6"/>
                <a:endCxn id="221" idx="2"/>
              </p:cNvCxnSpPr>
              <p:nvPr/>
            </p:nvCxnSpPr>
            <p:spPr bwMode="auto">
              <a:xfrm>
                <a:off x="2343164" y="5911243"/>
                <a:ext cx="1093614" cy="158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7" name="Straight Arrow Connector 226"/>
              <p:cNvCxnSpPr>
                <a:stCxn id="220" idx="1"/>
                <a:endCxn id="222" idx="5"/>
              </p:cNvCxnSpPr>
              <p:nvPr/>
            </p:nvCxnSpPr>
            <p:spPr bwMode="auto">
              <a:xfrm rot="16200000" flipV="1">
                <a:off x="1209221" y="4973543"/>
                <a:ext cx="1139412" cy="45845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8" name="Straight Arrow Connector 227"/>
              <p:cNvCxnSpPr>
                <a:stCxn id="221" idx="7"/>
                <a:endCxn id="224" idx="3"/>
              </p:cNvCxnSpPr>
              <p:nvPr/>
            </p:nvCxnSpPr>
            <p:spPr bwMode="auto">
              <a:xfrm rot="5400000" flipH="1" flipV="1">
                <a:off x="34383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29" name="Straight Arrow Connector 228"/>
              <p:cNvCxnSpPr>
                <a:stCxn id="221" idx="1"/>
                <a:endCxn id="223" idx="5"/>
              </p:cNvCxnSpPr>
              <p:nvPr/>
            </p:nvCxnSpPr>
            <p:spPr bwMode="auto">
              <a:xfrm rot="16200000" flipV="1">
                <a:off x="2695322" y="4973543"/>
                <a:ext cx="1139412" cy="45845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0" name="Straight Arrow Connector 229"/>
              <p:cNvCxnSpPr>
                <a:stCxn id="220" idx="7"/>
                <a:endCxn id="223" idx="3"/>
              </p:cNvCxnSpPr>
              <p:nvPr/>
            </p:nvCxnSpPr>
            <p:spPr bwMode="auto">
              <a:xfrm rot="5400000" flipH="1" flipV="1">
                <a:off x="1952271" y="4966481"/>
                <a:ext cx="1139412" cy="47258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grpSp>
            <p:nvGrpSpPr>
              <p:cNvPr id="12" name="Group 182"/>
              <p:cNvGrpSpPr/>
              <p:nvPr/>
            </p:nvGrpSpPr>
            <p:grpSpPr>
              <a:xfrm>
                <a:off x="457200" y="2971800"/>
                <a:ext cx="4073636" cy="3124200"/>
                <a:chOff x="602223" y="2884114"/>
                <a:chExt cx="4073636" cy="3124200"/>
              </a:xfrm>
            </p:grpSpPr>
            <p:sp>
              <p:nvSpPr>
                <p:cNvPr id="245" name="Cube 244"/>
                <p:cNvSpPr/>
                <p:nvPr/>
              </p:nvSpPr>
              <p:spPr bwMode="auto">
                <a:xfrm>
                  <a:off x="658141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6" name="Cube 245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7" name="Cube 246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8" name="Cube 247"/>
                <p:cNvSpPr/>
                <p:nvPr/>
              </p:nvSpPr>
              <p:spPr bwMode="auto">
                <a:xfrm>
                  <a:off x="13716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9" name="Cube 248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0" name="Cube 249"/>
                <p:cNvSpPr/>
                <p:nvPr/>
              </p:nvSpPr>
              <p:spPr bwMode="auto">
                <a:xfrm>
                  <a:off x="3629941" y="56942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1" name="Cube 250"/>
                <p:cNvSpPr/>
                <p:nvPr/>
              </p:nvSpPr>
              <p:spPr bwMode="auto">
                <a:xfrm>
                  <a:off x="2140917" y="565610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2" name="Cube 251"/>
                <p:cNvSpPr/>
                <p:nvPr/>
              </p:nvSpPr>
              <p:spPr bwMode="auto">
                <a:xfrm>
                  <a:off x="602223" y="57035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53" name="Cube 252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3" name="Group 192"/>
              <p:cNvGrpSpPr/>
              <p:nvPr/>
            </p:nvGrpSpPr>
            <p:grpSpPr>
              <a:xfrm>
                <a:off x="1214690" y="2935878"/>
                <a:ext cx="3029680" cy="3147054"/>
                <a:chOff x="1359713" y="2848192"/>
                <a:chExt cx="3029680" cy="3147054"/>
              </a:xfrm>
            </p:grpSpPr>
            <p:sp>
              <p:nvSpPr>
                <p:cNvPr id="233" name="Cube 232"/>
                <p:cNvSpPr/>
                <p:nvPr/>
              </p:nvSpPr>
              <p:spPr bwMode="auto">
                <a:xfrm>
                  <a:off x="1359713" y="2864458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4" name="Cube 233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5" name="Cube 234"/>
                <p:cNvSpPr/>
                <p:nvPr/>
              </p:nvSpPr>
              <p:spPr bwMode="auto">
                <a:xfrm>
                  <a:off x="1750686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6" name="Cube 235"/>
                <p:cNvSpPr/>
                <p:nvPr/>
              </p:nvSpPr>
              <p:spPr bwMode="auto">
                <a:xfrm>
                  <a:off x="2547982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7" name="Cube 236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8" name="Cube 237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39" name="Cube 238"/>
                <p:cNvSpPr/>
                <p:nvPr/>
              </p:nvSpPr>
              <p:spPr bwMode="auto">
                <a:xfrm>
                  <a:off x="1737986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0" name="Cube 239"/>
                <p:cNvSpPr/>
                <p:nvPr/>
              </p:nvSpPr>
              <p:spPr bwMode="auto">
                <a:xfrm>
                  <a:off x="2535282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1" name="Cube 240"/>
                <p:cNvSpPr/>
                <p:nvPr/>
              </p:nvSpPr>
              <p:spPr bwMode="auto">
                <a:xfrm>
                  <a:off x="3270001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2" name="Cube 241"/>
                <p:cNvSpPr/>
                <p:nvPr/>
              </p:nvSpPr>
              <p:spPr bwMode="auto">
                <a:xfrm>
                  <a:off x="4044234" y="4943581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3" name="Cube 242"/>
                <p:cNvSpPr/>
                <p:nvPr/>
              </p:nvSpPr>
              <p:spPr bwMode="auto">
                <a:xfrm>
                  <a:off x="1359713" y="5690446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244" name="Cube 243"/>
                <p:cNvSpPr/>
                <p:nvPr/>
              </p:nvSpPr>
              <p:spPr bwMode="auto">
                <a:xfrm>
                  <a:off x="2875826" y="5674180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</p:grpSp>
      <p:grpSp>
        <p:nvGrpSpPr>
          <p:cNvPr id="6" name="Group 5"/>
          <p:cNvGrpSpPr/>
          <p:nvPr/>
        </p:nvGrpSpPr>
        <p:grpSpPr>
          <a:xfrm>
            <a:off x="5029200" y="1219200"/>
            <a:ext cx="3048000" cy="2826717"/>
            <a:chOff x="5029200" y="1219200"/>
            <a:chExt cx="3048000" cy="2826717"/>
          </a:xfrm>
        </p:grpSpPr>
        <p:grpSp>
          <p:nvGrpSpPr>
            <p:cNvPr id="5" name="Group 4"/>
            <p:cNvGrpSpPr/>
            <p:nvPr/>
          </p:nvGrpSpPr>
          <p:grpSpPr>
            <a:xfrm>
              <a:off x="5413269" y="2209800"/>
              <a:ext cx="2435331" cy="1836117"/>
              <a:chOff x="5413269" y="2209800"/>
              <a:chExt cx="2435331" cy="1836117"/>
            </a:xfrm>
          </p:grpSpPr>
          <p:sp>
            <p:nvSpPr>
              <p:cNvPr id="160" name="Freeform 159"/>
              <p:cNvSpPr/>
              <p:nvPr/>
            </p:nvSpPr>
            <p:spPr bwMode="auto">
              <a:xfrm>
                <a:off x="6102295" y="2209800"/>
                <a:ext cx="1746305" cy="1273742"/>
              </a:xfrm>
              <a:custGeom>
                <a:avLst/>
                <a:gdLst>
                  <a:gd name="connsiteX0" fmla="*/ 1930400 w 3149600"/>
                  <a:gd name="connsiteY0" fmla="*/ 159926 h 2455333"/>
                  <a:gd name="connsiteX1" fmla="*/ 237067 w 3149600"/>
                  <a:gd name="connsiteY1" fmla="*/ 193793 h 2455333"/>
                  <a:gd name="connsiteX2" fmla="*/ 508000 w 3149600"/>
                  <a:gd name="connsiteY2" fmla="*/ 1322682 h 2455333"/>
                  <a:gd name="connsiteX3" fmla="*/ 993423 w 3149600"/>
                  <a:gd name="connsiteY3" fmla="*/ 2304815 h 2455333"/>
                  <a:gd name="connsiteX4" fmla="*/ 1569156 w 3149600"/>
                  <a:gd name="connsiteY4" fmla="*/ 2225793 h 2455333"/>
                  <a:gd name="connsiteX5" fmla="*/ 1919111 w 3149600"/>
                  <a:gd name="connsiteY5" fmla="*/ 1175926 h 2455333"/>
                  <a:gd name="connsiteX6" fmla="*/ 2291645 w 3149600"/>
                  <a:gd name="connsiteY6" fmla="*/ 2135482 h 2455333"/>
                  <a:gd name="connsiteX7" fmla="*/ 2889956 w 3149600"/>
                  <a:gd name="connsiteY7" fmla="*/ 2304815 h 2455333"/>
                  <a:gd name="connsiteX8" fmla="*/ 3081867 w 3149600"/>
                  <a:gd name="connsiteY8" fmla="*/ 1841970 h 2455333"/>
                  <a:gd name="connsiteX9" fmla="*/ 2483556 w 3149600"/>
                  <a:gd name="connsiteY9" fmla="*/ 600193 h 2455333"/>
                  <a:gd name="connsiteX10" fmla="*/ 1930400 w 3149600"/>
                  <a:gd name="connsiteY10" fmla="*/ 159926 h 2455333"/>
                  <a:gd name="connsiteX0" fmla="*/ 1969911 w 3155244"/>
                  <a:gd name="connsiteY0" fmla="*/ 96426 h 2468033"/>
                  <a:gd name="connsiteX1" fmla="*/ 242711 w 3155244"/>
                  <a:gd name="connsiteY1" fmla="*/ 206493 h 2468033"/>
                  <a:gd name="connsiteX2" fmla="*/ 513644 w 3155244"/>
                  <a:gd name="connsiteY2" fmla="*/ 1335382 h 2468033"/>
                  <a:gd name="connsiteX3" fmla="*/ 999067 w 3155244"/>
                  <a:gd name="connsiteY3" fmla="*/ 2317515 h 2468033"/>
                  <a:gd name="connsiteX4" fmla="*/ 1574800 w 3155244"/>
                  <a:gd name="connsiteY4" fmla="*/ 2238493 h 2468033"/>
                  <a:gd name="connsiteX5" fmla="*/ 1924755 w 3155244"/>
                  <a:gd name="connsiteY5" fmla="*/ 1188626 h 2468033"/>
                  <a:gd name="connsiteX6" fmla="*/ 2297289 w 3155244"/>
                  <a:gd name="connsiteY6" fmla="*/ 2148182 h 2468033"/>
                  <a:gd name="connsiteX7" fmla="*/ 2895600 w 3155244"/>
                  <a:gd name="connsiteY7" fmla="*/ 2317515 h 2468033"/>
                  <a:gd name="connsiteX8" fmla="*/ 3087511 w 3155244"/>
                  <a:gd name="connsiteY8" fmla="*/ 1854670 h 2468033"/>
                  <a:gd name="connsiteX9" fmla="*/ 2489200 w 3155244"/>
                  <a:gd name="connsiteY9" fmla="*/ 612893 h 2468033"/>
                  <a:gd name="connsiteX10" fmla="*/ 1969911 w 3155244"/>
                  <a:gd name="connsiteY10" fmla="*/ 96426 h 2468033"/>
                  <a:gd name="connsiteX0" fmla="*/ 1969911 w 3165592"/>
                  <a:gd name="connsiteY0" fmla="*/ 96426 h 2468033"/>
                  <a:gd name="connsiteX1" fmla="*/ 242711 w 3165592"/>
                  <a:gd name="connsiteY1" fmla="*/ 206493 h 2468033"/>
                  <a:gd name="connsiteX2" fmla="*/ 513644 w 3165592"/>
                  <a:gd name="connsiteY2" fmla="*/ 1335382 h 2468033"/>
                  <a:gd name="connsiteX3" fmla="*/ 999067 w 3165592"/>
                  <a:gd name="connsiteY3" fmla="*/ 2317515 h 2468033"/>
                  <a:gd name="connsiteX4" fmla="*/ 1574800 w 3165592"/>
                  <a:gd name="connsiteY4" fmla="*/ 2238493 h 2468033"/>
                  <a:gd name="connsiteX5" fmla="*/ 1924755 w 3165592"/>
                  <a:gd name="connsiteY5" fmla="*/ 1188626 h 2468033"/>
                  <a:gd name="connsiteX6" fmla="*/ 2297289 w 3165592"/>
                  <a:gd name="connsiteY6" fmla="*/ 2148182 h 2468033"/>
                  <a:gd name="connsiteX7" fmla="*/ 2895600 w 3165592"/>
                  <a:gd name="connsiteY7" fmla="*/ 2317515 h 2468033"/>
                  <a:gd name="connsiteX8" fmla="*/ 3087511 w 3165592"/>
                  <a:gd name="connsiteY8" fmla="*/ 1854670 h 2468033"/>
                  <a:gd name="connsiteX9" fmla="*/ 2427111 w 3165592"/>
                  <a:gd name="connsiteY9" fmla="*/ 477426 h 2468033"/>
                  <a:gd name="connsiteX10" fmla="*/ 1969911 w 3165592"/>
                  <a:gd name="connsiteY10" fmla="*/ 96426 h 2468033"/>
                  <a:gd name="connsiteX0" fmla="*/ 1881011 w 3152892"/>
                  <a:gd name="connsiteY0" fmla="*/ 96426 h 2468033"/>
                  <a:gd name="connsiteX1" fmla="*/ 230011 w 3152892"/>
                  <a:gd name="connsiteY1" fmla="*/ 206493 h 2468033"/>
                  <a:gd name="connsiteX2" fmla="*/ 500944 w 3152892"/>
                  <a:gd name="connsiteY2" fmla="*/ 1335382 h 2468033"/>
                  <a:gd name="connsiteX3" fmla="*/ 986367 w 3152892"/>
                  <a:gd name="connsiteY3" fmla="*/ 2317515 h 2468033"/>
                  <a:gd name="connsiteX4" fmla="*/ 1562100 w 3152892"/>
                  <a:gd name="connsiteY4" fmla="*/ 2238493 h 2468033"/>
                  <a:gd name="connsiteX5" fmla="*/ 1912055 w 3152892"/>
                  <a:gd name="connsiteY5" fmla="*/ 1188626 h 2468033"/>
                  <a:gd name="connsiteX6" fmla="*/ 2284589 w 3152892"/>
                  <a:gd name="connsiteY6" fmla="*/ 2148182 h 2468033"/>
                  <a:gd name="connsiteX7" fmla="*/ 2882900 w 3152892"/>
                  <a:gd name="connsiteY7" fmla="*/ 2317515 h 2468033"/>
                  <a:gd name="connsiteX8" fmla="*/ 3074811 w 3152892"/>
                  <a:gd name="connsiteY8" fmla="*/ 1854670 h 2468033"/>
                  <a:gd name="connsiteX9" fmla="*/ 2414411 w 3152892"/>
                  <a:gd name="connsiteY9" fmla="*/ 477426 h 2468033"/>
                  <a:gd name="connsiteX10" fmla="*/ 1881011 w 3152892"/>
                  <a:gd name="connsiteY10" fmla="*/ 96426 h 24680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690511 w 2962392"/>
                  <a:gd name="connsiteY0" fmla="*/ 83726 h 2455333"/>
                  <a:gd name="connsiteX1" fmla="*/ 547511 w 2962392"/>
                  <a:gd name="connsiteY1" fmla="*/ 159926 h 2455333"/>
                  <a:gd name="connsiteX2" fmla="*/ 39511 w 2962392"/>
                  <a:gd name="connsiteY2" fmla="*/ 193793 h 2455333"/>
                  <a:gd name="connsiteX3" fmla="*/ 310444 w 2962392"/>
                  <a:gd name="connsiteY3" fmla="*/ 1322682 h 2455333"/>
                  <a:gd name="connsiteX4" fmla="*/ 795867 w 2962392"/>
                  <a:gd name="connsiteY4" fmla="*/ 2304815 h 2455333"/>
                  <a:gd name="connsiteX5" fmla="*/ 1371600 w 2962392"/>
                  <a:gd name="connsiteY5" fmla="*/ 2225793 h 2455333"/>
                  <a:gd name="connsiteX6" fmla="*/ 1721555 w 2962392"/>
                  <a:gd name="connsiteY6" fmla="*/ 1175926 h 2455333"/>
                  <a:gd name="connsiteX7" fmla="*/ 2094089 w 2962392"/>
                  <a:gd name="connsiteY7" fmla="*/ 2135482 h 2455333"/>
                  <a:gd name="connsiteX8" fmla="*/ 2692400 w 2962392"/>
                  <a:gd name="connsiteY8" fmla="*/ 2304815 h 2455333"/>
                  <a:gd name="connsiteX9" fmla="*/ 2884311 w 2962392"/>
                  <a:gd name="connsiteY9" fmla="*/ 1841970 h 2455333"/>
                  <a:gd name="connsiteX10" fmla="*/ 2223911 w 2962392"/>
                  <a:gd name="connsiteY10" fmla="*/ 464726 h 2455333"/>
                  <a:gd name="connsiteX11" fmla="*/ 1690511 w 2962392"/>
                  <a:gd name="connsiteY11" fmla="*/ 83726 h 2455333"/>
                  <a:gd name="connsiteX0" fmla="*/ 17921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92111 w 3063992"/>
                  <a:gd name="connsiteY11" fmla="*/ 50800 h 2422407"/>
                  <a:gd name="connsiteX0" fmla="*/ 1715911 w 3063992"/>
                  <a:gd name="connsiteY0" fmla="*/ 50800 h 2422407"/>
                  <a:gd name="connsiteX1" fmla="*/ 649111 w 3063992"/>
                  <a:gd name="connsiteY1" fmla="*/ 127000 h 2422407"/>
                  <a:gd name="connsiteX2" fmla="*/ 39511 w 3063992"/>
                  <a:gd name="connsiteY2" fmla="*/ 279400 h 2422407"/>
                  <a:gd name="connsiteX3" fmla="*/ 412044 w 3063992"/>
                  <a:gd name="connsiteY3" fmla="*/ 1289756 h 2422407"/>
                  <a:gd name="connsiteX4" fmla="*/ 897467 w 3063992"/>
                  <a:gd name="connsiteY4" fmla="*/ 2271889 h 2422407"/>
                  <a:gd name="connsiteX5" fmla="*/ 1473200 w 3063992"/>
                  <a:gd name="connsiteY5" fmla="*/ 2192867 h 2422407"/>
                  <a:gd name="connsiteX6" fmla="*/ 1823155 w 3063992"/>
                  <a:gd name="connsiteY6" fmla="*/ 1143000 h 2422407"/>
                  <a:gd name="connsiteX7" fmla="*/ 2195689 w 3063992"/>
                  <a:gd name="connsiteY7" fmla="*/ 2102556 h 2422407"/>
                  <a:gd name="connsiteX8" fmla="*/ 2794000 w 3063992"/>
                  <a:gd name="connsiteY8" fmla="*/ 2271889 h 2422407"/>
                  <a:gd name="connsiteX9" fmla="*/ 2985911 w 3063992"/>
                  <a:gd name="connsiteY9" fmla="*/ 1809044 h 2422407"/>
                  <a:gd name="connsiteX10" fmla="*/ 2325511 w 3063992"/>
                  <a:gd name="connsiteY10" fmla="*/ 431800 h 2422407"/>
                  <a:gd name="connsiteX11" fmla="*/ 1715911 w 3063992"/>
                  <a:gd name="connsiteY11" fmla="*/ 50800 h 2422407"/>
                  <a:gd name="connsiteX0" fmla="*/ 1779411 w 3127492"/>
                  <a:gd name="connsiteY0" fmla="*/ 38100 h 2409707"/>
                  <a:gd name="connsiteX1" fmla="*/ 1093611 w 3127492"/>
                  <a:gd name="connsiteY1" fmla="*/ 190500 h 2409707"/>
                  <a:gd name="connsiteX2" fmla="*/ 103011 w 3127492"/>
                  <a:gd name="connsiteY2" fmla="*/ 266700 h 2409707"/>
                  <a:gd name="connsiteX3" fmla="*/ 475544 w 3127492"/>
                  <a:gd name="connsiteY3" fmla="*/ 1277056 h 2409707"/>
                  <a:gd name="connsiteX4" fmla="*/ 960967 w 3127492"/>
                  <a:gd name="connsiteY4" fmla="*/ 2259189 h 2409707"/>
                  <a:gd name="connsiteX5" fmla="*/ 1536700 w 3127492"/>
                  <a:gd name="connsiteY5" fmla="*/ 2180167 h 2409707"/>
                  <a:gd name="connsiteX6" fmla="*/ 1886655 w 3127492"/>
                  <a:gd name="connsiteY6" fmla="*/ 1130300 h 2409707"/>
                  <a:gd name="connsiteX7" fmla="*/ 2259189 w 3127492"/>
                  <a:gd name="connsiteY7" fmla="*/ 2089856 h 2409707"/>
                  <a:gd name="connsiteX8" fmla="*/ 2857500 w 3127492"/>
                  <a:gd name="connsiteY8" fmla="*/ 2259189 h 2409707"/>
                  <a:gd name="connsiteX9" fmla="*/ 3049411 w 3127492"/>
                  <a:gd name="connsiteY9" fmla="*/ 1796344 h 2409707"/>
                  <a:gd name="connsiteX10" fmla="*/ 2389011 w 3127492"/>
                  <a:gd name="connsiteY10" fmla="*/ 419100 h 2409707"/>
                  <a:gd name="connsiteX11" fmla="*/ 1779411 w 3127492"/>
                  <a:gd name="connsiteY11" fmla="*/ 38100 h 2409707"/>
                  <a:gd name="connsiteX0" fmla="*/ 1855611 w 3127492"/>
                  <a:gd name="connsiteY0" fmla="*/ 38100 h 2333507"/>
                  <a:gd name="connsiteX1" fmla="*/ 1093611 w 3127492"/>
                  <a:gd name="connsiteY1" fmla="*/ 114300 h 2333507"/>
                  <a:gd name="connsiteX2" fmla="*/ 103011 w 3127492"/>
                  <a:gd name="connsiteY2" fmla="*/ 190500 h 2333507"/>
                  <a:gd name="connsiteX3" fmla="*/ 475544 w 3127492"/>
                  <a:gd name="connsiteY3" fmla="*/ 1200856 h 2333507"/>
                  <a:gd name="connsiteX4" fmla="*/ 960967 w 3127492"/>
                  <a:gd name="connsiteY4" fmla="*/ 2182989 h 2333507"/>
                  <a:gd name="connsiteX5" fmla="*/ 1536700 w 3127492"/>
                  <a:gd name="connsiteY5" fmla="*/ 2103967 h 2333507"/>
                  <a:gd name="connsiteX6" fmla="*/ 1886655 w 3127492"/>
                  <a:gd name="connsiteY6" fmla="*/ 1054100 h 2333507"/>
                  <a:gd name="connsiteX7" fmla="*/ 2259189 w 3127492"/>
                  <a:gd name="connsiteY7" fmla="*/ 2013656 h 2333507"/>
                  <a:gd name="connsiteX8" fmla="*/ 2857500 w 3127492"/>
                  <a:gd name="connsiteY8" fmla="*/ 2182989 h 2333507"/>
                  <a:gd name="connsiteX9" fmla="*/ 3049411 w 3127492"/>
                  <a:gd name="connsiteY9" fmla="*/ 1720144 h 2333507"/>
                  <a:gd name="connsiteX10" fmla="*/ 2389011 w 3127492"/>
                  <a:gd name="connsiteY10" fmla="*/ 342900 h 2333507"/>
                  <a:gd name="connsiteX11" fmla="*/ 1855611 w 3127492"/>
                  <a:gd name="connsiteY11" fmla="*/ 38100 h 2333507"/>
                  <a:gd name="connsiteX0" fmla="*/ 1765300 w 3037181"/>
                  <a:gd name="connsiteY0" fmla="*/ 38100 h 2374900"/>
                  <a:gd name="connsiteX1" fmla="*/ 1003300 w 3037181"/>
                  <a:gd name="connsiteY1" fmla="*/ 114300 h 2374900"/>
                  <a:gd name="connsiteX2" fmla="*/ 12700 w 3037181"/>
                  <a:gd name="connsiteY2" fmla="*/ 190500 h 2374900"/>
                  <a:gd name="connsiteX3" fmla="*/ 1079500 w 3037181"/>
                  <a:gd name="connsiteY3" fmla="*/ 952500 h 2374900"/>
                  <a:gd name="connsiteX4" fmla="*/ 870656 w 3037181"/>
                  <a:gd name="connsiteY4" fmla="*/ 2182989 h 2374900"/>
                  <a:gd name="connsiteX5" fmla="*/ 1446389 w 3037181"/>
                  <a:gd name="connsiteY5" fmla="*/ 2103967 h 2374900"/>
                  <a:gd name="connsiteX6" fmla="*/ 1796344 w 3037181"/>
                  <a:gd name="connsiteY6" fmla="*/ 1054100 h 2374900"/>
                  <a:gd name="connsiteX7" fmla="*/ 2168878 w 3037181"/>
                  <a:gd name="connsiteY7" fmla="*/ 2013656 h 2374900"/>
                  <a:gd name="connsiteX8" fmla="*/ 2767189 w 3037181"/>
                  <a:gd name="connsiteY8" fmla="*/ 2182989 h 2374900"/>
                  <a:gd name="connsiteX9" fmla="*/ 2959100 w 3037181"/>
                  <a:gd name="connsiteY9" fmla="*/ 1720144 h 2374900"/>
                  <a:gd name="connsiteX10" fmla="*/ 2298700 w 3037181"/>
                  <a:gd name="connsiteY10" fmla="*/ 342900 h 2374900"/>
                  <a:gd name="connsiteX11" fmla="*/ 1765300 w 3037181"/>
                  <a:gd name="connsiteY11" fmla="*/ 38100 h 2374900"/>
                  <a:gd name="connsiteX0" fmla="*/ 1765300 w 3037181"/>
                  <a:gd name="connsiteY0" fmla="*/ 38100 h 2239433"/>
                  <a:gd name="connsiteX1" fmla="*/ 1003300 w 3037181"/>
                  <a:gd name="connsiteY1" fmla="*/ 114300 h 2239433"/>
                  <a:gd name="connsiteX2" fmla="*/ 12700 w 3037181"/>
                  <a:gd name="connsiteY2" fmla="*/ 190500 h 2239433"/>
                  <a:gd name="connsiteX3" fmla="*/ 1079500 w 3037181"/>
                  <a:gd name="connsiteY3" fmla="*/ 952500 h 2239433"/>
                  <a:gd name="connsiteX4" fmla="*/ 698500 w 3037181"/>
                  <a:gd name="connsiteY4" fmla="*/ 1866899 h 2239433"/>
                  <a:gd name="connsiteX5" fmla="*/ 1446389 w 3037181"/>
                  <a:gd name="connsiteY5" fmla="*/ 2103967 h 2239433"/>
                  <a:gd name="connsiteX6" fmla="*/ 1796344 w 3037181"/>
                  <a:gd name="connsiteY6" fmla="*/ 1054100 h 2239433"/>
                  <a:gd name="connsiteX7" fmla="*/ 2168878 w 3037181"/>
                  <a:gd name="connsiteY7" fmla="*/ 2013656 h 2239433"/>
                  <a:gd name="connsiteX8" fmla="*/ 2767189 w 3037181"/>
                  <a:gd name="connsiteY8" fmla="*/ 2182989 h 2239433"/>
                  <a:gd name="connsiteX9" fmla="*/ 2959100 w 3037181"/>
                  <a:gd name="connsiteY9" fmla="*/ 1720144 h 2239433"/>
                  <a:gd name="connsiteX10" fmla="*/ 2298700 w 3037181"/>
                  <a:gd name="connsiteY10" fmla="*/ 342900 h 2239433"/>
                  <a:gd name="connsiteX11" fmla="*/ 1765300 w 3037181"/>
                  <a:gd name="connsiteY11" fmla="*/ 38100 h 2239433"/>
                  <a:gd name="connsiteX0" fmla="*/ 1765300 w 3037181"/>
                  <a:gd name="connsiteY0" fmla="*/ 38100 h 2231908"/>
                  <a:gd name="connsiteX1" fmla="*/ 1003300 w 3037181"/>
                  <a:gd name="connsiteY1" fmla="*/ 114300 h 2231908"/>
                  <a:gd name="connsiteX2" fmla="*/ 12700 w 3037181"/>
                  <a:gd name="connsiteY2" fmla="*/ 190500 h 2231908"/>
                  <a:gd name="connsiteX3" fmla="*/ 1079500 w 3037181"/>
                  <a:gd name="connsiteY3" fmla="*/ 952500 h 2231908"/>
                  <a:gd name="connsiteX4" fmla="*/ 698500 w 3037181"/>
                  <a:gd name="connsiteY4" fmla="*/ 1866899 h 2231908"/>
                  <a:gd name="connsiteX5" fmla="*/ 1384300 w 3037181"/>
                  <a:gd name="connsiteY5" fmla="*/ 2095500 h 2231908"/>
                  <a:gd name="connsiteX6" fmla="*/ 1796344 w 3037181"/>
                  <a:gd name="connsiteY6" fmla="*/ 1054100 h 2231908"/>
                  <a:gd name="connsiteX7" fmla="*/ 2168878 w 3037181"/>
                  <a:gd name="connsiteY7" fmla="*/ 2013656 h 2231908"/>
                  <a:gd name="connsiteX8" fmla="*/ 2767189 w 3037181"/>
                  <a:gd name="connsiteY8" fmla="*/ 2182989 h 2231908"/>
                  <a:gd name="connsiteX9" fmla="*/ 2959100 w 3037181"/>
                  <a:gd name="connsiteY9" fmla="*/ 1720144 h 2231908"/>
                  <a:gd name="connsiteX10" fmla="*/ 2298700 w 3037181"/>
                  <a:gd name="connsiteY10" fmla="*/ 342900 h 2231908"/>
                  <a:gd name="connsiteX11" fmla="*/ 1765300 w 3037181"/>
                  <a:gd name="connsiteY11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38100 h 2231908"/>
                  <a:gd name="connsiteX1" fmla="*/ 1092200 w 3126081"/>
                  <a:gd name="connsiteY1" fmla="*/ 114300 h 2231908"/>
                  <a:gd name="connsiteX2" fmla="*/ 101600 w 3126081"/>
                  <a:gd name="connsiteY2" fmla="*/ 190500 h 2231908"/>
                  <a:gd name="connsiteX3" fmla="*/ 177800 w 3126081"/>
                  <a:gd name="connsiteY3" fmla="*/ 647700 h 2231908"/>
                  <a:gd name="connsiteX4" fmla="*/ 1168400 w 3126081"/>
                  <a:gd name="connsiteY4" fmla="*/ 952500 h 2231908"/>
                  <a:gd name="connsiteX5" fmla="*/ 787400 w 3126081"/>
                  <a:gd name="connsiteY5" fmla="*/ 1866899 h 2231908"/>
                  <a:gd name="connsiteX6" fmla="*/ 1473200 w 3126081"/>
                  <a:gd name="connsiteY6" fmla="*/ 2095500 h 2231908"/>
                  <a:gd name="connsiteX7" fmla="*/ 1885244 w 3126081"/>
                  <a:gd name="connsiteY7" fmla="*/ 1054100 h 2231908"/>
                  <a:gd name="connsiteX8" fmla="*/ 2257778 w 3126081"/>
                  <a:gd name="connsiteY8" fmla="*/ 2013656 h 2231908"/>
                  <a:gd name="connsiteX9" fmla="*/ 2856089 w 3126081"/>
                  <a:gd name="connsiteY9" fmla="*/ 2182989 h 2231908"/>
                  <a:gd name="connsiteX10" fmla="*/ 3048000 w 3126081"/>
                  <a:gd name="connsiteY10" fmla="*/ 1720144 h 2231908"/>
                  <a:gd name="connsiteX11" fmla="*/ 2387600 w 3126081"/>
                  <a:gd name="connsiteY11" fmla="*/ 342900 h 2231908"/>
                  <a:gd name="connsiteX12" fmla="*/ 1854200 w 3126081"/>
                  <a:gd name="connsiteY12" fmla="*/ 38100 h 2231908"/>
                  <a:gd name="connsiteX0" fmla="*/ 1854200 w 3126081"/>
                  <a:gd name="connsiteY0" fmla="*/ 51741 h 2245549"/>
                  <a:gd name="connsiteX1" fmla="*/ 1092200 w 3126081"/>
                  <a:gd name="connsiteY1" fmla="*/ 127941 h 2245549"/>
                  <a:gd name="connsiteX2" fmla="*/ 101600 w 3126081"/>
                  <a:gd name="connsiteY2" fmla="*/ 204141 h 2245549"/>
                  <a:gd name="connsiteX3" fmla="*/ 177800 w 3126081"/>
                  <a:gd name="connsiteY3" fmla="*/ 661341 h 2245549"/>
                  <a:gd name="connsiteX4" fmla="*/ 1168400 w 3126081"/>
                  <a:gd name="connsiteY4" fmla="*/ 966141 h 2245549"/>
                  <a:gd name="connsiteX5" fmla="*/ 787400 w 3126081"/>
                  <a:gd name="connsiteY5" fmla="*/ 1880540 h 2245549"/>
                  <a:gd name="connsiteX6" fmla="*/ 1473200 w 3126081"/>
                  <a:gd name="connsiteY6" fmla="*/ 2109141 h 2245549"/>
                  <a:gd name="connsiteX7" fmla="*/ 1885244 w 3126081"/>
                  <a:gd name="connsiteY7" fmla="*/ 1067741 h 2245549"/>
                  <a:gd name="connsiteX8" fmla="*/ 2257778 w 3126081"/>
                  <a:gd name="connsiteY8" fmla="*/ 2027297 h 2245549"/>
                  <a:gd name="connsiteX9" fmla="*/ 2856089 w 3126081"/>
                  <a:gd name="connsiteY9" fmla="*/ 2196630 h 2245549"/>
                  <a:gd name="connsiteX10" fmla="*/ 3048000 w 3126081"/>
                  <a:gd name="connsiteY10" fmla="*/ 1733785 h 2245549"/>
                  <a:gd name="connsiteX11" fmla="*/ 2387600 w 3126081"/>
                  <a:gd name="connsiteY11" fmla="*/ 280341 h 2245549"/>
                  <a:gd name="connsiteX12" fmla="*/ 1854200 w 3126081"/>
                  <a:gd name="connsiteY12" fmla="*/ 51741 h 2245549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78000 w 3126081"/>
                  <a:gd name="connsiteY0" fmla="*/ 25400 h 2295407"/>
                  <a:gd name="connsiteX1" fmla="*/ 1092200 w 3126081"/>
                  <a:gd name="connsiteY1" fmla="*/ 177799 h 2295407"/>
                  <a:gd name="connsiteX2" fmla="*/ 101600 w 3126081"/>
                  <a:gd name="connsiteY2" fmla="*/ 253999 h 2295407"/>
                  <a:gd name="connsiteX3" fmla="*/ 177800 w 3126081"/>
                  <a:gd name="connsiteY3" fmla="*/ 711199 h 2295407"/>
                  <a:gd name="connsiteX4" fmla="*/ 1168400 w 3126081"/>
                  <a:gd name="connsiteY4" fmla="*/ 1015999 h 2295407"/>
                  <a:gd name="connsiteX5" fmla="*/ 787400 w 3126081"/>
                  <a:gd name="connsiteY5" fmla="*/ 1930398 h 2295407"/>
                  <a:gd name="connsiteX6" fmla="*/ 1473200 w 3126081"/>
                  <a:gd name="connsiteY6" fmla="*/ 2158999 h 2295407"/>
                  <a:gd name="connsiteX7" fmla="*/ 1885244 w 3126081"/>
                  <a:gd name="connsiteY7" fmla="*/ 1117599 h 2295407"/>
                  <a:gd name="connsiteX8" fmla="*/ 2257778 w 3126081"/>
                  <a:gd name="connsiteY8" fmla="*/ 2077155 h 2295407"/>
                  <a:gd name="connsiteX9" fmla="*/ 2856089 w 3126081"/>
                  <a:gd name="connsiteY9" fmla="*/ 2246488 h 2295407"/>
                  <a:gd name="connsiteX10" fmla="*/ 3048000 w 3126081"/>
                  <a:gd name="connsiteY10" fmla="*/ 1783643 h 2295407"/>
                  <a:gd name="connsiteX11" fmla="*/ 2387600 w 3126081"/>
                  <a:gd name="connsiteY11" fmla="*/ 330199 h 2295407"/>
                  <a:gd name="connsiteX12" fmla="*/ 1778000 w 3126081"/>
                  <a:gd name="connsiteY12" fmla="*/ 25400 h 2295407"/>
                  <a:gd name="connsiteX0" fmla="*/ 1798931 w 3147012"/>
                  <a:gd name="connsiteY0" fmla="*/ 25400 h 2295407"/>
                  <a:gd name="connsiteX1" fmla="*/ 1113131 w 3147012"/>
                  <a:gd name="connsiteY1" fmla="*/ 177799 h 2295407"/>
                  <a:gd name="connsiteX2" fmla="*/ 122531 w 3147012"/>
                  <a:gd name="connsiteY2" fmla="*/ 253999 h 2295407"/>
                  <a:gd name="connsiteX3" fmla="*/ 198731 w 3147012"/>
                  <a:gd name="connsiteY3" fmla="*/ 711199 h 2295407"/>
                  <a:gd name="connsiteX4" fmla="*/ 1189331 w 3147012"/>
                  <a:gd name="connsiteY4" fmla="*/ 1015999 h 2295407"/>
                  <a:gd name="connsiteX5" fmla="*/ 808331 w 3147012"/>
                  <a:gd name="connsiteY5" fmla="*/ 1930398 h 2295407"/>
                  <a:gd name="connsiteX6" fmla="*/ 1494131 w 3147012"/>
                  <a:gd name="connsiteY6" fmla="*/ 2158999 h 2295407"/>
                  <a:gd name="connsiteX7" fmla="*/ 1906175 w 3147012"/>
                  <a:gd name="connsiteY7" fmla="*/ 1117599 h 2295407"/>
                  <a:gd name="connsiteX8" fmla="*/ 2278709 w 3147012"/>
                  <a:gd name="connsiteY8" fmla="*/ 2077155 h 2295407"/>
                  <a:gd name="connsiteX9" fmla="*/ 2877020 w 3147012"/>
                  <a:gd name="connsiteY9" fmla="*/ 2246488 h 2295407"/>
                  <a:gd name="connsiteX10" fmla="*/ 3068931 w 3147012"/>
                  <a:gd name="connsiteY10" fmla="*/ 1783643 h 2295407"/>
                  <a:gd name="connsiteX11" fmla="*/ 2408531 w 3147012"/>
                  <a:gd name="connsiteY11" fmla="*/ 330199 h 2295407"/>
                  <a:gd name="connsiteX12" fmla="*/ 1798931 w 3147012"/>
                  <a:gd name="connsiteY12" fmla="*/ 25400 h 2295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47012" h="2295407">
                    <a:moveTo>
                      <a:pt x="1798931" y="25400"/>
                    </a:moveTo>
                    <a:cubicBezTo>
                      <a:pt x="1583031" y="0"/>
                      <a:pt x="1467320" y="173566"/>
                      <a:pt x="1113131" y="177799"/>
                    </a:cubicBezTo>
                    <a:cubicBezTo>
                      <a:pt x="837964" y="196143"/>
                      <a:pt x="332081" y="76199"/>
                      <a:pt x="122531" y="253999"/>
                    </a:cubicBezTo>
                    <a:cubicBezTo>
                      <a:pt x="0" y="433210"/>
                      <a:pt x="20931" y="584199"/>
                      <a:pt x="198731" y="711199"/>
                    </a:cubicBezTo>
                    <a:cubicBezTo>
                      <a:pt x="376531" y="838199"/>
                      <a:pt x="1087731" y="812799"/>
                      <a:pt x="1189331" y="1015999"/>
                    </a:cubicBezTo>
                    <a:cubicBezTo>
                      <a:pt x="1290931" y="1219199"/>
                      <a:pt x="757531" y="1739898"/>
                      <a:pt x="808331" y="1930398"/>
                    </a:cubicBezTo>
                    <a:cubicBezTo>
                      <a:pt x="859131" y="2120898"/>
                      <a:pt x="1311157" y="2294465"/>
                      <a:pt x="1494131" y="2158999"/>
                    </a:cubicBezTo>
                    <a:cubicBezTo>
                      <a:pt x="1677105" y="2023533"/>
                      <a:pt x="1775412" y="1131240"/>
                      <a:pt x="1906175" y="1117599"/>
                    </a:cubicBezTo>
                    <a:cubicBezTo>
                      <a:pt x="2036938" y="1103958"/>
                      <a:pt x="2116902" y="1889007"/>
                      <a:pt x="2278709" y="2077155"/>
                    </a:cubicBezTo>
                    <a:cubicBezTo>
                      <a:pt x="2440516" y="2265303"/>
                      <a:pt x="2745316" y="2295407"/>
                      <a:pt x="2877020" y="2246488"/>
                    </a:cubicBezTo>
                    <a:cubicBezTo>
                      <a:pt x="3008724" y="2197569"/>
                      <a:pt x="3147012" y="2103024"/>
                      <a:pt x="3068931" y="1783643"/>
                    </a:cubicBezTo>
                    <a:cubicBezTo>
                      <a:pt x="2990850" y="1464262"/>
                      <a:pt x="2620198" y="623240"/>
                      <a:pt x="2408531" y="330199"/>
                    </a:cubicBezTo>
                    <a:cubicBezTo>
                      <a:pt x="2196864" y="37158"/>
                      <a:pt x="2014831" y="50800"/>
                      <a:pt x="1798931" y="25400"/>
                    </a:cubicBezTo>
                    <a:close/>
                  </a:path>
                </a:pathLst>
              </a:cu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61" name="Oval 160"/>
              <p:cNvSpPr/>
              <p:nvPr/>
            </p:nvSpPr>
            <p:spPr bwMode="auto">
              <a:xfrm>
                <a:off x="6973686" y="2266179"/>
                <a:ext cx="380557" cy="380557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cxnSp>
            <p:nvCxnSpPr>
              <p:cNvPr id="162" name="Straight Arrow Connector 161"/>
              <p:cNvCxnSpPr>
                <a:stCxn id="168" idx="6"/>
                <a:endCxn id="169" idx="2"/>
              </p:cNvCxnSpPr>
              <p:nvPr/>
            </p:nvCxnSpPr>
            <p:spPr bwMode="auto">
              <a:xfrm>
                <a:off x="5631063" y="2459644"/>
                <a:ext cx="606857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3" name="Straight Arrow Connector 162"/>
              <p:cNvCxnSpPr>
                <a:stCxn id="169" idx="6"/>
                <a:endCxn id="170" idx="2"/>
              </p:cNvCxnSpPr>
              <p:nvPr/>
            </p:nvCxnSpPr>
            <p:spPr bwMode="auto">
              <a:xfrm>
                <a:off x="6455714" y="2459644"/>
                <a:ext cx="606856" cy="88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4" name="Straight Arrow Connector 163"/>
              <p:cNvCxnSpPr>
                <a:stCxn id="174" idx="7"/>
                <a:endCxn id="169" idx="3"/>
              </p:cNvCxnSpPr>
              <p:nvPr/>
            </p:nvCxnSpPr>
            <p:spPr bwMode="auto">
              <a:xfrm rot="5400000" flipH="1" flipV="1">
                <a:off x="583049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5" name="Straight Arrow Connector 164"/>
              <p:cNvCxnSpPr>
                <a:stCxn id="176" idx="1"/>
                <a:endCxn id="170" idx="5"/>
              </p:cNvCxnSpPr>
              <p:nvPr/>
            </p:nvCxnSpPr>
            <p:spPr bwMode="auto">
              <a:xfrm rot="16200000" flipV="1">
                <a:off x="706747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6" name="Straight Arrow Connector 165"/>
              <p:cNvCxnSpPr>
                <a:stCxn id="175" idx="7"/>
                <a:endCxn id="170" idx="3"/>
              </p:cNvCxnSpPr>
              <p:nvPr/>
            </p:nvCxnSpPr>
            <p:spPr bwMode="auto">
              <a:xfrm rot="5400000" flipH="1" flipV="1">
                <a:off x="6655147" y="2721561"/>
                <a:ext cx="624233" cy="254402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67" name="Straight Arrow Connector 166"/>
              <p:cNvCxnSpPr>
                <a:stCxn id="175" idx="1"/>
                <a:endCxn id="169" idx="5"/>
              </p:cNvCxnSpPr>
              <p:nvPr/>
            </p:nvCxnSpPr>
            <p:spPr bwMode="auto">
              <a:xfrm rot="16200000" flipV="1">
                <a:off x="6242823" y="2717642"/>
                <a:ext cx="624233" cy="26224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sp>
            <p:nvSpPr>
              <p:cNvPr id="168" name="Oval 4"/>
              <p:cNvSpPr/>
              <p:nvPr/>
            </p:nvSpPr>
            <p:spPr bwMode="auto">
              <a:xfrm>
                <a:off x="5413269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69" name="Oval 168"/>
              <p:cNvSpPr/>
              <p:nvPr/>
            </p:nvSpPr>
            <p:spPr bwMode="auto">
              <a:xfrm>
                <a:off x="623792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0" name="Oval 169"/>
              <p:cNvSpPr/>
              <p:nvPr/>
            </p:nvSpPr>
            <p:spPr bwMode="auto">
              <a:xfrm>
                <a:off x="7062570" y="2350747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1" name="Oval 4"/>
              <p:cNvSpPr/>
              <p:nvPr/>
            </p:nvSpPr>
            <p:spPr bwMode="auto">
              <a:xfrm>
                <a:off x="541326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2" name="Oval 171"/>
              <p:cNvSpPr/>
              <p:nvPr/>
            </p:nvSpPr>
            <p:spPr bwMode="auto">
              <a:xfrm>
                <a:off x="6237919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3" name="Oval 172"/>
              <p:cNvSpPr/>
              <p:nvPr/>
            </p:nvSpPr>
            <p:spPr bwMode="auto">
              <a:xfrm>
                <a:off x="7062570" y="382812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4" name="Oval 4"/>
              <p:cNvSpPr/>
              <p:nvPr/>
            </p:nvSpPr>
            <p:spPr bwMode="auto">
              <a:xfrm>
                <a:off x="5829513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5" name="Oval 174"/>
              <p:cNvSpPr/>
              <p:nvPr/>
            </p:nvSpPr>
            <p:spPr bwMode="auto">
              <a:xfrm>
                <a:off x="665416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176" name="Oval 175"/>
              <p:cNvSpPr/>
              <p:nvPr/>
            </p:nvSpPr>
            <p:spPr bwMode="auto">
              <a:xfrm>
                <a:off x="7478814" y="3128983"/>
                <a:ext cx="217794" cy="217794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177" name="Straight Arrow Connector 176"/>
              <p:cNvCxnSpPr>
                <a:stCxn id="171" idx="6"/>
                <a:endCxn id="172" idx="2"/>
              </p:cNvCxnSpPr>
              <p:nvPr/>
            </p:nvCxnSpPr>
            <p:spPr bwMode="auto">
              <a:xfrm>
                <a:off x="5631063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8" name="Straight Arrow Connector 177"/>
              <p:cNvCxnSpPr>
                <a:stCxn id="172" idx="6"/>
                <a:endCxn id="173" idx="2"/>
              </p:cNvCxnSpPr>
              <p:nvPr/>
            </p:nvCxnSpPr>
            <p:spPr bwMode="auto">
              <a:xfrm>
                <a:off x="6455714" y="3937021"/>
                <a:ext cx="606856" cy="2118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79" name="Straight Arrow Connector 178"/>
              <p:cNvCxnSpPr>
                <a:stCxn id="172" idx="1"/>
                <a:endCxn id="174" idx="5"/>
              </p:cNvCxnSpPr>
              <p:nvPr/>
            </p:nvCxnSpPr>
            <p:spPr bwMode="auto">
              <a:xfrm rot="16200000" flipV="1">
                <a:off x="5870047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0" name="Straight Arrow Connector 179"/>
              <p:cNvCxnSpPr>
                <a:stCxn id="173" idx="7"/>
                <a:endCxn id="176" idx="3"/>
              </p:cNvCxnSpPr>
              <p:nvPr/>
            </p:nvCxnSpPr>
            <p:spPr bwMode="auto">
              <a:xfrm rot="5400000" flipH="1" flipV="1">
                <a:off x="7107022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1" name="Straight Arrow Connector 180"/>
              <p:cNvCxnSpPr>
                <a:stCxn id="173" idx="1"/>
                <a:endCxn id="175" idx="5"/>
              </p:cNvCxnSpPr>
              <p:nvPr/>
            </p:nvCxnSpPr>
            <p:spPr bwMode="auto">
              <a:xfrm rot="16200000" flipV="1">
                <a:off x="6694698" y="3460249"/>
                <a:ext cx="545134" cy="25440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cxnSp>
            <p:nvCxnSpPr>
              <p:cNvPr id="182" name="Straight Arrow Connector 181"/>
              <p:cNvCxnSpPr>
                <a:stCxn id="172" idx="7"/>
                <a:endCxn id="175" idx="3"/>
              </p:cNvCxnSpPr>
              <p:nvPr/>
            </p:nvCxnSpPr>
            <p:spPr bwMode="auto">
              <a:xfrm rot="5400000" flipH="1" flipV="1">
                <a:off x="6282371" y="3456332"/>
                <a:ext cx="545134" cy="26223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</p:cxnSp>
          <p:grpSp>
            <p:nvGrpSpPr>
              <p:cNvPr id="18" name="Group 182"/>
              <p:cNvGrpSpPr/>
              <p:nvPr/>
            </p:nvGrpSpPr>
            <p:grpSpPr>
              <a:xfrm>
                <a:off x="6258950" y="2393031"/>
                <a:ext cx="1410722" cy="930249"/>
                <a:chOff x="2133600" y="2884114"/>
                <a:chExt cx="2542259" cy="1676400"/>
              </a:xfrm>
            </p:grpSpPr>
            <p:sp>
              <p:nvSpPr>
                <p:cNvPr id="185" name="Cube 184"/>
                <p:cNvSpPr/>
                <p:nvPr/>
              </p:nvSpPr>
              <p:spPr bwMode="auto">
                <a:xfrm>
                  <a:off x="3657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6" name="Cube 185"/>
                <p:cNvSpPr/>
                <p:nvPr/>
              </p:nvSpPr>
              <p:spPr bwMode="auto">
                <a:xfrm>
                  <a:off x="2845001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88" name="Cube 187"/>
                <p:cNvSpPr/>
                <p:nvPr/>
              </p:nvSpPr>
              <p:spPr bwMode="auto">
                <a:xfrm>
                  <a:off x="2133600" y="28841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2" name="Cube 191"/>
                <p:cNvSpPr/>
                <p:nvPr/>
              </p:nvSpPr>
              <p:spPr bwMode="auto">
                <a:xfrm>
                  <a:off x="4343400" y="425571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  <p:grpSp>
            <p:nvGrpSpPr>
              <p:cNvPr id="19" name="Group 192"/>
              <p:cNvGrpSpPr/>
              <p:nvPr/>
            </p:nvGrpSpPr>
            <p:grpSpPr>
              <a:xfrm>
                <a:off x="6670818" y="2373097"/>
                <a:ext cx="839892" cy="594558"/>
                <a:chOff x="2875826" y="2848192"/>
                <a:chExt cx="1513567" cy="1071452"/>
              </a:xfrm>
            </p:grpSpPr>
            <p:sp>
              <p:nvSpPr>
                <p:cNvPr id="195" name="Cube 194"/>
                <p:cNvSpPr/>
                <p:nvPr/>
              </p:nvSpPr>
              <p:spPr bwMode="auto">
                <a:xfrm>
                  <a:off x="2875826" y="2848192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8" name="Cube 197"/>
                <p:cNvSpPr/>
                <p:nvPr/>
              </p:nvSpPr>
              <p:spPr bwMode="auto">
                <a:xfrm>
                  <a:off x="3282701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  <p:sp>
              <p:nvSpPr>
                <p:cNvPr id="199" name="Cube 198"/>
                <p:cNvSpPr/>
                <p:nvPr/>
              </p:nvSpPr>
              <p:spPr bwMode="auto">
                <a:xfrm>
                  <a:off x="4056934" y="3614844"/>
                  <a:ext cx="332459" cy="304800"/>
                </a:xfrm>
                <a:prstGeom prst="cub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ahoma" pitchFamily="34" charset="0"/>
                    <a:ea typeface="ＭＳ Ｐゴシック" pitchFamily="-111" charset="-128"/>
                  </a:endParaRPr>
                </a:p>
              </p:txBody>
            </p:sp>
          </p:grpSp>
        </p:grpSp>
        <p:sp>
          <p:nvSpPr>
            <p:cNvPr id="254" name="TextBox 253"/>
            <p:cNvSpPr txBox="1"/>
            <p:nvPr/>
          </p:nvSpPr>
          <p:spPr>
            <a:xfrm>
              <a:off x="5029200" y="1219200"/>
              <a:ext cx="30480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Update Functions</a:t>
              </a:r>
            </a:p>
            <a:p>
              <a:pPr algn="ctr"/>
              <a:r>
                <a:rPr lang="en-US" sz="2800" i="1" dirty="0" smtClean="0"/>
                <a:t>User Computation</a:t>
              </a:r>
              <a:endParaRPr lang="en-US" sz="2800" i="1" dirty="0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65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748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 bwMode="auto">
          <a:xfrm>
            <a:off x="1129014" y="2584671"/>
            <a:ext cx="6831997" cy="22394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ahoma" pitchFamily="-64" charset="0"/>
              </a:rPr>
              <a:t>What if machines fail?</a:t>
            </a: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Tahoma" pitchFamily="-64" charset="0"/>
              </a:rPr>
              <a:t>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Tahoma" pitchFamily="-64" charset="0"/>
              </a:rPr>
              <a:t>How do we provide fault tolerance?</a:t>
            </a:r>
          </a:p>
        </p:txBody>
      </p:sp>
    </p:spTree>
    <p:extLst>
      <p:ext uri="{BB962C8B-B14F-4D97-AF65-F5344CB8AC3E}">
        <p14:creationId xmlns:p14="http://schemas.microsoft.com/office/powerpoint/2010/main" val="2454651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Checkpoint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1: Stop the world</a:t>
            </a:r>
          </a:p>
          <a:p>
            <a:r>
              <a:rPr lang="en-US" dirty="0" smtClean="0"/>
              <a:t>2: Write state to disk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33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Snapshot Performance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83" y="1314155"/>
            <a:ext cx="7568584" cy="549009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2145279" y="1768850"/>
            <a:ext cx="5584255" cy="4261933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119189" y="1800404"/>
            <a:ext cx="3618458" cy="4221319"/>
          </a:xfrm>
          <a:custGeom>
            <a:avLst/>
            <a:gdLst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56922 w 3531476"/>
              <a:gd name="connsiteY3" fmla="*/ 3212406 h 4221319"/>
              <a:gd name="connsiteX4" fmla="*/ 1496093 w 3531476"/>
              <a:gd name="connsiteY4" fmla="*/ 3108036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56922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91715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91715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618458"/>
              <a:gd name="connsiteY0" fmla="*/ 4221319 h 4221319"/>
              <a:gd name="connsiteX1" fmla="*/ 539289 w 3618458"/>
              <a:gd name="connsiteY1" fmla="*/ 3299381 h 4221319"/>
              <a:gd name="connsiteX2" fmla="*/ 1391715 w 3618458"/>
              <a:gd name="connsiteY2" fmla="*/ 3212406 h 4221319"/>
              <a:gd name="connsiteX3" fmla="*/ 1600471 w 3618458"/>
              <a:gd name="connsiteY3" fmla="*/ 2916690 h 4221319"/>
              <a:gd name="connsiteX4" fmla="*/ 2853015 w 3618458"/>
              <a:gd name="connsiteY4" fmla="*/ 846679 h 4221319"/>
              <a:gd name="connsiteX5" fmla="*/ 3270529 w 3618458"/>
              <a:gd name="connsiteY5" fmla="*/ 133481 h 4221319"/>
              <a:gd name="connsiteX6" fmla="*/ 3479287 w 3618458"/>
              <a:gd name="connsiteY6" fmla="*/ 11716 h 4221319"/>
              <a:gd name="connsiteX7" fmla="*/ 3618458 w 3618458"/>
              <a:gd name="connsiteY7" fmla="*/ 11716 h 4221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18458" h="4221319">
                <a:moveTo>
                  <a:pt x="0" y="4221319"/>
                </a:moveTo>
                <a:cubicBezTo>
                  <a:pt x="112352" y="4029249"/>
                  <a:pt x="490874" y="3311389"/>
                  <a:pt x="539289" y="3299381"/>
                </a:cubicBezTo>
                <a:cubicBezTo>
                  <a:pt x="789823" y="3237244"/>
                  <a:pt x="1318215" y="3281892"/>
                  <a:pt x="1391715" y="3212406"/>
                </a:cubicBezTo>
                <a:cubicBezTo>
                  <a:pt x="1551183" y="3061648"/>
                  <a:pt x="1356921" y="3310978"/>
                  <a:pt x="1600471" y="2916690"/>
                </a:cubicBezTo>
                <a:cubicBezTo>
                  <a:pt x="1844021" y="2522402"/>
                  <a:pt x="2574672" y="1310547"/>
                  <a:pt x="2853015" y="846679"/>
                </a:cubicBezTo>
                <a:cubicBezTo>
                  <a:pt x="3131358" y="382811"/>
                  <a:pt x="3166150" y="272641"/>
                  <a:pt x="3270529" y="133481"/>
                </a:cubicBezTo>
                <a:cubicBezTo>
                  <a:pt x="3374908" y="-5679"/>
                  <a:pt x="3421299" y="32010"/>
                  <a:pt x="3479287" y="11716"/>
                </a:cubicBezTo>
                <a:cubicBezTo>
                  <a:pt x="3537275" y="-8578"/>
                  <a:pt x="3614109" y="1569"/>
                  <a:pt x="3618458" y="11716"/>
                </a:cubicBezTo>
              </a:path>
            </a:pathLst>
          </a:custGeom>
          <a:ln w="5715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206169" y="1829370"/>
            <a:ext cx="1791832" cy="1200404"/>
            <a:chOff x="2418102" y="1774150"/>
            <a:chExt cx="1791832" cy="1200404"/>
          </a:xfrm>
        </p:grpSpPr>
        <p:sp>
          <p:nvSpPr>
            <p:cNvPr id="10" name="Rectangle 9"/>
            <p:cNvSpPr/>
            <p:nvPr/>
          </p:nvSpPr>
          <p:spPr bwMode="auto">
            <a:xfrm>
              <a:off x="2418102" y="1774150"/>
              <a:ext cx="1791832" cy="487062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rPr>
                <a:t>No Snapshot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3305322" y="2261212"/>
              <a:ext cx="713254" cy="71334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5" name="Freeform 4"/>
          <p:cNvSpPr/>
          <p:nvPr/>
        </p:nvSpPr>
        <p:spPr>
          <a:xfrm>
            <a:off x="2119189" y="1829370"/>
            <a:ext cx="2853015" cy="4174813"/>
          </a:xfrm>
          <a:custGeom>
            <a:avLst/>
            <a:gdLst>
              <a:gd name="connsiteX0" fmla="*/ 0 w 2853015"/>
              <a:gd name="connsiteY0" fmla="*/ 4365989 h 4365989"/>
              <a:gd name="connsiteX1" fmla="*/ 2452897 w 2853015"/>
              <a:gd name="connsiteY1" fmla="*/ 330337 h 4365989"/>
              <a:gd name="connsiteX2" fmla="*/ 2661654 w 2853015"/>
              <a:gd name="connsiteY2" fmla="*/ 225966 h 4365989"/>
              <a:gd name="connsiteX3" fmla="*/ 2853015 w 2853015"/>
              <a:gd name="connsiteY3" fmla="*/ 191176 h 4365989"/>
              <a:gd name="connsiteX0" fmla="*/ 0 w 2853015"/>
              <a:gd name="connsiteY0" fmla="*/ 4477400 h 4477400"/>
              <a:gd name="connsiteX1" fmla="*/ 2452897 w 2853015"/>
              <a:gd name="connsiteY1" fmla="*/ 441748 h 4477400"/>
              <a:gd name="connsiteX2" fmla="*/ 2679062 w 2853015"/>
              <a:gd name="connsiteY2" fmla="*/ 93846 h 4477400"/>
              <a:gd name="connsiteX3" fmla="*/ 2661654 w 2853015"/>
              <a:gd name="connsiteY3" fmla="*/ 337377 h 4477400"/>
              <a:gd name="connsiteX4" fmla="*/ 2853015 w 2853015"/>
              <a:gd name="connsiteY4" fmla="*/ 302587 h 4477400"/>
              <a:gd name="connsiteX0" fmla="*/ 0 w 2853015"/>
              <a:gd name="connsiteY0" fmla="*/ 4360979 h 4360979"/>
              <a:gd name="connsiteX1" fmla="*/ 2452897 w 2853015"/>
              <a:gd name="connsiteY1" fmla="*/ 325327 h 4360979"/>
              <a:gd name="connsiteX2" fmla="*/ 2522494 w 2853015"/>
              <a:gd name="connsiteY2" fmla="*/ 238351 h 4360979"/>
              <a:gd name="connsiteX3" fmla="*/ 2661654 w 2853015"/>
              <a:gd name="connsiteY3" fmla="*/ 220956 h 4360979"/>
              <a:gd name="connsiteX4" fmla="*/ 2853015 w 2853015"/>
              <a:gd name="connsiteY4" fmla="*/ 186166 h 4360979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522494 w 2853015"/>
              <a:gd name="connsiteY2" fmla="*/ 52185 h 4174813"/>
              <a:gd name="connsiteX3" fmla="*/ 2661654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70305 w 2853015"/>
              <a:gd name="connsiteY2" fmla="*/ 156555 h 4174813"/>
              <a:gd name="connsiteX3" fmla="*/ 2661654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70305 w 2853015"/>
              <a:gd name="connsiteY2" fmla="*/ 156555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00719 w 2853015"/>
              <a:gd name="connsiteY2" fmla="*/ 208740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00719 w 2853015"/>
              <a:gd name="connsiteY2" fmla="*/ 208740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015" h="4174813">
                <a:moveTo>
                  <a:pt x="0" y="4174813"/>
                </a:moveTo>
                <a:cubicBezTo>
                  <a:pt x="1004644" y="2501989"/>
                  <a:pt x="1704848" y="1356815"/>
                  <a:pt x="2104968" y="695803"/>
                </a:cubicBezTo>
                <a:lnTo>
                  <a:pt x="2400719" y="208740"/>
                </a:lnTo>
                <a:cubicBezTo>
                  <a:pt x="2452908" y="121765"/>
                  <a:pt x="2516685" y="69580"/>
                  <a:pt x="2592068" y="34790"/>
                </a:cubicBezTo>
                <a:cubicBezTo>
                  <a:pt x="2667451" y="0"/>
                  <a:pt x="2853015" y="0"/>
                  <a:pt x="2853015" y="0"/>
                </a:cubicBezTo>
              </a:path>
            </a:pathLst>
          </a:custGeom>
          <a:ln w="571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136585" y="1838227"/>
            <a:ext cx="3983784" cy="4200892"/>
          </a:xfrm>
          <a:custGeom>
            <a:avLst/>
            <a:gdLst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56922 w 3531476"/>
              <a:gd name="connsiteY3" fmla="*/ 3212406 h 4221319"/>
              <a:gd name="connsiteX4" fmla="*/ 1496093 w 3531476"/>
              <a:gd name="connsiteY4" fmla="*/ 3108036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56922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91715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452307 w 3531476"/>
              <a:gd name="connsiteY1" fmla="*/ 3403752 h 4221319"/>
              <a:gd name="connsiteX2" fmla="*/ 539289 w 3531476"/>
              <a:gd name="connsiteY2" fmla="*/ 3299381 h 4221319"/>
              <a:gd name="connsiteX3" fmla="*/ 1391715 w 3531476"/>
              <a:gd name="connsiteY3" fmla="*/ 3212406 h 4221319"/>
              <a:gd name="connsiteX4" fmla="*/ 1600471 w 3531476"/>
              <a:gd name="connsiteY4" fmla="*/ 2916690 h 4221319"/>
              <a:gd name="connsiteX5" fmla="*/ 2853015 w 3531476"/>
              <a:gd name="connsiteY5" fmla="*/ 846679 h 4221319"/>
              <a:gd name="connsiteX6" fmla="*/ 3270529 w 3531476"/>
              <a:gd name="connsiteY6" fmla="*/ 133481 h 4221319"/>
              <a:gd name="connsiteX7" fmla="*/ 3479287 w 3531476"/>
              <a:gd name="connsiteY7" fmla="*/ 11716 h 4221319"/>
              <a:gd name="connsiteX8" fmla="*/ 3531476 w 3531476"/>
              <a:gd name="connsiteY8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391715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739643 w 3531476"/>
              <a:gd name="connsiteY2" fmla="*/ 3212406 h 4221319"/>
              <a:gd name="connsiteX3" fmla="*/ 1600471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739643 w 3531476"/>
              <a:gd name="connsiteY2" fmla="*/ 3212406 h 4221319"/>
              <a:gd name="connsiteX3" fmla="*/ 1896210 w 3531476"/>
              <a:gd name="connsiteY3" fmla="*/ 2916690 h 4221319"/>
              <a:gd name="connsiteX4" fmla="*/ 2853015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31476"/>
              <a:gd name="connsiteY0" fmla="*/ 4221319 h 4221319"/>
              <a:gd name="connsiteX1" fmla="*/ 539289 w 3531476"/>
              <a:gd name="connsiteY1" fmla="*/ 3299381 h 4221319"/>
              <a:gd name="connsiteX2" fmla="*/ 1739643 w 3531476"/>
              <a:gd name="connsiteY2" fmla="*/ 3212406 h 4221319"/>
              <a:gd name="connsiteX3" fmla="*/ 1896210 w 3531476"/>
              <a:gd name="connsiteY3" fmla="*/ 2916690 h 4221319"/>
              <a:gd name="connsiteX4" fmla="*/ 3131358 w 3531476"/>
              <a:gd name="connsiteY4" fmla="*/ 846679 h 4221319"/>
              <a:gd name="connsiteX5" fmla="*/ 3270529 w 3531476"/>
              <a:gd name="connsiteY5" fmla="*/ 133481 h 4221319"/>
              <a:gd name="connsiteX6" fmla="*/ 3479287 w 3531476"/>
              <a:gd name="connsiteY6" fmla="*/ 11716 h 4221319"/>
              <a:gd name="connsiteX7" fmla="*/ 3531476 w 3531476"/>
              <a:gd name="connsiteY7" fmla="*/ 11716 h 4221319"/>
              <a:gd name="connsiteX0" fmla="*/ 0 w 3596706"/>
              <a:gd name="connsiteY0" fmla="*/ 4220105 h 4220105"/>
              <a:gd name="connsiteX1" fmla="*/ 539289 w 3596706"/>
              <a:gd name="connsiteY1" fmla="*/ 3298167 h 4220105"/>
              <a:gd name="connsiteX2" fmla="*/ 1739643 w 3596706"/>
              <a:gd name="connsiteY2" fmla="*/ 3211192 h 4220105"/>
              <a:gd name="connsiteX3" fmla="*/ 1896210 w 3596706"/>
              <a:gd name="connsiteY3" fmla="*/ 2915476 h 4220105"/>
              <a:gd name="connsiteX4" fmla="*/ 3131358 w 3596706"/>
              <a:gd name="connsiteY4" fmla="*/ 845465 h 4220105"/>
              <a:gd name="connsiteX5" fmla="*/ 3583665 w 3596706"/>
              <a:gd name="connsiteY5" fmla="*/ 114872 h 4220105"/>
              <a:gd name="connsiteX6" fmla="*/ 3479287 w 3596706"/>
              <a:gd name="connsiteY6" fmla="*/ 10502 h 4220105"/>
              <a:gd name="connsiteX7" fmla="*/ 3531476 w 3596706"/>
              <a:gd name="connsiteY7" fmla="*/ 10502 h 4220105"/>
              <a:gd name="connsiteX0" fmla="*/ 0 w 4279522"/>
              <a:gd name="connsiteY0" fmla="*/ 4220105 h 4220105"/>
              <a:gd name="connsiteX1" fmla="*/ 539289 w 4279522"/>
              <a:gd name="connsiteY1" fmla="*/ 3298167 h 4220105"/>
              <a:gd name="connsiteX2" fmla="*/ 1739643 w 4279522"/>
              <a:gd name="connsiteY2" fmla="*/ 3211192 h 4220105"/>
              <a:gd name="connsiteX3" fmla="*/ 1896210 w 4279522"/>
              <a:gd name="connsiteY3" fmla="*/ 2915476 h 4220105"/>
              <a:gd name="connsiteX4" fmla="*/ 3131358 w 4279522"/>
              <a:gd name="connsiteY4" fmla="*/ 845465 h 4220105"/>
              <a:gd name="connsiteX5" fmla="*/ 3583665 w 4279522"/>
              <a:gd name="connsiteY5" fmla="*/ 114872 h 4220105"/>
              <a:gd name="connsiteX6" fmla="*/ 3479287 w 4279522"/>
              <a:gd name="connsiteY6" fmla="*/ 10502 h 4220105"/>
              <a:gd name="connsiteX7" fmla="*/ 4279522 w 4279522"/>
              <a:gd name="connsiteY7" fmla="*/ 10502 h 4220105"/>
              <a:gd name="connsiteX0" fmla="*/ 0 w 4279522"/>
              <a:gd name="connsiteY0" fmla="*/ 4213642 h 4213642"/>
              <a:gd name="connsiteX1" fmla="*/ 539289 w 4279522"/>
              <a:gd name="connsiteY1" fmla="*/ 3291704 h 4213642"/>
              <a:gd name="connsiteX2" fmla="*/ 1739643 w 4279522"/>
              <a:gd name="connsiteY2" fmla="*/ 3204729 h 4213642"/>
              <a:gd name="connsiteX3" fmla="*/ 1896210 w 4279522"/>
              <a:gd name="connsiteY3" fmla="*/ 2909013 h 4213642"/>
              <a:gd name="connsiteX4" fmla="*/ 3131358 w 4279522"/>
              <a:gd name="connsiteY4" fmla="*/ 839002 h 4213642"/>
              <a:gd name="connsiteX5" fmla="*/ 3583665 w 4279522"/>
              <a:gd name="connsiteY5" fmla="*/ 108409 h 4213642"/>
              <a:gd name="connsiteX6" fmla="*/ 4122955 w 4279522"/>
              <a:gd name="connsiteY6" fmla="*/ 21434 h 4213642"/>
              <a:gd name="connsiteX7" fmla="*/ 4279522 w 4279522"/>
              <a:gd name="connsiteY7" fmla="*/ 4039 h 4213642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39643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39643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39643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39643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617868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04850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04850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04850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04850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4122955 w 4279522"/>
              <a:gd name="connsiteY6" fmla="*/ 19640 h 4211848"/>
              <a:gd name="connsiteX7" fmla="*/ 4279522 w 4279522"/>
              <a:gd name="connsiteY7" fmla="*/ 2245 h 4211848"/>
              <a:gd name="connsiteX0" fmla="*/ 0 w 4279522"/>
              <a:gd name="connsiteY0" fmla="*/ 4211848 h 4211848"/>
              <a:gd name="connsiteX1" fmla="*/ 539289 w 4279522"/>
              <a:gd name="connsiteY1" fmla="*/ 3289910 h 4211848"/>
              <a:gd name="connsiteX2" fmla="*/ 1704850 w 4279522"/>
              <a:gd name="connsiteY2" fmla="*/ 3202935 h 4211848"/>
              <a:gd name="connsiteX3" fmla="*/ 1896210 w 4279522"/>
              <a:gd name="connsiteY3" fmla="*/ 2907219 h 4211848"/>
              <a:gd name="connsiteX4" fmla="*/ 3131358 w 4279522"/>
              <a:gd name="connsiteY4" fmla="*/ 837208 h 4211848"/>
              <a:gd name="connsiteX5" fmla="*/ 3583665 w 4279522"/>
              <a:gd name="connsiteY5" fmla="*/ 106615 h 4211848"/>
              <a:gd name="connsiteX6" fmla="*/ 3983784 w 4279522"/>
              <a:gd name="connsiteY6" fmla="*/ 19640 h 4211848"/>
              <a:gd name="connsiteX7" fmla="*/ 4279522 w 4279522"/>
              <a:gd name="connsiteY7" fmla="*/ 2245 h 4211848"/>
              <a:gd name="connsiteX0" fmla="*/ 0 w 3983784"/>
              <a:gd name="connsiteY0" fmla="*/ 4200892 h 4200892"/>
              <a:gd name="connsiteX1" fmla="*/ 539289 w 3983784"/>
              <a:gd name="connsiteY1" fmla="*/ 3278954 h 4200892"/>
              <a:gd name="connsiteX2" fmla="*/ 1704850 w 3983784"/>
              <a:gd name="connsiteY2" fmla="*/ 3191979 h 4200892"/>
              <a:gd name="connsiteX3" fmla="*/ 1896210 w 3983784"/>
              <a:gd name="connsiteY3" fmla="*/ 2896263 h 4200892"/>
              <a:gd name="connsiteX4" fmla="*/ 3131358 w 3983784"/>
              <a:gd name="connsiteY4" fmla="*/ 826252 h 4200892"/>
              <a:gd name="connsiteX5" fmla="*/ 3583665 w 3983784"/>
              <a:gd name="connsiteY5" fmla="*/ 95659 h 4200892"/>
              <a:gd name="connsiteX6" fmla="*/ 3983784 w 3983784"/>
              <a:gd name="connsiteY6" fmla="*/ 8684 h 4200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83784" h="4200892">
                <a:moveTo>
                  <a:pt x="0" y="4200892"/>
                </a:moveTo>
                <a:cubicBezTo>
                  <a:pt x="112352" y="4008822"/>
                  <a:pt x="297383" y="3534898"/>
                  <a:pt x="539289" y="3278954"/>
                </a:cubicBezTo>
                <a:cubicBezTo>
                  <a:pt x="864023" y="3215172"/>
                  <a:pt x="1394780" y="3209571"/>
                  <a:pt x="1704850" y="3191979"/>
                </a:cubicBezTo>
                <a:cubicBezTo>
                  <a:pt x="1861417" y="2971641"/>
                  <a:pt x="1658459" y="3290551"/>
                  <a:pt x="1896210" y="2896263"/>
                </a:cubicBezTo>
                <a:cubicBezTo>
                  <a:pt x="2133961" y="2501975"/>
                  <a:pt x="2850116" y="1293019"/>
                  <a:pt x="3131358" y="826252"/>
                </a:cubicBezTo>
                <a:cubicBezTo>
                  <a:pt x="3412600" y="359485"/>
                  <a:pt x="3441594" y="231920"/>
                  <a:pt x="3583665" y="95659"/>
                </a:cubicBezTo>
                <a:cubicBezTo>
                  <a:pt x="3725736" y="-40602"/>
                  <a:pt x="3833015" y="8684"/>
                  <a:pt x="3983784" y="8684"/>
                </a:cubicBezTo>
              </a:path>
            </a:pathLst>
          </a:custGeom>
          <a:ln w="57150" cmpd="sng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972206" y="2552720"/>
            <a:ext cx="2757328" cy="523220"/>
            <a:chOff x="5184139" y="2497500"/>
            <a:chExt cx="2757328" cy="523220"/>
          </a:xfrm>
        </p:grpSpPr>
        <p:sp>
          <p:nvSpPr>
            <p:cNvPr id="25" name="TextBox 24"/>
            <p:cNvSpPr txBox="1"/>
            <p:nvPr/>
          </p:nvSpPr>
          <p:spPr>
            <a:xfrm>
              <a:off x="6332302" y="2497500"/>
              <a:ext cx="1609165" cy="523220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Snapshot</a:t>
              </a:r>
              <a:endParaRPr lang="en-US" sz="2800" b="1" dirty="0"/>
            </a:p>
          </p:txBody>
        </p:sp>
        <p:cxnSp>
          <p:nvCxnSpPr>
            <p:cNvPr id="26" name="Straight Arrow Connector 25"/>
            <p:cNvCxnSpPr>
              <a:stCxn id="25" idx="1"/>
            </p:cNvCxnSpPr>
            <p:nvPr/>
          </p:nvCxnSpPr>
          <p:spPr bwMode="auto">
            <a:xfrm flipH="1" flipV="1">
              <a:off x="5184139" y="2692119"/>
              <a:ext cx="1148163" cy="66991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4" name="Group 33"/>
          <p:cNvGrpSpPr/>
          <p:nvPr/>
        </p:nvGrpSpPr>
        <p:grpSpPr>
          <a:xfrm>
            <a:off x="4509333" y="4065509"/>
            <a:ext cx="2691949" cy="954107"/>
            <a:chOff x="4721266" y="4010289"/>
            <a:chExt cx="2691949" cy="954107"/>
          </a:xfrm>
        </p:grpSpPr>
        <p:sp>
          <p:nvSpPr>
            <p:cNvPr id="24" name="TextBox 23"/>
            <p:cNvSpPr txBox="1"/>
            <p:nvPr/>
          </p:nvSpPr>
          <p:spPr>
            <a:xfrm>
              <a:off x="5715216" y="4010289"/>
              <a:ext cx="1697999" cy="9541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One slow machine</a:t>
              </a:r>
              <a:endParaRPr lang="en-US" sz="2800" b="1" dirty="0"/>
            </a:p>
          </p:txBody>
        </p:sp>
        <p:cxnSp>
          <p:nvCxnSpPr>
            <p:cNvPr id="28" name="Straight Arrow Connector 27"/>
            <p:cNvCxnSpPr>
              <a:stCxn id="24" idx="1"/>
            </p:cNvCxnSpPr>
            <p:nvPr/>
          </p:nvCxnSpPr>
          <p:spPr bwMode="auto">
            <a:xfrm flipH="1" flipV="1">
              <a:off x="4721266" y="4010291"/>
              <a:ext cx="993950" cy="477052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6" name="TextBox 35"/>
          <p:cNvSpPr txBox="1"/>
          <p:nvPr/>
        </p:nvSpPr>
        <p:spPr>
          <a:xfrm>
            <a:off x="1681125" y="797331"/>
            <a:ext cx="565641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Because we have to stop the world, </a:t>
            </a:r>
          </a:p>
          <a:p>
            <a:r>
              <a:rPr lang="en-US" sz="2400" b="1" dirty="0" smtClean="0"/>
              <a:t>One slow machine slows everything down!</a:t>
            </a:r>
            <a:endParaRPr lang="en-US" sz="2400" b="1" dirty="0"/>
          </a:p>
        </p:txBody>
      </p:sp>
      <p:grpSp>
        <p:nvGrpSpPr>
          <p:cNvPr id="41" name="Group 40"/>
          <p:cNvGrpSpPr/>
          <p:nvPr/>
        </p:nvGrpSpPr>
        <p:grpSpPr>
          <a:xfrm>
            <a:off x="2119189" y="4091996"/>
            <a:ext cx="1794633" cy="913814"/>
            <a:chOff x="2119189" y="4091996"/>
            <a:chExt cx="1794633" cy="913814"/>
          </a:xfrm>
        </p:grpSpPr>
        <p:sp>
          <p:nvSpPr>
            <p:cNvPr id="39" name="Left-Right Arrow 38"/>
            <p:cNvSpPr/>
            <p:nvPr/>
          </p:nvSpPr>
          <p:spPr bwMode="auto">
            <a:xfrm>
              <a:off x="2785485" y="4660667"/>
              <a:ext cx="726247" cy="345143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119189" y="4091996"/>
              <a:ext cx="1794633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Snapshot time</a:t>
              </a:r>
              <a:endParaRPr lang="en-US" sz="2000" b="1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2912827" y="5149540"/>
            <a:ext cx="1667291" cy="780999"/>
            <a:chOff x="2912827" y="5149540"/>
            <a:chExt cx="1667291" cy="780999"/>
          </a:xfrm>
        </p:grpSpPr>
        <p:sp>
          <p:nvSpPr>
            <p:cNvPr id="38" name="Left-Right Arrow 37"/>
            <p:cNvSpPr/>
            <p:nvPr/>
          </p:nvSpPr>
          <p:spPr bwMode="auto">
            <a:xfrm>
              <a:off x="3511732" y="5149540"/>
              <a:ext cx="486269" cy="345143"/>
            </a:xfrm>
            <a:prstGeom prst="left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912827" y="5530429"/>
              <a:ext cx="1667291" cy="40011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000" b="1" dirty="0" smtClean="0"/>
                <a:t>Slow machine</a:t>
              </a:r>
              <a:endParaRPr 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9291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" grpId="0" animBg="1"/>
      <p:bldP spid="20" grpId="0" animBg="1"/>
      <p:bldP spid="3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can we do better?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Take advantage of consistency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096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Checkpointing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1"/>
            <a:ext cx="8305800" cy="112167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1985: </a:t>
            </a:r>
            <a:r>
              <a:rPr lang="en-US" dirty="0" err="1" smtClean="0"/>
              <a:t>Chandy-Lamport</a:t>
            </a:r>
            <a:r>
              <a:rPr lang="en-US" dirty="0" smtClean="0"/>
              <a:t> invented an asynchronous snapshotting algorithm for distributed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70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457201" y="2221977"/>
            <a:ext cx="8305800" cy="4187865"/>
            <a:chOff x="457201" y="1905189"/>
            <a:chExt cx="8305800" cy="4187865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58465" y="3282522"/>
              <a:ext cx="1342928" cy="805757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77959" y="4640810"/>
              <a:ext cx="1342928" cy="805757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881514" y="2428816"/>
              <a:ext cx="1342928" cy="805757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53222" y="3651246"/>
              <a:ext cx="1342928" cy="805757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0981" y="4500502"/>
              <a:ext cx="1342928" cy="805757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10294" y="2476765"/>
              <a:ext cx="1342928" cy="805757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80981" y="3282522"/>
              <a:ext cx="1342928" cy="805757"/>
            </a:xfrm>
            <a:prstGeom prst="rect">
              <a:avLst/>
            </a:prstGeom>
          </p:spPr>
        </p:pic>
        <p:sp>
          <p:nvSpPr>
            <p:cNvPr id="13" name="Cloud 12"/>
            <p:cNvSpPr/>
            <p:nvPr/>
          </p:nvSpPr>
          <p:spPr bwMode="auto">
            <a:xfrm>
              <a:off x="457201" y="1905189"/>
              <a:ext cx="8305800" cy="4187865"/>
            </a:xfrm>
            <a:prstGeom prst="cloud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98392" y="2514771"/>
            <a:ext cx="2868621" cy="2967183"/>
            <a:chOff x="798392" y="2514771"/>
            <a:chExt cx="2868621" cy="2967183"/>
          </a:xfrm>
        </p:grpSpPr>
        <p:grpSp>
          <p:nvGrpSpPr>
            <p:cNvPr id="22" name="Group 21"/>
            <p:cNvGrpSpPr/>
            <p:nvPr/>
          </p:nvGrpSpPr>
          <p:grpSpPr>
            <a:xfrm>
              <a:off x="2087048" y="2859085"/>
              <a:ext cx="1579965" cy="2622869"/>
              <a:chOff x="2087048" y="2542297"/>
              <a:chExt cx="1579965" cy="2622869"/>
            </a:xfrm>
          </p:grpSpPr>
          <p:sp>
            <p:nvSpPr>
              <p:cNvPr id="15" name="Smiley Face 14"/>
              <p:cNvSpPr/>
              <p:nvPr/>
            </p:nvSpPr>
            <p:spPr bwMode="auto">
              <a:xfrm>
                <a:off x="3043767" y="2542297"/>
                <a:ext cx="623246" cy="623246"/>
              </a:xfrm>
              <a:prstGeom prst="smileyFac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6" name="Smiley Face 15"/>
              <p:cNvSpPr/>
              <p:nvPr/>
            </p:nvSpPr>
            <p:spPr bwMode="auto">
              <a:xfrm>
                <a:off x="2087048" y="3339623"/>
                <a:ext cx="623246" cy="623246"/>
              </a:xfrm>
              <a:prstGeom prst="smileyFac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7" name="Smiley Face 16"/>
              <p:cNvSpPr/>
              <p:nvPr/>
            </p:nvSpPr>
            <p:spPr bwMode="auto">
              <a:xfrm>
                <a:off x="2087048" y="4541920"/>
                <a:ext cx="623246" cy="623246"/>
              </a:xfrm>
              <a:prstGeom prst="smileyFac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798392" y="2514771"/>
              <a:ext cx="1765177" cy="461665"/>
            </a:xfrm>
            <a:prstGeom prst="rec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snapshotted</a:t>
              </a:r>
              <a:endParaRPr lang="en-US" sz="2400" b="1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381027" y="2745603"/>
            <a:ext cx="4305773" cy="2891250"/>
            <a:chOff x="4381027" y="2745603"/>
            <a:chExt cx="4305773" cy="2891250"/>
          </a:xfrm>
        </p:grpSpPr>
        <p:grpSp>
          <p:nvGrpSpPr>
            <p:cNvPr id="23" name="Group 22"/>
            <p:cNvGrpSpPr/>
            <p:nvPr/>
          </p:nvGrpSpPr>
          <p:grpSpPr>
            <a:xfrm>
              <a:off x="4381027" y="2793553"/>
              <a:ext cx="3024019" cy="2843300"/>
              <a:chOff x="4381027" y="2476765"/>
              <a:chExt cx="3024019" cy="2843300"/>
            </a:xfrm>
          </p:grpSpPr>
          <p:sp>
            <p:nvSpPr>
              <p:cNvPr id="18" name="Smiley Face 17"/>
              <p:cNvSpPr/>
              <p:nvPr/>
            </p:nvSpPr>
            <p:spPr bwMode="auto">
              <a:xfrm>
                <a:off x="5222577" y="2476765"/>
                <a:ext cx="623246" cy="623246"/>
              </a:xfrm>
              <a:prstGeom prst="smileyFace">
                <a:avLst>
                  <a:gd name="adj" fmla="val -4653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19" name="Smiley Face 18"/>
              <p:cNvSpPr/>
              <p:nvPr/>
            </p:nvSpPr>
            <p:spPr bwMode="auto">
              <a:xfrm>
                <a:off x="6781800" y="3339623"/>
                <a:ext cx="623246" cy="623246"/>
              </a:xfrm>
              <a:prstGeom prst="smileyFace">
                <a:avLst>
                  <a:gd name="adj" fmla="val -4653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20" name="Smiley Face 19"/>
              <p:cNvSpPr/>
              <p:nvPr/>
            </p:nvSpPr>
            <p:spPr bwMode="auto">
              <a:xfrm>
                <a:off x="4381027" y="3692664"/>
                <a:ext cx="623246" cy="623246"/>
              </a:xfrm>
              <a:prstGeom prst="smileyFace">
                <a:avLst>
                  <a:gd name="adj" fmla="val -4653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  <p:sp>
            <p:nvSpPr>
              <p:cNvPr id="21" name="Smiley Face 20"/>
              <p:cNvSpPr/>
              <p:nvPr/>
            </p:nvSpPr>
            <p:spPr bwMode="auto">
              <a:xfrm>
                <a:off x="5686600" y="4696819"/>
                <a:ext cx="623246" cy="623246"/>
              </a:xfrm>
              <a:prstGeom prst="smileyFace">
                <a:avLst>
                  <a:gd name="adj" fmla="val -4653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6377153" y="2745603"/>
              <a:ext cx="2309647" cy="46166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Not snapshotted</a:t>
              </a:r>
              <a:endParaRPr lang="en-US" sz="2400" b="1" dirty="0"/>
            </a:p>
          </p:txBody>
        </p:sp>
      </p:grpSp>
      <p:sp>
        <p:nvSpPr>
          <p:cNvPr id="27" name="Freeform 26"/>
          <p:cNvSpPr/>
          <p:nvPr/>
        </p:nvSpPr>
        <p:spPr>
          <a:xfrm>
            <a:off x="3512466" y="2416004"/>
            <a:ext cx="932702" cy="3658520"/>
          </a:xfrm>
          <a:custGeom>
            <a:avLst/>
            <a:gdLst>
              <a:gd name="connsiteX0" fmla="*/ 932702 w 932702"/>
              <a:gd name="connsiteY0" fmla="*/ 0 h 3548074"/>
              <a:gd name="connsiteX1" fmla="*/ 822263 w 932702"/>
              <a:gd name="connsiteY1" fmla="*/ 842149 h 3548074"/>
              <a:gd name="connsiteX2" fmla="*/ 297678 w 932702"/>
              <a:gd name="connsiteY2" fmla="*/ 1725717 h 3548074"/>
              <a:gd name="connsiteX3" fmla="*/ 7776 w 932702"/>
              <a:gd name="connsiteY3" fmla="*/ 2526449 h 3548074"/>
              <a:gd name="connsiteX4" fmla="*/ 76800 w 932702"/>
              <a:gd name="connsiteY4" fmla="*/ 3548074 h 354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32702" h="3548074">
                <a:moveTo>
                  <a:pt x="932702" y="0"/>
                </a:moveTo>
                <a:cubicBezTo>
                  <a:pt x="930401" y="277265"/>
                  <a:pt x="928100" y="554530"/>
                  <a:pt x="822263" y="842149"/>
                </a:cubicBezTo>
                <a:cubicBezTo>
                  <a:pt x="716426" y="1129768"/>
                  <a:pt x="433426" y="1445000"/>
                  <a:pt x="297678" y="1725717"/>
                </a:cubicBezTo>
                <a:cubicBezTo>
                  <a:pt x="161930" y="2006434"/>
                  <a:pt x="44589" y="2222723"/>
                  <a:pt x="7776" y="2526449"/>
                </a:cubicBezTo>
                <a:cubicBezTo>
                  <a:pt x="-29037" y="2830175"/>
                  <a:pt x="76800" y="3548074"/>
                  <a:pt x="76800" y="3548074"/>
                </a:cubicBezTo>
              </a:path>
            </a:pathLst>
          </a:custGeom>
          <a:ln w="7620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967608" y="3165679"/>
            <a:ext cx="1846706" cy="2214045"/>
            <a:chOff x="2967608" y="3165679"/>
            <a:chExt cx="1846706" cy="2214045"/>
          </a:xfrm>
        </p:grpSpPr>
        <p:sp>
          <p:nvSpPr>
            <p:cNvPr id="28" name="Striped Right Arrow 27"/>
            <p:cNvSpPr/>
            <p:nvPr/>
          </p:nvSpPr>
          <p:spPr bwMode="auto">
            <a:xfrm rot="10800000">
              <a:off x="3292130" y="3165679"/>
              <a:ext cx="1522184" cy="981463"/>
            </a:xfrm>
            <a:prstGeom prst="striped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sp>
          <p:nvSpPr>
            <p:cNvPr id="29" name="Striped Right Arrow 28"/>
            <p:cNvSpPr/>
            <p:nvPr/>
          </p:nvSpPr>
          <p:spPr bwMode="auto">
            <a:xfrm rot="10800000">
              <a:off x="2967608" y="4398261"/>
              <a:ext cx="1522184" cy="981463"/>
            </a:xfrm>
            <a:prstGeom prst="striped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941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Checkpointing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113" y="917378"/>
            <a:ext cx="8305800" cy="53339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Fine Grained </a:t>
            </a:r>
            <a:r>
              <a:rPr lang="en-US" dirty="0" err="1" smtClean="0"/>
              <a:t>Chandy-Lamport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71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2026471" y="1584162"/>
            <a:ext cx="4969752" cy="3258154"/>
            <a:chOff x="1836048" y="1339157"/>
            <a:chExt cx="4969752" cy="3258154"/>
          </a:xfrm>
        </p:grpSpPr>
        <p:sp>
          <p:nvSpPr>
            <p:cNvPr id="34" name="Rectangle 33"/>
            <p:cNvSpPr/>
            <p:nvPr/>
          </p:nvSpPr>
          <p:spPr bwMode="auto">
            <a:xfrm>
              <a:off x="1836048" y="1339157"/>
              <a:ext cx="4969752" cy="3258154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-64" charset="0"/>
              </a:endParaRP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2255552" y="1551842"/>
              <a:ext cx="4321165" cy="2758574"/>
              <a:chOff x="3293130" y="1068703"/>
              <a:chExt cx="5008569" cy="3197403"/>
            </a:xfrm>
          </p:grpSpPr>
          <p:sp>
            <p:nvSpPr>
              <p:cNvPr id="36" name="Oval 35"/>
              <p:cNvSpPr/>
              <p:nvPr/>
            </p:nvSpPr>
            <p:spPr bwMode="auto">
              <a:xfrm>
                <a:off x="4115072" y="2471161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7" name="Oval 36"/>
              <p:cNvSpPr/>
              <p:nvPr/>
            </p:nvSpPr>
            <p:spPr bwMode="auto">
              <a:xfrm>
                <a:off x="5601173" y="2471161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 bwMode="auto">
              <a:xfrm>
                <a:off x="7087273" y="2471161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39" name="Oval 38"/>
              <p:cNvSpPr/>
              <p:nvPr/>
            </p:nvSpPr>
            <p:spPr bwMode="auto">
              <a:xfrm>
                <a:off x="7909213" y="3863549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0" name="Oval 39"/>
              <p:cNvSpPr/>
              <p:nvPr/>
            </p:nvSpPr>
            <p:spPr bwMode="auto">
              <a:xfrm>
                <a:off x="6370519" y="387362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1" name="Oval 40"/>
              <p:cNvSpPr/>
              <p:nvPr/>
            </p:nvSpPr>
            <p:spPr bwMode="auto">
              <a:xfrm>
                <a:off x="4831824" y="3863549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2" name="Oval 41"/>
              <p:cNvSpPr/>
              <p:nvPr/>
            </p:nvSpPr>
            <p:spPr bwMode="auto">
              <a:xfrm>
                <a:off x="3293130" y="3873620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3" name="Oval 42"/>
              <p:cNvSpPr/>
              <p:nvPr/>
            </p:nvSpPr>
            <p:spPr bwMode="auto">
              <a:xfrm>
                <a:off x="7909213" y="1068703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4" name="Oval 43"/>
              <p:cNvSpPr/>
              <p:nvPr/>
            </p:nvSpPr>
            <p:spPr bwMode="auto">
              <a:xfrm>
                <a:off x="6370519" y="1078774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5" name="Oval 44"/>
              <p:cNvSpPr/>
              <p:nvPr/>
            </p:nvSpPr>
            <p:spPr bwMode="auto">
              <a:xfrm>
                <a:off x="4831824" y="1068703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sp>
            <p:nvSpPr>
              <p:cNvPr id="46" name="Oval 45"/>
              <p:cNvSpPr/>
              <p:nvPr/>
            </p:nvSpPr>
            <p:spPr bwMode="auto">
              <a:xfrm>
                <a:off x="3293130" y="1078774"/>
                <a:ext cx="392486" cy="392486"/>
              </a:xfrm>
              <a:prstGeom prst="ellips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34" charset="0"/>
                  <a:ea typeface="ＭＳ Ｐゴシック" pitchFamily="-111" charset="-128"/>
                </a:endParaRP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 bwMode="auto">
              <a:xfrm flipV="1">
                <a:off x="3685616" y="1275017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 bwMode="auto">
              <a:xfrm>
                <a:off x="5224310" y="1264947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49" name="Straight Arrow Connector 48"/>
              <p:cNvCxnSpPr/>
              <p:nvPr/>
            </p:nvCxnSpPr>
            <p:spPr bwMode="auto">
              <a:xfrm flipV="1">
                <a:off x="6763005" y="1264947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0" name="Straight Arrow Connector 49"/>
              <p:cNvCxnSpPr/>
              <p:nvPr/>
            </p:nvCxnSpPr>
            <p:spPr bwMode="auto">
              <a:xfrm rot="5400000" flipH="1" flipV="1">
                <a:off x="4107227" y="1746565"/>
                <a:ext cx="1124929" cy="43922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1" name="Straight Arrow Connector 50"/>
              <p:cNvCxnSpPr>
                <a:stCxn id="38" idx="1"/>
              </p:cNvCxnSpPr>
              <p:nvPr/>
            </p:nvCxnSpPr>
            <p:spPr bwMode="auto">
              <a:xfrm rot="16200000" flipV="1">
                <a:off x="6367710" y="1751598"/>
                <a:ext cx="1114858" cy="439225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2" name="Straight Arrow Connector 51"/>
              <p:cNvCxnSpPr>
                <a:stCxn id="37" idx="7"/>
              </p:cNvCxnSpPr>
              <p:nvPr/>
            </p:nvCxnSpPr>
            <p:spPr bwMode="auto">
              <a:xfrm rot="5400000" flipH="1" flipV="1">
                <a:off x="5624659" y="1725302"/>
                <a:ext cx="1114858" cy="49181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3" name="Straight Arrow Connector 52"/>
              <p:cNvCxnSpPr>
                <a:stCxn id="37" idx="1"/>
              </p:cNvCxnSpPr>
              <p:nvPr/>
            </p:nvCxnSpPr>
            <p:spPr bwMode="auto">
              <a:xfrm rot="16200000" flipV="1">
                <a:off x="4850278" y="1720266"/>
                <a:ext cx="1124929" cy="49181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4" name="Straight Arrow Connector 53"/>
              <p:cNvCxnSpPr/>
              <p:nvPr/>
            </p:nvCxnSpPr>
            <p:spPr bwMode="auto">
              <a:xfrm flipV="1">
                <a:off x="3685616" y="4059793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5" name="Straight Arrow Connector 54"/>
              <p:cNvCxnSpPr/>
              <p:nvPr/>
            </p:nvCxnSpPr>
            <p:spPr bwMode="auto">
              <a:xfrm>
                <a:off x="5224310" y="4059793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 bwMode="auto">
              <a:xfrm flipV="1">
                <a:off x="6763005" y="4059793"/>
                <a:ext cx="1146209" cy="10071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 bwMode="auto">
              <a:xfrm rot="16200000" flipV="1">
                <a:off x="4112263" y="3143986"/>
                <a:ext cx="1114859" cy="439223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8" name="Straight Arrow Connector 57"/>
              <p:cNvCxnSpPr>
                <a:endCxn id="38" idx="3"/>
              </p:cNvCxnSpPr>
              <p:nvPr/>
            </p:nvCxnSpPr>
            <p:spPr bwMode="auto">
              <a:xfrm rot="5400000" flipH="1" flipV="1">
                <a:off x="6362674" y="3149021"/>
                <a:ext cx="1124930" cy="439225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59" name="Straight Arrow Connector 58"/>
              <p:cNvCxnSpPr>
                <a:endCxn id="37" idx="5"/>
              </p:cNvCxnSpPr>
              <p:nvPr/>
            </p:nvCxnSpPr>
            <p:spPr bwMode="auto">
              <a:xfrm rot="16200000" flipV="1">
                <a:off x="5619624" y="3122724"/>
                <a:ext cx="1124930" cy="491817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  <p:cxnSp>
            <p:nvCxnSpPr>
              <p:cNvPr id="60" name="Straight Arrow Connector 59"/>
              <p:cNvCxnSpPr>
                <a:endCxn id="37" idx="3"/>
              </p:cNvCxnSpPr>
              <p:nvPr/>
            </p:nvCxnSpPr>
            <p:spPr bwMode="auto">
              <a:xfrm rot="5400000" flipH="1" flipV="1">
                <a:off x="4855312" y="3117689"/>
                <a:ext cx="1114859" cy="491819"/>
              </a:xfrm>
              <a:prstGeom prst="straightConnector1">
                <a:avLst/>
              </a:prstGeom>
              <a:ln>
                <a:headEnd type="none"/>
                <a:tailEnd type="none"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</p:cxnSp>
        </p:grpSp>
      </p:grpSp>
      <p:sp>
        <p:nvSpPr>
          <p:cNvPr id="5" name="TextBox 4"/>
          <p:cNvSpPr txBox="1"/>
          <p:nvPr/>
        </p:nvSpPr>
        <p:spPr>
          <a:xfrm>
            <a:off x="254000" y="4985219"/>
            <a:ext cx="858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/>
              <a:t>Easily implemented within </a:t>
            </a:r>
            <a:r>
              <a:rPr lang="en-US" sz="2400" b="1" dirty="0" err="1" smtClean="0"/>
              <a:t>GraphLab</a:t>
            </a:r>
            <a:r>
              <a:rPr lang="en-US" sz="2400" b="1" dirty="0" smtClean="0"/>
              <a:t> as an Update Function! </a:t>
            </a:r>
          </a:p>
        </p:txBody>
      </p:sp>
    </p:spTree>
    <p:extLst>
      <p:ext uri="{BB962C8B-B14F-4D97-AF65-F5344CB8AC3E}">
        <p14:creationId xmlns:p14="http://schemas.microsoft.com/office/powerpoint/2010/main" val="1284727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xmlns:p14="http://schemas.microsoft.com/office/powerpoint/2010/main" spd="slow">
        <p:dissolv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Async</a:t>
            </a:r>
            <a:r>
              <a:rPr lang="en-US" dirty="0" smtClean="0"/>
              <a:t>. Snapshot Performance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2883" y="1314155"/>
            <a:ext cx="7568584" cy="5490099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2145279" y="1768850"/>
            <a:ext cx="5584255" cy="4261933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2206169" y="1829370"/>
            <a:ext cx="1791832" cy="1200404"/>
            <a:chOff x="2418102" y="1774150"/>
            <a:chExt cx="1791832" cy="1200404"/>
          </a:xfrm>
        </p:grpSpPr>
        <p:sp>
          <p:nvSpPr>
            <p:cNvPr id="10" name="Rectangle 9"/>
            <p:cNvSpPr/>
            <p:nvPr/>
          </p:nvSpPr>
          <p:spPr bwMode="auto">
            <a:xfrm>
              <a:off x="2418102" y="1774150"/>
              <a:ext cx="1791832" cy="487062"/>
            </a:xfrm>
            <a:prstGeom prst="rec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ahoma" pitchFamily="-64" charset="0"/>
                </a:rPr>
                <a:t>No Snapshot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 bwMode="auto">
            <a:xfrm>
              <a:off x="3305322" y="2261212"/>
              <a:ext cx="713254" cy="713342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5" name="Freeform 4"/>
          <p:cNvSpPr/>
          <p:nvPr/>
        </p:nvSpPr>
        <p:spPr>
          <a:xfrm>
            <a:off x="2119189" y="1829370"/>
            <a:ext cx="2853015" cy="4174813"/>
          </a:xfrm>
          <a:custGeom>
            <a:avLst/>
            <a:gdLst>
              <a:gd name="connsiteX0" fmla="*/ 0 w 2853015"/>
              <a:gd name="connsiteY0" fmla="*/ 4365989 h 4365989"/>
              <a:gd name="connsiteX1" fmla="*/ 2452897 w 2853015"/>
              <a:gd name="connsiteY1" fmla="*/ 330337 h 4365989"/>
              <a:gd name="connsiteX2" fmla="*/ 2661654 w 2853015"/>
              <a:gd name="connsiteY2" fmla="*/ 225966 h 4365989"/>
              <a:gd name="connsiteX3" fmla="*/ 2853015 w 2853015"/>
              <a:gd name="connsiteY3" fmla="*/ 191176 h 4365989"/>
              <a:gd name="connsiteX0" fmla="*/ 0 w 2853015"/>
              <a:gd name="connsiteY0" fmla="*/ 4477400 h 4477400"/>
              <a:gd name="connsiteX1" fmla="*/ 2452897 w 2853015"/>
              <a:gd name="connsiteY1" fmla="*/ 441748 h 4477400"/>
              <a:gd name="connsiteX2" fmla="*/ 2679062 w 2853015"/>
              <a:gd name="connsiteY2" fmla="*/ 93846 h 4477400"/>
              <a:gd name="connsiteX3" fmla="*/ 2661654 w 2853015"/>
              <a:gd name="connsiteY3" fmla="*/ 337377 h 4477400"/>
              <a:gd name="connsiteX4" fmla="*/ 2853015 w 2853015"/>
              <a:gd name="connsiteY4" fmla="*/ 302587 h 4477400"/>
              <a:gd name="connsiteX0" fmla="*/ 0 w 2853015"/>
              <a:gd name="connsiteY0" fmla="*/ 4360979 h 4360979"/>
              <a:gd name="connsiteX1" fmla="*/ 2452897 w 2853015"/>
              <a:gd name="connsiteY1" fmla="*/ 325327 h 4360979"/>
              <a:gd name="connsiteX2" fmla="*/ 2522494 w 2853015"/>
              <a:gd name="connsiteY2" fmla="*/ 238351 h 4360979"/>
              <a:gd name="connsiteX3" fmla="*/ 2661654 w 2853015"/>
              <a:gd name="connsiteY3" fmla="*/ 220956 h 4360979"/>
              <a:gd name="connsiteX4" fmla="*/ 2853015 w 2853015"/>
              <a:gd name="connsiteY4" fmla="*/ 186166 h 4360979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522494 w 2853015"/>
              <a:gd name="connsiteY2" fmla="*/ 52185 h 4174813"/>
              <a:gd name="connsiteX3" fmla="*/ 2661654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70305 w 2853015"/>
              <a:gd name="connsiteY2" fmla="*/ 156555 h 4174813"/>
              <a:gd name="connsiteX3" fmla="*/ 2661654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70305 w 2853015"/>
              <a:gd name="connsiteY2" fmla="*/ 156555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64 h 4174864"/>
              <a:gd name="connsiteX1" fmla="*/ 2104968 w 2853015"/>
              <a:gd name="connsiteY1" fmla="*/ 695854 h 4174864"/>
              <a:gd name="connsiteX2" fmla="*/ 2452908 w 2853015"/>
              <a:gd name="connsiteY2" fmla="*/ 226186 h 4174864"/>
              <a:gd name="connsiteX3" fmla="*/ 2592068 w 2853015"/>
              <a:gd name="connsiteY3" fmla="*/ 34841 h 4174864"/>
              <a:gd name="connsiteX4" fmla="*/ 2853015 w 2853015"/>
              <a:gd name="connsiteY4" fmla="*/ 51 h 4174864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00719 w 2853015"/>
              <a:gd name="connsiteY2" fmla="*/ 208740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  <a:gd name="connsiteX0" fmla="*/ 0 w 2853015"/>
              <a:gd name="connsiteY0" fmla="*/ 4174813 h 4174813"/>
              <a:gd name="connsiteX1" fmla="*/ 2104968 w 2853015"/>
              <a:gd name="connsiteY1" fmla="*/ 695803 h 4174813"/>
              <a:gd name="connsiteX2" fmla="*/ 2400719 w 2853015"/>
              <a:gd name="connsiteY2" fmla="*/ 208740 h 4174813"/>
              <a:gd name="connsiteX3" fmla="*/ 2592068 w 2853015"/>
              <a:gd name="connsiteY3" fmla="*/ 34790 h 4174813"/>
              <a:gd name="connsiteX4" fmla="*/ 2853015 w 2853015"/>
              <a:gd name="connsiteY4" fmla="*/ 0 h 41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015" h="4174813">
                <a:moveTo>
                  <a:pt x="0" y="4174813"/>
                </a:moveTo>
                <a:cubicBezTo>
                  <a:pt x="1004644" y="2501989"/>
                  <a:pt x="1704848" y="1356815"/>
                  <a:pt x="2104968" y="695803"/>
                </a:cubicBezTo>
                <a:lnTo>
                  <a:pt x="2400719" y="208740"/>
                </a:lnTo>
                <a:cubicBezTo>
                  <a:pt x="2452908" y="121765"/>
                  <a:pt x="2516685" y="69580"/>
                  <a:pt x="2592068" y="34790"/>
                </a:cubicBezTo>
                <a:cubicBezTo>
                  <a:pt x="2667451" y="0"/>
                  <a:pt x="2853015" y="0"/>
                  <a:pt x="2853015" y="0"/>
                </a:cubicBezTo>
              </a:path>
            </a:pathLst>
          </a:custGeom>
          <a:ln w="57150" cmpd="sng">
            <a:solidFill>
              <a:schemeClr val="tx1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741705" y="2552720"/>
            <a:ext cx="2757328" cy="523220"/>
            <a:chOff x="5184139" y="2497500"/>
            <a:chExt cx="2757328" cy="523220"/>
          </a:xfrm>
        </p:grpSpPr>
        <p:sp>
          <p:nvSpPr>
            <p:cNvPr id="25" name="TextBox 24"/>
            <p:cNvSpPr txBox="1"/>
            <p:nvPr/>
          </p:nvSpPr>
          <p:spPr>
            <a:xfrm>
              <a:off x="6332302" y="2497500"/>
              <a:ext cx="1609165" cy="523220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Snapshot</a:t>
              </a:r>
              <a:endParaRPr lang="en-US" sz="2800" b="1" dirty="0"/>
            </a:p>
          </p:txBody>
        </p:sp>
        <p:cxnSp>
          <p:nvCxnSpPr>
            <p:cNvPr id="26" name="Straight Arrow Connector 25"/>
            <p:cNvCxnSpPr>
              <a:stCxn id="25" idx="1"/>
            </p:cNvCxnSpPr>
            <p:nvPr/>
          </p:nvCxnSpPr>
          <p:spPr bwMode="auto">
            <a:xfrm flipH="1" flipV="1">
              <a:off x="5184139" y="2692119"/>
              <a:ext cx="1148163" cy="66991"/>
            </a:xfrm>
            <a:prstGeom prst="straightConnector1">
              <a:avLst/>
            </a:prstGeom>
            <a:noFill/>
            <a:ln w="381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4" name="Group 33"/>
          <p:cNvGrpSpPr/>
          <p:nvPr/>
        </p:nvGrpSpPr>
        <p:grpSpPr>
          <a:xfrm>
            <a:off x="4157308" y="3886034"/>
            <a:ext cx="2691949" cy="954107"/>
            <a:chOff x="4721266" y="4010289"/>
            <a:chExt cx="2691949" cy="954107"/>
          </a:xfrm>
        </p:grpSpPr>
        <p:sp>
          <p:nvSpPr>
            <p:cNvPr id="24" name="TextBox 23"/>
            <p:cNvSpPr txBox="1"/>
            <p:nvPr/>
          </p:nvSpPr>
          <p:spPr>
            <a:xfrm>
              <a:off x="5715216" y="4010289"/>
              <a:ext cx="1697999" cy="9541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One slow machine</a:t>
              </a:r>
              <a:endParaRPr lang="en-US" sz="2800" b="1" dirty="0"/>
            </a:p>
          </p:txBody>
        </p:sp>
        <p:cxnSp>
          <p:nvCxnSpPr>
            <p:cNvPr id="28" name="Straight Arrow Connector 27"/>
            <p:cNvCxnSpPr>
              <a:stCxn id="24" idx="1"/>
            </p:cNvCxnSpPr>
            <p:nvPr/>
          </p:nvCxnSpPr>
          <p:spPr bwMode="auto">
            <a:xfrm flipH="1" flipV="1">
              <a:off x="4721266" y="4010291"/>
              <a:ext cx="993950" cy="477052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19" name="Freeform 18"/>
          <p:cNvSpPr/>
          <p:nvPr/>
        </p:nvSpPr>
        <p:spPr>
          <a:xfrm>
            <a:off x="2119189" y="1781336"/>
            <a:ext cx="3566269" cy="4257783"/>
          </a:xfrm>
          <a:custGeom>
            <a:avLst/>
            <a:gdLst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092315 h 4257783"/>
              <a:gd name="connsiteX3" fmla="*/ 1078579 w 3566269"/>
              <a:gd name="connsiteY3" fmla="*/ 3057524 h 4257783"/>
              <a:gd name="connsiteX4" fmla="*/ 1443904 w 3566269"/>
              <a:gd name="connsiteY4" fmla="*/ 286617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443904 w 3566269"/>
              <a:gd name="connsiteY4" fmla="*/ 286617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66269" h="4257783">
                <a:moveTo>
                  <a:pt x="0" y="4257783"/>
                </a:moveTo>
                <a:cubicBezTo>
                  <a:pt x="198609" y="3893936"/>
                  <a:pt x="397219" y="3524291"/>
                  <a:pt x="521893" y="3335845"/>
                </a:cubicBezTo>
                <a:cubicBezTo>
                  <a:pt x="646567" y="3147399"/>
                  <a:pt x="655266" y="3173492"/>
                  <a:pt x="748047" y="3127105"/>
                </a:cubicBezTo>
                <a:cubicBezTo>
                  <a:pt x="840828" y="3080718"/>
                  <a:pt x="962603" y="3101012"/>
                  <a:pt x="1078579" y="3057524"/>
                </a:cubicBezTo>
                <a:cubicBezTo>
                  <a:pt x="1194555" y="3014036"/>
                  <a:pt x="1301833" y="3031432"/>
                  <a:pt x="1443904" y="2866179"/>
                </a:cubicBezTo>
                <a:cubicBezTo>
                  <a:pt x="1585975" y="2700926"/>
                  <a:pt x="1931004" y="2066006"/>
                  <a:pt x="1931004" y="2066006"/>
                </a:cubicBezTo>
                <a:cubicBezTo>
                  <a:pt x="2119465" y="1758693"/>
                  <a:pt x="2374613" y="1341212"/>
                  <a:pt x="2574672" y="1022303"/>
                </a:cubicBezTo>
                <a:cubicBezTo>
                  <a:pt x="2774731" y="703394"/>
                  <a:pt x="2997985" y="320702"/>
                  <a:pt x="3131358" y="152550"/>
                </a:cubicBezTo>
                <a:cubicBezTo>
                  <a:pt x="3264731" y="-15602"/>
                  <a:pt x="3302423" y="36583"/>
                  <a:pt x="3374908" y="13390"/>
                </a:cubicBezTo>
                <a:cubicBezTo>
                  <a:pt x="3447393" y="-9803"/>
                  <a:pt x="3506831" y="1793"/>
                  <a:pt x="3566269" y="13390"/>
                </a:cubicBezTo>
              </a:path>
            </a:pathLst>
          </a:custGeom>
          <a:ln w="57150" cmpd="sng">
            <a:solidFill>
              <a:srgbClr val="008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116524" y="1829370"/>
            <a:ext cx="3566269" cy="4257783"/>
          </a:xfrm>
          <a:custGeom>
            <a:avLst/>
            <a:gdLst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092315 h 4257783"/>
              <a:gd name="connsiteX3" fmla="*/ 1078579 w 3566269"/>
              <a:gd name="connsiteY3" fmla="*/ 3057524 h 4257783"/>
              <a:gd name="connsiteX4" fmla="*/ 1443904 w 3566269"/>
              <a:gd name="connsiteY4" fmla="*/ 286617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443904 w 3566269"/>
              <a:gd name="connsiteY4" fmla="*/ 286617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443904 w 3566269"/>
              <a:gd name="connsiteY4" fmla="*/ 278477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525311 w 3566269"/>
              <a:gd name="connsiteY4" fmla="*/ 2768499 h 4257783"/>
              <a:gd name="connsiteX5" fmla="*/ 1931004 w 3566269"/>
              <a:gd name="connsiteY5" fmla="*/ 2066006 h 4257783"/>
              <a:gd name="connsiteX6" fmla="*/ 2574672 w 3566269"/>
              <a:gd name="connsiteY6" fmla="*/ 102230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525311 w 3566269"/>
              <a:gd name="connsiteY4" fmla="*/ 2768499 h 4257783"/>
              <a:gd name="connsiteX5" fmla="*/ 1931004 w 3566269"/>
              <a:gd name="connsiteY5" fmla="*/ 2066006 h 4257783"/>
              <a:gd name="connsiteX6" fmla="*/ 2590953 w 3566269"/>
              <a:gd name="connsiteY6" fmla="*/ 1038583 h 4257783"/>
              <a:gd name="connsiteX7" fmla="*/ 3131358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525311 w 3566269"/>
              <a:gd name="connsiteY4" fmla="*/ 2768499 h 4257783"/>
              <a:gd name="connsiteX5" fmla="*/ 1931004 w 3566269"/>
              <a:gd name="connsiteY5" fmla="*/ 2066006 h 4257783"/>
              <a:gd name="connsiteX6" fmla="*/ 2590953 w 3566269"/>
              <a:gd name="connsiteY6" fmla="*/ 1038583 h 4257783"/>
              <a:gd name="connsiteX7" fmla="*/ 3147639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  <a:gd name="connsiteX0" fmla="*/ 0 w 3566269"/>
              <a:gd name="connsiteY0" fmla="*/ 4257783 h 4257783"/>
              <a:gd name="connsiteX1" fmla="*/ 521893 w 3566269"/>
              <a:gd name="connsiteY1" fmla="*/ 3335845 h 4257783"/>
              <a:gd name="connsiteX2" fmla="*/ 748047 w 3566269"/>
              <a:gd name="connsiteY2" fmla="*/ 3127105 h 4257783"/>
              <a:gd name="connsiteX3" fmla="*/ 1078579 w 3566269"/>
              <a:gd name="connsiteY3" fmla="*/ 3057524 h 4257783"/>
              <a:gd name="connsiteX4" fmla="*/ 1525311 w 3566269"/>
              <a:gd name="connsiteY4" fmla="*/ 2768499 h 4257783"/>
              <a:gd name="connsiteX5" fmla="*/ 1963567 w 3566269"/>
              <a:gd name="connsiteY5" fmla="*/ 2066006 h 4257783"/>
              <a:gd name="connsiteX6" fmla="*/ 2590953 w 3566269"/>
              <a:gd name="connsiteY6" fmla="*/ 1038583 h 4257783"/>
              <a:gd name="connsiteX7" fmla="*/ 3147639 w 3566269"/>
              <a:gd name="connsiteY7" fmla="*/ 152550 h 4257783"/>
              <a:gd name="connsiteX8" fmla="*/ 3374908 w 3566269"/>
              <a:gd name="connsiteY8" fmla="*/ 13390 h 4257783"/>
              <a:gd name="connsiteX9" fmla="*/ 3566269 w 3566269"/>
              <a:gd name="connsiteY9" fmla="*/ 13390 h 4257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66269" h="4257783">
                <a:moveTo>
                  <a:pt x="0" y="4257783"/>
                </a:moveTo>
                <a:cubicBezTo>
                  <a:pt x="198609" y="3893936"/>
                  <a:pt x="397219" y="3524291"/>
                  <a:pt x="521893" y="3335845"/>
                </a:cubicBezTo>
                <a:cubicBezTo>
                  <a:pt x="646567" y="3147399"/>
                  <a:pt x="655266" y="3173492"/>
                  <a:pt x="748047" y="3127105"/>
                </a:cubicBezTo>
                <a:cubicBezTo>
                  <a:pt x="840828" y="3080718"/>
                  <a:pt x="949035" y="3117292"/>
                  <a:pt x="1078579" y="3057524"/>
                </a:cubicBezTo>
                <a:cubicBezTo>
                  <a:pt x="1208123" y="2997756"/>
                  <a:pt x="1377813" y="2933752"/>
                  <a:pt x="1525311" y="2768499"/>
                </a:cubicBezTo>
                <a:cubicBezTo>
                  <a:pt x="1672809" y="2603246"/>
                  <a:pt x="1785960" y="2354325"/>
                  <a:pt x="1963567" y="2066006"/>
                </a:cubicBezTo>
                <a:cubicBezTo>
                  <a:pt x="2141174" y="1777687"/>
                  <a:pt x="2393608" y="1357492"/>
                  <a:pt x="2590953" y="1038583"/>
                </a:cubicBezTo>
                <a:cubicBezTo>
                  <a:pt x="2788298" y="719674"/>
                  <a:pt x="3016980" y="323415"/>
                  <a:pt x="3147639" y="152550"/>
                </a:cubicBezTo>
                <a:cubicBezTo>
                  <a:pt x="3278298" y="-18315"/>
                  <a:pt x="3302423" y="36583"/>
                  <a:pt x="3374908" y="13390"/>
                </a:cubicBezTo>
                <a:cubicBezTo>
                  <a:pt x="3447393" y="-9803"/>
                  <a:pt x="3506831" y="1793"/>
                  <a:pt x="3566269" y="13390"/>
                </a:cubicBezTo>
              </a:path>
            </a:pathLst>
          </a:custGeom>
          <a:ln w="57150" cmpd="sng">
            <a:solidFill>
              <a:srgbClr val="FF0000"/>
            </a:solidFill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01089" y="866296"/>
            <a:ext cx="5532284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400" b="1" dirty="0" smtClean="0"/>
              <a:t>No penalty incurred by the slow machine!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9225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2" grpId="1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Extended </a:t>
            </a:r>
            <a:r>
              <a:rPr lang="en-US" dirty="0" err="1" smtClean="0"/>
              <a:t>GraphLab</a:t>
            </a:r>
            <a:r>
              <a:rPr lang="en-US" dirty="0" smtClean="0"/>
              <a:t> abstraction to distributed systems</a:t>
            </a:r>
          </a:p>
          <a:p>
            <a:r>
              <a:rPr lang="en-US" dirty="0" smtClean="0"/>
              <a:t>Two different methods of achieving consistency</a:t>
            </a:r>
          </a:p>
          <a:p>
            <a:pPr lvl="1"/>
            <a:r>
              <a:rPr lang="en-US" dirty="0" smtClean="0"/>
              <a:t>Graph Coloring</a:t>
            </a:r>
          </a:p>
          <a:p>
            <a:pPr lvl="1"/>
            <a:r>
              <a:rPr lang="en-US" dirty="0" smtClean="0"/>
              <a:t>Distributed Locking with pipelining</a:t>
            </a:r>
          </a:p>
          <a:p>
            <a:r>
              <a:rPr lang="en-US" dirty="0" smtClean="0"/>
              <a:t>Efficient implementations</a:t>
            </a:r>
          </a:p>
          <a:p>
            <a:r>
              <a:rPr lang="en-US" dirty="0" smtClean="0"/>
              <a:t>Asynchronous Fault Tolerance with fined-grained </a:t>
            </a:r>
            <a:r>
              <a:rPr lang="en-US" dirty="0" err="1" smtClean="0"/>
              <a:t>Chandy-Lamport</a:t>
            </a: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566251" y="4978905"/>
            <a:ext cx="2473829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8365" y="5678269"/>
            <a:ext cx="7173295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b="1" dirty="0" err="1" smtClean="0"/>
              <a:t>Useability</a:t>
            </a:r>
            <a:endParaRPr lang="en-US" sz="3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289114" y="4978905"/>
            <a:ext cx="2473829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6179" y="4978905"/>
            <a:ext cx="2473829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err="1" smtClean="0"/>
              <a:t>Scalabilitys</a:t>
            </a:r>
            <a:endParaRPr lang="en-US" sz="2800" b="1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73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9432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What’s next?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25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jacobsschool.ucsd.edu/uploads/news_release/2004/pnas.Power_Law.graph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8991600" cy="5791200"/>
          </a:xfrm>
          <a:prstGeom prst="rect">
            <a:avLst/>
          </a:prstGeom>
          <a:noFill/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0" y="5867400"/>
            <a:ext cx="9144000" cy="914400"/>
          </a:xfrm>
          <a:noFill/>
        </p:spPr>
        <p:txBody>
          <a:bodyPr>
            <a:noAutofit/>
          </a:bodyPr>
          <a:lstStyle/>
          <a:p>
            <a:pPr lvl="0">
              <a:spcBef>
                <a:spcPct val="20000"/>
              </a:spcBef>
            </a:pPr>
            <a:r>
              <a:rPr lang="en-US" dirty="0" smtClean="0">
                <a:solidFill>
                  <a:schemeClr val="bg1"/>
                </a:solidFill>
              </a:rPr>
              <a:t>Natural Graphs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80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6200"/>
            <a:ext cx="7391400" cy="838200"/>
          </a:xfrm>
        </p:spPr>
        <p:txBody>
          <a:bodyPr>
            <a:normAutofit/>
          </a:bodyPr>
          <a:lstStyle/>
          <a:p>
            <a:r>
              <a:rPr lang="en-US" dirty="0" smtClean="0"/>
              <a:t>Natural Graphs </a:t>
            </a:r>
            <a:r>
              <a:rPr lang="en-US" dirty="0" smtClean="0">
                <a:sym typeface="Wingdings" pitchFamily="2" charset="2"/>
              </a:rPr>
              <a:t> Power Law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-874195" y="199595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4" name="Picture 13" descr="yahoodeg.pdf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3400" y="1295400"/>
            <a:ext cx="7696200" cy="53576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38600" y="2120205"/>
            <a:ext cx="3269727" cy="13849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Top 1% of vertices is adjacent to</a:t>
            </a:r>
          </a:p>
          <a:p>
            <a:pPr algn="ctr"/>
            <a:r>
              <a:rPr lang="en-US" sz="2800" b="1" dirty="0" smtClean="0"/>
              <a:t>53% of the edges!</a:t>
            </a:r>
            <a:endParaRPr lang="en-US" sz="2800" b="1" dirty="0"/>
          </a:p>
        </p:txBody>
      </p:sp>
      <p:sp>
        <p:nvSpPr>
          <p:cNvPr id="19" name="Oval 18"/>
          <p:cNvSpPr/>
          <p:nvPr/>
        </p:nvSpPr>
        <p:spPr bwMode="auto">
          <a:xfrm>
            <a:off x="5715000" y="5562600"/>
            <a:ext cx="1752600" cy="908204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-64" charset="0"/>
            </a:endParaRPr>
          </a:p>
        </p:txBody>
      </p:sp>
      <p:cxnSp>
        <p:nvCxnSpPr>
          <p:cNvPr id="20" name="Straight Arrow Connector 19"/>
          <p:cNvCxnSpPr>
            <a:stCxn id="18" idx="2"/>
            <a:endCxn id="19" idx="0"/>
          </p:cNvCxnSpPr>
          <p:nvPr/>
        </p:nvCxnSpPr>
        <p:spPr bwMode="auto">
          <a:xfrm>
            <a:off x="5673464" y="3505200"/>
            <a:ext cx="917836" cy="205740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21" name="TextBox 20"/>
          <p:cNvSpPr txBox="1"/>
          <p:nvPr/>
        </p:nvSpPr>
        <p:spPr>
          <a:xfrm>
            <a:off x="1371600" y="1447800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</a:rPr>
              <a:t>Yahoo! Web Graph: 1.4B </a:t>
            </a:r>
            <a:r>
              <a:rPr lang="en-US" sz="2800" b="1" dirty="0" err="1" smtClean="0">
                <a:solidFill>
                  <a:schemeClr val="accent1"/>
                </a:solidFill>
              </a:rPr>
              <a:t>Verts</a:t>
            </a:r>
            <a:r>
              <a:rPr lang="en-US" sz="2800" b="1" dirty="0" smtClean="0">
                <a:solidFill>
                  <a:schemeClr val="accent1"/>
                </a:solidFill>
              </a:rPr>
              <a:t>, </a:t>
            </a:r>
            <a:r>
              <a:rPr lang="en-US" sz="2800" b="1" dirty="0">
                <a:solidFill>
                  <a:schemeClr val="accent1"/>
                </a:solidFill>
              </a:rPr>
              <a:t>6.7B </a:t>
            </a:r>
            <a:r>
              <a:rPr lang="en-US" sz="2800" b="1" dirty="0" smtClean="0">
                <a:solidFill>
                  <a:schemeClr val="accent1"/>
                </a:solidFill>
              </a:rPr>
              <a:t>Edges</a:t>
            </a:r>
            <a:endParaRPr lang="en-US" sz="2800" b="1" dirty="0">
              <a:solidFill>
                <a:schemeClr val="accent1"/>
              </a:solidFill>
            </a:endParaRPr>
          </a:p>
          <a:p>
            <a:endParaRPr lang="en-US" sz="2800" b="1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/>
              <a:pPr/>
              <a:t>76</a:t>
            </a:fld>
            <a:endParaRPr lang="en-US"/>
          </a:p>
        </p:txBody>
      </p:sp>
      <p:grpSp>
        <p:nvGrpSpPr>
          <p:cNvPr id="3" name="Group 34"/>
          <p:cNvGrpSpPr/>
          <p:nvPr/>
        </p:nvGrpSpPr>
        <p:grpSpPr>
          <a:xfrm>
            <a:off x="2057400" y="2150953"/>
            <a:ext cx="2438400" cy="3259247"/>
            <a:chOff x="2057400" y="2150953"/>
            <a:chExt cx="2438400" cy="3259247"/>
          </a:xfrm>
        </p:grpSpPr>
        <p:cxnSp>
          <p:nvCxnSpPr>
            <p:cNvPr id="22" name="Straight Connector 21"/>
            <p:cNvCxnSpPr/>
            <p:nvPr/>
          </p:nvCxnSpPr>
          <p:spPr>
            <a:xfrm>
              <a:off x="2057400" y="2590800"/>
              <a:ext cx="2438400" cy="2819400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 rot="2902993">
              <a:off x="2054835" y="2825326"/>
              <a:ext cx="18104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smtClean="0"/>
                <a:t>“Power Law”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0821653"/>
      </p:ext>
    </p:extLst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OSDI </a:t>
            </a:r>
            <a:r>
              <a:rPr lang="en-US" dirty="0" err="1" smtClean="0"/>
              <a:t>PowerGraph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31249"/>
            <a:ext cx="8305800" cy="4061318"/>
          </a:xfrm>
        </p:spPr>
        <p:txBody>
          <a:bodyPr/>
          <a:lstStyle/>
          <a:p>
            <a:r>
              <a:rPr lang="en-US" dirty="0" smtClean="0"/>
              <a:t>Revised Abstraction</a:t>
            </a:r>
          </a:p>
          <a:p>
            <a:r>
              <a:rPr lang="en-US" dirty="0" smtClean="0"/>
              <a:t>Improved Distributed Graph Placement</a:t>
            </a:r>
          </a:p>
          <a:p>
            <a:r>
              <a:rPr lang="en-US" dirty="0" smtClean="0"/>
              <a:t>New distributed locking protocol (fined grained </a:t>
            </a:r>
            <a:r>
              <a:rPr lang="en-US" dirty="0" err="1" smtClean="0"/>
              <a:t>Chandy-Misra</a:t>
            </a:r>
            <a:r>
              <a:rPr lang="en-US" dirty="0" smtClean="0"/>
              <a:t>)</a:t>
            </a:r>
          </a:p>
          <a:p>
            <a:r>
              <a:rPr lang="en-US" dirty="0" smtClean="0"/>
              <a:t>Demonstrated scaling to billions of vertices and tens of billions of edges.</a:t>
            </a:r>
          </a:p>
          <a:p>
            <a:r>
              <a:rPr lang="en-US" dirty="0" smtClean="0"/>
              <a:t>… many more …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094" y="940089"/>
            <a:ext cx="4075838" cy="1491160"/>
          </a:xfrm>
          <a:prstGeom prst="rect">
            <a:avLst/>
          </a:prstGeom>
        </p:spPr>
      </p:pic>
      <p:pic>
        <p:nvPicPr>
          <p:cNvPr id="6" name="Picture 5" descr="GraphLab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97269" y="838200"/>
            <a:ext cx="4714202" cy="1622502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F0EDA-FF3F-4FD0-9547-A360A05A4197}" type="slidenum">
              <a:rPr lang="en-US" smtClean="0">
                <a:solidFill>
                  <a:prstClr val="black"/>
                </a:solidFill>
                <a:latin typeface="Calibri"/>
              </a:rPr>
              <a:pPr/>
              <a:t>77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811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01613" y="1523999"/>
            <a:ext cx="8686800" cy="915811"/>
          </a:xfrm>
        </p:spPr>
        <p:txBody>
          <a:bodyPr/>
          <a:lstStyle/>
          <a:p>
            <a:r>
              <a:rPr lang="en-US" dirty="0" smtClean="0"/>
              <a:t>Release 2.1 </a:t>
            </a:r>
            <a:r>
              <a:rPr lang="en-US" dirty="0" smtClean="0"/>
              <a:t>+ many toolkits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-8465"/>
            <a:ext cx="4838700" cy="1651000"/>
          </a:xfrm>
          <a:prstGeom prst="rect">
            <a:avLst/>
          </a:prstGeom>
        </p:spPr>
      </p:pic>
      <p:sp>
        <p:nvSpPr>
          <p:cNvPr id="5" name="Subtitle 5"/>
          <p:cNvSpPr>
            <a:spLocks noGrp="1"/>
          </p:cNvSpPr>
          <p:nvPr>
            <p:ph type="subTitle" idx="1"/>
          </p:nvPr>
        </p:nvSpPr>
        <p:spPr>
          <a:xfrm>
            <a:off x="947738" y="2439810"/>
            <a:ext cx="7239000" cy="927100"/>
          </a:xfrm>
        </p:spPr>
        <p:txBody>
          <a:bodyPr/>
          <a:lstStyle/>
          <a:p>
            <a:r>
              <a:rPr lang="en-US" sz="5400" b="1" dirty="0" smtClean="0">
                <a:latin typeface="Helvetica"/>
                <a:cs typeface="Helvetica"/>
              </a:rPr>
              <a:t>http://</a:t>
            </a:r>
            <a:r>
              <a:rPr lang="en-US" sz="5400" b="1" dirty="0" err="1" smtClean="0">
                <a:latin typeface="Helvetica"/>
                <a:cs typeface="Helvetica"/>
              </a:rPr>
              <a:t>graphlab.org</a:t>
            </a:r>
            <a:endParaRPr lang="en-US" sz="5400" b="1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6029" y="4420244"/>
            <a:ext cx="361514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PageRank</a:t>
            </a:r>
            <a:r>
              <a:rPr lang="en-US" sz="2800" dirty="0" smtClean="0"/>
              <a:t>: </a:t>
            </a:r>
            <a:endParaRPr lang="en-US" sz="2800" dirty="0" smtClean="0"/>
          </a:p>
          <a:p>
            <a:pPr algn="ctr"/>
            <a:r>
              <a:rPr lang="en-US" sz="2800" dirty="0" smtClean="0"/>
              <a:t>40x </a:t>
            </a:r>
            <a:r>
              <a:rPr lang="en-US" sz="2800" dirty="0" smtClean="0"/>
              <a:t>faster than </a:t>
            </a:r>
            <a:r>
              <a:rPr lang="en-US" sz="2800" dirty="0" err="1" smtClean="0"/>
              <a:t>Hadoop</a:t>
            </a:r>
            <a:endParaRPr lang="en-US" sz="2800" dirty="0" smtClean="0"/>
          </a:p>
          <a:p>
            <a:pPr algn="ctr"/>
            <a:r>
              <a:rPr lang="en-US" sz="2800" dirty="0" smtClean="0"/>
              <a:t>1B </a:t>
            </a:r>
            <a:r>
              <a:rPr lang="en-US" sz="2800" dirty="0" smtClean="0"/>
              <a:t>edges per second.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716035" y="4419739"/>
            <a:ext cx="41609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 smtClean="0"/>
              <a:t>Triangle Counting</a:t>
            </a:r>
            <a:r>
              <a:rPr lang="en-US" sz="2800" dirty="0" smtClean="0"/>
              <a:t>: </a:t>
            </a:r>
            <a:endParaRPr lang="en-US" sz="2800" dirty="0" smtClean="0"/>
          </a:p>
          <a:p>
            <a:pPr algn="ctr"/>
            <a:r>
              <a:rPr lang="en-US" sz="2800" dirty="0" smtClean="0"/>
              <a:t>282x </a:t>
            </a:r>
            <a:r>
              <a:rPr lang="en-US" sz="2800" dirty="0" smtClean="0"/>
              <a:t>faster than </a:t>
            </a:r>
            <a:r>
              <a:rPr lang="en-US" sz="2800" dirty="0" err="1" smtClean="0"/>
              <a:t>Hadoop</a:t>
            </a:r>
            <a:endParaRPr lang="en-US" sz="2800" dirty="0" smtClean="0"/>
          </a:p>
          <a:p>
            <a:pPr algn="ctr"/>
            <a:r>
              <a:rPr lang="en-US" sz="2800" dirty="0" smtClean="0"/>
              <a:t>400M </a:t>
            </a:r>
            <a:r>
              <a:rPr lang="en-US" sz="2800" dirty="0" smtClean="0"/>
              <a:t>triangles per </a:t>
            </a:r>
            <a:r>
              <a:rPr lang="en-US" sz="2800" dirty="0" smtClean="0"/>
              <a:t>second.</a:t>
            </a:r>
            <a:endParaRPr lang="en-US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546075" y="3489325"/>
            <a:ext cx="7997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 smtClean="0"/>
              <a:t>Major</a:t>
            </a:r>
            <a:r>
              <a:rPr lang="en-US" sz="2800" b="1" dirty="0" smtClean="0"/>
              <a:t> Improvements to be published in OSDI 2012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7606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228600" y="838200"/>
            <a:ext cx="8686800" cy="1676400"/>
          </a:xfrm>
        </p:spPr>
        <p:txBody>
          <a:bodyPr/>
          <a:lstStyle/>
          <a:p>
            <a:r>
              <a:rPr lang="en-US" dirty="0" smtClean="0"/>
              <a:t>Release 2.1 available now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76200"/>
            <a:ext cx="4838700" cy="1651000"/>
          </a:xfrm>
          <a:prstGeom prst="rect">
            <a:avLst/>
          </a:prstGeom>
        </p:spPr>
      </p:pic>
      <p:sp>
        <p:nvSpPr>
          <p:cNvPr id="5" name="Subtitle 5"/>
          <p:cNvSpPr>
            <a:spLocks noGrp="1"/>
          </p:cNvSpPr>
          <p:nvPr>
            <p:ph type="subTitle" idx="1"/>
          </p:nvPr>
        </p:nvSpPr>
        <p:spPr>
          <a:xfrm>
            <a:off x="947738" y="2349500"/>
            <a:ext cx="7239000" cy="927100"/>
          </a:xfrm>
        </p:spPr>
        <p:txBody>
          <a:bodyPr/>
          <a:lstStyle/>
          <a:p>
            <a:r>
              <a:rPr lang="en-US" sz="5400" b="1" dirty="0" smtClean="0">
                <a:latin typeface="Helvetica"/>
                <a:cs typeface="Helvetica"/>
              </a:rPr>
              <a:t>http://</a:t>
            </a:r>
            <a:r>
              <a:rPr lang="en-US" sz="5400" b="1" dirty="0" err="1" smtClean="0">
                <a:latin typeface="Helvetica"/>
                <a:cs typeface="Helvetica"/>
              </a:rPr>
              <a:t>graphlab.org</a:t>
            </a:r>
            <a:endParaRPr lang="en-US" sz="5400" b="1" dirty="0">
              <a:latin typeface="Helvetica"/>
              <a:cs typeface="Helvetic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2524" y="4643277"/>
            <a:ext cx="3444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PageRank</a:t>
            </a:r>
            <a:r>
              <a:rPr lang="en-US" dirty="0" smtClean="0"/>
              <a:t>: 40x faster than </a:t>
            </a:r>
            <a:r>
              <a:rPr lang="en-US" dirty="0" err="1" smtClean="0"/>
              <a:t>Hadoop</a:t>
            </a:r>
            <a:endParaRPr lang="en-US" dirty="0" smtClean="0"/>
          </a:p>
          <a:p>
            <a:r>
              <a:rPr lang="en-US" dirty="0" smtClean="0"/>
              <a:t> 		  </a:t>
            </a:r>
            <a:r>
              <a:rPr lang="en-US" dirty="0"/>
              <a:t> </a:t>
            </a:r>
            <a:r>
              <a:rPr lang="en-US" dirty="0" smtClean="0"/>
              <a:t>1B edges per second.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77620" y="5278638"/>
            <a:ext cx="45090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Triangle Counting</a:t>
            </a:r>
            <a:r>
              <a:rPr lang="en-US" dirty="0" smtClean="0"/>
              <a:t>: 282x faster than </a:t>
            </a:r>
            <a:r>
              <a:rPr lang="en-US" dirty="0" err="1" smtClean="0"/>
              <a:t>Hadoop</a:t>
            </a:r>
            <a:endParaRPr lang="en-US" dirty="0" smtClean="0"/>
          </a:p>
          <a:p>
            <a:r>
              <a:rPr lang="en-US" dirty="0" smtClean="0"/>
              <a:t>                                 </a:t>
            </a:r>
            <a:r>
              <a:rPr lang="en-US" smtClean="0"/>
              <a:t>  400M </a:t>
            </a:r>
            <a:r>
              <a:rPr lang="en-US" dirty="0" smtClean="0"/>
              <a:t>triangles per second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68173" y="4217554"/>
            <a:ext cx="2121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smtClean="0"/>
              <a:t>64 EC2 HPC Nodes</a:t>
            </a:r>
            <a:endParaRPr lang="en-US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5295313" y="4121701"/>
            <a:ext cx="348628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Toolkits</a:t>
            </a:r>
          </a:p>
          <a:p>
            <a:r>
              <a:rPr lang="en-US" b="1" dirty="0" smtClean="0"/>
              <a:t> - </a:t>
            </a:r>
            <a:r>
              <a:rPr lang="en-US" dirty="0" smtClean="0"/>
              <a:t>Graph Analytics</a:t>
            </a:r>
          </a:p>
          <a:p>
            <a:r>
              <a:rPr lang="en-US" dirty="0" smtClean="0"/>
              <a:t> - Collaborative Filtering</a:t>
            </a:r>
          </a:p>
          <a:p>
            <a:r>
              <a:rPr lang="en-US" dirty="0"/>
              <a:t> </a:t>
            </a:r>
            <a:r>
              <a:rPr lang="en-US" dirty="0" smtClean="0"/>
              <a:t>- Clustering</a:t>
            </a:r>
          </a:p>
          <a:p>
            <a:r>
              <a:rPr lang="en-US" dirty="0"/>
              <a:t> </a:t>
            </a:r>
            <a:r>
              <a:rPr lang="en-US" dirty="0" smtClean="0"/>
              <a:t>- Topic Modeling</a:t>
            </a:r>
          </a:p>
          <a:p>
            <a:r>
              <a:rPr lang="en-US" dirty="0"/>
              <a:t> </a:t>
            </a:r>
            <a:r>
              <a:rPr lang="en-US" dirty="0" smtClean="0"/>
              <a:t>- Graphical Models</a:t>
            </a:r>
          </a:p>
          <a:p>
            <a:r>
              <a:rPr lang="en-US" dirty="0"/>
              <a:t> </a:t>
            </a:r>
            <a:r>
              <a:rPr lang="en-US" dirty="0" smtClean="0"/>
              <a:t>- Computer Vision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250892" y="3355529"/>
            <a:ext cx="66604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/>
              <a:t>Major Improvements to be published in OSDI 2012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76048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9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3.3|2.4|2.9|1.4|6.4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4|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8|4|9.7|9.5|4|7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10.8|7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5|6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|12.1"/>
</p:tagLst>
</file>

<file path=ppt/theme/theme1.xml><?xml version="1.0" encoding="utf-8"?>
<a:theme xmlns:a="http://schemas.openxmlformats.org/drawingml/2006/main" name="select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-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-64" charset="0"/>
          </a:defRPr>
        </a:defPPr>
      </a:lstStyle>
    </a:lnDef>
  </a:objectDefaults>
  <a:extraClrSchemeLst>
    <a:extraClrScheme>
      <a:clrScheme name="Office T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elect-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-6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-64" charset="0"/>
          </a:defRPr>
        </a:defPPr>
      </a:lstStyle>
    </a:lnDef>
  </a:objectDefaults>
  <a:extraClrSchemeLst>
    <a:extraClrScheme>
      <a:clrScheme name="Office T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18839</TotalTime>
  <Words>3863</Words>
  <Application>Microsoft Macintosh PowerPoint</Application>
  <PresentationFormat>On-screen Show (4:3)</PresentationFormat>
  <Paragraphs>1201</Paragraphs>
  <Slides>79</Slides>
  <Notes>72</Notes>
  <HiddenSlides>14</HiddenSlides>
  <MMClips>1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select-template</vt:lpstr>
      <vt:lpstr>1_select-template</vt:lpstr>
      <vt:lpstr>Equation</vt:lpstr>
      <vt:lpstr>PowerPoint Presentation</vt:lpstr>
      <vt:lpstr>Big Data is Everywhere</vt:lpstr>
      <vt:lpstr>How will we design and implement  Big learning systems? </vt:lpstr>
      <vt:lpstr>Shift Towards Use Of Parallelism in ML</vt:lpstr>
      <vt:lpstr>MapReduce – Map Phase</vt:lpstr>
      <vt:lpstr>MapReduce – Map Phase</vt:lpstr>
      <vt:lpstr>MapReduce – Map Phase</vt:lpstr>
      <vt:lpstr>MapReduce – Map Phase</vt:lpstr>
      <vt:lpstr>MapReduce – Reduce Phase</vt:lpstr>
      <vt:lpstr>MapReduce for Data-Parallel ML</vt:lpstr>
      <vt:lpstr>Exploit Dependencies</vt:lpstr>
      <vt:lpstr>PowerPoint Presentation</vt:lpstr>
      <vt:lpstr>Graphs are Everywhere</vt:lpstr>
      <vt:lpstr>Properties of Computation on Graphs</vt:lpstr>
      <vt:lpstr>ML Tasks Beyond Data-Parallelism </vt:lpstr>
      <vt:lpstr>ML Tasks Beyond Data-Parallelism </vt:lpstr>
      <vt:lpstr>Properties of Graph-Parallel Algorithms</vt:lpstr>
      <vt:lpstr>Map-Reduce for Data-Parallel ML</vt:lpstr>
      <vt:lpstr>What is              GraphLab?</vt:lpstr>
      <vt:lpstr>Shared Memory GraphLab</vt:lpstr>
      <vt:lpstr>PowerPoint Presentation</vt:lpstr>
      <vt:lpstr>PowerPoint Presentation</vt:lpstr>
      <vt:lpstr>Distributed Cloud</vt:lpstr>
      <vt:lpstr>The GraphLab Framework</vt:lpstr>
      <vt:lpstr>Data Graph</vt:lpstr>
      <vt:lpstr>Distributed Graph</vt:lpstr>
      <vt:lpstr>Distributed Graph</vt:lpstr>
      <vt:lpstr>Distributed Graph</vt:lpstr>
      <vt:lpstr>The GraphLab Framework</vt:lpstr>
      <vt:lpstr>Update Functions</vt:lpstr>
      <vt:lpstr>BSP ML Problem:  Synchronous Algorithms can be Inefficient</vt:lpstr>
      <vt:lpstr>Asynchronous Belief Propagation</vt:lpstr>
      <vt:lpstr>Shared Memory Dynamic Schedule</vt:lpstr>
      <vt:lpstr>Distributed Scheduling</vt:lpstr>
      <vt:lpstr>Ensuring Race-Free Code</vt:lpstr>
      <vt:lpstr>Common Problem: Write-Write Race</vt:lpstr>
      <vt:lpstr>The GraphLab Framework</vt:lpstr>
      <vt:lpstr>PageRank Revisited</vt:lpstr>
      <vt:lpstr>Racing PageRank</vt:lpstr>
      <vt:lpstr>Bugs</vt:lpstr>
      <vt:lpstr>Bugs</vt:lpstr>
      <vt:lpstr>Throughput != Performance</vt:lpstr>
      <vt:lpstr>Racing Collaborative Filtering</vt:lpstr>
      <vt:lpstr>Serializability</vt:lpstr>
      <vt:lpstr>Serializability Example</vt:lpstr>
      <vt:lpstr>Stronger / Weaker Consistency</vt:lpstr>
      <vt:lpstr>Solution 1</vt:lpstr>
      <vt:lpstr>Edge Consistency via Graph Coloring</vt:lpstr>
      <vt:lpstr>Chromatic Distributed Engine</vt:lpstr>
      <vt:lpstr>Matrix Factorization</vt:lpstr>
      <vt:lpstr>Netflix Collaborative Filtering</vt:lpstr>
      <vt:lpstr>The Cost of Hadoop</vt:lpstr>
      <vt:lpstr>CoEM (Rosie Jones, 2005)</vt:lpstr>
      <vt:lpstr>Distributed NER</vt:lpstr>
      <vt:lpstr>Problems</vt:lpstr>
      <vt:lpstr>Solution 1</vt:lpstr>
      <vt:lpstr>Distributed Locking</vt:lpstr>
      <vt:lpstr>Consistency Through Locking</vt:lpstr>
      <vt:lpstr>Consistency Through Locking</vt:lpstr>
      <vt:lpstr>No Pipelining</vt:lpstr>
      <vt:lpstr>Pipelining / Latency Hiding</vt:lpstr>
      <vt:lpstr>Latency Hiding</vt:lpstr>
      <vt:lpstr>Video Cosegmentation</vt:lpstr>
      <vt:lpstr>Video Coseg. Speedups</vt:lpstr>
      <vt:lpstr>The GraphLab Framework</vt:lpstr>
      <vt:lpstr>PowerPoint Presentation</vt:lpstr>
      <vt:lpstr>Checkpoint</vt:lpstr>
      <vt:lpstr>Snapshot Performance</vt:lpstr>
      <vt:lpstr>How can we do better?</vt:lpstr>
      <vt:lpstr>Checkpointing</vt:lpstr>
      <vt:lpstr>Checkpointing</vt:lpstr>
      <vt:lpstr>Async. Snapshot Performance</vt:lpstr>
      <vt:lpstr>Summary</vt:lpstr>
      <vt:lpstr>What’s next?</vt:lpstr>
      <vt:lpstr>Natural Graphs</vt:lpstr>
      <vt:lpstr>Natural Graphs  Power Law</vt:lpstr>
      <vt:lpstr>OSDI PowerGraph</vt:lpstr>
      <vt:lpstr>Release 2.1 + many toolkits</vt:lpstr>
      <vt:lpstr>Release 2.1 available now</vt:lpstr>
    </vt:vector>
  </TitlesOfParts>
  <Company>Carnegie Mellon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Yucheng Low</dc:creator>
  <cp:lastModifiedBy>Yucheng Low</cp:lastModifiedBy>
  <cp:revision>890</cp:revision>
  <dcterms:created xsi:type="dcterms:W3CDTF">2012-07-24T17:14:29Z</dcterms:created>
  <dcterms:modified xsi:type="dcterms:W3CDTF">2012-08-28T11:56:48Z</dcterms:modified>
</cp:coreProperties>
</file>