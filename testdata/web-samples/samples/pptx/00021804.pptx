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98" r:id="rId2"/>
    <p:sldId id="301" r:id="rId3"/>
    <p:sldId id="311" r:id="rId4"/>
    <p:sldId id="312" r:id="rId5"/>
    <p:sldId id="302" r:id="rId6"/>
    <p:sldId id="313" r:id="rId7"/>
    <p:sldId id="297" r:id="rId8"/>
    <p:sldId id="299" r:id="rId9"/>
    <p:sldId id="286" r:id="rId10"/>
    <p:sldId id="287" r:id="rId11"/>
    <p:sldId id="300" r:id="rId12"/>
    <p:sldId id="304" r:id="rId13"/>
    <p:sldId id="283" r:id="rId14"/>
    <p:sldId id="271" r:id="rId15"/>
    <p:sldId id="272" r:id="rId16"/>
    <p:sldId id="284" r:id="rId17"/>
    <p:sldId id="305" r:id="rId18"/>
    <p:sldId id="307" r:id="rId19"/>
    <p:sldId id="308" r:id="rId20"/>
    <p:sldId id="310" r:id="rId21"/>
    <p:sldId id="295" r:id="rId22"/>
    <p:sldId id="296" r:id="rId23"/>
    <p:sldId id="293" r:id="rId24"/>
  </p:sldIdLst>
  <p:sldSz cx="9144000" cy="6858000" type="screen4x3"/>
  <p:notesSz cx="6997700" cy="9283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5620"/>
    <p:restoredTop sz="92692" autoAdjust="0"/>
  </p:normalViewPr>
  <p:slideViewPr>
    <p:cSldViewPr>
      <p:cViewPr varScale="1">
        <p:scale>
          <a:sx n="83" d="100"/>
          <a:sy n="83" d="100"/>
        </p:scale>
        <p:origin x="-96" y="-5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poelker\My%20Documents\injector\Gun%20Voltage%20Study\tranmssionVs%20voltage(modelling%20values)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poelker\My%20Documents\injector\Gun%20Voltage%20Study\CEBAF%20transmission%20data%208_08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poelker\My%20Documents\injector\Gun%20Voltage%20Study\CEBAF%20transmission%20data%208_08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poelker\My%20Documents\injector\Gun%20Voltage%20Study\tranmssionVs%20voltage(modelling%20values)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\\JLABGRP\group\inj_group\Field%20Emission%20Measurements\Red%202_27_09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\\JLABGRP\group\inj_group\Field%20Emission%20Measurements\Red%202_27_09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\\JLABGRP\group\inj_group\Field%20Emission%20Measurements\Red%202_27_09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>
              <a:defRPr/>
            </a:pPr>
            <a:r>
              <a:rPr lang="en-US" sz="1600" b="0" dirty="0" err="1">
                <a:latin typeface="Arial" pitchFamily="34" charset="0"/>
                <a:cs typeface="Arial" pitchFamily="34" charset="0"/>
              </a:rPr>
              <a:t>Bunchlength</a:t>
            </a:r>
            <a:r>
              <a:rPr lang="en-US" sz="1600" b="0" dirty="0">
                <a:latin typeface="Arial" pitchFamily="34" charset="0"/>
                <a:cs typeface="Arial" pitchFamily="34" charset="0"/>
              </a:rPr>
              <a:t> Vs </a:t>
            </a:r>
            <a:r>
              <a:rPr lang="en-US" sz="1600" b="0" dirty="0" smtClean="0">
                <a:latin typeface="Arial" pitchFamily="34" charset="0"/>
                <a:cs typeface="Arial" pitchFamily="34" charset="0"/>
              </a:rPr>
              <a:t>Gun Voltage </a:t>
            </a:r>
            <a:endParaRPr lang="en-US" sz="1600" b="0" dirty="0">
              <a:latin typeface="Arial" pitchFamily="34" charset="0"/>
              <a:cs typeface="Arial" pitchFamily="34" charset="0"/>
            </a:endParaRPr>
          </a:p>
        </c:rich>
      </c:tx>
      <c:layout>
        <c:manualLayout>
          <c:xMode val="edge"/>
          <c:yMode val="edge"/>
          <c:x val="0.17329554710833567"/>
          <c:y val="2.5157094333796499E-2"/>
        </c:manualLayout>
      </c:layout>
    </c:title>
    <c:plotArea>
      <c:layout>
        <c:manualLayout>
          <c:layoutTarget val="inner"/>
          <c:xMode val="edge"/>
          <c:yMode val="edge"/>
          <c:x val="0.13219113469135291"/>
          <c:y val="0.17685077968195143"/>
          <c:w val="0.6954309502556979"/>
          <c:h val="0.58721360197622308"/>
        </c:manualLayout>
      </c:layout>
      <c:scatterChart>
        <c:scatterStyle val="smoothMarker"/>
        <c:ser>
          <c:idx val="0"/>
          <c:order val="0"/>
          <c:tx>
            <c:v>200KeV</c:v>
          </c:tx>
          <c:spPr>
            <a:ln>
              <a:solidFill>
                <a:schemeClr val="accent6"/>
              </a:solidFill>
            </a:ln>
          </c:spPr>
          <c:marker>
            <c:symbol val="none"/>
          </c:marker>
          <c:xVal>
            <c:numRef>
              <c:f>Sheet1!$I$10:$I$13</c:f>
              <c:numCache>
                <c:formatCode>0.00E+00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</c:numCache>
            </c:numRef>
          </c:xVal>
          <c:yVal>
            <c:numRef>
              <c:f>Sheet1!$B$17:$B$20</c:f>
              <c:numCache>
                <c:formatCode>General</c:formatCode>
                <c:ptCount val="4"/>
                <c:pt idx="0">
                  <c:v>51.5</c:v>
                </c:pt>
                <c:pt idx="1">
                  <c:v>56.2</c:v>
                </c:pt>
                <c:pt idx="2">
                  <c:v>60.20000000000001</c:v>
                </c:pt>
                <c:pt idx="3">
                  <c:v>64.099999999999994</c:v>
                </c:pt>
              </c:numCache>
            </c:numRef>
          </c:yVal>
          <c:smooth val="1"/>
        </c:ser>
        <c:ser>
          <c:idx val="1"/>
          <c:order val="1"/>
          <c:tx>
            <c:v>115KeV</c:v>
          </c:tx>
          <c:marker>
            <c:symbol val="none"/>
          </c:marker>
          <c:xVal>
            <c:numRef>
              <c:f>Sheet1!$I$10:$I$13</c:f>
              <c:numCache>
                <c:formatCode>0.00E+00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</c:numCache>
            </c:numRef>
          </c:xVal>
          <c:yVal>
            <c:numRef>
              <c:f>Sheet1!$C$17:$C$20</c:f>
              <c:numCache>
                <c:formatCode>General</c:formatCode>
                <c:ptCount val="4"/>
                <c:pt idx="0">
                  <c:v>55.7</c:v>
                </c:pt>
                <c:pt idx="1">
                  <c:v>68.400000000000006</c:v>
                </c:pt>
                <c:pt idx="2">
                  <c:v>78.7</c:v>
                </c:pt>
                <c:pt idx="3">
                  <c:v>87.5</c:v>
                </c:pt>
              </c:numCache>
            </c:numRef>
          </c:yVal>
          <c:smooth val="1"/>
        </c:ser>
        <c:ser>
          <c:idx val="2"/>
          <c:order val="2"/>
          <c:tx>
            <c:v>100KeV</c:v>
          </c:tx>
          <c:marker>
            <c:symbol val="none"/>
          </c:marker>
          <c:xVal>
            <c:numRef>
              <c:f>Sheet1!$I$10:$I$13</c:f>
              <c:numCache>
                <c:formatCode>0.00E+00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</c:numCache>
            </c:numRef>
          </c:xVal>
          <c:yVal>
            <c:numRef>
              <c:f>Sheet1!$D$17:$D$20</c:f>
              <c:numCache>
                <c:formatCode>General</c:formatCode>
                <c:ptCount val="4"/>
                <c:pt idx="0">
                  <c:v>58.4</c:v>
                </c:pt>
                <c:pt idx="1">
                  <c:v>73.7</c:v>
                </c:pt>
                <c:pt idx="2">
                  <c:v>85.7</c:v>
                </c:pt>
                <c:pt idx="3">
                  <c:v>95.7</c:v>
                </c:pt>
              </c:numCache>
            </c:numRef>
          </c:yVal>
          <c:smooth val="1"/>
        </c:ser>
        <c:ser>
          <c:idx val="3"/>
          <c:order val="3"/>
          <c:tx>
            <c:v>85KeV</c:v>
          </c:tx>
          <c:marker>
            <c:symbol val="none"/>
          </c:marker>
          <c:xVal>
            <c:numRef>
              <c:f>Sheet1!$I$10:$I$13</c:f>
              <c:numCache>
                <c:formatCode>0.00E+00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</c:numCache>
            </c:numRef>
          </c:xVal>
          <c:yVal>
            <c:numRef>
              <c:f>Sheet1!$E$17:$E$20</c:f>
              <c:numCache>
                <c:formatCode>General</c:formatCode>
                <c:ptCount val="4"/>
                <c:pt idx="0">
                  <c:v>62.70000000000001</c:v>
                </c:pt>
                <c:pt idx="1">
                  <c:v>81.099999999999994</c:v>
                </c:pt>
                <c:pt idx="2">
                  <c:v>95.2</c:v>
                </c:pt>
                <c:pt idx="3">
                  <c:v>99.800000000000011</c:v>
                </c:pt>
              </c:numCache>
            </c:numRef>
          </c:yVal>
          <c:smooth val="1"/>
        </c:ser>
        <c:ser>
          <c:idx val="4"/>
          <c:order val="4"/>
          <c:tx>
            <c:v>70KeV</c:v>
          </c:tx>
          <c:marker>
            <c:symbol val="none"/>
          </c:marker>
          <c:xVal>
            <c:numRef>
              <c:f>Sheet1!$I$10:$I$13</c:f>
              <c:numCache>
                <c:formatCode>0.00E+00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</c:numCache>
            </c:numRef>
          </c:xVal>
          <c:yVal>
            <c:numRef>
              <c:f>Sheet1!$F$17:$F$20</c:f>
              <c:numCache>
                <c:formatCode>General</c:formatCode>
                <c:ptCount val="4"/>
                <c:pt idx="0">
                  <c:v>68.2</c:v>
                </c:pt>
                <c:pt idx="1">
                  <c:v>91.7</c:v>
                </c:pt>
                <c:pt idx="2">
                  <c:v>103.4</c:v>
                </c:pt>
                <c:pt idx="3">
                  <c:v>105.5</c:v>
                </c:pt>
              </c:numCache>
            </c:numRef>
          </c:yVal>
          <c:smooth val="1"/>
        </c:ser>
        <c:axId val="52134272"/>
        <c:axId val="52136192"/>
      </c:scatterChart>
      <c:valAx>
        <c:axId val="52134272"/>
        <c:scaling>
          <c:orientation val="minMax"/>
          <c:max val="210"/>
          <c:min val="0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sz="1200"/>
                  <a:t>Ave. Gun Current (</a:t>
                </a:r>
                <a:r>
                  <a:rPr lang="en-US" sz="1200" b="1" i="0" u="none" strike="noStrike" baseline="0"/>
                  <a:t>µA</a:t>
                </a:r>
                <a:r>
                  <a:rPr lang="en-US" sz="1200"/>
                  <a:t>)</a:t>
                </a:r>
              </a:p>
            </c:rich>
          </c:tx>
          <c:layout/>
        </c:title>
        <c:numFmt formatCode="#,##0.00" sourceLinked="0"/>
        <c:tickLblPos val="nextTo"/>
        <c:crossAx val="52136192"/>
        <c:crosses val="autoZero"/>
        <c:crossBetween val="midCat"/>
      </c:valAx>
      <c:valAx>
        <c:axId val="52136192"/>
        <c:scaling>
          <c:orientation val="minMax"/>
          <c:max val="300"/>
          <c:min val="0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1200">
                    <a:latin typeface="Arial" pitchFamily="34" charset="0"/>
                    <a:cs typeface="Arial" pitchFamily="34" charset="0"/>
                  </a:defRPr>
                </a:pPr>
                <a:r>
                  <a:rPr lang="en-US" sz="1200" b="0" dirty="0" smtClean="0">
                    <a:latin typeface="Arial" pitchFamily="34" charset="0"/>
                    <a:cs typeface="Arial" pitchFamily="34" charset="0"/>
                  </a:rPr>
                  <a:t>Electron </a:t>
                </a:r>
                <a:r>
                  <a:rPr lang="en-US" sz="1200" b="0" dirty="0" err="1" smtClean="0">
                    <a:latin typeface="Arial" pitchFamily="34" charset="0"/>
                    <a:cs typeface="Arial" pitchFamily="34" charset="0"/>
                  </a:rPr>
                  <a:t>Bunchlength</a:t>
                </a:r>
                <a:r>
                  <a:rPr lang="en-US" sz="1200" b="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1200" b="0" i="0" u="none" strike="noStrike" baseline="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1200" b="0" dirty="0">
                    <a:latin typeface="Arial" pitchFamily="34" charset="0"/>
                    <a:cs typeface="Arial" pitchFamily="34" charset="0"/>
                  </a:rPr>
                  <a:t>(</a:t>
                </a:r>
                <a:r>
                  <a:rPr lang="en-US" sz="1200" b="0" dirty="0" err="1">
                    <a:latin typeface="Arial" pitchFamily="34" charset="0"/>
                    <a:cs typeface="Arial" pitchFamily="34" charset="0"/>
                  </a:rPr>
                  <a:t>ps</a:t>
                </a:r>
                <a:r>
                  <a:rPr lang="en-US" sz="1200" b="0" dirty="0">
                    <a:latin typeface="Arial" pitchFamily="34" charset="0"/>
                    <a:cs typeface="Arial" pitchFamily="34" charset="0"/>
                  </a:rPr>
                  <a:t>)</a:t>
                </a:r>
              </a:p>
            </c:rich>
          </c:tx>
          <c:layout>
            <c:manualLayout>
              <c:xMode val="edge"/>
              <c:yMode val="edge"/>
              <c:x val="2.8735632183908059E-3"/>
              <c:y val="0.11115215377489579"/>
            </c:manualLayout>
          </c:layout>
        </c:title>
        <c:numFmt formatCode="General" sourceLinked="1"/>
        <c:tickLblPos val="nextTo"/>
        <c:crossAx val="52134272"/>
        <c:crosses val="autoZero"/>
        <c:crossBetween val="midCat"/>
        <c:majorUnit val="50"/>
      </c:valAx>
    </c:plotArea>
    <c:legend>
      <c:legendPos val="r"/>
      <c:layout>
        <c:manualLayout>
          <c:xMode val="edge"/>
          <c:yMode val="edge"/>
          <c:x val="0.8136450538834098"/>
          <c:y val="0.14777134475837586"/>
          <c:w val="0.17486085414242056"/>
          <c:h val="0.37909671668399941"/>
        </c:manualLayout>
      </c:layout>
    </c:legend>
    <c:plotVisOnly val="1"/>
  </c:chart>
  <c:spPr>
    <a:ln>
      <a:solidFill>
        <a:schemeClr val="tx1"/>
      </a:solidFill>
    </a:ln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>
              <a:defRPr b="0">
                <a:latin typeface="Arial" pitchFamily="34" charset="0"/>
                <a:cs typeface="Arial" pitchFamily="34" charset="0"/>
              </a:defRPr>
            </a:pPr>
            <a:r>
              <a:rPr lang="en-US" b="0" dirty="0">
                <a:latin typeface="Arial" pitchFamily="34" charset="0"/>
                <a:cs typeface="Arial" pitchFamily="34" charset="0"/>
              </a:rPr>
              <a:t>Electron </a:t>
            </a:r>
            <a:r>
              <a:rPr lang="en-US" b="0" dirty="0" err="1">
                <a:latin typeface="Arial" pitchFamily="34" charset="0"/>
                <a:cs typeface="Arial" pitchFamily="34" charset="0"/>
              </a:rPr>
              <a:t>Bunchlength</a:t>
            </a:r>
            <a:r>
              <a:rPr lang="en-US" b="0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0" dirty="0" err="1">
                <a:latin typeface="Arial" pitchFamily="34" charset="0"/>
                <a:cs typeface="Arial" pitchFamily="34" charset="0"/>
              </a:rPr>
              <a:t>vs</a:t>
            </a:r>
            <a:r>
              <a:rPr lang="en-US" b="0" dirty="0">
                <a:latin typeface="Arial" pitchFamily="34" charset="0"/>
                <a:cs typeface="Arial" pitchFamily="34" charset="0"/>
              </a:rPr>
              <a:t> Gun Voltage</a:t>
            </a:r>
          </a:p>
        </c:rich>
      </c:tx>
      <c:layout/>
    </c:title>
    <c:plotArea>
      <c:layout>
        <c:manualLayout>
          <c:layoutTarget val="inner"/>
          <c:xMode val="edge"/>
          <c:yMode val="edge"/>
          <c:x val="0.19054579115110645"/>
          <c:y val="0.19068627450980388"/>
          <c:w val="0.64984837832771025"/>
          <c:h val="0.57508144202562961"/>
        </c:manualLayout>
      </c:layout>
      <c:scatterChart>
        <c:scatterStyle val="smoothMarker"/>
        <c:ser>
          <c:idx val="3"/>
          <c:order val="0"/>
          <c:tx>
            <c:v>115kV</c:v>
          </c:tx>
          <c:spPr>
            <a:ln>
              <a:solidFill>
                <a:srgbClr val="C00000"/>
              </a:solidFill>
            </a:ln>
          </c:spPr>
          <c:marker>
            <c:symbol val="square"/>
            <c:size val="7"/>
            <c:spPr>
              <a:solidFill>
                <a:srgbClr val="C00000"/>
              </a:solidFill>
              <a:ln>
                <a:solidFill>
                  <a:srgbClr val="C00000"/>
                </a:solidFill>
              </a:ln>
            </c:spPr>
          </c:marker>
          <c:xVal>
            <c:numRef>
              <c:f>'C:\Documents and Settings\poelker\My Documents\injector\Gun Voltage Study\[e-bunchlength vs gun voltage.xlsx]Sheet1'!$J$4:$J$9</c:f>
              <c:numCache>
                <c:formatCode>General</c:formatCode>
                <c:ptCount val="6"/>
                <c:pt idx="0">
                  <c:v>0.8</c:v>
                </c:pt>
                <c:pt idx="1">
                  <c:v>12</c:v>
                </c:pt>
                <c:pt idx="2">
                  <c:v>51</c:v>
                </c:pt>
                <c:pt idx="3">
                  <c:v>98</c:v>
                </c:pt>
                <c:pt idx="4">
                  <c:v>148</c:v>
                </c:pt>
                <c:pt idx="5">
                  <c:v>198</c:v>
                </c:pt>
              </c:numCache>
            </c:numRef>
          </c:xVal>
          <c:yVal>
            <c:numRef>
              <c:f>'C:\Documents and Settings\poelker\My Documents\injector\Gun Voltage Study\[e-bunchlength vs gun voltage.xlsx]Sheet1'!$L$4:$L$9</c:f>
              <c:numCache>
                <c:formatCode>General</c:formatCode>
                <c:ptCount val="6"/>
                <c:pt idx="0">
                  <c:v>43.771043771043708</c:v>
                </c:pt>
                <c:pt idx="1">
                  <c:v>60.606060606060595</c:v>
                </c:pt>
                <c:pt idx="2">
                  <c:v>104.37710437710435</c:v>
                </c:pt>
                <c:pt idx="3">
                  <c:v>138.04713804713833</c:v>
                </c:pt>
                <c:pt idx="4">
                  <c:v>161.61616161616129</c:v>
                </c:pt>
                <c:pt idx="5">
                  <c:v>188.5521885521888</c:v>
                </c:pt>
              </c:numCache>
            </c:numRef>
          </c:yVal>
          <c:smooth val="1"/>
        </c:ser>
        <c:ser>
          <c:idx val="2"/>
          <c:order val="1"/>
          <c:tx>
            <c:v>100kV</c:v>
          </c:tx>
          <c:xVal>
            <c:numRef>
              <c:f>'C:\Documents and Settings\poelker\My Documents\injector\Gun Voltage Study\[e-bunchlength vs gun voltage.xlsx]Sheet1'!$G$4:$G$13</c:f>
              <c:numCache>
                <c:formatCode>General</c:formatCode>
                <c:ptCount val="10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51</c:v>
                </c:pt>
                <c:pt idx="4">
                  <c:v>75</c:v>
                </c:pt>
                <c:pt idx="5">
                  <c:v>100</c:v>
                </c:pt>
                <c:pt idx="6">
                  <c:v>125</c:v>
                </c:pt>
                <c:pt idx="7">
                  <c:v>153</c:v>
                </c:pt>
                <c:pt idx="8">
                  <c:v>175</c:v>
                </c:pt>
                <c:pt idx="9">
                  <c:v>202</c:v>
                </c:pt>
              </c:numCache>
            </c:numRef>
          </c:xVal>
          <c:yVal>
            <c:numRef>
              <c:f>'C:\Documents and Settings\poelker\My Documents\injector\Gun Voltage Study\[e-bunchlength vs gun voltage.xlsx]Sheet1'!$I$4:$I$13</c:f>
              <c:numCache>
                <c:formatCode>General</c:formatCode>
                <c:ptCount val="10"/>
                <c:pt idx="0">
                  <c:v>43.85964912280695</c:v>
                </c:pt>
                <c:pt idx="1">
                  <c:v>70.17543859649075</c:v>
                </c:pt>
                <c:pt idx="2">
                  <c:v>96.491228070175652</c:v>
                </c:pt>
                <c:pt idx="3">
                  <c:v>125.73099415204678</c:v>
                </c:pt>
                <c:pt idx="4">
                  <c:v>149.12280701754423</c:v>
                </c:pt>
                <c:pt idx="5">
                  <c:v>152.04678362573074</c:v>
                </c:pt>
                <c:pt idx="6">
                  <c:v>181.2865497076024</c:v>
                </c:pt>
                <c:pt idx="7">
                  <c:v>198.83040935672565</c:v>
                </c:pt>
                <c:pt idx="8">
                  <c:v>213.45029239766109</c:v>
                </c:pt>
                <c:pt idx="9">
                  <c:v>233.91812865497081</c:v>
                </c:pt>
              </c:numCache>
            </c:numRef>
          </c:yVal>
          <c:smooth val="1"/>
        </c:ser>
        <c:ser>
          <c:idx val="1"/>
          <c:order val="2"/>
          <c:tx>
            <c:v>85kV</c:v>
          </c:tx>
          <c:spPr>
            <a:ln>
              <a:solidFill>
                <a:schemeClr val="accent4"/>
              </a:solidFill>
            </a:ln>
          </c:spPr>
          <c:marker>
            <c:symbol val="x"/>
            <c:size val="7"/>
            <c:spPr>
              <a:noFill/>
              <a:ln>
                <a:solidFill>
                  <a:srgbClr val="8064A2"/>
                </a:solidFill>
              </a:ln>
            </c:spPr>
          </c:marker>
          <c:xVal>
            <c:numRef>
              <c:f>'C:\Documents and Settings\poelker\My Documents\injector\Gun Voltage Study\[e-bunchlength vs gun voltage.xlsx]Sheet1'!$D$4:$D$13</c:f>
              <c:numCache>
                <c:formatCode>General</c:formatCode>
                <c:ptCount val="10"/>
                <c:pt idx="0">
                  <c:v>1</c:v>
                </c:pt>
                <c:pt idx="1">
                  <c:v>13.1</c:v>
                </c:pt>
                <c:pt idx="2">
                  <c:v>28</c:v>
                </c:pt>
                <c:pt idx="3">
                  <c:v>54</c:v>
                </c:pt>
                <c:pt idx="4">
                  <c:v>79</c:v>
                </c:pt>
                <c:pt idx="5">
                  <c:v>104</c:v>
                </c:pt>
                <c:pt idx="6">
                  <c:v>128</c:v>
                </c:pt>
                <c:pt idx="7">
                  <c:v>155</c:v>
                </c:pt>
                <c:pt idx="8">
                  <c:v>178</c:v>
                </c:pt>
                <c:pt idx="9">
                  <c:v>204</c:v>
                </c:pt>
              </c:numCache>
            </c:numRef>
          </c:xVal>
          <c:yVal>
            <c:numRef>
              <c:f>'C:\Documents and Settings\poelker\My Documents\injector\Gun Voltage Study\[e-bunchlength vs gun voltage.xlsx]Sheet1'!$F$4:$F$13</c:f>
              <c:numCache>
                <c:formatCode>General</c:formatCode>
                <c:ptCount val="10"/>
                <c:pt idx="0">
                  <c:v>53.872053872053883</c:v>
                </c:pt>
                <c:pt idx="1">
                  <c:v>77.441077441077667</c:v>
                </c:pt>
                <c:pt idx="2">
                  <c:v>107.74410774410798</c:v>
                </c:pt>
                <c:pt idx="3">
                  <c:v>144.78114478114475</c:v>
                </c:pt>
                <c:pt idx="4">
                  <c:v>158.24915824915752</c:v>
                </c:pt>
                <c:pt idx="5">
                  <c:v>181.81818181818181</c:v>
                </c:pt>
                <c:pt idx="6">
                  <c:v>208.75420875420875</c:v>
                </c:pt>
                <c:pt idx="7">
                  <c:v>232.32323232323247</c:v>
                </c:pt>
                <c:pt idx="8">
                  <c:v>255.89225589225597</c:v>
                </c:pt>
                <c:pt idx="9">
                  <c:v>269.3602693602694</c:v>
                </c:pt>
              </c:numCache>
            </c:numRef>
          </c:yVal>
          <c:smooth val="1"/>
        </c:ser>
        <c:ser>
          <c:idx val="0"/>
          <c:order val="3"/>
          <c:tx>
            <c:v>70kV</c:v>
          </c:tx>
          <c:spPr>
            <a:ln>
              <a:solidFill>
                <a:schemeClr val="accent5"/>
              </a:solidFill>
            </a:ln>
          </c:spPr>
          <c:marker>
            <c:symbol val="diamond"/>
            <c:size val="7"/>
            <c:spPr>
              <a:solidFill>
                <a:schemeClr val="accent5"/>
              </a:solidFill>
              <a:ln>
                <a:solidFill>
                  <a:srgbClr val="4BACC6"/>
                </a:solidFill>
              </a:ln>
            </c:spPr>
          </c:marker>
          <c:xVal>
            <c:numRef>
              <c:f>'C:\Documents and Settings\poelker\My Documents\injector\Gun Voltage Study\[e-bunchlength vs gun voltage.xlsx]Sheet1'!$A$4:$A$13</c:f>
              <c:numCache>
                <c:formatCode>General</c:formatCode>
                <c:ptCount val="10"/>
                <c:pt idx="0">
                  <c:v>0.8</c:v>
                </c:pt>
                <c:pt idx="1">
                  <c:v>11</c:v>
                </c:pt>
                <c:pt idx="2">
                  <c:v>24.5</c:v>
                </c:pt>
                <c:pt idx="3">
                  <c:v>48.4</c:v>
                </c:pt>
                <c:pt idx="4">
                  <c:v>69.5</c:v>
                </c:pt>
                <c:pt idx="5">
                  <c:v>90.5</c:v>
                </c:pt>
                <c:pt idx="6">
                  <c:v>111.3</c:v>
                </c:pt>
                <c:pt idx="7">
                  <c:v>131.80000000000001</c:v>
                </c:pt>
                <c:pt idx="8">
                  <c:v>148</c:v>
                </c:pt>
                <c:pt idx="9">
                  <c:v>168</c:v>
                </c:pt>
              </c:numCache>
            </c:numRef>
          </c:xVal>
          <c:yVal>
            <c:numRef>
              <c:f>'C:\Documents and Settings\poelker\My Documents\injector\Gun Voltage Study\[e-bunchlength vs gun voltage.xlsx]Sheet1'!$C$4:$C$13</c:f>
              <c:numCache>
                <c:formatCode>General</c:formatCode>
                <c:ptCount val="10"/>
                <c:pt idx="0">
                  <c:v>50.854700854700845</c:v>
                </c:pt>
                <c:pt idx="1">
                  <c:v>77.777777777777658</c:v>
                </c:pt>
                <c:pt idx="2">
                  <c:v>113.6752136752138</c:v>
                </c:pt>
                <c:pt idx="3">
                  <c:v>152.56410256410206</c:v>
                </c:pt>
                <c:pt idx="4">
                  <c:v>173.5042735042735</c:v>
                </c:pt>
                <c:pt idx="5">
                  <c:v>203.41880341880341</c:v>
                </c:pt>
                <c:pt idx="6">
                  <c:v>227.35042735042811</c:v>
                </c:pt>
                <c:pt idx="7">
                  <c:v>245.29914529914473</c:v>
                </c:pt>
                <c:pt idx="8">
                  <c:v>260.25641025640959</c:v>
                </c:pt>
                <c:pt idx="9">
                  <c:v>278.20512820512823</c:v>
                </c:pt>
              </c:numCache>
            </c:numRef>
          </c:yVal>
          <c:smooth val="1"/>
        </c:ser>
        <c:axId val="52495872"/>
        <c:axId val="52510720"/>
      </c:scatterChart>
      <c:valAx>
        <c:axId val="52495872"/>
        <c:scaling>
          <c:orientation val="minMax"/>
          <c:max val="210"/>
          <c:min val="0"/>
        </c:scaling>
        <c:axPos val="b"/>
        <c:title>
          <c:tx>
            <c:rich>
              <a:bodyPr/>
              <a:lstStyle/>
              <a:p>
                <a:pPr>
                  <a:defRPr b="0"/>
                </a:pPr>
                <a:r>
                  <a:rPr lang="en-US" b="0"/>
                  <a:t>Ave. Gun Current (uA)</a:t>
                </a:r>
              </a:p>
            </c:rich>
          </c:tx>
          <c:layout>
            <c:manualLayout>
              <c:xMode val="edge"/>
              <c:yMode val="edge"/>
              <c:x val="0.35627343457067867"/>
              <c:y val="0.88406862745098069"/>
            </c:manualLayout>
          </c:layout>
        </c:title>
        <c:numFmt formatCode="General" sourceLinked="1"/>
        <c:tickLblPos val="nextTo"/>
        <c:crossAx val="52510720"/>
        <c:crosses val="autoZero"/>
        <c:crossBetween val="midCat"/>
        <c:majorUnit val="50"/>
        <c:minorUnit val="10"/>
      </c:valAx>
      <c:valAx>
        <c:axId val="52510720"/>
        <c:scaling>
          <c:orientation val="minMax"/>
        </c:scaling>
        <c:axPos val="l"/>
        <c:majorGridlines/>
        <c:title>
          <c:tx>
            <c:rich>
              <a:bodyPr/>
              <a:lstStyle/>
              <a:p>
                <a:pPr>
                  <a:defRPr b="0">
                    <a:latin typeface="Arial" pitchFamily="34" charset="0"/>
                    <a:cs typeface="Arial" pitchFamily="34" charset="0"/>
                  </a:defRPr>
                </a:pPr>
                <a:r>
                  <a:rPr lang="en-US" b="0" dirty="0">
                    <a:latin typeface="Arial" pitchFamily="34" charset="0"/>
                    <a:cs typeface="Arial" pitchFamily="34" charset="0"/>
                  </a:rPr>
                  <a:t>Electron </a:t>
                </a:r>
                <a:r>
                  <a:rPr lang="en-US" b="0" dirty="0" err="1">
                    <a:latin typeface="Arial" pitchFamily="34" charset="0"/>
                    <a:cs typeface="Arial" pitchFamily="34" charset="0"/>
                  </a:rPr>
                  <a:t>Bunchlength</a:t>
                </a:r>
                <a:r>
                  <a:rPr lang="en-US" b="0" dirty="0">
                    <a:latin typeface="Arial" pitchFamily="34" charset="0"/>
                    <a:cs typeface="Arial" pitchFamily="34" charset="0"/>
                  </a:rPr>
                  <a:t> (</a:t>
                </a:r>
                <a:r>
                  <a:rPr lang="en-US" b="0" dirty="0" err="1">
                    <a:latin typeface="Arial" pitchFamily="34" charset="0"/>
                    <a:cs typeface="Arial" pitchFamily="34" charset="0"/>
                  </a:rPr>
                  <a:t>ps</a:t>
                </a:r>
                <a:r>
                  <a:rPr lang="en-US" b="0" dirty="0">
                    <a:latin typeface="Arial" pitchFamily="34" charset="0"/>
                    <a:cs typeface="Arial" pitchFamily="34" charset="0"/>
                  </a:rPr>
                  <a:t>)</a:t>
                </a:r>
              </a:p>
            </c:rich>
          </c:tx>
          <c:layout>
            <c:manualLayout>
              <c:xMode val="edge"/>
              <c:yMode val="edge"/>
              <c:x val="4.4188695163104613E-2"/>
              <c:y val="0.15462675621429675"/>
            </c:manualLayout>
          </c:layout>
        </c:title>
        <c:numFmt formatCode="General" sourceLinked="1"/>
        <c:tickLblPos val="nextTo"/>
        <c:crossAx val="52495872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83502976190476186"/>
          <c:y val="0.43687085070248644"/>
          <c:w val="0.16497023809523836"/>
          <c:h val="0.35456692913385945"/>
        </c:manualLayout>
      </c:layout>
      <c:txPr>
        <a:bodyPr/>
        <a:lstStyle/>
        <a:p>
          <a:pPr>
            <a:defRPr sz="1000" baseline="0"/>
          </a:pPr>
          <a:endParaRPr lang="en-US"/>
        </a:p>
      </c:txPr>
    </c:legend>
    <c:plotVisOnly val="1"/>
  </c:chart>
  <c:spPr>
    <a:ln>
      <a:solidFill>
        <a:schemeClr val="tx1"/>
      </a:solidFill>
    </a:ln>
  </c:spPr>
  <c:txPr>
    <a:bodyPr/>
    <a:lstStyle/>
    <a:p>
      <a:pPr>
        <a:defRPr sz="1200"/>
      </a:pPr>
      <a:endParaRPr lang="en-US"/>
    </a:p>
  </c:tx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>
              <a:defRPr/>
            </a:pPr>
            <a:r>
              <a:rPr lang="en-US" b="0" dirty="0"/>
              <a:t>Transmission </a:t>
            </a:r>
            <a:r>
              <a:rPr lang="en-US" b="0" dirty="0" err="1"/>
              <a:t>vs</a:t>
            </a:r>
            <a:r>
              <a:rPr lang="en-US" b="0" dirty="0"/>
              <a:t> Gun Voltage</a:t>
            </a:r>
          </a:p>
        </c:rich>
      </c:tx>
      <c:layout>
        <c:manualLayout>
          <c:xMode val="edge"/>
          <c:yMode val="edge"/>
          <c:x val="0.16450417561441183"/>
          <c:y val="2.9917014049714401E-2"/>
        </c:manualLayout>
      </c:layout>
    </c:title>
    <c:plotArea>
      <c:layout>
        <c:manualLayout>
          <c:layoutTarget val="inner"/>
          <c:xMode val="edge"/>
          <c:yMode val="edge"/>
          <c:x val="0.16235099021713195"/>
          <c:y val="0.18826648346809058"/>
          <c:w val="0.65573228346456802"/>
          <c:h val="0.57529450362822365"/>
        </c:manualLayout>
      </c:layout>
      <c:scatterChart>
        <c:scatterStyle val="smoothMarker"/>
        <c:ser>
          <c:idx val="1"/>
          <c:order val="0"/>
          <c:tx>
            <c:v>115kV</c:v>
          </c:tx>
          <c:xVal>
            <c:numRef>
              <c:f>Sheet1!$D$87:$D$95</c:f>
              <c:numCache>
                <c:formatCode>General</c:formatCode>
                <c:ptCount val="9"/>
                <c:pt idx="0">
                  <c:v>11.7</c:v>
                </c:pt>
                <c:pt idx="1">
                  <c:v>26</c:v>
                </c:pt>
                <c:pt idx="2">
                  <c:v>51.4</c:v>
                </c:pt>
                <c:pt idx="3">
                  <c:v>74.8</c:v>
                </c:pt>
                <c:pt idx="4">
                  <c:v>98.2</c:v>
                </c:pt>
                <c:pt idx="5">
                  <c:v>122.2</c:v>
                </c:pt>
                <c:pt idx="6">
                  <c:v>148</c:v>
                </c:pt>
                <c:pt idx="7">
                  <c:v>170.5</c:v>
                </c:pt>
                <c:pt idx="8">
                  <c:v>198</c:v>
                </c:pt>
              </c:numCache>
            </c:numRef>
          </c:xVal>
          <c:yVal>
            <c:numRef>
              <c:f>Sheet1!$J$87:$J$95</c:f>
              <c:numCache>
                <c:formatCode>General</c:formatCode>
                <c:ptCount val="9"/>
                <c:pt idx="0">
                  <c:v>96.581196581196593</c:v>
                </c:pt>
                <c:pt idx="1">
                  <c:v>92.692307692307679</c:v>
                </c:pt>
                <c:pt idx="2">
                  <c:v>82.490272373540819</c:v>
                </c:pt>
                <c:pt idx="3">
                  <c:v>73.262032085561458</c:v>
                </c:pt>
                <c:pt idx="4">
                  <c:v>67.006109979633393</c:v>
                </c:pt>
                <c:pt idx="5">
                  <c:v>61.783960720130963</c:v>
                </c:pt>
                <c:pt idx="6">
                  <c:v>57.635135135135258</c:v>
                </c:pt>
                <c:pt idx="7">
                  <c:v>54.897360703812232</c:v>
                </c:pt>
                <c:pt idx="8">
                  <c:v>51.313131313131308</c:v>
                </c:pt>
              </c:numCache>
            </c:numRef>
          </c:yVal>
          <c:smooth val="1"/>
        </c:ser>
        <c:ser>
          <c:idx val="2"/>
          <c:order val="1"/>
          <c:tx>
            <c:v>100kV</c:v>
          </c:tx>
          <c:xVal>
            <c:numRef>
              <c:f>Sheet1!$D$3:$D$11</c:f>
              <c:numCache>
                <c:formatCode>General</c:formatCode>
                <c:ptCount val="9"/>
                <c:pt idx="0">
                  <c:v>10.1</c:v>
                </c:pt>
                <c:pt idx="1">
                  <c:v>24.8</c:v>
                </c:pt>
                <c:pt idx="2">
                  <c:v>51</c:v>
                </c:pt>
                <c:pt idx="3">
                  <c:v>75.2</c:v>
                </c:pt>
                <c:pt idx="4">
                  <c:v>100</c:v>
                </c:pt>
                <c:pt idx="5">
                  <c:v>125.4</c:v>
                </c:pt>
                <c:pt idx="6">
                  <c:v>153</c:v>
                </c:pt>
                <c:pt idx="7">
                  <c:v>174.6</c:v>
                </c:pt>
                <c:pt idx="8">
                  <c:v>202</c:v>
                </c:pt>
              </c:numCache>
            </c:numRef>
          </c:xVal>
          <c:yVal>
            <c:numRef>
              <c:f>Sheet1!$J$3:$J$11</c:f>
              <c:numCache>
                <c:formatCode>General</c:formatCode>
                <c:ptCount val="9"/>
                <c:pt idx="0">
                  <c:v>99.009900990099013</c:v>
                </c:pt>
                <c:pt idx="1">
                  <c:v>92.741935483871117</c:v>
                </c:pt>
                <c:pt idx="2">
                  <c:v>77.843137254901919</c:v>
                </c:pt>
                <c:pt idx="3">
                  <c:v>66.755319148936181</c:v>
                </c:pt>
                <c:pt idx="4">
                  <c:v>59.20000000000001</c:v>
                </c:pt>
                <c:pt idx="5">
                  <c:v>52.791068580542245</c:v>
                </c:pt>
                <c:pt idx="6">
                  <c:v>47.450980392156858</c:v>
                </c:pt>
                <c:pt idx="7">
                  <c:v>44.215349369988552</c:v>
                </c:pt>
                <c:pt idx="8">
                  <c:v>40.594059405940534</c:v>
                </c:pt>
              </c:numCache>
            </c:numRef>
          </c:yVal>
          <c:smooth val="1"/>
        </c:ser>
        <c:ser>
          <c:idx val="3"/>
          <c:order val="2"/>
          <c:tx>
            <c:v>85kV</c:v>
          </c:tx>
          <c:xVal>
            <c:numRef>
              <c:f>Sheet1!$D$63:$D$71</c:f>
              <c:numCache>
                <c:formatCode>General</c:formatCode>
                <c:ptCount val="9"/>
                <c:pt idx="0">
                  <c:v>13.1</c:v>
                </c:pt>
                <c:pt idx="1">
                  <c:v>28.1</c:v>
                </c:pt>
                <c:pt idx="2">
                  <c:v>54.7</c:v>
                </c:pt>
                <c:pt idx="3">
                  <c:v>79.3</c:v>
                </c:pt>
                <c:pt idx="4">
                  <c:v>104.1</c:v>
                </c:pt>
                <c:pt idx="5">
                  <c:v>128.80000000000001</c:v>
                </c:pt>
                <c:pt idx="6">
                  <c:v>155.80000000000001</c:v>
                </c:pt>
                <c:pt idx="7">
                  <c:v>178.5</c:v>
                </c:pt>
                <c:pt idx="8">
                  <c:v>204</c:v>
                </c:pt>
              </c:numCache>
            </c:numRef>
          </c:xVal>
          <c:yVal>
            <c:numRef>
              <c:f>Sheet1!$J$63:$J$71</c:f>
              <c:numCache>
                <c:formatCode>General</c:formatCode>
                <c:ptCount val="9"/>
                <c:pt idx="0">
                  <c:v>93.89312977099253</c:v>
                </c:pt>
                <c:pt idx="1">
                  <c:v>83.274021352313156</c:v>
                </c:pt>
                <c:pt idx="2">
                  <c:v>67.276051188299789</c:v>
                </c:pt>
                <c:pt idx="3">
                  <c:v>56.242118537200511</c:v>
                </c:pt>
                <c:pt idx="4">
                  <c:v>47.646493756003842</c:v>
                </c:pt>
                <c:pt idx="5">
                  <c:v>40.916149068322945</c:v>
                </c:pt>
                <c:pt idx="6">
                  <c:v>35.044929396662305</c:v>
                </c:pt>
                <c:pt idx="7">
                  <c:v>30.92436974789916</c:v>
                </c:pt>
                <c:pt idx="8">
                  <c:v>27.205882352941146</c:v>
                </c:pt>
              </c:numCache>
            </c:numRef>
          </c:yVal>
          <c:smooth val="1"/>
        </c:ser>
        <c:ser>
          <c:idx val="0"/>
          <c:order val="3"/>
          <c:tx>
            <c:v>70kV</c:v>
          </c:tx>
          <c:spPr>
            <a:ln>
              <a:solidFill>
                <a:schemeClr val="accent5"/>
              </a:solidFill>
            </a:ln>
          </c:spPr>
          <c:marker>
            <c:symbol val="diamond"/>
            <c:size val="7"/>
            <c:spPr>
              <a:solidFill>
                <a:schemeClr val="accent5"/>
              </a:solidFill>
            </c:spPr>
          </c:marker>
          <c:xVal>
            <c:numRef>
              <c:f>Sheet1!$D$39:$D$47</c:f>
              <c:numCache>
                <c:formatCode>General</c:formatCode>
                <c:ptCount val="9"/>
                <c:pt idx="0">
                  <c:v>11</c:v>
                </c:pt>
                <c:pt idx="1">
                  <c:v>24.5</c:v>
                </c:pt>
                <c:pt idx="2">
                  <c:v>48.4</c:v>
                </c:pt>
                <c:pt idx="3">
                  <c:v>69.5</c:v>
                </c:pt>
                <c:pt idx="4">
                  <c:v>90.5</c:v>
                </c:pt>
                <c:pt idx="5">
                  <c:v>111.3</c:v>
                </c:pt>
                <c:pt idx="6">
                  <c:v>131.80000000000001</c:v>
                </c:pt>
                <c:pt idx="7">
                  <c:v>148</c:v>
                </c:pt>
                <c:pt idx="8">
                  <c:v>168</c:v>
                </c:pt>
              </c:numCache>
            </c:numRef>
          </c:xVal>
          <c:yVal>
            <c:numRef>
              <c:f>Sheet1!$J$39:$J$47</c:f>
              <c:numCache>
                <c:formatCode>General</c:formatCode>
                <c:ptCount val="9"/>
                <c:pt idx="0">
                  <c:v>77.272727272727067</c:v>
                </c:pt>
                <c:pt idx="1">
                  <c:v>61.632653061224474</c:v>
                </c:pt>
                <c:pt idx="2">
                  <c:v>45.247933884297495</c:v>
                </c:pt>
                <c:pt idx="3">
                  <c:v>35.971223021582666</c:v>
                </c:pt>
                <c:pt idx="4">
                  <c:v>29.060773480662952</c:v>
                </c:pt>
                <c:pt idx="5">
                  <c:v>23.719676549865198</c:v>
                </c:pt>
                <c:pt idx="6">
                  <c:v>19.802731411229129</c:v>
                </c:pt>
                <c:pt idx="7">
                  <c:v>17.297297297297288</c:v>
                </c:pt>
                <c:pt idx="8">
                  <c:v>14.523809523809522</c:v>
                </c:pt>
              </c:numCache>
            </c:numRef>
          </c:yVal>
          <c:smooth val="1"/>
        </c:ser>
        <c:axId val="52550272"/>
        <c:axId val="52171520"/>
      </c:scatterChart>
      <c:valAx>
        <c:axId val="52550272"/>
        <c:scaling>
          <c:orientation val="minMax"/>
          <c:max val="210"/>
          <c:min val="0"/>
        </c:scaling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 b="0" dirty="0" smtClean="0"/>
                  <a:t>Ave. Gun Current </a:t>
                </a:r>
                <a:r>
                  <a:rPr lang="en-US" sz="1200" b="0" dirty="0"/>
                  <a:t>(</a:t>
                </a:r>
                <a:r>
                  <a:rPr lang="en-US" sz="1200" b="0" dirty="0" err="1"/>
                  <a:t>uA</a:t>
                </a:r>
                <a:r>
                  <a:rPr lang="en-US" sz="1200" b="0" dirty="0"/>
                  <a:t>)</a:t>
                </a:r>
              </a:p>
            </c:rich>
          </c:tx>
          <c:layout>
            <c:manualLayout>
              <c:xMode val="edge"/>
              <c:yMode val="edge"/>
              <c:x val="0.34803913147220233"/>
              <c:y val="0.87814806237455811"/>
            </c:manualLayout>
          </c:layout>
        </c:title>
        <c:numFmt formatCode="General" sourceLinked="1"/>
        <c:tickLblPos val="nextTo"/>
        <c:crossAx val="52171520"/>
        <c:crosses val="autoZero"/>
        <c:crossBetween val="midCat"/>
        <c:majorUnit val="50"/>
        <c:minorUnit val="10"/>
      </c:valAx>
      <c:valAx>
        <c:axId val="52171520"/>
        <c:scaling>
          <c:orientation val="minMax"/>
          <c:max val="100"/>
        </c:scaling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sz="1400" b="0"/>
                  <a:t>Transmission (%)</a:t>
                </a:r>
              </a:p>
            </c:rich>
          </c:tx>
          <c:layout>
            <c:manualLayout>
              <c:xMode val="edge"/>
              <c:yMode val="edge"/>
              <c:x val="3.0303030303030311E-2"/>
              <c:y val="0.24283078585765025"/>
            </c:manualLayout>
          </c:layout>
        </c:title>
        <c:numFmt formatCode="General" sourceLinked="1"/>
        <c:tickLblPos val="nextTo"/>
        <c:crossAx val="52550272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9785349558577989"/>
          <c:y val="0.16174778488259481"/>
          <c:w val="0.20127606776425672"/>
          <c:h val="0.29224910522548331"/>
        </c:manualLayout>
      </c:layout>
    </c:legend>
    <c:plotVisOnly val="1"/>
  </c:chart>
  <c:spPr>
    <a:ln>
      <a:solidFill>
        <a:schemeClr val="tx1"/>
      </a:solidFill>
    </a:ln>
  </c:sp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>
              <a:defRPr sz="1600" b="0"/>
            </a:pPr>
            <a:r>
              <a:rPr lang="en-US" sz="1600" b="0" dirty="0"/>
              <a:t>Transmission Vs </a:t>
            </a:r>
            <a:r>
              <a:rPr lang="en-US" sz="1600" b="0" dirty="0" smtClean="0"/>
              <a:t>Gun Voltage</a:t>
            </a:r>
            <a:endParaRPr lang="en-US" sz="1600" b="0" dirty="0"/>
          </a:p>
        </c:rich>
      </c:tx>
      <c:layout>
        <c:manualLayout>
          <c:xMode val="edge"/>
          <c:yMode val="edge"/>
          <c:x val="0.22252435346766999"/>
          <c:y val="2.5157232704402545E-2"/>
        </c:manualLayout>
      </c:layout>
      <c:spPr>
        <a:ln>
          <a:noFill/>
        </a:ln>
      </c:spPr>
    </c:title>
    <c:plotArea>
      <c:layout>
        <c:manualLayout>
          <c:layoutTarget val="inner"/>
          <c:xMode val="edge"/>
          <c:yMode val="edge"/>
          <c:x val="0.13344181977252853"/>
          <c:y val="0.14578392774432616"/>
          <c:w val="0.67684164479440134"/>
          <c:h val="0.61886096958468462"/>
        </c:manualLayout>
      </c:layout>
      <c:scatterChart>
        <c:scatterStyle val="smoothMarker"/>
        <c:ser>
          <c:idx val="0"/>
          <c:order val="0"/>
          <c:tx>
            <c:v>200KeV</c:v>
          </c:tx>
          <c:spPr>
            <a:ln>
              <a:solidFill>
                <a:srgbClr val="F79646"/>
              </a:solidFill>
            </a:ln>
          </c:spPr>
          <c:marker>
            <c:symbol val="none"/>
          </c:marker>
          <c:xVal>
            <c:numRef>
              <c:f>Sheet1!$A$10:$A$13</c:f>
              <c:numCache>
                <c:formatCode>0.00E+00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</c:numCache>
            </c:numRef>
          </c:xVal>
          <c:yVal>
            <c:numRef>
              <c:f>Sheet1!$B$10:$B$13</c:f>
              <c:numCache>
                <c:formatCode>General</c:formatCode>
                <c:ptCount val="4"/>
                <c:pt idx="0">
                  <c:v>97.899999999999991</c:v>
                </c:pt>
                <c:pt idx="1">
                  <c:v>97.7</c:v>
                </c:pt>
                <c:pt idx="2">
                  <c:v>97</c:v>
                </c:pt>
                <c:pt idx="3">
                  <c:v>96.6</c:v>
                </c:pt>
              </c:numCache>
            </c:numRef>
          </c:yVal>
          <c:smooth val="1"/>
        </c:ser>
        <c:ser>
          <c:idx val="1"/>
          <c:order val="1"/>
          <c:tx>
            <c:v>115KeV</c:v>
          </c:tx>
          <c:marker>
            <c:symbol val="none"/>
          </c:marker>
          <c:xVal>
            <c:numRef>
              <c:f>Sheet1!$A$10:$A$13</c:f>
              <c:numCache>
                <c:formatCode>0.00E+00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</c:numCache>
            </c:numRef>
          </c:xVal>
          <c:yVal>
            <c:numRef>
              <c:f>Sheet1!$C$10:$C$13</c:f>
              <c:numCache>
                <c:formatCode>General</c:formatCode>
                <c:ptCount val="4"/>
                <c:pt idx="0">
                  <c:v>93.7</c:v>
                </c:pt>
                <c:pt idx="1">
                  <c:v>86.6</c:v>
                </c:pt>
                <c:pt idx="2">
                  <c:v>77.8</c:v>
                </c:pt>
                <c:pt idx="3">
                  <c:v>69.899999999999991</c:v>
                </c:pt>
              </c:numCache>
            </c:numRef>
          </c:yVal>
          <c:smooth val="1"/>
        </c:ser>
        <c:ser>
          <c:idx val="2"/>
          <c:order val="2"/>
          <c:tx>
            <c:v>100KeV</c:v>
          </c:tx>
          <c:marker>
            <c:symbol val="none"/>
          </c:marker>
          <c:xVal>
            <c:numRef>
              <c:f>Sheet1!$A$10:$A$13</c:f>
              <c:numCache>
                <c:formatCode>0.00E+00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</c:numCache>
            </c:numRef>
          </c:xVal>
          <c:yVal>
            <c:numRef>
              <c:f>Sheet1!$D$10:$D$13</c:f>
              <c:numCache>
                <c:formatCode>General</c:formatCode>
                <c:ptCount val="4"/>
                <c:pt idx="0">
                  <c:v>92.600000000000009</c:v>
                </c:pt>
                <c:pt idx="1">
                  <c:v>78.400000000000006</c:v>
                </c:pt>
                <c:pt idx="2">
                  <c:v>67.400000000000006</c:v>
                </c:pt>
                <c:pt idx="3">
                  <c:v>60.3</c:v>
                </c:pt>
              </c:numCache>
            </c:numRef>
          </c:yVal>
          <c:smooth val="1"/>
        </c:ser>
        <c:ser>
          <c:idx val="3"/>
          <c:order val="3"/>
          <c:tx>
            <c:v>85KeV</c:v>
          </c:tx>
          <c:marker>
            <c:symbol val="none"/>
          </c:marker>
          <c:xVal>
            <c:numRef>
              <c:f>Sheet1!$A$10:$A$13</c:f>
              <c:numCache>
                <c:formatCode>0.00E+00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</c:numCache>
            </c:numRef>
          </c:xVal>
          <c:yVal>
            <c:numRef>
              <c:f>Sheet1!$E$10:$E$13</c:f>
              <c:numCache>
                <c:formatCode>General</c:formatCode>
                <c:ptCount val="4"/>
                <c:pt idx="0">
                  <c:v>85.6</c:v>
                </c:pt>
                <c:pt idx="1">
                  <c:v>66.7</c:v>
                </c:pt>
                <c:pt idx="2">
                  <c:v>57.3</c:v>
                </c:pt>
                <c:pt idx="3">
                  <c:v>50.9</c:v>
                </c:pt>
              </c:numCache>
            </c:numRef>
          </c:yVal>
          <c:smooth val="1"/>
        </c:ser>
        <c:ser>
          <c:idx val="4"/>
          <c:order val="4"/>
          <c:tx>
            <c:v>70KeV</c:v>
          </c:tx>
          <c:marker>
            <c:symbol val="none"/>
          </c:marker>
          <c:xVal>
            <c:numRef>
              <c:f>Sheet1!$A$10:$A$13</c:f>
              <c:numCache>
                <c:formatCode>0.00E+00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</c:numCache>
            </c:numRef>
          </c:xVal>
          <c:yVal>
            <c:numRef>
              <c:f>Sheet1!$F$10:$F$13</c:f>
              <c:numCache>
                <c:formatCode>General</c:formatCode>
                <c:ptCount val="4"/>
                <c:pt idx="0">
                  <c:v>72.5</c:v>
                </c:pt>
                <c:pt idx="1">
                  <c:v>54.500000000000007</c:v>
                </c:pt>
                <c:pt idx="2">
                  <c:v>46.2</c:v>
                </c:pt>
                <c:pt idx="3">
                  <c:v>39.6</c:v>
                </c:pt>
              </c:numCache>
            </c:numRef>
          </c:yVal>
          <c:smooth val="1"/>
        </c:ser>
        <c:axId val="52215168"/>
        <c:axId val="52561408"/>
      </c:scatterChart>
      <c:valAx>
        <c:axId val="52215168"/>
        <c:scaling>
          <c:orientation val="minMax"/>
          <c:max val="210"/>
          <c:min val="0"/>
        </c:scaling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Ave. Gun Current (</a:t>
                </a:r>
                <a:r>
                  <a:rPr lang="en-US" sz="1200" b="1" i="0" u="none" strike="noStrike" baseline="0"/>
                  <a:t>µA)</a:t>
                </a:r>
                <a:endParaRPr lang="en-US" sz="1200"/>
              </a:p>
            </c:rich>
          </c:tx>
          <c:layout/>
        </c:title>
        <c:numFmt formatCode="#,##0.00" sourceLinked="0"/>
        <c:tickLblPos val="nextTo"/>
        <c:crossAx val="52561408"/>
        <c:crosses val="autoZero"/>
        <c:crossBetween val="midCat"/>
      </c:valAx>
      <c:valAx>
        <c:axId val="52561408"/>
        <c:scaling>
          <c:orientation val="minMax"/>
          <c:max val="105"/>
          <c:min val="0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sz="1400" b="0" dirty="0">
                    <a:latin typeface="+mj-lt"/>
                    <a:cs typeface="Times New Roman" pitchFamily="18" charset="0"/>
                  </a:rPr>
                  <a:t>Transmission (%)</a:t>
                </a:r>
              </a:p>
            </c:rich>
          </c:tx>
          <c:layout>
            <c:manualLayout>
              <c:xMode val="edge"/>
              <c:yMode val="edge"/>
              <c:x val="0"/>
              <c:y val="0.2455820595954919"/>
            </c:manualLayout>
          </c:layout>
        </c:title>
        <c:numFmt formatCode="General" sourceLinked="1"/>
        <c:tickLblPos val="nextTo"/>
        <c:crossAx val="52215168"/>
        <c:crosses val="autoZero"/>
        <c:crossBetween val="midCat"/>
        <c:majorUnit val="10"/>
      </c:valAx>
    </c:plotArea>
    <c:legend>
      <c:legendPos val="r"/>
      <c:layout>
        <c:manualLayout>
          <c:xMode val="edge"/>
          <c:yMode val="edge"/>
          <c:x val="0.80733324282740482"/>
          <c:y val="0.41041145592095135"/>
          <c:w val="0.19091795637614276"/>
          <c:h val="0.37909671668399941"/>
        </c:manualLayout>
      </c:layout>
    </c:legend>
    <c:plotVisOnly val="1"/>
  </c:chart>
  <c:spPr>
    <a:ln>
      <a:solidFill>
        <a:schemeClr val="tx1"/>
      </a:solidFill>
    </a:ln>
  </c:spPr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autoTitleDeleted val="1"/>
    <c:plotArea>
      <c:layout>
        <c:manualLayout>
          <c:layoutTarget val="inner"/>
          <c:xMode val="edge"/>
          <c:yMode val="edge"/>
          <c:x val="0.1710439632545932"/>
          <c:y val="0.17542716535433095"/>
          <c:w val="0.61176859142607265"/>
          <c:h val="0.5805275590551171"/>
        </c:manualLayout>
      </c:layout>
      <c:scatterChart>
        <c:scatterStyle val="smoothMarker"/>
        <c:ser>
          <c:idx val="0"/>
          <c:order val="0"/>
          <c:tx>
            <c:v>50mm</c:v>
          </c:tx>
          <c:xVal>
            <c:numRef>
              <c:f>Sheet1!$A$55:$A$59</c:f>
              <c:numCache>
                <c:formatCode>General</c:formatCode>
                <c:ptCount val="5"/>
                <c:pt idx="0">
                  <c:v>5.1040009799681796</c:v>
                </c:pt>
                <c:pt idx="1">
                  <c:v>5.5587210672744449</c:v>
                </c:pt>
                <c:pt idx="2">
                  <c:v>6.0134411545807014</c:v>
                </c:pt>
                <c:pt idx="3">
                  <c:v>6.5145612507957473</c:v>
                </c:pt>
                <c:pt idx="4">
                  <c:v>6.9739213389928993</c:v>
                </c:pt>
              </c:numCache>
            </c:numRef>
          </c:xVal>
          <c:yVal>
            <c:numRef>
              <c:f>Sheet1!$B$55:$B$59</c:f>
              <c:numCache>
                <c:formatCode>General</c:formatCode>
                <c:ptCount val="5"/>
                <c:pt idx="0">
                  <c:v>0</c:v>
                </c:pt>
                <c:pt idx="1">
                  <c:v>3</c:v>
                </c:pt>
                <c:pt idx="2">
                  <c:v>13</c:v>
                </c:pt>
                <c:pt idx="3">
                  <c:v>45</c:v>
                </c:pt>
                <c:pt idx="4">
                  <c:v>125</c:v>
                </c:pt>
              </c:numCache>
            </c:numRef>
          </c:yVal>
          <c:smooth val="1"/>
        </c:ser>
        <c:ser>
          <c:idx val="1"/>
          <c:order val="1"/>
          <c:tx>
            <c:v>40mm</c:v>
          </c:tx>
          <c:xVal>
            <c:numRef>
              <c:f>Sheet1!$C$55:$C$60</c:f>
              <c:numCache>
                <c:formatCode>General</c:formatCode>
                <c:ptCount val="6"/>
                <c:pt idx="0">
                  <c:v>5.3879310344827545</c:v>
                </c:pt>
                <c:pt idx="1">
                  <c:v>5.9105603448275872</c:v>
                </c:pt>
                <c:pt idx="2">
                  <c:v>6.487068965517242</c:v>
                </c:pt>
                <c:pt idx="3">
                  <c:v>7.0150862068965383</c:v>
                </c:pt>
                <c:pt idx="4">
                  <c:v>7.5646551724137865</c:v>
                </c:pt>
                <c:pt idx="5">
                  <c:v>8.0711206896551619</c:v>
                </c:pt>
              </c:numCache>
            </c:numRef>
          </c:xVal>
          <c:yVal>
            <c:numRef>
              <c:f>Sheet1!$D$55:$D$60</c:f>
              <c:numCache>
                <c:formatCode>General</c:formatCode>
                <c:ptCount val="6"/>
                <c:pt idx="0">
                  <c:v>0</c:v>
                </c:pt>
                <c:pt idx="1">
                  <c:v>0.70000000000000062</c:v>
                </c:pt>
                <c:pt idx="2">
                  <c:v>5.5</c:v>
                </c:pt>
                <c:pt idx="3">
                  <c:v>20</c:v>
                </c:pt>
                <c:pt idx="4">
                  <c:v>65</c:v>
                </c:pt>
                <c:pt idx="5">
                  <c:v>170</c:v>
                </c:pt>
              </c:numCache>
            </c:numRef>
          </c:yVal>
          <c:smooth val="1"/>
        </c:ser>
        <c:ser>
          <c:idx val="2"/>
          <c:order val="2"/>
          <c:tx>
            <c:v>30mm</c:v>
          </c:tx>
          <c:xVal>
            <c:numRef>
              <c:f>Sheet1!$E$55:$E$60</c:f>
              <c:numCache>
                <c:formatCode>General</c:formatCode>
                <c:ptCount val="6"/>
                <c:pt idx="0">
                  <c:v>5.827200205117439</c:v>
                </c:pt>
                <c:pt idx="1">
                  <c:v>6.3982658252189566</c:v>
                </c:pt>
                <c:pt idx="2">
                  <c:v>6.9926402461409358</c:v>
                </c:pt>
                <c:pt idx="3">
                  <c:v>7.5695330664475557</c:v>
                </c:pt>
                <c:pt idx="4">
                  <c:v>8.1813890879848952</c:v>
                </c:pt>
                <c:pt idx="5">
                  <c:v>8.7524547080864235</c:v>
                </c:pt>
              </c:numCache>
            </c:numRef>
          </c:xVal>
          <c:yVal>
            <c:numRef>
              <c:f>Sheet1!$F$55:$F$60</c:f>
              <c:numCache>
                <c:formatCode>General</c:formatCode>
                <c:ptCount val="6"/>
                <c:pt idx="0">
                  <c:v>0</c:v>
                </c:pt>
                <c:pt idx="1">
                  <c:v>1.5</c:v>
                </c:pt>
                <c:pt idx="2">
                  <c:v>5</c:v>
                </c:pt>
                <c:pt idx="3">
                  <c:v>31</c:v>
                </c:pt>
                <c:pt idx="4">
                  <c:v>125</c:v>
                </c:pt>
                <c:pt idx="5">
                  <c:v>335</c:v>
                </c:pt>
              </c:numCache>
            </c:numRef>
          </c:yVal>
          <c:smooth val="1"/>
        </c:ser>
        <c:ser>
          <c:idx val="3"/>
          <c:order val="3"/>
          <c:tx>
            <c:v>20mm</c:v>
          </c:tx>
          <c:xVal>
            <c:numRef>
              <c:f>Sheet1!$G$55:$G$60</c:f>
              <c:numCache>
                <c:formatCode>General</c:formatCode>
                <c:ptCount val="6"/>
                <c:pt idx="0">
                  <c:v>6.7233727810650894</c:v>
                </c:pt>
                <c:pt idx="1">
                  <c:v>7.4112426035503089</c:v>
                </c:pt>
                <c:pt idx="2">
                  <c:v>8.0991124260355019</c:v>
                </c:pt>
                <c:pt idx="3">
                  <c:v>8.8535502958580157</c:v>
                </c:pt>
                <c:pt idx="4">
                  <c:v>9.593195266272188</c:v>
                </c:pt>
                <c:pt idx="5">
                  <c:v>10.059171597633137</c:v>
                </c:pt>
              </c:numCache>
            </c:numRef>
          </c:xVal>
          <c:yVal>
            <c:numRef>
              <c:f>Sheet1!$H$55:$H$60</c:f>
              <c:numCache>
                <c:formatCode>General</c:formatCode>
                <c:ptCount val="6"/>
                <c:pt idx="0">
                  <c:v>0</c:v>
                </c:pt>
                <c:pt idx="1">
                  <c:v>4</c:v>
                </c:pt>
                <c:pt idx="2">
                  <c:v>16</c:v>
                </c:pt>
                <c:pt idx="3">
                  <c:v>65</c:v>
                </c:pt>
                <c:pt idx="4">
                  <c:v>220</c:v>
                </c:pt>
                <c:pt idx="5">
                  <c:v>475</c:v>
                </c:pt>
              </c:numCache>
            </c:numRef>
          </c:yVal>
          <c:smooth val="1"/>
        </c:ser>
        <c:ser>
          <c:idx val="4"/>
          <c:order val="4"/>
          <c:tx>
            <c:v>10mm</c:v>
          </c:tx>
          <c:xVal>
            <c:numRef>
              <c:f>Sheet1!$I$55:$I$60</c:f>
              <c:numCache>
                <c:formatCode>General</c:formatCode>
                <c:ptCount val="6"/>
                <c:pt idx="0">
                  <c:v>11.260800515294248</c:v>
                </c:pt>
                <c:pt idx="1">
                  <c:v>12.512000572549164</c:v>
                </c:pt>
                <c:pt idx="2">
                  <c:v>13.70064062694132</c:v>
                </c:pt>
                <c:pt idx="3">
                  <c:v>15.152032693357034</c:v>
                </c:pt>
                <c:pt idx="4">
                  <c:v>16.290624745458985</c:v>
                </c:pt>
                <c:pt idx="5">
                  <c:v>17.103904782674714</c:v>
                </c:pt>
              </c:numCache>
            </c:numRef>
          </c:xVal>
          <c:yVal>
            <c:numRef>
              <c:f>Sheet1!$J$55:$J$60</c:f>
              <c:numCache>
                <c:formatCode>General</c:formatCode>
                <c:ptCount val="6"/>
                <c:pt idx="0">
                  <c:v>0</c:v>
                </c:pt>
                <c:pt idx="1">
                  <c:v>3</c:v>
                </c:pt>
                <c:pt idx="2">
                  <c:v>11.5</c:v>
                </c:pt>
                <c:pt idx="3">
                  <c:v>60</c:v>
                </c:pt>
                <c:pt idx="4">
                  <c:v>150</c:v>
                </c:pt>
                <c:pt idx="5">
                  <c:v>350</c:v>
                </c:pt>
              </c:numCache>
            </c:numRef>
          </c:yVal>
          <c:smooth val="1"/>
        </c:ser>
        <c:ser>
          <c:idx val="5"/>
          <c:order val="5"/>
          <c:tx>
            <c:v>4mm</c:v>
          </c:tx>
          <c:xVal>
            <c:numRef>
              <c:f>Sheet1!$K$55:$K$60</c:f>
              <c:numCache>
                <c:formatCode>General</c:formatCode>
                <c:ptCount val="6"/>
                <c:pt idx="0">
                  <c:v>24.480003916800626</c:v>
                </c:pt>
                <c:pt idx="1">
                  <c:v>27.064004330240692</c:v>
                </c:pt>
                <c:pt idx="2">
                  <c:v>28.505604560896728</c:v>
                </c:pt>
                <c:pt idx="3">
                  <c:v>29.729604756736759</c:v>
                </c:pt>
                <c:pt idx="4">
                  <c:v>30.60000489600079</c:v>
                </c:pt>
                <c:pt idx="5">
                  <c:v>32.612805218048862</c:v>
                </c:pt>
              </c:numCache>
            </c:numRef>
          </c:xVal>
          <c:yVal>
            <c:numRef>
              <c:f>Sheet1!$L$55:$L$60</c:f>
              <c:numCache>
                <c:formatCode>General</c:formatCode>
                <c:ptCount val="6"/>
                <c:pt idx="0">
                  <c:v>0</c:v>
                </c:pt>
                <c:pt idx="1">
                  <c:v>4</c:v>
                </c:pt>
                <c:pt idx="2">
                  <c:v>18</c:v>
                </c:pt>
                <c:pt idx="3">
                  <c:v>30</c:v>
                </c:pt>
                <c:pt idx="4">
                  <c:v>65</c:v>
                </c:pt>
                <c:pt idx="5">
                  <c:v>390</c:v>
                </c:pt>
              </c:numCache>
            </c:numRef>
          </c:yVal>
          <c:smooth val="1"/>
        </c:ser>
        <c:axId val="52620672"/>
        <c:axId val="52700672"/>
      </c:scatterChart>
      <c:valAx>
        <c:axId val="52620672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sz="1400" b="0" dirty="0"/>
                  <a:t>Gradient (MV/m)</a:t>
                </a:r>
              </a:p>
            </c:rich>
          </c:tx>
          <c:layout>
            <c:manualLayout>
              <c:xMode val="edge"/>
              <c:yMode val="edge"/>
              <c:x val="0.35090135608048995"/>
              <c:y val="0.82733136482939629"/>
            </c:manualLayout>
          </c:layout>
        </c:title>
        <c:numFmt formatCode="General" sourceLinked="1"/>
        <c:majorTickMark val="none"/>
        <c:tickLblPos val="nextTo"/>
        <c:crossAx val="52700672"/>
        <c:crosses val="autoZero"/>
        <c:crossBetween val="midCat"/>
      </c:valAx>
      <c:valAx>
        <c:axId val="52700672"/>
        <c:scaling>
          <c:orientation val="minMax"/>
        </c:scaling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sz="1400" b="0"/>
                  <a:t>Field Emission Current (pA)</a:t>
                </a:r>
              </a:p>
            </c:rich>
          </c:tx>
          <c:layout>
            <c:manualLayout>
              <c:xMode val="edge"/>
              <c:yMode val="edge"/>
              <c:x val="2.7777777777777863E-2"/>
              <c:y val="0.13365649606299246"/>
            </c:manualLayout>
          </c:layout>
        </c:title>
        <c:numFmt formatCode="General" sourceLinked="1"/>
        <c:majorTickMark val="none"/>
        <c:tickLblPos val="nextTo"/>
        <c:crossAx val="52620672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8010104986876649"/>
          <c:y val="0.3274624671916026"/>
          <c:w val="0.19192694663167104"/>
          <c:h val="0.36165826771653542"/>
        </c:manualLayout>
      </c:layout>
    </c:legend>
    <c:plotVisOnly val="1"/>
  </c:chart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>
        <c:manualLayout>
          <c:layoutTarget val="inner"/>
          <c:xMode val="edge"/>
          <c:yMode val="edge"/>
          <c:x val="0.1710439632545932"/>
          <c:y val="2.9914312181565615E-2"/>
          <c:w val="0.61306014873140857"/>
          <c:h val="0.68297359888837461"/>
        </c:manualLayout>
      </c:layout>
      <c:scatterChart>
        <c:scatterStyle val="smoothMarker"/>
        <c:ser>
          <c:idx val="0"/>
          <c:order val="0"/>
          <c:tx>
            <c:v>50mm</c:v>
          </c:tx>
          <c:xVal>
            <c:numRef>
              <c:f>Sheet1!$A$11:$A$15</c:f>
              <c:numCache>
                <c:formatCode>General</c:formatCode>
                <c:ptCount val="5"/>
                <c:pt idx="0">
                  <c:v>110</c:v>
                </c:pt>
                <c:pt idx="1">
                  <c:v>119.8</c:v>
                </c:pt>
                <c:pt idx="2">
                  <c:v>129.6</c:v>
                </c:pt>
                <c:pt idx="3">
                  <c:v>140.4</c:v>
                </c:pt>
                <c:pt idx="4">
                  <c:v>150.30000000000001</c:v>
                </c:pt>
              </c:numCache>
            </c:numRef>
          </c:xVal>
          <c:yVal>
            <c:numRef>
              <c:f>Sheet1!$B$11:$B$14</c:f>
              <c:numCache>
                <c:formatCode>General</c:formatCode>
                <c:ptCount val="4"/>
                <c:pt idx="0">
                  <c:v>0</c:v>
                </c:pt>
                <c:pt idx="1">
                  <c:v>3</c:v>
                </c:pt>
                <c:pt idx="2">
                  <c:v>13</c:v>
                </c:pt>
                <c:pt idx="3">
                  <c:v>45</c:v>
                </c:pt>
              </c:numCache>
            </c:numRef>
          </c:yVal>
          <c:smooth val="1"/>
        </c:ser>
        <c:ser>
          <c:idx val="1"/>
          <c:order val="1"/>
          <c:tx>
            <c:v>40mm</c:v>
          </c:tx>
          <c:xVal>
            <c:numRef>
              <c:f>Sheet1!$C$11:$C$16</c:f>
              <c:numCache>
                <c:formatCode>General</c:formatCode>
                <c:ptCount val="6"/>
                <c:pt idx="0">
                  <c:v>100</c:v>
                </c:pt>
                <c:pt idx="1">
                  <c:v>109.7</c:v>
                </c:pt>
                <c:pt idx="2">
                  <c:v>120.4</c:v>
                </c:pt>
                <c:pt idx="3">
                  <c:v>130.19999999999999</c:v>
                </c:pt>
                <c:pt idx="4">
                  <c:v>140.4</c:v>
                </c:pt>
                <c:pt idx="5">
                  <c:v>149.80000000000001</c:v>
                </c:pt>
              </c:numCache>
            </c:numRef>
          </c:xVal>
          <c:yVal>
            <c:numRef>
              <c:f>Sheet1!$D$11:$D$16</c:f>
              <c:numCache>
                <c:formatCode>General</c:formatCode>
                <c:ptCount val="6"/>
                <c:pt idx="0">
                  <c:v>0</c:v>
                </c:pt>
                <c:pt idx="1">
                  <c:v>0.70000000000000062</c:v>
                </c:pt>
                <c:pt idx="2">
                  <c:v>5.5</c:v>
                </c:pt>
                <c:pt idx="3">
                  <c:v>20</c:v>
                </c:pt>
                <c:pt idx="4">
                  <c:v>65</c:v>
                </c:pt>
                <c:pt idx="5">
                  <c:v>170</c:v>
                </c:pt>
              </c:numCache>
            </c:numRef>
          </c:yVal>
          <c:smooth val="1"/>
        </c:ser>
        <c:ser>
          <c:idx val="2"/>
          <c:order val="2"/>
          <c:tx>
            <c:v>30mm</c:v>
          </c:tx>
          <c:xVal>
            <c:numRef>
              <c:f>Sheet1!$E$11:$E$16</c:f>
              <c:numCache>
                <c:formatCode>General</c:formatCode>
                <c:ptCount val="6"/>
                <c:pt idx="0">
                  <c:v>100</c:v>
                </c:pt>
                <c:pt idx="1">
                  <c:v>109.8</c:v>
                </c:pt>
                <c:pt idx="2">
                  <c:v>120</c:v>
                </c:pt>
                <c:pt idx="3">
                  <c:v>129.9</c:v>
                </c:pt>
                <c:pt idx="4">
                  <c:v>140.4</c:v>
                </c:pt>
                <c:pt idx="5">
                  <c:v>150.19999999999999</c:v>
                </c:pt>
              </c:numCache>
            </c:numRef>
          </c:xVal>
          <c:yVal>
            <c:numRef>
              <c:f>Sheet1!$F$11:$F$16</c:f>
              <c:numCache>
                <c:formatCode>General</c:formatCode>
                <c:ptCount val="6"/>
                <c:pt idx="0">
                  <c:v>0</c:v>
                </c:pt>
                <c:pt idx="1">
                  <c:v>1.5</c:v>
                </c:pt>
                <c:pt idx="2">
                  <c:v>5</c:v>
                </c:pt>
                <c:pt idx="3">
                  <c:v>31</c:v>
                </c:pt>
                <c:pt idx="4">
                  <c:v>125</c:v>
                </c:pt>
                <c:pt idx="5">
                  <c:v>335</c:v>
                </c:pt>
              </c:numCache>
            </c:numRef>
          </c:yVal>
          <c:smooth val="1"/>
        </c:ser>
        <c:ser>
          <c:idx val="3"/>
          <c:order val="3"/>
          <c:tx>
            <c:v>20mm</c:v>
          </c:tx>
          <c:xVal>
            <c:numRef>
              <c:f>Sheet1!$G$11:$G$16</c:f>
              <c:numCache>
                <c:formatCode>General</c:formatCode>
                <c:ptCount val="6"/>
                <c:pt idx="0">
                  <c:v>90.9</c:v>
                </c:pt>
                <c:pt idx="1">
                  <c:v>100.2</c:v>
                </c:pt>
                <c:pt idx="2">
                  <c:v>109.5</c:v>
                </c:pt>
                <c:pt idx="3">
                  <c:v>119.7</c:v>
                </c:pt>
                <c:pt idx="4">
                  <c:v>129.69999999999999</c:v>
                </c:pt>
                <c:pt idx="5">
                  <c:v>136</c:v>
                </c:pt>
              </c:numCache>
            </c:numRef>
          </c:xVal>
          <c:yVal>
            <c:numRef>
              <c:f>Sheet1!$H$11:$H$16</c:f>
              <c:numCache>
                <c:formatCode>General</c:formatCode>
                <c:ptCount val="6"/>
                <c:pt idx="0">
                  <c:v>0</c:v>
                </c:pt>
                <c:pt idx="1">
                  <c:v>4</c:v>
                </c:pt>
                <c:pt idx="2">
                  <c:v>16</c:v>
                </c:pt>
                <c:pt idx="3">
                  <c:v>65</c:v>
                </c:pt>
                <c:pt idx="4">
                  <c:v>220</c:v>
                </c:pt>
                <c:pt idx="5">
                  <c:v>475</c:v>
                </c:pt>
              </c:numCache>
            </c:numRef>
          </c:yVal>
          <c:smooth val="1"/>
        </c:ser>
        <c:ser>
          <c:idx val="4"/>
          <c:order val="4"/>
          <c:tx>
            <c:v>10mm</c:v>
          </c:tx>
          <c:xVal>
            <c:numRef>
              <c:f>Sheet1!$I$11:$I$16</c:f>
              <c:numCache>
                <c:formatCode>General</c:formatCode>
                <c:ptCount val="6"/>
                <c:pt idx="0">
                  <c:v>90</c:v>
                </c:pt>
                <c:pt idx="1">
                  <c:v>100</c:v>
                </c:pt>
                <c:pt idx="2">
                  <c:v>109.5</c:v>
                </c:pt>
                <c:pt idx="3">
                  <c:v>121.1</c:v>
                </c:pt>
                <c:pt idx="4">
                  <c:v>130.19999999999999</c:v>
                </c:pt>
                <c:pt idx="5">
                  <c:v>136.69999999999999</c:v>
                </c:pt>
              </c:numCache>
            </c:numRef>
          </c:xVal>
          <c:yVal>
            <c:numRef>
              <c:f>Sheet1!$J$11:$J$16</c:f>
              <c:numCache>
                <c:formatCode>General</c:formatCode>
                <c:ptCount val="6"/>
                <c:pt idx="0">
                  <c:v>0</c:v>
                </c:pt>
                <c:pt idx="1">
                  <c:v>3</c:v>
                </c:pt>
                <c:pt idx="2">
                  <c:v>11.5</c:v>
                </c:pt>
                <c:pt idx="3">
                  <c:v>60</c:v>
                </c:pt>
                <c:pt idx="4">
                  <c:v>150</c:v>
                </c:pt>
                <c:pt idx="5">
                  <c:v>350</c:v>
                </c:pt>
              </c:numCache>
            </c:numRef>
          </c:yVal>
          <c:smooth val="1"/>
        </c:ser>
        <c:ser>
          <c:idx val="5"/>
          <c:order val="5"/>
          <c:tx>
            <c:v>4mm</c:v>
          </c:tx>
          <c:xVal>
            <c:numRef>
              <c:f>Sheet1!$K$11:$K$16</c:f>
              <c:numCache>
                <c:formatCode>General</c:formatCode>
                <c:ptCount val="6"/>
                <c:pt idx="0">
                  <c:v>90</c:v>
                </c:pt>
                <c:pt idx="1">
                  <c:v>99.5</c:v>
                </c:pt>
                <c:pt idx="2">
                  <c:v>104.8</c:v>
                </c:pt>
                <c:pt idx="3">
                  <c:v>109.3</c:v>
                </c:pt>
                <c:pt idx="4">
                  <c:v>112.5</c:v>
                </c:pt>
                <c:pt idx="5">
                  <c:v>119.9</c:v>
                </c:pt>
              </c:numCache>
            </c:numRef>
          </c:xVal>
          <c:yVal>
            <c:numRef>
              <c:f>Sheet1!$L$11:$L$16</c:f>
              <c:numCache>
                <c:formatCode>General</c:formatCode>
                <c:ptCount val="6"/>
                <c:pt idx="0">
                  <c:v>0</c:v>
                </c:pt>
                <c:pt idx="1">
                  <c:v>4</c:v>
                </c:pt>
                <c:pt idx="2">
                  <c:v>18</c:v>
                </c:pt>
                <c:pt idx="3">
                  <c:v>30</c:v>
                </c:pt>
                <c:pt idx="4">
                  <c:v>65</c:v>
                </c:pt>
                <c:pt idx="5">
                  <c:v>390</c:v>
                </c:pt>
              </c:numCache>
            </c:numRef>
          </c:yVal>
          <c:smooth val="1"/>
        </c:ser>
        <c:axId val="52827264"/>
        <c:axId val="52829184"/>
      </c:scatterChart>
      <c:valAx>
        <c:axId val="52827264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sz="1400" b="0"/>
                  <a:t>Voltage (kV)</a:t>
                </a:r>
              </a:p>
            </c:rich>
          </c:tx>
          <c:layout>
            <c:manualLayout>
              <c:xMode val="edge"/>
              <c:yMode val="edge"/>
              <c:x val="0.38092825896762994"/>
              <c:y val="0.80976851851851972"/>
            </c:manualLayout>
          </c:layout>
        </c:title>
        <c:numFmt formatCode="General" sourceLinked="1"/>
        <c:majorTickMark val="none"/>
        <c:tickLblPos val="nextTo"/>
        <c:crossAx val="52829184"/>
        <c:crosses val="autoZero"/>
        <c:crossBetween val="midCat"/>
      </c:valAx>
      <c:valAx>
        <c:axId val="52829184"/>
        <c:scaling>
          <c:orientation val="minMax"/>
        </c:scaling>
        <c:axPos val="l"/>
        <c:majorGridlines/>
        <c:title>
          <c:tx>
            <c:rich>
              <a:bodyPr/>
              <a:lstStyle/>
              <a:p>
                <a:pPr>
                  <a:defRPr>
                    <a:latin typeface="+mn-lt"/>
                    <a:cs typeface="Arial" pitchFamily="34" charset="0"/>
                  </a:defRPr>
                </a:pPr>
                <a:r>
                  <a:rPr lang="en-US" sz="1400" b="0">
                    <a:latin typeface="+mn-lt"/>
                    <a:cs typeface="Arial" pitchFamily="34" charset="0"/>
                  </a:rPr>
                  <a:t>Field Emission Current (pA)</a:t>
                </a:r>
              </a:p>
            </c:rich>
          </c:tx>
          <c:layout>
            <c:manualLayout>
              <c:xMode val="edge"/>
              <c:yMode val="edge"/>
              <c:x val="2.7777777777777863E-2"/>
              <c:y val="9.733887430737824E-3"/>
            </c:manualLayout>
          </c:layout>
        </c:title>
        <c:numFmt formatCode="General" sourceLinked="1"/>
        <c:majorTickMark val="none"/>
        <c:tickLblPos val="nextTo"/>
        <c:crossAx val="52827264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9966666666666653"/>
          <c:y val="0.15053689979928991"/>
          <c:w val="0.16144444444444492"/>
          <c:h val="0.50230314960629807"/>
        </c:manualLayout>
      </c:layout>
    </c:legend>
    <c:plotVisOnly val="1"/>
  </c:chart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>
              <a:defRPr b="0">
                <a:latin typeface="Arial" pitchFamily="34" charset="0"/>
                <a:cs typeface="Arial" pitchFamily="34" charset="0"/>
              </a:defRPr>
            </a:pPr>
            <a:r>
              <a:rPr lang="en-US" b="0" dirty="0" smtClean="0">
                <a:latin typeface="Arial" pitchFamily="34" charset="0"/>
                <a:cs typeface="Arial" pitchFamily="34" charset="0"/>
              </a:rPr>
              <a:t>BCP Niobium </a:t>
            </a:r>
            <a:r>
              <a:rPr lang="en-US" b="0" dirty="0" err="1" smtClean="0">
                <a:latin typeface="Arial" pitchFamily="34" charset="0"/>
                <a:cs typeface="Arial" pitchFamily="34" charset="0"/>
              </a:rPr>
              <a:t>vs</a:t>
            </a:r>
            <a:r>
              <a:rPr lang="en-US" b="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b="0" dirty="0">
                <a:latin typeface="Arial" pitchFamily="34" charset="0"/>
                <a:cs typeface="Arial" pitchFamily="34" charset="0"/>
              </a:rPr>
              <a:t>Stainless Steel</a:t>
            </a:r>
          </a:p>
        </c:rich>
      </c:tx>
      <c:layout>
        <c:manualLayout>
          <c:xMode val="edge"/>
          <c:yMode val="edge"/>
          <c:x val="0.1640609268103782"/>
          <c:y val="2.1857892763404635E-2"/>
        </c:manualLayout>
      </c:layout>
    </c:title>
    <c:plotArea>
      <c:layout>
        <c:manualLayout>
          <c:layoutTarget val="inner"/>
          <c:xMode val="edge"/>
          <c:yMode val="edge"/>
          <c:x val="0.16289901262342221"/>
          <c:y val="0.16697444069491321"/>
          <c:w val="0.78655745362338292"/>
          <c:h val="0.60060148731408769"/>
        </c:manualLayout>
      </c:layout>
      <c:scatterChart>
        <c:scatterStyle val="smoothMarker"/>
        <c:ser>
          <c:idx val="1"/>
          <c:order val="0"/>
          <c:tx>
            <c:v>niobium</c:v>
          </c:tx>
          <c:xVal>
            <c:numRef>
              <c:f>Sheet1!$A$31:$A$34</c:f>
              <c:numCache>
                <c:formatCode>General</c:formatCode>
                <c:ptCount val="4"/>
                <c:pt idx="0">
                  <c:v>150</c:v>
                </c:pt>
                <c:pt idx="1">
                  <c:v>160</c:v>
                </c:pt>
                <c:pt idx="2">
                  <c:v>170</c:v>
                </c:pt>
                <c:pt idx="3">
                  <c:v>180</c:v>
                </c:pt>
              </c:numCache>
            </c:numRef>
          </c:xVal>
          <c:yVal>
            <c:numRef>
              <c:f>Sheet1!$D$31:$D$34</c:f>
              <c:numCache>
                <c:formatCode>General</c:formatCode>
                <c:ptCount val="4"/>
                <c:pt idx="0">
                  <c:v>0</c:v>
                </c:pt>
                <c:pt idx="1">
                  <c:v>1.5</c:v>
                </c:pt>
                <c:pt idx="2">
                  <c:v>12</c:v>
                </c:pt>
                <c:pt idx="3">
                  <c:v>32</c:v>
                </c:pt>
              </c:numCache>
            </c:numRef>
          </c:yVal>
          <c:smooth val="1"/>
        </c:ser>
        <c:ser>
          <c:idx val="0"/>
          <c:order val="1"/>
          <c:tx>
            <c:v>304 SS</c:v>
          </c:tx>
          <c:xVal>
            <c:numRef>
              <c:f>Sheet1!$A$11:$A$15</c:f>
              <c:numCache>
                <c:formatCode>General</c:formatCode>
                <c:ptCount val="5"/>
                <c:pt idx="0">
                  <c:v>110</c:v>
                </c:pt>
                <c:pt idx="1">
                  <c:v>119.8</c:v>
                </c:pt>
                <c:pt idx="2">
                  <c:v>129.6</c:v>
                </c:pt>
                <c:pt idx="3">
                  <c:v>140.4</c:v>
                </c:pt>
                <c:pt idx="4">
                  <c:v>150.30000000000001</c:v>
                </c:pt>
              </c:numCache>
            </c:numRef>
          </c:xVal>
          <c:yVal>
            <c:numRef>
              <c:f>Sheet1!$B$11:$B$15</c:f>
              <c:numCache>
                <c:formatCode>General</c:formatCode>
                <c:ptCount val="5"/>
                <c:pt idx="0">
                  <c:v>0</c:v>
                </c:pt>
                <c:pt idx="1">
                  <c:v>3</c:v>
                </c:pt>
                <c:pt idx="2">
                  <c:v>13</c:v>
                </c:pt>
                <c:pt idx="3">
                  <c:v>45</c:v>
                </c:pt>
                <c:pt idx="4">
                  <c:v>125</c:v>
                </c:pt>
              </c:numCache>
            </c:numRef>
          </c:yVal>
          <c:smooth val="1"/>
        </c:ser>
        <c:ser>
          <c:idx val="2"/>
          <c:order val="2"/>
          <c:tx>
            <c:v>304 SS #2</c:v>
          </c:tx>
          <c:xVal>
            <c:numRef>
              <c:f>Sheet1!$C$11:$C$16</c:f>
              <c:numCache>
                <c:formatCode>General</c:formatCode>
                <c:ptCount val="6"/>
                <c:pt idx="0">
                  <c:v>100</c:v>
                </c:pt>
                <c:pt idx="1">
                  <c:v>109.7</c:v>
                </c:pt>
                <c:pt idx="2">
                  <c:v>120.4</c:v>
                </c:pt>
                <c:pt idx="3">
                  <c:v>130.19999999999999</c:v>
                </c:pt>
                <c:pt idx="4">
                  <c:v>140.4</c:v>
                </c:pt>
                <c:pt idx="5">
                  <c:v>149.80000000000001</c:v>
                </c:pt>
              </c:numCache>
            </c:numRef>
          </c:xVal>
          <c:yVal>
            <c:numRef>
              <c:f>Sheet1!$D$11:$D$16</c:f>
              <c:numCache>
                <c:formatCode>General</c:formatCode>
                <c:ptCount val="6"/>
                <c:pt idx="0">
                  <c:v>0</c:v>
                </c:pt>
                <c:pt idx="1">
                  <c:v>0.70000000000000062</c:v>
                </c:pt>
                <c:pt idx="2">
                  <c:v>5.5</c:v>
                </c:pt>
                <c:pt idx="3">
                  <c:v>20</c:v>
                </c:pt>
                <c:pt idx="4">
                  <c:v>65</c:v>
                </c:pt>
                <c:pt idx="5">
                  <c:v>170</c:v>
                </c:pt>
              </c:numCache>
            </c:numRef>
          </c:yVal>
          <c:smooth val="1"/>
        </c:ser>
        <c:axId val="52946048"/>
        <c:axId val="52947968"/>
      </c:scatterChart>
      <c:valAx>
        <c:axId val="52946048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1600"/>
                </a:pPr>
                <a:r>
                  <a:rPr lang="en-US" sz="1600" b="0"/>
                  <a:t>Voltage (kV)</a:t>
                </a:r>
              </a:p>
            </c:rich>
          </c:tx>
          <c:layout>
            <c:manualLayout>
              <c:xMode val="edge"/>
              <c:yMode val="edge"/>
              <c:x val="0.42499510654388539"/>
              <c:y val="0.86075396825396822"/>
            </c:manualLayout>
          </c:layout>
        </c:title>
        <c:numFmt formatCode="General" sourceLinked="1"/>
        <c:majorTickMark val="none"/>
        <c:tickLblPos val="nextTo"/>
        <c:crossAx val="52947968"/>
        <c:crosses val="autoZero"/>
        <c:crossBetween val="midCat"/>
      </c:valAx>
      <c:valAx>
        <c:axId val="52947968"/>
        <c:scaling>
          <c:orientation val="minMax"/>
        </c:scaling>
        <c:axPos val="l"/>
        <c:majorGridlines/>
        <c:title>
          <c:tx>
            <c:rich>
              <a:bodyPr/>
              <a:lstStyle/>
              <a:p>
                <a:pPr>
                  <a:defRPr sz="1600">
                    <a:latin typeface="+mn-lt"/>
                    <a:cs typeface="Arial" pitchFamily="34" charset="0"/>
                  </a:defRPr>
                </a:pPr>
                <a:r>
                  <a:rPr lang="en-US" sz="1600" b="0">
                    <a:latin typeface="+mn-lt"/>
                    <a:cs typeface="Arial" pitchFamily="34" charset="0"/>
                  </a:rPr>
                  <a:t>Field Emission Current (pA)</a:t>
                </a:r>
              </a:p>
            </c:rich>
          </c:tx>
          <c:layout>
            <c:manualLayout>
              <c:xMode val="edge"/>
              <c:yMode val="edge"/>
              <c:x val="1.9774011299435078E-2"/>
              <c:y val="9.1577615298087764E-2"/>
            </c:manualLayout>
          </c:layout>
        </c:title>
        <c:numFmt formatCode="General" sourceLinked="1"/>
        <c:majorTickMark val="none"/>
        <c:tickLblPos val="nextTo"/>
        <c:crossAx val="52946048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16935442793522548"/>
          <c:y val="0.18074007142549869"/>
          <c:w val="0.22333010627769889"/>
          <c:h val="0.22540526184227014"/>
        </c:manualLayout>
      </c:layout>
      <c:spPr>
        <a:solidFill>
          <a:sysClr val="window" lastClr="FFFFFF"/>
        </a:solidFill>
        <a:ln>
          <a:solidFill>
            <a:schemeClr val="accent1"/>
          </a:solidFill>
        </a:ln>
      </c:spPr>
    </c:legend>
    <c:plotVisOnly val="1"/>
  </c:chart>
  <c:spPr>
    <a:ln>
      <a:solidFill>
        <a:schemeClr val="tx1"/>
      </a:solidFill>
    </a:ln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2337" cy="464185"/>
          </a:xfrm>
          <a:prstGeom prst="rect">
            <a:avLst/>
          </a:prstGeom>
        </p:spPr>
        <p:txBody>
          <a:bodyPr vert="horz" lIns="93031" tIns="46516" rIns="93031" bIns="465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63744" y="0"/>
            <a:ext cx="3032337" cy="464185"/>
          </a:xfrm>
          <a:prstGeom prst="rect">
            <a:avLst/>
          </a:prstGeom>
        </p:spPr>
        <p:txBody>
          <a:bodyPr vert="horz" lIns="93031" tIns="46516" rIns="93031" bIns="46516" rtlCol="0"/>
          <a:lstStyle>
            <a:lvl1pPr algn="r">
              <a:defRPr sz="1200"/>
            </a:lvl1pPr>
          </a:lstStyle>
          <a:p>
            <a:fld id="{3385E4E4-B78D-41DE-93FD-2BDEB9F7B81F}" type="datetimeFigureOut">
              <a:rPr lang="en-US" smtClean="0"/>
              <a:pPr/>
              <a:t>5/13/2009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7925" y="696913"/>
            <a:ext cx="4641850" cy="3481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031" tIns="46516" rIns="93031" bIns="465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9770" y="4409758"/>
            <a:ext cx="5598160" cy="4177665"/>
          </a:xfrm>
          <a:prstGeom prst="rect">
            <a:avLst/>
          </a:prstGeom>
        </p:spPr>
        <p:txBody>
          <a:bodyPr vert="horz" lIns="93031" tIns="46516" rIns="93031" bIns="46516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7904"/>
            <a:ext cx="3032337" cy="464185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63744" y="8817904"/>
            <a:ext cx="3032337" cy="464185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lvl1pPr algn="r">
              <a:defRPr sz="1200"/>
            </a:lvl1pPr>
          </a:lstStyle>
          <a:p>
            <a:fld id="{0327D48D-CEF5-4CB7-9905-61ACDED42BE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1D829-44E0-4F8B-B011-44320BCD84E1}" type="datetimeFigureOut">
              <a:rPr lang="en-US" smtClean="0"/>
              <a:pPr/>
              <a:t>5/13/2009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2C2D-694D-4637-80DD-30E3334C19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1D829-44E0-4F8B-B011-44320BCD84E1}" type="datetimeFigureOut">
              <a:rPr lang="en-US" smtClean="0"/>
              <a:pPr/>
              <a:t>5/13/2009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2C2D-694D-4637-80DD-30E3334C19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1D829-44E0-4F8B-B011-44320BCD84E1}" type="datetimeFigureOut">
              <a:rPr lang="en-US" smtClean="0"/>
              <a:pPr/>
              <a:t>5/13/2009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2C2D-694D-4637-80DD-30E3334C19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1D829-44E0-4F8B-B011-44320BCD84E1}" type="datetimeFigureOut">
              <a:rPr lang="en-US" smtClean="0"/>
              <a:pPr/>
              <a:t>5/13/2009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2C2D-694D-4637-80DD-30E3334C19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1D829-44E0-4F8B-B011-44320BCD84E1}" type="datetimeFigureOut">
              <a:rPr lang="en-US" smtClean="0"/>
              <a:pPr/>
              <a:t>5/13/2009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2C2D-694D-4637-80DD-30E3334C19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1D829-44E0-4F8B-B011-44320BCD84E1}" type="datetimeFigureOut">
              <a:rPr lang="en-US" smtClean="0"/>
              <a:pPr/>
              <a:t>5/13/2009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2C2D-694D-4637-80DD-30E3334C19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1D829-44E0-4F8B-B011-44320BCD84E1}" type="datetimeFigureOut">
              <a:rPr lang="en-US" smtClean="0"/>
              <a:pPr/>
              <a:t>5/13/2009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2C2D-694D-4637-80DD-30E3334C19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1D829-44E0-4F8B-B011-44320BCD84E1}" type="datetimeFigureOut">
              <a:rPr lang="en-US" smtClean="0"/>
              <a:pPr/>
              <a:t>5/13/2009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2C2D-694D-4637-80DD-30E3334C19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1D829-44E0-4F8B-B011-44320BCD84E1}" type="datetimeFigureOut">
              <a:rPr lang="en-US" smtClean="0"/>
              <a:pPr/>
              <a:t>5/13/2009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2C2D-694D-4637-80DD-30E3334C19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1D829-44E0-4F8B-B011-44320BCD84E1}" type="datetimeFigureOut">
              <a:rPr lang="en-US" smtClean="0"/>
              <a:pPr/>
              <a:t>5/13/2009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2C2D-694D-4637-80DD-30E3334C19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1D829-44E0-4F8B-B011-44320BCD84E1}" type="datetimeFigureOut">
              <a:rPr lang="en-US" smtClean="0"/>
              <a:pPr/>
              <a:t>5/13/2009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2C2D-694D-4637-80DD-30E3334C19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1D829-44E0-4F8B-B011-44320BCD84E1}" type="datetimeFigureOut">
              <a:rPr lang="en-US" smtClean="0"/>
              <a:pPr/>
              <a:t>5/13/2009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42C2D-694D-4637-80DD-30E3334C19F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7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gif"/><Relationship Id="rId5" Type="http://schemas.openxmlformats.org/officeDocument/2006/relationships/image" Target="../media/image26.gif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76400" y="762000"/>
            <a:ext cx="58993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latin typeface="Comic Sans MS" pitchFamily="66" charset="0"/>
              </a:rPr>
              <a:t>CEBAF Polarized Electron Source:</a:t>
            </a:r>
          </a:p>
          <a:p>
            <a:pPr algn="ctr"/>
            <a:r>
              <a:rPr lang="en-US" sz="2800" dirty="0" smtClean="0">
                <a:latin typeface="Comic Sans MS" pitchFamily="66" charset="0"/>
              </a:rPr>
              <a:t>Outlook &amp; Horizon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209800"/>
            <a:ext cx="460094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latin typeface="Comic Sans MS" pitchFamily="66" charset="0"/>
              </a:rPr>
              <a:t>Operations Group Meeting</a:t>
            </a:r>
          </a:p>
          <a:p>
            <a:pPr algn="ctr"/>
            <a:r>
              <a:rPr lang="en-US" sz="2800" dirty="0" smtClean="0">
                <a:latin typeface="Comic Sans MS" pitchFamily="66" charset="0"/>
              </a:rPr>
              <a:t>May 13</a:t>
            </a:r>
            <a:r>
              <a:rPr lang="en-US" sz="2800" baseline="30000" dirty="0" smtClean="0">
                <a:latin typeface="Comic Sans MS" pitchFamily="66" charset="0"/>
              </a:rPr>
              <a:t>th</a:t>
            </a:r>
            <a:r>
              <a:rPr lang="en-US" sz="2800" dirty="0" smtClean="0">
                <a:latin typeface="Comic Sans MS" pitchFamily="66" charset="0"/>
              </a:rPr>
              <a:t> &amp; 20</a:t>
            </a:r>
            <a:r>
              <a:rPr lang="en-US" sz="2800" baseline="30000" dirty="0" smtClean="0">
                <a:latin typeface="Comic Sans MS" pitchFamily="66" charset="0"/>
              </a:rPr>
              <a:t>th</a:t>
            </a:r>
            <a:r>
              <a:rPr lang="en-US" sz="2800" dirty="0" smtClean="0">
                <a:latin typeface="Comic Sans MS" pitchFamily="66" charset="0"/>
              </a:rPr>
              <a:t>, 2009</a:t>
            </a:r>
          </a:p>
          <a:p>
            <a:pPr algn="ctr"/>
            <a:endParaRPr lang="en-US" sz="2800" dirty="0" smtClean="0">
              <a:latin typeface="Comic Sans MS" pitchFamily="66" charset="0"/>
            </a:endParaRPr>
          </a:p>
          <a:p>
            <a:pPr algn="ctr"/>
            <a:r>
              <a:rPr lang="en-US" sz="2800" dirty="0" smtClean="0">
                <a:latin typeface="Comic Sans MS" pitchFamily="66" charset="0"/>
              </a:rPr>
              <a:t>Joe </a:t>
            </a:r>
            <a:r>
              <a:rPr lang="en-US" sz="2800" dirty="0" err="1" smtClean="0">
                <a:latin typeface="Comic Sans MS" pitchFamily="66" charset="0"/>
              </a:rPr>
              <a:t>Grames</a:t>
            </a:r>
            <a:endParaRPr lang="en-US" sz="2800" dirty="0" smtClean="0">
              <a:latin typeface="Comic Sans MS" pitchFamily="66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81000" y="4876800"/>
            <a:ext cx="8534400" cy="1219200"/>
          </a:xfrm>
          <a:prstGeom prst="rect">
            <a:avLst/>
          </a:prstGeom>
        </p:spPr>
        <p:txBody>
          <a:bodyPr/>
          <a:lstStyle/>
          <a:p>
            <a:pPr marR="0" lvl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M. </a:t>
            </a:r>
            <a:r>
              <a:rPr kumimoji="0" lang="en-US" sz="2400" b="0" i="0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Poelker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, P.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Adderley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, J. Clark</a:t>
            </a:r>
            <a:r>
              <a:rPr lang="en-US" sz="2400" baseline="0" dirty="0" smtClean="0">
                <a:latin typeface="Arial" pitchFamily="34" charset="0"/>
                <a:cs typeface="Arial" pitchFamily="34" charset="0"/>
              </a:rPr>
              <a:t>,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J. </a:t>
            </a:r>
            <a:r>
              <a:rPr kumimoji="0" lang="en-US" sz="24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Grames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,</a:t>
            </a:r>
          </a:p>
          <a:p>
            <a:pPr marR="0" lvl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J.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Hansknecht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, M.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Stutzman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, R. Suleiman</a:t>
            </a:r>
          </a:p>
          <a:p>
            <a:pPr marL="342900" marR="0" lvl="0" indent="-34290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Graduate Students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: J. Dumas, J. McCarter, K.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Surles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-Law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0" y="152400"/>
            <a:ext cx="9144000" cy="3306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smtClean="0">
                <a:latin typeface="Comic Sans MS" pitchFamily="66" charset="0"/>
                <a:ea typeface="+mj-ea"/>
                <a:cs typeface="+mj-cs"/>
              </a:rPr>
              <a:t>Following the summer SAD </a:t>
            </a:r>
            <a:r>
              <a:rPr lang="en-US" sz="2800" noProof="0" dirty="0" smtClean="0">
                <a:latin typeface="Comic Sans MS" pitchFamily="66" charset="0"/>
                <a:ea typeface="+mj-ea"/>
                <a:cs typeface="+mj-cs"/>
              </a:rPr>
              <a:t>we begin a series of experiments with very demanding requirements of the polarized source (and of the accelerator too!)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smtClean="0">
                <a:latin typeface="Comic Sans MS" pitchFamily="66" charset="0"/>
                <a:ea typeface="+mj-ea"/>
                <a:cs typeface="+mj-cs"/>
              </a:rPr>
              <a:t>These so-called “parity violation” experiments aim to measure </a:t>
            </a:r>
            <a:r>
              <a:rPr lang="en-US" sz="900" b="1" dirty="0" smtClean="0">
                <a:latin typeface="Comic Sans MS" pitchFamily="66" charset="0"/>
                <a:ea typeface="+mj-ea"/>
                <a:cs typeface="+mj-cs"/>
              </a:rPr>
              <a:t>tiny</a:t>
            </a:r>
            <a:r>
              <a:rPr lang="en-US" sz="900" dirty="0" smtClean="0">
                <a:latin typeface="Comic Sans MS" pitchFamily="66" charset="0"/>
                <a:ea typeface="+mj-ea"/>
                <a:cs typeface="+mj-cs"/>
              </a:rPr>
              <a:t> </a:t>
            </a:r>
            <a:r>
              <a:rPr lang="en-US" sz="2800" dirty="0" smtClean="0">
                <a:latin typeface="Comic Sans MS" pitchFamily="66" charset="0"/>
                <a:ea typeface="+mj-ea"/>
                <a:cs typeface="+mj-cs"/>
              </a:rPr>
              <a:t> physics dependent </a:t>
            </a:r>
            <a:r>
              <a:rPr lang="en-US" sz="2800" i="1" dirty="0" smtClean="0">
                <a:latin typeface="Comic Sans MS" pitchFamily="66" charset="0"/>
                <a:ea typeface="+mj-ea"/>
                <a:cs typeface="+mj-cs"/>
              </a:rPr>
              <a:t>asymmetries</a:t>
            </a:r>
            <a:r>
              <a:rPr lang="en-US" sz="2800" dirty="0" smtClean="0">
                <a:latin typeface="Comic Sans MS" pitchFamily="66" charset="0"/>
                <a:ea typeface="+mj-ea"/>
                <a:cs typeface="+mj-cs"/>
              </a:rPr>
              <a:t> in the scattering of polarized electrons from their targets.</a:t>
            </a:r>
            <a:endParaRPr kumimoji="0" lang="en-US" sz="2800" i="0" u="none" strike="noStrike" kern="1200" cap="none" spc="0" normalizeH="0" baseline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5" name="Cloud 4"/>
          <p:cNvSpPr/>
          <p:nvPr/>
        </p:nvSpPr>
        <p:spPr>
          <a:xfrm>
            <a:off x="304800" y="3810000"/>
            <a:ext cx="1905000" cy="1600200"/>
          </a:xfrm>
          <a:prstGeom prst="clou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1,000,000</a:t>
            </a:r>
            <a:endParaRPr lang="en-US" dirty="0"/>
          </a:p>
        </p:txBody>
      </p:sp>
      <p:sp>
        <p:nvSpPr>
          <p:cNvPr id="6" name="Striped Right Arrow 5"/>
          <p:cNvSpPr/>
          <p:nvPr/>
        </p:nvSpPr>
        <p:spPr>
          <a:xfrm>
            <a:off x="2743200" y="4191000"/>
            <a:ext cx="1524000" cy="762000"/>
          </a:xfrm>
          <a:prstGeom prst="striped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800600" y="3733800"/>
            <a:ext cx="228600" cy="18288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triped Right Arrow 7"/>
          <p:cNvSpPr/>
          <p:nvPr/>
        </p:nvSpPr>
        <p:spPr>
          <a:xfrm rot="20724908">
            <a:off x="5587164" y="3997459"/>
            <a:ext cx="1447800" cy="381000"/>
          </a:xfrm>
          <a:prstGeom prst="stripedRightArrow">
            <a:avLst/>
          </a:prstGeom>
          <a:solidFill>
            <a:srgbClr val="FF0000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triped Right Arrow 8"/>
          <p:cNvSpPr/>
          <p:nvPr/>
        </p:nvSpPr>
        <p:spPr>
          <a:xfrm rot="833475">
            <a:off x="5587164" y="4759459"/>
            <a:ext cx="1447800" cy="381000"/>
          </a:xfrm>
          <a:prstGeom prst="stripedRightArrow">
            <a:avLst/>
          </a:prstGeom>
          <a:solidFill>
            <a:srgbClr val="00B050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loud 9"/>
          <p:cNvSpPr/>
          <p:nvPr/>
        </p:nvSpPr>
        <p:spPr>
          <a:xfrm>
            <a:off x="7239000" y="3429000"/>
            <a:ext cx="1447800" cy="914400"/>
          </a:xfrm>
          <a:prstGeom prst="cloud">
            <a:avLst/>
          </a:prstGeom>
          <a:solidFill>
            <a:srgbClr val="FF0000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500,001</a:t>
            </a:r>
            <a:endParaRPr lang="en-US" dirty="0"/>
          </a:p>
        </p:txBody>
      </p:sp>
      <p:sp>
        <p:nvSpPr>
          <p:cNvPr id="12" name="Cloud 11"/>
          <p:cNvSpPr/>
          <p:nvPr/>
        </p:nvSpPr>
        <p:spPr>
          <a:xfrm>
            <a:off x="7315200" y="4724400"/>
            <a:ext cx="1447800" cy="914400"/>
          </a:xfrm>
          <a:prstGeom prst="cloud">
            <a:avLst/>
          </a:prstGeom>
          <a:solidFill>
            <a:srgbClr val="00B050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499,999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06463" y="6096000"/>
            <a:ext cx="8861337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Elephant" pitchFamily="18" charset="0"/>
                <a:cs typeface="Arial" pitchFamily="34" charset="0"/>
              </a:rPr>
              <a:t>Asymmetry = </a:t>
            </a:r>
            <a:r>
              <a:rPr lang="en-US" sz="2000" dirty="0" smtClean="0">
                <a:latin typeface="Symbol" pitchFamily="18" charset="2"/>
                <a:cs typeface="Arial" pitchFamily="34" charset="0"/>
              </a:rPr>
              <a:t>D</a:t>
            </a:r>
            <a:r>
              <a:rPr lang="en-US" sz="2000" dirty="0" smtClean="0">
                <a:latin typeface="Elephant" pitchFamily="18" charset="0"/>
                <a:cs typeface="Arial" pitchFamily="34" charset="0"/>
              </a:rPr>
              <a:t> / </a:t>
            </a:r>
            <a:r>
              <a:rPr lang="en-US" sz="2000" dirty="0" smtClean="0">
                <a:latin typeface="Symbol" pitchFamily="18" charset="2"/>
                <a:cs typeface="Arial" pitchFamily="34" charset="0"/>
              </a:rPr>
              <a:t>S</a:t>
            </a:r>
            <a:r>
              <a:rPr lang="en-US" sz="2000" dirty="0" smtClean="0">
                <a:latin typeface="Elephant" pitchFamily="18" charset="0"/>
                <a:cs typeface="Arial" pitchFamily="34" charset="0"/>
              </a:rPr>
              <a:t> =  (500,001 – 499,999) / (1,000,000) = 2 </a:t>
            </a:r>
            <a:r>
              <a:rPr lang="en-US" sz="2000" dirty="0" err="1" smtClean="0">
                <a:latin typeface="Elephant" pitchFamily="18" charset="0"/>
                <a:cs typeface="Arial" pitchFamily="34" charset="0"/>
              </a:rPr>
              <a:t>ppm</a:t>
            </a:r>
            <a:endParaRPr lang="en-US" sz="2000" dirty="0">
              <a:latin typeface="Elephant" pitchFamily="18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2743200" y="381000"/>
            <a:ext cx="3719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u="sng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Polarization Experiments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28600" y="1066800"/>
            <a:ext cx="86868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The common technique you’ll find for learning the spin physics interaction is to reverse the sign of the beam (or target) polarization and measure the relative difference in detected signal:</a:t>
            </a: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152400" y="4495800"/>
            <a:ext cx="89154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For most experiments the z-component is important. This explains why:</a:t>
            </a:r>
          </a:p>
          <a:p>
            <a:pPr marL="914400" lvl="1" indent="-457200" algn="l" rtl="0" fontAlgn="base">
              <a:spcBef>
                <a:spcPct val="0"/>
              </a:spcBef>
              <a:spcAft>
                <a:spcPct val="0"/>
              </a:spcAft>
              <a:buFontTx/>
              <a:buAutoNum type="alphaLcParenR"/>
            </a:pP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Experiments need longitudinal beam polarization.</a:t>
            </a:r>
          </a:p>
          <a:p>
            <a:pPr marL="914400" lvl="1" indent="-457200" algn="l" rtl="0" fontAlgn="base">
              <a:spcBef>
                <a:spcPct val="0"/>
              </a:spcBef>
              <a:spcAft>
                <a:spcPct val="0"/>
              </a:spcAft>
              <a:buFontTx/>
              <a:buAutoNum type="alphaLcParenR"/>
            </a:pP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The word helicity is used (spin parallel/anti-parallel momentum).</a:t>
            </a: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1447800" y="2865438"/>
            <a:ext cx="992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A</a:t>
            </a:r>
            <a:r>
              <a:rPr lang="en-US" sz="2400" kern="1200" baseline="-250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exp</a:t>
            </a:r>
            <a:r>
              <a:rPr lang="en-US" sz="24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 =</a:t>
            </a:r>
          </a:p>
        </p:txBody>
      </p:sp>
      <p:sp>
        <p:nvSpPr>
          <p:cNvPr id="16" name="Line 6"/>
          <p:cNvSpPr>
            <a:spLocks noChangeShapeType="1"/>
          </p:cNvSpPr>
          <p:nvPr/>
        </p:nvSpPr>
        <p:spPr bwMode="auto">
          <a:xfrm>
            <a:off x="2590800" y="3124200"/>
            <a:ext cx="13112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2590800" y="2667000"/>
            <a:ext cx="1281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(</a:t>
            </a:r>
            <a:r>
              <a:rPr lang="en-US" sz="2400" kern="1200">
                <a:solidFill>
                  <a:srgbClr val="FF0000"/>
                </a:solidFill>
                <a:latin typeface="Comic Sans MS" pitchFamily="66" charset="0"/>
                <a:ea typeface="+mn-ea"/>
                <a:cs typeface="+mn-cs"/>
              </a:rPr>
              <a:t>R</a:t>
            </a:r>
            <a:r>
              <a:rPr lang="en-US" sz="2400" kern="1200" baseline="30000">
                <a:solidFill>
                  <a:srgbClr val="FF0000"/>
                </a:solidFill>
                <a:latin typeface="Comic Sans MS" pitchFamily="66" charset="0"/>
                <a:ea typeface="+mn-ea"/>
                <a:cs typeface="+mn-cs"/>
              </a:rPr>
              <a:t>+</a:t>
            </a:r>
            <a:r>
              <a:rPr lang="en-US" sz="24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 - </a:t>
            </a:r>
            <a:r>
              <a:rPr lang="en-US" sz="2400" kern="1200">
                <a:solidFill>
                  <a:srgbClr val="33CC33"/>
                </a:solidFill>
                <a:latin typeface="Comic Sans MS" pitchFamily="66" charset="0"/>
                <a:ea typeface="+mn-ea"/>
                <a:cs typeface="+mn-cs"/>
              </a:rPr>
              <a:t>R</a:t>
            </a:r>
            <a:r>
              <a:rPr lang="en-US" sz="2400" kern="1200" baseline="30000">
                <a:solidFill>
                  <a:srgbClr val="33CC33"/>
                </a:solidFill>
                <a:latin typeface="Comic Sans MS" pitchFamily="66" charset="0"/>
                <a:ea typeface="+mn-ea"/>
                <a:cs typeface="+mn-cs"/>
              </a:rPr>
              <a:t>-</a:t>
            </a:r>
            <a:r>
              <a:rPr lang="en-US" sz="24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)</a:t>
            </a:r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2590800" y="3124200"/>
            <a:ext cx="13001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(</a:t>
            </a:r>
            <a:r>
              <a:rPr lang="en-US" sz="2400" kern="1200">
                <a:solidFill>
                  <a:srgbClr val="FF0000"/>
                </a:solidFill>
                <a:latin typeface="Comic Sans MS" pitchFamily="66" charset="0"/>
                <a:ea typeface="+mn-ea"/>
                <a:cs typeface="+mn-cs"/>
              </a:rPr>
              <a:t>R</a:t>
            </a:r>
            <a:r>
              <a:rPr lang="en-US" sz="2400" kern="1200" baseline="30000">
                <a:solidFill>
                  <a:srgbClr val="FF0000"/>
                </a:solidFill>
                <a:latin typeface="Comic Sans MS" pitchFamily="66" charset="0"/>
                <a:ea typeface="+mn-ea"/>
                <a:cs typeface="+mn-cs"/>
              </a:rPr>
              <a:t>+</a:t>
            </a:r>
            <a:r>
              <a:rPr lang="en-US" sz="24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 + </a:t>
            </a:r>
            <a:r>
              <a:rPr lang="en-US" sz="2400" kern="1200">
                <a:solidFill>
                  <a:srgbClr val="33CC33"/>
                </a:solidFill>
                <a:latin typeface="Comic Sans MS" pitchFamily="66" charset="0"/>
                <a:ea typeface="+mn-ea"/>
                <a:cs typeface="+mn-cs"/>
              </a:rPr>
              <a:t>R</a:t>
            </a:r>
            <a:r>
              <a:rPr lang="en-US" sz="2400" kern="1200" baseline="30000">
                <a:solidFill>
                  <a:srgbClr val="33CC33"/>
                </a:solidFill>
                <a:latin typeface="Comic Sans MS" pitchFamily="66" charset="0"/>
                <a:ea typeface="+mn-ea"/>
                <a:cs typeface="+mn-cs"/>
              </a:rPr>
              <a:t>-</a:t>
            </a:r>
            <a:r>
              <a:rPr lang="en-US" sz="24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)</a:t>
            </a:r>
          </a:p>
        </p:txBody>
      </p:sp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4054475" y="2895600"/>
            <a:ext cx="345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=  A</a:t>
            </a:r>
            <a:r>
              <a:rPr lang="en-US" sz="2400" kern="1200" baseline="-250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physics</a:t>
            </a:r>
            <a:r>
              <a:rPr lang="en-US" sz="24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 • P</a:t>
            </a:r>
            <a:r>
              <a:rPr lang="en-US" sz="2400" kern="1200" baseline="-250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beam</a:t>
            </a:r>
            <a:r>
              <a:rPr lang="en-US" sz="24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 • P</a:t>
            </a:r>
            <a:r>
              <a:rPr lang="en-US" sz="2400" kern="1200" baseline="-250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target</a:t>
            </a:r>
          </a:p>
        </p:txBody>
      </p:sp>
      <p:sp>
        <p:nvSpPr>
          <p:cNvPr id="20" name="AutoShape 13"/>
          <p:cNvSpPr>
            <a:spLocks/>
          </p:cNvSpPr>
          <p:nvPr/>
        </p:nvSpPr>
        <p:spPr bwMode="auto">
          <a:xfrm rot="5400000" flipV="1">
            <a:off x="6362700" y="2705100"/>
            <a:ext cx="304800" cy="1600200"/>
          </a:xfrm>
          <a:prstGeom prst="rightBrace">
            <a:avLst>
              <a:gd name="adj1" fmla="val 43750"/>
              <a:gd name="adj2" fmla="val 50000"/>
            </a:avLst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21" name="Text Box 14"/>
          <p:cNvSpPr txBox="1">
            <a:spLocks noChangeArrowheads="1"/>
          </p:cNvSpPr>
          <p:nvPr/>
        </p:nvSpPr>
        <p:spPr bwMode="auto">
          <a:xfrm>
            <a:off x="5562600" y="3657600"/>
            <a:ext cx="21193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Flip one or other…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57200" y="1066800"/>
            <a:ext cx="8382000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So, if </a:t>
            </a:r>
            <a:r>
              <a:rPr lang="en-US" sz="2000" kern="1200">
                <a:solidFill>
                  <a:srgbClr val="FF0000"/>
                </a:solidFill>
                <a:latin typeface="Comic Sans MS" pitchFamily="66" charset="0"/>
                <a:ea typeface="+mn-ea"/>
                <a:cs typeface="+mn-cs"/>
              </a:rPr>
              <a:t>R+</a:t>
            </a: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 or </a:t>
            </a:r>
            <a:r>
              <a:rPr lang="en-US" sz="2000" kern="1200">
                <a:solidFill>
                  <a:srgbClr val="33CC33"/>
                </a:solidFill>
                <a:latin typeface="Comic Sans MS" pitchFamily="66" charset="0"/>
                <a:ea typeface="+mn-ea"/>
                <a:cs typeface="+mn-cs"/>
              </a:rPr>
              <a:t>R-</a:t>
            </a: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 changes because of anything other than the spin physics of the interaction, it is a false asymmetry.  This results in the seemingly unattainable, golden rule for parity experiments:</a:t>
            </a:r>
          </a:p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2000" kern="1200">
              <a:solidFill>
                <a:srgbClr val="000000"/>
              </a:solidFill>
              <a:latin typeface="Comic Sans MS" pitchFamily="66" charset="0"/>
              <a:ea typeface="+mn-ea"/>
              <a:cs typeface="+mn-cs"/>
            </a:endParaRPr>
          </a:p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kern="1200">
                <a:solidFill>
                  <a:srgbClr val="FF9900"/>
                </a:solidFill>
                <a:latin typeface="Comic Sans MS" pitchFamily="66" charset="0"/>
                <a:ea typeface="+mn-ea"/>
                <a:cs typeface="+mn-cs"/>
              </a:rPr>
              <a:t>No beam property other than the beam polarization should change when the beam polarization reverses sign.</a:t>
            </a: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447800" y="3352800"/>
            <a:ext cx="70104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But, beam properties do change:</a:t>
            </a:r>
          </a:p>
          <a:p>
            <a:pPr marL="457200" lvl="1" algn="l" rt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 Intensity (first order)</a:t>
            </a:r>
          </a:p>
          <a:p>
            <a:pPr marL="457200" lvl="1" algn="l" rt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 Position (second order)</a:t>
            </a:r>
          </a:p>
          <a:p>
            <a:pPr marL="457200" lvl="1" algn="l" rt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 Energy (second order)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895600" y="381000"/>
            <a:ext cx="3305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u="sng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The Imperfect World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447800" y="5029200"/>
            <a:ext cx="40386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These come in different ways:</a:t>
            </a:r>
          </a:p>
          <a:p>
            <a:pPr marL="457200" lvl="1" algn="l" rt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 Laser light</a:t>
            </a:r>
          </a:p>
          <a:p>
            <a:pPr marL="457200" lvl="1" algn="l" rt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 Photocathode</a:t>
            </a:r>
          </a:p>
          <a:p>
            <a:pPr marL="457200" lvl="1" algn="l" rt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 Accelerator</a:t>
            </a:r>
          </a:p>
        </p:txBody>
      </p:sp>
      <p:sp>
        <p:nvSpPr>
          <p:cNvPr id="12" name="AutoShape 6"/>
          <p:cNvSpPr>
            <a:spLocks/>
          </p:cNvSpPr>
          <p:nvPr/>
        </p:nvSpPr>
        <p:spPr bwMode="auto">
          <a:xfrm>
            <a:off x="4267200" y="5410200"/>
            <a:ext cx="304800" cy="533400"/>
          </a:xfrm>
          <a:prstGeom prst="rightBrace">
            <a:avLst>
              <a:gd name="adj1" fmla="val 14583"/>
              <a:gd name="adj2" fmla="val 5000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4876800" y="5486400"/>
            <a:ext cx="28194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16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These happen before the</a:t>
            </a:r>
          </a:p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16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electrons are even a beam…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3"/>
          <p:cNvGraphicFramePr>
            <a:graphicFrameLocks/>
          </p:cNvGraphicFramePr>
          <p:nvPr/>
        </p:nvGraphicFramePr>
        <p:xfrm>
          <a:off x="76200" y="960120"/>
          <a:ext cx="8915401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/>
                <a:gridCol w="660401"/>
                <a:gridCol w="990600"/>
                <a:gridCol w="990600"/>
                <a:gridCol w="990600"/>
                <a:gridCol w="990600"/>
                <a:gridCol w="990600"/>
                <a:gridCol w="990600"/>
                <a:gridCol w="990600"/>
              </a:tblGrid>
              <a:tr h="87732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Experiment</a:t>
                      </a:r>
                      <a:r>
                        <a:rPr lang="en-US" sz="1800" baseline="0" dirty="0" smtClean="0"/>
                        <a:t> 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Hall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Start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Energy</a:t>
                      </a:r>
                    </a:p>
                    <a:p>
                      <a:pPr algn="ctr"/>
                      <a:r>
                        <a:rPr lang="en-US" sz="1800" dirty="0" smtClean="0"/>
                        <a:t>(GeV)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Current</a:t>
                      </a:r>
                    </a:p>
                    <a:p>
                      <a:pPr algn="ctr"/>
                      <a:r>
                        <a:rPr lang="en-US" sz="1800" dirty="0" smtClean="0"/>
                        <a:t>(µA)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Target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A</a:t>
                      </a:r>
                      <a:r>
                        <a:rPr lang="en-US" sz="1800" baseline="-25000" dirty="0" smtClean="0"/>
                        <a:t>PV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Charge Asym</a:t>
                      </a:r>
                    </a:p>
                    <a:p>
                      <a:pPr algn="ctr"/>
                      <a:r>
                        <a:rPr lang="en-US" sz="1800" dirty="0" smtClean="0"/>
                        <a:t>(ppm)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Position Diff</a:t>
                      </a:r>
                    </a:p>
                    <a:p>
                      <a:pPr algn="ctr"/>
                      <a:r>
                        <a:rPr lang="en-US" sz="1800" dirty="0" smtClean="0"/>
                        <a:t>(nm)</a:t>
                      </a:r>
                      <a:endParaRPr lang="en-US" sz="1800" dirty="0"/>
                    </a:p>
                  </a:txBody>
                  <a:tcPr/>
                </a:tc>
              </a:tr>
              <a:tr h="877323">
                <a:tc>
                  <a:txBody>
                    <a:bodyPr/>
                    <a:lstStyle/>
                    <a:p>
                      <a:pPr algn="ctr"/>
                      <a:endParaRPr lang="en-US" sz="1800" b="1" dirty="0" smtClean="0"/>
                    </a:p>
                    <a:p>
                      <a:pPr algn="ctr"/>
                      <a:r>
                        <a:rPr lang="en-US" sz="1800" b="1" dirty="0" smtClean="0"/>
                        <a:t>HAPPEx-III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algn="ctr"/>
                      <a:r>
                        <a:rPr lang="en-US" sz="1800" dirty="0" smtClean="0"/>
                        <a:t>A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algn="ctr"/>
                      <a:r>
                        <a:rPr lang="en-US" sz="1800" dirty="0" smtClean="0"/>
                        <a:t>Aug 09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algn="ctr"/>
                      <a:r>
                        <a:rPr lang="en-US" sz="1800" dirty="0" smtClean="0"/>
                        <a:t>3.484</a:t>
                      </a:r>
                    </a:p>
                    <a:p>
                      <a:pPr algn="ctr"/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algn="ctr"/>
                      <a:r>
                        <a:rPr lang="en-US" sz="1800" dirty="0" smtClean="0"/>
                        <a:t>85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 smtClean="0"/>
                    </a:p>
                    <a:p>
                      <a:pPr algn="ctr"/>
                      <a:r>
                        <a:rPr lang="en-US" sz="1600" baseline="30000" dirty="0" smtClean="0"/>
                        <a:t>1</a:t>
                      </a:r>
                      <a:r>
                        <a:rPr lang="en-US" sz="1600" dirty="0" smtClean="0"/>
                        <a:t>H</a:t>
                      </a:r>
                    </a:p>
                    <a:p>
                      <a:pPr algn="ctr"/>
                      <a:r>
                        <a:rPr lang="en-US" sz="1600" dirty="0" smtClean="0"/>
                        <a:t> (25 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16.9±0.4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(ppm)</a:t>
                      </a:r>
                    </a:p>
                    <a:p>
                      <a:pPr algn="ctr"/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>
                        <a:sym typeface="Wingdings"/>
                      </a:endParaRPr>
                    </a:p>
                    <a:p>
                      <a:pPr algn="ctr"/>
                      <a:r>
                        <a:rPr lang="en-US" sz="1800" dirty="0" smtClean="0">
                          <a:sym typeface="Wingdings"/>
                        </a:rPr>
                        <a:t></a:t>
                      </a:r>
                      <a:endParaRPr lang="en-US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ym typeface="Wingdings"/>
                        </a:rPr>
                        <a:t>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/>
                </a:tc>
              </a:tr>
              <a:tr h="877323">
                <a:tc>
                  <a:txBody>
                    <a:bodyPr/>
                    <a:lstStyle/>
                    <a:p>
                      <a:pPr algn="ctr"/>
                      <a:endParaRPr lang="en-US" sz="1800" b="1" dirty="0" smtClean="0"/>
                    </a:p>
                    <a:p>
                      <a:pPr algn="ctr"/>
                      <a:r>
                        <a:rPr lang="en-US" sz="1800" b="1" dirty="0" smtClean="0"/>
                        <a:t>PV-DIS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algn="ctr"/>
                      <a:r>
                        <a:rPr lang="en-US" sz="1800" dirty="0" smtClean="0"/>
                        <a:t>A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algn="ctr"/>
                      <a:r>
                        <a:rPr lang="en-US" sz="1800" dirty="0" smtClean="0"/>
                        <a:t>Oct 09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algn="ctr"/>
                      <a:r>
                        <a:rPr lang="en-US" sz="1800" dirty="0" smtClean="0"/>
                        <a:t>6.068</a:t>
                      </a:r>
                    </a:p>
                    <a:p>
                      <a:pPr algn="ctr"/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algn="ctr"/>
                      <a:r>
                        <a:rPr lang="en-US" sz="1800" dirty="0" smtClean="0"/>
                        <a:t>85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 smtClean="0"/>
                    </a:p>
                    <a:p>
                      <a:pPr algn="ctr"/>
                      <a:r>
                        <a:rPr lang="en-US" sz="1600" baseline="30000" dirty="0" smtClean="0"/>
                        <a:t>2</a:t>
                      </a:r>
                      <a:r>
                        <a:rPr lang="en-US" sz="1600" dirty="0" smtClean="0"/>
                        <a:t>H</a:t>
                      </a:r>
                    </a:p>
                    <a:p>
                      <a:pPr algn="ctr"/>
                      <a:r>
                        <a:rPr lang="en-US" sz="1600" dirty="0" smtClean="0"/>
                        <a:t>(25 cm)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algn="ctr"/>
                      <a:r>
                        <a:rPr lang="en-US" sz="1800" dirty="0" smtClean="0"/>
                        <a:t>63±3</a:t>
                      </a:r>
                    </a:p>
                    <a:p>
                      <a:pPr algn="ctr"/>
                      <a:r>
                        <a:rPr lang="en-US" sz="1800" dirty="0" smtClean="0"/>
                        <a:t>(ppm)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ym typeface="Wingdings"/>
                        </a:rPr>
                        <a:t>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ym typeface="Wingdings"/>
                        </a:rPr>
                        <a:t>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/>
                </a:tc>
              </a:tr>
              <a:tr h="877323">
                <a:tc>
                  <a:txBody>
                    <a:bodyPr/>
                    <a:lstStyle/>
                    <a:p>
                      <a:pPr algn="ctr"/>
                      <a:endParaRPr lang="en-US" sz="1800" b="1" dirty="0" smtClean="0"/>
                    </a:p>
                    <a:p>
                      <a:pPr algn="ctr"/>
                      <a:r>
                        <a:rPr lang="en-US" sz="1800" b="1" dirty="0" smtClean="0"/>
                        <a:t>PREx</a:t>
                      </a:r>
                    </a:p>
                    <a:p>
                      <a:pPr algn="ctr"/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algn="ctr"/>
                      <a:r>
                        <a:rPr lang="en-US" sz="1800" dirty="0" smtClean="0"/>
                        <a:t>A</a:t>
                      </a:r>
                    </a:p>
                    <a:p>
                      <a:pPr algn="ctr"/>
                      <a:endParaRPr lang="en-US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algn="ctr"/>
                      <a:r>
                        <a:rPr lang="en-US" sz="1800" dirty="0" smtClean="0"/>
                        <a:t>March 10</a:t>
                      </a:r>
                    </a:p>
                    <a:p>
                      <a:pPr algn="ctr"/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algn="ctr"/>
                      <a:r>
                        <a:rPr lang="en-US" sz="1800" dirty="0" smtClean="0"/>
                        <a:t>1.056</a:t>
                      </a:r>
                    </a:p>
                    <a:p>
                      <a:pPr algn="ctr"/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algn="ctr"/>
                      <a:r>
                        <a:rPr lang="en-US" sz="1800" dirty="0" smtClean="0"/>
                        <a:t>50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 smtClean="0"/>
                    </a:p>
                    <a:p>
                      <a:pPr algn="ctr"/>
                      <a:r>
                        <a:rPr lang="en-US" sz="1600" baseline="30000" dirty="0" smtClean="0"/>
                        <a:t>208</a:t>
                      </a:r>
                      <a:r>
                        <a:rPr lang="en-US" sz="1600" dirty="0" smtClean="0"/>
                        <a:t>Pb</a:t>
                      </a:r>
                    </a:p>
                    <a:p>
                      <a:pPr algn="ctr"/>
                      <a:r>
                        <a:rPr lang="en-US" sz="1600" dirty="0" smtClean="0"/>
                        <a:t>(0.5 mm)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500±15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(ppb)</a:t>
                      </a:r>
                    </a:p>
                    <a:p>
                      <a:pPr algn="ctr"/>
                      <a:r>
                        <a:rPr lang="en-US" sz="1800" dirty="0" smtClean="0"/>
                        <a:t> </a:t>
                      </a:r>
                      <a:endParaRPr lang="en-US" sz="1800" dirty="0"/>
                    </a:p>
                  </a:txBody>
                  <a:tcPr>
                    <a:gradFill>
                      <a:gsLst>
                        <a:gs pos="0">
                          <a:srgbClr val="5E9EFF"/>
                        </a:gs>
                        <a:gs pos="39999">
                          <a:srgbClr val="85C2FF"/>
                        </a:gs>
                        <a:gs pos="70000">
                          <a:srgbClr val="C4D6EB"/>
                        </a:gs>
                        <a:gs pos="100000">
                          <a:srgbClr val="FFEBFA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algn="ctr"/>
                      <a:r>
                        <a:rPr lang="en-US" sz="1800" dirty="0" smtClean="0"/>
                        <a:t>0.1</a:t>
                      </a:r>
                      <a:endParaRPr lang="en-US" sz="1800" dirty="0"/>
                    </a:p>
                  </a:txBody>
                  <a:tcPr>
                    <a:gradFill>
                      <a:gsLst>
                        <a:gs pos="0">
                          <a:srgbClr val="5E9EFF"/>
                        </a:gs>
                        <a:gs pos="39999">
                          <a:srgbClr val="85C2FF"/>
                        </a:gs>
                        <a:gs pos="70000">
                          <a:srgbClr val="C4D6EB"/>
                        </a:gs>
                        <a:gs pos="100000">
                          <a:srgbClr val="FFEBFA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>
                    <a:gradFill>
                      <a:gsLst>
                        <a:gs pos="0">
                          <a:srgbClr val="5E9EFF"/>
                        </a:gs>
                        <a:gs pos="39999">
                          <a:srgbClr val="85C2FF"/>
                        </a:gs>
                        <a:gs pos="70000">
                          <a:srgbClr val="C4D6EB"/>
                        </a:gs>
                        <a:gs pos="100000">
                          <a:srgbClr val="FFEBFA"/>
                        </a:gs>
                      </a:gsLst>
                      <a:lin ang="5400000" scaled="0"/>
                    </a:gradFill>
                  </a:tcPr>
                </a:tc>
              </a:tr>
              <a:tr h="834108">
                <a:tc>
                  <a:txBody>
                    <a:bodyPr/>
                    <a:lstStyle/>
                    <a:p>
                      <a:pPr algn="ctr"/>
                      <a:endParaRPr lang="en-US" sz="1800" b="1" dirty="0" smtClean="0"/>
                    </a:p>
                    <a:p>
                      <a:pPr algn="ctr"/>
                      <a:r>
                        <a:rPr lang="en-US" sz="1800" b="1" dirty="0" smtClean="0"/>
                        <a:t>QWeak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algn="ctr"/>
                      <a:r>
                        <a:rPr lang="en-US" sz="1800" dirty="0" smtClean="0"/>
                        <a:t>C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algn="ctr"/>
                      <a:r>
                        <a:rPr lang="en-US" sz="1800" baseline="0" dirty="0" smtClean="0"/>
                        <a:t>May 10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algn="ctr"/>
                      <a:r>
                        <a:rPr lang="en-US" sz="1800" dirty="0" smtClean="0"/>
                        <a:t>1.162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algn="ctr"/>
                      <a:r>
                        <a:rPr lang="en-US" sz="1800" dirty="0" smtClean="0"/>
                        <a:t>180</a:t>
                      </a:r>
                      <a:endParaRPr lang="en-US" sz="1800" dirty="0"/>
                    </a:p>
                  </a:txBody>
                  <a:tcPr>
                    <a:gradFill>
                      <a:gsLst>
                        <a:gs pos="0">
                          <a:srgbClr val="5E9EFF"/>
                        </a:gs>
                        <a:gs pos="39999">
                          <a:srgbClr val="85C2FF"/>
                        </a:gs>
                        <a:gs pos="70000">
                          <a:srgbClr val="C4D6EB"/>
                        </a:gs>
                        <a:gs pos="100000">
                          <a:srgbClr val="FFEBFA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 smtClean="0"/>
                    </a:p>
                    <a:p>
                      <a:pPr algn="ctr"/>
                      <a:r>
                        <a:rPr lang="en-US" sz="1600" baseline="30000" dirty="0" smtClean="0"/>
                        <a:t>1</a:t>
                      </a:r>
                      <a:r>
                        <a:rPr lang="en-US" sz="1600" dirty="0" smtClean="0"/>
                        <a:t>H</a:t>
                      </a:r>
                    </a:p>
                    <a:p>
                      <a:pPr algn="ctr"/>
                      <a:r>
                        <a:rPr lang="en-US" sz="1600" dirty="0" smtClean="0"/>
                        <a:t>(35 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234±5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(ppb)</a:t>
                      </a:r>
                    </a:p>
                    <a:p>
                      <a:pPr algn="ctr"/>
                      <a:endParaRPr lang="en-US" sz="1800" dirty="0"/>
                    </a:p>
                  </a:txBody>
                  <a:tcPr>
                    <a:gradFill>
                      <a:gsLst>
                        <a:gs pos="0">
                          <a:srgbClr val="5E9EFF"/>
                        </a:gs>
                        <a:gs pos="39999">
                          <a:srgbClr val="85C2FF"/>
                        </a:gs>
                        <a:gs pos="70000">
                          <a:srgbClr val="C4D6EB"/>
                        </a:gs>
                        <a:gs pos="100000">
                          <a:srgbClr val="FFEBFA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algn="ctr"/>
                      <a:r>
                        <a:rPr lang="en-US" sz="1800" dirty="0" smtClean="0"/>
                        <a:t>0.1</a:t>
                      </a:r>
                      <a:endParaRPr lang="en-US" sz="1800" dirty="0"/>
                    </a:p>
                  </a:txBody>
                  <a:tcPr>
                    <a:gradFill>
                      <a:gsLst>
                        <a:gs pos="0">
                          <a:srgbClr val="5E9EFF"/>
                        </a:gs>
                        <a:gs pos="39999">
                          <a:srgbClr val="85C2FF"/>
                        </a:gs>
                        <a:gs pos="70000">
                          <a:srgbClr val="C4D6EB"/>
                        </a:gs>
                        <a:gs pos="100000">
                          <a:srgbClr val="FFEBFA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 smtClean="0"/>
                    </a:p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>
                    <a:gradFill>
                      <a:gsLst>
                        <a:gs pos="0">
                          <a:srgbClr val="5E9EFF"/>
                        </a:gs>
                        <a:gs pos="39999">
                          <a:srgbClr val="85C2FF"/>
                        </a:gs>
                        <a:gs pos="70000">
                          <a:srgbClr val="C4D6EB"/>
                        </a:gs>
                        <a:gs pos="100000">
                          <a:srgbClr val="FFEBFA"/>
                        </a:gs>
                      </a:gsLst>
                      <a:lin ang="5400000" scaled="0"/>
                    </a:gra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914400" y="228600"/>
            <a:ext cx="73388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Comic Sans MS" pitchFamily="66" charset="0"/>
              </a:rPr>
              <a:t>Overview of remaining 6 </a:t>
            </a:r>
            <a:r>
              <a:rPr lang="en-US" sz="2800" dirty="0" err="1" smtClean="0">
                <a:latin typeface="Comic Sans MS" pitchFamily="66" charset="0"/>
              </a:rPr>
              <a:t>GeV</a:t>
            </a:r>
            <a:r>
              <a:rPr lang="en-US" sz="2800" dirty="0" smtClean="0">
                <a:latin typeface="Comic Sans MS" pitchFamily="66" charset="0"/>
              </a:rPr>
              <a:t> “PV” Program</a:t>
            </a:r>
            <a:endParaRPr lang="en-US" sz="2800" dirty="0"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505200" y="304800"/>
            <a:ext cx="1889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u="sng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Accelerator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457200" y="838200"/>
            <a:ext cx="8305800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A HC position difference on ANY aperture results in a HC intensity asymmetry. (Note we use </a:t>
            </a:r>
            <a:r>
              <a:rPr lang="en-US" sz="2000" kern="1200">
                <a:solidFill>
                  <a:srgbClr val="FF0000"/>
                </a:solidFill>
                <a:latin typeface="Comic Sans MS" pitchFamily="66" charset="0"/>
                <a:ea typeface="+mn-ea"/>
                <a:cs typeface="+mn-cs"/>
              </a:rPr>
              <a:t>absolute difference</a:t>
            </a: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 for </a:t>
            </a:r>
            <a:r>
              <a:rPr lang="en-US" sz="2000" kern="1200">
                <a:solidFill>
                  <a:srgbClr val="FF0000"/>
                </a:solidFill>
                <a:latin typeface="Comic Sans MS" pitchFamily="66" charset="0"/>
                <a:ea typeface="+mn-ea"/>
                <a:cs typeface="+mn-cs"/>
              </a:rPr>
              <a:t>position</a:t>
            </a: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 and </a:t>
            </a:r>
            <a:r>
              <a:rPr lang="en-US" sz="2000" kern="1200">
                <a:solidFill>
                  <a:srgbClr val="CC0099"/>
                </a:solidFill>
                <a:latin typeface="Comic Sans MS" pitchFamily="66" charset="0"/>
                <a:ea typeface="+mn-ea"/>
                <a:cs typeface="+mn-cs"/>
              </a:rPr>
              <a:t>relative asymmetry</a:t>
            </a: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 for </a:t>
            </a:r>
            <a:r>
              <a:rPr lang="en-US" sz="2000" kern="1200">
                <a:solidFill>
                  <a:srgbClr val="CC0099"/>
                </a:solidFill>
                <a:latin typeface="Comic Sans MS" pitchFamily="66" charset="0"/>
                <a:ea typeface="+mn-ea"/>
                <a:cs typeface="+mn-cs"/>
              </a:rPr>
              <a:t>intensity</a:t>
            </a: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).</a:t>
            </a:r>
          </a:p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2000" kern="1200">
              <a:solidFill>
                <a:srgbClr val="000000"/>
              </a:solidFill>
              <a:latin typeface="Comic Sans MS" pitchFamily="66" charset="0"/>
              <a:ea typeface="+mn-ea"/>
              <a:cs typeface="+mn-cs"/>
            </a:endParaRPr>
          </a:p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Apertures (Profile &amp; Position):</a:t>
            </a:r>
          </a:p>
          <a:p>
            <a:pPr marL="457200" lvl="1" algn="l" rt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 Emittance/Spatial Filters (A1-A4)</a:t>
            </a:r>
          </a:p>
          <a:p>
            <a:pPr marL="457200" lvl="1" algn="l" rt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 Temporal Filter (RF chopping apertures)</a:t>
            </a:r>
          </a:p>
          <a:p>
            <a:pPr marL="457200" lvl="1" algn="l" rt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 Beam scraping monitors.</a:t>
            </a:r>
          </a:p>
          <a:p>
            <a:pPr marL="457200" lvl="1" algn="l" rt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 Any piece of beampipe!</a:t>
            </a:r>
          </a:p>
          <a:p>
            <a:pPr marL="457200" lvl="1" algn="l" rt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 The small apertures and tight spots (separation?)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28600" y="4495800"/>
            <a:ext cx="846455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Adiabatic damping of the beam emittance may gain factors of 10-20 because of the reduction in amplitude of the beam envelope.</a:t>
            </a:r>
          </a:p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2000" kern="1200">
              <a:solidFill>
                <a:srgbClr val="000000"/>
              </a:solidFill>
              <a:latin typeface="Comic Sans MS" pitchFamily="66" charset="0"/>
              <a:ea typeface="+mn-ea"/>
              <a:cs typeface="+mn-cs"/>
            </a:endParaRPr>
          </a:p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Poor optics can reduce this gain by 10x.</a:t>
            </a:r>
          </a:p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2000" kern="120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rPr>
              <a:t>Poor optics stability can vary response between source and user.</a:t>
            </a:r>
          </a:p>
        </p:txBody>
      </p:sp>
      <p:sp>
        <p:nvSpPr>
          <p:cNvPr id="12" name="Oval 5"/>
          <p:cNvSpPr>
            <a:spLocks noChangeArrowheads="1"/>
          </p:cNvSpPr>
          <p:nvPr/>
        </p:nvSpPr>
        <p:spPr bwMode="auto">
          <a:xfrm>
            <a:off x="6705600" y="1752600"/>
            <a:ext cx="1752600" cy="1600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13" name="Oval 6"/>
          <p:cNvSpPr>
            <a:spLocks noChangeArrowheads="1"/>
          </p:cNvSpPr>
          <p:nvPr/>
        </p:nvSpPr>
        <p:spPr bwMode="auto">
          <a:xfrm>
            <a:off x="7315200" y="2286000"/>
            <a:ext cx="609600" cy="533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14" name="Oval 7"/>
          <p:cNvSpPr>
            <a:spLocks noChangeArrowheads="1"/>
          </p:cNvSpPr>
          <p:nvPr/>
        </p:nvSpPr>
        <p:spPr bwMode="auto">
          <a:xfrm>
            <a:off x="7467600" y="2362200"/>
            <a:ext cx="304800" cy="3048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15" name="Oval 8"/>
          <p:cNvSpPr>
            <a:spLocks noChangeArrowheads="1"/>
          </p:cNvSpPr>
          <p:nvPr/>
        </p:nvSpPr>
        <p:spPr bwMode="auto">
          <a:xfrm>
            <a:off x="7696200" y="2362200"/>
            <a:ext cx="304800" cy="304800"/>
          </a:xfrm>
          <a:prstGeom prst="ellipse">
            <a:avLst/>
          </a:prstGeom>
          <a:solidFill>
            <a:srgbClr val="33CC33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Chart 18"/>
          <p:cNvGraphicFramePr/>
          <p:nvPr/>
        </p:nvGraphicFramePr>
        <p:xfrm>
          <a:off x="4419600" y="1066800"/>
          <a:ext cx="4572001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Chart 14"/>
          <p:cNvGraphicFramePr/>
          <p:nvPr/>
        </p:nvGraphicFramePr>
        <p:xfrm>
          <a:off x="152400" y="1066800"/>
          <a:ext cx="4267200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685800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Measurements at CEBAF/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JLab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0" y="685800"/>
            <a:ext cx="3352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PARMELA Simulation Results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0"/>
            <a:ext cx="792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Benchmarking PARMELA Simulation Results Against Beam-Based Measurements at CEBAF/Jefferson Lab – work of </a:t>
            </a:r>
            <a:r>
              <a:rPr lang="en-US" sz="1600" b="1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Ashwini</a:t>
            </a:r>
            <a:r>
              <a:rPr lang="en-US" sz="16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600" b="1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Jayaprakash</a:t>
            </a:r>
            <a:r>
              <a:rPr lang="en-US" sz="16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1600" b="1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JLab</a:t>
            </a:r>
            <a:endParaRPr lang="en-US" sz="1600" b="1" dirty="0" smtClean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1000" y="6324600"/>
            <a:ext cx="85344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Message:  Beam quality, including transmission, improves at higher gun voltage</a:t>
            </a:r>
          </a:p>
        </p:txBody>
      </p:sp>
      <p:graphicFrame>
        <p:nvGraphicFramePr>
          <p:cNvPr id="17" name="Chart 16"/>
          <p:cNvGraphicFramePr/>
          <p:nvPr/>
        </p:nvGraphicFramePr>
        <p:xfrm>
          <a:off x="152400" y="3657600"/>
          <a:ext cx="4267200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8" name="Chart 17"/>
          <p:cNvGraphicFramePr/>
          <p:nvPr/>
        </p:nvGraphicFramePr>
        <p:xfrm>
          <a:off x="4419600" y="3657600"/>
          <a:ext cx="4572000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038600" y="3352800"/>
            <a:ext cx="838200" cy="64633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Similar Trends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0" y="805758"/>
            <a:ext cx="9144000" cy="6052242"/>
          </a:xfrm>
          <a:prstGeom prst="rect">
            <a:avLst/>
          </a:prstGeom>
        </p:spPr>
        <p:txBody>
          <a:bodyPr/>
          <a:lstStyle/>
          <a:p>
            <a:pPr marL="342900" marR="0" lvl="0" indent="-16986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</a:rPr>
              <a:t>Load-Lock Gun at CEBAF since July 2007 </a:t>
            </a:r>
          </a:p>
          <a:p>
            <a:pPr marL="577850" marR="0" lvl="1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</a:rPr>
              <a:t>Multiple pucks (8 hours to heat/activate new sample)</a:t>
            </a:r>
          </a:p>
          <a:p>
            <a:pPr marL="577850" marR="0" lvl="1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</a:rPr>
              <a:t>Suitcase to add new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</a:rPr>
              <a:t>photocathodes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</a:rPr>
              <a:t> (one day to replace all pucks)</a:t>
            </a:r>
          </a:p>
          <a:p>
            <a:pPr marL="577850" marR="0" lvl="1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</a:rPr>
              <a:t>Mask to limit active area, no more anodizing</a:t>
            </a:r>
          </a:p>
          <a:p>
            <a:pPr marL="577850" marR="0" lvl="1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</a:rPr>
              <a:t>Vacuum features; NEG coated, smaller surface area, vacuum fired for low out-gassing rate, HV chamber never vented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 cstate="print">
            <a:lum contrast="10000"/>
          </a:blip>
          <a:srcRect/>
          <a:stretch>
            <a:fillRect/>
          </a:stretch>
        </p:blipFill>
        <p:spPr bwMode="auto">
          <a:xfrm>
            <a:off x="243840" y="3215853"/>
            <a:ext cx="3992578" cy="3174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itle 8"/>
          <p:cNvSpPr txBox="1">
            <a:spLocks/>
          </p:cNvSpPr>
          <p:nvPr/>
        </p:nvSpPr>
        <p:spPr>
          <a:xfrm>
            <a:off x="457200" y="0"/>
            <a:ext cx="8229600" cy="71596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CEBAF </a:t>
            </a: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LLGun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Features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ll_side"/>
          <p:cNvPicPr>
            <a:picLocks noChangeAspect="1" noChangeArrowheads="1"/>
          </p:cNvPicPr>
          <p:nvPr/>
        </p:nvPicPr>
        <p:blipFill>
          <a:blip r:embed="rId3"/>
          <a:srcRect l="31232" t="14676" b="3468"/>
          <a:stretch>
            <a:fillRect/>
          </a:stretch>
        </p:blipFill>
        <p:spPr bwMode="auto">
          <a:xfrm flipH="1">
            <a:off x="4399280" y="3129280"/>
            <a:ext cx="4612640" cy="35966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52400" y="0"/>
            <a:ext cx="8763000" cy="762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Lifetime with Large/Small Laser Spots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533400" y="762000"/>
            <a:ext cx="8001000" cy="5272088"/>
            <a:chOff x="533400" y="914400"/>
            <a:chExt cx="8001000" cy="5272088"/>
          </a:xfrm>
        </p:grpSpPr>
        <p:pic>
          <p:nvPicPr>
            <p:cNvPr id="3" name="Picture 4" descr="llbp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33400" y="1066800"/>
              <a:ext cx="7239000" cy="5119688"/>
            </a:xfrm>
            <a:prstGeom prst="rect">
              <a:avLst/>
            </a:prstGeom>
            <a:noFill/>
          </p:spPr>
        </p:pic>
        <p:sp>
          <p:nvSpPr>
            <p:cNvPr id="4" name="Line 5"/>
            <p:cNvSpPr>
              <a:spLocks noChangeShapeType="1"/>
            </p:cNvSpPr>
            <p:nvPr/>
          </p:nvSpPr>
          <p:spPr bwMode="auto">
            <a:xfrm>
              <a:off x="2667000" y="1143000"/>
              <a:ext cx="533400" cy="1143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Box 6"/>
            <p:cNvSpPr txBox="1">
              <a:spLocks noChangeArrowheads="1"/>
            </p:cNvSpPr>
            <p:nvPr/>
          </p:nvSpPr>
          <p:spPr bwMode="auto">
            <a:xfrm>
              <a:off x="2133600" y="914400"/>
              <a:ext cx="3216275" cy="65087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lang="en-US" sz="1800">
                  <a:latin typeface="Arial" charset="0"/>
                </a:rPr>
                <a:t>Tough to measure &gt;1000 C lifetimes with 100-200 C runs!</a:t>
              </a:r>
            </a:p>
          </p:txBody>
        </p:sp>
        <p:sp>
          <p:nvSpPr>
            <p:cNvPr id="6" name="Line 7"/>
            <p:cNvSpPr>
              <a:spLocks noChangeShapeType="1"/>
            </p:cNvSpPr>
            <p:nvPr/>
          </p:nvSpPr>
          <p:spPr bwMode="auto">
            <a:xfrm>
              <a:off x="2743200" y="3962400"/>
              <a:ext cx="4038600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8"/>
            <p:cNvSpPr>
              <a:spLocks noChangeShapeType="1"/>
            </p:cNvSpPr>
            <p:nvPr/>
          </p:nvSpPr>
          <p:spPr bwMode="auto">
            <a:xfrm>
              <a:off x="2590800" y="2895600"/>
              <a:ext cx="358140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9"/>
            <p:cNvSpPr>
              <a:spLocks noChangeArrowheads="1"/>
            </p:cNvSpPr>
            <p:nvPr/>
          </p:nvSpPr>
          <p:spPr bwMode="auto">
            <a:xfrm>
              <a:off x="3352800" y="2971800"/>
              <a:ext cx="914400" cy="1066800"/>
            </a:xfrm>
            <a:prstGeom prst="upArrow">
              <a:avLst>
                <a:gd name="adj1" fmla="val 50000"/>
                <a:gd name="adj2" fmla="val 29167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3581400" y="4038600"/>
              <a:ext cx="457200" cy="914400"/>
            </a:xfrm>
            <a:prstGeom prst="rect">
              <a:avLst/>
            </a:prstGeom>
            <a:solidFill>
              <a:srgbClr val="66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Text Box 11"/>
            <p:cNvSpPr txBox="1">
              <a:spLocks noChangeArrowheads="1"/>
            </p:cNvSpPr>
            <p:nvPr/>
          </p:nvSpPr>
          <p:spPr bwMode="auto">
            <a:xfrm>
              <a:off x="3581400" y="3886200"/>
              <a:ext cx="457200" cy="3762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sz="1800">
                  <a:latin typeface="Comic Sans MS" pitchFamily="66" charset="0"/>
                </a:rPr>
                <a:t>5</a:t>
              </a:r>
            </a:p>
          </p:txBody>
        </p:sp>
        <p:sp>
          <p:nvSpPr>
            <p:cNvPr id="11" name="AutoShape 12"/>
            <p:cNvSpPr>
              <a:spLocks noChangeArrowheads="1"/>
            </p:cNvSpPr>
            <p:nvPr/>
          </p:nvSpPr>
          <p:spPr bwMode="auto">
            <a:xfrm>
              <a:off x="4648200" y="4038600"/>
              <a:ext cx="914400" cy="990600"/>
            </a:xfrm>
            <a:prstGeom prst="upArrow">
              <a:avLst>
                <a:gd name="adj1" fmla="val 50000"/>
                <a:gd name="adj2" fmla="val 27083"/>
              </a:avLst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Rectangle 13"/>
            <p:cNvSpPr>
              <a:spLocks noChangeArrowheads="1"/>
            </p:cNvSpPr>
            <p:nvPr/>
          </p:nvSpPr>
          <p:spPr bwMode="auto">
            <a:xfrm>
              <a:off x="4876800" y="4800600"/>
              <a:ext cx="457200" cy="533400"/>
            </a:xfrm>
            <a:prstGeom prst="rect">
              <a:avLst/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14"/>
            <p:cNvSpPr txBox="1">
              <a:spLocks noChangeArrowheads="1"/>
            </p:cNvSpPr>
            <p:nvPr/>
          </p:nvSpPr>
          <p:spPr bwMode="auto">
            <a:xfrm>
              <a:off x="4876800" y="4572000"/>
              <a:ext cx="457200" cy="3460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sz="1600">
                  <a:latin typeface="Comic Sans MS" pitchFamily="66" charset="0"/>
                </a:rPr>
                <a:t>15</a:t>
              </a:r>
            </a:p>
          </p:txBody>
        </p:sp>
        <p:grpSp>
          <p:nvGrpSpPr>
            <p:cNvPr id="14" name="Group 15"/>
            <p:cNvGrpSpPr>
              <a:grpSpLocks/>
            </p:cNvGrpSpPr>
            <p:nvPr/>
          </p:nvGrpSpPr>
          <p:grpSpPr bwMode="auto">
            <a:xfrm>
              <a:off x="6705600" y="2362200"/>
              <a:ext cx="1828800" cy="1295400"/>
              <a:chOff x="4416" y="1248"/>
              <a:chExt cx="1152" cy="816"/>
            </a:xfrm>
          </p:grpSpPr>
          <p:sp>
            <p:nvSpPr>
              <p:cNvPr id="15" name="Rectangle 16"/>
              <p:cNvSpPr>
                <a:spLocks noChangeArrowheads="1"/>
              </p:cNvSpPr>
              <p:nvPr/>
            </p:nvSpPr>
            <p:spPr bwMode="auto">
              <a:xfrm>
                <a:off x="4416" y="1296"/>
                <a:ext cx="1152" cy="76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6" name="Group 17"/>
              <p:cNvGrpSpPr>
                <a:grpSpLocks/>
              </p:cNvGrpSpPr>
              <p:nvPr/>
            </p:nvGrpSpPr>
            <p:grpSpPr bwMode="auto">
              <a:xfrm>
                <a:off x="4512" y="1440"/>
                <a:ext cx="923" cy="605"/>
                <a:chOff x="4550" y="1104"/>
                <a:chExt cx="923" cy="605"/>
              </a:xfrm>
            </p:grpSpPr>
            <p:sp>
              <p:nvSpPr>
                <p:cNvPr id="18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4550" y="1241"/>
                  <a:ext cx="468" cy="26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sz="2200" u="sng">
                      <a:solidFill>
                        <a:srgbClr val="000000"/>
                      </a:solidFill>
                      <a:latin typeface="Times New Roman" pitchFamily="18" charset="0"/>
                    </a:rPr>
                    <a:t>1500</a:t>
                  </a:r>
                </a:p>
              </p:txBody>
            </p:sp>
            <p:sp>
              <p:nvSpPr>
                <p:cNvPr id="19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4608" y="1440"/>
                  <a:ext cx="380" cy="26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sz="2200">
                      <a:solidFill>
                        <a:srgbClr val="000000"/>
                      </a:solidFill>
                      <a:latin typeface="Times New Roman" pitchFamily="18" charset="0"/>
                    </a:rPr>
                    <a:t>350</a:t>
                  </a:r>
                </a:p>
              </p:txBody>
            </p:sp>
            <p:sp>
              <p:nvSpPr>
                <p:cNvPr id="20" name="AutoShape 20"/>
                <p:cNvSpPr>
                  <a:spLocks/>
                </p:cNvSpPr>
                <p:nvPr/>
              </p:nvSpPr>
              <p:spPr bwMode="auto">
                <a:xfrm>
                  <a:off x="4560" y="1248"/>
                  <a:ext cx="48" cy="432"/>
                </a:xfrm>
                <a:prstGeom prst="leftBracket">
                  <a:avLst>
                    <a:gd name="adj" fmla="val 75000"/>
                  </a:avLst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AutoShape 21"/>
                <p:cNvSpPr>
                  <a:spLocks/>
                </p:cNvSpPr>
                <p:nvPr/>
              </p:nvSpPr>
              <p:spPr bwMode="auto">
                <a:xfrm flipH="1">
                  <a:off x="4944" y="1248"/>
                  <a:ext cx="48" cy="432"/>
                </a:xfrm>
                <a:prstGeom prst="leftBracket">
                  <a:avLst>
                    <a:gd name="adj" fmla="val 75000"/>
                  </a:avLst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4992" y="1104"/>
                  <a:ext cx="204" cy="26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sz="2200">
                      <a:solidFill>
                        <a:srgbClr val="000000"/>
                      </a:solidFill>
                      <a:latin typeface="Times New Roman" pitchFamily="18" charset="0"/>
                    </a:rPr>
                    <a:t>2</a:t>
                  </a:r>
                </a:p>
              </p:txBody>
            </p:sp>
            <p:sp>
              <p:nvSpPr>
                <p:cNvPr id="23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5040" y="1296"/>
                  <a:ext cx="433" cy="26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sz="2200">
                      <a:solidFill>
                        <a:srgbClr val="000000"/>
                      </a:solidFill>
                      <a:latin typeface="Times New Roman" pitchFamily="18" charset="0"/>
                      <a:cs typeface="Times New Roman" pitchFamily="18" charset="0"/>
                    </a:rPr>
                    <a:t>≈</a:t>
                  </a:r>
                  <a:r>
                    <a:rPr lang="en-US" sz="2200">
                      <a:solidFill>
                        <a:srgbClr val="000000"/>
                      </a:solidFill>
                      <a:latin typeface="Times New Roman" pitchFamily="18" charset="0"/>
                    </a:rPr>
                    <a:t> 18</a:t>
                  </a:r>
                </a:p>
              </p:txBody>
            </p:sp>
          </p:grpSp>
          <p:sp>
            <p:nvSpPr>
              <p:cNvPr id="17" name="Text Box 24"/>
              <p:cNvSpPr txBox="1">
                <a:spLocks noChangeArrowheads="1"/>
              </p:cNvSpPr>
              <p:nvPr/>
            </p:nvSpPr>
            <p:spPr bwMode="auto">
              <a:xfrm>
                <a:off x="4512" y="1248"/>
                <a:ext cx="1006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sz="2200">
                    <a:solidFill>
                      <a:srgbClr val="000000"/>
                    </a:solidFill>
                    <a:latin typeface="Times New Roman" pitchFamily="18" charset="0"/>
                  </a:rPr>
                  <a:t>Expectation:</a:t>
                </a:r>
              </a:p>
            </p:txBody>
          </p:sp>
        </p:grpSp>
      </p:grpSp>
      <p:sp>
        <p:nvSpPr>
          <p:cNvPr id="24" name="Rectangle 25"/>
          <p:cNvSpPr>
            <a:spLocks noChangeArrowheads="1"/>
          </p:cNvSpPr>
          <p:nvPr/>
        </p:nvSpPr>
        <p:spPr bwMode="auto">
          <a:xfrm>
            <a:off x="381000" y="6451600"/>
            <a:ext cx="8610600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000"/>
              <a:t>“Further Measurements of Photocathode Operational Lifetime at Beam Current &gt; 1mA using an Improved 100 kV DC High Voltage</a:t>
            </a:r>
            <a:r>
              <a:rPr lang="en-US" sz="1000" u="sng"/>
              <a:t> </a:t>
            </a:r>
            <a:r>
              <a:rPr lang="en-US" sz="1000"/>
              <a:t>GaAs Photogun,” J. Grames, et al., Proceedings Polarized Electron Source Workshop, SPIN06, Tokyo, Japan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6019800"/>
            <a:ext cx="6974986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This result frequently cited in support of plans for </a:t>
            </a:r>
            <a:r>
              <a:rPr lang="en-US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eRHIC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at &gt;25mA</a:t>
            </a:r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533400" y="0"/>
            <a:ext cx="7772400" cy="762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1mA at High Polarization*</a:t>
            </a: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run_1mA"/>
          <p:cNvPicPr preferRelativeResize="0"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74938" y="4497388"/>
            <a:ext cx="6316662" cy="22844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graphicFrame>
        <p:nvGraphicFramePr>
          <p:cNvPr id="4" name="Group 73"/>
          <p:cNvGraphicFramePr>
            <a:graphicFrameLocks noGrp="1"/>
          </p:cNvGraphicFramePr>
          <p:nvPr/>
        </p:nvGraphicFramePr>
        <p:xfrm>
          <a:off x="304800" y="762000"/>
          <a:ext cx="4876800" cy="3676015"/>
        </p:xfrm>
        <a:graphic>
          <a:graphicData uri="http://schemas.openxmlformats.org/drawingml/2006/table">
            <a:tbl>
              <a:tblPr/>
              <a:tblGrid>
                <a:gridCol w="2625725"/>
                <a:gridCol w="2251075"/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4337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Parameter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37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4337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Laser Rep Rate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37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499 MHz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0" marR="0" lvl="0" indent="0" algn="ctr" defTabSz="4337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Laser Pulselength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37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 ps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4337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Wavelength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37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780 nm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0" marR="0" lvl="0" indent="0" algn="ctr" defTabSz="4337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Laser Spot Size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37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450 mm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4337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20000"/>
                          </a:solidFill>
                          <a:effectLst/>
                          <a:latin typeface="Arial" charset="0"/>
                        </a:rPr>
                        <a:t>Current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37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20000"/>
                          </a:solidFill>
                          <a:effectLst/>
                          <a:latin typeface="Arial" charset="0"/>
                        </a:rPr>
                        <a:t>1 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0" marR="0" lvl="0" indent="0" algn="ctr" defTabSz="4337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20000"/>
                          </a:solidFill>
                          <a:effectLst/>
                          <a:latin typeface="Arial" charset="0"/>
                        </a:rPr>
                        <a:t>Duration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37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20000"/>
                          </a:solidFill>
                          <a:effectLst/>
                          <a:latin typeface="Arial" charset="0"/>
                        </a:rPr>
                        <a:t>8.25 hr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0" marR="0" lvl="0" indent="0" algn="ctr" defTabSz="4337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Charge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37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30.3 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4337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Lifetime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37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210 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marL="0" marR="0" lvl="0" indent="0" algn="ctr" defTabSz="4337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#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How long at 1mA?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37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10.5 days</a:t>
                      </a:r>
                      <a:endParaRPr kumimoji="0" lang="en-US" sz="1800" b="0" i="0" u="none" strike="noStrike" cap="none" normalizeH="0" baseline="3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5" name="Picture 70" descr="qe_final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6400" y="1981200"/>
            <a:ext cx="3336925" cy="2185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6" name="Text Box 74"/>
          <p:cNvSpPr txBox="1">
            <a:spLocks noChangeArrowheads="1"/>
          </p:cNvSpPr>
          <p:nvPr/>
        </p:nvSpPr>
        <p:spPr bwMode="auto">
          <a:xfrm>
            <a:off x="6934200" y="1600200"/>
            <a:ext cx="1752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>
                <a:latin typeface="Arial" charset="0"/>
              </a:rPr>
              <a:t>High Initial QE</a:t>
            </a:r>
          </a:p>
        </p:txBody>
      </p:sp>
      <p:sp>
        <p:nvSpPr>
          <p:cNvPr id="7" name="Line 75"/>
          <p:cNvSpPr>
            <a:spLocks noChangeShapeType="1"/>
          </p:cNvSpPr>
          <p:nvPr/>
        </p:nvSpPr>
        <p:spPr bwMode="auto">
          <a:xfrm>
            <a:off x="8610600" y="1219200"/>
            <a:ext cx="0" cy="685800"/>
          </a:xfrm>
          <a:prstGeom prst="line">
            <a:avLst/>
          </a:prstGeom>
          <a:noFill/>
          <a:ln w="38100">
            <a:solidFill>
              <a:srgbClr val="F2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Text Box 76"/>
          <p:cNvSpPr txBox="1">
            <a:spLocks noChangeArrowheads="1"/>
          </p:cNvSpPr>
          <p:nvPr/>
        </p:nvSpPr>
        <p:spPr bwMode="auto">
          <a:xfrm>
            <a:off x="609600" y="5181600"/>
            <a:ext cx="1828800" cy="9233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>
                <a:latin typeface="Arial" charset="0"/>
              </a:rPr>
              <a:t>Vacuum signals</a:t>
            </a:r>
          </a:p>
          <a:p>
            <a:r>
              <a:rPr lang="en-US">
                <a:latin typeface="Arial" charset="0"/>
              </a:rPr>
              <a:t>Laser Power</a:t>
            </a:r>
          </a:p>
          <a:p>
            <a:r>
              <a:rPr lang="en-US">
                <a:latin typeface="Arial" charset="0"/>
              </a:rPr>
              <a:t>Beam Current</a:t>
            </a:r>
          </a:p>
        </p:txBody>
      </p:sp>
      <p:sp>
        <p:nvSpPr>
          <p:cNvPr id="9" name="AutoShape 77"/>
          <p:cNvSpPr>
            <a:spLocks/>
          </p:cNvSpPr>
          <p:nvPr/>
        </p:nvSpPr>
        <p:spPr bwMode="auto">
          <a:xfrm>
            <a:off x="2438400" y="4648200"/>
            <a:ext cx="152400" cy="1981200"/>
          </a:xfrm>
          <a:prstGeom prst="leftBrace">
            <a:avLst>
              <a:gd name="adj1" fmla="val 10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ext Box 78"/>
          <p:cNvSpPr txBox="1">
            <a:spLocks noChangeArrowheads="1"/>
          </p:cNvSpPr>
          <p:nvPr/>
        </p:nvSpPr>
        <p:spPr bwMode="auto">
          <a:xfrm>
            <a:off x="5638800" y="914400"/>
            <a:ext cx="2682875" cy="590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600" b="1">
                <a:solidFill>
                  <a:schemeClr val="accent2"/>
                </a:solidFill>
                <a:latin typeface="Arial" charset="0"/>
              </a:rPr>
              <a:t>* Note: did not actually measure polarization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419600"/>
            <a:ext cx="2069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aseline="30000" dirty="0" smtClean="0">
                <a:latin typeface="Arial" pitchFamily="34" charset="0"/>
                <a:cs typeface="Arial" pitchFamily="34" charset="0"/>
              </a:rPr>
              <a:t>#</a:t>
            </a:r>
            <a:r>
              <a:rPr lang="en-US" sz="1200" dirty="0" smtClean="0">
                <a:latin typeface="Arial" pitchFamily="34" charset="0"/>
                <a:cs typeface="Arial" pitchFamily="34" charset="0"/>
              </a:rPr>
              <a:t> prediction with 10W laser</a:t>
            </a:r>
            <a:endParaRPr lang="en-US" sz="12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Documents and Settings\grames\Desktop\OpsTalk\llgun2_v1_vac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3547462"/>
            <a:ext cx="7696200" cy="3310538"/>
          </a:xfrm>
          <a:prstGeom prst="rect">
            <a:avLst/>
          </a:prstGeom>
          <a:noFill/>
        </p:spPr>
      </p:pic>
      <p:pic>
        <p:nvPicPr>
          <p:cNvPr id="1026" name="Picture 2" descr="C:\Documents and Settings\grames\Desktop\OpsTalk\llgun2_v1_fe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3200" y="762000"/>
            <a:ext cx="5232172" cy="36576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136406" y="152400"/>
            <a:ext cx="9007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Comic Sans MS" pitchFamily="66" charset="0"/>
              </a:rPr>
              <a:t>However, we never achieved good lifetime in tunnel…</a:t>
            </a:r>
            <a:endParaRPr lang="en-US" sz="2800" dirty="0"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066800"/>
            <a:ext cx="27432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Ultimately, we believe this is a consequence of field emission.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4800"/>
            <a:ext cx="84786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Comic Sans MS" pitchFamily="66" charset="0"/>
              </a:rPr>
              <a:t>We believed we had identified a leading suspect…</a:t>
            </a:r>
            <a:endParaRPr lang="en-US" sz="2800" dirty="0">
              <a:latin typeface="Comic Sans MS" pitchFamily="66" charset="0"/>
            </a:endParaRPr>
          </a:p>
        </p:txBody>
      </p:sp>
      <p:pic>
        <p:nvPicPr>
          <p:cNvPr id="2050" name="Picture 2" descr="C:\Documents and Settings\grames\Desktop\OpsTalk\japan_fe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990600"/>
            <a:ext cx="4104839" cy="49530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4876800" y="1143000"/>
            <a:ext cx="4267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omic Sans MS" pitchFamily="66" charset="0"/>
              </a:rPr>
              <a:t>…modified a HV chamber, commissioned at Test Cave, and installed this past SAD… </a:t>
            </a:r>
            <a:endParaRPr lang="en-US" sz="2800" dirty="0">
              <a:latin typeface="Comic Sans MS" pitchFamily="66" charset="0"/>
            </a:endParaRPr>
          </a:p>
        </p:txBody>
      </p:sp>
      <p:pic>
        <p:nvPicPr>
          <p:cNvPr id="2051" name="Picture 3" descr="C:\Documents and Settings\grames\Desktop\OpsTalk\fea_its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1971" y="3560762"/>
            <a:ext cx="4862029" cy="32972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228600" y="0"/>
            <a:ext cx="8686800" cy="762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Field Emission – Most Important Issue 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28600" y="838200"/>
            <a:ext cx="3886200" cy="5716726"/>
            <a:chOff x="304800" y="838200"/>
            <a:chExt cx="3886200" cy="5716726"/>
          </a:xfrm>
        </p:grpSpPr>
        <p:pic>
          <p:nvPicPr>
            <p:cNvPr id="9" name="Picture 8" descr="DSCF0397.JPG"/>
            <p:cNvPicPr>
              <a:picLocks noChangeAspect="1"/>
            </p:cNvPicPr>
            <p:nvPr/>
          </p:nvPicPr>
          <p:blipFill>
            <a:blip r:embed="rId2" cstate="print">
              <a:lum bright="6000"/>
            </a:blip>
            <a:stretch>
              <a:fillRect/>
            </a:stretch>
          </p:blipFill>
          <p:spPr>
            <a:xfrm>
              <a:off x="838200" y="838200"/>
              <a:ext cx="2909455" cy="387581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304800" y="4800600"/>
              <a:ext cx="3886200" cy="175432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176213" indent="-176213">
                <a:buFont typeface="Arial" pitchFamily="34" charset="0"/>
                <a:buChar char="•"/>
              </a:pPr>
              <a:r>
                <a:rPr lang="en-US" dirty="0" smtClean="0">
                  <a:latin typeface="Arial" pitchFamily="34" charset="0"/>
                  <a:cs typeface="Arial" pitchFamily="34" charset="0"/>
                </a:rPr>
                <a:t>Flat electrodes and small gaps not very useful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dirty="0" smtClean="0">
                  <a:latin typeface="Arial" pitchFamily="34" charset="0"/>
                  <a:cs typeface="Arial" pitchFamily="34" charset="0"/>
                </a:rPr>
                <a:t>Want to keep gun dimensions about the same – suggests our 200kV gun needs “quiet” electrodes to 10MV/m</a:t>
              </a:r>
              <a:endParaRPr lang="en-US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419600" y="1066800"/>
            <a:ext cx="4572000" cy="3048000"/>
            <a:chOff x="4267200" y="914400"/>
            <a:chExt cx="4572000" cy="3048000"/>
          </a:xfrm>
        </p:grpSpPr>
        <p:graphicFrame>
          <p:nvGraphicFramePr>
            <p:cNvPr id="7" name="Chart 6"/>
            <p:cNvGraphicFramePr/>
            <p:nvPr/>
          </p:nvGraphicFramePr>
          <p:xfrm>
            <a:off x="4267200" y="914400"/>
            <a:ext cx="4572000" cy="3048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cxnSp>
          <p:nvCxnSpPr>
            <p:cNvPr id="13" name="Straight Connector 12"/>
            <p:cNvCxnSpPr/>
            <p:nvPr/>
          </p:nvCxnSpPr>
          <p:spPr>
            <a:xfrm rot="5400000">
              <a:off x="6973094" y="2323306"/>
              <a:ext cx="17526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4419600" y="3962400"/>
            <a:ext cx="4572000" cy="2667000"/>
            <a:chOff x="4267200" y="3657600"/>
            <a:chExt cx="4572000" cy="2667000"/>
          </a:xfrm>
        </p:grpSpPr>
        <p:graphicFrame>
          <p:nvGraphicFramePr>
            <p:cNvPr id="8" name="Chart 7"/>
            <p:cNvGraphicFramePr/>
            <p:nvPr/>
          </p:nvGraphicFramePr>
          <p:xfrm>
            <a:off x="4267200" y="3657600"/>
            <a:ext cx="4572000" cy="2667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cxnSp>
          <p:nvCxnSpPr>
            <p:cNvPr id="16" name="Straight Connector 15"/>
            <p:cNvCxnSpPr/>
            <p:nvPr/>
          </p:nvCxnSpPr>
          <p:spPr>
            <a:xfrm rot="5400000">
              <a:off x="6934200" y="4648200"/>
              <a:ext cx="18288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4114800" y="762000"/>
            <a:ext cx="48768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Stainless Steel and Diamond-Paste Polishing Good to ~ 5MV/m and 100kV.  </a:t>
            </a:r>
            <a:endParaRPr lang="en-US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95800" y="6488668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Work of Ken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Surles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-Law, Jefferson Lab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19600" y="1447800"/>
            <a:ext cx="4495800" cy="251460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419600" y="3962400"/>
            <a:ext cx="4495800" cy="251460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/>
          <p:nvPr/>
        </p:nvCxnSpPr>
        <p:spPr>
          <a:xfrm rot="5400000">
            <a:off x="6438900" y="5524500"/>
            <a:ext cx="381794" cy="7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rot="5400000" flipH="1" flipV="1">
            <a:off x="5372100" y="35433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181600" y="3657600"/>
            <a:ext cx="734817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5MV/m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096000" y="5105400"/>
            <a:ext cx="643125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100kV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28600" y="0"/>
            <a:ext cx="8686800" cy="762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  </a:t>
            </a:r>
            <a:r>
              <a:rPr lang="en-US" sz="3200" dirty="0" smtClean="0">
                <a:latin typeface="Comic Sans MS" pitchFamily="66" charset="0"/>
                <a:ea typeface="+mj-ea"/>
                <a:cs typeface="Arial" pitchFamily="34" charset="0"/>
              </a:rPr>
              <a:t>Let’s return to the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omic Sans MS" pitchFamily="66" charset="0"/>
                <a:ea typeface="+mj-ea"/>
                <a:cs typeface="Arial" pitchFamily="34" charset="0"/>
              </a:rPr>
              <a:t>Higher Voltage Gun…</a:t>
            </a:r>
            <a:endParaRPr kumimoji="0" lang="en-US" sz="40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Comic Sans MS" pitchFamily="66" charset="0"/>
              <a:ea typeface="+mj-ea"/>
              <a:cs typeface="Arial" pitchFamily="34" charset="0"/>
            </a:endParaRPr>
          </a:p>
        </p:txBody>
      </p:sp>
      <p:sp>
        <p:nvSpPr>
          <p:cNvPr id="3" name="Rectangle 4"/>
          <p:cNvSpPr txBox="1">
            <a:spLocks noChangeArrowheads="1"/>
          </p:cNvSpPr>
          <p:nvPr/>
        </p:nvSpPr>
        <p:spPr>
          <a:xfrm>
            <a:off x="152400" y="762000"/>
            <a:ext cx="8991600" cy="1524000"/>
          </a:xfrm>
          <a:prstGeom prst="rect">
            <a:avLst/>
          </a:prstGeom>
        </p:spPr>
        <p:txBody>
          <a:bodyPr/>
          <a:lstStyle/>
          <a:p>
            <a:pPr marL="174625" marR="0" lvl="0" indent="-174625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Helps achieve ALL goals….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174625" marR="0" lvl="0" indent="-174625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More UP time at CEBAF, better beam quality for Parity Violation experiments</a:t>
            </a:r>
          </a:p>
          <a:p>
            <a:pPr marL="174625" marR="0" lvl="0" indent="-174625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Longer lifetime at high average current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(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good for FEL and positron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source)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174625" marR="0" lvl="0" indent="-174625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Emittance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preservation at high bunch charge and peak current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381000" y="2362200"/>
            <a:ext cx="8582025" cy="4278313"/>
            <a:chOff x="381000" y="2579687"/>
            <a:chExt cx="8582025" cy="4278313"/>
          </a:xfrm>
        </p:grpSpPr>
        <p:sp>
          <p:nvSpPr>
            <p:cNvPr id="4" name="Rectangle 28"/>
            <p:cNvSpPr>
              <a:spLocks noChangeArrowheads="1"/>
            </p:cNvSpPr>
            <p:nvPr/>
          </p:nvSpPr>
          <p:spPr bwMode="auto">
            <a:xfrm>
              <a:off x="381000" y="2667000"/>
              <a:ext cx="2971800" cy="3693319"/>
            </a:xfrm>
            <a:prstGeom prst="rect">
              <a:avLst/>
            </a:prstGeom>
            <a:solidFill>
              <a:srgbClr val="F2E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177800" indent="-177800"/>
              <a:r>
                <a:rPr lang="en-US" sz="1800" b="0" dirty="0" smtClean="0">
                  <a:latin typeface="Arial" charset="0"/>
                </a:rPr>
                <a:t>High Voltage Issues:</a:t>
              </a:r>
              <a:endParaRPr lang="en-US" sz="1800" b="0" dirty="0">
                <a:latin typeface="Arial" charset="0"/>
              </a:endParaRPr>
            </a:p>
            <a:p>
              <a:pPr marL="177800" indent="-177800">
                <a:buFontTx/>
                <a:buChar char="•"/>
              </a:pPr>
              <a:r>
                <a:rPr lang="en-US" sz="1800" b="0" dirty="0" smtClean="0">
                  <a:solidFill>
                    <a:srgbClr val="3333CC"/>
                  </a:solidFill>
                  <a:latin typeface="Arial" charset="0"/>
                </a:rPr>
                <a:t>Field emission</a:t>
              </a:r>
              <a:endParaRPr lang="en-US" sz="1800" b="0" dirty="0">
                <a:solidFill>
                  <a:srgbClr val="3333CC"/>
                </a:solidFill>
                <a:latin typeface="Arial" charset="0"/>
              </a:endParaRPr>
            </a:p>
            <a:p>
              <a:pPr marL="176213" lvl="1" indent="-176213" eaLnBrk="0" hangingPunct="0">
                <a:buFontTx/>
                <a:buChar char="•"/>
              </a:pPr>
              <a:r>
                <a:rPr lang="en-US" dirty="0" smtClean="0">
                  <a:solidFill>
                    <a:srgbClr val="3333CC"/>
                  </a:solidFill>
                  <a:latin typeface="Arial" charset="0"/>
                </a:rPr>
                <a:t>Electrode design: reducing gradient and good beam optics</a:t>
              </a:r>
            </a:p>
            <a:p>
              <a:pPr marL="176213" lvl="1" indent="-176213" eaLnBrk="0" hangingPunct="0">
                <a:buFontTx/>
                <a:buChar char="•"/>
              </a:pPr>
              <a:r>
                <a:rPr lang="en-US" dirty="0" smtClean="0">
                  <a:solidFill>
                    <a:srgbClr val="3333CC"/>
                  </a:solidFill>
                  <a:latin typeface="Arial" charset="0"/>
                </a:rPr>
                <a:t>Hardware limitations at CEBAF (Capture, chopper)</a:t>
              </a:r>
            </a:p>
            <a:p>
              <a:pPr marL="176213" lvl="1" indent="-176213" eaLnBrk="0" hangingPunct="0"/>
              <a:r>
                <a:rPr lang="en-US" dirty="0" smtClean="0">
                  <a:latin typeface="Arial" charset="0"/>
                </a:rPr>
                <a:t>Improve Vacuum</a:t>
              </a:r>
            </a:p>
            <a:p>
              <a:pPr marL="176213" lvl="1" indent="-176213" eaLnBrk="0" hangingPunct="0">
                <a:buFont typeface="Arial" pitchFamily="34" charset="0"/>
                <a:buChar char="•"/>
              </a:pPr>
              <a:r>
                <a:rPr lang="en-US" dirty="0" smtClean="0">
                  <a:solidFill>
                    <a:srgbClr val="3333CC"/>
                  </a:solidFill>
                  <a:latin typeface="Arial" charset="0"/>
                </a:rPr>
                <a:t>Ion pumps</a:t>
              </a:r>
            </a:p>
            <a:p>
              <a:pPr marL="176213" lvl="1" indent="-176213" eaLnBrk="0" hangingPunct="0">
                <a:buFont typeface="Arial" pitchFamily="34" charset="0"/>
                <a:buChar char="•"/>
              </a:pPr>
              <a:r>
                <a:rPr lang="en-US" dirty="0" smtClean="0">
                  <a:solidFill>
                    <a:srgbClr val="3333CC"/>
                  </a:solidFill>
                  <a:latin typeface="Arial" charset="0"/>
                </a:rPr>
                <a:t>NEG pumps</a:t>
              </a:r>
            </a:p>
            <a:p>
              <a:pPr marL="176213" lvl="1" indent="-176213" eaLnBrk="0" hangingPunct="0">
                <a:buFont typeface="Arial" pitchFamily="34" charset="0"/>
                <a:buChar char="•"/>
              </a:pPr>
              <a:r>
                <a:rPr lang="en-US" dirty="0" err="1" smtClean="0">
                  <a:solidFill>
                    <a:srgbClr val="3333CC"/>
                  </a:solidFill>
                  <a:latin typeface="Arial" charset="0"/>
                </a:rPr>
                <a:t>Outgassing</a:t>
              </a:r>
              <a:endParaRPr lang="en-US" dirty="0" smtClean="0">
                <a:solidFill>
                  <a:srgbClr val="3333CC"/>
                </a:solidFill>
                <a:latin typeface="Arial" charset="0"/>
              </a:endParaRPr>
            </a:p>
            <a:p>
              <a:pPr marL="176213" lvl="1" indent="-176213" eaLnBrk="0" hangingPunct="0">
                <a:buFont typeface="Arial" pitchFamily="34" charset="0"/>
                <a:buChar char="•"/>
              </a:pPr>
              <a:r>
                <a:rPr lang="en-US" dirty="0" smtClean="0">
                  <a:solidFill>
                    <a:srgbClr val="3333CC"/>
                  </a:solidFill>
                  <a:latin typeface="Arial" charset="0"/>
                </a:rPr>
                <a:t>Gauges</a:t>
              </a:r>
            </a:p>
          </p:txBody>
        </p:sp>
        <p:pic>
          <p:nvPicPr>
            <p:cNvPr id="5" name="Picture 7" descr="Picture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581400" y="2579687"/>
              <a:ext cx="5381625" cy="4278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533400"/>
            <a:ext cx="3954463" cy="51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28600" y="0"/>
            <a:ext cx="8686800" cy="762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“Inverted” Gun</a:t>
            </a:r>
          </a:p>
        </p:txBody>
      </p: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6858000" y="304800"/>
            <a:ext cx="1992313" cy="2463800"/>
            <a:chOff x="2640" y="480"/>
            <a:chExt cx="1255" cy="1552"/>
          </a:xfrm>
        </p:grpSpPr>
        <p:pic>
          <p:nvPicPr>
            <p:cNvPr id="6" name="Picture 6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640" y="912"/>
              <a:ext cx="1255" cy="1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928" y="480"/>
              <a:ext cx="606" cy="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Line 12"/>
          <p:cNvSpPr>
            <a:spLocks noChangeShapeType="1"/>
          </p:cNvSpPr>
          <p:nvPr/>
        </p:nvSpPr>
        <p:spPr bwMode="auto">
          <a:xfrm>
            <a:off x="2241550" y="2784475"/>
            <a:ext cx="3048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2236788" y="2301875"/>
            <a:ext cx="352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>
                <a:solidFill>
                  <a:srgbClr val="3333CC"/>
                </a:solidFill>
              </a:rPr>
              <a:t>e</a:t>
            </a:r>
            <a:r>
              <a:rPr lang="en-US" baseline="30000">
                <a:solidFill>
                  <a:srgbClr val="3333CC"/>
                </a:solidFill>
              </a:rPr>
              <a:t>-</a:t>
            </a: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3141663" y="989013"/>
            <a:ext cx="2316162" cy="952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u="sng" dirty="0">
                <a:solidFill>
                  <a:srgbClr val="3333CC"/>
                </a:solidFill>
                <a:latin typeface="Arial" charset="0"/>
              </a:rPr>
              <a:t>Present Ceramic</a:t>
            </a:r>
          </a:p>
          <a:p>
            <a:pPr>
              <a:buFontTx/>
              <a:buChar char="•"/>
            </a:pPr>
            <a:r>
              <a:rPr lang="en-US" sz="1400" b="0" dirty="0">
                <a:solidFill>
                  <a:srgbClr val="3333CC"/>
                </a:solidFill>
                <a:latin typeface="Arial" charset="0"/>
              </a:rPr>
              <a:t> Exposed to field emission</a:t>
            </a:r>
          </a:p>
          <a:p>
            <a:pPr>
              <a:buFontTx/>
              <a:buChar char="•"/>
            </a:pPr>
            <a:r>
              <a:rPr lang="en-US" sz="1400" b="0" dirty="0">
                <a:solidFill>
                  <a:srgbClr val="3333CC"/>
                </a:solidFill>
                <a:latin typeface="Arial" charset="0"/>
              </a:rPr>
              <a:t> Large area</a:t>
            </a:r>
          </a:p>
          <a:p>
            <a:pPr>
              <a:buFontTx/>
              <a:buChar char="•"/>
            </a:pPr>
            <a:r>
              <a:rPr lang="en-US" sz="1400" b="0" dirty="0">
                <a:solidFill>
                  <a:srgbClr val="3333CC"/>
                </a:solidFill>
                <a:latin typeface="Arial" charset="0"/>
              </a:rPr>
              <a:t> Expensive (~$50k)</a:t>
            </a:r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 flipH="1">
            <a:off x="2692400" y="1935163"/>
            <a:ext cx="569913" cy="522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5911850" y="1060450"/>
            <a:ext cx="1531937" cy="5905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114300" indent="-114300" eaLnBrk="0" hangingPunct="0"/>
            <a:r>
              <a:rPr lang="en-US" sz="1600" b="0" dirty="0">
                <a:solidFill>
                  <a:schemeClr val="hlink"/>
                </a:solidFill>
                <a:latin typeface="Arial" charset="0"/>
              </a:rPr>
              <a:t>Medical x-ray technology</a:t>
            </a:r>
          </a:p>
        </p:txBody>
      </p:sp>
      <p:grpSp>
        <p:nvGrpSpPr>
          <p:cNvPr id="5" name="Group 20"/>
          <p:cNvGrpSpPr/>
          <p:nvPr/>
        </p:nvGrpSpPr>
        <p:grpSpPr>
          <a:xfrm>
            <a:off x="5257800" y="2895600"/>
            <a:ext cx="3505200" cy="3200400"/>
            <a:chOff x="5257800" y="3505200"/>
            <a:chExt cx="3505200" cy="320040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5"/>
            <a:srcRect l="10790" t="3780" r="12139" b="18328"/>
            <a:stretch>
              <a:fillRect/>
            </a:stretch>
          </p:blipFill>
          <p:spPr bwMode="auto">
            <a:xfrm>
              <a:off x="5257800" y="3505200"/>
              <a:ext cx="3505200" cy="30787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9" name="Text Box 11"/>
            <p:cNvSpPr txBox="1">
              <a:spLocks noChangeArrowheads="1"/>
            </p:cNvSpPr>
            <p:nvPr/>
          </p:nvSpPr>
          <p:spPr bwMode="auto">
            <a:xfrm>
              <a:off x="5867400" y="5334000"/>
              <a:ext cx="125386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sz="1600" dirty="0">
                  <a:solidFill>
                    <a:srgbClr val="F20000"/>
                  </a:solidFill>
                  <a:latin typeface="Arial" pitchFamily="34" charset="0"/>
                  <a:cs typeface="Arial" pitchFamily="34" charset="0"/>
                </a:rPr>
                <a:t>New design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153400" y="6248400"/>
              <a:ext cx="533400" cy="381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638800" y="61722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4387850" y="2432050"/>
            <a:ext cx="1260281" cy="738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u="sng" dirty="0">
                <a:solidFill>
                  <a:schemeClr val="hlink"/>
                </a:solidFill>
                <a:latin typeface="Arial" charset="0"/>
              </a:rPr>
              <a:t>New </a:t>
            </a:r>
            <a:r>
              <a:rPr lang="en-US" sz="1400" u="sng" dirty="0" smtClean="0">
                <a:solidFill>
                  <a:schemeClr val="hlink"/>
                </a:solidFill>
                <a:latin typeface="Arial" charset="0"/>
              </a:rPr>
              <a:t>Ceramic</a:t>
            </a:r>
            <a:endParaRPr lang="en-US" sz="1400" b="0" dirty="0">
              <a:solidFill>
                <a:schemeClr val="hlink"/>
              </a:solidFill>
              <a:latin typeface="Arial" charset="0"/>
            </a:endParaRPr>
          </a:p>
          <a:p>
            <a:pPr>
              <a:buFontTx/>
              <a:buChar char="•"/>
            </a:pPr>
            <a:r>
              <a:rPr lang="en-US" sz="1400" b="0" dirty="0">
                <a:solidFill>
                  <a:schemeClr val="hlink"/>
                </a:solidFill>
                <a:latin typeface="Arial" charset="0"/>
              </a:rPr>
              <a:t> Compact</a:t>
            </a:r>
          </a:p>
          <a:p>
            <a:pPr>
              <a:buFontTx/>
              <a:buChar char="•"/>
            </a:pPr>
            <a:r>
              <a:rPr lang="en-US" sz="1400" b="0" dirty="0">
                <a:solidFill>
                  <a:schemeClr val="hlink"/>
                </a:solidFill>
                <a:latin typeface="Arial" charset="0"/>
              </a:rPr>
              <a:t> ~$5k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5638800" y="3124200"/>
            <a:ext cx="11430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6019800"/>
            <a:ext cx="83058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Arial" pitchFamily="34" charset="0"/>
                <a:cs typeface="Arial" pitchFamily="34" charset="0"/>
              </a:rPr>
              <a:t>Want to move away from “conventional” insulator used on </a:t>
            </a:r>
            <a:r>
              <a:rPr lang="en-US" b="1" u="sng" dirty="0" smtClean="0">
                <a:latin typeface="Arial" pitchFamily="34" charset="0"/>
                <a:cs typeface="Arial" pitchFamily="34" charset="0"/>
              </a:rPr>
              <a:t>all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GaAs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photoguns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today – expensive, months to build, prone to damage from field emission. 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066800" y="5029200"/>
            <a:ext cx="20574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24000" y="5029200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 smtClean="0"/>
              <a:t>neg</a:t>
            </a:r>
            <a:r>
              <a:rPr lang="en-US" sz="1400" dirty="0" smtClean="0"/>
              <a:t> modules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rinity 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3505200"/>
            <a:ext cx="3556000" cy="266700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2133600" y="2087940"/>
            <a:ext cx="2286049" cy="4770060"/>
            <a:chOff x="2438400" y="1295400"/>
            <a:chExt cx="2286049" cy="4770060"/>
          </a:xfrm>
        </p:grpSpPr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628900" y="1295400"/>
              <a:ext cx="2057499" cy="30850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" name="TextBox 4"/>
            <p:cNvSpPr txBox="1"/>
            <p:nvPr/>
          </p:nvSpPr>
          <p:spPr>
            <a:xfrm>
              <a:off x="2438400" y="4495800"/>
              <a:ext cx="228604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Arial" pitchFamily="34" charset="0"/>
                  <a:cs typeface="Arial" pitchFamily="34" charset="0"/>
                </a:rPr>
                <a:t>Replace conventional ceramic insulator with “Inverted” insulator:  no SF6 and no HV breakdown outside chamber</a:t>
              </a:r>
              <a:endParaRPr lang="en-US" sz="16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90500" y="2087940"/>
            <a:ext cx="2057499" cy="4523839"/>
            <a:chOff x="342900" y="1295400"/>
            <a:chExt cx="2057499" cy="4523839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4" cstate="print"/>
            <a:stretch>
              <a:fillRect/>
            </a:stretch>
          </p:blipFill>
          <p:spPr bwMode="auto">
            <a:xfrm>
              <a:off x="342900" y="1295400"/>
              <a:ext cx="2057499" cy="30850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TextBox 7"/>
            <p:cNvSpPr txBox="1"/>
            <p:nvPr/>
          </p:nvSpPr>
          <p:spPr>
            <a:xfrm>
              <a:off x="381000" y="4495800"/>
              <a:ext cx="19812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Arial" pitchFamily="34" charset="0"/>
                  <a:cs typeface="Arial" pitchFamily="34" charset="0"/>
                </a:rPr>
                <a:t>Conventional geometry: cathode electrode mounted on metal support structure</a:t>
              </a:r>
              <a:endParaRPr lang="en-US" sz="1600" dirty="0">
                <a:latin typeface="Arial" pitchFamily="34" charset="0"/>
                <a:cs typeface="Arial" pitchFamily="34" charset="0"/>
              </a:endParaRPr>
            </a:p>
          </p:txBody>
        </p:sp>
      </p:grpSp>
      <p:cxnSp>
        <p:nvCxnSpPr>
          <p:cNvPr id="9" name="Straight Arrow Connector 8"/>
          <p:cNvCxnSpPr/>
          <p:nvPr/>
        </p:nvCxnSpPr>
        <p:spPr>
          <a:xfrm>
            <a:off x="4038600" y="3581400"/>
            <a:ext cx="2667000" cy="762000"/>
          </a:xfrm>
          <a:prstGeom prst="straightConnector1">
            <a:avLst/>
          </a:prstGeom>
          <a:ln w="381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304800"/>
            <a:ext cx="4191000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Single Crystal Niobium:</a:t>
            </a:r>
          </a:p>
          <a:p>
            <a:pPr marL="120650" indent="-120650">
              <a:buFont typeface="Arial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Capable of operation at higher voltage and gradient</a:t>
            </a:r>
          </a:p>
          <a:p>
            <a:pPr marL="120650" indent="-120650">
              <a:buFont typeface="Arial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Buffer chemical polish (BCP) much easier than diamond-paste-polish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4400" y="61722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Work of Ken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Surles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-Law, Jefferson Lab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9" name="Chart 18"/>
          <p:cNvGraphicFramePr/>
          <p:nvPr/>
        </p:nvGraphicFramePr>
        <p:xfrm>
          <a:off x="4495800" y="228600"/>
          <a:ext cx="4495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295429" y="6488668"/>
            <a:ext cx="4848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Thanks to P. </a:t>
            </a:r>
            <a:r>
              <a:rPr lang="en-US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Kneisel</a:t>
            </a:r>
            <a:r>
              <a:rPr lang="en-US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, L. </a:t>
            </a:r>
            <a:r>
              <a:rPr lang="en-US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Turlington</a:t>
            </a:r>
            <a:r>
              <a:rPr lang="en-US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, G. </a:t>
            </a:r>
            <a:r>
              <a:rPr lang="en-US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Myneni</a:t>
            </a:r>
            <a:endParaRPr lang="en-US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914400"/>
            <a:ext cx="914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So, our gun plans are…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repair, test the original LL GUN (back in the Test Cave)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build a new inverted style gun (working beginning in EEL/Test Cave)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continue HV modeling gun for acceptable gradient/geometry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preparing new SS and Niobium electrodes for inverted gun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install new 150kV PS</a:t>
            </a:r>
          </a:p>
          <a:p>
            <a:endParaRPr lang="en-US" sz="2400" dirty="0" smtClean="0"/>
          </a:p>
          <a:p>
            <a:r>
              <a:rPr lang="en-US" sz="2400" dirty="0" smtClean="0"/>
              <a:t>Our plans are to install and operate higher voltage inverted gun, using existing preparation chamber, this summer.</a:t>
            </a:r>
            <a:r>
              <a:rPr lang="en-US" sz="2000" dirty="0" smtClean="0"/>
              <a:t>	</a:t>
            </a:r>
            <a:endParaRPr lang="en-US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2362200" y="304800"/>
            <a:ext cx="45111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Comic Sans MS" pitchFamily="66" charset="0"/>
              </a:rPr>
              <a:t>The horizon is … NOW</a:t>
            </a:r>
            <a:endParaRPr lang="en-US" sz="3200" dirty="0">
              <a:latin typeface="Comic Sans MS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81200" y="4590871"/>
            <a:ext cx="53832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Comic Sans MS" pitchFamily="66" charset="0"/>
              </a:rPr>
              <a:t>…and if that’s not enough….</a:t>
            </a:r>
            <a:endParaRPr lang="en-US" sz="3200" dirty="0"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5429071"/>
            <a:ext cx="876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 PREX experiment requires the ability to flip the electron polarization 180 degrees.  Our plan is to do this with a new, second Wien filter &amp; spin rotation solenoid magnet…. 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895600"/>
            <a:ext cx="9144000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3520065" y="152400"/>
            <a:ext cx="22711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Summer ‘09 SAD</a:t>
            </a:r>
            <a:endParaRPr lang="en-US" sz="2400" dirty="0"/>
          </a:p>
        </p:txBody>
      </p:sp>
      <p:sp>
        <p:nvSpPr>
          <p:cNvPr id="4" name="Line Callout 1 3"/>
          <p:cNvSpPr/>
          <p:nvPr/>
        </p:nvSpPr>
        <p:spPr>
          <a:xfrm>
            <a:off x="2514600" y="762000"/>
            <a:ext cx="2438400" cy="1905000"/>
          </a:xfrm>
          <a:prstGeom prst="borderCallout1">
            <a:avLst>
              <a:gd name="adj1" fmla="val 98750"/>
              <a:gd name="adj2" fmla="val 9656"/>
              <a:gd name="adj3" fmla="val 163357"/>
              <a:gd name="adj4" fmla="val -30510"/>
            </a:avLst>
          </a:prstGeom>
          <a:solidFill>
            <a:schemeClr val="bg1"/>
          </a:solidFill>
          <a:ln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Install “Inverted” HV chamber with capabilities for higher voltage, anticipating better transmission &amp; photocathode lifetime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Line Callout 1 4"/>
          <p:cNvSpPr/>
          <p:nvPr/>
        </p:nvSpPr>
        <p:spPr>
          <a:xfrm>
            <a:off x="152400" y="381000"/>
            <a:ext cx="2133600" cy="1143000"/>
          </a:xfrm>
          <a:prstGeom prst="borderCallout1">
            <a:avLst>
              <a:gd name="adj1" fmla="val 98750"/>
              <a:gd name="adj2" fmla="val 9656"/>
              <a:gd name="adj3" fmla="val 269643"/>
              <a:gd name="adj4" fmla="val 37857"/>
            </a:avLst>
          </a:prstGeom>
          <a:solidFill>
            <a:schemeClr val="bg1"/>
          </a:solidFill>
          <a:ln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Same good photocathode PREP and LOAD chambers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Line Callout 1 5"/>
          <p:cNvSpPr/>
          <p:nvPr/>
        </p:nvSpPr>
        <p:spPr>
          <a:xfrm>
            <a:off x="5791200" y="609600"/>
            <a:ext cx="3276600" cy="3048000"/>
          </a:xfrm>
          <a:prstGeom prst="borderCallout1">
            <a:avLst>
              <a:gd name="adj1" fmla="val 99825"/>
              <a:gd name="adj2" fmla="val 42309"/>
              <a:gd name="adj3" fmla="val 110048"/>
              <a:gd name="adj4" fmla="val 54524"/>
            </a:avLst>
          </a:prstGeom>
          <a:solidFill>
            <a:schemeClr val="bg1"/>
          </a:solidFill>
          <a:ln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smtClean="0">
                <a:solidFill>
                  <a:schemeClr val="tx1"/>
                </a:solidFill>
              </a:rPr>
              <a:t>Spin Flipper: Stage 1</a:t>
            </a:r>
          </a:p>
          <a:p>
            <a:pPr algn="ctr"/>
            <a:endParaRPr lang="en-US" u="sng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 Remove unbaked girder region between valve &amp; chopper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 Install new “normal” Wien for Physics program, with quad correction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 Thoroughly test &amp; transfer functionality for setting pol.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 No need to move laser room.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ight Brace 6"/>
          <p:cNvSpPr/>
          <p:nvPr/>
        </p:nvSpPr>
        <p:spPr>
          <a:xfrm rot="16200000">
            <a:off x="7353300" y="2933700"/>
            <a:ext cx="381000" cy="2438400"/>
          </a:xfrm>
          <a:prstGeom prst="righ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ine Callout 1 7"/>
          <p:cNvSpPr/>
          <p:nvPr/>
        </p:nvSpPr>
        <p:spPr>
          <a:xfrm>
            <a:off x="3276600" y="2895600"/>
            <a:ext cx="2286000" cy="762000"/>
          </a:xfrm>
          <a:prstGeom prst="borderCallout1">
            <a:avLst>
              <a:gd name="adj1" fmla="val 102423"/>
              <a:gd name="adj2" fmla="val 42169"/>
              <a:gd name="adj3" fmla="val 136819"/>
              <a:gd name="adj4" fmla="val 63658"/>
            </a:avLst>
          </a:prstGeom>
          <a:solidFill>
            <a:schemeClr val="bg1"/>
          </a:solidFill>
          <a:ln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Preserve baked region, continue R&amp;D/BS during Fall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ight Brace 8"/>
          <p:cNvSpPr/>
          <p:nvPr/>
        </p:nvSpPr>
        <p:spPr>
          <a:xfrm rot="16200000">
            <a:off x="4572000" y="2667000"/>
            <a:ext cx="380999" cy="2971800"/>
          </a:xfrm>
          <a:prstGeom prst="righ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086600" y="5105400"/>
            <a:ext cx="1295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H-Wien + Quads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rot="5400000" flipH="1" flipV="1">
            <a:off x="8266906" y="5523706"/>
            <a:ext cx="990600" cy="1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81800" y="6096000"/>
            <a:ext cx="2359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Harp/A2 “match point”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857500"/>
            <a:ext cx="9144000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3786830" y="147935"/>
            <a:ext cx="2080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Winter ‘10 SAD</a:t>
            </a:r>
            <a:endParaRPr lang="en-US" sz="2400" dirty="0"/>
          </a:p>
        </p:txBody>
      </p:sp>
      <p:sp>
        <p:nvSpPr>
          <p:cNvPr id="4" name="Line Callout 1 3"/>
          <p:cNvSpPr/>
          <p:nvPr/>
        </p:nvSpPr>
        <p:spPr>
          <a:xfrm>
            <a:off x="76200" y="381000"/>
            <a:ext cx="2133600" cy="1143000"/>
          </a:xfrm>
          <a:prstGeom prst="borderCallout1">
            <a:avLst>
              <a:gd name="adj1" fmla="val 98750"/>
              <a:gd name="adj2" fmla="val 9656"/>
              <a:gd name="adj3" fmla="val 269643"/>
              <a:gd name="adj4" fmla="val 37857"/>
            </a:avLst>
          </a:prstGeom>
          <a:solidFill>
            <a:schemeClr val="bg1"/>
          </a:solidFill>
          <a:ln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Same good photocathode PREP and LOAD chambers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Line Callout 1 4"/>
          <p:cNvSpPr/>
          <p:nvPr/>
        </p:nvSpPr>
        <p:spPr>
          <a:xfrm>
            <a:off x="1524000" y="1676400"/>
            <a:ext cx="1752600" cy="1219200"/>
          </a:xfrm>
          <a:prstGeom prst="borderCallout1">
            <a:avLst>
              <a:gd name="adj1" fmla="val 98750"/>
              <a:gd name="adj2" fmla="val 36985"/>
              <a:gd name="adj3" fmla="val 177643"/>
              <a:gd name="adj4" fmla="val 21043"/>
            </a:avLst>
          </a:prstGeom>
          <a:solidFill>
            <a:schemeClr val="bg1"/>
          </a:solidFill>
          <a:ln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Same “Inverted” Gun, tested at higher voltage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Line Callout 1 5"/>
          <p:cNvSpPr/>
          <p:nvPr/>
        </p:nvSpPr>
        <p:spPr>
          <a:xfrm>
            <a:off x="7086600" y="762000"/>
            <a:ext cx="1981200" cy="1143000"/>
          </a:xfrm>
          <a:prstGeom prst="borderCallout1">
            <a:avLst>
              <a:gd name="adj1" fmla="val 101607"/>
              <a:gd name="adj2" fmla="val 34656"/>
              <a:gd name="adj3" fmla="val 274405"/>
              <a:gd name="adj4" fmla="val 40170"/>
            </a:avLst>
          </a:prstGeom>
          <a:solidFill>
            <a:schemeClr val="bg1"/>
          </a:solidFill>
          <a:ln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Same  Wien filter to set longitudinal polarization for Physics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ight Brace 6"/>
          <p:cNvSpPr/>
          <p:nvPr/>
        </p:nvSpPr>
        <p:spPr>
          <a:xfrm rot="16200000">
            <a:off x="7353300" y="2933700"/>
            <a:ext cx="381000" cy="2438400"/>
          </a:xfrm>
          <a:prstGeom prst="righ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/>
          <p:cNvSpPr/>
          <p:nvPr/>
        </p:nvSpPr>
        <p:spPr>
          <a:xfrm rot="16200000">
            <a:off x="4572000" y="2667000"/>
            <a:ext cx="380999" cy="2971800"/>
          </a:xfrm>
          <a:prstGeom prst="righ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ine Callout 1 8"/>
          <p:cNvSpPr/>
          <p:nvPr/>
        </p:nvSpPr>
        <p:spPr>
          <a:xfrm>
            <a:off x="3581400" y="685800"/>
            <a:ext cx="3200400" cy="2590800"/>
          </a:xfrm>
          <a:prstGeom prst="borderCallout1">
            <a:avLst>
              <a:gd name="adj1" fmla="val 99825"/>
              <a:gd name="adj2" fmla="val 42309"/>
              <a:gd name="adj3" fmla="val 125594"/>
              <a:gd name="adj4" fmla="val 37517"/>
            </a:avLst>
          </a:prstGeom>
          <a:solidFill>
            <a:schemeClr val="bg1"/>
          </a:solidFill>
          <a:ln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smtClean="0">
                <a:solidFill>
                  <a:schemeClr val="tx1"/>
                </a:solidFill>
              </a:rPr>
              <a:t>Spin Flipper: Stage 2</a:t>
            </a:r>
          </a:p>
          <a:p>
            <a:pPr algn="ctr"/>
            <a:endParaRPr lang="en-US" u="sng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 Replace baked region with spin flipper (vertical Wien filter + solenoid(s).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 May be tilted pole Wien designed specifically for 90 deg operation at given known gun voltage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2800" y="5029200"/>
            <a:ext cx="1295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Spin Flip</a:t>
            </a:r>
          </a:p>
          <a:p>
            <a:pPr algn="ctr"/>
            <a:r>
              <a:rPr lang="en-US" dirty="0" smtClean="0"/>
              <a:t>V-Wien 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rot="5400000" flipH="1" flipV="1">
            <a:off x="5447506" y="5523706"/>
            <a:ext cx="990600" cy="1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97122" y="6019800"/>
            <a:ext cx="2027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Harp “match point”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724400" y="5029200"/>
            <a:ext cx="1143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Spin Flip Solenoid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600" y="5105400"/>
            <a:ext cx="1295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H-Wien + Quads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rot="5400000" flipH="1" flipV="1">
            <a:off x="8266906" y="5523706"/>
            <a:ext cx="990600" cy="1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81800" y="6096000"/>
            <a:ext cx="2359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Harp/A2 “match point”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600200"/>
            <a:ext cx="78309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 smtClean="0">
                <a:latin typeface="Jokerman" pitchFamily="82" charset="0"/>
              </a:rPr>
              <a:t>The End</a:t>
            </a:r>
          </a:p>
          <a:p>
            <a:pPr algn="ctr"/>
            <a:endParaRPr lang="en-US" sz="3200" dirty="0" smtClean="0">
              <a:latin typeface="Jokerman" pitchFamily="82" charset="0"/>
            </a:endParaRPr>
          </a:p>
          <a:p>
            <a:pPr algn="ctr"/>
            <a:r>
              <a:rPr lang="en-US" sz="3200" dirty="0" smtClean="0">
                <a:latin typeface="Jokerman" pitchFamily="82" charset="0"/>
              </a:rPr>
              <a:t>(unless you want a few more slides…)</a:t>
            </a:r>
            <a:endParaRPr lang="en-US" sz="3200" dirty="0">
              <a:latin typeface="Jokerman" pitchFamily="82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4876800" y="838200"/>
            <a:ext cx="4191000" cy="3505200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solidFill>
              <a:srgbClr val="00B0F0">
                <a:alpha val="2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6200" y="838200"/>
            <a:ext cx="4114800" cy="35052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rgbClr val="00B0F0">
                <a:alpha val="2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6200" y="4800600"/>
          <a:ext cx="5181600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05000"/>
                <a:gridCol w="1752600"/>
                <a:gridCol w="1524000"/>
              </a:tblGrid>
              <a:tr h="40005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Source Property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E-166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Experiment</a:t>
                      </a:r>
                    </a:p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PRL 100, 210801 (2008)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J. Dumas et al.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Proc.</a:t>
                      </a:r>
                      <a:r>
                        <a:rPr lang="en-US" sz="1200" b="1" baseline="0" dirty="0" smtClean="0">
                          <a:solidFill>
                            <a:schemeClr val="tx1"/>
                          </a:solidFill>
                        </a:rPr>
                        <a:t> Spin 2008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5000"/>
                      </a:srgbClr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Electron beam energy</a:t>
                      </a:r>
                      <a:endParaRPr lang="en-US" sz="12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50 GeV -</a:t>
                      </a:r>
                      <a:r>
                        <a:rPr lang="en-US" sz="1200" baseline="0" dirty="0" smtClean="0"/>
                        <a:t> Undulator</a:t>
                      </a:r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10 MeV - Conversion</a:t>
                      </a:r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5000"/>
                      </a:srgbClr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Electron beam polarization</a:t>
                      </a:r>
                      <a:endParaRPr lang="en-US" sz="12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Unpolarized</a:t>
                      </a:r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85%</a:t>
                      </a:r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5000"/>
                      </a:srgbClr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Photo Production</a:t>
                      </a:r>
                      <a:endParaRPr lang="en-US" sz="12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Synchrotron</a:t>
                      </a:r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Bremsstrahlung</a:t>
                      </a:r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5000"/>
                      </a:srgbClr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Converter Target</a:t>
                      </a:r>
                      <a:endParaRPr lang="en-US" sz="12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Tungsten Foil</a:t>
                      </a:r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Tungsten Foil</a:t>
                      </a:r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5000"/>
                      </a:srgbClr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Positron</a:t>
                      </a:r>
                      <a:r>
                        <a:rPr lang="en-US" sz="1200" baseline="0" dirty="0" smtClean="0"/>
                        <a:t> Polarization</a:t>
                      </a:r>
                      <a:endParaRPr lang="en-US" sz="12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80% (measured)</a:t>
                      </a:r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40% (Simulation)</a:t>
                      </a:r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447800" y="76200"/>
            <a:ext cx="6700873" cy="646331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Comic Sans MS" pitchFamily="66" charset="0"/>
              </a:rPr>
              <a:t>PhD Thesis: </a:t>
            </a:r>
            <a:r>
              <a:rPr lang="en-US" i="1" u="sng" dirty="0" smtClean="0">
                <a:latin typeface="Comic Sans MS" pitchFamily="66" charset="0"/>
              </a:rPr>
              <a:t>Polarized Positrons for JLab</a:t>
            </a:r>
            <a:r>
              <a:rPr lang="en-US" dirty="0" smtClean="0">
                <a:latin typeface="Comic Sans MS" pitchFamily="66" charset="0"/>
              </a:rPr>
              <a:t>, </a:t>
            </a:r>
            <a:r>
              <a:rPr lang="en-US" b="1" dirty="0" smtClean="0">
                <a:latin typeface="Comic Sans MS" pitchFamily="66" charset="0"/>
              </a:rPr>
              <a:t>Jonathan DUMAS</a:t>
            </a:r>
            <a:endParaRPr lang="en-US" dirty="0" smtClean="0">
              <a:latin typeface="Comic Sans MS" pitchFamily="66" charset="0"/>
            </a:endParaRPr>
          </a:p>
          <a:p>
            <a:pPr algn="ctr"/>
            <a:r>
              <a:rPr lang="en-US" dirty="0" smtClean="0">
                <a:latin typeface="Comic Sans MS" pitchFamily="66" charset="0"/>
              </a:rPr>
              <a:t>Advisors: Eric </a:t>
            </a:r>
            <a:r>
              <a:rPr lang="en-US" dirty="0" err="1" smtClean="0">
                <a:latin typeface="Comic Sans MS" pitchFamily="66" charset="0"/>
              </a:rPr>
              <a:t>Voutier</a:t>
            </a:r>
            <a:r>
              <a:rPr lang="en-US" dirty="0" smtClean="0">
                <a:latin typeface="Comic Sans MS" pitchFamily="66" charset="0"/>
              </a:rPr>
              <a:t>, LPSC and Joe Grames, JLab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4226" y="1447800"/>
            <a:ext cx="3768174" cy="2667000"/>
          </a:xfrm>
          <a:prstGeom prst="rect">
            <a:avLst/>
          </a:prstGeom>
          <a:noFill/>
          <a:ln w="31750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0" y="862012"/>
            <a:ext cx="41381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ILC Polarized e+ Schemes/Demos</a:t>
            </a:r>
          </a:p>
          <a:p>
            <a:pPr algn="ctr"/>
            <a:r>
              <a:rPr lang="en-US" b="1" dirty="0" smtClean="0"/>
              <a:t>(synchrotron/Compton polarized photon)</a:t>
            </a:r>
            <a:endParaRPr lang="en-US" b="1" dirty="0"/>
          </a:p>
        </p:txBody>
      </p:sp>
      <p:pic>
        <p:nvPicPr>
          <p:cNvPr id="16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3000" y="1371600"/>
            <a:ext cx="4066730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TextBox 16"/>
          <p:cNvSpPr txBox="1"/>
          <p:nvPr/>
        </p:nvSpPr>
        <p:spPr>
          <a:xfrm>
            <a:off x="5133530" y="801469"/>
            <a:ext cx="37812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Conventional un-polarized e+ Scheme</a:t>
            </a:r>
          </a:p>
          <a:p>
            <a:pPr algn="ctr"/>
            <a:r>
              <a:rPr lang="en-US" b="1" dirty="0" smtClean="0"/>
              <a:t>(bremsstrahlung photon)</a:t>
            </a:r>
          </a:p>
        </p:txBody>
      </p:sp>
      <p:sp>
        <p:nvSpPr>
          <p:cNvPr id="18" name="Cross 17"/>
          <p:cNvSpPr>
            <a:spLocks noChangeAspect="1"/>
          </p:cNvSpPr>
          <p:nvPr/>
        </p:nvSpPr>
        <p:spPr>
          <a:xfrm>
            <a:off x="6874690" y="2450772"/>
            <a:ext cx="240040" cy="240040"/>
          </a:xfrm>
          <a:prstGeom prst="plus">
            <a:avLst>
              <a:gd name="adj" fmla="val 3896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81130" y="3300412"/>
            <a:ext cx="4039800" cy="9667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1" name="Rectangle 20"/>
          <p:cNvSpPr/>
          <p:nvPr/>
        </p:nvSpPr>
        <p:spPr>
          <a:xfrm>
            <a:off x="5057330" y="2706469"/>
            <a:ext cx="4038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/>
              <a:t>High Polarization, High Current e- Gun</a:t>
            </a:r>
          </a:p>
          <a:p>
            <a:pPr algn="ctr"/>
            <a:r>
              <a:rPr lang="en-US" b="1" dirty="0" smtClean="0"/>
              <a:t>(</a:t>
            </a:r>
            <a:r>
              <a:rPr lang="en-US" b="1" i="1" dirty="0" smtClean="0"/>
              <a:t>polarized</a:t>
            </a:r>
            <a:r>
              <a:rPr lang="en-US" b="1" dirty="0" smtClean="0"/>
              <a:t> </a:t>
            </a:r>
            <a:r>
              <a:rPr lang="en-US" b="1" i="1" dirty="0" smtClean="0"/>
              <a:t>bremsstrahlung</a:t>
            </a:r>
            <a:r>
              <a:rPr lang="en-US" b="1" dirty="0" smtClean="0"/>
              <a:t> photon)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7200" y="2514600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smtClean="0"/>
              <a:t>OR</a:t>
            </a:r>
            <a:endParaRPr lang="en-US" b="1" i="1" dirty="0"/>
          </a:p>
        </p:txBody>
      </p:sp>
      <p:sp>
        <p:nvSpPr>
          <p:cNvPr id="23" name="TextBox 22"/>
          <p:cNvSpPr txBox="1"/>
          <p:nvPr/>
        </p:nvSpPr>
        <p:spPr>
          <a:xfrm>
            <a:off x="5791200" y="4658142"/>
            <a:ext cx="3276600" cy="2123658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mic Sans MS" pitchFamily="66" charset="0"/>
              </a:rPr>
              <a:t>Positron Yield scales with Beam Power</a:t>
            </a:r>
          </a:p>
          <a:p>
            <a:pPr>
              <a:buFont typeface="Arial" pitchFamily="34" charset="0"/>
              <a:buChar char="•"/>
            </a:pPr>
            <a:r>
              <a:rPr lang="en-US" sz="1200" dirty="0">
                <a:latin typeface="Comic Sans MS" pitchFamily="66" charset="0"/>
              </a:rPr>
              <a:t> </a:t>
            </a:r>
            <a:r>
              <a:rPr lang="en-US" sz="1200" dirty="0" smtClean="0">
                <a:latin typeface="Comic Sans MS" pitchFamily="66" charset="0"/>
              </a:rPr>
              <a:t>Replace GeV-pulsed with MeV-CW</a:t>
            </a:r>
          </a:p>
          <a:p>
            <a:pPr lvl="1"/>
            <a:endParaRPr lang="en-US" sz="1200" dirty="0" smtClean="0">
              <a:latin typeface="Comic Sans MS" pitchFamily="66" charset="0"/>
            </a:endParaRPr>
          </a:p>
          <a:p>
            <a:r>
              <a:rPr lang="en-US" sz="1200" dirty="0" smtClean="0">
                <a:latin typeface="Comic Sans MS" pitchFamily="66" charset="0"/>
              </a:rPr>
              <a:t>Reduce radiation budget</a:t>
            </a:r>
          </a:p>
          <a:p>
            <a:pPr>
              <a:buFont typeface="Arial" pitchFamily="34" charset="0"/>
              <a:buChar char="•"/>
            </a:pPr>
            <a:r>
              <a:rPr lang="en-US" sz="1200" dirty="0">
                <a:latin typeface="Comic Sans MS" pitchFamily="66" charset="0"/>
              </a:rPr>
              <a:t> </a:t>
            </a:r>
            <a:r>
              <a:rPr lang="en-US" sz="1200" dirty="0" smtClean="0">
                <a:latin typeface="Comic Sans MS" pitchFamily="66" charset="0"/>
              </a:rPr>
              <a:t>Remain below photo-neutron threshold</a:t>
            </a:r>
          </a:p>
          <a:p>
            <a:endParaRPr lang="en-US" sz="1200" dirty="0" smtClean="0">
              <a:latin typeface="Comic Sans MS" pitchFamily="66" charset="0"/>
            </a:endParaRPr>
          </a:p>
          <a:p>
            <a:r>
              <a:rPr lang="en-US" sz="1200" dirty="0" smtClean="0">
                <a:latin typeface="Comic Sans MS" pitchFamily="66" charset="0"/>
              </a:rPr>
              <a:t>Bunch/Capture to SRF </a:t>
            </a:r>
            <a:r>
              <a:rPr lang="en-US" sz="1200" dirty="0" err="1" smtClean="0">
                <a:latin typeface="Comic Sans MS" pitchFamily="66" charset="0"/>
              </a:rPr>
              <a:t>linac</a:t>
            </a:r>
            <a:endParaRPr lang="en-US" sz="1200" dirty="0" smtClean="0">
              <a:latin typeface="Comic Sans MS" pitchFamily="66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1200" dirty="0">
                <a:latin typeface="Comic Sans MS" pitchFamily="66" charset="0"/>
              </a:rPr>
              <a:t> </a:t>
            </a:r>
            <a:r>
              <a:rPr lang="en-US" sz="1200" dirty="0" smtClean="0">
                <a:latin typeface="Comic Sans MS" pitchFamily="66" charset="0"/>
              </a:rPr>
              <a:t>Compact source vs. Damping Ring</a:t>
            </a:r>
          </a:p>
          <a:p>
            <a:endParaRPr lang="en-US" sz="1200" dirty="0" smtClean="0">
              <a:latin typeface="Comic Sans MS" pitchFamily="66" charset="0"/>
            </a:endParaRPr>
          </a:p>
          <a:p>
            <a:r>
              <a:rPr lang="en-US" sz="1200" dirty="0" smtClean="0">
                <a:latin typeface="Comic Sans MS" pitchFamily="66" charset="0"/>
              </a:rPr>
              <a:t>Unique capabilities</a:t>
            </a:r>
          </a:p>
          <a:p>
            <a:pPr>
              <a:buFont typeface="Arial" pitchFamily="34" charset="0"/>
              <a:buChar char="•"/>
            </a:pPr>
            <a:r>
              <a:rPr lang="en-US" sz="1200" dirty="0">
                <a:latin typeface="Comic Sans MS" pitchFamily="66" charset="0"/>
              </a:rPr>
              <a:t> </a:t>
            </a:r>
            <a:r>
              <a:rPr lang="en-US" sz="1200" dirty="0" smtClean="0">
                <a:latin typeface="Comic Sans MS" pitchFamily="66" charset="0"/>
              </a:rPr>
              <a:t>First CW source with </a:t>
            </a:r>
            <a:r>
              <a:rPr lang="en-US" sz="1200" dirty="0" err="1" smtClean="0">
                <a:latin typeface="Comic Sans MS" pitchFamily="66" charset="0"/>
              </a:rPr>
              <a:t>helicity</a:t>
            </a:r>
            <a:r>
              <a:rPr lang="en-US" sz="1200" dirty="0" smtClean="0">
                <a:latin typeface="Comic Sans MS" pitchFamily="66" charset="0"/>
              </a:rPr>
              <a:t> reversal</a:t>
            </a:r>
            <a:endParaRPr lang="en-US" sz="1200" dirty="0">
              <a:latin typeface="Comic Sans MS" pitchFamily="66" charset="0"/>
            </a:endParaRPr>
          </a:p>
        </p:txBody>
      </p:sp>
      <p:sp>
        <p:nvSpPr>
          <p:cNvPr id="26" name="Right Arrow 25"/>
          <p:cNvSpPr/>
          <p:nvPr/>
        </p:nvSpPr>
        <p:spPr>
          <a:xfrm rot="4272975">
            <a:off x="2699413" y="4526933"/>
            <a:ext cx="329475" cy="1434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/>
          <p:cNvSpPr/>
          <p:nvPr/>
        </p:nvSpPr>
        <p:spPr>
          <a:xfrm rot="7232964">
            <a:off x="4552765" y="4526202"/>
            <a:ext cx="329475" cy="14345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/>
          <p:cNvSpPr/>
          <p:nvPr/>
        </p:nvSpPr>
        <p:spPr>
          <a:xfrm>
            <a:off x="5410200" y="5638800"/>
            <a:ext cx="304800" cy="381000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590800" y="4081790"/>
            <a:ext cx="13131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smtClean="0"/>
              <a:t>T. Omori, Spin 2006</a:t>
            </a:r>
            <a:endParaRPr lang="en-US" sz="1050" dirty="0"/>
          </a:p>
        </p:txBody>
      </p:sp>
      <p:sp>
        <p:nvSpPr>
          <p:cNvPr id="20" name="Rectangle 19"/>
          <p:cNvSpPr/>
          <p:nvPr/>
        </p:nvSpPr>
        <p:spPr>
          <a:xfrm>
            <a:off x="381000" y="2590800"/>
            <a:ext cx="3434145" cy="2616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100" b="1" dirty="0" smtClean="0">
                <a:solidFill>
                  <a:prstClr val="black"/>
                </a:solidFill>
              </a:rPr>
              <a:t>E = 50 GeV                 L = 1m                  E-166 Experiment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04800" y="1447800"/>
            <a:ext cx="8610600" cy="1447800"/>
            <a:chOff x="96" y="1151"/>
            <a:chExt cx="5760" cy="1276"/>
          </a:xfrm>
        </p:grpSpPr>
        <p:pic>
          <p:nvPicPr>
            <p:cNvPr id="12" name="Picture 4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6" y="1296"/>
              <a:ext cx="3504" cy="8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3" name="Picture 5"/>
            <p:cNvPicPr>
              <a:picLocks noChangeAspect="1" noChangeArrowheads="1"/>
            </p:cNvPicPr>
            <p:nvPr/>
          </p:nvPicPr>
          <p:blipFill>
            <a:blip r:embed="rId3"/>
            <a:srcRect r="11476"/>
            <a:stretch>
              <a:fillRect/>
            </a:stretch>
          </p:blipFill>
          <p:spPr bwMode="auto">
            <a:xfrm>
              <a:off x="3264" y="1151"/>
              <a:ext cx="2592" cy="12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4" name="TextBox 23"/>
          <p:cNvSpPr txBox="1"/>
          <p:nvPr/>
        </p:nvSpPr>
        <p:spPr>
          <a:xfrm>
            <a:off x="437023" y="76200"/>
            <a:ext cx="6731331" cy="338554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>
                <a:latin typeface="Comic Sans MS" pitchFamily="66" charset="0"/>
              </a:rPr>
              <a:t>Proof of Principle Experiment:  extendible to higher energy (&amp; yield)</a:t>
            </a:r>
          </a:p>
        </p:txBody>
      </p:sp>
      <p:cxnSp>
        <p:nvCxnSpPr>
          <p:cNvPr id="53" name="Straight Arrow Connector 52"/>
          <p:cNvCxnSpPr/>
          <p:nvPr/>
        </p:nvCxnSpPr>
        <p:spPr>
          <a:xfrm flipV="1">
            <a:off x="5638800" y="1981200"/>
            <a:ext cx="685800" cy="60960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558950" y="838200"/>
            <a:ext cx="1670650" cy="461665"/>
          </a:xfrm>
          <a:prstGeom prst="rect">
            <a:avLst/>
          </a:prstGeom>
          <a:solidFill>
            <a:srgbClr val="00B050">
              <a:alpha val="10000"/>
            </a:srgb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>
                <a:latin typeface="Comic Sans MS" pitchFamily="66" charset="0"/>
              </a:rPr>
              <a:t>Precision Electron</a:t>
            </a:r>
          </a:p>
          <a:p>
            <a:pPr algn="ctr"/>
            <a:r>
              <a:rPr lang="en-US" sz="1200" dirty="0" smtClean="0">
                <a:latin typeface="Comic Sans MS" pitchFamily="66" charset="0"/>
              </a:rPr>
              <a:t>Spectrometer (~3%)</a:t>
            </a:r>
            <a:endParaRPr lang="en-US" sz="1200" dirty="0">
              <a:latin typeface="Comic Sans MS" pitchFamily="66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196775" y="304800"/>
            <a:ext cx="1871025" cy="461665"/>
          </a:xfrm>
          <a:prstGeom prst="rect">
            <a:avLst/>
          </a:prstGeom>
          <a:solidFill>
            <a:srgbClr val="7030A0">
              <a:alpha val="10000"/>
            </a:srgb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>
                <a:latin typeface="Comic Sans MS" pitchFamily="66" charset="0"/>
              </a:rPr>
              <a:t>Precision Electron</a:t>
            </a:r>
          </a:p>
          <a:p>
            <a:pPr algn="ctr"/>
            <a:r>
              <a:rPr lang="en-US" sz="1200" dirty="0" smtClean="0">
                <a:latin typeface="Comic Sans MS" pitchFamily="66" charset="0"/>
              </a:rPr>
              <a:t>Mott Polarimeter (~1%)</a:t>
            </a:r>
            <a:endParaRPr lang="en-US" sz="1200" dirty="0">
              <a:latin typeface="Comic Sans MS" pitchFamily="66" charset="0"/>
            </a:endParaRPr>
          </a:p>
        </p:txBody>
      </p:sp>
      <p:cxnSp>
        <p:nvCxnSpPr>
          <p:cNvPr id="61" name="Straight Arrow Connector 60"/>
          <p:cNvCxnSpPr/>
          <p:nvPr/>
        </p:nvCxnSpPr>
        <p:spPr>
          <a:xfrm rot="5400000">
            <a:off x="7314406" y="1524000"/>
            <a:ext cx="457994" cy="794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rot="5400000">
            <a:off x="7924006" y="1295400"/>
            <a:ext cx="1067594" cy="794"/>
          </a:xfrm>
          <a:prstGeom prst="straightConnector1">
            <a:avLst/>
          </a:prstGeom>
          <a:ln w="317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77"/>
          <p:cNvGrpSpPr/>
          <p:nvPr/>
        </p:nvGrpSpPr>
        <p:grpSpPr>
          <a:xfrm>
            <a:off x="1295400" y="2743200"/>
            <a:ext cx="2571540" cy="838200"/>
            <a:chOff x="1295400" y="2819400"/>
            <a:chExt cx="2571540" cy="838200"/>
          </a:xfrm>
        </p:grpSpPr>
        <p:grpSp>
          <p:nvGrpSpPr>
            <p:cNvPr id="4" name="Group 50"/>
            <p:cNvGrpSpPr/>
            <p:nvPr/>
          </p:nvGrpSpPr>
          <p:grpSpPr>
            <a:xfrm>
              <a:off x="1295400" y="2819400"/>
              <a:ext cx="2571540" cy="838200"/>
              <a:chOff x="6477000" y="2057400"/>
              <a:chExt cx="2571540" cy="838200"/>
            </a:xfrm>
          </p:grpSpPr>
          <p:sp>
            <p:nvSpPr>
              <p:cNvPr id="37" name="Rectangle 36"/>
              <p:cNvSpPr/>
              <p:nvPr/>
            </p:nvSpPr>
            <p:spPr>
              <a:xfrm>
                <a:off x="6477000" y="2057400"/>
                <a:ext cx="2514600" cy="762000"/>
              </a:xfrm>
              <a:prstGeom prst="rect">
                <a:avLst/>
              </a:prstGeom>
              <a:solidFill>
                <a:srgbClr val="00B0F0">
                  <a:alpha val="50000"/>
                </a:srgbClr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" name="Group 37"/>
              <p:cNvGrpSpPr/>
              <p:nvPr/>
            </p:nvGrpSpPr>
            <p:grpSpPr>
              <a:xfrm>
                <a:off x="6477000" y="2209800"/>
                <a:ext cx="437940" cy="461665"/>
                <a:chOff x="228600" y="685800"/>
                <a:chExt cx="437940" cy="461665"/>
              </a:xfrm>
            </p:grpSpPr>
            <p:sp>
              <p:nvSpPr>
                <p:cNvPr id="39" name="TextBox 38"/>
                <p:cNvSpPr txBox="1"/>
                <p:nvPr/>
              </p:nvSpPr>
              <p:spPr>
                <a:xfrm>
                  <a:off x="228600" y="685800"/>
                  <a:ext cx="43794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>
                      <a:latin typeface="Comic Sans MS" pitchFamily="66" charset="0"/>
                    </a:rPr>
                    <a:t>e</a:t>
                  </a:r>
                  <a:r>
                    <a:rPr lang="en-US" sz="2400" baseline="30000" dirty="0" smtClean="0">
                      <a:latin typeface="Comic Sans MS" pitchFamily="66" charset="0"/>
                    </a:rPr>
                    <a:t>-</a:t>
                  </a:r>
                  <a:endParaRPr lang="en-US" sz="2400" baseline="30000" dirty="0">
                    <a:latin typeface="Comic Sans MS" pitchFamily="66" charset="0"/>
                  </a:endParaRPr>
                </a:p>
              </p:txBody>
            </p:sp>
            <p:cxnSp>
              <p:nvCxnSpPr>
                <p:cNvPr id="40" name="Straight Arrow Connector 39"/>
                <p:cNvCxnSpPr/>
                <p:nvPr/>
              </p:nvCxnSpPr>
              <p:spPr>
                <a:xfrm>
                  <a:off x="304800" y="762000"/>
                  <a:ext cx="228600" cy="158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" name="Group 32"/>
              <p:cNvGrpSpPr/>
              <p:nvPr/>
            </p:nvGrpSpPr>
            <p:grpSpPr>
              <a:xfrm>
                <a:off x="7467600" y="2205335"/>
                <a:ext cx="311304" cy="461665"/>
                <a:chOff x="228600" y="685800"/>
                <a:chExt cx="311304" cy="461665"/>
              </a:xfrm>
            </p:grpSpPr>
            <p:sp>
              <p:nvSpPr>
                <p:cNvPr id="34" name="TextBox 33"/>
                <p:cNvSpPr txBox="1"/>
                <p:nvPr/>
              </p:nvSpPr>
              <p:spPr>
                <a:xfrm>
                  <a:off x="228600" y="685800"/>
                  <a:ext cx="31130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>
                      <a:latin typeface="Symbol" pitchFamily="18" charset="2"/>
                    </a:rPr>
                    <a:t>g</a:t>
                  </a:r>
                  <a:endParaRPr lang="en-US" sz="2400" baseline="30000" dirty="0">
                    <a:latin typeface="Symbol" pitchFamily="18" charset="2"/>
                  </a:endParaRPr>
                </a:p>
              </p:txBody>
            </p:sp>
            <p:cxnSp>
              <p:nvCxnSpPr>
                <p:cNvPr id="35" name="Straight Arrow Connector 34"/>
                <p:cNvCxnSpPr/>
                <p:nvPr/>
              </p:nvCxnSpPr>
              <p:spPr>
                <a:xfrm>
                  <a:off x="304800" y="762000"/>
                  <a:ext cx="228600" cy="158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" name="Group 40"/>
              <p:cNvGrpSpPr/>
              <p:nvPr/>
            </p:nvGrpSpPr>
            <p:grpSpPr>
              <a:xfrm>
                <a:off x="8382000" y="2129135"/>
                <a:ext cx="452368" cy="461665"/>
                <a:chOff x="228600" y="685800"/>
                <a:chExt cx="452368" cy="461665"/>
              </a:xfrm>
            </p:grpSpPr>
            <p:sp>
              <p:nvSpPr>
                <p:cNvPr id="42" name="TextBox 41"/>
                <p:cNvSpPr txBox="1"/>
                <p:nvPr/>
              </p:nvSpPr>
              <p:spPr>
                <a:xfrm>
                  <a:off x="228600" y="685800"/>
                  <a:ext cx="45236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>
                      <a:latin typeface="Comic Sans MS" pitchFamily="66" charset="0"/>
                    </a:rPr>
                    <a:t>e</a:t>
                  </a:r>
                  <a:r>
                    <a:rPr lang="en-US" sz="2400" baseline="30000" dirty="0" smtClean="0">
                      <a:latin typeface="Comic Sans MS" pitchFamily="66" charset="0"/>
                    </a:rPr>
                    <a:t>+</a:t>
                  </a:r>
                  <a:endParaRPr lang="en-US" sz="2400" baseline="30000" dirty="0">
                    <a:latin typeface="Comic Sans MS" pitchFamily="66" charset="0"/>
                  </a:endParaRPr>
                </a:p>
              </p:txBody>
            </p:sp>
            <p:cxnSp>
              <p:nvCxnSpPr>
                <p:cNvPr id="43" name="Straight Arrow Connector 42"/>
                <p:cNvCxnSpPr/>
                <p:nvPr/>
              </p:nvCxnSpPr>
              <p:spPr>
                <a:xfrm>
                  <a:off x="304800" y="762000"/>
                  <a:ext cx="228600" cy="158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Group 43"/>
              <p:cNvGrpSpPr/>
              <p:nvPr/>
            </p:nvGrpSpPr>
            <p:grpSpPr>
              <a:xfrm>
                <a:off x="8610600" y="2433935"/>
                <a:ext cx="437940" cy="461665"/>
                <a:chOff x="228600" y="685800"/>
                <a:chExt cx="437940" cy="461665"/>
              </a:xfrm>
            </p:grpSpPr>
            <p:sp>
              <p:nvSpPr>
                <p:cNvPr id="45" name="TextBox 44"/>
                <p:cNvSpPr txBox="1"/>
                <p:nvPr/>
              </p:nvSpPr>
              <p:spPr>
                <a:xfrm>
                  <a:off x="228600" y="685800"/>
                  <a:ext cx="43794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>
                      <a:latin typeface="Comic Sans MS" pitchFamily="66" charset="0"/>
                    </a:rPr>
                    <a:t>e</a:t>
                  </a:r>
                  <a:r>
                    <a:rPr lang="en-US" sz="2400" baseline="30000" dirty="0" smtClean="0">
                      <a:latin typeface="Comic Sans MS" pitchFamily="66" charset="0"/>
                    </a:rPr>
                    <a:t>-</a:t>
                  </a:r>
                  <a:endParaRPr lang="en-US" sz="2400" baseline="30000" dirty="0">
                    <a:latin typeface="Comic Sans MS" pitchFamily="66" charset="0"/>
                  </a:endParaRPr>
                </a:p>
              </p:txBody>
            </p:sp>
            <p:cxnSp>
              <p:nvCxnSpPr>
                <p:cNvPr id="46" name="Straight Arrow Connector 45"/>
                <p:cNvCxnSpPr/>
                <p:nvPr/>
              </p:nvCxnSpPr>
              <p:spPr>
                <a:xfrm>
                  <a:off x="304800" y="762000"/>
                  <a:ext cx="228600" cy="158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7" name="Striped Right Arrow 46"/>
              <p:cNvSpPr/>
              <p:nvPr/>
            </p:nvSpPr>
            <p:spPr>
              <a:xfrm>
                <a:off x="7010400" y="2438400"/>
                <a:ext cx="381000" cy="76200"/>
              </a:xfrm>
              <a:prstGeom prst="stripedRightArrow">
                <a:avLst>
                  <a:gd name="adj1" fmla="val 50000"/>
                  <a:gd name="adj2" fmla="val 56000"/>
                </a:avLst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Striped Right Arrow 49"/>
              <p:cNvSpPr/>
              <p:nvPr/>
            </p:nvSpPr>
            <p:spPr>
              <a:xfrm>
                <a:off x="7924800" y="2438400"/>
                <a:ext cx="381000" cy="76200"/>
              </a:xfrm>
              <a:prstGeom prst="stripedRightArrow">
                <a:avLst>
                  <a:gd name="adj1" fmla="val 50000"/>
                  <a:gd name="adj2" fmla="val 56000"/>
                </a:avLst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TextBox 67"/>
            <p:cNvSpPr txBox="1"/>
            <p:nvPr/>
          </p:nvSpPr>
          <p:spPr>
            <a:xfrm>
              <a:off x="2590800" y="3276600"/>
              <a:ext cx="4603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>
                  <a:latin typeface="Comic Sans MS" pitchFamily="66" charset="0"/>
                </a:rPr>
                <a:t>Pair</a:t>
              </a:r>
              <a:endParaRPr lang="en-US" sz="1200" dirty="0">
                <a:latin typeface="Comic Sans MS" pitchFamily="66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648429" y="3276600"/>
              <a:ext cx="5613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err="1" smtClean="0">
                  <a:latin typeface="Comic Sans MS" pitchFamily="66" charset="0"/>
                </a:rPr>
                <a:t>Brem</a:t>
              </a:r>
              <a:endParaRPr lang="en-US" sz="1200" dirty="0">
                <a:latin typeface="Comic Sans MS" pitchFamily="66" charset="0"/>
              </a:endParaRPr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21554" y="464403"/>
            <a:ext cx="3398687" cy="830997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Comic Sans MS" pitchFamily="66" charset="0"/>
              </a:rPr>
              <a:t>CEBAF Electron Source</a:t>
            </a:r>
          </a:p>
          <a:p>
            <a:pPr>
              <a:buFont typeface="Wingdings" pitchFamily="2" charset="2"/>
              <a:buChar char="Ø"/>
            </a:pPr>
            <a:r>
              <a:rPr lang="en-US" sz="1200" dirty="0" smtClean="0">
                <a:latin typeface="Comic Sans MS" pitchFamily="66" charset="0"/>
              </a:rPr>
              <a:t>High-P (~85%), High-QE (~3mA/500 mW)</a:t>
            </a:r>
          </a:p>
          <a:p>
            <a:pPr>
              <a:buFont typeface="Wingdings" pitchFamily="2" charset="2"/>
              <a:buChar char="Ø"/>
            </a:pPr>
            <a:r>
              <a:rPr lang="en-US" sz="1200" dirty="0" smtClean="0">
                <a:latin typeface="Comic Sans MS" pitchFamily="66" charset="0"/>
              </a:rPr>
              <a:t>e- bunch: 3mA @ 1497MHz demonstrated</a:t>
            </a:r>
          </a:p>
          <a:p>
            <a:pPr>
              <a:buFont typeface="Wingdings" pitchFamily="2" charset="2"/>
              <a:buChar char="Ø"/>
            </a:pPr>
            <a:r>
              <a:rPr lang="en-US" sz="1200" u="sng" dirty="0" smtClean="0">
                <a:latin typeface="Comic Sans MS" pitchFamily="66" charset="0"/>
              </a:rPr>
              <a:t>Thesis: duty factor =&gt; low power, high peak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33800" y="649069"/>
            <a:ext cx="2656496" cy="646331"/>
          </a:xfrm>
          <a:prstGeom prst="rect">
            <a:avLst/>
          </a:prstGeom>
          <a:solidFill>
            <a:srgbClr val="162BF2">
              <a:alpha val="10000"/>
            </a:srgb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Comic Sans MS" pitchFamily="66" charset="0"/>
              </a:rPr>
              <a:t>MeV-Accelerator</a:t>
            </a:r>
          </a:p>
          <a:p>
            <a:pPr>
              <a:buFont typeface="Wingdings" pitchFamily="2" charset="2"/>
              <a:buChar char="Ø"/>
            </a:pPr>
            <a:r>
              <a:rPr lang="en-US" sz="1200" dirty="0" smtClean="0">
                <a:latin typeface="Comic Sans MS" pitchFamily="66" charset="0"/>
              </a:rPr>
              <a:t> </a:t>
            </a:r>
            <a:r>
              <a:rPr lang="en-US" sz="1200" dirty="0" err="1" smtClean="0">
                <a:latin typeface="Comic Sans MS" pitchFamily="66" charset="0"/>
              </a:rPr>
              <a:t>Cryounit</a:t>
            </a:r>
            <a:r>
              <a:rPr lang="en-US" sz="1200" dirty="0" smtClean="0">
                <a:latin typeface="Comic Sans MS" pitchFamily="66" charset="0"/>
              </a:rPr>
              <a:t> tested to ~8 MeV</a:t>
            </a:r>
          </a:p>
          <a:p>
            <a:pPr>
              <a:buFont typeface="Wingdings" pitchFamily="2" charset="2"/>
              <a:buChar char="Ø"/>
            </a:pPr>
            <a:r>
              <a:rPr lang="en-US" sz="1200" dirty="0" smtClean="0">
                <a:latin typeface="Comic Sans MS" pitchFamily="66" charset="0"/>
              </a:rPr>
              <a:t> G0 setup </a:t>
            </a:r>
            <a:r>
              <a:rPr lang="en-US" sz="1200" dirty="0" smtClean="0">
                <a:latin typeface="Comic Sans MS" pitchFamily="66" charset="0"/>
                <a:sym typeface="Wingdings" pitchFamily="2" charset="2"/>
              </a:rPr>
              <a:t> 1.9mA @ 1497 MHz</a:t>
            </a:r>
            <a:endParaRPr lang="en-US" sz="1200" dirty="0" smtClean="0">
              <a:latin typeface="Comic Sans MS" pitchFamily="66" charset="0"/>
            </a:endParaRPr>
          </a:p>
        </p:txBody>
      </p:sp>
      <p:cxnSp>
        <p:nvCxnSpPr>
          <p:cNvPr id="72" name="Straight Arrow Connector 71"/>
          <p:cNvCxnSpPr/>
          <p:nvPr/>
        </p:nvCxnSpPr>
        <p:spPr>
          <a:xfrm rot="5400000">
            <a:off x="4648994" y="1523206"/>
            <a:ext cx="457200" cy="1588"/>
          </a:xfrm>
          <a:prstGeom prst="straightConnector1">
            <a:avLst/>
          </a:prstGeom>
          <a:ln w="31750">
            <a:solidFill>
              <a:srgbClr val="162BF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rot="5400000">
            <a:off x="648494" y="1485106"/>
            <a:ext cx="381000" cy="158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3" descr="C:\Documents and Settings\grames\Desktop\specpol2.bmp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86200" y="2362200"/>
            <a:ext cx="5257800" cy="4495800"/>
          </a:xfrm>
          <a:prstGeom prst="rect">
            <a:avLst/>
          </a:prstGeom>
          <a:noFill/>
        </p:spPr>
      </p:pic>
      <p:sp>
        <p:nvSpPr>
          <p:cNvPr id="66" name="TextBox 65"/>
          <p:cNvSpPr txBox="1"/>
          <p:nvPr/>
        </p:nvSpPr>
        <p:spPr>
          <a:xfrm>
            <a:off x="3908439" y="6400800"/>
            <a:ext cx="18036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solidFill>
                  <a:srgbClr val="FFFF00"/>
                </a:solidFill>
                <a:latin typeface="Comic Sans MS" pitchFamily="66" charset="0"/>
              </a:rPr>
              <a:t>e</a:t>
            </a:r>
            <a:r>
              <a:rPr lang="en-US" sz="1100" baseline="30000" dirty="0" smtClean="0">
                <a:solidFill>
                  <a:srgbClr val="FFFF00"/>
                </a:solidFill>
                <a:latin typeface="Comic Sans MS" pitchFamily="66" charset="0"/>
              </a:rPr>
              <a:t>+</a:t>
            </a:r>
            <a:r>
              <a:rPr lang="en-US" sz="1100" dirty="0" smtClean="0">
                <a:solidFill>
                  <a:srgbClr val="FFFF00"/>
                </a:solidFill>
                <a:latin typeface="Comic Sans MS" pitchFamily="66" charset="0"/>
              </a:rPr>
              <a:t> Spectrometer</a:t>
            </a:r>
          </a:p>
          <a:p>
            <a:pPr algn="ctr"/>
            <a:r>
              <a:rPr lang="en-US" sz="1100" dirty="0" smtClean="0">
                <a:solidFill>
                  <a:srgbClr val="FFFF00"/>
                </a:solidFill>
                <a:latin typeface="Comic Sans MS" pitchFamily="66" charset="0"/>
              </a:rPr>
              <a:t>(or e</a:t>
            </a:r>
            <a:r>
              <a:rPr lang="en-US" sz="1100" baseline="30000" dirty="0" smtClean="0">
                <a:solidFill>
                  <a:srgbClr val="FFFF00"/>
                </a:solidFill>
                <a:latin typeface="Comic Sans MS" pitchFamily="66" charset="0"/>
              </a:rPr>
              <a:t>-</a:t>
            </a:r>
            <a:r>
              <a:rPr lang="en-US" sz="1100" dirty="0" smtClean="0">
                <a:solidFill>
                  <a:srgbClr val="FFFF00"/>
                </a:solidFill>
                <a:latin typeface="Comic Sans MS" pitchFamily="66" charset="0"/>
              </a:rPr>
              <a:t> &amp; no spin rotation)</a:t>
            </a:r>
            <a:endParaRPr lang="en-US" sz="1100" dirty="0">
              <a:solidFill>
                <a:srgbClr val="FFFF00"/>
              </a:solidFill>
              <a:latin typeface="Comic Sans MS" pitchFamily="66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248400" y="6553200"/>
            <a:ext cx="274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solidFill>
                  <a:schemeClr val="bg1"/>
                </a:solidFill>
                <a:latin typeface="Comic Sans MS" pitchFamily="66" charset="0"/>
              </a:rPr>
              <a:t>Transmission Polarimeter (MIT loan)</a:t>
            </a:r>
            <a:endParaRPr lang="en-US" sz="1100" dirty="0">
              <a:solidFill>
                <a:schemeClr val="bg1"/>
              </a:solidFill>
              <a:latin typeface="Comic Sans MS" pitchFamily="66" charset="0"/>
            </a:endParaRPr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3810000" y="3200400"/>
            <a:ext cx="609600" cy="304800"/>
          </a:xfrm>
          <a:prstGeom prst="straightConnector1">
            <a:avLst/>
          </a:prstGeom>
          <a:ln w="3492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3657601"/>
            <a:ext cx="38862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5" name="TextBox 64"/>
          <p:cNvSpPr txBox="1"/>
          <p:nvPr/>
        </p:nvSpPr>
        <p:spPr>
          <a:xfrm>
            <a:off x="1295400" y="2281535"/>
            <a:ext cx="241444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0B0F0"/>
                </a:solidFill>
                <a:latin typeface="Comic Sans MS" pitchFamily="66" charset="0"/>
              </a:rPr>
              <a:t>Conversion Target</a:t>
            </a:r>
          </a:p>
          <a:p>
            <a:pPr algn="ctr"/>
            <a:r>
              <a:rPr lang="en-US" sz="1200" dirty="0" smtClean="0">
                <a:solidFill>
                  <a:srgbClr val="00B0F0"/>
                </a:solidFill>
                <a:latin typeface="Comic Sans MS" pitchFamily="66" charset="0"/>
              </a:rPr>
              <a:t>(Tilted/Normal Tungsten Foils)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040876" y="2362200"/>
            <a:ext cx="3103123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6" name="Straight Connector 55"/>
          <p:cNvCxnSpPr/>
          <p:nvPr/>
        </p:nvCxnSpPr>
        <p:spPr>
          <a:xfrm>
            <a:off x="6400800" y="3810000"/>
            <a:ext cx="2438400" cy="1588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>
            <a:off x="2514600" y="4648200"/>
            <a:ext cx="8382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1009230" y="3914745"/>
            <a:ext cx="667170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900" dirty="0" smtClean="0">
                <a:solidFill>
                  <a:srgbClr val="FF0000"/>
                </a:solidFill>
                <a:latin typeface="Symbol" pitchFamily="18" charset="2"/>
              </a:rPr>
              <a:t>DQ</a:t>
            </a:r>
            <a:r>
              <a:rPr lang="en-US" sz="900" dirty="0" smtClean="0">
                <a:solidFill>
                  <a:srgbClr val="FF0000"/>
                </a:solidFill>
                <a:latin typeface="Comic Sans MS" pitchFamily="66" charset="0"/>
              </a:rPr>
              <a:t> = ±20</a:t>
            </a:r>
            <a:endParaRPr lang="en-US" sz="900" dirty="0">
              <a:solidFill>
                <a:srgbClr val="FF0000"/>
              </a:solidFill>
              <a:latin typeface="Comic Sans MS" pitchFamily="66" charset="0"/>
            </a:endParaRPr>
          </a:p>
        </p:txBody>
      </p:sp>
      <p:cxnSp>
        <p:nvCxnSpPr>
          <p:cNvPr id="89" name="Straight Arrow Connector 88"/>
          <p:cNvCxnSpPr/>
          <p:nvPr/>
        </p:nvCxnSpPr>
        <p:spPr>
          <a:xfrm rot="10800000">
            <a:off x="914400" y="4114800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1005165" y="5133945"/>
            <a:ext cx="647934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900" dirty="0" smtClean="0">
                <a:solidFill>
                  <a:srgbClr val="162BF2"/>
                </a:solidFill>
                <a:latin typeface="Symbol" pitchFamily="18" charset="2"/>
              </a:rPr>
              <a:t>DQ</a:t>
            </a:r>
            <a:r>
              <a:rPr lang="en-US" sz="900" dirty="0" smtClean="0">
                <a:solidFill>
                  <a:srgbClr val="162BF2"/>
                </a:solidFill>
                <a:latin typeface="Comic Sans MS" pitchFamily="66" charset="0"/>
              </a:rPr>
              <a:t> = ±10</a:t>
            </a:r>
            <a:endParaRPr lang="en-US" sz="900" dirty="0">
              <a:solidFill>
                <a:srgbClr val="162BF2"/>
              </a:solidFill>
              <a:latin typeface="Comic Sans MS" pitchFamily="66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051652" y="5972145"/>
            <a:ext cx="596638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900" dirty="0" smtClean="0">
                <a:solidFill>
                  <a:srgbClr val="00B050"/>
                </a:solidFill>
                <a:latin typeface="Symbol" pitchFamily="18" charset="2"/>
              </a:rPr>
              <a:t>DQ</a:t>
            </a:r>
            <a:r>
              <a:rPr lang="en-US" sz="900" dirty="0" smtClean="0">
                <a:solidFill>
                  <a:srgbClr val="00B050"/>
                </a:solidFill>
                <a:latin typeface="Comic Sans MS" pitchFamily="66" charset="0"/>
              </a:rPr>
              <a:t> = ±5</a:t>
            </a:r>
            <a:endParaRPr lang="en-US" sz="900" dirty="0">
              <a:solidFill>
                <a:srgbClr val="00B050"/>
              </a:solidFill>
              <a:latin typeface="Comic Sans MS" pitchFamily="66" charset="0"/>
            </a:endParaRPr>
          </a:p>
        </p:txBody>
      </p:sp>
      <p:cxnSp>
        <p:nvCxnSpPr>
          <p:cNvPr id="94" name="Straight Arrow Connector 93"/>
          <p:cNvCxnSpPr/>
          <p:nvPr/>
        </p:nvCxnSpPr>
        <p:spPr>
          <a:xfrm rot="10800000">
            <a:off x="914400" y="5334000"/>
            <a:ext cx="304800" cy="1588"/>
          </a:xfrm>
          <a:prstGeom prst="straightConnector1">
            <a:avLst/>
          </a:prstGeom>
          <a:ln>
            <a:solidFill>
              <a:srgbClr val="162BF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 rot="10800000">
            <a:off x="914400" y="6170612"/>
            <a:ext cx="304800" cy="1588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3733800" y="4615190"/>
            <a:ext cx="1066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solidFill>
                  <a:schemeClr val="bg1"/>
                </a:solidFill>
                <a:latin typeface="Comic Sans MS" pitchFamily="66" charset="0"/>
              </a:rPr>
              <a:t>Collimators</a:t>
            </a:r>
            <a:endParaRPr lang="en-US" sz="1100" dirty="0">
              <a:solidFill>
                <a:schemeClr val="bg1"/>
              </a:solidFill>
              <a:latin typeface="Comic Sans MS" pitchFamily="66" charset="0"/>
            </a:endParaRPr>
          </a:p>
        </p:txBody>
      </p:sp>
      <p:cxnSp>
        <p:nvCxnSpPr>
          <p:cNvPr id="106" name="Straight Connector 105"/>
          <p:cNvCxnSpPr/>
          <p:nvPr/>
        </p:nvCxnSpPr>
        <p:spPr>
          <a:xfrm rot="5400000" flipH="1" flipV="1">
            <a:off x="4610100" y="4610100"/>
            <a:ext cx="152400" cy="7620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 flipV="1">
            <a:off x="4648200" y="4648200"/>
            <a:ext cx="228600" cy="7620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 rot="21377644">
            <a:off x="8087663" y="5077233"/>
            <a:ext cx="282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  <a:latin typeface="Symbol" pitchFamily="18" charset="2"/>
              </a:rPr>
              <a:t>g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7939689" y="5977250"/>
            <a:ext cx="773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0B0F0"/>
                </a:solidFill>
              </a:rPr>
              <a:t>Analyzer magnet</a:t>
            </a:r>
            <a:endParaRPr lang="en-US" sz="1200" dirty="0">
              <a:solidFill>
                <a:srgbClr val="00B0F0"/>
              </a:solidFill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4953000" y="5943600"/>
            <a:ext cx="773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FFFF00"/>
                </a:solidFill>
              </a:rPr>
              <a:t>Spec.</a:t>
            </a:r>
          </a:p>
          <a:p>
            <a:pPr algn="ctr"/>
            <a:r>
              <a:rPr lang="en-US" sz="1200" dirty="0" smtClean="0">
                <a:solidFill>
                  <a:srgbClr val="FFFF00"/>
                </a:solidFill>
              </a:rPr>
              <a:t>Dipole#2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4941736" y="2895600"/>
            <a:ext cx="773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FFFF00"/>
                </a:solidFill>
              </a:rPr>
              <a:t>Spec.</a:t>
            </a:r>
          </a:p>
          <a:p>
            <a:pPr algn="ctr"/>
            <a:r>
              <a:rPr lang="en-US" sz="1200" dirty="0" smtClean="0">
                <a:solidFill>
                  <a:srgbClr val="FFFF00"/>
                </a:solidFill>
              </a:rPr>
              <a:t>Dipole#1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6324600" y="4800600"/>
            <a:ext cx="773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FFFF00"/>
                </a:solidFill>
              </a:rPr>
              <a:t>Sweep</a:t>
            </a:r>
          </a:p>
          <a:p>
            <a:pPr algn="ctr"/>
            <a:r>
              <a:rPr lang="en-US" sz="1200" dirty="0" smtClean="0">
                <a:solidFill>
                  <a:srgbClr val="FFFF00"/>
                </a:solidFill>
              </a:rPr>
              <a:t>Dipole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486400" y="3657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e</a:t>
            </a:r>
            <a:r>
              <a:rPr lang="en-US" b="1" baseline="30000" dirty="0" smtClean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876800" y="2438400"/>
            <a:ext cx="1219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solidFill>
                  <a:srgbClr val="162BF2"/>
                </a:solidFill>
                <a:latin typeface="Comic Sans MS" pitchFamily="66" charset="0"/>
              </a:rPr>
              <a:t>e</a:t>
            </a:r>
            <a:r>
              <a:rPr lang="en-US" sz="1100" baseline="30000" dirty="0" smtClean="0">
                <a:solidFill>
                  <a:srgbClr val="162BF2"/>
                </a:solidFill>
                <a:latin typeface="Comic Sans MS" pitchFamily="66" charset="0"/>
              </a:rPr>
              <a:t>-</a:t>
            </a:r>
            <a:r>
              <a:rPr lang="en-US" sz="1100" dirty="0" smtClean="0">
                <a:solidFill>
                  <a:srgbClr val="162BF2"/>
                </a:solidFill>
                <a:latin typeface="Comic Sans MS" pitchFamily="66" charset="0"/>
              </a:rPr>
              <a:t> after target</a:t>
            </a:r>
          </a:p>
          <a:p>
            <a:pPr algn="ctr"/>
            <a:r>
              <a:rPr lang="en-US" sz="1100" dirty="0" smtClean="0">
                <a:solidFill>
                  <a:srgbClr val="162BF2"/>
                </a:solidFill>
                <a:latin typeface="Comic Sans MS" pitchFamily="66" charset="0"/>
              </a:rPr>
              <a:t>not shown</a:t>
            </a:r>
            <a:endParaRPr lang="en-US" sz="1100" dirty="0">
              <a:solidFill>
                <a:srgbClr val="162BF2"/>
              </a:solidFill>
              <a:latin typeface="Comic Sans MS" pitchFamily="66" charset="0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3886200" y="37338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162BF2"/>
                </a:solidFill>
              </a:rPr>
              <a:t>e</a:t>
            </a:r>
            <a:r>
              <a:rPr lang="en-US" b="1" baseline="30000" dirty="0" smtClean="0">
                <a:solidFill>
                  <a:srgbClr val="162BF2"/>
                </a:solidFill>
              </a:rPr>
              <a:t>-</a:t>
            </a:r>
          </a:p>
        </p:txBody>
      </p:sp>
      <p:sp>
        <p:nvSpPr>
          <p:cNvPr id="120" name="TextBox 119"/>
          <p:cNvSpPr txBox="1"/>
          <p:nvPr/>
        </p:nvSpPr>
        <p:spPr>
          <a:xfrm rot="21377644">
            <a:off x="5726641" y="3203318"/>
            <a:ext cx="282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  <a:latin typeface="Symbol" pitchFamily="18" charset="2"/>
              </a:rPr>
              <a:t>g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5715000" y="6324600"/>
            <a:ext cx="1066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solidFill>
                  <a:srgbClr val="00B0F0"/>
                </a:solidFill>
                <a:latin typeface="Symbol" pitchFamily="18" charset="2"/>
              </a:rPr>
              <a:t>g</a:t>
            </a:r>
            <a:r>
              <a:rPr lang="en-US" sz="1100" dirty="0" smtClean="0">
                <a:solidFill>
                  <a:srgbClr val="00B0F0"/>
                </a:solidFill>
                <a:latin typeface="Comic Sans MS" pitchFamily="66" charset="0"/>
              </a:rPr>
              <a:t> converter</a:t>
            </a:r>
            <a:endParaRPr lang="en-US" sz="1100" dirty="0">
              <a:solidFill>
                <a:srgbClr val="00B0F0"/>
              </a:solidFill>
              <a:latin typeface="Comic Sans MS" pitchFamily="66" charset="0"/>
            </a:endParaRPr>
          </a:p>
        </p:txBody>
      </p:sp>
      <p:cxnSp>
        <p:nvCxnSpPr>
          <p:cNvPr id="122" name="Straight Connector 121"/>
          <p:cNvCxnSpPr/>
          <p:nvPr/>
        </p:nvCxnSpPr>
        <p:spPr>
          <a:xfrm rot="16200000" flipV="1">
            <a:off x="5981700" y="6210300"/>
            <a:ext cx="304800" cy="76200"/>
          </a:xfrm>
          <a:prstGeom prst="line">
            <a:avLst/>
          </a:prstGeom>
          <a:ln w="158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1905000" y="3883968"/>
            <a:ext cx="1459054" cy="2308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900" dirty="0" smtClean="0">
                <a:latin typeface="Symbol" pitchFamily="18" charset="2"/>
              </a:rPr>
              <a:t>D</a:t>
            </a:r>
            <a:r>
              <a:rPr lang="en-US" sz="900" dirty="0" smtClean="0">
                <a:latin typeface="Comic Sans MS" pitchFamily="66" charset="0"/>
              </a:rPr>
              <a:t>E = ±250 keV, </a:t>
            </a:r>
            <a:r>
              <a:rPr lang="en-US" sz="900" dirty="0" smtClean="0">
                <a:latin typeface="Symbol" pitchFamily="18" charset="2"/>
              </a:rPr>
              <a:t>DF</a:t>
            </a:r>
            <a:r>
              <a:rPr lang="en-US" sz="900" dirty="0" smtClean="0">
                <a:latin typeface="Comic Sans MS" pitchFamily="66" charset="0"/>
              </a:rPr>
              <a:t> = 2</a:t>
            </a:r>
            <a:r>
              <a:rPr lang="el-GR" sz="900" dirty="0" smtClean="0">
                <a:latin typeface="Comic Sans MS" pitchFamily="66" charset="0"/>
              </a:rPr>
              <a:t>π</a:t>
            </a:r>
            <a:endParaRPr lang="en-US" sz="900" dirty="0">
              <a:latin typeface="Comic Sans MS" pitchFamily="66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2438400" y="5257800"/>
            <a:ext cx="89960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>
                <a:latin typeface="Comic Sans MS" pitchFamily="66" charset="0"/>
              </a:rPr>
              <a:t>Geant4</a:t>
            </a:r>
          </a:p>
          <a:p>
            <a:pPr algn="ctr"/>
            <a:r>
              <a:rPr lang="en-US" sz="1200" dirty="0" smtClean="0">
                <a:latin typeface="Comic Sans MS" pitchFamily="66" charset="0"/>
              </a:rPr>
              <a:t>simulation</a:t>
            </a:r>
            <a:endParaRPr lang="en-US" sz="1200" dirty="0">
              <a:latin typeface="Comic Sans MS" pitchFamily="66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7848600" y="3886200"/>
            <a:ext cx="89960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>
                <a:latin typeface="Comic Sans MS" pitchFamily="66" charset="0"/>
              </a:rPr>
              <a:t>Geant4</a:t>
            </a:r>
          </a:p>
          <a:p>
            <a:pPr algn="ctr"/>
            <a:r>
              <a:rPr lang="en-US" sz="1200" dirty="0" smtClean="0">
                <a:latin typeface="Comic Sans MS" pitchFamily="66" charset="0"/>
              </a:rPr>
              <a:t>simulation</a:t>
            </a:r>
            <a:endParaRPr lang="en-US" sz="1200" dirty="0">
              <a:latin typeface="Comic Sans MS" pitchFamily="66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3886200" y="2362200"/>
            <a:ext cx="984564" cy="430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50" dirty="0" smtClean="0">
                <a:solidFill>
                  <a:schemeClr val="bg1"/>
                </a:solidFill>
                <a:latin typeface="Comic Sans MS" pitchFamily="66" charset="0"/>
              </a:rPr>
              <a:t>G4 </a:t>
            </a:r>
            <a:r>
              <a:rPr lang="en-US" sz="1050" dirty="0" err="1" smtClean="0">
                <a:solidFill>
                  <a:schemeClr val="bg1"/>
                </a:solidFill>
                <a:latin typeface="Comic Sans MS" pitchFamily="66" charset="0"/>
              </a:rPr>
              <a:t>Beamline</a:t>
            </a:r>
            <a:endParaRPr lang="en-US" sz="1050" dirty="0" smtClean="0">
              <a:solidFill>
                <a:schemeClr val="bg1"/>
              </a:solidFill>
              <a:latin typeface="Comic Sans MS" pitchFamily="66" charset="0"/>
            </a:endParaRPr>
          </a:p>
          <a:p>
            <a:pPr algn="ctr"/>
            <a:r>
              <a:rPr lang="en-US" sz="1050" dirty="0" smtClean="0">
                <a:solidFill>
                  <a:schemeClr val="bg1"/>
                </a:solidFill>
                <a:latin typeface="Comic Sans MS" pitchFamily="66" charset="0"/>
              </a:rPr>
              <a:t>simulation</a:t>
            </a:r>
            <a:endParaRPr lang="en-US" sz="1050" dirty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52400"/>
            <a:ext cx="4903947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 descr="M:\inj_group\Archive\Conferences\2008-PESP\WorkshopPhot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3276600"/>
            <a:ext cx="4116754" cy="32766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5181600" y="152400"/>
            <a:ext cx="373380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The Source Group hosted two recent workshops: </a:t>
            </a:r>
          </a:p>
          <a:p>
            <a:r>
              <a:rPr lang="en-US" dirty="0" smtClean="0"/>
              <a:t>PESP2008 – Workshop on Polarized Electron Sources and </a:t>
            </a:r>
            <a:r>
              <a:rPr lang="en-US" dirty="0" err="1" smtClean="0"/>
              <a:t>Polarimeters</a:t>
            </a:r>
            <a:endParaRPr lang="en-US" dirty="0" smtClean="0"/>
          </a:p>
          <a:p>
            <a:r>
              <a:rPr lang="en-US" dirty="0" smtClean="0"/>
              <a:t>JPOS09 – International Workshop on Positrons at </a:t>
            </a:r>
            <a:r>
              <a:rPr lang="en-US" dirty="0" err="1" smtClean="0"/>
              <a:t>JLab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4">
            <a:lum bright="6000"/>
          </a:blip>
          <a:srcRect/>
          <a:stretch>
            <a:fillRect/>
          </a:stretch>
        </p:blipFill>
        <p:spPr bwMode="auto">
          <a:xfrm>
            <a:off x="5486400" y="1989428"/>
            <a:ext cx="3184762" cy="486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19062</TotalTime>
  <Words>1851</Words>
  <Application>Microsoft Office PowerPoint</Application>
  <PresentationFormat>On-screen Show (4:3)</PresentationFormat>
  <Paragraphs>394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Jefferson Science Associates, LLC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poelker</dc:creator>
  <cp:lastModifiedBy>Joseph M. Grames</cp:lastModifiedBy>
  <cp:revision>778</cp:revision>
  <dcterms:created xsi:type="dcterms:W3CDTF">2008-11-17T21:12:21Z</dcterms:created>
  <dcterms:modified xsi:type="dcterms:W3CDTF">2009-05-13T13:38:55Z</dcterms:modified>
</cp:coreProperties>
</file>