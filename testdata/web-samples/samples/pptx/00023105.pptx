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272" r:id="rId2"/>
    <p:sldId id="261" r:id="rId3"/>
    <p:sldId id="262" r:id="rId4"/>
    <p:sldId id="265" r:id="rId5"/>
    <p:sldId id="264" r:id="rId6"/>
    <p:sldId id="274" r:id="rId7"/>
    <p:sldId id="275" r:id="rId8"/>
    <p:sldId id="276" r:id="rId9"/>
    <p:sldId id="277" r:id="rId10"/>
    <p:sldId id="278" r:id="rId11"/>
    <p:sldId id="279" r:id="rId12"/>
    <p:sldId id="280" r:id="rId13"/>
    <p:sldId id="281" r:id="rId14"/>
    <p:sldId id="266" r:id="rId15"/>
    <p:sldId id="267" r:id="rId16"/>
    <p:sldId id="269" r:id="rId17"/>
    <p:sldId id="282" r:id="rId18"/>
  </p:sldIdLst>
  <p:sldSz cx="9144000" cy="6858000" type="screen4x3"/>
  <p:notesSz cx="68580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itchFamily="34" charset="0"/>
        <a:ea typeface="ＭＳ Ｐゴシック"/>
        <a:cs typeface="ＭＳ Ｐゴシック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itchFamily="34" charset="0"/>
        <a:ea typeface="ＭＳ Ｐゴシック"/>
        <a:cs typeface="ＭＳ Ｐゴシック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itchFamily="34" charset="0"/>
        <a:ea typeface="ＭＳ Ｐゴシック"/>
        <a:cs typeface="ＭＳ Ｐゴシック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itchFamily="34" charset="0"/>
        <a:ea typeface="ＭＳ Ｐゴシック"/>
        <a:cs typeface="ＭＳ Ｐゴシック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itchFamily="34" charset="0"/>
        <a:ea typeface="ＭＳ Ｐゴシック"/>
        <a:cs typeface="ＭＳ Ｐゴシック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pitchFamily="34" charset="0"/>
        <a:ea typeface="ＭＳ Ｐゴシック"/>
        <a:cs typeface="ＭＳ Ｐゴシック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pitchFamily="34" charset="0"/>
        <a:ea typeface="ＭＳ Ｐゴシック"/>
        <a:cs typeface="ＭＳ Ｐゴシック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pitchFamily="34" charset="0"/>
        <a:ea typeface="ＭＳ Ｐゴシック"/>
        <a:cs typeface="ＭＳ Ｐゴシック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pitchFamily="34" charset="0"/>
        <a:ea typeface="ＭＳ Ｐゴシック"/>
        <a:cs typeface="ＭＳ Ｐゴシック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E6AAC"/>
    <a:srgbClr val="17448F"/>
    <a:srgbClr val="3B3D3C"/>
    <a:srgbClr val="4B3900"/>
    <a:srgbClr val="56004E"/>
    <a:srgbClr val="009FC2"/>
    <a:srgbClr val="E3E9F1"/>
    <a:srgbClr val="657DB9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521" autoAdjust="0"/>
    <p:restoredTop sz="90965" autoAdjust="0"/>
  </p:normalViewPr>
  <p:slideViewPr>
    <p:cSldViewPr>
      <p:cViewPr>
        <p:scale>
          <a:sx n="50" d="100"/>
          <a:sy n="50" d="100"/>
        </p:scale>
        <p:origin x="-1061" y="-62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40" d="100"/>
          <a:sy n="40" d="100"/>
        </p:scale>
        <p:origin x="-1421" y="-77"/>
      </p:cViewPr>
      <p:guideLst>
        <p:guide orient="horz" pos="2928"/>
        <p:guide pos="2160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65138"/>
          </a:xfrm>
          <a:prstGeom prst="rect">
            <a:avLst/>
          </a:prstGeom>
        </p:spPr>
        <p:txBody>
          <a:bodyPr vert="horz" lIns="92286" tIns="46143" rIns="92286" bIns="46143" rtlCol="0"/>
          <a:lstStyle>
            <a:lvl1pPr algn="l" eaLnBrk="0" hangingPunct="0">
              <a:defRPr sz="1300">
                <a:latin typeface="Arial" charset="0"/>
                <a:ea typeface="ＭＳ Ｐゴシック" pitchFamily="80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65138"/>
          </a:xfrm>
          <a:prstGeom prst="rect">
            <a:avLst/>
          </a:prstGeom>
        </p:spPr>
        <p:txBody>
          <a:bodyPr vert="horz" lIns="92286" tIns="46143" rIns="92286" bIns="46143" rtlCol="0"/>
          <a:lstStyle>
            <a:lvl1pPr algn="r" eaLnBrk="0" hangingPunct="0">
              <a:defRPr sz="1300">
                <a:latin typeface="Arial" charset="0"/>
                <a:ea typeface="ＭＳ Ｐゴシック" pitchFamily="80" charset="-128"/>
                <a:cs typeface="+mn-cs"/>
              </a:defRPr>
            </a:lvl1pPr>
          </a:lstStyle>
          <a:p>
            <a:pPr>
              <a:defRPr/>
            </a:pPr>
            <a:fld id="{CD52E6A2-06E2-4405-9F5F-D6BC537C5688}" type="datetimeFigureOut">
              <a:rPr lang="en-US"/>
              <a:pPr>
                <a:defRPr/>
              </a:pPr>
              <a:t>7/14/2011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676"/>
            <a:ext cx="2971800" cy="465138"/>
          </a:xfrm>
          <a:prstGeom prst="rect">
            <a:avLst/>
          </a:prstGeom>
        </p:spPr>
        <p:txBody>
          <a:bodyPr vert="horz" lIns="92286" tIns="46143" rIns="92286" bIns="46143" rtlCol="0" anchor="b"/>
          <a:lstStyle>
            <a:lvl1pPr algn="l" eaLnBrk="0" hangingPunct="0">
              <a:defRPr sz="1000" b="1">
                <a:solidFill>
                  <a:srgbClr val="C00000"/>
                </a:solidFill>
                <a:latin typeface="Arial Narrow" pitchFamily="34" charset="0"/>
                <a:ea typeface="ＭＳ Ｐゴシック" pitchFamily="80" charset="-128"/>
                <a:cs typeface="+mn-cs"/>
              </a:defRPr>
            </a:lvl1pPr>
          </a:lstStyle>
          <a:p>
            <a:pPr>
              <a:defRPr/>
            </a:pPr>
            <a:r>
              <a:rPr lang="en-US"/>
              <a:t>NOTE: Please discard 30 days after </a:t>
            </a:r>
            <a:fld id="{737CAEEF-142E-43B9-B2F9-9F34A4C4737D}" type="datetime4">
              <a:rPr lang="en-US"/>
              <a:pPr>
                <a:defRPr/>
              </a:pPr>
              <a:t>July 14, 2011</a:t>
            </a:fld>
            <a:endParaRPr lang="en-US">
              <a:latin typeface="Arial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829676"/>
            <a:ext cx="2971800" cy="465138"/>
          </a:xfrm>
          <a:prstGeom prst="rect">
            <a:avLst/>
          </a:prstGeom>
        </p:spPr>
        <p:txBody>
          <a:bodyPr vert="horz" lIns="92286" tIns="46143" rIns="92286" bIns="46143" rtlCol="0" anchor="b"/>
          <a:lstStyle>
            <a:lvl1pPr algn="r" eaLnBrk="0" hangingPunct="0">
              <a:defRPr sz="1300">
                <a:latin typeface="Arial" charset="0"/>
                <a:ea typeface="ＭＳ Ｐゴシック" pitchFamily="80" charset="-128"/>
                <a:cs typeface="+mn-cs"/>
              </a:defRPr>
            </a:lvl1pPr>
          </a:lstStyle>
          <a:p>
            <a:pPr>
              <a:defRPr/>
            </a:pPr>
            <a:fld id="{3BED8773-88E5-4346-BCC4-2DFAA35D716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286" tIns="46143" rIns="92286" bIns="46143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300">
                <a:latin typeface="Arial" charset="0"/>
                <a:ea typeface="ＭＳ Ｐゴシック" pitchFamily="80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286" tIns="46143" rIns="92286" bIns="46143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300">
                <a:latin typeface="Arial" charset="0"/>
                <a:ea typeface="ＭＳ Ｐゴシック" pitchFamily="80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86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04900" y="698500"/>
            <a:ext cx="4649788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416426"/>
            <a:ext cx="5029200" cy="4183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286" tIns="46143" rIns="92286" bIns="4614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1264"/>
            <a:ext cx="2971800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286" tIns="46143" rIns="92286" bIns="46143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300">
                <a:latin typeface="Arial" charset="0"/>
                <a:ea typeface="ＭＳ Ｐゴシック" pitchFamily="80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831264"/>
            <a:ext cx="2971800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286" tIns="46143" rIns="92286" bIns="46143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300">
                <a:latin typeface="Arial" charset="0"/>
                <a:ea typeface="ＭＳ Ｐゴシック" pitchFamily="80" charset="-128"/>
                <a:cs typeface="+mn-cs"/>
              </a:defRPr>
            </a:lvl1pPr>
          </a:lstStyle>
          <a:p>
            <a:pPr>
              <a:defRPr/>
            </a:pPr>
            <a:fld id="{2EBA5967-F889-470A-8F87-7335BCD4BA4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80" charset="-128"/>
        <a:cs typeface="ＭＳ Ｐゴシック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80" charset="-128"/>
        <a:cs typeface="ＭＳ Ｐゴシック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80" charset="-128"/>
        <a:cs typeface="ＭＳ Ｐゴシック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80" charset="-128"/>
        <a:cs typeface="ＭＳ Ｐゴシック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80" charset="-128"/>
        <a:cs typeface="ＭＳ Ｐゴシック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8588E00-A6E8-4321-9C23-88077F0E2ECC}" type="slidenum">
              <a:rPr lang="en-US" smtClean="0">
                <a:latin typeface="Arial" pitchFamily="34" charset="0"/>
                <a:ea typeface="ＭＳ Ｐゴシック"/>
                <a:cs typeface="ＭＳ Ｐゴシック"/>
              </a:rPr>
              <a:pPr/>
              <a:t>2</a:t>
            </a:fld>
            <a:endParaRPr lang="en-US" smtClean="0">
              <a:latin typeface="Arial" pitchFamily="34" charset="0"/>
              <a:ea typeface="ＭＳ Ｐゴシック"/>
              <a:cs typeface="ＭＳ Ｐゴシック"/>
            </a:endParaRPr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>
              <a:latin typeface="Arial" pitchFamily="34" charset="0"/>
              <a:ea typeface="ＭＳ Ｐゴシック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0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971800"/>
            <a:ext cx="7086600" cy="2895600"/>
          </a:xfrm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  <a:lvl2pPr>
              <a:buClrTx/>
              <a:buFont typeface="Wingdings" pitchFamily="2" charset="2"/>
              <a:buChar char="§"/>
              <a:defRPr>
                <a:solidFill>
                  <a:srgbClr val="002060"/>
                </a:solidFill>
              </a:defRPr>
            </a:lvl2pPr>
            <a:lvl3pPr>
              <a:defRPr>
                <a:solidFill>
                  <a:srgbClr val="002060"/>
                </a:solidFill>
              </a:defRPr>
            </a:lvl3pPr>
            <a:lvl4pPr>
              <a:defRPr>
                <a:solidFill>
                  <a:srgbClr val="002060"/>
                </a:solidFill>
              </a:defRPr>
            </a:lvl4pPr>
            <a:lvl5pPr>
              <a:defRPr>
                <a:solidFill>
                  <a:srgbClr val="002060"/>
                </a:solidFill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438400" y="1143000"/>
            <a:ext cx="6096000" cy="1066800"/>
          </a:xfrm>
        </p:spPr>
        <p:txBody>
          <a:bodyPr/>
          <a:lstStyle>
            <a:lvl1pPr>
              <a:defRPr b="1">
                <a:solidFill>
                  <a:srgbClr val="002060"/>
                </a:solidFill>
                <a:latin typeface="+mj-lt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067E6E35-7E07-45C5-913D-1C15FD85DE9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4406900"/>
            <a:ext cx="7123113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599" y="2971800"/>
            <a:ext cx="7123113" cy="143510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02403FA5-DCEF-4CBA-A94F-959AEDCB1D2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971800"/>
            <a:ext cx="3810000" cy="2895600"/>
          </a:xfrm>
        </p:spPr>
        <p:txBody>
          <a:bodyPr/>
          <a:lstStyle>
            <a:lvl1pPr>
              <a:defRPr sz="20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971800"/>
            <a:ext cx="3810000" cy="2895600"/>
          </a:xfrm>
        </p:spPr>
        <p:txBody>
          <a:bodyPr/>
          <a:lstStyle>
            <a:lvl1pPr>
              <a:defRPr sz="20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CB50304-14F5-465A-8A5C-C29FC4BFDA4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62200" y="1066800"/>
            <a:ext cx="6248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362200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3047999"/>
            <a:ext cx="4040188" cy="30781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2438400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3124199"/>
            <a:ext cx="4041775" cy="3001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5318CEE9-DC99-4E13-819C-A7E094AA3DA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76405DCE-9041-4CC1-A66D-D83E86737BC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9D9131DB-929B-499E-ACEF-8A687053023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362200"/>
            <a:ext cx="3008313" cy="8572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219200"/>
            <a:ext cx="5111750" cy="49069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3200400"/>
            <a:ext cx="3008313" cy="29257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82254AC2-246A-40A2-8930-0E250D5D75A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42999"/>
            <a:ext cx="5486400" cy="35845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253CE258-82F3-4888-9DE3-79FA6A32DE5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charset="0"/>
                <a:ea typeface="ＭＳ Ｐゴシック" pitchFamily="80" charset="-128"/>
                <a:cs typeface="+mn-cs"/>
              </a:defRPr>
            </a:lvl1pPr>
          </a:lstStyle>
          <a:p>
            <a:pPr>
              <a:defRPr/>
            </a:pPr>
            <a:fld id="{21C5299D-5792-466A-9B98-96E8EA5D2FCE}" type="datetimeFigureOut">
              <a:rPr lang="en-US"/>
              <a:pPr>
                <a:defRPr/>
              </a:pPr>
              <a:t>7/14/2011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charset="0"/>
                <a:ea typeface="ＭＳ Ｐゴシック" pitchFamily="80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22EF85FE-0FD7-4036-AF4D-3534784F989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438400" y="914400"/>
            <a:ext cx="6096000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2971800"/>
            <a:ext cx="7543800" cy="289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 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001000" y="228600"/>
            <a:ext cx="762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solidFill>
                  <a:schemeClr val="tx1"/>
                </a:solidFill>
                <a:latin typeface="+mn-lt"/>
                <a:ea typeface="ＭＳ Ｐゴシック" pitchFamily="80" charset="-128"/>
                <a:cs typeface="+mn-cs"/>
              </a:defRPr>
            </a:lvl1pPr>
          </a:lstStyle>
          <a:p>
            <a:pPr>
              <a:defRPr/>
            </a:pPr>
            <a:fld id="{2C96550F-D61F-4DB9-9B8A-F509359AAA13}" type="slidenum">
              <a:rPr lang="en-US"/>
              <a:pPr>
                <a:defRPr/>
              </a:pPr>
              <a:t>‹#›</a:t>
            </a:fld>
            <a:r>
              <a:rPr lang="en-US" dirty="0"/>
              <a:t>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rgbClr val="002060"/>
          </a:solidFill>
          <a:latin typeface="+mj-lt"/>
          <a:ea typeface="+mj-ea"/>
          <a:cs typeface="ＭＳ Ｐゴシック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rgbClr val="17448F"/>
          </a:solidFill>
          <a:latin typeface="Verdana" pitchFamily="80" charset="0"/>
          <a:ea typeface="ＭＳ Ｐゴシック" pitchFamily="80" charset="-128"/>
          <a:cs typeface="ＭＳ Ｐゴシック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rgbClr val="17448F"/>
          </a:solidFill>
          <a:latin typeface="Verdana" pitchFamily="80" charset="0"/>
          <a:ea typeface="ＭＳ Ｐゴシック" pitchFamily="80" charset="-128"/>
          <a:cs typeface="ＭＳ Ｐゴシック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rgbClr val="17448F"/>
          </a:solidFill>
          <a:latin typeface="Verdana" pitchFamily="80" charset="0"/>
          <a:ea typeface="ＭＳ Ｐゴシック" pitchFamily="80" charset="-128"/>
          <a:cs typeface="ＭＳ Ｐゴシック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rgbClr val="17448F"/>
          </a:solidFill>
          <a:latin typeface="Verdana" pitchFamily="80" charset="0"/>
          <a:ea typeface="ＭＳ Ｐゴシック" pitchFamily="80" charset="-128"/>
          <a:cs typeface="ＭＳ Ｐゴシック"/>
        </a:defRPr>
      </a:lvl5pPr>
      <a:lvl6pPr marL="457200" algn="l" rtl="0" fontAlgn="base">
        <a:spcBef>
          <a:spcPct val="0"/>
        </a:spcBef>
        <a:spcAft>
          <a:spcPct val="0"/>
        </a:spcAft>
        <a:defRPr sz="3000">
          <a:solidFill>
            <a:schemeClr val="bg1"/>
          </a:solidFill>
          <a:latin typeface="Verdana" pitchFamily="80" charset="0"/>
          <a:ea typeface="ＭＳ Ｐゴシック" pitchFamily="80" charset="-128"/>
        </a:defRPr>
      </a:lvl6pPr>
      <a:lvl7pPr marL="914400" algn="l" rtl="0" fontAlgn="base">
        <a:spcBef>
          <a:spcPct val="0"/>
        </a:spcBef>
        <a:spcAft>
          <a:spcPct val="0"/>
        </a:spcAft>
        <a:defRPr sz="3000">
          <a:solidFill>
            <a:schemeClr val="bg1"/>
          </a:solidFill>
          <a:latin typeface="Verdana" pitchFamily="80" charset="0"/>
          <a:ea typeface="ＭＳ Ｐゴシック" pitchFamily="80" charset="-128"/>
        </a:defRPr>
      </a:lvl7pPr>
      <a:lvl8pPr marL="1371600" algn="l" rtl="0" fontAlgn="base">
        <a:spcBef>
          <a:spcPct val="0"/>
        </a:spcBef>
        <a:spcAft>
          <a:spcPct val="0"/>
        </a:spcAft>
        <a:defRPr sz="3000">
          <a:solidFill>
            <a:schemeClr val="bg1"/>
          </a:solidFill>
          <a:latin typeface="Verdana" pitchFamily="80" charset="0"/>
          <a:ea typeface="ＭＳ Ｐゴシック" pitchFamily="80" charset="-128"/>
        </a:defRPr>
      </a:lvl8pPr>
      <a:lvl9pPr marL="1828800" algn="l" rtl="0" fontAlgn="base">
        <a:spcBef>
          <a:spcPct val="0"/>
        </a:spcBef>
        <a:spcAft>
          <a:spcPct val="0"/>
        </a:spcAft>
        <a:defRPr sz="3000">
          <a:solidFill>
            <a:schemeClr val="bg1"/>
          </a:solidFill>
          <a:latin typeface="Verdana" pitchFamily="80" charset="0"/>
          <a:ea typeface="ＭＳ Ｐゴシック" pitchFamily="80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SzPct val="110000"/>
        <a:buFont typeface="Wingdings" pitchFamily="2" charset="2"/>
        <a:buChar char="q"/>
        <a:defRPr sz="2600">
          <a:solidFill>
            <a:srgbClr val="002060"/>
          </a:solidFill>
          <a:latin typeface="+mn-lt"/>
          <a:ea typeface="+mn-ea"/>
          <a:cs typeface="ＭＳ Ｐゴシック"/>
        </a:defRPr>
      </a:lvl1pPr>
      <a:lvl2pPr marL="569913" indent="-285750" algn="l" rtl="0" eaLnBrk="0" fontAlgn="base" hangingPunct="0">
        <a:spcBef>
          <a:spcPct val="20000"/>
        </a:spcBef>
        <a:spcAft>
          <a:spcPct val="0"/>
        </a:spcAft>
        <a:buClr>
          <a:srgbClr val="1C3F94"/>
        </a:buClr>
        <a:buFont typeface="Wingdings" pitchFamily="2" charset="2"/>
        <a:buChar char="§"/>
        <a:defRPr sz="2400">
          <a:solidFill>
            <a:srgbClr val="002060"/>
          </a:solidFill>
          <a:latin typeface="+mn-lt"/>
          <a:ea typeface="+mn-ea"/>
          <a:cs typeface="ＭＳ Ｐゴシック"/>
        </a:defRPr>
      </a:lvl2pPr>
      <a:lvl3pPr marL="976313" indent="-228600" algn="l" rtl="0" eaLnBrk="0" fontAlgn="base" hangingPunct="0">
        <a:spcBef>
          <a:spcPct val="20000"/>
        </a:spcBef>
        <a:spcAft>
          <a:spcPct val="0"/>
        </a:spcAft>
        <a:buClr>
          <a:srgbClr val="626262"/>
        </a:buClr>
        <a:buFont typeface="Wingdings" pitchFamily="2" charset="2"/>
        <a:buChar char="§"/>
        <a:defRPr sz="2200">
          <a:solidFill>
            <a:srgbClr val="002060"/>
          </a:solidFill>
          <a:latin typeface="+mn-lt"/>
          <a:ea typeface="+mn-ea"/>
          <a:cs typeface="ＭＳ Ｐゴシック"/>
        </a:defRPr>
      </a:lvl3pPr>
      <a:lvl4pPr marL="1363663" indent="-228600" algn="l" rtl="0" eaLnBrk="0" fontAlgn="base" hangingPunct="0">
        <a:spcBef>
          <a:spcPct val="20000"/>
        </a:spcBef>
        <a:spcAft>
          <a:spcPct val="0"/>
        </a:spcAft>
        <a:buClr>
          <a:srgbClr val="626262"/>
        </a:buClr>
        <a:buFont typeface="Wingdings" pitchFamily="2" charset="2"/>
        <a:buChar char="§"/>
        <a:defRPr sz="2000">
          <a:solidFill>
            <a:srgbClr val="002060"/>
          </a:solidFill>
          <a:latin typeface="+mn-lt"/>
          <a:ea typeface="+mn-ea"/>
          <a:cs typeface="ＭＳ Ｐゴシック"/>
        </a:defRPr>
      </a:lvl4pPr>
      <a:lvl5pPr marL="1716088" indent="-228600" algn="l" rtl="0" eaLnBrk="0" fontAlgn="base" hangingPunct="0">
        <a:spcBef>
          <a:spcPct val="20000"/>
        </a:spcBef>
        <a:spcAft>
          <a:spcPct val="0"/>
        </a:spcAft>
        <a:buClr>
          <a:srgbClr val="626262"/>
        </a:buClr>
        <a:buSzPct val="80000"/>
        <a:buFont typeface="Wingdings" pitchFamily="2" charset="2"/>
        <a:buChar char="§"/>
        <a:defRPr sz="2000">
          <a:solidFill>
            <a:srgbClr val="002060"/>
          </a:solidFill>
          <a:latin typeface="+mn-lt"/>
          <a:ea typeface="+mn-ea"/>
          <a:cs typeface="ＭＳ Ｐゴシック"/>
        </a:defRPr>
      </a:lvl5pPr>
      <a:lvl6pPr marL="2173288" indent="-228600" algn="l" rtl="0" fontAlgn="base">
        <a:spcBef>
          <a:spcPct val="20000"/>
        </a:spcBef>
        <a:spcAft>
          <a:spcPct val="0"/>
        </a:spcAft>
        <a:buClr>
          <a:srgbClr val="626262"/>
        </a:buClr>
        <a:buSzPct val="80000"/>
        <a:buFont typeface="Wingdings" pitchFamily="80" charset="2"/>
        <a:buChar char="Ø"/>
        <a:defRPr>
          <a:solidFill>
            <a:srgbClr val="3B3D3C"/>
          </a:solidFill>
          <a:latin typeface="+mn-lt"/>
          <a:ea typeface="+mn-ea"/>
        </a:defRPr>
      </a:lvl6pPr>
      <a:lvl7pPr marL="2630488" indent="-228600" algn="l" rtl="0" fontAlgn="base">
        <a:spcBef>
          <a:spcPct val="20000"/>
        </a:spcBef>
        <a:spcAft>
          <a:spcPct val="0"/>
        </a:spcAft>
        <a:buClr>
          <a:srgbClr val="626262"/>
        </a:buClr>
        <a:buSzPct val="80000"/>
        <a:buFont typeface="Wingdings" pitchFamily="80" charset="2"/>
        <a:buChar char="Ø"/>
        <a:defRPr>
          <a:solidFill>
            <a:srgbClr val="3B3D3C"/>
          </a:solidFill>
          <a:latin typeface="+mn-lt"/>
          <a:ea typeface="+mn-ea"/>
        </a:defRPr>
      </a:lvl7pPr>
      <a:lvl8pPr marL="3087688" indent="-228600" algn="l" rtl="0" fontAlgn="base">
        <a:spcBef>
          <a:spcPct val="20000"/>
        </a:spcBef>
        <a:spcAft>
          <a:spcPct val="0"/>
        </a:spcAft>
        <a:buClr>
          <a:srgbClr val="626262"/>
        </a:buClr>
        <a:buSzPct val="80000"/>
        <a:buFont typeface="Wingdings" pitchFamily="80" charset="2"/>
        <a:buChar char="Ø"/>
        <a:defRPr>
          <a:solidFill>
            <a:srgbClr val="3B3D3C"/>
          </a:solidFill>
          <a:latin typeface="+mn-lt"/>
          <a:ea typeface="+mn-ea"/>
        </a:defRPr>
      </a:lvl8pPr>
      <a:lvl9pPr marL="3544888" indent="-228600" algn="l" rtl="0" fontAlgn="base">
        <a:spcBef>
          <a:spcPct val="20000"/>
        </a:spcBef>
        <a:spcAft>
          <a:spcPct val="0"/>
        </a:spcAft>
        <a:buClr>
          <a:srgbClr val="626262"/>
        </a:buClr>
        <a:buSzPct val="80000"/>
        <a:buFont typeface="Wingdings" pitchFamily="80" charset="2"/>
        <a:buChar char="Ø"/>
        <a:defRPr>
          <a:solidFill>
            <a:srgbClr val="3B3D3C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mailto:joneill@perf.in.gov" TargetMode="External"/><Relationship Id="rId2" Type="http://schemas.openxmlformats.org/officeDocument/2006/relationships/hyperlink" Target="mailto:jhutson@inprs.in.gov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mailto:czadrozny@trf.in.gov" TargetMode="External"/><Relationship Id="rId5" Type="http://schemas.openxmlformats.org/officeDocument/2006/relationships/hyperlink" Target="mailto:dwalling@perf.in.gov" TargetMode="External"/><Relationship Id="rId4" Type="http://schemas.openxmlformats.org/officeDocument/2006/relationships/hyperlink" Target="mailto:mpapenfuss@perf.in.gov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ctrTitle"/>
          </p:nvPr>
        </p:nvSpPr>
        <p:spPr>
          <a:xfrm>
            <a:off x="685800" y="2510135"/>
            <a:ext cx="7772400" cy="1470025"/>
          </a:xfrm>
        </p:spPr>
        <p:txBody>
          <a:bodyPr/>
          <a:lstStyle/>
          <a:p>
            <a:pPr algn="ctr"/>
            <a:r>
              <a:rPr lang="en-US" dirty="0" smtClean="0"/>
              <a:t>Employer Advisory Group </a:t>
            </a:r>
            <a:br>
              <a:rPr lang="en-US" dirty="0" smtClean="0"/>
            </a:br>
            <a:r>
              <a:rPr lang="en-US" dirty="0" smtClean="0"/>
              <a:t>Focus on ERM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19400" y="3729335"/>
            <a:ext cx="34251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Thursday, July 14, 2011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mtClean="0"/>
              <a:t>A joint TRF-PERF project</a:t>
            </a:r>
          </a:p>
          <a:p>
            <a:r>
              <a:rPr lang="en-US" smtClean="0"/>
              <a:t>Online system designed to make pension plan administration more:</a:t>
            </a:r>
          </a:p>
          <a:p>
            <a:pPr lvl="1"/>
            <a:r>
              <a:rPr lang="en-US" smtClean="0"/>
              <a:t>intuitive</a:t>
            </a:r>
          </a:p>
          <a:p>
            <a:pPr lvl="1"/>
            <a:r>
              <a:rPr lang="en-US" smtClean="0"/>
              <a:t>routine</a:t>
            </a:r>
          </a:p>
          <a:p>
            <a:pPr lvl="1"/>
            <a:r>
              <a:rPr lang="en-US" smtClean="0"/>
              <a:t>paperless</a:t>
            </a:r>
          </a:p>
          <a:p>
            <a:endParaRPr lang="en-US" smtClean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D1E9052-9C7B-43C7-8093-0B5633EE7FC3}" type="slidenum">
              <a:rPr lang="en-US"/>
              <a:pPr>
                <a:defRPr/>
              </a:pPr>
              <a:t>3</a:t>
            </a:fld>
            <a:endParaRPr lang="en-US" dirty="0"/>
          </a:p>
        </p:txBody>
      </p:sp>
      <p:sp>
        <p:nvSpPr>
          <p:cNvPr id="13316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Employer Reporting and Maintenance?</a:t>
            </a: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Content Placeholder 8"/>
          <p:cNvSpPr>
            <a:spLocks noGrp="1"/>
          </p:cNvSpPr>
          <p:nvPr>
            <p:ph idx="1"/>
          </p:nvPr>
        </p:nvSpPr>
        <p:spPr>
          <a:xfrm>
            <a:off x="1371600" y="2133600"/>
            <a:ext cx="7086600" cy="28956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400" smtClean="0"/>
              <a:t>One-stop shop for employers</a:t>
            </a:r>
          </a:p>
          <a:p>
            <a:pPr>
              <a:lnSpc>
                <a:spcPct val="150000"/>
              </a:lnSpc>
            </a:pPr>
            <a:r>
              <a:rPr lang="en-US" sz="2400" smtClean="0"/>
              <a:t>Comply with state law requiring employers to submit data and contributions electronically on a payroll basis</a:t>
            </a:r>
          </a:p>
          <a:p>
            <a:pPr>
              <a:lnSpc>
                <a:spcPct val="150000"/>
              </a:lnSpc>
            </a:pPr>
            <a:r>
              <a:rPr lang="en-US" sz="2400" smtClean="0"/>
              <a:t>Gets ASA contributions to members’ accounts faster – more chance to earn money!</a:t>
            </a:r>
          </a:p>
          <a:p>
            <a:endParaRPr lang="en-US" smtClean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EC80307-58EF-4042-817C-E5378C2AA23D}" type="slidenum">
              <a:rPr lang="en-US"/>
              <a:pPr>
                <a:defRPr/>
              </a:pPr>
              <a:t>4</a:t>
            </a:fld>
            <a:endParaRPr lang="en-US" dirty="0"/>
          </a:p>
        </p:txBody>
      </p:sp>
      <p:sp>
        <p:nvSpPr>
          <p:cNvPr id="14340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Why ERM?</a:t>
            </a: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Content Placeholder 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Save time</a:t>
            </a:r>
          </a:p>
          <a:p>
            <a:r>
              <a:rPr lang="en-US" smtClean="0"/>
              <a:t>Increase accuracy of information</a:t>
            </a:r>
          </a:p>
          <a:p>
            <a:r>
              <a:rPr lang="en-US" smtClean="0"/>
              <a:t>Comply with state law regarding electronic reporting</a:t>
            </a:r>
          </a:p>
          <a:p>
            <a:pPr lvl="1"/>
            <a:r>
              <a:rPr lang="en-US" smtClean="0"/>
              <a:t>IC 5-10.3-7-12.5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0D263D9-CD8B-4F55-8006-C4D5AB864B9D}" type="slidenum">
              <a:rPr lang="en-US"/>
              <a:pPr>
                <a:defRPr/>
              </a:pPr>
              <a:t>5</a:t>
            </a:fld>
            <a:endParaRPr lang="en-US" dirty="0"/>
          </a:p>
        </p:txBody>
      </p:sp>
      <p:sp>
        <p:nvSpPr>
          <p:cNvPr id="15364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Submitting on a payroll basis will …</a:t>
            </a: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/>
          <p:cNvGraphicFramePr>
            <a:graphicFrameLocks noGrp="1"/>
          </p:cNvGraphicFramePr>
          <p:nvPr>
            <p:ph idx="1"/>
          </p:nvPr>
        </p:nvGraphicFramePr>
        <p:xfrm>
          <a:off x="762000" y="2362200"/>
          <a:ext cx="7848600" cy="331082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724400"/>
                <a:gridCol w="3124200"/>
              </a:tblGrid>
              <a:tr h="733426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Milestone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Estimated</a:t>
                      </a:r>
                      <a:r>
                        <a:rPr lang="en-US" baseline="0" dirty="0" smtClean="0"/>
                        <a:t> Timeframe</a:t>
                      </a:r>
                      <a:endParaRPr lang="en-US" dirty="0"/>
                    </a:p>
                  </a:txBody>
                  <a:tcPr/>
                </a:tc>
              </a:tr>
              <a:tr h="468663">
                <a:tc>
                  <a:txBody>
                    <a:bodyPr/>
                    <a:lstStyle/>
                    <a:p>
                      <a:r>
                        <a:rPr lang="en-US" dirty="0" smtClean="0"/>
                        <a:t>Development and Testing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Now - 9/30/2011</a:t>
                      </a:r>
                      <a:endParaRPr lang="en-US" dirty="0"/>
                    </a:p>
                  </a:txBody>
                  <a:tcPr/>
                </a:tc>
              </a:tr>
              <a:tr h="398112">
                <a:tc>
                  <a:txBody>
                    <a:bodyPr/>
                    <a:lstStyle/>
                    <a:p>
                      <a:r>
                        <a:rPr lang="en-US" dirty="0" smtClean="0"/>
                        <a:t>Employer</a:t>
                      </a:r>
                      <a:r>
                        <a:rPr lang="en-US" baseline="0" dirty="0" smtClean="0"/>
                        <a:t> Pilots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10/1/2011 - 11/30/2011</a:t>
                      </a:r>
                      <a:endParaRPr lang="en-US" dirty="0"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lang="en-US" dirty="0" smtClean="0"/>
                        <a:t>Transition</a:t>
                      </a:r>
                      <a:r>
                        <a:rPr lang="en-US" baseline="0" dirty="0" smtClean="0"/>
                        <a:t> to Production/Training Ready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12/1/2011 - 12/31/2011</a:t>
                      </a:r>
                      <a:endParaRPr lang="en-US" dirty="0"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lang="en-US" baseline="0" dirty="0" smtClean="0"/>
                        <a:t>Employer Training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1/1/2012 - 2/28/2012</a:t>
                      </a:r>
                      <a:endParaRPr lang="en-US" dirty="0"/>
                    </a:p>
                  </a:txBody>
                  <a:tcPr/>
                </a:tc>
              </a:tr>
              <a:tr h="479960">
                <a:tc>
                  <a:txBody>
                    <a:bodyPr/>
                    <a:lstStyle/>
                    <a:p>
                      <a:r>
                        <a:rPr lang="en-US" dirty="0" smtClean="0"/>
                        <a:t>Soft Opening/Transition</a:t>
                      </a:r>
                      <a:r>
                        <a:rPr lang="en-US" baseline="0" dirty="0" smtClean="0"/>
                        <a:t> to Go-Live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3/1/2012 – 3/31/2012</a:t>
                      </a:r>
                      <a:endParaRPr lang="en-US" dirty="0"/>
                    </a:p>
                  </a:txBody>
                  <a:tcPr/>
                </a:tc>
              </a:tr>
              <a:tr h="468663">
                <a:tc>
                  <a:txBody>
                    <a:bodyPr/>
                    <a:lstStyle/>
                    <a:p>
                      <a:r>
                        <a:rPr lang="en-US" dirty="0" smtClean="0"/>
                        <a:t>Estimated Go-Live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4/1/2012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E045140-4ABE-4BB3-8E09-CADE6684D850}" type="slidenum">
              <a:rPr lang="en-US"/>
              <a:pPr>
                <a:defRPr/>
              </a:pPr>
              <a:t>6</a:t>
            </a:fld>
            <a:endParaRPr lang="en-US" dirty="0"/>
          </a:p>
        </p:txBody>
      </p:sp>
      <p:sp>
        <p:nvSpPr>
          <p:cNvPr id="16413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Estimated ERM Timeline</a:t>
            </a: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Content Placeholder 1"/>
          <p:cNvSpPr>
            <a:spLocks noGrp="1"/>
          </p:cNvSpPr>
          <p:nvPr>
            <p:ph idx="1"/>
          </p:nvPr>
        </p:nvSpPr>
        <p:spPr>
          <a:xfrm>
            <a:off x="1371600" y="2819400"/>
            <a:ext cx="7086600" cy="3048000"/>
          </a:xfrm>
        </p:spPr>
        <p:txBody>
          <a:bodyPr/>
          <a:lstStyle/>
          <a:p>
            <a:r>
              <a:rPr lang="en-US" smtClean="0"/>
              <a:t>Employer Management (Self-service)</a:t>
            </a:r>
          </a:p>
          <a:p>
            <a:r>
              <a:rPr lang="en-US" smtClean="0"/>
              <a:t>Member Management </a:t>
            </a:r>
          </a:p>
          <a:p>
            <a:r>
              <a:rPr lang="en-US" smtClean="0"/>
              <a:t>Wage &amp; Contribution Management</a:t>
            </a:r>
          </a:p>
          <a:p>
            <a:r>
              <a:rPr lang="en-US" smtClean="0"/>
              <a:t>Reporting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3955320-1E86-48C0-B3DB-81FD7B908AE5}" type="slidenum">
              <a:rPr lang="en-US"/>
              <a:pPr>
                <a:defRPr/>
              </a:pPr>
              <a:t>7</a:t>
            </a:fld>
            <a:endParaRPr lang="en-US" dirty="0"/>
          </a:p>
        </p:txBody>
      </p:sp>
      <p:sp>
        <p:nvSpPr>
          <p:cNvPr id="17412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ERM at a Glance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Content Placeholder 1"/>
          <p:cNvSpPr>
            <a:spLocks noGrp="1"/>
          </p:cNvSpPr>
          <p:nvPr>
            <p:ph idx="1"/>
          </p:nvPr>
        </p:nvSpPr>
        <p:spPr>
          <a:xfrm>
            <a:off x="1371600" y="2743200"/>
            <a:ext cx="7086600" cy="3124200"/>
          </a:xfrm>
        </p:spPr>
        <p:txBody>
          <a:bodyPr/>
          <a:lstStyle/>
          <a:p>
            <a:r>
              <a:rPr lang="en-US" smtClean="0"/>
              <a:t>Role-based security management</a:t>
            </a:r>
          </a:p>
          <a:p>
            <a:r>
              <a:rPr lang="en-US" smtClean="0"/>
              <a:t>Contact information management</a:t>
            </a:r>
          </a:p>
          <a:p>
            <a:r>
              <a:rPr lang="en-US" smtClean="0"/>
              <a:t>Employer information management</a:t>
            </a:r>
          </a:p>
          <a:p>
            <a:r>
              <a:rPr lang="en-US" smtClean="0"/>
              <a:t>Bank account management (ACH)</a:t>
            </a:r>
          </a:p>
          <a:p>
            <a:pPr>
              <a:buFont typeface="Wingdings" pitchFamily="2" charset="2"/>
              <a:buNone/>
            </a:pPr>
            <a:endParaRPr lang="en-US" smtClean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629AC6-65D0-4F5E-87FC-53D6573C5856}" type="slidenum">
              <a:rPr lang="en-US"/>
              <a:pPr>
                <a:defRPr/>
              </a:pPr>
              <a:t>8</a:t>
            </a:fld>
            <a:endParaRPr lang="en-US" dirty="0"/>
          </a:p>
        </p:txBody>
      </p:sp>
      <p:sp>
        <p:nvSpPr>
          <p:cNvPr id="18436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Employer Management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New member enrollments</a:t>
            </a:r>
          </a:p>
          <a:p>
            <a:r>
              <a:rPr lang="en-US" smtClean="0"/>
              <a:t>Existing member updates for status changes (LOA, terms, etc.)</a:t>
            </a:r>
          </a:p>
          <a:p>
            <a:r>
              <a:rPr lang="en-US" smtClean="0"/>
              <a:t>Upload file feature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8DDCB97-2EDF-499B-A671-49A363EB8D55}" type="slidenum">
              <a:rPr lang="en-US"/>
              <a:pPr>
                <a:defRPr/>
              </a:pPr>
              <a:t>9</a:t>
            </a:fld>
            <a:endParaRPr lang="en-US" dirty="0"/>
          </a:p>
        </p:txBody>
      </p:sp>
      <p:sp>
        <p:nvSpPr>
          <p:cNvPr id="19460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Member Management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Content Placeholder 1"/>
          <p:cNvSpPr>
            <a:spLocks noGrp="1"/>
          </p:cNvSpPr>
          <p:nvPr>
            <p:ph idx="1"/>
          </p:nvPr>
        </p:nvSpPr>
        <p:spPr>
          <a:xfrm>
            <a:off x="1219200" y="2438400"/>
            <a:ext cx="7239000" cy="3429000"/>
          </a:xfrm>
        </p:spPr>
        <p:txBody>
          <a:bodyPr/>
          <a:lstStyle/>
          <a:p>
            <a:r>
              <a:rPr lang="en-US" smtClean="0"/>
              <a:t>Payroll-based reporting </a:t>
            </a:r>
          </a:p>
          <a:p>
            <a:r>
              <a:rPr lang="en-US" smtClean="0"/>
              <a:t>Regular W&amp;C reporting</a:t>
            </a:r>
          </a:p>
          <a:p>
            <a:r>
              <a:rPr lang="en-US" smtClean="0"/>
              <a:t>Adjustment W&amp;C reporting</a:t>
            </a:r>
          </a:p>
          <a:p>
            <a:r>
              <a:rPr lang="en-US" smtClean="0"/>
              <a:t>Upload file feature for regular and adjustment W&amp;C’s </a:t>
            </a:r>
          </a:p>
          <a:p>
            <a:r>
              <a:rPr lang="en-US" smtClean="0"/>
              <a:t>Online error/exception handling</a:t>
            </a:r>
          </a:p>
          <a:p>
            <a:r>
              <a:rPr lang="en-US" smtClean="0"/>
              <a:t>Online payment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58C2094-592A-4320-BB46-42365423D182}" type="slidenum">
              <a:rPr lang="en-US"/>
              <a:pPr>
                <a:defRPr/>
              </a:pPr>
              <a:t>10</a:t>
            </a:fld>
            <a:endParaRPr lang="en-US" dirty="0"/>
          </a:p>
        </p:txBody>
      </p:sp>
      <p:sp>
        <p:nvSpPr>
          <p:cNvPr id="2048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Wage &amp; Contribution (W&amp;C) Management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Content Placeholder 1"/>
          <p:cNvSpPr>
            <a:spLocks noGrp="1"/>
          </p:cNvSpPr>
          <p:nvPr>
            <p:ph idx="1"/>
          </p:nvPr>
        </p:nvSpPr>
        <p:spPr>
          <a:xfrm>
            <a:off x="1295400" y="2590800"/>
            <a:ext cx="7086600" cy="3276600"/>
          </a:xfrm>
        </p:spPr>
        <p:txBody>
          <a:bodyPr/>
          <a:lstStyle/>
          <a:p>
            <a:r>
              <a:rPr lang="en-US" smtClean="0"/>
              <a:t>Online reporting to provide you relevant information throughout the W&amp;C or enrollment submission process</a:t>
            </a:r>
          </a:p>
          <a:p>
            <a:r>
              <a:rPr lang="en-US" smtClean="0"/>
              <a:t>Summary level reporting</a:t>
            </a:r>
          </a:p>
          <a:p>
            <a:r>
              <a:rPr lang="en-US" smtClean="0"/>
              <a:t>Detailed level reporting</a:t>
            </a:r>
          </a:p>
          <a:p>
            <a:endParaRPr lang="en-US" smtClean="0"/>
          </a:p>
          <a:p>
            <a:endParaRPr lang="en-US" smtClean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5A181CA-926B-46D8-B261-5738A451A560}" type="slidenum">
              <a:rPr lang="en-US"/>
              <a:pPr>
                <a:defRPr/>
              </a:pPr>
              <a:t>11</a:t>
            </a:fld>
            <a:endParaRPr lang="en-US" dirty="0"/>
          </a:p>
        </p:txBody>
      </p:sp>
      <p:sp>
        <p:nvSpPr>
          <p:cNvPr id="21508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Reporting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5A97A69-31F7-41B5-A338-877BC413A651}" type="slidenum">
              <a:rPr lang="en-US"/>
              <a:pPr>
                <a:defRPr/>
              </a:pPr>
              <a:t>12</a:t>
            </a:fld>
            <a:endParaRPr lang="en-US" dirty="0"/>
          </a:p>
        </p:txBody>
      </p:sp>
      <p:sp>
        <p:nvSpPr>
          <p:cNvPr id="22531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smtClean="0"/>
          </a:p>
        </p:txBody>
      </p:sp>
      <p:pic>
        <p:nvPicPr>
          <p:cNvPr id="2253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9144000" cy="6858000"/>
          </a:xfr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Content Placeholder 8"/>
          <p:cNvSpPr>
            <a:spLocks noGrp="1"/>
          </p:cNvSpPr>
          <p:nvPr>
            <p:ph idx="1"/>
          </p:nvPr>
        </p:nvSpPr>
        <p:spPr>
          <a:xfrm>
            <a:off x="1371600" y="2209800"/>
            <a:ext cx="7010400" cy="33528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200" smtClean="0"/>
              <a:t>How will my processes be affected?</a:t>
            </a:r>
          </a:p>
          <a:p>
            <a:pPr lvl="1">
              <a:lnSpc>
                <a:spcPct val="150000"/>
              </a:lnSpc>
            </a:pPr>
            <a:r>
              <a:rPr lang="en-US" sz="2000" smtClean="0"/>
              <a:t>Submitting on a payroll basis</a:t>
            </a:r>
          </a:p>
          <a:p>
            <a:pPr lvl="1">
              <a:lnSpc>
                <a:spcPct val="150000"/>
              </a:lnSpc>
            </a:pPr>
            <a:r>
              <a:rPr lang="en-US" sz="2000" smtClean="0"/>
              <a:t>Online payments (ACH) </a:t>
            </a:r>
          </a:p>
          <a:p>
            <a:pPr lvl="1">
              <a:lnSpc>
                <a:spcPct val="150000"/>
              </a:lnSpc>
            </a:pPr>
            <a:r>
              <a:rPr lang="en-US" sz="2000" smtClean="0"/>
              <a:t>New file layout for W&amp;C upload</a:t>
            </a:r>
          </a:p>
          <a:p>
            <a:pPr lvl="1">
              <a:lnSpc>
                <a:spcPct val="150000"/>
              </a:lnSpc>
            </a:pPr>
            <a:r>
              <a:rPr lang="en-US" sz="2000" smtClean="0"/>
              <a:t>Member enrollments &amp; status changes</a:t>
            </a:r>
          </a:p>
          <a:p>
            <a:pPr>
              <a:lnSpc>
                <a:spcPct val="150000"/>
              </a:lnSpc>
            </a:pPr>
            <a:r>
              <a:rPr lang="en-US" sz="2200" smtClean="0"/>
              <a:t>Are there specific reporting needs that would help me do my job better?</a:t>
            </a:r>
          </a:p>
          <a:p>
            <a:pPr lvl="1">
              <a:lnSpc>
                <a:spcPct val="150000"/>
              </a:lnSpc>
            </a:pPr>
            <a:endParaRPr lang="en-US" sz="2000" smtClean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8146E9F-56D6-43F2-B122-0924B7C96B50}" type="slidenum">
              <a:rPr lang="en-US"/>
              <a:pPr>
                <a:defRPr/>
              </a:pPr>
              <a:t>13</a:t>
            </a:fld>
            <a:endParaRPr lang="en-US" dirty="0"/>
          </a:p>
        </p:txBody>
      </p:sp>
      <p:sp>
        <p:nvSpPr>
          <p:cNvPr id="23556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Thinking ahead …</a:t>
            </a: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Supporting the transition …</a:t>
            </a:r>
          </a:p>
        </p:txBody>
      </p:sp>
      <p:sp>
        <p:nvSpPr>
          <p:cNvPr id="24579" name="Content Placeholder 8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mtClean="0"/>
              <a:t>Computer-Based Training</a:t>
            </a:r>
          </a:p>
          <a:p>
            <a:r>
              <a:rPr lang="en-US" smtClean="0"/>
              <a:t>Quick Reference Guides</a:t>
            </a:r>
          </a:p>
          <a:p>
            <a:r>
              <a:rPr lang="en-US" smtClean="0"/>
              <a:t>Online user manuals</a:t>
            </a:r>
          </a:p>
        </p:txBody>
      </p:sp>
      <p:sp>
        <p:nvSpPr>
          <p:cNvPr id="24580" name="Content Placeholder 9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smtClean="0"/>
              <a:t>User discussion groups</a:t>
            </a:r>
          </a:p>
          <a:p>
            <a:r>
              <a:rPr lang="en-US" smtClean="0"/>
              <a:t>On-site seminars</a:t>
            </a:r>
          </a:p>
          <a:p>
            <a:r>
              <a:rPr lang="en-US" smtClean="0"/>
              <a:t>Full technical support</a:t>
            </a:r>
          </a:p>
          <a:p>
            <a:endParaRPr lang="en-US" smtClean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8E8E2C7-DB68-4DD0-A8BB-0A00043FB4D8}" type="slidenum">
              <a:rPr lang="en-US"/>
              <a:pPr>
                <a:defRPr/>
              </a:pPr>
              <a:t>14</a:t>
            </a:fld>
            <a:endParaRPr lang="en-US" dirty="0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Content Placeholder 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sz="2400" smtClean="0"/>
              <a:t>Employer focus groups</a:t>
            </a:r>
          </a:p>
          <a:p>
            <a:pPr lvl="1">
              <a:spcAft>
                <a:spcPts val="600"/>
              </a:spcAft>
            </a:pPr>
            <a:r>
              <a:rPr lang="en-US" sz="2200" smtClean="0"/>
              <a:t>Many employers have participated</a:t>
            </a:r>
          </a:p>
          <a:p>
            <a:pPr lvl="1">
              <a:spcAft>
                <a:spcPts val="600"/>
              </a:spcAft>
            </a:pPr>
            <a:r>
              <a:rPr lang="en-US" sz="2200" smtClean="0"/>
              <a:t>Providing ideas to make the system more intuitive</a:t>
            </a:r>
          </a:p>
          <a:p>
            <a:pPr>
              <a:spcAft>
                <a:spcPts val="600"/>
              </a:spcAft>
            </a:pPr>
            <a:r>
              <a:rPr lang="en-US" sz="2400" smtClean="0"/>
              <a:t>Working with payroll vendors and IT staffs</a:t>
            </a:r>
          </a:p>
          <a:p>
            <a:pPr>
              <a:spcAft>
                <a:spcPts val="600"/>
              </a:spcAft>
            </a:pPr>
            <a:r>
              <a:rPr lang="en-US" sz="2400" smtClean="0"/>
              <a:t>Pilot Groups </a:t>
            </a:r>
          </a:p>
          <a:p>
            <a:endParaRPr lang="en-US" smtClean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7034BCC-7CC0-4597-A448-B2AB2BD71369}" type="slidenum">
              <a:rPr lang="en-US"/>
              <a:pPr>
                <a:defRPr/>
              </a:pPr>
              <a:t>15</a:t>
            </a:fld>
            <a:endParaRPr lang="en-US" dirty="0"/>
          </a:p>
        </p:txBody>
      </p:sp>
      <p:sp>
        <p:nvSpPr>
          <p:cNvPr id="25604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Partnering with employers</a:t>
            </a: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None/>
            </a:pPr>
            <a:r>
              <a:rPr lang="en-US" smtClean="0"/>
              <a:t>-Questions</a:t>
            </a:r>
          </a:p>
          <a:p>
            <a:pPr>
              <a:buFont typeface="Wingdings" pitchFamily="2" charset="2"/>
              <a:buNone/>
            </a:pPr>
            <a:r>
              <a:rPr lang="en-US" smtClean="0"/>
              <a:t>-Concerns</a:t>
            </a:r>
          </a:p>
          <a:p>
            <a:pPr>
              <a:buFont typeface="Wingdings" pitchFamily="2" charset="2"/>
              <a:buNone/>
            </a:pPr>
            <a:r>
              <a:rPr lang="en-US" smtClean="0"/>
              <a:t>-Requests</a:t>
            </a:r>
          </a:p>
          <a:p>
            <a:pPr>
              <a:buFont typeface="Wingdings" pitchFamily="2" charset="2"/>
              <a:buNone/>
            </a:pPr>
            <a:r>
              <a:rPr lang="en-US" smtClean="0"/>
              <a:t>-Reporting Needs</a:t>
            </a:r>
          </a:p>
          <a:p>
            <a:pPr>
              <a:buFont typeface="Wingdings" pitchFamily="2" charset="2"/>
              <a:buNone/>
            </a:pPr>
            <a:endParaRPr lang="en-US" smtClean="0"/>
          </a:p>
          <a:p>
            <a:pPr>
              <a:buFont typeface="Wingdings" pitchFamily="2" charset="2"/>
              <a:buNone/>
            </a:pPr>
            <a:endParaRPr lang="en-US" smtClean="0"/>
          </a:p>
          <a:p>
            <a:pPr>
              <a:buFont typeface="Wingdings" pitchFamily="2" charset="2"/>
              <a:buNone/>
            </a:pPr>
            <a:endParaRPr lang="en-US" smtClean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0BFF63E-AD9D-4FE9-BA49-02E7C6DA6CDD}" type="slidenum">
              <a:rPr lang="en-US"/>
              <a:pPr>
                <a:defRPr/>
              </a:pPr>
              <a:t>16</a:t>
            </a:fld>
            <a:endParaRPr lang="en-US" dirty="0"/>
          </a:p>
        </p:txBody>
      </p:sp>
      <p:sp>
        <p:nvSpPr>
          <p:cNvPr id="26628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Open Discussion</a:t>
            </a: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Content Placeholder 1"/>
          <p:cNvSpPr>
            <a:spLocks noGrp="1"/>
          </p:cNvSpPr>
          <p:nvPr>
            <p:ph idx="1"/>
          </p:nvPr>
        </p:nvSpPr>
        <p:spPr>
          <a:xfrm>
            <a:off x="1295400" y="2362200"/>
            <a:ext cx="7086600" cy="3200400"/>
          </a:xfrm>
        </p:spPr>
        <p:txBody>
          <a:bodyPr/>
          <a:lstStyle/>
          <a:p>
            <a:r>
              <a:rPr lang="en-US" sz="1900" dirty="0" smtClean="0"/>
              <a:t>Jeff Hutson, Chief Communication Officer: </a:t>
            </a:r>
            <a:r>
              <a:rPr lang="en-US" sz="1900" dirty="0" smtClean="0">
                <a:hlinkClick r:id="rId2"/>
              </a:rPr>
              <a:t>jhutson@inprs.in.gov</a:t>
            </a:r>
            <a:endParaRPr lang="en-US" sz="1900" dirty="0" smtClean="0"/>
          </a:p>
          <a:p>
            <a:r>
              <a:rPr lang="en-US" sz="1900" dirty="0" smtClean="0"/>
              <a:t>Jodi O’Neill, Communication Manager: </a:t>
            </a:r>
            <a:r>
              <a:rPr lang="en-US" sz="1900" dirty="0" smtClean="0">
                <a:hlinkClick r:id="rId3"/>
              </a:rPr>
              <a:t>joneill@</a:t>
            </a:r>
            <a:r>
              <a:rPr lang="en-US" sz="1900" dirty="0" smtClean="0">
                <a:hlinkClick r:id="rId2"/>
              </a:rPr>
              <a:t>inprs</a:t>
            </a:r>
            <a:r>
              <a:rPr lang="en-US" sz="1900" dirty="0" smtClean="0">
                <a:hlinkClick r:id="rId3"/>
              </a:rPr>
              <a:t>.in.gov</a:t>
            </a:r>
            <a:endParaRPr lang="en-US" sz="1900" dirty="0" smtClean="0"/>
          </a:p>
          <a:p>
            <a:r>
              <a:rPr lang="en-US" sz="1900" dirty="0" smtClean="0"/>
              <a:t>Megan </a:t>
            </a:r>
            <a:r>
              <a:rPr lang="en-US" sz="1900" dirty="0" err="1" smtClean="0"/>
              <a:t>Papenfuss</a:t>
            </a:r>
            <a:r>
              <a:rPr lang="en-US" sz="1900" dirty="0" smtClean="0"/>
              <a:t>, IT Business Analyst: </a:t>
            </a:r>
            <a:r>
              <a:rPr lang="en-US" sz="1900" dirty="0" smtClean="0">
                <a:hlinkClick r:id="rId4"/>
              </a:rPr>
              <a:t>mpapenfuss@</a:t>
            </a:r>
            <a:r>
              <a:rPr lang="en-US" sz="1900" dirty="0" smtClean="0">
                <a:hlinkClick r:id="rId2"/>
              </a:rPr>
              <a:t>inprs</a:t>
            </a:r>
            <a:r>
              <a:rPr lang="en-US" sz="1900" dirty="0" smtClean="0">
                <a:hlinkClick r:id="rId4"/>
              </a:rPr>
              <a:t>.in.gov</a:t>
            </a:r>
            <a:endParaRPr lang="en-US" sz="1900" dirty="0" smtClean="0"/>
          </a:p>
          <a:p>
            <a:r>
              <a:rPr lang="en-US" sz="1900" dirty="0" smtClean="0"/>
              <a:t>Derek Walling, Project Manager: </a:t>
            </a:r>
            <a:r>
              <a:rPr lang="en-US" sz="1900" dirty="0" smtClean="0">
                <a:hlinkClick r:id="rId5"/>
              </a:rPr>
              <a:t>dwalling@</a:t>
            </a:r>
            <a:r>
              <a:rPr lang="en-US" sz="1900" dirty="0" smtClean="0">
                <a:hlinkClick r:id="rId2"/>
              </a:rPr>
              <a:t>inprs</a:t>
            </a:r>
            <a:r>
              <a:rPr lang="en-US" sz="1900" dirty="0" smtClean="0">
                <a:hlinkClick r:id="rId5"/>
              </a:rPr>
              <a:t>.in.gov</a:t>
            </a:r>
            <a:endParaRPr lang="en-US" sz="1900" dirty="0" smtClean="0"/>
          </a:p>
          <a:p>
            <a:r>
              <a:rPr lang="en-US" sz="1900" dirty="0" smtClean="0"/>
              <a:t>Cara Zadrozny, Senior Communications Specialist: </a:t>
            </a:r>
            <a:r>
              <a:rPr lang="en-US" sz="1900" dirty="0" smtClean="0">
                <a:hlinkClick r:id="rId6"/>
              </a:rPr>
              <a:t>czadrozny@</a:t>
            </a:r>
            <a:r>
              <a:rPr lang="en-US" sz="1900" dirty="0" smtClean="0">
                <a:hlinkClick r:id="rId2"/>
              </a:rPr>
              <a:t>inprs</a:t>
            </a:r>
            <a:r>
              <a:rPr lang="en-US" sz="1900" dirty="0" smtClean="0">
                <a:hlinkClick r:id="rId6"/>
              </a:rPr>
              <a:t>.in.gov</a:t>
            </a:r>
            <a:endParaRPr lang="en-US" sz="1900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</p:txBody>
      </p:sp>
      <p:sp>
        <p:nvSpPr>
          <p:cNvPr id="27651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Feel Free To Contact Us!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991232B-74EE-4D14-831B-0924E9F09637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ank Presentation">
  <a:themeElements>
    <a:clrScheme name="">
      <a:dk1>
        <a:srgbClr val="000000"/>
      </a:dk1>
      <a:lt1>
        <a:srgbClr val="FFFFFF"/>
      </a:lt1>
      <a:dk2>
        <a:srgbClr val="54B948"/>
      </a:dk2>
      <a:lt2>
        <a:srgbClr val="1C3F94"/>
      </a:lt2>
      <a:accent1>
        <a:srgbClr val="E36F1E"/>
      </a:accent1>
      <a:accent2>
        <a:srgbClr val="560049"/>
      </a:accent2>
      <a:accent3>
        <a:srgbClr val="FFFFFF"/>
      </a:accent3>
      <a:accent4>
        <a:srgbClr val="000000"/>
      </a:accent4>
      <a:accent5>
        <a:srgbClr val="EFBBAB"/>
      </a:accent5>
      <a:accent6>
        <a:srgbClr val="4D0041"/>
      </a:accent6>
      <a:hlink>
        <a:srgbClr val="4B3900"/>
      </a:hlink>
      <a:folHlink>
        <a:srgbClr val="807F83"/>
      </a:folHlink>
    </a:clrScheme>
    <a:fontScheme name="Blank Presentation">
      <a:majorFont>
        <a:latin typeface="Verdana"/>
        <a:ea typeface="ＭＳ Ｐゴシック"/>
        <a:cs typeface=""/>
      </a:majorFont>
      <a:minorFont>
        <a:latin typeface="Verdana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80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80" charset="-128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3290</TotalTime>
  <Words>398</Words>
  <Application>Microsoft Office PowerPoint</Application>
  <PresentationFormat>On-screen Show (4:3)</PresentationFormat>
  <Paragraphs>106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ＭＳ Ｐゴシック</vt:lpstr>
      <vt:lpstr>Verdana</vt:lpstr>
      <vt:lpstr>Wingdings</vt:lpstr>
      <vt:lpstr>Arial Narrow</vt:lpstr>
      <vt:lpstr>Blank Presentation</vt:lpstr>
      <vt:lpstr>Employer Advisory Group  Focus on ERM</vt:lpstr>
      <vt:lpstr>Slide 2</vt:lpstr>
      <vt:lpstr>What is Employer Reporting and Maintenance?</vt:lpstr>
      <vt:lpstr>Why ERM?</vt:lpstr>
      <vt:lpstr>Submitting on a payroll basis will …</vt:lpstr>
      <vt:lpstr>Estimated ERM Timeline</vt:lpstr>
      <vt:lpstr>ERM at a Glance</vt:lpstr>
      <vt:lpstr>Employer Management</vt:lpstr>
      <vt:lpstr>Member Management</vt:lpstr>
      <vt:lpstr>Wage &amp; Contribution (W&amp;C) Management</vt:lpstr>
      <vt:lpstr>Reporting</vt:lpstr>
      <vt:lpstr>Slide 12</vt:lpstr>
      <vt:lpstr>Thinking ahead …</vt:lpstr>
      <vt:lpstr>Supporting the transition …</vt:lpstr>
      <vt:lpstr>Partnering with employers</vt:lpstr>
      <vt:lpstr>Open Discussion</vt:lpstr>
      <vt:lpstr>Feel Free To Contact Us!</vt:lpstr>
    </vt:vector>
  </TitlesOfParts>
  <Company>Allison Artnak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Allison Artnak</dc:creator>
  <cp:lastModifiedBy>Lisa Barton</cp:lastModifiedBy>
  <cp:revision>197</cp:revision>
  <dcterms:created xsi:type="dcterms:W3CDTF">2008-12-13T15:57:12Z</dcterms:created>
  <dcterms:modified xsi:type="dcterms:W3CDTF">2011-07-14T20:54:26Z</dcterms:modified>
</cp:coreProperties>
</file>