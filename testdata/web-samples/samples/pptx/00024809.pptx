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charts/chart8.xml" ContentType="application/vnd.openxmlformats-officedocument.drawingml.chart+xml"/>
  <Override PartName="/ppt/charts/chart9.xml" ContentType="application/vnd.openxmlformats-officedocument.drawingml.chart+xml"/>
  <Override PartName="/docProps/custom.xml" ContentType="application/vnd.openxmlformats-officedocument.custom-properties+xml"/>
  <Override PartName="/ppt/commentAuthors.xml" ContentType="application/vnd.openxmlformats-officedocument.presentationml.commentAuthors+xml"/>
  <Override PartName="/ppt/charts/chart6.xml" ContentType="application/vnd.openxmlformats-officedocument.drawingml.chart+xml"/>
  <Override PartName="/ppt/charts/chart7.xml" ContentType="application/vnd.openxmlformats-officedocument.drawingml.chart+xml"/>
  <Override PartName="/ppt/charts/chart10.xml" ContentType="application/vnd.openxmlformats-officedocument.drawingml.chart+xml"/>
  <Default Extension="xlsx" ContentType="application/vnd.openxmlformats-officedocument.spreadsheetml.sheet"/>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4.xml" ContentType="application/vnd.openxmlformats-officedocument.presentationml.slideMaster+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Default Extension="png" ContentType="image/png"/>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79" r:id="rId1"/>
    <p:sldMasterId id="2147483692" r:id="rId2"/>
    <p:sldMasterId id="2147483691" r:id="rId3"/>
    <p:sldMasterId id="2147483689" r:id="rId4"/>
  </p:sldMasterIdLst>
  <p:notesMasterIdLst>
    <p:notesMasterId r:id="rId23"/>
  </p:notesMasterIdLst>
  <p:handoutMasterIdLst>
    <p:handoutMasterId r:id="rId24"/>
  </p:handoutMasterIdLst>
  <p:sldIdLst>
    <p:sldId id="265" r:id="rId5"/>
    <p:sldId id="295" r:id="rId6"/>
    <p:sldId id="366" r:id="rId7"/>
    <p:sldId id="367" r:id="rId8"/>
    <p:sldId id="368" r:id="rId9"/>
    <p:sldId id="369" r:id="rId10"/>
    <p:sldId id="370" r:id="rId11"/>
    <p:sldId id="356" r:id="rId12"/>
    <p:sldId id="357" r:id="rId13"/>
    <p:sldId id="362" r:id="rId14"/>
    <p:sldId id="358" r:id="rId15"/>
    <p:sldId id="359" r:id="rId16"/>
    <p:sldId id="360" r:id="rId17"/>
    <p:sldId id="361" r:id="rId18"/>
    <p:sldId id="363" r:id="rId19"/>
    <p:sldId id="364" r:id="rId20"/>
    <p:sldId id="365" r:id="rId21"/>
    <p:sldId id="355" r:id="rId22"/>
  </p:sldIdLst>
  <p:sldSz cx="9144000" cy="6858000" type="letter"/>
  <p:notesSz cx="7099300" cy="10234613"/>
  <p:defaultTextStyle>
    <a:defPPr>
      <a:defRPr lang="en-GB"/>
    </a:defPPr>
    <a:lvl1pPr algn="l" rtl="0" fontAlgn="base">
      <a:spcBef>
        <a:spcPct val="50000"/>
      </a:spcBef>
      <a:spcAft>
        <a:spcPct val="0"/>
      </a:spcAft>
      <a:defRPr sz="1200" kern="1200">
        <a:solidFill>
          <a:schemeClr val="tx1"/>
        </a:solidFill>
        <a:latin typeface="Arial" charset="0"/>
        <a:ea typeface="+mn-ea"/>
        <a:cs typeface="Arial" charset="0"/>
      </a:defRPr>
    </a:lvl1pPr>
    <a:lvl2pPr marL="457200" algn="l" rtl="0" fontAlgn="base">
      <a:spcBef>
        <a:spcPct val="50000"/>
      </a:spcBef>
      <a:spcAft>
        <a:spcPct val="0"/>
      </a:spcAft>
      <a:defRPr sz="1200" kern="1200">
        <a:solidFill>
          <a:schemeClr val="tx1"/>
        </a:solidFill>
        <a:latin typeface="Arial" charset="0"/>
        <a:ea typeface="+mn-ea"/>
        <a:cs typeface="Arial" charset="0"/>
      </a:defRPr>
    </a:lvl2pPr>
    <a:lvl3pPr marL="914400" algn="l" rtl="0" fontAlgn="base">
      <a:spcBef>
        <a:spcPct val="50000"/>
      </a:spcBef>
      <a:spcAft>
        <a:spcPct val="0"/>
      </a:spcAft>
      <a:defRPr sz="1200" kern="1200">
        <a:solidFill>
          <a:schemeClr val="tx1"/>
        </a:solidFill>
        <a:latin typeface="Arial" charset="0"/>
        <a:ea typeface="+mn-ea"/>
        <a:cs typeface="Arial" charset="0"/>
      </a:defRPr>
    </a:lvl3pPr>
    <a:lvl4pPr marL="1371600" algn="l" rtl="0" fontAlgn="base">
      <a:spcBef>
        <a:spcPct val="50000"/>
      </a:spcBef>
      <a:spcAft>
        <a:spcPct val="0"/>
      </a:spcAft>
      <a:defRPr sz="1200" kern="1200">
        <a:solidFill>
          <a:schemeClr val="tx1"/>
        </a:solidFill>
        <a:latin typeface="Arial" charset="0"/>
        <a:ea typeface="+mn-ea"/>
        <a:cs typeface="Arial" charset="0"/>
      </a:defRPr>
    </a:lvl4pPr>
    <a:lvl5pPr marL="1828800" algn="l" rtl="0" fontAlgn="base">
      <a:spcBef>
        <a:spcPct val="5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Arial" charset="0"/>
        <a:ea typeface="+mn-ea"/>
        <a:cs typeface="Arial" charset="0"/>
      </a:defRPr>
    </a:lvl6pPr>
    <a:lvl7pPr marL="2743200" algn="l" defTabSz="914400" rtl="0" eaLnBrk="1" latinLnBrk="0" hangingPunct="1">
      <a:defRPr sz="1200" kern="1200">
        <a:solidFill>
          <a:schemeClr val="tx1"/>
        </a:solidFill>
        <a:latin typeface="Arial" charset="0"/>
        <a:ea typeface="+mn-ea"/>
        <a:cs typeface="Arial" charset="0"/>
      </a:defRPr>
    </a:lvl7pPr>
    <a:lvl8pPr marL="3200400" algn="l" defTabSz="914400" rtl="0" eaLnBrk="1" latinLnBrk="0" hangingPunct="1">
      <a:defRPr sz="1200" kern="1200">
        <a:solidFill>
          <a:schemeClr val="tx1"/>
        </a:solidFill>
        <a:latin typeface="Arial" charset="0"/>
        <a:ea typeface="+mn-ea"/>
        <a:cs typeface="Arial" charset="0"/>
      </a:defRPr>
    </a:lvl8pPr>
    <a:lvl9pPr marL="3657600" algn="l" defTabSz="914400" rtl="0" eaLnBrk="1" latinLnBrk="0" hangingPunct="1">
      <a:defRPr sz="1200"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ndsay McAfee" initials="LC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066AA"/>
    <a:srgbClr val="8099C6"/>
    <a:srgbClr val="BABBBC"/>
    <a:srgbClr val="97989A"/>
    <a:srgbClr val="CCE3F4"/>
    <a:srgbClr val="D9C8DD"/>
    <a:srgbClr val="C792C6"/>
    <a:srgbClr val="673327"/>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23" autoAdjust="0"/>
    <p:restoredTop sz="79601" autoAdjust="0"/>
  </p:normalViewPr>
  <p:slideViewPr>
    <p:cSldViewPr snapToObjects="1" showGuides="1">
      <p:cViewPr>
        <p:scale>
          <a:sx n="50" d="100"/>
          <a:sy n="50" d="100"/>
        </p:scale>
        <p:origin x="-2928" y="-924"/>
      </p:cViewPr>
      <p:guideLst>
        <p:guide orient="horz" pos="829"/>
        <p:guide orient="horz" pos="3852"/>
        <p:guide pos="204"/>
        <p:guide pos="559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Objects="1" showGuides="1">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Office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Office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Office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Office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Office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Office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Office_Excel_Worksheet10.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layout/>
    </c:title>
    <c:plotArea>
      <c:layout/>
      <c:pieChart>
        <c:varyColors val="1"/>
        <c:ser>
          <c:idx val="0"/>
          <c:order val="0"/>
          <c:tx>
            <c:strRef>
              <c:f>Sheet1!$B$1</c:f>
              <c:strCache>
                <c:ptCount val="1"/>
                <c:pt idx="0">
                  <c:v>U.S.</c:v>
                </c:pt>
              </c:strCache>
            </c:strRef>
          </c:tx>
          <c:dLbls>
            <c:showCatName val="1"/>
            <c:showPercent val="1"/>
            <c:showLeaderLines val="1"/>
          </c:dLbls>
          <c:cat>
            <c:strRef>
              <c:f>Sheet1!$A$2:$A$7</c:f>
              <c:strCache>
                <c:ptCount val="6"/>
                <c:pt idx="0">
                  <c:v>Ppty.</c:v>
                </c:pt>
                <c:pt idx="1">
                  <c:v>Gen. Sales</c:v>
                </c:pt>
                <c:pt idx="2">
                  <c:v>Sel. Sales</c:v>
                </c:pt>
                <c:pt idx="3">
                  <c:v>Ind. Inc.</c:v>
                </c:pt>
                <c:pt idx="4">
                  <c:v>Corp. Inc.</c:v>
                </c:pt>
                <c:pt idx="5">
                  <c:v>Other</c:v>
                </c:pt>
              </c:strCache>
            </c:strRef>
          </c:cat>
          <c:val>
            <c:numRef>
              <c:f>Sheet1!$B$2:$B$7</c:f>
              <c:numCache>
                <c:formatCode>General</c:formatCode>
                <c:ptCount val="6"/>
                <c:pt idx="0">
                  <c:v>33.4</c:v>
                </c:pt>
                <c:pt idx="1">
                  <c:v>22.9</c:v>
                </c:pt>
                <c:pt idx="2">
                  <c:v>11.2</c:v>
                </c:pt>
                <c:pt idx="3">
                  <c:v>21.3</c:v>
                </c:pt>
                <c:pt idx="4">
                  <c:v>3.6</c:v>
                </c:pt>
                <c:pt idx="5">
                  <c:v>7.7</c:v>
                </c:pt>
              </c:numCache>
            </c:numRef>
          </c:val>
        </c:ser>
        <c:dLbls>
          <c:showCatName val="1"/>
          <c:showPercent val="1"/>
        </c:dLbls>
        <c:firstSliceAng val="0"/>
      </c:pieChart>
    </c:plotArea>
    <c:plotVisOnly val="1"/>
  </c:chart>
  <c:txPr>
    <a:bodyPr/>
    <a:lstStyle/>
    <a:p>
      <a:pPr>
        <a:defRPr sz="18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layout/>
    </c:title>
    <c:plotArea>
      <c:layout/>
      <c:pieChart>
        <c:varyColors val="1"/>
        <c:ser>
          <c:idx val="0"/>
          <c:order val="0"/>
          <c:tx>
            <c:strRef>
              <c:f>Sheet1!$B$1</c:f>
              <c:strCache>
                <c:ptCount val="1"/>
                <c:pt idx="0">
                  <c:v>Minnesota</c:v>
                </c:pt>
              </c:strCache>
            </c:strRef>
          </c:tx>
          <c:dLbls>
            <c:showCatName val="1"/>
            <c:showPercent val="1"/>
            <c:showLeaderLines val="1"/>
          </c:dLbls>
          <c:cat>
            <c:strRef>
              <c:f>Sheet1!$A$2:$A$7</c:f>
              <c:strCache>
                <c:ptCount val="6"/>
                <c:pt idx="0">
                  <c:v>Ppty.</c:v>
                </c:pt>
                <c:pt idx="1">
                  <c:v>Gen. Sales</c:v>
                </c:pt>
                <c:pt idx="2">
                  <c:v>Sel. Sales</c:v>
                </c:pt>
                <c:pt idx="3">
                  <c:v>Ind. Inc.</c:v>
                </c:pt>
                <c:pt idx="4">
                  <c:v>Corp. Inc.</c:v>
                </c:pt>
                <c:pt idx="5">
                  <c:v>Other</c:v>
                </c:pt>
              </c:strCache>
            </c:strRef>
          </c:cat>
          <c:val>
            <c:numRef>
              <c:f>Sheet1!$B$2:$B$7</c:f>
              <c:numCache>
                <c:formatCode>General</c:formatCode>
                <c:ptCount val="6"/>
                <c:pt idx="0">
                  <c:v>29.5</c:v>
                </c:pt>
                <c:pt idx="1">
                  <c:v>18.7</c:v>
                </c:pt>
                <c:pt idx="2">
                  <c:v>13.1</c:v>
                </c:pt>
                <c:pt idx="3">
                  <c:v>28.9</c:v>
                </c:pt>
                <c:pt idx="4">
                  <c:v>3.2</c:v>
                </c:pt>
                <c:pt idx="5">
                  <c:v>6.9</c:v>
                </c:pt>
              </c:numCache>
            </c:numRef>
          </c:val>
        </c:ser>
        <c:dLbls>
          <c:showCatName val="1"/>
          <c:showPercent val="1"/>
        </c:dLbls>
        <c:firstSliceAng val="0"/>
      </c:pieChart>
    </c:plotArea>
    <c:plotVisOnly val="1"/>
  </c:chart>
  <c:txPr>
    <a:bodyPr/>
    <a:lstStyle/>
    <a:p>
      <a:pPr>
        <a:defRPr sz="1800"/>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US"/>
  <c:chart>
    <c:autoTitleDeleted val="1"/>
    <c:plotArea>
      <c:layout/>
      <c:barChart>
        <c:barDir val="bar"/>
        <c:grouping val="stacked"/>
        <c:ser>
          <c:idx val="0"/>
          <c:order val="0"/>
          <c:tx>
            <c:strRef>
              <c:f>Sheet1!$B$1</c:f>
              <c:strCache>
                <c:ptCount val="1"/>
                <c:pt idx="0">
                  <c:v>Property</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Sheet1!$B$2:$B$8</c:f>
              <c:numCache>
                <c:formatCode>General</c:formatCode>
                <c:ptCount val="7"/>
                <c:pt idx="0">
                  <c:v>33.4</c:v>
                </c:pt>
                <c:pt idx="1">
                  <c:v>29.5</c:v>
                </c:pt>
                <c:pt idx="2">
                  <c:v>40.1</c:v>
                </c:pt>
                <c:pt idx="3">
                  <c:v>30.3</c:v>
                </c:pt>
                <c:pt idx="4">
                  <c:v>33.200000000000003</c:v>
                </c:pt>
                <c:pt idx="5">
                  <c:v>40.1</c:v>
                </c:pt>
                <c:pt idx="6">
                  <c:v>38.300000000000004</c:v>
                </c:pt>
              </c:numCache>
            </c:numRef>
          </c:val>
        </c:ser>
        <c:ser>
          <c:idx val="1"/>
          <c:order val="1"/>
          <c:tx>
            <c:strRef>
              <c:f>Sheet1!$C$1</c:f>
              <c:strCache>
                <c:ptCount val="1"/>
                <c:pt idx="0">
                  <c:v>Gen. Sales</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Sheet1!$C$2:$C$8</c:f>
              <c:numCache>
                <c:formatCode>General</c:formatCode>
                <c:ptCount val="7"/>
                <c:pt idx="0">
                  <c:v>22.9</c:v>
                </c:pt>
                <c:pt idx="1">
                  <c:v>18.7</c:v>
                </c:pt>
                <c:pt idx="2">
                  <c:v>19</c:v>
                </c:pt>
                <c:pt idx="3">
                  <c:v>26</c:v>
                </c:pt>
                <c:pt idx="4">
                  <c:v>23.6</c:v>
                </c:pt>
                <c:pt idx="5">
                  <c:v>25.1</c:v>
                </c:pt>
                <c:pt idx="6">
                  <c:v>18.2</c:v>
                </c:pt>
              </c:numCache>
            </c:numRef>
          </c:val>
        </c:ser>
        <c:ser>
          <c:idx val="2"/>
          <c:order val="2"/>
          <c:tx>
            <c:strRef>
              <c:f>Sheet1!$D$1</c:f>
              <c:strCache>
                <c:ptCount val="1"/>
                <c:pt idx="0">
                  <c:v>Sel. Sales</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Sheet1!$D$2:$D$8</c:f>
              <c:numCache>
                <c:formatCode>General</c:formatCode>
                <c:ptCount val="7"/>
                <c:pt idx="0">
                  <c:v>11.2</c:v>
                </c:pt>
                <c:pt idx="1">
                  <c:v>13.1</c:v>
                </c:pt>
                <c:pt idx="2">
                  <c:v>15.6</c:v>
                </c:pt>
                <c:pt idx="3">
                  <c:v>11.7</c:v>
                </c:pt>
                <c:pt idx="4">
                  <c:v>10.6</c:v>
                </c:pt>
                <c:pt idx="5">
                  <c:v>10.5</c:v>
                </c:pt>
                <c:pt idx="6">
                  <c:v>11</c:v>
                </c:pt>
              </c:numCache>
            </c:numRef>
          </c:val>
        </c:ser>
        <c:ser>
          <c:idx val="3"/>
          <c:order val="3"/>
          <c:tx>
            <c:strRef>
              <c:f>Sheet1!$E$1</c:f>
              <c:strCache>
                <c:ptCount val="1"/>
                <c:pt idx="0">
                  <c:v>Ind. Inc.</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Sheet1!$E$2:$E$8</c:f>
              <c:numCache>
                <c:formatCode>General</c:formatCode>
                <c:ptCount val="7"/>
                <c:pt idx="0">
                  <c:v>21.3</c:v>
                </c:pt>
                <c:pt idx="1">
                  <c:v>28.9</c:v>
                </c:pt>
                <c:pt idx="2">
                  <c:v>16.2</c:v>
                </c:pt>
                <c:pt idx="3">
                  <c:v>23.9</c:v>
                </c:pt>
                <c:pt idx="4">
                  <c:v>23.5</c:v>
                </c:pt>
                <c:pt idx="5">
                  <c:v>17.5</c:v>
                </c:pt>
                <c:pt idx="6">
                  <c:v>24.8</c:v>
                </c:pt>
              </c:numCache>
            </c:numRef>
          </c:val>
        </c:ser>
        <c:ser>
          <c:idx val="4"/>
          <c:order val="4"/>
          <c:tx>
            <c:strRef>
              <c:f>Sheet1!$F$1</c:f>
              <c:strCache>
                <c:ptCount val="1"/>
                <c:pt idx="0">
                  <c:v>Corp.</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Sheet1!$F$2:$F$8</c:f>
              <c:numCache>
                <c:formatCode>General</c:formatCode>
                <c:ptCount val="7"/>
                <c:pt idx="0">
                  <c:v>3.6</c:v>
                </c:pt>
                <c:pt idx="1">
                  <c:v>3.2</c:v>
                </c:pt>
                <c:pt idx="2">
                  <c:v>3</c:v>
                </c:pt>
                <c:pt idx="3">
                  <c:v>3.5</c:v>
                </c:pt>
                <c:pt idx="4">
                  <c:v>2.2000000000000002</c:v>
                </c:pt>
                <c:pt idx="5">
                  <c:v>2</c:v>
                </c:pt>
                <c:pt idx="6">
                  <c:v>2.7</c:v>
                </c:pt>
              </c:numCache>
            </c:numRef>
          </c:val>
        </c:ser>
        <c:ser>
          <c:idx val="5"/>
          <c:order val="5"/>
          <c:tx>
            <c:strRef>
              <c:f>Sheet1!$G$1</c:f>
              <c:strCache>
                <c:ptCount val="1"/>
                <c:pt idx="0">
                  <c:v>Other</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Sheet1!$G$2:$G$8</c:f>
              <c:numCache>
                <c:formatCode>General</c:formatCode>
                <c:ptCount val="7"/>
                <c:pt idx="0">
                  <c:v>7.7</c:v>
                </c:pt>
                <c:pt idx="1">
                  <c:v>6.5</c:v>
                </c:pt>
                <c:pt idx="2">
                  <c:v>6</c:v>
                </c:pt>
                <c:pt idx="3">
                  <c:v>4.7</c:v>
                </c:pt>
                <c:pt idx="4">
                  <c:v>6.8</c:v>
                </c:pt>
                <c:pt idx="5">
                  <c:v>4.9000000000000004</c:v>
                </c:pt>
                <c:pt idx="6">
                  <c:v>5.0999999999999996</c:v>
                </c:pt>
              </c:numCache>
            </c:numRef>
          </c:val>
        </c:ser>
        <c:dLbls>
          <c:showVal val="1"/>
        </c:dLbls>
        <c:gapWidth val="95"/>
        <c:overlap val="100"/>
        <c:axId val="48427776"/>
        <c:axId val="48429312"/>
      </c:barChart>
      <c:catAx>
        <c:axId val="48427776"/>
        <c:scaling>
          <c:orientation val="minMax"/>
        </c:scaling>
        <c:axPos val="l"/>
        <c:majorTickMark val="none"/>
        <c:tickLblPos val="nextTo"/>
        <c:crossAx val="48429312"/>
        <c:crosses val="autoZero"/>
        <c:auto val="1"/>
        <c:lblAlgn val="ctr"/>
        <c:lblOffset val="100"/>
      </c:catAx>
      <c:valAx>
        <c:axId val="48429312"/>
        <c:scaling>
          <c:orientation val="minMax"/>
        </c:scaling>
        <c:delete val="1"/>
        <c:axPos val="b"/>
        <c:numFmt formatCode="General" sourceLinked="1"/>
        <c:tickLblPos val="none"/>
        <c:crossAx val="48427776"/>
        <c:crosses val="autoZero"/>
        <c:crossBetween val="between"/>
      </c:valAx>
    </c:plotArea>
    <c:legend>
      <c:legendPos val="b"/>
      <c:layout/>
    </c:legend>
    <c:plotVisOnly val="1"/>
  </c:chart>
  <c:txPr>
    <a:bodyPr/>
    <a:lstStyle/>
    <a:p>
      <a:pPr>
        <a:defRPr sz="1800"/>
      </a:pPr>
      <a:endParaRPr lang="en-US"/>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title>
      <c:layout/>
    </c:title>
    <c:plotArea>
      <c:layout/>
      <c:pieChart>
        <c:varyColors val="1"/>
        <c:ser>
          <c:idx val="0"/>
          <c:order val="0"/>
          <c:tx>
            <c:strRef>
              <c:f>Sheet1!$B$1</c:f>
              <c:strCache>
                <c:ptCount val="1"/>
                <c:pt idx="0">
                  <c:v>Minnesota</c:v>
                </c:pt>
              </c:strCache>
            </c:strRef>
          </c:tx>
          <c:dLbls>
            <c:showCatName val="1"/>
            <c:showPercent val="1"/>
            <c:showLeaderLines val="1"/>
          </c:dLbls>
          <c:cat>
            <c:strRef>
              <c:f>Sheet1!$A$2:$A$7</c:f>
              <c:strCache>
                <c:ptCount val="6"/>
                <c:pt idx="0">
                  <c:v>Ppty.</c:v>
                </c:pt>
                <c:pt idx="1">
                  <c:v>Gen. Sales</c:v>
                </c:pt>
                <c:pt idx="2">
                  <c:v>Sel. Sales</c:v>
                </c:pt>
                <c:pt idx="3">
                  <c:v>Ind. Inc.</c:v>
                </c:pt>
                <c:pt idx="4">
                  <c:v>Corp. Inc.</c:v>
                </c:pt>
                <c:pt idx="5">
                  <c:v>Other</c:v>
                </c:pt>
              </c:strCache>
            </c:strRef>
          </c:cat>
          <c:val>
            <c:numRef>
              <c:f>Sheet1!$B$2:$B$7</c:f>
              <c:numCache>
                <c:formatCode>0.0%</c:formatCode>
                <c:ptCount val="6"/>
                <c:pt idx="0">
                  <c:v>4.1548078615727124E-2</c:v>
                </c:pt>
                <c:pt idx="1">
                  <c:v>0.255</c:v>
                </c:pt>
                <c:pt idx="2">
                  <c:v>0.17400000000000004</c:v>
                </c:pt>
                <c:pt idx="3">
                  <c:v>0.40500000000000008</c:v>
                </c:pt>
                <c:pt idx="4">
                  <c:v>4.5000000000000012E-2</c:v>
                </c:pt>
                <c:pt idx="5">
                  <c:v>8.0000000000000043E-2</c:v>
                </c:pt>
              </c:numCache>
            </c:numRef>
          </c:val>
        </c:ser>
        <c:dLbls>
          <c:showCatName val="1"/>
          <c:showPercent val="1"/>
        </c:dLbls>
        <c:firstSliceAng val="0"/>
      </c:pieChart>
    </c:plotArea>
    <c:plotVisOnly val="1"/>
  </c:chart>
  <c:txPr>
    <a:bodyPr/>
    <a:lstStyle/>
    <a:p>
      <a:pPr>
        <a:defRPr sz="1800"/>
      </a:pPr>
      <a:endParaRPr lang="en-US"/>
    </a:p>
  </c:tx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lang val="en-US"/>
  <c:chart>
    <c:title>
      <c:layout/>
    </c:title>
    <c:plotArea>
      <c:layout/>
      <c:pieChart>
        <c:varyColors val="1"/>
        <c:ser>
          <c:idx val="0"/>
          <c:order val="0"/>
          <c:tx>
            <c:strRef>
              <c:f>Sheet1!$B$1</c:f>
              <c:strCache>
                <c:ptCount val="1"/>
                <c:pt idx="0">
                  <c:v>U.S.</c:v>
                </c:pt>
              </c:strCache>
            </c:strRef>
          </c:tx>
          <c:dLbls>
            <c:showCatName val="1"/>
            <c:showPercent val="1"/>
            <c:showLeaderLines val="1"/>
          </c:dLbls>
          <c:cat>
            <c:strRef>
              <c:f>Sheet1!$A$2:$A$7</c:f>
              <c:strCache>
                <c:ptCount val="6"/>
                <c:pt idx="0">
                  <c:v>Ppty.</c:v>
                </c:pt>
                <c:pt idx="1">
                  <c:v>Gen. Sales</c:v>
                </c:pt>
                <c:pt idx="2">
                  <c:v>Sel. Sales</c:v>
                </c:pt>
                <c:pt idx="3">
                  <c:v>Ind. Inc.</c:v>
                </c:pt>
                <c:pt idx="4">
                  <c:v>Corp. Inc.</c:v>
                </c:pt>
                <c:pt idx="5">
                  <c:v>Other</c:v>
                </c:pt>
              </c:strCache>
            </c:strRef>
          </c:cat>
          <c:val>
            <c:numRef>
              <c:f>Sheet1!$B$2:$B$7</c:f>
              <c:numCache>
                <c:formatCode>0.00%</c:formatCode>
                <c:ptCount val="6"/>
                <c:pt idx="0">
                  <c:v>1.8119156545815383E-2</c:v>
                </c:pt>
                <c:pt idx="1">
                  <c:v>0.31200000000000022</c:v>
                </c:pt>
                <c:pt idx="2">
                  <c:v>0.16200000000000001</c:v>
                </c:pt>
                <c:pt idx="3">
                  <c:v>0.34400000000000008</c:v>
                </c:pt>
                <c:pt idx="4">
                  <c:v>5.5000000000000014E-2</c:v>
                </c:pt>
                <c:pt idx="5">
                  <c:v>0.10199999999999998</c:v>
                </c:pt>
              </c:numCache>
            </c:numRef>
          </c:val>
        </c:ser>
        <c:dLbls>
          <c:showCatName val="1"/>
          <c:showPercent val="1"/>
        </c:dLbls>
        <c:firstSliceAng val="0"/>
      </c:pieChart>
    </c:plotArea>
    <c:plotVisOnly val="1"/>
  </c:chart>
  <c:txPr>
    <a:bodyPr/>
    <a:lstStyle/>
    <a:p>
      <a:pPr>
        <a:defRPr sz="1800"/>
      </a:pPr>
      <a:endParaRPr lang="en-US"/>
    </a:p>
  </c:txPr>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pieChart>
        <c:varyColors val="1"/>
        <c:ser>
          <c:idx val="0"/>
          <c:order val="0"/>
          <c:tx>
            <c:strRef>
              <c:f>Sheet1!$B$1</c:f>
              <c:strCache>
                <c:ptCount val="1"/>
                <c:pt idx="0">
                  <c:v>Minnesota</c:v>
                </c:pt>
              </c:strCache>
            </c:strRef>
          </c:tx>
          <c:cat>
            <c:strRef>
              <c:f>Sheet1!$A$2:$A$7</c:f>
              <c:strCache>
                <c:ptCount val="6"/>
                <c:pt idx="0">
                  <c:v>Property</c:v>
                </c:pt>
                <c:pt idx="1">
                  <c:v>Gen. Sales</c:v>
                </c:pt>
                <c:pt idx="2">
                  <c:v>Sel. Sales</c:v>
                </c:pt>
                <c:pt idx="3">
                  <c:v>Ind. Inc.</c:v>
                </c:pt>
                <c:pt idx="4">
                  <c:v>Corp. Inc.</c:v>
                </c:pt>
                <c:pt idx="5">
                  <c:v>Other</c:v>
                </c:pt>
              </c:strCache>
            </c:strRef>
          </c:cat>
          <c:val>
            <c:numRef>
              <c:f>Sheet1!$B$2:$B$7</c:f>
              <c:numCache>
                <c:formatCode>0.0%</c:formatCode>
                <c:ptCount val="6"/>
                <c:pt idx="0">
                  <c:v>0.92839414353403804</c:v>
                </c:pt>
                <c:pt idx="1">
                  <c:v>1.7000000000000001E-2</c:v>
                </c:pt>
                <c:pt idx="2">
                  <c:v>2.5000000000000001E-2</c:v>
                </c:pt>
                <c:pt idx="3">
                  <c:v>0</c:v>
                </c:pt>
                <c:pt idx="4">
                  <c:v>0</c:v>
                </c:pt>
                <c:pt idx="5">
                  <c:v>3.1000000000000028E-2</c:v>
                </c:pt>
              </c:numCache>
            </c:numRef>
          </c:val>
        </c:ser>
        <c:firstSliceAng val="0"/>
      </c:pieChart>
    </c:plotArea>
    <c:plotVisOnly val="1"/>
  </c:chart>
  <c:txPr>
    <a:bodyPr/>
    <a:lstStyle/>
    <a:p>
      <a:pPr>
        <a:defRPr sz="1800"/>
      </a:pPr>
      <a:endParaRPr lang="en-US"/>
    </a:p>
  </c:txPr>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chart>
    <c:title>
      <c:layout/>
    </c:title>
    <c:plotArea>
      <c:layout/>
      <c:pieChart>
        <c:varyColors val="1"/>
        <c:ser>
          <c:idx val="0"/>
          <c:order val="0"/>
          <c:tx>
            <c:strRef>
              <c:f>Sheet1!$B$1</c:f>
              <c:strCache>
                <c:ptCount val="1"/>
                <c:pt idx="0">
                  <c:v>U.S.</c:v>
                </c:pt>
              </c:strCache>
            </c:strRef>
          </c:tx>
          <c:dLbls>
            <c:dLbl>
              <c:idx val="0"/>
              <c:layout>
                <c:manualLayout>
                  <c:x val="-0.19292486253394198"/>
                  <c:y val="-0.15964420338415158"/>
                </c:manualLayout>
              </c:layout>
              <c:showCatName val="1"/>
              <c:showPercent val="1"/>
            </c:dLbl>
            <c:showCatName val="1"/>
            <c:showPercent val="1"/>
            <c:showLeaderLines val="1"/>
          </c:dLbls>
          <c:cat>
            <c:strRef>
              <c:f>Sheet1!$A$2:$A$7</c:f>
              <c:strCache>
                <c:ptCount val="6"/>
                <c:pt idx="0">
                  <c:v>Ppty.</c:v>
                </c:pt>
                <c:pt idx="1">
                  <c:v>Gen. Sales</c:v>
                </c:pt>
                <c:pt idx="2">
                  <c:v>Sel. Sales</c:v>
                </c:pt>
                <c:pt idx="3">
                  <c:v>Ind. Inc.</c:v>
                </c:pt>
                <c:pt idx="4">
                  <c:v>Corp. Inc.</c:v>
                </c:pt>
                <c:pt idx="5">
                  <c:v>Other</c:v>
                </c:pt>
              </c:strCache>
            </c:strRef>
          </c:cat>
          <c:val>
            <c:numRef>
              <c:f>Sheet1!$B$2:$B$7</c:f>
              <c:numCache>
                <c:formatCode>0.00%</c:formatCode>
                <c:ptCount val="6"/>
                <c:pt idx="0">
                  <c:v>0.73948503195607262</c:v>
                </c:pt>
                <c:pt idx="1">
                  <c:v>0.11210000000000002</c:v>
                </c:pt>
                <c:pt idx="2">
                  <c:v>4.8000000000000001E-2</c:v>
                </c:pt>
                <c:pt idx="3">
                  <c:v>4.3999999999999997E-2</c:v>
                </c:pt>
                <c:pt idx="4">
                  <c:v>1.2E-2</c:v>
                </c:pt>
                <c:pt idx="5">
                  <c:v>4.3000000000000003E-2</c:v>
                </c:pt>
              </c:numCache>
            </c:numRef>
          </c:val>
        </c:ser>
        <c:dLbls>
          <c:showCatName val="1"/>
          <c:showPercent val="1"/>
        </c:dLbls>
        <c:firstSliceAng val="0"/>
      </c:pieChart>
    </c:plotArea>
    <c:plotVisOnly val="1"/>
  </c:chart>
  <c:txPr>
    <a:bodyPr/>
    <a:lstStyle/>
    <a:p>
      <a:pPr>
        <a:defRPr sz="1800"/>
      </a:pPr>
      <a:endParaRPr lang="en-US"/>
    </a:p>
  </c:txPr>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bar"/>
        <c:grouping val="stacked"/>
        <c:ser>
          <c:idx val="0"/>
          <c:order val="0"/>
          <c:tx>
            <c:strRef>
              <c:f>Sheet1!$B$1</c:f>
              <c:strCache>
                <c:ptCount val="1"/>
                <c:pt idx="0">
                  <c:v>Property</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Sheet1!$B$2:$B$8</c:f>
              <c:numCache>
                <c:formatCode>0.0%</c:formatCode>
                <c:ptCount val="7"/>
                <c:pt idx="0">
                  <c:v>1.7999999999999999E-2</c:v>
                </c:pt>
                <c:pt idx="1">
                  <c:v>4.2000000000000023E-2</c:v>
                </c:pt>
                <c:pt idx="2">
                  <c:v>2.0000000000000026E-3</c:v>
                </c:pt>
                <c:pt idx="3">
                  <c:v>1.0000000000000013E-3</c:v>
                </c:pt>
                <c:pt idx="4">
                  <c:v>0</c:v>
                </c:pt>
                <c:pt idx="5">
                  <c:v>9.5000000000000043E-2</c:v>
                </c:pt>
                <c:pt idx="6">
                  <c:v>9.0000000000000028E-3</c:v>
                </c:pt>
              </c:numCache>
            </c:numRef>
          </c:val>
        </c:ser>
        <c:ser>
          <c:idx val="1"/>
          <c:order val="1"/>
          <c:tx>
            <c:strRef>
              <c:f>Sheet1!$C$1</c:f>
              <c:strCache>
                <c:ptCount val="1"/>
                <c:pt idx="0">
                  <c:v>Gen. Sales</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Sheet1!$C$2:$C$8</c:f>
              <c:numCache>
                <c:formatCode>0.0%</c:formatCode>
                <c:ptCount val="7"/>
                <c:pt idx="0">
                  <c:v>0.3200000000000004</c:v>
                </c:pt>
                <c:pt idx="1">
                  <c:v>0.255</c:v>
                </c:pt>
                <c:pt idx="2">
                  <c:v>0.31900000000000039</c:v>
                </c:pt>
                <c:pt idx="3">
                  <c:v>0.41600000000000031</c:v>
                </c:pt>
                <c:pt idx="4">
                  <c:v>0.31500000000000034</c:v>
                </c:pt>
                <c:pt idx="5">
                  <c:v>0.39500000000000046</c:v>
                </c:pt>
                <c:pt idx="6">
                  <c:v>0.28300000000000008</c:v>
                </c:pt>
              </c:numCache>
            </c:numRef>
          </c:val>
        </c:ser>
        <c:ser>
          <c:idx val="2"/>
          <c:order val="2"/>
          <c:tx>
            <c:strRef>
              <c:f>Sheet1!$D$1</c:f>
              <c:strCache>
                <c:ptCount val="1"/>
                <c:pt idx="0">
                  <c:v>Sel. Sales</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Sheet1!$D$2:$D$8</c:f>
              <c:numCache>
                <c:formatCode>0.0%</c:formatCode>
                <c:ptCount val="7"/>
                <c:pt idx="0">
                  <c:v>0.16200000000000001</c:v>
                </c:pt>
                <c:pt idx="1">
                  <c:v>0.17400000000000004</c:v>
                </c:pt>
                <c:pt idx="2">
                  <c:v>0.21900000000000017</c:v>
                </c:pt>
                <c:pt idx="3">
                  <c:v>0.17800000000000016</c:v>
                </c:pt>
                <c:pt idx="4">
                  <c:v>0.15300000000000016</c:v>
                </c:pt>
                <c:pt idx="5">
                  <c:v>0.15400000000000016</c:v>
                </c:pt>
                <c:pt idx="6">
                  <c:v>0.17700000000000016</c:v>
                </c:pt>
              </c:numCache>
            </c:numRef>
          </c:val>
        </c:ser>
        <c:ser>
          <c:idx val="3"/>
          <c:order val="3"/>
          <c:tx>
            <c:strRef>
              <c:f>Sheet1!$E$1</c:f>
              <c:strCache>
                <c:ptCount val="1"/>
                <c:pt idx="0">
                  <c:v>Ind. Inc.</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Sheet1!$E$2:$E$8</c:f>
              <c:numCache>
                <c:formatCode>0.0%</c:formatCode>
                <c:ptCount val="7"/>
                <c:pt idx="0">
                  <c:v>0.34400000000000008</c:v>
                </c:pt>
                <c:pt idx="1">
                  <c:v>0.40500000000000008</c:v>
                </c:pt>
                <c:pt idx="2">
                  <c:v>0.31400000000000033</c:v>
                </c:pt>
                <c:pt idx="3">
                  <c:v>0.28900000000000031</c:v>
                </c:pt>
                <c:pt idx="4">
                  <c:v>0.3870000000000004</c:v>
                </c:pt>
                <c:pt idx="5">
                  <c:v>0.25700000000000001</c:v>
                </c:pt>
                <c:pt idx="6">
                  <c:v>0.41300000000000031</c:v>
                </c:pt>
              </c:numCache>
            </c:numRef>
          </c:val>
        </c:ser>
        <c:ser>
          <c:idx val="4"/>
          <c:order val="4"/>
          <c:tx>
            <c:strRef>
              <c:f>Sheet1!$F$1</c:f>
              <c:strCache>
                <c:ptCount val="1"/>
                <c:pt idx="0">
                  <c:v>Corp.</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Sheet1!$F$2:$F$8</c:f>
              <c:numCache>
                <c:formatCode>0.0%</c:formatCode>
                <c:ptCount val="7"/>
                <c:pt idx="0">
                  <c:v>5.5000000000000014E-2</c:v>
                </c:pt>
                <c:pt idx="1">
                  <c:v>4.5000000000000012E-2</c:v>
                </c:pt>
                <c:pt idx="2">
                  <c:v>5.8000000000000003E-2</c:v>
                </c:pt>
                <c:pt idx="3">
                  <c:v>5.6000000000000001E-2</c:v>
                </c:pt>
                <c:pt idx="4">
                  <c:v>3.7999999999999999E-2</c:v>
                </c:pt>
                <c:pt idx="5">
                  <c:v>3.1000000000000028E-2</c:v>
                </c:pt>
                <c:pt idx="6">
                  <c:v>4.5000000000000012E-2</c:v>
                </c:pt>
              </c:numCache>
            </c:numRef>
          </c:val>
        </c:ser>
        <c:ser>
          <c:idx val="5"/>
          <c:order val="5"/>
          <c:tx>
            <c:strRef>
              <c:f>Sheet1!$G$1</c:f>
              <c:strCache>
                <c:ptCount val="1"/>
                <c:pt idx="0">
                  <c:v>Other</c:v>
                </c:pt>
              </c:strCache>
            </c:strRef>
          </c:tx>
          <c:cat>
            <c:strRef>
              <c:f>Sheet1!$A$2:$A$8</c:f>
              <c:strCache>
                <c:ptCount val="7"/>
                <c:pt idx="0">
                  <c:v>U.S.</c:v>
                </c:pt>
                <c:pt idx="1">
                  <c:v>Minnesota</c:v>
                </c:pt>
                <c:pt idx="2">
                  <c:v>Illinois</c:v>
                </c:pt>
                <c:pt idx="3">
                  <c:v>Indiana</c:v>
                </c:pt>
                <c:pt idx="4">
                  <c:v>Iowa</c:v>
                </c:pt>
                <c:pt idx="5">
                  <c:v>Michigan</c:v>
                </c:pt>
                <c:pt idx="6">
                  <c:v>Wisconsin</c:v>
                </c:pt>
              </c:strCache>
            </c:strRef>
          </c:cat>
          <c:val>
            <c:numRef>
              <c:f>Sheet1!$G$2:$G$8</c:f>
              <c:numCache>
                <c:formatCode>0.0%</c:formatCode>
                <c:ptCount val="7"/>
                <c:pt idx="0">
                  <c:v>0.10100000000000002</c:v>
                </c:pt>
                <c:pt idx="1">
                  <c:v>8.0000000000000043E-2</c:v>
                </c:pt>
                <c:pt idx="2">
                  <c:v>8.8000000000000064E-2</c:v>
                </c:pt>
                <c:pt idx="3">
                  <c:v>5.9000000000000045E-2</c:v>
                </c:pt>
                <c:pt idx="4">
                  <c:v>0.10700000000000008</c:v>
                </c:pt>
                <c:pt idx="5">
                  <c:v>6.7000000000000004E-2</c:v>
                </c:pt>
                <c:pt idx="6">
                  <c:v>7.1999999999999995E-2</c:v>
                </c:pt>
              </c:numCache>
            </c:numRef>
          </c:val>
        </c:ser>
        <c:dLbls>
          <c:showVal val="1"/>
        </c:dLbls>
        <c:gapWidth val="95"/>
        <c:overlap val="100"/>
        <c:axId val="77390976"/>
        <c:axId val="77392512"/>
      </c:barChart>
      <c:catAx>
        <c:axId val="77390976"/>
        <c:scaling>
          <c:orientation val="minMax"/>
        </c:scaling>
        <c:axPos val="l"/>
        <c:majorTickMark val="none"/>
        <c:tickLblPos val="nextTo"/>
        <c:crossAx val="77392512"/>
        <c:crosses val="autoZero"/>
        <c:auto val="1"/>
        <c:lblAlgn val="ctr"/>
        <c:lblOffset val="100"/>
      </c:catAx>
      <c:valAx>
        <c:axId val="77392512"/>
        <c:scaling>
          <c:orientation val="minMax"/>
          <c:max val="1"/>
        </c:scaling>
        <c:delete val="1"/>
        <c:axPos val="b"/>
        <c:numFmt formatCode="0.0%" sourceLinked="1"/>
        <c:tickLblPos val="none"/>
        <c:crossAx val="77390976"/>
        <c:crosses val="autoZero"/>
        <c:crossBetween val="between"/>
      </c:valAx>
    </c:plotArea>
    <c:legend>
      <c:legendPos val="b"/>
      <c:layout/>
    </c:legend>
    <c:plotVisOnly val="1"/>
  </c:chart>
  <c:txPr>
    <a:bodyPr/>
    <a:lstStyle/>
    <a:p>
      <a:pPr>
        <a:defRPr sz="1800"/>
      </a:pPr>
      <a:endParaRPr lang="en-US"/>
    </a:p>
  </c:txPr>
  <c:externalData r:id="rId1"/>
</c:chartSpace>
</file>

<file path=ppt/charts/chart9.xml><?xml version="1.0" encoding="utf-8"?>
<c:chartSpace xmlns:c="http://schemas.openxmlformats.org/drawingml/2006/chart" xmlns:a="http://schemas.openxmlformats.org/drawingml/2006/main" xmlns:r="http://schemas.openxmlformats.org/officeDocument/2006/relationships">
  <c:lang val="en-US"/>
  <c:chart>
    <c:plotArea>
      <c:layout/>
      <c:lineChart>
        <c:grouping val="standard"/>
        <c:ser>
          <c:idx val="0"/>
          <c:order val="0"/>
          <c:tx>
            <c:strRef>
              <c:f>Sheet1!$A$2</c:f>
              <c:strCache>
                <c:ptCount val="1"/>
                <c:pt idx="0">
                  <c:v>US</c:v>
                </c:pt>
              </c:strCache>
            </c:strRef>
          </c:tx>
          <c:spPr>
            <a:ln w="76200"/>
          </c:spPr>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Sheet1!$B$2:$M$2</c:f>
              <c:numCache>
                <c:formatCode>0.00%</c:formatCode>
                <c:ptCount val="12"/>
                <c:pt idx="0">
                  <c:v>0.10816053647407729</c:v>
                </c:pt>
                <c:pt idx="1">
                  <c:v>9.6621393606495187E-2</c:v>
                </c:pt>
                <c:pt idx="2">
                  <c:v>0.10353623728857794</c:v>
                </c:pt>
                <c:pt idx="3">
                  <c:v>0.10493550014732154</c:v>
                </c:pt>
                <c:pt idx="4">
                  <c:v>0.10412690474134417</c:v>
                </c:pt>
                <c:pt idx="5">
                  <c:v>9.9958331626132227E-2</c:v>
                </c:pt>
                <c:pt idx="6">
                  <c:v>0.10177932769249812</c:v>
                </c:pt>
                <c:pt idx="7">
                  <c:v>0.10485323904000403</c:v>
                </c:pt>
                <c:pt idx="8">
                  <c:v>0.10710833014406944</c:v>
                </c:pt>
                <c:pt idx="9">
                  <c:v>0.1078321286843428</c:v>
                </c:pt>
                <c:pt idx="10">
                  <c:v>0.10751109224590022</c:v>
                </c:pt>
                <c:pt idx="11">
                  <c:v>0.10448218050369322</c:v>
                </c:pt>
              </c:numCache>
            </c:numRef>
          </c:val>
        </c:ser>
        <c:ser>
          <c:idx val="1"/>
          <c:order val="1"/>
          <c:tx>
            <c:strRef>
              <c:f>Sheet1!$A$3</c:f>
              <c:strCache>
                <c:ptCount val="1"/>
                <c:pt idx="0">
                  <c:v>MN</c:v>
                </c:pt>
              </c:strCache>
            </c:strRef>
          </c:tx>
          <c:spPr>
            <a:ln w="63500"/>
          </c:spPr>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Sheet1!$B$3:$M$3</c:f>
              <c:numCache>
                <c:formatCode>0.00%</c:formatCode>
                <c:ptCount val="12"/>
                <c:pt idx="0">
                  <c:v>0.12000000000000002</c:v>
                </c:pt>
                <c:pt idx="1">
                  <c:v>0.10600000000000002</c:v>
                </c:pt>
                <c:pt idx="2">
                  <c:v>0.114</c:v>
                </c:pt>
                <c:pt idx="3">
                  <c:v>0.11600000000000002</c:v>
                </c:pt>
                <c:pt idx="4">
                  <c:v>0.12200000000000008</c:v>
                </c:pt>
                <c:pt idx="5">
                  <c:v>0.10800000000000008</c:v>
                </c:pt>
                <c:pt idx="6">
                  <c:v>0.10299999999999998</c:v>
                </c:pt>
                <c:pt idx="7">
                  <c:v>0.10800000000000008</c:v>
                </c:pt>
                <c:pt idx="8">
                  <c:v>0.10900000000000008</c:v>
                </c:pt>
                <c:pt idx="9">
                  <c:v>0.10900000000000008</c:v>
                </c:pt>
                <c:pt idx="10">
                  <c:v>0.10900000000000008</c:v>
                </c:pt>
                <c:pt idx="11">
                  <c:v>0.10900000000000008</c:v>
                </c:pt>
              </c:numCache>
            </c:numRef>
          </c:val>
        </c:ser>
        <c:ser>
          <c:idx val="2"/>
          <c:order val="2"/>
          <c:tx>
            <c:strRef>
              <c:f>Sheet1!$A$4</c:f>
              <c:strCache>
                <c:ptCount val="1"/>
                <c:pt idx="0">
                  <c:v>IL</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Sheet1!$B$4:$M$4</c:f>
              <c:numCache>
                <c:formatCode>0.00%</c:formatCode>
                <c:ptCount val="12"/>
                <c:pt idx="0">
                  <c:v>0.10100000000000002</c:v>
                </c:pt>
                <c:pt idx="1">
                  <c:v>9.3000000000000138E-2</c:v>
                </c:pt>
                <c:pt idx="2">
                  <c:v>9.6000000000000002E-2</c:v>
                </c:pt>
                <c:pt idx="3">
                  <c:v>9.7000000000000003E-2</c:v>
                </c:pt>
                <c:pt idx="4">
                  <c:v>9.9000000000000046E-2</c:v>
                </c:pt>
                <c:pt idx="5">
                  <c:v>9.8000000000000129E-2</c:v>
                </c:pt>
                <c:pt idx="6">
                  <c:v>9.9000000000000046E-2</c:v>
                </c:pt>
                <c:pt idx="7">
                  <c:v>0.10299999999999998</c:v>
                </c:pt>
                <c:pt idx="8">
                  <c:v>0.10299999999999998</c:v>
                </c:pt>
                <c:pt idx="9">
                  <c:v>0.10299999999999998</c:v>
                </c:pt>
                <c:pt idx="10">
                  <c:v>0.10400000000000002</c:v>
                </c:pt>
                <c:pt idx="11">
                  <c:v>0.10500000000000002</c:v>
                </c:pt>
              </c:numCache>
            </c:numRef>
          </c:val>
        </c:ser>
        <c:ser>
          <c:idx val="3"/>
          <c:order val="3"/>
          <c:tx>
            <c:strRef>
              <c:f>Sheet1!$A$5</c:f>
              <c:strCache>
                <c:ptCount val="1"/>
                <c:pt idx="0">
                  <c:v>IN</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Sheet1!$B$5:$M$5</c:f>
              <c:numCache>
                <c:formatCode>0.00%</c:formatCode>
                <c:ptCount val="12"/>
                <c:pt idx="0">
                  <c:v>8.9000000000000065E-2</c:v>
                </c:pt>
                <c:pt idx="1">
                  <c:v>8.2700000000000023E-2</c:v>
                </c:pt>
                <c:pt idx="2">
                  <c:v>9.1000000000000025E-2</c:v>
                </c:pt>
                <c:pt idx="3">
                  <c:v>9.8000000000000129E-2</c:v>
                </c:pt>
                <c:pt idx="4">
                  <c:v>0.10500000000000002</c:v>
                </c:pt>
                <c:pt idx="5">
                  <c:v>9.7000000000000003E-2</c:v>
                </c:pt>
                <c:pt idx="6">
                  <c:v>9.8000000000000129E-2</c:v>
                </c:pt>
                <c:pt idx="7">
                  <c:v>0.112</c:v>
                </c:pt>
                <c:pt idx="8">
                  <c:v>0.10800000000000008</c:v>
                </c:pt>
                <c:pt idx="9">
                  <c:v>0.10199999999999998</c:v>
                </c:pt>
                <c:pt idx="10">
                  <c:v>0.10600000000000002</c:v>
                </c:pt>
                <c:pt idx="11">
                  <c:v>0.10900000000000008</c:v>
                </c:pt>
              </c:numCache>
            </c:numRef>
          </c:val>
        </c:ser>
        <c:ser>
          <c:idx val="4"/>
          <c:order val="4"/>
          <c:tx>
            <c:strRef>
              <c:f>Sheet1!$A$6</c:f>
              <c:strCache>
                <c:ptCount val="1"/>
                <c:pt idx="0">
                  <c:v>IA</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Sheet1!$B$6:$M$6</c:f>
              <c:numCache>
                <c:formatCode>0.00%</c:formatCode>
                <c:ptCount val="12"/>
                <c:pt idx="0">
                  <c:v>0.10199999999999998</c:v>
                </c:pt>
                <c:pt idx="1">
                  <c:v>0.10199999999999998</c:v>
                </c:pt>
                <c:pt idx="2">
                  <c:v>0.10700000000000008</c:v>
                </c:pt>
                <c:pt idx="3">
                  <c:v>0.10900000000000008</c:v>
                </c:pt>
                <c:pt idx="4">
                  <c:v>0.10500000000000002</c:v>
                </c:pt>
                <c:pt idx="5">
                  <c:v>9.9000000000000046E-2</c:v>
                </c:pt>
                <c:pt idx="6">
                  <c:v>9.7000000000000003E-2</c:v>
                </c:pt>
                <c:pt idx="7">
                  <c:v>0.10199999999999998</c:v>
                </c:pt>
                <c:pt idx="8">
                  <c:v>0.10199999999999998</c:v>
                </c:pt>
                <c:pt idx="9">
                  <c:v>0.10100000000000002</c:v>
                </c:pt>
                <c:pt idx="10">
                  <c:v>0.10100000000000002</c:v>
                </c:pt>
                <c:pt idx="11">
                  <c:v>0.10500000000000002</c:v>
                </c:pt>
              </c:numCache>
            </c:numRef>
          </c:val>
        </c:ser>
        <c:ser>
          <c:idx val="5"/>
          <c:order val="5"/>
          <c:tx>
            <c:strRef>
              <c:f>Sheet1!$A$7</c:f>
              <c:strCache>
                <c:ptCount val="1"/>
                <c:pt idx="0">
                  <c:v>MI</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Sheet1!$B$7:$M$7</c:f>
              <c:numCache>
                <c:formatCode>0.00%</c:formatCode>
                <c:ptCount val="12"/>
                <c:pt idx="0">
                  <c:v>0.11</c:v>
                </c:pt>
                <c:pt idx="1">
                  <c:v>0.10900000000000008</c:v>
                </c:pt>
                <c:pt idx="2">
                  <c:v>0.111</c:v>
                </c:pt>
                <c:pt idx="3">
                  <c:v>0.10600000000000002</c:v>
                </c:pt>
                <c:pt idx="4">
                  <c:v>0.10700000000000008</c:v>
                </c:pt>
                <c:pt idx="5">
                  <c:v>0.10100000000000002</c:v>
                </c:pt>
                <c:pt idx="6">
                  <c:v>0.10500000000000002</c:v>
                </c:pt>
                <c:pt idx="7">
                  <c:v>0.10800000000000008</c:v>
                </c:pt>
                <c:pt idx="8">
                  <c:v>0.10800000000000008</c:v>
                </c:pt>
                <c:pt idx="9">
                  <c:v>0.10800000000000008</c:v>
                </c:pt>
                <c:pt idx="10">
                  <c:v>0.10700000000000008</c:v>
                </c:pt>
                <c:pt idx="11">
                  <c:v>0.10500000000000002</c:v>
                </c:pt>
              </c:numCache>
            </c:numRef>
          </c:val>
        </c:ser>
        <c:ser>
          <c:idx val="6"/>
          <c:order val="6"/>
          <c:tx>
            <c:strRef>
              <c:f>Sheet1!$A$8</c:f>
              <c:strCache>
                <c:ptCount val="1"/>
                <c:pt idx="0">
                  <c:v>WI</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Sheet1!$B$8:$M$8</c:f>
              <c:numCache>
                <c:formatCode>0.00%</c:formatCode>
                <c:ptCount val="12"/>
                <c:pt idx="0">
                  <c:v>0.11899999999999998</c:v>
                </c:pt>
                <c:pt idx="1">
                  <c:v>0.10800000000000008</c:v>
                </c:pt>
                <c:pt idx="2">
                  <c:v>0.11899999999999998</c:v>
                </c:pt>
                <c:pt idx="3">
                  <c:v>0.11700000000000002</c:v>
                </c:pt>
                <c:pt idx="4">
                  <c:v>0.12000000000000002</c:v>
                </c:pt>
                <c:pt idx="5">
                  <c:v>0.111</c:v>
                </c:pt>
                <c:pt idx="6">
                  <c:v>0.113</c:v>
                </c:pt>
                <c:pt idx="7">
                  <c:v>0.115</c:v>
                </c:pt>
                <c:pt idx="8">
                  <c:v>0.112</c:v>
                </c:pt>
                <c:pt idx="9">
                  <c:v>0.112</c:v>
                </c:pt>
                <c:pt idx="10">
                  <c:v>0.114</c:v>
                </c:pt>
                <c:pt idx="11">
                  <c:v>0.115</c:v>
                </c:pt>
              </c:numCache>
            </c:numRef>
          </c:val>
        </c:ser>
        <c:marker val="1"/>
        <c:axId val="77771136"/>
        <c:axId val="77772672"/>
      </c:lineChart>
      <c:catAx>
        <c:axId val="77771136"/>
        <c:scaling>
          <c:orientation val="minMax"/>
        </c:scaling>
        <c:axPos val="b"/>
        <c:tickLblPos val="nextTo"/>
        <c:txPr>
          <a:bodyPr rot="-3000000"/>
          <a:lstStyle/>
          <a:p>
            <a:pPr>
              <a:defRPr/>
            </a:pPr>
            <a:endParaRPr lang="en-US"/>
          </a:p>
        </c:txPr>
        <c:crossAx val="77772672"/>
        <c:crosses val="autoZero"/>
        <c:auto val="1"/>
        <c:lblAlgn val="ctr"/>
        <c:lblOffset val="100"/>
      </c:catAx>
      <c:valAx>
        <c:axId val="77772672"/>
        <c:scaling>
          <c:orientation val="minMax"/>
          <c:max val="0.13"/>
          <c:min val="8.0000000000000043E-2"/>
        </c:scaling>
        <c:axPos val="l"/>
        <c:majorGridlines/>
        <c:numFmt formatCode="0.0%" sourceLinked="0"/>
        <c:tickLblPos val="nextTo"/>
        <c:txPr>
          <a:bodyPr rot="0"/>
          <a:lstStyle/>
          <a:p>
            <a:pPr>
              <a:defRPr/>
            </a:pPr>
            <a:endParaRPr lang="en-US"/>
          </a:p>
        </c:txPr>
        <c:crossAx val="77771136"/>
        <c:crosses val="autoZero"/>
        <c:crossBetween val="between"/>
      </c:valAx>
    </c:plotArea>
    <c:legend>
      <c:legendPos val="r"/>
    </c:legend>
    <c:plotVisOnly val="1"/>
  </c:chart>
  <c:txPr>
    <a:bodyPr/>
    <a:lstStyle/>
    <a:p>
      <a:pPr>
        <a:defRPr sz="1800"/>
      </a:pPr>
      <a:endParaRPr lang="en-US"/>
    </a:p>
  </c:txPr>
  <c:externalData r:id="rId1"/>
</c:chartSpace>
</file>

<file path=ppt/charts/chart10.xml><?xml version="1.0" encoding="utf-8"?>
<c:chartSpace xmlns:c="http://schemas.openxmlformats.org/drawingml/2006/chart" xmlns:a="http://schemas.openxmlformats.org/drawingml/2006/main" xmlns:r="http://schemas.openxmlformats.org/officeDocument/2006/relationships">
  <c:lang val="en-US"/>
  <c:chart>
    <c:plotArea>
      <c:layout/>
      <c:lineChart>
        <c:grouping val="standard"/>
        <c:ser>
          <c:idx val="0"/>
          <c:order val="0"/>
          <c:tx>
            <c:strRef>
              <c:f>Sheet1!$A$2</c:f>
              <c:strCache>
                <c:ptCount val="1"/>
                <c:pt idx="0">
                  <c:v>US</c:v>
                </c:pt>
              </c:strCache>
            </c:strRef>
          </c:tx>
          <c:spPr>
            <a:ln w="76200"/>
          </c:spPr>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Sheet1!$B$2:$M$2</c:f>
              <c:numCache>
                <c:formatCode>General</c:formatCode>
                <c:ptCount val="12"/>
                <c:pt idx="0">
                  <c:v>6.240000000000006E-2</c:v>
                </c:pt>
                <c:pt idx="1">
                  <c:v>5.9200000000000003E-2</c:v>
                </c:pt>
                <c:pt idx="2">
                  <c:v>6.3299999999999995E-2</c:v>
                </c:pt>
                <c:pt idx="3">
                  <c:v>6.2300000000000064E-2</c:v>
                </c:pt>
                <c:pt idx="4">
                  <c:v>6.370000000000002E-2</c:v>
                </c:pt>
                <c:pt idx="5">
                  <c:v>5.9300000000000068E-2</c:v>
                </c:pt>
                <c:pt idx="6">
                  <c:v>5.9600000000000014E-2</c:v>
                </c:pt>
                <c:pt idx="7">
                  <c:v>6.2300000000000064E-2</c:v>
                </c:pt>
                <c:pt idx="8">
                  <c:v>6.2800000000000022E-2</c:v>
                </c:pt>
                <c:pt idx="9">
                  <c:v>6.3899999999999998E-2</c:v>
                </c:pt>
                <c:pt idx="10">
                  <c:v>6.3400000000000012E-2</c:v>
                </c:pt>
                <c:pt idx="11">
                  <c:v>5.9000000000000045E-2</c:v>
                </c:pt>
              </c:numCache>
            </c:numRef>
          </c:val>
        </c:ser>
        <c:ser>
          <c:idx val="1"/>
          <c:order val="1"/>
          <c:tx>
            <c:strRef>
              <c:f>Sheet1!$A$3</c:f>
              <c:strCache>
                <c:ptCount val="1"/>
                <c:pt idx="0">
                  <c:v>MN</c:v>
                </c:pt>
              </c:strCache>
            </c:strRef>
          </c:tx>
          <c:spPr>
            <a:ln w="63500"/>
          </c:spPr>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Sheet1!$B$3:$M$3</c:f>
              <c:numCache>
                <c:formatCode>General</c:formatCode>
                <c:ptCount val="12"/>
                <c:pt idx="0">
                  <c:v>8.2900000000000001E-2</c:v>
                </c:pt>
                <c:pt idx="1">
                  <c:v>7.6499999999999999E-2</c:v>
                </c:pt>
                <c:pt idx="2">
                  <c:v>7.8200000000000006E-2</c:v>
                </c:pt>
                <c:pt idx="3">
                  <c:v>7.7800000000000077E-2</c:v>
                </c:pt>
                <c:pt idx="4">
                  <c:v>8.7000000000000022E-2</c:v>
                </c:pt>
                <c:pt idx="5">
                  <c:v>7.7400000000000024E-2</c:v>
                </c:pt>
                <c:pt idx="6">
                  <c:v>7.8299999999999995E-2</c:v>
                </c:pt>
                <c:pt idx="7">
                  <c:v>8.1900000000000001E-2</c:v>
                </c:pt>
                <c:pt idx="8">
                  <c:v>8.43E-2</c:v>
                </c:pt>
                <c:pt idx="9">
                  <c:v>8.1900000000000001E-2</c:v>
                </c:pt>
                <c:pt idx="10">
                  <c:v>8.1000000000000003E-2</c:v>
                </c:pt>
                <c:pt idx="11">
                  <c:v>7.7900000000000039E-2</c:v>
                </c:pt>
              </c:numCache>
            </c:numRef>
          </c:val>
        </c:ser>
        <c:ser>
          <c:idx val="2"/>
          <c:order val="2"/>
          <c:tx>
            <c:strRef>
              <c:f>Sheet1!$A$4</c:f>
              <c:strCache>
                <c:ptCount val="1"/>
                <c:pt idx="0">
                  <c:v>IL</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Sheet1!$B$4:$M$4</c:f>
              <c:numCache>
                <c:formatCode>General</c:formatCode>
                <c:ptCount val="12"/>
                <c:pt idx="0">
                  <c:v>5.5800000000000023E-2</c:v>
                </c:pt>
                <c:pt idx="1">
                  <c:v>5.0400000000000014E-2</c:v>
                </c:pt>
                <c:pt idx="2">
                  <c:v>5.3100000000000001E-2</c:v>
                </c:pt>
                <c:pt idx="3">
                  <c:v>5.1000000000000004E-2</c:v>
                </c:pt>
                <c:pt idx="4">
                  <c:v>5.3999999999999999E-2</c:v>
                </c:pt>
                <c:pt idx="5">
                  <c:v>5.3100000000000001E-2</c:v>
                </c:pt>
                <c:pt idx="6">
                  <c:v>5.2100000000000014E-2</c:v>
                </c:pt>
                <c:pt idx="7">
                  <c:v>5.5900000000000012E-2</c:v>
                </c:pt>
                <c:pt idx="8">
                  <c:v>5.5600000000000004E-2</c:v>
                </c:pt>
                <c:pt idx="9">
                  <c:v>6.5600000000000006E-2</c:v>
                </c:pt>
                <c:pt idx="10">
                  <c:v>5.7700000000000064E-2</c:v>
                </c:pt>
                <c:pt idx="11">
                  <c:v>5.4300000000000077E-2</c:v>
                </c:pt>
              </c:numCache>
            </c:numRef>
          </c:val>
        </c:ser>
        <c:ser>
          <c:idx val="3"/>
          <c:order val="3"/>
          <c:tx>
            <c:strRef>
              <c:f>Sheet1!$A$5</c:f>
              <c:strCache>
                <c:ptCount val="1"/>
                <c:pt idx="0">
                  <c:v>IN</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Sheet1!$B$5:$M$5</c:f>
              <c:numCache>
                <c:formatCode>General</c:formatCode>
                <c:ptCount val="12"/>
                <c:pt idx="0">
                  <c:v>5.5800000000000023E-2</c:v>
                </c:pt>
                <c:pt idx="1">
                  <c:v>5.2500000000000012E-2</c:v>
                </c:pt>
                <c:pt idx="2">
                  <c:v>6.0200000000000004E-2</c:v>
                </c:pt>
                <c:pt idx="3">
                  <c:v>6.4199999999999993E-2</c:v>
                </c:pt>
                <c:pt idx="4">
                  <c:v>6.4699999999999994E-2</c:v>
                </c:pt>
                <c:pt idx="5">
                  <c:v>5.8200000000000002E-2</c:v>
                </c:pt>
                <c:pt idx="6">
                  <c:v>6.2800000000000022E-2</c:v>
                </c:pt>
                <c:pt idx="7">
                  <c:v>6.5699999999999995E-2</c:v>
                </c:pt>
                <c:pt idx="8">
                  <c:v>6.59E-2</c:v>
                </c:pt>
                <c:pt idx="9">
                  <c:v>6.6199999999999995E-2</c:v>
                </c:pt>
                <c:pt idx="10">
                  <c:v>6.7599999999999993E-2</c:v>
                </c:pt>
                <c:pt idx="11">
                  <c:v>6.8199999999999997E-2</c:v>
                </c:pt>
              </c:numCache>
            </c:numRef>
          </c:val>
        </c:ser>
        <c:ser>
          <c:idx val="4"/>
          <c:order val="4"/>
          <c:tx>
            <c:strRef>
              <c:f>Sheet1!$A$6</c:f>
              <c:strCache>
                <c:ptCount val="1"/>
                <c:pt idx="0">
                  <c:v>IA</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Sheet1!$B$6:$M$6</c:f>
              <c:numCache>
                <c:formatCode>General</c:formatCode>
                <c:ptCount val="12"/>
                <c:pt idx="0">
                  <c:v>6.1000000000000013E-2</c:v>
                </c:pt>
                <c:pt idx="1">
                  <c:v>6.1499999999999999E-2</c:v>
                </c:pt>
                <c:pt idx="2">
                  <c:v>6.5100000000000019E-2</c:v>
                </c:pt>
                <c:pt idx="3">
                  <c:v>6.8300000000000013E-2</c:v>
                </c:pt>
                <c:pt idx="4">
                  <c:v>6.8300000000000013E-2</c:v>
                </c:pt>
                <c:pt idx="5">
                  <c:v>5.9300000000000068E-2</c:v>
                </c:pt>
                <c:pt idx="6">
                  <c:v>5.5900000000000012E-2</c:v>
                </c:pt>
                <c:pt idx="7">
                  <c:v>6.0299999999999999E-2</c:v>
                </c:pt>
                <c:pt idx="8">
                  <c:v>6.0800000000000014E-2</c:v>
                </c:pt>
                <c:pt idx="9">
                  <c:v>6.0299999999999999E-2</c:v>
                </c:pt>
                <c:pt idx="10">
                  <c:v>6.0200000000000004E-2</c:v>
                </c:pt>
                <c:pt idx="11">
                  <c:v>6.1699999999999998E-2</c:v>
                </c:pt>
              </c:numCache>
            </c:numRef>
          </c:val>
        </c:ser>
        <c:ser>
          <c:idx val="5"/>
          <c:order val="5"/>
          <c:tx>
            <c:strRef>
              <c:f>Sheet1!$A$7</c:f>
              <c:strCache>
                <c:ptCount val="1"/>
                <c:pt idx="0">
                  <c:v>MI</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Sheet1!$B$7:$M$7</c:f>
              <c:numCache>
                <c:formatCode>General</c:formatCode>
                <c:ptCount val="12"/>
                <c:pt idx="0">
                  <c:v>6.6500000000000004E-2</c:v>
                </c:pt>
                <c:pt idx="1">
                  <c:v>6.0200000000000004E-2</c:v>
                </c:pt>
                <c:pt idx="2">
                  <c:v>6.0700000000000046E-2</c:v>
                </c:pt>
                <c:pt idx="3">
                  <c:v>5.9000000000000045E-2</c:v>
                </c:pt>
                <c:pt idx="4">
                  <c:v>7.9900000000000082E-2</c:v>
                </c:pt>
                <c:pt idx="5">
                  <c:v>7.22E-2</c:v>
                </c:pt>
                <c:pt idx="6">
                  <c:v>7.9900000000000082E-2</c:v>
                </c:pt>
                <c:pt idx="7">
                  <c:v>7.22E-2</c:v>
                </c:pt>
                <c:pt idx="8">
                  <c:v>7.0800000000000002E-2</c:v>
                </c:pt>
                <c:pt idx="9">
                  <c:v>6.9300000000000084E-2</c:v>
                </c:pt>
                <c:pt idx="10">
                  <c:v>7.0199999999999999E-2</c:v>
                </c:pt>
                <c:pt idx="11">
                  <c:v>6.6500000000000004E-2</c:v>
                </c:pt>
              </c:numCache>
            </c:numRef>
          </c:val>
        </c:ser>
        <c:ser>
          <c:idx val="6"/>
          <c:order val="6"/>
          <c:tx>
            <c:strRef>
              <c:f>Sheet1!$A$8</c:f>
              <c:strCache>
                <c:ptCount val="1"/>
                <c:pt idx="0">
                  <c:v>WI</c:v>
                </c:pt>
              </c:strCache>
            </c:strRef>
          </c:tx>
          <c:marker>
            <c:symbol val="none"/>
          </c:marker>
          <c:cat>
            <c:strRef>
              <c:f>Sheet1!$B$1:$M$1</c:f>
              <c:strCache>
                <c:ptCount val="12"/>
                <c:pt idx="0">
                  <c:v>1977</c:v>
                </c:pt>
                <c:pt idx="1">
                  <c:v>1982</c:v>
                </c:pt>
                <c:pt idx="2">
                  <c:v>1987</c:v>
                </c:pt>
                <c:pt idx="3">
                  <c:v>1992</c:v>
                </c:pt>
                <c:pt idx="4">
                  <c:v>1997</c:v>
                </c:pt>
                <c:pt idx="5">
                  <c:v>2002</c:v>
                </c:pt>
                <c:pt idx="6">
                  <c:v>2004</c:v>
                </c:pt>
                <c:pt idx="7">
                  <c:v>2005</c:v>
                </c:pt>
                <c:pt idx="8">
                  <c:v>2006</c:v>
                </c:pt>
                <c:pt idx="9">
                  <c:v>2007</c:v>
                </c:pt>
                <c:pt idx="10">
                  <c:v>2008</c:v>
                </c:pt>
                <c:pt idx="11">
                  <c:v>2009</c:v>
                </c:pt>
              </c:strCache>
            </c:strRef>
          </c:cat>
          <c:val>
            <c:numRef>
              <c:f>Sheet1!$B$8:$M$8</c:f>
              <c:numCache>
                <c:formatCode>General</c:formatCode>
                <c:ptCount val="12"/>
                <c:pt idx="0">
                  <c:v>8.0000000000000043E-2</c:v>
                </c:pt>
                <c:pt idx="1">
                  <c:v>7.1900000000000006E-2</c:v>
                </c:pt>
                <c:pt idx="2">
                  <c:v>7.8200000000000006E-2</c:v>
                </c:pt>
                <c:pt idx="3">
                  <c:v>7.4700000000000086E-2</c:v>
                </c:pt>
                <c:pt idx="4">
                  <c:v>7.8100000000000003E-2</c:v>
                </c:pt>
                <c:pt idx="5">
                  <c:v>7.0400000000000004E-2</c:v>
                </c:pt>
                <c:pt idx="6">
                  <c:v>7.010000000000001E-2</c:v>
                </c:pt>
                <c:pt idx="7">
                  <c:v>7.0499999999999993E-2</c:v>
                </c:pt>
                <c:pt idx="8">
                  <c:v>6.9500000000000034E-2</c:v>
                </c:pt>
                <c:pt idx="9">
                  <c:v>7.010000000000001E-2</c:v>
                </c:pt>
                <c:pt idx="10">
                  <c:v>6.9900000000000004E-2</c:v>
                </c:pt>
                <c:pt idx="11">
                  <c:v>6.8400000000000002E-2</c:v>
                </c:pt>
              </c:numCache>
            </c:numRef>
          </c:val>
        </c:ser>
        <c:marker val="1"/>
        <c:axId val="78031104"/>
        <c:axId val="78041088"/>
      </c:lineChart>
      <c:catAx>
        <c:axId val="78031104"/>
        <c:scaling>
          <c:orientation val="minMax"/>
        </c:scaling>
        <c:axPos val="b"/>
        <c:tickLblPos val="nextTo"/>
        <c:txPr>
          <a:bodyPr rot="-3000000"/>
          <a:lstStyle/>
          <a:p>
            <a:pPr>
              <a:defRPr/>
            </a:pPr>
            <a:endParaRPr lang="en-US"/>
          </a:p>
        </c:txPr>
        <c:crossAx val="78041088"/>
        <c:crosses val="autoZero"/>
        <c:auto val="1"/>
        <c:lblAlgn val="ctr"/>
        <c:lblOffset val="100"/>
      </c:catAx>
      <c:valAx>
        <c:axId val="78041088"/>
        <c:scaling>
          <c:orientation val="minMax"/>
          <c:max val="9.0000000000000024E-2"/>
          <c:min val="4.0000000000000022E-2"/>
        </c:scaling>
        <c:axPos val="l"/>
        <c:majorGridlines/>
        <c:numFmt formatCode="0.0%" sourceLinked="0"/>
        <c:tickLblPos val="nextTo"/>
        <c:txPr>
          <a:bodyPr rot="0"/>
          <a:lstStyle/>
          <a:p>
            <a:pPr>
              <a:defRPr/>
            </a:pPr>
            <a:endParaRPr lang="en-US"/>
          </a:p>
        </c:txPr>
        <c:crossAx val="78031104"/>
        <c:crosses val="autoZero"/>
        <c:crossBetween val="between"/>
      </c:valAx>
    </c:plotArea>
    <c:legend>
      <c:legendPos val="r"/>
    </c:legend>
    <c:plotVisOnly val="1"/>
  </c:chart>
  <c:txPr>
    <a:bodyPr/>
    <a:lstStyle/>
    <a:p>
      <a:pPr>
        <a:defRPr sz="1800"/>
      </a:pPr>
      <a:endParaRPr lang="en-US"/>
    </a:p>
  </c:txPr>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638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spcBef>
                <a:spcPct val="0"/>
              </a:spcBef>
              <a:defRPr/>
            </a:lvl1pPr>
          </a:lstStyle>
          <a:p>
            <a:endParaRPr lang="en-GB"/>
          </a:p>
        </p:txBody>
      </p:sp>
      <p:sp>
        <p:nvSpPr>
          <p:cNvPr id="656387"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defRPr/>
            </a:lvl1pPr>
          </a:lstStyle>
          <a:p>
            <a:fld id="{1E1DB0D4-F922-4613-800E-C9ECD6E9FD98}" type="datetimeFigureOut">
              <a:rPr lang="en-GB"/>
              <a:pPr/>
              <a:t>30/01/2012</a:t>
            </a:fld>
            <a:endParaRPr lang="en-GB"/>
          </a:p>
        </p:txBody>
      </p:sp>
      <p:sp>
        <p:nvSpPr>
          <p:cNvPr id="656388"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spcBef>
                <a:spcPct val="0"/>
              </a:spcBef>
              <a:defRPr/>
            </a:lvl1pPr>
          </a:lstStyle>
          <a:p>
            <a:endParaRPr lang="en-GB"/>
          </a:p>
        </p:txBody>
      </p:sp>
      <p:sp>
        <p:nvSpPr>
          <p:cNvPr id="656389"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defRPr/>
            </a:lvl1pPr>
          </a:lstStyle>
          <a:p>
            <a:fld id="{AABEEABE-5170-4194-B9BE-C2F697E56595}" type="slidenum">
              <a:rPr lang="en-GB"/>
              <a:pPr/>
              <a:t>‹#›</a:t>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4988" cy="512763"/>
          </a:xfrm>
          <a:prstGeom prst="rect">
            <a:avLst/>
          </a:prstGeom>
          <a:noFill/>
          <a:ln w="9525">
            <a:noFill/>
            <a:miter lim="800000"/>
            <a:headEnd/>
            <a:tailEnd/>
          </a:ln>
        </p:spPr>
        <p:txBody>
          <a:bodyPr vert="horz" wrap="square" lIns="94548" tIns="47273" rIns="94548" bIns="47273" numCol="1" anchor="t" anchorCtr="0" compatLnSpc="1">
            <a:prstTxWarp prst="textNoShape">
              <a:avLst/>
            </a:prstTxWarp>
          </a:bodyPr>
          <a:lstStyle>
            <a:lvl1pPr>
              <a:spcBef>
                <a:spcPct val="0"/>
              </a:spcBef>
              <a:defRPr sz="1300"/>
            </a:lvl1pPr>
          </a:lstStyle>
          <a:p>
            <a:pPr>
              <a:defRPr/>
            </a:pPr>
            <a:endParaRPr lang="en-GB"/>
          </a:p>
        </p:txBody>
      </p:sp>
      <p:sp>
        <p:nvSpPr>
          <p:cNvPr id="3075" name="Rectangle 3"/>
          <p:cNvSpPr>
            <a:spLocks noGrp="1" noChangeArrowheads="1"/>
          </p:cNvSpPr>
          <p:nvPr>
            <p:ph type="dt" idx="1"/>
          </p:nvPr>
        </p:nvSpPr>
        <p:spPr bwMode="auto">
          <a:xfrm>
            <a:off x="4022725" y="0"/>
            <a:ext cx="3074988" cy="512763"/>
          </a:xfrm>
          <a:prstGeom prst="rect">
            <a:avLst/>
          </a:prstGeom>
          <a:noFill/>
          <a:ln w="9525">
            <a:noFill/>
            <a:miter lim="800000"/>
            <a:headEnd/>
            <a:tailEnd/>
          </a:ln>
        </p:spPr>
        <p:txBody>
          <a:bodyPr vert="horz" wrap="square" lIns="94548" tIns="47273" rIns="94548" bIns="47273" numCol="1" anchor="t" anchorCtr="0" compatLnSpc="1">
            <a:prstTxWarp prst="textNoShape">
              <a:avLst/>
            </a:prstTxWarp>
          </a:bodyPr>
          <a:lstStyle>
            <a:lvl1pPr algn="r">
              <a:spcBef>
                <a:spcPct val="0"/>
              </a:spcBef>
              <a:defRPr sz="1300"/>
            </a:lvl1pPr>
          </a:lstStyle>
          <a:p>
            <a:pPr>
              <a:defRPr/>
            </a:pPr>
            <a:endParaRPr lang="en-GB"/>
          </a:p>
        </p:txBody>
      </p:sp>
      <p:sp>
        <p:nvSpPr>
          <p:cNvPr id="31748" name="Rectangle 4"/>
          <p:cNvSpPr>
            <a:spLocks noGrp="1" noRot="1" noChangeAspect="1" noChangeArrowheads="1" noTextEdit="1"/>
          </p:cNvSpPr>
          <p:nvPr>
            <p:ph type="sldImg" idx="2"/>
          </p:nvPr>
        </p:nvSpPr>
        <p:spPr bwMode="auto">
          <a:xfrm>
            <a:off x="990600" y="765175"/>
            <a:ext cx="5121275" cy="3840163"/>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709613" y="4862513"/>
            <a:ext cx="5680075" cy="4606925"/>
          </a:xfrm>
          <a:prstGeom prst="rect">
            <a:avLst/>
          </a:prstGeom>
          <a:noFill/>
          <a:ln w="9525">
            <a:noFill/>
            <a:miter lim="800000"/>
            <a:headEnd/>
            <a:tailEnd/>
          </a:ln>
        </p:spPr>
        <p:txBody>
          <a:bodyPr vert="horz" wrap="square" lIns="94548" tIns="47273" rIns="94548" bIns="47273"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3078" name="Rectangle 6"/>
          <p:cNvSpPr>
            <a:spLocks noGrp="1" noChangeArrowheads="1"/>
          </p:cNvSpPr>
          <p:nvPr>
            <p:ph type="ftr" sz="quarter" idx="4"/>
          </p:nvPr>
        </p:nvSpPr>
        <p:spPr bwMode="auto">
          <a:xfrm>
            <a:off x="0" y="9720263"/>
            <a:ext cx="3074988" cy="512762"/>
          </a:xfrm>
          <a:prstGeom prst="rect">
            <a:avLst/>
          </a:prstGeom>
          <a:noFill/>
          <a:ln w="9525">
            <a:noFill/>
            <a:miter lim="800000"/>
            <a:headEnd/>
            <a:tailEnd/>
          </a:ln>
        </p:spPr>
        <p:txBody>
          <a:bodyPr vert="horz" wrap="square" lIns="94548" tIns="47273" rIns="94548" bIns="47273" numCol="1" anchor="b" anchorCtr="0" compatLnSpc="1">
            <a:prstTxWarp prst="textNoShape">
              <a:avLst/>
            </a:prstTxWarp>
          </a:bodyPr>
          <a:lstStyle>
            <a:lvl1pPr>
              <a:spcBef>
                <a:spcPct val="0"/>
              </a:spcBef>
              <a:defRPr sz="1300"/>
            </a:lvl1pPr>
          </a:lstStyle>
          <a:p>
            <a:pPr>
              <a:defRPr/>
            </a:pPr>
            <a:endParaRPr lang="en-GB"/>
          </a:p>
        </p:txBody>
      </p:sp>
      <p:sp>
        <p:nvSpPr>
          <p:cNvPr id="3079" name="Rectangle 7"/>
          <p:cNvSpPr>
            <a:spLocks noGrp="1" noChangeArrowheads="1"/>
          </p:cNvSpPr>
          <p:nvPr>
            <p:ph type="sldNum" sz="quarter" idx="5"/>
          </p:nvPr>
        </p:nvSpPr>
        <p:spPr bwMode="auto">
          <a:xfrm>
            <a:off x="4022725" y="9720263"/>
            <a:ext cx="3074988" cy="512762"/>
          </a:xfrm>
          <a:prstGeom prst="rect">
            <a:avLst/>
          </a:prstGeom>
          <a:noFill/>
          <a:ln w="9525">
            <a:noFill/>
            <a:miter lim="800000"/>
            <a:headEnd/>
            <a:tailEnd/>
          </a:ln>
        </p:spPr>
        <p:txBody>
          <a:bodyPr vert="horz" wrap="square" lIns="94548" tIns="47273" rIns="94548" bIns="47273" numCol="1" anchor="b" anchorCtr="0" compatLnSpc="1">
            <a:prstTxWarp prst="textNoShape">
              <a:avLst/>
            </a:prstTxWarp>
          </a:bodyPr>
          <a:lstStyle>
            <a:lvl1pPr algn="r">
              <a:spcBef>
                <a:spcPct val="0"/>
              </a:spcBef>
              <a:defRPr sz="1300"/>
            </a:lvl1pPr>
          </a:lstStyle>
          <a:p>
            <a:pPr>
              <a:defRPr/>
            </a:pPr>
            <a:fld id="{701E03BB-E72C-4041-A99D-BB09999BC141}" type="slidenum">
              <a:rPr lang="en-GB"/>
              <a:pPr>
                <a:defRPr/>
              </a:pPr>
              <a:t>‹#›</a:t>
            </a:fld>
            <a:endParaRPr lang="en-GB"/>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5B3FAFEC-C735-4542-B73E-234F5E5B5613}" type="slidenum">
              <a:rPr lang="en-GB" smtClean="0"/>
              <a:pPr/>
              <a:t>0</a:t>
            </a:fld>
            <a:endParaRPr lang="en-GB"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01E03BB-E72C-4041-A99D-BB09999BC141}" type="slidenum">
              <a:rPr lang="en-GB" smtClean="0"/>
              <a:pPr>
                <a:defRPr/>
              </a:pPr>
              <a:t>13</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01E03BB-E72C-4041-A99D-BB09999BC141}" type="slidenum">
              <a:rPr lang="en-GB" smtClean="0"/>
              <a:pPr>
                <a:defRPr/>
              </a:pPr>
              <a:t>14</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01E03BB-E72C-4041-A99D-BB09999BC141}" type="slidenum">
              <a:rPr lang="en-GB" smtClean="0"/>
              <a:pPr>
                <a:defRPr/>
              </a:pPr>
              <a:t>15</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Picture 6" descr="Cover.jpg"/>
          <p:cNvPicPr>
            <a:picLocks noChangeAspect="1"/>
          </p:cNvPicPr>
          <p:nvPr userDrawn="1"/>
        </p:nvPicPr>
        <p:blipFill>
          <a:blip r:embed="rId2" cstate="print"/>
          <a:stretch>
            <a:fillRect/>
          </a:stretch>
        </p:blipFill>
        <p:spPr>
          <a:xfrm>
            <a:off x="0" y="0"/>
            <a:ext cx="9144000" cy="6858000"/>
          </a:xfrm>
          <a:prstGeom prst="rect">
            <a:avLst/>
          </a:prstGeom>
        </p:spPr>
      </p:pic>
      <p:pic>
        <p:nvPicPr>
          <p:cNvPr id="8" name="Picture 22" descr="PowerPoint-Graphics-3_US"/>
          <p:cNvPicPr>
            <a:picLocks noChangeAspect="1" noChangeArrowheads="1"/>
          </p:cNvPicPr>
          <p:nvPr userDrawn="1"/>
        </p:nvPicPr>
        <p:blipFill>
          <a:blip r:embed="rId3" cstate="print"/>
          <a:srcRect/>
          <a:stretch>
            <a:fillRect/>
          </a:stretch>
        </p:blipFill>
        <p:spPr bwMode="auto">
          <a:xfrm>
            <a:off x="0" y="0"/>
            <a:ext cx="4941888" cy="5403850"/>
          </a:xfrm>
          <a:prstGeom prst="rect">
            <a:avLst/>
          </a:prstGeom>
          <a:noFill/>
        </p:spPr>
      </p:pic>
      <p:sp>
        <p:nvSpPr>
          <p:cNvPr id="9" name="Rectangle 2"/>
          <p:cNvSpPr>
            <a:spLocks noGrp="1" noChangeArrowheads="1"/>
          </p:cNvSpPr>
          <p:nvPr>
            <p:ph type="ctrTitle"/>
          </p:nvPr>
        </p:nvSpPr>
        <p:spPr>
          <a:xfrm>
            <a:off x="323850" y="1412875"/>
            <a:ext cx="3559175" cy="2159000"/>
          </a:xfrm>
        </p:spPr>
        <p:txBody>
          <a:bodyPr anchor="t"/>
          <a:lstStyle>
            <a:lvl1pPr>
              <a:defRPr sz="3000"/>
            </a:lvl1pPr>
          </a:lstStyle>
          <a:p>
            <a:r>
              <a:rPr lang="en-US" smtClean="0"/>
              <a:t>Click to edit Master title style</a:t>
            </a:r>
            <a:endParaRPr lang="en-US"/>
          </a:p>
        </p:txBody>
      </p:sp>
      <p:sp>
        <p:nvSpPr>
          <p:cNvPr id="10" name="Rectangle 3"/>
          <p:cNvSpPr>
            <a:spLocks noGrp="1" noChangeArrowheads="1"/>
          </p:cNvSpPr>
          <p:nvPr>
            <p:ph type="subTitle" idx="1"/>
          </p:nvPr>
        </p:nvSpPr>
        <p:spPr bwMode="gray">
          <a:xfrm>
            <a:off x="323850" y="3781425"/>
            <a:ext cx="3157538" cy="1079500"/>
          </a:xfrm>
        </p:spPr>
        <p:txBody>
          <a:bodyPr/>
          <a:lstStyle>
            <a:lvl1pPr>
              <a:defRPr sz="1200" b="0">
                <a:solidFill>
                  <a:schemeClr val="bg1"/>
                </a:solidFill>
              </a:defRPr>
            </a:lvl1pPr>
          </a:lstStyle>
          <a:p>
            <a:r>
              <a:rPr lang="en-US" smtClean="0"/>
              <a:t>Click to edit Master subtitle style</a:t>
            </a:r>
            <a:endParaRPr lang="en-US"/>
          </a:p>
        </p:txBody>
      </p:sp>
      <p:pic>
        <p:nvPicPr>
          <p:cNvPr id="11" name="Picture 20" descr="KPMG_white logo_cover 1_2_3"/>
          <p:cNvPicPr>
            <a:picLocks noChangeAspect="1" noChangeArrowheads="1"/>
          </p:cNvPicPr>
          <p:nvPr userDrawn="1"/>
        </p:nvPicPr>
        <p:blipFill>
          <a:blip r:embed="rId4" cstate="print"/>
          <a:srcRect/>
          <a:stretch>
            <a:fillRect/>
          </a:stretch>
        </p:blipFill>
        <p:spPr bwMode="auto">
          <a:xfrm>
            <a:off x="323850" y="434975"/>
            <a:ext cx="2159000" cy="801688"/>
          </a:xfrm>
          <a:prstGeom prst="rect">
            <a:avLst/>
          </a:prstGeom>
          <a:noFill/>
        </p:spPr>
      </p:pic>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6" name="Slide Number Placeholder 5"/>
          <p:cNvSpPr>
            <a:spLocks noGrp="1"/>
          </p:cNvSpPr>
          <p:nvPr>
            <p:ph type="sldNum" sz="quarter" idx="12"/>
          </p:nvPr>
        </p:nvSpPr>
        <p:spPr/>
        <p:txBody>
          <a:bodyPr/>
          <a:lstStyle>
            <a:lvl1pPr>
              <a:defRPr/>
            </a:lvl1pPr>
          </a:lstStyle>
          <a:p>
            <a:fld id="{1CB23F2B-7DA2-447A-B5D1-F0E2C7FE22DC}" type="slidenum">
              <a:rPr lang="en-GB"/>
              <a:pPr/>
              <a:t>‹#›</a:t>
            </a:fld>
            <a:endParaRPr lang="en-GB"/>
          </a:p>
        </p:txBody>
      </p:sp>
      <p:sp>
        <p:nvSpPr>
          <p:cNvPr id="3" name="Content Placeholder 2"/>
          <p:cNvSpPr>
            <a:spLocks noGrp="1"/>
          </p:cNvSpPr>
          <p:nvPr>
            <p:ph idx="1"/>
          </p:nvPr>
        </p:nvSpPr>
        <p:spPr>
          <a:xfrm>
            <a:off x="323850" y="1316038"/>
            <a:ext cx="8545513" cy="4795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323850" y="1325563"/>
            <a:ext cx="4195763"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72013" y="1325563"/>
            <a:ext cx="4197350" cy="4775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Slide Number Placeholder 6"/>
          <p:cNvSpPr>
            <a:spLocks noGrp="1"/>
          </p:cNvSpPr>
          <p:nvPr>
            <p:ph type="sldNum" sz="quarter" idx="12"/>
          </p:nvPr>
        </p:nvSpPr>
        <p:spPr/>
        <p:txBody>
          <a:bodyPr/>
          <a:lstStyle>
            <a:lvl1pPr>
              <a:defRPr/>
            </a:lvl1pPr>
          </a:lstStyle>
          <a:p>
            <a:fld id="{2BE2E9A6-43EA-48B3-A40B-4902F1604049}"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5" name="Slide Number Placeholder 4"/>
          <p:cNvSpPr>
            <a:spLocks noGrp="1"/>
          </p:cNvSpPr>
          <p:nvPr>
            <p:ph type="sldNum" sz="quarter" idx="12"/>
          </p:nvPr>
        </p:nvSpPr>
        <p:spPr/>
        <p:txBody>
          <a:bodyPr/>
          <a:lstStyle>
            <a:lvl1pPr>
              <a:defRPr/>
            </a:lvl1pPr>
          </a:lstStyle>
          <a:p>
            <a:fld id="{C588D80B-5099-4EA5-9278-28D7FF0AAEC5}"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vl1pPr>
          </a:lstStyle>
          <a:p>
            <a:fld id="{B8BB272B-2473-450B-8717-5EC3B9A17345}"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50" y="115888"/>
            <a:ext cx="8545513" cy="792162"/>
          </a:xfrm>
        </p:spPr>
        <p:txBody>
          <a:bodyPr/>
          <a:lstStyle/>
          <a:p>
            <a:r>
              <a:rPr lang="en-US" smtClean="0"/>
              <a:t>Click to edit Master title style</a:t>
            </a:r>
            <a:endParaRPr lang="en-GB"/>
          </a:p>
        </p:txBody>
      </p:sp>
      <p:sp>
        <p:nvSpPr>
          <p:cNvPr id="3" name="Text Placeholder 2"/>
          <p:cNvSpPr>
            <a:spLocks noGrp="1"/>
          </p:cNvSpPr>
          <p:nvPr>
            <p:ph type="body" sz="half" idx="1"/>
          </p:nvPr>
        </p:nvSpPr>
        <p:spPr>
          <a:xfrm>
            <a:off x="323850" y="1325563"/>
            <a:ext cx="4167187" cy="4775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700588" y="1325563"/>
            <a:ext cx="4168774" cy="4775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Slide Number Placeholder 6"/>
          <p:cNvSpPr>
            <a:spLocks noGrp="1"/>
          </p:cNvSpPr>
          <p:nvPr>
            <p:ph type="sldNum" sz="quarter" idx="12"/>
          </p:nvPr>
        </p:nvSpPr>
        <p:spPr>
          <a:xfrm>
            <a:off x="8297863" y="6386513"/>
            <a:ext cx="658812" cy="279400"/>
          </a:xfrm>
        </p:spPr>
        <p:txBody>
          <a:bodyPr/>
          <a:lstStyle>
            <a:lvl1pPr>
              <a:defRPr/>
            </a:lvl1pPr>
          </a:lstStyle>
          <a:p>
            <a:fld id="{EFB488A5-29CD-41BE-AF11-2AC0888F1DA9}"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50" y="1438275"/>
            <a:ext cx="4856163" cy="2159000"/>
          </a:xfrm>
          <a:prstGeom prst="rect">
            <a:avLst/>
          </a:prstGeom>
        </p:spPr>
        <p:txBody>
          <a:bodyPr/>
          <a:lstStyle/>
          <a:p>
            <a:r>
              <a:rPr lang="en-US" dirty="0" smtClean="0"/>
              <a:t>Click to edit Master title style</a:t>
            </a:r>
            <a:endParaRPr lang="en-GB" dirty="0"/>
          </a:p>
        </p:txBody>
      </p:sp>
      <p:sp>
        <p:nvSpPr>
          <p:cNvPr id="3" name="Content Placeholder 2"/>
          <p:cNvSpPr>
            <a:spLocks noGrp="1"/>
          </p:cNvSpPr>
          <p:nvPr>
            <p:ph idx="1"/>
          </p:nvPr>
        </p:nvSpPr>
        <p:spPr>
          <a:xfrm>
            <a:off x="323850" y="3814763"/>
            <a:ext cx="4678363" cy="1752600"/>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7.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9.xml"/><Relationship Id="rId4"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24944" name="Picture 16" descr="PowerPoint-Graphics-4_US"/>
          <p:cNvPicPr>
            <a:picLocks noChangeAspect="1" noChangeArrowheads="1"/>
          </p:cNvPicPr>
          <p:nvPr/>
        </p:nvPicPr>
        <p:blipFill>
          <a:blip r:embed="rId8" cstate="print"/>
          <a:srcRect/>
          <a:stretch>
            <a:fillRect/>
          </a:stretch>
        </p:blipFill>
        <p:spPr bwMode="auto">
          <a:xfrm>
            <a:off x="0" y="0"/>
            <a:ext cx="9140825" cy="1027113"/>
          </a:xfrm>
          <a:prstGeom prst="rect">
            <a:avLst/>
          </a:prstGeom>
          <a:noFill/>
        </p:spPr>
      </p:pic>
      <p:sp>
        <p:nvSpPr>
          <p:cNvPr id="8" name="Line 10"/>
          <p:cNvSpPr>
            <a:spLocks noChangeShapeType="1"/>
          </p:cNvSpPr>
          <p:nvPr/>
        </p:nvSpPr>
        <p:spPr bwMode="auto">
          <a:xfrm>
            <a:off x="323850" y="6373813"/>
            <a:ext cx="8540750" cy="0"/>
          </a:xfrm>
          <a:prstGeom prst="line">
            <a:avLst/>
          </a:prstGeom>
          <a:noFill/>
          <a:ln w="3175">
            <a:solidFill>
              <a:srgbClr val="000000"/>
            </a:solidFill>
            <a:round/>
            <a:headEnd/>
            <a:tailEnd/>
          </a:ln>
        </p:spPr>
        <p:txBody>
          <a:bodyPr/>
          <a:lstStyle/>
          <a:p>
            <a:endParaRPr lang="en-GB"/>
          </a:p>
        </p:txBody>
      </p:sp>
      <p:sp>
        <p:nvSpPr>
          <p:cNvPr id="124934" name="Rectangle 2"/>
          <p:cNvSpPr>
            <a:spLocks noGrp="1" noChangeArrowheads="1"/>
          </p:cNvSpPr>
          <p:nvPr>
            <p:ph type="title"/>
          </p:nvPr>
        </p:nvSpPr>
        <p:spPr bwMode="gray">
          <a:xfrm>
            <a:off x="323850" y="115888"/>
            <a:ext cx="8545513" cy="792162"/>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dirty="0" smtClean="0"/>
              <a:t>Click to edit Master title style</a:t>
            </a:r>
          </a:p>
        </p:txBody>
      </p:sp>
      <p:sp>
        <p:nvSpPr>
          <p:cNvPr id="124935" name="Rectangle 3"/>
          <p:cNvSpPr>
            <a:spLocks noGrp="1" noChangeArrowheads="1"/>
          </p:cNvSpPr>
          <p:nvPr>
            <p:ph type="body" idx="1"/>
          </p:nvPr>
        </p:nvSpPr>
        <p:spPr bwMode="auto">
          <a:xfrm>
            <a:off x="323850" y="1308100"/>
            <a:ext cx="8545513" cy="47926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3" name="Slide Number Placeholder 6"/>
          <p:cNvSpPr>
            <a:spLocks noGrp="1"/>
          </p:cNvSpPr>
          <p:nvPr>
            <p:ph type="sldNum" sz="quarter" idx="4"/>
          </p:nvPr>
        </p:nvSpPr>
        <p:spPr bwMode="auto">
          <a:xfrm>
            <a:off x="8297863" y="6386513"/>
            <a:ext cx="658812" cy="2794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spcBef>
                <a:spcPct val="40000"/>
              </a:spcBef>
              <a:defRPr sz="900">
                <a:solidFill>
                  <a:srgbClr val="00338D"/>
                </a:solidFill>
              </a:defRPr>
            </a:lvl1pPr>
          </a:lstStyle>
          <a:p>
            <a:fld id="{6D49FD3D-19A4-4CD6-B5DC-9F70D0E67907}" type="slidenum">
              <a:rPr lang="en-GB"/>
              <a:pPr/>
              <a:t>‹#›</a:t>
            </a:fld>
            <a:endParaRPr lang="en-GB"/>
          </a:p>
        </p:txBody>
      </p:sp>
      <p:sp>
        <p:nvSpPr>
          <p:cNvPr id="10" name="Text Box 8"/>
          <p:cNvSpPr txBox="1">
            <a:spLocks noChangeArrowheads="1"/>
          </p:cNvSpPr>
          <p:nvPr/>
        </p:nvSpPr>
        <p:spPr bwMode="auto">
          <a:xfrm>
            <a:off x="323850" y="6400800"/>
            <a:ext cx="3328988" cy="400110"/>
          </a:xfrm>
          <a:prstGeom prst="rect">
            <a:avLst/>
          </a:prstGeom>
          <a:noFill/>
          <a:ln w="9525">
            <a:noFill/>
            <a:miter lim="800000"/>
            <a:headEnd/>
            <a:tailEnd/>
          </a:ln>
          <a:effectLst/>
        </p:spPr>
        <p:txBody>
          <a:bodyPr lIns="0" rIns="0">
            <a:spAutoFit/>
          </a:bodyPr>
          <a:lstStyle/>
          <a:p>
            <a:r>
              <a:rPr lang="en-US" sz="500" kern="1200" dirty="0" smtClean="0">
                <a:solidFill>
                  <a:srgbClr val="4066AA"/>
                </a:solidFill>
                <a:latin typeface="Arial" charset="0"/>
                <a:ea typeface="+mn-ea"/>
                <a:cs typeface="Arial" charset="0"/>
              </a:rPr>
              <a:t>© 2011 KPMG LLP, a Delaware limited liability partnership and the U.S. member firm of the KPMG network of independent member firms affiliated with KPMG International Cooperative, a Swiss entity (“KPMG International”). All rights reserved. KPMG and the KPMG logo are registered trademarks of KPMG International Cooperative (“KPMG International”), a Swiss entity. 44116CHI</a:t>
            </a:r>
            <a:endParaRPr lang="en-US" sz="500" kern="1200" dirty="0">
              <a:solidFill>
                <a:srgbClr val="4066AA"/>
              </a:solidFill>
              <a:latin typeface="Arial" charset="0"/>
              <a:ea typeface="+mn-ea"/>
              <a:cs typeface="Arial" charset="0"/>
            </a:endParaRPr>
          </a:p>
        </p:txBody>
      </p:sp>
    </p:spTree>
  </p:cSld>
  <p:clrMap bg1="lt1" tx1="dk1" bg2="lt2" tx2="dk2" accent1="accent1" accent2="accent2" accent3="accent3" accent4="accent4" accent5="accent5" accent6="accent6" hlink="hlink" folHlink="folHlink"/>
  <p:sldLayoutIdLst>
    <p:sldLayoutId id="2147483682" r:id="rId1"/>
    <p:sldLayoutId id="2147483693" r:id="rId2"/>
    <p:sldLayoutId id="2147483695" r:id="rId3"/>
    <p:sldLayoutId id="2147483697" r:id="rId4"/>
    <p:sldLayoutId id="2147483698" r:id="rId5"/>
    <p:sldLayoutId id="2147483769" r:id="rId6"/>
  </p:sldLayoutIdLst>
  <p:hf hdr="0"/>
  <p:txStyles>
    <p:titleStyle>
      <a:lvl1pPr algn="l" rtl="0" eaLnBrk="1" fontAlgn="base" hangingPunct="1">
        <a:spcBef>
          <a:spcPct val="40000"/>
        </a:spcBef>
        <a:spcAft>
          <a:spcPct val="0"/>
        </a:spcAft>
        <a:defRPr sz="2200" b="1">
          <a:solidFill>
            <a:schemeClr val="bg1"/>
          </a:solidFill>
          <a:latin typeface="+mj-lt"/>
          <a:ea typeface="+mj-ea"/>
          <a:cs typeface="+mj-cs"/>
        </a:defRPr>
      </a:lvl1pPr>
      <a:lvl2pPr algn="l" rtl="0" eaLnBrk="1" fontAlgn="base" hangingPunct="1">
        <a:spcBef>
          <a:spcPct val="40000"/>
        </a:spcBef>
        <a:spcAft>
          <a:spcPct val="0"/>
        </a:spcAft>
        <a:defRPr b="1">
          <a:solidFill>
            <a:schemeClr val="bg1"/>
          </a:solidFill>
          <a:latin typeface="Arial" charset="0"/>
          <a:cs typeface="Arial" charset="0"/>
        </a:defRPr>
      </a:lvl2pPr>
      <a:lvl3pPr algn="l" rtl="0" eaLnBrk="1" fontAlgn="base" hangingPunct="1">
        <a:spcBef>
          <a:spcPct val="40000"/>
        </a:spcBef>
        <a:spcAft>
          <a:spcPct val="0"/>
        </a:spcAft>
        <a:defRPr b="1">
          <a:solidFill>
            <a:schemeClr val="bg1"/>
          </a:solidFill>
          <a:latin typeface="Arial" charset="0"/>
          <a:cs typeface="Arial" charset="0"/>
        </a:defRPr>
      </a:lvl3pPr>
      <a:lvl4pPr algn="l" rtl="0" eaLnBrk="1" fontAlgn="base" hangingPunct="1">
        <a:spcBef>
          <a:spcPct val="40000"/>
        </a:spcBef>
        <a:spcAft>
          <a:spcPct val="0"/>
        </a:spcAft>
        <a:defRPr b="1">
          <a:solidFill>
            <a:schemeClr val="bg1"/>
          </a:solidFill>
          <a:latin typeface="Arial" charset="0"/>
          <a:cs typeface="Arial" charset="0"/>
        </a:defRPr>
      </a:lvl4pPr>
      <a:lvl5pPr algn="l" rtl="0" eaLnBrk="1" fontAlgn="base" hangingPunct="1">
        <a:spcBef>
          <a:spcPct val="40000"/>
        </a:spcBef>
        <a:spcAft>
          <a:spcPct val="0"/>
        </a:spcAft>
        <a:defRPr b="1">
          <a:solidFill>
            <a:schemeClr val="bg1"/>
          </a:solidFill>
          <a:latin typeface="Arial" charset="0"/>
          <a:cs typeface="Arial" charset="0"/>
        </a:defRPr>
      </a:lvl5pPr>
      <a:lvl6pPr marL="457200" algn="l" rtl="0" eaLnBrk="1" fontAlgn="base" hangingPunct="1">
        <a:spcBef>
          <a:spcPct val="40000"/>
        </a:spcBef>
        <a:spcAft>
          <a:spcPct val="0"/>
        </a:spcAft>
        <a:defRPr b="1">
          <a:solidFill>
            <a:schemeClr val="bg1"/>
          </a:solidFill>
          <a:latin typeface="Arial" charset="0"/>
          <a:cs typeface="Arial" charset="0"/>
        </a:defRPr>
      </a:lvl6pPr>
      <a:lvl7pPr marL="914400" algn="l" rtl="0" eaLnBrk="1" fontAlgn="base" hangingPunct="1">
        <a:spcBef>
          <a:spcPct val="40000"/>
        </a:spcBef>
        <a:spcAft>
          <a:spcPct val="0"/>
        </a:spcAft>
        <a:defRPr b="1">
          <a:solidFill>
            <a:schemeClr val="bg1"/>
          </a:solidFill>
          <a:latin typeface="Arial" charset="0"/>
          <a:cs typeface="Arial" charset="0"/>
        </a:defRPr>
      </a:lvl7pPr>
      <a:lvl8pPr marL="1371600" algn="l" rtl="0" eaLnBrk="1" fontAlgn="base" hangingPunct="1">
        <a:spcBef>
          <a:spcPct val="40000"/>
        </a:spcBef>
        <a:spcAft>
          <a:spcPct val="0"/>
        </a:spcAft>
        <a:defRPr b="1">
          <a:solidFill>
            <a:schemeClr val="bg1"/>
          </a:solidFill>
          <a:latin typeface="Arial" charset="0"/>
          <a:cs typeface="Arial" charset="0"/>
        </a:defRPr>
      </a:lvl8pPr>
      <a:lvl9pPr marL="1828800" algn="l" rtl="0" eaLnBrk="1" fontAlgn="base" hangingPunct="1">
        <a:spcBef>
          <a:spcPct val="40000"/>
        </a:spcBef>
        <a:spcAft>
          <a:spcPct val="0"/>
        </a:spcAft>
        <a:defRPr b="1">
          <a:solidFill>
            <a:schemeClr val="bg1"/>
          </a:solidFill>
          <a:latin typeface="Arial" charset="0"/>
          <a:cs typeface="Arial" charset="0"/>
        </a:defRPr>
      </a:lvl9pPr>
    </p:titleStyle>
    <p:bodyStyle>
      <a:lvl1pPr algn="l" rtl="0" eaLnBrk="1" fontAlgn="base" hangingPunct="1">
        <a:spcBef>
          <a:spcPct val="40000"/>
        </a:spcBef>
        <a:spcAft>
          <a:spcPct val="0"/>
        </a:spcAft>
        <a:defRPr sz="1400" b="1">
          <a:solidFill>
            <a:schemeClr val="accent1"/>
          </a:solidFill>
          <a:latin typeface="+mn-lt"/>
          <a:ea typeface="+mn-ea"/>
          <a:cs typeface="+mn-cs"/>
        </a:defRPr>
      </a:lvl1pPr>
      <a:lvl2pPr marL="1588" algn="l" rtl="0" eaLnBrk="1" fontAlgn="base" hangingPunct="1">
        <a:spcBef>
          <a:spcPct val="40000"/>
        </a:spcBef>
        <a:spcAft>
          <a:spcPct val="0"/>
        </a:spcAft>
        <a:defRPr sz="1400">
          <a:solidFill>
            <a:schemeClr val="tx1"/>
          </a:solidFill>
          <a:latin typeface="+mn-lt"/>
          <a:cs typeface="+mn-cs"/>
        </a:defRPr>
      </a:lvl2pPr>
      <a:lvl3pPr marL="179388" indent="-176213" algn="l" rtl="0" eaLnBrk="1" fontAlgn="base" hangingPunct="1">
        <a:spcBef>
          <a:spcPct val="40000"/>
        </a:spcBef>
        <a:spcAft>
          <a:spcPct val="0"/>
        </a:spcAft>
        <a:buClr>
          <a:schemeClr val="accent1"/>
        </a:buClr>
        <a:buSzPct val="70000"/>
        <a:buFont typeface="Wingdings" pitchFamily="2" charset="2"/>
        <a:buChar char="l"/>
        <a:defRPr sz="1400">
          <a:solidFill>
            <a:schemeClr val="tx1"/>
          </a:solidFill>
          <a:latin typeface="+mn-lt"/>
          <a:cs typeface="+mn-cs"/>
        </a:defRPr>
      </a:lvl3pPr>
      <a:lvl4pPr marL="358775" indent="-177800" algn="l" rtl="0" eaLnBrk="1" fontAlgn="base" hangingPunct="1">
        <a:spcBef>
          <a:spcPct val="40000"/>
        </a:spcBef>
        <a:spcAft>
          <a:spcPct val="0"/>
        </a:spcAft>
        <a:buClr>
          <a:schemeClr val="accent1"/>
        </a:buClr>
        <a:buSzPct val="85000"/>
        <a:buFont typeface="Symbol" pitchFamily="18" charset="2"/>
        <a:buChar char="-"/>
        <a:defRPr sz="1400">
          <a:solidFill>
            <a:schemeClr val="tx1"/>
          </a:solidFill>
          <a:latin typeface="+mn-lt"/>
          <a:cs typeface="+mn-cs"/>
        </a:defRPr>
      </a:lvl4pPr>
      <a:lvl5pPr marL="539750" indent="-179388" algn="l" rtl="0" eaLnBrk="1" fontAlgn="base" hangingPunct="1">
        <a:spcBef>
          <a:spcPct val="40000"/>
        </a:spcBef>
        <a:spcAft>
          <a:spcPct val="0"/>
        </a:spcAft>
        <a:buClr>
          <a:schemeClr val="accent1"/>
        </a:buClr>
        <a:buSzPct val="70000"/>
        <a:buFont typeface="Wingdings" pitchFamily="2" charset="2"/>
        <a:buChar char="l"/>
        <a:defRPr sz="1400">
          <a:solidFill>
            <a:schemeClr val="tx1"/>
          </a:solidFill>
          <a:latin typeface="+mn-lt"/>
          <a:cs typeface="+mn-cs"/>
        </a:defRPr>
      </a:lvl5pPr>
      <a:lvl6pPr marL="996950" indent="-179388" algn="l" rtl="0" eaLnBrk="1" fontAlgn="base" hangingPunct="1">
        <a:spcBef>
          <a:spcPct val="40000"/>
        </a:spcBef>
        <a:spcAft>
          <a:spcPct val="0"/>
        </a:spcAft>
        <a:buClr>
          <a:schemeClr val="accent1"/>
        </a:buClr>
        <a:buSzPct val="70000"/>
        <a:buFont typeface="Wingdings" pitchFamily="2" charset="2"/>
        <a:buChar char="l"/>
        <a:defRPr sz="1400">
          <a:solidFill>
            <a:schemeClr val="tx1"/>
          </a:solidFill>
          <a:latin typeface="+mn-lt"/>
          <a:cs typeface="+mn-cs"/>
        </a:defRPr>
      </a:lvl6pPr>
      <a:lvl7pPr marL="1454150" indent="-179388" algn="l" rtl="0" eaLnBrk="1" fontAlgn="base" hangingPunct="1">
        <a:spcBef>
          <a:spcPct val="40000"/>
        </a:spcBef>
        <a:spcAft>
          <a:spcPct val="0"/>
        </a:spcAft>
        <a:buClr>
          <a:schemeClr val="accent1"/>
        </a:buClr>
        <a:buSzPct val="70000"/>
        <a:buFont typeface="Wingdings" pitchFamily="2" charset="2"/>
        <a:buChar char="l"/>
        <a:defRPr sz="1400">
          <a:solidFill>
            <a:schemeClr val="tx1"/>
          </a:solidFill>
          <a:latin typeface="+mn-lt"/>
          <a:cs typeface="+mn-cs"/>
        </a:defRPr>
      </a:lvl7pPr>
      <a:lvl8pPr marL="1911350" indent="-179388" algn="l" rtl="0" eaLnBrk="1" fontAlgn="base" hangingPunct="1">
        <a:spcBef>
          <a:spcPct val="40000"/>
        </a:spcBef>
        <a:spcAft>
          <a:spcPct val="0"/>
        </a:spcAft>
        <a:buClr>
          <a:schemeClr val="accent1"/>
        </a:buClr>
        <a:buSzPct val="70000"/>
        <a:buFont typeface="Wingdings" pitchFamily="2" charset="2"/>
        <a:buChar char="l"/>
        <a:defRPr sz="1400">
          <a:solidFill>
            <a:schemeClr val="tx1"/>
          </a:solidFill>
          <a:latin typeface="+mn-lt"/>
          <a:cs typeface="+mn-cs"/>
        </a:defRPr>
      </a:lvl8pPr>
      <a:lvl9pPr marL="2368550" indent="-179388" algn="l" rtl="0" eaLnBrk="1" fontAlgn="base" hangingPunct="1">
        <a:spcBef>
          <a:spcPct val="40000"/>
        </a:spcBef>
        <a:spcAft>
          <a:spcPct val="0"/>
        </a:spcAft>
        <a:buClr>
          <a:schemeClr val="accent1"/>
        </a:buClr>
        <a:buSzPct val="70000"/>
        <a:buFont typeface="Wingdings" pitchFamily="2" charset="2"/>
        <a:buChar char="l"/>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Picture 4" descr="Cover.jpg"/>
          <p:cNvPicPr>
            <a:picLocks noChangeAspect="1"/>
          </p:cNvPicPr>
          <p:nvPr userDrawn="1"/>
        </p:nvPicPr>
        <p:blipFill>
          <a:blip r:embed="rId3" cstate="print"/>
          <a:stretch>
            <a:fillRect/>
          </a:stretch>
        </p:blipFill>
        <p:spPr>
          <a:xfrm>
            <a:off x="0" y="0"/>
            <a:ext cx="9144000" cy="6858000"/>
          </a:xfrm>
          <a:prstGeom prst="rect">
            <a:avLst/>
          </a:prstGeom>
        </p:spPr>
      </p:pic>
      <p:pic>
        <p:nvPicPr>
          <p:cNvPr id="6" name="Picture 6" descr="PowerPoint-Graphics-6_US"/>
          <p:cNvPicPr>
            <a:picLocks noChangeAspect="1" noChangeArrowheads="1"/>
          </p:cNvPicPr>
          <p:nvPr userDrawn="1"/>
        </p:nvPicPr>
        <p:blipFill>
          <a:blip r:embed="rId4" cstate="print"/>
          <a:srcRect/>
          <a:stretch>
            <a:fillRect/>
          </a:stretch>
        </p:blipFill>
        <p:spPr bwMode="auto">
          <a:xfrm>
            <a:off x="0" y="0"/>
            <a:ext cx="6232525" cy="6859588"/>
          </a:xfrm>
          <a:prstGeom prst="rect">
            <a:avLst/>
          </a:prstGeom>
          <a:noFill/>
        </p:spPr>
      </p:pic>
      <p:sp>
        <p:nvSpPr>
          <p:cNvPr id="7" name="Rectangle 2"/>
          <p:cNvSpPr>
            <a:spLocks noGrp="1" noChangeArrowheads="1"/>
          </p:cNvSpPr>
          <p:nvPr>
            <p:ph type="title"/>
          </p:nvPr>
        </p:nvSpPr>
        <p:spPr bwMode="gray">
          <a:xfrm>
            <a:off x="323850" y="1438275"/>
            <a:ext cx="4856163" cy="2159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3715" r:id="rId1"/>
  </p:sldLayoutIdLst>
  <p:hf hdr="0"/>
  <p:txStyles>
    <p:titleStyle>
      <a:lvl1pPr algn="l" rtl="0" fontAlgn="base">
        <a:spcBef>
          <a:spcPct val="40000"/>
        </a:spcBef>
        <a:spcAft>
          <a:spcPct val="0"/>
        </a:spcAft>
        <a:defRPr sz="3000" b="1">
          <a:solidFill>
            <a:schemeClr val="bg1"/>
          </a:solidFill>
          <a:latin typeface="+mj-lt"/>
          <a:ea typeface="+mj-ea"/>
          <a:cs typeface="+mj-cs"/>
        </a:defRPr>
      </a:lvl1pPr>
      <a:lvl2pPr algn="l" rtl="0" fontAlgn="base">
        <a:spcBef>
          <a:spcPct val="40000"/>
        </a:spcBef>
        <a:spcAft>
          <a:spcPct val="0"/>
        </a:spcAft>
        <a:defRPr sz="3000" b="1">
          <a:solidFill>
            <a:schemeClr val="bg1"/>
          </a:solidFill>
          <a:latin typeface="Arial" charset="0"/>
          <a:cs typeface="Arial" charset="0"/>
        </a:defRPr>
      </a:lvl2pPr>
      <a:lvl3pPr algn="l" rtl="0" fontAlgn="base">
        <a:spcBef>
          <a:spcPct val="40000"/>
        </a:spcBef>
        <a:spcAft>
          <a:spcPct val="0"/>
        </a:spcAft>
        <a:defRPr sz="3000" b="1">
          <a:solidFill>
            <a:schemeClr val="bg1"/>
          </a:solidFill>
          <a:latin typeface="Arial" charset="0"/>
          <a:cs typeface="Arial" charset="0"/>
        </a:defRPr>
      </a:lvl3pPr>
      <a:lvl4pPr algn="l" rtl="0" fontAlgn="base">
        <a:spcBef>
          <a:spcPct val="40000"/>
        </a:spcBef>
        <a:spcAft>
          <a:spcPct val="0"/>
        </a:spcAft>
        <a:defRPr sz="3000" b="1">
          <a:solidFill>
            <a:schemeClr val="bg1"/>
          </a:solidFill>
          <a:latin typeface="Arial" charset="0"/>
          <a:cs typeface="Arial" charset="0"/>
        </a:defRPr>
      </a:lvl4pPr>
      <a:lvl5pPr algn="l" rtl="0" fontAlgn="base">
        <a:spcBef>
          <a:spcPct val="40000"/>
        </a:spcBef>
        <a:spcAft>
          <a:spcPct val="0"/>
        </a:spcAft>
        <a:defRPr sz="3000" b="1">
          <a:solidFill>
            <a:schemeClr val="bg1"/>
          </a:solidFill>
          <a:latin typeface="Arial" charset="0"/>
          <a:cs typeface="Arial" charset="0"/>
        </a:defRPr>
      </a:lvl5pPr>
      <a:lvl6pPr marL="457200" algn="l" rtl="0" fontAlgn="base">
        <a:spcBef>
          <a:spcPct val="40000"/>
        </a:spcBef>
        <a:spcAft>
          <a:spcPct val="0"/>
        </a:spcAft>
        <a:defRPr sz="3000" b="1">
          <a:solidFill>
            <a:schemeClr val="bg1"/>
          </a:solidFill>
          <a:latin typeface="Arial" charset="0"/>
          <a:cs typeface="Arial" charset="0"/>
        </a:defRPr>
      </a:lvl6pPr>
      <a:lvl7pPr marL="914400" algn="l" rtl="0" fontAlgn="base">
        <a:spcBef>
          <a:spcPct val="40000"/>
        </a:spcBef>
        <a:spcAft>
          <a:spcPct val="0"/>
        </a:spcAft>
        <a:defRPr sz="3000" b="1">
          <a:solidFill>
            <a:schemeClr val="bg1"/>
          </a:solidFill>
          <a:latin typeface="Arial" charset="0"/>
          <a:cs typeface="Arial" charset="0"/>
        </a:defRPr>
      </a:lvl7pPr>
      <a:lvl8pPr marL="1371600" algn="l" rtl="0" fontAlgn="base">
        <a:spcBef>
          <a:spcPct val="40000"/>
        </a:spcBef>
        <a:spcAft>
          <a:spcPct val="0"/>
        </a:spcAft>
        <a:defRPr sz="3000" b="1">
          <a:solidFill>
            <a:schemeClr val="bg1"/>
          </a:solidFill>
          <a:latin typeface="Arial" charset="0"/>
          <a:cs typeface="Arial" charset="0"/>
        </a:defRPr>
      </a:lvl8pPr>
      <a:lvl9pPr marL="1828800" algn="l" rtl="0" fontAlgn="base">
        <a:spcBef>
          <a:spcPct val="40000"/>
        </a:spcBef>
        <a:spcAft>
          <a:spcPct val="0"/>
        </a:spcAft>
        <a:defRPr sz="3000" b="1">
          <a:solidFill>
            <a:schemeClr val="bg1"/>
          </a:solidFill>
          <a:latin typeface="Arial" charset="0"/>
          <a:cs typeface="Arial" charset="0"/>
        </a:defRPr>
      </a:lvl9pPr>
    </p:titleStyle>
    <p:bodyStyle>
      <a:lvl1pPr algn="l" rtl="0" fontAlgn="base">
        <a:spcBef>
          <a:spcPct val="40000"/>
        </a:spcBef>
        <a:spcAft>
          <a:spcPct val="0"/>
        </a:spcAft>
        <a:defRPr sz="1200">
          <a:solidFill>
            <a:schemeClr val="bg1"/>
          </a:solidFill>
          <a:latin typeface="+mn-lt"/>
          <a:ea typeface="+mn-ea"/>
          <a:cs typeface="+mn-cs"/>
        </a:defRPr>
      </a:lvl1pPr>
      <a:lvl2pPr marL="1588" algn="l" rtl="0" fontAlgn="base">
        <a:spcBef>
          <a:spcPct val="40000"/>
        </a:spcBef>
        <a:spcAft>
          <a:spcPct val="0"/>
        </a:spcAft>
        <a:defRPr sz="1400">
          <a:solidFill>
            <a:schemeClr val="tx1"/>
          </a:solidFill>
          <a:latin typeface="+mn-lt"/>
          <a:cs typeface="+mn-cs"/>
        </a:defRPr>
      </a:lvl2pPr>
      <a:lvl3pPr marL="357188" indent="-176213"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3pPr>
      <a:lvl4pPr marL="538163" indent="-177800" algn="l" rtl="0" fontAlgn="base">
        <a:spcBef>
          <a:spcPct val="40000"/>
        </a:spcBef>
        <a:spcAft>
          <a:spcPct val="0"/>
        </a:spcAft>
        <a:buClr>
          <a:schemeClr val="accent1"/>
        </a:buClr>
        <a:buSzPct val="85000"/>
        <a:buFont typeface="Symbol" pitchFamily="18" charset="2"/>
        <a:buChar char="-"/>
        <a:defRPr sz="1400">
          <a:solidFill>
            <a:schemeClr val="tx1"/>
          </a:solidFill>
          <a:latin typeface="+mn-lt"/>
          <a:cs typeface="+mn-cs"/>
        </a:defRPr>
      </a:lvl4pPr>
      <a:lvl5pPr marL="7223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5pPr>
      <a:lvl6pPr marL="11795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6pPr>
      <a:lvl7pPr marL="16367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7pPr>
      <a:lvl8pPr marL="20939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8pPr>
      <a:lvl9pPr marL="25511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84710" name="Picture 6" descr="PowerPoint-Graphics-3_US"/>
          <p:cNvPicPr>
            <a:picLocks noChangeAspect="1" noChangeArrowheads="1"/>
          </p:cNvPicPr>
          <p:nvPr/>
        </p:nvPicPr>
        <p:blipFill>
          <a:blip r:embed="rId3" cstate="print"/>
          <a:srcRect/>
          <a:stretch>
            <a:fillRect/>
          </a:stretch>
        </p:blipFill>
        <p:spPr bwMode="auto">
          <a:xfrm>
            <a:off x="0" y="0"/>
            <a:ext cx="4940300" cy="5402263"/>
          </a:xfrm>
          <a:prstGeom prst="rect">
            <a:avLst/>
          </a:prstGeom>
          <a:noFill/>
        </p:spPr>
      </p:pic>
      <p:sp>
        <p:nvSpPr>
          <p:cNvPr id="584708" name="Rectangle 2"/>
          <p:cNvSpPr>
            <a:spLocks noGrp="1" noChangeArrowheads="1"/>
          </p:cNvSpPr>
          <p:nvPr>
            <p:ph type="title"/>
          </p:nvPr>
        </p:nvSpPr>
        <p:spPr bwMode="gray">
          <a:xfrm>
            <a:off x="323850" y="1438275"/>
            <a:ext cx="3867150" cy="10795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584709" name="Rectangle 3"/>
          <p:cNvSpPr>
            <a:spLocks noGrp="1" noChangeArrowheads="1"/>
          </p:cNvSpPr>
          <p:nvPr>
            <p:ph type="body" idx="1"/>
          </p:nvPr>
        </p:nvSpPr>
        <p:spPr bwMode="auto">
          <a:xfrm>
            <a:off x="323850" y="2698750"/>
            <a:ext cx="3238500" cy="9001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p:txBody>
      </p:sp>
    </p:spTree>
  </p:cSld>
  <p:clrMap bg1="lt1" tx1="dk1" bg2="lt2" tx2="dk2" accent1="accent1" accent2="accent2" accent3="accent3" accent4="accent4" accent5="accent5" accent6="accent6" hlink="hlink" folHlink="folHlink"/>
  <p:sldLayoutIdLst>
    <p:sldLayoutId id="2147483748" r:id="rId1"/>
  </p:sldLayoutIdLst>
  <p:hf hdr="0"/>
  <p:txStyles>
    <p:titleStyle>
      <a:lvl1pPr algn="l" rtl="0" fontAlgn="base">
        <a:spcBef>
          <a:spcPct val="40000"/>
        </a:spcBef>
        <a:spcAft>
          <a:spcPct val="0"/>
        </a:spcAft>
        <a:defRPr sz="3000" b="1">
          <a:solidFill>
            <a:schemeClr val="bg1"/>
          </a:solidFill>
          <a:latin typeface="+mj-lt"/>
          <a:ea typeface="+mj-ea"/>
          <a:cs typeface="+mj-cs"/>
        </a:defRPr>
      </a:lvl1pPr>
      <a:lvl2pPr algn="l" rtl="0" fontAlgn="base">
        <a:spcBef>
          <a:spcPct val="40000"/>
        </a:spcBef>
        <a:spcAft>
          <a:spcPct val="0"/>
        </a:spcAft>
        <a:defRPr sz="3000" b="1">
          <a:solidFill>
            <a:schemeClr val="bg1"/>
          </a:solidFill>
          <a:latin typeface="Arial" charset="0"/>
          <a:cs typeface="Arial" charset="0"/>
        </a:defRPr>
      </a:lvl2pPr>
      <a:lvl3pPr algn="l" rtl="0" fontAlgn="base">
        <a:spcBef>
          <a:spcPct val="40000"/>
        </a:spcBef>
        <a:spcAft>
          <a:spcPct val="0"/>
        </a:spcAft>
        <a:defRPr sz="3000" b="1">
          <a:solidFill>
            <a:schemeClr val="bg1"/>
          </a:solidFill>
          <a:latin typeface="Arial" charset="0"/>
          <a:cs typeface="Arial" charset="0"/>
        </a:defRPr>
      </a:lvl3pPr>
      <a:lvl4pPr algn="l" rtl="0" fontAlgn="base">
        <a:spcBef>
          <a:spcPct val="40000"/>
        </a:spcBef>
        <a:spcAft>
          <a:spcPct val="0"/>
        </a:spcAft>
        <a:defRPr sz="3000" b="1">
          <a:solidFill>
            <a:schemeClr val="bg1"/>
          </a:solidFill>
          <a:latin typeface="Arial" charset="0"/>
          <a:cs typeface="Arial" charset="0"/>
        </a:defRPr>
      </a:lvl4pPr>
      <a:lvl5pPr algn="l" rtl="0" fontAlgn="base">
        <a:spcBef>
          <a:spcPct val="40000"/>
        </a:spcBef>
        <a:spcAft>
          <a:spcPct val="0"/>
        </a:spcAft>
        <a:defRPr sz="3000" b="1">
          <a:solidFill>
            <a:schemeClr val="bg1"/>
          </a:solidFill>
          <a:latin typeface="Arial" charset="0"/>
          <a:cs typeface="Arial" charset="0"/>
        </a:defRPr>
      </a:lvl5pPr>
      <a:lvl6pPr marL="457200" algn="l" rtl="0" fontAlgn="base">
        <a:spcBef>
          <a:spcPct val="40000"/>
        </a:spcBef>
        <a:spcAft>
          <a:spcPct val="0"/>
        </a:spcAft>
        <a:defRPr sz="3000" b="1">
          <a:solidFill>
            <a:schemeClr val="bg1"/>
          </a:solidFill>
          <a:latin typeface="Arial" charset="0"/>
          <a:cs typeface="Arial" charset="0"/>
        </a:defRPr>
      </a:lvl6pPr>
      <a:lvl7pPr marL="914400" algn="l" rtl="0" fontAlgn="base">
        <a:spcBef>
          <a:spcPct val="40000"/>
        </a:spcBef>
        <a:spcAft>
          <a:spcPct val="0"/>
        </a:spcAft>
        <a:defRPr sz="3000" b="1">
          <a:solidFill>
            <a:schemeClr val="bg1"/>
          </a:solidFill>
          <a:latin typeface="Arial" charset="0"/>
          <a:cs typeface="Arial" charset="0"/>
        </a:defRPr>
      </a:lvl7pPr>
      <a:lvl8pPr marL="1371600" algn="l" rtl="0" fontAlgn="base">
        <a:spcBef>
          <a:spcPct val="40000"/>
        </a:spcBef>
        <a:spcAft>
          <a:spcPct val="0"/>
        </a:spcAft>
        <a:defRPr sz="3000" b="1">
          <a:solidFill>
            <a:schemeClr val="bg1"/>
          </a:solidFill>
          <a:latin typeface="Arial" charset="0"/>
          <a:cs typeface="Arial" charset="0"/>
        </a:defRPr>
      </a:lvl8pPr>
      <a:lvl9pPr marL="1828800" algn="l" rtl="0" fontAlgn="base">
        <a:spcBef>
          <a:spcPct val="40000"/>
        </a:spcBef>
        <a:spcAft>
          <a:spcPct val="0"/>
        </a:spcAft>
        <a:defRPr sz="3000" b="1">
          <a:solidFill>
            <a:schemeClr val="bg1"/>
          </a:solidFill>
          <a:latin typeface="Arial" charset="0"/>
          <a:cs typeface="Arial" charset="0"/>
        </a:defRPr>
      </a:lvl9pPr>
    </p:titleStyle>
    <p:bodyStyle>
      <a:lvl1pPr algn="l" rtl="0" fontAlgn="base">
        <a:spcBef>
          <a:spcPct val="40000"/>
        </a:spcBef>
        <a:spcAft>
          <a:spcPct val="0"/>
        </a:spcAft>
        <a:defRPr sz="1200">
          <a:solidFill>
            <a:schemeClr val="bg1"/>
          </a:solidFill>
          <a:latin typeface="+mn-lt"/>
          <a:ea typeface="+mn-ea"/>
          <a:cs typeface="+mn-cs"/>
        </a:defRPr>
      </a:lvl1pPr>
      <a:lvl2pPr marL="1588" algn="l" rtl="0" fontAlgn="base">
        <a:spcBef>
          <a:spcPct val="40000"/>
        </a:spcBef>
        <a:spcAft>
          <a:spcPct val="0"/>
        </a:spcAft>
        <a:defRPr sz="1400">
          <a:solidFill>
            <a:schemeClr val="tx1"/>
          </a:solidFill>
          <a:latin typeface="+mn-lt"/>
          <a:cs typeface="+mn-cs"/>
        </a:defRPr>
      </a:lvl2pPr>
      <a:lvl3pPr marL="357188" indent="-176213"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3pPr>
      <a:lvl4pPr marL="538163" indent="-177800" algn="l" rtl="0" fontAlgn="base">
        <a:spcBef>
          <a:spcPct val="40000"/>
        </a:spcBef>
        <a:spcAft>
          <a:spcPct val="0"/>
        </a:spcAft>
        <a:buClr>
          <a:schemeClr val="accent1"/>
        </a:buClr>
        <a:buSzPct val="85000"/>
        <a:buFont typeface="Symbol" pitchFamily="18" charset="2"/>
        <a:buChar char="-"/>
        <a:defRPr sz="1400">
          <a:solidFill>
            <a:schemeClr val="tx1"/>
          </a:solidFill>
          <a:latin typeface="+mn-lt"/>
          <a:cs typeface="+mn-cs"/>
        </a:defRPr>
      </a:lvl4pPr>
      <a:lvl5pPr marL="7223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5pPr>
      <a:lvl6pPr marL="11795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6pPr>
      <a:lvl7pPr marL="16367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7pPr>
      <a:lvl8pPr marL="20939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8pPr>
      <a:lvl9pPr marL="25511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37607" name="Picture 7" descr="PowerPoint-Graphics-2_US"/>
          <p:cNvPicPr>
            <a:picLocks noChangeAspect="1" noChangeArrowheads="1"/>
          </p:cNvPicPr>
          <p:nvPr/>
        </p:nvPicPr>
        <p:blipFill>
          <a:blip r:embed="rId3" cstate="print"/>
          <a:srcRect/>
          <a:stretch>
            <a:fillRect/>
          </a:stretch>
        </p:blipFill>
        <p:spPr bwMode="auto">
          <a:xfrm>
            <a:off x="0" y="0"/>
            <a:ext cx="4689475" cy="3240088"/>
          </a:xfrm>
          <a:prstGeom prst="rect">
            <a:avLst/>
          </a:prstGeom>
          <a:noFill/>
        </p:spPr>
      </p:pic>
      <p:pic>
        <p:nvPicPr>
          <p:cNvPr id="537603" name="Picture 3" descr="KPMG_white logo_cover 1_2_3"/>
          <p:cNvPicPr>
            <a:picLocks noChangeAspect="1" noChangeArrowheads="1"/>
          </p:cNvPicPr>
          <p:nvPr/>
        </p:nvPicPr>
        <p:blipFill>
          <a:blip r:embed="rId4" cstate="print"/>
          <a:srcRect/>
          <a:stretch>
            <a:fillRect/>
          </a:stretch>
        </p:blipFill>
        <p:spPr bwMode="auto">
          <a:xfrm>
            <a:off x="323850" y="434975"/>
            <a:ext cx="2159000" cy="801688"/>
          </a:xfrm>
          <a:prstGeom prst="rect">
            <a:avLst/>
          </a:prstGeom>
          <a:noFill/>
        </p:spPr>
      </p:pic>
      <p:sp>
        <p:nvSpPr>
          <p:cNvPr id="537605" name="Rectangle 3"/>
          <p:cNvSpPr>
            <a:spLocks noGrp="1" noChangeArrowheads="1"/>
          </p:cNvSpPr>
          <p:nvPr>
            <p:ph type="body" idx="1"/>
          </p:nvPr>
        </p:nvSpPr>
        <p:spPr bwMode="auto">
          <a:xfrm>
            <a:off x="323850" y="4292600"/>
            <a:ext cx="7142163" cy="21447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p:txBody>
      </p:sp>
    </p:spTree>
  </p:cSld>
  <p:clrMap bg1="lt1" tx1="dk1" bg2="lt2" tx2="dk2" accent1="accent1" accent2="accent2" accent3="accent3" accent4="accent4" accent5="accent5" accent6="accent6" hlink="hlink" folHlink="folHlink"/>
  <p:sldLayoutIdLst>
    <p:sldLayoutId id="2147483759" r:id="rId1"/>
  </p:sldLayoutIdLst>
  <p:hf hdr="0"/>
  <p:txStyles>
    <p:titleStyle>
      <a:lvl1pPr algn="r" rtl="0" fontAlgn="base">
        <a:spcBef>
          <a:spcPct val="40000"/>
        </a:spcBef>
        <a:spcAft>
          <a:spcPct val="0"/>
        </a:spcAft>
        <a:defRPr sz="3000" b="1">
          <a:solidFill>
            <a:schemeClr val="bg1"/>
          </a:solidFill>
          <a:latin typeface="+mj-lt"/>
          <a:ea typeface="+mj-ea"/>
          <a:cs typeface="+mj-cs"/>
        </a:defRPr>
      </a:lvl1pPr>
      <a:lvl2pPr algn="r" rtl="0" fontAlgn="base">
        <a:spcBef>
          <a:spcPct val="40000"/>
        </a:spcBef>
        <a:spcAft>
          <a:spcPct val="0"/>
        </a:spcAft>
        <a:defRPr sz="3000" b="1">
          <a:solidFill>
            <a:schemeClr val="bg1"/>
          </a:solidFill>
          <a:latin typeface="Arial" charset="0"/>
          <a:cs typeface="Arial" charset="0"/>
        </a:defRPr>
      </a:lvl2pPr>
      <a:lvl3pPr algn="r" rtl="0" fontAlgn="base">
        <a:spcBef>
          <a:spcPct val="40000"/>
        </a:spcBef>
        <a:spcAft>
          <a:spcPct val="0"/>
        </a:spcAft>
        <a:defRPr sz="3000" b="1">
          <a:solidFill>
            <a:schemeClr val="bg1"/>
          </a:solidFill>
          <a:latin typeface="Arial" charset="0"/>
          <a:cs typeface="Arial" charset="0"/>
        </a:defRPr>
      </a:lvl3pPr>
      <a:lvl4pPr algn="r" rtl="0" fontAlgn="base">
        <a:spcBef>
          <a:spcPct val="40000"/>
        </a:spcBef>
        <a:spcAft>
          <a:spcPct val="0"/>
        </a:spcAft>
        <a:defRPr sz="3000" b="1">
          <a:solidFill>
            <a:schemeClr val="bg1"/>
          </a:solidFill>
          <a:latin typeface="Arial" charset="0"/>
          <a:cs typeface="Arial" charset="0"/>
        </a:defRPr>
      </a:lvl4pPr>
      <a:lvl5pPr algn="r" rtl="0" fontAlgn="base">
        <a:spcBef>
          <a:spcPct val="40000"/>
        </a:spcBef>
        <a:spcAft>
          <a:spcPct val="0"/>
        </a:spcAft>
        <a:defRPr sz="3000" b="1">
          <a:solidFill>
            <a:schemeClr val="bg1"/>
          </a:solidFill>
          <a:latin typeface="Arial" charset="0"/>
          <a:cs typeface="Arial" charset="0"/>
        </a:defRPr>
      </a:lvl5pPr>
      <a:lvl6pPr marL="457200" algn="r" rtl="0" fontAlgn="base">
        <a:spcBef>
          <a:spcPct val="40000"/>
        </a:spcBef>
        <a:spcAft>
          <a:spcPct val="0"/>
        </a:spcAft>
        <a:defRPr sz="3000" b="1">
          <a:solidFill>
            <a:schemeClr val="bg1"/>
          </a:solidFill>
          <a:latin typeface="Arial" charset="0"/>
          <a:cs typeface="Arial" charset="0"/>
        </a:defRPr>
      </a:lvl6pPr>
      <a:lvl7pPr marL="914400" algn="r" rtl="0" fontAlgn="base">
        <a:spcBef>
          <a:spcPct val="40000"/>
        </a:spcBef>
        <a:spcAft>
          <a:spcPct val="0"/>
        </a:spcAft>
        <a:defRPr sz="3000" b="1">
          <a:solidFill>
            <a:schemeClr val="bg1"/>
          </a:solidFill>
          <a:latin typeface="Arial" charset="0"/>
          <a:cs typeface="Arial" charset="0"/>
        </a:defRPr>
      </a:lvl7pPr>
      <a:lvl8pPr marL="1371600" algn="r" rtl="0" fontAlgn="base">
        <a:spcBef>
          <a:spcPct val="40000"/>
        </a:spcBef>
        <a:spcAft>
          <a:spcPct val="0"/>
        </a:spcAft>
        <a:defRPr sz="3000" b="1">
          <a:solidFill>
            <a:schemeClr val="bg1"/>
          </a:solidFill>
          <a:latin typeface="Arial" charset="0"/>
          <a:cs typeface="Arial" charset="0"/>
        </a:defRPr>
      </a:lvl8pPr>
      <a:lvl9pPr marL="1828800" algn="r" rtl="0" fontAlgn="base">
        <a:spcBef>
          <a:spcPct val="40000"/>
        </a:spcBef>
        <a:spcAft>
          <a:spcPct val="0"/>
        </a:spcAft>
        <a:defRPr sz="3000" b="1">
          <a:solidFill>
            <a:schemeClr val="bg1"/>
          </a:solidFill>
          <a:latin typeface="Arial" charset="0"/>
          <a:cs typeface="Arial" charset="0"/>
        </a:defRPr>
      </a:lvl9pPr>
    </p:titleStyle>
    <p:bodyStyle>
      <a:lvl1pPr algn="l" rtl="0" fontAlgn="base">
        <a:spcBef>
          <a:spcPct val="40000"/>
        </a:spcBef>
        <a:spcAft>
          <a:spcPct val="0"/>
        </a:spcAft>
        <a:defRPr sz="1200">
          <a:solidFill>
            <a:schemeClr val="tx1"/>
          </a:solidFill>
          <a:latin typeface="+mn-lt"/>
          <a:ea typeface="+mn-ea"/>
          <a:cs typeface="+mn-cs"/>
        </a:defRPr>
      </a:lvl1pPr>
      <a:lvl2pPr marL="1588" algn="l" rtl="0" fontAlgn="base">
        <a:spcBef>
          <a:spcPct val="40000"/>
        </a:spcBef>
        <a:spcAft>
          <a:spcPct val="0"/>
        </a:spcAft>
        <a:defRPr sz="1400">
          <a:solidFill>
            <a:schemeClr val="tx1"/>
          </a:solidFill>
          <a:latin typeface="+mn-lt"/>
          <a:cs typeface="+mn-cs"/>
        </a:defRPr>
      </a:lvl2pPr>
      <a:lvl3pPr marL="357188" indent="-176213"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3pPr>
      <a:lvl4pPr marL="538163" indent="-177800" algn="l" rtl="0" fontAlgn="base">
        <a:spcBef>
          <a:spcPct val="40000"/>
        </a:spcBef>
        <a:spcAft>
          <a:spcPct val="0"/>
        </a:spcAft>
        <a:buClr>
          <a:schemeClr val="accent1"/>
        </a:buClr>
        <a:buSzPct val="85000"/>
        <a:buFont typeface="Symbol" pitchFamily="18" charset="2"/>
        <a:buChar char="-"/>
        <a:defRPr sz="1400">
          <a:solidFill>
            <a:schemeClr val="tx1"/>
          </a:solidFill>
          <a:latin typeface="+mn-lt"/>
          <a:cs typeface="+mn-cs"/>
        </a:defRPr>
      </a:lvl4pPr>
      <a:lvl5pPr marL="7223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5pPr>
      <a:lvl6pPr marL="11795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6pPr>
      <a:lvl7pPr marL="16367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7pPr>
      <a:lvl8pPr marL="20939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8pPr>
      <a:lvl9pPr marL="2551113" indent="-179388" algn="l" rtl="0" fontAlgn="base">
        <a:spcBef>
          <a:spcPct val="40000"/>
        </a:spcBef>
        <a:spcAft>
          <a:spcPct val="0"/>
        </a:spcAft>
        <a:buClr>
          <a:schemeClr val="accent1"/>
        </a:buClr>
        <a:buSzPct val="75000"/>
        <a:buFont typeface="Wingdings" pitchFamily="2" charset="2"/>
        <a:buChar char="l"/>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4" name="Rectangle 8"/>
          <p:cNvSpPr>
            <a:spLocks noGrp="1" noChangeArrowheads="1"/>
          </p:cNvSpPr>
          <p:nvPr>
            <p:ph type="ctrTitle"/>
          </p:nvPr>
        </p:nvSpPr>
        <p:spPr>
          <a:xfrm>
            <a:off x="323850" y="1879600"/>
            <a:ext cx="3867149" cy="3454400"/>
          </a:xfrm>
          <a:noFill/>
        </p:spPr>
        <p:txBody>
          <a:bodyPr/>
          <a:lstStyle/>
          <a:p>
            <a:r>
              <a:rPr lang="en-US" dirty="0" smtClean="0"/>
              <a:t>Minnesota Taxes in Comparison</a:t>
            </a:r>
            <a:br>
              <a:rPr lang="en-US" dirty="0" smtClean="0"/>
            </a:br>
            <a:r>
              <a:rPr lang="en-US" sz="2000" dirty="0" smtClean="0"/>
              <a:t/>
            </a:r>
            <a:br>
              <a:rPr lang="en-US" sz="2000" dirty="0" smtClean="0"/>
            </a:br>
            <a:endParaRPr lang="en-US" sz="2000"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lide Number Placeholder 4"/>
          <p:cNvSpPr>
            <a:spLocks noGrp="1"/>
          </p:cNvSpPr>
          <p:nvPr>
            <p:ph type="sldNum" sz="quarter" idx="12"/>
          </p:nvPr>
        </p:nvSpPr>
        <p:spPr/>
        <p:txBody>
          <a:bodyPr/>
          <a:lstStyle/>
          <a:p>
            <a:fld id="{BDAC82D5-5DDB-4259-92A1-FA2E463C3F7A}" type="slidenum">
              <a:rPr lang="en-GB"/>
              <a:pPr/>
              <a:t>1</a:t>
            </a:fld>
            <a:endParaRPr lang="en-GB"/>
          </a:p>
        </p:txBody>
      </p:sp>
      <p:sp>
        <p:nvSpPr>
          <p:cNvPr id="9" name="Rectangle 2"/>
          <p:cNvSpPr>
            <a:spLocks noChangeArrowheads="1"/>
          </p:cNvSpPr>
          <p:nvPr/>
        </p:nvSpPr>
        <p:spPr bwMode="auto">
          <a:xfrm>
            <a:off x="381000" y="4610100"/>
            <a:ext cx="8305800" cy="1343025"/>
          </a:xfrm>
          <a:prstGeom prst="rect">
            <a:avLst/>
          </a:prstGeom>
          <a:noFill/>
          <a:ln w="9525">
            <a:no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tab pos="7359650" algn="r"/>
              </a:tabLst>
              <a:defRPr/>
            </a:pPr>
            <a:r>
              <a:rPr kumimoji="0" lang="en-US" sz="1100" b="0" i="0" u="none" strike="noStrike" kern="0" cap="none" spc="0" normalizeH="0" baseline="0" noProof="0" dirty="0" smtClean="0">
                <a:ln>
                  <a:noFill/>
                </a:ln>
                <a:solidFill>
                  <a:sysClr val="windowText" lastClr="000000"/>
                </a:solidFill>
                <a:uLnTx/>
                <a:uFillTx/>
              </a:rPr>
              <a:t>Notwithstanding anything to the contrary set forth herein, you (and your employees, representatives, or other agents) may disclose to any and all persons, without limitation of any kind, the tax treatment and tax structure of any transaction, and all materials of any kind (including opinions or other tax analyses) that are provided to you by KPMG LLP related to such tax treatment and tax structure, effective immediately upon commencement of discussions with KPMG LLP. </a:t>
            </a:r>
          </a:p>
          <a:p>
            <a:pPr marL="0" marR="0" lvl="0" indent="0" defTabSz="914400" eaLnBrk="1" fontAlgn="auto" latinLnBrk="0" hangingPunct="1">
              <a:lnSpc>
                <a:spcPct val="100000"/>
              </a:lnSpc>
              <a:spcBef>
                <a:spcPts val="0"/>
              </a:spcBef>
              <a:spcAft>
                <a:spcPts val="0"/>
              </a:spcAft>
              <a:buClrTx/>
              <a:buSzTx/>
              <a:buFontTx/>
              <a:buNone/>
              <a:tabLst>
                <a:tab pos="7359650" algn="r"/>
              </a:tabLst>
              <a:defRPr/>
            </a:pPr>
            <a:endParaRPr kumimoji="0" lang="en-US" sz="1100" b="0" i="0" u="none" strike="noStrike" kern="0" cap="none" spc="0" normalizeH="0" baseline="0" noProof="0" dirty="0" smtClean="0">
              <a:ln>
                <a:noFill/>
              </a:ln>
              <a:solidFill>
                <a:sysClr val="windowText" lastClr="000000"/>
              </a:solidFill>
              <a:uLnTx/>
              <a:uFillTx/>
            </a:endParaRPr>
          </a:p>
          <a:p>
            <a:pPr marL="0" marR="0" lvl="0" indent="0" defTabSz="914400" eaLnBrk="1" fontAlgn="auto" latinLnBrk="0" hangingPunct="1">
              <a:lnSpc>
                <a:spcPct val="100000"/>
              </a:lnSpc>
              <a:spcBef>
                <a:spcPts val="0"/>
              </a:spcBef>
              <a:spcAft>
                <a:spcPts val="0"/>
              </a:spcAft>
              <a:buClrTx/>
              <a:buSzTx/>
              <a:buFontTx/>
              <a:buNone/>
              <a:tabLst>
                <a:tab pos="7359650" algn="r"/>
              </a:tabLst>
              <a:defRPr/>
            </a:pPr>
            <a:r>
              <a:rPr kumimoji="0" lang="en-US" sz="1100" b="0" i="0" u="none" strike="noStrike" kern="0" cap="none" spc="0" normalizeH="0" baseline="0" noProof="0" dirty="0" smtClean="0">
                <a:ln>
                  <a:noFill/>
                </a:ln>
                <a:solidFill>
                  <a:sysClr val="windowText" lastClr="000000"/>
                </a:solidFill>
                <a:uLnTx/>
                <a:uFillTx/>
              </a:rPr>
              <a:t>The information contained herein</a:t>
            </a:r>
            <a:r>
              <a:rPr kumimoji="0" lang="en-US" sz="1100" b="0" i="0" u="none" strike="noStrike" kern="0" cap="none" spc="0" normalizeH="0" baseline="0" noProof="0" dirty="0" smtClean="0">
                <a:ln>
                  <a:noFill/>
                </a:ln>
                <a:solidFill>
                  <a:srgbClr val="0064C8"/>
                </a:solidFill>
                <a:uLnTx/>
                <a:uFillTx/>
              </a:rPr>
              <a:t> </a:t>
            </a:r>
            <a:r>
              <a:rPr kumimoji="0" lang="en-US" sz="1100" b="0" i="0" u="none" strike="noStrike" kern="0" cap="none" spc="0" normalizeH="0" baseline="0" noProof="0" dirty="0" smtClean="0">
                <a:ln>
                  <a:noFill/>
                </a:ln>
                <a:solidFill>
                  <a:sysClr val="windowText" lastClr="000000"/>
                </a:solidFill>
                <a:uLnTx/>
                <a:uFillTx/>
              </a:rPr>
              <a:t>is of a general nature and based on authorities that are subject to change. Applicability of the information to specific situations should be determined through consultation with your tax adviser.</a:t>
            </a:r>
            <a:r>
              <a:rPr kumimoji="0" lang="en-US" sz="1000" b="0" i="0" u="none" strike="noStrike" kern="0" cap="none" spc="0" normalizeH="0" baseline="0" noProof="0" dirty="0" smtClean="0">
                <a:ln>
                  <a:noFill/>
                </a:ln>
                <a:solidFill>
                  <a:sysClr val="windowText" lastClr="000000"/>
                </a:solidFill>
                <a:uLnTx/>
                <a:uFillTx/>
              </a:rPr>
              <a:t> </a:t>
            </a:r>
            <a:r>
              <a:rPr kumimoji="0" lang="en-US" sz="1000" b="0" i="0" u="none" strike="noStrike" kern="0" cap="none" spc="0" normalizeH="0" baseline="0" noProof="0" dirty="0" smtClean="0">
                <a:ln>
                  <a:noFill/>
                </a:ln>
                <a:solidFill>
                  <a:srgbClr val="0064C8"/>
                </a:solidFill>
                <a:uLnTx/>
                <a:uFillTx/>
              </a:rPr>
              <a:t>	</a:t>
            </a:r>
          </a:p>
        </p:txBody>
      </p:sp>
      <p:sp>
        <p:nvSpPr>
          <p:cNvPr id="12" name="TextBox 11"/>
          <p:cNvSpPr txBox="1"/>
          <p:nvPr/>
        </p:nvSpPr>
        <p:spPr>
          <a:xfrm>
            <a:off x="810552" y="1624476"/>
            <a:ext cx="7391400" cy="2523768"/>
          </a:xfrm>
          <a:prstGeom prst="rect">
            <a:avLst/>
          </a:prstGeom>
          <a:noFill/>
        </p:spPr>
        <p:txBody>
          <a:bodyPr wrap="square" rtlCol="0">
            <a:spAutoFit/>
          </a:bodyPr>
          <a:lstStyle/>
          <a:p>
            <a:pPr algn="ctr"/>
            <a:r>
              <a:rPr lang="en-US" sz="2000" i="1" dirty="0" smtClean="0"/>
              <a:t>ANY TAX ADVICE IN THIS COMMUNICATION IS NOT INTENDED OR WRITTEN BY KPMG TO BE USED, AND CANNOT BE USED, BY A CLIENT OR ANY OTHER PERSON OR ENTITY FOR THE PURPOSE OF (I) AVOIDING PENALTIES THAT MAY BE IMPOSED ON ANY TAXPAYER OR (II) PROMOTING, MARKETING, OR RECOMMENDING TO ANOTHER PARTY ANY MATTERS ADDRESSED HEREIN. </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State –Local Tax Mix:  Minnesota v. U.S.</a:t>
            </a:r>
            <a:endParaRPr lang="en-US" dirty="0"/>
          </a:p>
        </p:txBody>
      </p:sp>
      <p:sp>
        <p:nvSpPr>
          <p:cNvPr id="3" name="Slide Number Placeholder 2"/>
          <p:cNvSpPr>
            <a:spLocks noGrp="1"/>
          </p:cNvSpPr>
          <p:nvPr>
            <p:ph type="sldNum" sz="quarter" idx="12"/>
          </p:nvPr>
        </p:nvSpPr>
        <p:spPr/>
        <p:txBody>
          <a:bodyPr/>
          <a:lstStyle/>
          <a:p>
            <a:fld id="{C588D80B-5099-4EA5-9278-28D7FF0AAEC5}" type="slidenum">
              <a:rPr lang="en-GB" smtClean="0"/>
              <a:pPr/>
              <a:t>2</a:t>
            </a:fld>
            <a:endParaRPr lang="en-GB"/>
          </a:p>
        </p:txBody>
      </p:sp>
      <p:sp>
        <p:nvSpPr>
          <p:cNvPr id="5" name="Content Placeholder 4"/>
          <p:cNvSpPr>
            <a:spLocks noGrp="1"/>
          </p:cNvSpPr>
          <p:nvPr>
            <p:ph idx="1"/>
          </p:nvPr>
        </p:nvSpPr>
        <p:spPr/>
        <p:txBody>
          <a:bodyPr/>
          <a:lstStyle/>
          <a:p>
            <a:r>
              <a:rPr lang="en-US" sz="1800" dirty="0" smtClean="0"/>
              <a:t>Relatively  less reliance on property tax</a:t>
            </a:r>
          </a:p>
          <a:p>
            <a:pPr lvl="2"/>
            <a:r>
              <a:rPr lang="en-US" sz="1800" dirty="0" smtClean="0"/>
              <a:t>29 percent vs. 33 percent</a:t>
            </a:r>
          </a:p>
          <a:p>
            <a:r>
              <a:rPr lang="en-US" sz="1800" dirty="0" smtClean="0"/>
              <a:t>Relatively less reliance on general sales taxes</a:t>
            </a:r>
          </a:p>
          <a:p>
            <a:pPr lvl="2"/>
            <a:r>
              <a:rPr lang="en-US" sz="1800" dirty="0" smtClean="0"/>
              <a:t>19 percent vs. 23 percent</a:t>
            </a:r>
          </a:p>
          <a:p>
            <a:r>
              <a:rPr lang="en-US" sz="1800" dirty="0" smtClean="0"/>
              <a:t>Relatively greater reliance on personal income taxes</a:t>
            </a:r>
          </a:p>
          <a:p>
            <a:pPr lvl="2"/>
            <a:r>
              <a:rPr lang="en-US" sz="1800" dirty="0" smtClean="0"/>
              <a:t>29 percent vs. 21 percent</a:t>
            </a:r>
          </a:p>
          <a:p>
            <a:pPr lvl="2"/>
            <a:endParaRPr lang="en-US" sz="1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State-Local Tax Mix:  Minnesota vs. Great Lake States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3</a:t>
            </a:fld>
            <a:endParaRPr lang="en-GB"/>
          </a:p>
        </p:txBody>
      </p:sp>
      <p:sp>
        <p:nvSpPr>
          <p:cNvPr id="4" name="Content Placeholder 3"/>
          <p:cNvSpPr>
            <a:spLocks noGrp="1"/>
          </p:cNvSpPr>
          <p:nvPr>
            <p:ph idx="1"/>
          </p:nvPr>
        </p:nvSpPr>
        <p:spPr/>
        <p:txBody>
          <a:bodyPr/>
          <a:lstStyle/>
          <a:p>
            <a:r>
              <a:rPr lang="en-US" sz="1800" dirty="0" smtClean="0"/>
              <a:t>Relatively less reliance on property taxes</a:t>
            </a:r>
          </a:p>
          <a:p>
            <a:pPr lvl="2"/>
            <a:r>
              <a:rPr lang="en-US" sz="1800" dirty="0" smtClean="0"/>
              <a:t>30 percent vs. roughly 40 percent in Illinois, Michigan and Wisconsin; Minnesota has least reliance in the region</a:t>
            </a:r>
          </a:p>
          <a:p>
            <a:r>
              <a:rPr lang="en-US" sz="1800" dirty="0" smtClean="0"/>
              <a:t>Relatively less reliance on general sales taxes</a:t>
            </a:r>
          </a:p>
          <a:p>
            <a:pPr lvl="2"/>
            <a:r>
              <a:rPr lang="en-US" sz="1800" dirty="0" smtClean="0"/>
              <a:t>19 percent vs. 25 percent in Indiana, Iowa, and Michigan; Wisconsin and Illinois about equal to Minnesota</a:t>
            </a:r>
          </a:p>
          <a:p>
            <a:r>
              <a:rPr lang="en-US" sz="1800" dirty="0" smtClean="0"/>
              <a:t>Relatively greater reliance on personal income taxes</a:t>
            </a:r>
          </a:p>
          <a:p>
            <a:pPr lvl="2"/>
            <a:r>
              <a:rPr lang="en-US" sz="1800" dirty="0" smtClean="0"/>
              <a:t>29 percent vs. 17 percent in Illinois and Michigan; Minnesota is highest with Indiana, Iowa and Wisconsin at about 25 percent</a:t>
            </a:r>
          </a:p>
          <a:p>
            <a:pPr lvl="2"/>
            <a:endParaRPr lang="en-US" sz="1800" dirty="0" smtClean="0"/>
          </a:p>
          <a:p>
            <a:pPr lvl="3"/>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Minnesota vs. U.S.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4</a:t>
            </a:fld>
            <a:endParaRPr lang="en-GB"/>
          </a:p>
        </p:txBody>
      </p:sp>
      <p:sp>
        <p:nvSpPr>
          <p:cNvPr id="4" name="Content Placeholder 3"/>
          <p:cNvSpPr>
            <a:spLocks noGrp="1"/>
          </p:cNvSpPr>
          <p:nvPr>
            <p:ph idx="1"/>
          </p:nvPr>
        </p:nvSpPr>
        <p:spPr/>
        <p:txBody>
          <a:bodyPr/>
          <a:lstStyle/>
          <a:p>
            <a:r>
              <a:rPr lang="en-US" sz="1800" dirty="0" smtClean="0"/>
              <a:t>State taxes only – Compared to the U.S.</a:t>
            </a:r>
          </a:p>
          <a:p>
            <a:pPr lvl="2"/>
            <a:r>
              <a:rPr lang="en-US" sz="1800" dirty="0" smtClean="0"/>
              <a:t>Sales tax reliance – 26 percent vs. 31 percent</a:t>
            </a:r>
          </a:p>
          <a:p>
            <a:pPr lvl="2"/>
            <a:r>
              <a:rPr lang="en-US" sz="1800" dirty="0" smtClean="0"/>
              <a:t>Personal income tax reliance 40 percent vs. 35 percent</a:t>
            </a:r>
          </a:p>
          <a:p>
            <a:r>
              <a:rPr lang="en-US" sz="1800" dirty="0" smtClean="0"/>
              <a:t>Local taxes only – Compared to the U.S.</a:t>
            </a:r>
          </a:p>
          <a:p>
            <a:pPr lvl="2"/>
            <a:r>
              <a:rPr lang="en-US" sz="1800" dirty="0" smtClean="0"/>
              <a:t>Property tax reliance – 93 percent vs. 74 percent</a:t>
            </a:r>
          </a:p>
          <a:p>
            <a:pPr lvl="2"/>
            <a:r>
              <a:rPr lang="en-US" sz="1800" dirty="0" smtClean="0"/>
              <a:t>Sales tax reliance – 2 percent vs. 11 percent</a:t>
            </a:r>
          </a:p>
          <a:p>
            <a:r>
              <a:rPr lang="en-US" sz="1800" dirty="0" smtClean="0"/>
              <a:t>State taxes only – Compared to the Great Lakes</a:t>
            </a:r>
          </a:p>
          <a:p>
            <a:pPr lvl="2"/>
            <a:r>
              <a:rPr lang="en-US" sz="1800" dirty="0" smtClean="0"/>
              <a:t>Property taxes – 4 percent; only Michigan also has state property tax</a:t>
            </a:r>
          </a:p>
          <a:p>
            <a:pPr lvl="2"/>
            <a:r>
              <a:rPr lang="en-US" sz="1800" dirty="0" smtClean="0"/>
              <a:t>General sales tax – 25 percent is lowest in the region; 40 percent in Indiana and Michigan</a:t>
            </a:r>
          </a:p>
          <a:p>
            <a:pPr lvl="2"/>
            <a:r>
              <a:rPr lang="en-US" sz="1800" dirty="0" smtClean="0"/>
              <a:t>Personal income taxes – 41 percent (highest along with Wisconsin)</a:t>
            </a:r>
          </a:p>
          <a:p>
            <a:r>
              <a:rPr lang="en-US" sz="1800" dirty="0" smtClean="0"/>
              <a:t>Local taxes – Compared to the Great Lakes</a:t>
            </a:r>
          </a:p>
          <a:p>
            <a:pPr lvl="2"/>
            <a:r>
              <a:rPr lang="en-US" sz="1800" dirty="0" smtClean="0"/>
              <a:t>Minnesota is the highest; Illinois, Iowa and Wisconsin share sales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Tax Burdens: 1977 – 2009 [Taxes as Percent of Personal Income]</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5</a:t>
            </a:fld>
            <a:endParaRPr lang="en-GB"/>
          </a:p>
        </p:txBody>
      </p:sp>
      <p:sp>
        <p:nvSpPr>
          <p:cNvPr id="4" name="Content Placeholder 3"/>
          <p:cNvSpPr>
            <a:spLocks noGrp="1"/>
          </p:cNvSpPr>
          <p:nvPr>
            <p:ph idx="1"/>
          </p:nvPr>
        </p:nvSpPr>
        <p:spPr/>
        <p:txBody>
          <a:bodyPr/>
          <a:lstStyle/>
          <a:p>
            <a:r>
              <a:rPr lang="en-US" sz="1800" dirty="0" smtClean="0"/>
              <a:t>State – Local Taxes</a:t>
            </a:r>
          </a:p>
          <a:p>
            <a:pPr lvl="2"/>
            <a:r>
              <a:rPr lang="en-US" sz="1800" dirty="0" smtClean="0"/>
              <a:t>1977 – 2002 – Minnesota generally exceeds U.S. average and other states in the region (except Wisconsin) by considerable margin</a:t>
            </a:r>
          </a:p>
          <a:p>
            <a:pPr lvl="2"/>
            <a:r>
              <a:rPr lang="en-US" sz="1800" dirty="0" smtClean="0"/>
              <a:t>2005 – 2009 – Minnesota runs steady at about 10.8 percent of personal income; effectively equal to U.S. average and near the middle of Great Lakes States</a:t>
            </a:r>
          </a:p>
          <a:p>
            <a:pPr lvl="2"/>
            <a:endParaRPr lang="en-US" sz="1800" dirty="0" smtClean="0"/>
          </a:p>
          <a:p>
            <a:r>
              <a:rPr lang="en-US" sz="1800" dirty="0" smtClean="0"/>
              <a:t>State Taxes Only</a:t>
            </a:r>
          </a:p>
          <a:p>
            <a:pPr lvl="2"/>
            <a:r>
              <a:rPr lang="en-US" sz="1800" dirty="0" smtClean="0"/>
              <a:t>Minnesota at roughly 8.0 percent of personal income consistently above U.S. average (6.0 percent) and at highest among states in the region</a:t>
            </a:r>
          </a:p>
          <a:p>
            <a:pPr lvl="2"/>
            <a:endParaRPr lang="en-US" sz="1800" dirty="0" smtClean="0"/>
          </a:p>
          <a:p>
            <a:r>
              <a:rPr lang="en-US" sz="1800" dirty="0" smtClean="0"/>
              <a:t>  </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Characteristics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6</a:t>
            </a:fld>
            <a:endParaRPr lang="en-GB"/>
          </a:p>
        </p:txBody>
      </p:sp>
      <p:sp>
        <p:nvSpPr>
          <p:cNvPr id="4" name="Content Placeholder 3"/>
          <p:cNvSpPr>
            <a:spLocks noGrp="1"/>
          </p:cNvSpPr>
          <p:nvPr>
            <p:ph idx="1"/>
          </p:nvPr>
        </p:nvSpPr>
        <p:spPr/>
        <p:txBody>
          <a:bodyPr/>
          <a:lstStyle/>
          <a:p>
            <a:r>
              <a:rPr lang="en-US" sz="1800" dirty="0" smtClean="0"/>
              <a:t>Corporate Income Tax</a:t>
            </a:r>
          </a:p>
          <a:p>
            <a:pPr lvl="2"/>
            <a:r>
              <a:rPr lang="en-US" sz="1800" dirty="0" smtClean="0"/>
              <a:t>Tax rate is relatively higher:  9.8 percent vs. 6.0 – 8.0 percent (roughly)</a:t>
            </a:r>
          </a:p>
          <a:p>
            <a:r>
              <a:rPr lang="en-US" sz="1800" dirty="0" smtClean="0"/>
              <a:t>Personal Income Tax</a:t>
            </a:r>
          </a:p>
          <a:p>
            <a:pPr lvl="2"/>
            <a:r>
              <a:rPr lang="en-US" sz="1800" dirty="0" smtClean="0"/>
              <a:t>Tax rate is generally higher  7.5+ percent (equivalent to Wisconsin), compared to flat rates in Indiana and Illinois.  Phase-out of exemptions and deductions has substantial effect</a:t>
            </a:r>
          </a:p>
          <a:p>
            <a:r>
              <a:rPr lang="en-US" sz="1800" dirty="0" smtClean="0"/>
              <a:t>General Sales Tax</a:t>
            </a:r>
          </a:p>
          <a:p>
            <a:pPr lvl="2"/>
            <a:r>
              <a:rPr lang="en-US" sz="1800" dirty="0" smtClean="0"/>
              <a:t>Rate is near the upper end of the region</a:t>
            </a:r>
          </a:p>
          <a:p>
            <a:pPr lvl="2"/>
            <a:r>
              <a:rPr lang="en-US" sz="1800" dirty="0" smtClean="0"/>
              <a:t>Base with food and clothing exempt is relatively more narrow</a:t>
            </a:r>
          </a:p>
          <a:p>
            <a:pPr lvl="2"/>
            <a:r>
              <a:rPr lang="en-US" sz="1800" dirty="0" smtClean="0"/>
              <a:t>Tax relatively large number of services – most of which are classified as services</a:t>
            </a:r>
          </a:p>
          <a:p>
            <a:pPr lvl="2"/>
            <a:r>
              <a:rPr lang="en-US" sz="1800" dirty="0" smtClean="0"/>
              <a:t>Likely tax manufacturing equipment and utilities a bit more as well as </a:t>
            </a:r>
            <a:r>
              <a:rPr lang="en-US" sz="1800" smtClean="0"/>
              <a:t>other business inputs</a:t>
            </a:r>
            <a:endParaRPr lang="en-US" sz="1800" dirty="0" smtClean="0"/>
          </a:p>
          <a:p>
            <a:pPr lvl="2"/>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l"/>
            <a:r>
              <a:rPr lang="en-US" sz="2400" b="1" dirty="0" smtClean="0"/>
              <a:t>State-Local Tax Mix:  Minnesota and U.S.</a:t>
            </a:r>
            <a:r>
              <a:rPr lang="en-US" sz="2800" b="1" dirty="0" smtClean="0"/>
              <a:t/>
            </a:r>
            <a:br>
              <a:rPr lang="en-US" sz="2800" b="1" dirty="0" smtClean="0"/>
            </a:br>
            <a:r>
              <a:rPr lang="en-US" sz="2000" b="1" dirty="0" smtClean="0"/>
              <a:t>Percentage Distribution of State and Local Taxes -- 2009</a:t>
            </a:r>
            <a:endParaRPr lang="en-US" sz="2000" b="1" dirty="0"/>
          </a:p>
        </p:txBody>
      </p:sp>
      <p:graphicFrame>
        <p:nvGraphicFramePr>
          <p:cNvPr id="9" name="Content Placeholder 8"/>
          <p:cNvGraphicFramePr>
            <a:graphicFrameLocks noGrp="1"/>
          </p:cNvGraphicFramePr>
          <p:nvPr>
            <p:ph sz="half" idx="1"/>
          </p:nvPr>
        </p:nvGraphicFramePr>
        <p:xfrm>
          <a:off x="457200" y="1600200"/>
          <a:ext cx="4038600" cy="45259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9"/>
          <p:cNvGraphicFramePr>
            <a:graphicFrameLocks noGrp="1"/>
          </p:cNvGraphicFramePr>
          <p:nvPr>
            <p:ph sz="half" idx="2"/>
          </p:nvPr>
        </p:nvGraphicFramePr>
        <p:xfrm>
          <a:off x="4648200" y="1600200"/>
          <a:ext cx="4038600" cy="4525963"/>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029200" y="5849164"/>
            <a:ext cx="3124200" cy="276999"/>
          </a:xfrm>
          <a:prstGeom prst="rect">
            <a:avLst/>
          </a:prstGeom>
          <a:noFill/>
        </p:spPr>
        <p:txBody>
          <a:bodyPr wrap="square" rtlCol="0">
            <a:spAutoFit/>
          </a:bodyPr>
          <a:lstStyle/>
          <a:p>
            <a:r>
              <a:rPr lang="en-US" b="1" dirty="0" smtClean="0"/>
              <a:t>Source:  Bureau of the Census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l"/>
            <a:r>
              <a:rPr lang="en-US" sz="2800" b="1" dirty="0" smtClean="0"/>
              <a:t>State – Local Tax Mix:  Upper Midwest</a:t>
            </a:r>
            <a:br>
              <a:rPr lang="en-US" sz="2800" b="1" dirty="0" smtClean="0"/>
            </a:br>
            <a:r>
              <a:rPr lang="en-US" sz="2000" b="1" dirty="0" smtClean="0"/>
              <a:t>Percentage Distribution of State and Local Taxes in Selected States – 2009</a:t>
            </a:r>
            <a:endParaRPr lang="en-US" sz="2800" b="1" dirty="0"/>
          </a:p>
        </p:txBody>
      </p:sp>
      <p:graphicFrame>
        <p:nvGraphicFramePr>
          <p:cNvPr id="7" name="Content Placeholder 6"/>
          <p:cNvGraphicFramePr>
            <a:graphicFrameLocks noGrp="1"/>
          </p:cNvGraphicFramePr>
          <p:nvPr>
            <p:ph idx="1"/>
          </p:nvPr>
        </p:nvGraphicFramePr>
        <p:xfrm>
          <a:off x="457200" y="1219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323850" y="5957500"/>
            <a:ext cx="3638550" cy="276999"/>
          </a:xfrm>
          <a:prstGeom prst="rect">
            <a:avLst/>
          </a:prstGeom>
          <a:noFill/>
        </p:spPr>
        <p:txBody>
          <a:bodyPr wrap="square" rtlCol="0">
            <a:spAutoFit/>
          </a:bodyPr>
          <a:lstStyle/>
          <a:p>
            <a:r>
              <a:rPr lang="en-US" b="1" dirty="0" smtClean="0"/>
              <a:t>Source:  Bureau of the Census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State Tax Mix:  U.S. and Minnesota</a:t>
            </a:r>
            <a:br>
              <a:rPr lang="en-US" dirty="0" smtClean="0"/>
            </a:br>
            <a:r>
              <a:rPr lang="en-US" dirty="0" smtClean="0"/>
              <a:t>Percentage Distribution of State Taxes -- 2009</a:t>
            </a:r>
            <a:endParaRPr lang="en-US" dirty="0"/>
          </a:p>
        </p:txBody>
      </p:sp>
      <p:graphicFrame>
        <p:nvGraphicFramePr>
          <p:cNvPr id="13" name="Content Placeholder 12"/>
          <p:cNvGraphicFramePr>
            <a:graphicFrameLocks noGrp="1"/>
          </p:cNvGraphicFramePr>
          <p:nvPr>
            <p:ph sz="half" idx="2"/>
          </p:nvPr>
        </p:nvGraphicFramePr>
        <p:xfrm>
          <a:off x="4672013" y="1325563"/>
          <a:ext cx="4197350" cy="4465637"/>
        </p:xfrm>
        <a:graphic>
          <a:graphicData uri="http://schemas.openxmlformats.org/drawingml/2006/chart">
            <c:chart xmlns:c="http://schemas.openxmlformats.org/drawingml/2006/chart" xmlns:r="http://schemas.openxmlformats.org/officeDocument/2006/relationships" r:id="rId2"/>
          </a:graphicData>
        </a:graphic>
      </p:graphicFrame>
      <p:sp>
        <p:nvSpPr>
          <p:cNvPr id="3" name="Slide Number Placeholder 2"/>
          <p:cNvSpPr>
            <a:spLocks noGrp="1"/>
          </p:cNvSpPr>
          <p:nvPr>
            <p:ph type="sldNum" sz="quarter" idx="12"/>
          </p:nvPr>
        </p:nvSpPr>
        <p:spPr/>
        <p:txBody>
          <a:bodyPr/>
          <a:lstStyle/>
          <a:p>
            <a:fld id="{1CB23F2B-7DA2-447A-B5D1-F0E2C7FE22DC}" type="slidenum">
              <a:rPr lang="en-GB" smtClean="0"/>
              <a:pPr/>
              <a:t>9</a:t>
            </a:fld>
            <a:endParaRPr lang="en-GB"/>
          </a:p>
        </p:txBody>
      </p:sp>
      <p:graphicFrame>
        <p:nvGraphicFramePr>
          <p:cNvPr id="12" name="Content Placeholder 11"/>
          <p:cNvGraphicFramePr>
            <a:graphicFrameLocks noGrp="1"/>
          </p:cNvGraphicFramePr>
          <p:nvPr>
            <p:ph sz="half" idx="1"/>
          </p:nvPr>
        </p:nvGraphicFramePr>
        <p:xfrm>
          <a:off x="323850" y="1325563"/>
          <a:ext cx="4195763" cy="4775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4953000" y="5791200"/>
            <a:ext cx="3344863" cy="276999"/>
          </a:xfrm>
          <a:prstGeom prst="rect">
            <a:avLst/>
          </a:prstGeom>
          <a:noFill/>
        </p:spPr>
        <p:txBody>
          <a:bodyPr wrap="square" rtlCol="0">
            <a:spAutoFit/>
          </a:bodyPr>
          <a:lstStyle/>
          <a:p>
            <a:r>
              <a:rPr lang="en-US" b="1" dirty="0" smtClean="0"/>
              <a:t>Source:  Bureau of the Census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Local Tax Mix:  U.S. and Minnesota</a:t>
            </a:r>
            <a:br>
              <a:rPr lang="en-US" dirty="0" smtClean="0"/>
            </a:br>
            <a:r>
              <a:rPr lang="en-US" dirty="0" smtClean="0"/>
              <a:t>Percentage Distribution of Local Taxes – 2009 </a:t>
            </a:r>
            <a:endParaRPr lang="en-US" dirty="0"/>
          </a:p>
        </p:txBody>
      </p:sp>
      <p:graphicFrame>
        <p:nvGraphicFramePr>
          <p:cNvPr id="13" name="Content Placeholder 12"/>
          <p:cNvGraphicFramePr>
            <a:graphicFrameLocks noGrp="1"/>
          </p:cNvGraphicFramePr>
          <p:nvPr>
            <p:ph sz="half" idx="2"/>
          </p:nvPr>
        </p:nvGraphicFramePr>
        <p:xfrm>
          <a:off x="4759325" y="1725673"/>
          <a:ext cx="4197350" cy="4489450"/>
        </p:xfrm>
        <a:graphic>
          <a:graphicData uri="http://schemas.openxmlformats.org/drawingml/2006/chart">
            <c:chart xmlns:c="http://schemas.openxmlformats.org/drawingml/2006/chart" xmlns:r="http://schemas.openxmlformats.org/officeDocument/2006/relationships" r:id="rId2"/>
          </a:graphicData>
        </a:graphic>
      </p:graphicFrame>
      <p:sp>
        <p:nvSpPr>
          <p:cNvPr id="3" name="Slide Number Placeholder 2"/>
          <p:cNvSpPr>
            <a:spLocks noGrp="1"/>
          </p:cNvSpPr>
          <p:nvPr>
            <p:ph type="sldNum" sz="quarter" idx="12"/>
          </p:nvPr>
        </p:nvSpPr>
        <p:spPr/>
        <p:txBody>
          <a:bodyPr/>
          <a:lstStyle/>
          <a:p>
            <a:fld id="{1CB23F2B-7DA2-447A-B5D1-F0E2C7FE22DC}" type="slidenum">
              <a:rPr lang="en-GB" smtClean="0"/>
              <a:pPr/>
              <a:t>10</a:t>
            </a:fld>
            <a:endParaRPr lang="en-GB"/>
          </a:p>
        </p:txBody>
      </p:sp>
      <p:graphicFrame>
        <p:nvGraphicFramePr>
          <p:cNvPr id="12" name="Content Placeholder 11"/>
          <p:cNvGraphicFramePr>
            <a:graphicFrameLocks noGrp="1"/>
          </p:cNvGraphicFramePr>
          <p:nvPr>
            <p:ph sz="half" idx="1"/>
          </p:nvPr>
        </p:nvGraphicFramePr>
        <p:xfrm>
          <a:off x="323850" y="1325563"/>
          <a:ext cx="4195763" cy="4775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5334000" y="1325563"/>
            <a:ext cx="2963863" cy="400110"/>
          </a:xfrm>
          <a:prstGeom prst="rect">
            <a:avLst/>
          </a:prstGeom>
          <a:noFill/>
        </p:spPr>
        <p:txBody>
          <a:bodyPr wrap="square" rtlCol="0">
            <a:spAutoFit/>
          </a:bodyPr>
          <a:lstStyle/>
          <a:p>
            <a:pPr algn="ctr"/>
            <a:r>
              <a:rPr lang="en-US" sz="2000" b="1" dirty="0" smtClean="0"/>
              <a:t>Minnesota</a:t>
            </a:r>
            <a:endParaRPr lang="en-US" sz="2000" b="1" dirty="0"/>
          </a:p>
        </p:txBody>
      </p:sp>
      <p:sp>
        <p:nvSpPr>
          <p:cNvPr id="8" name="TextBox 7"/>
          <p:cNvSpPr txBox="1"/>
          <p:nvPr/>
        </p:nvSpPr>
        <p:spPr>
          <a:xfrm>
            <a:off x="323850" y="5867400"/>
            <a:ext cx="3333750" cy="276999"/>
          </a:xfrm>
          <a:prstGeom prst="rect">
            <a:avLst/>
          </a:prstGeom>
          <a:noFill/>
        </p:spPr>
        <p:txBody>
          <a:bodyPr wrap="square" rtlCol="0">
            <a:spAutoFit/>
          </a:bodyPr>
          <a:lstStyle/>
          <a:p>
            <a:r>
              <a:rPr lang="en-US" b="1" dirty="0" smtClean="0"/>
              <a:t>Source:  Bureau of the Census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2700" dirty="0" smtClean="0"/>
              <a:t>State Tax Mix:  Upper Midwest</a:t>
            </a:r>
            <a:r>
              <a:rPr lang="en-US" sz="3200" dirty="0" smtClean="0"/>
              <a:t/>
            </a:r>
            <a:br>
              <a:rPr lang="en-US" sz="3200" dirty="0" smtClean="0"/>
            </a:br>
            <a:r>
              <a:rPr lang="en-US" sz="2400" dirty="0" smtClean="0"/>
              <a:t>Percentage Distribution of State Taxes in Selected States – 2009</a:t>
            </a:r>
            <a:endParaRPr lang="en-US" dirty="0"/>
          </a:p>
        </p:txBody>
      </p:sp>
      <p:sp>
        <p:nvSpPr>
          <p:cNvPr id="5" name="Slide Number Placeholder 4"/>
          <p:cNvSpPr>
            <a:spLocks noGrp="1"/>
          </p:cNvSpPr>
          <p:nvPr>
            <p:ph type="sldNum" sz="quarter" idx="12"/>
          </p:nvPr>
        </p:nvSpPr>
        <p:spPr/>
        <p:txBody>
          <a:bodyPr/>
          <a:lstStyle/>
          <a:p>
            <a:fld id="{2BE2E9A6-43EA-48B3-A40B-4902F1604049}" type="slidenum">
              <a:rPr lang="en-GB" smtClean="0"/>
              <a:pPr/>
              <a:t>11</a:t>
            </a:fld>
            <a:endParaRPr lang="en-GB"/>
          </a:p>
        </p:txBody>
      </p:sp>
      <p:graphicFrame>
        <p:nvGraphicFramePr>
          <p:cNvPr id="8" name="Content Placeholder 7"/>
          <p:cNvGraphicFramePr>
            <a:graphicFrameLocks noGrp="1"/>
          </p:cNvGraphicFramePr>
          <p:nvPr>
            <p:ph idx="1"/>
          </p:nvPr>
        </p:nvGraphicFramePr>
        <p:xfrm>
          <a:off x="323850" y="1316039"/>
          <a:ext cx="8545513" cy="455136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323850" y="5867401"/>
            <a:ext cx="3409950" cy="553998"/>
          </a:xfrm>
          <a:prstGeom prst="rect">
            <a:avLst/>
          </a:prstGeom>
          <a:noFill/>
        </p:spPr>
        <p:txBody>
          <a:bodyPr wrap="square" rtlCol="0">
            <a:spAutoFit/>
          </a:bodyPr>
          <a:lstStyle/>
          <a:p>
            <a:r>
              <a:rPr lang="en-US" b="1" dirty="0" smtClean="0"/>
              <a:t>Source:  Bureau of the Census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State-Local Tax Burden Over Time</a:t>
            </a:r>
            <a:br>
              <a:rPr lang="en-US" dirty="0" smtClean="0"/>
            </a:br>
            <a:r>
              <a:rPr lang="en-US" dirty="0" smtClean="0"/>
              <a:t>State-Local Taxes as Percent of Personal Income – Various Years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12</a:t>
            </a:fld>
            <a:endParaRPr lang="en-GB"/>
          </a:p>
        </p:txBody>
      </p:sp>
      <p:graphicFrame>
        <p:nvGraphicFramePr>
          <p:cNvPr id="7" name="Content Placeholder 6"/>
          <p:cNvGraphicFramePr>
            <a:graphicFrameLocks noGrp="1"/>
          </p:cNvGraphicFramePr>
          <p:nvPr>
            <p:ph idx="1"/>
          </p:nvPr>
        </p:nvGraphicFramePr>
        <p:xfrm>
          <a:off x="323850" y="1316039"/>
          <a:ext cx="8545513" cy="4551362"/>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323850" y="6109514"/>
            <a:ext cx="2952750" cy="553998"/>
          </a:xfrm>
          <a:prstGeom prst="rect">
            <a:avLst/>
          </a:prstGeom>
          <a:noFill/>
        </p:spPr>
        <p:txBody>
          <a:bodyPr wrap="square" rtlCol="0">
            <a:spAutoFit/>
          </a:bodyPr>
          <a:lstStyle/>
          <a:p>
            <a:r>
              <a:rPr lang="en-US" b="1" dirty="0" smtClean="0"/>
              <a:t>Source:  Bureau of the Census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State Tax Burden Over Time</a:t>
            </a:r>
            <a:r>
              <a:rPr lang="en-US" smtClean="0"/>
              <a:t/>
            </a:r>
            <a:br>
              <a:rPr lang="en-US" smtClean="0"/>
            </a:br>
            <a:r>
              <a:rPr lang="en-US" smtClean="0"/>
              <a:t>StateTaxes </a:t>
            </a:r>
            <a:r>
              <a:rPr lang="en-US" dirty="0" smtClean="0"/>
              <a:t>as Percent of Personal Income – Various Years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13</a:t>
            </a:fld>
            <a:endParaRPr lang="en-GB"/>
          </a:p>
        </p:txBody>
      </p:sp>
      <p:graphicFrame>
        <p:nvGraphicFramePr>
          <p:cNvPr id="7" name="Content Placeholder 6"/>
          <p:cNvGraphicFramePr>
            <a:graphicFrameLocks noGrp="1"/>
          </p:cNvGraphicFramePr>
          <p:nvPr>
            <p:ph idx="1"/>
          </p:nvPr>
        </p:nvGraphicFramePr>
        <p:xfrm>
          <a:off x="323850" y="1316038"/>
          <a:ext cx="8545513" cy="4641461"/>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323850" y="5957500"/>
            <a:ext cx="3943350" cy="276999"/>
          </a:xfrm>
          <a:prstGeom prst="rect">
            <a:avLst/>
          </a:prstGeom>
          <a:noFill/>
        </p:spPr>
        <p:txBody>
          <a:bodyPr wrap="square" rtlCol="0">
            <a:spAutoFit/>
          </a:bodyPr>
          <a:lstStyle/>
          <a:p>
            <a:r>
              <a:rPr lang="en-US" b="1" dirty="0" smtClean="0"/>
              <a:t>Source:  Bureau of the Census</a:t>
            </a:r>
            <a:endParaRPr lang="en-US"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Corporate Income Tax Features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14</a:t>
            </a:fld>
            <a:endParaRPr lang="en-GB"/>
          </a:p>
        </p:txBody>
      </p:sp>
      <p:graphicFrame>
        <p:nvGraphicFramePr>
          <p:cNvPr id="5" name="Content Placeholder 4"/>
          <p:cNvGraphicFramePr>
            <a:graphicFrameLocks noGrp="1"/>
          </p:cNvGraphicFramePr>
          <p:nvPr>
            <p:ph idx="1"/>
          </p:nvPr>
        </p:nvGraphicFramePr>
        <p:xfrm>
          <a:off x="323850" y="1316039"/>
          <a:ext cx="8545516" cy="4703205"/>
        </p:xfrm>
        <a:graphic>
          <a:graphicData uri="http://schemas.openxmlformats.org/drawingml/2006/table">
            <a:tbl>
              <a:tblPr firstRow="1" bandRow="1">
                <a:tableStyleId>{5C22544A-7EE6-4342-B048-85BDC9FD1C3A}</a:tableStyleId>
              </a:tblPr>
              <a:tblGrid>
                <a:gridCol w="1200150"/>
                <a:gridCol w="1241426"/>
                <a:gridCol w="1220788"/>
                <a:gridCol w="1220788"/>
                <a:gridCol w="1220788"/>
                <a:gridCol w="1220788"/>
                <a:gridCol w="1220788"/>
              </a:tblGrid>
              <a:tr h="417151">
                <a:tc>
                  <a:txBody>
                    <a:bodyPr/>
                    <a:lstStyle/>
                    <a:p>
                      <a:endParaRPr lang="en-US" sz="1600" b="1" dirty="0"/>
                    </a:p>
                  </a:txBody>
                  <a:tcPr/>
                </a:tc>
                <a:tc>
                  <a:txBody>
                    <a:bodyPr/>
                    <a:lstStyle/>
                    <a:p>
                      <a:pPr algn="ctr"/>
                      <a:r>
                        <a:rPr lang="en-US" sz="1600" b="1" dirty="0" smtClean="0"/>
                        <a:t>Minnesota</a:t>
                      </a:r>
                      <a:endParaRPr lang="en-US" sz="1600" b="1" dirty="0"/>
                    </a:p>
                  </a:txBody>
                  <a:tcPr/>
                </a:tc>
                <a:tc>
                  <a:txBody>
                    <a:bodyPr/>
                    <a:lstStyle/>
                    <a:p>
                      <a:pPr algn="ctr"/>
                      <a:r>
                        <a:rPr lang="en-US" sz="1600" b="1" dirty="0" smtClean="0"/>
                        <a:t>Illinois</a:t>
                      </a:r>
                      <a:endParaRPr lang="en-US" sz="1600" b="1" dirty="0"/>
                    </a:p>
                  </a:txBody>
                  <a:tcPr/>
                </a:tc>
                <a:tc>
                  <a:txBody>
                    <a:bodyPr/>
                    <a:lstStyle/>
                    <a:p>
                      <a:pPr algn="ctr"/>
                      <a:r>
                        <a:rPr lang="en-US" sz="1600" b="1" dirty="0" smtClean="0"/>
                        <a:t>Indiana</a:t>
                      </a:r>
                      <a:endParaRPr lang="en-US" sz="1600" b="1" dirty="0"/>
                    </a:p>
                  </a:txBody>
                  <a:tcPr/>
                </a:tc>
                <a:tc>
                  <a:txBody>
                    <a:bodyPr/>
                    <a:lstStyle/>
                    <a:p>
                      <a:pPr algn="ctr"/>
                      <a:r>
                        <a:rPr lang="en-US" sz="1600" b="1" dirty="0" smtClean="0"/>
                        <a:t>Iowa</a:t>
                      </a:r>
                      <a:endParaRPr lang="en-US" sz="1600" b="1" dirty="0"/>
                    </a:p>
                  </a:txBody>
                  <a:tcPr/>
                </a:tc>
                <a:tc>
                  <a:txBody>
                    <a:bodyPr/>
                    <a:lstStyle/>
                    <a:p>
                      <a:pPr algn="ctr"/>
                      <a:r>
                        <a:rPr lang="en-US" sz="1600" b="1" dirty="0" smtClean="0"/>
                        <a:t>Michigan</a:t>
                      </a:r>
                      <a:endParaRPr lang="en-US" sz="1600" b="1" dirty="0"/>
                    </a:p>
                  </a:txBody>
                  <a:tcPr/>
                </a:tc>
                <a:tc>
                  <a:txBody>
                    <a:bodyPr/>
                    <a:lstStyle/>
                    <a:p>
                      <a:pPr algn="ctr"/>
                      <a:r>
                        <a:rPr lang="en-US" sz="1600" b="1" dirty="0" smtClean="0"/>
                        <a:t>Wisconsin</a:t>
                      </a:r>
                      <a:endParaRPr lang="en-US" sz="1600" b="1" dirty="0"/>
                    </a:p>
                  </a:txBody>
                  <a:tcPr/>
                </a:tc>
              </a:tr>
              <a:tr h="772346">
                <a:tc>
                  <a:txBody>
                    <a:bodyPr/>
                    <a:lstStyle/>
                    <a:p>
                      <a:r>
                        <a:rPr lang="en-US" sz="1600" b="1" dirty="0" smtClean="0"/>
                        <a:t>Rates</a:t>
                      </a:r>
                      <a:endParaRPr lang="en-US" sz="1600" b="1" dirty="0"/>
                    </a:p>
                  </a:txBody>
                  <a:tcPr/>
                </a:tc>
                <a:tc>
                  <a:txBody>
                    <a:bodyPr/>
                    <a:lstStyle/>
                    <a:p>
                      <a:pPr algn="ctr"/>
                      <a:r>
                        <a:rPr lang="en-US" sz="1600" b="1" dirty="0" smtClean="0"/>
                        <a:t>9.8%</a:t>
                      </a:r>
                      <a:endParaRPr lang="en-US" sz="1600" b="1" dirty="0"/>
                    </a:p>
                  </a:txBody>
                  <a:tcPr anchor="ctr"/>
                </a:tc>
                <a:tc>
                  <a:txBody>
                    <a:bodyPr/>
                    <a:lstStyle/>
                    <a:p>
                      <a:pPr algn="ctr"/>
                      <a:r>
                        <a:rPr lang="en-US" sz="1600" b="1" dirty="0" smtClean="0"/>
                        <a:t>9.5%</a:t>
                      </a:r>
                      <a:endParaRPr lang="en-US" sz="1600" b="1" dirty="0"/>
                    </a:p>
                  </a:txBody>
                  <a:tcPr anchor="ctr"/>
                </a:tc>
                <a:tc>
                  <a:txBody>
                    <a:bodyPr/>
                    <a:lstStyle/>
                    <a:p>
                      <a:pPr algn="ctr"/>
                      <a:r>
                        <a:rPr lang="en-US" sz="1600" b="1" dirty="0" smtClean="0"/>
                        <a:t>8.5% (8.0% on 7/1/12)</a:t>
                      </a:r>
                      <a:endParaRPr lang="en-US" sz="1600" b="1" dirty="0"/>
                    </a:p>
                  </a:txBody>
                  <a:tcPr anchor="ctr"/>
                </a:tc>
                <a:tc>
                  <a:txBody>
                    <a:bodyPr/>
                    <a:lstStyle/>
                    <a:p>
                      <a:pPr algn="ctr"/>
                      <a:r>
                        <a:rPr lang="en-US" sz="1600" b="1" dirty="0" smtClean="0"/>
                        <a:t>6.0-12.0%</a:t>
                      </a:r>
                      <a:endParaRPr lang="en-US" sz="1600" b="1" dirty="0"/>
                    </a:p>
                  </a:txBody>
                  <a:tcPr anchor="ctr"/>
                </a:tc>
                <a:tc>
                  <a:txBody>
                    <a:bodyPr/>
                    <a:lstStyle/>
                    <a:p>
                      <a:pPr algn="ctr"/>
                      <a:r>
                        <a:rPr lang="en-US" sz="1600" b="1" dirty="0" smtClean="0"/>
                        <a:t>6.0%</a:t>
                      </a:r>
                      <a:endParaRPr lang="en-US" sz="1600" b="1" dirty="0"/>
                    </a:p>
                  </a:txBody>
                  <a:tcPr anchor="ctr"/>
                </a:tc>
                <a:tc>
                  <a:txBody>
                    <a:bodyPr/>
                    <a:lstStyle/>
                    <a:p>
                      <a:pPr algn="ctr"/>
                      <a:r>
                        <a:rPr lang="en-US" sz="1600" b="1" dirty="0" smtClean="0"/>
                        <a:t>7.9%</a:t>
                      </a:r>
                      <a:endParaRPr lang="en-US" sz="1600" b="1" dirty="0"/>
                    </a:p>
                  </a:txBody>
                  <a:tcPr anchor="ctr"/>
                </a:tc>
              </a:tr>
              <a:tr h="772346">
                <a:tc>
                  <a:txBody>
                    <a:bodyPr/>
                    <a:lstStyle/>
                    <a:p>
                      <a:r>
                        <a:rPr lang="en-US" sz="1600" b="1" dirty="0" smtClean="0"/>
                        <a:t>Combined</a:t>
                      </a:r>
                      <a:r>
                        <a:rPr lang="en-US" sz="1600" b="1" baseline="0" dirty="0" smtClean="0"/>
                        <a:t> Reporting Required</a:t>
                      </a:r>
                      <a:endParaRPr lang="en-US" sz="1600" b="1" dirty="0"/>
                    </a:p>
                  </a:txBody>
                  <a:tcPr/>
                </a:tc>
                <a:tc>
                  <a:txBody>
                    <a:bodyPr/>
                    <a:lstStyle/>
                    <a:p>
                      <a:pPr algn="ctr"/>
                      <a:r>
                        <a:rPr lang="en-US" sz="1600" b="1" dirty="0" smtClean="0"/>
                        <a:t>Yes</a:t>
                      </a:r>
                      <a:endParaRPr lang="en-US" sz="1600" b="1" dirty="0"/>
                    </a:p>
                  </a:txBody>
                  <a:tcPr anchor="ctr"/>
                </a:tc>
                <a:tc>
                  <a:txBody>
                    <a:bodyPr/>
                    <a:lstStyle/>
                    <a:p>
                      <a:pPr algn="ctr"/>
                      <a:r>
                        <a:rPr lang="en-US" sz="1600" b="1" dirty="0" smtClean="0"/>
                        <a:t>Yes</a:t>
                      </a:r>
                      <a:endParaRPr lang="en-US" sz="1600" b="1" dirty="0"/>
                    </a:p>
                  </a:txBody>
                  <a:tcPr anchor="ctr"/>
                </a:tc>
                <a:tc>
                  <a:txBody>
                    <a:bodyPr/>
                    <a:lstStyle/>
                    <a:p>
                      <a:pPr algn="ctr"/>
                      <a:r>
                        <a:rPr lang="en-US" sz="1600" b="1" dirty="0" smtClean="0"/>
                        <a:t>No (</a:t>
                      </a:r>
                      <a:r>
                        <a:rPr lang="en-US" sz="1600" b="1" dirty="0" err="1" smtClean="0"/>
                        <a:t>DoR</a:t>
                      </a:r>
                      <a:r>
                        <a:rPr lang="en-US" sz="1600" b="1" dirty="0" smtClean="0"/>
                        <a:t> Authority)</a:t>
                      </a:r>
                      <a:endParaRPr lang="en-US" sz="1600" b="1" dirty="0"/>
                    </a:p>
                  </a:txBody>
                  <a:tcPr anchor="ctr"/>
                </a:tc>
                <a:tc>
                  <a:txBody>
                    <a:bodyPr/>
                    <a:lstStyle/>
                    <a:p>
                      <a:pPr algn="ctr"/>
                      <a:r>
                        <a:rPr lang="en-US" sz="1600" b="1" dirty="0" smtClean="0"/>
                        <a:t>No</a:t>
                      </a:r>
                      <a:endParaRPr lang="en-US" sz="1600" b="1" dirty="0"/>
                    </a:p>
                  </a:txBody>
                  <a:tcPr anchor="ctr"/>
                </a:tc>
                <a:tc>
                  <a:txBody>
                    <a:bodyPr/>
                    <a:lstStyle/>
                    <a:p>
                      <a:pPr algn="ctr"/>
                      <a:r>
                        <a:rPr lang="en-US" sz="1600" b="1" dirty="0" smtClean="0"/>
                        <a:t>Yes</a:t>
                      </a:r>
                      <a:endParaRPr lang="en-US" sz="1600" b="1" dirty="0"/>
                    </a:p>
                  </a:txBody>
                  <a:tcPr anchor="ctr"/>
                </a:tc>
                <a:tc>
                  <a:txBody>
                    <a:bodyPr/>
                    <a:lstStyle/>
                    <a:p>
                      <a:pPr algn="ctr"/>
                      <a:r>
                        <a:rPr lang="en-US" sz="1600" b="1" dirty="0" smtClean="0"/>
                        <a:t>Yes</a:t>
                      </a:r>
                      <a:endParaRPr lang="en-US" sz="1600" b="1" dirty="0"/>
                    </a:p>
                  </a:txBody>
                  <a:tcPr anchor="ctr"/>
                </a:tc>
              </a:tr>
              <a:tr h="582867">
                <a:tc>
                  <a:txBody>
                    <a:bodyPr/>
                    <a:lstStyle/>
                    <a:p>
                      <a:r>
                        <a:rPr lang="en-US" sz="1600" b="1" dirty="0" smtClean="0"/>
                        <a:t>NOL </a:t>
                      </a:r>
                      <a:r>
                        <a:rPr lang="en-US" sz="1600" b="1" dirty="0" err="1" smtClean="0"/>
                        <a:t>Carryback</a:t>
                      </a:r>
                      <a:endParaRPr lang="en-US" sz="1600" b="1" dirty="0"/>
                    </a:p>
                  </a:txBody>
                  <a:tcPr/>
                </a:tc>
                <a:tc>
                  <a:txBody>
                    <a:bodyPr/>
                    <a:lstStyle/>
                    <a:p>
                      <a:pPr algn="ctr"/>
                      <a:r>
                        <a:rPr lang="en-US" sz="1600" b="1" dirty="0" smtClean="0"/>
                        <a:t>-0-</a:t>
                      </a:r>
                      <a:endParaRPr lang="en-US" sz="1600" b="1" dirty="0"/>
                    </a:p>
                  </a:txBody>
                  <a:tcPr anchor="ctr"/>
                </a:tc>
                <a:tc>
                  <a:txBody>
                    <a:bodyPr/>
                    <a:lstStyle/>
                    <a:p>
                      <a:pPr algn="ctr"/>
                      <a:r>
                        <a:rPr lang="en-US" sz="1600" b="1" dirty="0" smtClean="0"/>
                        <a:t>-0-</a:t>
                      </a:r>
                      <a:endParaRPr lang="en-US" sz="1600" b="1" dirty="0"/>
                    </a:p>
                  </a:txBody>
                  <a:tcPr anchor="ctr"/>
                </a:tc>
                <a:tc>
                  <a:txBody>
                    <a:bodyPr/>
                    <a:lstStyle/>
                    <a:p>
                      <a:pPr algn="ctr"/>
                      <a:r>
                        <a:rPr lang="en-US" sz="1600" b="1" dirty="0" smtClean="0"/>
                        <a:t>-0-</a:t>
                      </a:r>
                      <a:endParaRPr lang="en-US" sz="1600" b="1" dirty="0"/>
                    </a:p>
                  </a:txBody>
                  <a:tcPr anchor="ctr"/>
                </a:tc>
                <a:tc>
                  <a:txBody>
                    <a:bodyPr/>
                    <a:lstStyle/>
                    <a:p>
                      <a:pPr algn="ctr"/>
                      <a:r>
                        <a:rPr lang="en-US" sz="1600" b="1" dirty="0" smtClean="0"/>
                        <a:t>-0-</a:t>
                      </a:r>
                      <a:endParaRPr lang="en-US" sz="1600" b="1" dirty="0"/>
                    </a:p>
                  </a:txBody>
                  <a:tcPr anchor="ctr"/>
                </a:tc>
                <a:tc>
                  <a:txBody>
                    <a:bodyPr/>
                    <a:lstStyle/>
                    <a:p>
                      <a:pPr algn="ctr"/>
                      <a:r>
                        <a:rPr lang="en-US" sz="1600" b="1" dirty="0" smtClean="0"/>
                        <a:t>-0-</a:t>
                      </a:r>
                      <a:endParaRPr lang="en-US" sz="1600" b="1" dirty="0"/>
                    </a:p>
                  </a:txBody>
                  <a:tcPr anchor="ctr"/>
                </a:tc>
                <a:tc>
                  <a:txBody>
                    <a:bodyPr/>
                    <a:lstStyle/>
                    <a:p>
                      <a:pPr algn="ctr"/>
                      <a:r>
                        <a:rPr lang="en-US" sz="1600" b="1" dirty="0" smtClean="0"/>
                        <a:t>-0-</a:t>
                      </a:r>
                      <a:endParaRPr lang="en-US" sz="1600" b="1" dirty="0"/>
                    </a:p>
                  </a:txBody>
                  <a:tcPr anchor="ctr"/>
                </a:tc>
              </a:tr>
              <a:tr h="772346">
                <a:tc>
                  <a:txBody>
                    <a:bodyPr/>
                    <a:lstStyle/>
                    <a:p>
                      <a:r>
                        <a:rPr lang="en-US" sz="1600" b="1" dirty="0" smtClean="0"/>
                        <a:t>NOL Carry</a:t>
                      </a:r>
                    </a:p>
                    <a:p>
                      <a:r>
                        <a:rPr lang="en-US" sz="1600" b="1" dirty="0" smtClean="0"/>
                        <a:t>Forward</a:t>
                      </a:r>
                      <a:endParaRPr lang="en-US" sz="1600" b="1" dirty="0"/>
                    </a:p>
                  </a:txBody>
                  <a:tcPr/>
                </a:tc>
                <a:tc>
                  <a:txBody>
                    <a:bodyPr/>
                    <a:lstStyle/>
                    <a:p>
                      <a:pPr algn="ctr"/>
                      <a:r>
                        <a:rPr lang="en-US" sz="1600" b="1" dirty="0" smtClean="0"/>
                        <a:t>15</a:t>
                      </a:r>
                      <a:endParaRPr lang="en-US" sz="1600" b="1" dirty="0"/>
                    </a:p>
                  </a:txBody>
                  <a:tcPr anchor="ctr"/>
                </a:tc>
                <a:tc>
                  <a:txBody>
                    <a:bodyPr/>
                    <a:lstStyle/>
                    <a:p>
                      <a:pPr algn="ctr"/>
                      <a:r>
                        <a:rPr lang="en-US" sz="1600" b="1" dirty="0" smtClean="0"/>
                        <a:t>-0- (Suspended to 2014)</a:t>
                      </a:r>
                      <a:endParaRPr lang="en-US" sz="1600" b="1" dirty="0"/>
                    </a:p>
                  </a:txBody>
                  <a:tcPr anchor="ctr"/>
                </a:tc>
                <a:tc>
                  <a:txBody>
                    <a:bodyPr/>
                    <a:lstStyle/>
                    <a:p>
                      <a:pPr algn="ctr"/>
                      <a:r>
                        <a:rPr lang="en-US" sz="1600" b="1" dirty="0" smtClean="0"/>
                        <a:t>20</a:t>
                      </a:r>
                      <a:endParaRPr lang="en-US" sz="1600" b="1" dirty="0"/>
                    </a:p>
                  </a:txBody>
                  <a:tcPr anchor="ctr"/>
                </a:tc>
                <a:tc>
                  <a:txBody>
                    <a:bodyPr/>
                    <a:lstStyle/>
                    <a:p>
                      <a:pPr algn="ctr"/>
                      <a:r>
                        <a:rPr lang="en-US" sz="1600" b="1" dirty="0" smtClean="0"/>
                        <a:t>20</a:t>
                      </a:r>
                      <a:endParaRPr lang="en-US" sz="1600" b="1" dirty="0"/>
                    </a:p>
                  </a:txBody>
                  <a:tcPr anchor="ctr"/>
                </a:tc>
                <a:tc>
                  <a:txBody>
                    <a:bodyPr/>
                    <a:lstStyle/>
                    <a:p>
                      <a:pPr algn="ctr"/>
                      <a:r>
                        <a:rPr lang="en-US" sz="1600" b="1" dirty="0" smtClean="0"/>
                        <a:t>10</a:t>
                      </a:r>
                      <a:endParaRPr lang="en-US" sz="1600" b="1" dirty="0"/>
                    </a:p>
                  </a:txBody>
                  <a:tcPr anchor="ctr"/>
                </a:tc>
                <a:tc>
                  <a:txBody>
                    <a:bodyPr/>
                    <a:lstStyle/>
                    <a:p>
                      <a:pPr algn="ctr"/>
                      <a:r>
                        <a:rPr lang="en-US" sz="1600" b="1" dirty="0" smtClean="0"/>
                        <a:t>15</a:t>
                      </a:r>
                      <a:endParaRPr lang="en-US" sz="1600" b="1" dirty="0"/>
                    </a:p>
                  </a:txBody>
                  <a:tcPr anchor="ctr"/>
                </a:tc>
              </a:tr>
              <a:tr h="651440">
                <a:tc>
                  <a:txBody>
                    <a:bodyPr/>
                    <a:lstStyle/>
                    <a:p>
                      <a:r>
                        <a:rPr lang="en-US" sz="1600" b="1" dirty="0" smtClean="0"/>
                        <a:t>Sales Factor</a:t>
                      </a:r>
                      <a:endParaRPr lang="en-US" sz="1600" b="1" dirty="0"/>
                    </a:p>
                  </a:txBody>
                  <a:tcPr/>
                </a:tc>
                <a:tc>
                  <a:txBody>
                    <a:bodyPr/>
                    <a:lstStyle/>
                    <a:p>
                      <a:pPr algn="ctr"/>
                      <a:r>
                        <a:rPr lang="en-US" sz="1600" b="1" dirty="0" smtClean="0"/>
                        <a:t>93% (100% in 2014)</a:t>
                      </a:r>
                      <a:endParaRPr lang="en-US" sz="1600" b="1" dirty="0"/>
                    </a:p>
                  </a:txBody>
                  <a:tcPr anchor="ctr"/>
                </a:tc>
                <a:tc>
                  <a:txBody>
                    <a:bodyPr/>
                    <a:lstStyle/>
                    <a:p>
                      <a:pPr algn="ctr"/>
                      <a:r>
                        <a:rPr lang="en-US" sz="1600" b="1" dirty="0" smtClean="0"/>
                        <a:t>100%</a:t>
                      </a:r>
                      <a:endParaRPr lang="en-US" sz="1600" b="1" dirty="0"/>
                    </a:p>
                  </a:txBody>
                  <a:tcPr anchor="ctr"/>
                </a:tc>
                <a:tc>
                  <a:txBody>
                    <a:bodyPr/>
                    <a:lstStyle/>
                    <a:p>
                      <a:pPr algn="ctr"/>
                      <a:r>
                        <a:rPr lang="en-US" sz="1600" b="1" dirty="0" smtClean="0"/>
                        <a:t>100%</a:t>
                      </a:r>
                      <a:endParaRPr lang="en-US" sz="1600" b="1" dirty="0"/>
                    </a:p>
                  </a:txBody>
                  <a:tcPr anchor="ctr"/>
                </a:tc>
                <a:tc>
                  <a:txBody>
                    <a:bodyPr/>
                    <a:lstStyle/>
                    <a:p>
                      <a:pPr algn="ctr"/>
                      <a:r>
                        <a:rPr lang="en-US" sz="1600" b="1" dirty="0" smtClean="0"/>
                        <a:t>100%</a:t>
                      </a:r>
                      <a:endParaRPr lang="en-US" sz="1600" b="1" dirty="0"/>
                    </a:p>
                  </a:txBody>
                  <a:tcPr anchor="ctr"/>
                </a:tc>
                <a:tc>
                  <a:txBody>
                    <a:bodyPr/>
                    <a:lstStyle/>
                    <a:p>
                      <a:pPr algn="ctr"/>
                      <a:r>
                        <a:rPr lang="en-US" sz="1600" b="1" dirty="0" smtClean="0"/>
                        <a:t>100%</a:t>
                      </a:r>
                      <a:endParaRPr lang="en-US" sz="1600" b="1" dirty="0"/>
                    </a:p>
                  </a:txBody>
                  <a:tcPr anchor="ctr"/>
                </a:tc>
                <a:tc>
                  <a:txBody>
                    <a:bodyPr/>
                    <a:lstStyle/>
                    <a:p>
                      <a:pPr algn="ctr"/>
                      <a:r>
                        <a:rPr lang="en-US" sz="1600" b="1" dirty="0" smtClean="0"/>
                        <a:t>100%</a:t>
                      </a:r>
                      <a:endParaRPr lang="en-US" sz="1600" b="1" dirty="0"/>
                    </a:p>
                  </a:txBody>
                  <a:tcPr anchor="ctr"/>
                </a:tc>
              </a:tr>
              <a:tr h="582867">
                <a:tc>
                  <a:txBody>
                    <a:bodyPr/>
                    <a:lstStyle/>
                    <a:p>
                      <a:r>
                        <a:rPr lang="en-US" sz="1600" b="1" dirty="0" smtClean="0"/>
                        <a:t>Sourcing Services</a:t>
                      </a:r>
                      <a:endParaRPr lang="en-US" sz="1600" b="1" dirty="0"/>
                    </a:p>
                  </a:txBody>
                  <a:tcPr/>
                </a:tc>
                <a:tc>
                  <a:txBody>
                    <a:bodyPr/>
                    <a:lstStyle/>
                    <a:p>
                      <a:pPr algn="ctr"/>
                      <a:r>
                        <a:rPr lang="en-US" sz="1600" b="1" dirty="0" smtClean="0"/>
                        <a:t>Market</a:t>
                      </a:r>
                      <a:endParaRPr lang="en-US" sz="1600" b="1" dirty="0"/>
                    </a:p>
                  </a:txBody>
                  <a:tcPr anchor="ctr"/>
                </a:tc>
                <a:tc>
                  <a:txBody>
                    <a:bodyPr/>
                    <a:lstStyle/>
                    <a:p>
                      <a:pPr algn="ctr"/>
                      <a:r>
                        <a:rPr lang="en-US" sz="1600" b="1" dirty="0" smtClean="0"/>
                        <a:t>Market</a:t>
                      </a:r>
                      <a:endParaRPr lang="en-US" sz="1600" b="1" dirty="0"/>
                    </a:p>
                  </a:txBody>
                  <a:tcPr anchor="ctr"/>
                </a:tc>
                <a:tc>
                  <a:txBody>
                    <a:bodyPr/>
                    <a:lstStyle/>
                    <a:p>
                      <a:pPr algn="ctr"/>
                      <a:r>
                        <a:rPr lang="en-US" sz="1600" b="1" dirty="0" smtClean="0"/>
                        <a:t>COP</a:t>
                      </a:r>
                      <a:endParaRPr lang="en-US" sz="1600" b="1" dirty="0"/>
                    </a:p>
                  </a:txBody>
                  <a:tcPr anchor="ctr"/>
                </a:tc>
                <a:tc>
                  <a:txBody>
                    <a:bodyPr/>
                    <a:lstStyle/>
                    <a:p>
                      <a:pPr algn="ctr"/>
                      <a:r>
                        <a:rPr lang="en-US" sz="1600" b="1" dirty="0" smtClean="0"/>
                        <a:t>Market</a:t>
                      </a:r>
                      <a:endParaRPr lang="en-US" sz="1600" b="1" dirty="0"/>
                    </a:p>
                  </a:txBody>
                  <a:tcPr anchor="ctr"/>
                </a:tc>
                <a:tc>
                  <a:txBody>
                    <a:bodyPr/>
                    <a:lstStyle/>
                    <a:p>
                      <a:pPr algn="ctr"/>
                      <a:r>
                        <a:rPr lang="en-US" sz="1600" b="1" dirty="0" smtClean="0"/>
                        <a:t>Market</a:t>
                      </a:r>
                      <a:endParaRPr lang="en-US" sz="1600" b="1" dirty="0"/>
                    </a:p>
                  </a:txBody>
                  <a:tcPr anchor="ctr"/>
                </a:tc>
                <a:tc>
                  <a:txBody>
                    <a:bodyPr/>
                    <a:lstStyle/>
                    <a:p>
                      <a:pPr algn="ctr"/>
                      <a:r>
                        <a:rPr lang="en-US" sz="1600" b="1" dirty="0" smtClean="0"/>
                        <a:t>Market</a:t>
                      </a:r>
                      <a:endParaRPr lang="en-US" sz="1600" b="1" dirty="0"/>
                    </a:p>
                  </a:txBody>
                  <a:tcPr anchor="ctr"/>
                </a:tc>
              </a:tr>
            </a:tbl>
          </a:graphicData>
        </a:graphic>
      </p:graphicFrame>
      <p:sp>
        <p:nvSpPr>
          <p:cNvPr id="6" name="TextBox 5"/>
          <p:cNvSpPr txBox="1"/>
          <p:nvPr/>
        </p:nvSpPr>
        <p:spPr>
          <a:xfrm>
            <a:off x="609600" y="6019244"/>
            <a:ext cx="2514600" cy="276999"/>
          </a:xfrm>
          <a:prstGeom prst="rect">
            <a:avLst/>
          </a:prstGeom>
          <a:noFill/>
        </p:spPr>
        <p:txBody>
          <a:bodyPr wrap="square" rtlCol="0">
            <a:spAutoFit/>
          </a:bodyPr>
          <a:lstStyle/>
          <a:p>
            <a:r>
              <a:rPr lang="en-US" b="1" dirty="0" smtClean="0"/>
              <a:t>Source  RIA Checkpoint</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 Income Tax Characteristics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15</a:t>
            </a:fld>
            <a:endParaRPr lang="en-GB"/>
          </a:p>
        </p:txBody>
      </p:sp>
      <p:graphicFrame>
        <p:nvGraphicFramePr>
          <p:cNvPr id="5" name="Content Placeholder 4"/>
          <p:cNvGraphicFramePr>
            <a:graphicFrameLocks noGrp="1"/>
          </p:cNvGraphicFramePr>
          <p:nvPr>
            <p:ph idx="1"/>
          </p:nvPr>
        </p:nvGraphicFramePr>
        <p:xfrm>
          <a:off x="323850" y="1316039"/>
          <a:ext cx="8545516" cy="4756635"/>
        </p:xfrm>
        <a:graphic>
          <a:graphicData uri="http://schemas.openxmlformats.org/drawingml/2006/table">
            <a:tbl>
              <a:tblPr firstRow="1" bandRow="1">
                <a:tableStyleId>{5C22544A-7EE6-4342-B048-85BDC9FD1C3A}</a:tableStyleId>
              </a:tblPr>
              <a:tblGrid>
                <a:gridCol w="1220788"/>
                <a:gridCol w="1220788"/>
                <a:gridCol w="1220788"/>
                <a:gridCol w="1220788"/>
                <a:gridCol w="1220788"/>
                <a:gridCol w="1220788"/>
                <a:gridCol w="1220788"/>
              </a:tblGrid>
              <a:tr h="676681">
                <a:tc>
                  <a:txBody>
                    <a:bodyPr/>
                    <a:lstStyle/>
                    <a:p>
                      <a:endParaRPr lang="en-US" sz="1600" b="1" dirty="0"/>
                    </a:p>
                  </a:txBody>
                  <a:tcPr anchor="ctr"/>
                </a:tc>
                <a:tc>
                  <a:txBody>
                    <a:bodyPr/>
                    <a:lstStyle/>
                    <a:p>
                      <a:pPr algn="ctr"/>
                      <a:r>
                        <a:rPr lang="en-US" sz="1600" b="1" dirty="0" smtClean="0"/>
                        <a:t>Minnesota</a:t>
                      </a:r>
                      <a:endParaRPr lang="en-US" sz="1600" b="1" dirty="0"/>
                    </a:p>
                  </a:txBody>
                  <a:tcPr anchor="ctr"/>
                </a:tc>
                <a:tc>
                  <a:txBody>
                    <a:bodyPr/>
                    <a:lstStyle/>
                    <a:p>
                      <a:pPr algn="ctr"/>
                      <a:r>
                        <a:rPr lang="en-US" sz="1600" b="1" dirty="0" smtClean="0"/>
                        <a:t>Illinois</a:t>
                      </a:r>
                      <a:endParaRPr lang="en-US" sz="1600" b="1" dirty="0"/>
                    </a:p>
                  </a:txBody>
                  <a:tcPr anchor="ctr"/>
                </a:tc>
                <a:tc>
                  <a:txBody>
                    <a:bodyPr/>
                    <a:lstStyle/>
                    <a:p>
                      <a:pPr algn="ctr"/>
                      <a:r>
                        <a:rPr lang="en-US" sz="1600" b="1" dirty="0" smtClean="0"/>
                        <a:t>Indiana</a:t>
                      </a:r>
                      <a:endParaRPr lang="en-US" sz="1600" b="1" dirty="0"/>
                    </a:p>
                  </a:txBody>
                  <a:tcPr anchor="ctr"/>
                </a:tc>
                <a:tc>
                  <a:txBody>
                    <a:bodyPr/>
                    <a:lstStyle/>
                    <a:p>
                      <a:pPr algn="ctr"/>
                      <a:r>
                        <a:rPr lang="en-US" sz="1600" b="1" dirty="0" smtClean="0"/>
                        <a:t>Iowa</a:t>
                      </a:r>
                      <a:endParaRPr lang="en-US" sz="1600" b="1" dirty="0"/>
                    </a:p>
                  </a:txBody>
                  <a:tcPr anchor="ctr"/>
                </a:tc>
                <a:tc>
                  <a:txBody>
                    <a:bodyPr/>
                    <a:lstStyle/>
                    <a:p>
                      <a:pPr algn="ctr"/>
                      <a:r>
                        <a:rPr lang="en-US" sz="1600" b="1" dirty="0" smtClean="0"/>
                        <a:t>Michigan</a:t>
                      </a:r>
                      <a:endParaRPr lang="en-US" sz="1600" b="1" dirty="0"/>
                    </a:p>
                  </a:txBody>
                  <a:tcPr anchor="ctr"/>
                </a:tc>
                <a:tc>
                  <a:txBody>
                    <a:bodyPr/>
                    <a:lstStyle/>
                    <a:p>
                      <a:pPr algn="ctr"/>
                      <a:r>
                        <a:rPr lang="en-US" sz="1600" b="1" dirty="0" smtClean="0"/>
                        <a:t>Wisconsin</a:t>
                      </a:r>
                      <a:endParaRPr lang="en-US" sz="1600" b="1" dirty="0"/>
                    </a:p>
                  </a:txBody>
                  <a:tcPr anchor="ctr"/>
                </a:tc>
              </a:tr>
              <a:tr h="974690">
                <a:tc>
                  <a:txBody>
                    <a:bodyPr/>
                    <a:lstStyle/>
                    <a:p>
                      <a:r>
                        <a:rPr lang="en-US" sz="1600" b="1" dirty="0" smtClean="0"/>
                        <a:t>Rates</a:t>
                      </a:r>
                      <a:endParaRPr lang="en-US" sz="1600" b="1" dirty="0"/>
                    </a:p>
                  </a:txBody>
                  <a:tcPr anchor="ctr"/>
                </a:tc>
                <a:tc>
                  <a:txBody>
                    <a:bodyPr/>
                    <a:lstStyle/>
                    <a:p>
                      <a:pPr algn="ctr"/>
                      <a:r>
                        <a:rPr lang="en-US" sz="1600" b="1" dirty="0" smtClean="0"/>
                        <a:t>5.35% - 7.85%</a:t>
                      </a:r>
                      <a:endParaRPr lang="en-US" sz="1600" b="1" dirty="0"/>
                    </a:p>
                  </a:txBody>
                  <a:tcPr anchor="ctr"/>
                </a:tc>
                <a:tc>
                  <a:txBody>
                    <a:bodyPr/>
                    <a:lstStyle/>
                    <a:p>
                      <a:pPr algn="ctr"/>
                      <a:r>
                        <a:rPr lang="en-US" sz="1600" b="1" dirty="0" smtClean="0"/>
                        <a:t>5%</a:t>
                      </a:r>
                      <a:endParaRPr lang="en-US" sz="1600" b="1" dirty="0"/>
                    </a:p>
                  </a:txBody>
                  <a:tcPr anchor="ctr"/>
                </a:tc>
                <a:tc>
                  <a:txBody>
                    <a:bodyPr/>
                    <a:lstStyle/>
                    <a:p>
                      <a:pPr algn="ctr"/>
                      <a:r>
                        <a:rPr lang="en-US" sz="1600" b="1" dirty="0" smtClean="0"/>
                        <a:t>3.4%</a:t>
                      </a:r>
                      <a:endParaRPr lang="en-US" sz="1600" b="1" dirty="0"/>
                    </a:p>
                  </a:txBody>
                  <a:tcPr anchor="ctr"/>
                </a:tc>
                <a:tc>
                  <a:txBody>
                    <a:bodyPr/>
                    <a:lstStyle/>
                    <a:p>
                      <a:pPr algn="ctr"/>
                      <a:r>
                        <a:rPr lang="en-US" sz="1600" b="1" dirty="0" smtClean="0"/>
                        <a:t>0.36%</a:t>
                      </a:r>
                      <a:r>
                        <a:rPr lang="en-US" sz="1600" b="1" baseline="0" dirty="0" smtClean="0"/>
                        <a:t> - 8.98% (Fed Tax Deduct)</a:t>
                      </a:r>
                      <a:endParaRPr lang="en-US" sz="1600" b="1" dirty="0"/>
                    </a:p>
                  </a:txBody>
                  <a:tcPr anchor="ctr"/>
                </a:tc>
                <a:tc>
                  <a:txBody>
                    <a:bodyPr/>
                    <a:lstStyle/>
                    <a:p>
                      <a:pPr algn="ctr"/>
                      <a:r>
                        <a:rPr lang="en-US" sz="1600" b="1" dirty="0" smtClean="0"/>
                        <a:t>4.35%</a:t>
                      </a:r>
                      <a:endParaRPr lang="en-US" sz="1600" b="1" dirty="0"/>
                    </a:p>
                  </a:txBody>
                  <a:tcPr anchor="ctr"/>
                </a:tc>
                <a:tc>
                  <a:txBody>
                    <a:bodyPr/>
                    <a:lstStyle/>
                    <a:p>
                      <a:pPr algn="ctr"/>
                      <a:r>
                        <a:rPr lang="en-US" sz="1600" b="1" dirty="0" smtClean="0"/>
                        <a:t>4.6%-7.75%</a:t>
                      </a:r>
                      <a:endParaRPr lang="en-US" sz="1600" b="1" dirty="0"/>
                    </a:p>
                  </a:txBody>
                  <a:tcPr anchor="ctr"/>
                </a:tc>
              </a:tr>
              <a:tr h="676681">
                <a:tc>
                  <a:txBody>
                    <a:bodyPr/>
                    <a:lstStyle/>
                    <a:p>
                      <a:r>
                        <a:rPr lang="en-US" sz="1600" b="1" dirty="0" smtClean="0"/>
                        <a:t>Starting point</a:t>
                      </a:r>
                      <a:endParaRPr lang="en-US" sz="1600" b="1" dirty="0"/>
                    </a:p>
                  </a:txBody>
                  <a:tcPr anchor="ctr"/>
                </a:tc>
                <a:tc>
                  <a:txBody>
                    <a:bodyPr/>
                    <a:lstStyle/>
                    <a:p>
                      <a:pPr algn="ctr"/>
                      <a:r>
                        <a:rPr lang="en-US" sz="1600" b="1" dirty="0" smtClean="0"/>
                        <a:t>Federal Taxable</a:t>
                      </a:r>
                      <a:endParaRPr lang="en-US" sz="1600" b="1" dirty="0"/>
                    </a:p>
                  </a:txBody>
                  <a:tcPr anchor="ctr"/>
                </a:tc>
                <a:tc>
                  <a:txBody>
                    <a:bodyPr/>
                    <a:lstStyle/>
                    <a:p>
                      <a:pPr algn="ctr"/>
                      <a:r>
                        <a:rPr lang="en-US" sz="1600" b="1" dirty="0" smtClean="0"/>
                        <a:t>Federal AGI</a:t>
                      </a:r>
                      <a:endParaRPr lang="en-US" sz="1600" b="1" dirty="0"/>
                    </a:p>
                  </a:txBody>
                  <a:tcPr anchor="ctr"/>
                </a:tc>
                <a:tc>
                  <a:txBody>
                    <a:bodyPr/>
                    <a:lstStyle/>
                    <a:p>
                      <a:pPr algn="ctr"/>
                      <a:r>
                        <a:rPr lang="en-US" sz="1600" b="1" dirty="0" smtClean="0"/>
                        <a:t>Federal AGI</a:t>
                      </a:r>
                      <a:endParaRPr lang="en-US" sz="1600" b="1" dirty="0"/>
                    </a:p>
                  </a:txBody>
                  <a:tcPr anchor="ctr"/>
                </a:tc>
                <a:tc>
                  <a:txBody>
                    <a:bodyPr/>
                    <a:lstStyle/>
                    <a:p>
                      <a:pPr algn="ctr"/>
                      <a:r>
                        <a:rPr lang="en-US" sz="1600" b="1" dirty="0" smtClean="0"/>
                        <a:t>Federal</a:t>
                      </a:r>
                      <a:r>
                        <a:rPr lang="en-US" sz="1600" b="1" baseline="0" dirty="0" smtClean="0"/>
                        <a:t> AGI</a:t>
                      </a:r>
                      <a:endParaRPr lang="en-US" sz="1600" b="1" dirty="0"/>
                    </a:p>
                  </a:txBody>
                  <a:tcPr anchor="ctr"/>
                </a:tc>
                <a:tc>
                  <a:txBody>
                    <a:bodyPr/>
                    <a:lstStyle/>
                    <a:p>
                      <a:pPr algn="ctr"/>
                      <a:r>
                        <a:rPr lang="en-US" sz="1600" b="1" dirty="0" smtClean="0"/>
                        <a:t>Federal AGI</a:t>
                      </a:r>
                      <a:endParaRPr lang="en-US" sz="1600" b="1" dirty="0"/>
                    </a:p>
                  </a:txBody>
                  <a:tcPr anchor="ctr"/>
                </a:tc>
                <a:tc>
                  <a:txBody>
                    <a:bodyPr/>
                    <a:lstStyle/>
                    <a:p>
                      <a:pPr algn="ctr"/>
                      <a:r>
                        <a:rPr lang="en-US" sz="1600" b="1" dirty="0" smtClean="0"/>
                        <a:t>Federal AGI</a:t>
                      </a:r>
                      <a:endParaRPr lang="en-US" sz="1600" b="1" dirty="0"/>
                    </a:p>
                  </a:txBody>
                  <a:tcPr anchor="ctr"/>
                </a:tc>
              </a:tr>
              <a:tr h="1197476">
                <a:tc>
                  <a:txBody>
                    <a:bodyPr/>
                    <a:lstStyle/>
                    <a:p>
                      <a:r>
                        <a:rPr lang="en-US" sz="1600" b="1" dirty="0" smtClean="0"/>
                        <a:t>Personal Exempt</a:t>
                      </a:r>
                      <a:endParaRPr lang="en-US" sz="1600" b="1" dirty="0"/>
                    </a:p>
                  </a:txBody>
                  <a:tcPr anchor="ctr"/>
                </a:tc>
                <a:tc>
                  <a:txBody>
                    <a:bodyPr/>
                    <a:lstStyle/>
                    <a:p>
                      <a:pPr algn="ctr"/>
                      <a:r>
                        <a:rPr lang="en-US" sz="1600" b="1" dirty="0" smtClean="0"/>
                        <a:t>Same as Fed.  with </a:t>
                      </a:r>
                      <a:r>
                        <a:rPr lang="en-US" sz="1600" b="1" dirty="0" err="1" smtClean="0"/>
                        <a:t>addback</a:t>
                      </a:r>
                      <a:endParaRPr lang="en-US" sz="1600" b="1" dirty="0"/>
                    </a:p>
                  </a:txBody>
                  <a:tcPr anchor="ctr"/>
                </a:tc>
                <a:tc>
                  <a:txBody>
                    <a:bodyPr/>
                    <a:lstStyle/>
                    <a:p>
                      <a:pPr algn="ctr"/>
                      <a:r>
                        <a:rPr lang="en-US" sz="1600" b="1" dirty="0" smtClean="0"/>
                        <a:t>$2,000</a:t>
                      </a:r>
                      <a:endParaRPr lang="en-US" sz="1600" b="1"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smtClean="0"/>
                        <a:t>$1,000 / $1,500 (depend.</a:t>
                      </a:r>
                      <a:r>
                        <a:rPr lang="en-US" sz="1600" b="1" baseline="0" dirty="0" smtClean="0"/>
                        <a:t> child)</a:t>
                      </a:r>
                      <a:endParaRPr lang="en-US" sz="1600" b="1" dirty="0" smtClean="0"/>
                    </a:p>
                    <a:p>
                      <a:pPr algn="ctr"/>
                      <a:endParaRPr lang="en-US" sz="1600" b="1" dirty="0"/>
                    </a:p>
                  </a:txBody>
                  <a:tcPr anchor="ctr"/>
                </a:tc>
                <a:tc>
                  <a:txBody>
                    <a:bodyPr/>
                    <a:lstStyle/>
                    <a:p>
                      <a:pPr algn="ctr"/>
                      <a:r>
                        <a:rPr lang="en-US" sz="1600" b="1" dirty="0" smtClean="0"/>
                        <a:t>$40 Credit</a:t>
                      </a:r>
                      <a:endParaRPr lang="en-US" sz="1600" b="1" dirty="0"/>
                    </a:p>
                  </a:txBody>
                  <a:tcPr anchor="ctr"/>
                </a:tc>
                <a:tc>
                  <a:txBody>
                    <a:bodyPr/>
                    <a:lstStyle/>
                    <a:p>
                      <a:pPr algn="ctr"/>
                      <a:r>
                        <a:rPr lang="en-US" sz="1600" b="1" dirty="0" smtClean="0"/>
                        <a:t>$3,700</a:t>
                      </a:r>
                      <a:endParaRPr lang="en-US" sz="1600" b="1" dirty="0"/>
                    </a:p>
                  </a:txBody>
                  <a:tcPr anchor="ctr"/>
                </a:tc>
                <a:tc>
                  <a:txBody>
                    <a:bodyPr/>
                    <a:lstStyle/>
                    <a:p>
                      <a:pPr algn="ctr"/>
                      <a:r>
                        <a:rPr lang="en-US" sz="1600" b="1" dirty="0" smtClean="0"/>
                        <a:t>$700</a:t>
                      </a:r>
                      <a:endParaRPr lang="en-US" sz="1600" b="1" dirty="0"/>
                    </a:p>
                  </a:txBody>
                  <a:tcPr anchor="ctr"/>
                </a:tc>
              </a:tr>
              <a:tr h="1025833">
                <a:tc>
                  <a:txBody>
                    <a:bodyPr/>
                    <a:lstStyle/>
                    <a:p>
                      <a:r>
                        <a:rPr lang="en-US" sz="1600" b="1" dirty="0" smtClean="0"/>
                        <a:t>Standard Deduction</a:t>
                      </a:r>
                      <a:endParaRPr lang="en-US" sz="1600" b="1" dirty="0"/>
                    </a:p>
                  </a:txBody>
                  <a:tcPr anchor="ctr"/>
                </a:tc>
                <a:tc>
                  <a:txBody>
                    <a:bodyPr/>
                    <a:lstStyle/>
                    <a:p>
                      <a:pPr algn="ctr"/>
                      <a:r>
                        <a:rPr lang="en-US" sz="1600" b="1" dirty="0" smtClean="0"/>
                        <a:t>Same as Fed.  with</a:t>
                      </a:r>
                      <a:r>
                        <a:rPr lang="en-US" sz="1600" b="1" baseline="0" dirty="0" smtClean="0"/>
                        <a:t> </a:t>
                      </a:r>
                      <a:r>
                        <a:rPr lang="en-US" sz="1600" b="1" baseline="0" dirty="0" err="1" smtClean="0"/>
                        <a:t>addback</a:t>
                      </a:r>
                      <a:endParaRPr lang="en-US" sz="1600" b="1" dirty="0"/>
                    </a:p>
                  </a:txBody>
                  <a:tcPr anchor="ctr"/>
                </a:tc>
                <a:tc>
                  <a:txBody>
                    <a:bodyPr/>
                    <a:lstStyle/>
                    <a:p>
                      <a:pPr algn="ctr"/>
                      <a:r>
                        <a:rPr lang="en-US" sz="1600" b="1" dirty="0" smtClean="0"/>
                        <a:t>N/A</a:t>
                      </a:r>
                      <a:endParaRPr lang="en-US" sz="1600" b="1" dirty="0"/>
                    </a:p>
                  </a:txBody>
                  <a:tcPr anchor="ctr"/>
                </a:tc>
                <a:tc>
                  <a:txBody>
                    <a:bodyPr/>
                    <a:lstStyle/>
                    <a:p>
                      <a:pPr algn="ctr"/>
                      <a:r>
                        <a:rPr lang="en-US" sz="1600" b="1" dirty="0" smtClean="0"/>
                        <a:t>N/A</a:t>
                      </a:r>
                      <a:endParaRPr lang="en-US" sz="1600" b="1" dirty="0"/>
                    </a:p>
                  </a:txBody>
                  <a:tcPr anchor="ctr"/>
                </a:tc>
                <a:tc>
                  <a:txBody>
                    <a:bodyPr/>
                    <a:lstStyle/>
                    <a:p>
                      <a:pPr algn="ctr"/>
                      <a:r>
                        <a:rPr lang="en-US" sz="1600" b="1" dirty="0" smtClean="0"/>
                        <a:t>$4,460 (MFJ)</a:t>
                      </a:r>
                      <a:endParaRPr lang="en-US" sz="1600" b="1" dirty="0"/>
                    </a:p>
                  </a:txBody>
                  <a:tcPr anchor="ctr"/>
                </a:tc>
                <a:tc>
                  <a:txBody>
                    <a:bodyPr/>
                    <a:lstStyle/>
                    <a:p>
                      <a:pPr algn="ctr"/>
                      <a:r>
                        <a:rPr lang="en-US" sz="1600" b="1" dirty="0" smtClean="0"/>
                        <a:t>N/A</a:t>
                      </a:r>
                      <a:endParaRPr lang="en-US" sz="1600" b="1" dirty="0"/>
                    </a:p>
                  </a:txBody>
                  <a:tcPr anchor="ctr"/>
                </a:tc>
                <a:tc>
                  <a:txBody>
                    <a:bodyPr/>
                    <a:lstStyle/>
                    <a:p>
                      <a:pPr algn="ctr"/>
                      <a:r>
                        <a:rPr lang="en-US" sz="1600" b="1" dirty="0" smtClean="0"/>
                        <a:t>Variable</a:t>
                      </a:r>
                      <a:endParaRPr lang="en-US" sz="1600" b="1" dirty="0"/>
                    </a:p>
                  </a:txBody>
                  <a:tcPr anchor="ctr"/>
                </a:tc>
              </a:tr>
            </a:tbl>
          </a:graphicData>
        </a:graphic>
      </p:graphicFrame>
      <p:sp>
        <p:nvSpPr>
          <p:cNvPr id="6" name="TextBox 5"/>
          <p:cNvSpPr txBox="1"/>
          <p:nvPr/>
        </p:nvSpPr>
        <p:spPr>
          <a:xfrm>
            <a:off x="323850" y="6072674"/>
            <a:ext cx="3486150" cy="276999"/>
          </a:xfrm>
          <a:prstGeom prst="rect">
            <a:avLst/>
          </a:prstGeom>
          <a:noFill/>
        </p:spPr>
        <p:txBody>
          <a:bodyPr wrap="square" rtlCol="0">
            <a:spAutoFit/>
          </a:bodyPr>
          <a:lstStyle/>
          <a:p>
            <a:r>
              <a:rPr lang="en-US" b="1" dirty="0" smtClean="0"/>
              <a:t>Source:  RIA Checkpoint</a:t>
            </a:r>
            <a:endParaRPr 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Sales Tax Characteristics</a:t>
            </a:r>
            <a:endParaRPr lang="en-US" dirty="0"/>
          </a:p>
        </p:txBody>
      </p:sp>
      <p:sp>
        <p:nvSpPr>
          <p:cNvPr id="3" name="Slide Number Placeholder 2"/>
          <p:cNvSpPr>
            <a:spLocks noGrp="1"/>
          </p:cNvSpPr>
          <p:nvPr>
            <p:ph type="sldNum" sz="quarter" idx="12"/>
          </p:nvPr>
        </p:nvSpPr>
        <p:spPr/>
        <p:txBody>
          <a:bodyPr/>
          <a:lstStyle/>
          <a:p>
            <a:fld id="{1CB23F2B-7DA2-447A-B5D1-F0E2C7FE22DC}" type="slidenum">
              <a:rPr lang="en-GB" smtClean="0"/>
              <a:pPr/>
              <a:t>16</a:t>
            </a:fld>
            <a:endParaRPr lang="en-GB"/>
          </a:p>
        </p:txBody>
      </p:sp>
      <p:graphicFrame>
        <p:nvGraphicFramePr>
          <p:cNvPr id="5" name="Content Placeholder 4"/>
          <p:cNvGraphicFramePr>
            <a:graphicFrameLocks noGrp="1"/>
          </p:cNvGraphicFramePr>
          <p:nvPr>
            <p:ph idx="1"/>
          </p:nvPr>
        </p:nvGraphicFramePr>
        <p:xfrm>
          <a:off x="323850" y="1348489"/>
          <a:ext cx="8545515" cy="4873576"/>
        </p:xfrm>
        <a:graphic>
          <a:graphicData uri="http://schemas.openxmlformats.org/drawingml/2006/table">
            <a:tbl>
              <a:tblPr firstRow="1" bandRow="1">
                <a:tableStyleId>{5C22544A-7EE6-4342-B048-85BDC9FD1C3A}</a:tableStyleId>
              </a:tblPr>
              <a:tblGrid>
                <a:gridCol w="1276350"/>
                <a:gridCol w="898132"/>
                <a:gridCol w="1087241"/>
                <a:gridCol w="1291227"/>
                <a:gridCol w="1295400"/>
                <a:gridCol w="1295400"/>
                <a:gridCol w="1401765"/>
              </a:tblGrid>
              <a:tr h="474150">
                <a:tc>
                  <a:txBody>
                    <a:bodyPr/>
                    <a:lstStyle/>
                    <a:p>
                      <a:pPr algn="l"/>
                      <a:endParaRPr lang="en-US" sz="1400" b="1" dirty="0"/>
                    </a:p>
                  </a:txBody>
                  <a:tcPr/>
                </a:tc>
                <a:tc>
                  <a:txBody>
                    <a:bodyPr/>
                    <a:lstStyle/>
                    <a:p>
                      <a:pPr algn="ctr"/>
                      <a:r>
                        <a:rPr lang="en-US" sz="1400" b="1" dirty="0" smtClean="0"/>
                        <a:t>Minnesota</a:t>
                      </a:r>
                      <a:endParaRPr lang="en-US" sz="1400" b="1" dirty="0"/>
                    </a:p>
                  </a:txBody>
                  <a:tcPr/>
                </a:tc>
                <a:tc>
                  <a:txBody>
                    <a:bodyPr/>
                    <a:lstStyle/>
                    <a:p>
                      <a:pPr algn="ctr"/>
                      <a:r>
                        <a:rPr lang="en-US" sz="1400" b="1" dirty="0" smtClean="0"/>
                        <a:t>Illinois</a:t>
                      </a:r>
                      <a:endParaRPr lang="en-US" sz="1400" b="1" dirty="0"/>
                    </a:p>
                  </a:txBody>
                  <a:tcPr/>
                </a:tc>
                <a:tc>
                  <a:txBody>
                    <a:bodyPr/>
                    <a:lstStyle/>
                    <a:p>
                      <a:pPr algn="ctr"/>
                      <a:r>
                        <a:rPr lang="en-US" sz="1400" b="1" dirty="0" smtClean="0"/>
                        <a:t>Indiana</a:t>
                      </a:r>
                      <a:endParaRPr lang="en-US" sz="1400" b="1" dirty="0"/>
                    </a:p>
                  </a:txBody>
                  <a:tcPr/>
                </a:tc>
                <a:tc>
                  <a:txBody>
                    <a:bodyPr/>
                    <a:lstStyle/>
                    <a:p>
                      <a:pPr algn="ctr"/>
                      <a:r>
                        <a:rPr lang="en-US" sz="1400" b="1" dirty="0" smtClean="0"/>
                        <a:t>Iowa</a:t>
                      </a:r>
                      <a:endParaRPr lang="en-US" sz="1400" b="1" dirty="0"/>
                    </a:p>
                  </a:txBody>
                  <a:tcPr/>
                </a:tc>
                <a:tc>
                  <a:txBody>
                    <a:bodyPr/>
                    <a:lstStyle/>
                    <a:p>
                      <a:pPr algn="ctr"/>
                      <a:r>
                        <a:rPr lang="en-US" sz="1400" b="1" dirty="0" smtClean="0"/>
                        <a:t>Michigan</a:t>
                      </a:r>
                      <a:endParaRPr lang="en-US" sz="1400" b="1" dirty="0"/>
                    </a:p>
                  </a:txBody>
                  <a:tcPr/>
                </a:tc>
                <a:tc>
                  <a:txBody>
                    <a:bodyPr/>
                    <a:lstStyle/>
                    <a:p>
                      <a:pPr algn="ctr"/>
                      <a:r>
                        <a:rPr lang="en-US" sz="1400" b="1" dirty="0" smtClean="0"/>
                        <a:t>Wisconsin</a:t>
                      </a:r>
                      <a:endParaRPr lang="en-US" sz="1400" b="1" dirty="0"/>
                    </a:p>
                  </a:txBody>
                  <a:tcPr/>
                </a:tc>
              </a:tr>
              <a:tr h="348908">
                <a:tc>
                  <a:txBody>
                    <a:bodyPr/>
                    <a:lstStyle/>
                    <a:p>
                      <a:pPr algn="l"/>
                      <a:r>
                        <a:rPr lang="en-US" sz="1400" b="1" dirty="0" smtClean="0"/>
                        <a:t>Rate (State)</a:t>
                      </a:r>
                      <a:endParaRPr lang="en-US" sz="1400" b="1" dirty="0"/>
                    </a:p>
                  </a:txBody>
                  <a:tcPr/>
                </a:tc>
                <a:tc>
                  <a:txBody>
                    <a:bodyPr/>
                    <a:lstStyle/>
                    <a:p>
                      <a:pPr algn="ctr"/>
                      <a:r>
                        <a:rPr lang="en-US" sz="1400" b="1" dirty="0" smtClean="0"/>
                        <a:t>6.875%</a:t>
                      </a:r>
                      <a:endParaRPr lang="en-US" sz="1400" b="1" dirty="0"/>
                    </a:p>
                  </a:txBody>
                  <a:tcPr anchor="ctr"/>
                </a:tc>
                <a:tc>
                  <a:txBody>
                    <a:bodyPr/>
                    <a:lstStyle/>
                    <a:p>
                      <a:pPr algn="ctr"/>
                      <a:r>
                        <a:rPr lang="en-US" sz="1400" b="1" dirty="0" smtClean="0"/>
                        <a:t>6.25%</a:t>
                      </a:r>
                      <a:endParaRPr lang="en-US" sz="1400" b="1" dirty="0"/>
                    </a:p>
                  </a:txBody>
                  <a:tcPr anchor="ctr"/>
                </a:tc>
                <a:tc>
                  <a:txBody>
                    <a:bodyPr/>
                    <a:lstStyle/>
                    <a:p>
                      <a:pPr algn="ctr"/>
                      <a:r>
                        <a:rPr lang="en-US" sz="1400" b="1" dirty="0" smtClean="0"/>
                        <a:t>7%</a:t>
                      </a:r>
                      <a:endParaRPr lang="en-US" sz="1400" b="1" dirty="0"/>
                    </a:p>
                  </a:txBody>
                  <a:tcPr anchor="ctr"/>
                </a:tc>
                <a:tc>
                  <a:txBody>
                    <a:bodyPr/>
                    <a:lstStyle/>
                    <a:p>
                      <a:pPr algn="ctr"/>
                      <a:r>
                        <a:rPr lang="en-US" sz="1400" b="1" dirty="0" smtClean="0"/>
                        <a:t>6%</a:t>
                      </a:r>
                      <a:endParaRPr lang="en-US" sz="1400" b="1" dirty="0"/>
                    </a:p>
                  </a:txBody>
                  <a:tcPr anchor="ctr"/>
                </a:tc>
                <a:tc>
                  <a:txBody>
                    <a:bodyPr/>
                    <a:lstStyle/>
                    <a:p>
                      <a:pPr algn="ctr"/>
                      <a:r>
                        <a:rPr lang="en-US" sz="1400" b="1" dirty="0" smtClean="0"/>
                        <a:t>6%</a:t>
                      </a:r>
                      <a:endParaRPr lang="en-US" sz="1400" b="1" dirty="0"/>
                    </a:p>
                  </a:txBody>
                  <a:tcPr anchor="ctr"/>
                </a:tc>
                <a:tc>
                  <a:txBody>
                    <a:bodyPr/>
                    <a:lstStyle/>
                    <a:p>
                      <a:pPr algn="ctr"/>
                      <a:r>
                        <a:rPr lang="en-US" sz="1400" b="1" dirty="0" smtClean="0"/>
                        <a:t>5%</a:t>
                      </a:r>
                      <a:endParaRPr lang="en-US" sz="1400" b="1" dirty="0"/>
                    </a:p>
                  </a:txBody>
                  <a:tcPr anchor="ctr"/>
                </a:tc>
              </a:tr>
              <a:tr h="474150">
                <a:tc>
                  <a:txBody>
                    <a:bodyPr/>
                    <a:lstStyle/>
                    <a:p>
                      <a:pPr algn="l"/>
                      <a:r>
                        <a:rPr lang="en-US" sz="1400" b="1" dirty="0" smtClean="0"/>
                        <a:t>Food Exempt</a:t>
                      </a:r>
                      <a:endParaRPr lang="en-US" sz="1400" b="1" dirty="0"/>
                    </a:p>
                  </a:txBody>
                  <a:tcPr/>
                </a:tc>
                <a:tc>
                  <a:txBody>
                    <a:bodyPr/>
                    <a:lstStyle/>
                    <a:p>
                      <a:pPr algn="ctr"/>
                      <a:r>
                        <a:rPr lang="en-US" sz="1400" b="1" dirty="0" smtClean="0"/>
                        <a:t>Yes</a:t>
                      </a:r>
                      <a:endParaRPr lang="en-US" sz="1400" b="1" dirty="0"/>
                    </a:p>
                  </a:txBody>
                  <a:tcPr anchor="ctr"/>
                </a:tc>
                <a:tc>
                  <a:txBody>
                    <a:bodyPr/>
                    <a:lstStyle/>
                    <a:p>
                      <a:pPr algn="ctr"/>
                      <a:r>
                        <a:rPr lang="en-US" sz="1400" b="1" dirty="0" smtClean="0"/>
                        <a:t>Taxed at 1%</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r>
              <a:tr h="669389">
                <a:tc>
                  <a:txBody>
                    <a:bodyPr/>
                    <a:lstStyle/>
                    <a:p>
                      <a:pPr algn="l"/>
                      <a:r>
                        <a:rPr lang="en-US" sz="1400" b="1" dirty="0" err="1" smtClean="0"/>
                        <a:t>Mfct</a:t>
                      </a:r>
                      <a:r>
                        <a:rPr lang="en-US" sz="1400" b="1" dirty="0" smtClean="0"/>
                        <a:t>. M&amp;E Equipment</a:t>
                      </a:r>
                      <a:endParaRPr lang="en-US" sz="1400" b="1" dirty="0"/>
                    </a:p>
                  </a:txBody>
                  <a:tcPr/>
                </a:tc>
                <a:tc>
                  <a:txBody>
                    <a:bodyPr/>
                    <a:lstStyle/>
                    <a:p>
                      <a:pPr algn="ctr"/>
                      <a:r>
                        <a:rPr lang="en-US" sz="1400" b="1" dirty="0" smtClean="0"/>
                        <a:t>No (Some</a:t>
                      </a:r>
                      <a:r>
                        <a:rPr lang="en-US" sz="1400" b="1" baseline="0" dirty="0" smtClean="0"/>
                        <a:t> refunds)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r>
              <a:tr h="669389">
                <a:tc>
                  <a:txBody>
                    <a:bodyPr/>
                    <a:lstStyle/>
                    <a:p>
                      <a:pPr algn="l"/>
                      <a:r>
                        <a:rPr lang="en-US" sz="1400" b="1" dirty="0" err="1" smtClean="0"/>
                        <a:t>Mfct</a:t>
                      </a:r>
                      <a:r>
                        <a:rPr lang="en-US" sz="1400" b="1" dirty="0" smtClean="0"/>
                        <a:t>. Utilities Exempt</a:t>
                      </a:r>
                      <a:endParaRPr lang="en-US" sz="1400" b="1" dirty="0"/>
                    </a:p>
                  </a:txBody>
                  <a:tcPr/>
                </a:tc>
                <a:tc>
                  <a:txBody>
                    <a:bodyPr/>
                    <a:lstStyle/>
                    <a:p>
                      <a:pPr algn="ctr"/>
                      <a:endParaRPr lang="en-US" sz="1400" b="1"/>
                    </a:p>
                  </a:txBody>
                  <a:tcPr anchor="ctr"/>
                </a:tc>
                <a:tc>
                  <a:txBody>
                    <a:bodyPr/>
                    <a:lstStyle/>
                    <a:p>
                      <a:pPr algn="ctr"/>
                      <a:endParaRPr lang="en-US" sz="1400" b="1" dirty="0"/>
                    </a:p>
                  </a:txBody>
                  <a:tcPr anchor="ctr"/>
                </a:tc>
                <a:tc>
                  <a:txBody>
                    <a:bodyPr/>
                    <a:lstStyle/>
                    <a:p>
                      <a:pPr algn="ctr"/>
                      <a:endParaRPr lang="en-US" sz="1400" b="1" dirty="0"/>
                    </a:p>
                  </a:txBody>
                  <a:tcPr anchor="ctr"/>
                </a:tc>
                <a:tc>
                  <a:txBody>
                    <a:bodyPr/>
                    <a:lstStyle/>
                    <a:p>
                      <a:pPr algn="ctr"/>
                      <a:endParaRPr lang="en-US" sz="1400" b="1" dirty="0"/>
                    </a:p>
                  </a:txBody>
                  <a:tcPr anchor="ctr"/>
                </a:tc>
                <a:tc>
                  <a:txBody>
                    <a:bodyPr/>
                    <a:lstStyle/>
                    <a:p>
                      <a:pPr algn="ctr"/>
                      <a:endParaRPr lang="en-US" sz="1400" b="1"/>
                    </a:p>
                  </a:txBody>
                  <a:tcPr anchor="ctr"/>
                </a:tc>
                <a:tc>
                  <a:txBody>
                    <a:bodyPr/>
                    <a:lstStyle/>
                    <a:p>
                      <a:pPr algn="ctr"/>
                      <a:endParaRPr lang="en-US" sz="1400" b="1"/>
                    </a:p>
                  </a:txBody>
                  <a:tcPr anchor="ctr"/>
                </a:tc>
              </a:tr>
              <a:tr h="669389">
                <a:tc>
                  <a:txBody>
                    <a:bodyPr/>
                    <a:lstStyle/>
                    <a:p>
                      <a:pPr algn="l"/>
                      <a:r>
                        <a:rPr lang="en-US" sz="1400" b="1" dirty="0" smtClean="0"/>
                        <a:t>No. of Services</a:t>
                      </a:r>
                      <a:r>
                        <a:rPr lang="en-US" sz="1400" b="1" baseline="0" dirty="0" smtClean="0"/>
                        <a:t> Taxed (FTA)</a:t>
                      </a:r>
                      <a:endParaRPr lang="en-US" sz="1400" b="1" dirty="0"/>
                    </a:p>
                  </a:txBody>
                  <a:tcPr/>
                </a:tc>
                <a:tc>
                  <a:txBody>
                    <a:bodyPr/>
                    <a:lstStyle/>
                    <a:p>
                      <a:pPr algn="ctr"/>
                      <a:r>
                        <a:rPr lang="en-US" sz="1400" b="1" dirty="0" smtClean="0"/>
                        <a:t>66</a:t>
                      </a:r>
                      <a:endParaRPr lang="en-US" sz="1400" b="1" dirty="0"/>
                    </a:p>
                  </a:txBody>
                  <a:tcPr anchor="ctr"/>
                </a:tc>
                <a:tc>
                  <a:txBody>
                    <a:bodyPr/>
                    <a:lstStyle/>
                    <a:p>
                      <a:pPr algn="ctr"/>
                      <a:r>
                        <a:rPr lang="en-US" sz="1400" b="1" dirty="0" smtClean="0"/>
                        <a:t>17</a:t>
                      </a:r>
                      <a:endParaRPr lang="en-US" sz="1400" b="1" dirty="0"/>
                    </a:p>
                  </a:txBody>
                  <a:tcPr anchor="ctr"/>
                </a:tc>
                <a:tc>
                  <a:txBody>
                    <a:bodyPr/>
                    <a:lstStyle/>
                    <a:p>
                      <a:pPr algn="ctr"/>
                      <a:r>
                        <a:rPr lang="en-US" sz="1400" b="1" dirty="0" smtClean="0"/>
                        <a:t>94</a:t>
                      </a:r>
                      <a:endParaRPr lang="en-US" sz="1400" b="1" dirty="0"/>
                    </a:p>
                  </a:txBody>
                  <a:tcPr anchor="ctr"/>
                </a:tc>
                <a:tc>
                  <a:txBody>
                    <a:bodyPr/>
                    <a:lstStyle/>
                    <a:p>
                      <a:pPr algn="ctr"/>
                      <a:r>
                        <a:rPr lang="en-US" sz="1400" b="1" dirty="0" smtClean="0"/>
                        <a:t>94</a:t>
                      </a:r>
                      <a:endParaRPr lang="en-US" sz="1400" b="1" dirty="0"/>
                    </a:p>
                  </a:txBody>
                  <a:tcPr anchor="ctr"/>
                </a:tc>
                <a:tc>
                  <a:txBody>
                    <a:bodyPr/>
                    <a:lstStyle/>
                    <a:p>
                      <a:pPr algn="ctr"/>
                      <a:r>
                        <a:rPr lang="en-US" sz="1400" b="1" dirty="0" smtClean="0"/>
                        <a:t>26</a:t>
                      </a:r>
                      <a:endParaRPr lang="en-US" sz="1400" b="1" dirty="0"/>
                    </a:p>
                  </a:txBody>
                  <a:tcPr anchor="ctr"/>
                </a:tc>
                <a:tc>
                  <a:txBody>
                    <a:bodyPr/>
                    <a:lstStyle/>
                    <a:p>
                      <a:pPr algn="ctr"/>
                      <a:r>
                        <a:rPr lang="en-US" sz="1400" b="1" dirty="0" smtClean="0"/>
                        <a:t>76</a:t>
                      </a:r>
                      <a:endParaRPr lang="en-US" sz="1400" b="1" dirty="0"/>
                    </a:p>
                  </a:txBody>
                  <a:tcPr anchor="ctr"/>
                </a:tc>
              </a:tr>
              <a:tr h="864627">
                <a:tc>
                  <a:txBody>
                    <a:bodyPr/>
                    <a:lstStyle/>
                    <a:p>
                      <a:pPr algn="l"/>
                      <a:r>
                        <a:rPr lang="en-US" sz="1400" b="1" dirty="0" smtClean="0"/>
                        <a:t>Local Sales Taxes</a:t>
                      </a:r>
                      <a:endParaRPr lang="en-US" sz="1400" b="1" dirty="0"/>
                    </a:p>
                  </a:txBody>
                  <a:tcPr/>
                </a:tc>
                <a:tc>
                  <a:txBody>
                    <a:bodyPr/>
                    <a:lstStyle/>
                    <a:p>
                      <a:pPr algn="ctr"/>
                      <a:r>
                        <a:rPr lang="en-US" sz="1400" b="1" dirty="0" smtClean="0"/>
                        <a:t>23 entities (1% max)</a:t>
                      </a:r>
                      <a:endParaRPr lang="en-US" sz="1400" b="1" dirty="0"/>
                    </a:p>
                  </a:txBody>
                  <a:tcPr anchor="ctr"/>
                </a:tc>
                <a:tc>
                  <a:txBody>
                    <a:bodyPr/>
                    <a:lstStyle/>
                    <a:p>
                      <a:pPr algn="ctr"/>
                      <a:r>
                        <a:rPr lang="en-US" sz="1400" b="1" dirty="0" smtClean="0"/>
                        <a:t>320 entities (2.75% max)</a:t>
                      </a:r>
                      <a:endParaRPr lang="en-US" sz="1400" b="1" dirty="0"/>
                    </a:p>
                  </a:txBody>
                  <a:tcPr anchor="ctr"/>
                </a:tc>
                <a:tc>
                  <a:txBody>
                    <a:bodyPr/>
                    <a:lstStyle/>
                    <a:p>
                      <a:pPr algn="ctr"/>
                      <a:r>
                        <a:rPr lang="en-US" sz="1400" b="1" dirty="0" smtClean="0"/>
                        <a:t>-0-</a:t>
                      </a:r>
                      <a:endParaRPr lang="en-US" sz="1400" b="1" dirty="0"/>
                    </a:p>
                  </a:txBody>
                  <a:tcPr anchor="ctr"/>
                </a:tc>
                <a:tc>
                  <a:txBody>
                    <a:bodyPr/>
                    <a:lstStyle/>
                    <a:p>
                      <a:pPr algn="ctr"/>
                      <a:r>
                        <a:rPr lang="en-US" sz="1400" b="1" dirty="0" smtClean="0"/>
                        <a:t>200+ entities (1% max)</a:t>
                      </a:r>
                      <a:endParaRPr lang="en-US" sz="1400" b="1" dirty="0"/>
                    </a:p>
                  </a:txBody>
                  <a:tcPr anchor="ctr"/>
                </a:tc>
                <a:tc>
                  <a:txBody>
                    <a:bodyPr/>
                    <a:lstStyle/>
                    <a:p>
                      <a:pPr algn="ctr"/>
                      <a:r>
                        <a:rPr lang="en-US" sz="1400" b="1" dirty="0" smtClean="0"/>
                        <a:t>-0-</a:t>
                      </a:r>
                      <a:endParaRPr lang="en-US" sz="1400" b="1" dirty="0"/>
                    </a:p>
                  </a:txBody>
                  <a:tcPr anchor="ctr"/>
                </a:tc>
                <a:tc>
                  <a:txBody>
                    <a:bodyPr/>
                    <a:lstStyle/>
                    <a:p>
                      <a:pPr algn="ctr"/>
                      <a:r>
                        <a:rPr lang="en-US" sz="1400" b="1" dirty="0" smtClean="0"/>
                        <a:t>71 entities (0.5% max)</a:t>
                      </a:r>
                      <a:endParaRPr lang="en-US" sz="1400" b="1" dirty="0"/>
                    </a:p>
                  </a:txBody>
                  <a:tcPr anchor="ctr"/>
                </a:tc>
              </a:tr>
              <a:tr h="348908">
                <a:tc>
                  <a:txBody>
                    <a:bodyPr/>
                    <a:lstStyle/>
                    <a:p>
                      <a:pPr algn="l"/>
                      <a:r>
                        <a:rPr lang="en-US" sz="1400" b="1" dirty="0" smtClean="0"/>
                        <a:t>SST</a:t>
                      </a:r>
                      <a:r>
                        <a:rPr lang="en-US" sz="1400" b="1" baseline="0" dirty="0" smtClean="0"/>
                        <a:t> Member</a:t>
                      </a:r>
                      <a:endParaRPr lang="en-US" sz="1400" b="1" dirty="0"/>
                    </a:p>
                  </a:txBody>
                  <a:tcPr/>
                </a:tc>
                <a:tc>
                  <a:txBody>
                    <a:bodyPr/>
                    <a:lstStyle/>
                    <a:p>
                      <a:pPr algn="ctr"/>
                      <a:r>
                        <a:rPr lang="en-US" sz="1400" b="1" dirty="0" smtClean="0"/>
                        <a:t>Yes</a:t>
                      </a:r>
                      <a:endParaRPr lang="en-US" sz="1400" b="1" dirty="0"/>
                    </a:p>
                  </a:txBody>
                  <a:tcPr anchor="ctr"/>
                </a:tc>
                <a:tc>
                  <a:txBody>
                    <a:bodyPr/>
                    <a:lstStyle/>
                    <a:p>
                      <a:pPr algn="ctr"/>
                      <a:r>
                        <a:rPr lang="en-US" sz="1400" b="1" dirty="0" smtClean="0"/>
                        <a:t>No</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c>
                  <a:txBody>
                    <a:bodyPr/>
                    <a:lstStyle/>
                    <a:p>
                      <a:pPr algn="ctr"/>
                      <a:r>
                        <a:rPr lang="en-US" sz="1400" b="1" dirty="0" smtClean="0"/>
                        <a:t>Yes</a:t>
                      </a:r>
                      <a:endParaRPr lang="en-US" sz="1400" b="1" dirty="0"/>
                    </a:p>
                  </a:txBody>
                  <a:tcPr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88D80B-5099-4EA5-9278-28D7FF0AAEC5}" type="slidenum">
              <a:rPr lang="en-GB" smtClean="0"/>
              <a:pPr/>
              <a:t>17</a:t>
            </a:fld>
            <a:endParaRPr lang="en-GB"/>
          </a:p>
        </p:txBody>
      </p:sp>
      <p:graphicFrame>
        <p:nvGraphicFramePr>
          <p:cNvPr id="4" name="Group 45"/>
          <p:cNvGraphicFramePr>
            <a:graphicFrameLocks noGrp="1"/>
          </p:cNvGraphicFramePr>
          <p:nvPr/>
        </p:nvGraphicFramePr>
        <p:xfrm>
          <a:off x="685800" y="2667000"/>
          <a:ext cx="7797801" cy="1221232"/>
        </p:xfrm>
        <a:graphic>
          <a:graphicData uri="http://schemas.openxmlformats.org/drawingml/2006/table">
            <a:tbl>
              <a:tblPr/>
              <a:tblGrid>
                <a:gridCol w="2599267"/>
                <a:gridCol w="2599267"/>
                <a:gridCol w="2599267"/>
              </a:tblGrid>
              <a:tr h="492760">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2060"/>
                          </a:solidFill>
                          <a:effectLst/>
                          <a:latin typeface="Arial" pitchFamily="34" charset="0"/>
                          <a:cs typeface="Arial" pitchFamily="34" charset="0"/>
                        </a:rPr>
                        <a:t>Presenter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GB" sz="1400" b="1" dirty="0" smtClean="0">
                        <a:solidFill>
                          <a:srgbClr val="FFFFFF"/>
                        </a:solidFill>
                        <a:effectLst>
                          <a:outerShdw blurRad="38100" dist="38100" dir="2700000" algn="tl">
                            <a:srgbClr val="000000"/>
                          </a:outerShdw>
                        </a:effectLs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GB" sz="1400" b="1" dirty="0" smtClean="0">
                        <a:solidFill>
                          <a:srgbClr val="FFFFFF"/>
                        </a:solidFill>
                        <a:effectLst>
                          <a:outerShdw blurRad="38100" dist="38100" dir="2700000" algn="tl">
                            <a:srgbClr val="000000"/>
                          </a:outerShdw>
                        </a:effectLs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7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300" b="1" i="0" u="none" strike="noStrike" cap="none" normalizeH="0" baseline="0" dirty="0" smtClean="0">
                          <a:ln>
                            <a:noFill/>
                          </a:ln>
                          <a:solidFill>
                            <a:srgbClr val="4066AA"/>
                          </a:solidFill>
                          <a:effectLst/>
                          <a:latin typeface="Arial" pitchFamily="34" charset="0"/>
                          <a:cs typeface="Arial" pitchFamily="34" charset="0"/>
                        </a:rPr>
                        <a:t>Harley Duncan</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1" i="1" u="none" strike="noStrike" cap="none" normalizeH="0" baseline="0" dirty="0" smtClean="0">
                          <a:ln>
                            <a:noFill/>
                          </a:ln>
                          <a:solidFill>
                            <a:srgbClr val="4066AA"/>
                          </a:solidFill>
                          <a:effectLst/>
                          <a:latin typeface="Arial" pitchFamily="34" charset="0"/>
                          <a:cs typeface="Arial" pitchFamily="34" charset="0"/>
                        </a:rPr>
                        <a:t>Washington National Tax</a:t>
                      </a:r>
                      <a:endParaRPr kumimoji="0" lang="en-US" sz="1200" b="1" i="0" u="none" strike="noStrike" cap="none" normalizeH="0" baseline="0" dirty="0" smtClean="0">
                        <a:ln>
                          <a:noFill/>
                        </a:ln>
                        <a:solidFill>
                          <a:srgbClr val="4066AA"/>
                        </a:solidFill>
                        <a:effectLst/>
                        <a:latin typeface="Arial" pitchFamily="34" charset="0"/>
                        <a:cs typeface="Arial"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200" b="1" i="1" u="none" strike="noStrike" cap="none" normalizeH="0" baseline="0" dirty="0" smtClean="0">
                          <a:ln>
                            <a:noFill/>
                          </a:ln>
                          <a:solidFill>
                            <a:srgbClr val="4066AA"/>
                          </a:solidFill>
                          <a:effectLst/>
                          <a:latin typeface="Arial" pitchFamily="34" charset="0"/>
                          <a:cs typeface="Arial" pitchFamily="34" charset="0"/>
                        </a:rPr>
                        <a:t>Managing Director</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1200" b="1" dirty="0" smtClean="0">
                          <a:solidFill>
                            <a:srgbClr val="4066AA"/>
                          </a:solidFill>
                          <a:effectLst/>
                        </a:rPr>
                        <a:t>hduncan@kpmg.com</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dirty="0" smtClean="0">
                          <a:ln>
                            <a:noFill/>
                          </a:ln>
                          <a:solidFill>
                            <a:srgbClr val="4066AA"/>
                          </a:solidFill>
                          <a:effectLst/>
                          <a:latin typeface="Arial" pitchFamily="34" charset="0"/>
                          <a:cs typeface="Arial" pitchFamily="34" charset="0"/>
                        </a:rPr>
                        <a:t>202-533-3254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theme/theme1.xml><?xml version="1.0" encoding="utf-8"?>
<a:theme xmlns:a="http://schemas.openxmlformats.org/drawingml/2006/main" name="Powerpoint_US_Letter_Template_200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PMG_CREATE_US_Template_2003">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KPMG_CREATE_US_Template_2003 1">
        <a:dk1>
          <a:srgbClr val="00338D"/>
        </a:dk1>
        <a:lt1>
          <a:srgbClr val="FFFFFF"/>
        </a:lt1>
        <a:dk2>
          <a:srgbClr val="000000"/>
        </a:dk2>
        <a:lt2>
          <a:srgbClr val="BABBBC"/>
        </a:lt2>
        <a:accent1>
          <a:srgbClr val="007C92"/>
        </a:accent1>
        <a:accent2>
          <a:srgbClr val="409DAD"/>
        </a:accent2>
        <a:accent3>
          <a:srgbClr val="FFFFFF"/>
        </a:accent3>
        <a:accent4>
          <a:srgbClr val="002A78"/>
        </a:accent4>
        <a:accent5>
          <a:srgbClr val="AABFC7"/>
        </a:accent5>
        <a:accent6>
          <a:srgbClr val="398E9C"/>
        </a:accent6>
        <a:hlink>
          <a:srgbClr val="80BEC9"/>
        </a:hlink>
        <a:folHlink>
          <a:srgbClr val="BFDEE4"/>
        </a:folHlink>
      </a:clrScheme>
      <a:clrMap bg1="lt1" tx1="dk1" bg2="lt2" tx2="dk2" accent1="accent1" accent2="accent2" accent3="accent3" accent4="accent4" accent5="accent5" accent6="accent6" hlink="hlink" folHlink="folHlink"/>
    </a:extraClrScheme>
    <a:extraClrScheme>
      <a:clrScheme name="KPMG_CREATE_US_Template_2003 2">
        <a:dk1>
          <a:srgbClr val="00338D"/>
        </a:dk1>
        <a:lt1>
          <a:srgbClr val="FFFFFF"/>
        </a:lt1>
        <a:dk2>
          <a:srgbClr val="000000"/>
        </a:dk2>
        <a:lt2>
          <a:srgbClr val="BABBBC"/>
        </a:lt2>
        <a:accent1>
          <a:srgbClr val="8E258D"/>
        </a:accent1>
        <a:accent2>
          <a:srgbClr val="AA5CAA"/>
        </a:accent2>
        <a:accent3>
          <a:srgbClr val="FFFFFF"/>
        </a:accent3>
        <a:accent4>
          <a:srgbClr val="002A78"/>
        </a:accent4>
        <a:accent5>
          <a:srgbClr val="C6AC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_CREATE_US_Template_2003 3">
        <a:dk1>
          <a:srgbClr val="8E258D"/>
        </a:dk1>
        <a:lt1>
          <a:srgbClr val="FFFFFF"/>
        </a:lt1>
        <a:dk2>
          <a:srgbClr val="000000"/>
        </a:dk2>
        <a:lt2>
          <a:srgbClr val="BABBBC"/>
        </a:lt2>
        <a:accent1>
          <a:srgbClr val="00338D"/>
        </a:accent1>
        <a:accent2>
          <a:srgbClr val="AA5CAA"/>
        </a:accent2>
        <a:accent3>
          <a:srgbClr val="FFFFFF"/>
        </a:accent3>
        <a:accent4>
          <a:srgbClr val="781E78"/>
        </a:accent4>
        <a:accent5>
          <a:srgbClr val="AAAD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_CREATE_US_Template_2003 4">
        <a:dk1>
          <a:srgbClr val="000000"/>
        </a:dk1>
        <a:lt1>
          <a:srgbClr val="FFFFFF"/>
        </a:lt1>
        <a:dk2>
          <a:srgbClr val="000000"/>
        </a:dk2>
        <a:lt2>
          <a:srgbClr val="747678"/>
        </a:lt2>
        <a:accent1>
          <a:srgbClr val="00338D"/>
        </a:accent1>
        <a:accent2>
          <a:srgbClr val="6A7F10"/>
        </a:accent2>
        <a:accent3>
          <a:srgbClr val="FFFFFF"/>
        </a:accent3>
        <a:accent4>
          <a:srgbClr val="000000"/>
        </a:accent4>
        <a:accent5>
          <a:srgbClr val="AAADC5"/>
        </a:accent5>
        <a:accent6>
          <a:srgbClr val="5F720D"/>
        </a:accent6>
        <a:hlink>
          <a:srgbClr val="8E258D"/>
        </a:hlink>
        <a:folHlink>
          <a:srgbClr val="007C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KPMG Divider">
  <a:themeElements>
    <a:clrScheme name="KPMG Divider 4">
      <a:dk1>
        <a:srgbClr val="000000"/>
      </a:dk1>
      <a:lt1>
        <a:srgbClr val="FFFFFF"/>
      </a:lt1>
      <a:dk2>
        <a:srgbClr val="000000"/>
      </a:dk2>
      <a:lt2>
        <a:srgbClr val="747678"/>
      </a:lt2>
      <a:accent1>
        <a:srgbClr val="00338D"/>
      </a:accent1>
      <a:accent2>
        <a:srgbClr val="6A7F10"/>
      </a:accent2>
      <a:accent3>
        <a:srgbClr val="FFFFFF"/>
      </a:accent3>
      <a:accent4>
        <a:srgbClr val="000000"/>
      </a:accent4>
      <a:accent5>
        <a:srgbClr val="AAADC5"/>
      </a:accent5>
      <a:accent6>
        <a:srgbClr val="5F720D"/>
      </a:accent6>
      <a:hlink>
        <a:srgbClr val="8E258D"/>
      </a:hlink>
      <a:folHlink>
        <a:srgbClr val="007C92"/>
      </a:folHlink>
    </a:clrScheme>
    <a:fontScheme name="KPMG Divider">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KPMG Divider 1">
        <a:dk1>
          <a:srgbClr val="00338D"/>
        </a:dk1>
        <a:lt1>
          <a:srgbClr val="FFFFFF"/>
        </a:lt1>
        <a:dk2>
          <a:srgbClr val="000000"/>
        </a:dk2>
        <a:lt2>
          <a:srgbClr val="BABBBC"/>
        </a:lt2>
        <a:accent1>
          <a:srgbClr val="007C92"/>
        </a:accent1>
        <a:accent2>
          <a:srgbClr val="409DAD"/>
        </a:accent2>
        <a:accent3>
          <a:srgbClr val="FFFFFF"/>
        </a:accent3>
        <a:accent4>
          <a:srgbClr val="002A78"/>
        </a:accent4>
        <a:accent5>
          <a:srgbClr val="AABFC7"/>
        </a:accent5>
        <a:accent6>
          <a:srgbClr val="398E9C"/>
        </a:accent6>
        <a:hlink>
          <a:srgbClr val="80BEC9"/>
        </a:hlink>
        <a:folHlink>
          <a:srgbClr val="BFDEE4"/>
        </a:folHlink>
      </a:clrScheme>
      <a:clrMap bg1="lt1" tx1="dk1" bg2="lt2" tx2="dk2" accent1="accent1" accent2="accent2" accent3="accent3" accent4="accent4" accent5="accent5" accent6="accent6" hlink="hlink" folHlink="folHlink"/>
    </a:extraClrScheme>
    <a:extraClrScheme>
      <a:clrScheme name="KPMG Divider 2">
        <a:dk1>
          <a:srgbClr val="00338D"/>
        </a:dk1>
        <a:lt1>
          <a:srgbClr val="FFFFFF"/>
        </a:lt1>
        <a:dk2>
          <a:srgbClr val="000000"/>
        </a:dk2>
        <a:lt2>
          <a:srgbClr val="BABBBC"/>
        </a:lt2>
        <a:accent1>
          <a:srgbClr val="8E258D"/>
        </a:accent1>
        <a:accent2>
          <a:srgbClr val="AA5CAA"/>
        </a:accent2>
        <a:accent3>
          <a:srgbClr val="FFFFFF"/>
        </a:accent3>
        <a:accent4>
          <a:srgbClr val="002A78"/>
        </a:accent4>
        <a:accent5>
          <a:srgbClr val="C6AC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 Divider 3">
        <a:dk1>
          <a:srgbClr val="8E258D"/>
        </a:dk1>
        <a:lt1>
          <a:srgbClr val="FFFFFF"/>
        </a:lt1>
        <a:dk2>
          <a:srgbClr val="000000"/>
        </a:dk2>
        <a:lt2>
          <a:srgbClr val="BABBBC"/>
        </a:lt2>
        <a:accent1>
          <a:srgbClr val="00338D"/>
        </a:accent1>
        <a:accent2>
          <a:srgbClr val="AA5CAA"/>
        </a:accent2>
        <a:accent3>
          <a:srgbClr val="FFFFFF"/>
        </a:accent3>
        <a:accent4>
          <a:srgbClr val="781E78"/>
        </a:accent4>
        <a:accent5>
          <a:srgbClr val="AAAD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 Divider 4">
        <a:dk1>
          <a:srgbClr val="000000"/>
        </a:dk1>
        <a:lt1>
          <a:srgbClr val="FFFFFF"/>
        </a:lt1>
        <a:dk2>
          <a:srgbClr val="000000"/>
        </a:dk2>
        <a:lt2>
          <a:srgbClr val="747678"/>
        </a:lt2>
        <a:accent1>
          <a:srgbClr val="00338D"/>
        </a:accent1>
        <a:accent2>
          <a:srgbClr val="6A7F10"/>
        </a:accent2>
        <a:accent3>
          <a:srgbClr val="FFFFFF"/>
        </a:accent3>
        <a:accent4>
          <a:srgbClr val="000000"/>
        </a:accent4>
        <a:accent5>
          <a:srgbClr val="AAADC5"/>
        </a:accent5>
        <a:accent6>
          <a:srgbClr val="5F720D"/>
        </a:accent6>
        <a:hlink>
          <a:srgbClr val="8E258D"/>
        </a:hlink>
        <a:folHlink>
          <a:srgbClr val="007C9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KPMG Thank You">
  <a:themeElements>
    <a:clrScheme name="KPMG Thank You 4">
      <a:dk1>
        <a:srgbClr val="000000"/>
      </a:dk1>
      <a:lt1>
        <a:srgbClr val="FFFFFF"/>
      </a:lt1>
      <a:dk2>
        <a:srgbClr val="000000"/>
      </a:dk2>
      <a:lt2>
        <a:srgbClr val="747678"/>
      </a:lt2>
      <a:accent1>
        <a:srgbClr val="00338D"/>
      </a:accent1>
      <a:accent2>
        <a:srgbClr val="6A7F10"/>
      </a:accent2>
      <a:accent3>
        <a:srgbClr val="FFFFFF"/>
      </a:accent3>
      <a:accent4>
        <a:srgbClr val="000000"/>
      </a:accent4>
      <a:accent5>
        <a:srgbClr val="AAADC5"/>
      </a:accent5>
      <a:accent6>
        <a:srgbClr val="5F720D"/>
      </a:accent6>
      <a:hlink>
        <a:srgbClr val="8E258D"/>
      </a:hlink>
      <a:folHlink>
        <a:srgbClr val="007C92"/>
      </a:folHlink>
    </a:clrScheme>
    <a:fontScheme name="KPMG Thank You">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KPMG Thank You 1">
        <a:dk1>
          <a:srgbClr val="00338D"/>
        </a:dk1>
        <a:lt1>
          <a:srgbClr val="FFFFFF"/>
        </a:lt1>
        <a:dk2>
          <a:srgbClr val="000000"/>
        </a:dk2>
        <a:lt2>
          <a:srgbClr val="BABBBC"/>
        </a:lt2>
        <a:accent1>
          <a:srgbClr val="007C92"/>
        </a:accent1>
        <a:accent2>
          <a:srgbClr val="409DAD"/>
        </a:accent2>
        <a:accent3>
          <a:srgbClr val="FFFFFF"/>
        </a:accent3>
        <a:accent4>
          <a:srgbClr val="002A78"/>
        </a:accent4>
        <a:accent5>
          <a:srgbClr val="AABFC7"/>
        </a:accent5>
        <a:accent6>
          <a:srgbClr val="398E9C"/>
        </a:accent6>
        <a:hlink>
          <a:srgbClr val="80BEC9"/>
        </a:hlink>
        <a:folHlink>
          <a:srgbClr val="BFDEE4"/>
        </a:folHlink>
      </a:clrScheme>
      <a:clrMap bg1="lt1" tx1="dk1" bg2="lt2" tx2="dk2" accent1="accent1" accent2="accent2" accent3="accent3" accent4="accent4" accent5="accent5" accent6="accent6" hlink="hlink" folHlink="folHlink"/>
    </a:extraClrScheme>
    <a:extraClrScheme>
      <a:clrScheme name="KPMG Thank You 2">
        <a:dk1>
          <a:srgbClr val="00338D"/>
        </a:dk1>
        <a:lt1>
          <a:srgbClr val="FFFFFF"/>
        </a:lt1>
        <a:dk2>
          <a:srgbClr val="000000"/>
        </a:dk2>
        <a:lt2>
          <a:srgbClr val="BABBBC"/>
        </a:lt2>
        <a:accent1>
          <a:srgbClr val="8E258D"/>
        </a:accent1>
        <a:accent2>
          <a:srgbClr val="AA5CAA"/>
        </a:accent2>
        <a:accent3>
          <a:srgbClr val="FFFFFF"/>
        </a:accent3>
        <a:accent4>
          <a:srgbClr val="002A78"/>
        </a:accent4>
        <a:accent5>
          <a:srgbClr val="C6AC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 Thank You 3">
        <a:dk1>
          <a:srgbClr val="8E258D"/>
        </a:dk1>
        <a:lt1>
          <a:srgbClr val="FFFFFF"/>
        </a:lt1>
        <a:dk2>
          <a:srgbClr val="000000"/>
        </a:dk2>
        <a:lt2>
          <a:srgbClr val="BABBBC"/>
        </a:lt2>
        <a:accent1>
          <a:srgbClr val="00338D"/>
        </a:accent1>
        <a:accent2>
          <a:srgbClr val="AA5CAA"/>
        </a:accent2>
        <a:accent3>
          <a:srgbClr val="FFFFFF"/>
        </a:accent3>
        <a:accent4>
          <a:srgbClr val="781E78"/>
        </a:accent4>
        <a:accent5>
          <a:srgbClr val="AAAD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 Thank You 4">
        <a:dk1>
          <a:srgbClr val="000000"/>
        </a:dk1>
        <a:lt1>
          <a:srgbClr val="FFFFFF"/>
        </a:lt1>
        <a:dk2>
          <a:srgbClr val="000000"/>
        </a:dk2>
        <a:lt2>
          <a:srgbClr val="747678"/>
        </a:lt2>
        <a:accent1>
          <a:srgbClr val="00338D"/>
        </a:accent1>
        <a:accent2>
          <a:srgbClr val="6A7F10"/>
        </a:accent2>
        <a:accent3>
          <a:srgbClr val="FFFFFF"/>
        </a:accent3>
        <a:accent4>
          <a:srgbClr val="000000"/>
        </a:accent4>
        <a:accent5>
          <a:srgbClr val="AAADC5"/>
        </a:accent5>
        <a:accent6>
          <a:srgbClr val="5F720D"/>
        </a:accent6>
        <a:hlink>
          <a:srgbClr val="8E258D"/>
        </a:hlink>
        <a:folHlink>
          <a:srgbClr val="007C9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KPMG Disclaimer">
  <a:themeElements>
    <a:clrScheme name="KPMG Disclaimer 4">
      <a:dk1>
        <a:srgbClr val="000000"/>
      </a:dk1>
      <a:lt1>
        <a:srgbClr val="FFFFFF"/>
      </a:lt1>
      <a:dk2>
        <a:srgbClr val="000000"/>
      </a:dk2>
      <a:lt2>
        <a:srgbClr val="747678"/>
      </a:lt2>
      <a:accent1>
        <a:srgbClr val="00338D"/>
      </a:accent1>
      <a:accent2>
        <a:srgbClr val="6A7F10"/>
      </a:accent2>
      <a:accent3>
        <a:srgbClr val="FFFFFF"/>
      </a:accent3>
      <a:accent4>
        <a:srgbClr val="000000"/>
      </a:accent4>
      <a:accent5>
        <a:srgbClr val="AAADC5"/>
      </a:accent5>
      <a:accent6>
        <a:srgbClr val="5F720D"/>
      </a:accent6>
      <a:hlink>
        <a:srgbClr val="8E258D"/>
      </a:hlink>
      <a:folHlink>
        <a:srgbClr val="007C92"/>
      </a:folHlink>
    </a:clrScheme>
    <a:fontScheme name="KPMG Disclaimer">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12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KPMG Disclaimer 1">
        <a:dk1>
          <a:srgbClr val="00338D"/>
        </a:dk1>
        <a:lt1>
          <a:srgbClr val="FFFFFF"/>
        </a:lt1>
        <a:dk2>
          <a:srgbClr val="000000"/>
        </a:dk2>
        <a:lt2>
          <a:srgbClr val="BABBBC"/>
        </a:lt2>
        <a:accent1>
          <a:srgbClr val="007C92"/>
        </a:accent1>
        <a:accent2>
          <a:srgbClr val="409DAD"/>
        </a:accent2>
        <a:accent3>
          <a:srgbClr val="FFFFFF"/>
        </a:accent3>
        <a:accent4>
          <a:srgbClr val="002A78"/>
        </a:accent4>
        <a:accent5>
          <a:srgbClr val="AABFC7"/>
        </a:accent5>
        <a:accent6>
          <a:srgbClr val="398E9C"/>
        </a:accent6>
        <a:hlink>
          <a:srgbClr val="80BEC9"/>
        </a:hlink>
        <a:folHlink>
          <a:srgbClr val="BFDEE4"/>
        </a:folHlink>
      </a:clrScheme>
      <a:clrMap bg1="lt1" tx1="dk1" bg2="lt2" tx2="dk2" accent1="accent1" accent2="accent2" accent3="accent3" accent4="accent4" accent5="accent5" accent6="accent6" hlink="hlink" folHlink="folHlink"/>
    </a:extraClrScheme>
    <a:extraClrScheme>
      <a:clrScheme name="KPMG Disclaimer 2">
        <a:dk1>
          <a:srgbClr val="00338D"/>
        </a:dk1>
        <a:lt1>
          <a:srgbClr val="FFFFFF"/>
        </a:lt1>
        <a:dk2>
          <a:srgbClr val="000000"/>
        </a:dk2>
        <a:lt2>
          <a:srgbClr val="BABBBC"/>
        </a:lt2>
        <a:accent1>
          <a:srgbClr val="8E258D"/>
        </a:accent1>
        <a:accent2>
          <a:srgbClr val="AA5CAA"/>
        </a:accent2>
        <a:accent3>
          <a:srgbClr val="FFFFFF"/>
        </a:accent3>
        <a:accent4>
          <a:srgbClr val="002A78"/>
        </a:accent4>
        <a:accent5>
          <a:srgbClr val="C6AC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 Disclaimer 3">
        <a:dk1>
          <a:srgbClr val="8E258D"/>
        </a:dk1>
        <a:lt1>
          <a:srgbClr val="FFFFFF"/>
        </a:lt1>
        <a:dk2>
          <a:srgbClr val="000000"/>
        </a:dk2>
        <a:lt2>
          <a:srgbClr val="BABBBC"/>
        </a:lt2>
        <a:accent1>
          <a:srgbClr val="00338D"/>
        </a:accent1>
        <a:accent2>
          <a:srgbClr val="AA5CAA"/>
        </a:accent2>
        <a:accent3>
          <a:srgbClr val="FFFFFF"/>
        </a:accent3>
        <a:accent4>
          <a:srgbClr val="781E78"/>
        </a:accent4>
        <a:accent5>
          <a:srgbClr val="AAADC5"/>
        </a:accent5>
        <a:accent6>
          <a:srgbClr val="9A539A"/>
        </a:accent6>
        <a:hlink>
          <a:srgbClr val="C792C6"/>
        </a:hlink>
        <a:folHlink>
          <a:srgbClr val="E3C9E3"/>
        </a:folHlink>
      </a:clrScheme>
      <a:clrMap bg1="lt1" tx1="dk1" bg2="lt2" tx2="dk2" accent1="accent1" accent2="accent2" accent3="accent3" accent4="accent4" accent5="accent5" accent6="accent6" hlink="hlink" folHlink="folHlink"/>
    </a:extraClrScheme>
    <a:extraClrScheme>
      <a:clrScheme name="KPMG Disclaimer 4">
        <a:dk1>
          <a:srgbClr val="000000"/>
        </a:dk1>
        <a:lt1>
          <a:srgbClr val="FFFFFF"/>
        </a:lt1>
        <a:dk2>
          <a:srgbClr val="000000"/>
        </a:dk2>
        <a:lt2>
          <a:srgbClr val="747678"/>
        </a:lt2>
        <a:accent1>
          <a:srgbClr val="00338D"/>
        </a:accent1>
        <a:accent2>
          <a:srgbClr val="6A7F10"/>
        </a:accent2>
        <a:accent3>
          <a:srgbClr val="FFFFFF"/>
        </a:accent3>
        <a:accent4>
          <a:srgbClr val="000000"/>
        </a:accent4>
        <a:accent5>
          <a:srgbClr val="AAADC5"/>
        </a:accent5>
        <a:accent6>
          <a:srgbClr val="5F720D"/>
        </a:accent6>
        <a:hlink>
          <a:srgbClr val="8E258D"/>
        </a:hlink>
        <a:folHlink>
          <a:srgbClr val="007C9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Powerpoint_US_Letter_Template_2007</Template>
  <TotalTime>2760</TotalTime>
  <Words>1118</Words>
  <Application>Microsoft Office PowerPoint</Application>
  <PresentationFormat>Letter Paper (8.5x11 in)</PresentationFormat>
  <Paragraphs>234</Paragraphs>
  <Slides>18</Slides>
  <Notes>4</Notes>
  <HiddenSlides>0</HiddenSlides>
  <MMClips>0</MMClips>
  <ScaleCrop>false</ScaleCrop>
  <HeadingPairs>
    <vt:vector size="4" baseType="variant">
      <vt:variant>
        <vt:lpstr>Theme</vt:lpstr>
      </vt:variant>
      <vt:variant>
        <vt:i4>4</vt:i4>
      </vt:variant>
      <vt:variant>
        <vt:lpstr>Slide Titles</vt:lpstr>
      </vt:variant>
      <vt:variant>
        <vt:i4>18</vt:i4>
      </vt:variant>
    </vt:vector>
  </HeadingPairs>
  <TitlesOfParts>
    <vt:vector size="22" baseType="lpstr">
      <vt:lpstr>Powerpoint_US_Letter_Template_2007</vt:lpstr>
      <vt:lpstr>KPMG Divider</vt:lpstr>
      <vt:lpstr>KPMG Thank You</vt:lpstr>
      <vt:lpstr>KPMG Disclaimer</vt:lpstr>
      <vt:lpstr>Minnesota Taxes in Comparison  </vt:lpstr>
      <vt:lpstr>Slide 1</vt:lpstr>
      <vt:lpstr>State –Local Tax Mix:  Minnesota v. U.S.</vt:lpstr>
      <vt:lpstr>State-Local Tax Mix:  Minnesota vs. Great Lake States</vt:lpstr>
      <vt:lpstr>Minnesota vs. U.S.</vt:lpstr>
      <vt:lpstr>Tax Burdens: 1977 – 2009 [Taxes as Percent of Personal Income]</vt:lpstr>
      <vt:lpstr>Structural Characteristics</vt:lpstr>
      <vt:lpstr>State-Local Tax Mix:  Minnesota and U.S. Percentage Distribution of State and Local Taxes -- 2009</vt:lpstr>
      <vt:lpstr>State – Local Tax Mix:  Upper Midwest Percentage Distribution of State and Local Taxes in Selected States – 2009</vt:lpstr>
      <vt:lpstr>State Tax Mix:  U.S. and Minnesota Percentage Distribution of State Taxes -- 2009</vt:lpstr>
      <vt:lpstr>Local Tax Mix:  U.S. and Minnesota Percentage Distribution of Local Taxes – 2009 </vt:lpstr>
      <vt:lpstr>State Tax Mix:  Upper Midwest Percentage Distribution of State Taxes in Selected States – 2009</vt:lpstr>
      <vt:lpstr>State-Local Tax Burden Over Time State-Local Taxes as Percent of Personal Income – Various Years</vt:lpstr>
      <vt:lpstr>State Tax Burden Over Time StateTaxes as Percent of Personal Income – Various Years</vt:lpstr>
      <vt:lpstr>Corporate Income Tax Features</vt:lpstr>
      <vt:lpstr>Personal Income Tax Characteristics</vt:lpstr>
      <vt:lpstr>Sales Tax Characteristics</vt:lpstr>
      <vt:lpstr>Slide 17</vt:lpstr>
    </vt:vector>
  </TitlesOfParts>
  <Company>KPMG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style in Arial Bold Sentence case 30pt</dc:title>
  <dc:creator>KPMG</dc:creator>
  <dc:description>built by: www.mediasterling.com</dc:description>
  <cp:lastModifiedBy>Kate Cimino</cp:lastModifiedBy>
  <cp:revision>346</cp:revision>
  <dcterms:created xsi:type="dcterms:W3CDTF">2010-11-29T20:29:37Z</dcterms:created>
  <dcterms:modified xsi:type="dcterms:W3CDTF">2012-01-30T17:02:53Z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1.1</vt:lpwstr>
  </property>
</Properties>
</file>