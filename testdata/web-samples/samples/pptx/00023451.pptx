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9" r:id="rId1"/>
  </p:sldMasterIdLst>
  <p:notesMasterIdLst>
    <p:notesMasterId r:id="rId9"/>
  </p:notesMasterIdLst>
  <p:sldIdLst>
    <p:sldId id="256" r:id="rId2"/>
    <p:sldId id="259" r:id="rId3"/>
    <p:sldId id="355" r:id="rId4"/>
    <p:sldId id="358" r:id="rId5"/>
    <p:sldId id="356" r:id="rId6"/>
    <p:sldId id="260" r:id="rId7"/>
    <p:sldId id="360" r:id="rId8"/>
  </p:sldIdLst>
  <p:sldSz cx="9144000" cy="6858000" type="screen4x3"/>
  <p:notesSz cx="6934200" cy="9220200"/>
  <p:embeddedFontLst>
    <p:embeddedFont>
      <p:font typeface="Arial Black" pitchFamily="34" charset="0"/>
      <p:bold r:id="rId10"/>
    </p:embeddedFont>
    <p:embeddedFont>
      <p:font typeface="Arial Rounded MT Bold" pitchFamily="34" charset="0"/>
      <p:regular r:id="rId11"/>
    </p:embeddedFont>
    <p:embeddedFont>
      <p:font typeface="Arial Narrow" pitchFamily="34" charset="0"/>
      <p:regular r:id="rId12"/>
      <p:bold r:id="rId13"/>
      <p:italic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824604"/>
    <a:srgbClr val="733C13"/>
    <a:srgbClr val="996600"/>
    <a:srgbClr val="042096"/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47" autoAdjust="0"/>
    <p:restoredTop sz="94605" autoAdjust="0"/>
  </p:normalViewPr>
  <p:slideViewPr>
    <p:cSldViewPr snapToGrid="0" showGuides="1">
      <p:cViewPr>
        <p:scale>
          <a:sx n="100" d="100"/>
          <a:sy n="100" d="100"/>
        </p:scale>
        <p:origin x="-62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>
        <p:scale>
          <a:sx n="100" d="100"/>
          <a:sy n="100" d="100"/>
        </p:scale>
        <p:origin x="-715" y="-62"/>
      </p:cViewPr>
      <p:guideLst>
        <p:guide orient="horz" pos="2904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xiz\Documents\Dev%20path,reactors%20etc\Dev%20Paths\FusionPlanCostFinalVL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42"/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Funding Profile During</a:t>
            </a:r>
            <a:r>
              <a:rPr lang="en-US" baseline="0" dirty="0" smtClean="0"/>
              <a:t> Period Leading to</a:t>
            </a:r>
            <a:r>
              <a:rPr lang="en-US" dirty="0" smtClean="0"/>
              <a:t> </a:t>
            </a:r>
            <a:r>
              <a:rPr lang="en-US" dirty="0"/>
              <a:t>CTF Construction </a:t>
            </a:r>
            <a:r>
              <a:rPr lang="en-US" dirty="0" smtClean="0"/>
              <a:t>(2003 $M )</a:t>
            </a:r>
            <a:endParaRPr lang="en-US" dirty="0"/>
          </a:p>
        </c:rich>
      </c:tx>
      <c:layout/>
    </c:title>
    <c:plotArea>
      <c:layout/>
      <c:barChart>
        <c:barDir val="col"/>
        <c:grouping val="stacked"/>
        <c:ser>
          <c:idx val="0"/>
          <c:order val="0"/>
          <c:tx>
            <c:strRef>
              <c:f>Sheet1!$B$35</c:f>
              <c:strCache>
                <c:ptCount val="1"/>
                <c:pt idx="0">
                  <c:v>Materials Science Development</c:v>
                </c:pt>
              </c:strCache>
            </c:strRef>
          </c:tx>
          <c:val>
            <c:numRef>
              <c:f>Sheet1!$C$35:$V$35</c:f>
              <c:numCache>
                <c:formatCode>0.0</c:formatCode>
                <c:ptCount val="20"/>
                <c:pt idx="0">
                  <c:v>7.8</c:v>
                </c:pt>
                <c:pt idx="1">
                  <c:v>15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  <c:pt idx="5">
                  <c:v>26</c:v>
                </c:pt>
                <c:pt idx="6">
                  <c:v>39</c:v>
                </c:pt>
                <c:pt idx="7">
                  <c:v>43</c:v>
                </c:pt>
                <c:pt idx="8">
                  <c:v>47</c:v>
                </c:pt>
                <c:pt idx="9">
                  <c:v>49</c:v>
                </c:pt>
                <c:pt idx="10">
                  <c:v>47</c:v>
                </c:pt>
                <c:pt idx="11">
                  <c:v>48</c:v>
                </c:pt>
                <c:pt idx="12">
                  <c:v>48</c:v>
                </c:pt>
                <c:pt idx="13">
                  <c:v>59</c:v>
                </c:pt>
                <c:pt idx="14">
                  <c:v>56</c:v>
                </c:pt>
                <c:pt idx="15">
                  <c:v>55</c:v>
                </c:pt>
                <c:pt idx="16">
                  <c:v>53</c:v>
                </c:pt>
                <c:pt idx="17">
                  <c:v>53</c:v>
                </c:pt>
                <c:pt idx="18">
                  <c:v>52</c:v>
                </c:pt>
                <c:pt idx="19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Sheet1!$B$36</c:f>
              <c:strCache>
                <c:ptCount val="1"/>
                <c:pt idx="0">
                  <c:v>Fusion Energy Technology</c:v>
                </c:pt>
              </c:strCache>
            </c:strRef>
          </c:tx>
          <c:val>
            <c:numRef>
              <c:f>Sheet1!$C$36:$V$36</c:f>
              <c:numCache>
                <c:formatCode>0.0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34</c:v>
                </c:pt>
                <c:pt idx="7">
                  <c:v>44</c:v>
                </c:pt>
                <c:pt idx="8">
                  <c:v>45</c:v>
                </c:pt>
                <c:pt idx="9">
                  <c:v>46</c:v>
                </c:pt>
                <c:pt idx="10">
                  <c:v>47</c:v>
                </c:pt>
                <c:pt idx="11">
                  <c:v>49</c:v>
                </c:pt>
                <c:pt idx="12">
                  <c:v>54</c:v>
                </c:pt>
                <c:pt idx="13">
                  <c:v>58</c:v>
                </c:pt>
                <c:pt idx="14">
                  <c:v>63</c:v>
                </c:pt>
                <c:pt idx="15">
                  <c:v>68</c:v>
                </c:pt>
                <c:pt idx="16">
                  <c:v>73</c:v>
                </c:pt>
                <c:pt idx="17">
                  <c:v>77</c:v>
                </c:pt>
                <c:pt idx="18">
                  <c:v>80</c:v>
                </c:pt>
                <c:pt idx="19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Sheet1!$B$37</c:f>
              <c:strCache>
                <c:ptCount val="1"/>
                <c:pt idx="0">
                  <c:v>Plasma Technology</c:v>
                </c:pt>
              </c:strCache>
            </c:strRef>
          </c:tx>
          <c:val>
            <c:numRef>
              <c:f>Sheet1!$C$37:$V$37</c:f>
              <c:numCache>
                <c:formatCode>0.0</c:formatCode>
                <c:ptCount val="20"/>
                <c:pt idx="0">
                  <c:v>11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21</c:v>
                </c:pt>
                <c:pt idx="5">
                  <c:v>24</c:v>
                </c:pt>
                <c:pt idx="6">
                  <c:v>34</c:v>
                </c:pt>
                <c:pt idx="7">
                  <c:v>44</c:v>
                </c:pt>
                <c:pt idx="8">
                  <c:v>45</c:v>
                </c:pt>
                <c:pt idx="9">
                  <c:v>46</c:v>
                </c:pt>
                <c:pt idx="10">
                  <c:v>47</c:v>
                </c:pt>
                <c:pt idx="11">
                  <c:v>48</c:v>
                </c:pt>
                <c:pt idx="12">
                  <c:v>49</c:v>
                </c:pt>
                <c:pt idx="13">
                  <c:v>50</c:v>
                </c:pt>
                <c:pt idx="14">
                  <c:v>51</c:v>
                </c:pt>
                <c:pt idx="15">
                  <c:v>52</c:v>
                </c:pt>
                <c:pt idx="16">
                  <c:v>53</c:v>
                </c:pt>
                <c:pt idx="17">
                  <c:v>54</c:v>
                </c:pt>
                <c:pt idx="18">
                  <c:v>55</c:v>
                </c:pt>
                <c:pt idx="19">
                  <c:v>55</c:v>
                </c:pt>
              </c:numCache>
            </c:numRef>
          </c:val>
        </c:ser>
        <c:ser>
          <c:idx val="3"/>
          <c:order val="3"/>
          <c:tx>
            <c:strRef>
              <c:f>Sheet1!$B$38</c:f>
              <c:strCache>
                <c:ptCount val="1"/>
                <c:pt idx="0">
                  <c:v>System Analysis/Design Studies</c:v>
                </c:pt>
              </c:strCache>
            </c:strRef>
          </c:tx>
          <c:val>
            <c:numRef>
              <c:f>Sheet1!$C$38:$V$38</c:f>
              <c:numCache>
                <c:formatCode>0.0</c:formatCode>
                <c:ptCount val="20"/>
                <c:pt idx="0">
                  <c:v>3.5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12.5</c:v>
                </c:pt>
                <c:pt idx="10">
                  <c:v>15</c:v>
                </c:pt>
                <c:pt idx="11">
                  <c:v>17.5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</c:numCache>
            </c:numRef>
          </c:val>
        </c:ser>
        <c:gapWidth val="55"/>
        <c:overlap val="100"/>
        <c:axId val="92217344"/>
        <c:axId val="92219264"/>
      </c:barChart>
      <c:catAx>
        <c:axId val="92217344"/>
        <c:scaling>
          <c:orientation val="minMax"/>
        </c:scaling>
        <c:axPos val="b"/>
        <c:majorTickMark val="none"/>
        <c:tickLblPos val="nextTo"/>
        <c:crossAx val="92219264"/>
        <c:crosses val="autoZero"/>
        <c:auto val="1"/>
        <c:lblAlgn val="ctr"/>
        <c:lblOffset val="100"/>
      </c:catAx>
      <c:valAx>
        <c:axId val="92219264"/>
        <c:scaling>
          <c:orientation val="minMax"/>
        </c:scaling>
        <c:axPos val="l"/>
        <c:majorGridlines/>
        <c:numFmt formatCode="0" sourceLinked="0"/>
        <c:majorTickMark val="none"/>
        <c:tickLblPos val="nextTo"/>
        <c:crossAx val="9221734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1600"/>
          </a:pPr>
          <a:endParaRPr lang="en-US"/>
        </a:p>
      </c:txPr>
    </c:legend>
    <c:plotVisOnly val="1"/>
  </c:chart>
  <c:txPr>
    <a:bodyPr/>
    <a:lstStyle/>
    <a:p>
      <a:pPr>
        <a:defRPr sz="1800"/>
      </a:pPr>
      <a:endParaRPr lang="en-US"/>
    </a:p>
  </c:txPr>
  <c:externalData r:id="rId1"/>
  <c:userShapes r:id="rId2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0.63817</cdr:x>
      <cdr:y>0.93025</cdr:y>
    </cdr:from>
    <cdr:to>
      <cdr:x>0.85678</cdr:x>
      <cdr:y>0.98164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5138420" y="4827270"/>
          <a:ext cx="1760220" cy="2667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dirty="0" smtClean="0">
              <a:solidFill>
                <a:schemeClr val="bg1"/>
              </a:solidFill>
            </a:rPr>
            <a:t>Years after start</a:t>
          </a:r>
          <a:endParaRPr lang="en-US" sz="1600" dirty="0">
            <a:solidFill>
              <a:schemeClr val="bg1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76FFB-9EE7-47D2-BA4C-1A096DD2E1B1}" type="datetimeFigureOut">
              <a:rPr lang="en-US" smtClean="0"/>
              <a:pPr/>
              <a:t>8/24/2012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92150"/>
            <a:ext cx="4610100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2E879-803E-47D7-A2B8-2EB46E2DC3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2E879-803E-47D7-A2B8-2EB46E2DC36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93738" y="4379913"/>
            <a:ext cx="5546725" cy="3811587"/>
          </a:xfrm>
        </p:spPr>
        <p:txBody>
          <a:bodyPr>
            <a:normAutofit/>
          </a:bodyPr>
          <a:lstStyle/>
          <a:p>
            <a:r>
              <a:rPr lang="en-US" sz="1800" dirty="0" smtClean="0"/>
              <a:t>Turned out to be a blue print for the future.  </a:t>
            </a:r>
          </a:p>
          <a:p>
            <a:r>
              <a:rPr lang="en-US" sz="1800" dirty="0" smtClean="0"/>
              <a:t>New strategy began in FY10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2E879-803E-47D7-A2B8-2EB46E2DC36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2E879-803E-47D7-A2B8-2EB46E2DC36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2E879-803E-47D7-A2B8-2EB46E2DC36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95300" y="4379913"/>
            <a:ext cx="6019800" cy="4148137"/>
          </a:xfrm>
        </p:spPr>
        <p:txBody>
          <a:bodyPr>
            <a:normAutofit/>
          </a:bodyPr>
          <a:lstStyle/>
          <a:p>
            <a:r>
              <a:rPr lang="en-US" dirty="0" smtClean="0"/>
              <a:t>Beta = </a:t>
            </a:r>
            <a:r>
              <a:rPr lang="en-US" dirty="0" err="1" smtClean="0"/>
              <a:t>betaN</a:t>
            </a:r>
            <a:r>
              <a:rPr lang="en-US" dirty="0" smtClean="0"/>
              <a:t> *I/(</a:t>
            </a:r>
            <a:r>
              <a:rPr lang="en-US" dirty="0" err="1" smtClean="0"/>
              <a:t>aB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2E879-803E-47D7-A2B8-2EB46E2DC36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5"/>
          <p:cNvSpPr>
            <a:spLocks noChangeArrowheads="1"/>
          </p:cNvSpPr>
          <p:nvPr userDrawn="1"/>
        </p:nvSpPr>
        <p:spPr bwMode="auto">
          <a:xfrm>
            <a:off x="127000" y="6496050"/>
            <a:ext cx="3278188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9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Managed by UT-Battelle</a:t>
            </a:r>
            <a:br>
              <a:rPr lang="en-US" sz="9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9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the Department of Energy</a:t>
            </a:r>
          </a:p>
        </p:txBody>
      </p:sp>
      <p:pic>
        <p:nvPicPr>
          <p:cNvPr id="6" name="Picture 258" descr="ORNL_leaf whi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37513" y="6264275"/>
            <a:ext cx="1074737" cy="557213"/>
          </a:xfrm>
          <a:prstGeom prst="rect">
            <a:avLst/>
          </a:prstGeom>
          <a:noFill/>
          <a:effectLst>
            <a:outerShdw algn="ctr" rotWithShape="0">
              <a:schemeClr val="bg2"/>
            </a:outerShdw>
          </a:effectLst>
        </p:spPr>
      </p:pic>
      <p:pic>
        <p:nvPicPr>
          <p:cNvPr id="7" name="Picture 262" descr="ORNL cover graphic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47763"/>
            <a:ext cx="45910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0991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257800" y="2247900"/>
            <a:ext cx="3733800" cy="1485900"/>
          </a:xfrm>
        </p:spPr>
        <p:txBody>
          <a:bodyPr/>
          <a:lstStyle>
            <a:lvl1pPr marL="0" indent="0" algn="r">
              <a:buFont typeface="Symbol" pitchFamily="18" charset="2"/>
              <a:buNone/>
              <a:defRPr sz="24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60992" name="Rectangle 224"/>
          <p:cNvSpPr>
            <a:spLocks noGrp="1" noChangeArrowheads="1"/>
          </p:cNvSpPr>
          <p:nvPr>
            <p:ph type="ctrTitle"/>
          </p:nvPr>
        </p:nvSpPr>
        <p:spPr>
          <a:xfrm>
            <a:off x="800100" y="157163"/>
            <a:ext cx="8229600" cy="461962"/>
          </a:xfrm>
        </p:spPr>
        <p:txBody>
          <a:bodyPr/>
          <a:lstStyle>
            <a:lvl1pPr algn="r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25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367" y="6325322"/>
            <a:ext cx="933826" cy="48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5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367" y="6325322"/>
            <a:ext cx="933826" cy="48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27" y="2520043"/>
            <a:ext cx="7772400" cy="1362075"/>
          </a:xfrm>
        </p:spPr>
        <p:txBody>
          <a:bodyPr/>
          <a:lstStyle>
            <a:lvl1pPr algn="l">
              <a:defRPr sz="24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0819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650" y="1354138"/>
            <a:ext cx="4038600" cy="45339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1650" y="1354138"/>
            <a:ext cx="4038600" cy="45339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367" y="6325322"/>
            <a:ext cx="933826" cy="48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2425" y="153988"/>
            <a:ext cx="2193925" cy="5734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650" y="153988"/>
            <a:ext cx="6429375" cy="5734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5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5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650" y="1354138"/>
            <a:ext cx="82296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7" name="Rectangle 225"/>
          <p:cNvSpPr>
            <a:spLocks noGrp="1" noChangeArrowheads="1"/>
          </p:cNvSpPr>
          <p:nvPr>
            <p:ph type="title"/>
          </p:nvPr>
        </p:nvSpPr>
        <p:spPr bwMode="auto">
          <a:xfrm>
            <a:off x="120650" y="153988"/>
            <a:ext cx="87757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9979" name="Rectangle 235"/>
          <p:cNvSpPr>
            <a:spLocks noChangeArrowheads="1"/>
          </p:cNvSpPr>
          <p:nvPr/>
        </p:nvSpPr>
        <p:spPr bwMode="auto">
          <a:xfrm>
            <a:off x="95250" y="6492875"/>
            <a:ext cx="1754188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71450" indent="-171450" eaLnBrk="0" hangingPunct="0">
              <a:lnSpc>
                <a:spcPct val="90000"/>
              </a:lnSpc>
              <a:defRPr/>
            </a:pPr>
            <a:fld id="{DA74341E-0AD2-4C42-A5E4-13014E084DB9}" type="slidenum">
              <a:rPr lang="en-US" sz="9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pPr marL="171450" indent="-171450" eaLnBrk="0" hangingPunct="0">
                <a:lnSpc>
                  <a:spcPct val="90000"/>
                </a:lnSpc>
                <a:defRPr/>
              </a:pPr>
              <a:t>‹#›</a:t>
            </a:fld>
            <a:r>
              <a:rPr lang="en-US" sz="9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Managed by UT-Battelle</a:t>
            </a:r>
            <a:br>
              <a:rPr lang="en-US" sz="9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9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the Department of Energy</a:t>
            </a:r>
          </a:p>
        </p:txBody>
      </p:sp>
      <p:sp>
        <p:nvSpPr>
          <p:cNvPr id="160000" name="Rectangle 25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62738"/>
            <a:ext cx="2895600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90000"/>
              </a:lnSpc>
              <a:defRPr sz="5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Fusion Budget Planning Meeting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4" r:id="rId2"/>
    <p:sldLayoutId id="2147484035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  <p:sldLayoutId id="2147484036" r:id="rId13"/>
  </p:sldLayoutIdLst>
  <p:hf sldNum="0" hd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73E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ct val="6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sz="28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ct val="35000"/>
        </a:spcBef>
        <a:spcAft>
          <a:spcPct val="0"/>
        </a:spcAft>
        <a:buClr>
          <a:srgbClr val="01673E"/>
        </a:buClr>
        <a:buFont typeface="Arial" charset="0"/>
        <a:buChar char="–"/>
        <a:defRPr sz="2400" b="1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sz="2000" b="1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Arial" charset="0"/>
        <a:buChar char="–"/>
        <a:defRPr b="1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b="1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b="1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b="1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b="1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1673E"/>
        </a:buClr>
        <a:buFont typeface="Symbol" pitchFamily="18" charset="2"/>
        <a:buChar char="·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769967" y="2411177"/>
            <a:ext cx="3960376" cy="3477993"/>
          </a:xfrm>
        </p:spPr>
        <p:txBody>
          <a:bodyPr/>
          <a:lstStyle/>
          <a:p>
            <a:pPr algn="ctr"/>
            <a:r>
              <a:rPr lang="en-US" dirty="0" smtClean="0"/>
              <a:t>Stan Milora, ORNL </a:t>
            </a:r>
          </a:p>
          <a:p>
            <a:pPr algn="ctr"/>
            <a:r>
              <a:rPr lang="en-US" sz="1800" dirty="0" smtClean="0"/>
              <a:t>Director Virtual Laboratory for Technology</a:t>
            </a:r>
          </a:p>
          <a:p>
            <a:pPr algn="ctr"/>
            <a:endParaRPr lang="en-US" sz="1800" dirty="0" smtClean="0"/>
          </a:p>
          <a:p>
            <a:pPr algn="ctr"/>
            <a:r>
              <a:rPr lang="en-US" sz="1800" dirty="0" smtClean="0"/>
              <a:t>20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ANS Topical Meeting on the Technology of Fusion Energy</a:t>
            </a:r>
          </a:p>
          <a:p>
            <a:pPr algn="ctr"/>
            <a:r>
              <a:rPr lang="en-US" sz="1600" dirty="0" smtClean="0"/>
              <a:t>August 27, 2012</a:t>
            </a:r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00100" y="157162"/>
            <a:ext cx="7810500" cy="757237"/>
          </a:xfrm>
        </p:spPr>
        <p:txBody>
          <a:bodyPr/>
          <a:lstStyle/>
          <a:p>
            <a:pPr algn="ctr"/>
            <a:r>
              <a:rPr lang="en-US" dirty="0" smtClean="0"/>
              <a:t>From ITER to DEMO – Technology </a:t>
            </a:r>
            <a:br>
              <a:rPr lang="en-US" dirty="0" smtClean="0"/>
            </a:br>
            <a:r>
              <a:rPr lang="en-US" dirty="0" smtClean="0"/>
              <a:t>Towards Fusion Power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-1" y="1197204"/>
            <a:ext cx="4901939" cy="44683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207351" y="2026757"/>
            <a:ext cx="4270382" cy="2884616"/>
            <a:chOff x="160216" y="1715666"/>
            <a:chExt cx="4270382" cy="2884616"/>
          </a:xfrm>
        </p:grpSpPr>
        <p:grpSp>
          <p:nvGrpSpPr>
            <p:cNvPr id="57" name="Group 56"/>
            <p:cNvGrpSpPr/>
            <p:nvPr/>
          </p:nvGrpSpPr>
          <p:grpSpPr>
            <a:xfrm>
              <a:off x="244623" y="1715666"/>
              <a:ext cx="4185975" cy="2884616"/>
              <a:chOff x="244623" y="1706239"/>
              <a:chExt cx="4680764" cy="2884616"/>
            </a:xfrm>
          </p:grpSpPr>
          <p:sp>
            <p:nvSpPr>
              <p:cNvPr id="6" name="Line 2"/>
              <p:cNvSpPr>
                <a:spLocks noChangeShapeType="1"/>
              </p:cNvSpPr>
              <p:nvPr/>
            </p:nvSpPr>
            <p:spPr bwMode="auto">
              <a:xfrm>
                <a:off x="2708875" y="2850156"/>
                <a:ext cx="201700" cy="1413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7" name="Line 3"/>
              <p:cNvSpPr>
                <a:spLocks noChangeShapeType="1"/>
              </p:cNvSpPr>
              <p:nvPr/>
            </p:nvSpPr>
            <p:spPr bwMode="auto">
              <a:xfrm>
                <a:off x="2685855" y="2843819"/>
                <a:ext cx="915325" cy="1413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8" name="Line 4"/>
              <p:cNvSpPr>
                <a:spLocks noChangeShapeType="1"/>
              </p:cNvSpPr>
              <p:nvPr/>
            </p:nvSpPr>
            <p:spPr bwMode="auto">
              <a:xfrm flipH="1">
                <a:off x="2489636" y="2767769"/>
                <a:ext cx="210470" cy="11861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 flipH="1" flipV="1">
                <a:off x="1146794" y="2786782"/>
                <a:ext cx="1464520" cy="464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 flipV="1">
                <a:off x="2701202" y="2132964"/>
                <a:ext cx="210470" cy="6580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 flipV="1">
                <a:off x="2696817" y="2007270"/>
                <a:ext cx="710336" cy="7847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 flipH="1">
                <a:off x="540596" y="2838538"/>
                <a:ext cx="2122239" cy="5735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 flipH="1" flipV="1">
                <a:off x="1076637" y="2251264"/>
                <a:ext cx="1497406" cy="5841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 flipH="1">
                <a:off x="1914132" y="2832201"/>
                <a:ext cx="749799" cy="14301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 flipH="1">
                <a:off x="519769" y="2859663"/>
                <a:ext cx="2097026" cy="2566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 flipH="1">
                <a:off x="1680642" y="2861776"/>
                <a:ext cx="939442" cy="1129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 flipH="1">
                <a:off x="1193930" y="2846988"/>
                <a:ext cx="1437115" cy="12685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8" name="Line 17"/>
              <p:cNvSpPr>
                <a:spLocks noChangeShapeType="1"/>
              </p:cNvSpPr>
              <p:nvPr/>
            </p:nvSpPr>
            <p:spPr bwMode="auto">
              <a:xfrm flipH="1">
                <a:off x="1048136" y="2861776"/>
                <a:ext cx="1588390" cy="6369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3238339" y="2767769"/>
                <a:ext cx="1342842" cy="549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V="1">
                <a:off x="2714357" y="2292457"/>
                <a:ext cx="1403133" cy="5767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 flipV="1">
                <a:off x="2683663" y="2339988"/>
                <a:ext cx="801320" cy="4964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 flipV="1">
                <a:off x="2728607" y="2407588"/>
                <a:ext cx="1896422" cy="4383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>
                <a:off x="2717645" y="2838538"/>
                <a:ext cx="1235415" cy="1711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>
                <a:off x="2732992" y="2871281"/>
                <a:ext cx="1580717" cy="4552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 flipH="1" flipV="1">
                <a:off x="1750798" y="2294569"/>
                <a:ext cx="890113" cy="5418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 flipH="1" flipV="1">
                <a:off x="1919613" y="1954457"/>
                <a:ext cx="711433" cy="8629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 flipH="1">
                <a:off x="735719" y="2876563"/>
                <a:ext cx="1878883" cy="10615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4292881" y="2615669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200"/>
              </a:p>
            </p:txBody>
          </p:sp>
          <p:sp>
            <p:nvSpPr>
              <p:cNvPr id="30" name="Oval 30"/>
              <p:cNvSpPr>
                <a:spLocks noChangeArrowheads="1"/>
              </p:cNvSpPr>
              <p:nvPr/>
            </p:nvSpPr>
            <p:spPr bwMode="auto">
              <a:xfrm>
                <a:off x="2100485" y="2510942"/>
                <a:ext cx="1137853" cy="703462"/>
              </a:xfrm>
              <a:prstGeom prst="ellipse">
                <a:avLst/>
              </a:prstGeom>
              <a:gradFill rotWithShape="0">
                <a:gsLst>
                  <a:gs pos="0">
                    <a:srgbClr val="33CCCC"/>
                  </a:gs>
                  <a:gs pos="50000">
                    <a:srgbClr val="185E5E"/>
                  </a:gs>
                  <a:gs pos="100000">
                    <a:srgbClr val="33CCCC"/>
                  </a:gs>
                </a:gsLst>
                <a:lin ang="18900000" scaled="1"/>
              </a:gradFill>
              <a:ln w="9525">
                <a:round/>
                <a:headEnd/>
                <a:tailEnd/>
              </a:ln>
              <a:scene3d>
                <a:camera prst="legacyPerspectiveTop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33CCCC"/>
                </a:extrusionClr>
              </a:sp3d>
            </p:spPr>
            <p:txBody>
              <a:bodyPr wrap="none" anchor="ctr">
                <a:flatTx/>
              </a:bodyPr>
              <a:lstStyle/>
              <a:p>
                <a:pPr algn="ctr"/>
                <a:endParaRPr lang="en-US" sz="1200">
                  <a:solidFill>
                    <a:srgbClr val="FFFFFF"/>
                  </a:solidFill>
                  <a:latin typeface="Arial Rounded MT Bold" pitchFamily="34" charset="0"/>
                </a:endParaRPr>
              </a:p>
            </p:txBody>
          </p:sp>
          <p:sp>
            <p:nvSpPr>
              <p:cNvPr id="31" name="Text Box 31"/>
              <p:cNvSpPr txBox="1">
                <a:spLocks noChangeArrowheads="1"/>
              </p:cNvSpPr>
              <p:nvPr/>
            </p:nvSpPr>
            <p:spPr bwMode="auto">
              <a:xfrm>
                <a:off x="2016078" y="2657919"/>
                <a:ext cx="130666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FFFFFF"/>
                    </a:solidFill>
                    <a:latin typeface="Arial Narrow" pitchFamily="34" charset="0"/>
                  </a:rPr>
                  <a:t>VLT</a:t>
                </a:r>
                <a:endParaRPr lang="en-US" sz="140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32" name="Oval 32"/>
              <p:cNvSpPr>
                <a:spLocks noChangeArrowheads="1"/>
              </p:cNvSpPr>
              <p:nvPr/>
            </p:nvSpPr>
            <p:spPr bwMode="auto">
              <a:xfrm>
                <a:off x="3238339" y="1706239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LANL</a:t>
                </a:r>
              </a:p>
            </p:txBody>
          </p:sp>
          <p:sp>
            <p:nvSpPr>
              <p:cNvPr id="33" name="Oval 33"/>
              <p:cNvSpPr>
                <a:spLocks noChangeArrowheads="1"/>
              </p:cNvSpPr>
              <p:nvPr/>
            </p:nvSpPr>
            <p:spPr bwMode="auto">
              <a:xfrm>
                <a:off x="3238339" y="2150920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LLNL</a:t>
                </a:r>
              </a:p>
            </p:txBody>
          </p:sp>
          <p:sp>
            <p:nvSpPr>
              <p:cNvPr id="34" name="Oval 34"/>
              <p:cNvSpPr>
                <a:spLocks noChangeArrowheads="1"/>
              </p:cNvSpPr>
              <p:nvPr/>
            </p:nvSpPr>
            <p:spPr bwMode="auto">
              <a:xfrm>
                <a:off x="3892769" y="2126626"/>
                <a:ext cx="505347" cy="33060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 dirty="0">
                    <a:solidFill>
                      <a:srgbClr val="FFFFFF"/>
                    </a:solidFill>
                    <a:latin typeface="Arial Narrow" pitchFamily="34" charset="0"/>
                  </a:rPr>
                  <a:t>ORNL</a:t>
                </a:r>
              </a:p>
            </p:txBody>
          </p:sp>
          <p:sp>
            <p:nvSpPr>
              <p:cNvPr id="35" name="Oval 35"/>
              <p:cNvSpPr>
                <a:spLocks noChangeArrowheads="1"/>
              </p:cNvSpPr>
              <p:nvPr/>
            </p:nvSpPr>
            <p:spPr bwMode="auto">
              <a:xfrm>
                <a:off x="4377288" y="2601938"/>
                <a:ext cx="506443" cy="33166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PNNL</a:t>
                </a:r>
              </a:p>
            </p:txBody>
          </p:sp>
          <p:sp>
            <p:nvSpPr>
              <p:cNvPr id="36" name="Oval 36"/>
              <p:cNvSpPr>
                <a:spLocks noChangeArrowheads="1"/>
              </p:cNvSpPr>
              <p:nvPr/>
            </p:nvSpPr>
            <p:spPr bwMode="auto">
              <a:xfrm>
                <a:off x="4292881" y="3201888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PPPL</a:t>
                </a:r>
              </a:p>
            </p:txBody>
          </p:sp>
          <p:sp>
            <p:nvSpPr>
              <p:cNvPr id="37" name="Oval 37"/>
              <p:cNvSpPr>
                <a:spLocks noChangeArrowheads="1"/>
              </p:cNvSpPr>
              <p:nvPr/>
            </p:nvSpPr>
            <p:spPr bwMode="auto">
              <a:xfrm>
                <a:off x="3835766" y="2850156"/>
                <a:ext cx="506443" cy="33166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SNL</a:t>
                </a:r>
              </a:p>
            </p:txBody>
          </p:sp>
          <p:sp>
            <p:nvSpPr>
              <p:cNvPr id="39" name="Oval 40"/>
              <p:cNvSpPr>
                <a:spLocks noChangeArrowheads="1"/>
              </p:cNvSpPr>
              <p:nvPr/>
            </p:nvSpPr>
            <p:spPr bwMode="auto">
              <a:xfrm>
                <a:off x="877129" y="4104980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Wisc.</a:t>
                </a:r>
              </a:p>
            </p:txBody>
          </p:sp>
          <p:sp>
            <p:nvSpPr>
              <p:cNvPr id="40" name="Oval 41"/>
              <p:cNvSpPr>
                <a:spLocks noChangeArrowheads="1"/>
              </p:cNvSpPr>
              <p:nvPr/>
            </p:nvSpPr>
            <p:spPr bwMode="auto">
              <a:xfrm>
                <a:off x="244623" y="2946275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UCSD</a:t>
                </a:r>
              </a:p>
            </p:txBody>
          </p:sp>
          <p:sp>
            <p:nvSpPr>
              <p:cNvPr id="41" name="Oval 42"/>
              <p:cNvSpPr>
                <a:spLocks noChangeArrowheads="1"/>
              </p:cNvSpPr>
              <p:nvPr/>
            </p:nvSpPr>
            <p:spPr bwMode="auto">
              <a:xfrm>
                <a:off x="725854" y="3353988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UCLA</a:t>
                </a:r>
              </a:p>
            </p:txBody>
          </p:sp>
          <p:sp>
            <p:nvSpPr>
              <p:cNvPr id="42" name="Oval 43"/>
              <p:cNvSpPr>
                <a:spLocks noChangeArrowheads="1"/>
              </p:cNvSpPr>
              <p:nvPr/>
            </p:nvSpPr>
            <p:spPr bwMode="auto">
              <a:xfrm>
                <a:off x="1467979" y="2109726"/>
                <a:ext cx="506443" cy="340112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Illinois</a:t>
                </a:r>
              </a:p>
            </p:txBody>
          </p:sp>
          <p:sp>
            <p:nvSpPr>
              <p:cNvPr id="43" name="Oval 44"/>
              <p:cNvSpPr>
                <a:spLocks noChangeArrowheads="1"/>
              </p:cNvSpPr>
              <p:nvPr/>
            </p:nvSpPr>
            <p:spPr bwMode="auto">
              <a:xfrm>
                <a:off x="666659" y="2615669"/>
                <a:ext cx="506443" cy="331662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UCB</a:t>
                </a:r>
              </a:p>
            </p:txBody>
          </p:sp>
          <p:sp>
            <p:nvSpPr>
              <p:cNvPr id="44" name="Oval 46"/>
              <p:cNvSpPr>
                <a:spLocks noChangeArrowheads="1"/>
              </p:cNvSpPr>
              <p:nvPr/>
            </p:nvSpPr>
            <p:spPr bwMode="auto">
              <a:xfrm>
                <a:off x="413437" y="3815568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Maryland</a:t>
                </a:r>
              </a:p>
            </p:txBody>
          </p:sp>
          <p:sp>
            <p:nvSpPr>
              <p:cNvPr id="45" name="Oval 47"/>
              <p:cNvSpPr>
                <a:spLocks noChangeArrowheads="1"/>
              </p:cNvSpPr>
              <p:nvPr/>
            </p:nvSpPr>
            <p:spPr bwMode="auto">
              <a:xfrm>
                <a:off x="692968" y="2015720"/>
                <a:ext cx="506443" cy="351731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GIT</a:t>
                </a:r>
              </a:p>
            </p:txBody>
          </p:sp>
          <p:sp>
            <p:nvSpPr>
              <p:cNvPr id="46" name="Oval 49"/>
              <p:cNvSpPr>
                <a:spLocks noChangeArrowheads="1"/>
              </p:cNvSpPr>
              <p:nvPr/>
            </p:nvSpPr>
            <p:spPr bwMode="auto">
              <a:xfrm>
                <a:off x="2216683" y="3815568"/>
                <a:ext cx="506443" cy="371800"/>
              </a:xfrm>
              <a:prstGeom prst="ellipse">
                <a:avLst/>
              </a:prstGeom>
              <a:gradFill rotWithShape="0">
                <a:gsLst>
                  <a:gs pos="0">
                    <a:srgbClr val="FF6699"/>
                  </a:gs>
                  <a:gs pos="100000">
                    <a:srgbClr val="762F4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CPI</a:t>
                </a:r>
              </a:p>
            </p:txBody>
          </p:sp>
          <p:sp>
            <p:nvSpPr>
              <p:cNvPr id="47" name="Oval 50"/>
              <p:cNvSpPr>
                <a:spLocks noChangeArrowheads="1"/>
              </p:cNvSpPr>
              <p:nvPr/>
            </p:nvSpPr>
            <p:spPr bwMode="auto">
              <a:xfrm>
                <a:off x="2665027" y="4260249"/>
                <a:ext cx="505347" cy="330606"/>
              </a:xfrm>
              <a:prstGeom prst="ellipse">
                <a:avLst/>
              </a:prstGeom>
              <a:gradFill rotWithShape="0">
                <a:gsLst>
                  <a:gs pos="0">
                    <a:srgbClr val="FF6699"/>
                  </a:gs>
                  <a:gs pos="100000">
                    <a:srgbClr val="762F4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 dirty="0" smtClean="0">
                    <a:solidFill>
                      <a:srgbClr val="FFFFFF"/>
                    </a:solidFill>
                    <a:latin typeface="Arial Narrow" pitchFamily="34" charset="0"/>
                  </a:rPr>
                  <a:t>GA</a:t>
                </a:r>
                <a:endParaRPr lang="en-US" sz="1050" b="1" dirty="0">
                  <a:solidFill>
                    <a:srgbClr val="FFFF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48" name="Oval 51"/>
              <p:cNvSpPr>
                <a:spLocks noChangeArrowheads="1"/>
              </p:cNvSpPr>
              <p:nvPr/>
            </p:nvSpPr>
            <p:spPr bwMode="auto">
              <a:xfrm>
                <a:off x="3352344" y="4104980"/>
                <a:ext cx="505347" cy="330606"/>
              </a:xfrm>
              <a:prstGeom prst="ellipse">
                <a:avLst/>
              </a:prstGeom>
              <a:gradFill rotWithShape="0">
                <a:gsLst>
                  <a:gs pos="0">
                    <a:srgbClr val="FF6699"/>
                  </a:gs>
                  <a:gs pos="100000">
                    <a:srgbClr val="762F4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Boeing</a:t>
                </a:r>
              </a:p>
            </p:txBody>
          </p:sp>
          <p:sp>
            <p:nvSpPr>
              <p:cNvPr id="52" name="Oval 55"/>
              <p:cNvSpPr>
                <a:spLocks noChangeArrowheads="1"/>
              </p:cNvSpPr>
              <p:nvPr/>
            </p:nvSpPr>
            <p:spPr bwMode="auto">
              <a:xfrm>
                <a:off x="4420040" y="2236476"/>
                <a:ext cx="505347" cy="33166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SRL</a:t>
                </a:r>
              </a:p>
            </p:txBody>
          </p:sp>
          <p:sp>
            <p:nvSpPr>
              <p:cNvPr id="53" name="Oval 56"/>
              <p:cNvSpPr>
                <a:spLocks noChangeArrowheads="1"/>
              </p:cNvSpPr>
              <p:nvPr/>
            </p:nvSpPr>
            <p:spPr bwMode="auto">
              <a:xfrm>
                <a:off x="1668584" y="1768557"/>
                <a:ext cx="477942" cy="344337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MIT</a:t>
                </a:r>
              </a:p>
            </p:txBody>
          </p:sp>
          <p:sp>
            <p:nvSpPr>
              <p:cNvPr id="54" name="Oval 57"/>
              <p:cNvSpPr>
                <a:spLocks noChangeArrowheads="1"/>
              </p:cNvSpPr>
              <p:nvPr/>
            </p:nvSpPr>
            <p:spPr bwMode="auto">
              <a:xfrm>
                <a:off x="1436190" y="3826131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Purdue</a:t>
                </a:r>
              </a:p>
            </p:txBody>
          </p:sp>
          <p:sp>
            <p:nvSpPr>
              <p:cNvPr id="55" name="Oval 58"/>
              <p:cNvSpPr>
                <a:spLocks noChangeArrowheads="1"/>
              </p:cNvSpPr>
              <p:nvPr/>
            </p:nvSpPr>
            <p:spPr bwMode="auto">
              <a:xfrm>
                <a:off x="1633506" y="4222224"/>
                <a:ext cx="506443" cy="330606"/>
              </a:xfrm>
              <a:prstGeom prst="ellipse">
                <a:avLst/>
              </a:prstGeom>
              <a:gradFill rotWithShape="0">
                <a:gsLst>
                  <a:gs pos="0">
                    <a:srgbClr val="8D8DFF"/>
                  </a:gs>
                  <a:gs pos="100000">
                    <a:srgbClr val="414176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FSU</a:t>
                </a:r>
              </a:p>
            </p:txBody>
          </p:sp>
          <p:sp>
            <p:nvSpPr>
              <p:cNvPr id="56" name="Oval 59"/>
              <p:cNvSpPr>
                <a:spLocks noChangeArrowheads="1"/>
              </p:cNvSpPr>
              <p:nvPr/>
            </p:nvSpPr>
            <p:spPr bwMode="auto">
              <a:xfrm>
                <a:off x="2695721" y="1848832"/>
                <a:ext cx="505347" cy="33060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050" b="1">
                    <a:solidFill>
                      <a:srgbClr val="FFFFFF"/>
                    </a:solidFill>
                    <a:latin typeface="Arial Narrow" pitchFamily="34" charset="0"/>
                  </a:rPr>
                  <a:t>INL</a:t>
                </a:r>
                <a:endParaRPr lang="en-US" sz="105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8" name="Oval 39"/>
            <p:cNvSpPr>
              <a:spLocks noChangeArrowheads="1"/>
            </p:cNvSpPr>
            <p:nvPr/>
          </p:nvSpPr>
          <p:spPr bwMode="auto">
            <a:xfrm>
              <a:off x="160216" y="3328638"/>
              <a:ext cx="506443" cy="331662"/>
            </a:xfrm>
            <a:prstGeom prst="ellipse">
              <a:avLst/>
            </a:prstGeom>
            <a:gradFill rotWithShape="0">
              <a:gsLst>
                <a:gs pos="0">
                  <a:srgbClr val="8D8DFF"/>
                </a:gs>
                <a:gs pos="100000">
                  <a:srgbClr val="414176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 Narrow" pitchFamily="34" charset="0"/>
                </a:rPr>
                <a:t>UCSB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" y="228600"/>
            <a:ext cx="8775700" cy="770641"/>
          </a:xfrm>
        </p:spPr>
        <p:txBody>
          <a:bodyPr/>
          <a:lstStyle/>
          <a:p>
            <a:r>
              <a:rPr lang="en-US" dirty="0" smtClean="0"/>
              <a:t>2003 FESAC Fusion Development Path Study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61196" y="1809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688157" y="582845"/>
            <a:ext cx="7700082" cy="5692310"/>
            <a:chOff x="707011" y="582845"/>
            <a:chExt cx="7700082" cy="5692310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2573" y="582845"/>
              <a:ext cx="7620000" cy="5692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81400" y="4542935"/>
              <a:ext cx="29718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11317" y="1711796"/>
              <a:ext cx="1395776" cy="1126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12"/>
            <p:cNvSpPr/>
            <p:nvPr/>
          </p:nvSpPr>
          <p:spPr bwMode="auto">
            <a:xfrm>
              <a:off x="707011" y="1545996"/>
              <a:ext cx="1545995" cy="29505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V="1">
              <a:off x="5963356" y="2891715"/>
              <a:ext cx="640644" cy="142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V="1">
              <a:off x="5253920" y="2892425"/>
              <a:ext cx="386644" cy="139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339410" y="2538659"/>
              <a:ext cx="4251987" cy="2830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V="1">
              <a:off x="6920795" y="4940300"/>
              <a:ext cx="386644" cy="139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7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380186" y="1575532"/>
              <a:ext cx="3254225" cy="3058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518661" y="3758565"/>
              <a:ext cx="331470" cy="142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33036" y="3758565"/>
              <a:ext cx="331470" cy="142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530090" y="3600450"/>
              <a:ext cx="1217295" cy="133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5" name="TextBox 24"/>
          <p:cNvSpPr txBox="1"/>
          <p:nvPr/>
        </p:nvSpPr>
        <p:spPr>
          <a:xfrm>
            <a:off x="2950029" y="185057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675629" y="173082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NSTX Upgrade</a:t>
            </a:r>
            <a:endParaRPr lang="en-US" dirty="0"/>
          </a:p>
        </p:txBody>
      </p:sp>
      <p:sp>
        <p:nvSpPr>
          <p:cNvPr id="27" name="Down Arrow 26"/>
          <p:cNvSpPr/>
          <p:nvPr/>
        </p:nvSpPr>
        <p:spPr bwMode="auto">
          <a:xfrm>
            <a:off x="4512129" y="2688773"/>
            <a:ext cx="206829" cy="261257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33400" y="914400"/>
            <a:ext cx="1730829" cy="2133600"/>
            <a:chOff x="533400" y="914400"/>
            <a:chExt cx="1730829" cy="2133600"/>
          </a:xfrm>
        </p:grpSpPr>
        <p:sp>
          <p:nvSpPr>
            <p:cNvPr id="31" name="Left Brace 30"/>
            <p:cNvSpPr/>
            <p:nvPr/>
          </p:nvSpPr>
          <p:spPr bwMode="auto">
            <a:xfrm>
              <a:off x="1763486" y="914400"/>
              <a:ext cx="500743" cy="2133600"/>
            </a:xfrm>
            <a:prstGeom prst="leftBrac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3400" y="1665514"/>
              <a:ext cx="14369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High Level Goal #1</a:t>
              </a:r>
              <a:endParaRPr lang="en-US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33396" y="3102482"/>
            <a:ext cx="1730829" cy="2133600"/>
            <a:chOff x="533396" y="3102482"/>
            <a:chExt cx="1730829" cy="2133600"/>
          </a:xfrm>
        </p:grpSpPr>
        <p:sp>
          <p:nvSpPr>
            <p:cNvPr id="33" name="Left Brace 32"/>
            <p:cNvSpPr/>
            <p:nvPr/>
          </p:nvSpPr>
          <p:spPr bwMode="auto">
            <a:xfrm>
              <a:off x="1763482" y="3102482"/>
              <a:ext cx="500743" cy="2133600"/>
            </a:xfrm>
            <a:prstGeom prst="leftBrac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3396" y="3853596"/>
              <a:ext cx="14369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High Level Goal #2</a:t>
              </a:r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524272" y="3484347"/>
            <a:ext cx="456889" cy="369332"/>
            <a:chOff x="4524272" y="3484347"/>
            <a:chExt cx="456889" cy="369332"/>
          </a:xfrm>
        </p:grpSpPr>
        <p:sp>
          <p:nvSpPr>
            <p:cNvPr id="28" name="Down Arrow 27"/>
            <p:cNvSpPr/>
            <p:nvPr/>
          </p:nvSpPr>
          <p:spPr bwMode="auto">
            <a:xfrm>
              <a:off x="4524272" y="3592307"/>
              <a:ext cx="206829" cy="261257"/>
            </a:xfrm>
            <a:prstGeom prst="downArrow">
              <a:avLst/>
            </a:prstGeom>
            <a:solidFill>
              <a:srgbClr val="824604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668255" y="3484347"/>
              <a:ext cx="31290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?</a:t>
              </a:r>
              <a:endParaRPr lang="en-US" b="1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671515" y="4649009"/>
            <a:ext cx="458253" cy="369332"/>
            <a:chOff x="5671515" y="4649009"/>
            <a:chExt cx="458253" cy="369332"/>
          </a:xfrm>
        </p:grpSpPr>
        <p:sp>
          <p:nvSpPr>
            <p:cNvPr id="30" name="Down Arrow 29"/>
            <p:cNvSpPr/>
            <p:nvPr/>
          </p:nvSpPr>
          <p:spPr bwMode="auto">
            <a:xfrm>
              <a:off x="5671515" y="4735309"/>
              <a:ext cx="206829" cy="261257"/>
            </a:xfrm>
            <a:prstGeom prst="down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04038" y="4649009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?</a:t>
              </a:r>
              <a:endParaRPr lang="en-US" b="1" dirty="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3128210" y="500514"/>
            <a:ext cx="575799" cy="6173372"/>
            <a:chOff x="3128210" y="500514"/>
            <a:chExt cx="575799" cy="6173372"/>
          </a:xfrm>
        </p:grpSpPr>
        <p:grpSp>
          <p:nvGrpSpPr>
            <p:cNvPr id="67" name="Group 66"/>
            <p:cNvGrpSpPr/>
            <p:nvPr/>
          </p:nvGrpSpPr>
          <p:grpSpPr>
            <a:xfrm>
              <a:off x="3243714" y="500514"/>
              <a:ext cx="393035" cy="5832909"/>
              <a:chOff x="3243714" y="500514"/>
              <a:chExt cx="393035" cy="5832909"/>
            </a:xfrm>
          </p:grpSpPr>
          <p:cxnSp>
            <p:nvCxnSpPr>
              <p:cNvPr id="49" name="Straight Connector 48"/>
              <p:cNvCxnSpPr/>
              <p:nvPr/>
            </p:nvCxnSpPr>
            <p:spPr bwMode="auto">
              <a:xfrm>
                <a:off x="3243714" y="500514"/>
                <a:ext cx="9625" cy="583290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Straight Arrow Connector 62"/>
              <p:cNvCxnSpPr/>
              <p:nvPr/>
            </p:nvCxnSpPr>
            <p:spPr bwMode="auto">
              <a:xfrm>
                <a:off x="3261364" y="6322363"/>
                <a:ext cx="375385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sp>
          <p:nvSpPr>
            <p:cNvPr id="66" name="TextBox 65"/>
            <p:cNvSpPr txBox="1"/>
            <p:nvPr/>
          </p:nvSpPr>
          <p:spPr>
            <a:xfrm>
              <a:off x="3128210" y="630455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C00000"/>
                  </a:solidFill>
                </a:rPr>
                <a:t>t= 0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build="p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Plan (taken from “</a:t>
            </a:r>
            <a:r>
              <a:rPr lang="en-US" b="1" i="1" dirty="0" smtClean="0"/>
              <a:t>On the FES Vision”, </a:t>
            </a:r>
            <a:r>
              <a:rPr lang="en-US" b="1" i="1" dirty="0" err="1" smtClean="0"/>
              <a:t>E.Synakowski</a:t>
            </a:r>
            <a:r>
              <a:rPr lang="en-US" b="1" i="1" dirty="0" smtClean="0"/>
              <a:t> ISFNT 2011)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00" y="896966"/>
            <a:ext cx="8229600" cy="5753687"/>
          </a:xfrm>
        </p:spPr>
        <p:txBody>
          <a:bodyPr/>
          <a:lstStyle/>
          <a:p>
            <a:endParaRPr lang="en-US" dirty="0" smtClean="0"/>
          </a:p>
          <a:p>
            <a:r>
              <a:rPr lang="en-US" i="1" dirty="0" smtClean="0"/>
              <a:t>#1 Plasma dynamics and control : </a:t>
            </a:r>
          </a:p>
          <a:p>
            <a:pPr lvl="1"/>
            <a:r>
              <a:rPr lang="en-US" sz="1800" b="0" dirty="0" smtClean="0"/>
              <a:t>Fusion: understanding the dynamics and stability of the burning plasma state. Developing a robust control strategy.</a:t>
            </a:r>
          </a:p>
          <a:p>
            <a:r>
              <a:rPr lang="en-US" i="1" dirty="0" smtClean="0"/>
              <a:t>#2 Materials in a fusion environment : </a:t>
            </a:r>
            <a:endParaRPr lang="en-US" dirty="0" smtClean="0"/>
          </a:p>
          <a:p>
            <a:pPr lvl="1"/>
            <a:r>
              <a:rPr lang="en-US" sz="1800" i="1" dirty="0" smtClean="0"/>
              <a:t>Plasma/surface interactions</a:t>
            </a:r>
            <a:r>
              <a:rPr lang="en-US" sz="1800" dirty="0" smtClean="0"/>
              <a:t> </a:t>
            </a:r>
            <a:r>
              <a:rPr lang="en-US" sz="1800" b="0" dirty="0" smtClean="0"/>
              <a:t>establishing boundary of a fusion plasma. Plasma facing surface survival, renewal: cracking, annealing. Fuel retention. </a:t>
            </a:r>
          </a:p>
          <a:p>
            <a:pPr lvl="1"/>
            <a:r>
              <a:rPr lang="en-US" sz="1800" i="1" dirty="0" smtClean="0"/>
              <a:t>Nuclear effects on materials and structures</a:t>
            </a:r>
            <a:r>
              <a:rPr lang="en-US" sz="1800" dirty="0" smtClean="0"/>
              <a:t>, </a:t>
            </a:r>
            <a:r>
              <a:rPr lang="en-US" sz="1800" b="0" dirty="0" smtClean="0"/>
              <a:t>including the effects of </a:t>
            </a:r>
            <a:r>
              <a:rPr lang="en-US" sz="1800" b="0" dirty="0" smtClean="0"/>
              <a:t> </a:t>
            </a:r>
            <a:r>
              <a:rPr lang="en-US" sz="1800" b="0" dirty="0" smtClean="0"/>
              <a:t>&gt; </a:t>
            </a:r>
            <a:r>
              <a:rPr lang="en-US" sz="1800" b="0" dirty="0" smtClean="0"/>
              <a:t>100 </a:t>
            </a:r>
            <a:r>
              <a:rPr lang="en-US" sz="1800" b="0" dirty="0" err="1" smtClean="0"/>
              <a:t>dpa</a:t>
            </a:r>
            <a:r>
              <a:rPr lang="en-US" sz="1800" b="0" dirty="0" smtClean="0"/>
              <a:t> on structure integrity, helium creation in situ, and time evolving properties </a:t>
            </a:r>
          </a:p>
          <a:p>
            <a:pPr lvl="1"/>
            <a:r>
              <a:rPr lang="en-US" sz="1800" i="1" dirty="0" smtClean="0"/>
              <a:t>Harnessing fusion power </a:t>
            </a:r>
            <a:r>
              <a:rPr lang="en-US" sz="1800" b="0" dirty="0" smtClean="0"/>
              <a:t>depends on the nuclear material science above and is extended to tritium breeding and extracting fusion power </a:t>
            </a:r>
          </a:p>
          <a:p>
            <a:pPr lvl="2"/>
            <a:r>
              <a:rPr lang="en-US" sz="1600" b="0" dirty="0" smtClean="0"/>
              <a:t>This requires the launching of a vigorous materials and nuclear science program that will be part of defining and constructing a </a:t>
            </a:r>
            <a:r>
              <a:rPr lang="en-US" sz="1600" b="0" i="1" dirty="0" smtClean="0"/>
              <a:t>fusion nuclear sciences facility, </a:t>
            </a:r>
            <a:r>
              <a:rPr lang="en-US" sz="1600" b="0" dirty="0" smtClean="0"/>
              <a:t>and will fill gaps en route to a DEMO</a:t>
            </a:r>
            <a:r>
              <a:rPr lang="en-US" sz="1800" b="0" dirty="0" smtClean="0"/>
              <a:t>. </a:t>
            </a:r>
            <a:endParaRPr lang="en-US" sz="1800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The 2003 Plan Specified Substantial Increases in Materials and Technology Research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  <p:graphicFrame>
        <p:nvGraphicFramePr>
          <p:cNvPr id="4" name="Chart 3"/>
          <p:cNvGraphicFramePr/>
          <p:nvPr/>
        </p:nvGraphicFramePr>
        <p:xfrm>
          <a:off x="546100" y="1062990"/>
          <a:ext cx="8051800" cy="5189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 will demonstrate the scientific and technological </a:t>
            </a:r>
            <a:r>
              <a:rPr lang="en-US" i="1" dirty="0" smtClean="0"/>
              <a:t>feasibility of fusion energy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" y="930638"/>
            <a:ext cx="8229600" cy="4533900"/>
          </a:xfrm>
        </p:spPr>
        <p:txBody>
          <a:bodyPr/>
          <a:lstStyle/>
          <a:p>
            <a:r>
              <a:rPr lang="en-US" sz="1800" i="1" dirty="0" smtClean="0"/>
              <a:t>Science mission focuses on demonstration and control of high gain (Q=10) energy producing plasmas, not power generation</a:t>
            </a:r>
          </a:p>
          <a:p>
            <a:pPr lvl="1"/>
            <a:r>
              <a:rPr lang="en-US" sz="1600" b="0" dirty="0" smtClean="0">
                <a:sym typeface="Symbol"/>
              </a:rPr>
              <a:t>High availability for research program but with a duty factor &lt; 10% its internal components will not be subject to neutron </a:t>
            </a:r>
            <a:r>
              <a:rPr lang="en-US" sz="1600" b="0" dirty="0" err="1" smtClean="0">
                <a:sym typeface="Symbol"/>
              </a:rPr>
              <a:t>fluences</a:t>
            </a:r>
            <a:r>
              <a:rPr lang="en-US" sz="1600" b="0" dirty="0" smtClean="0">
                <a:sym typeface="Symbol"/>
              </a:rPr>
              <a:t> exceeding 0.3 MW-yr/m</a:t>
            </a:r>
            <a:r>
              <a:rPr lang="en-US" sz="1600" b="0" baseline="30000" dirty="0" smtClean="0">
                <a:sym typeface="Symbol"/>
              </a:rPr>
              <a:t>2</a:t>
            </a:r>
            <a:r>
              <a:rPr lang="en-US" sz="1600" b="0" dirty="0" smtClean="0">
                <a:sym typeface="Symbol"/>
              </a:rPr>
              <a:t>.</a:t>
            </a:r>
          </a:p>
          <a:p>
            <a:r>
              <a:rPr lang="en-US" sz="1800" i="1" dirty="0" smtClean="0"/>
              <a:t>R</a:t>
            </a:r>
            <a:r>
              <a:rPr lang="en-US" sz="1800" i="1" dirty="0" smtClean="0"/>
              <a:t>eactor </a:t>
            </a:r>
            <a:r>
              <a:rPr lang="en-US" sz="1800" i="1" dirty="0" smtClean="0"/>
              <a:t>scale technology demonstrations</a:t>
            </a:r>
          </a:p>
          <a:p>
            <a:pPr lvl="1"/>
            <a:r>
              <a:rPr lang="en-US" sz="1600" b="0" dirty="0" smtClean="0"/>
              <a:t>Superconducting magnets </a:t>
            </a:r>
          </a:p>
          <a:p>
            <a:pPr lvl="1"/>
            <a:r>
              <a:rPr lang="en-US" sz="1600" b="0" dirty="0" smtClean="0"/>
              <a:t>Heating and current drive technologies (IC, EC, NB</a:t>
            </a:r>
            <a:r>
              <a:rPr lang="en-US" sz="1600" b="0" dirty="0" smtClean="0"/>
              <a:t>) </a:t>
            </a:r>
            <a:endParaRPr lang="en-US" sz="1600" b="0" dirty="0" smtClean="0"/>
          </a:p>
          <a:p>
            <a:pPr lvl="1"/>
            <a:r>
              <a:rPr lang="en-US" sz="1600" b="0" dirty="0" smtClean="0"/>
              <a:t>First assessment of </a:t>
            </a:r>
            <a:r>
              <a:rPr lang="en-US" sz="1600" b="0" dirty="0" smtClean="0"/>
              <a:t>tritium </a:t>
            </a:r>
            <a:r>
              <a:rPr lang="en-US" sz="1600" b="0" dirty="0" smtClean="0"/>
              <a:t>breeding </a:t>
            </a:r>
            <a:r>
              <a:rPr lang="en-US" sz="1600" b="0" dirty="0" smtClean="0"/>
              <a:t>and high temperature operation in mockups </a:t>
            </a:r>
            <a:r>
              <a:rPr lang="en-US" sz="1600" b="0" dirty="0" smtClean="0"/>
              <a:t>deploying </a:t>
            </a:r>
            <a:r>
              <a:rPr lang="en-US" sz="1600" b="0" dirty="0" smtClean="0"/>
              <a:t>advanced materials </a:t>
            </a:r>
            <a:r>
              <a:rPr lang="en-US" sz="1600" b="0" dirty="0" smtClean="0"/>
              <a:t>and </a:t>
            </a:r>
            <a:r>
              <a:rPr lang="en-US" sz="1600" b="0" dirty="0" smtClean="0"/>
              <a:t>various breeding </a:t>
            </a:r>
            <a:r>
              <a:rPr lang="en-US" sz="1600" b="0" dirty="0" smtClean="0"/>
              <a:t>materials and coolants </a:t>
            </a:r>
            <a:r>
              <a:rPr lang="en-US" sz="1600" b="0" dirty="0" smtClean="0"/>
              <a:t>at  </a:t>
            </a:r>
            <a:r>
              <a:rPr lang="en-US" sz="1600" b="0" dirty="0" smtClean="0"/>
              <a:t> ~1 </a:t>
            </a:r>
            <a:r>
              <a:rPr lang="en-US" sz="1600" b="0" dirty="0" smtClean="0"/>
              <a:t>MW/m</a:t>
            </a:r>
            <a:r>
              <a:rPr lang="en-US" sz="1600" b="0" baseline="30000" dirty="0" smtClean="0"/>
              <a:t>2</a:t>
            </a:r>
            <a:r>
              <a:rPr lang="en-US" sz="1600" b="0" dirty="0" smtClean="0"/>
              <a:t>  neutron wall loading.</a:t>
            </a:r>
            <a:endParaRPr lang="en-US" sz="1600" b="0" baseline="30000" dirty="0" smtClean="0"/>
          </a:p>
          <a:p>
            <a:pPr lvl="1"/>
            <a:r>
              <a:rPr lang="en-US" sz="1600" b="0" dirty="0" smtClean="0"/>
              <a:t>Strong core fueling</a:t>
            </a:r>
            <a:r>
              <a:rPr lang="en-US" sz="1600" b="0" dirty="0" smtClean="0"/>
              <a:t> </a:t>
            </a:r>
            <a:r>
              <a:rPr lang="en-US" sz="1600" b="0" dirty="0" smtClean="0"/>
              <a:t>to maintain DT </a:t>
            </a:r>
            <a:r>
              <a:rPr lang="en-US" sz="1600" b="0" dirty="0" smtClean="0"/>
              <a:t>density </a:t>
            </a:r>
            <a:r>
              <a:rPr lang="en-US" sz="1600" b="0" dirty="0" smtClean="0"/>
              <a:t>consistent with </a:t>
            </a:r>
            <a:r>
              <a:rPr lang="en-US" sz="1600" b="0" dirty="0" smtClean="0"/>
              <a:t>production of </a:t>
            </a:r>
            <a:r>
              <a:rPr lang="en-US" sz="1600" b="0" dirty="0" smtClean="0"/>
              <a:t>several hundreds of MW of fusion </a:t>
            </a:r>
            <a:r>
              <a:rPr lang="en-US" sz="1600" b="0" dirty="0" smtClean="0"/>
              <a:t>power</a:t>
            </a:r>
            <a:endParaRPr lang="en-US" sz="1600" b="0" dirty="0" smtClean="0"/>
          </a:p>
          <a:p>
            <a:pPr lvl="1"/>
            <a:r>
              <a:rPr lang="en-US" sz="1600" b="0" dirty="0" err="1" smtClean="0"/>
              <a:t>Divertor</a:t>
            </a:r>
            <a:r>
              <a:rPr lang="en-US" sz="1600" b="0" dirty="0" smtClean="0"/>
              <a:t> with 10 MW/m</a:t>
            </a:r>
            <a:r>
              <a:rPr lang="en-US" sz="1600" b="0" baseline="30000" dirty="0" smtClean="0"/>
              <a:t>2</a:t>
            </a:r>
            <a:r>
              <a:rPr lang="en-US" sz="1600" b="0" dirty="0" smtClean="0"/>
              <a:t> steady state heat removal capability operating in the tightly coupled regime to reduce net erosion and plasma </a:t>
            </a:r>
            <a:r>
              <a:rPr lang="en-US" sz="1600" b="0" dirty="0" smtClean="0"/>
              <a:t>contamination</a:t>
            </a:r>
            <a:endParaRPr lang="en-US" sz="1600" b="0" dirty="0" smtClean="0"/>
          </a:p>
          <a:p>
            <a:pPr lvl="1"/>
            <a:r>
              <a:rPr lang="en-US" sz="1600" b="0" dirty="0" smtClean="0"/>
              <a:t>Technologies to mitigate the effects of  ELMs and disruptions</a:t>
            </a:r>
          </a:p>
          <a:p>
            <a:pPr lvl="1"/>
            <a:r>
              <a:rPr lang="en-US" sz="1600" b="0" dirty="0" smtClean="0"/>
              <a:t>Remote handling systems capable of </a:t>
            </a:r>
            <a:r>
              <a:rPr lang="en-US" sz="1600" b="0" dirty="0" smtClean="0"/>
              <a:t>installing, </a:t>
            </a:r>
            <a:r>
              <a:rPr lang="en-US" sz="1600" b="0" dirty="0" smtClean="0"/>
              <a:t>removing  and maintaining very large </a:t>
            </a:r>
            <a:r>
              <a:rPr lang="en-US" sz="1600" b="0" dirty="0" smtClean="0"/>
              <a:t>components (50 tons)</a:t>
            </a:r>
            <a:endParaRPr lang="en-US" sz="1600" b="0" dirty="0" smtClean="0"/>
          </a:p>
          <a:p>
            <a:pPr lvl="1"/>
            <a:r>
              <a:rPr lang="en-US" sz="1600" b="0" dirty="0" smtClean="0"/>
              <a:t> </a:t>
            </a:r>
            <a:r>
              <a:rPr lang="en-US" sz="1600" b="0" dirty="0" smtClean="0"/>
              <a:t>Torus pumping</a:t>
            </a:r>
            <a:r>
              <a:rPr lang="en-US" sz="1600" b="0" dirty="0" smtClean="0"/>
              <a:t>, </a:t>
            </a:r>
            <a:r>
              <a:rPr lang="en-US" sz="1600" b="0" dirty="0" smtClean="0"/>
              <a:t>exhaust  gas cleanup, isotope separation and tritium delivery systems of unprecedented scale.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beyond ITER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9897" y="1148674"/>
          <a:ext cx="8011879" cy="1752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2689"/>
                <a:gridCol w="718848"/>
                <a:gridCol w="511628"/>
                <a:gridCol w="656316"/>
                <a:gridCol w="709913"/>
                <a:gridCol w="912746"/>
                <a:gridCol w="811329"/>
                <a:gridCol w="1318410"/>
              </a:tblGrid>
              <a:tr h="6187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82575" algn="l"/>
                        </a:tabLst>
                      </a:pPr>
                      <a:r>
                        <a:rPr lang="en-US" dirty="0" err="1" smtClean="0"/>
                        <a:t>I</a:t>
                      </a:r>
                      <a:r>
                        <a:rPr lang="en-US" baseline="-25000" dirty="0" err="1" smtClean="0"/>
                        <a:t>p</a:t>
                      </a:r>
                      <a:endParaRPr lang="en-US" baseline="-25000" dirty="0" smtClean="0"/>
                    </a:p>
                    <a:p>
                      <a:pPr algn="ctr"/>
                      <a:r>
                        <a:rPr lang="en-US" sz="1600" baseline="0" dirty="0" smtClean="0"/>
                        <a:t>(MA)</a:t>
                      </a:r>
                      <a:endParaRPr lang="en-US" sz="16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tabLst/>
                      </a:pPr>
                      <a:r>
                        <a:rPr lang="en-US" dirty="0" smtClean="0"/>
                        <a:t>B</a:t>
                      </a:r>
                      <a:endParaRPr lang="en-US" baseline="-25000" dirty="0" smtClean="0"/>
                    </a:p>
                    <a:p>
                      <a:pPr algn="ctr">
                        <a:tabLst/>
                      </a:pPr>
                      <a:r>
                        <a:rPr lang="en-US" baseline="0" dirty="0" smtClean="0"/>
                        <a:t>(T)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Symbol" pitchFamily="18" charset="2"/>
                        </a:rPr>
                        <a:t>b</a:t>
                      </a:r>
                      <a:r>
                        <a:rPr lang="en-US" baseline="-25000" dirty="0" err="1" smtClean="0"/>
                        <a:t>N</a:t>
                      </a:r>
                      <a:endParaRPr lang="en-US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latin typeface="Symbol" pitchFamily="18" charset="2"/>
                        </a:rPr>
                        <a:t>b</a:t>
                      </a:r>
                    </a:p>
                    <a:p>
                      <a:pPr algn="ctr"/>
                      <a:r>
                        <a:rPr lang="en-US" baseline="0" dirty="0" smtClean="0"/>
                        <a:t>(%)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 smtClean="0"/>
                        <a:t>P</a:t>
                      </a:r>
                      <a:r>
                        <a:rPr lang="en-US" baseline="-25000" dirty="0" err="1" smtClean="0"/>
                        <a:t>fusion</a:t>
                      </a:r>
                      <a:endParaRPr lang="en-US" baseline="-25000" dirty="0" smtClean="0"/>
                    </a:p>
                    <a:p>
                      <a:pPr algn="ctr"/>
                      <a:r>
                        <a:rPr lang="en-US" sz="1600" baseline="0" dirty="0" smtClean="0"/>
                        <a:t>(MW)</a:t>
                      </a:r>
                      <a:endParaRPr lang="en-US" sz="16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P</a:t>
                      </a:r>
                      <a:r>
                        <a:rPr lang="en-US" sz="1800" baseline="-25000" dirty="0" err="1" smtClean="0"/>
                        <a:t>elec</a:t>
                      </a:r>
                      <a:endParaRPr lang="en-US" sz="1800" baseline="-25000" dirty="0" smtClean="0"/>
                    </a:p>
                    <a:p>
                      <a:pPr algn="ctr"/>
                      <a:r>
                        <a:rPr lang="en-US" sz="1400" baseline="0" dirty="0" smtClean="0"/>
                        <a:t>(</a:t>
                      </a:r>
                      <a:r>
                        <a:rPr lang="en-US" sz="1400" baseline="0" dirty="0" err="1" smtClean="0"/>
                        <a:t>MW</a:t>
                      </a:r>
                      <a:r>
                        <a:rPr lang="en-US" sz="1400" baseline="-25000" dirty="0" err="1" smtClean="0"/>
                        <a:t>e</a:t>
                      </a:r>
                      <a:r>
                        <a:rPr lang="en-US" sz="1200" baseline="0" dirty="0" smtClean="0"/>
                        <a:t>)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Plant</a:t>
                      </a:r>
                    </a:p>
                    <a:p>
                      <a:pPr algn="ctr"/>
                      <a:r>
                        <a:rPr lang="en-US" sz="1600" dirty="0" smtClean="0"/>
                        <a:t>Efficiency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ITER Scenario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ITER AT DEMO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EU Model D reactor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4140641" y="2158136"/>
            <a:ext cx="1251858" cy="7511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Connector 11"/>
          <p:cNvCxnSpPr>
            <a:stCxn id="8" idx="2"/>
            <a:endCxn id="14" idx="0"/>
          </p:cNvCxnSpPr>
          <p:nvPr/>
        </p:nvCxnSpPr>
        <p:spPr bwMode="auto">
          <a:xfrm flipH="1">
            <a:off x="1790280" y="2909250"/>
            <a:ext cx="2976290" cy="24818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 bwMode="auto">
          <a:xfrm>
            <a:off x="750733" y="3157432"/>
            <a:ext cx="2079094" cy="146028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Optimized current and pressure profiles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  <a:sym typeface="Symbol"/>
              </a:rPr>
              <a:t>: </a:t>
            </a:r>
            <a:r>
              <a:rPr lang="en-US" sz="1400" dirty="0" smtClean="0">
                <a:solidFill>
                  <a:sysClr val="windowText" lastClr="000000"/>
                </a:solidFill>
                <a:sym typeface="Symbol"/>
              </a:rPr>
              <a:t>p</a:t>
            </a:r>
            <a:r>
              <a:rPr lang="en-US" sz="1400" dirty="0" smtClean="0">
                <a:solidFill>
                  <a:sysClr val="windowText" lastClr="000000"/>
                </a:solidFill>
              </a:rPr>
              <a:t>recision plasma heating fueling and current drive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tools, edge density control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515517" y="2147250"/>
            <a:ext cx="783772" cy="762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9"/>
          <p:cNvCxnSpPr>
            <a:stCxn id="19" idx="2"/>
            <a:endCxn id="21" idx="0"/>
          </p:cNvCxnSpPr>
          <p:nvPr/>
        </p:nvCxnSpPr>
        <p:spPr bwMode="auto">
          <a:xfrm flipH="1">
            <a:off x="4465314" y="2909250"/>
            <a:ext cx="1442089" cy="2601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3169920" y="3169402"/>
            <a:ext cx="2590787" cy="226365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High plasma density (2x10</a:t>
            </a:r>
            <a:r>
              <a:rPr kumimoji="0" lang="en-US" sz="1400" b="1" i="0" u="none" strike="noStrike" cap="none" normalizeH="0" baseline="3000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20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/m</a:t>
            </a:r>
            <a:r>
              <a:rPr kumimoji="0" lang="en-US" sz="1400" b="1" i="0" u="none" strike="noStrike" cap="none" normalizeH="0" baseline="3000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2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)</a:t>
            </a:r>
            <a:r>
              <a:rPr lang="en-US" sz="1400" b="1" dirty="0" smtClean="0">
                <a:solidFill>
                  <a:sysClr val="windowText" lastClr="000000"/>
                </a:solidFill>
                <a:sym typeface="Symbol"/>
              </a:rPr>
              <a:t>: </a:t>
            </a:r>
            <a:r>
              <a:rPr lang="en-US" sz="1400" dirty="0" smtClean="0">
                <a:solidFill>
                  <a:sysClr val="windowText" lastClr="000000"/>
                </a:solidFill>
                <a:sym typeface="Symbol"/>
              </a:rPr>
              <a:t>e</a:t>
            </a:r>
            <a:r>
              <a:rPr lang="en-US" sz="1400" dirty="0" smtClean="0">
                <a:solidFill>
                  <a:sysClr val="windowText" lastClr="000000"/>
                </a:solidFill>
              </a:rPr>
              <a:t>fficient core plasma fueling and particle exhaust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dirty="0" smtClean="0">
                <a:solidFill>
                  <a:sysClr val="windowText" lastClr="000000"/>
                </a:solidFill>
              </a:rPr>
              <a:t>Low </a:t>
            </a:r>
            <a:r>
              <a:rPr lang="en-US" sz="1400" b="1" dirty="0" smtClean="0">
                <a:solidFill>
                  <a:sysClr val="windowText" lastClr="000000"/>
                </a:solidFill>
              </a:rPr>
              <a:t> </a:t>
            </a:r>
            <a:r>
              <a:rPr lang="en-US" sz="1400" b="1" dirty="0" smtClean="0">
                <a:solidFill>
                  <a:sysClr val="windowText" lastClr="000000"/>
                </a:solidFill>
              </a:rPr>
              <a:t>plasma contamination and low net </a:t>
            </a:r>
            <a:r>
              <a:rPr lang="en-US" sz="1400" b="1" dirty="0" smtClean="0">
                <a:solidFill>
                  <a:sysClr val="windowText" lastClr="000000"/>
                </a:solidFill>
              </a:rPr>
              <a:t>erosion</a:t>
            </a:r>
            <a:r>
              <a:rPr lang="en-US" sz="1400" b="1" dirty="0" smtClean="0">
                <a:solidFill>
                  <a:sysClr val="windowText" lastClr="000000"/>
                </a:solidFill>
                <a:sym typeface="Symbol"/>
              </a:rPr>
              <a:t>:</a:t>
            </a:r>
            <a:r>
              <a:rPr lang="en-US" sz="1400" dirty="0" smtClean="0">
                <a:solidFill>
                  <a:sysClr val="windowText" lastClr="000000"/>
                </a:solidFill>
                <a:sym typeface="Symbol"/>
              </a:rPr>
              <a:t>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high density </a:t>
            </a:r>
            <a:r>
              <a:rPr lang="en-US" sz="1400" dirty="0" err="1" smtClean="0">
                <a:solidFill>
                  <a:sysClr val="windowText" lastClr="000000"/>
                </a:solidFill>
              </a:rPr>
              <a:t>divertor</a:t>
            </a:r>
            <a:r>
              <a:rPr lang="en-US" sz="1400" dirty="0" smtClean="0">
                <a:solidFill>
                  <a:sysClr val="windowText" lastClr="000000"/>
                </a:solidFill>
              </a:rPr>
              <a:t>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operation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dirty="0" smtClean="0">
                <a:solidFill>
                  <a:sysClr val="windowText" lastClr="000000"/>
                </a:solidFill>
              </a:rPr>
              <a:t>High  magnetic field: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ysClr val="windowText" lastClr="000000"/>
                </a:solidFill>
              </a:rPr>
              <a:t>HTS magnets</a:t>
            </a:r>
            <a:endParaRPr lang="en-US" sz="1400" dirty="0" smtClean="0">
              <a:solidFill>
                <a:sysClr val="windowText" lastClr="000000"/>
              </a:solidFill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6454945" y="2542400"/>
            <a:ext cx="1981199" cy="34834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3" name="Straight Connector 32"/>
          <p:cNvCxnSpPr>
            <a:stCxn id="32" idx="2"/>
            <a:endCxn id="34" idx="0"/>
          </p:cNvCxnSpPr>
          <p:nvPr/>
        </p:nvCxnSpPr>
        <p:spPr bwMode="auto">
          <a:xfrm flipH="1">
            <a:off x="7183239" y="2890743"/>
            <a:ext cx="262306" cy="26393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ctangle 33"/>
          <p:cNvSpPr/>
          <p:nvPr/>
        </p:nvSpPr>
        <p:spPr bwMode="auto">
          <a:xfrm>
            <a:off x="5943601" y="3154680"/>
            <a:ext cx="2479276" cy="24231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Low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recirculating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power: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plasma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rotation tools for high confinement, high efficiency 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high power density H&amp;CD 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systems.</a:t>
            </a:r>
            <a:endParaRPr lang="en-US" sz="1400" dirty="0" smtClean="0">
              <a:solidFill>
                <a:sysClr val="windowText" lastClr="000000"/>
              </a:solidFill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dirty="0" smtClean="0">
                <a:solidFill>
                  <a:sysClr val="windowText" lastClr="000000"/>
                </a:solidFill>
              </a:rPr>
              <a:t>High thermal efficiencies:</a:t>
            </a:r>
            <a:r>
              <a:rPr lang="en-US" sz="1400" dirty="0" smtClean="0">
                <a:solidFill>
                  <a:sysClr val="windowText" lastClr="000000"/>
                </a:solidFill>
              </a:rPr>
              <a:t> advanced high temperature blanket (DCLL) and </a:t>
            </a:r>
            <a:r>
              <a:rPr lang="en-US" sz="1400" dirty="0" err="1" smtClean="0">
                <a:solidFill>
                  <a:sysClr val="windowText" lastClr="000000"/>
                </a:solidFill>
              </a:rPr>
              <a:t>divertor</a:t>
            </a:r>
            <a:r>
              <a:rPr lang="en-US" sz="1400" i="1" dirty="0" smtClean="0">
                <a:solidFill>
                  <a:sysClr val="windowText" lastClr="000000"/>
                </a:solidFill>
              </a:rPr>
              <a:t>,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and materials (W, ODS steels, </a:t>
            </a:r>
            <a:r>
              <a:rPr lang="en-US" sz="1400" dirty="0" err="1" smtClean="0">
                <a:solidFill>
                  <a:sysClr val="windowText" lastClr="000000"/>
                </a:solidFill>
              </a:rPr>
              <a:t>SiC</a:t>
            </a:r>
            <a:r>
              <a:rPr lang="en-US" sz="1400" dirty="0" smtClean="0">
                <a:solidFill>
                  <a:sysClr val="windowText" lastClr="000000"/>
                </a:solidFill>
              </a:rPr>
              <a:t>/</a:t>
            </a:r>
            <a:r>
              <a:rPr lang="en-US" sz="1400" dirty="0" err="1" smtClean="0">
                <a:solidFill>
                  <a:sysClr val="windowText" lastClr="000000"/>
                </a:solidFill>
              </a:rPr>
              <a:t>SiC</a:t>
            </a:r>
            <a:r>
              <a:rPr lang="en-US" sz="1400" dirty="0" smtClean="0">
                <a:solidFill>
                  <a:sysClr val="windowText" lastClr="000000"/>
                </a:solidFill>
              </a:rPr>
              <a:t>). High temperature </a:t>
            </a:r>
            <a:r>
              <a:rPr lang="en-US" sz="1400" dirty="0" err="1" smtClean="0">
                <a:solidFill>
                  <a:sysClr val="windowText" lastClr="000000"/>
                </a:solidFill>
              </a:rPr>
              <a:t>Brayton</a:t>
            </a:r>
            <a:r>
              <a:rPr lang="en-US" sz="1400" dirty="0" smtClean="0">
                <a:solidFill>
                  <a:sysClr val="windowText" lastClr="000000"/>
                </a:solidFill>
              </a:rPr>
              <a:t> cycle.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40" y="5650349"/>
            <a:ext cx="7688580" cy="307777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High duty factor: </a:t>
            </a:r>
            <a:r>
              <a:rPr lang="en-US" sz="1400" dirty="0" smtClean="0"/>
              <a:t>reliability, control/mitigation of off normal events, maintainability and RAMI </a:t>
            </a:r>
            <a:endParaRPr lang="en-US" sz="1400" dirty="0"/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4091939" y="647700"/>
          <a:ext cx="1281607" cy="403859"/>
        </p:xfrm>
        <a:graphic>
          <a:graphicData uri="http://schemas.openxmlformats.org/presentationml/2006/ole">
            <p:oleObj spid="_x0000_s1026" name="Equation" r:id="rId4" imgW="825480" imgH="228600" progId="Equation.3">
              <p:embed/>
            </p:oleObj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5475732" y="617220"/>
          <a:ext cx="1427988" cy="419996"/>
        </p:xfrm>
        <a:graphic>
          <a:graphicData uri="http://schemas.openxmlformats.org/presentationml/2006/ole">
            <p:oleObj spid="_x0000_s1027" name="Equation" r:id="rId5" imgW="863280" imgH="253800" progId="Equation.3">
              <p:embed/>
            </p:oleObj>
          </a:graphicData>
        </a:graphic>
      </p:graphicFrame>
      <p:sp>
        <p:nvSpPr>
          <p:cNvPr id="47" name="Rectangle 46"/>
          <p:cNvSpPr/>
          <p:nvPr/>
        </p:nvSpPr>
        <p:spPr bwMode="auto">
          <a:xfrm>
            <a:off x="4099560" y="624840"/>
            <a:ext cx="1318260" cy="3886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5463540" y="632460"/>
            <a:ext cx="140208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 new fusion science facilities like ITER drive facility specific R&amp;D </a:t>
            </a:r>
            <a:r>
              <a:rPr lang="en-US" dirty="0" smtClean="0"/>
              <a:t>(&gt; $1 B</a:t>
            </a:r>
            <a:r>
              <a:rPr lang="en-US" dirty="0" smtClean="0"/>
              <a:t>) that advances the state of the art in technologies needed to achieve their performance objectives.  Follow through and long term technology commitment is lacking. </a:t>
            </a:r>
          </a:p>
          <a:p>
            <a:endParaRPr lang="en-US" dirty="0" smtClean="0"/>
          </a:p>
          <a:p>
            <a:r>
              <a:rPr lang="en-US" dirty="0" smtClean="0"/>
              <a:t>A  larger and </a:t>
            </a:r>
            <a:r>
              <a:rPr lang="en-US" i="1" dirty="0" smtClean="0"/>
              <a:t>sustained</a:t>
            </a:r>
            <a:r>
              <a:rPr lang="en-US" dirty="0" smtClean="0"/>
              <a:t> research and development program in fusion </a:t>
            </a:r>
            <a:r>
              <a:rPr lang="en-US" dirty="0" smtClean="0"/>
              <a:t>engineering </a:t>
            </a:r>
            <a:r>
              <a:rPr lang="en-US" dirty="0" smtClean="0"/>
              <a:t>science, plasma and fusion energy technologies and materials science  will be required to deliver fusion power and major nuclear facilities such as CTF/FNSF and DEMO.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Fusion Budget Planning Meeting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RNL template_0704 11">
      <a:dk1>
        <a:srgbClr val="000000"/>
      </a:dk1>
      <a:lt1>
        <a:srgbClr val="FFFFFF"/>
      </a:lt1>
      <a:dk2>
        <a:srgbClr val="01673E"/>
      </a:dk2>
      <a:lt2>
        <a:srgbClr val="333333"/>
      </a:lt2>
      <a:accent1>
        <a:srgbClr val="003D6C"/>
      </a:accent1>
      <a:accent2>
        <a:srgbClr val="267186"/>
      </a:accent2>
      <a:accent3>
        <a:srgbClr val="FFFFFF"/>
      </a:accent3>
      <a:accent4>
        <a:srgbClr val="000000"/>
      </a:accent4>
      <a:accent5>
        <a:srgbClr val="AAAFBA"/>
      </a:accent5>
      <a:accent6>
        <a:srgbClr val="216679"/>
      </a:accent6>
      <a:hlink>
        <a:srgbClr val="8D1357"/>
      </a:hlink>
      <a:folHlink>
        <a:srgbClr val="FFCC66"/>
      </a:folHlink>
    </a:clrScheme>
    <a:fontScheme name="ORNL template_0704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NL template_0704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NL template_0704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NL template_0704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NL template_0704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NL template_0704 10">
        <a:dk1>
          <a:srgbClr val="000000"/>
        </a:dk1>
        <a:lt1>
          <a:srgbClr val="FFFFFF"/>
        </a:lt1>
        <a:dk2>
          <a:srgbClr val="01673E"/>
        </a:dk2>
        <a:lt2>
          <a:srgbClr val="333333"/>
        </a:lt2>
        <a:accent1>
          <a:srgbClr val="8D0A56"/>
        </a:accent1>
        <a:accent2>
          <a:srgbClr val="267186"/>
        </a:accent2>
        <a:accent3>
          <a:srgbClr val="FFFFFF"/>
        </a:accent3>
        <a:accent4>
          <a:srgbClr val="000000"/>
        </a:accent4>
        <a:accent5>
          <a:srgbClr val="C5AAB4"/>
        </a:accent5>
        <a:accent6>
          <a:srgbClr val="216679"/>
        </a:accent6>
        <a:hlink>
          <a:srgbClr val="FFCC66"/>
        </a:hlink>
        <a:folHlink>
          <a:srgbClr val="76A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NL template_0704 11">
        <a:dk1>
          <a:srgbClr val="000000"/>
        </a:dk1>
        <a:lt1>
          <a:srgbClr val="FFFFFF"/>
        </a:lt1>
        <a:dk2>
          <a:srgbClr val="01673E"/>
        </a:dk2>
        <a:lt2>
          <a:srgbClr val="333333"/>
        </a:lt2>
        <a:accent1>
          <a:srgbClr val="003D6C"/>
        </a:accent1>
        <a:accent2>
          <a:srgbClr val="267186"/>
        </a:accent2>
        <a:accent3>
          <a:srgbClr val="FFFFFF"/>
        </a:accent3>
        <a:accent4>
          <a:srgbClr val="000000"/>
        </a:accent4>
        <a:accent5>
          <a:srgbClr val="AAAFBA"/>
        </a:accent5>
        <a:accent6>
          <a:srgbClr val="216679"/>
        </a:accent6>
        <a:hlink>
          <a:srgbClr val="8D1357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26507</TotalTime>
  <Words>750</Words>
  <Application>Microsoft Office PowerPoint</Application>
  <PresentationFormat>On-screen Show (4:3)</PresentationFormat>
  <Paragraphs>127</Paragraphs>
  <Slides>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Symbol</vt:lpstr>
      <vt:lpstr>Arial Black</vt:lpstr>
      <vt:lpstr>Arial Rounded MT Bold</vt:lpstr>
      <vt:lpstr>Arial Narrow</vt:lpstr>
      <vt:lpstr>Times New Roman</vt:lpstr>
      <vt:lpstr>Calibri</vt:lpstr>
      <vt:lpstr>Theme1</vt:lpstr>
      <vt:lpstr>Microsoft Equation 3.0</vt:lpstr>
      <vt:lpstr>From ITER to DEMO – Technology  Towards Fusion Power</vt:lpstr>
      <vt:lpstr>2003 FESAC Fusion Development Path Study</vt:lpstr>
      <vt:lpstr>Current Plan (taken from “On the FES Vision”, E.Synakowski ISFNT 2011)</vt:lpstr>
      <vt:lpstr>The 2003 Plan Specified Substantial Increases in Materials and Technology Research</vt:lpstr>
      <vt:lpstr>ITER will demonstrate the scientific and technological feasibility of fusion energy</vt:lpstr>
      <vt:lpstr>Going beyond ITER</vt:lpstr>
      <vt:lpstr>Conclusion</vt:lpstr>
    </vt:vector>
  </TitlesOfParts>
  <Company>ORNL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Stan Milora</dc:creator>
  <cp:lastModifiedBy>Stan Milora</cp:lastModifiedBy>
  <cp:revision>164</cp:revision>
  <dcterms:created xsi:type="dcterms:W3CDTF">2011-04-11T17:16:17Z</dcterms:created>
  <dcterms:modified xsi:type="dcterms:W3CDTF">2012-08-26T17:40:37Z</dcterms:modified>
</cp:coreProperties>
</file>