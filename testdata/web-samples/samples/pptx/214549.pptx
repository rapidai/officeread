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Default Extension="bin" ContentType="application/vnd.openxmlformats-officedocument.oleObject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32918400" cy="43891200"/>
  <p:notesSz cx="9296400" cy="147828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86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sz="86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sz="86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sz="86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sz="86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8600"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sz="8600"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sz="8600"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sz="8600"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snapVertSplitter="1" vertBarState="minimized" horzBarState="maximized">
    <p:restoredLeft sz="15592" autoAdjust="0"/>
    <p:restoredTop sz="94645" autoAdjust="0"/>
  </p:normalViewPr>
  <p:slideViewPr>
    <p:cSldViewPr>
      <p:cViewPr>
        <p:scale>
          <a:sx n="25" d="100"/>
          <a:sy n="25" d="100"/>
        </p:scale>
        <p:origin x="-1674" y="1302"/>
      </p:cViewPr>
      <p:guideLst>
        <p:guide orient="horz" pos="13824"/>
        <p:guide pos="10368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7" Type="http://schemas.openxmlformats.org/officeDocument/2006/relationships/image" Target="../media/image7.wmf"/><Relationship Id="rId2" Type="http://schemas.openxmlformats.org/officeDocument/2006/relationships/image" Target="../media/image2.wmf"/><Relationship Id="rId1" Type="http://schemas.openxmlformats.org/officeDocument/2006/relationships/image" Target="../media/image1.png"/><Relationship Id="rId6" Type="http://schemas.openxmlformats.org/officeDocument/2006/relationships/image" Target="../media/image6.wmf"/><Relationship Id="rId5" Type="http://schemas.openxmlformats.org/officeDocument/2006/relationships/image" Target="../media/image5.wmf"/><Relationship Id="rId4" Type="http://schemas.openxmlformats.org/officeDocument/2006/relationships/image" Target="../media/image4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68563" y="13635038"/>
            <a:ext cx="27981275" cy="94075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37125" y="24871363"/>
            <a:ext cx="23044150" cy="11217275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E9DEC88-C188-4334-BD4F-0C633901242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E84E49D-21AF-4B67-944F-CE857016E5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0325" y="28203525"/>
            <a:ext cx="27981275" cy="871855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00325" y="18602325"/>
            <a:ext cx="27981275" cy="960120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F9B0074-3C97-4C37-B2D1-6CE6AB515791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46238" y="10240963"/>
            <a:ext cx="14736762" cy="289671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535400" y="10240963"/>
            <a:ext cx="14736763" cy="289671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2EC7E72-AFFA-453C-9645-3C82BBB71800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46238" y="9825038"/>
            <a:ext cx="14544675" cy="40941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46238" y="13919200"/>
            <a:ext cx="14544675" cy="2528887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6722725" y="9825038"/>
            <a:ext cx="14549438" cy="40941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6722725" y="13919200"/>
            <a:ext cx="14549438" cy="2528887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8ABDD5F-BDE0-43CA-883C-1F97431DCB0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4DD612D-784A-4DC1-8FBE-C82D55945BDC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5563065-5095-4E96-BE32-2ADBE8ADA676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6238" y="1747838"/>
            <a:ext cx="10829925" cy="743743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69863" y="1747838"/>
            <a:ext cx="18402300" cy="3746023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46238" y="9185275"/>
            <a:ext cx="10829925" cy="3002280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89577B4-B6B2-44F6-9351-893C6E625BA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51600" y="30724475"/>
            <a:ext cx="19751675" cy="36258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451600" y="3921125"/>
            <a:ext cx="19751675" cy="2633503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51600" y="34350325"/>
            <a:ext cx="19751675" cy="515143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8FE076B-1C7D-4F3B-B699-F0D95CF1080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84A465B-4DAE-4E60-870B-96A759D50FAB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3866475" y="1757363"/>
            <a:ext cx="7405688" cy="37450712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46238" y="1757363"/>
            <a:ext cx="22067837" cy="37450712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FE13016-F9FF-4F82-B6AF-BCE092E6C60E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646238" y="1757363"/>
            <a:ext cx="29625925" cy="7315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438912" tIns="219456" rIns="438912" bIns="219456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646238" y="10240963"/>
            <a:ext cx="29625925" cy="28967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438912" tIns="219456" rIns="438912" bIns="21945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646238" y="39970075"/>
            <a:ext cx="7680325" cy="304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438912" tIns="219456" rIns="438912" bIns="219456" numCol="1" anchor="t" anchorCtr="0" compatLnSpc="1">
            <a:prstTxWarp prst="textNoShape">
              <a:avLst/>
            </a:prstTxWarp>
          </a:bodyPr>
          <a:lstStyle>
            <a:lvl1pPr>
              <a:defRPr sz="6700"/>
            </a:lvl1pPr>
          </a:lstStyle>
          <a:p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1247438" y="39970075"/>
            <a:ext cx="10423525" cy="304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438912" tIns="219456" rIns="438912" bIns="219456" numCol="1" anchor="t" anchorCtr="0" compatLnSpc="1">
            <a:prstTxWarp prst="textNoShape">
              <a:avLst/>
            </a:prstTxWarp>
          </a:bodyPr>
          <a:lstStyle>
            <a:lvl1pPr algn="ctr">
              <a:defRPr sz="6700"/>
            </a:lvl1pPr>
          </a:lstStyle>
          <a:p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23591838" y="39970075"/>
            <a:ext cx="7680325" cy="304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438912" tIns="219456" rIns="438912" bIns="219456" numCol="1" anchor="t" anchorCtr="0" compatLnSpc="1">
            <a:prstTxWarp prst="textNoShape">
              <a:avLst/>
            </a:prstTxWarp>
          </a:bodyPr>
          <a:lstStyle>
            <a:lvl1pPr algn="r">
              <a:defRPr sz="6700"/>
            </a:lvl1pPr>
          </a:lstStyle>
          <a:p>
            <a:fld id="{B8E74AAA-1722-4256-BEF8-6A77E4DF48FF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389438" rtl="0" eaLnBrk="0" fontAlgn="base" hangingPunct="0">
        <a:spcBef>
          <a:spcPct val="0"/>
        </a:spcBef>
        <a:spcAft>
          <a:spcPct val="0"/>
        </a:spcAft>
        <a:defRPr sz="21100">
          <a:solidFill>
            <a:schemeClr val="tx2"/>
          </a:solidFill>
          <a:latin typeface="+mj-lt"/>
          <a:ea typeface="+mj-ea"/>
          <a:cs typeface="+mj-cs"/>
        </a:defRPr>
      </a:lvl1pPr>
      <a:lvl2pPr algn="ctr" defTabSz="4389438" rtl="0" eaLnBrk="0" fontAlgn="base" hangingPunct="0">
        <a:spcBef>
          <a:spcPct val="0"/>
        </a:spcBef>
        <a:spcAft>
          <a:spcPct val="0"/>
        </a:spcAft>
        <a:defRPr sz="21100">
          <a:solidFill>
            <a:schemeClr val="tx2"/>
          </a:solidFill>
          <a:latin typeface="Arial" charset="0"/>
          <a:cs typeface="Arial" charset="0"/>
        </a:defRPr>
      </a:lvl2pPr>
      <a:lvl3pPr algn="ctr" defTabSz="4389438" rtl="0" eaLnBrk="0" fontAlgn="base" hangingPunct="0">
        <a:spcBef>
          <a:spcPct val="0"/>
        </a:spcBef>
        <a:spcAft>
          <a:spcPct val="0"/>
        </a:spcAft>
        <a:defRPr sz="21100">
          <a:solidFill>
            <a:schemeClr val="tx2"/>
          </a:solidFill>
          <a:latin typeface="Arial" charset="0"/>
          <a:cs typeface="Arial" charset="0"/>
        </a:defRPr>
      </a:lvl3pPr>
      <a:lvl4pPr algn="ctr" defTabSz="4389438" rtl="0" eaLnBrk="0" fontAlgn="base" hangingPunct="0">
        <a:spcBef>
          <a:spcPct val="0"/>
        </a:spcBef>
        <a:spcAft>
          <a:spcPct val="0"/>
        </a:spcAft>
        <a:defRPr sz="21100">
          <a:solidFill>
            <a:schemeClr val="tx2"/>
          </a:solidFill>
          <a:latin typeface="Arial" charset="0"/>
          <a:cs typeface="Arial" charset="0"/>
        </a:defRPr>
      </a:lvl4pPr>
      <a:lvl5pPr algn="ctr" defTabSz="4389438" rtl="0" eaLnBrk="0" fontAlgn="base" hangingPunct="0">
        <a:spcBef>
          <a:spcPct val="0"/>
        </a:spcBef>
        <a:spcAft>
          <a:spcPct val="0"/>
        </a:spcAft>
        <a:defRPr sz="21100">
          <a:solidFill>
            <a:schemeClr val="tx2"/>
          </a:solidFill>
          <a:latin typeface="Arial" charset="0"/>
          <a:cs typeface="Arial" charset="0"/>
        </a:defRPr>
      </a:lvl5pPr>
      <a:lvl6pPr marL="457200" algn="ctr" defTabSz="4389438" rtl="0" fontAlgn="base">
        <a:spcBef>
          <a:spcPct val="0"/>
        </a:spcBef>
        <a:spcAft>
          <a:spcPct val="0"/>
        </a:spcAft>
        <a:defRPr sz="21100">
          <a:solidFill>
            <a:schemeClr val="tx2"/>
          </a:solidFill>
          <a:latin typeface="Arial" charset="0"/>
          <a:cs typeface="Arial" charset="0"/>
        </a:defRPr>
      </a:lvl6pPr>
      <a:lvl7pPr marL="914400" algn="ctr" defTabSz="4389438" rtl="0" fontAlgn="base">
        <a:spcBef>
          <a:spcPct val="0"/>
        </a:spcBef>
        <a:spcAft>
          <a:spcPct val="0"/>
        </a:spcAft>
        <a:defRPr sz="21100">
          <a:solidFill>
            <a:schemeClr val="tx2"/>
          </a:solidFill>
          <a:latin typeface="Arial" charset="0"/>
          <a:cs typeface="Arial" charset="0"/>
        </a:defRPr>
      </a:lvl7pPr>
      <a:lvl8pPr marL="1371600" algn="ctr" defTabSz="4389438" rtl="0" fontAlgn="base">
        <a:spcBef>
          <a:spcPct val="0"/>
        </a:spcBef>
        <a:spcAft>
          <a:spcPct val="0"/>
        </a:spcAft>
        <a:defRPr sz="21100">
          <a:solidFill>
            <a:schemeClr val="tx2"/>
          </a:solidFill>
          <a:latin typeface="Arial" charset="0"/>
          <a:cs typeface="Arial" charset="0"/>
        </a:defRPr>
      </a:lvl8pPr>
      <a:lvl9pPr marL="1828800" algn="ctr" defTabSz="4389438" rtl="0" fontAlgn="base">
        <a:spcBef>
          <a:spcPct val="0"/>
        </a:spcBef>
        <a:spcAft>
          <a:spcPct val="0"/>
        </a:spcAft>
        <a:defRPr sz="21100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marL="1646238" indent="-1646238" algn="l" defTabSz="4389438" rtl="0" eaLnBrk="0" fontAlgn="base" hangingPunct="0">
        <a:spcBef>
          <a:spcPct val="20000"/>
        </a:spcBef>
        <a:spcAft>
          <a:spcPct val="0"/>
        </a:spcAft>
        <a:buChar char="•"/>
        <a:defRPr sz="15400">
          <a:solidFill>
            <a:schemeClr val="tx1"/>
          </a:solidFill>
          <a:latin typeface="+mn-lt"/>
          <a:ea typeface="+mn-ea"/>
          <a:cs typeface="+mn-cs"/>
        </a:defRPr>
      </a:lvl1pPr>
      <a:lvl2pPr marL="3565525" indent="-1371600" algn="l" defTabSz="4389438" rtl="0" eaLnBrk="0" fontAlgn="base" hangingPunct="0">
        <a:spcBef>
          <a:spcPct val="20000"/>
        </a:spcBef>
        <a:spcAft>
          <a:spcPct val="0"/>
        </a:spcAft>
        <a:buChar char="–"/>
        <a:defRPr sz="13400">
          <a:solidFill>
            <a:schemeClr val="tx1"/>
          </a:solidFill>
          <a:latin typeface="+mn-lt"/>
          <a:cs typeface="+mn-cs"/>
        </a:defRPr>
      </a:lvl2pPr>
      <a:lvl3pPr marL="5486400" indent="-1096963" algn="l" defTabSz="4389438" rtl="0" eaLnBrk="0" fontAlgn="base" hangingPunct="0">
        <a:spcBef>
          <a:spcPct val="20000"/>
        </a:spcBef>
        <a:spcAft>
          <a:spcPct val="0"/>
        </a:spcAft>
        <a:buChar char="•"/>
        <a:defRPr sz="11500">
          <a:solidFill>
            <a:schemeClr val="tx1"/>
          </a:solidFill>
          <a:latin typeface="+mn-lt"/>
          <a:cs typeface="+mn-cs"/>
        </a:defRPr>
      </a:lvl3pPr>
      <a:lvl4pPr marL="7680325" indent="-1096963" algn="l" defTabSz="4389438" rtl="0" eaLnBrk="0" fontAlgn="base" hangingPunct="0">
        <a:spcBef>
          <a:spcPct val="20000"/>
        </a:spcBef>
        <a:spcAft>
          <a:spcPct val="0"/>
        </a:spcAft>
        <a:buChar char="–"/>
        <a:defRPr sz="9600">
          <a:solidFill>
            <a:schemeClr val="tx1"/>
          </a:solidFill>
          <a:latin typeface="+mn-lt"/>
          <a:cs typeface="+mn-cs"/>
        </a:defRPr>
      </a:lvl4pPr>
      <a:lvl5pPr marL="9875838" indent="-1096963" algn="l" defTabSz="4389438" rtl="0" eaLnBrk="0" fontAlgn="base" hangingPunct="0">
        <a:spcBef>
          <a:spcPct val="20000"/>
        </a:spcBef>
        <a:spcAft>
          <a:spcPct val="0"/>
        </a:spcAft>
        <a:buChar char="»"/>
        <a:defRPr sz="9600">
          <a:solidFill>
            <a:schemeClr val="tx1"/>
          </a:solidFill>
          <a:latin typeface="+mn-lt"/>
          <a:cs typeface="+mn-cs"/>
        </a:defRPr>
      </a:lvl5pPr>
      <a:lvl6pPr marL="10333038" indent="-1096963" algn="l" defTabSz="4389438" rtl="0" fontAlgn="base">
        <a:spcBef>
          <a:spcPct val="20000"/>
        </a:spcBef>
        <a:spcAft>
          <a:spcPct val="0"/>
        </a:spcAft>
        <a:buChar char="»"/>
        <a:defRPr sz="9600">
          <a:solidFill>
            <a:schemeClr val="tx1"/>
          </a:solidFill>
          <a:latin typeface="+mn-lt"/>
          <a:cs typeface="+mn-cs"/>
        </a:defRPr>
      </a:lvl6pPr>
      <a:lvl7pPr marL="10790238" indent="-1096963" algn="l" defTabSz="4389438" rtl="0" fontAlgn="base">
        <a:spcBef>
          <a:spcPct val="20000"/>
        </a:spcBef>
        <a:spcAft>
          <a:spcPct val="0"/>
        </a:spcAft>
        <a:buChar char="»"/>
        <a:defRPr sz="9600">
          <a:solidFill>
            <a:schemeClr val="tx1"/>
          </a:solidFill>
          <a:latin typeface="+mn-lt"/>
          <a:cs typeface="+mn-cs"/>
        </a:defRPr>
      </a:lvl7pPr>
      <a:lvl8pPr marL="11247438" indent="-1096963" algn="l" defTabSz="4389438" rtl="0" fontAlgn="base">
        <a:spcBef>
          <a:spcPct val="20000"/>
        </a:spcBef>
        <a:spcAft>
          <a:spcPct val="0"/>
        </a:spcAft>
        <a:buChar char="»"/>
        <a:defRPr sz="9600">
          <a:solidFill>
            <a:schemeClr val="tx1"/>
          </a:solidFill>
          <a:latin typeface="+mn-lt"/>
          <a:cs typeface="+mn-cs"/>
        </a:defRPr>
      </a:lvl8pPr>
      <a:lvl9pPr marL="11704638" indent="-1096963" algn="l" defTabSz="4389438" rtl="0" fontAlgn="base">
        <a:spcBef>
          <a:spcPct val="20000"/>
        </a:spcBef>
        <a:spcAft>
          <a:spcPct val="0"/>
        </a:spcAft>
        <a:buChar char="»"/>
        <a:defRPr sz="96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3" Type="http://schemas.openxmlformats.org/officeDocument/2006/relationships/image" Target="../media/image8.wmf"/><Relationship Id="rId7" Type="http://schemas.openxmlformats.org/officeDocument/2006/relationships/oleObject" Target="../embeddings/oleObject4.bin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" Type="http://schemas.openxmlformats.org/officeDocument/2006/relationships/slideLayout" Target="../slideLayouts/slideLayout1.xml"/><Relationship Id="rId16" Type="http://schemas.openxmlformats.org/officeDocument/2006/relationships/image" Target="../media/image14.png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3.bin"/><Relationship Id="rId11" Type="http://schemas.openxmlformats.org/officeDocument/2006/relationships/oleObject" Target="../embeddings/oleObject7.bin"/><Relationship Id="rId5" Type="http://schemas.openxmlformats.org/officeDocument/2006/relationships/oleObject" Target="../embeddings/oleObject2.bin"/><Relationship Id="rId15" Type="http://schemas.openxmlformats.org/officeDocument/2006/relationships/image" Target="../media/image13.png"/><Relationship Id="rId10" Type="http://schemas.openxmlformats.org/officeDocument/2006/relationships/oleObject" Target="../embeddings/oleObject6.bin"/><Relationship Id="rId19" Type="http://schemas.openxmlformats.org/officeDocument/2006/relationships/image" Target="../media/image17.png"/><Relationship Id="rId4" Type="http://schemas.openxmlformats.org/officeDocument/2006/relationships/oleObject" Target="../embeddings/oleObject1.bin"/><Relationship Id="rId9" Type="http://schemas.openxmlformats.org/officeDocument/2006/relationships/oleObject" Target="../embeddings/oleObject5.bin"/><Relationship Id="rId1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7"/>
          <p:cNvPicPr>
            <a:picLocks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85800" y="609600"/>
            <a:ext cx="3048000" cy="190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1026" name="Object 6"/>
          <p:cNvGraphicFramePr>
            <a:graphicFrameLocks noChangeAspect="1"/>
          </p:cNvGraphicFramePr>
          <p:nvPr/>
        </p:nvGraphicFramePr>
        <p:xfrm>
          <a:off x="28956000" y="609600"/>
          <a:ext cx="2897188" cy="1879600"/>
        </p:xfrm>
        <a:graphic>
          <a:graphicData uri="http://schemas.openxmlformats.org/presentationml/2006/ole">
            <p:oleObj spid="_x0000_s1026" name="Bitmap Image" r:id="rId4" imgW="2362530" imgH="1533739" progId="PBrush">
              <p:embed/>
            </p:oleObj>
          </a:graphicData>
        </a:graphic>
      </p:graphicFrame>
      <p:sp>
        <p:nvSpPr>
          <p:cNvPr id="4" name="Rectangle 3"/>
          <p:cNvSpPr/>
          <p:nvPr/>
        </p:nvSpPr>
        <p:spPr>
          <a:xfrm>
            <a:off x="4343400" y="533400"/>
            <a:ext cx="24231600" cy="22775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5400" b="1" dirty="0" smtClean="0">
                <a:solidFill>
                  <a:schemeClr val="accent2"/>
                </a:solidFill>
              </a:rPr>
              <a:t>HIRDLS Retrieval Characterization</a:t>
            </a:r>
          </a:p>
          <a:p>
            <a:pPr algn="ctr">
              <a:buNone/>
            </a:pPr>
            <a:r>
              <a:rPr lang="en-US" sz="4800" b="1" dirty="0" smtClean="0">
                <a:solidFill>
                  <a:schemeClr val="accent2"/>
                </a:solidFill>
              </a:rPr>
              <a:t>Rashid </a:t>
            </a:r>
            <a:r>
              <a:rPr lang="en-US" sz="4800" b="1" dirty="0" err="1" smtClean="0">
                <a:solidFill>
                  <a:schemeClr val="accent2"/>
                </a:solidFill>
              </a:rPr>
              <a:t>Khosravi</a:t>
            </a:r>
            <a:r>
              <a:rPr lang="en-US" sz="4800" b="1" dirty="0" smtClean="0">
                <a:solidFill>
                  <a:schemeClr val="accent2"/>
                </a:solidFill>
              </a:rPr>
              <a:t>, J. </a:t>
            </a:r>
            <a:r>
              <a:rPr lang="en-US" sz="4800" b="1" dirty="0" err="1" smtClean="0">
                <a:solidFill>
                  <a:schemeClr val="accent2"/>
                </a:solidFill>
              </a:rPr>
              <a:t>Gille</a:t>
            </a:r>
            <a:r>
              <a:rPr lang="en-US" sz="4800" b="1" dirty="0" smtClean="0">
                <a:solidFill>
                  <a:schemeClr val="accent2"/>
                </a:solidFill>
              </a:rPr>
              <a:t>, J. Barnett, and the HIRDLS Team</a:t>
            </a:r>
          </a:p>
          <a:p>
            <a:pPr algn="ctr">
              <a:buNone/>
            </a:pPr>
            <a:r>
              <a:rPr lang="en-US" sz="4000" b="1" dirty="0" smtClean="0">
                <a:solidFill>
                  <a:schemeClr val="accent2"/>
                </a:solidFill>
              </a:rPr>
              <a:t>Aura STMG, Oct. 27-30, 2008</a:t>
            </a:r>
          </a:p>
        </p:txBody>
      </p:sp>
      <p:sp>
        <p:nvSpPr>
          <p:cNvPr id="5" name="Rectangle 4"/>
          <p:cNvSpPr/>
          <p:nvPr/>
        </p:nvSpPr>
        <p:spPr>
          <a:xfrm>
            <a:off x="8153400" y="3048000"/>
            <a:ext cx="16459200" cy="52198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0">
              <a:buNone/>
            </a:pPr>
            <a:endParaRPr lang="en-US" sz="2800" b="1" dirty="0" smtClean="0">
              <a:solidFill>
                <a:schemeClr val="accent2"/>
              </a:solidFill>
            </a:endParaRPr>
          </a:p>
          <a:p>
            <a:pPr indent="0">
              <a:buNone/>
            </a:pPr>
            <a:endParaRPr lang="en-US" sz="2800" b="1" dirty="0" smtClean="0">
              <a:solidFill>
                <a:schemeClr val="accent2"/>
              </a:solidFill>
            </a:endParaRPr>
          </a:p>
          <a:p>
            <a:pPr indent="0">
              <a:buNone/>
            </a:pPr>
            <a:r>
              <a:rPr lang="en-US" sz="2800" b="1" dirty="0" smtClean="0">
                <a:solidFill>
                  <a:schemeClr val="accent2"/>
                </a:solidFill>
              </a:rPr>
              <a:t>HIRDLS averaging kernels for T, O</a:t>
            </a:r>
            <a:r>
              <a:rPr lang="en-US" sz="2800" b="1" baseline="-25000" dirty="0" smtClean="0">
                <a:solidFill>
                  <a:schemeClr val="accent2"/>
                </a:solidFill>
              </a:rPr>
              <a:t>3</a:t>
            </a:r>
            <a:r>
              <a:rPr lang="en-US" sz="2800" b="1" dirty="0" smtClean="0">
                <a:solidFill>
                  <a:schemeClr val="accent2"/>
                </a:solidFill>
              </a:rPr>
              <a:t>, and HNO</a:t>
            </a:r>
            <a:r>
              <a:rPr lang="en-US" sz="2800" b="1" baseline="-25000" dirty="0" smtClean="0">
                <a:solidFill>
                  <a:schemeClr val="accent2"/>
                </a:solidFill>
              </a:rPr>
              <a:t>3</a:t>
            </a:r>
            <a:r>
              <a:rPr lang="en-US" sz="2800" b="1" dirty="0" smtClean="0">
                <a:solidFill>
                  <a:schemeClr val="accent2"/>
                </a:solidFill>
              </a:rPr>
              <a:t> are examined for a mid-latitude NH winter profile. It is shown that for regions of high signal-to-noise ratio the retrievals follow the observed radiances very closely (minimal contribution from a priori) and have very high resolution (~ 1 km). Curtain plots show that HIRDLS retrievals maintain these characteristics for all latitudes throughout an orbit. Temperature error decomposition shows that the total estimated precision, which is very small (0.5-0.8 K) from 16-55 km, increases rapidly in the UTLS region, being dominated by the a priori errors. In future versions, the current temperature a priori data (CIRA) will be replaced with GEOS data to allow better temperature retrievals in cloudy regions as well as in clear regions in the lower troposphere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sz="2800" b="1" dirty="0" smtClean="0">
              <a:solidFill>
                <a:schemeClr val="accent2"/>
              </a:solidFill>
            </a:endParaRPr>
          </a:p>
        </p:txBody>
      </p:sp>
      <p:graphicFrame>
        <p:nvGraphicFramePr>
          <p:cNvPr id="2" name="Object 2"/>
          <p:cNvGraphicFramePr>
            <a:graphicFrameLocks noChangeAspect="1"/>
          </p:cNvGraphicFramePr>
          <p:nvPr/>
        </p:nvGraphicFramePr>
        <p:xfrm>
          <a:off x="901700" y="9144000"/>
          <a:ext cx="7518400" cy="2616200"/>
        </p:xfrm>
        <a:graphic>
          <a:graphicData uri="http://schemas.openxmlformats.org/presentationml/2006/ole">
            <p:oleObj spid="_x0000_s1027" name="Equation" r:id="rId5" imgW="7518240" imgH="2616120" progId="Equation.3">
              <p:embed/>
            </p:oleObj>
          </a:graphicData>
        </a:graphic>
      </p:graphicFrame>
      <p:sp>
        <p:nvSpPr>
          <p:cNvPr id="8" name="Rectangle 7"/>
          <p:cNvSpPr/>
          <p:nvPr/>
        </p:nvSpPr>
        <p:spPr>
          <a:xfrm>
            <a:off x="7315200" y="8534400"/>
            <a:ext cx="6629400" cy="523220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eaLnBrk="1" hangingPunct="1">
              <a:buFontTx/>
              <a:buNone/>
            </a:pPr>
            <a:r>
              <a:rPr lang="en-US" sz="2800" b="1" dirty="0" smtClean="0">
                <a:solidFill>
                  <a:schemeClr val="accent2"/>
                </a:solidFill>
              </a:rPr>
              <a:t>Retrieval Method: Optimal Estimation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24917400" y="10629900"/>
            <a:ext cx="8001000" cy="5334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20000"/>
              </a:spcBef>
              <a:buClr>
                <a:srgbClr val="000000"/>
              </a:buClr>
              <a:buSzPct val="75000"/>
            </a:pPr>
            <a:r>
              <a:rPr lang="en-US" sz="2800" b="1" dirty="0" smtClean="0">
                <a:solidFill>
                  <a:schemeClr val="accent2"/>
                </a:solidFill>
              </a:rPr>
              <a:t>; i.e., response to perturbation is a </a:t>
            </a:r>
            <a:r>
              <a:rPr lang="el-GR" sz="2800" b="1" dirty="0" smtClean="0">
                <a:solidFill>
                  <a:schemeClr val="accent2"/>
                </a:solidFill>
                <a:latin typeface="Times New Roman"/>
                <a:cs typeface="Times New Roman"/>
              </a:rPr>
              <a:t>δ</a:t>
            </a:r>
            <a:r>
              <a:rPr lang="en-US" sz="2800" b="1" dirty="0" smtClean="0">
                <a:solidFill>
                  <a:schemeClr val="accent2"/>
                </a:solidFill>
                <a:latin typeface="Times New Roman"/>
                <a:cs typeface="Times New Roman"/>
              </a:rPr>
              <a:t> function</a:t>
            </a:r>
            <a:endParaRPr lang="en-US" sz="2800" b="1" dirty="0" smtClean="0">
              <a:solidFill>
                <a:schemeClr val="accent2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5259050" y="3200400"/>
            <a:ext cx="2190750" cy="523220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en-US" sz="2800" b="1" dirty="0" smtClean="0">
                <a:solidFill>
                  <a:schemeClr val="accent2"/>
                </a:solidFill>
              </a:rPr>
              <a:t>ABSTRACT</a:t>
            </a:r>
            <a:endParaRPr lang="en-US" sz="2800" b="1" dirty="0">
              <a:solidFill>
                <a:schemeClr val="accent2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0820400" y="9144000"/>
            <a:ext cx="10210800" cy="5334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20000"/>
              </a:spcBef>
              <a:buClr>
                <a:srgbClr val="000000"/>
              </a:buClr>
              <a:buSzPct val="75000"/>
            </a:pPr>
            <a:r>
              <a:rPr lang="en-US" sz="2800" b="1" u="sng" dirty="0" smtClean="0">
                <a:solidFill>
                  <a:schemeClr val="accent2"/>
                </a:solidFill>
              </a:rPr>
              <a:t>Solution</a:t>
            </a:r>
            <a:r>
              <a:rPr lang="en-US" sz="2800" b="1" dirty="0" smtClean="0">
                <a:solidFill>
                  <a:schemeClr val="accent2"/>
                </a:solidFill>
              </a:rPr>
              <a:t>: minimize with respect to X (Maximum Likelihood)</a:t>
            </a:r>
            <a:endParaRPr lang="en-US" sz="2800" b="1" dirty="0">
              <a:solidFill>
                <a:schemeClr val="accent2"/>
              </a:solidFill>
            </a:endParaRPr>
          </a:p>
        </p:txBody>
      </p:sp>
      <p:graphicFrame>
        <p:nvGraphicFramePr>
          <p:cNvPr id="1028" name="Object 2"/>
          <p:cNvGraphicFramePr>
            <a:graphicFrameLocks noChangeAspect="1"/>
          </p:cNvGraphicFramePr>
          <p:nvPr/>
        </p:nvGraphicFramePr>
        <p:xfrm>
          <a:off x="10972800" y="9677400"/>
          <a:ext cx="8839200" cy="1612900"/>
        </p:xfrm>
        <a:graphic>
          <a:graphicData uri="http://schemas.openxmlformats.org/presentationml/2006/ole">
            <p:oleObj spid="_x0000_s1028" name="Equation" r:id="rId6" imgW="8839080" imgH="1612800" progId="Equation.3">
              <p:embed/>
            </p:oleObj>
          </a:graphicData>
        </a:graphic>
      </p:graphicFrame>
      <p:sp>
        <p:nvSpPr>
          <p:cNvPr id="13" name="Rectangle 12"/>
          <p:cNvSpPr/>
          <p:nvPr/>
        </p:nvSpPr>
        <p:spPr>
          <a:xfrm>
            <a:off x="10972800" y="11353800"/>
            <a:ext cx="11277600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buFontTx/>
              <a:buNone/>
              <a:defRPr/>
            </a:pPr>
            <a:r>
              <a:rPr lang="en-US" sz="2800" b="1" dirty="0" smtClean="0">
                <a:solidFill>
                  <a:schemeClr val="accent2"/>
                </a:solidFill>
              </a:rPr>
              <a:t>Convergence Criteria</a:t>
            </a:r>
          </a:p>
          <a:p>
            <a:pPr marL="514350" indent="-514350" eaLnBrk="1" hangingPunct="1">
              <a:buFontTx/>
              <a:buAutoNum type="alphaLcParenR"/>
              <a:defRPr/>
            </a:pPr>
            <a:r>
              <a:rPr lang="en-US" sz="2800" b="1" dirty="0" smtClean="0">
                <a:solidFill>
                  <a:schemeClr val="accent2"/>
                </a:solidFill>
              </a:rPr>
              <a:t>set a tolerance limit; avoids waste of computational time</a:t>
            </a:r>
          </a:p>
          <a:p>
            <a:pPr marL="514350" indent="-514350" eaLnBrk="1" hangingPunct="1">
              <a:buFontTx/>
              <a:buAutoNum type="alphaLcParenR"/>
              <a:defRPr/>
            </a:pPr>
            <a:endParaRPr lang="en-US" sz="2800" b="1" dirty="0" smtClean="0">
              <a:solidFill>
                <a:schemeClr val="accent2"/>
              </a:solidFill>
            </a:endParaRPr>
          </a:p>
          <a:p>
            <a:pPr indent="0" eaLnBrk="1" hangingPunct="1">
              <a:buFontTx/>
              <a:buNone/>
              <a:defRPr/>
            </a:pPr>
            <a:r>
              <a:rPr lang="en-US" sz="2800" b="1" dirty="0" smtClean="0">
                <a:solidFill>
                  <a:schemeClr val="accent2"/>
                </a:solidFill>
              </a:rPr>
              <a:t>b) set an optimal limit for number of iterations; avoids stopping 	</a:t>
            </a:r>
          </a:p>
          <a:p>
            <a:pPr indent="0" eaLnBrk="1" hangingPunct="1">
              <a:buFontTx/>
              <a:buNone/>
              <a:defRPr/>
            </a:pPr>
            <a:r>
              <a:rPr lang="en-US" sz="2800" b="1" dirty="0" smtClean="0">
                <a:solidFill>
                  <a:schemeClr val="accent2"/>
                </a:solidFill>
              </a:rPr>
              <a:t>before convergence, and never-converging retrievals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707600" y="12725400"/>
            <a:ext cx="1021080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buFontTx/>
              <a:buNone/>
            </a:pPr>
            <a:r>
              <a:rPr lang="en-US" sz="2800" b="1" dirty="0" smtClean="0">
                <a:solidFill>
                  <a:schemeClr val="accent2"/>
                </a:solidFill>
              </a:rPr>
              <a:t>In general, vertical resolution degrades and fraction from</a:t>
            </a:r>
          </a:p>
          <a:p>
            <a:pPr eaLnBrk="1" hangingPunct="1">
              <a:buFontTx/>
              <a:buNone/>
            </a:pPr>
            <a:r>
              <a:rPr lang="en-US" sz="2800" b="1" dirty="0" smtClean="0">
                <a:solidFill>
                  <a:schemeClr val="accent2"/>
                </a:solidFill>
              </a:rPr>
              <a:t>a priori increases with higher noise</a:t>
            </a:r>
          </a:p>
        </p:txBody>
      </p:sp>
      <p:graphicFrame>
        <p:nvGraphicFramePr>
          <p:cNvPr id="1030" name="Object 6"/>
          <p:cNvGraphicFramePr>
            <a:graphicFrameLocks noChangeAspect="1"/>
          </p:cNvGraphicFramePr>
          <p:nvPr/>
        </p:nvGraphicFramePr>
        <p:xfrm>
          <a:off x="22631400" y="9144000"/>
          <a:ext cx="1219200" cy="825500"/>
        </p:xfrm>
        <a:graphic>
          <a:graphicData uri="http://schemas.openxmlformats.org/presentationml/2006/ole">
            <p:oleObj spid="_x0000_s1030" name="Equation" r:id="rId7" imgW="1218960" imgH="825480" progId="Equation.DSMT4">
              <p:embed/>
            </p:oleObj>
          </a:graphicData>
        </a:graphic>
      </p:graphicFrame>
      <p:pic>
        <p:nvPicPr>
          <p:cNvPr id="17" name="Picture 3"/>
          <p:cNvPicPr>
            <a:picLocks noChangeAspect="1" noChangeArrowheads="1"/>
          </p:cNvPicPr>
          <p:nvPr/>
        </p:nvPicPr>
        <p:blipFill>
          <a:blip r:embed="rId8"/>
          <a:srcRect l="26180" t="24626" r="49069" b="45619"/>
          <a:stretch>
            <a:fillRect/>
          </a:stretch>
        </p:blipFill>
        <p:spPr bwMode="auto">
          <a:xfrm>
            <a:off x="7772400" y="15240000"/>
            <a:ext cx="5486400" cy="403998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</p:pic>
      <p:sp>
        <p:nvSpPr>
          <p:cNvPr id="18" name="Rectangle 17"/>
          <p:cNvSpPr/>
          <p:nvPr/>
        </p:nvSpPr>
        <p:spPr>
          <a:xfrm>
            <a:off x="25679400" y="8534400"/>
            <a:ext cx="3118098" cy="523220"/>
          </a:xfrm>
          <a:prstGeom prst="rect">
            <a:avLst/>
          </a:prstGeom>
          <a:solidFill>
            <a:srgbClr val="FFFF00"/>
          </a:solidFill>
        </p:spPr>
        <p:txBody>
          <a:bodyPr wrap="none">
            <a:spAutoFit/>
          </a:bodyPr>
          <a:lstStyle/>
          <a:p>
            <a:pPr eaLnBrk="1" hangingPunct="1">
              <a:buFontTx/>
              <a:buNone/>
            </a:pPr>
            <a:r>
              <a:rPr lang="en-US" sz="2800" dirty="0" smtClean="0">
                <a:solidFill>
                  <a:schemeClr val="accent2"/>
                </a:solidFill>
              </a:rPr>
              <a:t>Averaging Kernels</a:t>
            </a:r>
          </a:p>
        </p:txBody>
      </p:sp>
      <p:graphicFrame>
        <p:nvGraphicFramePr>
          <p:cNvPr id="1031" name="Object 7"/>
          <p:cNvGraphicFramePr>
            <a:graphicFrameLocks noChangeAspect="1"/>
          </p:cNvGraphicFramePr>
          <p:nvPr/>
        </p:nvGraphicFramePr>
        <p:xfrm>
          <a:off x="4419600" y="9982200"/>
          <a:ext cx="4254500" cy="1130300"/>
        </p:xfrm>
        <a:graphic>
          <a:graphicData uri="http://schemas.openxmlformats.org/presentationml/2006/ole">
            <p:oleObj spid="_x0000_s1031" name="Equation" r:id="rId9" imgW="4254480" imgH="1130040" progId="Equation.3">
              <p:embed/>
            </p:oleObj>
          </a:graphicData>
        </a:graphic>
      </p:graphicFrame>
      <p:sp>
        <p:nvSpPr>
          <p:cNvPr id="19" name="Rectangle 18"/>
          <p:cNvSpPr/>
          <p:nvPr/>
        </p:nvSpPr>
        <p:spPr>
          <a:xfrm>
            <a:off x="838200" y="11506200"/>
            <a:ext cx="975360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buClr>
                <a:srgbClr val="000000"/>
              </a:buClr>
              <a:buSzPct val="75000"/>
            </a:pPr>
            <a:r>
              <a:rPr lang="en-US" sz="2800" b="1" dirty="0" smtClean="0">
                <a:solidFill>
                  <a:schemeClr val="accent2"/>
                </a:solidFill>
              </a:rPr>
              <a:t>Constrains solution to prior knowledge of atmospheric</a:t>
            </a:r>
          </a:p>
          <a:p>
            <a:pPr>
              <a:spcBef>
                <a:spcPts val="0"/>
              </a:spcBef>
              <a:buClr>
                <a:srgbClr val="000000"/>
              </a:buClr>
              <a:buSzPct val="75000"/>
            </a:pPr>
            <a:r>
              <a:rPr lang="en-US" sz="2800" b="1" dirty="0" smtClean="0">
                <a:solidFill>
                  <a:schemeClr val="accent2"/>
                </a:solidFill>
              </a:rPr>
              <a:t>state weighted by the a priori errors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38200" y="12649200"/>
            <a:ext cx="952500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buClr>
                <a:srgbClr val="000000"/>
              </a:buClr>
              <a:buSzPct val="75000"/>
            </a:pPr>
            <a:r>
              <a:rPr lang="en-US" sz="2800" b="1" dirty="0" smtClean="0">
                <a:solidFill>
                  <a:schemeClr val="accent2"/>
                </a:solidFill>
              </a:rPr>
              <a:t>Evaluates difference between measured and simulated</a:t>
            </a:r>
          </a:p>
          <a:p>
            <a:pPr>
              <a:spcBef>
                <a:spcPts val="0"/>
              </a:spcBef>
              <a:buClr>
                <a:srgbClr val="000000"/>
              </a:buClr>
              <a:buSzPct val="75000"/>
            </a:pPr>
            <a:r>
              <a:rPr lang="en-US" sz="2800" b="1" dirty="0" smtClean="0">
                <a:solidFill>
                  <a:schemeClr val="accent2"/>
                </a:solidFill>
              </a:rPr>
              <a:t>radiances weighted by the measurement errors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3926800" y="9144000"/>
            <a:ext cx="8991600" cy="5278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buClr>
                <a:srgbClr val="000000"/>
              </a:buClr>
              <a:buSzPct val="75000"/>
            </a:pPr>
            <a:r>
              <a:rPr lang="en-US" sz="2800" b="1" dirty="0" smtClean="0">
                <a:solidFill>
                  <a:schemeClr val="accent2"/>
                </a:solidFill>
              </a:rPr>
              <a:t> response of retrieval to perturbations in true state</a:t>
            </a:r>
          </a:p>
        </p:txBody>
      </p:sp>
      <p:graphicFrame>
        <p:nvGraphicFramePr>
          <p:cNvPr id="1032" name="Object 8"/>
          <p:cNvGraphicFramePr>
            <a:graphicFrameLocks noChangeAspect="1"/>
          </p:cNvGraphicFramePr>
          <p:nvPr/>
        </p:nvGraphicFramePr>
        <p:xfrm>
          <a:off x="22631400" y="10134600"/>
          <a:ext cx="711200" cy="495300"/>
        </p:xfrm>
        <a:graphic>
          <a:graphicData uri="http://schemas.openxmlformats.org/presentationml/2006/ole">
            <p:oleObj spid="_x0000_s1032" name="Equation" r:id="rId10" imgW="711000" imgH="495000" progId="Equation.DSMT4">
              <p:embed/>
            </p:oleObj>
          </a:graphicData>
        </a:graphic>
      </p:graphicFrame>
      <p:sp>
        <p:nvSpPr>
          <p:cNvPr id="23" name="Rectangle 22"/>
          <p:cNvSpPr/>
          <p:nvPr/>
        </p:nvSpPr>
        <p:spPr>
          <a:xfrm>
            <a:off x="23241000" y="10058400"/>
            <a:ext cx="9677400" cy="5334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buClr>
                <a:srgbClr val="000000"/>
              </a:buClr>
              <a:buSzPct val="75000"/>
            </a:pPr>
            <a:r>
              <a:rPr lang="en-US" sz="2800" b="1" dirty="0" smtClean="0">
                <a:solidFill>
                  <a:schemeClr val="accent2"/>
                </a:solidFill>
              </a:rPr>
              <a:t>retrieval response at levels j to a perturbation at level </a:t>
            </a:r>
            <a:r>
              <a:rPr lang="en-US" sz="2800" b="1" dirty="0" err="1" smtClean="0">
                <a:solidFill>
                  <a:schemeClr val="accent2"/>
                </a:solidFill>
              </a:rPr>
              <a:t>i</a:t>
            </a:r>
            <a:endParaRPr lang="en-US" sz="2800" b="1" dirty="0" smtClean="0">
              <a:solidFill>
                <a:schemeClr val="accent2"/>
              </a:solidFill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22707600" y="10668000"/>
            <a:ext cx="13716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buClr>
                <a:srgbClr val="000000"/>
              </a:buClr>
              <a:buSzPct val="75000"/>
            </a:pPr>
            <a:r>
              <a:rPr lang="en-US" sz="2800" b="1" dirty="0" smtClean="0">
                <a:solidFill>
                  <a:schemeClr val="accent2"/>
                </a:solidFill>
              </a:rPr>
              <a:t>Ideally, </a:t>
            </a:r>
          </a:p>
        </p:txBody>
      </p:sp>
      <p:graphicFrame>
        <p:nvGraphicFramePr>
          <p:cNvPr id="1034" name="Object 10"/>
          <p:cNvGraphicFramePr>
            <a:graphicFrameLocks noChangeAspect="1"/>
          </p:cNvGraphicFramePr>
          <p:nvPr/>
        </p:nvGraphicFramePr>
        <p:xfrm>
          <a:off x="24079200" y="10782300"/>
          <a:ext cx="635000" cy="330200"/>
        </p:xfrm>
        <a:graphic>
          <a:graphicData uri="http://schemas.openxmlformats.org/presentationml/2006/ole">
            <p:oleObj spid="_x0000_s1034" name="Equation" r:id="rId11" imgW="634680" imgH="330120" progId="Equation.DSMT4">
              <p:embed/>
            </p:oleObj>
          </a:graphicData>
        </a:graphic>
      </p:graphicFrame>
      <p:sp>
        <p:nvSpPr>
          <p:cNvPr id="26" name="Rectangle 25"/>
          <p:cNvSpPr/>
          <p:nvPr/>
        </p:nvSpPr>
        <p:spPr>
          <a:xfrm>
            <a:off x="22250400" y="11353800"/>
            <a:ext cx="75438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 eaLnBrk="1" hangingPunct="1">
              <a:buFontTx/>
              <a:buNone/>
            </a:pPr>
            <a:r>
              <a:rPr lang="en-US" sz="2800" b="1" dirty="0" smtClean="0">
                <a:solidFill>
                  <a:schemeClr val="accent2"/>
                </a:solidFill>
              </a:rPr>
              <a:t>FWHM of each row = vertical resolution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2707600" y="11963400"/>
            <a:ext cx="102108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 smtClean="0">
                <a:solidFill>
                  <a:schemeClr val="accent2"/>
                </a:solidFill>
              </a:rPr>
              <a:t>Area of </a:t>
            </a:r>
            <a:r>
              <a:rPr lang="en-US" sz="2800" b="1" dirty="0" smtClean="0"/>
              <a:t>A</a:t>
            </a:r>
            <a:r>
              <a:rPr lang="en-US" sz="2800" b="1" dirty="0" smtClean="0">
                <a:solidFill>
                  <a:schemeClr val="accent2"/>
                </a:solidFill>
              </a:rPr>
              <a:t> = fraction of retrieval from observed radiances</a:t>
            </a:r>
            <a:endParaRPr lang="en-US" sz="2800" b="1" dirty="0"/>
          </a:p>
        </p:txBody>
      </p:sp>
      <p:sp>
        <p:nvSpPr>
          <p:cNvPr id="31" name="Rectangle 30"/>
          <p:cNvSpPr/>
          <p:nvPr/>
        </p:nvSpPr>
        <p:spPr>
          <a:xfrm>
            <a:off x="762000" y="14401800"/>
            <a:ext cx="17983200" cy="533400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eaLnBrk="1" hangingPunct="1">
              <a:buFontTx/>
              <a:buNone/>
            </a:pPr>
            <a:r>
              <a:rPr lang="en-US" sz="2800" b="1" dirty="0" smtClean="0">
                <a:solidFill>
                  <a:schemeClr val="accent2"/>
                </a:solidFill>
              </a:rPr>
              <a:t>Averaging Kernels for T, O</a:t>
            </a:r>
            <a:r>
              <a:rPr lang="en-US" sz="2800" b="1" baseline="-25000" dirty="0" smtClean="0">
                <a:solidFill>
                  <a:schemeClr val="accent2"/>
                </a:solidFill>
              </a:rPr>
              <a:t>3</a:t>
            </a:r>
            <a:r>
              <a:rPr lang="en-US" sz="2800" b="1" dirty="0" smtClean="0">
                <a:solidFill>
                  <a:schemeClr val="accent2"/>
                </a:solidFill>
              </a:rPr>
              <a:t>, H</a:t>
            </a:r>
            <a:r>
              <a:rPr lang="en-US" sz="2800" b="1" baseline="-25000" dirty="0" smtClean="0">
                <a:solidFill>
                  <a:schemeClr val="accent2"/>
                </a:solidFill>
              </a:rPr>
              <a:t>2</a:t>
            </a:r>
            <a:r>
              <a:rPr lang="en-US" sz="2800" b="1" dirty="0" smtClean="0">
                <a:solidFill>
                  <a:schemeClr val="accent2"/>
                </a:solidFill>
              </a:rPr>
              <a:t>O, and HNO</a:t>
            </a:r>
            <a:r>
              <a:rPr lang="en-US" sz="2800" b="1" baseline="-25000" dirty="0" smtClean="0">
                <a:solidFill>
                  <a:schemeClr val="accent2"/>
                </a:solidFill>
              </a:rPr>
              <a:t>3</a:t>
            </a:r>
            <a:r>
              <a:rPr lang="en-US" sz="2800" b="1" dirty="0" smtClean="0">
                <a:solidFill>
                  <a:schemeClr val="accent2"/>
                </a:solidFill>
              </a:rPr>
              <a:t>; NH Mid-Latitude Winter, </a:t>
            </a:r>
            <a:r>
              <a:rPr lang="en-US" sz="2800" b="1" u="sng" dirty="0" smtClean="0">
                <a:solidFill>
                  <a:srgbClr val="7030A0"/>
                </a:solidFill>
              </a:rPr>
              <a:t>Nominal</a:t>
            </a:r>
            <a:r>
              <a:rPr lang="en-US" sz="2800" b="1" dirty="0" smtClean="0">
                <a:solidFill>
                  <a:srgbClr val="7030A0"/>
                </a:solidFill>
              </a:rPr>
              <a:t> </a:t>
            </a:r>
            <a:r>
              <a:rPr lang="en-US" sz="2800" b="1" dirty="0" smtClean="0">
                <a:solidFill>
                  <a:schemeClr val="accent2"/>
                </a:solidFill>
              </a:rPr>
              <a:t>Measurement Noise (V003)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14400" y="15316200"/>
            <a:ext cx="6629400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buFontTx/>
              <a:buNone/>
            </a:pPr>
            <a:r>
              <a:rPr lang="en-US" sz="2800" b="1" dirty="0" smtClean="0">
                <a:solidFill>
                  <a:schemeClr val="accent2"/>
                </a:solidFill>
              </a:rPr>
              <a:t>Kernels (</a:t>
            </a:r>
            <a:r>
              <a:rPr lang="en-US" sz="2800" b="1" dirty="0" smtClean="0">
                <a:solidFill>
                  <a:srgbClr val="00B050"/>
                </a:solidFill>
              </a:rPr>
              <a:t>green</a:t>
            </a:r>
            <a:r>
              <a:rPr lang="en-US" sz="2800" b="1" dirty="0" smtClean="0">
                <a:solidFill>
                  <a:schemeClr val="accent2"/>
                </a:solidFill>
              </a:rPr>
              <a:t>) are sharply peaked </a:t>
            </a:r>
          </a:p>
          <a:p>
            <a:pPr eaLnBrk="1" hangingPunct="1">
              <a:buFontTx/>
              <a:buNone/>
            </a:pPr>
            <a:r>
              <a:rPr lang="en-US" sz="2800" b="1" dirty="0" smtClean="0">
                <a:solidFill>
                  <a:schemeClr val="accent2"/>
                </a:solidFill>
              </a:rPr>
              <a:t>and very close to 1; i.e., near ideal</a:t>
            </a:r>
          </a:p>
          <a:p>
            <a:pPr eaLnBrk="1" hangingPunct="1">
              <a:buFontTx/>
              <a:buNone/>
            </a:pPr>
            <a:endParaRPr lang="en-US" sz="2800" b="1" dirty="0" smtClean="0">
              <a:solidFill>
                <a:schemeClr val="accent2"/>
              </a:solidFill>
            </a:endParaRPr>
          </a:p>
          <a:p>
            <a:pPr eaLnBrk="1" hangingPunct="1">
              <a:buFontTx/>
              <a:buNone/>
            </a:pPr>
            <a:r>
              <a:rPr lang="en-US" sz="2800" b="1" dirty="0" smtClean="0">
                <a:solidFill>
                  <a:schemeClr val="accent2"/>
                </a:solidFill>
              </a:rPr>
              <a:t>Vertical Resolution (blue) ≈ 1</a:t>
            </a:r>
          </a:p>
          <a:p>
            <a:pPr eaLnBrk="1" hangingPunct="1">
              <a:buFontTx/>
              <a:buNone/>
            </a:pPr>
            <a:endParaRPr lang="en-US" sz="2800" b="1" dirty="0" smtClean="0">
              <a:solidFill>
                <a:schemeClr val="accent2"/>
              </a:solidFill>
            </a:endParaRPr>
          </a:p>
          <a:p>
            <a:pPr eaLnBrk="1" hangingPunct="1">
              <a:buFontTx/>
              <a:buNone/>
            </a:pPr>
            <a:r>
              <a:rPr lang="en-US" sz="2800" b="1" dirty="0" smtClean="0">
                <a:solidFill>
                  <a:schemeClr val="accent2"/>
                </a:solidFill>
              </a:rPr>
              <a:t>Area of each kernel (</a:t>
            </a:r>
            <a:r>
              <a:rPr lang="en-US" sz="2800" b="1" dirty="0" smtClean="0">
                <a:solidFill>
                  <a:srgbClr val="FF0000"/>
                </a:solidFill>
              </a:rPr>
              <a:t>red dots</a:t>
            </a:r>
            <a:r>
              <a:rPr lang="en-US" sz="2800" b="1" dirty="0" smtClean="0">
                <a:solidFill>
                  <a:schemeClr val="accent2"/>
                </a:solidFill>
              </a:rPr>
              <a:t>) = 0.99; i.e., retrieval is dominated by observed radiances</a:t>
            </a:r>
          </a:p>
        </p:txBody>
      </p:sp>
      <p:pic>
        <p:nvPicPr>
          <p:cNvPr id="37" name="Picture 5"/>
          <p:cNvPicPr>
            <a:picLocks noChangeAspect="1" noChangeArrowheads="1"/>
          </p:cNvPicPr>
          <p:nvPr/>
        </p:nvPicPr>
        <p:blipFill>
          <a:blip r:embed="rId12"/>
          <a:srcRect l="30625" t="6000" r="29271" b="45000"/>
          <a:stretch>
            <a:fillRect/>
          </a:stretch>
        </p:blipFill>
        <p:spPr bwMode="auto">
          <a:xfrm>
            <a:off x="26670000" y="15240000"/>
            <a:ext cx="5486400" cy="4189615"/>
          </a:xfrm>
          <a:prstGeom prst="rect">
            <a:avLst/>
          </a:prstGeom>
          <a:noFill/>
          <a:ln w="12700" cap="flat" cmpd="sng">
            <a:noFill/>
            <a:prstDash val="solid"/>
            <a:miter lim="800000"/>
            <a:headEnd type="none" w="sm" len="sm"/>
            <a:tailEnd type="none" w="sm" len="sm"/>
          </a:ln>
          <a:effectLst/>
        </p:spPr>
      </p:pic>
      <p:pic>
        <p:nvPicPr>
          <p:cNvPr id="38" name="Picture 2"/>
          <p:cNvPicPr>
            <a:picLocks noChangeAspect="1" noChangeArrowheads="1"/>
          </p:cNvPicPr>
          <p:nvPr/>
        </p:nvPicPr>
        <p:blipFill>
          <a:blip r:embed="rId13"/>
          <a:srcRect l="10947" t="12788" r="6948" b="42007"/>
          <a:stretch>
            <a:fillRect/>
          </a:stretch>
        </p:blipFill>
        <p:spPr bwMode="auto">
          <a:xfrm>
            <a:off x="13944600" y="15163800"/>
            <a:ext cx="5486400" cy="4276578"/>
          </a:xfrm>
          <a:prstGeom prst="rect">
            <a:avLst/>
          </a:prstGeom>
          <a:noFill/>
          <a:ln w="12700" cap="flat" cmpd="sng">
            <a:noFill/>
            <a:prstDash val="solid"/>
            <a:miter lim="800000"/>
            <a:headEnd type="none" w="sm" len="sm"/>
            <a:tailEnd type="none" w="sm" len="sm"/>
          </a:ln>
          <a:effectLst/>
        </p:spPr>
      </p:pic>
      <p:pic>
        <p:nvPicPr>
          <p:cNvPr id="39" name="Picture 2"/>
          <p:cNvPicPr>
            <a:picLocks noChangeAspect="1" noChangeArrowheads="1"/>
          </p:cNvPicPr>
          <p:nvPr/>
        </p:nvPicPr>
        <p:blipFill>
          <a:blip r:embed="rId14"/>
          <a:srcRect l="11368" t="13680" r="6527" b="42156"/>
          <a:stretch>
            <a:fillRect/>
          </a:stretch>
        </p:blipFill>
        <p:spPr bwMode="auto">
          <a:xfrm>
            <a:off x="20345400" y="15240000"/>
            <a:ext cx="5486400" cy="4178105"/>
          </a:xfrm>
          <a:prstGeom prst="rect">
            <a:avLst/>
          </a:prstGeom>
          <a:noFill/>
          <a:ln w="12700" cap="flat" cmpd="sng">
            <a:noFill/>
            <a:prstDash val="solid"/>
            <a:miter lim="800000"/>
            <a:headEnd type="none" w="sm" len="sm"/>
            <a:tailEnd type="none" w="sm" len="sm"/>
          </a:ln>
          <a:effectLst/>
        </p:spPr>
      </p:pic>
      <p:sp>
        <p:nvSpPr>
          <p:cNvPr id="42" name="Rectangle 41"/>
          <p:cNvSpPr/>
          <p:nvPr/>
        </p:nvSpPr>
        <p:spPr>
          <a:xfrm>
            <a:off x="914400" y="20955000"/>
            <a:ext cx="6248400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buFontTx/>
              <a:buNone/>
            </a:pPr>
            <a:r>
              <a:rPr lang="en-US" sz="2800" b="1" dirty="0" smtClean="0">
                <a:solidFill>
                  <a:schemeClr val="accent2"/>
                </a:solidFill>
              </a:rPr>
              <a:t>The near-Ideal characteristics of the averaging kernels are retained as noise increases</a:t>
            </a:r>
          </a:p>
          <a:p>
            <a:pPr eaLnBrk="1" hangingPunct="1">
              <a:buFontTx/>
              <a:buNone/>
            </a:pPr>
            <a:endParaRPr lang="en-US" sz="2800" b="1" dirty="0" smtClean="0">
              <a:solidFill>
                <a:schemeClr val="accent2"/>
              </a:solidFill>
            </a:endParaRPr>
          </a:p>
          <a:p>
            <a:pPr eaLnBrk="1" hangingPunct="1">
              <a:buFontTx/>
              <a:buNone/>
            </a:pPr>
            <a:r>
              <a:rPr lang="en-US" sz="2800" b="1" dirty="0" smtClean="0">
                <a:solidFill>
                  <a:schemeClr val="accent2"/>
                </a:solidFill>
              </a:rPr>
              <a:t>Degradations occur w/ 10x Noise:</a:t>
            </a:r>
          </a:p>
          <a:p>
            <a:pPr eaLnBrk="1" hangingPunct="1">
              <a:buFontTx/>
              <a:buNone/>
            </a:pPr>
            <a:r>
              <a:rPr lang="en-US" sz="2800" b="1" dirty="0" smtClean="0">
                <a:solidFill>
                  <a:schemeClr val="accent2"/>
                </a:solidFill>
              </a:rPr>
              <a:t>vertical resolution decreases (by a small Amount)</a:t>
            </a:r>
          </a:p>
        </p:txBody>
      </p:sp>
      <p:grpSp>
        <p:nvGrpSpPr>
          <p:cNvPr id="49" name="Group 8"/>
          <p:cNvGrpSpPr>
            <a:grpSpLocks noChangeAspect="1"/>
          </p:cNvGrpSpPr>
          <p:nvPr/>
        </p:nvGrpSpPr>
        <p:grpSpPr bwMode="auto">
          <a:xfrm>
            <a:off x="7467600" y="20650200"/>
            <a:ext cx="7391399" cy="3946606"/>
            <a:chOff x="4724400" y="1419225"/>
            <a:chExt cx="4245655" cy="2266950"/>
          </a:xfrm>
        </p:grpSpPr>
        <p:pic>
          <p:nvPicPr>
            <p:cNvPr id="50" name="Picture 3"/>
            <p:cNvPicPr>
              <a:picLocks noChangeAspect="1" noChangeArrowheads="1"/>
            </p:cNvPicPr>
            <p:nvPr/>
          </p:nvPicPr>
          <p:blipFill>
            <a:blip r:embed="rId8"/>
            <a:srcRect l="50105" t="24626" r="20943" b="46231"/>
            <a:stretch>
              <a:fillRect/>
            </a:stretch>
          </p:blipFill>
          <p:spPr bwMode="auto">
            <a:xfrm>
              <a:off x="4724400" y="1419225"/>
              <a:ext cx="3676650" cy="2266950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</p:pic>
        <p:sp>
          <p:nvSpPr>
            <p:cNvPr id="51" name="TextBox 50"/>
            <p:cNvSpPr txBox="1"/>
            <p:nvPr/>
          </p:nvSpPr>
          <p:spPr>
            <a:xfrm>
              <a:off x="7907338" y="1914525"/>
              <a:ext cx="1062717" cy="3005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en-US" sz="2800" b="1" u="none" baseline="0" dirty="0" smtClean="0">
                  <a:solidFill>
                    <a:srgbClr val="443BFB"/>
                  </a:solidFill>
                  <a:latin typeface="+mj-lt"/>
                </a:rPr>
                <a:t>2x  Noise</a:t>
              </a:r>
              <a:endParaRPr lang="en-US" sz="2800" b="1" u="none" baseline="0" dirty="0">
                <a:solidFill>
                  <a:srgbClr val="443BFB"/>
                </a:solidFill>
                <a:latin typeface="+mj-lt"/>
              </a:endParaRPr>
            </a:p>
          </p:txBody>
        </p:sp>
      </p:grpSp>
      <p:pic>
        <p:nvPicPr>
          <p:cNvPr id="53" name="Picture 3"/>
          <p:cNvPicPr>
            <a:picLocks noChangeAspect="1" noChangeArrowheads="1"/>
          </p:cNvPicPr>
          <p:nvPr/>
        </p:nvPicPr>
        <p:blipFill>
          <a:blip r:embed="rId8"/>
          <a:srcRect l="20105" t="53891" r="49445" b="16721"/>
          <a:stretch>
            <a:fillRect/>
          </a:stretch>
        </p:blipFill>
        <p:spPr bwMode="auto">
          <a:xfrm>
            <a:off x="14630400" y="20650200"/>
            <a:ext cx="6682435" cy="395024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</p:pic>
      <p:sp>
        <p:nvSpPr>
          <p:cNvPr id="56" name="Rectangle 55"/>
          <p:cNvSpPr/>
          <p:nvPr/>
        </p:nvSpPr>
        <p:spPr>
          <a:xfrm>
            <a:off x="21183600" y="21488400"/>
            <a:ext cx="196399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 smtClean="0">
                <a:solidFill>
                  <a:srgbClr val="443BFB"/>
                </a:solidFill>
              </a:rPr>
              <a:t>10x  Noise</a:t>
            </a:r>
            <a:endParaRPr lang="en-US" sz="2800" dirty="0"/>
          </a:p>
        </p:txBody>
      </p:sp>
      <p:sp>
        <p:nvSpPr>
          <p:cNvPr id="57" name="Rectangle 56"/>
          <p:cNvSpPr/>
          <p:nvPr/>
        </p:nvSpPr>
        <p:spPr>
          <a:xfrm>
            <a:off x="24231600" y="20955000"/>
            <a:ext cx="8686800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buFontTx/>
              <a:buNone/>
            </a:pPr>
            <a:r>
              <a:rPr lang="en-US" sz="2800" b="1" dirty="0" smtClean="0">
                <a:solidFill>
                  <a:schemeClr val="accent2"/>
                </a:solidFill>
              </a:rPr>
              <a:t>This sensitivity study shows that a large increase</a:t>
            </a:r>
          </a:p>
          <a:p>
            <a:pPr eaLnBrk="1" hangingPunct="1">
              <a:buFontTx/>
              <a:buNone/>
            </a:pPr>
            <a:r>
              <a:rPr lang="en-US" sz="2800" b="1" dirty="0" smtClean="0">
                <a:solidFill>
                  <a:schemeClr val="accent2"/>
                </a:solidFill>
              </a:rPr>
              <a:t>In noise is required to degrade the near ideal </a:t>
            </a:r>
          </a:p>
          <a:p>
            <a:pPr eaLnBrk="1" hangingPunct="1">
              <a:buFontTx/>
              <a:buNone/>
            </a:pPr>
            <a:r>
              <a:rPr lang="en-US" sz="2800" b="1" dirty="0" smtClean="0">
                <a:solidFill>
                  <a:schemeClr val="accent2"/>
                </a:solidFill>
              </a:rPr>
              <a:t>characteristics of HIRDLS retrievals</a:t>
            </a:r>
          </a:p>
          <a:p>
            <a:pPr eaLnBrk="1" hangingPunct="1">
              <a:buFontTx/>
              <a:buNone/>
            </a:pPr>
            <a:endParaRPr lang="en-US" sz="2800" b="1" dirty="0" smtClean="0">
              <a:solidFill>
                <a:schemeClr val="accent2"/>
              </a:solidFill>
            </a:endParaRPr>
          </a:p>
          <a:p>
            <a:pPr eaLnBrk="1" hangingPunct="1">
              <a:buFontTx/>
              <a:buNone/>
            </a:pPr>
            <a:r>
              <a:rPr lang="en-US" sz="2800" b="1" dirty="0" smtClean="0">
                <a:solidFill>
                  <a:schemeClr val="accent2"/>
                </a:solidFill>
              </a:rPr>
              <a:t>Note that the contribution of a priori to the </a:t>
            </a:r>
          </a:p>
          <a:p>
            <a:pPr eaLnBrk="1" hangingPunct="1">
              <a:buFontTx/>
              <a:buNone/>
            </a:pPr>
            <a:r>
              <a:rPr lang="en-US" sz="2800" b="1" dirty="0" smtClean="0">
                <a:solidFill>
                  <a:schemeClr val="accent2"/>
                </a:solidFill>
              </a:rPr>
              <a:t>retrievals remains minimal for most altitudes</a:t>
            </a:r>
          </a:p>
          <a:p>
            <a:pPr eaLnBrk="1" hangingPunct="1">
              <a:buFontTx/>
              <a:buNone/>
            </a:pPr>
            <a:endParaRPr lang="en-US" sz="2800" b="1" dirty="0" smtClean="0">
              <a:solidFill>
                <a:schemeClr val="accent2"/>
              </a:solidFill>
            </a:endParaRPr>
          </a:p>
          <a:p>
            <a:pPr eaLnBrk="1" hangingPunct="1">
              <a:buFontTx/>
              <a:buNone/>
            </a:pPr>
            <a:r>
              <a:rPr lang="en-US" sz="2800" b="1" dirty="0" smtClean="0">
                <a:solidFill>
                  <a:schemeClr val="accent2"/>
                </a:solidFill>
              </a:rPr>
              <a:t>Reason: </a:t>
            </a:r>
            <a:r>
              <a:rPr lang="en-US" sz="2800" b="1" dirty="0" smtClean="0">
                <a:solidFill>
                  <a:srgbClr val="C00000"/>
                </a:solidFill>
              </a:rPr>
              <a:t>HIRDLS is a very low noise instrument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85800" y="19964400"/>
            <a:ext cx="11887200" cy="533400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eaLnBrk="1" hangingPunct="1">
              <a:buFontTx/>
              <a:buNone/>
            </a:pPr>
            <a:r>
              <a:rPr lang="en-US" sz="2800" b="1" dirty="0" smtClean="0">
                <a:solidFill>
                  <a:schemeClr val="accent2"/>
                </a:solidFill>
              </a:rPr>
              <a:t>Sensitivity of Averaging Kernels with </a:t>
            </a:r>
            <a:r>
              <a:rPr lang="en-US" sz="2800" b="1" u="sng" dirty="0" smtClean="0">
                <a:solidFill>
                  <a:srgbClr val="7030A0"/>
                </a:solidFill>
              </a:rPr>
              <a:t>Increasing</a:t>
            </a:r>
            <a:r>
              <a:rPr lang="en-US" sz="2800" b="1" dirty="0" smtClean="0">
                <a:solidFill>
                  <a:srgbClr val="7030A0"/>
                </a:solidFill>
              </a:rPr>
              <a:t> </a:t>
            </a:r>
            <a:r>
              <a:rPr lang="en-US" sz="2800" b="1" dirty="0" smtClean="0">
                <a:solidFill>
                  <a:schemeClr val="accent2"/>
                </a:solidFill>
              </a:rPr>
              <a:t>Measurement Noise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38200" y="25450800"/>
            <a:ext cx="12420600" cy="533400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eaLnBrk="1" hangingPunct="1">
              <a:buFontTx/>
              <a:buNone/>
            </a:pPr>
            <a:r>
              <a:rPr lang="en-US" sz="2800" b="1" dirty="0" smtClean="0">
                <a:solidFill>
                  <a:schemeClr val="accent2"/>
                </a:solidFill>
              </a:rPr>
              <a:t>Variations of a Priori Contribution and Vertical Resolution with Latitude</a:t>
            </a:r>
          </a:p>
        </p:txBody>
      </p:sp>
      <p:pic>
        <p:nvPicPr>
          <p:cNvPr id="45" name="Picture 6"/>
          <p:cNvPicPr>
            <a:picLocks noChangeAspect="1" noChangeArrowheads="1"/>
          </p:cNvPicPr>
          <p:nvPr/>
        </p:nvPicPr>
        <p:blipFill>
          <a:blip r:embed="rId15"/>
          <a:srcRect l="5208" t="22611" r="85417" b="55267"/>
          <a:stretch>
            <a:fillRect/>
          </a:stretch>
        </p:blipFill>
        <p:spPr bwMode="auto">
          <a:xfrm>
            <a:off x="0" y="27813000"/>
            <a:ext cx="1828800" cy="3048039"/>
          </a:xfrm>
          <a:prstGeom prst="rect">
            <a:avLst/>
          </a:prstGeom>
          <a:noFill/>
          <a:ln w="12700" cap="flat" cmpd="sng">
            <a:noFill/>
            <a:prstDash val="solid"/>
            <a:miter lim="800000"/>
            <a:headEnd type="none" w="sm" len="sm"/>
            <a:tailEnd type="none" w="sm" len="sm"/>
          </a:ln>
          <a:effectLst/>
        </p:spPr>
      </p:pic>
      <p:pic>
        <p:nvPicPr>
          <p:cNvPr id="46" name="Picture 6"/>
          <p:cNvPicPr>
            <a:picLocks noChangeAspect="1" noChangeArrowheads="1"/>
          </p:cNvPicPr>
          <p:nvPr/>
        </p:nvPicPr>
        <p:blipFill>
          <a:blip r:embed="rId15"/>
          <a:srcRect l="18006" t="49579" r="48363" b="4281"/>
          <a:stretch>
            <a:fillRect/>
          </a:stretch>
        </p:blipFill>
        <p:spPr bwMode="auto">
          <a:xfrm>
            <a:off x="6781800" y="26060400"/>
            <a:ext cx="5486400" cy="5316510"/>
          </a:xfrm>
          <a:prstGeom prst="rect">
            <a:avLst/>
          </a:prstGeom>
          <a:noFill/>
          <a:ln w="12700" cap="flat" cmpd="sng">
            <a:noFill/>
            <a:prstDash val="solid"/>
            <a:miter lim="800000"/>
            <a:headEnd type="none" w="sm" len="sm"/>
            <a:tailEnd type="none" w="sm" len="sm"/>
          </a:ln>
          <a:effectLst/>
        </p:spPr>
      </p:pic>
      <p:pic>
        <p:nvPicPr>
          <p:cNvPr id="47" name="Picture 6"/>
          <p:cNvPicPr>
            <a:picLocks noChangeAspect="1" noChangeArrowheads="1"/>
          </p:cNvPicPr>
          <p:nvPr/>
        </p:nvPicPr>
        <p:blipFill>
          <a:blip r:embed="rId16"/>
          <a:srcRect l="18155" t="2949" r="48512" b="51122"/>
          <a:stretch>
            <a:fillRect/>
          </a:stretch>
        </p:blipFill>
        <p:spPr bwMode="auto">
          <a:xfrm>
            <a:off x="21564600" y="26060400"/>
            <a:ext cx="5486400" cy="5339510"/>
          </a:xfrm>
          <a:prstGeom prst="rect">
            <a:avLst/>
          </a:prstGeom>
          <a:noFill/>
          <a:ln w="12700" cap="flat" cmpd="sng">
            <a:noFill/>
            <a:prstDash val="solid"/>
            <a:miter lim="800000"/>
            <a:headEnd type="none" w="sm" len="sm"/>
            <a:tailEnd type="none" w="sm" len="sm"/>
          </a:ln>
          <a:effectLst/>
        </p:spPr>
      </p:pic>
      <p:pic>
        <p:nvPicPr>
          <p:cNvPr id="48" name="Picture 6"/>
          <p:cNvPicPr>
            <a:picLocks noChangeAspect="1" noChangeArrowheads="1"/>
          </p:cNvPicPr>
          <p:nvPr/>
        </p:nvPicPr>
        <p:blipFill>
          <a:blip r:embed="rId16"/>
          <a:srcRect l="6250" t="22965" r="86012" b="55967"/>
          <a:stretch>
            <a:fillRect/>
          </a:stretch>
        </p:blipFill>
        <p:spPr bwMode="auto">
          <a:xfrm>
            <a:off x="20269200" y="27965400"/>
            <a:ext cx="1506814" cy="2897714"/>
          </a:xfrm>
          <a:prstGeom prst="rect">
            <a:avLst/>
          </a:prstGeom>
          <a:noFill/>
          <a:ln w="12700" cap="flat" cmpd="sng">
            <a:noFill/>
            <a:prstDash val="solid"/>
            <a:miter lim="800000"/>
            <a:headEnd type="none" w="sm" len="sm"/>
            <a:tailEnd type="none" w="sm" len="sm"/>
          </a:ln>
          <a:effectLst/>
        </p:spPr>
      </p:pic>
      <p:pic>
        <p:nvPicPr>
          <p:cNvPr id="52" name="Picture 6"/>
          <p:cNvPicPr>
            <a:picLocks noChangeAspect="1" noChangeArrowheads="1"/>
          </p:cNvPicPr>
          <p:nvPr/>
        </p:nvPicPr>
        <p:blipFill>
          <a:blip r:embed="rId16"/>
          <a:srcRect l="18006" t="49721" r="48512" b="4350"/>
          <a:stretch>
            <a:fillRect/>
          </a:stretch>
        </p:blipFill>
        <p:spPr bwMode="auto">
          <a:xfrm>
            <a:off x="26898600" y="26060400"/>
            <a:ext cx="5486400" cy="5315747"/>
          </a:xfrm>
          <a:prstGeom prst="rect">
            <a:avLst/>
          </a:prstGeom>
          <a:noFill/>
          <a:ln w="12700" cap="flat" cmpd="sng">
            <a:noFill/>
            <a:prstDash val="solid"/>
            <a:miter lim="800000"/>
            <a:headEnd type="none" w="sm" len="sm"/>
            <a:tailEnd type="none" w="sm" len="sm"/>
          </a:ln>
          <a:effectLst/>
        </p:spPr>
      </p:pic>
      <p:pic>
        <p:nvPicPr>
          <p:cNvPr id="54" name="Picture 6"/>
          <p:cNvPicPr>
            <a:picLocks noChangeAspect="1" noChangeArrowheads="1"/>
          </p:cNvPicPr>
          <p:nvPr/>
        </p:nvPicPr>
        <p:blipFill>
          <a:blip r:embed="rId15"/>
          <a:srcRect l="18601" t="3018" r="48512" b="51053"/>
          <a:stretch>
            <a:fillRect/>
          </a:stretch>
        </p:blipFill>
        <p:spPr bwMode="auto">
          <a:xfrm>
            <a:off x="1524000" y="26060400"/>
            <a:ext cx="5486400" cy="5411921"/>
          </a:xfrm>
          <a:prstGeom prst="rect">
            <a:avLst/>
          </a:prstGeom>
          <a:noFill/>
          <a:ln w="12700" cap="flat" cmpd="sng">
            <a:noFill/>
            <a:prstDash val="solid"/>
            <a:miter lim="800000"/>
            <a:headEnd type="none" w="sm" len="sm"/>
            <a:tailEnd type="none" w="sm" len="sm"/>
          </a:ln>
          <a:effectLst/>
        </p:spPr>
      </p:pic>
      <p:sp>
        <p:nvSpPr>
          <p:cNvPr id="55" name="Rectangle 54"/>
          <p:cNvSpPr/>
          <p:nvPr/>
        </p:nvSpPr>
        <p:spPr>
          <a:xfrm>
            <a:off x="13106400" y="27127200"/>
            <a:ext cx="6705600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buFontTx/>
              <a:buNone/>
            </a:pPr>
            <a:r>
              <a:rPr lang="en-US" sz="2800" b="1" dirty="0" smtClean="0">
                <a:solidFill>
                  <a:schemeClr val="accent2"/>
                </a:solidFill>
              </a:rPr>
              <a:t>Fraction of retrieval from observed radiances (</a:t>
            </a:r>
            <a:r>
              <a:rPr lang="en-US" sz="2800" b="1" dirty="0" smtClean="0">
                <a:solidFill>
                  <a:srgbClr val="00B050"/>
                </a:solidFill>
              </a:rPr>
              <a:t>left</a:t>
            </a:r>
            <a:r>
              <a:rPr lang="en-US" sz="2800" b="1" dirty="0" smtClean="0">
                <a:solidFill>
                  <a:schemeClr val="accent2"/>
                </a:solidFill>
              </a:rPr>
              <a:t>) remains very close to 1 throughout the orbit.</a:t>
            </a:r>
          </a:p>
          <a:p>
            <a:pPr eaLnBrk="1" hangingPunct="1">
              <a:buFontTx/>
              <a:buNone/>
            </a:pPr>
            <a:endParaRPr lang="en-US" sz="2800" b="1" dirty="0" smtClean="0">
              <a:solidFill>
                <a:schemeClr val="accent2"/>
              </a:solidFill>
            </a:endParaRPr>
          </a:p>
          <a:p>
            <a:pPr eaLnBrk="1" hangingPunct="1">
              <a:buFontTx/>
              <a:buNone/>
            </a:pPr>
            <a:r>
              <a:rPr lang="en-US" sz="2800" b="1" dirty="0" smtClean="0">
                <a:solidFill>
                  <a:schemeClr val="accent2"/>
                </a:solidFill>
              </a:rPr>
              <a:t>Similarly, vertical resolution (</a:t>
            </a:r>
            <a:r>
              <a:rPr lang="en-US" sz="2800" b="1" dirty="0" smtClean="0">
                <a:solidFill>
                  <a:schemeClr val="accent5">
                    <a:lumMod val="75000"/>
                  </a:schemeClr>
                </a:solidFill>
              </a:rPr>
              <a:t>right</a:t>
            </a:r>
            <a:r>
              <a:rPr lang="en-US" sz="2800" b="1" dirty="0" smtClean="0">
                <a:solidFill>
                  <a:schemeClr val="accent2"/>
                </a:solidFill>
              </a:rPr>
              <a:t>) </a:t>
            </a:r>
          </a:p>
          <a:p>
            <a:pPr eaLnBrk="1" hangingPunct="1">
              <a:buFontTx/>
              <a:buNone/>
            </a:pPr>
            <a:r>
              <a:rPr lang="en-US" sz="2800" b="1" dirty="0" smtClean="0">
                <a:solidFill>
                  <a:schemeClr val="accent2"/>
                </a:solidFill>
              </a:rPr>
              <a:t>remains  at 1 km.</a:t>
            </a:r>
          </a:p>
          <a:p>
            <a:pPr eaLnBrk="1" hangingPunct="1">
              <a:buFontTx/>
              <a:buNone/>
            </a:pPr>
            <a:endParaRPr lang="en-US" sz="2800" b="1" dirty="0" smtClean="0">
              <a:solidFill>
                <a:schemeClr val="accent2"/>
              </a:solidFill>
            </a:endParaRPr>
          </a:p>
        </p:txBody>
      </p:sp>
      <p:pic>
        <p:nvPicPr>
          <p:cNvPr id="60" name="Picture 2"/>
          <p:cNvPicPr>
            <a:picLocks noChangeAspect="1" noChangeArrowheads="1"/>
          </p:cNvPicPr>
          <p:nvPr/>
        </p:nvPicPr>
        <p:blipFill>
          <a:blip r:embed="rId17"/>
          <a:srcRect l="14167" t="14126" r="8750" b="44082"/>
          <a:stretch>
            <a:fillRect/>
          </a:stretch>
        </p:blipFill>
        <p:spPr bwMode="auto">
          <a:xfrm>
            <a:off x="7696200" y="33299400"/>
            <a:ext cx="6975048" cy="5354025"/>
          </a:xfrm>
          <a:prstGeom prst="rect">
            <a:avLst/>
          </a:prstGeom>
          <a:noFill/>
          <a:ln w="12700" cap="flat" cmpd="sng">
            <a:noFill/>
            <a:prstDash val="solid"/>
            <a:miter lim="800000"/>
            <a:headEnd type="none" w="sm" len="sm"/>
            <a:tailEnd type="none" w="sm" len="sm"/>
          </a:ln>
          <a:effectLst/>
        </p:spPr>
      </p:pic>
      <p:sp>
        <p:nvSpPr>
          <p:cNvPr id="62" name="Rectangle 61"/>
          <p:cNvSpPr/>
          <p:nvPr/>
        </p:nvSpPr>
        <p:spPr>
          <a:xfrm>
            <a:off x="838200" y="32385000"/>
            <a:ext cx="6858000" cy="533400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eaLnBrk="1" hangingPunct="1">
              <a:buFontTx/>
              <a:buNone/>
            </a:pPr>
            <a:r>
              <a:rPr lang="en-US" sz="2800" b="1" dirty="0" smtClean="0">
                <a:solidFill>
                  <a:schemeClr val="accent2"/>
                </a:solidFill>
              </a:rPr>
              <a:t>Error Analysis, Effect of a priori Errors</a:t>
            </a:r>
          </a:p>
        </p:txBody>
      </p:sp>
      <p:pic>
        <p:nvPicPr>
          <p:cNvPr id="63" name="Picture 5"/>
          <p:cNvPicPr>
            <a:picLocks noChangeAspect="1" noChangeArrowheads="1"/>
          </p:cNvPicPr>
          <p:nvPr/>
        </p:nvPicPr>
        <p:blipFill>
          <a:blip r:embed="rId18"/>
          <a:srcRect l="30000" t="20000" r="25833" b="30667"/>
          <a:stretch>
            <a:fillRect/>
          </a:stretch>
        </p:blipFill>
        <p:spPr bwMode="auto">
          <a:xfrm>
            <a:off x="25603200" y="33223200"/>
            <a:ext cx="7315200" cy="510721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</p:pic>
      <p:pic>
        <p:nvPicPr>
          <p:cNvPr id="64" name="Picture 2"/>
          <p:cNvPicPr>
            <a:picLocks noChangeAspect="1" noChangeArrowheads="1"/>
          </p:cNvPicPr>
          <p:nvPr/>
        </p:nvPicPr>
        <p:blipFill>
          <a:blip r:embed="rId19"/>
          <a:srcRect l="12847" t="14224" r="8333" b="43593"/>
          <a:stretch>
            <a:fillRect/>
          </a:stretch>
        </p:blipFill>
        <p:spPr bwMode="auto">
          <a:xfrm>
            <a:off x="14859000" y="33375600"/>
            <a:ext cx="6858000" cy="5196336"/>
          </a:xfrm>
          <a:prstGeom prst="rect">
            <a:avLst/>
          </a:prstGeom>
          <a:noFill/>
          <a:ln w="12700" cap="flat" cmpd="sng">
            <a:noFill/>
            <a:prstDash val="solid"/>
            <a:miter lim="800000"/>
            <a:headEnd type="none" w="sm" len="sm"/>
            <a:tailEnd type="none" w="sm" len="sm"/>
          </a:ln>
          <a:effectLst/>
        </p:spPr>
      </p:pic>
      <p:sp>
        <p:nvSpPr>
          <p:cNvPr id="65" name="Rectangle 64"/>
          <p:cNvSpPr/>
          <p:nvPr/>
        </p:nvSpPr>
        <p:spPr>
          <a:xfrm>
            <a:off x="838200" y="33528000"/>
            <a:ext cx="6781800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buFontTx/>
              <a:buNone/>
            </a:pPr>
            <a:r>
              <a:rPr lang="en-US" sz="2800" b="1" smtClean="0">
                <a:solidFill>
                  <a:schemeClr val="accent2"/>
                </a:solidFill>
              </a:rPr>
              <a:t>Left </a:t>
            </a:r>
            <a:r>
              <a:rPr lang="en-US" sz="2800" b="1" dirty="0" smtClean="0">
                <a:solidFill>
                  <a:schemeClr val="accent2"/>
                </a:solidFill>
              </a:rPr>
              <a:t>Fig. shows total T error and its </a:t>
            </a:r>
          </a:p>
          <a:p>
            <a:pPr eaLnBrk="1" hangingPunct="1">
              <a:buFontTx/>
              <a:buNone/>
            </a:pPr>
            <a:r>
              <a:rPr lang="en-US" sz="2800" b="1" dirty="0" smtClean="0">
                <a:solidFill>
                  <a:schemeClr val="accent2"/>
                </a:solidFill>
              </a:rPr>
              <a:t>components. In UTLS, a priori and </a:t>
            </a:r>
          </a:p>
          <a:p>
            <a:pPr eaLnBrk="1" hangingPunct="1">
              <a:buFontTx/>
              <a:buNone/>
            </a:pPr>
            <a:r>
              <a:rPr lang="en-US" sz="2800" b="1" dirty="0" smtClean="0">
                <a:solidFill>
                  <a:schemeClr val="accent2"/>
                </a:solidFill>
              </a:rPr>
              <a:t>forward model (to lesser extent) </a:t>
            </a:r>
          </a:p>
          <a:p>
            <a:pPr eaLnBrk="1" hangingPunct="1">
              <a:buFontTx/>
              <a:buNone/>
            </a:pPr>
            <a:r>
              <a:rPr lang="en-US" sz="2800" b="1" dirty="0" smtClean="0">
                <a:solidFill>
                  <a:schemeClr val="accent2"/>
                </a:solidFill>
              </a:rPr>
              <a:t>dominate.</a:t>
            </a:r>
          </a:p>
          <a:p>
            <a:pPr eaLnBrk="1" hangingPunct="1">
              <a:buFontTx/>
              <a:buNone/>
            </a:pPr>
            <a:endParaRPr lang="en-US" sz="2800" b="1" dirty="0" smtClean="0">
              <a:solidFill>
                <a:schemeClr val="accent2"/>
              </a:solidFill>
            </a:endParaRPr>
          </a:p>
          <a:p>
            <a:pPr eaLnBrk="1" hangingPunct="1">
              <a:buFontTx/>
              <a:buNone/>
            </a:pPr>
            <a:r>
              <a:rPr lang="en-US" sz="2800" b="1" dirty="0" smtClean="0">
                <a:solidFill>
                  <a:schemeClr val="accent2"/>
                </a:solidFill>
              </a:rPr>
              <a:t>Middle Fig. shows that reducing</a:t>
            </a:r>
          </a:p>
          <a:p>
            <a:pPr eaLnBrk="1" hangingPunct="1">
              <a:buFontTx/>
              <a:buNone/>
            </a:pPr>
            <a:r>
              <a:rPr lang="en-US" sz="2800" b="1" dirty="0" smtClean="0">
                <a:solidFill>
                  <a:schemeClr val="accent2"/>
                </a:solidFill>
              </a:rPr>
              <a:t>the a priori errors improves the total</a:t>
            </a:r>
          </a:p>
          <a:p>
            <a:pPr eaLnBrk="1" hangingPunct="1">
              <a:buFontTx/>
              <a:buNone/>
            </a:pPr>
            <a:r>
              <a:rPr lang="en-US" sz="2800" b="1" dirty="0" smtClean="0">
                <a:solidFill>
                  <a:schemeClr val="accent2"/>
                </a:solidFill>
              </a:rPr>
              <a:t>error in UTLS.</a:t>
            </a:r>
          </a:p>
          <a:p>
            <a:pPr eaLnBrk="1" hangingPunct="1">
              <a:buFontTx/>
              <a:buNone/>
            </a:pPr>
            <a:endParaRPr lang="en-US" sz="2800" b="1" dirty="0" smtClean="0">
              <a:solidFill>
                <a:schemeClr val="accent2"/>
              </a:solidFill>
            </a:endParaRPr>
          </a:p>
          <a:p>
            <a:pPr eaLnBrk="1" hangingPunct="1">
              <a:buFontTx/>
              <a:buNone/>
            </a:pPr>
            <a:r>
              <a:rPr lang="en-US" sz="2800" b="1" dirty="0" smtClean="0">
                <a:solidFill>
                  <a:schemeClr val="accent2"/>
                </a:solidFill>
              </a:rPr>
              <a:t>Right Fig. shows reducing a priori</a:t>
            </a:r>
          </a:p>
          <a:p>
            <a:pPr eaLnBrk="1" hangingPunct="1">
              <a:buFontTx/>
              <a:buNone/>
            </a:pPr>
            <a:r>
              <a:rPr lang="en-US" sz="2800" b="1" dirty="0" smtClean="0">
                <a:solidFill>
                  <a:schemeClr val="accent2"/>
                </a:solidFill>
              </a:rPr>
              <a:t>errors smoothes T in UTLS (only) a bit.</a:t>
            </a:r>
          </a:p>
          <a:p>
            <a:pPr eaLnBrk="1" hangingPunct="1">
              <a:buFontTx/>
              <a:buNone/>
            </a:pPr>
            <a:endParaRPr lang="en-US" sz="2800" b="1" dirty="0" smtClean="0">
              <a:solidFill>
                <a:schemeClr val="accent2"/>
              </a:solidFill>
            </a:endParaRPr>
          </a:p>
        </p:txBody>
      </p:sp>
      <p:cxnSp>
        <p:nvCxnSpPr>
          <p:cNvPr id="67" name="Straight Arrow Connector 66"/>
          <p:cNvCxnSpPr/>
          <p:nvPr/>
        </p:nvCxnSpPr>
        <p:spPr bwMode="auto">
          <a:xfrm flipV="1">
            <a:off x="19888200" y="32994600"/>
            <a:ext cx="2209800" cy="12954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7030A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sp>
        <p:nvSpPr>
          <p:cNvPr id="70" name="Rectangle 69"/>
          <p:cNvSpPr/>
          <p:nvPr/>
        </p:nvSpPr>
        <p:spPr>
          <a:xfrm>
            <a:off x="20802600" y="32308800"/>
            <a:ext cx="570060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 eaLnBrk="1" hangingPunct="1">
              <a:buFontTx/>
              <a:buNone/>
            </a:pPr>
            <a:r>
              <a:rPr lang="en-US" sz="2800" b="1" dirty="0" smtClean="0">
                <a:solidFill>
                  <a:schemeClr val="accent2"/>
                </a:solidFill>
              </a:rPr>
              <a:t>Negative Precision Threshold</a:t>
            </a:r>
          </a:p>
        </p:txBody>
      </p:sp>
      <p:cxnSp>
        <p:nvCxnSpPr>
          <p:cNvPr id="72" name="Straight Arrow Connector 71"/>
          <p:cNvCxnSpPr/>
          <p:nvPr/>
        </p:nvCxnSpPr>
        <p:spPr bwMode="auto">
          <a:xfrm flipV="1">
            <a:off x="17678400" y="32918400"/>
            <a:ext cx="3962400" cy="1524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7030A0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78" name="Rectangle 77"/>
          <p:cNvSpPr/>
          <p:nvPr/>
        </p:nvSpPr>
        <p:spPr>
          <a:xfrm>
            <a:off x="21869400" y="35890200"/>
            <a:ext cx="259080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 eaLnBrk="1" hangingPunct="1">
              <a:buFontTx/>
              <a:buNone/>
            </a:pPr>
            <a:r>
              <a:rPr lang="en-US" sz="2800" b="1" dirty="0" smtClean="0">
                <a:solidFill>
                  <a:schemeClr val="accent2"/>
                </a:solidFill>
              </a:rPr>
              <a:t>V003,</a:t>
            </a:r>
          </a:p>
          <a:p>
            <a:pPr lvl="1" eaLnBrk="1" hangingPunct="1">
              <a:buFontTx/>
              <a:buNone/>
            </a:pPr>
            <a:r>
              <a:rPr lang="en-US" sz="2800" b="1" dirty="0" smtClean="0">
                <a:solidFill>
                  <a:schemeClr val="accent2"/>
                </a:solidFill>
              </a:rPr>
              <a:t>+/- 20K</a:t>
            </a:r>
          </a:p>
        </p:txBody>
      </p:sp>
      <p:cxnSp>
        <p:nvCxnSpPr>
          <p:cNvPr id="80" name="Straight Arrow Connector 79"/>
          <p:cNvCxnSpPr/>
          <p:nvPr/>
        </p:nvCxnSpPr>
        <p:spPr bwMode="auto">
          <a:xfrm>
            <a:off x="19507200" y="35052000"/>
            <a:ext cx="2743200" cy="6858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7030A0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84" name="Oval 83"/>
          <p:cNvSpPr/>
          <p:nvPr/>
        </p:nvSpPr>
        <p:spPr bwMode="auto">
          <a:xfrm>
            <a:off x="27736800" y="36728400"/>
            <a:ext cx="914400" cy="914400"/>
          </a:xfrm>
          <a:prstGeom prst="ellips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3894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86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cxnSp>
        <p:nvCxnSpPr>
          <p:cNvPr id="86" name="Straight Arrow Connector 85"/>
          <p:cNvCxnSpPr/>
          <p:nvPr/>
        </p:nvCxnSpPr>
        <p:spPr bwMode="auto">
          <a:xfrm rot="5400000">
            <a:off x="26936700" y="37985700"/>
            <a:ext cx="1524000" cy="6858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7030A0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88" name="Rectangle 87"/>
          <p:cNvSpPr/>
          <p:nvPr/>
        </p:nvSpPr>
        <p:spPr>
          <a:xfrm>
            <a:off x="25413397" y="39243000"/>
            <a:ext cx="6357831" cy="138499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 eaLnBrk="1" hangingPunct="1">
              <a:buFontTx/>
              <a:buNone/>
            </a:pPr>
            <a:r>
              <a:rPr lang="en-US" sz="2800" b="1" dirty="0" smtClean="0">
                <a:solidFill>
                  <a:schemeClr val="accent2"/>
                </a:solidFill>
              </a:rPr>
              <a:t>Some smoothing of the retrieved </a:t>
            </a:r>
          </a:p>
          <a:p>
            <a:pPr lvl="1" eaLnBrk="1" hangingPunct="1">
              <a:buFontTx/>
              <a:buNone/>
            </a:pPr>
            <a:r>
              <a:rPr lang="en-US" sz="2800" b="1" dirty="0" smtClean="0">
                <a:solidFill>
                  <a:schemeClr val="accent2"/>
                </a:solidFill>
              </a:rPr>
              <a:t>temperature profile due to </a:t>
            </a:r>
          </a:p>
          <a:p>
            <a:pPr lvl="1" eaLnBrk="1" hangingPunct="1">
              <a:buFontTx/>
              <a:buNone/>
            </a:pPr>
            <a:r>
              <a:rPr lang="en-US" sz="2800" b="1" dirty="0" smtClean="0">
                <a:solidFill>
                  <a:schemeClr val="accent2"/>
                </a:solidFill>
              </a:rPr>
              <a:t>Decreasing a priori errors</a:t>
            </a:r>
          </a:p>
        </p:txBody>
      </p:sp>
      <p:sp>
        <p:nvSpPr>
          <p:cNvPr id="90" name="Rectangle 89"/>
          <p:cNvSpPr/>
          <p:nvPr/>
        </p:nvSpPr>
        <p:spPr>
          <a:xfrm>
            <a:off x="762000" y="39166800"/>
            <a:ext cx="2057400" cy="584775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eaLnBrk="1" hangingPunct="1">
              <a:buFontTx/>
              <a:buNone/>
            </a:pPr>
            <a:r>
              <a:rPr lang="en-US" sz="3200" b="1" u="sng" dirty="0" smtClean="0">
                <a:solidFill>
                  <a:schemeClr val="accent2"/>
                </a:solidFill>
              </a:rPr>
              <a:t>Summary</a:t>
            </a:r>
          </a:p>
        </p:txBody>
      </p:sp>
      <p:sp>
        <p:nvSpPr>
          <p:cNvPr id="91" name="Rectangle 90"/>
          <p:cNvSpPr/>
          <p:nvPr/>
        </p:nvSpPr>
        <p:spPr>
          <a:xfrm>
            <a:off x="838200" y="39776400"/>
            <a:ext cx="20040600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buFontTx/>
              <a:buNone/>
            </a:pPr>
            <a:r>
              <a:rPr lang="en-US" sz="2800" b="1" dirty="0" smtClean="0">
                <a:solidFill>
                  <a:schemeClr val="accent2"/>
                </a:solidFill>
              </a:rPr>
              <a:t>Because of very low noise, HIRDLS averaging kernels show near ideal characteristics: sharply peaked near 1,</a:t>
            </a:r>
          </a:p>
          <a:p>
            <a:pPr eaLnBrk="1" hangingPunct="1">
              <a:buFontTx/>
              <a:buNone/>
            </a:pPr>
            <a:r>
              <a:rPr lang="en-US" sz="2800" b="1" dirty="0" smtClean="0">
                <a:solidFill>
                  <a:schemeClr val="accent2"/>
                </a:solidFill>
              </a:rPr>
              <a:t>high vertical resolution, and minimal contribution from a priori to the retrievals (except in cloudy regions and lower troposphere).These characteristics are maintained for all latitudes throughout an orbit.</a:t>
            </a:r>
          </a:p>
          <a:p>
            <a:pPr eaLnBrk="1" hangingPunct="1">
              <a:buFontTx/>
              <a:buNone/>
            </a:pPr>
            <a:endParaRPr lang="en-US" sz="2800" b="1" dirty="0" smtClean="0">
              <a:solidFill>
                <a:schemeClr val="accent2"/>
              </a:solidFill>
            </a:endParaRPr>
          </a:p>
          <a:p>
            <a:pPr eaLnBrk="1" hangingPunct="1">
              <a:buFontTx/>
              <a:buNone/>
            </a:pPr>
            <a:r>
              <a:rPr lang="en-US" sz="2800" b="1" dirty="0" smtClean="0">
                <a:solidFill>
                  <a:schemeClr val="accent2"/>
                </a:solidFill>
              </a:rPr>
              <a:t>In the UTLS region or lower troposphere, a priori contribution to the retrievals increases, and hence the precision</a:t>
            </a:r>
          </a:p>
          <a:p>
            <a:pPr eaLnBrk="1" hangingPunct="1">
              <a:buFontTx/>
              <a:buNone/>
            </a:pPr>
            <a:r>
              <a:rPr lang="en-US" sz="2800" b="1" dirty="0" smtClean="0">
                <a:solidFill>
                  <a:schemeClr val="accent2"/>
                </a:solidFill>
              </a:rPr>
              <a:t>there is dominated by a priori errors, and to a lesser extent by forward model errors. In future versions of HIRDLS</a:t>
            </a:r>
          </a:p>
          <a:p>
            <a:pPr eaLnBrk="1" hangingPunct="1">
              <a:buFontTx/>
              <a:buNone/>
            </a:pPr>
            <a:r>
              <a:rPr lang="en-US" sz="2800" b="1" dirty="0" smtClean="0">
                <a:solidFill>
                  <a:schemeClr val="accent2"/>
                </a:solidFill>
              </a:rPr>
              <a:t>retrievals, GEOS temperature data will be used as a priori, which will allow better retrievals in the UTLS region</a:t>
            </a:r>
          </a:p>
          <a:p>
            <a:pPr eaLnBrk="1" hangingPunct="1">
              <a:buFontTx/>
              <a:buNone/>
            </a:pPr>
            <a:r>
              <a:rPr lang="en-US" sz="2800" b="1" dirty="0" smtClean="0">
                <a:solidFill>
                  <a:schemeClr val="accent2"/>
                </a:solidFill>
              </a:rPr>
              <a:t>with smaller total errors. Also, the  forward model errors will be updated, which will further reduce the total errors.</a:t>
            </a:r>
          </a:p>
        </p:txBody>
      </p:sp>
      <p:cxnSp>
        <p:nvCxnSpPr>
          <p:cNvPr id="96" name="Straight Arrow Connector 95"/>
          <p:cNvCxnSpPr/>
          <p:nvPr/>
        </p:nvCxnSpPr>
        <p:spPr bwMode="auto">
          <a:xfrm>
            <a:off x="11201400" y="30403800"/>
            <a:ext cx="2590800" cy="762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7030A0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00" name="Rectangle 99"/>
          <p:cNvSpPr/>
          <p:nvPr/>
        </p:nvSpPr>
        <p:spPr>
          <a:xfrm>
            <a:off x="13944600" y="31013400"/>
            <a:ext cx="3048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 smtClean="0">
                <a:solidFill>
                  <a:schemeClr val="accent2"/>
                </a:solidFill>
              </a:rPr>
              <a:t>Cloudy Regions</a:t>
            </a:r>
            <a:endParaRPr lang="en-US" sz="28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389438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8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389438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8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2246</TotalTime>
  <Words>724</Words>
  <Application>Microsoft Office PowerPoint</Application>
  <PresentationFormat>Custom</PresentationFormat>
  <Paragraphs>81</Paragraphs>
  <Slides>1</Slides>
  <Notes>0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Default Design</vt:lpstr>
      <vt:lpstr>Bitmap Image</vt:lpstr>
      <vt:lpstr>Equation</vt:lpstr>
      <vt:lpstr>Slide 1</vt:lpstr>
    </vt:vector>
  </TitlesOfParts>
  <Company>NCAR/ACD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Linda Henderson</dc:creator>
  <cp:lastModifiedBy>rashid</cp:lastModifiedBy>
  <cp:revision>177</cp:revision>
  <dcterms:created xsi:type="dcterms:W3CDTF">2008-08-28T20:33:03Z</dcterms:created>
  <dcterms:modified xsi:type="dcterms:W3CDTF">2008-10-21T15:42:27Z</dcterms:modified>
</cp:coreProperties>
</file>