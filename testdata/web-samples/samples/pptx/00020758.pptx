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83" r:id="rId3"/>
    <p:sldId id="280" r:id="rId4"/>
    <p:sldId id="281" r:id="rId5"/>
    <p:sldId id="286" r:id="rId6"/>
    <p:sldId id="257" r:id="rId7"/>
    <p:sldId id="287" r:id="rId8"/>
    <p:sldId id="259" r:id="rId9"/>
    <p:sldId id="263" r:id="rId10"/>
    <p:sldId id="265" r:id="rId11"/>
    <p:sldId id="272" r:id="rId12"/>
    <p:sldId id="266" r:id="rId13"/>
    <p:sldId id="284" r:id="rId14"/>
    <p:sldId id="267" r:id="rId15"/>
    <p:sldId id="285" r:id="rId16"/>
    <p:sldId id="270" r:id="rId17"/>
    <p:sldId id="28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6600"/>
    <a:srgbClr val="D3481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278C1-508A-4632-9D9B-10957EE0857E}" type="datetimeFigureOut">
              <a:rPr lang="en-US" smtClean="0"/>
              <a:pPr/>
              <a:t>5/5/2011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EB713-F755-452C-B138-235EF2EB335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US" sz="3400" dirty="0" smtClean="0"/>
              <a:t>Promote community-based training initiatives, considering the role of volunteers, as appropriate, to enhance local capacities to mitigate and cope with disasters</a:t>
            </a:r>
          </a:p>
          <a:p>
            <a:pPr lvl="1"/>
            <a:endParaRPr lang="en-US" sz="3400" dirty="0" smtClean="0"/>
          </a:p>
          <a:p>
            <a:pPr lvl="1"/>
            <a:r>
              <a:rPr lang="en-US" sz="3400" dirty="0" smtClean="0"/>
              <a:t>Promote the engagement of the media in order to stimulate a culture of disaster resilience and strong community involvement in sustained public education campaigns and public consultations at all levels of society</a:t>
            </a:r>
            <a:r>
              <a:rPr lang="en-US" sz="3200" dirty="0" smtClean="0"/>
              <a:t>.</a:t>
            </a:r>
            <a:endParaRPr lang="en-US" sz="36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CEB713-F755-452C-B138-235EF2EB3351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TT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>
            <a:lvl1pPr>
              <a:defRPr b="1">
                <a:solidFill>
                  <a:srgbClr val="FFFF66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T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T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T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T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T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T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T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B469D2B7-086B-47A3-B326-10AFCDF88F4C}" type="datetimeFigureOut">
              <a:rPr lang="en-TT" smtClean="0"/>
              <a:pPr/>
              <a:t>05/05/2011</a:t>
            </a:fld>
            <a:endParaRPr lang="en-T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TT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73116D62-5987-4EB2-8C12-46BC786E7CA9}" type="slidenum">
              <a:rPr lang="en-TT" smtClean="0"/>
              <a:pPr/>
              <a:t>‹#›</a:t>
            </a:fld>
            <a:endParaRPr lang="en-TT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frc.org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wmf"/><Relationship Id="rId3" Type="http://schemas.openxmlformats.org/officeDocument/2006/relationships/image" Target="../media/image12.jpeg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wmf"/><Relationship Id="rId9" Type="http://schemas.openxmlformats.org/officeDocument/2006/relationships/image" Target="../media/image18.gif"/><Relationship Id="rId1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jpeg"/><Relationship Id="rId5" Type="http://schemas.openxmlformats.org/officeDocument/2006/relationships/image" Target="../media/image9.jpeg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TT" sz="9600" b="1" dirty="0" smtClean="0">
                <a:solidFill>
                  <a:srgbClr val="FFFF66"/>
                </a:solidFill>
              </a:rPr>
              <a:t/>
            </a:r>
            <a:br>
              <a:rPr lang="en-TT" sz="9600" b="1" dirty="0" smtClean="0">
                <a:solidFill>
                  <a:srgbClr val="FFFF66"/>
                </a:solidFill>
              </a:rPr>
            </a:br>
            <a:r>
              <a:rPr lang="en-TT" sz="9600" b="1" dirty="0" smtClean="0">
                <a:solidFill>
                  <a:srgbClr val="FFFF66"/>
                </a:solidFill>
              </a:rPr>
              <a:t/>
            </a:r>
            <a:br>
              <a:rPr lang="en-TT" sz="9600" b="1" dirty="0" smtClean="0">
                <a:solidFill>
                  <a:srgbClr val="FFFF66"/>
                </a:solidFill>
              </a:rPr>
            </a:br>
            <a:r>
              <a:rPr lang="en-TT" sz="9600" b="1" dirty="0" smtClean="0">
                <a:solidFill>
                  <a:srgbClr val="FFFF66"/>
                </a:solidFill>
              </a:rPr>
              <a:t/>
            </a:r>
            <a:br>
              <a:rPr lang="en-TT" sz="9600" b="1" dirty="0" smtClean="0">
                <a:solidFill>
                  <a:srgbClr val="FFFF66"/>
                </a:solidFill>
              </a:rPr>
            </a:br>
            <a:r>
              <a:rPr lang="en-TT" sz="6600" b="1" dirty="0" smtClean="0">
                <a:solidFill>
                  <a:srgbClr val="FFFF66"/>
                </a:solidFill>
              </a:rPr>
              <a:t> C.O.R.E. </a:t>
            </a:r>
            <a:br>
              <a:rPr lang="en-TT" sz="6600" b="1" dirty="0" smtClean="0">
                <a:solidFill>
                  <a:srgbClr val="FFFF66"/>
                </a:solidFill>
              </a:rPr>
            </a:br>
            <a:r>
              <a:rPr lang="en-TT" sz="6600" b="1" dirty="0" smtClean="0">
                <a:solidFill>
                  <a:srgbClr val="FFFF66"/>
                </a:solidFill>
              </a:rPr>
              <a:t> FLOOD </a:t>
            </a:r>
            <a:r>
              <a:rPr lang="en-TT" sz="6600" b="1" baseline="30000" dirty="0" smtClean="0">
                <a:solidFill>
                  <a:srgbClr val="FFFF66"/>
                </a:solidFill>
              </a:rPr>
              <a:t>+</a:t>
            </a:r>
            <a:r>
              <a:rPr lang="en-TT" sz="6600" b="1" dirty="0" smtClean="0">
                <a:solidFill>
                  <a:srgbClr val="FFFF66"/>
                </a:solidFill>
              </a:rPr>
              <a:t> SMART</a:t>
            </a:r>
            <a:endParaRPr lang="en-TT" sz="9600" b="1" baseline="30000" dirty="0">
              <a:solidFill>
                <a:srgbClr val="FFFF6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TT" b="1" dirty="0" smtClean="0"/>
              <a:t>National, Community Based </a:t>
            </a:r>
          </a:p>
          <a:p>
            <a:pPr algn="ctr"/>
            <a:r>
              <a:rPr lang="en-TT" b="1" dirty="0" smtClean="0"/>
              <a:t>Flood Mitigation Project</a:t>
            </a:r>
            <a:endParaRPr lang="en-TT" b="1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7" y="3957142"/>
            <a:ext cx="3672408" cy="2448809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26" name="Picture 2" descr="C:\Users\cbraithwaite\AppData\Local\Microsoft\Windows\Temporary Internet Files\Content.Outlook\UZ4RDUX9\CORE_LOGO2-01 (2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4077072"/>
            <a:ext cx="3185846" cy="231697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 smtClean="0"/>
              <a:t>Agenda</a:t>
            </a:r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dirty="0" smtClean="0"/>
              <a:t>What is C.O.R.E?</a:t>
            </a:r>
          </a:p>
          <a:p>
            <a:r>
              <a:rPr lang="en-TT" dirty="0" smtClean="0"/>
              <a:t>C.O.R.E. Partners</a:t>
            </a:r>
          </a:p>
          <a:p>
            <a:r>
              <a:rPr lang="en-TT" dirty="0" smtClean="0"/>
              <a:t>C.O.R.E Launch &amp; Community Events</a:t>
            </a:r>
          </a:p>
          <a:p>
            <a:pPr lvl="1"/>
            <a:endParaRPr lang="en-T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Hyogo Framework for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7002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“Use knowledge, innovation and education to build a culture of safety and resilience at all levels”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CDEMA CDM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“Enhanced Community Resilience in CDERA states /territories to mitigate and respond to the adverse effects climate change and disasters”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 smtClean="0"/>
              <a:t>What is C.O.R.E?</a:t>
            </a:r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dirty="0" smtClean="0"/>
              <a:t>CORE is Communities Organised and Ready for Emergencies.</a:t>
            </a:r>
          </a:p>
          <a:p>
            <a:endParaRPr lang="en-TT" dirty="0" smtClean="0"/>
          </a:p>
          <a:p>
            <a:r>
              <a:rPr lang="en-TT" dirty="0" smtClean="0"/>
              <a:t>A new ODPM initiative geared toward educating and preparing communities across Trinidad to help minimise the damage, risk and potential threat to life and property that result from disasters</a:t>
            </a:r>
            <a:endParaRPr lang="en-T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b="1" dirty="0" smtClean="0"/>
              <a:t>C.O.R.E Objectives</a:t>
            </a:r>
            <a:endParaRPr lang="en-T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4040"/>
          </a:xfrm>
        </p:spPr>
        <p:txBody>
          <a:bodyPr/>
          <a:lstStyle/>
          <a:p>
            <a:r>
              <a:rPr lang="en-TT" dirty="0" smtClean="0"/>
              <a:t>Flood Mitigation through awareness programme </a:t>
            </a:r>
          </a:p>
          <a:p>
            <a:r>
              <a:rPr lang="en-TT" dirty="0" smtClean="0"/>
              <a:t>PR &amp; Visibility on the ground in communities</a:t>
            </a:r>
          </a:p>
          <a:p>
            <a:r>
              <a:rPr lang="en-TT" dirty="0" smtClean="0"/>
              <a:t>Strengthen relationships between ODPM and partners</a:t>
            </a:r>
          </a:p>
        </p:txBody>
      </p:sp>
      <p:pic>
        <p:nvPicPr>
          <p:cNvPr id="4" name="Picture 3" descr="IMG_00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48064" y="4190258"/>
            <a:ext cx="3995936" cy="26677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42" name="Picture 2" descr="IFRC Logo">
            <a:hlinkClick r:id="rId3" tooltip="IFRC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4437112"/>
            <a:ext cx="1504965" cy="792088"/>
          </a:xfrm>
          <a:prstGeom prst="rect">
            <a:avLst/>
          </a:prstGeom>
          <a:noFill/>
        </p:spPr>
      </p:pic>
      <p:pic>
        <p:nvPicPr>
          <p:cNvPr id="10244" name="Picture 4" descr="http://t1.gstatic.com/images?q=tbn:ANd9GcTRlSjdQzawxlgEpbLNbApE7JveBvocGGcS7-wOS4lt3EYdBIdL7w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5736" y="4869160"/>
            <a:ext cx="1063005" cy="106300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827584" y="6021288"/>
            <a:ext cx="3358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T" sz="5400" b="1" baseline="300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+</a:t>
            </a:r>
            <a:r>
              <a:rPr lang="en-TT" sz="36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TT" sz="3600" dirty="0" smtClean="0"/>
              <a:t>many others</a:t>
            </a:r>
            <a:endParaRPr lang="en-TT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63888" y="4509120"/>
            <a:ext cx="1368152" cy="1506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399032"/>
          </a:xfrm>
        </p:spPr>
        <p:txBody>
          <a:bodyPr/>
          <a:lstStyle/>
          <a:p>
            <a:r>
              <a:rPr lang="en-TT" dirty="0" smtClean="0"/>
              <a:t>Our partners</a:t>
            </a:r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5114040"/>
          </a:xfrm>
        </p:spPr>
        <p:txBody>
          <a:bodyPr>
            <a:normAutofit fontScale="25000" lnSpcReduction="20000"/>
          </a:bodyPr>
          <a:lstStyle/>
          <a:p>
            <a:r>
              <a:rPr lang="en-TT" sz="6400" dirty="0" smtClean="0"/>
              <a:t>Trinidad and Tobago Red Cross</a:t>
            </a:r>
          </a:p>
          <a:p>
            <a:r>
              <a:rPr lang="en-TT" sz="6400" dirty="0" smtClean="0"/>
              <a:t>Rotary Club</a:t>
            </a:r>
          </a:p>
          <a:p>
            <a:r>
              <a:rPr lang="en-TT" sz="6400" dirty="0" smtClean="0"/>
              <a:t>Adventist Development and Relief Agency</a:t>
            </a:r>
          </a:p>
          <a:p>
            <a:r>
              <a:rPr lang="en-TT" sz="6400" dirty="0" smtClean="0"/>
              <a:t>Habitat for Humanity</a:t>
            </a:r>
          </a:p>
          <a:p>
            <a:r>
              <a:rPr lang="en-TT" sz="6400" dirty="0" smtClean="0"/>
              <a:t>Ministry of Community Development</a:t>
            </a:r>
          </a:p>
          <a:p>
            <a:r>
              <a:rPr lang="en-TT" sz="6400" dirty="0" smtClean="0"/>
              <a:t>Ministry of the People and Social Development</a:t>
            </a:r>
          </a:p>
          <a:p>
            <a:r>
              <a:rPr lang="en-TT" sz="6400" dirty="0" smtClean="0"/>
              <a:t>Ministry of Health</a:t>
            </a:r>
          </a:p>
          <a:p>
            <a:r>
              <a:rPr lang="en-TT" sz="6400" dirty="0" smtClean="0"/>
              <a:t>Ministry of Local Government</a:t>
            </a:r>
          </a:p>
          <a:p>
            <a:r>
              <a:rPr lang="en-TT" sz="6400" dirty="0" smtClean="0"/>
              <a:t>Trinbago Emergency Network Team</a:t>
            </a:r>
          </a:p>
          <a:p>
            <a:r>
              <a:rPr lang="en-TT" sz="6400" dirty="0" smtClean="0"/>
              <a:t>Church of Jesus Christ of Latter Day Saints</a:t>
            </a:r>
          </a:p>
          <a:p>
            <a:r>
              <a:rPr lang="en-TT" sz="6400" dirty="0" smtClean="0"/>
              <a:t>Federation For Canine Registration Of Trinidad and Tobago</a:t>
            </a:r>
            <a:endParaRPr lang="en-TT" sz="21600" dirty="0" smtClean="0"/>
          </a:p>
          <a:p>
            <a:r>
              <a:rPr lang="en-TT" sz="6400" dirty="0" smtClean="0"/>
              <a:t>The Foundation for the Enhancement and Enrichment of Life</a:t>
            </a:r>
          </a:p>
          <a:p>
            <a:r>
              <a:rPr lang="en-TT" sz="6400" dirty="0" smtClean="0"/>
              <a:t>Kiwanis Club of Trinidad</a:t>
            </a:r>
          </a:p>
          <a:p>
            <a:r>
              <a:rPr lang="en-TT" sz="6400" dirty="0" smtClean="0"/>
              <a:t>Lions Club</a:t>
            </a:r>
          </a:p>
          <a:p>
            <a:r>
              <a:rPr lang="en-TT" sz="6400" dirty="0" smtClean="0"/>
              <a:t>Ministry of National Security</a:t>
            </a:r>
          </a:p>
          <a:p>
            <a:pPr lvl="1"/>
            <a:r>
              <a:rPr lang="en-TT" sz="4400" dirty="0" smtClean="0"/>
              <a:t>Trinidad and Tobago Fire Service</a:t>
            </a:r>
          </a:p>
          <a:p>
            <a:pPr lvl="1"/>
            <a:r>
              <a:rPr lang="en-TT" sz="4400" dirty="0" smtClean="0"/>
              <a:t>Trinidad and Tobago Defence Force</a:t>
            </a:r>
          </a:p>
          <a:p>
            <a:pPr lvl="1"/>
            <a:r>
              <a:rPr lang="en-TT" sz="4400" dirty="0" smtClean="0"/>
              <a:t>Trinidad and Tobago Police Service</a:t>
            </a:r>
          </a:p>
          <a:p>
            <a:pPr lvl="1"/>
            <a:r>
              <a:rPr lang="en-TT" sz="4400" dirty="0" smtClean="0"/>
              <a:t>Ministry of Works and Transport</a:t>
            </a:r>
          </a:p>
          <a:p>
            <a:r>
              <a:rPr lang="en-TT" sz="6400" dirty="0" smtClean="0"/>
              <a:t>Water Resource Agency</a:t>
            </a:r>
          </a:p>
          <a:p>
            <a:r>
              <a:rPr lang="en-TT" sz="6400" dirty="0" smtClean="0"/>
              <a:t>WASA</a:t>
            </a:r>
          </a:p>
          <a:p>
            <a:r>
              <a:rPr lang="en-TT" sz="6400" dirty="0" smtClean="0"/>
              <a:t>T&amp;TEC</a:t>
            </a:r>
          </a:p>
          <a:p>
            <a:r>
              <a:rPr lang="en-TT" sz="6400" dirty="0" smtClean="0"/>
              <a:t>Trinidad &amp; Tobago Meteorological Office</a:t>
            </a:r>
          </a:p>
          <a:p>
            <a:endParaRPr lang="en-T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T" dirty="0"/>
          </a:p>
        </p:txBody>
      </p:sp>
      <p:pic>
        <p:nvPicPr>
          <p:cNvPr id="4" name="Picture 4" descr="C:\Tresha\Edited Photos for Stock\Business\944284_42891822.jpg"/>
          <p:cNvPicPr>
            <a:picLocks noChangeAspect="1" noChangeArrowheads="1"/>
          </p:cNvPicPr>
          <p:nvPr/>
        </p:nvPicPr>
        <p:blipFill>
          <a:blip r:embed="rId2" cstate="print"/>
          <a:srcRect l="5501" t="6889" r="5436" b="6747"/>
          <a:stretch>
            <a:fillRect/>
          </a:stretch>
        </p:blipFill>
        <p:spPr bwMode="auto">
          <a:xfrm>
            <a:off x="0" y="76200"/>
            <a:ext cx="9144000" cy="6096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79512" y="476672"/>
            <a:ext cx="6192689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By working together with</a:t>
            </a:r>
            <a:r>
              <a:rPr lang="en-US" sz="2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n-US" sz="28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our partners,</a:t>
            </a:r>
          </a:p>
          <a:p>
            <a:pPr algn="ctr"/>
            <a:r>
              <a:rPr lang="en-US" sz="28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we will aim to</a:t>
            </a:r>
          </a:p>
          <a:p>
            <a:pPr algn="ctr"/>
            <a:r>
              <a:rPr lang="en-US" sz="28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educate, prevent and mitigate</a:t>
            </a:r>
            <a:endParaRPr lang="en-US" sz="2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 smtClean="0"/>
              <a:t>C.O.R.E Project</a:t>
            </a:r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TT" sz="4000" dirty="0" smtClean="0"/>
              <a:t>Community Walks</a:t>
            </a:r>
          </a:p>
          <a:p>
            <a:pPr lvl="1"/>
            <a:r>
              <a:rPr lang="en-TT" sz="3600" dirty="0" smtClean="0"/>
              <a:t>Visit the areas most affected</a:t>
            </a:r>
          </a:p>
          <a:p>
            <a:pPr lvl="1"/>
            <a:r>
              <a:rPr lang="en-TT" sz="3600" dirty="0" smtClean="0"/>
              <a:t>Listen</a:t>
            </a:r>
          </a:p>
          <a:p>
            <a:pPr lvl="1"/>
            <a:r>
              <a:rPr lang="en-TT" sz="3600" dirty="0" smtClean="0"/>
              <a:t>Learn and teach</a:t>
            </a:r>
          </a:p>
          <a:p>
            <a:pPr lvl="1"/>
            <a:r>
              <a:rPr lang="en-TT" sz="3600" dirty="0" smtClean="0"/>
              <a:t>Give-aways</a:t>
            </a:r>
          </a:p>
          <a:p>
            <a:pPr lvl="2"/>
            <a:r>
              <a:rPr lang="en-TT" sz="3400" dirty="0" smtClean="0"/>
              <a:t>disaster kits</a:t>
            </a:r>
          </a:p>
          <a:p>
            <a:pPr lvl="2"/>
            <a:r>
              <a:rPr lang="en-TT" sz="3400" dirty="0" smtClean="0"/>
              <a:t>flashlights</a:t>
            </a:r>
            <a:endParaRPr lang="en-TT" sz="3400" dirty="0"/>
          </a:p>
        </p:txBody>
      </p:sp>
      <p:pic>
        <p:nvPicPr>
          <p:cNvPr id="5" name="Picture 4" descr="DSC0045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04180" y="4653136"/>
            <a:ext cx="2939819" cy="2204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 smtClean="0"/>
              <a:t>C.O.R.E Project</a:t>
            </a:r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TT" sz="4400" dirty="0" smtClean="0"/>
              <a:t>Big Events</a:t>
            </a:r>
          </a:p>
          <a:p>
            <a:pPr lvl="1"/>
            <a:r>
              <a:rPr lang="en-TT" sz="3200" dirty="0" smtClean="0"/>
              <a:t>Major events with half or full day agenda</a:t>
            </a:r>
          </a:p>
          <a:p>
            <a:pPr lvl="1"/>
            <a:r>
              <a:rPr lang="en-TT" sz="3200" dirty="0" smtClean="0"/>
              <a:t>Discussion facilitation</a:t>
            </a:r>
          </a:p>
          <a:p>
            <a:pPr lvl="1"/>
            <a:r>
              <a:rPr lang="en-TT" sz="3200" dirty="0" smtClean="0"/>
              <a:t>Combine with bigger calendar events during the year</a:t>
            </a:r>
          </a:p>
          <a:p>
            <a:pPr lvl="1">
              <a:buNone/>
            </a:pPr>
            <a:endParaRPr lang="en-TT" sz="3200" dirty="0"/>
          </a:p>
        </p:txBody>
      </p:sp>
      <p:pic>
        <p:nvPicPr>
          <p:cNvPr id="4" name="Picture 3" descr="ODPM's Human Resource Specialist, Natalie Swan conducting an Awareness session with primary school student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48064" y="476672"/>
            <a:ext cx="3547886" cy="19956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Documents and Settings\rmaharaj\Local Settings\Temporary Internet Files\Content.IE5\SFK678K4\MC900432517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7160" y="2837515"/>
            <a:ext cx="1345553" cy="966547"/>
          </a:xfrm>
          <a:prstGeom prst="rect">
            <a:avLst/>
          </a:prstGeom>
          <a:noFill/>
        </p:spPr>
      </p:pic>
      <p:pic>
        <p:nvPicPr>
          <p:cNvPr id="1029" name="Picture 5" descr="http://i.ytimg.com/vi/SR0fcg9HCPI/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4688" y="2978961"/>
            <a:ext cx="1050188" cy="583745"/>
          </a:xfrm>
          <a:prstGeom prst="rect">
            <a:avLst/>
          </a:prstGeom>
          <a:noFill/>
        </p:spPr>
      </p:pic>
      <p:pic>
        <p:nvPicPr>
          <p:cNvPr id="1034" name="Picture 10" descr="C:\Documents and Settings\rmaharaj\Local Settings\Temporary Internet Files\Content.IE5\ZHO1LN4A\MC900231782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17160" y="4204826"/>
            <a:ext cx="1575282" cy="1131567"/>
          </a:xfrm>
          <a:prstGeom prst="rect">
            <a:avLst/>
          </a:prstGeom>
          <a:noFill/>
        </p:spPr>
      </p:pic>
      <p:pic>
        <p:nvPicPr>
          <p:cNvPr id="1037" name="Picture 13" descr="http://www.unicef.org/ceecis/risklan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70422" y="4204826"/>
            <a:ext cx="1627791" cy="1116982"/>
          </a:xfrm>
          <a:prstGeom prst="rect">
            <a:avLst/>
          </a:prstGeom>
          <a:noFill/>
        </p:spPr>
      </p:pic>
      <p:pic>
        <p:nvPicPr>
          <p:cNvPr id="1035" name="Picture 11" descr="C:\Documents and Settings\rmaharaj\Local Settings\Temporary Internet Files\Content.IE5\MOV67ZY9\MC90008896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58063" y="4534866"/>
            <a:ext cx="914765" cy="848675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3360008" y="2177435"/>
            <a:ext cx="1155207" cy="66008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/>
            <a:r>
              <a:rPr lang="en-US" sz="1100" dirty="0" smtClean="0">
                <a:solidFill>
                  <a:sysClr val="windowText" lastClr="000000"/>
                </a:solidFill>
              </a:rPr>
              <a:t>Disaster Kit </a:t>
            </a:r>
            <a:endParaRPr 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72743" y="2177435"/>
            <a:ext cx="1155207" cy="66008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Program Files\Microsoft Office\MEDIA\CAGCAT10\j0301252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60384" y="2130286"/>
            <a:ext cx="1015362" cy="780027"/>
          </a:xfrm>
          <a:prstGeom prst="rect">
            <a:avLst/>
          </a:prstGeom>
          <a:noFill/>
        </p:spPr>
      </p:pic>
      <p:pic>
        <p:nvPicPr>
          <p:cNvPr id="1031" name="Picture 7" descr="C:\Documents and Settings\rmaharaj\Local Settings\Temporary Internet Files\Content.IE5\MOV67ZY9\MC900435388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725253" y="2224583"/>
            <a:ext cx="813497" cy="565784"/>
          </a:xfrm>
          <a:prstGeom prst="rect">
            <a:avLst/>
          </a:prstGeom>
          <a:noFill/>
        </p:spPr>
      </p:pic>
      <p:pic>
        <p:nvPicPr>
          <p:cNvPr id="1039" name="Picture 15" descr="http://www.nexternal.com/armynavy/images/Lifeline-Back-pack-Disaster.gi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412517" y="2224583"/>
            <a:ext cx="1050188" cy="572856"/>
          </a:xfrm>
          <a:prstGeom prst="rect">
            <a:avLst/>
          </a:prstGeom>
          <a:noFill/>
        </p:spPr>
      </p:pic>
      <p:pic>
        <p:nvPicPr>
          <p:cNvPr id="1041" name="Picture 17" descr="http://www.stylepark.com/db-images/cms/established_and_sons/img/p274025_488_336-1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827950" y="3026110"/>
            <a:ext cx="1519022" cy="939109"/>
          </a:xfrm>
          <a:prstGeom prst="rect">
            <a:avLst/>
          </a:prstGeom>
          <a:noFill/>
        </p:spPr>
      </p:pic>
      <p:pic>
        <p:nvPicPr>
          <p:cNvPr id="1042" name="Picture 18" descr="C:\Documents and Settings\rmaharaj\Local Settings\Temporary Internet Files\Content.IE5\IZFXUE4M\MC900012878[1].wm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rot="221517">
            <a:off x="6201064" y="3269365"/>
            <a:ext cx="341912" cy="207804"/>
          </a:xfrm>
          <a:prstGeom prst="rect">
            <a:avLst/>
          </a:prstGeom>
          <a:noFill/>
        </p:spPr>
      </p:pic>
      <p:pic>
        <p:nvPicPr>
          <p:cNvPr id="22" name="Picture 18" descr="C:\Documents and Settings\rmaharaj\Local Settings\Temporary Internet Files\Content.IE5\IZFXUE4M\MC900012878[1].wm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rot="545497">
            <a:off x="6685158" y="3286114"/>
            <a:ext cx="361430" cy="219666"/>
          </a:xfrm>
          <a:prstGeom prst="rect">
            <a:avLst/>
          </a:prstGeom>
          <a:noFill/>
        </p:spPr>
      </p:pic>
      <p:pic>
        <p:nvPicPr>
          <p:cNvPr id="1043" name="Picture 19" descr="C:\Documents and Settings\rmaharaj\Local Settings\Temporary Internet Files\Content.IE5\SFK678K4\MC900057803[1].wmf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347864" y="5872307"/>
            <a:ext cx="1217978" cy="941069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3275856" y="1628800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Posters 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4644008" y="1628800"/>
            <a:ext cx="1253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Maps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395536" y="1844824"/>
            <a:ext cx="266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Video Presentations </a:t>
            </a: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79512" y="5229200"/>
            <a:ext cx="2415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Oral Presentations/Discussions 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7568718" y="4869160"/>
            <a:ext cx="1575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Riskland Game </a:t>
            </a:r>
            <a:endParaRPr lang="en-US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7380312" y="3068960"/>
            <a:ext cx="1763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Flyers &amp; Brochures</a:t>
            </a:r>
            <a:endParaRPr lang="en-US"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3622554" y="5477839"/>
            <a:ext cx="1309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Food </a:t>
            </a:r>
            <a:endParaRPr lang="en-US" sz="2400" dirty="0"/>
          </a:p>
        </p:txBody>
      </p:sp>
      <p:pic>
        <p:nvPicPr>
          <p:cNvPr id="1044" name="Picture 20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156176" y="5877272"/>
            <a:ext cx="827744" cy="764704"/>
          </a:xfrm>
          <a:prstGeom prst="rect">
            <a:avLst/>
          </a:prstGeom>
          <a:noFill/>
        </p:spPr>
      </p:pic>
      <p:sp>
        <p:nvSpPr>
          <p:cNvPr id="32" name="TextBox 31"/>
          <p:cNvSpPr txBox="1"/>
          <p:nvPr/>
        </p:nvSpPr>
        <p:spPr>
          <a:xfrm>
            <a:off x="4572000" y="6165304"/>
            <a:ext cx="1817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Sponsors</a:t>
            </a:r>
            <a:endParaRPr lang="en-US" sz="2400" dirty="0"/>
          </a:p>
        </p:txBody>
      </p:sp>
      <p:pic>
        <p:nvPicPr>
          <p:cNvPr id="1045" name="Picture 21" descr="C:\Program Files\Microsoft Office\MEDIA\CAGCAT10\j0149481.wmf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465027" y="3261853"/>
            <a:ext cx="1687579" cy="1539818"/>
          </a:xfrm>
          <a:prstGeom prst="rect">
            <a:avLst/>
          </a:prstGeom>
          <a:noFill/>
        </p:spPr>
      </p:pic>
      <p:cxnSp>
        <p:nvCxnSpPr>
          <p:cNvPr id="38" name="Straight Arrow Connector 37"/>
          <p:cNvCxnSpPr/>
          <p:nvPr/>
        </p:nvCxnSpPr>
        <p:spPr>
          <a:xfrm flipV="1">
            <a:off x="4987800" y="3497596"/>
            <a:ext cx="682622" cy="18859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145328" y="4629164"/>
            <a:ext cx="420075" cy="23574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2" idx="0"/>
          </p:cNvCxnSpPr>
          <p:nvPr/>
        </p:nvCxnSpPr>
        <p:spPr>
          <a:xfrm rot="16200000" flipH="1">
            <a:off x="4414429" y="5098739"/>
            <a:ext cx="1368152" cy="76497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3733484" y="4969376"/>
            <a:ext cx="565784" cy="26254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10800000" flipV="1">
            <a:off x="3097461" y="4534866"/>
            <a:ext cx="577603" cy="18859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2782405" y="3686191"/>
            <a:ext cx="682622" cy="4714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16200000" flipV="1">
            <a:off x="3769911" y="2994495"/>
            <a:ext cx="282892" cy="15752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rot="5400000" flipH="1" flipV="1">
            <a:off x="4557552" y="2941985"/>
            <a:ext cx="282892" cy="26254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419872" y="3356992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accent2">
                    <a:lumMod val="50000"/>
                  </a:schemeClr>
                </a:solidFill>
              </a:rPr>
              <a:t>Audience </a:t>
            </a:r>
            <a:endParaRPr lang="en-US" sz="1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9" name="Title 1"/>
          <p:cNvSpPr txBox="1">
            <a:spLocks/>
          </p:cNvSpPr>
          <p:nvPr/>
        </p:nvSpPr>
        <p:spPr>
          <a:xfrm>
            <a:off x="457200" y="267494"/>
            <a:ext cx="8229600" cy="1073274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484632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T" sz="44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rgbClr val="FFFF66"/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BIG EVENTS</a:t>
            </a:r>
            <a:endParaRPr kumimoji="0" lang="en-TT" sz="44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rgbClr val="FFFF66"/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TT" dirty="0" smtClean="0"/>
              <a:t>Flood Areas – 2010</a:t>
            </a:r>
            <a:endParaRPr lang="en-TT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234033"/>
            <a:ext cx="7504509" cy="5623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T" dirty="0" smtClean="0"/>
              <a:t>C.O.R.E. Communities</a:t>
            </a:r>
            <a:endParaRPr lang="en-T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754000"/>
          </a:xfrm>
        </p:spPr>
        <p:txBody>
          <a:bodyPr>
            <a:normAutofit fontScale="77500" lnSpcReduction="20000"/>
          </a:bodyPr>
          <a:lstStyle/>
          <a:p>
            <a:r>
              <a:rPr lang="en-TT" dirty="0" smtClean="0"/>
              <a:t>Gasparillo</a:t>
            </a:r>
          </a:p>
          <a:p>
            <a:r>
              <a:rPr lang="en-TT" dirty="0" smtClean="0"/>
              <a:t>Sangre Grande</a:t>
            </a:r>
          </a:p>
          <a:p>
            <a:r>
              <a:rPr lang="en-TT" dirty="0" smtClean="0"/>
              <a:t>Montrose Village/Lange Park</a:t>
            </a:r>
          </a:p>
          <a:p>
            <a:r>
              <a:rPr lang="en-TT" dirty="0" smtClean="0"/>
              <a:t>Diego Martin</a:t>
            </a:r>
          </a:p>
          <a:p>
            <a:r>
              <a:rPr lang="en-TT" dirty="0" smtClean="0"/>
              <a:t>Mc Bean / Chase Village</a:t>
            </a:r>
          </a:p>
          <a:p>
            <a:r>
              <a:rPr lang="en-TT" dirty="0" smtClean="0"/>
              <a:t>Trincity</a:t>
            </a:r>
          </a:p>
          <a:p>
            <a:r>
              <a:rPr lang="en-TT" dirty="0" smtClean="0"/>
              <a:t>Claxton Bay/Union Village</a:t>
            </a:r>
          </a:p>
          <a:p>
            <a:r>
              <a:rPr lang="en-TT" dirty="0" smtClean="0"/>
              <a:t>San Juan/Barataria</a:t>
            </a:r>
          </a:p>
          <a:p>
            <a:r>
              <a:rPr lang="en-TT" dirty="0" smtClean="0"/>
              <a:t>Port of Spain</a:t>
            </a:r>
          </a:p>
          <a:p>
            <a:r>
              <a:rPr lang="en-TT" dirty="0" smtClean="0"/>
              <a:t>Mayaro</a:t>
            </a:r>
          </a:p>
          <a:p>
            <a:r>
              <a:rPr lang="en-TT" dirty="0" smtClean="0"/>
              <a:t>Santa Cruz</a:t>
            </a:r>
          </a:p>
          <a:p>
            <a:r>
              <a:rPr lang="en-TT" dirty="0" smtClean="0"/>
              <a:t>Point Fortin</a:t>
            </a:r>
          </a:p>
          <a:p>
            <a:r>
              <a:rPr lang="en-TT" dirty="0" smtClean="0"/>
              <a:t>San Fernando</a:t>
            </a:r>
          </a:p>
          <a:p>
            <a:endParaRPr lang="en-TT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0910" y="3068960"/>
            <a:ext cx="4393090" cy="378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399032"/>
          </a:xfrm>
        </p:spPr>
        <p:txBody>
          <a:bodyPr/>
          <a:lstStyle/>
          <a:p>
            <a:pPr algn="ctr"/>
            <a:r>
              <a:rPr lang="en-TT" dirty="0" smtClean="0"/>
              <a:t>C.O.R.E LAUNCH 2011</a:t>
            </a:r>
            <a:endParaRPr lang="en-TT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2564904"/>
            <a:ext cx="5728621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3"/>
          <p:cNvSpPr/>
          <p:nvPr/>
        </p:nvSpPr>
        <p:spPr>
          <a:xfrm>
            <a:off x="2915816" y="5877272"/>
            <a:ext cx="360040" cy="360040"/>
          </a:xfrm>
          <a:prstGeom prst="roundRect">
            <a:avLst/>
          </a:prstGeom>
          <a:solidFill>
            <a:srgbClr val="D34817">
              <a:alpha val="25098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T" dirty="0"/>
          </a:p>
        </p:txBody>
      </p:sp>
      <p:cxnSp>
        <p:nvCxnSpPr>
          <p:cNvPr id="6" name="Straight Arrow Connector 5"/>
          <p:cNvCxnSpPr/>
          <p:nvPr/>
        </p:nvCxnSpPr>
        <p:spPr>
          <a:xfrm rot="16200000" flipH="1">
            <a:off x="1115616" y="3933056"/>
            <a:ext cx="3168352" cy="43204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124744"/>
            <a:ext cx="4644008" cy="1384995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484632" algn="ctr">
              <a:spcBef>
                <a:spcPct val="0"/>
              </a:spcBef>
            </a:pPr>
            <a:r>
              <a:rPr lang="en-TT" sz="28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rgbClr val="FFFF66"/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Siparia</a:t>
            </a:r>
          </a:p>
          <a:p>
            <a:pPr marL="484632" algn="ctr">
              <a:spcBef>
                <a:spcPct val="0"/>
              </a:spcBef>
            </a:pPr>
            <a:r>
              <a:rPr lang="en-TT" sz="28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rgbClr val="FFFF66"/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Saturday, 30th April 2011</a:t>
            </a: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772816"/>
            <a:ext cx="3446537" cy="3159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/>
          <p:nvPr/>
        </p:nvCxnSpPr>
        <p:spPr>
          <a:xfrm flipV="1">
            <a:off x="3491880" y="4941168"/>
            <a:ext cx="2016224" cy="108012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cbraithwaite\Desktop\204554_10150236281529359_172163049358_8655921_8350869_o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188640"/>
            <a:ext cx="2880320" cy="2022353"/>
          </a:xfrm>
          <a:prstGeom prst="rect">
            <a:avLst/>
          </a:prstGeom>
          <a:noFill/>
        </p:spPr>
      </p:pic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95536" y="260648"/>
          <a:ext cx="3620515" cy="5739734"/>
        </p:xfrm>
        <a:graphic>
          <a:graphicData uri="http://schemas.openxmlformats.org/presentationml/2006/ole">
            <p:oleObj spid="_x0000_s3075" name="Acrobat Document" r:id="rId4" imgW="7543800" imgH="11658600" progId="AcroExch.Document.7">
              <p:embed/>
            </p:oleObj>
          </a:graphicData>
        </a:graphic>
      </p:graphicFrame>
      <p:pic>
        <p:nvPicPr>
          <p:cNvPr id="8" name="Picture 7" descr="DSC0045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24129" y="4680520"/>
            <a:ext cx="3096344" cy="1844824"/>
          </a:xfrm>
          <a:prstGeom prst="rect">
            <a:avLst/>
          </a:prstGeom>
        </p:spPr>
      </p:pic>
      <p:pic>
        <p:nvPicPr>
          <p:cNvPr id="3077" name="Picture 5" descr="C:\Users\cbraithwaite\AppData\Local\Microsoft\Windows\Temporary Internet Files\Content.Outlook\UZ4RDUX9\_MG_3130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84168" y="1772816"/>
            <a:ext cx="2771800" cy="1850248"/>
          </a:xfrm>
          <a:prstGeom prst="rect">
            <a:avLst/>
          </a:prstGeom>
          <a:noFill/>
        </p:spPr>
      </p:pic>
      <p:pic>
        <p:nvPicPr>
          <p:cNvPr id="3078" name="Picture 6" descr="C:\Users\cbraithwaite\AppData\Local\Microsoft\Windows\Temporary Internet Files\Content.Outlook\UZ4RDUX9\staff3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72000" y="3212976"/>
            <a:ext cx="2630286" cy="1755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399032"/>
          </a:xfrm>
        </p:spPr>
        <p:txBody>
          <a:bodyPr/>
          <a:lstStyle/>
          <a:p>
            <a:pPr algn="ctr"/>
            <a:r>
              <a:rPr lang="en-TT" dirty="0" smtClean="0"/>
              <a:t>C.O.R.E events 2011</a:t>
            </a:r>
            <a:endParaRPr lang="en-TT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196752"/>
            <a:ext cx="7272808" cy="533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www.wondercomments.com/thank_you/thank_you_comment_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484784"/>
            <a:ext cx="4762500" cy="3190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593</TotalTime>
  <Words>420</Words>
  <Application>Microsoft Office PowerPoint</Application>
  <PresentationFormat>On-screen Show (4:3)</PresentationFormat>
  <Paragraphs>94</Paragraphs>
  <Slides>17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Verve</vt:lpstr>
      <vt:lpstr>Acrobat Document</vt:lpstr>
      <vt:lpstr>    C.O.R.E.   FLOOD + SMART</vt:lpstr>
      <vt:lpstr>Agenda</vt:lpstr>
      <vt:lpstr>Hyogo Framework for Action</vt:lpstr>
      <vt:lpstr>CDEMA CDM Strategy</vt:lpstr>
      <vt:lpstr>What is C.O.R.E?</vt:lpstr>
      <vt:lpstr>C.O.R.E Objectives</vt:lpstr>
      <vt:lpstr>Our partners</vt:lpstr>
      <vt:lpstr>Slide 8</vt:lpstr>
      <vt:lpstr>C.O.R.E Project</vt:lpstr>
      <vt:lpstr>C.O.R.E Project</vt:lpstr>
      <vt:lpstr>Slide 11</vt:lpstr>
      <vt:lpstr>Flood Areas – 2010</vt:lpstr>
      <vt:lpstr>C.O.R.E. Communities</vt:lpstr>
      <vt:lpstr>C.O.R.E LAUNCH 2011</vt:lpstr>
      <vt:lpstr>Slide 15</vt:lpstr>
      <vt:lpstr>C.O.R.E events 2011</vt:lpstr>
      <vt:lpstr>Slide 17</vt:lpstr>
    </vt:vector>
  </TitlesOfParts>
  <Company>Office of the Parliament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+</dc:title>
  <dc:creator>TBaptisteCornelis MP</dc:creator>
  <cp:lastModifiedBy>sramroop</cp:lastModifiedBy>
  <cp:revision>48</cp:revision>
  <dcterms:created xsi:type="dcterms:W3CDTF">2011-04-21T12:59:40Z</dcterms:created>
  <dcterms:modified xsi:type="dcterms:W3CDTF">2011-05-05T17:25:31Z</dcterms:modified>
</cp:coreProperties>
</file>