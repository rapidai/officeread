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35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s/slide28.xml" ContentType="application/vnd.openxmlformats-officedocument.presentationml.slide+xml"/>
  <Override PartName="/ppt/slideMasters/slideMaster12.xml" ContentType="application/vnd.openxmlformats-officedocument.presentationml.slideMaster+xml"/>
  <Override PartName="/docProps/app.xml" ContentType="application/vnd.openxmlformats-officedocument.extended-properties+xml"/>
  <Override PartName="/ppt/slideMasters/slideMaster13.xml" ContentType="application/vnd.openxmlformats-officedocument.presentationml.slideMaster+xml"/>
  <Override PartName="/ppt/slides/slide11.xml" ContentType="application/vnd.openxmlformats-officedocument.presentationml.slide+xml"/>
  <Override PartName="/ppt/slideLayouts/slideLayout8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56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Masters/slideMaster16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slideLayouts/slideLayout64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9.xml" ContentType="application/vnd.openxmlformats-officedocument.theme+xml"/>
  <Override PartName="/ppt/slideLayouts/slideLayout53.xml" ContentType="application/vnd.openxmlformats-officedocument.presentationml.slideLayout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Layouts/slideLayout6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theme/theme19.xml" ContentType="application/vnd.openxmlformats-officedocument.theme+xml"/>
  <Override PartName="/ppt/slideLayouts/slideLayout168.xml" ContentType="application/vnd.openxmlformats-officedocument.presentationml.slideLayout+xml"/>
  <Override PartName="/ppt/slideLayouts/slideLayout10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4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s/slide10.xml" ContentType="application/vnd.openxmlformats-officedocument.presentationml.slide+xml"/>
  <Override PartName="/ppt/slides/slide33.xml" ContentType="application/vnd.openxmlformats-officedocument.presentationml.slide+xml"/>
  <Override PartName="/ppt/slideLayouts/slideLayout145.xml" ContentType="application/vnd.openxmlformats-officedocument.presentationml.slideLayout+xml"/>
  <Override PartName="/ppt/slideLayouts/slideLayout175.xml" ContentType="application/vnd.openxmlformats-officedocument.presentationml.slideLayout+xml"/>
  <Default Extension="png" ContentType="image/png"/>
  <Override PartName="/ppt/slideLayouts/slideLayout82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5.xml" ContentType="application/vnd.openxmlformats-officedocument.presentationml.slideLayout+xml"/>
  <Override PartName="/docProps/core.xml" ContentType="application/vnd.openxmlformats-package.core-properties+xml"/>
  <Override PartName="/ppt/slideMasters/slideMaster9.xml" ContentType="application/vnd.openxmlformats-officedocument.presentationml.slideMaster+xml"/>
  <Override PartName="/ppt/slides/slide31.xml" ContentType="application/vnd.openxmlformats-officedocument.presentationml.slide+xml"/>
  <Default Extension="bin" ContentType="application/vnd.openxmlformats-officedocument.presentationml.printerSettings"/>
  <Override PartName="/ppt/slideLayouts/slideLayout126.xml" ContentType="application/vnd.openxmlformats-officedocument.presentationml.slideLayout+xml"/>
  <Override PartName="/ppt/theme/theme8.xml" ContentType="application/vnd.openxmlformats-officedocument.theme+xml"/>
  <Override PartName="/ppt/slideLayouts/slideLayout19.xml" ContentType="application/vnd.openxmlformats-officedocument.presentationml.slideLayout+xml"/>
  <Override PartName="/ppt/theme/theme18.xml" ContentType="application/vnd.openxmlformats-officedocument.theme+xml"/>
  <Override PartName="/ppt/slideLayouts/slideLayout17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58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Layouts/slideLayout30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Masters/slideMaster6.xml" ContentType="application/vnd.openxmlformats-officedocument.presentationml.slideMaster+xml"/>
  <Override PartName="/ppt/notesSlides/notesSlide2.xml" ContentType="application/vnd.openxmlformats-officedocument.presentationml.notesSlide+xml"/>
  <Override PartName="/ppt/theme/theme2.xml" ContentType="application/vnd.openxmlformats-officedocument.theme+xml"/>
  <Override PartName="/ppt/theme/theme4.xml" ContentType="application/vnd.openxmlformats-officedocument.theme+xml"/>
  <Override PartName="/ppt/slideLayouts/slideLayout154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49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Layouts/slideLayout84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Masters/slideMaster8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165.xml" ContentType="application/vnd.openxmlformats-officedocument.presentationml.slideLayout+xml"/>
  <Default Extension="xml" ContentType="application/xml"/>
  <Override PartName="/ppt/slideLayouts/slideLayout29.xml" ContentType="application/vnd.openxmlformats-officedocument.presentationml.slideLayout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2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Masters/slideMaster14.xml" ContentType="application/vnd.openxmlformats-officedocument.presentationml.slideMaster+xml"/>
  <Override PartName="/ppt/slides/slide25.xml" ContentType="application/vnd.openxmlformats-officedocument.presentationml.slide+xml"/>
  <Override PartName="/ppt/slideLayouts/slideLayout102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8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13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presentation.xml" ContentType="application/vnd.openxmlformats-officedocument.presentationml.presentation.main+xml"/>
  <Default Extension="jpeg" ContentType="image/jpeg"/>
  <Override PartName="/ppt/slideLayouts/slideLayout73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8.xml" ContentType="application/vnd.openxmlformats-officedocument.presentationml.notesSlide+xml"/>
  <Override PartName="/ppt/slideLayouts/slideLayout78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42.xml" ContentType="application/vnd.openxmlformats-officedocument.presentationml.slideLayout+xml"/>
  <Default Extension="rels" ContentType="application/vnd.openxmlformats-package.relationships+xml"/>
  <Override PartName="/ppt/slideLayouts/slideLayout15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112.xml" ContentType="application/vnd.openxmlformats-officedocument.presentationml.slideLayout+xml"/>
  <Override PartName="/ppt/theme/theme12.xml" ContentType="application/vnd.openxmlformats-officedocument.theme+xml"/>
  <Override PartName="/ppt/slideLayouts/slideLayout120.xml" ContentType="application/vnd.openxmlformats-officedocument.presentationml.slideLayout+xml"/>
  <Override PartName="/ppt/slides/slide32.xml" ContentType="application/vnd.openxmlformats-officedocument.presentationml.slide+xml"/>
  <Override PartName="/ppt/slides/slide16.xml" ContentType="application/vnd.openxmlformats-officedocument.presentationml.slide+xml"/>
  <Override PartName="/ppt/slides/slide29.xml" ContentType="application/vnd.openxmlformats-officedocument.presentationml.slide+xml"/>
  <Override PartName="/ppt/slideLayouts/slideLayout92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162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s/slide30.xml" ContentType="application/vnd.openxmlformats-officedocument.presentationml.slide+xml"/>
  <Override PartName="/ppt/slideLayouts/slideLayout127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6.xml" ContentType="application/vnd.openxmlformats-officedocument.theme+xml"/>
  <Override PartName="/ppt/theme/theme16.xml" ContentType="application/vnd.openxmlformats-officedocument.theme+xml"/>
  <Override PartName="/ppt/slides/slide18.xml" ContentType="application/vnd.openxmlformats-officedocument.presentationml.slide+xml"/>
  <Override PartName="/ppt/theme/theme3.xml" ContentType="application/vnd.openxmlformats-officedocument.theme+xml"/>
  <Override PartName="/ppt/slideLayouts/slideLayout17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4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1.xml" ContentType="application/vnd.openxmlformats-officedocument.theme+xml"/>
  <Override PartName="/ppt/slideLayouts/slideLayout111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7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81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77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s/slide13.xml" ContentType="application/vnd.openxmlformats-officedocument.presentationml.slide+xml"/>
  <Override PartName="/ppt/notesSlides/notesSlide6.xml" ContentType="application/vnd.openxmlformats-officedocument.presentationml.notesSlide+xml"/>
  <Override PartName="/ppt/slideLayouts/slideLayout98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5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69.xml" ContentType="application/vnd.openxmlformats-officedocument.presentationml.slideLayout+xml"/>
  <Override PartName="/ppt/theme/theme10.xml" ContentType="application/vnd.openxmlformats-officedocument.theme+xml"/>
  <Override PartName="/ppt/presProps.xml" ContentType="application/vnd.openxmlformats-officedocument.presentationml.presProps+xml"/>
  <Override PartName="/ppt/theme/theme5.xml" ContentType="application/vnd.openxmlformats-officedocument.theme+xml"/>
  <Override PartName="/ppt/slideLayouts/slideLayout103.xml" ContentType="application/vnd.openxmlformats-officedocument.presentationml.slideLayout+xml"/>
  <Override PartName="/ppt/theme/theme14.xml" ContentType="application/vnd.openxmlformats-officedocument.theme+xml"/>
  <Override PartName="/ppt/slideLayouts/slideLayout142.xml" ContentType="application/vnd.openxmlformats-officedocument.presentationml.slideLayout+xml"/>
  <Override PartName="/ppt/slides/slide27.xml" ContentType="application/vnd.openxmlformats-officedocument.presentationml.slide+xml"/>
  <Override PartName="/ppt/slideLayouts/slideLayout15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182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61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Masters/slideMaster10.xml" ContentType="application/vnd.openxmlformats-officedocument.presentationml.slideMaster+xml"/>
  <Override PartName="/ppt/slideLayouts/slideLayout101.xml" ContentType="application/vnd.openxmlformats-officedocument.presentationml.slideLayout+xml"/>
  <Override PartName="/ppt/theme/theme15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Layouts/slideLayout124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Masters/slideMaster15.xml" ContentType="application/vnd.openxmlformats-officedocument.presentationml.slideMaster+xml"/>
  <Override PartName="/ppt/notesSlides/notesSlide7.xml" ContentType="application/vnd.openxmlformats-officedocument.presentationml.notesSlide+xml"/>
  <Override PartName="/ppt/slideLayouts/slideLayout130.xml" ContentType="application/vnd.openxmlformats-officedocument.presentationml.slideLayout+xml"/>
  <Override PartName="/ppt/theme/theme17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8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28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151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4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31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s/slide24.xml" ContentType="application/vnd.openxmlformats-officedocument.presentationml.slide+xml"/>
  <Override PartName="/ppt/theme/theme7.xml" ContentType="application/vnd.openxmlformats-officedocument.theme+xml"/>
  <Override PartName="/ppt/slides/slide6.xml" ContentType="application/vnd.openxmlformats-officedocument.presentationml.slide+xml"/>
  <Default Extension="pdf" ContentType="application/pdf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SpecialPlsOnTitleSld="0" strictFirstAndLastChars="0" saveSubsetFonts="1" autoCompressPictures="0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  <p:sldMasterId id="2147483662" r:id="rId15"/>
    <p:sldMasterId id="2147483663" r:id="rId16"/>
    <p:sldMasterId id="2147483664" r:id="rId17"/>
  </p:sldMasterIdLst>
  <p:notesMasterIdLst>
    <p:notesMasterId r:id="rId51"/>
  </p:notesMasterIdLst>
  <p:handoutMasterIdLst>
    <p:handoutMasterId r:id="rId52"/>
  </p:handoutMasterIdLst>
  <p:sldIdLst>
    <p:sldId id="256" r:id="rId18"/>
    <p:sldId id="335" r:id="rId19"/>
    <p:sldId id="324" r:id="rId20"/>
    <p:sldId id="258" r:id="rId21"/>
    <p:sldId id="265" r:id="rId22"/>
    <p:sldId id="332" r:id="rId23"/>
    <p:sldId id="344" r:id="rId24"/>
    <p:sldId id="293" r:id="rId25"/>
    <p:sldId id="297" r:id="rId26"/>
    <p:sldId id="283" r:id="rId27"/>
    <p:sldId id="325" r:id="rId28"/>
    <p:sldId id="272" r:id="rId29"/>
    <p:sldId id="271" r:id="rId30"/>
    <p:sldId id="320" r:id="rId31"/>
    <p:sldId id="308" r:id="rId32"/>
    <p:sldId id="273" r:id="rId33"/>
    <p:sldId id="317" r:id="rId34"/>
    <p:sldId id="303" r:id="rId35"/>
    <p:sldId id="277" r:id="rId36"/>
    <p:sldId id="363" r:id="rId37"/>
    <p:sldId id="364" r:id="rId38"/>
    <p:sldId id="365" r:id="rId39"/>
    <p:sldId id="274" r:id="rId40"/>
    <p:sldId id="282" r:id="rId41"/>
    <p:sldId id="259" r:id="rId42"/>
    <p:sldId id="368" r:id="rId43"/>
    <p:sldId id="328" r:id="rId44"/>
    <p:sldId id="322" r:id="rId45"/>
    <p:sldId id="266" r:id="rId46"/>
    <p:sldId id="362" r:id="rId47"/>
    <p:sldId id="367" r:id="rId48"/>
    <p:sldId id="307" r:id="rId49"/>
    <p:sldId id="369" r:id="rId50"/>
  </p:sldIdLst>
  <p:sldSz cx="10160000" cy="7620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rgbClr val="43412C"/>
        </a:solidFill>
        <a:latin typeface="Hoefler Text" charset="0"/>
        <a:ea typeface="ヒラギノ明朝 ProN W3" charset="0"/>
        <a:cs typeface="ヒラギノ明朝 ProN W3" charset="0"/>
        <a:sym typeface="Hoefler Text" charset="0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rgbClr val="43412C"/>
        </a:solidFill>
        <a:latin typeface="Hoefler Text" charset="0"/>
        <a:ea typeface="ヒラギノ明朝 ProN W3" charset="0"/>
        <a:cs typeface="ヒラギノ明朝 ProN W3" charset="0"/>
        <a:sym typeface="Hoefler Text" charset="0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rgbClr val="43412C"/>
        </a:solidFill>
        <a:latin typeface="Hoefler Text" charset="0"/>
        <a:ea typeface="ヒラギノ明朝 ProN W3" charset="0"/>
        <a:cs typeface="ヒラギノ明朝 ProN W3" charset="0"/>
        <a:sym typeface="Hoefler Text" charset="0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rgbClr val="43412C"/>
        </a:solidFill>
        <a:latin typeface="Hoefler Text" charset="0"/>
        <a:ea typeface="ヒラギノ明朝 ProN W3" charset="0"/>
        <a:cs typeface="ヒラギノ明朝 ProN W3" charset="0"/>
        <a:sym typeface="Hoefler Text" charset="0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rgbClr val="43412C"/>
        </a:solidFill>
        <a:latin typeface="Hoefler Text" charset="0"/>
        <a:ea typeface="ヒラギノ明朝 ProN W3" charset="0"/>
        <a:cs typeface="ヒラギノ明朝 ProN W3" charset="0"/>
        <a:sym typeface="Hoefler Text" charset="0"/>
      </a:defRPr>
    </a:lvl5pPr>
    <a:lvl6pPr marL="2286000" algn="l" defTabSz="457200" rtl="0" eaLnBrk="1" latinLnBrk="0" hangingPunct="1">
      <a:defRPr sz="2800" kern="1200">
        <a:solidFill>
          <a:srgbClr val="43412C"/>
        </a:solidFill>
        <a:latin typeface="Hoefler Text" charset="0"/>
        <a:ea typeface="ヒラギノ明朝 ProN W3" charset="0"/>
        <a:cs typeface="ヒラギノ明朝 ProN W3" charset="0"/>
        <a:sym typeface="Hoefler Text" charset="0"/>
      </a:defRPr>
    </a:lvl6pPr>
    <a:lvl7pPr marL="2743200" algn="l" defTabSz="457200" rtl="0" eaLnBrk="1" latinLnBrk="0" hangingPunct="1">
      <a:defRPr sz="2800" kern="1200">
        <a:solidFill>
          <a:srgbClr val="43412C"/>
        </a:solidFill>
        <a:latin typeface="Hoefler Text" charset="0"/>
        <a:ea typeface="ヒラギノ明朝 ProN W3" charset="0"/>
        <a:cs typeface="ヒラギノ明朝 ProN W3" charset="0"/>
        <a:sym typeface="Hoefler Text" charset="0"/>
      </a:defRPr>
    </a:lvl7pPr>
    <a:lvl8pPr marL="3200400" algn="l" defTabSz="457200" rtl="0" eaLnBrk="1" latinLnBrk="0" hangingPunct="1">
      <a:defRPr sz="2800" kern="1200">
        <a:solidFill>
          <a:srgbClr val="43412C"/>
        </a:solidFill>
        <a:latin typeface="Hoefler Text" charset="0"/>
        <a:ea typeface="ヒラギノ明朝 ProN W3" charset="0"/>
        <a:cs typeface="ヒラギノ明朝 ProN W3" charset="0"/>
        <a:sym typeface="Hoefler Text" charset="0"/>
      </a:defRPr>
    </a:lvl8pPr>
    <a:lvl9pPr marL="3657600" algn="l" defTabSz="457200" rtl="0" eaLnBrk="1" latinLnBrk="0" hangingPunct="1">
      <a:defRPr sz="2800" kern="1200">
        <a:solidFill>
          <a:srgbClr val="43412C"/>
        </a:solidFill>
        <a:latin typeface="Hoefler Text" charset="0"/>
        <a:ea typeface="ヒラギノ明朝 ProN W3" charset="0"/>
        <a:cs typeface="ヒラギノ明朝 ProN W3" charset="0"/>
        <a:sym typeface="Hoefler Tex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32787"/>
    <p:restoredTop sz="94512" autoAdjust="0"/>
  </p:normalViewPr>
  <p:slideViewPr>
    <p:cSldViewPr>
      <p:cViewPr varScale="1">
        <p:scale>
          <a:sx n="124" d="100"/>
          <a:sy n="124" d="100"/>
        </p:scale>
        <p:origin x="-264" y="-112"/>
      </p:cViewPr>
      <p:guideLst>
        <p:guide orient="horz" pos="2400"/>
        <p:guide pos="3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22.xml"/><Relationship Id="rId7" Type="http://schemas.openxmlformats.org/officeDocument/2006/relationships/slideMaster" Target="slideMasters/slideMaster7.xml"/><Relationship Id="rId43" Type="http://schemas.openxmlformats.org/officeDocument/2006/relationships/slide" Target="slides/slide26.xml"/><Relationship Id="rId25" Type="http://schemas.openxmlformats.org/officeDocument/2006/relationships/slide" Target="slides/slide8.xml"/><Relationship Id="rId10" Type="http://schemas.openxmlformats.org/officeDocument/2006/relationships/slideMaster" Target="slideMasters/slideMaster10.xml"/><Relationship Id="rId50" Type="http://schemas.openxmlformats.org/officeDocument/2006/relationships/slide" Target="slides/slide33.xml"/><Relationship Id="rId17" Type="http://schemas.openxmlformats.org/officeDocument/2006/relationships/slideMaster" Target="slideMasters/slideMaster17.xml"/><Relationship Id="rId9" Type="http://schemas.openxmlformats.org/officeDocument/2006/relationships/slideMaster" Target="slideMasters/slideMaster9.xml"/><Relationship Id="rId18" Type="http://schemas.openxmlformats.org/officeDocument/2006/relationships/slide" Target="slides/slide1.xml"/><Relationship Id="rId27" Type="http://schemas.openxmlformats.org/officeDocument/2006/relationships/slide" Target="slides/slide10.xml"/><Relationship Id="rId14" Type="http://schemas.openxmlformats.org/officeDocument/2006/relationships/slideMaster" Target="slideMasters/slideMaster14.xml"/><Relationship Id="rId4" Type="http://schemas.openxmlformats.org/officeDocument/2006/relationships/slideMaster" Target="slideMasters/slideMaster4.xml"/><Relationship Id="rId28" Type="http://schemas.openxmlformats.org/officeDocument/2006/relationships/slide" Target="slides/slide11.xml"/><Relationship Id="rId45" Type="http://schemas.openxmlformats.org/officeDocument/2006/relationships/slide" Target="slides/slide28.xml"/><Relationship Id="rId42" Type="http://schemas.openxmlformats.org/officeDocument/2006/relationships/slide" Target="slides/slide25.xml"/><Relationship Id="rId6" Type="http://schemas.openxmlformats.org/officeDocument/2006/relationships/slideMaster" Target="slideMasters/slideMaster6.xml"/><Relationship Id="rId49" Type="http://schemas.openxmlformats.org/officeDocument/2006/relationships/slide" Target="slides/slide32.xml"/><Relationship Id="rId44" Type="http://schemas.openxmlformats.org/officeDocument/2006/relationships/slide" Target="slides/slide27.xml"/><Relationship Id="rId19" Type="http://schemas.openxmlformats.org/officeDocument/2006/relationships/slide" Target="slides/slide2.xml"/><Relationship Id="rId38" Type="http://schemas.openxmlformats.org/officeDocument/2006/relationships/slide" Target="slides/slide21.xml"/><Relationship Id="rId20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46" Type="http://schemas.openxmlformats.org/officeDocument/2006/relationships/slide" Target="slides/slide29.xml"/><Relationship Id="rId57" Type="http://schemas.openxmlformats.org/officeDocument/2006/relationships/tableStyles" Target="tableStyles.xml"/><Relationship Id="rId35" Type="http://schemas.openxmlformats.org/officeDocument/2006/relationships/slide" Target="slides/slide18.xml"/><Relationship Id="rId51" Type="http://schemas.openxmlformats.org/officeDocument/2006/relationships/notesMaster" Target="notesMasters/notesMaster1.xml"/><Relationship Id="rId55" Type="http://schemas.openxmlformats.org/officeDocument/2006/relationships/viewProps" Target="viewProps.xml"/><Relationship Id="rId31" Type="http://schemas.openxmlformats.org/officeDocument/2006/relationships/slide" Target="slides/slide14.xml"/><Relationship Id="rId34" Type="http://schemas.openxmlformats.org/officeDocument/2006/relationships/slide" Target="slides/slide17.xml"/><Relationship Id="rId40" Type="http://schemas.openxmlformats.org/officeDocument/2006/relationships/slide" Target="slides/slide23.xml"/><Relationship Id="rId36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7.xml"/><Relationship Id="rId47" Type="http://schemas.openxmlformats.org/officeDocument/2006/relationships/slide" Target="slides/slide30.xml"/><Relationship Id="rId56" Type="http://schemas.openxmlformats.org/officeDocument/2006/relationships/theme" Target="theme/theme1.xml"/><Relationship Id="rId48" Type="http://schemas.openxmlformats.org/officeDocument/2006/relationships/slide" Target="slides/slide31.xml"/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52" Type="http://schemas.openxmlformats.org/officeDocument/2006/relationships/handoutMaster" Target="handoutMasters/handoutMaster1.xml"/><Relationship Id="rId54" Type="http://schemas.openxmlformats.org/officeDocument/2006/relationships/presProps" Target="presProps.xml"/><Relationship Id="rId12" Type="http://schemas.openxmlformats.org/officeDocument/2006/relationships/slideMaster" Target="slideMasters/slideMaster12.xml"/><Relationship Id="rId3" Type="http://schemas.openxmlformats.org/officeDocument/2006/relationships/slideMaster" Target="slideMasters/slideMaster3.xml"/><Relationship Id="rId23" Type="http://schemas.openxmlformats.org/officeDocument/2006/relationships/slide" Target="slides/slide6.xml"/><Relationship Id="rId53" Type="http://schemas.openxmlformats.org/officeDocument/2006/relationships/printerSettings" Target="printerSettings/printerSettings1.bin"/><Relationship Id="rId26" Type="http://schemas.openxmlformats.org/officeDocument/2006/relationships/slide" Target="slides/slide9.xml"/><Relationship Id="rId30" Type="http://schemas.openxmlformats.org/officeDocument/2006/relationships/slide" Target="slides/slide13.xml"/><Relationship Id="rId11" Type="http://schemas.openxmlformats.org/officeDocument/2006/relationships/slideMaster" Target="slideMasters/slideMaster11.xml"/><Relationship Id="rId29" Type="http://schemas.openxmlformats.org/officeDocument/2006/relationships/slide" Target="slides/slide12.xml"/><Relationship Id="rId16" Type="http://schemas.openxmlformats.org/officeDocument/2006/relationships/slideMaster" Target="slideMasters/slideMaster16.xml"/><Relationship Id="rId33" Type="http://schemas.openxmlformats.org/officeDocument/2006/relationships/slide" Target="slides/slide16.xml"/><Relationship Id="rId41" Type="http://schemas.openxmlformats.org/officeDocument/2006/relationships/slide" Target="slides/slide24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2" Type="http://schemas.openxmlformats.org/officeDocument/2006/relationships/slide" Target="slides/slide5.xml"/><Relationship Id="rId21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8FC44-0FB3-7E45-9BA9-429288FBF95B}" type="datetimeFigureOut">
              <a:rPr lang="en-US" smtClean="0"/>
              <a:pPr/>
              <a:t>2/2/09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C6D6C-AB37-0A4F-B892-95CA0E9928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oefler Text" pitchFamily="-12" charset="0"/>
                <a:ea typeface="ヒラギノ明朝 ProN W3" charset="-128"/>
                <a:cs typeface="ヒラギノ明朝 ProN W3" charset="-128"/>
                <a:sym typeface="Hoefler Text" pitchFamily="-1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971" name="Rectangle 3"/>
          <p:cNvSpPr>
            <a:spLocks noGrp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oefler Text" pitchFamily="-12" charset="0"/>
                <a:ea typeface="ヒラギノ明朝 ProN W3" charset="-128"/>
                <a:cs typeface="ヒラギノ明朝 ProN W3" charset="-128"/>
                <a:sym typeface="Hoefler Text" pitchFamily="-1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24" name="Placeholder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3" name="Rectangle 5"/>
          <p:cNvSpPr>
            <a:spLocks noGrp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3974" name="Rectangle 6"/>
          <p:cNvSpPr>
            <a:spLocks noGrp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oefler Text" pitchFamily="-12" charset="0"/>
                <a:ea typeface="ヒラギノ明朝 ProN W3" charset="-128"/>
                <a:cs typeface="ヒラギノ明朝 ProN W3" charset="-128"/>
                <a:sym typeface="Hoefler Text" pitchFamily="-1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975" name="Rectangle 7"/>
          <p:cNvSpPr>
            <a:spLocks noGrp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oefler Text" pitchFamily="-12" charset="0"/>
                <a:ea typeface="ヒラギノ明朝 ProN W3" charset="-128"/>
                <a:cs typeface="ヒラギノ明朝 ProN W3" charset="-128"/>
                <a:sym typeface="Hoefler Text" pitchFamily="-12" charset="0"/>
              </a:defRPr>
            </a:lvl1pPr>
          </a:lstStyle>
          <a:p>
            <a:pPr>
              <a:defRPr/>
            </a:pPr>
            <a:fld id="{275BC014-9F52-4CCC-85B2-5401D78BAE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Hoefler Text" pitchFamily="-12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Hoefler Text" pitchFamily="-12" charset="0"/>
        <a:ea typeface="ＭＳ Ｐゴシック" pitchFamily="-12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Hoefler Text" pitchFamily="-12" charset="0"/>
        <a:ea typeface="ＭＳ Ｐゴシック" pitchFamily="-12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Hoefler Text" pitchFamily="-12" charset="0"/>
        <a:ea typeface="ＭＳ Ｐゴシック" pitchFamily="-12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Hoefler Text" pitchFamily="-12" charset="0"/>
        <a:ea typeface="ＭＳ Ｐゴシック" pitchFamily="-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89" name="Rectangle 7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B7C48D-8160-4302-8DBC-FACC83FFCC66}" type="slidenum">
              <a:rPr lang="en-US">
                <a:latin typeface="Hoefler Text" charset="0"/>
                <a:ea typeface="ヒラギノ明朝 ProN W3" charset="0"/>
                <a:cs typeface="ヒラギノ明朝 ProN W3" charset="0"/>
                <a:sym typeface="Hoefler Text" charset="0"/>
              </a:rPr>
              <a:pPr/>
              <a:t>6</a:t>
            </a:fld>
            <a:endParaRPr lang="en-US">
              <a:latin typeface="Hoefler Text" charset="0"/>
              <a:ea typeface="ヒラギノ明朝 ProN W3" charset="0"/>
              <a:cs typeface="ヒラギノ明朝 ProN W3" charset="0"/>
              <a:sym typeface="Hoefler Text" charset="0"/>
            </a:endParaRPr>
          </a:p>
        </p:txBody>
      </p:sp>
      <p:sp>
        <p:nvSpPr>
          <p:cNvPr id="217090" name="Placeholder 1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709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 w="9525"/>
        </p:spPr>
        <p:txBody>
          <a:bodyPr/>
          <a:lstStyle/>
          <a:p>
            <a:pPr eaLnBrk="1" hangingPunct="1"/>
            <a:r>
              <a:rPr lang="en-US" sz="1600">
                <a:latin typeface="Lucida Grande CE" charset="-18"/>
                <a:ea typeface="Lucida Grande CE" charset="-18"/>
                <a:cs typeface="Lucida Grande CE" charset="-18"/>
                <a:sym typeface="Lucida Grande CE" charset="-18"/>
              </a:rPr>
              <a:t>will use this many times, so take a moment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7" name="Rectangle 7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7D8C03-BE6C-4E9A-8252-2828193B4FE1}" type="slidenum">
              <a:rPr lang="en-US">
                <a:latin typeface="Hoefler Text" charset="0"/>
                <a:ea typeface="ヒラギノ明朝 ProN W3" charset="0"/>
                <a:cs typeface="ヒラギノ明朝 ProN W3" charset="0"/>
                <a:sym typeface="Hoefler Text" charset="0"/>
              </a:rPr>
              <a:pPr/>
              <a:t>7</a:t>
            </a:fld>
            <a:endParaRPr lang="en-US">
              <a:latin typeface="Hoefler Text" charset="0"/>
              <a:ea typeface="ヒラギノ明朝 ProN W3" charset="0"/>
              <a:cs typeface="ヒラギノ明朝 ProN W3" charset="0"/>
              <a:sym typeface="Hoefler Text" charset="0"/>
            </a:endParaRPr>
          </a:p>
        </p:txBody>
      </p:sp>
      <p:sp>
        <p:nvSpPr>
          <p:cNvPr id="219138" name="Placeholder 1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91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 w="9525"/>
        </p:spPr>
        <p:txBody>
          <a:bodyPr/>
          <a:lstStyle/>
          <a:p>
            <a:pPr eaLnBrk="1" hangingPunct="1"/>
            <a:r>
              <a:rPr lang="en-US" sz="1600">
                <a:latin typeface="Lucida Grande CE" charset="-18"/>
                <a:ea typeface="Lucida Grande CE" charset="-18"/>
                <a:cs typeface="Lucida Grande CE" charset="-18"/>
                <a:sym typeface="Lucida Grande CE" charset="-18"/>
              </a:rPr>
              <a:t>let’s look at some specific models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09" name="Rectangle 7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860B4B-91A3-426D-8D70-B25E16E46F7C}" type="slidenum">
              <a:rPr lang="en-US">
                <a:latin typeface="Hoefler Text" charset="0"/>
                <a:ea typeface="ヒラギノ明朝 ProN W3" charset="0"/>
                <a:cs typeface="ヒラギノ明朝 ProN W3" charset="0"/>
                <a:sym typeface="Hoefler Text" charset="0"/>
              </a:rPr>
              <a:pPr/>
              <a:t>8</a:t>
            </a:fld>
            <a:endParaRPr lang="en-US">
              <a:latin typeface="Hoefler Text" charset="0"/>
              <a:ea typeface="ヒラギノ明朝 ProN W3" charset="0"/>
              <a:cs typeface="ヒラギノ明朝 ProN W3" charset="0"/>
              <a:sym typeface="Hoefler Text" charset="0"/>
            </a:endParaRPr>
          </a:p>
        </p:txBody>
      </p:sp>
      <p:sp>
        <p:nvSpPr>
          <p:cNvPr id="222210" name="Placeholder 1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221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 w="9525"/>
        </p:spPr>
        <p:txBody>
          <a:bodyPr/>
          <a:lstStyle/>
          <a:p>
            <a:pPr eaLnBrk="1" hangingPunct="1"/>
            <a:r>
              <a:rPr lang="en-US" sz="1600">
                <a:latin typeface="Lucida Grande CE" charset="-18"/>
                <a:ea typeface="Lucida Grande CE" charset="-18"/>
                <a:cs typeface="Lucida Grande CE" charset="-18"/>
                <a:sym typeface="Lucida Grande CE" charset="-18"/>
              </a:rPr>
              <a:t>note both loop processes and new particle exchange, will come back to this next slide.  note article or excellent discussion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7" name="Rectangle 7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B552CC-7AAE-44A5-85F2-0F05D070A62B}" type="slidenum">
              <a:rPr lang="en-US">
                <a:latin typeface="Hoefler Text" charset="0"/>
                <a:ea typeface="ヒラギノ明朝 ProN W3" charset="0"/>
                <a:cs typeface="ヒラギノ明朝 ProN W3" charset="0"/>
                <a:sym typeface="Hoefler Text" charset="0"/>
              </a:rPr>
              <a:pPr/>
              <a:t>9</a:t>
            </a:fld>
            <a:endParaRPr lang="en-US">
              <a:latin typeface="Hoefler Text" charset="0"/>
              <a:ea typeface="ヒラギノ明朝 ProN W3" charset="0"/>
              <a:cs typeface="ヒラギノ明朝 ProN W3" charset="0"/>
              <a:sym typeface="Hoefler Text" charset="0"/>
            </a:endParaRPr>
          </a:p>
        </p:txBody>
      </p:sp>
      <p:sp>
        <p:nvSpPr>
          <p:cNvPr id="224258" name="Placeholder 1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42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 w="9525"/>
        </p:spPr>
        <p:txBody>
          <a:bodyPr/>
          <a:lstStyle/>
          <a:p>
            <a:pPr eaLnBrk="1" hangingPunct="1"/>
            <a:r>
              <a:rPr lang="en-US" sz="1600">
                <a:latin typeface="Lucida Grande CE" charset="-18"/>
                <a:ea typeface="Lucida Grande CE" charset="-18"/>
                <a:cs typeface="Lucida Grande CE" charset="-18"/>
                <a:sym typeface="Lucida Grande CE" charset="-18"/>
              </a:rPr>
              <a:t>We write down an effective lagrangian that breaks up the physics cleanly,</a:t>
            </a:r>
          </a:p>
          <a:p>
            <a:pPr eaLnBrk="1" hangingPunct="1"/>
            <a:endParaRPr lang="en-US" sz="1600">
              <a:latin typeface="Lucida Grande CE" charset="-18"/>
              <a:ea typeface="Lucida Grande CE" charset="-18"/>
              <a:cs typeface="Lucida Grande CE" charset="-18"/>
              <a:sym typeface="Lucida Grande CE" charset="-18"/>
            </a:endParaRPr>
          </a:p>
          <a:p>
            <a:pPr eaLnBrk="1" hangingPunct="1"/>
            <a:r>
              <a:rPr lang="en-US" sz="1600">
                <a:latin typeface="Lucida Grande CE" charset="-18"/>
                <a:ea typeface="Lucida Grande CE" charset="-18"/>
                <a:cs typeface="Lucida Grande CE" charset="-18"/>
                <a:sym typeface="Lucida Grande CE" charset="-18"/>
              </a:rPr>
              <a:t>quantitative comparison:  how can we use both experiments?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5" name="Rectangle 7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4E19E9-FAE2-4C4B-B31C-5FFD5329A7BB}" type="slidenum">
              <a:rPr lang="en-US">
                <a:latin typeface="Hoefler Text" charset="0"/>
                <a:ea typeface="ヒラギノ明朝 ProN W3" charset="0"/>
                <a:cs typeface="ヒラギノ明朝 ProN W3" charset="0"/>
                <a:sym typeface="Hoefler Text" charset="0"/>
              </a:rPr>
              <a:pPr/>
              <a:t>10</a:t>
            </a:fld>
            <a:endParaRPr lang="en-US">
              <a:latin typeface="Hoefler Text" charset="0"/>
              <a:ea typeface="ヒラギノ明朝 ProN W3" charset="0"/>
              <a:cs typeface="ヒラギノ明朝 ProN W3" charset="0"/>
              <a:sym typeface="Hoefler Text" charset="0"/>
            </a:endParaRPr>
          </a:p>
        </p:txBody>
      </p:sp>
      <p:sp>
        <p:nvSpPr>
          <p:cNvPr id="226306" name="Placeholder 1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63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 w="9525"/>
        </p:spPr>
        <p:txBody>
          <a:bodyPr/>
          <a:lstStyle/>
          <a:p>
            <a:pPr eaLnBrk="1" hangingPunct="1"/>
            <a:r>
              <a:rPr lang="en-US" sz="1600">
                <a:latin typeface="Lucida Grande CE" charset="-18"/>
                <a:ea typeface="Lucida Grande CE" charset="-18"/>
                <a:cs typeface="Lucida Grande CE" charset="-18"/>
                <a:sym typeface="Lucida Grande CE" charset="-18"/>
              </a:rPr>
              <a:t>generally acknowledge for experimental reasons mu e gamma will not get much better -- this improvement is only a factor of 5 --point to MEG/MEGA, but mu-e conversion can improve by 10,000 --SINDRUM to Mu2e.  Independent of model!  If supersymmetry, great -- but if not, can reach to 10^4 TeV for new physics.  This is a unique contribution made by mu-e conversion.  You know about COMET/PRISM proposed here in Japan: different design, similar sensitivities. 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1" name="Rectangle 7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630E17-0CFD-4781-A31D-52A1E7EC03D3}" type="slidenum">
              <a:rPr lang="en-US">
                <a:latin typeface="Hoefler Text" charset="0"/>
                <a:ea typeface="ヒラギノ明朝 ProN W3" charset="0"/>
                <a:cs typeface="ヒラギノ明朝 ProN W3" charset="0"/>
                <a:sym typeface="Hoefler Text" charset="0"/>
              </a:rPr>
              <a:pPr/>
              <a:t>16</a:t>
            </a:fld>
            <a:endParaRPr lang="en-US">
              <a:latin typeface="Hoefler Text" charset="0"/>
              <a:ea typeface="ヒラギノ明朝 ProN W3" charset="0"/>
              <a:cs typeface="ヒラギノ明朝 ProN W3" charset="0"/>
              <a:sym typeface="Hoefler Text" charset="0"/>
            </a:endParaRPr>
          </a:p>
        </p:txBody>
      </p:sp>
      <p:sp>
        <p:nvSpPr>
          <p:cNvPr id="240642" name="Placeholder 1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06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 w="9525"/>
        </p:spPr>
        <p:txBody>
          <a:bodyPr/>
          <a:lstStyle/>
          <a:p>
            <a:pPr eaLnBrk="1" hangingPunct="1"/>
            <a:r>
              <a:rPr lang="en-US" sz="1600">
                <a:latin typeface="Lucida Grande CE" charset="-18"/>
                <a:ea typeface="Lucida Grande CE" charset="-18"/>
                <a:cs typeface="Lucida Grande CE" charset="-18"/>
                <a:sym typeface="Lucida Grande CE" charset="-18"/>
              </a:rPr>
              <a:t>so background goes down center and signal spirals out to tracker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5" name="Rectangle 7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725AB5-3863-4922-A8AD-810906EFCF7D}" type="slidenum">
              <a:rPr lang="en-US">
                <a:latin typeface="Hoefler Text" charset="0"/>
                <a:ea typeface="ヒラギノ明朝 ProN W3" charset="0"/>
                <a:cs typeface="ヒラギノ明朝 ProN W3" charset="0"/>
                <a:sym typeface="Hoefler Text" charset="0"/>
              </a:rPr>
              <a:pPr/>
              <a:t>19</a:t>
            </a:fld>
            <a:endParaRPr lang="en-US">
              <a:latin typeface="Hoefler Text" charset="0"/>
              <a:ea typeface="ヒラギノ明朝 ProN W3" charset="0"/>
              <a:cs typeface="ヒラギノ明朝 ProN W3" charset="0"/>
              <a:sym typeface="Hoefler Text" charset="0"/>
            </a:endParaRPr>
          </a:p>
        </p:txBody>
      </p:sp>
      <p:sp>
        <p:nvSpPr>
          <p:cNvPr id="231426" name="Placeholder 1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142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 w="9525"/>
        </p:spPr>
        <p:txBody>
          <a:bodyPr/>
          <a:lstStyle/>
          <a:p>
            <a:pPr eaLnBrk="1" hangingPunct="1"/>
            <a:r>
              <a:rPr lang="en-US" sz="1600">
                <a:latin typeface="Lucida Grande CE" charset="-18"/>
                <a:ea typeface="Lucida Grande CE" charset="-18"/>
                <a:cs typeface="Lucida Grande CE" charset="-18"/>
                <a:sym typeface="Lucida Grande CE" charset="-18"/>
              </a:rPr>
              <a:t>76 MeV from relativistic kinematics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49" name="Rectangle 7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41A36A-1A03-4E09-A8DE-C7DA4BA5DFA9}" type="slidenum">
              <a:rPr lang="en-US">
                <a:latin typeface="Hoefler Text" charset="0"/>
                <a:ea typeface="ヒラギノ明朝 ProN W3" charset="0"/>
                <a:cs typeface="ヒラギノ明朝 ProN W3" charset="0"/>
                <a:sym typeface="Hoefler Text" charset="0"/>
              </a:rPr>
              <a:pPr/>
              <a:t>28</a:t>
            </a:fld>
            <a:endParaRPr lang="en-US">
              <a:latin typeface="Hoefler Text" charset="0"/>
              <a:ea typeface="ヒラギノ明朝 ProN W3" charset="0"/>
              <a:cs typeface="ヒラギノ明朝 ProN W3" charset="0"/>
              <a:sym typeface="Hoefler Text" charset="0"/>
            </a:endParaRPr>
          </a:p>
        </p:txBody>
      </p:sp>
      <p:sp>
        <p:nvSpPr>
          <p:cNvPr id="258050" name="Placeholder 1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80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 w="9525"/>
        </p:spPr>
        <p:txBody>
          <a:bodyPr/>
          <a:lstStyle/>
          <a:p>
            <a:pPr eaLnBrk="1" hangingPunct="1"/>
            <a:r>
              <a:rPr lang="en-US" sz="1600">
                <a:latin typeface="Lucida Grande CE" charset="-18"/>
                <a:ea typeface="Lucida Grande CE" charset="-18"/>
                <a:cs typeface="Lucida Grande CE" charset="-18"/>
                <a:sym typeface="Lucida Grande CE" charset="-18"/>
              </a:rPr>
              <a:t>in principle, we could run at project x without significant upgrades -- run longer, and can take instantaneous rates x4 higher.  So that would get about an order of magnitude right away.  Getting additional x10 is hard and requires redesign. 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CC79F8-A2A1-491D-A5FE-2DD63BC817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3A99AE-62DA-4A7D-ADAA-AFB5F06244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00D219-1DF0-4DE1-A00B-A304A088B5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4051300"/>
            <a:ext cx="4013200" cy="127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4051300"/>
            <a:ext cx="4013200" cy="127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B11161-ADF8-468A-AD8F-68D205D7E7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4249B-AA74-4149-A696-52FF1A6BC2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8E8136-8548-453D-87CC-91072C6797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C4A89-A676-4686-8ADE-00D338DDCF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8F8309-AC6A-4BD1-B4C5-EE19862D09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Arial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19D121-E6EA-4860-969A-38FBA07674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1DD962-EC0F-4421-82B4-47F53387B5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24700" y="1790700"/>
            <a:ext cx="2044700" cy="353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1790700"/>
            <a:ext cx="5981700" cy="3530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4227A-B32F-46C5-BD02-2B7F3CE645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A82DA-14EC-4690-908F-372E35DB48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778000"/>
            <a:ext cx="9144000" cy="5029200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EF6DB-CC4C-4D31-A508-A737242D42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5B998-B6EF-4C88-AC29-D88BD4BBEB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778000"/>
            <a:ext cx="4495800" cy="5029200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1778000"/>
            <a:ext cx="4495800" cy="5029200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F332BE-8A7F-4124-AC96-2696B9C98C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A9FA8-5CA6-44BD-A9EF-6830A17B57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5FDB24-3E91-4685-91EB-CDC49FA019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BCC60-DED9-495F-8D78-FEB677CA26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380187-4306-4134-858D-68DD55E5FE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oefler Text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5B09C6-A3EF-4211-89CD-AF9A678EDC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778000"/>
            <a:ext cx="9144000" cy="5029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6620B2-72BD-4793-B488-4AF6B746B4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6000" y="-355600"/>
            <a:ext cx="2286000" cy="7162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-355600"/>
            <a:ext cx="6705600" cy="7162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B42BA-D4B7-4CB8-95B6-F4E8C8AB9C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E79D0C-21D5-4DF3-894F-7FAB6ADA93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CA1ED1-5DAE-43E9-A967-57B0C3DAFD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104638-B476-47A9-91F0-963CCBCBE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943100"/>
            <a:ext cx="40132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1943100"/>
            <a:ext cx="40132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8C30E-7EC2-43B9-A34A-88FDCC1DC4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1568E-744D-4C78-B7D5-D225592699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90C96-0AB3-492D-A4F7-1B457252D7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E9F96-D99D-4119-A2DA-8112B99F7E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31B1D1-49D0-40FD-A819-A25AA89928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Arial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E83B8-23A9-4F45-B5BD-26A532011E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B7018-EDC0-4A2D-9884-F2DFBBDC21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24700" y="-330200"/>
            <a:ext cx="2044700" cy="7239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-330200"/>
            <a:ext cx="5981700" cy="7239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6977E9-9534-420B-8C10-766E71AC88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EEE669-B71E-485D-B274-59BFCBF02A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105A5B-90F5-43C4-8534-0CB1DE0FDA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617971-9FD3-4B48-B59E-022D448427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943100"/>
            <a:ext cx="40132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1943100"/>
            <a:ext cx="40132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2B771-38E0-49C9-B397-4C002BE7FF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47E597-F72D-47AE-A4E8-915F8000BE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36665-888F-4252-825A-E41086A1B2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1B0E07-EE2F-4DEE-BACE-01ADA15BCD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491CE5-7B40-4D6F-97C6-C05A70860D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Arial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1945A6-D5EE-42A9-8BD0-3523B9A672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8625BD-415B-4245-A0EB-836A3A244C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24700" y="-330200"/>
            <a:ext cx="2044700" cy="7239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-330200"/>
            <a:ext cx="5981700" cy="7239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212C1-52FB-4F31-B409-C9C5578D77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D5692B-8006-4E53-BF64-E32B7BEBF1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209194-A006-4C9B-B17B-4A1ACCA76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521D9-FF4C-41A2-851F-E39FA04C9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943100"/>
            <a:ext cx="18415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84500" y="1943100"/>
            <a:ext cx="18415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1EE78-146F-4B9F-A8F5-2A8390C2D3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E29F75-CD41-4BDC-9D98-686CF1D8B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C7D115-9923-4D43-A6F5-972F1B1DDE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4BFF1-71F6-4AD6-BFBD-F572D793F5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CAFEA-1F51-4360-8B06-78E74C6A68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Times New Roman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89E990-21A7-4708-A888-0314608C50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40906-B1B4-4D2B-B46C-C9EE2DBB11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15275" y="-444500"/>
            <a:ext cx="2308225" cy="7353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-444500"/>
            <a:ext cx="6772275" cy="7353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55487-8CCE-4EC1-83AF-78527D09A0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E578A0-BD3A-41DA-AC1B-9F6FE73504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778000"/>
            <a:ext cx="9144000" cy="5029200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F0DF9-4C69-4CC6-A8C5-238C32FF50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C80B1-1356-410C-A8F3-FA5485020B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778000"/>
            <a:ext cx="4495800" cy="5029200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1778000"/>
            <a:ext cx="4495800" cy="5029200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4D4069-3130-4729-94A5-507F1B126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4CF2BC-70BC-4EC0-B721-3FCF5167B5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A7BA0-50A0-4E39-8A38-7C78CBE449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92565B-5FF3-46B3-B966-B47A5B38E5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C5D6EB-F699-490E-8F19-1BF29C4C6A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oefler Text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271C-6FA7-4D5F-A106-A51C4833A3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778000"/>
            <a:ext cx="9144000" cy="5029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54A8EC-5CDC-44D3-87D0-26382CFC2B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6000" y="1778000"/>
            <a:ext cx="2286000" cy="5029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778000"/>
            <a:ext cx="6705600" cy="5029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36EB4-F68A-417B-995E-6078D93688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CA7DE9-9CDC-4A22-8B9A-5E65CAC476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778000"/>
            <a:ext cx="9144000" cy="5029200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272345-C201-4FE8-95E7-8A1BD17E3B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2E8F3D-54A1-4C19-814A-6F04DF4699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778000"/>
            <a:ext cx="4495800" cy="5029200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1778000"/>
            <a:ext cx="4495800" cy="5029200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EC81F-8572-41F2-8243-E906D9558D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BE90E0-FE51-442D-B80A-63588E8AFA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608E0-DC28-440B-BECF-A0E78533DE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0DBA6-CCCC-4A01-9140-3F064A5CF4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BEADD-4F0A-4D5A-82CA-CE267F5E85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oefler Text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4905F5-35D2-4C96-9E4E-525514957F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778000"/>
            <a:ext cx="9144000" cy="5029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C628D7-53D1-4D4D-B15C-3C6108D35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6000" y="1778000"/>
            <a:ext cx="2286000" cy="5448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778000"/>
            <a:ext cx="6705600" cy="54483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E0F6B-7BDE-4B43-A47A-B48F5A432C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9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EBE4E-36BF-4623-B211-3D5F3B6C3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9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E6538-6049-42DE-9072-34618C41CC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9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F4DD6-929D-4C58-8EA9-44F27638EF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600" y="4051300"/>
            <a:ext cx="2222500" cy="238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7500" y="4051300"/>
            <a:ext cx="2222500" cy="238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9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5494F-5DBB-4022-BE2C-EC7709F43E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9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6D4A8C-CDBD-4411-B95E-F84E9C4343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9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DEBF8-BF8A-4980-AA54-81F7A0B471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E6C7D-2E71-48B1-93A0-3BA98326D7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9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507258-BC9F-4BC5-9E09-59810FBE82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oefler Text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9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61B5BF-A3B4-4FCA-ABFE-B8A4AE4B05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9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931F77-EB11-4E6A-9786-C0348B27BC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30650" y="1270000"/>
            <a:ext cx="1149350" cy="5168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600" y="1270000"/>
            <a:ext cx="3295650" cy="5168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9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C187CA-BE5F-4E1F-A2A3-7E87292AA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FD6AE-7AC4-4D92-8BE2-40BF744CC4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05A4DE-0D33-4E7D-A13F-5F89A2A820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5C54C-FA9B-412E-BEA1-20B3FEEBE1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943100"/>
            <a:ext cx="18415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84500" y="1943100"/>
            <a:ext cx="18415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409EC7-797B-43F1-B48F-8FC25929C4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3A846-F83F-44A1-A01A-B80A986AE1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DC761-9AB8-45D8-923F-C90452599A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ED422-2C76-44BA-906D-31D5D2D5A6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5BA04-086C-42E0-9D73-14A31C5743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Times New Roman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C90775-917F-4556-A53A-50BAEE1960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FED23-1C8E-4D28-B79B-5194B388D9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24700" y="-330200"/>
            <a:ext cx="2044700" cy="7239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-330200"/>
            <a:ext cx="5981700" cy="7239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8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FE49F-157B-4490-A24B-C0A2F79C04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9999CE-A21D-40CF-ABCC-C598FE7054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B77C81-E708-4E5D-B435-585F2F61C5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31C48B-6CB6-4076-BD54-049BCBA8BE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711200"/>
            <a:ext cx="4013200" cy="619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711200"/>
            <a:ext cx="4013200" cy="619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06302-76D0-4EE1-81B8-A9B10653D6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215E5-8678-4E65-9AB7-B32E2F8B9D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52E072-5C10-4C41-AEB7-76872CAD30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CB59C-BD57-4D99-9A83-74B58E50A0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B78FEF-C7D4-4508-B767-B3099B11CF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Times New Roman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A4776-A521-41C5-B309-B1BD4D59D3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9FCA4B-5135-4525-AF67-8C7AA509AE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6000" y="304800"/>
            <a:ext cx="2286000" cy="66040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304800"/>
            <a:ext cx="6705600" cy="6604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56B7BC-0819-4494-A1F8-CFE8A692C3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65984-CC89-4870-A39C-103EA5852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52725-B1C1-4213-A2D0-C5DA46564D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81E1A-8EBF-4BE9-91C0-D0C370A7B1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30900" y="1943100"/>
            <a:ext cx="154305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6350" y="1943100"/>
            <a:ext cx="154305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D51B9D-1564-48C3-8BA8-391498A08C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F75958-DD13-4FBC-AB0F-9915756205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40077E-9338-4B86-93A8-AB2B9B26C6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DF256-1B1E-4435-964B-B2AFFFAA38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0386F-304D-41DF-B05D-CB34EBD1AF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Times New Roman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294B9-A552-4EDE-9ABF-5BC96AE725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6D822-F0CB-4A82-A0BC-BBCEB9EA1F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24700" y="-330200"/>
            <a:ext cx="2044700" cy="7239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-330200"/>
            <a:ext cx="5981700" cy="7239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7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027CC7-F56D-4EDF-96AC-11CB9C712D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28256A-1F74-4D0A-A094-4F5A2B2484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CCA15-D8E4-43C3-84E2-56C08A6D0A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2A227F-D619-44D9-A792-AD787CFC1A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943100"/>
            <a:ext cx="40132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1943100"/>
            <a:ext cx="40132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11435-1191-406C-9D3D-9377CA1B3C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3862B-E588-4B23-8C4B-6236096D80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E09B9C-C047-4498-9B8F-D40B0C7236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C85E8-21ED-4AA7-81BB-E0B69FEE31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92E8B7-AAB0-4754-A8FC-70998AB108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Arial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CBFF8A-9AD7-409F-A051-28A6068A12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000D77-A427-45BD-B13E-C51B057E0D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24700" y="-330200"/>
            <a:ext cx="2044700" cy="7239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-330200"/>
            <a:ext cx="5981700" cy="7239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ECB97-38EA-4EAB-8816-92F620B794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58766-1643-452E-9D6B-E9263A27D6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C7600-60EE-4299-834E-E48EF9A0EA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9DB236-373C-4DC8-8573-0EEFFC4E12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943100"/>
            <a:ext cx="40132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1943100"/>
            <a:ext cx="40132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9DA7E1-CCD6-4B50-B6DD-3F8CFC160B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DB277-E853-4987-9023-5FA37C1D92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0D4C7-6C8F-44DD-ACB4-B116ACBC4F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ECCE7-A7ED-49FB-B710-B178D4F1D4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82A35-D8E9-4D5E-8C64-7536143B3D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Arial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EAE8B9-F4BD-46FD-A314-A694FDA651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6763E2-93F1-441F-BB25-294D2D0500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24700" y="-330200"/>
            <a:ext cx="2044700" cy="7239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-330200"/>
            <a:ext cx="5981700" cy="7239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FA41B-F384-499F-A8F6-9E7346D5B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65377-CA90-44E4-AC0B-2968B002F0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FCA9EC-8FA8-47C3-A65E-25842CFEAD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9A1A9C-71B5-4E4D-A27C-9C7A5052B7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943100"/>
            <a:ext cx="40132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1943100"/>
            <a:ext cx="40132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5D5C6-7CDF-42F4-8E91-AC733F748B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CE9CA8-B056-4102-8C57-9032F18F02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73A39-43A2-4052-B34A-1D17F593F9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5EE640-003E-45F6-9AC8-29654BDC89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F376BB-C780-49E7-B249-3C0267F62F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Arial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50043-4C83-4441-9F83-AFF6654C04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89147D-D794-4D9F-86EB-93E8D015D1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24700" y="-330200"/>
            <a:ext cx="2044700" cy="7239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-330200"/>
            <a:ext cx="5981700" cy="7239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19123A-C691-4B24-9380-D6629696BB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4C35E-AB81-4F1F-AC0C-F48CC16C4F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778000"/>
            <a:ext cx="9144000" cy="5029200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9703A-2CEE-4758-9B5D-80966F82CF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672C1D-DD6B-4036-8B31-04FDC8D774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778000"/>
            <a:ext cx="4495800" cy="5029200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1778000"/>
            <a:ext cx="4495800" cy="5029200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235B0C-7EF5-440E-8E70-88BC2B5C63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D5EBD-2ECE-466F-B97A-D72FE35A76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EF4E57-46F9-4D90-819B-6113EA3B7C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6366-0BE4-492C-B7AE-05F214996A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A2827C-AA93-496C-8C82-2B37EC77A3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oefler Text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52EC56-A22E-4367-9904-3AB6A9AD51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778000"/>
            <a:ext cx="9144000" cy="5029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18DF3-D310-4CF9-A909-49766CEA4F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6000" y="-355600"/>
            <a:ext cx="2286000" cy="7162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-355600"/>
            <a:ext cx="6705600" cy="7162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C803DC-81B3-4154-BA48-E577B20AE9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5AD1E-612E-415E-81B2-E3869AEF9F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778000"/>
            <a:ext cx="9144000" cy="5029200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77780-F3E7-4F19-A997-ED08337B43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B89614-222E-42AF-8FC4-01D6031D62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778000"/>
            <a:ext cx="4495800" cy="5029200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1778000"/>
            <a:ext cx="4495800" cy="5029200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27FBD8-2D6B-4DCC-A935-1C7B8EE32B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6F6ED-0957-45E6-81BF-2757950AEC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C82BA-5A62-4C5F-B287-BF604A6BCD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5FB2F-77AF-4DF0-8F4B-B6C6AC8B30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C1B6B-8C2F-410B-B2B1-341BE3ED69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oefler Text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0495D8-AF8F-4384-8C00-DE826FAB6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778000"/>
            <a:ext cx="9144000" cy="5029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C29FA8-B1F7-4D17-9659-96CCC1EECB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6000" y="304800"/>
            <a:ext cx="2286000" cy="65024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304800"/>
            <a:ext cx="6705600" cy="6502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94E2B-F3A2-4381-BC7D-751976C2E5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1B4F72-B42B-41AA-A6BD-D2C84E3C9E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778000"/>
            <a:ext cx="9144000" cy="5029200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5E2924-3AAC-48A0-A181-E61C2DCCC2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F87C6-E916-4399-9FCF-C36C2967C1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778000"/>
            <a:ext cx="4495800" cy="5029200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1778000"/>
            <a:ext cx="4495800" cy="5029200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80AC5-9D30-47D0-8BD6-2EDE2761E7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069DC4-2F56-4378-9AE9-3BA6B5BA3A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84CF7-1917-40B3-AE60-EE3FE14492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27A9A3-ECEF-41A5-929B-206C1DCC4D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077B6C-A5C6-45A1-ABA7-4836FC9008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oefler Text" pitchFamily="-1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FB6880-4B0D-4849-A4B3-1952A5F64C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778000"/>
            <a:ext cx="9144000" cy="5029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BF998-8794-4C2A-8CD8-0750A22DA2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6000" y="-355600"/>
            <a:ext cx="2286000" cy="7162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-355600"/>
            <a:ext cx="6705600" cy="7162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6D7161-ACA2-4BFE-ACAE-B149CC4C96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9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9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0.xml"/></Relationships>
</file>

<file path=ppt/slideMasters/_rels/slideMaster6.xml.rels><?xml version="1.0" encoding="UTF-8" standalone="yes"?>
<Relationships xmlns="http://schemas.openxmlformats.org/package/2006/relationships"><Relationship Id="rId14" Type="http://schemas.openxmlformats.org/officeDocument/2006/relationships/image" Target="../media/image3.png"/><Relationship Id="rId4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2.png"/><Relationship Id="rId10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0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8.xml"/></Relationships>
</file>

<file path=ppt/slideMasters/_rels/slideMaster7.xml.rels><?xml version="1.0" encoding="UTF-8" standalone="yes"?>
<Relationships xmlns="http://schemas.openxmlformats.org/package/2006/relationships"><Relationship Id="rId14" Type="http://schemas.openxmlformats.org/officeDocument/2006/relationships/image" Target="../media/image2.png"/><Relationship Id="rId4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7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6" Type="http://schemas.openxmlformats.org/officeDocument/2006/relationships/image" Target="../media/image61.png"/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4.png"/><Relationship Id="rId10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5.pdf"/><Relationship Id="rId12" Type="http://schemas.openxmlformats.org/officeDocument/2006/relationships/theme" Target="../theme/theme7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9.xml"/></Relationships>
</file>

<file path=ppt/slideMasters/_rels/slideMaster8.xml.rels><?xml version="1.0" encoding="UTF-8" standalone="yes"?>
<Relationships xmlns="http://schemas.openxmlformats.org/package/2006/relationships"><Relationship Id="rId14" Type="http://schemas.openxmlformats.org/officeDocument/2006/relationships/image" Target="../media/image7.png"/><Relationship Id="rId4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6" Type="http://schemas.openxmlformats.org/officeDocument/2006/relationships/image" Target="../media/image5.pdf"/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6.png"/><Relationship Id="rId10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2.png"/><Relationship Id="rId12" Type="http://schemas.openxmlformats.org/officeDocument/2006/relationships/theme" Target="../theme/theme8.xml"/><Relationship Id="rId17" Type="http://schemas.openxmlformats.org/officeDocument/2006/relationships/image" Target="../media/image61.png"/><Relationship Id="rId2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0.xml"/><Relationship Id="rId18" Type="http://schemas.openxmlformats.org/officeDocument/2006/relationships/image" Target="../media/image3.png"/></Relationships>
</file>

<file path=ppt/slideMasters/_rels/slideMaster9.xml.rels><?xml version="1.0" encoding="UTF-8" standalone="yes"?>
<Relationships xmlns="http://schemas.openxmlformats.org/package/2006/relationships"><Relationship Id="rId14" Type="http://schemas.openxmlformats.org/officeDocument/2006/relationships/image" Target="../media/image2.png"/><Relationship Id="rId4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9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6" Type="http://schemas.openxmlformats.org/officeDocument/2006/relationships/image" Target="../media/image61.png"/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8.png"/><Relationship Id="rId10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3.xml"/><Relationship Id="rId15" Type="http://schemas.openxmlformats.org/officeDocument/2006/relationships/image" Target="../media/image5.pdf"/><Relationship Id="rId12" Type="http://schemas.openxmlformats.org/officeDocument/2006/relationships/theme" Target="../theme/theme9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1.xml"/></Relationships>
</file>

<file path=ppt/slideMasters/_rels/slideMaster10.xml.rels><?xml version="1.0" encoding="UTF-8" standalone="yes"?>
<Relationships xmlns="http://schemas.openxmlformats.org/package/2006/relationships"><Relationship Id="rId14" Type="http://schemas.openxmlformats.org/officeDocument/2006/relationships/image" Target="../media/image3.png"/><Relationship Id="rId4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2.png"/><Relationship Id="rId10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4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2.xml"/></Relationships>
</file>

<file path=ppt/slideMasters/_rels/slideMaster11.xml.rels><?xml version="1.0" encoding="UTF-8" standalone="yes"?>
<Relationships xmlns="http://schemas.openxmlformats.org/package/2006/relationships"><Relationship Id="rId14" Type="http://schemas.openxmlformats.org/officeDocument/2006/relationships/image" Target="../media/image2.png"/><Relationship Id="rId4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6" Type="http://schemas.openxmlformats.org/officeDocument/2006/relationships/image" Target="../media/image61.png"/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9.png"/><Relationship Id="rId10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5.xml"/><Relationship Id="rId15" Type="http://schemas.openxmlformats.org/officeDocument/2006/relationships/image" Target="../media/image5.pdf"/><Relationship Id="rId12" Type="http://schemas.openxmlformats.org/officeDocument/2006/relationships/theme" Target="../theme/theme1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13.xml"/></Relationships>
</file>

<file path=ppt/slideMasters/_rels/slideMaster12.xml.rels><?xml version="1.0" encoding="UTF-8" standalone="yes"?>
<Relationships xmlns="http://schemas.openxmlformats.org/package/2006/relationships"><Relationship Id="rId14" Type="http://schemas.openxmlformats.org/officeDocument/2006/relationships/image" Target="../media/image3.png"/><Relationship Id="rId4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2.png"/><Relationship Id="rId10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6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9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4.xml"/></Relationships>
</file>

<file path=ppt/slideMasters/_rels/slideMaster13.xml.rels><?xml version="1.0" encoding="UTF-8" standalone="yes"?>
<Relationships xmlns="http://schemas.openxmlformats.org/package/2006/relationships"><Relationship Id="rId14" Type="http://schemas.openxmlformats.org/officeDocument/2006/relationships/image" Target="../media/image3.png"/><Relationship Id="rId4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39.xml"/><Relationship Id="rId11" Type="http://schemas.openxmlformats.org/officeDocument/2006/relationships/slideLayout" Target="../slideLayouts/slideLayout143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2.png"/><Relationship Id="rId10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37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41.xml"/><Relationship Id="rId3" Type="http://schemas.openxmlformats.org/officeDocument/2006/relationships/slideLayout" Target="../slideLayouts/slideLayout135.xml"/></Relationships>
</file>

<file path=ppt/slideMasters/_rels/slideMaster14.xml.rels><?xml version="1.0" encoding="UTF-8" standalone="yes"?>
<Relationships xmlns="http://schemas.openxmlformats.org/package/2006/relationships"><Relationship Id="rId14" Type="http://schemas.openxmlformats.org/officeDocument/2006/relationships/image" Target="../media/image3.png"/><Relationship Id="rId4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2.png"/><Relationship Id="rId10" Type="http://schemas.openxmlformats.org/officeDocument/2006/relationships/slideLayout" Target="../slideLayouts/slideLayout153.xml"/><Relationship Id="rId5" Type="http://schemas.openxmlformats.org/officeDocument/2006/relationships/slideLayout" Target="../slideLayouts/slideLayout148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52.xml"/><Relationship Id="rId3" Type="http://schemas.openxmlformats.org/officeDocument/2006/relationships/slideLayout" Target="../slideLayouts/slideLayout146.xml"/></Relationships>
</file>

<file path=ppt/slideMasters/_rels/slideMaster15.xml.rels><?xml version="1.0" encoding="UTF-8" standalone="yes"?>
<Relationships xmlns="http://schemas.openxmlformats.org/package/2006/relationships"><Relationship Id="rId14" Type="http://schemas.openxmlformats.org/officeDocument/2006/relationships/image" Target="../media/image3.png"/><Relationship Id="rId4" Type="http://schemas.openxmlformats.org/officeDocument/2006/relationships/slideLayout" Target="../slideLayouts/slideLayout158.xml"/><Relationship Id="rId7" Type="http://schemas.openxmlformats.org/officeDocument/2006/relationships/slideLayout" Target="../slideLayouts/slideLayout161.xml"/><Relationship Id="rId11" Type="http://schemas.openxmlformats.org/officeDocument/2006/relationships/slideLayout" Target="../slideLayouts/slideLayout165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62.xml"/><Relationship Id="rId13" Type="http://schemas.openxmlformats.org/officeDocument/2006/relationships/image" Target="../media/image2.png"/><Relationship Id="rId10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59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9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157.xml"/></Relationships>
</file>

<file path=ppt/slideMasters/_rels/slideMaster16.xml.rels><?xml version="1.0" encoding="UTF-8" standalone="yes"?>
<Relationships xmlns="http://schemas.openxmlformats.org/package/2006/relationships"><Relationship Id="rId14" Type="http://schemas.openxmlformats.org/officeDocument/2006/relationships/image" Target="../media/image3.png"/><Relationship Id="rId4" Type="http://schemas.openxmlformats.org/officeDocument/2006/relationships/slideLayout" Target="../slideLayouts/slideLayout169.xml"/><Relationship Id="rId7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6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8" Type="http://schemas.openxmlformats.org/officeDocument/2006/relationships/slideLayout" Target="../slideLayouts/slideLayout173.xml"/><Relationship Id="rId13" Type="http://schemas.openxmlformats.org/officeDocument/2006/relationships/image" Target="../media/image2.png"/><Relationship Id="rId10" Type="http://schemas.openxmlformats.org/officeDocument/2006/relationships/slideLayout" Target="../slideLayouts/slideLayout175.xml"/><Relationship Id="rId5" Type="http://schemas.openxmlformats.org/officeDocument/2006/relationships/slideLayout" Target="../slideLayouts/slideLayout170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7.xml"/><Relationship Id="rId9" Type="http://schemas.openxmlformats.org/officeDocument/2006/relationships/slideLayout" Target="../slideLayouts/slideLayout174.xml"/><Relationship Id="rId3" Type="http://schemas.openxmlformats.org/officeDocument/2006/relationships/slideLayout" Target="../slideLayouts/slideLayout168.xml"/></Relationships>
</file>

<file path=ppt/slideMasters/_rels/slideMaster17.xml.rels><?xml version="1.0" encoding="UTF-8" standalone="yes"?>
<Relationships xmlns="http://schemas.openxmlformats.org/package/2006/relationships"><Relationship Id="rId14" Type="http://schemas.openxmlformats.org/officeDocument/2006/relationships/image" Target="../media/image3.png"/><Relationship Id="rId4" Type="http://schemas.openxmlformats.org/officeDocument/2006/relationships/slideLayout" Target="../slideLayouts/slideLayout180.xml"/><Relationship Id="rId7" Type="http://schemas.openxmlformats.org/officeDocument/2006/relationships/slideLayout" Target="../slideLayouts/slideLayout183.xml"/><Relationship Id="rId11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8" Type="http://schemas.openxmlformats.org/officeDocument/2006/relationships/slideLayout" Target="../slideLayouts/slideLayout184.xml"/><Relationship Id="rId13" Type="http://schemas.openxmlformats.org/officeDocument/2006/relationships/image" Target="../media/image2.png"/><Relationship Id="rId10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81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85.xml"/><Relationship Id="rId3" Type="http://schemas.openxmlformats.org/officeDocument/2006/relationships/slideLayout" Target="../slideLayouts/slideLayout1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1790700"/>
            <a:ext cx="8178800" cy="1866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title style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4051300"/>
            <a:ext cx="8178800" cy="127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-12" charset="0"/>
              </a:rPr>
              <a:t>Second level</a:t>
            </a:r>
          </a:p>
          <a:p>
            <a:pPr lvl="2"/>
            <a:r>
              <a:rPr lang="en-US">
                <a:sym typeface="Hoefler Text" pitchFamily="-12" charset="0"/>
              </a:rPr>
              <a:t>Third level</a:t>
            </a:r>
          </a:p>
          <a:p>
            <a:pPr lvl="3"/>
            <a:r>
              <a:rPr lang="en-US">
                <a:sym typeface="Hoefler Text" pitchFamily="-12" charset="0"/>
              </a:rPr>
              <a:t>Fourth level</a:t>
            </a:r>
          </a:p>
          <a:p>
            <a:pPr lvl="4"/>
            <a:r>
              <a:rPr lang="en-US">
                <a:sym typeface="Hoefler Text" pitchFamily="-12" charset="0"/>
              </a:rPr>
              <a:t>Fifth level</a:t>
            </a:r>
          </a:p>
        </p:txBody>
      </p:sp>
      <p:sp>
        <p:nvSpPr>
          <p:cNvPr id="1027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29188" y="7251700"/>
            <a:ext cx="287337" cy="27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400">
                <a:solidFill>
                  <a:schemeClr val="tx1"/>
                </a:solidFill>
                <a:latin typeface="+mn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786ADF2F-CD97-4D6D-B7B5-7EDD6E47C0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4" r:id="rId2"/>
    <p:sldLayoutId id="2147483673" r:id="rId3"/>
    <p:sldLayoutId id="2147483672" r:id="rId4"/>
    <p:sldLayoutId id="2147483671" r:id="rId5"/>
    <p:sldLayoutId id="2147483670" r:id="rId6"/>
    <p:sldLayoutId id="2147483669" r:id="rId7"/>
    <p:sldLayoutId id="2147483668" r:id="rId8"/>
    <p:sldLayoutId id="2147483667" r:id="rId9"/>
    <p:sldLayoutId id="2147483666" r:id="rId10"/>
    <p:sldLayoutId id="2147483665" r:id="rId11"/>
  </p:sldLayoutIdLst>
  <p:transition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342900" indent="-3429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742950" indent="-28575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143000" indent="-2286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3pPr>
      <a:lvl4pPr marL="1600200" indent="-2286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4pPr>
      <a:lvl5pPr marL="2057400" indent="-2286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25500" y="-355600"/>
            <a:ext cx="8178800" cy="154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title style</a:t>
            </a:r>
          </a:p>
        </p:txBody>
      </p:sp>
      <p:sp>
        <p:nvSpPr>
          <p:cNvPr id="2050" name="Text Box 2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+mj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CB637BD2-7ED1-43DF-A2EB-1D2B27AB82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5" r:id="rId2"/>
    <p:sldLayoutId id="2147483684" r:id="rId3"/>
    <p:sldLayoutId id="2147483683" r:id="rId4"/>
    <p:sldLayoutId id="2147483682" r:id="rId5"/>
    <p:sldLayoutId id="2147483681" r:id="rId6"/>
    <p:sldLayoutId id="2147483680" r:id="rId7"/>
    <p:sldLayoutId id="2147483679" r:id="rId8"/>
    <p:sldLayoutId id="2147483678" r:id="rId9"/>
    <p:sldLayoutId id="2147483677" r:id="rId10"/>
    <p:sldLayoutId id="2147483676" r:id="rId11"/>
  </p:sldLayoutIdLst>
  <p:transition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5699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1pPr>
      <a:lvl2pPr marL="10017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2pPr>
      <a:lvl3pPr marL="14335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3pPr>
      <a:lvl4pPr marL="18780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4pPr>
      <a:lvl5pPr marL="23225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5pPr>
      <a:lvl6pPr marL="27797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6pPr>
      <a:lvl7pPr marL="32369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7pPr>
      <a:lvl8pPr marL="36941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8pPr>
      <a:lvl9pPr marL="41513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943100"/>
            <a:ext cx="8178800" cy="4965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-12" charset="0"/>
              </a:rPr>
              <a:t>Second level</a:t>
            </a:r>
          </a:p>
          <a:p>
            <a:pPr lvl="2"/>
            <a:r>
              <a:rPr lang="en-US">
                <a:sym typeface="Arial" pitchFamily="-12" charset="0"/>
              </a:rPr>
              <a:t>Third level</a:t>
            </a:r>
          </a:p>
          <a:p>
            <a:pPr lvl="3"/>
            <a:r>
              <a:rPr lang="en-US">
                <a:sym typeface="Arial" pitchFamily="-12" charset="0"/>
              </a:rPr>
              <a:t>Fourth level</a:t>
            </a:r>
          </a:p>
          <a:p>
            <a:pPr lvl="4"/>
            <a:r>
              <a:rPr lang="en-US">
                <a:sym typeface="Arial" pitchFamily="-12" charset="0"/>
              </a:rPr>
              <a:t>Fifth level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-330200"/>
            <a:ext cx="8178800" cy="154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title style</a:t>
            </a:r>
          </a:p>
        </p:txBody>
      </p:sp>
      <p:sp>
        <p:nvSpPr>
          <p:cNvPr id="3075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+mn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8E621DE5-A464-4462-864D-7A04A3EA5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6" r:id="rId2"/>
    <p:sldLayoutId id="2147483695" r:id="rId3"/>
    <p:sldLayoutId id="2147483694" r:id="rId4"/>
    <p:sldLayoutId id="2147483693" r:id="rId5"/>
    <p:sldLayoutId id="2147483692" r:id="rId6"/>
    <p:sldLayoutId id="2147483691" r:id="rId7"/>
    <p:sldLayoutId id="2147483690" r:id="rId8"/>
    <p:sldLayoutId id="2147483689" r:id="rId9"/>
    <p:sldLayoutId id="2147483688" r:id="rId10"/>
    <p:sldLayoutId id="2147483687" r:id="rId11"/>
  </p:sldLayoutIdLst>
  <p:transition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5191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9509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3827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8272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2717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7289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6pPr>
      <a:lvl7pPr marL="31861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7pPr>
      <a:lvl8pPr marL="36433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8pPr>
      <a:lvl9pPr marL="41005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943100"/>
            <a:ext cx="8178800" cy="4965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-12" charset="0"/>
              </a:rPr>
              <a:t>Second level</a:t>
            </a:r>
          </a:p>
          <a:p>
            <a:pPr lvl="2"/>
            <a:r>
              <a:rPr lang="en-US">
                <a:sym typeface="Arial" pitchFamily="-12" charset="0"/>
              </a:rPr>
              <a:t>Third level</a:t>
            </a:r>
          </a:p>
          <a:p>
            <a:pPr lvl="3"/>
            <a:r>
              <a:rPr lang="en-US">
                <a:sym typeface="Arial" pitchFamily="-12" charset="0"/>
              </a:rPr>
              <a:t>Fourth level</a:t>
            </a:r>
          </a:p>
          <a:p>
            <a:pPr lvl="4"/>
            <a:r>
              <a:rPr lang="en-US">
                <a:sym typeface="Arial" pitchFamily="-12" charset="0"/>
              </a:rPr>
              <a:t>Fifth level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-330200"/>
            <a:ext cx="8178800" cy="154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title style</a:t>
            </a:r>
          </a:p>
        </p:txBody>
      </p:sp>
      <p:sp>
        <p:nvSpPr>
          <p:cNvPr id="4099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+mn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5A98E903-25FB-4851-9C4C-783963DBB9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7" r:id="rId2"/>
    <p:sldLayoutId id="2147483706" r:id="rId3"/>
    <p:sldLayoutId id="2147483705" r:id="rId4"/>
    <p:sldLayoutId id="2147483704" r:id="rId5"/>
    <p:sldLayoutId id="2147483703" r:id="rId6"/>
    <p:sldLayoutId id="2147483702" r:id="rId7"/>
    <p:sldLayoutId id="2147483701" r:id="rId8"/>
    <p:sldLayoutId id="2147483700" r:id="rId9"/>
    <p:sldLayoutId id="2147483699" r:id="rId10"/>
    <p:sldLayoutId id="2147483698" r:id="rId11"/>
  </p:sldLayoutIdLst>
  <p:transition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5191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9509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3827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8272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2717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7289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6pPr>
      <a:lvl7pPr marL="31861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7pPr>
      <a:lvl8pPr marL="36433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8pPr>
      <a:lvl9pPr marL="41005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943100"/>
            <a:ext cx="3835400" cy="4965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Times New Roman" pitchFamily="-12" charset="0"/>
              </a:rPr>
              <a:t>Click to edit Master text styles</a:t>
            </a:r>
          </a:p>
          <a:p>
            <a:pPr lvl="1"/>
            <a:r>
              <a:rPr lang="en-US">
                <a:sym typeface="Times New Roman" pitchFamily="-12" charset="0"/>
              </a:rPr>
              <a:t>Second level</a:t>
            </a:r>
          </a:p>
          <a:p>
            <a:pPr lvl="2"/>
            <a:r>
              <a:rPr lang="en-US">
                <a:sym typeface="Times New Roman" pitchFamily="-12" charset="0"/>
              </a:rPr>
              <a:t>Third level</a:t>
            </a:r>
          </a:p>
          <a:p>
            <a:pPr lvl="3"/>
            <a:r>
              <a:rPr lang="en-US">
                <a:sym typeface="Times New Roman" pitchFamily="-12" charset="0"/>
              </a:rPr>
              <a:t>Fourth level</a:t>
            </a:r>
          </a:p>
          <a:p>
            <a:pPr lvl="4"/>
            <a:r>
              <a:rPr lang="en-US">
                <a:sym typeface="Times New Roman" pitchFamily="-12" charset="0"/>
              </a:rPr>
              <a:t>Fifth level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44700" y="-444500"/>
            <a:ext cx="8178800" cy="154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title style</a:t>
            </a:r>
          </a:p>
        </p:txBody>
      </p:sp>
      <p:sp>
        <p:nvSpPr>
          <p:cNvPr id="5123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+mj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1C9AC9B4-5DE3-4E34-AB05-47B0DAFEA5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8" r:id="rId2"/>
    <p:sldLayoutId id="2147483717" r:id="rId3"/>
    <p:sldLayoutId id="2147483716" r:id="rId4"/>
    <p:sldLayoutId id="2147483715" r:id="rId5"/>
    <p:sldLayoutId id="2147483714" r:id="rId6"/>
    <p:sldLayoutId id="2147483713" r:id="rId7"/>
    <p:sldLayoutId id="2147483712" r:id="rId8"/>
    <p:sldLayoutId id="2147483711" r:id="rId9"/>
    <p:sldLayoutId id="2147483710" r:id="rId10"/>
    <p:sldLayoutId id="2147483709" r:id="rId11"/>
  </p:sldLayoutIdLst>
  <p:transition spd="med"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4968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1pPr>
      <a:lvl2pPr marL="9286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2pPr>
      <a:lvl3pPr marL="13604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3pPr>
      <a:lvl4pPr marL="18049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4pPr>
      <a:lvl5pPr marL="22494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5pPr>
      <a:lvl6pPr marL="2706688" indent="-331788" algn="l" rtl="0" fontAlgn="base">
        <a:spcBef>
          <a:spcPts val="3400"/>
        </a:spcBef>
        <a:spcAft>
          <a:spcPct val="0"/>
        </a:spcAft>
        <a:buSzPct val="125000"/>
        <a:buFont typeface="Times New Roman" pitchFamily="-12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6pPr>
      <a:lvl7pPr marL="3163888" indent="-331788" algn="l" rtl="0" fontAlgn="base">
        <a:spcBef>
          <a:spcPts val="3400"/>
        </a:spcBef>
        <a:spcAft>
          <a:spcPct val="0"/>
        </a:spcAft>
        <a:buSzPct val="125000"/>
        <a:buFont typeface="Times New Roman" pitchFamily="-12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7pPr>
      <a:lvl8pPr marL="3621088" indent="-331788" algn="l" rtl="0" fontAlgn="base">
        <a:spcBef>
          <a:spcPts val="3400"/>
        </a:spcBef>
        <a:spcAft>
          <a:spcPct val="0"/>
        </a:spcAft>
        <a:buSzPct val="125000"/>
        <a:buFont typeface="Times New Roman" pitchFamily="-12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8pPr>
      <a:lvl9pPr marL="4078288" indent="-331788" algn="l" rtl="0" fontAlgn="base">
        <a:spcBef>
          <a:spcPts val="3400"/>
        </a:spcBef>
        <a:spcAft>
          <a:spcPct val="0"/>
        </a:spcAft>
        <a:buSzPct val="125000"/>
        <a:buFont typeface="Times New Roman" pitchFamily="-12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2705100"/>
            <a:ext cx="8178800" cy="1866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title style</a:t>
            </a:r>
          </a:p>
        </p:txBody>
      </p:sp>
      <p:sp>
        <p:nvSpPr>
          <p:cNvPr id="6146" name="Rectangle 2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>
              <a:defRPr/>
            </a:pPr>
            <a:r>
              <a:rPr lang="en-US" sz="1900">
                <a:solidFill>
                  <a:srgbClr val="2E2F30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R. Bernstein, FNAL                                                                   Mu2e Seminar Nov 2008</a:t>
            </a:r>
          </a:p>
        </p:txBody>
      </p:sp>
      <p:sp>
        <p:nvSpPr>
          <p:cNvPr id="6147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+mj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0903A3C2-66D1-4764-BF4A-ECD60C57E2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2469" name="Picture 4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62470" name="Picture 5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651875" y="1143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29" r:id="rId2"/>
    <p:sldLayoutId id="2147483728" r:id="rId3"/>
    <p:sldLayoutId id="2147483727" r:id="rId4"/>
    <p:sldLayoutId id="2147483726" r:id="rId5"/>
    <p:sldLayoutId id="2147483725" r:id="rId6"/>
    <p:sldLayoutId id="2147483724" r:id="rId7"/>
    <p:sldLayoutId id="2147483723" r:id="rId8"/>
    <p:sldLayoutId id="2147483722" r:id="rId9"/>
    <p:sldLayoutId id="2147483721" r:id="rId10"/>
    <p:sldLayoutId id="2147483720" r:id="rId11"/>
  </p:sldLayoutIdLst>
  <p:transition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114300" indent="-1143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1pPr>
      <a:lvl2pPr marL="114300" indent="-1143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2pPr>
      <a:lvl3pPr marL="114300" indent="-1143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3pPr>
      <a:lvl4pPr marL="114300" indent="-1143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4pPr>
      <a:lvl5pPr marL="114300" indent="-1143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5pPr>
      <a:lvl6pPr marL="571500" indent="-1143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6pPr>
      <a:lvl7pPr marL="1028700" indent="-1143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7pPr>
      <a:lvl8pPr marL="1485900" indent="-1143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8pPr>
      <a:lvl9pPr marL="1943100" indent="-1143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0160000" cy="76200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>
            <a:outerShdw blurRad="12700" dist="12699" dir="5400000" algn="ctr" rotWithShape="0">
              <a:schemeClr val="bg2">
                <a:alpha val="29999"/>
              </a:schemeClr>
            </a:outerShdw>
          </a:effec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5676900"/>
            <a:ext cx="8178800" cy="154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rgbClr val="FFFFFF">
                <a:alpha val="75000"/>
              </a:srgb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Hoefler Text" pitchFamily="-12" charset="0"/>
              </a:rPr>
              <a:t>Click to edit Master title style</a:t>
            </a:r>
          </a:p>
        </p:txBody>
      </p:sp>
      <p:grpSp>
        <p:nvGrpSpPr>
          <p:cNvPr id="74756" name="Group 3"/>
          <p:cNvGrpSpPr>
            <a:grpSpLocks/>
          </p:cNvGrpSpPr>
          <p:nvPr/>
        </p:nvGrpSpPr>
        <p:grpSpPr bwMode="auto">
          <a:xfrm>
            <a:off x="38100" y="38100"/>
            <a:ext cx="10077450" cy="762000"/>
            <a:chOff x="0" y="0"/>
            <a:chExt cx="6348" cy="480"/>
          </a:xfrm>
        </p:grpSpPr>
        <p:pic>
          <p:nvPicPr>
            <p:cNvPr id="74761" name="Picture 4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0" y="0"/>
              <a:ext cx="1816" cy="48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74762" name="Picture 5"/>
            <p:cNvPicPr>
              <a:picLocks noChangeAspect="1" noChangeArrowheads="1"/>
            </p:cNvPicPr>
            <p:nvPr/>
          </p:nvPicPr>
          <mc:AlternateContent xmlns:ma="http://schemas.microsoft.com/office/mac/drawingml/2008/main">
            <mc:Choice Requires="ma">
              <p:blipFill>
                <a:blip r:embed="rId15"/>
                <a:srcRect/>
                <a:stretch>
                  <a:fillRect/>
                </a:stretch>
              </p:blipFill>
            </mc:Choice>
        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a="http://schemas.microsoft.com/office/mac/drawingml/2008/main">
              <p:blipFill>
                <a:blip r:embed="rId16"/>
                <a:srcRect/>
                <a:stretch>
                  <a:fillRect/>
                </a:stretch>
              </p:blipFill>
            </mc:Fallback>
          </mc:AlternateContent>
          <p:spPr bwMode="auto">
            <a:xfrm>
              <a:off x="5880" y="0"/>
              <a:ext cx="468" cy="46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7174" name="Rectangle 6"/>
          <p:cNvSpPr>
            <a:spLocks/>
          </p:cNvSpPr>
          <p:nvPr/>
        </p:nvSpPr>
        <p:spPr bwMode="auto">
          <a:xfrm>
            <a:off x="292100" y="7169150"/>
            <a:ext cx="9575800" cy="35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 algn="ctr">
              <a:defRPr/>
            </a:pPr>
            <a:r>
              <a:rPr lang="en-US" sz="1900">
                <a:solidFill>
                  <a:srgbClr val="2E2F30"/>
                </a:solidFill>
                <a:latin typeface="Cochin" pitchFamily="-12" charset="0"/>
                <a:ea typeface="Cochin" pitchFamily="-12" charset="0"/>
                <a:cs typeface="Cochin" pitchFamily="-12" charset="0"/>
                <a:sym typeface="Cochin" pitchFamily="-12" charset="0"/>
              </a:rPr>
              <a:t>R. Bernstein, FNAL                                                                                ANL HEP Seminar   </a:t>
            </a:r>
          </a:p>
        </p:txBody>
      </p:sp>
      <p:sp>
        <p:nvSpPr>
          <p:cNvPr id="7175" name="Text Box 7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16488" y="7175500"/>
            <a:ext cx="312737" cy="35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rgbClr val="FFFFFF">
                <a:alpha val="75000"/>
              </a:srgb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defRPr>
            </a:lvl1pPr>
          </a:lstStyle>
          <a:p>
            <a:pPr>
              <a:defRPr/>
            </a:pPr>
            <a:fld id="{6C5EAD1B-8FD4-4AF5-BA43-2C591537B6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4759" name="Picture 8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74760" name="Picture 9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87026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0" r:id="rId2"/>
    <p:sldLayoutId id="2147483739" r:id="rId3"/>
    <p:sldLayoutId id="2147483738" r:id="rId4"/>
    <p:sldLayoutId id="2147483737" r:id="rId5"/>
    <p:sldLayoutId id="2147483736" r:id="rId6"/>
    <p:sldLayoutId id="2147483735" r:id="rId7"/>
    <p:sldLayoutId id="2147483734" r:id="rId8"/>
    <p:sldLayoutId id="2147483733" r:id="rId9"/>
    <p:sldLayoutId id="2147483732" r:id="rId10"/>
    <p:sldLayoutId id="2147483731" r:id="rId11"/>
  </p:sldLayoutIdLst>
  <p:transition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Hoefler Text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9pPr>
    </p:titleStyle>
    <p:bodyStyle>
      <a:lvl1pPr marL="114300" indent="-1143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1pPr>
      <a:lvl2pPr marL="114300" indent="-1143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2pPr>
      <a:lvl3pPr marL="114300" indent="-1143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3pPr>
      <a:lvl4pPr marL="114300" indent="-1143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4pPr>
      <a:lvl5pPr marL="114300" indent="-1143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5pPr>
      <a:lvl6pPr marL="571500" indent="-1143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6pPr>
      <a:lvl7pPr marL="1028700" indent="-1143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7pPr>
      <a:lvl8pPr marL="1485900" indent="-1143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8pPr>
      <a:lvl9pPr marL="1943100" indent="-1143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0160000" cy="76200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>
            <a:outerShdw blurRad="12700" dist="12699" dir="5400000" algn="ctr" rotWithShape="0">
              <a:schemeClr val="bg2">
                <a:alpha val="29999"/>
              </a:schemeClr>
            </a:outerShdw>
          </a:effectLst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82600" y="1270000"/>
            <a:ext cx="4597400" cy="2387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rgbClr val="FFFFFF">
                <a:alpha val="75000"/>
              </a:srgbClr>
            </a:outerShdw>
          </a:effec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Hoefler Text" pitchFamily="-12" charset="0"/>
              </a:rPr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2600" y="4051300"/>
            <a:ext cx="4597400" cy="2387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rgbClr val="FFFFFF">
                <a:alpha val="75000"/>
              </a:srgbClr>
            </a:outerShdw>
          </a:effec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Hoefler Text" pitchFamily="-12" charset="0"/>
              </a:rPr>
              <a:t>Click to edit Master text styles</a:t>
            </a:r>
          </a:p>
          <a:p>
            <a:pPr lvl="1"/>
            <a:r>
              <a:rPr lang="en-US">
                <a:sym typeface="Hoefler Text" pitchFamily="-12" charset="0"/>
              </a:rPr>
              <a:t>Second level</a:t>
            </a:r>
          </a:p>
          <a:p>
            <a:pPr lvl="2"/>
            <a:r>
              <a:rPr lang="en-US">
                <a:sym typeface="Hoefler Text" pitchFamily="-12" charset="0"/>
              </a:rPr>
              <a:t>Third level</a:t>
            </a:r>
          </a:p>
          <a:p>
            <a:pPr lvl="3"/>
            <a:r>
              <a:rPr lang="en-US">
                <a:sym typeface="Hoefler Text" pitchFamily="-12" charset="0"/>
              </a:rPr>
              <a:t>Fourth level</a:t>
            </a:r>
          </a:p>
          <a:p>
            <a:pPr lvl="4"/>
            <a:r>
              <a:rPr lang="en-US">
                <a:sym typeface="Hoefler Text" pitchFamily="-12" charset="0"/>
              </a:rPr>
              <a:t>Fifth level</a:t>
            </a:r>
          </a:p>
        </p:txBody>
      </p:sp>
      <p:pic>
        <p:nvPicPr>
          <p:cNvPr id="87045" name="Picture 4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965200" y="3759200"/>
            <a:ext cx="3621088" cy="984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grpSp>
        <p:nvGrpSpPr>
          <p:cNvPr id="87046" name="Group 5"/>
          <p:cNvGrpSpPr>
            <a:grpSpLocks/>
          </p:cNvGrpSpPr>
          <p:nvPr/>
        </p:nvGrpSpPr>
        <p:grpSpPr bwMode="auto">
          <a:xfrm>
            <a:off x="38100" y="38100"/>
            <a:ext cx="10077450" cy="762000"/>
            <a:chOff x="0" y="0"/>
            <a:chExt cx="6348" cy="480"/>
          </a:xfrm>
        </p:grpSpPr>
        <p:pic>
          <p:nvPicPr>
            <p:cNvPr id="87051" name="Picture 6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0" y="0"/>
              <a:ext cx="1816" cy="48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87052" name="Picture 7"/>
            <p:cNvPicPr>
              <a:picLocks noChangeAspect="1" noChangeArrowheads="1"/>
            </p:cNvPicPr>
            <p:nvPr/>
          </p:nvPicPr>
          <mc:AlternateContent xmlns:ma="http://schemas.microsoft.com/office/mac/drawingml/2008/main">
            <mc:Choice Requires="ma">
              <p:blipFill>
                <a:blip r:embed="rId16"/>
                <a:srcRect/>
                <a:stretch>
                  <a:fillRect/>
                </a:stretch>
              </p:blipFill>
            </mc:Choice>
        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a="http://schemas.microsoft.com/office/mac/drawingml/2008/main">
              <p:blipFill>
                <a:blip r:embed="rId17"/>
                <a:srcRect/>
                <a:stretch>
                  <a:fillRect/>
                </a:stretch>
              </p:blipFill>
            </mc:Fallback>
          </mc:AlternateContent>
          <p:spPr bwMode="auto">
            <a:xfrm>
              <a:off x="5880" y="0"/>
              <a:ext cx="468" cy="46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8200" name="Rectangle 8"/>
          <p:cNvSpPr>
            <a:spLocks/>
          </p:cNvSpPr>
          <p:nvPr/>
        </p:nvSpPr>
        <p:spPr bwMode="auto">
          <a:xfrm>
            <a:off x="292100" y="7169150"/>
            <a:ext cx="9575800" cy="35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 algn="ctr">
              <a:defRPr/>
            </a:pPr>
            <a:r>
              <a:rPr lang="en-US" sz="1900">
                <a:solidFill>
                  <a:srgbClr val="2E2F30"/>
                </a:solidFill>
                <a:latin typeface="Cochin" pitchFamily="-12" charset="0"/>
                <a:ea typeface="Cochin" pitchFamily="-12" charset="0"/>
                <a:cs typeface="Cochin" pitchFamily="-12" charset="0"/>
                <a:sym typeface="Cochin" pitchFamily="-12" charset="0"/>
              </a:rPr>
              <a:t>R. Bernstein, FNAL                                                                                ANL HEP Seminar   </a:t>
            </a:r>
          </a:p>
        </p:txBody>
      </p:sp>
      <p:sp>
        <p:nvSpPr>
          <p:cNvPr id="8201" name="Text Box 9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41888" y="7239000"/>
            <a:ext cx="261937" cy="292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400">
                <a:solidFill>
                  <a:schemeClr val="tx1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defRPr>
            </a:lvl1pPr>
          </a:lstStyle>
          <a:p>
            <a:pPr>
              <a:defRPr/>
            </a:pPr>
            <a:fld id="{54D0DD4B-BBDE-4AC2-9D2E-0562DB9DB3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7049" name="Picture 10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87050" name="Picture 11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87026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1" r:id="rId2"/>
    <p:sldLayoutId id="2147483750" r:id="rId3"/>
    <p:sldLayoutId id="2147483749" r:id="rId4"/>
    <p:sldLayoutId id="2147483748" r:id="rId5"/>
    <p:sldLayoutId id="2147483747" r:id="rId6"/>
    <p:sldLayoutId id="2147483746" r:id="rId7"/>
    <p:sldLayoutId id="2147483745" r:id="rId8"/>
    <p:sldLayoutId id="2147483744" r:id="rId9"/>
    <p:sldLayoutId id="2147483743" r:id="rId10"/>
    <p:sldLayoutId id="2147483742" r:id="rId11"/>
  </p:sldLayoutIdLst>
  <p:transition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Hoefler Text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9pPr>
    </p:titleStyle>
    <p:bodyStyle>
      <a:lvl1pPr marL="342900" indent="-3429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1pPr>
      <a:lvl2pPr marL="742950" indent="-28575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2pPr>
      <a:lvl3pPr marL="1143000" indent="-2286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3pPr>
      <a:lvl4pPr marL="1600200" indent="-2286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4pPr>
      <a:lvl5pPr marL="2057400" indent="-228600" algn="ctr" rtl="0" eaLnBrk="0" fontAlgn="base" hangingPunct="0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0160000" cy="76200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>
            <a:outerShdw blurRad="12700" dist="12699" dir="5400000" algn="ctr" rotWithShape="0">
              <a:schemeClr val="bg2">
                <a:alpha val="29999"/>
              </a:schemeClr>
            </a:outerShdw>
          </a:effectLst>
        </p:spPr>
      </p:pic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943100"/>
            <a:ext cx="3835400" cy="4965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rgbClr val="FFFFFF">
                <a:alpha val="75000"/>
              </a:srgbClr>
            </a:outerShdw>
          </a:effec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Times New Roman" pitchFamily="-12" charset="0"/>
              </a:rPr>
              <a:t>Click to edit Master text styles</a:t>
            </a:r>
          </a:p>
          <a:p>
            <a:pPr lvl="1"/>
            <a:r>
              <a:rPr lang="en-US">
                <a:sym typeface="Times New Roman" pitchFamily="-12" charset="0"/>
              </a:rPr>
              <a:t>Second level</a:t>
            </a:r>
          </a:p>
          <a:p>
            <a:pPr lvl="2"/>
            <a:r>
              <a:rPr lang="en-US">
                <a:sym typeface="Times New Roman" pitchFamily="-12" charset="0"/>
              </a:rPr>
              <a:t>Third level</a:t>
            </a:r>
          </a:p>
          <a:p>
            <a:pPr lvl="3"/>
            <a:r>
              <a:rPr lang="en-US">
                <a:sym typeface="Times New Roman" pitchFamily="-12" charset="0"/>
              </a:rPr>
              <a:t>Fourth level</a:t>
            </a:r>
          </a:p>
          <a:p>
            <a:pPr lvl="4"/>
            <a:r>
              <a:rPr lang="en-US">
                <a:sym typeface="Times New Roman" pitchFamily="-12" charset="0"/>
              </a:rPr>
              <a:t>Fifth level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-330200"/>
            <a:ext cx="8178800" cy="154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rgbClr val="FFFFFF">
                <a:alpha val="75000"/>
              </a:srgb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Times New Roman" pitchFamily="-12" charset="0"/>
              </a:rPr>
              <a:t>Click to edit Master title style</a:t>
            </a:r>
          </a:p>
        </p:txBody>
      </p:sp>
      <p:grpSp>
        <p:nvGrpSpPr>
          <p:cNvPr id="99333" name="Group 4"/>
          <p:cNvGrpSpPr>
            <a:grpSpLocks/>
          </p:cNvGrpSpPr>
          <p:nvPr/>
        </p:nvGrpSpPr>
        <p:grpSpPr bwMode="auto">
          <a:xfrm>
            <a:off x="38100" y="38100"/>
            <a:ext cx="10077450" cy="762000"/>
            <a:chOff x="0" y="0"/>
            <a:chExt cx="6348" cy="480"/>
          </a:xfrm>
        </p:grpSpPr>
        <p:pic>
          <p:nvPicPr>
            <p:cNvPr id="99338" name="Picture 5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0" y="0"/>
              <a:ext cx="1816" cy="48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99339" name="Picture 6"/>
            <p:cNvPicPr>
              <a:picLocks noChangeAspect="1" noChangeArrowheads="1"/>
            </p:cNvPicPr>
            <p:nvPr/>
          </p:nvPicPr>
          <mc:AlternateContent xmlns:ma="http://schemas.microsoft.com/office/mac/drawingml/2008/main">
            <mc:Choice Requires="ma">
              <p:blipFill>
                <a:blip r:embed="rId15"/>
                <a:srcRect/>
                <a:stretch>
                  <a:fillRect/>
                </a:stretch>
              </p:blipFill>
            </mc:Choice>
        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a="http://schemas.microsoft.com/office/mac/drawingml/2008/main">
              <p:blipFill>
                <a:blip r:embed="rId16"/>
                <a:srcRect/>
                <a:stretch>
                  <a:fillRect/>
                </a:stretch>
              </p:blipFill>
            </mc:Fallback>
          </mc:AlternateContent>
          <p:spPr bwMode="auto">
            <a:xfrm>
              <a:off x="5880" y="0"/>
              <a:ext cx="468" cy="46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9223" name="Rectangle 7"/>
          <p:cNvSpPr>
            <a:spLocks/>
          </p:cNvSpPr>
          <p:nvPr/>
        </p:nvSpPr>
        <p:spPr bwMode="auto">
          <a:xfrm>
            <a:off x="292100" y="7169150"/>
            <a:ext cx="9575800" cy="35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 algn="ctr">
              <a:defRPr/>
            </a:pPr>
            <a:r>
              <a:rPr lang="en-US" sz="1900">
                <a:solidFill>
                  <a:srgbClr val="2E2F30"/>
                </a:solidFill>
                <a:latin typeface="Cochin" pitchFamily="-12" charset="0"/>
                <a:ea typeface="Cochin" pitchFamily="-12" charset="0"/>
                <a:cs typeface="Cochin" pitchFamily="-12" charset="0"/>
                <a:sym typeface="Cochin" pitchFamily="-12" charset="0"/>
              </a:rPr>
              <a:t>R. Bernstein, FNAL                                                                                ANL HEP Seminar   </a:t>
            </a:r>
          </a:p>
        </p:txBody>
      </p:sp>
      <p:sp>
        <p:nvSpPr>
          <p:cNvPr id="9224" name="Text Box 8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16488" y="7175500"/>
            <a:ext cx="312737" cy="35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rgbClr val="FFFFFF">
                <a:alpha val="75000"/>
              </a:srgb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defRPr>
            </a:lvl1pPr>
          </a:lstStyle>
          <a:p>
            <a:pPr>
              <a:defRPr/>
            </a:pPr>
            <a:fld id="{0470966A-CC75-4CB7-A393-711995A9FB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9336" name="Picture 9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99337" name="Picture 10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87026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2" r:id="rId2"/>
    <p:sldLayoutId id="2147483761" r:id="rId3"/>
    <p:sldLayoutId id="2147483760" r:id="rId4"/>
    <p:sldLayoutId id="2147483759" r:id="rId5"/>
    <p:sldLayoutId id="2147483758" r:id="rId6"/>
    <p:sldLayoutId id="2147483757" r:id="rId7"/>
    <p:sldLayoutId id="2147483756" r:id="rId8"/>
    <p:sldLayoutId id="2147483755" r:id="rId9"/>
    <p:sldLayoutId id="2147483754" r:id="rId10"/>
    <p:sldLayoutId id="2147483753" r:id="rId11"/>
  </p:sldLayoutIdLst>
  <p:transition spd="med"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Times New Roman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pitchFamily="-12" charset="0"/>
        </a:defRPr>
      </a:lvl9pPr>
    </p:titleStyle>
    <p:bodyStyle>
      <a:lvl1pPr marL="4968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1pPr>
      <a:lvl2pPr marL="9286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2pPr>
      <a:lvl3pPr marL="13604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3pPr>
      <a:lvl4pPr marL="18049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4pPr>
      <a:lvl5pPr marL="22494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5pPr>
      <a:lvl6pPr marL="2706688" indent="-331788" algn="l" rtl="0" fontAlgn="base">
        <a:spcBef>
          <a:spcPts val="3400"/>
        </a:spcBef>
        <a:spcAft>
          <a:spcPct val="0"/>
        </a:spcAft>
        <a:buSzPct val="125000"/>
        <a:buFont typeface="Times New Roman" pitchFamily="-12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6pPr>
      <a:lvl7pPr marL="3163888" indent="-331788" algn="l" rtl="0" fontAlgn="base">
        <a:spcBef>
          <a:spcPts val="3400"/>
        </a:spcBef>
        <a:spcAft>
          <a:spcPct val="0"/>
        </a:spcAft>
        <a:buSzPct val="125000"/>
        <a:buFont typeface="Times New Roman" pitchFamily="-12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7pPr>
      <a:lvl8pPr marL="3621088" indent="-331788" algn="l" rtl="0" fontAlgn="base">
        <a:spcBef>
          <a:spcPts val="3400"/>
        </a:spcBef>
        <a:spcAft>
          <a:spcPct val="0"/>
        </a:spcAft>
        <a:buSzPct val="125000"/>
        <a:buFont typeface="Times New Roman" pitchFamily="-12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8pPr>
      <a:lvl9pPr marL="4078288" indent="-331788" algn="l" rtl="0" fontAlgn="base">
        <a:spcBef>
          <a:spcPts val="3400"/>
        </a:spcBef>
        <a:spcAft>
          <a:spcPct val="0"/>
        </a:spcAft>
        <a:buSzPct val="125000"/>
        <a:buFont typeface="Times New Roman" pitchFamily="-12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711200"/>
            <a:ext cx="8178800" cy="6197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Times New Roman" pitchFamily="-12" charset="0"/>
              </a:rPr>
              <a:t>Click to edit Master text styles</a:t>
            </a:r>
          </a:p>
          <a:p>
            <a:pPr lvl="1"/>
            <a:r>
              <a:rPr lang="en-US">
                <a:sym typeface="Times New Roman" pitchFamily="-12" charset="0"/>
              </a:rPr>
              <a:t>Second level</a:t>
            </a:r>
          </a:p>
          <a:p>
            <a:pPr lvl="2"/>
            <a:r>
              <a:rPr lang="en-US">
                <a:sym typeface="Times New Roman" pitchFamily="-12" charset="0"/>
              </a:rPr>
              <a:t>Third level</a:t>
            </a:r>
          </a:p>
          <a:p>
            <a:pPr lvl="3"/>
            <a:r>
              <a:rPr lang="en-US">
                <a:sym typeface="Times New Roman" pitchFamily="-12" charset="0"/>
              </a:rPr>
              <a:t>Fourth level</a:t>
            </a:r>
          </a:p>
          <a:p>
            <a:pPr lvl="4"/>
            <a:r>
              <a:rPr lang="en-US">
                <a:sym typeface="Times New Roman" pitchFamily="-12" charset="0"/>
              </a:rPr>
              <a:t>Fifth level</a:t>
            </a:r>
          </a:p>
        </p:txBody>
      </p:sp>
      <p:sp>
        <p:nvSpPr>
          <p:cNvPr id="10242" name="Rectangle 2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>
              <a:defRPr/>
            </a:pPr>
            <a:r>
              <a:rPr lang="en-US" sz="1900">
                <a:solidFill>
                  <a:srgbClr val="2E2F30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R. Bernstein, FNAL                                                                   Mu2e Seminar Nov 2008                                   </a:t>
            </a:r>
          </a:p>
        </p:txBody>
      </p:sp>
      <p:sp>
        <p:nvSpPr>
          <p:cNvPr id="10243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5216C438-D38B-4531-8D7D-BFBDF5E75F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11621" name="Group 4"/>
          <p:cNvGrpSpPr>
            <a:grpSpLocks/>
          </p:cNvGrpSpPr>
          <p:nvPr/>
        </p:nvGrpSpPr>
        <p:grpSpPr bwMode="auto">
          <a:xfrm>
            <a:off x="38100" y="25400"/>
            <a:ext cx="10121900" cy="838200"/>
            <a:chOff x="0" y="0"/>
            <a:chExt cx="6376" cy="528"/>
          </a:xfrm>
        </p:grpSpPr>
        <p:pic>
          <p:nvPicPr>
            <p:cNvPr id="111622" name="Picture 5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0" y="8"/>
              <a:ext cx="193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111623" name="Picture 6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5458" y="0"/>
              <a:ext cx="918" cy="5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3" r:id="rId2"/>
    <p:sldLayoutId id="2147483772" r:id="rId3"/>
    <p:sldLayoutId id="2147483771" r:id="rId4"/>
    <p:sldLayoutId id="2147483770" r:id="rId5"/>
    <p:sldLayoutId id="2147483769" r:id="rId6"/>
    <p:sldLayoutId id="2147483768" r:id="rId7"/>
    <p:sldLayoutId id="2147483767" r:id="rId8"/>
    <p:sldLayoutId id="2147483766" r:id="rId9"/>
    <p:sldLayoutId id="2147483765" r:id="rId10"/>
    <p:sldLayoutId id="2147483764" r:id="rId11"/>
  </p:sldLayoutIdLst>
  <p:transition spd="med"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Hoefler Text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Hoefler Text" pitchFamily="-12" charset="0"/>
          <a:ea typeface="ヒラギノ明朝 ProN W3" charset="-128"/>
          <a:cs typeface="ヒラギノ明朝 ProN W3" charset="-128"/>
          <a:sym typeface="Hoefler Text" pitchFamily="-12" charset="0"/>
        </a:defRPr>
      </a:lvl9pPr>
    </p:titleStyle>
    <p:bodyStyle>
      <a:lvl1pPr marL="519113" indent="-354013" algn="l" rtl="0" eaLnBrk="0" fontAlgn="base" hangingPunct="0">
        <a:spcBef>
          <a:spcPts val="4700"/>
        </a:spcBef>
        <a:spcAft>
          <a:spcPct val="0"/>
        </a:spcAft>
        <a:buSzPct val="125000"/>
        <a:buFont typeface="Times New Roman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1pPr>
      <a:lvl2pPr marL="950913" indent="-354013" algn="l" rtl="0" eaLnBrk="0" fontAlgn="base" hangingPunct="0">
        <a:spcBef>
          <a:spcPts val="4700"/>
        </a:spcBef>
        <a:spcAft>
          <a:spcPct val="0"/>
        </a:spcAft>
        <a:buSzPct val="125000"/>
        <a:buFont typeface="Times New Roman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2pPr>
      <a:lvl3pPr marL="1382713" indent="-354013" algn="l" rtl="0" eaLnBrk="0" fontAlgn="base" hangingPunct="0">
        <a:spcBef>
          <a:spcPts val="4700"/>
        </a:spcBef>
        <a:spcAft>
          <a:spcPct val="0"/>
        </a:spcAft>
        <a:buSzPct val="125000"/>
        <a:buFont typeface="Times New Roman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3pPr>
      <a:lvl4pPr marL="1827213" indent="-354013" algn="l" rtl="0" eaLnBrk="0" fontAlgn="base" hangingPunct="0">
        <a:spcBef>
          <a:spcPts val="4700"/>
        </a:spcBef>
        <a:spcAft>
          <a:spcPct val="0"/>
        </a:spcAft>
        <a:buSzPct val="125000"/>
        <a:buFont typeface="Times New Roman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4pPr>
      <a:lvl5pPr marL="2271713" indent="-354013" algn="l" rtl="0" eaLnBrk="0" fontAlgn="base" hangingPunct="0">
        <a:spcBef>
          <a:spcPts val="4700"/>
        </a:spcBef>
        <a:spcAft>
          <a:spcPct val="0"/>
        </a:spcAft>
        <a:buSzPct val="125000"/>
        <a:buFont typeface="Times New Roman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5pPr>
      <a:lvl6pPr marL="2728913" indent="-354013" algn="l" rtl="0" fontAlgn="base">
        <a:spcBef>
          <a:spcPts val="4700"/>
        </a:spcBef>
        <a:spcAft>
          <a:spcPct val="0"/>
        </a:spcAft>
        <a:buSzPct val="125000"/>
        <a:buFont typeface="Times New Roman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6pPr>
      <a:lvl7pPr marL="3186113" indent="-354013" algn="l" rtl="0" fontAlgn="base">
        <a:spcBef>
          <a:spcPts val="4700"/>
        </a:spcBef>
        <a:spcAft>
          <a:spcPct val="0"/>
        </a:spcAft>
        <a:buSzPct val="125000"/>
        <a:buFont typeface="Times New Roman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7pPr>
      <a:lvl8pPr marL="3643313" indent="-354013" algn="l" rtl="0" fontAlgn="base">
        <a:spcBef>
          <a:spcPts val="4700"/>
        </a:spcBef>
        <a:spcAft>
          <a:spcPct val="0"/>
        </a:spcAft>
        <a:buSzPct val="125000"/>
        <a:buFont typeface="Times New Roman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8pPr>
      <a:lvl9pPr marL="4100513" indent="-354013" algn="l" rtl="0" fontAlgn="base">
        <a:spcBef>
          <a:spcPts val="4700"/>
        </a:spcBef>
        <a:spcAft>
          <a:spcPct val="0"/>
        </a:spcAft>
        <a:buSzPct val="125000"/>
        <a:buFont typeface="Times New Roman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930900" y="1943100"/>
            <a:ext cx="3238500" cy="4965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Times New Roman" pitchFamily="-12" charset="0"/>
              </a:rPr>
              <a:t>Click to edit Master text styles</a:t>
            </a:r>
          </a:p>
          <a:p>
            <a:pPr lvl="1"/>
            <a:r>
              <a:rPr lang="en-US">
                <a:sym typeface="Times New Roman" pitchFamily="-12" charset="0"/>
              </a:rPr>
              <a:t>Second level</a:t>
            </a:r>
          </a:p>
          <a:p>
            <a:pPr lvl="2"/>
            <a:r>
              <a:rPr lang="en-US">
                <a:sym typeface="Times New Roman" pitchFamily="-12" charset="0"/>
              </a:rPr>
              <a:t>Third level</a:t>
            </a:r>
          </a:p>
          <a:p>
            <a:pPr lvl="3"/>
            <a:r>
              <a:rPr lang="en-US">
                <a:sym typeface="Times New Roman" pitchFamily="-12" charset="0"/>
              </a:rPr>
              <a:t>Fourth level</a:t>
            </a:r>
          </a:p>
          <a:p>
            <a:pPr lvl="4"/>
            <a:r>
              <a:rPr lang="en-US">
                <a:sym typeface="Times New Roman" pitchFamily="-12" charset="0"/>
              </a:rPr>
              <a:t>Fifth level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-330200"/>
            <a:ext cx="8178800" cy="154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Times New Roman" pitchFamily="-12" charset="0"/>
              </a:rPr>
              <a:t>Click to edit Master title style</a:t>
            </a:r>
          </a:p>
        </p:txBody>
      </p:sp>
      <p:grpSp>
        <p:nvGrpSpPr>
          <p:cNvPr id="123908" name="Group 3"/>
          <p:cNvGrpSpPr>
            <a:grpSpLocks/>
          </p:cNvGrpSpPr>
          <p:nvPr/>
        </p:nvGrpSpPr>
        <p:grpSpPr bwMode="auto">
          <a:xfrm>
            <a:off x="38100" y="38100"/>
            <a:ext cx="10077450" cy="762000"/>
            <a:chOff x="0" y="0"/>
            <a:chExt cx="6348" cy="480"/>
          </a:xfrm>
        </p:grpSpPr>
        <p:pic>
          <p:nvPicPr>
            <p:cNvPr id="123913" name="Picture 4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0" y="0"/>
              <a:ext cx="1816" cy="48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123914" name="Picture 5"/>
            <p:cNvPicPr>
              <a:picLocks noChangeAspect="1" noChangeArrowheads="1"/>
            </p:cNvPicPr>
            <p:nvPr/>
          </p:nvPicPr>
          <mc:AlternateContent xmlns:ma="http://schemas.microsoft.com/office/mac/drawingml/2008/main">
            <mc:Choice Requires="ma">
              <p:blipFill>
                <a:blip r:embed="rId15"/>
                <a:srcRect/>
                <a:stretch>
                  <a:fillRect/>
                </a:stretch>
              </p:blipFill>
            </mc:Choice>
        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a="http://schemas.microsoft.com/office/mac/drawingml/2008/main">
              <p:blipFill>
                <a:blip r:embed="rId16"/>
                <a:srcRect/>
                <a:stretch>
                  <a:fillRect/>
                </a:stretch>
              </p:blipFill>
            </mc:Fallback>
          </mc:AlternateContent>
          <p:spPr bwMode="auto">
            <a:xfrm>
              <a:off x="5880" y="0"/>
              <a:ext cx="468" cy="46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11270" name="Rectangle 6"/>
          <p:cNvSpPr>
            <a:spLocks/>
          </p:cNvSpPr>
          <p:nvPr/>
        </p:nvSpPr>
        <p:spPr bwMode="auto">
          <a:xfrm>
            <a:off x="292100" y="7169150"/>
            <a:ext cx="9575800" cy="35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 algn="ctr">
              <a:defRPr/>
            </a:pPr>
            <a:r>
              <a:rPr lang="en-US" sz="1900">
                <a:solidFill>
                  <a:srgbClr val="2E2F30"/>
                </a:solidFill>
                <a:latin typeface="Cochin" pitchFamily="-12" charset="0"/>
                <a:ea typeface="Cochin" pitchFamily="-12" charset="0"/>
                <a:cs typeface="Cochin" pitchFamily="-12" charset="0"/>
                <a:sym typeface="Cochin" pitchFamily="-12" charset="0"/>
              </a:rPr>
              <a:t>R. Bernstein, FNAL                                                                                ANL HEP Seminar   </a:t>
            </a:r>
          </a:p>
        </p:txBody>
      </p:sp>
      <p:sp>
        <p:nvSpPr>
          <p:cNvPr id="11271" name="Text Box 7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16488" y="7175500"/>
            <a:ext cx="312737" cy="35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defRPr>
            </a:lvl1pPr>
          </a:lstStyle>
          <a:p>
            <a:pPr>
              <a:defRPr/>
            </a:pPr>
            <a:fld id="{251563D4-0CD5-463F-AD41-C96169607F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23911" name="Picture 8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23912" name="Picture 9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87026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4" r:id="rId2"/>
    <p:sldLayoutId id="2147483783" r:id="rId3"/>
    <p:sldLayoutId id="2147483782" r:id="rId4"/>
    <p:sldLayoutId id="2147483781" r:id="rId5"/>
    <p:sldLayoutId id="2147483780" r:id="rId6"/>
    <p:sldLayoutId id="2147483779" r:id="rId7"/>
    <p:sldLayoutId id="2147483778" r:id="rId8"/>
    <p:sldLayoutId id="2147483777" r:id="rId9"/>
    <p:sldLayoutId id="2147483776" r:id="rId10"/>
    <p:sldLayoutId id="2147483775" r:id="rId11"/>
  </p:sldLayoutIdLst>
  <p:transition spd="med"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Times New Roman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Times New Roman" pitchFamily="-12" charset="0"/>
          <a:ea typeface="ヒラギノ明朝 ProN W3" charset="-128"/>
          <a:cs typeface="ヒラギノ明朝 ProN W3" charset="-128"/>
          <a:sym typeface="Times New Roman" pitchFamily="-12" charset="0"/>
        </a:defRPr>
      </a:lvl9pPr>
    </p:titleStyle>
    <p:bodyStyle>
      <a:lvl1pPr marL="4968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1pPr>
      <a:lvl2pPr marL="9286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2pPr>
      <a:lvl3pPr marL="13604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3pPr>
      <a:lvl4pPr marL="18049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4pPr>
      <a:lvl5pPr marL="2249488" indent="-331788" algn="l" rtl="0" eaLnBrk="0" fontAlgn="base" hangingPunct="0">
        <a:spcBef>
          <a:spcPts val="3400"/>
        </a:spcBef>
        <a:spcAft>
          <a:spcPct val="0"/>
        </a:spcAft>
        <a:buSzPct val="125000"/>
        <a:buFont typeface="Times New Roman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charset="0"/>
        </a:defRPr>
      </a:lvl5pPr>
      <a:lvl6pPr marL="2706688" indent="-331788" algn="l" rtl="0" fontAlgn="base">
        <a:spcBef>
          <a:spcPts val="3400"/>
        </a:spcBef>
        <a:spcAft>
          <a:spcPct val="0"/>
        </a:spcAft>
        <a:buSzPct val="125000"/>
        <a:buFont typeface="Times New Roman" pitchFamily="-12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6pPr>
      <a:lvl7pPr marL="3163888" indent="-331788" algn="l" rtl="0" fontAlgn="base">
        <a:spcBef>
          <a:spcPts val="3400"/>
        </a:spcBef>
        <a:spcAft>
          <a:spcPct val="0"/>
        </a:spcAft>
        <a:buSzPct val="125000"/>
        <a:buFont typeface="Times New Roman" pitchFamily="-12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7pPr>
      <a:lvl8pPr marL="3621088" indent="-331788" algn="l" rtl="0" fontAlgn="base">
        <a:spcBef>
          <a:spcPts val="3400"/>
        </a:spcBef>
        <a:spcAft>
          <a:spcPct val="0"/>
        </a:spcAft>
        <a:buSzPct val="125000"/>
        <a:buFont typeface="Times New Roman" pitchFamily="-12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8pPr>
      <a:lvl9pPr marL="4078288" indent="-331788" algn="l" rtl="0" fontAlgn="base">
        <a:spcBef>
          <a:spcPts val="3400"/>
        </a:spcBef>
        <a:spcAft>
          <a:spcPct val="0"/>
        </a:spcAft>
        <a:buSzPct val="125000"/>
        <a:buFont typeface="Times New Roman" pitchFamily="-12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  <a:sym typeface="Times New Roman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943100"/>
            <a:ext cx="8178800" cy="4965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-12" charset="0"/>
              </a:rPr>
              <a:t>Second level</a:t>
            </a:r>
          </a:p>
          <a:p>
            <a:pPr lvl="2"/>
            <a:r>
              <a:rPr lang="en-US">
                <a:sym typeface="Arial" pitchFamily="-12" charset="0"/>
              </a:rPr>
              <a:t>Third level</a:t>
            </a:r>
          </a:p>
          <a:p>
            <a:pPr lvl="3"/>
            <a:r>
              <a:rPr lang="en-US">
                <a:sym typeface="Arial" pitchFamily="-12" charset="0"/>
              </a:rPr>
              <a:t>Fourth level</a:t>
            </a:r>
          </a:p>
          <a:p>
            <a:pPr lvl="4"/>
            <a:r>
              <a:rPr lang="en-US">
                <a:sym typeface="Arial" pitchFamily="-12" charset="0"/>
              </a:rPr>
              <a:t>Fifth level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-330200"/>
            <a:ext cx="8178800" cy="154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title style</a:t>
            </a:r>
          </a:p>
        </p:txBody>
      </p:sp>
      <p:sp>
        <p:nvSpPr>
          <p:cNvPr id="12291" name="Rectangle 3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>
              <a:defRPr/>
            </a:pPr>
            <a:r>
              <a:rPr lang="en-US" sz="1900">
                <a:solidFill>
                  <a:srgbClr val="2E2F30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R. Bernstein, FNAL                                                                   Mu2e Seminar Nov 2008</a:t>
            </a:r>
          </a:p>
        </p:txBody>
      </p:sp>
      <p:sp>
        <p:nvSpPr>
          <p:cNvPr id="12292" name="Text Box 4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+mn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01C5951F-00C0-415C-A809-E1B2895EE0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36198" name="Picture 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36199" name="Picture 6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5" r:id="rId2"/>
    <p:sldLayoutId id="2147483794" r:id="rId3"/>
    <p:sldLayoutId id="2147483793" r:id="rId4"/>
    <p:sldLayoutId id="2147483792" r:id="rId5"/>
    <p:sldLayoutId id="2147483791" r:id="rId6"/>
    <p:sldLayoutId id="2147483790" r:id="rId7"/>
    <p:sldLayoutId id="2147483789" r:id="rId8"/>
    <p:sldLayoutId id="2147483788" r:id="rId9"/>
    <p:sldLayoutId id="2147483787" r:id="rId10"/>
    <p:sldLayoutId id="2147483786" r:id="rId11"/>
  </p:sldLayoutIdLst>
  <p:transition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5191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9509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3827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8272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2717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7289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6pPr>
      <a:lvl7pPr marL="31861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7pPr>
      <a:lvl8pPr marL="36433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8pPr>
      <a:lvl9pPr marL="41005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943100"/>
            <a:ext cx="8178800" cy="4965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-12" charset="0"/>
              </a:rPr>
              <a:t>Second level</a:t>
            </a:r>
          </a:p>
          <a:p>
            <a:pPr lvl="2"/>
            <a:r>
              <a:rPr lang="en-US">
                <a:sym typeface="Arial" pitchFamily="-12" charset="0"/>
              </a:rPr>
              <a:t>Third level</a:t>
            </a:r>
          </a:p>
          <a:p>
            <a:pPr lvl="3"/>
            <a:r>
              <a:rPr lang="en-US">
                <a:sym typeface="Arial" pitchFamily="-12" charset="0"/>
              </a:rPr>
              <a:t>Fourth level</a:t>
            </a:r>
          </a:p>
          <a:p>
            <a:pPr lvl="4"/>
            <a:r>
              <a:rPr lang="en-US">
                <a:sym typeface="Arial" pitchFamily="-12" charset="0"/>
              </a:rPr>
              <a:t>Fifth level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-330200"/>
            <a:ext cx="8178800" cy="154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title style</a:t>
            </a:r>
          </a:p>
        </p:txBody>
      </p:sp>
      <p:sp>
        <p:nvSpPr>
          <p:cNvPr id="13315" name="Rectangle 3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>
              <a:defRPr/>
            </a:pPr>
            <a:r>
              <a:rPr lang="en-US" sz="1900">
                <a:solidFill>
                  <a:srgbClr val="2E2F30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R. Bernstein, FNAL                                                                   Mu2e Seminar Nov 2008</a:t>
            </a:r>
          </a:p>
        </p:txBody>
      </p:sp>
      <p:sp>
        <p:nvSpPr>
          <p:cNvPr id="13316" name="Text Box 4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+mn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84182DAC-A1ED-4C3A-8246-F719D1C3C5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8486" name="Picture 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48487" name="Picture 6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6" r:id="rId2"/>
    <p:sldLayoutId id="2147483805" r:id="rId3"/>
    <p:sldLayoutId id="2147483804" r:id="rId4"/>
    <p:sldLayoutId id="2147483803" r:id="rId5"/>
    <p:sldLayoutId id="2147483802" r:id="rId6"/>
    <p:sldLayoutId id="2147483801" r:id="rId7"/>
    <p:sldLayoutId id="2147483800" r:id="rId8"/>
    <p:sldLayoutId id="2147483799" r:id="rId9"/>
    <p:sldLayoutId id="2147483798" r:id="rId10"/>
    <p:sldLayoutId id="2147483797" r:id="rId11"/>
  </p:sldLayoutIdLst>
  <p:transition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5191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9509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3827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8272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2717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7289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6pPr>
      <a:lvl7pPr marL="31861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7pPr>
      <a:lvl8pPr marL="36433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8pPr>
      <a:lvl9pPr marL="41005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943100"/>
            <a:ext cx="8178800" cy="4965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-12" charset="0"/>
              </a:rPr>
              <a:t>Second level</a:t>
            </a:r>
          </a:p>
          <a:p>
            <a:pPr lvl="2"/>
            <a:r>
              <a:rPr lang="en-US">
                <a:sym typeface="Arial" pitchFamily="-12" charset="0"/>
              </a:rPr>
              <a:t>Third level</a:t>
            </a:r>
          </a:p>
          <a:p>
            <a:pPr lvl="3"/>
            <a:r>
              <a:rPr lang="en-US">
                <a:sym typeface="Arial" pitchFamily="-12" charset="0"/>
              </a:rPr>
              <a:t>Fourth level</a:t>
            </a:r>
          </a:p>
          <a:p>
            <a:pPr lvl="4"/>
            <a:r>
              <a:rPr lang="en-US">
                <a:sym typeface="Arial" pitchFamily="-12" charset="0"/>
              </a:rPr>
              <a:t>Fifth level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-330200"/>
            <a:ext cx="8178800" cy="154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title style</a:t>
            </a:r>
          </a:p>
        </p:txBody>
      </p:sp>
      <p:sp>
        <p:nvSpPr>
          <p:cNvPr id="14339" name="Rectangle 3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>
              <a:defRPr/>
            </a:pPr>
            <a:r>
              <a:rPr lang="en-US" sz="1900">
                <a:solidFill>
                  <a:srgbClr val="2E2F30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R. Bernstein, FNAL                                                                   Mu2e Seminar Nov 2008</a:t>
            </a:r>
          </a:p>
        </p:txBody>
      </p:sp>
      <p:sp>
        <p:nvSpPr>
          <p:cNvPr id="14340" name="Text Box 4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+mn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C29F0D5B-A206-4C12-B40C-D150FA6E98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0774" name="Picture 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60775" name="Picture 6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7" r:id="rId2"/>
    <p:sldLayoutId id="2147483816" r:id="rId3"/>
    <p:sldLayoutId id="2147483815" r:id="rId4"/>
    <p:sldLayoutId id="2147483814" r:id="rId5"/>
    <p:sldLayoutId id="2147483813" r:id="rId6"/>
    <p:sldLayoutId id="2147483812" r:id="rId7"/>
    <p:sldLayoutId id="2147483811" r:id="rId8"/>
    <p:sldLayoutId id="2147483810" r:id="rId9"/>
    <p:sldLayoutId id="2147483809" r:id="rId10"/>
    <p:sldLayoutId id="2147483808" r:id="rId11"/>
  </p:sldLayoutIdLst>
  <p:transition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5191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9509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3827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8272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271713" indent="-354013" algn="l" rtl="0" eaLnBrk="0" fontAlgn="base" hangingPunct="0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7289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6pPr>
      <a:lvl7pPr marL="31861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7pPr>
      <a:lvl8pPr marL="36433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8pPr>
      <a:lvl9pPr marL="4100513" indent="-354013" algn="l" rtl="0" fontAlgn="base">
        <a:spcBef>
          <a:spcPts val="2700"/>
        </a:spcBef>
        <a:spcAft>
          <a:spcPct val="0"/>
        </a:spcAft>
        <a:buClr>
          <a:srgbClr val="43412C"/>
        </a:buClr>
        <a:buSzPct val="125000"/>
        <a:buFont typeface="Arial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25500" y="-355600"/>
            <a:ext cx="8178800" cy="154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title style</a:t>
            </a:r>
          </a:p>
        </p:txBody>
      </p:sp>
      <p:sp>
        <p:nvSpPr>
          <p:cNvPr id="15362" name="Rectangle 2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>
              <a:defRPr/>
            </a:pPr>
            <a:r>
              <a:rPr lang="en-US" sz="1900">
                <a:solidFill>
                  <a:srgbClr val="2E2F30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R. Bernstein, FNAL                                                                   Mu2e Seminar Nov 2008</a:t>
            </a:r>
          </a:p>
        </p:txBody>
      </p:sp>
      <p:sp>
        <p:nvSpPr>
          <p:cNvPr id="15363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+mj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F115EBBE-BCDC-4FB4-8ED5-D80B85F767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73061" name="Picture 4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73062" name="Picture 5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651875" y="1143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28" r:id="rId2"/>
    <p:sldLayoutId id="2147483827" r:id="rId3"/>
    <p:sldLayoutId id="2147483826" r:id="rId4"/>
    <p:sldLayoutId id="2147483825" r:id="rId5"/>
    <p:sldLayoutId id="2147483824" r:id="rId6"/>
    <p:sldLayoutId id="2147483823" r:id="rId7"/>
    <p:sldLayoutId id="2147483822" r:id="rId8"/>
    <p:sldLayoutId id="2147483821" r:id="rId9"/>
    <p:sldLayoutId id="2147483820" r:id="rId10"/>
    <p:sldLayoutId id="2147483819" r:id="rId11"/>
  </p:sldLayoutIdLst>
  <p:transition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5699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1pPr>
      <a:lvl2pPr marL="10017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2pPr>
      <a:lvl3pPr marL="14335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3pPr>
      <a:lvl4pPr marL="18780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4pPr>
      <a:lvl5pPr marL="23225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5pPr>
      <a:lvl6pPr marL="27797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6pPr>
      <a:lvl7pPr marL="32369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7pPr>
      <a:lvl8pPr marL="36941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8pPr>
      <a:lvl9pPr marL="41513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>
              <a:defRPr/>
            </a:pPr>
            <a:r>
              <a:rPr lang="en-US" sz="1900">
                <a:solidFill>
                  <a:srgbClr val="2E2F30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R. Bernstein, FNAL                                                                   Mu2e Seminar Nov 2008</a:t>
            </a:r>
          </a:p>
        </p:txBody>
      </p:sp>
      <p:sp>
        <p:nvSpPr>
          <p:cNvPr id="16386" name="Text Box 2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+mj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CCBDD43F-312D-47A7-9B86-B04DF447E6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5348" name="Picture 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85349" name="Picture 4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6391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39" r:id="rId2"/>
    <p:sldLayoutId id="2147483838" r:id="rId3"/>
    <p:sldLayoutId id="2147483837" r:id="rId4"/>
    <p:sldLayoutId id="2147483836" r:id="rId5"/>
    <p:sldLayoutId id="2147483835" r:id="rId6"/>
    <p:sldLayoutId id="2147483834" r:id="rId7"/>
    <p:sldLayoutId id="2147483833" r:id="rId8"/>
    <p:sldLayoutId id="2147483832" r:id="rId9"/>
    <p:sldLayoutId id="2147483831" r:id="rId10"/>
    <p:sldLayoutId id="2147483830" r:id="rId11"/>
  </p:sldLayoutIdLst>
  <p:transition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5699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1pPr>
      <a:lvl2pPr marL="10017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2pPr>
      <a:lvl3pPr marL="14335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3pPr>
      <a:lvl4pPr marL="18780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4pPr>
      <a:lvl5pPr marL="23225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5pPr>
      <a:lvl6pPr marL="27797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6pPr>
      <a:lvl7pPr marL="32369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7pPr>
      <a:lvl8pPr marL="36941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8pPr>
      <a:lvl9pPr marL="41513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25500" y="-355600"/>
            <a:ext cx="8178800" cy="1549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pitchFamily="-12" charset="0"/>
              </a:rPr>
              <a:t>Click to edit Master title style</a:t>
            </a:r>
          </a:p>
        </p:txBody>
      </p:sp>
      <p:sp>
        <p:nvSpPr>
          <p:cNvPr id="17410" name="Rectangle 2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>
              <a:defRPr/>
            </a:pPr>
            <a:r>
              <a:rPr lang="en-US" sz="1900">
                <a:solidFill>
                  <a:srgbClr val="2E2F30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R. Bernstein, FNAL                                                                   Mu2e Seminar Nov 2008</a:t>
            </a:r>
          </a:p>
        </p:txBody>
      </p:sp>
      <p:sp>
        <p:nvSpPr>
          <p:cNvPr id="17411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 sz="1800">
                <a:solidFill>
                  <a:schemeClr val="tx1"/>
                </a:solidFill>
                <a:latin typeface="+mj-lt"/>
                <a:ea typeface="Arial" pitchFamily="-12" charset="0"/>
                <a:cs typeface="Arial" pitchFamily="-12" charset="0"/>
                <a:sym typeface="Arial" pitchFamily="-12" charset="0"/>
              </a:defRPr>
            </a:lvl1pPr>
          </a:lstStyle>
          <a:p>
            <a:pPr>
              <a:defRPr/>
            </a:pPr>
            <a:fld id="{79E9E70F-F177-4D56-985D-E47239FC4B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97637" name="Picture 4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97638" name="Picture 5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651875" y="1143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0" r:id="rId2"/>
    <p:sldLayoutId id="2147483849" r:id="rId3"/>
    <p:sldLayoutId id="2147483848" r:id="rId4"/>
    <p:sldLayoutId id="2147483847" r:id="rId5"/>
    <p:sldLayoutId id="2147483846" r:id="rId6"/>
    <p:sldLayoutId id="2147483845" r:id="rId7"/>
    <p:sldLayoutId id="2147483844" r:id="rId8"/>
    <p:sldLayoutId id="2147483843" r:id="rId9"/>
    <p:sldLayoutId id="2147483842" r:id="rId10"/>
    <p:sldLayoutId id="2147483841" r:id="rId11"/>
  </p:sldLayoutIdLst>
  <p:transition/>
  <p:hf hdr="0" dt="0"/>
  <p:txStyles>
    <p:titleStyle>
      <a:lvl1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2pPr>
      <a:lvl3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3pPr>
      <a:lvl4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4pPr>
      <a:lvl5pPr algn="ctr" rtl="0" eaLnBrk="0" fontAlgn="base" hangingPunct="0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charset="0"/>
        </a:defRPr>
      </a:lvl5pPr>
      <a:lvl6pPr marL="4572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6pPr>
      <a:lvl7pPr marL="9144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7pPr>
      <a:lvl8pPr marL="13716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8pPr>
      <a:lvl9pPr marL="1828800" algn="ctr" rtl="0" fontAlgn="base">
        <a:spcBef>
          <a:spcPts val="200"/>
        </a:spcBef>
        <a:spcAft>
          <a:spcPct val="0"/>
        </a:spcAft>
        <a:defRPr sz="5000">
          <a:solidFill>
            <a:schemeClr val="tx1"/>
          </a:solidFill>
          <a:latin typeface="Arial" pitchFamily="-12" charset="0"/>
          <a:ea typeface="ヒラギノ角ゴ ProN W3" charset="-128"/>
          <a:cs typeface="ヒラギノ角ゴ ProN W3" charset="-128"/>
          <a:sym typeface="Arial" pitchFamily="-12" charset="0"/>
        </a:defRPr>
      </a:lvl9pPr>
    </p:titleStyle>
    <p:bodyStyle>
      <a:lvl1pPr marL="5699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1pPr>
      <a:lvl2pPr marL="10017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2pPr>
      <a:lvl3pPr marL="14335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3pPr>
      <a:lvl4pPr marL="18780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4pPr>
      <a:lvl5pPr marL="2322513" indent="-354013" algn="l" rtl="0" eaLnBrk="0" fontAlgn="base" hangingPunct="0">
        <a:spcBef>
          <a:spcPts val="2700"/>
        </a:spcBef>
        <a:spcAft>
          <a:spcPct val="0"/>
        </a:spcAft>
        <a:buSzPct val="125000"/>
        <a:buFont typeface="Hoefler Tex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charset="0"/>
        </a:defRPr>
      </a:lvl5pPr>
      <a:lvl6pPr marL="27797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6pPr>
      <a:lvl7pPr marL="32369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7pPr>
      <a:lvl8pPr marL="36941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8pPr>
      <a:lvl9pPr marL="4151313" indent="-354013" algn="l" rtl="0" fontAlgn="base">
        <a:spcBef>
          <a:spcPts val="2700"/>
        </a:spcBef>
        <a:spcAft>
          <a:spcPct val="0"/>
        </a:spcAft>
        <a:buSzPct val="125000"/>
        <a:buFont typeface="Hoefler Text" pitchFamily="-12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Hoefler Text" pitchFamily="-12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6" Type="http://schemas.openxmlformats.org/officeDocument/2006/relationships/image" Target="../media/image12.pd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5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7" Type="http://schemas.openxmlformats.org/officeDocument/2006/relationships/image" Target="../media/image18.png"/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6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5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4" Type="http://schemas.openxmlformats.org/officeDocument/2006/relationships/image" Target="../media/image30.png"/><Relationship Id="rId4" Type="http://schemas.openxmlformats.org/officeDocument/2006/relationships/image" Target="../media/image1.jpeg"/><Relationship Id="rId7" Type="http://schemas.openxmlformats.org/officeDocument/2006/relationships/image" Target="../media/image23.pdf"/><Relationship Id="rId11" Type="http://schemas.openxmlformats.org/officeDocument/2006/relationships/image" Target="../media/image27.pd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16" Type="http://schemas.openxmlformats.org/officeDocument/2006/relationships/image" Target="../media/image32.png"/><Relationship Id="rId8" Type="http://schemas.openxmlformats.org/officeDocument/2006/relationships/image" Target="../media/image24.png"/><Relationship Id="rId13" Type="http://schemas.openxmlformats.org/officeDocument/2006/relationships/image" Target="../media/image29.pdf"/><Relationship Id="rId10" Type="http://schemas.openxmlformats.org/officeDocument/2006/relationships/image" Target="../media/image26.png"/><Relationship Id="rId5" Type="http://schemas.openxmlformats.org/officeDocument/2006/relationships/image" Target="../media/image21.pdf"/><Relationship Id="rId15" Type="http://schemas.openxmlformats.org/officeDocument/2006/relationships/image" Target="../media/image31.pdf"/><Relationship Id="rId12" Type="http://schemas.openxmlformats.org/officeDocument/2006/relationships/image" Target="../media/image28.png"/><Relationship Id="rId2" Type="http://schemas.openxmlformats.org/officeDocument/2006/relationships/image" Target="../media/image2.png"/><Relationship Id="rId9" Type="http://schemas.openxmlformats.org/officeDocument/2006/relationships/image" Target="../media/image25.pdf"/><Relationship Id="rId3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4.png"/><Relationship Id="rId1" Type="http://schemas.openxmlformats.org/officeDocument/2006/relationships/slideLayout" Target="../slideLayouts/slideLayout4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4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5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7.png"/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5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5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df"/><Relationship Id="rId3" Type="http://schemas.openxmlformats.org/officeDocument/2006/relationships/image" Target="../media/image41.png"/><Relationship Id="rId1" Type="http://schemas.openxmlformats.org/officeDocument/2006/relationships/slideLayout" Target="../slideLayouts/slideLayout5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2.png"/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5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4.png"/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5.png"/><Relationship Id="rId3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image" Target="../media/image4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46.png"/><Relationship Id="rId3" Type="http://schemas.openxmlformats.org/officeDocument/2006/relationships/image" Target="../media/image2.png"/><Relationship Id="rId5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0100AE-9291-4251-B601-0AD619B16181}" type="slidenum">
              <a:rPr lang="en-US"/>
              <a:pPr>
                <a:defRPr/>
              </a:pPr>
              <a:t>1</a:t>
            </a:fld>
            <a:endParaRPr lang="en-US"/>
          </a:p>
        </p:txBody>
      </p:sp>
      <p:pic>
        <p:nvPicPr>
          <p:cNvPr id="210946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27400" y="4191000"/>
            <a:ext cx="3621088" cy="984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grpSp>
        <p:nvGrpSpPr>
          <p:cNvPr id="210948" name="Group 3"/>
          <p:cNvGrpSpPr>
            <a:grpSpLocks/>
          </p:cNvGrpSpPr>
          <p:nvPr/>
        </p:nvGrpSpPr>
        <p:grpSpPr bwMode="auto">
          <a:xfrm>
            <a:off x="38100" y="25400"/>
            <a:ext cx="10121900" cy="838200"/>
            <a:chOff x="0" y="0"/>
            <a:chExt cx="6376" cy="528"/>
          </a:xfrm>
        </p:grpSpPr>
        <p:pic>
          <p:nvPicPr>
            <p:cNvPr id="210951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8"/>
              <a:ext cx="193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210952" name="Picture 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458" y="0"/>
              <a:ext cx="918" cy="5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</p:pic>
      </p:grpSp>
      <p:sp>
        <p:nvSpPr>
          <p:cNvPr id="18438" name="Rectangle 6"/>
          <p:cNvSpPr>
            <a:spLocks noGrp="1" noChangeArrowheads="1"/>
          </p:cNvSpPr>
          <p:nvPr>
            <p:ph type="title"/>
          </p:nvPr>
        </p:nvSpPr>
        <p:spPr>
          <a:xfrm>
            <a:off x="965200" y="-685800"/>
            <a:ext cx="8178800" cy="4648200"/>
          </a:xfrm>
        </p:spPr>
        <p:txBody>
          <a:bodyPr/>
          <a:lstStyle/>
          <a:p>
            <a:pPr eaLnBrk="1" hangingPunct="1">
              <a:tabLst>
                <a:tab pos="952500" algn="l"/>
                <a:tab pos="952500" algn="l"/>
                <a:tab pos="952500" algn="l"/>
              </a:tabLst>
              <a:defRPr/>
            </a:pPr>
            <a:r>
              <a:rPr lang="en-US" sz="4600" dirty="0" smtClean="0">
                <a:sym typeface="Arial" pitchFamily="-12" charset="0"/>
              </a:rPr>
              <a:t>Overview </a:t>
            </a:r>
            <a:br>
              <a:rPr lang="en-US" sz="4600" dirty="0" smtClean="0">
                <a:sym typeface="Arial" pitchFamily="-12" charset="0"/>
              </a:rPr>
            </a:br>
            <a:r>
              <a:rPr lang="en-US" sz="4600" dirty="0" smtClean="0">
                <a:sym typeface="Arial" pitchFamily="-12" charset="0"/>
              </a:rPr>
              <a:t>and </a:t>
            </a:r>
            <a:br>
              <a:rPr lang="en-US" sz="4600" dirty="0" smtClean="0">
                <a:sym typeface="Arial" pitchFamily="-12" charset="0"/>
              </a:rPr>
            </a:br>
            <a:r>
              <a:rPr lang="en-US" sz="4600" dirty="0" smtClean="0">
                <a:sym typeface="Arial" pitchFamily="-12" charset="0"/>
              </a:rPr>
              <a:t>Challenges for Upgrades:</a:t>
            </a:r>
            <a:br>
              <a:rPr lang="en-US" sz="4600" dirty="0" smtClean="0">
                <a:sym typeface="Arial" pitchFamily="-12" charset="0"/>
              </a:rPr>
            </a:br>
            <a:r>
              <a:rPr lang="en-US" sz="4600" dirty="0">
                <a:sym typeface="Arial" pitchFamily="-12" charset="0"/>
              </a:rPr>
              <a:t>Muon-Electron Conversion</a:t>
            </a:r>
            <a:br>
              <a:rPr lang="en-US" sz="4600" dirty="0">
                <a:sym typeface="Arial" pitchFamily="-12" charset="0"/>
              </a:rPr>
            </a:br>
            <a:r>
              <a:rPr lang="en-US" sz="4600" dirty="0">
                <a:sym typeface="Arial" pitchFamily="-12" charset="0"/>
              </a:rPr>
              <a:t>at FNAL</a:t>
            </a:r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90600" y="4559300"/>
            <a:ext cx="8178800" cy="2311400"/>
          </a:xfrm>
        </p:spPr>
        <p:txBody>
          <a:bodyPr/>
          <a:lstStyle/>
          <a:p>
            <a:pPr marL="0" indent="0" eaLnBrk="1" hangingPunct="1">
              <a:tabLst>
                <a:tab pos="952500" algn="l"/>
                <a:tab pos="952500" algn="l"/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R. Bernstein</a:t>
            </a:r>
          </a:p>
          <a:p>
            <a:pPr marL="0" indent="0" eaLnBrk="1" hangingPunct="1">
              <a:tabLst>
                <a:tab pos="952500" algn="l"/>
                <a:tab pos="952500" algn="l"/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Fermilab</a:t>
            </a:r>
          </a:p>
          <a:p>
            <a:pPr marL="0" indent="0" eaLnBrk="1" hangingPunct="1">
              <a:tabLst>
                <a:tab pos="952500" algn="l"/>
                <a:tab pos="952500" algn="l"/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for the Mu2e Collaboration</a:t>
            </a:r>
          </a:p>
        </p:txBody>
      </p:sp>
      <p:sp>
        <p:nvSpPr>
          <p:cNvPr id="10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EB75ED-128F-4A08-970D-0CE32FA426AA}" type="slidenum">
              <a:rPr lang="en-US"/>
              <a:pPr>
                <a:defRPr/>
              </a:pPr>
              <a:t>2</a:t>
            </a:fld>
            <a:endParaRPr lang="en-US"/>
          </a:p>
        </p:txBody>
      </p:sp>
      <p:pic>
        <p:nvPicPr>
          <p:cNvPr id="21197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197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51875" y="1143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19460" name="Rectangle 4"/>
          <p:cNvSpPr>
            <a:spLocks/>
          </p:cNvSpPr>
          <p:nvPr/>
        </p:nvSpPr>
        <p:spPr bwMode="auto">
          <a:xfrm>
            <a:off x="-12700" y="0"/>
            <a:ext cx="10183813" cy="7366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R.M. Carey, K.R. Lynch, J.P. Miller*, B.L. Roberts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Boston University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W.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Marciano,Y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Semertzidis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P.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Yamin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Brookhaven National Laboratory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Yu.G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Kolomensky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University of California, Berkeley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C.M.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Ankenbrandt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 , R.H. Bernstein*, D.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Bogert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S.J. Brice, D.R.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Broemmelsiek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R. Coleman, D.F.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DeJongh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S. Geer,  R.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Kutschke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M.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Lamm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</a:t>
            </a: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M.A. Martens, S.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Nagaitsev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D.V.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Neuffer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M.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Popovic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E.J.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Prebys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M.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Syphers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R.E. Ray,</a:t>
            </a:r>
            <a:r>
              <a:rPr lang="en-US" sz="1000" b="1" dirty="0" smtClean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 R. </a:t>
            </a:r>
            <a:r>
              <a:rPr lang="en-US" sz="1000" b="1" dirty="0" err="1" smtClean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Tschirhart</a:t>
            </a:r>
            <a:r>
              <a:rPr lang="en-US" sz="1000" b="1" dirty="0" smtClean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H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.B. White, K.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Yonehara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C.Y. Yoshikawa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Fermi National Accelerator Laboratory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D. Dale, K.J.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Keeter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E. Tatar</a:t>
            </a: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Idaho State University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W.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Molzon</a:t>
            </a:r>
            <a:endParaRPr lang="en-US" sz="1000" b="1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University of California, Irvine</a:t>
            </a: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b="1" i="1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P.T.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Debevec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G.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Gollin,D.W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. Hertzog, P.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Kammel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University of Illinois, Urbana-Champaign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89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F.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Cervelli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R.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Carosi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M.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Incagli,T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Lomtadze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L.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Ristori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F.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Scuri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C.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Vannini</a:t>
            </a:r>
            <a:endParaRPr lang="en-US" sz="1000" b="1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1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i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Istituto</a:t>
            </a:r>
            <a:r>
              <a:rPr lang="en-US" sz="10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 </a:t>
            </a:r>
            <a:r>
              <a:rPr lang="en-US" sz="1000" i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Nazionale</a:t>
            </a:r>
            <a:r>
              <a:rPr lang="en-US" sz="10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 </a:t>
            </a:r>
            <a:r>
              <a:rPr lang="en-US" sz="1000" i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di</a:t>
            </a:r>
            <a:r>
              <a:rPr lang="en-US" sz="10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 </a:t>
            </a:r>
            <a:r>
              <a:rPr lang="en-US" sz="1000" i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Fisica</a:t>
            </a:r>
            <a:r>
              <a:rPr lang="en-US" sz="10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 </a:t>
            </a:r>
            <a:r>
              <a:rPr lang="en-US" sz="1000" i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Nucleare</a:t>
            </a:r>
            <a:r>
              <a:rPr lang="en-US" sz="10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 Pisa, </a:t>
            </a:r>
            <a:r>
              <a:rPr lang="en-US" sz="1000" i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Università</a:t>
            </a:r>
            <a:r>
              <a:rPr lang="en-US" sz="10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 Di Pisa</a:t>
            </a:r>
            <a:endParaRPr lang="en-US" sz="1800" dirty="0">
              <a:latin typeface="Times New Roman Italic" charset="0"/>
              <a:ea typeface="Times New Roman Italic" charset="0"/>
              <a:cs typeface="Times New Roman Italic" charset="0"/>
              <a:sym typeface="Times New Roman Italic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V.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Lobashev</a:t>
            </a:r>
            <a:endParaRPr lang="en-US" sz="1000" b="1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Institute for Nuclear Research, Moscow, Russia</a:t>
            </a:r>
            <a:endParaRPr lang="en-US" sz="11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i="1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D.M.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Kawall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K.S. Kumar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University of Massachusetts, Amherst</a:t>
            </a: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solidFill>
                  <a:srgbClr val="FF0000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R.J. Abrams, M.A.C. Cummings, R.P. Johnson, S.A. </a:t>
            </a:r>
            <a:r>
              <a:rPr lang="en-US" sz="1000" b="1" dirty="0" err="1">
                <a:solidFill>
                  <a:srgbClr val="FF0000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Kahn,S.A</a:t>
            </a:r>
            <a:r>
              <a:rPr lang="en-US" sz="1000" b="1" dirty="0">
                <a:solidFill>
                  <a:srgbClr val="FF0000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. </a:t>
            </a:r>
            <a:r>
              <a:rPr lang="en-US" sz="1000" b="1" dirty="0" err="1">
                <a:solidFill>
                  <a:srgbClr val="FF0000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Korenev</a:t>
            </a:r>
            <a:r>
              <a:rPr lang="en-US" sz="1000" b="1" dirty="0">
                <a:solidFill>
                  <a:srgbClr val="FF0000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T.J. Roberts, R.C. </a:t>
            </a:r>
            <a:r>
              <a:rPr lang="en-US" sz="1000" b="1" dirty="0" err="1">
                <a:solidFill>
                  <a:srgbClr val="FF0000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Sah</a:t>
            </a:r>
            <a:endParaRPr lang="en-US" sz="1000" dirty="0">
              <a:solidFill>
                <a:srgbClr val="FF0000"/>
              </a:solidFill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solidFill>
                  <a:srgbClr val="FF0000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Muons, Inc.</a:t>
            </a:r>
            <a:endParaRPr lang="en-US" sz="1000" dirty="0">
              <a:solidFill>
                <a:srgbClr val="FF0000"/>
              </a:solidFill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J.L. Popp</a:t>
            </a: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City University of New York, York</a:t>
            </a:r>
          </a:p>
          <a:p>
            <a:pPr marL="1384300" indent="-1384300" algn="ctr">
              <a:lnSpc>
                <a:spcPct val="91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dirty="0">
              <a:latin typeface="Helvetica" pitchFamily="-12" charset="0"/>
              <a:ea typeface="Helvetica" pitchFamily="-12" charset="0"/>
              <a:cs typeface="Helvetica" pitchFamily="-12" charset="0"/>
              <a:sym typeface="Helvetica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A.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DeGouvea</a:t>
            </a:r>
            <a:endParaRPr lang="en-US" sz="1000" b="1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Northwestern University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b="1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M. Corcoran</a:t>
            </a: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Rice University</a:t>
            </a: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R.S. Holmes, P.A. Souder</a:t>
            </a: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Syracuse University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M.A.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Bychkov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E.C. Dukes, E.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Frlez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R.J.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Hirosky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A.J. Norman, K.D.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Paschke</a:t>
            </a:r>
            <a:r>
              <a:rPr lang="en-US" sz="1000" b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, D. </a:t>
            </a:r>
            <a:r>
              <a:rPr lang="en-US" sz="1000" b="1" dirty="0" err="1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Pocanic</a:t>
            </a:r>
            <a:endParaRPr lang="en-US" sz="10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sz="1100" i="1" dirty="0"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University of Virginia</a:t>
            </a:r>
            <a:endParaRPr lang="en-US" sz="11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  <a:p>
            <a:pPr marL="1384300" indent="-1384300" algn="ctr">
              <a:lnSpc>
                <a:spcPct val="96000"/>
              </a:lnSpc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sz="2700" dirty="0"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</p:txBody>
      </p:sp>
      <p:sp>
        <p:nvSpPr>
          <p:cNvPr id="19461" name="Rectangle 5"/>
          <p:cNvSpPr>
            <a:spLocks/>
          </p:cNvSpPr>
          <p:nvPr/>
        </p:nvSpPr>
        <p:spPr bwMode="auto">
          <a:xfrm>
            <a:off x="1411288" y="-1073150"/>
            <a:ext cx="2289175" cy="901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60 physicists,</a:t>
            </a:r>
          </a:p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15 institutions</a:t>
            </a:r>
          </a:p>
        </p:txBody>
      </p:sp>
      <p:sp>
        <p:nvSpPr>
          <p:cNvPr id="19463" name="Rectangle 7"/>
          <p:cNvSpPr>
            <a:spLocks/>
          </p:cNvSpPr>
          <p:nvPr/>
        </p:nvSpPr>
        <p:spPr bwMode="auto">
          <a:xfrm>
            <a:off x="212725" y="2438400"/>
            <a:ext cx="3257550" cy="698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 sz="4200" dirty="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Collaboration</a:t>
            </a:r>
          </a:p>
        </p:txBody>
      </p:sp>
      <p:sp>
        <p:nvSpPr>
          <p:cNvPr id="19464" name="Rectangle 8"/>
          <p:cNvSpPr>
            <a:spLocks/>
          </p:cNvSpPr>
          <p:nvPr/>
        </p:nvSpPr>
        <p:spPr bwMode="auto">
          <a:xfrm>
            <a:off x="7002463" y="5486400"/>
            <a:ext cx="2860675" cy="901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64 collaborators</a:t>
            </a:r>
          </a:p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16 institutions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3800" y="5410200"/>
            <a:ext cx="2120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G4beamline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7A9300-2649-4020-88C7-D826780ED883}" type="slidenum">
              <a:rPr lang="en-US"/>
              <a:pPr>
                <a:defRPr/>
              </a:pPr>
              <a:t>3</a:t>
            </a:fld>
            <a:endParaRPr lang="en-US"/>
          </a:p>
        </p:txBody>
      </p:sp>
      <p:pic>
        <p:nvPicPr>
          <p:cNvPr id="21299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299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>
          <a:xfrm>
            <a:off x="711200" y="-165100"/>
            <a:ext cx="8178800" cy="1549400"/>
          </a:xfrm>
        </p:spPr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Outline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990600" y="1320800"/>
            <a:ext cx="8178800" cy="4965700"/>
          </a:xfrm>
        </p:spPr>
        <p:txBody>
          <a:bodyPr/>
          <a:lstStyle/>
          <a:p>
            <a:pPr marL="569913" eaLnBrk="1" hangingPunct="1">
              <a:buClr>
                <a:srgbClr val="FF0000"/>
              </a:buClr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>
                <a:solidFill>
                  <a:srgbClr val="FF0000"/>
                </a:solidFill>
                <a:sym typeface="Arial" pitchFamily="-12" charset="0"/>
              </a:rPr>
              <a:t>The search for muon-electron conversion</a:t>
            </a:r>
            <a:endParaRPr lang="en-US" dirty="0">
              <a:sym typeface="Arial" pitchFamily="-12" charset="0"/>
            </a:endParaRP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>
                <a:sym typeface="Arial" pitchFamily="-12" charset="0"/>
              </a:rPr>
              <a:t>Experimental Technique </a:t>
            </a:r>
            <a:endParaRPr lang="en-US" dirty="0" smtClean="0">
              <a:sym typeface="Arial" pitchFamily="-12" charset="0"/>
            </a:endParaRP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 smtClean="0">
                <a:sym typeface="Arial" pitchFamily="-12" charset="0"/>
              </a:rPr>
              <a:t>Project </a:t>
            </a:r>
            <a:r>
              <a:rPr lang="en-US" dirty="0">
                <a:sym typeface="Arial" pitchFamily="-12" charset="0"/>
              </a:rPr>
              <a:t>X Upgrades and Mu2e</a:t>
            </a:r>
            <a:endParaRPr lang="en-US" dirty="0" smtClean="0">
              <a:sym typeface="Arial" pitchFamily="-12" charset="0"/>
            </a:endParaRP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 smtClean="0">
                <a:sym typeface="Arial" pitchFamily="-12" charset="0"/>
              </a:rPr>
              <a:t>Conclusions</a:t>
            </a:r>
            <a:endParaRPr lang="en-US" dirty="0">
              <a:sym typeface="Arial" pitchFamily="-12" charset="0"/>
            </a:endParaRPr>
          </a:p>
        </p:txBody>
      </p:sp>
      <p:sp>
        <p:nvSpPr>
          <p:cNvPr id="212999" name="Text Box 6"/>
          <p:cNvSpPr txBox="1">
            <a:spLocks noChangeArrowheads="1"/>
          </p:cNvSpPr>
          <p:nvPr/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</a:pPr>
            <a:fld id="{9C7E5010-17B0-402E-B1BE-F99A2EA17719}" type="slidenum">
              <a:rPr lang="en-US" sz="1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</a:pPr>
              <a:t>3</a:t>
            </a:fld>
            <a:endParaRPr lang="en-US" sz="180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9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1D90316-E11C-4A07-892E-12E5FFF0FD2F}" type="slidenum">
              <a:rPr lang="en-US"/>
              <a:pPr>
                <a:defRPr/>
              </a:pPr>
              <a:t>4</a:t>
            </a:fld>
            <a:endParaRPr lang="en-US"/>
          </a:p>
        </p:txBody>
      </p:sp>
      <p:pic>
        <p:nvPicPr>
          <p:cNvPr id="214018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7713" y="3022600"/>
            <a:ext cx="6821487" cy="8524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pic>
        <p:nvPicPr>
          <p:cNvPr id="21402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4021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1509" name="Rectangle 5"/>
          <p:cNvSpPr>
            <a:spLocks noGrp="1" noChangeArrowheads="1"/>
          </p:cNvSpPr>
          <p:nvPr>
            <p:ph type="title"/>
          </p:nvPr>
        </p:nvSpPr>
        <p:spPr>
          <a:xfrm>
            <a:off x="990600" y="-393700"/>
            <a:ext cx="8178800" cy="1549400"/>
          </a:xfrm>
        </p:spPr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What is </a:t>
            </a:r>
            <a:r>
              <a:rPr lang="en-US">
                <a:latin typeface="Times New Roman" pitchFamily="-12" charset="0"/>
                <a:ea typeface="Times New Roman" pitchFamily="-12" charset="0"/>
                <a:cs typeface="Times New Roman" pitchFamily="-12" charset="0"/>
                <a:sym typeface="Times New Roman" pitchFamily="-12" charset="0"/>
              </a:rPr>
              <a:t>μe</a:t>
            </a:r>
            <a:r>
              <a:rPr lang="en-US">
                <a:sym typeface="Arial" pitchFamily="-12" charset="0"/>
              </a:rPr>
              <a:t> Conversion?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04800" y="2794000"/>
            <a:ext cx="8178800" cy="4965700"/>
          </a:xfrm>
        </p:spPr>
        <p:txBody>
          <a:bodyPr/>
          <a:lstStyle/>
          <a:p>
            <a:pPr marL="569913" eaLnBrk="1" hangingPunct="1">
              <a:tabLst>
                <a:tab pos="1065213" algn="l"/>
                <a:tab pos="2373313" algn="l"/>
              </a:tabLst>
            </a:pPr>
            <a:r>
              <a:rPr lang="en-US"/>
              <a:t>Charged Lepton Flavor Violation (CLFV)</a:t>
            </a:r>
          </a:p>
          <a:p>
            <a:pPr marL="569913" eaLnBrk="1" hangingPunct="1">
              <a:tabLst>
                <a:tab pos="1065213" algn="l"/>
                <a:tab pos="2373313" algn="l"/>
              </a:tabLst>
            </a:pPr>
            <a:r>
              <a:rPr lang="en-US"/>
              <a:t>Related Processes: </a:t>
            </a:r>
          </a:p>
          <a:p>
            <a:pPr marL="1524000" lvl="3" indent="0" eaLnBrk="1" hangingPunct="1">
              <a:tabLst>
                <a:tab pos="1065213" algn="l"/>
                <a:tab pos="2373313" algn="l"/>
              </a:tabLst>
            </a:pPr>
            <a:r>
              <a:rPr lang="en-US" sz="3100">
                <a:latin typeface="Times New Roman" charset="0"/>
                <a:ea typeface="Times New Roman" charset="0"/>
                <a:cs typeface="Times New Roman" charset="0"/>
                <a:sym typeface="Times New Roman" charset="0"/>
              </a:rPr>
              <a:t>μ or </a:t>
            </a:r>
            <a:r>
              <a:rPr lang="en-US" sz="3100"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τ</a:t>
            </a:r>
            <a:r>
              <a:rPr lang="en-US" sz="3100">
                <a:latin typeface="Times New Roman" charset="0"/>
                <a:ea typeface="Times New Roman" charset="0"/>
                <a:cs typeface="Times New Roman" charset="0"/>
                <a:sym typeface="Times New Roman" charset="0"/>
              </a:rPr>
              <a:t> </a:t>
            </a:r>
            <a:r>
              <a:rPr lang="en-US">
                <a:latin typeface="Times New Roman" charset="0"/>
                <a:ea typeface="Times New Roman" charset="0"/>
                <a:cs typeface="Times New Roman" charset="0"/>
                <a:sym typeface="Times New Roman" charset="0"/>
              </a:rPr>
              <a:t>→ </a:t>
            </a:r>
            <a:r>
              <a:rPr lang="en-US"/>
              <a:t>e</a:t>
            </a:r>
            <a:r>
              <a:rPr lang="en-US" sz="3000">
                <a:latin typeface="Times New Roman" charset="0"/>
                <a:ea typeface="Times New Roman" charset="0"/>
                <a:cs typeface="Times New Roman" charset="0"/>
                <a:sym typeface="Times New Roman" charset="0"/>
              </a:rPr>
              <a:t>γ, </a:t>
            </a:r>
            <a:r>
              <a:rPr lang="en-US"/>
              <a:t>e</a:t>
            </a:r>
            <a:r>
              <a:rPr lang="en-US" baseline="32000"/>
              <a:t>+</a:t>
            </a:r>
            <a:r>
              <a:rPr lang="en-US"/>
              <a:t>e</a:t>
            </a:r>
            <a:r>
              <a:rPr lang="en-US" baseline="32000"/>
              <a:t>-</a:t>
            </a:r>
            <a:r>
              <a:rPr lang="en-US"/>
              <a:t>e</a:t>
            </a:r>
            <a:r>
              <a:rPr lang="en-US">
                <a:latin typeface="Times New Roman" charset="0"/>
                <a:ea typeface="Times New Roman" charset="0"/>
                <a:cs typeface="Times New Roman" charset="0"/>
                <a:sym typeface="Times New Roman" charset="0"/>
              </a:rPr>
              <a:t>, </a:t>
            </a:r>
            <a:r>
              <a:rPr lang="en-US"/>
              <a:t>K</a:t>
            </a:r>
            <a:r>
              <a:rPr lang="en-US" baseline="-6000"/>
              <a:t>L</a:t>
            </a:r>
            <a:r>
              <a:rPr lang="en-US"/>
              <a:t>→</a:t>
            </a:r>
            <a:r>
              <a:rPr lang="en-US" sz="3000">
                <a:latin typeface="Times New Roman" charset="0"/>
                <a:ea typeface="Times New Roman" charset="0"/>
                <a:cs typeface="Times New Roman" charset="0"/>
                <a:sym typeface="Times New Roman" charset="0"/>
              </a:rPr>
              <a:t>μ</a:t>
            </a:r>
            <a:r>
              <a:rPr lang="en-US"/>
              <a:t>e, and more</a:t>
            </a:r>
          </a:p>
        </p:txBody>
      </p:sp>
      <p:pic>
        <p:nvPicPr>
          <p:cNvPr id="214024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09900" y="1981200"/>
            <a:ext cx="3230563" cy="5334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14025" name="Text Box 8"/>
          <p:cNvSpPr txBox="1">
            <a:spLocks noChangeArrowheads="1"/>
          </p:cNvSpPr>
          <p:nvPr/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</a:pPr>
            <a:fld id="{D6568544-BB09-4A42-94C3-7D9B3496A022}" type="slidenum">
              <a:rPr lang="en-US" sz="1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</a:pPr>
              <a:t>4</a:t>
            </a:fld>
            <a:endParaRPr lang="en-US" sz="180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21513" name="Rectangle 9"/>
          <p:cNvSpPr>
            <a:spLocks/>
          </p:cNvSpPr>
          <p:nvPr/>
        </p:nvSpPr>
        <p:spPr bwMode="auto">
          <a:xfrm>
            <a:off x="38100" y="1244600"/>
            <a:ext cx="9474200" cy="495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muon converts to electron in the presence of a nucleus</a:t>
            </a:r>
          </a:p>
        </p:txBody>
      </p:sp>
      <p:sp>
        <p:nvSpPr>
          <p:cNvPr id="12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A2C7B0-D36B-46F5-9A41-C92895F68895}" type="slidenum">
              <a:rPr lang="en-US"/>
              <a:pPr>
                <a:defRPr/>
              </a:pPr>
              <a:t>5</a:t>
            </a:fld>
            <a:endParaRPr lang="en-US"/>
          </a:p>
        </p:txBody>
      </p:sp>
      <p:pic>
        <p:nvPicPr>
          <p:cNvPr id="21504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504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51875" y="1143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Endorsed in US Roadmap</a:t>
            </a:r>
          </a:p>
        </p:txBody>
      </p:sp>
      <p:sp>
        <p:nvSpPr>
          <p:cNvPr id="22533" name="Rectangle 5"/>
          <p:cNvSpPr>
            <a:spLocks/>
          </p:cNvSpPr>
          <p:nvPr/>
        </p:nvSpPr>
        <p:spPr bwMode="auto">
          <a:xfrm>
            <a:off x="-163513" y="1498600"/>
            <a:ext cx="10158413" cy="1752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 </a:t>
            </a:r>
            <a:r>
              <a:rPr lang="en-US">
                <a:solidFill>
                  <a:srgbClr val="FF0000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FNAL has proposed muon-electron conversion as a flagship program for the next decade</a:t>
            </a:r>
          </a:p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>
              <a:solidFill>
                <a:srgbClr val="FF0000"/>
              </a:solidFill>
              <a:latin typeface="Arial" pitchFamily="-12" charset="0"/>
              <a:ea typeface="Arial" pitchFamily="-12" charset="0"/>
              <a:cs typeface="Arial" pitchFamily="-12" charset="0"/>
              <a:sym typeface="Arial" pitchFamily="-12" charset="0"/>
            </a:endParaRPr>
          </a:p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>
                <a:solidFill>
                  <a:srgbClr val="002939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Strongly endorsed by P5:</a:t>
            </a:r>
          </a:p>
        </p:txBody>
      </p:sp>
      <p:sp>
        <p:nvSpPr>
          <p:cNvPr id="22534" name="Rectangle 6"/>
          <p:cNvSpPr>
            <a:spLocks/>
          </p:cNvSpPr>
          <p:nvPr/>
        </p:nvSpPr>
        <p:spPr bwMode="auto">
          <a:xfrm>
            <a:off x="850900" y="6146800"/>
            <a:ext cx="8458200" cy="495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Mu2e is a central part of the future US program</a:t>
            </a:r>
          </a:p>
        </p:txBody>
      </p:sp>
      <p:sp>
        <p:nvSpPr>
          <p:cNvPr id="22535" name="Rectangle 7"/>
          <p:cNvSpPr>
            <a:spLocks/>
          </p:cNvSpPr>
          <p:nvPr/>
        </p:nvSpPr>
        <p:spPr bwMode="auto">
          <a:xfrm>
            <a:off x="-11113" y="3505200"/>
            <a:ext cx="10158413" cy="2298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 sz="1800">
                <a:solidFill>
                  <a:schemeClr val="tx1"/>
                </a:solidFill>
                <a:latin typeface="Times New Roman" pitchFamily="-12" charset="0"/>
                <a:ea typeface="Times New Roman" pitchFamily="-12" charset="0"/>
                <a:cs typeface="Times New Roman" pitchFamily="-12" charset="0"/>
                <a:sym typeface="Times New Roman" pitchFamily="-12" charset="0"/>
              </a:rPr>
              <a:t> “</a:t>
            </a:r>
            <a:r>
              <a:rPr lang="en-US" sz="2400">
                <a:solidFill>
                  <a:schemeClr val="tx1"/>
                </a:solidFill>
                <a:latin typeface="Times CE" pitchFamily="-12" charset="-18"/>
                <a:ea typeface="Times CE" pitchFamily="-12" charset="-18"/>
                <a:cs typeface="Times CE" pitchFamily="-12" charset="-18"/>
                <a:sym typeface="Times CE" pitchFamily="-12" charset="-18"/>
              </a:rPr>
              <a:t>The experiment could go forward in the next decade with a modest evolution of the Fermilab accelerator complex. Such an experiment could be the first step in a world-leading muon-decay program eventually driven by a next-generation high-intensity proton source. </a:t>
            </a:r>
            <a:r>
              <a:rPr lang="en-US" sz="2400" b="1">
                <a:solidFill>
                  <a:srgbClr val="0000FF"/>
                </a:solidFill>
                <a:latin typeface="Times CE" pitchFamily="-12" charset="-18"/>
                <a:ea typeface="Times CE" pitchFamily="-12" charset="-18"/>
                <a:cs typeface="Times CE" pitchFamily="-12" charset="-18"/>
                <a:sym typeface="Times CE" pitchFamily="-12" charset="-18"/>
              </a:rPr>
              <a:t>The panel recommends pursuing the muon-to-electron conversion experiment... under all budget scenarios considered by the panel</a:t>
            </a:r>
            <a:r>
              <a:rPr lang="en-US" sz="2400">
                <a:solidFill>
                  <a:schemeClr val="tx1"/>
                </a:solidFill>
                <a:latin typeface="Times New Roman" pitchFamily="-12" charset="0"/>
                <a:ea typeface="Times New Roman" pitchFamily="-12" charset="0"/>
                <a:cs typeface="Times New Roman" pitchFamily="-12" charset="0"/>
                <a:sym typeface="Times New Roman" pitchFamily="-12" charset="0"/>
              </a:rPr>
              <a:t>”</a:t>
            </a:r>
          </a:p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endParaRPr lang="en-US" sz="1800">
              <a:solidFill>
                <a:schemeClr val="tx1"/>
              </a:solidFill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</p:txBody>
      </p:sp>
      <p:sp>
        <p:nvSpPr>
          <p:cNvPr id="10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2736F5-6D68-4619-88DD-3882EDB2D8F8}" type="slidenum">
              <a:rPr lang="en-US"/>
              <a:pPr>
                <a:defRPr/>
              </a:pPr>
              <a:t>6</a:t>
            </a:fld>
            <a:endParaRPr lang="en-US"/>
          </a:p>
        </p:txBody>
      </p:sp>
      <p:pic>
        <p:nvPicPr>
          <p:cNvPr id="21606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606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35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Experimental Signal</a:t>
            </a:r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3500" y="1968500"/>
            <a:ext cx="5257800" cy="4927600"/>
          </a:xfrm>
        </p:spPr>
        <p:txBody>
          <a:bodyPr/>
          <a:lstStyle/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497013" algn="l"/>
              </a:tabLst>
              <a:defRPr/>
            </a:pPr>
            <a:r>
              <a:rPr lang="en-US" dirty="0">
                <a:sym typeface="Arial" pitchFamily="-12" charset="0"/>
              </a:rPr>
              <a:t>A Single Monoenergetic Electron</a:t>
            </a: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497013" algn="l"/>
              </a:tabLst>
              <a:defRPr/>
            </a:pPr>
            <a:r>
              <a:rPr lang="en-US" dirty="0">
                <a:sym typeface="Arial" pitchFamily="-12" charset="0"/>
              </a:rPr>
              <a:t>If </a:t>
            </a:r>
            <a:r>
              <a:rPr lang="en-US" dirty="0"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N = </a:t>
            </a:r>
            <a:r>
              <a:rPr lang="en-US" dirty="0">
                <a:sym typeface="Arial" pitchFamily="-12" charset="0"/>
              </a:rPr>
              <a:t>Al, </a:t>
            </a:r>
            <a:r>
              <a:rPr lang="en-US" dirty="0" err="1">
                <a:sym typeface="Arial" pitchFamily="-12" charset="0"/>
              </a:rPr>
              <a:t>E</a:t>
            </a:r>
            <a:r>
              <a:rPr lang="en-US" baseline="-6000" dirty="0" err="1">
                <a:sym typeface="Arial" pitchFamily="-12" charset="0"/>
              </a:rPr>
              <a:t>e</a:t>
            </a:r>
            <a:r>
              <a:rPr lang="en-US" dirty="0">
                <a:sym typeface="Arial" pitchFamily="-12" charset="0"/>
              </a:rPr>
              <a:t> = 105. </a:t>
            </a:r>
            <a:r>
              <a:rPr lang="en-US" i="1" dirty="0">
                <a:sym typeface="Arial" pitchFamily="-12" charset="0"/>
              </a:rPr>
              <a:t>MeV</a:t>
            </a:r>
          </a:p>
          <a:p>
            <a:pPr marL="1001713" lvl="1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497013" algn="l"/>
              </a:tabLst>
              <a:defRPr/>
            </a:pPr>
            <a:r>
              <a:rPr lang="en-US" dirty="0">
                <a:sym typeface="Arial" pitchFamily="-12" charset="0"/>
              </a:rPr>
              <a:t>electron energy depends on Z</a:t>
            </a:r>
          </a:p>
        </p:txBody>
      </p:sp>
      <p:sp>
        <p:nvSpPr>
          <p:cNvPr id="216071" name="Text Box 6"/>
          <p:cNvSpPr txBox="1">
            <a:spLocks noChangeArrowheads="1"/>
          </p:cNvSpPr>
          <p:nvPr/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</a:pPr>
            <a:fld id="{35BF010B-8F4F-482C-B487-A9E8BBB282C6}" type="slidenum">
              <a:rPr lang="en-US" sz="1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</a:pPr>
              <a:t>6</a:t>
            </a:fld>
            <a:endParaRPr lang="en-US" sz="180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pic>
        <p:nvPicPr>
          <p:cNvPr id="216072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09900" y="1206500"/>
            <a:ext cx="3230563" cy="5334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16073" name="Rectangle 8"/>
          <p:cNvSpPr>
            <a:spLocks/>
          </p:cNvSpPr>
          <p:nvPr/>
        </p:nvSpPr>
        <p:spPr bwMode="auto">
          <a:xfrm>
            <a:off x="5105400" y="2070100"/>
            <a:ext cx="4927600" cy="495300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pic>
        <p:nvPicPr>
          <p:cNvPr id="216074" name="Picture 9"/>
          <p:cNvPicPr>
            <a:picLocks noChangeArrowheads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rcRect/>
              <a:stretch>
                <a:fillRect/>
              </a:stretch>
            </p:blipFill>
          </mc:Choice>
          <mc:Fallback>
            <p:blipFill>
              <a:blip r:embed="rId7"/>
              <a:srcRect/>
              <a:stretch>
                <a:fillRect/>
              </a:stretch>
            </p:blipFill>
          </mc:Fallback>
        </mc:AlternateContent>
        <p:spPr bwMode="auto">
          <a:xfrm>
            <a:off x="5292725" y="2814638"/>
            <a:ext cx="3878263" cy="301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grpSp>
        <p:nvGrpSpPr>
          <p:cNvPr id="216075" name="Group 10"/>
          <p:cNvGrpSpPr>
            <a:grpSpLocks/>
          </p:cNvGrpSpPr>
          <p:nvPr/>
        </p:nvGrpSpPr>
        <p:grpSpPr bwMode="auto">
          <a:xfrm>
            <a:off x="8547100" y="5397500"/>
            <a:ext cx="812800" cy="825500"/>
            <a:chOff x="0" y="0"/>
            <a:chExt cx="512" cy="520"/>
          </a:xfrm>
        </p:grpSpPr>
        <p:sp>
          <p:nvSpPr>
            <p:cNvPr id="216076" name="Oval 11"/>
            <p:cNvSpPr>
              <a:spLocks/>
            </p:cNvSpPr>
            <p:nvPr/>
          </p:nvSpPr>
          <p:spPr bwMode="auto">
            <a:xfrm>
              <a:off x="0" y="0"/>
              <a:ext cx="512" cy="520"/>
            </a:xfrm>
            <a:prstGeom prst="ellipse">
              <a:avLst/>
            </a:prstGeom>
            <a:solidFill>
              <a:srgbClr val="FF0000"/>
            </a:solidFill>
            <a:ln w="25400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23564" name="Rectangle 12"/>
            <p:cNvSpPr>
              <a:spLocks/>
            </p:cNvSpPr>
            <p:nvPr/>
          </p:nvSpPr>
          <p:spPr bwMode="auto">
            <a:xfrm>
              <a:off x="102" y="64"/>
              <a:ext cx="308" cy="4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  <a:defRPr/>
              </a:pPr>
              <a:r>
                <a:rPr lang="en-US" sz="3800">
                  <a:solidFill>
                    <a:srgbClr val="FFFFFF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e</a:t>
              </a:r>
              <a:r>
                <a:rPr lang="en-US" sz="3800" baseline="32000">
                  <a:solidFill>
                    <a:srgbClr val="FFFFFF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-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802F42-3276-4292-93FF-83D041BCB276}" type="slidenum">
              <a:rPr lang="en-US"/>
              <a:pPr>
                <a:defRPr/>
              </a:pPr>
              <a:t>7</a:t>
            </a:fld>
            <a:endParaRPr lang="en-US"/>
          </a:p>
        </p:txBody>
      </p:sp>
      <p:pic>
        <p:nvPicPr>
          <p:cNvPr id="21811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8116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5604" name="Rectangle 4"/>
          <p:cNvSpPr>
            <a:spLocks noGrp="1" noChangeArrowheads="1"/>
          </p:cNvSpPr>
          <p:nvPr>
            <p:ph type="title"/>
          </p:nvPr>
        </p:nvSpPr>
        <p:spPr>
          <a:xfrm>
            <a:off x="635000" y="-190500"/>
            <a:ext cx="8178800" cy="1549400"/>
          </a:xfrm>
        </p:spPr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LFV,  SUSY and the LHC</a:t>
            </a:r>
          </a:p>
        </p:txBody>
      </p:sp>
      <p:sp>
        <p:nvSpPr>
          <p:cNvPr id="218118" name="Rectangle 5"/>
          <p:cNvSpPr>
            <a:spLocks/>
          </p:cNvSpPr>
          <p:nvPr/>
        </p:nvSpPr>
        <p:spPr bwMode="auto">
          <a:xfrm>
            <a:off x="5437188" y="939800"/>
            <a:ext cx="4648200" cy="5956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b">
            <a:prstTxWarp prst="textNoShape">
              <a:avLst/>
            </a:prstTxWarp>
          </a:bodyPr>
          <a:lstStyle/>
          <a:p>
            <a:r>
              <a:rPr lang="en-US" sz="4200" b="1" i="1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Access SUSY through loops:</a:t>
            </a:r>
          </a:p>
          <a:p>
            <a:endParaRPr lang="en-US" sz="4200" b="1" i="1">
              <a:solidFill>
                <a:srgbClr val="000000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r>
              <a:rPr lang="en-US" sz="4200" b="1" i="1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signal of Terascale at LHC implies</a:t>
            </a:r>
          </a:p>
          <a:p>
            <a:r>
              <a:rPr lang="en-US" sz="4200" b="1" i="1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~40 event signal /0.4 bkg in this experiment   </a:t>
            </a:r>
          </a:p>
        </p:txBody>
      </p:sp>
      <p:grpSp>
        <p:nvGrpSpPr>
          <p:cNvPr id="218119" name="Group 6"/>
          <p:cNvGrpSpPr>
            <a:grpSpLocks/>
          </p:cNvGrpSpPr>
          <p:nvPr/>
        </p:nvGrpSpPr>
        <p:grpSpPr bwMode="auto">
          <a:xfrm>
            <a:off x="647700" y="1695450"/>
            <a:ext cx="3949700" cy="4038600"/>
            <a:chOff x="0" y="0"/>
            <a:chExt cx="2488" cy="2544"/>
          </a:xfrm>
        </p:grpSpPr>
        <p:grpSp>
          <p:nvGrpSpPr>
            <p:cNvPr id="218120" name="Group 7"/>
            <p:cNvGrpSpPr>
              <a:grpSpLocks/>
            </p:cNvGrpSpPr>
            <p:nvPr/>
          </p:nvGrpSpPr>
          <p:grpSpPr bwMode="auto">
            <a:xfrm>
              <a:off x="0" y="0"/>
              <a:ext cx="2488" cy="2544"/>
              <a:chOff x="0" y="0"/>
              <a:chExt cx="2488" cy="2544"/>
            </a:xfrm>
          </p:grpSpPr>
          <p:pic>
            <p:nvPicPr>
              <p:cNvPr id="218122" name="Picture 8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0" y="0"/>
                <a:ext cx="2417" cy="254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</p:pic>
          <p:sp>
            <p:nvSpPr>
              <p:cNvPr id="218123" name="Rectangle 9"/>
              <p:cNvSpPr>
                <a:spLocks/>
              </p:cNvSpPr>
              <p:nvPr/>
            </p:nvSpPr>
            <p:spPr bwMode="auto">
              <a:xfrm>
                <a:off x="1976" y="1451"/>
                <a:ext cx="512" cy="312"/>
              </a:xfrm>
              <a:prstGeom prst="rect">
                <a:avLst/>
              </a:prstGeom>
              <a:solidFill>
                <a:schemeClr val="accent1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5610" name="Rectangle 10"/>
            <p:cNvSpPr>
              <a:spLocks/>
            </p:cNvSpPr>
            <p:nvPr/>
          </p:nvSpPr>
          <p:spPr bwMode="auto">
            <a:xfrm>
              <a:off x="833" y="1403"/>
              <a:ext cx="206" cy="3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  <a:defRPr/>
              </a:pPr>
              <a:r>
                <a:rPr lang="en-US">
                  <a:solidFill>
                    <a:schemeClr val="tx1"/>
                  </a:solidFill>
                  <a:latin typeface="Helvetica Neue" pitchFamily="-12" charset="0"/>
                  <a:ea typeface="Helvetica Neue" pitchFamily="-12" charset="0"/>
                  <a:cs typeface="Helvetica Neue" pitchFamily="-12" charset="0"/>
                  <a:sym typeface="Helvetica Neue" pitchFamily="-12" charset="0"/>
                </a:rPr>
                <a:t>~</a:t>
              </a:r>
            </a:p>
          </p:txBody>
        </p:sp>
      </p:grpSp>
      <p:sp>
        <p:nvSpPr>
          <p:cNvPr id="13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ADAE19-7CC0-49C4-B759-59B9816BBD83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21186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 Mu2e Seminar Nov 2008</a:t>
            </a:r>
          </a:p>
        </p:txBody>
      </p:sp>
      <p:pic>
        <p:nvPicPr>
          <p:cNvPr id="22118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2118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651875" y="1143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21189" name="Rectangle 4"/>
          <p:cNvSpPr>
            <a:spLocks/>
          </p:cNvSpPr>
          <p:nvPr/>
        </p:nvSpPr>
        <p:spPr bwMode="auto">
          <a:xfrm>
            <a:off x="990600" y="1866900"/>
            <a:ext cx="2019300" cy="355600"/>
          </a:xfrm>
          <a:prstGeom prst="rect">
            <a:avLst/>
          </a:prstGeom>
          <a:solidFill>
            <a:schemeClr val="accent1"/>
          </a:solidFill>
          <a:ln w="254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pic>
        <p:nvPicPr>
          <p:cNvPr id="221190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50900" y="1319213"/>
            <a:ext cx="8623300" cy="51133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8678" name="Rectangle 6"/>
          <p:cNvSpPr>
            <a:spLocks noGrp="1" noChangeArrowheads="1"/>
          </p:cNvSpPr>
          <p:nvPr>
            <p:ph type="title"/>
          </p:nvPr>
        </p:nvSpPr>
        <p:spPr>
          <a:xfrm>
            <a:off x="812800" y="139700"/>
            <a:ext cx="8178800" cy="1549400"/>
          </a:xfrm>
        </p:spPr>
        <p:txBody>
          <a:bodyPr/>
          <a:lstStyle/>
          <a:p>
            <a:pPr eaLnBrk="1" hangingPunct="1">
              <a:tabLst>
                <a:tab pos="952500" algn="l"/>
                <a:tab pos="952500" algn="l"/>
              </a:tabLst>
              <a:defRPr/>
            </a:pPr>
            <a:r>
              <a:rPr lang="en-US" sz="4300">
                <a:sym typeface="Arial" pitchFamily="-12" charset="0"/>
              </a:rPr>
              <a:t>Contributions to μe Conversion</a:t>
            </a:r>
            <a:r>
              <a:rPr lang="en-US" sz="4500">
                <a:sym typeface="Arial" pitchFamily="-12" charset="0"/>
              </a:rPr>
              <a:t/>
            </a:r>
            <a:br>
              <a:rPr lang="en-US" sz="4500">
                <a:sym typeface="Arial" pitchFamily="-12" charset="0"/>
              </a:rPr>
            </a:br>
            <a:r>
              <a:rPr lang="en-US">
                <a:sym typeface="Arial" pitchFamily="-12" charset="0"/>
              </a:rPr>
              <a:t> </a:t>
            </a:r>
          </a:p>
        </p:txBody>
      </p:sp>
      <p:sp>
        <p:nvSpPr>
          <p:cNvPr id="221192" name="Rectangle 7"/>
          <p:cNvSpPr>
            <a:spLocks/>
          </p:cNvSpPr>
          <p:nvPr/>
        </p:nvSpPr>
        <p:spPr bwMode="auto">
          <a:xfrm>
            <a:off x="7823200" y="2882900"/>
            <a:ext cx="228600" cy="266700"/>
          </a:xfrm>
          <a:prstGeom prst="rect">
            <a:avLst/>
          </a:prstGeom>
          <a:solidFill>
            <a:srgbClr val="E6E6E6"/>
          </a:solidFill>
          <a:ln w="254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28680" name="Rectangle 8"/>
          <p:cNvSpPr>
            <a:spLocks/>
          </p:cNvSpPr>
          <p:nvPr/>
        </p:nvSpPr>
        <p:spPr bwMode="auto">
          <a:xfrm>
            <a:off x="889000" y="6705600"/>
            <a:ext cx="8026400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 sz="1800">
                <a:solidFill>
                  <a:srgbClr val="4C4C4C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 also see Flavour physics of leptons and dipole moments, </a:t>
            </a:r>
            <a:r>
              <a:rPr lang="en-US" sz="1800" u="sng">
                <a:solidFill>
                  <a:srgbClr val="4C4C4C"/>
                </a:solidFill>
                <a:latin typeface="Lucida Grande CE" pitchFamily="-12" charset="-18"/>
                <a:ea typeface="Lucida Grande CE" pitchFamily="-12" charset="-18"/>
                <a:cs typeface="Lucida Grande CE" pitchFamily="-12" charset="-18"/>
                <a:sym typeface="Lucida Grande CE" pitchFamily="-12" charset="-18"/>
              </a:rPr>
              <a:t>arXiv:0801.1826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474425-94E8-4730-8F88-FFFFF60F0E27}" type="slidenum">
              <a:rPr lang="en-US"/>
              <a:pPr>
                <a:defRPr/>
              </a:pPr>
              <a:t>9</a:t>
            </a:fld>
            <a:endParaRPr lang="en-US"/>
          </a:p>
        </p:txBody>
      </p:sp>
      <p:pic>
        <p:nvPicPr>
          <p:cNvPr id="22323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23236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502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774700" y="-88900"/>
            <a:ext cx="8178800" cy="1866900"/>
          </a:xfrm>
        </p:spPr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 sz="4800">
                <a:sym typeface="Arial" pitchFamily="-12" charset="0"/>
              </a:rPr>
              <a:t>“Model-Independent” Picture</a:t>
            </a:r>
          </a:p>
        </p:txBody>
      </p:sp>
      <p:sp>
        <p:nvSpPr>
          <p:cNvPr id="30725" name="Rectangle 5"/>
          <p:cNvSpPr>
            <a:spLocks/>
          </p:cNvSpPr>
          <p:nvPr/>
        </p:nvSpPr>
        <p:spPr bwMode="auto">
          <a:xfrm>
            <a:off x="5245100" y="2197100"/>
            <a:ext cx="4178300" cy="463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spcBef>
                <a:spcPts val="2700"/>
              </a:spcBef>
              <a:defRPr/>
            </a:pPr>
            <a:r>
              <a:rPr lang="en-US" sz="2600">
                <a:solidFill>
                  <a:srgbClr val="3F3F3F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“Contact Terms” </a:t>
            </a:r>
            <a:endParaRPr lang="en-US" sz="2600">
              <a:solidFill>
                <a:srgbClr val="3F3F3F"/>
              </a:solidFill>
              <a:latin typeface="Arial" pitchFamily="-12" charset="0"/>
              <a:ea typeface="Arial" pitchFamily="-12" charset="0"/>
              <a:cs typeface="Arial" pitchFamily="-12" charset="0"/>
              <a:sym typeface="Arial" pitchFamily="-12" charset="0"/>
            </a:endParaRPr>
          </a:p>
          <a:p>
            <a:pPr algn="ctr">
              <a:spcBef>
                <a:spcPts val="2700"/>
              </a:spcBef>
              <a:defRPr/>
            </a:pPr>
            <a:endParaRPr lang="en-US" sz="2600">
              <a:solidFill>
                <a:srgbClr val="3F3F3F"/>
              </a:solidFill>
              <a:latin typeface="Cochin" pitchFamily="-12" charset="0"/>
              <a:ea typeface="Cochin" pitchFamily="-12" charset="0"/>
              <a:cs typeface="Cochin" pitchFamily="-12" charset="0"/>
              <a:sym typeface="Cochin" pitchFamily="-12" charset="0"/>
            </a:endParaRPr>
          </a:p>
          <a:p>
            <a:pPr algn="ctr">
              <a:spcBef>
                <a:spcPts val="2700"/>
              </a:spcBef>
              <a:defRPr/>
            </a:pPr>
            <a:endParaRPr lang="en-US" sz="2600">
              <a:solidFill>
                <a:srgbClr val="3F3F3F"/>
              </a:solidFill>
              <a:latin typeface="Cochin" pitchFamily="-12" charset="0"/>
              <a:ea typeface="Cochin" pitchFamily="-12" charset="0"/>
              <a:cs typeface="Cochin" pitchFamily="-12" charset="0"/>
              <a:sym typeface="Cochin" pitchFamily="-12" charset="0"/>
            </a:endParaRPr>
          </a:p>
          <a:p>
            <a:pPr algn="ctr">
              <a:spcBef>
                <a:spcPts val="2700"/>
              </a:spcBef>
              <a:defRPr/>
            </a:pPr>
            <a:endParaRPr lang="en-US" sz="2300">
              <a:solidFill>
                <a:srgbClr val="3F3F3F"/>
              </a:solidFill>
              <a:latin typeface="Cochin" pitchFamily="-12" charset="0"/>
              <a:ea typeface="Cochin" pitchFamily="-12" charset="0"/>
              <a:cs typeface="Cochin" pitchFamily="-12" charset="0"/>
              <a:sym typeface="Cochin" pitchFamily="-12" charset="0"/>
            </a:endParaRPr>
          </a:p>
          <a:p>
            <a:pPr algn="just">
              <a:spcBef>
                <a:spcPts val="2700"/>
              </a:spcBef>
              <a:defRPr/>
            </a:pPr>
            <a:endParaRPr lang="en-US" sz="2300">
              <a:solidFill>
                <a:srgbClr val="3F3F3F"/>
              </a:solidFill>
              <a:latin typeface="Times New Roman" pitchFamily="-12" charset="0"/>
              <a:ea typeface="Times New Roman" pitchFamily="-12" charset="0"/>
              <a:cs typeface="Times New Roman" pitchFamily="-12" charset="0"/>
              <a:sym typeface="Times New Roman" pitchFamily="-12" charset="0"/>
            </a:endParaRPr>
          </a:p>
          <a:p>
            <a:pPr algn="just">
              <a:spcBef>
                <a:spcPts val="2700"/>
              </a:spcBef>
              <a:defRPr/>
            </a:pPr>
            <a:endParaRPr lang="en-US" sz="2300">
              <a:solidFill>
                <a:srgbClr val="3F3F3F"/>
              </a:solidFill>
              <a:latin typeface="Times New Roman Bold" charset="0"/>
              <a:ea typeface="Times New Roman Bold" charset="0"/>
              <a:cs typeface="Times New Roman Bold" charset="0"/>
              <a:sym typeface="Times New Roman Bold" charset="0"/>
            </a:endParaRPr>
          </a:p>
          <a:p>
            <a:pPr algn="just">
              <a:spcBef>
                <a:spcPts val="2700"/>
              </a:spcBef>
              <a:defRPr/>
            </a:pPr>
            <a:endParaRPr lang="en-US" sz="2600" i="1">
              <a:solidFill>
                <a:srgbClr val="3F3F3F"/>
              </a:solidFill>
              <a:latin typeface="Cochin" pitchFamily="-12" charset="0"/>
              <a:ea typeface="Cochin" pitchFamily="-12" charset="0"/>
              <a:cs typeface="Cochin" pitchFamily="-12" charset="0"/>
              <a:sym typeface="Cochin" pitchFamily="-12" charset="0"/>
            </a:endParaRPr>
          </a:p>
        </p:txBody>
      </p:sp>
      <p:sp>
        <p:nvSpPr>
          <p:cNvPr id="30726" name="Rectangle 6"/>
          <p:cNvSpPr>
            <a:spLocks/>
          </p:cNvSpPr>
          <p:nvPr/>
        </p:nvSpPr>
        <p:spPr bwMode="auto">
          <a:xfrm>
            <a:off x="341313" y="2184400"/>
            <a:ext cx="4521200" cy="4762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spcBef>
                <a:spcPts val="2700"/>
              </a:spcBef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 sz="2600">
                <a:solidFill>
                  <a:srgbClr val="3F3F3F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“Loops”</a:t>
            </a:r>
            <a:endParaRPr lang="en-US" sz="2600">
              <a:solidFill>
                <a:srgbClr val="3F3F3F"/>
              </a:solidFill>
              <a:latin typeface="Times New Roman" pitchFamily="-12" charset="0"/>
              <a:ea typeface="Times New Roman" pitchFamily="-12" charset="0"/>
              <a:cs typeface="Times New Roman" pitchFamily="-12" charset="0"/>
              <a:sym typeface="Times New Roman" pitchFamily="-12" charset="0"/>
            </a:endParaRPr>
          </a:p>
          <a:p>
            <a:pPr>
              <a:spcBef>
                <a:spcPts val="2700"/>
              </a:spcBef>
              <a:buSzPct val="64000"/>
              <a:buFont typeface="Times New Roman Bold" charset="0"/>
              <a:buChar char="•"/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endParaRPr lang="en-US" sz="2600">
              <a:solidFill>
                <a:srgbClr val="3F3F3F"/>
              </a:solidFill>
              <a:latin typeface="Times New Roman" pitchFamily="-12" charset="0"/>
              <a:ea typeface="Times New Roman" pitchFamily="-12" charset="0"/>
              <a:cs typeface="Times New Roman" pitchFamily="-12" charset="0"/>
              <a:sym typeface="Times New Roman" pitchFamily="-12" charset="0"/>
            </a:endParaRPr>
          </a:p>
          <a:p>
            <a:pPr>
              <a:spcBef>
                <a:spcPts val="2700"/>
              </a:spcBef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endParaRPr lang="en-US" sz="2600">
              <a:solidFill>
                <a:srgbClr val="3F3F3F"/>
              </a:solidFill>
              <a:latin typeface="Times New Roman" pitchFamily="-12" charset="0"/>
              <a:ea typeface="Times New Roman" pitchFamily="-12" charset="0"/>
              <a:cs typeface="Times New Roman" pitchFamily="-12" charset="0"/>
              <a:sym typeface="Times New Roman" pitchFamily="-12" charset="0"/>
            </a:endParaRPr>
          </a:p>
          <a:p>
            <a:pPr>
              <a:spcBef>
                <a:spcPts val="2700"/>
              </a:spcBef>
              <a:buSzPct val="64000"/>
              <a:buFont typeface="Times New Roman Bold" charset="0"/>
              <a:buChar char="•"/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endParaRPr lang="en-US" sz="2600">
              <a:solidFill>
                <a:srgbClr val="3F3F3F"/>
              </a:solidFill>
              <a:latin typeface="Cochin" pitchFamily="-12" charset="0"/>
              <a:ea typeface="Cochin" pitchFamily="-12" charset="0"/>
              <a:cs typeface="Cochin" pitchFamily="-12" charset="0"/>
              <a:sym typeface="Cochin" pitchFamily="-12" charset="0"/>
            </a:endParaRPr>
          </a:p>
          <a:p>
            <a:pPr>
              <a:spcBef>
                <a:spcPts val="2700"/>
              </a:spcBef>
              <a:buSzPct val="64000"/>
              <a:buFont typeface="Times New Roman Bold" charset="0"/>
              <a:buChar char="•"/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endParaRPr lang="en-US" sz="2300">
              <a:solidFill>
                <a:srgbClr val="3F3F3F"/>
              </a:solidFill>
              <a:latin typeface="Cochin" pitchFamily="-12" charset="0"/>
              <a:ea typeface="Cochin" pitchFamily="-12" charset="0"/>
              <a:cs typeface="Cochin" pitchFamily="-12" charset="0"/>
              <a:sym typeface="Cochin" pitchFamily="-12" charset="0"/>
            </a:endParaRPr>
          </a:p>
          <a:p>
            <a:pPr>
              <a:spcBef>
                <a:spcPts val="2700"/>
              </a:spcBef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endParaRPr lang="en-US" sz="2300">
              <a:solidFill>
                <a:srgbClr val="3F3F3F"/>
              </a:solidFill>
              <a:latin typeface="Times New Roman" pitchFamily="-12" charset="0"/>
              <a:ea typeface="Times New Roman" pitchFamily="-12" charset="0"/>
              <a:cs typeface="Times New Roman" pitchFamily="-12" charset="0"/>
              <a:sym typeface="Times New Roman" pitchFamily="-12" charset="0"/>
            </a:endParaRPr>
          </a:p>
          <a:p>
            <a:pPr algn="ctr">
              <a:spcBef>
                <a:spcPts val="2700"/>
              </a:spcBef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endParaRPr lang="en-US">
              <a:solidFill>
                <a:schemeClr val="tx1"/>
              </a:solidFill>
              <a:latin typeface="Times New Roman" pitchFamily="-12" charset="0"/>
              <a:ea typeface="Times New Roman" pitchFamily="-12" charset="0"/>
              <a:cs typeface="Times New Roman" pitchFamily="-12" charset="0"/>
              <a:sym typeface="Times New Roman" pitchFamily="-12" charset="0"/>
            </a:endParaRPr>
          </a:p>
        </p:txBody>
      </p:sp>
      <p:sp>
        <p:nvSpPr>
          <p:cNvPr id="30730" name="Rectangle 10"/>
          <p:cNvSpPr>
            <a:spLocks/>
          </p:cNvSpPr>
          <p:nvPr/>
        </p:nvSpPr>
        <p:spPr bwMode="auto">
          <a:xfrm>
            <a:off x="495300" y="4838700"/>
            <a:ext cx="4864100" cy="1117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 sz="2300">
                <a:solidFill>
                  <a:srgbClr val="3F3F3F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Supersymmetry and Heavy Neutrinos</a:t>
            </a:r>
          </a:p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endParaRPr lang="en-US" sz="2300">
              <a:solidFill>
                <a:schemeClr val="tx1"/>
              </a:solidFill>
              <a:latin typeface="Arial" pitchFamily="-12" charset="0"/>
              <a:ea typeface="Arial" pitchFamily="-12" charset="0"/>
              <a:cs typeface="Arial" pitchFamily="-12" charset="0"/>
              <a:sym typeface="Arial" pitchFamily="-12" charset="0"/>
            </a:endParaRPr>
          </a:p>
        </p:txBody>
      </p:sp>
      <p:sp>
        <p:nvSpPr>
          <p:cNvPr id="30731" name="Rectangle 11"/>
          <p:cNvSpPr>
            <a:spLocks/>
          </p:cNvSpPr>
          <p:nvPr/>
        </p:nvSpPr>
        <p:spPr bwMode="auto">
          <a:xfrm>
            <a:off x="622300" y="5715000"/>
            <a:ext cx="3338513" cy="495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spcBef>
                <a:spcPts val="2700"/>
              </a:spcBef>
              <a:defRPr/>
            </a:pPr>
            <a:r>
              <a:rPr lang="en-US" sz="2300">
                <a:solidFill>
                  <a:srgbClr val="FF0000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Contributes to </a:t>
            </a:r>
            <a:r>
              <a:rPr lang="en-US" sz="2700">
                <a:solidFill>
                  <a:srgbClr val="FF0000"/>
                </a:solidFill>
                <a:latin typeface="Times New Roman" pitchFamily="-12" charset="0"/>
                <a:ea typeface="Times New Roman" pitchFamily="-12" charset="0"/>
                <a:cs typeface="Times New Roman" pitchFamily="-12" charset="0"/>
                <a:sym typeface="Times New Roman" pitchFamily="-12" charset="0"/>
              </a:rPr>
              <a:t>μ</a:t>
            </a:r>
            <a:r>
              <a:rPr lang="en-US" sz="2700">
                <a:solidFill>
                  <a:srgbClr val="FF0000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→</a:t>
            </a:r>
            <a:r>
              <a:rPr lang="en-US" sz="2700">
                <a:solidFill>
                  <a:srgbClr val="FF0000"/>
                </a:solidFill>
                <a:latin typeface="Times New Roman" pitchFamily="-12" charset="0"/>
                <a:ea typeface="Times New Roman" pitchFamily="-12" charset="0"/>
                <a:cs typeface="Times New Roman" pitchFamily="-12" charset="0"/>
                <a:sym typeface="Times New Roman" pitchFamily="-12" charset="0"/>
              </a:rPr>
              <a:t>eγ</a:t>
            </a:r>
          </a:p>
        </p:txBody>
      </p:sp>
      <p:sp>
        <p:nvSpPr>
          <p:cNvPr id="30732" name="Rectangle 12"/>
          <p:cNvSpPr>
            <a:spLocks/>
          </p:cNvSpPr>
          <p:nvPr/>
        </p:nvSpPr>
        <p:spPr bwMode="auto">
          <a:xfrm>
            <a:off x="5537200" y="4749800"/>
            <a:ext cx="3683000" cy="774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spcBef>
                <a:spcPts val="2700"/>
              </a:spcBef>
              <a:defRPr/>
            </a:pPr>
            <a:r>
              <a:rPr lang="en-US" sz="2300">
                <a:solidFill>
                  <a:srgbClr val="3F3F3F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Exchange of a new, massive particle</a:t>
            </a:r>
          </a:p>
        </p:txBody>
      </p:sp>
      <p:sp>
        <p:nvSpPr>
          <p:cNvPr id="30733" name="Rectangle 13"/>
          <p:cNvSpPr>
            <a:spLocks/>
          </p:cNvSpPr>
          <p:nvPr/>
        </p:nvSpPr>
        <p:spPr bwMode="auto">
          <a:xfrm>
            <a:off x="5600700" y="5702300"/>
            <a:ext cx="3835400" cy="495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just">
              <a:spcBef>
                <a:spcPts val="2700"/>
              </a:spcBef>
              <a:defRPr/>
            </a:pPr>
            <a:r>
              <a:rPr lang="en-US" sz="2300">
                <a:solidFill>
                  <a:srgbClr val="FF0000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Does not produce</a:t>
            </a:r>
            <a:r>
              <a:rPr lang="en-US" sz="2300">
                <a:solidFill>
                  <a:srgbClr val="FF0000"/>
                </a:solidFill>
                <a:latin typeface="Times New Roman" pitchFamily="-12" charset="0"/>
                <a:ea typeface="Times New Roman" pitchFamily="-12" charset="0"/>
                <a:cs typeface="Times New Roman" pitchFamily="-12" charset="0"/>
                <a:sym typeface="Times New Roman" pitchFamily="-12" charset="0"/>
              </a:rPr>
              <a:t> </a:t>
            </a:r>
            <a:r>
              <a:rPr lang="en-US" sz="2700">
                <a:solidFill>
                  <a:srgbClr val="FF0000"/>
                </a:solidFill>
                <a:latin typeface="Times New Roman" pitchFamily="-12" charset="0"/>
                <a:ea typeface="Times New Roman" pitchFamily="-12" charset="0"/>
                <a:cs typeface="Times New Roman" pitchFamily="-12" charset="0"/>
                <a:sym typeface="Times New Roman" pitchFamily="-12" charset="0"/>
              </a:rPr>
              <a:t>μ→eγ</a:t>
            </a:r>
            <a:r>
              <a:rPr lang="en-US" sz="2700" i="1">
                <a:solidFill>
                  <a:srgbClr val="3F3F3F"/>
                </a:solidFill>
                <a:latin typeface="Cochin" pitchFamily="-12" charset="0"/>
                <a:ea typeface="Cochin" pitchFamily="-12" charset="0"/>
                <a:cs typeface="Cochin" pitchFamily="-12" charset="0"/>
                <a:sym typeface="Cochin" pitchFamily="-12" charset="0"/>
              </a:rPr>
              <a:t> </a:t>
            </a:r>
          </a:p>
        </p:txBody>
      </p:sp>
      <p:pic>
        <p:nvPicPr>
          <p:cNvPr id="223245" name="Picture 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534400" y="3416300"/>
            <a:ext cx="393700" cy="469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pic>
        <p:nvPicPr>
          <p:cNvPr id="223246" name="Picture 1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368800" y="3492500"/>
            <a:ext cx="304800" cy="30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pic>
        <p:nvPicPr>
          <p:cNvPr id="223247" name="Picture 1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63613" y="1547813"/>
            <a:ext cx="8216900" cy="514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30737" name="Rectangle 17"/>
          <p:cNvSpPr>
            <a:spLocks/>
          </p:cNvSpPr>
          <p:nvPr/>
        </p:nvSpPr>
        <p:spPr bwMode="auto">
          <a:xfrm>
            <a:off x="2967038" y="6426200"/>
            <a:ext cx="4225925" cy="495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Quantitative Comparison?</a:t>
            </a:r>
          </a:p>
        </p:txBody>
      </p:sp>
      <p:sp>
        <p:nvSpPr>
          <p:cNvPr id="20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2450" y="2952750"/>
            <a:ext cx="6515100" cy="17145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A5B240-C254-431A-AAE7-9826C1A94290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69" name="Rectangle 1"/>
          <p:cNvSpPr>
            <a:spLocks/>
          </p:cNvSpPr>
          <p:nvPr/>
        </p:nvSpPr>
        <p:spPr bwMode="auto">
          <a:xfrm>
            <a:off x="7189788" y="6203950"/>
            <a:ext cx="1476375" cy="431800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 sz="23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SINDRUM</a:t>
            </a:r>
          </a:p>
        </p:txBody>
      </p:sp>
      <p:sp>
        <p:nvSpPr>
          <p:cNvPr id="225283" name="Rectangle 2"/>
          <p:cNvSpPr>
            <a:spLocks/>
          </p:cNvSpPr>
          <p:nvPr/>
        </p:nvSpPr>
        <p:spPr bwMode="auto">
          <a:xfrm>
            <a:off x="4343400" y="2755900"/>
            <a:ext cx="2336800" cy="558800"/>
          </a:xfrm>
          <a:prstGeom prst="rect">
            <a:avLst/>
          </a:prstGeom>
          <a:solidFill>
            <a:srgbClr val="FFFFFF"/>
          </a:solidFill>
          <a:ln w="254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pic>
        <p:nvPicPr>
          <p:cNvPr id="22528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25286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651875" y="1143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32774" name="Rectangle 6"/>
          <p:cNvSpPr>
            <a:spLocks/>
          </p:cNvSpPr>
          <p:nvPr/>
        </p:nvSpPr>
        <p:spPr bwMode="auto">
          <a:xfrm>
            <a:off x="8104188" y="6680200"/>
            <a:ext cx="18923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 sz="1200">
                <a:solidFill>
                  <a:schemeClr val="tx1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André de Gouvêa, Project X Workshop Golden Book </a:t>
            </a:r>
          </a:p>
        </p:txBody>
      </p:sp>
      <p:sp>
        <p:nvSpPr>
          <p:cNvPr id="32775" name="Rectangle 7"/>
          <p:cNvSpPr>
            <a:spLocks/>
          </p:cNvSpPr>
          <p:nvPr/>
        </p:nvSpPr>
        <p:spPr bwMode="auto">
          <a:xfrm rot="-5400000">
            <a:off x="5514975" y="4259263"/>
            <a:ext cx="41783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 </a:t>
            </a: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higher mass scale</a:t>
            </a:r>
          </a:p>
        </p:txBody>
      </p:sp>
      <p:sp>
        <p:nvSpPr>
          <p:cNvPr id="32776" name="Rectangle 8"/>
          <p:cNvSpPr>
            <a:spLocks/>
          </p:cNvSpPr>
          <p:nvPr/>
        </p:nvSpPr>
        <p:spPr bwMode="auto">
          <a:xfrm>
            <a:off x="263525" y="2266950"/>
            <a:ext cx="2794000" cy="3340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>
              <a:solidFill>
                <a:schemeClr val="tx1"/>
              </a:solidFill>
              <a:latin typeface="Times New Roman" pitchFamily="-12" charset="0"/>
              <a:ea typeface="Times New Roman" pitchFamily="-12" charset="0"/>
              <a:cs typeface="Times New Roman" pitchFamily="-12" charset="0"/>
              <a:sym typeface="Times New Roman" pitchFamily="-12" charset="0"/>
            </a:endParaRPr>
          </a:p>
          <a:p>
            <a:pPr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1) </a:t>
            </a:r>
            <a:r>
              <a:rPr lang="en-US">
                <a:solidFill>
                  <a:schemeClr val="tx1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Mass Reach to ~10</a:t>
            </a:r>
            <a:r>
              <a:rPr lang="en-US" baseline="32000">
                <a:solidFill>
                  <a:schemeClr val="tx1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4</a:t>
            </a:r>
            <a:r>
              <a:rPr lang="en-US">
                <a:solidFill>
                  <a:schemeClr val="tx1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TeV</a:t>
            </a:r>
            <a:endParaRPr lang="en-US">
              <a:solidFill>
                <a:schemeClr val="tx1"/>
              </a:solidFill>
              <a:latin typeface="Arial" pitchFamily="-12" charset="0"/>
              <a:ea typeface="Arial" pitchFamily="-12" charset="0"/>
              <a:cs typeface="Arial" pitchFamily="-12" charset="0"/>
              <a:sym typeface="Arial" pitchFamily="-12" charset="0"/>
            </a:endParaRPr>
          </a:p>
          <a:p>
            <a:pPr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>
              <a:solidFill>
                <a:schemeClr val="tx1"/>
              </a:solidFill>
              <a:latin typeface="Arial" pitchFamily="-12" charset="0"/>
              <a:ea typeface="Arial" pitchFamily="-12" charset="0"/>
              <a:cs typeface="Arial" pitchFamily="-12" charset="0"/>
              <a:sym typeface="Arial" pitchFamily="-12" charset="0"/>
            </a:endParaRPr>
          </a:p>
          <a:p>
            <a:pPr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2) </a:t>
            </a:r>
            <a:r>
              <a:rPr lang="en-US">
                <a:solidFill>
                  <a:schemeClr val="tx1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about x2 beyond MEG in loop-dominated physics</a:t>
            </a:r>
          </a:p>
        </p:txBody>
      </p:sp>
      <p:sp>
        <p:nvSpPr>
          <p:cNvPr id="32777" name="Rectangle 9"/>
          <p:cNvSpPr>
            <a:spLocks/>
          </p:cNvSpPr>
          <p:nvPr/>
        </p:nvSpPr>
        <p:spPr bwMode="auto">
          <a:xfrm>
            <a:off x="6704013" y="2120900"/>
            <a:ext cx="4025900" cy="901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endParaRPr lang="en-US">
              <a:solidFill>
                <a:schemeClr val="tx1"/>
              </a:solidFill>
              <a:latin typeface="Times New Roman" pitchFamily="-12" charset="0"/>
              <a:ea typeface="Times New Roman" pitchFamily="-12" charset="0"/>
              <a:cs typeface="Times New Roman" pitchFamily="-12" charset="0"/>
              <a:sym typeface="Times New Roman" pitchFamily="-12" charset="0"/>
            </a:endParaRPr>
          </a:p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endParaRPr lang="en-US">
              <a:solidFill>
                <a:schemeClr val="tx1"/>
              </a:solidFill>
              <a:latin typeface="Hoefler Text" pitchFamily="-12" charset="0"/>
              <a:ea typeface="Hoefler Text" pitchFamily="-12" charset="0"/>
              <a:cs typeface="Hoefler Text" pitchFamily="-12" charset="0"/>
              <a:sym typeface="Hoefler Text" pitchFamily="-12" charset="0"/>
            </a:endParaRPr>
          </a:p>
        </p:txBody>
      </p:sp>
      <p:sp>
        <p:nvSpPr>
          <p:cNvPr id="32778" name="Rectangle 10"/>
          <p:cNvSpPr>
            <a:spLocks/>
          </p:cNvSpPr>
          <p:nvPr/>
        </p:nvSpPr>
        <p:spPr bwMode="auto">
          <a:xfrm>
            <a:off x="2747963" y="6203950"/>
            <a:ext cx="936625" cy="419100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 sz="22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MEGA</a:t>
            </a:r>
          </a:p>
        </p:txBody>
      </p:sp>
      <p:sp>
        <p:nvSpPr>
          <p:cNvPr id="32779" name="Rectangle 11"/>
          <p:cNvSpPr>
            <a:spLocks/>
          </p:cNvSpPr>
          <p:nvPr/>
        </p:nvSpPr>
        <p:spPr bwMode="auto">
          <a:xfrm>
            <a:off x="4991100" y="4032250"/>
            <a:ext cx="1022350" cy="495300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rgbClr val="800000"/>
                </a:solidFill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Mu2e</a:t>
            </a:r>
          </a:p>
        </p:txBody>
      </p:sp>
      <p:sp>
        <p:nvSpPr>
          <p:cNvPr id="32780" name="Rectangle 12"/>
          <p:cNvSpPr>
            <a:spLocks/>
          </p:cNvSpPr>
          <p:nvPr/>
        </p:nvSpPr>
        <p:spPr bwMode="auto">
          <a:xfrm>
            <a:off x="5040313" y="5410200"/>
            <a:ext cx="923925" cy="495300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rgbClr val="800000"/>
                </a:solidFill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MEG</a:t>
            </a:r>
          </a:p>
        </p:txBody>
      </p:sp>
      <p:sp>
        <p:nvSpPr>
          <p:cNvPr id="32781" name="Line 13"/>
          <p:cNvSpPr>
            <a:spLocks noChangeShapeType="1"/>
          </p:cNvSpPr>
          <p:nvPr/>
        </p:nvSpPr>
        <p:spPr bwMode="auto">
          <a:xfrm>
            <a:off x="7607300" y="1370013"/>
            <a:ext cx="23813" cy="17160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latin typeface="Hoefler Text" pitchFamily="-12" charset="0"/>
              <a:ea typeface="ヒラギノ明朝 ProN W3" charset="-128"/>
              <a:cs typeface="ヒラギノ明朝 ProN W3" charset="-128"/>
              <a:sym typeface="Hoefler Text" pitchFamily="-12" charset="0"/>
            </a:endParaRPr>
          </a:p>
        </p:txBody>
      </p:sp>
      <p:pic>
        <p:nvPicPr>
          <p:cNvPr id="225295" name="Picture 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62100" y="1168400"/>
            <a:ext cx="5753100" cy="62372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32783" name="Rectangle 15"/>
          <p:cNvSpPr>
            <a:spLocks/>
          </p:cNvSpPr>
          <p:nvPr/>
        </p:nvSpPr>
        <p:spPr bwMode="auto">
          <a:xfrm>
            <a:off x="1638300" y="1244600"/>
            <a:ext cx="1441450" cy="558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rgbClr val="800000"/>
                </a:solidFill>
                <a:latin typeface="Times New Roman Bold Italic" charset="0"/>
                <a:ea typeface="Times New Roman Bold Italic" charset="0"/>
                <a:cs typeface="Times New Roman Bold Italic" charset="0"/>
                <a:sym typeface="Times New Roman Bold Italic" charset="0"/>
              </a:rPr>
              <a:t>Λ </a:t>
            </a:r>
            <a:r>
              <a:rPr lang="en-US" sz="3200">
                <a:solidFill>
                  <a:srgbClr val="800000"/>
                </a:solidFill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(TeV)</a:t>
            </a:r>
          </a:p>
        </p:txBody>
      </p:sp>
      <p:sp>
        <p:nvSpPr>
          <p:cNvPr id="32784" name="Rectangle 16"/>
          <p:cNvSpPr>
            <a:spLocks/>
          </p:cNvSpPr>
          <p:nvPr/>
        </p:nvSpPr>
        <p:spPr bwMode="auto">
          <a:xfrm>
            <a:off x="7391400" y="6375400"/>
            <a:ext cx="436563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n-US" sz="5300">
                <a:solidFill>
                  <a:srgbClr val="800000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κ</a:t>
            </a:r>
          </a:p>
        </p:txBody>
      </p:sp>
      <p:sp>
        <p:nvSpPr>
          <p:cNvPr id="32785" name="Rectangle 17"/>
          <p:cNvSpPr>
            <a:spLocks/>
          </p:cNvSpPr>
          <p:nvPr/>
        </p:nvSpPr>
        <p:spPr bwMode="auto">
          <a:xfrm>
            <a:off x="4278313" y="2768600"/>
            <a:ext cx="2466975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rgbClr val="FF0000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Project X Mu2e</a:t>
            </a:r>
          </a:p>
        </p:txBody>
      </p:sp>
      <p:sp>
        <p:nvSpPr>
          <p:cNvPr id="32786" name="Rectangle 18"/>
          <p:cNvSpPr>
            <a:spLocks/>
          </p:cNvSpPr>
          <p:nvPr/>
        </p:nvSpPr>
        <p:spPr bwMode="auto">
          <a:xfrm>
            <a:off x="800100" y="-368300"/>
            <a:ext cx="8178800" cy="1866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>
              <a:spcBef>
                <a:spcPts val="200"/>
              </a:spcBef>
              <a:tabLst>
                <a:tab pos="952500" algn="l"/>
              </a:tabLst>
              <a:defRPr/>
            </a:pPr>
            <a:r>
              <a:rPr lang="en-US" sz="5400">
                <a:solidFill>
                  <a:schemeClr val="tx1"/>
                </a:solidFill>
                <a:latin typeface="Times New Roman" pitchFamily="-12" charset="0"/>
                <a:ea typeface="Times New Roman" pitchFamily="-12" charset="0"/>
                <a:cs typeface="Times New Roman" pitchFamily="-12" charset="0"/>
                <a:sym typeface="Times New Roman" pitchFamily="-12" charset="0"/>
              </a:rPr>
              <a:t>μ</a:t>
            </a:r>
            <a:r>
              <a:rPr lang="en-US" sz="50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e</a:t>
            </a:r>
            <a:r>
              <a:rPr lang="en-US" sz="5000">
                <a:solidFill>
                  <a:schemeClr val="tx1"/>
                </a:solidFill>
                <a:latin typeface="Times New Roman" pitchFamily="-12" charset="0"/>
                <a:ea typeface="Times New Roman" pitchFamily="-12" charset="0"/>
                <a:cs typeface="Times New Roman" pitchFamily="-12" charset="0"/>
                <a:sym typeface="Times New Roman" pitchFamily="-12" charset="0"/>
              </a:rPr>
              <a:t> </a:t>
            </a:r>
            <a:r>
              <a:rPr lang="en-US" sz="50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Conversion and</a:t>
            </a:r>
            <a:r>
              <a:rPr lang="en-US" sz="5000">
                <a:solidFill>
                  <a:schemeClr val="tx1"/>
                </a:solidFill>
                <a:latin typeface="Times New Roman" pitchFamily="-12" charset="0"/>
                <a:ea typeface="Times New Roman" pitchFamily="-12" charset="0"/>
                <a:cs typeface="Times New Roman" pitchFamily="-12" charset="0"/>
                <a:sym typeface="Times New Roman" pitchFamily="-12" charset="0"/>
              </a:rPr>
              <a:t> </a:t>
            </a:r>
            <a:r>
              <a:rPr lang="en-US" sz="5300">
                <a:solidFill>
                  <a:schemeClr val="tx1"/>
                </a:solidFill>
                <a:latin typeface="Times New Roman" pitchFamily="-12" charset="0"/>
                <a:ea typeface="Times New Roman" pitchFamily="-12" charset="0"/>
                <a:cs typeface="Times New Roman" pitchFamily="-12" charset="0"/>
                <a:sym typeface="Times New Roman" pitchFamily="-12" charset="0"/>
              </a:rPr>
              <a:t>μ→</a:t>
            </a:r>
            <a:r>
              <a:rPr lang="en-US" sz="50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e</a:t>
            </a:r>
            <a:r>
              <a:rPr lang="en-US" sz="5300">
                <a:solidFill>
                  <a:schemeClr val="tx1"/>
                </a:solidFill>
                <a:latin typeface="Times New Roman" pitchFamily="-12" charset="0"/>
                <a:ea typeface="Times New Roman" pitchFamily="-12" charset="0"/>
                <a:cs typeface="Times New Roman" pitchFamily="-12" charset="0"/>
                <a:sym typeface="Times New Roman" pitchFamily="-12" charset="0"/>
              </a:rPr>
              <a:t>γ</a:t>
            </a:r>
          </a:p>
        </p:txBody>
      </p:sp>
      <p:sp>
        <p:nvSpPr>
          <p:cNvPr id="21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A666EE-60C8-4B00-8881-B170B28E58AF}" type="slidenum">
              <a:rPr lang="en-US"/>
              <a:pPr>
                <a:defRPr/>
              </a:pPr>
              <a:t>11</a:t>
            </a:fld>
            <a:endParaRPr lang="en-US"/>
          </a:p>
        </p:txBody>
      </p:sp>
      <p:pic>
        <p:nvPicPr>
          <p:cNvPr id="22733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2733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348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Outline</a:t>
            </a:r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>
                <a:sym typeface="Arial" pitchFamily="-12" charset="0"/>
              </a:rPr>
              <a:t>The search for muon-electron conversion</a:t>
            </a: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Experimental Technique </a:t>
            </a:r>
            <a:endParaRPr lang="en-US" dirty="0" smtClean="0">
              <a:sym typeface="Arial" pitchFamily="-12" charset="0"/>
            </a:endParaRP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 smtClean="0">
                <a:sym typeface="Arial" pitchFamily="-12" charset="0"/>
              </a:rPr>
              <a:t>Project </a:t>
            </a:r>
            <a:r>
              <a:rPr lang="en-US" dirty="0">
                <a:sym typeface="Arial" pitchFamily="-12" charset="0"/>
              </a:rPr>
              <a:t>X Upgrades and </a:t>
            </a:r>
            <a:r>
              <a:rPr lang="en-US" dirty="0" smtClean="0">
                <a:sym typeface="Arial" pitchFamily="-12" charset="0"/>
              </a:rPr>
              <a:t>Mu2e</a:t>
            </a: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>
                <a:sym typeface="Arial" pitchFamily="-12" charset="0"/>
              </a:rPr>
              <a:t>Conclusions</a:t>
            </a:r>
          </a:p>
        </p:txBody>
      </p:sp>
      <p:sp>
        <p:nvSpPr>
          <p:cNvPr id="227335" name="Text Box 6"/>
          <p:cNvSpPr txBox="1">
            <a:spLocks noChangeArrowheads="1"/>
          </p:cNvSpPr>
          <p:nvPr/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</a:pPr>
            <a:fld id="{78BE1770-7346-4B11-AAC0-DBD0074E4950}" type="slidenum">
              <a:rPr lang="en-US" sz="1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</a:pPr>
              <a:t>11</a:t>
            </a:fld>
            <a:endParaRPr lang="en-US" sz="18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9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6573C8-1BE8-46CD-B45F-106AFF6334CC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228354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pic>
        <p:nvPicPr>
          <p:cNvPr id="22835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2835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51875" y="1143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358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Overview Of Processes</a:t>
            </a:r>
          </a:p>
        </p:txBody>
      </p:sp>
      <p:grpSp>
        <p:nvGrpSpPr>
          <p:cNvPr id="228358" name="Group 5"/>
          <p:cNvGrpSpPr>
            <a:grpSpLocks/>
          </p:cNvGrpSpPr>
          <p:nvPr/>
        </p:nvGrpSpPr>
        <p:grpSpPr bwMode="auto">
          <a:xfrm>
            <a:off x="6057900" y="1219200"/>
            <a:ext cx="3509963" cy="2044700"/>
            <a:chOff x="0" y="0"/>
            <a:chExt cx="2211" cy="1288"/>
          </a:xfrm>
        </p:grpSpPr>
        <p:sp>
          <p:nvSpPr>
            <p:cNvPr id="228375" name="Oval 6"/>
            <p:cNvSpPr>
              <a:spLocks/>
            </p:cNvSpPr>
            <p:nvPr/>
          </p:nvSpPr>
          <p:spPr bwMode="auto">
            <a:xfrm>
              <a:off x="0" y="328"/>
              <a:ext cx="960" cy="96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228376" name="Oval 7"/>
            <p:cNvSpPr>
              <a:spLocks/>
            </p:cNvSpPr>
            <p:nvPr/>
          </p:nvSpPr>
          <p:spPr bwMode="auto">
            <a:xfrm>
              <a:off x="280" y="608"/>
              <a:ext cx="400" cy="400"/>
            </a:xfrm>
            <a:prstGeom prst="ellipse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25400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35848" name="Rectangle 8"/>
            <p:cNvSpPr>
              <a:spLocks/>
            </p:cNvSpPr>
            <p:nvPr/>
          </p:nvSpPr>
          <p:spPr bwMode="auto">
            <a:xfrm>
              <a:off x="1069" y="560"/>
              <a:ext cx="1142" cy="56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  <a:defRPr/>
              </a:pPr>
              <a:r>
                <a:rPr lang="en-US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Al Nucleus</a:t>
              </a:r>
            </a:p>
            <a:p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  <a:defRPr/>
              </a:pPr>
              <a:r>
                <a:rPr lang="en-US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~</a:t>
              </a:r>
              <a:r>
                <a:rPr lang="en-US">
                  <a:solidFill>
                    <a:srgbClr val="0000FF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4 fm</a:t>
              </a:r>
            </a:p>
          </p:txBody>
        </p:sp>
        <p:sp>
          <p:nvSpPr>
            <p:cNvPr id="35849" name="Rectangle 9"/>
            <p:cNvSpPr>
              <a:spLocks/>
            </p:cNvSpPr>
            <p:nvPr/>
          </p:nvSpPr>
          <p:spPr bwMode="auto">
            <a:xfrm>
              <a:off x="46" y="0"/>
              <a:ext cx="1348" cy="32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  <a:defRPr/>
              </a:pPr>
              <a:r>
                <a:rPr lang="en-US">
                  <a:solidFill>
                    <a:schemeClr val="tx1"/>
                  </a:solidFill>
                  <a:latin typeface="Times New Roman Italic" charset="0"/>
                  <a:ea typeface="Times New Roman Italic" charset="0"/>
                  <a:cs typeface="Times New Roman Italic" charset="0"/>
                  <a:sym typeface="Times New Roman Italic" charset="0"/>
                </a:rPr>
                <a:t>μ</a:t>
              </a:r>
              <a:r>
                <a:rPr lang="en-US" baseline="32000">
                  <a:solidFill>
                    <a:schemeClr val="tx1"/>
                  </a:solidFill>
                  <a:latin typeface="Times New Roman Italic" charset="0"/>
                  <a:ea typeface="Times New Roman Italic" charset="0"/>
                  <a:cs typeface="Times New Roman Italic" charset="0"/>
                  <a:sym typeface="Times New Roman Italic" charset="0"/>
                </a:rPr>
                <a:t>- </a:t>
              </a:r>
              <a:r>
                <a:rPr lang="en-US">
                  <a:solidFill>
                    <a:schemeClr val="tx1"/>
                  </a:solidFill>
                  <a:latin typeface="Times New Roman Italic" charset="0"/>
                  <a:ea typeface="Times New Roman Italic" charset="0"/>
                  <a:cs typeface="Times New Roman Italic" charset="0"/>
                  <a:sym typeface="Times New Roman Italic" charset="0"/>
                </a:rPr>
                <a:t> </a:t>
              </a:r>
              <a:r>
                <a:rPr lang="en-US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in 1s state</a:t>
              </a:r>
            </a:p>
          </p:txBody>
        </p:sp>
      </p:grpSp>
      <p:sp>
        <p:nvSpPr>
          <p:cNvPr id="35850" name="Line 10"/>
          <p:cNvSpPr>
            <a:spLocks noChangeShapeType="1"/>
          </p:cNvSpPr>
          <p:nvPr/>
        </p:nvSpPr>
        <p:spPr bwMode="auto">
          <a:xfrm rot="10800000">
            <a:off x="2216150" y="1724025"/>
            <a:ext cx="2343150" cy="15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latin typeface="Hoefler Text" pitchFamily="-12" charset="0"/>
              <a:ea typeface="ヒラギノ明朝 ProN W3" charset="-128"/>
              <a:cs typeface="ヒラギノ明朝 ProN W3" charset="-128"/>
              <a:sym typeface="Hoefler Text" pitchFamily="-12" charset="0"/>
            </a:endParaRPr>
          </a:p>
        </p:txBody>
      </p:sp>
      <p:sp>
        <p:nvSpPr>
          <p:cNvPr id="35851" name="Rectangle 11"/>
          <p:cNvSpPr>
            <a:spLocks/>
          </p:cNvSpPr>
          <p:nvPr/>
        </p:nvSpPr>
        <p:spPr bwMode="auto">
          <a:xfrm>
            <a:off x="1225550" y="977900"/>
            <a:ext cx="3365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 dirty="0" err="1">
                <a:solidFill>
                  <a:schemeClr val="tx1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μ</a:t>
            </a:r>
            <a:r>
              <a:rPr lang="en-US" baseline="32000" dirty="0">
                <a:solidFill>
                  <a:schemeClr val="tx1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- </a:t>
            </a:r>
            <a:r>
              <a:rPr lang="en-US" dirty="0">
                <a:solidFill>
                  <a:schemeClr val="tx1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stops in thin Al foil</a:t>
            </a:r>
          </a:p>
        </p:txBody>
      </p:sp>
      <p:sp>
        <p:nvSpPr>
          <p:cNvPr id="35852" name="Rectangle 12"/>
          <p:cNvSpPr>
            <a:spLocks/>
          </p:cNvSpPr>
          <p:nvPr/>
        </p:nvSpPr>
        <p:spPr bwMode="auto">
          <a:xfrm>
            <a:off x="1033463" y="2146300"/>
            <a:ext cx="4318000" cy="914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the Bohr radius is ~ </a:t>
            </a:r>
            <a:r>
              <a:rPr lang="en-US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20</a:t>
            </a:r>
            <a:r>
              <a:rPr lang="en-US" baseline="32000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</a:t>
            </a:r>
            <a:r>
              <a:rPr lang="en-US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fm</a:t>
            </a:r>
            <a:r>
              <a:rPr lang="en-US">
                <a:solidFill>
                  <a:schemeClr val="tx1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, so the </a:t>
            </a:r>
            <a:r>
              <a:rPr lang="en-US">
                <a:solidFill>
                  <a:schemeClr val="tx1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μ</a:t>
            </a:r>
            <a:r>
              <a:rPr lang="en-US" baseline="32000">
                <a:solidFill>
                  <a:schemeClr val="tx1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-  </a:t>
            </a:r>
            <a:r>
              <a:rPr lang="en-US">
                <a:solidFill>
                  <a:schemeClr val="tx1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sees the nucleus</a:t>
            </a:r>
          </a:p>
        </p:txBody>
      </p:sp>
      <p:sp>
        <p:nvSpPr>
          <p:cNvPr id="35853" name="Rectangle 13"/>
          <p:cNvSpPr>
            <a:spLocks/>
          </p:cNvSpPr>
          <p:nvPr/>
        </p:nvSpPr>
        <p:spPr bwMode="auto">
          <a:xfrm>
            <a:off x="6997700" y="4521200"/>
            <a:ext cx="2730500" cy="749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 sz="22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60% capture</a:t>
            </a:r>
          </a:p>
          <a:p>
            <a:pPr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 sz="22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40% decay</a:t>
            </a:r>
          </a:p>
        </p:txBody>
      </p:sp>
      <p:sp>
        <p:nvSpPr>
          <p:cNvPr id="228363" name="Oval 14"/>
          <p:cNvSpPr>
            <a:spLocks/>
          </p:cNvSpPr>
          <p:nvPr/>
        </p:nvSpPr>
        <p:spPr bwMode="auto">
          <a:xfrm>
            <a:off x="4584700" y="1295400"/>
            <a:ext cx="215900" cy="876300"/>
          </a:xfrm>
          <a:prstGeom prst="ellipse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25400">
            <a:noFill/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grpSp>
        <p:nvGrpSpPr>
          <p:cNvPr id="228364" name="Group 15"/>
          <p:cNvGrpSpPr>
            <a:grpSpLocks/>
          </p:cNvGrpSpPr>
          <p:nvPr/>
        </p:nvGrpSpPr>
        <p:grpSpPr bwMode="auto">
          <a:xfrm>
            <a:off x="2889250" y="3505200"/>
            <a:ext cx="3621088" cy="3594100"/>
            <a:chOff x="0" y="0"/>
            <a:chExt cx="2280" cy="2264"/>
          </a:xfrm>
        </p:grpSpPr>
        <p:grpSp>
          <p:nvGrpSpPr>
            <p:cNvPr id="228367" name="Group 16"/>
            <p:cNvGrpSpPr>
              <a:grpSpLocks/>
            </p:cNvGrpSpPr>
            <p:nvPr/>
          </p:nvGrpSpPr>
          <p:grpSpPr bwMode="auto">
            <a:xfrm>
              <a:off x="0" y="0"/>
              <a:ext cx="2252" cy="2264"/>
              <a:chOff x="0" y="0"/>
              <a:chExt cx="2252" cy="2264"/>
            </a:xfrm>
          </p:grpSpPr>
          <p:sp>
            <p:nvSpPr>
              <p:cNvPr id="228373" name="Rectangle 17"/>
              <p:cNvSpPr>
                <a:spLocks/>
              </p:cNvSpPr>
              <p:nvPr/>
            </p:nvSpPr>
            <p:spPr bwMode="auto">
              <a:xfrm>
                <a:off x="0" y="0"/>
                <a:ext cx="2252" cy="2264"/>
              </a:xfrm>
              <a:prstGeom prst="rect">
                <a:avLst/>
              </a:prstGeom>
              <a:solidFill>
                <a:srgbClr val="BFBFB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pic>
            <p:nvPicPr>
              <p:cNvPr id="228374" name="Picture 18"/>
              <p:cNvPicPr>
                <a:picLocks noChangeArrowheads="1"/>
              </p:cNvPicPr>
              <p:nvPr/>
            </p:nvPicPr>
            <mc:AlternateContent>
              <mc:Choice xmlns:ma="http://schemas.microsoft.com/office/mac/drawingml/2008/main" Requires="ma">
                <p:blipFill>
                  <a:blip r:embed="rId5"/>
                  <a:srcRect/>
                  <a:stretch>
                    <a:fillRect/>
                  </a:stretch>
                </p:blipFill>
              </mc:Choice>
              <mc:Fallback>
                <p:blipFill>
                  <a:blip r:embed="rId6"/>
                  <a:srcRect/>
                  <a:stretch>
                    <a:fillRect/>
                  </a:stretch>
                </p:blipFill>
              </mc:Fallback>
            </mc:AlternateContent>
            <p:spPr bwMode="auto">
              <a:xfrm>
                <a:off x="266" y="195"/>
                <a:ext cx="1772" cy="137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</p:pic>
        </p:grpSp>
        <p:pic>
          <p:nvPicPr>
            <p:cNvPr id="228368" name="Picture 19"/>
            <p:cNvPicPr>
              <a:picLocks noChangeArrowheads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7"/>
                <a:srcRect/>
                <a:stretch>
                  <a:fillRect/>
                </a:stretch>
              </p:blipFill>
            </mc:Choice>
            <mc:Fallback>
              <p:blipFill>
                <a:blip r:embed="rId8"/>
                <a:srcRect/>
                <a:stretch>
                  <a:fillRect/>
                </a:stretch>
              </p:blipFill>
            </mc:Fallback>
          </mc:AlternateContent>
          <p:spPr bwMode="auto">
            <a:xfrm rot="-420001">
              <a:off x="504" y="1010"/>
              <a:ext cx="807" cy="7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228369" name="Picture 20"/>
            <p:cNvPicPr>
              <a:picLocks noChangeAspect="1" noChangeArrowheads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9"/>
                <a:srcRect/>
                <a:stretch>
                  <a:fillRect/>
                </a:stretch>
              </p:blipFill>
            </mc:Choice>
            <mc:Fallback>
              <p:blipFill>
                <a:blip r:embed="rId10"/>
                <a:srcRect/>
                <a:stretch>
                  <a:fillRect/>
                </a:stretch>
              </p:blipFill>
            </mc:Fallback>
          </mc:AlternateContent>
          <p:spPr bwMode="auto">
            <a:xfrm>
              <a:off x="1207" y="1465"/>
              <a:ext cx="1073" cy="1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228370" name="Picture 21"/>
            <p:cNvPicPr>
              <a:picLocks noChangeAspect="1" noChangeArrowheads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11"/>
                <a:srcRect/>
                <a:stretch>
                  <a:fillRect/>
                </a:stretch>
              </p:blipFill>
            </mc:Choice>
            <mc:Fallback>
              <p:blipFill>
                <a:blip r:embed="rId12"/>
                <a:srcRect/>
                <a:stretch>
                  <a:fillRect/>
                </a:stretch>
              </p:blipFill>
            </mc:Fallback>
          </mc:AlternateContent>
          <p:spPr bwMode="auto">
            <a:xfrm>
              <a:off x="35" y="1722"/>
              <a:ext cx="1198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228371" name="Picture 22"/>
            <p:cNvPicPr>
              <a:picLocks noChangeAspect="1" noChangeArrowheads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13"/>
                <a:srcRect/>
                <a:stretch>
                  <a:fillRect/>
                </a:stretch>
              </p:blipFill>
            </mc:Choice>
            <mc:Fallback>
              <p:blipFill>
                <a:blip r:embed="rId14"/>
                <a:srcRect/>
                <a:stretch>
                  <a:fillRect/>
                </a:stretch>
              </p:blipFill>
            </mc:Fallback>
          </mc:AlternateContent>
          <p:spPr bwMode="auto">
            <a:xfrm>
              <a:off x="65" y="1922"/>
              <a:ext cx="1817" cy="24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228372" name="Picture 23"/>
            <p:cNvPicPr>
              <a:picLocks noChangeAspect="1" noChangeArrowheads="1"/>
            </p:cNvPicPr>
            <p:nvPr/>
          </p:nvPicPr>
          <mc:AlternateContent>
            <mc:Choice xmlns:ma="http://schemas.microsoft.com/office/mac/drawingml/2008/main" Requires="ma">
              <p:blipFill>
                <a:blip r:embed="rId15"/>
                <a:srcRect/>
                <a:stretch>
                  <a:fillRect/>
                </a:stretch>
              </p:blipFill>
            </mc:Choice>
            <mc:Fallback>
              <p:blipFill>
                <a:blip r:embed="rId16"/>
                <a:srcRect/>
                <a:stretch>
                  <a:fillRect/>
                </a:stretch>
              </p:blipFill>
            </mc:Fallback>
          </mc:AlternateContent>
          <p:spPr bwMode="auto">
            <a:xfrm>
              <a:off x="1300" y="1632"/>
              <a:ext cx="891" cy="25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35864" name="Rectangle 24"/>
          <p:cNvSpPr>
            <a:spLocks/>
          </p:cNvSpPr>
          <p:nvPr/>
        </p:nvSpPr>
        <p:spPr bwMode="auto">
          <a:xfrm>
            <a:off x="-239713" y="5143500"/>
            <a:ext cx="3325813" cy="171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muon capture,</a:t>
            </a:r>
          </a:p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muon “falls into” nucleus: </a:t>
            </a:r>
            <a:r>
              <a:rPr lang="en-US">
                <a:solidFill>
                  <a:srgbClr val="FF0000"/>
                </a:solidFill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normalization</a:t>
            </a:r>
          </a:p>
        </p:txBody>
      </p:sp>
      <p:sp>
        <p:nvSpPr>
          <p:cNvPr id="35865" name="Rectangle 25"/>
          <p:cNvSpPr>
            <a:spLocks/>
          </p:cNvSpPr>
          <p:nvPr/>
        </p:nvSpPr>
        <p:spPr bwMode="auto">
          <a:xfrm>
            <a:off x="6577013" y="5918200"/>
            <a:ext cx="2466975" cy="901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Decay in Orbit:</a:t>
            </a:r>
          </a:p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rgbClr val="FF0000"/>
                </a:solidFill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background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D8344B-64CA-4865-9F08-AF25C2761156}" type="slidenum">
              <a:rPr lang="en-US"/>
              <a:pPr>
                <a:defRPr/>
              </a:pPr>
              <a:t>13</a:t>
            </a:fld>
            <a:endParaRPr lang="en-US"/>
          </a:p>
        </p:txBody>
      </p:sp>
      <p:pic>
        <p:nvPicPr>
          <p:cNvPr id="23654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3654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51875" y="1143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pic>
        <p:nvPicPr>
          <p:cNvPr id="236549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8900" y="457200"/>
            <a:ext cx="9169400" cy="62150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4037" name="Rectangle 5"/>
          <p:cNvSpPr>
            <a:spLocks/>
          </p:cNvSpPr>
          <p:nvPr/>
        </p:nvSpPr>
        <p:spPr bwMode="auto">
          <a:xfrm>
            <a:off x="457200" y="6223000"/>
            <a:ext cx="9486900" cy="1028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547688" indent="-331788">
              <a:spcBef>
                <a:spcPts val="3400"/>
              </a:spcBef>
              <a:buSzPct val="125000"/>
              <a:buFont typeface="Arial" pitchFamily="-12" charset="0"/>
              <a:buChar char="•"/>
              <a:tabLst>
                <a:tab pos="1042988" algn="l"/>
              </a:tabLst>
              <a:defRPr/>
            </a:pPr>
            <a:r>
              <a:rPr lang="en-US" sz="2900" dirty="0">
                <a:solidFill>
                  <a:schemeClr val="tx1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Production</a:t>
            </a:r>
            <a:r>
              <a:rPr lang="en-US" sz="2900" dirty="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: Magnetic</a:t>
            </a:r>
            <a:r>
              <a:rPr lang="en-US" sz="2900" dirty="0" smtClean="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 mirror reflects </a:t>
            </a:r>
            <a:r>
              <a:rPr lang="en-US" sz="3200" dirty="0" err="1" smtClean="0">
                <a:solidFill>
                  <a:schemeClr val="tx1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π’s</a:t>
            </a:r>
            <a:r>
              <a:rPr lang="en-US" sz="2900" dirty="0" smtClean="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 into acceptance</a:t>
            </a:r>
            <a:endParaRPr lang="en-US" sz="2900" dirty="0">
              <a:solidFill>
                <a:schemeClr val="tx1"/>
              </a:solidFill>
              <a:latin typeface="Arial" pitchFamily="-12" charset="0"/>
              <a:ea typeface="Arial" pitchFamily="-12" charset="0"/>
              <a:cs typeface="Arial" pitchFamily="-12" charset="0"/>
              <a:sym typeface="Arial" pitchFamily="-12" charset="0"/>
            </a:endParaRPr>
          </a:p>
        </p:txBody>
      </p:sp>
      <p:sp>
        <p:nvSpPr>
          <p:cNvPr id="44038" name="Rectangle 6"/>
          <p:cNvSpPr>
            <a:spLocks/>
          </p:cNvSpPr>
          <p:nvPr/>
        </p:nvSpPr>
        <p:spPr bwMode="auto">
          <a:xfrm>
            <a:off x="1905000" y="2717800"/>
            <a:ext cx="4432300" cy="127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547688" indent="-331788">
              <a:spcBef>
                <a:spcPts val="3400"/>
              </a:spcBef>
              <a:buSzPct val="125000"/>
              <a:buFont typeface="Arial" pitchFamily="-12" charset="0"/>
              <a:buChar char="•"/>
              <a:tabLst>
                <a:tab pos="1042988" algn="l"/>
              </a:tabLst>
              <a:defRPr/>
            </a:pPr>
            <a:r>
              <a:rPr lang="en-US" sz="2700">
                <a:solidFill>
                  <a:schemeClr val="tx1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Decay</a:t>
            </a:r>
            <a:r>
              <a:rPr lang="en-US" sz="27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 into muons and transport to stopping target</a:t>
            </a:r>
          </a:p>
        </p:txBody>
      </p:sp>
      <p:sp>
        <p:nvSpPr>
          <p:cNvPr id="44039" name="Rectangle 7"/>
          <p:cNvSpPr>
            <a:spLocks/>
          </p:cNvSpPr>
          <p:nvPr/>
        </p:nvSpPr>
        <p:spPr bwMode="auto">
          <a:xfrm>
            <a:off x="2514600" y="4953000"/>
            <a:ext cx="5422900" cy="876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547688" indent="-331788">
              <a:spcBef>
                <a:spcPts val="3400"/>
              </a:spcBef>
              <a:buSzPct val="125000"/>
              <a:buFont typeface="Arial" pitchFamily="-12" charset="0"/>
              <a:buChar char="•"/>
              <a:tabLst>
                <a:tab pos="1042988" algn="l"/>
              </a:tabLst>
              <a:defRPr/>
            </a:pPr>
            <a:r>
              <a:rPr lang="en-US" sz="27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S-curve eliminates backgrounds and sign-selects</a:t>
            </a:r>
          </a:p>
        </p:txBody>
      </p:sp>
      <p:sp>
        <p:nvSpPr>
          <p:cNvPr id="44040" name="Rectangle 8"/>
          <p:cNvSpPr>
            <a:spLocks/>
          </p:cNvSpPr>
          <p:nvPr/>
        </p:nvSpPr>
        <p:spPr bwMode="auto">
          <a:xfrm>
            <a:off x="5168900" y="1473200"/>
            <a:ext cx="476885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marL="547688" indent="-331788">
              <a:spcBef>
                <a:spcPts val="3400"/>
              </a:spcBef>
              <a:buSzPct val="125000"/>
              <a:buFont typeface="Arial" pitchFamily="-12" charset="0"/>
              <a:buChar char="•"/>
              <a:tabLst>
                <a:tab pos="1042988" algn="l"/>
              </a:tabLst>
              <a:defRPr/>
            </a:pPr>
            <a:r>
              <a:rPr lang="en-US" sz="2900">
                <a:solidFill>
                  <a:schemeClr val="tx1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Tracking and Calorimeter</a:t>
            </a:r>
          </a:p>
        </p:txBody>
      </p:sp>
      <p:sp>
        <p:nvSpPr>
          <p:cNvPr id="44041" name="Line 9"/>
          <p:cNvSpPr>
            <a:spLocks noChangeShapeType="1"/>
          </p:cNvSpPr>
          <p:nvPr/>
        </p:nvSpPr>
        <p:spPr bwMode="auto">
          <a:xfrm>
            <a:off x="1841500" y="5740400"/>
            <a:ext cx="606425" cy="6905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latin typeface="Hoefler Text" pitchFamily="-12" charset="0"/>
              <a:ea typeface="ヒラギノ明朝 ProN W3" charset="-128"/>
              <a:cs typeface="ヒラギノ明朝 ProN W3" charset="-128"/>
              <a:sym typeface="Hoefler Text" pitchFamily="-12" charset="0"/>
            </a:endParaRPr>
          </a:p>
        </p:txBody>
      </p:sp>
      <p:sp>
        <p:nvSpPr>
          <p:cNvPr id="44042" name="Rectangle 10"/>
          <p:cNvSpPr>
            <a:spLocks noGrp="1" noChangeArrowheads="1"/>
          </p:cNvSpPr>
          <p:nvPr>
            <p:ph type="title"/>
          </p:nvPr>
        </p:nvSpPr>
        <p:spPr>
          <a:xfrm>
            <a:off x="990600" y="165100"/>
            <a:ext cx="8178800" cy="1549400"/>
          </a:xfrm>
        </p:spPr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Detector and Solenoid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7000" y="4114800"/>
            <a:ext cx="2913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+mj-lt"/>
              </a:rPr>
              <a:t>Pictures from G4Beamline/MuonsInc</a:t>
            </a:r>
            <a:endParaRPr lang="en-US" sz="1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BF076A-26A3-4582-A209-0737F3FDFED6}" type="slidenum">
              <a:rPr lang="en-US"/>
              <a:pPr>
                <a:defRPr/>
              </a:pPr>
              <a:t>14</a:t>
            </a:fld>
            <a:endParaRPr lang="en-US"/>
          </a:p>
        </p:txBody>
      </p:sp>
      <p:pic>
        <p:nvPicPr>
          <p:cNvPr id="23757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3757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502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37573" name="Rectangle 4"/>
          <p:cNvSpPr>
            <a:spLocks noGrp="1" noChangeArrowheads="1"/>
          </p:cNvSpPr>
          <p:nvPr>
            <p:ph type="title"/>
          </p:nvPr>
        </p:nvSpPr>
        <p:spPr>
          <a:xfrm>
            <a:off x="-241300" y="-101600"/>
            <a:ext cx="7772400" cy="1600200"/>
          </a:xfrm>
        </p:spPr>
        <p:txBody>
          <a:bodyPr lIns="50800" tIns="50800" rIns="40639" bIns="50800"/>
          <a:lstStyle/>
          <a:p>
            <a:pPr eaLnBrk="1" hangingPunct="1"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</a:rPr>
              <a:t>Production Solenoid:</a:t>
            </a:r>
          </a:p>
        </p:txBody>
      </p:sp>
      <p:sp>
        <p:nvSpPr>
          <p:cNvPr id="237574" name="Rectangle 5"/>
          <p:cNvSpPr>
            <a:spLocks/>
          </p:cNvSpPr>
          <p:nvPr/>
        </p:nvSpPr>
        <p:spPr bwMode="auto">
          <a:xfrm>
            <a:off x="444500" y="2451100"/>
            <a:ext cx="3543300" cy="434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40639" bIns="0">
            <a:prstTxWarp prst="textNoShape">
              <a:avLst/>
            </a:prstTxWarp>
          </a:bodyPr>
          <a:lstStyle/>
          <a:p>
            <a:pPr marL="39688"/>
            <a:r>
              <a:rPr lang="en-US" sz="3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Protons leave through thin window</a:t>
            </a:r>
          </a:p>
          <a:p>
            <a:pPr marL="39688"/>
            <a:endParaRPr lang="en-US" sz="320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  <a:p>
            <a:pPr marL="39688"/>
            <a:r>
              <a:rPr lang="en-US" sz="3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</a:t>
            </a:r>
            <a:r>
              <a:rPr lang="en-US" sz="3200">
                <a:solidFill>
                  <a:srgbClr val="000000"/>
                </a:solidFill>
                <a:latin typeface="Arial Rounded MT Bold" charset="0"/>
                <a:ea typeface="Arial Rounded MT Bold" charset="0"/>
                <a:cs typeface="Arial Rounded MT Bold" charset="0"/>
                <a:sym typeface="Arial Rounded MT Bold" charset="0"/>
              </a:rPr>
              <a:t>π’</a:t>
            </a:r>
            <a:r>
              <a:rPr lang="en-US" sz="3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s are captured, spiral around and decay</a:t>
            </a:r>
          </a:p>
          <a:p>
            <a:pPr marL="39688"/>
            <a:endParaRPr lang="en-US" sz="320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  <a:p>
            <a:pPr marL="39688"/>
            <a:r>
              <a:rPr lang="en-US" sz="32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muons exit to right</a:t>
            </a:r>
          </a:p>
        </p:txBody>
      </p:sp>
      <p:sp>
        <p:nvSpPr>
          <p:cNvPr id="237575" name="Rectangle 6"/>
          <p:cNvSpPr>
            <a:spLocks/>
          </p:cNvSpPr>
          <p:nvPr/>
        </p:nvSpPr>
        <p:spPr bwMode="auto">
          <a:xfrm>
            <a:off x="850900" y="1257300"/>
            <a:ext cx="9194800" cy="558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40639" bIns="0">
            <a:prstTxWarp prst="textNoShape">
              <a:avLst/>
            </a:prstTxWarp>
          </a:bodyPr>
          <a:lstStyle/>
          <a:p>
            <a:pPr marL="39688"/>
            <a:r>
              <a:rPr lang="en-US" sz="320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Protons enter opposite to outgoing muons</a:t>
            </a:r>
          </a:p>
        </p:txBody>
      </p:sp>
      <p:sp>
        <p:nvSpPr>
          <p:cNvPr id="237576" name="Rectangle 7"/>
          <p:cNvSpPr>
            <a:spLocks/>
          </p:cNvSpPr>
          <p:nvPr/>
        </p:nvSpPr>
        <p:spPr bwMode="auto">
          <a:xfrm>
            <a:off x="5194300" y="6604000"/>
            <a:ext cx="1941513" cy="44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40639" bIns="0">
            <a:prstTxWarp prst="textNoShape">
              <a:avLst/>
            </a:prstTxWarp>
            <a:spAutoFit/>
          </a:bodyPr>
          <a:lstStyle/>
          <a:p>
            <a:pPr marL="39688"/>
            <a:r>
              <a:rPr lang="en-US" sz="2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4 m </a:t>
            </a:r>
            <a:r>
              <a:rPr lang="en-US" sz="2400">
                <a:solidFill>
                  <a:srgbClr val="00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× </a:t>
            </a:r>
            <a:r>
              <a:rPr lang="en-US" sz="2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0.30 m</a:t>
            </a:r>
          </a:p>
        </p:txBody>
      </p:sp>
      <p:pic>
        <p:nvPicPr>
          <p:cNvPr id="237577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92450" y="1920875"/>
            <a:ext cx="6489700" cy="44084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37578" name="Rectangle 9"/>
          <p:cNvSpPr>
            <a:spLocks/>
          </p:cNvSpPr>
          <p:nvPr/>
        </p:nvSpPr>
        <p:spPr bwMode="auto">
          <a:xfrm>
            <a:off x="3990975" y="5111750"/>
            <a:ext cx="1168400" cy="482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40639" bIns="0">
            <a:prstTxWarp prst="textNoShape">
              <a:avLst/>
            </a:prstTxWarp>
          </a:bodyPr>
          <a:lstStyle/>
          <a:p>
            <a:pPr marL="39688"/>
            <a:r>
              <a:rPr lang="en-US" sz="24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Pions</a:t>
            </a:r>
          </a:p>
        </p:txBody>
      </p:sp>
      <p:sp>
        <p:nvSpPr>
          <p:cNvPr id="237579" name="Rectangle 10"/>
          <p:cNvSpPr>
            <a:spLocks/>
          </p:cNvSpPr>
          <p:nvPr/>
        </p:nvSpPr>
        <p:spPr bwMode="auto">
          <a:xfrm>
            <a:off x="5280025" y="2663825"/>
            <a:ext cx="21209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40639" bIns="0">
            <a:prstTxWarp prst="textNoShape">
              <a:avLst/>
            </a:prstTxWarp>
          </a:bodyPr>
          <a:lstStyle/>
          <a:p>
            <a:pPr marL="39688"/>
            <a:r>
              <a:rPr lang="en-US" sz="2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Proton Target</a:t>
            </a:r>
          </a:p>
        </p:txBody>
      </p:sp>
      <p:sp>
        <p:nvSpPr>
          <p:cNvPr id="237580" name="Line 11"/>
          <p:cNvSpPr>
            <a:spLocks noChangeShapeType="1"/>
          </p:cNvSpPr>
          <p:nvPr/>
        </p:nvSpPr>
        <p:spPr bwMode="auto">
          <a:xfrm rot="10800000" flipH="1">
            <a:off x="5861050" y="3217863"/>
            <a:ext cx="527050" cy="5603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stealth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7581" name="Rectangle 12"/>
          <p:cNvSpPr>
            <a:spLocks/>
          </p:cNvSpPr>
          <p:nvPr/>
        </p:nvSpPr>
        <p:spPr bwMode="auto">
          <a:xfrm>
            <a:off x="7561263" y="2601913"/>
            <a:ext cx="2070100" cy="800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40639" bIns="0">
            <a:prstTxWarp prst="textNoShape">
              <a:avLst/>
            </a:prstTxWarp>
          </a:bodyPr>
          <a:lstStyle/>
          <a:p>
            <a:pPr marL="39688"/>
            <a:r>
              <a:rPr lang="en-US" sz="2400">
                <a:solidFill>
                  <a:srgbClr val="804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Target Shielding</a:t>
            </a:r>
          </a:p>
        </p:txBody>
      </p:sp>
      <p:sp>
        <p:nvSpPr>
          <p:cNvPr id="237582" name="Line 13"/>
          <p:cNvSpPr>
            <a:spLocks noChangeShapeType="1"/>
          </p:cNvSpPr>
          <p:nvPr/>
        </p:nvSpPr>
        <p:spPr bwMode="auto">
          <a:xfrm rot="10800000" flipH="1">
            <a:off x="7766050" y="3351213"/>
            <a:ext cx="527050" cy="560387"/>
          </a:xfrm>
          <a:prstGeom prst="line">
            <a:avLst/>
          </a:prstGeom>
          <a:noFill/>
          <a:ln w="12700">
            <a:solidFill>
              <a:srgbClr val="804000"/>
            </a:solidFill>
            <a:round/>
            <a:headEnd type="stealth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7583" name="Rectangle 14"/>
          <p:cNvSpPr>
            <a:spLocks/>
          </p:cNvSpPr>
          <p:nvPr/>
        </p:nvSpPr>
        <p:spPr bwMode="auto">
          <a:xfrm>
            <a:off x="6918325" y="5489575"/>
            <a:ext cx="22225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40639" bIns="0">
            <a:prstTxWarp prst="textNoShape">
              <a:avLst/>
            </a:prstTxWarp>
          </a:bodyPr>
          <a:lstStyle/>
          <a:p>
            <a:pPr marL="39688"/>
            <a:r>
              <a:rPr lang="en-US" sz="1800">
                <a:solidFill>
                  <a:srgbClr val="00804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Protons enter here</a:t>
            </a:r>
          </a:p>
        </p:txBody>
      </p:sp>
      <p:sp>
        <p:nvSpPr>
          <p:cNvPr id="237584" name="Line 15"/>
          <p:cNvSpPr>
            <a:spLocks noChangeShapeType="1"/>
          </p:cNvSpPr>
          <p:nvPr/>
        </p:nvSpPr>
        <p:spPr bwMode="auto">
          <a:xfrm>
            <a:off x="8077200" y="4178300"/>
            <a:ext cx="355600" cy="1241425"/>
          </a:xfrm>
          <a:prstGeom prst="line">
            <a:avLst/>
          </a:prstGeom>
          <a:noFill/>
          <a:ln w="12700">
            <a:solidFill>
              <a:srgbClr val="008040"/>
            </a:solidFill>
            <a:round/>
            <a:headEnd type="stealth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7585" name="Line 16"/>
          <p:cNvSpPr>
            <a:spLocks noChangeShapeType="1"/>
          </p:cNvSpPr>
          <p:nvPr/>
        </p:nvSpPr>
        <p:spPr bwMode="auto">
          <a:xfrm flipH="1">
            <a:off x="4546600" y="3924300"/>
            <a:ext cx="455613" cy="111442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stealth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73" name="Line 17"/>
          <p:cNvSpPr>
            <a:spLocks noChangeShapeType="1"/>
          </p:cNvSpPr>
          <p:nvPr/>
        </p:nvSpPr>
        <p:spPr bwMode="auto">
          <a:xfrm flipH="1">
            <a:off x="2311400" y="3603625"/>
            <a:ext cx="923925" cy="793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latin typeface="Hoefler Text" pitchFamily="-12" charset="0"/>
              <a:ea typeface="ヒラギノ明朝 ProN W3" charset="-128"/>
              <a:cs typeface="ヒラギノ明朝 ProN W3" charset="-128"/>
              <a:sym typeface="Hoefler Text" pitchFamily="-12" charset="0"/>
            </a:endParaRPr>
          </a:p>
        </p:txBody>
      </p:sp>
      <p:sp>
        <p:nvSpPr>
          <p:cNvPr id="20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F31C51-2C60-4E81-8D76-8276B94ED8EB}" type="slidenum">
              <a:rPr lang="en-US"/>
              <a:pPr>
                <a:defRPr/>
              </a:pPr>
              <a:t>15</a:t>
            </a:fld>
            <a:endParaRPr lang="en-US"/>
          </a:p>
        </p:txBody>
      </p:sp>
      <p:pic>
        <p:nvPicPr>
          <p:cNvPr id="23859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3859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502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6084" name="Rectangle 4"/>
          <p:cNvSpPr>
            <a:spLocks noGrp="1" noChangeArrowheads="1"/>
          </p:cNvSpPr>
          <p:nvPr>
            <p:ph type="title"/>
          </p:nvPr>
        </p:nvSpPr>
        <p:spPr>
          <a:xfrm>
            <a:off x="1168400" y="-292100"/>
            <a:ext cx="8178800" cy="1549400"/>
          </a:xfrm>
        </p:spPr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Transport Solenoid</a:t>
            </a: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2700" y="1727200"/>
            <a:ext cx="3136900" cy="4965700"/>
          </a:xfrm>
        </p:spPr>
        <p:txBody>
          <a:bodyPr/>
          <a:lstStyle/>
          <a:p>
            <a:pPr marL="547688" eaLnBrk="1" hangingPunct="1">
              <a:buFont typeface="Arial" pitchFamily="-12" charset="0"/>
              <a:buChar char="•"/>
              <a:tabLst>
                <a:tab pos="1042988" algn="l"/>
                <a:tab pos="1042988" algn="l"/>
              </a:tabLst>
              <a:defRPr/>
            </a:pPr>
            <a:r>
              <a:rPr lang="en-US" dirty="0">
                <a:latin typeface="+mj-lt"/>
                <a:ea typeface="Arial" pitchFamily="-12" charset="0"/>
                <a:cs typeface="Arial" pitchFamily="-12" charset="0"/>
                <a:sym typeface="Times New Roman" pitchFamily="-12" charset="0"/>
              </a:rPr>
              <a:t>Curved solenoid eliminates                     line-of-sight transport of photons  and neutrons</a:t>
            </a:r>
            <a:endParaRPr lang="en-US" dirty="0">
              <a:latin typeface="+mj-lt"/>
              <a:sym typeface="Times New Roman" pitchFamily="-12" charset="0"/>
            </a:endParaRPr>
          </a:p>
          <a:p>
            <a:pPr marL="547688" eaLnBrk="1" hangingPunct="1">
              <a:buFont typeface="Arial" pitchFamily="-12" charset="0"/>
              <a:buChar char="•"/>
              <a:tabLst>
                <a:tab pos="1042988" algn="l"/>
                <a:tab pos="1042988" algn="l"/>
              </a:tabLst>
              <a:defRPr/>
            </a:pPr>
            <a:r>
              <a:rPr lang="en-US" dirty="0">
                <a:latin typeface="+mj-lt"/>
                <a:ea typeface="Arial" pitchFamily="-12" charset="0"/>
                <a:cs typeface="Arial" pitchFamily="-12" charset="0"/>
                <a:sym typeface="Times New Roman" pitchFamily="-12" charset="0"/>
              </a:rPr>
              <a:t>Curvature drift and collimators sign and momentum select beam</a:t>
            </a:r>
            <a:endParaRPr lang="en-US" dirty="0">
              <a:latin typeface="+mj-lt"/>
              <a:sym typeface="Times New Roman" pitchFamily="-12" charset="0"/>
            </a:endParaRPr>
          </a:p>
        </p:txBody>
      </p:sp>
      <p:pic>
        <p:nvPicPr>
          <p:cNvPr id="23859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33688" y="1879600"/>
            <a:ext cx="7046912" cy="4660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6087" name="Line 7"/>
          <p:cNvSpPr>
            <a:spLocks noChangeShapeType="1"/>
          </p:cNvSpPr>
          <p:nvPr/>
        </p:nvSpPr>
        <p:spPr bwMode="auto">
          <a:xfrm>
            <a:off x="7975600" y="4165600"/>
            <a:ext cx="1270000" cy="1270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latin typeface="Hoefler Text" pitchFamily="-12" charset="0"/>
              <a:ea typeface="ヒラギノ明朝 ProN W3" charset="-128"/>
              <a:cs typeface="ヒラギノ明朝 ProN W3" charset="-128"/>
              <a:sym typeface="Hoefler Text" pitchFamily="-12" charset="0"/>
            </a:endParaRPr>
          </a:p>
        </p:txBody>
      </p:sp>
      <p:sp>
        <p:nvSpPr>
          <p:cNvPr id="46088" name="Rectangle 8"/>
          <p:cNvSpPr>
            <a:spLocks/>
          </p:cNvSpPr>
          <p:nvPr/>
        </p:nvSpPr>
        <p:spPr bwMode="auto">
          <a:xfrm>
            <a:off x="7016750" y="5511800"/>
            <a:ext cx="2667000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>
              <a:spcBef>
                <a:spcPts val="3400"/>
              </a:spcBef>
              <a:tabLst>
                <a:tab pos="1042988" algn="l"/>
              </a:tabLst>
              <a:defRPr/>
            </a:pPr>
            <a:r>
              <a:rPr lang="en-US" sz="24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occasional </a:t>
            </a:r>
            <a:r>
              <a:rPr lang="en-US" sz="2600">
                <a:solidFill>
                  <a:schemeClr val="tx1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μ</a:t>
            </a:r>
            <a:r>
              <a:rPr lang="en-US" sz="2600" baseline="32000">
                <a:solidFill>
                  <a:schemeClr val="tx1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+</a:t>
            </a:r>
          </a:p>
        </p:txBody>
      </p:sp>
      <p:sp>
        <p:nvSpPr>
          <p:cNvPr id="46089" name="Rectangle 9"/>
          <p:cNvSpPr>
            <a:spLocks/>
          </p:cNvSpPr>
          <p:nvPr/>
        </p:nvSpPr>
        <p:spPr bwMode="auto">
          <a:xfrm>
            <a:off x="4114800" y="6629400"/>
            <a:ext cx="5461000" cy="44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 sz="24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13.1 m along axis </a:t>
            </a:r>
            <a:r>
              <a:rPr lang="en-US" sz="2400">
                <a:solidFill>
                  <a:schemeClr val="tx1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×</a:t>
            </a:r>
            <a:r>
              <a:rPr lang="en-US" sz="24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 ~0.25 m</a:t>
            </a:r>
          </a:p>
        </p:txBody>
      </p:sp>
      <p:sp>
        <p:nvSpPr>
          <p:cNvPr id="12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42ED09-B433-47CF-95FF-8CAFEB129C56}" type="slidenum">
              <a:rPr lang="en-US"/>
              <a:pPr>
                <a:defRPr/>
              </a:pPr>
              <a:t>16</a:t>
            </a:fld>
            <a:endParaRPr lang="en-US"/>
          </a:p>
        </p:txBody>
      </p:sp>
      <p:pic>
        <p:nvPicPr>
          <p:cNvPr id="23961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39620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502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7108" name="Rectangle 4"/>
          <p:cNvSpPr>
            <a:spLocks noGrp="1" noChangeArrowheads="1"/>
          </p:cNvSpPr>
          <p:nvPr>
            <p:ph type="title"/>
          </p:nvPr>
        </p:nvSpPr>
        <p:spPr>
          <a:xfrm>
            <a:off x="812800" y="-101600"/>
            <a:ext cx="8178800" cy="1549400"/>
          </a:xfrm>
        </p:spPr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Detector Solenoid</a:t>
            </a:r>
          </a:p>
        </p:txBody>
      </p:sp>
      <p:pic>
        <p:nvPicPr>
          <p:cNvPr id="239622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5600" y="1143000"/>
            <a:ext cx="10085387" cy="6642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7110" name="Rectangle 6"/>
          <p:cNvSpPr>
            <a:spLocks/>
          </p:cNvSpPr>
          <p:nvPr/>
        </p:nvSpPr>
        <p:spPr bwMode="auto">
          <a:xfrm>
            <a:off x="38100" y="2425700"/>
            <a:ext cx="4724400" cy="1308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low momentum particles and almost all DIO background passes down center</a:t>
            </a:r>
          </a:p>
        </p:txBody>
      </p:sp>
      <p:sp>
        <p:nvSpPr>
          <p:cNvPr id="47111" name="Rectangle 7"/>
          <p:cNvSpPr>
            <a:spLocks/>
          </p:cNvSpPr>
          <p:nvPr/>
        </p:nvSpPr>
        <p:spPr bwMode="auto">
          <a:xfrm>
            <a:off x="2468563" y="6273800"/>
            <a:ext cx="7289800" cy="901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signal events pass </a:t>
            </a:r>
            <a:r>
              <a:rPr lang="en-US">
                <a:solidFill>
                  <a:schemeClr val="tx1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through</a:t>
            </a: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 octagon of tracker</a:t>
            </a:r>
          </a:p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and produce hits </a:t>
            </a:r>
          </a:p>
        </p:txBody>
      </p:sp>
      <p:sp>
        <p:nvSpPr>
          <p:cNvPr id="47112" name="Rectangle 8"/>
          <p:cNvSpPr>
            <a:spLocks/>
          </p:cNvSpPr>
          <p:nvPr/>
        </p:nvSpPr>
        <p:spPr bwMode="auto">
          <a:xfrm>
            <a:off x="5868988" y="5435600"/>
            <a:ext cx="3435350" cy="495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Al foil stopping target</a:t>
            </a:r>
          </a:p>
        </p:txBody>
      </p:sp>
      <p:sp>
        <p:nvSpPr>
          <p:cNvPr id="47113" name="Line 9"/>
          <p:cNvSpPr>
            <a:spLocks noChangeShapeType="1"/>
          </p:cNvSpPr>
          <p:nvPr/>
        </p:nvSpPr>
        <p:spPr bwMode="auto">
          <a:xfrm>
            <a:off x="4292600" y="4787900"/>
            <a:ext cx="1562100" cy="952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latin typeface="Hoefler Text" pitchFamily="-12" charset="0"/>
              <a:ea typeface="ヒラギノ明朝 ProN W3" charset="-128"/>
              <a:cs typeface="ヒラギノ明朝 ProN W3" charset="-128"/>
              <a:sym typeface="Hoefler Text" pitchFamily="-12" charset="0"/>
            </a:endParaRPr>
          </a:p>
        </p:txBody>
      </p:sp>
      <p:sp>
        <p:nvSpPr>
          <p:cNvPr id="47114" name="Rectangle 10"/>
          <p:cNvSpPr>
            <a:spLocks/>
          </p:cNvSpPr>
          <p:nvPr/>
        </p:nvSpPr>
        <p:spPr bwMode="auto">
          <a:xfrm>
            <a:off x="635000" y="1143000"/>
            <a:ext cx="8521700" cy="901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octagonal tracker surrounding central region:</a:t>
            </a:r>
          </a:p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radius of helix proportional to momentum</a:t>
            </a:r>
          </a:p>
        </p:txBody>
      </p:sp>
      <p:sp>
        <p:nvSpPr>
          <p:cNvPr id="47115" name="Rectangle 11"/>
          <p:cNvSpPr>
            <a:spLocks/>
          </p:cNvSpPr>
          <p:nvPr/>
        </p:nvSpPr>
        <p:spPr bwMode="auto">
          <a:xfrm>
            <a:off x="7473950" y="4686300"/>
            <a:ext cx="2070100" cy="44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 sz="24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10 m </a:t>
            </a:r>
            <a:r>
              <a:rPr lang="en-US" sz="2400">
                <a:solidFill>
                  <a:schemeClr val="tx1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× </a:t>
            </a:r>
            <a:r>
              <a:rPr lang="en-US" sz="24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0.95 m</a:t>
            </a:r>
          </a:p>
        </p:txBody>
      </p:sp>
      <p:sp>
        <p:nvSpPr>
          <p:cNvPr id="14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2414AF-E0DD-4768-8603-AB4928DAEDF5}" type="slidenum">
              <a:rPr lang="en-US"/>
              <a:pPr>
                <a:defRPr/>
              </a:pPr>
              <a:t>17</a:t>
            </a:fld>
            <a:endParaRPr lang="en-US"/>
          </a:p>
        </p:txBody>
      </p:sp>
      <p:pic>
        <p:nvPicPr>
          <p:cNvPr id="22937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2938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51875" y="1143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36868" name="Rectangle 4"/>
          <p:cNvSpPr>
            <a:spLocks noGrp="1" noChangeArrowheads="1"/>
          </p:cNvSpPr>
          <p:nvPr>
            <p:ph type="title"/>
          </p:nvPr>
        </p:nvSpPr>
        <p:spPr>
          <a:xfrm>
            <a:off x="203200" y="304800"/>
            <a:ext cx="9664700" cy="1549400"/>
          </a:xfrm>
        </p:spPr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 dirty="0">
                <a:sym typeface="Arial" pitchFamily="-12" charset="0"/>
              </a:rPr>
              <a:t>Two Classes of  Backgrounds</a:t>
            </a:r>
          </a:p>
        </p:txBody>
      </p:sp>
      <p:graphicFrame>
        <p:nvGraphicFramePr>
          <p:cNvPr id="36869" name="Group 5"/>
          <p:cNvGraphicFramePr>
            <a:graphicFrameLocks noGrp="1"/>
          </p:cNvGraphicFramePr>
          <p:nvPr/>
        </p:nvGraphicFramePr>
        <p:xfrm>
          <a:off x="444500" y="1549400"/>
          <a:ext cx="9258300" cy="5506402"/>
        </p:xfrm>
        <a:graphic>
          <a:graphicData uri="http://schemas.openxmlformats.org/drawingml/2006/table">
            <a:tbl>
              <a:tblPr/>
              <a:tblGrid>
                <a:gridCol w="1927225"/>
                <a:gridCol w="4095750"/>
                <a:gridCol w="3235325"/>
              </a:tblGrid>
              <a:tr h="163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Hoefler Text" pitchFamily="-12" charset="0"/>
                        <a:ea typeface="ヒラギノ明朝 ProN W3" charset="-128"/>
                        <a:cs typeface="ヒラギノ明朝 ProN W3" charset="-128"/>
                        <a:sym typeface="Hoefler Text" pitchFamily="-12" charset="0"/>
                      </a:endParaRPr>
                    </a:p>
                  </a:txBody>
                  <a:tcPr marL="25400" marR="25400" marT="25400" marB="25400" anchor="ctr" horzOverflow="overflow">
                    <a:lnL cap="flat">
                      <a:noFill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oefler Text" pitchFamily="-12" charset="0"/>
                          <a:ea typeface="ヒラギノ明朝 ProN W3" charset="-128"/>
                          <a:cs typeface="ヒラギノ明朝 ProN W3" charset="-128"/>
                          <a:sym typeface="Hoefler Text" pitchFamily="-12" charset="0"/>
                        </a:rPr>
                        <a:t>Prompt</a:t>
                      </a:r>
                    </a:p>
                  </a:txBody>
                  <a:tcPr marL="25400" marR="25400" marT="25400" marB="254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oefler Text" pitchFamily="-12" charset="0"/>
                          <a:ea typeface="ヒラギノ明朝 ProN W3" charset="-128"/>
                          <a:cs typeface="ヒラギノ明朝 ProN W3" charset="-128"/>
                          <a:sym typeface="Hoefler Text" pitchFamily="-12" charset="0"/>
                        </a:rPr>
                        <a:t>Decay-In-Orbit</a:t>
                      </a:r>
                    </a:p>
                  </a:txBody>
                  <a:tcPr marL="25400" marR="25400" marT="25400" marB="254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</a:tr>
              <a:tr h="1798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oefler Text" pitchFamily="-12" charset="0"/>
                          <a:ea typeface="ヒラギノ明朝 ProN W3" charset="-128"/>
                          <a:cs typeface="ヒラギノ明朝 ProN W3" charset="-128"/>
                          <a:sym typeface="Hoefler Text" pitchFamily="-12" charset="0"/>
                        </a:rPr>
                        <a:t>Source</a:t>
                      </a:r>
                    </a:p>
                  </a:txBody>
                  <a:tcPr marL="25400" marR="25400" marT="25400" marB="254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Arial" pitchFamily="-12" charset="0"/>
                          <a:cs typeface="Arial" pitchFamily="-12" charset="0"/>
                          <a:sym typeface="Arial" pitchFamily="-12" charset="0"/>
                        </a:rPr>
                        <a:t>Mostly</a:t>
                      </a:r>
                      <a:r>
                        <a:rPr kumimoji="0" lang="en-US" sz="2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oefler Text" pitchFamily="-12" charset="0"/>
                          <a:ea typeface="ヒラギノ明朝 ProN W3" charset="-128"/>
                          <a:cs typeface="ヒラギノ明朝 ProN W3" charset="-128"/>
                          <a:sym typeface="Hoefler Text" pitchFamily="-12" charset="0"/>
                        </a:rPr>
                        <a:t> </a:t>
                      </a:r>
                      <a:r>
                        <a:rPr kumimoji="0" lang="en-US" sz="2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 Italic" charset="0"/>
                          <a:ea typeface="Times New Roman Italic" charset="0"/>
                          <a:cs typeface="Times New Roman Italic" charset="0"/>
                          <a:sym typeface="Times New Roman Italic" charset="0"/>
                        </a:rPr>
                        <a:t>π’</a:t>
                      </a:r>
                      <a:r>
                        <a:rPr kumimoji="0" lang="en-US" sz="2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Arial" pitchFamily="-12" charset="0"/>
                          <a:cs typeface="Arial" pitchFamily="-12" charset="0"/>
                          <a:sym typeface="Arial" pitchFamily="-12" charset="0"/>
                        </a:rPr>
                        <a:t>s produced in target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Arial" pitchFamily="-12" charset="0"/>
                          <a:cs typeface="Arial" pitchFamily="-12" charset="0"/>
                          <a:sym typeface="Arial" pitchFamily="-12" charset="0"/>
                        </a:rPr>
                        <a:t>Physics Background nearly indistinguishable from signal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oefler Text" pitchFamily="-12" charset="0"/>
                          <a:ea typeface="ヒラギノ明朝 ProN W3" charset="-128"/>
                          <a:cs typeface="ヒラギノ明朝 ProN W3" charset="-128"/>
                          <a:sym typeface="Hoefler Text" pitchFamily="-12" charset="0"/>
                        </a:rPr>
                        <a:t>Solution</a:t>
                      </a:r>
                    </a:p>
                  </a:txBody>
                  <a:tcPr marL="25400" marR="25400" marT="25400" marB="254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Arial" pitchFamily="-12" charset="0"/>
                          <a:cs typeface="Arial" pitchFamily="-12" charset="0"/>
                          <a:sym typeface="Arial" pitchFamily="-12" charset="0"/>
                        </a:rPr>
                        <a:t>Design of Muon Beam,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Arial" pitchFamily="-12" charset="0"/>
                          <a:cs typeface="Arial" pitchFamily="-12" charset="0"/>
                          <a:sym typeface="Arial" pitchFamily="-12" charset="0"/>
                        </a:rPr>
                        <a:t>formation, transport, and time structure 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Arial" pitchFamily="-12" charset="0"/>
                          <a:cs typeface="Arial" pitchFamily="-12" charset="0"/>
                          <a:sym typeface="Arial" pitchFamily="-12" charset="0"/>
                        </a:rPr>
                        <a:t>Spectrometer Design: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25000"/>
                        <a:buFont typeface="Hoefler Text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Arial" pitchFamily="-12" charset="0"/>
                          <a:cs typeface="Arial" pitchFamily="-12" charset="0"/>
                          <a:sym typeface="Arial" pitchFamily="-12" charset="0"/>
                        </a:rPr>
                        <a:t>resolution and pattern recognition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55600" y="7159079"/>
            <a:ext cx="9372600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/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D0B639-0C42-4462-A6D0-6DEAFEDBB2F4}" type="slidenum">
              <a:rPr lang="en-US"/>
              <a:pPr>
                <a:defRPr/>
              </a:pPr>
              <a:t>18</a:t>
            </a:fld>
            <a:endParaRPr lang="en-US"/>
          </a:p>
        </p:txBody>
      </p:sp>
      <p:pic>
        <p:nvPicPr>
          <p:cNvPr id="23449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3450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1988" name="Rectangle 4"/>
          <p:cNvSpPr>
            <a:spLocks noGrp="1" noChangeArrowheads="1"/>
          </p:cNvSpPr>
          <p:nvPr>
            <p:ph type="title"/>
          </p:nvPr>
        </p:nvSpPr>
        <p:spPr>
          <a:xfrm>
            <a:off x="990600" y="-203200"/>
            <a:ext cx="8178800" cy="1549400"/>
          </a:xfrm>
        </p:spPr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 Pulsed Beam Structure</a:t>
            </a:r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06400" y="457200"/>
            <a:ext cx="9334500" cy="4965700"/>
          </a:xfrm>
        </p:spPr>
        <p:txBody>
          <a:bodyPr/>
          <a:lstStyle/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497013" algn="l"/>
                <a:tab pos="1065213" algn="l"/>
                <a:tab pos="1497013" algn="l"/>
              </a:tabLst>
              <a:defRPr/>
            </a:pPr>
            <a:r>
              <a:rPr lang="en-US" dirty="0">
                <a:sym typeface="Arial" pitchFamily="-12" charset="0"/>
              </a:rPr>
              <a:t>Tied to prompt rate and machine: FNAL</a:t>
            </a:r>
            <a:r>
              <a:rPr lang="en-US" dirty="0" smtClean="0">
                <a:sym typeface="Arial" pitchFamily="-12" charset="0"/>
              </a:rPr>
              <a:t> near-perfect</a:t>
            </a: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497013" algn="l"/>
                <a:tab pos="1065213" algn="l"/>
                <a:tab pos="1497013" algn="l"/>
              </a:tabLst>
              <a:defRPr/>
            </a:pPr>
            <a:r>
              <a:rPr lang="en-US" dirty="0">
                <a:sym typeface="Arial" pitchFamily="-12" charset="0"/>
              </a:rPr>
              <a:t>Want </a:t>
            </a:r>
            <a:r>
              <a:rPr lang="en-US" dirty="0">
                <a:solidFill>
                  <a:srgbClr val="FF0000"/>
                </a:solidFill>
                <a:sym typeface="Arial" pitchFamily="-12" charset="0"/>
              </a:rPr>
              <a:t>pulse duration &lt;&lt;      </a:t>
            </a:r>
            <a:r>
              <a:rPr lang="en-US" dirty="0" smtClean="0">
                <a:solidFill>
                  <a:srgbClr val="FF0000"/>
                </a:solidFill>
                <a:sym typeface="Arial" pitchFamily="-12" charset="0"/>
              </a:rPr>
              <a:t> </a:t>
            </a:r>
            <a:r>
              <a:rPr lang="en-US" dirty="0" smtClean="0">
                <a:sym typeface="Arial" pitchFamily="-12" charset="0"/>
              </a:rPr>
              <a:t>, </a:t>
            </a:r>
            <a:r>
              <a:rPr lang="en-US" dirty="0">
                <a:solidFill>
                  <a:srgbClr val="FF0000"/>
                </a:solidFill>
                <a:sym typeface="Arial" pitchFamily="-12" charset="0"/>
              </a:rPr>
              <a:t>pulse </a:t>
            </a:r>
            <a:r>
              <a:rPr lang="en-US" dirty="0" smtClean="0">
                <a:solidFill>
                  <a:srgbClr val="FF0000"/>
                </a:solidFill>
                <a:sym typeface="Arial" pitchFamily="-12" charset="0"/>
              </a:rPr>
              <a:t>separation ≥</a:t>
            </a:r>
            <a:endParaRPr lang="en-US" baseline="-6000" dirty="0" smtClean="0">
              <a:solidFill>
                <a:srgbClr val="FF0000"/>
              </a:solidFill>
              <a:latin typeface="Symbol" pitchFamily="-12" charset="2"/>
              <a:sym typeface="Symbol" pitchFamily="-12" charset="2"/>
            </a:endParaRPr>
          </a:p>
          <a:p>
            <a:pPr marL="1001713" lvl="1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497013" algn="l"/>
                <a:tab pos="1065213" algn="l"/>
                <a:tab pos="1497013" algn="l"/>
              </a:tabLst>
              <a:defRPr/>
            </a:pPr>
            <a:r>
              <a:rPr lang="en-US" dirty="0">
                <a:sym typeface="Arial" pitchFamily="-12" charset="0"/>
              </a:rPr>
              <a:t>FNAL Debuncher has circumference </a:t>
            </a:r>
            <a:r>
              <a:rPr lang="en-US" dirty="0">
                <a:solidFill>
                  <a:srgbClr val="FF0000"/>
                </a:solidFill>
                <a:sym typeface="Arial" pitchFamily="-12" charset="0"/>
              </a:rPr>
              <a:t>1.7</a:t>
            </a:r>
            <a:r>
              <a:rPr lang="en-US" dirty="0">
                <a:solidFill>
                  <a:srgbClr val="FF0000"/>
                </a:solidFill>
                <a:latin typeface="Symbol" pitchFamily="-12" charset="2"/>
                <a:ea typeface="Symbol" pitchFamily="-12" charset="2"/>
                <a:cs typeface="Symbol" pitchFamily="-12" charset="2"/>
                <a:sym typeface="Symbol" pitchFamily="-12" charset="2"/>
              </a:rPr>
              <a:t>μ</a:t>
            </a:r>
            <a:r>
              <a:rPr lang="en-US" dirty="0">
                <a:solidFill>
                  <a:srgbClr val="FF0000"/>
                </a:solidFill>
                <a:sym typeface="Arial" pitchFamily="-12" charset="0"/>
              </a:rPr>
              <a:t>sec </a:t>
            </a:r>
            <a:r>
              <a:rPr lang="en-US" dirty="0">
                <a:sym typeface="Arial" pitchFamily="-12" charset="0"/>
              </a:rPr>
              <a:t>!</a:t>
            </a: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497013" algn="l"/>
                <a:tab pos="1065213" algn="l"/>
                <a:tab pos="1497013" algn="l"/>
              </a:tabLst>
              <a:defRPr/>
            </a:pPr>
            <a:r>
              <a:rPr lang="en-US" dirty="0">
                <a:sym typeface="Arial" pitchFamily="-12" charset="0"/>
              </a:rPr>
              <a:t>Extinction between pulses &lt; 10</a:t>
            </a:r>
            <a:r>
              <a:rPr lang="en-US" baseline="32000" dirty="0">
                <a:sym typeface="Arial" pitchFamily="-12" charset="0"/>
              </a:rPr>
              <a:t>-9</a:t>
            </a:r>
            <a:r>
              <a:rPr lang="en-US" dirty="0">
                <a:sym typeface="Arial" pitchFamily="-12" charset="0"/>
              </a:rPr>
              <a:t>  needed </a:t>
            </a:r>
          </a:p>
          <a:p>
            <a:pPr marL="1001713" lvl="1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497013" algn="l"/>
                <a:tab pos="1065213" algn="l"/>
                <a:tab pos="1497013" algn="l"/>
              </a:tabLst>
              <a:defRPr/>
            </a:pPr>
            <a:r>
              <a:rPr lang="en-US" dirty="0">
                <a:sym typeface="Arial" pitchFamily="-12" charset="0"/>
              </a:rPr>
              <a:t> = # protons out of pulse/# protons in pulse</a:t>
            </a:r>
          </a:p>
        </p:txBody>
      </p:sp>
      <p:pic>
        <p:nvPicPr>
          <p:cNvPr id="234503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413" y="4746625"/>
            <a:ext cx="4864100" cy="23780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234504" name="Text Box 7"/>
          <p:cNvSpPr txBox="1">
            <a:spLocks noChangeArrowheads="1"/>
          </p:cNvSpPr>
          <p:nvPr/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</a:pPr>
            <a:fld id="{29549D78-717C-4050-AB19-602F8C9D9568}" type="slidenum">
              <a:rPr lang="en-US" sz="1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</a:pPr>
              <a:t>18</a:t>
            </a:fld>
            <a:endParaRPr lang="en-US" sz="180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41992" name="Rectangle 8"/>
          <p:cNvSpPr>
            <a:spLocks/>
          </p:cNvSpPr>
          <p:nvPr/>
        </p:nvSpPr>
        <p:spPr bwMode="auto">
          <a:xfrm>
            <a:off x="5410200" y="5486400"/>
            <a:ext cx="4559300" cy="901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569913" indent="-354013">
              <a:spcBef>
                <a:spcPts val="2700"/>
              </a:spcBef>
              <a:buSzPct val="125000"/>
              <a:buFont typeface="Arial" pitchFamily="-12" charset="0"/>
              <a:buChar char="•"/>
              <a:tabLst>
                <a:tab pos="1065213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10</a:t>
            </a:r>
            <a:r>
              <a:rPr lang="en-US" baseline="3200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-9</a:t>
            </a: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 based on simulation of prompt backgrounds</a:t>
            </a:r>
          </a:p>
        </p:txBody>
      </p:sp>
      <p:pic>
        <p:nvPicPr>
          <p:cNvPr id="234506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13300" y="1892300"/>
            <a:ext cx="469900" cy="4953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pic>
        <p:nvPicPr>
          <p:cNvPr id="234507" name="Picture 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610600" y="1905000"/>
            <a:ext cx="469900" cy="4953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13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Grp="1" noChangeArrowheads="1"/>
          </p:cNvSpPr>
          <p:nvPr>
            <p:ph type="title"/>
          </p:nvPr>
        </p:nvSpPr>
        <p:spPr>
          <a:xfrm>
            <a:off x="965200" y="-381000"/>
            <a:ext cx="8178800" cy="1549400"/>
          </a:xfrm>
        </p:spPr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 dirty="0">
                <a:sym typeface="Arial" pitchFamily="-12" charset="0"/>
              </a:rPr>
              <a:t>Prompt Backgrounds</a:t>
            </a:r>
          </a:p>
        </p:txBody>
      </p:sp>
      <p:sp>
        <p:nvSpPr>
          <p:cNvPr id="8" name="Vertical Text Placeholder 7"/>
          <p:cNvSpPr>
            <a:spLocks noGrp="1"/>
          </p:cNvSpPr>
          <p:nvPr>
            <p:ph type="body" orient="vert" idx="1"/>
          </p:nvPr>
        </p:nvSpPr>
        <p:spPr>
          <a:xfrm rot="16200000">
            <a:off x="1762125" y="-117475"/>
            <a:ext cx="5791200" cy="8464550"/>
          </a:xfrm>
        </p:spPr>
        <p:txBody>
          <a:bodyPr vert="vert"/>
          <a:lstStyle/>
          <a:p>
            <a:pPr>
              <a:buNone/>
            </a:pPr>
            <a:r>
              <a:rPr lang="en-US" dirty="0" smtClean="0">
                <a:latin typeface="+mj-lt"/>
              </a:rPr>
              <a:t>Particles produced by proton pulse which interact almost immediately when they enter the detector:  </a:t>
            </a:r>
            <a:r>
              <a:rPr lang="en-US" dirty="0" err="1" smtClean="0"/>
              <a:t>π</a:t>
            </a:r>
            <a:r>
              <a:rPr lang="en-US" dirty="0" smtClean="0">
                <a:latin typeface="+mj-lt"/>
              </a:rPr>
              <a:t>, neutrons, </a:t>
            </a:r>
            <a:r>
              <a:rPr lang="en-US" dirty="0" err="1" smtClean="0">
                <a:latin typeface="+mj-lt"/>
              </a:rPr>
              <a:t>pbars</a:t>
            </a:r>
            <a:endParaRPr lang="en-US" dirty="0" smtClean="0">
              <a:latin typeface="+mj-lt"/>
            </a:endParaRPr>
          </a:p>
          <a:p>
            <a:pPr>
              <a:buNone/>
            </a:pPr>
            <a:endParaRPr lang="en-US" dirty="0" smtClean="0">
              <a:latin typeface="+mj-lt"/>
            </a:endParaRPr>
          </a:p>
          <a:p>
            <a:pPr>
              <a:buNone/>
            </a:pPr>
            <a:r>
              <a:rPr lang="en-US" i="1" dirty="0" smtClean="0">
                <a:latin typeface="+mj-lt"/>
              </a:rPr>
              <a:t>Radiative pion capture</a:t>
            </a:r>
          </a:p>
          <a:p>
            <a:pPr lvl="1"/>
            <a:r>
              <a:rPr lang="en-US" i="1" dirty="0" smtClean="0">
                <a:latin typeface="+mj-lt"/>
              </a:rPr>
              <a:t> </a:t>
            </a:r>
            <a:r>
              <a:rPr lang="en-US" i="1" dirty="0" smtClean="0"/>
              <a:t>π-+A(N,Z) →</a:t>
            </a:r>
            <a:r>
              <a:rPr lang="en-US" i="1" dirty="0" err="1" smtClean="0"/>
              <a:t>γ</a:t>
            </a:r>
            <a:r>
              <a:rPr lang="en-US" i="1" dirty="0" smtClean="0"/>
              <a:t> +X. </a:t>
            </a:r>
          </a:p>
          <a:p>
            <a:pPr lvl="3"/>
            <a:r>
              <a:rPr lang="en-US" i="1" dirty="0" err="1" smtClean="0"/>
              <a:t>γ</a:t>
            </a:r>
            <a:r>
              <a:rPr lang="en-US" i="1" dirty="0" smtClean="0"/>
              <a:t> </a:t>
            </a:r>
            <a:r>
              <a:rPr lang="en-US" dirty="0" smtClean="0">
                <a:latin typeface="+mj-lt"/>
              </a:rPr>
              <a:t>up to</a:t>
            </a:r>
            <a:r>
              <a:rPr lang="en-US" i="1" dirty="0" smtClean="0"/>
              <a:t> </a:t>
            </a:r>
            <a:r>
              <a:rPr lang="en-US" i="1" dirty="0" err="1" smtClean="0"/>
              <a:t>m</a:t>
            </a:r>
            <a:r>
              <a:rPr lang="en-US" i="1" baseline="-25000" dirty="0" err="1" smtClean="0"/>
              <a:t>π</a:t>
            </a:r>
            <a:r>
              <a:rPr lang="en-US" i="1" dirty="0" smtClean="0"/>
              <a:t>, </a:t>
            </a:r>
            <a:r>
              <a:rPr lang="en-US" dirty="0" smtClean="0">
                <a:latin typeface="+mj-lt"/>
              </a:rPr>
              <a:t>peak at 110 MeV</a:t>
            </a:r>
            <a:r>
              <a:rPr lang="en-US" i="1" dirty="0" smtClean="0"/>
              <a:t>;  </a:t>
            </a:r>
            <a:r>
              <a:rPr lang="en-US" i="1" dirty="0" err="1" smtClean="0"/>
              <a:t>γ</a:t>
            </a:r>
            <a:r>
              <a:rPr lang="en-US" i="1" dirty="0" smtClean="0"/>
              <a:t>→ </a:t>
            </a:r>
            <a:r>
              <a:rPr lang="en-US" i="1" dirty="0" err="1" smtClean="0"/>
              <a:t>e+e</a:t>
            </a:r>
            <a:r>
              <a:rPr lang="en-US" i="1" dirty="0" smtClean="0"/>
              <a:t>- ; </a:t>
            </a:r>
          </a:p>
          <a:p>
            <a:pPr lvl="3"/>
            <a:r>
              <a:rPr lang="en-US" dirty="0" smtClean="0">
                <a:latin typeface="+mj-lt"/>
              </a:rPr>
              <a:t>if one electron ~ 100 MeV in the target, looks like signal: limitation in best existing experiment,  SINDRUM II?</a:t>
            </a:r>
            <a:endParaRPr lang="en-US" dirty="0">
              <a:latin typeface="+mj-lt"/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0FE581-9BF4-4E45-95D9-B3B3B2972849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230402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pic>
        <p:nvPicPr>
          <p:cNvPr id="23040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3040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502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grpSp>
        <p:nvGrpSpPr>
          <p:cNvPr id="12" name="Group 11"/>
          <p:cNvGrpSpPr/>
          <p:nvPr/>
        </p:nvGrpSpPr>
        <p:grpSpPr>
          <a:xfrm>
            <a:off x="4013200" y="2133600"/>
            <a:ext cx="5029200" cy="2667000"/>
            <a:chOff x="4013200" y="2133600"/>
            <a:chExt cx="5029200" cy="2667000"/>
          </a:xfrm>
        </p:grpSpPr>
        <p:pic>
          <p:nvPicPr>
            <p:cNvPr id="9" name="Picture 6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013200" y="2133600"/>
              <a:ext cx="5029200" cy="2667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</p:pic>
        <p:sp>
          <p:nvSpPr>
            <p:cNvPr id="10" name="TextBox 9"/>
            <p:cNvSpPr txBox="1"/>
            <p:nvPr/>
          </p:nvSpPr>
          <p:spPr>
            <a:xfrm>
              <a:off x="5043129" y="3277404"/>
              <a:ext cx="1865671" cy="426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>
                  <a:solidFill>
                    <a:srgbClr val="FF0000"/>
                  </a:solidFill>
                  <a:latin typeface="+mj-lt"/>
                </a:rPr>
                <a:t>Why this wait?</a:t>
              </a:r>
              <a:endParaRPr lang="en-US" sz="1800" dirty="0">
                <a:solidFill>
                  <a:srgbClr val="FF0000"/>
                </a:solidFill>
                <a:latin typeface="+mj-lt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Radiative </a:t>
            </a:r>
            <a:r>
              <a:rPr lang="en-US" i="1" dirty="0" err="1" smtClean="0">
                <a:latin typeface="Times New Roman"/>
                <a:cs typeface="Times New Roman"/>
              </a:rPr>
              <a:t>π</a:t>
            </a:r>
            <a:r>
              <a:rPr lang="en-US" dirty="0" smtClean="0"/>
              <a:t> vs.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CA1ED1-5DAE-43E9-A967-57B0C3DAFDF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5" name="Group 77"/>
          <p:cNvGrpSpPr>
            <a:grpSpLocks/>
          </p:cNvGrpSpPr>
          <p:nvPr/>
        </p:nvGrpSpPr>
        <p:grpSpPr bwMode="auto">
          <a:xfrm>
            <a:off x="3175000" y="1524000"/>
            <a:ext cx="6756400" cy="4559300"/>
            <a:chOff x="0" y="0"/>
            <a:chExt cx="4968" cy="3112"/>
          </a:xfrm>
        </p:grpSpPr>
        <p:pic>
          <p:nvPicPr>
            <p:cNvPr id="6" name="Picture 78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4968" cy="31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</p:pic>
        <p:grpSp>
          <p:nvGrpSpPr>
            <p:cNvPr id="7" name="Group 79"/>
            <p:cNvGrpSpPr>
              <a:grpSpLocks/>
            </p:cNvGrpSpPr>
            <p:nvPr/>
          </p:nvGrpSpPr>
          <p:grpSpPr bwMode="auto">
            <a:xfrm>
              <a:off x="1877" y="256"/>
              <a:ext cx="2360" cy="320"/>
              <a:chOff x="0" y="0"/>
              <a:chExt cx="2360" cy="320"/>
            </a:xfrm>
          </p:grpSpPr>
          <p:sp>
            <p:nvSpPr>
              <p:cNvPr id="8" name="Rectangle 80"/>
              <p:cNvSpPr>
                <a:spLocks/>
              </p:cNvSpPr>
              <p:nvPr/>
            </p:nvSpPr>
            <p:spPr bwMode="auto">
              <a:xfrm>
                <a:off x="0" y="0"/>
                <a:ext cx="2360" cy="320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1"/>
              <p:cNvSpPr>
                <a:spLocks/>
              </p:cNvSpPr>
              <p:nvPr/>
            </p:nvSpPr>
            <p:spPr bwMode="auto">
              <a:xfrm>
                <a:off x="33" y="0"/>
                <a:ext cx="2046" cy="3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>
                <a:outerShdw blurRad="25400" dist="25399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algn="ctr">
                  <a:tabLst>
                    <a:tab pos="279400" algn="l"/>
                    <a:tab pos="558800" algn="l"/>
                    <a:tab pos="838200" algn="l"/>
                    <a:tab pos="1117600" algn="l"/>
                    <a:tab pos="1384300" algn="l"/>
                    <a:tab pos="1663700" algn="l"/>
                    <a:tab pos="1943100" algn="l"/>
                    <a:tab pos="2222500" algn="l"/>
                    <a:tab pos="2501900" algn="l"/>
                    <a:tab pos="2781300" algn="l"/>
                    <a:tab pos="3060700" algn="l"/>
                    <a:tab pos="3340100" algn="l"/>
                  </a:tabLst>
                  <a:defRPr/>
                </a:pPr>
                <a:r>
                  <a:rPr lang="en-US" dirty="0" err="1">
                    <a:solidFill>
                      <a:srgbClr val="0000FF"/>
                    </a:solidFill>
                    <a:latin typeface="Times New Roman Italic" charset="0"/>
                    <a:ea typeface="Times New Roman Italic" charset="0"/>
                    <a:cs typeface="Times New Roman Italic" charset="0"/>
                    <a:sym typeface="Times New Roman Italic" charset="0"/>
                  </a:rPr>
                  <a:t>π</a:t>
                </a:r>
                <a:r>
                  <a:rPr lang="en-US" dirty="0">
                    <a:solidFill>
                      <a:srgbClr val="0000FF"/>
                    </a:solidFill>
                    <a:latin typeface="Times New Roman Italic" charset="0"/>
                    <a:ea typeface="Times New Roman Italic" charset="0"/>
                    <a:cs typeface="Times New Roman Italic" charset="0"/>
                    <a:sym typeface="Times New Roman Italic" charset="0"/>
                  </a:rPr>
                  <a:t> on target per proton</a:t>
                </a:r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660400" y="2133600"/>
            <a:ext cx="26669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dirty="0" smtClean="0">
                <a:latin typeface="+mn-lt"/>
              </a:rPr>
              <a:t> This is a main reason why we have to wait 700 nsec</a:t>
            </a:r>
          </a:p>
          <a:p>
            <a:pPr>
              <a:buFont typeface="Arial"/>
              <a:buChar char="•"/>
            </a:pPr>
            <a:endParaRPr lang="en-US" dirty="0" smtClean="0">
              <a:latin typeface="+mn-lt"/>
            </a:endParaRPr>
          </a:p>
          <a:p>
            <a:pPr>
              <a:buFont typeface="Arial"/>
              <a:buChar char="•"/>
            </a:pPr>
            <a:r>
              <a:rPr lang="en-US" dirty="0" smtClean="0">
                <a:latin typeface="+mn-lt"/>
              </a:rPr>
              <a:t> would be really nice to eliminate pions another way!!</a:t>
            </a:r>
            <a:endParaRPr lang="en-US" dirty="0">
              <a:latin typeface="+mn-lt"/>
            </a:endParaRPr>
          </a:p>
        </p:txBody>
      </p:sp>
      <p:sp>
        <p:nvSpPr>
          <p:cNvPr id="11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7600" y="6629400"/>
            <a:ext cx="73007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Gain 10</a:t>
            </a:r>
            <a:r>
              <a:rPr lang="en-US" baseline="30000" dirty="0" smtClean="0">
                <a:latin typeface="+mj-lt"/>
              </a:rPr>
              <a:t>11</a:t>
            </a:r>
            <a:r>
              <a:rPr lang="en-US" dirty="0" smtClean="0">
                <a:latin typeface="+mj-lt"/>
              </a:rPr>
              <a:t> in </a:t>
            </a:r>
            <a:r>
              <a:rPr lang="en-US" dirty="0" err="1" smtClean="0">
                <a:latin typeface="Symbol" charset="2"/>
                <a:cs typeface="Symbol" charset="2"/>
              </a:rPr>
              <a:t>π</a:t>
            </a:r>
            <a:r>
              <a:rPr lang="en-US" dirty="0" smtClean="0">
                <a:latin typeface="Symbol" charset="2"/>
                <a:cs typeface="Symbol" charset="2"/>
              </a:rPr>
              <a:t> </a:t>
            </a:r>
            <a:r>
              <a:rPr lang="en-US" dirty="0" smtClean="0">
                <a:latin typeface="+mj-lt"/>
              </a:rPr>
              <a:t> rejection by waiting 700 nsec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17600" y="-101600"/>
            <a:ext cx="8178800" cy="1549400"/>
          </a:xfrm>
        </p:spPr>
        <p:txBody>
          <a:bodyPr/>
          <a:lstStyle/>
          <a:p>
            <a:r>
              <a:rPr lang="en-US" dirty="0" smtClean="0"/>
              <a:t>Beam Flash</a:t>
            </a:r>
            <a:endParaRPr lang="en-US" dirty="0"/>
          </a:p>
        </p:txBody>
      </p:sp>
      <p:sp>
        <p:nvSpPr>
          <p:cNvPr id="7" name="Vertical Text Placeholder 6"/>
          <p:cNvSpPr>
            <a:spLocks noGrp="1"/>
          </p:cNvSpPr>
          <p:nvPr>
            <p:ph type="body" orient="vert" idx="1"/>
          </p:nvPr>
        </p:nvSpPr>
        <p:spPr>
          <a:xfrm rot="16200000">
            <a:off x="-253999" y="2965450"/>
            <a:ext cx="3816350" cy="2901950"/>
          </a:xfrm>
        </p:spPr>
        <p:txBody>
          <a:bodyPr/>
          <a:lstStyle/>
          <a:p>
            <a:pPr marL="496888" lvl="3"/>
            <a:r>
              <a:rPr lang="en-US" dirty="0" smtClean="0">
                <a:latin typeface="+mj-lt"/>
              </a:rPr>
              <a:t>Beam electrons: incident on the stopping target and scatter into the detector region. </a:t>
            </a:r>
          </a:p>
          <a:p>
            <a:pPr marL="496888" lvl="3"/>
            <a:r>
              <a:rPr lang="en-US" dirty="0" smtClean="0">
                <a:latin typeface="+mj-lt"/>
              </a:rPr>
              <a:t>Need to suppress </a:t>
            </a:r>
            <a:r>
              <a:rPr lang="en-US" dirty="0" err="1" smtClean="0">
                <a:latin typeface="+mj-lt"/>
              </a:rPr>
              <a:t>e</a:t>
            </a:r>
            <a:r>
              <a:rPr lang="en-US" baseline="30000" dirty="0" smtClean="0">
                <a:latin typeface="+mj-lt"/>
              </a:rPr>
              <a:t>-</a:t>
            </a:r>
            <a:r>
              <a:rPr lang="en-US" dirty="0" smtClean="0">
                <a:latin typeface="+mj-lt"/>
              </a:rPr>
              <a:t> with E&gt;100 MeV near 105 MeV signal</a:t>
            </a:r>
          </a:p>
          <a:p>
            <a:pPr marL="496888" lvl="3"/>
            <a:endParaRPr lang="en-US" dirty="0" smtClean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40906-B1B4-4D2B-B46C-C9EE2DBB1102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8" name="Picture 7" descr="times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3479800" y="2209800"/>
            <a:ext cx="6286500" cy="42242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75200" y="3429000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electrons</a:t>
            </a:r>
            <a:endParaRPr lang="en-US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6672" y="5191780"/>
            <a:ext cx="157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muons</a:t>
            </a:r>
            <a:endParaRPr lang="en-US" dirty="0">
              <a:latin typeface="+mj-lt"/>
            </a:endParaRPr>
          </a:p>
        </p:txBody>
      </p:sp>
      <p:sp>
        <p:nvSpPr>
          <p:cNvPr id="11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0" y="152400"/>
            <a:ext cx="8178800" cy="1549400"/>
          </a:xfrm>
        </p:spPr>
        <p:txBody>
          <a:bodyPr/>
          <a:lstStyle/>
          <a:p>
            <a:r>
              <a:rPr lang="en-US" dirty="0" smtClean="0"/>
              <a:t>Other Backgrounds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359025" y="574675"/>
            <a:ext cx="3835400" cy="7702550"/>
          </a:xfrm>
        </p:spPr>
        <p:txBody>
          <a:bodyPr/>
          <a:lstStyle/>
          <a:p>
            <a:pPr marL="496888" lvl="6" eaLnBrk="0" hangingPunct="0">
              <a:buFont typeface="Times New Roman" charset="0"/>
              <a:buChar char="•"/>
            </a:pPr>
            <a:r>
              <a:rPr lang="en-US" dirty="0" smtClean="0">
                <a:latin typeface="+mj-lt"/>
              </a:rPr>
              <a:t>In-flight muon decays yielding electrons </a:t>
            </a:r>
          </a:p>
          <a:p>
            <a:pPr marL="954088" lvl="7" eaLnBrk="0" hangingPunct="0">
              <a:buFont typeface="Times New Roman" charset="0"/>
              <a:buChar char="•"/>
            </a:pPr>
            <a:r>
              <a:rPr lang="en-US" dirty="0" smtClean="0">
                <a:latin typeface="+mj-lt"/>
              </a:rPr>
              <a:t>If </a:t>
            </a:r>
            <a:r>
              <a:rPr lang="en-US" dirty="0" err="1" smtClean="0">
                <a:latin typeface="+mj-lt"/>
              </a:rPr>
              <a:t>p</a:t>
            </a:r>
            <a:r>
              <a:rPr lang="en-US" baseline="-25000" dirty="0" err="1" smtClean="0"/>
              <a:t>μ</a:t>
            </a:r>
            <a:r>
              <a:rPr lang="en-US" dirty="0" smtClean="0">
                <a:latin typeface="+mj-lt"/>
              </a:rPr>
              <a:t> &gt; 76 MeV/</a:t>
            </a:r>
            <a:r>
              <a:rPr lang="en-US" dirty="0" err="1" smtClean="0">
                <a:latin typeface="+mj-lt"/>
              </a:rPr>
              <a:t>c</a:t>
            </a:r>
            <a:r>
              <a:rPr lang="en-US" dirty="0" smtClean="0">
                <a:latin typeface="+mj-lt"/>
              </a:rPr>
              <a:t>, can get &gt; 100 MeV electron</a:t>
            </a:r>
          </a:p>
          <a:p>
            <a:pPr marL="496888" lvl="6" eaLnBrk="0" hangingPunct="0">
              <a:buFont typeface="Times New Roman" charset="0"/>
              <a:buChar char="•"/>
            </a:pPr>
            <a:r>
              <a:rPr lang="en-US" dirty="0" smtClean="0">
                <a:latin typeface="+mj-lt"/>
              </a:rPr>
              <a:t> Late arriving electrons from spiraling in field</a:t>
            </a:r>
          </a:p>
          <a:p>
            <a:pPr marL="496888" lvl="6" eaLnBrk="0" hangingPunct="0">
              <a:buFont typeface="Times New Roman" charset="0"/>
              <a:buChar char="•"/>
            </a:pPr>
            <a:r>
              <a:rPr lang="en-US" dirty="0" smtClean="0">
                <a:latin typeface="+mj-lt"/>
              </a:rPr>
              <a:t>Momentum selection and a tighter timing distribution would help!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840906-B1B4-4D2B-B46C-C9EE2DBB110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09FC03-86B7-4E49-81B6-1024080E9638}" type="slidenum">
              <a:rPr lang="en-US"/>
              <a:pPr>
                <a:defRPr/>
              </a:pPr>
              <a:t>23</a:t>
            </a:fld>
            <a:endParaRPr lang="en-US"/>
          </a:p>
        </p:txBody>
      </p:sp>
      <p:pic>
        <p:nvPicPr>
          <p:cNvPr id="23245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3245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39940" name="Rectangle 4"/>
          <p:cNvSpPr>
            <a:spLocks noGrp="1" noChangeArrowheads="1"/>
          </p:cNvSpPr>
          <p:nvPr>
            <p:ph type="title"/>
          </p:nvPr>
        </p:nvSpPr>
        <p:spPr>
          <a:xfrm>
            <a:off x="825500" y="304800"/>
            <a:ext cx="8178800" cy="1549400"/>
          </a:xfrm>
        </p:spPr>
        <p:txBody>
          <a:bodyPr/>
          <a:lstStyle/>
          <a:p>
            <a:pPr eaLnBrk="1" hangingPunct="1">
              <a:tabLst>
                <a:tab pos="952500" algn="l"/>
                <a:tab pos="952500" algn="l"/>
              </a:tabLst>
              <a:defRPr/>
            </a:pPr>
            <a:r>
              <a:rPr lang="en-US" sz="4900">
                <a:sym typeface="Arial" pitchFamily="-12" charset="0"/>
              </a:rPr>
              <a:t>Choice of Stopping Material:</a:t>
            </a:r>
            <a:br>
              <a:rPr lang="en-US" sz="4900">
                <a:sym typeface="Arial" pitchFamily="-12" charset="0"/>
              </a:rPr>
            </a:br>
            <a:r>
              <a:rPr lang="en-US" sz="4900">
                <a:sym typeface="Arial" pitchFamily="-12" charset="0"/>
              </a:rPr>
              <a:t>rate vs wait</a:t>
            </a:r>
          </a:p>
        </p:txBody>
      </p:sp>
      <p:sp>
        <p:nvSpPr>
          <p:cNvPr id="232454" name="Text Box 5"/>
          <p:cNvSpPr txBox="1">
            <a:spLocks noChangeArrowheads="1"/>
          </p:cNvSpPr>
          <p:nvPr/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</a:pPr>
            <a:fld id="{BFF42C34-1F56-4B7B-92A1-B8A1C1F56C24}" type="slidenum">
              <a:rPr lang="en-US" sz="1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</a:pPr>
              <a:t>23</a:t>
            </a:fld>
            <a:endParaRPr lang="en-US" sz="180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232455" name="Rectangle 6"/>
          <p:cNvSpPr>
            <a:spLocks/>
          </p:cNvSpPr>
          <p:nvPr/>
        </p:nvSpPr>
        <p:spPr bwMode="auto">
          <a:xfrm>
            <a:off x="2908300" y="2933700"/>
            <a:ext cx="1270000" cy="2019300"/>
          </a:xfrm>
          <a:prstGeom prst="rect">
            <a:avLst/>
          </a:prstGeom>
          <a:solidFill>
            <a:srgbClr val="E6E6E6"/>
          </a:solidFill>
          <a:ln w="254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232456" name="Rectangle 7"/>
          <p:cNvSpPr>
            <a:spLocks/>
          </p:cNvSpPr>
          <p:nvPr/>
        </p:nvSpPr>
        <p:spPr bwMode="auto">
          <a:xfrm>
            <a:off x="3124200" y="1866900"/>
            <a:ext cx="1282700" cy="3670300"/>
          </a:xfrm>
          <a:prstGeom prst="rect">
            <a:avLst/>
          </a:prstGeom>
          <a:solidFill>
            <a:srgbClr val="E6E6E6"/>
          </a:solidFill>
          <a:ln w="254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3994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-63500" y="1460500"/>
            <a:ext cx="4038600" cy="4965700"/>
          </a:xfrm>
        </p:spPr>
        <p:txBody>
          <a:bodyPr/>
          <a:lstStyle/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</a:tabLst>
              <a:defRPr/>
            </a:pPr>
            <a:r>
              <a:rPr lang="en-US">
                <a:sym typeface="Arial" pitchFamily="-12" charset="0"/>
              </a:rPr>
              <a:t>Stop muons in target (Z,A)</a:t>
            </a: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</a:tabLst>
              <a:defRPr/>
            </a:pPr>
            <a:r>
              <a:rPr lang="en-US">
                <a:sym typeface="Arial" pitchFamily="-12" charset="0"/>
              </a:rPr>
              <a:t>Physics sensitive to Z: with signal, can switch target to probe source of new physics </a:t>
            </a: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</a:tabLst>
              <a:defRPr/>
            </a:pPr>
            <a:r>
              <a:rPr lang="en-US">
                <a:sym typeface="Arial" pitchFamily="-12" charset="0"/>
              </a:rPr>
              <a:t>Why start with Al?</a:t>
            </a:r>
          </a:p>
        </p:txBody>
      </p:sp>
      <p:grpSp>
        <p:nvGrpSpPr>
          <p:cNvPr id="39946" name="Group 10"/>
          <p:cNvGrpSpPr>
            <a:grpSpLocks/>
          </p:cNvGrpSpPr>
          <p:nvPr/>
        </p:nvGrpSpPr>
        <p:grpSpPr bwMode="auto">
          <a:xfrm>
            <a:off x="4394200" y="4495800"/>
            <a:ext cx="5182197" cy="2667000"/>
            <a:chOff x="0" y="0"/>
            <a:chExt cx="4638" cy="2288"/>
          </a:xfrm>
        </p:grpSpPr>
        <p:pic>
          <p:nvPicPr>
            <p:cNvPr id="232461" name="Picture 11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919" y="86"/>
              <a:ext cx="2752" cy="18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sp>
          <p:nvSpPr>
            <p:cNvPr id="39948" name="Rectangle 12"/>
            <p:cNvSpPr>
              <a:spLocks/>
            </p:cNvSpPr>
            <p:nvPr/>
          </p:nvSpPr>
          <p:spPr bwMode="auto">
            <a:xfrm>
              <a:off x="0" y="1808"/>
              <a:ext cx="4592" cy="48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  <a:defRPr/>
              </a:pPr>
              <a:r>
                <a:rPr lang="en-US" dirty="0">
                  <a:solidFill>
                    <a:schemeClr val="tx1"/>
                  </a:solidFill>
                  <a:latin typeface="Hoefler Text" pitchFamily="-12" charset="0"/>
                  <a:ea typeface="Hoefler Text" pitchFamily="-12" charset="0"/>
                  <a:cs typeface="Hoefler Text" pitchFamily="-12" charset="0"/>
                  <a:sym typeface="Hoefler Text" pitchFamily="-12" charset="0"/>
                </a:rPr>
                <a:t> </a:t>
              </a:r>
              <a:r>
                <a:rPr lang="en-US" sz="1600" dirty="0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V. </a:t>
              </a:r>
              <a:r>
                <a:rPr lang="en-US" sz="1600" dirty="0" err="1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Cirigliano</a:t>
              </a:r>
              <a:r>
                <a:rPr lang="en-US" sz="1600" dirty="0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,  B. Grinstein, G. </a:t>
              </a:r>
              <a:r>
                <a:rPr lang="en-US" sz="1600" dirty="0" err="1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Isidori</a:t>
              </a:r>
              <a:r>
                <a:rPr lang="en-US" sz="1600" dirty="0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, M. Wise </a:t>
              </a:r>
              <a:r>
                <a:rPr lang="en-US" sz="1600" dirty="0">
                  <a:solidFill>
                    <a:schemeClr val="tx1"/>
                  </a:solidFill>
                  <a:latin typeface="Arial Bold" charset="0"/>
                  <a:ea typeface="Arial Bold" charset="0"/>
                  <a:cs typeface="Arial Bold" charset="0"/>
                  <a:sym typeface="Arial Bold" charset="0"/>
                </a:rPr>
                <a:t>Nucl.Phys.B728:121-134,2005</a:t>
              </a:r>
              <a:r>
                <a:rPr lang="en-US" sz="1600" dirty="0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. </a:t>
              </a:r>
              <a:r>
                <a:rPr lang="en-US" sz="1600" dirty="0" err="1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e</a:t>
              </a:r>
              <a:r>
                <a:rPr lang="en-US" sz="1600" dirty="0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-Print: </a:t>
              </a:r>
              <a:r>
                <a:rPr lang="en-US" sz="1600" dirty="0">
                  <a:solidFill>
                    <a:schemeClr val="tx1"/>
                  </a:solidFill>
                  <a:latin typeface="Arial Bold" charset="0"/>
                  <a:ea typeface="Arial Bold" charset="0"/>
                  <a:cs typeface="Arial Bold" charset="0"/>
                  <a:sym typeface="Arial Bold" charset="0"/>
                </a:rPr>
                <a:t>hep-ph/0507001</a:t>
              </a:r>
            </a:p>
          </p:txBody>
        </p:sp>
        <p:sp>
          <p:nvSpPr>
            <p:cNvPr id="39949" name="Rectangle 13"/>
            <p:cNvSpPr>
              <a:spLocks/>
            </p:cNvSpPr>
            <p:nvPr/>
          </p:nvSpPr>
          <p:spPr bwMode="auto">
            <a:xfrm>
              <a:off x="3410" y="261"/>
              <a:ext cx="1228" cy="7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  <a:defRPr/>
              </a:pPr>
              <a:r>
                <a:rPr lang="en-US" dirty="0">
                  <a:solidFill>
                    <a:schemeClr val="tx1"/>
                  </a:solidFill>
                  <a:latin typeface="Hoefler Text" pitchFamily="-12" charset="0"/>
                  <a:ea typeface="Hoefler Text" pitchFamily="-12" charset="0"/>
                  <a:cs typeface="Hoefler Text" pitchFamily="-12" charset="0"/>
                  <a:sym typeface="Hoefler Text" pitchFamily="-12" charset="0"/>
                </a:rPr>
                <a:t> </a:t>
              </a:r>
              <a:r>
                <a:rPr lang="en-US" sz="2200" dirty="0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s</a:t>
              </a:r>
              <a:r>
                <a:rPr lang="en-US" sz="2200" baseline="-6000" dirty="0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13</a:t>
              </a:r>
              <a:r>
                <a:rPr lang="en-US" sz="2200" dirty="0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 is NOvA mixing angle</a:t>
              </a:r>
            </a:p>
            <a:p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  <a:defRPr/>
              </a:pPr>
              <a:r>
                <a:rPr lang="en-US" sz="2200" dirty="0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&lt; 0.2 or so</a:t>
              </a:r>
            </a:p>
          </p:txBody>
        </p:sp>
        <p:sp>
          <p:nvSpPr>
            <p:cNvPr id="39950" name="Rectangle 14"/>
            <p:cNvSpPr>
              <a:spLocks/>
            </p:cNvSpPr>
            <p:nvPr/>
          </p:nvSpPr>
          <p:spPr bwMode="auto">
            <a:xfrm>
              <a:off x="1423" y="0"/>
              <a:ext cx="1889" cy="2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  <a:defRPr/>
              </a:pPr>
              <a:r>
                <a:rPr lang="en-US" sz="2200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can see up to x4 effect!</a:t>
              </a:r>
            </a:p>
          </p:txBody>
        </p:sp>
      </p:grpSp>
      <p:sp>
        <p:nvSpPr>
          <p:cNvPr id="232460" name="Rectangle 15"/>
          <p:cNvSpPr>
            <a:spLocks/>
          </p:cNvSpPr>
          <p:nvPr/>
        </p:nvSpPr>
        <p:spPr bwMode="auto">
          <a:xfrm>
            <a:off x="4152900" y="2540000"/>
            <a:ext cx="139700" cy="1143000"/>
          </a:xfrm>
          <a:prstGeom prst="rect">
            <a:avLst/>
          </a:prstGeom>
          <a:solidFill>
            <a:srgbClr val="E6E6E6"/>
          </a:solidFill>
          <a:ln w="254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262" y="1600200"/>
            <a:ext cx="4868438" cy="3200400"/>
          </a:xfrm>
          <a:prstGeom prst="rect">
            <a:avLst/>
          </a:prstGeom>
        </p:spPr>
      </p:pic>
      <p:sp>
        <p:nvSpPr>
          <p:cNvPr id="19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FC6A1B-3422-42B2-92B9-3234097DDDA4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233474" name="Rectangle 1"/>
          <p:cNvSpPr>
            <a:spLocks/>
          </p:cNvSpPr>
          <p:nvPr/>
        </p:nvSpPr>
        <p:spPr bwMode="auto">
          <a:xfrm>
            <a:off x="292100" y="71882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                                   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pic>
        <p:nvPicPr>
          <p:cNvPr id="23347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3347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0964" name="Rectangle 4"/>
          <p:cNvSpPr>
            <a:spLocks noGrp="1" noChangeArrowheads="1"/>
          </p:cNvSpPr>
          <p:nvPr>
            <p:ph type="title"/>
          </p:nvPr>
        </p:nvSpPr>
        <p:spPr>
          <a:xfrm>
            <a:off x="596900" y="165100"/>
            <a:ext cx="8178800" cy="1549400"/>
          </a:xfrm>
        </p:spPr>
        <p:txBody>
          <a:bodyPr/>
          <a:lstStyle/>
          <a:p>
            <a:pPr eaLnBrk="1" hangingPunct="1">
              <a:tabLst>
                <a:tab pos="952500" algn="l"/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Prompt Background</a:t>
            </a:r>
            <a:br>
              <a:rPr lang="en-US">
                <a:sym typeface="Arial" pitchFamily="-12" charset="0"/>
              </a:rPr>
            </a:br>
            <a:r>
              <a:rPr lang="en-US">
                <a:sym typeface="Arial" pitchFamily="-12" charset="0"/>
              </a:rPr>
              <a:t> and Choice of Z</a:t>
            </a:r>
          </a:p>
        </p:txBody>
      </p:sp>
      <p:sp>
        <p:nvSpPr>
          <p:cNvPr id="4096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92100" y="-279400"/>
            <a:ext cx="9677400" cy="4965700"/>
          </a:xfrm>
        </p:spPr>
        <p:txBody>
          <a:bodyPr/>
          <a:lstStyle/>
          <a:p>
            <a:pPr eaLnBrk="1" hangingPunct="1">
              <a:buFont typeface="Arial" pitchFamily="-12" charset="0"/>
              <a:buChar char="•"/>
              <a:tabLst>
                <a:tab pos="1065213" algn="l"/>
              </a:tabLst>
              <a:defRPr/>
            </a:pPr>
            <a:r>
              <a:rPr lang="en-US">
                <a:sym typeface="Arial" pitchFamily="-12" charset="0"/>
              </a:rPr>
              <a:t>choose Z based on tradeoff between rate and lifetime: longer lived reduces prompt backgrounds</a:t>
            </a:r>
          </a:p>
        </p:txBody>
      </p:sp>
      <p:graphicFrame>
        <p:nvGraphicFramePr>
          <p:cNvPr id="40966" name="Group 6"/>
          <p:cNvGraphicFramePr>
            <a:graphicFrameLocks noGrp="1"/>
          </p:cNvGraphicFramePr>
          <p:nvPr/>
        </p:nvGraphicFramePr>
        <p:xfrm>
          <a:off x="419100" y="3009900"/>
          <a:ext cx="9412288" cy="3680778"/>
        </p:xfrm>
        <a:graphic>
          <a:graphicData uri="http://schemas.openxmlformats.org/drawingml/2006/table">
            <a:tbl>
              <a:tblPr/>
              <a:tblGrid>
                <a:gridCol w="1841500"/>
                <a:gridCol w="2260600"/>
                <a:gridCol w="2209800"/>
                <a:gridCol w="1668463"/>
                <a:gridCol w="1431925"/>
              </a:tblGrid>
              <a:tr h="116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Nucleus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R</a:t>
                      </a:r>
                      <a:r>
                        <a:rPr kumimoji="0" lang="en-US" sz="24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μe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(Z) / R</a:t>
                      </a:r>
                      <a:r>
                        <a:rPr kumimoji="0" lang="en-US" sz="24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μe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(Al)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Bound Lifetime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Conversion Energy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Fraction &gt;700 ns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4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Al(13,27)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1.0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864 nsec 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104.96 MeV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0.45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1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Ti(22,~48)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1.7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328 nsec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104.18 MeV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0.16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6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Au(79,~197)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~0.8-1.5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72.6 nsec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95.56   MeV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3412C"/>
                        </a:buClr>
                        <a:buSzPct val="125000"/>
                        <a:buFont typeface="Arial" pitchFamily="-12" charset="0"/>
                        <a:buNone/>
                        <a:tabLst>
                          <a:tab pos="279400" algn="l"/>
                          <a:tab pos="558800" algn="l"/>
                          <a:tab pos="838200" algn="l"/>
                          <a:tab pos="1117600" algn="l"/>
                          <a:tab pos="1384300" algn="l"/>
                          <a:tab pos="1663700" algn="l"/>
                          <a:tab pos="1943100" algn="l"/>
                          <a:tab pos="2222500" algn="l"/>
                          <a:tab pos="2501900" algn="l"/>
                          <a:tab pos="2781300" algn="l"/>
                          <a:tab pos="3060700" algn="l"/>
                          <a:tab pos="3340100" algn="l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2" charset="0"/>
                          <a:ea typeface="ヒラギノ角ゴ ProN W3" charset="-128"/>
                          <a:cs typeface="ヒラギノ角ゴ ProN W3" charset="-128"/>
                          <a:sym typeface="Arial" pitchFamily="-12" charset="0"/>
                        </a:rPr>
                        <a:t>negligible</a:t>
                      </a:r>
                    </a:p>
                  </a:txBody>
                  <a:tcPr marL="38100" marR="38100" marT="38100" marB="38100" anchor="ctr" horzOverflow="overflow">
                    <a:lnL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341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3511" name="Text Box 76"/>
          <p:cNvSpPr txBox="1">
            <a:spLocks noChangeArrowheads="1"/>
          </p:cNvSpPr>
          <p:nvPr/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</a:pPr>
            <a:fld id="{9FAC1255-BC5F-47DA-A7B1-A5969E955C62}" type="slidenum">
              <a:rPr lang="en-US" sz="1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</a:pPr>
              <a:t>24</a:t>
            </a:fld>
            <a:endParaRPr lang="en-US" sz="180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27600" y="6324600"/>
            <a:ext cx="1310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+mj-lt"/>
              </a:rPr>
              <a:t>Too short!</a:t>
            </a:r>
            <a:endParaRPr lang="en-US" sz="2000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A36DF6-3B5E-4EF2-AD65-D8E5313700ED}" type="slidenum">
              <a:rPr lang="en-US"/>
              <a:pPr>
                <a:defRPr/>
              </a:pPr>
              <a:t>25</a:t>
            </a:fld>
            <a:endParaRPr lang="en-US"/>
          </a:p>
        </p:txBody>
      </p:sp>
      <p:pic>
        <p:nvPicPr>
          <p:cNvPr id="23552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3552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43012" name="Rectangle 4"/>
          <p:cNvSpPr>
            <a:spLocks noGrp="1" noChangeArrowheads="1"/>
          </p:cNvSpPr>
          <p:nvPr>
            <p:ph type="title"/>
          </p:nvPr>
        </p:nvSpPr>
        <p:spPr>
          <a:xfrm>
            <a:off x="990600" y="-203200"/>
            <a:ext cx="8178800" cy="1549400"/>
          </a:xfrm>
        </p:spPr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Extinction Scheme</a:t>
            </a:r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635000"/>
            <a:ext cx="8953500" cy="7200900"/>
          </a:xfrm>
        </p:spPr>
        <p:txBody>
          <a:bodyPr/>
          <a:lstStyle/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497013" algn="l"/>
                <a:tab pos="1497013" algn="l"/>
              </a:tabLst>
              <a:defRPr/>
            </a:pPr>
            <a:r>
              <a:rPr lang="en-US" dirty="0">
                <a:sym typeface="Arial" pitchFamily="-12" charset="0"/>
              </a:rPr>
              <a:t>Eliminate protons in beam in-between pulses:</a:t>
            </a: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497013" algn="l"/>
                <a:tab pos="1497013" algn="l"/>
              </a:tabLst>
              <a:defRPr/>
            </a:pPr>
            <a:endParaRPr lang="en-US" dirty="0">
              <a:sym typeface="Arial" pitchFamily="-12" charset="0"/>
            </a:endParaRP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497013" algn="l"/>
                <a:tab pos="1497013" algn="l"/>
              </a:tabLst>
              <a:defRPr/>
            </a:pPr>
            <a:endParaRPr lang="en-US" dirty="0">
              <a:sym typeface="Arial" pitchFamily="-12" charset="0"/>
            </a:endParaRP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497013" algn="l"/>
                <a:tab pos="1497013" algn="l"/>
              </a:tabLst>
              <a:defRPr/>
            </a:pPr>
            <a:endParaRPr lang="en-US" dirty="0">
              <a:sym typeface="Arial" pitchFamily="-12" charset="0"/>
            </a:endParaRP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497013" algn="l"/>
                <a:tab pos="1497013" algn="l"/>
              </a:tabLst>
              <a:defRPr/>
            </a:pPr>
            <a:endParaRPr lang="en-US" dirty="0">
              <a:sym typeface="Arial" pitchFamily="-12" charset="0"/>
            </a:endParaRP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497013" algn="l"/>
                <a:tab pos="1497013" algn="l"/>
              </a:tabLst>
              <a:defRPr/>
            </a:pPr>
            <a:r>
              <a:rPr lang="en-US" sz="2200" dirty="0">
                <a:sym typeface="Arial" pitchFamily="-12" charset="0"/>
              </a:rPr>
              <a:t>“Switch” dipole timing to switch signal and background:  accept only out-of-time protons for direct </a:t>
            </a:r>
            <a:r>
              <a:rPr lang="en-US" sz="2200" dirty="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measurement</a:t>
            </a:r>
            <a:r>
              <a:rPr lang="en-US" sz="2200" dirty="0">
                <a:sym typeface="Arial" pitchFamily="-12" charset="0"/>
              </a:rPr>
              <a:t> of extinction</a:t>
            </a:r>
          </a:p>
          <a:p>
            <a:pPr marL="569913" eaLnBrk="1" hangingPunct="1">
              <a:spcBef>
                <a:spcPts val="1600"/>
              </a:spcBef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497013" algn="l"/>
                <a:tab pos="1497013" algn="l"/>
              </a:tabLst>
              <a:defRPr/>
            </a:pPr>
            <a:r>
              <a:rPr lang="en-US" sz="2200" dirty="0">
                <a:sym typeface="Arial" pitchFamily="-12" charset="0"/>
              </a:rPr>
              <a:t>Continuous Extinction monitoring techniques under study</a:t>
            </a:r>
            <a:endParaRPr lang="en-US" sz="2200" dirty="0" smtClean="0">
              <a:sym typeface="Arial" pitchFamily="-12" charset="0"/>
            </a:endParaRPr>
          </a:p>
          <a:p>
            <a:pPr marL="1001713" lvl="1" eaLnBrk="1" hangingPunct="1">
              <a:spcBef>
                <a:spcPts val="1600"/>
              </a:spcBef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  <a:tab pos="1497013" algn="l"/>
                <a:tab pos="1497013" algn="l"/>
              </a:tabLst>
              <a:defRPr/>
            </a:pPr>
            <a:r>
              <a:rPr lang="en-US" sz="2200" dirty="0" smtClean="0">
                <a:sym typeface="Arial" pitchFamily="-12" charset="0"/>
              </a:rPr>
              <a:t>Cerenkov light with gated PMT for beam flash</a:t>
            </a:r>
            <a:endParaRPr lang="en-US" sz="2200" dirty="0">
              <a:sym typeface="Arial" pitchFamily="-12" charset="0"/>
            </a:endParaRPr>
          </a:p>
        </p:txBody>
      </p:sp>
      <p:sp>
        <p:nvSpPr>
          <p:cNvPr id="235527" name="Text Box 6"/>
          <p:cNvSpPr txBox="1">
            <a:spLocks noChangeArrowheads="1"/>
          </p:cNvSpPr>
          <p:nvPr/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</a:pPr>
            <a:fld id="{A4D69159-D987-41AC-BE58-6931594BDCA3}" type="slidenum">
              <a:rPr lang="en-US" sz="1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</a:pPr>
              <a:t>25</a:t>
            </a:fld>
            <a:endParaRPr lang="en-US" sz="180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pic>
        <p:nvPicPr>
          <p:cNvPr id="235528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47813" y="2057400"/>
            <a:ext cx="5605462" cy="2679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3016" name="Rectangle 8"/>
          <p:cNvSpPr>
            <a:spLocks/>
          </p:cNvSpPr>
          <p:nvPr/>
        </p:nvSpPr>
        <p:spPr bwMode="auto">
          <a:xfrm>
            <a:off x="7162800" y="2946400"/>
            <a:ext cx="2895600" cy="901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CDR under development</a:t>
            </a:r>
          </a:p>
        </p:txBody>
      </p:sp>
      <p:sp>
        <p:nvSpPr>
          <p:cNvPr id="43017" name="Rectangle 9"/>
          <p:cNvSpPr>
            <a:spLocks/>
          </p:cNvSpPr>
          <p:nvPr/>
        </p:nvSpPr>
        <p:spPr bwMode="auto">
          <a:xfrm>
            <a:off x="876300" y="812800"/>
            <a:ext cx="78105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achieving 10</a:t>
            </a:r>
            <a:r>
              <a:rPr lang="en-US" baseline="3200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-9</a:t>
            </a:r>
            <a:r>
              <a:rPr lang="en-US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is hard; normally get 10</a:t>
            </a:r>
            <a:r>
              <a:rPr lang="en-US" baseline="3200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-2</a:t>
            </a:r>
            <a:r>
              <a:rPr lang="en-US" i="1">
                <a:solidFill>
                  <a:srgbClr val="FF0000"/>
                </a:solidFill>
                <a:latin typeface="Hoefler Text" pitchFamily="-12" charset="0"/>
                <a:ea typeface="Hoefler Text" pitchFamily="-12" charset="0"/>
                <a:cs typeface="Hoefler Text" pitchFamily="-12" charset="0"/>
                <a:sym typeface="Hoefler Text" pitchFamily="-12" charset="0"/>
              </a:rPr>
              <a:t> – </a:t>
            </a:r>
            <a:r>
              <a:rPr lang="en-US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10</a:t>
            </a:r>
            <a:r>
              <a:rPr lang="en-US" baseline="3200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-3</a:t>
            </a:r>
          </a:p>
        </p:txBody>
      </p:sp>
      <p:sp>
        <p:nvSpPr>
          <p:cNvPr id="12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CA1ED1-5DAE-43E9-A967-57B0C3DAFDF9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-228600"/>
            <a:ext cx="9271000" cy="7378700"/>
          </a:xfrm>
          <a:prstGeom prst="rect">
            <a:avLst/>
          </a:prstGeom>
        </p:spPr>
      </p:pic>
      <p:sp>
        <p:nvSpPr>
          <p:cNvPr id="7" name="Rectangle 1"/>
          <p:cNvSpPr>
            <a:spLocks/>
          </p:cNvSpPr>
          <p:nvPr/>
        </p:nvSpPr>
        <p:spPr bwMode="auto">
          <a:xfrm>
            <a:off x="292100" y="71882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                                   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7A6F6-C8DB-4963-8AEA-7385CAC20440}" type="slidenum">
              <a:rPr lang="en-US"/>
              <a:pPr>
                <a:defRPr/>
              </a:pPr>
              <a:t>27</a:t>
            </a:fld>
            <a:endParaRPr lang="en-US"/>
          </a:p>
        </p:txBody>
      </p:sp>
      <p:pic>
        <p:nvPicPr>
          <p:cNvPr id="24883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4883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563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Outline</a:t>
            </a:r>
          </a:p>
        </p:txBody>
      </p:sp>
      <p:sp>
        <p:nvSpPr>
          <p:cNvPr id="563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990600" y="1498600"/>
            <a:ext cx="8178800" cy="4965700"/>
          </a:xfrm>
        </p:spPr>
        <p:txBody>
          <a:bodyPr/>
          <a:lstStyle/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>
                <a:sym typeface="Arial" pitchFamily="-12" charset="0"/>
              </a:rPr>
              <a:t>The search for muon-electron conversion</a:t>
            </a: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>
                <a:solidFill>
                  <a:srgbClr val="4C4C4C"/>
                </a:solidFill>
                <a:sym typeface="Arial" pitchFamily="-12" charset="0"/>
              </a:rPr>
              <a:t>Experimental Technique</a:t>
            </a:r>
            <a:r>
              <a:rPr lang="en-US" dirty="0">
                <a:solidFill>
                  <a:srgbClr val="4C4C4C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</a:t>
            </a:r>
            <a:endParaRPr lang="en-US" dirty="0">
              <a:solidFill>
                <a:srgbClr val="4C4C4C"/>
              </a:solidFill>
              <a:sym typeface="Arial" pitchFamily="-12" charset="0"/>
            </a:endParaRPr>
          </a:p>
          <a:p>
            <a:pPr marL="569913" eaLnBrk="1" hangingPunct="1">
              <a:buClr>
                <a:srgbClr val="4C4C4C"/>
              </a:buClr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>
                <a:solidFill>
                  <a:srgbClr val="4C4C4C"/>
                </a:solidFill>
                <a:sym typeface="Arial" pitchFamily="-12" charset="0"/>
              </a:rPr>
              <a:t>Fermilab Accelerator</a:t>
            </a:r>
            <a:r>
              <a:rPr lang="en-US" dirty="0">
                <a:solidFill>
                  <a:srgbClr val="4C4C4C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</a:t>
            </a:r>
            <a:endParaRPr lang="en-US" dirty="0">
              <a:solidFill>
                <a:srgbClr val="4C4C4C"/>
              </a:solidFill>
              <a:latin typeface="Arial Italic" charset="0"/>
              <a:sym typeface="Arial Italic" charset="0"/>
            </a:endParaRPr>
          </a:p>
          <a:p>
            <a:pPr marL="569913" eaLnBrk="1" hangingPunct="1">
              <a:buClr>
                <a:srgbClr val="FF0000"/>
              </a:buClr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Project X Upgrades and Mu2e</a:t>
            </a:r>
            <a:endParaRPr lang="en-US" dirty="0" smtClean="0">
              <a:solidFill>
                <a:srgbClr val="FF0000"/>
              </a:solidFill>
              <a:latin typeface="Arial Italic" charset="0"/>
              <a:sym typeface="Arial Italic" charset="0"/>
            </a:endParaRPr>
          </a:p>
          <a:p>
            <a:pPr marL="569913" eaLnBrk="1" hangingPunct="1">
              <a:buClr>
                <a:srgbClr val="4C4C4C"/>
              </a:buClr>
              <a:buFont typeface="Arial" pitchFamily="-12" charset="0"/>
              <a:buChar char="•"/>
              <a:tabLst>
                <a:tab pos="1065213" algn="l"/>
                <a:tab pos="1065213" algn="l"/>
                <a:tab pos="10652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 smtClean="0">
                <a:solidFill>
                  <a:srgbClr val="4C4C4C"/>
                </a:solidFill>
                <a:sym typeface="Arial" pitchFamily="-12" charset="0"/>
              </a:rPr>
              <a:t>Conclusions</a:t>
            </a:r>
            <a:endParaRPr lang="en-US" dirty="0">
              <a:solidFill>
                <a:srgbClr val="4C4C4C"/>
              </a:solidFill>
              <a:sym typeface="Arial" pitchFamily="-12" charset="0"/>
            </a:endParaRPr>
          </a:p>
        </p:txBody>
      </p:sp>
      <p:sp>
        <p:nvSpPr>
          <p:cNvPr id="248839" name="Text Box 6"/>
          <p:cNvSpPr txBox="1">
            <a:spLocks noChangeArrowheads="1"/>
          </p:cNvSpPr>
          <p:nvPr/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</a:pPr>
            <a:fld id="{07C5877D-4599-4505-BF32-37A10D6A569F}" type="slidenum">
              <a:rPr lang="en-US" sz="1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</a:pPr>
              <a:t>27</a:t>
            </a:fld>
            <a:endParaRPr lang="en-US" sz="180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9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15F72D0-3FBE-434D-80D0-AFD6008C31A7}" type="slidenum">
              <a:rPr lang="en-US"/>
              <a:pPr>
                <a:defRPr/>
              </a:pPr>
              <a:t>28</a:t>
            </a:fld>
            <a:endParaRPr lang="en-US"/>
          </a:p>
        </p:txBody>
      </p:sp>
      <p:pic>
        <p:nvPicPr>
          <p:cNvPr id="25702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5702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645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Project X Timing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49300" y="1295400"/>
            <a:ext cx="8178800" cy="5448300"/>
          </a:xfrm>
        </p:spPr>
        <p:txBody>
          <a:bodyPr/>
          <a:lstStyle/>
          <a:p>
            <a:pPr marL="354013" indent="-188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4970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>
                <a:sym typeface="Arial" pitchFamily="-12" charset="0"/>
              </a:rPr>
              <a:t>Must run and analyze Mu2e Phase I</a:t>
            </a:r>
          </a:p>
          <a:p>
            <a:pPr marL="354013" indent="-188913" eaLnBrk="1" hangingPunct="1">
              <a:buClr>
                <a:srgbClr val="4C4C4C"/>
              </a:buClr>
              <a:buFont typeface="Arial" pitchFamily="-12" charset="0"/>
              <a:buChar char="•"/>
              <a:tabLst>
                <a:tab pos="1065213" algn="l"/>
                <a:tab pos="1065213" algn="l"/>
                <a:tab pos="14970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>
                <a:solidFill>
                  <a:srgbClr val="4C4C4C"/>
                </a:solidFill>
                <a:sym typeface="Arial" pitchFamily="-12" charset="0"/>
              </a:rPr>
              <a:t>We will continue to refine our existing design and look for new ideas</a:t>
            </a:r>
          </a:p>
          <a:p>
            <a:pPr marL="1001713" lvl="1" eaLnBrk="1" hangingPunct="1">
              <a:buClr>
                <a:srgbClr val="4C4C4C"/>
              </a:buClr>
              <a:buFont typeface="Arial" pitchFamily="-12" charset="0"/>
              <a:buChar char="•"/>
              <a:tabLst>
                <a:tab pos="1065213" algn="l"/>
                <a:tab pos="1065213" algn="l"/>
                <a:tab pos="14970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>
                <a:solidFill>
                  <a:srgbClr val="4C4C4C"/>
                </a:solidFill>
                <a:sym typeface="Arial" pitchFamily="-12" charset="0"/>
              </a:rPr>
              <a:t>solenoid?  tracking?  time structure?</a:t>
            </a:r>
          </a:p>
          <a:p>
            <a:pPr marL="354013" indent="-188913" eaLnBrk="1" hangingPunct="1">
              <a:buFont typeface="Arial" pitchFamily="-12" charset="0"/>
              <a:buChar char="•"/>
              <a:tabLst>
                <a:tab pos="1065213" algn="l"/>
                <a:tab pos="1065213" algn="l"/>
                <a:tab pos="14970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>
                <a:sym typeface="Arial" pitchFamily="-12" charset="0"/>
              </a:rPr>
              <a:t>Finish analysis Phase I around </a:t>
            </a:r>
            <a:r>
              <a:rPr lang="en-US" dirty="0" smtClean="0">
                <a:sym typeface="Arial" pitchFamily="-12" charset="0"/>
              </a:rPr>
              <a:t>2020 </a:t>
            </a:r>
            <a:r>
              <a:rPr lang="en-US" dirty="0" smtClean="0"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then</a:t>
            </a:r>
            <a:endParaRPr lang="en-US" dirty="0">
              <a:latin typeface="Arial Bold" charset="0"/>
              <a:ea typeface="ヒラギノ角ゴ ProN W6" charset="-128"/>
              <a:cs typeface="ヒラギノ角ゴ ProN W6" charset="-128"/>
              <a:sym typeface="Arial Bold" charset="0"/>
            </a:endParaRPr>
          </a:p>
          <a:p>
            <a:pPr marL="354013" indent="-188913" eaLnBrk="1" hangingPunct="1">
              <a:buClr>
                <a:srgbClr val="000000"/>
              </a:buClr>
              <a:buFont typeface="Arial" pitchFamily="-12" charset="0"/>
              <a:buChar char="•"/>
              <a:tabLst>
                <a:tab pos="1065213" algn="l"/>
                <a:tab pos="1065213" algn="l"/>
                <a:tab pos="1497013" algn="l"/>
                <a:tab pos="1065213" algn="l"/>
                <a:tab pos="1065213" algn="l"/>
                <a:tab pos="1065213" algn="l"/>
              </a:tabLst>
              <a:defRPr/>
            </a:pPr>
            <a:r>
              <a:rPr lang="en-US" dirty="0">
                <a:solidFill>
                  <a:srgbClr val="FF0000"/>
                </a:solidFill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Project X</a:t>
            </a:r>
            <a:r>
              <a:rPr lang="en-US" dirty="0">
                <a:solidFill>
                  <a:srgbClr val="FF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makes a </a:t>
            </a:r>
            <a:r>
              <a:rPr lang="en-US" dirty="0">
                <a:solidFill>
                  <a:srgbClr val="FF0000"/>
                </a:solidFill>
                <a:latin typeface="Arial Bold Italic" charset="0"/>
                <a:ea typeface="Arial Bold Italic" charset="0"/>
                <a:cs typeface="Arial Bold Italic" charset="0"/>
                <a:sym typeface="Arial Bold Italic" charset="0"/>
              </a:rPr>
              <a:t>program</a:t>
            </a:r>
            <a:r>
              <a:rPr lang="en-US" dirty="0">
                <a:solidFill>
                  <a:srgbClr val="000000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</a:t>
            </a:r>
            <a:r>
              <a:rPr lang="en-US" dirty="0">
                <a:solidFill>
                  <a:srgbClr val="4C4C4C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possible, improving as we learn</a:t>
            </a:r>
            <a:endParaRPr lang="en-US" dirty="0">
              <a:solidFill>
                <a:srgbClr val="4C4C4C"/>
              </a:solidFill>
              <a:latin typeface="Arial Italic" charset="0"/>
              <a:sym typeface="Arial Italic" charset="0"/>
            </a:endParaRPr>
          </a:p>
        </p:txBody>
      </p:sp>
      <p:sp>
        <p:nvSpPr>
          <p:cNvPr id="257031" name="Text Box 6"/>
          <p:cNvSpPr txBox="1">
            <a:spLocks noChangeArrowheads="1"/>
          </p:cNvSpPr>
          <p:nvPr/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</a:pPr>
            <a:fld id="{642D1DF3-1D29-452A-8EB5-E0179DEF5366}" type="slidenum">
              <a:rPr lang="en-US" sz="1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</a:pPr>
              <a:t>28</a:t>
            </a:fld>
            <a:endParaRPr lang="en-US" sz="180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9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3FDAA3-43C5-4BB7-9E5B-BECE7B3D8601}" type="slidenum">
              <a:rPr lang="en-US"/>
              <a:pPr>
                <a:defRPr/>
              </a:pPr>
              <a:t>29</a:t>
            </a:fld>
            <a:endParaRPr lang="en-US"/>
          </a:p>
        </p:txBody>
      </p:sp>
      <p:pic>
        <p:nvPicPr>
          <p:cNvPr id="25600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5600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634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 dirty="0">
                <a:sym typeface="Arial" pitchFamily="-12" charset="0"/>
              </a:rPr>
              <a:t>Mu2e</a:t>
            </a:r>
            <a:r>
              <a:rPr lang="en-US" dirty="0" smtClean="0">
                <a:sym typeface="Arial" pitchFamily="-12" charset="0"/>
              </a:rPr>
              <a:t> Upgrades</a:t>
            </a:r>
            <a:endParaRPr lang="en-US" dirty="0">
              <a:sym typeface="Arial" pitchFamily="-12" charset="0"/>
            </a:endParaRPr>
          </a:p>
        </p:txBody>
      </p:sp>
      <p:sp>
        <p:nvSpPr>
          <p:cNvPr id="256006" name="Text Box 5"/>
          <p:cNvSpPr txBox="1">
            <a:spLocks noChangeArrowheads="1"/>
          </p:cNvSpPr>
          <p:nvPr/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</a:pPr>
            <a:fld id="{1B8C0CEA-B937-44B8-8BD4-4C8D38095568}" type="slidenum">
              <a:rPr lang="en-US" sz="1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</a:pPr>
              <a:t>29</a:t>
            </a:fld>
            <a:endParaRPr lang="en-US" sz="180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grpSp>
        <p:nvGrpSpPr>
          <p:cNvPr id="256007" name="Group 6"/>
          <p:cNvGrpSpPr>
            <a:grpSpLocks/>
          </p:cNvGrpSpPr>
          <p:nvPr/>
        </p:nvGrpSpPr>
        <p:grpSpPr bwMode="auto">
          <a:xfrm>
            <a:off x="4021138" y="993775"/>
            <a:ext cx="2108200" cy="1854200"/>
            <a:chOff x="0" y="0"/>
            <a:chExt cx="1327" cy="1167"/>
          </a:xfrm>
        </p:grpSpPr>
        <p:sp>
          <p:nvSpPr>
            <p:cNvPr id="256017" name="AutoShape 7"/>
            <p:cNvSpPr>
              <a:spLocks/>
            </p:cNvSpPr>
            <p:nvPr/>
          </p:nvSpPr>
          <p:spPr bwMode="auto">
            <a:xfrm rot="-2700000">
              <a:off x="182" y="142"/>
              <a:ext cx="883" cy="883"/>
            </a:xfrm>
            <a:custGeom>
              <a:avLst/>
              <a:gdLst>
                <a:gd name="T0" fmla="*/ 0 w 20299"/>
                <a:gd name="T1" fmla="*/ 0 h 20299"/>
                <a:gd name="T2" fmla="*/ 20299 w 20299"/>
                <a:gd name="T3" fmla="*/ 20299 h 20299"/>
              </a:gdLst>
              <a:ahLst/>
              <a:cxnLst/>
              <a:rect l="T0" t="T1" r="T2" b="T3"/>
              <a:pathLst>
                <a:path w="20299" h="20299">
                  <a:moveTo>
                    <a:pt x="1301" y="20299"/>
                  </a:moveTo>
                  <a:lnTo>
                    <a:pt x="21600" y="21600"/>
                  </a:lnTo>
                  <a:lnTo>
                    <a:pt x="20299" y="1301"/>
                  </a:lnTo>
                  <a:lnTo>
                    <a:pt x="0" y="0"/>
                  </a:lnTo>
                  <a:close/>
                  <a:moveTo>
                    <a:pt x="1301" y="20299"/>
                  </a:moveTo>
                </a:path>
              </a:pathLst>
            </a:cu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63496" name="Rectangle 8"/>
            <p:cNvSpPr>
              <a:spLocks/>
            </p:cNvSpPr>
            <p:nvPr/>
          </p:nvSpPr>
          <p:spPr bwMode="auto">
            <a:xfrm>
              <a:off x="183" y="410"/>
              <a:ext cx="962" cy="3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  <a:defRPr/>
              </a:pPr>
              <a:r>
                <a:rPr lang="en-US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Signal?</a:t>
              </a:r>
            </a:p>
          </p:txBody>
        </p:sp>
      </p:grpSp>
      <p:sp>
        <p:nvSpPr>
          <p:cNvPr id="63497" name="Line 9"/>
          <p:cNvSpPr>
            <a:spLocks noChangeShapeType="1"/>
          </p:cNvSpPr>
          <p:nvPr/>
        </p:nvSpPr>
        <p:spPr bwMode="auto">
          <a:xfrm rot="10800000" flipH="1">
            <a:off x="2862263" y="2247900"/>
            <a:ext cx="1443037" cy="10683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latin typeface="Hoefler Text" pitchFamily="-12" charset="0"/>
              <a:ea typeface="ヒラギノ明朝 ProN W3" charset="-128"/>
              <a:cs typeface="ヒラギノ明朝 ProN W3" charset="-128"/>
              <a:sym typeface="Hoefler Text" pitchFamily="-12" charset="0"/>
            </a:endParaRPr>
          </a:p>
        </p:txBody>
      </p:sp>
      <p:sp>
        <p:nvSpPr>
          <p:cNvPr id="63498" name="Rectangle 10"/>
          <p:cNvSpPr>
            <a:spLocks/>
          </p:cNvSpPr>
          <p:nvPr/>
        </p:nvSpPr>
        <p:spPr bwMode="auto">
          <a:xfrm>
            <a:off x="2801938" y="2349500"/>
            <a:ext cx="695325" cy="495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Yes</a:t>
            </a:r>
          </a:p>
        </p:txBody>
      </p:sp>
      <p:grpSp>
        <p:nvGrpSpPr>
          <p:cNvPr id="256010" name="Group 11"/>
          <p:cNvGrpSpPr>
            <a:grpSpLocks/>
          </p:cNvGrpSpPr>
          <p:nvPr/>
        </p:nvGrpSpPr>
        <p:grpSpPr bwMode="auto">
          <a:xfrm>
            <a:off x="254000" y="3365500"/>
            <a:ext cx="4165600" cy="3543300"/>
            <a:chOff x="0" y="0"/>
            <a:chExt cx="2624" cy="2232"/>
          </a:xfrm>
        </p:grpSpPr>
        <p:sp>
          <p:nvSpPr>
            <p:cNvPr id="256015" name="Rectangle 12"/>
            <p:cNvSpPr>
              <a:spLocks/>
            </p:cNvSpPr>
            <p:nvPr/>
          </p:nvSpPr>
          <p:spPr bwMode="auto">
            <a:xfrm>
              <a:off x="0" y="0"/>
              <a:ext cx="2624" cy="22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63501" name="Rectangle 13"/>
            <p:cNvSpPr>
              <a:spLocks/>
            </p:cNvSpPr>
            <p:nvPr/>
          </p:nvSpPr>
          <p:spPr bwMode="auto">
            <a:xfrm>
              <a:off x="120" y="128"/>
              <a:ext cx="2384" cy="15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</a:tabLst>
                <a:defRPr/>
              </a:pPr>
              <a:r>
                <a:rPr lang="en-US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1. Change Z of Target</a:t>
              </a:r>
            </a:p>
            <a:p>
              <a:pPr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</a:tabLst>
                <a:defRPr/>
              </a:pPr>
              <a:r>
                <a:rPr lang="en-US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to determine source of new physics</a:t>
              </a:r>
            </a:p>
            <a:p>
              <a:pPr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</a:tabLst>
                <a:defRPr/>
              </a:pPr>
              <a:endPara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endParaRPr>
            </a:p>
            <a:p>
              <a:pPr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</a:tabLst>
                <a:defRPr/>
              </a:pPr>
              <a:r>
                <a:rPr lang="en-US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2. Need Project X to provide statistics</a:t>
              </a:r>
            </a:p>
          </p:txBody>
        </p:sp>
      </p:grpSp>
      <p:sp>
        <p:nvSpPr>
          <p:cNvPr id="63502" name="Line 14"/>
          <p:cNvSpPr>
            <a:spLocks noChangeShapeType="1"/>
          </p:cNvSpPr>
          <p:nvPr/>
        </p:nvSpPr>
        <p:spPr bwMode="auto">
          <a:xfrm rot="10800000">
            <a:off x="5816600" y="2197100"/>
            <a:ext cx="1317625" cy="11699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latin typeface="Hoefler Text" pitchFamily="-12" charset="0"/>
              <a:ea typeface="ヒラギノ明朝 ProN W3" charset="-128"/>
              <a:cs typeface="ヒラギノ明朝 ProN W3" charset="-128"/>
              <a:sym typeface="Hoefler Text" pitchFamily="-12" charset="0"/>
            </a:endParaRPr>
          </a:p>
        </p:txBody>
      </p:sp>
      <p:sp>
        <p:nvSpPr>
          <p:cNvPr id="63503" name="Rectangle 15"/>
          <p:cNvSpPr>
            <a:spLocks/>
          </p:cNvSpPr>
          <p:nvPr/>
        </p:nvSpPr>
        <p:spPr bwMode="auto">
          <a:xfrm>
            <a:off x="6573838" y="2349500"/>
            <a:ext cx="568325" cy="495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No</a:t>
            </a:r>
          </a:p>
        </p:txBody>
      </p:sp>
      <p:sp>
        <p:nvSpPr>
          <p:cNvPr id="256013" name="Rectangle 16"/>
          <p:cNvSpPr>
            <a:spLocks/>
          </p:cNvSpPr>
          <p:nvPr/>
        </p:nvSpPr>
        <p:spPr bwMode="auto">
          <a:xfrm>
            <a:off x="5410200" y="3365500"/>
            <a:ext cx="4165600" cy="3721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63505" name="Rectangle 17"/>
          <p:cNvSpPr>
            <a:spLocks/>
          </p:cNvSpPr>
          <p:nvPr/>
        </p:nvSpPr>
        <p:spPr bwMode="auto">
          <a:xfrm>
            <a:off x="5600700" y="3568700"/>
            <a:ext cx="3975100" cy="3746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1. Probe additional two orders of magnitude made possible by Project X</a:t>
            </a:r>
          </a:p>
          <a:p>
            <a:pPr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>
              <a:solidFill>
                <a:schemeClr val="tx1"/>
              </a:solidFill>
              <a:latin typeface="Arial" pitchFamily="-12" charset="0"/>
              <a:ea typeface="Arial" pitchFamily="-12" charset="0"/>
              <a:cs typeface="Arial" pitchFamily="-12" charset="0"/>
              <a:sym typeface="Arial" pitchFamily="-12" charset="0"/>
            </a:endParaRPr>
          </a:p>
          <a:p>
            <a:pPr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2. Need upgrades to muon transport and detector</a:t>
            </a:r>
          </a:p>
          <a:p>
            <a:pPr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>
              <a:solidFill>
                <a:schemeClr val="tx1"/>
              </a:solidFill>
              <a:latin typeface="Arial" pitchFamily="-12" charset="0"/>
              <a:ea typeface="Arial" pitchFamily="-12" charset="0"/>
              <a:cs typeface="Arial" pitchFamily="-12" charset="0"/>
              <a:sym typeface="Arial" pitchFamily="-12" charset="0"/>
            </a:endParaRPr>
          </a:p>
        </p:txBody>
      </p:sp>
      <p:sp>
        <p:nvSpPr>
          <p:cNvPr id="20" name="Rectangle 1"/>
          <p:cNvSpPr>
            <a:spLocks/>
          </p:cNvSpPr>
          <p:nvPr/>
        </p:nvSpPr>
        <p:spPr bwMode="auto">
          <a:xfrm>
            <a:off x="292100" y="71882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                                   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EA24BF-C14E-4F22-8B39-93F597F777DF}" type="slidenum">
              <a:rPr lang="en-US"/>
              <a:pPr>
                <a:defRPr/>
              </a:pPr>
              <a:t>30</a:t>
            </a:fld>
            <a:endParaRPr lang="en-US"/>
          </a:p>
        </p:txBody>
      </p:sp>
      <p:grpSp>
        <p:nvGrpSpPr>
          <p:cNvPr id="250882" name="Group 1"/>
          <p:cNvGrpSpPr>
            <a:grpSpLocks/>
          </p:cNvGrpSpPr>
          <p:nvPr/>
        </p:nvGrpSpPr>
        <p:grpSpPr bwMode="auto">
          <a:xfrm>
            <a:off x="7324725" y="977900"/>
            <a:ext cx="2508250" cy="1854200"/>
            <a:chOff x="0" y="0"/>
            <a:chExt cx="1579" cy="1168"/>
          </a:xfrm>
        </p:grpSpPr>
        <p:sp>
          <p:nvSpPr>
            <p:cNvPr id="250904" name="Rectangle 2"/>
            <p:cNvSpPr>
              <a:spLocks/>
            </p:cNvSpPr>
            <p:nvPr/>
          </p:nvSpPr>
          <p:spPr bwMode="auto">
            <a:xfrm>
              <a:off x="0" y="0"/>
              <a:ext cx="1506" cy="1168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pic>
          <p:nvPicPr>
            <p:cNvPr id="250905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" y="46"/>
              <a:ext cx="1556" cy="10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</p:pic>
      </p:grpSp>
      <p:pic>
        <p:nvPicPr>
          <p:cNvPr id="25088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50885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5837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>
                <a:sym typeface="Arial" pitchFamily="-12" charset="0"/>
              </a:rPr>
              <a:t>Upgrade Plans...</a:t>
            </a:r>
          </a:p>
        </p:txBody>
      </p:sp>
      <p:sp>
        <p:nvSpPr>
          <p:cNvPr id="250887" name="Text Box 8"/>
          <p:cNvSpPr txBox="1">
            <a:spLocks noChangeArrowheads="1"/>
          </p:cNvSpPr>
          <p:nvPr/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</a:pPr>
            <a:fld id="{029430DB-74CB-4381-AEF0-D8538085029F}" type="slidenum">
              <a:rPr lang="en-US" sz="1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</a:pPr>
              <a:t>30</a:t>
            </a:fld>
            <a:endParaRPr lang="en-US" sz="180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 rot="10800000" flipH="1">
            <a:off x="2862263" y="2247900"/>
            <a:ext cx="1443037" cy="10683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latin typeface="Hoefler Text" pitchFamily="-12" charset="0"/>
              <a:ea typeface="ヒラギノ明朝 ProN W3" charset="-128"/>
              <a:cs typeface="ヒラギノ明朝 ProN W3" charset="-128"/>
              <a:sym typeface="Hoefler Text" pitchFamily="-12" charset="0"/>
            </a:endParaRPr>
          </a:p>
        </p:txBody>
      </p:sp>
      <p:sp>
        <p:nvSpPr>
          <p:cNvPr id="58378" name="Rectangle 10"/>
          <p:cNvSpPr>
            <a:spLocks/>
          </p:cNvSpPr>
          <p:nvPr/>
        </p:nvSpPr>
        <p:spPr bwMode="auto">
          <a:xfrm>
            <a:off x="2306638" y="2527300"/>
            <a:ext cx="695325" cy="495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Yes</a:t>
            </a:r>
          </a:p>
        </p:txBody>
      </p:sp>
      <p:grpSp>
        <p:nvGrpSpPr>
          <p:cNvPr id="250890" name="Group 11"/>
          <p:cNvGrpSpPr>
            <a:grpSpLocks/>
          </p:cNvGrpSpPr>
          <p:nvPr/>
        </p:nvGrpSpPr>
        <p:grpSpPr bwMode="auto">
          <a:xfrm>
            <a:off x="254000" y="3365500"/>
            <a:ext cx="4165600" cy="3797300"/>
            <a:chOff x="0" y="0"/>
            <a:chExt cx="2624" cy="2232"/>
          </a:xfrm>
        </p:grpSpPr>
        <p:sp>
          <p:nvSpPr>
            <p:cNvPr id="250902" name="Rectangle 12"/>
            <p:cNvSpPr>
              <a:spLocks/>
            </p:cNvSpPr>
            <p:nvPr/>
          </p:nvSpPr>
          <p:spPr bwMode="auto">
            <a:xfrm>
              <a:off x="0" y="0"/>
              <a:ext cx="2624" cy="22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58381" name="Rectangle 13"/>
            <p:cNvSpPr>
              <a:spLocks/>
            </p:cNvSpPr>
            <p:nvPr/>
          </p:nvSpPr>
          <p:spPr bwMode="auto">
            <a:xfrm>
              <a:off x="120" y="128"/>
              <a:ext cx="2384" cy="21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</a:tabLst>
                <a:defRPr/>
              </a:pPr>
              <a:r>
                <a:rPr lang="en-US" dirty="0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1. Change Z of Target</a:t>
              </a:r>
            </a:p>
            <a:p>
              <a:pPr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</a:tabLst>
                <a:defRPr/>
              </a:pPr>
              <a:r>
                <a:rPr lang="en-US" dirty="0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to determine source of new physics</a:t>
              </a:r>
            </a:p>
            <a:p>
              <a:pPr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</a:tabLst>
                <a:defRPr/>
              </a:pPr>
              <a:endParaRPr lang="en-US" dirty="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endParaRPr>
            </a:p>
            <a:p>
              <a:pPr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</a:tabLst>
                <a:defRPr/>
              </a:pPr>
              <a:r>
                <a:rPr lang="en-US" dirty="0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2. Prompt Rates will go up at higher Z, have to redesign detector and muon transport</a:t>
              </a:r>
            </a:p>
          </p:txBody>
        </p:sp>
      </p:grpSp>
      <p:sp>
        <p:nvSpPr>
          <p:cNvPr id="58382" name="Line 14"/>
          <p:cNvSpPr>
            <a:spLocks noChangeShapeType="1"/>
          </p:cNvSpPr>
          <p:nvPr/>
        </p:nvSpPr>
        <p:spPr bwMode="auto">
          <a:xfrm rot="10800000">
            <a:off x="5816600" y="2197100"/>
            <a:ext cx="1317625" cy="11699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latin typeface="Hoefler Text" pitchFamily="-12" charset="0"/>
              <a:ea typeface="ヒラギノ明朝 ProN W3" charset="-128"/>
              <a:cs typeface="ヒラギノ明朝 ProN W3" charset="-128"/>
              <a:sym typeface="Hoefler Text" pitchFamily="-12" charset="0"/>
            </a:endParaRPr>
          </a:p>
        </p:txBody>
      </p:sp>
      <p:sp>
        <p:nvSpPr>
          <p:cNvPr id="58383" name="Rectangle 15"/>
          <p:cNvSpPr>
            <a:spLocks/>
          </p:cNvSpPr>
          <p:nvPr/>
        </p:nvSpPr>
        <p:spPr bwMode="auto">
          <a:xfrm>
            <a:off x="6650038" y="2222500"/>
            <a:ext cx="568325" cy="495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  <a:defRPr/>
            </a:pPr>
            <a:r>
              <a:rPr lang="en-US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No</a:t>
            </a:r>
          </a:p>
        </p:txBody>
      </p:sp>
      <p:sp>
        <p:nvSpPr>
          <p:cNvPr id="250893" name="Rectangle 16"/>
          <p:cNvSpPr>
            <a:spLocks/>
          </p:cNvSpPr>
          <p:nvPr/>
        </p:nvSpPr>
        <p:spPr bwMode="auto">
          <a:xfrm>
            <a:off x="5410200" y="3365500"/>
            <a:ext cx="4165600" cy="3721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58385" name="Rectangle 17"/>
          <p:cNvSpPr>
            <a:spLocks/>
          </p:cNvSpPr>
          <p:nvPr/>
        </p:nvSpPr>
        <p:spPr bwMode="auto">
          <a:xfrm>
            <a:off x="5600700" y="3568700"/>
            <a:ext cx="3784600" cy="3517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25400" dist="253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dirty="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1. Both Prompt and DIO backgrounds must drop to measure</a:t>
            </a:r>
          </a:p>
          <a:p>
            <a:pPr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dirty="0" err="1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R</a:t>
            </a:r>
            <a:r>
              <a:rPr lang="en-US" baseline="-25000" dirty="0" err="1">
                <a:solidFill>
                  <a:schemeClr val="tx1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μe</a:t>
            </a:r>
            <a:r>
              <a:rPr lang="en-US" dirty="0">
                <a:solidFill>
                  <a:schemeClr val="tx1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~ </a:t>
            </a:r>
            <a:r>
              <a:rPr lang="en-US" dirty="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10</a:t>
            </a:r>
            <a:r>
              <a:rPr lang="en-US" baseline="32000" dirty="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-18</a:t>
            </a:r>
          </a:p>
          <a:p>
            <a:pPr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endParaRPr lang="en-US" dirty="0">
              <a:solidFill>
                <a:schemeClr val="tx1"/>
              </a:solidFill>
              <a:latin typeface="Arial" pitchFamily="-12" charset="0"/>
              <a:ea typeface="Arial" pitchFamily="-12" charset="0"/>
              <a:cs typeface="Arial" pitchFamily="-12" charset="0"/>
              <a:sym typeface="Arial" pitchFamily="-12" charset="0"/>
            </a:endParaRPr>
          </a:p>
          <a:p>
            <a:pPr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</a:tabLst>
              <a:defRPr/>
            </a:pPr>
            <a:r>
              <a:rPr lang="en-US" dirty="0">
                <a:solidFill>
                  <a:schemeClr val="tx1"/>
                </a:solidFill>
                <a:latin typeface="Arial" pitchFamily="-12" charset="0"/>
                <a:ea typeface="Arial" pitchFamily="-12" charset="0"/>
                <a:cs typeface="Arial" pitchFamily="-12" charset="0"/>
                <a:sym typeface="Arial" pitchFamily="-12" charset="0"/>
              </a:rPr>
              <a:t>2. Detector, Muon Transport, Cosmic Ray Veto, Calorimeter</a:t>
            </a:r>
          </a:p>
        </p:txBody>
      </p:sp>
      <p:grpSp>
        <p:nvGrpSpPr>
          <p:cNvPr id="250895" name="Group 18"/>
          <p:cNvGrpSpPr>
            <a:grpSpLocks/>
          </p:cNvGrpSpPr>
          <p:nvPr/>
        </p:nvGrpSpPr>
        <p:grpSpPr bwMode="auto">
          <a:xfrm>
            <a:off x="4021138" y="993775"/>
            <a:ext cx="2108200" cy="1854200"/>
            <a:chOff x="0" y="0"/>
            <a:chExt cx="1327" cy="1167"/>
          </a:xfrm>
        </p:grpSpPr>
        <p:sp>
          <p:nvSpPr>
            <p:cNvPr id="250900" name="AutoShape 19"/>
            <p:cNvSpPr>
              <a:spLocks/>
            </p:cNvSpPr>
            <p:nvPr/>
          </p:nvSpPr>
          <p:spPr bwMode="auto">
            <a:xfrm rot="-2700000">
              <a:off x="182" y="142"/>
              <a:ext cx="883" cy="883"/>
            </a:xfrm>
            <a:custGeom>
              <a:avLst/>
              <a:gdLst>
                <a:gd name="T0" fmla="*/ 0 w 20299"/>
                <a:gd name="T1" fmla="*/ 0 h 20299"/>
                <a:gd name="T2" fmla="*/ 20299 w 20299"/>
                <a:gd name="T3" fmla="*/ 20299 h 20299"/>
              </a:gdLst>
              <a:ahLst/>
              <a:cxnLst/>
              <a:rect l="T0" t="T1" r="T2" b="T3"/>
              <a:pathLst>
                <a:path w="20299" h="20299">
                  <a:moveTo>
                    <a:pt x="1301" y="20299"/>
                  </a:moveTo>
                  <a:lnTo>
                    <a:pt x="21600" y="21600"/>
                  </a:lnTo>
                  <a:lnTo>
                    <a:pt x="20299" y="1301"/>
                  </a:lnTo>
                  <a:lnTo>
                    <a:pt x="0" y="0"/>
                  </a:lnTo>
                  <a:close/>
                  <a:moveTo>
                    <a:pt x="1301" y="20299"/>
                  </a:moveTo>
                </a:path>
              </a:pathLst>
            </a:cu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58388" name="Rectangle 20"/>
            <p:cNvSpPr>
              <a:spLocks/>
            </p:cNvSpPr>
            <p:nvPr/>
          </p:nvSpPr>
          <p:spPr bwMode="auto">
            <a:xfrm>
              <a:off x="183" y="410"/>
              <a:ext cx="962" cy="3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25400" dist="253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  <a:defRPr/>
              </a:pPr>
              <a:r>
                <a:rPr lang="en-US">
                  <a:solidFill>
                    <a:schemeClr val="tx1"/>
                  </a:solidFill>
                  <a:latin typeface="Arial" pitchFamily="-12" charset="0"/>
                  <a:ea typeface="Arial" pitchFamily="-12" charset="0"/>
                  <a:cs typeface="Arial" pitchFamily="-12" charset="0"/>
                  <a:sym typeface="Arial" pitchFamily="-12" charset="0"/>
                </a:rPr>
                <a:t>Signal?</a:t>
              </a:r>
            </a:p>
          </p:txBody>
        </p:sp>
      </p:grpSp>
      <p:pic>
        <p:nvPicPr>
          <p:cNvPr id="250896" name="Picture 2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789863" y="1320800"/>
            <a:ext cx="1455737" cy="3175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grpSp>
        <p:nvGrpSpPr>
          <p:cNvPr id="250897" name="Group 22"/>
          <p:cNvGrpSpPr>
            <a:grpSpLocks/>
          </p:cNvGrpSpPr>
          <p:nvPr/>
        </p:nvGrpSpPr>
        <p:grpSpPr bwMode="auto">
          <a:xfrm>
            <a:off x="558800" y="876300"/>
            <a:ext cx="2451100" cy="1562100"/>
            <a:chOff x="0" y="0"/>
            <a:chExt cx="1544" cy="984"/>
          </a:xfrm>
        </p:grpSpPr>
        <p:sp>
          <p:nvSpPr>
            <p:cNvPr id="250898" name="Rectangle 23"/>
            <p:cNvSpPr>
              <a:spLocks/>
            </p:cNvSpPr>
            <p:nvPr/>
          </p:nvSpPr>
          <p:spPr bwMode="auto">
            <a:xfrm>
              <a:off x="0" y="0"/>
              <a:ext cx="1544" cy="984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pic>
          <p:nvPicPr>
            <p:cNvPr id="250899" name="Picture 24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17" y="49"/>
              <a:ext cx="1308" cy="89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28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Upgrade 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5200" y="1371600"/>
            <a:ext cx="8178800" cy="6248400"/>
          </a:xfrm>
        </p:spPr>
        <p:txBody>
          <a:bodyPr/>
          <a:lstStyle/>
          <a:p>
            <a:r>
              <a:rPr lang="en-US" sz="2400" dirty="0" smtClean="0"/>
              <a:t>If we want higher Z targets, must shorten the 700 nsec wait time, perhaps 700 → 70 nsec</a:t>
            </a:r>
          </a:p>
          <a:p>
            <a:pPr lvl="1"/>
            <a:r>
              <a:rPr lang="en-US" sz="2400" dirty="0" smtClean="0"/>
              <a:t>Beam flash</a:t>
            </a:r>
          </a:p>
          <a:p>
            <a:pPr lvl="1"/>
            <a:r>
              <a:rPr lang="en-US" sz="2400" dirty="0" smtClean="0"/>
              <a:t>Radiative pi capture</a:t>
            </a:r>
          </a:p>
          <a:p>
            <a:r>
              <a:rPr lang="en-US" sz="2400" dirty="0" smtClean="0"/>
              <a:t>But without a signal, </a:t>
            </a:r>
            <a:r>
              <a:rPr lang="en-US" sz="2400" i="1" dirty="0" smtClean="0"/>
              <a:t>also</a:t>
            </a:r>
            <a:r>
              <a:rPr lang="en-US" sz="2400" dirty="0" smtClean="0"/>
              <a:t> need to improve resolution from decay-in-orbit background</a:t>
            </a:r>
          </a:p>
          <a:p>
            <a:pPr lvl="1"/>
            <a:r>
              <a:rPr lang="en-US" sz="2400" dirty="0" smtClean="0"/>
              <a:t>Just the beam improvements are not enough: would only reduce</a:t>
            </a:r>
            <a:r>
              <a:rPr lang="en-US" sz="2400" dirty="0" smtClean="0"/>
              <a:t> radiative pi background </a:t>
            </a:r>
            <a:r>
              <a:rPr lang="en-US" sz="2400" dirty="0" smtClean="0"/>
              <a:t>x2 </a:t>
            </a:r>
          </a:p>
          <a:p>
            <a:pPr lvl="1"/>
            <a:r>
              <a:rPr lang="en-US" sz="2400" dirty="0" smtClean="0"/>
              <a:t>Resolution of spectrometer and pattern recognition algorithms; new hardware?</a:t>
            </a:r>
          </a:p>
          <a:p>
            <a:r>
              <a:rPr lang="en-US" sz="2400" dirty="0" smtClean="0"/>
              <a:t>Extinction: need ~x100 better</a:t>
            </a:r>
          </a:p>
          <a:p>
            <a:pPr lvl="1"/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CA1ED1-5DAE-43E9-A967-57B0C3DAFDF9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0416FD-1276-440D-BCFE-49DCC39B95C5}" type="slidenum">
              <a:rPr lang="en-US"/>
              <a:pPr>
                <a:defRPr/>
              </a:pPr>
              <a:t>32</a:t>
            </a:fld>
            <a:endParaRPr lang="en-US"/>
          </a:p>
        </p:txBody>
      </p:sp>
      <p:pic>
        <p:nvPicPr>
          <p:cNvPr id="25190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5190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59396" name="Rectangle 4"/>
          <p:cNvSpPr>
            <a:spLocks noGrp="1" noChangeArrowheads="1"/>
          </p:cNvSpPr>
          <p:nvPr>
            <p:ph type="title"/>
          </p:nvPr>
        </p:nvSpPr>
        <p:spPr>
          <a:xfrm>
            <a:off x="965200" y="0"/>
            <a:ext cx="8178800" cy="1549400"/>
          </a:xfrm>
        </p:spPr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 dirty="0" smtClean="0">
                <a:sym typeface="Arial" pitchFamily="-12" charset="0"/>
              </a:rPr>
              <a:t>Conclusions (physics)</a:t>
            </a:r>
            <a:endParaRPr lang="en-US" dirty="0">
              <a:sym typeface="Arial" pitchFamily="-12" charset="0"/>
            </a:endParaRP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8750300" cy="6388100"/>
          </a:xfrm>
        </p:spPr>
        <p:txBody>
          <a:bodyPr/>
          <a:lstStyle/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497013" algn="l"/>
                <a:tab pos="1497013" algn="l"/>
                <a:tab pos="1497013" algn="l"/>
                <a:tab pos="1065213" algn="l"/>
              </a:tabLst>
              <a:defRPr/>
            </a:pPr>
            <a:r>
              <a:rPr lang="en-US" sz="2400" dirty="0">
                <a:sym typeface="Arial" pitchFamily="-12" charset="0"/>
              </a:rPr>
              <a:t>Mu2e </a:t>
            </a:r>
            <a:r>
              <a:rPr lang="en-US" sz="2400" dirty="0" smtClean="0">
                <a:sym typeface="Arial" pitchFamily="-12" charset="0"/>
              </a:rPr>
              <a:t>will:</a:t>
            </a:r>
            <a:endParaRPr lang="en-US" sz="2400" dirty="0">
              <a:sym typeface="Arial" pitchFamily="-12" charset="0"/>
            </a:endParaRPr>
          </a:p>
          <a:p>
            <a:pPr marL="1001713" lvl="1" eaLnBrk="1" hangingPunct="1">
              <a:buFont typeface="Arial" pitchFamily="-12" charset="0"/>
              <a:buChar char="•"/>
              <a:tabLst>
                <a:tab pos="1065213" algn="l"/>
                <a:tab pos="1497013" algn="l"/>
                <a:tab pos="1497013" algn="l"/>
                <a:tab pos="1497013" algn="l"/>
                <a:tab pos="1065213" algn="l"/>
              </a:tabLst>
              <a:defRPr/>
            </a:pPr>
            <a:r>
              <a:rPr lang="en-US" sz="2400" dirty="0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Reduce the limit for </a:t>
            </a:r>
            <a:r>
              <a:rPr lang="en-US" sz="2400" dirty="0" err="1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R</a:t>
            </a:r>
            <a:r>
              <a:rPr lang="en-US" sz="2400" baseline="-6000" dirty="0" err="1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μe</a:t>
            </a:r>
            <a:r>
              <a:rPr lang="en-US" sz="2400" dirty="0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by more than four orders of magnitude      (</a:t>
            </a:r>
            <a:r>
              <a:rPr lang="en-US" sz="2400" dirty="0" err="1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R</a:t>
            </a:r>
            <a:r>
              <a:rPr lang="en-US" sz="2400" baseline="-6000" dirty="0" err="1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μe</a:t>
            </a:r>
            <a:r>
              <a:rPr lang="en-US" sz="2400" dirty="0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&lt;6x10</a:t>
            </a:r>
            <a:r>
              <a:rPr lang="en-US" sz="2400" baseline="32000" dirty="0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-17</a:t>
            </a:r>
            <a:r>
              <a:rPr lang="en-US" sz="2400" dirty="0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@ 90% C.L.)</a:t>
            </a:r>
            <a:endParaRPr lang="en-US" sz="2400" dirty="0">
              <a:solidFill>
                <a:srgbClr val="0000FF"/>
              </a:solidFill>
              <a:latin typeface="Arial Italic" charset="0"/>
              <a:sym typeface="Arial Italic" charset="0"/>
            </a:endParaRPr>
          </a:p>
          <a:p>
            <a:pPr marL="1001713" lvl="1" eaLnBrk="1" hangingPunct="1">
              <a:buFont typeface="Arial" pitchFamily="-12" charset="0"/>
              <a:buChar char="•"/>
              <a:tabLst>
                <a:tab pos="1065213" algn="l"/>
                <a:tab pos="1497013" algn="l"/>
                <a:tab pos="1497013" algn="l"/>
                <a:tab pos="1497013" algn="l"/>
                <a:tab pos="1065213" algn="l"/>
              </a:tabLst>
              <a:defRPr/>
            </a:pPr>
            <a:r>
              <a:rPr lang="en-US" sz="2400" dirty="0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Discover unambiguous proof of Beyond Standard Model physics</a:t>
            </a:r>
            <a:r>
              <a:rPr lang="en-US" sz="2400" dirty="0" smtClean="0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or</a:t>
            </a:r>
            <a:r>
              <a:rPr lang="en-US" sz="2400" dirty="0" smtClean="0">
                <a:solidFill>
                  <a:srgbClr val="0000FF"/>
                </a:solidFill>
                <a:latin typeface="Arial Italic" charset="0"/>
                <a:sym typeface="Arial Italic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provide </a:t>
            </a:r>
            <a:r>
              <a:rPr lang="en-US" sz="2400" dirty="0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important information either </a:t>
            </a:r>
            <a:r>
              <a:rPr lang="en-US" sz="2400" dirty="0" smtClean="0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complementing the LHC </a:t>
            </a:r>
            <a:r>
              <a:rPr lang="en-US" sz="2400" dirty="0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or probing up to 10</a:t>
            </a:r>
            <a:r>
              <a:rPr lang="en-US" sz="2400" baseline="32000" dirty="0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4</a:t>
            </a:r>
            <a:r>
              <a:rPr lang="en-US" sz="2400" dirty="0">
                <a:solidFill>
                  <a:srgbClr val="0000FF"/>
                </a:solidFill>
                <a:latin typeface="Arial Italic" charset="0"/>
                <a:ea typeface="Arial Italic" charset="0"/>
                <a:cs typeface="Arial Italic" charset="0"/>
                <a:sym typeface="Arial Italic" charset="0"/>
              </a:rPr>
              <a:t> GeV mass scales</a:t>
            </a:r>
            <a:endParaRPr lang="en-US" sz="2400" dirty="0" smtClean="0">
              <a:latin typeface="Arial Italic" charset="0"/>
              <a:sym typeface="Arial Italic" charset="0"/>
            </a:endParaRPr>
          </a:p>
          <a:p>
            <a:pPr marL="569913" eaLnBrk="1" hangingPunct="1">
              <a:buClr>
                <a:srgbClr val="4C4C4C"/>
              </a:buClr>
              <a:buFont typeface="Arial" pitchFamily="-12" charset="0"/>
              <a:buChar char="•"/>
              <a:tabLst>
                <a:tab pos="1065213" algn="l"/>
                <a:tab pos="1497013" algn="l"/>
                <a:tab pos="1497013" algn="l"/>
                <a:tab pos="1497013" algn="l"/>
                <a:tab pos="1065213" algn="l"/>
              </a:tabLst>
              <a:defRPr/>
            </a:pPr>
            <a:r>
              <a:rPr lang="en-US" sz="2400" dirty="0" smtClean="0">
                <a:sym typeface="Arial" pitchFamily="-12" charset="0"/>
              </a:rPr>
              <a:t>Technically limited schedule: data-taking 2016:</a:t>
            </a:r>
          </a:p>
          <a:p>
            <a:pPr marL="1001713" lvl="1" eaLnBrk="1" hangingPunct="1">
              <a:buClr>
                <a:srgbClr val="4C4C4C"/>
              </a:buClr>
              <a:buFont typeface="Arial" pitchFamily="-12" charset="0"/>
              <a:buChar char="•"/>
              <a:tabLst>
                <a:tab pos="1065213" algn="l"/>
                <a:tab pos="1497013" algn="l"/>
                <a:tab pos="1497013" algn="l"/>
                <a:tab pos="1497013" algn="l"/>
                <a:tab pos="1065213" algn="l"/>
              </a:tabLst>
              <a:defRPr/>
            </a:pPr>
            <a:r>
              <a:rPr lang="en-US" sz="2400" dirty="0" smtClean="0">
                <a:sym typeface="Arial" pitchFamily="-12" charset="0"/>
              </a:rPr>
              <a:t>We plan to use existing scheme, not major variations for beam delivery</a:t>
            </a:r>
          </a:p>
        </p:txBody>
      </p:sp>
      <p:sp>
        <p:nvSpPr>
          <p:cNvPr id="251911" name="Text Box 6"/>
          <p:cNvSpPr txBox="1">
            <a:spLocks noChangeArrowheads="1"/>
          </p:cNvSpPr>
          <p:nvPr/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</a:pPr>
            <a:fld id="{236CAB3D-17CC-451F-B84E-A5938AA29244}" type="slidenum">
              <a:rPr lang="en-US" sz="1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</a:pPr>
              <a:t>32</a:t>
            </a:fld>
            <a:endParaRPr lang="en-US" sz="180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9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0416FD-1276-440D-BCFE-49DCC39B95C5}" type="slidenum">
              <a:rPr lang="en-US"/>
              <a:pPr>
                <a:defRPr/>
              </a:pPr>
              <a:t>33</a:t>
            </a:fld>
            <a:endParaRPr lang="en-US"/>
          </a:p>
        </p:txBody>
      </p:sp>
      <p:pic>
        <p:nvPicPr>
          <p:cNvPr id="25190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38100"/>
            <a:ext cx="3074988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5190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28075" y="25400"/>
            <a:ext cx="1457325" cy="833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59396" name="Rectangle 4"/>
          <p:cNvSpPr>
            <a:spLocks noGrp="1" noChangeArrowheads="1"/>
          </p:cNvSpPr>
          <p:nvPr>
            <p:ph type="title"/>
          </p:nvPr>
        </p:nvSpPr>
        <p:spPr>
          <a:xfrm>
            <a:off x="965200" y="0"/>
            <a:ext cx="8178800" cy="1549400"/>
          </a:xfrm>
        </p:spPr>
        <p:txBody>
          <a:bodyPr/>
          <a:lstStyle/>
          <a:p>
            <a:pPr eaLnBrk="1" hangingPunct="1">
              <a:tabLst>
                <a:tab pos="952500" algn="l"/>
              </a:tabLst>
              <a:defRPr/>
            </a:pPr>
            <a:r>
              <a:rPr lang="en-US" dirty="0" smtClean="0">
                <a:sym typeface="Arial" pitchFamily="-12" charset="0"/>
              </a:rPr>
              <a:t>Conclusions (upgrade)</a:t>
            </a:r>
            <a:endParaRPr lang="en-US" dirty="0">
              <a:sym typeface="Arial" pitchFamily="-12" charset="0"/>
            </a:endParaRP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8750300" cy="6388100"/>
          </a:xfrm>
        </p:spPr>
        <p:txBody>
          <a:bodyPr/>
          <a:lstStyle/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497013" algn="l"/>
                <a:tab pos="1497013" algn="l"/>
                <a:tab pos="1497013" algn="l"/>
                <a:tab pos="1065213" algn="l"/>
              </a:tabLst>
              <a:defRPr/>
            </a:pPr>
            <a:r>
              <a:rPr lang="en-US" sz="2400" dirty="0" smtClean="0">
                <a:sym typeface="Arial" pitchFamily="-12" charset="0"/>
              </a:rPr>
              <a:t>Resolution and background issues are critical</a:t>
            </a:r>
          </a:p>
          <a:p>
            <a:pPr marL="569913" eaLnBrk="1" hangingPunct="1">
              <a:buFont typeface="Arial" pitchFamily="-12" charset="0"/>
              <a:buChar char="•"/>
              <a:tabLst>
                <a:tab pos="1065213" algn="l"/>
                <a:tab pos="1497013" algn="l"/>
                <a:tab pos="1497013" algn="l"/>
                <a:tab pos="1497013" algn="l"/>
                <a:tab pos="1065213" algn="l"/>
              </a:tabLst>
              <a:defRPr/>
            </a:pPr>
            <a:r>
              <a:rPr lang="en-US" sz="2400" dirty="0" smtClean="0">
                <a:sym typeface="Arial" pitchFamily="-12" charset="0"/>
              </a:rPr>
              <a:t>Project X will get at least x10 in statistics, </a:t>
            </a:r>
          </a:p>
          <a:p>
            <a:pPr marL="1001713" lvl="1" eaLnBrk="1" hangingPunct="1">
              <a:buFont typeface="Arial" pitchFamily="-12" charset="0"/>
              <a:buChar char="•"/>
              <a:tabLst>
                <a:tab pos="1065213" algn="l"/>
                <a:tab pos="1497013" algn="l"/>
                <a:tab pos="1497013" algn="l"/>
                <a:tab pos="1497013" algn="l"/>
                <a:tab pos="1065213" algn="l"/>
              </a:tabLst>
              <a:defRPr/>
            </a:pPr>
            <a:r>
              <a:rPr lang="en-US" sz="2400" i="1" dirty="0" smtClean="0">
                <a:sym typeface="Arial" pitchFamily="-12" charset="0"/>
              </a:rPr>
              <a:t>With a signal</a:t>
            </a:r>
          </a:p>
          <a:p>
            <a:pPr marL="1593850" lvl="2" indent="-514350" eaLnBrk="1" hangingPunct="1">
              <a:buFont typeface="+mj-lt"/>
              <a:buAutoNum type="alphaLcParenR"/>
              <a:tabLst>
                <a:tab pos="1065213" algn="l"/>
                <a:tab pos="1497013" algn="l"/>
                <a:tab pos="1497013" algn="l"/>
                <a:tab pos="1497013" algn="l"/>
                <a:tab pos="1065213" algn="l"/>
              </a:tabLst>
              <a:defRPr/>
            </a:pPr>
            <a:r>
              <a:rPr lang="en-US" sz="2400" dirty="0" smtClean="0">
                <a:sym typeface="Arial" pitchFamily="-12" charset="0"/>
              </a:rPr>
              <a:t>Explore different targets</a:t>
            </a:r>
          </a:p>
          <a:p>
            <a:pPr marL="1593850" lvl="2" indent="-514350" eaLnBrk="1" hangingPunct="1">
              <a:buFont typeface="+mj-lt"/>
              <a:buAutoNum type="alphaLcParenR"/>
              <a:tabLst>
                <a:tab pos="1065213" algn="l"/>
                <a:tab pos="1497013" algn="l"/>
                <a:tab pos="1497013" algn="l"/>
                <a:tab pos="1497013" algn="l"/>
                <a:tab pos="1065213" algn="l"/>
              </a:tabLst>
              <a:defRPr/>
            </a:pPr>
            <a:r>
              <a:rPr lang="en-US" sz="2400" dirty="0" smtClean="0">
                <a:sym typeface="Arial" pitchFamily="-12" charset="0"/>
              </a:rPr>
              <a:t>Reduce radiative pion background</a:t>
            </a:r>
          </a:p>
          <a:p>
            <a:pPr marL="1593850" lvl="2" indent="-514350" eaLnBrk="1" hangingPunct="1">
              <a:buFont typeface="+mj-lt"/>
              <a:buAutoNum type="alphaLcParenR"/>
              <a:tabLst>
                <a:tab pos="1065213" algn="l"/>
                <a:tab pos="1497013" algn="l"/>
                <a:tab pos="1497013" algn="l"/>
                <a:tab pos="1497013" algn="l"/>
                <a:tab pos="1065213" algn="l"/>
              </a:tabLst>
              <a:defRPr/>
            </a:pPr>
            <a:r>
              <a:rPr lang="en-US" sz="2400" dirty="0" smtClean="0">
                <a:sym typeface="Arial" pitchFamily="-12" charset="0"/>
              </a:rPr>
              <a:t>Decrease time spread of muons</a:t>
            </a:r>
          </a:p>
          <a:p>
            <a:pPr marL="1162050" lvl="1" indent="-514350" eaLnBrk="1" hangingPunct="1">
              <a:buFont typeface="Arial"/>
              <a:buChar char="•"/>
              <a:tabLst>
                <a:tab pos="1065213" algn="l"/>
                <a:tab pos="1497013" algn="l"/>
                <a:tab pos="1497013" algn="l"/>
                <a:tab pos="1497013" algn="l"/>
                <a:tab pos="1065213" algn="l"/>
              </a:tabLst>
              <a:defRPr/>
            </a:pPr>
            <a:r>
              <a:rPr lang="en-US" sz="2400" i="1" dirty="0" smtClean="0">
                <a:sym typeface="Arial" pitchFamily="-12" charset="0"/>
              </a:rPr>
              <a:t>And with a limit, </a:t>
            </a:r>
            <a:r>
              <a:rPr lang="en-US" sz="2400" dirty="0" smtClean="0">
                <a:sym typeface="Arial" pitchFamily="-12" charset="0"/>
              </a:rPr>
              <a:t>the beam related sources are only ½ of background – </a:t>
            </a:r>
            <a:r>
              <a:rPr lang="en-US" sz="2400" dirty="0" smtClean="0">
                <a:sym typeface="Arial" pitchFamily="-12" charset="0"/>
              </a:rPr>
              <a:t>resolution/</a:t>
            </a:r>
            <a:r>
              <a:rPr lang="en-US" sz="2400" dirty="0" err="1" smtClean="0">
                <a:sym typeface="Arial" pitchFamily="-12" charset="0"/>
              </a:rPr>
              <a:t>misreconstructions</a:t>
            </a:r>
            <a:r>
              <a:rPr lang="en-US" sz="2400" dirty="0" smtClean="0">
                <a:sym typeface="Arial" pitchFamily="-12" charset="0"/>
              </a:rPr>
              <a:t> </a:t>
            </a:r>
            <a:r>
              <a:rPr lang="en-US" sz="2400" dirty="0" smtClean="0">
                <a:sym typeface="Arial" pitchFamily="-12" charset="0"/>
              </a:rPr>
              <a:t>becomes the limiting problem</a:t>
            </a:r>
          </a:p>
        </p:txBody>
      </p:sp>
      <p:sp>
        <p:nvSpPr>
          <p:cNvPr id="251911" name="Text Box 6"/>
          <p:cNvSpPr txBox="1">
            <a:spLocks noChangeArrowheads="1"/>
          </p:cNvSpPr>
          <p:nvPr/>
        </p:nvSpPr>
        <p:spPr bwMode="auto">
          <a:xfrm>
            <a:off x="4900613" y="7200900"/>
            <a:ext cx="344487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tabLst>
                <a:tab pos="279400" algn="l"/>
                <a:tab pos="558800" algn="l"/>
                <a:tab pos="838200" algn="l"/>
                <a:tab pos="1117600" algn="l"/>
                <a:tab pos="1384300" algn="l"/>
                <a:tab pos="1663700" algn="l"/>
                <a:tab pos="1943100" algn="l"/>
                <a:tab pos="2222500" algn="l"/>
                <a:tab pos="2501900" algn="l"/>
                <a:tab pos="2781300" algn="l"/>
                <a:tab pos="3060700" algn="l"/>
                <a:tab pos="3340100" algn="l"/>
              </a:tabLst>
            </a:pPr>
            <a:fld id="{236CAB3D-17CC-451F-B84E-A5938AA29244}" type="slidenum">
              <a:rPr lang="en-US" sz="1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pPr algn="ctr">
                <a:tabLst>
                  <a:tab pos="279400" algn="l"/>
                  <a:tab pos="558800" algn="l"/>
                  <a:tab pos="838200" algn="l"/>
                  <a:tab pos="1117600" algn="l"/>
                  <a:tab pos="1384300" algn="l"/>
                  <a:tab pos="1663700" algn="l"/>
                  <a:tab pos="1943100" algn="l"/>
                  <a:tab pos="2222500" algn="l"/>
                  <a:tab pos="2501900" algn="l"/>
                  <a:tab pos="2781300" algn="l"/>
                  <a:tab pos="3060700" algn="l"/>
                  <a:tab pos="3340100" algn="l"/>
                </a:tabLst>
              </a:pPr>
              <a:t>33</a:t>
            </a:fld>
            <a:endParaRPr lang="en-US" sz="180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9" name="Rectangle 1"/>
          <p:cNvSpPr>
            <a:spLocks/>
          </p:cNvSpPr>
          <p:nvPr/>
        </p:nvSpPr>
        <p:spPr bwMode="auto">
          <a:xfrm>
            <a:off x="292100" y="7175500"/>
            <a:ext cx="95758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marL="228600"/>
            <a:r>
              <a:rPr lang="en-US" sz="1900" dirty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R. Bernstein, FNAL                                                                  </a:t>
            </a:r>
            <a:r>
              <a:rPr lang="en-US" sz="1900" dirty="0" smtClean="0">
                <a:solidFill>
                  <a:srgbClr val="2E2F3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AAC Seminar Jan 2009</a:t>
            </a:r>
            <a:endParaRPr lang="en-US" sz="1900" dirty="0">
              <a:solidFill>
                <a:srgbClr val="2E2F3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tle &amp; Subtitle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0F0F0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- Top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6666FF"/>
      </a:accent1>
      <a:accent2>
        <a:srgbClr val="333399"/>
      </a:accent2>
      <a:accent3>
        <a:srgbClr val="F0F0F0"/>
      </a:accent3>
      <a:accent4>
        <a:srgbClr val="383624"/>
      </a:accent4>
      <a:accent5>
        <a:srgbClr val="B8B8F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Arial"/>
        <a:ea typeface="ヒラギノ角ゴ ProN W3"/>
        <a:cs typeface="ヒラギノ角ゴ ProN W3"/>
      </a:majorFont>
      <a:minorFont>
        <a:latin typeface="Hoefler Text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&amp; Bullets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BFBFBF"/>
      </a:accent1>
      <a:accent2>
        <a:srgbClr val="333399"/>
      </a:accent2>
      <a:accent3>
        <a:srgbClr val="F0F0F0"/>
      </a:accent3>
      <a:accent4>
        <a:srgbClr val="383624"/>
      </a:accent4>
      <a:accent5>
        <a:srgbClr val="DCDCDC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 &amp; Bullets copy 3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E6E6E6"/>
      </a:accent1>
      <a:accent2>
        <a:srgbClr val="333399"/>
      </a:accent2>
      <a:accent3>
        <a:srgbClr val="F0F0F0"/>
      </a:accent3>
      <a:accent4>
        <a:srgbClr val="383624"/>
      </a:accent4>
      <a:accent5>
        <a:srgbClr val="F0F0F0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copy 3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&amp; Bullets copy 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Title &amp; Bullets - Left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0F0F0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Left">
      <a:majorFont>
        <a:latin typeface="Arial"/>
        <a:ea typeface="ヒラギノ角ゴ ProN W3"/>
        <a:cs typeface="ヒラギノ角ゴ ProN W3"/>
      </a:majorFont>
      <a:minorFont>
        <a:latin typeface="Times New Roman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&amp; Bullets - Lef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Title - Center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0F0F0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">
      <a:majorFont>
        <a:latin typeface="Arial"/>
        <a:ea typeface="ヒラギノ角ゴ ProN W3"/>
        <a:cs typeface="ヒラギノ角ゴ ProN W3"/>
      </a:majorFont>
      <a:minorFont>
        <a:latin typeface="Hoefler Text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- Cen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Photo - Horizontal">
  <a:themeElements>
    <a:clrScheme name="">
      <a:dk1>
        <a:srgbClr val="43412C"/>
      </a:dk1>
      <a:lt1>
        <a:srgbClr val="CCCCCC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E2E2E2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">
      <a:majorFont>
        <a:latin typeface="Hoefler Text"/>
        <a:ea typeface="ヒラギノ明朝 ProN W3"/>
        <a:cs typeface="ヒラギノ明朝 ProN W3"/>
      </a:majorFont>
      <a:minorFont>
        <a:latin typeface="Hoefler Text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Photo - Horizon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Photo - Vertical">
  <a:themeElements>
    <a:clrScheme name="">
      <a:dk1>
        <a:srgbClr val="43412C"/>
      </a:dk1>
      <a:lt1>
        <a:srgbClr val="B9B69E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D9D7CC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">
      <a:majorFont>
        <a:latin typeface="Hoefler Text"/>
        <a:ea typeface="ヒラギノ明朝 ProN W3"/>
        <a:cs typeface="ヒラギノ明朝 ProN W3"/>
      </a:majorFont>
      <a:minorFont>
        <a:latin typeface="Hoefler Text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Photo - Vert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Title, Bullets &amp; Photo">
  <a:themeElements>
    <a:clrScheme name="">
      <a:dk1>
        <a:srgbClr val="43412C"/>
      </a:dk1>
      <a:lt1>
        <a:srgbClr val="B9B69E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D9D7CC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, Bullets &amp; Photo">
      <a:majorFont>
        <a:latin typeface="Times New Roman"/>
        <a:ea typeface="ヒラギノ明朝 ProN W3"/>
        <a:cs typeface="ヒラギノ明朝 ProN W3"/>
      </a:majorFont>
      <a:minorFont>
        <a:latin typeface="Times New Roman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, Bullets &amp; Ph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Bullets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0F0F0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llets">
      <a:majorFont>
        <a:latin typeface="Hoefler Text"/>
        <a:ea typeface="ヒラギノ明朝 ProN W3"/>
        <a:cs typeface="ヒラギノ明朝 ProN W3"/>
      </a:majorFont>
      <a:minorFont>
        <a:latin typeface="Times New Roman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Title &amp; Bullets - Right">
  <a:themeElements>
    <a:clrScheme name="">
      <a:dk1>
        <a:srgbClr val="43412C"/>
      </a:dk1>
      <a:lt1>
        <a:srgbClr val="BCBED3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DADBE6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Right">
      <a:majorFont>
        <a:latin typeface="Times New Roman"/>
        <a:ea typeface="ヒラギノ明朝 ProN W3"/>
        <a:cs typeface="ヒラギノ明朝 ProN W3"/>
      </a:majorFont>
      <a:minorFont>
        <a:latin typeface="Times New Roman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&amp; Bullets - Righ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Title &amp; Bullets copy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0F0F0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copy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&amp; Bullets cop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Title &amp; Bullets copy 1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0F0F0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copy 1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&amp; Bullets copy 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Title &amp; Bullets copy 2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0F0F0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copy 2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&amp; Bullets copy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Title - Top copy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0F0F0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 copy">
      <a:majorFont>
        <a:latin typeface="Arial"/>
        <a:ea typeface="ヒラギノ角ゴ ProN W3"/>
        <a:cs typeface="ヒラギノ角ゴ ProN W3"/>
      </a:majorFont>
      <a:minorFont>
        <a:latin typeface="Hoefler Text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- Top cop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Blank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0F0F0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ヒラギノ角ゴ ProN W3"/>
        <a:cs typeface="ヒラギノ角ゴ ProN W3"/>
      </a:majorFont>
      <a:minorFont>
        <a:latin typeface="Hoefler Text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Title - Top">
  <a:themeElements>
    <a:clrScheme name="">
      <a:dk1>
        <a:srgbClr val="43412C"/>
      </a:dk1>
      <a:lt1>
        <a:srgbClr val="E6E6E6"/>
      </a:lt1>
      <a:dk2>
        <a:srgbClr val="000000"/>
      </a:dk2>
      <a:lt2>
        <a:srgbClr val="FFFFFF"/>
      </a:lt2>
      <a:accent1>
        <a:srgbClr val="BBE0E3"/>
      </a:accent1>
      <a:accent2>
        <a:srgbClr val="333399"/>
      </a:accent2>
      <a:accent3>
        <a:srgbClr val="F0F0F0"/>
      </a:accent3>
      <a:accent4>
        <a:srgbClr val="38362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Arial"/>
        <a:ea typeface="ヒラギノ角ゴ ProN W3"/>
        <a:cs typeface="ヒラギノ角ゴ ProN W3"/>
      </a:majorFont>
      <a:minorFont>
        <a:latin typeface="Hoefler Text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>
            <a:tab pos="279400" algn="l"/>
            <a:tab pos="558800" algn="l"/>
            <a:tab pos="838200" algn="l"/>
            <a:tab pos="1117600" algn="l"/>
            <a:tab pos="1384300" algn="l"/>
            <a:tab pos="1663700" algn="l"/>
            <a:tab pos="1943100" algn="l"/>
            <a:tab pos="2222500" algn="l"/>
            <a:tab pos="2501900" algn="l"/>
            <a:tab pos="2781300" algn="l"/>
            <a:tab pos="3060700" algn="l"/>
            <a:tab pos="3340100" algn="l"/>
          </a:tabLst>
          <a:defRPr kumimoji="0" lang="en-US" sz="2800" b="0" i="0" u="none" strike="noStrike" cap="none" normalizeH="0" baseline="0">
            <a:ln>
              <a:noFill/>
            </a:ln>
            <a:solidFill>
              <a:srgbClr val="43412C"/>
            </a:solidFill>
            <a:effectLst/>
            <a:latin typeface="Hoefler Text" pitchFamily="-12" charset="0"/>
            <a:ea typeface="ヒラギノ明朝 ProN W3" charset="-128"/>
            <a:cs typeface="ヒラギノ明朝 ProN W3" charset="-128"/>
            <a:sym typeface="Hoefler Text" pitchFamily="-12" charset="0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4711</TotalTime>
  <Pages>0</Pages>
  <Words>2483</Words>
  <Characters>0</Characters>
  <PresentationFormat>Custom</PresentationFormat>
  <Lines>0</Lines>
  <Paragraphs>402</Paragraphs>
  <Slides>33</Slides>
  <Notes>8</Notes>
  <HiddenSlides>0</HiddenSlides>
  <MMClips>0</MMClips>
  <ScaleCrop>false</ScaleCrop>
  <HeadingPairs>
    <vt:vector size="4" baseType="variant">
      <vt:variant>
        <vt:lpstr>Design Template</vt:lpstr>
      </vt:variant>
      <vt:variant>
        <vt:i4>17</vt:i4>
      </vt:variant>
      <vt:variant>
        <vt:lpstr>Slide Titles</vt:lpstr>
      </vt:variant>
      <vt:variant>
        <vt:i4>33</vt:i4>
      </vt:variant>
    </vt:vector>
  </HeadingPairs>
  <TitlesOfParts>
    <vt:vector size="50" baseType="lpstr">
      <vt:lpstr>Title &amp; Subtitle</vt:lpstr>
      <vt:lpstr>Title - Top</vt:lpstr>
      <vt:lpstr>Title &amp; Bullets</vt:lpstr>
      <vt:lpstr>Title &amp; Bullets copy 3</vt:lpstr>
      <vt:lpstr>Title &amp; Bullets - Left</vt:lpstr>
      <vt:lpstr>Title - Center</vt:lpstr>
      <vt:lpstr>Photo - Horizontal</vt:lpstr>
      <vt:lpstr>Photo - Vertical</vt:lpstr>
      <vt:lpstr>Title, Bullets &amp; Photo</vt:lpstr>
      <vt:lpstr>Bullets</vt:lpstr>
      <vt:lpstr>Title &amp; Bullets - Right</vt:lpstr>
      <vt:lpstr>Title &amp; Bullets copy</vt:lpstr>
      <vt:lpstr>Title &amp; Bullets copy 1</vt:lpstr>
      <vt:lpstr>Title &amp; Bullets copy 2</vt:lpstr>
      <vt:lpstr>Title - Top copy</vt:lpstr>
      <vt:lpstr>Blank</vt:lpstr>
      <vt:lpstr>Title - Top</vt:lpstr>
      <vt:lpstr>Overview  and  Challenges for Upgrades: Muon-Electron Conversion at FNAL</vt:lpstr>
      <vt:lpstr>Slide 2</vt:lpstr>
      <vt:lpstr>Outline</vt:lpstr>
      <vt:lpstr>What is μe Conversion?</vt:lpstr>
      <vt:lpstr>Endorsed in US Roadmap</vt:lpstr>
      <vt:lpstr>Experimental Signal</vt:lpstr>
      <vt:lpstr>LFV,  SUSY and the LHC</vt:lpstr>
      <vt:lpstr>Contributions to μe Conversion  </vt:lpstr>
      <vt:lpstr>“Model-Independent” Picture</vt:lpstr>
      <vt:lpstr>Slide 10</vt:lpstr>
      <vt:lpstr>Outline</vt:lpstr>
      <vt:lpstr>Overview Of Processes</vt:lpstr>
      <vt:lpstr>Detector and Solenoid</vt:lpstr>
      <vt:lpstr>Production Solenoid:</vt:lpstr>
      <vt:lpstr>Transport Solenoid</vt:lpstr>
      <vt:lpstr>Detector Solenoid</vt:lpstr>
      <vt:lpstr>Two Classes of  Backgrounds</vt:lpstr>
      <vt:lpstr> Pulsed Beam Structure</vt:lpstr>
      <vt:lpstr>Prompt Backgrounds</vt:lpstr>
      <vt:lpstr>Radiative π vs. Time</vt:lpstr>
      <vt:lpstr>Beam Flash</vt:lpstr>
      <vt:lpstr>Other Backgrounds</vt:lpstr>
      <vt:lpstr>Choice of Stopping Material: rate vs wait</vt:lpstr>
      <vt:lpstr>Prompt Background  and Choice of Z</vt:lpstr>
      <vt:lpstr>Extinction Scheme</vt:lpstr>
      <vt:lpstr>Slide 26</vt:lpstr>
      <vt:lpstr>Outline</vt:lpstr>
      <vt:lpstr>Project X Timing</vt:lpstr>
      <vt:lpstr>Mu2e Upgrades</vt:lpstr>
      <vt:lpstr>Upgrade Plans...</vt:lpstr>
      <vt:lpstr>Upgrade Challenges</vt:lpstr>
      <vt:lpstr>Conclusions (physics)</vt:lpstr>
      <vt:lpstr>Conclusions (upgrade)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Charged Lepton Flavor Violation Experiment: Muon-Electron Conversion at FNAL</dc:title>
  <dc:subject/>
  <dc:creator/>
  <cp:keywords/>
  <dc:description/>
  <cp:lastModifiedBy>Robert Bernstein</cp:lastModifiedBy>
  <cp:revision>58</cp:revision>
  <dcterms:created xsi:type="dcterms:W3CDTF">2009-02-02T17:36:54Z</dcterms:created>
  <dcterms:modified xsi:type="dcterms:W3CDTF">2009-02-02T21:53:10Z</dcterms:modified>
</cp:coreProperties>
</file>