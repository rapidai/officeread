
<file path=[Content_Types].xml><?xml version="1.0" encoding="utf-8"?>
<Types xmlns="http://schemas.openxmlformats.org/package/2006/content-types">
  <Default Extension="xml" ContentType="application/xml"/>
  <Default Extension="wmf" ContentType="image/x-wmf"/>
  <Default Extension="jpg" ContentType="image/jpeg"/>
  <Default Extension="jpeg" ContentType="image/jpeg"/>
  <Default Extension="emf" ContentType="image/x-emf"/>
  <Default Extension="rels" ContentType="application/vnd.openxmlformats-package.relationships+xml"/>
  <Default Extension="vml" ContentType="application/vnd.openxmlformats-officedocument.vmlDrawing"/>
  <Default Extension="bin" ContentType="application/vnd.openxmlformats-officedocument.presentationml.printerSettings"/>
  <Default Extension="pn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embeddings/oleObject1.bin" ContentType="application/vnd.openxmlformats-officedocument.oleObject"/>
  <Override PartName="/ppt/embeddings/oleObject2.bin" ContentType="application/vnd.openxmlformats-officedocument.oleObject"/>
  <Override PartName="/ppt/embeddings/oleObject3.bin" ContentType="application/vnd.openxmlformats-officedocument.oleObject"/>
  <Override PartName="/ppt/embeddings/oleObject4.bin" ContentType="application/vnd.openxmlformats-officedocument.oleObject"/>
  <Override PartName="/ppt/embeddings/oleObject5.bin" ContentType="application/vnd.openxmlformats-officedocument.oleObject"/>
  <Override PartName="/ppt/embeddings/oleObject6.bin" ContentType="application/vnd.openxmlformats-officedocument.oleObject"/>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embeddings/oleObject7.bin" ContentType="application/vnd.openxmlformats-officedocument.oleObject"/>
  <Override PartName="/ppt/embeddings/oleObject8.bin" ContentType="application/vnd.openxmlformats-officedocument.oleObject"/>
  <Override PartName="/ppt/embeddings/oleObject9.bin" ContentType="application/vnd.openxmlformats-officedocument.oleObject"/>
  <Override PartName="/ppt/embeddings/oleObject10.bin" ContentType="application/vnd.openxmlformats-officedocument.oleObject"/>
  <Override PartName="/ppt/embeddings/oleObject11.bin" ContentType="application/vnd.openxmlformats-officedocument.oleObject"/>
  <Override PartName="/ppt/embeddings/oleObject12.bin" ContentType="application/vnd.openxmlformats-officedocument.oleObject"/>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3"/>
  </p:notesMasterIdLst>
  <p:handoutMasterIdLst>
    <p:handoutMasterId r:id="rId124"/>
  </p:handoutMasterIdLst>
  <p:sldIdLst>
    <p:sldId id="258" r:id="rId2"/>
    <p:sldId id="266" r:id="rId3"/>
    <p:sldId id="267" r:id="rId4"/>
    <p:sldId id="415" r:id="rId5"/>
    <p:sldId id="441" r:id="rId6"/>
    <p:sldId id="269" r:id="rId7"/>
    <p:sldId id="436" r:id="rId8"/>
    <p:sldId id="437" r:id="rId9"/>
    <p:sldId id="270" r:id="rId10"/>
    <p:sldId id="443" r:id="rId11"/>
    <p:sldId id="444" r:id="rId12"/>
    <p:sldId id="445" r:id="rId13"/>
    <p:sldId id="446" r:id="rId14"/>
    <p:sldId id="447" r:id="rId15"/>
    <p:sldId id="448" r:id="rId16"/>
    <p:sldId id="449" r:id="rId17"/>
    <p:sldId id="450" r:id="rId18"/>
    <p:sldId id="451" r:id="rId19"/>
    <p:sldId id="452" r:id="rId20"/>
    <p:sldId id="454" r:id="rId21"/>
    <p:sldId id="455" r:id="rId22"/>
    <p:sldId id="456" r:id="rId23"/>
    <p:sldId id="457" r:id="rId24"/>
    <p:sldId id="458" r:id="rId25"/>
    <p:sldId id="460" r:id="rId26"/>
    <p:sldId id="462" r:id="rId27"/>
    <p:sldId id="463" r:id="rId28"/>
    <p:sldId id="467" r:id="rId29"/>
    <p:sldId id="466" r:id="rId30"/>
    <p:sldId id="465" r:id="rId31"/>
    <p:sldId id="468" r:id="rId32"/>
    <p:sldId id="406" r:id="rId33"/>
    <p:sldId id="271" r:id="rId34"/>
    <p:sldId id="286" r:id="rId35"/>
    <p:sldId id="272" r:id="rId36"/>
    <p:sldId id="273" r:id="rId37"/>
    <p:sldId id="469" r:id="rId38"/>
    <p:sldId id="421" r:id="rId39"/>
    <p:sldId id="332" r:id="rId40"/>
    <p:sldId id="470" r:id="rId41"/>
    <p:sldId id="471" r:id="rId42"/>
    <p:sldId id="472" r:id="rId43"/>
    <p:sldId id="473" r:id="rId44"/>
    <p:sldId id="474" r:id="rId45"/>
    <p:sldId id="475" r:id="rId46"/>
    <p:sldId id="476" r:id="rId47"/>
    <p:sldId id="479" r:id="rId48"/>
    <p:sldId id="481" r:id="rId49"/>
    <p:sldId id="482" r:id="rId50"/>
    <p:sldId id="483" r:id="rId51"/>
    <p:sldId id="484" r:id="rId52"/>
    <p:sldId id="485" r:id="rId53"/>
    <p:sldId id="486" r:id="rId54"/>
    <p:sldId id="487" r:id="rId55"/>
    <p:sldId id="488" r:id="rId56"/>
    <p:sldId id="489" r:id="rId57"/>
    <p:sldId id="490" r:id="rId58"/>
    <p:sldId id="491" r:id="rId59"/>
    <p:sldId id="492" r:id="rId60"/>
    <p:sldId id="496" r:id="rId61"/>
    <p:sldId id="497" r:id="rId62"/>
    <p:sldId id="498" r:id="rId63"/>
    <p:sldId id="275" r:id="rId64"/>
    <p:sldId id="291" r:id="rId65"/>
    <p:sldId id="322" r:id="rId66"/>
    <p:sldId id="328" r:id="rId67"/>
    <p:sldId id="326" r:id="rId68"/>
    <p:sldId id="323" r:id="rId69"/>
    <p:sldId id="324" r:id="rId70"/>
    <p:sldId id="316" r:id="rId71"/>
    <p:sldId id="317" r:id="rId72"/>
    <p:sldId id="320" r:id="rId73"/>
    <p:sldId id="321" r:id="rId74"/>
    <p:sldId id="325" r:id="rId75"/>
    <p:sldId id="398" r:id="rId76"/>
    <p:sldId id="327" r:id="rId77"/>
    <p:sldId id="336" r:id="rId78"/>
    <p:sldId id="305" r:id="rId79"/>
    <p:sldId id="303" r:id="rId80"/>
    <p:sldId id="304" r:id="rId81"/>
    <p:sldId id="405" r:id="rId82"/>
    <p:sldId id="440" r:id="rId83"/>
    <p:sldId id="309" r:id="rId84"/>
    <p:sldId id="277" r:id="rId85"/>
    <p:sldId id="478" r:id="rId86"/>
    <p:sldId id="403" r:id="rId87"/>
    <p:sldId id="419" r:id="rId88"/>
    <p:sldId id="367" r:id="rId89"/>
    <p:sldId id="268" r:id="rId90"/>
    <p:sldId id="417" r:id="rId91"/>
    <p:sldId id="337" r:id="rId92"/>
    <p:sldId id="416" r:id="rId93"/>
    <p:sldId id="422" r:id="rId94"/>
    <p:sldId id="408" r:id="rId95"/>
    <p:sldId id="410" r:id="rId96"/>
    <p:sldId id="409" r:id="rId97"/>
    <p:sldId id="411" r:id="rId98"/>
    <p:sldId id="412" r:id="rId99"/>
    <p:sldId id="414" r:id="rId100"/>
    <p:sldId id="404" r:id="rId101"/>
    <p:sldId id="397" r:id="rId102"/>
    <p:sldId id="430" r:id="rId103"/>
    <p:sldId id="431" r:id="rId104"/>
    <p:sldId id="432" r:id="rId105"/>
    <p:sldId id="433" r:id="rId106"/>
    <p:sldId id="434" r:id="rId107"/>
    <p:sldId id="435" r:id="rId108"/>
    <p:sldId id="281" r:id="rId109"/>
    <p:sldId id="429" r:id="rId110"/>
    <p:sldId id="442" r:id="rId111"/>
    <p:sldId id="413" r:id="rId112"/>
    <p:sldId id="425" r:id="rId113"/>
    <p:sldId id="427" r:id="rId114"/>
    <p:sldId id="423" r:id="rId115"/>
    <p:sldId id="428" r:id="rId116"/>
    <p:sldId id="424" r:id="rId117"/>
    <p:sldId id="493" r:id="rId118"/>
    <p:sldId id="494" r:id="rId119"/>
    <p:sldId id="495" r:id="rId120"/>
    <p:sldId id="480" r:id="rId121"/>
    <p:sldId id="477" r:id="rId122"/>
  </p:sldIdLst>
  <p:sldSz cx="9144000" cy="6858000" type="screen4x3"/>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prnPr prnWhat="handouts9" hiddenSlides="1" frameSlides="1"/>
  <p:clrMru>
    <a:srgbClr val="0824F2"/>
    <a:srgbClr val="061BB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420" autoAdjust="0"/>
    <p:restoredTop sz="81818" autoAdjust="0"/>
  </p:normalViewPr>
  <p:slideViewPr>
    <p:cSldViewPr>
      <p:cViewPr varScale="1">
        <p:scale>
          <a:sx n="75" d="100"/>
          <a:sy n="75" d="100"/>
        </p:scale>
        <p:origin x="-1008" y="-96"/>
      </p:cViewPr>
      <p:guideLst>
        <p:guide orient="horz" pos="2160"/>
        <p:guide pos="2880"/>
      </p:guideLst>
    </p:cSldViewPr>
  </p:slideViewPr>
  <p:outlineViewPr>
    <p:cViewPr>
      <p:scale>
        <a:sx n="33" d="100"/>
        <a:sy n="33" d="100"/>
      </p:scale>
      <p:origin x="0" y="25048"/>
    </p:cViewPr>
  </p:outlineViewPr>
  <p:notesTextViewPr>
    <p:cViewPr>
      <p:scale>
        <a:sx n="100" d="100"/>
        <a:sy n="100" d="100"/>
      </p:scale>
      <p:origin x="0" y="0"/>
    </p:cViewPr>
  </p:notesTextViewPr>
  <p:sorterViewPr>
    <p:cViewPr>
      <p:scale>
        <a:sx n="100" d="100"/>
        <a:sy n="100" d="100"/>
      </p:scale>
      <p:origin x="0" y="5648"/>
    </p:cViewPr>
  </p:sorterViewPr>
  <p:gridSpacing cx="76200" cy="76200"/>
</p:viewPr>
</file>

<file path=ppt/_rels/presentation.xml.rels><?xml version="1.0" encoding="UTF-8" standalone="yes"?>
<Relationships xmlns="http://schemas.openxmlformats.org/package/2006/relationships"><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notesMaster" Target="notesMasters/notesMaster1.xml"/><Relationship Id="rId124" Type="http://schemas.openxmlformats.org/officeDocument/2006/relationships/handoutMaster" Target="handoutMasters/handoutMaster1.xml"/><Relationship Id="rId125" Type="http://schemas.openxmlformats.org/officeDocument/2006/relationships/printerSettings" Target="printerSettings/printerSettings1.bin"/><Relationship Id="rId126" Type="http://schemas.openxmlformats.org/officeDocument/2006/relationships/presProps" Target="presProps.xml"/><Relationship Id="rId127" Type="http://schemas.openxmlformats.org/officeDocument/2006/relationships/viewProps" Target="viewProps.xml"/><Relationship Id="rId128" Type="http://schemas.openxmlformats.org/officeDocument/2006/relationships/theme" Target="theme/theme1.xml"/><Relationship Id="rId129" Type="http://schemas.openxmlformats.org/officeDocument/2006/relationships/tableStyles" Target="tableStyles.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100" Type="http://schemas.openxmlformats.org/officeDocument/2006/relationships/slide" Target="slides/slide99.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12.wmf"/><Relationship Id="rId4" Type="http://schemas.openxmlformats.org/officeDocument/2006/relationships/image" Target="../media/image13.wmf"/><Relationship Id="rId5" Type="http://schemas.openxmlformats.org/officeDocument/2006/relationships/image" Target="../media/image14.wmf"/><Relationship Id="rId6" Type="http://schemas.openxmlformats.org/officeDocument/2006/relationships/image" Target="../media/image15.wmf"/><Relationship Id="rId1" Type="http://schemas.openxmlformats.org/officeDocument/2006/relationships/image" Target="../media/image10.wmf"/><Relationship Id="rId2" Type="http://schemas.openxmlformats.org/officeDocument/2006/relationships/image" Target="../media/image11.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12.wmf"/><Relationship Id="rId4" Type="http://schemas.openxmlformats.org/officeDocument/2006/relationships/image" Target="../media/image13.wmf"/><Relationship Id="rId5" Type="http://schemas.openxmlformats.org/officeDocument/2006/relationships/image" Target="../media/image14.wmf"/><Relationship Id="rId6" Type="http://schemas.openxmlformats.org/officeDocument/2006/relationships/image" Target="../media/image15.wmf"/><Relationship Id="rId1" Type="http://schemas.openxmlformats.org/officeDocument/2006/relationships/image" Target="../media/image10.wmf"/><Relationship Id="rId2" Type="http://schemas.openxmlformats.org/officeDocument/2006/relationships/image" Target="../media/image11.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5179484" y="0"/>
            <a:ext cx="3962400" cy="342900"/>
          </a:xfrm>
          <a:prstGeom prst="rect">
            <a:avLst/>
          </a:prstGeom>
        </p:spPr>
        <p:txBody>
          <a:bodyPr vert="horz" lIns="91440" tIns="45720" rIns="91440" bIns="45720" rtlCol="0"/>
          <a:lstStyle>
            <a:lvl1pPr algn="r">
              <a:defRPr sz="1200"/>
            </a:lvl1pPr>
          </a:lstStyle>
          <a:p>
            <a:fld id="{69EE49B3-93D5-0147-B19D-BB6E8CC8C533}" type="datetimeFigureOut">
              <a:rPr lang="en-US" smtClean="0"/>
              <a:t>11/12/11</a:t>
            </a:fld>
            <a:endParaRPr lang="en-US"/>
          </a:p>
        </p:txBody>
      </p:sp>
      <p:sp>
        <p:nvSpPr>
          <p:cNvPr id="4" name="Footer Placeholder 3"/>
          <p:cNvSpPr>
            <a:spLocks noGrp="1"/>
          </p:cNvSpPr>
          <p:nvPr>
            <p:ph type="ftr" sz="quarter" idx="2"/>
          </p:nvPr>
        </p:nvSpPr>
        <p:spPr>
          <a:xfrm>
            <a:off x="0" y="6513910"/>
            <a:ext cx="3962400" cy="3429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5179484" y="6513910"/>
            <a:ext cx="3962400" cy="342900"/>
          </a:xfrm>
          <a:prstGeom prst="rect">
            <a:avLst/>
          </a:prstGeom>
        </p:spPr>
        <p:txBody>
          <a:bodyPr vert="horz" lIns="91440" tIns="45720" rIns="91440" bIns="45720" rtlCol="0" anchor="b"/>
          <a:lstStyle>
            <a:lvl1pPr algn="r">
              <a:defRPr sz="1200"/>
            </a:lvl1pPr>
          </a:lstStyle>
          <a:p>
            <a:fld id="{BECAA59E-2B1F-9447-935C-5667B439B30D}" type="slidenum">
              <a:rPr lang="en-US" smtClean="0"/>
              <a:t>‹#›</a:t>
            </a:fld>
            <a:endParaRPr lang="en-US"/>
          </a:p>
        </p:txBody>
      </p:sp>
    </p:spTree>
    <p:extLst>
      <p:ext uri="{BB962C8B-B14F-4D97-AF65-F5344CB8AC3E}">
        <p14:creationId xmlns:p14="http://schemas.microsoft.com/office/powerpoint/2010/main" val="21922964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79484" y="0"/>
            <a:ext cx="3962400" cy="342900"/>
          </a:xfrm>
          <a:prstGeom prst="rect">
            <a:avLst/>
          </a:prstGeom>
        </p:spPr>
        <p:txBody>
          <a:bodyPr vert="horz" lIns="91440" tIns="45720" rIns="91440" bIns="45720" rtlCol="0"/>
          <a:lstStyle>
            <a:lvl1pPr algn="r">
              <a:defRPr sz="1200"/>
            </a:lvl1pPr>
          </a:lstStyle>
          <a:p>
            <a:fld id="{56A650EA-0944-4F0A-B372-5D493974E0F3}" type="datetimeFigureOut">
              <a:rPr lang="en-US" smtClean="0"/>
              <a:pPr/>
              <a:t>11/12/11</a:t>
            </a:fld>
            <a:endParaRPr lang="en-US"/>
          </a:p>
        </p:txBody>
      </p:sp>
      <p:sp>
        <p:nvSpPr>
          <p:cNvPr id="4" name="Slide Image Placeholder 3"/>
          <p:cNvSpPr>
            <a:spLocks noGrp="1" noRot="1" noChangeAspect="1"/>
          </p:cNvSpPr>
          <p:nvPr>
            <p:ph type="sldImg" idx="2"/>
          </p:nvPr>
        </p:nvSpPr>
        <p:spPr>
          <a:xfrm>
            <a:off x="2857500" y="514350"/>
            <a:ext cx="3429000" cy="25717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257550"/>
            <a:ext cx="7315200" cy="30861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6513910"/>
            <a:ext cx="3962400" cy="3429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79484" y="6513910"/>
            <a:ext cx="3962400" cy="342900"/>
          </a:xfrm>
          <a:prstGeom prst="rect">
            <a:avLst/>
          </a:prstGeom>
        </p:spPr>
        <p:txBody>
          <a:bodyPr vert="horz" lIns="91440" tIns="45720" rIns="91440" bIns="45720" rtlCol="0" anchor="b"/>
          <a:lstStyle>
            <a:lvl1pPr algn="r">
              <a:defRPr sz="1200"/>
            </a:lvl1pPr>
          </a:lstStyle>
          <a:p>
            <a:fld id="{69BDC26A-4628-467A-BDD3-FE7E900548B0}" type="slidenum">
              <a:rPr lang="en-US" smtClean="0"/>
              <a:pPr/>
              <a:t>‹#›</a:t>
            </a:fld>
            <a:endParaRPr lang="en-US"/>
          </a:p>
        </p:txBody>
      </p:sp>
    </p:spTree>
    <p:extLst>
      <p:ext uri="{BB962C8B-B14F-4D97-AF65-F5344CB8AC3E}">
        <p14:creationId xmlns:p14="http://schemas.microsoft.com/office/powerpoint/2010/main" val="17428964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2008</a:t>
            </a:r>
            <a:r>
              <a:rPr lang="en-US" baseline="0" dirty="0" smtClean="0"/>
              <a:t> DARPA </a:t>
            </a:r>
            <a:r>
              <a:rPr lang="en-US" baseline="0" dirty="0" err="1" smtClean="0"/>
              <a:t>Exascale</a:t>
            </a:r>
            <a:r>
              <a:rPr lang="en-US" baseline="0" dirty="0" smtClean="0"/>
              <a:t> report has similar prediction:</a:t>
            </a:r>
          </a:p>
          <a:p>
            <a:r>
              <a:rPr lang="en-US" baseline="0" dirty="0" smtClean="0"/>
              <a:t>Gap between DRAM access time and flops will increase </a:t>
            </a:r>
          </a:p>
          <a:p>
            <a:r>
              <a:rPr lang="en-US" baseline="0" dirty="0" smtClean="0"/>
              <a:t>100x over coming decade to balance power usage between </a:t>
            </a:r>
          </a:p>
          <a:p>
            <a:r>
              <a:rPr lang="en-US" baseline="0" dirty="0" smtClean="0"/>
              <a:t>processors, DRAM</a:t>
            </a:r>
            <a:endParaRPr lang="en-US" dirty="0"/>
          </a:p>
        </p:txBody>
      </p:sp>
      <p:sp>
        <p:nvSpPr>
          <p:cNvPr id="4" name="Slide Number Placeholder 3"/>
          <p:cNvSpPr>
            <a:spLocks noGrp="1"/>
          </p:cNvSpPr>
          <p:nvPr>
            <p:ph type="sldNum" sz="quarter" idx="10"/>
          </p:nvPr>
        </p:nvSpPr>
        <p:spPr/>
        <p:txBody>
          <a:bodyPr/>
          <a:lstStyle/>
          <a:p>
            <a:fld id="{69BDC26A-4628-467A-BDD3-FE7E900548B0}" type="slidenum">
              <a:rPr lang="en-US" smtClean="0"/>
              <a:pPr/>
              <a:t>3</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9BDC26A-4628-467A-BDD3-FE7E900548B0}" type="slidenum">
              <a:rPr lang="en-US" smtClean="0"/>
              <a:pPr/>
              <a:t>5</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4"/>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501">
              <a:defRPr sz="1900" b="1">
                <a:solidFill>
                  <a:schemeClr val="accent1"/>
                </a:solidFill>
                <a:latin typeface="Arial" pitchFamily="34" charset="0"/>
                <a:ea typeface="MS PGothic" pitchFamily="34" charset="-128"/>
              </a:defRPr>
            </a:lvl1pPr>
            <a:lvl2pPr marL="702756" indent="-270291" defTabSz="929501">
              <a:defRPr sz="1900" b="1">
                <a:solidFill>
                  <a:schemeClr val="accent1"/>
                </a:solidFill>
                <a:latin typeface="Arial" pitchFamily="34" charset="0"/>
                <a:ea typeface="MS PGothic" pitchFamily="34" charset="-128"/>
              </a:defRPr>
            </a:lvl2pPr>
            <a:lvl3pPr marL="1081164" indent="-216233" defTabSz="929501">
              <a:defRPr sz="1900" b="1">
                <a:solidFill>
                  <a:schemeClr val="accent1"/>
                </a:solidFill>
                <a:latin typeface="Arial" pitchFamily="34" charset="0"/>
                <a:ea typeface="MS PGothic" pitchFamily="34" charset="-128"/>
              </a:defRPr>
            </a:lvl3pPr>
            <a:lvl4pPr marL="1513629" indent="-216233" defTabSz="929501">
              <a:defRPr sz="1900" b="1">
                <a:solidFill>
                  <a:schemeClr val="accent1"/>
                </a:solidFill>
                <a:latin typeface="Arial" pitchFamily="34" charset="0"/>
                <a:ea typeface="MS PGothic" pitchFamily="34" charset="-128"/>
              </a:defRPr>
            </a:lvl4pPr>
            <a:lvl5pPr marL="1946095" indent="-216233" defTabSz="929501">
              <a:defRPr sz="1900" b="1">
                <a:solidFill>
                  <a:schemeClr val="accent1"/>
                </a:solidFill>
                <a:latin typeface="Arial" pitchFamily="34" charset="0"/>
                <a:ea typeface="MS PGothic" pitchFamily="34" charset="-128"/>
              </a:defRPr>
            </a:lvl5pPr>
            <a:lvl6pPr marL="2378560" indent="-216233" algn="l" defTabSz="929501" rtl="0" eaLnBrk="0" fontAlgn="base" hangingPunct="0">
              <a:spcBef>
                <a:spcPct val="0"/>
              </a:spcBef>
              <a:spcAft>
                <a:spcPct val="0"/>
              </a:spcAft>
              <a:defRPr sz="1900" b="1">
                <a:solidFill>
                  <a:schemeClr val="accent1"/>
                </a:solidFill>
                <a:latin typeface="Arial" pitchFamily="34" charset="0"/>
                <a:ea typeface="MS PGothic" pitchFamily="34" charset="-128"/>
              </a:defRPr>
            </a:lvl6pPr>
            <a:lvl7pPr marL="2811026" indent="-216233" algn="l" defTabSz="929501" rtl="0" eaLnBrk="0" fontAlgn="base" hangingPunct="0">
              <a:spcBef>
                <a:spcPct val="0"/>
              </a:spcBef>
              <a:spcAft>
                <a:spcPct val="0"/>
              </a:spcAft>
              <a:defRPr sz="1900" b="1">
                <a:solidFill>
                  <a:schemeClr val="accent1"/>
                </a:solidFill>
                <a:latin typeface="Arial" pitchFamily="34" charset="0"/>
                <a:ea typeface="MS PGothic" pitchFamily="34" charset="-128"/>
              </a:defRPr>
            </a:lvl7pPr>
            <a:lvl8pPr marL="3243491" indent="-216233" algn="l" defTabSz="929501" rtl="0" eaLnBrk="0" fontAlgn="base" hangingPunct="0">
              <a:spcBef>
                <a:spcPct val="0"/>
              </a:spcBef>
              <a:spcAft>
                <a:spcPct val="0"/>
              </a:spcAft>
              <a:defRPr sz="1900" b="1">
                <a:solidFill>
                  <a:schemeClr val="accent1"/>
                </a:solidFill>
                <a:latin typeface="Arial" pitchFamily="34" charset="0"/>
                <a:ea typeface="MS PGothic" pitchFamily="34" charset="-128"/>
              </a:defRPr>
            </a:lvl8pPr>
            <a:lvl9pPr marL="3675957" indent="-216233" algn="l" defTabSz="929501" rtl="0" eaLnBrk="0" fontAlgn="base" hangingPunct="0">
              <a:spcBef>
                <a:spcPct val="0"/>
              </a:spcBef>
              <a:spcAft>
                <a:spcPct val="0"/>
              </a:spcAft>
              <a:defRPr sz="1900" b="1">
                <a:solidFill>
                  <a:schemeClr val="accent1"/>
                </a:solidFill>
                <a:latin typeface="Arial" pitchFamily="34" charset="0"/>
                <a:ea typeface="MS PGothic" pitchFamily="34" charset="-128"/>
              </a:defRPr>
            </a:lvl9pPr>
          </a:lstStyle>
          <a:p>
            <a:r>
              <a:rPr lang="en-US" sz="900" b="0">
                <a:solidFill>
                  <a:schemeClr val="tx1"/>
                </a:solidFill>
                <a:latin typeface="Times New Roman" pitchFamily="18" charset="0"/>
              </a:rPr>
              <a:t>CS267 Lecture 2</a:t>
            </a:r>
          </a:p>
        </p:txBody>
      </p:sp>
      <p:sp>
        <p:nvSpPr>
          <p:cNvPr id="87043" name="Rectangle 5"/>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501">
              <a:defRPr sz="1900" b="1">
                <a:solidFill>
                  <a:schemeClr val="accent1"/>
                </a:solidFill>
                <a:latin typeface="Arial" pitchFamily="34" charset="0"/>
                <a:ea typeface="MS PGothic" pitchFamily="34" charset="-128"/>
              </a:defRPr>
            </a:lvl1pPr>
            <a:lvl2pPr marL="702756" indent="-270291" defTabSz="929501">
              <a:defRPr sz="1900" b="1">
                <a:solidFill>
                  <a:schemeClr val="accent1"/>
                </a:solidFill>
                <a:latin typeface="Arial" pitchFamily="34" charset="0"/>
                <a:ea typeface="MS PGothic" pitchFamily="34" charset="-128"/>
              </a:defRPr>
            </a:lvl2pPr>
            <a:lvl3pPr marL="1081164" indent="-216233" defTabSz="929501">
              <a:defRPr sz="1900" b="1">
                <a:solidFill>
                  <a:schemeClr val="accent1"/>
                </a:solidFill>
                <a:latin typeface="Arial" pitchFamily="34" charset="0"/>
                <a:ea typeface="MS PGothic" pitchFamily="34" charset="-128"/>
              </a:defRPr>
            </a:lvl3pPr>
            <a:lvl4pPr marL="1513629" indent="-216233" defTabSz="929501">
              <a:defRPr sz="1900" b="1">
                <a:solidFill>
                  <a:schemeClr val="accent1"/>
                </a:solidFill>
                <a:latin typeface="Arial" pitchFamily="34" charset="0"/>
                <a:ea typeface="MS PGothic" pitchFamily="34" charset="-128"/>
              </a:defRPr>
            </a:lvl4pPr>
            <a:lvl5pPr marL="1946095" indent="-216233" defTabSz="929501">
              <a:defRPr sz="1900" b="1">
                <a:solidFill>
                  <a:schemeClr val="accent1"/>
                </a:solidFill>
                <a:latin typeface="Arial" pitchFamily="34" charset="0"/>
                <a:ea typeface="MS PGothic" pitchFamily="34" charset="-128"/>
              </a:defRPr>
            </a:lvl5pPr>
            <a:lvl6pPr marL="2378560" indent="-216233" algn="l" defTabSz="929501" rtl="0" eaLnBrk="0" fontAlgn="base" hangingPunct="0">
              <a:spcBef>
                <a:spcPct val="0"/>
              </a:spcBef>
              <a:spcAft>
                <a:spcPct val="0"/>
              </a:spcAft>
              <a:defRPr sz="1900" b="1">
                <a:solidFill>
                  <a:schemeClr val="accent1"/>
                </a:solidFill>
                <a:latin typeface="Arial" pitchFamily="34" charset="0"/>
                <a:ea typeface="MS PGothic" pitchFamily="34" charset="-128"/>
              </a:defRPr>
            </a:lvl6pPr>
            <a:lvl7pPr marL="2811026" indent="-216233" algn="l" defTabSz="929501" rtl="0" eaLnBrk="0" fontAlgn="base" hangingPunct="0">
              <a:spcBef>
                <a:spcPct val="0"/>
              </a:spcBef>
              <a:spcAft>
                <a:spcPct val="0"/>
              </a:spcAft>
              <a:defRPr sz="1900" b="1">
                <a:solidFill>
                  <a:schemeClr val="accent1"/>
                </a:solidFill>
                <a:latin typeface="Arial" pitchFamily="34" charset="0"/>
                <a:ea typeface="MS PGothic" pitchFamily="34" charset="-128"/>
              </a:defRPr>
            </a:lvl7pPr>
            <a:lvl8pPr marL="3243491" indent="-216233" algn="l" defTabSz="929501" rtl="0" eaLnBrk="0" fontAlgn="base" hangingPunct="0">
              <a:spcBef>
                <a:spcPct val="0"/>
              </a:spcBef>
              <a:spcAft>
                <a:spcPct val="0"/>
              </a:spcAft>
              <a:defRPr sz="1900" b="1">
                <a:solidFill>
                  <a:schemeClr val="accent1"/>
                </a:solidFill>
                <a:latin typeface="Arial" pitchFamily="34" charset="0"/>
                <a:ea typeface="MS PGothic" pitchFamily="34" charset="-128"/>
              </a:defRPr>
            </a:lvl8pPr>
            <a:lvl9pPr marL="3675957" indent="-216233" algn="l" defTabSz="929501" rtl="0" eaLnBrk="0" fontAlgn="base" hangingPunct="0">
              <a:spcBef>
                <a:spcPct val="0"/>
              </a:spcBef>
              <a:spcAft>
                <a:spcPct val="0"/>
              </a:spcAft>
              <a:defRPr sz="1900" b="1">
                <a:solidFill>
                  <a:schemeClr val="accent1"/>
                </a:solidFill>
                <a:latin typeface="Arial" pitchFamily="34" charset="0"/>
                <a:ea typeface="MS PGothic" pitchFamily="34" charset="-128"/>
              </a:defRPr>
            </a:lvl9pPr>
          </a:lstStyle>
          <a:p>
            <a:fld id="{1B2346B9-B965-47FB-A558-9B964E0C2A69}" type="slidenum">
              <a:rPr lang="en-US" sz="900" b="0">
                <a:solidFill>
                  <a:schemeClr val="tx1"/>
                </a:solidFill>
                <a:latin typeface="Times New Roman" pitchFamily="18" charset="0"/>
              </a:rPr>
              <a:pPr/>
              <a:t>10</a:t>
            </a:fld>
            <a:endParaRPr lang="en-US" sz="900" b="0">
              <a:solidFill>
                <a:schemeClr val="tx1"/>
              </a:solidFill>
              <a:latin typeface="Times New Roman" pitchFamily="18" charset="0"/>
            </a:endParaRPr>
          </a:p>
        </p:txBody>
      </p:sp>
      <p:sp>
        <p:nvSpPr>
          <p:cNvPr id="87044" name="Rectangle 2"/>
          <p:cNvSpPr>
            <a:spLocks noGrp="1" noRot="1" noChangeAspect="1" noChangeArrowheads="1" noTextEdit="1"/>
          </p:cNvSpPr>
          <p:nvPr>
            <p:ph type="sldImg"/>
          </p:nvPr>
        </p:nvSpPr>
        <p:spPr/>
      </p:sp>
      <p:sp>
        <p:nvSpPr>
          <p:cNvPr id="8704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it-IT"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4"/>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501">
              <a:defRPr sz="1900" b="1">
                <a:solidFill>
                  <a:schemeClr val="accent1"/>
                </a:solidFill>
                <a:latin typeface="Arial" pitchFamily="34" charset="0"/>
                <a:ea typeface="MS PGothic" pitchFamily="34" charset="-128"/>
              </a:defRPr>
            </a:lvl1pPr>
            <a:lvl2pPr marL="702756" indent="-270291" defTabSz="929501">
              <a:defRPr sz="1900" b="1">
                <a:solidFill>
                  <a:schemeClr val="accent1"/>
                </a:solidFill>
                <a:latin typeface="Arial" pitchFamily="34" charset="0"/>
                <a:ea typeface="MS PGothic" pitchFamily="34" charset="-128"/>
              </a:defRPr>
            </a:lvl2pPr>
            <a:lvl3pPr marL="1081164" indent="-216233" defTabSz="929501">
              <a:defRPr sz="1900" b="1">
                <a:solidFill>
                  <a:schemeClr val="accent1"/>
                </a:solidFill>
                <a:latin typeface="Arial" pitchFamily="34" charset="0"/>
                <a:ea typeface="MS PGothic" pitchFamily="34" charset="-128"/>
              </a:defRPr>
            </a:lvl3pPr>
            <a:lvl4pPr marL="1513629" indent="-216233" defTabSz="929501">
              <a:defRPr sz="1900" b="1">
                <a:solidFill>
                  <a:schemeClr val="accent1"/>
                </a:solidFill>
                <a:latin typeface="Arial" pitchFamily="34" charset="0"/>
                <a:ea typeface="MS PGothic" pitchFamily="34" charset="-128"/>
              </a:defRPr>
            </a:lvl4pPr>
            <a:lvl5pPr marL="1946095" indent="-216233" defTabSz="929501">
              <a:defRPr sz="1900" b="1">
                <a:solidFill>
                  <a:schemeClr val="accent1"/>
                </a:solidFill>
                <a:latin typeface="Arial" pitchFamily="34" charset="0"/>
                <a:ea typeface="MS PGothic" pitchFamily="34" charset="-128"/>
              </a:defRPr>
            </a:lvl5pPr>
            <a:lvl6pPr marL="2378560" indent="-216233" algn="l" defTabSz="929501" rtl="0" eaLnBrk="0" fontAlgn="base" hangingPunct="0">
              <a:spcBef>
                <a:spcPct val="0"/>
              </a:spcBef>
              <a:spcAft>
                <a:spcPct val="0"/>
              </a:spcAft>
              <a:defRPr sz="1900" b="1">
                <a:solidFill>
                  <a:schemeClr val="accent1"/>
                </a:solidFill>
                <a:latin typeface="Arial" pitchFamily="34" charset="0"/>
                <a:ea typeface="MS PGothic" pitchFamily="34" charset="-128"/>
              </a:defRPr>
            </a:lvl6pPr>
            <a:lvl7pPr marL="2811026" indent="-216233" algn="l" defTabSz="929501" rtl="0" eaLnBrk="0" fontAlgn="base" hangingPunct="0">
              <a:spcBef>
                <a:spcPct val="0"/>
              </a:spcBef>
              <a:spcAft>
                <a:spcPct val="0"/>
              </a:spcAft>
              <a:defRPr sz="1900" b="1">
                <a:solidFill>
                  <a:schemeClr val="accent1"/>
                </a:solidFill>
                <a:latin typeface="Arial" pitchFamily="34" charset="0"/>
                <a:ea typeface="MS PGothic" pitchFamily="34" charset="-128"/>
              </a:defRPr>
            </a:lvl7pPr>
            <a:lvl8pPr marL="3243491" indent="-216233" algn="l" defTabSz="929501" rtl="0" eaLnBrk="0" fontAlgn="base" hangingPunct="0">
              <a:spcBef>
                <a:spcPct val="0"/>
              </a:spcBef>
              <a:spcAft>
                <a:spcPct val="0"/>
              </a:spcAft>
              <a:defRPr sz="1900" b="1">
                <a:solidFill>
                  <a:schemeClr val="accent1"/>
                </a:solidFill>
                <a:latin typeface="Arial" pitchFamily="34" charset="0"/>
                <a:ea typeface="MS PGothic" pitchFamily="34" charset="-128"/>
              </a:defRPr>
            </a:lvl8pPr>
            <a:lvl9pPr marL="3675957" indent="-216233" algn="l" defTabSz="929501" rtl="0" eaLnBrk="0" fontAlgn="base" hangingPunct="0">
              <a:spcBef>
                <a:spcPct val="0"/>
              </a:spcBef>
              <a:spcAft>
                <a:spcPct val="0"/>
              </a:spcAft>
              <a:defRPr sz="1900" b="1">
                <a:solidFill>
                  <a:schemeClr val="accent1"/>
                </a:solidFill>
                <a:latin typeface="Arial" pitchFamily="34" charset="0"/>
                <a:ea typeface="MS PGothic" pitchFamily="34" charset="-128"/>
              </a:defRPr>
            </a:lvl9pPr>
          </a:lstStyle>
          <a:p>
            <a:r>
              <a:rPr lang="en-US" sz="900" b="0">
                <a:solidFill>
                  <a:schemeClr val="tx1"/>
                </a:solidFill>
                <a:latin typeface="Times New Roman" pitchFamily="18" charset="0"/>
              </a:rPr>
              <a:t>CS267 Lecture 2</a:t>
            </a:r>
          </a:p>
        </p:txBody>
      </p:sp>
      <p:sp>
        <p:nvSpPr>
          <p:cNvPr id="87043" name="Rectangle 5"/>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501">
              <a:defRPr sz="1900" b="1">
                <a:solidFill>
                  <a:schemeClr val="accent1"/>
                </a:solidFill>
                <a:latin typeface="Arial" pitchFamily="34" charset="0"/>
                <a:ea typeface="MS PGothic" pitchFamily="34" charset="-128"/>
              </a:defRPr>
            </a:lvl1pPr>
            <a:lvl2pPr marL="702756" indent="-270291" defTabSz="929501">
              <a:defRPr sz="1900" b="1">
                <a:solidFill>
                  <a:schemeClr val="accent1"/>
                </a:solidFill>
                <a:latin typeface="Arial" pitchFamily="34" charset="0"/>
                <a:ea typeface="MS PGothic" pitchFamily="34" charset="-128"/>
              </a:defRPr>
            </a:lvl2pPr>
            <a:lvl3pPr marL="1081164" indent="-216233" defTabSz="929501">
              <a:defRPr sz="1900" b="1">
                <a:solidFill>
                  <a:schemeClr val="accent1"/>
                </a:solidFill>
                <a:latin typeface="Arial" pitchFamily="34" charset="0"/>
                <a:ea typeface="MS PGothic" pitchFamily="34" charset="-128"/>
              </a:defRPr>
            </a:lvl3pPr>
            <a:lvl4pPr marL="1513629" indent="-216233" defTabSz="929501">
              <a:defRPr sz="1900" b="1">
                <a:solidFill>
                  <a:schemeClr val="accent1"/>
                </a:solidFill>
                <a:latin typeface="Arial" pitchFamily="34" charset="0"/>
                <a:ea typeface="MS PGothic" pitchFamily="34" charset="-128"/>
              </a:defRPr>
            </a:lvl4pPr>
            <a:lvl5pPr marL="1946095" indent="-216233" defTabSz="929501">
              <a:defRPr sz="1900" b="1">
                <a:solidFill>
                  <a:schemeClr val="accent1"/>
                </a:solidFill>
                <a:latin typeface="Arial" pitchFamily="34" charset="0"/>
                <a:ea typeface="MS PGothic" pitchFamily="34" charset="-128"/>
              </a:defRPr>
            </a:lvl5pPr>
            <a:lvl6pPr marL="2378560" indent="-216233" algn="l" defTabSz="929501" rtl="0" eaLnBrk="0" fontAlgn="base" hangingPunct="0">
              <a:spcBef>
                <a:spcPct val="0"/>
              </a:spcBef>
              <a:spcAft>
                <a:spcPct val="0"/>
              </a:spcAft>
              <a:defRPr sz="1900" b="1">
                <a:solidFill>
                  <a:schemeClr val="accent1"/>
                </a:solidFill>
                <a:latin typeface="Arial" pitchFamily="34" charset="0"/>
                <a:ea typeface="MS PGothic" pitchFamily="34" charset="-128"/>
              </a:defRPr>
            </a:lvl6pPr>
            <a:lvl7pPr marL="2811026" indent="-216233" algn="l" defTabSz="929501" rtl="0" eaLnBrk="0" fontAlgn="base" hangingPunct="0">
              <a:spcBef>
                <a:spcPct val="0"/>
              </a:spcBef>
              <a:spcAft>
                <a:spcPct val="0"/>
              </a:spcAft>
              <a:defRPr sz="1900" b="1">
                <a:solidFill>
                  <a:schemeClr val="accent1"/>
                </a:solidFill>
                <a:latin typeface="Arial" pitchFamily="34" charset="0"/>
                <a:ea typeface="MS PGothic" pitchFamily="34" charset="-128"/>
              </a:defRPr>
            </a:lvl7pPr>
            <a:lvl8pPr marL="3243491" indent="-216233" algn="l" defTabSz="929501" rtl="0" eaLnBrk="0" fontAlgn="base" hangingPunct="0">
              <a:spcBef>
                <a:spcPct val="0"/>
              </a:spcBef>
              <a:spcAft>
                <a:spcPct val="0"/>
              </a:spcAft>
              <a:defRPr sz="1900" b="1">
                <a:solidFill>
                  <a:schemeClr val="accent1"/>
                </a:solidFill>
                <a:latin typeface="Arial" pitchFamily="34" charset="0"/>
                <a:ea typeface="MS PGothic" pitchFamily="34" charset="-128"/>
              </a:defRPr>
            </a:lvl8pPr>
            <a:lvl9pPr marL="3675957" indent="-216233" algn="l" defTabSz="929501" rtl="0" eaLnBrk="0" fontAlgn="base" hangingPunct="0">
              <a:spcBef>
                <a:spcPct val="0"/>
              </a:spcBef>
              <a:spcAft>
                <a:spcPct val="0"/>
              </a:spcAft>
              <a:defRPr sz="1900" b="1">
                <a:solidFill>
                  <a:schemeClr val="accent1"/>
                </a:solidFill>
                <a:latin typeface="Arial" pitchFamily="34" charset="0"/>
                <a:ea typeface="MS PGothic" pitchFamily="34" charset="-128"/>
              </a:defRPr>
            </a:lvl9pPr>
          </a:lstStyle>
          <a:p>
            <a:fld id="{1B2346B9-B965-47FB-A558-9B964E0C2A69}" type="slidenum">
              <a:rPr lang="en-US" sz="900" b="0">
                <a:solidFill>
                  <a:schemeClr val="tx1"/>
                </a:solidFill>
                <a:latin typeface="Times New Roman" pitchFamily="18" charset="0"/>
              </a:rPr>
              <a:pPr/>
              <a:t>11</a:t>
            </a:fld>
            <a:endParaRPr lang="en-US" sz="900" b="0">
              <a:solidFill>
                <a:schemeClr val="tx1"/>
              </a:solidFill>
              <a:latin typeface="Times New Roman" pitchFamily="18" charset="0"/>
            </a:endParaRPr>
          </a:p>
        </p:txBody>
      </p:sp>
      <p:sp>
        <p:nvSpPr>
          <p:cNvPr id="87044" name="Rectangle 2"/>
          <p:cNvSpPr>
            <a:spLocks noGrp="1" noRot="1" noChangeAspect="1" noChangeArrowheads="1" noTextEdit="1"/>
          </p:cNvSpPr>
          <p:nvPr>
            <p:ph type="sldImg"/>
          </p:nvPr>
        </p:nvSpPr>
        <p:spPr/>
      </p:sp>
      <p:sp>
        <p:nvSpPr>
          <p:cNvPr id="8704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it-IT"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4"/>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501">
              <a:defRPr sz="1900" b="1">
                <a:solidFill>
                  <a:schemeClr val="accent1"/>
                </a:solidFill>
                <a:latin typeface="Arial" pitchFamily="34" charset="0"/>
                <a:ea typeface="MS PGothic" pitchFamily="34" charset="-128"/>
              </a:defRPr>
            </a:lvl1pPr>
            <a:lvl2pPr marL="702756" indent="-270291" defTabSz="929501">
              <a:defRPr sz="1900" b="1">
                <a:solidFill>
                  <a:schemeClr val="accent1"/>
                </a:solidFill>
                <a:latin typeface="Arial" pitchFamily="34" charset="0"/>
                <a:ea typeface="MS PGothic" pitchFamily="34" charset="-128"/>
              </a:defRPr>
            </a:lvl2pPr>
            <a:lvl3pPr marL="1081164" indent="-216233" defTabSz="929501">
              <a:defRPr sz="1900" b="1">
                <a:solidFill>
                  <a:schemeClr val="accent1"/>
                </a:solidFill>
                <a:latin typeface="Arial" pitchFamily="34" charset="0"/>
                <a:ea typeface="MS PGothic" pitchFamily="34" charset="-128"/>
              </a:defRPr>
            </a:lvl3pPr>
            <a:lvl4pPr marL="1513629" indent="-216233" defTabSz="929501">
              <a:defRPr sz="1900" b="1">
                <a:solidFill>
                  <a:schemeClr val="accent1"/>
                </a:solidFill>
                <a:latin typeface="Arial" pitchFamily="34" charset="0"/>
                <a:ea typeface="MS PGothic" pitchFamily="34" charset="-128"/>
              </a:defRPr>
            </a:lvl4pPr>
            <a:lvl5pPr marL="1946095" indent="-216233" defTabSz="929501">
              <a:defRPr sz="1900" b="1">
                <a:solidFill>
                  <a:schemeClr val="accent1"/>
                </a:solidFill>
                <a:latin typeface="Arial" pitchFamily="34" charset="0"/>
                <a:ea typeface="MS PGothic" pitchFamily="34" charset="-128"/>
              </a:defRPr>
            </a:lvl5pPr>
            <a:lvl6pPr marL="2378560" indent="-216233" algn="l" defTabSz="929501" rtl="0" eaLnBrk="0" fontAlgn="base" hangingPunct="0">
              <a:spcBef>
                <a:spcPct val="0"/>
              </a:spcBef>
              <a:spcAft>
                <a:spcPct val="0"/>
              </a:spcAft>
              <a:defRPr sz="1900" b="1">
                <a:solidFill>
                  <a:schemeClr val="accent1"/>
                </a:solidFill>
                <a:latin typeface="Arial" pitchFamily="34" charset="0"/>
                <a:ea typeface="MS PGothic" pitchFamily="34" charset="-128"/>
              </a:defRPr>
            </a:lvl6pPr>
            <a:lvl7pPr marL="2811026" indent="-216233" algn="l" defTabSz="929501" rtl="0" eaLnBrk="0" fontAlgn="base" hangingPunct="0">
              <a:spcBef>
                <a:spcPct val="0"/>
              </a:spcBef>
              <a:spcAft>
                <a:spcPct val="0"/>
              </a:spcAft>
              <a:defRPr sz="1900" b="1">
                <a:solidFill>
                  <a:schemeClr val="accent1"/>
                </a:solidFill>
                <a:latin typeface="Arial" pitchFamily="34" charset="0"/>
                <a:ea typeface="MS PGothic" pitchFamily="34" charset="-128"/>
              </a:defRPr>
            </a:lvl7pPr>
            <a:lvl8pPr marL="3243491" indent="-216233" algn="l" defTabSz="929501" rtl="0" eaLnBrk="0" fontAlgn="base" hangingPunct="0">
              <a:spcBef>
                <a:spcPct val="0"/>
              </a:spcBef>
              <a:spcAft>
                <a:spcPct val="0"/>
              </a:spcAft>
              <a:defRPr sz="1900" b="1">
                <a:solidFill>
                  <a:schemeClr val="accent1"/>
                </a:solidFill>
                <a:latin typeface="Arial" pitchFamily="34" charset="0"/>
                <a:ea typeface="MS PGothic" pitchFamily="34" charset="-128"/>
              </a:defRPr>
            </a:lvl8pPr>
            <a:lvl9pPr marL="3675957" indent="-216233" algn="l" defTabSz="929501" rtl="0" eaLnBrk="0" fontAlgn="base" hangingPunct="0">
              <a:spcBef>
                <a:spcPct val="0"/>
              </a:spcBef>
              <a:spcAft>
                <a:spcPct val="0"/>
              </a:spcAft>
              <a:defRPr sz="1900" b="1">
                <a:solidFill>
                  <a:schemeClr val="accent1"/>
                </a:solidFill>
                <a:latin typeface="Arial" pitchFamily="34" charset="0"/>
                <a:ea typeface="MS PGothic" pitchFamily="34" charset="-128"/>
              </a:defRPr>
            </a:lvl9pPr>
          </a:lstStyle>
          <a:p>
            <a:r>
              <a:rPr lang="en-US" sz="900" b="0">
                <a:solidFill>
                  <a:schemeClr val="tx1"/>
                </a:solidFill>
                <a:latin typeface="Times New Roman" pitchFamily="18" charset="0"/>
              </a:rPr>
              <a:t>CS267 Lecture 2</a:t>
            </a:r>
          </a:p>
        </p:txBody>
      </p:sp>
      <p:sp>
        <p:nvSpPr>
          <p:cNvPr id="87043" name="Rectangle 5"/>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501">
              <a:defRPr sz="1900" b="1">
                <a:solidFill>
                  <a:schemeClr val="accent1"/>
                </a:solidFill>
                <a:latin typeface="Arial" pitchFamily="34" charset="0"/>
                <a:ea typeface="MS PGothic" pitchFamily="34" charset="-128"/>
              </a:defRPr>
            </a:lvl1pPr>
            <a:lvl2pPr marL="702756" indent="-270291" defTabSz="929501">
              <a:defRPr sz="1900" b="1">
                <a:solidFill>
                  <a:schemeClr val="accent1"/>
                </a:solidFill>
                <a:latin typeface="Arial" pitchFamily="34" charset="0"/>
                <a:ea typeface="MS PGothic" pitchFamily="34" charset="-128"/>
              </a:defRPr>
            </a:lvl2pPr>
            <a:lvl3pPr marL="1081164" indent="-216233" defTabSz="929501">
              <a:defRPr sz="1900" b="1">
                <a:solidFill>
                  <a:schemeClr val="accent1"/>
                </a:solidFill>
                <a:latin typeface="Arial" pitchFamily="34" charset="0"/>
                <a:ea typeface="MS PGothic" pitchFamily="34" charset="-128"/>
              </a:defRPr>
            </a:lvl3pPr>
            <a:lvl4pPr marL="1513629" indent="-216233" defTabSz="929501">
              <a:defRPr sz="1900" b="1">
                <a:solidFill>
                  <a:schemeClr val="accent1"/>
                </a:solidFill>
                <a:latin typeface="Arial" pitchFamily="34" charset="0"/>
                <a:ea typeface="MS PGothic" pitchFamily="34" charset="-128"/>
              </a:defRPr>
            </a:lvl4pPr>
            <a:lvl5pPr marL="1946095" indent="-216233" defTabSz="929501">
              <a:defRPr sz="1900" b="1">
                <a:solidFill>
                  <a:schemeClr val="accent1"/>
                </a:solidFill>
                <a:latin typeface="Arial" pitchFamily="34" charset="0"/>
                <a:ea typeface="MS PGothic" pitchFamily="34" charset="-128"/>
              </a:defRPr>
            </a:lvl5pPr>
            <a:lvl6pPr marL="2378560" indent="-216233" algn="l" defTabSz="929501" rtl="0" eaLnBrk="0" fontAlgn="base" hangingPunct="0">
              <a:spcBef>
                <a:spcPct val="0"/>
              </a:spcBef>
              <a:spcAft>
                <a:spcPct val="0"/>
              </a:spcAft>
              <a:defRPr sz="1900" b="1">
                <a:solidFill>
                  <a:schemeClr val="accent1"/>
                </a:solidFill>
                <a:latin typeface="Arial" pitchFamily="34" charset="0"/>
                <a:ea typeface="MS PGothic" pitchFamily="34" charset="-128"/>
              </a:defRPr>
            </a:lvl6pPr>
            <a:lvl7pPr marL="2811026" indent="-216233" algn="l" defTabSz="929501" rtl="0" eaLnBrk="0" fontAlgn="base" hangingPunct="0">
              <a:spcBef>
                <a:spcPct val="0"/>
              </a:spcBef>
              <a:spcAft>
                <a:spcPct val="0"/>
              </a:spcAft>
              <a:defRPr sz="1900" b="1">
                <a:solidFill>
                  <a:schemeClr val="accent1"/>
                </a:solidFill>
                <a:latin typeface="Arial" pitchFamily="34" charset="0"/>
                <a:ea typeface="MS PGothic" pitchFamily="34" charset="-128"/>
              </a:defRPr>
            </a:lvl7pPr>
            <a:lvl8pPr marL="3243491" indent="-216233" algn="l" defTabSz="929501" rtl="0" eaLnBrk="0" fontAlgn="base" hangingPunct="0">
              <a:spcBef>
                <a:spcPct val="0"/>
              </a:spcBef>
              <a:spcAft>
                <a:spcPct val="0"/>
              </a:spcAft>
              <a:defRPr sz="1900" b="1">
                <a:solidFill>
                  <a:schemeClr val="accent1"/>
                </a:solidFill>
                <a:latin typeface="Arial" pitchFamily="34" charset="0"/>
                <a:ea typeface="MS PGothic" pitchFamily="34" charset="-128"/>
              </a:defRPr>
            </a:lvl8pPr>
            <a:lvl9pPr marL="3675957" indent="-216233" algn="l" defTabSz="929501" rtl="0" eaLnBrk="0" fontAlgn="base" hangingPunct="0">
              <a:spcBef>
                <a:spcPct val="0"/>
              </a:spcBef>
              <a:spcAft>
                <a:spcPct val="0"/>
              </a:spcAft>
              <a:defRPr sz="1900" b="1">
                <a:solidFill>
                  <a:schemeClr val="accent1"/>
                </a:solidFill>
                <a:latin typeface="Arial" pitchFamily="34" charset="0"/>
                <a:ea typeface="MS PGothic" pitchFamily="34" charset="-128"/>
              </a:defRPr>
            </a:lvl9pPr>
          </a:lstStyle>
          <a:p>
            <a:fld id="{1B2346B9-B965-47FB-A558-9B964E0C2A69}" type="slidenum">
              <a:rPr lang="en-US" sz="900" b="0">
                <a:solidFill>
                  <a:schemeClr val="tx1"/>
                </a:solidFill>
                <a:latin typeface="Times New Roman" pitchFamily="18" charset="0"/>
              </a:rPr>
              <a:pPr/>
              <a:t>12</a:t>
            </a:fld>
            <a:endParaRPr lang="en-US" sz="900" b="0">
              <a:solidFill>
                <a:schemeClr val="tx1"/>
              </a:solidFill>
              <a:latin typeface="Times New Roman" pitchFamily="18" charset="0"/>
            </a:endParaRPr>
          </a:p>
        </p:txBody>
      </p:sp>
      <p:sp>
        <p:nvSpPr>
          <p:cNvPr id="87044" name="Rectangle 2"/>
          <p:cNvSpPr>
            <a:spLocks noGrp="1" noRot="1" noChangeAspect="1" noChangeArrowheads="1" noTextEdit="1"/>
          </p:cNvSpPr>
          <p:nvPr>
            <p:ph type="sldImg"/>
          </p:nvPr>
        </p:nvSpPr>
        <p:spPr/>
      </p:sp>
      <p:sp>
        <p:nvSpPr>
          <p:cNvPr id="8704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it-IT"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4"/>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501">
              <a:defRPr sz="1900" b="1">
                <a:solidFill>
                  <a:schemeClr val="accent1"/>
                </a:solidFill>
                <a:latin typeface="Arial" pitchFamily="34" charset="0"/>
                <a:ea typeface="MS PGothic" pitchFamily="34" charset="-128"/>
              </a:defRPr>
            </a:lvl1pPr>
            <a:lvl2pPr marL="702756" indent="-270291" defTabSz="929501">
              <a:defRPr sz="1900" b="1">
                <a:solidFill>
                  <a:schemeClr val="accent1"/>
                </a:solidFill>
                <a:latin typeface="Arial" pitchFamily="34" charset="0"/>
                <a:ea typeface="MS PGothic" pitchFamily="34" charset="-128"/>
              </a:defRPr>
            </a:lvl2pPr>
            <a:lvl3pPr marL="1081164" indent="-216233" defTabSz="929501">
              <a:defRPr sz="1900" b="1">
                <a:solidFill>
                  <a:schemeClr val="accent1"/>
                </a:solidFill>
                <a:latin typeface="Arial" pitchFamily="34" charset="0"/>
                <a:ea typeface="MS PGothic" pitchFamily="34" charset="-128"/>
              </a:defRPr>
            </a:lvl3pPr>
            <a:lvl4pPr marL="1513629" indent="-216233" defTabSz="929501">
              <a:defRPr sz="1900" b="1">
                <a:solidFill>
                  <a:schemeClr val="accent1"/>
                </a:solidFill>
                <a:latin typeface="Arial" pitchFamily="34" charset="0"/>
                <a:ea typeface="MS PGothic" pitchFamily="34" charset="-128"/>
              </a:defRPr>
            </a:lvl4pPr>
            <a:lvl5pPr marL="1946095" indent="-216233" defTabSz="929501">
              <a:defRPr sz="1900" b="1">
                <a:solidFill>
                  <a:schemeClr val="accent1"/>
                </a:solidFill>
                <a:latin typeface="Arial" pitchFamily="34" charset="0"/>
                <a:ea typeface="MS PGothic" pitchFamily="34" charset="-128"/>
              </a:defRPr>
            </a:lvl5pPr>
            <a:lvl6pPr marL="2378560" indent="-216233" algn="l" defTabSz="929501" rtl="0" eaLnBrk="0" fontAlgn="base" hangingPunct="0">
              <a:spcBef>
                <a:spcPct val="0"/>
              </a:spcBef>
              <a:spcAft>
                <a:spcPct val="0"/>
              </a:spcAft>
              <a:defRPr sz="1900" b="1">
                <a:solidFill>
                  <a:schemeClr val="accent1"/>
                </a:solidFill>
                <a:latin typeface="Arial" pitchFamily="34" charset="0"/>
                <a:ea typeface="MS PGothic" pitchFamily="34" charset="-128"/>
              </a:defRPr>
            </a:lvl6pPr>
            <a:lvl7pPr marL="2811026" indent="-216233" algn="l" defTabSz="929501" rtl="0" eaLnBrk="0" fontAlgn="base" hangingPunct="0">
              <a:spcBef>
                <a:spcPct val="0"/>
              </a:spcBef>
              <a:spcAft>
                <a:spcPct val="0"/>
              </a:spcAft>
              <a:defRPr sz="1900" b="1">
                <a:solidFill>
                  <a:schemeClr val="accent1"/>
                </a:solidFill>
                <a:latin typeface="Arial" pitchFamily="34" charset="0"/>
                <a:ea typeface="MS PGothic" pitchFamily="34" charset="-128"/>
              </a:defRPr>
            </a:lvl7pPr>
            <a:lvl8pPr marL="3243491" indent="-216233" algn="l" defTabSz="929501" rtl="0" eaLnBrk="0" fontAlgn="base" hangingPunct="0">
              <a:spcBef>
                <a:spcPct val="0"/>
              </a:spcBef>
              <a:spcAft>
                <a:spcPct val="0"/>
              </a:spcAft>
              <a:defRPr sz="1900" b="1">
                <a:solidFill>
                  <a:schemeClr val="accent1"/>
                </a:solidFill>
                <a:latin typeface="Arial" pitchFamily="34" charset="0"/>
                <a:ea typeface="MS PGothic" pitchFamily="34" charset="-128"/>
              </a:defRPr>
            </a:lvl8pPr>
            <a:lvl9pPr marL="3675957" indent="-216233" algn="l" defTabSz="929501" rtl="0" eaLnBrk="0" fontAlgn="base" hangingPunct="0">
              <a:spcBef>
                <a:spcPct val="0"/>
              </a:spcBef>
              <a:spcAft>
                <a:spcPct val="0"/>
              </a:spcAft>
              <a:defRPr sz="1900" b="1">
                <a:solidFill>
                  <a:schemeClr val="accent1"/>
                </a:solidFill>
                <a:latin typeface="Arial" pitchFamily="34" charset="0"/>
                <a:ea typeface="MS PGothic" pitchFamily="34" charset="-128"/>
              </a:defRPr>
            </a:lvl9pPr>
          </a:lstStyle>
          <a:p>
            <a:r>
              <a:rPr lang="en-US" sz="900" b="0">
                <a:solidFill>
                  <a:schemeClr val="tx1"/>
                </a:solidFill>
                <a:latin typeface="Times New Roman" pitchFamily="18" charset="0"/>
              </a:rPr>
              <a:t>CS267 Lecture 2</a:t>
            </a:r>
          </a:p>
        </p:txBody>
      </p:sp>
      <p:sp>
        <p:nvSpPr>
          <p:cNvPr id="92163" name="Rectangle 5"/>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501">
              <a:defRPr sz="1900" b="1">
                <a:solidFill>
                  <a:schemeClr val="accent1"/>
                </a:solidFill>
                <a:latin typeface="Arial" pitchFamily="34" charset="0"/>
                <a:ea typeface="MS PGothic" pitchFamily="34" charset="-128"/>
              </a:defRPr>
            </a:lvl1pPr>
            <a:lvl2pPr marL="702756" indent="-270291" defTabSz="929501">
              <a:defRPr sz="1900" b="1">
                <a:solidFill>
                  <a:schemeClr val="accent1"/>
                </a:solidFill>
                <a:latin typeface="Arial" pitchFamily="34" charset="0"/>
                <a:ea typeface="MS PGothic" pitchFamily="34" charset="-128"/>
              </a:defRPr>
            </a:lvl2pPr>
            <a:lvl3pPr marL="1081164" indent="-216233" defTabSz="929501">
              <a:defRPr sz="1900" b="1">
                <a:solidFill>
                  <a:schemeClr val="accent1"/>
                </a:solidFill>
                <a:latin typeface="Arial" pitchFamily="34" charset="0"/>
                <a:ea typeface="MS PGothic" pitchFamily="34" charset="-128"/>
              </a:defRPr>
            </a:lvl3pPr>
            <a:lvl4pPr marL="1513629" indent="-216233" defTabSz="929501">
              <a:defRPr sz="1900" b="1">
                <a:solidFill>
                  <a:schemeClr val="accent1"/>
                </a:solidFill>
                <a:latin typeface="Arial" pitchFamily="34" charset="0"/>
                <a:ea typeface="MS PGothic" pitchFamily="34" charset="-128"/>
              </a:defRPr>
            </a:lvl4pPr>
            <a:lvl5pPr marL="1946095" indent="-216233" defTabSz="929501">
              <a:defRPr sz="1900" b="1">
                <a:solidFill>
                  <a:schemeClr val="accent1"/>
                </a:solidFill>
                <a:latin typeface="Arial" pitchFamily="34" charset="0"/>
                <a:ea typeface="MS PGothic" pitchFamily="34" charset="-128"/>
              </a:defRPr>
            </a:lvl5pPr>
            <a:lvl6pPr marL="2378560" indent="-216233" algn="l" defTabSz="929501" rtl="0" eaLnBrk="0" fontAlgn="base" hangingPunct="0">
              <a:spcBef>
                <a:spcPct val="0"/>
              </a:spcBef>
              <a:spcAft>
                <a:spcPct val="0"/>
              </a:spcAft>
              <a:defRPr sz="1900" b="1">
                <a:solidFill>
                  <a:schemeClr val="accent1"/>
                </a:solidFill>
                <a:latin typeface="Arial" pitchFamily="34" charset="0"/>
                <a:ea typeface="MS PGothic" pitchFamily="34" charset="-128"/>
              </a:defRPr>
            </a:lvl6pPr>
            <a:lvl7pPr marL="2811026" indent="-216233" algn="l" defTabSz="929501" rtl="0" eaLnBrk="0" fontAlgn="base" hangingPunct="0">
              <a:spcBef>
                <a:spcPct val="0"/>
              </a:spcBef>
              <a:spcAft>
                <a:spcPct val="0"/>
              </a:spcAft>
              <a:defRPr sz="1900" b="1">
                <a:solidFill>
                  <a:schemeClr val="accent1"/>
                </a:solidFill>
                <a:latin typeface="Arial" pitchFamily="34" charset="0"/>
                <a:ea typeface="MS PGothic" pitchFamily="34" charset="-128"/>
              </a:defRPr>
            </a:lvl7pPr>
            <a:lvl8pPr marL="3243491" indent="-216233" algn="l" defTabSz="929501" rtl="0" eaLnBrk="0" fontAlgn="base" hangingPunct="0">
              <a:spcBef>
                <a:spcPct val="0"/>
              </a:spcBef>
              <a:spcAft>
                <a:spcPct val="0"/>
              </a:spcAft>
              <a:defRPr sz="1900" b="1">
                <a:solidFill>
                  <a:schemeClr val="accent1"/>
                </a:solidFill>
                <a:latin typeface="Arial" pitchFamily="34" charset="0"/>
                <a:ea typeface="MS PGothic" pitchFamily="34" charset="-128"/>
              </a:defRPr>
            </a:lvl8pPr>
            <a:lvl9pPr marL="3675957" indent="-216233" algn="l" defTabSz="929501" rtl="0" eaLnBrk="0" fontAlgn="base" hangingPunct="0">
              <a:spcBef>
                <a:spcPct val="0"/>
              </a:spcBef>
              <a:spcAft>
                <a:spcPct val="0"/>
              </a:spcAft>
              <a:defRPr sz="1900" b="1">
                <a:solidFill>
                  <a:schemeClr val="accent1"/>
                </a:solidFill>
                <a:latin typeface="Arial" pitchFamily="34" charset="0"/>
                <a:ea typeface="MS PGothic" pitchFamily="34" charset="-128"/>
              </a:defRPr>
            </a:lvl9pPr>
          </a:lstStyle>
          <a:p>
            <a:fld id="{AEB1130D-06BE-45D8-BDBA-DEAF381F226C}" type="slidenum">
              <a:rPr lang="en-US" sz="900" b="0">
                <a:solidFill>
                  <a:schemeClr val="tx1"/>
                </a:solidFill>
                <a:latin typeface="Times New Roman" pitchFamily="18" charset="0"/>
              </a:rPr>
              <a:pPr/>
              <a:t>13</a:t>
            </a:fld>
            <a:endParaRPr lang="en-US" sz="900" b="0">
              <a:solidFill>
                <a:schemeClr val="tx1"/>
              </a:solidFill>
              <a:latin typeface="Times New Roman" pitchFamily="18" charset="0"/>
            </a:endParaRPr>
          </a:p>
        </p:txBody>
      </p:sp>
      <p:sp>
        <p:nvSpPr>
          <p:cNvPr id="92164" name="Rectangle 2"/>
          <p:cNvSpPr>
            <a:spLocks noGrp="1" noRot="1" noChangeAspect="1" noChangeArrowheads="1" noTextEdit="1"/>
          </p:cNvSpPr>
          <p:nvPr>
            <p:ph type="sldImg"/>
          </p:nvPr>
        </p:nvSpPr>
        <p:spPr/>
      </p:sp>
      <p:sp>
        <p:nvSpPr>
          <p:cNvPr id="9216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it-IT"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4"/>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501">
              <a:defRPr sz="1900" b="1">
                <a:solidFill>
                  <a:schemeClr val="accent1"/>
                </a:solidFill>
                <a:latin typeface="Arial" pitchFamily="34" charset="0"/>
                <a:ea typeface="MS PGothic" pitchFamily="34" charset="-128"/>
              </a:defRPr>
            </a:lvl1pPr>
            <a:lvl2pPr marL="702756" indent="-270291" defTabSz="929501">
              <a:defRPr sz="1900" b="1">
                <a:solidFill>
                  <a:schemeClr val="accent1"/>
                </a:solidFill>
                <a:latin typeface="Arial" pitchFamily="34" charset="0"/>
                <a:ea typeface="MS PGothic" pitchFamily="34" charset="-128"/>
              </a:defRPr>
            </a:lvl2pPr>
            <a:lvl3pPr marL="1081164" indent="-216233" defTabSz="929501">
              <a:defRPr sz="1900" b="1">
                <a:solidFill>
                  <a:schemeClr val="accent1"/>
                </a:solidFill>
                <a:latin typeface="Arial" pitchFamily="34" charset="0"/>
                <a:ea typeface="MS PGothic" pitchFamily="34" charset="-128"/>
              </a:defRPr>
            </a:lvl3pPr>
            <a:lvl4pPr marL="1513629" indent="-216233" defTabSz="929501">
              <a:defRPr sz="1900" b="1">
                <a:solidFill>
                  <a:schemeClr val="accent1"/>
                </a:solidFill>
                <a:latin typeface="Arial" pitchFamily="34" charset="0"/>
                <a:ea typeface="MS PGothic" pitchFamily="34" charset="-128"/>
              </a:defRPr>
            </a:lvl4pPr>
            <a:lvl5pPr marL="1946095" indent="-216233" defTabSz="929501">
              <a:defRPr sz="1900" b="1">
                <a:solidFill>
                  <a:schemeClr val="accent1"/>
                </a:solidFill>
                <a:latin typeface="Arial" pitchFamily="34" charset="0"/>
                <a:ea typeface="MS PGothic" pitchFamily="34" charset="-128"/>
              </a:defRPr>
            </a:lvl5pPr>
            <a:lvl6pPr marL="2378560" indent="-216233" algn="l" defTabSz="929501" rtl="0" eaLnBrk="0" fontAlgn="base" hangingPunct="0">
              <a:spcBef>
                <a:spcPct val="0"/>
              </a:spcBef>
              <a:spcAft>
                <a:spcPct val="0"/>
              </a:spcAft>
              <a:defRPr sz="1900" b="1">
                <a:solidFill>
                  <a:schemeClr val="accent1"/>
                </a:solidFill>
                <a:latin typeface="Arial" pitchFamily="34" charset="0"/>
                <a:ea typeface="MS PGothic" pitchFamily="34" charset="-128"/>
              </a:defRPr>
            </a:lvl6pPr>
            <a:lvl7pPr marL="2811026" indent="-216233" algn="l" defTabSz="929501" rtl="0" eaLnBrk="0" fontAlgn="base" hangingPunct="0">
              <a:spcBef>
                <a:spcPct val="0"/>
              </a:spcBef>
              <a:spcAft>
                <a:spcPct val="0"/>
              </a:spcAft>
              <a:defRPr sz="1900" b="1">
                <a:solidFill>
                  <a:schemeClr val="accent1"/>
                </a:solidFill>
                <a:latin typeface="Arial" pitchFamily="34" charset="0"/>
                <a:ea typeface="MS PGothic" pitchFamily="34" charset="-128"/>
              </a:defRPr>
            </a:lvl7pPr>
            <a:lvl8pPr marL="3243491" indent="-216233" algn="l" defTabSz="929501" rtl="0" eaLnBrk="0" fontAlgn="base" hangingPunct="0">
              <a:spcBef>
                <a:spcPct val="0"/>
              </a:spcBef>
              <a:spcAft>
                <a:spcPct val="0"/>
              </a:spcAft>
              <a:defRPr sz="1900" b="1">
                <a:solidFill>
                  <a:schemeClr val="accent1"/>
                </a:solidFill>
                <a:latin typeface="Arial" pitchFamily="34" charset="0"/>
                <a:ea typeface="MS PGothic" pitchFamily="34" charset="-128"/>
              </a:defRPr>
            </a:lvl8pPr>
            <a:lvl9pPr marL="3675957" indent="-216233" algn="l" defTabSz="929501" rtl="0" eaLnBrk="0" fontAlgn="base" hangingPunct="0">
              <a:spcBef>
                <a:spcPct val="0"/>
              </a:spcBef>
              <a:spcAft>
                <a:spcPct val="0"/>
              </a:spcAft>
              <a:defRPr sz="1900" b="1">
                <a:solidFill>
                  <a:schemeClr val="accent1"/>
                </a:solidFill>
                <a:latin typeface="Arial" pitchFamily="34" charset="0"/>
                <a:ea typeface="MS PGothic" pitchFamily="34" charset="-128"/>
              </a:defRPr>
            </a:lvl9pPr>
          </a:lstStyle>
          <a:p>
            <a:r>
              <a:rPr lang="en-US" sz="900" b="0">
                <a:solidFill>
                  <a:schemeClr val="tx1"/>
                </a:solidFill>
                <a:latin typeface="Times New Roman" pitchFamily="18" charset="0"/>
              </a:rPr>
              <a:t>CS267 Lecture 2</a:t>
            </a:r>
          </a:p>
        </p:txBody>
      </p:sp>
      <p:sp>
        <p:nvSpPr>
          <p:cNvPr id="92163" name="Rectangle 5"/>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501">
              <a:defRPr sz="1900" b="1">
                <a:solidFill>
                  <a:schemeClr val="accent1"/>
                </a:solidFill>
                <a:latin typeface="Arial" pitchFamily="34" charset="0"/>
                <a:ea typeface="MS PGothic" pitchFamily="34" charset="-128"/>
              </a:defRPr>
            </a:lvl1pPr>
            <a:lvl2pPr marL="702756" indent="-270291" defTabSz="929501">
              <a:defRPr sz="1900" b="1">
                <a:solidFill>
                  <a:schemeClr val="accent1"/>
                </a:solidFill>
                <a:latin typeface="Arial" pitchFamily="34" charset="0"/>
                <a:ea typeface="MS PGothic" pitchFamily="34" charset="-128"/>
              </a:defRPr>
            </a:lvl2pPr>
            <a:lvl3pPr marL="1081164" indent="-216233" defTabSz="929501">
              <a:defRPr sz="1900" b="1">
                <a:solidFill>
                  <a:schemeClr val="accent1"/>
                </a:solidFill>
                <a:latin typeface="Arial" pitchFamily="34" charset="0"/>
                <a:ea typeface="MS PGothic" pitchFamily="34" charset="-128"/>
              </a:defRPr>
            </a:lvl3pPr>
            <a:lvl4pPr marL="1513629" indent="-216233" defTabSz="929501">
              <a:defRPr sz="1900" b="1">
                <a:solidFill>
                  <a:schemeClr val="accent1"/>
                </a:solidFill>
                <a:latin typeface="Arial" pitchFamily="34" charset="0"/>
                <a:ea typeface="MS PGothic" pitchFamily="34" charset="-128"/>
              </a:defRPr>
            </a:lvl4pPr>
            <a:lvl5pPr marL="1946095" indent="-216233" defTabSz="929501">
              <a:defRPr sz="1900" b="1">
                <a:solidFill>
                  <a:schemeClr val="accent1"/>
                </a:solidFill>
                <a:latin typeface="Arial" pitchFamily="34" charset="0"/>
                <a:ea typeface="MS PGothic" pitchFamily="34" charset="-128"/>
              </a:defRPr>
            </a:lvl5pPr>
            <a:lvl6pPr marL="2378560" indent="-216233" algn="l" defTabSz="929501" rtl="0" eaLnBrk="0" fontAlgn="base" hangingPunct="0">
              <a:spcBef>
                <a:spcPct val="0"/>
              </a:spcBef>
              <a:spcAft>
                <a:spcPct val="0"/>
              </a:spcAft>
              <a:defRPr sz="1900" b="1">
                <a:solidFill>
                  <a:schemeClr val="accent1"/>
                </a:solidFill>
                <a:latin typeface="Arial" pitchFamily="34" charset="0"/>
                <a:ea typeface="MS PGothic" pitchFamily="34" charset="-128"/>
              </a:defRPr>
            </a:lvl6pPr>
            <a:lvl7pPr marL="2811026" indent="-216233" algn="l" defTabSz="929501" rtl="0" eaLnBrk="0" fontAlgn="base" hangingPunct="0">
              <a:spcBef>
                <a:spcPct val="0"/>
              </a:spcBef>
              <a:spcAft>
                <a:spcPct val="0"/>
              </a:spcAft>
              <a:defRPr sz="1900" b="1">
                <a:solidFill>
                  <a:schemeClr val="accent1"/>
                </a:solidFill>
                <a:latin typeface="Arial" pitchFamily="34" charset="0"/>
                <a:ea typeface="MS PGothic" pitchFamily="34" charset="-128"/>
              </a:defRPr>
            </a:lvl7pPr>
            <a:lvl8pPr marL="3243491" indent="-216233" algn="l" defTabSz="929501" rtl="0" eaLnBrk="0" fontAlgn="base" hangingPunct="0">
              <a:spcBef>
                <a:spcPct val="0"/>
              </a:spcBef>
              <a:spcAft>
                <a:spcPct val="0"/>
              </a:spcAft>
              <a:defRPr sz="1900" b="1">
                <a:solidFill>
                  <a:schemeClr val="accent1"/>
                </a:solidFill>
                <a:latin typeface="Arial" pitchFamily="34" charset="0"/>
                <a:ea typeface="MS PGothic" pitchFamily="34" charset="-128"/>
              </a:defRPr>
            </a:lvl8pPr>
            <a:lvl9pPr marL="3675957" indent="-216233" algn="l" defTabSz="929501" rtl="0" eaLnBrk="0" fontAlgn="base" hangingPunct="0">
              <a:spcBef>
                <a:spcPct val="0"/>
              </a:spcBef>
              <a:spcAft>
                <a:spcPct val="0"/>
              </a:spcAft>
              <a:defRPr sz="1900" b="1">
                <a:solidFill>
                  <a:schemeClr val="accent1"/>
                </a:solidFill>
                <a:latin typeface="Arial" pitchFamily="34" charset="0"/>
                <a:ea typeface="MS PGothic" pitchFamily="34" charset="-128"/>
              </a:defRPr>
            </a:lvl9pPr>
          </a:lstStyle>
          <a:p>
            <a:fld id="{AEB1130D-06BE-45D8-BDBA-DEAF381F226C}" type="slidenum">
              <a:rPr lang="en-US" sz="900" b="0">
                <a:solidFill>
                  <a:schemeClr val="tx1"/>
                </a:solidFill>
                <a:latin typeface="Times New Roman" pitchFamily="18" charset="0"/>
              </a:rPr>
              <a:pPr/>
              <a:t>14</a:t>
            </a:fld>
            <a:endParaRPr lang="en-US" sz="900" b="0">
              <a:solidFill>
                <a:schemeClr val="tx1"/>
              </a:solidFill>
              <a:latin typeface="Times New Roman" pitchFamily="18" charset="0"/>
            </a:endParaRPr>
          </a:p>
        </p:txBody>
      </p:sp>
      <p:sp>
        <p:nvSpPr>
          <p:cNvPr id="92164" name="Rectangle 2"/>
          <p:cNvSpPr>
            <a:spLocks noGrp="1" noRot="1" noChangeAspect="1" noChangeArrowheads="1" noTextEdit="1"/>
          </p:cNvSpPr>
          <p:nvPr>
            <p:ph type="sldImg"/>
          </p:nvPr>
        </p:nvSpPr>
        <p:spPr/>
      </p:sp>
      <p:sp>
        <p:nvSpPr>
          <p:cNvPr id="9216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it-IT"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SUMMA</a:t>
            </a:r>
            <a:r>
              <a:rPr lang="en-US" baseline="0" dirty="0" smtClean="0"/>
              <a:t> with more complicated implementation can attain bandwidth lower bound</a:t>
            </a:r>
            <a:endParaRPr lang="en-US" dirty="0"/>
          </a:p>
        </p:txBody>
      </p:sp>
      <p:sp>
        <p:nvSpPr>
          <p:cNvPr id="4" name="Slide Number Placeholder 3"/>
          <p:cNvSpPr>
            <a:spLocks noGrp="1"/>
          </p:cNvSpPr>
          <p:nvPr>
            <p:ph type="sldNum" sz="quarter" idx="10"/>
          </p:nvPr>
        </p:nvSpPr>
        <p:spPr/>
        <p:txBody>
          <a:bodyPr/>
          <a:lstStyle/>
          <a:p>
            <a:fld id="{69BDC26A-4628-467A-BDD3-FE7E900548B0}" type="slidenum">
              <a:rPr lang="en-US" smtClean="0"/>
              <a:pPr/>
              <a:t>21</a:t>
            </a:fld>
            <a:endParaRPr lang="en-US"/>
          </a:p>
        </p:txBody>
      </p:sp>
    </p:spTree>
    <p:extLst>
      <p:ext uri="{BB962C8B-B14F-4D97-AF65-F5344CB8AC3E}">
        <p14:creationId xmlns:p14="http://schemas.microsoft.com/office/powerpoint/2010/main" val="2635448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SC’11 paper about need to fully utilize 3D torus network on BG/P to get this to work</a:t>
            </a:r>
            <a:endParaRPr lang="en-US" dirty="0"/>
          </a:p>
        </p:txBody>
      </p:sp>
      <p:sp>
        <p:nvSpPr>
          <p:cNvPr id="4" name="Slide Number Placeholder 3"/>
          <p:cNvSpPr>
            <a:spLocks noGrp="1"/>
          </p:cNvSpPr>
          <p:nvPr>
            <p:ph type="sldNum" sz="quarter" idx="10"/>
          </p:nvPr>
        </p:nvSpPr>
        <p:spPr/>
        <p:txBody>
          <a:bodyPr/>
          <a:lstStyle/>
          <a:p>
            <a:fld id="{69BDC26A-4628-467A-BDD3-FE7E900548B0}" type="slidenum">
              <a:rPr lang="en-US" smtClean="0"/>
              <a:pPr/>
              <a:t>30</a:t>
            </a:fld>
            <a:endParaRPr lang="en-US"/>
          </a:p>
        </p:txBody>
      </p:sp>
    </p:spTree>
    <p:extLst>
      <p:ext uri="{BB962C8B-B14F-4D97-AF65-F5344CB8AC3E}">
        <p14:creationId xmlns:p14="http://schemas.microsoft.com/office/powerpoint/2010/main" val="26333764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Slide Image Placeholder 1"/>
          <p:cNvSpPr>
            <a:spLocks noGrp="1" noRot="1" noChangeAspect="1" noTextEdit="1"/>
          </p:cNvSpPr>
          <p:nvPr>
            <p:ph type="sldImg"/>
          </p:nvPr>
        </p:nvSpPr>
        <p:spPr bwMode="auto">
          <a:noFill/>
          <a:ln>
            <a:solidFill>
              <a:srgbClr val="000000"/>
            </a:solidFill>
            <a:miter lim="800000"/>
            <a:headEnd/>
            <a:tailEnd/>
          </a:ln>
        </p:spPr>
      </p:sp>
      <p:sp>
        <p:nvSpPr>
          <p:cNvPr id="112643"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smtClean="0"/>
              <a:t>Recursive approach”</a:t>
            </a:r>
          </a:p>
          <a:p>
            <a:pPr eaLnBrk="1" hangingPunct="1">
              <a:spcBef>
                <a:spcPct val="0"/>
              </a:spcBef>
            </a:pPr>
            <a:r>
              <a:rPr lang="en-US" smtClean="0"/>
              <a:t>  QR:  Elmroth, Gustavson</a:t>
            </a:r>
          </a:p>
          <a:p>
            <a:pPr eaLnBrk="1" hangingPunct="1">
              <a:spcBef>
                <a:spcPct val="0"/>
              </a:spcBef>
            </a:pPr>
            <a:r>
              <a:rPr lang="en-US" smtClean="0"/>
              <a:t>  LU:  Toledo</a:t>
            </a:r>
          </a:p>
        </p:txBody>
      </p:sp>
      <p:sp>
        <p:nvSpPr>
          <p:cNvPr id="112644"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27FB6CFA-AF67-4B17-A44B-9F392D90EBFF}" type="slidenum">
              <a:rPr lang="en-US" smtClean="0"/>
              <a:pPr fontAlgn="base">
                <a:spcBef>
                  <a:spcPct val="0"/>
                </a:spcBef>
                <a:spcAft>
                  <a:spcPct val="0"/>
                </a:spcAft>
                <a:defRPr/>
              </a:pPr>
              <a:t>32</a:t>
            </a:fld>
            <a:endParaRPr lang="en-US"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Slide Image Placeholder 1"/>
          <p:cNvSpPr>
            <a:spLocks noGrp="1" noRot="1" noChangeAspect="1" noTextEdit="1"/>
          </p:cNvSpPr>
          <p:nvPr>
            <p:ph type="sldImg"/>
          </p:nvPr>
        </p:nvSpPr>
        <p:spPr>
          <a:ln>
            <a:solidFill>
              <a:srgbClr val="000000"/>
            </a:solidFill>
          </a:ln>
        </p:spPr>
      </p:sp>
      <p:sp>
        <p:nvSpPr>
          <p:cNvPr id="143363" name="Notes Placeholder 2"/>
          <p:cNvSpPr>
            <a:spLocks noGrp="1"/>
          </p:cNvSpPr>
          <p:nvPr>
            <p:ph type="body" idx="1"/>
          </p:nvPr>
        </p:nvSpPr>
        <p:spPr>
          <a:noFill/>
          <a:ln/>
        </p:spPr>
        <p:txBody>
          <a:bodyPr/>
          <a:lstStyle/>
          <a:p>
            <a:pPr eaLnBrk="1" hangingPunct="1">
              <a:spcBef>
                <a:spcPct val="0"/>
              </a:spcBef>
            </a:pPr>
            <a:r>
              <a:rPr lang="en-US" dirty="0" smtClean="0">
                <a:latin typeface="Arial" charset="0"/>
              </a:rPr>
              <a:t>Oldest</a:t>
            </a:r>
            <a:r>
              <a:rPr lang="en-US" baseline="0" dirty="0" smtClean="0">
                <a:latin typeface="Arial" charset="0"/>
              </a:rPr>
              <a:t> reference for idea of tree: </a:t>
            </a:r>
            <a:r>
              <a:rPr lang="en-US" baseline="0" dirty="0" err="1" smtClean="0">
                <a:latin typeface="Arial" charset="0"/>
              </a:rPr>
              <a:t>Golub</a:t>
            </a:r>
            <a:r>
              <a:rPr lang="en-US" baseline="0" dirty="0" smtClean="0">
                <a:latin typeface="Arial" charset="0"/>
              </a:rPr>
              <a:t>/</a:t>
            </a:r>
            <a:r>
              <a:rPr lang="en-US" baseline="0" dirty="0" err="1" smtClean="0">
                <a:latin typeface="Arial" charset="0"/>
              </a:rPr>
              <a:t>Plemmons</a:t>
            </a:r>
            <a:r>
              <a:rPr lang="en-US" baseline="0" dirty="0" smtClean="0">
                <a:latin typeface="Arial" charset="0"/>
              </a:rPr>
              <a:t>/</a:t>
            </a:r>
            <a:r>
              <a:rPr lang="en-US" baseline="0" dirty="0" err="1" smtClean="0">
                <a:latin typeface="Arial" charset="0"/>
              </a:rPr>
              <a:t>Sameh</a:t>
            </a:r>
            <a:r>
              <a:rPr lang="en-US" baseline="0" dirty="0" smtClean="0">
                <a:latin typeface="Arial" charset="0"/>
              </a:rPr>
              <a:t> 1988,</a:t>
            </a:r>
          </a:p>
          <a:p>
            <a:pPr eaLnBrk="1" hangingPunct="1">
              <a:spcBef>
                <a:spcPct val="0"/>
              </a:spcBef>
            </a:pPr>
            <a:r>
              <a:rPr lang="en-US" baseline="0" dirty="0" smtClean="0">
                <a:latin typeface="Arial" charset="0"/>
              </a:rPr>
              <a:t>But didn’t avoid communication</a:t>
            </a:r>
            <a:endParaRPr lang="en-US" dirty="0" smtClean="0">
              <a:latin typeface="Arial" charset="0"/>
            </a:endParaRPr>
          </a:p>
        </p:txBody>
      </p:sp>
      <p:sp>
        <p:nvSpPr>
          <p:cNvPr id="70660" name="Slide Number Placeholder 3"/>
          <p:cNvSpPr>
            <a:spLocks noGrp="1"/>
          </p:cNvSpPr>
          <p:nvPr>
            <p:ph type="sldNum" sz="quarter" idx="5"/>
          </p:nvPr>
        </p:nvSpPr>
        <p:spPr/>
        <p:txBody>
          <a:bodyPr/>
          <a:lstStyle/>
          <a:p>
            <a:pPr>
              <a:defRPr/>
            </a:pPr>
            <a:fld id="{4D47A458-4E5B-40E3-B386-8D6E88787EC7}" type="slidenum">
              <a:rPr lang="en-US" smtClean="0"/>
              <a:pPr>
                <a:defRPr/>
              </a:pPr>
              <a:t>35</a:t>
            </a:fld>
            <a:endParaRPr lang="en-US"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mtClean="0"/>
              <a:t>Transition: TSQR -&gt; CAQR</a:t>
            </a:r>
            <a:endParaRPr lang="en-US"/>
          </a:p>
        </p:txBody>
      </p:sp>
      <p:sp>
        <p:nvSpPr>
          <p:cNvPr id="4" name="Slide Number Placeholder 3"/>
          <p:cNvSpPr>
            <a:spLocks noGrp="1"/>
          </p:cNvSpPr>
          <p:nvPr>
            <p:ph type="sldNum" sz="quarter" idx="10"/>
          </p:nvPr>
        </p:nvSpPr>
        <p:spPr/>
        <p:txBody>
          <a:bodyPr/>
          <a:lstStyle/>
          <a:p>
            <a:fld id="{69BDC26A-4628-467A-BDD3-FE7E900548B0}" type="slidenum">
              <a:rPr lang="en-US" smtClean="0"/>
              <a:pPr/>
              <a:t>36</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Vertical axis log2(n^2/p) is memory per processor</a:t>
            </a:r>
          </a:p>
          <a:p>
            <a:r>
              <a:rPr lang="en-US" dirty="0" smtClean="0"/>
              <a:t>Horizontal</a:t>
            </a:r>
            <a:r>
              <a:rPr lang="en-US" baseline="0" dirty="0" smtClean="0"/>
              <a:t> axis log2(p) is processor count</a:t>
            </a:r>
            <a:endParaRPr lang="en-US" dirty="0"/>
          </a:p>
        </p:txBody>
      </p:sp>
      <p:sp>
        <p:nvSpPr>
          <p:cNvPr id="4" name="Slide Number Placeholder 3"/>
          <p:cNvSpPr>
            <a:spLocks noGrp="1"/>
          </p:cNvSpPr>
          <p:nvPr>
            <p:ph type="sldNum" sz="quarter" idx="10"/>
          </p:nvPr>
        </p:nvSpPr>
        <p:spPr/>
        <p:txBody>
          <a:bodyPr/>
          <a:lstStyle/>
          <a:p>
            <a:fld id="{69BDC26A-4628-467A-BDD3-FE7E900548B0}" type="slidenum">
              <a:rPr lang="en-US" smtClean="0"/>
              <a:pPr/>
              <a:t>39</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Slide Image Placeholder 1"/>
          <p:cNvSpPr>
            <a:spLocks noGrp="1" noRot="1" noChangeAspect="1" noTextEdit="1"/>
          </p:cNvSpPr>
          <p:nvPr>
            <p:ph type="sldImg"/>
          </p:nvPr>
        </p:nvSpPr>
        <p:spPr/>
      </p:sp>
      <p:sp>
        <p:nvSpPr>
          <p:cNvPr id="178179" name="Notes Placeholder 2"/>
          <p:cNvSpPr>
            <a:spLocks noGrp="1"/>
          </p:cNvSpPr>
          <p:nvPr>
            <p:ph type="body" idx="1"/>
          </p:nvPr>
        </p:nvSpPr>
        <p:spPr>
          <a:noFill/>
          <a:ln/>
        </p:spPr>
        <p:txBody>
          <a:bodyPr/>
          <a:lstStyle/>
          <a:p>
            <a:r>
              <a:rPr lang="en-US" smtClean="0"/>
              <a:t>Questions:</a:t>
            </a:r>
          </a:p>
          <a:p>
            <a:r>
              <a:rPr lang="en-US" smtClean="0"/>
              <a:t>   Was [Gustavson,97] not cache oblivious?</a:t>
            </a:r>
          </a:p>
          <a:p>
            <a:r>
              <a:rPr lang="en-US" smtClean="0"/>
              <a:t>[Frigo, Leiserson, Prokop, Ramachandran,99]</a:t>
            </a:r>
          </a:p>
          <a:p>
            <a:endParaRPr lang="en-US" smtClean="0"/>
          </a:p>
        </p:txBody>
      </p:sp>
      <p:sp>
        <p:nvSpPr>
          <p:cNvPr id="4" name="Footer Placeholder 3"/>
          <p:cNvSpPr>
            <a:spLocks noGrp="1"/>
          </p:cNvSpPr>
          <p:nvPr>
            <p:ph type="ftr" sz="quarter" idx="4"/>
          </p:nvPr>
        </p:nvSpPr>
        <p:spPr/>
        <p:txBody>
          <a:bodyPr/>
          <a:lstStyle/>
          <a:p>
            <a:pPr>
              <a:defRPr/>
            </a:pPr>
            <a:r>
              <a:rPr lang="en-US" smtClean="0"/>
              <a:t>CS267 Lecture 2</a:t>
            </a:r>
            <a:endParaRPr lang="en-US"/>
          </a:p>
        </p:txBody>
      </p:sp>
      <p:sp>
        <p:nvSpPr>
          <p:cNvPr id="5" name="Slide Number Placeholder 4"/>
          <p:cNvSpPr>
            <a:spLocks noGrp="1"/>
          </p:cNvSpPr>
          <p:nvPr>
            <p:ph type="sldNum" sz="quarter" idx="5"/>
          </p:nvPr>
        </p:nvSpPr>
        <p:spPr/>
        <p:txBody>
          <a:bodyPr/>
          <a:lstStyle/>
          <a:p>
            <a:pPr>
              <a:defRPr/>
            </a:pPr>
            <a:fld id="{57025A43-B2AC-4655-9DA9-36F183A413AB}" type="slidenum">
              <a:rPr lang="en-US" smtClean="0"/>
              <a:pPr>
                <a:defRPr/>
              </a:pPr>
              <a:t>41</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Slide Image Placeholder 1"/>
          <p:cNvSpPr>
            <a:spLocks noGrp="1" noRot="1" noChangeAspect="1" noTextEdit="1"/>
          </p:cNvSpPr>
          <p:nvPr>
            <p:ph type="sldImg"/>
          </p:nvPr>
        </p:nvSpPr>
        <p:spPr/>
      </p:sp>
      <p:sp>
        <p:nvSpPr>
          <p:cNvPr id="179203" name="Notes Placeholder 2"/>
          <p:cNvSpPr>
            <a:spLocks noGrp="1"/>
          </p:cNvSpPr>
          <p:nvPr>
            <p:ph type="body" idx="1"/>
          </p:nvPr>
        </p:nvSpPr>
        <p:spPr>
          <a:noFill/>
          <a:ln/>
        </p:spPr>
        <p:txBody>
          <a:bodyPr/>
          <a:lstStyle/>
          <a:p>
            <a:r>
              <a:rPr lang="en-US" dirty="0" err="1" smtClean="0"/>
              <a:t>ScaLAPACK</a:t>
            </a:r>
            <a:r>
              <a:rPr lang="en-US" dirty="0" smtClean="0"/>
              <a:t> assumes best block size chosen</a:t>
            </a:r>
          </a:p>
          <a:p>
            <a:r>
              <a:rPr lang="en-US" dirty="0" smtClean="0"/>
              <a:t>Many references, green are ours</a:t>
            </a:r>
          </a:p>
        </p:txBody>
      </p:sp>
      <p:sp>
        <p:nvSpPr>
          <p:cNvPr id="4" name="Footer Placeholder 3"/>
          <p:cNvSpPr>
            <a:spLocks noGrp="1"/>
          </p:cNvSpPr>
          <p:nvPr>
            <p:ph type="ftr" sz="quarter" idx="4"/>
          </p:nvPr>
        </p:nvSpPr>
        <p:spPr/>
        <p:txBody>
          <a:bodyPr/>
          <a:lstStyle/>
          <a:p>
            <a:pPr>
              <a:defRPr/>
            </a:pPr>
            <a:r>
              <a:rPr lang="en-US" smtClean="0"/>
              <a:t>CS267 Lecture 2</a:t>
            </a:r>
            <a:endParaRPr lang="en-US"/>
          </a:p>
        </p:txBody>
      </p:sp>
      <p:sp>
        <p:nvSpPr>
          <p:cNvPr id="5" name="Slide Number Placeholder 4"/>
          <p:cNvSpPr>
            <a:spLocks noGrp="1"/>
          </p:cNvSpPr>
          <p:nvPr>
            <p:ph type="sldNum" sz="quarter" idx="5"/>
          </p:nvPr>
        </p:nvSpPr>
        <p:spPr/>
        <p:txBody>
          <a:bodyPr/>
          <a:lstStyle/>
          <a:p>
            <a:pPr>
              <a:defRPr/>
            </a:pPr>
            <a:fld id="{A4A5644A-7184-4478-A98B-0804BDABBC90}" type="slidenum">
              <a:rPr lang="en-US" smtClean="0"/>
              <a:pPr>
                <a:defRPr/>
              </a:pPr>
              <a:t>42</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Slide Image Placeholder 1"/>
          <p:cNvSpPr>
            <a:spLocks noGrp="1" noRot="1" noChangeAspect="1" noTextEdit="1"/>
          </p:cNvSpPr>
          <p:nvPr>
            <p:ph type="sldImg"/>
          </p:nvPr>
        </p:nvSpPr>
        <p:spPr/>
      </p:sp>
      <p:sp>
        <p:nvSpPr>
          <p:cNvPr id="179203" name="Notes Placeholder 2"/>
          <p:cNvSpPr>
            <a:spLocks noGrp="1"/>
          </p:cNvSpPr>
          <p:nvPr>
            <p:ph type="body" idx="1"/>
          </p:nvPr>
        </p:nvSpPr>
        <p:spPr>
          <a:noFill/>
          <a:ln/>
        </p:spPr>
        <p:txBody>
          <a:bodyPr/>
          <a:lstStyle/>
          <a:p>
            <a:r>
              <a:rPr lang="en-US" dirty="0" err="1" smtClean="0"/>
              <a:t>ScaLAPACK</a:t>
            </a:r>
            <a:r>
              <a:rPr lang="en-US" dirty="0" smtClean="0"/>
              <a:t> assumes best block size chosen</a:t>
            </a:r>
          </a:p>
          <a:p>
            <a:r>
              <a:rPr lang="en-US" dirty="0" smtClean="0"/>
              <a:t>Many references, green are ours</a:t>
            </a:r>
          </a:p>
        </p:txBody>
      </p:sp>
      <p:sp>
        <p:nvSpPr>
          <p:cNvPr id="4" name="Footer Placeholder 3"/>
          <p:cNvSpPr>
            <a:spLocks noGrp="1"/>
          </p:cNvSpPr>
          <p:nvPr>
            <p:ph type="ftr" sz="quarter" idx="4"/>
          </p:nvPr>
        </p:nvSpPr>
        <p:spPr/>
        <p:txBody>
          <a:bodyPr/>
          <a:lstStyle/>
          <a:p>
            <a:pPr>
              <a:defRPr/>
            </a:pPr>
            <a:r>
              <a:rPr lang="en-US" smtClean="0"/>
              <a:t>CS267 Lecture 2</a:t>
            </a:r>
            <a:endParaRPr lang="en-US"/>
          </a:p>
        </p:txBody>
      </p:sp>
      <p:sp>
        <p:nvSpPr>
          <p:cNvPr id="5" name="Slide Number Placeholder 4"/>
          <p:cNvSpPr>
            <a:spLocks noGrp="1"/>
          </p:cNvSpPr>
          <p:nvPr>
            <p:ph type="sldNum" sz="quarter" idx="5"/>
          </p:nvPr>
        </p:nvSpPr>
        <p:spPr/>
        <p:txBody>
          <a:bodyPr/>
          <a:lstStyle/>
          <a:p>
            <a:pPr>
              <a:defRPr/>
            </a:pPr>
            <a:fld id="{A4A5644A-7184-4478-A98B-0804BDABBC90}" type="slidenum">
              <a:rPr lang="en-US" smtClean="0"/>
              <a:pPr>
                <a:defRPr/>
              </a:pPr>
              <a:t>43</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Slide Image Placeholder 1"/>
          <p:cNvSpPr>
            <a:spLocks noGrp="1" noRot="1" noChangeAspect="1" noTextEdit="1"/>
          </p:cNvSpPr>
          <p:nvPr>
            <p:ph type="sldImg"/>
          </p:nvPr>
        </p:nvSpPr>
        <p:spPr/>
      </p:sp>
      <p:sp>
        <p:nvSpPr>
          <p:cNvPr id="179203" name="Notes Placeholder 2"/>
          <p:cNvSpPr>
            <a:spLocks noGrp="1"/>
          </p:cNvSpPr>
          <p:nvPr>
            <p:ph type="body" idx="1"/>
          </p:nvPr>
        </p:nvSpPr>
        <p:spPr>
          <a:noFill/>
          <a:ln/>
        </p:spPr>
        <p:txBody>
          <a:bodyPr/>
          <a:lstStyle/>
          <a:p>
            <a:r>
              <a:rPr lang="en-US" dirty="0" err="1" smtClean="0"/>
              <a:t>ScaLAPACK</a:t>
            </a:r>
            <a:r>
              <a:rPr lang="en-US" dirty="0" smtClean="0"/>
              <a:t> assumes best block size chosen</a:t>
            </a:r>
          </a:p>
          <a:p>
            <a:r>
              <a:rPr lang="en-US" dirty="0" smtClean="0"/>
              <a:t>Many references, green are ours</a:t>
            </a:r>
          </a:p>
        </p:txBody>
      </p:sp>
      <p:sp>
        <p:nvSpPr>
          <p:cNvPr id="4" name="Footer Placeholder 3"/>
          <p:cNvSpPr>
            <a:spLocks noGrp="1"/>
          </p:cNvSpPr>
          <p:nvPr>
            <p:ph type="ftr" sz="quarter" idx="4"/>
          </p:nvPr>
        </p:nvSpPr>
        <p:spPr/>
        <p:txBody>
          <a:bodyPr/>
          <a:lstStyle/>
          <a:p>
            <a:pPr>
              <a:defRPr/>
            </a:pPr>
            <a:r>
              <a:rPr lang="en-US" smtClean="0"/>
              <a:t>CS267 Lecture 2</a:t>
            </a:r>
            <a:endParaRPr lang="en-US"/>
          </a:p>
        </p:txBody>
      </p:sp>
      <p:sp>
        <p:nvSpPr>
          <p:cNvPr id="5" name="Slide Number Placeholder 4"/>
          <p:cNvSpPr>
            <a:spLocks noGrp="1"/>
          </p:cNvSpPr>
          <p:nvPr>
            <p:ph type="sldNum" sz="quarter" idx="5"/>
          </p:nvPr>
        </p:nvSpPr>
        <p:spPr/>
        <p:txBody>
          <a:bodyPr/>
          <a:lstStyle/>
          <a:p>
            <a:pPr>
              <a:defRPr/>
            </a:pPr>
            <a:fld id="{A4A5644A-7184-4478-A98B-0804BDABBC90}" type="slidenum">
              <a:rPr lang="en-US" smtClean="0"/>
              <a:pPr>
                <a:defRPr/>
              </a:pPr>
              <a:t>44</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Slide Image Placeholder 1"/>
          <p:cNvSpPr>
            <a:spLocks noGrp="1" noRot="1" noChangeAspect="1" noTextEdit="1"/>
          </p:cNvSpPr>
          <p:nvPr>
            <p:ph type="sldImg"/>
          </p:nvPr>
        </p:nvSpPr>
        <p:spPr/>
      </p:sp>
      <p:sp>
        <p:nvSpPr>
          <p:cNvPr id="179203" name="Notes Placeholder 2"/>
          <p:cNvSpPr>
            <a:spLocks noGrp="1"/>
          </p:cNvSpPr>
          <p:nvPr>
            <p:ph type="body" idx="1"/>
          </p:nvPr>
        </p:nvSpPr>
        <p:spPr>
          <a:noFill/>
          <a:ln/>
        </p:spPr>
        <p:txBody>
          <a:bodyPr/>
          <a:lstStyle/>
          <a:p>
            <a:r>
              <a:rPr lang="en-US" dirty="0" err="1" smtClean="0"/>
              <a:t>ScaLAPACK</a:t>
            </a:r>
            <a:r>
              <a:rPr lang="en-US" dirty="0" smtClean="0"/>
              <a:t> assumes best block size chosen</a:t>
            </a:r>
          </a:p>
          <a:p>
            <a:r>
              <a:rPr lang="en-US" dirty="0" smtClean="0"/>
              <a:t>Many references, green are ours</a:t>
            </a:r>
          </a:p>
        </p:txBody>
      </p:sp>
      <p:sp>
        <p:nvSpPr>
          <p:cNvPr id="4" name="Footer Placeholder 3"/>
          <p:cNvSpPr>
            <a:spLocks noGrp="1"/>
          </p:cNvSpPr>
          <p:nvPr>
            <p:ph type="ftr" sz="quarter" idx="4"/>
          </p:nvPr>
        </p:nvSpPr>
        <p:spPr/>
        <p:txBody>
          <a:bodyPr/>
          <a:lstStyle/>
          <a:p>
            <a:pPr>
              <a:defRPr/>
            </a:pPr>
            <a:r>
              <a:rPr lang="en-US" smtClean="0"/>
              <a:t>CS267 Lecture 2</a:t>
            </a:r>
            <a:endParaRPr lang="en-US"/>
          </a:p>
        </p:txBody>
      </p:sp>
      <p:sp>
        <p:nvSpPr>
          <p:cNvPr id="5" name="Slide Number Placeholder 4"/>
          <p:cNvSpPr>
            <a:spLocks noGrp="1"/>
          </p:cNvSpPr>
          <p:nvPr>
            <p:ph type="sldNum" sz="quarter" idx="5"/>
          </p:nvPr>
        </p:nvSpPr>
        <p:spPr/>
        <p:txBody>
          <a:bodyPr/>
          <a:lstStyle/>
          <a:p>
            <a:pPr>
              <a:defRPr/>
            </a:pPr>
            <a:fld id="{A4A5644A-7184-4478-A98B-0804BDABBC90}" type="slidenum">
              <a:rPr lang="en-US" smtClean="0"/>
              <a:pPr>
                <a:defRPr/>
              </a:pPr>
              <a:t>45</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Slide Image Placeholder 1"/>
          <p:cNvSpPr>
            <a:spLocks noGrp="1" noRot="1" noChangeAspect="1" noTextEdit="1"/>
          </p:cNvSpPr>
          <p:nvPr>
            <p:ph type="sldImg"/>
          </p:nvPr>
        </p:nvSpPr>
        <p:spPr/>
      </p:sp>
      <p:sp>
        <p:nvSpPr>
          <p:cNvPr id="179203" name="Notes Placeholder 2"/>
          <p:cNvSpPr>
            <a:spLocks noGrp="1"/>
          </p:cNvSpPr>
          <p:nvPr>
            <p:ph type="body" idx="1"/>
          </p:nvPr>
        </p:nvSpPr>
        <p:spPr>
          <a:noFill/>
          <a:ln/>
        </p:spPr>
        <p:txBody>
          <a:bodyPr/>
          <a:lstStyle/>
          <a:p>
            <a:r>
              <a:rPr lang="en-US" dirty="0" smtClean="0"/>
              <a:t>LU with</a:t>
            </a:r>
            <a:r>
              <a:rPr lang="en-US" baseline="0" dirty="0" smtClean="0"/>
              <a:t> or without pivoting</a:t>
            </a:r>
          </a:p>
          <a:p>
            <a:r>
              <a:rPr lang="en-US" baseline="0" dirty="0" smtClean="0"/>
              <a:t>   With pivoting requires a probabilistic analysis regarding which</a:t>
            </a:r>
          </a:p>
          <a:p>
            <a:r>
              <a:rPr lang="en-US" baseline="0" dirty="0" smtClean="0"/>
              <a:t>      processors own pivot rows; assume reasonably evenly distributed to attain lower bound.</a:t>
            </a:r>
            <a:endParaRPr lang="en-US" dirty="0" smtClean="0"/>
          </a:p>
          <a:p>
            <a:endParaRPr lang="en-US" dirty="0" smtClean="0"/>
          </a:p>
          <a:p>
            <a:endParaRPr lang="en-US" dirty="0" smtClean="0"/>
          </a:p>
          <a:p>
            <a:r>
              <a:rPr lang="en-US" dirty="0" err="1" smtClean="0"/>
              <a:t>ScaLAPACK</a:t>
            </a:r>
            <a:r>
              <a:rPr lang="en-US" dirty="0" smtClean="0"/>
              <a:t> </a:t>
            </a:r>
            <a:r>
              <a:rPr lang="en-US" dirty="0" smtClean="0"/>
              <a:t>assumes best block size chosen</a:t>
            </a:r>
          </a:p>
          <a:p>
            <a:r>
              <a:rPr lang="en-US" dirty="0" smtClean="0"/>
              <a:t>Many references, green are ours</a:t>
            </a:r>
          </a:p>
        </p:txBody>
      </p:sp>
      <p:sp>
        <p:nvSpPr>
          <p:cNvPr id="4" name="Footer Placeholder 3"/>
          <p:cNvSpPr>
            <a:spLocks noGrp="1"/>
          </p:cNvSpPr>
          <p:nvPr>
            <p:ph type="ftr" sz="quarter" idx="4"/>
          </p:nvPr>
        </p:nvSpPr>
        <p:spPr/>
        <p:txBody>
          <a:bodyPr/>
          <a:lstStyle/>
          <a:p>
            <a:pPr>
              <a:defRPr/>
            </a:pPr>
            <a:r>
              <a:rPr lang="en-US" smtClean="0"/>
              <a:t>CS267 Lecture 2</a:t>
            </a:r>
            <a:endParaRPr lang="en-US"/>
          </a:p>
        </p:txBody>
      </p:sp>
      <p:sp>
        <p:nvSpPr>
          <p:cNvPr id="5" name="Slide Number Placeholder 4"/>
          <p:cNvSpPr>
            <a:spLocks noGrp="1"/>
          </p:cNvSpPr>
          <p:nvPr>
            <p:ph type="sldNum" sz="quarter" idx="5"/>
          </p:nvPr>
        </p:nvSpPr>
        <p:spPr/>
        <p:txBody>
          <a:bodyPr/>
          <a:lstStyle/>
          <a:p>
            <a:pPr>
              <a:defRPr/>
            </a:pPr>
            <a:fld id="{A4A5644A-7184-4478-A98B-0804BDABBC90}" type="slidenum">
              <a:rPr lang="en-US" smtClean="0"/>
              <a:pPr>
                <a:defRPr/>
              </a:pPr>
              <a:t>46</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Slide Image Placeholder 1"/>
          <p:cNvSpPr>
            <a:spLocks noGrp="1" noRot="1" noChangeAspect="1" noTextEdit="1"/>
          </p:cNvSpPr>
          <p:nvPr>
            <p:ph type="sldImg"/>
          </p:nvPr>
        </p:nvSpPr>
        <p:spPr>
          <a:ln>
            <a:solidFill>
              <a:srgbClr val="000000"/>
            </a:solidFill>
          </a:ln>
        </p:spPr>
      </p:sp>
      <p:sp>
        <p:nvSpPr>
          <p:cNvPr id="165891" name="Notes Placeholder 2"/>
          <p:cNvSpPr>
            <a:spLocks noGrp="1"/>
          </p:cNvSpPr>
          <p:nvPr>
            <p:ph type="body" idx="1"/>
          </p:nvPr>
        </p:nvSpPr>
        <p:spPr>
          <a:noFill/>
          <a:ln/>
        </p:spPr>
        <p:txBody>
          <a:bodyPr/>
          <a:lstStyle/>
          <a:p>
            <a:pPr eaLnBrk="1" hangingPunct="1">
              <a:spcBef>
                <a:spcPct val="0"/>
              </a:spcBef>
            </a:pPr>
            <a:r>
              <a:rPr lang="en-US" smtClean="0"/>
              <a:t>Does not minimize communication by itself, but does no more communication</a:t>
            </a:r>
          </a:p>
          <a:p>
            <a:pPr eaLnBrk="1" hangingPunct="1">
              <a:spcBef>
                <a:spcPct val="0"/>
              </a:spcBef>
            </a:pPr>
            <a:r>
              <a:rPr lang="en-US" smtClean="0"/>
              <a:t>Than reduction to band form, so overall ok.</a:t>
            </a:r>
          </a:p>
        </p:txBody>
      </p:sp>
      <p:sp>
        <p:nvSpPr>
          <p:cNvPr id="119812" name="Slide Number Placeholder 3"/>
          <p:cNvSpPr>
            <a:spLocks noGrp="1"/>
          </p:cNvSpPr>
          <p:nvPr>
            <p:ph type="sldNum" sz="quarter" idx="5"/>
          </p:nvPr>
        </p:nvSpPr>
        <p:spPr/>
        <p:txBody>
          <a:bodyPr/>
          <a:lstStyle/>
          <a:p>
            <a:pPr>
              <a:defRPr/>
            </a:pPr>
            <a:fld id="{31AD7D8A-8BF6-4EB0-BF0D-34D62664F591}" type="slidenum">
              <a:rPr lang="en-US" smtClean="0"/>
              <a:pPr>
                <a:defRPr/>
              </a:pPr>
              <a:t>48</a:t>
            </a:fld>
            <a:endParaRPr lang="en-US"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Slide Image Placeholder 1"/>
          <p:cNvSpPr>
            <a:spLocks noGrp="1" noRot="1" noChangeAspect="1" noTextEdit="1"/>
          </p:cNvSpPr>
          <p:nvPr>
            <p:ph type="sldImg"/>
          </p:nvPr>
        </p:nvSpPr>
        <p:spPr>
          <a:ln>
            <a:solidFill>
              <a:srgbClr val="000000"/>
            </a:solidFill>
          </a:ln>
        </p:spPr>
      </p:sp>
      <p:sp>
        <p:nvSpPr>
          <p:cNvPr id="166915" name="Notes Placeholder 2"/>
          <p:cNvSpPr>
            <a:spLocks noGrp="1"/>
          </p:cNvSpPr>
          <p:nvPr>
            <p:ph type="body" idx="1"/>
          </p:nvPr>
        </p:nvSpPr>
        <p:spPr>
          <a:noFill/>
          <a:ln/>
        </p:spPr>
        <p:txBody>
          <a:bodyPr/>
          <a:lstStyle/>
          <a:p>
            <a:pPr eaLnBrk="1" hangingPunct="1">
              <a:spcBef>
                <a:spcPct val="0"/>
              </a:spcBef>
            </a:pPr>
            <a:r>
              <a:rPr lang="en-US" smtClean="0"/>
              <a:t>Does not minimize communication by itself, but does no more communication</a:t>
            </a:r>
          </a:p>
          <a:p>
            <a:pPr eaLnBrk="1" hangingPunct="1">
              <a:spcBef>
                <a:spcPct val="0"/>
              </a:spcBef>
            </a:pPr>
            <a:r>
              <a:rPr lang="en-US" smtClean="0"/>
              <a:t>Than reduction to band form, so overall ok.</a:t>
            </a:r>
          </a:p>
        </p:txBody>
      </p:sp>
      <p:sp>
        <p:nvSpPr>
          <p:cNvPr id="120836" name="Slide Number Placeholder 3"/>
          <p:cNvSpPr>
            <a:spLocks noGrp="1"/>
          </p:cNvSpPr>
          <p:nvPr>
            <p:ph type="sldNum" sz="quarter" idx="5"/>
          </p:nvPr>
        </p:nvSpPr>
        <p:spPr/>
        <p:txBody>
          <a:bodyPr/>
          <a:lstStyle/>
          <a:p>
            <a:pPr>
              <a:defRPr/>
            </a:pPr>
            <a:fld id="{9BE9FF54-B6A3-40A4-B147-1C363F82633B}" type="slidenum">
              <a:rPr lang="en-US" smtClean="0"/>
              <a:pPr>
                <a:defRPr/>
              </a:pPr>
              <a:t>49</a:t>
            </a:fld>
            <a:endParaRPr lang="en-US" smtClean="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Slide Image Placeholder 1"/>
          <p:cNvSpPr>
            <a:spLocks noGrp="1" noRot="1" noChangeAspect="1" noTextEdit="1"/>
          </p:cNvSpPr>
          <p:nvPr>
            <p:ph type="sldImg"/>
          </p:nvPr>
        </p:nvSpPr>
        <p:spPr>
          <a:ln>
            <a:solidFill>
              <a:srgbClr val="000000"/>
            </a:solidFill>
          </a:ln>
        </p:spPr>
      </p:sp>
      <p:sp>
        <p:nvSpPr>
          <p:cNvPr id="167939" name="Notes Placeholder 2"/>
          <p:cNvSpPr>
            <a:spLocks noGrp="1"/>
          </p:cNvSpPr>
          <p:nvPr>
            <p:ph type="body" idx="1"/>
          </p:nvPr>
        </p:nvSpPr>
        <p:spPr>
          <a:noFill/>
          <a:ln/>
        </p:spPr>
        <p:txBody>
          <a:bodyPr/>
          <a:lstStyle/>
          <a:p>
            <a:pPr eaLnBrk="1" hangingPunct="1">
              <a:spcBef>
                <a:spcPct val="0"/>
              </a:spcBef>
            </a:pPr>
            <a:r>
              <a:rPr lang="en-US" smtClean="0"/>
              <a:t>Does not minimize communication by itself, but does no more communication</a:t>
            </a:r>
          </a:p>
          <a:p>
            <a:pPr eaLnBrk="1" hangingPunct="1">
              <a:spcBef>
                <a:spcPct val="0"/>
              </a:spcBef>
            </a:pPr>
            <a:r>
              <a:rPr lang="en-US" smtClean="0"/>
              <a:t>Than reduction to band form, so overall ok.</a:t>
            </a:r>
          </a:p>
        </p:txBody>
      </p:sp>
      <p:sp>
        <p:nvSpPr>
          <p:cNvPr id="121860" name="Slide Number Placeholder 3"/>
          <p:cNvSpPr>
            <a:spLocks noGrp="1"/>
          </p:cNvSpPr>
          <p:nvPr>
            <p:ph type="sldNum" sz="quarter" idx="5"/>
          </p:nvPr>
        </p:nvSpPr>
        <p:spPr/>
        <p:txBody>
          <a:bodyPr/>
          <a:lstStyle/>
          <a:p>
            <a:pPr>
              <a:defRPr/>
            </a:pPr>
            <a:fld id="{B500B014-F000-4F71-B848-59D921925BB3}" type="slidenum">
              <a:rPr lang="en-US" smtClean="0"/>
              <a:pPr>
                <a:defRPr/>
              </a:pPr>
              <a:t>50</a:t>
            </a:fld>
            <a:endParaRPr lang="en-US" smtClean="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Slide Image Placeholder 1"/>
          <p:cNvSpPr>
            <a:spLocks noGrp="1" noRot="1" noChangeAspect="1" noTextEdit="1"/>
          </p:cNvSpPr>
          <p:nvPr>
            <p:ph type="sldImg"/>
          </p:nvPr>
        </p:nvSpPr>
        <p:spPr>
          <a:ln>
            <a:solidFill>
              <a:srgbClr val="000000"/>
            </a:solidFill>
          </a:ln>
        </p:spPr>
      </p:sp>
      <p:sp>
        <p:nvSpPr>
          <p:cNvPr id="168963" name="Notes Placeholder 2"/>
          <p:cNvSpPr>
            <a:spLocks noGrp="1"/>
          </p:cNvSpPr>
          <p:nvPr>
            <p:ph type="body" idx="1"/>
          </p:nvPr>
        </p:nvSpPr>
        <p:spPr>
          <a:noFill/>
          <a:ln/>
        </p:spPr>
        <p:txBody>
          <a:bodyPr/>
          <a:lstStyle/>
          <a:p>
            <a:pPr eaLnBrk="1" hangingPunct="1">
              <a:spcBef>
                <a:spcPct val="0"/>
              </a:spcBef>
            </a:pPr>
            <a:r>
              <a:rPr lang="en-US" smtClean="0"/>
              <a:t>Does not minimize communication by itself, but does no more communication</a:t>
            </a:r>
          </a:p>
          <a:p>
            <a:pPr eaLnBrk="1" hangingPunct="1">
              <a:spcBef>
                <a:spcPct val="0"/>
              </a:spcBef>
            </a:pPr>
            <a:r>
              <a:rPr lang="en-US" smtClean="0"/>
              <a:t>Than reduction to band form, so overall ok.</a:t>
            </a:r>
          </a:p>
        </p:txBody>
      </p:sp>
      <p:sp>
        <p:nvSpPr>
          <p:cNvPr id="122884" name="Slide Number Placeholder 3"/>
          <p:cNvSpPr>
            <a:spLocks noGrp="1"/>
          </p:cNvSpPr>
          <p:nvPr>
            <p:ph type="sldNum" sz="quarter" idx="5"/>
          </p:nvPr>
        </p:nvSpPr>
        <p:spPr/>
        <p:txBody>
          <a:bodyPr/>
          <a:lstStyle/>
          <a:p>
            <a:pPr>
              <a:defRPr/>
            </a:pPr>
            <a:fld id="{BB0A7FA8-1DC4-4DED-92C7-3F6CB4A04CB2}" type="slidenum">
              <a:rPr lang="en-US" smtClean="0"/>
              <a:pPr>
                <a:defRPr/>
              </a:pPr>
              <a:t>51</a:t>
            </a:fld>
            <a:endParaRPr lang="en-US" smtClean="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Slide Image Placeholder 1"/>
          <p:cNvSpPr>
            <a:spLocks noGrp="1" noRot="1" noChangeAspect="1" noTextEdit="1"/>
          </p:cNvSpPr>
          <p:nvPr>
            <p:ph type="sldImg"/>
          </p:nvPr>
        </p:nvSpPr>
        <p:spPr>
          <a:ln>
            <a:solidFill>
              <a:srgbClr val="000000"/>
            </a:solidFill>
          </a:ln>
        </p:spPr>
      </p:sp>
      <p:sp>
        <p:nvSpPr>
          <p:cNvPr id="169987" name="Notes Placeholder 2"/>
          <p:cNvSpPr>
            <a:spLocks noGrp="1"/>
          </p:cNvSpPr>
          <p:nvPr>
            <p:ph type="body" idx="1"/>
          </p:nvPr>
        </p:nvSpPr>
        <p:spPr>
          <a:noFill/>
          <a:ln/>
        </p:spPr>
        <p:txBody>
          <a:bodyPr/>
          <a:lstStyle/>
          <a:p>
            <a:pPr eaLnBrk="1" hangingPunct="1">
              <a:spcBef>
                <a:spcPct val="0"/>
              </a:spcBef>
            </a:pPr>
            <a:r>
              <a:rPr lang="en-US" smtClean="0"/>
              <a:t>Does not minimize communication by itself, but does no more communication</a:t>
            </a:r>
          </a:p>
          <a:p>
            <a:pPr eaLnBrk="1" hangingPunct="1">
              <a:spcBef>
                <a:spcPct val="0"/>
              </a:spcBef>
            </a:pPr>
            <a:r>
              <a:rPr lang="en-US" smtClean="0"/>
              <a:t>Than reduction to band form, so overall ok.</a:t>
            </a:r>
          </a:p>
        </p:txBody>
      </p:sp>
      <p:sp>
        <p:nvSpPr>
          <p:cNvPr id="123908" name="Slide Number Placeholder 3"/>
          <p:cNvSpPr>
            <a:spLocks noGrp="1"/>
          </p:cNvSpPr>
          <p:nvPr>
            <p:ph type="sldNum" sz="quarter" idx="5"/>
          </p:nvPr>
        </p:nvSpPr>
        <p:spPr/>
        <p:txBody>
          <a:bodyPr/>
          <a:lstStyle/>
          <a:p>
            <a:pPr>
              <a:defRPr/>
            </a:pPr>
            <a:fld id="{A1F3359B-98D9-4527-8DCE-805369ABF3F9}" type="slidenum">
              <a:rPr lang="en-US" smtClean="0"/>
              <a:pPr>
                <a:defRPr/>
              </a:pPr>
              <a:t>52</a:t>
            </a:fld>
            <a:endParaRPr lang="en-US" smtClean="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Slide Image Placeholder 1"/>
          <p:cNvSpPr>
            <a:spLocks noGrp="1" noRot="1" noChangeAspect="1" noTextEdit="1"/>
          </p:cNvSpPr>
          <p:nvPr>
            <p:ph type="sldImg"/>
          </p:nvPr>
        </p:nvSpPr>
        <p:spPr>
          <a:ln>
            <a:solidFill>
              <a:srgbClr val="000000"/>
            </a:solidFill>
          </a:ln>
        </p:spPr>
      </p:sp>
      <p:sp>
        <p:nvSpPr>
          <p:cNvPr id="171011" name="Notes Placeholder 2"/>
          <p:cNvSpPr>
            <a:spLocks noGrp="1"/>
          </p:cNvSpPr>
          <p:nvPr>
            <p:ph type="body" idx="1"/>
          </p:nvPr>
        </p:nvSpPr>
        <p:spPr>
          <a:noFill/>
          <a:ln/>
        </p:spPr>
        <p:txBody>
          <a:bodyPr/>
          <a:lstStyle/>
          <a:p>
            <a:pPr eaLnBrk="1" hangingPunct="1">
              <a:spcBef>
                <a:spcPct val="0"/>
              </a:spcBef>
            </a:pPr>
            <a:r>
              <a:rPr lang="en-US" smtClean="0"/>
              <a:t>Does not minimize communication by itself, but does no more communication</a:t>
            </a:r>
          </a:p>
          <a:p>
            <a:pPr eaLnBrk="1" hangingPunct="1">
              <a:spcBef>
                <a:spcPct val="0"/>
              </a:spcBef>
            </a:pPr>
            <a:r>
              <a:rPr lang="en-US" smtClean="0"/>
              <a:t>Than reduction to band form, so overall ok.</a:t>
            </a:r>
          </a:p>
        </p:txBody>
      </p:sp>
      <p:sp>
        <p:nvSpPr>
          <p:cNvPr id="124932" name="Slide Number Placeholder 3"/>
          <p:cNvSpPr>
            <a:spLocks noGrp="1"/>
          </p:cNvSpPr>
          <p:nvPr>
            <p:ph type="sldNum" sz="quarter" idx="5"/>
          </p:nvPr>
        </p:nvSpPr>
        <p:spPr/>
        <p:txBody>
          <a:bodyPr/>
          <a:lstStyle/>
          <a:p>
            <a:pPr>
              <a:defRPr/>
            </a:pPr>
            <a:fld id="{233CD03D-6859-43B0-83E2-B00E9D07A016}" type="slidenum">
              <a:rPr lang="en-US" smtClean="0"/>
              <a:pPr>
                <a:defRPr/>
              </a:pPr>
              <a:t>53</a:t>
            </a:fld>
            <a:endParaRPr lang="en-US" smtClean="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Slide Image Placeholder 1"/>
          <p:cNvSpPr>
            <a:spLocks noGrp="1" noRot="1" noChangeAspect="1" noTextEdit="1"/>
          </p:cNvSpPr>
          <p:nvPr>
            <p:ph type="sldImg"/>
          </p:nvPr>
        </p:nvSpPr>
        <p:spPr>
          <a:ln>
            <a:solidFill>
              <a:srgbClr val="000000"/>
            </a:solidFill>
          </a:ln>
        </p:spPr>
      </p:sp>
      <p:sp>
        <p:nvSpPr>
          <p:cNvPr id="172035" name="Notes Placeholder 2"/>
          <p:cNvSpPr>
            <a:spLocks noGrp="1"/>
          </p:cNvSpPr>
          <p:nvPr>
            <p:ph type="body" idx="1"/>
          </p:nvPr>
        </p:nvSpPr>
        <p:spPr>
          <a:noFill/>
          <a:ln/>
        </p:spPr>
        <p:txBody>
          <a:bodyPr/>
          <a:lstStyle/>
          <a:p>
            <a:pPr eaLnBrk="1" hangingPunct="1">
              <a:spcBef>
                <a:spcPct val="0"/>
              </a:spcBef>
            </a:pPr>
            <a:r>
              <a:rPr lang="en-US" smtClean="0"/>
              <a:t>Does not minimize communication by itself, but does no more communication</a:t>
            </a:r>
          </a:p>
          <a:p>
            <a:pPr eaLnBrk="1" hangingPunct="1">
              <a:spcBef>
                <a:spcPct val="0"/>
              </a:spcBef>
            </a:pPr>
            <a:r>
              <a:rPr lang="en-US" smtClean="0"/>
              <a:t>Than reduction to band form, so overall ok.</a:t>
            </a:r>
          </a:p>
        </p:txBody>
      </p:sp>
      <p:sp>
        <p:nvSpPr>
          <p:cNvPr id="125956" name="Slide Number Placeholder 3"/>
          <p:cNvSpPr>
            <a:spLocks noGrp="1"/>
          </p:cNvSpPr>
          <p:nvPr>
            <p:ph type="sldNum" sz="quarter" idx="5"/>
          </p:nvPr>
        </p:nvSpPr>
        <p:spPr/>
        <p:txBody>
          <a:bodyPr/>
          <a:lstStyle/>
          <a:p>
            <a:pPr>
              <a:defRPr/>
            </a:pPr>
            <a:fld id="{AC32962B-53A6-49A0-8DBF-A5F35AD28C73}" type="slidenum">
              <a:rPr lang="en-US" smtClean="0"/>
              <a:pPr>
                <a:defRPr/>
              </a:pPr>
              <a:t>54</a:t>
            </a:fld>
            <a:endParaRPr lang="en-US" smtClean="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Slide Image Placeholder 1"/>
          <p:cNvSpPr>
            <a:spLocks noGrp="1" noRot="1" noChangeAspect="1" noTextEdit="1"/>
          </p:cNvSpPr>
          <p:nvPr>
            <p:ph type="sldImg"/>
          </p:nvPr>
        </p:nvSpPr>
        <p:spPr>
          <a:ln>
            <a:solidFill>
              <a:srgbClr val="000000"/>
            </a:solidFill>
          </a:ln>
        </p:spPr>
      </p:sp>
      <p:sp>
        <p:nvSpPr>
          <p:cNvPr id="173059" name="Notes Placeholder 2"/>
          <p:cNvSpPr>
            <a:spLocks noGrp="1"/>
          </p:cNvSpPr>
          <p:nvPr>
            <p:ph type="body" idx="1"/>
          </p:nvPr>
        </p:nvSpPr>
        <p:spPr>
          <a:noFill/>
          <a:ln/>
        </p:spPr>
        <p:txBody>
          <a:bodyPr/>
          <a:lstStyle/>
          <a:p>
            <a:pPr eaLnBrk="1" hangingPunct="1">
              <a:spcBef>
                <a:spcPct val="0"/>
              </a:spcBef>
            </a:pPr>
            <a:r>
              <a:rPr lang="en-US" smtClean="0"/>
              <a:t>Does not minimize communication by itself, but does no more communication</a:t>
            </a:r>
          </a:p>
          <a:p>
            <a:pPr eaLnBrk="1" hangingPunct="1">
              <a:spcBef>
                <a:spcPct val="0"/>
              </a:spcBef>
            </a:pPr>
            <a:r>
              <a:rPr lang="en-US" smtClean="0"/>
              <a:t>Than reduction to band form, so overall ok.</a:t>
            </a:r>
          </a:p>
        </p:txBody>
      </p:sp>
      <p:sp>
        <p:nvSpPr>
          <p:cNvPr id="126980" name="Slide Number Placeholder 3"/>
          <p:cNvSpPr>
            <a:spLocks noGrp="1"/>
          </p:cNvSpPr>
          <p:nvPr>
            <p:ph type="sldNum" sz="quarter" idx="5"/>
          </p:nvPr>
        </p:nvSpPr>
        <p:spPr/>
        <p:txBody>
          <a:bodyPr/>
          <a:lstStyle/>
          <a:p>
            <a:pPr>
              <a:defRPr/>
            </a:pPr>
            <a:fld id="{28D2BF24-3C46-4D5A-991A-0D2A4BCC5590}" type="slidenum">
              <a:rPr lang="en-US" smtClean="0"/>
              <a:pPr>
                <a:defRPr/>
              </a:pPr>
              <a:t>55</a:t>
            </a:fld>
            <a:endParaRPr lang="en-US" smtClean="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Slide Image Placeholder 1"/>
          <p:cNvSpPr>
            <a:spLocks noGrp="1" noRot="1" noChangeAspect="1" noTextEdit="1"/>
          </p:cNvSpPr>
          <p:nvPr>
            <p:ph type="sldImg"/>
          </p:nvPr>
        </p:nvSpPr>
        <p:spPr>
          <a:ln>
            <a:solidFill>
              <a:srgbClr val="000000"/>
            </a:solidFill>
          </a:ln>
        </p:spPr>
      </p:sp>
      <p:sp>
        <p:nvSpPr>
          <p:cNvPr id="174083" name="Notes Placeholder 2"/>
          <p:cNvSpPr>
            <a:spLocks noGrp="1"/>
          </p:cNvSpPr>
          <p:nvPr>
            <p:ph type="body" idx="1"/>
          </p:nvPr>
        </p:nvSpPr>
        <p:spPr>
          <a:noFill/>
          <a:ln/>
        </p:spPr>
        <p:txBody>
          <a:bodyPr/>
          <a:lstStyle/>
          <a:p>
            <a:pPr eaLnBrk="1" hangingPunct="1">
              <a:spcBef>
                <a:spcPct val="0"/>
              </a:spcBef>
            </a:pPr>
            <a:r>
              <a:rPr lang="en-US" smtClean="0"/>
              <a:t>Does not minimize communication by itself, but does no more communication</a:t>
            </a:r>
          </a:p>
          <a:p>
            <a:pPr eaLnBrk="1" hangingPunct="1">
              <a:spcBef>
                <a:spcPct val="0"/>
              </a:spcBef>
            </a:pPr>
            <a:r>
              <a:rPr lang="en-US" smtClean="0"/>
              <a:t>Than reduction to band form, so overall ok.</a:t>
            </a:r>
          </a:p>
        </p:txBody>
      </p:sp>
      <p:sp>
        <p:nvSpPr>
          <p:cNvPr id="128004" name="Slide Number Placeholder 3"/>
          <p:cNvSpPr>
            <a:spLocks noGrp="1"/>
          </p:cNvSpPr>
          <p:nvPr>
            <p:ph type="sldNum" sz="quarter" idx="5"/>
          </p:nvPr>
        </p:nvSpPr>
        <p:spPr/>
        <p:txBody>
          <a:bodyPr/>
          <a:lstStyle/>
          <a:p>
            <a:pPr>
              <a:defRPr/>
            </a:pPr>
            <a:fld id="{A98892B8-4093-43C7-AAD7-5779B63F36DC}" type="slidenum">
              <a:rPr lang="en-US" smtClean="0"/>
              <a:pPr>
                <a:defRPr/>
              </a:pPr>
              <a:t>56</a:t>
            </a:fld>
            <a:endParaRPr lang="en-US" smtClean="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Slide Image Placeholder 1"/>
          <p:cNvSpPr>
            <a:spLocks noGrp="1" noRot="1" noChangeAspect="1" noTextEdit="1"/>
          </p:cNvSpPr>
          <p:nvPr>
            <p:ph type="sldImg"/>
          </p:nvPr>
        </p:nvSpPr>
        <p:spPr>
          <a:ln>
            <a:solidFill>
              <a:srgbClr val="000000"/>
            </a:solidFill>
          </a:ln>
        </p:spPr>
      </p:sp>
      <p:sp>
        <p:nvSpPr>
          <p:cNvPr id="175107" name="Notes Placeholder 2"/>
          <p:cNvSpPr>
            <a:spLocks noGrp="1"/>
          </p:cNvSpPr>
          <p:nvPr>
            <p:ph type="body" idx="1"/>
          </p:nvPr>
        </p:nvSpPr>
        <p:spPr>
          <a:noFill/>
          <a:ln/>
        </p:spPr>
        <p:txBody>
          <a:bodyPr/>
          <a:lstStyle/>
          <a:p>
            <a:pPr eaLnBrk="1" hangingPunct="1">
              <a:spcBef>
                <a:spcPct val="0"/>
              </a:spcBef>
            </a:pPr>
            <a:r>
              <a:rPr lang="en-US" smtClean="0"/>
              <a:t>Does not minimize communication by itself, but does no more communication</a:t>
            </a:r>
          </a:p>
          <a:p>
            <a:pPr eaLnBrk="1" hangingPunct="1">
              <a:spcBef>
                <a:spcPct val="0"/>
              </a:spcBef>
            </a:pPr>
            <a:r>
              <a:rPr lang="en-US" smtClean="0"/>
              <a:t>Than reduction to band form, so overall ok.</a:t>
            </a:r>
          </a:p>
        </p:txBody>
      </p:sp>
      <p:sp>
        <p:nvSpPr>
          <p:cNvPr id="129028" name="Slide Number Placeholder 3"/>
          <p:cNvSpPr>
            <a:spLocks noGrp="1"/>
          </p:cNvSpPr>
          <p:nvPr>
            <p:ph type="sldNum" sz="quarter" idx="5"/>
          </p:nvPr>
        </p:nvSpPr>
        <p:spPr/>
        <p:txBody>
          <a:bodyPr/>
          <a:lstStyle/>
          <a:p>
            <a:pPr>
              <a:defRPr/>
            </a:pPr>
            <a:fld id="{2CC74807-8E5E-43FF-9C86-00858955F3A5}" type="slidenum">
              <a:rPr lang="en-US" smtClean="0"/>
              <a:pPr>
                <a:defRPr/>
              </a:pPr>
              <a:t>57</a:t>
            </a:fld>
            <a:endParaRPr lang="en-US" smtClean="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Slide Image Placeholder 1"/>
          <p:cNvSpPr>
            <a:spLocks noGrp="1" noRot="1" noChangeAspect="1" noTextEdit="1"/>
          </p:cNvSpPr>
          <p:nvPr>
            <p:ph type="sldImg"/>
          </p:nvPr>
        </p:nvSpPr>
        <p:spPr>
          <a:ln>
            <a:solidFill>
              <a:srgbClr val="000000"/>
            </a:solidFill>
          </a:ln>
        </p:spPr>
      </p:sp>
      <p:sp>
        <p:nvSpPr>
          <p:cNvPr id="176131" name="Notes Placeholder 2"/>
          <p:cNvSpPr>
            <a:spLocks noGrp="1"/>
          </p:cNvSpPr>
          <p:nvPr>
            <p:ph type="body" idx="1"/>
          </p:nvPr>
        </p:nvSpPr>
        <p:spPr>
          <a:noFill/>
          <a:ln/>
        </p:spPr>
        <p:txBody>
          <a:bodyPr/>
          <a:lstStyle/>
          <a:p>
            <a:pPr eaLnBrk="1" hangingPunct="1">
              <a:spcBef>
                <a:spcPct val="0"/>
              </a:spcBef>
            </a:pPr>
            <a:r>
              <a:rPr lang="en-US" smtClean="0"/>
              <a:t>Does not minimize communication by itself, but does no more communication</a:t>
            </a:r>
          </a:p>
          <a:p>
            <a:pPr eaLnBrk="1" hangingPunct="1">
              <a:spcBef>
                <a:spcPct val="0"/>
              </a:spcBef>
            </a:pPr>
            <a:r>
              <a:rPr lang="en-US" smtClean="0"/>
              <a:t>Than reduction to band form, so overall ok.</a:t>
            </a:r>
          </a:p>
        </p:txBody>
      </p:sp>
      <p:sp>
        <p:nvSpPr>
          <p:cNvPr id="130052" name="Slide Number Placeholder 3"/>
          <p:cNvSpPr>
            <a:spLocks noGrp="1"/>
          </p:cNvSpPr>
          <p:nvPr>
            <p:ph type="sldNum" sz="quarter" idx="5"/>
          </p:nvPr>
        </p:nvSpPr>
        <p:spPr/>
        <p:txBody>
          <a:bodyPr/>
          <a:lstStyle/>
          <a:p>
            <a:pPr>
              <a:defRPr/>
            </a:pPr>
            <a:fld id="{5289BA0A-0901-414A-AA2E-FBAD67D7DF8B}" type="slidenum">
              <a:rPr lang="en-US" smtClean="0"/>
              <a:pPr>
                <a:defRPr/>
              </a:pPr>
              <a:t>58</a:t>
            </a:fld>
            <a:endParaRPr lang="en-US" smtClean="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Rot="1" noChangeAspect="1" noChangeArrowheads="1" noTextEdit="1"/>
          </p:cNvSpPr>
          <p:nvPr>
            <p:ph type="sldImg"/>
          </p:nvPr>
        </p:nvSpPr>
        <p:spPr/>
      </p:sp>
      <p:sp>
        <p:nvSpPr>
          <p:cNvPr id="70659" name="Rectangle 3"/>
          <p:cNvSpPr>
            <a:spLocks noGrp="1" noChangeArrowheads="1"/>
          </p:cNvSpPr>
          <p:nvPr>
            <p:ph type="body" idx="1"/>
          </p:nvPr>
        </p:nvSpPr>
        <p:spPr>
          <a:noFill/>
        </p:spPr>
        <p:txBody>
          <a:bodyPr/>
          <a:lstStyle/>
          <a:p>
            <a:endParaRPr lang="en-US" dirty="0" smtClean="0">
              <a:latin typeface="Arial"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1" eaLnBrk="1" hangingPunct="1">
              <a:lnSpc>
                <a:spcPct val="80000"/>
              </a:lnSpc>
              <a:defRPr/>
            </a:pPr>
            <a:r>
              <a:rPr lang="en-US" sz="2000" dirty="0" smtClean="0"/>
              <a:t>Well</a:t>
            </a:r>
            <a:r>
              <a:rPr lang="en-US" sz="2000" baseline="0" dirty="0" smtClean="0"/>
              <a:t> – partitioned = </a:t>
            </a:r>
            <a:r>
              <a:rPr lang="en-US" sz="2000" dirty="0" smtClean="0"/>
              <a:t> modest surface-to-volume ratio</a:t>
            </a:r>
            <a:endParaRPr lang="en-US" sz="1900" dirty="0" smtClean="0"/>
          </a:p>
          <a:p>
            <a:pPr lvl="1" eaLnBrk="1" hangingPunct="1">
              <a:lnSpc>
                <a:spcPct val="80000"/>
              </a:lnSpc>
              <a:defRPr/>
            </a:pPr>
            <a:r>
              <a:rPr lang="en-US" sz="1900" dirty="0" smtClean="0"/>
              <a:t>See bebop.cs.berkeley.edu</a:t>
            </a:r>
          </a:p>
          <a:p>
            <a:pPr lvl="1" eaLnBrk="1" hangingPunct="1">
              <a:lnSpc>
                <a:spcPct val="80000"/>
              </a:lnSpc>
              <a:defRPr/>
            </a:pPr>
            <a:r>
              <a:rPr lang="en-US" sz="1900" dirty="0" smtClean="0"/>
              <a:t>CG: [van Rosendale, 83], [</a:t>
            </a:r>
            <a:r>
              <a:rPr lang="en-US" sz="1900" dirty="0" err="1" smtClean="0"/>
              <a:t>Chronopoulos</a:t>
            </a:r>
            <a:r>
              <a:rPr lang="en-US" sz="1900" dirty="0" smtClean="0"/>
              <a:t> and Gear, 89]</a:t>
            </a:r>
          </a:p>
          <a:p>
            <a:pPr lvl="1" eaLnBrk="1" hangingPunct="1">
              <a:lnSpc>
                <a:spcPct val="80000"/>
              </a:lnSpc>
              <a:defRPr/>
            </a:pPr>
            <a:r>
              <a:rPr lang="en-US" sz="1900" dirty="0" smtClean="0"/>
              <a:t>GMRES: [Walker, 88], [</a:t>
            </a:r>
            <a:r>
              <a:rPr lang="en-US" sz="1900" dirty="0" err="1" smtClean="0"/>
              <a:t>Joubert</a:t>
            </a:r>
            <a:r>
              <a:rPr lang="en-US" sz="1900" dirty="0" smtClean="0"/>
              <a:t> and Carey, 92], [</a:t>
            </a:r>
            <a:r>
              <a:rPr lang="en-US" sz="1900" dirty="0" err="1" smtClean="0"/>
              <a:t>Bai</a:t>
            </a:r>
            <a:r>
              <a:rPr lang="en-US" sz="1900" dirty="0" smtClean="0"/>
              <a:t> et al., 94]</a:t>
            </a:r>
            <a:endParaRPr lang="en-US" dirty="0"/>
          </a:p>
        </p:txBody>
      </p:sp>
      <p:sp>
        <p:nvSpPr>
          <p:cNvPr id="4" name="Slide Number Placeholder 3"/>
          <p:cNvSpPr>
            <a:spLocks noGrp="1"/>
          </p:cNvSpPr>
          <p:nvPr>
            <p:ph type="sldNum" sz="quarter" idx="10"/>
          </p:nvPr>
        </p:nvSpPr>
        <p:spPr/>
        <p:txBody>
          <a:bodyPr/>
          <a:lstStyle/>
          <a:p>
            <a:fld id="{69BDC26A-4628-467A-BDD3-FE7E900548B0}" type="slidenum">
              <a:rPr lang="en-US" smtClean="0"/>
              <a:pPr/>
              <a:t>64</a:t>
            </a:fld>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C. J. Pfeifer, Data flow and storage allocation for the PDQ-5 program</a:t>
            </a:r>
            <a:br>
              <a:rPr lang="en-US" dirty="0" smtClean="0"/>
            </a:br>
            <a:r>
              <a:rPr lang="en-US" dirty="0" smtClean="0"/>
              <a:t>on the Philco-2000, Comm. ACM 6, No. 7 (1963), 365366.</a:t>
            </a:r>
          </a:p>
          <a:p>
            <a:endParaRPr lang="en-US" dirty="0" smtClean="0"/>
          </a:p>
          <a:p>
            <a:r>
              <a:rPr lang="en-US" dirty="0" smtClean="0"/>
              <a:t>Referred to in paper by </a:t>
            </a:r>
            <a:r>
              <a:rPr lang="en-US" dirty="0" err="1" smtClean="0"/>
              <a:t>Leiserson</a:t>
            </a:r>
            <a:r>
              <a:rPr lang="en-US" dirty="0" smtClean="0"/>
              <a:t>/</a:t>
            </a:r>
            <a:r>
              <a:rPr lang="en-US" dirty="0" err="1" smtClean="0"/>
              <a:t>Rao</a:t>
            </a:r>
            <a:r>
              <a:rPr lang="en-US" dirty="0" smtClean="0"/>
              <a:t>/Toledo/ in 1993 paper </a:t>
            </a:r>
            <a:r>
              <a:rPr lang="en-US" smtClean="0"/>
              <a:t>on blocking covers</a:t>
            </a:r>
            <a:endParaRPr lang="en-US" dirty="0"/>
          </a:p>
        </p:txBody>
      </p:sp>
      <p:sp>
        <p:nvSpPr>
          <p:cNvPr id="4" name="Slide Number Placeholder 3"/>
          <p:cNvSpPr>
            <a:spLocks noGrp="1"/>
          </p:cNvSpPr>
          <p:nvPr>
            <p:ph type="sldNum" sz="quarter" idx="10"/>
          </p:nvPr>
        </p:nvSpPr>
        <p:spPr/>
        <p:txBody>
          <a:bodyPr/>
          <a:lstStyle/>
          <a:p>
            <a:fld id="{69BDC26A-4628-467A-BDD3-FE7E900548B0}" type="slidenum">
              <a:rPr lang="en-US" smtClean="0"/>
              <a:pPr/>
              <a:t>65</a:t>
            </a:fld>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Slide Image Placeholder 1"/>
          <p:cNvSpPr>
            <a:spLocks noGrp="1" noRot="1" noChangeAspect="1" noTextEdit="1"/>
          </p:cNvSpPr>
          <p:nvPr>
            <p:ph type="sldImg"/>
          </p:nvPr>
        </p:nvSpPr>
        <p:spPr/>
      </p:sp>
      <p:sp>
        <p:nvSpPr>
          <p:cNvPr id="58371" name="Notes Placeholder 2"/>
          <p:cNvSpPr>
            <a:spLocks noGrp="1"/>
          </p:cNvSpPr>
          <p:nvPr>
            <p:ph type="body" idx="1"/>
          </p:nvPr>
        </p:nvSpPr>
        <p:spPr>
          <a:noFill/>
          <a:ln/>
        </p:spPr>
        <p:txBody>
          <a:bodyPr/>
          <a:lstStyle/>
          <a:p>
            <a:pPr eaLnBrk="1" hangingPunct="1">
              <a:spcBef>
                <a:spcPct val="0"/>
              </a:spcBef>
            </a:pPr>
            <a:r>
              <a:rPr lang="en-US" smtClean="0"/>
              <a:t>Red needed for k=1</a:t>
            </a:r>
          </a:p>
          <a:p>
            <a:pPr eaLnBrk="1" hangingPunct="1">
              <a:spcBef>
                <a:spcPct val="0"/>
              </a:spcBef>
            </a:pPr>
            <a:r>
              <a:rPr lang="en-US" smtClean="0"/>
              <a:t>Green also needed for k=2</a:t>
            </a:r>
          </a:p>
          <a:p>
            <a:pPr eaLnBrk="1" hangingPunct="1">
              <a:spcBef>
                <a:spcPct val="0"/>
              </a:spcBef>
            </a:pPr>
            <a:r>
              <a:rPr lang="en-US" smtClean="0"/>
              <a:t>Blue also needed for k=3</a:t>
            </a:r>
          </a:p>
        </p:txBody>
      </p:sp>
      <p:sp>
        <p:nvSpPr>
          <p:cNvPr id="303108" name="Slide Number Placeholder 3"/>
          <p:cNvSpPr>
            <a:spLocks noGrp="1"/>
          </p:cNvSpPr>
          <p:nvPr>
            <p:ph type="sldNum" sz="quarter" idx="5"/>
          </p:nvPr>
        </p:nvSpPr>
        <p:spPr/>
        <p:txBody>
          <a:bodyPr/>
          <a:lstStyle/>
          <a:p>
            <a:pPr defTabSz="893992">
              <a:defRPr/>
            </a:pPr>
            <a:fld id="{9D58864D-29E8-4E5F-9B53-C24FEDD6ADF1}" type="slidenum">
              <a:rPr lang="en-US" smtClean="0"/>
              <a:pPr defTabSz="893992">
                <a:defRPr/>
              </a:pPr>
              <a:t>77</a:t>
            </a:fld>
            <a:endParaRPr lang="en-US" dirty="0" smtClean="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Slide Image Placeholder 1"/>
          <p:cNvSpPr>
            <a:spLocks noGrp="1" noRot="1" noChangeAspect="1" noTextEdit="1"/>
          </p:cNvSpPr>
          <p:nvPr>
            <p:ph type="sldImg"/>
          </p:nvPr>
        </p:nvSpPr>
        <p:spPr/>
      </p:sp>
      <p:sp>
        <p:nvSpPr>
          <p:cNvPr id="92163" name="Notes Placeholder 2"/>
          <p:cNvSpPr>
            <a:spLocks noGrp="1"/>
          </p:cNvSpPr>
          <p:nvPr>
            <p:ph type="body" idx="1"/>
          </p:nvPr>
        </p:nvSpPr>
        <p:spPr>
          <a:noFill/>
          <a:ln/>
        </p:spPr>
        <p:txBody>
          <a:bodyPr/>
          <a:lstStyle/>
          <a:p>
            <a:r>
              <a:rPr lang="en-US" smtClean="0">
                <a:latin typeface="Arial" charset="0"/>
              </a:rPr>
              <a:t>All true for dense or sparse, LU, Cholesky (complete or incomplete),</a:t>
            </a:r>
          </a:p>
          <a:p>
            <a:r>
              <a:rPr lang="en-US" smtClean="0">
                <a:latin typeface="Arial" charset="0"/>
              </a:rPr>
              <a:t>And we also believe QR</a:t>
            </a:r>
          </a:p>
        </p:txBody>
      </p:sp>
      <p:sp>
        <p:nvSpPr>
          <p:cNvPr id="58372" name="Footer Placeholder 3"/>
          <p:cNvSpPr>
            <a:spLocks noGrp="1"/>
          </p:cNvSpPr>
          <p:nvPr>
            <p:ph type="ftr" sz="quarter" idx="4"/>
          </p:nvPr>
        </p:nvSpPr>
        <p:spPr/>
        <p:txBody>
          <a:bodyPr/>
          <a:lstStyle/>
          <a:p>
            <a:pPr>
              <a:defRPr/>
            </a:pPr>
            <a:r>
              <a:rPr lang="en-US" smtClean="0"/>
              <a:t>CS267 Lecture 2</a:t>
            </a:r>
          </a:p>
        </p:txBody>
      </p:sp>
      <p:sp>
        <p:nvSpPr>
          <p:cNvPr id="58373" name="Slide Number Placeholder 4"/>
          <p:cNvSpPr>
            <a:spLocks noGrp="1"/>
          </p:cNvSpPr>
          <p:nvPr>
            <p:ph type="sldNum" sz="quarter" idx="5"/>
          </p:nvPr>
        </p:nvSpPr>
        <p:spPr/>
        <p:txBody>
          <a:bodyPr/>
          <a:lstStyle/>
          <a:p>
            <a:pPr>
              <a:defRPr/>
            </a:pPr>
            <a:fld id="{EA6D342E-4F0E-444C-B824-6E5F4CE7B63A}" type="slidenum">
              <a:rPr lang="en-US" smtClean="0"/>
              <a:pPr>
                <a:defRPr/>
              </a:pPr>
              <a:t>89</a:t>
            </a:fld>
            <a:endParaRPr lang="en-US" smtClean="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Slide Image Placeholder 1"/>
          <p:cNvSpPr>
            <a:spLocks noGrp="1" noRot="1" noChangeAspect="1" noTextEdit="1"/>
          </p:cNvSpPr>
          <p:nvPr>
            <p:ph type="sldImg"/>
          </p:nvPr>
        </p:nvSpPr>
        <p:spPr/>
      </p:sp>
      <p:sp>
        <p:nvSpPr>
          <p:cNvPr id="179203" name="Notes Placeholder 2"/>
          <p:cNvSpPr>
            <a:spLocks noGrp="1"/>
          </p:cNvSpPr>
          <p:nvPr>
            <p:ph type="body" idx="1"/>
          </p:nvPr>
        </p:nvSpPr>
        <p:spPr>
          <a:noFill/>
          <a:ln/>
        </p:spPr>
        <p:txBody>
          <a:bodyPr/>
          <a:lstStyle/>
          <a:p>
            <a:r>
              <a:rPr lang="en-US" dirty="0" err="1" smtClean="0"/>
              <a:t>ScaLAPACK</a:t>
            </a:r>
            <a:r>
              <a:rPr lang="en-US" dirty="0" smtClean="0"/>
              <a:t> assumes best block size chosen</a:t>
            </a:r>
          </a:p>
          <a:p>
            <a:r>
              <a:rPr lang="en-US" dirty="0" smtClean="0"/>
              <a:t>Many references, green are ours</a:t>
            </a:r>
          </a:p>
        </p:txBody>
      </p:sp>
      <p:sp>
        <p:nvSpPr>
          <p:cNvPr id="4" name="Footer Placeholder 3"/>
          <p:cNvSpPr>
            <a:spLocks noGrp="1"/>
          </p:cNvSpPr>
          <p:nvPr>
            <p:ph type="ftr" sz="quarter" idx="4"/>
          </p:nvPr>
        </p:nvSpPr>
        <p:spPr/>
        <p:txBody>
          <a:bodyPr/>
          <a:lstStyle/>
          <a:p>
            <a:pPr>
              <a:defRPr/>
            </a:pPr>
            <a:r>
              <a:rPr lang="en-US" smtClean="0"/>
              <a:t>CS267 Lecture 2</a:t>
            </a:r>
            <a:endParaRPr lang="en-US"/>
          </a:p>
        </p:txBody>
      </p:sp>
      <p:sp>
        <p:nvSpPr>
          <p:cNvPr id="5" name="Slide Number Placeholder 4"/>
          <p:cNvSpPr>
            <a:spLocks noGrp="1"/>
          </p:cNvSpPr>
          <p:nvPr>
            <p:ph type="sldNum" sz="quarter" idx="5"/>
          </p:nvPr>
        </p:nvSpPr>
        <p:spPr/>
        <p:txBody>
          <a:bodyPr/>
          <a:lstStyle/>
          <a:p>
            <a:pPr>
              <a:defRPr/>
            </a:pPr>
            <a:fld id="{A4A5644A-7184-4478-A98B-0804BDABBC90}" type="slidenum">
              <a:rPr lang="en-US" smtClean="0"/>
              <a:pPr>
                <a:defRPr/>
              </a:pPr>
              <a:t>94</a:t>
            </a:fld>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Slide Image Placeholder 1"/>
          <p:cNvSpPr>
            <a:spLocks noGrp="1" noRot="1" noChangeAspect="1" noTextEdit="1"/>
          </p:cNvSpPr>
          <p:nvPr>
            <p:ph type="sldImg"/>
          </p:nvPr>
        </p:nvSpPr>
        <p:spPr/>
      </p:sp>
      <p:sp>
        <p:nvSpPr>
          <p:cNvPr id="179203" name="Notes Placeholder 2"/>
          <p:cNvSpPr>
            <a:spLocks noGrp="1"/>
          </p:cNvSpPr>
          <p:nvPr>
            <p:ph type="body" idx="1"/>
          </p:nvPr>
        </p:nvSpPr>
        <p:spPr>
          <a:noFill/>
          <a:ln/>
        </p:spPr>
        <p:txBody>
          <a:bodyPr/>
          <a:lstStyle/>
          <a:p>
            <a:r>
              <a:rPr lang="en-US" dirty="0" err="1" smtClean="0"/>
              <a:t>ScaLAPACK</a:t>
            </a:r>
            <a:r>
              <a:rPr lang="en-US" dirty="0" smtClean="0"/>
              <a:t> assumes best block size chosen</a:t>
            </a:r>
          </a:p>
          <a:p>
            <a:r>
              <a:rPr lang="en-US" dirty="0" smtClean="0"/>
              <a:t>Many references, green are ours</a:t>
            </a:r>
          </a:p>
        </p:txBody>
      </p:sp>
      <p:sp>
        <p:nvSpPr>
          <p:cNvPr id="4" name="Footer Placeholder 3"/>
          <p:cNvSpPr>
            <a:spLocks noGrp="1"/>
          </p:cNvSpPr>
          <p:nvPr>
            <p:ph type="ftr" sz="quarter" idx="4"/>
          </p:nvPr>
        </p:nvSpPr>
        <p:spPr/>
        <p:txBody>
          <a:bodyPr/>
          <a:lstStyle/>
          <a:p>
            <a:pPr>
              <a:defRPr/>
            </a:pPr>
            <a:r>
              <a:rPr lang="en-US" smtClean="0"/>
              <a:t>CS267 Lecture 2</a:t>
            </a:r>
            <a:endParaRPr lang="en-US"/>
          </a:p>
        </p:txBody>
      </p:sp>
      <p:sp>
        <p:nvSpPr>
          <p:cNvPr id="5" name="Slide Number Placeholder 4"/>
          <p:cNvSpPr>
            <a:spLocks noGrp="1"/>
          </p:cNvSpPr>
          <p:nvPr>
            <p:ph type="sldNum" sz="quarter" idx="5"/>
          </p:nvPr>
        </p:nvSpPr>
        <p:spPr/>
        <p:txBody>
          <a:bodyPr/>
          <a:lstStyle/>
          <a:p>
            <a:pPr>
              <a:defRPr/>
            </a:pPr>
            <a:fld id="{A4A5644A-7184-4478-A98B-0804BDABBC90}" type="slidenum">
              <a:rPr lang="en-US" smtClean="0"/>
              <a:pPr>
                <a:defRPr/>
              </a:pPr>
              <a:t>95</a:t>
            </a:fld>
            <a:endParaRPr 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Slide Image Placeholder 1"/>
          <p:cNvSpPr>
            <a:spLocks noGrp="1" noRot="1" noChangeAspect="1" noTextEdit="1"/>
          </p:cNvSpPr>
          <p:nvPr>
            <p:ph type="sldImg"/>
          </p:nvPr>
        </p:nvSpPr>
        <p:spPr/>
      </p:sp>
      <p:sp>
        <p:nvSpPr>
          <p:cNvPr id="179203" name="Notes Placeholder 2"/>
          <p:cNvSpPr>
            <a:spLocks noGrp="1"/>
          </p:cNvSpPr>
          <p:nvPr>
            <p:ph type="body" idx="1"/>
          </p:nvPr>
        </p:nvSpPr>
        <p:spPr>
          <a:noFill/>
          <a:ln/>
        </p:spPr>
        <p:txBody>
          <a:bodyPr/>
          <a:lstStyle/>
          <a:p>
            <a:r>
              <a:rPr lang="en-US" dirty="0" err="1" smtClean="0"/>
              <a:t>ScaLAPACK</a:t>
            </a:r>
            <a:r>
              <a:rPr lang="en-US" dirty="0" smtClean="0"/>
              <a:t> assumes best block size chosen</a:t>
            </a:r>
          </a:p>
          <a:p>
            <a:r>
              <a:rPr lang="en-US" dirty="0" smtClean="0"/>
              <a:t>Many references, green are ours</a:t>
            </a:r>
          </a:p>
        </p:txBody>
      </p:sp>
      <p:sp>
        <p:nvSpPr>
          <p:cNvPr id="4" name="Footer Placeholder 3"/>
          <p:cNvSpPr>
            <a:spLocks noGrp="1"/>
          </p:cNvSpPr>
          <p:nvPr>
            <p:ph type="ftr" sz="quarter" idx="4"/>
          </p:nvPr>
        </p:nvSpPr>
        <p:spPr/>
        <p:txBody>
          <a:bodyPr/>
          <a:lstStyle/>
          <a:p>
            <a:pPr>
              <a:defRPr/>
            </a:pPr>
            <a:r>
              <a:rPr lang="en-US" smtClean="0"/>
              <a:t>CS267 Lecture 2</a:t>
            </a:r>
            <a:endParaRPr lang="en-US"/>
          </a:p>
        </p:txBody>
      </p:sp>
      <p:sp>
        <p:nvSpPr>
          <p:cNvPr id="5" name="Slide Number Placeholder 4"/>
          <p:cNvSpPr>
            <a:spLocks noGrp="1"/>
          </p:cNvSpPr>
          <p:nvPr>
            <p:ph type="sldNum" sz="quarter" idx="5"/>
          </p:nvPr>
        </p:nvSpPr>
        <p:spPr/>
        <p:txBody>
          <a:bodyPr/>
          <a:lstStyle/>
          <a:p>
            <a:pPr>
              <a:defRPr/>
            </a:pPr>
            <a:fld id="{A4A5644A-7184-4478-A98B-0804BDABBC90}" type="slidenum">
              <a:rPr lang="en-US" smtClean="0"/>
              <a:pPr>
                <a:defRPr/>
              </a:pPr>
              <a:t>96</a:t>
            </a:fld>
            <a:endParaRPr 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Slide Image Placeholder 1"/>
          <p:cNvSpPr>
            <a:spLocks noGrp="1" noRot="1" noChangeAspect="1" noTextEdit="1"/>
          </p:cNvSpPr>
          <p:nvPr>
            <p:ph type="sldImg"/>
          </p:nvPr>
        </p:nvSpPr>
        <p:spPr/>
      </p:sp>
      <p:sp>
        <p:nvSpPr>
          <p:cNvPr id="179203" name="Notes Placeholder 2"/>
          <p:cNvSpPr>
            <a:spLocks noGrp="1"/>
          </p:cNvSpPr>
          <p:nvPr>
            <p:ph type="body" idx="1"/>
          </p:nvPr>
        </p:nvSpPr>
        <p:spPr>
          <a:noFill/>
          <a:ln/>
        </p:spPr>
        <p:txBody>
          <a:bodyPr/>
          <a:lstStyle/>
          <a:p>
            <a:r>
              <a:rPr lang="en-US" dirty="0" err="1" smtClean="0"/>
              <a:t>ScaLAPACK</a:t>
            </a:r>
            <a:r>
              <a:rPr lang="en-US" dirty="0" smtClean="0"/>
              <a:t> assumes best block size chosen</a:t>
            </a:r>
          </a:p>
          <a:p>
            <a:r>
              <a:rPr lang="en-US" dirty="0" smtClean="0"/>
              <a:t>Many references, green are ours</a:t>
            </a:r>
          </a:p>
        </p:txBody>
      </p:sp>
      <p:sp>
        <p:nvSpPr>
          <p:cNvPr id="4" name="Footer Placeholder 3"/>
          <p:cNvSpPr>
            <a:spLocks noGrp="1"/>
          </p:cNvSpPr>
          <p:nvPr>
            <p:ph type="ftr" sz="quarter" idx="4"/>
          </p:nvPr>
        </p:nvSpPr>
        <p:spPr/>
        <p:txBody>
          <a:bodyPr/>
          <a:lstStyle/>
          <a:p>
            <a:pPr>
              <a:defRPr/>
            </a:pPr>
            <a:r>
              <a:rPr lang="en-US" smtClean="0"/>
              <a:t>CS267 Lecture 2</a:t>
            </a:r>
            <a:endParaRPr lang="en-US"/>
          </a:p>
        </p:txBody>
      </p:sp>
      <p:sp>
        <p:nvSpPr>
          <p:cNvPr id="5" name="Slide Number Placeholder 4"/>
          <p:cNvSpPr>
            <a:spLocks noGrp="1"/>
          </p:cNvSpPr>
          <p:nvPr>
            <p:ph type="sldNum" sz="quarter" idx="5"/>
          </p:nvPr>
        </p:nvSpPr>
        <p:spPr/>
        <p:txBody>
          <a:bodyPr/>
          <a:lstStyle/>
          <a:p>
            <a:pPr>
              <a:defRPr/>
            </a:pPr>
            <a:fld id="{A4A5644A-7184-4478-A98B-0804BDABBC90}" type="slidenum">
              <a:rPr lang="en-US" smtClean="0"/>
              <a:pPr>
                <a:defRPr/>
              </a:pPr>
              <a:t>97</a:t>
            </a:fld>
            <a:endParaRPr 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Slide Image Placeholder 1"/>
          <p:cNvSpPr>
            <a:spLocks noGrp="1" noRot="1" noChangeAspect="1" noTextEdit="1"/>
          </p:cNvSpPr>
          <p:nvPr>
            <p:ph type="sldImg"/>
          </p:nvPr>
        </p:nvSpPr>
        <p:spPr/>
      </p:sp>
      <p:sp>
        <p:nvSpPr>
          <p:cNvPr id="179203" name="Notes Placeholder 2"/>
          <p:cNvSpPr>
            <a:spLocks noGrp="1"/>
          </p:cNvSpPr>
          <p:nvPr>
            <p:ph type="body" idx="1"/>
          </p:nvPr>
        </p:nvSpPr>
        <p:spPr>
          <a:noFill/>
          <a:ln/>
        </p:spPr>
        <p:txBody>
          <a:bodyPr/>
          <a:lstStyle/>
          <a:p>
            <a:r>
              <a:rPr lang="en-US" dirty="0" err="1" smtClean="0"/>
              <a:t>ScaLAPACK</a:t>
            </a:r>
            <a:r>
              <a:rPr lang="en-US" dirty="0" smtClean="0"/>
              <a:t> assumes best block size chosen</a:t>
            </a:r>
          </a:p>
          <a:p>
            <a:r>
              <a:rPr lang="en-US" dirty="0" smtClean="0"/>
              <a:t>Many references, green are ours</a:t>
            </a:r>
          </a:p>
        </p:txBody>
      </p:sp>
      <p:sp>
        <p:nvSpPr>
          <p:cNvPr id="4" name="Footer Placeholder 3"/>
          <p:cNvSpPr>
            <a:spLocks noGrp="1"/>
          </p:cNvSpPr>
          <p:nvPr>
            <p:ph type="ftr" sz="quarter" idx="4"/>
          </p:nvPr>
        </p:nvSpPr>
        <p:spPr/>
        <p:txBody>
          <a:bodyPr/>
          <a:lstStyle/>
          <a:p>
            <a:pPr>
              <a:defRPr/>
            </a:pPr>
            <a:r>
              <a:rPr lang="en-US" smtClean="0"/>
              <a:t>CS267 Lecture 2</a:t>
            </a:r>
            <a:endParaRPr lang="en-US"/>
          </a:p>
        </p:txBody>
      </p:sp>
      <p:sp>
        <p:nvSpPr>
          <p:cNvPr id="5" name="Slide Number Placeholder 4"/>
          <p:cNvSpPr>
            <a:spLocks noGrp="1"/>
          </p:cNvSpPr>
          <p:nvPr>
            <p:ph type="sldNum" sz="quarter" idx="5"/>
          </p:nvPr>
        </p:nvSpPr>
        <p:spPr/>
        <p:txBody>
          <a:bodyPr/>
          <a:lstStyle/>
          <a:p>
            <a:pPr>
              <a:defRPr/>
            </a:pPr>
            <a:fld id="{A4A5644A-7184-4478-A98B-0804BDABBC90}" type="slidenum">
              <a:rPr lang="en-US" smtClean="0"/>
              <a:pPr>
                <a:defRPr/>
              </a:pPr>
              <a:t>98</a:t>
            </a:fld>
            <a:endParaRPr 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Slide Image Placeholder 1"/>
          <p:cNvSpPr>
            <a:spLocks noGrp="1" noRot="1" noChangeAspect="1" noTextEdit="1"/>
          </p:cNvSpPr>
          <p:nvPr>
            <p:ph type="sldImg"/>
          </p:nvPr>
        </p:nvSpPr>
        <p:spPr/>
      </p:sp>
      <p:sp>
        <p:nvSpPr>
          <p:cNvPr id="179203" name="Notes Placeholder 2"/>
          <p:cNvSpPr>
            <a:spLocks noGrp="1"/>
          </p:cNvSpPr>
          <p:nvPr>
            <p:ph type="body" idx="1"/>
          </p:nvPr>
        </p:nvSpPr>
        <p:spPr>
          <a:noFill/>
          <a:ln/>
        </p:spPr>
        <p:txBody>
          <a:bodyPr/>
          <a:lstStyle/>
          <a:p>
            <a:r>
              <a:rPr lang="en-US" dirty="0" err="1" smtClean="0"/>
              <a:t>ScaLAPACK</a:t>
            </a:r>
            <a:r>
              <a:rPr lang="en-US" dirty="0" smtClean="0"/>
              <a:t> assumes best block size chosen</a:t>
            </a:r>
          </a:p>
          <a:p>
            <a:r>
              <a:rPr lang="en-US" dirty="0" smtClean="0"/>
              <a:t>Many references, green are ours</a:t>
            </a:r>
          </a:p>
        </p:txBody>
      </p:sp>
      <p:sp>
        <p:nvSpPr>
          <p:cNvPr id="4" name="Footer Placeholder 3"/>
          <p:cNvSpPr>
            <a:spLocks noGrp="1"/>
          </p:cNvSpPr>
          <p:nvPr>
            <p:ph type="ftr" sz="quarter" idx="4"/>
          </p:nvPr>
        </p:nvSpPr>
        <p:spPr/>
        <p:txBody>
          <a:bodyPr/>
          <a:lstStyle/>
          <a:p>
            <a:pPr>
              <a:defRPr/>
            </a:pPr>
            <a:r>
              <a:rPr lang="en-US" smtClean="0"/>
              <a:t>CS267 Lecture 2</a:t>
            </a:r>
            <a:endParaRPr lang="en-US"/>
          </a:p>
        </p:txBody>
      </p:sp>
      <p:sp>
        <p:nvSpPr>
          <p:cNvPr id="5" name="Slide Number Placeholder 4"/>
          <p:cNvSpPr>
            <a:spLocks noGrp="1"/>
          </p:cNvSpPr>
          <p:nvPr>
            <p:ph type="sldNum" sz="quarter" idx="5"/>
          </p:nvPr>
        </p:nvSpPr>
        <p:spPr/>
        <p:txBody>
          <a:bodyPr/>
          <a:lstStyle/>
          <a:p>
            <a:pPr>
              <a:defRPr/>
            </a:pPr>
            <a:fld id="{A4A5644A-7184-4478-A98B-0804BDABBC90}" type="slidenum">
              <a:rPr lang="en-US" smtClean="0"/>
              <a:pPr>
                <a:defRPr/>
              </a:pPr>
              <a:t>99</a:t>
            </a:fld>
            <a:endParaRPr 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Extension</a:t>
            </a:r>
            <a:r>
              <a:rPr lang="en-US" baseline="0" dirty="0" smtClean="0"/>
              <a:t> to c by McColl and </a:t>
            </a:r>
            <a:r>
              <a:rPr lang="en-US" baseline="0" dirty="0" err="1" smtClean="0"/>
              <a:t>Tiskin</a:t>
            </a:r>
            <a:r>
              <a:rPr lang="en-US" baseline="0" dirty="0" smtClean="0"/>
              <a:t> in CRCW PRAM model in 1999</a:t>
            </a:r>
          </a:p>
          <a:p>
            <a:r>
              <a:rPr lang="en-US" baseline="0" dirty="0" smtClean="0"/>
              <a:t>Ashcraft, Toledo tried LU, failed but we can!</a:t>
            </a:r>
          </a:p>
          <a:p>
            <a:endParaRPr lang="en-US" baseline="0" dirty="0" smtClean="0"/>
          </a:p>
          <a:p>
            <a:r>
              <a:rPr lang="en-US" baseline="0" dirty="0" err="1" smtClean="0"/>
              <a:t>Aggarwal</a:t>
            </a:r>
            <a:r>
              <a:rPr lang="en-US" baseline="0" dirty="0" smtClean="0"/>
              <a:t>, Chandra, </a:t>
            </a:r>
            <a:r>
              <a:rPr lang="en-US" baseline="0" dirty="0" err="1" smtClean="0"/>
              <a:t>Snir</a:t>
            </a:r>
            <a:r>
              <a:rPr lang="en-US" baseline="0" dirty="0" smtClean="0"/>
              <a:t> 1988</a:t>
            </a:r>
          </a:p>
          <a:p>
            <a:r>
              <a:rPr lang="en-US" baseline="0" dirty="0" err="1" smtClean="0"/>
              <a:t>Bernsten</a:t>
            </a:r>
            <a:r>
              <a:rPr lang="en-US" baseline="0" dirty="0" smtClean="0"/>
              <a:t>, 1988</a:t>
            </a:r>
          </a:p>
          <a:p>
            <a:r>
              <a:rPr lang="en-US" baseline="0" dirty="0" smtClean="0"/>
              <a:t>Gupta, Kumar 1993</a:t>
            </a:r>
          </a:p>
          <a:p>
            <a:r>
              <a:rPr lang="en-US" baseline="0" dirty="0" smtClean="0"/>
              <a:t>Johnson, 1993</a:t>
            </a:r>
          </a:p>
          <a:p>
            <a:endParaRPr lang="en-US" dirty="0" smtClean="0"/>
          </a:p>
          <a:p>
            <a:r>
              <a:rPr lang="en-US" dirty="0" smtClean="0"/>
              <a:t>Distinguished paper award, EuroPar’11</a:t>
            </a:r>
            <a:endParaRPr lang="en-US" dirty="0"/>
          </a:p>
        </p:txBody>
      </p:sp>
      <p:sp>
        <p:nvSpPr>
          <p:cNvPr id="4" name="Slide Number Placeholder 3"/>
          <p:cNvSpPr>
            <a:spLocks noGrp="1"/>
          </p:cNvSpPr>
          <p:nvPr>
            <p:ph type="sldNum" sz="quarter" idx="10"/>
          </p:nvPr>
        </p:nvSpPr>
        <p:spPr/>
        <p:txBody>
          <a:bodyPr/>
          <a:lstStyle/>
          <a:p>
            <a:fld id="{69BDC26A-4628-467A-BDD3-FE7E900548B0}" type="slidenum">
              <a:rPr lang="en-US" smtClean="0"/>
              <a:pPr/>
              <a:t>100</a:t>
            </a:fld>
            <a:endParaRPr 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Rot="1" noChangeAspect="1" noChangeArrowheads="1" noTextEdit="1"/>
          </p:cNvSpPr>
          <p:nvPr>
            <p:ph type="sldImg"/>
          </p:nvPr>
        </p:nvSpPr>
        <p:spPr/>
      </p:sp>
      <p:sp>
        <p:nvSpPr>
          <p:cNvPr id="79875" name="Rectangle 3"/>
          <p:cNvSpPr>
            <a:spLocks noGrp="1" noChangeArrowheads="1"/>
          </p:cNvSpPr>
          <p:nvPr>
            <p:ph type="body" idx="1"/>
          </p:nvPr>
        </p:nvSpPr>
        <p:spPr>
          <a:noFill/>
        </p:spPr>
        <p:txBody>
          <a:bodyPr/>
          <a:lstStyle/>
          <a:p>
            <a:r>
              <a:rPr lang="en-US" dirty="0" smtClean="0">
                <a:latin typeface="Arial" charset="0"/>
              </a:rPr>
              <a:t>BW recursion: contract sub-trees corresponding to matrices of M/3 elements to leaves, of cost M</a:t>
            </a:r>
          </a:p>
          <a:p>
            <a:endParaRPr lang="en-US" dirty="0" smtClean="0">
              <a:latin typeface="Arial" charset="0"/>
            </a:endParaRPr>
          </a:p>
          <a:p>
            <a:r>
              <a:rPr lang="en-US" dirty="0" smtClean="0">
                <a:latin typeface="Arial" charset="0"/>
              </a:rPr>
              <a:t>Best Paper Prize, SPAA’11</a:t>
            </a:r>
          </a:p>
          <a:p>
            <a:endParaRPr lang="en-US" dirty="0" smtClean="0">
              <a:latin typeface="Arial" charset="0"/>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9BDC26A-4628-467A-BDD3-FE7E900548B0}" type="slidenum">
              <a:rPr lang="en-US" smtClean="0"/>
              <a:pPr/>
              <a:t>110</a:t>
            </a:fld>
            <a:endParaRPr 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Slide Image Placeholder 1"/>
          <p:cNvSpPr>
            <a:spLocks noGrp="1" noRot="1" noChangeAspect="1" noTextEdit="1"/>
          </p:cNvSpPr>
          <p:nvPr>
            <p:ph type="sldImg"/>
          </p:nvPr>
        </p:nvSpPr>
        <p:spPr/>
      </p:sp>
      <p:sp>
        <p:nvSpPr>
          <p:cNvPr id="179203" name="Notes Placeholder 2"/>
          <p:cNvSpPr>
            <a:spLocks noGrp="1"/>
          </p:cNvSpPr>
          <p:nvPr>
            <p:ph type="body" idx="1"/>
          </p:nvPr>
        </p:nvSpPr>
        <p:spPr>
          <a:noFill/>
          <a:ln/>
        </p:spPr>
        <p:txBody>
          <a:bodyPr/>
          <a:lstStyle/>
          <a:p>
            <a:r>
              <a:rPr lang="en-US" dirty="0" err="1" smtClean="0"/>
              <a:t>ScaLAPACK</a:t>
            </a:r>
            <a:r>
              <a:rPr lang="en-US" dirty="0" smtClean="0"/>
              <a:t> assumes best block size chosen</a:t>
            </a:r>
          </a:p>
          <a:p>
            <a:r>
              <a:rPr lang="en-US" dirty="0" smtClean="0"/>
              <a:t>Many references, green are ours</a:t>
            </a:r>
          </a:p>
        </p:txBody>
      </p:sp>
      <p:sp>
        <p:nvSpPr>
          <p:cNvPr id="4" name="Footer Placeholder 3"/>
          <p:cNvSpPr>
            <a:spLocks noGrp="1"/>
          </p:cNvSpPr>
          <p:nvPr>
            <p:ph type="ftr" sz="quarter" idx="4"/>
          </p:nvPr>
        </p:nvSpPr>
        <p:spPr/>
        <p:txBody>
          <a:bodyPr/>
          <a:lstStyle/>
          <a:p>
            <a:pPr>
              <a:defRPr/>
            </a:pPr>
            <a:r>
              <a:rPr lang="en-US" smtClean="0"/>
              <a:t>CS267 Lecture 2</a:t>
            </a:r>
            <a:endParaRPr lang="en-US"/>
          </a:p>
        </p:txBody>
      </p:sp>
      <p:sp>
        <p:nvSpPr>
          <p:cNvPr id="5" name="Slide Number Placeholder 4"/>
          <p:cNvSpPr>
            <a:spLocks noGrp="1"/>
          </p:cNvSpPr>
          <p:nvPr>
            <p:ph type="sldNum" sz="quarter" idx="5"/>
          </p:nvPr>
        </p:nvSpPr>
        <p:spPr/>
        <p:txBody>
          <a:bodyPr/>
          <a:lstStyle/>
          <a:p>
            <a:pPr>
              <a:defRPr/>
            </a:pPr>
            <a:fld id="{A4A5644A-7184-4478-A98B-0804BDABBC90}" type="slidenum">
              <a:rPr lang="en-US" smtClean="0"/>
              <a:pPr>
                <a:defRPr/>
              </a:pPr>
              <a:t>111</a:t>
            </a:fld>
            <a:endParaRPr 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Slide Image Placeholder 1"/>
          <p:cNvSpPr>
            <a:spLocks noGrp="1" noRot="1" noChangeAspect="1" noTextEdit="1"/>
          </p:cNvSpPr>
          <p:nvPr>
            <p:ph type="sldImg"/>
          </p:nvPr>
        </p:nvSpPr>
        <p:spPr/>
      </p:sp>
      <p:sp>
        <p:nvSpPr>
          <p:cNvPr id="177155" name="Notes Placeholder 2"/>
          <p:cNvSpPr>
            <a:spLocks noGrp="1"/>
          </p:cNvSpPr>
          <p:nvPr>
            <p:ph type="body" idx="1"/>
          </p:nvPr>
        </p:nvSpPr>
        <p:spPr>
          <a:noFill/>
          <a:ln/>
        </p:spPr>
        <p:txBody>
          <a:bodyPr/>
          <a:lstStyle/>
          <a:p>
            <a:r>
              <a:rPr lang="en-US" smtClean="0"/>
              <a:t>These are the three local kernels for the parallel SBR algorithm.  The first (top) picture is where parallelograms are annihilated (it’s hard to tell from the picture, but ¼ of the parallelograms are zeroed out from the left set of columns) and their bulges are all packed in the right set.  In the second picture, the bulges are passed from the left set of columns to the right set.  In the last picture, a set of bulges are chased off the end of the band.  Most of the processors will spend their time in the second picture (passing bulges along).  The messages between processors will be the size of a set of columns (either passing a clean set of columns left or passing a bulge-y set of columns right).  Our algorithm will achieve O( \sqrt P \log (n / \sqrt P) messages, whereas Lang’s algorithm sends O(n) messages.</a:t>
            </a:r>
          </a:p>
        </p:txBody>
      </p:sp>
      <p:sp>
        <p:nvSpPr>
          <p:cNvPr id="4" name="Slide Number Placeholder 3"/>
          <p:cNvSpPr>
            <a:spLocks noGrp="1"/>
          </p:cNvSpPr>
          <p:nvPr>
            <p:ph type="sldNum" sz="quarter" idx="5"/>
          </p:nvPr>
        </p:nvSpPr>
        <p:spPr/>
        <p:txBody>
          <a:bodyPr/>
          <a:lstStyle/>
          <a:p>
            <a:pPr>
              <a:defRPr/>
            </a:pPr>
            <a:fld id="{C83C40C5-0217-4E60-A68B-EEC6E0C8E52C}" type="slidenum">
              <a:rPr lang="en-US" smtClean="0"/>
              <a:pPr>
                <a:defRPr/>
              </a:pPr>
              <a:t>117</a:t>
            </a:fld>
            <a:endParaRPr 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Slide Image Placeholder 1"/>
          <p:cNvSpPr>
            <a:spLocks noGrp="1" noRot="1" noChangeAspect="1" noTextEdit="1"/>
          </p:cNvSpPr>
          <p:nvPr>
            <p:ph type="sldImg"/>
          </p:nvPr>
        </p:nvSpPr>
        <p:spPr/>
      </p:sp>
      <p:sp>
        <p:nvSpPr>
          <p:cNvPr id="179203" name="Notes Placeholder 2"/>
          <p:cNvSpPr>
            <a:spLocks noGrp="1"/>
          </p:cNvSpPr>
          <p:nvPr>
            <p:ph type="body" idx="1"/>
          </p:nvPr>
        </p:nvSpPr>
        <p:spPr>
          <a:noFill/>
          <a:ln/>
        </p:spPr>
        <p:txBody>
          <a:bodyPr/>
          <a:lstStyle/>
          <a:p>
            <a:r>
              <a:rPr lang="en-US" dirty="0" err="1" smtClean="0"/>
              <a:t>ScaLAPACK</a:t>
            </a:r>
            <a:r>
              <a:rPr lang="en-US" dirty="0" smtClean="0"/>
              <a:t> assumes best block size chosen</a:t>
            </a:r>
          </a:p>
          <a:p>
            <a:r>
              <a:rPr lang="en-US" dirty="0" smtClean="0"/>
              <a:t>Many references, green are ours</a:t>
            </a:r>
          </a:p>
        </p:txBody>
      </p:sp>
      <p:sp>
        <p:nvSpPr>
          <p:cNvPr id="4" name="Footer Placeholder 3"/>
          <p:cNvSpPr>
            <a:spLocks noGrp="1"/>
          </p:cNvSpPr>
          <p:nvPr>
            <p:ph type="ftr" sz="quarter" idx="4"/>
          </p:nvPr>
        </p:nvSpPr>
        <p:spPr/>
        <p:txBody>
          <a:bodyPr/>
          <a:lstStyle/>
          <a:p>
            <a:pPr>
              <a:defRPr/>
            </a:pPr>
            <a:r>
              <a:rPr lang="en-US" smtClean="0"/>
              <a:t>CS267 Lecture 2</a:t>
            </a:r>
            <a:endParaRPr lang="en-US"/>
          </a:p>
        </p:txBody>
      </p:sp>
      <p:sp>
        <p:nvSpPr>
          <p:cNvPr id="5" name="Slide Number Placeholder 4"/>
          <p:cNvSpPr>
            <a:spLocks noGrp="1"/>
          </p:cNvSpPr>
          <p:nvPr>
            <p:ph type="sldNum" sz="quarter" idx="5"/>
          </p:nvPr>
        </p:nvSpPr>
        <p:spPr/>
        <p:txBody>
          <a:bodyPr/>
          <a:lstStyle/>
          <a:p>
            <a:pPr>
              <a:defRPr/>
            </a:pPr>
            <a:fld id="{A4A5644A-7184-4478-A98B-0804BDABBC90}" type="slidenum">
              <a:rPr lang="en-US" smtClean="0"/>
              <a:pPr>
                <a:defRPr/>
              </a:pPr>
              <a:t>121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2E32BE1A-6E79-45AA-87B6-3B5276F3DFE9}" type="datetimeFigureOut">
              <a:rPr lang="en-US" smtClean="0"/>
              <a:pPr/>
              <a:t>11/12/11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F6C465F-4BC1-423B-9C20-6A43412091FA}"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E32BE1A-6E79-45AA-87B6-3B5276F3DFE9}" type="datetimeFigureOut">
              <a:rPr lang="en-US" smtClean="0"/>
              <a:pPr/>
              <a:t>11/12/11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F6C465F-4BC1-423B-9C20-6A43412091FA}"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2E32BE1A-6E79-45AA-87B6-3B5276F3DFE9}" type="datetimeFigureOut">
              <a:rPr lang="en-US" smtClean="0"/>
              <a:pPr/>
              <a:t>11/12/11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F6C465F-4BC1-423B-9C20-6A43412091FA}"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2E32BE1A-6E79-45AA-87B6-3B5276F3DFE9}" type="datetimeFigureOut">
              <a:rPr lang="en-US" smtClean="0"/>
              <a:pPr/>
              <a:t>11/12/11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F6C465F-4BC1-423B-9C20-6A43412091FA}"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2E32BE1A-6E79-45AA-87B6-3B5276F3DFE9}" type="datetimeFigureOut">
              <a:rPr lang="en-US" smtClean="0"/>
              <a:pPr/>
              <a:t>11/12/11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F6C465F-4BC1-423B-9C20-6A43412091FA}"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2E32BE1A-6E79-45AA-87B6-3B5276F3DFE9}" type="datetimeFigureOut">
              <a:rPr lang="en-US" smtClean="0"/>
              <a:pPr/>
              <a:t>11/12/11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F6C465F-4BC1-423B-9C20-6A43412091FA}"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E32BE1A-6E79-45AA-87B6-3B5276F3DFE9}" type="datetimeFigureOut">
              <a:rPr lang="en-US" smtClean="0"/>
              <a:pPr/>
              <a:t>11/12/11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F6C465F-4BC1-423B-9C20-6A43412091FA}"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E32BE1A-6E79-45AA-87B6-3B5276F3DFE9}" type="datetimeFigureOut">
              <a:rPr lang="en-US" smtClean="0"/>
              <a:pPr/>
              <a:t>11/12/11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F6C465F-4BC1-423B-9C20-6A43412091FA}"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E32BE1A-6E79-45AA-87B6-3B5276F3DFE9}" type="datetimeFigureOut">
              <a:rPr lang="en-US" smtClean="0"/>
              <a:pPr/>
              <a:t>11/12/11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F6C465F-4BC1-423B-9C20-6A43412091FA}"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E32BE1A-6E79-45AA-87B6-3B5276F3DFE9}" type="datetimeFigureOut">
              <a:rPr lang="en-US" smtClean="0"/>
              <a:pPr/>
              <a:t>11/12/11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F6C465F-4BC1-423B-9C20-6A43412091FA}"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E32BE1A-6E79-45AA-87B6-3B5276F3DFE9}" type="datetimeFigureOut">
              <a:rPr lang="en-US" smtClean="0"/>
              <a:pPr/>
              <a:t>11/12/11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F6C465F-4BC1-423B-9C20-6A43412091FA}"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smtClean="0"/>
              <a:t>Click to edit Master title style</a:t>
            </a:r>
            <a:endParaRPr lang="en-US"/>
          </a:p>
        </p:txBody>
      </p:sp>
      <p:sp>
        <p:nvSpPr>
          <p:cNvPr id="3" name="Table Placeholder 2"/>
          <p:cNvSpPr>
            <a:spLocks noGrp="1"/>
          </p:cNvSpPr>
          <p:nvPr>
            <p:ph type="tbl" idx="1"/>
          </p:nvPr>
        </p:nvSpPr>
        <p:spPr>
          <a:xfrm>
            <a:off x="457200" y="1600200"/>
            <a:ext cx="8229600" cy="4525963"/>
          </a:xfrm>
        </p:spPr>
        <p:txBody>
          <a:bodyPr/>
          <a:lstStyle/>
          <a:p>
            <a:pPr lvl="0"/>
            <a:endParaRPr lang="en-US" noProof="0"/>
          </a:p>
        </p:txBody>
      </p:sp>
      <p:sp>
        <p:nvSpPr>
          <p:cNvPr id="4" name="Date Placeholder 3"/>
          <p:cNvSpPr>
            <a:spLocks noGrp="1"/>
          </p:cNvSpPr>
          <p:nvPr>
            <p:ph type="dt" sz="half" idx="10"/>
          </p:nvPr>
        </p:nvSpPr>
        <p:spPr>
          <a:xfrm>
            <a:off x="457200" y="6245225"/>
            <a:ext cx="2133600" cy="476250"/>
          </a:xfrm>
        </p:spPr>
        <p:txBody>
          <a:bodyPr/>
          <a:lstStyle>
            <a:lvl1pPr>
              <a:defRPr/>
            </a:lvl1pPr>
          </a:lstStyle>
          <a:p>
            <a:pPr>
              <a:defRPr/>
            </a:pPr>
            <a:r>
              <a:rPr lang="en-US"/>
              <a:t>03/02/2009</a:t>
            </a:r>
          </a:p>
        </p:txBody>
      </p:sp>
      <p:sp>
        <p:nvSpPr>
          <p:cNvPr id="5" name="Footer Placeholder 4"/>
          <p:cNvSpPr>
            <a:spLocks noGrp="1"/>
          </p:cNvSpPr>
          <p:nvPr>
            <p:ph type="ftr" sz="quarter" idx="11"/>
          </p:nvPr>
        </p:nvSpPr>
        <p:spPr>
          <a:xfrm>
            <a:off x="3124200" y="6245225"/>
            <a:ext cx="2895600" cy="476250"/>
          </a:xfrm>
        </p:spPr>
        <p:txBody>
          <a:bodyPr/>
          <a:lstStyle>
            <a:lvl1pPr>
              <a:defRPr/>
            </a:lvl1pPr>
          </a:lstStyle>
          <a:p>
            <a:pPr>
              <a:defRPr/>
            </a:pPr>
            <a:r>
              <a:rPr lang="en-US"/>
              <a:t>CS267 Lecture 11</a:t>
            </a:r>
          </a:p>
        </p:txBody>
      </p:sp>
      <p:sp>
        <p:nvSpPr>
          <p:cNvPr id="6" name="Slide Number Placeholder 5"/>
          <p:cNvSpPr>
            <a:spLocks noGrp="1"/>
          </p:cNvSpPr>
          <p:nvPr>
            <p:ph type="sldNum" sz="quarter" idx="12"/>
          </p:nvPr>
        </p:nvSpPr>
        <p:spPr>
          <a:xfrm>
            <a:off x="6553200" y="6245225"/>
            <a:ext cx="2133600" cy="476250"/>
          </a:xfrm>
        </p:spPr>
        <p:txBody>
          <a:bodyPr/>
          <a:lstStyle>
            <a:lvl1pPr>
              <a:defRPr/>
            </a:lvl1pPr>
          </a:lstStyle>
          <a:p>
            <a:pPr>
              <a:defRPr/>
            </a:pPr>
            <a:fld id="{F32C1DB8-F248-42BB-BDE3-451471CF73A4}"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E32BE1A-6E79-45AA-87B6-3B5276F3DFE9}" type="datetimeFigureOut">
              <a:rPr lang="en-US" smtClean="0"/>
              <a:pPr/>
              <a:t>11/12/11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F6C465F-4BC1-423B-9C20-6A43412091FA}"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hyperlink" Target="http://www.netlib.org/lapack/lawns/lawn%7B96,100%7D.ps"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emf"/></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emf"/></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5.emf"/></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7.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emf"/></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59.xml.rels><?xml version="1.0" encoding="UTF-8" standalone="yes"?>
<Relationships xmlns="http://schemas.openxmlformats.org/package/2006/relationships"><Relationship Id="rId3" Type="http://schemas.microsoft.com/office/2007/relationships/media" Target="file://localhost/Users/demmel/Work/Presentations/Communication_Avoidance/Old_Laptop_Recovery/Communication_Avoiding/SBR_movies_unzipped/CASBR_n1000_b20_m4.avi" TargetMode="External"/><Relationship Id="rId4" Type="http://schemas.openxmlformats.org/officeDocument/2006/relationships/video" Target="file://localhost/Users/demmel/Work/Presentations/Communication_Avoidance/Old_Laptop_Recovery/Communication_Avoiding/SBR_movies_unzipped/CASBR_n1000_b20_m4.avi" TargetMode="External"/><Relationship Id="rId5" Type="http://schemas.openxmlformats.org/officeDocument/2006/relationships/slideLayout" Target="../slideLayouts/slideLayout6.xml"/><Relationship Id="rId6" Type="http://schemas.openxmlformats.org/officeDocument/2006/relationships/image" Target="../media/image9.png"/><Relationship Id="rId1" Type="http://schemas.microsoft.com/office/2007/relationships/media" Target="file://localhost/Users/demmel/Work/Presentations/Communication_Avoidance/Old_Laptop_Recovery/Communication_Avoiding/SBR_movies_unzipped/CASBR_n1000_b20_m1.avi" TargetMode="External"/><Relationship Id="rId2" Type="http://schemas.openxmlformats.org/officeDocument/2006/relationships/video" Target="file://localhost/Users/demmel/Work/Presentations/Communication_Avoidance/Old_Laptop_Recovery/Communication_Avoiding/SBR_movies_unzipped/CASBR_n1000_b20_m1.avi" TargetMode="Externa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1" Type="http://schemas.openxmlformats.org/officeDocument/2006/relationships/image" Target="../media/image13.wmf"/><Relationship Id="rId12" Type="http://schemas.openxmlformats.org/officeDocument/2006/relationships/oleObject" Target="../embeddings/oleObject5.bin"/><Relationship Id="rId13" Type="http://schemas.openxmlformats.org/officeDocument/2006/relationships/image" Target="../media/image14.wmf"/><Relationship Id="rId14" Type="http://schemas.openxmlformats.org/officeDocument/2006/relationships/oleObject" Target="../embeddings/oleObject6.bin"/><Relationship Id="rId15" Type="http://schemas.openxmlformats.org/officeDocument/2006/relationships/image" Target="../media/image15.wmf"/><Relationship Id="rId1" Type="http://schemas.openxmlformats.org/officeDocument/2006/relationships/vmlDrawing" Target="../drawings/vmlDrawing1.vml"/><Relationship Id="rId2" Type="http://schemas.openxmlformats.org/officeDocument/2006/relationships/slideLayout" Target="../slideLayouts/slideLayout1.xml"/><Relationship Id="rId3" Type="http://schemas.openxmlformats.org/officeDocument/2006/relationships/notesSlide" Target="../notesSlides/notesSlide31.xml"/><Relationship Id="rId4" Type="http://schemas.openxmlformats.org/officeDocument/2006/relationships/oleObject" Target="../embeddings/oleObject1.bin"/><Relationship Id="rId5" Type="http://schemas.openxmlformats.org/officeDocument/2006/relationships/image" Target="../media/image10.wmf"/><Relationship Id="rId6" Type="http://schemas.openxmlformats.org/officeDocument/2006/relationships/oleObject" Target="../embeddings/oleObject2.bin"/><Relationship Id="rId7" Type="http://schemas.openxmlformats.org/officeDocument/2006/relationships/image" Target="../media/image11.wmf"/><Relationship Id="rId8" Type="http://schemas.openxmlformats.org/officeDocument/2006/relationships/oleObject" Target="../embeddings/oleObject3.bin"/><Relationship Id="rId9" Type="http://schemas.openxmlformats.org/officeDocument/2006/relationships/image" Target="../media/image12.wmf"/><Relationship Id="rId10" Type="http://schemas.openxmlformats.org/officeDocument/2006/relationships/oleObject" Target="../embeddings/oleObject4.bin"/></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6.jp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4.xml"/><Relationship Id="rId3" Type="http://schemas.openxmlformats.org/officeDocument/2006/relationships/image" Target="../media/image17.jpe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9.jpeg"/></Relationships>
</file>

<file path=ppt/slides/_rels/slide81.xml.rels><?xml version="1.0" encoding="UTF-8" standalone="yes"?>
<Relationships xmlns="http://schemas.openxmlformats.org/package/2006/relationships"><Relationship Id="rId3" Type="http://schemas.openxmlformats.org/officeDocument/2006/relationships/image" Target="../media/image21.png"/><Relationship Id="rId4" Type="http://schemas.openxmlformats.org/officeDocument/2006/relationships/image" Target="../media/image22.png"/><Relationship Id="rId5" Type="http://schemas.openxmlformats.org/officeDocument/2006/relationships/image" Target="../media/image23.png"/><Relationship Id="rId1" Type="http://schemas.openxmlformats.org/officeDocument/2006/relationships/slideLayout" Target="../slideLayouts/slideLayout2.xml"/><Relationship Id="rId2" Type="http://schemas.openxmlformats.org/officeDocument/2006/relationships/image" Target="../media/image20.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www.ba.cnr.it/ISSNLA2010" TargetMode="Externa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4.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6.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8.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9.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0.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1.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2.xml"/></Relationships>
</file>

<file path=ppt/slides/_rels/slide101.xml.rels><?xml version="1.0" encoding="UTF-8" standalone="yes"?>
<Relationships xmlns="http://schemas.openxmlformats.org/package/2006/relationships"><Relationship Id="rId11" Type="http://schemas.openxmlformats.org/officeDocument/2006/relationships/image" Target="../media/image13.wmf"/><Relationship Id="rId12" Type="http://schemas.openxmlformats.org/officeDocument/2006/relationships/oleObject" Target="../embeddings/oleObject11.bin"/><Relationship Id="rId13" Type="http://schemas.openxmlformats.org/officeDocument/2006/relationships/image" Target="../media/image14.wmf"/><Relationship Id="rId14" Type="http://schemas.openxmlformats.org/officeDocument/2006/relationships/oleObject" Target="../embeddings/oleObject12.bin"/><Relationship Id="rId15" Type="http://schemas.openxmlformats.org/officeDocument/2006/relationships/image" Target="../media/image15.wmf"/><Relationship Id="rId1" Type="http://schemas.openxmlformats.org/officeDocument/2006/relationships/vmlDrawing" Target="../drawings/vmlDrawing2.vml"/><Relationship Id="rId2" Type="http://schemas.openxmlformats.org/officeDocument/2006/relationships/slideLayout" Target="../slideLayouts/slideLayout1.xml"/><Relationship Id="rId3" Type="http://schemas.openxmlformats.org/officeDocument/2006/relationships/notesSlide" Target="../notesSlides/notesSlide43.xml"/><Relationship Id="rId4" Type="http://schemas.openxmlformats.org/officeDocument/2006/relationships/oleObject" Target="../embeddings/oleObject7.bin"/><Relationship Id="rId5" Type="http://schemas.openxmlformats.org/officeDocument/2006/relationships/image" Target="../media/image10.wmf"/><Relationship Id="rId6" Type="http://schemas.openxmlformats.org/officeDocument/2006/relationships/oleObject" Target="../embeddings/oleObject8.bin"/><Relationship Id="rId7" Type="http://schemas.openxmlformats.org/officeDocument/2006/relationships/image" Target="../media/image11.wmf"/><Relationship Id="rId8" Type="http://schemas.openxmlformats.org/officeDocument/2006/relationships/oleObject" Target="../embeddings/oleObject9.bin"/><Relationship Id="rId9" Type="http://schemas.openxmlformats.org/officeDocument/2006/relationships/image" Target="../media/image12.wmf"/><Relationship Id="rId10" Type="http://schemas.openxmlformats.org/officeDocument/2006/relationships/oleObject" Target="../embeddings/oleObject10.bin"/></Relationships>
</file>

<file path=ppt/slides/_rels/slide102.xml.rels><?xml version="1.0" encoding="UTF-8" standalone="yes"?>
<Relationships xmlns="http://schemas.openxmlformats.org/package/2006/relationships"><Relationship Id="rId3" Type="http://schemas.openxmlformats.org/officeDocument/2006/relationships/image" Target="../media/image26.png"/><Relationship Id="rId4" Type="http://schemas.openxmlformats.org/officeDocument/2006/relationships/image" Target="../media/image27.png"/><Relationship Id="rId5" Type="http://schemas.openxmlformats.org/officeDocument/2006/relationships/image" Target="../media/image28.png"/><Relationship Id="rId6" Type="http://schemas.openxmlformats.org/officeDocument/2006/relationships/image" Target="../media/image29.png"/><Relationship Id="rId7" Type="http://schemas.openxmlformats.org/officeDocument/2006/relationships/image" Target="../media/image30.png"/><Relationship Id="rId8" Type="http://schemas.openxmlformats.org/officeDocument/2006/relationships/image" Target="../media/image31.png"/><Relationship Id="rId9" Type="http://schemas.openxmlformats.org/officeDocument/2006/relationships/image" Target="../media/image32.png"/><Relationship Id="rId10" Type="http://schemas.openxmlformats.org/officeDocument/2006/relationships/image" Target="../media/image33.png"/><Relationship Id="rId1" Type="http://schemas.openxmlformats.org/officeDocument/2006/relationships/slideLayout" Target="../slideLayouts/slideLayout2.xml"/><Relationship Id="rId2" Type="http://schemas.openxmlformats.org/officeDocument/2006/relationships/image" Target="../media/image25.png"/></Relationships>
</file>

<file path=ppt/slides/_rels/slide103.xml.rels><?xml version="1.0" encoding="UTF-8" standalone="yes"?>
<Relationships xmlns="http://schemas.openxmlformats.org/package/2006/relationships"><Relationship Id="rId3" Type="http://schemas.openxmlformats.org/officeDocument/2006/relationships/image" Target="../media/image35.png"/><Relationship Id="rId4" Type="http://schemas.openxmlformats.org/officeDocument/2006/relationships/image" Target="../media/image36.png"/><Relationship Id="rId5" Type="http://schemas.openxmlformats.org/officeDocument/2006/relationships/image" Target="../media/image37.png"/><Relationship Id="rId6" Type="http://schemas.openxmlformats.org/officeDocument/2006/relationships/image" Target="../media/image38.png"/><Relationship Id="rId7" Type="http://schemas.openxmlformats.org/officeDocument/2006/relationships/image" Target="../media/image39.png"/><Relationship Id="rId8" Type="http://schemas.openxmlformats.org/officeDocument/2006/relationships/image" Target="../media/image40.png"/><Relationship Id="rId9" Type="http://schemas.openxmlformats.org/officeDocument/2006/relationships/image" Target="../media/image41.png"/><Relationship Id="rId10" Type="http://schemas.openxmlformats.org/officeDocument/2006/relationships/image" Target="../media/image42.png"/><Relationship Id="rId1" Type="http://schemas.openxmlformats.org/officeDocument/2006/relationships/slideLayout" Target="../slideLayouts/slideLayout2.xml"/><Relationship Id="rId2" Type="http://schemas.openxmlformats.org/officeDocument/2006/relationships/image" Target="../media/image34.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3.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5.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4.emf"/></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5.emf"/></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3" Type="http://schemas.openxmlformats.org/officeDocument/2006/relationships/image" Target="../media/image46.png"/><Relationship Id="rId4" Type="http://schemas.openxmlformats.org/officeDocument/2006/relationships/image" Target="../media/image47.png"/><Relationship Id="rId5" Type="http://schemas.openxmlformats.org/officeDocument/2006/relationships/image" Target="../media/image48.png"/><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04800" y="2130425"/>
            <a:ext cx="8153400" cy="1470025"/>
          </a:xfrm>
        </p:spPr>
        <p:txBody>
          <a:bodyPr>
            <a:normAutofit fontScale="90000"/>
          </a:bodyPr>
          <a:lstStyle/>
          <a:p>
            <a:r>
              <a:rPr lang="en-US" dirty="0" smtClean="0"/>
              <a:t>Introduction to </a:t>
            </a:r>
            <a:br>
              <a:rPr lang="en-US" dirty="0" smtClean="0"/>
            </a:br>
            <a:r>
              <a:rPr lang="en-US" dirty="0" smtClean="0"/>
              <a:t>Communication-Avoiding </a:t>
            </a:r>
            <a:r>
              <a:rPr lang="en-US" dirty="0" smtClean="0"/>
              <a:t>Algorithms</a:t>
            </a:r>
            <a:br>
              <a:rPr lang="en-US" dirty="0" smtClean="0"/>
            </a:br>
            <a:r>
              <a:rPr lang="en-US" dirty="0"/>
              <a:t/>
            </a:r>
            <a:br>
              <a:rPr lang="en-US" dirty="0"/>
            </a:br>
            <a:r>
              <a:rPr lang="en-US" sz="3600" dirty="0" err="1" smtClean="0"/>
              <a:t>www.cs.berkeley.edu</a:t>
            </a:r>
            <a:r>
              <a:rPr lang="en-US" sz="3600" dirty="0" smtClean="0"/>
              <a:t>/~</a:t>
            </a:r>
            <a:r>
              <a:rPr lang="en-US" sz="3600" dirty="0" err="1" smtClean="0"/>
              <a:t>demmel</a:t>
            </a:r>
            <a:r>
              <a:rPr lang="en-US" sz="3600" dirty="0" smtClean="0"/>
              <a:t>/SC11_tutorial</a:t>
            </a:r>
            <a:endParaRPr lang="en-US" sz="3600" i="1" dirty="0"/>
          </a:p>
        </p:txBody>
      </p:sp>
      <p:sp>
        <p:nvSpPr>
          <p:cNvPr id="3" name="Subtitle 2"/>
          <p:cNvSpPr>
            <a:spLocks noGrp="1"/>
          </p:cNvSpPr>
          <p:nvPr>
            <p:ph type="subTitle" idx="1"/>
          </p:nvPr>
        </p:nvSpPr>
        <p:spPr>
          <a:xfrm>
            <a:off x="1295400" y="4343400"/>
            <a:ext cx="6553200" cy="1752600"/>
          </a:xfrm>
        </p:spPr>
        <p:txBody>
          <a:bodyPr>
            <a:normAutofit/>
          </a:bodyPr>
          <a:lstStyle/>
          <a:p>
            <a:r>
              <a:rPr lang="en-US" dirty="0" smtClean="0">
                <a:solidFill>
                  <a:schemeClr val="tx2"/>
                </a:solidFill>
              </a:rPr>
              <a:t>Jim </a:t>
            </a:r>
            <a:r>
              <a:rPr lang="en-US" dirty="0" err="1" smtClean="0">
                <a:solidFill>
                  <a:schemeClr val="tx2"/>
                </a:solidFill>
              </a:rPr>
              <a:t>Demmel</a:t>
            </a:r>
            <a:endParaRPr lang="en-US" dirty="0" smtClean="0">
              <a:solidFill>
                <a:schemeClr val="tx2"/>
              </a:solidFill>
            </a:endParaRPr>
          </a:p>
          <a:p>
            <a:r>
              <a:rPr lang="en-US" dirty="0" smtClean="0">
                <a:solidFill>
                  <a:schemeClr val="tx2"/>
                </a:solidFill>
              </a:rPr>
              <a:t>EECS &amp; Math Departments</a:t>
            </a:r>
          </a:p>
          <a:p>
            <a:r>
              <a:rPr lang="en-US" dirty="0" smtClean="0">
                <a:solidFill>
                  <a:schemeClr val="tx2"/>
                </a:solidFill>
              </a:rPr>
              <a:t>UC Berkeley</a:t>
            </a:r>
          </a:p>
        </p:txBody>
      </p:sp>
    </p:spTree>
  </p:cSld>
  <p:clrMapOvr>
    <a:masterClrMapping/>
  </p:clrMapOvr>
  <p:timing>
    <p:tnLst>
      <p:par>
        <p:cTn xmlns:p14="http://schemas.microsoft.com/office/powerpoint/2010/mai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4"/>
          <p:cNvSpPr>
            <a:spLocks noGrp="1" noChangeArrowheads="1"/>
          </p:cNvSpPr>
          <p:nvPr>
            <p:ph type="sldNum" sz="quarter" idx="12"/>
          </p:nvPr>
        </p:nvSpPr>
        <p:spPr/>
        <p:txBody>
          <a:bodyPr/>
          <a:lstStyle/>
          <a:p>
            <a:pPr>
              <a:defRPr/>
            </a:pPr>
            <a:fld id="{BC293051-DFCA-41C4-B519-7E8337936010}" type="slidenum">
              <a:rPr lang="en-US"/>
              <a:pPr>
                <a:defRPr/>
              </a:pPr>
              <a:t>2</a:t>
            </a:fld>
            <a:endParaRPr lang="en-US"/>
          </a:p>
        </p:txBody>
      </p:sp>
      <p:sp>
        <p:nvSpPr>
          <p:cNvPr id="17411" name="Rectangle 54"/>
          <p:cNvSpPr>
            <a:spLocks noGrp="1" noChangeArrowheads="1"/>
          </p:cNvSpPr>
          <p:nvPr>
            <p:ph type="title" idx="4294967295"/>
          </p:nvPr>
        </p:nvSpPr>
        <p:spPr>
          <a:xfrm>
            <a:off x="457200" y="306388"/>
            <a:ext cx="8305800" cy="425450"/>
          </a:xfrm>
        </p:spPr>
        <p:txBody>
          <a:bodyPr>
            <a:normAutofit fontScale="90000"/>
          </a:bodyPr>
          <a:lstStyle/>
          <a:p>
            <a:r>
              <a:rPr lang="en-US" dirty="0" smtClean="0"/>
              <a:t>Why avoid communication? (1/2)</a:t>
            </a:r>
          </a:p>
        </p:txBody>
      </p:sp>
      <p:sp>
        <p:nvSpPr>
          <p:cNvPr id="17412" name="Rectangle 8"/>
          <p:cNvSpPr>
            <a:spLocks noGrp="1" noChangeArrowheads="1"/>
          </p:cNvSpPr>
          <p:nvPr>
            <p:ph type="body" sz="half" idx="4294967295"/>
          </p:nvPr>
        </p:nvSpPr>
        <p:spPr>
          <a:xfrm>
            <a:off x="609600" y="914400"/>
            <a:ext cx="8272463" cy="2322513"/>
          </a:xfrm>
        </p:spPr>
        <p:txBody>
          <a:bodyPr>
            <a:normAutofit fontScale="92500"/>
          </a:bodyPr>
          <a:lstStyle/>
          <a:p>
            <a:pPr>
              <a:buFontTx/>
              <a:buNone/>
            </a:pPr>
            <a:r>
              <a:rPr lang="en-US" sz="2800" dirty="0" smtClean="0"/>
              <a:t>Algorithms have two costs (measured in time or energy):</a:t>
            </a:r>
          </a:p>
          <a:p>
            <a:pPr>
              <a:buFontTx/>
              <a:buAutoNum type="arabicPeriod"/>
            </a:pPr>
            <a:r>
              <a:rPr lang="en-US" sz="2800" dirty="0" smtClean="0"/>
              <a:t>Arithmetic (FLOPS)</a:t>
            </a:r>
          </a:p>
          <a:p>
            <a:pPr>
              <a:buFontTx/>
              <a:buAutoNum type="arabicPeriod"/>
            </a:pPr>
            <a:r>
              <a:rPr lang="en-US" sz="2800" dirty="0" smtClean="0"/>
              <a:t>Communication: moving data between </a:t>
            </a:r>
          </a:p>
          <a:p>
            <a:pPr lvl="1"/>
            <a:r>
              <a:rPr lang="en-US" sz="2400" dirty="0" smtClean="0"/>
              <a:t>levels of a memory hierarchy (sequential case) </a:t>
            </a:r>
          </a:p>
          <a:p>
            <a:pPr lvl="1"/>
            <a:r>
              <a:rPr lang="en-US" sz="2400" dirty="0" smtClean="0"/>
              <a:t>processors over a network (parallel case). </a:t>
            </a:r>
          </a:p>
        </p:txBody>
      </p:sp>
      <p:grpSp>
        <p:nvGrpSpPr>
          <p:cNvPr id="2" name="Group 94"/>
          <p:cNvGrpSpPr>
            <a:grpSpLocks/>
          </p:cNvGrpSpPr>
          <p:nvPr/>
        </p:nvGrpSpPr>
        <p:grpSpPr bwMode="auto">
          <a:xfrm>
            <a:off x="933450" y="3640138"/>
            <a:ext cx="3551238" cy="2608262"/>
            <a:chOff x="2710" y="1618"/>
            <a:chExt cx="2422" cy="1779"/>
          </a:xfrm>
        </p:grpSpPr>
        <p:sp>
          <p:nvSpPr>
            <p:cNvPr id="17423" name="AutoShape 76"/>
            <p:cNvSpPr>
              <a:spLocks noChangeArrowheads="1"/>
            </p:cNvSpPr>
            <p:nvPr/>
          </p:nvSpPr>
          <p:spPr bwMode="auto">
            <a:xfrm>
              <a:off x="3418" y="1618"/>
              <a:ext cx="1036" cy="714"/>
            </a:xfrm>
            <a:prstGeom prst="triangle">
              <a:avLst>
                <a:gd name="adj" fmla="val 50000"/>
              </a:avLst>
            </a:prstGeom>
            <a:solidFill>
              <a:srgbClr val="00FF00"/>
            </a:solidFill>
            <a:ln w="9525" algn="ctr">
              <a:solidFill>
                <a:schemeClr val="tx1"/>
              </a:solidFill>
              <a:miter lim="800000"/>
              <a:headEnd/>
              <a:tailEnd/>
            </a:ln>
          </p:spPr>
          <p:txBody>
            <a:bodyPr wrap="none" anchor="ctr"/>
            <a:lstStyle/>
            <a:p>
              <a:pPr algn="ctr"/>
              <a:r>
                <a:rPr lang="en-US">
                  <a:solidFill>
                    <a:schemeClr val="tx1"/>
                  </a:solidFill>
                </a:rPr>
                <a:t>CPU</a:t>
              </a:r>
            </a:p>
            <a:p>
              <a:pPr algn="ctr"/>
              <a:r>
                <a:rPr lang="en-US">
                  <a:solidFill>
                    <a:schemeClr val="tx1"/>
                  </a:solidFill>
                </a:rPr>
                <a:t>Cache</a:t>
              </a:r>
            </a:p>
          </p:txBody>
        </p:sp>
        <p:sp>
          <p:nvSpPr>
            <p:cNvPr id="17424" name="AutoShape 77"/>
            <p:cNvSpPr>
              <a:spLocks noChangeArrowheads="1"/>
            </p:cNvSpPr>
            <p:nvPr/>
          </p:nvSpPr>
          <p:spPr bwMode="auto">
            <a:xfrm flipV="1">
              <a:off x="2710" y="2578"/>
              <a:ext cx="2422" cy="819"/>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415 w 21600"/>
                <a:gd name="T13" fmla="*/ 4431 h 21600"/>
                <a:gd name="T14" fmla="*/ 17185 w 21600"/>
                <a:gd name="T15" fmla="*/ 17169 h 21600"/>
              </a:gdLst>
              <a:ahLst/>
              <a:cxnLst>
                <a:cxn ang="T8">
                  <a:pos x="T0" y="T1"/>
                </a:cxn>
                <a:cxn ang="T9">
                  <a:pos x="T2" y="T3"/>
                </a:cxn>
                <a:cxn ang="T10">
                  <a:pos x="T4" y="T5"/>
                </a:cxn>
                <a:cxn ang="T11">
                  <a:pos x="T6" y="T7"/>
                </a:cxn>
              </a:cxnLst>
              <a:rect l="T12" t="T13" r="T14" b="T15"/>
              <a:pathLst>
                <a:path w="21600" h="21600">
                  <a:moveTo>
                    <a:pt x="0" y="0"/>
                  </a:moveTo>
                  <a:lnTo>
                    <a:pt x="5235" y="21600"/>
                  </a:lnTo>
                  <a:lnTo>
                    <a:pt x="16365" y="21600"/>
                  </a:lnTo>
                  <a:lnTo>
                    <a:pt x="21600" y="0"/>
                  </a:lnTo>
                  <a:close/>
                </a:path>
              </a:pathLst>
            </a:custGeom>
            <a:solidFill>
              <a:srgbClr val="00FF00"/>
            </a:solidFill>
            <a:ln w="9525" algn="ctr">
              <a:solidFill>
                <a:schemeClr val="tx1"/>
              </a:solidFill>
              <a:miter lim="800000"/>
              <a:headEnd/>
              <a:tailEnd/>
            </a:ln>
          </p:spPr>
          <p:txBody>
            <a:bodyPr rot="10800000" wrap="none" anchor="ctr"/>
            <a:lstStyle/>
            <a:p>
              <a:pPr algn="ctr"/>
              <a:r>
                <a:rPr lang="en-US">
                  <a:solidFill>
                    <a:schemeClr val="tx1"/>
                  </a:solidFill>
                </a:rPr>
                <a:t>DRAM</a:t>
              </a:r>
            </a:p>
          </p:txBody>
        </p:sp>
        <p:sp>
          <p:nvSpPr>
            <p:cNvPr id="17425" name="AutoShape 78"/>
            <p:cNvSpPr>
              <a:spLocks noChangeArrowheads="1"/>
            </p:cNvSpPr>
            <p:nvPr/>
          </p:nvSpPr>
          <p:spPr bwMode="auto">
            <a:xfrm>
              <a:off x="3792" y="2332"/>
              <a:ext cx="274" cy="246"/>
            </a:xfrm>
            <a:prstGeom prst="upDownArrow">
              <a:avLst>
                <a:gd name="adj1" fmla="val 50000"/>
                <a:gd name="adj2" fmla="val 20000"/>
              </a:avLst>
            </a:prstGeom>
            <a:solidFill>
              <a:srgbClr val="0000FF"/>
            </a:solidFill>
            <a:ln w="9525" algn="ctr">
              <a:solidFill>
                <a:schemeClr val="tx1"/>
              </a:solidFill>
              <a:miter lim="800000"/>
              <a:headEnd/>
              <a:tailEnd/>
            </a:ln>
          </p:spPr>
          <p:txBody>
            <a:bodyPr wrap="none" anchor="ctr"/>
            <a:lstStyle/>
            <a:p>
              <a:endParaRPr lang="en-US"/>
            </a:p>
          </p:txBody>
        </p:sp>
      </p:grpSp>
      <p:grpSp>
        <p:nvGrpSpPr>
          <p:cNvPr id="3" name="Group 96"/>
          <p:cNvGrpSpPr>
            <a:grpSpLocks/>
          </p:cNvGrpSpPr>
          <p:nvPr/>
        </p:nvGrpSpPr>
        <p:grpSpPr bwMode="auto">
          <a:xfrm>
            <a:off x="4984750" y="3640138"/>
            <a:ext cx="3135313" cy="2617787"/>
            <a:chOff x="530" y="2195"/>
            <a:chExt cx="1975" cy="1649"/>
          </a:xfrm>
        </p:grpSpPr>
        <p:sp>
          <p:nvSpPr>
            <p:cNvPr id="17415" name="AutoShape 86"/>
            <p:cNvSpPr>
              <a:spLocks noChangeArrowheads="1"/>
            </p:cNvSpPr>
            <p:nvPr/>
          </p:nvSpPr>
          <p:spPr bwMode="auto">
            <a:xfrm>
              <a:off x="530" y="2195"/>
              <a:ext cx="699" cy="482"/>
            </a:xfrm>
            <a:prstGeom prst="triangle">
              <a:avLst>
                <a:gd name="adj" fmla="val 50000"/>
              </a:avLst>
            </a:prstGeom>
            <a:solidFill>
              <a:srgbClr val="00FF00"/>
            </a:solidFill>
            <a:ln w="9525" algn="ctr">
              <a:solidFill>
                <a:schemeClr val="tx1"/>
              </a:solidFill>
              <a:miter lim="800000"/>
              <a:headEnd/>
              <a:tailEnd/>
            </a:ln>
          </p:spPr>
          <p:txBody>
            <a:bodyPr wrap="none" anchor="ctr"/>
            <a:lstStyle/>
            <a:p>
              <a:pPr algn="ctr"/>
              <a:r>
                <a:rPr lang="en-US" sz="1600">
                  <a:solidFill>
                    <a:schemeClr val="tx1"/>
                  </a:solidFill>
                </a:rPr>
                <a:t>CPU</a:t>
              </a:r>
            </a:p>
            <a:p>
              <a:pPr algn="ctr"/>
              <a:r>
                <a:rPr lang="en-US" sz="1600">
                  <a:solidFill>
                    <a:schemeClr val="tx1"/>
                  </a:solidFill>
                </a:rPr>
                <a:t>DRAM</a:t>
              </a:r>
            </a:p>
          </p:txBody>
        </p:sp>
        <p:sp>
          <p:nvSpPr>
            <p:cNvPr id="17416" name="AutoShape 87"/>
            <p:cNvSpPr>
              <a:spLocks noChangeArrowheads="1"/>
            </p:cNvSpPr>
            <p:nvPr/>
          </p:nvSpPr>
          <p:spPr bwMode="auto">
            <a:xfrm>
              <a:off x="699" y="2677"/>
              <a:ext cx="344" cy="685"/>
            </a:xfrm>
            <a:prstGeom prst="upDownArrow">
              <a:avLst>
                <a:gd name="adj1" fmla="val 50000"/>
                <a:gd name="adj2" fmla="val 39826"/>
              </a:avLst>
            </a:prstGeom>
            <a:solidFill>
              <a:srgbClr val="0000FF"/>
            </a:solidFill>
            <a:ln w="9525" algn="ctr">
              <a:solidFill>
                <a:schemeClr val="tx1"/>
              </a:solidFill>
              <a:miter lim="800000"/>
              <a:headEnd/>
              <a:tailEnd/>
            </a:ln>
          </p:spPr>
          <p:txBody>
            <a:bodyPr wrap="none" anchor="ctr"/>
            <a:lstStyle/>
            <a:p>
              <a:endParaRPr lang="en-US"/>
            </a:p>
          </p:txBody>
        </p:sp>
        <p:sp>
          <p:nvSpPr>
            <p:cNvPr id="17417" name="AutoShape 88"/>
            <p:cNvSpPr>
              <a:spLocks noChangeArrowheads="1"/>
            </p:cNvSpPr>
            <p:nvPr/>
          </p:nvSpPr>
          <p:spPr bwMode="auto">
            <a:xfrm>
              <a:off x="1806" y="3362"/>
              <a:ext cx="699" cy="482"/>
            </a:xfrm>
            <a:prstGeom prst="triangle">
              <a:avLst>
                <a:gd name="adj" fmla="val 50000"/>
              </a:avLst>
            </a:prstGeom>
            <a:solidFill>
              <a:srgbClr val="00FF00"/>
            </a:solidFill>
            <a:ln w="9525" algn="ctr">
              <a:solidFill>
                <a:schemeClr val="tx1"/>
              </a:solidFill>
              <a:miter lim="800000"/>
              <a:headEnd/>
              <a:tailEnd/>
            </a:ln>
          </p:spPr>
          <p:txBody>
            <a:bodyPr wrap="none" anchor="ctr"/>
            <a:lstStyle/>
            <a:p>
              <a:pPr algn="ctr"/>
              <a:r>
                <a:rPr lang="en-US" sz="1600">
                  <a:solidFill>
                    <a:schemeClr val="tx1"/>
                  </a:solidFill>
                </a:rPr>
                <a:t>CPU</a:t>
              </a:r>
            </a:p>
            <a:p>
              <a:pPr algn="ctr"/>
              <a:r>
                <a:rPr lang="en-US" sz="1600">
                  <a:solidFill>
                    <a:schemeClr val="tx1"/>
                  </a:solidFill>
                </a:rPr>
                <a:t>DRAM</a:t>
              </a:r>
            </a:p>
          </p:txBody>
        </p:sp>
        <p:sp>
          <p:nvSpPr>
            <p:cNvPr id="17418" name="AutoShape 89"/>
            <p:cNvSpPr>
              <a:spLocks noChangeArrowheads="1"/>
            </p:cNvSpPr>
            <p:nvPr/>
          </p:nvSpPr>
          <p:spPr bwMode="auto">
            <a:xfrm>
              <a:off x="530" y="3362"/>
              <a:ext cx="699" cy="482"/>
            </a:xfrm>
            <a:prstGeom prst="triangle">
              <a:avLst>
                <a:gd name="adj" fmla="val 50000"/>
              </a:avLst>
            </a:prstGeom>
            <a:solidFill>
              <a:srgbClr val="00FF00"/>
            </a:solidFill>
            <a:ln w="9525" algn="ctr">
              <a:solidFill>
                <a:schemeClr val="tx1"/>
              </a:solidFill>
              <a:miter lim="800000"/>
              <a:headEnd/>
              <a:tailEnd/>
            </a:ln>
          </p:spPr>
          <p:txBody>
            <a:bodyPr wrap="none" anchor="ctr"/>
            <a:lstStyle/>
            <a:p>
              <a:pPr algn="ctr"/>
              <a:r>
                <a:rPr lang="en-US" sz="1600">
                  <a:solidFill>
                    <a:schemeClr val="tx1"/>
                  </a:solidFill>
                </a:rPr>
                <a:t>CPU</a:t>
              </a:r>
            </a:p>
            <a:p>
              <a:pPr algn="ctr"/>
              <a:r>
                <a:rPr lang="en-US" sz="1600">
                  <a:solidFill>
                    <a:schemeClr val="tx1"/>
                  </a:solidFill>
                </a:rPr>
                <a:t>DRAM</a:t>
              </a:r>
            </a:p>
          </p:txBody>
        </p:sp>
        <p:sp>
          <p:nvSpPr>
            <p:cNvPr id="17419" name="AutoShape 90"/>
            <p:cNvSpPr>
              <a:spLocks noChangeArrowheads="1"/>
            </p:cNvSpPr>
            <p:nvPr/>
          </p:nvSpPr>
          <p:spPr bwMode="auto">
            <a:xfrm>
              <a:off x="1806" y="2195"/>
              <a:ext cx="699" cy="482"/>
            </a:xfrm>
            <a:prstGeom prst="triangle">
              <a:avLst>
                <a:gd name="adj" fmla="val 50000"/>
              </a:avLst>
            </a:prstGeom>
            <a:solidFill>
              <a:srgbClr val="00FF00"/>
            </a:solidFill>
            <a:ln w="9525" algn="ctr">
              <a:solidFill>
                <a:schemeClr val="tx1"/>
              </a:solidFill>
              <a:miter lim="800000"/>
              <a:headEnd/>
              <a:tailEnd/>
            </a:ln>
          </p:spPr>
          <p:txBody>
            <a:bodyPr wrap="none" anchor="ctr"/>
            <a:lstStyle/>
            <a:p>
              <a:pPr algn="ctr"/>
              <a:r>
                <a:rPr lang="en-US" sz="1600">
                  <a:solidFill>
                    <a:schemeClr val="tx1"/>
                  </a:solidFill>
                </a:rPr>
                <a:t>CPU</a:t>
              </a:r>
            </a:p>
            <a:p>
              <a:pPr algn="ctr"/>
              <a:r>
                <a:rPr lang="en-US" sz="1600">
                  <a:solidFill>
                    <a:schemeClr val="tx1"/>
                  </a:solidFill>
                </a:rPr>
                <a:t>DRAM</a:t>
              </a:r>
            </a:p>
          </p:txBody>
        </p:sp>
        <p:sp>
          <p:nvSpPr>
            <p:cNvPr id="17420" name="AutoShape 91"/>
            <p:cNvSpPr>
              <a:spLocks noChangeArrowheads="1"/>
            </p:cNvSpPr>
            <p:nvPr/>
          </p:nvSpPr>
          <p:spPr bwMode="auto">
            <a:xfrm>
              <a:off x="1983" y="2673"/>
              <a:ext cx="344" cy="685"/>
            </a:xfrm>
            <a:prstGeom prst="upDownArrow">
              <a:avLst>
                <a:gd name="adj1" fmla="val 50000"/>
                <a:gd name="adj2" fmla="val 39826"/>
              </a:avLst>
            </a:prstGeom>
            <a:solidFill>
              <a:srgbClr val="0000FF"/>
            </a:solidFill>
            <a:ln w="9525" algn="ctr">
              <a:solidFill>
                <a:schemeClr val="tx1"/>
              </a:solidFill>
              <a:miter lim="800000"/>
              <a:headEnd/>
              <a:tailEnd/>
            </a:ln>
          </p:spPr>
          <p:txBody>
            <a:bodyPr wrap="none" anchor="ctr"/>
            <a:lstStyle/>
            <a:p>
              <a:endParaRPr lang="en-US"/>
            </a:p>
          </p:txBody>
        </p:sp>
        <p:sp>
          <p:nvSpPr>
            <p:cNvPr id="17421" name="AutoShape 92"/>
            <p:cNvSpPr>
              <a:spLocks noChangeArrowheads="1"/>
            </p:cNvSpPr>
            <p:nvPr/>
          </p:nvSpPr>
          <p:spPr bwMode="auto">
            <a:xfrm rot="-5400000">
              <a:off x="1347" y="2149"/>
              <a:ext cx="344" cy="685"/>
            </a:xfrm>
            <a:prstGeom prst="upDownArrow">
              <a:avLst>
                <a:gd name="adj1" fmla="val 50000"/>
                <a:gd name="adj2" fmla="val 39826"/>
              </a:avLst>
            </a:prstGeom>
            <a:solidFill>
              <a:srgbClr val="0000FF"/>
            </a:solidFill>
            <a:ln w="9525" algn="ctr">
              <a:solidFill>
                <a:schemeClr val="tx1"/>
              </a:solidFill>
              <a:miter lim="800000"/>
              <a:headEnd/>
              <a:tailEnd/>
            </a:ln>
          </p:spPr>
          <p:txBody>
            <a:bodyPr wrap="none" anchor="ctr"/>
            <a:lstStyle/>
            <a:p>
              <a:endParaRPr lang="en-US"/>
            </a:p>
          </p:txBody>
        </p:sp>
        <p:sp>
          <p:nvSpPr>
            <p:cNvPr id="17422" name="AutoShape 93"/>
            <p:cNvSpPr>
              <a:spLocks noChangeArrowheads="1"/>
            </p:cNvSpPr>
            <p:nvPr/>
          </p:nvSpPr>
          <p:spPr bwMode="auto">
            <a:xfrm rot="-5400000">
              <a:off x="1343" y="3322"/>
              <a:ext cx="344" cy="686"/>
            </a:xfrm>
            <a:prstGeom prst="upDownArrow">
              <a:avLst>
                <a:gd name="adj1" fmla="val 50000"/>
                <a:gd name="adj2" fmla="val 39884"/>
              </a:avLst>
            </a:prstGeom>
            <a:solidFill>
              <a:srgbClr val="0000FF"/>
            </a:solidFill>
            <a:ln w="9525" algn="ctr">
              <a:solidFill>
                <a:schemeClr val="tx1"/>
              </a:solidFill>
              <a:miter lim="800000"/>
              <a:headEnd/>
              <a:tailEnd/>
            </a:ln>
          </p:spPr>
          <p:txBody>
            <a:bodyPr wrap="none" anchor="ctr"/>
            <a:lstStyle/>
            <a:p>
              <a:endParaRPr lang="en-US"/>
            </a:p>
          </p:txBody>
        </p:sp>
      </p:grpSp>
      <p:cxnSp>
        <p:nvCxnSpPr>
          <p:cNvPr id="18" name="Straight Connector 17"/>
          <p:cNvCxnSpPr/>
          <p:nvPr/>
        </p:nvCxnSpPr>
        <p:spPr>
          <a:xfrm>
            <a:off x="381000" y="838200"/>
            <a:ext cx="8305800" cy="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a:xfrm>
            <a:off x="457201" y="152400"/>
            <a:ext cx="8229600" cy="425450"/>
          </a:xfrm>
        </p:spPr>
        <p:txBody>
          <a:bodyPr>
            <a:normAutofit fontScale="90000"/>
          </a:bodyPr>
          <a:lstStyle/>
          <a:p>
            <a:r>
              <a:rPr lang="en-US" dirty="0" smtClean="0"/>
              <a:t>Why avoid communication? (2/2)</a:t>
            </a:r>
          </a:p>
        </p:txBody>
      </p:sp>
      <p:sp>
        <p:nvSpPr>
          <p:cNvPr id="18435" name="Content Placeholder 2"/>
          <p:cNvSpPr>
            <a:spLocks noGrp="1"/>
          </p:cNvSpPr>
          <p:nvPr>
            <p:ph idx="1"/>
          </p:nvPr>
        </p:nvSpPr>
        <p:spPr>
          <a:xfrm>
            <a:off x="609600" y="719138"/>
            <a:ext cx="8001000" cy="1528762"/>
          </a:xfrm>
        </p:spPr>
        <p:txBody>
          <a:bodyPr>
            <a:normAutofit fontScale="85000" lnSpcReduction="20000"/>
          </a:bodyPr>
          <a:lstStyle/>
          <a:p>
            <a:pPr marL="342900" indent="-342900">
              <a:spcBef>
                <a:spcPct val="20000"/>
              </a:spcBef>
            </a:pPr>
            <a:r>
              <a:rPr lang="en-US" smtClean="0"/>
              <a:t>Running time of an algorithm is sum of 3 terms:</a:t>
            </a:r>
          </a:p>
          <a:p>
            <a:pPr marL="914400" lvl="1" indent="-457200">
              <a:spcBef>
                <a:spcPct val="20000"/>
              </a:spcBef>
            </a:pPr>
            <a:r>
              <a:rPr lang="en-US" smtClean="0">
                <a:solidFill>
                  <a:schemeClr val="tx1"/>
                </a:solidFill>
              </a:rPr>
              <a:t># flops * time_per_flop</a:t>
            </a:r>
          </a:p>
          <a:p>
            <a:pPr marL="914400" lvl="1" indent="-457200">
              <a:spcBef>
                <a:spcPct val="20000"/>
              </a:spcBef>
            </a:pPr>
            <a:r>
              <a:rPr lang="en-US" smtClean="0">
                <a:solidFill>
                  <a:schemeClr val="tx1"/>
                </a:solidFill>
              </a:rPr>
              <a:t># words moved / bandwidth</a:t>
            </a:r>
          </a:p>
          <a:p>
            <a:pPr marL="914400" lvl="1" indent="-457200">
              <a:spcBef>
                <a:spcPct val="20000"/>
              </a:spcBef>
            </a:pPr>
            <a:r>
              <a:rPr lang="en-US" smtClean="0">
                <a:solidFill>
                  <a:schemeClr val="tx1"/>
                </a:solidFill>
              </a:rPr>
              <a:t># messages * latency</a:t>
            </a:r>
          </a:p>
        </p:txBody>
      </p:sp>
      <p:sp>
        <p:nvSpPr>
          <p:cNvPr id="20484" name="Slide Number Placeholder 3"/>
          <p:cNvSpPr>
            <a:spLocks noGrp="1"/>
          </p:cNvSpPr>
          <p:nvPr>
            <p:ph type="sldNum" sz="quarter" idx="10"/>
          </p:nvPr>
        </p:nvSpPr>
        <p:spPr>
          <a:xfrm>
            <a:off x="7053263" y="6299200"/>
            <a:ext cx="1905000" cy="457200"/>
          </a:xfrm>
        </p:spPr>
        <p:txBody>
          <a:bodyPr/>
          <a:lstStyle/>
          <a:p>
            <a:pPr>
              <a:defRPr/>
            </a:pPr>
            <a:fld id="{096107BD-A7FD-4D6B-9533-9467B80703DB}" type="slidenum">
              <a:rPr lang="en-US" smtClean="0">
                <a:latin typeface="Helvetica"/>
              </a:rPr>
              <a:pPr>
                <a:defRPr/>
              </a:pPr>
              <a:t>3</a:t>
            </a:fld>
            <a:endParaRPr lang="en-US" dirty="0" smtClean="0">
              <a:latin typeface="Helvetica"/>
            </a:endParaRPr>
          </a:p>
        </p:txBody>
      </p:sp>
      <p:grpSp>
        <p:nvGrpSpPr>
          <p:cNvPr id="2" name="Group 5"/>
          <p:cNvGrpSpPr>
            <a:grpSpLocks/>
          </p:cNvGrpSpPr>
          <p:nvPr/>
        </p:nvGrpSpPr>
        <p:grpSpPr bwMode="auto">
          <a:xfrm>
            <a:off x="5145088" y="1473200"/>
            <a:ext cx="2398712" cy="762000"/>
            <a:chOff x="5105400" y="2133600"/>
            <a:chExt cx="2399879" cy="762000"/>
          </a:xfrm>
        </p:grpSpPr>
        <p:sp>
          <p:nvSpPr>
            <p:cNvPr id="6" name="Right Brace 5"/>
            <p:cNvSpPr/>
            <p:nvPr/>
          </p:nvSpPr>
          <p:spPr>
            <a:xfrm>
              <a:off x="5105400" y="2133600"/>
              <a:ext cx="152474" cy="762000"/>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algn="ctr" eaLnBrk="0" fontAlgn="auto" hangingPunct="0">
                <a:spcBef>
                  <a:spcPts val="0"/>
                </a:spcBef>
                <a:spcAft>
                  <a:spcPts val="0"/>
                </a:spcAft>
                <a:defRPr/>
              </a:pPr>
              <a:endParaRPr lang="en-US" dirty="0"/>
            </a:p>
          </p:txBody>
        </p:sp>
        <p:sp>
          <p:nvSpPr>
            <p:cNvPr id="18469" name="TextBox 4"/>
            <p:cNvSpPr txBox="1">
              <a:spLocks noChangeArrowheads="1"/>
            </p:cNvSpPr>
            <p:nvPr/>
          </p:nvSpPr>
          <p:spPr bwMode="auto">
            <a:xfrm>
              <a:off x="5334000" y="2286000"/>
              <a:ext cx="2171279" cy="461665"/>
            </a:xfrm>
            <a:prstGeom prst="rect">
              <a:avLst/>
            </a:prstGeom>
            <a:noFill/>
            <a:ln w="9525">
              <a:noFill/>
              <a:miter lim="800000"/>
              <a:headEnd/>
              <a:tailEnd/>
            </a:ln>
          </p:spPr>
          <p:txBody>
            <a:bodyPr wrap="none">
              <a:spAutoFit/>
            </a:bodyPr>
            <a:lstStyle/>
            <a:p>
              <a:pPr eaLnBrk="0" hangingPunct="0"/>
              <a:r>
                <a:rPr lang="en-US" sz="2400" dirty="0">
                  <a:solidFill>
                    <a:schemeClr val="tx1"/>
                  </a:solidFill>
                  <a:latin typeface="Calibri" pitchFamily="34" charset="0"/>
                </a:rPr>
                <a:t>communication</a:t>
              </a:r>
            </a:p>
          </p:txBody>
        </p:sp>
      </p:grpSp>
      <p:sp>
        <p:nvSpPr>
          <p:cNvPr id="8" name="Content Placeholder 2"/>
          <p:cNvSpPr txBox="1">
            <a:spLocks/>
          </p:cNvSpPr>
          <p:nvPr/>
        </p:nvSpPr>
        <p:spPr bwMode="auto">
          <a:xfrm>
            <a:off x="541338" y="2287588"/>
            <a:ext cx="8001000" cy="863600"/>
          </a:xfrm>
          <a:prstGeom prst="rect">
            <a:avLst/>
          </a:prstGeom>
          <a:noFill/>
          <a:ln w="9525">
            <a:noFill/>
            <a:miter lim="800000"/>
            <a:headEnd/>
            <a:tailEnd/>
          </a:ln>
        </p:spPr>
        <p:txBody>
          <a:bodyPr lIns="63500" tIns="25400" rIns="63500" bIns="25400">
            <a:spAutoFit/>
          </a:bodyPr>
          <a:lstStyle/>
          <a:p>
            <a:pPr marL="285750" indent="-285750" eaLnBrk="0" fontAlgn="auto" hangingPunct="0">
              <a:spcBef>
                <a:spcPct val="20000"/>
              </a:spcBef>
              <a:spcAft>
                <a:spcPts val="0"/>
              </a:spcAft>
              <a:buSzPct val="100000"/>
              <a:buFont typeface="Arial" pitchFamily="34" charset="0"/>
              <a:buChar char="•"/>
              <a:defRPr/>
            </a:pPr>
            <a:r>
              <a:rPr lang="en-US" sz="2400" b="0" kern="0" dirty="0" err="1">
                <a:solidFill>
                  <a:schemeClr val="tx1"/>
                </a:solidFill>
                <a:latin typeface="+mn-lt"/>
                <a:cs typeface="+mn-cs"/>
              </a:rPr>
              <a:t>Time_per_flop</a:t>
            </a:r>
            <a:r>
              <a:rPr lang="en-US" sz="2400" b="0" kern="0" dirty="0">
                <a:solidFill>
                  <a:schemeClr val="tx1"/>
                </a:solidFill>
                <a:latin typeface="+mn-lt"/>
                <a:cs typeface="+mn-cs"/>
              </a:rPr>
              <a:t>  &lt;&lt;  1/ bandwidth  &lt;&lt;  latency</a:t>
            </a:r>
          </a:p>
          <a:p>
            <a:pPr marL="742950" lvl="1" indent="-285750" eaLnBrk="0" fontAlgn="auto" hangingPunct="0">
              <a:spcBef>
                <a:spcPct val="20000"/>
              </a:spcBef>
              <a:spcAft>
                <a:spcPts val="0"/>
              </a:spcAft>
              <a:buSzPct val="100000"/>
              <a:buFont typeface="Arial" pitchFamily="34" charset="0"/>
              <a:buChar char="•"/>
              <a:defRPr/>
            </a:pPr>
            <a:r>
              <a:rPr lang="en-US" sz="2400" b="0" kern="0" dirty="0">
                <a:solidFill>
                  <a:schemeClr val="tx1"/>
                </a:solidFill>
                <a:latin typeface="+mn-lt"/>
                <a:cs typeface="+mn-cs"/>
              </a:rPr>
              <a:t>Gaps growing exponentially with </a:t>
            </a:r>
            <a:r>
              <a:rPr lang="en-US" sz="2400" b="0" kern="0" dirty="0" smtClean="0">
                <a:solidFill>
                  <a:schemeClr val="tx1"/>
                </a:solidFill>
                <a:latin typeface="+mn-lt"/>
                <a:cs typeface="+mn-cs"/>
              </a:rPr>
              <a:t>time [FOSC</a:t>
            </a:r>
            <a:r>
              <a:rPr lang="en-US" sz="2400" kern="0" dirty="0" smtClean="0"/>
              <a:t>]</a:t>
            </a:r>
            <a:endParaRPr lang="en-US" sz="2400" b="0" kern="0" dirty="0">
              <a:solidFill>
                <a:schemeClr val="tx1"/>
              </a:solidFill>
              <a:latin typeface="+mn-lt"/>
              <a:cs typeface="+mn-cs"/>
            </a:endParaRPr>
          </a:p>
        </p:txBody>
      </p:sp>
      <p:grpSp>
        <p:nvGrpSpPr>
          <p:cNvPr id="3" name="Group 13"/>
          <p:cNvGrpSpPr>
            <a:grpSpLocks/>
          </p:cNvGrpSpPr>
          <p:nvPr/>
        </p:nvGrpSpPr>
        <p:grpSpPr bwMode="auto">
          <a:xfrm>
            <a:off x="557213" y="4730751"/>
            <a:ext cx="8534400" cy="1750223"/>
            <a:chOff x="541338" y="4486791"/>
            <a:chExt cx="8534400" cy="1749582"/>
          </a:xfrm>
        </p:grpSpPr>
        <p:sp>
          <p:nvSpPr>
            <p:cNvPr id="9" name="Content Placeholder 2"/>
            <p:cNvSpPr txBox="1">
              <a:spLocks/>
            </p:cNvSpPr>
            <p:nvPr/>
          </p:nvSpPr>
          <p:spPr bwMode="auto">
            <a:xfrm>
              <a:off x="541338" y="4486791"/>
              <a:ext cx="8534400" cy="1749582"/>
            </a:xfrm>
            <a:prstGeom prst="rect">
              <a:avLst/>
            </a:prstGeom>
            <a:noFill/>
            <a:ln w="9525">
              <a:noFill/>
              <a:miter lim="800000"/>
              <a:headEnd/>
              <a:tailEnd/>
            </a:ln>
          </p:spPr>
          <p:txBody>
            <a:bodyPr lIns="63500" tIns="25400" rIns="63500" bIns="25400">
              <a:spAutoFit/>
            </a:bodyPr>
            <a:lstStyle/>
            <a:p>
              <a:pPr marL="342900" indent="-342900" eaLnBrk="0" fontAlgn="auto" hangingPunct="0">
                <a:spcBef>
                  <a:spcPct val="20000"/>
                </a:spcBef>
                <a:spcAft>
                  <a:spcPts val="0"/>
                </a:spcAft>
                <a:buSzPct val="100000"/>
                <a:buFont typeface="Arial" pitchFamily="34" charset="0"/>
                <a:buChar char="•"/>
                <a:defRPr/>
              </a:pPr>
              <a:r>
                <a:rPr lang="en-US" sz="2400" b="0" kern="0" dirty="0">
                  <a:solidFill>
                    <a:schemeClr val="tx1"/>
                  </a:solidFill>
                  <a:latin typeface="+mn-lt"/>
                  <a:cs typeface="+mn-cs"/>
                </a:rPr>
                <a:t>Goal : reorganize </a:t>
              </a:r>
              <a:r>
                <a:rPr lang="en-US" sz="2400" kern="0" dirty="0" smtClean="0"/>
                <a:t>algorithms</a:t>
              </a:r>
              <a:r>
                <a:rPr lang="en-US" sz="2400" b="0" kern="0" dirty="0" smtClean="0">
                  <a:solidFill>
                    <a:schemeClr val="tx1"/>
                  </a:solidFill>
                  <a:latin typeface="+mn-lt"/>
                  <a:cs typeface="+mn-cs"/>
                </a:rPr>
                <a:t> </a:t>
              </a:r>
              <a:r>
                <a:rPr lang="en-US" sz="2400" b="0" kern="0" dirty="0">
                  <a:solidFill>
                    <a:schemeClr val="tx1"/>
                  </a:solidFill>
                  <a:latin typeface="+mn-lt"/>
                  <a:cs typeface="+mn-cs"/>
                </a:rPr>
                <a:t>to </a:t>
              </a:r>
              <a:r>
                <a:rPr lang="en-US" sz="2400" b="0" i="1" kern="0" dirty="0">
                  <a:solidFill>
                    <a:schemeClr val="tx1"/>
                  </a:solidFill>
                  <a:latin typeface="+mn-lt"/>
                  <a:cs typeface="+mn-cs"/>
                </a:rPr>
                <a:t>avoid</a:t>
              </a:r>
              <a:r>
                <a:rPr lang="en-US" sz="2400" b="0" kern="0" dirty="0">
                  <a:solidFill>
                    <a:schemeClr val="tx1"/>
                  </a:solidFill>
                  <a:latin typeface="+mn-lt"/>
                  <a:cs typeface="+mn-cs"/>
                </a:rPr>
                <a:t> communication</a:t>
              </a:r>
            </a:p>
            <a:p>
              <a:pPr marL="800100" lvl="1" indent="-342900" eaLnBrk="0" fontAlgn="auto" hangingPunct="0">
                <a:spcBef>
                  <a:spcPct val="20000"/>
                </a:spcBef>
                <a:spcAft>
                  <a:spcPts val="0"/>
                </a:spcAft>
                <a:buSzPct val="100000"/>
                <a:buFontTx/>
                <a:buChar char="•"/>
                <a:defRPr/>
              </a:pPr>
              <a:r>
                <a:rPr lang="en-US" b="0" kern="0" dirty="0">
                  <a:solidFill>
                    <a:schemeClr val="tx1"/>
                  </a:solidFill>
                  <a:latin typeface="+mn-lt"/>
                  <a:cs typeface="+mn-cs"/>
                </a:rPr>
                <a:t>Between all memory hierarchy levels </a:t>
              </a:r>
            </a:p>
            <a:p>
              <a:pPr marL="1257300" lvl="2" indent="-342900" eaLnBrk="0" fontAlgn="auto" hangingPunct="0">
                <a:spcBef>
                  <a:spcPct val="20000"/>
                </a:spcBef>
                <a:spcAft>
                  <a:spcPts val="0"/>
                </a:spcAft>
                <a:buSzPct val="100000"/>
                <a:buFontTx/>
                <a:buChar char="•"/>
                <a:defRPr/>
              </a:pPr>
              <a:r>
                <a:rPr lang="en-US" b="0" kern="0" dirty="0">
                  <a:solidFill>
                    <a:schemeClr val="tx1"/>
                  </a:solidFill>
                  <a:latin typeface="+mn-lt"/>
                  <a:cs typeface="+mn-cs"/>
                </a:rPr>
                <a:t>L1         L2         DRAM          network,  etc </a:t>
              </a:r>
            </a:p>
            <a:p>
              <a:pPr marL="800100" lvl="1" indent="-342900" eaLnBrk="0" fontAlgn="auto" hangingPunct="0">
                <a:spcBef>
                  <a:spcPct val="20000"/>
                </a:spcBef>
                <a:spcAft>
                  <a:spcPts val="0"/>
                </a:spcAft>
                <a:buSzPct val="100000"/>
                <a:buFontTx/>
                <a:buChar char="•"/>
                <a:defRPr/>
              </a:pPr>
              <a:r>
                <a:rPr lang="en-US" kern="0" dirty="0" smtClean="0"/>
                <a:t>Very large</a:t>
              </a:r>
              <a:r>
                <a:rPr lang="en-US" b="0" kern="0" dirty="0" smtClean="0">
                  <a:solidFill>
                    <a:schemeClr val="tx1"/>
                  </a:solidFill>
                  <a:latin typeface="+mn-lt"/>
                  <a:cs typeface="+mn-cs"/>
                </a:rPr>
                <a:t> </a:t>
              </a:r>
              <a:r>
                <a:rPr lang="en-US" b="0" kern="0" dirty="0">
                  <a:solidFill>
                    <a:schemeClr val="tx1"/>
                  </a:solidFill>
                  <a:latin typeface="+mn-lt"/>
                  <a:cs typeface="+mn-cs"/>
                </a:rPr>
                <a:t>speedups </a:t>
              </a:r>
              <a:r>
                <a:rPr lang="en-US" b="0" kern="0" dirty="0" smtClean="0">
                  <a:solidFill>
                    <a:schemeClr val="tx1"/>
                  </a:solidFill>
                  <a:latin typeface="+mn-lt"/>
                  <a:cs typeface="+mn-cs"/>
                </a:rPr>
                <a:t>possible</a:t>
              </a:r>
            </a:p>
            <a:p>
              <a:pPr marL="800100" lvl="1" indent="-342900" eaLnBrk="0" fontAlgn="auto" hangingPunct="0">
                <a:spcBef>
                  <a:spcPct val="20000"/>
                </a:spcBef>
                <a:spcAft>
                  <a:spcPts val="0"/>
                </a:spcAft>
                <a:buSzPct val="100000"/>
                <a:buFontTx/>
                <a:buChar char="•"/>
                <a:defRPr/>
              </a:pPr>
              <a:r>
                <a:rPr lang="en-US" sz="1800" kern="0" dirty="0" smtClean="0"/>
                <a:t>Energy savings too!</a:t>
              </a:r>
              <a:endParaRPr lang="en-US" sz="1800" b="0" kern="0" dirty="0">
                <a:solidFill>
                  <a:srgbClr val="000099"/>
                </a:solidFill>
                <a:latin typeface="+mn-lt"/>
                <a:cs typeface="+mn-cs"/>
              </a:endParaRPr>
            </a:p>
          </p:txBody>
        </p:sp>
        <p:cxnSp>
          <p:nvCxnSpPr>
            <p:cNvPr id="18465" name="Straight Arrow Connector 10"/>
            <p:cNvCxnSpPr>
              <a:cxnSpLocks noChangeShapeType="1"/>
            </p:cNvCxnSpPr>
            <p:nvPr/>
          </p:nvCxnSpPr>
          <p:spPr bwMode="auto">
            <a:xfrm>
              <a:off x="2041525" y="5418312"/>
              <a:ext cx="430212" cy="1587"/>
            </a:xfrm>
            <a:prstGeom prst="straightConnector1">
              <a:avLst/>
            </a:prstGeom>
            <a:noFill/>
            <a:ln w="12700" algn="ctr">
              <a:solidFill>
                <a:schemeClr val="tx1"/>
              </a:solidFill>
              <a:round/>
              <a:headEnd type="arrow" w="med" len="med"/>
              <a:tailEnd type="arrow" w="med" len="med"/>
            </a:ln>
          </p:spPr>
        </p:cxnSp>
        <p:cxnSp>
          <p:nvCxnSpPr>
            <p:cNvPr id="18466" name="Straight Arrow Connector 11"/>
            <p:cNvCxnSpPr>
              <a:cxnSpLocks noChangeShapeType="1"/>
            </p:cNvCxnSpPr>
            <p:nvPr/>
          </p:nvCxnSpPr>
          <p:spPr bwMode="auto">
            <a:xfrm>
              <a:off x="2727325" y="5419899"/>
              <a:ext cx="430213" cy="1588"/>
            </a:xfrm>
            <a:prstGeom prst="straightConnector1">
              <a:avLst/>
            </a:prstGeom>
            <a:noFill/>
            <a:ln w="12700" algn="ctr">
              <a:solidFill>
                <a:schemeClr val="tx1"/>
              </a:solidFill>
              <a:round/>
              <a:headEnd type="arrow" w="med" len="med"/>
              <a:tailEnd type="arrow" w="med" len="med"/>
            </a:ln>
          </p:spPr>
        </p:cxnSp>
        <p:cxnSp>
          <p:nvCxnSpPr>
            <p:cNvPr id="18467" name="Straight Arrow Connector 11"/>
            <p:cNvCxnSpPr>
              <a:cxnSpLocks noChangeShapeType="1"/>
            </p:cNvCxnSpPr>
            <p:nvPr/>
          </p:nvCxnSpPr>
          <p:spPr bwMode="auto">
            <a:xfrm>
              <a:off x="3870325" y="5419899"/>
              <a:ext cx="430212" cy="1587"/>
            </a:xfrm>
            <a:prstGeom prst="straightConnector1">
              <a:avLst/>
            </a:prstGeom>
            <a:noFill/>
            <a:ln w="12700" algn="ctr">
              <a:solidFill>
                <a:schemeClr val="tx1"/>
              </a:solidFill>
              <a:round/>
              <a:headEnd type="arrow" w="med" len="med"/>
              <a:tailEnd type="arrow" w="med" len="med"/>
            </a:ln>
          </p:spPr>
        </p:cxnSp>
      </p:grpSp>
      <p:graphicFrame>
        <p:nvGraphicFramePr>
          <p:cNvPr id="13" name="Table 12"/>
          <p:cNvGraphicFramePr>
            <a:graphicFrameLocks noGrp="1"/>
          </p:cNvGraphicFramePr>
          <p:nvPr/>
        </p:nvGraphicFramePr>
        <p:xfrm>
          <a:off x="1285875" y="3217863"/>
          <a:ext cx="6652980" cy="1463040"/>
        </p:xfrm>
        <a:graphic>
          <a:graphicData uri="http://schemas.openxmlformats.org/drawingml/2006/table">
            <a:tbl>
              <a:tblPr firstRow="1" bandRow="1">
                <a:tableStyleId>{5940675A-B579-460E-94D1-54222C63F5DA}</a:tableStyleId>
              </a:tblPr>
              <a:tblGrid>
                <a:gridCol w="1663245"/>
                <a:gridCol w="1663245"/>
                <a:gridCol w="1663245"/>
                <a:gridCol w="1663245"/>
              </a:tblGrid>
              <a:tr h="344034">
                <a:tc gridSpan="4">
                  <a:txBody>
                    <a:bodyPr/>
                    <a:lstStyle/>
                    <a:p>
                      <a:pPr algn="ctr"/>
                      <a:r>
                        <a:rPr lang="en-US" baseline="0" dirty="0" smtClean="0"/>
                        <a:t>Annual improvements</a:t>
                      </a:r>
                      <a:endParaRPr lang="en-US" dirty="0"/>
                    </a:p>
                  </a:txBody>
                  <a:tcPr/>
                </a:tc>
                <a:tc hMerge="1">
                  <a:txBody>
                    <a:bodyPr/>
                    <a:lstStyle/>
                    <a:p>
                      <a:endParaRPr lang="en-US"/>
                    </a:p>
                  </a:txBody>
                  <a:tcPr/>
                </a:tc>
                <a:tc hMerge="1">
                  <a:txBody>
                    <a:bodyPr/>
                    <a:lstStyle/>
                    <a:p>
                      <a:endParaRPr lang="en-US"/>
                    </a:p>
                  </a:txBody>
                  <a:tcPr/>
                </a:tc>
                <a:tc hMerge="1">
                  <a:txBody>
                    <a:bodyPr/>
                    <a:lstStyle/>
                    <a:p>
                      <a:endParaRPr lang="en-US"/>
                    </a:p>
                  </a:txBody>
                  <a:tcPr/>
                </a:tc>
              </a:tr>
              <a:tr h="229196">
                <a:tc>
                  <a:txBody>
                    <a:bodyPr/>
                    <a:lstStyle/>
                    <a:p>
                      <a:pPr algn="ctr"/>
                      <a:r>
                        <a:rPr lang="en-US" dirty="0" err="1" smtClean="0"/>
                        <a:t>Time_per_flop</a:t>
                      </a:r>
                      <a:endParaRPr lang="en-US" dirty="0"/>
                    </a:p>
                  </a:txBody>
                  <a:tcPr/>
                </a:tc>
                <a:tc>
                  <a:txBody>
                    <a:bodyPr/>
                    <a:lstStyle/>
                    <a:p>
                      <a:pPr algn="ctr"/>
                      <a:endParaRPr lang="en-US"/>
                    </a:p>
                  </a:txBody>
                  <a:tcPr/>
                </a:tc>
                <a:tc>
                  <a:txBody>
                    <a:bodyPr/>
                    <a:lstStyle/>
                    <a:p>
                      <a:pPr algn="ctr"/>
                      <a:r>
                        <a:rPr lang="en-US" dirty="0" smtClean="0"/>
                        <a:t>Bandwidth</a:t>
                      </a:r>
                      <a:endParaRPr lang="en-US" dirty="0"/>
                    </a:p>
                  </a:txBody>
                  <a:tcPr/>
                </a:tc>
                <a:tc>
                  <a:txBody>
                    <a:bodyPr/>
                    <a:lstStyle/>
                    <a:p>
                      <a:pPr algn="ctr"/>
                      <a:r>
                        <a:rPr lang="en-US" dirty="0" smtClean="0"/>
                        <a:t>Latency</a:t>
                      </a:r>
                      <a:endParaRPr lang="en-US" dirty="0"/>
                    </a:p>
                  </a:txBody>
                  <a:tcPr/>
                </a:tc>
              </a:tr>
              <a:tr h="229196">
                <a:tc rowSpan="2">
                  <a:txBody>
                    <a:bodyPr/>
                    <a:lstStyle/>
                    <a:p>
                      <a:pPr algn="ctr"/>
                      <a:endParaRPr lang="en-US" dirty="0"/>
                    </a:p>
                  </a:txBody>
                  <a:tcPr/>
                </a:tc>
                <a:tc>
                  <a:txBody>
                    <a:bodyPr/>
                    <a:lstStyle/>
                    <a:p>
                      <a:pPr algn="ctr"/>
                      <a:r>
                        <a:rPr lang="en-US" dirty="0" smtClean="0"/>
                        <a:t>Network</a:t>
                      </a:r>
                      <a:endParaRPr lang="en-US" dirty="0"/>
                    </a:p>
                  </a:txBody>
                  <a:tcPr/>
                </a:tc>
                <a:tc>
                  <a:txBody>
                    <a:bodyPr/>
                    <a:lstStyle/>
                    <a:p>
                      <a:pPr algn="ctr"/>
                      <a:r>
                        <a:rPr lang="en-US" dirty="0" smtClean="0"/>
                        <a:t>26%</a:t>
                      </a:r>
                      <a:endParaRPr lang="en-US" dirty="0"/>
                    </a:p>
                  </a:txBody>
                  <a:tcPr/>
                </a:tc>
                <a:tc>
                  <a:txBody>
                    <a:bodyPr/>
                    <a:lstStyle/>
                    <a:p>
                      <a:pPr algn="ctr"/>
                      <a:r>
                        <a:rPr lang="en-US" dirty="0" smtClean="0"/>
                        <a:t>15%</a:t>
                      </a:r>
                      <a:endParaRPr lang="en-US" dirty="0"/>
                    </a:p>
                  </a:txBody>
                  <a:tcPr/>
                </a:tc>
              </a:tr>
              <a:tr h="229196">
                <a:tc vMerge="1">
                  <a:txBody>
                    <a:bodyPr/>
                    <a:lstStyle/>
                    <a:p>
                      <a:endParaRPr lang="en-US" dirty="0"/>
                    </a:p>
                  </a:txBody>
                  <a:tcPr/>
                </a:tc>
                <a:tc>
                  <a:txBody>
                    <a:bodyPr/>
                    <a:lstStyle/>
                    <a:p>
                      <a:pPr algn="ctr"/>
                      <a:r>
                        <a:rPr lang="en-US" dirty="0" smtClean="0"/>
                        <a:t>DRAM</a:t>
                      </a:r>
                      <a:endParaRPr lang="en-US" dirty="0"/>
                    </a:p>
                  </a:txBody>
                  <a:tcPr/>
                </a:tc>
                <a:tc>
                  <a:txBody>
                    <a:bodyPr/>
                    <a:lstStyle/>
                    <a:p>
                      <a:pPr algn="ctr"/>
                      <a:r>
                        <a:rPr lang="en-US" dirty="0" smtClean="0"/>
                        <a:t>23%</a:t>
                      </a:r>
                      <a:endParaRPr lang="en-US" dirty="0"/>
                    </a:p>
                  </a:txBody>
                  <a:tcPr/>
                </a:tc>
                <a:tc>
                  <a:txBody>
                    <a:bodyPr/>
                    <a:lstStyle/>
                    <a:p>
                      <a:pPr algn="ctr"/>
                      <a:r>
                        <a:rPr lang="en-US" dirty="0" smtClean="0"/>
                        <a:t>5%</a:t>
                      </a:r>
                      <a:endParaRPr lang="en-US" dirty="0"/>
                    </a:p>
                  </a:txBody>
                  <a:tcPr/>
                </a:tc>
              </a:tr>
            </a:tbl>
          </a:graphicData>
        </a:graphic>
      </p:graphicFrame>
      <p:sp>
        <p:nvSpPr>
          <p:cNvPr id="15" name="TextBox 14"/>
          <p:cNvSpPr txBox="1">
            <a:spLocks noChangeArrowheads="1"/>
          </p:cNvSpPr>
          <p:nvPr/>
        </p:nvSpPr>
        <p:spPr bwMode="auto">
          <a:xfrm>
            <a:off x="1787525" y="4137025"/>
            <a:ext cx="646113" cy="368300"/>
          </a:xfrm>
          <a:prstGeom prst="rect">
            <a:avLst/>
          </a:prstGeom>
          <a:noFill/>
          <a:ln w="9525">
            <a:noFill/>
            <a:miter lim="800000"/>
            <a:headEnd/>
            <a:tailEnd/>
          </a:ln>
        </p:spPr>
        <p:txBody>
          <a:bodyPr wrap="none">
            <a:spAutoFit/>
          </a:bodyPr>
          <a:lstStyle/>
          <a:p>
            <a:r>
              <a:rPr lang="en-US" sz="1800" b="0">
                <a:solidFill>
                  <a:schemeClr val="tx1"/>
                </a:solidFill>
              </a:rPr>
              <a:t>59%</a:t>
            </a:r>
          </a:p>
        </p:txBody>
      </p:sp>
      <p:cxnSp>
        <p:nvCxnSpPr>
          <p:cNvPr id="16" name="Straight Connector 15"/>
          <p:cNvCxnSpPr/>
          <p:nvPr/>
        </p:nvCxnSpPr>
        <p:spPr>
          <a:xfrm>
            <a:off x="381000" y="685800"/>
            <a:ext cx="8305800" cy="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uiExpand="1" build="allAtOnce"/>
      <p:bldP spid="1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 y="1600201"/>
            <a:ext cx="8610600" cy="4616648"/>
          </a:xfrm>
          <a:prstGeom prst="rect">
            <a:avLst/>
          </a:prstGeom>
        </p:spPr>
        <p:txBody>
          <a:bodyPr wrap="square">
            <a:spAutoFit/>
          </a:bodyPr>
          <a:lstStyle/>
          <a:p>
            <a:r>
              <a:rPr lang="en-US" sz="2200" dirty="0" smtClean="0"/>
              <a:t>“New Algorithm Improves Performance and Accuracy on Extreme-Scale Computing Systems. </a:t>
            </a:r>
            <a:r>
              <a:rPr lang="en-US" sz="2200" b="1" dirty="0" smtClean="0"/>
              <a:t>On modern computer architectures, communication between processors takes longer than the performance of a floating point arithmetic operation by a given processor. </a:t>
            </a:r>
            <a:r>
              <a:rPr lang="en-US" sz="2200" dirty="0" smtClean="0"/>
              <a:t>ASCR researchers have developed a new method, derived from commonly used linear algebra methods, to </a:t>
            </a:r>
            <a:r>
              <a:rPr lang="en-US" sz="2200" b="1" dirty="0" smtClean="0"/>
              <a:t>minimize communications between processors and the memory hierarchy, by reformulating the communication patterns specified within the algorithm</a:t>
            </a:r>
            <a:r>
              <a:rPr lang="en-US" sz="2200" dirty="0" smtClean="0"/>
              <a:t>. This method has been implemented in the TRILINOS framework, a highly-regarded suite of software, which provides functionality for researchers around the world to solve large scale, complex multi-physics problems.”</a:t>
            </a:r>
          </a:p>
          <a:p>
            <a:endParaRPr lang="en-US" sz="2000" dirty="0" smtClean="0"/>
          </a:p>
          <a:p>
            <a:pPr algn="r"/>
            <a:r>
              <a:rPr lang="en-US" sz="1600" dirty="0" smtClean="0"/>
              <a:t>FY 2010 Congressional Budget, Volume 4, FY2010 Accomplishments, Advanced Scientific Computing Research (ASCR), pages 65-67.</a:t>
            </a:r>
            <a:endParaRPr lang="en-US" sz="1600" dirty="0"/>
          </a:p>
        </p:txBody>
      </p:sp>
      <p:sp>
        <p:nvSpPr>
          <p:cNvPr id="3" name="Title 1"/>
          <p:cNvSpPr txBox="1">
            <a:spLocks/>
          </p:cNvSpPr>
          <p:nvPr/>
        </p:nvSpPr>
        <p:spPr>
          <a:xfrm>
            <a:off x="457200" y="274638"/>
            <a:ext cx="8229600" cy="1143000"/>
          </a:xfrm>
          <a:prstGeom prst="rect">
            <a:avLst/>
          </a:prstGeom>
        </p:spPr>
        <p:txBody>
          <a:bodyP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smtClean="0">
                <a:ln>
                  <a:noFill/>
                </a:ln>
                <a:solidFill>
                  <a:schemeClr val="tx1"/>
                </a:solidFill>
                <a:effectLst/>
                <a:uLnTx/>
                <a:uFillTx/>
                <a:latin typeface="+mj-lt"/>
                <a:ea typeface="+mj-ea"/>
                <a:cs typeface="+mj-cs"/>
              </a:rPr>
              <a:t>President Obama cites Communication-Avoiding Algorithms in the FY 2012 Department of Energy Budget Request to Congress:</a:t>
            </a:r>
            <a:endParaRPr kumimoji="0" lang="en-US" sz="2400" b="0" i="0" u="none" strike="noStrike" kern="1200" cap="none" spc="0" normalizeH="0" baseline="0" noProof="0" dirty="0">
              <a:ln>
                <a:noFill/>
              </a:ln>
              <a:solidFill>
                <a:schemeClr val="tx1"/>
              </a:solidFill>
              <a:effectLst/>
              <a:uLnTx/>
              <a:uFillTx/>
              <a:latin typeface="+mj-lt"/>
              <a:ea typeface="+mj-ea"/>
              <a:cs typeface="+mj-cs"/>
            </a:endParaRPr>
          </a:p>
        </p:txBody>
      </p:sp>
      <p:sp>
        <p:nvSpPr>
          <p:cNvPr id="4" name="TextBox 3"/>
          <p:cNvSpPr txBox="1"/>
          <p:nvPr/>
        </p:nvSpPr>
        <p:spPr>
          <a:xfrm>
            <a:off x="381000" y="5943600"/>
            <a:ext cx="4953000" cy="584775"/>
          </a:xfrm>
          <a:prstGeom prst="rect">
            <a:avLst/>
          </a:prstGeom>
          <a:noFill/>
          <a:ln>
            <a:solidFill>
              <a:schemeClr val="tx1"/>
            </a:solidFill>
          </a:ln>
        </p:spPr>
        <p:txBody>
          <a:bodyPr wrap="square" rtlCol="0">
            <a:spAutoFit/>
          </a:bodyPr>
          <a:lstStyle/>
          <a:p>
            <a:pPr algn="ctr"/>
            <a:r>
              <a:rPr lang="en-US" sz="1600" b="1" dirty="0" smtClean="0"/>
              <a:t>CA-GMRES (</a:t>
            </a:r>
            <a:r>
              <a:rPr lang="en-US" sz="1600" b="1" dirty="0" err="1" smtClean="0"/>
              <a:t>Hoemmen</a:t>
            </a:r>
            <a:r>
              <a:rPr lang="en-US" sz="1600" b="1" dirty="0" smtClean="0"/>
              <a:t>, </a:t>
            </a:r>
            <a:r>
              <a:rPr lang="en-US" sz="1600" b="1" dirty="0" err="1" smtClean="0"/>
              <a:t>Mohiyuddin</a:t>
            </a:r>
            <a:r>
              <a:rPr lang="en-US" sz="1600" b="1" dirty="0" smtClean="0"/>
              <a:t>, </a:t>
            </a:r>
            <a:r>
              <a:rPr lang="en-US" sz="1600" b="1" dirty="0" err="1" smtClean="0"/>
              <a:t>Yelick</a:t>
            </a:r>
            <a:r>
              <a:rPr lang="en-US" sz="1600" b="1" dirty="0" smtClean="0"/>
              <a:t>, JD)</a:t>
            </a:r>
          </a:p>
          <a:p>
            <a:pPr algn="ctr"/>
            <a:r>
              <a:rPr lang="en-US" sz="1600" b="1" dirty="0" smtClean="0"/>
              <a:t>“Tall-Skinny” QR (</a:t>
            </a:r>
            <a:r>
              <a:rPr lang="en-US" sz="1600" b="1" dirty="0" err="1" smtClean="0"/>
              <a:t>Grigori</a:t>
            </a:r>
            <a:r>
              <a:rPr lang="en-US" sz="1600" b="1" dirty="0" smtClean="0"/>
              <a:t>, </a:t>
            </a:r>
            <a:r>
              <a:rPr lang="en-US" sz="1600" b="1" dirty="0" err="1" smtClean="0"/>
              <a:t>Hoemmen</a:t>
            </a:r>
            <a:r>
              <a:rPr lang="en-US" sz="1600" b="1" dirty="0" smtClean="0"/>
              <a:t>, </a:t>
            </a:r>
            <a:r>
              <a:rPr lang="en-US" sz="1600" b="1" dirty="0" err="1" smtClean="0"/>
              <a:t>Langou</a:t>
            </a:r>
            <a:r>
              <a:rPr lang="en-US" sz="1600" b="1" dirty="0" smtClean="0"/>
              <a:t>,  JD)</a:t>
            </a:r>
          </a:p>
        </p:txBody>
      </p:sp>
      <p:cxnSp>
        <p:nvCxnSpPr>
          <p:cNvPr id="6" name="Straight Arrow Connector 5"/>
          <p:cNvCxnSpPr/>
          <p:nvPr/>
        </p:nvCxnSpPr>
        <p:spPr>
          <a:xfrm rot="16200000" flipV="1">
            <a:off x="1790700" y="5067300"/>
            <a:ext cx="1676400" cy="7620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ransition xmlns:p14="http://schemas.microsoft.com/office/powerpoint/2010/main"/>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Summary of CA Linear Algebra</a:t>
            </a:r>
            <a:endParaRPr lang="en-US" dirty="0"/>
          </a:p>
        </p:txBody>
      </p:sp>
      <p:sp>
        <p:nvSpPr>
          <p:cNvPr id="4" name="Rectangle 3"/>
          <p:cNvSpPr txBox="1">
            <a:spLocks noChangeArrowheads="1"/>
          </p:cNvSpPr>
          <p:nvPr/>
        </p:nvSpPr>
        <p:spPr>
          <a:xfrm>
            <a:off x="152400" y="1371600"/>
            <a:ext cx="8991600" cy="5181600"/>
          </a:xfrm>
          <a:prstGeom prst="rect">
            <a:avLst/>
          </a:prstGeom>
          <a:noFill/>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“Direct” Linear Algebra</a:t>
            </a:r>
          </a:p>
          <a:p>
            <a:pPr marL="800100" lvl="1" indent="-342900">
              <a:spcBef>
                <a:spcPct val="20000"/>
              </a:spcBef>
              <a:buFont typeface="Arial" pitchFamily="34" charset="0"/>
              <a:buChar char="•"/>
              <a:defRPr/>
            </a:pPr>
            <a:r>
              <a:rPr kumimoji="0" lang="en-US" sz="2800" b="0" i="0" u="none" strike="noStrike" kern="1200" cap="none" spc="0" normalizeH="0" baseline="0" noProof="0" dirty="0" smtClean="0">
                <a:ln>
                  <a:noFill/>
                </a:ln>
                <a:solidFill>
                  <a:schemeClr val="tx1"/>
                </a:solidFill>
                <a:effectLst/>
                <a:uLnTx/>
                <a:uFillTx/>
                <a:latin typeface="+mn-lt"/>
                <a:ea typeface="+mn-ea"/>
                <a:cs typeface="+mn-cs"/>
              </a:rPr>
              <a:t>Lower bounds on </a:t>
            </a:r>
            <a:r>
              <a:rPr kumimoji="0" lang="en-US" sz="2800" b="0" i="0" u="none" strike="noStrike" kern="1200" cap="none" spc="0" normalizeH="0" noProof="0" dirty="0" smtClean="0">
                <a:ln>
                  <a:noFill/>
                </a:ln>
                <a:solidFill>
                  <a:schemeClr val="tx1"/>
                </a:solidFill>
                <a:effectLst/>
                <a:uLnTx/>
                <a:uFillTx/>
                <a:latin typeface="+mn-lt"/>
                <a:ea typeface="+mn-ea"/>
                <a:cs typeface="+mn-cs"/>
              </a:rPr>
              <a:t> communication for </a:t>
            </a:r>
            <a:r>
              <a:rPr kumimoji="0" lang="en-US" sz="2800" b="0" i="0" u="none" strike="noStrike" kern="1200" cap="none" spc="0" normalizeH="0" baseline="0" noProof="0" dirty="0" smtClean="0">
                <a:ln>
                  <a:noFill/>
                </a:ln>
                <a:solidFill>
                  <a:schemeClr val="tx1"/>
                </a:solidFill>
                <a:effectLst/>
                <a:uLnTx/>
                <a:uFillTx/>
                <a:latin typeface="+mn-lt"/>
                <a:ea typeface="+mn-ea"/>
                <a:cs typeface="+mn-cs"/>
              </a:rPr>
              <a:t>linear algebra problems like Ax=b, least squares, Ax = </a:t>
            </a:r>
            <a:r>
              <a:rPr kumimoji="0" lang="el-GR" sz="2800" b="0" i="0" u="none" strike="noStrike" kern="1200" cap="none" spc="0" normalizeH="0" baseline="0" noProof="0" dirty="0" smtClean="0">
                <a:ln>
                  <a:noFill/>
                </a:ln>
                <a:solidFill>
                  <a:schemeClr val="tx1"/>
                </a:solidFill>
                <a:effectLst/>
                <a:uLnTx/>
                <a:uFillTx/>
                <a:latin typeface="+mn-lt"/>
                <a:ea typeface="+mn-ea"/>
                <a:cs typeface="+mn-cs"/>
              </a:rPr>
              <a:t>λ</a:t>
            </a:r>
            <a:r>
              <a:rPr kumimoji="0" lang="en-US" sz="2800" b="0" i="0" u="none" strike="noStrike" kern="1200" cap="none" spc="0" normalizeH="0" baseline="0" noProof="0" dirty="0" smtClean="0">
                <a:ln>
                  <a:noFill/>
                </a:ln>
                <a:solidFill>
                  <a:schemeClr val="tx1"/>
                </a:solidFill>
                <a:effectLst/>
                <a:uLnTx/>
                <a:uFillTx/>
                <a:latin typeface="+mn-lt"/>
                <a:ea typeface="+mn-ea"/>
                <a:cs typeface="+mn-cs"/>
              </a:rPr>
              <a:t>x, SVD, etc</a:t>
            </a:r>
          </a:p>
          <a:p>
            <a:pPr marL="800100" lvl="1" indent="-342900">
              <a:spcBef>
                <a:spcPct val="20000"/>
              </a:spcBef>
              <a:buFont typeface="Arial" pitchFamily="34" charset="0"/>
              <a:buChar char="•"/>
              <a:defRPr/>
            </a:pPr>
            <a:r>
              <a:rPr lang="en-US" sz="2800" dirty="0" smtClean="0"/>
              <a:t>New a</a:t>
            </a:r>
            <a:r>
              <a:rPr kumimoji="0" lang="en-US" sz="2800" b="0" i="0" u="none" strike="noStrike" kern="1200" cap="none" spc="0" normalizeH="0" baseline="0" noProof="0" dirty="0" err="1" smtClean="0">
                <a:ln>
                  <a:noFill/>
                </a:ln>
                <a:solidFill>
                  <a:schemeClr val="tx1"/>
                </a:solidFill>
                <a:effectLst/>
                <a:uLnTx/>
                <a:uFillTx/>
                <a:latin typeface="+mn-lt"/>
                <a:ea typeface="+mn-ea"/>
                <a:cs typeface="+mn-cs"/>
              </a:rPr>
              <a:t>lgorithms</a:t>
            </a:r>
            <a:r>
              <a:rPr kumimoji="0" lang="en-US" sz="2800" b="0" i="0" u="none" strike="noStrike" kern="1200" cap="none" spc="0" normalizeH="0" baseline="0" noProof="0" dirty="0" smtClean="0">
                <a:ln>
                  <a:noFill/>
                </a:ln>
                <a:solidFill>
                  <a:schemeClr val="tx1"/>
                </a:solidFill>
                <a:effectLst/>
                <a:uLnTx/>
                <a:uFillTx/>
                <a:latin typeface="+mn-lt"/>
                <a:ea typeface="+mn-ea"/>
                <a:cs typeface="+mn-cs"/>
              </a:rPr>
              <a:t> that attain these lower bounds</a:t>
            </a:r>
          </a:p>
          <a:p>
            <a:pPr marL="1143000" marR="0" lvl="2" indent="-22860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sz="2800" dirty="0" smtClean="0"/>
              <a:t>Being added to </a:t>
            </a:r>
            <a:r>
              <a:rPr kumimoji="0" lang="en-US" sz="2800" b="0" i="0" u="none" strike="noStrike" kern="1200" cap="none" spc="0" normalizeH="0" baseline="0" noProof="0" dirty="0" smtClean="0">
                <a:ln>
                  <a:noFill/>
                </a:ln>
                <a:solidFill>
                  <a:schemeClr val="tx1"/>
                </a:solidFill>
                <a:effectLst/>
                <a:uLnTx/>
                <a:uFillTx/>
                <a:latin typeface="+mn-lt"/>
                <a:ea typeface="+mn-ea"/>
                <a:cs typeface="+mn-cs"/>
              </a:rPr>
              <a:t>libraries:</a:t>
            </a:r>
            <a:r>
              <a:rPr kumimoji="0" lang="en-US" sz="2800" b="0" i="0" u="none" strike="noStrike" kern="1200" cap="none" spc="0" normalizeH="0" noProof="0" dirty="0" smtClean="0">
                <a:ln>
                  <a:noFill/>
                </a:ln>
                <a:solidFill>
                  <a:schemeClr val="tx1"/>
                </a:solidFill>
                <a:effectLst/>
                <a:uLnTx/>
                <a:uFillTx/>
                <a:latin typeface="+mn-lt"/>
                <a:ea typeface="+mn-ea"/>
                <a:cs typeface="+mn-cs"/>
              </a:rPr>
              <a:t> </a:t>
            </a:r>
            <a:r>
              <a:rPr kumimoji="0" lang="en-US" sz="2800" b="0" i="0" u="none" strike="noStrike" kern="1200" cap="none" spc="0" normalizeH="0" baseline="0" noProof="0" dirty="0" err="1" smtClean="0">
                <a:ln>
                  <a:noFill/>
                </a:ln>
                <a:solidFill>
                  <a:schemeClr val="tx1"/>
                </a:solidFill>
                <a:effectLst/>
                <a:uLnTx/>
                <a:uFillTx/>
                <a:latin typeface="+mn-lt"/>
                <a:ea typeface="+mn-ea"/>
                <a:cs typeface="+mn-cs"/>
              </a:rPr>
              <a:t>Sca</a:t>
            </a:r>
            <a:r>
              <a:rPr kumimoji="0" lang="en-US" sz="2800" b="0" i="0" u="none" strike="noStrike" kern="1200" cap="none" spc="0" normalizeH="0" baseline="0" noProof="0" dirty="0" smtClean="0">
                <a:ln>
                  <a:noFill/>
                </a:ln>
                <a:solidFill>
                  <a:schemeClr val="tx1"/>
                </a:solidFill>
                <a:effectLst/>
                <a:uLnTx/>
                <a:uFillTx/>
                <a:latin typeface="+mn-lt"/>
                <a:ea typeface="+mn-ea"/>
                <a:cs typeface="+mn-cs"/>
              </a:rPr>
              <a:t>/LAPACK,</a:t>
            </a:r>
            <a:r>
              <a:rPr kumimoji="0" lang="en-US" sz="2800" b="0" i="0" u="none" strike="noStrike" kern="1200" cap="none" spc="0" normalizeH="0" noProof="0" dirty="0" smtClean="0">
                <a:ln>
                  <a:noFill/>
                </a:ln>
                <a:solidFill>
                  <a:schemeClr val="tx1"/>
                </a:solidFill>
                <a:effectLst/>
                <a:uLnTx/>
                <a:uFillTx/>
                <a:latin typeface="+mn-lt"/>
                <a:ea typeface="+mn-ea"/>
                <a:cs typeface="+mn-cs"/>
              </a:rPr>
              <a:t> PLASMA, MAGMA</a:t>
            </a:r>
            <a:endParaRPr kumimoji="0" lang="en-US" sz="2800" b="0" i="0" u="none" strike="noStrike" kern="1200" cap="none" spc="0" normalizeH="0" baseline="0" noProof="0" dirty="0" smtClean="0">
              <a:ln>
                <a:noFill/>
              </a:ln>
              <a:solidFill>
                <a:schemeClr val="tx1"/>
              </a:solidFill>
              <a:effectLst/>
              <a:uLnTx/>
              <a:uFillTx/>
              <a:latin typeface="+mn-lt"/>
              <a:ea typeface="+mn-ea"/>
              <a:cs typeface="+mn-cs"/>
            </a:endParaRPr>
          </a:p>
          <a:p>
            <a:pPr marL="1143000" marR="0" lvl="2" indent="-2286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800" b="0" i="0" u="none" strike="noStrike" kern="1200" cap="none" spc="0" normalizeH="0" baseline="0" noProof="0" dirty="0" smtClean="0">
                <a:ln>
                  <a:noFill/>
                </a:ln>
                <a:solidFill>
                  <a:schemeClr val="tx1"/>
                </a:solidFill>
                <a:effectLst/>
                <a:uLnTx/>
                <a:uFillTx/>
                <a:latin typeface="+mn-lt"/>
                <a:ea typeface="+mn-ea"/>
                <a:cs typeface="+mn-cs"/>
              </a:rPr>
              <a:t>Large speed-ups possible</a:t>
            </a:r>
          </a:p>
          <a:p>
            <a:pPr marL="685800" lvl="1" indent="-228600">
              <a:spcBef>
                <a:spcPct val="20000"/>
              </a:spcBef>
              <a:buFont typeface="Arial" pitchFamily="34" charset="0"/>
              <a:buChar char="•"/>
              <a:defRPr/>
            </a:pPr>
            <a:r>
              <a:rPr lang="en-US" sz="2800" dirty="0" err="1" smtClean="0"/>
              <a:t>Autotuning</a:t>
            </a:r>
            <a:r>
              <a:rPr lang="en-US" sz="2800" dirty="0" smtClean="0"/>
              <a:t> to find optimal implementation</a:t>
            </a:r>
            <a:endParaRPr kumimoji="0" lang="en-US" sz="2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Ditto for “Iterative” Linear Algebra </a:t>
            </a:r>
          </a:p>
        </p:txBody>
      </p:sp>
      <p:cxnSp>
        <p:nvCxnSpPr>
          <p:cNvPr id="5" name="Straight Connector 4"/>
          <p:cNvCxnSpPr/>
          <p:nvPr/>
        </p:nvCxnSpPr>
        <p:spPr>
          <a:xfrm>
            <a:off x="381000" y="1143000"/>
            <a:ext cx="83058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91074571"/>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a:xfrm>
            <a:off x="304800" y="306388"/>
            <a:ext cx="8458199" cy="425450"/>
          </a:xfrm>
        </p:spPr>
        <p:txBody>
          <a:bodyPr>
            <a:noAutofit/>
          </a:bodyPr>
          <a:lstStyle/>
          <a:p>
            <a:r>
              <a:rPr lang="en-US" sz="3600" dirty="0" smtClean="0"/>
              <a:t>Lower bound for all “direct” linear algebra</a:t>
            </a:r>
          </a:p>
        </p:txBody>
      </p:sp>
      <p:sp>
        <p:nvSpPr>
          <p:cNvPr id="20483" name="Content Placeholder 2"/>
          <p:cNvSpPr>
            <a:spLocks noGrp="1"/>
          </p:cNvSpPr>
          <p:nvPr>
            <p:ph idx="1"/>
          </p:nvPr>
        </p:nvSpPr>
        <p:spPr>
          <a:xfrm>
            <a:off x="457200" y="3733800"/>
            <a:ext cx="8001000" cy="2852738"/>
          </a:xfrm>
        </p:spPr>
        <p:txBody>
          <a:bodyPr>
            <a:normAutofit fontScale="85000" lnSpcReduction="10000"/>
          </a:bodyPr>
          <a:lstStyle/>
          <a:p>
            <a:r>
              <a:rPr lang="en-US" dirty="0" smtClean="0"/>
              <a:t>Holds for</a:t>
            </a:r>
          </a:p>
          <a:p>
            <a:pPr lvl="1"/>
            <a:r>
              <a:rPr lang="en-US" dirty="0" err="1" smtClean="0"/>
              <a:t>Matmul</a:t>
            </a:r>
            <a:r>
              <a:rPr lang="en-US" dirty="0" smtClean="0"/>
              <a:t>, BLAS, LU, QR, </a:t>
            </a:r>
            <a:r>
              <a:rPr lang="en-US" dirty="0" err="1" smtClean="0"/>
              <a:t>eig</a:t>
            </a:r>
            <a:r>
              <a:rPr lang="en-US" dirty="0" smtClean="0"/>
              <a:t>, SVD, tensor contractions, …</a:t>
            </a:r>
          </a:p>
          <a:p>
            <a:pPr lvl="1"/>
            <a:r>
              <a:rPr lang="en-US" dirty="0" smtClean="0"/>
              <a:t>Some whole programs (sequences of  these operations, no matter how individual ops are interleaved, </a:t>
            </a:r>
            <a:r>
              <a:rPr lang="en-US" dirty="0" err="1" smtClean="0"/>
              <a:t>eg</a:t>
            </a:r>
            <a:r>
              <a:rPr lang="en-US" dirty="0" smtClean="0"/>
              <a:t> </a:t>
            </a:r>
            <a:r>
              <a:rPr lang="en-US" dirty="0" err="1" smtClean="0"/>
              <a:t>A</a:t>
            </a:r>
            <a:r>
              <a:rPr lang="en-US" baseline="30000" dirty="0" err="1" smtClean="0"/>
              <a:t>k</a:t>
            </a:r>
            <a:r>
              <a:rPr lang="en-US" dirty="0" smtClean="0"/>
              <a:t>)</a:t>
            </a:r>
          </a:p>
          <a:p>
            <a:pPr lvl="1"/>
            <a:r>
              <a:rPr lang="en-US" dirty="0" smtClean="0"/>
              <a:t>Dense and sparse matrices (where #flops  &lt;&lt;  n</a:t>
            </a:r>
            <a:r>
              <a:rPr lang="en-US" baseline="30000" dirty="0" smtClean="0"/>
              <a:t>3</a:t>
            </a:r>
            <a:r>
              <a:rPr lang="en-US" dirty="0" smtClean="0"/>
              <a:t> )</a:t>
            </a:r>
          </a:p>
          <a:p>
            <a:pPr lvl="1"/>
            <a:r>
              <a:rPr lang="en-US" dirty="0" smtClean="0"/>
              <a:t>Sequential and parallel algorithms</a:t>
            </a:r>
          </a:p>
          <a:p>
            <a:pPr lvl="1"/>
            <a:r>
              <a:rPr lang="en-US" dirty="0" smtClean="0"/>
              <a:t>Some graph-theoretic algorithms (</a:t>
            </a:r>
            <a:r>
              <a:rPr lang="en-US" dirty="0" err="1" smtClean="0"/>
              <a:t>eg</a:t>
            </a:r>
            <a:r>
              <a:rPr lang="en-US" dirty="0" smtClean="0"/>
              <a:t> Floyd-</a:t>
            </a:r>
            <a:r>
              <a:rPr lang="en-US" dirty="0" err="1" smtClean="0"/>
              <a:t>Warshall</a:t>
            </a:r>
            <a:r>
              <a:rPr lang="en-US" dirty="0" smtClean="0"/>
              <a:t>)</a:t>
            </a:r>
          </a:p>
        </p:txBody>
      </p:sp>
      <p:sp>
        <p:nvSpPr>
          <p:cNvPr id="4" name="Slide Number Placeholder 3"/>
          <p:cNvSpPr>
            <a:spLocks noGrp="1"/>
          </p:cNvSpPr>
          <p:nvPr>
            <p:ph type="sldNum" sz="quarter" idx="10"/>
          </p:nvPr>
        </p:nvSpPr>
        <p:spPr/>
        <p:txBody>
          <a:bodyPr/>
          <a:lstStyle/>
          <a:p>
            <a:pPr>
              <a:defRPr/>
            </a:pPr>
            <a:fld id="{DBDBBDDB-A7BB-4482-834E-2EFCD62CAAF0}" type="slidenum">
              <a:rPr lang="en-US" smtClean="0"/>
              <a:pPr>
                <a:defRPr/>
              </a:pPr>
              <a:t>6</a:t>
            </a:fld>
            <a:endParaRPr lang="en-US" dirty="0"/>
          </a:p>
        </p:txBody>
      </p:sp>
      <p:sp>
        <p:nvSpPr>
          <p:cNvPr id="20485" name="TextBox 5"/>
          <p:cNvSpPr txBox="1">
            <a:spLocks noChangeArrowheads="1"/>
          </p:cNvSpPr>
          <p:nvPr/>
        </p:nvSpPr>
        <p:spPr bwMode="auto">
          <a:xfrm>
            <a:off x="457200" y="731839"/>
            <a:ext cx="8686800" cy="3139321"/>
          </a:xfrm>
          <a:prstGeom prst="rect">
            <a:avLst/>
          </a:prstGeom>
          <a:noFill/>
          <a:ln w="9525">
            <a:noFill/>
            <a:miter lim="800000"/>
            <a:headEnd/>
            <a:tailEnd/>
          </a:ln>
        </p:spPr>
        <p:txBody>
          <a:bodyPr wrap="square">
            <a:spAutoFit/>
          </a:bodyPr>
          <a:lstStyle/>
          <a:p>
            <a:pPr marL="0" lvl="1">
              <a:buFont typeface="Arial" pitchFamily="34" charset="0"/>
              <a:buChar char="•"/>
            </a:pPr>
            <a:r>
              <a:rPr lang="en-US" sz="2800" b="0" dirty="0" smtClean="0">
                <a:solidFill>
                  <a:schemeClr val="tx1"/>
                </a:solidFill>
                <a:sym typeface="Symbol" pitchFamily="18" charset="2"/>
              </a:rPr>
              <a:t>  Let </a:t>
            </a:r>
            <a:r>
              <a:rPr lang="en-US" sz="2800" b="0" dirty="0">
                <a:solidFill>
                  <a:schemeClr val="tx1"/>
                </a:solidFill>
                <a:sym typeface="Symbol" pitchFamily="18" charset="2"/>
              </a:rPr>
              <a:t>M = “fast” memory size </a:t>
            </a:r>
            <a:r>
              <a:rPr lang="en-US" sz="2800" b="0" dirty="0" smtClean="0">
                <a:solidFill>
                  <a:schemeClr val="tx1"/>
                </a:solidFill>
                <a:sym typeface="Symbol" pitchFamily="18" charset="2"/>
              </a:rPr>
              <a:t>(per processor)</a:t>
            </a:r>
            <a:endParaRPr lang="en-US" sz="2800" b="0" dirty="0">
              <a:solidFill>
                <a:schemeClr val="tx1"/>
              </a:solidFill>
              <a:sym typeface="Symbol" pitchFamily="18" charset="2"/>
            </a:endParaRPr>
          </a:p>
          <a:p>
            <a:pPr marL="0" lvl="1" algn="ctr"/>
            <a:endParaRPr lang="en-US" sz="2800" b="0" dirty="0">
              <a:solidFill>
                <a:schemeClr val="tx1"/>
              </a:solidFill>
              <a:sym typeface="Symbol" pitchFamily="18" charset="2"/>
            </a:endParaRPr>
          </a:p>
          <a:p>
            <a:pPr marL="0" lvl="1" algn="ctr"/>
            <a:r>
              <a:rPr lang="en-US" sz="2400" b="1" dirty="0">
                <a:solidFill>
                  <a:schemeClr val="tx1"/>
                </a:solidFill>
                <a:sym typeface="Symbol" pitchFamily="18" charset="2"/>
              </a:rPr>
              <a:t>#</a:t>
            </a:r>
            <a:r>
              <a:rPr lang="en-US" sz="2400" b="1" dirty="0" err="1">
                <a:solidFill>
                  <a:schemeClr val="tx1"/>
                </a:solidFill>
                <a:sym typeface="Symbol" pitchFamily="18" charset="2"/>
              </a:rPr>
              <a:t>words_moved</a:t>
            </a:r>
            <a:r>
              <a:rPr lang="en-US" sz="2400" b="1" dirty="0">
                <a:solidFill>
                  <a:schemeClr val="tx1"/>
                </a:solidFill>
                <a:sym typeface="Symbol" pitchFamily="18" charset="2"/>
              </a:rPr>
              <a:t> </a:t>
            </a:r>
            <a:r>
              <a:rPr lang="en-US" sz="2400" b="1" dirty="0" smtClean="0">
                <a:solidFill>
                  <a:schemeClr val="tx1"/>
                </a:solidFill>
                <a:sym typeface="Symbol" pitchFamily="18" charset="2"/>
              </a:rPr>
              <a:t>(per processor) </a:t>
            </a:r>
            <a:r>
              <a:rPr lang="en-US" sz="2400" b="1" dirty="0">
                <a:solidFill>
                  <a:schemeClr val="tx1"/>
                </a:solidFill>
                <a:sym typeface="Symbol" pitchFamily="18" charset="2"/>
              </a:rPr>
              <a:t>= </a:t>
            </a:r>
            <a:r>
              <a:rPr lang="en-US" sz="2400" b="1" dirty="0" smtClean="0">
                <a:solidFill>
                  <a:schemeClr val="tx1"/>
                </a:solidFill>
                <a:sym typeface="Symbol"/>
              </a:rPr>
              <a:t></a:t>
            </a:r>
            <a:r>
              <a:rPr lang="en-US" sz="2400" b="1" dirty="0" smtClean="0">
                <a:solidFill>
                  <a:schemeClr val="tx1"/>
                </a:solidFill>
                <a:sym typeface="Symbol" pitchFamily="18" charset="2"/>
              </a:rPr>
              <a:t>(#flops (</a:t>
            </a:r>
            <a:r>
              <a:rPr lang="en-US" sz="2400" b="1" dirty="0" smtClean="0">
                <a:sym typeface="Symbol" pitchFamily="18" charset="2"/>
              </a:rPr>
              <a:t>per </a:t>
            </a:r>
            <a:r>
              <a:rPr lang="en-US" sz="2400" b="1" dirty="0" smtClean="0">
                <a:solidFill>
                  <a:schemeClr val="tx1"/>
                </a:solidFill>
                <a:sym typeface="Symbol" pitchFamily="18" charset="2"/>
              </a:rPr>
              <a:t>processor) </a:t>
            </a:r>
            <a:r>
              <a:rPr lang="en-US" sz="2400" b="1" dirty="0">
                <a:solidFill>
                  <a:schemeClr val="tx1"/>
                </a:solidFill>
                <a:sym typeface="Symbol" pitchFamily="18" charset="2"/>
              </a:rPr>
              <a:t>/ M</a:t>
            </a:r>
            <a:r>
              <a:rPr lang="en-US" sz="2800" b="1" baseline="30000" dirty="0">
                <a:solidFill>
                  <a:schemeClr val="tx1"/>
                </a:solidFill>
                <a:sym typeface="Symbol" pitchFamily="18" charset="2"/>
              </a:rPr>
              <a:t>1/2</a:t>
            </a:r>
            <a:r>
              <a:rPr lang="en-US" sz="2400" b="1" baseline="30000" dirty="0">
                <a:solidFill>
                  <a:schemeClr val="tx1"/>
                </a:solidFill>
                <a:sym typeface="Symbol" pitchFamily="18" charset="2"/>
              </a:rPr>
              <a:t> </a:t>
            </a:r>
            <a:r>
              <a:rPr lang="en-US" sz="2400" b="1" dirty="0">
                <a:solidFill>
                  <a:schemeClr val="tx1"/>
                </a:solidFill>
                <a:sym typeface="Symbol" pitchFamily="18" charset="2"/>
              </a:rPr>
              <a:t>)</a:t>
            </a:r>
          </a:p>
          <a:p>
            <a:pPr marL="0" lvl="1" algn="ctr">
              <a:buFont typeface="Symbol" pitchFamily="18" charset="2"/>
              <a:buChar char="W"/>
            </a:pPr>
            <a:endParaRPr lang="en-US" sz="2400" b="1" dirty="0">
              <a:solidFill>
                <a:schemeClr val="tx1"/>
              </a:solidFill>
              <a:sym typeface="Symbol" pitchFamily="18" charset="2"/>
            </a:endParaRPr>
          </a:p>
          <a:p>
            <a:pPr marL="0" lvl="1" algn="ctr"/>
            <a:r>
              <a:rPr lang="en-US" sz="2400" b="1" dirty="0">
                <a:solidFill>
                  <a:schemeClr val="tx1"/>
                </a:solidFill>
                <a:sym typeface="Symbol" pitchFamily="18" charset="2"/>
              </a:rPr>
              <a:t>#</a:t>
            </a:r>
            <a:r>
              <a:rPr lang="en-US" sz="2400" b="1" dirty="0" err="1">
                <a:solidFill>
                  <a:schemeClr val="tx1"/>
                </a:solidFill>
                <a:sym typeface="Symbol" pitchFamily="18" charset="2"/>
              </a:rPr>
              <a:t>messages_sent</a:t>
            </a:r>
            <a:r>
              <a:rPr lang="en-US" sz="2400" b="1" dirty="0">
                <a:solidFill>
                  <a:schemeClr val="tx1"/>
                </a:solidFill>
                <a:sym typeface="Symbol" pitchFamily="18" charset="2"/>
              </a:rPr>
              <a:t> </a:t>
            </a:r>
            <a:r>
              <a:rPr lang="en-US" sz="2400" b="1" dirty="0" smtClean="0">
                <a:solidFill>
                  <a:schemeClr val="tx1"/>
                </a:solidFill>
                <a:sym typeface="Symbol" pitchFamily="18" charset="2"/>
              </a:rPr>
              <a:t>(per processor) </a:t>
            </a:r>
            <a:r>
              <a:rPr lang="en-US" sz="2400" b="1" dirty="0">
                <a:solidFill>
                  <a:schemeClr val="tx1"/>
                </a:solidFill>
                <a:sym typeface="Symbol" pitchFamily="18" charset="2"/>
              </a:rPr>
              <a:t>= </a:t>
            </a:r>
            <a:r>
              <a:rPr lang="en-US" sz="2400" b="1" dirty="0" smtClean="0">
                <a:sym typeface="Symbol"/>
              </a:rPr>
              <a:t></a:t>
            </a:r>
            <a:r>
              <a:rPr lang="en-US" sz="2400" b="1" dirty="0" smtClean="0">
                <a:solidFill>
                  <a:schemeClr val="tx1"/>
                </a:solidFill>
                <a:sym typeface="Symbol" pitchFamily="18" charset="2"/>
              </a:rPr>
              <a:t>(#flops (per processor) </a:t>
            </a:r>
            <a:r>
              <a:rPr lang="en-US" sz="2400" b="1" dirty="0">
                <a:solidFill>
                  <a:schemeClr val="tx1"/>
                </a:solidFill>
                <a:sym typeface="Symbol" pitchFamily="18" charset="2"/>
              </a:rPr>
              <a:t>/ M</a:t>
            </a:r>
            <a:r>
              <a:rPr lang="en-US" sz="2800" b="1" baseline="30000" dirty="0">
                <a:solidFill>
                  <a:srgbClr val="FF0000"/>
                </a:solidFill>
                <a:sym typeface="Symbol" pitchFamily="18" charset="2"/>
              </a:rPr>
              <a:t>3</a:t>
            </a:r>
            <a:r>
              <a:rPr lang="en-US" sz="2800" b="1" baseline="30000" dirty="0">
                <a:solidFill>
                  <a:schemeClr val="tx1"/>
                </a:solidFill>
                <a:sym typeface="Symbol" pitchFamily="18" charset="2"/>
              </a:rPr>
              <a:t>/2</a:t>
            </a:r>
            <a:r>
              <a:rPr lang="en-US" sz="2400" b="1" baseline="30000" dirty="0">
                <a:solidFill>
                  <a:schemeClr val="tx1"/>
                </a:solidFill>
                <a:sym typeface="Symbol" pitchFamily="18" charset="2"/>
              </a:rPr>
              <a:t> </a:t>
            </a:r>
            <a:r>
              <a:rPr lang="en-US" sz="2400" b="1" dirty="0" smtClean="0">
                <a:solidFill>
                  <a:schemeClr val="tx1"/>
                </a:solidFill>
                <a:sym typeface="Symbol" pitchFamily="18" charset="2"/>
              </a:rPr>
              <a:t>)</a:t>
            </a:r>
          </a:p>
          <a:p>
            <a:pPr marL="0" lvl="1" algn="ctr">
              <a:buFont typeface="Symbol" pitchFamily="18" charset="2"/>
              <a:buChar char="W"/>
            </a:pPr>
            <a:endParaRPr lang="en-US" sz="2400" b="1" dirty="0" smtClean="0">
              <a:solidFill>
                <a:schemeClr val="tx1"/>
              </a:solidFill>
              <a:sym typeface="Symbol" pitchFamily="18" charset="2"/>
            </a:endParaRPr>
          </a:p>
          <a:p>
            <a:pPr marL="0" lvl="1">
              <a:buFont typeface="Arial" pitchFamily="34" charset="0"/>
              <a:buChar char="•"/>
            </a:pPr>
            <a:r>
              <a:rPr lang="en-US" sz="2400" b="1" dirty="0" smtClean="0">
                <a:sym typeface="Symbol" pitchFamily="18" charset="2"/>
              </a:rPr>
              <a:t>  </a:t>
            </a:r>
            <a:r>
              <a:rPr lang="en-US" sz="2800" dirty="0" smtClean="0">
                <a:sym typeface="Symbol" pitchFamily="18" charset="2"/>
              </a:rPr>
              <a:t>Parallel case: assume either load or memory balanced</a:t>
            </a:r>
            <a:endParaRPr lang="en-US" sz="2400" b="1" dirty="0">
              <a:solidFill>
                <a:schemeClr val="tx1"/>
              </a:solidFill>
              <a:sym typeface="Symbol" pitchFamily="18" charset="2"/>
            </a:endParaRPr>
          </a:p>
          <a:p>
            <a:endParaRPr lang="en-US" dirty="0"/>
          </a:p>
        </p:txBody>
      </p:sp>
      <p:cxnSp>
        <p:nvCxnSpPr>
          <p:cNvPr id="6" name="Straight Connector 5"/>
          <p:cNvCxnSpPr/>
          <p:nvPr/>
        </p:nvCxnSpPr>
        <p:spPr>
          <a:xfrm>
            <a:off x="381000" y="762000"/>
            <a:ext cx="8305800" cy="0"/>
          </a:xfrm>
          <a:prstGeom prst="line">
            <a:avLst/>
          </a:prstGeom>
        </p:spPr>
        <p:style>
          <a:lnRef idx="1">
            <a:schemeClr val="accent1"/>
          </a:lnRef>
          <a:fillRef idx="0">
            <a:schemeClr val="accent1"/>
          </a:fillRef>
          <a:effectRef idx="0">
            <a:schemeClr val="accent1"/>
          </a:effectRef>
          <a:fontRef idx="minor">
            <a:schemeClr val="tx1"/>
          </a:fontRef>
        </p:style>
      </p:cxnSp>
      <p:sp>
        <p:nvSpPr>
          <p:cNvPr id="7" name="Rectangle 6"/>
          <p:cNvSpPr/>
          <p:nvPr/>
        </p:nvSpPr>
        <p:spPr>
          <a:xfrm>
            <a:off x="2286000" y="4191000"/>
            <a:ext cx="6705600" cy="25146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914400" y="4648200"/>
            <a:ext cx="6705600" cy="25146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p:cNvSpPr/>
          <p:nvPr/>
        </p:nvSpPr>
        <p:spPr>
          <a:xfrm>
            <a:off x="0" y="2209800"/>
            <a:ext cx="9144000" cy="685800"/>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485">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485">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0483">
                                            <p:txEl>
                                              <p:pRg st="0" end="0"/>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0483">
                                            <p:txEl>
                                              <p:pRg st="1" end="1"/>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0483">
                                            <p:txEl>
                                              <p:pRg st="2" end="2"/>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0483">
                                            <p:txEl>
                                              <p:pRg st="3" end="3"/>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0483">
                                            <p:txEl>
                                              <p:pRg st="4" end="4"/>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0483">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xit" presetSubtype="0" fill="hold" grpId="0" nodeType="clickEffect">
                                  <p:stCondLst>
                                    <p:cond delay="0"/>
                                  </p:stCondLst>
                                  <p:childTnLst>
                                    <p:set>
                                      <p:cBhvr>
                                        <p:cTn id="28" dur="1" fill="hold">
                                          <p:stCondLst>
                                            <p:cond delay="0"/>
                                          </p:stCondLst>
                                        </p:cTn>
                                        <p:tgtEl>
                                          <p:spTgt spid="8"/>
                                        </p:tgtEl>
                                        <p:attrNameLst>
                                          <p:attrName>style.visibility</p:attrName>
                                        </p:attrNameLst>
                                      </p:cBhvr>
                                      <p:to>
                                        <p:strVal val="hidden"/>
                                      </p:to>
                                    </p:set>
                                  </p:childTnLst>
                                </p:cTn>
                              </p:par>
                              <p:par>
                                <p:cTn id="29" presetID="1" presetClass="exit" presetSubtype="0" fill="hold" grpId="0" nodeType="withEffect">
                                  <p:stCondLst>
                                    <p:cond delay="0"/>
                                  </p:stCondLst>
                                  <p:childTnLst>
                                    <p:set>
                                      <p:cBhvr>
                                        <p:cTn id="30" dur="1" fill="hold">
                                          <p:stCondLst>
                                            <p:cond delay="0"/>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3" grpId="0" build="p"/>
      <p:bldP spid="7" grpId="0" animBg="1"/>
      <p:bldP spid="8"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a:xfrm>
            <a:off x="304800" y="306388"/>
            <a:ext cx="8458199" cy="425450"/>
          </a:xfrm>
        </p:spPr>
        <p:txBody>
          <a:bodyPr>
            <a:noAutofit/>
          </a:bodyPr>
          <a:lstStyle/>
          <a:p>
            <a:r>
              <a:rPr lang="en-US" sz="3600" dirty="0" smtClean="0"/>
              <a:t>Lower bound for all “direct” linear algebra</a:t>
            </a:r>
          </a:p>
        </p:txBody>
      </p:sp>
      <p:sp>
        <p:nvSpPr>
          <p:cNvPr id="20483" name="Content Placeholder 2"/>
          <p:cNvSpPr>
            <a:spLocks noGrp="1"/>
          </p:cNvSpPr>
          <p:nvPr>
            <p:ph idx="1"/>
          </p:nvPr>
        </p:nvSpPr>
        <p:spPr>
          <a:xfrm>
            <a:off x="457200" y="3733800"/>
            <a:ext cx="8001000" cy="2852738"/>
          </a:xfrm>
        </p:spPr>
        <p:txBody>
          <a:bodyPr>
            <a:normAutofit fontScale="85000" lnSpcReduction="10000"/>
          </a:bodyPr>
          <a:lstStyle/>
          <a:p>
            <a:r>
              <a:rPr lang="en-US" dirty="0" smtClean="0"/>
              <a:t>Holds for</a:t>
            </a:r>
          </a:p>
          <a:p>
            <a:pPr lvl="1"/>
            <a:r>
              <a:rPr lang="en-US" dirty="0" err="1" smtClean="0"/>
              <a:t>Matmul</a:t>
            </a:r>
            <a:r>
              <a:rPr lang="en-US" dirty="0" smtClean="0"/>
              <a:t>, BLAS, LU, QR, </a:t>
            </a:r>
            <a:r>
              <a:rPr lang="en-US" dirty="0" err="1" smtClean="0"/>
              <a:t>eig</a:t>
            </a:r>
            <a:r>
              <a:rPr lang="en-US" dirty="0" smtClean="0"/>
              <a:t>, SVD, tensor contractions, …</a:t>
            </a:r>
          </a:p>
          <a:p>
            <a:pPr lvl="1"/>
            <a:r>
              <a:rPr lang="en-US" dirty="0" smtClean="0"/>
              <a:t>Some whole programs (sequences of  these operations, no matter how individual ops are interleaved, </a:t>
            </a:r>
            <a:r>
              <a:rPr lang="en-US" dirty="0" err="1" smtClean="0"/>
              <a:t>eg</a:t>
            </a:r>
            <a:r>
              <a:rPr lang="en-US" dirty="0" smtClean="0"/>
              <a:t> </a:t>
            </a:r>
            <a:r>
              <a:rPr lang="en-US" dirty="0" err="1" smtClean="0"/>
              <a:t>A</a:t>
            </a:r>
            <a:r>
              <a:rPr lang="en-US" baseline="30000" dirty="0" err="1" smtClean="0"/>
              <a:t>k</a:t>
            </a:r>
            <a:r>
              <a:rPr lang="en-US" dirty="0" smtClean="0"/>
              <a:t>)</a:t>
            </a:r>
          </a:p>
          <a:p>
            <a:pPr lvl="1"/>
            <a:r>
              <a:rPr lang="en-US" dirty="0" smtClean="0"/>
              <a:t>Dense and sparse matrices (where #flops  &lt;&lt;  n</a:t>
            </a:r>
            <a:r>
              <a:rPr lang="en-US" baseline="30000" dirty="0" smtClean="0"/>
              <a:t>3</a:t>
            </a:r>
            <a:r>
              <a:rPr lang="en-US" dirty="0" smtClean="0"/>
              <a:t> )</a:t>
            </a:r>
          </a:p>
          <a:p>
            <a:pPr lvl="1"/>
            <a:r>
              <a:rPr lang="en-US" dirty="0" smtClean="0"/>
              <a:t>Sequential and parallel algorithms</a:t>
            </a:r>
          </a:p>
          <a:p>
            <a:pPr lvl="1"/>
            <a:r>
              <a:rPr lang="en-US" dirty="0" smtClean="0"/>
              <a:t>Some graph-theoretic algorithms (</a:t>
            </a:r>
            <a:r>
              <a:rPr lang="en-US" dirty="0" err="1" smtClean="0"/>
              <a:t>eg</a:t>
            </a:r>
            <a:r>
              <a:rPr lang="en-US" dirty="0" smtClean="0"/>
              <a:t> Floyd-</a:t>
            </a:r>
            <a:r>
              <a:rPr lang="en-US" dirty="0" err="1" smtClean="0"/>
              <a:t>Warshall</a:t>
            </a:r>
            <a:r>
              <a:rPr lang="en-US" dirty="0" smtClean="0"/>
              <a:t>)</a:t>
            </a:r>
          </a:p>
        </p:txBody>
      </p:sp>
      <p:sp>
        <p:nvSpPr>
          <p:cNvPr id="4" name="Slide Number Placeholder 3"/>
          <p:cNvSpPr>
            <a:spLocks noGrp="1"/>
          </p:cNvSpPr>
          <p:nvPr>
            <p:ph type="sldNum" sz="quarter" idx="10"/>
          </p:nvPr>
        </p:nvSpPr>
        <p:spPr/>
        <p:txBody>
          <a:bodyPr/>
          <a:lstStyle/>
          <a:p>
            <a:pPr>
              <a:defRPr/>
            </a:pPr>
            <a:fld id="{DBDBBDDB-A7BB-4482-834E-2EFCD62CAAF0}" type="slidenum">
              <a:rPr lang="en-US" smtClean="0"/>
              <a:pPr>
                <a:defRPr/>
              </a:pPr>
              <a:t>7</a:t>
            </a:fld>
            <a:endParaRPr lang="en-US" dirty="0"/>
          </a:p>
        </p:txBody>
      </p:sp>
      <p:sp>
        <p:nvSpPr>
          <p:cNvPr id="20485" name="TextBox 5"/>
          <p:cNvSpPr txBox="1">
            <a:spLocks noChangeArrowheads="1"/>
          </p:cNvSpPr>
          <p:nvPr/>
        </p:nvSpPr>
        <p:spPr bwMode="auto">
          <a:xfrm>
            <a:off x="457200" y="731839"/>
            <a:ext cx="8686800" cy="3139321"/>
          </a:xfrm>
          <a:prstGeom prst="rect">
            <a:avLst/>
          </a:prstGeom>
          <a:noFill/>
          <a:ln w="9525">
            <a:noFill/>
            <a:miter lim="800000"/>
            <a:headEnd/>
            <a:tailEnd/>
          </a:ln>
        </p:spPr>
        <p:txBody>
          <a:bodyPr wrap="square">
            <a:spAutoFit/>
          </a:bodyPr>
          <a:lstStyle/>
          <a:p>
            <a:pPr marL="0" lvl="1">
              <a:buFont typeface="Arial" pitchFamily="34" charset="0"/>
              <a:buChar char="•"/>
            </a:pPr>
            <a:r>
              <a:rPr lang="en-US" sz="2800" b="0" dirty="0" smtClean="0">
                <a:solidFill>
                  <a:schemeClr val="tx1"/>
                </a:solidFill>
                <a:sym typeface="Symbol" pitchFamily="18" charset="2"/>
              </a:rPr>
              <a:t>  Let </a:t>
            </a:r>
            <a:r>
              <a:rPr lang="en-US" sz="2800" b="0" dirty="0">
                <a:solidFill>
                  <a:schemeClr val="tx1"/>
                </a:solidFill>
                <a:sym typeface="Symbol" pitchFamily="18" charset="2"/>
              </a:rPr>
              <a:t>M = “fast” memory size </a:t>
            </a:r>
            <a:r>
              <a:rPr lang="en-US" sz="2800" b="0" dirty="0" smtClean="0">
                <a:solidFill>
                  <a:schemeClr val="tx1"/>
                </a:solidFill>
                <a:sym typeface="Symbol" pitchFamily="18" charset="2"/>
              </a:rPr>
              <a:t>(per processor)</a:t>
            </a:r>
            <a:endParaRPr lang="en-US" sz="2800" b="0" dirty="0">
              <a:solidFill>
                <a:schemeClr val="tx1"/>
              </a:solidFill>
              <a:sym typeface="Symbol" pitchFamily="18" charset="2"/>
            </a:endParaRPr>
          </a:p>
          <a:p>
            <a:pPr marL="0" lvl="1" algn="ctr"/>
            <a:endParaRPr lang="en-US" sz="2800" b="0" dirty="0">
              <a:solidFill>
                <a:schemeClr val="tx1"/>
              </a:solidFill>
              <a:sym typeface="Symbol" pitchFamily="18" charset="2"/>
            </a:endParaRPr>
          </a:p>
          <a:p>
            <a:pPr marL="0" lvl="1" algn="ctr"/>
            <a:r>
              <a:rPr lang="en-US" sz="2400" b="1" dirty="0">
                <a:solidFill>
                  <a:schemeClr val="tx1"/>
                </a:solidFill>
                <a:sym typeface="Symbol" pitchFamily="18" charset="2"/>
              </a:rPr>
              <a:t>#</a:t>
            </a:r>
            <a:r>
              <a:rPr lang="en-US" sz="2400" b="1" dirty="0" err="1">
                <a:solidFill>
                  <a:schemeClr val="tx1"/>
                </a:solidFill>
                <a:sym typeface="Symbol" pitchFamily="18" charset="2"/>
              </a:rPr>
              <a:t>words_moved</a:t>
            </a:r>
            <a:r>
              <a:rPr lang="en-US" sz="2400" b="1" dirty="0">
                <a:solidFill>
                  <a:schemeClr val="tx1"/>
                </a:solidFill>
                <a:sym typeface="Symbol" pitchFamily="18" charset="2"/>
              </a:rPr>
              <a:t> </a:t>
            </a:r>
            <a:r>
              <a:rPr lang="en-US" sz="2400" b="1" dirty="0" smtClean="0">
                <a:solidFill>
                  <a:schemeClr val="tx1"/>
                </a:solidFill>
                <a:sym typeface="Symbol" pitchFamily="18" charset="2"/>
              </a:rPr>
              <a:t>(per processor) </a:t>
            </a:r>
            <a:r>
              <a:rPr lang="en-US" sz="2400" b="1" dirty="0">
                <a:solidFill>
                  <a:schemeClr val="tx1"/>
                </a:solidFill>
                <a:sym typeface="Symbol" pitchFamily="18" charset="2"/>
              </a:rPr>
              <a:t>= </a:t>
            </a:r>
            <a:r>
              <a:rPr lang="en-US" sz="2400" b="1" dirty="0" smtClean="0">
                <a:solidFill>
                  <a:schemeClr val="tx1"/>
                </a:solidFill>
                <a:sym typeface="Symbol"/>
              </a:rPr>
              <a:t></a:t>
            </a:r>
            <a:r>
              <a:rPr lang="en-US" sz="2400" b="1" dirty="0" smtClean="0">
                <a:solidFill>
                  <a:schemeClr val="tx1"/>
                </a:solidFill>
                <a:sym typeface="Symbol" pitchFamily="18" charset="2"/>
              </a:rPr>
              <a:t>(#flops (</a:t>
            </a:r>
            <a:r>
              <a:rPr lang="en-US" sz="2400" b="1" dirty="0" smtClean="0">
                <a:sym typeface="Symbol" pitchFamily="18" charset="2"/>
              </a:rPr>
              <a:t>per </a:t>
            </a:r>
            <a:r>
              <a:rPr lang="en-US" sz="2400" b="1" dirty="0" smtClean="0">
                <a:solidFill>
                  <a:schemeClr val="tx1"/>
                </a:solidFill>
                <a:sym typeface="Symbol" pitchFamily="18" charset="2"/>
              </a:rPr>
              <a:t>processor) </a:t>
            </a:r>
            <a:r>
              <a:rPr lang="en-US" sz="2400" b="1" dirty="0">
                <a:solidFill>
                  <a:schemeClr val="tx1"/>
                </a:solidFill>
                <a:sym typeface="Symbol" pitchFamily="18" charset="2"/>
              </a:rPr>
              <a:t>/ M</a:t>
            </a:r>
            <a:r>
              <a:rPr lang="en-US" sz="2800" b="1" baseline="30000" dirty="0">
                <a:solidFill>
                  <a:schemeClr val="tx1"/>
                </a:solidFill>
                <a:sym typeface="Symbol" pitchFamily="18" charset="2"/>
              </a:rPr>
              <a:t>1/2</a:t>
            </a:r>
            <a:r>
              <a:rPr lang="en-US" sz="2400" b="1" baseline="30000" dirty="0">
                <a:solidFill>
                  <a:schemeClr val="tx1"/>
                </a:solidFill>
                <a:sym typeface="Symbol" pitchFamily="18" charset="2"/>
              </a:rPr>
              <a:t> </a:t>
            </a:r>
            <a:r>
              <a:rPr lang="en-US" sz="2400" b="1" dirty="0">
                <a:solidFill>
                  <a:schemeClr val="tx1"/>
                </a:solidFill>
                <a:sym typeface="Symbol" pitchFamily="18" charset="2"/>
              </a:rPr>
              <a:t>)</a:t>
            </a:r>
          </a:p>
          <a:p>
            <a:pPr marL="0" lvl="1" algn="ctr">
              <a:buFont typeface="Symbol" pitchFamily="18" charset="2"/>
              <a:buChar char="W"/>
            </a:pPr>
            <a:endParaRPr lang="en-US" sz="2400" b="1" dirty="0">
              <a:solidFill>
                <a:schemeClr val="tx1"/>
              </a:solidFill>
              <a:sym typeface="Symbol" pitchFamily="18" charset="2"/>
            </a:endParaRPr>
          </a:p>
          <a:p>
            <a:pPr marL="0" lvl="1" algn="ctr"/>
            <a:r>
              <a:rPr lang="en-US" sz="2400" b="1" dirty="0">
                <a:solidFill>
                  <a:schemeClr val="tx1"/>
                </a:solidFill>
                <a:sym typeface="Symbol" pitchFamily="18" charset="2"/>
              </a:rPr>
              <a:t>#</a:t>
            </a:r>
            <a:r>
              <a:rPr lang="en-US" sz="2400" b="1" dirty="0" err="1">
                <a:solidFill>
                  <a:schemeClr val="tx1"/>
                </a:solidFill>
                <a:sym typeface="Symbol" pitchFamily="18" charset="2"/>
              </a:rPr>
              <a:t>messages_sent</a:t>
            </a:r>
            <a:r>
              <a:rPr lang="en-US" sz="2400" b="1" dirty="0">
                <a:solidFill>
                  <a:schemeClr val="tx1"/>
                </a:solidFill>
                <a:sym typeface="Symbol" pitchFamily="18" charset="2"/>
              </a:rPr>
              <a:t> </a:t>
            </a:r>
            <a:r>
              <a:rPr lang="en-US" sz="2400" b="1" dirty="0" smtClean="0">
                <a:solidFill>
                  <a:schemeClr val="tx1"/>
                </a:solidFill>
                <a:sym typeface="Symbol" pitchFamily="18" charset="2"/>
              </a:rPr>
              <a:t> ≥  #</a:t>
            </a:r>
            <a:r>
              <a:rPr lang="en-US" sz="2400" b="1" dirty="0" err="1" smtClean="0">
                <a:solidFill>
                  <a:schemeClr val="tx1"/>
                </a:solidFill>
                <a:sym typeface="Symbol" pitchFamily="18" charset="2"/>
              </a:rPr>
              <a:t>words_moved</a:t>
            </a:r>
            <a:r>
              <a:rPr lang="en-US" sz="2400" b="1" dirty="0" smtClean="0">
                <a:solidFill>
                  <a:schemeClr val="tx1"/>
                </a:solidFill>
                <a:sym typeface="Symbol" pitchFamily="18" charset="2"/>
              </a:rPr>
              <a:t> / </a:t>
            </a:r>
            <a:r>
              <a:rPr lang="en-US" sz="2400" b="1" dirty="0" err="1" smtClean="0">
                <a:solidFill>
                  <a:schemeClr val="tx1"/>
                </a:solidFill>
                <a:sym typeface="Symbol" pitchFamily="18" charset="2"/>
              </a:rPr>
              <a:t>largest_message_size</a:t>
            </a:r>
            <a:endParaRPr lang="en-US" sz="2400" b="1" dirty="0" smtClean="0">
              <a:solidFill>
                <a:schemeClr val="tx1"/>
              </a:solidFill>
              <a:sym typeface="Symbol" pitchFamily="18" charset="2"/>
            </a:endParaRPr>
          </a:p>
          <a:p>
            <a:pPr marL="0" lvl="1" algn="ctr"/>
            <a:endParaRPr lang="en-US" sz="2400" b="1" dirty="0" smtClean="0">
              <a:solidFill>
                <a:schemeClr val="tx1"/>
              </a:solidFill>
              <a:sym typeface="Symbol" pitchFamily="18" charset="2"/>
            </a:endParaRPr>
          </a:p>
          <a:p>
            <a:pPr marL="0" lvl="1">
              <a:buFont typeface="Arial" pitchFamily="34" charset="0"/>
              <a:buChar char="•"/>
            </a:pPr>
            <a:r>
              <a:rPr lang="en-US" sz="2400" b="1" dirty="0" smtClean="0">
                <a:sym typeface="Symbol" pitchFamily="18" charset="2"/>
              </a:rPr>
              <a:t>  </a:t>
            </a:r>
            <a:r>
              <a:rPr lang="en-US" sz="2800" dirty="0" smtClean="0">
                <a:sym typeface="Symbol" pitchFamily="18" charset="2"/>
              </a:rPr>
              <a:t>Parallel case: assume either load or memory balanced</a:t>
            </a:r>
            <a:endParaRPr lang="en-US" sz="2400" b="1" dirty="0">
              <a:solidFill>
                <a:schemeClr val="tx1"/>
              </a:solidFill>
              <a:sym typeface="Symbol" pitchFamily="18" charset="2"/>
            </a:endParaRPr>
          </a:p>
          <a:p>
            <a:endParaRPr lang="en-US" dirty="0"/>
          </a:p>
        </p:txBody>
      </p:sp>
      <p:cxnSp>
        <p:nvCxnSpPr>
          <p:cNvPr id="6" name="Straight Connector 5"/>
          <p:cNvCxnSpPr/>
          <p:nvPr/>
        </p:nvCxnSpPr>
        <p:spPr>
          <a:xfrm>
            <a:off x="381000" y="762000"/>
            <a:ext cx="83058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8319868"/>
      </p:ext>
    </p:extLst>
  </p:cSld>
  <p:clrMapOvr>
    <a:masterClrMapping/>
  </p:clrMapOvr>
  <p:timing>
    <p:tnLst>
      <p:par>
        <p:cTn xmlns:p14="http://schemas.microsoft.com/office/powerpoint/2010/mai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a:xfrm>
            <a:off x="304800" y="306388"/>
            <a:ext cx="8458199" cy="425450"/>
          </a:xfrm>
        </p:spPr>
        <p:txBody>
          <a:bodyPr>
            <a:noAutofit/>
          </a:bodyPr>
          <a:lstStyle/>
          <a:p>
            <a:r>
              <a:rPr lang="en-US" sz="3600" dirty="0" smtClean="0"/>
              <a:t>Lower bound for all “direct” linear algebra</a:t>
            </a:r>
          </a:p>
        </p:txBody>
      </p:sp>
      <p:sp>
        <p:nvSpPr>
          <p:cNvPr id="20483" name="Content Placeholder 2"/>
          <p:cNvSpPr>
            <a:spLocks noGrp="1"/>
          </p:cNvSpPr>
          <p:nvPr>
            <p:ph idx="1"/>
          </p:nvPr>
        </p:nvSpPr>
        <p:spPr>
          <a:xfrm>
            <a:off x="457200" y="3733800"/>
            <a:ext cx="8001000" cy="2852738"/>
          </a:xfrm>
        </p:spPr>
        <p:txBody>
          <a:bodyPr>
            <a:normAutofit fontScale="85000" lnSpcReduction="10000"/>
          </a:bodyPr>
          <a:lstStyle/>
          <a:p>
            <a:r>
              <a:rPr lang="en-US" dirty="0" smtClean="0"/>
              <a:t>Holds for</a:t>
            </a:r>
          </a:p>
          <a:p>
            <a:pPr lvl="1"/>
            <a:r>
              <a:rPr lang="en-US" dirty="0" err="1" smtClean="0"/>
              <a:t>Matmul</a:t>
            </a:r>
            <a:r>
              <a:rPr lang="en-US" dirty="0" smtClean="0"/>
              <a:t>, BLAS, LU, QR, </a:t>
            </a:r>
            <a:r>
              <a:rPr lang="en-US" dirty="0" err="1" smtClean="0"/>
              <a:t>eig</a:t>
            </a:r>
            <a:r>
              <a:rPr lang="en-US" dirty="0" smtClean="0"/>
              <a:t>, SVD, tensor contractions, …</a:t>
            </a:r>
          </a:p>
          <a:p>
            <a:pPr lvl="1"/>
            <a:r>
              <a:rPr lang="en-US" dirty="0" smtClean="0"/>
              <a:t>Some whole programs (sequences of  these operations, no matter how individual ops are interleaved, </a:t>
            </a:r>
            <a:r>
              <a:rPr lang="en-US" dirty="0" err="1" smtClean="0"/>
              <a:t>eg</a:t>
            </a:r>
            <a:r>
              <a:rPr lang="en-US" dirty="0" smtClean="0"/>
              <a:t> </a:t>
            </a:r>
            <a:r>
              <a:rPr lang="en-US" dirty="0" err="1" smtClean="0"/>
              <a:t>A</a:t>
            </a:r>
            <a:r>
              <a:rPr lang="en-US" baseline="30000" dirty="0" err="1" smtClean="0"/>
              <a:t>k</a:t>
            </a:r>
            <a:r>
              <a:rPr lang="en-US" dirty="0" smtClean="0"/>
              <a:t>)</a:t>
            </a:r>
          </a:p>
          <a:p>
            <a:pPr lvl="1"/>
            <a:r>
              <a:rPr lang="en-US" dirty="0" smtClean="0"/>
              <a:t>Dense and sparse matrices (where #flops  &lt;&lt;  n</a:t>
            </a:r>
            <a:r>
              <a:rPr lang="en-US" baseline="30000" dirty="0" smtClean="0"/>
              <a:t>3</a:t>
            </a:r>
            <a:r>
              <a:rPr lang="en-US" dirty="0" smtClean="0"/>
              <a:t> )</a:t>
            </a:r>
          </a:p>
          <a:p>
            <a:pPr lvl="1"/>
            <a:r>
              <a:rPr lang="en-US" dirty="0" smtClean="0"/>
              <a:t>Sequential and parallel algorithms</a:t>
            </a:r>
          </a:p>
          <a:p>
            <a:pPr lvl="1"/>
            <a:r>
              <a:rPr lang="en-US" dirty="0" smtClean="0"/>
              <a:t>Some graph-theoretic algorithms (</a:t>
            </a:r>
            <a:r>
              <a:rPr lang="en-US" dirty="0" err="1" smtClean="0"/>
              <a:t>eg</a:t>
            </a:r>
            <a:r>
              <a:rPr lang="en-US" dirty="0" smtClean="0"/>
              <a:t> Floyd-</a:t>
            </a:r>
            <a:r>
              <a:rPr lang="en-US" dirty="0" err="1" smtClean="0"/>
              <a:t>Warshall</a:t>
            </a:r>
            <a:r>
              <a:rPr lang="en-US" dirty="0" smtClean="0"/>
              <a:t>)</a:t>
            </a:r>
          </a:p>
        </p:txBody>
      </p:sp>
      <p:sp>
        <p:nvSpPr>
          <p:cNvPr id="4" name="Slide Number Placeholder 3"/>
          <p:cNvSpPr>
            <a:spLocks noGrp="1"/>
          </p:cNvSpPr>
          <p:nvPr>
            <p:ph type="sldNum" sz="quarter" idx="10"/>
          </p:nvPr>
        </p:nvSpPr>
        <p:spPr/>
        <p:txBody>
          <a:bodyPr/>
          <a:lstStyle/>
          <a:p>
            <a:pPr>
              <a:defRPr/>
            </a:pPr>
            <a:fld id="{DBDBBDDB-A7BB-4482-834E-2EFCD62CAAF0}" type="slidenum">
              <a:rPr lang="en-US" smtClean="0"/>
              <a:pPr>
                <a:defRPr/>
              </a:pPr>
              <a:t>8</a:t>
            </a:fld>
            <a:endParaRPr lang="en-US" dirty="0"/>
          </a:p>
        </p:txBody>
      </p:sp>
      <p:sp>
        <p:nvSpPr>
          <p:cNvPr id="20485" name="TextBox 5"/>
          <p:cNvSpPr txBox="1">
            <a:spLocks noChangeArrowheads="1"/>
          </p:cNvSpPr>
          <p:nvPr/>
        </p:nvSpPr>
        <p:spPr bwMode="auto">
          <a:xfrm>
            <a:off x="457200" y="731839"/>
            <a:ext cx="8686800" cy="3139321"/>
          </a:xfrm>
          <a:prstGeom prst="rect">
            <a:avLst/>
          </a:prstGeom>
          <a:noFill/>
          <a:ln w="9525">
            <a:noFill/>
            <a:miter lim="800000"/>
            <a:headEnd/>
            <a:tailEnd/>
          </a:ln>
        </p:spPr>
        <p:txBody>
          <a:bodyPr wrap="square">
            <a:spAutoFit/>
          </a:bodyPr>
          <a:lstStyle/>
          <a:p>
            <a:pPr marL="0" lvl="1">
              <a:buFont typeface="Arial" pitchFamily="34" charset="0"/>
              <a:buChar char="•"/>
            </a:pPr>
            <a:r>
              <a:rPr lang="en-US" sz="2800" b="0" dirty="0" smtClean="0">
                <a:solidFill>
                  <a:schemeClr val="tx1"/>
                </a:solidFill>
                <a:sym typeface="Symbol" pitchFamily="18" charset="2"/>
              </a:rPr>
              <a:t>  Let </a:t>
            </a:r>
            <a:r>
              <a:rPr lang="en-US" sz="2800" b="0" dirty="0">
                <a:solidFill>
                  <a:schemeClr val="tx1"/>
                </a:solidFill>
                <a:sym typeface="Symbol" pitchFamily="18" charset="2"/>
              </a:rPr>
              <a:t>M = “fast” memory size </a:t>
            </a:r>
            <a:r>
              <a:rPr lang="en-US" sz="2800" b="0" dirty="0" smtClean="0">
                <a:solidFill>
                  <a:schemeClr val="tx1"/>
                </a:solidFill>
                <a:sym typeface="Symbol" pitchFamily="18" charset="2"/>
              </a:rPr>
              <a:t>(per processor)</a:t>
            </a:r>
            <a:endParaRPr lang="en-US" sz="2800" b="0" dirty="0">
              <a:solidFill>
                <a:schemeClr val="tx1"/>
              </a:solidFill>
              <a:sym typeface="Symbol" pitchFamily="18" charset="2"/>
            </a:endParaRPr>
          </a:p>
          <a:p>
            <a:pPr marL="0" lvl="1" algn="ctr"/>
            <a:endParaRPr lang="en-US" sz="2800" b="0" dirty="0">
              <a:solidFill>
                <a:schemeClr val="tx1"/>
              </a:solidFill>
              <a:sym typeface="Symbol" pitchFamily="18" charset="2"/>
            </a:endParaRPr>
          </a:p>
          <a:p>
            <a:pPr marL="0" lvl="1" algn="ctr"/>
            <a:r>
              <a:rPr lang="en-US" sz="2400" b="1" dirty="0">
                <a:solidFill>
                  <a:schemeClr val="tx1"/>
                </a:solidFill>
                <a:sym typeface="Symbol" pitchFamily="18" charset="2"/>
              </a:rPr>
              <a:t>#</a:t>
            </a:r>
            <a:r>
              <a:rPr lang="en-US" sz="2400" b="1" dirty="0" err="1">
                <a:solidFill>
                  <a:schemeClr val="tx1"/>
                </a:solidFill>
                <a:sym typeface="Symbol" pitchFamily="18" charset="2"/>
              </a:rPr>
              <a:t>words_moved</a:t>
            </a:r>
            <a:r>
              <a:rPr lang="en-US" sz="2400" b="1" dirty="0">
                <a:solidFill>
                  <a:schemeClr val="tx1"/>
                </a:solidFill>
                <a:sym typeface="Symbol" pitchFamily="18" charset="2"/>
              </a:rPr>
              <a:t> </a:t>
            </a:r>
            <a:r>
              <a:rPr lang="en-US" sz="2400" b="1" dirty="0" smtClean="0">
                <a:solidFill>
                  <a:schemeClr val="tx1"/>
                </a:solidFill>
                <a:sym typeface="Symbol" pitchFamily="18" charset="2"/>
              </a:rPr>
              <a:t>(per processor) </a:t>
            </a:r>
            <a:r>
              <a:rPr lang="en-US" sz="2400" b="1" dirty="0">
                <a:solidFill>
                  <a:schemeClr val="tx1"/>
                </a:solidFill>
                <a:sym typeface="Symbol" pitchFamily="18" charset="2"/>
              </a:rPr>
              <a:t>= </a:t>
            </a:r>
            <a:r>
              <a:rPr lang="en-US" sz="2400" b="1" dirty="0" smtClean="0">
                <a:solidFill>
                  <a:schemeClr val="tx1"/>
                </a:solidFill>
                <a:sym typeface="Symbol"/>
              </a:rPr>
              <a:t></a:t>
            </a:r>
            <a:r>
              <a:rPr lang="en-US" sz="2400" b="1" dirty="0" smtClean="0">
                <a:solidFill>
                  <a:schemeClr val="tx1"/>
                </a:solidFill>
                <a:sym typeface="Symbol" pitchFamily="18" charset="2"/>
              </a:rPr>
              <a:t>(#flops (</a:t>
            </a:r>
            <a:r>
              <a:rPr lang="en-US" sz="2400" b="1" dirty="0" smtClean="0">
                <a:sym typeface="Symbol" pitchFamily="18" charset="2"/>
              </a:rPr>
              <a:t>per </a:t>
            </a:r>
            <a:r>
              <a:rPr lang="en-US" sz="2400" b="1" dirty="0" smtClean="0">
                <a:solidFill>
                  <a:schemeClr val="tx1"/>
                </a:solidFill>
                <a:sym typeface="Symbol" pitchFamily="18" charset="2"/>
              </a:rPr>
              <a:t>processor) </a:t>
            </a:r>
            <a:r>
              <a:rPr lang="en-US" sz="2400" b="1" dirty="0">
                <a:solidFill>
                  <a:schemeClr val="tx1"/>
                </a:solidFill>
                <a:sym typeface="Symbol" pitchFamily="18" charset="2"/>
              </a:rPr>
              <a:t>/ M</a:t>
            </a:r>
            <a:r>
              <a:rPr lang="en-US" sz="2800" b="1" baseline="30000" dirty="0">
                <a:solidFill>
                  <a:schemeClr val="tx1"/>
                </a:solidFill>
                <a:sym typeface="Symbol" pitchFamily="18" charset="2"/>
              </a:rPr>
              <a:t>1/2</a:t>
            </a:r>
            <a:r>
              <a:rPr lang="en-US" sz="2400" b="1" baseline="30000" dirty="0">
                <a:solidFill>
                  <a:schemeClr val="tx1"/>
                </a:solidFill>
                <a:sym typeface="Symbol" pitchFamily="18" charset="2"/>
              </a:rPr>
              <a:t> </a:t>
            </a:r>
            <a:r>
              <a:rPr lang="en-US" sz="2400" b="1" dirty="0">
                <a:solidFill>
                  <a:schemeClr val="tx1"/>
                </a:solidFill>
                <a:sym typeface="Symbol" pitchFamily="18" charset="2"/>
              </a:rPr>
              <a:t>)</a:t>
            </a:r>
          </a:p>
          <a:p>
            <a:pPr marL="0" lvl="1" algn="ctr">
              <a:buFont typeface="Symbol" pitchFamily="18" charset="2"/>
              <a:buChar char="W"/>
            </a:pPr>
            <a:endParaRPr lang="en-US" sz="2400" b="1" dirty="0">
              <a:solidFill>
                <a:schemeClr val="tx1"/>
              </a:solidFill>
              <a:sym typeface="Symbol" pitchFamily="18" charset="2"/>
            </a:endParaRPr>
          </a:p>
          <a:p>
            <a:pPr marL="0" lvl="1" algn="ctr"/>
            <a:r>
              <a:rPr lang="en-US" sz="2400" b="1" dirty="0">
                <a:solidFill>
                  <a:schemeClr val="tx1"/>
                </a:solidFill>
                <a:sym typeface="Symbol" pitchFamily="18" charset="2"/>
              </a:rPr>
              <a:t>#</a:t>
            </a:r>
            <a:r>
              <a:rPr lang="en-US" sz="2400" b="1" dirty="0" err="1">
                <a:solidFill>
                  <a:schemeClr val="tx1"/>
                </a:solidFill>
                <a:sym typeface="Symbol" pitchFamily="18" charset="2"/>
              </a:rPr>
              <a:t>messages_sent</a:t>
            </a:r>
            <a:r>
              <a:rPr lang="en-US" sz="2400" b="1" dirty="0">
                <a:solidFill>
                  <a:schemeClr val="tx1"/>
                </a:solidFill>
                <a:sym typeface="Symbol" pitchFamily="18" charset="2"/>
              </a:rPr>
              <a:t> </a:t>
            </a:r>
            <a:r>
              <a:rPr lang="en-US" sz="2400" b="1" dirty="0" smtClean="0">
                <a:solidFill>
                  <a:schemeClr val="tx1"/>
                </a:solidFill>
                <a:sym typeface="Symbol" pitchFamily="18" charset="2"/>
              </a:rPr>
              <a:t>(per processor) </a:t>
            </a:r>
            <a:r>
              <a:rPr lang="en-US" sz="2400" b="1" dirty="0">
                <a:solidFill>
                  <a:schemeClr val="tx1"/>
                </a:solidFill>
                <a:sym typeface="Symbol" pitchFamily="18" charset="2"/>
              </a:rPr>
              <a:t>= </a:t>
            </a:r>
            <a:r>
              <a:rPr lang="en-US" sz="2400" b="1" dirty="0" smtClean="0">
                <a:sym typeface="Symbol"/>
              </a:rPr>
              <a:t></a:t>
            </a:r>
            <a:r>
              <a:rPr lang="en-US" sz="2400" b="1" dirty="0" smtClean="0">
                <a:solidFill>
                  <a:schemeClr val="tx1"/>
                </a:solidFill>
                <a:sym typeface="Symbol" pitchFamily="18" charset="2"/>
              </a:rPr>
              <a:t>(#flops (per processor) </a:t>
            </a:r>
            <a:r>
              <a:rPr lang="en-US" sz="2400" b="1" dirty="0">
                <a:solidFill>
                  <a:schemeClr val="tx1"/>
                </a:solidFill>
                <a:sym typeface="Symbol" pitchFamily="18" charset="2"/>
              </a:rPr>
              <a:t>/ M</a:t>
            </a:r>
            <a:r>
              <a:rPr lang="en-US" sz="2800" b="1" baseline="30000" dirty="0">
                <a:solidFill>
                  <a:srgbClr val="FF0000"/>
                </a:solidFill>
                <a:sym typeface="Symbol" pitchFamily="18" charset="2"/>
              </a:rPr>
              <a:t>3</a:t>
            </a:r>
            <a:r>
              <a:rPr lang="en-US" sz="2800" b="1" baseline="30000" dirty="0">
                <a:solidFill>
                  <a:schemeClr val="tx1"/>
                </a:solidFill>
                <a:sym typeface="Symbol" pitchFamily="18" charset="2"/>
              </a:rPr>
              <a:t>/2</a:t>
            </a:r>
            <a:r>
              <a:rPr lang="en-US" sz="2400" b="1" baseline="30000" dirty="0">
                <a:solidFill>
                  <a:schemeClr val="tx1"/>
                </a:solidFill>
                <a:sym typeface="Symbol" pitchFamily="18" charset="2"/>
              </a:rPr>
              <a:t> </a:t>
            </a:r>
            <a:r>
              <a:rPr lang="en-US" sz="2400" b="1" dirty="0" smtClean="0">
                <a:solidFill>
                  <a:schemeClr val="tx1"/>
                </a:solidFill>
                <a:sym typeface="Symbol" pitchFamily="18" charset="2"/>
              </a:rPr>
              <a:t>)</a:t>
            </a:r>
          </a:p>
          <a:p>
            <a:pPr marL="0" lvl="1" algn="ctr">
              <a:buFont typeface="Symbol" pitchFamily="18" charset="2"/>
              <a:buChar char="W"/>
            </a:pPr>
            <a:endParaRPr lang="en-US" sz="2400" b="1" dirty="0" smtClean="0">
              <a:solidFill>
                <a:schemeClr val="tx1"/>
              </a:solidFill>
              <a:sym typeface="Symbol" pitchFamily="18" charset="2"/>
            </a:endParaRPr>
          </a:p>
          <a:p>
            <a:pPr marL="0" lvl="1">
              <a:buFont typeface="Arial" pitchFamily="34" charset="0"/>
              <a:buChar char="•"/>
            </a:pPr>
            <a:r>
              <a:rPr lang="en-US" sz="2400" b="1" dirty="0" smtClean="0">
                <a:sym typeface="Symbol" pitchFamily="18" charset="2"/>
              </a:rPr>
              <a:t>  </a:t>
            </a:r>
            <a:r>
              <a:rPr lang="en-US" sz="2800" dirty="0" smtClean="0">
                <a:sym typeface="Symbol" pitchFamily="18" charset="2"/>
              </a:rPr>
              <a:t>Parallel case: assume either load or memory balanced</a:t>
            </a:r>
            <a:endParaRPr lang="en-US" sz="2400" b="1" dirty="0">
              <a:solidFill>
                <a:schemeClr val="tx1"/>
              </a:solidFill>
              <a:sym typeface="Symbol" pitchFamily="18" charset="2"/>
            </a:endParaRPr>
          </a:p>
          <a:p>
            <a:endParaRPr lang="en-US" dirty="0"/>
          </a:p>
        </p:txBody>
      </p:sp>
      <p:cxnSp>
        <p:nvCxnSpPr>
          <p:cNvPr id="6" name="Straight Connector 5"/>
          <p:cNvCxnSpPr/>
          <p:nvPr/>
        </p:nvCxnSpPr>
        <p:spPr>
          <a:xfrm>
            <a:off x="381000" y="762000"/>
            <a:ext cx="83058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20536272"/>
      </p:ext>
    </p:extLst>
  </p:cSld>
  <p:clrMapOvr>
    <a:masterClrMapping/>
  </p:clrMapOvr>
  <p:timing>
    <p:tnLst>
      <p:par>
        <p:cTn xmlns:p14="http://schemas.microsoft.com/office/powerpoint/2010/mai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a:xfrm>
            <a:off x="798512" y="306388"/>
            <a:ext cx="8116887" cy="425450"/>
          </a:xfrm>
        </p:spPr>
        <p:txBody>
          <a:bodyPr>
            <a:normAutofit fontScale="90000"/>
          </a:bodyPr>
          <a:lstStyle/>
          <a:p>
            <a:r>
              <a:rPr lang="en-US" dirty="0" smtClean="0"/>
              <a:t>Can we attain these lower bounds?</a:t>
            </a:r>
          </a:p>
        </p:txBody>
      </p:sp>
      <p:sp>
        <p:nvSpPr>
          <p:cNvPr id="36867" name="Content Placeholder 2"/>
          <p:cNvSpPr>
            <a:spLocks noGrp="1"/>
          </p:cNvSpPr>
          <p:nvPr>
            <p:ph idx="1"/>
          </p:nvPr>
        </p:nvSpPr>
        <p:spPr>
          <a:xfrm>
            <a:off x="153988" y="914400"/>
            <a:ext cx="8961437" cy="5851525"/>
          </a:xfrm>
        </p:spPr>
        <p:txBody>
          <a:bodyPr>
            <a:normAutofit lnSpcReduction="10000"/>
          </a:bodyPr>
          <a:lstStyle/>
          <a:p>
            <a:r>
              <a:rPr lang="en-US" dirty="0" smtClean="0"/>
              <a:t>Do conventional dense algorithms as implemented in  LAPACK and </a:t>
            </a:r>
            <a:r>
              <a:rPr lang="en-US" dirty="0" err="1" smtClean="0"/>
              <a:t>ScaLAPACK</a:t>
            </a:r>
            <a:r>
              <a:rPr lang="en-US" dirty="0" smtClean="0"/>
              <a:t> attain these bounds?</a:t>
            </a:r>
          </a:p>
          <a:p>
            <a:pPr lvl="1"/>
            <a:r>
              <a:rPr lang="en-US" dirty="0" smtClean="0"/>
              <a:t>Mostly not </a:t>
            </a:r>
          </a:p>
          <a:p>
            <a:r>
              <a:rPr lang="en-US" dirty="0" smtClean="0"/>
              <a:t>If not, are there other algorithms that do?</a:t>
            </a:r>
          </a:p>
          <a:p>
            <a:pPr lvl="1"/>
            <a:r>
              <a:rPr lang="en-US" dirty="0" smtClean="0"/>
              <a:t>Yes, for much of dense linear algebra</a:t>
            </a:r>
          </a:p>
          <a:p>
            <a:pPr lvl="1"/>
            <a:r>
              <a:rPr lang="en-US" dirty="0" smtClean="0"/>
              <a:t>New algorithms, with new numerical properties,               new ways to encode answers,  new data structures                             </a:t>
            </a:r>
          </a:p>
          <a:p>
            <a:pPr lvl="1"/>
            <a:r>
              <a:rPr lang="en-US" dirty="0" smtClean="0"/>
              <a:t>Not just loop transformations</a:t>
            </a:r>
          </a:p>
          <a:p>
            <a:r>
              <a:rPr lang="en-US" dirty="0" smtClean="0"/>
              <a:t>Only a few sparse algorithms so far</a:t>
            </a:r>
          </a:p>
          <a:p>
            <a:r>
              <a:rPr lang="en-US" dirty="0" smtClean="0"/>
              <a:t>Lots of work in progress</a:t>
            </a:r>
          </a:p>
          <a:p>
            <a:r>
              <a:rPr lang="en-US" dirty="0" smtClean="0"/>
              <a:t>Case study: Matrix Multiply</a:t>
            </a:r>
          </a:p>
        </p:txBody>
      </p:sp>
      <p:sp>
        <p:nvSpPr>
          <p:cNvPr id="4" name="Slide Number Placeholder 3"/>
          <p:cNvSpPr>
            <a:spLocks noGrp="1"/>
          </p:cNvSpPr>
          <p:nvPr>
            <p:ph type="sldNum" sz="quarter" idx="10"/>
          </p:nvPr>
        </p:nvSpPr>
        <p:spPr>
          <a:xfrm>
            <a:off x="3352800" y="6416675"/>
            <a:ext cx="2133600" cy="365125"/>
          </a:xfrm>
        </p:spPr>
        <p:txBody>
          <a:bodyPr/>
          <a:lstStyle/>
          <a:p>
            <a:pPr algn="ctr">
              <a:defRPr/>
            </a:pPr>
            <a:fld id="{5839375E-32BF-43EE-A881-86705A256A45}" type="slidenum">
              <a:rPr lang="en-US" smtClean="0"/>
              <a:pPr algn="ctr">
                <a:defRPr/>
              </a:pPr>
              <a:t>9</a:t>
            </a:fld>
            <a:endParaRPr lang="en-US" dirty="0"/>
          </a:p>
        </p:txBody>
      </p:sp>
      <p:cxnSp>
        <p:nvCxnSpPr>
          <p:cNvPr id="5" name="Straight Connector 4"/>
          <p:cNvCxnSpPr/>
          <p:nvPr/>
        </p:nvCxnSpPr>
        <p:spPr>
          <a:xfrm>
            <a:off x="381000" y="838200"/>
            <a:ext cx="8305800" cy="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6867">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6867">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6867">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6867">
                                            <p:txEl>
                                              <p:pRg st="5" end="5"/>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6867">
                                            <p:txEl>
                                              <p:pRg st="6" end="6"/>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6867">
                                            <p:txEl>
                                              <p:pRg st="7" end="7"/>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6867">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chemeClr val="accent1"/>
                </a:solidFill>
                <a:latin typeface="Arial" pitchFamily="34" charset="0"/>
                <a:ea typeface="MS PGothic" pitchFamily="34" charset="-128"/>
              </a:defRPr>
            </a:lvl1pPr>
            <a:lvl2pPr marL="742950" indent="-285750">
              <a:defRPr sz="2000" b="1">
                <a:solidFill>
                  <a:schemeClr val="accent1"/>
                </a:solidFill>
                <a:latin typeface="Arial" pitchFamily="34" charset="0"/>
                <a:ea typeface="MS PGothic" pitchFamily="34" charset="-128"/>
              </a:defRPr>
            </a:lvl2pPr>
            <a:lvl3pPr marL="1143000" indent="-228600">
              <a:defRPr sz="2000" b="1">
                <a:solidFill>
                  <a:schemeClr val="accent1"/>
                </a:solidFill>
                <a:latin typeface="Arial" pitchFamily="34" charset="0"/>
                <a:ea typeface="MS PGothic" pitchFamily="34" charset="-128"/>
              </a:defRPr>
            </a:lvl3pPr>
            <a:lvl4pPr marL="1600200" indent="-228600">
              <a:defRPr sz="2000" b="1">
                <a:solidFill>
                  <a:schemeClr val="accent1"/>
                </a:solidFill>
                <a:latin typeface="Arial" pitchFamily="34" charset="0"/>
                <a:ea typeface="MS PGothic" pitchFamily="34" charset="-128"/>
              </a:defRPr>
            </a:lvl4pPr>
            <a:lvl5pPr marL="2057400" indent="-228600">
              <a:defRPr sz="2000" b="1">
                <a:solidFill>
                  <a:schemeClr val="accent1"/>
                </a:solidFill>
                <a:latin typeface="Arial" pitchFamily="34" charset="0"/>
                <a:ea typeface="MS PGothic" pitchFamily="34" charset="-128"/>
              </a:defRPr>
            </a:lvl5pPr>
            <a:lvl6pPr marL="25146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6pPr>
            <a:lvl7pPr marL="29718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7pPr>
            <a:lvl8pPr marL="34290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8pPr>
            <a:lvl9pPr marL="38862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9pPr>
          </a:lstStyle>
          <a:p>
            <a:fld id="{66EBF6E7-7A69-4DBC-9BC1-E98EB674BDAF}" type="slidenum">
              <a:rPr lang="en-US" sz="1400" b="0" smtClean="0">
                <a:solidFill>
                  <a:schemeClr val="tx1"/>
                </a:solidFill>
                <a:latin typeface="Helvetica" charset="0"/>
              </a:rPr>
              <a:pPr/>
              <a:t>10</a:t>
            </a:fld>
            <a:endParaRPr lang="en-US" sz="1400" b="0" smtClean="0">
              <a:solidFill>
                <a:schemeClr val="tx1"/>
              </a:solidFill>
              <a:latin typeface="Helvetica" charset="0"/>
            </a:endParaRPr>
          </a:p>
        </p:txBody>
      </p:sp>
      <p:sp>
        <p:nvSpPr>
          <p:cNvPr id="20483" name="Rectangle 2"/>
          <p:cNvSpPr>
            <a:spLocks noGrp="1" noChangeArrowheads="1"/>
          </p:cNvSpPr>
          <p:nvPr>
            <p:ph type="title"/>
          </p:nvPr>
        </p:nvSpPr>
        <p:spPr>
          <a:xfrm>
            <a:off x="808038" y="309563"/>
            <a:ext cx="6735762" cy="422275"/>
          </a:xfrm>
        </p:spPr>
        <p:txBody>
          <a:bodyPr>
            <a:normAutofit fontScale="90000"/>
          </a:bodyPr>
          <a:lstStyle/>
          <a:p>
            <a:r>
              <a:rPr lang="en-US" dirty="0" smtClean="0"/>
              <a:t>Naïve Matrix Multiply</a:t>
            </a:r>
          </a:p>
        </p:txBody>
      </p:sp>
      <p:sp>
        <p:nvSpPr>
          <p:cNvPr id="20484" name="Rectangle 3"/>
          <p:cNvSpPr>
            <a:spLocks noGrp="1" noChangeArrowheads="1"/>
          </p:cNvSpPr>
          <p:nvPr>
            <p:ph type="body" idx="1"/>
          </p:nvPr>
        </p:nvSpPr>
        <p:spPr>
          <a:xfrm>
            <a:off x="609600" y="914400"/>
            <a:ext cx="7929563" cy="3232150"/>
          </a:xfrm>
          <a:ln>
            <a:solidFill>
              <a:srgbClr val="000066"/>
            </a:solidFill>
            <a:miter lim="800000"/>
            <a:headEnd/>
            <a:tailEnd/>
          </a:ln>
        </p:spPr>
        <p:txBody>
          <a:bodyPr>
            <a:normAutofit lnSpcReduction="10000"/>
          </a:bodyPr>
          <a:lstStyle/>
          <a:p>
            <a:pPr>
              <a:buFontTx/>
              <a:buNone/>
            </a:pPr>
            <a:r>
              <a:rPr lang="en-US" sz="2000" dirty="0" smtClean="0">
                <a:solidFill>
                  <a:schemeClr val="accent2"/>
                </a:solidFill>
              </a:rPr>
              <a:t>{implements C = C + A*B}</a:t>
            </a:r>
          </a:p>
          <a:p>
            <a:pPr>
              <a:buFontTx/>
              <a:buNone/>
            </a:pPr>
            <a:r>
              <a:rPr lang="en-US" sz="2000" dirty="0" smtClean="0"/>
              <a:t>for </a:t>
            </a:r>
            <a:r>
              <a:rPr lang="en-US" sz="2000" dirty="0" err="1" smtClean="0"/>
              <a:t>i</a:t>
            </a:r>
            <a:r>
              <a:rPr lang="en-US" sz="2000" dirty="0" smtClean="0"/>
              <a:t> = 1 to n</a:t>
            </a:r>
          </a:p>
          <a:p>
            <a:pPr>
              <a:buFontTx/>
              <a:buNone/>
            </a:pPr>
            <a:r>
              <a:rPr lang="en-US" sz="2000" dirty="0" smtClean="0"/>
              <a:t>  </a:t>
            </a:r>
            <a:endParaRPr lang="en-US" sz="2000" dirty="0">
              <a:solidFill>
                <a:schemeClr val="accent2"/>
              </a:solidFill>
            </a:endParaRPr>
          </a:p>
          <a:p>
            <a:pPr>
              <a:buFontTx/>
              <a:buNone/>
            </a:pPr>
            <a:r>
              <a:rPr lang="en-US" sz="2000" dirty="0" smtClean="0">
                <a:solidFill>
                  <a:schemeClr val="accent2"/>
                </a:solidFill>
              </a:rPr>
              <a:t>   </a:t>
            </a:r>
            <a:r>
              <a:rPr lang="en-US" sz="2000" dirty="0" smtClean="0"/>
              <a:t>for j = 1 to n</a:t>
            </a:r>
          </a:p>
          <a:p>
            <a:pPr>
              <a:buFontTx/>
              <a:buNone/>
            </a:pPr>
            <a:endParaRPr lang="en-US" sz="2000" dirty="0" smtClean="0"/>
          </a:p>
          <a:p>
            <a:pPr>
              <a:buFontTx/>
              <a:buNone/>
            </a:pPr>
            <a:endParaRPr lang="en-US" sz="2000" dirty="0"/>
          </a:p>
          <a:p>
            <a:pPr>
              <a:buFontTx/>
              <a:buNone/>
            </a:pPr>
            <a:r>
              <a:rPr lang="en-US" sz="2000" dirty="0" smtClean="0"/>
              <a:t>       for k = 1 to n</a:t>
            </a:r>
          </a:p>
          <a:p>
            <a:pPr>
              <a:buFontTx/>
              <a:buNone/>
            </a:pPr>
            <a:r>
              <a:rPr lang="en-US" sz="2000" dirty="0" smtClean="0"/>
              <a:t>           C(</a:t>
            </a:r>
            <a:r>
              <a:rPr lang="en-US" sz="2000" dirty="0" err="1" smtClean="0"/>
              <a:t>i,j</a:t>
            </a:r>
            <a:r>
              <a:rPr lang="en-US" sz="2000" dirty="0" smtClean="0"/>
              <a:t>) = C(</a:t>
            </a:r>
            <a:r>
              <a:rPr lang="en-US" sz="2000" dirty="0" err="1" smtClean="0"/>
              <a:t>i,j</a:t>
            </a:r>
            <a:r>
              <a:rPr lang="en-US" sz="2000" dirty="0" smtClean="0"/>
              <a:t>) + A(</a:t>
            </a:r>
            <a:r>
              <a:rPr lang="en-US" sz="2000" dirty="0" err="1" smtClean="0"/>
              <a:t>i,k</a:t>
            </a:r>
            <a:r>
              <a:rPr lang="en-US" sz="2000" dirty="0" smtClean="0"/>
              <a:t>) * B(</a:t>
            </a:r>
            <a:r>
              <a:rPr lang="en-US" sz="2000" dirty="0" err="1" smtClean="0"/>
              <a:t>k,j</a:t>
            </a:r>
            <a:r>
              <a:rPr lang="en-US" sz="2000" dirty="0" smtClean="0"/>
              <a:t>)</a:t>
            </a:r>
          </a:p>
          <a:p>
            <a:pPr>
              <a:buFontTx/>
              <a:buNone/>
            </a:pPr>
            <a:r>
              <a:rPr lang="en-US" sz="2000" dirty="0" smtClean="0"/>
              <a:t>       </a:t>
            </a:r>
            <a:endParaRPr lang="en-US" sz="2000" dirty="0" smtClean="0">
              <a:solidFill>
                <a:schemeClr val="accent2"/>
              </a:solidFill>
            </a:endParaRPr>
          </a:p>
        </p:txBody>
      </p:sp>
      <p:sp>
        <p:nvSpPr>
          <p:cNvPr id="20485" name="Rectangle 4"/>
          <p:cNvSpPr>
            <a:spLocks noChangeArrowheads="1"/>
          </p:cNvSpPr>
          <p:nvPr/>
        </p:nvSpPr>
        <p:spPr bwMode="auto">
          <a:xfrm>
            <a:off x="3454400" y="4343400"/>
            <a:ext cx="1150938" cy="12954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it-IT"/>
          </a:p>
        </p:txBody>
      </p:sp>
      <p:sp>
        <p:nvSpPr>
          <p:cNvPr id="20486" name="Rectangle 5"/>
          <p:cNvSpPr>
            <a:spLocks noChangeArrowheads="1"/>
          </p:cNvSpPr>
          <p:nvPr/>
        </p:nvSpPr>
        <p:spPr bwMode="auto">
          <a:xfrm>
            <a:off x="5080000" y="4343400"/>
            <a:ext cx="1150938" cy="12954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it-IT"/>
          </a:p>
        </p:txBody>
      </p:sp>
      <p:sp>
        <p:nvSpPr>
          <p:cNvPr id="20487" name="Text Box 6"/>
          <p:cNvSpPr txBox="1">
            <a:spLocks noChangeArrowheads="1"/>
          </p:cNvSpPr>
          <p:nvPr/>
        </p:nvSpPr>
        <p:spPr bwMode="auto">
          <a:xfrm>
            <a:off x="2709863" y="4876800"/>
            <a:ext cx="5413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sz="2000" b="1">
                <a:solidFill>
                  <a:schemeClr val="accent1"/>
                </a:solidFill>
                <a:latin typeface="Arial" pitchFamily="34" charset="0"/>
                <a:ea typeface="MS PGothic" pitchFamily="34" charset="-128"/>
              </a:defRPr>
            </a:lvl1pPr>
            <a:lvl2pPr marL="742950" indent="-285750">
              <a:defRPr sz="2000" b="1">
                <a:solidFill>
                  <a:schemeClr val="accent1"/>
                </a:solidFill>
                <a:latin typeface="Arial" pitchFamily="34" charset="0"/>
                <a:ea typeface="MS PGothic" pitchFamily="34" charset="-128"/>
              </a:defRPr>
            </a:lvl2pPr>
            <a:lvl3pPr marL="1143000" indent="-228600">
              <a:defRPr sz="2000" b="1">
                <a:solidFill>
                  <a:schemeClr val="accent1"/>
                </a:solidFill>
                <a:latin typeface="Arial" pitchFamily="34" charset="0"/>
                <a:ea typeface="MS PGothic" pitchFamily="34" charset="-128"/>
              </a:defRPr>
            </a:lvl3pPr>
            <a:lvl4pPr marL="1600200" indent="-228600">
              <a:defRPr sz="2000" b="1">
                <a:solidFill>
                  <a:schemeClr val="accent1"/>
                </a:solidFill>
                <a:latin typeface="Arial" pitchFamily="34" charset="0"/>
                <a:ea typeface="MS PGothic" pitchFamily="34" charset="-128"/>
              </a:defRPr>
            </a:lvl4pPr>
            <a:lvl5pPr marL="2057400" indent="-228600">
              <a:defRPr sz="2000" b="1">
                <a:solidFill>
                  <a:schemeClr val="accent1"/>
                </a:solidFill>
                <a:latin typeface="Arial" pitchFamily="34" charset="0"/>
                <a:ea typeface="MS PGothic" pitchFamily="34" charset="-128"/>
              </a:defRPr>
            </a:lvl5pPr>
            <a:lvl6pPr marL="25146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6pPr>
            <a:lvl7pPr marL="29718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7pPr>
            <a:lvl8pPr marL="34290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8pPr>
            <a:lvl9pPr marL="38862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9pPr>
          </a:lstStyle>
          <a:p>
            <a:pPr>
              <a:spcBef>
                <a:spcPct val="50000"/>
              </a:spcBef>
            </a:pPr>
            <a:r>
              <a:rPr lang="en-US" sz="2400">
                <a:solidFill>
                  <a:schemeClr val="tx1"/>
                </a:solidFill>
              </a:rPr>
              <a:t>=</a:t>
            </a:r>
          </a:p>
        </p:txBody>
      </p:sp>
      <p:sp>
        <p:nvSpPr>
          <p:cNvPr id="20488" name="Text Box 7"/>
          <p:cNvSpPr txBox="1">
            <a:spLocks noChangeArrowheads="1"/>
          </p:cNvSpPr>
          <p:nvPr/>
        </p:nvSpPr>
        <p:spPr bwMode="auto">
          <a:xfrm>
            <a:off x="4673600" y="4876800"/>
            <a:ext cx="2714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sz="2000" b="1">
                <a:solidFill>
                  <a:schemeClr val="accent1"/>
                </a:solidFill>
                <a:latin typeface="Arial" pitchFamily="34" charset="0"/>
                <a:ea typeface="MS PGothic" pitchFamily="34" charset="-128"/>
              </a:defRPr>
            </a:lvl1pPr>
            <a:lvl2pPr marL="742950" indent="-285750">
              <a:defRPr sz="2000" b="1">
                <a:solidFill>
                  <a:schemeClr val="accent1"/>
                </a:solidFill>
                <a:latin typeface="Arial" pitchFamily="34" charset="0"/>
                <a:ea typeface="MS PGothic" pitchFamily="34" charset="-128"/>
              </a:defRPr>
            </a:lvl2pPr>
            <a:lvl3pPr marL="1143000" indent="-228600">
              <a:defRPr sz="2000" b="1">
                <a:solidFill>
                  <a:schemeClr val="accent1"/>
                </a:solidFill>
                <a:latin typeface="Arial" pitchFamily="34" charset="0"/>
                <a:ea typeface="MS PGothic" pitchFamily="34" charset="-128"/>
              </a:defRPr>
            </a:lvl3pPr>
            <a:lvl4pPr marL="1600200" indent="-228600">
              <a:defRPr sz="2000" b="1">
                <a:solidFill>
                  <a:schemeClr val="accent1"/>
                </a:solidFill>
                <a:latin typeface="Arial" pitchFamily="34" charset="0"/>
                <a:ea typeface="MS PGothic" pitchFamily="34" charset="-128"/>
              </a:defRPr>
            </a:lvl4pPr>
            <a:lvl5pPr marL="2057400" indent="-228600">
              <a:defRPr sz="2000" b="1">
                <a:solidFill>
                  <a:schemeClr val="accent1"/>
                </a:solidFill>
                <a:latin typeface="Arial" pitchFamily="34" charset="0"/>
                <a:ea typeface="MS PGothic" pitchFamily="34" charset="-128"/>
              </a:defRPr>
            </a:lvl5pPr>
            <a:lvl6pPr marL="25146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6pPr>
            <a:lvl7pPr marL="29718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7pPr>
            <a:lvl8pPr marL="34290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8pPr>
            <a:lvl9pPr marL="38862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9pPr>
          </a:lstStyle>
          <a:p>
            <a:pPr>
              <a:spcBef>
                <a:spcPct val="50000"/>
              </a:spcBef>
            </a:pPr>
            <a:r>
              <a:rPr lang="en-US" sz="2400">
                <a:solidFill>
                  <a:schemeClr val="tx1"/>
                </a:solidFill>
              </a:rPr>
              <a:t>+</a:t>
            </a:r>
          </a:p>
        </p:txBody>
      </p:sp>
      <p:sp>
        <p:nvSpPr>
          <p:cNvPr id="20489" name="Text Box 8"/>
          <p:cNvSpPr txBox="1">
            <a:spLocks noChangeArrowheads="1"/>
          </p:cNvSpPr>
          <p:nvPr/>
        </p:nvSpPr>
        <p:spPr bwMode="auto">
          <a:xfrm>
            <a:off x="6230938" y="4876800"/>
            <a:ext cx="1635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sz="2000" b="1">
                <a:solidFill>
                  <a:schemeClr val="accent1"/>
                </a:solidFill>
                <a:latin typeface="Arial" pitchFamily="34" charset="0"/>
                <a:ea typeface="MS PGothic" pitchFamily="34" charset="-128"/>
              </a:defRPr>
            </a:lvl1pPr>
            <a:lvl2pPr marL="742950" indent="-285750">
              <a:defRPr sz="2000" b="1">
                <a:solidFill>
                  <a:schemeClr val="accent1"/>
                </a:solidFill>
                <a:latin typeface="Arial" pitchFamily="34" charset="0"/>
                <a:ea typeface="MS PGothic" pitchFamily="34" charset="-128"/>
              </a:defRPr>
            </a:lvl2pPr>
            <a:lvl3pPr marL="1143000" indent="-228600">
              <a:defRPr sz="2000" b="1">
                <a:solidFill>
                  <a:schemeClr val="accent1"/>
                </a:solidFill>
                <a:latin typeface="Arial" pitchFamily="34" charset="0"/>
                <a:ea typeface="MS PGothic" pitchFamily="34" charset="-128"/>
              </a:defRPr>
            </a:lvl3pPr>
            <a:lvl4pPr marL="1600200" indent="-228600">
              <a:defRPr sz="2000" b="1">
                <a:solidFill>
                  <a:schemeClr val="accent1"/>
                </a:solidFill>
                <a:latin typeface="Arial" pitchFamily="34" charset="0"/>
                <a:ea typeface="MS PGothic" pitchFamily="34" charset="-128"/>
              </a:defRPr>
            </a:lvl4pPr>
            <a:lvl5pPr marL="2057400" indent="-228600">
              <a:defRPr sz="2000" b="1">
                <a:solidFill>
                  <a:schemeClr val="accent1"/>
                </a:solidFill>
                <a:latin typeface="Arial" pitchFamily="34" charset="0"/>
                <a:ea typeface="MS PGothic" pitchFamily="34" charset="-128"/>
              </a:defRPr>
            </a:lvl5pPr>
            <a:lvl6pPr marL="25146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6pPr>
            <a:lvl7pPr marL="29718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7pPr>
            <a:lvl8pPr marL="34290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8pPr>
            <a:lvl9pPr marL="38862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9pPr>
          </a:lstStyle>
          <a:p>
            <a:pPr>
              <a:spcBef>
                <a:spcPct val="50000"/>
              </a:spcBef>
            </a:pPr>
            <a:r>
              <a:rPr lang="en-US" sz="2400">
                <a:solidFill>
                  <a:schemeClr val="tx1"/>
                </a:solidFill>
              </a:rPr>
              <a:t>*</a:t>
            </a:r>
          </a:p>
        </p:txBody>
      </p:sp>
      <p:sp>
        <p:nvSpPr>
          <p:cNvPr id="20490" name="Rectangle 9"/>
          <p:cNvSpPr>
            <a:spLocks noChangeArrowheads="1"/>
          </p:cNvSpPr>
          <p:nvPr/>
        </p:nvSpPr>
        <p:spPr bwMode="auto">
          <a:xfrm>
            <a:off x="3792538" y="4876800"/>
            <a:ext cx="136525" cy="152400"/>
          </a:xfrm>
          <a:prstGeom prst="rect">
            <a:avLst/>
          </a:prstGeom>
          <a:solidFill>
            <a:schemeClr val="accent1"/>
          </a:solidFill>
          <a:ln w="12700">
            <a:solidFill>
              <a:schemeClr val="tx1"/>
            </a:solidFill>
            <a:miter lim="800000"/>
            <a:headEnd/>
            <a:tailEnd/>
          </a:ln>
        </p:spPr>
        <p:txBody>
          <a:bodyPr wrap="none" anchor="ctr"/>
          <a:lstStyle/>
          <a:p>
            <a:endParaRPr lang="it-IT"/>
          </a:p>
        </p:txBody>
      </p:sp>
      <p:sp>
        <p:nvSpPr>
          <p:cNvPr id="20491" name="Rectangle 10"/>
          <p:cNvSpPr>
            <a:spLocks noChangeArrowheads="1"/>
          </p:cNvSpPr>
          <p:nvPr/>
        </p:nvSpPr>
        <p:spPr bwMode="auto">
          <a:xfrm>
            <a:off x="5080000" y="4876800"/>
            <a:ext cx="1150938" cy="152400"/>
          </a:xfrm>
          <a:prstGeom prst="rect">
            <a:avLst/>
          </a:prstGeom>
          <a:solidFill>
            <a:schemeClr val="accent1"/>
          </a:solidFill>
          <a:ln w="12700">
            <a:solidFill>
              <a:schemeClr val="tx1"/>
            </a:solidFill>
            <a:miter lim="800000"/>
            <a:headEnd/>
            <a:tailEnd/>
          </a:ln>
        </p:spPr>
        <p:txBody>
          <a:bodyPr wrap="none" anchor="ctr"/>
          <a:lstStyle/>
          <a:p>
            <a:endParaRPr lang="it-IT"/>
          </a:p>
        </p:txBody>
      </p:sp>
      <p:sp>
        <p:nvSpPr>
          <p:cNvPr id="20492" name="Text Box 11"/>
          <p:cNvSpPr txBox="1">
            <a:spLocks noChangeArrowheads="1"/>
          </p:cNvSpPr>
          <p:nvPr/>
        </p:nvSpPr>
        <p:spPr bwMode="auto">
          <a:xfrm>
            <a:off x="3522663" y="4572000"/>
            <a:ext cx="6762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sz="2000" b="1">
                <a:solidFill>
                  <a:schemeClr val="accent1"/>
                </a:solidFill>
                <a:latin typeface="Arial" pitchFamily="34" charset="0"/>
                <a:ea typeface="MS PGothic" pitchFamily="34" charset="-128"/>
              </a:defRPr>
            </a:lvl1pPr>
            <a:lvl2pPr marL="742950" indent="-285750">
              <a:defRPr sz="2000" b="1">
                <a:solidFill>
                  <a:schemeClr val="accent1"/>
                </a:solidFill>
                <a:latin typeface="Arial" pitchFamily="34" charset="0"/>
                <a:ea typeface="MS PGothic" pitchFamily="34" charset="-128"/>
              </a:defRPr>
            </a:lvl2pPr>
            <a:lvl3pPr marL="1143000" indent="-228600">
              <a:defRPr sz="2000" b="1">
                <a:solidFill>
                  <a:schemeClr val="accent1"/>
                </a:solidFill>
                <a:latin typeface="Arial" pitchFamily="34" charset="0"/>
                <a:ea typeface="MS PGothic" pitchFamily="34" charset="-128"/>
              </a:defRPr>
            </a:lvl3pPr>
            <a:lvl4pPr marL="1600200" indent="-228600">
              <a:defRPr sz="2000" b="1">
                <a:solidFill>
                  <a:schemeClr val="accent1"/>
                </a:solidFill>
                <a:latin typeface="Arial" pitchFamily="34" charset="0"/>
                <a:ea typeface="MS PGothic" pitchFamily="34" charset="-128"/>
              </a:defRPr>
            </a:lvl4pPr>
            <a:lvl5pPr marL="2057400" indent="-228600">
              <a:defRPr sz="2000" b="1">
                <a:solidFill>
                  <a:schemeClr val="accent1"/>
                </a:solidFill>
                <a:latin typeface="Arial" pitchFamily="34" charset="0"/>
                <a:ea typeface="MS PGothic" pitchFamily="34" charset="-128"/>
              </a:defRPr>
            </a:lvl5pPr>
            <a:lvl6pPr marL="25146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6pPr>
            <a:lvl7pPr marL="29718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7pPr>
            <a:lvl8pPr marL="34290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8pPr>
            <a:lvl9pPr marL="38862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9pPr>
          </a:lstStyle>
          <a:p>
            <a:pPr>
              <a:spcBef>
                <a:spcPct val="50000"/>
              </a:spcBef>
            </a:pPr>
            <a:r>
              <a:rPr lang="en-US" sz="1400" b="0">
                <a:solidFill>
                  <a:schemeClr val="tx1"/>
                </a:solidFill>
              </a:rPr>
              <a:t>C(i,j)</a:t>
            </a:r>
          </a:p>
        </p:txBody>
      </p:sp>
      <p:sp>
        <p:nvSpPr>
          <p:cNvPr id="20493" name="Text Box 12"/>
          <p:cNvSpPr txBox="1">
            <a:spLocks noChangeArrowheads="1"/>
          </p:cNvSpPr>
          <p:nvPr/>
        </p:nvSpPr>
        <p:spPr bwMode="auto">
          <a:xfrm>
            <a:off x="5148263" y="4495800"/>
            <a:ext cx="6762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sz="2000" b="1">
                <a:solidFill>
                  <a:schemeClr val="accent1"/>
                </a:solidFill>
                <a:latin typeface="Arial" pitchFamily="34" charset="0"/>
                <a:ea typeface="MS PGothic" pitchFamily="34" charset="-128"/>
              </a:defRPr>
            </a:lvl1pPr>
            <a:lvl2pPr marL="742950" indent="-285750">
              <a:defRPr sz="2000" b="1">
                <a:solidFill>
                  <a:schemeClr val="accent1"/>
                </a:solidFill>
                <a:latin typeface="Arial" pitchFamily="34" charset="0"/>
                <a:ea typeface="MS PGothic" pitchFamily="34" charset="-128"/>
              </a:defRPr>
            </a:lvl2pPr>
            <a:lvl3pPr marL="1143000" indent="-228600">
              <a:defRPr sz="2000" b="1">
                <a:solidFill>
                  <a:schemeClr val="accent1"/>
                </a:solidFill>
                <a:latin typeface="Arial" pitchFamily="34" charset="0"/>
                <a:ea typeface="MS PGothic" pitchFamily="34" charset="-128"/>
              </a:defRPr>
            </a:lvl3pPr>
            <a:lvl4pPr marL="1600200" indent="-228600">
              <a:defRPr sz="2000" b="1">
                <a:solidFill>
                  <a:schemeClr val="accent1"/>
                </a:solidFill>
                <a:latin typeface="Arial" pitchFamily="34" charset="0"/>
                <a:ea typeface="MS PGothic" pitchFamily="34" charset="-128"/>
              </a:defRPr>
            </a:lvl4pPr>
            <a:lvl5pPr marL="2057400" indent="-228600">
              <a:defRPr sz="2000" b="1">
                <a:solidFill>
                  <a:schemeClr val="accent1"/>
                </a:solidFill>
                <a:latin typeface="Arial" pitchFamily="34" charset="0"/>
                <a:ea typeface="MS PGothic" pitchFamily="34" charset="-128"/>
              </a:defRPr>
            </a:lvl5pPr>
            <a:lvl6pPr marL="25146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6pPr>
            <a:lvl7pPr marL="29718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7pPr>
            <a:lvl8pPr marL="34290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8pPr>
            <a:lvl9pPr marL="38862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9pPr>
          </a:lstStyle>
          <a:p>
            <a:pPr>
              <a:spcBef>
                <a:spcPct val="50000"/>
              </a:spcBef>
            </a:pPr>
            <a:r>
              <a:rPr lang="en-US" sz="1400" b="0">
                <a:solidFill>
                  <a:schemeClr val="tx1"/>
                </a:solidFill>
              </a:rPr>
              <a:t>A(i,:)</a:t>
            </a:r>
          </a:p>
        </p:txBody>
      </p:sp>
      <p:sp>
        <p:nvSpPr>
          <p:cNvPr id="20494" name="Rectangle 13"/>
          <p:cNvSpPr>
            <a:spLocks noChangeArrowheads="1"/>
          </p:cNvSpPr>
          <p:nvPr/>
        </p:nvSpPr>
        <p:spPr bwMode="auto">
          <a:xfrm>
            <a:off x="6629400" y="4343400"/>
            <a:ext cx="1152525" cy="12954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it-IT"/>
          </a:p>
        </p:txBody>
      </p:sp>
      <p:sp>
        <p:nvSpPr>
          <p:cNvPr id="20495" name="Rectangle 14"/>
          <p:cNvSpPr>
            <a:spLocks noChangeArrowheads="1"/>
          </p:cNvSpPr>
          <p:nvPr/>
        </p:nvSpPr>
        <p:spPr bwMode="auto">
          <a:xfrm>
            <a:off x="6858000" y="4343400"/>
            <a:ext cx="134938" cy="1295400"/>
          </a:xfrm>
          <a:prstGeom prst="rect">
            <a:avLst/>
          </a:prstGeom>
          <a:solidFill>
            <a:schemeClr val="accent1"/>
          </a:solidFill>
          <a:ln w="12700">
            <a:solidFill>
              <a:schemeClr val="tx1"/>
            </a:solidFill>
            <a:miter lim="800000"/>
            <a:headEnd/>
            <a:tailEnd/>
          </a:ln>
        </p:spPr>
        <p:txBody>
          <a:bodyPr wrap="none" anchor="ctr"/>
          <a:lstStyle/>
          <a:p>
            <a:endParaRPr lang="it-IT"/>
          </a:p>
        </p:txBody>
      </p:sp>
      <p:sp>
        <p:nvSpPr>
          <p:cNvPr id="20496" name="Text Box 15"/>
          <p:cNvSpPr txBox="1">
            <a:spLocks noChangeArrowheads="1"/>
          </p:cNvSpPr>
          <p:nvPr/>
        </p:nvSpPr>
        <p:spPr bwMode="auto">
          <a:xfrm>
            <a:off x="7043738" y="4800600"/>
            <a:ext cx="677862"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sz="2000" b="1">
                <a:solidFill>
                  <a:schemeClr val="accent1"/>
                </a:solidFill>
                <a:latin typeface="Arial" pitchFamily="34" charset="0"/>
                <a:ea typeface="MS PGothic" pitchFamily="34" charset="-128"/>
              </a:defRPr>
            </a:lvl1pPr>
            <a:lvl2pPr marL="742950" indent="-285750">
              <a:defRPr sz="2000" b="1">
                <a:solidFill>
                  <a:schemeClr val="accent1"/>
                </a:solidFill>
                <a:latin typeface="Arial" pitchFamily="34" charset="0"/>
                <a:ea typeface="MS PGothic" pitchFamily="34" charset="-128"/>
              </a:defRPr>
            </a:lvl2pPr>
            <a:lvl3pPr marL="1143000" indent="-228600">
              <a:defRPr sz="2000" b="1">
                <a:solidFill>
                  <a:schemeClr val="accent1"/>
                </a:solidFill>
                <a:latin typeface="Arial" pitchFamily="34" charset="0"/>
                <a:ea typeface="MS PGothic" pitchFamily="34" charset="-128"/>
              </a:defRPr>
            </a:lvl3pPr>
            <a:lvl4pPr marL="1600200" indent="-228600">
              <a:defRPr sz="2000" b="1">
                <a:solidFill>
                  <a:schemeClr val="accent1"/>
                </a:solidFill>
                <a:latin typeface="Arial" pitchFamily="34" charset="0"/>
                <a:ea typeface="MS PGothic" pitchFamily="34" charset="-128"/>
              </a:defRPr>
            </a:lvl4pPr>
            <a:lvl5pPr marL="2057400" indent="-228600">
              <a:defRPr sz="2000" b="1">
                <a:solidFill>
                  <a:schemeClr val="accent1"/>
                </a:solidFill>
                <a:latin typeface="Arial" pitchFamily="34" charset="0"/>
                <a:ea typeface="MS PGothic" pitchFamily="34" charset="-128"/>
              </a:defRPr>
            </a:lvl5pPr>
            <a:lvl6pPr marL="25146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6pPr>
            <a:lvl7pPr marL="29718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7pPr>
            <a:lvl8pPr marL="34290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8pPr>
            <a:lvl9pPr marL="38862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9pPr>
          </a:lstStyle>
          <a:p>
            <a:pPr>
              <a:spcBef>
                <a:spcPct val="50000"/>
              </a:spcBef>
            </a:pPr>
            <a:r>
              <a:rPr lang="en-US" sz="1400" b="0">
                <a:solidFill>
                  <a:schemeClr val="tx1"/>
                </a:solidFill>
              </a:rPr>
              <a:t>B(:,j)</a:t>
            </a:r>
          </a:p>
        </p:txBody>
      </p:sp>
      <p:sp>
        <p:nvSpPr>
          <p:cNvPr id="20497" name="Rectangle 16"/>
          <p:cNvSpPr>
            <a:spLocks noChangeArrowheads="1"/>
          </p:cNvSpPr>
          <p:nvPr/>
        </p:nvSpPr>
        <p:spPr bwMode="auto">
          <a:xfrm>
            <a:off x="1371600" y="4343400"/>
            <a:ext cx="1150938" cy="12954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it-IT"/>
          </a:p>
        </p:txBody>
      </p:sp>
      <p:sp>
        <p:nvSpPr>
          <p:cNvPr id="20498" name="Rectangle 17"/>
          <p:cNvSpPr>
            <a:spLocks noChangeArrowheads="1"/>
          </p:cNvSpPr>
          <p:nvPr/>
        </p:nvSpPr>
        <p:spPr bwMode="auto">
          <a:xfrm>
            <a:off x="1828800" y="4876800"/>
            <a:ext cx="134938" cy="152400"/>
          </a:xfrm>
          <a:prstGeom prst="rect">
            <a:avLst/>
          </a:prstGeom>
          <a:solidFill>
            <a:schemeClr val="accent1"/>
          </a:solidFill>
          <a:ln w="12700">
            <a:solidFill>
              <a:schemeClr val="tx1"/>
            </a:solidFill>
            <a:miter lim="800000"/>
            <a:headEnd/>
            <a:tailEnd/>
          </a:ln>
        </p:spPr>
        <p:txBody>
          <a:bodyPr wrap="none" anchor="ctr"/>
          <a:lstStyle/>
          <a:p>
            <a:endParaRPr lang="it-IT"/>
          </a:p>
        </p:txBody>
      </p:sp>
      <p:sp>
        <p:nvSpPr>
          <p:cNvPr id="20499" name="Text Box 18"/>
          <p:cNvSpPr txBox="1">
            <a:spLocks noChangeArrowheads="1"/>
          </p:cNvSpPr>
          <p:nvPr/>
        </p:nvSpPr>
        <p:spPr bwMode="auto">
          <a:xfrm>
            <a:off x="1557338" y="4572000"/>
            <a:ext cx="677862"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sz="2000" b="1">
                <a:solidFill>
                  <a:schemeClr val="accent1"/>
                </a:solidFill>
                <a:latin typeface="Arial" pitchFamily="34" charset="0"/>
                <a:ea typeface="MS PGothic" pitchFamily="34" charset="-128"/>
              </a:defRPr>
            </a:lvl1pPr>
            <a:lvl2pPr marL="742950" indent="-285750">
              <a:defRPr sz="2000" b="1">
                <a:solidFill>
                  <a:schemeClr val="accent1"/>
                </a:solidFill>
                <a:latin typeface="Arial" pitchFamily="34" charset="0"/>
                <a:ea typeface="MS PGothic" pitchFamily="34" charset="-128"/>
              </a:defRPr>
            </a:lvl2pPr>
            <a:lvl3pPr marL="1143000" indent="-228600">
              <a:defRPr sz="2000" b="1">
                <a:solidFill>
                  <a:schemeClr val="accent1"/>
                </a:solidFill>
                <a:latin typeface="Arial" pitchFamily="34" charset="0"/>
                <a:ea typeface="MS PGothic" pitchFamily="34" charset="-128"/>
              </a:defRPr>
            </a:lvl3pPr>
            <a:lvl4pPr marL="1600200" indent="-228600">
              <a:defRPr sz="2000" b="1">
                <a:solidFill>
                  <a:schemeClr val="accent1"/>
                </a:solidFill>
                <a:latin typeface="Arial" pitchFamily="34" charset="0"/>
                <a:ea typeface="MS PGothic" pitchFamily="34" charset="-128"/>
              </a:defRPr>
            </a:lvl4pPr>
            <a:lvl5pPr marL="2057400" indent="-228600">
              <a:defRPr sz="2000" b="1">
                <a:solidFill>
                  <a:schemeClr val="accent1"/>
                </a:solidFill>
                <a:latin typeface="Arial" pitchFamily="34" charset="0"/>
                <a:ea typeface="MS PGothic" pitchFamily="34" charset="-128"/>
              </a:defRPr>
            </a:lvl5pPr>
            <a:lvl6pPr marL="25146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6pPr>
            <a:lvl7pPr marL="29718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7pPr>
            <a:lvl8pPr marL="34290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8pPr>
            <a:lvl9pPr marL="38862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9pPr>
          </a:lstStyle>
          <a:p>
            <a:pPr>
              <a:spcBef>
                <a:spcPct val="50000"/>
              </a:spcBef>
            </a:pPr>
            <a:r>
              <a:rPr lang="en-US" sz="1400" b="0">
                <a:solidFill>
                  <a:schemeClr val="tx1"/>
                </a:solidFill>
              </a:rPr>
              <a:t>C(i,j)</a:t>
            </a:r>
          </a:p>
        </p:txBody>
      </p:sp>
    </p:spTree>
    <p:extLst>
      <p:ext uri="{BB962C8B-B14F-4D97-AF65-F5344CB8AC3E}">
        <p14:creationId xmlns:p14="http://schemas.microsoft.com/office/powerpoint/2010/main" val="13227526"/>
      </p:ext>
    </p:extLst>
  </p:cSld>
  <p:clrMapOvr>
    <a:masterClrMapping/>
  </p:clrMapOvr>
  <p:timing>
    <p:tnLst>
      <p:par>
        <p:cTn xmlns:p14="http://schemas.microsoft.com/office/powerpoint/2010/mai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chemeClr val="accent1"/>
                </a:solidFill>
                <a:latin typeface="Arial" pitchFamily="34" charset="0"/>
                <a:ea typeface="MS PGothic" pitchFamily="34" charset="-128"/>
              </a:defRPr>
            </a:lvl1pPr>
            <a:lvl2pPr marL="742950" indent="-285750">
              <a:defRPr sz="2000" b="1">
                <a:solidFill>
                  <a:schemeClr val="accent1"/>
                </a:solidFill>
                <a:latin typeface="Arial" pitchFamily="34" charset="0"/>
                <a:ea typeface="MS PGothic" pitchFamily="34" charset="-128"/>
              </a:defRPr>
            </a:lvl2pPr>
            <a:lvl3pPr marL="1143000" indent="-228600">
              <a:defRPr sz="2000" b="1">
                <a:solidFill>
                  <a:schemeClr val="accent1"/>
                </a:solidFill>
                <a:latin typeface="Arial" pitchFamily="34" charset="0"/>
                <a:ea typeface="MS PGothic" pitchFamily="34" charset="-128"/>
              </a:defRPr>
            </a:lvl3pPr>
            <a:lvl4pPr marL="1600200" indent="-228600">
              <a:defRPr sz="2000" b="1">
                <a:solidFill>
                  <a:schemeClr val="accent1"/>
                </a:solidFill>
                <a:latin typeface="Arial" pitchFamily="34" charset="0"/>
                <a:ea typeface="MS PGothic" pitchFamily="34" charset="-128"/>
              </a:defRPr>
            </a:lvl4pPr>
            <a:lvl5pPr marL="2057400" indent="-228600">
              <a:defRPr sz="2000" b="1">
                <a:solidFill>
                  <a:schemeClr val="accent1"/>
                </a:solidFill>
                <a:latin typeface="Arial" pitchFamily="34" charset="0"/>
                <a:ea typeface="MS PGothic" pitchFamily="34" charset="-128"/>
              </a:defRPr>
            </a:lvl5pPr>
            <a:lvl6pPr marL="25146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6pPr>
            <a:lvl7pPr marL="29718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7pPr>
            <a:lvl8pPr marL="34290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8pPr>
            <a:lvl9pPr marL="38862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9pPr>
          </a:lstStyle>
          <a:p>
            <a:fld id="{66EBF6E7-7A69-4DBC-9BC1-E98EB674BDAF}" type="slidenum">
              <a:rPr lang="en-US" sz="1400" b="0" smtClean="0">
                <a:solidFill>
                  <a:schemeClr val="tx1"/>
                </a:solidFill>
                <a:latin typeface="Helvetica" charset="0"/>
              </a:rPr>
              <a:pPr/>
              <a:t>11</a:t>
            </a:fld>
            <a:endParaRPr lang="en-US" sz="1400" b="0" smtClean="0">
              <a:solidFill>
                <a:schemeClr val="tx1"/>
              </a:solidFill>
              <a:latin typeface="Helvetica" charset="0"/>
            </a:endParaRPr>
          </a:p>
        </p:txBody>
      </p:sp>
      <p:sp>
        <p:nvSpPr>
          <p:cNvPr id="20483" name="Rectangle 2"/>
          <p:cNvSpPr>
            <a:spLocks noGrp="1" noChangeArrowheads="1"/>
          </p:cNvSpPr>
          <p:nvPr>
            <p:ph type="title"/>
          </p:nvPr>
        </p:nvSpPr>
        <p:spPr>
          <a:xfrm>
            <a:off x="808038" y="309563"/>
            <a:ext cx="6735762" cy="422275"/>
          </a:xfrm>
        </p:spPr>
        <p:txBody>
          <a:bodyPr>
            <a:normAutofit fontScale="90000"/>
          </a:bodyPr>
          <a:lstStyle/>
          <a:p>
            <a:r>
              <a:rPr lang="en-US" dirty="0" smtClean="0"/>
              <a:t>Naïve Matrix Multiply</a:t>
            </a:r>
          </a:p>
        </p:txBody>
      </p:sp>
      <p:sp>
        <p:nvSpPr>
          <p:cNvPr id="20484" name="Rectangle 3"/>
          <p:cNvSpPr>
            <a:spLocks noGrp="1" noChangeArrowheads="1"/>
          </p:cNvSpPr>
          <p:nvPr>
            <p:ph type="body" idx="1"/>
          </p:nvPr>
        </p:nvSpPr>
        <p:spPr>
          <a:xfrm>
            <a:off x="609600" y="914400"/>
            <a:ext cx="7929563" cy="3232150"/>
          </a:xfrm>
          <a:ln>
            <a:solidFill>
              <a:srgbClr val="000066"/>
            </a:solidFill>
            <a:miter lim="800000"/>
            <a:headEnd/>
            <a:tailEnd/>
          </a:ln>
        </p:spPr>
        <p:txBody>
          <a:bodyPr>
            <a:normAutofit lnSpcReduction="10000"/>
          </a:bodyPr>
          <a:lstStyle/>
          <a:p>
            <a:pPr>
              <a:buFontTx/>
              <a:buNone/>
            </a:pPr>
            <a:r>
              <a:rPr lang="en-US" sz="2000" dirty="0" smtClean="0">
                <a:solidFill>
                  <a:schemeClr val="accent2"/>
                </a:solidFill>
              </a:rPr>
              <a:t>{implements C = C + A*B}</a:t>
            </a:r>
          </a:p>
          <a:p>
            <a:pPr>
              <a:buFontTx/>
              <a:buNone/>
            </a:pPr>
            <a:r>
              <a:rPr lang="en-US" sz="2000" dirty="0" smtClean="0"/>
              <a:t>for </a:t>
            </a:r>
            <a:r>
              <a:rPr lang="en-US" sz="2000" dirty="0" err="1" smtClean="0"/>
              <a:t>i</a:t>
            </a:r>
            <a:r>
              <a:rPr lang="en-US" sz="2000" dirty="0" smtClean="0"/>
              <a:t> = 1 to n</a:t>
            </a:r>
          </a:p>
          <a:p>
            <a:pPr>
              <a:buFontTx/>
              <a:buNone/>
            </a:pPr>
            <a:r>
              <a:rPr lang="en-US" sz="2000" dirty="0" smtClean="0"/>
              <a:t>  </a:t>
            </a:r>
            <a:r>
              <a:rPr lang="en-US" sz="2000" dirty="0" smtClean="0">
                <a:solidFill>
                  <a:schemeClr val="accent2"/>
                </a:solidFill>
              </a:rPr>
              <a:t>{read row </a:t>
            </a:r>
            <a:r>
              <a:rPr lang="en-US" sz="2000" dirty="0" err="1" smtClean="0">
                <a:solidFill>
                  <a:schemeClr val="accent2"/>
                </a:solidFill>
              </a:rPr>
              <a:t>i</a:t>
            </a:r>
            <a:r>
              <a:rPr lang="en-US" sz="2000" dirty="0" smtClean="0">
                <a:solidFill>
                  <a:schemeClr val="accent2"/>
                </a:solidFill>
              </a:rPr>
              <a:t> of A into fast memory}</a:t>
            </a:r>
            <a:endParaRPr lang="en-US" sz="2000" dirty="0" smtClean="0"/>
          </a:p>
          <a:p>
            <a:pPr>
              <a:buFontTx/>
              <a:buNone/>
            </a:pPr>
            <a:r>
              <a:rPr lang="en-US" sz="2000" dirty="0" smtClean="0"/>
              <a:t>   for j = 1 to n</a:t>
            </a:r>
          </a:p>
          <a:p>
            <a:pPr>
              <a:buFontTx/>
              <a:buNone/>
            </a:pPr>
            <a:r>
              <a:rPr lang="en-US" sz="2000" dirty="0" smtClean="0"/>
              <a:t>       </a:t>
            </a:r>
            <a:r>
              <a:rPr lang="en-US" sz="2000" dirty="0" smtClean="0">
                <a:solidFill>
                  <a:schemeClr val="accent2"/>
                </a:solidFill>
              </a:rPr>
              <a:t>{read C(</a:t>
            </a:r>
            <a:r>
              <a:rPr lang="en-US" sz="2000" dirty="0" err="1" smtClean="0">
                <a:solidFill>
                  <a:schemeClr val="accent2"/>
                </a:solidFill>
              </a:rPr>
              <a:t>i,j</a:t>
            </a:r>
            <a:r>
              <a:rPr lang="en-US" sz="2000" dirty="0" smtClean="0">
                <a:solidFill>
                  <a:schemeClr val="accent2"/>
                </a:solidFill>
              </a:rPr>
              <a:t>) into fast memory}</a:t>
            </a:r>
          </a:p>
          <a:p>
            <a:pPr>
              <a:buFontTx/>
              <a:buNone/>
            </a:pPr>
            <a:r>
              <a:rPr lang="en-US" sz="2000" dirty="0" smtClean="0">
                <a:solidFill>
                  <a:schemeClr val="accent2"/>
                </a:solidFill>
              </a:rPr>
              <a:t>       {read column j of B into fast memory}</a:t>
            </a:r>
            <a:endParaRPr lang="en-US" sz="2000" dirty="0" smtClean="0"/>
          </a:p>
          <a:p>
            <a:pPr>
              <a:buFontTx/>
              <a:buNone/>
            </a:pPr>
            <a:r>
              <a:rPr lang="en-US" sz="2000" dirty="0" smtClean="0"/>
              <a:t>       for k = 1 to n</a:t>
            </a:r>
          </a:p>
          <a:p>
            <a:pPr>
              <a:buFontTx/>
              <a:buNone/>
            </a:pPr>
            <a:r>
              <a:rPr lang="en-US" sz="2000" dirty="0" smtClean="0"/>
              <a:t>           C(</a:t>
            </a:r>
            <a:r>
              <a:rPr lang="en-US" sz="2000" dirty="0" err="1" smtClean="0"/>
              <a:t>i,j</a:t>
            </a:r>
            <a:r>
              <a:rPr lang="en-US" sz="2000" dirty="0" smtClean="0"/>
              <a:t>) = C(</a:t>
            </a:r>
            <a:r>
              <a:rPr lang="en-US" sz="2000" dirty="0" err="1" smtClean="0"/>
              <a:t>i,j</a:t>
            </a:r>
            <a:r>
              <a:rPr lang="en-US" sz="2000" dirty="0" smtClean="0"/>
              <a:t>) + A(</a:t>
            </a:r>
            <a:r>
              <a:rPr lang="en-US" sz="2000" dirty="0" err="1" smtClean="0"/>
              <a:t>i,k</a:t>
            </a:r>
            <a:r>
              <a:rPr lang="en-US" sz="2000" dirty="0" smtClean="0"/>
              <a:t>) * B(</a:t>
            </a:r>
            <a:r>
              <a:rPr lang="en-US" sz="2000" dirty="0" err="1" smtClean="0"/>
              <a:t>k,j</a:t>
            </a:r>
            <a:r>
              <a:rPr lang="en-US" sz="2000" dirty="0" smtClean="0"/>
              <a:t>)</a:t>
            </a:r>
          </a:p>
          <a:p>
            <a:pPr>
              <a:buFontTx/>
              <a:buNone/>
            </a:pPr>
            <a:r>
              <a:rPr lang="en-US" sz="2000" dirty="0" smtClean="0"/>
              <a:t>       </a:t>
            </a:r>
            <a:r>
              <a:rPr lang="en-US" sz="2000" dirty="0" smtClean="0">
                <a:solidFill>
                  <a:schemeClr val="accent2"/>
                </a:solidFill>
              </a:rPr>
              <a:t>{write C(</a:t>
            </a:r>
            <a:r>
              <a:rPr lang="en-US" sz="2000" dirty="0" err="1" smtClean="0">
                <a:solidFill>
                  <a:schemeClr val="accent2"/>
                </a:solidFill>
              </a:rPr>
              <a:t>i,j</a:t>
            </a:r>
            <a:r>
              <a:rPr lang="en-US" sz="2000" dirty="0" smtClean="0">
                <a:solidFill>
                  <a:schemeClr val="accent2"/>
                </a:solidFill>
              </a:rPr>
              <a:t>) back to slow memory}</a:t>
            </a:r>
          </a:p>
        </p:txBody>
      </p:sp>
      <p:sp>
        <p:nvSpPr>
          <p:cNvPr id="20485" name="Rectangle 4"/>
          <p:cNvSpPr>
            <a:spLocks noChangeArrowheads="1"/>
          </p:cNvSpPr>
          <p:nvPr/>
        </p:nvSpPr>
        <p:spPr bwMode="auto">
          <a:xfrm>
            <a:off x="3454400" y="4343400"/>
            <a:ext cx="1150938" cy="12954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it-IT"/>
          </a:p>
        </p:txBody>
      </p:sp>
      <p:sp>
        <p:nvSpPr>
          <p:cNvPr id="20486" name="Rectangle 5"/>
          <p:cNvSpPr>
            <a:spLocks noChangeArrowheads="1"/>
          </p:cNvSpPr>
          <p:nvPr/>
        </p:nvSpPr>
        <p:spPr bwMode="auto">
          <a:xfrm>
            <a:off x="5080000" y="4343400"/>
            <a:ext cx="1150938" cy="12954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it-IT"/>
          </a:p>
        </p:txBody>
      </p:sp>
      <p:sp>
        <p:nvSpPr>
          <p:cNvPr id="20487" name="Text Box 6"/>
          <p:cNvSpPr txBox="1">
            <a:spLocks noChangeArrowheads="1"/>
          </p:cNvSpPr>
          <p:nvPr/>
        </p:nvSpPr>
        <p:spPr bwMode="auto">
          <a:xfrm>
            <a:off x="2709863" y="4876800"/>
            <a:ext cx="5413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sz="2000" b="1">
                <a:solidFill>
                  <a:schemeClr val="accent1"/>
                </a:solidFill>
                <a:latin typeface="Arial" pitchFamily="34" charset="0"/>
                <a:ea typeface="MS PGothic" pitchFamily="34" charset="-128"/>
              </a:defRPr>
            </a:lvl1pPr>
            <a:lvl2pPr marL="742950" indent="-285750">
              <a:defRPr sz="2000" b="1">
                <a:solidFill>
                  <a:schemeClr val="accent1"/>
                </a:solidFill>
                <a:latin typeface="Arial" pitchFamily="34" charset="0"/>
                <a:ea typeface="MS PGothic" pitchFamily="34" charset="-128"/>
              </a:defRPr>
            </a:lvl2pPr>
            <a:lvl3pPr marL="1143000" indent="-228600">
              <a:defRPr sz="2000" b="1">
                <a:solidFill>
                  <a:schemeClr val="accent1"/>
                </a:solidFill>
                <a:latin typeface="Arial" pitchFamily="34" charset="0"/>
                <a:ea typeface="MS PGothic" pitchFamily="34" charset="-128"/>
              </a:defRPr>
            </a:lvl3pPr>
            <a:lvl4pPr marL="1600200" indent="-228600">
              <a:defRPr sz="2000" b="1">
                <a:solidFill>
                  <a:schemeClr val="accent1"/>
                </a:solidFill>
                <a:latin typeface="Arial" pitchFamily="34" charset="0"/>
                <a:ea typeface="MS PGothic" pitchFamily="34" charset="-128"/>
              </a:defRPr>
            </a:lvl4pPr>
            <a:lvl5pPr marL="2057400" indent="-228600">
              <a:defRPr sz="2000" b="1">
                <a:solidFill>
                  <a:schemeClr val="accent1"/>
                </a:solidFill>
                <a:latin typeface="Arial" pitchFamily="34" charset="0"/>
                <a:ea typeface="MS PGothic" pitchFamily="34" charset="-128"/>
              </a:defRPr>
            </a:lvl5pPr>
            <a:lvl6pPr marL="25146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6pPr>
            <a:lvl7pPr marL="29718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7pPr>
            <a:lvl8pPr marL="34290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8pPr>
            <a:lvl9pPr marL="38862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9pPr>
          </a:lstStyle>
          <a:p>
            <a:pPr>
              <a:spcBef>
                <a:spcPct val="50000"/>
              </a:spcBef>
            </a:pPr>
            <a:r>
              <a:rPr lang="en-US" sz="2400">
                <a:solidFill>
                  <a:schemeClr val="tx1"/>
                </a:solidFill>
              </a:rPr>
              <a:t>=</a:t>
            </a:r>
          </a:p>
        </p:txBody>
      </p:sp>
      <p:sp>
        <p:nvSpPr>
          <p:cNvPr id="20488" name="Text Box 7"/>
          <p:cNvSpPr txBox="1">
            <a:spLocks noChangeArrowheads="1"/>
          </p:cNvSpPr>
          <p:nvPr/>
        </p:nvSpPr>
        <p:spPr bwMode="auto">
          <a:xfrm>
            <a:off x="4673600" y="4876800"/>
            <a:ext cx="2714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sz="2000" b="1">
                <a:solidFill>
                  <a:schemeClr val="accent1"/>
                </a:solidFill>
                <a:latin typeface="Arial" pitchFamily="34" charset="0"/>
                <a:ea typeface="MS PGothic" pitchFamily="34" charset="-128"/>
              </a:defRPr>
            </a:lvl1pPr>
            <a:lvl2pPr marL="742950" indent="-285750">
              <a:defRPr sz="2000" b="1">
                <a:solidFill>
                  <a:schemeClr val="accent1"/>
                </a:solidFill>
                <a:latin typeface="Arial" pitchFamily="34" charset="0"/>
                <a:ea typeface="MS PGothic" pitchFamily="34" charset="-128"/>
              </a:defRPr>
            </a:lvl2pPr>
            <a:lvl3pPr marL="1143000" indent="-228600">
              <a:defRPr sz="2000" b="1">
                <a:solidFill>
                  <a:schemeClr val="accent1"/>
                </a:solidFill>
                <a:latin typeface="Arial" pitchFamily="34" charset="0"/>
                <a:ea typeface="MS PGothic" pitchFamily="34" charset="-128"/>
              </a:defRPr>
            </a:lvl3pPr>
            <a:lvl4pPr marL="1600200" indent="-228600">
              <a:defRPr sz="2000" b="1">
                <a:solidFill>
                  <a:schemeClr val="accent1"/>
                </a:solidFill>
                <a:latin typeface="Arial" pitchFamily="34" charset="0"/>
                <a:ea typeface="MS PGothic" pitchFamily="34" charset="-128"/>
              </a:defRPr>
            </a:lvl4pPr>
            <a:lvl5pPr marL="2057400" indent="-228600">
              <a:defRPr sz="2000" b="1">
                <a:solidFill>
                  <a:schemeClr val="accent1"/>
                </a:solidFill>
                <a:latin typeface="Arial" pitchFamily="34" charset="0"/>
                <a:ea typeface="MS PGothic" pitchFamily="34" charset="-128"/>
              </a:defRPr>
            </a:lvl5pPr>
            <a:lvl6pPr marL="25146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6pPr>
            <a:lvl7pPr marL="29718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7pPr>
            <a:lvl8pPr marL="34290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8pPr>
            <a:lvl9pPr marL="38862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9pPr>
          </a:lstStyle>
          <a:p>
            <a:pPr>
              <a:spcBef>
                <a:spcPct val="50000"/>
              </a:spcBef>
            </a:pPr>
            <a:r>
              <a:rPr lang="en-US" sz="2400">
                <a:solidFill>
                  <a:schemeClr val="tx1"/>
                </a:solidFill>
              </a:rPr>
              <a:t>+</a:t>
            </a:r>
          </a:p>
        </p:txBody>
      </p:sp>
      <p:sp>
        <p:nvSpPr>
          <p:cNvPr id="20489" name="Text Box 8"/>
          <p:cNvSpPr txBox="1">
            <a:spLocks noChangeArrowheads="1"/>
          </p:cNvSpPr>
          <p:nvPr/>
        </p:nvSpPr>
        <p:spPr bwMode="auto">
          <a:xfrm>
            <a:off x="6230938" y="4876800"/>
            <a:ext cx="1635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sz="2000" b="1">
                <a:solidFill>
                  <a:schemeClr val="accent1"/>
                </a:solidFill>
                <a:latin typeface="Arial" pitchFamily="34" charset="0"/>
                <a:ea typeface="MS PGothic" pitchFamily="34" charset="-128"/>
              </a:defRPr>
            </a:lvl1pPr>
            <a:lvl2pPr marL="742950" indent="-285750">
              <a:defRPr sz="2000" b="1">
                <a:solidFill>
                  <a:schemeClr val="accent1"/>
                </a:solidFill>
                <a:latin typeface="Arial" pitchFamily="34" charset="0"/>
                <a:ea typeface="MS PGothic" pitchFamily="34" charset="-128"/>
              </a:defRPr>
            </a:lvl2pPr>
            <a:lvl3pPr marL="1143000" indent="-228600">
              <a:defRPr sz="2000" b="1">
                <a:solidFill>
                  <a:schemeClr val="accent1"/>
                </a:solidFill>
                <a:latin typeface="Arial" pitchFamily="34" charset="0"/>
                <a:ea typeface="MS PGothic" pitchFamily="34" charset="-128"/>
              </a:defRPr>
            </a:lvl3pPr>
            <a:lvl4pPr marL="1600200" indent="-228600">
              <a:defRPr sz="2000" b="1">
                <a:solidFill>
                  <a:schemeClr val="accent1"/>
                </a:solidFill>
                <a:latin typeface="Arial" pitchFamily="34" charset="0"/>
                <a:ea typeface="MS PGothic" pitchFamily="34" charset="-128"/>
              </a:defRPr>
            </a:lvl4pPr>
            <a:lvl5pPr marL="2057400" indent="-228600">
              <a:defRPr sz="2000" b="1">
                <a:solidFill>
                  <a:schemeClr val="accent1"/>
                </a:solidFill>
                <a:latin typeface="Arial" pitchFamily="34" charset="0"/>
                <a:ea typeface="MS PGothic" pitchFamily="34" charset="-128"/>
              </a:defRPr>
            </a:lvl5pPr>
            <a:lvl6pPr marL="25146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6pPr>
            <a:lvl7pPr marL="29718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7pPr>
            <a:lvl8pPr marL="34290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8pPr>
            <a:lvl9pPr marL="38862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9pPr>
          </a:lstStyle>
          <a:p>
            <a:pPr>
              <a:spcBef>
                <a:spcPct val="50000"/>
              </a:spcBef>
            </a:pPr>
            <a:r>
              <a:rPr lang="en-US" sz="2400">
                <a:solidFill>
                  <a:schemeClr val="tx1"/>
                </a:solidFill>
              </a:rPr>
              <a:t>*</a:t>
            </a:r>
          </a:p>
        </p:txBody>
      </p:sp>
      <p:sp>
        <p:nvSpPr>
          <p:cNvPr id="20490" name="Rectangle 9"/>
          <p:cNvSpPr>
            <a:spLocks noChangeArrowheads="1"/>
          </p:cNvSpPr>
          <p:nvPr/>
        </p:nvSpPr>
        <p:spPr bwMode="auto">
          <a:xfrm>
            <a:off x="3792538" y="4876800"/>
            <a:ext cx="136525" cy="152400"/>
          </a:xfrm>
          <a:prstGeom prst="rect">
            <a:avLst/>
          </a:prstGeom>
          <a:solidFill>
            <a:schemeClr val="accent1"/>
          </a:solidFill>
          <a:ln w="12700">
            <a:solidFill>
              <a:schemeClr val="tx1"/>
            </a:solidFill>
            <a:miter lim="800000"/>
            <a:headEnd/>
            <a:tailEnd/>
          </a:ln>
        </p:spPr>
        <p:txBody>
          <a:bodyPr wrap="none" anchor="ctr"/>
          <a:lstStyle/>
          <a:p>
            <a:endParaRPr lang="it-IT"/>
          </a:p>
        </p:txBody>
      </p:sp>
      <p:sp>
        <p:nvSpPr>
          <p:cNvPr id="20491" name="Rectangle 10"/>
          <p:cNvSpPr>
            <a:spLocks noChangeArrowheads="1"/>
          </p:cNvSpPr>
          <p:nvPr/>
        </p:nvSpPr>
        <p:spPr bwMode="auto">
          <a:xfrm>
            <a:off x="5080000" y="4876800"/>
            <a:ext cx="1150938" cy="152400"/>
          </a:xfrm>
          <a:prstGeom prst="rect">
            <a:avLst/>
          </a:prstGeom>
          <a:solidFill>
            <a:schemeClr val="accent1"/>
          </a:solidFill>
          <a:ln w="12700">
            <a:solidFill>
              <a:schemeClr val="tx1"/>
            </a:solidFill>
            <a:miter lim="800000"/>
            <a:headEnd/>
            <a:tailEnd/>
          </a:ln>
        </p:spPr>
        <p:txBody>
          <a:bodyPr wrap="none" anchor="ctr"/>
          <a:lstStyle/>
          <a:p>
            <a:endParaRPr lang="it-IT"/>
          </a:p>
        </p:txBody>
      </p:sp>
      <p:sp>
        <p:nvSpPr>
          <p:cNvPr id="20492" name="Text Box 11"/>
          <p:cNvSpPr txBox="1">
            <a:spLocks noChangeArrowheads="1"/>
          </p:cNvSpPr>
          <p:nvPr/>
        </p:nvSpPr>
        <p:spPr bwMode="auto">
          <a:xfrm>
            <a:off x="3522663" y="4572000"/>
            <a:ext cx="6762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sz="2000" b="1">
                <a:solidFill>
                  <a:schemeClr val="accent1"/>
                </a:solidFill>
                <a:latin typeface="Arial" pitchFamily="34" charset="0"/>
                <a:ea typeface="MS PGothic" pitchFamily="34" charset="-128"/>
              </a:defRPr>
            </a:lvl1pPr>
            <a:lvl2pPr marL="742950" indent="-285750">
              <a:defRPr sz="2000" b="1">
                <a:solidFill>
                  <a:schemeClr val="accent1"/>
                </a:solidFill>
                <a:latin typeface="Arial" pitchFamily="34" charset="0"/>
                <a:ea typeface="MS PGothic" pitchFamily="34" charset="-128"/>
              </a:defRPr>
            </a:lvl2pPr>
            <a:lvl3pPr marL="1143000" indent="-228600">
              <a:defRPr sz="2000" b="1">
                <a:solidFill>
                  <a:schemeClr val="accent1"/>
                </a:solidFill>
                <a:latin typeface="Arial" pitchFamily="34" charset="0"/>
                <a:ea typeface="MS PGothic" pitchFamily="34" charset="-128"/>
              </a:defRPr>
            </a:lvl3pPr>
            <a:lvl4pPr marL="1600200" indent="-228600">
              <a:defRPr sz="2000" b="1">
                <a:solidFill>
                  <a:schemeClr val="accent1"/>
                </a:solidFill>
                <a:latin typeface="Arial" pitchFamily="34" charset="0"/>
                <a:ea typeface="MS PGothic" pitchFamily="34" charset="-128"/>
              </a:defRPr>
            </a:lvl4pPr>
            <a:lvl5pPr marL="2057400" indent="-228600">
              <a:defRPr sz="2000" b="1">
                <a:solidFill>
                  <a:schemeClr val="accent1"/>
                </a:solidFill>
                <a:latin typeface="Arial" pitchFamily="34" charset="0"/>
                <a:ea typeface="MS PGothic" pitchFamily="34" charset="-128"/>
              </a:defRPr>
            </a:lvl5pPr>
            <a:lvl6pPr marL="25146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6pPr>
            <a:lvl7pPr marL="29718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7pPr>
            <a:lvl8pPr marL="34290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8pPr>
            <a:lvl9pPr marL="38862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9pPr>
          </a:lstStyle>
          <a:p>
            <a:pPr>
              <a:spcBef>
                <a:spcPct val="50000"/>
              </a:spcBef>
            </a:pPr>
            <a:r>
              <a:rPr lang="en-US" sz="1400" b="0">
                <a:solidFill>
                  <a:schemeClr val="tx1"/>
                </a:solidFill>
              </a:rPr>
              <a:t>C(i,j)</a:t>
            </a:r>
          </a:p>
        </p:txBody>
      </p:sp>
      <p:sp>
        <p:nvSpPr>
          <p:cNvPr id="20493" name="Text Box 12"/>
          <p:cNvSpPr txBox="1">
            <a:spLocks noChangeArrowheads="1"/>
          </p:cNvSpPr>
          <p:nvPr/>
        </p:nvSpPr>
        <p:spPr bwMode="auto">
          <a:xfrm>
            <a:off x="5148263" y="4495800"/>
            <a:ext cx="6762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sz="2000" b="1">
                <a:solidFill>
                  <a:schemeClr val="accent1"/>
                </a:solidFill>
                <a:latin typeface="Arial" pitchFamily="34" charset="0"/>
                <a:ea typeface="MS PGothic" pitchFamily="34" charset="-128"/>
              </a:defRPr>
            </a:lvl1pPr>
            <a:lvl2pPr marL="742950" indent="-285750">
              <a:defRPr sz="2000" b="1">
                <a:solidFill>
                  <a:schemeClr val="accent1"/>
                </a:solidFill>
                <a:latin typeface="Arial" pitchFamily="34" charset="0"/>
                <a:ea typeface="MS PGothic" pitchFamily="34" charset="-128"/>
              </a:defRPr>
            </a:lvl2pPr>
            <a:lvl3pPr marL="1143000" indent="-228600">
              <a:defRPr sz="2000" b="1">
                <a:solidFill>
                  <a:schemeClr val="accent1"/>
                </a:solidFill>
                <a:latin typeface="Arial" pitchFamily="34" charset="0"/>
                <a:ea typeface="MS PGothic" pitchFamily="34" charset="-128"/>
              </a:defRPr>
            </a:lvl3pPr>
            <a:lvl4pPr marL="1600200" indent="-228600">
              <a:defRPr sz="2000" b="1">
                <a:solidFill>
                  <a:schemeClr val="accent1"/>
                </a:solidFill>
                <a:latin typeface="Arial" pitchFamily="34" charset="0"/>
                <a:ea typeface="MS PGothic" pitchFamily="34" charset="-128"/>
              </a:defRPr>
            </a:lvl4pPr>
            <a:lvl5pPr marL="2057400" indent="-228600">
              <a:defRPr sz="2000" b="1">
                <a:solidFill>
                  <a:schemeClr val="accent1"/>
                </a:solidFill>
                <a:latin typeface="Arial" pitchFamily="34" charset="0"/>
                <a:ea typeface="MS PGothic" pitchFamily="34" charset="-128"/>
              </a:defRPr>
            </a:lvl5pPr>
            <a:lvl6pPr marL="25146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6pPr>
            <a:lvl7pPr marL="29718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7pPr>
            <a:lvl8pPr marL="34290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8pPr>
            <a:lvl9pPr marL="38862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9pPr>
          </a:lstStyle>
          <a:p>
            <a:pPr>
              <a:spcBef>
                <a:spcPct val="50000"/>
              </a:spcBef>
            </a:pPr>
            <a:r>
              <a:rPr lang="en-US" sz="1400" b="0">
                <a:solidFill>
                  <a:schemeClr val="tx1"/>
                </a:solidFill>
              </a:rPr>
              <a:t>A(i,:)</a:t>
            </a:r>
          </a:p>
        </p:txBody>
      </p:sp>
      <p:sp>
        <p:nvSpPr>
          <p:cNvPr id="20494" name="Rectangle 13"/>
          <p:cNvSpPr>
            <a:spLocks noChangeArrowheads="1"/>
          </p:cNvSpPr>
          <p:nvPr/>
        </p:nvSpPr>
        <p:spPr bwMode="auto">
          <a:xfrm>
            <a:off x="6629400" y="4343400"/>
            <a:ext cx="1152525" cy="12954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it-IT"/>
          </a:p>
        </p:txBody>
      </p:sp>
      <p:sp>
        <p:nvSpPr>
          <p:cNvPr id="20495" name="Rectangle 14"/>
          <p:cNvSpPr>
            <a:spLocks noChangeArrowheads="1"/>
          </p:cNvSpPr>
          <p:nvPr/>
        </p:nvSpPr>
        <p:spPr bwMode="auto">
          <a:xfrm>
            <a:off x="6858000" y="4343400"/>
            <a:ext cx="134938" cy="1295400"/>
          </a:xfrm>
          <a:prstGeom prst="rect">
            <a:avLst/>
          </a:prstGeom>
          <a:solidFill>
            <a:schemeClr val="accent1"/>
          </a:solidFill>
          <a:ln w="12700">
            <a:solidFill>
              <a:schemeClr val="tx1"/>
            </a:solidFill>
            <a:miter lim="800000"/>
            <a:headEnd/>
            <a:tailEnd/>
          </a:ln>
        </p:spPr>
        <p:txBody>
          <a:bodyPr wrap="none" anchor="ctr"/>
          <a:lstStyle/>
          <a:p>
            <a:endParaRPr lang="it-IT"/>
          </a:p>
        </p:txBody>
      </p:sp>
      <p:sp>
        <p:nvSpPr>
          <p:cNvPr id="20496" name="Text Box 15"/>
          <p:cNvSpPr txBox="1">
            <a:spLocks noChangeArrowheads="1"/>
          </p:cNvSpPr>
          <p:nvPr/>
        </p:nvSpPr>
        <p:spPr bwMode="auto">
          <a:xfrm>
            <a:off x="7043738" y="4800600"/>
            <a:ext cx="677862"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sz="2000" b="1">
                <a:solidFill>
                  <a:schemeClr val="accent1"/>
                </a:solidFill>
                <a:latin typeface="Arial" pitchFamily="34" charset="0"/>
                <a:ea typeface="MS PGothic" pitchFamily="34" charset="-128"/>
              </a:defRPr>
            </a:lvl1pPr>
            <a:lvl2pPr marL="742950" indent="-285750">
              <a:defRPr sz="2000" b="1">
                <a:solidFill>
                  <a:schemeClr val="accent1"/>
                </a:solidFill>
                <a:latin typeface="Arial" pitchFamily="34" charset="0"/>
                <a:ea typeface="MS PGothic" pitchFamily="34" charset="-128"/>
              </a:defRPr>
            </a:lvl2pPr>
            <a:lvl3pPr marL="1143000" indent="-228600">
              <a:defRPr sz="2000" b="1">
                <a:solidFill>
                  <a:schemeClr val="accent1"/>
                </a:solidFill>
                <a:latin typeface="Arial" pitchFamily="34" charset="0"/>
                <a:ea typeface="MS PGothic" pitchFamily="34" charset="-128"/>
              </a:defRPr>
            </a:lvl3pPr>
            <a:lvl4pPr marL="1600200" indent="-228600">
              <a:defRPr sz="2000" b="1">
                <a:solidFill>
                  <a:schemeClr val="accent1"/>
                </a:solidFill>
                <a:latin typeface="Arial" pitchFamily="34" charset="0"/>
                <a:ea typeface="MS PGothic" pitchFamily="34" charset="-128"/>
              </a:defRPr>
            </a:lvl4pPr>
            <a:lvl5pPr marL="2057400" indent="-228600">
              <a:defRPr sz="2000" b="1">
                <a:solidFill>
                  <a:schemeClr val="accent1"/>
                </a:solidFill>
                <a:latin typeface="Arial" pitchFamily="34" charset="0"/>
                <a:ea typeface="MS PGothic" pitchFamily="34" charset="-128"/>
              </a:defRPr>
            </a:lvl5pPr>
            <a:lvl6pPr marL="25146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6pPr>
            <a:lvl7pPr marL="29718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7pPr>
            <a:lvl8pPr marL="34290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8pPr>
            <a:lvl9pPr marL="38862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9pPr>
          </a:lstStyle>
          <a:p>
            <a:pPr>
              <a:spcBef>
                <a:spcPct val="50000"/>
              </a:spcBef>
            </a:pPr>
            <a:r>
              <a:rPr lang="en-US" sz="1400" b="0">
                <a:solidFill>
                  <a:schemeClr val="tx1"/>
                </a:solidFill>
              </a:rPr>
              <a:t>B(:,j)</a:t>
            </a:r>
          </a:p>
        </p:txBody>
      </p:sp>
      <p:sp>
        <p:nvSpPr>
          <p:cNvPr id="20497" name="Rectangle 16"/>
          <p:cNvSpPr>
            <a:spLocks noChangeArrowheads="1"/>
          </p:cNvSpPr>
          <p:nvPr/>
        </p:nvSpPr>
        <p:spPr bwMode="auto">
          <a:xfrm>
            <a:off x="1371600" y="4343400"/>
            <a:ext cx="1150938" cy="12954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it-IT"/>
          </a:p>
        </p:txBody>
      </p:sp>
      <p:sp>
        <p:nvSpPr>
          <p:cNvPr id="20498" name="Rectangle 17"/>
          <p:cNvSpPr>
            <a:spLocks noChangeArrowheads="1"/>
          </p:cNvSpPr>
          <p:nvPr/>
        </p:nvSpPr>
        <p:spPr bwMode="auto">
          <a:xfrm>
            <a:off x="1828800" y="4876800"/>
            <a:ext cx="134938" cy="152400"/>
          </a:xfrm>
          <a:prstGeom prst="rect">
            <a:avLst/>
          </a:prstGeom>
          <a:solidFill>
            <a:schemeClr val="accent1"/>
          </a:solidFill>
          <a:ln w="12700">
            <a:solidFill>
              <a:schemeClr val="tx1"/>
            </a:solidFill>
            <a:miter lim="800000"/>
            <a:headEnd/>
            <a:tailEnd/>
          </a:ln>
        </p:spPr>
        <p:txBody>
          <a:bodyPr wrap="none" anchor="ctr"/>
          <a:lstStyle/>
          <a:p>
            <a:endParaRPr lang="it-IT"/>
          </a:p>
        </p:txBody>
      </p:sp>
      <p:sp>
        <p:nvSpPr>
          <p:cNvPr id="20499" name="Text Box 18"/>
          <p:cNvSpPr txBox="1">
            <a:spLocks noChangeArrowheads="1"/>
          </p:cNvSpPr>
          <p:nvPr/>
        </p:nvSpPr>
        <p:spPr bwMode="auto">
          <a:xfrm>
            <a:off x="1557338" y="4572000"/>
            <a:ext cx="677862"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sz="2000" b="1">
                <a:solidFill>
                  <a:schemeClr val="accent1"/>
                </a:solidFill>
                <a:latin typeface="Arial" pitchFamily="34" charset="0"/>
                <a:ea typeface="MS PGothic" pitchFamily="34" charset="-128"/>
              </a:defRPr>
            </a:lvl1pPr>
            <a:lvl2pPr marL="742950" indent="-285750">
              <a:defRPr sz="2000" b="1">
                <a:solidFill>
                  <a:schemeClr val="accent1"/>
                </a:solidFill>
                <a:latin typeface="Arial" pitchFamily="34" charset="0"/>
                <a:ea typeface="MS PGothic" pitchFamily="34" charset="-128"/>
              </a:defRPr>
            </a:lvl2pPr>
            <a:lvl3pPr marL="1143000" indent="-228600">
              <a:defRPr sz="2000" b="1">
                <a:solidFill>
                  <a:schemeClr val="accent1"/>
                </a:solidFill>
                <a:latin typeface="Arial" pitchFamily="34" charset="0"/>
                <a:ea typeface="MS PGothic" pitchFamily="34" charset="-128"/>
              </a:defRPr>
            </a:lvl3pPr>
            <a:lvl4pPr marL="1600200" indent="-228600">
              <a:defRPr sz="2000" b="1">
                <a:solidFill>
                  <a:schemeClr val="accent1"/>
                </a:solidFill>
                <a:latin typeface="Arial" pitchFamily="34" charset="0"/>
                <a:ea typeface="MS PGothic" pitchFamily="34" charset="-128"/>
              </a:defRPr>
            </a:lvl4pPr>
            <a:lvl5pPr marL="2057400" indent="-228600">
              <a:defRPr sz="2000" b="1">
                <a:solidFill>
                  <a:schemeClr val="accent1"/>
                </a:solidFill>
                <a:latin typeface="Arial" pitchFamily="34" charset="0"/>
                <a:ea typeface="MS PGothic" pitchFamily="34" charset="-128"/>
              </a:defRPr>
            </a:lvl5pPr>
            <a:lvl6pPr marL="25146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6pPr>
            <a:lvl7pPr marL="29718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7pPr>
            <a:lvl8pPr marL="34290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8pPr>
            <a:lvl9pPr marL="38862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9pPr>
          </a:lstStyle>
          <a:p>
            <a:pPr>
              <a:spcBef>
                <a:spcPct val="50000"/>
              </a:spcBef>
            </a:pPr>
            <a:r>
              <a:rPr lang="en-US" sz="1400" b="0">
                <a:solidFill>
                  <a:schemeClr val="tx1"/>
                </a:solidFill>
              </a:rPr>
              <a:t>C(i,j)</a:t>
            </a:r>
          </a:p>
        </p:txBody>
      </p:sp>
    </p:spTree>
    <p:extLst>
      <p:ext uri="{BB962C8B-B14F-4D97-AF65-F5344CB8AC3E}">
        <p14:creationId xmlns:p14="http://schemas.microsoft.com/office/powerpoint/2010/main" val="3358836443"/>
      </p:ext>
    </p:extLst>
  </p:cSld>
  <p:clrMapOvr>
    <a:masterClrMapping/>
  </p:clrMapOvr>
  <p:timing>
    <p:tnLst>
      <p:par>
        <p:cTn xmlns:p14="http://schemas.microsoft.com/office/powerpoint/2010/mai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chemeClr val="accent1"/>
                </a:solidFill>
                <a:latin typeface="Arial" pitchFamily="34" charset="0"/>
                <a:ea typeface="MS PGothic" pitchFamily="34" charset="-128"/>
              </a:defRPr>
            </a:lvl1pPr>
            <a:lvl2pPr marL="742950" indent="-285750">
              <a:defRPr sz="2000" b="1">
                <a:solidFill>
                  <a:schemeClr val="accent1"/>
                </a:solidFill>
                <a:latin typeface="Arial" pitchFamily="34" charset="0"/>
                <a:ea typeface="MS PGothic" pitchFamily="34" charset="-128"/>
              </a:defRPr>
            </a:lvl2pPr>
            <a:lvl3pPr marL="1143000" indent="-228600">
              <a:defRPr sz="2000" b="1">
                <a:solidFill>
                  <a:schemeClr val="accent1"/>
                </a:solidFill>
                <a:latin typeface="Arial" pitchFamily="34" charset="0"/>
                <a:ea typeface="MS PGothic" pitchFamily="34" charset="-128"/>
              </a:defRPr>
            </a:lvl3pPr>
            <a:lvl4pPr marL="1600200" indent="-228600">
              <a:defRPr sz="2000" b="1">
                <a:solidFill>
                  <a:schemeClr val="accent1"/>
                </a:solidFill>
                <a:latin typeface="Arial" pitchFamily="34" charset="0"/>
                <a:ea typeface="MS PGothic" pitchFamily="34" charset="-128"/>
              </a:defRPr>
            </a:lvl4pPr>
            <a:lvl5pPr marL="2057400" indent="-228600">
              <a:defRPr sz="2000" b="1">
                <a:solidFill>
                  <a:schemeClr val="accent1"/>
                </a:solidFill>
                <a:latin typeface="Arial" pitchFamily="34" charset="0"/>
                <a:ea typeface="MS PGothic" pitchFamily="34" charset="-128"/>
              </a:defRPr>
            </a:lvl5pPr>
            <a:lvl6pPr marL="25146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6pPr>
            <a:lvl7pPr marL="29718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7pPr>
            <a:lvl8pPr marL="34290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8pPr>
            <a:lvl9pPr marL="38862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9pPr>
          </a:lstStyle>
          <a:p>
            <a:fld id="{66EBF6E7-7A69-4DBC-9BC1-E98EB674BDAF}" type="slidenum">
              <a:rPr lang="en-US" sz="1400" b="0" smtClean="0">
                <a:solidFill>
                  <a:schemeClr val="tx1"/>
                </a:solidFill>
                <a:latin typeface="Helvetica" charset="0"/>
              </a:rPr>
              <a:pPr/>
              <a:t>12</a:t>
            </a:fld>
            <a:endParaRPr lang="en-US" sz="1400" b="0" smtClean="0">
              <a:solidFill>
                <a:schemeClr val="tx1"/>
              </a:solidFill>
              <a:latin typeface="Helvetica" charset="0"/>
            </a:endParaRPr>
          </a:p>
        </p:txBody>
      </p:sp>
      <p:sp>
        <p:nvSpPr>
          <p:cNvPr id="20483" name="Rectangle 2"/>
          <p:cNvSpPr>
            <a:spLocks noGrp="1" noChangeArrowheads="1"/>
          </p:cNvSpPr>
          <p:nvPr>
            <p:ph type="title"/>
          </p:nvPr>
        </p:nvSpPr>
        <p:spPr>
          <a:xfrm>
            <a:off x="808038" y="309563"/>
            <a:ext cx="6735762" cy="422275"/>
          </a:xfrm>
        </p:spPr>
        <p:txBody>
          <a:bodyPr>
            <a:normAutofit fontScale="90000"/>
          </a:bodyPr>
          <a:lstStyle/>
          <a:p>
            <a:r>
              <a:rPr lang="en-US" dirty="0" smtClean="0"/>
              <a:t>Naïve Matrix Multiply</a:t>
            </a:r>
          </a:p>
        </p:txBody>
      </p:sp>
      <p:sp>
        <p:nvSpPr>
          <p:cNvPr id="20484" name="Rectangle 3"/>
          <p:cNvSpPr>
            <a:spLocks noGrp="1" noChangeArrowheads="1"/>
          </p:cNvSpPr>
          <p:nvPr>
            <p:ph type="body" idx="1"/>
          </p:nvPr>
        </p:nvSpPr>
        <p:spPr>
          <a:xfrm>
            <a:off x="609600" y="914400"/>
            <a:ext cx="7929563" cy="3232150"/>
          </a:xfrm>
          <a:ln>
            <a:solidFill>
              <a:srgbClr val="000066"/>
            </a:solidFill>
            <a:miter lim="800000"/>
            <a:headEnd/>
            <a:tailEnd/>
          </a:ln>
        </p:spPr>
        <p:txBody>
          <a:bodyPr>
            <a:normAutofit lnSpcReduction="10000"/>
          </a:bodyPr>
          <a:lstStyle/>
          <a:p>
            <a:pPr>
              <a:buFontTx/>
              <a:buNone/>
            </a:pPr>
            <a:r>
              <a:rPr lang="en-US" sz="2000" dirty="0" smtClean="0">
                <a:solidFill>
                  <a:schemeClr val="accent2"/>
                </a:solidFill>
              </a:rPr>
              <a:t>{implements C = C + A*B}</a:t>
            </a:r>
          </a:p>
          <a:p>
            <a:pPr>
              <a:buFontTx/>
              <a:buNone/>
            </a:pPr>
            <a:r>
              <a:rPr lang="en-US" sz="2000" dirty="0" smtClean="0"/>
              <a:t>for </a:t>
            </a:r>
            <a:r>
              <a:rPr lang="en-US" sz="2000" dirty="0" err="1" smtClean="0"/>
              <a:t>i</a:t>
            </a:r>
            <a:r>
              <a:rPr lang="en-US" sz="2000" dirty="0" smtClean="0"/>
              <a:t> = 1 to n</a:t>
            </a:r>
          </a:p>
          <a:p>
            <a:pPr>
              <a:buFontTx/>
              <a:buNone/>
            </a:pPr>
            <a:r>
              <a:rPr lang="en-US" sz="2000" dirty="0" smtClean="0"/>
              <a:t>  </a:t>
            </a:r>
            <a:r>
              <a:rPr lang="en-US" sz="2000" dirty="0" smtClean="0">
                <a:solidFill>
                  <a:schemeClr val="accent2"/>
                </a:solidFill>
              </a:rPr>
              <a:t>{read row </a:t>
            </a:r>
            <a:r>
              <a:rPr lang="en-US" sz="2000" dirty="0" err="1" smtClean="0">
                <a:solidFill>
                  <a:schemeClr val="accent2"/>
                </a:solidFill>
              </a:rPr>
              <a:t>i</a:t>
            </a:r>
            <a:r>
              <a:rPr lang="en-US" sz="2000" dirty="0" smtClean="0">
                <a:solidFill>
                  <a:schemeClr val="accent2"/>
                </a:solidFill>
              </a:rPr>
              <a:t> of A into fast memory}                 …  n</a:t>
            </a:r>
            <a:r>
              <a:rPr lang="en-US" sz="2000" baseline="30000" dirty="0" smtClean="0">
                <a:solidFill>
                  <a:schemeClr val="accent2"/>
                </a:solidFill>
              </a:rPr>
              <a:t>2 </a:t>
            </a:r>
            <a:r>
              <a:rPr lang="en-US" sz="2000" dirty="0" smtClean="0">
                <a:solidFill>
                  <a:schemeClr val="accent2"/>
                </a:solidFill>
              </a:rPr>
              <a:t>reads altogether</a:t>
            </a:r>
            <a:endParaRPr lang="en-US" sz="2000" dirty="0" smtClean="0"/>
          </a:p>
          <a:p>
            <a:pPr>
              <a:buFontTx/>
              <a:buNone/>
            </a:pPr>
            <a:r>
              <a:rPr lang="en-US" sz="2000" dirty="0" smtClean="0"/>
              <a:t>   for j = 1 to n</a:t>
            </a:r>
          </a:p>
          <a:p>
            <a:pPr>
              <a:buFontTx/>
              <a:buNone/>
            </a:pPr>
            <a:r>
              <a:rPr lang="en-US" sz="2000" dirty="0" smtClean="0"/>
              <a:t>       </a:t>
            </a:r>
            <a:r>
              <a:rPr lang="en-US" sz="2000" dirty="0" smtClean="0">
                <a:solidFill>
                  <a:schemeClr val="accent2"/>
                </a:solidFill>
              </a:rPr>
              <a:t>{read C(</a:t>
            </a:r>
            <a:r>
              <a:rPr lang="en-US" sz="2000" dirty="0" err="1" smtClean="0">
                <a:solidFill>
                  <a:schemeClr val="accent2"/>
                </a:solidFill>
              </a:rPr>
              <a:t>i,j</a:t>
            </a:r>
            <a:r>
              <a:rPr lang="en-US" sz="2000" dirty="0" smtClean="0">
                <a:solidFill>
                  <a:schemeClr val="accent2"/>
                </a:solidFill>
              </a:rPr>
              <a:t>) into fast memory}                     </a:t>
            </a:r>
            <a:r>
              <a:rPr lang="en-US" sz="2000" dirty="0">
                <a:solidFill>
                  <a:schemeClr val="accent2"/>
                </a:solidFill>
              </a:rPr>
              <a:t>…  n</a:t>
            </a:r>
            <a:r>
              <a:rPr lang="en-US" sz="2000" baseline="30000" dirty="0">
                <a:solidFill>
                  <a:schemeClr val="accent2"/>
                </a:solidFill>
              </a:rPr>
              <a:t>2</a:t>
            </a:r>
            <a:r>
              <a:rPr lang="en-US" sz="2000" dirty="0">
                <a:solidFill>
                  <a:schemeClr val="accent2"/>
                </a:solidFill>
              </a:rPr>
              <a:t> reads altogether</a:t>
            </a:r>
            <a:endParaRPr lang="en-US" sz="2000" dirty="0" smtClean="0">
              <a:solidFill>
                <a:schemeClr val="accent2"/>
              </a:solidFill>
            </a:endParaRPr>
          </a:p>
          <a:p>
            <a:pPr>
              <a:buFontTx/>
              <a:buNone/>
            </a:pPr>
            <a:r>
              <a:rPr lang="en-US" sz="2000" dirty="0" smtClean="0">
                <a:solidFill>
                  <a:schemeClr val="accent2"/>
                </a:solidFill>
              </a:rPr>
              <a:t>       {read column j of B into fast memory}      …  n</a:t>
            </a:r>
            <a:r>
              <a:rPr lang="en-US" sz="2000" baseline="30000" dirty="0" smtClean="0">
                <a:solidFill>
                  <a:schemeClr val="accent2"/>
                </a:solidFill>
              </a:rPr>
              <a:t>3</a:t>
            </a:r>
            <a:r>
              <a:rPr lang="en-US" sz="2000" dirty="0" smtClean="0">
                <a:solidFill>
                  <a:schemeClr val="accent2"/>
                </a:solidFill>
              </a:rPr>
              <a:t> reads altogether</a:t>
            </a:r>
            <a:endParaRPr lang="en-US" sz="2000" dirty="0" smtClean="0"/>
          </a:p>
          <a:p>
            <a:pPr>
              <a:buFontTx/>
              <a:buNone/>
            </a:pPr>
            <a:r>
              <a:rPr lang="en-US" sz="2000" dirty="0" smtClean="0"/>
              <a:t>       for k = 1 to n</a:t>
            </a:r>
          </a:p>
          <a:p>
            <a:pPr>
              <a:buFontTx/>
              <a:buNone/>
            </a:pPr>
            <a:r>
              <a:rPr lang="en-US" sz="2000" dirty="0" smtClean="0"/>
              <a:t>           C(</a:t>
            </a:r>
            <a:r>
              <a:rPr lang="en-US" sz="2000" dirty="0" err="1" smtClean="0"/>
              <a:t>i,j</a:t>
            </a:r>
            <a:r>
              <a:rPr lang="en-US" sz="2000" dirty="0" smtClean="0"/>
              <a:t>) = C(</a:t>
            </a:r>
            <a:r>
              <a:rPr lang="en-US" sz="2000" dirty="0" err="1" smtClean="0"/>
              <a:t>i,j</a:t>
            </a:r>
            <a:r>
              <a:rPr lang="en-US" sz="2000" dirty="0" smtClean="0"/>
              <a:t>) + A(</a:t>
            </a:r>
            <a:r>
              <a:rPr lang="en-US" sz="2000" dirty="0" err="1" smtClean="0"/>
              <a:t>i,k</a:t>
            </a:r>
            <a:r>
              <a:rPr lang="en-US" sz="2000" dirty="0" smtClean="0"/>
              <a:t>) * B(</a:t>
            </a:r>
            <a:r>
              <a:rPr lang="en-US" sz="2000" dirty="0" err="1" smtClean="0"/>
              <a:t>k,j</a:t>
            </a:r>
            <a:r>
              <a:rPr lang="en-US" sz="2000" dirty="0" smtClean="0"/>
              <a:t>)</a:t>
            </a:r>
          </a:p>
          <a:p>
            <a:pPr>
              <a:buFontTx/>
              <a:buNone/>
            </a:pPr>
            <a:r>
              <a:rPr lang="en-US" sz="2000" dirty="0" smtClean="0"/>
              <a:t>       </a:t>
            </a:r>
            <a:r>
              <a:rPr lang="en-US" sz="2000" dirty="0" smtClean="0">
                <a:solidFill>
                  <a:schemeClr val="accent2"/>
                </a:solidFill>
              </a:rPr>
              <a:t>{write C(</a:t>
            </a:r>
            <a:r>
              <a:rPr lang="en-US" sz="2000" dirty="0" err="1" smtClean="0">
                <a:solidFill>
                  <a:schemeClr val="accent2"/>
                </a:solidFill>
              </a:rPr>
              <a:t>i,j</a:t>
            </a:r>
            <a:r>
              <a:rPr lang="en-US" sz="2000" dirty="0" smtClean="0">
                <a:solidFill>
                  <a:schemeClr val="accent2"/>
                </a:solidFill>
              </a:rPr>
              <a:t>) back to slow memory}            … n</a:t>
            </a:r>
            <a:r>
              <a:rPr lang="en-US" sz="2000" baseline="30000" dirty="0" smtClean="0">
                <a:solidFill>
                  <a:schemeClr val="accent2"/>
                </a:solidFill>
              </a:rPr>
              <a:t>2</a:t>
            </a:r>
            <a:r>
              <a:rPr lang="en-US" sz="2000" dirty="0" smtClean="0">
                <a:solidFill>
                  <a:schemeClr val="accent2"/>
                </a:solidFill>
              </a:rPr>
              <a:t> writes altogether</a:t>
            </a:r>
          </a:p>
        </p:txBody>
      </p:sp>
      <p:sp>
        <p:nvSpPr>
          <p:cNvPr id="20485" name="Rectangle 4"/>
          <p:cNvSpPr>
            <a:spLocks noChangeArrowheads="1"/>
          </p:cNvSpPr>
          <p:nvPr/>
        </p:nvSpPr>
        <p:spPr bwMode="auto">
          <a:xfrm>
            <a:off x="3454400" y="4343400"/>
            <a:ext cx="1150938" cy="12954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it-IT"/>
          </a:p>
        </p:txBody>
      </p:sp>
      <p:sp>
        <p:nvSpPr>
          <p:cNvPr id="20486" name="Rectangle 5"/>
          <p:cNvSpPr>
            <a:spLocks noChangeArrowheads="1"/>
          </p:cNvSpPr>
          <p:nvPr/>
        </p:nvSpPr>
        <p:spPr bwMode="auto">
          <a:xfrm>
            <a:off x="5080000" y="4343400"/>
            <a:ext cx="1150938" cy="12954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it-IT"/>
          </a:p>
        </p:txBody>
      </p:sp>
      <p:sp>
        <p:nvSpPr>
          <p:cNvPr id="20487" name="Text Box 6"/>
          <p:cNvSpPr txBox="1">
            <a:spLocks noChangeArrowheads="1"/>
          </p:cNvSpPr>
          <p:nvPr/>
        </p:nvSpPr>
        <p:spPr bwMode="auto">
          <a:xfrm>
            <a:off x="2709863" y="4876800"/>
            <a:ext cx="5413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sz="2000" b="1">
                <a:solidFill>
                  <a:schemeClr val="accent1"/>
                </a:solidFill>
                <a:latin typeface="Arial" pitchFamily="34" charset="0"/>
                <a:ea typeface="MS PGothic" pitchFamily="34" charset="-128"/>
              </a:defRPr>
            </a:lvl1pPr>
            <a:lvl2pPr marL="742950" indent="-285750">
              <a:defRPr sz="2000" b="1">
                <a:solidFill>
                  <a:schemeClr val="accent1"/>
                </a:solidFill>
                <a:latin typeface="Arial" pitchFamily="34" charset="0"/>
                <a:ea typeface="MS PGothic" pitchFamily="34" charset="-128"/>
              </a:defRPr>
            </a:lvl2pPr>
            <a:lvl3pPr marL="1143000" indent="-228600">
              <a:defRPr sz="2000" b="1">
                <a:solidFill>
                  <a:schemeClr val="accent1"/>
                </a:solidFill>
                <a:latin typeface="Arial" pitchFamily="34" charset="0"/>
                <a:ea typeface="MS PGothic" pitchFamily="34" charset="-128"/>
              </a:defRPr>
            </a:lvl3pPr>
            <a:lvl4pPr marL="1600200" indent="-228600">
              <a:defRPr sz="2000" b="1">
                <a:solidFill>
                  <a:schemeClr val="accent1"/>
                </a:solidFill>
                <a:latin typeface="Arial" pitchFamily="34" charset="0"/>
                <a:ea typeface="MS PGothic" pitchFamily="34" charset="-128"/>
              </a:defRPr>
            </a:lvl4pPr>
            <a:lvl5pPr marL="2057400" indent="-228600">
              <a:defRPr sz="2000" b="1">
                <a:solidFill>
                  <a:schemeClr val="accent1"/>
                </a:solidFill>
                <a:latin typeface="Arial" pitchFamily="34" charset="0"/>
                <a:ea typeface="MS PGothic" pitchFamily="34" charset="-128"/>
              </a:defRPr>
            </a:lvl5pPr>
            <a:lvl6pPr marL="25146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6pPr>
            <a:lvl7pPr marL="29718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7pPr>
            <a:lvl8pPr marL="34290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8pPr>
            <a:lvl9pPr marL="38862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9pPr>
          </a:lstStyle>
          <a:p>
            <a:pPr>
              <a:spcBef>
                <a:spcPct val="50000"/>
              </a:spcBef>
            </a:pPr>
            <a:r>
              <a:rPr lang="en-US" sz="2400">
                <a:solidFill>
                  <a:schemeClr val="tx1"/>
                </a:solidFill>
              </a:rPr>
              <a:t>=</a:t>
            </a:r>
          </a:p>
        </p:txBody>
      </p:sp>
      <p:sp>
        <p:nvSpPr>
          <p:cNvPr id="20488" name="Text Box 7"/>
          <p:cNvSpPr txBox="1">
            <a:spLocks noChangeArrowheads="1"/>
          </p:cNvSpPr>
          <p:nvPr/>
        </p:nvSpPr>
        <p:spPr bwMode="auto">
          <a:xfrm>
            <a:off x="4673600" y="4876800"/>
            <a:ext cx="2714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sz="2000" b="1">
                <a:solidFill>
                  <a:schemeClr val="accent1"/>
                </a:solidFill>
                <a:latin typeface="Arial" pitchFamily="34" charset="0"/>
                <a:ea typeface="MS PGothic" pitchFamily="34" charset="-128"/>
              </a:defRPr>
            </a:lvl1pPr>
            <a:lvl2pPr marL="742950" indent="-285750">
              <a:defRPr sz="2000" b="1">
                <a:solidFill>
                  <a:schemeClr val="accent1"/>
                </a:solidFill>
                <a:latin typeface="Arial" pitchFamily="34" charset="0"/>
                <a:ea typeface="MS PGothic" pitchFamily="34" charset="-128"/>
              </a:defRPr>
            </a:lvl2pPr>
            <a:lvl3pPr marL="1143000" indent="-228600">
              <a:defRPr sz="2000" b="1">
                <a:solidFill>
                  <a:schemeClr val="accent1"/>
                </a:solidFill>
                <a:latin typeface="Arial" pitchFamily="34" charset="0"/>
                <a:ea typeface="MS PGothic" pitchFamily="34" charset="-128"/>
              </a:defRPr>
            </a:lvl3pPr>
            <a:lvl4pPr marL="1600200" indent="-228600">
              <a:defRPr sz="2000" b="1">
                <a:solidFill>
                  <a:schemeClr val="accent1"/>
                </a:solidFill>
                <a:latin typeface="Arial" pitchFamily="34" charset="0"/>
                <a:ea typeface="MS PGothic" pitchFamily="34" charset="-128"/>
              </a:defRPr>
            </a:lvl4pPr>
            <a:lvl5pPr marL="2057400" indent="-228600">
              <a:defRPr sz="2000" b="1">
                <a:solidFill>
                  <a:schemeClr val="accent1"/>
                </a:solidFill>
                <a:latin typeface="Arial" pitchFamily="34" charset="0"/>
                <a:ea typeface="MS PGothic" pitchFamily="34" charset="-128"/>
              </a:defRPr>
            </a:lvl5pPr>
            <a:lvl6pPr marL="25146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6pPr>
            <a:lvl7pPr marL="29718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7pPr>
            <a:lvl8pPr marL="34290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8pPr>
            <a:lvl9pPr marL="38862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9pPr>
          </a:lstStyle>
          <a:p>
            <a:pPr>
              <a:spcBef>
                <a:spcPct val="50000"/>
              </a:spcBef>
            </a:pPr>
            <a:r>
              <a:rPr lang="en-US" sz="2400">
                <a:solidFill>
                  <a:schemeClr val="tx1"/>
                </a:solidFill>
              </a:rPr>
              <a:t>+</a:t>
            </a:r>
          </a:p>
        </p:txBody>
      </p:sp>
      <p:sp>
        <p:nvSpPr>
          <p:cNvPr id="20489" name="Text Box 8"/>
          <p:cNvSpPr txBox="1">
            <a:spLocks noChangeArrowheads="1"/>
          </p:cNvSpPr>
          <p:nvPr/>
        </p:nvSpPr>
        <p:spPr bwMode="auto">
          <a:xfrm>
            <a:off x="6230938" y="4876800"/>
            <a:ext cx="1635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sz="2000" b="1">
                <a:solidFill>
                  <a:schemeClr val="accent1"/>
                </a:solidFill>
                <a:latin typeface="Arial" pitchFamily="34" charset="0"/>
                <a:ea typeface="MS PGothic" pitchFamily="34" charset="-128"/>
              </a:defRPr>
            </a:lvl1pPr>
            <a:lvl2pPr marL="742950" indent="-285750">
              <a:defRPr sz="2000" b="1">
                <a:solidFill>
                  <a:schemeClr val="accent1"/>
                </a:solidFill>
                <a:latin typeface="Arial" pitchFamily="34" charset="0"/>
                <a:ea typeface="MS PGothic" pitchFamily="34" charset="-128"/>
              </a:defRPr>
            </a:lvl2pPr>
            <a:lvl3pPr marL="1143000" indent="-228600">
              <a:defRPr sz="2000" b="1">
                <a:solidFill>
                  <a:schemeClr val="accent1"/>
                </a:solidFill>
                <a:latin typeface="Arial" pitchFamily="34" charset="0"/>
                <a:ea typeface="MS PGothic" pitchFamily="34" charset="-128"/>
              </a:defRPr>
            </a:lvl3pPr>
            <a:lvl4pPr marL="1600200" indent="-228600">
              <a:defRPr sz="2000" b="1">
                <a:solidFill>
                  <a:schemeClr val="accent1"/>
                </a:solidFill>
                <a:latin typeface="Arial" pitchFamily="34" charset="0"/>
                <a:ea typeface="MS PGothic" pitchFamily="34" charset="-128"/>
              </a:defRPr>
            </a:lvl4pPr>
            <a:lvl5pPr marL="2057400" indent="-228600">
              <a:defRPr sz="2000" b="1">
                <a:solidFill>
                  <a:schemeClr val="accent1"/>
                </a:solidFill>
                <a:latin typeface="Arial" pitchFamily="34" charset="0"/>
                <a:ea typeface="MS PGothic" pitchFamily="34" charset="-128"/>
              </a:defRPr>
            </a:lvl5pPr>
            <a:lvl6pPr marL="25146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6pPr>
            <a:lvl7pPr marL="29718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7pPr>
            <a:lvl8pPr marL="34290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8pPr>
            <a:lvl9pPr marL="38862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9pPr>
          </a:lstStyle>
          <a:p>
            <a:pPr>
              <a:spcBef>
                <a:spcPct val="50000"/>
              </a:spcBef>
            </a:pPr>
            <a:r>
              <a:rPr lang="en-US" sz="2400">
                <a:solidFill>
                  <a:schemeClr val="tx1"/>
                </a:solidFill>
              </a:rPr>
              <a:t>*</a:t>
            </a:r>
          </a:p>
        </p:txBody>
      </p:sp>
      <p:sp>
        <p:nvSpPr>
          <p:cNvPr id="20490" name="Rectangle 9"/>
          <p:cNvSpPr>
            <a:spLocks noChangeArrowheads="1"/>
          </p:cNvSpPr>
          <p:nvPr/>
        </p:nvSpPr>
        <p:spPr bwMode="auto">
          <a:xfrm>
            <a:off x="3792538" y="4876800"/>
            <a:ext cx="136525" cy="152400"/>
          </a:xfrm>
          <a:prstGeom prst="rect">
            <a:avLst/>
          </a:prstGeom>
          <a:solidFill>
            <a:schemeClr val="accent1"/>
          </a:solidFill>
          <a:ln w="12700">
            <a:solidFill>
              <a:schemeClr val="tx1"/>
            </a:solidFill>
            <a:miter lim="800000"/>
            <a:headEnd/>
            <a:tailEnd/>
          </a:ln>
        </p:spPr>
        <p:txBody>
          <a:bodyPr wrap="none" anchor="ctr"/>
          <a:lstStyle/>
          <a:p>
            <a:endParaRPr lang="it-IT"/>
          </a:p>
        </p:txBody>
      </p:sp>
      <p:sp>
        <p:nvSpPr>
          <p:cNvPr id="20491" name="Rectangle 10"/>
          <p:cNvSpPr>
            <a:spLocks noChangeArrowheads="1"/>
          </p:cNvSpPr>
          <p:nvPr/>
        </p:nvSpPr>
        <p:spPr bwMode="auto">
          <a:xfrm>
            <a:off x="5080000" y="4876800"/>
            <a:ext cx="1150938" cy="152400"/>
          </a:xfrm>
          <a:prstGeom prst="rect">
            <a:avLst/>
          </a:prstGeom>
          <a:solidFill>
            <a:schemeClr val="accent1"/>
          </a:solidFill>
          <a:ln w="12700">
            <a:solidFill>
              <a:schemeClr val="tx1"/>
            </a:solidFill>
            <a:miter lim="800000"/>
            <a:headEnd/>
            <a:tailEnd/>
          </a:ln>
        </p:spPr>
        <p:txBody>
          <a:bodyPr wrap="none" anchor="ctr"/>
          <a:lstStyle/>
          <a:p>
            <a:endParaRPr lang="it-IT"/>
          </a:p>
        </p:txBody>
      </p:sp>
      <p:sp>
        <p:nvSpPr>
          <p:cNvPr id="20492" name="Text Box 11"/>
          <p:cNvSpPr txBox="1">
            <a:spLocks noChangeArrowheads="1"/>
          </p:cNvSpPr>
          <p:nvPr/>
        </p:nvSpPr>
        <p:spPr bwMode="auto">
          <a:xfrm>
            <a:off x="3522663" y="4572000"/>
            <a:ext cx="6762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sz="2000" b="1">
                <a:solidFill>
                  <a:schemeClr val="accent1"/>
                </a:solidFill>
                <a:latin typeface="Arial" pitchFamily="34" charset="0"/>
                <a:ea typeface="MS PGothic" pitchFamily="34" charset="-128"/>
              </a:defRPr>
            </a:lvl1pPr>
            <a:lvl2pPr marL="742950" indent="-285750">
              <a:defRPr sz="2000" b="1">
                <a:solidFill>
                  <a:schemeClr val="accent1"/>
                </a:solidFill>
                <a:latin typeface="Arial" pitchFamily="34" charset="0"/>
                <a:ea typeface="MS PGothic" pitchFamily="34" charset="-128"/>
              </a:defRPr>
            </a:lvl2pPr>
            <a:lvl3pPr marL="1143000" indent="-228600">
              <a:defRPr sz="2000" b="1">
                <a:solidFill>
                  <a:schemeClr val="accent1"/>
                </a:solidFill>
                <a:latin typeface="Arial" pitchFamily="34" charset="0"/>
                <a:ea typeface="MS PGothic" pitchFamily="34" charset="-128"/>
              </a:defRPr>
            </a:lvl3pPr>
            <a:lvl4pPr marL="1600200" indent="-228600">
              <a:defRPr sz="2000" b="1">
                <a:solidFill>
                  <a:schemeClr val="accent1"/>
                </a:solidFill>
                <a:latin typeface="Arial" pitchFamily="34" charset="0"/>
                <a:ea typeface="MS PGothic" pitchFamily="34" charset="-128"/>
              </a:defRPr>
            </a:lvl4pPr>
            <a:lvl5pPr marL="2057400" indent="-228600">
              <a:defRPr sz="2000" b="1">
                <a:solidFill>
                  <a:schemeClr val="accent1"/>
                </a:solidFill>
                <a:latin typeface="Arial" pitchFamily="34" charset="0"/>
                <a:ea typeface="MS PGothic" pitchFamily="34" charset="-128"/>
              </a:defRPr>
            </a:lvl5pPr>
            <a:lvl6pPr marL="25146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6pPr>
            <a:lvl7pPr marL="29718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7pPr>
            <a:lvl8pPr marL="34290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8pPr>
            <a:lvl9pPr marL="38862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9pPr>
          </a:lstStyle>
          <a:p>
            <a:pPr>
              <a:spcBef>
                <a:spcPct val="50000"/>
              </a:spcBef>
            </a:pPr>
            <a:r>
              <a:rPr lang="en-US" sz="1400" b="0">
                <a:solidFill>
                  <a:schemeClr val="tx1"/>
                </a:solidFill>
              </a:rPr>
              <a:t>C(i,j)</a:t>
            </a:r>
          </a:p>
        </p:txBody>
      </p:sp>
      <p:sp>
        <p:nvSpPr>
          <p:cNvPr id="20493" name="Text Box 12"/>
          <p:cNvSpPr txBox="1">
            <a:spLocks noChangeArrowheads="1"/>
          </p:cNvSpPr>
          <p:nvPr/>
        </p:nvSpPr>
        <p:spPr bwMode="auto">
          <a:xfrm>
            <a:off x="5148263" y="4495800"/>
            <a:ext cx="6762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sz="2000" b="1">
                <a:solidFill>
                  <a:schemeClr val="accent1"/>
                </a:solidFill>
                <a:latin typeface="Arial" pitchFamily="34" charset="0"/>
                <a:ea typeface="MS PGothic" pitchFamily="34" charset="-128"/>
              </a:defRPr>
            </a:lvl1pPr>
            <a:lvl2pPr marL="742950" indent="-285750">
              <a:defRPr sz="2000" b="1">
                <a:solidFill>
                  <a:schemeClr val="accent1"/>
                </a:solidFill>
                <a:latin typeface="Arial" pitchFamily="34" charset="0"/>
                <a:ea typeface="MS PGothic" pitchFamily="34" charset="-128"/>
              </a:defRPr>
            </a:lvl2pPr>
            <a:lvl3pPr marL="1143000" indent="-228600">
              <a:defRPr sz="2000" b="1">
                <a:solidFill>
                  <a:schemeClr val="accent1"/>
                </a:solidFill>
                <a:latin typeface="Arial" pitchFamily="34" charset="0"/>
                <a:ea typeface="MS PGothic" pitchFamily="34" charset="-128"/>
              </a:defRPr>
            </a:lvl3pPr>
            <a:lvl4pPr marL="1600200" indent="-228600">
              <a:defRPr sz="2000" b="1">
                <a:solidFill>
                  <a:schemeClr val="accent1"/>
                </a:solidFill>
                <a:latin typeface="Arial" pitchFamily="34" charset="0"/>
                <a:ea typeface="MS PGothic" pitchFamily="34" charset="-128"/>
              </a:defRPr>
            </a:lvl4pPr>
            <a:lvl5pPr marL="2057400" indent="-228600">
              <a:defRPr sz="2000" b="1">
                <a:solidFill>
                  <a:schemeClr val="accent1"/>
                </a:solidFill>
                <a:latin typeface="Arial" pitchFamily="34" charset="0"/>
                <a:ea typeface="MS PGothic" pitchFamily="34" charset="-128"/>
              </a:defRPr>
            </a:lvl5pPr>
            <a:lvl6pPr marL="25146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6pPr>
            <a:lvl7pPr marL="29718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7pPr>
            <a:lvl8pPr marL="34290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8pPr>
            <a:lvl9pPr marL="38862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9pPr>
          </a:lstStyle>
          <a:p>
            <a:pPr>
              <a:spcBef>
                <a:spcPct val="50000"/>
              </a:spcBef>
            </a:pPr>
            <a:r>
              <a:rPr lang="en-US" sz="1400" b="0">
                <a:solidFill>
                  <a:schemeClr val="tx1"/>
                </a:solidFill>
              </a:rPr>
              <a:t>A(i,:)</a:t>
            </a:r>
          </a:p>
        </p:txBody>
      </p:sp>
      <p:sp>
        <p:nvSpPr>
          <p:cNvPr id="20494" name="Rectangle 13"/>
          <p:cNvSpPr>
            <a:spLocks noChangeArrowheads="1"/>
          </p:cNvSpPr>
          <p:nvPr/>
        </p:nvSpPr>
        <p:spPr bwMode="auto">
          <a:xfrm>
            <a:off x="6629400" y="4343400"/>
            <a:ext cx="1152525" cy="12954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it-IT"/>
          </a:p>
        </p:txBody>
      </p:sp>
      <p:sp>
        <p:nvSpPr>
          <p:cNvPr id="20495" name="Rectangle 14"/>
          <p:cNvSpPr>
            <a:spLocks noChangeArrowheads="1"/>
          </p:cNvSpPr>
          <p:nvPr/>
        </p:nvSpPr>
        <p:spPr bwMode="auto">
          <a:xfrm>
            <a:off x="6858000" y="4343400"/>
            <a:ext cx="134938" cy="1295400"/>
          </a:xfrm>
          <a:prstGeom prst="rect">
            <a:avLst/>
          </a:prstGeom>
          <a:solidFill>
            <a:schemeClr val="accent1"/>
          </a:solidFill>
          <a:ln w="12700">
            <a:solidFill>
              <a:schemeClr val="tx1"/>
            </a:solidFill>
            <a:miter lim="800000"/>
            <a:headEnd/>
            <a:tailEnd/>
          </a:ln>
        </p:spPr>
        <p:txBody>
          <a:bodyPr wrap="none" anchor="ctr"/>
          <a:lstStyle/>
          <a:p>
            <a:endParaRPr lang="it-IT"/>
          </a:p>
        </p:txBody>
      </p:sp>
      <p:sp>
        <p:nvSpPr>
          <p:cNvPr id="20496" name="Text Box 15"/>
          <p:cNvSpPr txBox="1">
            <a:spLocks noChangeArrowheads="1"/>
          </p:cNvSpPr>
          <p:nvPr/>
        </p:nvSpPr>
        <p:spPr bwMode="auto">
          <a:xfrm>
            <a:off x="7043738" y="4800600"/>
            <a:ext cx="677862"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sz="2000" b="1">
                <a:solidFill>
                  <a:schemeClr val="accent1"/>
                </a:solidFill>
                <a:latin typeface="Arial" pitchFamily="34" charset="0"/>
                <a:ea typeface="MS PGothic" pitchFamily="34" charset="-128"/>
              </a:defRPr>
            </a:lvl1pPr>
            <a:lvl2pPr marL="742950" indent="-285750">
              <a:defRPr sz="2000" b="1">
                <a:solidFill>
                  <a:schemeClr val="accent1"/>
                </a:solidFill>
                <a:latin typeface="Arial" pitchFamily="34" charset="0"/>
                <a:ea typeface="MS PGothic" pitchFamily="34" charset="-128"/>
              </a:defRPr>
            </a:lvl2pPr>
            <a:lvl3pPr marL="1143000" indent="-228600">
              <a:defRPr sz="2000" b="1">
                <a:solidFill>
                  <a:schemeClr val="accent1"/>
                </a:solidFill>
                <a:latin typeface="Arial" pitchFamily="34" charset="0"/>
                <a:ea typeface="MS PGothic" pitchFamily="34" charset="-128"/>
              </a:defRPr>
            </a:lvl3pPr>
            <a:lvl4pPr marL="1600200" indent="-228600">
              <a:defRPr sz="2000" b="1">
                <a:solidFill>
                  <a:schemeClr val="accent1"/>
                </a:solidFill>
                <a:latin typeface="Arial" pitchFamily="34" charset="0"/>
                <a:ea typeface="MS PGothic" pitchFamily="34" charset="-128"/>
              </a:defRPr>
            </a:lvl4pPr>
            <a:lvl5pPr marL="2057400" indent="-228600">
              <a:defRPr sz="2000" b="1">
                <a:solidFill>
                  <a:schemeClr val="accent1"/>
                </a:solidFill>
                <a:latin typeface="Arial" pitchFamily="34" charset="0"/>
                <a:ea typeface="MS PGothic" pitchFamily="34" charset="-128"/>
              </a:defRPr>
            </a:lvl5pPr>
            <a:lvl6pPr marL="25146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6pPr>
            <a:lvl7pPr marL="29718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7pPr>
            <a:lvl8pPr marL="34290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8pPr>
            <a:lvl9pPr marL="38862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9pPr>
          </a:lstStyle>
          <a:p>
            <a:pPr>
              <a:spcBef>
                <a:spcPct val="50000"/>
              </a:spcBef>
            </a:pPr>
            <a:r>
              <a:rPr lang="en-US" sz="1400" b="0">
                <a:solidFill>
                  <a:schemeClr val="tx1"/>
                </a:solidFill>
              </a:rPr>
              <a:t>B(:,j)</a:t>
            </a:r>
          </a:p>
        </p:txBody>
      </p:sp>
      <p:sp>
        <p:nvSpPr>
          <p:cNvPr id="20497" name="Rectangle 16"/>
          <p:cNvSpPr>
            <a:spLocks noChangeArrowheads="1"/>
          </p:cNvSpPr>
          <p:nvPr/>
        </p:nvSpPr>
        <p:spPr bwMode="auto">
          <a:xfrm>
            <a:off x="1371600" y="4343400"/>
            <a:ext cx="1150938" cy="12954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it-IT"/>
          </a:p>
        </p:txBody>
      </p:sp>
      <p:sp>
        <p:nvSpPr>
          <p:cNvPr id="20498" name="Rectangle 17"/>
          <p:cNvSpPr>
            <a:spLocks noChangeArrowheads="1"/>
          </p:cNvSpPr>
          <p:nvPr/>
        </p:nvSpPr>
        <p:spPr bwMode="auto">
          <a:xfrm>
            <a:off x="1828800" y="4876800"/>
            <a:ext cx="134938" cy="152400"/>
          </a:xfrm>
          <a:prstGeom prst="rect">
            <a:avLst/>
          </a:prstGeom>
          <a:solidFill>
            <a:schemeClr val="accent1"/>
          </a:solidFill>
          <a:ln w="12700">
            <a:solidFill>
              <a:schemeClr val="tx1"/>
            </a:solidFill>
            <a:miter lim="800000"/>
            <a:headEnd/>
            <a:tailEnd/>
          </a:ln>
        </p:spPr>
        <p:txBody>
          <a:bodyPr wrap="none" anchor="ctr"/>
          <a:lstStyle/>
          <a:p>
            <a:endParaRPr lang="it-IT"/>
          </a:p>
        </p:txBody>
      </p:sp>
      <p:sp>
        <p:nvSpPr>
          <p:cNvPr id="20499" name="Text Box 18"/>
          <p:cNvSpPr txBox="1">
            <a:spLocks noChangeArrowheads="1"/>
          </p:cNvSpPr>
          <p:nvPr/>
        </p:nvSpPr>
        <p:spPr bwMode="auto">
          <a:xfrm>
            <a:off x="1557338" y="4572000"/>
            <a:ext cx="677862"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sz="2000" b="1">
                <a:solidFill>
                  <a:schemeClr val="accent1"/>
                </a:solidFill>
                <a:latin typeface="Arial" pitchFamily="34" charset="0"/>
                <a:ea typeface="MS PGothic" pitchFamily="34" charset="-128"/>
              </a:defRPr>
            </a:lvl1pPr>
            <a:lvl2pPr marL="742950" indent="-285750">
              <a:defRPr sz="2000" b="1">
                <a:solidFill>
                  <a:schemeClr val="accent1"/>
                </a:solidFill>
                <a:latin typeface="Arial" pitchFamily="34" charset="0"/>
                <a:ea typeface="MS PGothic" pitchFamily="34" charset="-128"/>
              </a:defRPr>
            </a:lvl2pPr>
            <a:lvl3pPr marL="1143000" indent="-228600">
              <a:defRPr sz="2000" b="1">
                <a:solidFill>
                  <a:schemeClr val="accent1"/>
                </a:solidFill>
                <a:latin typeface="Arial" pitchFamily="34" charset="0"/>
                <a:ea typeface="MS PGothic" pitchFamily="34" charset="-128"/>
              </a:defRPr>
            </a:lvl3pPr>
            <a:lvl4pPr marL="1600200" indent="-228600">
              <a:defRPr sz="2000" b="1">
                <a:solidFill>
                  <a:schemeClr val="accent1"/>
                </a:solidFill>
                <a:latin typeface="Arial" pitchFamily="34" charset="0"/>
                <a:ea typeface="MS PGothic" pitchFamily="34" charset="-128"/>
              </a:defRPr>
            </a:lvl4pPr>
            <a:lvl5pPr marL="2057400" indent="-228600">
              <a:defRPr sz="2000" b="1">
                <a:solidFill>
                  <a:schemeClr val="accent1"/>
                </a:solidFill>
                <a:latin typeface="Arial" pitchFamily="34" charset="0"/>
                <a:ea typeface="MS PGothic" pitchFamily="34" charset="-128"/>
              </a:defRPr>
            </a:lvl5pPr>
            <a:lvl6pPr marL="25146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6pPr>
            <a:lvl7pPr marL="29718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7pPr>
            <a:lvl8pPr marL="34290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8pPr>
            <a:lvl9pPr marL="38862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9pPr>
          </a:lstStyle>
          <a:p>
            <a:pPr>
              <a:spcBef>
                <a:spcPct val="50000"/>
              </a:spcBef>
            </a:pPr>
            <a:r>
              <a:rPr lang="en-US" sz="1400" b="0">
                <a:solidFill>
                  <a:schemeClr val="tx1"/>
                </a:solidFill>
              </a:rPr>
              <a:t>C(i,j)</a:t>
            </a:r>
          </a:p>
        </p:txBody>
      </p:sp>
      <p:sp>
        <p:nvSpPr>
          <p:cNvPr id="2" name="TextBox 1"/>
          <p:cNvSpPr txBox="1"/>
          <p:nvPr/>
        </p:nvSpPr>
        <p:spPr>
          <a:xfrm>
            <a:off x="980643" y="5943600"/>
            <a:ext cx="7646444" cy="461665"/>
          </a:xfrm>
          <a:prstGeom prst="rect">
            <a:avLst/>
          </a:prstGeom>
          <a:noFill/>
          <a:ln>
            <a:solidFill>
              <a:schemeClr val="tx1"/>
            </a:solidFill>
          </a:ln>
        </p:spPr>
        <p:txBody>
          <a:bodyPr wrap="none" rtlCol="0">
            <a:spAutoFit/>
          </a:bodyPr>
          <a:lstStyle/>
          <a:p>
            <a:r>
              <a:rPr lang="en-US" sz="2400" dirty="0" smtClean="0"/>
              <a:t>n</a:t>
            </a:r>
            <a:r>
              <a:rPr lang="en-US" sz="2400" baseline="30000" dirty="0" smtClean="0"/>
              <a:t>3</a:t>
            </a:r>
            <a:r>
              <a:rPr lang="en-US" sz="2400" dirty="0" smtClean="0"/>
              <a:t> + 3n</a:t>
            </a:r>
            <a:r>
              <a:rPr lang="en-US" sz="2400" baseline="30000" dirty="0" smtClean="0"/>
              <a:t>2</a:t>
            </a:r>
            <a:r>
              <a:rPr lang="en-US" sz="2400" dirty="0" smtClean="0"/>
              <a:t> reads/writes altogether – dominates 2n</a:t>
            </a:r>
            <a:r>
              <a:rPr lang="en-US" sz="2400" baseline="30000" dirty="0" smtClean="0"/>
              <a:t>3</a:t>
            </a:r>
            <a:r>
              <a:rPr lang="en-US" sz="2400" dirty="0" smtClean="0"/>
              <a:t> arithmetic</a:t>
            </a:r>
            <a:endParaRPr lang="en-US" sz="2400" dirty="0"/>
          </a:p>
        </p:txBody>
      </p:sp>
    </p:spTree>
    <p:extLst>
      <p:ext uri="{BB962C8B-B14F-4D97-AF65-F5344CB8AC3E}">
        <p14:creationId xmlns:p14="http://schemas.microsoft.com/office/powerpoint/2010/main" val="1128392308"/>
      </p:ext>
    </p:extLst>
  </p:cSld>
  <p:clrMapOvr>
    <a:masterClrMapping/>
  </p:clrMapOvr>
  <p:timing>
    <p:tnLst>
      <p:par>
        <p:cTn xmlns:p14="http://schemas.microsoft.com/office/powerpoint/2010/mai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chemeClr val="accent1"/>
                </a:solidFill>
                <a:latin typeface="Arial" pitchFamily="34" charset="0"/>
                <a:ea typeface="MS PGothic" pitchFamily="34" charset="-128"/>
              </a:defRPr>
            </a:lvl1pPr>
            <a:lvl2pPr marL="742950" indent="-285750">
              <a:defRPr sz="2000" b="1">
                <a:solidFill>
                  <a:schemeClr val="accent1"/>
                </a:solidFill>
                <a:latin typeface="Arial" pitchFamily="34" charset="0"/>
                <a:ea typeface="MS PGothic" pitchFamily="34" charset="-128"/>
              </a:defRPr>
            </a:lvl2pPr>
            <a:lvl3pPr marL="1143000" indent="-228600">
              <a:defRPr sz="2000" b="1">
                <a:solidFill>
                  <a:schemeClr val="accent1"/>
                </a:solidFill>
                <a:latin typeface="Arial" pitchFamily="34" charset="0"/>
                <a:ea typeface="MS PGothic" pitchFamily="34" charset="-128"/>
              </a:defRPr>
            </a:lvl3pPr>
            <a:lvl4pPr marL="1600200" indent="-228600">
              <a:defRPr sz="2000" b="1">
                <a:solidFill>
                  <a:schemeClr val="accent1"/>
                </a:solidFill>
                <a:latin typeface="Arial" pitchFamily="34" charset="0"/>
                <a:ea typeface="MS PGothic" pitchFamily="34" charset="-128"/>
              </a:defRPr>
            </a:lvl4pPr>
            <a:lvl5pPr marL="2057400" indent="-228600">
              <a:defRPr sz="2000" b="1">
                <a:solidFill>
                  <a:schemeClr val="accent1"/>
                </a:solidFill>
                <a:latin typeface="Arial" pitchFamily="34" charset="0"/>
                <a:ea typeface="MS PGothic" pitchFamily="34" charset="-128"/>
              </a:defRPr>
            </a:lvl5pPr>
            <a:lvl6pPr marL="25146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6pPr>
            <a:lvl7pPr marL="29718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7pPr>
            <a:lvl8pPr marL="34290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8pPr>
            <a:lvl9pPr marL="38862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9pPr>
          </a:lstStyle>
          <a:p>
            <a:fld id="{8DB8727E-1D2B-414C-A904-A942F4283944}" type="slidenum">
              <a:rPr lang="en-US" sz="1400" b="0" smtClean="0">
                <a:solidFill>
                  <a:schemeClr val="tx1"/>
                </a:solidFill>
                <a:latin typeface="Helvetica" charset="0"/>
              </a:rPr>
              <a:pPr/>
              <a:t>13</a:t>
            </a:fld>
            <a:endParaRPr lang="en-US" sz="1400" b="0" smtClean="0">
              <a:solidFill>
                <a:schemeClr val="tx1"/>
              </a:solidFill>
              <a:latin typeface="Helvetica" charset="0"/>
            </a:endParaRPr>
          </a:p>
        </p:txBody>
      </p:sp>
      <p:sp>
        <p:nvSpPr>
          <p:cNvPr id="23555" name="Rectangle 2"/>
          <p:cNvSpPr>
            <a:spLocks noGrp="1" noChangeArrowheads="1"/>
          </p:cNvSpPr>
          <p:nvPr>
            <p:ph type="title"/>
          </p:nvPr>
        </p:nvSpPr>
        <p:spPr>
          <a:xfrm>
            <a:off x="808038" y="309563"/>
            <a:ext cx="7878762" cy="422275"/>
          </a:xfrm>
        </p:spPr>
        <p:txBody>
          <a:bodyPr>
            <a:normAutofit fontScale="90000"/>
          </a:bodyPr>
          <a:lstStyle/>
          <a:p>
            <a:r>
              <a:rPr lang="en-US" dirty="0" smtClean="0"/>
              <a:t>Blocked (Tiled) Matrix Multiply</a:t>
            </a:r>
          </a:p>
        </p:txBody>
      </p:sp>
      <p:sp>
        <p:nvSpPr>
          <p:cNvPr id="23556" name="Rectangle 3"/>
          <p:cNvSpPr>
            <a:spLocks noGrp="1" noChangeArrowheads="1"/>
          </p:cNvSpPr>
          <p:nvPr>
            <p:ph type="body" idx="1"/>
          </p:nvPr>
        </p:nvSpPr>
        <p:spPr>
          <a:xfrm>
            <a:off x="304800" y="1038225"/>
            <a:ext cx="8534400" cy="3476625"/>
          </a:xfrm>
          <a:ln>
            <a:solidFill>
              <a:srgbClr val="000066"/>
            </a:solidFill>
            <a:miter lim="800000"/>
            <a:headEnd/>
            <a:tailEnd/>
          </a:ln>
        </p:spPr>
        <p:txBody>
          <a:bodyPr>
            <a:normAutofit lnSpcReduction="10000"/>
          </a:bodyPr>
          <a:lstStyle/>
          <a:p>
            <a:pPr>
              <a:buFontTx/>
              <a:buNone/>
            </a:pPr>
            <a:r>
              <a:rPr lang="en-US" sz="2000" dirty="0" smtClean="0"/>
              <a:t>Consider A,B,C to be n/b-by-n/b matrices of b-by-b </a:t>
            </a:r>
            <a:r>
              <a:rPr lang="en-US" sz="2000" dirty="0" err="1" smtClean="0"/>
              <a:t>subblocks</a:t>
            </a:r>
            <a:r>
              <a:rPr lang="en-US" sz="2000" dirty="0" smtClean="0"/>
              <a:t> where                             b is called the </a:t>
            </a:r>
            <a:r>
              <a:rPr lang="en-US" sz="2000" dirty="0" smtClean="0">
                <a:solidFill>
                  <a:schemeClr val="accent2"/>
                </a:solidFill>
              </a:rPr>
              <a:t>block size;    assume 3 b-by-b blocks fit in fast memory</a:t>
            </a:r>
            <a:endParaRPr lang="en-US" sz="2000" dirty="0" smtClean="0"/>
          </a:p>
          <a:p>
            <a:pPr>
              <a:buFontTx/>
              <a:buNone/>
            </a:pPr>
            <a:r>
              <a:rPr lang="en-US" sz="2000" dirty="0" smtClean="0"/>
              <a:t>	   for </a:t>
            </a:r>
            <a:r>
              <a:rPr lang="en-US" sz="2000" dirty="0" err="1" smtClean="0"/>
              <a:t>i</a:t>
            </a:r>
            <a:r>
              <a:rPr lang="en-US" sz="2000" dirty="0" smtClean="0"/>
              <a:t> = 1 to n/b</a:t>
            </a:r>
          </a:p>
          <a:p>
            <a:pPr>
              <a:buFontTx/>
              <a:buNone/>
            </a:pPr>
            <a:r>
              <a:rPr lang="en-US" sz="2000" dirty="0" smtClean="0"/>
              <a:t> 	      for j = 1 to n/b</a:t>
            </a:r>
          </a:p>
          <a:p>
            <a:pPr>
              <a:buFontTx/>
              <a:buNone/>
            </a:pPr>
            <a:r>
              <a:rPr lang="en-US" sz="2000" dirty="0" smtClean="0"/>
              <a:t>       	</a:t>
            </a:r>
            <a:r>
              <a:rPr lang="en-US" sz="2000" dirty="0" smtClean="0">
                <a:solidFill>
                  <a:schemeClr val="accent2"/>
                </a:solidFill>
              </a:rPr>
              <a:t>{read block C(</a:t>
            </a:r>
            <a:r>
              <a:rPr lang="en-US" sz="2000" dirty="0" err="1" smtClean="0">
                <a:solidFill>
                  <a:schemeClr val="accent2"/>
                </a:solidFill>
              </a:rPr>
              <a:t>i,j</a:t>
            </a:r>
            <a:r>
              <a:rPr lang="en-US" sz="2000" dirty="0" smtClean="0">
                <a:solidFill>
                  <a:schemeClr val="accent2"/>
                </a:solidFill>
              </a:rPr>
              <a:t>) into fast memory}</a:t>
            </a:r>
          </a:p>
          <a:p>
            <a:pPr>
              <a:buFontTx/>
              <a:buNone/>
            </a:pPr>
            <a:r>
              <a:rPr lang="en-US" sz="2000" dirty="0" smtClean="0"/>
              <a:t>       	for k = 1 to n/b</a:t>
            </a:r>
          </a:p>
          <a:p>
            <a:pPr>
              <a:buFontTx/>
              <a:buNone/>
            </a:pPr>
            <a:r>
              <a:rPr lang="en-US" sz="2000" dirty="0" smtClean="0"/>
              <a:t>           	       </a:t>
            </a:r>
            <a:r>
              <a:rPr lang="en-US" sz="2000" dirty="0" smtClean="0">
                <a:solidFill>
                  <a:schemeClr val="accent2"/>
                </a:solidFill>
              </a:rPr>
              <a:t>{read block A(</a:t>
            </a:r>
            <a:r>
              <a:rPr lang="en-US" sz="2000" dirty="0" err="1" smtClean="0">
                <a:solidFill>
                  <a:schemeClr val="accent2"/>
                </a:solidFill>
              </a:rPr>
              <a:t>i,k</a:t>
            </a:r>
            <a:r>
              <a:rPr lang="en-US" sz="2000" dirty="0" smtClean="0">
                <a:solidFill>
                  <a:schemeClr val="accent2"/>
                </a:solidFill>
              </a:rPr>
              <a:t>) into fast memory}</a:t>
            </a:r>
          </a:p>
          <a:p>
            <a:pPr>
              <a:buFontTx/>
              <a:buNone/>
            </a:pPr>
            <a:r>
              <a:rPr lang="en-US" sz="2000" dirty="0" smtClean="0">
                <a:solidFill>
                  <a:schemeClr val="accent2"/>
                </a:solidFill>
              </a:rPr>
              <a:t>           	       {read block B(</a:t>
            </a:r>
            <a:r>
              <a:rPr lang="en-US" sz="2000" dirty="0" err="1" smtClean="0">
                <a:solidFill>
                  <a:schemeClr val="accent2"/>
                </a:solidFill>
              </a:rPr>
              <a:t>k,j</a:t>
            </a:r>
            <a:r>
              <a:rPr lang="en-US" sz="2000" dirty="0" smtClean="0">
                <a:solidFill>
                  <a:schemeClr val="accent2"/>
                </a:solidFill>
              </a:rPr>
              <a:t>) into fast memory}</a:t>
            </a:r>
          </a:p>
          <a:p>
            <a:pPr>
              <a:buFontTx/>
              <a:buNone/>
            </a:pPr>
            <a:r>
              <a:rPr lang="en-US" sz="2000" dirty="0" smtClean="0"/>
              <a:t>          	        C(</a:t>
            </a:r>
            <a:r>
              <a:rPr lang="en-US" sz="2000" dirty="0" err="1" smtClean="0"/>
              <a:t>i,j</a:t>
            </a:r>
            <a:r>
              <a:rPr lang="en-US" sz="2000" dirty="0" smtClean="0"/>
              <a:t>) = C(</a:t>
            </a:r>
            <a:r>
              <a:rPr lang="en-US" sz="2000" dirty="0" err="1" smtClean="0"/>
              <a:t>i,j</a:t>
            </a:r>
            <a:r>
              <a:rPr lang="en-US" sz="2000" dirty="0" smtClean="0"/>
              <a:t>) + A(</a:t>
            </a:r>
            <a:r>
              <a:rPr lang="en-US" sz="2000" dirty="0" err="1" smtClean="0"/>
              <a:t>i,k</a:t>
            </a:r>
            <a:r>
              <a:rPr lang="en-US" sz="2000" dirty="0" smtClean="0"/>
              <a:t>) * B(</a:t>
            </a:r>
            <a:r>
              <a:rPr lang="en-US" sz="2000" dirty="0" err="1" smtClean="0"/>
              <a:t>k,j</a:t>
            </a:r>
            <a:r>
              <a:rPr lang="en-US" sz="2000" dirty="0" smtClean="0"/>
              <a:t>) {do a matrix multiply on blocks}</a:t>
            </a:r>
          </a:p>
          <a:p>
            <a:pPr>
              <a:buFontTx/>
              <a:buNone/>
            </a:pPr>
            <a:r>
              <a:rPr lang="en-US" sz="2000" dirty="0" smtClean="0"/>
              <a:t>      	 </a:t>
            </a:r>
            <a:r>
              <a:rPr lang="en-US" sz="2000" dirty="0" smtClean="0">
                <a:solidFill>
                  <a:schemeClr val="accent2"/>
                </a:solidFill>
              </a:rPr>
              <a:t>{write block C(</a:t>
            </a:r>
            <a:r>
              <a:rPr lang="en-US" sz="2000" dirty="0" err="1" smtClean="0">
                <a:solidFill>
                  <a:schemeClr val="accent2"/>
                </a:solidFill>
              </a:rPr>
              <a:t>i,j</a:t>
            </a:r>
            <a:r>
              <a:rPr lang="en-US" sz="2000" dirty="0" smtClean="0">
                <a:solidFill>
                  <a:schemeClr val="accent2"/>
                </a:solidFill>
              </a:rPr>
              <a:t>) back to slow memory}</a:t>
            </a:r>
            <a:endParaRPr lang="en-US" sz="2000" dirty="0" smtClean="0"/>
          </a:p>
        </p:txBody>
      </p:sp>
      <p:sp>
        <p:nvSpPr>
          <p:cNvPr id="23557" name="Rectangle 4"/>
          <p:cNvSpPr>
            <a:spLocks noChangeArrowheads="1"/>
          </p:cNvSpPr>
          <p:nvPr/>
        </p:nvSpPr>
        <p:spPr bwMode="auto">
          <a:xfrm>
            <a:off x="1422400" y="4724400"/>
            <a:ext cx="1150938" cy="12954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it-IT"/>
          </a:p>
        </p:txBody>
      </p:sp>
      <p:sp>
        <p:nvSpPr>
          <p:cNvPr id="23558" name="Rectangle 5"/>
          <p:cNvSpPr>
            <a:spLocks noChangeArrowheads="1"/>
          </p:cNvSpPr>
          <p:nvPr/>
        </p:nvSpPr>
        <p:spPr bwMode="auto">
          <a:xfrm>
            <a:off x="3454400" y="4724400"/>
            <a:ext cx="1150938" cy="12954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it-IT"/>
          </a:p>
        </p:txBody>
      </p:sp>
      <p:sp>
        <p:nvSpPr>
          <p:cNvPr id="23559" name="Rectangle 6"/>
          <p:cNvSpPr>
            <a:spLocks noChangeArrowheads="1"/>
          </p:cNvSpPr>
          <p:nvPr/>
        </p:nvSpPr>
        <p:spPr bwMode="auto">
          <a:xfrm>
            <a:off x="5080000" y="4724400"/>
            <a:ext cx="1150938" cy="12954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it-IT"/>
          </a:p>
        </p:txBody>
      </p:sp>
      <p:sp>
        <p:nvSpPr>
          <p:cNvPr id="23560" name="Rectangle 7"/>
          <p:cNvSpPr>
            <a:spLocks noChangeArrowheads="1"/>
          </p:cNvSpPr>
          <p:nvPr/>
        </p:nvSpPr>
        <p:spPr bwMode="auto">
          <a:xfrm>
            <a:off x="6637338" y="4724400"/>
            <a:ext cx="1152525" cy="12954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it-IT"/>
          </a:p>
        </p:txBody>
      </p:sp>
      <p:sp>
        <p:nvSpPr>
          <p:cNvPr id="23561" name="Text Box 8"/>
          <p:cNvSpPr txBox="1">
            <a:spLocks noChangeArrowheads="1"/>
          </p:cNvSpPr>
          <p:nvPr/>
        </p:nvSpPr>
        <p:spPr bwMode="auto">
          <a:xfrm>
            <a:off x="2709863" y="5257800"/>
            <a:ext cx="5413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sz="2000" b="1">
                <a:solidFill>
                  <a:schemeClr val="accent1"/>
                </a:solidFill>
                <a:latin typeface="Arial" pitchFamily="34" charset="0"/>
                <a:ea typeface="MS PGothic" pitchFamily="34" charset="-128"/>
              </a:defRPr>
            </a:lvl1pPr>
            <a:lvl2pPr marL="742950" indent="-285750">
              <a:defRPr sz="2000" b="1">
                <a:solidFill>
                  <a:schemeClr val="accent1"/>
                </a:solidFill>
                <a:latin typeface="Arial" pitchFamily="34" charset="0"/>
                <a:ea typeface="MS PGothic" pitchFamily="34" charset="-128"/>
              </a:defRPr>
            </a:lvl2pPr>
            <a:lvl3pPr marL="1143000" indent="-228600">
              <a:defRPr sz="2000" b="1">
                <a:solidFill>
                  <a:schemeClr val="accent1"/>
                </a:solidFill>
                <a:latin typeface="Arial" pitchFamily="34" charset="0"/>
                <a:ea typeface="MS PGothic" pitchFamily="34" charset="-128"/>
              </a:defRPr>
            </a:lvl3pPr>
            <a:lvl4pPr marL="1600200" indent="-228600">
              <a:defRPr sz="2000" b="1">
                <a:solidFill>
                  <a:schemeClr val="accent1"/>
                </a:solidFill>
                <a:latin typeface="Arial" pitchFamily="34" charset="0"/>
                <a:ea typeface="MS PGothic" pitchFamily="34" charset="-128"/>
              </a:defRPr>
            </a:lvl4pPr>
            <a:lvl5pPr marL="2057400" indent="-228600">
              <a:defRPr sz="2000" b="1">
                <a:solidFill>
                  <a:schemeClr val="accent1"/>
                </a:solidFill>
                <a:latin typeface="Arial" pitchFamily="34" charset="0"/>
                <a:ea typeface="MS PGothic" pitchFamily="34" charset="-128"/>
              </a:defRPr>
            </a:lvl5pPr>
            <a:lvl6pPr marL="25146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6pPr>
            <a:lvl7pPr marL="29718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7pPr>
            <a:lvl8pPr marL="34290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8pPr>
            <a:lvl9pPr marL="38862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9pPr>
          </a:lstStyle>
          <a:p>
            <a:pPr>
              <a:spcBef>
                <a:spcPct val="50000"/>
              </a:spcBef>
            </a:pPr>
            <a:r>
              <a:rPr lang="en-US" sz="2400">
                <a:solidFill>
                  <a:schemeClr val="tx1"/>
                </a:solidFill>
              </a:rPr>
              <a:t>=</a:t>
            </a:r>
          </a:p>
        </p:txBody>
      </p:sp>
      <p:sp>
        <p:nvSpPr>
          <p:cNvPr id="23562" name="Text Box 9"/>
          <p:cNvSpPr txBox="1">
            <a:spLocks noChangeArrowheads="1"/>
          </p:cNvSpPr>
          <p:nvPr/>
        </p:nvSpPr>
        <p:spPr bwMode="auto">
          <a:xfrm>
            <a:off x="4673600" y="5257800"/>
            <a:ext cx="2714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sz="2000" b="1">
                <a:solidFill>
                  <a:schemeClr val="accent1"/>
                </a:solidFill>
                <a:latin typeface="Arial" pitchFamily="34" charset="0"/>
                <a:ea typeface="MS PGothic" pitchFamily="34" charset="-128"/>
              </a:defRPr>
            </a:lvl1pPr>
            <a:lvl2pPr marL="742950" indent="-285750">
              <a:defRPr sz="2000" b="1">
                <a:solidFill>
                  <a:schemeClr val="accent1"/>
                </a:solidFill>
                <a:latin typeface="Arial" pitchFamily="34" charset="0"/>
                <a:ea typeface="MS PGothic" pitchFamily="34" charset="-128"/>
              </a:defRPr>
            </a:lvl2pPr>
            <a:lvl3pPr marL="1143000" indent="-228600">
              <a:defRPr sz="2000" b="1">
                <a:solidFill>
                  <a:schemeClr val="accent1"/>
                </a:solidFill>
                <a:latin typeface="Arial" pitchFamily="34" charset="0"/>
                <a:ea typeface="MS PGothic" pitchFamily="34" charset="-128"/>
              </a:defRPr>
            </a:lvl3pPr>
            <a:lvl4pPr marL="1600200" indent="-228600">
              <a:defRPr sz="2000" b="1">
                <a:solidFill>
                  <a:schemeClr val="accent1"/>
                </a:solidFill>
                <a:latin typeface="Arial" pitchFamily="34" charset="0"/>
                <a:ea typeface="MS PGothic" pitchFamily="34" charset="-128"/>
              </a:defRPr>
            </a:lvl4pPr>
            <a:lvl5pPr marL="2057400" indent="-228600">
              <a:defRPr sz="2000" b="1">
                <a:solidFill>
                  <a:schemeClr val="accent1"/>
                </a:solidFill>
                <a:latin typeface="Arial" pitchFamily="34" charset="0"/>
                <a:ea typeface="MS PGothic" pitchFamily="34" charset="-128"/>
              </a:defRPr>
            </a:lvl5pPr>
            <a:lvl6pPr marL="25146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6pPr>
            <a:lvl7pPr marL="29718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7pPr>
            <a:lvl8pPr marL="34290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8pPr>
            <a:lvl9pPr marL="38862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9pPr>
          </a:lstStyle>
          <a:p>
            <a:pPr>
              <a:spcBef>
                <a:spcPct val="50000"/>
              </a:spcBef>
            </a:pPr>
            <a:r>
              <a:rPr lang="en-US" sz="2400">
                <a:solidFill>
                  <a:schemeClr val="tx1"/>
                </a:solidFill>
              </a:rPr>
              <a:t>+</a:t>
            </a:r>
          </a:p>
        </p:txBody>
      </p:sp>
      <p:sp>
        <p:nvSpPr>
          <p:cNvPr id="23563" name="Text Box 10"/>
          <p:cNvSpPr txBox="1">
            <a:spLocks noChangeArrowheads="1"/>
          </p:cNvSpPr>
          <p:nvPr/>
        </p:nvSpPr>
        <p:spPr bwMode="auto">
          <a:xfrm>
            <a:off x="6230938" y="5257800"/>
            <a:ext cx="1635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sz="2000" b="1">
                <a:solidFill>
                  <a:schemeClr val="accent1"/>
                </a:solidFill>
                <a:latin typeface="Arial" pitchFamily="34" charset="0"/>
                <a:ea typeface="MS PGothic" pitchFamily="34" charset="-128"/>
              </a:defRPr>
            </a:lvl1pPr>
            <a:lvl2pPr marL="742950" indent="-285750">
              <a:defRPr sz="2000" b="1">
                <a:solidFill>
                  <a:schemeClr val="accent1"/>
                </a:solidFill>
                <a:latin typeface="Arial" pitchFamily="34" charset="0"/>
                <a:ea typeface="MS PGothic" pitchFamily="34" charset="-128"/>
              </a:defRPr>
            </a:lvl2pPr>
            <a:lvl3pPr marL="1143000" indent="-228600">
              <a:defRPr sz="2000" b="1">
                <a:solidFill>
                  <a:schemeClr val="accent1"/>
                </a:solidFill>
                <a:latin typeface="Arial" pitchFamily="34" charset="0"/>
                <a:ea typeface="MS PGothic" pitchFamily="34" charset="-128"/>
              </a:defRPr>
            </a:lvl3pPr>
            <a:lvl4pPr marL="1600200" indent="-228600">
              <a:defRPr sz="2000" b="1">
                <a:solidFill>
                  <a:schemeClr val="accent1"/>
                </a:solidFill>
                <a:latin typeface="Arial" pitchFamily="34" charset="0"/>
                <a:ea typeface="MS PGothic" pitchFamily="34" charset="-128"/>
              </a:defRPr>
            </a:lvl4pPr>
            <a:lvl5pPr marL="2057400" indent="-228600">
              <a:defRPr sz="2000" b="1">
                <a:solidFill>
                  <a:schemeClr val="accent1"/>
                </a:solidFill>
                <a:latin typeface="Arial" pitchFamily="34" charset="0"/>
                <a:ea typeface="MS PGothic" pitchFamily="34" charset="-128"/>
              </a:defRPr>
            </a:lvl5pPr>
            <a:lvl6pPr marL="25146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6pPr>
            <a:lvl7pPr marL="29718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7pPr>
            <a:lvl8pPr marL="34290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8pPr>
            <a:lvl9pPr marL="38862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9pPr>
          </a:lstStyle>
          <a:p>
            <a:pPr>
              <a:spcBef>
                <a:spcPct val="50000"/>
              </a:spcBef>
            </a:pPr>
            <a:r>
              <a:rPr lang="en-US" sz="2400">
                <a:solidFill>
                  <a:schemeClr val="tx1"/>
                </a:solidFill>
              </a:rPr>
              <a:t>*</a:t>
            </a:r>
          </a:p>
        </p:txBody>
      </p:sp>
      <p:sp>
        <p:nvSpPr>
          <p:cNvPr id="23564" name="Rectangle 11"/>
          <p:cNvSpPr>
            <a:spLocks noChangeArrowheads="1"/>
          </p:cNvSpPr>
          <p:nvPr/>
        </p:nvSpPr>
        <p:spPr bwMode="auto">
          <a:xfrm>
            <a:off x="1828800" y="5257800"/>
            <a:ext cx="134938" cy="152400"/>
          </a:xfrm>
          <a:prstGeom prst="rect">
            <a:avLst/>
          </a:prstGeom>
          <a:solidFill>
            <a:schemeClr val="accent1"/>
          </a:solidFill>
          <a:ln w="12700">
            <a:solidFill>
              <a:schemeClr val="tx1"/>
            </a:solidFill>
            <a:miter lim="800000"/>
            <a:headEnd/>
            <a:tailEnd/>
          </a:ln>
        </p:spPr>
        <p:txBody>
          <a:bodyPr wrap="none" anchor="ctr"/>
          <a:lstStyle/>
          <a:p>
            <a:endParaRPr lang="it-IT"/>
          </a:p>
        </p:txBody>
      </p:sp>
      <p:sp>
        <p:nvSpPr>
          <p:cNvPr id="23565" name="Rectangle 12"/>
          <p:cNvSpPr>
            <a:spLocks noChangeArrowheads="1"/>
          </p:cNvSpPr>
          <p:nvPr/>
        </p:nvSpPr>
        <p:spPr bwMode="auto">
          <a:xfrm>
            <a:off x="5080000" y="5257800"/>
            <a:ext cx="1150938" cy="152400"/>
          </a:xfrm>
          <a:prstGeom prst="rect">
            <a:avLst/>
          </a:prstGeom>
          <a:noFill/>
          <a:ln w="12700" cap="rnd">
            <a:solidFill>
              <a:schemeClr val="tx1"/>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it-IT"/>
          </a:p>
        </p:txBody>
      </p:sp>
      <p:sp>
        <p:nvSpPr>
          <p:cNvPr id="23566" name="Rectangle 13"/>
          <p:cNvSpPr>
            <a:spLocks noChangeArrowheads="1"/>
          </p:cNvSpPr>
          <p:nvPr/>
        </p:nvSpPr>
        <p:spPr bwMode="auto">
          <a:xfrm>
            <a:off x="6908800" y="4724400"/>
            <a:ext cx="134938" cy="1295400"/>
          </a:xfrm>
          <a:prstGeom prst="rect">
            <a:avLst/>
          </a:prstGeom>
          <a:noFill/>
          <a:ln w="12700" cap="rnd">
            <a:solidFill>
              <a:schemeClr val="tx1"/>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it-IT"/>
          </a:p>
        </p:txBody>
      </p:sp>
      <p:sp>
        <p:nvSpPr>
          <p:cNvPr id="23567" name="Text Box 14"/>
          <p:cNvSpPr txBox="1">
            <a:spLocks noChangeArrowheads="1"/>
          </p:cNvSpPr>
          <p:nvPr/>
        </p:nvSpPr>
        <p:spPr bwMode="auto">
          <a:xfrm>
            <a:off x="1557338" y="4953000"/>
            <a:ext cx="677862"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sz="2000" b="1">
                <a:solidFill>
                  <a:schemeClr val="accent1"/>
                </a:solidFill>
                <a:latin typeface="Arial" pitchFamily="34" charset="0"/>
                <a:ea typeface="MS PGothic" pitchFamily="34" charset="-128"/>
              </a:defRPr>
            </a:lvl1pPr>
            <a:lvl2pPr marL="742950" indent="-285750">
              <a:defRPr sz="2000" b="1">
                <a:solidFill>
                  <a:schemeClr val="accent1"/>
                </a:solidFill>
                <a:latin typeface="Arial" pitchFamily="34" charset="0"/>
                <a:ea typeface="MS PGothic" pitchFamily="34" charset="-128"/>
              </a:defRPr>
            </a:lvl2pPr>
            <a:lvl3pPr marL="1143000" indent="-228600">
              <a:defRPr sz="2000" b="1">
                <a:solidFill>
                  <a:schemeClr val="accent1"/>
                </a:solidFill>
                <a:latin typeface="Arial" pitchFamily="34" charset="0"/>
                <a:ea typeface="MS PGothic" pitchFamily="34" charset="-128"/>
              </a:defRPr>
            </a:lvl3pPr>
            <a:lvl4pPr marL="1600200" indent="-228600">
              <a:defRPr sz="2000" b="1">
                <a:solidFill>
                  <a:schemeClr val="accent1"/>
                </a:solidFill>
                <a:latin typeface="Arial" pitchFamily="34" charset="0"/>
                <a:ea typeface="MS PGothic" pitchFamily="34" charset="-128"/>
              </a:defRPr>
            </a:lvl4pPr>
            <a:lvl5pPr marL="2057400" indent="-228600">
              <a:defRPr sz="2000" b="1">
                <a:solidFill>
                  <a:schemeClr val="accent1"/>
                </a:solidFill>
                <a:latin typeface="Arial" pitchFamily="34" charset="0"/>
                <a:ea typeface="MS PGothic" pitchFamily="34" charset="-128"/>
              </a:defRPr>
            </a:lvl5pPr>
            <a:lvl6pPr marL="25146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6pPr>
            <a:lvl7pPr marL="29718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7pPr>
            <a:lvl8pPr marL="34290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8pPr>
            <a:lvl9pPr marL="38862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9pPr>
          </a:lstStyle>
          <a:p>
            <a:pPr>
              <a:spcBef>
                <a:spcPct val="50000"/>
              </a:spcBef>
            </a:pPr>
            <a:r>
              <a:rPr lang="en-US" sz="1400" b="0">
                <a:solidFill>
                  <a:schemeClr val="tx1"/>
                </a:solidFill>
              </a:rPr>
              <a:t>C(i,j)</a:t>
            </a:r>
          </a:p>
        </p:txBody>
      </p:sp>
      <p:sp>
        <p:nvSpPr>
          <p:cNvPr id="23568" name="Text Box 15"/>
          <p:cNvSpPr txBox="1">
            <a:spLocks noChangeArrowheads="1"/>
          </p:cNvSpPr>
          <p:nvPr/>
        </p:nvSpPr>
        <p:spPr bwMode="auto">
          <a:xfrm>
            <a:off x="3522663" y="4953000"/>
            <a:ext cx="6762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sz="2000" b="1">
                <a:solidFill>
                  <a:schemeClr val="accent1"/>
                </a:solidFill>
                <a:latin typeface="Arial" pitchFamily="34" charset="0"/>
                <a:ea typeface="MS PGothic" pitchFamily="34" charset="-128"/>
              </a:defRPr>
            </a:lvl1pPr>
            <a:lvl2pPr marL="742950" indent="-285750">
              <a:defRPr sz="2000" b="1">
                <a:solidFill>
                  <a:schemeClr val="accent1"/>
                </a:solidFill>
                <a:latin typeface="Arial" pitchFamily="34" charset="0"/>
                <a:ea typeface="MS PGothic" pitchFamily="34" charset="-128"/>
              </a:defRPr>
            </a:lvl2pPr>
            <a:lvl3pPr marL="1143000" indent="-228600">
              <a:defRPr sz="2000" b="1">
                <a:solidFill>
                  <a:schemeClr val="accent1"/>
                </a:solidFill>
                <a:latin typeface="Arial" pitchFamily="34" charset="0"/>
                <a:ea typeface="MS PGothic" pitchFamily="34" charset="-128"/>
              </a:defRPr>
            </a:lvl3pPr>
            <a:lvl4pPr marL="1600200" indent="-228600">
              <a:defRPr sz="2000" b="1">
                <a:solidFill>
                  <a:schemeClr val="accent1"/>
                </a:solidFill>
                <a:latin typeface="Arial" pitchFamily="34" charset="0"/>
                <a:ea typeface="MS PGothic" pitchFamily="34" charset="-128"/>
              </a:defRPr>
            </a:lvl4pPr>
            <a:lvl5pPr marL="2057400" indent="-228600">
              <a:defRPr sz="2000" b="1">
                <a:solidFill>
                  <a:schemeClr val="accent1"/>
                </a:solidFill>
                <a:latin typeface="Arial" pitchFamily="34" charset="0"/>
                <a:ea typeface="MS PGothic" pitchFamily="34" charset="-128"/>
              </a:defRPr>
            </a:lvl5pPr>
            <a:lvl6pPr marL="25146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6pPr>
            <a:lvl7pPr marL="29718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7pPr>
            <a:lvl8pPr marL="34290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8pPr>
            <a:lvl9pPr marL="38862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9pPr>
          </a:lstStyle>
          <a:p>
            <a:pPr>
              <a:spcBef>
                <a:spcPct val="50000"/>
              </a:spcBef>
            </a:pPr>
            <a:r>
              <a:rPr lang="en-US" sz="1400" b="0">
                <a:solidFill>
                  <a:schemeClr val="tx1"/>
                </a:solidFill>
              </a:rPr>
              <a:t>C(i,j)</a:t>
            </a:r>
          </a:p>
        </p:txBody>
      </p:sp>
      <p:sp>
        <p:nvSpPr>
          <p:cNvPr id="23569" name="Text Box 16"/>
          <p:cNvSpPr txBox="1">
            <a:spLocks noChangeArrowheads="1"/>
          </p:cNvSpPr>
          <p:nvPr/>
        </p:nvSpPr>
        <p:spPr bwMode="auto">
          <a:xfrm>
            <a:off x="5486400" y="4876800"/>
            <a:ext cx="67786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sz="2000" b="1">
                <a:solidFill>
                  <a:schemeClr val="accent1"/>
                </a:solidFill>
                <a:latin typeface="Arial" pitchFamily="34" charset="0"/>
                <a:ea typeface="MS PGothic" pitchFamily="34" charset="-128"/>
              </a:defRPr>
            </a:lvl1pPr>
            <a:lvl2pPr marL="742950" indent="-285750">
              <a:defRPr sz="2000" b="1">
                <a:solidFill>
                  <a:schemeClr val="accent1"/>
                </a:solidFill>
                <a:latin typeface="Arial" pitchFamily="34" charset="0"/>
                <a:ea typeface="MS PGothic" pitchFamily="34" charset="-128"/>
              </a:defRPr>
            </a:lvl2pPr>
            <a:lvl3pPr marL="1143000" indent="-228600">
              <a:defRPr sz="2000" b="1">
                <a:solidFill>
                  <a:schemeClr val="accent1"/>
                </a:solidFill>
                <a:latin typeface="Arial" pitchFamily="34" charset="0"/>
                <a:ea typeface="MS PGothic" pitchFamily="34" charset="-128"/>
              </a:defRPr>
            </a:lvl3pPr>
            <a:lvl4pPr marL="1600200" indent="-228600">
              <a:defRPr sz="2000" b="1">
                <a:solidFill>
                  <a:schemeClr val="accent1"/>
                </a:solidFill>
                <a:latin typeface="Arial" pitchFamily="34" charset="0"/>
                <a:ea typeface="MS PGothic" pitchFamily="34" charset="-128"/>
              </a:defRPr>
            </a:lvl4pPr>
            <a:lvl5pPr marL="2057400" indent="-228600">
              <a:defRPr sz="2000" b="1">
                <a:solidFill>
                  <a:schemeClr val="accent1"/>
                </a:solidFill>
                <a:latin typeface="Arial" pitchFamily="34" charset="0"/>
                <a:ea typeface="MS PGothic" pitchFamily="34" charset="-128"/>
              </a:defRPr>
            </a:lvl5pPr>
            <a:lvl6pPr marL="25146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6pPr>
            <a:lvl7pPr marL="29718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7pPr>
            <a:lvl8pPr marL="34290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8pPr>
            <a:lvl9pPr marL="38862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9pPr>
          </a:lstStyle>
          <a:p>
            <a:pPr>
              <a:spcBef>
                <a:spcPct val="50000"/>
              </a:spcBef>
            </a:pPr>
            <a:r>
              <a:rPr lang="en-US" sz="1400" b="0">
                <a:solidFill>
                  <a:schemeClr val="tx1"/>
                </a:solidFill>
              </a:rPr>
              <a:t>A(i,k)</a:t>
            </a:r>
          </a:p>
        </p:txBody>
      </p:sp>
      <p:sp>
        <p:nvSpPr>
          <p:cNvPr id="23570" name="Text Box 17"/>
          <p:cNvSpPr txBox="1">
            <a:spLocks noChangeArrowheads="1"/>
          </p:cNvSpPr>
          <p:nvPr/>
        </p:nvSpPr>
        <p:spPr bwMode="auto">
          <a:xfrm>
            <a:off x="7043738" y="5410200"/>
            <a:ext cx="677862"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sz="2000" b="1">
                <a:solidFill>
                  <a:schemeClr val="accent1"/>
                </a:solidFill>
                <a:latin typeface="Arial" pitchFamily="34" charset="0"/>
                <a:ea typeface="MS PGothic" pitchFamily="34" charset="-128"/>
              </a:defRPr>
            </a:lvl1pPr>
            <a:lvl2pPr marL="742950" indent="-285750">
              <a:defRPr sz="2000" b="1">
                <a:solidFill>
                  <a:schemeClr val="accent1"/>
                </a:solidFill>
                <a:latin typeface="Arial" pitchFamily="34" charset="0"/>
                <a:ea typeface="MS PGothic" pitchFamily="34" charset="-128"/>
              </a:defRPr>
            </a:lvl2pPr>
            <a:lvl3pPr marL="1143000" indent="-228600">
              <a:defRPr sz="2000" b="1">
                <a:solidFill>
                  <a:schemeClr val="accent1"/>
                </a:solidFill>
                <a:latin typeface="Arial" pitchFamily="34" charset="0"/>
                <a:ea typeface="MS PGothic" pitchFamily="34" charset="-128"/>
              </a:defRPr>
            </a:lvl3pPr>
            <a:lvl4pPr marL="1600200" indent="-228600">
              <a:defRPr sz="2000" b="1">
                <a:solidFill>
                  <a:schemeClr val="accent1"/>
                </a:solidFill>
                <a:latin typeface="Arial" pitchFamily="34" charset="0"/>
                <a:ea typeface="MS PGothic" pitchFamily="34" charset="-128"/>
              </a:defRPr>
            </a:lvl4pPr>
            <a:lvl5pPr marL="2057400" indent="-228600">
              <a:defRPr sz="2000" b="1">
                <a:solidFill>
                  <a:schemeClr val="accent1"/>
                </a:solidFill>
                <a:latin typeface="Arial" pitchFamily="34" charset="0"/>
                <a:ea typeface="MS PGothic" pitchFamily="34" charset="-128"/>
              </a:defRPr>
            </a:lvl5pPr>
            <a:lvl6pPr marL="25146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6pPr>
            <a:lvl7pPr marL="29718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7pPr>
            <a:lvl8pPr marL="34290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8pPr>
            <a:lvl9pPr marL="38862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9pPr>
          </a:lstStyle>
          <a:p>
            <a:pPr>
              <a:spcBef>
                <a:spcPct val="50000"/>
              </a:spcBef>
            </a:pPr>
            <a:r>
              <a:rPr lang="en-US" sz="1400" b="0">
                <a:solidFill>
                  <a:schemeClr val="tx1"/>
                </a:solidFill>
              </a:rPr>
              <a:t>B(k,j)</a:t>
            </a:r>
          </a:p>
        </p:txBody>
      </p:sp>
      <p:sp>
        <p:nvSpPr>
          <p:cNvPr id="23571" name="Rectangle 18"/>
          <p:cNvSpPr>
            <a:spLocks noChangeArrowheads="1"/>
          </p:cNvSpPr>
          <p:nvPr/>
        </p:nvSpPr>
        <p:spPr bwMode="auto">
          <a:xfrm>
            <a:off x="3792538" y="5257800"/>
            <a:ext cx="136525" cy="152400"/>
          </a:xfrm>
          <a:prstGeom prst="rect">
            <a:avLst/>
          </a:prstGeom>
          <a:solidFill>
            <a:schemeClr val="accent1"/>
          </a:solidFill>
          <a:ln w="12700">
            <a:solidFill>
              <a:schemeClr val="tx1"/>
            </a:solidFill>
            <a:miter lim="800000"/>
            <a:headEnd/>
            <a:tailEnd/>
          </a:ln>
        </p:spPr>
        <p:txBody>
          <a:bodyPr wrap="none" anchor="ctr"/>
          <a:lstStyle/>
          <a:p>
            <a:endParaRPr lang="it-IT"/>
          </a:p>
        </p:txBody>
      </p:sp>
      <p:sp>
        <p:nvSpPr>
          <p:cNvPr id="23572" name="Rectangle 19"/>
          <p:cNvSpPr>
            <a:spLocks noChangeArrowheads="1"/>
          </p:cNvSpPr>
          <p:nvPr/>
        </p:nvSpPr>
        <p:spPr bwMode="auto">
          <a:xfrm>
            <a:off x="6908800" y="5562600"/>
            <a:ext cx="134938" cy="152400"/>
          </a:xfrm>
          <a:prstGeom prst="rect">
            <a:avLst/>
          </a:prstGeom>
          <a:solidFill>
            <a:schemeClr val="accent1"/>
          </a:solidFill>
          <a:ln w="12700">
            <a:solidFill>
              <a:schemeClr val="tx1"/>
            </a:solidFill>
            <a:miter lim="800000"/>
            <a:headEnd/>
            <a:tailEnd/>
          </a:ln>
        </p:spPr>
        <p:txBody>
          <a:bodyPr wrap="none" anchor="ctr"/>
          <a:lstStyle/>
          <a:p>
            <a:endParaRPr lang="it-IT"/>
          </a:p>
        </p:txBody>
      </p:sp>
      <p:sp>
        <p:nvSpPr>
          <p:cNvPr id="23573" name="Rectangle 20"/>
          <p:cNvSpPr>
            <a:spLocks noChangeArrowheads="1"/>
          </p:cNvSpPr>
          <p:nvPr/>
        </p:nvSpPr>
        <p:spPr bwMode="auto">
          <a:xfrm>
            <a:off x="5757863" y="5257800"/>
            <a:ext cx="134937" cy="152400"/>
          </a:xfrm>
          <a:prstGeom prst="rect">
            <a:avLst/>
          </a:prstGeom>
          <a:solidFill>
            <a:schemeClr val="accent1"/>
          </a:solidFill>
          <a:ln w="12700">
            <a:solidFill>
              <a:schemeClr val="tx1"/>
            </a:solidFill>
            <a:miter lim="800000"/>
            <a:headEnd/>
            <a:tailEnd/>
          </a:ln>
        </p:spPr>
        <p:txBody>
          <a:bodyPr wrap="none" anchor="ctr"/>
          <a:lstStyle/>
          <a:p>
            <a:endParaRPr lang="it-IT"/>
          </a:p>
        </p:txBody>
      </p:sp>
      <p:sp>
        <p:nvSpPr>
          <p:cNvPr id="2" name="TextBox 1"/>
          <p:cNvSpPr txBox="1"/>
          <p:nvPr/>
        </p:nvSpPr>
        <p:spPr>
          <a:xfrm>
            <a:off x="381000" y="5181600"/>
            <a:ext cx="794321" cy="646331"/>
          </a:xfrm>
          <a:prstGeom prst="rect">
            <a:avLst/>
          </a:prstGeom>
          <a:noFill/>
          <a:ln>
            <a:noFill/>
          </a:ln>
        </p:spPr>
        <p:txBody>
          <a:bodyPr wrap="none" rtlCol="0">
            <a:spAutoFit/>
          </a:bodyPr>
          <a:lstStyle/>
          <a:p>
            <a:pPr algn="r"/>
            <a:r>
              <a:rPr lang="en-US" dirty="0">
                <a:solidFill>
                  <a:srgbClr val="800000"/>
                </a:solidFill>
              </a:rPr>
              <a:t>b</a:t>
            </a:r>
            <a:r>
              <a:rPr lang="en-US" dirty="0" smtClean="0">
                <a:solidFill>
                  <a:srgbClr val="800000"/>
                </a:solidFill>
              </a:rPr>
              <a:t>-by-b</a:t>
            </a:r>
          </a:p>
          <a:p>
            <a:r>
              <a:rPr lang="en-US" dirty="0" smtClean="0">
                <a:solidFill>
                  <a:srgbClr val="800000"/>
                </a:solidFill>
              </a:rPr>
              <a:t>block</a:t>
            </a:r>
            <a:endParaRPr lang="en-US" dirty="0">
              <a:solidFill>
                <a:srgbClr val="800000"/>
              </a:solidFill>
            </a:endParaRPr>
          </a:p>
        </p:txBody>
      </p:sp>
      <p:cxnSp>
        <p:nvCxnSpPr>
          <p:cNvPr id="4" name="Straight Arrow Connector 3"/>
          <p:cNvCxnSpPr/>
          <p:nvPr/>
        </p:nvCxnSpPr>
        <p:spPr>
          <a:xfrm flipV="1">
            <a:off x="1143000" y="5334000"/>
            <a:ext cx="653479" cy="170766"/>
          </a:xfrm>
          <a:prstGeom prst="straightConnector1">
            <a:avLst/>
          </a:prstGeom>
          <a:ln>
            <a:solidFill>
              <a:srgbClr val="800000"/>
            </a:solidFill>
            <a:tailEnd type="arrow"/>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51632553"/>
      </p:ext>
    </p:extLst>
  </p:cSld>
  <p:clrMapOvr>
    <a:masterClrMapping/>
  </p:clrMapOvr>
  <p:timing>
    <p:tnLst>
      <p:par>
        <p:cTn xmlns:p14="http://schemas.microsoft.com/office/powerpoint/2010/mai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chemeClr val="accent1"/>
                </a:solidFill>
                <a:latin typeface="Arial" pitchFamily="34" charset="0"/>
                <a:ea typeface="MS PGothic" pitchFamily="34" charset="-128"/>
              </a:defRPr>
            </a:lvl1pPr>
            <a:lvl2pPr marL="742950" indent="-285750">
              <a:defRPr sz="2000" b="1">
                <a:solidFill>
                  <a:schemeClr val="accent1"/>
                </a:solidFill>
                <a:latin typeface="Arial" pitchFamily="34" charset="0"/>
                <a:ea typeface="MS PGothic" pitchFamily="34" charset="-128"/>
              </a:defRPr>
            </a:lvl2pPr>
            <a:lvl3pPr marL="1143000" indent="-228600">
              <a:defRPr sz="2000" b="1">
                <a:solidFill>
                  <a:schemeClr val="accent1"/>
                </a:solidFill>
                <a:latin typeface="Arial" pitchFamily="34" charset="0"/>
                <a:ea typeface="MS PGothic" pitchFamily="34" charset="-128"/>
              </a:defRPr>
            </a:lvl3pPr>
            <a:lvl4pPr marL="1600200" indent="-228600">
              <a:defRPr sz="2000" b="1">
                <a:solidFill>
                  <a:schemeClr val="accent1"/>
                </a:solidFill>
                <a:latin typeface="Arial" pitchFamily="34" charset="0"/>
                <a:ea typeface="MS PGothic" pitchFamily="34" charset="-128"/>
              </a:defRPr>
            </a:lvl4pPr>
            <a:lvl5pPr marL="2057400" indent="-228600">
              <a:defRPr sz="2000" b="1">
                <a:solidFill>
                  <a:schemeClr val="accent1"/>
                </a:solidFill>
                <a:latin typeface="Arial" pitchFamily="34" charset="0"/>
                <a:ea typeface="MS PGothic" pitchFamily="34" charset="-128"/>
              </a:defRPr>
            </a:lvl5pPr>
            <a:lvl6pPr marL="25146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6pPr>
            <a:lvl7pPr marL="29718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7pPr>
            <a:lvl8pPr marL="34290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8pPr>
            <a:lvl9pPr marL="38862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9pPr>
          </a:lstStyle>
          <a:p>
            <a:fld id="{8DB8727E-1D2B-414C-A904-A942F4283944}" type="slidenum">
              <a:rPr lang="en-US" sz="1400" b="0" smtClean="0">
                <a:solidFill>
                  <a:schemeClr val="tx1"/>
                </a:solidFill>
                <a:latin typeface="Helvetica" charset="0"/>
              </a:rPr>
              <a:pPr/>
              <a:t>14</a:t>
            </a:fld>
            <a:endParaRPr lang="en-US" sz="1400" b="0" smtClean="0">
              <a:solidFill>
                <a:schemeClr val="tx1"/>
              </a:solidFill>
              <a:latin typeface="Helvetica" charset="0"/>
            </a:endParaRPr>
          </a:p>
        </p:txBody>
      </p:sp>
      <p:sp>
        <p:nvSpPr>
          <p:cNvPr id="23555" name="Rectangle 2"/>
          <p:cNvSpPr>
            <a:spLocks noGrp="1" noChangeArrowheads="1"/>
          </p:cNvSpPr>
          <p:nvPr>
            <p:ph type="title"/>
          </p:nvPr>
        </p:nvSpPr>
        <p:spPr>
          <a:xfrm>
            <a:off x="808038" y="309563"/>
            <a:ext cx="7878762" cy="422275"/>
          </a:xfrm>
        </p:spPr>
        <p:txBody>
          <a:bodyPr>
            <a:normAutofit fontScale="90000"/>
          </a:bodyPr>
          <a:lstStyle/>
          <a:p>
            <a:r>
              <a:rPr lang="en-US" dirty="0" smtClean="0"/>
              <a:t>Blocked (Tiled) Matrix Multiply</a:t>
            </a:r>
          </a:p>
        </p:txBody>
      </p:sp>
      <p:sp>
        <p:nvSpPr>
          <p:cNvPr id="23556" name="Rectangle 3"/>
          <p:cNvSpPr>
            <a:spLocks noGrp="1" noChangeArrowheads="1"/>
          </p:cNvSpPr>
          <p:nvPr>
            <p:ph type="body" idx="1"/>
          </p:nvPr>
        </p:nvSpPr>
        <p:spPr>
          <a:xfrm>
            <a:off x="304800" y="1038225"/>
            <a:ext cx="8534400" cy="3476625"/>
          </a:xfrm>
          <a:ln>
            <a:solidFill>
              <a:srgbClr val="000066"/>
            </a:solidFill>
            <a:miter lim="800000"/>
            <a:headEnd/>
            <a:tailEnd/>
          </a:ln>
        </p:spPr>
        <p:txBody>
          <a:bodyPr>
            <a:normAutofit lnSpcReduction="10000"/>
          </a:bodyPr>
          <a:lstStyle/>
          <a:p>
            <a:pPr>
              <a:buNone/>
            </a:pPr>
            <a:r>
              <a:rPr lang="en-US" sz="2000" dirty="0" smtClean="0"/>
              <a:t>Consider A,B,C to be n/b-by-n/b matrices of b-by-b </a:t>
            </a:r>
            <a:r>
              <a:rPr lang="en-US" sz="2000" dirty="0" err="1" smtClean="0"/>
              <a:t>subblocks</a:t>
            </a:r>
            <a:r>
              <a:rPr lang="en-US" sz="2000" dirty="0" smtClean="0"/>
              <a:t> where                             b is called the </a:t>
            </a:r>
            <a:r>
              <a:rPr lang="en-US" sz="2000" dirty="0" smtClean="0">
                <a:solidFill>
                  <a:schemeClr val="accent2"/>
                </a:solidFill>
              </a:rPr>
              <a:t>block </a:t>
            </a:r>
            <a:r>
              <a:rPr lang="en-US" sz="2000" dirty="0">
                <a:solidFill>
                  <a:schemeClr val="accent2"/>
                </a:solidFill>
              </a:rPr>
              <a:t>size;    assume 3 b-by-b blocks fit in fast </a:t>
            </a:r>
            <a:r>
              <a:rPr lang="en-US" sz="2000" dirty="0" smtClean="0">
                <a:solidFill>
                  <a:schemeClr val="accent2"/>
                </a:solidFill>
              </a:rPr>
              <a:t>memory </a:t>
            </a:r>
            <a:endParaRPr lang="en-US" sz="2000" dirty="0" smtClean="0"/>
          </a:p>
          <a:p>
            <a:pPr>
              <a:buFontTx/>
              <a:buNone/>
            </a:pPr>
            <a:r>
              <a:rPr lang="en-US" sz="2000" dirty="0" smtClean="0"/>
              <a:t>	   for </a:t>
            </a:r>
            <a:r>
              <a:rPr lang="en-US" sz="2000" dirty="0" err="1" smtClean="0"/>
              <a:t>i</a:t>
            </a:r>
            <a:r>
              <a:rPr lang="en-US" sz="2000" dirty="0" smtClean="0"/>
              <a:t> = 1 to n/b</a:t>
            </a:r>
          </a:p>
          <a:p>
            <a:pPr>
              <a:buFontTx/>
              <a:buNone/>
            </a:pPr>
            <a:r>
              <a:rPr lang="en-US" sz="2000" dirty="0" smtClean="0"/>
              <a:t> 	      for j = 1 to n/b</a:t>
            </a:r>
          </a:p>
          <a:p>
            <a:pPr>
              <a:buFontTx/>
              <a:buNone/>
            </a:pPr>
            <a:r>
              <a:rPr lang="en-US" sz="2000" dirty="0" smtClean="0"/>
              <a:t>       	</a:t>
            </a:r>
            <a:r>
              <a:rPr lang="en-US" sz="2000" dirty="0" smtClean="0">
                <a:solidFill>
                  <a:schemeClr val="accent2"/>
                </a:solidFill>
              </a:rPr>
              <a:t>{read block C(</a:t>
            </a:r>
            <a:r>
              <a:rPr lang="en-US" sz="2000" dirty="0" err="1" smtClean="0">
                <a:solidFill>
                  <a:schemeClr val="accent2"/>
                </a:solidFill>
              </a:rPr>
              <a:t>i,j</a:t>
            </a:r>
            <a:r>
              <a:rPr lang="en-US" sz="2000" dirty="0" smtClean="0">
                <a:solidFill>
                  <a:schemeClr val="accent2"/>
                </a:solidFill>
              </a:rPr>
              <a:t>) into fast memory}            … b</a:t>
            </a:r>
            <a:r>
              <a:rPr lang="en-US" sz="2000" baseline="30000" dirty="0" smtClean="0">
                <a:solidFill>
                  <a:schemeClr val="accent2"/>
                </a:solidFill>
              </a:rPr>
              <a:t>2</a:t>
            </a:r>
            <a:r>
              <a:rPr lang="en-US" sz="2000" dirty="0" smtClean="0">
                <a:solidFill>
                  <a:schemeClr val="accent2"/>
                </a:solidFill>
              </a:rPr>
              <a:t> × (n/b)</a:t>
            </a:r>
            <a:r>
              <a:rPr lang="en-US" sz="2000" baseline="30000" dirty="0" smtClean="0">
                <a:solidFill>
                  <a:schemeClr val="accent2"/>
                </a:solidFill>
              </a:rPr>
              <a:t>2</a:t>
            </a:r>
            <a:r>
              <a:rPr lang="en-US" sz="2000" dirty="0" smtClean="0">
                <a:solidFill>
                  <a:schemeClr val="accent2"/>
                </a:solidFill>
              </a:rPr>
              <a:t> = n</a:t>
            </a:r>
            <a:r>
              <a:rPr lang="en-US" sz="2000" baseline="30000" dirty="0" smtClean="0">
                <a:solidFill>
                  <a:schemeClr val="accent2"/>
                </a:solidFill>
              </a:rPr>
              <a:t>2</a:t>
            </a:r>
            <a:r>
              <a:rPr lang="en-US" sz="2000" dirty="0" smtClean="0">
                <a:solidFill>
                  <a:schemeClr val="accent2"/>
                </a:solidFill>
              </a:rPr>
              <a:t> reads</a:t>
            </a:r>
          </a:p>
          <a:p>
            <a:pPr>
              <a:buFontTx/>
              <a:buNone/>
            </a:pPr>
            <a:r>
              <a:rPr lang="en-US" sz="2000" dirty="0" smtClean="0"/>
              <a:t>       	for k = 1 to n/b</a:t>
            </a:r>
          </a:p>
          <a:p>
            <a:pPr>
              <a:buNone/>
            </a:pPr>
            <a:r>
              <a:rPr lang="en-US" sz="2000" dirty="0" smtClean="0"/>
              <a:t>           	       </a:t>
            </a:r>
            <a:r>
              <a:rPr lang="en-US" sz="2000" dirty="0" smtClean="0">
                <a:solidFill>
                  <a:schemeClr val="accent2"/>
                </a:solidFill>
              </a:rPr>
              <a:t>{read block A(</a:t>
            </a:r>
            <a:r>
              <a:rPr lang="en-US" sz="2000" dirty="0" err="1" smtClean="0">
                <a:solidFill>
                  <a:schemeClr val="accent2"/>
                </a:solidFill>
              </a:rPr>
              <a:t>i,k</a:t>
            </a:r>
            <a:r>
              <a:rPr lang="en-US" sz="2000" dirty="0" smtClean="0">
                <a:solidFill>
                  <a:schemeClr val="accent2"/>
                </a:solidFill>
              </a:rPr>
              <a:t>) into fast memory</a:t>
            </a:r>
            <a:r>
              <a:rPr lang="en-US" sz="2000" dirty="0">
                <a:solidFill>
                  <a:schemeClr val="accent2"/>
                </a:solidFill>
              </a:rPr>
              <a:t>} </a:t>
            </a:r>
            <a:r>
              <a:rPr lang="en-US" sz="2000" dirty="0" smtClean="0">
                <a:solidFill>
                  <a:schemeClr val="accent2"/>
                </a:solidFill>
              </a:rPr>
              <a:t>   … </a:t>
            </a:r>
            <a:r>
              <a:rPr lang="en-US" sz="2000" dirty="0">
                <a:solidFill>
                  <a:schemeClr val="accent2"/>
                </a:solidFill>
              </a:rPr>
              <a:t>b</a:t>
            </a:r>
            <a:r>
              <a:rPr lang="en-US" sz="2000" baseline="30000" dirty="0">
                <a:solidFill>
                  <a:schemeClr val="accent2"/>
                </a:solidFill>
              </a:rPr>
              <a:t>2</a:t>
            </a:r>
            <a:r>
              <a:rPr lang="en-US" sz="2000" dirty="0">
                <a:solidFill>
                  <a:schemeClr val="accent2"/>
                </a:solidFill>
              </a:rPr>
              <a:t> × (n/b</a:t>
            </a:r>
            <a:r>
              <a:rPr lang="en-US" sz="2000" dirty="0" smtClean="0">
                <a:solidFill>
                  <a:schemeClr val="accent2"/>
                </a:solidFill>
              </a:rPr>
              <a:t>)</a:t>
            </a:r>
            <a:r>
              <a:rPr lang="en-US" sz="2000" baseline="30000" dirty="0" smtClean="0">
                <a:solidFill>
                  <a:schemeClr val="accent2"/>
                </a:solidFill>
              </a:rPr>
              <a:t>3</a:t>
            </a:r>
            <a:r>
              <a:rPr lang="en-US" sz="2000" dirty="0" smtClean="0">
                <a:solidFill>
                  <a:schemeClr val="accent2"/>
                </a:solidFill>
              </a:rPr>
              <a:t> </a:t>
            </a:r>
            <a:r>
              <a:rPr lang="en-US" sz="2000" dirty="0">
                <a:solidFill>
                  <a:schemeClr val="accent2"/>
                </a:solidFill>
              </a:rPr>
              <a:t>= </a:t>
            </a:r>
            <a:r>
              <a:rPr lang="en-US" sz="2000" dirty="0" smtClean="0">
                <a:solidFill>
                  <a:schemeClr val="accent2"/>
                </a:solidFill>
              </a:rPr>
              <a:t>n</a:t>
            </a:r>
            <a:r>
              <a:rPr lang="en-US" sz="2000" baseline="30000" dirty="0" smtClean="0">
                <a:solidFill>
                  <a:schemeClr val="accent2"/>
                </a:solidFill>
              </a:rPr>
              <a:t>3</a:t>
            </a:r>
            <a:r>
              <a:rPr lang="en-US" sz="2000" dirty="0" smtClean="0">
                <a:solidFill>
                  <a:schemeClr val="accent2"/>
                </a:solidFill>
              </a:rPr>
              <a:t>/b reads  </a:t>
            </a:r>
          </a:p>
          <a:p>
            <a:pPr>
              <a:buFontTx/>
              <a:buNone/>
            </a:pPr>
            <a:r>
              <a:rPr lang="en-US" sz="2000" dirty="0" smtClean="0">
                <a:solidFill>
                  <a:schemeClr val="accent2"/>
                </a:solidFill>
              </a:rPr>
              <a:t>           	       {read block B(</a:t>
            </a:r>
            <a:r>
              <a:rPr lang="en-US" sz="2000" dirty="0" err="1" smtClean="0">
                <a:solidFill>
                  <a:schemeClr val="accent2"/>
                </a:solidFill>
              </a:rPr>
              <a:t>k,j</a:t>
            </a:r>
            <a:r>
              <a:rPr lang="en-US" sz="2000" dirty="0" smtClean="0">
                <a:solidFill>
                  <a:schemeClr val="accent2"/>
                </a:solidFill>
              </a:rPr>
              <a:t>) into fast memory}    </a:t>
            </a:r>
            <a:r>
              <a:rPr lang="en-US" sz="2000" dirty="0">
                <a:solidFill>
                  <a:schemeClr val="accent2"/>
                </a:solidFill>
              </a:rPr>
              <a:t>… b</a:t>
            </a:r>
            <a:r>
              <a:rPr lang="en-US" sz="2000" baseline="30000" dirty="0">
                <a:solidFill>
                  <a:schemeClr val="accent2"/>
                </a:solidFill>
              </a:rPr>
              <a:t>2</a:t>
            </a:r>
            <a:r>
              <a:rPr lang="en-US" sz="2000" dirty="0">
                <a:solidFill>
                  <a:schemeClr val="accent2"/>
                </a:solidFill>
              </a:rPr>
              <a:t> × (n/b)</a:t>
            </a:r>
            <a:r>
              <a:rPr lang="en-US" sz="2000" baseline="30000" dirty="0">
                <a:solidFill>
                  <a:schemeClr val="accent2"/>
                </a:solidFill>
              </a:rPr>
              <a:t>3</a:t>
            </a:r>
            <a:r>
              <a:rPr lang="en-US" sz="2000" dirty="0">
                <a:solidFill>
                  <a:schemeClr val="accent2"/>
                </a:solidFill>
              </a:rPr>
              <a:t> = n</a:t>
            </a:r>
            <a:r>
              <a:rPr lang="en-US" sz="2000" baseline="30000" dirty="0">
                <a:solidFill>
                  <a:schemeClr val="accent2"/>
                </a:solidFill>
              </a:rPr>
              <a:t>3</a:t>
            </a:r>
            <a:r>
              <a:rPr lang="en-US" sz="2000" dirty="0">
                <a:solidFill>
                  <a:schemeClr val="accent2"/>
                </a:solidFill>
              </a:rPr>
              <a:t>/b reads </a:t>
            </a:r>
            <a:endParaRPr lang="en-US" sz="2000" dirty="0" smtClean="0">
              <a:solidFill>
                <a:schemeClr val="accent2"/>
              </a:solidFill>
            </a:endParaRPr>
          </a:p>
          <a:p>
            <a:pPr>
              <a:buFontTx/>
              <a:buNone/>
            </a:pPr>
            <a:r>
              <a:rPr lang="en-US" sz="2000" dirty="0" smtClean="0"/>
              <a:t>          	        C(</a:t>
            </a:r>
            <a:r>
              <a:rPr lang="en-US" sz="2000" dirty="0" err="1" smtClean="0"/>
              <a:t>i,j</a:t>
            </a:r>
            <a:r>
              <a:rPr lang="en-US" sz="2000" dirty="0" smtClean="0"/>
              <a:t>) = C(</a:t>
            </a:r>
            <a:r>
              <a:rPr lang="en-US" sz="2000" dirty="0" err="1" smtClean="0"/>
              <a:t>i,j</a:t>
            </a:r>
            <a:r>
              <a:rPr lang="en-US" sz="2000" dirty="0" smtClean="0"/>
              <a:t>) + A(</a:t>
            </a:r>
            <a:r>
              <a:rPr lang="en-US" sz="2000" dirty="0" err="1" smtClean="0"/>
              <a:t>i,k</a:t>
            </a:r>
            <a:r>
              <a:rPr lang="en-US" sz="2000" dirty="0" smtClean="0"/>
              <a:t>) * B(</a:t>
            </a:r>
            <a:r>
              <a:rPr lang="en-US" sz="2000" dirty="0" err="1" smtClean="0"/>
              <a:t>k,j</a:t>
            </a:r>
            <a:r>
              <a:rPr lang="en-US" sz="2000" dirty="0" smtClean="0"/>
              <a:t>) {do a matrix multiply on blocks}</a:t>
            </a:r>
          </a:p>
          <a:p>
            <a:pPr>
              <a:buNone/>
            </a:pPr>
            <a:r>
              <a:rPr lang="en-US" sz="2000" dirty="0" smtClean="0"/>
              <a:t>      	 </a:t>
            </a:r>
            <a:r>
              <a:rPr lang="en-US" sz="2000" dirty="0" smtClean="0">
                <a:solidFill>
                  <a:schemeClr val="accent2"/>
                </a:solidFill>
              </a:rPr>
              <a:t>{write block C(</a:t>
            </a:r>
            <a:r>
              <a:rPr lang="en-US" sz="2000" dirty="0" err="1" smtClean="0">
                <a:solidFill>
                  <a:schemeClr val="accent2"/>
                </a:solidFill>
              </a:rPr>
              <a:t>i,j</a:t>
            </a:r>
            <a:r>
              <a:rPr lang="en-US" sz="2000" dirty="0" smtClean="0">
                <a:solidFill>
                  <a:schemeClr val="accent2"/>
                </a:solidFill>
              </a:rPr>
              <a:t>) back to slow memory</a:t>
            </a:r>
            <a:r>
              <a:rPr lang="en-US" sz="2000" dirty="0">
                <a:solidFill>
                  <a:schemeClr val="accent2"/>
                </a:solidFill>
              </a:rPr>
              <a:t>} </a:t>
            </a:r>
            <a:r>
              <a:rPr lang="en-US" sz="2000" dirty="0" smtClean="0">
                <a:solidFill>
                  <a:schemeClr val="accent2"/>
                </a:solidFill>
              </a:rPr>
              <a:t> … </a:t>
            </a:r>
            <a:r>
              <a:rPr lang="en-US" sz="2000" dirty="0">
                <a:solidFill>
                  <a:schemeClr val="accent2"/>
                </a:solidFill>
              </a:rPr>
              <a:t>b</a:t>
            </a:r>
            <a:r>
              <a:rPr lang="en-US" sz="2000" baseline="30000" dirty="0">
                <a:solidFill>
                  <a:schemeClr val="accent2"/>
                </a:solidFill>
              </a:rPr>
              <a:t>2</a:t>
            </a:r>
            <a:r>
              <a:rPr lang="en-US" sz="2000" dirty="0">
                <a:solidFill>
                  <a:schemeClr val="accent2"/>
                </a:solidFill>
              </a:rPr>
              <a:t> × (n/b)</a:t>
            </a:r>
            <a:r>
              <a:rPr lang="en-US" sz="2000" baseline="30000" dirty="0">
                <a:solidFill>
                  <a:schemeClr val="accent2"/>
                </a:solidFill>
              </a:rPr>
              <a:t>2</a:t>
            </a:r>
            <a:r>
              <a:rPr lang="en-US" sz="2000" dirty="0">
                <a:solidFill>
                  <a:schemeClr val="accent2"/>
                </a:solidFill>
              </a:rPr>
              <a:t> = n</a:t>
            </a:r>
            <a:r>
              <a:rPr lang="en-US" sz="2000" baseline="30000" dirty="0">
                <a:solidFill>
                  <a:schemeClr val="accent2"/>
                </a:solidFill>
              </a:rPr>
              <a:t>2</a:t>
            </a:r>
            <a:r>
              <a:rPr lang="en-US" sz="2000" dirty="0">
                <a:solidFill>
                  <a:schemeClr val="accent2"/>
                </a:solidFill>
              </a:rPr>
              <a:t> </a:t>
            </a:r>
            <a:r>
              <a:rPr lang="en-US" sz="2000" dirty="0" smtClean="0">
                <a:solidFill>
                  <a:schemeClr val="accent2"/>
                </a:solidFill>
              </a:rPr>
              <a:t>writes</a:t>
            </a:r>
            <a:endParaRPr lang="en-US" sz="2000" dirty="0">
              <a:solidFill>
                <a:schemeClr val="accent2"/>
              </a:solidFill>
            </a:endParaRPr>
          </a:p>
          <a:p>
            <a:pPr>
              <a:buFontTx/>
              <a:buNone/>
            </a:pPr>
            <a:endParaRPr lang="en-US" sz="2000" dirty="0" smtClean="0"/>
          </a:p>
        </p:txBody>
      </p:sp>
      <p:sp>
        <p:nvSpPr>
          <p:cNvPr id="23557" name="Rectangle 4"/>
          <p:cNvSpPr>
            <a:spLocks noChangeArrowheads="1"/>
          </p:cNvSpPr>
          <p:nvPr/>
        </p:nvSpPr>
        <p:spPr bwMode="auto">
          <a:xfrm>
            <a:off x="1422400" y="4724400"/>
            <a:ext cx="1150938" cy="12954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it-IT"/>
          </a:p>
        </p:txBody>
      </p:sp>
      <p:sp>
        <p:nvSpPr>
          <p:cNvPr id="23558" name="Rectangle 5"/>
          <p:cNvSpPr>
            <a:spLocks noChangeArrowheads="1"/>
          </p:cNvSpPr>
          <p:nvPr/>
        </p:nvSpPr>
        <p:spPr bwMode="auto">
          <a:xfrm>
            <a:off x="3454400" y="4724400"/>
            <a:ext cx="1150938" cy="12954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it-IT"/>
          </a:p>
        </p:txBody>
      </p:sp>
      <p:sp>
        <p:nvSpPr>
          <p:cNvPr id="23559" name="Rectangle 6"/>
          <p:cNvSpPr>
            <a:spLocks noChangeArrowheads="1"/>
          </p:cNvSpPr>
          <p:nvPr/>
        </p:nvSpPr>
        <p:spPr bwMode="auto">
          <a:xfrm>
            <a:off x="5080000" y="4724400"/>
            <a:ext cx="1150938" cy="12954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it-IT"/>
          </a:p>
        </p:txBody>
      </p:sp>
      <p:sp>
        <p:nvSpPr>
          <p:cNvPr id="23560" name="Rectangle 7"/>
          <p:cNvSpPr>
            <a:spLocks noChangeArrowheads="1"/>
          </p:cNvSpPr>
          <p:nvPr/>
        </p:nvSpPr>
        <p:spPr bwMode="auto">
          <a:xfrm>
            <a:off x="6637338" y="4724400"/>
            <a:ext cx="1152525" cy="12954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it-IT"/>
          </a:p>
        </p:txBody>
      </p:sp>
      <p:sp>
        <p:nvSpPr>
          <p:cNvPr id="23561" name="Text Box 8"/>
          <p:cNvSpPr txBox="1">
            <a:spLocks noChangeArrowheads="1"/>
          </p:cNvSpPr>
          <p:nvPr/>
        </p:nvSpPr>
        <p:spPr bwMode="auto">
          <a:xfrm>
            <a:off x="2709863" y="5257800"/>
            <a:ext cx="5413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sz="2000" b="1">
                <a:solidFill>
                  <a:schemeClr val="accent1"/>
                </a:solidFill>
                <a:latin typeface="Arial" pitchFamily="34" charset="0"/>
                <a:ea typeface="MS PGothic" pitchFamily="34" charset="-128"/>
              </a:defRPr>
            </a:lvl1pPr>
            <a:lvl2pPr marL="742950" indent="-285750">
              <a:defRPr sz="2000" b="1">
                <a:solidFill>
                  <a:schemeClr val="accent1"/>
                </a:solidFill>
                <a:latin typeface="Arial" pitchFamily="34" charset="0"/>
                <a:ea typeface="MS PGothic" pitchFamily="34" charset="-128"/>
              </a:defRPr>
            </a:lvl2pPr>
            <a:lvl3pPr marL="1143000" indent="-228600">
              <a:defRPr sz="2000" b="1">
                <a:solidFill>
                  <a:schemeClr val="accent1"/>
                </a:solidFill>
                <a:latin typeface="Arial" pitchFamily="34" charset="0"/>
                <a:ea typeface="MS PGothic" pitchFamily="34" charset="-128"/>
              </a:defRPr>
            </a:lvl3pPr>
            <a:lvl4pPr marL="1600200" indent="-228600">
              <a:defRPr sz="2000" b="1">
                <a:solidFill>
                  <a:schemeClr val="accent1"/>
                </a:solidFill>
                <a:latin typeface="Arial" pitchFamily="34" charset="0"/>
                <a:ea typeface="MS PGothic" pitchFamily="34" charset="-128"/>
              </a:defRPr>
            </a:lvl4pPr>
            <a:lvl5pPr marL="2057400" indent="-228600">
              <a:defRPr sz="2000" b="1">
                <a:solidFill>
                  <a:schemeClr val="accent1"/>
                </a:solidFill>
                <a:latin typeface="Arial" pitchFamily="34" charset="0"/>
                <a:ea typeface="MS PGothic" pitchFamily="34" charset="-128"/>
              </a:defRPr>
            </a:lvl5pPr>
            <a:lvl6pPr marL="25146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6pPr>
            <a:lvl7pPr marL="29718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7pPr>
            <a:lvl8pPr marL="34290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8pPr>
            <a:lvl9pPr marL="38862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9pPr>
          </a:lstStyle>
          <a:p>
            <a:pPr>
              <a:spcBef>
                <a:spcPct val="50000"/>
              </a:spcBef>
            </a:pPr>
            <a:r>
              <a:rPr lang="en-US" sz="2400">
                <a:solidFill>
                  <a:schemeClr val="tx1"/>
                </a:solidFill>
              </a:rPr>
              <a:t>=</a:t>
            </a:r>
          </a:p>
        </p:txBody>
      </p:sp>
      <p:sp>
        <p:nvSpPr>
          <p:cNvPr id="23562" name="Text Box 9"/>
          <p:cNvSpPr txBox="1">
            <a:spLocks noChangeArrowheads="1"/>
          </p:cNvSpPr>
          <p:nvPr/>
        </p:nvSpPr>
        <p:spPr bwMode="auto">
          <a:xfrm>
            <a:off x="4673600" y="5257800"/>
            <a:ext cx="2714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sz="2000" b="1">
                <a:solidFill>
                  <a:schemeClr val="accent1"/>
                </a:solidFill>
                <a:latin typeface="Arial" pitchFamily="34" charset="0"/>
                <a:ea typeface="MS PGothic" pitchFamily="34" charset="-128"/>
              </a:defRPr>
            </a:lvl1pPr>
            <a:lvl2pPr marL="742950" indent="-285750">
              <a:defRPr sz="2000" b="1">
                <a:solidFill>
                  <a:schemeClr val="accent1"/>
                </a:solidFill>
                <a:latin typeface="Arial" pitchFamily="34" charset="0"/>
                <a:ea typeface="MS PGothic" pitchFamily="34" charset="-128"/>
              </a:defRPr>
            </a:lvl2pPr>
            <a:lvl3pPr marL="1143000" indent="-228600">
              <a:defRPr sz="2000" b="1">
                <a:solidFill>
                  <a:schemeClr val="accent1"/>
                </a:solidFill>
                <a:latin typeface="Arial" pitchFamily="34" charset="0"/>
                <a:ea typeface="MS PGothic" pitchFamily="34" charset="-128"/>
              </a:defRPr>
            </a:lvl3pPr>
            <a:lvl4pPr marL="1600200" indent="-228600">
              <a:defRPr sz="2000" b="1">
                <a:solidFill>
                  <a:schemeClr val="accent1"/>
                </a:solidFill>
                <a:latin typeface="Arial" pitchFamily="34" charset="0"/>
                <a:ea typeface="MS PGothic" pitchFamily="34" charset="-128"/>
              </a:defRPr>
            </a:lvl4pPr>
            <a:lvl5pPr marL="2057400" indent="-228600">
              <a:defRPr sz="2000" b="1">
                <a:solidFill>
                  <a:schemeClr val="accent1"/>
                </a:solidFill>
                <a:latin typeface="Arial" pitchFamily="34" charset="0"/>
                <a:ea typeface="MS PGothic" pitchFamily="34" charset="-128"/>
              </a:defRPr>
            </a:lvl5pPr>
            <a:lvl6pPr marL="25146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6pPr>
            <a:lvl7pPr marL="29718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7pPr>
            <a:lvl8pPr marL="34290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8pPr>
            <a:lvl9pPr marL="38862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9pPr>
          </a:lstStyle>
          <a:p>
            <a:pPr>
              <a:spcBef>
                <a:spcPct val="50000"/>
              </a:spcBef>
            </a:pPr>
            <a:r>
              <a:rPr lang="en-US" sz="2400">
                <a:solidFill>
                  <a:schemeClr val="tx1"/>
                </a:solidFill>
              </a:rPr>
              <a:t>+</a:t>
            </a:r>
          </a:p>
        </p:txBody>
      </p:sp>
      <p:sp>
        <p:nvSpPr>
          <p:cNvPr id="23563" name="Text Box 10"/>
          <p:cNvSpPr txBox="1">
            <a:spLocks noChangeArrowheads="1"/>
          </p:cNvSpPr>
          <p:nvPr/>
        </p:nvSpPr>
        <p:spPr bwMode="auto">
          <a:xfrm>
            <a:off x="6230938" y="5257800"/>
            <a:ext cx="1635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sz="2000" b="1">
                <a:solidFill>
                  <a:schemeClr val="accent1"/>
                </a:solidFill>
                <a:latin typeface="Arial" pitchFamily="34" charset="0"/>
                <a:ea typeface="MS PGothic" pitchFamily="34" charset="-128"/>
              </a:defRPr>
            </a:lvl1pPr>
            <a:lvl2pPr marL="742950" indent="-285750">
              <a:defRPr sz="2000" b="1">
                <a:solidFill>
                  <a:schemeClr val="accent1"/>
                </a:solidFill>
                <a:latin typeface="Arial" pitchFamily="34" charset="0"/>
                <a:ea typeface="MS PGothic" pitchFamily="34" charset="-128"/>
              </a:defRPr>
            </a:lvl2pPr>
            <a:lvl3pPr marL="1143000" indent="-228600">
              <a:defRPr sz="2000" b="1">
                <a:solidFill>
                  <a:schemeClr val="accent1"/>
                </a:solidFill>
                <a:latin typeface="Arial" pitchFamily="34" charset="0"/>
                <a:ea typeface="MS PGothic" pitchFamily="34" charset="-128"/>
              </a:defRPr>
            </a:lvl3pPr>
            <a:lvl4pPr marL="1600200" indent="-228600">
              <a:defRPr sz="2000" b="1">
                <a:solidFill>
                  <a:schemeClr val="accent1"/>
                </a:solidFill>
                <a:latin typeface="Arial" pitchFamily="34" charset="0"/>
                <a:ea typeface="MS PGothic" pitchFamily="34" charset="-128"/>
              </a:defRPr>
            </a:lvl4pPr>
            <a:lvl5pPr marL="2057400" indent="-228600">
              <a:defRPr sz="2000" b="1">
                <a:solidFill>
                  <a:schemeClr val="accent1"/>
                </a:solidFill>
                <a:latin typeface="Arial" pitchFamily="34" charset="0"/>
                <a:ea typeface="MS PGothic" pitchFamily="34" charset="-128"/>
              </a:defRPr>
            </a:lvl5pPr>
            <a:lvl6pPr marL="25146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6pPr>
            <a:lvl7pPr marL="29718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7pPr>
            <a:lvl8pPr marL="34290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8pPr>
            <a:lvl9pPr marL="38862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9pPr>
          </a:lstStyle>
          <a:p>
            <a:pPr>
              <a:spcBef>
                <a:spcPct val="50000"/>
              </a:spcBef>
            </a:pPr>
            <a:r>
              <a:rPr lang="en-US" sz="2400">
                <a:solidFill>
                  <a:schemeClr val="tx1"/>
                </a:solidFill>
              </a:rPr>
              <a:t>*</a:t>
            </a:r>
          </a:p>
        </p:txBody>
      </p:sp>
      <p:sp>
        <p:nvSpPr>
          <p:cNvPr id="23564" name="Rectangle 11"/>
          <p:cNvSpPr>
            <a:spLocks noChangeArrowheads="1"/>
          </p:cNvSpPr>
          <p:nvPr/>
        </p:nvSpPr>
        <p:spPr bwMode="auto">
          <a:xfrm>
            <a:off x="1828800" y="5257800"/>
            <a:ext cx="134938" cy="152400"/>
          </a:xfrm>
          <a:prstGeom prst="rect">
            <a:avLst/>
          </a:prstGeom>
          <a:solidFill>
            <a:schemeClr val="accent1"/>
          </a:solidFill>
          <a:ln w="12700">
            <a:solidFill>
              <a:schemeClr val="tx1"/>
            </a:solidFill>
            <a:miter lim="800000"/>
            <a:headEnd/>
            <a:tailEnd/>
          </a:ln>
        </p:spPr>
        <p:txBody>
          <a:bodyPr wrap="none" anchor="ctr"/>
          <a:lstStyle/>
          <a:p>
            <a:endParaRPr lang="it-IT"/>
          </a:p>
        </p:txBody>
      </p:sp>
      <p:sp>
        <p:nvSpPr>
          <p:cNvPr id="23565" name="Rectangle 12"/>
          <p:cNvSpPr>
            <a:spLocks noChangeArrowheads="1"/>
          </p:cNvSpPr>
          <p:nvPr/>
        </p:nvSpPr>
        <p:spPr bwMode="auto">
          <a:xfrm>
            <a:off x="5080000" y="5257800"/>
            <a:ext cx="1150938" cy="152400"/>
          </a:xfrm>
          <a:prstGeom prst="rect">
            <a:avLst/>
          </a:prstGeom>
          <a:noFill/>
          <a:ln w="12700" cap="rnd">
            <a:solidFill>
              <a:schemeClr val="tx1"/>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it-IT"/>
          </a:p>
        </p:txBody>
      </p:sp>
      <p:sp>
        <p:nvSpPr>
          <p:cNvPr id="23566" name="Rectangle 13"/>
          <p:cNvSpPr>
            <a:spLocks noChangeArrowheads="1"/>
          </p:cNvSpPr>
          <p:nvPr/>
        </p:nvSpPr>
        <p:spPr bwMode="auto">
          <a:xfrm>
            <a:off x="6908800" y="4724400"/>
            <a:ext cx="134938" cy="1295400"/>
          </a:xfrm>
          <a:prstGeom prst="rect">
            <a:avLst/>
          </a:prstGeom>
          <a:noFill/>
          <a:ln w="12700" cap="rnd">
            <a:solidFill>
              <a:schemeClr val="tx1"/>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it-IT"/>
          </a:p>
        </p:txBody>
      </p:sp>
      <p:sp>
        <p:nvSpPr>
          <p:cNvPr id="23567" name="Text Box 14"/>
          <p:cNvSpPr txBox="1">
            <a:spLocks noChangeArrowheads="1"/>
          </p:cNvSpPr>
          <p:nvPr/>
        </p:nvSpPr>
        <p:spPr bwMode="auto">
          <a:xfrm>
            <a:off x="1557338" y="4953000"/>
            <a:ext cx="677862"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sz="2000" b="1">
                <a:solidFill>
                  <a:schemeClr val="accent1"/>
                </a:solidFill>
                <a:latin typeface="Arial" pitchFamily="34" charset="0"/>
                <a:ea typeface="MS PGothic" pitchFamily="34" charset="-128"/>
              </a:defRPr>
            </a:lvl1pPr>
            <a:lvl2pPr marL="742950" indent="-285750">
              <a:defRPr sz="2000" b="1">
                <a:solidFill>
                  <a:schemeClr val="accent1"/>
                </a:solidFill>
                <a:latin typeface="Arial" pitchFamily="34" charset="0"/>
                <a:ea typeface="MS PGothic" pitchFamily="34" charset="-128"/>
              </a:defRPr>
            </a:lvl2pPr>
            <a:lvl3pPr marL="1143000" indent="-228600">
              <a:defRPr sz="2000" b="1">
                <a:solidFill>
                  <a:schemeClr val="accent1"/>
                </a:solidFill>
                <a:latin typeface="Arial" pitchFamily="34" charset="0"/>
                <a:ea typeface="MS PGothic" pitchFamily="34" charset="-128"/>
              </a:defRPr>
            </a:lvl3pPr>
            <a:lvl4pPr marL="1600200" indent="-228600">
              <a:defRPr sz="2000" b="1">
                <a:solidFill>
                  <a:schemeClr val="accent1"/>
                </a:solidFill>
                <a:latin typeface="Arial" pitchFamily="34" charset="0"/>
                <a:ea typeface="MS PGothic" pitchFamily="34" charset="-128"/>
              </a:defRPr>
            </a:lvl4pPr>
            <a:lvl5pPr marL="2057400" indent="-228600">
              <a:defRPr sz="2000" b="1">
                <a:solidFill>
                  <a:schemeClr val="accent1"/>
                </a:solidFill>
                <a:latin typeface="Arial" pitchFamily="34" charset="0"/>
                <a:ea typeface="MS PGothic" pitchFamily="34" charset="-128"/>
              </a:defRPr>
            </a:lvl5pPr>
            <a:lvl6pPr marL="25146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6pPr>
            <a:lvl7pPr marL="29718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7pPr>
            <a:lvl8pPr marL="34290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8pPr>
            <a:lvl9pPr marL="38862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9pPr>
          </a:lstStyle>
          <a:p>
            <a:pPr>
              <a:spcBef>
                <a:spcPct val="50000"/>
              </a:spcBef>
            </a:pPr>
            <a:r>
              <a:rPr lang="en-US" sz="1400" b="0">
                <a:solidFill>
                  <a:schemeClr val="tx1"/>
                </a:solidFill>
              </a:rPr>
              <a:t>C(i,j)</a:t>
            </a:r>
          </a:p>
        </p:txBody>
      </p:sp>
      <p:sp>
        <p:nvSpPr>
          <p:cNvPr id="23568" name="Text Box 15"/>
          <p:cNvSpPr txBox="1">
            <a:spLocks noChangeArrowheads="1"/>
          </p:cNvSpPr>
          <p:nvPr/>
        </p:nvSpPr>
        <p:spPr bwMode="auto">
          <a:xfrm>
            <a:off x="3522663" y="4953000"/>
            <a:ext cx="6762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sz="2000" b="1">
                <a:solidFill>
                  <a:schemeClr val="accent1"/>
                </a:solidFill>
                <a:latin typeface="Arial" pitchFamily="34" charset="0"/>
                <a:ea typeface="MS PGothic" pitchFamily="34" charset="-128"/>
              </a:defRPr>
            </a:lvl1pPr>
            <a:lvl2pPr marL="742950" indent="-285750">
              <a:defRPr sz="2000" b="1">
                <a:solidFill>
                  <a:schemeClr val="accent1"/>
                </a:solidFill>
                <a:latin typeface="Arial" pitchFamily="34" charset="0"/>
                <a:ea typeface="MS PGothic" pitchFamily="34" charset="-128"/>
              </a:defRPr>
            </a:lvl2pPr>
            <a:lvl3pPr marL="1143000" indent="-228600">
              <a:defRPr sz="2000" b="1">
                <a:solidFill>
                  <a:schemeClr val="accent1"/>
                </a:solidFill>
                <a:latin typeface="Arial" pitchFamily="34" charset="0"/>
                <a:ea typeface="MS PGothic" pitchFamily="34" charset="-128"/>
              </a:defRPr>
            </a:lvl3pPr>
            <a:lvl4pPr marL="1600200" indent="-228600">
              <a:defRPr sz="2000" b="1">
                <a:solidFill>
                  <a:schemeClr val="accent1"/>
                </a:solidFill>
                <a:latin typeface="Arial" pitchFamily="34" charset="0"/>
                <a:ea typeface="MS PGothic" pitchFamily="34" charset="-128"/>
              </a:defRPr>
            </a:lvl4pPr>
            <a:lvl5pPr marL="2057400" indent="-228600">
              <a:defRPr sz="2000" b="1">
                <a:solidFill>
                  <a:schemeClr val="accent1"/>
                </a:solidFill>
                <a:latin typeface="Arial" pitchFamily="34" charset="0"/>
                <a:ea typeface="MS PGothic" pitchFamily="34" charset="-128"/>
              </a:defRPr>
            </a:lvl5pPr>
            <a:lvl6pPr marL="25146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6pPr>
            <a:lvl7pPr marL="29718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7pPr>
            <a:lvl8pPr marL="34290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8pPr>
            <a:lvl9pPr marL="38862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9pPr>
          </a:lstStyle>
          <a:p>
            <a:pPr>
              <a:spcBef>
                <a:spcPct val="50000"/>
              </a:spcBef>
            </a:pPr>
            <a:r>
              <a:rPr lang="en-US" sz="1400" b="0">
                <a:solidFill>
                  <a:schemeClr val="tx1"/>
                </a:solidFill>
              </a:rPr>
              <a:t>C(i,j)</a:t>
            </a:r>
          </a:p>
        </p:txBody>
      </p:sp>
      <p:sp>
        <p:nvSpPr>
          <p:cNvPr id="23569" name="Text Box 16"/>
          <p:cNvSpPr txBox="1">
            <a:spLocks noChangeArrowheads="1"/>
          </p:cNvSpPr>
          <p:nvPr/>
        </p:nvSpPr>
        <p:spPr bwMode="auto">
          <a:xfrm>
            <a:off x="5486400" y="4876800"/>
            <a:ext cx="67786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sz="2000" b="1">
                <a:solidFill>
                  <a:schemeClr val="accent1"/>
                </a:solidFill>
                <a:latin typeface="Arial" pitchFamily="34" charset="0"/>
                <a:ea typeface="MS PGothic" pitchFamily="34" charset="-128"/>
              </a:defRPr>
            </a:lvl1pPr>
            <a:lvl2pPr marL="742950" indent="-285750">
              <a:defRPr sz="2000" b="1">
                <a:solidFill>
                  <a:schemeClr val="accent1"/>
                </a:solidFill>
                <a:latin typeface="Arial" pitchFamily="34" charset="0"/>
                <a:ea typeface="MS PGothic" pitchFamily="34" charset="-128"/>
              </a:defRPr>
            </a:lvl2pPr>
            <a:lvl3pPr marL="1143000" indent="-228600">
              <a:defRPr sz="2000" b="1">
                <a:solidFill>
                  <a:schemeClr val="accent1"/>
                </a:solidFill>
                <a:latin typeface="Arial" pitchFamily="34" charset="0"/>
                <a:ea typeface="MS PGothic" pitchFamily="34" charset="-128"/>
              </a:defRPr>
            </a:lvl3pPr>
            <a:lvl4pPr marL="1600200" indent="-228600">
              <a:defRPr sz="2000" b="1">
                <a:solidFill>
                  <a:schemeClr val="accent1"/>
                </a:solidFill>
                <a:latin typeface="Arial" pitchFamily="34" charset="0"/>
                <a:ea typeface="MS PGothic" pitchFamily="34" charset="-128"/>
              </a:defRPr>
            </a:lvl4pPr>
            <a:lvl5pPr marL="2057400" indent="-228600">
              <a:defRPr sz="2000" b="1">
                <a:solidFill>
                  <a:schemeClr val="accent1"/>
                </a:solidFill>
                <a:latin typeface="Arial" pitchFamily="34" charset="0"/>
                <a:ea typeface="MS PGothic" pitchFamily="34" charset="-128"/>
              </a:defRPr>
            </a:lvl5pPr>
            <a:lvl6pPr marL="25146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6pPr>
            <a:lvl7pPr marL="29718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7pPr>
            <a:lvl8pPr marL="34290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8pPr>
            <a:lvl9pPr marL="38862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9pPr>
          </a:lstStyle>
          <a:p>
            <a:pPr>
              <a:spcBef>
                <a:spcPct val="50000"/>
              </a:spcBef>
            </a:pPr>
            <a:r>
              <a:rPr lang="en-US" sz="1400" b="0">
                <a:solidFill>
                  <a:schemeClr val="tx1"/>
                </a:solidFill>
              </a:rPr>
              <a:t>A(i,k)</a:t>
            </a:r>
          </a:p>
        </p:txBody>
      </p:sp>
      <p:sp>
        <p:nvSpPr>
          <p:cNvPr id="23570" name="Text Box 17"/>
          <p:cNvSpPr txBox="1">
            <a:spLocks noChangeArrowheads="1"/>
          </p:cNvSpPr>
          <p:nvPr/>
        </p:nvSpPr>
        <p:spPr bwMode="auto">
          <a:xfrm>
            <a:off x="7043738" y="5410200"/>
            <a:ext cx="677862"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sz="2000" b="1">
                <a:solidFill>
                  <a:schemeClr val="accent1"/>
                </a:solidFill>
                <a:latin typeface="Arial" pitchFamily="34" charset="0"/>
                <a:ea typeface="MS PGothic" pitchFamily="34" charset="-128"/>
              </a:defRPr>
            </a:lvl1pPr>
            <a:lvl2pPr marL="742950" indent="-285750">
              <a:defRPr sz="2000" b="1">
                <a:solidFill>
                  <a:schemeClr val="accent1"/>
                </a:solidFill>
                <a:latin typeface="Arial" pitchFamily="34" charset="0"/>
                <a:ea typeface="MS PGothic" pitchFamily="34" charset="-128"/>
              </a:defRPr>
            </a:lvl2pPr>
            <a:lvl3pPr marL="1143000" indent="-228600">
              <a:defRPr sz="2000" b="1">
                <a:solidFill>
                  <a:schemeClr val="accent1"/>
                </a:solidFill>
                <a:latin typeface="Arial" pitchFamily="34" charset="0"/>
                <a:ea typeface="MS PGothic" pitchFamily="34" charset="-128"/>
              </a:defRPr>
            </a:lvl3pPr>
            <a:lvl4pPr marL="1600200" indent="-228600">
              <a:defRPr sz="2000" b="1">
                <a:solidFill>
                  <a:schemeClr val="accent1"/>
                </a:solidFill>
                <a:latin typeface="Arial" pitchFamily="34" charset="0"/>
                <a:ea typeface="MS PGothic" pitchFamily="34" charset="-128"/>
              </a:defRPr>
            </a:lvl4pPr>
            <a:lvl5pPr marL="2057400" indent="-228600">
              <a:defRPr sz="2000" b="1">
                <a:solidFill>
                  <a:schemeClr val="accent1"/>
                </a:solidFill>
                <a:latin typeface="Arial" pitchFamily="34" charset="0"/>
                <a:ea typeface="MS PGothic" pitchFamily="34" charset="-128"/>
              </a:defRPr>
            </a:lvl5pPr>
            <a:lvl6pPr marL="25146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6pPr>
            <a:lvl7pPr marL="29718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7pPr>
            <a:lvl8pPr marL="34290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8pPr>
            <a:lvl9pPr marL="38862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9pPr>
          </a:lstStyle>
          <a:p>
            <a:pPr>
              <a:spcBef>
                <a:spcPct val="50000"/>
              </a:spcBef>
            </a:pPr>
            <a:r>
              <a:rPr lang="en-US" sz="1400" b="0">
                <a:solidFill>
                  <a:schemeClr val="tx1"/>
                </a:solidFill>
              </a:rPr>
              <a:t>B(k,j)</a:t>
            </a:r>
          </a:p>
        </p:txBody>
      </p:sp>
      <p:sp>
        <p:nvSpPr>
          <p:cNvPr id="23571" name="Rectangle 18"/>
          <p:cNvSpPr>
            <a:spLocks noChangeArrowheads="1"/>
          </p:cNvSpPr>
          <p:nvPr/>
        </p:nvSpPr>
        <p:spPr bwMode="auto">
          <a:xfrm>
            <a:off x="3792538" y="5257800"/>
            <a:ext cx="136525" cy="152400"/>
          </a:xfrm>
          <a:prstGeom prst="rect">
            <a:avLst/>
          </a:prstGeom>
          <a:solidFill>
            <a:schemeClr val="accent1"/>
          </a:solidFill>
          <a:ln w="12700">
            <a:solidFill>
              <a:schemeClr val="tx1"/>
            </a:solidFill>
            <a:miter lim="800000"/>
            <a:headEnd/>
            <a:tailEnd/>
          </a:ln>
        </p:spPr>
        <p:txBody>
          <a:bodyPr wrap="none" anchor="ctr"/>
          <a:lstStyle/>
          <a:p>
            <a:endParaRPr lang="it-IT"/>
          </a:p>
        </p:txBody>
      </p:sp>
      <p:sp>
        <p:nvSpPr>
          <p:cNvPr id="23572" name="Rectangle 19"/>
          <p:cNvSpPr>
            <a:spLocks noChangeArrowheads="1"/>
          </p:cNvSpPr>
          <p:nvPr/>
        </p:nvSpPr>
        <p:spPr bwMode="auto">
          <a:xfrm>
            <a:off x="6908800" y="5562600"/>
            <a:ext cx="134938" cy="152400"/>
          </a:xfrm>
          <a:prstGeom prst="rect">
            <a:avLst/>
          </a:prstGeom>
          <a:solidFill>
            <a:schemeClr val="accent1"/>
          </a:solidFill>
          <a:ln w="12700">
            <a:solidFill>
              <a:schemeClr val="tx1"/>
            </a:solidFill>
            <a:miter lim="800000"/>
            <a:headEnd/>
            <a:tailEnd/>
          </a:ln>
        </p:spPr>
        <p:txBody>
          <a:bodyPr wrap="none" anchor="ctr"/>
          <a:lstStyle/>
          <a:p>
            <a:endParaRPr lang="it-IT"/>
          </a:p>
        </p:txBody>
      </p:sp>
      <p:sp>
        <p:nvSpPr>
          <p:cNvPr id="23573" name="Rectangle 20"/>
          <p:cNvSpPr>
            <a:spLocks noChangeArrowheads="1"/>
          </p:cNvSpPr>
          <p:nvPr/>
        </p:nvSpPr>
        <p:spPr bwMode="auto">
          <a:xfrm>
            <a:off x="5757863" y="5257800"/>
            <a:ext cx="134937" cy="152400"/>
          </a:xfrm>
          <a:prstGeom prst="rect">
            <a:avLst/>
          </a:prstGeom>
          <a:solidFill>
            <a:schemeClr val="accent1"/>
          </a:solidFill>
          <a:ln w="12700">
            <a:solidFill>
              <a:schemeClr val="tx1"/>
            </a:solidFill>
            <a:miter lim="800000"/>
            <a:headEnd/>
            <a:tailEnd/>
          </a:ln>
        </p:spPr>
        <p:txBody>
          <a:bodyPr wrap="none" anchor="ctr"/>
          <a:lstStyle/>
          <a:p>
            <a:endParaRPr lang="it-IT"/>
          </a:p>
        </p:txBody>
      </p:sp>
      <p:sp>
        <p:nvSpPr>
          <p:cNvPr id="2" name="TextBox 1"/>
          <p:cNvSpPr txBox="1"/>
          <p:nvPr/>
        </p:nvSpPr>
        <p:spPr>
          <a:xfrm>
            <a:off x="381000" y="5181600"/>
            <a:ext cx="794321" cy="646331"/>
          </a:xfrm>
          <a:prstGeom prst="rect">
            <a:avLst/>
          </a:prstGeom>
          <a:noFill/>
          <a:ln>
            <a:noFill/>
          </a:ln>
        </p:spPr>
        <p:txBody>
          <a:bodyPr wrap="none" rtlCol="0">
            <a:spAutoFit/>
          </a:bodyPr>
          <a:lstStyle/>
          <a:p>
            <a:pPr algn="r"/>
            <a:r>
              <a:rPr lang="en-US" dirty="0">
                <a:solidFill>
                  <a:srgbClr val="800000"/>
                </a:solidFill>
              </a:rPr>
              <a:t>b</a:t>
            </a:r>
            <a:r>
              <a:rPr lang="en-US" dirty="0" smtClean="0">
                <a:solidFill>
                  <a:srgbClr val="800000"/>
                </a:solidFill>
              </a:rPr>
              <a:t>-by-b</a:t>
            </a:r>
          </a:p>
          <a:p>
            <a:r>
              <a:rPr lang="en-US" dirty="0" smtClean="0">
                <a:solidFill>
                  <a:srgbClr val="800000"/>
                </a:solidFill>
              </a:rPr>
              <a:t>block</a:t>
            </a:r>
            <a:endParaRPr lang="en-US" dirty="0">
              <a:solidFill>
                <a:srgbClr val="800000"/>
              </a:solidFill>
            </a:endParaRPr>
          </a:p>
        </p:txBody>
      </p:sp>
      <p:cxnSp>
        <p:nvCxnSpPr>
          <p:cNvPr id="4" name="Straight Arrow Connector 3"/>
          <p:cNvCxnSpPr/>
          <p:nvPr/>
        </p:nvCxnSpPr>
        <p:spPr>
          <a:xfrm flipV="1">
            <a:off x="1143000" y="5334000"/>
            <a:ext cx="653479" cy="170766"/>
          </a:xfrm>
          <a:prstGeom prst="straightConnector1">
            <a:avLst/>
          </a:prstGeom>
          <a:ln>
            <a:solidFill>
              <a:srgbClr val="800000"/>
            </a:solidFill>
            <a:tailEnd type="arrow"/>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1353470" y="6091535"/>
            <a:ext cx="6727322" cy="461665"/>
          </a:xfrm>
          <a:prstGeom prst="rect">
            <a:avLst/>
          </a:prstGeom>
          <a:noFill/>
          <a:ln>
            <a:solidFill>
              <a:schemeClr val="tx1"/>
            </a:solidFill>
          </a:ln>
        </p:spPr>
        <p:txBody>
          <a:bodyPr wrap="none" rtlCol="0">
            <a:spAutoFit/>
          </a:bodyPr>
          <a:lstStyle/>
          <a:p>
            <a:r>
              <a:rPr lang="en-US" sz="2400" dirty="0" smtClean="0"/>
              <a:t>2n</a:t>
            </a:r>
            <a:r>
              <a:rPr lang="en-US" sz="2400" baseline="30000" dirty="0" smtClean="0"/>
              <a:t>3</a:t>
            </a:r>
            <a:r>
              <a:rPr lang="en-US" sz="2400" dirty="0" smtClean="0"/>
              <a:t>/b + </a:t>
            </a:r>
            <a:r>
              <a:rPr lang="en-US" sz="2400" dirty="0"/>
              <a:t>2</a:t>
            </a:r>
            <a:r>
              <a:rPr lang="en-US" sz="2400" dirty="0" smtClean="0"/>
              <a:t>n</a:t>
            </a:r>
            <a:r>
              <a:rPr lang="en-US" sz="2400" baseline="30000" dirty="0" smtClean="0"/>
              <a:t>2</a:t>
            </a:r>
            <a:r>
              <a:rPr lang="en-US" sz="2400" dirty="0" smtClean="0"/>
              <a:t> reads/writes &lt;&lt; 2n</a:t>
            </a:r>
            <a:r>
              <a:rPr lang="en-US" sz="2400" baseline="30000" dirty="0" smtClean="0"/>
              <a:t>3</a:t>
            </a:r>
            <a:r>
              <a:rPr lang="en-US" sz="2400" dirty="0" smtClean="0"/>
              <a:t> arithmetic  -  Faster!</a:t>
            </a:r>
            <a:endParaRPr lang="en-US" sz="2400" dirty="0"/>
          </a:p>
        </p:txBody>
      </p:sp>
    </p:spTree>
    <p:extLst>
      <p:ext uri="{BB962C8B-B14F-4D97-AF65-F5344CB8AC3E}">
        <p14:creationId xmlns:p14="http://schemas.microsoft.com/office/powerpoint/2010/main" val="1277248227"/>
      </p:ext>
    </p:extLst>
  </p:cSld>
  <p:clrMapOvr>
    <a:masterClrMapping/>
  </p:clrMapOvr>
  <p:timing>
    <p:tnLst>
      <p:par>
        <p:cTn xmlns:p14="http://schemas.microsoft.com/office/powerpoint/2010/mai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a:xfrm>
            <a:off x="0" y="306388"/>
            <a:ext cx="9144000" cy="425450"/>
          </a:xfrm>
        </p:spPr>
        <p:txBody>
          <a:bodyPr>
            <a:noAutofit/>
          </a:bodyPr>
          <a:lstStyle/>
          <a:p>
            <a:r>
              <a:rPr lang="en-US" sz="3600" dirty="0" smtClean="0"/>
              <a:t>Does blocked </a:t>
            </a:r>
            <a:r>
              <a:rPr lang="en-US" sz="3600" dirty="0" err="1" smtClean="0"/>
              <a:t>matmul</a:t>
            </a:r>
            <a:r>
              <a:rPr lang="en-US" sz="3600" dirty="0" smtClean="0"/>
              <a:t> attain lower bound?</a:t>
            </a:r>
          </a:p>
        </p:txBody>
      </p:sp>
      <p:sp>
        <p:nvSpPr>
          <p:cNvPr id="36867" name="Content Placeholder 2"/>
          <p:cNvSpPr>
            <a:spLocks noGrp="1"/>
          </p:cNvSpPr>
          <p:nvPr>
            <p:ph idx="1"/>
          </p:nvPr>
        </p:nvSpPr>
        <p:spPr>
          <a:xfrm>
            <a:off x="153988" y="914400"/>
            <a:ext cx="8961437" cy="5851525"/>
          </a:xfrm>
        </p:spPr>
        <p:txBody>
          <a:bodyPr>
            <a:normAutofit/>
          </a:bodyPr>
          <a:lstStyle/>
          <a:p>
            <a:r>
              <a:rPr lang="en-US" dirty="0" smtClean="0"/>
              <a:t>Recall: if 3 b-by-b blocks fit in fast memory of     size M, then #reads/writes = 2n</a:t>
            </a:r>
            <a:r>
              <a:rPr lang="en-US" baseline="30000" dirty="0" smtClean="0"/>
              <a:t>3</a:t>
            </a:r>
            <a:r>
              <a:rPr lang="en-US" dirty="0" smtClean="0"/>
              <a:t>/b + 2n</a:t>
            </a:r>
            <a:r>
              <a:rPr lang="en-US" baseline="30000" dirty="0" smtClean="0"/>
              <a:t>2</a:t>
            </a:r>
          </a:p>
          <a:p>
            <a:r>
              <a:rPr lang="en-US" dirty="0" smtClean="0"/>
              <a:t>Make b as large as possible: 3b</a:t>
            </a:r>
            <a:r>
              <a:rPr lang="en-US" baseline="30000" dirty="0" smtClean="0"/>
              <a:t>2</a:t>
            </a:r>
            <a:r>
              <a:rPr lang="en-US" dirty="0" smtClean="0"/>
              <a:t> ≤ M, so       #reads/writes  ≥ 3</a:t>
            </a:r>
            <a:r>
              <a:rPr lang="en-US" baseline="30000" dirty="0" smtClean="0"/>
              <a:t>1/2</a:t>
            </a:r>
            <a:r>
              <a:rPr lang="en-US" dirty="0" smtClean="0"/>
              <a:t>n</a:t>
            </a:r>
            <a:r>
              <a:rPr lang="en-US" baseline="30000" dirty="0" smtClean="0"/>
              <a:t>3</a:t>
            </a:r>
            <a:r>
              <a:rPr lang="en-US" dirty="0" smtClean="0"/>
              <a:t>/M</a:t>
            </a:r>
            <a:r>
              <a:rPr lang="en-US" baseline="30000" dirty="0" smtClean="0"/>
              <a:t>1/2  </a:t>
            </a:r>
            <a:r>
              <a:rPr lang="en-US" dirty="0" smtClean="0"/>
              <a:t>+ 2n</a:t>
            </a:r>
            <a:r>
              <a:rPr lang="en-US" baseline="30000" dirty="0" smtClean="0"/>
              <a:t>2</a:t>
            </a:r>
            <a:r>
              <a:rPr lang="en-US" dirty="0" smtClean="0"/>
              <a:t>  </a:t>
            </a:r>
          </a:p>
          <a:p>
            <a:r>
              <a:rPr lang="en-US" dirty="0" smtClean="0"/>
              <a:t>Attains lower bound  = </a:t>
            </a:r>
            <a:r>
              <a:rPr lang="en-US" dirty="0" err="1" smtClean="0"/>
              <a:t>Ω</a:t>
            </a:r>
            <a:r>
              <a:rPr lang="en-US" dirty="0" smtClean="0"/>
              <a:t> (#flops / M</a:t>
            </a:r>
            <a:r>
              <a:rPr lang="en-US" baseline="30000" dirty="0" smtClean="0"/>
              <a:t>1/2 </a:t>
            </a:r>
            <a:r>
              <a:rPr lang="en-US" dirty="0" smtClean="0"/>
              <a:t>)</a:t>
            </a:r>
          </a:p>
          <a:p>
            <a:endParaRPr lang="en-US" dirty="0"/>
          </a:p>
          <a:p>
            <a:r>
              <a:rPr lang="en-US" dirty="0" smtClean="0"/>
              <a:t>But what if we don’t know M? </a:t>
            </a:r>
            <a:endParaRPr lang="en-US" dirty="0"/>
          </a:p>
          <a:p>
            <a:r>
              <a:rPr lang="en-US" dirty="0" smtClean="0"/>
              <a:t>Or if there are multiples levels of fast memory?</a:t>
            </a:r>
          </a:p>
          <a:p>
            <a:r>
              <a:rPr lang="en-US" dirty="0" smtClean="0"/>
              <a:t>How do we write the algorithm?</a:t>
            </a:r>
          </a:p>
          <a:p>
            <a:endParaRPr lang="en-US" dirty="0" smtClean="0"/>
          </a:p>
          <a:p>
            <a:endParaRPr lang="en-US" dirty="0"/>
          </a:p>
        </p:txBody>
      </p:sp>
      <p:sp>
        <p:nvSpPr>
          <p:cNvPr id="4" name="Slide Number Placeholder 3"/>
          <p:cNvSpPr>
            <a:spLocks noGrp="1"/>
          </p:cNvSpPr>
          <p:nvPr>
            <p:ph type="sldNum" sz="quarter" idx="10"/>
          </p:nvPr>
        </p:nvSpPr>
        <p:spPr>
          <a:xfrm>
            <a:off x="3352800" y="6416675"/>
            <a:ext cx="2133600" cy="365125"/>
          </a:xfrm>
        </p:spPr>
        <p:txBody>
          <a:bodyPr/>
          <a:lstStyle/>
          <a:p>
            <a:pPr algn="ctr">
              <a:defRPr/>
            </a:pPr>
            <a:fld id="{5839375E-32BF-43EE-A881-86705A256A45}" type="slidenum">
              <a:rPr lang="en-US" smtClean="0"/>
              <a:pPr algn="ctr">
                <a:defRPr/>
              </a:pPr>
              <a:t>15</a:t>
            </a:fld>
            <a:endParaRPr lang="en-US" dirty="0"/>
          </a:p>
        </p:txBody>
      </p:sp>
      <p:cxnSp>
        <p:nvCxnSpPr>
          <p:cNvPr id="5" name="Straight Connector 4"/>
          <p:cNvCxnSpPr/>
          <p:nvPr/>
        </p:nvCxnSpPr>
        <p:spPr>
          <a:xfrm>
            <a:off x="381000" y="838200"/>
            <a:ext cx="83058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9220596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6867">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6867">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686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p:nvPr>
        </p:nvSpPr>
        <p:spPr>
          <a:xfrm>
            <a:off x="-152400" y="306388"/>
            <a:ext cx="9448800" cy="425450"/>
          </a:xfrm>
        </p:spPr>
        <p:txBody>
          <a:bodyPr>
            <a:noAutofit/>
          </a:bodyPr>
          <a:lstStyle/>
          <a:p>
            <a:r>
              <a:rPr lang="en-US" sz="3600" dirty="0" smtClean="0"/>
              <a:t>Recursive Matrix Multiplication (RMM) (1/2)</a:t>
            </a:r>
          </a:p>
        </p:txBody>
      </p:sp>
      <p:sp>
        <p:nvSpPr>
          <p:cNvPr id="28675" name="Content Placeholder 2"/>
          <p:cNvSpPr>
            <a:spLocks noGrp="1"/>
          </p:cNvSpPr>
          <p:nvPr>
            <p:ph idx="1"/>
          </p:nvPr>
        </p:nvSpPr>
        <p:spPr>
          <a:xfrm>
            <a:off x="609600" y="914400"/>
            <a:ext cx="8001000" cy="2755900"/>
          </a:xfrm>
        </p:spPr>
        <p:txBody>
          <a:bodyPr>
            <a:normAutofit fontScale="92500" lnSpcReduction="20000"/>
          </a:bodyPr>
          <a:lstStyle/>
          <a:p>
            <a:r>
              <a:rPr lang="en-US" dirty="0" smtClean="0"/>
              <a:t>For simplicity: square matrices with n = 2</a:t>
            </a:r>
            <a:r>
              <a:rPr lang="en-US" sz="2800" baseline="30000" dirty="0" smtClean="0"/>
              <a:t>m</a:t>
            </a:r>
          </a:p>
          <a:p>
            <a:r>
              <a:rPr lang="en-US" sz="2800" dirty="0" smtClean="0"/>
              <a:t>C =               = A · B =       ·        ·           </a:t>
            </a:r>
          </a:p>
          <a:p>
            <a:endParaRPr lang="en-US" sz="2800" dirty="0" smtClean="0"/>
          </a:p>
          <a:p>
            <a:pPr>
              <a:buFontTx/>
              <a:buNone/>
            </a:pPr>
            <a:r>
              <a:rPr lang="en-US" sz="2800" dirty="0" smtClean="0"/>
              <a:t>      =</a:t>
            </a:r>
          </a:p>
          <a:p>
            <a:endParaRPr lang="en-US" dirty="0" smtClean="0"/>
          </a:p>
          <a:p>
            <a:r>
              <a:rPr lang="en-US" dirty="0" smtClean="0"/>
              <a:t>True when each </a:t>
            </a:r>
            <a:r>
              <a:rPr lang="en-US" dirty="0" err="1" smtClean="0"/>
              <a:t>A</a:t>
            </a:r>
            <a:r>
              <a:rPr lang="en-US" sz="2800" baseline="-25000" dirty="0" err="1" smtClean="0"/>
              <a:t>ij</a:t>
            </a:r>
            <a:r>
              <a:rPr lang="en-US" dirty="0" smtClean="0"/>
              <a:t> </a:t>
            </a:r>
            <a:r>
              <a:rPr lang="en-US" dirty="0" err="1" smtClean="0"/>
              <a:t>etc</a:t>
            </a:r>
            <a:r>
              <a:rPr lang="en-US" dirty="0" smtClean="0"/>
              <a:t>   1x1   or   n/2  x  n/2 </a:t>
            </a:r>
            <a:endParaRPr lang="en-US" sz="2000" dirty="0" smtClean="0"/>
          </a:p>
        </p:txBody>
      </p:sp>
      <p:sp>
        <p:nvSpPr>
          <p:cNvPr id="28676" name="Slide Number Placeholder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chemeClr val="accent1"/>
                </a:solidFill>
                <a:latin typeface="Arial" pitchFamily="34" charset="0"/>
                <a:ea typeface="MS PGothic" pitchFamily="34" charset="-128"/>
              </a:defRPr>
            </a:lvl1pPr>
            <a:lvl2pPr marL="742950" indent="-285750">
              <a:defRPr sz="2000" b="1">
                <a:solidFill>
                  <a:schemeClr val="accent1"/>
                </a:solidFill>
                <a:latin typeface="Arial" pitchFamily="34" charset="0"/>
                <a:ea typeface="MS PGothic" pitchFamily="34" charset="-128"/>
              </a:defRPr>
            </a:lvl2pPr>
            <a:lvl3pPr marL="1143000" indent="-228600">
              <a:defRPr sz="2000" b="1">
                <a:solidFill>
                  <a:schemeClr val="accent1"/>
                </a:solidFill>
                <a:latin typeface="Arial" pitchFamily="34" charset="0"/>
                <a:ea typeface="MS PGothic" pitchFamily="34" charset="-128"/>
              </a:defRPr>
            </a:lvl3pPr>
            <a:lvl4pPr marL="1600200" indent="-228600">
              <a:defRPr sz="2000" b="1">
                <a:solidFill>
                  <a:schemeClr val="accent1"/>
                </a:solidFill>
                <a:latin typeface="Arial" pitchFamily="34" charset="0"/>
                <a:ea typeface="MS PGothic" pitchFamily="34" charset="-128"/>
              </a:defRPr>
            </a:lvl4pPr>
            <a:lvl5pPr marL="2057400" indent="-228600">
              <a:defRPr sz="2000" b="1">
                <a:solidFill>
                  <a:schemeClr val="accent1"/>
                </a:solidFill>
                <a:latin typeface="Arial" pitchFamily="34" charset="0"/>
                <a:ea typeface="MS PGothic" pitchFamily="34" charset="-128"/>
              </a:defRPr>
            </a:lvl5pPr>
            <a:lvl6pPr marL="25146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6pPr>
            <a:lvl7pPr marL="29718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7pPr>
            <a:lvl8pPr marL="34290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8pPr>
            <a:lvl9pPr marL="38862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9pPr>
          </a:lstStyle>
          <a:p>
            <a:fld id="{DA9A9884-FDC9-4D5E-B2F8-F758CCBFCF90}" type="slidenum">
              <a:rPr lang="en-US" sz="1400" b="0" smtClean="0">
                <a:solidFill>
                  <a:schemeClr val="tx1"/>
                </a:solidFill>
                <a:latin typeface="Helvetica" charset="0"/>
              </a:rPr>
              <a:pPr/>
              <a:t>16</a:t>
            </a:fld>
            <a:endParaRPr lang="en-US" sz="1400" b="0" smtClean="0">
              <a:solidFill>
                <a:schemeClr val="tx1"/>
              </a:solidFill>
              <a:latin typeface="Helvetica" charset="0"/>
            </a:endParaRPr>
          </a:p>
        </p:txBody>
      </p:sp>
      <p:grpSp>
        <p:nvGrpSpPr>
          <p:cNvPr id="28677" name="Group 6"/>
          <p:cNvGrpSpPr>
            <a:grpSpLocks/>
          </p:cNvGrpSpPr>
          <p:nvPr/>
        </p:nvGrpSpPr>
        <p:grpSpPr bwMode="auto">
          <a:xfrm>
            <a:off x="3886201" y="1281114"/>
            <a:ext cx="1308101" cy="720723"/>
            <a:chOff x="3152758" y="3231931"/>
            <a:chExt cx="1308538" cy="722201"/>
          </a:xfrm>
        </p:grpSpPr>
        <p:sp>
          <p:nvSpPr>
            <p:cNvPr id="28688" name="TextBox 4"/>
            <p:cNvSpPr txBox="1">
              <a:spLocks noChangeArrowheads="1"/>
            </p:cNvSpPr>
            <p:nvPr/>
          </p:nvSpPr>
          <p:spPr bwMode="auto">
            <a:xfrm>
              <a:off x="3152758" y="3246246"/>
              <a:ext cx="130853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accent1"/>
                  </a:solidFill>
                  <a:latin typeface="Arial" pitchFamily="34" charset="0"/>
                  <a:ea typeface="MS PGothic" pitchFamily="34" charset="-128"/>
                </a:defRPr>
              </a:lvl1pPr>
              <a:lvl2pPr marL="742950" indent="-285750">
                <a:defRPr sz="2000" b="1">
                  <a:solidFill>
                    <a:schemeClr val="accent1"/>
                  </a:solidFill>
                  <a:latin typeface="Arial" pitchFamily="34" charset="0"/>
                  <a:ea typeface="MS PGothic" pitchFamily="34" charset="-128"/>
                </a:defRPr>
              </a:lvl2pPr>
              <a:lvl3pPr marL="1143000" indent="-228600">
                <a:defRPr sz="2000" b="1">
                  <a:solidFill>
                    <a:schemeClr val="accent1"/>
                  </a:solidFill>
                  <a:latin typeface="Arial" pitchFamily="34" charset="0"/>
                  <a:ea typeface="MS PGothic" pitchFamily="34" charset="-128"/>
                </a:defRPr>
              </a:lvl3pPr>
              <a:lvl4pPr marL="1600200" indent="-228600">
                <a:defRPr sz="2000" b="1">
                  <a:solidFill>
                    <a:schemeClr val="accent1"/>
                  </a:solidFill>
                  <a:latin typeface="Arial" pitchFamily="34" charset="0"/>
                  <a:ea typeface="MS PGothic" pitchFamily="34" charset="-128"/>
                </a:defRPr>
              </a:lvl4pPr>
              <a:lvl5pPr marL="2057400" indent="-228600">
                <a:defRPr sz="2000" b="1">
                  <a:solidFill>
                    <a:schemeClr val="accent1"/>
                  </a:solidFill>
                  <a:latin typeface="Arial" pitchFamily="34" charset="0"/>
                  <a:ea typeface="MS PGothic" pitchFamily="34" charset="-128"/>
                </a:defRPr>
              </a:lvl5pPr>
              <a:lvl6pPr marL="25146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6pPr>
              <a:lvl7pPr marL="29718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7pPr>
              <a:lvl8pPr marL="34290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8pPr>
              <a:lvl9pPr marL="38862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9pPr>
            </a:lstStyle>
            <a:p>
              <a:pPr algn="l"/>
              <a:r>
                <a:rPr lang="en-US" dirty="0">
                  <a:solidFill>
                    <a:schemeClr val="tx1"/>
                  </a:solidFill>
                </a:rPr>
                <a:t>A</a:t>
              </a:r>
              <a:r>
                <a:rPr lang="en-US" baseline="-25000" dirty="0">
                  <a:solidFill>
                    <a:schemeClr val="tx1"/>
                  </a:solidFill>
                </a:rPr>
                <a:t>11  </a:t>
              </a:r>
              <a:r>
                <a:rPr lang="en-US" dirty="0">
                  <a:solidFill>
                    <a:schemeClr val="tx1"/>
                  </a:solidFill>
                </a:rPr>
                <a:t>A</a:t>
              </a:r>
              <a:r>
                <a:rPr lang="en-US" baseline="-25000" dirty="0">
                  <a:solidFill>
                    <a:schemeClr val="tx1"/>
                  </a:solidFill>
                </a:rPr>
                <a:t>12 </a:t>
              </a:r>
              <a:r>
                <a:rPr lang="en-US" dirty="0">
                  <a:solidFill>
                    <a:schemeClr val="tx1"/>
                  </a:solidFill>
                </a:rPr>
                <a:t>A</a:t>
              </a:r>
              <a:r>
                <a:rPr lang="en-US" baseline="-25000" dirty="0">
                  <a:solidFill>
                    <a:schemeClr val="tx1"/>
                  </a:solidFill>
                </a:rPr>
                <a:t>21  </a:t>
              </a:r>
              <a:r>
                <a:rPr lang="en-US" dirty="0">
                  <a:solidFill>
                    <a:schemeClr val="tx1"/>
                  </a:solidFill>
                </a:rPr>
                <a:t>A</a:t>
              </a:r>
              <a:r>
                <a:rPr lang="en-US" baseline="-25000" dirty="0">
                  <a:solidFill>
                    <a:schemeClr val="tx1"/>
                  </a:solidFill>
                </a:rPr>
                <a:t>22</a:t>
              </a:r>
            </a:p>
          </p:txBody>
        </p:sp>
        <p:sp>
          <p:nvSpPr>
            <p:cNvPr id="28689" name="Double Bracket 5"/>
            <p:cNvSpPr>
              <a:spLocks noChangeArrowheads="1"/>
            </p:cNvSpPr>
            <p:nvPr/>
          </p:nvSpPr>
          <p:spPr bwMode="auto">
            <a:xfrm>
              <a:off x="3200400" y="3231931"/>
              <a:ext cx="914400" cy="707886"/>
            </a:xfrm>
            <a:prstGeom prst="bracketPair">
              <a:avLst>
                <a:gd name="adj" fmla="val 16667"/>
              </a:avLst>
            </a:prstGeom>
            <a:noFill/>
            <a:ln w="12700" algn="ctr">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pPr algn="l"/>
              <a:endParaRPr lang="it-IT"/>
            </a:p>
          </p:txBody>
        </p:sp>
      </p:grpSp>
      <p:grpSp>
        <p:nvGrpSpPr>
          <p:cNvPr id="28678" name="Group 7"/>
          <p:cNvGrpSpPr>
            <a:grpSpLocks/>
          </p:cNvGrpSpPr>
          <p:nvPr/>
        </p:nvGrpSpPr>
        <p:grpSpPr bwMode="auto">
          <a:xfrm>
            <a:off x="4952999" y="1281113"/>
            <a:ext cx="1309688" cy="706437"/>
            <a:chOff x="3138541" y="3231931"/>
            <a:chExt cx="1308538" cy="707886"/>
          </a:xfrm>
        </p:grpSpPr>
        <p:sp>
          <p:nvSpPr>
            <p:cNvPr id="28686" name="TextBox 8"/>
            <p:cNvSpPr txBox="1">
              <a:spLocks noChangeArrowheads="1"/>
            </p:cNvSpPr>
            <p:nvPr/>
          </p:nvSpPr>
          <p:spPr bwMode="auto">
            <a:xfrm>
              <a:off x="3138541" y="3231931"/>
              <a:ext cx="130853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accent1"/>
                  </a:solidFill>
                  <a:latin typeface="Arial" pitchFamily="34" charset="0"/>
                  <a:ea typeface="MS PGothic" pitchFamily="34" charset="-128"/>
                </a:defRPr>
              </a:lvl1pPr>
              <a:lvl2pPr marL="742950" indent="-285750">
                <a:defRPr sz="2000" b="1">
                  <a:solidFill>
                    <a:schemeClr val="accent1"/>
                  </a:solidFill>
                  <a:latin typeface="Arial" pitchFamily="34" charset="0"/>
                  <a:ea typeface="MS PGothic" pitchFamily="34" charset="-128"/>
                </a:defRPr>
              </a:lvl2pPr>
              <a:lvl3pPr marL="1143000" indent="-228600">
                <a:defRPr sz="2000" b="1">
                  <a:solidFill>
                    <a:schemeClr val="accent1"/>
                  </a:solidFill>
                  <a:latin typeface="Arial" pitchFamily="34" charset="0"/>
                  <a:ea typeface="MS PGothic" pitchFamily="34" charset="-128"/>
                </a:defRPr>
              </a:lvl3pPr>
              <a:lvl4pPr marL="1600200" indent="-228600">
                <a:defRPr sz="2000" b="1">
                  <a:solidFill>
                    <a:schemeClr val="accent1"/>
                  </a:solidFill>
                  <a:latin typeface="Arial" pitchFamily="34" charset="0"/>
                  <a:ea typeface="MS PGothic" pitchFamily="34" charset="-128"/>
                </a:defRPr>
              </a:lvl4pPr>
              <a:lvl5pPr marL="2057400" indent="-228600">
                <a:defRPr sz="2000" b="1">
                  <a:solidFill>
                    <a:schemeClr val="accent1"/>
                  </a:solidFill>
                  <a:latin typeface="Arial" pitchFamily="34" charset="0"/>
                  <a:ea typeface="MS PGothic" pitchFamily="34" charset="-128"/>
                </a:defRPr>
              </a:lvl5pPr>
              <a:lvl6pPr marL="25146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6pPr>
              <a:lvl7pPr marL="29718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7pPr>
              <a:lvl8pPr marL="34290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8pPr>
              <a:lvl9pPr marL="38862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9pPr>
            </a:lstStyle>
            <a:p>
              <a:pPr algn="l"/>
              <a:r>
                <a:rPr lang="en-US" dirty="0">
                  <a:solidFill>
                    <a:schemeClr val="tx1"/>
                  </a:solidFill>
                </a:rPr>
                <a:t>B</a:t>
              </a:r>
              <a:r>
                <a:rPr lang="en-US" baseline="-25000" dirty="0">
                  <a:solidFill>
                    <a:schemeClr val="tx1"/>
                  </a:solidFill>
                </a:rPr>
                <a:t>11  </a:t>
              </a:r>
              <a:r>
                <a:rPr lang="en-US" dirty="0">
                  <a:solidFill>
                    <a:schemeClr val="tx1"/>
                  </a:solidFill>
                </a:rPr>
                <a:t>B</a:t>
              </a:r>
              <a:r>
                <a:rPr lang="en-US" baseline="-25000" dirty="0">
                  <a:solidFill>
                    <a:schemeClr val="tx1"/>
                  </a:solidFill>
                </a:rPr>
                <a:t>12 </a:t>
              </a:r>
              <a:r>
                <a:rPr lang="en-US" dirty="0">
                  <a:solidFill>
                    <a:schemeClr val="tx1"/>
                  </a:solidFill>
                </a:rPr>
                <a:t>B</a:t>
              </a:r>
              <a:r>
                <a:rPr lang="en-US" baseline="-25000" dirty="0">
                  <a:solidFill>
                    <a:schemeClr val="tx1"/>
                  </a:solidFill>
                </a:rPr>
                <a:t>21  </a:t>
              </a:r>
              <a:r>
                <a:rPr lang="en-US" dirty="0">
                  <a:solidFill>
                    <a:schemeClr val="tx1"/>
                  </a:solidFill>
                </a:rPr>
                <a:t>B</a:t>
              </a:r>
              <a:r>
                <a:rPr lang="en-US" baseline="-25000" dirty="0">
                  <a:solidFill>
                    <a:schemeClr val="tx1"/>
                  </a:solidFill>
                </a:rPr>
                <a:t>22</a:t>
              </a:r>
            </a:p>
          </p:txBody>
        </p:sp>
        <p:sp>
          <p:nvSpPr>
            <p:cNvPr id="28687" name="Double Bracket 9"/>
            <p:cNvSpPr>
              <a:spLocks noChangeArrowheads="1"/>
            </p:cNvSpPr>
            <p:nvPr/>
          </p:nvSpPr>
          <p:spPr bwMode="auto">
            <a:xfrm>
              <a:off x="3200400" y="3231931"/>
              <a:ext cx="914400" cy="707886"/>
            </a:xfrm>
            <a:prstGeom prst="bracketPair">
              <a:avLst>
                <a:gd name="adj" fmla="val 16667"/>
              </a:avLst>
            </a:prstGeom>
            <a:noFill/>
            <a:ln w="12700" algn="ctr">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it-IT"/>
            </a:p>
          </p:txBody>
        </p:sp>
      </p:grpSp>
      <p:grpSp>
        <p:nvGrpSpPr>
          <p:cNvPr id="28679" name="Group 10"/>
          <p:cNvGrpSpPr>
            <a:grpSpLocks/>
          </p:cNvGrpSpPr>
          <p:nvPr/>
        </p:nvGrpSpPr>
        <p:grpSpPr bwMode="auto">
          <a:xfrm>
            <a:off x="1492250" y="1273312"/>
            <a:ext cx="1308100" cy="730111"/>
            <a:chOff x="3200400" y="3209849"/>
            <a:chExt cx="1308538" cy="729968"/>
          </a:xfrm>
        </p:grpSpPr>
        <p:sp>
          <p:nvSpPr>
            <p:cNvPr id="28684" name="TextBox 11"/>
            <p:cNvSpPr txBox="1">
              <a:spLocks noChangeArrowheads="1"/>
            </p:cNvSpPr>
            <p:nvPr/>
          </p:nvSpPr>
          <p:spPr bwMode="auto">
            <a:xfrm>
              <a:off x="3200400" y="3209849"/>
              <a:ext cx="1308538" cy="7077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accent1"/>
                  </a:solidFill>
                  <a:latin typeface="Arial" pitchFamily="34" charset="0"/>
                  <a:ea typeface="MS PGothic" pitchFamily="34" charset="-128"/>
                </a:defRPr>
              </a:lvl1pPr>
              <a:lvl2pPr marL="742950" indent="-285750">
                <a:defRPr sz="2000" b="1">
                  <a:solidFill>
                    <a:schemeClr val="accent1"/>
                  </a:solidFill>
                  <a:latin typeface="Arial" pitchFamily="34" charset="0"/>
                  <a:ea typeface="MS PGothic" pitchFamily="34" charset="-128"/>
                </a:defRPr>
              </a:lvl2pPr>
              <a:lvl3pPr marL="1143000" indent="-228600">
                <a:defRPr sz="2000" b="1">
                  <a:solidFill>
                    <a:schemeClr val="accent1"/>
                  </a:solidFill>
                  <a:latin typeface="Arial" pitchFamily="34" charset="0"/>
                  <a:ea typeface="MS PGothic" pitchFamily="34" charset="-128"/>
                </a:defRPr>
              </a:lvl3pPr>
              <a:lvl4pPr marL="1600200" indent="-228600">
                <a:defRPr sz="2000" b="1">
                  <a:solidFill>
                    <a:schemeClr val="accent1"/>
                  </a:solidFill>
                  <a:latin typeface="Arial" pitchFamily="34" charset="0"/>
                  <a:ea typeface="MS PGothic" pitchFamily="34" charset="-128"/>
                </a:defRPr>
              </a:lvl4pPr>
              <a:lvl5pPr marL="2057400" indent="-228600">
                <a:defRPr sz="2000" b="1">
                  <a:solidFill>
                    <a:schemeClr val="accent1"/>
                  </a:solidFill>
                  <a:latin typeface="Arial" pitchFamily="34" charset="0"/>
                  <a:ea typeface="MS PGothic" pitchFamily="34" charset="-128"/>
                </a:defRPr>
              </a:lvl5pPr>
              <a:lvl6pPr marL="25146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6pPr>
              <a:lvl7pPr marL="29718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7pPr>
              <a:lvl8pPr marL="34290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8pPr>
              <a:lvl9pPr marL="38862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9pPr>
            </a:lstStyle>
            <a:p>
              <a:pPr algn="l"/>
              <a:r>
                <a:rPr lang="en-US" dirty="0">
                  <a:solidFill>
                    <a:schemeClr val="tx1"/>
                  </a:solidFill>
                </a:rPr>
                <a:t>C</a:t>
              </a:r>
              <a:r>
                <a:rPr lang="en-US" baseline="-25000" dirty="0">
                  <a:solidFill>
                    <a:schemeClr val="tx1"/>
                  </a:solidFill>
                </a:rPr>
                <a:t>11  </a:t>
              </a:r>
              <a:r>
                <a:rPr lang="en-US" dirty="0">
                  <a:solidFill>
                    <a:schemeClr val="tx1"/>
                  </a:solidFill>
                </a:rPr>
                <a:t>C</a:t>
              </a:r>
              <a:r>
                <a:rPr lang="en-US" baseline="-25000" dirty="0">
                  <a:solidFill>
                    <a:schemeClr val="tx1"/>
                  </a:solidFill>
                </a:rPr>
                <a:t>12 </a:t>
              </a:r>
              <a:r>
                <a:rPr lang="en-US" dirty="0">
                  <a:solidFill>
                    <a:schemeClr val="tx1"/>
                  </a:solidFill>
                </a:rPr>
                <a:t>C</a:t>
              </a:r>
              <a:r>
                <a:rPr lang="en-US" baseline="-25000" dirty="0">
                  <a:solidFill>
                    <a:schemeClr val="tx1"/>
                  </a:solidFill>
                </a:rPr>
                <a:t>21  </a:t>
              </a:r>
              <a:r>
                <a:rPr lang="en-US" dirty="0">
                  <a:solidFill>
                    <a:schemeClr val="tx1"/>
                  </a:solidFill>
                </a:rPr>
                <a:t>C</a:t>
              </a:r>
              <a:r>
                <a:rPr lang="en-US" baseline="-25000" dirty="0">
                  <a:solidFill>
                    <a:schemeClr val="tx1"/>
                  </a:solidFill>
                </a:rPr>
                <a:t>22</a:t>
              </a:r>
            </a:p>
          </p:txBody>
        </p:sp>
        <p:sp>
          <p:nvSpPr>
            <p:cNvPr id="28685" name="Double Bracket 12"/>
            <p:cNvSpPr>
              <a:spLocks noChangeArrowheads="1"/>
            </p:cNvSpPr>
            <p:nvPr/>
          </p:nvSpPr>
          <p:spPr bwMode="auto">
            <a:xfrm>
              <a:off x="3232161" y="3231931"/>
              <a:ext cx="914400" cy="707886"/>
            </a:xfrm>
            <a:prstGeom prst="bracketPair">
              <a:avLst>
                <a:gd name="adj" fmla="val 16667"/>
              </a:avLst>
            </a:prstGeom>
            <a:noFill/>
            <a:ln w="12700" algn="ctr">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it-IT"/>
            </a:p>
          </p:txBody>
        </p:sp>
      </p:grpSp>
      <p:grpSp>
        <p:nvGrpSpPr>
          <p:cNvPr id="28680" name="Group 13"/>
          <p:cNvGrpSpPr>
            <a:grpSpLocks/>
          </p:cNvGrpSpPr>
          <p:nvPr/>
        </p:nvGrpSpPr>
        <p:grpSpPr bwMode="auto">
          <a:xfrm>
            <a:off x="1492250" y="2178050"/>
            <a:ext cx="4271963" cy="708025"/>
            <a:chOff x="3200400" y="3231931"/>
            <a:chExt cx="1234274" cy="707886"/>
          </a:xfrm>
        </p:grpSpPr>
        <p:sp>
          <p:nvSpPr>
            <p:cNvPr id="28682" name="TextBox 14"/>
            <p:cNvSpPr txBox="1">
              <a:spLocks noChangeArrowheads="1"/>
            </p:cNvSpPr>
            <p:nvPr/>
          </p:nvSpPr>
          <p:spPr bwMode="auto">
            <a:xfrm>
              <a:off x="3200400" y="3231931"/>
              <a:ext cx="1234274"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accent1"/>
                  </a:solidFill>
                  <a:latin typeface="Arial" pitchFamily="34" charset="0"/>
                  <a:ea typeface="MS PGothic" pitchFamily="34" charset="-128"/>
                </a:defRPr>
              </a:lvl1pPr>
              <a:lvl2pPr marL="742950" indent="-285750">
                <a:defRPr sz="2000" b="1">
                  <a:solidFill>
                    <a:schemeClr val="accent1"/>
                  </a:solidFill>
                  <a:latin typeface="Arial" pitchFamily="34" charset="0"/>
                  <a:ea typeface="MS PGothic" pitchFamily="34" charset="-128"/>
                </a:defRPr>
              </a:lvl2pPr>
              <a:lvl3pPr marL="1143000" indent="-228600">
                <a:defRPr sz="2000" b="1">
                  <a:solidFill>
                    <a:schemeClr val="accent1"/>
                  </a:solidFill>
                  <a:latin typeface="Arial" pitchFamily="34" charset="0"/>
                  <a:ea typeface="MS PGothic" pitchFamily="34" charset="-128"/>
                </a:defRPr>
              </a:lvl3pPr>
              <a:lvl4pPr marL="1600200" indent="-228600">
                <a:defRPr sz="2000" b="1">
                  <a:solidFill>
                    <a:schemeClr val="accent1"/>
                  </a:solidFill>
                  <a:latin typeface="Arial" pitchFamily="34" charset="0"/>
                  <a:ea typeface="MS PGothic" pitchFamily="34" charset="-128"/>
                </a:defRPr>
              </a:lvl4pPr>
              <a:lvl5pPr marL="2057400" indent="-228600">
                <a:defRPr sz="2000" b="1">
                  <a:solidFill>
                    <a:schemeClr val="accent1"/>
                  </a:solidFill>
                  <a:latin typeface="Arial" pitchFamily="34" charset="0"/>
                  <a:ea typeface="MS PGothic" pitchFamily="34" charset="-128"/>
                </a:defRPr>
              </a:lvl5pPr>
              <a:lvl6pPr marL="25146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6pPr>
              <a:lvl7pPr marL="29718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7pPr>
              <a:lvl8pPr marL="34290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8pPr>
              <a:lvl9pPr marL="38862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9pPr>
            </a:lstStyle>
            <a:p>
              <a:r>
                <a:rPr lang="en-US">
                  <a:solidFill>
                    <a:schemeClr val="tx1"/>
                  </a:solidFill>
                </a:rPr>
                <a:t>A</a:t>
              </a:r>
              <a:r>
                <a:rPr lang="en-US" baseline="-25000">
                  <a:solidFill>
                    <a:schemeClr val="tx1"/>
                  </a:solidFill>
                </a:rPr>
                <a:t>11</a:t>
              </a:r>
              <a:r>
                <a:rPr lang="en-US">
                  <a:solidFill>
                    <a:schemeClr val="tx1"/>
                  </a:solidFill>
                </a:rPr>
                <a:t>·B</a:t>
              </a:r>
              <a:r>
                <a:rPr lang="en-US" baseline="-25000">
                  <a:solidFill>
                    <a:schemeClr val="tx1"/>
                  </a:solidFill>
                </a:rPr>
                <a:t>11 </a:t>
              </a:r>
              <a:r>
                <a:rPr lang="en-US">
                  <a:solidFill>
                    <a:schemeClr val="tx1"/>
                  </a:solidFill>
                </a:rPr>
                <a:t>+</a:t>
              </a:r>
              <a:r>
                <a:rPr lang="en-US" baseline="-25000">
                  <a:solidFill>
                    <a:schemeClr val="tx1"/>
                  </a:solidFill>
                </a:rPr>
                <a:t>  </a:t>
              </a:r>
              <a:r>
                <a:rPr lang="en-US">
                  <a:solidFill>
                    <a:schemeClr val="tx1"/>
                  </a:solidFill>
                </a:rPr>
                <a:t>A</a:t>
              </a:r>
              <a:r>
                <a:rPr lang="en-US" baseline="-25000">
                  <a:solidFill>
                    <a:schemeClr val="tx1"/>
                  </a:solidFill>
                </a:rPr>
                <a:t>12</a:t>
              </a:r>
              <a:r>
                <a:rPr lang="en-US">
                  <a:solidFill>
                    <a:schemeClr val="tx1"/>
                  </a:solidFill>
                </a:rPr>
                <a:t>·B</a:t>
              </a:r>
              <a:r>
                <a:rPr lang="en-US" baseline="-25000">
                  <a:solidFill>
                    <a:schemeClr val="tx1"/>
                  </a:solidFill>
                </a:rPr>
                <a:t>21    </a:t>
              </a:r>
              <a:r>
                <a:rPr lang="en-US">
                  <a:solidFill>
                    <a:schemeClr val="tx1"/>
                  </a:solidFill>
                </a:rPr>
                <a:t>A</a:t>
              </a:r>
              <a:r>
                <a:rPr lang="en-US" baseline="-25000">
                  <a:solidFill>
                    <a:schemeClr val="tx1"/>
                  </a:solidFill>
                </a:rPr>
                <a:t>11</a:t>
              </a:r>
              <a:r>
                <a:rPr lang="en-US">
                  <a:solidFill>
                    <a:schemeClr val="tx1"/>
                  </a:solidFill>
                </a:rPr>
                <a:t>·B</a:t>
              </a:r>
              <a:r>
                <a:rPr lang="en-US" baseline="-25000">
                  <a:solidFill>
                    <a:schemeClr val="tx1"/>
                  </a:solidFill>
                </a:rPr>
                <a:t>12 </a:t>
              </a:r>
              <a:r>
                <a:rPr lang="en-US">
                  <a:solidFill>
                    <a:schemeClr val="tx1"/>
                  </a:solidFill>
                </a:rPr>
                <a:t>+</a:t>
              </a:r>
              <a:r>
                <a:rPr lang="en-US" baseline="-25000">
                  <a:solidFill>
                    <a:schemeClr val="tx1"/>
                  </a:solidFill>
                </a:rPr>
                <a:t>  </a:t>
              </a:r>
              <a:r>
                <a:rPr lang="en-US">
                  <a:solidFill>
                    <a:schemeClr val="tx1"/>
                  </a:solidFill>
                </a:rPr>
                <a:t>A</a:t>
              </a:r>
              <a:r>
                <a:rPr lang="en-US" baseline="-25000">
                  <a:solidFill>
                    <a:schemeClr val="tx1"/>
                  </a:solidFill>
                </a:rPr>
                <a:t>12</a:t>
              </a:r>
              <a:r>
                <a:rPr lang="en-US">
                  <a:solidFill>
                    <a:schemeClr val="tx1"/>
                  </a:solidFill>
                </a:rPr>
                <a:t>·B</a:t>
              </a:r>
              <a:r>
                <a:rPr lang="en-US" baseline="-25000">
                  <a:solidFill>
                    <a:schemeClr val="tx1"/>
                  </a:solidFill>
                </a:rPr>
                <a:t>22 </a:t>
              </a:r>
              <a:r>
                <a:rPr lang="en-US">
                  <a:solidFill>
                    <a:schemeClr val="tx1"/>
                  </a:solidFill>
                </a:rPr>
                <a:t>A</a:t>
              </a:r>
              <a:r>
                <a:rPr lang="en-US" baseline="-25000">
                  <a:solidFill>
                    <a:schemeClr val="tx1"/>
                  </a:solidFill>
                </a:rPr>
                <a:t>21</a:t>
              </a:r>
              <a:r>
                <a:rPr lang="en-US">
                  <a:solidFill>
                    <a:schemeClr val="tx1"/>
                  </a:solidFill>
                </a:rPr>
                <a:t>·B</a:t>
              </a:r>
              <a:r>
                <a:rPr lang="en-US" baseline="-25000">
                  <a:solidFill>
                    <a:schemeClr val="tx1"/>
                  </a:solidFill>
                </a:rPr>
                <a:t>11 </a:t>
              </a:r>
              <a:r>
                <a:rPr lang="en-US">
                  <a:solidFill>
                    <a:schemeClr val="tx1"/>
                  </a:solidFill>
                </a:rPr>
                <a:t>+</a:t>
              </a:r>
              <a:r>
                <a:rPr lang="en-US" baseline="-25000">
                  <a:solidFill>
                    <a:schemeClr val="tx1"/>
                  </a:solidFill>
                </a:rPr>
                <a:t>  </a:t>
              </a:r>
              <a:r>
                <a:rPr lang="en-US">
                  <a:solidFill>
                    <a:schemeClr val="tx1"/>
                  </a:solidFill>
                </a:rPr>
                <a:t>A</a:t>
              </a:r>
              <a:r>
                <a:rPr lang="en-US" baseline="-25000">
                  <a:solidFill>
                    <a:schemeClr val="tx1"/>
                  </a:solidFill>
                </a:rPr>
                <a:t>22</a:t>
              </a:r>
              <a:r>
                <a:rPr lang="en-US">
                  <a:solidFill>
                    <a:schemeClr val="tx1"/>
                  </a:solidFill>
                </a:rPr>
                <a:t>·B</a:t>
              </a:r>
              <a:r>
                <a:rPr lang="en-US" baseline="-25000">
                  <a:solidFill>
                    <a:schemeClr val="tx1"/>
                  </a:solidFill>
                </a:rPr>
                <a:t>21    </a:t>
              </a:r>
              <a:r>
                <a:rPr lang="en-US">
                  <a:solidFill>
                    <a:schemeClr val="tx1"/>
                  </a:solidFill>
                </a:rPr>
                <a:t>A</a:t>
              </a:r>
              <a:r>
                <a:rPr lang="en-US" baseline="-25000">
                  <a:solidFill>
                    <a:schemeClr val="tx1"/>
                  </a:solidFill>
                </a:rPr>
                <a:t>21</a:t>
              </a:r>
              <a:r>
                <a:rPr lang="en-US">
                  <a:solidFill>
                    <a:schemeClr val="tx1"/>
                  </a:solidFill>
                </a:rPr>
                <a:t>·B</a:t>
              </a:r>
              <a:r>
                <a:rPr lang="en-US" baseline="-25000">
                  <a:solidFill>
                    <a:schemeClr val="tx1"/>
                  </a:solidFill>
                </a:rPr>
                <a:t>12 </a:t>
              </a:r>
              <a:r>
                <a:rPr lang="en-US">
                  <a:solidFill>
                    <a:schemeClr val="tx1"/>
                  </a:solidFill>
                </a:rPr>
                <a:t>+</a:t>
              </a:r>
              <a:r>
                <a:rPr lang="en-US" baseline="-25000">
                  <a:solidFill>
                    <a:schemeClr val="tx1"/>
                  </a:solidFill>
                </a:rPr>
                <a:t>  </a:t>
              </a:r>
              <a:r>
                <a:rPr lang="en-US">
                  <a:solidFill>
                    <a:schemeClr val="tx1"/>
                  </a:solidFill>
                </a:rPr>
                <a:t>A</a:t>
              </a:r>
              <a:r>
                <a:rPr lang="en-US" baseline="-25000">
                  <a:solidFill>
                    <a:schemeClr val="tx1"/>
                  </a:solidFill>
                </a:rPr>
                <a:t>22</a:t>
              </a:r>
              <a:r>
                <a:rPr lang="en-US">
                  <a:solidFill>
                    <a:schemeClr val="tx1"/>
                  </a:solidFill>
                </a:rPr>
                <a:t>·B</a:t>
              </a:r>
              <a:r>
                <a:rPr lang="en-US" baseline="-25000">
                  <a:solidFill>
                    <a:schemeClr val="tx1"/>
                  </a:solidFill>
                </a:rPr>
                <a:t>22</a:t>
              </a:r>
            </a:p>
          </p:txBody>
        </p:sp>
        <p:sp>
          <p:nvSpPr>
            <p:cNvPr id="28683" name="Double Bracket 15"/>
            <p:cNvSpPr>
              <a:spLocks noChangeArrowheads="1"/>
            </p:cNvSpPr>
            <p:nvPr/>
          </p:nvSpPr>
          <p:spPr bwMode="auto">
            <a:xfrm>
              <a:off x="3200400" y="3231931"/>
              <a:ext cx="1234274" cy="707886"/>
            </a:xfrm>
            <a:prstGeom prst="bracketPair">
              <a:avLst>
                <a:gd name="adj" fmla="val 16667"/>
              </a:avLst>
            </a:prstGeom>
            <a:noFill/>
            <a:ln w="12700" algn="ctr">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it-IT"/>
            </a:p>
          </p:txBody>
        </p:sp>
      </p:grpSp>
      <p:sp>
        <p:nvSpPr>
          <p:cNvPr id="28681" name="TextBox 16"/>
          <p:cNvSpPr txBox="1">
            <a:spLocks noChangeArrowheads="1"/>
          </p:cNvSpPr>
          <p:nvPr/>
        </p:nvSpPr>
        <p:spPr bwMode="auto">
          <a:xfrm>
            <a:off x="609600" y="3836988"/>
            <a:ext cx="7023100" cy="206210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000" b="1">
                <a:solidFill>
                  <a:schemeClr val="accent1"/>
                </a:solidFill>
                <a:latin typeface="Arial" pitchFamily="34" charset="0"/>
                <a:ea typeface="MS PGothic" pitchFamily="34" charset="-128"/>
              </a:defRPr>
            </a:lvl1pPr>
            <a:lvl2pPr marL="742950" indent="-285750">
              <a:defRPr sz="2000" b="1">
                <a:solidFill>
                  <a:schemeClr val="accent1"/>
                </a:solidFill>
                <a:latin typeface="Arial" pitchFamily="34" charset="0"/>
                <a:ea typeface="MS PGothic" pitchFamily="34" charset="-128"/>
              </a:defRPr>
            </a:lvl2pPr>
            <a:lvl3pPr marL="1143000" indent="-228600">
              <a:defRPr sz="2000" b="1">
                <a:solidFill>
                  <a:schemeClr val="accent1"/>
                </a:solidFill>
                <a:latin typeface="Arial" pitchFamily="34" charset="0"/>
                <a:ea typeface="MS PGothic" pitchFamily="34" charset="-128"/>
              </a:defRPr>
            </a:lvl3pPr>
            <a:lvl4pPr marL="1600200" indent="-228600">
              <a:defRPr sz="2000" b="1">
                <a:solidFill>
                  <a:schemeClr val="accent1"/>
                </a:solidFill>
                <a:latin typeface="Arial" pitchFamily="34" charset="0"/>
                <a:ea typeface="MS PGothic" pitchFamily="34" charset="-128"/>
              </a:defRPr>
            </a:lvl4pPr>
            <a:lvl5pPr marL="2057400" indent="-228600">
              <a:defRPr sz="2000" b="1">
                <a:solidFill>
                  <a:schemeClr val="accent1"/>
                </a:solidFill>
                <a:latin typeface="Arial" pitchFamily="34" charset="0"/>
                <a:ea typeface="MS PGothic" pitchFamily="34" charset="-128"/>
              </a:defRPr>
            </a:lvl5pPr>
            <a:lvl6pPr marL="25146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6pPr>
            <a:lvl7pPr marL="29718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7pPr>
            <a:lvl8pPr marL="34290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8pPr>
            <a:lvl9pPr marL="38862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9pPr>
          </a:lstStyle>
          <a:p>
            <a:pPr algn="l"/>
            <a:r>
              <a:rPr lang="en-US" sz="1800" dirty="0"/>
              <a:t> </a:t>
            </a:r>
            <a:r>
              <a:rPr lang="en-US" dirty="0"/>
              <a:t> </a:t>
            </a:r>
            <a:r>
              <a:rPr lang="en-US" dirty="0" err="1">
                <a:solidFill>
                  <a:schemeClr val="tx1"/>
                </a:solidFill>
              </a:rPr>
              <a:t>func</a:t>
            </a:r>
            <a:r>
              <a:rPr lang="en-US" dirty="0">
                <a:solidFill>
                  <a:schemeClr val="tx1"/>
                </a:solidFill>
              </a:rPr>
              <a:t> C = R</a:t>
            </a:r>
            <a:r>
              <a:rPr lang="en-US" sz="1800" dirty="0">
                <a:solidFill>
                  <a:schemeClr val="tx1"/>
                </a:solidFill>
              </a:rPr>
              <a:t>MM (A, B, n)</a:t>
            </a:r>
          </a:p>
          <a:p>
            <a:pPr algn="l"/>
            <a:r>
              <a:rPr lang="en-US" sz="1800" dirty="0">
                <a:solidFill>
                  <a:schemeClr val="tx1"/>
                </a:solidFill>
              </a:rPr>
              <a:t>      if n = 1, C = A * B, else</a:t>
            </a:r>
          </a:p>
          <a:p>
            <a:pPr algn="l"/>
            <a:r>
              <a:rPr lang="en-US" sz="1800" dirty="0">
                <a:solidFill>
                  <a:schemeClr val="tx1"/>
                </a:solidFill>
              </a:rPr>
              <a:t>         {  C</a:t>
            </a:r>
            <a:r>
              <a:rPr lang="en-US" sz="1800" baseline="-25000" dirty="0">
                <a:solidFill>
                  <a:schemeClr val="tx1"/>
                </a:solidFill>
              </a:rPr>
              <a:t>11 </a:t>
            </a:r>
            <a:r>
              <a:rPr lang="en-US" sz="1800" dirty="0">
                <a:solidFill>
                  <a:schemeClr val="tx1"/>
                </a:solidFill>
              </a:rPr>
              <a:t>= RMM (A</a:t>
            </a:r>
            <a:r>
              <a:rPr lang="en-US" sz="1800" baseline="-25000" dirty="0">
                <a:solidFill>
                  <a:schemeClr val="tx1"/>
                </a:solidFill>
              </a:rPr>
              <a:t>11</a:t>
            </a:r>
            <a:r>
              <a:rPr lang="en-US" sz="1800" dirty="0">
                <a:solidFill>
                  <a:schemeClr val="tx1"/>
                </a:solidFill>
              </a:rPr>
              <a:t> , B</a:t>
            </a:r>
            <a:r>
              <a:rPr lang="en-US" sz="1800" baseline="-25000" dirty="0">
                <a:solidFill>
                  <a:schemeClr val="tx1"/>
                </a:solidFill>
              </a:rPr>
              <a:t>11 </a:t>
            </a:r>
            <a:r>
              <a:rPr lang="en-US" sz="1800" dirty="0">
                <a:solidFill>
                  <a:schemeClr val="tx1"/>
                </a:solidFill>
              </a:rPr>
              <a:t>, n/2) + RMM (A</a:t>
            </a:r>
            <a:r>
              <a:rPr lang="en-US" sz="1800" baseline="-25000" dirty="0">
                <a:solidFill>
                  <a:schemeClr val="tx1"/>
                </a:solidFill>
              </a:rPr>
              <a:t>12</a:t>
            </a:r>
            <a:r>
              <a:rPr lang="en-US" sz="1800" dirty="0">
                <a:solidFill>
                  <a:schemeClr val="tx1"/>
                </a:solidFill>
              </a:rPr>
              <a:t> , B</a:t>
            </a:r>
            <a:r>
              <a:rPr lang="en-US" sz="1800" baseline="-25000" dirty="0">
                <a:solidFill>
                  <a:schemeClr val="tx1"/>
                </a:solidFill>
              </a:rPr>
              <a:t>21 </a:t>
            </a:r>
            <a:r>
              <a:rPr lang="en-US" sz="1800" dirty="0">
                <a:solidFill>
                  <a:schemeClr val="tx1"/>
                </a:solidFill>
              </a:rPr>
              <a:t>, n/2)</a:t>
            </a:r>
          </a:p>
          <a:p>
            <a:pPr algn="l"/>
            <a:r>
              <a:rPr lang="en-US" sz="1800" dirty="0">
                <a:solidFill>
                  <a:schemeClr val="tx1"/>
                </a:solidFill>
              </a:rPr>
              <a:t>            C</a:t>
            </a:r>
            <a:r>
              <a:rPr lang="en-US" sz="1800" baseline="-25000" dirty="0">
                <a:solidFill>
                  <a:schemeClr val="tx1"/>
                </a:solidFill>
              </a:rPr>
              <a:t>12 </a:t>
            </a:r>
            <a:r>
              <a:rPr lang="en-US" sz="1800" dirty="0">
                <a:solidFill>
                  <a:schemeClr val="tx1"/>
                </a:solidFill>
              </a:rPr>
              <a:t>= RMM (A</a:t>
            </a:r>
            <a:r>
              <a:rPr lang="en-US" sz="1800" baseline="-25000" dirty="0">
                <a:solidFill>
                  <a:schemeClr val="tx1"/>
                </a:solidFill>
              </a:rPr>
              <a:t>11</a:t>
            </a:r>
            <a:r>
              <a:rPr lang="en-US" sz="1800" dirty="0">
                <a:solidFill>
                  <a:schemeClr val="tx1"/>
                </a:solidFill>
              </a:rPr>
              <a:t> , B</a:t>
            </a:r>
            <a:r>
              <a:rPr lang="en-US" sz="1800" baseline="-25000" dirty="0">
                <a:solidFill>
                  <a:schemeClr val="tx1"/>
                </a:solidFill>
              </a:rPr>
              <a:t>12 </a:t>
            </a:r>
            <a:r>
              <a:rPr lang="en-US" sz="1800" dirty="0">
                <a:solidFill>
                  <a:schemeClr val="tx1"/>
                </a:solidFill>
              </a:rPr>
              <a:t>, n/2) + RMM (A</a:t>
            </a:r>
            <a:r>
              <a:rPr lang="en-US" sz="1800" baseline="-25000" dirty="0">
                <a:solidFill>
                  <a:schemeClr val="tx1"/>
                </a:solidFill>
              </a:rPr>
              <a:t>12</a:t>
            </a:r>
            <a:r>
              <a:rPr lang="en-US" sz="1800" dirty="0">
                <a:solidFill>
                  <a:schemeClr val="tx1"/>
                </a:solidFill>
              </a:rPr>
              <a:t> , B</a:t>
            </a:r>
            <a:r>
              <a:rPr lang="en-US" sz="1800" baseline="-25000" dirty="0">
                <a:solidFill>
                  <a:schemeClr val="tx1"/>
                </a:solidFill>
              </a:rPr>
              <a:t>22 </a:t>
            </a:r>
            <a:r>
              <a:rPr lang="en-US" sz="1800" dirty="0">
                <a:solidFill>
                  <a:schemeClr val="tx1"/>
                </a:solidFill>
              </a:rPr>
              <a:t>, n/2)</a:t>
            </a:r>
          </a:p>
          <a:p>
            <a:pPr algn="l"/>
            <a:r>
              <a:rPr lang="en-US" sz="1800" dirty="0">
                <a:solidFill>
                  <a:schemeClr val="tx1"/>
                </a:solidFill>
              </a:rPr>
              <a:t>            C</a:t>
            </a:r>
            <a:r>
              <a:rPr lang="en-US" sz="1800" baseline="-25000" dirty="0">
                <a:solidFill>
                  <a:schemeClr val="tx1"/>
                </a:solidFill>
              </a:rPr>
              <a:t>21 </a:t>
            </a:r>
            <a:r>
              <a:rPr lang="en-US" sz="1800" dirty="0">
                <a:solidFill>
                  <a:schemeClr val="tx1"/>
                </a:solidFill>
              </a:rPr>
              <a:t>= RMM (A</a:t>
            </a:r>
            <a:r>
              <a:rPr lang="en-US" sz="1800" baseline="-25000" dirty="0">
                <a:solidFill>
                  <a:schemeClr val="tx1"/>
                </a:solidFill>
              </a:rPr>
              <a:t>21</a:t>
            </a:r>
            <a:r>
              <a:rPr lang="en-US" sz="1800" dirty="0">
                <a:solidFill>
                  <a:schemeClr val="tx1"/>
                </a:solidFill>
              </a:rPr>
              <a:t> , B</a:t>
            </a:r>
            <a:r>
              <a:rPr lang="en-US" sz="1800" baseline="-25000" dirty="0">
                <a:solidFill>
                  <a:schemeClr val="tx1"/>
                </a:solidFill>
              </a:rPr>
              <a:t>11 </a:t>
            </a:r>
            <a:r>
              <a:rPr lang="en-US" sz="1800" dirty="0">
                <a:solidFill>
                  <a:schemeClr val="tx1"/>
                </a:solidFill>
              </a:rPr>
              <a:t>, n/2) + RMM (A</a:t>
            </a:r>
            <a:r>
              <a:rPr lang="en-US" sz="1800" baseline="-25000" dirty="0">
                <a:solidFill>
                  <a:schemeClr val="tx1"/>
                </a:solidFill>
              </a:rPr>
              <a:t>22</a:t>
            </a:r>
            <a:r>
              <a:rPr lang="en-US" sz="1800" dirty="0">
                <a:solidFill>
                  <a:schemeClr val="tx1"/>
                </a:solidFill>
              </a:rPr>
              <a:t> , B</a:t>
            </a:r>
            <a:r>
              <a:rPr lang="en-US" sz="1800" baseline="-25000" dirty="0">
                <a:solidFill>
                  <a:schemeClr val="tx1"/>
                </a:solidFill>
              </a:rPr>
              <a:t>21 </a:t>
            </a:r>
            <a:r>
              <a:rPr lang="en-US" sz="1800" dirty="0">
                <a:solidFill>
                  <a:schemeClr val="tx1"/>
                </a:solidFill>
              </a:rPr>
              <a:t>, n/2)</a:t>
            </a:r>
          </a:p>
          <a:p>
            <a:pPr algn="l"/>
            <a:r>
              <a:rPr lang="en-US" sz="1800" dirty="0">
                <a:solidFill>
                  <a:schemeClr val="tx1"/>
                </a:solidFill>
              </a:rPr>
              <a:t>            C</a:t>
            </a:r>
            <a:r>
              <a:rPr lang="en-US" sz="1800" baseline="-25000" dirty="0">
                <a:solidFill>
                  <a:schemeClr val="tx1"/>
                </a:solidFill>
              </a:rPr>
              <a:t>22 </a:t>
            </a:r>
            <a:r>
              <a:rPr lang="en-US" sz="1800" dirty="0">
                <a:solidFill>
                  <a:schemeClr val="tx1"/>
                </a:solidFill>
              </a:rPr>
              <a:t>= RMM (A</a:t>
            </a:r>
            <a:r>
              <a:rPr lang="en-US" sz="1800" baseline="-25000" dirty="0">
                <a:solidFill>
                  <a:schemeClr val="tx1"/>
                </a:solidFill>
              </a:rPr>
              <a:t>21</a:t>
            </a:r>
            <a:r>
              <a:rPr lang="en-US" sz="1800" dirty="0">
                <a:solidFill>
                  <a:schemeClr val="tx1"/>
                </a:solidFill>
              </a:rPr>
              <a:t> , B</a:t>
            </a:r>
            <a:r>
              <a:rPr lang="en-US" sz="1800" baseline="-25000" dirty="0">
                <a:solidFill>
                  <a:schemeClr val="tx1"/>
                </a:solidFill>
              </a:rPr>
              <a:t>12 </a:t>
            </a:r>
            <a:r>
              <a:rPr lang="en-US" sz="1800" dirty="0">
                <a:solidFill>
                  <a:schemeClr val="tx1"/>
                </a:solidFill>
              </a:rPr>
              <a:t>, n/2) + RMM (A</a:t>
            </a:r>
            <a:r>
              <a:rPr lang="en-US" sz="1800" baseline="-25000" dirty="0">
                <a:solidFill>
                  <a:schemeClr val="tx1"/>
                </a:solidFill>
              </a:rPr>
              <a:t>22</a:t>
            </a:r>
            <a:r>
              <a:rPr lang="en-US" sz="1800" dirty="0">
                <a:solidFill>
                  <a:schemeClr val="tx1"/>
                </a:solidFill>
              </a:rPr>
              <a:t> , B</a:t>
            </a:r>
            <a:r>
              <a:rPr lang="en-US" sz="1800" baseline="-25000" dirty="0">
                <a:solidFill>
                  <a:schemeClr val="tx1"/>
                </a:solidFill>
              </a:rPr>
              <a:t>22 </a:t>
            </a:r>
            <a:r>
              <a:rPr lang="en-US" sz="1800" dirty="0">
                <a:solidFill>
                  <a:schemeClr val="tx1"/>
                </a:solidFill>
              </a:rPr>
              <a:t>, n/2)  } </a:t>
            </a:r>
          </a:p>
          <a:p>
            <a:pPr algn="l"/>
            <a:r>
              <a:rPr lang="en-US" sz="1800" dirty="0">
                <a:solidFill>
                  <a:schemeClr val="tx1"/>
                </a:solidFill>
              </a:rPr>
              <a:t>      return         </a:t>
            </a:r>
          </a:p>
        </p:txBody>
      </p:sp>
    </p:spTree>
    <p:extLst>
      <p:ext uri="{BB962C8B-B14F-4D97-AF65-F5344CB8AC3E}">
        <p14:creationId xmlns:p14="http://schemas.microsoft.com/office/powerpoint/2010/main" val="2671490943"/>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68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81"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p:cNvSpPr>
          <p:nvPr>
            <p:ph type="title"/>
          </p:nvPr>
        </p:nvSpPr>
        <p:spPr>
          <a:xfrm>
            <a:off x="381001" y="306388"/>
            <a:ext cx="8458199" cy="425450"/>
          </a:xfrm>
        </p:spPr>
        <p:txBody>
          <a:bodyPr>
            <a:noAutofit/>
          </a:bodyPr>
          <a:lstStyle/>
          <a:p>
            <a:r>
              <a:rPr lang="en-US" sz="3600" dirty="0" smtClean="0"/>
              <a:t>Recursive Matrix Multiplication (RMM) (2/2)</a:t>
            </a:r>
          </a:p>
        </p:txBody>
      </p:sp>
      <p:sp>
        <p:nvSpPr>
          <p:cNvPr id="29699" name="Slide Number Placeholder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chemeClr val="accent1"/>
                </a:solidFill>
                <a:latin typeface="Arial" pitchFamily="34" charset="0"/>
                <a:ea typeface="MS PGothic" pitchFamily="34" charset="-128"/>
              </a:defRPr>
            </a:lvl1pPr>
            <a:lvl2pPr marL="742950" indent="-285750">
              <a:defRPr sz="2000" b="1">
                <a:solidFill>
                  <a:schemeClr val="accent1"/>
                </a:solidFill>
                <a:latin typeface="Arial" pitchFamily="34" charset="0"/>
                <a:ea typeface="MS PGothic" pitchFamily="34" charset="-128"/>
              </a:defRPr>
            </a:lvl2pPr>
            <a:lvl3pPr marL="1143000" indent="-228600">
              <a:defRPr sz="2000" b="1">
                <a:solidFill>
                  <a:schemeClr val="accent1"/>
                </a:solidFill>
                <a:latin typeface="Arial" pitchFamily="34" charset="0"/>
                <a:ea typeface="MS PGothic" pitchFamily="34" charset="-128"/>
              </a:defRPr>
            </a:lvl3pPr>
            <a:lvl4pPr marL="1600200" indent="-228600">
              <a:defRPr sz="2000" b="1">
                <a:solidFill>
                  <a:schemeClr val="accent1"/>
                </a:solidFill>
                <a:latin typeface="Arial" pitchFamily="34" charset="0"/>
                <a:ea typeface="MS PGothic" pitchFamily="34" charset="-128"/>
              </a:defRPr>
            </a:lvl4pPr>
            <a:lvl5pPr marL="2057400" indent="-228600">
              <a:defRPr sz="2000" b="1">
                <a:solidFill>
                  <a:schemeClr val="accent1"/>
                </a:solidFill>
                <a:latin typeface="Arial" pitchFamily="34" charset="0"/>
                <a:ea typeface="MS PGothic" pitchFamily="34" charset="-128"/>
              </a:defRPr>
            </a:lvl5pPr>
            <a:lvl6pPr marL="25146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6pPr>
            <a:lvl7pPr marL="29718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7pPr>
            <a:lvl8pPr marL="34290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8pPr>
            <a:lvl9pPr marL="38862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9pPr>
          </a:lstStyle>
          <a:p>
            <a:fld id="{B5FEA1C6-499C-43CB-89D4-DAFB6F789423}" type="slidenum">
              <a:rPr lang="en-US" sz="1400" b="0" smtClean="0">
                <a:solidFill>
                  <a:schemeClr val="tx1"/>
                </a:solidFill>
                <a:latin typeface="Helvetica" charset="0"/>
              </a:rPr>
              <a:pPr/>
              <a:t>17</a:t>
            </a:fld>
            <a:endParaRPr lang="en-US" sz="1400" b="0" smtClean="0">
              <a:solidFill>
                <a:schemeClr val="tx1"/>
              </a:solidFill>
              <a:latin typeface="Helvetica" charset="0"/>
            </a:endParaRPr>
          </a:p>
        </p:txBody>
      </p:sp>
      <p:sp>
        <p:nvSpPr>
          <p:cNvPr id="29700" name="TextBox 16"/>
          <p:cNvSpPr txBox="1">
            <a:spLocks noChangeArrowheads="1"/>
          </p:cNvSpPr>
          <p:nvPr/>
        </p:nvSpPr>
        <p:spPr bwMode="auto">
          <a:xfrm>
            <a:off x="1019175" y="977900"/>
            <a:ext cx="7023100" cy="2246769"/>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000" b="1">
                <a:solidFill>
                  <a:schemeClr val="accent1"/>
                </a:solidFill>
                <a:latin typeface="Arial" pitchFamily="34" charset="0"/>
                <a:ea typeface="MS PGothic" pitchFamily="34" charset="-128"/>
              </a:defRPr>
            </a:lvl1pPr>
            <a:lvl2pPr marL="742950" indent="-285750">
              <a:defRPr sz="2000" b="1">
                <a:solidFill>
                  <a:schemeClr val="accent1"/>
                </a:solidFill>
                <a:latin typeface="Arial" pitchFamily="34" charset="0"/>
                <a:ea typeface="MS PGothic" pitchFamily="34" charset="-128"/>
              </a:defRPr>
            </a:lvl2pPr>
            <a:lvl3pPr marL="1143000" indent="-228600">
              <a:defRPr sz="2000" b="1">
                <a:solidFill>
                  <a:schemeClr val="accent1"/>
                </a:solidFill>
                <a:latin typeface="Arial" pitchFamily="34" charset="0"/>
                <a:ea typeface="MS PGothic" pitchFamily="34" charset="-128"/>
              </a:defRPr>
            </a:lvl3pPr>
            <a:lvl4pPr marL="1600200" indent="-228600">
              <a:defRPr sz="2000" b="1">
                <a:solidFill>
                  <a:schemeClr val="accent1"/>
                </a:solidFill>
                <a:latin typeface="Arial" pitchFamily="34" charset="0"/>
                <a:ea typeface="MS PGothic" pitchFamily="34" charset="-128"/>
              </a:defRPr>
            </a:lvl4pPr>
            <a:lvl5pPr marL="2057400" indent="-228600">
              <a:defRPr sz="2000" b="1">
                <a:solidFill>
                  <a:schemeClr val="accent1"/>
                </a:solidFill>
                <a:latin typeface="Arial" pitchFamily="34" charset="0"/>
                <a:ea typeface="MS PGothic" pitchFamily="34" charset="-128"/>
              </a:defRPr>
            </a:lvl5pPr>
            <a:lvl6pPr marL="25146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6pPr>
            <a:lvl7pPr marL="29718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7pPr>
            <a:lvl8pPr marL="34290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8pPr>
            <a:lvl9pPr marL="38862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9pPr>
          </a:lstStyle>
          <a:p>
            <a:pPr algn="l"/>
            <a:r>
              <a:rPr lang="en-US" dirty="0"/>
              <a:t>  </a:t>
            </a:r>
            <a:r>
              <a:rPr lang="en-US" dirty="0" err="1">
                <a:solidFill>
                  <a:schemeClr val="tx1"/>
                </a:solidFill>
              </a:rPr>
              <a:t>func</a:t>
            </a:r>
            <a:r>
              <a:rPr lang="en-US" dirty="0">
                <a:solidFill>
                  <a:schemeClr val="tx1"/>
                </a:solidFill>
              </a:rPr>
              <a:t> C = RMM (A, B, n)</a:t>
            </a:r>
          </a:p>
          <a:p>
            <a:pPr algn="l"/>
            <a:r>
              <a:rPr lang="en-US" dirty="0">
                <a:solidFill>
                  <a:schemeClr val="tx1"/>
                </a:solidFill>
              </a:rPr>
              <a:t>      if n=1, C = A * B, else</a:t>
            </a:r>
          </a:p>
          <a:p>
            <a:pPr algn="l"/>
            <a:r>
              <a:rPr lang="en-US" dirty="0">
                <a:solidFill>
                  <a:schemeClr val="tx1"/>
                </a:solidFill>
              </a:rPr>
              <a:t>         {  C</a:t>
            </a:r>
            <a:r>
              <a:rPr lang="en-US" baseline="-25000" dirty="0">
                <a:solidFill>
                  <a:schemeClr val="tx1"/>
                </a:solidFill>
              </a:rPr>
              <a:t>11 </a:t>
            </a:r>
            <a:r>
              <a:rPr lang="en-US" dirty="0">
                <a:solidFill>
                  <a:schemeClr val="tx1"/>
                </a:solidFill>
              </a:rPr>
              <a:t>= RMM (A</a:t>
            </a:r>
            <a:r>
              <a:rPr lang="en-US" baseline="-25000" dirty="0">
                <a:solidFill>
                  <a:schemeClr val="tx1"/>
                </a:solidFill>
              </a:rPr>
              <a:t>11</a:t>
            </a:r>
            <a:r>
              <a:rPr lang="en-US" dirty="0">
                <a:solidFill>
                  <a:schemeClr val="tx1"/>
                </a:solidFill>
              </a:rPr>
              <a:t> , B</a:t>
            </a:r>
            <a:r>
              <a:rPr lang="en-US" baseline="-25000" dirty="0">
                <a:solidFill>
                  <a:schemeClr val="tx1"/>
                </a:solidFill>
              </a:rPr>
              <a:t>11 </a:t>
            </a:r>
            <a:r>
              <a:rPr lang="en-US" dirty="0">
                <a:solidFill>
                  <a:schemeClr val="tx1"/>
                </a:solidFill>
              </a:rPr>
              <a:t>, n/2) + RMM (A</a:t>
            </a:r>
            <a:r>
              <a:rPr lang="en-US" baseline="-25000" dirty="0">
                <a:solidFill>
                  <a:schemeClr val="tx1"/>
                </a:solidFill>
              </a:rPr>
              <a:t>12</a:t>
            </a:r>
            <a:r>
              <a:rPr lang="en-US" dirty="0">
                <a:solidFill>
                  <a:schemeClr val="tx1"/>
                </a:solidFill>
              </a:rPr>
              <a:t> , B</a:t>
            </a:r>
            <a:r>
              <a:rPr lang="en-US" baseline="-25000" dirty="0">
                <a:solidFill>
                  <a:schemeClr val="tx1"/>
                </a:solidFill>
              </a:rPr>
              <a:t>21 </a:t>
            </a:r>
            <a:r>
              <a:rPr lang="en-US" dirty="0">
                <a:solidFill>
                  <a:schemeClr val="tx1"/>
                </a:solidFill>
              </a:rPr>
              <a:t>, n/2)</a:t>
            </a:r>
          </a:p>
          <a:p>
            <a:pPr algn="l"/>
            <a:r>
              <a:rPr lang="en-US" dirty="0">
                <a:solidFill>
                  <a:schemeClr val="tx1"/>
                </a:solidFill>
              </a:rPr>
              <a:t>            C</a:t>
            </a:r>
            <a:r>
              <a:rPr lang="en-US" baseline="-25000" dirty="0">
                <a:solidFill>
                  <a:schemeClr val="tx1"/>
                </a:solidFill>
              </a:rPr>
              <a:t>12 </a:t>
            </a:r>
            <a:r>
              <a:rPr lang="en-US" dirty="0">
                <a:solidFill>
                  <a:schemeClr val="tx1"/>
                </a:solidFill>
              </a:rPr>
              <a:t>= RMM (A</a:t>
            </a:r>
            <a:r>
              <a:rPr lang="en-US" baseline="-25000" dirty="0">
                <a:solidFill>
                  <a:schemeClr val="tx1"/>
                </a:solidFill>
              </a:rPr>
              <a:t>11</a:t>
            </a:r>
            <a:r>
              <a:rPr lang="en-US" dirty="0">
                <a:solidFill>
                  <a:schemeClr val="tx1"/>
                </a:solidFill>
              </a:rPr>
              <a:t> , B</a:t>
            </a:r>
            <a:r>
              <a:rPr lang="en-US" baseline="-25000" dirty="0">
                <a:solidFill>
                  <a:schemeClr val="tx1"/>
                </a:solidFill>
              </a:rPr>
              <a:t>12 </a:t>
            </a:r>
            <a:r>
              <a:rPr lang="en-US" dirty="0">
                <a:solidFill>
                  <a:schemeClr val="tx1"/>
                </a:solidFill>
              </a:rPr>
              <a:t>, n/2) + RMM (A</a:t>
            </a:r>
            <a:r>
              <a:rPr lang="en-US" baseline="-25000" dirty="0">
                <a:solidFill>
                  <a:schemeClr val="tx1"/>
                </a:solidFill>
              </a:rPr>
              <a:t>12</a:t>
            </a:r>
            <a:r>
              <a:rPr lang="en-US" dirty="0">
                <a:solidFill>
                  <a:schemeClr val="tx1"/>
                </a:solidFill>
              </a:rPr>
              <a:t> , B</a:t>
            </a:r>
            <a:r>
              <a:rPr lang="en-US" baseline="-25000" dirty="0">
                <a:solidFill>
                  <a:schemeClr val="tx1"/>
                </a:solidFill>
              </a:rPr>
              <a:t>22 </a:t>
            </a:r>
            <a:r>
              <a:rPr lang="en-US" dirty="0">
                <a:solidFill>
                  <a:schemeClr val="tx1"/>
                </a:solidFill>
              </a:rPr>
              <a:t>, n/2)</a:t>
            </a:r>
          </a:p>
          <a:p>
            <a:pPr algn="l"/>
            <a:r>
              <a:rPr lang="en-US" dirty="0">
                <a:solidFill>
                  <a:schemeClr val="tx1"/>
                </a:solidFill>
              </a:rPr>
              <a:t>            C</a:t>
            </a:r>
            <a:r>
              <a:rPr lang="en-US" baseline="-25000" dirty="0">
                <a:solidFill>
                  <a:schemeClr val="tx1"/>
                </a:solidFill>
              </a:rPr>
              <a:t>21 </a:t>
            </a:r>
            <a:r>
              <a:rPr lang="en-US" dirty="0">
                <a:solidFill>
                  <a:schemeClr val="tx1"/>
                </a:solidFill>
              </a:rPr>
              <a:t>= RMM (A</a:t>
            </a:r>
            <a:r>
              <a:rPr lang="en-US" baseline="-25000" dirty="0">
                <a:solidFill>
                  <a:schemeClr val="tx1"/>
                </a:solidFill>
              </a:rPr>
              <a:t>21</a:t>
            </a:r>
            <a:r>
              <a:rPr lang="en-US" dirty="0">
                <a:solidFill>
                  <a:schemeClr val="tx1"/>
                </a:solidFill>
              </a:rPr>
              <a:t> , B</a:t>
            </a:r>
            <a:r>
              <a:rPr lang="en-US" baseline="-25000" dirty="0">
                <a:solidFill>
                  <a:schemeClr val="tx1"/>
                </a:solidFill>
              </a:rPr>
              <a:t>11 </a:t>
            </a:r>
            <a:r>
              <a:rPr lang="en-US" dirty="0">
                <a:solidFill>
                  <a:schemeClr val="tx1"/>
                </a:solidFill>
              </a:rPr>
              <a:t>, n/2) + RMM (A</a:t>
            </a:r>
            <a:r>
              <a:rPr lang="en-US" baseline="-25000" dirty="0">
                <a:solidFill>
                  <a:schemeClr val="tx1"/>
                </a:solidFill>
              </a:rPr>
              <a:t>22</a:t>
            </a:r>
            <a:r>
              <a:rPr lang="en-US" dirty="0">
                <a:solidFill>
                  <a:schemeClr val="tx1"/>
                </a:solidFill>
              </a:rPr>
              <a:t> , B</a:t>
            </a:r>
            <a:r>
              <a:rPr lang="en-US" baseline="-25000" dirty="0">
                <a:solidFill>
                  <a:schemeClr val="tx1"/>
                </a:solidFill>
              </a:rPr>
              <a:t>21 </a:t>
            </a:r>
            <a:r>
              <a:rPr lang="en-US" dirty="0">
                <a:solidFill>
                  <a:schemeClr val="tx1"/>
                </a:solidFill>
              </a:rPr>
              <a:t>, n/2)</a:t>
            </a:r>
          </a:p>
          <a:p>
            <a:pPr algn="l"/>
            <a:r>
              <a:rPr lang="en-US" dirty="0">
                <a:solidFill>
                  <a:schemeClr val="tx1"/>
                </a:solidFill>
              </a:rPr>
              <a:t>            C</a:t>
            </a:r>
            <a:r>
              <a:rPr lang="en-US" baseline="-25000" dirty="0">
                <a:solidFill>
                  <a:schemeClr val="tx1"/>
                </a:solidFill>
              </a:rPr>
              <a:t>22 </a:t>
            </a:r>
            <a:r>
              <a:rPr lang="en-US" dirty="0">
                <a:solidFill>
                  <a:schemeClr val="tx1"/>
                </a:solidFill>
              </a:rPr>
              <a:t>= RMM (A</a:t>
            </a:r>
            <a:r>
              <a:rPr lang="en-US" baseline="-25000" dirty="0">
                <a:solidFill>
                  <a:schemeClr val="tx1"/>
                </a:solidFill>
              </a:rPr>
              <a:t>21</a:t>
            </a:r>
            <a:r>
              <a:rPr lang="en-US" dirty="0">
                <a:solidFill>
                  <a:schemeClr val="tx1"/>
                </a:solidFill>
              </a:rPr>
              <a:t> , B</a:t>
            </a:r>
            <a:r>
              <a:rPr lang="en-US" baseline="-25000" dirty="0">
                <a:solidFill>
                  <a:schemeClr val="tx1"/>
                </a:solidFill>
              </a:rPr>
              <a:t>12 </a:t>
            </a:r>
            <a:r>
              <a:rPr lang="en-US" dirty="0">
                <a:solidFill>
                  <a:schemeClr val="tx1"/>
                </a:solidFill>
              </a:rPr>
              <a:t>, n/2) + RMM (A</a:t>
            </a:r>
            <a:r>
              <a:rPr lang="en-US" baseline="-25000" dirty="0">
                <a:solidFill>
                  <a:schemeClr val="tx1"/>
                </a:solidFill>
              </a:rPr>
              <a:t>22</a:t>
            </a:r>
            <a:r>
              <a:rPr lang="en-US" dirty="0">
                <a:solidFill>
                  <a:schemeClr val="tx1"/>
                </a:solidFill>
              </a:rPr>
              <a:t> , B</a:t>
            </a:r>
            <a:r>
              <a:rPr lang="en-US" baseline="-25000" dirty="0">
                <a:solidFill>
                  <a:schemeClr val="tx1"/>
                </a:solidFill>
              </a:rPr>
              <a:t>22 </a:t>
            </a:r>
            <a:r>
              <a:rPr lang="en-US" dirty="0">
                <a:solidFill>
                  <a:schemeClr val="tx1"/>
                </a:solidFill>
              </a:rPr>
              <a:t>, n/2)  } </a:t>
            </a:r>
          </a:p>
          <a:p>
            <a:pPr algn="l"/>
            <a:r>
              <a:rPr lang="en-US" dirty="0">
                <a:solidFill>
                  <a:schemeClr val="tx1"/>
                </a:solidFill>
              </a:rPr>
              <a:t>      return         </a:t>
            </a:r>
          </a:p>
        </p:txBody>
      </p:sp>
      <p:sp>
        <p:nvSpPr>
          <p:cNvPr id="29701" name="TextBox 18"/>
          <p:cNvSpPr txBox="1">
            <a:spLocks noChangeArrowheads="1"/>
          </p:cNvSpPr>
          <p:nvPr/>
        </p:nvSpPr>
        <p:spPr bwMode="auto">
          <a:xfrm>
            <a:off x="762000" y="3429000"/>
            <a:ext cx="7943876" cy="3262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a:solidFill>
                  <a:schemeClr val="accent1"/>
                </a:solidFill>
                <a:latin typeface="Arial" pitchFamily="34" charset="0"/>
                <a:ea typeface="MS PGothic" pitchFamily="34" charset="-128"/>
              </a:defRPr>
            </a:lvl1pPr>
            <a:lvl2pPr marL="742950" indent="-285750">
              <a:defRPr sz="2000" b="1">
                <a:solidFill>
                  <a:schemeClr val="accent1"/>
                </a:solidFill>
                <a:latin typeface="Arial" pitchFamily="34" charset="0"/>
                <a:ea typeface="MS PGothic" pitchFamily="34" charset="-128"/>
              </a:defRPr>
            </a:lvl2pPr>
            <a:lvl3pPr marL="1143000" indent="-228600">
              <a:defRPr sz="2000" b="1">
                <a:solidFill>
                  <a:schemeClr val="accent1"/>
                </a:solidFill>
                <a:latin typeface="Arial" pitchFamily="34" charset="0"/>
                <a:ea typeface="MS PGothic" pitchFamily="34" charset="-128"/>
              </a:defRPr>
            </a:lvl3pPr>
            <a:lvl4pPr marL="1600200" indent="-228600">
              <a:defRPr sz="2000" b="1">
                <a:solidFill>
                  <a:schemeClr val="accent1"/>
                </a:solidFill>
                <a:latin typeface="Arial" pitchFamily="34" charset="0"/>
                <a:ea typeface="MS PGothic" pitchFamily="34" charset="-128"/>
              </a:defRPr>
            </a:lvl4pPr>
            <a:lvl5pPr marL="2057400" indent="-228600">
              <a:defRPr sz="2000" b="1">
                <a:solidFill>
                  <a:schemeClr val="accent1"/>
                </a:solidFill>
                <a:latin typeface="Arial" pitchFamily="34" charset="0"/>
                <a:ea typeface="MS PGothic" pitchFamily="34" charset="-128"/>
              </a:defRPr>
            </a:lvl5pPr>
            <a:lvl6pPr marL="25146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6pPr>
            <a:lvl7pPr marL="29718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7pPr>
            <a:lvl8pPr marL="34290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8pPr>
            <a:lvl9pPr marL="38862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9pPr>
          </a:lstStyle>
          <a:p>
            <a:pPr algn="l"/>
            <a:r>
              <a:rPr lang="en-US" b="0" dirty="0">
                <a:solidFill>
                  <a:schemeClr val="tx1"/>
                </a:solidFill>
              </a:rPr>
              <a:t>A(n)  = # arithmetic operations in RMM( . , . , n)</a:t>
            </a:r>
          </a:p>
          <a:p>
            <a:pPr algn="l"/>
            <a:r>
              <a:rPr lang="en-US" b="0" dirty="0">
                <a:solidFill>
                  <a:schemeClr val="tx1"/>
                </a:solidFill>
              </a:rPr>
              <a:t>         = 8 · A(n/2) + 4(n/2)</a:t>
            </a:r>
            <a:r>
              <a:rPr lang="en-US" sz="2400" b="0" baseline="30000" dirty="0">
                <a:solidFill>
                  <a:schemeClr val="tx1"/>
                </a:solidFill>
              </a:rPr>
              <a:t>2</a:t>
            </a:r>
            <a:r>
              <a:rPr lang="en-US" b="0" dirty="0">
                <a:solidFill>
                  <a:schemeClr val="tx1"/>
                </a:solidFill>
              </a:rPr>
              <a:t>  if  n &gt; 1,   else 1</a:t>
            </a:r>
          </a:p>
          <a:p>
            <a:pPr algn="l"/>
            <a:r>
              <a:rPr lang="en-US" b="0" dirty="0">
                <a:solidFill>
                  <a:schemeClr val="tx1"/>
                </a:solidFill>
              </a:rPr>
              <a:t>         = 2n</a:t>
            </a:r>
            <a:r>
              <a:rPr lang="en-US" sz="2400" b="0" baseline="30000" dirty="0">
                <a:solidFill>
                  <a:schemeClr val="tx1"/>
                </a:solidFill>
              </a:rPr>
              <a:t>3   </a:t>
            </a:r>
            <a:r>
              <a:rPr lang="en-US" sz="2400" b="0" dirty="0">
                <a:solidFill>
                  <a:schemeClr val="tx1"/>
                </a:solidFill>
              </a:rPr>
              <a:t>… </a:t>
            </a:r>
            <a:r>
              <a:rPr lang="en-US" b="0" dirty="0">
                <a:solidFill>
                  <a:schemeClr val="tx1"/>
                </a:solidFill>
              </a:rPr>
              <a:t>same operations as usual, in different </a:t>
            </a:r>
            <a:r>
              <a:rPr lang="en-US" b="0" dirty="0" smtClean="0">
                <a:solidFill>
                  <a:schemeClr val="tx1"/>
                </a:solidFill>
              </a:rPr>
              <a:t>order</a:t>
            </a:r>
          </a:p>
          <a:p>
            <a:pPr algn="l"/>
            <a:endParaRPr lang="en-US" b="0" dirty="0">
              <a:solidFill>
                <a:schemeClr val="tx1"/>
              </a:solidFill>
            </a:endParaRPr>
          </a:p>
          <a:p>
            <a:pPr algn="l"/>
            <a:r>
              <a:rPr lang="en-US" b="0" dirty="0" smtClean="0">
                <a:solidFill>
                  <a:schemeClr val="tx1"/>
                </a:solidFill>
              </a:rPr>
              <a:t>W(</a:t>
            </a:r>
            <a:r>
              <a:rPr lang="en-US" b="0" dirty="0">
                <a:solidFill>
                  <a:schemeClr val="tx1"/>
                </a:solidFill>
              </a:rPr>
              <a:t>n) = # words moved between fast, slow memory by RMM( . , . , n)</a:t>
            </a:r>
          </a:p>
          <a:p>
            <a:pPr algn="l"/>
            <a:r>
              <a:rPr lang="en-US" b="0" dirty="0">
                <a:solidFill>
                  <a:schemeClr val="tx1"/>
                </a:solidFill>
              </a:rPr>
              <a:t>         = 8 · </a:t>
            </a:r>
            <a:r>
              <a:rPr lang="en-US" b="0" dirty="0" smtClean="0">
                <a:solidFill>
                  <a:schemeClr val="tx1"/>
                </a:solidFill>
              </a:rPr>
              <a:t>W(</a:t>
            </a:r>
            <a:r>
              <a:rPr lang="en-US" b="0" dirty="0">
                <a:solidFill>
                  <a:schemeClr val="tx1"/>
                </a:solidFill>
              </a:rPr>
              <a:t>n/2) + </a:t>
            </a:r>
            <a:r>
              <a:rPr lang="en-US" b="0" dirty="0" smtClean="0">
                <a:solidFill>
                  <a:schemeClr val="tx1"/>
                </a:solidFill>
              </a:rPr>
              <a:t>12(</a:t>
            </a:r>
            <a:r>
              <a:rPr lang="en-US" b="0" dirty="0">
                <a:solidFill>
                  <a:schemeClr val="tx1"/>
                </a:solidFill>
              </a:rPr>
              <a:t>n/2)</a:t>
            </a:r>
            <a:r>
              <a:rPr lang="en-US" sz="2400" b="0" baseline="30000" dirty="0">
                <a:solidFill>
                  <a:schemeClr val="tx1"/>
                </a:solidFill>
              </a:rPr>
              <a:t>2</a:t>
            </a:r>
            <a:r>
              <a:rPr lang="en-US" b="0" dirty="0">
                <a:solidFill>
                  <a:schemeClr val="tx1"/>
                </a:solidFill>
              </a:rPr>
              <a:t>  if  3n</a:t>
            </a:r>
            <a:r>
              <a:rPr lang="en-US" sz="2400" b="0" baseline="30000" dirty="0">
                <a:solidFill>
                  <a:schemeClr val="tx1"/>
                </a:solidFill>
              </a:rPr>
              <a:t>2</a:t>
            </a:r>
            <a:r>
              <a:rPr lang="en-US" b="0" dirty="0">
                <a:solidFill>
                  <a:schemeClr val="tx1"/>
                </a:solidFill>
              </a:rPr>
              <a:t> &gt; </a:t>
            </a:r>
            <a:r>
              <a:rPr lang="en-US" b="0" dirty="0" smtClean="0">
                <a:solidFill>
                  <a:schemeClr val="tx1"/>
                </a:solidFill>
              </a:rPr>
              <a:t>M</a:t>
            </a:r>
            <a:r>
              <a:rPr lang="en-US" b="0" baseline="-25000" dirty="0" smtClean="0">
                <a:solidFill>
                  <a:schemeClr val="tx1"/>
                </a:solidFill>
              </a:rPr>
              <a:t>  </a:t>
            </a:r>
            <a:r>
              <a:rPr lang="en-US" b="0" dirty="0">
                <a:solidFill>
                  <a:schemeClr val="tx1"/>
                </a:solidFill>
              </a:rPr>
              <a:t>,  else 3n</a:t>
            </a:r>
            <a:r>
              <a:rPr lang="en-US" sz="2400" b="0" baseline="30000" dirty="0">
                <a:solidFill>
                  <a:schemeClr val="tx1"/>
                </a:solidFill>
              </a:rPr>
              <a:t>2</a:t>
            </a:r>
            <a:r>
              <a:rPr lang="en-US" b="0" dirty="0">
                <a:solidFill>
                  <a:schemeClr val="tx1"/>
                </a:solidFill>
              </a:rPr>
              <a:t> </a:t>
            </a:r>
          </a:p>
          <a:p>
            <a:pPr algn="l"/>
            <a:r>
              <a:rPr lang="en-US" b="0" dirty="0">
                <a:solidFill>
                  <a:schemeClr val="tx1"/>
                </a:solidFill>
              </a:rPr>
              <a:t>         = O( n</a:t>
            </a:r>
            <a:r>
              <a:rPr lang="en-US" sz="2400" b="0" baseline="30000" dirty="0">
                <a:solidFill>
                  <a:schemeClr val="tx1"/>
                </a:solidFill>
              </a:rPr>
              <a:t>3</a:t>
            </a:r>
            <a:r>
              <a:rPr lang="en-US" b="0" dirty="0">
                <a:solidFill>
                  <a:schemeClr val="tx1"/>
                </a:solidFill>
              </a:rPr>
              <a:t> / </a:t>
            </a:r>
            <a:r>
              <a:rPr lang="en-US" b="0" dirty="0" smtClean="0">
                <a:solidFill>
                  <a:schemeClr val="tx1"/>
                </a:solidFill>
              </a:rPr>
              <a:t>M</a:t>
            </a:r>
            <a:r>
              <a:rPr lang="en-US" sz="2400" b="0" baseline="30000" dirty="0" smtClean="0">
                <a:solidFill>
                  <a:schemeClr val="tx1"/>
                </a:solidFill>
              </a:rPr>
              <a:t>1</a:t>
            </a:r>
            <a:r>
              <a:rPr lang="en-US" sz="2400" b="0" baseline="30000" dirty="0">
                <a:solidFill>
                  <a:schemeClr val="tx1"/>
                </a:solidFill>
              </a:rPr>
              <a:t>/2 </a:t>
            </a:r>
            <a:r>
              <a:rPr lang="en-US" sz="2400" b="0" dirty="0">
                <a:solidFill>
                  <a:schemeClr val="tx1"/>
                </a:solidFill>
              </a:rPr>
              <a:t>+</a:t>
            </a:r>
            <a:r>
              <a:rPr lang="en-US" sz="2400" b="0" baseline="30000" dirty="0">
                <a:solidFill>
                  <a:schemeClr val="tx1"/>
                </a:solidFill>
              </a:rPr>
              <a:t> </a:t>
            </a:r>
            <a:r>
              <a:rPr lang="en-US" b="0" dirty="0">
                <a:solidFill>
                  <a:schemeClr val="tx1"/>
                </a:solidFill>
              </a:rPr>
              <a:t>n</a:t>
            </a:r>
            <a:r>
              <a:rPr lang="en-US" sz="2400" b="0" baseline="30000" dirty="0">
                <a:solidFill>
                  <a:schemeClr val="tx1"/>
                </a:solidFill>
              </a:rPr>
              <a:t>2</a:t>
            </a:r>
            <a:r>
              <a:rPr lang="en-US" b="0" dirty="0">
                <a:solidFill>
                  <a:schemeClr val="tx1"/>
                </a:solidFill>
              </a:rPr>
              <a:t> )    … same as blocked </a:t>
            </a:r>
            <a:r>
              <a:rPr lang="en-US" b="0" dirty="0" err="1" smtClean="0">
                <a:solidFill>
                  <a:schemeClr val="tx1"/>
                </a:solidFill>
              </a:rPr>
              <a:t>matmul</a:t>
            </a:r>
            <a:endParaRPr lang="en-US" b="0" dirty="0" smtClean="0">
              <a:solidFill>
                <a:schemeClr val="tx1"/>
              </a:solidFill>
            </a:endParaRPr>
          </a:p>
          <a:p>
            <a:pPr algn="l"/>
            <a:endParaRPr lang="en-US" b="0" dirty="0">
              <a:solidFill>
                <a:schemeClr val="tx1"/>
              </a:solidFill>
            </a:endParaRPr>
          </a:p>
          <a:p>
            <a:pPr algn="l"/>
            <a:r>
              <a:rPr lang="en-US" b="0" dirty="0" smtClean="0">
                <a:solidFill>
                  <a:schemeClr val="tx1"/>
                </a:solidFill>
              </a:rPr>
              <a:t>“Cache oblivious”, works for memory hierarchies, but not panacea</a:t>
            </a:r>
            <a:endParaRPr lang="en-US" b="0" dirty="0">
              <a:solidFill>
                <a:schemeClr val="tx1"/>
              </a:solidFill>
            </a:endParaRPr>
          </a:p>
          <a:p>
            <a:pPr algn="l"/>
            <a:endParaRPr lang="en-US" sz="1800" b="0" dirty="0">
              <a:solidFill>
                <a:schemeClr val="tx1"/>
              </a:solidFill>
            </a:endParaRPr>
          </a:p>
        </p:txBody>
      </p:sp>
    </p:spTree>
    <p:extLst>
      <p:ext uri="{BB962C8B-B14F-4D97-AF65-F5344CB8AC3E}">
        <p14:creationId xmlns:p14="http://schemas.microsoft.com/office/powerpoint/2010/main" val="2528626661"/>
      </p:ext>
    </p:extLst>
  </p:cSld>
  <p:clrMapOvr>
    <a:masterClrMapping/>
  </p:clrMapOvr>
  <p:timing>
    <p:tnLst>
      <p:par>
        <p:cTn xmlns:p14="http://schemas.microsoft.com/office/powerpoint/2010/mai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p:cNvSpPr>
            <a:spLocks noGrp="1"/>
          </p:cNvSpPr>
          <p:nvPr>
            <p:ph type="title"/>
          </p:nvPr>
        </p:nvSpPr>
        <p:spPr>
          <a:xfrm>
            <a:off x="304800" y="163513"/>
            <a:ext cx="8459788" cy="479425"/>
          </a:xfrm>
        </p:spPr>
        <p:txBody>
          <a:bodyPr>
            <a:normAutofit fontScale="90000"/>
          </a:bodyPr>
          <a:lstStyle/>
          <a:p>
            <a:r>
              <a:rPr lang="en-US" sz="3200" smtClean="0"/>
              <a:t>How hard is hand-tuning matmul, anyway?</a:t>
            </a:r>
          </a:p>
        </p:txBody>
      </p:sp>
      <p:pic>
        <p:nvPicPr>
          <p:cNvPr id="33795" name="Content Placeholder 6" descr="CS267_Matmul_summary.png"/>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498475" y="838200"/>
            <a:ext cx="8340725" cy="4419600"/>
          </a:xfrm>
          <a:ln>
            <a:solidFill>
              <a:schemeClr val="tx1"/>
            </a:solidFill>
            <a:miter lim="800000"/>
            <a:headEnd/>
            <a:tailEnd/>
          </a:ln>
        </p:spPr>
      </p:pic>
      <p:sp>
        <p:nvSpPr>
          <p:cNvPr id="33796" name="Slide Number Placeholder 5"/>
          <p:cNvSpPr>
            <a:spLocks noGrp="1"/>
          </p:cNvSpPr>
          <p:nvPr>
            <p:ph type="sldNum" sz="quarter" idx="11"/>
          </p:nvPr>
        </p:nvSpPr>
        <p:spPr>
          <a:xfrm>
            <a:off x="6856413" y="6492875"/>
            <a:ext cx="2133600" cy="3651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chemeClr val="accent1"/>
                </a:solidFill>
                <a:latin typeface="Arial" pitchFamily="34" charset="0"/>
                <a:ea typeface="MS PGothic" pitchFamily="34" charset="-128"/>
              </a:defRPr>
            </a:lvl1pPr>
            <a:lvl2pPr marL="742950" indent="-285750">
              <a:defRPr sz="2000" b="1">
                <a:solidFill>
                  <a:schemeClr val="accent1"/>
                </a:solidFill>
                <a:latin typeface="Arial" pitchFamily="34" charset="0"/>
                <a:ea typeface="MS PGothic" pitchFamily="34" charset="-128"/>
              </a:defRPr>
            </a:lvl2pPr>
            <a:lvl3pPr marL="1143000" indent="-228600">
              <a:defRPr sz="2000" b="1">
                <a:solidFill>
                  <a:schemeClr val="accent1"/>
                </a:solidFill>
                <a:latin typeface="Arial" pitchFamily="34" charset="0"/>
                <a:ea typeface="MS PGothic" pitchFamily="34" charset="-128"/>
              </a:defRPr>
            </a:lvl3pPr>
            <a:lvl4pPr marL="1600200" indent="-228600">
              <a:defRPr sz="2000" b="1">
                <a:solidFill>
                  <a:schemeClr val="accent1"/>
                </a:solidFill>
                <a:latin typeface="Arial" pitchFamily="34" charset="0"/>
                <a:ea typeface="MS PGothic" pitchFamily="34" charset="-128"/>
              </a:defRPr>
            </a:lvl4pPr>
            <a:lvl5pPr marL="2057400" indent="-228600">
              <a:defRPr sz="2000" b="1">
                <a:solidFill>
                  <a:schemeClr val="accent1"/>
                </a:solidFill>
                <a:latin typeface="Arial" pitchFamily="34" charset="0"/>
                <a:ea typeface="MS PGothic" pitchFamily="34" charset="-128"/>
              </a:defRPr>
            </a:lvl5pPr>
            <a:lvl6pPr marL="25146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6pPr>
            <a:lvl7pPr marL="29718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7pPr>
            <a:lvl8pPr marL="34290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8pPr>
            <a:lvl9pPr marL="38862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9pPr>
          </a:lstStyle>
          <a:p>
            <a:pPr algn="ctr"/>
            <a:fld id="{5307CACF-C77D-46A9-877E-EDF21A101849}" type="slidenum">
              <a:rPr lang="en-US" sz="1400" b="0" smtClean="0">
                <a:solidFill>
                  <a:schemeClr val="tx1"/>
                </a:solidFill>
                <a:latin typeface="Helvetica" charset="0"/>
              </a:rPr>
              <a:pPr algn="ctr"/>
              <a:t>18</a:t>
            </a:fld>
            <a:endParaRPr lang="en-US" sz="1400" b="0" smtClean="0">
              <a:solidFill>
                <a:schemeClr val="tx1"/>
              </a:solidFill>
              <a:latin typeface="Helvetica" charset="0"/>
            </a:endParaRPr>
          </a:p>
        </p:txBody>
      </p:sp>
      <p:sp>
        <p:nvSpPr>
          <p:cNvPr id="33797" name="TextBox 7"/>
          <p:cNvSpPr txBox="1">
            <a:spLocks noChangeArrowheads="1"/>
          </p:cNvSpPr>
          <p:nvPr/>
        </p:nvSpPr>
        <p:spPr bwMode="auto">
          <a:xfrm>
            <a:off x="457200" y="5334000"/>
            <a:ext cx="8124825" cy="1108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a:solidFill>
                  <a:schemeClr val="accent1"/>
                </a:solidFill>
                <a:latin typeface="Arial" pitchFamily="34" charset="0"/>
                <a:ea typeface="MS PGothic" pitchFamily="34" charset="-128"/>
              </a:defRPr>
            </a:lvl1pPr>
            <a:lvl2pPr>
              <a:defRPr sz="2000" b="1">
                <a:solidFill>
                  <a:schemeClr val="accent1"/>
                </a:solidFill>
                <a:latin typeface="Arial" pitchFamily="34" charset="0"/>
                <a:ea typeface="MS PGothic" pitchFamily="34" charset="-128"/>
              </a:defRPr>
            </a:lvl2pPr>
            <a:lvl3pPr marL="1143000" indent="-228600">
              <a:defRPr sz="2000" b="1">
                <a:solidFill>
                  <a:schemeClr val="accent1"/>
                </a:solidFill>
                <a:latin typeface="Arial" pitchFamily="34" charset="0"/>
                <a:ea typeface="MS PGothic" pitchFamily="34" charset="-128"/>
              </a:defRPr>
            </a:lvl3pPr>
            <a:lvl4pPr marL="1600200" indent="-228600">
              <a:defRPr sz="2000" b="1">
                <a:solidFill>
                  <a:schemeClr val="accent1"/>
                </a:solidFill>
                <a:latin typeface="Arial" pitchFamily="34" charset="0"/>
                <a:ea typeface="MS PGothic" pitchFamily="34" charset="-128"/>
              </a:defRPr>
            </a:lvl4pPr>
            <a:lvl5pPr marL="2057400" indent="-228600">
              <a:defRPr sz="2000" b="1">
                <a:solidFill>
                  <a:schemeClr val="accent1"/>
                </a:solidFill>
                <a:latin typeface="Arial" pitchFamily="34" charset="0"/>
                <a:ea typeface="MS PGothic" pitchFamily="34" charset="-128"/>
              </a:defRPr>
            </a:lvl5pPr>
            <a:lvl6pPr marL="25146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6pPr>
            <a:lvl7pPr marL="29718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7pPr>
            <a:lvl8pPr marL="34290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8pPr>
            <a:lvl9pPr marL="38862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9pPr>
          </a:lstStyle>
          <a:p>
            <a:pPr>
              <a:buFont typeface="Arial" pitchFamily="34" charset="0"/>
              <a:buChar char="•"/>
            </a:pPr>
            <a:r>
              <a:rPr lang="en-US" sz="1800" dirty="0">
                <a:solidFill>
                  <a:schemeClr val="tx1"/>
                </a:solidFill>
              </a:rPr>
              <a:t> </a:t>
            </a:r>
            <a:r>
              <a:rPr lang="en-US" sz="1600" dirty="0">
                <a:solidFill>
                  <a:schemeClr val="tx1"/>
                </a:solidFill>
              </a:rPr>
              <a:t>Results of 22 student teams trying to tune matrix-multiply, in CS267 Spr09</a:t>
            </a:r>
          </a:p>
          <a:p>
            <a:pPr>
              <a:buFont typeface="Arial" pitchFamily="34" charset="0"/>
              <a:buChar char="•"/>
            </a:pPr>
            <a:r>
              <a:rPr lang="en-US" sz="1600" dirty="0">
                <a:solidFill>
                  <a:schemeClr val="tx1"/>
                </a:solidFill>
              </a:rPr>
              <a:t> Students given “blocked” code to start </a:t>
            </a:r>
            <a:r>
              <a:rPr lang="en-US" sz="1600" dirty="0" smtClean="0">
                <a:solidFill>
                  <a:schemeClr val="tx1"/>
                </a:solidFill>
              </a:rPr>
              <a:t>with (7x faster than </a:t>
            </a:r>
            <a:r>
              <a:rPr lang="en-US" sz="1600" dirty="0" err="1" smtClean="0">
                <a:solidFill>
                  <a:schemeClr val="tx1"/>
                </a:solidFill>
              </a:rPr>
              <a:t>na</a:t>
            </a:r>
            <a:r>
              <a:rPr lang="fr-FR" sz="1600" dirty="0" err="1" smtClean="0">
                <a:solidFill>
                  <a:schemeClr val="tx1"/>
                </a:solidFill>
              </a:rPr>
              <a:t>ï</a:t>
            </a:r>
            <a:r>
              <a:rPr lang="en-US" sz="1600" dirty="0" err="1" smtClean="0">
                <a:solidFill>
                  <a:schemeClr val="tx1"/>
                </a:solidFill>
              </a:rPr>
              <a:t>ve</a:t>
            </a:r>
            <a:r>
              <a:rPr lang="en-US" sz="1600" dirty="0" smtClean="0">
                <a:solidFill>
                  <a:schemeClr val="tx1"/>
                </a:solidFill>
              </a:rPr>
              <a:t>)</a:t>
            </a:r>
            <a:endParaRPr lang="en-US" sz="1600" dirty="0">
              <a:solidFill>
                <a:schemeClr val="tx1"/>
              </a:solidFill>
            </a:endParaRPr>
          </a:p>
          <a:p>
            <a:pPr lvl="1">
              <a:buFont typeface="Arial" pitchFamily="34" charset="0"/>
              <a:buChar char="•"/>
            </a:pPr>
            <a:r>
              <a:rPr lang="en-US" sz="1600" dirty="0">
                <a:solidFill>
                  <a:schemeClr val="tx1"/>
                </a:solidFill>
              </a:rPr>
              <a:t> Still hard to get close to vendor tuned performance (ACML</a:t>
            </a:r>
            <a:r>
              <a:rPr lang="en-US" sz="1600" dirty="0" smtClean="0">
                <a:solidFill>
                  <a:schemeClr val="tx1"/>
                </a:solidFill>
              </a:rPr>
              <a:t>) (another 6x)</a:t>
            </a:r>
            <a:endParaRPr lang="en-US" sz="1600" dirty="0">
              <a:solidFill>
                <a:schemeClr val="tx1"/>
              </a:solidFill>
            </a:endParaRPr>
          </a:p>
          <a:p>
            <a:pPr>
              <a:buFont typeface="Arial" pitchFamily="34" charset="0"/>
              <a:buChar char="•"/>
            </a:pPr>
            <a:r>
              <a:rPr lang="en-US" sz="1600" dirty="0">
                <a:solidFill>
                  <a:schemeClr val="tx1"/>
                </a:solidFill>
              </a:rPr>
              <a:t> For more discussion, see </a:t>
            </a:r>
            <a:r>
              <a:rPr lang="en-US" sz="1600" dirty="0" err="1">
                <a:solidFill>
                  <a:schemeClr val="tx1"/>
                </a:solidFill>
              </a:rPr>
              <a:t>www.cs.berkeley.edu</a:t>
            </a:r>
            <a:r>
              <a:rPr lang="en-US" sz="1600" dirty="0">
                <a:solidFill>
                  <a:schemeClr val="tx1"/>
                </a:solidFill>
              </a:rPr>
              <a:t>/~</a:t>
            </a:r>
            <a:r>
              <a:rPr lang="en-US" sz="1600" dirty="0" err="1">
                <a:solidFill>
                  <a:schemeClr val="tx1"/>
                </a:solidFill>
              </a:rPr>
              <a:t>volkov</a:t>
            </a:r>
            <a:r>
              <a:rPr lang="en-US" sz="1600" dirty="0">
                <a:solidFill>
                  <a:schemeClr val="tx1"/>
                </a:solidFill>
              </a:rPr>
              <a:t>/cs267.sp09/hw1/results/</a:t>
            </a:r>
          </a:p>
        </p:txBody>
      </p:sp>
      <p:grpSp>
        <p:nvGrpSpPr>
          <p:cNvPr id="2" name="Group 14"/>
          <p:cNvGrpSpPr>
            <a:grpSpLocks/>
          </p:cNvGrpSpPr>
          <p:nvPr/>
        </p:nvGrpSpPr>
        <p:grpSpPr bwMode="auto">
          <a:xfrm>
            <a:off x="7086600" y="4800600"/>
            <a:ext cx="1296988" cy="990600"/>
            <a:chOff x="11049000" y="4953000"/>
            <a:chExt cx="1296988" cy="990600"/>
          </a:xfrm>
        </p:grpSpPr>
        <p:cxnSp>
          <p:nvCxnSpPr>
            <p:cNvPr id="12" name="Straight Connector 11"/>
            <p:cNvCxnSpPr/>
            <p:nvPr/>
          </p:nvCxnSpPr>
          <p:spPr>
            <a:xfrm>
              <a:off x="11049000" y="5943600"/>
              <a:ext cx="1295400"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rot="5400000" flipH="1" flipV="1">
              <a:off x="11849894" y="5447506"/>
              <a:ext cx="990600" cy="1588"/>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grpSp>
      <p:grpSp>
        <p:nvGrpSpPr>
          <p:cNvPr id="3" name="Group 21"/>
          <p:cNvGrpSpPr>
            <a:grpSpLocks/>
          </p:cNvGrpSpPr>
          <p:nvPr/>
        </p:nvGrpSpPr>
        <p:grpSpPr bwMode="auto">
          <a:xfrm>
            <a:off x="304800" y="1371600"/>
            <a:ext cx="609600" cy="4648200"/>
            <a:chOff x="-990600" y="1371600"/>
            <a:chExt cx="609600" cy="4648200"/>
          </a:xfrm>
        </p:grpSpPr>
        <p:cxnSp>
          <p:nvCxnSpPr>
            <p:cNvPr id="17" name="Straight Connector 16"/>
            <p:cNvCxnSpPr/>
            <p:nvPr/>
          </p:nvCxnSpPr>
          <p:spPr>
            <a:xfrm rot="10800000">
              <a:off x="-990600" y="6019800"/>
              <a:ext cx="609600"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rot="5400000" flipH="1" flipV="1">
              <a:off x="-3314700" y="3695700"/>
              <a:ext cx="4648200"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a:off x="-990600" y="1371600"/>
              <a:ext cx="533400" cy="1588"/>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957224115"/>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p:cNvSpPr>
            <a:spLocks noGrp="1"/>
          </p:cNvSpPr>
          <p:nvPr>
            <p:ph type="title"/>
          </p:nvPr>
        </p:nvSpPr>
        <p:spPr>
          <a:xfrm>
            <a:off x="152400" y="152400"/>
            <a:ext cx="8839200" cy="425450"/>
          </a:xfrm>
        </p:spPr>
        <p:txBody>
          <a:bodyPr>
            <a:normAutofit fontScale="90000"/>
          </a:bodyPr>
          <a:lstStyle/>
          <a:p>
            <a:r>
              <a:rPr lang="en-US" dirty="0" smtClean="0"/>
              <a:t>Ho</a:t>
            </a:r>
            <a:r>
              <a:rPr lang="en-US" sz="4000" dirty="0" smtClean="0"/>
              <a:t>w hard is hand-tuning </a:t>
            </a:r>
            <a:r>
              <a:rPr lang="en-US" sz="4000" dirty="0" err="1" smtClean="0"/>
              <a:t>matmul</a:t>
            </a:r>
            <a:r>
              <a:rPr lang="en-US" sz="4000" dirty="0" smtClean="0"/>
              <a:t>, anyway?</a:t>
            </a:r>
          </a:p>
        </p:txBody>
      </p:sp>
      <p:sp>
        <p:nvSpPr>
          <p:cNvPr id="34819" name="Slide Number Placeholder 4"/>
          <p:cNvSpPr>
            <a:spLocks noGrp="1"/>
          </p:cNvSpPr>
          <p:nvPr>
            <p:ph type="sldNum" sz="quarter" idx="11"/>
          </p:nvPr>
        </p:nvSpPr>
        <p:spPr>
          <a:xfrm>
            <a:off x="7010400" y="6492875"/>
            <a:ext cx="2133600" cy="3651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chemeClr val="accent1"/>
                </a:solidFill>
                <a:latin typeface="Arial" pitchFamily="34" charset="0"/>
                <a:ea typeface="MS PGothic" pitchFamily="34" charset="-128"/>
              </a:defRPr>
            </a:lvl1pPr>
            <a:lvl2pPr marL="742950" indent="-285750">
              <a:defRPr sz="2000" b="1">
                <a:solidFill>
                  <a:schemeClr val="accent1"/>
                </a:solidFill>
                <a:latin typeface="Arial" pitchFamily="34" charset="0"/>
                <a:ea typeface="MS PGothic" pitchFamily="34" charset="-128"/>
              </a:defRPr>
            </a:lvl2pPr>
            <a:lvl3pPr marL="1143000" indent="-228600">
              <a:defRPr sz="2000" b="1">
                <a:solidFill>
                  <a:schemeClr val="accent1"/>
                </a:solidFill>
                <a:latin typeface="Arial" pitchFamily="34" charset="0"/>
                <a:ea typeface="MS PGothic" pitchFamily="34" charset="-128"/>
              </a:defRPr>
            </a:lvl3pPr>
            <a:lvl4pPr marL="1600200" indent="-228600">
              <a:defRPr sz="2000" b="1">
                <a:solidFill>
                  <a:schemeClr val="accent1"/>
                </a:solidFill>
                <a:latin typeface="Arial" pitchFamily="34" charset="0"/>
                <a:ea typeface="MS PGothic" pitchFamily="34" charset="-128"/>
              </a:defRPr>
            </a:lvl4pPr>
            <a:lvl5pPr marL="2057400" indent="-228600">
              <a:defRPr sz="2000" b="1">
                <a:solidFill>
                  <a:schemeClr val="accent1"/>
                </a:solidFill>
                <a:latin typeface="Arial" pitchFamily="34" charset="0"/>
                <a:ea typeface="MS PGothic" pitchFamily="34" charset="-128"/>
              </a:defRPr>
            </a:lvl5pPr>
            <a:lvl6pPr marL="25146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6pPr>
            <a:lvl7pPr marL="29718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7pPr>
            <a:lvl8pPr marL="34290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8pPr>
            <a:lvl9pPr marL="38862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9pPr>
          </a:lstStyle>
          <a:p>
            <a:fld id="{C5FA0CE7-C9A0-4BB2-84D1-F20CA88F1758}" type="slidenum">
              <a:rPr lang="en-US" sz="1400" b="0" smtClean="0">
                <a:solidFill>
                  <a:schemeClr val="tx1"/>
                </a:solidFill>
                <a:latin typeface="Helvetica" charset="0"/>
              </a:rPr>
              <a:pPr/>
              <a:t>19</a:t>
            </a:fld>
            <a:endParaRPr lang="en-US" sz="1400" b="0" smtClean="0">
              <a:solidFill>
                <a:schemeClr val="tx1"/>
              </a:solidFill>
              <a:latin typeface="Helvetica" charset="0"/>
            </a:endParaRPr>
          </a:p>
        </p:txBody>
      </p:sp>
      <p:pic>
        <p:nvPicPr>
          <p:cNvPr id="34820" name="Picture 5" descr="CS267_Matmul_loc.pn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49238" y="1371600"/>
            <a:ext cx="8812212" cy="403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53361131"/>
      </p:ext>
    </p:extLst>
  </p:cSld>
  <p:clrMapOvr>
    <a:masterClrMapping/>
  </p:clrMapOvr>
  <p:timing>
    <p:tnLst>
      <p:par>
        <p:cTn xmlns:p14="http://schemas.microsoft.com/office/powerpoint/2010/mai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a:bodyPr>
          <a:lstStyle/>
          <a:p>
            <a:r>
              <a:rPr lang="en-US" sz="3600" dirty="0" smtClean="0"/>
              <a:t>Parallel </a:t>
            </a:r>
            <a:r>
              <a:rPr lang="en-US" sz="3600" dirty="0" err="1" smtClean="0"/>
              <a:t>MatMul</a:t>
            </a:r>
            <a:r>
              <a:rPr lang="en-US" sz="3600" dirty="0" smtClean="0"/>
              <a:t> with 2D Processor Layout</a:t>
            </a:r>
            <a:endParaRPr lang="en-US" sz="3600" dirty="0"/>
          </a:p>
        </p:txBody>
      </p:sp>
      <p:sp>
        <p:nvSpPr>
          <p:cNvPr id="3" name="Content Placeholder 2"/>
          <p:cNvSpPr>
            <a:spLocks noGrp="1"/>
          </p:cNvSpPr>
          <p:nvPr>
            <p:ph idx="1"/>
          </p:nvPr>
        </p:nvSpPr>
        <p:spPr>
          <a:xfrm>
            <a:off x="228600" y="1295400"/>
            <a:ext cx="8915400" cy="4525963"/>
          </a:xfrm>
        </p:spPr>
        <p:txBody>
          <a:bodyPr/>
          <a:lstStyle/>
          <a:p>
            <a:r>
              <a:rPr lang="en-US" sz="2800" dirty="0" smtClean="0"/>
              <a:t>P processors in P</a:t>
            </a:r>
            <a:r>
              <a:rPr lang="en-US" sz="2800" baseline="30000" dirty="0" smtClean="0"/>
              <a:t>1/2 </a:t>
            </a:r>
            <a:r>
              <a:rPr lang="en-US" sz="2800" dirty="0" smtClean="0"/>
              <a:t>x P</a:t>
            </a:r>
            <a:r>
              <a:rPr lang="en-US" sz="2800" baseline="30000" dirty="0" smtClean="0"/>
              <a:t>1/2  </a:t>
            </a:r>
            <a:r>
              <a:rPr lang="en-US" sz="2800" dirty="0" smtClean="0"/>
              <a:t>grid</a:t>
            </a:r>
          </a:p>
          <a:p>
            <a:pPr lvl="1"/>
            <a:r>
              <a:rPr lang="en-US" sz="2400" dirty="0" smtClean="0"/>
              <a:t>Processors communicate along rows, columns</a:t>
            </a:r>
          </a:p>
          <a:p>
            <a:r>
              <a:rPr lang="en-US" sz="2800" dirty="0" smtClean="0"/>
              <a:t>Each processor owns n/P</a:t>
            </a:r>
            <a:r>
              <a:rPr lang="en-US" sz="2800" baseline="30000" dirty="0" smtClean="0"/>
              <a:t>1/2  </a:t>
            </a:r>
            <a:r>
              <a:rPr lang="en-US" sz="2800" dirty="0" smtClean="0"/>
              <a:t>x  n/P</a:t>
            </a:r>
            <a:r>
              <a:rPr lang="en-US" sz="2800" baseline="30000" dirty="0" smtClean="0"/>
              <a:t>1/2 </a:t>
            </a:r>
            <a:r>
              <a:rPr lang="en-US" sz="2800" dirty="0" err="1" smtClean="0"/>
              <a:t>submatrices</a:t>
            </a:r>
            <a:r>
              <a:rPr lang="en-US" sz="2800" dirty="0" smtClean="0"/>
              <a:t> of A,B,C</a:t>
            </a:r>
          </a:p>
          <a:p>
            <a:r>
              <a:rPr lang="en-US" sz="2800" dirty="0" smtClean="0"/>
              <a:t>Example: P=16, processors numbered from P</a:t>
            </a:r>
            <a:r>
              <a:rPr lang="en-US" sz="2800" baseline="-25000" dirty="0" smtClean="0"/>
              <a:t>00</a:t>
            </a:r>
            <a:r>
              <a:rPr lang="en-US" sz="2800" dirty="0" smtClean="0"/>
              <a:t> to P</a:t>
            </a:r>
            <a:r>
              <a:rPr lang="en-US" sz="2800" baseline="-25000" dirty="0" smtClean="0"/>
              <a:t>33</a:t>
            </a:r>
          </a:p>
          <a:p>
            <a:pPr lvl="1"/>
            <a:r>
              <a:rPr lang="en-US" sz="2400" dirty="0" smtClean="0"/>
              <a:t>Processor </a:t>
            </a:r>
            <a:r>
              <a:rPr lang="en-US" sz="2400" dirty="0" err="1" smtClean="0"/>
              <a:t>P</a:t>
            </a:r>
            <a:r>
              <a:rPr lang="en-US" baseline="-25000" dirty="0" err="1" smtClean="0"/>
              <a:t>ij</a:t>
            </a:r>
            <a:r>
              <a:rPr lang="en-US" sz="2400" dirty="0" smtClean="0"/>
              <a:t> owns </a:t>
            </a:r>
            <a:r>
              <a:rPr lang="en-US" sz="2400" dirty="0" err="1" smtClean="0"/>
              <a:t>submatrices</a:t>
            </a:r>
            <a:r>
              <a:rPr lang="en-US" sz="2400" dirty="0" smtClean="0"/>
              <a:t> </a:t>
            </a:r>
            <a:r>
              <a:rPr lang="en-US" sz="2400" dirty="0" err="1" smtClean="0"/>
              <a:t>A</a:t>
            </a:r>
            <a:r>
              <a:rPr lang="en-US" baseline="-25000" dirty="0" err="1" smtClean="0"/>
              <a:t>ij</a:t>
            </a:r>
            <a:r>
              <a:rPr lang="en-US" sz="2400" dirty="0" smtClean="0"/>
              <a:t>, </a:t>
            </a:r>
            <a:r>
              <a:rPr lang="en-US" sz="2400" dirty="0" err="1" smtClean="0"/>
              <a:t>B</a:t>
            </a:r>
            <a:r>
              <a:rPr lang="en-US" baseline="-25000" dirty="0" err="1" smtClean="0"/>
              <a:t>ij</a:t>
            </a:r>
            <a:r>
              <a:rPr lang="en-US" sz="2400" dirty="0" smtClean="0"/>
              <a:t> and </a:t>
            </a:r>
            <a:r>
              <a:rPr lang="en-US" sz="2400" dirty="0" err="1" smtClean="0"/>
              <a:t>C</a:t>
            </a:r>
            <a:r>
              <a:rPr lang="en-US" baseline="-25000" dirty="0" err="1" smtClean="0"/>
              <a:t>ij</a:t>
            </a:r>
            <a:endParaRPr lang="en-US" baseline="-25000" dirty="0" smtClean="0"/>
          </a:p>
          <a:p>
            <a:endParaRPr lang="en-US" dirty="0"/>
          </a:p>
        </p:txBody>
      </p:sp>
      <p:grpSp>
        <p:nvGrpSpPr>
          <p:cNvPr id="45" name="Group 44"/>
          <p:cNvGrpSpPr/>
          <p:nvPr/>
        </p:nvGrpSpPr>
        <p:grpSpPr>
          <a:xfrm>
            <a:off x="914400" y="3657600"/>
            <a:ext cx="6858000" cy="2514600"/>
            <a:chOff x="914400" y="2057400"/>
            <a:chExt cx="6858000" cy="2514600"/>
          </a:xfrm>
        </p:grpSpPr>
        <p:grpSp>
          <p:nvGrpSpPr>
            <p:cNvPr id="18" name="Group 17"/>
            <p:cNvGrpSpPr/>
            <p:nvPr/>
          </p:nvGrpSpPr>
          <p:grpSpPr>
            <a:xfrm>
              <a:off x="914400" y="2743200"/>
              <a:ext cx="1882108" cy="1828800"/>
              <a:chOff x="914400" y="2743200"/>
              <a:chExt cx="1882108" cy="1828800"/>
            </a:xfrm>
          </p:grpSpPr>
          <p:sp>
            <p:nvSpPr>
              <p:cNvPr id="4" name="Rectangle 3"/>
              <p:cNvSpPr/>
              <p:nvPr/>
            </p:nvSpPr>
            <p:spPr>
              <a:xfrm>
                <a:off x="914400" y="2743200"/>
                <a:ext cx="1828800" cy="1828800"/>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6" name="Straight Connector 5"/>
              <p:cNvCxnSpPr>
                <a:stCxn id="4" idx="0"/>
                <a:endCxn id="4" idx="2"/>
              </p:cNvCxnSpPr>
              <p:nvPr/>
            </p:nvCxnSpPr>
            <p:spPr>
              <a:xfrm>
                <a:off x="1828800" y="2743200"/>
                <a:ext cx="0" cy="1828800"/>
              </a:xfrm>
              <a:prstGeom prst="line">
                <a:avLst/>
              </a:prstGeom>
              <a:ln>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8" name="Straight Connector 7"/>
              <p:cNvCxnSpPr>
                <a:stCxn id="4" idx="1"/>
                <a:endCxn id="4" idx="3"/>
              </p:cNvCxnSpPr>
              <p:nvPr/>
            </p:nvCxnSpPr>
            <p:spPr>
              <a:xfrm>
                <a:off x="914400" y="3657600"/>
                <a:ext cx="1828800" cy="0"/>
              </a:xfrm>
              <a:prstGeom prst="line">
                <a:avLst/>
              </a:prstGeom>
              <a:ln>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a:off x="2286000" y="2743200"/>
                <a:ext cx="0" cy="1828800"/>
              </a:xfrm>
              <a:prstGeom prst="line">
                <a:avLst/>
              </a:prstGeom>
              <a:ln>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a:off x="1371600" y="2743200"/>
                <a:ext cx="0" cy="1828800"/>
              </a:xfrm>
              <a:prstGeom prst="line">
                <a:avLst/>
              </a:prstGeom>
              <a:ln>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a:off x="914400" y="3200400"/>
                <a:ext cx="1828800" cy="0"/>
              </a:xfrm>
              <a:prstGeom prst="line">
                <a:avLst/>
              </a:prstGeom>
              <a:ln>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p:nvCxnSpPr>
            <p:spPr>
              <a:xfrm>
                <a:off x="914400" y="4114800"/>
                <a:ext cx="1828800" cy="0"/>
              </a:xfrm>
              <a:prstGeom prst="line">
                <a:avLst/>
              </a:prstGeom>
              <a:ln>
                <a:solidFill>
                  <a:srgbClr val="000000"/>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914400" y="2743200"/>
                <a:ext cx="1882108" cy="369332"/>
              </a:xfrm>
              <a:prstGeom prst="rect">
                <a:avLst/>
              </a:prstGeom>
              <a:noFill/>
            </p:spPr>
            <p:txBody>
              <a:bodyPr wrap="none" rtlCol="0">
                <a:spAutoFit/>
              </a:bodyPr>
              <a:lstStyle/>
              <a:p>
                <a:r>
                  <a:rPr lang="en-US" dirty="0" smtClean="0"/>
                  <a:t>P</a:t>
                </a:r>
                <a:r>
                  <a:rPr lang="en-US" sz="2400" baseline="-25000" dirty="0" smtClean="0"/>
                  <a:t>00 </a:t>
                </a:r>
                <a:r>
                  <a:rPr lang="en-US" dirty="0" smtClean="0"/>
                  <a:t> P</a:t>
                </a:r>
                <a:r>
                  <a:rPr lang="en-US" sz="2400" baseline="-25000" dirty="0" smtClean="0"/>
                  <a:t>01  </a:t>
                </a:r>
                <a:r>
                  <a:rPr lang="en-US" dirty="0" smtClean="0"/>
                  <a:t> P</a:t>
                </a:r>
                <a:r>
                  <a:rPr lang="en-US" sz="2400" baseline="-25000" dirty="0" smtClean="0"/>
                  <a:t>02  </a:t>
                </a:r>
                <a:r>
                  <a:rPr lang="en-US" dirty="0" smtClean="0"/>
                  <a:t> P</a:t>
                </a:r>
                <a:r>
                  <a:rPr lang="en-US" sz="2400" baseline="-25000" dirty="0" smtClean="0"/>
                  <a:t>03</a:t>
                </a:r>
                <a:endParaRPr lang="en-US" sz="2400" baseline="-25000" dirty="0"/>
              </a:p>
            </p:txBody>
          </p:sp>
          <p:sp>
            <p:nvSpPr>
              <p:cNvPr id="15" name="TextBox 14"/>
              <p:cNvSpPr txBox="1"/>
              <p:nvPr/>
            </p:nvSpPr>
            <p:spPr>
              <a:xfrm>
                <a:off x="914400" y="3212068"/>
                <a:ext cx="1882108" cy="369332"/>
              </a:xfrm>
              <a:prstGeom prst="rect">
                <a:avLst/>
              </a:prstGeom>
              <a:noFill/>
            </p:spPr>
            <p:txBody>
              <a:bodyPr wrap="none" rtlCol="0">
                <a:spAutoFit/>
              </a:bodyPr>
              <a:lstStyle/>
              <a:p>
                <a:r>
                  <a:rPr lang="en-US" dirty="0" smtClean="0"/>
                  <a:t>P</a:t>
                </a:r>
                <a:r>
                  <a:rPr lang="en-US" sz="2400" baseline="-25000" dirty="0"/>
                  <a:t>1</a:t>
                </a:r>
                <a:r>
                  <a:rPr lang="en-US" sz="2400" baseline="-25000" dirty="0" smtClean="0"/>
                  <a:t>0 </a:t>
                </a:r>
                <a:r>
                  <a:rPr lang="en-US" dirty="0" smtClean="0"/>
                  <a:t> P</a:t>
                </a:r>
                <a:r>
                  <a:rPr lang="en-US" sz="2400" baseline="-25000" dirty="0"/>
                  <a:t>1</a:t>
                </a:r>
                <a:r>
                  <a:rPr lang="en-US" sz="2400" baseline="-25000" dirty="0" smtClean="0"/>
                  <a:t>1  </a:t>
                </a:r>
                <a:r>
                  <a:rPr lang="en-US" dirty="0" smtClean="0"/>
                  <a:t> P</a:t>
                </a:r>
                <a:r>
                  <a:rPr lang="en-US" sz="2400" baseline="-25000" dirty="0"/>
                  <a:t>1</a:t>
                </a:r>
                <a:r>
                  <a:rPr lang="en-US" sz="2400" baseline="-25000" dirty="0" smtClean="0"/>
                  <a:t>2  </a:t>
                </a:r>
                <a:r>
                  <a:rPr lang="en-US" dirty="0" smtClean="0"/>
                  <a:t> P</a:t>
                </a:r>
                <a:r>
                  <a:rPr lang="en-US" sz="2400" baseline="-25000" dirty="0"/>
                  <a:t>1</a:t>
                </a:r>
                <a:r>
                  <a:rPr lang="en-US" sz="2400" baseline="-25000" dirty="0" smtClean="0"/>
                  <a:t>3</a:t>
                </a:r>
                <a:endParaRPr lang="en-US" sz="2400" baseline="-25000" dirty="0"/>
              </a:p>
            </p:txBody>
          </p:sp>
          <p:sp>
            <p:nvSpPr>
              <p:cNvPr id="16" name="TextBox 15"/>
              <p:cNvSpPr txBox="1"/>
              <p:nvPr/>
            </p:nvSpPr>
            <p:spPr>
              <a:xfrm>
                <a:off x="914400" y="3669268"/>
                <a:ext cx="1882108" cy="369332"/>
              </a:xfrm>
              <a:prstGeom prst="rect">
                <a:avLst/>
              </a:prstGeom>
              <a:noFill/>
            </p:spPr>
            <p:txBody>
              <a:bodyPr wrap="none" rtlCol="0">
                <a:spAutoFit/>
              </a:bodyPr>
              <a:lstStyle/>
              <a:p>
                <a:r>
                  <a:rPr lang="en-US" dirty="0" smtClean="0"/>
                  <a:t>P</a:t>
                </a:r>
                <a:r>
                  <a:rPr lang="en-US" sz="2400" baseline="-25000" dirty="0" smtClean="0"/>
                  <a:t>20 </a:t>
                </a:r>
                <a:r>
                  <a:rPr lang="en-US" dirty="0" smtClean="0"/>
                  <a:t> P</a:t>
                </a:r>
                <a:r>
                  <a:rPr lang="en-US" sz="2400" baseline="-25000" dirty="0" smtClean="0"/>
                  <a:t>21  </a:t>
                </a:r>
                <a:r>
                  <a:rPr lang="en-US" dirty="0" smtClean="0"/>
                  <a:t> P</a:t>
                </a:r>
                <a:r>
                  <a:rPr lang="en-US" sz="2400" baseline="-25000" dirty="0" smtClean="0"/>
                  <a:t>22  </a:t>
                </a:r>
                <a:r>
                  <a:rPr lang="en-US" dirty="0" smtClean="0"/>
                  <a:t> P</a:t>
                </a:r>
                <a:r>
                  <a:rPr lang="en-US" sz="2400" baseline="-25000" dirty="0" smtClean="0"/>
                  <a:t>23</a:t>
                </a:r>
                <a:endParaRPr lang="en-US" sz="2400" baseline="-25000" dirty="0"/>
              </a:p>
            </p:txBody>
          </p:sp>
          <p:sp>
            <p:nvSpPr>
              <p:cNvPr id="17" name="TextBox 16"/>
              <p:cNvSpPr txBox="1"/>
              <p:nvPr/>
            </p:nvSpPr>
            <p:spPr>
              <a:xfrm>
                <a:off x="914400" y="4126468"/>
                <a:ext cx="1882108" cy="369332"/>
              </a:xfrm>
              <a:prstGeom prst="rect">
                <a:avLst/>
              </a:prstGeom>
              <a:noFill/>
            </p:spPr>
            <p:txBody>
              <a:bodyPr wrap="none" rtlCol="0">
                <a:spAutoFit/>
              </a:bodyPr>
              <a:lstStyle/>
              <a:p>
                <a:r>
                  <a:rPr lang="en-US" dirty="0" smtClean="0"/>
                  <a:t>P</a:t>
                </a:r>
                <a:r>
                  <a:rPr lang="en-US" sz="2400" baseline="-25000" dirty="0"/>
                  <a:t>3</a:t>
                </a:r>
                <a:r>
                  <a:rPr lang="en-US" sz="2400" baseline="-25000" dirty="0" smtClean="0"/>
                  <a:t>0 </a:t>
                </a:r>
                <a:r>
                  <a:rPr lang="en-US" dirty="0" smtClean="0"/>
                  <a:t> P</a:t>
                </a:r>
                <a:r>
                  <a:rPr lang="en-US" sz="2400" baseline="-25000" dirty="0"/>
                  <a:t>3</a:t>
                </a:r>
                <a:r>
                  <a:rPr lang="en-US" sz="2400" baseline="-25000" dirty="0" smtClean="0"/>
                  <a:t>1  </a:t>
                </a:r>
                <a:r>
                  <a:rPr lang="en-US" dirty="0" smtClean="0"/>
                  <a:t> P</a:t>
                </a:r>
                <a:r>
                  <a:rPr lang="en-US" sz="2400" baseline="-25000" dirty="0"/>
                  <a:t>3</a:t>
                </a:r>
                <a:r>
                  <a:rPr lang="en-US" sz="2400" baseline="-25000" dirty="0" smtClean="0"/>
                  <a:t>2  </a:t>
                </a:r>
                <a:r>
                  <a:rPr lang="en-US" dirty="0" smtClean="0"/>
                  <a:t> P</a:t>
                </a:r>
                <a:r>
                  <a:rPr lang="en-US" sz="2400" baseline="-25000" dirty="0"/>
                  <a:t>3</a:t>
                </a:r>
                <a:r>
                  <a:rPr lang="en-US" sz="2400" baseline="-25000" dirty="0" smtClean="0"/>
                  <a:t>3</a:t>
                </a:r>
                <a:endParaRPr lang="en-US" sz="2400" baseline="-25000" dirty="0"/>
              </a:p>
            </p:txBody>
          </p:sp>
        </p:grpSp>
        <p:grpSp>
          <p:nvGrpSpPr>
            <p:cNvPr id="19" name="Group 18"/>
            <p:cNvGrpSpPr/>
            <p:nvPr/>
          </p:nvGrpSpPr>
          <p:grpSpPr>
            <a:xfrm>
              <a:off x="3604292" y="2743200"/>
              <a:ext cx="1882108" cy="1828800"/>
              <a:chOff x="914400" y="2743200"/>
              <a:chExt cx="1882108" cy="1828800"/>
            </a:xfrm>
          </p:grpSpPr>
          <p:sp>
            <p:nvSpPr>
              <p:cNvPr id="20" name="Rectangle 19"/>
              <p:cNvSpPr/>
              <p:nvPr/>
            </p:nvSpPr>
            <p:spPr>
              <a:xfrm>
                <a:off x="914400" y="2743200"/>
                <a:ext cx="1828800" cy="1828800"/>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21" name="Straight Connector 20"/>
              <p:cNvCxnSpPr>
                <a:stCxn id="20" idx="0"/>
                <a:endCxn id="20" idx="2"/>
              </p:cNvCxnSpPr>
              <p:nvPr/>
            </p:nvCxnSpPr>
            <p:spPr>
              <a:xfrm>
                <a:off x="1828800" y="2743200"/>
                <a:ext cx="0" cy="1828800"/>
              </a:xfrm>
              <a:prstGeom prst="line">
                <a:avLst/>
              </a:prstGeom>
              <a:ln>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2" name="Straight Connector 21"/>
              <p:cNvCxnSpPr>
                <a:stCxn id="20" idx="1"/>
                <a:endCxn id="20" idx="3"/>
              </p:cNvCxnSpPr>
              <p:nvPr/>
            </p:nvCxnSpPr>
            <p:spPr>
              <a:xfrm>
                <a:off x="914400" y="3657600"/>
                <a:ext cx="1828800" cy="0"/>
              </a:xfrm>
              <a:prstGeom prst="line">
                <a:avLst/>
              </a:prstGeom>
              <a:ln>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a:off x="2286000" y="2743200"/>
                <a:ext cx="0" cy="1828800"/>
              </a:xfrm>
              <a:prstGeom prst="line">
                <a:avLst/>
              </a:prstGeom>
              <a:ln>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4" name="Straight Connector 23"/>
              <p:cNvCxnSpPr/>
              <p:nvPr/>
            </p:nvCxnSpPr>
            <p:spPr>
              <a:xfrm>
                <a:off x="1371600" y="2743200"/>
                <a:ext cx="0" cy="1828800"/>
              </a:xfrm>
              <a:prstGeom prst="line">
                <a:avLst/>
              </a:prstGeom>
              <a:ln>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5" name="Straight Connector 24"/>
              <p:cNvCxnSpPr/>
              <p:nvPr/>
            </p:nvCxnSpPr>
            <p:spPr>
              <a:xfrm>
                <a:off x="914400" y="3200400"/>
                <a:ext cx="1828800" cy="0"/>
              </a:xfrm>
              <a:prstGeom prst="line">
                <a:avLst/>
              </a:prstGeom>
              <a:ln>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6" name="Straight Connector 25"/>
              <p:cNvCxnSpPr/>
              <p:nvPr/>
            </p:nvCxnSpPr>
            <p:spPr>
              <a:xfrm>
                <a:off x="914400" y="4114800"/>
                <a:ext cx="1828800" cy="0"/>
              </a:xfrm>
              <a:prstGeom prst="line">
                <a:avLst/>
              </a:prstGeom>
              <a:ln>
                <a:solidFill>
                  <a:srgbClr val="000000"/>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914400" y="2743200"/>
                <a:ext cx="1882108" cy="369332"/>
              </a:xfrm>
              <a:prstGeom prst="rect">
                <a:avLst/>
              </a:prstGeom>
              <a:noFill/>
            </p:spPr>
            <p:txBody>
              <a:bodyPr wrap="none" rtlCol="0">
                <a:spAutoFit/>
              </a:bodyPr>
              <a:lstStyle/>
              <a:p>
                <a:r>
                  <a:rPr lang="en-US" dirty="0" smtClean="0"/>
                  <a:t>P</a:t>
                </a:r>
                <a:r>
                  <a:rPr lang="en-US" sz="2400" baseline="-25000" dirty="0" smtClean="0"/>
                  <a:t>00 </a:t>
                </a:r>
                <a:r>
                  <a:rPr lang="en-US" dirty="0" smtClean="0"/>
                  <a:t> P</a:t>
                </a:r>
                <a:r>
                  <a:rPr lang="en-US" sz="2400" baseline="-25000" dirty="0" smtClean="0"/>
                  <a:t>01  </a:t>
                </a:r>
                <a:r>
                  <a:rPr lang="en-US" dirty="0" smtClean="0"/>
                  <a:t> P</a:t>
                </a:r>
                <a:r>
                  <a:rPr lang="en-US" sz="2400" baseline="-25000" dirty="0" smtClean="0"/>
                  <a:t>02  </a:t>
                </a:r>
                <a:r>
                  <a:rPr lang="en-US" dirty="0" smtClean="0"/>
                  <a:t> P</a:t>
                </a:r>
                <a:r>
                  <a:rPr lang="en-US" sz="2400" baseline="-25000" dirty="0" smtClean="0"/>
                  <a:t>03</a:t>
                </a:r>
                <a:endParaRPr lang="en-US" sz="2400" baseline="-25000" dirty="0"/>
              </a:p>
            </p:txBody>
          </p:sp>
          <p:sp>
            <p:nvSpPr>
              <p:cNvPr id="28" name="TextBox 27"/>
              <p:cNvSpPr txBox="1"/>
              <p:nvPr/>
            </p:nvSpPr>
            <p:spPr>
              <a:xfrm>
                <a:off x="914400" y="3212068"/>
                <a:ext cx="1882108" cy="369332"/>
              </a:xfrm>
              <a:prstGeom prst="rect">
                <a:avLst/>
              </a:prstGeom>
              <a:noFill/>
            </p:spPr>
            <p:txBody>
              <a:bodyPr wrap="none" rtlCol="0">
                <a:spAutoFit/>
              </a:bodyPr>
              <a:lstStyle/>
              <a:p>
                <a:r>
                  <a:rPr lang="en-US" dirty="0" smtClean="0"/>
                  <a:t>P</a:t>
                </a:r>
                <a:r>
                  <a:rPr lang="en-US" sz="2400" baseline="-25000" dirty="0"/>
                  <a:t>1</a:t>
                </a:r>
                <a:r>
                  <a:rPr lang="en-US" sz="2400" baseline="-25000" dirty="0" smtClean="0"/>
                  <a:t>0 </a:t>
                </a:r>
                <a:r>
                  <a:rPr lang="en-US" dirty="0" smtClean="0"/>
                  <a:t> P</a:t>
                </a:r>
                <a:r>
                  <a:rPr lang="en-US" sz="2400" baseline="-25000" dirty="0"/>
                  <a:t>1</a:t>
                </a:r>
                <a:r>
                  <a:rPr lang="en-US" sz="2400" baseline="-25000" dirty="0" smtClean="0"/>
                  <a:t>1  </a:t>
                </a:r>
                <a:r>
                  <a:rPr lang="en-US" dirty="0" smtClean="0"/>
                  <a:t> P</a:t>
                </a:r>
                <a:r>
                  <a:rPr lang="en-US" sz="2400" baseline="-25000" dirty="0"/>
                  <a:t>1</a:t>
                </a:r>
                <a:r>
                  <a:rPr lang="en-US" sz="2400" baseline="-25000" dirty="0" smtClean="0"/>
                  <a:t>2  </a:t>
                </a:r>
                <a:r>
                  <a:rPr lang="en-US" dirty="0" smtClean="0"/>
                  <a:t> P</a:t>
                </a:r>
                <a:r>
                  <a:rPr lang="en-US" sz="2400" baseline="-25000" dirty="0"/>
                  <a:t>1</a:t>
                </a:r>
                <a:r>
                  <a:rPr lang="en-US" sz="2400" baseline="-25000" dirty="0" smtClean="0"/>
                  <a:t>3</a:t>
                </a:r>
                <a:endParaRPr lang="en-US" sz="2400" baseline="-25000" dirty="0"/>
              </a:p>
            </p:txBody>
          </p:sp>
          <p:sp>
            <p:nvSpPr>
              <p:cNvPr id="29" name="TextBox 28"/>
              <p:cNvSpPr txBox="1"/>
              <p:nvPr/>
            </p:nvSpPr>
            <p:spPr>
              <a:xfrm>
                <a:off x="914400" y="3669268"/>
                <a:ext cx="1882108" cy="369332"/>
              </a:xfrm>
              <a:prstGeom prst="rect">
                <a:avLst/>
              </a:prstGeom>
              <a:noFill/>
            </p:spPr>
            <p:txBody>
              <a:bodyPr wrap="none" rtlCol="0">
                <a:spAutoFit/>
              </a:bodyPr>
              <a:lstStyle/>
              <a:p>
                <a:r>
                  <a:rPr lang="en-US" dirty="0" smtClean="0"/>
                  <a:t>P</a:t>
                </a:r>
                <a:r>
                  <a:rPr lang="en-US" sz="2400" baseline="-25000" dirty="0" smtClean="0"/>
                  <a:t>20 </a:t>
                </a:r>
                <a:r>
                  <a:rPr lang="en-US" dirty="0" smtClean="0"/>
                  <a:t> P</a:t>
                </a:r>
                <a:r>
                  <a:rPr lang="en-US" sz="2400" baseline="-25000" dirty="0" smtClean="0"/>
                  <a:t>21  </a:t>
                </a:r>
                <a:r>
                  <a:rPr lang="en-US" dirty="0" smtClean="0"/>
                  <a:t> P</a:t>
                </a:r>
                <a:r>
                  <a:rPr lang="en-US" sz="2400" baseline="-25000" dirty="0" smtClean="0"/>
                  <a:t>22  </a:t>
                </a:r>
                <a:r>
                  <a:rPr lang="en-US" dirty="0" smtClean="0"/>
                  <a:t> P</a:t>
                </a:r>
                <a:r>
                  <a:rPr lang="en-US" sz="2400" baseline="-25000" dirty="0" smtClean="0"/>
                  <a:t>23</a:t>
                </a:r>
                <a:endParaRPr lang="en-US" sz="2400" baseline="-25000" dirty="0"/>
              </a:p>
            </p:txBody>
          </p:sp>
          <p:sp>
            <p:nvSpPr>
              <p:cNvPr id="30" name="TextBox 29"/>
              <p:cNvSpPr txBox="1"/>
              <p:nvPr/>
            </p:nvSpPr>
            <p:spPr>
              <a:xfrm>
                <a:off x="914400" y="4126468"/>
                <a:ext cx="1882108" cy="369332"/>
              </a:xfrm>
              <a:prstGeom prst="rect">
                <a:avLst/>
              </a:prstGeom>
              <a:noFill/>
            </p:spPr>
            <p:txBody>
              <a:bodyPr wrap="none" rtlCol="0">
                <a:spAutoFit/>
              </a:bodyPr>
              <a:lstStyle/>
              <a:p>
                <a:r>
                  <a:rPr lang="en-US" dirty="0" smtClean="0"/>
                  <a:t>P</a:t>
                </a:r>
                <a:r>
                  <a:rPr lang="en-US" sz="2400" baseline="-25000" dirty="0"/>
                  <a:t>3</a:t>
                </a:r>
                <a:r>
                  <a:rPr lang="en-US" sz="2400" baseline="-25000" dirty="0" smtClean="0"/>
                  <a:t>0 </a:t>
                </a:r>
                <a:r>
                  <a:rPr lang="en-US" dirty="0" smtClean="0"/>
                  <a:t> P</a:t>
                </a:r>
                <a:r>
                  <a:rPr lang="en-US" sz="2400" baseline="-25000" dirty="0"/>
                  <a:t>3</a:t>
                </a:r>
                <a:r>
                  <a:rPr lang="en-US" sz="2400" baseline="-25000" dirty="0" smtClean="0"/>
                  <a:t>1  </a:t>
                </a:r>
                <a:r>
                  <a:rPr lang="en-US" dirty="0" smtClean="0"/>
                  <a:t> P</a:t>
                </a:r>
                <a:r>
                  <a:rPr lang="en-US" sz="2400" baseline="-25000" dirty="0"/>
                  <a:t>3</a:t>
                </a:r>
                <a:r>
                  <a:rPr lang="en-US" sz="2400" baseline="-25000" dirty="0" smtClean="0"/>
                  <a:t>2  </a:t>
                </a:r>
                <a:r>
                  <a:rPr lang="en-US" dirty="0" smtClean="0"/>
                  <a:t> P</a:t>
                </a:r>
                <a:r>
                  <a:rPr lang="en-US" sz="2400" baseline="-25000" dirty="0"/>
                  <a:t>3</a:t>
                </a:r>
                <a:r>
                  <a:rPr lang="en-US" sz="2400" baseline="-25000" dirty="0" smtClean="0"/>
                  <a:t>3</a:t>
                </a:r>
                <a:endParaRPr lang="en-US" sz="2400" baseline="-25000" dirty="0"/>
              </a:p>
            </p:txBody>
          </p:sp>
        </p:grpSp>
        <p:grpSp>
          <p:nvGrpSpPr>
            <p:cNvPr id="31" name="Group 30"/>
            <p:cNvGrpSpPr/>
            <p:nvPr/>
          </p:nvGrpSpPr>
          <p:grpSpPr>
            <a:xfrm>
              <a:off x="5890292" y="2743200"/>
              <a:ext cx="1882108" cy="1828800"/>
              <a:chOff x="914400" y="2743200"/>
              <a:chExt cx="1882108" cy="1828800"/>
            </a:xfrm>
          </p:grpSpPr>
          <p:sp>
            <p:nvSpPr>
              <p:cNvPr id="32" name="Rectangle 31"/>
              <p:cNvSpPr/>
              <p:nvPr/>
            </p:nvSpPr>
            <p:spPr>
              <a:xfrm>
                <a:off x="914400" y="2743200"/>
                <a:ext cx="1828800" cy="1828800"/>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33" name="Straight Connector 32"/>
              <p:cNvCxnSpPr>
                <a:stCxn id="32" idx="0"/>
                <a:endCxn id="32" idx="2"/>
              </p:cNvCxnSpPr>
              <p:nvPr/>
            </p:nvCxnSpPr>
            <p:spPr>
              <a:xfrm>
                <a:off x="1828800" y="2743200"/>
                <a:ext cx="0" cy="1828800"/>
              </a:xfrm>
              <a:prstGeom prst="line">
                <a:avLst/>
              </a:prstGeom>
              <a:ln>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4" name="Straight Connector 33"/>
              <p:cNvCxnSpPr>
                <a:stCxn id="32" idx="1"/>
                <a:endCxn id="32" idx="3"/>
              </p:cNvCxnSpPr>
              <p:nvPr/>
            </p:nvCxnSpPr>
            <p:spPr>
              <a:xfrm>
                <a:off x="914400" y="3657600"/>
                <a:ext cx="1828800" cy="0"/>
              </a:xfrm>
              <a:prstGeom prst="line">
                <a:avLst/>
              </a:prstGeom>
              <a:ln>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5" name="Straight Connector 34"/>
              <p:cNvCxnSpPr/>
              <p:nvPr/>
            </p:nvCxnSpPr>
            <p:spPr>
              <a:xfrm>
                <a:off x="2286000" y="2743200"/>
                <a:ext cx="0" cy="1828800"/>
              </a:xfrm>
              <a:prstGeom prst="line">
                <a:avLst/>
              </a:prstGeom>
              <a:ln>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6" name="Straight Connector 35"/>
              <p:cNvCxnSpPr/>
              <p:nvPr/>
            </p:nvCxnSpPr>
            <p:spPr>
              <a:xfrm>
                <a:off x="1371600" y="2743200"/>
                <a:ext cx="0" cy="1828800"/>
              </a:xfrm>
              <a:prstGeom prst="line">
                <a:avLst/>
              </a:prstGeom>
              <a:ln>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7" name="Straight Connector 36"/>
              <p:cNvCxnSpPr/>
              <p:nvPr/>
            </p:nvCxnSpPr>
            <p:spPr>
              <a:xfrm>
                <a:off x="914400" y="3200400"/>
                <a:ext cx="1828800" cy="0"/>
              </a:xfrm>
              <a:prstGeom prst="line">
                <a:avLst/>
              </a:prstGeom>
              <a:ln>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8" name="Straight Connector 37"/>
              <p:cNvCxnSpPr/>
              <p:nvPr/>
            </p:nvCxnSpPr>
            <p:spPr>
              <a:xfrm>
                <a:off x="914400" y="4114800"/>
                <a:ext cx="1828800" cy="0"/>
              </a:xfrm>
              <a:prstGeom prst="line">
                <a:avLst/>
              </a:prstGeom>
              <a:ln>
                <a:solidFill>
                  <a:srgbClr val="000000"/>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914400" y="2743200"/>
                <a:ext cx="1882108" cy="369332"/>
              </a:xfrm>
              <a:prstGeom prst="rect">
                <a:avLst/>
              </a:prstGeom>
              <a:noFill/>
            </p:spPr>
            <p:txBody>
              <a:bodyPr wrap="none" rtlCol="0">
                <a:spAutoFit/>
              </a:bodyPr>
              <a:lstStyle/>
              <a:p>
                <a:r>
                  <a:rPr lang="en-US" dirty="0" smtClean="0"/>
                  <a:t>P</a:t>
                </a:r>
                <a:r>
                  <a:rPr lang="en-US" sz="2400" baseline="-25000" dirty="0" smtClean="0"/>
                  <a:t>00 </a:t>
                </a:r>
                <a:r>
                  <a:rPr lang="en-US" dirty="0" smtClean="0"/>
                  <a:t> P</a:t>
                </a:r>
                <a:r>
                  <a:rPr lang="en-US" sz="2400" baseline="-25000" dirty="0" smtClean="0"/>
                  <a:t>01  </a:t>
                </a:r>
                <a:r>
                  <a:rPr lang="en-US" dirty="0" smtClean="0"/>
                  <a:t> P</a:t>
                </a:r>
                <a:r>
                  <a:rPr lang="en-US" sz="2400" baseline="-25000" dirty="0" smtClean="0"/>
                  <a:t>02  </a:t>
                </a:r>
                <a:r>
                  <a:rPr lang="en-US" dirty="0" smtClean="0"/>
                  <a:t> P</a:t>
                </a:r>
                <a:r>
                  <a:rPr lang="en-US" sz="2400" baseline="-25000" dirty="0" smtClean="0"/>
                  <a:t>03</a:t>
                </a:r>
                <a:endParaRPr lang="en-US" sz="2400" baseline="-25000" dirty="0"/>
              </a:p>
            </p:txBody>
          </p:sp>
          <p:sp>
            <p:nvSpPr>
              <p:cNvPr id="40" name="TextBox 39"/>
              <p:cNvSpPr txBox="1"/>
              <p:nvPr/>
            </p:nvSpPr>
            <p:spPr>
              <a:xfrm>
                <a:off x="914400" y="3212068"/>
                <a:ext cx="1882108" cy="369332"/>
              </a:xfrm>
              <a:prstGeom prst="rect">
                <a:avLst/>
              </a:prstGeom>
              <a:noFill/>
            </p:spPr>
            <p:txBody>
              <a:bodyPr wrap="none" rtlCol="0">
                <a:spAutoFit/>
              </a:bodyPr>
              <a:lstStyle/>
              <a:p>
                <a:r>
                  <a:rPr lang="en-US" dirty="0" smtClean="0"/>
                  <a:t>P</a:t>
                </a:r>
                <a:r>
                  <a:rPr lang="en-US" sz="2400" baseline="-25000" dirty="0"/>
                  <a:t>1</a:t>
                </a:r>
                <a:r>
                  <a:rPr lang="en-US" sz="2400" baseline="-25000" dirty="0" smtClean="0"/>
                  <a:t>0 </a:t>
                </a:r>
                <a:r>
                  <a:rPr lang="en-US" dirty="0" smtClean="0"/>
                  <a:t> P</a:t>
                </a:r>
                <a:r>
                  <a:rPr lang="en-US" sz="2400" baseline="-25000" dirty="0"/>
                  <a:t>1</a:t>
                </a:r>
                <a:r>
                  <a:rPr lang="en-US" sz="2400" baseline="-25000" dirty="0" smtClean="0"/>
                  <a:t>1  </a:t>
                </a:r>
                <a:r>
                  <a:rPr lang="en-US" dirty="0" smtClean="0"/>
                  <a:t> P</a:t>
                </a:r>
                <a:r>
                  <a:rPr lang="en-US" sz="2400" baseline="-25000" dirty="0"/>
                  <a:t>1</a:t>
                </a:r>
                <a:r>
                  <a:rPr lang="en-US" sz="2400" baseline="-25000" dirty="0" smtClean="0"/>
                  <a:t>2  </a:t>
                </a:r>
                <a:r>
                  <a:rPr lang="en-US" dirty="0" smtClean="0"/>
                  <a:t> P</a:t>
                </a:r>
                <a:r>
                  <a:rPr lang="en-US" sz="2400" baseline="-25000" dirty="0"/>
                  <a:t>1</a:t>
                </a:r>
                <a:r>
                  <a:rPr lang="en-US" sz="2400" baseline="-25000" dirty="0" smtClean="0"/>
                  <a:t>3</a:t>
                </a:r>
                <a:endParaRPr lang="en-US" sz="2400" baseline="-25000" dirty="0"/>
              </a:p>
            </p:txBody>
          </p:sp>
          <p:sp>
            <p:nvSpPr>
              <p:cNvPr id="41" name="TextBox 40"/>
              <p:cNvSpPr txBox="1"/>
              <p:nvPr/>
            </p:nvSpPr>
            <p:spPr>
              <a:xfrm>
                <a:off x="914400" y="3669268"/>
                <a:ext cx="1882108" cy="369332"/>
              </a:xfrm>
              <a:prstGeom prst="rect">
                <a:avLst/>
              </a:prstGeom>
              <a:noFill/>
            </p:spPr>
            <p:txBody>
              <a:bodyPr wrap="none" rtlCol="0">
                <a:spAutoFit/>
              </a:bodyPr>
              <a:lstStyle/>
              <a:p>
                <a:r>
                  <a:rPr lang="en-US" dirty="0" smtClean="0"/>
                  <a:t>P</a:t>
                </a:r>
                <a:r>
                  <a:rPr lang="en-US" sz="2400" baseline="-25000" dirty="0" smtClean="0"/>
                  <a:t>20 </a:t>
                </a:r>
                <a:r>
                  <a:rPr lang="en-US" dirty="0" smtClean="0"/>
                  <a:t> P</a:t>
                </a:r>
                <a:r>
                  <a:rPr lang="en-US" sz="2400" baseline="-25000" dirty="0" smtClean="0"/>
                  <a:t>21  </a:t>
                </a:r>
                <a:r>
                  <a:rPr lang="en-US" dirty="0" smtClean="0"/>
                  <a:t> P</a:t>
                </a:r>
                <a:r>
                  <a:rPr lang="en-US" sz="2400" baseline="-25000" dirty="0" smtClean="0"/>
                  <a:t>22  </a:t>
                </a:r>
                <a:r>
                  <a:rPr lang="en-US" dirty="0" smtClean="0"/>
                  <a:t> P</a:t>
                </a:r>
                <a:r>
                  <a:rPr lang="en-US" sz="2400" baseline="-25000" dirty="0" smtClean="0"/>
                  <a:t>23</a:t>
                </a:r>
                <a:endParaRPr lang="en-US" sz="2400" baseline="-25000" dirty="0"/>
              </a:p>
            </p:txBody>
          </p:sp>
          <p:sp>
            <p:nvSpPr>
              <p:cNvPr id="42" name="TextBox 41"/>
              <p:cNvSpPr txBox="1"/>
              <p:nvPr/>
            </p:nvSpPr>
            <p:spPr>
              <a:xfrm>
                <a:off x="914400" y="4126468"/>
                <a:ext cx="1882108" cy="369332"/>
              </a:xfrm>
              <a:prstGeom prst="rect">
                <a:avLst/>
              </a:prstGeom>
              <a:noFill/>
            </p:spPr>
            <p:txBody>
              <a:bodyPr wrap="none" rtlCol="0">
                <a:spAutoFit/>
              </a:bodyPr>
              <a:lstStyle/>
              <a:p>
                <a:r>
                  <a:rPr lang="en-US" dirty="0" smtClean="0"/>
                  <a:t>P</a:t>
                </a:r>
                <a:r>
                  <a:rPr lang="en-US" sz="2400" baseline="-25000" dirty="0"/>
                  <a:t>3</a:t>
                </a:r>
                <a:r>
                  <a:rPr lang="en-US" sz="2400" baseline="-25000" dirty="0" smtClean="0"/>
                  <a:t>0 </a:t>
                </a:r>
                <a:r>
                  <a:rPr lang="en-US" dirty="0" smtClean="0"/>
                  <a:t> P</a:t>
                </a:r>
                <a:r>
                  <a:rPr lang="en-US" sz="2400" baseline="-25000" dirty="0"/>
                  <a:t>3</a:t>
                </a:r>
                <a:r>
                  <a:rPr lang="en-US" sz="2400" baseline="-25000" dirty="0" smtClean="0"/>
                  <a:t>1  </a:t>
                </a:r>
                <a:r>
                  <a:rPr lang="en-US" dirty="0" smtClean="0"/>
                  <a:t> P</a:t>
                </a:r>
                <a:r>
                  <a:rPr lang="en-US" sz="2400" baseline="-25000" dirty="0"/>
                  <a:t>3</a:t>
                </a:r>
                <a:r>
                  <a:rPr lang="en-US" sz="2400" baseline="-25000" dirty="0" smtClean="0"/>
                  <a:t>2  </a:t>
                </a:r>
                <a:r>
                  <a:rPr lang="en-US" dirty="0" smtClean="0"/>
                  <a:t> P</a:t>
                </a:r>
                <a:r>
                  <a:rPr lang="en-US" sz="2400" baseline="-25000" dirty="0"/>
                  <a:t>3</a:t>
                </a:r>
                <a:r>
                  <a:rPr lang="en-US" sz="2400" baseline="-25000" dirty="0" smtClean="0"/>
                  <a:t>3</a:t>
                </a:r>
                <a:endParaRPr lang="en-US" sz="2400" baseline="-25000" dirty="0"/>
              </a:p>
            </p:txBody>
          </p:sp>
        </p:grpSp>
        <p:sp>
          <p:nvSpPr>
            <p:cNvPr id="43" name="TextBox 42"/>
            <p:cNvSpPr txBox="1"/>
            <p:nvPr/>
          </p:nvSpPr>
          <p:spPr>
            <a:xfrm>
              <a:off x="1600200" y="2057400"/>
              <a:ext cx="5520437" cy="523220"/>
            </a:xfrm>
            <a:prstGeom prst="rect">
              <a:avLst/>
            </a:prstGeom>
            <a:noFill/>
          </p:spPr>
          <p:txBody>
            <a:bodyPr wrap="none" rtlCol="0">
              <a:spAutoFit/>
            </a:bodyPr>
            <a:lstStyle/>
            <a:p>
              <a:r>
                <a:rPr lang="en-US" sz="2800" dirty="0" smtClean="0"/>
                <a:t>C               =               A           *             B</a:t>
              </a:r>
              <a:endParaRPr lang="en-US" sz="2800" dirty="0"/>
            </a:p>
          </p:txBody>
        </p:sp>
      </p:grpSp>
    </p:spTree>
    <p:extLst>
      <p:ext uri="{BB962C8B-B14F-4D97-AF65-F5344CB8AC3E}">
        <p14:creationId xmlns:p14="http://schemas.microsoft.com/office/powerpoint/2010/main" val="3917831139"/>
      </p:ext>
    </p:extLst>
  </p:cSld>
  <p:clrMapOvr>
    <a:masterClrMapping/>
  </p:clrMapOvr>
  <p:timing>
    <p:tnLst>
      <p:par>
        <p:cTn xmlns:p14="http://schemas.microsoft.com/office/powerpoint/2010/mai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Number Placeholder 5"/>
          <p:cNvSpPr>
            <a:spLocks noGrp="1"/>
          </p:cNvSpPr>
          <p:nvPr>
            <p:ph type="sldNum" sz="quarter" idx="11"/>
          </p:nvPr>
        </p:nvSpPr>
        <p:spPr>
          <a:xfrm>
            <a:off x="6804025" y="6135688"/>
            <a:ext cx="19050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chemeClr val="accent1"/>
                </a:solidFill>
                <a:latin typeface="Arial" pitchFamily="34" charset="0"/>
                <a:ea typeface="MS PGothic" pitchFamily="34" charset="-128"/>
              </a:defRPr>
            </a:lvl1pPr>
            <a:lvl2pPr marL="742950" indent="-285750">
              <a:defRPr sz="2000" b="1">
                <a:solidFill>
                  <a:schemeClr val="accent1"/>
                </a:solidFill>
                <a:latin typeface="Arial" pitchFamily="34" charset="0"/>
                <a:ea typeface="MS PGothic" pitchFamily="34" charset="-128"/>
              </a:defRPr>
            </a:lvl2pPr>
            <a:lvl3pPr marL="1143000" indent="-228600">
              <a:defRPr sz="2000" b="1">
                <a:solidFill>
                  <a:schemeClr val="accent1"/>
                </a:solidFill>
                <a:latin typeface="Arial" pitchFamily="34" charset="0"/>
                <a:ea typeface="MS PGothic" pitchFamily="34" charset="-128"/>
              </a:defRPr>
            </a:lvl3pPr>
            <a:lvl4pPr marL="1600200" indent="-228600">
              <a:defRPr sz="2000" b="1">
                <a:solidFill>
                  <a:schemeClr val="accent1"/>
                </a:solidFill>
                <a:latin typeface="Arial" pitchFamily="34" charset="0"/>
                <a:ea typeface="MS PGothic" pitchFamily="34" charset="-128"/>
              </a:defRPr>
            </a:lvl4pPr>
            <a:lvl5pPr marL="2057400" indent="-228600">
              <a:defRPr sz="2000" b="1">
                <a:solidFill>
                  <a:schemeClr val="accent1"/>
                </a:solidFill>
                <a:latin typeface="Arial" pitchFamily="34" charset="0"/>
                <a:ea typeface="MS PGothic" pitchFamily="34" charset="-128"/>
              </a:defRPr>
            </a:lvl5pPr>
            <a:lvl6pPr marL="25146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6pPr>
            <a:lvl7pPr marL="29718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7pPr>
            <a:lvl8pPr marL="34290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8pPr>
            <a:lvl9pPr marL="38862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9pPr>
          </a:lstStyle>
          <a:p>
            <a:pPr algn="ctr"/>
            <a:fld id="{81AAB147-9212-45FA-BEAC-133A8920D387}" type="slidenum">
              <a:rPr lang="en-US" sz="1400" b="0" smtClean="0">
                <a:solidFill>
                  <a:schemeClr val="tx1"/>
                </a:solidFill>
                <a:latin typeface="Helvetica" charset="0"/>
              </a:rPr>
              <a:pPr algn="ctr"/>
              <a:t>21</a:t>
            </a:fld>
            <a:endParaRPr lang="en-US" sz="1400" b="0" smtClean="0">
              <a:solidFill>
                <a:schemeClr val="tx1"/>
              </a:solidFill>
              <a:latin typeface="Helvetica" charset="0"/>
            </a:endParaRPr>
          </a:p>
        </p:txBody>
      </p:sp>
      <p:sp>
        <p:nvSpPr>
          <p:cNvPr id="57347" name="Rectangle 2"/>
          <p:cNvSpPr>
            <a:spLocks noGrp="1" noChangeArrowheads="1"/>
          </p:cNvSpPr>
          <p:nvPr>
            <p:ph type="title"/>
          </p:nvPr>
        </p:nvSpPr>
        <p:spPr>
          <a:xfrm>
            <a:off x="381000" y="304800"/>
            <a:ext cx="8058150" cy="422275"/>
          </a:xfrm>
        </p:spPr>
        <p:txBody>
          <a:bodyPr>
            <a:normAutofit fontScale="90000"/>
          </a:bodyPr>
          <a:lstStyle/>
          <a:p>
            <a:r>
              <a:rPr lang="en-US" smtClean="0"/>
              <a:t>SUMMA Algorithm</a:t>
            </a:r>
          </a:p>
        </p:txBody>
      </p:sp>
      <p:sp>
        <p:nvSpPr>
          <p:cNvPr id="57348" name="Rectangle 3"/>
          <p:cNvSpPr>
            <a:spLocks noGrp="1" noChangeArrowheads="1"/>
          </p:cNvSpPr>
          <p:nvPr>
            <p:ph type="body" idx="1"/>
          </p:nvPr>
        </p:nvSpPr>
        <p:spPr>
          <a:xfrm>
            <a:off x="381000" y="914400"/>
            <a:ext cx="8482013" cy="5008563"/>
          </a:xfrm>
        </p:spPr>
        <p:txBody>
          <a:bodyPr>
            <a:normAutofit fontScale="77500" lnSpcReduction="20000"/>
          </a:bodyPr>
          <a:lstStyle/>
          <a:p>
            <a:r>
              <a:rPr lang="en-US" dirty="0" smtClean="0"/>
              <a:t>SUMMA = Scalable Universal Matrix Multiply </a:t>
            </a:r>
          </a:p>
          <a:p>
            <a:pPr lvl="1"/>
            <a:r>
              <a:rPr lang="en-US" dirty="0" smtClean="0"/>
              <a:t>Comes within factor of log P of lower bounds:</a:t>
            </a:r>
          </a:p>
          <a:p>
            <a:pPr lvl="2"/>
            <a:r>
              <a:rPr lang="en-US" dirty="0" smtClean="0"/>
              <a:t>Assume fast memory size M = O(n</a:t>
            </a:r>
            <a:r>
              <a:rPr lang="en-US" baseline="30000" dirty="0" smtClean="0"/>
              <a:t>2</a:t>
            </a:r>
            <a:r>
              <a:rPr lang="en-US" dirty="0" smtClean="0"/>
              <a:t>/P) per processor – 1 copy of data</a:t>
            </a:r>
          </a:p>
          <a:p>
            <a:pPr lvl="2"/>
            <a:r>
              <a:rPr lang="en-US" dirty="0" smtClean="0"/>
              <a:t>#</a:t>
            </a:r>
            <a:r>
              <a:rPr lang="en-US" dirty="0" err="1" smtClean="0"/>
              <a:t>words_moved</a:t>
            </a:r>
            <a:r>
              <a:rPr lang="en-US" dirty="0" smtClean="0"/>
              <a:t> = </a:t>
            </a:r>
            <a:r>
              <a:rPr lang="en-US" dirty="0" err="1" smtClean="0"/>
              <a:t>Ω</a:t>
            </a:r>
            <a:r>
              <a:rPr lang="en-US" dirty="0" smtClean="0"/>
              <a:t>( #flops / M</a:t>
            </a:r>
            <a:r>
              <a:rPr lang="en-US" baseline="30000" dirty="0" smtClean="0"/>
              <a:t>1/2</a:t>
            </a:r>
            <a:r>
              <a:rPr lang="en-US" dirty="0" smtClean="0"/>
              <a:t> ) = </a:t>
            </a:r>
            <a:r>
              <a:rPr lang="en-US" dirty="0" err="1"/>
              <a:t>Ω</a:t>
            </a:r>
            <a:r>
              <a:rPr lang="en-US" dirty="0"/>
              <a:t>( </a:t>
            </a:r>
            <a:r>
              <a:rPr lang="en-US" dirty="0" smtClean="0"/>
              <a:t>(n</a:t>
            </a:r>
            <a:r>
              <a:rPr lang="en-US" baseline="30000" dirty="0" smtClean="0"/>
              <a:t>3</a:t>
            </a:r>
            <a:r>
              <a:rPr lang="en-US" dirty="0" smtClean="0"/>
              <a:t>/P) </a:t>
            </a:r>
            <a:r>
              <a:rPr lang="en-US" dirty="0"/>
              <a:t>/ </a:t>
            </a:r>
            <a:r>
              <a:rPr lang="en-US" dirty="0" smtClean="0"/>
              <a:t>(n</a:t>
            </a:r>
            <a:r>
              <a:rPr lang="en-US" baseline="30000" dirty="0" smtClean="0"/>
              <a:t>2</a:t>
            </a:r>
            <a:r>
              <a:rPr lang="en-US" dirty="0" smtClean="0"/>
              <a:t>/P)</a:t>
            </a:r>
            <a:r>
              <a:rPr lang="en-US" baseline="30000" dirty="0" smtClean="0"/>
              <a:t>1</a:t>
            </a:r>
            <a:r>
              <a:rPr lang="en-US" baseline="30000" dirty="0"/>
              <a:t>/2</a:t>
            </a:r>
            <a:r>
              <a:rPr lang="en-US" dirty="0"/>
              <a:t> ) =</a:t>
            </a:r>
            <a:r>
              <a:rPr lang="en-US" dirty="0" smtClean="0"/>
              <a:t> </a:t>
            </a:r>
            <a:r>
              <a:rPr lang="en-US" dirty="0" err="1"/>
              <a:t>Ω</a:t>
            </a:r>
            <a:r>
              <a:rPr lang="en-US" dirty="0"/>
              <a:t>( </a:t>
            </a:r>
            <a:r>
              <a:rPr lang="en-US" dirty="0" smtClean="0"/>
              <a:t> n</a:t>
            </a:r>
            <a:r>
              <a:rPr lang="en-US" baseline="30000" dirty="0" smtClean="0"/>
              <a:t>2 </a:t>
            </a:r>
            <a:r>
              <a:rPr lang="en-US" dirty="0" smtClean="0"/>
              <a:t>/ P</a:t>
            </a:r>
            <a:r>
              <a:rPr lang="en-US" baseline="30000" dirty="0" smtClean="0"/>
              <a:t>1</a:t>
            </a:r>
            <a:r>
              <a:rPr lang="en-US" baseline="30000" dirty="0"/>
              <a:t>/2</a:t>
            </a:r>
            <a:r>
              <a:rPr lang="en-US" dirty="0"/>
              <a:t> </a:t>
            </a:r>
            <a:r>
              <a:rPr lang="en-US" dirty="0" smtClean="0"/>
              <a:t>)</a:t>
            </a:r>
          </a:p>
          <a:p>
            <a:pPr lvl="2"/>
            <a:r>
              <a:rPr lang="en-US" dirty="0" smtClean="0"/>
              <a:t>#messages         </a:t>
            </a:r>
            <a:r>
              <a:rPr lang="en-US" dirty="0"/>
              <a:t>= </a:t>
            </a:r>
            <a:r>
              <a:rPr lang="en-US" dirty="0" err="1"/>
              <a:t>Ω</a:t>
            </a:r>
            <a:r>
              <a:rPr lang="en-US" dirty="0"/>
              <a:t>( #flops / </a:t>
            </a:r>
            <a:r>
              <a:rPr lang="en-US" dirty="0" smtClean="0"/>
              <a:t>M</a:t>
            </a:r>
            <a:r>
              <a:rPr lang="en-US" baseline="30000" dirty="0" smtClean="0"/>
              <a:t>3/</a:t>
            </a:r>
            <a:r>
              <a:rPr lang="en-US" baseline="30000" dirty="0"/>
              <a:t>2</a:t>
            </a:r>
            <a:r>
              <a:rPr lang="en-US" dirty="0"/>
              <a:t> ) = </a:t>
            </a:r>
            <a:r>
              <a:rPr lang="en-US" dirty="0" err="1"/>
              <a:t>Ω</a:t>
            </a:r>
            <a:r>
              <a:rPr lang="en-US" dirty="0"/>
              <a:t>( (n</a:t>
            </a:r>
            <a:r>
              <a:rPr lang="en-US" baseline="30000" dirty="0"/>
              <a:t>3</a:t>
            </a:r>
            <a:r>
              <a:rPr lang="en-US" dirty="0"/>
              <a:t>/P) / (n</a:t>
            </a:r>
            <a:r>
              <a:rPr lang="en-US" baseline="30000" dirty="0"/>
              <a:t>2</a:t>
            </a:r>
            <a:r>
              <a:rPr lang="en-US" dirty="0"/>
              <a:t>/P</a:t>
            </a:r>
            <a:r>
              <a:rPr lang="en-US" dirty="0" smtClean="0"/>
              <a:t>)</a:t>
            </a:r>
            <a:r>
              <a:rPr lang="en-US" baseline="30000" dirty="0" smtClean="0"/>
              <a:t>3/</a:t>
            </a:r>
            <a:r>
              <a:rPr lang="en-US" baseline="30000" dirty="0"/>
              <a:t>2</a:t>
            </a:r>
            <a:r>
              <a:rPr lang="en-US" dirty="0"/>
              <a:t> ) = </a:t>
            </a:r>
            <a:r>
              <a:rPr lang="en-US" dirty="0" err="1"/>
              <a:t>Ω</a:t>
            </a:r>
            <a:r>
              <a:rPr lang="en-US" dirty="0"/>
              <a:t>( </a:t>
            </a:r>
            <a:r>
              <a:rPr lang="en-US" dirty="0" smtClean="0"/>
              <a:t> </a:t>
            </a:r>
            <a:r>
              <a:rPr lang="en-US" dirty="0"/>
              <a:t>P</a:t>
            </a:r>
            <a:r>
              <a:rPr lang="en-US" baseline="30000" dirty="0"/>
              <a:t>1/2</a:t>
            </a:r>
            <a:r>
              <a:rPr lang="en-US" dirty="0"/>
              <a:t> )</a:t>
            </a:r>
            <a:r>
              <a:rPr lang="en-US" dirty="0" smtClean="0"/>
              <a:t> </a:t>
            </a:r>
          </a:p>
          <a:p>
            <a:pPr lvl="1"/>
            <a:r>
              <a:rPr lang="en-US" dirty="0" smtClean="0"/>
              <a:t>Can accommodate any processor grid, matrix dimensions &amp; layout</a:t>
            </a:r>
          </a:p>
          <a:p>
            <a:pPr lvl="1"/>
            <a:r>
              <a:rPr lang="en-US" dirty="0" smtClean="0"/>
              <a:t>Used </a:t>
            </a:r>
            <a:r>
              <a:rPr lang="en-US" dirty="0"/>
              <a:t>in practice in PBLAS = Parallel BLAS</a:t>
            </a:r>
          </a:p>
          <a:p>
            <a:pPr lvl="2"/>
            <a:r>
              <a:rPr lang="en-US" dirty="0">
                <a:hlinkClick r:id="rId3"/>
              </a:rPr>
              <a:t>www.netlib.org/lapack/lawns/lawn{96,100}.ps</a:t>
            </a:r>
            <a:endParaRPr lang="en-US" dirty="0"/>
          </a:p>
          <a:p>
            <a:pPr lvl="1"/>
            <a:endParaRPr lang="en-US" dirty="0" smtClean="0"/>
          </a:p>
          <a:p>
            <a:r>
              <a:rPr lang="en-US" dirty="0" smtClean="0"/>
              <a:t>Comparison to Cannon’s Algorithm</a:t>
            </a:r>
          </a:p>
          <a:p>
            <a:pPr lvl="1"/>
            <a:r>
              <a:rPr lang="en-US" dirty="0" smtClean="0"/>
              <a:t>Cannon attains lower bound</a:t>
            </a:r>
          </a:p>
          <a:p>
            <a:pPr lvl="1"/>
            <a:r>
              <a:rPr lang="en-US" dirty="0" smtClean="0"/>
              <a:t>But Cannon harder to generalize to other grids, dimensions,   layouts, and Cannon may use more memory </a:t>
            </a:r>
          </a:p>
        </p:txBody>
      </p:sp>
    </p:spTree>
    <p:extLst>
      <p:ext uri="{BB962C8B-B14F-4D97-AF65-F5344CB8AC3E}">
        <p14:creationId xmlns:p14="http://schemas.microsoft.com/office/powerpoint/2010/main" val="1522535770"/>
      </p:ext>
    </p:extLst>
  </p:cSld>
  <p:clrMapOvr>
    <a:masterClrMapping/>
  </p:clrMapOvr>
  <p:timing>
    <p:tnLst>
      <p:par>
        <p:cTn xmlns:p14="http://schemas.microsoft.com/office/powerpoint/2010/mai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Slide Number Placeholder 4"/>
          <p:cNvSpPr>
            <a:spLocks noGrp="1"/>
          </p:cNvSpPr>
          <p:nvPr>
            <p:ph type="sldNum" sz="quarter" idx="11"/>
          </p:nvPr>
        </p:nvSpPr>
        <p:spPr>
          <a:xfrm>
            <a:off x="6807200" y="6097588"/>
            <a:ext cx="19050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chemeClr val="accent1"/>
                </a:solidFill>
                <a:latin typeface="Arial" pitchFamily="34" charset="0"/>
                <a:ea typeface="MS PGothic" pitchFamily="34" charset="-128"/>
              </a:defRPr>
            </a:lvl1pPr>
            <a:lvl2pPr marL="742950" indent="-285750">
              <a:defRPr sz="2000" b="1">
                <a:solidFill>
                  <a:schemeClr val="accent1"/>
                </a:solidFill>
                <a:latin typeface="Arial" pitchFamily="34" charset="0"/>
                <a:ea typeface="MS PGothic" pitchFamily="34" charset="-128"/>
              </a:defRPr>
            </a:lvl2pPr>
            <a:lvl3pPr marL="1143000" indent="-228600">
              <a:defRPr sz="2000" b="1">
                <a:solidFill>
                  <a:schemeClr val="accent1"/>
                </a:solidFill>
                <a:latin typeface="Arial" pitchFamily="34" charset="0"/>
                <a:ea typeface="MS PGothic" pitchFamily="34" charset="-128"/>
              </a:defRPr>
            </a:lvl3pPr>
            <a:lvl4pPr marL="1600200" indent="-228600">
              <a:defRPr sz="2000" b="1">
                <a:solidFill>
                  <a:schemeClr val="accent1"/>
                </a:solidFill>
                <a:latin typeface="Arial" pitchFamily="34" charset="0"/>
                <a:ea typeface="MS PGothic" pitchFamily="34" charset="-128"/>
              </a:defRPr>
            </a:lvl4pPr>
            <a:lvl5pPr marL="2057400" indent="-228600">
              <a:defRPr sz="2000" b="1">
                <a:solidFill>
                  <a:schemeClr val="accent1"/>
                </a:solidFill>
                <a:latin typeface="Arial" pitchFamily="34" charset="0"/>
                <a:ea typeface="MS PGothic" pitchFamily="34" charset="-128"/>
              </a:defRPr>
            </a:lvl5pPr>
            <a:lvl6pPr marL="25146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6pPr>
            <a:lvl7pPr marL="29718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7pPr>
            <a:lvl8pPr marL="34290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8pPr>
            <a:lvl9pPr marL="38862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9pPr>
          </a:lstStyle>
          <a:p>
            <a:pPr algn="ctr"/>
            <a:fld id="{94383839-0EF5-4D85-AB6D-30F919AC3B5F}" type="slidenum">
              <a:rPr lang="en-US" sz="1400" b="0" smtClean="0">
                <a:solidFill>
                  <a:schemeClr val="tx1"/>
                </a:solidFill>
                <a:latin typeface="Helvetica" charset="0"/>
              </a:rPr>
              <a:pPr algn="ctr"/>
              <a:t>22</a:t>
            </a:fld>
            <a:endParaRPr lang="en-US" sz="1400" b="0" smtClean="0">
              <a:solidFill>
                <a:schemeClr val="tx1"/>
              </a:solidFill>
              <a:latin typeface="Helvetica" charset="0"/>
            </a:endParaRPr>
          </a:p>
        </p:txBody>
      </p:sp>
      <p:sp>
        <p:nvSpPr>
          <p:cNvPr id="58371" name="Rectangle 2"/>
          <p:cNvSpPr>
            <a:spLocks noGrp="1" noChangeArrowheads="1"/>
          </p:cNvSpPr>
          <p:nvPr>
            <p:ph type="title"/>
          </p:nvPr>
        </p:nvSpPr>
        <p:spPr>
          <a:xfrm>
            <a:off x="304800" y="228600"/>
            <a:ext cx="8686800" cy="422275"/>
          </a:xfrm>
        </p:spPr>
        <p:txBody>
          <a:bodyPr>
            <a:normAutofit fontScale="90000"/>
          </a:bodyPr>
          <a:lstStyle/>
          <a:p>
            <a:r>
              <a:rPr lang="en-US" dirty="0" smtClean="0"/>
              <a:t>SUMMA – n x n </a:t>
            </a:r>
            <a:r>
              <a:rPr lang="en-US" dirty="0" err="1" smtClean="0"/>
              <a:t>matmul</a:t>
            </a:r>
            <a:r>
              <a:rPr lang="en-US" dirty="0" smtClean="0"/>
              <a:t> on P</a:t>
            </a:r>
            <a:r>
              <a:rPr lang="en-US" baseline="30000" dirty="0" smtClean="0"/>
              <a:t>1/2 </a:t>
            </a:r>
            <a:r>
              <a:rPr lang="en-US" dirty="0" smtClean="0"/>
              <a:t>x P</a:t>
            </a:r>
            <a:r>
              <a:rPr lang="en-US" baseline="30000" dirty="0" smtClean="0"/>
              <a:t>1/2 </a:t>
            </a:r>
            <a:r>
              <a:rPr lang="en-US" dirty="0" smtClean="0"/>
              <a:t>grid  </a:t>
            </a:r>
          </a:p>
        </p:txBody>
      </p:sp>
      <p:sp>
        <p:nvSpPr>
          <p:cNvPr id="25624" name="Text Box 35"/>
          <p:cNvSpPr txBox="1">
            <a:spLocks noChangeArrowheads="1"/>
          </p:cNvSpPr>
          <p:nvPr/>
        </p:nvSpPr>
        <p:spPr bwMode="auto">
          <a:xfrm>
            <a:off x="533400" y="3657600"/>
            <a:ext cx="8458200" cy="2308324"/>
          </a:xfrm>
          <a:prstGeom prst="rect">
            <a:avLst/>
          </a:prstGeom>
          <a:noFill/>
          <a:ln w="12700">
            <a:noFill/>
            <a:miter lim="800000"/>
            <a:headEnd type="none" w="sm" len="sm"/>
            <a:tailEnd type="none" w="sm" len="sm"/>
          </a:ln>
        </p:spPr>
        <p:txBody>
          <a:bodyPr wrap="square">
            <a:spAutoFit/>
          </a:bodyPr>
          <a:lstStyle/>
          <a:p>
            <a:pPr marL="230188" indent="-230188" algn="l">
              <a:buFontTx/>
              <a:buChar char="•"/>
              <a:defRPr/>
            </a:pPr>
            <a:r>
              <a:rPr lang="en-US" sz="1800" b="0" dirty="0">
                <a:solidFill>
                  <a:schemeClr val="tx1"/>
                </a:solidFill>
                <a:latin typeface="Helvetica" pitchFamily="34" charset="0"/>
              </a:rPr>
              <a:t>  </a:t>
            </a:r>
            <a:r>
              <a:rPr lang="en-US" sz="2400" b="0" dirty="0" smtClean="0">
                <a:solidFill>
                  <a:schemeClr val="tx1"/>
                </a:solidFill>
                <a:latin typeface="Helvetica" pitchFamily="34" charset="0"/>
              </a:rPr>
              <a:t>C</a:t>
            </a:r>
            <a:r>
              <a:rPr lang="en-US" sz="1800" b="0" dirty="0" smtClean="0">
                <a:solidFill>
                  <a:schemeClr val="tx1"/>
                </a:solidFill>
                <a:latin typeface="Helvetica" pitchFamily="34" charset="0"/>
              </a:rPr>
              <a:t>(</a:t>
            </a:r>
            <a:r>
              <a:rPr lang="en-US" sz="2400" b="0" dirty="0" err="1" smtClean="0">
                <a:solidFill>
                  <a:schemeClr val="tx1"/>
                </a:solidFill>
                <a:latin typeface="Helvetica" pitchFamily="34" charset="0"/>
              </a:rPr>
              <a:t>i</a:t>
            </a:r>
            <a:r>
              <a:rPr lang="en-US" sz="2400" b="0" dirty="0">
                <a:solidFill>
                  <a:schemeClr val="tx1"/>
                </a:solidFill>
                <a:latin typeface="Helvetica" pitchFamily="34" charset="0"/>
              </a:rPr>
              <a:t>, </a:t>
            </a:r>
            <a:r>
              <a:rPr lang="en-US" sz="2400" b="0" dirty="0" smtClean="0">
                <a:solidFill>
                  <a:schemeClr val="tx1"/>
                </a:solidFill>
                <a:latin typeface="Helvetica" pitchFamily="34" charset="0"/>
              </a:rPr>
              <a:t>j) is  n/P</a:t>
            </a:r>
            <a:r>
              <a:rPr lang="en-US" sz="2400" b="0" baseline="30000" dirty="0" smtClean="0">
                <a:solidFill>
                  <a:schemeClr val="tx1"/>
                </a:solidFill>
                <a:latin typeface="Helvetica" pitchFamily="34" charset="0"/>
              </a:rPr>
              <a:t>1/2  </a:t>
            </a:r>
            <a:r>
              <a:rPr lang="en-US" sz="2400" b="0" dirty="0" smtClean="0">
                <a:solidFill>
                  <a:schemeClr val="tx1"/>
                </a:solidFill>
                <a:latin typeface="Helvetica" pitchFamily="34" charset="0"/>
              </a:rPr>
              <a:t>x  n/P</a:t>
            </a:r>
            <a:r>
              <a:rPr lang="en-US" sz="2400" b="0" baseline="30000" dirty="0" smtClean="0">
                <a:solidFill>
                  <a:schemeClr val="tx1"/>
                </a:solidFill>
                <a:latin typeface="Helvetica" pitchFamily="34" charset="0"/>
              </a:rPr>
              <a:t>1/2   </a:t>
            </a:r>
            <a:r>
              <a:rPr lang="en-US" sz="2400" b="0" dirty="0" err="1" smtClean="0">
                <a:solidFill>
                  <a:schemeClr val="tx1"/>
                </a:solidFill>
                <a:latin typeface="Helvetica" pitchFamily="34" charset="0"/>
              </a:rPr>
              <a:t>submatrix</a:t>
            </a:r>
            <a:r>
              <a:rPr lang="en-US" sz="2400" b="0" dirty="0" smtClean="0">
                <a:solidFill>
                  <a:schemeClr val="tx1"/>
                </a:solidFill>
                <a:latin typeface="Helvetica" pitchFamily="34" charset="0"/>
              </a:rPr>
              <a:t> of C on processor </a:t>
            </a:r>
            <a:r>
              <a:rPr lang="en-US" sz="2400" b="0" dirty="0" err="1" smtClean="0">
                <a:solidFill>
                  <a:schemeClr val="tx1"/>
                </a:solidFill>
                <a:latin typeface="Helvetica" pitchFamily="34" charset="0"/>
              </a:rPr>
              <a:t>P</a:t>
            </a:r>
            <a:r>
              <a:rPr lang="en-US" sz="3200" b="0" baseline="-25000" dirty="0" err="1" smtClean="0">
                <a:solidFill>
                  <a:schemeClr val="tx1"/>
                </a:solidFill>
                <a:latin typeface="Helvetica" pitchFamily="34" charset="0"/>
              </a:rPr>
              <a:t>ij</a:t>
            </a:r>
            <a:endParaRPr lang="en-US" sz="3200" b="0" baseline="-25000" dirty="0">
              <a:solidFill>
                <a:schemeClr val="tx1"/>
              </a:solidFill>
              <a:latin typeface="Helvetica" pitchFamily="34" charset="0"/>
            </a:endParaRPr>
          </a:p>
          <a:p>
            <a:pPr marL="230188" indent="-230188">
              <a:buFontTx/>
              <a:buChar char="•"/>
              <a:defRPr/>
            </a:pPr>
            <a:r>
              <a:rPr lang="en-US" sz="2400" b="0" dirty="0">
                <a:solidFill>
                  <a:schemeClr val="tx1"/>
                </a:solidFill>
                <a:latin typeface="Helvetica" pitchFamily="34" charset="0"/>
              </a:rPr>
              <a:t>  </a:t>
            </a:r>
            <a:r>
              <a:rPr lang="en-US" sz="2400" b="0" dirty="0" smtClean="0">
                <a:solidFill>
                  <a:schemeClr val="tx1"/>
                </a:solidFill>
                <a:latin typeface="Helvetica" pitchFamily="34" charset="0"/>
              </a:rPr>
              <a:t>A(</a:t>
            </a:r>
            <a:r>
              <a:rPr lang="en-US" sz="2400" b="0" dirty="0" err="1" smtClean="0">
                <a:solidFill>
                  <a:schemeClr val="tx1"/>
                </a:solidFill>
                <a:latin typeface="Helvetica" pitchFamily="34" charset="0"/>
              </a:rPr>
              <a:t>i,k</a:t>
            </a:r>
            <a:r>
              <a:rPr lang="en-US" sz="2400" b="0" dirty="0" smtClean="0">
                <a:solidFill>
                  <a:schemeClr val="tx1"/>
                </a:solidFill>
                <a:latin typeface="Helvetica" pitchFamily="34" charset="0"/>
              </a:rPr>
              <a:t>) is </a:t>
            </a:r>
            <a:r>
              <a:rPr lang="en-US" sz="2400" dirty="0" smtClean="0">
                <a:latin typeface="Helvetica" pitchFamily="34" charset="0"/>
              </a:rPr>
              <a:t> </a:t>
            </a:r>
            <a:r>
              <a:rPr lang="en-US" sz="2400" dirty="0">
                <a:latin typeface="Helvetica" pitchFamily="34" charset="0"/>
              </a:rPr>
              <a:t>n/P</a:t>
            </a:r>
            <a:r>
              <a:rPr lang="en-US" sz="2400" baseline="30000" dirty="0">
                <a:latin typeface="Helvetica" pitchFamily="34" charset="0"/>
              </a:rPr>
              <a:t>1/2 </a:t>
            </a:r>
            <a:r>
              <a:rPr lang="en-US" sz="2400" baseline="30000" dirty="0" smtClean="0">
                <a:latin typeface="Helvetica" pitchFamily="34" charset="0"/>
              </a:rPr>
              <a:t> </a:t>
            </a:r>
            <a:r>
              <a:rPr lang="en-US" sz="2400" dirty="0" smtClean="0">
                <a:latin typeface="Helvetica" pitchFamily="34" charset="0"/>
              </a:rPr>
              <a:t>x  b   </a:t>
            </a:r>
            <a:r>
              <a:rPr lang="en-US" sz="2400" dirty="0" err="1" smtClean="0">
                <a:latin typeface="Helvetica" pitchFamily="34" charset="0"/>
              </a:rPr>
              <a:t>submatrix</a:t>
            </a:r>
            <a:r>
              <a:rPr lang="en-US" sz="2400" dirty="0" smtClean="0">
                <a:latin typeface="Helvetica" pitchFamily="34" charset="0"/>
              </a:rPr>
              <a:t> of A</a:t>
            </a:r>
          </a:p>
          <a:p>
            <a:pPr marL="230188" indent="-230188">
              <a:buFontTx/>
              <a:buChar char="•"/>
              <a:defRPr/>
            </a:pPr>
            <a:r>
              <a:rPr lang="en-US" sz="2400" dirty="0" smtClean="0">
                <a:latin typeface="Helvetica" pitchFamily="34" charset="0"/>
              </a:rPr>
              <a:t>  B(</a:t>
            </a:r>
            <a:r>
              <a:rPr lang="en-US" sz="2400" dirty="0" err="1" smtClean="0">
                <a:latin typeface="Helvetica" pitchFamily="34" charset="0"/>
              </a:rPr>
              <a:t>k,j</a:t>
            </a:r>
            <a:r>
              <a:rPr lang="en-US" sz="2400" dirty="0" smtClean="0">
                <a:latin typeface="Helvetica" pitchFamily="34" charset="0"/>
              </a:rPr>
              <a:t>) is  b  x  </a:t>
            </a:r>
            <a:r>
              <a:rPr lang="en-US" sz="2400" dirty="0">
                <a:latin typeface="Helvetica" pitchFamily="34" charset="0"/>
              </a:rPr>
              <a:t>n/P</a:t>
            </a:r>
            <a:r>
              <a:rPr lang="en-US" sz="2400" baseline="30000" dirty="0">
                <a:latin typeface="Helvetica" pitchFamily="34" charset="0"/>
              </a:rPr>
              <a:t>1/2 </a:t>
            </a:r>
            <a:r>
              <a:rPr lang="en-US" sz="2400" baseline="30000" dirty="0" smtClean="0">
                <a:latin typeface="Helvetica" pitchFamily="34" charset="0"/>
              </a:rPr>
              <a:t>  </a:t>
            </a:r>
            <a:r>
              <a:rPr lang="en-US" sz="2400" dirty="0" err="1" smtClean="0">
                <a:latin typeface="Helvetica" pitchFamily="34" charset="0"/>
              </a:rPr>
              <a:t>submatrix</a:t>
            </a:r>
            <a:r>
              <a:rPr lang="en-US" sz="2400" dirty="0" smtClean="0">
                <a:latin typeface="Helvetica" pitchFamily="34" charset="0"/>
              </a:rPr>
              <a:t> of B  </a:t>
            </a:r>
            <a:endParaRPr lang="en-US" sz="2400" b="0" dirty="0">
              <a:solidFill>
                <a:schemeClr val="tx1"/>
              </a:solidFill>
              <a:latin typeface="Helvetica" pitchFamily="34" charset="0"/>
            </a:endParaRPr>
          </a:p>
          <a:p>
            <a:pPr marL="230188" indent="-230188" algn="l">
              <a:buFontTx/>
              <a:buChar char="•"/>
              <a:defRPr/>
            </a:pPr>
            <a:r>
              <a:rPr lang="en-US" sz="2400" b="0" dirty="0" smtClean="0">
                <a:solidFill>
                  <a:schemeClr val="tx1"/>
                </a:solidFill>
                <a:latin typeface="Helvetica" pitchFamily="34" charset="0"/>
              </a:rPr>
              <a:t> </a:t>
            </a:r>
            <a:r>
              <a:rPr lang="en-US" sz="2400" b="0" dirty="0">
                <a:solidFill>
                  <a:srgbClr val="006600"/>
                </a:solidFill>
                <a:latin typeface="Helvetica" pitchFamily="34" charset="0"/>
              </a:rPr>
              <a:t>C(</a:t>
            </a:r>
            <a:r>
              <a:rPr lang="en-US" sz="2400" b="0" dirty="0" err="1">
                <a:solidFill>
                  <a:srgbClr val="006600"/>
                </a:solidFill>
                <a:latin typeface="Helvetica" pitchFamily="34" charset="0"/>
              </a:rPr>
              <a:t>i,j</a:t>
            </a:r>
            <a:r>
              <a:rPr lang="en-US" sz="2400" b="0" dirty="0">
                <a:solidFill>
                  <a:srgbClr val="006600"/>
                </a:solidFill>
                <a:latin typeface="Helvetica" pitchFamily="34" charset="0"/>
              </a:rPr>
              <a:t>)</a:t>
            </a:r>
            <a:r>
              <a:rPr lang="en-US" sz="2400" b="0" dirty="0">
                <a:solidFill>
                  <a:schemeClr val="tx1"/>
                </a:solidFill>
                <a:latin typeface="Helvetica" pitchFamily="34" charset="0"/>
              </a:rPr>
              <a:t> = </a:t>
            </a:r>
            <a:r>
              <a:rPr lang="en-US" sz="2400" b="0" dirty="0">
                <a:solidFill>
                  <a:srgbClr val="006600"/>
                </a:solidFill>
                <a:latin typeface="Helvetica" pitchFamily="34" charset="0"/>
              </a:rPr>
              <a:t>C(</a:t>
            </a:r>
            <a:r>
              <a:rPr lang="en-US" sz="2400" b="0" dirty="0" err="1">
                <a:solidFill>
                  <a:srgbClr val="006600"/>
                </a:solidFill>
                <a:latin typeface="Helvetica" pitchFamily="34" charset="0"/>
              </a:rPr>
              <a:t>i,j</a:t>
            </a:r>
            <a:r>
              <a:rPr lang="en-US" sz="2400" b="0" dirty="0">
                <a:solidFill>
                  <a:srgbClr val="006600"/>
                </a:solidFill>
                <a:latin typeface="Helvetica" pitchFamily="34" charset="0"/>
              </a:rPr>
              <a:t>)</a:t>
            </a:r>
            <a:r>
              <a:rPr lang="en-US" sz="2400" b="0" dirty="0">
                <a:solidFill>
                  <a:schemeClr val="tx1"/>
                </a:solidFill>
                <a:latin typeface="Helvetica" pitchFamily="34" charset="0"/>
              </a:rPr>
              <a:t> + </a:t>
            </a:r>
            <a:r>
              <a:rPr lang="en-US" sz="2400" b="0" dirty="0" err="1">
                <a:solidFill>
                  <a:schemeClr val="tx1"/>
                </a:solidFill>
                <a:latin typeface="Symbol" pitchFamily="18" charset="2"/>
              </a:rPr>
              <a:t>S</a:t>
            </a:r>
            <a:r>
              <a:rPr lang="en-US" sz="3200" baseline="-14000" dirty="0" err="1">
                <a:solidFill>
                  <a:schemeClr val="tx1"/>
                </a:solidFill>
                <a:latin typeface="Helvetica" pitchFamily="34" charset="0"/>
              </a:rPr>
              <a:t>k</a:t>
            </a:r>
            <a:r>
              <a:rPr lang="en-US" sz="2400" b="0" dirty="0">
                <a:solidFill>
                  <a:schemeClr val="tx1"/>
                </a:solidFill>
                <a:latin typeface="Helvetica" pitchFamily="34" charset="0"/>
              </a:rPr>
              <a:t> </a:t>
            </a:r>
            <a:r>
              <a:rPr lang="en-US" sz="2400" b="0" dirty="0">
                <a:solidFill>
                  <a:srgbClr val="FF0000"/>
                </a:solidFill>
                <a:latin typeface="Helvetica" pitchFamily="34" charset="0"/>
              </a:rPr>
              <a:t>A(</a:t>
            </a:r>
            <a:r>
              <a:rPr lang="en-US" sz="2400" b="0" dirty="0" err="1">
                <a:solidFill>
                  <a:srgbClr val="FF0000"/>
                </a:solidFill>
                <a:latin typeface="Helvetica" pitchFamily="34" charset="0"/>
              </a:rPr>
              <a:t>i,k</a:t>
            </a:r>
            <a:r>
              <a:rPr lang="en-US" sz="2400" b="0" dirty="0">
                <a:solidFill>
                  <a:srgbClr val="FF0000"/>
                </a:solidFill>
                <a:latin typeface="Helvetica" pitchFamily="34" charset="0"/>
              </a:rPr>
              <a:t>)</a:t>
            </a:r>
            <a:r>
              <a:rPr lang="en-US" sz="2400" b="0" dirty="0">
                <a:solidFill>
                  <a:schemeClr val="tx1"/>
                </a:solidFill>
                <a:latin typeface="Helvetica" pitchFamily="34" charset="0"/>
              </a:rPr>
              <a:t>*</a:t>
            </a:r>
            <a:r>
              <a:rPr lang="en-US" sz="2400" b="0" dirty="0">
                <a:solidFill>
                  <a:srgbClr val="0000FF"/>
                </a:solidFill>
                <a:latin typeface="Helvetica" pitchFamily="34" charset="0"/>
              </a:rPr>
              <a:t>B(</a:t>
            </a:r>
            <a:r>
              <a:rPr lang="en-US" sz="2400" b="0" dirty="0" err="1">
                <a:solidFill>
                  <a:srgbClr val="0000FF"/>
                </a:solidFill>
                <a:latin typeface="Helvetica" pitchFamily="34" charset="0"/>
              </a:rPr>
              <a:t>k,j</a:t>
            </a:r>
            <a:r>
              <a:rPr lang="en-US" sz="2400" b="0" dirty="0" smtClean="0">
                <a:solidFill>
                  <a:srgbClr val="0000FF"/>
                </a:solidFill>
                <a:latin typeface="Helvetica" pitchFamily="34" charset="0"/>
              </a:rPr>
              <a:t>) </a:t>
            </a:r>
          </a:p>
          <a:p>
            <a:pPr marL="687388" lvl="1" indent="-230188">
              <a:buFontTx/>
              <a:buChar char="•"/>
              <a:defRPr/>
            </a:pPr>
            <a:r>
              <a:rPr lang="en-US" sz="2400" b="0" dirty="0" smtClean="0">
                <a:latin typeface="Helvetica" pitchFamily="34" charset="0"/>
              </a:rPr>
              <a:t>summation over </a:t>
            </a:r>
            <a:r>
              <a:rPr lang="en-US" sz="2400" b="0" dirty="0" err="1" smtClean="0">
                <a:latin typeface="Helvetica" pitchFamily="34" charset="0"/>
              </a:rPr>
              <a:t>submatrices</a:t>
            </a:r>
            <a:endParaRPr lang="en-US" sz="2400" b="0" dirty="0">
              <a:latin typeface="Helvetica" pitchFamily="34" charset="0"/>
            </a:endParaRPr>
          </a:p>
          <a:p>
            <a:pPr marL="230188" indent="-230188" algn="l">
              <a:buFontTx/>
              <a:buChar char="•"/>
              <a:defRPr/>
            </a:pPr>
            <a:r>
              <a:rPr lang="en-US" sz="2400" b="0" dirty="0" smtClean="0">
                <a:solidFill>
                  <a:schemeClr val="tx1"/>
                </a:solidFill>
                <a:latin typeface="Helvetica" pitchFamily="34" charset="0"/>
              </a:rPr>
              <a:t>  Need not be square processor grid </a:t>
            </a:r>
            <a:endParaRPr lang="en-US" sz="2400" b="0" dirty="0">
              <a:solidFill>
                <a:schemeClr val="tx1"/>
              </a:solidFill>
              <a:latin typeface="Helvetica" pitchFamily="34" charset="0"/>
            </a:endParaRPr>
          </a:p>
        </p:txBody>
      </p:sp>
      <p:grpSp>
        <p:nvGrpSpPr>
          <p:cNvPr id="2" name="Group 1"/>
          <p:cNvGrpSpPr/>
          <p:nvPr/>
        </p:nvGrpSpPr>
        <p:grpSpPr>
          <a:xfrm>
            <a:off x="515938" y="838200"/>
            <a:ext cx="7335837" cy="2130425"/>
            <a:chOff x="515938" y="612775"/>
            <a:chExt cx="7335837" cy="2130425"/>
          </a:xfrm>
        </p:grpSpPr>
        <p:grpSp>
          <p:nvGrpSpPr>
            <p:cNvPr id="58372" name="Group 3"/>
            <p:cNvGrpSpPr>
              <a:grpSpLocks/>
            </p:cNvGrpSpPr>
            <p:nvPr/>
          </p:nvGrpSpPr>
          <p:grpSpPr bwMode="auto">
            <a:xfrm>
              <a:off x="1447800" y="990600"/>
              <a:ext cx="1828800" cy="1752600"/>
              <a:chOff x="960" y="528"/>
              <a:chExt cx="1152" cy="1104"/>
            </a:xfrm>
          </p:grpSpPr>
          <p:sp>
            <p:nvSpPr>
              <p:cNvPr id="58412" name="Rectangle 4"/>
              <p:cNvSpPr>
                <a:spLocks noChangeArrowheads="1"/>
              </p:cNvSpPr>
              <p:nvPr/>
            </p:nvSpPr>
            <p:spPr bwMode="auto">
              <a:xfrm>
                <a:off x="960" y="528"/>
                <a:ext cx="1152" cy="1104"/>
              </a:xfrm>
              <a:prstGeom prst="rect">
                <a:avLst/>
              </a:prstGeom>
              <a:noFill/>
              <a:ln w="12700">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it-IT"/>
              </a:p>
            </p:txBody>
          </p:sp>
          <p:sp>
            <p:nvSpPr>
              <p:cNvPr id="58413" name="Line 5"/>
              <p:cNvSpPr>
                <a:spLocks noChangeShapeType="1"/>
              </p:cNvSpPr>
              <p:nvPr/>
            </p:nvSpPr>
            <p:spPr bwMode="auto">
              <a:xfrm>
                <a:off x="960" y="1056"/>
                <a:ext cx="1152"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he-IL"/>
              </a:p>
            </p:txBody>
          </p:sp>
          <p:sp>
            <p:nvSpPr>
              <p:cNvPr id="58414" name="Line 6"/>
              <p:cNvSpPr>
                <a:spLocks noChangeShapeType="1"/>
              </p:cNvSpPr>
              <p:nvPr/>
            </p:nvSpPr>
            <p:spPr bwMode="auto">
              <a:xfrm>
                <a:off x="960" y="768"/>
                <a:ext cx="1152"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he-IL"/>
              </a:p>
            </p:txBody>
          </p:sp>
          <p:sp>
            <p:nvSpPr>
              <p:cNvPr id="58415" name="Line 7"/>
              <p:cNvSpPr>
                <a:spLocks noChangeShapeType="1"/>
              </p:cNvSpPr>
              <p:nvPr/>
            </p:nvSpPr>
            <p:spPr bwMode="auto">
              <a:xfrm>
                <a:off x="960" y="1344"/>
                <a:ext cx="1152"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he-IL"/>
              </a:p>
            </p:txBody>
          </p:sp>
          <p:sp>
            <p:nvSpPr>
              <p:cNvPr id="58416" name="Line 8"/>
              <p:cNvSpPr>
                <a:spLocks noChangeShapeType="1"/>
              </p:cNvSpPr>
              <p:nvPr/>
            </p:nvSpPr>
            <p:spPr bwMode="auto">
              <a:xfrm>
                <a:off x="1536" y="528"/>
                <a:ext cx="0" cy="1104"/>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he-IL"/>
              </a:p>
            </p:txBody>
          </p:sp>
          <p:sp>
            <p:nvSpPr>
              <p:cNvPr id="58417" name="Line 9"/>
              <p:cNvSpPr>
                <a:spLocks noChangeShapeType="1"/>
              </p:cNvSpPr>
              <p:nvPr/>
            </p:nvSpPr>
            <p:spPr bwMode="auto">
              <a:xfrm>
                <a:off x="1248" y="528"/>
                <a:ext cx="0" cy="1104"/>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he-IL"/>
              </a:p>
            </p:txBody>
          </p:sp>
          <p:sp>
            <p:nvSpPr>
              <p:cNvPr id="58418" name="Line 10"/>
              <p:cNvSpPr>
                <a:spLocks noChangeShapeType="1"/>
              </p:cNvSpPr>
              <p:nvPr/>
            </p:nvSpPr>
            <p:spPr bwMode="auto">
              <a:xfrm>
                <a:off x="1824" y="528"/>
                <a:ext cx="0" cy="1104"/>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he-IL"/>
              </a:p>
            </p:txBody>
          </p:sp>
        </p:grpSp>
        <p:grpSp>
          <p:nvGrpSpPr>
            <p:cNvPr id="58373" name="Group 11"/>
            <p:cNvGrpSpPr>
              <a:grpSpLocks/>
            </p:cNvGrpSpPr>
            <p:nvPr/>
          </p:nvGrpSpPr>
          <p:grpSpPr bwMode="auto">
            <a:xfrm>
              <a:off x="3733800" y="990600"/>
              <a:ext cx="1828800" cy="1752600"/>
              <a:chOff x="960" y="528"/>
              <a:chExt cx="1152" cy="1104"/>
            </a:xfrm>
          </p:grpSpPr>
          <p:sp>
            <p:nvSpPr>
              <p:cNvPr id="58405" name="Rectangle 12"/>
              <p:cNvSpPr>
                <a:spLocks noChangeArrowheads="1"/>
              </p:cNvSpPr>
              <p:nvPr/>
            </p:nvSpPr>
            <p:spPr bwMode="auto">
              <a:xfrm>
                <a:off x="960" y="528"/>
                <a:ext cx="1152" cy="1104"/>
              </a:xfrm>
              <a:prstGeom prst="rect">
                <a:avLst/>
              </a:prstGeom>
              <a:noFill/>
              <a:ln w="12700">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it-IT"/>
              </a:p>
            </p:txBody>
          </p:sp>
          <p:sp>
            <p:nvSpPr>
              <p:cNvPr id="58406" name="Line 13"/>
              <p:cNvSpPr>
                <a:spLocks noChangeShapeType="1"/>
              </p:cNvSpPr>
              <p:nvPr/>
            </p:nvSpPr>
            <p:spPr bwMode="auto">
              <a:xfrm>
                <a:off x="960" y="1056"/>
                <a:ext cx="1152"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he-IL"/>
              </a:p>
            </p:txBody>
          </p:sp>
          <p:sp>
            <p:nvSpPr>
              <p:cNvPr id="58407" name="Line 14"/>
              <p:cNvSpPr>
                <a:spLocks noChangeShapeType="1"/>
              </p:cNvSpPr>
              <p:nvPr/>
            </p:nvSpPr>
            <p:spPr bwMode="auto">
              <a:xfrm>
                <a:off x="960" y="768"/>
                <a:ext cx="1152"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he-IL"/>
              </a:p>
            </p:txBody>
          </p:sp>
          <p:sp>
            <p:nvSpPr>
              <p:cNvPr id="58408" name="Line 15"/>
              <p:cNvSpPr>
                <a:spLocks noChangeShapeType="1"/>
              </p:cNvSpPr>
              <p:nvPr/>
            </p:nvSpPr>
            <p:spPr bwMode="auto">
              <a:xfrm>
                <a:off x="960" y="1344"/>
                <a:ext cx="1152"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he-IL"/>
              </a:p>
            </p:txBody>
          </p:sp>
          <p:sp>
            <p:nvSpPr>
              <p:cNvPr id="58409" name="Line 16"/>
              <p:cNvSpPr>
                <a:spLocks noChangeShapeType="1"/>
              </p:cNvSpPr>
              <p:nvPr/>
            </p:nvSpPr>
            <p:spPr bwMode="auto">
              <a:xfrm>
                <a:off x="1536" y="528"/>
                <a:ext cx="0" cy="1104"/>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he-IL"/>
              </a:p>
            </p:txBody>
          </p:sp>
          <p:sp>
            <p:nvSpPr>
              <p:cNvPr id="58410" name="Line 17"/>
              <p:cNvSpPr>
                <a:spLocks noChangeShapeType="1"/>
              </p:cNvSpPr>
              <p:nvPr/>
            </p:nvSpPr>
            <p:spPr bwMode="auto">
              <a:xfrm>
                <a:off x="1248" y="528"/>
                <a:ext cx="0" cy="1104"/>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he-IL"/>
              </a:p>
            </p:txBody>
          </p:sp>
          <p:sp>
            <p:nvSpPr>
              <p:cNvPr id="58411" name="Line 18"/>
              <p:cNvSpPr>
                <a:spLocks noChangeShapeType="1"/>
              </p:cNvSpPr>
              <p:nvPr/>
            </p:nvSpPr>
            <p:spPr bwMode="auto">
              <a:xfrm>
                <a:off x="1824" y="528"/>
                <a:ext cx="0" cy="1104"/>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he-IL"/>
              </a:p>
            </p:txBody>
          </p:sp>
        </p:grpSp>
        <p:sp>
          <p:nvSpPr>
            <p:cNvPr id="58374" name="Rectangle 19"/>
            <p:cNvSpPr>
              <a:spLocks noChangeArrowheads="1"/>
            </p:cNvSpPr>
            <p:nvPr/>
          </p:nvSpPr>
          <p:spPr bwMode="auto">
            <a:xfrm>
              <a:off x="6019800" y="990600"/>
              <a:ext cx="1828800" cy="1752600"/>
            </a:xfrm>
            <a:prstGeom prst="rect">
              <a:avLst/>
            </a:prstGeom>
            <a:noFill/>
            <a:ln w="12700">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it-IT"/>
            </a:p>
          </p:txBody>
        </p:sp>
        <p:sp>
          <p:nvSpPr>
            <p:cNvPr id="58375" name="Line 20"/>
            <p:cNvSpPr>
              <a:spLocks noChangeShapeType="1"/>
            </p:cNvSpPr>
            <p:nvPr/>
          </p:nvSpPr>
          <p:spPr bwMode="auto">
            <a:xfrm>
              <a:off x="6019800" y="1828800"/>
              <a:ext cx="182880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he-IL"/>
            </a:p>
          </p:txBody>
        </p:sp>
        <p:sp>
          <p:nvSpPr>
            <p:cNvPr id="58376" name="Line 21"/>
            <p:cNvSpPr>
              <a:spLocks noChangeShapeType="1"/>
            </p:cNvSpPr>
            <p:nvPr/>
          </p:nvSpPr>
          <p:spPr bwMode="auto">
            <a:xfrm>
              <a:off x="6019800" y="1371600"/>
              <a:ext cx="182880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he-IL"/>
            </a:p>
          </p:txBody>
        </p:sp>
        <p:sp>
          <p:nvSpPr>
            <p:cNvPr id="58377" name="Line 22"/>
            <p:cNvSpPr>
              <a:spLocks noChangeShapeType="1"/>
            </p:cNvSpPr>
            <p:nvPr/>
          </p:nvSpPr>
          <p:spPr bwMode="auto">
            <a:xfrm>
              <a:off x="6019800" y="2286000"/>
              <a:ext cx="182880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he-IL"/>
            </a:p>
          </p:txBody>
        </p:sp>
        <p:sp>
          <p:nvSpPr>
            <p:cNvPr id="58378" name="Line 23"/>
            <p:cNvSpPr>
              <a:spLocks noChangeShapeType="1"/>
            </p:cNvSpPr>
            <p:nvPr/>
          </p:nvSpPr>
          <p:spPr bwMode="auto">
            <a:xfrm>
              <a:off x="6934200" y="990600"/>
              <a:ext cx="0" cy="17526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he-IL"/>
            </a:p>
          </p:txBody>
        </p:sp>
        <p:sp>
          <p:nvSpPr>
            <p:cNvPr id="58379" name="Line 24"/>
            <p:cNvSpPr>
              <a:spLocks noChangeShapeType="1"/>
            </p:cNvSpPr>
            <p:nvPr/>
          </p:nvSpPr>
          <p:spPr bwMode="auto">
            <a:xfrm>
              <a:off x="6477000" y="990600"/>
              <a:ext cx="0" cy="17526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he-IL"/>
            </a:p>
          </p:txBody>
        </p:sp>
        <p:sp>
          <p:nvSpPr>
            <p:cNvPr id="58380" name="Line 25"/>
            <p:cNvSpPr>
              <a:spLocks noChangeShapeType="1"/>
            </p:cNvSpPr>
            <p:nvPr/>
          </p:nvSpPr>
          <p:spPr bwMode="auto">
            <a:xfrm>
              <a:off x="7391400" y="990600"/>
              <a:ext cx="0" cy="17526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he-IL"/>
            </a:p>
          </p:txBody>
        </p:sp>
        <p:sp>
          <p:nvSpPr>
            <p:cNvPr id="58381" name="Text Box 26"/>
            <p:cNvSpPr txBox="1">
              <a:spLocks noChangeArrowheads="1"/>
            </p:cNvSpPr>
            <p:nvPr/>
          </p:nvSpPr>
          <p:spPr bwMode="auto">
            <a:xfrm>
              <a:off x="3336925" y="1563688"/>
              <a:ext cx="3032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2000" b="1">
                  <a:solidFill>
                    <a:schemeClr val="accent1"/>
                  </a:solidFill>
                  <a:latin typeface="Arial" pitchFamily="34" charset="0"/>
                  <a:ea typeface="MS PGothic" pitchFamily="34" charset="-128"/>
                </a:defRPr>
              </a:lvl1pPr>
              <a:lvl2pPr marL="742950" indent="-285750">
                <a:defRPr sz="2000" b="1">
                  <a:solidFill>
                    <a:schemeClr val="accent1"/>
                  </a:solidFill>
                  <a:latin typeface="Arial" pitchFamily="34" charset="0"/>
                  <a:ea typeface="MS PGothic" pitchFamily="34" charset="-128"/>
                </a:defRPr>
              </a:lvl2pPr>
              <a:lvl3pPr marL="1143000" indent="-228600">
                <a:defRPr sz="2000" b="1">
                  <a:solidFill>
                    <a:schemeClr val="accent1"/>
                  </a:solidFill>
                  <a:latin typeface="Arial" pitchFamily="34" charset="0"/>
                  <a:ea typeface="MS PGothic" pitchFamily="34" charset="-128"/>
                </a:defRPr>
              </a:lvl3pPr>
              <a:lvl4pPr marL="1600200" indent="-228600">
                <a:defRPr sz="2000" b="1">
                  <a:solidFill>
                    <a:schemeClr val="accent1"/>
                  </a:solidFill>
                  <a:latin typeface="Arial" pitchFamily="34" charset="0"/>
                  <a:ea typeface="MS PGothic" pitchFamily="34" charset="-128"/>
                </a:defRPr>
              </a:lvl4pPr>
              <a:lvl5pPr marL="2057400" indent="-228600">
                <a:defRPr sz="2000" b="1">
                  <a:solidFill>
                    <a:schemeClr val="accent1"/>
                  </a:solidFill>
                  <a:latin typeface="Arial" pitchFamily="34" charset="0"/>
                  <a:ea typeface="MS PGothic" pitchFamily="34" charset="-128"/>
                </a:defRPr>
              </a:lvl5pPr>
              <a:lvl6pPr marL="25146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6pPr>
              <a:lvl7pPr marL="29718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7pPr>
              <a:lvl8pPr marL="34290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8pPr>
              <a:lvl9pPr marL="38862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9pPr>
            </a:lstStyle>
            <a:p>
              <a:r>
                <a:rPr lang="en-US" sz="2400">
                  <a:solidFill>
                    <a:schemeClr val="tx1"/>
                  </a:solidFill>
                </a:rPr>
                <a:t>*</a:t>
              </a:r>
            </a:p>
          </p:txBody>
        </p:sp>
        <p:sp>
          <p:nvSpPr>
            <p:cNvPr id="58382" name="Text Box 27"/>
            <p:cNvSpPr txBox="1">
              <a:spLocks noChangeArrowheads="1"/>
            </p:cNvSpPr>
            <p:nvPr/>
          </p:nvSpPr>
          <p:spPr bwMode="auto">
            <a:xfrm>
              <a:off x="5546725" y="1611313"/>
              <a:ext cx="4016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2000" b="1">
                  <a:solidFill>
                    <a:schemeClr val="accent1"/>
                  </a:solidFill>
                  <a:latin typeface="Arial" pitchFamily="34" charset="0"/>
                  <a:ea typeface="MS PGothic" pitchFamily="34" charset="-128"/>
                </a:defRPr>
              </a:lvl1pPr>
              <a:lvl2pPr marL="742950" indent="-285750">
                <a:defRPr sz="2000" b="1">
                  <a:solidFill>
                    <a:schemeClr val="accent1"/>
                  </a:solidFill>
                  <a:latin typeface="Arial" pitchFamily="34" charset="0"/>
                  <a:ea typeface="MS PGothic" pitchFamily="34" charset="-128"/>
                </a:defRPr>
              </a:lvl2pPr>
              <a:lvl3pPr marL="1143000" indent="-228600">
                <a:defRPr sz="2000" b="1">
                  <a:solidFill>
                    <a:schemeClr val="accent1"/>
                  </a:solidFill>
                  <a:latin typeface="Arial" pitchFamily="34" charset="0"/>
                  <a:ea typeface="MS PGothic" pitchFamily="34" charset="-128"/>
                </a:defRPr>
              </a:lvl3pPr>
              <a:lvl4pPr marL="1600200" indent="-228600">
                <a:defRPr sz="2000" b="1">
                  <a:solidFill>
                    <a:schemeClr val="accent1"/>
                  </a:solidFill>
                  <a:latin typeface="Arial" pitchFamily="34" charset="0"/>
                  <a:ea typeface="MS PGothic" pitchFamily="34" charset="-128"/>
                </a:defRPr>
              </a:lvl4pPr>
              <a:lvl5pPr marL="2057400" indent="-228600">
                <a:defRPr sz="2000" b="1">
                  <a:solidFill>
                    <a:schemeClr val="accent1"/>
                  </a:solidFill>
                  <a:latin typeface="Arial" pitchFamily="34" charset="0"/>
                  <a:ea typeface="MS PGothic" pitchFamily="34" charset="-128"/>
                </a:defRPr>
              </a:lvl5pPr>
              <a:lvl6pPr marL="25146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6pPr>
              <a:lvl7pPr marL="29718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7pPr>
              <a:lvl8pPr marL="34290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8pPr>
              <a:lvl9pPr marL="38862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9pPr>
            </a:lstStyle>
            <a:p>
              <a:r>
                <a:rPr lang="en-US">
                  <a:solidFill>
                    <a:schemeClr val="tx1"/>
                  </a:solidFill>
                </a:rPr>
                <a:t> =</a:t>
              </a:r>
            </a:p>
          </p:txBody>
        </p:sp>
        <p:sp>
          <p:nvSpPr>
            <p:cNvPr id="58383" name="Text Box 28"/>
            <p:cNvSpPr txBox="1">
              <a:spLocks noChangeArrowheads="1"/>
            </p:cNvSpPr>
            <p:nvPr/>
          </p:nvSpPr>
          <p:spPr bwMode="auto">
            <a:xfrm>
              <a:off x="1127125" y="1865313"/>
              <a:ext cx="2476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2000" b="1">
                  <a:solidFill>
                    <a:schemeClr val="accent1"/>
                  </a:solidFill>
                  <a:latin typeface="Arial" pitchFamily="34" charset="0"/>
                  <a:ea typeface="MS PGothic" pitchFamily="34" charset="-128"/>
                </a:defRPr>
              </a:lvl1pPr>
              <a:lvl2pPr marL="742950" indent="-285750">
                <a:defRPr sz="2000" b="1">
                  <a:solidFill>
                    <a:schemeClr val="accent1"/>
                  </a:solidFill>
                  <a:latin typeface="Arial" pitchFamily="34" charset="0"/>
                  <a:ea typeface="MS PGothic" pitchFamily="34" charset="-128"/>
                </a:defRPr>
              </a:lvl2pPr>
              <a:lvl3pPr marL="1143000" indent="-228600">
                <a:defRPr sz="2000" b="1">
                  <a:solidFill>
                    <a:schemeClr val="accent1"/>
                  </a:solidFill>
                  <a:latin typeface="Arial" pitchFamily="34" charset="0"/>
                  <a:ea typeface="MS PGothic" pitchFamily="34" charset="-128"/>
                </a:defRPr>
              </a:lvl3pPr>
              <a:lvl4pPr marL="1600200" indent="-228600">
                <a:defRPr sz="2000" b="1">
                  <a:solidFill>
                    <a:schemeClr val="accent1"/>
                  </a:solidFill>
                  <a:latin typeface="Arial" pitchFamily="34" charset="0"/>
                  <a:ea typeface="MS PGothic" pitchFamily="34" charset="-128"/>
                </a:defRPr>
              </a:lvl4pPr>
              <a:lvl5pPr marL="2057400" indent="-228600">
                <a:defRPr sz="2000" b="1">
                  <a:solidFill>
                    <a:schemeClr val="accent1"/>
                  </a:solidFill>
                  <a:latin typeface="Arial" pitchFamily="34" charset="0"/>
                  <a:ea typeface="MS PGothic" pitchFamily="34" charset="-128"/>
                </a:defRPr>
              </a:lvl5pPr>
              <a:lvl6pPr marL="25146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6pPr>
              <a:lvl7pPr marL="29718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7pPr>
              <a:lvl8pPr marL="34290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8pPr>
              <a:lvl9pPr marL="38862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9pPr>
            </a:lstStyle>
            <a:p>
              <a:r>
                <a:rPr lang="en-US" sz="1800">
                  <a:solidFill>
                    <a:schemeClr val="tx1"/>
                  </a:solidFill>
                  <a:latin typeface="Helvetica" charset="0"/>
                </a:rPr>
                <a:t>i</a:t>
              </a:r>
            </a:p>
          </p:txBody>
        </p:sp>
        <p:sp>
          <p:nvSpPr>
            <p:cNvPr id="58384" name="Text Box 29"/>
            <p:cNvSpPr txBox="1">
              <a:spLocks noChangeArrowheads="1"/>
            </p:cNvSpPr>
            <p:nvPr/>
          </p:nvSpPr>
          <p:spPr bwMode="auto">
            <a:xfrm>
              <a:off x="5165725" y="646113"/>
              <a:ext cx="2476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2000" b="1">
                  <a:solidFill>
                    <a:schemeClr val="accent1"/>
                  </a:solidFill>
                  <a:latin typeface="Arial" pitchFamily="34" charset="0"/>
                  <a:ea typeface="MS PGothic" pitchFamily="34" charset="-128"/>
                </a:defRPr>
              </a:lvl1pPr>
              <a:lvl2pPr marL="742950" indent="-285750">
                <a:defRPr sz="2000" b="1">
                  <a:solidFill>
                    <a:schemeClr val="accent1"/>
                  </a:solidFill>
                  <a:latin typeface="Arial" pitchFamily="34" charset="0"/>
                  <a:ea typeface="MS PGothic" pitchFamily="34" charset="-128"/>
                </a:defRPr>
              </a:lvl2pPr>
              <a:lvl3pPr marL="1143000" indent="-228600">
                <a:defRPr sz="2000" b="1">
                  <a:solidFill>
                    <a:schemeClr val="accent1"/>
                  </a:solidFill>
                  <a:latin typeface="Arial" pitchFamily="34" charset="0"/>
                  <a:ea typeface="MS PGothic" pitchFamily="34" charset="-128"/>
                </a:defRPr>
              </a:lvl3pPr>
              <a:lvl4pPr marL="1600200" indent="-228600">
                <a:defRPr sz="2000" b="1">
                  <a:solidFill>
                    <a:schemeClr val="accent1"/>
                  </a:solidFill>
                  <a:latin typeface="Arial" pitchFamily="34" charset="0"/>
                  <a:ea typeface="MS PGothic" pitchFamily="34" charset="-128"/>
                </a:defRPr>
              </a:lvl4pPr>
              <a:lvl5pPr marL="2057400" indent="-228600">
                <a:defRPr sz="2000" b="1">
                  <a:solidFill>
                    <a:schemeClr val="accent1"/>
                  </a:solidFill>
                  <a:latin typeface="Arial" pitchFamily="34" charset="0"/>
                  <a:ea typeface="MS PGothic" pitchFamily="34" charset="-128"/>
                </a:defRPr>
              </a:lvl5pPr>
              <a:lvl6pPr marL="25146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6pPr>
              <a:lvl7pPr marL="29718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7pPr>
              <a:lvl8pPr marL="34290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8pPr>
              <a:lvl9pPr marL="38862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9pPr>
            </a:lstStyle>
            <a:p>
              <a:r>
                <a:rPr lang="en-US" sz="1800">
                  <a:solidFill>
                    <a:schemeClr val="tx1"/>
                  </a:solidFill>
                  <a:latin typeface="Helvetica" charset="0"/>
                </a:rPr>
                <a:t>j</a:t>
              </a:r>
            </a:p>
          </p:txBody>
        </p:sp>
        <p:sp>
          <p:nvSpPr>
            <p:cNvPr id="58385" name="Text Box 30"/>
            <p:cNvSpPr txBox="1">
              <a:spLocks noChangeArrowheads="1"/>
            </p:cNvSpPr>
            <p:nvPr/>
          </p:nvSpPr>
          <p:spPr bwMode="auto">
            <a:xfrm>
              <a:off x="515938" y="2389188"/>
              <a:ext cx="69056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2000" b="1">
                  <a:solidFill>
                    <a:schemeClr val="accent1"/>
                  </a:solidFill>
                  <a:latin typeface="Arial" pitchFamily="34" charset="0"/>
                  <a:ea typeface="MS PGothic" pitchFamily="34" charset="-128"/>
                </a:defRPr>
              </a:lvl1pPr>
              <a:lvl2pPr marL="742950" indent="-285750">
                <a:defRPr sz="2000" b="1">
                  <a:solidFill>
                    <a:schemeClr val="accent1"/>
                  </a:solidFill>
                  <a:latin typeface="Arial" pitchFamily="34" charset="0"/>
                  <a:ea typeface="MS PGothic" pitchFamily="34" charset="-128"/>
                </a:defRPr>
              </a:lvl2pPr>
              <a:lvl3pPr marL="1143000" indent="-228600">
                <a:defRPr sz="2000" b="1">
                  <a:solidFill>
                    <a:schemeClr val="accent1"/>
                  </a:solidFill>
                  <a:latin typeface="Arial" pitchFamily="34" charset="0"/>
                  <a:ea typeface="MS PGothic" pitchFamily="34" charset="-128"/>
                </a:defRPr>
              </a:lvl3pPr>
              <a:lvl4pPr marL="1600200" indent="-228600">
                <a:defRPr sz="2000" b="1">
                  <a:solidFill>
                    <a:schemeClr val="accent1"/>
                  </a:solidFill>
                  <a:latin typeface="Arial" pitchFamily="34" charset="0"/>
                  <a:ea typeface="MS PGothic" pitchFamily="34" charset="-128"/>
                </a:defRPr>
              </a:lvl4pPr>
              <a:lvl5pPr marL="2057400" indent="-228600">
                <a:defRPr sz="2000" b="1">
                  <a:solidFill>
                    <a:schemeClr val="accent1"/>
                  </a:solidFill>
                  <a:latin typeface="Arial" pitchFamily="34" charset="0"/>
                  <a:ea typeface="MS PGothic" pitchFamily="34" charset="-128"/>
                </a:defRPr>
              </a:lvl5pPr>
              <a:lvl6pPr marL="25146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6pPr>
              <a:lvl7pPr marL="29718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7pPr>
              <a:lvl8pPr marL="34290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8pPr>
              <a:lvl9pPr marL="38862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9pPr>
            </a:lstStyle>
            <a:p>
              <a:r>
                <a:rPr lang="en-US" sz="1600">
                  <a:solidFill>
                    <a:schemeClr val="tx1"/>
                  </a:solidFill>
                  <a:latin typeface="Helvetica" charset="0"/>
                </a:rPr>
                <a:t>A(i,k)</a:t>
              </a:r>
            </a:p>
          </p:txBody>
        </p:sp>
        <p:sp>
          <p:nvSpPr>
            <p:cNvPr id="58386" name="Line 31"/>
            <p:cNvSpPr>
              <a:spLocks noChangeShapeType="1"/>
            </p:cNvSpPr>
            <p:nvPr/>
          </p:nvSpPr>
          <p:spPr bwMode="auto">
            <a:xfrm flipV="1">
              <a:off x="1125538" y="2133600"/>
              <a:ext cx="457200" cy="304800"/>
            </a:xfrm>
            <a:prstGeom prst="line">
              <a:avLst/>
            </a:prstGeom>
            <a:noFill/>
            <a:ln w="12700">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wrap="none" anchor="ctr"/>
            <a:lstStyle/>
            <a:p>
              <a:endParaRPr lang="he-IL"/>
            </a:p>
          </p:txBody>
        </p:sp>
        <p:sp>
          <p:nvSpPr>
            <p:cNvPr id="58387" name="Text Box 32"/>
            <p:cNvSpPr txBox="1">
              <a:spLocks noChangeArrowheads="1"/>
            </p:cNvSpPr>
            <p:nvPr/>
          </p:nvSpPr>
          <p:spPr bwMode="auto">
            <a:xfrm>
              <a:off x="1584325" y="646113"/>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2000" b="1">
                  <a:solidFill>
                    <a:schemeClr val="accent1"/>
                  </a:solidFill>
                  <a:latin typeface="Arial" pitchFamily="34" charset="0"/>
                  <a:ea typeface="MS PGothic" pitchFamily="34" charset="-128"/>
                </a:defRPr>
              </a:lvl1pPr>
              <a:lvl2pPr marL="742950" indent="-285750">
                <a:defRPr sz="2000" b="1">
                  <a:solidFill>
                    <a:schemeClr val="accent1"/>
                  </a:solidFill>
                  <a:latin typeface="Arial" pitchFamily="34" charset="0"/>
                  <a:ea typeface="MS PGothic" pitchFamily="34" charset="-128"/>
                </a:defRPr>
              </a:lvl2pPr>
              <a:lvl3pPr marL="1143000" indent="-228600">
                <a:defRPr sz="2000" b="1">
                  <a:solidFill>
                    <a:schemeClr val="accent1"/>
                  </a:solidFill>
                  <a:latin typeface="Arial" pitchFamily="34" charset="0"/>
                  <a:ea typeface="MS PGothic" pitchFamily="34" charset="-128"/>
                </a:defRPr>
              </a:lvl3pPr>
              <a:lvl4pPr marL="1600200" indent="-228600">
                <a:defRPr sz="2000" b="1">
                  <a:solidFill>
                    <a:schemeClr val="accent1"/>
                  </a:solidFill>
                  <a:latin typeface="Arial" pitchFamily="34" charset="0"/>
                  <a:ea typeface="MS PGothic" pitchFamily="34" charset="-128"/>
                </a:defRPr>
              </a:lvl4pPr>
              <a:lvl5pPr marL="2057400" indent="-228600">
                <a:defRPr sz="2000" b="1">
                  <a:solidFill>
                    <a:schemeClr val="accent1"/>
                  </a:solidFill>
                  <a:latin typeface="Arial" pitchFamily="34" charset="0"/>
                  <a:ea typeface="MS PGothic" pitchFamily="34" charset="-128"/>
                </a:defRPr>
              </a:lvl5pPr>
              <a:lvl6pPr marL="25146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6pPr>
              <a:lvl7pPr marL="29718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7pPr>
              <a:lvl8pPr marL="34290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8pPr>
              <a:lvl9pPr marL="38862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9pPr>
            </a:lstStyle>
            <a:p>
              <a:r>
                <a:rPr lang="en-US" sz="1800">
                  <a:solidFill>
                    <a:schemeClr val="tx1"/>
                  </a:solidFill>
                  <a:latin typeface="Helvetica" charset="0"/>
                </a:rPr>
                <a:t>k</a:t>
              </a:r>
            </a:p>
          </p:txBody>
        </p:sp>
        <p:sp>
          <p:nvSpPr>
            <p:cNvPr id="58388" name="Text Box 33"/>
            <p:cNvSpPr txBox="1">
              <a:spLocks noChangeArrowheads="1"/>
            </p:cNvSpPr>
            <p:nvPr/>
          </p:nvSpPr>
          <p:spPr bwMode="auto">
            <a:xfrm>
              <a:off x="5562600" y="993775"/>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2000" b="1">
                  <a:solidFill>
                    <a:schemeClr val="accent1"/>
                  </a:solidFill>
                  <a:latin typeface="Arial" pitchFamily="34" charset="0"/>
                  <a:ea typeface="MS PGothic" pitchFamily="34" charset="-128"/>
                </a:defRPr>
              </a:lvl1pPr>
              <a:lvl2pPr marL="742950" indent="-285750">
                <a:defRPr sz="2000" b="1">
                  <a:solidFill>
                    <a:schemeClr val="accent1"/>
                  </a:solidFill>
                  <a:latin typeface="Arial" pitchFamily="34" charset="0"/>
                  <a:ea typeface="MS PGothic" pitchFamily="34" charset="-128"/>
                </a:defRPr>
              </a:lvl2pPr>
              <a:lvl3pPr marL="1143000" indent="-228600">
                <a:defRPr sz="2000" b="1">
                  <a:solidFill>
                    <a:schemeClr val="accent1"/>
                  </a:solidFill>
                  <a:latin typeface="Arial" pitchFamily="34" charset="0"/>
                  <a:ea typeface="MS PGothic" pitchFamily="34" charset="-128"/>
                </a:defRPr>
              </a:lvl3pPr>
              <a:lvl4pPr marL="1600200" indent="-228600">
                <a:defRPr sz="2000" b="1">
                  <a:solidFill>
                    <a:schemeClr val="accent1"/>
                  </a:solidFill>
                  <a:latin typeface="Arial" pitchFamily="34" charset="0"/>
                  <a:ea typeface="MS PGothic" pitchFamily="34" charset="-128"/>
                </a:defRPr>
              </a:lvl4pPr>
              <a:lvl5pPr marL="2057400" indent="-228600">
                <a:defRPr sz="2000" b="1">
                  <a:solidFill>
                    <a:schemeClr val="accent1"/>
                  </a:solidFill>
                  <a:latin typeface="Arial" pitchFamily="34" charset="0"/>
                  <a:ea typeface="MS PGothic" pitchFamily="34" charset="-128"/>
                </a:defRPr>
              </a:lvl5pPr>
              <a:lvl6pPr marL="25146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6pPr>
              <a:lvl7pPr marL="29718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7pPr>
              <a:lvl8pPr marL="34290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8pPr>
              <a:lvl9pPr marL="38862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9pPr>
            </a:lstStyle>
            <a:p>
              <a:r>
                <a:rPr lang="en-US" sz="1800">
                  <a:solidFill>
                    <a:schemeClr val="tx1"/>
                  </a:solidFill>
                  <a:latin typeface="Helvetica" charset="0"/>
                </a:rPr>
                <a:t>k</a:t>
              </a:r>
            </a:p>
          </p:txBody>
        </p:sp>
        <p:sp>
          <p:nvSpPr>
            <p:cNvPr id="58389" name="Text Box 34"/>
            <p:cNvSpPr txBox="1">
              <a:spLocks noChangeArrowheads="1"/>
            </p:cNvSpPr>
            <p:nvPr/>
          </p:nvSpPr>
          <p:spPr bwMode="auto">
            <a:xfrm>
              <a:off x="5486400" y="612775"/>
              <a:ext cx="7556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2000" b="1">
                  <a:solidFill>
                    <a:schemeClr val="accent1"/>
                  </a:solidFill>
                  <a:latin typeface="Arial" pitchFamily="34" charset="0"/>
                  <a:ea typeface="MS PGothic" pitchFamily="34" charset="-128"/>
                </a:defRPr>
              </a:lvl1pPr>
              <a:lvl2pPr marL="742950" indent="-285750">
                <a:defRPr sz="2000" b="1">
                  <a:solidFill>
                    <a:schemeClr val="accent1"/>
                  </a:solidFill>
                  <a:latin typeface="Arial" pitchFamily="34" charset="0"/>
                  <a:ea typeface="MS PGothic" pitchFamily="34" charset="-128"/>
                </a:defRPr>
              </a:lvl2pPr>
              <a:lvl3pPr marL="1143000" indent="-228600">
                <a:defRPr sz="2000" b="1">
                  <a:solidFill>
                    <a:schemeClr val="accent1"/>
                  </a:solidFill>
                  <a:latin typeface="Arial" pitchFamily="34" charset="0"/>
                  <a:ea typeface="MS PGothic" pitchFamily="34" charset="-128"/>
                </a:defRPr>
              </a:lvl3pPr>
              <a:lvl4pPr marL="1600200" indent="-228600">
                <a:defRPr sz="2000" b="1">
                  <a:solidFill>
                    <a:schemeClr val="accent1"/>
                  </a:solidFill>
                  <a:latin typeface="Arial" pitchFamily="34" charset="0"/>
                  <a:ea typeface="MS PGothic" pitchFamily="34" charset="-128"/>
                </a:defRPr>
              </a:lvl4pPr>
              <a:lvl5pPr marL="2057400" indent="-228600">
                <a:defRPr sz="2000" b="1">
                  <a:solidFill>
                    <a:schemeClr val="accent1"/>
                  </a:solidFill>
                  <a:latin typeface="Arial" pitchFamily="34" charset="0"/>
                  <a:ea typeface="MS PGothic" pitchFamily="34" charset="-128"/>
                </a:defRPr>
              </a:lvl5pPr>
              <a:lvl6pPr marL="25146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6pPr>
              <a:lvl7pPr marL="29718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7pPr>
              <a:lvl8pPr marL="34290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8pPr>
              <a:lvl9pPr marL="38862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9pPr>
            </a:lstStyle>
            <a:p>
              <a:r>
                <a:rPr lang="en-US" sz="1800">
                  <a:solidFill>
                    <a:schemeClr val="tx1"/>
                  </a:solidFill>
                  <a:latin typeface="Helvetica" charset="0"/>
                </a:rPr>
                <a:t>B(k,j)</a:t>
              </a:r>
            </a:p>
          </p:txBody>
        </p:sp>
        <p:sp>
          <p:nvSpPr>
            <p:cNvPr id="58391" name="Line 36"/>
            <p:cNvSpPr>
              <a:spLocks noChangeShapeType="1"/>
            </p:cNvSpPr>
            <p:nvPr/>
          </p:nvSpPr>
          <p:spPr bwMode="auto">
            <a:xfrm flipH="1">
              <a:off x="5334000" y="838200"/>
              <a:ext cx="228600" cy="304800"/>
            </a:xfrm>
            <a:prstGeom prst="line">
              <a:avLst/>
            </a:prstGeom>
            <a:noFill/>
            <a:ln w="12700">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wrap="none" anchor="ctr"/>
            <a:lstStyle/>
            <a:p>
              <a:endParaRPr lang="he-IL"/>
            </a:p>
          </p:txBody>
        </p:sp>
        <p:sp>
          <p:nvSpPr>
            <p:cNvPr id="58392" name="Rectangle 37"/>
            <p:cNvSpPr>
              <a:spLocks noChangeArrowheads="1"/>
            </p:cNvSpPr>
            <p:nvPr/>
          </p:nvSpPr>
          <p:spPr bwMode="auto">
            <a:xfrm flipH="1">
              <a:off x="1584325" y="993775"/>
              <a:ext cx="92075" cy="1749425"/>
            </a:xfrm>
            <a:prstGeom prst="rect">
              <a:avLst/>
            </a:prstGeom>
            <a:solidFill>
              <a:srgbClr val="FF0000"/>
            </a:solidFill>
            <a:ln w="12700">
              <a:solidFill>
                <a:schemeClr val="tx1"/>
              </a:solidFill>
              <a:miter lim="800000"/>
              <a:headEnd type="none" w="sm" len="sm"/>
              <a:tailEnd type="none" w="sm" len="sm"/>
            </a:ln>
          </p:spPr>
          <p:txBody>
            <a:bodyPr wrap="none" anchor="ctr"/>
            <a:lstStyle/>
            <a:p>
              <a:endParaRPr lang="it-IT"/>
            </a:p>
          </p:txBody>
        </p:sp>
        <p:grpSp>
          <p:nvGrpSpPr>
            <p:cNvPr id="58393" name="Group 38"/>
            <p:cNvGrpSpPr>
              <a:grpSpLocks/>
            </p:cNvGrpSpPr>
            <p:nvPr/>
          </p:nvGrpSpPr>
          <p:grpSpPr bwMode="auto">
            <a:xfrm>
              <a:off x="1692275" y="1690688"/>
              <a:ext cx="1393825" cy="385762"/>
              <a:chOff x="1038" y="525"/>
              <a:chExt cx="878" cy="243"/>
            </a:xfrm>
          </p:grpSpPr>
          <p:sp>
            <p:nvSpPr>
              <p:cNvPr id="58402" name="Line 39"/>
              <p:cNvSpPr>
                <a:spLocks noChangeShapeType="1"/>
              </p:cNvSpPr>
              <p:nvPr/>
            </p:nvSpPr>
            <p:spPr bwMode="auto">
              <a:xfrm>
                <a:off x="1056" y="768"/>
                <a:ext cx="315" cy="0"/>
              </a:xfrm>
              <a:prstGeom prst="line">
                <a:avLst/>
              </a:prstGeom>
              <a:noFill/>
              <a:ln w="254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he-IL"/>
              </a:p>
            </p:txBody>
          </p:sp>
          <p:sp>
            <p:nvSpPr>
              <p:cNvPr id="58403" name="Freeform 40"/>
              <p:cNvSpPr>
                <a:spLocks/>
              </p:cNvSpPr>
              <p:nvPr/>
            </p:nvSpPr>
            <p:spPr bwMode="auto">
              <a:xfrm>
                <a:off x="1042" y="539"/>
                <a:ext cx="604" cy="220"/>
              </a:xfrm>
              <a:custGeom>
                <a:avLst/>
                <a:gdLst>
                  <a:gd name="T0" fmla="*/ 0 w 604"/>
                  <a:gd name="T1" fmla="*/ 220 h 220"/>
                  <a:gd name="T2" fmla="*/ 412 w 604"/>
                  <a:gd name="T3" fmla="*/ 0 h 220"/>
                  <a:gd name="T4" fmla="*/ 604 w 604"/>
                  <a:gd name="T5" fmla="*/ 220 h 220"/>
                  <a:gd name="T6" fmla="*/ 0 60000 65536"/>
                  <a:gd name="T7" fmla="*/ 0 60000 65536"/>
                  <a:gd name="T8" fmla="*/ 0 60000 65536"/>
                  <a:gd name="T9" fmla="*/ 0 w 604"/>
                  <a:gd name="T10" fmla="*/ 0 h 220"/>
                  <a:gd name="T11" fmla="*/ 604 w 604"/>
                  <a:gd name="T12" fmla="*/ 220 h 220"/>
                </a:gdLst>
                <a:ahLst/>
                <a:cxnLst>
                  <a:cxn ang="T6">
                    <a:pos x="T0" y="T1"/>
                  </a:cxn>
                  <a:cxn ang="T7">
                    <a:pos x="T2" y="T3"/>
                  </a:cxn>
                  <a:cxn ang="T8">
                    <a:pos x="T4" y="T5"/>
                  </a:cxn>
                </a:cxnLst>
                <a:rect l="T9" t="T10" r="T11" b="T12"/>
                <a:pathLst>
                  <a:path w="604" h="220">
                    <a:moveTo>
                      <a:pt x="0" y="220"/>
                    </a:moveTo>
                    <a:cubicBezTo>
                      <a:pt x="155" y="110"/>
                      <a:pt x="311" y="0"/>
                      <a:pt x="412" y="0"/>
                    </a:cubicBezTo>
                    <a:cubicBezTo>
                      <a:pt x="513" y="0"/>
                      <a:pt x="558" y="110"/>
                      <a:pt x="604" y="220"/>
                    </a:cubicBezTo>
                  </a:path>
                </a:pathLst>
              </a:custGeom>
              <a:noFill/>
              <a:ln w="25400">
                <a:solidFill>
                  <a:schemeClr val="tx1"/>
                </a:solidFill>
                <a:round/>
                <a:headEnd type="none" w="sm" len="sm"/>
                <a:tailEnd type="triangle" w="med" len="med"/>
              </a:ln>
              <a:extLst>
                <a:ext uri="{909E8E84-426E-40dd-AFC4-6F175D3DCCD1}">
                  <a14:hiddenFill xmlns:a14="http://schemas.microsoft.com/office/drawing/2010/main">
                    <a:solidFill>
                      <a:srgbClr val="FFFFFF"/>
                    </a:solidFill>
                  </a14:hiddenFill>
                </a:ext>
              </a:extLst>
            </p:spPr>
            <p:txBody>
              <a:bodyPr/>
              <a:lstStyle/>
              <a:p>
                <a:endParaRPr lang="he-IL"/>
              </a:p>
            </p:txBody>
          </p:sp>
          <p:sp>
            <p:nvSpPr>
              <p:cNvPr id="58404" name="Freeform 41"/>
              <p:cNvSpPr>
                <a:spLocks/>
              </p:cNvSpPr>
              <p:nvPr/>
            </p:nvSpPr>
            <p:spPr bwMode="auto">
              <a:xfrm>
                <a:off x="1038" y="525"/>
                <a:ext cx="878" cy="220"/>
              </a:xfrm>
              <a:custGeom>
                <a:avLst/>
                <a:gdLst>
                  <a:gd name="T0" fmla="*/ 0 w 604"/>
                  <a:gd name="T1" fmla="*/ 220 h 220"/>
                  <a:gd name="T2" fmla="*/ 8216 w 604"/>
                  <a:gd name="T3" fmla="*/ 0 h 220"/>
                  <a:gd name="T4" fmla="*/ 12041 w 604"/>
                  <a:gd name="T5" fmla="*/ 220 h 220"/>
                  <a:gd name="T6" fmla="*/ 0 60000 65536"/>
                  <a:gd name="T7" fmla="*/ 0 60000 65536"/>
                  <a:gd name="T8" fmla="*/ 0 60000 65536"/>
                  <a:gd name="T9" fmla="*/ 0 w 604"/>
                  <a:gd name="T10" fmla="*/ 0 h 220"/>
                  <a:gd name="T11" fmla="*/ 604 w 604"/>
                  <a:gd name="T12" fmla="*/ 220 h 220"/>
                </a:gdLst>
                <a:ahLst/>
                <a:cxnLst>
                  <a:cxn ang="T6">
                    <a:pos x="T0" y="T1"/>
                  </a:cxn>
                  <a:cxn ang="T7">
                    <a:pos x="T2" y="T3"/>
                  </a:cxn>
                  <a:cxn ang="T8">
                    <a:pos x="T4" y="T5"/>
                  </a:cxn>
                </a:cxnLst>
                <a:rect l="T9" t="T10" r="T11" b="T12"/>
                <a:pathLst>
                  <a:path w="604" h="220">
                    <a:moveTo>
                      <a:pt x="0" y="220"/>
                    </a:moveTo>
                    <a:cubicBezTo>
                      <a:pt x="155" y="110"/>
                      <a:pt x="311" y="0"/>
                      <a:pt x="412" y="0"/>
                    </a:cubicBezTo>
                    <a:cubicBezTo>
                      <a:pt x="513" y="0"/>
                      <a:pt x="558" y="110"/>
                      <a:pt x="604" y="220"/>
                    </a:cubicBezTo>
                  </a:path>
                </a:pathLst>
              </a:custGeom>
              <a:noFill/>
              <a:ln w="25400">
                <a:solidFill>
                  <a:schemeClr val="tx1"/>
                </a:solidFill>
                <a:round/>
                <a:headEnd type="none" w="sm" len="sm"/>
                <a:tailEnd type="triangle" w="med" len="med"/>
              </a:ln>
              <a:extLst>
                <a:ext uri="{909E8E84-426E-40dd-AFC4-6F175D3DCCD1}">
                  <a14:hiddenFill xmlns:a14="http://schemas.microsoft.com/office/drawing/2010/main">
                    <a:solidFill>
                      <a:srgbClr val="FFFFFF"/>
                    </a:solidFill>
                  </a14:hiddenFill>
                </a:ext>
              </a:extLst>
            </p:spPr>
            <p:txBody>
              <a:bodyPr/>
              <a:lstStyle/>
              <a:p>
                <a:endParaRPr lang="he-IL"/>
              </a:p>
            </p:txBody>
          </p:sp>
        </p:grpSp>
        <p:sp>
          <p:nvSpPr>
            <p:cNvPr id="58394" name="Rectangle 42"/>
            <p:cNvSpPr>
              <a:spLocks noChangeArrowheads="1"/>
            </p:cNvSpPr>
            <p:nvPr/>
          </p:nvSpPr>
          <p:spPr bwMode="auto">
            <a:xfrm>
              <a:off x="3733800" y="1112838"/>
              <a:ext cx="1828800" cy="106362"/>
            </a:xfrm>
            <a:prstGeom prst="rect">
              <a:avLst/>
            </a:prstGeom>
            <a:solidFill>
              <a:schemeClr val="hlink"/>
            </a:solidFill>
            <a:ln w="12700">
              <a:solidFill>
                <a:schemeClr val="tx1"/>
              </a:solidFill>
              <a:miter lim="800000"/>
              <a:headEnd type="none" w="sm" len="sm"/>
              <a:tailEnd type="none" w="sm" len="sm"/>
            </a:ln>
          </p:spPr>
          <p:txBody>
            <a:bodyPr wrap="none" anchor="ctr"/>
            <a:lstStyle/>
            <a:p>
              <a:endParaRPr lang="it-IT"/>
            </a:p>
          </p:txBody>
        </p:sp>
        <p:sp>
          <p:nvSpPr>
            <p:cNvPr id="58395" name="Rectangle 43"/>
            <p:cNvSpPr>
              <a:spLocks noChangeArrowheads="1"/>
            </p:cNvSpPr>
            <p:nvPr/>
          </p:nvSpPr>
          <p:spPr bwMode="auto">
            <a:xfrm>
              <a:off x="7388225" y="1828800"/>
              <a:ext cx="463550" cy="465138"/>
            </a:xfrm>
            <a:prstGeom prst="rect">
              <a:avLst/>
            </a:prstGeom>
            <a:solidFill>
              <a:srgbClr val="00FF00"/>
            </a:solidFill>
            <a:ln w="12700">
              <a:solidFill>
                <a:schemeClr val="tx1"/>
              </a:solidFill>
              <a:miter lim="800000"/>
              <a:headEnd type="none" w="sm" len="sm"/>
              <a:tailEnd type="none" w="sm" len="sm"/>
            </a:ln>
          </p:spPr>
          <p:txBody>
            <a:bodyPr wrap="none" anchor="ctr"/>
            <a:lstStyle/>
            <a:p>
              <a:pPr algn="ctr"/>
              <a:r>
                <a:rPr lang="en-US" sz="1400" b="0">
                  <a:solidFill>
                    <a:schemeClr val="tx1"/>
                  </a:solidFill>
                </a:rPr>
                <a:t>C(i,j)</a:t>
              </a:r>
            </a:p>
          </p:txBody>
        </p:sp>
        <p:sp>
          <p:nvSpPr>
            <p:cNvPr id="58396" name="Rectangle 44"/>
            <p:cNvSpPr>
              <a:spLocks noChangeArrowheads="1"/>
            </p:cNvSpPr>
            <p:nvPr/>
          </p:nvSpPr>
          <p:spPr bwMode="auto">
            <a:xfrm>
              <a:off x="7388225" y="1730375"/>
              <a:ext cx="463550" cy="98425"/>
            </a:xfrm>
            <a:prstGeom prst="rect">
              <a:avLst/>
            </a:prstGeom>
            <a:solidFill>
              <a:schemeClr val="hlink"/>
            </a:solidFill>
            <a:ln w="12700">
              <a:solidFill>
                <a:schemeClr val="tx1"/>
              </a:solidFill>
              <a:miter lim="800000"/>
              <a:headEnd type="none" w="sm" len="sm"/>
              <a:tailEnd type="none" w="sm" len="sm"/>
            </a:ln>
          </p:spPr>
          <p:txBody>
            <a:bodyPr wrap="none" anchor="ctr"/>
            <a:lstStyle/>
            <a:p>
              <a:endParaRPr lang="it-IT"/>
            </a:p>
          </p:txBody>
        </p:sp>
        <p:sp>
          <p:nvSpPr>
            <p:cNvPr id="58397" name="Rectangle 45"/>
            <p:cNvSpPr>
              <a:spLocks noChangeArrowheads="1"/>
            </p:cNvSpPr>
            <p:nvPr/>
          </p:nvSpPr>
          <p:spPr bwMode="auto">
            <a:xfrm flipH="1">
              <a:off x="7296150" y="1828800"/>
              <a:ext cx="95250" cy="457200"/>
            </a:xfrm>
            <a:prstGeom prst="rect">
              <a:avLst/>
            </a:prstGeom>
            <a:solidFill>
              <a:srgbClr val="FF0000"/>
            </a:solidFill>
            <a:ln w="12700">
              <a:solidFill>
                <a:schemeClr val="tx1"/>
              </a:solidFill>
              <a:miter lim="800000"/>
              <a:headEnd type="none" w="sm" len="sm"/>
              <a:tailEnd type="none" w="sm" len="sm"/>
            </a:ln>
          </p:spPr>
          <p:txBody>
            <a:bodyPr wrap="none" anchor="ctr"/>
            <a:lstStyle/>
            <a:p>
              <a:endParaRPr lang="it-IT"/>
            </a:p>
          </p:txBody>
        </p:sp>
        <p:grpSp>
          <p:nvGrpSpPr>
            <p:cNvPr id="58398" name="Group 46"/>
            <p:cNvGrpSpPr>
              <a:grpSpLocks/>
            </p:cNvGrpSpPr>
            <p:nvPr/>
          </p:nvGrpSpPr>
          <p:grpSpPr bwMode="auto">
            <a:xfrm rot="5400000">
              <a:off x="4802981" y="1726407"/>
              <a:ext cx="1393825" cy="385762"/>
              <a:chOff x="1038" y="525"/>
              <a:chExt cx="878" cy="243"/>
            </a:xfrm>
          </p:grpSpPr>
          <p:sp>
            <p:nvSpPr>
              <p:cNvPr id="58399" name="Line 47"/>
              <p:cNvSpPr>
                <a:spLocks noChangeShapeType="1"/>
              </p:cNvSpPr>
              <p:nvPr/>
            </p:nvSpPr>
            <p:spPr bwMode="auto">
              <a:xfrm>
                <a:off x="1056" y="768"/>
                <a:ext cx="315" cy="0"/>
              </a:xfrm>
              <a:prstGeom prst="line">
                <a:avLst/>
              </a:prstGeom>
              <a:noFill/>
              <a:ln w="254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he-IL"/>
              </a:p>
            </p:txBody>
          </p:sp>
          <p:sp>
            <p:nvSpPr>
              <p:cNvPr id="58400" name="Freeform 48"/>
              <p:cNvSpPr>
                <a:spLocks/>
              </p:cNvSpPr>
              <p:nvPr/>
            </p:nvSpPr>
            <p:spPr bwMode="auto">
              <a:xfrm>
                <a:off x="1042" y="539"/>
                <a:ext cx="604" cy="220"/>
              </a:xfrm>
              <a:custGeom>
                <a:avLst/>
                <a:gdLst>
                  <a:gd name="T0" fmla="*/ 0 w 604"/>
                  <a:gd name="T1" fmla="*/ 220 h 220"/>
                  <a:gd name="T2" fmla="*/ 412 w 604"/>
                  <a:gd name="T3" fmla="*/ 0 h 220"/>
                  <a:gd name="T4" fmla="*/ 604 w 604"/>
                  <a:gd name="T5" fmla="*/ 220 h 220"/>
                  <a:gd name="T6" fmla="*/ 0 60000 65536"/>
                  <a:gd name="T7" fmla="*/ 0 60000 65536"/>
                  <a:gd name="T8" fmla="*/ 0 60000 65536"/>
                  <a:gd name="T9" fmla="*/ 0 w 604"/>
                  <a:gd name="T10" fmla="*/ 0 h 220"/>
                  <a:gd name="T11" fmla="*/ 604 w 604"/>
                  <a:gd name="T12" fmla="*/ 220 h 220"/>
                </a:gdLst>
                <a:ahLst/>
                <a:cxnLst>
                  <a:cxn ang="T6">
                    <a:pos x="T0" y="T1"/>
                  </a:cxn>
                  <a:cxn ang="T7">
                    <a:pos x="T2" y="T3"/>
                  </a:cxn>
                  <a:cxn ang="T8">
                    <a:pos x="T4" y="T5"/>
                  </a:cxn>
                </a:cxnLst>
                <a:rect l="T9" t="T10" r="T11" b="T12"/>
                <a:pathLst>
                  <a:path w="604" h="220">
                    <a:moveTo>
                      <a:pt x="0" y="220"/>
                    </a:moveTo>
                    <a:cubicBezTo>
                      <a:pt x="155" y="110"/>
                      <a:pt x="311" y="0"/>
                      <a:pt x="412" y="0"/>
                    </a:cubicBezTo>
                    <a:cubicBezTo>
                      <a:pt x="513" y="0"/>
                      <a:pt x="558" y="110"/>
                      <a:pt x="604" y="220"/>
                    </a:cubicBezTo>
                  </a:path>
                </a:pathLst>
              </a:custGeom>
              <a:noFill/>
              <a:ln w="25400">
                <a:solidFill>
                  <a:schemeClr val="tx1"/>
                </a:solidFill>
                <a:round/>
                <a:headEnd type="none" w="sm" len="sm"/>
                <a:tailEnd type="triangle" w="med" len="med"/>
              </a:ln>
              <a:extLst>
                <a:ext uri="{909E8E84-426E-40dd-AFC4-6F175D3DCCD1}">
                  <a14:hiddenFill xmlns:a14="http://schemas.microsoft.com/office/drawing/2010/main">
                    <a:solidFill>
                      <a:srgbClr val="FFFFFF"/>
                    </a:solidFill>
                  </a14:hiddenFill>
                </a:ext>
              </a:extLst>
            </p:spPr>
            <p:txBody>
              <a:bodyPr/>
              <a:lstStyle/>
              <a:p>
                <a:endParaRPr lang="he-IL"/>
              </a:p>
            </p:txBody>
          </p:sp>
          <p:sp>
            <p:nvSpPr>
              <p:cNvPr id="58401" name="Freeform 49"/>
              <p:cNvSpPr>
                <a:spLocks/>
              </p:cNvSpPr>
              <p:nvPr/>
            </p:nvSpPr>
            <p:spPr bwMode="auto">
              <a:xfrm>
                <a:off x="1038" y="525"/>
                <a:ext cx="878" cy="220"/>
              </a:xfrm>
              <a:custGeom>
                <a:avLst/>
                <a:gdLst>
                  <a:gd name="T0" fmla="*/ 0 w 604"/>
                  <a:gd name="T1" fmla="*/ 220 h 220"/>
                  <a:gd name="T2" fmla="*/ 8216 w 604"/>
                  <a:gd name="T3" fmla="*/ 0 h 220"/>
                  <a:gd name="T4" fmla="*/ 12041 w 604"/>
                  <a:gd name="T5" fmla="*/ 220 h 220"/>
                  <a:gd name="T6" fmla="*/ 0 60000 65536"/>
                  <a:gd name="T7" fmla="*/ 0 60000 65536"/>
                  <a:gd name="T8" fmla="*/ 0 60000 65536"/>
                  <a:gd name="T9" fmla="*/ 0 w 604"/>
                  <a:gd name="T10" fmla="*/ 0 h 220"/>
                  <a:gd name="T11" fmla="*/ 604 w 604"/>
                  <a:gd name="T12" fmla="*/ 220 h 220"/>
                </a:gdLst>
                <a:ahLst/>
                <a:cxnLst>
                  <a:cxn ang="T6">
                    <a:pos x="T0" y="T1"/>
                  </a:cxn>
                  <a:cxn ang="T7">
                    <a:pos x="T2" y="T3"/>
                  </a:cxn>
                  <a:cxn ang="T8">
                    <a:pos x="T4" y="T5"/>
                  </a:cxn>
                </a:cxnLst>
                <a:rect l="T9" t="T10" r="T11" b="T12"/>
                <a:pathLst>
                  <a:path w="604" h="220">
                    <a:moveTo>
                      <a:pt x="0" y="220"/>
                    </a:moveTo>
                    <a:cubicBezTo>
                      <a:pt x="155" y="110"/>
                      <a:pt x="311" y="0"/>
                      <a:pt x="412" y="0"/>
                    </a:cubicBezTo>
                    <a:cubicBezTo>
                      <a:pt x="513" y="0"/>
                      <a:pt x="558" y="110"/>
                      <a:pt x="604" y="220"/>
                    </a:cubicBezTo>
                  </a:path>
                </a:pathLst>
              </a:custGeom>
              <a:noFill/>
              <a:ln w="25400">
                <a:solidFill>
                  <a:schemeClr val="tx1"/>
                </a:solidFill>
                <a:round/>
                <a:headEnd type="none" w="sm" len="sm"/>
                <a:tailEnd type="triangle" w="med" len="med"/>
              </a:ln>
              <a:extLst>
                <a:ext uri="{909E8E84-426E-40dd-AFC4-6F175D3DCCD1}">
                  <a14:hiddenFill xmlns:a14="http://schemas.microsoft.com/office/drawing/2010/main">
                    <a:solidFill>
                      <a:srgbClr val="FFFFFF"/>
                    </a:solidFill>
                  </a14:hiddenFill>
                </a:ext>
              </a:extLst>
            </p:spPr>
            <p:txBody>
              <a:bodyPr/>
              <a:lstStyle/>
              <a:p>
                <a:endParaRPr lang="he-IL"/>
              </a:p>
            </p:txBody>
          </p:sp>
        </p:grpSp>
      </p:grpSp>
    </p:spTree>
    <p:extLst>
      <p:ext uri="{BB962C8B-B14F-4D97-AF65-F5344CB8AC3E}">
        <p14:creationId xmlns:p14="http://schemas.microsoft.com/office/powerpoint/2010/main" val="144518739"/>
      </p:ext>
    </p:extLst>
  </p:cSld>
  <p:clrMapOvr>
    <a:masterClrMapping/>
  </p:clrMapOvr>
  <p:timing>
    <p:tnLst>
      <p:par>
        <p:cTn xmlns:p14="http://schemas.microsoft.com/office/powerpoint/2010/mai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Number Placeholder 4"/>
          <p:cNvSpPr>
            <a:spLocks noGrp="1"/>
          </p:cNvSpPr>
          <p:nvPr>
            <p:ph type="sldNum" sz="quarter" idx="11"/>
          </p:nvPr>
        </p:nvSpPr>
        <p:spPr>
          <a:xfrm>
            <a:off x="6643688" y="6335713"/>
            <a:ext cx="19050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chemeClr val="accent1"/>
                </a:solidFill>
                <a:latin typeface="Arial" pitchFamily="34" charset="0"/>
                <a:ea typeface="MS PGothic" pitchFamily="34" charset="-128"/>
              </a:defRPr>
            </a:lvl1pPr>
            <a:lvl2pPr marL="742950" indent="-285750">
              <a:defRPr sz="2000" b="1">
                <a:solidFill>
                  <a:schemeClr val="accent1"/>
                </a:solidFill>
                <a:latin typeface="Arial" pitchFamily="34" charset="0"/>
                <a:ea typeface="MS PGothic" pitchFamily="34" charset="-128"/>
              </a:defRPr>
            </a:lvl2pPr>
            <a:lvl3pPr marL="1143000" indent="-228600">
              <a:defRPr sz="2000" b="1">
                <a:solidFill>
                  <a:schemeClr val="accent1"/>
                </a:solidFill>
                <a:latin typeface="Arial" pitchFamily="34" charset="0"/>
                <a:ea typeface="MS PGothic" pitchFamily="34" charset="-128"/>
              </a:defRPr>
            </a:lvl3pPr>
            <a:lvl4pPr marL="1600200" indent="-228600">
              <a:defRPr sz="2000" b="1">
                <a:solidFill>
                  <a:schemeClr val="accent1"/>
                </a:solidFill>
                <a:latin typeface="Arial" pitchFamily="34" charset="0"/>
                <a:ea typeface="MS PGothic" pitchFamily="34" charset="-128"/>
              </a:defRPr>
            </a:lvl4pPr>
            <a:lvl5pPr marL="2057400" indent="-228600">
              <a:defRPr sz="2000" b="1">
                <a:solidFill>
                  <a:schemeClr val="accent1"/>
                </a:solidFill>
                <a:latin typeface="Arial" pitchFamily="34" charset="0"/>
                <a:ea typeface="MS PGothic" pitchFamily="34" charset="-128"/>
              </a:defRPr>
            </a:lvl5pPr>
            <a:lvl6pPr marL="25146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6pPr>
            <a:lvl7pPr marL="29718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7pPr>
            <a:lvl8pPr marL="34290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8pPr>
            <a:lvl9pPr marL="38862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9pPr>
          </a:lstStyle>
          <a:p>
            <a:pPr algn="ctr"/>
            <a:fld id="{499C425B-940E-4BEB-BD0A-E0B0176C0AFA}" type="slidenum">
              <a:rPr lang="en-US" sz="1400" b="0" smtClean="0">
                <a:solidFill>
                  <a:schemeClr val="tx1"/>
                </a:solidFill>
                <a:latin typeface="Helvetica" charset="0"/>
              </a:rPr>
              <a:pPr algn="ctr"/>
              <a:t>23</a:t>
            </a:fld>
            <a:endParaRPr lang="en-US" sz="1400" b="0" smtClean="0">
              <a:solidFill>
                <a:schemeClr val="tx1"/>
              </a:solidFill>
              <a:latin typeface="Helvetica" charset="0"/>
            </a:endParaRPr>
          </a:p>
        </p:txBody>
      </p:sp>
      <p:sp>
        <p:nvSpPr>
          <p:cNvPr id="59395" name="Rectangle 2"/>
          <p:cNvSpPr>
            <a:spLocks noGrp="1" noChangeArrowheads="1"/>
          </p:cNvSpPr>
          <p:nvPr>
            <p:ph type="title"/>
          </p:nvPr>
        </p:nvSpPr>
        <p:spPr>
          <a:xfrm>
            <a:off x="381001" y="187325"/>
            <a:ext cx="8610600" cy="422275"/>
          </a:xfrm>
        </p:spPr>
        <p:txBody>
          <a:bodyPr>
            <a:normAutofit fontScale="90000"/>
          </a:bodyPr>
          <a:lstStyle/>
          <a:p>
            <a:r>
              <a:rPr lang="en-US" dirty="0"/>
              <a:t>SUMMA– n x n </a:t>
            </a:r>
            <a:r>
              <a:rPr lang="en-US" dirty="0" err="1"/>
              <a:t>matmul</a:t>
            </a:r>
            <a:r>
              <a:rPr lang="en-US" dirty="0"/>
              <a:t> on P</a:t>
            </a:r>
            <a:r>
              <a:rPr lang="en-US" baseline="30000" dirty="0"/>
              <a:t>1/2 </a:t>
            </a:r>
            <a:r>
              <a:rPr lang="en-US" dirty="0"/>
              <a:t>x P</a:t>
            </a:r>
            <a:r>
              <a:rPr lang="en-US" baseline="30000" dirty="0"/>
              <a:t>1/2 </a:t>
            </a:r>
            <a:r>
              <a:rPr lang="en-US" dirty="0"/>
              <a:t>grid </a:t>
            </a:r>
            <a:endParaRPr lang="en-US" dirty="0" smtClean="0"/>
          </a:p>
        </p:txBody>
      </p:sp>
      <p:sp>
        <p:nvSpPr>
          <p:cNvPr id="59396" name="Text Box 3"/>
          <p:cNvSpPr txBox="1">
            <a:spLocks noChangeArrowheads="1"/>
          </p:cNvSpPr>
          <p:nvPr/>
        </p:nvSpPr>
        <p:spPr bwMode="auto">
          <a:xfrm>
            <a:off x="9372600" y="3048000"/>
            <a:ext cx="7959725" cy="3498850"/>
          </a:xfrm>
          <a:prstGeom prst="rect">
            <a:avLst/>
          </a:prstGeom>
          <a:noFill/>
          <a:ln w="12700">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a:defRPr sz="2000" b="1">
                <a:solidFill>
                  <a:schemeClr val="accent1"/>
                </a:solidFill>
                <a:latin typeface="Arial" pitchFamily="34" charset="0"/>
                <a:ea typeface="MS PGothic" pitchFamily="34" charset="-128"/>
              </a:defRPr>
            </a:lvl1pPr>
            <a:lvl2pPr marL="742950" indent="-285750">
              <a:defRPr sz="2000" b="1">
                <a:solidFill>
                  <a:schemeClr val="accent1"/>
                </a:solidFill>
                <a:latin typeface="Arial" pitchFamily="34" charset="0"/>
                <a:ea typeface="MS PGothic" pitchFamily="34" charset="-128"/>
              </a:defRPr>
            </a:lvl2pPr>
            <a:lvl3pPr marL="1143000" indent="-228600">
              <a:defRPr sz="2000" b="1">
                <a:solidFill>
                  <a:schemeClr val="accent1"/>
                </a:solidFill>
                <a:latin typeface="Arial" pitchFamily="34" charset="0"/>
                <a:ea typeface="MS PGothic" pitchFamily="34" charset="-128"/>
              </a:defRPr>
            </a:lvl3pPr>
            <a:lvl4pPr marL="1600200" indent="-228600">
              <a:defRPr sz="2000" b="1">
                <a:solidFill>
                  <a:schemeClr val="accent1"/>
                </a:solidFill>
                <a:latin typeface="Arial" pitchFamily="34" charset="0"/>
                <a:ea typeface="MS PGothic" pitchFamily="34" charset="-128"/>
              </a:defRPr>
            </a:lvl4pPr>
            <a:lvl5pPr marL="2057400" indent="-228600">
              <a:defRPr sz="2000" b="1">
                <a:solidFill>
                  <a:schemeClr val="accent1"/>
                </a:solidFill>
                <a:latin typeface="Arial" pitchFamily="34" charset="0"/>
                <a:ea typeface="MS PGothic" pitchFamily="34" charset="-128"/>
              </a:defRPr>
            </a:lvl5pPr>
            <a:lvl6pPr marL="25146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6pPr>
            <a:lvl7pPr marL="29718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7pPr>
            <a:lvl8pPr marL="34290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8pPr>
            <a:lvl9pPr marL="38862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9pPr>
          </a:lstStyle>
          <a:p>
            <a:pPr algn="l">
              <a:spcBef>
                <a:spcPct val="25000"/>
              </a:spcBef>
            </a:pPr>
            <a:r>
              <a:rPr lang="en-US" dirty="0">
                <a:solidFill>
                  <a:schemeClr val="tx1"/>
                </a:solidFill>
              </a:rPr>
              <a:t>For k=0 to n-1     </a:t>
            </a:r>
            <a:r>
              <a:rPr lang="en-US" dirty="0">
                <a:solidFill>
                  <a:schemeClr val="accent2"/>
                </a:solidFill>
              </a:rPr>
              <a:t>… </a:t>
            </a:r>
            <a:r>
              <a:rPr lang="en-US" dirty="0">
                <a:solidFill>
                  <a:srgbClr val="7030A0"/>
                </a:solidFill>
              </a:rPr>
              <a:t>or n/b-1 where b is the block size </a:t>
            </a:r>
          </a:p>
          <a:p>
            <a:pPr algn="l">
              <a:spcBef>
                <a:spcPct val="25000"/>
              </a:spcBef>
            </a:pPr>
            <a:r>
              <a:rPr lang="en-US" dirty="0">
                <a:solidFill>
                  <a:srgbClr val="7030A0"/>
                </a:solidFill>
              </a:rPr>
              <a:t>                            …  = # cols in A(</a:t>
            </a:r>
            <a:r>
              <a:rPr lang="en-US" dirty="0" err="1">
                <a:solidFill>
                  <a:srgbClr val="7030A0"/>
                </a:solidFill>
              </a:rPr>
              <a:t>i,k</a:t>
            </a:r>
            <a:r>
              <a:rPr lang="en-US" dirty="0">
                <a:solidFill>
                  <a:srgbClr val="7030A0"/>
                </a:solidFill>
              </a:rPr>
              <a:t>) and # rows in B(</a:t>
            </a:r>
            <a:r>
              <a:rPr lang="en-US" dirty="0" err="1">
                <a:solidFill>
                  <a:srgbClr val="7030A0"/>
                </a:solidFill>
              </a:rPr>
              <a:t>k,j</a:t>
            </a:r>
            <a:r>
              <a:rPr lang="en-US" dirty="0">
                <a:solidFill>
                  <a:srgbClr val="7030A0"/>
                </a:solidFill>
              </a:rPr>
              <a:t>) </a:t>
            </a:r>
          </a:p>
          <a:p>
            <a:pPr algn="l">
              <a:spcBef>
                <a:spcPct val="25000"/>
              </a:spcBef>
            </a:pPr>
            <a:r>
              <a:rPr lang="en-US" dirty="0">
                <a:solidFill>
                  <a:schemeClr val="tx1"/>
                </a:solidFill>
              </a:rPr>
              <a:t>     for all </a:t>
            </a:r>
            <a:r>
              <a:rPr lang="en-US" dirty="0" err="1">
                <a:solidFill>
                  <a:schemeClr val="tx1"/>
                </a:solidFill>
              </a:rPr>
              <a:t>i</a:t>
            </a:r>
            <a:r>
              <a:rPr lang="en-US" dirty="0">
                <a:solidFill>
                  <a:schemeClr val="tx1"/>
                </a:solidFill>
              </a:rPr>
              <a:t> = 1 to </a:t>
            </a:r>
            <a:r>
              <a:rPr lang="en-US" dirty="0" err="1">
                <a:solidFill>
                  <a:schemeClr val="tx1"/>
                </a:solidFill>
              </a:rPr>
              <a:t>p</a:t>
            </a:r>
            <a:r>
              <a:rPr lang="en-US" sz="3200" baseline="-16000" dirty="0" err="1">
                <a:solidFill>
                  <a:schemeClr val="tx1"/>
                </a:solidFill>
              </a:rPr>
              <a:t>r</a:t>
            </a:r>
            <a:r>
              <a:rPr lang="en-US" dirty="0">
                <a:solidFill>
                  <a:schemeClr val="tx1"/>
                </a:solidFill>
              </a:rPr>
              <a:t>   </a:t>
            </a:r>
            <a:r>
              <a:rPr lang="en-US" dirty="0">
                <a:solidFill>
                  <a:srgbClr val="7030A0"/>
                </a:solidFill>
              </a:rPr>
              <a:t>… in parallel</a:t>
            </a:r>
          </a:p>
          <a:p>
            <a:pPr algn="l">
              <a:spcBef>
                <a:spcPct val="25000"/>
              </a:spcBef>
            </a:pPr>
            <a:r>
              <a:rPr lang="en-US" dirty="0">
                <a:solidFill>
                  <a:schemeClr val="tx1"/>
                </a:solidFill>
              </a:rPr>
              <a:t>           owner of </a:t>
            </a:r>
            <a:r>
              <a:rPr lang="en-US" dirty="0">
                <a:solidFill>
                  <a:srgbClr val="FF0000"/>
                </a:solidFill>
              </a:rPr>
              <a:t>A(</a:t>
            </a:r>
            <a:r>
              <a:rPr lang="en-US" dirty="0" err="1">
                <a:solidFill>
                  <a:srgbClr val="FF0000"/>
                </a:solidFill>
              </a:rPr>
              <a:t>i,k</a:t>
            </a:r>
            <a:r>
              <a:rPr lang="en-US" dirty="0">
                <a:solidFill>
                  <a:srgbClr val="FF0000"/>
                </a:solidFill>
              </a:rPr>
              <a:t>)</a:t>
            </a:r>
            <a:r>
              <a:rPr lang="en-US" dirty="0">
                <a:solidFill>
                  <a:schemeClr val="tx1"/>
                </a:solidFill>
              </a:rPr>
              <a:t> broadcasts it to whole processor row</a:t>
            </a:r>
          </a:p>
          <a:p>
            <a:pPr algn="l">
              <a:spcBef>
                <a:spcPct val="25000"/>
              </a:spcBef>
            </a:pPr>
            <a:r>
              <a:rPr lang="en-US" dirty="0">
                <a:solidFill>
                  <a:schemeClr val="tx1"/>
                </a:solidFill>
              </a:rPr>
              <a:t>     for all j = 1 to p</a:t>
            </a:r>
            <a:r>
              <a:rPr lang="en-US" sz="3200" baseline="-16000" dirty="0">
                <a:solidFill>
                  <a:schemeClr val="tx1"/>
                </a:solidFill>
              </a:rPr>
              <a:t>c</a:t>
            </a:r>
            <a:r>
              <a:rPr lang="en-US" dirty="0">
                <a:solidFill>
                  <a:schemeClr val="tx1"/>
                </a:solidFill>
              </a:rPr>
              <a:t>  </a:t>
            </a:r>
            <a:r>
              <a:rPr lang="en-US" dirty="0">
                <a:solidFill>
                  <a:srgbClr val="7030A0"/>
                </a:solidFill>
              </a:rPr>
              <a:t>… in parallel</a:t>
            </a:r>
          </a:p>
          <a:p>
            <a:pPr algn="l">
              <a:spcBef>
                <a:spcPct val="25000"/>
              </a:spcBef>
            </a:pPr>
            <a:r>
              <a:rPr lang="en-US" dirty="0">
                <a:solidFill>
                  <a:schemeClr val="tx1"/>
                </a:solidFill>
              </a:rPr>
              <a:t>            owner of </a:t>
            </a:r>
            <a:r>
              <a:rPr lang="en-US" dirty="0">
                <a:solidFill>
                  <a:srgbClr val="0824F2"/>
                </a:solidFill>
              </a:rPr>
              <a:t>B(</a:t>
            </a:r>
            <a:r>
              <a:rPr lang="en-US" dirty="0" err="1">
                <a:solidFill>
                  <a:srgbClr val="0824F2"/>
                </a:solidFill>
              </a:rPr>
              <a:t>k,j</a:t>
            </a:r>
            <a:r>
              <a:rPr lang="en-US" dirty="0">
                <a:solidFill>
                  <a:srgbClr val="0824F2"/>
                </a:solidFill>
              </a:rPr>
              <a:t>)</a:t>
            </a:r>
            <a:r>
              <a:rPr lang="en-US" dirty="0">
                <a:solidFill>
                  <a:schemeClr val="tx1"/>
                </a:solidFill>
              </a:rPr>
              <a:t> broadcasts it to whole processor column</a:t>
            </a:r>
          </a:p>
          <a:p>
            <a:pPr algn="l">
              <a:spcBef>
                <a:spcPct val="25000"/>
              </a:spcBef>
            </a:pPr>
            <a:r>
              <a:rPr lang="en-US" dirty="0">
                <a:solidFill>
                  <a:schemeClr val="tx1"/>
                </a:solidFill>
              </a:rPr>
              <a:t>     Receive </a:t>
            </a:r>
            <a:r>
              <a:rPr lang="en-US" dirty="0">
                <a:solidFill>
                  <a:srgbClr val="FF0000"/>
                </a:solidFill>
              </a:rPr>
              <a:t>A(</a:t>
            </a:r>
            <a:r>
              <a:rPr lang="en-US" dirty="0" err="1">
                <a:solidFill>
                  <a:srgbClr val="FF0000"/>
                </a:solidFill>
              </a:rPr>
              <a:t>i,k</a:t>
            </a:r>
            <a:r>
              <a:rPr lang="en-US" dirty="0">
                <a:solidFill>
                  <a:srgbClr val="FF0000"/>
                </a:solidFill>
              </a:rPr>
              <a:t>)</a:t>
            </a:r>
            <a:r>
              <a:rPr lang="en-US" dirty="0">
                <a:solidFill>
                  <a:schemeClr val="tx1"/>
                </a:solidFill>
              </a:rPr>
              <a:t> into </a:t>
            </a:r>
            <a:r>
              <a:rPr lang="en-US" dirty="0" err="1">
                <a:solidFill>
                  <a:srgbClr val="FF0000"/>
                </a:solidFill>
              </a:rPr>
              <a:t>Acol</a:t>
            </a:r>
            <a:endParaRPr lang="en-US" dirty="0">
              <a:solidFill>
                <a:srgbClr val="FF0000"/>
              </a:solidFill>
            </a:endParaRPr>
          </a:p>
          <a:p>
            <a:pPr algn="l">
              <a:spcBef>
                <a:spcPct val="25000"/>
              </a:spcBef>
            </a:pPr>
            <a:r>
              <a:rPr lang="en-US" dirty="0">
                <a:solidFill>
                  <a:schemeClr val="tx1"/>
                </a:solidFill>
              </a:rPr>
              <a:t>     Receive </a:t>
            </a:r>
            <a:r>
              <a:rPr lang="en-US" dirty="0">
                <a:solidFill>
                  <a:srgbClr val="0824F2"/>
                </a:solidFill>
              </a:rPr>
              <a:t>B(</a:t>
            </a:r>
            <a:r>
              <a:rPr lang="en-US" dirty="0" err="1">
                <a:solidFill>
                  <a:srgbClr val="0824F2"/>
                </a:solidFill>
              </a:rPr>
              <a:t>k,j</a:t>
            </a:r>
            <a:r>
              <a:rPr lang="en-US" dirty="0">
                <a:solidFill>
                  <a:srgbClr val="0824F2"/>
                </a:solidFill>
              </a:rPr>
              <a:t>)</a:t>
            </a:r>
            <a:r>
              <a:rPr lang="en-US" dirty="0">
                <a:solidFill>
                  <a:schemeClr val="tx1"/>
                </a:solidFill>
              </a:rPr>
              <a:t> into </a:t>
            </a:r>
            <a:r>
              <a:rPr lang="en-US" dirty="0">
                <a:solidFill>
                  <a:srgbClr val="0824F2"/>
                </a:solidFill>
              </a:rPr>
              <a:t>Brow</a:t>
            </a:r>
          </a:p>
          <a:p>
            <a:pPr algn="l">
              <a:spcBef>
                <a:spcPct val="25000"/>
              </a:spcBef>
            </a:pPr>
            <a:r>
              <a:rPr lang="en-US" dirty="0">
                <a:solidFill>
                  <a:schemeClr val="tx1"/>
                </a:solidFill>
              </a:rPr>
              <a:t>     </a:t>
            </a:r>
            <a:r>
              <a:rPr lang="en-US" dirty="0" err="1">
                <a:solidFill>
                  <a:srgbClr val="006600"/>
                </a:solidFill>
              </a:rPr>
              <a:t>C_myproc</a:t>
            </a:r>
            <a:r>
              <a:rPr lang="en-US" dirty="0">
                <a:solidFill>
                  <a:srgbClr val="00CC00"/>
                </a:solidFill>
              </a:rPr>
              <a:t> </a:t>
            </a:r>
            <a:r>
              <a:rPr lang="en-US" dirty="0">
                <a:solidFill>
                  <a:schemeClr val="tx1"/>
                </a:solidFill>
              </a:rPr>
              <a:t> = </a:t>
            </a:r>
            <a:r>
              <a:rPr lang="en-US" dirty="0" err="1">
                <a:solidFill>
                  <a:srgbClr val="006600"/>
                </a:solidFill>
              </a:rPr>
              <a:t>C_myproc</a:t>
            </a:r>
            <a:r>
              <a:rPr lang="en-US" dirty="0">
                <a:solidFill>
                  <a:srgbClr val="00CC00"/>
                </a:solidFill>
              </a:rPr>
              <a:t> </a:t>
            </a:r>
            <a:r>
              <a:rPr lang="en-US" dirty="0">
                <a:solidFill>
                  <a:schemeClr val="tx1"/>
                </a:solidFill>
              </a:rPr>
              <a:t> + </a:t>
            </a:r>
            <a:r>
              <a:rPr lang="en-US" dirty="0" err="1">
                <a:solidFill>
                  <a:srgbClr val="FF0000"/>
                </a:solidFill>
              </a:rPr>
              <a:t>Acol</a:t>
            </a:r>
            <a:r>
              <a:rPr lang="en-US" dirty="0">
                <a:solidFill>
                  <a:schemeClr val="tx1"/>
                </a:solidFill>
              </a:rPr>
              <a:t> * </a:t>
            </a:r>
            <a:r>
              <a:rPr lang="en-US" dirty="0">
                <a:solidFill>
                  <a:srgbClr val="0824F2"/>
                </a:solidFill>
              </a:rPr>
              <a:t>Brow</a:t>
            </a:r>
          </a:p>
        </p:txBody>
      </p:sp>
      <p:grpSp>
        <p:nvGrpSpPr>
          <p:cNvPr id="2" name="Group 1"/>
          <p:cNvGrpSpPr/>
          <p:nvPr/>
        </p:nvGrpSpPr>
        <p:grpSpPr>
          <a:xfrm>
            <a:off x="515938" y="841375"/>
            <a:ext cx="7335837" cy="2130425"/>
            <a:chOff x="515938" y="612775"/>
            <a:chExt cx="7335837" cy="2130425"/>
          </a:xfrm>
        </p:grpSpPr>
        <p:grpSp>
          <p:nvGrpSpPr>
            <p:cNvPr id="59397" name="Group 4"/>
            <p:cNvGrpSpPr>
              <a:grpSpLocks/>
            </p:cNvGrpSpPr>
            <p:nvPr/>
          </p:nvGrpSpPr>
          <p:grpSpPr bwMode="auto">
            <a:xfrm>
              <a:off x="1447800" y="990600"/>
              <a:ext cx="1828800" cy="1752600"/>
              <a:chOff x="960" y="528"/>
              <a:chExt cx="1152" cy="1104"/>
            </a:xfrm>
          </p:grpSpPr>
          <p:sp>
            <p:nvSpPr>
              <p:cNvPr id="59436" name="Rectangle 5"/>
              <p:cNvSpPr>
                <a:spLocks noChangeArrowheads="1"/>
              </p:cNvSpPr>
              <p:nvPr/>
            </p:nvSpPr>
            <p:spPr bwMode="auto">
              <a:xfrm>
                <a:off x="960" y="528"/>
                <a:ext cx="1152" cy="1104"/>
              </a:xfrm>
              <a:prstGeom prst="rect">
                <a:avLst/>
              </a:prstGeom>
              <a:noFill/>
              <a:ln w="12700">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it-IT"/>
              </a:p>
            </p:txBody>
          </p:sp>
          <p:sp>
            <p:nvSpPr>
              <p:cNvPr id="59437" name="Line 6"/>
              <p:cNvSpPr>
                <a:spLocks noChangeShapeType="1"/>
              </p:cNvSpPr>
              <p:nvPr/>
            </p:nvSpPr>
            <p:spPr bwMode="auto">
              <a:xfrm>
                <a:off x="960" y="1056"/>
                <a:ext cx="1152"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he-IL"/>
              </a:p>
            </p:txBody>
          </p:sp>
          <p:sp>
            <p:nvSpPr>
              <p:cNvPr id="59438" name="Line 7"/>
              <p:cNvSpPr>
                <a:spLocks noChangeShapeType="1"/>
              </p:cNvSpPr>
              <p:nvPr/>
            </p:nvSpPr>
            <p:spPr bwMode="auto">
              <a:xfrm>
                <a:off x="960" y="768"/>
                <a:ext cx="1152"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he-IL"/>
              </a:p>
            </p:txBody>
          </p:sp>
          <p:sp>
            <p:nvSpPr>
              <p:cNvPr id="59439" name="Line 8"/>
              <p:cNvSpPr>
                <a:spLocks noChangeShapeType="1"/>
              </p:cNvSpPr>
              <p:nvPr/>
            </p:nvSpPr>
            <p:spPr bwMode="auto">
              <a:xfrm>
                <a:off x="960" y="1344"/>
                <a:ext cx="1152"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he-IL"/>
              </a:p>
            </p:txBody>
          </p:sp>
          <p:sp>
            <p:nvSpPr>
              <p:cNvPr id="59440" name="Line 9"/>
              <p:cNvSpPr>
                <a:spLocks noChangeShapeType="1"/>
              </p:cNvSpPr>
              <p:nvPr/>
            </p:nvSpPr>
            <p:spPr bwMode="auto">
              <a:xfrm>
                <a:off x="1536" y="528"/>
                <a:ext cx="0" cy="1104"/>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he-IL"/>
              </a:p>
            </p:txBody>
          </p:sp>
          <p:sp>
            <p:nvSpPr>
              <p:cNvPr id="59441" name="Line 10"/>
              <p:cNvSpPr>
                <a:spLocks noChangeShapeType="1"/>
              </p:cNvSpPr>
              <p:nvPr/>
            </p:nvSpPr>
            <p:spPr bwMode="auto">
              <a:xfrm>
                <a:off x="1248" y="528"/>
                <a:ext cx="0" cy="1104"/>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he-IL"/>
              </a:p>
            </p:txBody>
          </p:sp>
          <p:sp>
            <p:nvSpPr>
              <p:cNvPr id="59442" name="Line 11"/>
              <p:cNvSpPr>
                <a:spLocks noChangeShapeType="1"/>
              </p:cNvSpPr>
              <p:nvPr/>
            </p:nvSpPr>
            <p:spPr bwMode="auto">
              <a:xfrm>
                <a:off x="1824" y="528"/>
                <a:ext cx="0" cy="1104"/>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he-IL"/>
              </a:p>
            </p:txBody>
          </p:sp>
        </p:grpSp>
        <p:grpSp>
          <p:nvGrpSpPr>
            <p:cNvPr id="59398" name="Group 12"/>
            <p:cNvGrpSpPr>
              <a:grpSpLocks/>
            </p:cNvGrpSpPr>
            <p:nvPr/>
          </p:nvGrpSpPr>
          <p:grpSpPr bwMode="auto">
            <a:xfrm>
              <a:off x="3733800" y="990600"/>
              <a:ext cx="1828800" cy="1752600"/>
              <a:chOff x="960" y="528"/>
              <a:chExt cx="1152" cy="1104"/>
            </a:xfrm>
          </p:grpSpPr>
          <p:sp>
            <p:nvSpPr>
              <p:cNvPr id="59429" name="Rectangle 13"/>
              <p:cNvSpPr>
                <a:spLocks noChangeArrowheads="1"/>
              </p:cNvSpPr>
              <p:nvPr/>
            </p:nvSpPr>
            <p:spPr bwMode="auto">
              <a:xfrm>
                <a:off x="960" y="528"/>
                <a:ext cx="1152" cy="1104"/>
              </a:xfrm>
              <a:prstGeom prst="rect">
                <a:avLst/>
              </a:prstGeom>
              <a:noFill/>
              <a:ln w="12700">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it-IT"/>
              </a:p>
            </p:txBody>
          </p:sp>
          <p:sp>
            <p:nvSpPr>
              <p:cNvPr id="59430" name="Line 14"/>
              <p:cNvSpPr>
                <a:spLocks noChangeShapeType="1"/>
              </p:cNvSpPr>
              <p:nvPr/>
            </p:nvSpPr>
            <p:spPr bwMode="auto">
              <a:xfrm>
                <a:off x="960" y="1056"/>
                <a:ext cx="1152"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he-IL"/>
              </a:p>
            </p:txBody>
          </p:sp>
          <p:sp>
            <p:nvSpPr>
              <p:cNvPr id="59431" name="Line 15"/>
              <p:cNvSpPr>
                <a:spLocks noChangeShapeType="1"/>
              </p:cNvSpPr>
              <p:nvPr/>
            </p:nvSpPr>
            <p:spPr bwMode="auto">
              <a:xfrm>
                <a:off x="960" y="768"/>
                <a:ext cx="1152"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he-IL"/>
              </a:p>
            </p:txBody>
          </p:sp>
          <p:sp>
            <p:nvSpPr>
              <p:cNvPr id="59432" name="Line 16"/>
              <p:cNvSpPr>
                <a:spLocks noChangeShapeType="1"/>
              </p:cNvSpPr>
              <p:nvPr/>
            </p:nvSpPr>
            <p:spPr bwMode="auto">
              <a:xfrm>
                <a:off x="960" y="1344"/>
                <a:ext cx="1152"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he-IL"/>
              </a:p>
            </p:txBody>
          </p:sp>
          <p:sp>
            <p:nvSpPr>
              <p:cNvPr id="59433" name="Line 17"/>
              <p:cNvSpPr>
                <a:spLocks noChangeShapeType="1"/>
              </p:cNvSpPr>
              <p:nvPr/>
            </p:nvSpPr>
            <p:spPr bwMode="auto">
              <a:xfrm>
                <a:off x="1536" y="528"/>
                <a:ext cx="0" cy="1104"/>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he-IL"/>
              </a:p>
            </p:txBody>
          </p:sp>
          <p:sp>
            <p:nvSpPr>
              <p:cNvPr id="59434" name="Line 18"/>
              <p:cNvSpPr>
                <a:spLocks noChangeShapeType="1"/>
              </p:cNvSpPr>
              <p:nvPr/>
            </p:nvSpPr>
            <p:spPr bwMode="auto">
              <a:xfrm>
                <a:off x="1248" y="528"/>
                <a:ext cx="0" cy="1104"/>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he-IL"/>
              </a:p>
            </p:txBody>
          </p:sp>
          <p:sp>
            <p:nvSpPr>
              <p:cNvPr id="59435" name="Line 19"/>
              <p:cNvSpPr>
                <a:spLocks noChangeShapeType="1"/>
              </p:cNvSpPr>
              <p:nvPr/>
            </p:nvSpPr>
            <p:spPr bwMode="auto">
              <a:xfrm>
                <a:off x="1824" y="528"/>
                <a:ext cx="0" cy="1104"/>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he-IL"/>
              </a:p>
            </p:txBody>
          </p:sp>
        </p:grpSp>
        <p:sp>
          <p:nvSpPr>
            <p:cNvPr id="59399" name="Rectangle 20"/>
            <p:cNvSpPr>
              <a:spLocks noChangeArrowheads="1"/>
            </p:cNvSpPr>
            <p:nvPr/>
          </p:nvSpPr>
          <p:spPr bwMode="auto">
            <a:xfrm>
              <a:off x="6019800" y="990600"/>
              <a:ext cx="1828800" cy="1752600"/>
            </a:xfrm>
            <a:prstGeom prst="rect">
              <a:avLst/>
            </a:prstGeom>
            <a:noFill/>
            <a:ln w="12700">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it-IT"/>
            </a:p>
          </p:txBody>
        </p:sp>
        <p:sp>
          <p:nvSpPr>
            <p:cNvPr id="59400" name="Line 21"/>
            <p:cNvSpPr>
              <a:spLocks noChangeShapeType="1"/>
            </p:cNvSpPr>
            <p:nvPr/>
          </p:nvSpPr>
          <p:spPr bwMode="auto">
            <a:xfrm>
              <a:off x="6019800" y="1828800"/>
              <a:ext cx="182880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he-IL"/>
            </a:p>
          </p:txBody>
        </p:sp>
        <p:sp>
          <p:nvSpPr>
            <p:cNvPr id="59401" name="Line 22"/>
            <p:cNvSpPr>
              <a:spLocks noChangeShapeType="1"/>
            </p:cNvSpPr>
            <p:nvPr/>
          </p:nvSpPr>
          <p:spPr bwMode="auto">
            <a:xfrm>
              <a:off x="6019800" y="1371600"/>
              <a:ext cx="182880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he-IL"/>
            </a:p>
          </p:txBody>
        </p:sp>
        <p:sp>
          <p:nvSpPr>
            <p:cNvPr id="59402" name="Line 23"/>
            <p:cNvSpPr>
              <a:spLocks noChangeShapeType="1"/>
            </p:cNvSpPr>
            <p:nvPr/>
          </p:nvSpPr>
          <p:spPr bwMode="auto">
            <a:xfrm>
              <a:off x="6019800" y="2286000"/>
              <a:ext cx="182880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he-IL"/>
            </a:p>
          </p:txBody>
        </p:sp>
        <p:sp>
          <p:nvSpPr>
            <p:cNvPr id="59403" name="Line 24"/>
            <p:cNvSpPr>
              <a:spLocks noChangeShapeType="1"/>
            </p:cNvSpPr>
            <p:nvPr/>
          </p:nvSpPr>
          <p:spPr bwMode="auto">
            <a:xfrm>
              <a:off x="6934200" y="990600"/>
              <a:ext cx="0" cy="17526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he-IL"/>
            </a:p>
          </p:txBody>
        </p:sp>
        <p:sp>
          <p:nvSpPr>
            <p:cNvPr id="59404" name="Line 25"/>
            <p:cNvSpPr>
              <a:spLocks noChangeShapeType="1"/>
            </p:cNvSpPr>
            <p:nvPr/>
          </p:nvSpPr>
          <p:spPr bwMode="auto">
            <a:xfrm>
              <a:off x="6477000" y="990600"/>
              <a:ext cx="0" cy="17526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he-IL"/>
            </a:p>
          </p:txBody>
        </p:sp>
        <p:sp>
          <p:nvSpPr>
            <p:cNvPr id="59405" name="Line 26"/>
            <p:cNvSpPr>
              <a:spLocks noChangeShapeType="1"/>
            </p:cNvSpPr>
            <p:nvPr/>
          </p:nvSpPr>
          <p:spPr bwMode="auto">
            <a:xfrm>
              <a:off x="7391400" y="990600"/>
              <a:ext cx="0" cy="17526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he-IL"/>
            </a:p>
          </p:txBody>
        </p:sp>
        <p:sp>
          <p:nvSpPr>
            <p:cNvPr id="59406" name="Text Box 27"/>
            <p:cNvSpPr txBox="1">
              <a:spLocks noChangeArrowheads="1"/>
            </p:cNvSpPr>
            <p:nvPr/>
          </p:nvSpPr>
          <p:spPr bwMode="auto">
            <a:xfrm>
              <a:off x="3336925" y="1563688"/>
              <a:ext cx="3032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2000" b="1">
                  <a:solidFill>
                    <a:schemeClr val="accent1"/>
                  </a:solidFill>
                  <a:latin typeface="Arial" pitchFamily="34" charset="0"/>
                  <a:ea typeface="MS PGothic" pitchFamily="34" charset="-128"/>
                </a:defRPr>
              </a:lvl1pPr>
              <a:lvl2pPr marL="742950" indent="-285750">
                <a:defRPr sz="2000" b="1">
                  <a:solidFill>
                    <a:schemeClr val="accent1"/>
                  </a:solidFill>
                  <a:latin typeface="Arial" pitchFamily="34" charset="0"/>
                  <a:ea typeface="MS PGothic" pitchFamily="34" charset="-128"/>
                </a:defRPr>
              </a:lvl2pPr>
              <a:lvl3pPr marL="1143000" indent="-228600">
                <a:defRPr sz="2000" b="1">
                  <a:solidFill>
                    <a:schemeClr val="accent1"/>
                  </a:solidFill>
                  <a:latin typeface="Arial" pitchFamily="34" charset="0"/>
                  <a:ea typeface="MS PGothic" pitchFamily="34" charset="-128"/>
                </a:defRPr>
              </a:lvl3pPr>
              <a:lvl4pPr marL="1600200" indent="-228600">
                <a:defRPr sz="2000" b="1">
                  <a:solidFill>
                    <a:schemeClr val="accent1"/>
                  </a:solidFill>
                  <a:latin typeface="Arial" pitchFamily="34" charset="0"/>
                  <a:ea typeface="MS PGothic" pitchFamily="34" charset="-128"/>
                </a:defRPr>
              </a:lvl4pPr>
              <a:lvl5pPr marL="2057400" indent="-228600">
                <a:defRPr sz="2000" b="1">
                  <a:solidFill>
                    <a:schemeClr val="accent1"/>
                  </a:solidFill>
                  <a:latin typeface="Arial" pitchFamily="34" charset="0"/>
                  <a:ea typeface="MS PGothic" pitchFamily="34" charset="-128"/>
                </a:defRPr>
              </a:lvl5pPr>
              <a:lvl6pPr marL="25146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6pPr>
              <a:lvl7pPr marL="29718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7pPr>
              <a:lvl8pPr marL="34290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8pPr>
              <a:lvl9pPr marL="38862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9pPr>
            </a:lstStyle>
            <a:p>
              <a:r>
                <a:rPr lang="en-US" sz="2400">
                  <a:solidFill>
                    <a:schemeClr val="tx1"/>
                  </a:solidFill>
                </a:rPr>
                <a:t>*</a:t>
              </a:r>
            </a:p>
          </p:txBody>
        </p:sp>
        <p:sp>
          <p:nvSpPr>
            <p:cNvPr id="59407" name="Text Box 28"/>
            <p:cNvSpPr txBox="1">
              <a:spLocks noChangeArrowheads="1"/>
            </p:cNvSpPr>
            <p:nvPr/>
          </p:nvSpPr>
          <p:spPr bwMode="auto">
            <a:xfrm>
              <a:off x="5546725" y="1611313"/>
              <a:ext cx="4016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2000" b="1">
                  <a:solidFill>
                    <a:schemeClr val="accent1"/>
                  </a:solidFill>
                  <a:latin typeface="Arial" pitchFamily="34" charset="0"/>
                  <a:ea typeface="MS PGothic" pitchFamily="34" charset="-128"/>
                </a:defRPr>
              </a:lvl1pPr>
              <a:lvl2pPr marL="742950" indent="-285750">
                <a:defRPr sz="2000" b="1">
                  <a:solidFill>
                    <a:schemeClr val="accent1"/>
                  </a:solidFill>
                  <a:latin typeface="Arial" pitchFamily="34" charset="0"/>
                  <a:ea typeface="MS PGothic" pitchFamily="34" charset="-128"/>
                </a:defRPr>
              </a:lvl2pPr>
              <a:lvl3pPr marL="1143000" indent="-228600">
                <a:defRPr sz="2000" b="1">
                  <a:solidFill>
                    <a:schemeClr val="accent1"/>
                  </a:solidFill>
                  <a:latin typeface="Arial" pitchFamily="34" charset="0"/>
                  <a:ea typeface="MS PGothic" pitchFamily="34" charset="-128"/>
                </a:defRPr>
              </a:lvl3pPr>
              <a:lvl4pPr marL="1600200" indent="-228600">
                <a:defRPr sz="2000" b="1">
                  <a:solidFill>
                    <a:schemeClr val="accent1"/>
                  </a:solidFill>
                  <a:latin typeface="Arial" pitchFamily="34" charset="0"/>
                  <a:ea typeface="MS PGothic" pitchFamily="34" charset="-128"/>
                </a:defRPr>
              </a:lvl4pPr>
              <a:lvl5pPr marL="2057400" indent="-228600">
                <a:defRPr sz="2000" b="1">
                  <a:solidFill>
                    <a:schemeClr val="accent1"/>
                  </a:solidFill>
                  <a:latin typeface="Arial" pitchFamily="34" charset="0"/>
                  <a:ea typeface="MS PGothic" pitchFamily="34" charset="-128"/>
                </a:defRPr>
              </a:lvl5pPr>
              <a:lvl6pPr marL="25146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6pPr>
              <a:lvl7pPr marL="29718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7pPr>
              <a:lvl8pPr marL="34290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8pPr>
              <a:lvl9pPr marL="38862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9pPr>
            </a:lstStyle>
            <a:p>
              <a:r>
                <a:rPr lang="en-US">
                  <a:solidFill>
                    <a:schemeClr val="tx1"/>
                  </a:solidFill>
                </a:rPr>
                <a:t> =</a:t>
              </a:r>
            </a:p>
          </p:txBody>
        </p:sp>
        <p:sp>
          <p:nvSpPr>
            <p:cNvPr id="59408" name="Text Box 29"/>
            <p:cNvSpPr txBox="1">
              <a:spLocks noChangeArrowheads="1"/>
            </p:cNvSpPr>
            <p:nvPr/>
          </p:nvSpPr>
          <p:spPr bwMode="auto">
            <a:xfrm>
              <a:off x="1127125" y="1865313"/>
              <a:ext cx="2476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2000" b="1">
                  <a:solidFill>
                    <a:schemeClr val="accent1"/>
                  </a:solidFill>
                  <a:latin typeface="Arial" pitchFamily="34" charset="0"/>
                  <a:ea typeface="MS PGothic" pitchFamily="34" charset="-128"/>
                </a:defRPr>
              </a:lvl1pPr>
              <a:lvl2pPr marL="742950" indent="-285750">
                <a:defRPr sz="2000" b="1">
                  <a:solidFill>
                    <a:schemeClr val="accent1"/>
                  </a:solidFill>
                  <a:latin typeface="Arial" pitchFamily="34" charset="0"/>
                  <a:ea typeface="MS PGothic" pitchFamily="34" charset="-128"/>
                </a:defRPr>
              </a:lvl2pPr>
              <a:lvl3pPr marL="1143000" indent="-228600">
                <a:defRPr sz="2000" b="1">
                  <a:solidFill>
                    <a:schemeClr val="accent1"/>
                  </a:solidFill>
                  <a:latin typeface="Arial" pitchFamily="34" charset="0"/>
                  <a:ea typeface="MS PGothic" pitchFamily="34" charset="-128"/>
                </a:defRPr>
              </a:lvl3pPr>
              <a:lvl4pPr marL="1600200" indent="-228600">
                <a:defRPr sz="2000" b="1">
                  <a:solidFill>
                    <a:schemeClr val="accent1"/>
                  </a:solidFill>
                  <a:latin typeface="Arial" pitchFamily="34" charset="0"/>
                  <a:ea typeface="MS PGothic" pitchFamily="34" charset="-128"/>
                </a:defRPr>
              </a:lvl4pPr>
              <a:lvl5pPr marL="2057400" indent="-228600">
                <a:defRPr sz="2000" b="1">
                  <a:solidFill>
                    <a:schemeClr val="accent1"/>
                  </a:solidFill>
                  <a:latin typeface="Arial" pitchFamily="34" charset="0"/>
                  <a:ea typeface="MS PGothic" pitchFamily="34" charset="-128"/>
                </a:defRPr>
              </a:lvl5pPr>
              <a:lvl6pPr marL="25146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6pPr>
              <a:lvl7pPr marL="29718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7pPr>
              <a:lvl8pPr marL="34290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8pPr>
              <a:lvl9pPr marL="38862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9pPr>
            </a:lstStyle>
            <a:p>
              <a:r>
                <a:rPr lang="en-US" sz="1800">
                  <a:solidFill>
                    <a:schemeClr val="tx1"/>
                  </a:solidFill>
                  <a:latin typeface="Helvetica" charset="0"/>
                </a:rPr>
                <a:t>i</a:t>
              </a:r>
            </a:p>
          </p:txBody>
        </p:sp>
        <p:sp>
          <p:nvSpPr>
            <p:cNvPr id="59409" name="Text Box 30"/>
            <p:cNvSpPr txBox="1">
              <a:spLocks noChangeArrowheads="1"/>
            </p:cNvSpPr>
            <p:nvPr/>
          </p:nvSpPr>
          <p:spPr bwMode="auto">
            <a:xfrm>
              <a:off x="5165725" y="646113"/>
              <a:ext cx="2476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2000" b="1">
                  <a:solidFill>
                    <a:schemeClr val="accent1"/>
                  </a:solidFill>
                  <a:latin typeface="Arial" pitchFamily="34" charset="0"/>
                  <a:ea typeface="MS PGothic" pitchFamily="34" charset="-128"/>
                </a:defRPr>
              </a:lvl1pPr>
              <a:lvl2pPr marL="742950" indent="-285750">
                <a:defRPr sz="2000" b="1">
                  <a:solidFill>
                    <a:schemeClr val="accent1"/>
                  </a:solidFill>
                  <a:latin typeface="Arial" pitchFamily="34" charset="0"/>
                  <a:ea typeface="MS PGothic" pitchFamily="34" charset="-128"/>
                </a:defRPr>
              </a:lvl2pPr>
              <a:lvl3pPr marL="1143000" indent="-228600">
                <a:defRPr sz="2000" b="1">
                  <a:solidFill>
                    <a:schemeClr val="accent1"/>
                  </a:solidFill>
                  <a:latin typeface="Arial" pitchFamily="34" charset="0"/>
                  <a:ea typeface="MS PGothic" pitchFamily="34" charset="-128"/>
                </a:defRPr>
              </a:lvl3pPr>
              <a:lvl4pPr marL="1600200" indent="-228600">
                <a:defRPr sz="2000" b="1">
                  <a:solidFill>
                    <a:schemeClr val="accent1"/>
                  </a:solidFill>
                  <a:latin typeface="Arial" pitchFamily="34" charset="0"/>
                  <a:ea typeface="MS PGothic" pitchFamily="34" charset="-128"/>
                </a:defRPr>
              </a:lvl4pPr>
              <a:lvl5pPr marL="2057400" indent="-228600">
                <a:defRPr sz="2000" b="1">
                  <a:solidFill>
                    <a:schemeClr val="accent1"/>
                  </a:solidFill>
                  <a:latin typeface="Arial" pitchFamily="34" charset="0"/>
                  <a:ea typeface="MS PGothic" pitchFamily="34" charset="-128"/>
                </a:defRPr>
              </a:lvl5pPr>
              <a:lvl6pPr marL="25146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6pPr>
              <a:lvl7pPr marL="29718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7pPr>
              <a:lvl8pPr marL="34290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8pPr>
              <a:lvl9pPr marL="38862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9pPr>
            </a:lstStyle>
            <a:p>
              <a:r>
                <a:rPr lang="en-US" sz="1800">
                  <a:solidFill>
                    <a:schemeClr val="tx1"/>
                  </a:solidFill>
                  <a:latin typeface="Helvetica" charset="0"/>
                </a:rPr>
                <a:t>j</a:t>
              </a:r>
            </a:p>
          </p:txBody>
        </p:sp>
        <p:sp>
          <p:nvSpPr>
            <p:cNvPr id="59410" name="Text Box 31"/>
            <p:cNvSpPr txBox="1">
              <a:spLocks noChangeArrowheads="1"/>
            </p:cNvSpPr>
            <p:nvPr/>
          </p:nvSpPr>
          <p:spPr bwMode="auto">
            <a:xfrm>
              <a:off x="515938" y="2389188"/>
              <a:ext cx="69056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2000" b="1">
                  <a:solidFill>
                    <a:schemeClr val="accent1"/>
                  </a:solidFill>
                  <a:latin typeface="Arial" pitchFamily="34" charset="0"/>
                  <a:ea typeface="MS PGothic" pitchFamily="34" charset="-128"/>
                </a:defRPr>
              </a:lvl1pPr>
              <a:lvl2pPr marL="742950" indent="-285750">
                <a:defRPr sz="2000" b="1">
                  <a:solidFill>
                    <a:schemeClr val="accent1"/>
                  </a:solidFill>
                  <a:latin typeface="Arial" pitchFamily="34" charset="0"/>
                  <a:ea typeface="MS PGothic" pitchFamily="34" charset="-128"/>
                </a:defRPr>
              </a:lvl2pPr>
              <a:lvl3pPr marL="1143000" indent="-228600">
                <a:defRPr sz="2000" b="1">
                  <a:solidFill>
                    <a:schemeClr val="accent1"/>
                  </a:solidFill>
                  <a:latin typeface="Arial" pitchFamily="34" charset="0"/>
                  <a:ea typeface="MS PGothic" pitchFamily="34" charset="-128"/>
                </a:defRPr>
              </a:lvl3pPr>
              <a:lvl4pPr marL="1600200" indent="-228600">
                <a:defRPr sz="2000" b="1">
                  <a:solidFill>
                    <a:schemeClr val="accent1"/>
                  </a:solidFill>
                  <a:latin typeface="Arial" pitchFamily="34" charset="0"/>
                  <a:ea typeface="MS PGothic" pitchFamily="34" charset="-128"/>
                </a:defRPr>
              </a:lvl4pPr>
              <a:lvl5pPr marL="2057400" indent="-228600">
                <a:defRPr sz="2000" b="1">
                  <a:solidFill>
                    <a:schemeClr val="accent1"/>
                  </a:solidFill>
                  <a:latin typeface="Arial" pitchFamily="34" charset="0"/>
                  <a:ea typeface="MS PGothic" pitchFamily="34" charset="-128"/>
                </a:defRPr>
              </a:lvl5pPr>
              <a:lvl6pPr marL="25146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6pPr>
              <a:lvl7pPr marL="29718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7pPr>
              <a:lvl8pPr marL="34290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8pPr>
              <a:lvl9pPr marL="38862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9pPr>
            </a:lstStyle>
            <a:p>
              <a:r>
                <a:rPr lang="en-US" sz="1600">
                  <a:solidFill>
                    <a:schemeClr val="tx1"/>
                  </a:solidFill>
                  <a:latin typeface="Helvetica" charset="0"/>
                </a:rPr>
                <a:t>A(i,k)</a:t>
              </a:r>
            </a:p>
          </p:txBody>
        </p:sp>
        <p:sp>
          <p:nvSpPr>
            <p:cNvPr id="59411" name="Line 32"/>
            <p:cNvSpPr>
              <a:spLocks noChangeShapeType="1"/>
            </p:cNvSpPr>
            <p:nvPr/>
          </p:nvSpPr>
          <p:spPr bwMode="auto">
            <a:xfrm flipV="1">
              <a:off x="1125538" y="2133600"/>
              <a:ext cx="457200" cy="304800"/>
            </a:xfrm>
            <a:prstGeom prst="line">
              <a:avLst/>
            </a:prstGeom>
            <a:noFill/>
            <a:ln w="12700">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wrap="none" anchor="ctr"/>
            <a:lstStyle/>
            <a:p>
              <a:endParaRPr lang="he-IL"/>
            </a:p>
          </p:txBody>
        </p:sp>
        <p:sp>
          <p:nvSpPr>
            <p:cNvPr id="59412" name="Text Box 33"/>
            <p:cNvSpPr txBox="1">
              <a:spLocks noChangeArrowheads="1"/>
            </p:cNvSpPr>
            <p:nvPr/>
          </p:nvSpPr>
          <p:spPr bwMode="auto">
            <a:xfrm>
              <a:off x="1584325" y="646113"/>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2000" b="1">
                  <a:solidFill>
                    <a:schemeClr val="accent1"/>
                  </a:solidFill>
                  <a:latin typeface="Arial" pitchFamily="34" charset="0"/>
                  <a:ea typeface="MS PGothic" pitchFamily="34" charset="-128"/>
                </a:defRPr>
              </a:lvl1pPr>
              <a:lvl2pPr marL="742950" indent="-285750">
                <a:defRPr sz="2000" b="1">
                  <a:solidFill>
                    <a:schemeClr val="accent1"/>
                  </a:solidFill>
                  <a:latin typeface="Arial" pitchFamily="34" charset="0"/>
                  <a:ea typeface="MS PGothic" pitchFamily="34" charset="-128"/>
                </a:defRPr>
              </a:lvl2pPr>
              <a:lvl3pPr marL="1143000" indent="-228600">
                <a:defRPr sz="2000" b="1">
                  <a:solidFill>
                    <a:schemeClr val="accent1"/>
                  </a:solidFill>
                  <a:latin typeface="Arial" pitchFamily="34" charset="0"/>
                  <a:ea typeface="MS PGothic" pitchFamily="34" charset="-128"/>
                </a:defRPr>
              </a:lvl3pPr>
              <a:lvl4pPr marL="1600200" indent="-228600">
                <a:defRPr sz="2000" b="1">
                  <a:solidFill>
                    <a:schemeClr val="accent1"/>
                  </a:solidFill>
                  <a:latin typeface="Arial" pitchFamily="34" charset="0"/>
                  <a:ea typeface="MS PGothic" pitchFamily="34" charset="-128"/>
                </a:defRPr>
              </a:lvl4pPr>
              <a:lvl5pPr marL="2057400" indent="-228600">
                <a:defRPr sz="2000" b="1">
                  <a:solidFill>
                    <a:schemeClr val="accent1"/>
                  </a:solidFill>
                  <a:latin typeface="Arial" pitchFamily="34" charset="0"/>
                  <a:ea typeface="MS PGothic" pitchFamily="34" charset="-128"/>
                </a:defRPr>
              </a:lvl5pPr>
              <a:lvl6pPr marL="25146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6pPr>
              <a:lvl7pPr marL="29718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7pPr>
              <a:lvl8pPr marL="34290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8pPr>
              <a:lvl9pPr marL="38862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9pPr>
            </a:lstStyle>
            <a:p>
              <a:r>
                <a:rPr lang="en-US" sz="1800">
                  <a:solidFill>
                    <a:schemeClr val="tx1"/>
                  </a:solidFill>
                  <a:latin typeface="Helvetica" charset="0"/>
                </a:rPr>
                <a:t>k</a:t>
              </a:r>
            </a:p>
          </p:txBody>
        </p:sp>
        <p:sp>
          <p:nvSpPr>
            <p:cNvPr id="59413" name="Text Box 34"/>
            <p:cNvSpPr txBox="1">
              <a:spLocks noChangeArrowheads="1"/>
            </p:cNvSpPr>
            <p:nvPr/>
          </p:nvSpPr>
          <p:spPr bwMode="auto">
            <a:xfrm>
              <a:off x="5562600" y="993775"/>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2000" b="1">
                  <a:solidFill>
                    <a:schemeClr val="accent1"/>
                  </a:solidFill>
                  <a:latin typeface="Arial" pitchFamily="34" charset="0"/>
                  <a:ea typeface="MS PGothic" pitchFamily="34" charset="-128"/>
                </a:defRPr>
              </a:lvl1pPr>
              <a:lvl2pPr marL="742950" indent="-285750">
                <a:defRPr sz="2000" b="1">
                  <a:solidFill>
                    <a:schemeClr val="accent1"/>
                  </a:solidFill>
                  <a:latin typeface="Arial" pitchFamily="34" charset="0"/>
                  <a:ea typeface="MS PGothic" pitchFamily="34" charset="-128"/>
                </a:defRPr>
              </a:lvl2pPr>
              <a:lvl3pPr marL="1143000" indent="-228600">
                <a:defRPr sz="2000" b="1">
                  <a:solidFill>
                    <a:schemeClr val="accent1"/>
                  </a:solidFill>
                  <a:latin typeface="Arial" pitchFamily="34" charset="0"/>
                  <a:ea typeface="MS PGothic" pitchFamily="34" charset="-128"/>
                </a:defRPr>
              </a:lvl3pPr>
              <a:lvl4pPr marL="1600200" indent="-228600">
                <a:defRPr sz="2000" b="1">
                  <a:solidFill>
                    <a:schemeClr val="accent1"/>
                  </a:solidFill>
                  <a:latin typeface="Arial" pitchFamily="34" charset="0"/>
                  <a:ea typeface="MS PGothic" pitchFamily="34" charset="-128"/>
                </a:defRPr>
              </a:lvl4pPr>
              <a:lvl5pPr marL="2057400" indent="-228600">
                <a:defRPr sz="2000" b="1">
                  <a:solidFill>
                    <a:schemeClr val="accent1"/>
                  </a:solidFill>
                  <a:latin typeface="Arial" pitchFamily="34" charset="0"/>
                  <a:ea typeface="MS PGothic" pitchFamily="34" charset="-128"/>
                </a:defRPr>
              </a:lvl5pPr>
              <a:lvl6pPr marL="25146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6pPr>
              <a:lvl7pPr marL="29718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7pPr>
              <a:lvl8pPr marL="34290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8pPr>
              <a:lvl9pPr marL="38862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9pPr>
            </a:lstStyle>
            <a:p>
              <a:r>
                <a:rPr lang="en-US" sz="1800">
                  <a:solidFill>
                    <a:schemeClr val="tx1"/>
                  </a:solidFill>
                  <a:latin typeface="Helvetica" charset="0"/>
                </a:rPr>
                <a:t>k</a:t>
              </a:r>
            </a:p>
          </p:txBody>
        </p:sp>
        <p:sp>
          <p:nvSpPr>
            <p:cNvPr id="59414" name="Text Box 35"/>
            <p:cNvSpPr txBox="1">
              <a:spLocks noChangeArrowheads="1"/>
            </p:cNvSpPr>
            <p:nvPr/>
          </p:nvSpPr>
          <p:spPr bwMode="auto">
            <a:xfrm>
              <a:off x="5486400" y="612775"/>
              <a:ext cx="7556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2000" b="1">
                  <a:solidFill>
                    <a:schemeClr val="accent1"/>
                  </a:solidFill>
                  <a:latin typeface="Arial" pitchFamily="34" charset="0"/>
                  <a:ea typeface="MS PGothic" pitchFamily="34" charset="-128"/>
                </a:defRPr>
              </a:lvl1pPr>
              <a:lvl2pPr marL="742950" indent="-285750">
                <a:defRPr sz="2000" b="1">
                  <a:solidFill>
                    <a:schemeClr val="accent1"/>
                  </a:solidFill>
                  <a:latin typeface="Arial" pitchFamily="34" charset="0"/>
                  <a:ea typeface="MS PGothic" pitchFamily="34" charset="-128"/>
                </a:defRPr>
              </a:lvl2pPr>
              <a:lvl3pPr marL="1143000" indent="-228600">
                <a:defRPr sz="2000" b="1">
                  <a:solidFill>
                    <a:schemeClr val="accent1"/>
                  </a:solidFill>
                  <a:latin typeface="Arial" pitchFamily="34" charset="0"/>
                  <a:ea typeface="MS PGothic" pitchFamily="34" charset="-128"/>
                </a:defRPr>
              </a:lvl3pPr>
              <a:lvl4pPr marL="1600200" indent="-228600">
                <a:defRPr sz="2000" b="1">
                  <a:solidFill>
                    <a:schemeClr val="accent1"/>
                  </a:solidFill>
                  <a:latin typeface="Arial" pitchFamily="34" charset="0"/>
                  <a:ea typeface="MS PGothic" pitchFamily="34" charset="-128"/>
                </a:defRPr>
              </a:lvl4pPr>
              <a:lvl5pPr marL="2057400" indent="-228600">
                <a:defRPr sz="2000" b="1">
                  <a:solidFill>
                    <a:schemeClr val="accent1"/>
                  </a:solidFill>
                  <a:latin typeface="Arial" pitchFamily="34" charset="0"/>
                  <a:ea typeface="MS PGothic" pitchFamily="34" charset="-128"/>
                </a:defRPr>
              </a:lvl5pPr>
              <a:lvl6pPr marL="25146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6pPr>
              <a:lvl7pPr marL="29718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7pPr>
              <a:lvl8pPr marL="34290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8pPr>
              <a:lvl9pPr marL="38862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9pPr>
            </a:lstStyle>
            <a:p>
              <a:r>
                <a:rPr lang="en-US" sz="1800">
                  <a:solidFill>
                    <a:schemeClr val="tx1"/>
                  </a:solidFill>
                  <a:latin typeface="Helvetica" charset="0"/>
                </a:rPr>
                <a:t>B(k,j)</a:t>
              </a:r>
            </a:p>
          </p:txBody>
        </p:sp>
        <p:sp>
          <p:nvSpPr>
            <p:cNvPr id="59415" name="Line 36"/>
            <p:cNvSpPr>
              <a:spLocks noChangeShapeType="1"/>
            </p:cNvSpPr>
            <p:nvPr/>
          </p:nvSpPr>
          <p:spPr bwMode="auto">
            <a:xfrm flipH="1">
              <a:off x="5334000" y="838200"/>
              <a:ext cx="228600" cy="304800"/>
            </a:xfrm>
            <a:prstGeom prst="line">
              <a:avLst/>
            </a:prstGeom>
            <a:noFill/>
            <a:ln w="12700">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wrap="none" anchor="ctr"/>
            <a:lstStyle/>
            <a:p>
              <a:endParaRPr lang="he-IL"/>
            </a:p>
          </p:txBody>
        </p:sp>
        <p:sp>
          <p:nvSpPr>
            <p:cNvPr id="59416" name="Rectangle 37"/>
            <p:cNvSpPr>
              <a:spLocks noChangeArrowheads="1"/>
            </p:cNvSpPr>
            <p:nvPr/>
          </p:nvSpPr>
          <p:spPr bwMode="auto">
            <a:xfrm flipH="1">
              <a:off x="1584325" y="993775"/>
              <a:ext cx="92075" cy="1749425"/>
            </a:xfrm>
            <a:prstGeom prst="rect">
              <a:avLst/>
            </a:prstGeom>
            <a:solidFill>
              <a:srgbClr val="FF0000"/>
            </a:solidFill>
            <a:ln w="12700">
              <a:solidFill>
                <a:schemeClr val="tx1"/>
              </a:solidFill>
              <a:miter lim="800000"/>
              <a:headEnd type="none" w="sm" len="sm"/>
              <a:tailEnd type="none" w="sm" len="sm"/>
            </a:ln>
          </p:spPr>
          <p:txBody>
            <a:bodyPr wrap="none" anchor="ctr"/>
            <a:lstStyle/>
            <a:p>
              <a:endParaRPr lang="it-IT">
                <a:solidFill>
                  <a:srgbClr val="FF0000"/>
                </a:solidFill>
              </a:endParaRPr>
            </a:p>
          </p:txBody>
        </p:sp>
        <p:grpSp>
          <p:nvGrpSpPr>
            <p:cNvPr id="59417" name="Group 38"/>
            <p:cNvGrpSpPr>
              <a:grpSpLocks/>
            </p:cNvGrpSpPr>
            <p:nvPr/>
          </p:nvGrpSpPr>
          <p:grpSpPr bwMode="auto">
            <a:xfrm>
              <a:off x="1692275" y="1690688"/>
              <a:ext cx="1393825" cy="385762"/>
              <a:chOff x="1038" y="525"/>
              <a:chExt cx="878" cy="243"/>
            </a:xfrm>
          </p:grpSpPr>
          <p:sp>
            <p:nvSpPr>
              <p:cNvPr id="59426" name="Line 39"/>
              <p:cNvSpPr>
                <a:spLocks noChangeShapeType="1"/>
              </p:cNvSpPr>
              <p:nvPr/>
            </p:nvSpPr>
            <p:spPr bwMode="auto">
              <a:xfrm>
                <a:off x="1056" y="768"/>
                <a:ext cx="315" cy="0"/>
              </a:xfrm>
              <a:prstGeom prst="line">
                <a:avLst/>
              </a:prstGeom>
              <a:noFill/>
              <a:ln w="254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he-IL"/>
              </a:p>
            </p:txBody>
          </p:sp>
          <p:sp>
            <p:nvSpPr>
              <p:cNvPr id="59427" name="Freeform 40"/>
              <p:cNvSpPr>
                <a:spLocks/>
              </p:cNvSpPr>
              <p:nvPr/>
            </p:nvSpPr>
            <p:spPr bwMode="auto">
              <a:xfrm>
                <a:off x="1042" y="539"/>
                <a:ext cx="604" cy="220"/>
              </a:xfrm>
              <a:custGeom>
                <a:avLst/>
                <a:gdLst>
                  <a:gd name="T0" fmla="*/ 0 w 604"/>
                  <a:gd name="T1" fmla="*/ 220 h 220"/>
                  <a:gd name="T2" fmla="*/ 412 w 604"/>
                  <a:gd name="T3" fmla="*/ 0 h 220"/>
                  <a:gd name="T4" fmla="*/ 604 w 604"/>
                  <a:gd name="T5" fmla="*/ 220 h 220"/>
                  <a:gd name="T6" fmla="*/ 0 60000 65536"/>
                  <a:gd name="T7" fmla="*/ 0 60000 65536"/>
                  <a:gd name="T8" fmla="*/ 0 60000 65536"/>
                  <a:gd name="T9" fmla="*/ 0 w 604"/>
                  <a:gd name="T10" fmla="*/ 0 h 220"/>
                  <a:gd name="T11" fmla="*/ 604 w 604"/>
                  <a:gd name="T12" fmla="*/ 220 h 220"/>
                </a:gdLst>
                <a:ahLst/>
                <a:cxnLst>
                  <a:cxn ang="T6">
                    <a:pos x="T0" y="T1"/>
                  </a:cxn>
                  <a:cxn ang="T7">
                    <a:pos x="T2" y="T3"/>
                  </a:cxn>
                  <a:cxn ang="T8">
                    <a:pos x="T4" y="T5"/>
                  </a:cxn>
                </a:cxnLst>
                <a:rect l="T9" t="T10" r="T11" b="T12"/>
                <a:pathLst>
                  <a:path w="604" h="220">
                    <a:moveTo>
                      <a:pt x="0" y="220"/>
                    </a:moveTo>
                    <a:cubicBezTo>
                      <a:pt x="155" y="110"/>
                      <a:pt x="311" y="0"/>
                      <a:pt x="412" y="0"/>
                    </a:cubicBezTo>
                    <a:cubicBezTo>
                      <a:pt x="513" y="0"/>
                      <a:pt x="558" y="110"/>
                      <a:pt x="604" y="220"/>
                    </a:cubicBezTo>
                  </a:path>
                </a:pathLst>
              </a:custGeom>
              <a:noFill/>
              <a:ln w="25400">
                <a:solidFill>
                  <a:schemeClr val="tx1"/>
                </a:solidFill>
                <a:round/>
                <a:headEnd type="none" w="sm" len="sm"/>
                <a:tailEnd type="triangle" w="med" len="med"/>
              </a:ln>
              <a:extLst>
                <a:ext uri="{909E8E84-426E-40dd-AFC4-6F175D3DCCD1}">
                  <a14:hiddenFill xmlns:a14="http://schemas.microsoft.com/office/drawing/2010/main">
                    <a:solidFill>
                      <a:srgbClr val="FFFFFF"/>
                    </a:solidFill>
                  </a14:hiddenFill>
                </a:ext>
              </a:extLst>
            </p:spPr>
            <p:txBody>
              <a:bodyPr/>
              <a:lstStyle/>
              <a:p>
                <a:endParaRPr lang="he-IL"/>
              </a:p>
            </p:txBody>
          </p:sp>
          <p:sp>
            <p:nvSpPr>
              <p:cNvPr id="59428" name="Freeform 41"/>
              <p:cNvSpPr>
                <a:spLocks/>
              </p:cNvSpPr>
              <p:nvPr/>
            </p:nvSpPr>
            <p:spPr bwMode="auto">
              <a:xfrm>
                <a:off x="1038" y="525"/>
                <a:ext cx="878" cy="220"/>
              </a:xfrm>
              <a:custGeom>
                <a:avLst/>
                <a:gdLst>
                  <a:gd name="T0" fmla="*/ 0 w 604"/>
                  <a:gd name="T1" fmla="*/ 220 h 220"/>
                  <a:gd name="T2" fmla="*/ 8216 w 604"/>
                  <a:gd name="T3" fmla="*/ 0 h 220"/>
                  <a:gd name="T4" fmla="*/ 12041 w 604"/>
                  <a:gd name="T5" fmla="*/ 220 h 220"/>
                  <a:gd name="T6" fmla="*/ 0 60000 65536"/>
                  <a:gd name="T7" fmla="*/ 0 60000 65536"/>
                  <a:gd name="T8" fmla="*/ 0 60000 65536"/>
                  <a:gd name="T9" fmla="*/ 0 w 604"/>
                  <a:gd name="T10" fmla="*/ 0 h 220"/>
                  <a:gd name="T11" fmla="*/ 604 w 604"/>
                  <a:gd name="T12" fmla="*/ 220 h 220"/>
                </a:gdLst>
                <a:ahLst/>
                <a:cxnLst>
                  <a:cxn ang="T6">
                    <a:pos x="T0" y="T1"/>
                  </a:cxn>
                  <a:cxn ang="T7">
                    <a:pos x="T2" y="T3"/>
                  </a:cxn>
                  <a:cxn ang="T8">
                    <a:pos x="T4" y="T5"/>
                  </a:cxn>
                </a:cxnLst>
                <a:rect l="T9" t="T10" r="T11" b="T12"/>
                <a:pathLst>
                  <a:path w="604" h="220">
                    <a:moveTo>
                      <a:pt x="0" y="220"/>
                    </a:moveTo>
                    <a:cubicBezTo>
                      <a:pt x="155" y="110"/>
                      <a:pt x="311" y="0"/>
                      <a:pt x="412" y="0"/>
                    </a:cubicBezTo>
                    <a:cubicBezTo>
                      <a:pt x="513" y="0"/>
                      <a:pt x="558" y="110"/>
                      <a:pt x="604" y="220"/>
                    </a:cubicBezTo>
                  </a:path>
                </a:pathLst>
              </a:custGeom>
              <a:noFill/>
              <a:ln w="25400">
                <a:solidFill>
                  <a:schemeClr val="tx1"/>
                </a:solidFill>
                <a:round/>
                <a:headEnd type="none" w="sm" len="sm"/>
                <a:tailEnd type="triangle" w="med" len="med"/>
              </a:ln>
              <a:extLst>
                <a:ext uri="{909E8E84-426E-40dd-AFC4-6F175D3DCCD1}">
                  <a14:hiddenFill xmlns:a14="http://schemas.microsoft.com/office/drawing/2010/main">
                    <a:solidFill>
                      <a:srgbClr val="FFFFFF"/>
                    </a:solidFill>
                  </a14:hiddenFill>
                </a:ext>
              </a:extLst>
            </p:spPr>
            <p:txBody>
              <a:bodyPr/>
              <a:lstStyle/>
              <a:p>
                <a:endParaRPr lang="he-IL"/>
              </a:p>
            </p:txBody>
          </p:sp>
        </p:grpSp>
        <p:sp>
          <p:nvSpPr>
            <p:cNvPr id="59418" name="Rectangle 42"/>
            <p:cNvSpPr>
              <a:spLocks noChangeArrowheads="1"/>
            </p:cNvSpPr>
            <p:nvPr/>
          </p:nvSpPr>
          <p:spPr bwMode="auto">
            <a:xfrm>
              <a:off x="3733800" y="1112838"/>
              <a:ext cx="1828800" cy="106362"/>
            </a:xfrm>
            <a:prstGeom prst="rect">
              <a:avLst/>
            </a:prstGeom>
            <a:solidFill>
              <a:schemeClr val="hlink"/>
            </a:solidFill>
            <a:ln w="12700">
              <a:solidFill>
                <a:schemeClr val="tx1"/>
              </a:solidFill>
              <a:miter lim="800000"/>
              <a:headEnd type="none" w="sm" len="sm"/>
              <a:tailEnd type="none" w="sm" len="sm"/>
            </a:ln>
          </p:spPr>
          <p:txBody>
            <a:bodyPr wrap="none" anchor="ctr"/>
            <a:lstStyle/>
            <a:p>
              <a:endParaRPr lang="it-IT"/>
            </a:p>
          </p:txBody>
        </p:sp>
        <p:sp>
          <p:nvSpPr>
            <p:cNvPr id="59419" name="Rectangle 43"/>
            <p:cNvSpPr>
              <a:spLocks noChangeArrowheads="1"/>
            </p:cNvSpPr>
            <p:nvPr/>
          </p:nvSpPr>
          <p:spPr bwMode="auto">
            <a:xfrm>
              <a:off x="7388225" y="1828800"/>
              <a:ext cx="463550" cy="465138"/>
            </a:xfrm>
            <a:prstGeom prst="rect">
              <a:avLst/>
            </a:prstGeom>
            <a:solidFill>
              <a:srgbClr val="00FF00"/>
            </a:solidFill>
            <a:ln w="12700">
              <a:solidFill>
                <a:schemeClr val="tx1"/>
              </a:solidFill>
              <a:miter lim="800000"/>
              <a:headEnd type="none" w="sm" len="sm"/>
              <a:tailEnd type="none" w="sm" len="sm"/>
            </a:ln>
          </p:spPr>
          <p:txBody>
            <a:bodyPr wrap="none" anchor="ctr"/>
            <a:lstStyle/>
            <a:p>
              <a:pPr algn="ctr"/>
              <a:r>
                <a:rPr lang="en-US" sz="1400" b="0">
                  <a:solidFill>
                    <a:schemeClr val="tx1"/>
                  </a:solidFill>
                </a:rPr>
                <a:t>C(i,j)</a:t>
              </a:r>
            </a:p>
          </p:txBody>
        </p:sp>
        <p:sp>
          <p:nvSpPr>
            <p:cNvPr id="59420" name="Rectangle 44"/>
            <p:cNvSpPr>
              <a:spLocks noChangeArrowheads="1"/>
            </p:cNvSpPr>
            <p:nvPr/>
          </p:nvSpPr>
          <p:spPr bwMode="auto">
            <a:xfrm>
              <a:off x="7388225" y="1730375"/>
              <a:ext cx="463550" cy="98425"/>
            </a:xfrm>
            <a:prstGeom prst="rect">
              <a:avLst/>
            </a:prstGeom>
            <a:solidFill>
              <a:schemeClr val="hlink"/>
            </a:solidFill>
            <a:ln w="12700">
              <a:solidFill>
                <a:schemeClr val="tx1"/>
              </a:solidFill>
              <a:miter lim="800000"/>
              <a:headEnd type="none" w="sm" len="sm"/>
              <a:tailEnd type="none" w="sm" len="sm"/>
            </a:ln>
          </p:spPr>
          <p:txBody>
            <a:bodyPr wrap="none" anchor="ctr"/>
            <a:lstStyle/>
            <a:p>
              <a:endParaRPr lang="it-IT"/>
            </a:p>
          </p:txBody>
        </p:sp>
        <p:sp>
          <p:nvSpPr>
            <p:cNvPr id="59421" name="Rectangle 45"/>
            <p:cNvSpPr>
              <a:spLocks noChangeArrowheads="1"/>
            </p:cNvSpPr>
            <p:nvPr/>
          </p:nvSpPr>
          <p:spPr bwMode="auto">
            <a:xfrm flipH="1">
              <a:off x="7296150" y="1828800"/>
              <a:ext cx="95250" cy="457200"/>
            </a:xfrm>
            <a:prstGeom prst="rect">
              <a:avLst/>
            </a:prstGeom>
            <a:solidFill>
              <a:srgbClr val="FF0000"/>
            </a:solidFill>
            <a:ln w="12700">
              <a:solidFill>
                <a:schemeClr val="tx1"/>
              </a:solidFill>
              <a:miter lim="800000"/>
              <a:headEnd type="none" w="sm" len="sm"/>
              <a:tailEnd type="none" w="sm" len="sm"/>
            </a:ln>
          </p:spPr>
          <p:txBody>
            <a:bodyPr wrap="none" anchor="ctr"/>
            <a:lstStyle/>
            <a:p>
              <a:endParaRPr lang="it-IT"/>
            </a:p>
          </p:txBody>
        </p:sp>
        <p:grpSp>
          <p:nvGrpSpPr>
            <p:cNvPr id="59422" name="Group 46"/>
            <p:cNvGrpSpPr>
              <a:grpSpLocks/>
            </p:cNvGrpSpPr>
            <p:nvPr/>
          </p:nvGrpSpPr>
          <p:grpSpPr bwMode="auto">
            <a:xfrm rot="5400000">
              <a:off x="4802981" y="1726407"/>
              <a:ext cx="1393825" cy="385762"/>
              <a:chOff x="1038" y="525"/>
              <a:chExt cx="878" cy="243"/>
            </a:xfrm>
          </p:grpSpPr>
          <p:sp>
            <p:nvSpPr>
              <p:cNvPr id="59423" name="Line 47"/>
              <p:cNvSpPr>
                <a:spLocks noChangeShapeType="1"/>
              </p:cNvSpPr>
              <p:nvPr/>
            </p:nvSpPr>
            <p:spPr bwMode="auto">
              <a:xfrm>
                <a:off x="1056" y="768"/>
                <a:ext cx="315" cy="0"/>
              </a:xfrm>
              <a:prstGeom prst="line">
                <a:avLst/>
              </a:prstGeom>
              <a:noFill/>
              <a:ln w="254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he-IL"/>
              </a:p>
            </p:txBody>
          </p:sp>
          <p:sp>
            <p:nvSpPr>
              <p:cNvPr id="59424" name="Freeform 48"/>
              <p:cNvSpPr>
                <a:spLocks/>
              </p:cNvSpPr>
              <p:nvPr/>
            </p:nvSpPr>
            <p:spPr bwMode="auto">
              <a:xfrm>
                <a:off x="1042" y="539"/>
                <a:ext cx="604" cy="220"/>
              </a:xfrm>
              <a:custGeom>
                <a:avLst/>
                <a:gdLst>
                  <a:gd name="T0" fmla="*/ 0 w 604"/>
                  <a:gd name="T1" fmla="*/ 220 h 220"/>
                  <a:gd name="T2" fmla="*/ 412 w 604"/>
                  <a:gd name="T3" fmla="*/ 0 h 220"/>
                  <a:gd name="T4" fmla="*/ 604 w 604"/>
                  <a:gd name="T5" fmla="*/ 220 h 220"/>
                  <a:gd name="T6" fmla="*/ 0 60000 65536"/>
                  <a:gd name="T7" fmla="*/ 0 60000 65536"/>
                  <a:gd name="T8" fmla="*/ 0 60000 65536"/>
                  <a:gd name="T9" fmla="*/ 0 w 604"/>
                  <a:gd name="T10" fmla="*/ 0 h 220"/>
                  <a:gd name="T11" fmla="*/ 604 w 604"/>
                  <a:gd name="T12" fmla="*/ 220 h 220"/>
                </a:gdLst>
                <a:ahLst/>
                <a:cxnLst>
                  <a:cxn ang="T6">
                    <a:pos x="T0" y="T1"/>
                  </a:cxn>
                  <a:cxn ang="T7">
                    <a:pos x="T2" y="T3"/>
                  </a:cxn>
                  <a:cxn ang="T8">
                    <a:pos x="T4" y="T5"/>
                  </a:cxn>
                </a:cxnLst>
                <a:rect l="T9" t="T10" r="T11" b="T12"/>
                <a:pathLst>
                  <a:path w="604" h="220">
                    <a:moveTo>
                      <a:pt x="0" y="220"/>
                    </a:moveTo>
                    <a:cubicBezTo>
                      <a:pt x="155" y="110"/>
                      <a:pt x="311" y="0"/>
                      <a:pt x="412" y="0"/>
                    </a:cubicBezTo>
                    <a:cubicBezTo>
                      <a:pt x="513" y="0"/>
                      <a:pt x="558" y="110"/>
                      <a:pt x="604" y="220"/>
                    </a:cubicBezTo>
                  </a:path>
                </a:pathLst>
              </a:custGeom>
              <a:noFill/>
              <a:ln w="25400">
                <a:solidFill>
                  <a:schemeClr val="tx1"/>
                </a:solidFill>
                <a:round/>
                <a:headEnd type="none" w="sm" len="sm"/>
                <a:tailEnd type="triangle" w="med" len="med"/>
              </a:ln>
              <a:extLst>
                <a:ext uri="{909E8E84-426E-40dd-AFC4-6F175D3DCCD1}">
                  <a14:hiddenFill xmlns:a14="http://schemas.microsoft.com/office/drawing/2010/main">
                    <a:solidFill>
                      <a:srgbClr val="FFFFFF"/>
                    </a:solidFill>
                  </a14:hiddenFill>
                </a:ext>
              </a:extLst>
            </p:spPr>
            <p:txBody>
              <a:bodyPr/>
              <a:lstStyle/>
              <a:p>
                <a:endParaRPr lang="he-IL"/>
              </a:p>
            </p:txBody>
          </p:sp>
          <p:sp>
            <p:nvSpPr>
              <p:cNvPr id="59425" name="Freeform 49"/>
              <p:cNvSpPr>
                <a:spLocks/>
              </p:cNvSpPr>
              <p:nvPr/>
            </p:nvSpPr>
            <p:spPr bwMode="auto">
              <a:xfrm>
                <a:off x="1038" y="525"/>
                <a:ext cx="878" cy="220"/>
              </a:xfrm>
              <a:custGeom>
                <a:avLst/>
                <a:gdLst>
                  <a:gd name="T0" fmla="*/ 0 w 604"/>
                  <a:gd name="T1" fmla="*/ 220 h 220"/>
                  <a:gd name="T2" fmla="*/ 8216 w 604"/>
                  <a:gd name="T3" fmla="*/ 0 h 220"/>
                  <a:gd name="T4" fmla="*/ 12041 w 604"/>
                  <a:gd name="T5" fmla="*/ 220 h 220"/>
                  <a:gd name="T6" fmla="*/ 0 60000 65536"/>
                  <a:gd name="T7" fmla="*/ 0 60000 65536"/>
                  <a:gd name="T8" fmla="*/ 0 60000 65536"/>
                  <a:gd name="T9" fmla="*/ 0 w 604"/>
                  <a:gd name="T10" fmla="*/ 0 h 220"/>
                  <a:gd name="T11" fmla="*/ 604 w 604"/>
                  <a:gd name="T12" fmla="*/ 220 h 220"/>
                </a:gdLst>
                <a:ahLst/>
                <a:cxnLst>
                  <a:cxn ang="T6">
                    <a:pos x="T0" y="T1"/>
                  </a:cxn>
                  <a:cxn ang="T7">
                    <a:pos x="T2" y="T3"/>
                  </a:cxn>
                  <a:cxn ang="T8">
                    <a:pos x="T4" y="T5"/>
                  </a:cxn>
                </a:cxnLst>
                <a:rect l="T9" t="T10" r="T11" b="T12"/>
                <a:pathLst>
                  <a:path w="604" h="220">
                    <a:moveTo>
                      <a:pt x="0" y="220"/>
                    </a:moveTo>
                    <a:cubicBezTo>
                      <a:pt x="155" y="110"/>
                      <a:pt x="311" y="0"/>
                      <a:pt x="412" y="0"/>
                    </a:cubicBezTo>
                    <a:cubicBezTo>
                      <a:pt x="513" y="0"/>
                      <a:pt x="558" y="110"/>
                      <a:pt x="604" y="220"/>
                    </a:cubicBezTo>
                  </a:path>
                </a:pathLst>
              </a:custGeom>
              <a:noFill/>
              <a:ln w="25400">
                <a:solidFill>
                  <a:schemeClr val="tx1"/>
                </a:solidFill>
                <a:round/>
                <a:headEnd type="none" w="sm" len="sm"/>
                <a:tailEnd type="triangle" w="med" len="med"/>
              </a:ln>
              <a:extLst>
                <a:ext uri="{909E8E84-426E-40dd-AFC4-6F175D3DCCD1}">
                  <a14:hiddenFill xmlns:a14="http://schemas.microsoft.com/office/drawing/2010/main">
                    <a:solidFill>
                      <a:srgbClr val="FFFFFF"/>
                    </a:solidFill>
                  </a14:hiddenFill>
                </a:ext>
              </a:extLst>
            </p:spPr>
            <p:txBody>
              <a:bodyPr/>
              <a:lstStyle/>
              <a:p>
                <a:endParaRPr lang="he-IL"/>
              </a:p>
            </p:txBody>
          </p:sp>
        </p:grpSp>
      </p:grpSp>
      <p:sp>
        <p:nvSpPr>
          <p:cNvPr id="52" name="Text Box 3"/>
          <p:cNvSpPr txBox="1">
            <a:spLocks noChangeArrowheads="1"/>
          </p:cNvSpPr>
          <p:nvPr/>
        </p:nvSpPr>
        <p:spPr bwMode="auto">
          <a:xfrm>
            <a:off x="152400" y="3261479"/>
            <a:ext cx="8915400" cy="3139321"/>
          </a:xfrm>
          <a:prstGeom prst="rect">
            <a:avLst/>
          </a:prstGeom>
          <a:noFill/>
          <a:ln w="12700">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square">
            <a:spAutoFit/>
          </a:bodyPr>
          <a:lstStyle>
            <a:lvl1pPr>
              <a:defRPr sz="2000" b="1">
                <a:solidFill>
                  <a:schemeClr val="accent1"/>
                </a:solidFill>
                <a:latin typeface="Arial" pitchFamily="34" charset="0"/>
                <a:ea typeface="MS PGothic" pitchFamily="34" charset="-128"/>
              </a:defRPr>
            </a:lvl1pPr>
            <a:lvl2pPr marL="742950" indent="-285750">
              <a:defRPr sz="2000" b="1">
                <a:solidFill>
                  <a:schemeClr val="accent1"/>
                </a:solidFill>
                <a:latin typeface="Arial" pitchFamily="34" charset="0"/>
                <a:ea typeface="MS PGothic" pitchFamily="34" charset="-128"/>
              </a:defRPr>
            </a:lvl2pPr>
            <a:lvl3pPr marL="1143000" indent="-228600">
              <a:defRPr sz="2000" b="1">
                <a:solidFill>
                  <a:schemeClr val="accent1"/>
                </a:solidFill>
                <a:latin typeface="Arial" pitchFamily="34" charset="0"/>
                <a:ea typeface="MS PGothic" pitchFamily="34" charset="-128"/>
              </a:defRPr>
            </a:lvl3pPr>
            <a:lvl4pPr marL="1600200" indent="-228600">
              <a:defRPr sz="2000" b="1">
                <a:solidFill>
                  <a:schemeClr val="accent1"/>
                </a:solidFill>
                <a:latin typeface="Arial" pitchFamily="34" charset="0"/>
                <a:ea typeface="MS PGothic" pitchFamily="34" charset="-128"/>
              </a:defRPr>
            </a:lvl4pPr>
            <a:lvl5pPr marL="2057400" indent="-228600">
              <a:defRPr sz="2000" b="1">
                <a:solidFill>
                  <a:schemeClr val="accent1"/>
                </a:solidFill>
                <a:latin typeface="Arial" pitchFamily="34" charset="0"/>
                <a:ea typeface="MS PGothic" pitchFamily="34" charset="-128"/>
              </a:defRPr>
            </a:lvl5pPr>
            <a:lvl6pPr marL="25146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6pPr>
            <a:lvl7pPr marL="29718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7pPr>
            <a:lvl8pPr marL="34290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8pPr>
            <a:lvl9pPr marL="38862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9pPr>
          </a:lstStyle>
          <a:p>
            <a:pPr algn="l">
              <a:spcBef>
                <a:spcPct val="25000"/>
              </a:spcBef>
            </a:pPr>
            <a:r>
              <a:rPr lang="en-US" sz="1800" dirty="0">
                <a:solidFill>
                  <a:schemeClr val="tx1"/>
                </a:solidFill>
              </a:rPr>
              <a:t>For k=0 to n/b-1</a:t>
            </a:r>
          </a:p>
          <a:p>
            <a:pPr algn="l">
              <a:spcBef>
                <a:spcPct val="25000"/>
              </a:spcBef>
            </a:pPr>
            <a:r>
              <a:rPr lang="en-US" sz="1800" dirty="0">
                <a:solidFill>
                  <a:schemeClr val="tx1"/>
                </a:solidFill>
              </a:rPr>
              <a:t>     for all </a:t>
            </a:r>
            <a:r>
              <a:rPr lang="en-US" sz="1800" dirty="0" err="1">
                <a:solidFill>
                  <a:schemeClr val="tx1"/>
                </a:solidFill>
              </a:rPr>
              <a:t>i</a:t>
            </a:r>
            <a:r>
              <a:rPr lang="en-US" sz="1800" dirty="0">
                <a:solidFill>
                  <a:schemeClr val="tx1"/>
                </a:solidFill>
              </a:rPr>
              <a:t> = 1 to </a:t>
            </a:r>
            <a:r>
              <a:rPr lang="en-US" sz="1800" dirty="0" smtClean="0">
                <a:solidFill>
                  <a:schemeClr val="tx1"/>
                </a:solidFill>
              </a:rPr>
              <a:t>P</a:t>
            </a:r>
            <a:r>
              <a:rPr lang="en-US" sz="1800" baseline="30000" dirty="0" smtClean="0">
                <a:solidFill>
                  <a:schemeClr val="tx1"/>
                </a:solidFill>
              </a:rPr>
              <a:t>1/2 </a:t>
            </a:r>
          </a:p>
          <a:p>
            <a:pPr algn="l">
              <a:spcBef>
                <a:spcPct val="25000"/>
              </a:spcBef>
            </a:pPr>
            <a:r>
              <a:rPr lang="en-US" sz="1800" baseline="30000" dirty="0">
                <a:solidFill>
                  <a:schemeClr val="tx1"/>
                </a:solidFill>
              </a:rPr>
              <a:t> </a:t>
            </a:r>
            <a:r>
              <a:rPr lang="en-US" sz="1800" dirty="0" smtClean="0">
                <a:solidFill>
                  <a:schemeClr val="tx1"/>
                </a:solidFill>
              </a:rPr>
              <a:t>             owner </a:t>
            </a:r>
            <a:r>
              <a:rPr lang="en-US" sz="1800" dirty="0">
                <a:solidFill>
                  <a:schemeClr val="tx1"/>
                </a:solidFill>
              </a:rPr>
              <a:t>of </a:t>
            </a:r>
            <a:r>
              <a:rPr lang="en-US" sz="1800" dirty="0">
                <a:solidFill>
                  <a:srgbClr val="FF0000"/>
                </a:solidFill>
              </a:rPr>
              <a:t>A(</a:t>
            </a:r>
            <a:r>
              <a:rPr lang="en-US" sz="1800" dirty="0" err="1">
                <a:solidFill>
                  <a:srgbClr val="FF0000"/>
                </a:solidFill>
              </a:rPr>
              <a:t>i,k</a:t>
            </a:r>
            <a:r>
              <a:rPr lang="en-US" sz="1800" dirty="0">
                <a:solidFill>
                  <a:srgbClr val="FF0000"/>
                </a:solidFill>
              </a:rPr>
              <a:t>)</a:t>
            </a:r>
            <a:r>
              <a:rPr lang="en-US" sz="1800" dirty="0">
                <a:solidFill>
                  <a:schemeClr val="tx1"/>
                </a:solidFill>
              </a:rPr>
              <a:t> broadcasts it to whole processor </a:t>
            </a:r>
            <a:r>
              <a:rPr lang="en-US" sz="1800" dirty="0" smtClean="0">
                <a:solidFill>
                  <a:schemeClr val="tx1"/>
                </a:solidFill>
              </a:rPr>
              <a:t>row (using binary tree)</a:t>
            </a:r>
            <a:endParaRPr lang="en-US" sz="1800" dirty="0">
              <a:solidFill>
                <a:schemeClr val="tx1"/>
              </a:solidFill>
            </a:endParaRPr>
          </a:p>
          <a:p>
            <a:pPr>
              <a:spcBef>
                <a:spcPct val="25000"/>
              </a:spcBef>
            </a:pPr>
            <a:r>
              <a:rPr lang="en-US" sz="1800" dirty="0" smtClean="0">
                <a:solidFill>
                  <a:schemeClr val="tx1"/>
                </a:solidFill>
              </a:rPr>
              <a:t>     for </a:t>
            </a:r>
            <a:r>
              <a:rPr lang="en-US" sz="1800" dirty="0">
                <a:solidFill>
                  <a:schemeClr val="tx1"/>
                </a:solidFill>
              </a:rPr>
              <a:t>all j = 1 to  </a:t>
            </a:r>
            <a:r>
              <a:rPr lang="en-US" sz="1800" dirty="0" smtClean="0">
                <a:solidFill>
                  <a:schemeClr val="tx1"/>
                </a:solidFill>
              </a:rPr>
              <a:t>P</a:t>
            </a:r>
            <a:r>
              <a:rPr lang="en-US" sz="1800" baseline="30000" dirty="0" smtClean="0">
                <a:solidFill>
                  <a:schemeClr val="tx1"/>
                </a:solidFill>
              </a:rPr>
              <a:t>1/2</a:t>
            </a:r>
            <a:endParaRPr lang="en-US" sz="1800" baseline="30000" dirty="0">
              <a:solidFill>
                <a:schemeClr val="tx1"/>
              </a:solidFill>
            </a:endParaRPr>
          </a:p>
          <a:p>
            <a:pPr algn="l">
              <a:spcBef>
                <a:spcPct val="25000"/>
              </a:spcBef>
            </a:pPr>
            <a:r>
              <a:rPr lang="en-US" sz="1800" dirty="0">
                <a:solidFill>
                  <a:schemeClr val="tx1"/>
                </a:solidFill>
              </a:rPr>
              <a:t>            owner of </a:t>
            </a:r>
            <a:r>
              <a:rPr lang="en-US" sz="1800" dirty="0">
                <a:solidFill>
                  <a:srgbClr val="0824F2"/>
                </a:solidFill>
              </a:rPr>
              <a:t>B(</a:t>
            </a:r>
            <a:r>
              <a:rPr lang="en-US" sz="1800" dirty="0" err="1">
                <a:solidFill>
                  <a:srgbClr val="0824F2"/>
                </a:solidFill>
              </a:rPr>
              <a:t>k,j</a:t>
            </a:r>
            <a:r>
              <a:rPr lang="en-US" sz="1800" dirty="0">
                <a:solidFill>
                  <a:srgbClr val="0824F2"/>
                </a:solidFill>
              </a:rPr>
              <a:t>)</a:t>
            </a:r>
            <a:r>
              <a:rPr lang="en-US" sz="1800" dirty="0">
                <a:solidFill>
                  <a:schemeClr val="tx1"/>
                </a:solidFill>
              </a:rPr>
              <a:t> broadcasts it to whole processor </a:t>
            </a:r>
            <a:r>
              <a:rPr lang="en-US" sz="1800" dirty="0" smtClean="0">
                <a:solidFill>
                  <a:schemeClr val="tx1"/>
                </a:solidFill>
              </a:rPr>
              <a:t>column (using bin. </a:t>
            </a:r>
            <a:r>
              <a:rPr lang="en-US" sz="1800" dirty="0">
                <a:solidFill>
                  <a:schemeClr val="tx1"/>
                </a:solidFill>
              </a:rPr>
              <a:t>t</a:t>
            </a:r>
            <a:r>
              <a:rPr lang="en-US" sz="1800" dirty="0" smtClean="0">
                <a:solidFill>
                  <a:schemeClr val="tx1"/>
                </a:solidFill>
              </a:rPr>
              <a:t>ree)</a:t>
            </a:r>
            <a:endParaRPr lang="en-US" sz="1800" dirty="0">
              <a:solidFill>
                <a:schemeClr val="tx1"/>
              </a:solidFill>
            </a:endParaRPr>
          </a:p>
          <a:p>
            <a:pPr algn="l">
              <a:spcBef>
                <a:spcPct val="25000"/>
              </a:spcBef>
            </a:pPr>
            <a:r>
              <a:rPr lang="en-US" sz="1800" dirty="0" smtClean="0">
                <a:solidFill>
                  <a:schemeClr val="tx1"/>
                </a:solidFill>
              </a:rPr>
              <a:t>     Receive </a:t>
            </a:r>
            <a:r>
              <a:rPr lang="en-US" sz="1800" dirty="0">
                <a:solidFill>
                  <a:srgbClr val="FF0000"/>
                </a:solidFill>
              </a:rPr>
              <a:t>A(</a:t>
            </a:r>
            <a:r>
              <a:rPr lang="en-US" sz="1800" dirty="0" err="1">
                <a:solidFill>
                  <a:srgbClr val="FF0000"/>
                </a:solidFill>
              </a:rPr>
              <a:t>i,k</a:t>
            </a:r>
            <a:r>
              <a:rPr lang="en-US" sz="1800" dirty="0">
                <a:solidFill>
                  <a:srgbClr val="FF0000"/>
                </a:solidFill>
              </a:rPr>
              <a:t>)</a:t>
            </a:r>
            <a:r>
              <a:rPr lang="en-US" sz="1800" dirty="0">
                <a:solidFill>
                  <a:schemeClr val="tx1"/>
                </a:solidFill>
              </a:rPr>
              <a:t> into </a:t>
            </a:r>
            <a:r>
              <a:rPr lang="en-US" sz="1800" dirty="0" err="1">
                <a:solidFill>
                  <a:srgbClr val="FF0000"/>
                </a:solidFill>
              </a:rPr>
              <a:t>Acol</a:t>
            </a:r>
            <a:endParaRPr lang="en-US" sz="1800" dirty="0">
              <a:solidFill>
                <a:srgbClr val="FF0000"/>
              </a:solidFill>
            </a:endParaRPr>
          </a:p>
          <a:p>
            <a:pPr algn="l">
              <a:spcBef>
                <a:spcPct val="25000"/>
              </a:spcBef>
            </a:pPr>
            <a:r>
              <a:rPr lang="en-US" sz="1800" dirty="0">
                <a:solidFill>
                  <a:schemeClr val="tx1"/>
                </a:solidFill>
              </a:rPr>
              <a:t>     Receive </a:t>
            </a:r>
            <a:r>
              <a:rPr lang="en-US" sz="1800" dirty="0">
                <a:solidFill>
                  <a:srgbClr val="0824F2"/>
                </a:solidFill>
              </a:rPr>
              <a:t>B(</a:t>
            </a:r>
            <a:r>
              <a:rPr lang="en-US" sz="1800" dirty="0" err="1">
                <a:solidFill>
                  <a:srgbClr val="0824F2"/>
                </a:solidFill>
              </a:rPr>
              <a:t>k,j</a:t>
            </a:r>
            <a:r>
              <a:rPr lang="en-US" sz="1800" dirty="0">
                <a:solidFill>
                  <a:srgbClr val="0824F2"/>
                </a:solidFill>
              </a:rPr>
              <a:t>)</a:t>
            </a:r>
            <a:r>
              <a:rPr lang="en-US" sz="1800" dirty="0">
                <a:solidFill>
                  <a:schemeClr val="tx1"/>
                </a:solidFill>
              </a:rPr>
              <a:t> into </a:t>
            </a:r>
            <a:r>
              <a:rPr lang="en-US" sz="1800" dirty="0">
                <a:solidFill>
                  <a:srgbClr val="0824F2"/>
                </a:solidFill>
              </a:rPr>
              <a:t>Brow</a:t>
            </a:r>
          </a:p>
          <a:p>
            <a:pPr algn="l">
              <a:spcBef>
                <a:spcPct val="25000"/>
              </a:spcBef>
            </a:pPr>
            <a:r>
              <a:rPr lang="en-US" sz="1800" dirty="0">
                <a:solidFill>
                  <a:schemeClr val="tx1"/>
                </a:solidFill>
              </a:rPr>
              <a:t>     </a:t>
            </a:r>
            <a:r>
              <a:rPr lang="en-US" sz="1800" dirty="0" err="1">
                <a:solidFill>
                  <a:srgbClr val="008000"/>
                </a:solidFill>
              </a:rPr>
              <a:t>C_myproc</a:t>
            </a:r>
            <a:r>
              <a:rPr lang="en-US" sz="1800" dirty="0">
                <a:solidFill>
                  <a:schemeClr val="tx1"/>
                </a:solidFill>
              </a:rPr>
              <a:t> = </a:t>
            </a:r>
            <a:r>
              <a:rPr lang="en-US" sz="1800" dirty="0" err="1">
                <a:solidFill>
                  <a:srgbClr val="008000"/>
                </a:solidFill>
              </a:rPr>
              <a:t>C_myproc</a:t>
            </a:r>
            <a:r>
              <a:rPr lang="en-US" sz="1800" dirty="0">
                <a:solidFill>
                  <a:schemeClr val="tx1"/>
                </a:solidFill>
              </a:rPr>
              <a:t> + </a:t>
            </a:r>
            <a:r>
              <a:rPr lang="en-US" sz="1800" dirty="0" err="1">
                <a:solidFill>
                  <a:srgbClr val="FF0000"/>
                </a:solidFill>
              </a:rPr>
              <a:t>Acol</a:t>
            </a:r>
            <a:r>
              <a:rPr lang="en-US" sz="1800" dirty="0">
                <a:solidFill>
                  <a:schemeClr val="tx1"/>
                </a:solidFill>
              </a:rPr>
              <a:t> * </a:t>
            </a:r>
            <a:r>
              <a:rPr lang="en-US" sz="1800" dirty="0" smtClean="0">
                <a:solidFill>
                  <a:srgbClr val="0824F2"/>
                </a:solidFill>
              </a:rPr>
              <a:t>Brow</a:t>
            </a:r>
          </a:p>
          <a:p>
            <a:pPr algn="l">
              <a:spcBef>
                <a:spcPct val="25000"/>
              </a:spcBef>
            </a:pPr>
            <a:endParaRPr lang="en-US" sz="1800" dirty="0">
              <a:solidFill>
                <a:srgbClr val="0824F2"/>
              </a:solidFill>
            </a:endParaRPr>
          </a:p>
        </p:txBody>
      </p:sp>
      <p:sp>
        <p:nvSpPr>
          <p:cNvPr id="3" name="TextBox 2"/>
          <p:cNvSpPr txBox="1"/>
          <p:nvPr/>
        </p:nvSpPr>
        <p:spPr>
          <a:xfrm>
            <a:off x="8229600" y="1752600"/>
            <a:ext cx="692204" cy="369332"/>
          </a:xfrm>
          <a:prstGeom prst="rect">
            <a:avLst/>
          </a:prstGeom>
          <a:noFill/>
        </p:spPr>
        <p:txBody>
          <a:bodyPr wrap="none" rtlCol="0">
            <a:spAutoFit/>
          </a:bodyPr>
          <a:lstStyle/>
          <a:p>
            <a:r>
              <a:rPr lang="en-US" b="1" dirty="0" smtClean="0">
                <a:solidFill>
                  <a:srgbClr val="0824F2"/>
                </a:solidFill>
              </a:rPr>
              <a:t>Brow</a:t>
            </a:r>
            <a:endParaRPr lang="en-US" b="1" dirty="0">
              <a:solidFill>
                <a:srgbClr val="0824F2"/>
              </a:solidFill>
            </a:endParaRPr>
          </a:p>
        </p:txBody>
      </p:sp>
      <p:cxnSp>
        <p:nvCxnSpPr>
          <p:cNvPr id="9" name="Straight Arrow Connector 8"/>
          <p:cNvCxnSpPr/>
          <p:nvPr/>
        </p:nvCxnSpPr>
        <p:spPr>
          <a:xfrm flipH="1">
            <a:off x="7924800" y="1981200"/>
            <a:ext cx="304800" cy="0"/>
          </a:xfrm>
          <a:prstGeom prst="straightConnector1">
            <a:avLst/>
          </a:prstGeom>
          <a:ln>
            <a:solidFill>
              <a:srgbClr val="0824F2"/>
            </a:solidFill>
            <a:tailEnd type="arrow"/>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7010400" y="2895600"/>
            <a:ext cx="601923" cy="369332"/>
          </a:xfrm>
          <a:prstGeom prst="rect">
            <a:avLst/>
          </a:prstGeom>
          <a:noFill/>
        </p:spPr>
        <p:txBody>
          <a:bodyPr wrap="none" rtlCol="0">
            <a:spAutoFit/>
          </a:bodyPr>
          <a:lstStyle/>
          <a:p>
            <a:r>
              <a:rPr lang="en-US" b="1" dirty="0" err="1" smtClean="0">
                <a:solidFill>
                  <a:srgbClr val="FF0000"/>
                </a:solidFill>
              </a:rPr>
              <a:t>Acol</a:t>
            </a:r>
            <a:endParaRPr lang="en-US" b="1" dirty="0">
              <a:solidFill>
                <a:srgbClr val="FF0000"/>
              </a:solidFill>
            </a:endParaRPr>
          </a:p>
        </p:txBody>
      </p:sp>
      <p:cxnSp>
        <p:nvCxnSpPr>
          <p:cNvPr id="12" name="Straight Arrow Connector 11"/>
          <p:cNvCxnSpPr/>
          <p:nvPr/>
        </p:nvCxnSpPr>
        <p:spPr>
          <a:xfrm flipV="1">
            <a:off x="7315200" y="2590800"/>
            <a:ext cx="0" cy="457200"/>
          </a:xfrm>
          <a:prstGeom prst="straightConnector1">
            <a:avLst/>
          </a:prstGeom>
          <a:ln>
            <a:solidFill>
              <a:srgbClr val="FF0000"/>
            </a:solidFill>
            <a:tailEnd type="arrow"/>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0376247"/>
      </p:ext>
    </p:extLst>
  </p:cSld>
  <p:clrMapOvr>
    <a:masterClrMapping/>
  </p:clrMapOvr>
  <p:timing>
    <p:tnLst>
      <p:par>
        <p:cTn xmlns:p14="http://schemas.microsoft.com/office/powerpoint/2010/mai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Slide Number Placeholder 4"/>
          <p:cNvSpPr>
            <a:spLocks noGrp="1"/>
          </p:cNvSpPr>
          <p:nvPr>
            <p:ph type="sldNum" sz="quarter" idx="11"/>
          </p:nvPr>
        </p:nvSpPr>
        <p:spPr>
          <a:xfrm>
            <a:off x="7239000" y="6248400"/>
            <a:ext cx="19050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chemeClr val="accent1"/>
                </a:solidFill>
                <a:latin typeface="Arial" pitchFamily="34" charset="0"/>
                <a:ea typeface="MS PGothic" pitchFamily="34" charset="-128"/>
              </a:defRPr>
            </a:lvl1pPr>
            <a:lvl2pPr marL="742950" indent="-285750">
              <a:defRPr sz="2000" b="1">
                <a:solidFill>
                  <a:schemeClr val="accent1"/>
                </a:solidFill>
                <a:latin typeface="Arial" pitchFamily="34" charset="0"/>
                <a:ea typeface="MS PGothic" pitchFamily="34" charset="-128"/>
              </a:defRPr>
            </a:lvl2pPr>
            <a:lvl3pPr marL="1143000" indent="-228600">
              <a:defRPr sz="2000" b="1">
                <a:solidFill>
                  <a:schemeClr val="accent1"/>
                </a:solidFill>
                <a:latin typeface="Arial" pitchFamily="34" charset="0"/>
                <a:ea typeface="MS PGothic" pitchFamily="34" charset="-128"/>
              </a:defRPr>
            </a:lvl3pPr>
            <a:lvl4pPr marL="1600200" indent="-228600">
              <a:defRPr sz="2000" b="1">
                <a:solidFill>
                  <a:schemeClr val="accent1"/>
                </a:solidFill>
                <a:latin typeface="Arial" pitchFamily="34" charset="0"/>
                <a:ea typeface="MS PGothic" pitchFamily="34" charset="-128"/>
              </a:defRPr>
            </a:lvl4pPr>
            <a:lvl5pPr marL="2057400" indent="-228600">
              <a:defRPr sz="2000" b="1">
                <a:solidFill>
                  <a:schemeClr val="accent1"/>
                </a:solidFill>
                <a:latin typeface="Arial" pitchFamily="34" charset="0"/>
                <a:ea typeface="MS PGothic" pitchFamily="34" charset="-128"/>
              </a:defRPr>
            </a:lvl5pPr>
            <a:lvl6pPr marL="25146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6pPr>
            <a:lvl7pPr marL="29718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7pPr>
            <a:lvl8pPr marL="34290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8pPr>
            <a:lvl9pPr marL="38862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9pPr>
          </a:lstStyle>
          <a:p>
            <a:pPr algn="ctr"/>
            <a:fld id="{DFC99BC7-637C-4484-A4F8-31DF4291246A}" type="slidenum">
              <a:rPr lang="en-US" sz="1400" b="0" smtClean="0">
                <a:solidFill>
                  <a:schemeClr val="tx1"/>
                </a:solidFill>
                <a:latin typeface="Helvetica" charset="0"/>
              </a:rPr>
              <a:pPr algn="ctr"/>
              <a:t>24</a:t>
            </a:fld>
            <a:endParaRPr lang="en-US" sz="1400" b="0" smtClean="0">
              <a:solidFill>
                <a:schemeClr val="tx1"/>
              </a:solidFill>
              <a:latin typeface="Helvetica" charset="0"/>
            </a:endParaRPr>
          </a:p>
        </p:txBody>
      </p:sp>
      <p:sp>
        <p:nvSpPr>
          <p:cNvPr id="60419" name="Rectangle 2"/>
          <p:cNvSpPr>
            <a:spLocks noGrp="1" noChangeArrowheads="1"/>
          </p:cNvSpPr>
          <p:nvPr>
            <p:ph type="title"/>
          </p:nvPr>
        </p:nvSpPr>
        <p:spPr>
          <a:xfrm>
            <a:off x="798512" y="306388"/>
            <a:ext cx="7735888" cy="422275"/>
          </a:xfrm>
        </p:spPr>
        <p:txBody>
          <a:bodyPr>
            <a:normAutofit fontScale="90000"/>
          </a:bodyPr>
          <a:lstStyle/>
          <a:p>
            <a:r>
              <a:rPr lang="en-US" dirty="0" smtClean="0"/>
              <a:t>SUMMA Communication Costs</a:t>
            </a:r>
          </a:p>
        </p:txBody>
      </p:sp>
      <p:sp>
        <p:nvSpPr>
          <p:cNvPr id="60420" name="Text Box 3"/>
          <p:cNvSpPr txBox="1">
            <a:spLocks noChangeArrowheads="1"/>
          </p:cNvSpPr>
          <p:nvPr/>
        </p:nvSpPr>
        <p:spPr bwMode="auto">
          <a:xfrm>
            <a:off x="152400" y="990600"/>
            <a:ext cx="8915400" cy="3485570"/>
          </a:xfrm>
          <a:prstGeom prst="rect">
            <a:avLst/>
          </a:prstGeom>
          <a:noFill/>
          <a:ln w="12700">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square">
            <a:spAutoFit/>
          </a:bodyPr>
          <a:lstStyle>
            <a:lvl1pPr>
              <a:defRPr sz="2000" b="1">
                <a:solidFill>
                  <a:schemeClr val="accent1"/>
                </a:solidFill>
                <a:latin typeface="Arial" pitchFamily="34" charset="0"/>
                <a:ea typeface="MS PGothic" pitchFamily="34" charset="-128"/>
              </a:defRPr>
            </a:lvl1pPr>
            <a:lvl2pPr marL="742950" indent="-285750">
              <a:defRPr sz="2000" b="1">
                <a:solidFill>
                  <a:schemeClr val="accent1"/>
                </a:solidFill>
                <a:latin typeface="Arial" pitchFamily="34" charset="0"/>
                <a:ea typeface="MS PGothic" pitchFamily="34" charset="-128"/>
              </a:defRPr>
            </a:lvl2pPr>
            <a:lvl3pPr marL="1143000" indent="-228600">
              <a:defRPr sz="2000" b="1">
                <a:solidFill>
                  <a:schemeClr val="accent1"/>
                </a:solidFill>
                <a:latin typeface="Arial" pitchFamily="34" charset="0"/>
                <a:ea typeface="MS PGothic" pitchFamily="34" charset="-128"/>
              </a:defRPr>
            </a:lvl3pPr>
            <a:lvl4pPr marL="1600200" indent="-228600">
              <a:defRPr sz="2000" b="1">
                <a:solidFill>
                  <a:schemeClr val="accent1"/>
                </a:solidFill>
                <a:latin typeface="Arial" pitchFamily="34" charset="0"/>
                <a:ea typeface="MS PGothic" pitchFamily="34" charset="-128"/>
              </a:defRPr>
            </a:lvl4pPr>
            <a:lvl5pPr marL="2057400" indent="-228600">
              <a:defRPr sz="2000" b="1">
                <a:solidFill>
                  <a:schemeClr val="accent1"/>
                </a:solidFill>
                <a:latin typeface="Arial" pitchFamily="34" charset="0"/>
                <a:ea typeface="MS PGothic" pitchFamily="34" charset="-128"/>
              </a:defRPr>
            </a:lvl5pPr>
            <a:lvl6pPr marL="25146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6pPr>
            <a:lvl7pPr marL="29718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7pPr>
            <a:lvl8pPr marL="34290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8pPr>
            <a:lvl9pPr marL="38862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9pPr>
          </a:lstStyle>
          <a:p>
            <a:pPr algn="l">
              <a:spcBef>
                <a:spcPct val="25000"/>
              </a:spcBef>
            </a:pPr>
            <a:r>
              <a:rPr lang="en-US" sz="1800" dirty="0">
                <a:solidFill>
                  <a:schemeClr val="tx1"/>
                </a:solidFill>
              </a:rPr>
              <a:t>For k=0 to n/b-1</a:t>
            </a:r>
          </a:p>
          <a:p>
            <a:pPr algn="l">
              <a:spcBef>
                <a:spcPct val="25000"/>
              </a:spcBef>
            </a:pPr>
            <a:r>
              <a:rPr lang="en-US" sz="1800" dirty="0">
                <a:solidFill>
                  <a:schemeClr val="tx1"/>
                </a:solidFill>
              </a:rPr>
              <a:t>     for all </a:t>
            </a:r>
            <a:r>
              <a:rPr lang="en-US" sz="1800" dirty="0" err="1">
                <a:solidFill>
                  <a:schemeClr val="tx1"/>
                </a:solidFill>
              </a:rPr>
              <a:t>i</a:t>
            </a:r>
            <a:r>
              <a:rPr lang="en-US" sz="1800" dirty="0">
                <a:solidFill>
                  <a:schemeClr val="tx1"/>
                </a:solidFill>
              </a:rPr>
              <a:t> = 1 to </a:t>
            </a:r>
            <a:r>
              <a:rPr lang="en-US" sz="1800" dirty="0" smtClean="0">
                <a:solidFill>
                  <a:schemeClr val="tx1"/>
                </a:solidFill>
              </a:rPr>
              <a:t>P</a:t>
            </a:r>
            <a:r>
              <a:rPr lang="en-US" sz="1800" baseline="30000" dirty="0" smtClean="0">
                <a:solidFill>
                  <a:schemeClr val="tx1"/>
                </a:solidFill>
              </a:rPr>
              <a:t>1/2 </a:t>
            </a:r>
          </a:p>
          <a:p>
            <a:pPr algn="l">
              <a:spcBef>
                <a:spcPct val="25000"/>
              </a:spcBef>
            </a:pPr>
            <a:r>
              <a:rPr lang="en-US" sz="1800" baseline="30000" dirty="0">
                <a:solidFill>
                  <a:schemeClr val="tx1"/>
                </a:solidFill>
              </a:rPr>
              <a:t> </a:t>
            </a:r>
            <a:r>
              <a:rPr lang="en-US" sz="1800" dirty="0" smtClean="0">
                <a:solidFill>
                  <a:schemeClr val="tx1"/>
                </a:solidFill>
              </a:rPr>
              <a:t>             owner </a:t>
            </a:r>
            <a:r>
              <a:rPr lang="en-US" sz="1800" dirty="0">
                <a:solidFill>
                  <a:schemeClr val="tx1"/>
                </a:solidFill>
              </a:rPr>
              <a:t>of </a:t>
            </a:r>
            <a:r>
              <a:rPr lang="en-US" sz="1800" dirty="0">
                <a:solidFill>
                  <a:srgbClr val="FF0000"/>
                </a:solidFill>
              </a:rPr>
              <a:t>A(</a:t>
            </a:r>
            <a:r>
              <a:rPr lang="en-US" sz="1800" dirty="0" err="1">
                <a:solidFill>
                  <a:srgbClr val="FF0000"/>
                </a:solidFill>
              </a:rPr>
              <a:t>i,k</a:t>
            </a:r>
            <a:r>
              <a:rPr lang="en-US" sz="1800" dirty="0">
                <a:solidFill>
                  <a:srgbClr val="FF0000"/>
                </a:solidFill>
              </a:rPr>
              <a:t>)</a:t>
            </a:r>
            <a:r>
              <a:rPr lang="en-US" sz="1800" dirty="0">
                <a:solidFill>
                  <a:schemeClr val="tx1"/>
                </a:solidFill>
              </a:rPr>
              <a:t> broadcasts it to whole processor </a:t>
            </a:r>
            <a:r>
              <a:rPr lang="en-US" sz="1800" dirty="0" smtClean="0">
                <a:solidFill>
                  <a:schemeClr val="tx1"/>
                </a:solidFill>
              </a:rPr>
              <a:t>row (using binary tree)</a:t>
            </a:r>
            <a:endParaRPr lang="en-US" sz="1800" dirty="0">
              <a:solidFill>
                <a:schemeClr val="tx1"/>
              </a:solidFill>
            </a:endParaRPr>
          </a:p>
          <a:p>
            <a:pPr>
              <a:spcBef>
                <a:spcPct val="25000"/>
              </a:spcBef>
            </a:pPr>
            <a:r>
              <a:rPr lang="en-US" sz="1800" dirty="0">
                <a:solidFill>
                  <a:schemeClr val="tx1"/>
                </a:solidFill>
              </a:rPr>
              <a:t>               </a:t>
            </a:r>
            <a:r>
              <a:rPr lang="en-US" sz="1800" dirty="0">
                <a:solidFill>
                  <a:srgbClr val="660066"/>
                </a:solidFill>
              </a:rPr>
              <a:t>… </a:t>
            </a:r>
            <a:r>
              <a:rPr lang="en-US" sz="1800" dirty="0" smtClean="0">
                <a:solidFill>
                  <a:srgbClr val="660066"/>
                </a:solidFill>
              </a:rPr>
              <a:t>#words  </a:t>
            </a:r>
            <a:r>
              <a:rPr lang="en-US" sz="1800" dirty="0">
                <a:solidFill>
                  <a:srgbClr val="660066"/>
                </a:solidFill>
              </a:rPr>
              <a:t>= log P</a:t>
            </a:r>
            <a:r>
              <a:rPr lang="en-US" sz="1800" baseline="30000" dirty="0">
                <a:solidFill>
                  <a:srgbClr val="660066"/>
                </a:solidFill>
              </a:rPr>
              <a:t>1/2 </a:t>
            </a:r>
            <a:r>
              <a:rPr lang="en-US" sz="1800" dirty="0">
                <a:solidFill>
                  <a:srgbClr val="660066"/>
                </a:solidFill>
              </a:rPr>
              <a:t>*b*n/P</a:t>
            </a:r>
            <a:r>
              <a:rPr lang="en-US" sz="1800" baseline="30000" dirty="0">
                <a:solidFill>
                  <a:srgbClr val="660066"/>
                </a:solidFill>
              </a:rPr>
              <a:t>1/</a:t>
            </a:r>
            <a:r>
              <a:rPr lang="en-US" sz="1800" baseline="30000" dirty="0" smtClean="0">
                <a:solidFill>
                  <a:srgbClr val="660066"/>
                </a:solidFill>
              </a:rPr>
              <a:t>2  </a:t>
            </a:r>
            <a:r>
              <a:rPr lang="en-US" sz="1800" dirty="0" smtClean="0">
                <a:solidFill>
                  <a:srgbClr val="660066"/>
                </a:solidFill>
              </a:rPr>
              <a:t>,     </a:t>
            </a:r>
            <a:r>
              <a:rPr lang="en-US" sz="1800" dirty="0">
                <a:solidFill>
                  <a:srgbClr val="660066"/>
                </a:solidFill>
              </a:rPr>
              <a:t>#messages = log P</a:t>
            </a:r>
            <a:r>
              <a:rPr lang="en-US" sz="1800" baseline="30000" dirty="0">
                <a:solidFill>
                  <a:srgbClr val="660066"/>
                </a:solidFill>
              </a:rPr>
              <a:t>1/</a:t>
            </a:r>
            <a:r>
              <a:rPr lang="en-US" sz="1800" baseline="30000" dirty="0" smtClean="0">
                <a:solidFill>
                  <a:srgbClr val="660066"/>
                </a:solidFill>
              </a:rPr>
              <a:t>2</a:t>
            </a:r>
            <a:endParaRPr lang="en-US" sz="1800" dirty="0">
              <a:solidFill>
                <a:srgbClr val="660066"/>
              </a:solidFill>
            </a:endParaRPr>
          </a:p>
          <a:p>
            <a:pPr>
              <a:spcBef>
                <a:spcPct val="25000"/>
              </a:spcBef>
            </a:pPr>
            <a:r>
              <a:rPr lang="en-US" sz="1800" dirty="0" smtClean="0">
                <a:solidFill>
                  <a:schemeClr val="tx1"/>
                </a:solidFill>
              </a:rPr>
              <a:t>     for </a:t>
            </a:r>
            <a:r>
              <a:rPr lang="en-US" sz="1800" dirty="0">
                <a:solidFill>
                  <a:schemeClr val="tx1"/>
                </a:solidFill>
              </a:rPr>
              <a:t>all j = 1 to  </a:t>
            </a:r>
            <a:r>
              <a:rPr lang="en-US" sz="1800" dirty="0" smtClean="0">
                <a:solidFill>
                  <a:schemeClr val="tx1"/>
                </a:solidFill>
              </a:rPr>
              <a:t>P</a:t>
            </a:r>
            <a:r>
              <a:rPr lang="en-US" sz="1800" baseline="30000" dirty="0" smtClean="0">
                <a:solidFill>
                  <a:schemeClr val="tx1"/>
                </a:solidFill>
              </a:rPr>
              <a:t>1/2</a:t>
            </a:r>
            <a:endParaRPr lang="en-US" sz="1800" baseline="30000" dirty="0">
              <a:solidFill>
                <a:schemeClr val="tx1"/>
              </a:solidFill>
            </a:endParaRPr>
          </a:p>
          <a:p>
            <a:pPr algn="l">
              <a:spcBef>
                <a:spcPct val="25000"/>
              </a:spcBef>
            </a:pPr>
            <a:r>
              <a:rPr lang="en-US" sz="1800" dirty="0">
                <a:solidFill>
                  <a:schemeClr val="tx1"/>
                </a:solidFill>
              </a:rPr>
              <a:t>            owner of </a:t>
            </a:r>
            <a:r>
              <a:rPr lang="en-US" sz="1800" dirty="0">
                <a:solidFill>
                  <a:srgbClr val="0824F2"/>
                </a:solidFill>
              </a:rPr>
              <a:t>B(</a:t>
            </a:r>
            <a:r>
              <a:rPr lang="en-US" sz="1800" dirty="0" err="1">
                <a:solidFill>
                  <a:srgbClr val="0824F2"/>
                </a:solidFill>
              </a:rPr>
              <a:t>k,j</a:t>
            </a:r>
            <a:r>
              <a:rPr lang="en-US" sz="1800" dirty="0">
                <a:solidFill>
                  <a:srgbClr val="0824F2"/>
                </a:solidFill>
              </a:rPr>
              <a:t>)</a:t>
            </a:r>
            <a:r>
              <a:rPr lang="en-US" sz="1800" dirty="0">
                <a:solidFill>
                  <a:schemeClr val="tx1"/>
                </a:solidFill>
              </a:rPr>
              <a:t> broadcasts it to whole processor </a:t>
            </a:r>
            <a:r>
              <a:rPr lang="en-US" sz="1800" dirty="0" smtClean="0">
                <a:solidFill>
                  <a:schemeClr val="tx1"/>
                </a:solidFill>
              </a:rPr>
              <a:t>column (using bin. </a:t>
            </a:r>
            <a:r>
              <a:rPr lang="en-US" sz="1800" dirty="0">
                <a:solidFill>
                  <a:schemeClr val="tx1"/>
                </a:solidFill>
              </a:rPr>
              <a:t>t</a:t>
            </a:r>
            <a:r>
              <a:rPr lang="en-US" sz="1800" dirty="0" smtClean="0">
                <a:solidFill>
                  <a:schemeClr val="tx1"/>
                </a:solidFill>
              </a:rPr>
              <a:t>ree)</a:t>
            </a:r>
            <a:endParaRPr lang="en-US" sz="1800" dirty="0">
              <a:solidFill>
                <a:schemeClr val="tx1"/>
              </a:solidFill>
            </a:endParaRPr>
          </a:p>
          <a:p>
            <a:pPr algn="l">
              <a:spcBef>
                <a:spcPct val="25000"/>
              </a:spcBef>
            </a:pPr>
            <a:r>
              <a:rPr lang="en-US" sz="1800" dirty="0">
                <a:solidFill>
                  <a:schemeClr val="tx1"/>
                </a:solidFill>
              </a:rPr>
              <a:t>              </a:t>
            </a:r>
            <a:r>
              <a:rPr lang="en-US" sz="1800" dirty="0" smtClean="0">
                <a:solidFill>
                  <a:srgbClr val="660066"/>
                </a:solidFill>
              </a:rPr>
              <a:t>…  same #words and #messages</a:t>
            </a:r>
            <a:endParaRPr lang="en-US" sz="1800" dirty="0">
              <a:solidFill>
                <a:srgbClr val="660066"/>
              </a:solidFill>
            </a:endParaRPr>
          </a:p>
          <a:p>
            <a:pPr algn="l">
              <a:spcBef>
                <a:spcPct val="25000"/>
              </a:spcBef>
            </a:pPr>
            <a:r>
              <a:rPr lang="en-US" sz="1800" dirty="0">
                <a:solidFill>
                  <a:schemeClr val="tx1"/>
                </a:solidFill>
              </a:rPr>
              <a:t>     Receive </a:t>
            </a:r>
            <a:r>
              <a:rPr lang="en-US" sz="1800" dirty="0">
                <a:solidFill>
                  <a:srgbClr val="FF0000"/>
                </a:solidFill>
              </a:rPr>
              <a:t>A(</a:t>
            </a:r>
            <a:r>
              <a:rPr lang="en-US" sz="1800" dirty="0" err="1">
                <a:solidFill>
                  <a:srgbClr val="FF0000"/>
                </a:solidFill>
              </a:rPr>
              <a:t>i,k</a:t>
            </a:r>
            <a:r>
              <a:rPr lang="en-US" sz="1800" dirty="0">
                <a:solidFill>
                  <a:srgbClr val="FF0000"/>
                </a:solidFill>
              </a:rPr>
              <a:t>)</a:t>
            </a:r>
            <a:r>
              <a:rPr lang="en-US" sz="1800" dirty="0">
                <a:solidFill>
                  <a:schemeClr val="tx1"/>
                </a:solidFill>
              </a:rPr>
              <a:t> into </a:t>
            </a:r>
            <a:r>
              <a:rPr lang="en-US" sz="1800" dirty="0" err="1">
                <a:solidFill>
                  <a:srgbClr val="FF0000"/>
                </a:solidFill>
              </a:rPr>
              <a:t>Acol</a:t>
            </a:r>
            <a:endParaRPr lang="en-US" sz="1800" dirty="0">
              <a:solidFill>
                <a:srgbClr val="FF0000"/>
              </a:solidFill>
            </a:endParaRPr>
          </a:p>
          <a:p>
            <a:pPr algn="l">
              <a:spcBef>
                <a:spcPct val="25000"/>
              </a:spcBef>
            </a:pPr>
            <a:r>
              <a:rPr lang="en-US" sz="1800" dirty="0">
                <a:solidFill>
                  <a:schemeClr val="tx1"/>
                </a:solidFill>
              </a:rPr>
              <a:t>     Receive </a:t>
            </a:r>
            <a:r>
              <a:rPr lang="en-US" sz="1800" dirty="0">
                <a:solidFill>
                  <a:srgbClr val="0824F2"/>
                </a:solidFill>
              </a:rPr>
              <a:t>B(</a:t>
            </a:r>
            <a:r>
              <a:rPr lang="en-US" sz="1800" dirty="0" err="1">
                <a:solidFill>
                  <a:srgbClr val="0824F2"/>
                </a:solidFill>
              </a:rPr>
              <a:t>k,j</a:t>
            </a:r>
            <a:r>
              <a:rPr lang="en-US" sz="1800" dirty="0">
                <a:solidFill>
                  <a:srgbClr val="0824F2"/>
                </a:solidFill>
              </a:rPr>
              <a:t>)</a:t>
            </a:r>
            <a:r>
              <a:rPr lang="en-US" sz="1800" dirty="0">
                <a:solidFill>
                  <a:schemeClr val="tx1"/>
                </a:solidFill>
              </a:rPr>
              <a:t> into </a:t>
            </a:r>
            <a:r>
              <a:rPr lang="en-US" sz="1800" dirty="0">
                <a:solidFill>
                  <a:srgbClr val="0824F2"/>
                </a:solidFill>
              </a:rPr>
              <a:t>Brow</a:t>
            </a:r>
          </a:p>
          <a:p>
            <a:pPr algn="l">
              <a:spcBef>
                <a:spcPct val="25000"/>
              </a:spcBef>
            </a:pPr>
            <a:r>
              <a:rPr lang="en-US" sz="1800" dirty="0">
                <a:solidFill>
                  <a:schemeClr val="tx1"/>
                </a:solidFill>
              </a:rPr>
              <a:t>     </a:t>
            </a:r>
            <a:r>
              <a:rPr lang="en-US" sz="1800" dirty="0" err="1">
                <a:solidFill>
                  <a:srgbClr val="008000"/>
                </a:solidFill>
              </a:rPr>
              <a:t>C_myproc</a:t>
            </a:r>
            <a:r>
              <a:rPr lang="en-US" sz="1800" dirty="0">
                <a:solidFill>
                  <a:schemeClr val="tx1"/>
                </a:solidFill>
              </a:rPr>
              <a:t> = </a:t>
            </a:r>
            <a:r>
              <a:rPr lang="en-US" sz="1800" dirty="0" err="1">
                <a:solidFill>
                  <a:srgbClr val="008000"/>
                </a:solidFill>
              </a:rPr>
              <a:t>C_myproc</a:t>
            </a:r>
            <a:r>
              <a:rPr lang="en-US" sz="1800" dirty="0">
                <a:solidFill>
                  <a:schemeClr val="tx1"/>
                </a:solidFill>
              </a:rPr>
              <a:t> + </a:t>
            </a:r>
            <a:r>
              <a:rPr lang="en-US" sz="1800" dirty="0" err="1">
                <a:solidFill>
                  <a:srgbClr val="FF0000"/>
                </a:solidFill>
              </a:rPr>
              <a:t>Acol</a:t>
            </a:r>
            <a:r>
              <a:rPr lang="en-US" sz="1800" dirty="0">
                <a:solidFill>
                  <a:schemeClr val="tx1"/>
                </a:solidFill>
              </a:rPr>
              <a:t> * </a:t>
            </a:r>
            <a:r>
              <a:rPr lang="en-US" sz="1800" dirty="0" smtClean="0">
                <a:solidFill>
                  <a:srgbClr val="0824F2"/>
                </a:solidFill>
              </a:rPr>
              <a:t>Brow</a:t>
            </a:r>
          </a:p>
        </p:txBody>
      </p:sp>
      <p:sp>
        <p:nvSpPr>
          <p:cNvPr id="60421" name="Text Box 4"/>
          <p:cNvSpPr txBox="1">
            <a:spLocks noChangeArrowheads="1"/>
          </p:cNvSpPr>
          <p:nvPr/>
        </p:nvSpPr>
        <p:spPr bwMode="auto">
          <a:xfrm>
            <a:off x="685800" y="4648200"/>
            <a:ext cx="7866256"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marL="230188" indent="-230188">
              <a:defRPr sz="2000" b="1">
                <a:solidFill>
                  <a:schemeClr val="accent1"/>
                </a:solidFill>
                <a:latin typeface="Arial" pitchFamily="34" charset="0"/>
                <a:ea typeface="MS PGothic" pitchFamily="34" charset="-128"/>
              </a:defRPr>
            </a:lvl1pPr>
            <a:lvl2pPr marL="742950" indent="-285750">
              <a:defRPr sz="2000" b="1">
                <a:solidFill>
                  <a:schemeClr val="accent1"/>
                </a:solidFill>
                <a:latin typeface="Arial" pitchFamily="34" charset="0"/>
                <a:ea typeface="MS PGothic" pitchFamily="34" charset="-128"/>
              </a:defRPr>
            </a:lvl2pPr>
            <a:lvl3pPr marL="1143000" indent="-228600">
              <a:defRPr sz="2000" b="1">
                <a:solidFill>
                  <a:schemeClr val="accent1"/>
                </a:solidFill>
                <a:latin typeface="Arial" pitchFamily="34" charset="0"/>
                <a:ea typeface="MS PGothic" pitchFamily="34" charset="-128"/>
              </a:defRPr>
            </a:lvl3pPr>
            <a:lvl4pPr marL="1600200" indent="-228600">
              <a:defRPr sz="2000" b="1">
                <a:solidFill>
                  <a:schemeClr val="accent1"/>
                </a:solidFill>
                <a:latin typeface="Arial" pitchFamily="34" charset="0"/>
                <a:ea typeface="MS PGothic" pitchFamily="34" charset="-128"/>
              </a:defRPr>
            </a:lvl4pPr>
            <a:lvl5pPr marL="2057400" indent="-228600">
              <a:defRPr sz="2000" b="1">
                <a:solidFill>
                  <a:schemeClr val="accent1"/>
                </a:solidFill>
                <a:latin typeface="Arial" pitchFamily="34" charset="0"/>
                <a:ea typeface="MS PGothic" pitchFamily="34" charset="-128"/>
              </a:defRPr>
            </a:lvl5pPr>
            <a:lvl6pPr marL="25146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6pPr>
            <a:lvl7pPr marL="29718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7pPr>
            <a:lvl8pPr marL="34290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8pPr>
            <a:lvl9pPr marL="38862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9pPr>
          </a:lstStyle>
          <a:p>
            <a:pPr>
              <a:buFontTx/>
              <a:buChar char="°"/>
            </a:pPr>
            <a:r>
              <a:rPr lang="en-US" dirty="0">
                <a:solidFill>
                  <a:schemeClr val="tx1"/>
                </a:solidFill>
                <a:latin typeface="Helvetica" charset="0"/>
              </a:rPr>
              <a:t>Total #words        = log </a:t>
            </a:r>
            <a:r>
              <a:rPr lang="en-US" dirty="0" smtClean="0">
                <a:solidFill>
                  <a:schemeClr val="tx1"/>
                </a:solidFill>
                <a:latin typeface="Helvetica" charset="0"/>
              </a:rPr>
              <a:t>P </a:t>
            </a:r>
            <a:r>
              <a:rPr lang="en-US" dirty="0">
                <a:solidFill>
                  <a:schemeClr val="tx1"/>
                </a:solidFill>
                <a:latin typeface="Helvetica" charset="0"/>
              </a:rPr>
              <a:t>* n</a:t>
            </a:r>
            <a:r>
              <a:rPr lang="en-US" sz="2400" baseline="18000" dirty="0">
                <a:solidFill>
                  <a:schemeClr val="tx1"/>
                </a:solidFill>
                <a:latin typeface="Helvetica" charset="0"/>
              </a:rPr>
              <a:t>2</a:t>
            </a:r>
            <a:r>
              <a:rPr lang="en-US" dirty="0">
                <a:solidFill>
                  <a:schemeClr val="tx1"/>
                </a:solidFill>
                <a:latin typeface="Helvetica" charset="0"/>
              </a:rPr>
              <a:t> /P</a:t>
            </a:r>
            <a:r>
              <a:rPr lang="en-US" sz="2400" baseline="30000" dirty="0">
                <a:solidFill>
                  <a:schemeClr val="tx1"/>
                </a:solidFill>
                <a:latin typeface="Helvetica" charset="0"/>
              </a:rPr>
              <a:t>1/2</a:t>
            </a:r>
          </a:p>
          <a:p>
            <a:pPr lvl="1">
              <a:buFontTx/>
              <a:buChar char="°"/>
            </a:pPr>
            <a:r>
              <a:rPr lang="en-US" dirty="0" smtClean="0">
                <a:solidFill>
                  <a:schemeClr val="tx1"/>
                </a:solidFill>
                <a:latin typeface="Helvetica" charset="0"/>
              </a:rPr>
              <a:t>Within factor of log P of lower </a:t>
            </a:r>
            <a:r>
              <a:rPr lang="en-US" dirty="0" smtClean="0">
                <a:solidFill>
                  <a:schemeClr val="tx1"/>
                </a:solidFill>
                <a:latin typeface="Helvetica" charset="0"/>
              </a:rPr>
              <a:t>bound</a:t>
            </a:r>
          </a:p>
          <a:p>
            <a:pPr lvl="1">
              <a:buFontTx/>
              <a:buChar char="°"/>
            </a:pPr>
            <a:r>
              <a:rPr lang="en-US" dirty="0" smtClean="0">
                <a:solidFill>
                  <a:schemeClr val="tx1"/>
                </a:solidFill>
                <a:latin typeface="Helvetica" charset="0"/>
              </a:rPr>
              <a:t>(more complicated implementation removes log P factor)</a:t>
            </a:r>
            <a:endParaRPr lang="en-US" dirty="0" smtClean="0">
              <a:solidFill>
                <a:schemeClr val="tx1"/>
              </a:solidFill>
              <a:latin typeface="Helvetica" charset="0"/>
            </a:endParaRPr>
          </a:p>
          <a:p>
            <a:pPr>
              <a:buFontTx/>
              <a:buChar char="°"/>
            </a:pPr>
            <a:r>
              <a:rPr lang="en-US" dirty="0" smtClean="0">
                <a:solidFill>
                  <a:schemeClr val="tx1"/>
                </a:solidFill>
                <a:latin typeface="Helvetica" charset="0"/>
              </a:rPr>
              <a:t>Total #messages </a:t>
            </a:r>
            <a:r>
              <a:rPr lang="en-US" dirty="0">
                <a:solidFill>
                  <a:schemeClr val="tx1"/>
                </a:solidFill>
                <a:latin typeface="Helvetica" charset="0"/>
              </a:rPr>
              <a:t>= </a:t>
            </a:r>
            <a:r>
              <a:rPr lang="en-US" dirty="0" smtClean="0">
                <a:solidFill>
                  <a:schemeClr val="tx1"/>
                </a:solidFill>
                <a:latin typeface="Helvetica" charset="0"/>
              </a:rPr>
              <a:t>log </a:t>
            </a:r>
            <a:r>
              <a:rPr lang="en-US" dirty="0">
                <a:solidFill>
                  <a:schemeClr val="tx1"/>
                </a:solidFill>
                <a:latin typeface="Helvetica" charset="0"/>
              </a:rPr>
              <a:t>P</a:t>
            </a:r>
            <a:r>
              <a:rPr lang="en-US" dirty="0" smtClean="0">
                <a:solidFill>
                  <a:schemeClr val="tx1"/>
                </a:solidFill>
                <a:latin typeface="Helvetica" charset="0"/>
              </a:rPr>
              <a:t> </a:t>
            </a:r>
            <a:r>
              <a:rPr lang="en-US" dirty="0">
                <a:solidFill>
                  <a:schemeClr val="tx1"/>
                </a:solidFill>
                <a:latin typeface="Helvetica" charset="0"/>
              </a:rPr>
              <a:t>* n/</a:t>
            </a:r>
            <a:r>
              <a:rPr lang="en-US" dirty="0" smtClean="0">
                <a:solidFill>
                  <a:schemeClr val="tx1"/>
                </a:solidFill>
                <a:latin typeface="Helvetica" charset="0"/>
              </a:rPr>
              <a:t>b</a:t>
            </a:r>
          </a:p>
          <a:p>
            <a:pPr lvl="1">
              <a:buFontTx/>
              <a:buChar char="°"/>
            </a:pPr>
            <a:r>
              <a:rPr lang="en-US" dirty="0" smtClean="0">
                <a:solidFill>
                  <a:schemeClr val="tx1"/>
                </a:solidFill>
                <a:latin typeface="Helvetica" charset="0"/>
              </a:rPr>
              <a:t>Choose b close to maximum, n/P</a:t>
            </a:r>
            <a:r>
              <a:rPr lang="en-US" sz="2400" baseline="30000" dirty="0" smtClean="0">
                <a:solidFill>
                  <a:schemeClr val="tx1"/>
                </a:solidFill>
                <a:latin typeface="Helvetica" charset="0"/>
              </a:rPr>
              <a:t>1/2</a:t>
            </a:r>
            <a:r>
              <a:rPr lang="en-US" dirty="0" smtClean="0">
                <a:solidFill>
                  <a:schemeClr val="tx1"/>
                </a:solidFill>
                <a:latin typeface="Helvetica" charset="0"/>
              </a:rPr>
              <a:t>,   </a:t>
            </a:r>
          </a:p>
          <a:p>
            <a:pPr marL="457200" lvl="1" indent="0"/>
            <a:r>
              <a:rPr lang="en-US" dirty="0">
                <a:solidFill>
                  <a:schemeClr val="tx1"/>
                </a:solidFill>
                <a:latin typeface="Helvetica" charset="0"/>
              </a:rPr>
              <a:t> </a:t>
            </a:r>
            <a:r>
              <a:rPr lang="en-US" dirty="0" smtClean="0">
                <a:solidFill>
                  <a:schemeClr val="tx1"/>
                </a:solidFill>
                <a:latin typeface="Helvetica" charset="0"/>
              </a:rPr>
              <a:t>   to approach lower bound P</a:t>
            </a:r>
            <a:r>
              <a:rPr lang="en-US" sz="2400" baseline="30000" dirty="0" smtClean="0">
                <a:solidFill>
                  <a:schemeClr val="tx1"/>
                </a:solidFill>
                <a:latin typeface="Helvetica" charset="0"/>
              </a:rPr>
              <a:t>1/2</a:t>
            </a:r>
          </a:p>
        </p:txBody>
      </p:sp>
    </p:spTree>
    <p:extLst>
      <p:ext uri="{BB962C8B-B14F-4D97-AF65-F5344CB8AC3E}">
        <p14:creationId xmlns:p14="http://schemas.microsoft.com/office/powerpoint/2010/main" val="2235233415"/>
      </p:ext>
    </p:extLst>
  </p:cSld>
  <p:clrMapOvr>
    <a:masterClrMapping/>
  </p:clrMapOvr>
  <p:timing>
    <p:tnLst>
      <p:par>
        <p:cTn xmlns:p14="http://schemas.microsoft.com/office/powerpoint/2010/mai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Number Placeholder 5"/>
          <p:cNvSpPr>
            <a:spLocks noGrp="1"/>
          </p:cNvSpPr>
          <p:nvPr>
            <p:ph type="sldNum" sz="quarter" idx="11"/>
          </p:nvPr>
        </p:nvSpPr>
        <p:spPr>
          <a:xfrm>
            <a:off x="6804025" y="6135688"/>
            <a:ext cx="19050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chemeClr val="accent1"/>
                </a:solidFill>
                <a:latin typeface="Arial" pitchFamily="34" charset="0"/>
                <a:ea typeface="MS PGothic" pitchFamily="34" charset="-128"/>
              </a:defRPr>
            </a:lvl1pPr>
            <a:lvl2pPr marL="742950" indent="-285750">
              <a:defRPr sz="2000" b="1">
                <a:solidFill>
                  <a:schemeClr val="accent1"/>
                </a:solidFill>
                <a:latin typeface="Arial" pitchFamily="34" charset="0"/>
                <a:ea typeface="MS PGothic" pitchFamily="34" charset="-128"/>
              </a:defRPr>
            </a:lvl2pPr>
            <a:lvl3pPr marL="1143000" indent="-228600">
              <a:defRPr sz="2000" b="1">
                <a:solidFill>
                  <a:schemeClr val="accent1"/>
                </a:solidFill>
                <a:latin typeface="Arial" pitchFamily="34" charset="0"/>
                <a:ea typeface="MS PGothic" pitchFamily="34" charset="-128"/>
              </a:defRPr>
            </a:lvl3pPr>
            <a:lvl4pPr marL="1600200" indent="-228600">
              <a:defRPr sz="2000" b="1">
                <a:solidFill>
                  <a:schemeClr val="accent1"/>
                </a:solidFill>
                <a:latin typeface="Arial" pitchFamily="34" charset="0"/>
                <a:ea typeface="MS PGothic" pitchFamily="34" charset="-128"/>
              </a:defRPr>
            </a:lvl4pPr>
            <a:lvl5pPr marL="2057400" indent="-228600">
              <a:defRPr sz="2000" b="1">
                <a:solidFill>
                  <a:schemeClr val="accent1"/>
                </a:solidFill>
                <a:latin typeface="Arial" pitchFamily="34" charset="0"/>
                <a:ea typeface="MS PGothic" pitchFamily="34" charset="-128"/>
              </a:defRPr>
            </a:lvl5pPr>
            <a:lvl6pPr marL="25146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6pPr>
            <a:lvl7pPr marL="29718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7pPr>
            <a:lvl8pPr marL="34290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8pPr>
            <a:lvl9pPr marL="3886200" indent="-228600" algn="l" rtl="0" eaLnBrk="0" fontAlgn="base" hangingPunct="0">
              <a:spcBef>
                <a:spcPct val="0"/>
              </a:spcBef>
              <a:spcAft>
                <a:spcPct val="0"/>
              </a:spcAft>
              <a:defRPr sz="2000" b="1">
                <a:solidFill>
                  <a:schemeClr val="accent1"/>
                </a:solidFill>
                <a:latin typeface="Arial" pitchFamily="34" charset="0"/>
                <a:ea typeface="MS PGothic" pitchFamily="34" charset="-128"/>
              </a:defRPr>
            </a:lvl9pPr>
          </a:lstStyle>
          <a:p>
            <a:pPr algn="ctr"/>
            <a:fld id="{81AAB147-9212-45FA-BEAC-133A8920D387}" type="slidenum">
              <a:rPr lang="en-US" sz="1400" b="0" smtClean="0">
                <a:solidFill>
                  <a:schemeClr val="tx1"/>
                </a:solidFill>
                <a:latin typeface="Helvetica" charset="0"/>
              </a:rPr>
              <a:pPr algn="ctr"/>
              <a:t>25</a:t>
            </a:fld>
            <a:endParaRPr lang="en-US" sz="1400" b="0" smtClean="0">
              <a:solidFill>
                <a:schemeClr val="tx1"/>
              </a:solidFill>
              <a:latin typeface="Helvetica" charset="0"/>
            </a:endParaRPr>
          </a:p>
        </p:txBody>
      </p:sp>
      <p:sp>
        <p:nvSpPr>
          <p:cNvPr id="57347" name="Rectangle 2"/>
          <p:cNvSpPr>
            <a:spLocks noGrp="1" noChangeArrowheads="1"/>
          </p:cNvSpPr>
          <p:nvPr>
            <p:ph type="title"/>
          </p:nvPr>
        </p:nvSpPr>
        <p:spPr>
          <a:xfrm>
            <a:off x="381000" y="304800"/>
            <a:ext cx="8058150" cy="422275"/>
          </a:xfrm>
        </p:spPr>
        <p:txBody>
          <a:bodyPr>
            <a:normAutofit fontScale="90000"/>
          </a:bodyPr>
          <a:lstStyle/>
          <a:p>
            <a:r>
              <a:rPr lang="en-US" dirty="0" smtClean="0"/>
              <a:t>Can we do better? </a:t>
            </a:r>
          </a:p>
        </p:txBody>
      </p:sp>
      <p:sp>
        <p:nvSpPr>
          <p:cNvPr id="57348" name="Rectangle 3"/>
          <p:cNvSpPr>
            <a:spLocks noGrp="1" noChangeArrowheads="1"/>
          </p:cNvSpPr>
          <p:nvPr>
            <p:ph type="body" idx="1"/>
          </p:nvPr>
        </p:nvSpPr>
        <p:spPr>
          <a:xfrm>
            <a:off x="381000" y="914400"/>
            <a:ext cx="8482013" cy="5008563"/>
          </a:xfrm>
        </p:spPr>
        <p:txBody>
          <a:bodyPr>
            <a:normAutofit/>
          </a:bodyPr>
          <a:lstStyle/>
          <a:p>
            <a:r>
              <a:rPr lang="en-US" sz="2400" dirty="0" smtClean="0"/>
              <a:t>Lower bound assumed 1 copy of data:  M </a:t>
            </a:r>
            <a:r>
              <a:rPr lang="en-US" sz="2400" dirty="0"/>
              <a:t>= O(n</a:t>
            </a:r>
            <a:r>
              <a:rPr lang="en-US" sz="2400" baseline="30000" dirty="0"/>
              <a:t>2</a:t>
            </a:r>
            <a:r>
              <a:rPr lang="en-US" sz="2400" dirty="0"/>
              <a:t>/P) per </a:t>
            </a:r>
            <a:r>
              <a:rPr lang="en-US" sz="2400" dirty="0" smtClean="0"/>
              <a:t>proc.</a:t>
            </a:r>
          </a:p>
          <a:p>
            <a:r>
              <a:rPr lang="en-US" sz="2400" dirty="0" smtClean="0"/>
              <a:t>What if matrix small enough to fit c&gt;1 copies, so M </a:t>
            </a:r>
            <a:r>
              <a:rPr lang="en-US" sz="2400" dirty="0"/>
              <a:t>= </a:t>
            </a:r>
            <a:r>
              <a:rPr lang="en-US" sz="2400" dirty="0" smtClean="0"/>
              <a:t>cn</a:t>
            </a:r>
            <a:r>
              <a:rPr lang="en-US" sz="2400" baseline="30000" dirty="0" smtClean="0"/>
              <a:t>2</a:t>
            </a:r>
            <a:r>
              <a:rPr lang="en-US" sz="2400" dirty="0"/>
              <a:t>/</a:t>
            </a:r>
            <a:r>
              <a:rPr lang="en-US" sz="2400" dirty="0" smtClean="0"/>
              <a:t>P ? </a:t>
            </a:r>
          </a:p>
          <a:p>
            <a:pPr lvl="1"/>
            <a:r>
              <a:rPr lang="en-US" sz="2400" dirty="0" smtClean="0"/>
              <a:t>#</a:t>
            </a:r>
            <a:r>
              <a:rPr lang="en-US" sz="2400" dirty="0" err="1" smtClean="0"/>
              <a:t>words_moved</a:t>
            </a:r>
            <a:r>
              <a:rPr lang="en-US" sz="2400" dirty="0" smtClean="0"/>
              <a:t> = </a:t>
            </a:r>
            <a:r>
              <a:rPr lang="en-US" sz="2400" dirty="0" err="1" smtClean="0"/>
              <a:t>Ω</a:t>
            </a:r>
            <a:r>
              <a:rPr lang="en-US" sz="2400" dirty="0" smtClean="0"/>
              <a:t>( #flops / M</a:t>
            </a:r>
            <a:r>
              <a:rPr lang="en-US" sz="2400" baseline="30000" dirty="0" smtClean="0"/>
              <a:t>1/2</a:t>
            </a:r>
            <a:r>
              <a:rPr lang="en-US" sz="2400" dirty="0" smtClean="0"/>
              <a:t> )  = </a:t>
            </a:r>
            <a:r>
              <a:rPr lang="en-US" sz="2400" dirty="0" err="1" smtClean="0"/>
              <a:t>Ω</a:t>
            </a:r>
            <a:r>
              <a:rPr lang="en-US" sz="2400" dirty="0"/>
              <a:t>( </a:t>
            </a:r>
            <a:r>
              <a:rPr lang="en-US" sz="2400" dirty="0" smtClean="0"/>
              <a:t> n</a:t>
            </a:r>
            <a:r>
              <a:rPr lang="en-US" sz="2400" baseline="30000" dirty="0" smtClean="0"/>
              <a:t>2 </a:t>
            </a:r>
            <a:r>
              <a:rPr lang="en-US" sz="2400" dirty="0" smtClean="0"/>
              <a:t>/ ( c</a:t>
            </a:r>
            <a:r>
              <a:rPr lang="en-US" sz="2400" baseline="30000" dirty="0" smtClean="0"/>
              <a:t>1/2 </a:t>
            </a:r>
            <a:r>
              <a:rPr lang="en-US" sz="2400" dirty="0" smtClean="0"/>
              <a:t>P</a:t>
            </a:r>
            <a:r>
              <a:rPr lang="en-US" sz="2400" baseline="30000" dirty="0" smtClean="0"/>
              <a:t>1</a:t>
            </a:r>
            <a:r>
              <a:rPr lang="en-US" sz="2400" baseline="30000" dirty="0"/>
              <a:t>/2</a:t>
            </a:r>
            <a:r>
              <a:rPr lang="en-US" sz="2400" dirty="0"/>
              <a:t> </a:t>
            </a:r>
            <a:r>
              <a:rPr lang="en-US" sz="2400" dirty="0" smtClean="0"/>
              <a:t>))</a:t>
            </a:r>
          </a:p>
          <a:p>
            <a:pPr lvl="1"/>
            <a:r>
              <a:rPr lang="en-US" sz="2400" dirty="0" smtClean="0"/>
              <a:t>#messages         </a:t>
            </a:r>
            <a:r>
              <a:rPr lang="en-US" sz="2400" dirty="0"/>
              <a:t>= </a:t>
            </a:r>
            <a:r>
              <a:rPr lang="en-US" sz="2400" dirty="0" err="1"/>
              <a:t>Ω</a:t>
            </a:r>
            <a:r>
              <a:rPr lang="en-US" sz="2400" dirty="0"/>
              <a:t>( #flops / </a:t>
            </a:r>
            <a:r>
              <a:rPr lang="en-US" sz="2400" dirty="0" smtClean="0"/>
              <a:t>M</a:t>
            </a:r>
            <a:r>
              <a:rPr lang="en-US" sz="2400" baseline="30000" dirty="0" smtClean="0"/>
              <a:t>3/</a:t>
            </a:r>
            <a:r>
              <a:rPr lang="en-US" sz="2400" baseline="30000" dirty="0"/>
              <a:t>2</a:t>
            </a:r>
            <a:r>
              <a:rPr lang="en-US" sz="2400" dirty="0"/>
              <a:t> </a:t>
            </a:r>
            <a:r>
              <a:rPr lang="en-US" sz="2400" dirty="0" smtClean="0"/>
              <a:t>)  </a:t>
            </a:r>
            <a:r>
              <a:rPr lang="en-US" sz="2400" dirty="0"/>
              <a:t>= </a:t>
            </a:r>
            <a:r>
              <a:rPr lang="en-US" sz="2400" dirty="0" err="1" smtClean="0"/>
              <a:t>Ω</a:t>
            </a:r>
            <a:r>
              <a:rPr lang="en-US" sz="2400" dirty="0"/>
              <a:t>( </a:t>
            </a:r>
            <a:r>
              <a:rPr lang="en-US" sz="2400" dirty="0" smtClean="0"/>
              <a:t> </a:t>
            </a:r>
            <a:r>
              <a:rPr lang="en-US" sz="2400" dirty="0"/>
              <a:t>P</a:t>
            </a:r>
            <a:r>
              <a:rPr lang="en-US" sz="2400" baseline="30000" dirty="0"/>
              <a:t>1/2</a:t>
            </a:r>
            <a:r>
              <a:rPr lang="en-US" sz="2400" dirty="0"/>
              <a:t> </a:t>
            </a:r>
            <a:r>
              <a:rPr lang="en-US" sz="2400" dirty="0" smtClean="0"/>
              <a:t>/c</a:t>
            </a:r>
            <a:r>
              <a:rPr lang="en-US" sz="2400" baseline="30000" dirty="0" smtClean="0"/>
              <a:t>3/2</a:t>
            </a:r>
            <a:r>
              <a:rPr lang="en-US" sz="2400" dirty="0" smtClean="0"/>
              <a:t>)</a:t>
            </a:r>
          </a:p>
          <a:p>
            <a:r>
              <a:rPr lang="en-US" sz="2400" dirty="0" smtClean="0"/>
              <a:t>Can we attain new lower bound?</a:t>
            </a:r>
          </a:p>
          <a:p>
            <a:pPr lvl="1"/>
            <a:r>
              <a:rPr lang="en-US" sz="2400" dirty="0" smtClean="0"/>
              <a:t>Special case: “3D </a:t>
            </a:r>
            <a:r>
              <a:rPr lang="en-US" sz="2400" dirty="0" err="1" smtClean="0"/>
              <a:t>Matmul</a:t>
            </a:r>
            <a:r>
              <a:rPr lang="en-US" sz="2400" dirty="0" smtClean="0"/>
              <a:t>”:  c = P</a:t>
            </a:r>
            <a:r>
              <a:rPr lang="en-US" sz="2400" baseline="30000" dirty="0" smtClean="0"/>
              <a:t>1/6</a:t>
            </a:r>
          </a:p>
          <a:p>
            <a:pPr lvl="2"/>
            <a:r>
              <a:rPr lang="en-US" dirty="0" err="1" smtClean="0"/>
              <a:t>Bernsten</a:t>
            </a:r>
            <a:r>
              <a:rPr lang="en-US" dirty="0" smtClean="0"/>
              <a:t> 89, </a:t>
            </a:r>
            <a:r>
              <a:rPr lang="en-US" dirty="0" err="1" smtClean="0"/>
              <a:t>Agarwal</a:t>
            </a:r>
            <a:r>
              <a:rPr lang="en-US" dirty="0" smtClean="0"/>
              <a:t>, Chandra, </a:t>
            </a:r>
            <a:r>
              <a:rPr lang="en-US" dirty="0" err="1" smtClean="0"/>
              <a:t>Snir</a:t>
            </a:r>
            <a:r>
              <a:rPr lang="en-US" dirty="0" smtClean="0"/>
              <a:t> 90, </a:t>
            </a:r>
            <a:r>
              <a:rPr lang="en-US" dirty="0" err="1" smtClean="0"/>
              <a:t>Aggarwal</a:t>
            </a:r>
            <a:r>
              <a:rPr lang="en-US" dirty="0" smtClean="0"/>
              <a:t> 95</a:t>
            </a:r>
          </a:p>
          <a:p>
            <a:pPr lvl="2"/>
            <a:r>
              <a:rPr lang="en-US" dirty="0" smtClean="0"/>
              <a:t>Processors arranged in P</a:t>
            </a:r>
            <a:r>
              <a:rPr lang="en-US" baseline="30000" dirty="0" smtClean="0"/>
              <a:t>1/3 </a:t>
            </a:r>
            <a:r>
              <a:rPr lang="en-US" dirty="0" smtClean="0"/>
              <a:t>x </a:t>
            </a:r>
            <a:r>
              <a:rPr lang="en-US" dirty="0"/>
              <a:t>P</a:t>
            </a:r>
            <a:r>
              <a:rPr lang="en-US" baseline="30000" dirty="0"/>
              <a:t>1/3 </a:t>
            </a:r>
            <a:r>
              <a:rPr lang="en-US" dirty="0"/>
              <a:t>x P</a:t>
            </a:r>
            <a:r>
              <a:rPr lang="en-US" baseline="30000" dirty="0"/>
              <a:t>1/3 </a:t>
            </a:r>
            <a:r>
              <a:rPr lang="en-US" dirty="0"/>
              <a:t> </a:t>
            </a:r>
            <a:r>
              <a:rPr lang="en-US" dirty="0" smtClean="0"/>
              <a:t>grid</a:t>
            </a:r>
          </a:p>
          <a:p>
            <a:pPr lvl="2"/>
            <a:r>
              <a:rPr lang="en-US" dirty="0" smtClean="0"/>
              <a:t>Processor (</a:t>
            </a:r>
            <a:r>
              <a:rPr lang="en-US" dirty="0" err="1"/>
              <a:t>i</a:t>
            </a:r>
            <a:r>
              <a:rPr lang="en-US" dirty="0" err="1" smtClean="0"/>
              <a:t>,j,k</a:t>
            </a:r>
            <a:r>
              <a:rPr lang="en-US" dirty="0" smtClean="0"/>
              <a:t>) performs C(</a:t>
            </a:r>
            <a:r>
              <a:rPr lang="en-US" dirty="0" err="1"/>
              <a:t>i</a:t>
            </a:r>
            <a:r>
              <a:rPr lang="en-US" dirty="0" err="1" smtClean="0"/>
              <a:t>,j</a:t>
            </a:r>
            <a:r>
              <a:rPr lang="en-US" dirty="0" smtClean="0"/>
              <a:t>) = C(</a:t>
            </a:r>
            <a:r>
              <a:rPr lang="en-US" dirty="0" err="1"/>
              <a:t>i</a:t>
            </a:r>
            <a:r>
              <a:rPr lang="en-US" dirty="0" err="1" smtClean="0"/>
              <a:t>,j</a:t>
            </a:r>
            <a:r>
              <a:rPr lang="en-US" dirty="0" smtClean="0"/>
              <a:t>) + A(</a:t>
            </a:r>
            <a:r>
              <a:rPr lang="en-US" dirty="0" err="1"/>
              <a:t>i</a:t>
            </a:r>
            <a:r>
              <a:rPr lang="en-US" dirty="0" err="1" smtClean="0"/>
              <a:t>,k</a:t>
            </a:r>
            <a:r>
              <a:rPr lang="en-US" dirty="0" smtClean="0"/>
              <a:t>)*B(</a:t>
            </a:r>
            <a:r>
              <a:rPr lang="en-US" dirty="0" err="1" smtClean="0"/>
              <a:t>k,j</a:t>
            </a:r>
            <a:r>
              <a:rPr lang="en-US" dirty="0" smtClean="0"/>
              <a:t>),  where each </a:t>
            </a:r>
            <a:r>
              <a:rPr lang="en-US" dirty="0" err="1" smtClean="0"/>
              <a:t>submatrix</a:t>
            </a:r>
            <a:r>
              <a:rPr lang="en-US" dirty="0" smtClean="0"/>
              <a:t> is n/P</a:t>
            </a:r>
            <a:r>
              <a:rPr lang="en-US" baseline="30000" dirty="0" smtClean="0"/>
              <a:t>1/3 </a:t>
            </a:r>
            <a:r>
              <a:rPr lang="en-US" dirty="0" smtClean="0"/>
              <a:t>x </a:t>
            </a:r>
            <a:r>
              <a:rPr lang="en-US" dirty="0"/>
              <a:t>n/P</a:t>
            </a:r>
            <a:r>
              <a:rPr lang="en-US" baseline="30000" dirty="0"/>
              <a:t>1/</a:t>
            </a:r>
            <a:r>
              <a:rPr lang="en-US" baseline="30000" dirty="0" smtClean="0"/>
              <a:t>3</a:t>
            </a:r>
          </a:p>
          <a:p>
            <a:pPr lvl="1"/>
            <a:r>
              <a:rPr lang="en-US" sz="2400" dirty="0" smtClean="0"/>
              <a:t>Not always that much memory available…</a:t>
            </a:r>
          </a:p>
        </p:txBody>
      </p:sp>
    </p:spTree>
    <p:extLst>
      <p:ext uri="{BB962C8B-B14F-4D97-AF65-F5344CB8AC3E}">
        <p14:creationId xmlns:p14="http://schemas.microsoft.com/office/powerpoint/2010/main" val="2723162797"/>
      </p:ext>
    </p:extLst>
  </p:cSld>
  <p:clrMapOvr>
    <a:masterClrMapping/>
  </p:clrMapOvr>
  <p:timing>
    <p:tnLst>
      <p:par>
        <p:cTn xmlns:p14="http://schemas.microsoft.com/office/powerpoint/2010/mai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2.5D Matrix Multiplication </a:t>
            </a:r>
            <a:endParaRPr lang="en-US" dirty="0"/>
          </a:p>
        </p:txBody>
      </p:sp>
      <p:sp>
        <p:nvSpPr>
          <p:cNvPr id="3" name="Content Placeholder 2"/>
          <p:cNvSpPr>
            <a:spLocks noGrp="1"/>
          </p:cNvSpPr>
          <p:nvPr>
            <p:ph idx="1"/>
          </p:nvPr>
        </p:nvSpPr>
        <p:spPr>
          <a:xfrm>
            <a:off x="457200" y="1600201"/>
            <a:ext cx="8229600" cy="1219200"/>
          </a:xfrm>
        </p:spPr>
        <p:txBody>
          <a:bodyPr/>
          <a:lstStyle/>
          <a:p>
            <a:r>
              <a:rPr lang="en-US" dirty="0" smtClean="0"/>
              <a:t>Assume can fit cn</a:t>
            </a:r>
            <a:r>
              <a:rPr lang="en-US" baseline="30000" dirty="0" smtClean="0"/>
              <a:t>2</a:t>
            </a:r>
            <a:r>
              <a:rPr lang="en-US" dirty="0" smtClean="0"/>
              <a:t>/P data per processor, c&gt;1</a:t>
            </a:r>
          </a:p>
          <a:p>
            <a:r>
              <a:rPr lang="en-US" dirty="0" smtClean="0"/>
              <a:t>Processors form (P/c)</a:t>
            </a:r>
            <a:r>
              <a:rPr lang="en-US" baseline="30000" dirty="0" smtClean="0"/>
              <a:t>1/2</a:t>
            </a:r>
            <a:r>
              <a:rPr lang="en-US" dirty="0" smtClean="0"/>
              <a:t>  x  (P/c)</a:t>
            </a:r>
            <a:r>
              <a:rPr lang="en-US" baseline="30000" dirty="0" smtClean="0"/>
              <a:t>1/2</a:t>
            </a:r>
            <a:r>
              <a:rPr lang="en-US" dirty="0" smtClean="0"/>
              <a:t>  x  c  grid</a:t>
            </a:r>
            <a:endParaRPr lang="en-US" dirty="0"/>
          </a:p>
        </p:txBody>
      </p:sp>
      <p:grpSp>
        <p:nvGrpSpPr>
          <p:cNvPr id="44" name="Group 43"/>
          <p:cNvGrpSpPr/>
          <p:nvPr/>
        </p:nvGrpSpPr>
        <p:grpSpPr>
          <a:xfrm>
            <a:off x="914400" y="2819400"/>
            <a:ext cx="4191000" cy="2209800"/>
            <a:chOff x="2057400" y="2819400"/>
            <a:chExt cx="4191000" cy="2209800"/>
          </a:xfrm>
        </p:grpSpPr>
        <p:grpSp>
          <p:nvGrpSpPr>
            <p:cNvPr id="32" name="Group 31"/>
            <p:cNvGrpSpPr/>
            <p:nvPr/>
          </p:nvGrpSpPr>
          <p:grpSpPr>
            <a:xfrm>
              <a:off x="2590800" y="3505200"/>
              <a:ext cx="3657600" cy="1524000"/>
              <a:chOff x="2590800" y="3505200"/>
              <a:chExt cx="3657600" cy="1524000"/>
            </a:xfrm>
          </p:grpSpPr>
          <p:sp>
            <p:nvSpPr>
              <p:cNvPr id="4" name="Rectangle 3"/>
              <p:cNvSpPr/>
              <p:nvPr/>
            </p:nvSpPr>
            <p:spPr>
              <a:xfrm>
                <a:off x="2590800" y="4419600"/>
                <a:ext cx="2133600" cy="609600"/>
              </a:xfrm>
              <a:prstGeom prst="rect">
                <a:avLst/>
              </a:prstGeom>
              <a:noFill/>
              <a:ln w="12700" cmpd="sng">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8" name="Straight Connector 7"/>
              <p:cNvCxnSpPr/>
              <p:nvPr/>
            </p:nvCxnSpPr>
            <p:spPr>
              <a:xfrm>
                <a:off x="6248400" y="3505200"/>
                <a:ext cx="0" cy="609600"/>
              </a:xfrm>
              <a:prstGeom prst="line">
                <a:avLst/>
              </a:prstGeom>
              <a:ln w="9525" cmpd="sng">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flipV="1">
                <a:off x="4724400" y="3505200"/>
                <a:ext cx="1524000" cy="914400"/>
              </a:xfrm>
              <a:prstGeom prst="line">
                <a:avLst/>
              </a:prstGeom>
              <a:ln w="9525" cmpd="sng">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V="1">
                <a:off x="4724400" y="4114800"/>
                <a:ext cx="1524000" cy="914400"/>
              </a:xfrm>
              <a:prstGeom prst="line">
                <a:avLst/>
              </a:prstGeom>
              <a:ln w="9525" cmpd="sng">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flipV="1">
                <a:off x="2590800" y="3505200"/>
                <a:ext cx="1524000" cy="914400"/>
              </a:xfrm>
              <a:prstGeom prst="line">
                <a:avLst/>
              </a:prstGeom>
              <a:ln w="9525" cmpd="sng">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4" name="Straight Connector 13"/>
              <p:cNvCxnSpPr/>
              <p:nvPr/>
            </p:nvCxnSpPr>
            <p:spPr>
              <a:xfrm>
                <a:off x="4114800" y="3505200"/>
                <a:ext cx="2133600" cy="0"/>
              </a:xfrm>
              <a:prstGeom prst="line">
                <a:avLst/>
              </a:prstGeom>
              <a:ln w="9525" cmpd="sng">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5" name="Straight Connector 14"/>
              <p:cNvCxnSpPr/>
              <p:nvPr/>
            </p:nvCxnSpPr>
            <p:spPr>
              <a:xfrm flipV="1">
                <a:off x="3581400" y="3505200"/>
                <a:ext cx="1524000" cy="914400"/>
              </a:xfrm>
              <a:prstGeom prst="line">
                <a:avLst/>
              </a:prstGeom>
              <a:ln w="9525" cmpd="sng">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6" name="Straight Connector 15"/>
              <p:cNvCxnSpPr/>
              <p:nvPr/>
            </p:nvCxnSpPr>
            <p:spPr>
              <a:xfrm flipV="1">
                <a:off x="4114800" y="3505200"/>
                <a:ext cx="1524000" cy="914400"/>
              </a:xfrm>
              <a:prstGeom prst="line">
                <a:avLst/>
              </a:prstGeom>
              <a:ln w="9525" cmpd="sng">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flipV="1">
                <a:off x="3048000" y="3505200"/>
                <a:ext cx="1524000" cy="914400"/>
              </a:xfrm>
              <a:prstGeom prst="line">
                <a:avLst/>
              </a:prstGeom>
              <a:ln w="9525" cmpd="sng">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3352800" y="3962400"/>
                <a:ext cx="2133600" cy="0"/>
              </a:xfrm>
              <a:prstGeom prst="line">
                <a:avLst/>
              </a:prstGeom>
              <a:ln w="9525" cmpd="sng">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a:off x="3733800" y="3733800"/>
                <a:ext cx="2133600" cy="0"/>
              </a:xfrm>
              <a:prstGeom prst="line">
                <a:avLst/>
              </a:prstGeom>
              <a:ln w="9525" cmpd="sng">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2971800" y="4191000"/>
                <a:ext cx="2133600" cy="0"/>
              </a:xfrm>
              <a:prstGeom prst="line">
                <a:avLst/>
              </a:prstGeom>
              <a:ln w="9525" cmpd="sng">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2" name="Straight Connector 21"/>
              <p:cNvCxnSpPr/>
              <p:nvPr/>
            </p:nvCxnSpPr>
            <p:spPr>
              <a:xfrm>
                <a:off x="3048000" y="4419600"/>
                <a:ext cx="0" cy="609600"/>
              </a:xfrm>
              <a:prstGeom prst="line">
                <a:avLst/>
              </a:prstGeom>
              <a:ln w="9525" cmpd="sng">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a:off x="3581400" y="4419600"/>
                <a:ext cx="0" cy="609600"/>
              </a:xfrm>
              <a:prstGeom prst="line">
                <a:avLst/>
              </a:prstGeom>
              <a:ln w="9525" cmpd="sng">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4" name="Straight Connector 23"/>
              <p:cNvCxnSpPr/>
              <p:nvPr/>
            </p:nvCxnSpPr>
            <p:spPr>
              <a:xfrm>
                <a:off x="4114800" y="4419600"/>
                <a:ext cx="0" cy="609600"/>
              </a:xfrm>
              <a:prstGeom prst="line">
                <a:avLst/>
              </a:prstGeom>
              <a:ln w="9525" cmpd="sng">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5" name="Straight Connector 24"/>
              <p:cNvCxnSpPr/>
              <p:nvPr/>
            </p:nvCxnSpPr>
            <p:spPr>
              <a:xfrm>
                <a:off x="5105400" y="4191000"/>
                <a:ext cx="0" cy="609600"/>
              </a:xfrm>
              <a:prstGeom prst="line">
                <a:avLst/>
              </a:prstGeom>
              <a:ln w="9525" cmpd="sng">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6" name="Straight Connector 25"/>
              <p:cNvCxnSpPr/>
              <p:nvPr/>
            </p:nvCxnSpPr>
            <p:spPr>
              <a:xfrm>
                <a:off x="5486400" y="3962400"/>
                <a:ext cx="0" cy="609600"/>
              </a:xfrm>
              <a:prstGeom prst="line">
                <a:avLst/>
              </a:prstGeom>
              <a:ln w="9525" cmpd="sng">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7" name="Straight Connector 26"/>
              <p:cNvCxnSpPr/>
              <p:nvPr/>
            </p:nvCxnSpPr>
            <p:spPr>
              <a:xfrm>
                <a:off x="5867400" y="3733800"/>
                <a:ext cx="0" cy="609600"/>
              </a:xfrm>
              <a:prstGeom prst="line">
                <a:avLst/>
              </a:prstGeom>
              <a:ln w="9525" cmpd="sng">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9" name="Straight Connector 28"/>
              <p:cNvCxnSpPr>
                <a:stCxn id="4" idx="1"/>
                <a:endCxn id="4" idx="3"/>
              </p:cNvCxnSpPr>
              <p:nvPr/>
            </p:nvCxnSpPr>
            <p:spPr>
              <a:xfrm>
                <a:off x="2590800" y="4724400"/>
                <a:ext cx="2133600" cy="0"/>
              </a:xfrm>
              <a:prstGeom prst="line">
                <a:avLst/>
              </a:prstGeom>
              <a:ln w="9525" cmpd="sng">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1" name="Straight Connector 30"/>
              <p:cNvCxnSpPr>
                <a:stCxn id="4" idx="3"/>
              </p:cNvCxnSpPr>
              <p:nvPr/>
            </p:nvCxnSpPr>
            <p:spPr>
              <a:xfrm flipV="1">
                <a:off x="4724400" y="3810000"/>
                <a:ext cx="1524000" cy="914400"/>
              </a:xfrm>
              <a:prstGeom prst="line">
                <a:avLst/>
              </a:prstGeom>
              <a:ln w="9525" cmpd="sng">
                <a:solidFill>
                  <a:srgbClr val="000000"/>
                </a:solidFill>
              </a:ln>
            </p:spPr>
            <p:style>
              <a:lnRef idx="2">
                <a:schemeClr val="accent1"/>
              </a:lnRef>
              <a:fillRef idx="0">
                <a:schemeClr val="accent1"/>
              </a:fillRef>
              <a:effectRef idx="1">
                <a:schemeClr val="accent1"/>
              </a:effectRef>
              <a:fontRef idx="minor">
                <a:schemeClr val="tx1"/>
              </a:fontRef>
            </p:style>
          </p:cxnSp>
        </p:grpSp>
        <p:cxnSp>
          <p:nvCxnSpPr>
            <p:cNvPr id="34" name="Straight Arrow Connector 33"/>
            <p:cNvCxnSpPr/>
            <p:nvPr/>
          </p:nvCxnSpPr>
          <p:spPr>
            <a:xfrm>
              <a:off x="2438400" y="4419600"/>
              <a:ext cx="0" cy="609600"/>
            </a:xfrm>
            <a:prstGeom prst="straightConnector1">
              <a:avLst/>
            </a:prstGeom>
            <a:ln>
              <a:headEnd type="arrow"/>
              <a:tailEnd type="arrow"/>
            </a:ln>
          </p:spPr>
          <p:style>
            <a:lnRef idx="2">
              <a:schemeClr val="accent1"/>
            </a:lnRef>
            <a:fillRef idx="0">
              <a:schemeClr val="accent1"/>
            </a:fillRef>
            <a:effectRef idx="1">
              <a:schemeClr val="accent1"/>
            </a:effectRef>
            <a:fontRef idx="minor">
              <a:schemeClr val="tx1"/>
            </a:fontRef>
          </p:style>
        </p:cxnSp>
        <p:cxnSp>
          <p:nvCxnSpPr>
            <p:cNvPr id="36" name="Straight Arrow Connector 35"/>
            <p:cNvCxnSpPr/>
            <p:nvPr/>
          </p:nvCxnSpPr>
          <p:spPr>
            <a:xfrm>
              <a:off x="4114800" y="3352800"/>
              <a:ext cx="2133600" cy="0"/>
            </a:xfrm>
            <a:prstGeom prst="straightConnector1">
              <a:avLst/>
            </a:prstGeom>
            <a:ln>
              <a:headEnd type="arrow"/>
              <a:tailEnd type="arrow"/>
            </a:ln>
          </p:spPr>
          <p:style>
            <a:lnRef idx="2">
              <a:schemeClr val="accent1"/>
            </a:lnRef>
            <a:fillRef idx="0">
              <a:schemeClr val="accent1"/>
            </a:fillRef>
            <a:effectRef idx="1">
              <a:schemeClr val="accent1"/>
            </a:effectRef>
            <a:fontRef idx="minor">
              <a:schemeClr val="tx1"/>
            </a:fontRef>
          </p:style>
        </p:cxnSp>
        <p:cxnSp>
          <p:nvCxnSpPr>
            <p:cNvPr id="40" name="Straight Arrow Connector 39"/>
            <p:cNvCxnSpPr/>
            <p:nvPr/>
          </p:nvCxnSpPr>
          <p:spPr>
            <a:xfrm flipV="1">
              <a:off x="2438400" y="3352800"/>
              <a:ext cx="1752600" cy="1066800"/>
            </a:xfrm>
            <a:prstGeom prst="straightConnector1">
              <a:avLst/>
            </a:prstGeom>
            <a:ln>
              <a:headEnd type="arrow"/>
              <a:tailEnd type="arrow"/>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2057400" y="4495800"/>
              <a:ext cx="314810" cy="461665"/>
            </a:xfrm>
            <a:prstGeom prst="rect">
              <a:avLst/>
            </a:prstGeom>
            <a:noFill/>
          </p:spPr>
          <p:txBody>
            <a:bodyPr wrap="none" rtlCol="0">
              <a:spAutoFit/>
            </a:bodyPr>
            <a:lstStyle/>
            <a:p>
              <a:r>
                <a:rPr lang="en-US" sz="2400" dirty="0" smtClean="0"/>
                <a:t>c</a:t>
              </a:r>
              <a:endParaRPr lang="en-US" sz="2400" dirty="0"/>
            </a:p>
          </p:txBody>
        </p:sp>
        <p:sp>
          <p:nvSpPr>
            <p:cNvPr id="42" name="TextBox 41"/>
            <p:cNvSpPr txBox="1"/>
            <p:nvPr/>
          </p:nvSpPr>
          <p:spPr>
            <a:xfrm>
              <a:off x="4724400" y="2819400"/>
              <a:ext cx="1114441" cy="461665"/>
            </a:xfrm>
            <a:prstGeom prst="rect">
              <a:avLst/>
            </a:prstGeom>
            <a:noFill/>
          </p:spPr>
          <p:txBody>
            <a:bodyPr wrap="none" rtlCol="0">
              <a:spAutoFit/>
            </a:bodyPr>
            <a:lstStyle/>
            <a:p>
              <a:r>
                <a:rPr lang="en-US" sz="2400" dirty="0" smtClean="0"/>
                <a:t>(P/c)</a:t>
              </a:r>
              <a:r>
                <a:rPr lang="en-US" sz="2800" baseline="30000" dirty="0" smtClean="0"/>
                <a:t>1/2</a:t>
              </a:r>
            </a:p>
          </p:txBody>
        </p:sp>
        <p:sp>
          <p:nvSpPr>
            <p:cNvPr id="43" name="TextBox 42"/>
            <p:cNvSpPr txBox="1"/>
            <p:nvPr/>
          </p:nvSpPr>
          <p:spPr>
            <a:xfrm rot="19657307">
              <a:off x="2590800" y="3390627"/>
              <a:ext cx="1114441" cy="461665"/>
            </a:xfrm>
            <a:prstGeom prst="rect">
              <a:avLst/>
            </a:prstGeom>
            <a:noFill/>
          </p:spPr>
          <p:txBody>
            <a:bodyPr wrap="none" rtlCol="0">
              <a:spAutoFit/>
            </a:bodyPr>
            <a:lstStyle/>
            <a:p>
              <a:r>
                <a:rPr lang="en-US" sz="2400" dirty="0" smtClean="0"/>
                <a:t>(P/c)</a:t>
              </a:r>
              <a:r>
                <a:rPr lang="en-US" sz="2800" baseline="30000" dirty="0" smtClean="0"/>
                <a:t>1/2</a:t>
              </a:r>
            </a:p>
          </p:txBody>
        </p:sp>
      </p:grpSp>
      <p:sp>
        <p:nvSpPr>
          <p:cNvPr id="45" name="TextBox 44"/>
          <p:cNvSpPr txBox="1"/>
          <p:nvPr/>
        </p:nvSpPr>
        <p:spPr>
          <a:xfrm>
            <a:off x="5562600" y="3733800"/>
            <a:ext cx="3026489" cy="461665"/>
          </a:xfrm>
          <a:prstGeom prst="rect">
            <a:avLst/>
          </a:prstGeom>
          <a:noFill/>
        </p:spPr>
        <p:txBody>
          <a:bodyPr wrap="none" rtlCol="0">
            <a:spAutoFit/>
          </a:bodyPr>
          <a:lstStyle/>
          <a:p>
            <a:r>
              <a:rPr lang="en-US" sz="2400" dirty="0" smtClean="0"/>
              <a:t>Example: P =  32,  c = 2</a:t>
            </a:r>
            <a:endParaRPr lang="en-US" sz="2400" dirty="0"/>
          </a:p>
        </p:txBody>
      </p:sp>
    </p:spTree>
    <p:extLst>
      <p:ext uri="{BB962C8B-B14F-4D97-AF65-F5344CB8AC3E}">
        <p14:creationId xmlns:p14="http://schemas.microsoft.com/office/powerpoint/2010/main" val="3745188618"/>
      </p:ext>
    </p:extLst>
  </p:cSld>
  <p:clrMapOvr>
    <a:masterClrMapping/>
  </p:clrMapOvr>
  <p:timing>
    <p:tnLst>
      <p:par>
        <p:cTn xmlns:p14="http://schemas.microsoft.com/office/powerpoint/2010/mai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2.5D Matrix Multiplication </a:t>
            </a:r>
            <a:endParaRPr lang="en-US" dirty="0"/>
          </a:p>
        </p:txBody>
      </p:sp>
      <p:sp>
        <p:nvSpPr>
          <p:cNvPr id="3" name="Content Placeholder 2"/>
          <p:cNvSpPr>
            <a:spLocks noGrp="1"/>
          </p:cNvSpPr>
          <p:nvPr>
            <p:ph idx="1"/>
          </p:nvPr>
        </p:nvSpPr>
        <p:spPr>
          <a:xfrm>
            <a:off x="457200" y="1600201"/>
            <a:ext cx="8229600" cy="1219200"/>
          </a:xfrm>
        </p:spPr>
        <p:txBody>
          <a:bodyPr/>
          <a:lstStyle/>
          <a:p>
            <a:r>
              <a:rPr lang="en-US" dirty="0" smtClean="0"/>
              <a:t>Assume can fit cn</a:t>
            </a:r>
            <a:r>
              <a:rPr lang="en-US" baseline="30000" dirty="0" smtClean="0"/>
              <a:t>2</a:t>
            </a:r>
            <a:r>
              <a:rPr lang="en-US" dirty="0" smtClean="0"/>
              <a:t>/P data per processor, c &gt; 1</a:t>
            </a:r>
          </a:p>
          <a:p>
            <a:r>
              <a:rPr lang="en-US" dirty="0" smtClean="0"/>
              <a:t>Processors form (P/c)</a:t>
            </a:r>
            <a:r>
              <a:rPr lang="en-US" baseline="30000" dirty="0" smtClean="0"/>
              <a:t>1/2</a:t>
            </a:r>
            <a:r>
              <a:rPr lang="en-US" dirty="0" smtClean="0"/>
              <a:t>  x  (P/c)</a:t>
            </a:r>
            <a:r>
              <a:rPr lang="en-US" baseline="30000" dirty="0" smtClean="0"/>
              <a:t>1/2</a:t>
            </a:r>
            <a:r>
              <a:rPr lang="en-US" dirty="0" smtClean="0"/>
              <a:t>  x  c  grid</a:t>
            </a:r>
            <a:endParaRPr lang="en-US" dirty="0"/>
          </a:p>
        </p:txBody>
      </p:sp>
      <p:grpSp>
        <p:nvGrpSpPr>
          <p:cNvPr id="44" name="Group 43"/>
          <p:cNvGrpSpPr/>
          <p:nvPr/>
        </p:nvGrpSpPr>
        <p:grpSpPr>
          <a:xfrm>
            <a:off x="914400" y="2819400"/>
            <a:ext cx="4191000" cy="2209800"/>
            <a:chOff x="2057400" y="2819400"/>
            <a:chExt cx="4191000" cy="2209800"/>
          </a:xfrm>
        </p:grpSpPr>
        <p:grpSp>
          <p:nvGrpSpPr>
            <p:cNvPr id="32" name="Group 31"/>
            <p:cNvGrpSpPr/>
            <p:nvPr/>
          </p:nvGrpSpPr>
          <p:grpSpPr>
            <a:xfrm>
              <a:off x="2590800" y="3505200"/>
              <a:ext cx="3657600" cy="1524000"/>
              <a:chOff x="2590800" y="3505200"/>
              <a:chExt cx="3657600" cy="1524000"/>
            </a:xfrm>
          </p:grpSpPr>
          <p:sp>
            <p:nvSpPr>
              <p:cNvPr id="4" name="Rectangle 3"/>
              <p:cNvSpPr/>
              <p:nvPr/>
            </p:nvSpPr>
            <p:spPr>
              <a:xfrm>
                <a:off x="2590800" y="4419600"/>
                <a:ext cx="2133600" cy="609600"/>
              </a:xfrm>
              <a:prstGeom prst="rect">
                <a:avLst/>
              </a:prstGeom>
              <a:noFill/>
              <a:ln w="12700" cmpd="sng">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8" name="Straight Connector 7"/>
              <p:cNvCxnSpPr/>
              <p:nvPr/>
            </p:nvCxnSpPr>
            <p:spPr>
              <a:xfrm>
                <a:off x="6248400" y="3505200"/>
                <a:ext cx="0" cy="609600"/>
              </a:xfrm>
              <a:prstGeom prst="line">
                <a:avLst/>
              </a:prstGeom>
              <a:ln w="9525" cmpd="sng">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flipV="1">
                <a:off x="4724400" y="3505200"/>
                <a:ext cx="1524000" cy="914400"/>
              </a:xfrm>
              <a:prstGeom prst="line">
                <a:avLst/>
              </a:prstGeom>
              <a:ln w="9525" cmpd="sng">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V="1">
                <a:off x="4724400" y="4114800"/>
                <a:ext cx="1524000" cy="914400"/>
              </a:xfrm>
              <a:prstGeom prst="line">
                <a:avLst/>
              </a:prstGeom>
              <a:ln w="9525" cmpd="sng">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flipV="1">
                <a:off x="2590800" y="3505200"/>
                <a:ext cx="1524000" cy="914400"/>
              </a:xfrm>
              <a:prstGeom prst="line">
                <a:avLst/>
              </a:prstGeom>
              <a:ln w="9525" cmpd="sng">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4" name="Straight Connector 13"/>
              <p:cNvCxnSpPr/>
              <p:nvPr/>
            </p:nvCxnSpPr>
            <p:spPr>
              <a:xfrm>
                <a:off x="4114800" y="3505200"/>
                <a:ext cx="2133600" cy="0"/>
              </a:xfrm>
              <a:prstGeom prst="line">
                <a:avLst/>
              </a:prstGeom>
              <a:ln w="9525" cmpd="sng">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5" name="Straight Connector 14"/>
              <p:cNvCxnSpPr/>
              <p:nvPr/>
            </p:nvCxnSpPr>
            <p:spPr>
              <a:xfrm flipV="1">
                <a:off x="3581400" y="3505200"/>
                <a:ext cx="1524000" cy="914400"/>
              </a:xfrm>
              <a:prstGeom prst="line">
                <a:avLst/>
              </a:prstGeom>
              <a:ln w="9525" cmpd="sng">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6" name="Straight Connector 15"/>
              <p:cNvCxnSpPr/>
              <p:nvPr/>
            </p:nvCxnSpPr>
            <p:spPr>
              <a:xfrm flipV="1">
                <a:off x="4114800" y="3505200"/>
                <a:ext cx="1524000" cy="914400"/>
              </a:xfrm>
              <a:prstGeom prst="line">
                <a:avLst/>
              </a:prstGeom>
              <a:ln w="9525" cmpd="sng">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flipV="1">
                <a:off x="3048000" y="3505200"/>
                <a:ext cx="1524000" cy="914400"/>
              </a:xfrm>
              <a:prstGeom prst="line">
                <a:avLst/>
              </a:prstGeom>
              <a:ln w="9525" cmpd="sng">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3352800" y="3962400"/>
                <a:ext cx="2133600" cy="0"/>
              </a:xfrm>
              <a:prstGeom prst="line">
                <a:avLst/>
              </a:prstGeom>
              <a:ln w="9525" cmpd="sng">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a:off x="3733800" y="3733800"/>
                <a:ext cx="2133600" cy="0"/>
              </a:xfrm>
              <a:prstGeom prst="line">
                <a:avLst/>
              </a:prstGeom>
              <a:ln w="9525" cmpd="sng">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2971800" y="4191000"/>
                <a:ext cx="2133600" cy="0"/>
              </a:xfrm>
              <a:prstGeom prst="line">
                <a:avLst/>
              </a:prstGeom>
              <a:ln w="9525" cmpd="sng">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2" name="Straight Connector 21"/>
              <p:cNvCxnSpPr/>
              <p:nvPr/>
            </p:nvCxnSpPr>
            <p:spPr>
              <a:xfrm>
                <a:off x="3048000" y="4419600"/>
                <a:ext cx="0" cy="609600"/>
              </a:xfrm>
              <a:prstGeom prst="line">
                <a:avLst/>
              </a:prstGeom>
              <a:ln w="9525" cmpd="sng">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a:off x="3581400" y="4419600"/>
                <a:ext cx="0" cy="609600"/>
              </a:xfrm>
              <a:prstGeom prst="line">
                <a:avLst/>
              </a:prstGeom>
              <a:ln w="9525" cmpd="sng">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4" name="Straight Connector 23"/>
              <p:cNvCxnSpPr/>
              <p:nvPr/>
            </p:nvCxnSpPr>
            <p:spPr>
              <a:xfrm>
                <a:off x="4114800" y="4419600"/>
                <a:ext cx="0" cy="609600"/>
              </a:xfrm>
              <a:prstGeom prst="line">
                <a:avLst/>
              </a:prstGeom>
              <a:ln w="9525" cmpd="sng">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5" name="Straight Connector 24"/>
              <p:cNvCxnSpPr/>
              <p:nvPr/>
            </p:nvCxnSpPr>
            <p:spPr>
              <a:xfrm>
                <a:off x="5105400" y="4191000"/>
                <a:ext cx="0" cy="609600"/>
              </a:xfrm>
              <a:prstGeom prst="line">
                <a:avLst/>
              </a:prstGeom>
              <a:ln w="9525" cmpd="sng">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6" name="Straight Connector 25"/>
              <p:cNvCxnSpPr/>
              <p:nvPr/>
            </p:nvCxnSpPr>
            <p:spPr>
              <a:xfrm>
                <a:off x="5486400" y="3962400"/>
                <a:ext cx="0" cy="609600"/>
              </a:xfrm>
              <a:prstGeom prst="line">
                <a:avLst/>
              </a:prstGeom>
              <a:ln w="9525" cmpd="sng">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7" name="Straight Connector 26"/>
              <p:cNvCxnSpPr/>
              <p:nvPr/>
            </p:nvCxnSpPr>
            <p:spPr>
              <a:xfrm>
                <a:off x="5867400" y="3733800"/>
                <a:ext cx="0" cy="609600"/>
              </a:xfrm>
              <a:prstGeom prst="line">
                <a:avLst/>
              </a:prstGeom>
              <a:ln w="9525" cmpd="sng">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9" name="Straight Connector 28"/>
              <p:cNvCxnSpPr>
                <a:stCxn id="4" idx="1"/>
                <a:endCxn id="4" idx="3"/>
              </p:cNvCxnSpPr>
              <p:nvPr/>
            </p:nvCxnSpPr>
            <p:spPr>
              <a:xfrm>
                <a:off x="2590800" y="4724400"/>
                <a:ext cx="2133600" cy="0"/>
              </a:xfrm>
              <a:prstGeom prst="line">
                <a:avLst/>
              </a:prstGeom>
              <a:ln w="9525" cmpd="sng">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1" name="Straight Connector 30"/>
              <p:cNvCxnSpPr>
                <a:stCxn id="4" idx="3"/>
              </p:cNvCxnSpPr>
              <p:nvPr/>
            </p:nvCxnSpPr>
            <p:spPr>
              <a:xfrm flipV="1">
                <a:off x="4724400" y="3810000"/>
                <a:ext cx="1524000" cy="914400"/>
              </a:xfrm>
              <a:prstGeom prst="line">
                <a:avLst/>
              </a:prstGeom>
              <a:ln w="9525" cmpd="sng">
                <a:solidFill>
                  <a:srgbClr val="000000"/>
                </a:solidFill>
              </a:ln>
            </p:spPr>
            <p:style>
              <a:lnRef idx="2">
                <a:schemeClr val="accent1"/>
              </a:lnRef>
              <a:fillRef idx="0">
                <a:schemeClr val="accent1"/>
              </a:fillRef>
              <a:effectRef idx="1">
                <a:schemeClr val="accent1"/>
              </a:effectRef>
              <a:fontRef idx="minor">
                <a:schemeClr val="tx1"/>
              </a:fontRef>
            </p:style>
          </p:cxnSp>
        </p:grpSp>
        <p:sp>
          <p:nvSpPr>
            <p:cNvPr id="41" name="TextBox 40"/>
            <p:cNvSpPr txBox="1"/>
            <p:nvPr/>
          </p:nvSpPr>
          <p:spPr>
            <a:xfrm>
              <a:off x="2057400" y="4495800"/>
              <a:ext cx="325730" cy="461665"/>
            </a:xfrm>
            <a:prstGeom prst="rect">
              <a:avLst/>
            </a:prstGeom>
            <a:noFill/>
          </p:spPr>
          <p:txBody>
            <a:bodyPr wrap="none" rtlCol="0">
              <a:spAutoFit/>
            </a:bodyPr>
            <a:lstStyle/>
            <a:p>
              <a:r>
                <a:rPr lang="en-US" sz="2400" dirty="0"/>
                <a:t>k</a:t>
              </a:r>
            </a:p>
          </p:txBody>
        </p:sp>
        <p:sp>
          <p:nvSpPr>
            <p:cNvPr id="42" name="TextBox 41"/>
            <p:cNvSpPr txBox="1"/>
            <p:nvPr/>
          </p:nvSpPr>
          <p:spPr>
            <a:xfrm>
              <a:off x="4724400" y="2819400"/>
              <a:ext cx="271128" cy="461665"/>
            </a:xfrm>
            <a:prstGeom prst="rect">
              <a:avLst/>
            </a:prstGeom>
            <a:noFill/>
          </p:spPr>
          <p:txBody>
            <a:bodyPr wrap="none" rtlCol="0">
              <a:spAutoFit/>
            </a:bodyPr>
            <a:lstStyle/>
            <a:p>
              <a:r>
                <a:rPr lang="en-US" sz="2400" dirty="0"/>
                <a:t>j</a:t>
              </a:r>
              <a:endParaRPr lang="en-US" sz="2800" baseline="30000" dirty="0" smtClean="0"/>
            </a:p>
          </p:txBody>
        </p:sp>
        <p:sp>
          <p:nvSpPr>
            <p:cNvPr id="43" name="TextBox 42"/>
            <p:cNvSpPr txBox="1"/>
            <p:nvPr/>
          </p:nvSpPr>
          <p:spPr>
            <a:xfrm rot="19657307">
              <a:off x="3020370" y="3390627"/>
              <a:ext cx="255298" cy="461665"/>
            </a:xfrm>
            <a:prstGeom prst="rect">
              <a:avLst/>
            </a:prstGeom>
            <a:noFill/>
          </p:spPr>
          <p:txBody>
            <a:bodyPr wrap="none" rtlCol="0">
              <a:spAutoFit/>
            </a:bodyPr>
            <a:lstStyle/>
            <a:p>
              <a:r>
                <a:rPr lang="en-US" sz="2400" dirty="0" err="1"/>
                <a:t>i</a:t>
              </a:r>
              <a:endParaRPr lang="en-US" sz="2800" baseline="30000" dirty="0" smtClean="0"/>
            </a:p>
          </p:txBody>
        </p:sp>
      </p:grpSp>
      <p:cxnSp>
        <p:nvCxnSpPr>
          <p:cNvPr id="9" name="Straight Arrow Connector 8"/>
          <p:cNvCxnSpPr/>
          <p:nvPr/>
        </p:nvCxnSpPr>
        <p:spPr>
          <a:xfrm>
            <a:off x="2971800" y="3352800"/>
            <a:ext cx="2133600"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1" name="Straight Arrow Connector 20"/>
          <p:cNvCxnSpPr/>
          <p:nvPr/>
        </p:nvCxnSpPr>
        <p:spPr>
          <a:xfrm>
            <a:off x="1295400" y="4419600"/>
            <a:ext cx="0" cy="6096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0" name="Straight Arrow Connector 29"/>
          <p:cNvCxnSpPr/>
          <p:nvPr/>
        </p:nvCxnSpPr>
        <p:spPr>
          <a:xfrm flipH="1">
            <a:off x="1295400" y="3352800"/>
            <a:ext cx="1676400" cy="10668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486400" y="3773269"/>
            <a:ext cx="3520916" cy="646331"/>
          </a:xfrm>
          <a:prstGeom prst="rect">
            <a:avLst/>
          </a:prstGeom>
          <a:noFill/>
        </p:spPr>
        <p:txBody>
          <a:bodyPr wrap="none" rtlCol="0">
            <a:spAutoFit/>
          </a:bodyPr>
          <a:lstStyle/>
          <a:p>
            <a:r>
              <a:rPr lang="en-US" dirty="0" smtClean="0"/>
              <a:t>Initially P(i,j,0) owns A(</a:t>
            </a:r>
            <a:r>
              <a:rPr lang="en-US" dirty="0" err="1"/>
              <a:t>i</a:t>
            </a:r>
            <a:r>
              <a:rPr lang="en-US" dirty="0" err="1" smtClean="0"/>
              <a:t>,j</a:t>
            </a:r>
            <a:r>
              <a:rPr lang="en-US" dirty="0" smtClean="0"/>
              <a:t>) and B(</a:t>
            </a:r>
            <a:r>
              <a:rPr lang="en-US" dirty="0" err="1"/>
              <a:t>i</a:t>
            </a:r>
            <a:r>
              <a:rPr lang="en-US" dirty="0" err="1" smtClean="0"/>
              <a:t>,j</a:t>
            </a:r>
            <a:r>
              <a:rPr lang="en-US" dirty="0" smtClean="0"/>
              <a:t>)</a:t>
            </a:r>
          </a:p>
          <a:p>
            <a:r>
              <a:rPr lang="en-US" dirty="0"/>
              <a:t> </a:t>
            </a:r>
            <a:r>
              <a:rPr lang="en-US" dirty="0" smtClean="0"/>
              <a:t>   each of size n(c/P)</a:t>
            </a:r>
            <a:r>
              <a:rPr lang="en-US" sz="2000" baseline="30000" dirty="0" smtClean="0"/>
              <a:t>1/2</a:t>
            </a:r>
            <a:r>
              <a:rPr lang="en-US" dirty="0" smtClean="0"/>
              <a:t> x n(c/P)</a:t>
            </a:r>
            <a:r>
              <a:rPr lang="en-US" sz="2000" baseline="30000" dirty="0" smtClean="0"/>
              <a:t>1/2</a:t>
            </a:r>
            <a:endParaRPr lang="en-US" baseline="30000" dirty="0"/>
          </a:p>
        </p:txBody>
      </p:sp>
      <p:sp>
        <p:nvSpPr>
          <p:cNvPr id="35" name="TextBox 34"/>
          <p:cNvSpPr txBox="1"/>
          <p:nvPr/>
        </p:nvSpPr>
        <p:spPr>
          <a:xfrm>
            <a:off x="838200" y="5486400"/>
            <a:ext cx="7977090" cy="923330"/>
          </a:xfrm>
          <a:prstGeom prst="rect">
            <a:avLst/>
          </a:prstGeom>
          <a:noFill/>
        </p:spPr>
        <p:txBody>
          <a:bodyPr wrap="square" rtlCol="0">
            <a:spAutoFit/>
          </a:bodyPr>
          <a:lstStyle/>
          <a:p>
            <a:r>
              <a:rPr lang="en-US" dirty="0" smtClean="0"/>
              <a:t>(1)  P(i,j,0) broadcasts A(</a:t>
            </a:r>
            <a:r>
              <a:rPr lang="en-US" dirty="0" err="1"/>
              <a:t>i</a:t>
            </a:r>
            <a:r>
              <a:rPr lang="en-US" dirty="0" err="1" smtClean="0"/>
              <a:t>,j</a:t>
            </a:r>
            <a:r>
              <a:rPr lang="en-US" dirty="0" smtClean="0"/>
              <a:t>) and B(</a:t>
            </a:r>
            <a:r>
              <a:rPr lang="en-US" dirty="0" err="1"/>
              <a:t>i</a:t>
            </a:r>
            <a:r>
              <a:rPr lang="en-US" dirty="0" err="1" smtClean="0"/>
              <a:t>,j</a:t>
            </a:r>
            <a:r>
              <a:rPr lang="en-US" dirty="0" smtClean="0"/>
              <a:t>) to P(</a:t>
            </a:r>
            <a:r>
              <a:rPr lang="en-US" dirty="0" err="1"/>
              <a:t>i</a:t>
            </a:r>
            <a:r>
              <a:rPr lang="en-US" dirty="0" err="1" smtClean="0"/>
              <a:t>,j,k</a:t>
            </a:r>
            <a:r>
              <a:rPr lang="en-US" dirty="0" smtClean="0"/>
              <a:t>)</a:t>
            </a:r>
          </a:p>
          <a:p>
            <a:r>
              <a:rPr lang="en-US" dirty="0" smtClean="0"/>
              <a:t>(2)  Processors at level k perform 1/c-</a:t>
            </a:r>
            <a:r>
              <a:rPr lang="en-US" dirty="0" err="1" smtClean="0"/>
              <a:t>th</a:t>
            </a:r>
            <a:r>
              <a:rPr lang="en-US" dirty="0" smtClean="0"/>
              <a:t> of SUMMA, i.e. 1/c-</a:t>
            </a:r>
            <a:r>
              <a:rPr lang="en-US" dirty="0" err="1" smtClean="0"/>
              <a:t>th</a:t>
            </a:r>
            <a:r>
              <a:rPr lang="en-US" dirty="0" smtClean="0"/>
              <a:t> of  </a:t>
            </a:r>
            <a:r>
              <a:rPr lang="en-US" dirty="0" err="1" smtClean="0"/>
              <a:t>Σ</a:t>
            </a:r>
            <a:r>
              <a:rPr lang="en-US" sz="2400" baseline="-25000" dirty="0" err="1" smtClean="0"/>
              <a:t>m</a:t>
            </a:r>
            <a:r>
              <a:rPr lang="en-US" dirty="0" smtClean="0"/>
              <a:t> A(</a:t>
            </a:r>
            <a:r>
              <a:rPr lang="en-US" dirty="0" err="1"/>
              <a:t>i</a:t>
            </a:r>
            <a:r>
              <a:rPr lang="en-US" dirty="0" err="1" smtClean="0"/>
              <a:t>,m</a:t>
            </a:r>
            <a:r>
              <a:rPr lang="en-US" dirty="0" smtClean="0"/>
              <a:t>)*B(</a:t>
            </a:r>
            <a:r>
              <a:rPr lang="en-US" dirty="0" err="1" smtClean="0"/>
              <a:t>m,j</a:t>
            </a:r>
            <a:r>
              <a:rPr lang="en-US" dirty="0" smtClean="0"/>
              <a:t>)</a:t>
            </a:r>
          </a:p>
          <a:p>
            <a:r>
              <a:rPr lang="en-US" dirty="0" smtClean="0"/>
              <a:t>(3)  Sum-reduce partial sums </a:t>
            </a:r>
            <a:r>
              <a:rPr lang="en-US" dirty="0" err="1"/>
              <a:t>Σ</a:t>
            </a:r>
            <a:r>
              <a:rPr lang="en-US" sz="2400" baseline="-25000" dirty="0" err="1"/>
              <a:t>m</a:t>
            </a:r>
            <a:r>
              <a:rPr lang="en-US" dirty="0"/>
              <a:t> A(</a:t>
            </a:r>
            <a:r>
              <a:rPr lang="en-US" dirty="0" err="1"/>
              <a:t>i,m</a:t>
            </a:r>
            <a:r>
              <a:rPr lang="en-US" dirty="0"/>
              <a:t>)*B(</a:t>
            </a:r>
            <a:r>
              <a:rPr lang="en-US" dirty="0" err="1"/>
              <a:t>m,j</a:t>
            </a:r>
            <a:r>
              <a:rPr lang="en-US" dirty="0"/>
              <a:t>)</a:t>
            </a:r>
            <a:r>
              <a:rPr lang="en-US" dirty="0" smtClean="0"/>
              <a:t> along k-axis so P(i,j,0) owns C(</a:t>
            </a:r>
            <a:r>
              <a:rPr lang="en-US" dirty="0" err="1"/>
              <a:t>i</a:t>
            </a:r>
            <a:r>
              <a:rPr lang="en-US" dirty="0" err="1" smtClean="0"/>
              <a:t>,j</a:t>
            </a:r>
            <a:r>
              <a:rPr lang="en-US" dirty="0" smtClean="0"/>
              <a:t>)</a:t>
            </a:r>
            <a:endParaRPr lang="en-US" dirty="0"/>
          </a:p>
        </p:txBody>
      </p:sp>
    </p:spTree>
    <p:extLst>
      <p:ext uri="{BB962C8B-B14F-4D97-AF65-F5344CB8AC3E}">
        <p14:creationId xmlns:p14="http://schemas.microsoft.com/office/powerpoint/2010/main" val="704804824"/>
      </p:ext>
    </p:extLst>
  </p:cSld>
  <p:clrMapOvr>
    <a:masterClrMapping/>
  </p:clrMapOvr>
  <p:timing>
    <p:tnLst>
      <p:par>
        <p:cTn xmlns:p14="http://schemas.microsoft.com/office/powerpoint/2010/mai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r>
              <a:rPr lang="en-US" dirty="0"/>
              <a:t>2.5D </a:t>
            </a:r>
            <a:r>
              <a:rPr lang="en-US" dirty="0" err="1"/>
              <a:t>Matmul</a:t>
            </a:r>
            <a:r>
              <a:rPr lang="en-US" dirty="0"/>
              <a:t> on BG/P, n=</a:t>
            </a:r>
            <a:r>
              <a:rPr lang="en-US" dirty="0" smtClean="0"/>
              <a:t>64K</a:t>
            </a:r>
            <a:endParaRPr lang="en-US" dirty="0"/>
          </a:p>
        </p:txBody>
      </p:sp>
      <p:pic>
        <p:nvPicPr>
          <p:cNvPr id="4" name="Content Placeholder 3" descr="mm_ss_p2048.pdf"/>
          <p:cNvPicPr>
            <a:picLocks noGrp="1" noChangeAspect="1"/>
          </p:cNvPicPr>
          <p:nvPr>
            <p:ph idx="1"/>
          </p:nvPr>
        </p:nvPicPr>
        <p:blipFill>
          <a:blip r:embed="rId2">
            <a:extLst>
              <a:ext uri="{28A0092B-C50C-407E-A947-70E740481C1C}">
                <a14:useLocalDpi xmlns:a14="http://schemas.microsoft.com/office/drawing/2010/main" val="0"/>
              </a:ext>
            </a:extLst>
          </a:blip>
          <a:srcRect l="-13557" r="-13557"/>
          <a:stretch>
            <a:fillRect/>
          </a:stretch>
        </p:blipFill>
        <p:spPr>
          <a:xfrm>
            <a:off x="-180731" y="1828800"/>
            <a:ext cx="9006085" cy="4953000"/>
          </a:xfrm>
        </p:spPr>
      </p:pic>
      <p:sp>
        <p:nvSpPr>
          <p:cNvPr id="5" name="TextBox 4"/>
          <p:cNvSpPr txBox="1"/>
          <p:nvPr/>
        </p:nvSpPr>
        <p:spPr>
          <a:xfrm>
            <a:off x="457200" y="990600"/>
            <a:ext cx="8020144" cy="923330"/>
          </a:xfrm>
          <a:prstGeom prst="rect">
            <a:avLst/>
          </a:prstGeom>
          <a:noFill/>
        </p:spPr>
        <p:txBody>
          <a:bodyPr wrap="none" rtlCol="0">
            <a:spAutoFit/>
          </a:bodyPr>
          <a:lstStyle/>
          <a:p>
            <a:pPr marL="285750" indent="-285750">
              <a:buFont typeface="Arial"/>
              <a:buChar char="•"/>
            </a:pPr>
            <a:r>
              <a:rPr lang="en-US" dirty="0" smtClean="0"/>
              <a:t>As P increases, available memory grows </a:t>
            </a:r>
            <a:r>
              <a:rPr lang="en-US" dirty="0" smtClean="0">
                <a:latin typeface="Wingdings"/>
                <a:ea typeface="Wingdings"/>
                <a:cs typeface="Wingdings"/>
                <a:sym typeface="Wingdings"/>
              </a:rPr>
              <a:t></a:t>
            </a:r>
            <a:r>
              <a:rPr lang="en-US" dirty="0">
                <a:sym typeface="Wingdings"/>
              </a:rPr>
              <a:t> </a:t>
            </a:r>
            <a:r>
              <a:rPr lang="en-US" dirty="0" smtClean="0">
                <a:sym typeface="Wingdings"/>
              </a:rPr>
              <a:t>c increases proportionally to P</a:t>
            </a:r>
          </a:p>
          <a:p>
            <a:pPr marL="742950" lvl="1" indent="-285750">
              <a:buFont typeface="Arial"/>
              <a:buChar char="•"/>
            </a:pPr>
            <a:r>
              <a:rPr lang="en-US" dirty="0" smtClean="0">
                <a:sym typeface="Wingdings"/>
              </a:rPr>
              <a:t>#flops, #</a:t>
            </a:r>
            <a:r>
              <a:rPr lang="en-US" dirty="0" err="1" smtClean="0">
                <a:sym typeface="Wingdings"/>
              </a:rPr>
              <a:t>words_moved</a:t>
            </a:r>
            <a:r>
              <a:rPr lang="en-US" dirty="0" smtClean="0">
                <a:sym typeface="Wingdings"/>
              </a:rPr>
              <a:t>, #messages per </a:t>
            </a:r>
            <a:r>
              <a:rPr lang="en-US" dirty="0" err="1" smtClean="0">
                <a:sym typeface="Wingdings"/>
              </a:rPr>
              <a:t>proc</a:t>
            </a:r>
            <a:r>
              <a:rPr lang="en-US" dirty="0" smtClean="0">
                <a:sym typeface="Wingdings"/>
              </a:rPr>
              <a:t> all decrease proportionally to P</a:t>
            </a:r>
          </a:p>
          <a:p>
            <a:pPr marL="285750" indent="-285750">
              <a:buFont typeface="Arial"/>
              <a:buChar char="•"/>
            </a:pPr>
            <a:r>
              <a:rPr lang="en-US" dirty="0" smtClean="0">
                <a:sym typeface="Wingdings"/>
              </a:rPr>
              <a:t>Perfect strong scaling!</a:t>
            </a:r>
            <a:endParaRPr lang="en-US" dirty="0" smtClean="0"/>
          </a:p>
        </p:txBody>
      </p:sp>
    </p:spTree>
    <p:extLst>
      <p:ext uri="{BB962C8B-B14F-4D97-AF65-F5344CB8AC3E}">
        <p14:creationId xmlns:p14="http://schemas.microsoft.com/office/powerpoint/2010/main" val="3676345575"/>
      </p:ext>
    </p:extLst>
  </p:cSld>
  <p:clrMapOvr>
    <a:masterClrMapping/>
  </p:clrMapOvr>
  <p:timing>
    <p:tnLst>
      <p:par>
        <p:cTn xmlns:p14="http://schemas.microsoft.com/office/powerpoint/2010/mai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74638"/>
            <a:ext cx="8610600" cy="1143000"/>
          </a:xfrm>
        </p:spPr>
        <p:txBody>
          <a:bodyPr>
            <a:noAutofit/>
          </a:bodyPr>
          <a:lstStyle/>
          <a:p>
            <a:r>
              <a:rPr lang="en-US" sz="3600" dirty="0"/>
              <a:t>2.5D </a:t>
            </a:r>
            <a:r>
              <a:rPr lang="en-US" sz="3600" dirty="0" err="1"/>
              <a:t>Matmul</a:t>
            </a:r>
            <a:r>
              <a:rPr lang="en-US" sz="3600" dirty="0"/>
              <a:t> on BG/P, 16K </a:t>
            </a:r>
            <a:r>
              <a:rPr lang="en-US" sz="3600" dirty="0" smtClean="0"/>
              <a:t>nodes </a:t>
            </a:r>
            <a:r>
              <a:rPr lang="en-US" sz="3600" dirty="0"/>
              <a:t>/ 64K cores</a:t>
            </a:r>
          </a:p>
        </p:txBody>
      </p:sp>
      <p:pic>
        <p:nvPicPr>
          <p:cNvPr id="4" name="Content Placeholder 3" descr="mm_p16384.pdf"/>
          <p:cNvPicPr>
            <a:picLocks noGrp="1" noChangeAspect="1"/>
          </p:cNvPicPr>
          <p:nvPr>
            <p:ph idx="1"/>
          </p:nvPr>
        </p:nvPicPr>
        <p:blipFill>
          <a:blip r:embed="rId2">
            <a:extLst>
              <a:ext uri="{28A0092B-C50C-407E-A947-70E740481C1C}">
                <a14:useLocalDpi xmlns:a14="http://schemas.microsoft.com/office/drawing/2010/main" val="0"/>
              </a:ext>
            </a:extLst>
          </a:blip>
          <a:srcRect l="-13557" r="-13557"/>
          <a:stretch>
            <a:fillRect/>
          </a:stretch>
        </p:blipFill>
        <p:spPr/>
      </p:pic>
    </p:spTree>
    <p:extLst>
      <p:ext uri="{BB962C8B-B14F-4D97-AF65-F5344CB8AC3E}">
        <p14:creationId xmlns:p14="http://schemas.microsoft.com/office/powerpoint/2010/main" val="4161591099"/>
      </p:ext>
    </p:extLst>
  </p:cSld>
  <p:clrMapOvr>
    <a:masterClrMapping/>
  </p:clrMapOvr>
  <p:timing>
    <p:tnLst>
      <p:par>
        <p:cTn xmlns:p14="http://schemas.microsoft.com/office/powerpoint/2010/mai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74638"/>
            <a:ext cx="8763000" cy="563562"/>
          </a:xfrm>
        </p:spPr>
        <p:txBody>
          <a:bodyPr>
            <a:noAutofit/>
          </a:bodyPr>
          <a:lstStyle/>
          <a:p>
            <a:r>
              <a:rPr lang="en-US" sz="3600" dirty="0" smtClean="0"/>
              <a:t>2.5D </a:t>
            </a:r>
            <a:r>
              <a:rPr lang="en-US" sz="3600" dirty="0" err="1" smtClean="0"/>
              <a:t>Matmul</a:t>
            </a:r>
            <a:r>
              <a:rPr lang="en-US" sz="3600" dirty="0" smtClean="0"/>
              <a:t> on BG/P, 16K nodes / 64K cores</a:t>
            </a:r>
            <a:endParaRPr lang="en-US" sz="3600" dirty="0"/>
          </a:p>
        </p:txBody>
      </p:sp>
      <p:pic>
        <p:nvPicPr>
          <p:cNvPr id="4" name="Content Placeholder 3" descr="mm_time_p16384.pdf"/>
          <p:cNvPicPr>
            <a:picLocks noGrp="1" noChangeAspect="1"/>
          </p:cNvPicPr>
          <p:nvPr>
            <p:ph idx="1"/>
          </p:nvPr>
        </p:nvPicPr>
        <p:blipFill>
          <a:blip r:embed="rId3">
            <a:extLst>
              <a:ext uri="{28A0092B-C50C-407E-A947-70E740481C1C}">
                <a14:useLocalDpi xmlns:a14="http://schemas.microsoft.com/office/drawing/2010/main" val="0"/>
              </a:ext>
            </a:extLst>
          </a:blip>
          <a:srcRect l="-11885" r="-11885"/>
          <a:stretch>
            <a:fillRect/>
          </a:stretch>
        </p:blipFill>
        <p:spPr>
          <a:xfrm>
            <a:off x="457199" y="1066800"/>
            <a:ext cx="8904155" cy="5029200"/>
          </a:xfrm>
        </p:spPr>
      </p:pic>
      <p:sp>
        <p:nvSpPr>
          <p:cNvPr id="5" name="TextBox 4"/>
          <p:cNvSpPr txBox="1"/>
          <p:nvPr/>
        </p:nvSpPr>
        <p:spPr>
          <a:xfrm>
            <a:off x="3486676" y="838200"/>
            <a:ext cx="1390124" cy="369332"/>
          </a:xfrm>
          <a:prstGeom prst="rect">
            <a:avLst/>
          </a:prstGeom>
          <a:noFill/>
        </p:spPr>
        <p:txBody>
          <a:bodyPr wrap="none" rtlCol="0">
            <a:spAutoFit/>
          </a:bodyPr>
          <a:lstStyle/>
          <a:p>
            <a:r>
              <a:rPr lang="en-US" dirty="0"/>
              <a:t>c</a:t>
            </a:r>
            <a:r>
              <a:rPr lang="en-US" dirty="0" smtClean="0"/>
              <a:t> = 16 copies</a:t>
            </a:r>
            <a:endParaRPr lang="en-US" dirty="0"/>
          </a:p>
        </p:txBody>
      </p:sp>
      <p:sp>
        <p:nvSpPr>
          <p:cNvPr id="6" name="TextBox 5"/>
          <p:cNvSpPr txBox="1"/>
          <p:nvPr/>
        </p:nvSpPr>
        <p:spPr>
          <a:xfrm>
            <a:off x="1600200" y="5791200"/>
            <a:ext cx="6252783" cy="954107"/>
          </a:xfrm>
          <a:prstGeom prst="rect">
            <a:avLst/>
          </a:prstGeom>
          <a:noFill/>
        </p:spPr>
        <p:txBody>
          <a:bodyPr wrap="none" rtlCol="0">
            <a:spAutoFit/>
          </a:bodyPr>
          <a:lstStyle/>
          <a:p>
            <a:r>
              <a:rPr lang="en-US" sz="2800" b="1" dirty="0" smtClean="0">
                <a:solidFill>
                  <a:srgbClr val="0824F2"/>
                </a:solidFill>
              </a:rPr>
              <a:t>Distinguished Paper Award, EuroPar’11</a:t>
            </a:r>
          </a:p>
          <a:p>
            <a:r>
              <a:rPr lang="en-US" sz="2800" b="1" dirty="0" smtClean="0">
                <a:solidFill>
                  <a:srgbClr val="0824F2"/>
                </a:solidFill>
              </a:rPr>
              <a:t>SC’11 paper by </a:t>
            </a:r>
            <a:r>
              <a:rPr lang="en-US" sz="2800" b="1" dirty="0" err="1" smtClean="0">
                <a:solidFill>
                  <a:srgbClr val="0824F2"/>
                </a:solidFill>
              </a:rPr>
              <a:t>Solomonik</a:t>
            </a:r>
            <a:r>
              <a:rPr lang="en-US" sz="2800" b="1" dirty="0" smtClean="0">
                <a:solidFill>
                  <a:srgbClr val="0824F2"/>
                </a:solidFill>
              </a:rPr>
              <a:t>, </a:t>
            </a:r>
            <a:r>
              <a:rPr lang="en-US" sz="2800" b="1" dirty="0" err="1" smtClean="0">
                <a:solidFill>
                  <a:srgbClr val="0824F2"/>
                </a:solidFill>
              </a:rPr>
              <a:t>Bhatele</a:t>
            </a:r>
            <a:r>
              <a:rPr lang="en-US" sz="2800" b="1" dirty="0" smtClean="0">
                <a:solidFill>
                  <a:srgbClr val="0824F2"/>
                </a:solidFill>
              </a:rPr>
              <a:t>, D.</a:t>
            </a:r>
            <a:endParaRPr lang="en-US" sz="2800" b="1" dirty="0">
              <a:solidFill>
                <a:srgbClr val="0824F2"/>
              </a:solidFill>
            </a:endParaRPr>
          </a:p>
        </p:txBody>
      </p:sp>
    </p:spTree>
    <p:extLst>
      <p:ext uri="{BB962C8B-B14F-4D97-AF65-F5344CB8AC3E}">
        <p14:creationId xmlns:p14="http://schemas.microsoft.com/office/powerpoint/2010/main" val="1611866506"/>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Slide Number Placeholder 5"/>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b="1">
                <a:solidFill>
                  <a:schemeClr val="tx1"/>
                </a:solidFill>
                <a:latin typeface="Arial" pitchFamily="34" charset="0"/>
              </a:defRPr>
            </a:lvl1pPr>
            <a:lvl2pPr marL="742950" indent="-285750">
              <a:defRPr sz="1200" b="1">
                <a:solidFill>
                  <a:schemeClr val="tx1"/>
                </a:solidFill>
                <a:latin typeface="Arial" pitchFamily="34" charset="0"/>
              </a:defRPr>
            </a:lvl2pPr>
            <a:lvl3pPr marL="1143000" indent="-228600">
              <a:defRPr sz="1200" b="1">
                <a:solidFill>
                  <a:schemeClr val="tx1"/>
                </a:solidFill>
                <a:latin typeface="Arial" pitchFamily="34" charset="0"/>
              </a:defRPr>
            </a:lvl3pPr>
            <a:lvl4pPr marL="1600200" indent="-228600">
              <a:defRPr sz="1200" b="1">
                <a:solidFill>
                  <a:schemeClr val="tx1"/>
                </a:solidFill>
                <a:latin typeface="Arial" pitchFamily="34" charset="0"/>
              </a:defRPr>
            </a:lvl4pPr>
            <a:lvl5pPr marL="2057400" indent="-228600">
              <a:defRPr sz="1200" b="1">
                <a:solidFill>
                  <a:schemeClr val="tx1"/>
                </a:solidFill>
                <a:latin typeface="Arial" pitchFamily="34" charset="0"/>
              </a:defRPr>
            </a:lvl5pPr>
            <a:lvl6pPr marL="2514600" indent="-228600" algn="l" rtl="0" eaLnBrk="0" fontAlgn="base" hangingPunct="0">
              <a:spcBef>
                <a:spcPct val="0"/>
              </a:spcBef>
              <a:spcAft>
                <a:spcPct val="0"/>
              </a:spcAft>
              <a:defRPr sz="1200" b="1">
                <a:solidFill>
                  <a:schemeClr val="tx1"/>
                </a:solidFill>
                <a:latin typeface="Arial" pitchFamily="34" charset="0"/>
              </a:defRPr>
            </a:lvl6pPr>
            <a:lvl7pPr marL="2971800" indent="-228600" algn="l" rtl="0" eaLnBrk="0" fontAlgn="base" hangingPunct="0">
              <a:spcBef>
                <a:spcPct val="0"/>
              </a:spcBef>
              <a:spcAft>
                <a:spcPct val="0"/>
              </a:spcAft>
              <a:defRPr sz="1200" b="1">
                <a:solidFill>
                  <a:schemeClr val="tx1"/>
                </a:solidFill>
                <a:latin typeface="Arial" pitchFamily="34" charset="0"/>
              </a:defRPr>
            </a:lvl7pPr>
            <a:lvl8pPr marL="3429000" indent="-228600" algn="l" rtl="0" eaLnBrk="0" fontAlgn="base" hangingPunct="0">
              <a:spcBef>
                <a:spcPct val="0"/>
              </a:spcBef>
              <a:spcAft>
                <a:spcPct val="0"/>
              </a:spcAft>
              <a:defRPr sz="1200" b="1">
                <a:solidFill>
                  <a:schemeClr val="tx1"/>
                </a:solidFill>
                <a:latin typeface="Arial" pitchFamily="34" charset="0"/>
              </a:defRPr>
            </a:lvl8pPr>
            <a:lvl9pPr marL="3886200" indent="-228600" algn="l" rtl="0" eaLnBrk="0" fontAlgn="base" hangingPunct="0">
              <a:spcBef>
                <a:spcPct val="0"/>
              </a:spcBef>
              <a:spcAft>
                <a:spcPct val="0"/>
              </a:spcAft>
              <a:defRPr sz="1200" b="1">
                <a:solidFill>
                  <a:schemeClr val="tx1"/>
                </a:solidFill>
                <a:latin typeface="Arial" pitchFamily="34" charset="0"/>
              </a:defRPr>
            </a:lvl9pPr>
          </a:lstStyle>
          <a:p>
            <a:pPr algn="l"/>
            <a:fld id="{560B3AEA-5268-45FA-9A76-058CF5B34B83}" type="slidenum">
              <a:rPr lang="en-US" sz="1400" b="0" smtClean="0">
                <a:latin typeface="Times New Roman" pitchFamily="18" charset="0"/>
              </a:rPr>
              <a:pPr algn="l"/>
              <a:t>31</a:t>
            </a:fld>
            <a:endParaRPr lang="en-US" sz="1400" b="0" smtClean="0">
              <a:latin typeface="Times New Roman" pitchFamily="18" charset="0"/>
            </a:endParaRPr>
          </a:p>
        </p:txBody>
      </p:sp>
      <p:sp>
        <p:nvSpPr>
          <p:cNvPr id="20484" name="Rectangle 2"/>
          <p:cNvSpPr>
            <a:spLocks noGrp="1" noChangeArrowheads="1"/>
          </p:cNvSpPr>
          <p:nvPr>
            <p:ph type="title"/>
          </p:nvPr>
        </p:nvSpPr>
        <p:spPr>
          <a:xfrm>
            <a:off x="152400" y="260350"/>
            <a:ext cx="8839200" cy="425450"/>
          </a:xfrm>
        </p:spPr>
        <p:txBody>
          <a:bodyPr>
            <a:noAutofit/>
          </a:bodyPr>
          <a:lstStyle/>
          <a:p>
            <a:r>
              <a:rPr lang="en-US" sz="3600" dirty="0" smtClean="0"/>
              <a:t>Extending to rest of Direct Linear Algebra</a:t>
            </a:r>
            <a:br>
              <a:rPr lang="en-US" sz="3600" dirty="0" smtClean="0"/>
            </a:br>
            <a:r>
              <a:rPr lang="en-US" sz="3600" dirty="0" smtClean="0"/>
              <a:t>Na</a:t>
            </a:r>
            <a:r>
              <a:rPr lang="fr-FR" sz="3600" dirty="0" err="1" smtClean="0"/>
              <a:t>ï</a:t>
            </a:r>
            <a:r>
              <a:rPr lang="en-US" sz="3600" dirty="0" err="1" smtClean="0"/>
              <a:t>ve</a:t>
            </a:r>
            <a:r>
              <a:rPr lang="en-US" sz="3600" dirty="0" smtClean="0"/>
              <a:t> Gaussian Elimination: A =LU</a:t>
            </a:r>
          </a:p>
        </p:txBody>
      </p:sp>
      <p:sp>
        <p:nvSpPr>
          <p:cNvPr id="20485" name="Rectangle 3"/>
          <p:cNvSpPr>
            <a:spLocks noGrp="1" noChangeArrowheads="1"/>
          </p:cNvSpPr>
          <p:nvPr>
            <p:ph type="body" idx="1"/>
          </p:nvPr>
        </p:nvSpPr>
        <p:spPr>
          <a:xfrm>
            <a:off x="9677400" y="914400"/>
            <a:ext cx="8001000" cy="1420902"/>
          </a:xfrm>
        </p:spPr>
        <p:txBody>
          <a:bodyPr>
            <a:normAutofit lnSpcReduction="10000"/>
          </a:bodyPr>
          <a:lstStyle/>
          <a:p>
            <a:r>
              <a:rPr lang="en-US" sz="2000" dirty="0" smtClean="0"/>
              <a:t>Last version</a:t>
            </a:r>
          </a:p>
          <a:p>
            <a:endParaRPr lang="en-US" sz="2000" dirty="0" smtClean="0"/>
          </a:p>
          <a:p>
            <a:endParaRPr lang="en-US" sz="2000" dirty="0" smtClean="0"/>
          </a:p>
          <a:p>
            <a:r>
              <a:rPr lang="en-US" sz="2000" dirty="0" smtClean="0"/>
              <a:t>Express using matrix operations (BLAS)</a:t>
            </a:r>
          </a:p>
        </p:txBody>
      </p:sp>
      <p:sp>
        <p:nvSpPr>
          <p:cNvPr id="20486" name="Text Box 4"/>
          <p:cNvSpPr txBox="1">
            <a:spLocks noChangeArrowheads="1"/>
          </p:cNvSpPr>
          <p:nvPr/>
        </p:nvSpPr>
        <p:spPr bwMode="auto">
          <a:xfrm>
            <a:off x="457200" y="1066800"/>
            <a:ext cx="3657600" cy="1600200"/>
          </a:xfrm>
          <a:prstGeom prst="rect">
            <a:avLst/>
          </a:prstGeom>
          <a:noFill/>
          <a:ln w="12700">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square">
            <a:spAutoFit/>
          </a:bodyPr>
          <a:lstStyle>
            <a:lvl1pPr>
              <a:defRPr sz="1200" b="1">
                <a:solidFill>
                  <a:schemeClr val="tx1"/>
                </a:solidFill>
                <a:latin typeface="Arial" pitchFamily="34" charset="0"/>
              </a:defRPr>
            </a:lvl1pPr>
            <a:lvl2pPr marL="742950" indent="-285750">
              <a:defRPr sz="1200" b="1">
                <a:solidFill>
                  <a:schemeClr val="tx1"/>
                </a:solidFill>
                <a:latin typeface="Arial" pitchFamily="34" charset="0"/>
              </a:defRPr>
            </a:lvl2pPr>
            <a:lvl3pPr marL="1143000" indent="-228600">
              <a:defRPr sz="1200" b="1">
                <a:solidFill>
                  <a:schemeClr val="tx1"/>
                </a:solidFill>
                <a:latin typeface="Arial" pitchFamily="34" charset="0"/>
              </a:defRPr>
            </a:lvl3pPr>
            <a:lvl4pPr marL="1600200" indent="-228600">
              <a:defRPr sz="1200" b="1">
                <a:solidFill>
                  <a:schemeClr val="tx1"/>
                </a:solidFill>
                <a:latin typeface="Arial" pitchFamily="34" charset="0"/>
              </a:defRPr>
            </a:lvl4pPr>
            <a:lvl5pPr marL="2057400" indent="-228600">
              <a:defRPr sz="1200" b="1">
                <a:solidFill>
                  <a:schemeClr val="tx1"/>
                </a:solidFill>
                <a:latin typeface="Arial" pitchFamily="34" charset="0"/>
              </a:defRPr>
            </a:lvl5pPr>
            <a:lvl6pPr marL="2514600" indent="-228600" algn="l" rtl="0" eaLnBrk="0" fontAlgn="base" hangingPunct="0">
              <a:spcBef>
                <a:spcPct val="0"/>
              </a:spcBef>
              <a:spcAft>
                <a:spcPct val="0"/>
              </a:spcAft>
              <a:defRPr sz="1200" b="1">
                <a:solidFill>
                  <a:schemeClr val="tx1"/>
                </a:solidFill>
                <a:latin typeface="Arial" pitchFamily="34" charset="0"/>
              </a:defRPr>
            </a:lvl6pPr>
            <a:lvl7pPr marL="2971800" indent="-228600" algn="l" rtl="0" eaLnBrk="0" fontAlgn="base" hangingPunct="0">
              <a:spcBef>
                <a:spcPct val="0"/>
              </a:spcBef>
              <a:spcAft>
                <a:spcPct val="0"/>
              </a:spcAft>
              <a:defRPr sz="1200" b="1">
                <a:solidFill>
                  <a:schemeClr val="tx1"/>
                </a:solidFill>
                <a:latin typeface="Arial" pitchFamily="34" charset="0"/>
              </a:defRPr>
            </a:lvl7pPr>
            <a:lvl8pPr marL="3429000" indent="-228600" algn="l" rtl="0" eaLnBrk="0" fontAlgn="base" hangingPunct="0">
              <a:spcBef>
                <a:spcPct val="0"/>
              </a:spcBef>
              <a:spcAft>
                <a:spcPct val="0"/>
              </a:spcAft>
              <a:defRPr sz="1200" b="1">
                <a:solidFill>
                  <a:schemeClr val="tx1"/>
                </a:solidFill>
                <a:latin typeface="Arial" pitchFamily="34" charset="0"/>
              </a:defRPr>
            </a:lvl8pPr>
            <a:lvl9pPr marL="3886200" indent="-228600" algn="l" rtl="0" eaLnBrk="0" fontAlgn="base" hangingPunct="0">
              <a:spcBef>
                <a:spcPct val="0"/>
              </a:spcBef>
              <a:spcAft>
                <a:spcPct val="0"/>
              </a:spcAft>
              <a:defRPr sz="1200" b="1">
                <a:solidFill>
                  <a:schemeClr val="tx1"/>
                </a:solidFill>
                <a:latin typeface="Arial" pitchFamily="34" charset="0"/>
              </a:defRPr>
            </a:lvl9pPr>
          </a:lstStyle>
          <a:p>
            <a:pPr algn="l"/>
            <a:r>
              <a:rPr lang="en-US" sz="1600" dirty="0"/>
              <a:t>for </a:t>
            </a:r>
            <a:r>
              <a:rPr lang="en-US" sz="1600" dirty="0" err="1"/>
              <a:t>i</a:t>
            </a:r>
            <a:r>
              <a:rPr lang="en-US" sz="1600" dirty="0"/>
              <a:t> = 1 to n-1</a:t>
            </a:r>
          </a:p>
          <a:p>
            <a:pPr algn="l"/>
            <a:r>
              <a:rPr lang="en-US" sz="1600" dirty="0"/>
              <a:t>     </a:t>
            </a:r>
            <a:r>
              <a:rPr lang="en-US" sz="1600" dirty="0">
                <a:solidFill>
                  <a:schemeClr val="accent1"/>
                </a:solidFill>
              </a:rPr>
              <a:t>A(i+1:n,i) = A(i+1:n,i) * ( 1 / A(</a:t>
            </a:r>
            <a:r>
              <a:rPr lang="en-US" sz="1600" dirty="0" err="1">
                <a:solidFill>
                  <a:schemeClr val="accent1"/>
                </a:solidFill>
              </a:rPr>
              <a:t>i,i</a:t>
            </a:r>
            <a:r>
              <a:rPr lang="en-US" sz="1600" dirty="0">
                <a:solidFill>
                  <a:schemeClr val="accent1"/>
                </a:solidFill>
              </a:rPr>
              <a:t>) )</a:t>
            </a:r>
          </a:p>
          <a:p>
            <a:pPr algn="l"/>
            <a:r>
              <a:rPr lang="en-US" sz="1600" dirty="0">
                <a:solidFill>
                  <a:schemeClr val="accent1"/>
                </a:solidFill>
              </a:rPr>
              <a:t>             </a:t>
            </a:r>
            <a:r>
              <a:rPr lang="en-US" sz="1600" dirty="0">
                <a:solidFill>
                  <a:schemeClr val="accent2"/>
                </a:solidFill>
              </a:rPr>
              <a:t>… </a:t>
            </a:r>
            <a:r>
              <a:rPr lang="en-US" sz="1600" dirty="0" smtClean="0">
                <a:solidFill>
                  <a:schemeClr val="accent2"/>
                </a:solidFill>
              </a:rPr>
              <a:t> scale </a:t>
            </a:r>
            <a:r>
              <a:rPr lang="en-US" sz="1600" dirty="0">
                <a:solidFill>
                  <a:schemeClr val="accent2"/>
                </a:solidFill>
              </a:rPr>
              <a:t>a </a:t>
            </a:r>
            <a:r>
              <a:rPr lang="en-US" sz="1600" dirty="0" smtClean="0">
                <a:solidFill>
                  <a:schemeClr val="accent2"/>
                </a:solidFill>
              </a:rPr>
              <a:t>vector</a:t>
            </a:r>
            <a:endParaRPr lang="en-US" sz="1600" dirty="0">
              <a:solidFill>
                <a:schemeClr val="accent2"/>
              </a:solidFill>
            </a:endParaRPr>
          </a:p>
          <a:p>
            <a:pPr algn="l"/>
            <a:r>
              <a:rPr lang="en-US" sz="1600" dirty="0">
                <a:solidFill>
                  <a:schemeClr val="accent1"/>
                </a:solidFill>
              </a:rPr>
              <a:t>     A(i+1:n,i+1:n) = A(i+1:n , i+1:n ) </a:t>
            </a:r>
          </a:p>
          <a:p>
            <a:pPr algn="l"/>
            <a:r>
              <a:rPr lang="en-US" sz="1600" dirty="0">
                <a:solidFill>
                  <a:schemeClr val="accent1"/>
                </a:solidFill>
              </a:rPr>
              <a:t>              - A(i+1:n , </a:t>
            </a:r>
            <a:r>
              <a:rPr lang="en-US" sz="1600" dirty="0" err="1">
                <a:solidFill>
                  <a:schemeClr val="accent1"/>
                </a:solidFill>
              </a:rPr>
              <a:t>i</a:t>
            </a:r>
            <a:r>
              <a:rPr lang="en-US" sz="1600" dirty="0">
                <a:solidFill>
                  <a:schemeClr val="accent1"/>
                </a:solidFill>
              </a:rPr>
              <a:t>) * A(</a:t>
            </a:r>
            <a:r>
              <a:rPr lang="en-US" sz="1600" dirty="0" err="1">
                <a:solidFill>
                  <a:schemeClr val="accent1"/>
                </a:solidFill>
              </a:rPr>
              <a:t>i</a:t>
            </a:r>
            <a:r>
              <a:rPr lang="en-US" sz="1600" dirty="0">
                <a:solidFill>
                  <a:schemeClr val="accent1"/>
                </a:solidFill>
              </a:rPr>
              <a:t> , i+1:n)</a:t>
            </a:r>
          </a:p>
          <a:p>
            <a:pPr algn="l"/>
            <a:r>
              <a:rPr lang="en-US" sz="1600" dirty="0">
                <a:solidFill>
                  <a:schemeClr val="accent1"/>
                </a:solidFill>
              </a:rPr>
              <a:t>              </a:t>
            </a:r>
            <a:r>
              <a:rPr lang="en-US" sz="1600" dirty="0">
                <a:solidFill>
                  <a:schemeClr val="accent2"/>
                </a:solidFill>
              </a:rPr>
              <a:t>… </a:t>
            </a:r>
            <a:r>
              <a:rPr lang="en-US" sz="1600" dirty="0" smtClean="0">
                <a:solidFill>
                  <a:schemeClr val="accent2"/>
                </a:solidFill>
              </a:rPr>
              <a:t>rank</a:t>
            </a:r>
            <a:r>
              <a:rPr lang="en-US" sz="1600" dirty="0">
                <a:solidFill>
                  <a:schemeClr val="accent2"/>
                </a:solidFill>
              </a:rPr>
              <a:t>-1 </a:t>
            </a:r>
            <a:r>
              <a:rPr lang="en-US" sz="1600" dirty="0" smtClean="0">
                <a:solidFill>
                  <a:schemeClr val="accent2"/>
                </a:solidFill>
              </a:rPr>
              <a:t>update</a:t>
            </a:r>
            <a:endParaRPr lang="en-US" sz="1600" dirty="0">
              <a:solidFill>
                <a:schemeClr val="accent2"/>
              </a:solidFill>
            </a:endParaRPr>
          </a:p>
        </p:txBody>
      </p:sp>
      <p:sp>
        <p:nvSpPr>
          <p:cNvPr id="20487" name="Text Box 5"/>
          <p:cNvSpPr txBox="1">
            <a:spLocks noChangeArrowheads="1"/>
          </p:cNvSpPr>
          <p:nvPr/>
        </p:nvSpPr>
        <p:spPr bwMode="auto">
          <a:xfrm>
            <a:off x="9906000" y="3124200"/>
            <a:ext cx="3637471" cy="2185214"/>
          </a:xfrm>
          <a:prstGeom prst="rect">
            <a:avLst/>
          </a:prstGeom>
          <a:noFill/>
          <a:ln w="12700">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spAutoFit/>
          </a:bodyPr>
          <a:lstStyle>
            <a:lvl1pPr>
              <a:defRPr sz="1200" b="1">
                <a:solidFill>
                  <a:schemeClr val="tx1"/>
                </a:solidFill>
                <a:latin typeface="Arial" pitchFamily="34" charset="0"/>
              </a:defRPr>
            </a:lvl1pPr>
            <a:lvl2pPr marL="742950" indent="-285750">
              <a:defRPr sz="1200" b="1">
                <a:solidFill>
                  <a:schemeClr val="tx1"/>
                </a:solidFill>
                <a:latin typeface="Arial" pitchFamily="34" charset="0"/>
              </a:defRPr>
            </a:lvl2pPr>
            <a:lvl3pPr marL="1143000" indent="-228600">
              <a:defRPr sz="1200" b="1">
                <a:solidFill>
                  <a:schemeClr val="tx1"/>
                </a:solidFill>
                <a:latin typeface="Arial" pitchFamily="34" charset="0"/>
              </a:defRPr>
            </a:lvl3pPr>
            <a:lvl4pPr marL="1600200" indent="-228600">
              <a:defRPr sz="1200" b="1">
                <a:solidFill>
                  <a:schemeClr val="tx1"/>
                </a:solidFill>
                <a:latin typeface="Arial" pitchFamily="34" charset="0"/>
              </a:defRPr>
            </a:lvl4pPr>
            <a:lvl5pPr marL="2057400" indent="-228600">
              <a:defRPr sz="1200" b="1">
                <a:solidFill>
                  <a:schemeClr val="tx1"/>
                </a:solidFill>
                <a:latin typeface="Arial" pitchFamily="34" charset="0"/>
              </a:defRPr>
            </a:lvl5pPr>
            <a:lvl6pPr marL="2514600" indent="-228600" algn="l" rtl="0" eaLnBrk="0" fontAlgn="base" hangingPunct="0">
              <a:spcBef>
                <a:spcPct val="0"/>
              </a:spcBef>
              <a:spcAft>
                <a:spcPct val="0"/>
              </a:spcAft>
              <a:defRPr sz="1200" b="1">
                <a:solidFill>
                  <a:schemeClr val="tx1"/>
                </a:solidFill>
                <a:latin typeface="Arial" pitchFamily="34" charset="0"/>
              </a:defRPr>
            </a:lvl6pPr>
            <a:lvl7pPr marL="2971800" indent="-228600" algn="l" rtl="0" eaLnBrk="0" fontAlgn="base" hangingPunct="0">
              <a:spcBef>
                <a:spcPct val="0"/>
              </a:spcBef>
              <a:spcAft>
                <a:spcPct val="0"/>
              </a:spcAft>
              <a:defRPr sz="1200" b="1">
                <a:solidFill>
                  <a:schemeClr val="tx1"/>
                </a:solidFill>
                <a:latin typeface="Arial" pitchFamily="34" charset="0"/>
              </a:defRPr>
            </a:lvl7pPr>
            <a:lvl8pPr marL="3429000" indent="-228600" algn="l" rtl="0" eaLnBrk="0" fontAlgn="base" hangingPunct="0">
              <a:spcBef>
                <a:spcPct val="0"/>
              </a:spcBef>
              <a:spcAft>
                <a:spcPct val="0"/>
              </a:spcAft>
              <a:defRPr sz="1200" b="1">
                <a:solidFill>
                  <a:schemeClr val="tx1"/>
                </a:solidFill>
                <a:latin typeface="Arial" pitchFamily="34" charset="0"/>
              </a:defRPr>
            </a:lvl8pPr>
            <a:lvl9pPr marL="3886200" indent="-228600" algn="l" rtl="0" eaLnBrk="0" fontAlgn="base" hangingPunct="0">
              <a:spcBef>
                <a:spcPct val="0"/>
              </a:spcBef>
              <a:spcAft>
                <a:spcPct val="0"/>
              </a:spcAft>
              <a:defRPr sz="1200" b="1">
                <a:solidFill>
                  <a:schemeClr val="tx1"/>
                </a:solidFill>
                <a:latin typeface="Arial" pitchFamily="34" charset="0"/>
              </a:defRPr>
            </a:lvl9pPr>
          </a:lstStyle>
          <a:p>
            <a:pPr algn="l"/>
            <a:r>
              <a:rPr lang="en-US" sz="1600"/>
              <a:t>for i = 1 to n-1</a:t>
            </a:r>
          </a:p>
          <a:p>
            <a:pPr algn="l"/>
            <a:r>
              <a:rPr lang="en-US" sz="1600"/>
              <a:t>     for j = i+1 to n</a:t>
            </a:r>
          </a:p>
          <a:p>
            <a:pPr algn="l"/>
            <a:r>
              <a:rPr lang="en-US" sz="1600"/>
              <a:t>          A(j,i) = A(j,i)/A(i,i)</a:t>
            </a:r>
          </a:p>
          <a:p>
            <a:pPr algn="l"/>
            <a:r>
              <a:rPr lang="en-US" sz="1600"/>
              <a:t>     for j = i+1 to n</a:t>
            </a:r>
          </a:p>
          <a:p>
            <a:pPr algn="l"/>
            <a:r>
              <a:rPr lang="en-US" sz="1600"/>
              <a:t>          for k = i+1 to n</a:t>
            </a:r>
          </a:p>
          <a:p>
            <a:pPr algn="l"/>
            <a:r>
              <a:rPr lang="en-US" sz="1600"/>
              <a:t>               A(j,k) = A(j,k) - A(j,i) * A(i,k)</a:t>
            </a:r>
          </a:p>
        </p:txBody>
      </p:sp>
      <p:pic>
        <p:nvPicPr>
          <p:cNvPr id="20488" name="Picture 6" descr="U:\public_html\cs267\lecture12\Gauss2bf.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19400" y="2840038"/>
            <a:ext cx="3886200" cy="3560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p:cNvSpPr txBox="1"/>
          <p:nvPr/>
        </p:nvSpPr>
        <p:spPr>
          <a:xfrm>
            <a:off x="4419600" y="1676400"/>
            <a:ext cx="483238" cy="369332"/>
          </a:xfrm>
          <a:prstGeom prst="rect">
            <a:avLst/>
          </a:prstGeom>
          <a:noFill/>
        </p:spPr>
        <p:txBody>
          <a:bodyPr wrap="none" rtlCol="0">
            <a:spAutoFit/>
          </a:bodyPr>
          <a:lstStyle/>
          <a:p>
            <a:r>
              <a:rPr lang="en-US" dirty="0" smtClean="0"/>
              <a:t> </a:t>
            </a:r>
            <a:r>
              <a:rPr lang="en-US" dirty="0" smtClean="0">
                <a:latin typeface="Wingdings"/>
                <a:ea typeface="Wingdings"/>
                <a:cs typeface="Wingdings"/>
                <a:sym typeface="Wingdings"/>
              </a:rPr>
              <a:t></a:t>
            </a:r>
            <a:endParaRPr lang="en-US" dirty="0"/>
          </a:p>
        </p:txBody>
      </p:sp>
      <p:sp>
        <p:nvSpPr>
          <p:cNvPr id="9" name="Content Placeholder 2"/>
          <p:cNvSpPr txBox="1">
            <a:spLocks/>
          </p:cNvSpPr>
          <p:nvPr/>
        </p:nvSpPr>
        <p:spPr>
          <a:xfrm>
            <a:off x="5105400" y="1066800"/>
            <a:ext cx="3352800" cy="1600200"/>
          </a:xfrm>
          <a:prstGeom prst="rect">
            <a:avLst/>
          </a:prstGeom>
          <a:ln>
            <a:solidFill>
              <a:schemeClr val="tx1"/>
            </a:solidFill>
          </a:ln>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200" dirty="0" smtClean="0"/>
              <a:t>for  </a:t>
            </a:r>
            <a:r>
              <a:rPr lang="en-US" sz="2200" dirty="0" err="1" smtClean="0"/>
              <a:t>i</a:t>
            </a:r>
            <a:r>
              <a:rPr lang="en-US" sz="2200" dirty="0" smtClean="0"/>
              <a:t>=1 to n-1</a:t>
            </a:r>
          </a:p>
          <a:p>
            <a:pPr>
              <a:buFont typeface="Arial" pitchFamily="34" charset="0"/>
              <a:buNone/>
            </a:pPr>
            <a:r>
              <a:rPr lang="en-US" sz="2200" dirty="0" smtClean="0"/>
              <a:t>        update column </a:t>
            </a:r>
            <a:r>
              <a:rPr lang="en-US" sz="2200" dirty="0" err="1" smtClean="0"/>
              <a:t>i</a:t>
            </a:r>
            <a:endParaRPr lang="en-US" sz="2200" dirty="0" smtClean="0"/>
          </a:p>
          <a:p>
            <a:pPr>
              <a:buFont typeface="Arial" pitchFamily="34" charset="0"/>
              <a:buNone/>
            </a:pPr>
            <a:r>
              <a:rPr lang="en-US" sz="2200" dirty="0" smtClean="0"/>
              <a:t>        update trailing  matrix</a:t>
            </a:r>
          </a:p>
        </p:txBody>
      </p:sp>
    </p:spTree>
    <p:extLst>
      <p:ext uri="{BB962C8B-B14F-4D97-AF65-F5344CB8AC3E}">
        <p14:creationId xmlns:p14="http://schemas.microsoft.com/office/powerpoint/2010/main" val="1162270068"/>
      </p:ext>
    </p:extLst>
  </p:cSld>
  <p:clrMapOvr>
    <a:masterClrMapping/>
  </p:clrMapOvr>
  <p:timing>
    <p:tnLst>
      <p:par>
        <p:cTn xmlns:p14="http://schemas.microsoft.com/office/powerpoint/2010/mai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76200"/>
            <a:ext cx="8686800" cy="1143000"/>
          </a:xfrm>
        </p:spPr>
        <p:txBody>
          <a:bodyPr rtlCol="0">
            <a:noAutofit/>
          </a:bodyPr>
          <a:lstStyle/>
          <a:p>
            <a:pPr eaLnBrk="1" fontAlgn="auto" hangingPunct="1">
              <a:spcAft>
                <a:spcPts val="0"/>
              </a:spcAft>
              <a:defRPr/>
            </a:pPr>
            <a:r>
              <a:rPr lang="en-US" sz="3600" dirty="0" smtClean="0"/>
              <a:t>Communication in sequential</a:t>
            </a:r>
            <a:br>
              <a:rPr lang="en-US" sz="3600" dirty="0" smtClean="0"/>
            </a:br>
            <a:r>
              <a:rPr lang="en-US" sz="3600" dirty="0" smtClean="0"/>
              <a:t>One-sided Factorizations (LU, QR, …)</a:t>
            </a:r>
            <a:endParaRPr lang="en-US" sz="3600" dirty="0"/>
          </a:p>
        </p:txBody>
      </p:sp>
      <p:sp>
        <p:nvSpPr>
          <p:cNvPr id="16387" name="Content Placeholder 2"/>
          <p:cNvSpPr>
            <a:spLocks noGrp="1"/>
          </p:cNvSpPr>
          <p:nvPr>
            <p:ph idx="1"/>
          </p:nvPr>
        </p:nvSpPr>
        <p:spPr>
          <a:xfrm>
            <a:off x="457200" y="1219200"/>
            <a:ext cx="3810000" cy="2209800"/>
          </a:xfrm>
          <a:ln>
            <a:solidFill>
              <a:schemeClr val="tx1"/>
            </a:solidFill>
          </a:ln>
        </p:spPr>
        <p:txBody>
          <a:bodyPr/>
          <a:lstStyle/>
          <a:p>
            <a:pPr eaLnBrk="1" hangingPunct="1"/>
            <a:r>
              <a:rPr lang="en-US" sz="2200" dirty="0" smtClean="0"/>
              <a:t>Naive Approach</a:t>
            </a:r>
          </a:p>
          <a:p>
            <a:pPr eaLnBrk="1" hangingPunct="1">
              <a:buFont typeface="Arial" pitchFamily="34" charset="0"/>
              <a:buNone/>
            </a:pPr>
            <a:r>
              <a:rPr lang="en-US" sz="2200" dirty="0" smtClean="0"/>
              <a:t>    for  </a:t>
            </a:r>
            <a:r>
              <a:rPr lang="en-US" sz="2200" dirty="0" err="1" smtClean="0"/>
              <a:t>i</a:t>
            </a:r>
            <a:r>
              <a:rPr lang="en-US" sz="2200" dirty="0" smtClean="0"/>
              <a:t>=1 to n-1</a:t>
            </a:r>
          </a:p>
          <a:p>
            <a:pPr eaLnBrk="1" hangingPunct="1">
              <a:buFont typeface="Arial" pitchFamily="34" charset="0"/>
              <a:buNone/>
            </a:pPr>
            <a:r>
              <a:rPr lang="en-US" sz="2200" dirty="0" smtClean="0"/>
              <a:t>        update column </a:t>
            </a:r>
            <a:r>
              <a:rPr lang="en-US" sz="2200" dirty="0" err="1" smtClean="0"/>
              <a:t>i</a:t>
            </a:r>
            <a:endParaRPr lang="en-US" sz="2200" dirty="0" smtClean="0"/>
          </a:p>
          <a:p>
            <a:pPr eaLnBrk="1" hangingPunct="1">
              <a:buFont typeface="Arial" pitchFamily="34" charset="0"/>
              <a:buNone/>
            </a:pPr>
            <a:r>
              <a:rPr lang="en-US" sz="2200" dirty="0" smtClean="0"/>
              <a:t>        update trailing  matrix</a:t>
            </a:r>
          </a:p>
          <a:p>
            <a:pPr eaLnBrk="1" hangingPunct="1"/>
            <a:r>
              <a:rPr lang="en-US" sz="2200" dirty="0" smtClean="0"/>
              <a:t>#</a:t>
            </a:r>
            <a:r>
              <a:rPr lang="en-US" sz="2200" dirty="0" err="1" smtClean="0"/>
              <a:t>words_moved</a:t>
            </a:r>
            <a:r>
              <a:rPr lang="en-US" sz="2200" dirty="0" smtClean="0"/>
              <a:t> = O(n</a:t>
            </a:r>
            <a:r>
              <a:rPr lang="en-US" sz="2200" baseline="30000" dirty="0" smtClean="0"/>
              <a:t>3</a:t>
            </a:r>
            <a:r>
              <a:rPr lang="en-US" sz="2200" dirty="0" smtClean="0"/>
              <a:t>)</a:t>
            </a:r>
          </a:p>
        </p:txBody>
      </p:sp>
      <p:sp>
        <p:nvSpPr>
          <p:cNvPr id="4" name="Slide Number Placeholder 3"/>
          <p:cNvSpPr>
            <a:spLocks noGrp="1"/>
          </p:cNvSpPr>
          <p:nvPr>
            <p:ph type="sldNum" sz="quarter" idx="12"/>
          </p:nvPr>
        </p:nvSpPr>
        <p:spPr>
          <a:xfrm>
            <a:off x="3505200" y="6416675"/>
            <a:ext cx="2133600" cy="365125"/>
          </a:xfrm>
        </p:spPr>
        <p:txBody>
          <a:bodyPr/>
          <a:lstStyle/>
          <a:p>
            <a:pPr algn="ctr">
              <a:defRPr/>
            </a:pPr>
            <a:fld id="{7002DAB5-86C3-45FC-A56E-8440CAB0A689}" type="slidenum">
              <a:rPr lang="en-US"/>
              <a:pPr algn="ctr">
                <a:defRPr/>
              </a:pPr>
              <a:t>32</a:t>
            </a:fld>
            <a:endParaRPr lang="en-US" dirty="0"/>
          </a:p>
        </p:txBody>
      </p:sp>
      <p:sp>
        <p:nvSpPr>
          <p:cNvPr id="5" name="Content Placeholder 2"/>
          <p:cNvSpPr txBox="1">
            <a:spLocks/>
          </p:cNvSpPr>
          <p:nvPr/>
        </p:nvSpPr>
        <p:spPr bwMode="auto">
          <a:xfrm>
            <a:off x="4572000" y="1219200"/>
            <a:ext cx="3962400" cy="2209800"/>
          </a:xfrm>
          <a:prstGeom prst="rect">
            <a:avLst/>
          </a:prstGeom>
          <a:noFill/>
          <a:ln w="9525">
            <a:solidFill>
              <a:schemeClr val="tx1"/>
            </a:solidFill>
            <a:miter lim="800000"/>
            <a:headEnd/>
            <a:tailEnd/>
          </a:ln>
        </p:spPr>
        <p:txBody>
          <a:bodyPr/>
          <a:lstStyle/>
          <a:p>
            <a:pPr marL="342900" indent="-342900">
              <a:spcBef>
                <a:spcPct val="20000"/>
              </a:spcBef>
              <a:buFont typeface="Arial" pitchFamily="34" charset="0"/>
              <a:buChar char="•"/>
            </a:pPr>
            <a:r>
              <a:rPr lang="en-US" sz="2200" dirty="0">
                <a:latin typeface="Calibri" pitchFamily="34" charset="0"/>
              </a:rPr>
              <a:t>Blocked Approach (LAPACK)</a:t>
            </a:r>
          </a:p>
          <a:p>
            <a:pPr marL="342900" indent="-342900">
              <a:spcBef>
                <a:spcPct val="20000"/>
              </a:spcBef>
              <a:buFont typeface="Arial" pitchFamily="34" charset="0"/>
              <a:buNone/>
            </a:pPr>
            <a:r>
              <a:rPr lang="en-US" sz="2200" dirty="0">
                <a:latin typeface="Calibri" pitchFamily="34" charset="0"/>
              </a:rPr>
              <a:t>  </a:t>
            </a:r>
            <a:r>
              <a:rPr lang="en-US" sz="2200" dirty="0" smtClean="0">
                <a:latin typeface="Calibri" pitchFamily="34" charset="0"/>
              </a:rPr>
              <a:t> </a:t>
            </a:r>
            <a:r>
              <a:rPr lang="en-US" sz="2200" dirty="0">
                <a:latin typeface="Calibri" pitchFamily="34" charset="0"/>
              </a:rPr>
              <a:t>for  </a:t>
            </a:r>
            <a:r>
              <a:rPr lang="en-US" sz="2200" dirty="0" err="1">
                <a:latin typeface="Calibri" pitchFamily="34" charset="0"/>
              </a:rPr>
              <a:t>i</a:t>
            </a:r>
            <a:r>
              <a:rPr lang="en-US" sz="2200" dirty="0">
                <a:latin typeface="Calibri" pitchFamily="34" charset="0"/>
              </a:rPr>
              <a:t>=1 to n</a:t>
            </a:r>
            <a:r>
              <a:rPr lang="en-US" sz="2200" dirty="0">
                <a:solidFill>
                  <a:srgbClr val="0824F2"/>
                </a:solidFill>
                <a:latin typeface="Calibri" pitchFamily="34" charset="0"/>
              </a:rPr>
              <a:t>/</a:t>
            </a:r>
            <a:r>
              <a:rPr lang="en-US" sz="2200" dirty="0" smtClean="0">
                <a:solidFill>
                  <a:srgbClr val="0824F2"/>
                </a:solidFill>
                <a:latin typeface="Calibri" pitchFamily="34" charset="0"/>
              </a:rPr>
              <a:t>b </a:t>
            </a:r>
            <a:r>
              <a:rPr lang="en-US" sz="2200" dirty="0" smtClean="0">
                <a:latin typeface="Calibri" pitchFamily="34" charset="0"/>
              </a:rPr>
              <a:t>- 1</a:t>
            </a:r>
            <a:endParaRPr lang="en-US" sz="2200" dirty="0">
              <a:latin typeface="Calibri" pitchFamily="34" charset="0"/>
            </a:endParaRPr>
          </a:p>
          <a:p>
            <a:pPr marL="342900" indent="-342900">
              <a:spcBef>
                <a:spcPct val="20000"/>
              </a:spcBef>
              <a:buFont typeface="Arial" pitchFamily="34" charset="0"/>
              <a:buNone/>
            </a:pPr>
            <a:r>
              <a:rPr lang="en-US" sz="2200" dirty="0">
                <a:latin typeface="Calibri" pitchFamily="34" charset="0"/>
              </a:rPr>
              <a:t>        update </a:t>
            </a:r>
            <a:r>
              <a:rPr lang="en-US" sz="2200" dirty="0">
                <a:solidFill>
                  <a:srgbClr val="0824F2"/>
                </a:solidFill>
                <a:latin typeface="Calibri" pitchFamily="34" charset="0"/>
              </a:rPr>
              <a:t>block</a:t>
            </a:r>
            <a:r>
              <a:rPr lang="en-US" sz="2200" dirty="0">
                <a:latin typeface="Calibri" pitchFamily="34" charset="0"/>
              </a:rPr>
              <a:t> </a:t>
            </a:r>
            <a:r>
              <a:rPr lang="en-US" sz="2200" dirty="0" err="1">
                <a:solidFill>
                  <a:srgbClr val="0824F2"/>
                </a:solidFill>
                <a:latin typeface="Calibri" pitchFamily="34" charset="0"/>
              </a:rPr>
              <a:t>i</a:t>
            </a:r>
            <a:r>
              <a:rPr lang="en-US" sz="2200" dirty="0">
                <a:solidFill>
                  <a:srgbClr val="0824F2"/>
                </a:solidFill>
                <a:latin typeface="Calibri" pitchFamily="34" charset="0"/>
              </a:rPr>
              <a:t> of b columns</a:t>
            </a:r>
          </a:p>
          <a:p>
            <a:pPr marL="342900" indent="-342900">
              <a:spcBef>
                <a:spcPct val="20000"/>
              </a:spcBef>
              <a:buFont typeface="Arial" pitchFamily="34" charset="0"/>
              <a:buNone/>
            </a:pPr>
            <a:r>
              <a:rPr lang="en-US" sz="2200" dirty="0">
                <a:latin typeface="Calibri" pitchFamily="34" charset="0"/>
              </a:rPr>
              <a:t>        update trailing  matrix</a:t>
            </a:r>
          </a:p>
          <a:p>
            <a:pPr marL="342900" indent="-342900">
              <a:spcBef>
                <a:spcPct val="20000"/>
              </a:spcBef>
              <a:buFont typeface="Arial" pitchFamily="34" charset="0"/>
              <a:buChar char="•"/>
            </a:pPr>
            <a:r>
              <a:rPr lang="en-US" sz="2200" dirty="0">
                <a:latin typeface="Calibri" pitchFamily="34" charset="0"/>
              </a:rPr>
              <a:t>#words moved = O(n</a:t>
            </a:r>
            <a:r>
              <a:rPr lang="en-US" sz="2200" baseline="30000" dirty="0">
                <a:latin typeface="Calibri" pitchFamily="34" charset="0"/>
              </a:rPr>
              <a:t>3</a:t>
            </a:r>
            <a:r>
              <a:rPr lang="en-US" sz="2200" dirty="0">
                <a:latin typeface="Calibri" pitchFamily="34" charset="0"/>
              </a:rPr>
              <a:t>/M</a:t>
            </a:r>
            <a:r>
              <a:rPr lang="en-US" sz="2200" baseline="30000" dirty="0">
                <a:solidFill>
                  <a:srgbClr val="FF0000"/>
                </a:solidFill>
                <a:latin typeface="Calibri" pitchFamily="34" charset="0"/>
              </a:rPr>
              <a:t>1/3</a:t>
            </a:r>
            <a:r>
              <a:rPr lang="en-US" sz="2200" dirty="0">
                <a:latin typeface="Calibri" pitchFamily="34" charset="0"/>
              </a:rPr>
              <a:t>)</a:t>
            </a:r>
          </a:p>
        </p:txBody>
      </p:sp>
      <p:sp>
        <p:nvSpPr>
          <p:cNvPr id="6" name="Content Placeholder 2"/>
          <p:cNvSpPr txBox="1">
            <a:spLocks/>
          </p:cNvSpPr>
          <p:nvPr/>
        </p:nvSpPr>
        <p:spPr bwMode="auto">
          <a:xfrm>
            <a:off x="457200" y="3581400"/>
            <a:ext cx="4419600" cy="3124200"/>
          </a:xfrm>
          <a:prstGeom prst="rect">
            <a:avLst/>
          </a:prstGeom>
          <a:noFill/>
          <a:ln w="9525">
            <a:solidFill>
              <a:schemeClr val="tx1"/>
            </a:solidFill>
            <a:miter lim="800000"/>
            <a:headEnd/>
            <a:tailEnd/>
          </a:ln>
        </p:spPr>
        <p:txBody>
          <a:bodyPr/>
          <a:lstStyle/>
          <a:p>
            <a:pPr marL="342900" indent="-342900">
              <a:spcBef>
                <a:spcPct val="20000"/>
              </a:spcBef>
              <a:buFont typeface="Arial" pitchFamily="34" charset="0"/>
              <a:buChar char="•"/>
            </a:pPr>
            <a:r>
              <a:rPr lang="en-US" sz="2200">
                <a:latin typeface="Calibri" pitchFamily="34" charset="0"/>
              </a:rPr>
              <a:t>Recursive Approach </a:t>
            </a:r>
          </a:p>
          <a:p>
            <a:pPr marL="342900" indent="-342900">
              <a:spcBef>
                <a:spcPct val="20000"/>
              </a:spcBef>
            </a:pPr>
            <a:r>
              <a:rPr lang="en-US" sz="2200">
                <a:latin typeface="Calibri" pitchFamily="34" charset="0"/>
              </a:rPr>
              <a:t>      func factor(A)</a:t>
            </a:r>
          </a:p>
          <a:p>
            <a:pPr marL="342900" indent="-342900">
              <a:spcBef>
                <a:spcPct val="20000"/>
              </a:spcBef>
            </a:pPr>
            <a:r>
              <a:rPr lang="en-US" sz="2200">
                <a:latin typeface="Calibri" pitchFamily="34" charset="0"/>
              </a:rPr>
              <a:t>           if A has 1 column,  update it else</a:t>
            </a:r>
          </a:p>
          <a:p>
            <a:pPr marL="342900" indent="-342900">
              <a:spcBef>
                <a:spcPct val="20000"/>
              </a:spcBef>
            </a:pPr>
            <a:r>
              <a:rPr lang="en-US" sz="2200">
                <a:latin typeface="Calibri" pitchFamily="34" charset="0"/>
              </a:rPr>
              <a:t>               factor(left half of A)</a:t>
            </a:r>
          </a:p>
          <a:p>
            <a:pPr marL="342900" indent="-342900">
              <a:spcBef>
                <a:spcPct val="20000"/>
              </a:spcBef>
            </a:pPr>
            <a:r>
              <a:rPr lang="en-US" sz="2200">
                <a:latin typeface="Calibri" pitchFamily="34" charset="0"/>
              </a:rPr>
              <a:t>               update right half of A</a:t>
            </a:r>
          </a:p>
          <a:p>
            <a:pPr marL="342900" indent="-342900">
              <a:spcBef>
                <a:spcPct val="20000"/>
              </a:spcBef>
            </a:pPr>
            <a:r>
              <a:rPr lang="en-US" sz="2200">
                <a:latin typeface="Calibri" pitchFamily="34" charset="0"/>
              </a:rPr>
              <a:t>               factor(right half of A)</a:t>
            </a:r>
          </a:p>
          <a:p>
            <a:pPr marL="342900" indent="-342900">
              <a:spcBef>
                <a:spcPct val="20000"/>
              </a:spcBef>
              <a:buFont typeface="Arial" pitchFamily="34" charset="0"/>
              <a:buChar char="•"/>
            </a:pPr>
            <a:r>
              <a:rPr lang="en-US" sz="2200">
                <a:latin typeface="Calibri" pitchFamily="34" charset="0"/>
              </a:rPr>
              <a:t>#words moved = O(n</a:t>
            </a:r>
            <a:r>
              <a:rPr lang="en-US" sz="2200" baseline="30000">
                <a:latin typeface="Calibri" pitchFamily="34" charset="0"/>
              </a:rPr>
              <a:t>3</a:t>
            </a:r>
            <a:r>
              <a:rPr lang="en-US" sz="2200">
                <a:latin typeface="Calibri" pitchFamily="34" charset="0"/>
              </a:rPr>
              <a:t>/M</a:t>
            </a:r>
            <a:r>
              <a:rPr lang="en-US" sz="2200" baseline="30000">
                <a:solidFill>
                  <a:srgbClr val="FF0000"/>
                </a:solidFill>
                <a:latin typeface="Calibri" pitchFamily="34" charset="0"/>
              </a:rPr>
              <a:t>1/2</a:t>
            </a:r>
            <a:r>
              <a:rPr lang="en-US" sz="2200">
                <a:latin typeface="Calibri" pitchFamily="34" charset="0"/>
              </a:rPr>
              <a:t>)</a:t>
            </a:r>
          </a:p>
        </p:txBody>
      </p:sp>
      <p:sp>
        <p:nvSpPr>
          <p:cNvPr id="7" name="TextBox 6"/>
          <p:cNvSpPr txBox="1">
            <a:spLocks noChangeArrowheads="1"/>
          </p:cNvSpPr>
          <p:nvPr/>
        </p:nvSpPr>
        <p:spPr bwMode="auto">
          <a:xfrm>
            <a:off x="5334000" y="4191000"/>
            <a:ext cx="3810000" cy="1938992"/>
          </a:xfrm>
          <a:prstGeom prst="rect">
            <a:avLst/>
          </a:prstGeom>
          <a:noFill/>
          <a:ln w="9525">
            <a:noFill/>
            <a:miter lim="800000"/>
            <a:headEnd/>
            <a:tailEnd/>
          </a:ln>
        </p:spPr>
        <p:txBody>
          <a:bodyPr>
            <a:spAutoFit/>
          </a:bodyPr>
          <a:lstStyle/>
          <a:p>
            <a:pPr>
              <a:buFont typeface="Arial" pitchFamily="34" charset="0"/>
              <a:buChar char="•"/>
            </a:pPr>
            <a:r>
              <a:rPr lang="en-US" sz="2400" dirty="0">
                <a:latin typeface="Calibri" pitchFamily="34" charset="0"/>
              </a:rPr>
              <a:t>  None of these </a:t>
            </a:r>
            <a:r>
              <a:rPr lang="en-US" sz="2400" dirty="0" smtClean="0">
                <a:latin typeface="Calibri" pitchFamily="34" charset="0"/>
              </a:rPr>
              <a:t>approaches</a:t>
            </a:r>
          </a:p>
          <a:p>
            <a:pPr lvl="1">
              <a:buFont typeface="Arial" pitchFamily="34" charset="0"/>
              <a:buChar char="•"/>
            </a:pPr>
            <a:r>
              <a:rPr lang="en-US" sz="2400" dirty="0">
                <a:latin typeface="Calibri" pitchFamily="34" charset="0"/>
              </a:rPr>
              <a:t> </a:t>
            </a:r>
            <a:r>
              <a:rPr lang="en-US" sz="2400" dirty="0" smtClean="0">
                <a:latin typeface="Calibri" pitchFamily="34" charset="0"/>
              </a:rPr>
              <a:t>minimizes </a:t>
            </a:r>
            <a:r>
              <a:rPr lang="en-US" sz="2400" dirty="0">
                <a:latin typeface="Calibri" pitchFamily="34" charset="0"/>
              </a:rPr>
              <a:t>#</a:t>
            </a:r>
            <a:r>
              <a:rPr lang="en-US" sz="2400" dirty="0" smtClean="0">
                <a:latin typeface="Calibri" pitchFamily="34" charset="0"/>
              </a:rPr>
              <a:t>messages</a:t>
            </a:r>
          </a:p>
          <a:p>
            <a:pPr lvl="1">
              <a:buFont typeface="Arial" pitchFamily="34" charset="0"/>
              <a:buChar char="•"/>
            </a:pPr>
            <a:r>
              <a:rPr lang="en-US" sz="2400" dirty="0" smtClean="0">
                <a:latin typeface="Calibri" pitchFamily="34" charset="0"/>
              </a:rPr>
              <a:t> handles </a:t>
            </a:r>
            <a:r>
              <a:rPr lang="en-US" sz="2400" dirty="0" err="1" smtClean="0">
                <a:latin typeface="Calibri" pitchFamily="34" charset="0"/>
              </a:rPr>
              <a:t>eig</a:t>
            </a:r>
            <a:r>
              <a:rPr lang="en-US" sz="2400" dirty="0" smtClean="0">
                <a:latin typeface="Calibri" pitchFamily="34" charset="0"/>
              </a:rPr>
              <a:t>() or </a:t>
            </a:r>
            <a:r>
              <a:rPr lang="en-US" sz="2400" dirty="0" err="1" smtClean="0">
                <a:latin typeface="Calibri" pitchFamily="34" charset="0"/>
              </a:rPr>
              <a:t>svd</a:t>
            </a:r>
            <a:r>
              <a:rPr lang="en-US" sz="2400" dirty="0" smtClean="0">
                <a:latin typeface="Calibri" pitchFamily="34" charset="0"/>
              </a:rPr>
              <a:t>()</a:t>
            </a:r>
          </a:p>
          <a:p>
            <a:pPr lvl="1">
              <a:buFont typeface="Arial" pitchFamily="34" charset="0"/>
              <a:buChar char="•"/>
            </a:pPr>
            <a:r>
              <a:rPr lang="en-US" sz="2400" dirty="0" smtClean="0">
                <a:latin typeface="Calibri" pitchFamily="34" charset="0"/>
              </a:rPr>
              <a:t> works in parallel</a:t>
            </a:r>
            <a:endParaRPr lang="en-US" sz="2400" dirty="0">
              <a:latin typeface="Calibri" pitchFamily="34" charset="0"/>
            </a:endParaRPr>
          </a:p>
          <a:p>
            <a:pPr>
              <a:buFont typeface="Arial" pitchFamily="34" charset="0"/>
              <a:buChar char="•"/>
            </a:pPr>
            <a:r>
              <a:rPr lang="en-US" sz="2400" dirty="0">
                <a:latin typeface="Calibri" pitchFamily="34" charset="0"/>
              </a:rPr>
              <a:t>  Need </a:t>
            </a:r>
            <a:r>
              <a:rPr lang="en-US" sz="2400" dirty="0" smtClean="0">
                <a:latin typeface="Calibri" pitchFamily="34" charset="0"/>
              </a:rPr>
              <a:t>more ideas</a:t>
            </a:r>
            <a:endParaRPr lang="en-US" dirty="0">
              <a:latin typeface="Calibri" pitchFamily="34" charset="0"/>
            </a:endParaRPr>
          </a:p>
        </p:txBody>
      </p:sp>
    </p:spTree>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p:cNvSpPr>
          <p:nvPr>
            <p:ph type="title"/>
          </p:nvPr>
        </p:nvSpPr>
        <p:spPr>
          <a:xfrm>
            <a:off x="798513" y="0"/>
            <a:ext cx="7097712" cy="801687"/>
          </a:xfrm>
        </p:spPr>
        <p:txBody>
          <a:bodyPr>
            <a:normAutofit fontScale="90000"/>
          </a:bodyPr>
          <a:lstStyle/>
          <a:p>
            <a:r>
              <a:rPr lang="fr-FR" dirty="0" smtClean="0"/>
              <a:t>TSQR: QR of a </a:t>
            </a:r>
            <a:r>
              <a:rPr lang="fr-FR" dirty="0" err="1" smtClean="0"/>
              <a:t>Tall</a:t>
            </a:r>
            <a:r>
              <a:rPr lang="fr-FR" dirty="0" smtClean="0"/>
              <a:t>, </a:t>
            </a:r>
            <a:r>
              <a:rPr lang="fr-FR" dirty="0" err="1" smtClean="0"/>
              <a:t>Skinny</a:t>
            </a:r>
            <a:r>
              <a:rPr lang="fr-FR" dirty="0" smtClean="0"/>
              <a:t> </a:t>
            </a:r>
            <a:r>
              <a:rPr lang="fr-FR" dirty="0" err="1" smtClean="0"/>
              <a:t>matrix</a:t>
            </a:r>
            <a:endParaRPr lang="en-US" dirty="0" smtClean="0"/>
          </a:p>
        </p:txBody>
      </p:sp>
      <p:sp>
        <p:nvSpPr>
          <p:cNvPr id="3" name="Slide Number Placeholder 2"/>
          <p:cNvSpPr>
            <a:spLocks noGrp="1"/>
          </p:cNvSpPr>
          <p:nvPr>
            <p:ph type="sldNum" sz="quarter" idx="11"/>
          </p:nvPr>
        </p:nvSpPr>
        <p:spPr/>
        <p:txBody>
          <a:bodyPr/>
          <a:lstStyle/>
          <a:p>
            <a:pPr>
              <a:defRPr/>
            </a:pPr>
            <a:fld id="{7960ED04-2F49-4DBD-B1F4-6D9545EC3ADD}" type="slidenum">
              <a:rPr lang="en-US" smtClean="0"/>
              <a:pPr>
                <a:defRPr/>
              </a:pPr>
              <a:t>33</a:t>
            </a:fld>
            <a:endParaRPr lang="en-US" dirty="0"/>
          </a:p>
        </p:txBody>
      </p:sp>
      <p:grpSp>
        <p:nvGrpSpPr>
          <p:cNvPr id="2" name="Group 107"/>
          <p:cNvGrpSpPr>
            <a:grpSpLocks/>
          </p:cNvGrpSpPr>
          <p:nvPr/>
        </p:nvGrpSpPr>
        <p:grpSpPr bwMode="auto">
          <a:xfrm>
            <a:off x="638175" y="1244600"/>
            <a:ext cx="7659688" cy="1570038"/>
            <a:chOff x="798513" y="1244600"/>
            <a:chExt cx="7659687" cy="1570038"/>
          </a:xfrm>
        </p:grpSpPr>
        <p:sp>
          <p:nvSpPr>
            <p:cNvPr id="29731" name="TextBox 3"/>
            <p:cNvSpPr txBox="1">
              <a:spLocks noChangeArrowheads="1"/>
            </p:cNvSpPr>
            <p:nvPr/>
          </p:nvSpPr>
          <p:spPr bwMode="auto">
            <a:xfrm>
              <a:off x="798513" y="1813831"/>
              <a:ext cx="693737" cy="461963"/>
            </a:xfrm>
            <a:prstGeom prst="rect">
              <a:avLst/>
            </a:prstGeom>
            <a:noFill/>
            <a:ln w="9525">
              <a:noFill/>
              <a:miter lim="800000"/>
              <a:headEnd/>
              <a:tailEnd/>
            </a:ln>
          </p:spPr>
          <p:txBody>
            <a:bodyPr wrap="none">
              <a:spAutoFit/>
            </a:bodyPr>
            <a:lstStyle/>
            <a:p>
              <a:r>
                <a:rPr lang="en-US" sz="2400" b="0">
                  <a:solidFill>
                    <a:schemeClr val="tx1"/>
                  </a:solidFill>
                </a:rPr>
                <a:t>W</a:t>
              </a:r>
              <a:r>
                <a:rPr lang="en-US" b="0">
                  <a:solidFill>
                    <a:schemeClr val="tx1"/>
                  </a:solidFill>
                </a:rPr>
                <a:t> =</a:t>
              </a:r>
            </a:p>
          </p:txBody>
        </p:sp>
        <p:grpSp>
          <p:nvGrpSpPr>
            <p:cNvPr id="4" name="Group 6"/>
            <p:cNvGrpSpPr>
              <a:grpSpLocks/>
            </p:cNvGrpSpPr>
            <p:nvPr/>
          </p:nvGrpSpPr>
          <p:grpSpPr bwMode="auto">
            <a:xfrm>
              <a:off x="2810781" y="1244600"/>
              <a:ext cx="1384300" cy="1570038"/>
              <a:chOff x="9728615" y="4145340"/>
              <a:chExt cx="1384677" cy="1569660"/>
            </a:xfrm>
          </p:grpSpPr>
          <p:sp>
            <p:nvSpPr>
              <p:cNvPr id="29762" name="Double Bracket 4"/>
              <p:cNvSpPr>
                <a:spLocks noChangeArrowheads="1"/>
              </p:cNvSpPr>
              <p:nvPr/>
            </p:nvSpPr>
            <p:spPr bwMode="auto">
              <a:xfrm>
                <a:off x="9728615" y="4145340"/>
                <a:ext cx="1384677" cy="1569660"/>
              </a:xfrm>
              <a:prstGeom prst="bracketPair">
                <a:avLst>
                  <a:gd name="adj" fmla="val 16667"/>
                </a:avLst>
              </a:prstGeom>
              <a:noFill/>
              <a:ln w="12700" algn="ctr">
                <a:solidFill>
                  <a:schemeClr val="tx1"/>
                </a:solidFill>
                <a:round/>
                <a:headEnd type="none" w="sm" len="sm"/>
                <a:tailEnd type="none" w="sm" len="sm"/>
              </a:ln>
            </p:spPr>
            <p:txBody>
              <a:bodyPr/>
              <a:lstStyle/>
              <a:p>
                <a:pPr eaLnBrk="0" hangingPunct="0"/>
                <a:endParaRPr lang="en-US"/>
              </a:p>
            </p:txBody>
          </p:sp>
          <p:sp>
            <p:nvSpPr>
              <p:cNvPr id="29763" name="TextBox 5"/>
              <p:cNvSpPr txBox="1">
                <a:spLocks noChangeArrowheads="1"/>
              </p:cNvSpPr>
              <p:nvPr/>
            </p:nvSpPr>
            <p:spPr bwMode="auto">
              <a:xfrm>
                <a:off x="9866790" y="4145340"/>
                <a:ext cx="1186543" cy="1569660"/>
              </a:xfrm>
              <a:prstGeom prst="rect">
                <a:avLst/>
              </a:prstGeom>
              <a:noFill/>
              <a:ln w="9525">
                <a:noFill/>
                <a:miter lim="800000"/>
                <a:headEnd/>
                <a:tailEnd/>
              </a:ln>
            </p:spPr>
            <p:txBody>
              <a:bodyPr wrap="none">
                <a:spAutoFit/>
              </a:bodyPr>
              <a:lstStyle/>
              <a:p>
                <a:r>
                  <a:rPr lang="en-US" sz="2400" b="0">
                    <a:solidFill>
                      <a:schemeClr val="tx1"/>
                    </a:solidFill>
                  </a:rPr>
                  <a:t>Q</a:t>
                </a:r>
                <a:r>
                  <a:rPr lang="en-US" sz="2400" b="0" baseline="-25000">
                    <a:solidFill>
                      <a:schemeClr val="tx1"/>
                    </a:solidFill>
                  </a:rPr>
                  <a:t>00</a:t>
                </a:r>
                <a:r>
                  <a:rPr lang="en-US" sz="2400" b="0">
                    <a:solidFill>
                      <a:schemeClr val="tx1"/>
                    </a:solidFill>
                  </a:rPr>
                  <a:t> R</a:t>
                </a:r>
                <a:r>
                  <a:rPr lang="en-US" sz="2400" b="0" baseline="-25000">
                    <a:solidFill>
                      <a:schemeClr val="tx1"/>
                    </a:solidFill>
                  </a:rPr>
                  <a:t>00</a:t>
                </a:r>
              </a:p>
              <a:p>
                <a:r>
                  <a:rPr lang="en-US" sz="2400" b="0">
                    <a:solidFill>
                      <a:schemeClr val="tx1"/>
                    </a:solidFill>
                  </a:rPr>
                  <a:t>Q</a:t>
                </a:r>
                <a:r>
                  <a:rPr lang="en-US" sz="2400" b="0" baseline="-25000">
                    <a:solidFill>
                      <a:schemeClr val="tx1"/>
                    </a:solidFill>
                  </a:rPr>
                  <a:t>10</a:t>
                </a:r>
                <a:r>
                  <a:rPr lang="en-US" sz="2400" b="0">
                    <a:solidFill>
                      <a:schemeClr val="tx1"/>
                    </a:solidFill>
                  </a:rPr>
                  <a:t> R</a:t>
                </a:r>
                <a:r>
                  <a:rPr lang="en-US" sz="2400" b="0" baseline="-25000">
                    <a:solidFill>
                      <a:schemeClr val="tx1"/>
                    </a:solidFill>
                  </a:rPr>
                  <a:t>10</a:t>
                </a:r>
              </a:p>
              <a:p>
                <a:r>
                  <a:rPr lang="en-US" sz="2400" b="0">
                    <a:solidFill>
                      <a:schemeClr val="tx1"/>
                    </a:solidFill>
                  </a:rPr>
                  <a:t>Q</a:t>
                </a:r>
                <a:r>
                  <a:rPr lang="en-US" sz="2400" b="0" baseline="-25000">
                    <a:solidFill>
                      <a:schemeClr val="tx1"/>
                    </a:solidFill>
                  </a:rPr>
                  <a:t>20</a:t>
                </a:r>
                <a:r>
                  <a:rPr lang="en-US" sz="2400" b="0">
                    <a:solidFill>
                      <a:schemeClr val="tx1"/>
                    </a:solidFill>
                  </a:rPr>
                  <a:t> R</a:t>
                </a:r>
                <a:r>
                  <a:rPr lang="en-US" sz="2400" b="0" baseline="-25000">
                    <a:solidFill>
                      <a:schemeClr val="tx1"/>
                    </a:solidFill>
                  </a:rPr>
                  <a:t>20</a:t>
                </a:r>
              </a:p>
              <a:p>
                <a:r>
                  <a:rPr lang="en-US" sz="2400" b="0">
                    <a:solidFill>
                      <a:schemeClr val="tx1"/>
                    </a:solidFill>
                  </a:rPr>
                  <a:t>Q</a:t>
                </a:r>
                <a:r>
                  <a:rPr lang="en-US" sz="2400" b="0" baseline="-25000">
                    <a:solidFill>
                      <a:schemeClr val="tx1"/>
                    </a:solidFill>
                  </a:rPr>
                  <a:t>30</a:t>
                </a:r>
                <a:r>
                  <a:rPr lang="en-US" sz="2400" b="0">
                    <a:solidFill>
                      <a:schemeClr val="tx1"/>
                    </a:solidFill>
                  </a:rPr>
                  <a:t> R</a:t>
                </a:r>
                <a:r>
                  <a:rPr lang="en-US" sz="2400" b="0" baseline="-25000">
                    <a:solidFill>
                      <a:schemeClr val="tx1"/>
                    </a:solidFill>
                  </a:rPr>
                  <a:t>30</a:t>
                </a:r>
              </a:p>
            </p:txBody>
          </p:sp>
        </p:grpSp>
        <p:grpSp>
          <p:nvGrpSpPr>
            <p:cNvPr id="5" name="Group 7"/>
            <p:cNvGrpSpPr>
              <a:grpSpLocks/>
            </p:cNvGrpSpPr>
            <p:nvPr/>
          </p:nvGrpSpPr>
          <p:grpSpPr bwMode="auto">
            <a:xfrm>
              <a:off x="1681163" y="1244600"/>
              <a:ext cx="727075" cy="1570038"/>
              <a:chOff x="9728615" y="4145340"/>
              <a:chExt cx="1384677" cy="1569660"/>
            </a:xfrm>
          </p:grpSpPr>
          <p:sp>
            <p:nvSpPr>
              <p:cNvPr id="29760" name="Double Bracket 8"/>
              <p:cNvSpPr>
                <a:spLocks noChangeArrowheads="1"/>
              </p:cNvSpPr>
              <p:nvPr/>
            </p:nvSpPr>
            <p:spPr bwMode="auto">
              <a:xfrm>
                <a:off x="9728615" y="4145340"/>
                <a:ext cx="1384677" cy="1569660"/>
              </a:xfrm>
              <a:prstGeom prst="bracketPair">
                <a:avLst>
                  <a:gd name="adj" fmla="val 16667"/>
                </a:avLst>
              </a:prstGeom>
              <a:noFill/>
              <a:ln w="12700" algn="ctr">
                <a:solidFill>
                  <a:schemeClr val="tx1"/>
                </a:solidFill>
                <a:round/>
                <a:headEnd type="none" w="sm" len="sm"/>
                <a:tailEnd type="none" w="sm" len="sm"/>
              </a:ln>
            </p:spPr>
            <p:txBody>
              <a:bodyPr/>
              <a:lstStyle/>
              <a:p>
                <a:pPr eaLnBrk="0" hangingPunct="0"/>
                <a:endParaRPr lang="en-US"/>
              </a:p>
            </p:txBody>
          </p:sp>
          <p:sp>
            <p:nvSpPr>
              <p:cNvPr id="29761" name="TextBox 9"/>
              <p:cNvSpPr txBox="1">
                <a:spLocks noChangeArrowheads="1"/>
              </p:cNvSpPr>
              <p:nvPr/>
            </p:nvSpPr>
            <p:spPr bwMode="auto">
              <a:xfrm>
                <a:off x="9866790" y="4145340"/>
                <a:ext cx="588623" cy="1569660"/>
              </a:xfrm>
              <a:prstGeom prst="rect">
                <a:avLst/>
              </a:prstGeom>
              <a:noFill/>
              <a:ln w="9525">
                <a:noFill/>
                <a:miter lim="800000"/>
                <a:headEnd/>
                <a:tailEnd/>
              </a:ln>
            </p:spPr>
            <p:txBody>
              <a:bodyPr wrap="none">
                <a:spAutoFit/>
              </a:bodyPr>
              <a:lstStyle/>
              <a:p>
                <a:r>
                  <a:rPr lang="en-US" sz="2400" b="0">
                    <a:solidFill>
                      <a:schemeClr val="tx1"/>
                    </a:solidFill>
                  </a:rPr>
                  <a:t>W</a:t>
                </a:r>
                <a:r>
                  <a:rPr lang="en-US" sz="2400" b="0" baseline="-25000">
                    <a:solidFill>
                      <a:schemeClr val="tx1"/>
                    </a:solidFill>
                  </a:rPr>
                  <a:t>0</a:t>
                </a:r>
              </a:p>
              <a:p>
                <a:r>
                  <a:rPr lang="en-US" sz="2400" b="0">
                    <a:solidFill>
                      <a:schemeClr val="tx1"/>
                    </a:solidFill>
                  </a:rPr>
                  <a:t>W</a:t>
                </a:r>
                <a:r>
                  <a:rPr lang="en-US" sz="2400" b="0" baseline="-25000">
                    <a:solidFill>
                      <a:schemeClr val="tx1"/>
                    </a:solidFill>
                  </a:rPr>
                  <a:t>1</a:t>
                </a:r>
              </a:p>
              <a:p>
                <a:r>
                  <a:rPr lang="en-US" sz="2400" b="0">
                    <a:solidFill>
                      <a:schemeClr val="tx1"/>
                    </a:solidFill>
                  </a:rPr>
                  <a:t>W</a:t>
                </a:r>
                <a:r>
                  <a:rPr lang="en-US" sz="2400" b="0" baseline="-25000">
                    <a:solidFill>
                      <a:schemeClr val="tx1"/>
                    </a:solidFill>
                  </a:rPr>
                  <a:t>2</a:t>
                </a:r>
              </a:p>
              <a:p>
                <a:r>
                  <a:rPr lang="en-US" sz="2400" b="0">
                    <a:solidFill>
                      <a:schemeClr val="tx1"/>
                    </a:solidFill>
                  </a:rPr>
                  <a:t>W</a:t>
                </a:r>
                <a:r>
                  <a:rPr lang="en-US" sz="2400" b="0" baseline="-25000">
                    <a:solidFill>
                      <a:schemeClr val="tx1"/>
                    </a:solidFill>
                  </a:rPr>
                  <a:t>3</a:t>
                </a:r>
              </a:p>
            </p:txBody>
          </p:sp>
        </p:grpSp>
        <p:grpSp>
          <p:nvGrpSpPr>
            <p:cNvPr id="6" name="Group 13"/>
            <p:cNvGrpSpPr>
              <a:grpSpLocks/>
            </p:cNvGrpSpPr>
            <p:nvPr/>
          </p:nvGrpSpPr>
          <p:grpSpPr bwMode="auto">
            <a:xfrm>
              <a:off x="4689026" y="1244600"/>
              <a:ext cx="2563813" cy="1570038"/>
              <a:chOff x="9728615" y="4145340"/>
              <a:chExt cx="1384677" cy="1569660"/>
            </a:xfrm>
          </p:grpSpPr>
          <p:sp>
            <p:nvSpPr>
              <p:cNvPr id="29758" name="Double Bracket 14"/>
              <p:cNvSpPr>
                <a:spLocks noChangeArrowheads="1"/>
              </p:cNvSpPr>
              <p:nvPr/>
            </p:nvSpPr>
            <p:spPr bwMode="auto">
              <a:xfrm>
                <a:off x="9728615" y="4145340"/>
                <a:ext cx="1384677" cy="1569660"/>
              </a:xfrm>
              <a:prstGeom prst="bracketPair">
                <a:avLst>
                  <a:gd name="adj" fmla="val 16667"/>
                </a:avLst>
              </a:prstGeom>
              <a:noFill/>
              <a:ln w="12700" algn="ctr">
                <a:solidFill>
                  <a:schemeClr val="tx1"/>
                </a:solidFill>
                <a:round/>
                <a:headEnd type="none" w="sm" len="sm"/>
                <a:tailEnd type="none" w="sm" len="sm"/>
              </a:ln>
            </p:spPr>
            <p:txBody>
              <a:bodyPr/>
              <a:lstStyle/>
              <a:p>
                <a:pPr eaLnBrk="0" hangingPunct="0"/>
                <a:endParaRPr lang="en-US"/>
              </a:p>
            </p:txBody>
          </p:sp>
          <p:sp>
            <p:nvSpPr>
              <p:cNvPr id="29759" name="TextBox 15"/>
              <p:cNvSpPr txBox="1">
                <a:spLocks noChangeArrowheads="1"/>
              </p:cNvSpPr>
              <p:nvPr/>
            </p:nvSpPr>
            <p:spPr bwMode="auto">
              <a:xfrm>
                <a:off x="9772697" y="4145340"/>
                <a:ext cx="1315740" cy="1569660"/>
              </a:xfrm>
              <a:prstGeom prst="rect">
                <a:avLst/>
              </a:prstGeom>
              <a:noFill/>
              <a:ln w="9525">
                <a:noFill/>
                <a:miter lim="800000"/>
                <a:headEnd/>
                <a:tailEnd/>
              </a:ln>
            </p:spPr>
            <p:txBody>
              <a:bodyPr wrap="none">
                <a:spAutoFit/>
              </a:bodyPr>
              <a:lstStyle/>
              <a:p>
                <a:r>
                  <a:rPr lang="en-US" sz="2400" b="0">
                    <a:solidFill>
                      <a:schemeClr val="tx1"/>
                    </a:solidFill>
                  </a:rPr>
                  <a:t>Q</a:t>
                </a:r>
                <a:r>
                  <a:rPr lang="en-US" sz="2400" b="0" baseline="-25000">
                    <a:solidFill>
                      <a:schemeClr val="tx1"/>
                    </a:solidFill>
                  </a:rPr>
                  <a:t>00</a:t>
                </a:r>
              </a:p>
              <a:p>
                <a:r>
                  <a:rPr lang="en-US" sz="2400" b="0">
                    <a:solidFill>
                      <a:schemeClr val="tx1"/>
                    </a:solidFill>
                  </a:rPr>
                  <a:t>       Q</a:t>
                </a:r>
                <a:r>
                  <a:rPr lang="en-US" sz="2400" b="0" baseline="-25000">
                    <a:solidFill>
                      <a:schemeClr val="tx1"/>
                    </a:solidFill>
                  </a:rPr>
                  <a:t>10</a:t>
                </a:r>
              </a:p>
              <a:p>
                <a:r>
                  <a:rPr lang="en-US" sz="2400" b="0">
                    <a:solidFill>
                      <a:schemeClr val="tx1"/>
                    </a:solidFill>
                  </a:rPr>
                  <a:t>              Q</a:t>
                </a:r>
                <a:r>
                  <a:rPr lang="en-US" sz="2400" b="0" baseline="-25000">
                    <a:solidFill>
                      <a:schemeClr val="tx1"/>
                    </a:solidFill>
                  </a:rPr>
                  <a:t>20</a:t>
                </a:r>
              </a:p>
              <a:p>
                <a:r>
                  <a:rPr lang="en-US" sz="2400" b="0">
                    <a:solidFill>
                      <a:schemeClr val="tx1"/>
                    </a:solidFill>
                  </a:rPr>
                  <a:t>                     Q</a:t>
                </a:r>
                <a:r>
                  <a:rPr lang="en-US" sz="2400" b="0" baseline="-25000">
                    <a:solidFill>
                      <a:schemeClr val="tx1"/>
                    </a:solidFill>
                  </a:rPr>
                  <a:t>30</a:t>
                </a:r>
              </a:p>
            </p:txBody>
          </p:sp>
        </p:grpSp>
        <p:sp>
          <p:nvSpPr>
            <p:cNvPr id="29735" name="TextBox 17"/>
            <p:cNvSpPr txBox="1">
              <a:spLocks noChangeArrowheads="1"/>
            </p:cNvSpPr>
            <p:nvPr/>
          </p:nvSpPr>
          <p:spPr bwMode="auto">
            <a:xfrm flipH="1">
              <a:off x="2464615" y="1861170"/>
              <a:ext cx="288110" cy="400110"/>
            </a:xfrm>
            <a:prstGeom prst="rect">
              <a:avLst/>
            </a:prstGeom>
            <a:noFill/>
            <a:ln w="9525">
              <a:noFill/>
              <a:miter lim="800000"/>
              <a:headEnd/>
              <a:tailEnd/>
            </a:ln>
          </p:spPr>
          <p:txBody>
            <a:bodyPr>
              <a:spAutoFit/>
            </a:bodyPr>
            <a:lstStyle/>
            <a:p>
              <a:r>
                <a:rPr lang="en-US" b="0">
                  <a:solidFill>
                    <a:schemeClr val="tx1"/>
                  </a:solidFill>
                </a:rPr>
                <a:t>=</a:t>
              </a:r>
            </a:p>
          </p:txBody>
        </p:sp>
        <p:sp>
          <p:nvSpPr>
            <p:cNvPr id="29736" name="TextBox 21"/>
            <p:cNvSpPr txBox="1">
              <a:spLocks noChangeArrowheads="1"/>
            </p:cNvSpPr>
            <p:nvPr/>
          </p:nvSpPr>
          <p:spPr bwMode="auto">
            <a:xfrm flipH="1">
              <a:off x="4267651" y="1875684"/>
              <a:ext cx="288110" cy="400110"/>
            </a:xfrm>
            <a:prstGeom prst="rect">
              <a:avLst/>
            </a:prstGeom>
            <a:noFill/>
            <a:ln w="9525">
              <a:noFill/>
              <a:miter lim="800000"/>
              <a:headEnd/>
              <a:tailEnd/>
            </a:ln>
          </p:spPr>
          <p:txBody>
            <a:bodyPr>
              <a:spAutoFit/>
            </a:bodyPr>
            <a:lstStyle/>
            <a:p>
              <a:r>
                <a:rPr lang="en-US" b="0">
                  <a:solidFill>
                    <a:schemeClr val="tx1"/>
                  </a:solidFill>
                </a:rPr>
                <a:t>=</a:t>
              </a:r>
            </a:p>
          </p:txBody>
        </p:sp>
        <p:sp>
          <p:nvSpPr>
            <p:cNvPr id="29737" name="TextBox 22"/>
            <p:cNvSpPr txBox="1">
              <a:spLocks noChangeArrowheads="1"/>
            </p:cNvSpPr>
            <p:nvPr/>
          </p:nvSpPr>
          <p:spPr bwMode="auto">
            <a:xfrm>
              <a:off x="7383465" y="1803114"/>
              <a:ext cx="255198" cy="400110"/>
            </a:xfrm>
            <a:prstGeom prst="rect">
              <a:avLst/>
            </a:prstGeom>
            <a:noFill/>
            <a:ln w="9525">
              <a:noFill/>
              <a:miter lim="800000"/>
              <a:headEnd/>
              <a:tailEnd/>
            </a:ln>
          </p:spPr>
          <p:txBody>
            <a:bodyPr>
              <a:spAutoFit/>
            </a:bodyPr>
            <a:lstStyle/>
            <a:p>
              <a:r>
                <a:rPr lang="en-US">
                  <a:solidFill>
                    <a:schemeClr val="tx1"/>
                  </a:solidFill>
                </a:rPr>
                <a:t>.</a:t>
              </a:r>
            </a:p>
          </p:txBody>
        </p:sp>
        <p:grpSp>
          <p:nvGrpSpPr>
            <p:cNvPr id="7" name="Group 50"/>
            <p:cNvGrpSpPr>
              <a:grpSpLocks/>
            </p:cNvGrpSpPr>
            <p:nvPr/>
          </p:nvGrpSpPr>
          <p:grpSpPr bwMode="auto">
            <a:xfrm>
              <a:off x="7731125" y="1244600"/>
              <a:ext cx="727075" cy="1570038"/>
              <a:chOff x="7731125" y="1244600"/>
              <a:chExt cx="727075" cy="1570038"/>
            </a:xfrm>
          </p:grpSpPr>
          <p:grpSp>
            <p:nvGrpSpPr>
              <p:cNvPr id="8" name="Group 10"/>
              <p:cNvGrpSpPr>
                <a:grpSpLocks/>
              </p:cNvGrpSpPr>
              <p:nvPr/>
            </p:nvGrpSpPr>
            <p:grpSpPr bwMode="auto">
              <a:xfrm>
                <a:off x="7731125" y="1244600"/>
                <a:ext cx="727075" cy="1570038"/>
                <a:chOff x="9728615" y="4145340"/>
                <a:chExt cx="1384677" cy="1569660"/>
              </a:xfrm>
            </p:grpSpPr>
            <p:sp>
              <p:nvSpPr>
                <p:cNvPr id="29756" name="Double Bracket 11"/>
                <p:cNvSpPr>
                  <a:spLocks noChangeArrowheads="1"/>
                </p:cNvSpPr>
                <p:nvPr/>
              </p:nvSpPr>
              <p:spPr bwMode="auto">
                <a:xfrm>
                  <a:off x="9728615" y="4145340"/>
                  <a:ext cx="1384677" cy="1569660"/>
                </a:xfrm>
                <a:prstGeom prst="bracketPair">
                  <a:avLst>
                    <a:gd name="adj" fmla="val 16667"/>
                  </a:avLst>
                </a:prstGeom>
                <a:noFill/>
                <a:ln w="12700" algn="ctr">
                  <a:solidFill>
                    <a:schemeClr val="tx1"/>
                  </a:solidFill>
                  <a:round/>
                  <a:headEnd type="none" w="sm" len="sm"/>
                  <a:tailEnd type="none" w="sm" len="sm"/>
                </a:ln>
              </p:spPr>
              <p:txBody>
                <a:bodyPr/>
                <a:lstStyle/>
                <a:p>
                  <a:pPr eaLnBrk="0" hangingPunct="0"/>
                  <a:endParaRPr lang="en-US"/>
                </a:p>
              </p:txBody>
            </p:sp>
            <p:sp>
              <p:nvSpPr>
                <p:cNvPr id="29757" name="TextBox 12"/>
                <p:cNvSpPr txBox="1">
                  <a:spLocks noChangeArrowheads="1"/>
                </p:cNvSpPr>
                <p:nvPr/>
              </p:nvSpPr>
              <p:spPr bwMode="auto">
                <a:xfrm>
                  <a:off x="9866790" y="4145340"/>
                  <a:ext cx="1209995" cy="1569660"/>
                </a:xfrm>
                <a:prstGeom prst="rect">
                  <a:avLst/>
                </a:prstGeom>
                <a:noFill/>
                <a:ln w="9525">
                  <a:noFill/>
                  <a:miter lim="800000"/>
                  <a:headEnd/>
                  <a:tailEnd/>
                </a:ln>
              </p:spPr>
              <p:txBody>
                <a:bodyPr wrap="none">
                  <a:spAutoFit/>
                </a:bodyPr>
                <a:lstStyle/>
                <a:p>
                  <a:r>
                    <a:rPr lang="en-US" sz="2400" b="0">
                      <a:solidFill>
                        <a:schemeClr val="tx1"/>
                      </a:solidFill>
                    </a:rPr>
                    <a:t>R</a:t>
                  </a:r>
                  <a:r>
                    <a:rPr lang="en-US" sz="2400" b="0" baseline="-25000">
                      <a:solidFill>
                        <a:schemeClr val="tx1"/>
                      </a:solidFill>
                    </a:rPr>
                    <a:t>00</a:t>
                  </a:r>
                </a:p>
                <a:p>
                  <a:r>
                    <a:rPr lang="en-US" sz="2400" b="0">
                      <a:solidFill>
                        <a:schemeClr val="tx1"/>
                      </a:solidFill>
                    </a:rPr>
                    <a:t>R</a:t>
                  </a:r>
                  <a:r>
                    <a:rPr lang="en-US" sz="2400" b="0" baseline="-25000">
                      <a:solidFill>
                        <a:schemeClr val="tx1"/>
                      </a:solidFill>
                    </a:rPr>
                    <a:t>10</a:t>
                  </a:r>
                </a:p>
                <a:p>
                  <a:r>
                    <a:rPr lang="en-US" sz="2400" b="0">
                      <a:solidFill>
                        <a:schemeClr val="tx1"/>
                      </a:solidFill>
                    </a:rPr>
                    <a:t>R</a:t>
                  </a:r>
                  <a:r>
                    <a:rPr lang="en-US" sz="2400" b="0" baseline="-25000">
                      <a:solidFill>
                        <a:schemeClr val="tx1"/>
                      </a:solidFill>
                    </a:rPr>
                    <a:t>20</a:t>
                  </a:r>
                </a:p>
                <a:p>
                  <a:r>
                    <a:rPr lang="en-US" sz="2400" b="0">
                      <a:solidFill>
                        <a:schemeClr val="tx1"/>
                      </a:solidFill>
                    </a:rPr>
                    <a:t>R</a:t>
                  </a:r>
                  <a:r>
                    <a:rPr lang="en-US" sz="2400" b="0" baseline="-25000">
                      <a:solidFill>
                        <a:schemeClr val="tx1"/>
                      </a:solidFill>
                    </a:rPr>
                    <a:t>30</a:t>
                  </a:r>
                </a:p>
              </p:txBody>
            </p:sp>
          </p:grpSp>
          <p:grpSp>
            <p:nvGrpSpPr>
              <p:cNvPr id="9" name="Group 29"/>
              <p:cNvGrpSpPr>
                <a:grpSpLocks/>
              </p:cNvGrpSpPr>
              <p:nvPr/>
            </p:nvGrpSpPr>
            <p:grpSpPr bwMode="auto">
              <a:xfrm>
                <a:off x="7760153" y="1687974"/>
                <a:ext cx="669041" cy="740220"/>
                <a:chOff x="2483520" y="5500914"/>
                <a:chExt cx="669041" cy="740220"/>
              </a:xfrm>
            </p:grpSpPr>
            <p:cxnSp>
              <p:nvCxnSpPr>
                <p:cNvPr id="29753" name="Straight Connector 24"/>
                <p:cNvCxnSpPr>
                  <a:cxnSpLocks noChangeShapeType="1"/>
                </p:cNvCxnSpPr>
                <p:nvPr/>
              </p:nvCxnSpPr>
              <p:spPr bwMode="auto">
                <a:xfrm>
                  <a:off x="2483520" y="5500914"/>
                  <a:ext cx="654521" cy="0"/>
                </a:xfrm>
                <a:prstGeom prst="line">
                  <a:avLst/>
                </a:prstGeom>
                <a:noFill/>
                <a:ln w="12700" algn="ctr">
                  <a:solidFill>
                    <a:schemeClr val="tx1"/>
                  </a:solidFill>
                  <a:round/>
                  <a:headEnd type="none" w="sm" len="sm"/>
                  <a:tailEnd type="none" w="sm" len="sm"/>
                </a:ln>
              </p:spPr>
            </p:cxnSp>
            <p:cxnSp>
              <p:nvCxnSpPr>
                <p:cNvPr id="29754" name="Straight Connector 27"/>
                <p:cNvCxnSpPr>
                  <a:cxnSpLocks noChangeShapeType="1"/>
                </p:cNvCxnSpPr>
                <p:nvPr/>
              </p:nvCxnSpPr>
              <p:spPr bwMode="auto">
                <a:xfrm>
                  <a:off x="2490780" y="5871024"/>
                  <a:ext cx="654521" cy="0"/>
                </a:xfrm>
                <a:prstGeom prst="line">
                  <a:avLst/>
                </a:prstGeom>
                <a:noFill/>
                <a:ln w="12700" algn="ctr">
                  <a:solidFill>
                    <a:schemeClr val="tx1"/>
                  </a:solidFill>
                  <a:round/>
                  <a:headEnd type="none" w="sm" len="sm"/>
                  <a:tailEnd type="none" w="sm" len="sm"/>
                </a:ln>
              </p:spPr>
            </p:cxnSp>
            <p:cxnSp>
              <p:nvCxnSpPr>
                <p:cNvPr id="29755" name="Straight Connector 28"/>
                <p:cNvCxnSpPr>
                  <a:cxnSpLocks noChangeShapeType="1"/>
                </p:cNvCxnSpPr>
                <p:nvPr/>
              </p:nvCxnSpPr>
              <p:spPr bwMode="auto">
                <a:xfrm>
                  <a:off x="2498040" y="6241134"/>
                  <a:ext cx="654521" cy="0"/>
                </a:xfrm>
                <a:prstGeom prst="line">
                  <a:avLst/>
                </a:prstGeom>
                <a:noFill/>
                <a:ln w="12700" algn="ctr">
                  <a:solidFill>
                    <a:schemeClr val="tx1"/>
                  </a:solidFill>
                  <a:round/>
                  <a:headEnd type="none" w="sm" len="sm"/>
                  <a:tailEnd type="none" w="sm" len="sm"/>
                </a:ln>
              </p:spPr>
            </p:cxnSp>
          </p:grpSp>
        </p:grpSp>
        <p:grpSp>
          <p:nvGrpSpPr>
            <p:cNvPr id="10" name="Group 30"/>
            <p:cNvGrpSpPr>
              <a:grpSpLocks/>
            </p:cNvGrpSpPr>
            <p:nvPr/>
          </p:nvGrpSpPr>
          <p:grpSpPr bwMode="auto">
            <a:xfrm>
              <a:off x="2860226" y="1672488"/>
              <a:ext cx="1291319" cy="740220"/>
              <a:chOff x="2483520" y="5500914"/>
              <a:chExt cx="1291319" cy="740220"/>
            </a:xfrm>
          </p:grpSpPr>
          <p:cxnSp>
            <p:nvCxnSpPr>
              <p:cNvPr id="29748" name="Straight Connector 31"/>
              <p:cNvCxnSpPr>
                <a:cxnSpLocks noChangeShapeType="1"/>
              </p:cNvCxnSpPr>
              <p:nvPr/>
            </p:nvCxnSpPr>
            <p:spPr bwMode="auto">
              <a:xfrm flipV="1">
                <a:off x="2483520" y="5500914"/>
                <a:ext cx="1291319" cy="1"/>
              </a:xfrm>
              <a:prstGeom prst="line">
                <a:avLst/>
              </a:prstGeom>
              <a:noFill/>
              <a:ln w="12700" algn="ctr">
                <a:solidFill>
                  <a:schemeClr val="tx1"/>
                </a:solidFill>
                <a:round/>
                <a:headEnd type="none" w="sm" len="sm"/>
                <a:tailEnd type="none" w="sm" len="sm"/>
              </a:ln>
            </p:spPr>
          </p:cxnSp>
          <p:cxnSp>
            <p:nvCxnSpPr>
              <p:cNvPr id="29749" name="Straight Connector 32"/>
              <p:cNvCxnSpPr>
                <a:cxnSpLocks noChangeShapeType="1"/>
              </p:cNvCxnSpPr>
              <p:nvPr/>
            </p:nvCxnSpPr>
            <p:spPr bwMode="auto">
              <a:xfrm>
                <a:off x="2490780" y="5871024"/>
                <a:ext cx="1284059" cy="0"/>
              </a:xfrm>
              <a:prstGeom prst="line">
                <a:avLst/>
              </a:prstGeom>
              <a:noFill/>
              <a:ln w="12700" algn="ctr">
                <a:solidFill>
                  <a:schemeClr val="tx1"/>
                </a:solidFill>
                <a:round/>
                <a:headEnd type="none" w="sm" len="sm"/>
                <a:tailEnd type="none" w="sm" len="sm"/>
              </a:ln>
            </p:spPr>
          </p:cxnSp>
          <p:cxnSp>
            <p:nvCxnSpPr>
              <p:cNvPr id="29750" name="Straight Connector 33"/>
              <p:cNvCxnSpPr>
                <a:cxnSpLocks noChangeShapeType="1"/>
              </p:cNvCxnSpPr>
              <p:nvPr/>
            </p:nvCxnSpPr>
            <p:spPr bwMode="auto">
              <a:xfrm>
                <a:off x="2498040" y="6241134"/>
                <a:ext cx="1276799" cy="0"/>
              </a:xfrm>
              <a:prstGeom prst="line">
                <a:avLst/>
              </a:prstGeom>
              <a:noFill/>
              <a:ln w="12700" algn="ctr">
                <a:solidFill>
                  <a:schemeClr val="tx1"/>
                </a:solidFill>
                <a:round/>
                <a:headEnd type="none" w="sm" len="sm"/>
                <a:tailEnd type="none" w="sm" len="sm"/>
              </a:ln>
            </p:spPr>
          </p:cxnSp>
        </p:grpSp>
        <p:grpSp>
          <p:nvGrpSpPr>
            <p:cNvPr id="11" name="Group 38"/>
            <p:cNvGrpSpPr>
              <a:grpSpLocks/>
            </p:cNvGrpSpPr>
            <p:nvPr/>
          </p:nvGrpSpPr>
          <p:grpSpPr bwMode="auto">
            <a:xfrm>
              <a:off x="4747065" y="1672488"/>
              <a:ext cx="2418690" cy="740220"/>
              <a:chOff x="2483520" y="5500914"/>
              <a:chExt cx="2418690" cy="740220"/>
            </a:xfrm>
          </p:grpSpPr>
          <p:cxnSp>
            <p:nvCxnSpPr>
              <p:cNvPr id="29745" name="Straight Connector 39"/>
              <p:cNvCxnSpPr>
                <a:cxnSpLocks noChangeShapeType="1"/>
              </p:cNvCxnSpPr>
              <p:nvPr/>
            </p:nvCxnSpPr>
            <p:spPr bwMode="auto">
              <a:xfrm flipV="1">
                <a:off x="2483520" y="5500914"/>
                <a:ext cx="2418690" cy="2"/>
              </a:xfrm>
              <a:prstGeom prst="line">
                <a:avLst/>
              </a:prstGeom>
              <a:noFill/>
              <a:ln w="12700" algn="ctr">
                <a:solidFill>
                  <a:schemeClr val="tx1"/>
                </a:solidFill>
                <a:round/>
                <a:headEnd type="none" w="sm" len="sm"/>
                <a:tailEnd type="none" w="sm" len="sm"/>
              </a:ln>
            </p:spPr>
          </p:cxnSp>
          <p:cxnSp>
            <p:nvCxnSpPr>
              <p:cNvPr id="29746" name="Straight Connector 40"/>
              <p:cNvCxnSpPr>
                <a:cxnSpLocks noChangeShapeType="1"/>
              </p:cNvCxnSpPr>
              <p:nvPr/>
            </p:nvCxnSpPr>
            <p:spPr bwMode="auto">
              <a:xfrm flipV="1">
                <a:off x="2490780" y="5871023"/>
                <a:ext cx="2411430" cy="1"/>
              </a:xfrm>
              <a:prstGeom prst="line">
                <a:avLst/>
              </a:prstGeom>
              <a:noFill/>
              <a:ln w="12700" algn="ctr">
                <a:solidFill>
                  <a:schemeClr val="tx1"/>
                </a:solidFill>
                <a:round/>
                <a:headEnd type="none" w="sm" len="sm"/>
                <a:tailEnd type="none" w="sm" len="sm"/>
              </a:ln>
            </p:spPr>
          </p:cxnSp>
          <p:cxnSp>
            <p:nvCxnSpPr>
              <p:cNvPr id="29747" name="Straight Connector 41"/>
              <p:cNvCxnSpPr>
                <a:cxnSpLocks noChangeShapeType="1"/>
              </p:cNvCxnSpPr>
              <p:nvPr/>
            </p:nvCxnSpPr>
            <p:spPr bwMode="auto">
              <a:xfrm>
                <a:off x="2498040" y="6241134"/>
                <a:ext cx="2404170" cy="0"/>
              </a:xfrm>
              <a:prstGeom prst="line">
                <a:avLst/>
              </a:prstGeom>
              <a:noFill/>
              <a:ln w="12700" algn="ctr">
                <a:solidFill>
                  <a:schemeClr val="tx1"/>
                </a:solidFill>
                <a:round/>
                <a:headEnd type="none" w="sm" len="sm"/>
                <a:tailEnd type="none" w="sm" len="sm"/>
              </a:ln>
            </p:spPr>
          </p:cxnSp>
        </p:grpSp>
        <p:grpSp>
          <p:nvGrpSpPr>
            <p:cNvPr id="12" name="Group 42"/>
            <p:cNvGrpSpPr>
              <a:grpSpLocks/>
            </p:cNvGrpSpPr>
            <p:nvPr/>
          </p:nvGrpSpPr>
          <p:grpSpPr bwMode="auto">
            <a:xfrm>
              <a:off x="1710191" y="1687002"/>
              <a:ext cx="669041" cy="725706"/>
              <a:chOff x="2483520" y="5500914"/>
              <a:chExt cx="669041" cy="725706"/>
            </a:xfrm>
          </p:grpSpPr>
          <p:cxnSp>
            <p:nvCxnSpPr>
              <p:cNvPr id="29742" name="Straight Connector 43"/>
              <p:cNvCxnSpPr>
                <a:cxnSpLocks noChangeShapeType="1"/>
              </p:cNvCxnSpPr>
              <p:nvPr/>
            </p:nvCxnSpPr>
            <p:spPr bwMode="auto">
              <a:xfrm>
                <a:off x="2483520" y="5500914"/>
                <a:ext cx="654521" cy="0"/>
              </a:xfrm>
              <a:prstGeom prst="line">
                <a:avLst/>
              </a:prstGeom>
              <a:noFill/>
              <a:ln w="12700" algn="ctr">
                <a:solidFill>
                  <a:schemeClr val="tx1"/>
                </a:solidFill>
                <a:round/>
                <a:headEnd type="none" w="sm" len="sm"/>
                <a:tailEnd type="none" w="sm" len="sm"/>
              </a:ln>
            </p:spPr>
          </p:cxnSp>
          <p:cxnSp>
            <p:nvCxnSpPr>
              <p:cNvPr id="29743" name="Straight Connector 44"/>
              <p:cNvCxnSpPr>
                <a:cxnSpLocks noChangeShapeType="1"/>
              </p:cNvCxnSpPr>
              <p:nvPr/>
            </p:nvCxnSpPr>
            <p:spPr bwMode="auto">
              <a:xfrm>
                <a:off x="2490780" y="5871024"/>
                <a:ext cx="654521" cy="0"/>
              </a:xfrm>
              <a:prstGeom prst="line">
                <a:avLst/>
              </a:prstGeom>
              <a:noFill/>
              <a:ln w="12700" algn="ctr">
                <a:solidFill>
                  <a:schemeClr val="tx1"/>
                </a:solidFill>
                <a:round/>
                <a:headEnd type="none" w="sm" len="sm"/>
                <a:tailEnd type="none" w="sm" len="sm"/>
              </a:ln>
            </p:spPr>
          </p:cxnSp>
          <p:cxnSp>
            <p:nvCxnSpPr>
              <p:cNvPr id="29744" name="Straight Connector 45"/>
              <p:cNvCxnSpPr>
                <a:cxnSpLocks noChangeShapeType="1"/>
              </p:cNvCxnSpPr>
              <p:nvPr/>
            </p:nvCxnSpPr>
            <p:spPr bwMode="auto">
              <a:xfrm>
                <a:off x="2498040" y="6226620"/>
                <a:ext cx="654521" cy="0"/>
              </a:xfrm>
              <a:prstGeom prst="line">
                <a:avLst/>
              </a:prstGeom>
              <a:noFill/>
              <a:ln w="12700" algn="ctr">
                <a:solidFill>
                  <a:schemeClr val="tx1"/>
                </a:solidFill>
                <a:round/>
                <a:headEnd type="none" w="sm" len="sm"/>
                <a:tailEnd type="none" w="sm" len="sm"/>
              </a:ln>
            </p:spPr>
          </p:cxnSp>
        </p:grpSp>
      </p:grpSp>
      <p:grpSp>
        <p:nvGrpSpPr>
          <p:cNvPr id="13" name="Group 106"/>
          <p:cNvGrpSpPr>
            <a:grpSpLocks/>
          </p:cNvGrpSpPr>
          <p:nvPr/>
        </p:nvGrpSpPr>
        <p:grpSpPr bwMode="auto">
          <a:xfrm>
            <a:off x="2005013" y="3124200"/>
            <a:ext cx="4979987" cy="1570038"/>
            <a:chOff x="2280278" y="3064409"/>
            <a:chExt cx="4980735" cy="1570038"/>
          </a:xfrm>
        </p:grpSpPr>
        <p:grpSp>
          <p:nvGrpSpPr>
            <p:cNvPr id="14" name="Group 10"/>
            <p:cNvGrpSpPr>
              <a:grpSpLocks/>
            </p:cNvGrpSpPr>
            <p:nvPr/>
          </p:nvGrpSpPr>
          <p:grpSpPr bwMode="auto">
            <a:xfrm>
              <a:off x="2280278" y="3064409"/>
              <a:ext cx="727075" cy="1570038"/>
              <a:chOff x="9728615" y="4145340"/>
              <a:chExt cx="1384677" cy="1569660"/>
            </a:xfrm>
          </p:grpSpPr>
          <p:sp>
            <p:nvSpPr>
              <p:cNvPr id="29729" name="Double Bracket 11"/>
              <p:cNvSpPr>
                <a:spLocks noChangeArrowheads="1"/>
              </p:cNvSpPr>
              <p:nvPr/>
            </p:nvSpPr>
            <p:spPr bwMode="auto">
              <a:xfrm>
                <a:off x="9728615" y="4145340"/>
                <a:ext cx="1384677" cy="1569660"/>
              </a:xfrm>
              <a:prstGeom prst="bracketPair">
                <a:avLst>
                  <a:gd name="adj" fmla="val 16667"/>
                </a:avLst>
              </a:prstGeom>
              <a:noFill/>
              <a:ln w="12700" algn="ctr">
                <a:solidFill>
                  <a:schemeClr val="tx1"/>
                </a:solidFill>
                <a:round/>
                <a:headEnd type="none" w="sm" len="sm"/>
                <a:tailEnd type="none" w="sm" len="sm"/>
              </a:ln>
            </p:spPr>
            <p:txBody>
              <a:bodyPr/>
              <a:lstStyle/>
              <a:p>
                <a:pPr eaLnBrk="0" hangingPunct="0"/>
                <a:endParaRPr lang="en-US"/>
              </a:p>
            </p:txBody>
          </p:sp>
          <p:sp>
            <p:nvSpPr>
              <p:cNvPr id="29730" name="TextBox 12"/>
              <p:cNvSpPr txBox="1">
                <a:spLocks noChangeArrowheads="1"/>
              </p:cNvSpPr>
              <p:nvPr/>
            </p:nvSpPr>
            <p:spPr bwMode="auto">
              <a:xfrm>
                <a:off x="9866790" y="4145340"/>
                <a:ext cx="1209995" cy="1569660"/>
              </a:xfrm>
              <a:prstGeom prst="rect">
                <a:avLst/>
              </a:prstGeom>
              <a:noFill/>
              <a:ln w="9525">
                <a:noFill/>
                <a:miter lim="800000"/>
                <a:headEnd/>
                <a:tailEnd/>
              </a:ln>
            </p:spPr>
            <p:txBody>
              <a:bodyPr wrap="none">
                <a:spAutoFit/>
              </a:bodyPr>
              <a:lstStyle/>
              <a:p>
                <a:r>
                  <a:rPr lang="en-US" sz="2400" b="0">
                    <a:solidFill>
                      <a:schemeClr val="tx1"/>
                    </a:solidFill>
                  </a:rPr>
                  <a:t>R</a:t>
                </a:r>
                <a:r>
                  <a:rPr lang="en-US" sz="2400" b="0" baseline="-25000">
                    <a:solidFill>
                      <a:schemeClr val="tx1"/>
                    </a:solidFill>
                  </a:rPr>
                  <a:t>00</a:t>
                </a:r>
              </a:p>
              <a:p>
                <a:r>
                  <a:rPr lang="en-US" sz="2400" b="0">
                    <a:solidFill>
                      <a:schemeClr val="tx1"/>
                    </a:solidFill>
                  </a:rPr>
                  <a:t>R</a:t>
                </a:r>
                <a:r>
                  <a:rPr lang="en-US" sz="2400" b="0" baseline="-25000">
                    <a:solidFill>
                      <a:schemeClr val="tx1"/>
                    </a:solidFill>
                  </a:rPr>
                  <a:t>10</a:t>
                </a:r>
              </a:p>
              <a:p>
                <a:r>
                  <a:rPr lang="en-US" sz="2400" b="0">
                    <a:solidFill>
                      <a:schemeClr val="tx1"/>
                    </a:solidFill>
                  </a:rPr>
                  <a:t>R</a:t>
                </a:r>
                <a:r>
                  <a:rPr lang="en-US" sz="2400" b="0" baseline="-25000">
                    <a:solidFill>
                      <a:schemeClr val="tx1"/>
                    </a:solidFill>
                  </a:rPr>
                  <a:t>20</a:t>
                </a:r>
              </a:p>
              <a:p>
                <a:r>
                  <a:rPr lang="en-US" sz="2400" b="0">
                    <a:solidFill>
                      <a:schemeClr val="tx1"/>
                    </a:solidFill>
                  </a:rPr>
                  <a:t>R</a:t>
                </a:r>
                <a:r>
                  <a:rPr lang="en-US" sz="2400" b="0" baseline="-25000">
                    <a:solidFill>
                      <a:schemeClr val="tx1"/>
                    </a:solidFill>
                  </a:rPr>
                  <a:t>30</a:t>
                </a:r>
              </a:p>
            </p:txBody>
          </p:sp>
        </p:grpSp>
        <p:cxnSp>
          <p:nvCxnSpPr>
            <p:cNvPr id="29712" name="Straight Connector 61"/>
            <p:cNvCxnSpPr>
              <a:cxnSpLocks noChangeShapeType="1"/>
            </p:cNvCxnSpPr>
            <p:nvPr/>
          </p:nvCxnSpPr>
          <p:spPr bwMode="auto">
            <a:xfrm>
              <a:off x="2328459" y="3859270"/>
              <a:ext cx="635352" cy="0"/>
            </a:xfrm>
            <a:prstGeom prst="line">
              <a:avLst/>
            </a:prstGeom>
            <a:noFill/>
            <a:ln w="12700" algn="ctr">
              <a:solidFill>
                <a:schemeClr val="tx1"/>
              </a:solidFill>
              <a:round/>
              <a:headEnd type="none" w="sm" len="sm"/>
              <a:tailEnd type="none" w="sm" len="sm"/>
            </a:ln>
          </p:spPr>
        </p:cxnSp>
        <p:sp>
          <p:nvSpPr>
            <p:cNvPr id="29713" name="TextBox 63"/>
            <p:cNvSpPr txBox="1">
              <a:spLocks noChangeArrowheads="1"/>
            </p:cNvSpPr>
            <p:nvPr/>
          </p:nvSpPr>
          <p:spPr bwMode="auto">
            <a:xfrm flipH="1">
              <a:off x="3040193" y="3673729"/>
              <a:ext cx="288110" cy="400110"/>
            </a:xfrm>
            <a:prstGeom prst="rect">
              <a:avLst/>
            </a:prstGeom>
            <a:noFill/>
            <a:ln w="9525">
              <a:noFill/>
              <a:miter lim="800000"/>
              <a:headEnd/>
              <a:tailEnd/>
            </a:ln>
          </p:spPr>
          <p:txBody>
            <a:bodyPr>
              <a:spAutoFit/>
            </a:bodyPr>
            <a:lstStyle/>
            <a:p>
              <a:r>
                <a:rPr lang="en-US" b="0">
                  <a:solidFill>
                    <a:schemeClr val="tx1"/>
                  </a:solidFill>
                </a:rPr>
                <a:t>=</a:t>
              </a:r>
            </a:p>
          </p:txBody>
        </p:sp>
        <p:grpSp>
          <p:nvGrpSpPr>
            <p:cNvPr id="15" name="Group 68"/>
            <p:cNvGrpSpPr>
              <a:grpSpLocks/>
            </p:cNvGrpSpPr>
            <p:nvPr/>
          </p:nvGrpSpPr>
          <p:grpSpPr bwMode="auto">
            <a:xfrm>
              <a:off x="3356623" y="3409336"/>
              <a:ext cx="1257872" cy="914400"/>
              <a:chOff x="2205057" y="4020465"/>
              <a:chExt cx="1257872" cy="914400"/>
            </a:xfrm>
          </p:grpSpPr>
          <p:cxnSp>
            <p:nvCxnSpPr>
              <p:cNvPr id="29726" name="Straight Connector 62"/>
              <p:cNvCxnSpPr>
                <a:cxnSpLocks noChangeShapeType="1"/>
              </p:cNvCxnSpPr>
              <p:nvPr/>
            </p:nvCxnSpPr>
            <p:spPr bwMode="auto">
              <a:xfrm>
                <a:off x="2248303" y="4484913"/>
                <a:ext cx="1110949" cy="0"/>
              </a:xfrm>
              <a:prstGeom prst="line">
                <a:avLst/>
              </a:prstGeom>
              <a:noFill/>
              <a:ln w="12700" algn="ctr">
                <a:solidFill>
                  <a:schemeClr val="tx1"/>
                </a:solidFill>
                <a:round/>
                <a:headEnd type="none" w="sm" len="sm"/>
                <a:tailEnd type="none" w="sm" len="sm"/>
              </a:ln>
            </p:spPr>
          </p:cxnSp>
          <p:sp>
            <p:nvSpPr>
              <p:cNvPr id="29727" name="Double Bracket 64"/>
              <p:cNvSpPr>
                <a:spLocks noChangeArrowheads="1"/>
              </p:cNvSpPr>
              <p:nvPr/>
            </p:nvSpPr>
            <p:spPr bwMode="auto">
              <a:xfrm>
                <a:off x="2205057" y="4020465"/>
                <a:ext cx="1234831" cy="914400"/>
              </a:xfrm>
              <a:prstGeom prst="bracketPair">
                <a:avLst>
                  <a:gd name="adj" fmla="val 16667"/>
                </a:avLst>
              </a:prstGeom>
              <a:noFill/>
              <a:ln w="12700" algn="ctr">
                <a:solidFill>
                  <a:schemeClr val="tx1"/>
                </a:solidFill>
                <a:round/>
                <a:headEnd type="none" w="sm" len="sm"/>
                <a:tailEnd type="none" w="sm" len="sm"/>
              </a:ln>
            </p:spPr>
            <p:txBody>
              <a:bodyPr/>
              <a:lstStyle/>
              <a:p>
                <a:pPr eaLnBrk="0" hangingPunct="0"/>
                <a:endParaRPr lang="en-US"/>
              </a:p>
            </p:txBody>
          </p:sp>
          <p:sp>
            <p:nvSpPr>
              <p:cNvPr id="29728" name="TextBox 66"/>
              <p:cNvSpPr txBox="1">
                <a:spLocks noChangeArrowheads="1"/>
              </p:cNvSpPr>
              <p:nvPr/>
            </p:nvSpPr>
            <p:spPr bwMode="auto">
              <a:xfrm>
                <a:off x="2276386" y="4054900"/>
                <a:ext cx="1186543" cy="830997"/>
              </a:xfrm>
              <a:prstGeom prst="rect">
                <a:avLst/>
              </a:prstGeom>
              <a:noFill/>
              <a:ln w="9525">
                <a:noFill/>
                <a:miter lim="800000"/>
                <a:headEnd/>
                <a:tailEnd/>
              </a:ln>
            </p:spPr>
            <p:txBody>
              <a:bodyPr wrap="none">
                <a:spAutoFit/>
              </a:bodyPr>
              <a:lstStyle/>
              <a:p>
                <a:r>
                  <a:rPr lang="en-US" sz="2400" b="0">
                    <a:solidFill>
                      <a:schemeClr val="tx1"/>
                    </a:solidFill>
                  </a:rPr>
                  <a:t>Q</a:t>
                </a:r>
                <a:r>
                  <a:rPr lang="en-US" sz="2400" b="0" baseline="-25000">
                    <a:solidFill>
                      <a:schemeClr val="tx1"/>
                    </a:solidFill>
                  </a:rPr>
                  <a:t>01</a:t>
                </a:r>
                <a:r>
                  <a:rPr lang="en-US" sz="2400" b="0">
                    <a:solidFill>
                      <a:schemeClr val="tx1"/>
                    </a:solidFill>
                  </a:rPr>
                  <a:t> R</a:t>
                </a:r>
                <a:r>
                  <a:rPr lang="en-US" sz="2400" b="0" baseline="-25000">
                    <a:solidFill>
                      <a:schemeClr val="tx1"/>
                    </a:solidFill>
                  </a:rPr>
                  <a:t>01</a:t>
                </a:r>
              </a:p>
              <a:p>
                <a:r>
                  <a:rPr lang="en-US" sz="2400" b="0">
                    <a:solidFill>
                      <a:schemeClr val="tx1"/>
                    </a:solidFill>
                  </a:rPr>
                  <a:t>Q</a:t>
                </a:r>
                <a:r>
                  <a:rPr lang="en-US" sz="2400" b="0" baseline="-25000">
                    <a:solidFill>
                      <a:schemeClr val="tx1"/>
                    </a:solidFill>
                  </a:rPr>
                  <a:t>11</a:t>
                </a:r>
                <a:r>
                  <a:rPr lang="en-US" sz="2400" b="0">
                    <a:solidFill>
                      <a:schemeClr val="tx1"/>
                    </a:solidFill>
                  </a:rPr>
                  <a:t> R</a:t>
                </a:r>
                <a:r>
                  <a:rPr lang="en-US" sz="2400" b="0" baseline="-25000">
                    <a:solidFill>
                      <a:schemeClr val="tx1"/>
                    </a:solidFill>
                  </a:rPr>
                  <a:t>11</a:t>
                </a:r>
              </a:p>
            </p:txBody>
          </p:sp>
        </p:grpSp>
        <p:grpSp>
          <p:nvGrpSpPr>
            <p:cNvPr id="16" name="Group 69"/>
            <p:cNvGrpSpPr>
              <a:grpSpLocks/>
            </p:cNvGrpSpPr>
            <p:nvPr/>
          </p:nvGrpSpPr>
          <p:grpSpPr bwMode="auto">
            <a:xfrm>
              <a:off x="5064103" y="3411170"/>
              <a:ext cx="1245539" cy="914400"/>
              <a:chOff x="2205057" y="4020465"/>
              <a:chExt cx="1245539" cy="914400"/>
            </a:xfrm>
          </p:grpSpPr>
          <p:cxnSp>
            <p:nvCxnSpPr>
              <p:cNvPr id="29723" name="Straight Connector 70"/>
              <p:cNvCxnSpPr>
                <a:cxnSpLocks noChangeShapeType="1"/>
              </p:cNvCxnSpPr>
              <p:nvPr/>
            </p:nvCxnSpPr>
            <p:spPr bwMode="auto">
              <a:xfrm>
                <a:off x="2248303" y="4484913"/>
                <a:ext cx="1110949" cy="0"/>
              </a:xfrm>
              <a:prstGeom prst="line">
                <a:avLst/>
              </a:prstGeom>
              <a:noFill/>
              <a:ln w="12700" algn="ctr">
                <a:solidFill>
                  <a:schemeClr val="tx1"/>
                </a:solidFill>
                <a:round/>
                <a:headEnd type="none" w="sm" len="sm"/>
                <a:tailEnd type="none" w="sm" len="sm"/>
              </a:ln>
            </p:spPr>
          </p:cxnSp>
          <p:sp>
            <p:nvSpPr>
              <p:cNvPr id="29724" name="Double Bracket 71"/>
              <p:cNvSpPr>
                <a:spLocks noChangeArrowheads="1"/>
              </p:cNvSpPr>
              <p:nvPr/>
            </p:nvSpPr>
            <p:spPr bwMode="auto">
              <a:xfrm>
                <a:off x="2205057" y="4020465"/>
                <a:ext cx="1234831" cy="914400"/>
              </a:xfrm>
              <a:prstGeom prst="bracketPair">
                <a:avLst>
                  <a:gd name="adj" fmla="val 16667"/>
                </a:avLst>
              </a:prstGeom>
              <a:noFill/>
              <a:ln w="12700" algn="ctr">
                <a:solidFill>
                  <a:schemeClr val="tx1"/>
                </a:solidFill>
                <a:round/>
                <a:headEnd type="none" w="sm" len="sm"/>
                <a:tailEnd type="none" w="sm" len="sm"/>
              </a:ln>
            </p:spPr>
            <p:txBody>
              <a:bodyPr/>
              <a:lstStyle/>
              <a:p>
                <a:pPr eaLnBrk="0" hangingPunct="0"/>
                <a:endParaRPr lang="en-US"/>
              </a:p>
            </p:txBody>
          </p:sp>
          <p:sp>
            <p:nvSpPr>
              <p:cNvPr id="29725" name="TextBox 72"/>
              <p:cNvSpPr txBox="1">
                <a:spLocks noChangeArrowheads="1"/>
              </p:cNvSpPr>
              <p:nvPr/>
            </p:nvSpPr>
            <p:spPr bwMode="auto">
              <a:xfrm>
                <a:off x="2304961" y="4054900"/>
                <a:ext cx="1145635" cy="830997"/>
              </a:xfrm>
              <a:prstGeom prst="rect">
                <a:avLst/>
              </a:prstGeom>
              <a:noFill/>
              <a:ln w="9525">
                <a:noFill/>
                <a:miter lim="800000"/>
                <a:headEnd/>
                <a:tailEnd/>
              </a:ln>
            </p:spPr>
            <p:txBody>
              <a:bodyPr wrap="none">
                <a:spAutoFit/>
              </a:bodyPr>
              <a:lstStyle/>
              <a:p>
                <a:r>
                  <a:rPr lang="en-US" sz="2400" b="0">
                    <a:solidFill>
                      <a:schemeClr val="tx1"/>
                    </a:solidFill>
                  </a:rPr>
                  <a:t>Q</a:t>
                </a:r>
                <a:r>
                  <a:rPr lang="en-US" sz="2400" b="0" baseline="-25000">
                    <a:solidFill>
                      <a:schemeClr val="tx1"/>
                    </a:solidFill>
                  </a:rPr>
                  <a:t>01</a:t>
                </a:r>
              </a:p>
              <a:p>
                <a:r>
                  <a:rPr lang="en-US" sz="2400" b="0">
                    <a:solidFill>
                      <a:schemeClr val="tx1"/>
                    </a:solidFill>
                  </a:rPr>
                  <a:t>      Q</a:t>
                </a:r>
                <a:r>
                  <a:rPr lang="en-US" sz="2400" b="0" baseline="-25000">
                    <a:solidFill>
                      <a:schemeClr val="tx1"/>
                    </a:solidFill>
                  </a:rPr>
                  <a:t>11</a:t>
                </a:r>
              </a:p>
            </p:txBody>
          </p:sp>
        </p:grpSp>
        <p:sp>
          <p:nvSpPr>
            <p:cNvPr id="29716" name="TextBox 73"/>
            <p:cNvSpPr txBox="1">
              <a:spLocks noChangeArrowheads="1"/>
            </p:cNvSpPr>
            <p:nvPr/>
          </p:nvSpPr>
          <p:spPr bwMode="auto">
            <a:xfrm flipH="1">
              <a:off x="4645367" y="3702757"/>
              <a:ext cx="288110" cy="400110"/>
            </a:xfrm>
            <a:prstGeom prst="rect">
              <a:avLst/>
            </a:prstGeom>
            <a:noFill/>
            <a:ln w="9525">
              <a:noFill/>
              <a:miter lim="800000"/>
              <a:headEnd/>
              <a:tailEnd/>
            </a:ln>
          </p:spPr>
          <p:txBody>
            <a:bodyPr>
              <a:spAutoFit/>
            </a:bodyPr>
            <a:lstStyle/>
            <a:p>
              <a:r>
                <a:rPr lang="en-US" b="0">
                  <a:solidFill>
                    <a:schemeClr val="tx1"/>
                  </a:solidFill>
                </a:rPr>
                <a:t>=</a:t>
              </a:r>
            </a:p>
          </p:txBody>
        </p:sp>
        <p:sp>
          <p:nvSpPr>
            <p:cNvPr id="29717" name="TextBox 74"/>
            <p:cNvSpPr txBox="1">
              <a:spLocks noChangeArrowheads="1"/>
            </p:cNvSpPr>
            <p:nvPr/>
          </p:nvSpPr>
          <p:spPr bwMode="auto">
            <a:xfrm>
              <a:off x="6309642" y="3630187"/>
              <a:ext cx="255198" cy="400110"/>
            </a:xfrm>
            <a:prstGeom prst="rect">
              <a:avLst/>
            </a:prstGeom>
            <a:noFill/>
            <a:ln w="9525">
              <a:noFill/>
              <a:miter lim="800000"/>
              <a:headEnd/>
              <a:tailEnd/>
            </a:ln>
          </p:spPr>
          <p:txBody>
            <a:bodyPr>
              <a:spAutoFit/>
            </a:bodyPr>
            <a:lstStyle/>
            <a:p>
              <a:r>
                <a:rPr lang="en-US">
                  <a:solidFill>
                    <a:schemeClr val="tx1"/>
                  </a:solidFill>
                </a:rPr>
                <a:t>.</a:t>
              </a:r>
            </a:p>
          </p:txBody>
        </p:sp>
        <p:grpSp>
          <p:nvGrpSpPr>
            <p:cNvPr id="17" name="Group 94"/>
            <p:cNvGrpSpPr>
              <a:grpSpLocks/>
            </p:cNvGrpSpPr>
            <p:nvPr/>
          </p:nvGrpSpPr>
          <p:grpSpPr bwMode="auto">
            <a:xfrm>
              <a:off x="6564840" y="3411595"/>
              <a:ext cx="696173" cy="914400"/>
              <a:chOff x="3625840" y="5421032"/>
              <a:chExt cx="696173" cy="914400"/>
            </a:xfrm>
          </p:grpSpPr>
          <p:sp>
            <p:nvSpPr>
              <p:cNvPr id="29719" name="Double Bracket 78"/>
              <p:cNvSpPr>
                <a:spLocks noChangeArrowheads="1"/>
              </p:cNvSpPr>
              <p:nvPr/>
            </p:nvSpPr>
            <p:spPr bwMode="auto">
              <a:xfrm>
                <a:off x="3625840" y="5421032"/>
                <a:ext cx="696173" cy="914400"/>
              </a:xfrm>
              <a:prstGeom prst="bracketPair">
                <a:avLst>
                  <a:gd name="adj" fmla="val 16667"/>
                </a:avLst>
              </a:prstGeom>
              <a:noFill/>
              <a:ln w="12700" algn="ctr">
                <a:solidFill>
                  <a:schemeClr val="tx1"/>
                </a:solidFill>
                <a:round/>
                <a:headEnd type="none" w="sm" len="sm"/>
                <a:tailEnd type="none" w="sm" len="sm"/>
              </a:ln>
            </p:spPr>
            <p:txBody>
              <a:bodyPr/>
              <a:lstStyle/>
              <a:p>
                <a:pPr eaLnBrk="0" hangingPunct="0"/>
                <a:endParaRPr lang="en-US"/>
              </a:p>
            </p:txBody>
          </p:sp>
          <p:grpSp>
            <p:nvGrpSpPr>
              <p:cNvPr id="18" name="Group 93"/>
              <p:cNvGrpSpPr>
                <a:grpSpLocks/>
              </p:cNvGrpSpPr>
              <p:nvPr/>
            </p:nvGrpSpPr>
            <p:grpSpPr bwMode="auto">
              <a:xfrm>
                <a:off x="3658086" y="5451901"/>
                <a:ext cx="663927" cy="830997"/>
                <a:chOff x="5692599" y="5421032"/>
                <a:chExt cx="663927" cy="830997"/>
              </a:xfrm>
            </p:grpSpPr>
            <p:sp>
              <p:nvSpPr>
                <p:cNvPr id="29721" name="TextBox 91"/>
                <p:cNvSpPr txBox="1">
                  <a:spLocks noChangeArrowheads="1"/>
                </p:cNvSpPr>
                <p:nvPr/>
              </p:nvSpPr>
              <p:spPr bwMode="auto">
                <a:xfrm>
                  <a:off x="5721416" y="5421032"/>
                  <a:ext cx="635110" cy="830997"/>
                </a:xfrm>
                <a:prstGeom prst="rect">
                  <a:avLst/>
                </a:prstGeom>
                <a:noFill/>
                <a:ln w="9525">
                  <a:noFill/>
                  <a:miter lim="800000"/>
                  <a:headEnd/>
                  <a:tailEnd/>
                </a:ln>
              </p:spPr>
              <p:txBody>
                <a:bodyPr wrap="none">
                  <a:spAutoFit/>
                </a:bodyPr>
                <a:lstStyle/>
                <a:p>
                  <a:r>
                    <a:rPr lang="en-US" sz="2400" b="0">
                      <a:solidFill>
                        <a:schemeClr val="tx1"/>
                      </a:solidFill>
                    </a:rPr>
                    <a:t>R</a:t>
                  </a:r>
                  <a:r>
                    <a:rPr lang="en-US" sz="2400" b="0" baseline="-25000">
                      <a:solidFill>
                        <a:schemeClr val="tx1"/>
                      </a:solidFill>
                    </a:rPr>
                    <a:t>01</a:t>
                  </a:r>
                </a:p>
                <a:p>
                  <a:r>
                    <a:rPr lang="en-US" sz="2400" b="0">
                      <a:solidFill>
                        <a:schemeClr val="tx1"/>
                      </a:solidFill>
                    </a:rPr>
                    <a:t>R</a:t>
                  </a:r>
                  <a:r>
                    <a:rPr lang="en-US" sz="2400" b="0" baseline="-25000">
                      <a:solidFill>
                        <a:schemeClr val="tx1"/>
                      </a:solidFill>
                    </a:rPr>
                    <a:t>11</a:t>
                  </a:r>
                </a:p>
              </p:txBody>
            </p:sp>
            <p:cxnSp>
              <p:nvCxnSpPr>
                <p:cNvPr id="29722" name="Straight Connector 92"/>
                <p:cNvCxnSpPr>
                  <a:cxnSpLocks noChangeShapeType="1"/>
                </p:cNvCxnSpPr>
                <p:nvPr/>
              </p:nvCxnSpPr>
              <p:spPr bwMode="auto">
                <a:xfrm>
                  <a:off x="5692599" y="5848350"/>
                  <a:ext cx="635352" cy="0"/>
                </a:xfrm>
                <a:prstGeom prst="line">
                  <a:avLst/>
                </a:prstGeom>
                <a:noFill/>
                <a:ln w="12700" algn="ctr">
                  <a:solidFill>
                    <a:schemeClr val="tx1"/>
                  </a:solidFill>
                  <a:round/>
                  <a:headEnd type="none" w="sm" len="sm"/>
                  <a:tailEnd type="none" w="sm" len="sm"/>
                </a:ln>
              </p:spPr>
            </p:cxnSp>
          </p:grpSp>
        </p:grpSp>
      </p:grpSp>
      <p:grpSp>
        <p:nvGrpSpPr>
          <p:cNvPr id="19" name="Group 105"/>
          <p:cNvGrpSpPr>
            <a:grpSpLocks/>
          </p:cNvGrpSpPr>
          <p:nvPr/>
        </p:nvGrpSpPr>
        <p:grpSpPr bwMode="auto">
          <a:xfrm>
            <a:off x="3405188" y="4876800"/>
            <a:ext cx="2381250" cy="914400"/>
            <a:chOff x="2600831" y="5245576"/>
            <a:chExt cx="2380698" cy="914400"/>
          </a:xfrm>
        </p:grpSpPr>
        <p:grpSp>
          <p:nvGrpSpPr>
            <p:cNvPr id="20" name="Group 96"/>
            <p:cNvGrpSpPr>
              <a:grpSpLocks/>
            </p:cNvGrpSpPr>
            <p:nvPr/>
          </p:nvGrpSpPr>
          <p:grpSpPr bwMode="auto">
            <a:xfrm>
              <a:off x="2600831" y="5245576"/>
              <a:ext cx="696173" cy="914400"/>
              <a:chOff x="3625840" y="5421032"/>
              <a:chExt cx="696173" cy="914400"/>
            </a:xfrm>
          </p:grpSpPr>
          <p:sp>
            <p:nvSpPr>
              <p:cNvPr id="29707" name="Double Bracket 97"/>
              <p:cNvSpPr>
                <a:spLocks noChangeArrowheads="1"/>
              </p:cNvSpPr>
              <p:nvPr/>
            </p:nvSpPr>
            <p:spPr bwMode="auto">
              <a:xfrm>
                <a:off x="3625840" y="5421032"/>
                <a:ext cx="696173" cy="914400"/>
              </a:xfrm>
              <a:prstGeom prst="bracketPair">
                <a:avLst>
                  <a:gd name="adj" fmla="val 16667"/>
                </a:avLst>
              </a:prstGeom>
              <a:noFill/>
              <a:ln w="12700" algn="ctr">
                <a:solidFill>
                  <a:schemeClr val="tx1"/>
                </a:solidFill>
                <a:round/>
                <a:headEnd type="none" w="sm" len="sm"/>
                <a:tailEnd type="none" w="sm" len="sm"/>
              </a:ln>
            </p:spPr>
            <p:txBody>
              <a:bodyPr/>
              <a:lstStyle/>
              <a:p>
                <a:pPr eaLnBrk="0" hangingPunct="0"/>
                <a:endParaRPr lang="en-US"/>
              </a:p>
            </p:txBody>
          </p:sp>
          <p:grpSp>
            <p:nvGrpSpPr>
              <p:cNvPr id="21" name="Group 93"/>
              <p:cNvGrpSpPr>
                <a:grpSpLocks/>
              </p:cNvGrpSpPr>
              <p:nvPr/>
            </p:nvGrpSpPr>
            <p:grpSpPr bwMode="auto">
              <a:xfrm>
                <a:off x="3658086" y="5451901"/>
                <a:ext cx="663927" cy="830997"/>
                <a:chOff x="5692599" y="5421032"/>
                <a:chExt cx="663927" cy="830997"/>
              </a:xfrm>
            </p:grpSpPr>
            <p:sp>
              <p:nvSpPr>
                <p:cNvPr id="29709" name="TextBox 99"/>
                <p:cNvSpPr txBox="1">
                  <a:spLocks noChangeArrowheads="1"/>
                </p:cNvSpPr>
                <p:nvPr/>
              </p:nvSpPr>
              <p:spPr bwMode="auto">
                <a:xfrm>
                  <a:off x="5721416" y="5421032"/>
                  <a:ext cx="635110" cy="830997"/>
                </a:xfrm>
                <a:prstGeom prst="rect">
                  <a:avLst/>
                </a:prstGeom>
                <a:noFill/>
                <a:ln w="9525">
                  <a:noFill/>
                  <a:miter lim="800000"/>
                  <a:headEnd/>
                  <a:tailEnd/>
                </a:ln>
              </p:spPr>
              <p:txBody>
                <a:bodyPr wrap="none">
                  <a:spAutoFit/>
                </a:bodyPr>
                <a:lstStyle/>
                <a:p>
                  <a:r>
                    <a:rPr lang="en-US" sz="2400" b="0">
                      <a:solidFill>
                        <a:schemeClr val="tx1"/>
                      </a:solidFill>
                    </a:rPr>
                    <a:t>R</a:t>
                  </a:r>
                  <a:r>
                    <a:rPr lang="en-US" sz="2400" b="0" baseline="-25000">
                      <a:solidFill>
                        <a:schemeClr val="tx1"/>
                      </a:solidFill>
                    </a:rPr>
                    <a:t>01</a:t>
                  </a:r>
                </a:p>
                <a:p>
                  <a:r>
                    <a:rPr lang="en-US" sz="2400" b="0">
                      <a:solidFill>
                        <a:schemeClr val="tx1"/>
                      </a:solidFill>
                    </a:rPr>
                    <a:t>R</a:t>
                  </a:r>
                  <a:r>
                    <a:rPr lang="en-US" sz="2400" b="0" baseline="-25000">
                      <a:solidFill>
                        <a:schemeClr val="tx1"/>
                      </a:solidFill>
                    </a:rPr>
                    <a:t>11</a:t>
                  </a:r>
                </a:p>
              </p:txBody>
            </p:sp>
            <p:cxnSp>
              <p:nvCxnSpPr>
                <p:cNvPr id="29710" name="Straight Connector 100"/>
                <p:cNvCxnSpPr>
                  <a:cxnSpLocks noChangeShapeType="1"/>
                </p:cNvCxnSpPr>
                <p:nvPr/>
              </p:nvCxnSpPr>
              <p:spPr bwMode="auto">
                <a:xfrm>
                  <a:off x="5692599" y="5848350"/>
                  <a:ext cx="635352" cy="0"/>
                </a:xfrm>
                <a:prstGeom prst="line">
                  <a:avLst/>
                </a:prstGeom>
                <a:noFill/>
                <a:ln w="12700" algn="ctr">
                  <a:solidFill>
                    <a:schemeClr val="tx1"/>
                  </a:solidFill>
                  <a:round/>
                  <a:headEnd type="none" w="sm" len="sm"/>
                  <a:tailEnd type="none" w="sm" len="sm"/>
                </a:ln>
              </p:spPr>
            </p:cxnSp>
          </p:grpSp>
        </p:grpSp>
        <p:sp>
          <p:nvSpPr>
            <p:cNvPr id="29704" name="TextBox 101"/>
            <p:cNvSpPr txBox="1">
              <a:spLocks noChangeArrowheads="1"/>
            </p:cNvSpPr>
            <p:nvPr/>
          </p:nvSpPr>
          <p:spPr bwMode="auto">
            <a:xfrm flipH="1">
              <a:off x="3355382" y="5518222"/>
              <a:ext cx="288110" cy="400110"/>
            </a:xfrm>
            <a:prstGeom prst="rect">
              <a:avLst/>
            </a:prstGeom>
            <a:noFill/>
            <a:ln w="9525">
              <a:noFill/>
              <a:miter lim="800000"/>
              <a:headEnd/>
              <a:tailEnd/>
            </a:ln>
          </p:spPr>
          <p:txBody>
            <a:bodyPr>
              <a:spAutoFit/>
            </a:bodyPr>
            <a:lstStyle/>
            <a:p>
              <a:r>
                <a:rPr lang="en-US" b="0">
                  <a:solidFill>
                    <a:schemeClr val="tx1"/>
                  </a:solidFill>
                </a:rPr>
                <a:t>=</a:t>
              </a:r>
            </a:p>
          </p:txBody>
        </p:sp>
        <p:sp>
          <p:nvSpPr>
            <p:cNvPr id="29705" name="Double Bracket 102"/>
            <p:cNvSpPr>
              <a:spLocks noChangeArrowheads="1"/>
            </p:cNvSpPr>
            <p:nvPr/>
          </p:nvSpPr>
          <p:spPr bwMode="auto">
            <a:xfrm>
              <a:off x="3771396" y="5468380"/>
              <a:ext cx="1162081" cy="449952"/>
            </a:xfrm>
            <a:prstGeom prst="bracketPair">
              <a:avLst>
                <a:gd name="adj" fmla="val 16667"/>
              </a:avLst>
            </a:prstGeom>
            <a:noFill/>
            <a:ln w="12700" algn="ctr">
              <a:solidFill>
                <a:schemeClr val="tx1"/>
              </a:solidFill>
              <a:round/>
              <a:headEnd type="none" w="sm" len="sm"/>
              <a:tailEnd type="none" w="sm" len="sm"/>
            </a:ln>
          </p:spPr>
          <p:txBody>
            <a:bodyPr/>
            <a:lstStyle/>
            <a:p>
              <a:pPr eaLnBrk="0" hangingPunct="0"/>
              <a:endParaRPr lang="en-US"/>
            </a:p>
          </p:txBody>
        </p:sp>
        <p:sp>
          <p:nvSpPr>
            <p:cNvPr id="29706" name="TextBox 104"/>
            <p:cNvSpPr txBox="1">
              <a:spLocks noChangeArrowheads="1"/>
            </p:cNvSpPr>
            <p:nvPr/>
          </p:nvSpPr>
          <p:spPr bwMode="auto">
            <a:xfrm>
              <a:off x="3794986" y="5466075"/>
              <a:ext cx="1186543" cy="461665"/>
            </a:xfrm>
            <a:prstGeom prst="rect">
              <a:avLst/>
            </a:prstGeom>
            <a:noFill/>
            <a:ln w="9525">
              <a:noFill/>
              <a:miter lim="800000"/>
              <a:headEnd/>
              <a:tailEnd/>
            </a:ln>
          </p:spPr>
          <p:txBody>
            <a:bodyPr wrap="none">
              <a:spAutoFit/>
            </a:bodyPr>
            <a:lstStyle/>
            <a:p>
              <a:r>
                <a:rPr lang="en-US" sz="2400" b="0">
                  <a:solidFill>
                    <a:schemeClr val="tx1"/>
                  </a:solidFill>
                </a:rPr>
                <a:t>Q</a:t>
              </a:r>
              <a:r>
                <a:rPr lang="en-US" sz="2400" b="0" baseline="-25000">
                  <a:solidFill>
                    <a:schemeClr val="tx1"/>
                  </a:solidFill>
                </a:rPr>
                <a:t>02</a:t>
              </a:r>
              <a:r>
                <a:rPr lang="en-US" sz="2400" b="0">
                  <a:solidFill>
                    <a:schemeClr val="tx1"/>
                  </a:solidFill>
                </a:rPr>
                <a:t> R</a:t>
              </a:r>
              <a:r>
                <a:rPr lang="en-US" sz="2400" b="0" baseline="-25000">
                  <a:solidFill>
                    <a:schemeClr val="tx1"/>
                  </a:solidFill>
                </a:rPr>
                <a:t>02</a:t>
              </a:r>
            </a:p>
          </p:txBody>
        </p:sp>
      </p:grpSp>
      <p:sp>
        <p:nvSpPr>
          <p:cNvPr id="68" name="Rectangle 67"/>
          <p:cNvSpPr/>
          <p:nvPr/>
        </p:nvSpPr>
        <p:spPr>
          <a:xfrm>
            <a:off x="2362200" y="990600"/>
            <a:ext cx="1752600" cy="20574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Rectangle 68"/>
          <p:cNvSpPr/>
          <p:nvPr/>
        </p:nvSpPr>
        <p:spPr>
          <a:xfrm>
            <a:off x="4191000" y="990600"/>
            <a:ext cx="4267200" cy="20574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0" name="Straight Connector 69"/>
          <p:cNvCxnSpPr/>
          <p:nvPr/>
        </p:nvCxnSpPr>
        <p:spPr>
          <a:xfrm>
            <a:off x="381000" y="838200"/>
            <a:ext cx="8305800" cy="0"/>
          </a:xfrm>
          <a:prstGeom prst="line">
            <a:avLst/>
          </a:prstGeom>
        </p:spPr>
        <p:style>
          <a:lnRef idx="1">
            <a:schemeClr val="accent1"/>
          </a:lnRef>
          <a:fillRef idx="0">
            <a:schemeClr val="accent1"/>
          </a:fillRef>
          <a:effectRef idx="0">
            <a:schemeClr val="accent1"/>
          </a:effectRef>
          <a:fontRef idx="minor">
            <a:schemeClr val="tx1"/>
          </a:fontRef>
        </p:style>
      </p:cxnSp>
      <p:sp>
        <p:nvSpPr>
          <p:cNvPr id="71" name="Rectangle 70"/>
          <p:cNvSpPr/>
          <p:nvPr/>
        </p:nvSpPr>
        <p:spPr>
          <a:xfrm>
            <a:off x="4419600" y="2895600"/>
            <a:ext cx="4267200" cy="20574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8"/>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69"/>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0" nodeType="clickEffect">
                                  <p:stCondLst>
                                    <p:cond delay="0"/>
                                  </p:stCondLst>
                                  <p:childTnLst>
                                    <p:set>
                                      <p:cBhvr>
                                        <p:cTn id="18" dur="1" fill="hold">
                                          <p:stCondLst>
                                            <p:cond delay="0"/>
                                          </p:stCondLst>
                                        </p:cTn>
                                        <p:tgtEl>
                                          <p:spTgt spid="71"/>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 grpId="0" animBg="1"/>
      <p:bldP spid="69" grpId="0" animBg="1"/>
      <p:bldP spid="71"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p:cNvSpPr>
          <p:nvPr>
            <p:ph type="title"/>
          </p:nvPr>
        </p:nvSpPr>
        <p:spPr>
          <a:xfrm>
            <a:off x="798513" y="0"/>
            <a:ext cx="7097712" cy="801687"/>
          </a:xfrm>
        </p:spPr>
        <p:txBody>
          <a:bodyPr>
            <a:normAutofit fontScale="90000"/>
          </a:bodyPr>
          <a:lstStyle/>
          <a:p>
            <a:r>
              <a:rPr lang="fr-FR" dirty="0" smtClean="0"/>
              <a:t>TSQR: QR of a </a:t>
            </a:r>
            <a:r>
              <a:rPr lang="fr-FR" dirty="0" err="1" smtClean="0"/>
              <a:t>Tall</a:t>
            </a:r>
            <a:r>
              <a:rPr lang="fr-FR" dirty="0" smtClean="0"/>
              <a:t>, </a:t>
            </a:r>
            <a:r>
              <a:rPr lang="fr-FR" dirty="0" err="1" smtClean="0"/>
              <a:t>Skinny</a:t>
            </a:r>
            <a:r>
              <a:rPr lang="fr-FR" dirty="0" smtClean="0"/>
              <a:t> </a:t>
            </a:r>
            <a:r>
              <a:rPr lang="fr-FR" dirty="0" err="1" smtClean="0"/>
              <a:t>matrix</a:t>
            </a:r>
            <a:endParaRPr lang="en-US" dirty="0" smtClean="0"/>
          </a:p>
        </p:txBody>
      </p:sp>
      <p:sp>
        <p:nvSpPr>
          <p:cNvPr id="3" name="Slide Number Placeholder 2"/>
          <p:cNvSpPr>
            <a:spLocks noGrp="1"/>
          </p:cNvSpPr>
          <p:nvPr>
            <p:ph type="sldNum" sz="quarter" idx="11"/>
          </p:nvPr>
        </p:nvSpPr>
        <p:spPr/>
        <p:txBody>
          <a:bodyPr/>
          <a:lstStyle/>
          <a:p>
            <a:pPr>
              <a:defRPr/>
            </a:pPr>
            <a:fld id="{7960ED04-2F49-4DBD-B1F4-6D9545EC3ADD}" type="slidenum">
              <a:rPr lang="en-US" smtClean="0"/>
              <a:pPr>
                <a:defRPr/>
              </a:pPr>
              <a:t>34</a:t>
            </a:fld>
            <a:endParaRPr lang="en-US" dirty="0"/>
          </a:p>
        </p:txBody>
      </p:sp>
      <p:grpSp>
        <p:nvGrpSpPr>
          <p:cNvPr id="2" name="Group 107"/>
          <p:cNvGrpSpPr>
            <a:grpSpLocks/>
          </p:cNvGrpSpPr>
          <p:nvPr/>
        </p:nvGrpSpPr>
        <p:grpSpPr bwMode="auto">
          <a:xfrm>
            <a:off x="638175" y="1244600"/>
            <a:ext cx="7659688" cy="1570038"/>
            <a:chOff x="798513" y="1244600"/>
            <a:chExt cx="7659687" cy="1570038"/>
          </a:xfrm>
        </p:grpSpPr>
        <p:sp>
          <p:nvSpPr>
            <p:cNvPr id="29731" name="TextBox 3"/>
            <p:cNvSpPr txBox="1">
              <a:spLocks noChangeArrowheads="1"/>
            </p:cNvSpPr>
            <p:nvPr/>
          </p:nvSpPr>
          <p:spPr bwMode="auto">
            <a:xfrm>
              <a:off x="798513" y="1813831"/>
              <a:ext cx="627095" cy="461665"/>
            </a:xfrm>
            <a:prstGeom prst="rect">
              <a:avLst/>
            </a:prstGeom>
            <a:noFill/>
            <a:ln w="9525">
              <a:noFill/>
              <a:miter lim="800000"/>
              <a:headEnd/>
              <a:tailEnd/>
            </a:ln>
          </p:spPr>
          <p:txBody>
            <a:bodyPr wrap="none">
              <a:spAutoFit/>
            </a:bodyPr>
            <a:lstStyle/>
            <a:p>
              <a:r>
                <a:rPr lang="en-US" sz="2400" b="0" dirty="0">
                  <a:solidFill>
                    <a:srgbClr val="C00000"/>
                  </a:solidFill>
                </a:rPr>
                <a:t>W</a:t>
              </a:r>
              <a:r>
                <a:rPr lang="en-US" b="0" dirty="0">
                  <a:solidFill>
                    <a:srgbClr val="C00000"/>
                  </a:solidFill>
                </a:rPr>
                <a:t> =</a:t>
              </a:r>
            </a:p>
          </p:txBody>
        </p:sp>
        <p:grpSp>
          <p:nvGrpSpPr>
            <p:cNvPr id="4" name="Group 6"/>
            <p:cNvGrpSpPr>
              <a:grpSpLocks/>
            </p:cNvGrpSpPr>
            <p:nvPr/>
          </p:nvGrpSpPr>
          <p:grpSpPr bwMode="auto">
            <a:xfrm>
              <a:off x="2810781" y="1244600"/>
              <a:ext cx="1384300" cy="1570038"/>
              <a:chOff x="9728615" y="4145340"/>
              <a:chExt cx="1384677" cy="1569660"/>
            </a:xfrm>
          </p:grpSpPr>
          <p:sp>
            <p:nvSpPr>
              <p:cNvPr id="29762" name="Double Bracket 4"/>
              <p:cNvSpPr>
                <a:spLocks noChangeArrowheads="1"/>
              </p:cNvSpPr>
              <p:nvPr/>
            </p:nvSpPr>
            <p:spPr bwMode="auto">
              <a:xfrm>
                <a:off x="9728615" y="4145340"/>
                <a:ext cx="1384677" cy="1569660"/>
              </a:xfrm>
              <a:prstGeom prst="bracketPair">
                <a:avLst>
                  <a:gd name="adj" fmla="val 16667"/>
                </a:avLst>
              </a:prstGeom>
              <a:noFill/>
              <a:ln w="12700" algn="ctr">
                <a:solidFill>
                  <a:schemeClr val="tx1"/>
                </a:solidFill>
                <a:round/>
                <a:headEnd type="none" w="sm" len="sm"/>
                <a:tailEnd type="none" w="sm" len="sm"/>
              </a:ln>
            </p:spPr>
            <p:txBody>
              <a:bodyPr/>
              <a:lstStyle/>
              <a:p>
                <a:pPr eaLnBrk="0" hangingPunct="0"/>
                <a:endParaRPr lang="en-US"/>
              </a:p>
            </p:txBody>
          </p:sp>
          <p:sp>
            <p:nvSpPr>
              <p:cNvPr id="29763" name="TextBox 5"/>
              <p:cNvSpPr txBox="1">
                <a:spLocks noChangeArrowheads="1"/>
              </p:cNvSpPr>
              <p:nvPr/>
            </p:nvSpPr>
            <p:spPr bwMode="auto">
              <a:xfrm>
                <a:off x="9866790" y="4145340"/>
                <a:ext cx="1186543" cy="1569660"/>
              </a:xfrm>
              <a:prstGeom prst="rect">
                <a:avLst/>
              </a:prstGeom>
              <a:noFill/>
              <a:ln w="9525">
                <a:noFill/>
                <a:miter lim="800000"/>
                <a:headEnd/>
                <a:tailEnd/>
              </a:ln>
            </p:spPr>
            <p:txBody>
              <a:bodyPr wrap="none">
                <a:spAutoFit/>
              </a:bodyPr>
              <a:lstStyle/>
              <a:p>
                <a:r>
                  <a:rPr lang="en-US" sz="2400" b="0">
                    <a:solidFill>
                      <a:schemeClr val="tx1"/>
                    </a:solidFill>
                  </a:rPr>
                  <a:t>Q</a:t>
                </a:r>
                <a:r>
                  <a:rPr lang="en-US" sz="2400" b="0" baseline="-25000">
                    <a:solidFill>
                      <a:schemeClr val="tx1"/>
                    </a:solidFill>
                  </a:rPr>
                  <a:t>00</a:t>
                </a:r>
                <a:r>
                  <a:rPr lang="en-US" sz="2400" b="0">
                    <a:solidFill>
                      <a:schemeClr val="tx1"/>
                    </a:solidFill>
                  </a:rPr>
                  <a:t> R</a:t>
                </a:r>
                <a:r>
                  <a:rPr lang="en-US" sz="2400" b="0" baseline="-25000">
                    <a:solidFill>
                      <a:schemeClr val="tx1"/>
                    </a:solidFill>
                  </a:rPr>
                  <a:t>00</a:t>
                </a:r>
              </a:p>
              <a:p>
                <a:r>
                  <a:rPr lang="en-US" sz="2400" b="0">
                    <a:solidFill>
                      <a:schemeClr val="tx1"/>
                    </a:solidFill>
                  </a:rPr>
                  <a:t>Q</a:t>
                </a:r>
                <a:r>
                  <a:rPr lang="en-US" sz="2400" b="0" baseline="-25000">
                    <a:solidFill>
                      <a:schemeClr val="tx1"/>
                    </a:solidFill>
                  </a:rPr>
                  <a:t>10</a:t>
                </a:r>
                <a:r>
                  <a:rPr lang="en-US" sz="2400" b="0">
                    <a:solidFill>
                      <a:schemeClr val="tx1"/>
                    </a:solidFill>
                  </a:rPr>
                  <a:t> R</a:t>
                </a:r>
                <a:r>
                  <a:rPr lang="en-US" sz="2400" b="0" baseline="-25000">
                    <a:solidFill>
                      <a:schemeClr val="tx1"/>
                    </a:solidFill>
                  </a:rPr>
                  <a:t>10</a:t>
                </a:r>
              </a:p>
              <a:p>
                <a:r>
                  <a:rPr lang="en-US" sz="2400" b="0">
                    <a:solidFill>
                      <a:schemeClr val="tx1"/>
                    </a:solidFill>
                  </a:rPr>
                  <a:t>Q</a:t>
                </a:r>
                <a:r>
                  <a:rPr lang="en-US" sz="2400" b="0" baseline="-25000">
                    <a:solidFill>
                      <a:schemeClr val="tx1"/>
                    </a:solidFill>
                  </a:rPr>
                  <a:t>20</a:t>
                </a:r>
                <a:r>
                  <a:rPr lang="en-US" sz="2400" b="0">
                    <a:solidFill>
                      <a:schemeClr val="tx1"/>
                    </a:solidFill>
                  </a:rPr>
                  <a:t> R</a:t>
                </a:r>
                <a:r>
                  <a:rPr lang="en-US" sz="2400" b="0" baseline="-25000">
                    <a:solidFill>
                      <a:schemeClr val="tx1"/>
                    </a:solidFill>
                  </a:rPr>
                  <a:t>20</a:t>
                </a:r>
              </a:p>
              <a:p>
                <a:r>
                  <a:rPr lang="en-US" sz="2400" b="0">
                    <a:solidFill>
                      <a:schemeClr val="tx1"/>
                    </a:solidFill>
                  </a:rPr>
                  <a:t>Q</a:t>
                </a:r>
                <a:r>
                  <a:rPr lang="en-US" sz="2400" b="0" baseline="-25000">
                    <a:solidFill>
                      <a:schemeClr val="tx1"/>
                    </a:solidFill>
                  </a:rPr>
                  <a:t>30</a:t>
                </a:r>
                <a:r>
                  <a:rPr lang="en-US" sz="2400" b="0">
                    <a:solidFill>
                      <a:schemeClr val="tx1"/>
                    </a:solidFill>
                  </a:rPr>
                  <a:t> R</a:t>
                </a:r>
                <a:r>
                  <a:rPr lang="en-US" sz="2400" b="0" baseline="-25000">
                    <a:solidFill>
                      <a:schemeClr val="tx1"/>
                    </a:solidFill>
                  </a:rPr>
                  <a:t>30</a:t>
                </a:r>
              </a:p>
            </p:txBody>
          </p:sp>
        </p:grpSp>
        <p:grpSp>
          <p:nvGrpSpPr>
            <p:cNvPr id="5" name="Group 7"/>
            <p:cNvGrpSpPr>
              <a:grpSpLocks/>
            </p:cNvGrpSpPr>
            <p:nvPr/>
          </p:nvGrpSpPr>
          <p:grpSpPr bwMode="auto">
            <a:xfrm>
              <a:off x="1681163" y="1244600"/>
              <a:ext cx="727075" cy="1570038"/>
              <a:chOff x="9728615" y="4145340"/>
              <a:chExt cx="1384677" cy="1569660"/>
            </a:xfrm>
          </p:grpSpPr>
          <p:sp>
            <p:nvSpPr>
              <p:cNvPr id="29760" name="Double Bracket 8"/>
              <p:cNvSpPr>
                <a:spLocks noChangeArrowheads="1"/>
              </p:cNvSpPr>
              <p:nvPr/>
            </p:nvSpPr>
            <p:spPr bwMode="auto">
              <a:xfrm>
                <a:off x="9728615" y="4145340"/>
                <a:ext cx="1384677" cy="1569660"/>
              </a:xfrm>
              <a:prstGeom prst="bracketPair">
                <a:avLst>
                  <a:gd name="adj" fmla="val 16667"/>
                </a:avLst>
              </a:prstGeom>
              <a:noFill/>
              <a:ln w="12700" algn="ctr">
                <a:solidFill>
                  <a:schemeClr val="tx1"/>
                </a:solidFill>
                <a:round/>
                <a:headEnd type="none" w="sm" len="sm"/>
                <a:tailEnd type="none" w="sm" len="sm"/>
              </a:ln>
            </p:spPr>
            <p:txBody>
              <a:bodyPr/>
              <a:lstStyle/>
              <a:p>
                <a:pPr eaLnBrk="0" hangingPunct="0"/>
                <a:endParaRPr lang="en-US"/>
              </a:p>
            </p:txBody>
          </p:sp>
          <p:sp>
            <p:nvSpPr>
              <p:cNvPr id="29761" name="TextBox 9"/>
              <p:cNvSpPr txBox="1">
                <a:spLocks noChangeArrowheads="1"/>
              </p:cNvSpPr>
              <p:nvPr/>
            </p:nvSpPr>
            <p:spPr bwMode="auto">
              <a:xfrm>
                <a:off x="9866790" y="4145340"/>
                <a:ext cx="588623" cy="1569660"/>
              </a:xfrm>
              <a:prstGeom prst="rect">
                <a:avLst/>
              </a:prstGeom>
              <a:noFill/>
              <a:ln w="9525">
                <a:noFill/>
                <a:miter lim="800000"/>
                <a:headEnd/>
                <a:tailEnd/>
              </a:ln>
            </p:spPr>
            <p:txBody>
              <a:bodyPr wrap="none">
                <a:spAutoFit/>
              </a:bodyPr>
              <a:lstStyle/>
              <a:p>
                <a:r>
                  <a:rPr lang="en-US" sz="2400" b="0">
                    <a:solidFill>
                      <a:schemeClr val="tx1"/>
                    </a:solidFill>
                  </a:rPr>
                  <a:t>W</a:t>
                </a:r>
                <a:r>
                  <a:rPr lang="en-US" sz="2400" b="0" baseline="-25000">
                    <a:solidFill>
                      <a:schemeClr val="tx1"/>
                    </a:solidFill>
                  </a:rPr>
                  <a:t>0</a:t>
                </a:r>
              </a:p>
              <a:p>
                <a:r>
                  <a:rPr lang="en-US" sz="2400" b="0">
                    <a:solidFill>
                      <a:schemeClr val="tx1"/>
                    </a:solidFill>
                  </a:rPr>
                  <a:t>W</a:t>
                </a:r>
                <a:r>
                  <a:rPr lang="en-US" sz="2400" b="0" baseline="-25000">
                    <a:solidFill>
                      <a:schemeClr val="tx1"/>
                    </a:solidFill>
                  </a:rPr>
                  <a:t>1</a:t>
                </a:r>
              </a:p>
              <a:p>
                <a:r>
                  <a:rPr lang="en-US" sz="2400" b="0">
                    <a:solidFill>
                      <a:schemeClr val="tx1"/>
                    </a:solidFill>
                  </a:rPr>
                  <a:t>W</a:t>
                </a:r>
                <a:r>
                  <a:rPr lang="en-US" sz="2400" b="0" baseline="-25000">
                    <a:solidFill>
                      <a:schemeClr val="tx1"/>
                    </a:solidFill>
                  </a:rPr>
                  <a:t>2</a:t>
                </a:r>
              </a:p>
              <a:p>
                <a:r>
                  <a:rPr lang="en-US" sz="2400" b="0">
                    <a:solidFill>
                      <a:schemeClr val="tx1"/>
                    </a:solidFill>
                  </a:rPr>
                  <a:t>W</a:t>
                </a:r>
                <a:r>
                  <a:rPr lang="en-US" sz="2400" b="0" baseline="-25000">
                    <a:solidFill>
                      <a:schemeClr val="tx1"/>
                    </a:solidFill>
                  </a:rPr>
                  <a:t>3</a:t>
                </a:r>
              </a:p>
            </p:txBody>
          </p:sp>
        </p:grpSp>
        <p:grpSp>
          <p:nvGrpSpPr>
            <p:cNvPr id="6" name="Group 13"/>
            <p:cNvGrpSpPr>
              <a:grpSpLocks/>
            </p:cNvGrpSpPr>
            <p:nvPr/>
          </p:nvGrpSpPr>
          <p:grpSpPr bwMode="auto">
            <a:xfrm>
              <a:off x="4689026" y="1244600"/>
              <a:ext cx="2563813" cy="1570038"/>
              <a:chOff x="9728615" y="4145340"/>
              <a:chExt cx="1384677" cy="1569660"/>
            </a:xfrm>
          </p:grpSpPr>
          <p:sp>
            <p:nvSpPr>
              <p:cNvPr id="29758" name="Double Bracket 14"/>
              <p:cNvSpPr>
                <a:spLocks noChangeArrowheads="1"/>
              </p:cNvSpPr>
              <p:nvPr/>
            </p:nvSpPr>
            <p:spPr bwMode="auto">
              <a:xfrm>
                <a:off x="9728615" y="4145340"/>
                <a:ext cx="1384677" cy="1569660"/>
              </a:xfrm>
              <a:prstGeom prst="bracketPair">
                <a:avLst>
                  <a:gd name="adj" fmla="val 16667"/>
                </a:avLst>
              </a:prstGeom>
              <a:noFill/>
              <a:ln w="12700" algn="ctr">
                <a:solidFill>
                  <a:srgbClr val="C00000"/>
                </a:solidFill>
                <a:round/>
                <a:headEnd type="none" w="sm" len="sm"/>
                <a:tailEnd type="none" w="sm" len="sm"/>
              </a:ln>
            </p:spPr>
            <p:txBody>
              <a:bodyPr/>
              <a:lstStyle/>
              <a:p>
                <a:pPr eaLnBrk="0" hangingPunct="0"/>
                <a:endParaRPr lang="en-US" dirty="0">
                  <a:solidFill>
                    <a:srgbClr val="C00000"/>
                  </a:solidFill>
                </a:endParaRPr>
              </a:p>
            </p:txBody>
          </p:sp>
          <p:sp>
            <p:nvSpPr>
              <p:cNvPr id="29759" name="TextBox 15"/>
              <p:cNvSpPr txBox="1">
                <a:spLocks noChangeArrowheads="1"/>
              </p:cNvSpPr>
              <p:nvPr/>
            </p:nvSpPr>
            <p:spPr bwMode="auto">
              <a:xfrm>
                <a:off x="9772697" y="4145340"/>
                <a:ext cx="1105746" cy="1569282"/>
              </a:xfrm>
              <a:prstGeom prst="rect">
                <a:avLst/>
              </a:prstGeom>
              <a:noFill/>
              <a:ln w="9525">
                <a:noFill/>
                <a:miter lim="800000"/>
                <a:headEnd/>
                <a:tailEnd/>
              </a:ln>
            </p:spPr>
            <p:txBody>
              <a:bodyPr wrap="none">
                <a:spAutoFit/>
              </a:bodyPr>
              <a:lstStyle/>
              <a:p>
                <a:r>
                  <a:rPr lang="en-US" sz="2400" b="0" dirty="0">
                    <a:solidFill>
                      <a:srgbClr val="C00000"/>
                    </a:solidFill>
                  </a:rPr>
                  <a:t>Q</a:t>
                </a:r>
                <a:r>
                  <a:rPr lang="en-US" sz="2400" b="0" baseline="-25000" dirty="0">
                    <a:solidFill>
                      <a:srgbClr val="C00000"/>
                    </a:solidFill>
                  </a:rPr>
                  <a:t>00</a:t>
                </a:r>
              </a:p>
              <a:p>
                <a:r>
                  <a:rPr lang="en-US" sz="2400" b="0" dirty="0">
                    <a:solidFill>
                      <a:srgbClr val="C00000"/>
                    </a:solidFill>
                  </a:rPr>
                  <a:t>       Q</a:t>
                </a:r>
                <a:r>
                  <a:rPr lang="en-US" sz="2400" b="0" baseline="-25000" dirty="0">
                    <a:solidFill>
                      <a:srgbClr val="C00000"/>
                    </a:solidFill>
                  </a:rPr>
                  <a:t>10</a:t>
                </a:r>
              </a:p>
              <a:p>
                <a:r>
                  <a:rPr lang="en-US" sz="2400" b="0" dirty="0">
                    <a:solidFill>
                      <a:srgbClr val="C00000"/>
                    </a:solidFill>
                  </a:rPr>
                  <a:t>              Q</a:t>
                </a:r>
                <a:r>
                  <a:rPr lang="en-US" sz="2400" b="0" baseline="-25000" dirty="0">
                    <a:solidFill>
                      <a:srgbClr val="C00000"/>
                    </a:solidFill>
                  </a:rPr>
                  <a:t>20</a:t>
                </a:r>
              </a:p>
              <a:p>
                <a:r>
                  <a:rPr lang="en-US" sz="2400" b="0" dirty="0">
                    <a:solidFill>
                      <a:srgbClr val="C00000"/>
                    </a:solidFill>
                  </a:rPr>
                  <a:t>                     Q</a:t>
                </a:r>
                <a:r>
                  <a:rPr lang="en-US" sz="2400" b="0" baseline="-25000" dirty="0">
                    <a:solidFill>
                      <a:srgbClr val="C00000"/>
                    </a:solidFill>
                  </a:rPr>
                  <a:t>30</a:t>
                </a:r>
              </a:p>
            </p:txBody>
          </p:sp>
        </p:grpSp>
        <p:sp>
          <p:nvSpPr>
            <p:cNvPr id="29735" name="TextBox 17"/>
            <p:cNvSpPr txBox="1">
              <a:spLocks noChangeArrowheads="1"/>
            </p:cNvSpPr>
            <p:nvPr/>
          </p:nvSpPr>
          <p:spPr bwMode="auto">
            <a:xfrm flipH="1">
              <a:off x="2464615" y="1861170"/>
              <a:ext cx="288110" cy="400110"/>
            </a:xfrm>
            <a:prstGeom prst="rect">
              <a:avLst/>
            </a:prstGeom>
            <a:noFill/>
            <a:ln w="9525">
              <a:noFill/>
              <a:miter lim="800000"/>
              <a:headEnd/>
              <a:tailEnd/>
            </a:ln>
          </p:spPr>
          <p:txBody>
            <a:bodyPr>
              <a:spAutoFit/>
            </a:bodyPr>
            <a:lstStyle/>
            <a:p>
              <a:r>
                <a:rPr lang="en-US" b="0">
                  <a:solidFill>
                    <a:schemeClr val="tx1"/>
                  </a:solidFill>
                </a:rPr>
                <a:t>=</a:t>
              </a:r>
            </a:p>
          </p:txBody>
        </p:sp>
        <p:sp>
          <p:nvSpPr>
            <p:cNvPr id="29736" name="TextBox 21"/>
            <p:cNvSpPr txBox="1">
              <a:spLocks noChangeArrowheads="1"/>
            </p:cNvSpPr>
            <p:nvPr/>
          </p:nvSpPr>
          <p:spPr bwMode="auto">
            <a:xfrm flipH="1">
              <a:off x="4267651" y="1875684"/>
              <a:ext cx="288110" cy="400110"/>
            </a:xfrm>
            <a:prstGeom prst="rect">
              <a:avLst/>
            </a:prstGeom>
            <a:noFill/>
            <a:ln w="9525">
              <a:noFill/>
              <a:miter lim="800000"/>
              <a:headEnd/>
              <a:tailEnd/>
            </a:ln>
          </p:spPr>
          <p:txBody>
            <a:bodyPr>
              <a:spAutoFit/>
            </a:bodyPr>
            <a:lstStyle/>
            <a:p>
              <a:r>
                <a:rPr lang="en-US" b="0">
                  <a:solidFill>
                    <a:schemeClr val="tx1"/>
                  </a:solidFill>
                </a:rPr>
                <a:t>=</a:t>
              </a:r>
            </a:p>
          </p:txBody>
        </p:sp>
        <p:sp>
          <p:nvSpPr>
            <p:cNvPr id="29737" name="TextBox 22"/>
            <p:cNvSpPr txBox="1">
              <a:spLocks noChangeArrowheads="1"/>
            </p:cNvSpPr>
            <p:nvPr/>
          </p:nvSpPr>
          <p:spPr bwMode="auto">
            <a:xfrm>
              <a:off x="7383465" y="1803114"/>
              <a:ext cx="255198" cy="400110"/>
            </a:xfrm>
            <a:prstGeom prst="rect">
              <a:avLst/>
            </a:prstGeom>
            <a:noFill/>
            <a:ln w="9525">
              <a:noFill/>
              <a:miter lim="800000"/>
              <a:headEnd/>
              <a:tailEnd/>
            </a:ln>
          </p:spPr>
          <p:txBody>
            <a:bodyPr>
              <a:spAutoFit/>
            </a:bodyPr>
            <a:lstStyle/>
            <a:p>
              <a:r>
                <a:rPr lang="en-US">
                  <a:solidFill>
                    <a:schemeClr val="tx1"/>
                  </a:solidFill>
                </a:rPr>
                <a:t>.</a:t>
              </a:r>
            </a:p>
          </p:txBody>
        </p:sp>
        <p:grpSp>
          <p:nvGrpSpPr>
            <p:cNvPr id="7" name="Group 50"/>
            <p:cNvGrpSpPr>
              <a:grpSpLocks/>
            </p:cNvGrpSpPr>
            <p:nvPr/>
          </p:nvGrpSpPr>
          <p:grpSpPr bwMode="auto">
            <a:xfrm>
              <a:off x="7731125" y="1244600"/>
              <a:ext cx="727075" cy="1570038"/>
              <a:chOff x="7731125" y="1244600"/>
              <a:chExt cx="727075" cy="1570038"/>
            </a:xfrm>
          </p:grpSpPr>
          <p:grpSp>
            <p:nvGrpSpPr>
              <p:cNvPr id="8" name="Group 10"/>
              <p:cNvGrpSpPr>
                <a:grpSpLocks/>
              </p:cNvGrpSpPr>
              <p:nvPr/>
            </p:nvGrpSpPr>
            <p:grpSpPr bwMode="auto">
              <a:xfrm>
                <a:off x="7731125" y="1244600"/>
                <a:ext cx="727075" cy="1570038"/>
                <a:chOff x="9728615" y="4145340"/>
                <a:chExt cx="1384677" cy="1569660"/>
              </a:xfrm>
            </p:grpSpPr>
            <p:sp>
              <p:nvSpPr>
                <p:cNvPr id="29756" name="Double Bracket 11"/>
                <p:cNvSpPr>
                  <a:spLocks noChangeArrowheads="1"/>
                </p:cNvSpPr>
                <p:nvPr/>
              </p:nvSpPr>
              <p:spPr bwMode="auto">
                <a:xfrm>
                  <a:off x="9728615" y="4145340"/>
                  <a:ext cx="1384677" cy="1569660"/>
                </a:xfrm>
                <a:prstGeom prst="bracketPair">
                  <a:avLst>
                    <a:gd name="adj" fmla="val 16667"/>
                  </a:avLst>
                </a:prstGeom>
                <a:noFill/>
                <a:ln w="12700" algn="ctr">
                  <a:solidFill>
                    <a:schemeClr val="tx1"/>
                  </a:solidFill>
                  <a:round/>
                  <a:headEnd type="none" w="sm" len="sm"/>
                  <a:tailEnd type="none" w="sm" len="sm"/>
                </a:ln>
              </p:spPr>
              <p:txBody>
                <a:bodyPr/>
                <a:lstStyle/>
                <a:p>
                  <a:pPr eaLnBrk="0" hangingPunct="0"/>
                  <a:endParaRPr lang="en-US"/>
                </a:p>
              </p:txBody>
            </p:sp>
            <p:sp>
              <p:nvSpPr>
                <p:cNvPr id="29757" name="TextBox 12"/>
                <p:cNvSpPr txBox="1">
                  <a:spLocks noChangeArrowheads="1"/>
                </p:cNvSpPr>
                <p:nvPr/>
              </p:nvSpPr>
              <p:spPr bwMode="auto">
                <a:xfrm>
                  <a:off x="9866790" y="4145340"/>
                  <a:ext cx="1209995" cy="1569660"/>
                </a:xfrm>
                <a:prstGeom prst="rect">
                  <a:avLst/>
                </a:prstGeom>
                <a:noFill/>
                <a:ln w="9525">
                  <a:noFill/>
                  <a:miter lim="800000"/>
                  <a:headEnd/>
                  <a:tailEnd/>
                </a:ln>
              </p:spPr>
              <p:txBody>
                <a:bodyPr wrap="none">
                  <a:spAutoFit/>
                </a:bodyPr>
                <a:lstStyle/>
                <a:p>
                  <a:r>
                    <a:rPr lang="en-US" sz="2400" b="0">
                      <a:solidFill>
                        <a:schemeClr val="tx1"/>
                      </a:solidFill>
                    </a:rPr>
                    <a:t>R</a:t>
                  </a:r>
                  <a:r>
                    <a:rPr lang="en-US" sz="2400" b="0" baseline="-25000">
                      <a:solidFill>
                        <a:schemeClr val="tx1"/>
                      </a:solidFill>
                    </a:rPr>
                    <a:t>00</a:t>
                  </a:r>
                </a:p>
                <a:p>
                  <a:r>
                    <a:rPr lang="en-US" sz="2400" b="0">
                      <a:solidFill>
                        <a:schemeClr val="tx1"/>
                      </a:solidFill>
                    </a:rPr>
                    <a:t>R</a:t>
                  </a:r>
                  <a:r>
                    <a:rPr lang="en-US" sz="2400" b="0" baseline="-25000">
                      <a:solidFill>
                        <a:schemeClr val="tx1"/>
                      </a:solidFill>
                    </a:rPr>
                    <a:t>10</a:t>
                  </a:r>
                </a:p>
                <a:p>
                  <a:r>
                    <a:rPr lang="en-US" sz="2400" b="0">
                      <a:solidFill>
                        <a:schemeClr val="tx1"/>
                      </a:solidFill>
                    </a:rPr>
                    <a:t>R</a:t>
                  </a:r>
                  <a:r>
                    <a:rPr lang="en-US" sz="2400" b="0" baseline="-25000">
                      <a:solidFill>
                        <a:schemeClr val="tx1"/>
                      </a:solidFill>
                    </a:rPr>
                    <a:t>20</a:t>
                  </a:r>
                </a:p>
                <a:p>
                  <a:r>
                    <a:rPr lang="en-US" sz="2400" b="0">
                      <a:solidFill>
                        <a:schemeClr val="tx1"/>
                      </a:solidFill>
                    </a:rPr>
                    <a:t>R</a:t>
                  </a:r>
                  <a:r>
                    <a:rPr lang="en-US" sz="2400" b="0" baseline="-25000">
                      <a:solidFill>
                        <a:schemeClr val="tx1"/>
                      </a:solidFill>
                    </a:rPr>
                    <a:t>30</a:t>
                  </a:r>
                </a:p>
              </p:txBody>
            </p:sp>
          </p:grpSp>
          <p:grpSp>
            <p:nvGrpSpPr>
              <p:cNvPr id="9" name="Group 29"/>
              <p:cNvGrpSpPr>
                <a:grpSpLocks/>
              </p:cNvGrpSpPr>
              <p:nvPr/>
            </p:nvGrpSpPr>
            <p:grpSpPr bwMode="auto">
              <a:xfrm>
                <a:off x="7760153" y="1687974"/>
                <a:ext cx="669041" cy="740220"/>
                <a:chOff x="2483520" y="5500914"/>
                <a:chExt cx="669041" cy="740220"/>
              </a:xfrm>
            </p:grpSpPr>
            <p:cxnSp>
              <p:nvCxnSpPr>
                <p:cNvPr id="29753" name="Straight Connector 24"/>
                <p:cNvCxnSpPr>
                  <a:cxnSpLocks noChangeShapeType="1"/>
                </p:cNvCxnSpPr>
                <p:nvPr/>
              </p:nvCxnSpPr>
              <p:spPr bwMode="auto">
                <a:xfrm>
                  <a:off x="2483520" y="5500914"/>
                  <a:ext cx="654521" cy="0"/>
                </a:xfrm>
                <a:prstGeom prst="line">
                  <a:avLst/>
                </a:prstGeom>
                <a:noFill/>
                <a:ln w="12700" algn="ctr">
                  <a:solidFill>
                    <a:schemeClr val="tx1"/>
                  </a:solidFill>
                  <a:round/>
                  <a:headEnd type="none" w="sm" len="sm"/>
                  <a:tailEnd type="none" w="sm" len="sm"/>
                </a:ln>
              </p:spPr>
            </p:cxnSp>
            <p:cxnSp>
              <p:nvCxnSpPr>
                <p:cNvPr id="29754" name="Straight Connector 27"/>
                <p:cNvCxnSpPr>
                  <a:cxnSpLocks noChangeShapeType="1"/>
                </p:cNvCxnSpPr>
                <p:nvPr/>
              </p:nvCxnSpPr>
              <p:spPr bwMode="auto">
                <a:xfrm>
                  <a:off x="2490780" y="5871024"/>
                  <a:ext cx="654521" cy="0"/>
                </a:xfrm>
                <a:prstGeom prst="line">
                  <a:avLst/>
                </a:prstGeom>
                <a:noFill/>
                <a:ln w="12700" algn="ctr">
                  <a:solidFill>
                    <a:schemeClr val="tx1"/>
                  </a:solidFill>
                  <a:round/>
                  <a:headEnd type="none" w="sm" len="sm"/>
                  <a:tailEnd type="none" w="sm" len="sm"/>
                </a:ln>
              </p:spPr>
            </p:cxnSp>
            <p:cxnSp>
              <p:nvCxnSpPr>
                <p:cNvPr id="29755" name="Straight Connector 28"/>
                <p:cNvCxnSpPr>
                  <a:cxnSpLocks noChangeShapeType="1"/>
                </p:cNvCxnSpPr>
                <p:nvPr/>
              </p:nvCxnSpPr>
              <p:spPr bwMode="auto">
                <a:xfrm>
                  <a:off x="2498040" y="6241134"/>
                  <a:ext cx="654521" cy="0"/>
                </a:xfrm>
                <a:prstGeom prst="line">
                  <a:avLst/>
                </a:prstGeom>
                <a:noFill/>
                <a:ln w="12700" algn="ctr">
                  <a:solidFill>
                    <a:schemeClr val="tx1"/>
                  </a:solidFill>
                  <a:round/>
                  <a:headEnd type="none" w="sm" len="sm"/>
                  <a:tailEnd type="none" w="sm" len="sm"/>
                </a:ln>
              </p:spPr>
            </p:cxnSp>
          </p:grpSp>
        </p:grpSp>
        <p:grpSp>
          <p:nvGrpSpPr>
            <p:cNvPr id="10" name="Group 30"/>
            <p:cNvGrpSpPr>
              <a:grpSpLocks/>
            </p:cNvGrpSpPr>
            <p:nvPr/>
          </p:nvGrpSpPr>
          <p:grpSpPr bwMode="auto">
            <a:xfrm>
              <a:off x="2860226" y="1672488"/>
              <a:ext cx="1291319" cy="740220"/>
              <a:chOff x="2483520" y="5500914"/>
              <a:chExt cx="1291319" cy="740220"/>
            </a:xfrm>
          </p:grpSpPr>
          <p:cxnSp>
            <p:nvCxnSpPr>
              <p:cNvPr id="29748" name="Straight Connector 31"/>
              <p:cNvCxnSpPr>
                <a:cxnSpLocks noChangeShapeType="1"/>
              </p:cNvCxnSpPr>
              <p:nvPr/>
            </p:nvCxnSpPr>
            <p:spPr bwMode="auto">
              <a:xfrm flipV="1">
                <a:off x="2483520" y="5500914"/>
                <a:ext cx="1291319" cy="1"/>
              </a:xfrm>
              <a:prstGeom prst="line">
                <a:avLst/>
              </a:prstGeom>
              <a:noFill/>
              <a:ln w="12700" algn="ctr">
                <a:solidFill>
                  <a:schemeClr val="tx1"/>
                </a:solidFill>
                <a:round/>
                <a:headEnd type="none" w="sm" len="sm"/>
                <a:tailEnd type="none" w="sm" len="sm"/>
              </a:ln>
            </p:spPr>
          </p:cxnSp>
          <p:cxnSp>
            <p:nvCxnSpPr>
              <p:cNvPr id="29749" name="Straight Connector 32"/>
              <p:cNvCxnSpPr>
                <a:cxnSpLocks noChangeShapeType="1"/>
              </p:cNvCxnSpPr>
              <p:nvPr/>
            </p:nvCxnSpPr>
            <p:spPr bwMode="auto">
              <a:xfrm>
                <a:off x="2490780" y="5871024"/>
                <a:ext cx="1284059" cy="0"/>
              </a:xfrm>
              <a:prstGeom prst="line">
                <a:avLst/>
              </a:prstGeom>
              <a:noFill/>
              <a:ln w="12700" algn="ctr">
                <a:solidFill>
                  <a:schemeClr val="tx1"/>
                </a:solidFill>
                <a:round/>
                <a:headEnd type="none" w="sm" len="sm"/>
                <a:tailEnd type="none" w="sm" len="sm"/>
              </a:ln>
            </p:spPr>
          </p:cxnSp>
          <p:cxnSp>
            <p:nvCxnSpPr>
              <p:cNvPr id="29750" name="Straight Connector 33"/>
              <p:cNvCxnSpPr>
                <a:cxnSpLocks noChangeShapeType="1"/>
              </p:cNvCxnSpPr>
              <p:nvPr/>
            </p:nvCxnSpPr>
            <p:spPr bwMode="auto">
              <a:xfrm>
                <a:off x="2498040" y="6241134"/>
                <a:ext cx="1276799" cy="0"/>
              </a:xfrm>
              <a:prstGeom prst="line">
                <a:avLst/>
              </a:prstGeom>
              <a:noFill/>
              <a:ln w="12700" algn="ctr">
                <a:solidFill>
                  <a:schemeClr val="tx1"/>
                </a:solidFill>
                <a:round/>
                <a:headEnd type="none" w="sm" len="sm"/>
                <a:tailEnd type="none" w="sm" len="sm"/>
              </a:ln>
            </p:spPr>
          </p:cxnSp>
        </p:grpSp>
        <p:grpSp>
          <p:nvGrpSpPr>
            <p:cNvPr id="11" name="Group 38"/>
            <p:cNvGrpSpPr>
              <a:grpSpLocks/>
            </p:cNvGrpSpPr>
            <p:nvPr/>
          </p:nvGrpSpPr>
          <p:grpSpPr bwMode="auto">
            <a:xfrm>
              <a:off x="4747065" y="1672488"/>
              <a:ext cx="2418690" cy="740220"/>
              <a:chOff x="2483520" y="5500914"/>
              <a:chExt cx="2418690" cy="740220"/>
            </a:xfrm>
          </p:grpSpPr>
          <p:cxnSp>
            <p:nvCxnSpPr>
              <p:cNvPr id="29745" name="Straight Connector 39"/>
              <p:cNvCxnSpPr>
                <a:cxnSpLocks noChangeShapeType="1"/>
              </p:cNvCxnSpPr>
              <p:nvPr/>
            </p:nvCxnSpPr>
            <p:spPr bwMode="auto">
              <a:xfrm flipV="1">
                <a:off x="2483520" y="5500914"/>
                <a:ext cx="2418690" cy="2"/>
              </a:xfrm>
              <a:prstGeom prst="line">
                <a:avLst/>
              </a:prstGeom>
              <a:noFill/>
              <a:ln w="12700" algn="ctr">
                <a:solidFill>
                  <a:srgbClr val="C00000"/>
                </a:solidFill>
                <a:round/>
                <a:headEnd type="none" w="sm" len="sm"/>
                <a:tailEnd type="none" w="sm" len="sm"/>
              </a:ln>
            </p:spPr>
          </p:cxnSp>
          <p:cxnSp>
            <p:nvCxnSpPr>
              <p:cNvPr id="29746" name="Straight Connector 40"/>
              <p:cNvCxnSpPr>
                <a:cxnSpLocks noChangeShapeType="1"/>
              </p:cNvCxnSpPr>
              <p:nvPr/>
            </p:nvCxnSpPr>
            <p:spPr bwMode="auto">
              <a:xfrm flipV="1">
                <a:off x="2490780" y="5871023"/>
                <a:ext cx="2411430" cy="1"/>
              </a:xfrm>
              <a:prstGeom prst="line">
                <a:avLst/>
              </a:prstGeom>
              <a:noFill/>
              <a:ln w="12700" algn="ctr">
                <a:solidFill>
                  <a:srgbClr val="C00000"/>
                </a:solidFill>
                <a:round/>
                <a:headEnd type="none" w="sm" len="sm"/>
                <a:tailEnd type="none" w="sm" len="sm"/>
              </a:ln>
            </p:spPr>
          </p:cxnSp>
          <p:cxnSp>
            <p:nvCxnSpPr>
              <p:cNvPr id="29747" name="Straight Connector 41"/>
              <p:cNvCxnSpPr>
                <a:cxnSpLocks noChangeShapeType="1"/>
              </p:cNvCxnSpPr>
              <p:nvPr/>
            </p:nvCxnSpPr>
            <p:spPr bwMode="auto">
              <a:xfrm>
                <a:off x="2498040" y="6241134"/>
                <a:ext cx="2404170" cy="0"/>
              </a:xfrm>
              <a:prstGeom prst="line">
                <a:avLst/>
              </a:prstGeom>
              <a:noFill/>
              <a:ln w="12700" algn="ctr">
                <a:solidFill>
                  <a:srgbClr val="C00000"/>
                </a:solidFill>
                <a:round/>
                <a:headEnd type="none" w="sm" len="sm"/>
                <a:tailEnd type="none" w="sm" len="sm"/>
              </a:ln>
            </p:spPr>
          </p:cxnSp>
        </p:grpSp>
        <p:grpSp>
          <p:nvGrpSpPr>
            <p:cNvPr id="12" name="Group 42"/>
            <p:cNvGrpSpPr>
              <a:grpSpLocks/>
            </p:cNvGrpSpPr>
            <p:nvPr/>
          </p:nvGrpSpPr>
          <p:grpSpPr bwMode="auto">
            <a:xfrm>
              <a:off x="1710191" y="1687002"/>
              <a:ext cx="669041" cy="725706"/>
              <a:chOff x="2483520" y="5500914"/>
              <a:chExt cx="669041" cy="725706"/>
            </a:xfrm>
          </p:grpSpPr>
          <p:cxnSp>
            <p:nvCxnSpPr>
              <p:cNvPr id="29742" name="Straight Connector 43"/>
              <p:cNvCxnSpPr>
                <a:cxnSpLocks noChangeShapeType="1"/>
              </p:cNvCxnSpPr>
              <p:nvPr/>
            </p:nvCxnSpPr>
            <p:spPr bwMode="auto">
              <a:xfrm>
                <a:off x="2483520" y="5500914"/>
                <a:ext cx="654521" cy="0"/>
              </a:xfrm>
              <a:prstGeom prst="line">
                <a:avLst/>
              </a:prstGeom>
              <a:noFill/>
              <a:ln w="12700" algn="ctr">
                <a:solidFill>
                  <a:schemeClr val="tx1"/>
                </a:solidFill>
                <a:round/>
                <a:headEnd type="none" w="sm" len="sm"/>
                <a:tailEnd type="none" w="sm" len="sm"/>
              </a:ln>
            </p:spPr>
          </p:cxnSp>
          <p:cxnSp>
            <p:nvCxnSpPr>
              <p:cNvPr id="29743" name="Straight Connector 44"/>
              <p:cNvCxnSpPr>
                <a:cxnSpLocks noChangeShapeType="1"/>
              </p:cNvCxnSpPr>
              <p:nvPr/>
            </p:nvCxnSpPr>
            <p:spPr bwMode="auto">
              <a:xfrm>
                <a:off x="2490780" y="5871024"/>
                <a:ext cx="654521" cy="0"/>
              </a:xfrm>
              <a:prstGeom prst="line">
                <a:avLst/>
              </a:prstGeom>
              <a:noFill/>
              <a:ln w="12700" algn="ctr">
                <a:solidFill>
                  <a:schemeClr val="tx1"/>
                </a:solidFill>
                <a:round/>
                <a:headEnd type="none" w="sm" len="sm"/>
                <a:tailEnd type="none" w="sm" len="sm"/>
              </a:ln>
            </p:spPr>
          </p:cxnSp>
          <p:cxnSp>
            <p:nvCxnSpPr>
              <p:cNvPr id="29744" name="Straight Connector 45"/>
              <p:cNvCxnSpPr>
                <a:cxnSpLocks noChangeShapeType="1"/>
              </p:cNvCxnSpPr>
              <p:nvPr/>
            </p:nvCxnSpPr>
            <p:spPr bwMode="auto">
              <a:xfrm>
                <a:off x="2498040" y="6226620"/>
                <a:ext cx="654521" cy="0"/>
              </a:xfrm>
              <a:prstGeom prst="line">
                <a:avLst/>
              </a:prstGeom>
              <a:noFill/>
              <a:ln w="12700" algn="ctr">
                <a:solidFill>
                  <a:schemeClr val="tx1"/>
                </a:solidFill>
                <a:round/>
                <a:headEnd type="none" w="sm" len="sm"/>
                <a:tailEnd type="none" w="sm" len="sm"/>
              </a:ln>
            </p:spPr>
          </p:cxnSp>
        </p:grpSp>
      </p:grpSp>
      <p:grpSp>
        <p:nvGrpSpPr>
          <p:cNvPr id="13" name="Group 106"/>
          <p:cNvGrpSpPr>
            <a:grpSpLocks/>
          </p:cNvGrpSpPr>
          <p:nvPr/>
        </p:nvGrpSpPr>
        <p:grpSpPr bwMode="auto">
          <a:xfrm>
            <a:off x="2005013" y="3124200"/>
            <a:ext cx="4979987" cy="1570038"/>
            <a:chOff x="2280278" y="3064409"/>
            <a:chExt cx="4980735" cy="1570038"/>
          </a:xfrm>
        </p:grpSpPr>
        <p:grpSp>
          <p:nvGrpSpPr>
            <p:cNvPr id="14" name="Group 10"/>
            <p:cNvGrpSpPr>
              <a:grpSpLocks/>
            </p:cNvGrpSpPr>
            <p:nvPr/>
          </p:nvGrpSpPr>
          <p:grpSpPr bwMode="auto">
            <a:xfrm>
              <a:off x="2280278" y="3064409"/>
              <a:ext cx="727075" cy="1570038"/>
              <a:chOff x="9728615" y="4145340"/>
              <a:chExt cx="1384677" cy="1569660"/>
            </a:xfrm>
          </p:grpSpPr>
          <p:sp>
            <p:nvSpPr>
              <p:cNvPr id="29729" name="Double Bracket 11"/>
              <p:cNvSpPr>
                <a:spLocks noChangeArrowheads="1"/>
              </p:cNvSpPr>
              <p:nvPr/>
            </p:nvSpPr>
            <p:spPr bwMode="auto">
              <a:xfrm>
                <a:off x="9728615" y="4145340"/>
                <a:ext cx="1384677" cy="1569660"/>
              </a:xfrm>
              <a:prstGeom prst="bracketPair">
                <a:avLst>
                  <a:gd name="adj" fmla="val 16667"/>
                </a:avLst>
              </a:prstGeom>
              <a:noFill/>
              <a:ln w="12700" algn="ctr">
                <a:solidFill>
                  <a:schemeClr val="tx1"/>
                </a:solidFill>
                <a:round/>
                <a:headEnd type="none" w="sm" len="sm"/>
                <a:tailEnd type="none" w="sm" len="sm"/>
              </a:ln>
            </p:spPr>
            <p:txBody>
              <a:bodyPr/>
              <a:lstStyle/>
              <a:p>
                <a:pPr eaLnBrk="0" hangingPunct="0"/>
                <a:endParaRPr lang="en-US"/>
              </a:p>
            </p:txBody>
          </p:sp>
          <p:sp>
            <p:nvSpPr>
              <p:cNvPr id="29730" name="TextBox 12"/>
              <p:cNvSpPr txBox="1">
                <a:spLocks noChangeArrowheads="1"/>
              </p:cNvSpPr>
              <p:nvPr/>
            </p:nvSpPr>
            <p:spPr bwMode="auto">
              <a:xfrm>
                <a:off x="9866790" y="4145340"/>
                <a:ext cx="1209995" cy="1569660"/>
              </a:xfrm>
              <a:prstGeom prst="rect">
                <a:avLst/>
              </a:prstGeom>
              <a:noFill/>
              <a:ln w="9525">
                <a:noFill/>
                <a:miter lim="800000"/>
                <a:headEnd/>
                <a:tailEnd/>
              </a:ln>
            </p:spPr>
            <p:txBody>
              <a:bodyPr wrap="none">
                <a:spAutoFit/>
              </a:bodyPr>
              <a:lstStyle/>
              <a:p>
                <a:r>
                  <a:rPr lang="en-US" sz="2400" b="0">
                    <a:solidFill>
                      <a:schemeClr val="tx1"/>
                    </a:solidFill>
                  </a:rPr>
                  <a:t>R</a:t>
                </a:r>
                <a:r>
                  <a:rPr lang="en-US" sz="2400" b="0" baseline="-25000">
                    <a:solidFill>
                      <a:schemeClr val="tx1"/>
                    </a:solidFill>
                  </a:rPr>
                  <a:t>00</a:t>
                </a:r>
              </a:p>
              <a:p>
                <a:r>
                  <a:rPr lang="en-US" sz="2400" b="0">
                    <a:solidFill>
                      <a:schemeClr val="tx1"/>
                    </a:solidFill>
                  </a:rPr>
                  <a:t>R</a:t>
                </a:r>
                <a:r>
                  <a:rPr lang="en-US" sz="2400" b="0" baseline="-25000">
                    <a:solidFill>
                      <a:schemeClr val="tx1"/>
                    </a:solidFill>
                  </a:rPr>
                  <a:t>10</a:t>
                </a:r>
              </a:p>
              <a:p>
                <a:r>
                  <a:rPr lang="en-US" sz="2400" b="0">
                    <a:solidFill>
                      <a:schemeClr val="tx1"/>
                    </a:solidFill>
                  </a:rPr>
                  <a:t>R</a:t>
                </a:r>
                <a:r>
                  <a:rPr lang="en-US" sz="2400" b="0" baseline="-25000">
                    <a:solidFill>
                      <a:schemeClr val="tx1"/>
                    </a:solidFill>
                  </a:rPr>
                  <a:t>20</a:t>
                </a:r>
              </a:p>
              <a:p>
                <a:r>
                  <a:rPr lang="en-US" sz="2400" b="0">
                    <a:solidFill>
                      <a:schemeClr val="tx1"/>
                    </a:solidFill>
                  </a:rPr>
                  <a:t>R</a:t>
                </a:r>
                <a:r>
                  <a:rPr lang="en-US" sz="2400" b="0" baseline="-25000">
                    <a:solidFill>
                      <a:schemeClr val="tx1"/>
                    </a:solidFill>
                  </a:rPr>
                  <a:t>30</a:t>
                </a:r>
              </a:p>
            </p:txBody>
          </p:sp>
        </p:grpSp>
        <p:cxnSp>
          <p:nvCxnSpPr>
            <p:cNvPr id="29712" name="Straight Connector 61"/>
            <p:cNvCxnSpPr>
              <a:cxnSpLocks noChangeShapeType="1"/>
            </p:cNvCxnSpPr>
            <p:nvPr/>
          </p:nvCxnSpPr>
          <p:spPr bwMode="auto">
            <a:xfrm>
              <a:off x="2328459" y="3859270"/>
              <a:ext cx="635352" cy="0"/>
            </a:xfrm>
            <a:prstGeom prst="line">
              <a:avLst/>
            </a:prstGeom>
            <a:noFill/>
            <a:ln w="12700" algn="ctr">
              <a:solidFill>
                <a:schemeClr val="tx1"/>
              </a:solidFill>
              <a:round/>
              <a:headEnd type="none" w="sm" len="sm"/>
              <a:tailEnd type="none" w="sm" len="sm"/>
            </a:ln>
          </p:spPr>
        </p:cxnSp>
        <p:sp>
          <p:nvSpPr>
            <p:cNvPr id="29713" name="TextBox 63"/>
            <p:cNvSpPr txBox="1">
              <a:spLocks noChangeArrowheads="1"/>
            </p:cNvSpPr>
            <p:nvPr/>
          </p:nvSpPr>
          <p:spPr bwMode="auto">
            <a:xfrm flipH="1">
              <a:off x="3040193" y="3673729"/>
              <a:ext cx="288110" cy="400110"/>
            </a:xfrm>
            <a:prstGeom prst="rect">
              <a:avLst/>
            </a:prstGeom>
            <a:noFill/>
            <a:ln w="9525">
              <a:noFill/>
              <a:miter lim="800000"/>
              <a:headEnd/>
              <a:tailEnd/>
            </a:ln>
          </p:spPr>
          <p:txBody>
            <a:bodyPr>
              <a:spAutoFit/>
            </a:bodyPr>
            <a:lstStyle/>
            <a:p>
              <a:r>
                <a:rPr lang="en-US" b="0">
                  <a:solidFill>
                    <a:schemeClr val="tx1"/>
                  </a:solidFill>
                </a:rPr>
                <a:t>=</a:t>
              </a:r>
            </a:p>
          </p:txBody>
        </p:sp>
        <p:grpSp>
          <p:nvGrpSpPr>
            <p:cNvPr id="15" name="Group 68"/>
            <p:cNvGrpSpPr>
              <a:grpSpLocks/>
            </p:cNvGrpSpPr>
            <p:nvPr/>
          </p:nvGrpSpPr>
          <p:grpSpPr bwMode="auto">
            <a:xfrm>
              <a:off x="3356623" y="3409336"/>
              <a:ext cx="1257872" cy="914400"/>
              <a:chOff x="2205057" y="4020465"/>
              <a:chExt cx="1257872" cy="914400"/>
            </a:xfrm>
          </p:grpSpPr>
          <p:cxnSp>
            <p:nvCxnSpPr>
              <p:cNvPr id="29726" name="Straight Connector 62"/>
              <p:cNvCxnSpPr>
                <a:cxnSpLocks noChangeShapeType="1"/>
              </p:cNvCxnSpPr>
              <p:nvPr/>
            </p:nvCxnSpPr>
            <p:spPr bwMode="auto">
              <a:xfrm>
                <a:off x="2248303" y="4484913"/>
                <a:ext cx="1110949" cy="0"/>
              </a:xfrm>
              <a:prstGeom prst="line">
                <a:avLst/>
              </a:prstGeom>
              <a:noFill/>
              <a:ln w="12700" algn="ctr">
                <a:solidFill>
                  <a:schemeClr val="tx1"/>
                </a:solidFill>
                <a:round/>
                <a:headEnd type="none" w="sm" len="sm"/>
                <a:tailEnd type="none" w="sm" len="sm"/>
              </a:ln>
            </p:spPr>
          </p:cxnSp>
          <p:sp>
            <p:nvSpPr>
              <p:cNvPr id="29727" name="Double Bracket 64"/>
              <p:cNvSpPr>
                <a:spLocks noChangeArrowheads="1"/>
              </p:cNvSpPr>
              <p:nvPr/>
            </p:nvSpPr>
            <p:spPr bwMode="auto">
              <a:xfrm>
                <a:off x="2205057" y="4020465"/>
                <a:ext cx="1234831" cy="914400"/>
              </a:xfrm>
              <a:prstGeom prst="bracketPair">
                <a:avLst>
                  <a:gd name="adj" fmla="val 16667"/>
                </a:avLst>
              </a:prstGeom>
              <a:noFill/>
              <a:ln w="12700" algn="ctr">
                <a:solidFill>
                  <a:schemeClr val="tx1"/>
                </a:solidFill>
                <a:round/>
                <a:headEnd type="none" w="sm" len="sm"/>
                <a:tailEnd type="none" w="sm" len="sm"/>
              </a:ln>
            </p:spPr>
            <p:txBody>
              <a:bodyPr/>
              <a:lstStyle/>
              <a:p>
                <a:pPr eaLnBrk="0" hangingPunct="0"/>
                <a:endParaRPr lang="en-US"/>
              </a:p>
            </p:txBody>
          </p:sp>
          <p:sp>
            <p:nvSpPr>
              <p:cNvPr id="29728" name="TextBox 66"/>
              <p:cNvSpPr txBox="1">
                <a:spLocks noChangeArrowheads="1"/>
              </p:cNvSpPr>
              <p:nvPr/>
            </p:nvSpPr>
            <p:spPr bwMode="auto">
              <a:xfrm>
                <a:off x="2276386" y="4054900"/>
                <a:ext cx="1186543" cy="830997"/>
              </a:xfrm>
              <a:prstGeom prst="rect">
                <a:avLst/>
              </a:prstGeom>
              <a:noFill/>
              <a:ln w="9525">
                <a:noFill/>
                <a:miter lim="800000"/>
                <a:headEnd/>
                <a:tailEnd/>
              </a:ln>
            </p:spPr>
            <p:txBody>
              <a:bodyPr wrap="none">
                <a:spAutoFit/>
              </a:bodyPr>
              <a:lstStyle/>
              <a:p>
                <a:r>
                  <a:rPr lang="en-US" sz="2400" b="0" dirty="0">
                    <a:solidFill>
                      <a:schemeClr val="tx1"/>
                    </a:solidFill>
                  </a:rPr>
                  <a:t>Q</a:t>
                </a:r>
                <a:r>
                  <a:rPr lang="en-US" sz="2400" b="0" baseline="-25000" dirty="0">
                    <a:solidFill>
                      <a:schemeClr val="tx1"/>
                    </a:solidFill>
                  </a:rPr>
                  <a:t>01</a:t>
                </a:r>
                <a:r>
                  <a:rPr lang="en-US" sz="2400" b="0" dirty="0">
                    <a:solidFill>
                      <a:schemeClr val="tx1"/>
                    </a:solidFill>
                  </a:rPr>
                  <a:t> R</a:t>
                </a:r>
                <a:r>
                  <a:rPr lang="en-US" sz="2400" b="0" baseline="-25000" dirty="0">
                    <a:solidFill>
                      <a:schemeClr val="tx1"/>
                    </a:solidFill>
                  </a:rPr>
                  <a:t>01</a:t>
                </a:r>
              </a:p>
              <a:p>
                <a:r>
                  <a:rPr lang="en-US" sz="2400" b="0" dirty="0">
                    <a:solidFill>
                      <a:schemeClr val="tx1"/>
                    </a:solidFill>
                  </a:rPr>
                  <a:t>Q</a:t>
                </a:r>
                <a:r>
                  <a:rPr lang="en-US" sz="2400" b="0" baseline="-25000" dirty="0">
                    <a:solidFill>
                      <a:schemeClr val="tx1"/>
                    </a:solidFill>
                  </a:rPr>
                  <a:t>11</a:t>
                </a:r>
                <a:r>
                  <a:rPr lang="en-US" sz="2400" b="0" dirty="0">
                    <a:solidFill>
                      <a:schemeClr val="tx1"/>
                    </a:solidFill>
                  </a:rPr>
                  <a:t> R</a:t>
                </a:r>
                <a:r>
                  <a:rPr lang="en-US" sz="2400" b="0" baseline="-25000" dirty="0">
                    <a:solidFill>
                      <a:schemeClr val="tx1"/>
                    </a:solidFill>
                  </a:rPr>
                  <a:t>11</a:t>
                </a:r>
              </a:p>
            </p:txBody>
          </p:sp>
        </p:grpSp>
        <p:grpSp>
          <p:nvGrpSpPr>
            <p:cNvPr id="16" name="Group 69"/>
            <p:cNvGrpSpPr>
              <a:grpSpLocks/>
            </p:cNvGrpSpPr>
            <p:nvPr/>
          </p:nvGrpSpPr>
          <p:grpSpPr bwMode="auto">
            <a:xfrm>
              <a:off x="5064103" y="3404134"/>
              <a:ext cx="1234831" cy="921436"/>
              <a:chOff x="2205057" y="4013429"/>
              <a:chExt cx="1234831" cy="921436"/>
            </a:xfrm>
          </p:grpSpPr>
          <p:cxnSp>
            <p:nvCxnSpPr>
              <p:cNvPr id="29723" name="Straight Connector 70"/>
              <p:cNvCxnSpPr>
                <a:cxnSpLocks noChangeShapeType="1"/>
              </p:cNvCxnSpPr>
              <p:nvPr/>
            </p:nvCxnSpPr>
            <p:spPr bwMode="auto">
              <a:xfrm>
                <a:off x="2248303" y="4484913"/>
                <a:ext cx="1110949" cy="0"/>
              </a:xfrm>
              <a:prstGeom prst="line">
                <a:avLst/>
              </a:prstGeom>
              <a:noFill/>
              <a:ln w="12700" algn="ctr">
                <a:solidFill>
                  <a:srgbClr val="C00000"/>
                </a:solidFill>
                <a:round/>
                <a:headEnd type="none" w="sm" len="sm"/>
                <a:tailEnd type="none" w="sm" len="sm"/>
              </a:ln>
            </p:spPr>
          </p:cxnSp>
          <p:sp>
            <p:nvSpPr>
              <p:cNvPr id="29724" name="Double Bracket 71"/>
              <p:cNvSpPr>
                <a:spLocks noChangeArrowheads="1"/>
              </p:cNvSpPr>
              <p:nvPr/>
            </p:nvSpPr>
            <p:spPr bwMode="auto">
              <a:xfrm>
                <a:off x="2205057" y="4020465"/>
                <a:ext cx="1234831" cy="914400"/>
              </a:xfrm>
              <a:prstGeom prst="bracketPair">
                <a:avLst>
                  <a:gd name="adj" fmla="val 16667"/>
                </a:avLst>
              </a:prstGeom>
              <a:noFill/>
              <a:ln w="12700" algn="ctr">
                <a:solidFill>
                  <a:srgbClr val="C00000"/>
                </a:solidFill>
                <a:round/>
                <a:headEnd type="none" w="sm" len="sm"/>
                <a:tailEnd type="none" w="sm" len="sm"/>
              </a:ln>
            </p:spPr>
            <p:txBody>
              <a:bodyPr/>
              <a:lstStyle/>
              <a:p>
                <a:pPr eaLnBrk="0" hangingPunct="0"/>
                <a:endParaRPr lang="en-US"/>
              </a:p>
            </p:txBody>
          </p:sp>
          <p:sp>
            <p:nvSpPr>
              <p:cNvPr id="29725" name="TextBox 72"/>
              <p:cNvSpPr txBox="1">
                <a:spLocks noChangeArrowheads="1"/>
              </p:cNvSpPr>
              <p:nvPr/>
            </p:nvSpPr>
            <p:spPr bwMode="auto">
              <a:xfrm>
                <a:off x="2346839" y="4013429"/>
                <a:ext cx="1013571" cy="830997"/>
              </a:xfrm>
              <a:prstGeom prst="rect">
                <a:avLst/>
              </a:prstGeom>
              <a:noFill/>
              <a:ln w="9525">
                <a:noFill/>
                <a:miter lim="800000"/>
                <a:headEnd/>
                <a:tailEnd/>
              </a:ln>
            </p:spPr>
            <p:txBody>
              <a:bodyPr wrap="none">
                <a:spAutoFit/>
              </a:bodyPr>
              <a:lstStyle/>
              <a:p>
                <a:r>
                  <a:rPr lang="en-US" sz="2400" b="0" dirty="0">
                    <a:solidFill>
                      <a:srgbClr val="C00000"/>
                    </a:solidFill>
                  </a:rPr>
                  <a:t>Q</a:t>
                </a:r>
                <a:r>
                  <a:rPr lang="en-US" sz="2400" b="0" baseline="-25000" dirty="0">
                    <a:solidFill>
                      <a:srgbClr val="C00000"/>
                    </a:solidFill>
                  </a:rPr>
                  <a:t>01</a:t>
                </a:r>
              </a:p>
              <a:p>
                <a:r>
                  <a:rPr lang="en-US" sz="2400" b="0" dirty="0">
                    <a:solidFill>
                      <a:schemeClr val="tx1"/>
                    </a:solidFill>
                  </a:rPr>
                  <a:t>      </a:t>
                </a:r>
                <a:r>
                  <a:rPr lang="en-US" sz="2400" b="0" dirty="0">
                    <a:solidFill>
                      <a:srgbClr val="C00000"/>
                    </a:solidFill>
                  </a:rPr>
                  <a:t>Q</a:t>
                </a:r>
                <a:r>
                  <a:rPr lang="en-US" sz="2400" b="0" baseline="-25000" dirty="0">
                    <a:solidFill>
                      <a:srgbClr val="C00000"/>
                    </a:solidFill>
                  </a:rPr>
                  <a:t>11</a:t>
                </a:r>
              </a:p>
            </p:txBody>
          </p:sp>
        </p:grpSp>
        <p:sp>
          <p:nvSpPr>
            <p:cNvPr id="29716" name="TextBox 73"/>
            <p:cNvSpPr txBox="1">
              <a:spLocks noChangeArrowheads="1"/>
            </p:cNvSpPr>
            <p:nvPr/>
          </p:nvSpPr>
          <p:spPr bwMode="auto">
            <a:xfrm flipH="1">
              <a:off x="4645367" y="3702757"/>
              <a:ext cx="288110" cy="400110"/>
            </a:xfrm>
            <a:prstGeom prst="rect">
              <a:avLst/>
            </a:prstGeom>
            <a:noFill/>
            <a:ln w="9525">
              <a:noFill/>
              <a:miter lim="800000"/>
              <a:headEnd/>
              <a:tailEnd/>
            </a:ln>
          </p:spPr>
          <p:txBody>
            <a:bodyPr>
              <a:spAutoFit/>
            </a:bodyPr>
            <a:lstStyle/>
            <a:p>
              <a:r>
                <a:rPr lang="en-US" b="0">
                  <a:solidFill>
                    <a:schemeClr val="tx1"/>
                  </a:solidFill>
                </a:rPr>
                <a:t>=</a:t>
              </a:r>
            </a:p>
          </p:txBody>
        </p:sp>
        <p:sp>
          <p:nvSpPr>
            <p:cNvPr id="29717" name="TextBox 74"/>
            <p:cNvSpPr txBox="1">
              <a:spLocks noChangeArrowheads="1"/>
            </p:cNvSpPr>
            <p:nvPr/>
          </p:nvSpPr>
          <p:spPr bwMode="auto">
            <a:xfrm>
              <a:off x="6309642" y="3630187"/>
              <a:ext cx="255198" cy="400110"/>
            </a:xfrm>
            <a:prstGeom prst="rect">
              <a:avLst/>
            </a:prstGeom>
            <a:noFill/>
            <a:ln w="9525">
              <a:noFill/>
              <a:miter lim="800000"/>
              <a:headEnd/>
              <a:tailEnd/>
            </a:ln>
          </p:spPr>
          <p:txBody>
            <a:bodyPr>
              <a:spAutoFit/>
            </a:bodyPr>
            <a:lstStyle/>
            <a:p>
              <a:r>
                <a:rPr lang="en-US">
                  <a:solidFill>
                    <a:schemeClr val="tx1"/>
                  </a:solidFill>
                </a:rPr>
                <a:t>.</a:t>
              </a:r>
            </a:p>
          </p:txBody>
        </p:sp>
        <p:grpSp>
          <p:nvGrpSpPr>
            <p:cNvPr id="17" name="Group 94"/>
            <p:cNvGrpSpPr>
              <a:grpSpLocks/>
            </p:cNvGrpSpPr>
            <p:nvPr/>
          </p:nvGrpSpPr>
          <p:grpSpPr bwMode="auto">
            <a:xfrm>
              <a:off x="6564840" y="3411595"/>
              <a:ext cx="696173" cy="914400"/>
              <a:chOff x="3625840" y="5421032"/>
              <a:chExt cx="696173" cy="914400"/>
            </a:xfrm>
          </p:grpSpPr>
          <p:sp>
            <p:nvSpPr>
              <p:cNvPr id="29719" name="Double Bracket 78"/>
              <p:cNvSpPr>
                <a:spLocks noChangeArrowheads="1"/>
              </p:cNvSpPr>
              <p:nvPr/>
            </p:nvSpPr>
            <p:spPr bwMode="auto">
              <a:xfrm>
                <a:off x="3625840" y="5421032"/>
                <a:ext cx="696173" cy="914400"/>
              </a:xfrm>
              <a:prstGeom prst="bracketPair">
                <a:avLst>
                  <a:gd name="adj" fmla="val 16667"/>
                </a:avLst>
              </a:prstGeom>
              <a:noFill/>
              <a:ln w="12700" algn="ctr">
                <a:solidFill>
                  <a:schemeClr val="tx1"/>
                </a:solidFill>
                <a:round/>
                <a:headEnd type="none" w="sm" len="sm"/>
                <a:tailEnd type="none" w="sm" len="sm"/>
              </a:ln>
            </p:spPr>
            <p:txBody>
              <a:bodyPr/>
              <a:lstStyle/>
              <a:p>
                <a:pPr eaLnBrk="0" hangingPunct="0"/>
                <a:endParaRPr lang="en-US"/>
              </a:p>
            </p:txBody>
          </p:sp>
          <p:grpSp>
            <p:nvGrpSpPr>
              <p:cNvPr id="18" name="Group 93"/>
              <p:cNvGrpSpPr>
                <a:grpSpLocks/>
              </p:cNvGrpSpPr>
              <p:nvPr/>
            </p:nvGrpSpPr>
            <p:grpSpPr bwMode="auto">
              <a:xfrm>
                <a:off x="3658086" y="5451901"/>
                <a:ext cx="663927" cy="830997"/>
                <a:chOff x="5692599" y="5421032"/>
                <a:chExt cx="663927" cy="830997"/>
              </a:xfrm>
            </p:grpSpPr>
            <p:sp>
              <p:nvSpPr>
                <p:cNvPr id="29721" name="TextBox 91"/>
                <p:cNvSpPr txBox="1">
                  <a:spLocks noChangeArrowheads="1"/>
                </p:cNvSpPr>
                <p:nvPr/>
              </p:nvSpPr>
              <p:spPr bwMode="auto">
                <a:xfrm>
                  <a:off x="5721416" y="5421032"/>
                  <a:ext cx="635110" cy="830997"/>
                </a:xfrm>
                <a:prstGeom prst="rect">
                  <a:avLst/>
                </a:prstGeom>
                <a:noFill/>
                <a:ln w="9525">
                  <a:noFill/>
                  <a:miter lim="800000"/>
                  <a:headEnd/>
                  <a:tailEnd/>
                </a:ln>
              </p:spPr>
              <p:txBody>
                <a:bodyPr wrap="none">
                  <a:spAutoFit/>
                </a:bodyPr>
                <a:lstStyle/>
                <a:p>
                  <a:r>
                    <a:rPr lang="en-US" sz="2400" b="0">
                      <a:solidFill>
                        <a:schemeClr val="tx1"/>
                      </a:solidFill>
                    </a:rPr>
                    <a:t>R</a:t>
                  </a:r>
                  <a:r>
                    <a:rPr lang="en-US" sz="2400" b="0" baseline="-25000">
                      <a:solidFill>
                        <a:schemeClr val="tx1"/>
                      </a:solidFill>
                    </a:rPr>
                    <a:t>01</a:t>
                  </a:r>
                </a:p>
                <a:p>
                  <a:r>
                    <a:rPr lang="en-US" sz="2400" b="0">
                      <a:solidFill>
                        <a:schemeClr val="tx1"/>
                      </a:solidFill>
                    </a:rPr>
                    <a:t>R</a:t>
                  </a:r>
                  <a:r>
                    <a:rPr lang="en-US" sz="2400" b="0" baseline="-25000">
                      <a:solidFill>
                        <a:schemeClr val="tx1"/>
                      </a:solidFill>
                    </a:rPr>
                    <a:t>11</a:t>
                  </a:r>
                </a:p>
              </p:txBody>
            </p:sp>
            <p:cxnSp>
              <p:nvCxnSpPr>
                <p:cNvPr id="29722" name="Straight Connector 92"/>
                <p:cNvCxnSpPr>
                  <a:cxnSpLocks noChangeShapeType="1"/>
                </p:cNvCxnSpPr>
                <p:nvPr/>
              </p:nvCxnSpPr>
              <p:spPr bwMode="auto">
                <a:xfrm>
                  <a:off x="5692599" y="5848350"/>
                  <a:ext cx="635352" cy="0"/>
                </a:xfrm>
                <a:prstGeom prst="line">
                  <a:avLst/>
                </a:prstGeom>
                <a:noFill/>
                <a:ln w="12700" algn="ctr">
                  <a:solidFill>
                    <a:schemeClr val="tx1"/>
                  </a:solidFill>
                  <a:round/>
                  <a:headEnd type="none" w="sm" len="sm"/>
                  <a:tailEnd type="none" w="sm" len="sm"/>
                </a:ln>
              </p:spPr>
            </p:cxnSp>
          </p:grpSp>
        </p:grpSp>
      </p:grpSp>
      <p:grpSp>
        <p:nvGrpSpPr>
          <p:cNvPr id="19" name="Group 105"/>
          <p:cNvGrpSpPr>
            <a:grpSpLocks/>
          </p:cNvGrpSpPr>
          <p:nvPr/>
        </p:nvGrpSpPr>
        <p:grpSpPr bwMode="auto">
          <a:xfrm>
            <a:off x="3405188" y="4876800"/>
            <a:ext cx="2333187" cy="914400"/>
            <a:chOff x="2600831" y="5245576"/>
            <a:chExt cx="2332646" cy="914400"/>
          </a:xfrm>
        </p:grpSpPr>
        <p:grpSp>
          <p:nvGrpSpPr>
            <p:cNvPr id="20" name="Group 96"/>
            <p:cNvGrpSpPr>
              <a:grpSpLocks/>
            </p:cNvGrpSpPr>
            <p:nvPr/>
          </p:nvGrpSpPr>
          <p:grpSpPr bwMode="auto">
            <a:xfrm>
              <a:off x="2600831" y="5245576"/>
              <a:ext cx="696173" cy="914400"/>
              <a:chOff x="3625840" y="5421032"/>
              <a:chExt cx="696173" cy="914400"/>
            </a:xfrm>
          </p:grpSpPr>
          <p:sp>
            <p:nvSpPr>
              <p:cNvPr id="29707" name="Double Bracket 97"/>
              <p:cNvSpPr>
                <a:spLocks noChangeArrowheads="1"/>
              </p:cNvSpPr>
              <p:nvPr/>
            </p:nvSpPr>
            <p:spPr bwMode="auto">
              <a:xfrm>
                <a:off x="3625840" y="5421032"/>
                <a:ext cx="696173" cy="914400"/>
              </a:xfrm>
              <a:prstGeom prst="bracketPair">
                <a:avLst>
                  <a:gd name="adj" fmla="val 16667"/>
                </a:avLst>
              </a:prstGeom>
              <a:noFill/>
              <a:ln w="12700" algn="ctr">
                <a:solidFill>
                  <a:schemeClr val="tx1"/>
                </a:solidFill>
                <a:round/>
                <a:headEnd type="none" w="sm" len="sm"/>
                <a:tailEnd type="none" w="sm" len="sm"/>
              </a:ln>
            </p:spPr>
            <p:txBody>
              <a:bodyPr/>
              <a:lstStyle/>
              <a:p>
                <a:pPr eaLnBrk="0" hangingPunct="0"/>
                <a:endParaRPr lang="en-US"/>
              </a:p>
            </p:txBody>
          </p:sp>
          <p:grpSp>
            <p:nvGrpSpPr>
              <p:cNvPr id="21" name="Group 93"/>
              <p:cNvGrpSpPr>
                <a:grpSpLocks/>
              </p:cNvGrpSpPr>
              <p:nvPr/>
            </p:nvGrpSpPr>
            <p:grpSpPr bwMode="auto">
              <a:xfrm>
                <a:off x="3658086" y="5451901"/>
                <a:ext cx="663927" cy="830997"/>
                <a:chOff x="5692599" y="5421032"/>
                <a:chExt cx="663927" cy="830997"/>
              </a:xfrm>
            </p:grpSpPr>
            <p:sp>
              <p:nvSpPr>
                <p:cNvPr id="29709" name="TextBox 99"/>
                <p:cNvSpPr txBox="1">
                  <a:spLocks noChangeArrowheads="1"/>
                </p:cNvSpPr>
                <p:nvPr/>
              </p:nvSpPr>
              <p:spPr bwMode="auto">
                <a:xfrm>
                  <a:off x="5721416" y="5421032"/>
                  <a:ext cx="635110" cy="830997"/>
                </a:xfrm>
                <a:prstGeom prst="rect">
                  <a:avLst/>
                </a:prstGeom>
                <a:noFill/>
                <a:ln w="9525">
                  <a:noFill/>
                  <a:miter lim="800000"/>
                  <a:headEnd/>
                  <a:tailEnd/>
                </a:ln>
              </p:spPr>
              <p:txBody>
                <a:bodyPr wrap="none">
                  <a:spAutoFit/>
                </a:bodyPr>
                <a:lstStyle/>
                <a:p>
                  <a:r>
                    <a:rPr lang="en-US" sz="2400" b="0">
                      <a:solidFill>
                        <a:schemeClr val="tx1"/>
                      </a:solidFill>
                    </a:rPr>
                    <a:t>R</a:t>
                  </a:r>
                  <a:r>
                    <a:rPr lang="en-US" sz="2400" b="0" baseline="-25000">
                      <a:solidFill>
                        <a:schemeClr val="tx1"/>
                      </a:solidFill>
                    </a:rPr>
                    <a:t>01</a:t>
                  </a:r>
                </a:p>
                <a:p>
                  <a:r>
                    <a:rPr lang="en-US" sz="2400" b="0">
                      <a:solidFill>
                        <a:schemeClr val="tx1"/>
                      </a:solidFill>
                    </a:rPr>
                    <a:t>R</a:t>
                  </a:r>
                  <a:r>
                    <a:rPr lang="en-US" sz="2400" b="0" baseline="-25000">
                      <a:solidFill>
                        <a:schemeClr val="tx1"/>
                      </a:solidFill>
                    </a:rPr>
                    <a:t>11</a:t>
                  </a:r>
                </a:p>
              </p:txBody>
            </p:sp>
            <p:cxnSp>
              <p:nvCxnSpPr>
                <p:cNvPr id="29710" name="Straight Connector 100"/>
                <p:cNvCxnSpPr>
                  <a:cxnSpLocks noChangeShapeType="1"/>
                </p:cNvCxnSpPr>
                <p:nvPr/>
              </p:nvCxnSpPr>
              <p:spPr bwMode="auto">
                <a:xfrm>
                  <a:off x="5692599" y="5848350"/>
                  <a:ext cx="635352" cy="0"/>
                </a:xfrm>
                <a:prstGeom prst="line">
                  <a:avLst/>
                </a:prstGeom>
                <a:noFill/>
                <a:ln w="12700" algn="ctr">
                  <a:solidFill>
                    <a:schemeClr val="tx1"/>
                  </a:solidFill>
                  <a:round/>
                  <a:headEnd type="none" w="sm" len="sm"/>
                  <a:tailEnd type="none" w="sm" len="sm"/>
                </a:ln>
              </p:spPr>
            </p:cxnSp>
          </p:grpSp>
        </p:grpSp>
        <p:sp>
          <p:nvSpPr>
            <p:cNvPr id="29704" name="TextBox 101"/>
            <p:cNvSpPr txBox="1">
              <a:spLocks noChangeArrowheads="1"/>
            </p:cNvSpPr>
            <p:nvPr/>
          </p:nvSpPr>
          <p:spPr bwMode="auto">
            <a:xfrm flipH="1">
              <a:off x="3355382" y="5518222"/>
              <a:ext cx="288110" cy="400110"/>
            </a:xfrm>
            <a:prstGeom prst="rect">
              <a:avLst/>
            </a:prstGeom>
            <a:noFill/>
            <a:ln w="9525">
              <a:noFill/>
              <a:miter lim="800000"/>
              <a:headEnd/>
              <a:tailEnd/>
            </a:ln>
          </p:spPr>
          <p:txBody>
            <a:bodyPr>
              <a:spAutoFit/>
            </a:bodyPr>
            <a:lstStyle/>
            <a:p>
              <a:r>
                <a:rPr lang="en-US" b="0">
                  <a:solidFill>
                    <a:schemeClr val="tx1"/>
                  </a:solidFill>
                </a:rPr>
                <a:t>=</a:t>
              </a:r>
            </a:p>
          </p:txBody>
        </p:sp>
        <p:sp>
          <p:nvSpPr>
            <p:cNvPr id="29705" name="Double Bracket 102"/>
            <p:cNvSpPr>
              <a:spLocks noChangeArrowheads="1"/>
            </p:cNvSpPr>
            <p:nvPr/>
          </p:nvSpPr>
          <p:spPr bwMode="auto">
            <a:xfrm>
              <a:off x="3771396" y="5468380"/>
              <a:ext cx="1162081" cy="449952"/>
            </a:xfrm>
            <a:prstGeom prst="bracketPair">
              <a:avLst>
                <a:gd name="adj" fmla="val 16667"/>
              </a:avLst>
            </a:prstGeom>
            <a:noFill/>
            <a:ln w="12700" algn="ctr">
              <a:solidFill>
                <a:schemeClr val="tx1"/>
              </a:solidFill>
              <a:round/>
              <a:headEnd type="none" w="sm" len="sm"/>
              <a:tailEnd type="none" w="sm" len="sm"/>
            </a:ln>
          </p:spPr>
          <p:txBody>
            <a:bodyPr/>
            <a:lstStyle/>
            <a:p>
              <a:pPr eaLnBrk="0" hangingPunct="0"/>
              <a:endParaRPr lang="en-US"/>
            </a:p>
          </p:txBody>
        </p:sp>
        <p:sp>
          <p:nvSpPr>
            <p:cNvPr id="29706" name="TextBox 104"/>
            <p:cNvSpPr txBox="1">
              <a:spLocks noChangeArrowheads="1"/>
            </p:cNvSpPr>
            <p:nvPr/>
          </p:nvSpPr>
          <p:spPr bwMode="auto">
            <a:xfrm>
              <a:off x="3794986" y="5466075"/>
              <a:ext cx="1043634" cy="461665"/>
            </a:xfrm>
            <a:prstGeom prst="rect">
              <a:avLst/>
            </a:prstGeom>
            <a:noFill/>
            <a:ln w="9525">
              <a:noFill/>
              <a:miter lim="800000"/>
              <a:headEnd/>
              <a:tailEnd/>
            </a:ln>
          </p:spPr>
          <p:txBody>
            <a:bodyPr wrap="none">
              <a:spAutoFit/>
            </a:bodyPr>
            <a:lstStyle/>
            <a:p>
              <a:r>
                <a:rPr lang="en-US" sz="2400" b="0" dirty="0">
                  <a:solidFill>
                    <a:srgbClr val="C00000"/>
                  </a:solidFill>
                </a:rPr>
                <a:t>Q</a:t>
              </a:r>
              <a:r>
                <a:rPr lang="en-US" sz="2400" b="0" baseline="-25000" dirty="0">
                  <a:solidFill>
                    <a:srgbClr val="C00000"/>
                  </a:solidFill>
                </a:rPr>
                <a:t>02</a:t>
              </a:r>
              <a:r>
                <a:rPr lang="en-US" sz="2400" b="0" dirty="0">
                  <a:solidFill>
                    <a:srgbClr val="C00000"/>
                  </a:solidFill>
                </a:rPr>
                <a:t> R</a:t>
              </a:r>
              <a:r>
                <a:rPr lang="en-US" sz="2400" b="0" baseline="-25000" dirty="0">
                  <a:solidFill>
                    <a:srgbClr val="C00000"/>
                  </a:solidFill>
                </a:rPr>
                <a:t>02</a:t>
              </a:r>
            </a:p>
          </p:txBody>
        </p:sp>
      </p:grpSp>
      <p:cxnSp>
        <p:nvCxnSpPr>
          <p:cNvPr id="70" name="Straight Connector 69"/>
          <p:cNvCxnSpPr/>
          <p:nvPr/>
        </p:nvCxnSpPr>
        <p:spPr>
          <a:xfrm>
            <a:off x="381000" y="838200"/>
            <a:ext cx="8305800" cy="0"/>
          </a:xfrm>
          <a:prstGeom prst="line">
            <a:avLst/>
          </a:prstGeom>
        </p:spPr>
        <p:style>
          <a:lnRef idx="1">
            <a:schemeClr val="accent1"/>
          </a:lnRef>
          <a:fillRef idx="0">
            <a:schemeClr val="accent1"/>
          </a:fillRef>
          <a:effectRef idx="0">
            <a:schemeClr val="accent1"/>
          </a:effectRef>
          <a:fontRef idx="minor">
            <a:schemeClr val="tx1"/>
          </a:fontRef>
        </p:style>
      </p:cxnSp>
      <p:sp>
        <p:nvSpPr>
          <p:cNvPr id="69" name="TextBox 68"/>
          <p:cNvSpPr txBox="1"/>
          <p:nvPr/>
        </p:nvSpPr>
        <p:spPr>
          <a:xfrm>
            <a:off x="979756" y="5867400"/>
            <a:ext cx="7326044" cy="523220"/>
          </a:xfrm>
          <a:prstGeom prst="rect">
            <a:avLst/>
          </a:prstGeom>
          <a:noFill/>
        </p:spPr>
        <p:txBody>
          <a:bodyPr wrap="none" rtlCol="0">
            <a:spAutoFit/>
          </a:bodyPr>
          <a:lstStyle/>
          <a:p>
            <a:r>
              <a:rPr lang="en-US" sz="2800" dirty="0" smtClean="0"/>
              <a:t>Output =  { </a:t>
            </a:r>
            <a:r>
              <a:rPr lang="en-US" sz="2800" dirty="0" smtClean="0">
                <a:solidFill>
                  <a:srgbClr val="C00000"/>
                </a:solidFill>
              </a:rPr>
              <a:t>Q</a:t>
            </a:r>
            <a:r>
              <a:rPr lang="en-US" sz="2800" baseline="-25000" dirty="0" smtClean="0">
                <a:solidFill>
                  <a:srgbClr val="C00000"/>
                </a:solidFill>
              </a:rPr>
              <a:t>00</a:t>
            </a:r>
            <a:r>
              <a:rPr lang="en-US" sz="2800" dirty="0" smtClean="0"/>
              <a:t>, </a:t>
            </a:r>
            <a:r>
              <a:rPr lang="en-US" sz="2800" dirty="0" smtClean="0">
                <a:solidFill>
                  <a:srgbClr val="C00000"/>
                </a:solidFill>
              </a:rPr>
              <a:t>Q</a:t>
            </a:r>
            <a:r>
              <a:rPr lang="en-US" sz="2800" baseline="-25000" dirty="0" smtClean="0">
                <a:solidFill>
                  <a:srgbClr val="C00000"/>
                </a:solidFill>
              </a:rPr>
              <a:t>10</a:t>
            </a:r>
            <a:r>
              <a:rPr lang="en-US" sz="2800" dirty="0" smtClean="0"/>
              <a:t>, </a:t>
            </a:r>
            <a:r>
              <a:rPr lang="en-US" sz="2800" dirty="0" smtClean="0">
                <a:solidFill>
                  <a:srgbClr val="C00000"/>
                </a:solidFill>
              </a:rPr>
              <a:t>Q</a:t>
            </a:r>
            <a:r>
              <a:rPr lang="en-US" sz="2800" baseline="-25000" dirty="0" smtClean="0">
                <a:solidFill>
                  <a:srgbClr val="C00000"/>
                </a:solidFill>
              </a:rPr>
              <a:t>20</a:t>
            </a:r>
            <a:r>
              <a:rPr lang="en-US" sz="2800" dirty="0" smtClean="0"/>
              <a:t>, </a:t>
            </a:r>
            <a:r>
              <a:rPr lang="en-US" sz="2800" dirty="0" smtClean="0">
                <a:solidFill>
                  <a:srgbClr val="C00000"/>
                </a:solidFill>
              </a:rPr>
              <a:t>Q</a:t>
            </a:r>
            <a:r>
              <a:rPr lang="en-US" sz="2800" baseline="-25000" dirty="0" smtClean="0">
                <a:solidFill>
                  <a:srgbClr val="C00000"/>
                </a:solidFill>
              </a:rPr>
              <a:t>30</a:t>
            </a:r>
            <a:r>
              <a:rPr lang="en-US" sz="2800" dirty="0" smtClean="0"/>
              <a:t>, </a:t>
            </a:r>
            <a:r>
              <a:rPr lang="en-US" sz="2800" dirty="0" smtClean="0">
                <a:solidFill>
                  <a:srgbClr val="C00000"/>
                </a:solidFill>
              </a:rPr>
              <a:t>Q</a:t>
            </a:r>
            <a:r>
              <a:rPr lang="en-US" sz="2800" baseline="-25000" dirty="0" smtClean="0">
                <a:solidFill>
                  <a:srgbClr val="C00000"/>
                </a:solidFill>
              </a:rPr>
              <a:t>01</a:t>
            </a:r>
            <a:r>
              <a:rPr lang="en-US" sz="2800" dirty="0" smtClean="0"/>
              <a:t>, </a:t>
            </a:r>
            <a:r>
              <a:rPr lang="en-US" sz="2800" dirty="0" smtClean="0">
                <a:solidFill>
                  <a:srgbClr val="C00000"/>
                </a:solidFill>
              </a:rPr>
              <a:t>Q</a:t>
            </a:r>
            <a:r>
              <a:rPr lang="en-US" sz="2800" baseline="-25000" dirty="0" smtClean="0">
                <a:solidFill>
                  <a:srgbClr val="C00000"/>
                </a:solidFill>
              </a:rPr>
              <a:t>11</a:t>
            </a:r>
            <a:r>
              <a:rPr lang="en-US" sz="2800" dirty="0" smtClean="0"/>
              <a:t>, </a:t>
            </a:r>
            <a:r>
              <a:rPr lang="en-US" sz="2800" dirty="0" smtClean="0">
                <a:solidFill>
                  <a:srgbClr val="C00000"/>
                </a:solidFill>
              </a:rPr>
              <a:t>Q</a:t>
            </a:r>
            <a:r>
              <a:rPr lang="en-US" sz="2800" baseline="-25000" dirty="0" smtClean="0">
                <a:solidFill>
                  <a:srgbClr val="C00000"/>
                </a:solidFill>
              </a:rPr>
              <a:t>02</a:t>
            </a:r>
            <a:r>
              <a:rPr lang="en-US" sz="2800" dirty="0" smtClean="0"/>
              <a:t>, </a:t>
            </a:r>
            <a:r>
              <a:rPr lang="en-US" sz="2800" dirty="0" smtClean="0">
                <a:solidFill>
                  <a:srgbClr val="C00000"/>
                </a:solidFill>
              </a:rPr>
              <a:t>R</a:t>
            </a:r>
            <a:r>
              <a:rPr lang="en-US" sz="2800" baseline="-25000" dirty="0" smtClean="0">
                <a:solidFill>
                  <a:srgbClr val="C00000"/>
                </a:solidFill>
              </a:rPr>
              <a:t>02</a:t>
            </a:r>
            <a:r>
              <a:rPr lang="en-US" sz="2800" dirty="0" smtClean="0"/>
              <a:t> }</a:t>
            </a:r>
            <a:endParaRPr lang="en-US" sz="2800" dirty="0"/>
          </a:p>
        </p:txBody>
      </p:sp>
    </p:spTree>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a:xfrm>
            <a:off x="228600" y="274638"/>
            <a:ext cx="8686800" cy="563562"/>
          </a:xfrm>
        </p:spPr>
        <p:txBody>
          <a:bodyPr>
            <a:noAutofit/>
          </a:bodyPr>
          <a:lstStyle/>
          <a:p>
            <a:pPr eaLnBrk="1" hangingPunct="1"/>
            <a:r>
              <a:rPr lang="en-US" sz="3600" dirty="0" smtClean="0"/>
              <a:t>TSQR: An Architecture-Dependent Algorithm</a:t>
            </a:r>
          </a:p>
        </p:txBody>
      </p:sp>
      <p:grpSp>
        <p:nvGrpSpPr>
          <p:cNvPr id="2" name="Group 146"/>
          <p:cNvGrpSpPr>
            <a:grpSpLocks/>
          </p:cNvGrpSpPr>
          <p:nvPr/>
        </p:nvGrpSpPr>
        <p:grpSpPr bwMode="auto">
          <a:xfrm>
            <a:off x="381000" y="981075"/>
            <a:ext cx="6115050" cy="1331913"/>
            <a:chOff x="381000" y="1383430"/>
            <a:chExt cx="6115461" cy="1331377"/>
          </a:xfrm>
        </p:grpSpPr>
        <p:sp>
          <p:nvSpPr>
            <p:cNvPr id="30779" name="Text Box 11"/>
            <p:cNvSpPr txBox="1">
              <a:spLocks noChangeArrowheads="1"/>
            </p:cNvSpPr>
            <p:nvPr/>
          </p:nvSpPr>
          <p:spPr bwMode="auto">
            <a:xfrm>
              <a:off x="1879599" y="1800225"/>
              <a:ext cx="685800" cy="400110"/>
            </a:xfrm>
            <a:prstGeom prst="rect">
              <a:avLst/>
            </a:prstGeom>
            <a:noFill/>
            <a:ln w="9525">
              <a:noFill/>
              <a:miter lim="800000"/>
              <a:headEnd/>
              <a:tailEnd/>
            </a:ln>
          </p:spPr>
          <p:txBody>
            <a:bodyPr>
              <a:spAutoFit/>
            </a:bodyPr>
            <a:lstStyle/>
            <a:p>
              <a:pPr eaLnBrk="0" hangingPunct="0"/>
              <a:r>
                <a:rPr lang="en-US" i="1">
                  <a:solidFill>
                    <a:schemeClr val="tx1"/>
                  </a:solidFill>
                  <a:latin typeface="Calibri" pitchFamily="34" charset="0"/>
                </a:rPr>
                <a:t>W</a:t>
              </a:r>
              <a:r>
                <a:rPr lang="en-US">
                  <a:solidFill>
                    <a:schemeClr val="tx1"/>
                  </a:solidFill>
                  <a:latin typeface="Calibri" pitchFamily="34" charset="0"/>
                </a:rPr>
                <a:t> = </a:t>
              </a:r>
            </a:p>
          </p:txBody>
        </p:sp>
        <p:sp>
          <p:nvSpPr>
            <p:cNvPr id="30780" name="Text Box 12"/>
            <p:cNvSpPr txBox="1">
              <a:spLocks noChangeArrowheads="1"/>
            </p:cNvSpPr>
            <p:nvPr/>
          </p:nvSpPr>
          <p:spPr bwMode="auto">
            <a:xfrm>
              <a:off x="2473324" y="1391368"/>
              <a:ext cx="503664" cy="1323439"/>
            </a:xfrm>
            <a:prstGeom prst="rect">
              <a:avLst/>
            </a:prstGeom>
            <a:noFill/>
            <a:ln w="9525">
              <a:noFill/>
              <a:miter lim="800000"/>
              <a:headEnd/>
              <a:tailEnd/>
            </a:ln>
          </p:spPr>
          <p:txBody>
            <a:bodyPr wrap="none">
              <a:spAutoFit/>
            </a:bodyPr>
            <a:lstStyle/>
            <a:p>
              <a:pPr eaLnBrk="0" hangingPunct="0"/>
              <a:r>
                <a:rPr lang="en-US" i="1">
                  <a:solidFill>
                    <a:schemeClr val="tx1"/>
                  </a:solidFill>
                  <a:latin typeface="Calibri" pitchFamily="34" charset="0"/>
                </a:rPr>
                <a:t>W</a:t>
              </a:r>
              <a:r>
                <a:rPr lang="en-US" i="1" baseline="-25000">
                  <a:solidFill>
                    <a:schemeClr val="tx1"/>
                  </a:solidFill>
                  <a:latin typeface="Calibri" pitchFamily="34" charset="0"/>
                </a:rPr>
                <a:t>0</a:t>
              </a:r>
            </a:p>
            <a:p>
              <a:pPr eaLnBrk="0" hangingPunct="0"/>
              <a:r>
                <a:rPr lang="en-US" i="1">
                  <a:solidFill>
                    <a:schemeClr val="tx1"/>
                  </a:solidFill>
                  <a:latin typeface="Calibri" pitchFamily="34" charset="0"/>
                </a:rPr>
                <a:t>W</a:t>
              </a:r>
              <a:r>
                <a:rPr lang="en-US" i="1" baseline="-25000">
                  <a:solidFill>
                    <a:schemeClr val="tx1"/>
                  </a:solidFill>
                  <a:latin typeface="Calibri" pitchFamily="34" charset="0"/>
                </a:rPr>
                <a:t>1</a:t>
              </a:r>
            </a:p>
            <a:p>
              <a:pPr eaLnBrk="0" hangingPunct="0"/>
              <a:r>
                <a:rPr lang="en-US" i="1">
                  <a:solidFill>
                    <a:schemeClr val="tx1"/>
                  </a:solidFill>
                  <a:latin typeface="Calibri" pitchFamily="34" charset="0"/>
                </a:rPr>
                <a:t>W</a:t>
              </a:r>
              <a:r>
                <a:rPr lang="en-US" i="1" baseline="-25000">
                  <a:solidFill>
                    <a:schemeClr val="tx1"/>
                  </a:solidFill>
                  <a:latin typeface="Calibri" pitchFamily="34" charset="0"/>
                </a:rPr>
                <a:t>2</a:t>
              </a:r>
            </a:p>
            <a:p>
              <a:pPr eaLnBrk="0" hangingPunct="0"/>
              <a:r>
                <a:rPr lang="en-US" i="1">
                  <a:solidFill>
                    <a:schemeClr val="tx1"/>
                  </a:solidFill>
                  <a:latin typeface="Calibri" pitchFamily="34" charset="0"/>
                </a:rPr>
                <a:t>W</a:t>
              </a:r>
              <a:r>
                <a:rPr lang="en-US" i="1" baseline="-25000">
                  <a:solidFill>
                    <a:schemeClr val="tx1"/>
                  </a:solidFill>
                  <a:latin typeface="Calibri" pitchFamily="34" charset="0"/>
                </a:rPr>
                <a:t>3</a:t>
              </a:r>
            </a:p>
          </p:txBody>
        </p:sp>
        <p:grpSp>
          <p:nvGrpSpPr>
            <p:cNvPr id="3" name="Group 13"/>
            <p:cNvGrpSpPr>
              <a:grpSpLocks/>
            </p:cNvGrpSpPr>
            <p:nvPr/>
          </p:nvGrpSpPr>
          <p:grpSpPr bwMode="auto">
            <a:xfrm>
              <a:off x="2412999" y="1495425"/>
              <a:ext cx="76200" cy="1066800"/>
              <a:chOff x="960" y="2880"/>
              <a:chExt cx="48" cy="672"/>
            </a:xfrm>
          </p:grpSpPr>
          <p:sp>
            <p:nvSpPr>
              <p:cNvPr id="30801" name="Line 14"/>
              <p:cNvSpPr>
                <a:spLocks noChangeShapeType="1"/>
              </p:cNvSpPr>
              <p:nvPr/>
            </p:nvSpPr>
            <p:spPr bwMode="auto">
              <a:xfrm>
                <a:off x="960" y="2880"/>
                <a:ext cx="0" cy="672"/>
              </a:xfrm>
              <a:prstGeom prst="line">
                <a:avLst/>
              </a:prstGeom>
              <a:noFill/>
              <a:ln w="9525">
                <a:solidFill>
                  <a:schemeClr val="tx1"/>
                </a:solidFill>
                <a:round/>
                <a:headEnd/>
                <a:tailEnd/>
              </a:ln>
            </p:spPr>
            <p:txBody>
              <a:bodyPr/>
              <a:lstStyle/>
              <a:p>
                <a:endParaRPr lang="en-US"/>
              </a:p>
            </p:txBody>
          </p:sp>
          <p:sp>
            <p:nvSpPr>
              <p:cNvPr id="30802" name="Line 15"/>
              <p:cNvSpPr>
                <a:spLocks noChangeShapeType="1"/>
              </p:cNvSpPr>
              <p:nvPr/>
            </p:nvSpPr>
            <p:spPr bwMode="auto">
              <a:xfrm>
                <a:off x="960" y="2880"/>
                <a:ext cx="48" cy="0"/>
              </a:xfrm>
              <a:prstGeom prst="line">
                <a:avLst/>
              </a:prstGeom>
              <a:noFill/>
              <a:ln w="9525">
                <a:solidFill>
                  <a:schemeClr val="tx1"/>
                </a:solidFill>
                <a:round/>
                <a:headEnd/>
                <a:tailEnd/>
              </a:ln>
            </p:spPr>
            <p:txBody>
              <a:bodyPr/>
              <a:lstStyle/>
              <a:p>
                <a:endParaRPr lang="en-US"/>
              </a:p>
            </p:txBody>
          </p:sp>
          <p:sp>
            <p:nvSpPr>
              <p:cNvPr id="30803" name="Line 16"/>
              <p:cNvSpPr>
                <a:spLocks noChangeShapeType="1"/>
              </p:cNvSpPr>
              <p:nvPr/>
            </p:nvSpPr>
            <p:spPr bwMode="auto">
              <a:xfrm>
                <a:off x="960" y="3552"/>
                <a:ext cx="48" cy="0"/>
              </a:xfrm>
              <a:prstGeom prst="line">
                <a:avLst/>
              </a:prstGeom>
              <a:noFill/>
              <a:ln w="9525">
                <a:solidFill>
                  <a:schemeClr val="tx1"/>
                </a:solidFill>
                <a:round/>
                <a:headEnd/>
                <a:tailEnd/>
              </a:ln>
            </p:spPr>
            <p:txBody>
              <a:bodyPr/>
              <a:lstStyle/>
              <a:p>
                <a:endParaRPr lang="en-US"/>
              </a:p>
            </p:txBody>
          </p:sp>
        </p:grpSp>
        <p:grpSp>
          <p:nvGrpSpPr>
            <p:cNvPr id="4" name="Group 17"/>
            <p:cNvGrpSpPr>
              <a:grpSpLocks/>
            </p:cNvGrpSpPr>
            <p:nvPr/>
          </p:nvGrpSpPr>
          <p:grpSpPr bwMode="auto">
            <a:xfrm flipH="1">
              <a:off x="2946399" y="1495425"/>
              <a:ext cx="76200" cy="1066800"/>
              <a:chOff x="960" y="2880"/>
              <a:chExt cx="48" cy="672"/>
            </a:xfrm>
          </p:grpSpPr>
          <p:sp>
            <p:nvSpPr>
              <p:cNvPr id="30798" name="Line 18"/>
              <p:cNvSpPr>
                <a:spLocks noChangeShapeType="1"/>
              </p:cNvSpPr>
              <p:nvPr/>
            </p:nvSpPr>
            <p:spPr bwMode="auto">
              <a:xfrm>
                <a:off x="960" y="2880"/>
                <a:ext cx="0" cy="672"/>
              </a:xfrm>
              <a:prstGeom prst="line">
                <a:avLst/>
              </a:prstGeom>
              <a:noFill/>
              <a:ln w="9525">
                <a:solidFill>
                  <a:schemeClr val="tx1"/>
                </a:solidFill>
                <a:round/>
                <a:headEnd/>
                <a:tailEnd/>
              </a:ln>
            </p:spPr>
            <p:txBody>
              <a:bodyPr/>
              <a:lstStyle/>
              <a:p>
                <a:endParaRPr lang="en-US"/>
              </a:p>
            </p:txBody>
          </p:sp>
          <p:sp>
            <p:nvSpPr>
              <p:cNvPr id="30799" name="Line 19"/>
              <p:cNvSpPr>
                <a:spLocks noChangeShapeType="1"/>
              </p:cNvSpPr>
              <p:nvPr/>
            </p:nvSpPr>
            <p:spPr bwMode="auto">
              <a:xfrm>
                <a:off x="960" y="2880"/>
                <a:ext cx="48" cy="0"/>
              </a:xfrm>
              <a:prstGeom prst="line">
                <a:avLst/>
              </a:prstGeom>
              <a:noFill/>
              <a:ln w="9525">
                <a:solidFill>
                  <a:schemeClr val="tx1"/>
                </a:solidFill>
                <a:round/>
                <a:headEnd/>
                <a:tailEnd/>
              </a:ln>
            </p:spPr>
            <p:txBody>
              <a:bodyPr/>
              <a:lstStyle/>
              <a:p>
                <a:endParaRPr lang="en-US"/>
              </a:p>
            </p:txBody>
          </p:sp>
          <p:sp>
            <p:nvSpPr>
              <p:cNvPr id="30800" name="Line 20"/>
              <p:cNvSpPr>
                <a:spLocks noChangeShapeType="1"/>
              </p:cNvSpPr>
              <p:nvPr/>
            </p:nvSpPr>
            <p:spPr bwMode="auto">
              <a:xfrm>
                <a:off x="960" y="3552"/>
                <a:ext cx="48" cy="0"/>
              </a:xfrm>
              <a:prstGeom prst="line">
                <a:avLst/>
              </a:prstGeom>
              <a:noFill/>
              <a:ln w="9525">
                <a:solidFill>
                  <a:schemeClr val="tx1"/>
                </a:solidFill>
                <a:round/>
                <a:headEnd/>
                <a:tailEnd/>
              </a:ln>
            </p:spPr>
            <p:txBody>
              <a:bodyPr/>
              <a:lstStyle/>
              <a:p>
                <a:endParaRPr lang="en-US"/>
              </a:p>
            </p:txBody>
          </p:sp>
        </p:grpSp>
        <p:sp>
          <p:nvSpPr>
            <p:cNvPr id="30783" name="Line 29"/>
            <p:cNvSpPr>
              <a:spLocks noChangeShapeType="1"/>
            </p:cNvSpPr>
            <p:nvPr/>
          </p:nvSpPr>
          <p:spPr bwMode="auto">
            <a:xfrm>
              <a:off x="3174999" y="1647825"/>
              <a:ext cx="228600" cy="0"/>
            </a:xfrm>
            <a:prstGeom prst="line">
              <a:avLst/>
            </a:prstGeom>
            <a:noFill/>
            <a:ln w="9525">
              <a:solidFill>
                <a:schemeClr val="tx1"/>
              </a:solidFill>
              <a:round/>
              <a:headEnd/>
              <a:tailEnd type="triangle" w="med" len="med"/>
            </a:ln>
          </p:spPr>
          <p:txBody>
            <a:bodyPr/>
            <a:lstStyle/>
            <a:p>
              <a:endParaRPr lang="en-US"/>
            </a:p>
          </p:txBody>
        </p:sp>
        <p:sp>
          <p:nvSpPr>
            <p:cNvPr id="30784" name="Line 30"/>
            <p:cNvSpPr>
              <a:spLocks noChangeShapeType="1"/>
            </p:cNvSpPr>
            <p:nvPr/>
          </p:nvSpPr>
          <p:spPr bwMode="auto">
            <a:xfrm>
              <a:off x="3174999" y="1876425"/>
              <a:ext cx="228600" cy="0"/>
            </a:xfrm>
            <a:prstGeom prst="line">
              <a:avLst/>
            </a:prstGeom>
            <a:noFill/>
            <a:ln w="9525">
              <a:solidFill>
                <a:schemeClr val="tx1"/>
              </a:solidFill>
              <a:round/>
              <a:headEnd/>
              <a:tailEnd type="triangle" w="med" len="med"/>
            </a:ln>
          </p:spPr>
          <p:txBody>
            <a:bodyPr/>
            <a:lstStyle/>
            <a:p>
              <a:endParaRPr lang="en-US"/>
            </a:p>
          </p:txBody>
        </p:sp>
        <p:sp>
          <p:nvSpPr>
            <p:cNvPr id="30785" name="Line 31"/>
            <p:cNvSpPr>
              <a:spLocks noChangeShapeType="1"/>
            </p:cNvSpPr>
            <p:nvPr/>
          </p:nvSpPr>
          <p:spPr bwMode="auto">
            <a:xfrm>
              <a:off x="3174999" y="2181225"/>
              <a:ext cx="228600" cy="0"/>
            </a:xfrm>
            <a:prstGeom prst="line">
              <a:avLst/>
            </a:prstGeom>
            <a:noFill/>
            <a:ln w="9525">
              <a:solidFill>
                <a:schemeClr val="tx1"/>
              </a:solidFill>
              <a:round/>
              <a:headEnd/>
              <a:tailEnd type="triangle" w="med" len="med"/>
            </a:ln>
          </p:spPr>
          <p:txBody>
            <a:bodyPr/>
            <a:lstStyle/>
            <a:p>
              <a:endParaRPr lang="en-US"/>
            </a:p>
          </p:txBody>
        </p:sp>
        <p:sp>
          <p:nvSpPr>
            <p:cNvPr id="30786" name="Line 32"/>
            <p:cNvSpPr>
              <a:spLocks noChangeShapeType="1"/>
            </p:cNvSpPr>
            <p:nvPr/>
          </p:nvSpPr>
          <p:spPr bwMode="auto">
            <a:xfrm>
              <a:off x="3174999" y="2409825"/>
              <a:ext cx="228600" cy="0"/>
            </a:xfrm>
            <a:prstGeom prst="line">
              <a:avLst/>
            </a:prstGeom>
            <a:noFill/>
            <a:ln w="9525">
              <a:solidFill>
                <a:schemeClr val="tx1"/>
              </a:solidFill>
              <a:round/>
              <a:headEnd/>
              <a:tailEnd type="triangle" w="med" len="med"/>
            </a:ln>
          </p:spPr>
          <p:txBody>
            <a:bodyPr/>
            <a:lstStyle/>
            <a:p>
              <a:endParaRPr lang="en-US"/>
            </a:p>
          </p:txBody>
        </p:sp>
        <p:sp>
          <p:nvSpPr>
            <p:cNvPr id="30787" name="Text Box 33"/>
            <p:cNvSpPr txBox="1">
              <a:spLocks noChangeArrowheads="1"/>
            </p:cNvSpPr>
            <p:nvPr/>
          </p:nvSpPr>
          <p:spPr bwMode="auto">
            <a:xfrm>
              <a:off x="3632199" y="1383430"/>
              <a:ext cx="502061" cy="1323439"/>
            </a:xfrm>
            <a:prstGeom prst="rect">
              <a:avLst/>
            </a:prstGeom>
            <a:noFill/>
            <a:ln w="9525">
              <a:noFill/>
              <a:miter lim="800000"/>
              <a:headEnd/>
              <a:tailEnd/>
            </a:ln>
          </p:spPr>
          <p:txBody>
            <a:bodyPr wrap="none">
              <a:spAutoFit/>
            </a:bodyPr>
            <a:lstStyle/>
            <a:p>
              <a:pPr eaLnBrk="0" hangingPunct="0"/>
              <a:r>
                <a:rPr lang="en-US" i="1">
                  <a:solidFill>
                    <a:schemeClr val="tx1"/>
                  </a:solidFill>
                  <a:latin typeface="Calibri" pitchFamily="34" charset="0"/>
                </a:rPr>
                <a:t>R</a:t>
              </a:r>
              <a:r>
                <a:rPr lang="en-US" i="1" baseline="-25000">
                  <a:solidFill>
                    <a:schemeClr val="tx1"/>
                  </a:solidFill>
                  <a:latin typeface="Calibri" pitchFamily="34" charset="0"/>
                </a:rPr>
                <a:t>00</a:t>
              </a:r>
            </a:p>
            <a:p>
              <a:pPr eaLnBrk="0" hangingPunct="0"/>
              <a:r>
                <a:rPr lang="en-US" i="1">
                  <a:solidFill>
                    <a:schemeClr val="tx1"/>
                  </a:solidFill>
                  <a:latin typeface="Calibri" pitchFamily="34" charset="0"/>
                </a:rPr>
                <a:t>R</a:t>
              </a:r>
              <a:r>
                <a:rPr lang="en-US" i="1" baseline="-25000">
                  <a:solidFill>
                    <a:schemeClr val="tx1"/>
                  </a:solidFill>
                  <a:latin typeface="Calibri" pitchFamily="34" charset="0"/>
                </a:rPr>
                <a:t>10</a:t>
              </a:r>
            </a:p>
            <a:p>
              <a:pPr eaLnBrk="0" hangingPunct="0"/>
              <a:r>
                <a:rPr lang="en-US" i="1">
                  <a:solidFill>
                    <a:schemeClr val="tx1"/>
                  </a:solidFill>
                  <a:latin typeface="Calibri" pitchFamily="34" charset="0"/>
                </a:rPr>
                <a:t>R</a:t>
              </a:r>
              <a:r>
                <a:rPr lang="en-US" i="1" baseline="-25000">
                  <a:solidFill>
                    <a:schemeClr val="tx1"/>
                  </a:solidFill>
                  <a:latin typeface="Calibri" pitchFamily="34" charset="0"/>
                </a:rPr>
                <a:t>20</a:t>
              </a:r>
            </a:p>
            <a:p>
              <a:pPr eaLnBrk="0" hangingPunct="0"/>
              <a:r>
                <a:rPr lang="en-US" i="1">
                  <a:solidFill>
                    <a:schemeClr val="tx1"/>
                  </a:solidFill>
                  <a:latin typeface="Calibri" pitchFamily="34" charset="0"/>
                </a:rPr>
                <a:t>R</a:t>
              </a:r>
              <a:r>
                <a:rPr lang="en-US" i="1" baseline="-25000">
                  <a:solidFill>
                    <a:schemeClr val="tx1"/>
                  </a:solidFill>
                  <a:latin typeface="Calibri" pitchFamily="34" charset="0"/>
                </a:rPr>
                <a:t>30</a:t>
              </a:r>
            </a:p>
          </p:txBody>
        </p:sp>
        <p:sp>
          <p:nvSpPr>
            <p:cNvPr id="30788" name="Line 34"/>
            <p:cNvSpPr>
              <a:spLocks noChangeShapeType="1"/>
            </p:cNvSpPr>
            <p:nvPr/>
          </p:nvSpPr>
          <p:spPr bwMode="auto">
            <a:xfrm>
              <a:off x="4318000" y="1571625"/>
              <a:ext cx="381000" cy="76200"/>
            </a:xfrm>
            <a:prstGeom prst="line">
              <a:avLst/>
            </a:prstGeom>
            <a:noFill/>
            <a:ln w="9525">
              <a:solidFill>
                <a:schemeClr val="tx1"/>
              </a:solidFill>
              <a:round/>
              <a:headEnd/>
              <a:tailEnd type="triangle" w="med" len="med"/>
            </a:ln>
          </p:spPr>
          <p:txBody>
            <a:bodyPr/>
            <a:lstStyle/>
            <a:p>
              <a:endParaRPr lang="en-US"/>
            </a:p>
          </p:txBody>
        </p:sp>
        <p:sp>
          <p:nvSpPr>
            <p:cNvPr id="30789" name="Line 35"/>
            <p:cNvSpPr>
              <a:spLocks noChangeShapeType="1"/>
            </p:cNvSpPr>
            <p:nvPr/>
          </p:nvSpPr>
          <p:spPr bwMode="auto">
            <a:xfrm flipV="1">
              <a:off x="4318000" y="1724025"/>
              <a:ext cx="381000" cy="152400"/>
            </a:xfrm>
            <a:prstGeom prst="line">
              <a:avLst/>
            </a:prstGeom>
            <a:noFill/>
            <a:ln w="9525">
              <a:solidFill>
                <a:schemeClr val="tx1"/>
              </a:solidFill>
              <a:round/>
              <a:headEnd/>
              <a:tailEnd type="triangle" w="med" len="med"/>
            </a:ln>
          </p:spPr>
          <p:txBody>
            <a:bodyPr/>
            <a:lstStyle/>
            <a:p>
              <a:endParaRPr lang="en-US"/>
            </a:p>
          </p:txBody>
        </p:sp>
        <p:sp>
          <p:nvSpPr>
            <p:cNvPr id="30790" name="Text Box 36"/>
            <p:cNvSpPr txBox="1">
              <a:spLocks noChangeArrowheads="1"/>
            </p:cNvSpPr>
            <p:nvPr/>
          </p:nvSpPr>
          <p:spPr bwMode="auto">
            <a:xfrm>
              <a:off x="4699000" y="1509713"/>
              <a:ext cx="502061" cy="400110"/>
            </a:xfrm>
            <a:prstGeom prst="rect">
              <a:avLst/>
            </a:prstGeom>
            <a:noFill/>
            <a:ln w="9525">
              <a:noFill/>
              <a:miter lim="800000"/>
              <a:headEnd/>
              <a:tailEnd/>
            </a:ln>
          </p:spPr>
          <p:txBody>
            <a:bodyPr wrap="none">
              <a:spAutoFit/>
            </a:bodyPr>
            <a:lstStyle/>
            <a:p>
              <a:pPr eaLnBrk="0" hangingPunct="0"/>
              <a:r>
                <a:rPr lang="en-US" i="1">
                  <a:solidFill>
                    <a:schemeClr val="tx1"/>
                  </a:solidFill>
                  <a:latin typeface="Calibri" pitchFamily="34" charset="0"/>
                </a:rPr>
                <a:t>R</a:t>
              </a:r>
              <a:r>
                <a:rPr lang="en-US" i="1" baseline="-25000">
                  <a:solidFill>
                    <a:schemeClr val="tx1"/>
                  </a:solidFill>
                  <a:latin typeface="Calibri" pitchFamily="34" charset="0"/>
                </a:rPr>
                <a:t>01</a:t>
              </a:r>
            </a:p>
          </p:txBody>
        </p:sp>
        <p:sp>
          <p:nvSpPr>
            <p:cNvPr id="30791" name="Text Box 37"/>
            <p:cNvSpPr txBox="1">
              <a:spLocks noChangeArrowheads="1"/>
            </p:cNvSpPr>
            <p:nvPr/>
          </p:nvSpPr>
          <p:spPr bwMode="auto">
            <a:xfrm>
              <a:off x="4699000" y="2105025"/>
              <a:ext cx="502061" cy="400110"/>
            </a:xfrm>
            <a:prstGeom prst="rect">
              <a:avLst/>
            </a:prstGeom>
            <a:noFill/>
            <a:ln w="9525">
              <a:noFill/>
              <a:miter lim="800000"/>
              <a:headEnd/>
              <a:tailEnd/>
            </a:ln>
          </p:spPr>
          <p:txBody>
            <a:bodyPr wrap="none">
              <a:spAutoFit/>
            </a:bodyPr>
            <a:lstStyle/>
            <a:p>
              <a:pPr eaLnBrk="0" hangingPunct="0"/>
              <a:r>
                <a:rPr lang="en-US" i="1">
                  <a:solidFill>
                    <a:schemeClr val="tx1"/>
                  </a:solidFill>
                  <a:latin typeface="Calibri" pitchFamily="34" charset="0"/>
                </a:rPr>
                <a:t>R</a:t>
              </a:r>
              <a:r>
                <a:rPr lang="en-US" i="1" baseline="-25000">
                  <a:solidFill>
                    <a:schemeClr val="tx1"/>
                  </a:solidFill>
                  <a:latin typeface="Calibri" pitchFamily="34" charset="0"/>
                </a:rPr>
                <a:t>11</a:t>
              </a:r>
            </a:p>
          </p:txBody>
        </p:sp>
        <p:sp>
          <p:nvSpPr>
            <p:cNvPr id="30792" name="Line 38"/>
            <p:cNvSpPr>
              <a:spLocks noChangeShapeType="1"/>
            </p:cNvSpPr>
            <p:nvPr/>
          </p:nvSpPr>
          <p:spPr bwMode="auto">
            <a:xfrm>
              <a:off x="4318000" y="2181225"/>
              <a:ext cx="381000" cy="76200"/>
            </a:xfrm>
            <a:prstGeom prst="line">
              <a:avLst/>
            </a:prstGeom>
            <a:noFill/>
            <a:ln w="9525">
              <a:solidFill>
                <a:schemeClr val="tx1"/>
              </a:solidFill>
              <a:round/>
              <a:headEnd/>
              <a:tailEnd type="triangle" w="med" len="med"/>
            </a:ln>
          </p:spPr>
          <p:txBody>
            <a:bodyPr/>
            <a:lstStyle/>
            <a:p>
              <a:endParaRPr lang="en-US"/>
            </a:p>
          </p:txBody>
        </p:sp>
        <p:sp>
          <p:nvSpPr>
            <p:cNvPr id="30793" name="Line 39"/>
            <p:cNvSpPr>
              <a:spLocks noChangeShapeType="1"/>
            </p:cNvSpPr>
            <p:nvPr/>
          </p:nvSpPr>
          <p:spPr bwMode="auto">
            <a:xfrm flipV="1">
              <a:off x="4318000" y="2333625"/>
              <a:ext cx="381000" cy="152400"/>
            </a:xfrm>
            <a:prstGeom prst="line">
              <a:avLst/>
            </a:prstGeom>
            <a:noFill/>
            <a:ln w="9525">
              <a:solidFill>
                <a:schemeClr val="tx1"/>
              </a:solidFill>
              <a:round/>
              <a:headEnd/>
              <a:tailEnd type="triangle" w="med" len="med"/>
            </a:ln>
          </p:spPr>
          <p:txBody>
            <a:bodyPr/>
            <a:lstStyle/>
            <a:p>
              <a:endParaRPr lang="en-US"/>
            </a:p>
          </p:txBody>
        </p:sp>
        <p:sp>
          <p:nvSpPr>
            <p:cNvPr id="30794" name="Line 40"/>
            <p:cNvSpPr>
              <a:spLocks noChangeShapeType="1"/>
            </p:cNvSpPr>
            <p:nvPr/>
          </p:nvSpPr>
          <p:spPr bwMode="auto">
            <a:xfrm>
              <a:off x="5232400" y="1724025"/>
              <a:ext cx="609600" cy="228600"/>
            </a:xfrm>
            <a:prstGeom prst="line">
              <a:avLst/>
            </a:prstGeom>
            <a:noFill/>
            <a:ln w="9525">
              <a:solidFill>
                <a:schemeClr val="tx1"/>
              </a:solidFill>
              <a:round/>
              <a:headEnd/>
              <a:tailEnd type="triangle" w="med" len="med"/>
            </a:ln>
          </p:spPr>
          <p:txBody>
            <a:bodyPr/>
            <a:lstStyle/>
            <a:p>
              <a:endParaRPr lang="en-US"/>
            </a:p>
          </p:txBody>
        </p:sp>
        <p:sp>
          <p:nvSpPr>
            <p:cNvPr id="30795" name="Line 41"/>
            <p:cNvSpPr>
              <a:spLocks noChangeShapeType="1"/>
            </p:cNvSpPr>
            <p:nvPr/>
          </p:nvSpPr>
          <p:spPr bwMode="auto">
            <a:xfrm flipV="1">
              <a:off x="5232400" y="2105025"/>
              <a:ext cx="609600" cy="228600"/>
            </a:xfrm>
            <a:prstGeom prst="line">
              <a:avLst/>
            </a:prstGeom>
            <a:noFill/>
            <a:ln w="9525">
              <a:solidFill>
                <a:schemeClr val="tx1"/>
              </a:solidFill>
              <a:round/>
              <a:headEnd/>
              <a:tailEnd type="triangle" w="med" len="med"/>
            </a:ln>
          </p:spPr>
          <p:txBody>
            <a:bodyPr/>
            <a:lstStyle/>
            <a:p>
              <a:endParaRPr lang="en-US"/>
            </a:p>
          </p:txBody>
        </p:sp>
        <p:sp>
          <p:nvSpPr>
            <p:cNvPr id="30796" name="Text Box 42"/>
            <p:cNvSpPr txBox="1">
              <a:spLocks noChangeArrowheads="1"/>
            </p:cNvSpPr>
            <p:nvPr/>
          </p:nvSpPr>
          <p:spPr bwMode="auto">
            <a:xfrm>
              <a:off x="5994400" y="1800225"/>
              <a:ext cx="502061" cy="400110"/>
            </a:xfrm>
            <a:prstGeom prst="rect">
              <a:avLst/>
            </a:prstGeom>
            <a:noFill/>
            <a:ln w="9525">
              <a:noFill/>
              <a:miter lim="800000"/>
              <a:headEnd/>
              <a:tailEnd/>
            </a:ln>
          </p:spPr>
          <p:txBody>
            <a:bodyPr wrap="none">
              <a:spAutoFit/>
            </a:bodyPr>
            <a:lstStyle/>
            <a:p>
              <a:pPr eaLnBrk="0" hangingPunct="0"/>
              <a:r>
                <a:rPr lang="en-US" i="1">
                  <a:solidFill>
                    <a:schemeClr val="tx1"/>
                  </a:solidFill>
                  <a:latin typeface="Calibri" pitchFamily="34" charset="0"/>
                </a:rPr>
                <a:t>R</a:t>
              </a:r>
              <a:r>
                <a:rPr lang="en-US" i="1" baseline="-25000">
                  <a:solidFill>
                    <a:schemeClr val="tx1"/>
                  </a:solidFill>
                  <a:latin typeface="Calibri" pitchFamily="34" charset="0"/>
                </a:rPr>
                <a:t>02</a:t>
              </a:r>
            </a:p>
          </p:txBody>
        </p:sp>
        <p:sp>
          <p:nvSpPr>
            <p:cNvPr id="30797" name="TextBox 86"/>
            <p:cNvSpPr txBox="1">
              <a:spLocks noChangeArrowheads="1"/>
            </p:cNvSpPr>
            <p:nvPr/>
          </p:nvSpPr>
          <p:spPr bwMode="auto">
            <a:xfrm>
              <a:off x="381000" y="1676400"/>
              <a:ext cx="1498599" cy="461665"/>
            </a:xfrm>
            <a:prstGeom prst="rect">
              <a:avLst/>
            </a:prstGeom>
            <a:noFill/>
            <a:ln w="9525">
              <a:noFill/>
              <a:miter lim="800000"/>
              <a:headEnd/>
              <a:tailEnd/>
            </a:ln>
          </p:spPr>
          <p:txBody>
            <a:bodyPr>
              <a:spAutoFit/>
            </a:bodyPr>
            <a:lstStyle/>
            <a:p>
              <a:pPr eaLnBrk="0" hangingPunct="0"/>
              <a:r>
                <a:rPr lang="en-US" sz="2400">
                  <a:solidFill>
                    <a:schemeClr val="tx1"/>
                  </a:solidFill>
                  <a:latin typeface="Calibri" pitchFamily="34" charset="0"/>
                </a:rPr>
                <a:t>Parallel:</a:t>
              </a:r>
            </a:p>
          </p:txBody>
        </p:sp>
      </p:grpSp>
      <p:grpSp>
        <p:nvGrpSpPr>
          <p:cNvPr id="5" name="Group 147"/>
          <p:cNvGrpSpPr>
            <a:grpSpLocks/>
          </p:cNvGrpSpPr>
          <p:nvPr/>
        </p:nvGrpSpPr>
        <p:grpSpPr bwMode="auto">
          <a:xfrm>
            <a:off x="228600" y="2517775"/>
            <a:ext cx="7486650" cy="1322388"/>
            <a:chOff x="228600" y="2915294"/>
            <a:chExt cx="7486837" cy="1323439"/>
          </a:xfrm>
        </p:grpSpPr>
        <p:grpSp>
          <p:nvGrpSpPr>
            <p:cNvPr id="6" name="Group 85"/>
            <p:cNvGrpSpPr>
              <a:grpSpLocks/>
            </p:cNvGrpSpPr>
            <p:nvPr/>
          </p:nvGrpSpPr>
          <p:grpSpPr bwMode="auto">
            <a:xfrm>
              <a:off x="1905000" y="2915294"/>
              <a:ext cx="5810437" cy="1323439"/>
              <a:chOff x="1447800" y="2991494"/>
              <a:chExt cx="5810437" cy="1323439"/>
            </a:xfrm>
          </p:grpSpPr>
          <p:sp>
            <p:nvSpPr>
              <p:cNvPr id="30758" name="Text Box 11"/>
              <p:cNvSpPr txBox="1">
                <a:spLocks noChangeArrowheads="1"/>
              </p:cNvSpPr>
              <p:nvPr/>
            </p:nvSpPr>
            <p:spPr bwMode="auto">
              <a:xfrm>
                <a:off x="1447800" y="3400425"/>
                <a:ext cx="685800" cy="400110"/>
              </a:xfrm>
              <a:prstGeom prst="rect">
                <a:avLst/>
              </a:prstGeom>
              <a:noFill/>
              <a:ln w="9525">
                <a:noFill/>
                <a:miter lim="800000"/>
                <a:headEnd/>
                <a:tailEnd/>
              </a:ln>
            </p:spPr>
            <p:txBody>
              <a:bodyPr>
                <a:spAutoFit/>
              </a:bodyPr>
              <a:lstStyle/>
              <a:p>
                <a:pPr eaLnBrk="0" hangingPunct="0"/>
                <a:r>
                  <a:rPr lang="en-US" i="1">
                    <a:solidFill>
                      <a:schemeClr val="tx1"/>
                    </a:solidFill>
                    <a:latin typeface="Calibri" pitchFamily="34" charset="0"/>
                  </a:rPr>
                  <a:t>W</a:t>
                </a:r>
                <a:r>
                  <a:rPr lang="en-US">
                    <a:solidFill>
                      <a:schemeClr val="tx1"/>
                    </a:solidFill>
                    <a:latin typeface="Calibri" pitchFamily="34" charset="0"/>
                  </a:rPr>
                  <a:t> = </a:t>
                </a:r>
              </a:p>
            </p:txBody>
          </p:sp>
          <p:sp>
            <p:nvSpPr>
              <p:cNvPr id="30759" name="Text Box 12"/>
              <p:cNvSpPr txBox="1">
                <a:spLocks noChangeArrowheads="1"/>
              </p:cNvSpPr>
              <p:nvPr/>
            </p:nvSpPr>
            <p:spPr bwMode="auto">
              <a:xfrm>
                <a:off x="2041525" y="2991494"/>
                <a:ext cx="503664" cy="1323439"/>
              </a:xfrm>
              <a:prstGeom prst="rect">
                <a:avLst/>
              </a:prstGeom>
              <a:noFill/>
              <a:ln w="9525">
                <a:noFill/>
                <a:miter lim="800000"/>
                <a:headEnd/>
                <a:tailEnd/>
              </a:ln>
            </p:spPr>
            <p:txBody>
              <a:bodyPr wrap="none">
                <a:spAutoFit/>
              </a:bodyPr>
              <a:lstStyle/>
              <a:p>
                <a:pPr eaLnBrk="0" hangingPunct="0"/>
                <a:r>
                  <a:rPr lang="en-US" i="1">
                    <a:solidFill>
                      <a:schemeClr val="tx1"/>
                    </a:solidFill>
                    <a:latin typeface="Calibri" pitchFamily="34" charset="0"/>
                  </a:rPr>
                  <a:t>W</a:t>
                </a:r>
                <a:r>
                  <a:rPr lang="en-US" i="1" baseline="-25000">
                    <a:solidFill>
                      <a:schemeClr val="tx1"/>
                    </a:solidFill>
                    <a:latin typeface="Calibri" pitchFamily="34" charset="0"/>
                  </a:rPr>
                  <a:t>0</a:t>
                </a:r>
              </a:p>
              <a:p>
                <a:pPr eaLnBrk="0" hangingPunct="0"/>
                <a:r>
                  <a:rPr lang="en-US" i="1">
                    <a:solidFill>
                      <a:schemeClr val="tx1"/>
                    </a:solidFill>
                    <a:latin typeface="Calibri" pitchFamily="34" charset="0"/>
                  </a:rPr>
                  <a:t>W</a:t>
                </a:r>
                <a:r>
                  <a:rPr lang="en-US" i="1" baseline="-25000">
                    <a:solidFill>
                      <a:schemeClr val="tx1"/>
                    </a:solidFill>
                    <a:latin typeface="Calibri" pitchFamily="34" charset="0"/>
                  </a:rPr>
                  <a:t>1</a:t>
                </a:r>
              </a:p>
              <a:p>
                <a:pPr eaLnBrk="0" hangingPunct="0"/>
                <a:r>
                  <a:rPr lang="en-US" i="1">
                    <a:solidFill>
                      <a:schemeClr val="tx1"/>
                    </a:solidFill>
                    <a:latin typeface="Calibri" pitchFamily="34" charset="0"/>
                  </a:rPr>
                  <a:t>W</a:t>
                </a:r>
                <a:r>
                  <a:rPr lang="en-US" i="1" baseline="-25000">
                    <a:solidFill>
                      <a:schemeClr val="tx1"/>
                    </a:solidFill>
                    <a:latin typeface="Calibri" pitchFamily="34" charset="0"/>
                  </a:rPr>
                  <a:t>2</a:t>
                </a:r>
              </a:p>
              <a:p>
                <a:pPr eaLnBrk="0" hangingPunct="0"/>
                <a:r>
                  <a:rPr lang="en-US" i="1">
                    <a:solidFill>
                      <a:schemeClr val="tx1"/>
                    </a:solidFill>
                    <a:latin typeface="Calibri" pitchFamily="34" charset="0"/>
                  </a:rPr>
                  <a:t>W</a:t>
                </a:r>
                <a:r>
                  <a:rPr lang="en-US" i="1" baseline="-25000">
                    <a:solidFill>
                      <a:schemeClr val="tx1"/>
                    </a:solidFill>
                    <a:latin typeface="Calibri" pitchFamily="34" charset="0"/>
                  </a:rPr>
                  <a:t>3</a:t>
                </a:r>
              </a:p>
            </p:txBody>
          </p:sp>
          <p:grpSp>
            <p:nvGrpSpPr>
              <p:cNvPr id="7" name="Group 13"/>
              <p:cNvGrpSpPr>
                <a:grpSpLocks/>
              </p:cNvGrpSpPr>
              <p:nvPr/>
            </p:nvGrpSpPr>
            <p:grpSpPr bwMode="auto">
              <a:xfrm>
                <a:off x="1981200" y="3095625"/>
                <a:ext cx="76200" cy="1066800"/>
                <a:chOff x="960" y="2880"/>
                <a:chExt cx="48" cy="672"/>
              </a:xfrm>
            </p:grpSpPr>
            <p:sp>
              <p:nvSpPr>
                <p:cNvPr id="30776" name="Line 14"/>
                <p:cNvSpPr>
                  <a:spLocks noChangeShapeType="1"/>
                </p:cNvSpPr>
                <p:nvPr/>
              </p:nvSpPr>
              <p:spPr bwMode="auto">
                <a:xfrm>
                  <a:off x="960" y="2880"/>
                  <a:ext cx="0" cy="672"/>
                </a:xfrm>
                <a:prstGeom prst="line">
                  <a:avLst/>
                </a:prstGeom>
                <a:noFill/>
                <a:ln w="9525">
                  <a:solidFill>
                    <a:schemeClr val="tx1"/>
                  </a:solidFill>
                  <a:round/>
                  <a:headEnd/>
                  <a:tailEnd/>
                </a:ln>
              </p:spPr>
              <p:txBody>
                <a:bodyPr/>
                <a:lstStyle/>
                <a:p>
                  <a:endParaRPr lang="en-US"/>
                </a:p>
              </p:txBody>
            </p:sp>
            <p:sp>
              <p:nvSpPr>
                <p:cNvPr id="30777" name="Line 15"/>
                <p:cNvSpPr>
                  <a:spLocks noChangeShapeType="1"/>
                </p:cNvSpPr>
                <p:nvPr/>
              </p:nvSpPr>
              <p:spPr bwMode="auto">
                <a:xfrm>
                  <a:off x="960" y="2880"/>
                  <a:ext cx="48" cy="0"/>
                </a:xfrm>
                <a:prstGeom prst="line">
                  <a:avLst/>
                </a:prstGeom>
                <a:noFill/>
                <a:ln w="9525">
                  <a:solidFill>
                    <a:schemeClr val="tx1"/>
                  </a:solidFill>
                  <a:round/>
                  <a:headEnd/>
                  <a:tailEnd/>
                </a:ln>
              </p:spPr>
              <p:txBody>
                <a:bodyPr/>
                <a:lstStyle/>
                <a:p>
                  <a:endParaRPr lang="en-US"/>
                </a:p>
              </p:txBody>
            </p:sp>
            <p:sp>
              <p:nvSpPr>
                <p:cNvPr id="30778" name="Line 16"/>
                <p:cNvSpPr>
                  <a:spLocks noChangeShapeType="1"/>
                </p:cNvSpPr>
                <p:nvPr/>
              </p:nvSpPr>
              <p:spPr bwMode="auto">
                <a:xfrm>
                  <a:off x="960" y="3552"/>
                  <a:ext cx="48" cy="0"/>
                </a:xfrm>
                <a:prstGeom prst="line">
                  <a:avLst/>
                </a:prstGeom>
                <a:noFill/>
                <a:ln w="9525">
                  <a:solidFill>
                    <a:schemeClr val="tx1"/>
                  </a:solidFill>
                  <a:round/>
                  <a:headEnd/>
                  <a:tailEnd/>
                </a:ln>
              </p:spPr>
              <p:txBody>
                <a:bodyPr/>
                <a:lstStyle/>
                <a:p>
                  <a:endParaRPr lang="en-US"/>
                </a:p>
              </p:txBody>
            </p:sp>
          </p:grpSp>
          <p:grpSp>
            <p:nvGrpSpPr>
              <p:cNvPr id="8" name="Group 17"/>
              <p:cNvGrpSpPr>
                <a:grpSpLocks/>
              </p:cNvGrpSpPr>
              <p:nvPr/>
            </p:nvGrpSpPr>
            <p:grpSpPr bwMode="auto">
              <a:xfrm flipH="1">
                <a:off x="2514600" y="3095625"/>
                <a:ext cx="76200" cy="1066800"/>
                <a:chOff x="960" y="2880"/>
                <a:chExt cx="48" cy="672"/>
              </a:xfrm>
            </p:grpSpPr>
            <p:sp>
              <p:nvSpPr>
                <p:cNvPr id="30773" name="Line 18"/>
                <p:cNvSpPr>
                  <a:spLocks noChangeShapeType="1"/>
                </p:cNvSpPr>
                <p:nvPr/>
              </p:nvSpPr>
              <p:spPr bwMode="auto">
                <a:xfrm>
                  <a:off x="960" y="2880"/>
                  <a:ext cx="0" cy="672"/>
                </a:xfrm>
                <a:prstGeom prst="line">
                  <a:avLst/>
                </a:prstGeom>
                <a:noFill/>
                <a:ln w="9525">
                  <a:solidFill>
                    <a:schemeClr val="tx1"/>
                  </a:solidFill>
                  <a:round/>
                  <a:headEnd/>
                  <a:tailEnd/>
                </a:ln>
              </p:spPr>
              <p:txBody>
                <a:bodyPr/>
                <a:lstStyle/>
                <a:p>
                  <a:endParaRPr lang="en-US"/>
                </a:p>
              </p:txBody>
            </p:sp>
            <p:sp>
              <p:nvSpPr>
                <p:cNvPr id="30774" name="Line 19"/>
                <p:cNvSpPr>
                  <a:spLocks noChangeShapeType="1"/>
                </p:cNvSpPr>
                <p:nvPr/>
              </p:nvSpPr>
              <p:spPr bwMode="auto">
                <a:xfrm>
                  <a:off x="960" y="2880"/>
                  <a:ext cx="48" cy="0"/>
                </a:xfrm>
                <a:prstGeom prst="line">
                  <a:avLst/>
                </a:prstGeom>
                <a:noFill/>
                <a:ln w="9525">
                  <a:solidFill>
                    <a:schemeClr val="tx1"/>
                  </a:solidFill>
                  <a:round/>
                  <a:headEnd/>
                  <a:tailEnd/>
                </a:ln>
              </p:spPr>
              <p:txBody>
                <a:bodyPr/>
                <a:lstStyle/>
                <a:p>
                  <a:endParaRPr lang="en-US"/>
                </a:p>
              </p:txBody>
            </p:sp>
            <p:sp>
              <p:nvSpPr>
                <p:cNvPr id="30775" name="Line 20"/>
                <p:cNvSpPr>
                  <a:spLocks noChangeShapeType="1"/>
                </p:cNvSpPr>
                <p:nvPr/>
              </p:nvSpPr>
              <p:spPr bwMode="auto">
                <a:xfrm>
                  <a:off x="960" y="3552"/>
                  <a:ext cx="48" cy="0"/>
                </a:xfrm>
                <a:prstGeom prst="line">
                  <a:avLst/>
                </a:prstGeom>
                <a:noFill/>
                <a:ln w="9525">
                  <a:solidFill>
                    <a:schemeClr val="tx1"/>
                  </a:solidFill>
                  <a:round/>
                  <a:headEnd/>
                  <a:tailEnd/>
                </a:ln>
              </p:spPr>
              <p:txBody>
                <a:bodyPr/>
                <a:lstStyle/>
                <a:p>
                  <a:endParaRPr lang="en-US"/>
                </a:p>
              </p:txBody>
            </p:sp>
          </p:grpSp>
          <p:sp>
            <p:nvSpPr>
              <p:cNvPr id="30762" name="Line 29"/>
              <p:cNvSpPr>
                <a:spLocks noChangeShapeType="1"/>
              </p:cNvSpPr>
              <p:nvPr/>
            </p:nvSpPr>
            <p:spPr bwMode="auto">
              <a:xfrm>
                <a:off x="2743200" y="3248025"/>
                <a:ext cx="228600" cy="0"/>
              </a:xfrm>
              <a:prstGeom prst="line">
                <a:avLst/>
              </a:prstGeom>
              <a:noFill/>
              <a:ln w="9525">
                <a:solidFill>
                  <a:schemeClr val="tx1"/>
                </a:solidFill>
                <a:round/>
                <a:headEnd/>
                <a:tailEnd type="triangle" w="med" len="med"/>
              </a:ln>
            </p:spPr>
            <p:txBody>
              <a:bodyPr/>
              <a:lstStyle/>
              <a:p>
                <a:endParaRPr lang="en-US"/>
              </a:p>
            </p:txBody>
          </p:sp>
          <p:sp>
            <p:nvSpPr>
              <p:cNvPr id="30763" name="Text Box 36"/>
              <p:cNvSpPr txBox="1">
                <a:spLocks noChangeArrowheads="1"/>
              </p:cNvSpPr>
              <p:nvPr/>
            </p:nvSpPr>
            <p:spPr bwMode="auto">
              <a:xfrm>
                <a:off x="4267200" y="3200400"/>
                <a:ext cx="502061" cy="400110"/>
              </a:xfrm>
              <a:prstGeom prst="rect">
                <a:avLst/>
              </a:prstGeom>
              <a:noFill/>
              <a:ln w="9525">
                <a:noFill/>
                <a:miter lim="800000"/>
                <a:headEnd/>
                <a:tailEnd/>
              </a:ln>
            </p:spPr>
            <p:txBody>
              <a:bodyPr wrap="none">
                <a:spAutoFit/>
              </a:bodyPr>
              <a:lstStyle/>
              <a:p>
                <a:pPr eaLnBrk="0" hangingPunct="0"/>
                <a:r>
                  <a:rPr lang="en-US" i="1">
                    <a:solidFill>
                      <a:schemeClr val="tx1"/>
                    </a:solidFill>
                    <a:latin typeface="Calibri" pitchFamily="34" charset="0"/>
                  </a:rPr>
                  <a:t>R</a:t>
                </a:r>
                <a:r>
                  <a:rPr lang="en-US" i="1" baseline="-25000">
                    <a:solidFill>
                      <a:schemeClr val="tx1"/>
                    </a:solidFill>
                    <a:latin typeface="Calibri" pitchFamily="34" charset="0"/>
                  </a:rPr>
                  <a:t>01</a:t>
                </a:r>
              </a:p>
            </p:txBody>
          </p:sp>
          <p:sp>
            <p:nvSpPr>
              <p:cNvPr id="30764" name="Text Box 42"/>
              <p:cNvSpPr txBox="1">
                <a:spLocks noChangeArrowheads="1"/>
              </p:cNvSpPr>
              <p:nvPr/>
            </p:nvSpPr>
            <p:spPr bwMode="auto">
              <a:xfrm>
                <a:off x="5562601" y="3400425"/>
                <a:ext cx="502061" cy="400110"/>
              </a:xfrm>
              <a:prstGeom prst="rect">
                <a:avLst/>
              </a:prstGeom>
              <a:noFill/>
              <a:ln w="9525">
                <a:noFill/>
                <a:miter lim="800000"/>
                <a:headEnd/>
                <a:tailEnd/>
              </a:ln>
            </p:spPr>
            <p:txBody>
              <a:bodyPr wrap="none">
                <a:spAutoFit/>
              </a:bodyPr>
              <a:lstStyle/>
              <a:p>
                <a:pPr eaLnBrk="0" hangingPunct="0"/>
                <a:r>
                  <a:rPr lang="en-US" i="1">
                    <a:solidFill>
                      <a:schemeClr val="tx1"/>
                    </a:solidFill>
                    <a:latin typeface="Calibri" pitchFamily="34" charset="0"/>
                  </a:rPr>
                  <a:t>R</a:t>
                </a:r>
                <a:r>
                  <a:rPr lang="en-US" i="1" baseline="-25000">
                    <a:solidFill>
                      <a:schemeClr val="tx1"/>
                    </a:solidFill>
                    <a:latin typeface="Calibri" pitchFamily="34" charset="0"/>
                  </a:rPr>
                  <a:t>02</a:t>
                </a:r>
              </a:p>
            </p:txBody>
          </p:sp>
          <p:sp>
            <p:nvSpPr>
              <p:cNvPr id="30765" name="Text Box 33"/>
              <p:cNvSpPr txBox="1">
                <a:spLocks noChangeArrowheads="1"/>
              </p:cNvSpPr>
              <p:nvPr/>
            </p:nvSpPr>
            <p:spPr bwMode="auto">
              <a:xfrm>
                <a:off x="3124200" y="3048000"/>
                <a:ext cx="502061" cy="400110"/>
              </a:xfrm>
              <a:prstGeom prst="rect">
                <a:avLst/>
              </a:prstGeom>
              <a:noFill/>
              <a:ln w="9525">
                <a:noFill/>
                <a:miter lim="800000"/>
                <a:headEnd/>
                <a:tailEnd/>
              </a:ln>
            </p:spPr>
            <p:txBody>
              <a:bodyPr wrap="none">
                <a:spAutoFit/>
              </a:bodyPr>
              <a:lstStyle/>
              <a:p>
                <a:pPr eaLnBrk="0" hangingPunct="0"/>
                <a:r>
                  <a:rPr lang="en-US" i="1">
                    <a:solidFill>
                      <a:schemeClr val="tx1"/>
                    </a:solidFill>
                    <a:latin typeface="Calibri" pitchFamily="34" charset="0"/>
                  </a:rPr>
                  <a:t>R</a:t>
                </a:r>
                <a:r>
                  <a:rPr lang="en-US" i="1" baseline="-25000">
                    <a:solidFill>
                      <a:schemeClr val="tx1"/>
                    </a:solidFill>
                    <a:latin typeface="Calibri" pitchFamily="34" charset="0"/>
                  </a:rPr>
                  <a:t>00</a:t>
                </a:r>
              </a:p>
            </p:txBody>
          </p:sp>
          <p:cxnSp>
            <p:nvCxnSpPr>
              <p:cNvPr id="73" name="Straight Arrow Connector 72"/>
              <p:cNvCxnSpPr/>
              <p:nvPr/>
            </p:nvCxnSpPr>
            <p:spPr>
              <a:xfrm flipV="1">
                <a:off x="2743274" y="3429992"/>
                <a:ext cx="1447836" cy="76261"/>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75" name="Straight Arrow Connector 74"/>
              <p:cNvCxnSpPr>
                <a:stCxn id="30765" idx="3"/>
              </p:cNvCxnSpPr>
              <p:nvPr/>
            </p:nvCxnSpPr>
            <p:spPr>
              <a:xfrm>
                <a:off x="3625946" y="3248873"/>
                <a:ext cx="565164" cy="10485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77" name="Straight Arrow Connector 76"/>
              <p:cNvCxnSpPr/>
              <p:nvPr/>
            </p:nvCxnSpPr>
            <p:spPr>
              <a:xfrm>
                <a:off x="4749924" y="3463357"/>
                <a:ext cx="736618" cy="11915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1" name="Straight Arrow Connector 80"/>
              <p:cNvCxnSpPr/>
              <p:nvPr/>
            </p:nvCxnSpPr>
            <p:spPr>
              <a:xfrm flipV="1">
                <a:off x="2743274" y="3658774"/>
                <a:ext cx="2743268" cy="152521"/>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0770" name="Text Box 42"/>
              <p:cNvSpPr txBox="1">
                <a:spLocks noChangeArrowheads="1"/>
              </p:cNvSpPr>
              <p:nvPr/>
            </p:nvSpPr>
            <p:spPr bwMode="auto">
              <a:xfrm>
                <a:off x="6756176" y="3581400"/>
                <a:ext cx="502061" cy="400110"/>
              </a:xfrm>
              <a:prstGeom prst="rect">
                <a:avLst/>
              </a:prstGeom>
              <a:noFill/>
              <a:ln w="9525">
                <a:noFill/>
                <a:miter lim="800000"/>
                <a:headEnd/>
                <a:tailEnd/>
              </a:ln>
            </p:spPr>
            <p:txBody>
              <a:bodyPr wrap="none">
                <a:spAutoFit/>
              </a:bodyPr>
              <a:lstStyle/>
              <a:p>
                <a:pPr eaLnBrk="0" hangingPunct="0"/>
                <a:r>
                  <a:rPr lang="en-US" i="1">
                    <a:solidFill>
                      <a:schemeClr val="tx1"/>
                    </a:solidFill>
                    <a:latin typeface="Calibri" pitchFamily="34" charset="0"/>
                  </a:rPr>
                  <a:t>R</a:t>
                </a:r>
                <a:r>
                  <a:rPr lang="en-US" i="1" baseline="-25000">
                    <a:solidFill>
                      <a:schemeClr val="tx1"/>
                    </a:solidFill>
                    <a:latin typeface="Calibri" pitchFamily="34" charset="0"/>
                  </a:rPr>
                  <a:t>03</a:t>
                </a:r>
              </a:p>
            </p:txBody>
          </p:sp>
          <p:cxnSp>
            <p:nvCxnSpPr>
              <p:cNvPr id="83" name="Straight Arrow Connector 82"/>
              <p:cNvCxnSpPr/>
              <p:nvPr/>
            </p:nvCxnSpPr>
            <p:spPr>
              <a:xfrm>
                <a:off x="6019956" y="3658774"/>
                <a:ext cx="736618" cy="11915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5" name="Straight Arrow Connector 84"/>
              <p:cNvCxnSpPr/>
              <p:nvPr/>
            </p:nvCxnSpPr>
            <p:spPr>
              <a:xfrm flipV="1">
                <a:off x="2743274" y="3887556"/>
                <a:ext cx="4038701" cy="152521"/>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grpSp>
        <p:sp>
          <p:nvSpPr>
            <p:cNvPr id="30757" name="TextBox 87"/>
            <p:cNvSpPr txBox="1">
              <a:spLocks noChangeArrowheads="1"/>
            </p:cNvSpPr>
            <p:nvPr/>
          </p:nvSpPr>
          <p:spPr bwMode="auto">
            <a:xfrm>
              <a:off x="228600" y="3200400"/>
              <a:ext cx="1828800" cy="461665"/>
            </a:xfrm>
            <a:prstGeom prst="rect">
              <a:avLst/>
            </a:prstGeom>
            <a:noFill/>
            <a:ln w="9525">
              <a:noFill/>
              <a:miter lim="800000"/>
              <a:headEnd/>
              <a:tailEnd/>
            </a:ln>
          </p:spPr>
          <p:txBody>
            <a:bodyPr>
              <a:spAutoFit/>
            </a:bodyPr>
            <a:lstStyle/>
            <a:p>
              <a:pPr eaLnBrk="0" hangingPunct="0"/>
              <a:r>
                <a:rPr lang="en-US" sz="2400">
                  <a:solidFill>
                    <a:schemeClr val="tx1"/>
                  </a:solidFill>
                  <a:latin typeface="Calibri" pitchFamily="34" charset="0"/>
                </a:rPr>
                <a:t>Sequential:</a:t>
              </a:r>
            </a:p>
          </p:txBody>
        </p:sp>
      </p:grpSp>
      <p:grpSp>
        <p:nvGrpSpPr>
          <p:cNvPr id="9" name="Group 148"/>
          <p:cNvGrpSpPr>
            <a:grpSpLocks/>
          </p:cNvGrpSpPr>
          <p:nvPr/>
        </p:nvGrpSpPr>
        <p:grpSpPr bwMode="auto">
          <a:xfrm>
            <a:off x="228600" y="4049713"/>
            <a:ext cx="6978650" cy="1323975"/>
            <a:chOff x="304800" y="4515567"/>
            <a:chExt cx="6979077" cy="1323439"/>
          </a:xfrm>
        </p:grpSpPr>
        <p:grpSp>
          <p:nvGrpSpPr>
            <p:cNvPr id="10" name="Group 145"/>
            <p:cNvGrpSpPr>
              <a:grpSpLocks/>
            </p:cNvGrpSpPr>
            <p:nvPr/>
          </p:nvGrpSpPr>
          <p:grpSpPr bwMode="auto">
            <a:xfrm>
              <a:off x="1981200" y="4515567"/>
              <a:ext cx="5302677" cy="1323439"/>
              <a:chOff x="1981200" y="4515567"/>
              <a:chExt cx="5302677" cy="1323439"/>
            </a:xfrm>
          </p:grpSpPr>
          <p:sp>
            <p:nvSpPr>
              <p:cNvPr id="30730" name="Text Box 11"/>
              <p:cNvSpPr txBox="1">
                <a:spLocks noChangeArrowheads="1"/>
              </p:cNvSpPr>
              <p:nvPr/>
            </p:nvSpPr>
            <p:spPr bwMode="auto">
              <a:xfrm>
                <a:off x="1981200" y="4924425"/>
                <a:ext cx="685800" cy="400110"/>
              </a:xfrm>
              <a:prstGeom prst="rect">
                <a:avLst/>
              </a:prstGeom>
              <a:noFill/>
              <a:ln w="9525">
                <a:noFill/>
                <a:miter lim="800000"/>
                <a:headEnd/>
                <a:tailEnd/>
              </a:ln>
            </p:spPr>
            <p:txBody>
              <a:bodyPr>
                <a:spAutoFit/>
              </a:bodyPr>
              <a:lstStyle/>
              <a:p>
                <a:pPr eaLnBrk="0" hangingPunct="0"/>
                <a:r>
                  <a:rPr lang="en-US" i="1">
                    <a:solidFill>
                      <a:schemeClr val="tx1"/>
                    </a:solidFill>
                    <a:latin typeface="Calibri" pitchFamily="34" charset="0"/>
                  </a:rPr>
                  <a:t>W</a:t>
                </a:r>
                <a:r>
                  <a:rPr lang="en-US">
                    <a:solidFill>
                      <a:schemeClr val="tx1"/>
                    </a:solidFill>
                    <a:latin typeface="Calibri" pitchFamily="34" charset="0"/>
                  </a:rPr>
                  <a:t> = </a:t>
                </a:r>
              </a:p>
            </p:txBody>
          </p:sp>
          <p:sp>
            <p:nvSpPr>
              <p:cNvPr id="30731" name="Text Box 12"/>
              <p:cNvSpPr txBox="1">
                <a:spLocks noChangeArrowheads="1"/>
              </p:cNvSpPr>
              <p:nvPr/>
            </p:nvSpPr>
            <p:spPr bwMode="auto">
              <a:xfrm>
                <a:off x="2574925" y="4515567"/>
                <a:ext cx="503680" cy="1323439"/>
              </a:xfrm>
              <a:prstGeom prst="rect">
                <a:avLst/>
              </a:prstGeom>
              <a:noFill/>
              <a:ln w="9525">
                <a:noFill/>
                <a:miter lim="800000"/>
                <a:headEnd/>
                <a:tailEnd/>
              </a:ln>
            </p:spPr>
            <p:txBody>
              <a:bodyPr wrap="none">
                <a:spAutoFit/>
              </a:bodyPr>
              <a:lstStyle/>
              <a:p>
                <a:pPr eaLnBrk="0" hangingPunct="0"/>
                <a:r>
                  <a:rPr lang="en-US" i="1">
                    <a:solidFill>
                      <a:schemeClr val="tx1"/>
                    </a:solidFill>
                    <a:latin typeface="Calibri" pitchFamily="34" charset="0"/>
                  </a:rPr>
                  <a:t>W</a:t>
                </a:r>
                <a:r>
                  <a:rPr lang="en-US" i="1" baseline="-25000">
                    <a:solidFill>
                      <a:schemeClr val="tx1"/>
                    </a:solidFill>
                    <a:latin typeface="Calibri" pitchFamily="34" charset="0"/>
                  </a:rPr>
                  <a:t>0</a:t>
                </a:r>
              </a:p>
              <a:p>
                <a:pPr eaLnBrk="0" hangingPunct="0"/>
                <a:r>
                  <a:rPr lang="en-US" i="1">
                    <a:solidFill>
                      <a:schemeClr val="tx1"/>
                    </a:solidFill>
                    <a:latin typeface="Calibri" pitchFamily="34" charset="0"/>
                  </a:rPr>
                  <a:t>W</a:t>
                </a:r>
                <a:r>
                  <a:rPr lang="en-US" i="1" baseline="-25000">
                    <a:solidFill>
                      <a:schemeClr val="tx1"/>
                    </a:solidFill>
                    <a:latin typeface="Calibri" pitchFamily="34" charset="0"/>
                  </a:rPr>
                  <a:t>1</a:t>
                </a:r>
              </a:p>
              <a:p>
                <a:pPr eaLnBrk="0" hangingPunct="0"/>
                <a:r>
                  <a:rPr lang="en-US" i="1">
                    <a:solidFill>
                      <a:schemeClr val="tx1"/>
                    </a:solidFill>
                    <a:latin typeface="Calibri" pitchFamily="34" charset="0"/>
                  </a:rPr>
                  <a:t>W</a:t>
                </a:r>
                <a:r>
                  <a:rPr lang="en-US" i="1" baseline="-25000">
                    <a:solidFill>
                      <a:schemeClr val="tx1"/>
                    </a:solidFill>
                    <a:latin typeface="Calibri" pitchFamily="34" charset="0"/>
                  </a:rPr>
                  <a:t>2</a:t>
                </a:r>
              </a:p>
              <a:p>
                <a:pPr eaLnBrk="0" hangingPunct="0"/>
                <a:r>
                  <a:rPr lang="en-US" i="1">
                    <a:solidFill>
                      <a:schemeClr val="tx1"/>
                    </a:solidFill>
                    <a:latin typeface="Calibri" pitchFamily="34" charset="0"/>
                  </a:rPr>
                  <a:t>W</a:t>
                </a:r>
                <a:r>
                  <a:rPr lang="en-US" i="1" baseline="-25000">
                    <a:solidFill>
                      <a:schemeClr val="tx1"/>
                    </a:solidFill>
                    <a:latin typeface="Calibri" pitchFamily="34" charset="0"/>
                  </a:rPr>
                  <a:t>3</a:t>
                </a:r>
              </a:p>
            </p:txBody>
          </p:sp>
          <p:grpSp>
            <p:nvGrpSpPr>
              <p:cNvPr id="11" name="Group 13"/>
              <p:cNvGrpSpPr>
                <a:grpSpLocks/>
              </p:cNvGrpSpPr>
              <p:nvPr/>
            </p:nvGrpSpPr>
            <p:grpSpPr bwMode="auto">
              <a:xfrm>
                <a:off x="2514600" y="4619625"/>
                <a:ext cx="76200" cy="1066800"/>
                <a:chOff x="960" y="2880"/>
                <a:chExt cx="48" cy="672"/>
              </a:xfrm>
            </p:grpSpPr>
            <p:sp>
              <p:nvSpPr>
                <p:cNvPr id="30753" name="Line 14"/>
                <p:cNvSpPr>
                  <a:spLocks noChangeShapeType="1"/>
                </p:cNvSpPr>
                <p:nvPr/>
              </p:nvSpPr>
              <p:spPr bwMode="auto">
                <a:xfrm>
                  <a:off x="960" y="2880"/>
                  <a:ext cx="0" cy="672"/>
                </a:xfrm>
                <a:prstGeom prst="line">
                  <a:avLst/>
                </a:prstGeom>
                <a:noFill/>
                <a:ln w="9525">
                  <a:solidFill>
                    <a:schemeClr val="tx1"/>
                  </a:solidFill>
                  <a:round/>
                  <a:headEnd/>
                  <a:tailEnd/>
                </a:ln>
              </p:spPr>
              <p:txBody>
                <a:bodyPr/>
                <a:lstStyle/>
                <a:p>
                  <a:endParaRPr lang="en-US"/>
                </a:p>
              </p:txBody>
            </p:sp>
            <p:sp>
              <p:nvSpPr>
                <p:cNvPr id="30754" name="Line 15"/>
                <p:cNvSpPr>
                  <a:spLocks noChangeShapeType="1"/>
                </p:cNvSpPr>
                <p:nvPr/>
              </p:nvSpPr>
              <p:spPr bwMode="auto">
                <a:xfrm>
                  <a:off x="960" y="2880"/>
                  <a:ext cx="48" cy="0"/>
                </a:xfrm>
                <a:prstGeom prst="line">
                  <a:avLst/>
                </a:prstGeom>
                <a:noFill/>
                <a:ln w="9525">
                  <a:solidFill>
                    <a:schemeClr val="tx1"/>
                  </a:solidFill>
                  <a:round/>
                  <a:headEnd/>
                  <a:tailEnd/>
                </a:ln>
              </p:spPr>
              <p:txBody>
                <a:bodyPr/>
                <a:lstStyle/>
                <a:p>
                  <a:endParaRPr lang="en-US"/>
                </a:p>
              </p:txBody>
            </p:sp>
            <p:sp>
              <p:nvSpPr>
                <p:cNvPr id="30755" name="Line 16"/>
                <p:cNvSpPr>
                  <a:spLocks noChangeShapeType="1"/>
                </p:cNvSpPr>
                <p:nvPr/>
              </p:nvSpPr>
              <p:spPr bwMode="auto">
                <a:xfrm>
                  <a:off x="960" y="3552"/>
                  <a:ext cx="48" cy="0"/>
                </a:xfrm>
                <a:prstGeom prst="line">
                  <a:avLst/>
                </a:prstGeom>
                <a:noFill/>
                <a:ln w="9525">
                  <a:solidFill>
                    <a:schemeClr val="tx1"/>
                  </a:solidFill>
                  <a:round/>
                  <a:headEnd/>
                  <a:tailEnd/>
                </a:ln>
              </p:spPr>
              <p:txBody>
                <a:bodyPr/>
                <a:lstStyle/>
                <a:p>
                  <a:endParaRPr lang="en-US"/>
                </a:p>
              </p:txBody>
            </p:sp>
          </p:grpSp>
          <p:grpSp>
            <p:nvGrpSpPr>
              <p:cNvPr id="12" name="Group 17"/>
              <p:cNvGrpSpPr>
                <a:grpSpLocks/>
              </p:cNvGrpSpPr>
              <p:nvPr/>
            </p:nvGrpSpPr>
            <p:grpSpPr bwMode="auto">
              <a:xfrm flipH="1">
                <a:off x="3048000" y="4619625"/>
                <a:ext cx="76200" cy="1066800"/>
                <a:chOff x="960" y="2880"/>
                <a:chExt cx="48" cy="672"/>
              </a:xfrm>
            </p:grpSpPr>
            <p:sp>
              <p:nvSpPr>
                <p:cNvPr id="30750" name="Line 18"/>
                <p:cNvSpPr>
                  <a:spLocks noChangeShapeType="1"/>
                </p:cNvSpPr>
                <p:nvPr/>
              </p:nvSpPr>
              <p:spPr bwMode="auto">
                <a:xfrm>
                  <a:off x="960" y="2880"/>
                  <a:ext cx="0" cy="672"/>
                </a:xfrm>
                <a:prstGeom prst="line">
                  <a:avLst/>
                </a:prstGeom>
                <a:noFill/>
                <a:ln w="9525">
                  <a:solidFill>
                    <a:schemeClr val="tx1"/>
                  </a:solidFill>
                  <a:round/>
                  <a:headEnd/>
                  <a:tailEnd/>
                </a:ln>
              </p:spPr>
              <p:txBody>
                <a:bodyPr/>
                <a:lstStyle/>
                <a:p>
                  <a:endParaRPr lang="en-US"/>
                </a:p>
              </p:txBody>
            </p:sp>
            <p:sp>
              <p:nvSpPr>
                <p:cNvPr id="30751" name="Line 19"/>
                <p:cNvSpPr>
                  <a:spLocks noChangeShapeType="1"/>
                </p:cNvSpPr>
                <p:nvPr/>
              </p:nvSpPr>
              <p:spPr bwMode="auto">
                <a:xfrm>
                  <a:off x="960" y="2880"/>
                  <a:ext cx="48" cy="0"/>
                </a:xfrm>
                <a:prstGeom prst="line">
                  <a:avLst/>
                </a:prstGeom>
                <a:noFill/>
                <a:ln w="9525">
                  <a:solidFill>
                    <a:schemeClr val="tx1"/>
                  </a:solidFill>
                  <a:round/>
                  <a:headEnd/>
                  <a:tailEnd/>
                </a:ln>
              </p:spPr>
              <p:txBody>
                <a:bodyPr/>
                <a:lstStyle/>
                <a:p>
                  <a:endParaRPr lang="en-US"/>
                </a:p>
              </p:txBody>
            </p:sp>
            <p:sp>
              <p:nvSpPr>
                <p:cNvPr id="30752" name="Line 20"/>
                <p:cNvSpPr>
                  <a:spLocks noChangeShapeType="1"/>
                </p:cNvSpPr>
                <p:nvPr/>
              </p:nvSpPr>
              <p:spPr bwMode="auto">
                <a:xfrm>
                  <a:off x="960" y="3552"/>
                  <a:ext cx="48" cy="0"/>
                </a:xfrm>
                <a:prstGeom prst="line">
                  <a:avLst/>
                </a:prstGeom>
                <a:noFill/>
                <a:ln w="9525">
                  <a:solidFill>
                    <a:schemeClr val="tx1"/>
                  </a:solidFill>
                  <a:round/>
                  <a:headEnd/>
                  <a:tailEnd/>
                </a:ln>
              </p:spPr>
              <p:txBody>
                <a:bodyPr/>
                <a:lstStyle/>
                <a:p>
                  <a:endParaRPr lang="en-US"/>
                </a:p>
              </p:txBody>
            </p:sp>
          </p:grpSp>
          <p:sp>
            <p:nvSpPr>
              <p:cNvPr id="30734" name="Line 29"/>
              <p:cNvSpPr>
                <a:spLocks noChangeShapeType="1"/>
              </p:cNvSpPr>
              <p:nvPr/>
            </p:nvSpPr>
            <p:spPr bwMode="auto">
              <a:xfrm>
                <a:off x="3276600" y="4772025"/>
                <a:ext cx="228600" cy="0"/>
              </a:xfrm>
              <a:prstGeom prst="line">
                <a:avLst/>
              </a:prstGeom>
              <a:noFill/>
              <a:ln w="9525">
                <a:solidFill>
                  <a:schemeClr val="tx1"/>
                </a:solidFill>
                <a:round/>
                <a:headEnd/>
                <a:tailEnd type="triangle" w="med" len="med"/>
              </a:ln>
            </p:spPr>
            <p:txBody>
              <a:bodyPr/>
              <a:lstStyle/>
              <a:p>
                <a:endParaRPr lang="en-US"/>
              </a:p>
            </p:txBody>
          </p:sp>
          <p:sp>
            <p:nvSpPr>
              <p:cNvPr id="30735" name="Line 30"/>
              <p:cNvSpPr>
                <a:spLocks noChangeShapeType="1"/>
              </p:cNvSpPr>
              <p:nvPr/>
            </p:nvSpPr>
            <p:spPr bwMode="auto">
              <a:xfrm>
                <a:off x="3276600" y="5000625"/>
                <a:ext cx="228600" cy="0"/>
              </a:xfrm>
              <a:prstGeom prst="line">
                <a:avLst/>
              </a:prstGeom>
              <a:noFill/>
              <a:ln w="9525">
                <a:solidFill>
                  <a:schemeClr val="tx1"/>
                </a:solidFill>
                <a:round/>
                <a:headEnd/>
                <a:tailEnd type="triangle" w="med" len="med"/>
              </a:ln>
            </p:spPr>
            <p:txBody>
              <a:bodyPr/>
              <a:lstStyle/>
              <a:p>
                <a:endParaRPr lang="en-US"/>
              </a:p>
            </p:txBody>
          </p:sp>
          <p:sp>
            <p:nvSpPr>
              <p:cNvPr id="30736" name="Text Box 33"/>
              <p:cNvSpPr txBox="1">
                <a:spLocks noChangeArrowheads="1"/>
              </p:cNvSpPr>
              <p:nvPr/>
            </p:nvSpPr>
            <p:spPr bwMode="auto">
              <a:xfrm>
                <a:off x="3733800" y="4572000"/>
                <a:ext cx="502077" cy="707886"/>
              </a:xfrm>
              <a:prstGeom prst="rect">
                <a:avLst/>
              </a:prstGeom>
              <a:noFill/>
              <a:ln w="9525">
                <a:noFill/>
                <a:miter lim="800000"/>
                <a:headEnd/>
                <a:tailEnd/>
              </a:ln>
            </p:spPr>
            <p:txBody>
              <a:bodyPr wrap="none">
                <a:spAutoFit/>
              </a:bodyPr>
              <a:lstStyle/>
              <a:p>
                <a:pPr eaLnBrk="0" hangingPunct="0"/>
                <a:r>
                  <a:rPr lang="en-US" i="1">
                    <a:solidFill>
                      <a:schemeClr val="tx1"/>
                    </a:solidFill>
                    <a:latin typeface="Calibri" pitchFamily="34" charset="0"/>
                  </a:rPr>
                  <a:t>R</a:t>
                </a:r>
                <a:r>
                  <a:rPr lang="en-US" i="1" baseline="-25000">
                    <a:solidFill>
                      <a:schemeClr val="tx1"/>
                    </a:solidFill>
                    <a:latin typeface="Calibri" pitchFamily="34" charset="0"/>
                  </a:rPr>
                  <a:t>00</a:t>
                </a:r>
              </a:p>
              <a:p>
                <a:pPr eaLnBrk="0" hangingPunct="0"/>
                <a:r>
                  <a:rPr lang="en-US" i="1">
                    <a:solidFill>
                      <a:schemeClr val="tx1"/>
                    </a:solidFill>
                    <a:latin typeface="Calibri" pitchFamily="34" charset="0"/>
                  </a:rPr>
                  <a:t>R</a:t>
                </a:r>
                <a:r>
                  <a:rPr lang="en-US" i="1" baseline="-25000">
                    <a:solidFill>
                      <a:schemeClr val="tx1"/>
                    </a:solidFill>
                    <a:latin typeface="Calibri" pitchFamily="34" charset="0"/>
                  </a:rPr>
                  <a:t>01</a:t>
                </a:r>
              </a:p>
            </p:txBody>
          </p:sp>
          <p:sp>
            <p:nvSpPr>
              <p:cNvPr id="30737" name="Text Box 36"/>
              <p:cNvSpPr txBox="1">
                <a:spLocks noChangeArrowheads="1"/>
              </p:cNvSpPr>
              <p:nvPr/>
            </p:nvSpPr>
            <p:spPr bwMode="auto">
              <a:xfrm>
                <a:off x="4800601" y="4736068"/>
                <a:ext cx="502077" cy="400110"/>
              </a:xfrm>
              <a:prstGeom prst="rect">
                <a:avLst/>
              </a:prstGeom>
              <a:noFill/>
              <a:ln w="9525">
                <a:noFill/>
                <a:miter lim="800000"/>
                <a:headEnd/>
                <a:tailEnd/>
              </a:ln>
            </p:spPr>
            <p:txBody>
              <a:bodyPr wrap="none">
                <a:spAutoFit/>
              </a:bodyPr>
              <a:lstStyle/>
              <a:p>
                <a:pPr eaLnBrk="0" hangingPunct="0"/>
                <a:r>
                  <a:rPr lang="en-US" i="1">
                    <a:solidFill>
                      <a:schemeClr val="tx1"/>
                    </a:solidFill>
                    <a:latin typeface="Calibri" pitchFamily="34" charset="0"/>
                  </a:rPr>
                  <a:t>R</a:t>
                </a:r>
                <a:r>
                  <a:rPr lang="en-US" i="1" baseline="-25000">
                    <a:solidFill>
                      <a:schemeClr val="tx1"/>
                    </a:solidFill>
                    <a:latin typeface="Calibri" pitchFamily="34" charset="0"/>
                  </a:rPr>
                  <a:t>01</a:t>
                </a:r>
              </a:p>
            </p:txBody>
          </p:sp>
          <p:sp>
            <p:nvSpPr>
              <p:cNvPr id="30738" name="Text Box 37"/>
              <p:cNvSpPr txBox="1">
                <a:spLocks noChangeArrowheads="1"/>
              </p:cNvSpPr>
              <p:nvPr/>
            </p:nvSpPr>
            <p:spPr bwMode="auto">
              <a:xfrm>
                <a:off x="4800601" y="5116512"/>
                <a:ext cx="502077" cy="400110"/>
              </a:xfrm>
              <a:prstGeom prst="rect">
                <a:avLst/>
              </a:prstGeom>
              <a:noFill/>
              <a:ln w="9525">
                <a:noFill/>
                <a:miter lim="800000"/>
                <a:headEnd/>
                <a:tailEnd/>
              </a:ln>
            </p:spPr>
            <p:txBody>
              <a:bodyPr wrap="none">
                <a:spAutoFit/>
              </a:bodyPr>
              <a:lstStyle/>
              <a:p>
                <a:pPr eaLnBrk="0" hangingPunct="0"/>
                <a:r>
                  <a:rPr lang="en-US" i="1">
                    <a:solidFill>
                      <a:schemeClr val="tx1"/>
                    </a:solidFill>
                    <a:latin typeface="Calibri" pitchFamily="34" charset="0"/>
                  </a:rPr>
                  <a:t>R</a:t>
                </a:r>
                <a:r>
                  <a:rPr lang="en-US" i="1" baseline="-25000">
                    <a:solidFill>
                      <a:schemeClr val="tx1"/>
                    </a:solidFill>
                    <a:latin typeface="Calibri" pitchFamily="34" charset="0"/>
                  </a:rPr>
                  <a:t>11</a:t>
                </a:r>
              </a:p>
            </p:txBody>
          </p:sp>
          <p:sp>
            <p:nvSpPr>
              <p:cNvPr id="30739" name="Text Box 42"/>
              <p:cNvSpPr txBox="1">
                <a:spLocks noChangeArrowheads="1"/>
              </p:cNvSpPr>
              <p:nvPr/>
            </p:nvSpPr>
            <p:spPr bwMode="auto">
              <a:xfrm>
                <a:off x="5867400" y="4953000"/>
                <a:ext cx="502077" cy="400110"/>
              </a:xfrm>
              <a:prstGeom prst="rect">
                <a:avLst/>
              </a:prstGeom>
              <a:noFill/>
              <a:ln w="9525">
                <a:noFill/>
                <a:miter lim="800000"/>
                <a:headEnd/>
                <a:tailEnd/>
              </a:ln>
            </p:spPr>
            <p:txBody>
              <a:bodyPr wrap="none">
                <a:spAutoFit/>
              </a:bodyPr>
              <a:lstStyle/>
              <a:p>
                <a:pPr eaLnBrk="0" hangingPunct="0"/>
                <a:r>
                  <a:rPr lang="en-US" i="1">
                    <a:solidFill>
                      <a:schemeClr val="tx1"/>
                    </a:solidFill>
                    <a:latin typeface="Calibri" pitchFamily="34" charset="0"/>
                  </a:rPr>
                  <a:t>R</a:t>
                </a:r>
                <a:r>
                  <a:rPr lang="en-US" i="1" baseline="-25000">
                    <a:solidFill>
                      <a:schemeClr val="tx1"/>
                    </a:solidFill>
                    <a:latin typeface="Calibri" pitchFamily="34" charset="0"/>
                  </a:rPr>
                  <a:t>02</a:t>
                </a:r>
              </a:p>
            </p:txBody>
          </p:sp>
          <p:cxnSp>
            <p:nvCxnSpPr>
              <p:cNvPr id="123" name="Straight Arrow Connector 122"/>
              <p:cNvCxnSpPr>
                <a:endCxn id="30737" idx="1"/>
              </p:cNvCxnSpPr>
              <p:nvPr/>
            </p:nvCxnSpPr>
            <p:spPr>
              <a:xfrm>
                <a:off x="4267443" y="4801201"/>
                <a:ext cx="533433" cy="134882"/>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27" name="Straight Arrow Connector 126"/>
              <p:cNvCxnSpPr/>
              <p:nvPr/>
            </p:nvCxnSpPr>
            <p:spPr>
              <a:xfrm flipV="1">
                <a:off x="4267443" y="5029709"/>
                <a:ext cx="533433" cy="76169"/>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34" name="Straight Arrow Connector 133"/>
              <p:cNvCxnSpPr/>
              <p:nvPr/>
            </p:nvCxnSpPr>
            <p:spPr>
              <a:xfrm>
                <a:off x="5258103" y="4953540"/>
                <a:ext cx="533433" cy="120601"/>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35" name="Straight Arrow Connector 134"/>
              <p:cNvCxnSpPr/>
              <p:nvPr/>
            </p:nvCxnSpPr>
            <p:spPr>
              <a:xfrm flipV="1">
                <a:off x="5258103" y="5182047"/>
                <a:ext cx="533433" cy="76169"/>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0744" name="Text Box 37"/>
              <p:cNvSpPr txBox="1">
                <a:spLocks noChangeArrowheads="1"/>
              </p:cNvSpPr>
              <p:nvPr/>
            </p:nvSpPr>
            <p:spPr bwMode="auto">
              <a:xfrm>
                <a:off x="5867400" y="5410200"/>
                <a:ext cx="502077" cy="400110"/>
              </a:xfrm>
              <a:prstGeom prst="rect">
                <a:avLst/>
              </a:prstGeom>
              <a:noFill/>
              <a:ln w="9525">
                <a:noFill/>
                <a:miter lim="800000"/>
                <a:headEnd/>
                <a:tailEnd/>
              </a:ln>
            </p:spPr>
            <p:txBody>
              <a:bodyPr wrap="none">
                <a:spAutoFit/>
              </a:bodyPr>
              <a:lstStyle/>
              <a:p>
                <a:pPr eaLnBrk="0" hangingPunct="0"/>
                <a:r>
                  <a:rPr lang="en-US" i="1">
                    <a:solidFill>
                      <a:schemeClr val="tx1"/>
                    </a:solidFill>
                    <a:latin typeface="Calibri" pitchFamily="34" charset="0"/>
                  </a:rPr>
                  <a:t>R</a:t>
                </a:r>
                <a:r>
                  <a:rPr lang="en-US" i="1" baseline="-25000">
                    <a:solidFill>
                      <a:schemeClr val="tx1"/>
                    </a:solidFill>
                    <a:latin typeface="Calibri" pitchFamily="34" charset="0"/>
                  </a:rPr>
                  <a:t>11</a:t>
                </a:r>
              </a:p>
            </p:txBody>
          </p:sp>
          <p:cxnSp>
            <p:nvCxnSpPr>
              <p:cNvPr id="138" name="Straight Arrow Connector 137"/>
              <p:cNvCxnSpPr/>
              <p:nvPr/>
            </p:nvCxnSpPr>
            <p:spPr>
              <a:xfrm>
                <a:off x="3276782" y="5562893"/>
                <a:ext cx="2514754" cy="1586"/>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40" name="Straight Arrow Connector 139"/>
              <p:cNvCxnSpPr>
                <a:endCxn id="30738" idx="1"/>
              </p:cNvCxnSpPr>
              <p:nvPr/>
            </p:nvCxnSpPr>
            <p:spPr>
              <a:xfrm flipV="1">
                <a:off x="3276782" y="5316929"/>
                <a:ext cx="1524093" cy="17456"/>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0747" name="Text Box 42"/>
              <p:cNvSpPr txBox="1">
                <a:spLocks noChangeArrowheads="1"/>
              </p:cNvSpPr>
              <p:nvPr/>
            </p:nvSpPr>
            <p:spPr bwMode="auto">
              <a:xfrm>
                <a:off x="6781800" y="5181600"/>
                <a:ext cx="502077" cy="400110"/>
              </a:xfrm>
              <a:prstGeom prst="rect">
                <a:avLst/>
              </a:prstGeom>
              <a:noFill/>
              <a:ln w="9525">
                <a:noFill/>
                <a:miter lim="800000"/>
                <a:headEnd/>
                <a:tailEnd/>
              </a:ln>
            </p:spPr>
            <p:txBody>
              <a:bodyPr wrap="none">
                <a:spAutoFit/>
              </a:bodyPr>
              <a:lstStyle/>
              <a:p>
                <a:pPr eaLnBrk="0" hangingPunct="0"/>
                <a:r>
                  <a:rPr lang="en-US" i="1">
                    <a:solidFill>
                      <a:schemeClr val="tx1"/>
                    </a:solidFill>
                    <a:latin typeface="Calibri" pitchFamily="34" charset="0"/>
                  </a:rPr>
                  <a:t>R</a:t>
                </a:r>
                <a:r>
                  <a:rPr lang="en-US" i="1" baseline="-25000">
                    <a:solidFill>
                      <a:schemeClr val="tx1"/>
                    </a:solidFill>
                    <a:latin typeface="Calibri" pitchFamily="34" charset="0"/>
                  </a:rPr>
                  <a:t>03</a:t>
                </a:r>
              </a:p>
            </p:txBody>
          </p:sp>
          <p:cxnSp>
            <p:nvCxnSpPr>
              <p:cNvPr id="142" name="Straight Arrow Connector 141"/>
              <p:cNvCxnSpPr/>
              <p:nvPr/>
            </p:nvCxnSpPr>
            <p:spPr>
              <a:xfrm>
                <a:off x="6324968" y="5258216"/>
                <a:ext cx="533433" cy="120601"/>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43" name="Straight Arrow Connector 142"/>
              <p:cNvCxnSpPr/>
              <p:nvPr/>
            </p:nvCxnSpPr>
            <p:spPr>
              <a:xfrm flipV="1">
                <a:off x="6324968" y="5486724"/>
                <a:ext cx="533433" cy="76169"/>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grpSp>
        <p:sp>
          <p:nvSpPr>
            <p:cNvPr id="30729" name="TextBox 143"/>
            <p:cNvSpPr txBox="1">
              <a:spLocks noChangeArrowheads="1"/>
            </p:cNvSpPr>
            <p:nvPr/>
          </p:nvSpPr>
          <p:spPr bwMode="auto">
            <a:xfrm>
              <a:off x="304800" y="4800600"/>
              <a:ext cx="1905000" cy="461665"/>
            </a:xfrm>
            <a:prstGeom prst="rect">
              <a:avLst/>
            </a:prstGeom>
            <a:noFill/>
            <a:ln w="9525">
              <a:noFill/>
              <a:miter lim="800000"/>
              <a:headEnd/>
              <a:tailEnd/>
            </a:ln>
          </p:spPr>
          <p:txBody>
            <a:bodyPr>
              <a:spAutoFit/>
            </a:bodyPr>
            <a:lstStyle/>
            <a:p>
              <a:pPr eaLnBrk="0" hangingPunct="0"/>
              <a:r>
                <a:rPr lang="en-US" sz="2400">
                  <a:solidFill>
                    <a:schemeClr val="tx1"/>
                  </a:solidFill>
                  <a:latin typeface="Calibri" pitchFamily="34" charset="0"/>
                </a:rPr>
                <a:t>Dual Core:</a:t>
              </a:r>
            </a:p>
          </p:txBody>
        </p:sp>
      </p:grpSp>
      <p:sp>
        <p:nvSpPr>
          <p:cNvPr id="145" name="TextBox 144"/>
          <p:cNvSpPr txBox="1">
            <a:spLocks noChangeArrowheads="1"/>
          </p:cNvSpPr>
          <p:nvPr/>
        </p:nvSpPr>
        <p:spPr bwMode="auto">
          <a:xfrm>
            <a:off x="1727057" y="6018213"/>
            <a:ext cx="5026312" cy="461665"/>
          </a:xfrm>
          <a:prstGeom prst="rect">
            <a:avLst/>
          </a:prstGeom>
          <a:noFill/>
          <a:ln w="9525">
            <a:noFill/>
            <a:miter lim="800000"/>
            <a:headEnd/>
            <a:tailEnd/>
          </a:ln>
        </p:spPr>
        <p:txBody>
          <a:bodyPr wrap="none">
            <a:spAutoFit/>
          </a:bodyPr>
          <a:lstStyle/>
          <a:p>
            <a:pPr algn="ctr" eaLnBrk="0" hangingPunct="0"/>
            <a:r>
              <a:rPr lang="en-US" sz="2400" dirty="0">
                <a:latin typeface="Calibri" pitchFamily="34" charset="0"/>
              </a:rPr>
              <a:t>Can </a:t>
            </a:r>
            <a:r>
              <a:rPr lang="en-US" sz="2400" dirty="0" smtClean="0">
                <a:latin typeface="Calibri" pitchFamily="34" charset="0"/>
              </a:rPr>
              <a:t>choose </a:t>
            </a:r>
            <a:r>
              <a:rPr lang="en-US" sz="2400" dirty="0">
                <a:latin typeface="Calibri" pitchFamily="34" charset="0"/>
              </a:rPr>
              <a:t>reduction tree dynamically</a:t>
            </a:r>
          </a:p>
        </p:txBody>
      </p:sp>
      <p:sp>
        <p:nvSpPr>
          <p:cNvPr id="150" name="TextBox 149"/>
          <p:cNvSpPr txBox="1">
            <a:spLocks noChangeArrowheads="1"/>
          </p:cNvSpPr>
          <p:nvPr/>
        </p:nvSpPr>
        <p:spPr bwMode="auto">
          <a:xfrm>
            <a:off x="685800" y="5537200"/>
            <a:ext cx="7942263" cy="461963"/>
          </a:xfrm>
          <a:prstGeom prst="rect">
            <a:avLst/>
          </a:prstGeom>
          <a:noFill/>
          <a:ln w="9525">
            <a:noFill/>
            <a:miter lim="800000"/>
            <a:headEnd/>
            <a:tailEnd/>
          </a:ln>
        </p:spPr>
        <p:txBody>
          <a:bodyPr wrap="none">
            <a:spAutoFit/>
          </a:bodyPr>
          <a:lstStyle/>
          <a:p>
            <a:pPr eaLnBrk="0" hangingPunct="0"/>
            <a:r>
              <a:rPr lang="en-US" sz="2400">
                <a:latin typeface="Calibri" pitchFamily="34" charset="0"/>
              </a:rPr>
              <a:t>Multicore / Multisocket / Multirack / Multisite / Out-of-core:  ?</a:t>
            </a:r>
          </a:p>
        </p:txBody>
      </p:sp>
      <p:cxnSp>
        <p:nvCxnSpPr>
          <p:cNvPr id="84" name="Straight Connector 83"/>
          <p:cNvCxnSpPr/>
          <p:nvPr/>
        </p:nvCxnSpPr>
        <p:spPr>
          <a:xfrm>
            <a:off x="381000" y="838200"/>
            <a:ext cx="8305800" cy="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5" grpId="0"/>
      <p:bldP spid="150"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p:cNvSpPr>
            <a:spLocks noGrp="1"/>
          </p:cNvSpPr>
          <p:nvPr>
            <p:ph type="title"/>
          </p:nvPr>
        </p:nvSpPr>
        <p:spPr>
          <a:xfrm>
            <a:off x="457200" y="274638"/>
            <a:ext cx="8229600" cy="563562"/>
          </a:xfrm>
        </p:spPr>
        <p:txBody>
          <a:bodyPr>
            <a:normAutofit fontScale="90000"/>
          </a:bodyPr>
          <a:lstStyle/>
          <a:p>
            <a:r>
              <a:rPr lang="en-US" dirty="0" smtClean="0"/>
              <a:t>TSQR Performance Results</a:t>
            </a:r>
          </a:p>
        </p:txBody>
      </p:sp>
      <p:sp>
        <p:nvSpPr>
          <p:cNvPr id="31747" name="Content Placeholder 2"/>
          <p:cNvSpPr>
            <a:spLocks noGrp="1"/>
          </p:cNvSpPr>
          <p:nvPr>
            <p:ph idx="1"/>
          </p:nvPr>
        </p:nvSpPr>
        <p:spPr>
          <a:xfrm>
            <a:off x="0" y="914400"/>
            <a:ext cx="9144000" cy="5256213"/>
          </a:xfrm>
        </p:spPr>
        <p:txBody>
          <a:bodyPr>
            <a:normAutofit/>
          </a:bodyPr>
          <a:lstStyle/>
          <a:p>
            <a:pPr eaLnBrk="1" hangingPunct="1">
              <a:spcBef>
                <a:spcPts val="200"/>
              </a:spcBef>
            </a:pPr>
            <a:r>
              <a:rPr lang="en-US" sz="2000" dirty="0" smtClean="0"/>
              <a:t>Parallel</a:t>
            </a:r>
          </a:p>
          <a:p>
            <a:pPr lvl="1" eaLnBrk="1" hangingPunct="1">
              <a:spcBef>
                <a:spcPts val="200"/>
              </a:spcBef>
              <a:buFont typeface="Arial" charset="0"/>
              <a:buChar char="–"/>
            </a:pPr>
            <a:r>
              <a:rPr lang="en-US" sz="1800" dirty="0" smtClean="0"/>
              <a:t>Intel </a:t>
            </a:r>
            <a:r>
              <a:rPr lang="en-US" sz="1800" dirty="0" err="1" smtClean="0"/>
              <a:t>Clovertown</a:t>
            </a:r>
            <a:endParaRPr lang="en-US" sz="1800" dirty="0" smtClean="0"/>
          </a:p>
          <a:p>
            <a:pPr lvl="2" eaLnBrk="1" hangingPunct="1">
              <a:spcBef>
                <a:spcPts val="200"/>
              </a:spcBef>
              <a:buFont typeface="Arial" charset="0"/>
              <a:buChar char="–"/>
            </a:pPr>
            <a:r>
              <a:rPr lang="en-US" sz="2000" dirty="0" smtClean="0"/>
              <a:t>Up to </a:t>
            </a:r>
            <a:r>
              <a:rPr lang="en-US" sz="2000" b="1" dirty="0" smtClean="0"/>
              <a:t>8x</a:t>
            </a:r>
            <a:r>
              <a:rPr lang="en-US" sz="2000" dirty="0" smtClean="0"/>
              <a:t> speedup (8 core, dual socket, 10M x 10)</a:t>
            </a:r>
          </a:p>
          <a:p>
            <a:pPr lvl="1" eaLnBrk="1" hangingPunct="1">
              <a:spcBef>
                <a:spcPts val="200"/>
              </a:spcBef>
              <a:buFont typeface="Arial" charset="0"/>
              <a:buChar char="–"/>
            </a:pPr>
            <a:r>
              <a:rPr lang="en-US" sz="1800" dirty="0" smtClean="0"/>
              <a:t>Pentium III cluster, Dolphin Interconnect, MPICH</a:t>
            </a:r>
          </a:p>
          <a:p>
            <a:pPr lvl="2" eaLnBrk="1" hangingPunct="1">
              <a:spcBef>
                <a:spcPts val="200"/>
              </a:spcBef>
            </a:pPr>
            <a:r>
              <a:rPr lang="en-US" sz="2000" dirty="0" smtClean="0"/>
              <a:t>Up to </a:t>
            </a:r>
            <a:r>
              <a:rPr lang="en-US" sz="2000" b="1" dirty="0" smtClean="0"/>
              <a:t>6.7x</a:t>
            </a:r>
            <a:r>
              <a:rPr lang="en-US" sz="2000" dirty="0" smtClean="0"/>
              <a:t> speedup (16 </a:t>
            </a:r>
            <a:r>
              <a:rPr lang="en-US" sz="2000" dirty="0" err="1" smtClean="0"/>
              <a:t>procs</a:t>
            </a:r>
            <a:r>
              <a:rPr lang="en-US" sz="2000" dirty="0" smtClean="0"/>
              <a:t>, 100K x 200)</a:t>
            </a:r>
          </a:p>
          <a:p>
            <a:pPr lvl="1" eaLnBrk="1" hangingPunct="1">
              <a:spcBef>
                <a:spcPts val="200"/>
              </a:spcBef>
              <a:buFont typeface="Arial" charset="0"/>
              <a:buChar char="–"/>
            </a:pPr>
            <a:r>
              <a:rPr lang="en-US" sz="1800" dirty="0" err="1" smtClean="0"/>
              <a:t>BlueGene</a:t>
            </a:r>
            <a:r>
              <a:rPr lang="en-US" sz="1800" dirty="0" smtClean="0"/>
              <a:t>/L</a:t>
            </a:r>
          </a:p>
          <a:p>
            <a:pPr lvl="2" eaLnBrk="1" hangingPunct="1">
              <a:spcBef>
                <a:spcPts val="200"/>
              </a:spcBef>
            </a:pPr>
            <a:r>
              <a:rPr lang="en-US" sz="2000" dirty="0" smtClean="0"/>
              <a:t>Up to </a:t>
            </a:r>
            <a:r>
              <a:rPr lang="en-US" sz="2000" b="1" dirty="0" smtClean="0"/>
              <a:t>4x</a:t>
            </a:r>
            <a:r>
              <a:rPr lang="en-US" sz="2000" dirty="0" smtClean="0"/>
              <a:t> speedup (32 </a:t>
            </a:r>
            <a:r>
              <a:rPr lang="en-US" sz="2000" dirty="0" err="1" smtClean="0"/>
              <a:t>procs</a:t>
            </a:r>
            <a:r>
              <a:rPr lang="en-US" sz="2000" dirty="0" smtClean="0"/>
              <a:t>, 1M x 50)</a:t>
            </a:r>
          </a:p>
          <a:p>
            <a:pPr lvl="1">
              <a:spcBef>
                <a:spcPts val="200"/>
              </a:spcBef>
              <a:defRPr/>
            </a:pPr>
            <a:r>
              <a:rPr lang="en-US" sz="1800" dirty="0" smtClean="0">
                <a:cs typeface="Arial" pitchFamily="34" charset="0"/>
              </a:rPr>
              <a:t>Tesla C 2050 / Fermi</a:t>
            </a:r>
          </a:p>
          <a:p>
            <a:pPr lvl="2">
              <a:spcBef>
                <a:spcPts val="200"/>
              </a:spcBef>
              <a:defRPr/>
            </a:pPr>
            <a:r>
              <a:rPr lang="en-US" sz="1800" dirty="0" smtClean="0">
                <a:cs typeface="Arial" pitchFamily="34" charset="0"/>
              </a:rPr>
              <a:t>Up to </a:t>
            </a:r>
            <a:r>
              <a:rPr lang="en-US" sz="1800" b="1" dirty="0" smtClean="0">
                <a:cs typeface="Arial" pitchFamily="34" charset="0"/>
              </a:rPr>
              <a:t>13x</a:t>
            </a:r>
            <a:r>
              <a:rPr lang="en-US" sz="1800" dirty="0" smtClean="0">
                <a:cs typeface="Arial" pitchFamily="34" charset="0"/>
              </a:rPr>
              <a:t> (110,592 x 100)</a:t>
            </a:r>
            <a:endParaRPr lang="en-US" sz="1800" dirty="0" smtClean="0"/>
          </a:p>
          <a:p>
            <a:pPr lvl="1" eaLnBrk="1" hangingPunct="1">
              <a:spcBef>
                <a:spcPts val="200"/>
              </a:spcBef>
            </a:pPr>
            <a:r>
              <a:rPr lang="en-US" sz="1800" dirty="0" smtClean="0"/>
              <a:t>Grid – </a:t>
            </a:r>
            <a:r>
              <a:rPr lang="en-US" sz="1800" b="1" dirty="0" smtClean="0">
                <a:solidFill>
                  <a:schemeClr val="tx1"/>
                </a:solidFill>
              </a:rPr>
              <a:t>4x</a:t>
            </a:r>
            <a:r>
              <a:rPr lang="en-US" sz="1800" dirty="0" smtClean="0">
                <a:solidFill>
                  <a:schemeClr val="tx1"/>
                </a:solidFill>
              </a:rPr>
              <a:t> on 4 cities </a:t>
            </a:r>
            <a:r>
              <a:rPr lang="en-US" sz="1800" dirty="0" smtClean="0"/>
              <a:t>(</a:t>
            </a:r>
            <a:r>
              <a:rPr lang="en-US" sz="1800" dirty="0" err="1" smtClean="0"/>
              <a:t>Dongarra</a:t>
            </a:r>
            <a:r>
              <a:rPr lang="en-US" sz="1800" dirty="0" smtClean="0"/>
              <a:t> et al)</a:t>
            </a:r>
          </a:p>
          <a:p>
            <a:pPr lvl="1" eaLnBrk="1" hangingPunct="1">
              <a:spcBef>
                <a:spcPts val="200"/>
              </a:spcBef>
            </a:pPr>
            <a:r>
              <a:rPr lang="en-US" sz="1800" dirty="0" smtClean="0"/>
              <a:t>Cloud – early result – up and running</a:t>
            </a:r>
          </a:p>
          <a:p>
            <a:pPr eaLnBrk="1" hangingPunct="1">
              <a:spcBef>
                <a:spcPts val="200"/>
              </a:spcBef>
            </a:pPr>
            <a:r>
              <a:rPr lang="en-US" sz="2000" dirty="0" smtClean="0"/>
              <a:t>Sequential  </a:t>
            </a:r>
          </a:p>
          <a:p>
            <a:pPr lvl="1" eaLnBrk="1" hangingPunct="1">
              <a:spcBef>
                <a:spcPts val="200"/>
              </a:spcBef>
              <a:buFont typeface="Arial" charset="0"/>
              <a:buChar char="–"/>
            </a:pPr>
            <a:r>
              <a:rPr lang="en-US" sz="1800" dirty="0" smtClean="0"/>
              <a:t>“Infinite speedup” for out-of-Core on PowerPC laptop</a:t>
            </a:r>
          </a:p>
          <a:p>
            <a:pPr lvl="2" eaLnBrk="1" hangingPunct="1">
              <a:spcBef>
                <a:spcPts val="200"/>
              </a:spcBef>
            </a:pPr>
            <a:r>
              <a:rPr lang="en-US" sz="2000" dirty="0" smtClean="0"/>
              <a:t>As little as 2x slowdown </a:t>
            </a:r>
            <a:r>
              <a:rPr lang="en-US" sz="2000" dirty="0" err="1" smtClean="0"/>
              <a:t>vs</a:t>
            </a:r>
            <a:r>
              <a:rPr lang="en-US" sz="2000" dirty="0" smtClean="0"/>
              <a:t> (predicted) infinite DRAM</a:t>
            </a:r>
          </a:p>
          <a:p>
            <a:pPr lvl="2" eaLnBrk="1" hangingPunct="1">
              <a:spcBef>
                <a:spcPts val="200"/>
              </a:spcBef>
            </a:pPr>
            <a:r>
              <a:rPr lang="en-US" sz="2000" dirty="0" smtClean="0"/>
              <a:t>LAPACK with virtual memory never finished</a:t>
            </a:r>
          </a:p>
        </p:txBody>
      </p:sp>
      <p:sp>
        <p:nvSpPr>
          <p:cNvPr id="56324" name="Slide Number Placeholder 3"/>
          <p:cNvSpPr>
            <a:spLocks noGrp="1"/>
          </p:cNvSpPr>
          <p:nvPr>
            <p:ph type="sldNum" sz="quarter" idx="10"/>
          </p:nvPr>
        </p:nvSpPr>
        <p:spPr>
          <a:xfrm>
            <a:off x="7010400" y="6543675"/>
            <a:ext cx="2133600" cy="238125"/>
          </a:xfrm>
        </p:spPr>
        <p:txBody>
          <a:bodyPr/>
          <a:lstStyle/>
          <a:p>
            <a:pPr>
              <a:defRPr/>
            </a:pPr>
            <a:fld id="{5111E3E4-9998-44A6-9A0A-80413781F5AA}" type="slidenum">
              <a:rPr lang="en-US" smtClean="0"/>
              <a:pPr>
                <a:defRPr/>
              </a:pPr>
              <a:t>36</a:t>
            </a:fld>
            <a:endParaRPr lang="en-US" sz="2400" dirty="0" smtClean="0"/>
          </a:p>
        </p:txBody>
      </p:sp>
      <p:sp>
        <p:nvSpPr>
          <p:cNvPr id="31749" name="TextBox 4"/>
          <p:cNvSpPr txBox="1">
            <a:spLocks noChangeArrowheads="1"/>
          </p:cNvSpPr>
          <p:nvPr/>
        </p:nvSpPr>
        <p:spPr bwMode="auto">
          <a:xfrm>
            <a:off x="304800" y="6858000"/>
            <a:ext cx="8153400" cy="646113"/>
          </a:xfrm>
          <a:prstGeom prst="rect">
            <a:avLst/>
          </a:prstGeom>
          <a:noFill/>
          <a:ln w="9525">
            <a:solidFill>
              <a:schemeClr val="bg2"/>
            </a:solidFill>
            <a:miter lim="800000"/>
            <a:headEnd/>
            <a:tailEnd/>
          </a:ln>
        </p:spPr>
        <p:txBody>
          <a:bodyPr wrap="square">
            <a:spAutoFit/>
          </a:bodyPr>
          <a:lstStyle/>
          <a:p>
            <a:r>
              <a:rPr lang="en-US" i="1" dirty="0" smtClean="0"/>
              <a:t>Data from</a:t>
            </a:r>
            <a:r>
              <a:rPr lang="en-US" sz="1800" i="1" dirty="0" smtClean="0"/>
              <a:t> Grey </a:t>
            </a:r>
            <a:r>
              <a:rPr lang="en-US" sz="1800" i="1" dirty="0"/>
              <a:t>Ballard, Mark </a:t>
            </a:r>
            <a:r>
              <a:rPr lang="en-US" sz="1800" i="1" dirty="0" err="1"/>
              <a:t>Hoemmen</a:t>
            </a:r>
            <a:r>
              <a:rPr lang="en-US" sz="1800" i="1" dirty="0"/>
              <a:t>, Laura </a:t>
            </a:r>
            <a:r>
              <a:rPr lang="en-US" sz="1800" i="1" dirty="0" err="1"/>
              <a:t>Grigori</a:t>
            </a:r>
            <a:r>
              <a:rPr lang="en-US" sz="1800" i="1" dirty="0"/>
              <a:t>, </a:t>
            </a:r>
            <a:r>
              <a:rPr lang="en-US" sz="1800" i="1" dirty="0" err="1"/>
              <a:t>Julien</a:t>
            </a:r>
            <a:r>
              <a:rPr lang="en-US" sz="1800" i="1" dirty="0"/>
              <a:t> </a:t>
            </a:r>
            <a:r>
              <a:rPr lang="en-US" sz="1800" i="1" dirty="0" err="1"/>
              <a:t>Langou</a:t>
            </a:r>
            <a:r>
              <a:rPr lang="en-US" sz="1800" i="1" dirty="0"/>
              <a:t>, Jack </a:t>
            </a:r>
            <a:r>
              <a:rPr lang="en-US" sz="1800" i="1" dirty="0" err="1"/>
              <a:t>Dongarra</a:t>
            </a:r>
            <a:r>
              <a:rPr lang="en-US" sz="1800" i="1" dirty="0"/>
              <a:t>, Michael Anderson </a:t>
            </a:r>
          </a:p>
        </p:txBody>
      </p:sp>
      <p:cxnSp>
        <p:nvCxnSpPr>
          <p:cNvPr id="6" name="Straight Connector 5"/>
          <p:cNvCxnSpPr/>
          <p:nvPr/>
        </p:nvCxnSpPr>
        <p:spPr>
          <a:xfrm>
            <a:off x="381000" y="838200"/>
            <a:ext cx="8305800" cy="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itle 1"/>
          <p:cNvSpPr>
            <a:spLocks noGrp="1"/>
          </p:cNvSpPr>
          <p:nvPr>
            <p:ph type="title"/>
          </p:nvPr>
        </p:nvSpPr>
        <p:spPr>
          <a:xfrm>
            <a:off x="304800" y="306388"/>
            <a:ext cx="8634412" cy="801687"/>
          </a:xfrm>
        </p:spPr>
        <p:txBody>
          <a:bodyPr>
            <a:noAutofit/>
          </a:bodyPr>
          <a:lstStyle/>
          <a:p>
            <a:pPr algn="ctr"/>
            <a:r>
              <a:rPr lang="en-US" sz="3200" dirty="0" smtClean="0"/>
              <a:t>Back to LU: Using similar idea for TSLU as TSQR:</a:t>
            </a:r>
            <a:br>
              <a:rPr lang="en-US" sz="3200" dirty="0" smtClean="0"/>
            </a:br>
            <a:r>
              <a:rPr lang="en-US" sz="3200" dirty="0" smtClean="0"/>
              <a:t> Use reduction tree, to do “Tournament Pivoting”</a:t>
            </a:r>
          </a:p>
        </p:txBody>
      </p:sp>
      <p:sp>
        <p:nvSpPr>
          <p:cNvPr id="51204"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b="1">
                <a:solidFill>
                  <a:schemeClr val="tx1"/>
                </a:solidFill>
                <a:latin typeface="Arial" pitchFamily="34" charset="0"/>
              </a:defRPr>
            </a:lvl1pPr>
            <a:lvl2pPr marL="742950" indent="-285750">
              <a:defRPr sz="1200" b="1">
                <a:solidFill>
                  <a:schemeClr val="tx1"/>
                </a:solidFill>
                <a:latin typeface="Arial" pitchFamily="34" charset="0"/>
              </a:defRPr>
            </a:lvl2pPr>
            <a:lvl3pPr marL="1143000" indent="-228600">
              <a:defRPr sz="1200" b="1">
                <a:solidFill>
                  <a:schemeClr val="tx1"/>
                </a:solidFill>
                <a:latin typeface="Arial" pitchFamily="34" charset="0"/>
              </a:defRPr>
            </a:lvl3pPr>
            <a:lvl4pPr marL="1600200" indent="-228600">
              <a:defRPr sz="1200" b="1">
                <a:solidFill>
                  <a:schemeClr val="tx1"/>
                </a:solidFill>
                <a:latin typeface="Arial" pitchFamily="34" charset="0"/>
              </a:defRPr>
            </a:lvl4pPr>
            <a:lvl5pPr marL="2057400" indent="-228600">
              <a:defRPr sz="1200" b="1">
                <a:solidFill>
                  <a:schemeClr val="tx1"/>
                </a:solidFill>
                <a:latin typeface="Arial" pitchFamily="34" charset="0"/>
              </a:defRPr>
            </a:lvl5pPr>
            <a:lvl6pPr marL="2514600" indent="-228600" algn="l" rtl="0" eaLnBrk="0" fontAlgn="base" hangingPunct="0">
              <a:spcBef>
                <a:spcPct val="0"/>
              </a:spcBef>
              <a:spcAft>
                <a:spcPct val="0"/>
              </a:spcAft>
              <a:defRPr sz="1200" b="1">
                <a:solidFill>
                  <a:schemeClr val="tx1"/>
                </a:solidFill>
                <a:latin typeface="Arial" pitchFamily="34" charset="0"/>
              </a:defRPr>
            </a:lvl6pPr>
            <a:lvl7pPr marL="2971800" indent="-228600" algn="l" rtl="0" eaLnBrk="0" fontAlgn="base" hangingPunct="0">
              <a:spcBef>
                <a:spcPct val="0"/>
              </a:spcBef>
              <a:spcAft>
                <a:spcPct val="0"/>
              </a:spcAft>
              <a:defRPr sz="1200" b="1">
                <a:solidFill>
                  <a:schemeClr val="tx1"/>
                </a:solidFill>
                <a:latin typeface="Arial" pitchFamily="34" charset="0"/>
              </a:defRPr>
            </a:lvl7pPr>
            <a:lvl8pPr marL="3429000" indent="-228600" algn="l" rtl="0" eaLnBrk="0" fontAlgn="base" hangingPunct="0">
              <a:spcBef>
                <a:spcPct val="0"/>
              </a:spcBef>
              <a:spcAft>
                <a:spcPct val="0"/>
              </a:spcAft>
              <a:defRPr sz="1200" b="1">
                <a:solidFill>
                  <a:schemeClr val="tx1"/>
                </a:solidFill>
                <a:latin typeface="Arial" pitchFamily="34" charset="0"/>
              </a:defRPr>
            </a:lvl8pPr>
            <a:lvl9pPr marL="3886200" indent="-228600" algn="l" rtl="0" eaLnBrk="0" fontAlgn="base" hangingPunct="0">
              <a:spcBef>
                <a:spcPct val="0"/>
              </a:spcBef>
              <a:spcAft>
                <a:spcPct val="0"/>
              </a:spcAft>
              <a:defRPr sz="1200" b="1">
                <a:solidFill>
                  <a:schemeClr val="tx1"/>
                </a:solidFill>
                <a:latin typeface="Arial" pitchFamily="34" charset="0"/>
              </a:defRPr>
            </a:lvl9pPr>
          </a:lstStyle>
          <a:p>
            <a:fld id="{F9F8EA7A-4631-44A3-8F13-4ED6AC85D0AC}" type="slidenum">
              <a:rPr lang="en-US" sz="1400" b="0" smtClean="0">
                <a:latin typeface="Times New Roman" pitchFamily="18" charset="0"/>
              </a:rPr>
              <a:pPr/>
              <a:t>37</a:t>
            </a:fld>
            <a:endParaRPr lang="en-US" sz="1400" b="0" smtClean="0">
              <a:latin typeface="Times New Roman" pitchFamily="18" charset="0"/>
            </a:endParaRPr>
          </a:p>
        </p:txBody>
      </p:sp>
      <p:grpSp>
        <p:nvGrpSpPr>
          <p:cNvPr id="51205" name="Group 41"/>
          <p:cNvGrpSpPr>
            <a:grpSpLocks/>
          </p:cNvGrpSpPr>
          <p:nvPr/>
        </p:nvGrpSpPr>
        <p:grpSpPr bwMode="auto">
          <a:xfrm>
            <a:off x="736289" y="1378403"/>
            <a:ext cx="8338740" cy="1422854"/>
            <a:chOff x="736289" y="1274164"/>
            <a:chExt cx="8338827" cy="1200330"/>
          </a:xfrm>
        </p:grpSpPr>
        <p:sp>
          <p:nvSpPr>
            <p:cNvPr id="51224" name="TextBox 5"/>
            <p:cNvSpPr txBox="1">
              <a:spLocks noChangeArrowheads="1"/>
            </p:cNvSpPr>
            <p:nvPr/>
          </p:nvSpPr>
          <p:spPr bwMode="auto">
            <a:xfrm>
              <a:off x="736289" y="1693889"/>
              <a:ext cx="875569" cy="3115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200" b="1">
                  <a:solidFill>
                    <a:schemeClr val="tx1"/>
                  </a:solidFill>
                  <a:latin typeface="Arial" pitchFamily="34" charset="0"/>
                </a:defRPr>
              </a:lvl1pPr>
              <a:lvl2pPr marL="742950" indent="-285750">
                <a:defRPr sz="1200" b="1">
                  <a:solidFill>
                    <a:schemeClr val="tx1"/>
                  </a:solidFill>
                  <a:latin typeface="Arial" pitchFamily="34" charset="0"/>
                </a:defRPr>
              </a:lvl2pPr>
              <a:lvl3pPr marL="1143000" indent="-228600">
                <a:defRPr sz="1200" b="1">
                  <a:solidFill>
                    <a:schemeClr val="tx1"/>
                  </a:solidFill>
                  <a:latin typeface="Arial" pitchFamily="34" charset="0"/>
                </a:defRPr>
              </a:lvl3pPr>
              <a:lvl4pPr marL="1600200" indent="-228600">
                <a:defRPr sz="1200" b="1">
                  <a:solidFill>
                    <a:schemeClr val="tx1"/>
                  </a:solidFill>
                  <a:latin typeface="Arial" pitchFamily="34" charset="0"/>
                </a:defRPr>
              </a:lvl4pPr>
              <a:lvl5pPr marL="2057400" indent="-228600">
                <a:defRPr sz="1200" b="1">
                  <a:solidFill>
                    <a:schemeClr val="tx1"/>
                  </a:solidFill>
                  <a:latin typeface="Arial" pitchFamily="34" charset="0"/>
                </a:defRPr>
              </a:lvl5pPr>
              <a:lvl6pPr marL="2514600" indent="-228600" algn="l" rtl="0" eaLnBrk="0" fontAlgn="base" hangingPunct="0">
                <a:spcBef>
                  <a:spcPct val="0"/>
                </a:spcBef>
                <a:spcAft>
                  <a:spcPct val="0"/>
                </a:spcAft>
                <a:defRPr sz="1200" b="1">
                  <a:solidFill>
                    <a:schemeClr val="tx1"/>
                  </a:solidFill>
                  <a:latin typeface="Arial" pitchFamily="34" charset="0"/>
                </a:defRPr>
              </a:lvl6pPr>
              <a:lvl7pPr marL="2971800" indent="-228600" algn="l" rtl="0" eaLnBrk="0" fontAlgn="base" hangingPunct="0">
                <a:spcBef>
                  <a:spcPct val="0"/>
                </a:spcBef>
                <a:spcAft>
                  <a:spcPct val="0"/>
                </a:spcAft>
                <a:defRPr sz="1200" b="1">
                  <a:solidFill>
                    <a:schemeClr val="tx1"/>
                  </a:solidFill>
                  <a:latin typeface="Arial" pitchFamily="34" charset="0"/>
                </a:defRPr>
              </a:lvl7pPr>
              <a:lvl8pPr marL="3429000" indent="-228600" algn="l" rtl="0" eaLnBrk="0" fontAlgn="base" hangingPunct="0">
                <a:spcBef>
                  <a:spcPct val="0"/>
                </a:spcBef>
                <a:spcAft>
                  <a:spcPct val="0"/>
                </a:spcAft>
                <a:defRPr sz="1200" b="1">
                  <a:solidFill>
                    <a:schemeClr val="tx1"/>
                  </a:solidFill>
                  <a:latin typeface="Arial" pitchFamily="34" charset="0"/>
                </a:defRPr>
              </a:lvl8pPr>
              <a:lvl9pPr marL="3886200" indent="-228600" algn="l" rtl="0" eaLnBrk="0" fontAlgn="base" hangingPunct="0">
                <a:spcBef>
                  <a:spcPct val="0"/>
                </a:spcBef>
                <a:spcAft>
                  <a:spcPct val="0"/>
                </a:spcAft>
                <a:defRPr sz="1200" b="1">
                  <a:solidFill>
                    <a:schemeClr val="tx1"/>
                  </a:solidFill>
                  <a:latin typeface="Arial" pitchFamily="34" charset="0"/>
                </a:defRPr>
              </a:lvl9pPr>
            </a:lstStyle>
            <a:p>
              <a:r>
                <a:rPr lang="en-US" sz="1800" b="0"/>
                <a:t>W</a:t>
              </a:r>
              <a:r>
                <a:rPr lang="en-US" sz="2000" b="0" baseline="30000"/>
                <a:t>nxb</a:t>
              </a:r>
              <a:r>
                <a:rPr lang="en-US" sz="1800" b="0"/>
                <a:t> =</a:t>
              </a:r>
            </a:p>
          </p:txBody>
        </p:sp>
        <p:grpSp>
          <p:nvGrpSpPr>
            <p:cNvPr id="51225" name="Group 8"/>
            <p:cNvGrpSpPr>
              <a:grpSpLocks/>
            </p:cNvGrpSpPr>
            <p:nvPr/>
          </p:nvGrpSpPr>
          <p:grpSpPr bwMode="auto">
            <a:xfrm>
              <a:off x="1825671" y="1274164"/>
              <a:ext cx="583644" cy="1200329"/>
              <a:chOff x="2113614" y="1274163"/>
              <a:chExt cx="583644" cy="1200329"/>
            </a:xfrm>
          </p:grpSpPr>
          <p:sp>
            <p:nvSpPr>
              <p:cNvPr id="51237" name="TextBox 6"/>
              <p:cNvSpPr txBox="1">
                <a:spLocks noChangeArrowheads="1"/>
              </p:cNvSpPr>
              <p:nvPr/>
            </p:nvSpPr>
            <p:spPr bwMode="auto">
              <a:xfrm>
                <a:off x="2175414" y="1274164"/>
                <a:ext cx="521844" cy="1116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200" b="1">
                    <a:solidFill>
                      <a:schemeClr val="tx1"/>
                    </a:solidFill>
                    <a:latin typeface="Arial" pitchFamily="34" charset="0"/>
                  </a:defRPr>
                </a:lvl1pPr>
                <a:lvl2pPr marL="742950" indent="-285750">
                  <a:defRPr sz="1200" b="1">
                    <a:solidFill>
                      <a:schemeClr val="tx1"/>
                    </a:solidFill>
                    <a:latin typeface="Arial" pitchFamily="34" charset="0"/>
                  </a:defRPr>
                </a:lvl2pPr>
                <a:lvl3pPr marL="1143000" indent="-228600">
                  <a:defRPr sz="1200" b="1">
                    <a:solidFill>
                      <a:schemeClr val="tx1"/>
                    </a:solidFill>
                    <a:latin typeface="Arial" pitchFamily="34" charset="0"/>
                  </a:defRPr>
                </a:lvl3pPr>
                <a:lvl4pPr marL="1600200" indent="-228600">
                  <a:defRPr sz="1200" b="1">
                    <a:solidFill>
                      <a:schemeClr val="tx1"/>
                    </a:solidFill>
                    <a:latin typeface="Arial" pitchFamily="34" charset="0"/>
                  </a:defRPr>
                </a:lvl4pPr>
                <a:lvl5pPr marL="2057400" indent="-228600">
                  <a:defRPr sz="1200" b="1">
                    <a:solidFill>
                      <a:schemeClr val="tx1"/>
                    </a:solidFill>
                    <a:latin typeface="Arial" pitchFamily="34" charset="0"/>
                  </a:defRPr>
                </a:lvl5pPr>
                <a:lvl6pPr marL="2514600" indent="-228600" algn="l" rtl="0" eaLnBrk="0" fontAlgn="base" hangingPunct="0">
                  <a:spcBef>
                    <a:spcPct val="0"/>
                  </a:spcBef>
                  <a:spcAft>
                    <a:spcPct val="0"/>
                  </a:spcAft>
                  <a:defRPr sz="1200" b="1">
                    <a:solidFill>
                      <a:schemeClr val="tx1"/>
                    </a:solidFill>
                    <a:latin typeface="Arial" pitchFamily="34" charset="0"/>
                  </a:defRPr>
                </a:lvl6pPr>
                <a:lvl7pPr marL="2971800" indent="-228600" algn="l" rtl="0" eaLnBrk="0" fontAlgn="base" hangingPunct="0">
                  <a:spcBef>
                    <a:spcPct val="0"/>
                  </a:spcBef>
                  <a:spcAft>
                    <a:spcPct val="0"/>
                  </a:spcAft>
                  <a:defRPr sz="1200" b="1">
                    <a:solidFill>
                      <a:schemeClr val="tx1"/>
                    </a:solidFill>
                    <a:latin typeface="Arial" pitchFamily="34" charset="0"/>
                  </a:defRPr>
                </a:lvl7pPr>
                <a:lvl8pPr marL="3429000" indent="-228600" algn="l" rtl="0" eaLnBrk="0" fontAlgn="base" hangingPunct="0">
                  <a:spcBef>
                    <a:spcPct val="0"/>
                  </a:spcBef>
                  <a:spcAft>
                    <a:spcPct val="0"/>
                  </a:spcAft>
                  <a:defRPr sz="1200" b="1">
                    <a:solidFill>
                      <a:schemeClr val="tx1"/>
                    </a:solidFill>
                    <a:latin typeface="Arial" pitchFamily="34" charset="0"/>
                  </a:defRPr>
                </a:lvl8pPr>
                <a:lvl9pPr marL="3886200" indent="-228600" algn="l" rtl="0" eaLnBrk="0" fontAlgn="base" hangingPunct="0">
                  <a:spcBef>
                    <a:spcPct val="0"/>
                  </a:spcBef>
                  <a:spcAft>
                    <a:spcPct val="0"/>
                  </a:spcAft>
                  <a:defRPr sz="1200" b="1">
                    <a:solidFill>
                      <a:schemeClr val="tx1"/>
                    </a:solidFill>
                    <a:latin typeface="Arial" pitchFamily="34" charset="0"/>
                  </a:defRPr>
                </a:lvl9pPr>
              </a:lstStyle>
              <a:p>
                <a:r>
                  <a:rPr lang="en-US" sz="2000" b="0" dirty="0"/>
                  <a:t>W</a:t>
                </a:r>
                <a:r>
                  <a:rPr lang="en-US" sz="2000" b="0" baseline="-25000" dirty="0"/>
                  <a:t>1</a:t>
                </a:r>
              </a:p>
              <a:p>
                <a:r>
                  <a:rPr lang="en-US" sz="2000" b="0" dirty="0"/>
                  <a:t>W</a:t>
                </a:r>
                <a:r>
                  <a:rPr lang="en-US" sz="2000" b="0" baseline="-25000" dirty="0"/>
                  <a:t>2</a:t>
                </a:r>
              </a:p>
              <a:p>
                <a:r>
                  <a:rPr lang="en-US" sz="2000" b="0" dirty="0"/>
                  <a:t>W</a:t>
                </a:r>
                <a:r>
                  <a:rPr lang="en-US" sz="2000" b="0" baseline="-25000" dirty="0"/>
                  <a:t>3</a:t>
                </a:r>
              </a:p>
              <a:p>
                <a:r>
                  <a:rPr lang="en-US" sz="2000" b="0" dirty="0"/>
                  <a:t>W</a:t>
                </a:r>
                <a:r>
                  <a:rPr lang="en-US" sz="2000" b="0" baseline="-25000" dirty="0"/>
                  <a:t>4</a:t>
                </a:r>
              </a:p>
            </p:txBody>
          </p:sp>
          <p:sp>
            <p:nvSpPr>
              <p:cNvPr id="51238" name="Double Bracket 7"/>
              <p:cNvSpPr>
                <a:spLocks noChangeArrowheads="1"/>
              </p:cNvSpPr>
              <p:nvPr/>
            </p:nvSpPr>
            <p:spPr bwMode="auto">
              <a:xfrm>
                <a:off x="2113614" y="1274163"/>
                <a:ext cx="575885" cy="1200329"/>
              </a:xfrm>
              <a:prstGeom prst="bracketPair">
                <a:avLst>
                  <a:gd name="adj" fmla="val 16667"/>
                </a:avLst>
              </a:prstGeom>
              <a:noFill/>
              <a:ln w="12700" algn="ctr">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it-IT" sz="1800"/>
              </a:p>
            </p:txBody>
          </p:sp>
        </p:grpSp>
        <p:grpSp>
          <p:nvGrpSpPr>
            <p:cNvPr id="51226" name="Group 14"/>
            <p:cNvGrpSpPr>
              <a:grpSpLocks/>
            </p:cNvGrpSpPr>
            <p:nvPr/>
          </p:nvGrpSpPr>
          <p:grpSpPr bwMode="auto">
            <a:xfrm>
              <a:off x="3124200" y="1274164"/>
              <a:ext cx="1282910" cy="1200330"/>
              <a:chOff x="3124200" y="1274164"/>
              <a:chExt cx="1282910" cy="1200330"/>
            </a:xfrm>
          </p:grpSpPr>
          <p:sp>
            <p:nvSpPr>
              <p:cNvPr id="51235" name="TextBox 11"/>
              <p:cNvSpPr txBox="1">
                <a:spLocks noChangeArrowheads="1"/>
              </p:cNvSpPr>
              <p:nvPr/>
            </p:nvSpPr>
            <p:spPr bwMode="auto">
              <a:xfrm>
                <a:off x="3124200" y="1274164"/>
                <a:ext cx="1282910" cy="1116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200" b="1">
                    <a:solidFill>
                      <a:schemeClr val="tx1"/>
                    </a:solidFill>
                    <a:latin typeface="Arial" pitchFamily="34" charset="0"/>
                  </a:defRPr>
                </a:lvl1pPr>
                <a:lvl2pPr marL="742950" indent="-285750">
                  <a:defRPr sz="1200" b="1">
                    <a:solidFill>
                      <a:schemeClr val="tx1"/>
                    </a:solidFill>
                    <a:latin typeface="Arial" pitchFamily="34" charset="0"/>
                  </a:defRPr>
                </a:lvl2pPr>
                <a:lvl3pPr marL="1143000" indent="-228600">
                  <a:defRPr sz="1200" b="1">
                    <a:solidFill>
                      <a:schemeClr val="tx1"/>
                    </a:solidFill>
                    <a:latin typeface="Arial" pitchFamily="34" charset="0"/>
                  </a:defRPr>
                </a:lvl3pPr>
                <a:lvl4pPr marL="1600200" indent="-228600">
                  <a:defRPr sz="1200" b="1">
                    <a:solidFill>
                      <a:schemeClr val="tx1"/>
                    </a:solidFill>
                    <a:latin typeface="Arial" pitchFamily="34" charset="0"/>
                  </a:defRPr>
                </a:lvl4pPr>
                <a:lvl5pPr marL="2057400" indent="-228600">
                  <a:defRPr sz="1200" b="1">
                    <a:solidFill>
                      <a:schemeClr val="tx1"/>
                    </a:solidFill>
                    <a:latin typeface="Arial" pitchFamily="34" charset="0"/>
                  </a:defRPr>
                </a:lvl5pPr>
                <a:lvl6pPr marL="2514600" indent="-228600" algn="l" rtl="0" eaLnBrk="0" fontAlgn="base" hangingPunct="0">
                  <a:spcBef>
                    <a:spcPct val="0"/>
                  </a:spcBef>
                  <a:spcAft>
                    <a:spcPct val="0"/>
                  </a:spcAft>
                  <a:defRPr sz="1200" b="1">
                    <a:solidFill>
                      <a:schemeClr val="tx1"/>
                    </a:solidFill>
                    <a:latin typeface="Arial" pitchFamily="34" charset="0"/>
                  </a:defRPr>
                </a:lvl6pPr>
                <a:lvl7pPr marL="2971800" indent="-228600" algn="l" rtl="0" eaLnBrk="0" fontAlgn="base" hangingPunct="0">
                  <a:spcBef>
                    <a:spcPct val="0"/>
                  </a:spcBef>
                  <a:spcAft>
                    <a:spcPct val="0"/>
                  </a:spcAft>
                  <a:defRPr sz="1200" b="1">
                    <a:solidFill>
                      <a:schemeClr val="tx1"/>
                    </a:solidFill>
                    <a:latin typeface="Arial" pitchFamily="34" charset="0"/>
                  </a:defRPr>
                </a:lvl7pPr>
                <a:lvl8pPr marL="3429000" indent="-228600" algn="l" rtl="0" eaLnBrk="0" fontAlgn="base" hangingPunct="0">
                  <a:spcBef>
                    <a:spcPct val="0"/>
                  </a:spcBef>
                  <a:spcAft>
                    <a:spcPct val="0"/>
                  </a:spcAft>
                  <a:defRPr sz="1200" b="1">
                    <a:solidFill>
                      <a:schemeClr val="tx1"/>
                    </a:solidFill>
                    <a:latin typeface="Arial" pitchFamily="34" charset="0"/>
                  </a:defRPr>
                </a:lvl8pPr>
                <a:lvl9pPr marL="3886200" indent="-228600" algn="l" rtl="0" eaLnBrk="0" fontAlgn="base" hangingPunct="0">
                  <a:spcBef>
                    <a:spcPct val="0"/>
                  </a:spcBef>
                  <a:spcAft>
                    <a:spcPct val="0"/>
                  </a:spcAft>
                  <a:defRPr sz="1200" b="1">
                    <a:solidFill>
                      <a:schemeClr val="tx1"/>
                    </a:solidFill>
                    <a:latin typeface="Arial" pitchFamily="34" charset="0"/>
                  </a:defRPr>
                </a:lvl9pPr>
              </a:lstStyle>
              <a:p>
                <a:r>
                  <a:rPr lang="en-US" sz="2000" b="0" dirty="0"/>
                  <a:t>P</a:t>
                </a:r>
                <a:r>
                  <a:rPr lang="en-US" sz="2000" b="0" baseline="-25000" dirty="0"/>
                  <a:t>1</a:t>
                </a:r>
                <a:r>
                  <a:rPr lang="en-US" sz="2000" b="0" dirty="0"/>
                  <a:t>·L</a:t>
                </a:r>
                <a:r>
                  <a:rPr lang="en-US" sz="2000" b="0" baseline="-25000" dirty="0"/>
                  <a:t>1</a:t>
                </a:r>
                <a:r>
                  <a:rPr lang="en-US" sz="2000" b="0" dirty="0"/>
                  <a:t>·U</a:t>
                </a:r>
                <a:r>
                  <a:rPr lang="en-US" sz="2000" b="0" baseline="-25000" dirty="0"/>
                  <a:t>1</a:t>
                </a:r>
              </a:p>
              <a:p>
                <a:r>
                  <a:rPr lang="en-US" sz="2000" b="0" dirty="0"/>
                  <a:t>P</a:t>
                </a:r>
                <a:r>
                  <a:rPr lang="en-US" sz="2000" b="0" baseline="-25000" dirty="0"/>
                  <a:t>2</a:t>
                </a:r>
                <a:r>
                  <a:rPr lang="en-US" sz="2000" b="0" dirty="0"/>
                  <a:t>·L</a:t>
                </a:r>
                <a:r>
                  <a:rPr lang="en-US" sz="2000" b="0" baseline="-25000" dirty="0"/>
                  <a:t>2</a:t>
                </a:r>
                <a:r>
                  <a:rPr lang="en-US" sz="2000" b="0" dirty="0"/>
                  <a:t>·U</a:t>
                </a:r>
                <a:r>
                  <a:rPr lang="en-US" sz="2000" b="0" baseline="-25000" dirty="0"/>
                  <a:t>2</a:t>
                </a:r>
              </a:p>
              <a:p>
                <a:r>
                  <a:rPr lang="en-US" sz="2000" b="0" dirty="0"/>
                  <a:t>P</a:t>
                </a:r>
                <a:r>
                  <a:rPr lang="en-US" sz="2000" b="0" baseline="-25000" dirty="0"/>
                  <a:t>3</a:t>
                </a:r>
                <a:r>
                  <a:rPr lang="en-US" sz="2000" b="0" dirty="0"/>
                  <a:t>·L</a:t>
                </a:r>
                <a:r>
                  <a:rPr lang="en-US" sz="2000" b="0" baseline="-25000" dirty="0"/>
                  <a:t>3</a:t>
                </a:r>
                <a:r>
                  <a:rPr lang="en-US" sz="2000" b="0" dirty="0"/>
                  <a:t>·U</a:t>
                </a:r>
                <a:r>
                  <a:rPr lang="en-US" sz="2000" b="0" baseline="-25000" dirty="0"/>
                  <a:t>3</a:t>
                </a:r>
              </a:p>
              <a:p>
                <a:r>
                  <a:rPr lang="en-US" sz="2000" b="0" dirty="0"/>
                  <a:t>P</a:t>
                </a:r>
                <a:r>
                  <a:rPr lang="en-US" sz="2000" b="0" baseline="-25000" dirty="0"/>
                  <a:t>4</a:t>
                </a:r>
                <a:r>
                  <a:rPr lang="en-US" sz="2000" b="0" dirty="0"/>
                  <a:t>·L</a:t>
                </a:r>
                <a:r>
                  <a:rPr lang="en-US" sz="2000" b="0" baseline="-25000" dirty="0"/>
                  <a:t>4</a:t>
                </a:r>
                <a:r>
                  <a:rPr lang="en-US" sz="2000" b="0" dirty="0"/>
                  <a:t>·U</a:t>
                </a:r>
                <a:r>
                  <a:rPr lang="en-US" sz="2000" b="0" baseline="-25000" dirty="0"/>
                  <a:t>4</a:t>
                </a:r>
              </a:p>
            </p:txBody>
          </p:sp>
          <p:sp>
            <p:nvSpPr>
              <p:cNvPr id="51236" name="Double Bracket 12"/>
              <p:cNvSpPr>
                <a:spLocks noChangeArrowheads="1"/>
              </p:cNvSpPr>
              <p:nvPr/>
            </p:nvSpPr>
            <p:spPr bwMode="auto">
              <a:xfrm>
                <a:off x="3124200" y="1274165"/>
                <a:ext cx="1147997" cy="1200329"/>
              </a:xfrm>
              <a:prstGeom prst="bracketPair">
                <a:avLst>
                  <a:gd name="adj" fmla="val 16667"/>
                </a:avLst>
              </a:prstGeom>
              <a:noFill/>
              <a:ln w="12700" algn="ctr">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it-IT" sz="1800"/>
              </a:p>
            </p:txBody>
          </p:sp>
        </p:grpSp>
        <p:sp>
          <p:nvSpPr>
            <p:cNvPr id="51227" name="TextBox 13"/>
            <p:cNvSpPr txBox="1">
              <a:spLocks noChangeArrowheads="1"/>
            </p:cNvSpPr>
            <p:nvPr/>
          </p:nvSpPr>
          <p:spPr bwMode="auto">
            <a:xfrm>
              <a:off x="2607771" y="1724667"/>
              <a:ext cx="304894" cy="2856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200" b="1">
                  <a:solidFill>
                    <a:schemeClr val="tx1"/>
                  </a:solidFill>
                  <a:latin typeface="Arial" pitchFamily="34" charset="0"/>
                </a:defRPr>
              </a:lvl1pPr>
              <a:lvl2pPr marL="742950" indent="-285750">
                <a:defRPr sz="1200" b="1">
                  <a:solidFill>
                    <a:schemeClr val="tx1"/>
                  </a:solidFill>
                  <a:latin typeface="Arial" pitchFamily="34" charset="0"/>
                </a:defRPr>
              </a:lvl2pPr>
              <a:lvl3pPr marL="1143000" indent="-228600">
                <a:defRPr sz="1200" b="1">
                  <a:solidFill>
                    <a:schemeClr val="tx1"/>
                  </a:solidFill>
                  <a:latin typeface="Arial" pitchFamily="34" charset="0"/>
                </a:defRPr>
              </a:lvl3pPr>
              <a:lvl4pPr marL="1600200" indent="-228600">
                <a:defRPr sz="1200" b="1">
                  <a:solidFill>
                    <a:schemeClr val="tx1"/>
                  </a:solidFill>
                  <a:latin typeface="Arial" pitchFamily="34" charset="0"/>
                </a:defRPr>
              </a:lvl4pPr>
              <a:lvl5pPr marL="2057400" indent="-228600">
                <a:defRPr sz="1200" b="1">
                  <a:solidFill>
                    <a:schemeClr val="tx1"/>
                  </a:solidFill>
                  <a:latin typeface="Arial" pitchFamily="34" charset="0"/>
                </a:defRPr>
              </a:lvl5pPr>
              <a:lvl6pPr marL="2514600" indent="-228600" algn="l" rtl="0" eaLnBrk="0" fontAlgn="base" hangingPunct="0">
                <a:spcBef>
                  <a:spcPct val="0"/>
                </a:spcBef>
                <a:spcAft>
                  <a:spcPct val="0"/>
                </a:spcAft>
                <a:defRPr sz="1200" b="1">
                  <a:solidFill>
                    <a:schemeClr val="tx1"/>
                  </a:solidFill>
                  <a:latin typeface="Arial" pitchFamily="34" charset="0"/>
                </a:defRPr>
              </a:lvl6pPr>
              <a:lvl7pPr marL="2971800" indent="-228600" algn="l" rtl="0" eaLnBrk="0" fontAlgn="base" hangingPunct="0">
                <a:spcBef>
                  <a:spcPct val="0"/>
                </a:spcBef>
                <a:spcAft>
                  <a:spcPct val="0"/>
                </a:spcAft>
                <a:defRPr sz="1200" b="1">
                  <a:solidFill>
                    <a:schemeClr val="tx1"/>
                  </a:solidFill>
                  <a:latin typeface="Arial" pitchFamily="34" charset="0"/>
                </a:defRPr>
              </a:lvl7pPr>
              <a:lvl8pPr marL="3429000" indent="-228600" algn="l" rtl="0" eaLnBrk="0" fontAlgn="base" hangingPunct="0">
                <a:spcBef>
                  <a:spcPct val="0"/>
                </a:spcBef>
                <a:spcAft>
                  <a:spcPct val="0"/>
                </a:spcAft>
                <a:defRPr sz="1200" b="1">
                  <a:solidFill>
                    <a:schemeClr val="tx1"/>
                  </a:solidFill>
                  <a:latin typeface="Arial" pitchFamily="34" charset="0"/>
                </a:defRPr>
              </a:lvl8pPr>
              <a:lvl9pPr marL="3886200" indent="-228600" algn="l" rtl="0" eaLnBrk="0" fontAlgn="base" hangingPunct="0">
                <a:spcBef>
                  <a:spcPct val="0"/>
                </a:spcBef>
                <a:spcAft>
                  <a:spcPct val="0"/>
                </a:spcAft>
                <a:defRPr sz="1200" b="1">
                  <a:solidFill>
                    <a:schemeClr val="tx1"/>
                  </a:solidFill>
                  <a:latin typeface="Arial" pitchFamily="34" charset="0"/>
                </a:defRPr>
              </a:lvl9pPr>
            </a:lstStyle>
            <a:p>
              <a:r>
                <a:rPr lang="en-US" sz="1600" b="0"/>
                <a:t>=</a:t>
              </a:r>
            </a:p>
          </p:txBody>
        </p:sp>
        <p:sp>
          <p:nvSpPr>
            <p:cNvPr id="51228" name="TextBox 15"/>
            <p:cNvSpPr txBox="1">
              <a:spLocks noChangeArrowheads="1"/>
            </p:cNvSpPr>
            <p:nvPr/>
          </p:nvSpPr>
          <p:spPr bwMode="auto">
            <a:xfrm>
              <a:off x="4712579" y="1355335"/>
              <a:ext cx="4362537" cy="10126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200" b="1">
                  <a:solidFill>
                    <a:schemeClr val="tx1"/>
                  </a:solidFill>
                  <a:latin typeface="Arial" pitchFamily="34" charset="0"/>
                </a:defRPr>
              </a:lvl1pPr>
              <a:lvl2pPr marL="742950" indent="-285750">
                <a:defRPr sz="1200" b="1">
                  <a:solidFill>
                    <a:schemeClr val="tx1"/>
                  </a:solidFill>
                  <a:latin typeface="Arial" pitchFamily="34" charset="0"/>
                </a:defRPr>
              </a:lvl2pPr>
              <a:lvl3pPr marL="1143000" indent="-228600">
                <a:defRPr sz="1200" b="1">
                  <a:solidFill>
                    <a:schemeClr val="tx1"/>
                  </a:solidFill>
                  <a:latin typeface="Arial" pitchFamily="34" charset="0"/>
                </a:defRPr>
              </a:lvl3pPr>
              <a:lvl4pPr marL="1600200" indent="-228600">
                <a:defRPr sz="1200" b="1">
                  <a:solidFill>
                    <a:schemeClr val="tx1"/>
                  </a:solidFill>
                  <a:latin typeface="Arial" pitchFamily="34" charset="0"/>
                </a:defRPr>
              </a:lvl4pPr>
              <a:lvl5pPr marL="2057400" indent="-228600">
                <a:defRPr sz="1200" b="1">
                  <a:solidFill>
                    <a:schemeClr val="tx1"/>
                  </a:solidFill>
                  <a:latin typeface="Arial" pitchFamily="34" charset="0"/>
                </a:defRPr>
              </a:lvl5pPr>
              <a:lvl6pPr marL="2514600" indent="-228600" algn="l" rtl="0" eaLnBrk="0" fontAlgn="base" hangingPunct="0">
                <a:spcBef>
                  <a:spcPct val="0"/>
                </a:spcBef>
                <a:spcAft>
                  <a:spcPct val="0"/>
                </a:spcAft>
                <a:defRPr sz="1200" b="1">
                  <a:solidFill>
                    <a:schemeClr val="tx1"/>
                  </a:solidFill>
                  <a:latin typeface="Arial" pitchFamily="34" charset="0"/>
                </a:defRPr>
              </a:lvl6pPr>
              <a:lvl7pPr marL="2971800" indent="-228600" algn="l" rtl="0" eaLnBrk="0" fontAlgn="base" hangingPunct="0">
                <a:spcBef>
                  <a:spcPct val="0"/>
                </a:spcBef>
                <a:spcAft>
                  <a:spcPct val="0"/>
                </a:spcAft>
                <a:defRPr sz="1200" b="1">
                  <a:solidFill>
                    <a:schemeClr val="tx1"/>
                  </a:solidFill>
                  <a:latin typeface="Arial" pitchFamily="34" charset="0"/>
                </a:defRPr>
              </a:lvl7pPr>
              <a:lvl8pPr marL="3429000" indent="-228600" algn="l" rtl="0" eaLnBrk="0" fontAlgn="base" hangingPunct="0">
                <a:spcBef>
                  <a:spcPct val="0"/>
                </a:spcBef>
                <a:spcAft>
                  <a:spcPct val="0"/>
                </a:spcAft>
                <a:defRPr sz="1200" b="1">
                  <a:solidFill>
                    <a:schemeClr val="tx1"/>
                  </a:solidFill>
                  <a:latin typeface="Arial" pitchFamily="34" charset="0"/>
                </a:defRPr>
              </a:lvl8pPr>
              <a:lvl9pPr marL="3886200" indent="-228600" algn="l" rtl="0" eaLnBrk="0" fontAlgn="base" hangingPunct="0">
                <a:spcBef>
                  <a:spcPct val="0"/>
                </a:spcBef>
                <a:spcAft>
                  <a:spcPct val="0"/>
                </a:spcAft>
                <a:defRPr sz="1200" b="1">
                  <a:solidFill>
                    <a:schemeClr val="tx1"/>
                  </a:solidFill>
                  <a:latin typeface="Arial" pitchFamily="34" charset="0"/>
                </a:defRPr>
              </a:lvl9pPr>
            </a:lstStyle>
            <a:p>
              <a:r>
                <a:rPr lang="en-US" sz="1800" b="0" dirty="0"/>
                <a:t>Choose b pivot rows of W</a:t>
              </a:r>
              <a:r>
                <a:rPr lang="en-US" sz="1800" b="0" baseline="-25000" dirty="0"/>
                <a:t>1</a:t>
              </a:r>
              <a:r>
                <a:rPr lang="en-US" sz="1800" b="0" dirty="0"/>
                <a:t>, call them W</a:t>
              </a:r>
              <a:r>
                <a:rPr lang="en-US" sz="1800" b="0" baseline="-25000" dirty="0"/>
                <a:t>1</a:t>
              </a:r>
              <a:r>
                <a:rPr lang="en-US" sz="1800" b="0" dirty="0"/>
                <a:t>’</a:t>
              </a:r>
            </a:p>
            <a:p>
              <a:r>
                <a:rPr lang="en-US" sz="1800" b="0" dirty="0"/>
                <a:t>Choose b pivot rows of W</a:t>
              </a:r>
              <a:r>
                <a:rPr lang="en-US" sz="1800" b="0" baseline="-25000" dirty="0"/>
                <a:t>2</a:t>
              </a:r>
              <a:r>
                <a:rPr lang="en-US" sz="1800" b="0" dirty="0"/>
                <a:t>, call them W</a:t>
              </a:r>
              <a:r>
                <a:rPr lang="en-US" sz="1800" b="0" baseline="-25000" dirty="0"/>
                <a:t>2</a:t>
              </a:r>
              <a:r>
                <a:rPr lang="en-US" sz="1800" b="0" dirty="0"/>
                <a:t>’</a:t>
              </a:r>
            </a:p>
            <a:p>
              <a:r>
                <a:rPr lang="en-US" sz="1800" b="0" dirty="0"/>
                <a:t>Choose b pivot rows of W</a:t>
              </a:r>
              <a:r>
                <a:rPr lang="en-US" sz="1800" b="0" baseline="-25000" dirty="0"/>
                <a:t>3</a:t>
              </a:r>
              <a:r>
                <a:rPr lang="en-US" sz="1800" b="0" dirty="0"/>
                <a:t>, call them W</a:t>
              </a:r>
              <a:r>
                <a:rPr lang="en-US" sz="1800" b="0" baseline="-25000" dirty="0"/>
                <a:t>3</a:t>
              </a:r>
              <a:r>
                <a:rPr lang="en-US" sz="1800" b="0" dirty="0"/>
                <a:t>’</a:t>
              </a:r>
            </a:p>
            <a:p>
              <a:r>
                <a:rPr lang="en-US" sz="1800" b="0" dirty="0"/>
                <a:t>Choose b pivot rows of W</a:t>
              </a:r>
              <a:r>
                <a:rPr lang="en-US" sz="1800" b="0" baseline="-25000" dirty="0"/>
                <a:t>4</a:t>
              </a:r>
              <a:r>
                <a:rPr lang="en-US" sz="1800" b="0" dirty="0"/>
                <a:t>, call them W</a:t>
              </a:r>
              <a:r>
                <a:rPr lang="en-US" sz="1800" b="0" baseline="-25000" dirty="0"/>
                <a:t>4</a:t>
              </a:r>
              <a:r>
                <a:rPr lang="en-US" sz="1800" b="0" dirty="0"/>
                <a:t>’</a:t>
              </a:r>
            </a:p>
          </p:txBody>
        </p:sp>
        <p:cxnSp>
          <p:nvCxnSpPr>
            <p:cNvPr id="51229" name="Straight Connector 20"/>
            <p:cNvCxnSpPr>
              <a:cxnSpLocks noChangeShapeType="1"/>
            </p:cNvCxnSpPr>
            <p:nvPr/>
          </p:nvCxnSpPr>
          <p:spPr bwMode="auto">
            <a:xfrm>
              <a:off x="1855651" y="1588959"/>
              <a:ext cx="530915" cy="0"/>
            </a:xfrm>
            <a:prstGeom prst="line">
              <a:avLst/>
            </a:prstGeom>
            <a:noFill/>
            <a:ln w="12700" algn="ctr">
              <a:solidFill>
                <a:schemeClr val="tx1"/>
              </a:solidFill>
              <a:round/>
              <a:headEnd type="none" w="sm" len="sm"/>
              <a:tailEnd type="none" w="sm" len="sm"/>
            </a:ln>
            <a:extLst>
              <a:ext uri="{909E8E84-426E-40dd-AFC4-6F175D3DCCD1}">
                <a14:hiddenFill xmlns:a14="http://schemas.microsoft.com/office/drawing/2010/main">
                  <a:noFill/>
                </a14:hiddenFill>
              </a:ext>
            </a:extLst>
          </p:spPr>
        </p:cxnSp>
        <p:cxnSp>
          <p:nvCxnSpPr>
            <p:cNvPr id="51230" name="Straight Connector 21"/>
            <p:cNvCxnSpPr>
              <a:cxnSpLocks noChangeShapeType="1"/>
            </p:cNvCxnSpPr>
            <p:nvPr/>
          </p:nvCxnSpPr>
          <p:spPr bwMode="auto">
            <a:xfrm>
              <a:off x="1843161" y="1861279"/>
              <a:ext cx="530915" cy="0"/>
            </a:xfrm>
            <a:prstGeom prst="line">
              <a:avLst/>
            </a:prstGeom>
            <a:noFill/>
            <a:ln w="12700" algn="ctr">
              <a:solidFill>
                <a:schemeClr val="tx1"/>
              </a:solidFill>
              <a:round/>
              <a:headEnd type="none" w="sm" len="sm"/>
              <a:tailEnd type="none" w="sm" len="sm"/>
            </a:ln>
            <a:extLst>
              <a:ext uri="{909E8E84-426E-40dd-AFC4-6F175D3DCCD1}">
                <a14:hiddenFill xmlns:a14="http://schemas.microsoft.com/office/drawing/2010/main">
                  <a:noFill/>
                </a14:hiddenFill>
              </a:ext>
            </a:extLst>
          </p:spPr>
        </p:cxnSp>
        <p:cxnSp>
          <p:nvCxnSpPr>
            <p:cNvPr id="51231" name="Straight Connector 22"/>
            <p:cNvCxnSpPr>
              <a:cxnSpLocks noChangeShapeType="1"/>
            </p:cNvCxnSpPr>
            <p:nvPr/>
          </p:nvCxnSpPr>
          <p:spPr bwMode="auto">
            <a:xfrm>
              <a:off x="1860651" y="2148589"/>
              <a:ext cx="530915" cy="0"/>
            </a:xfrm>
            <a:prstGeom prst="line">
              <a:avLst/>
            </a:prstGeom>
            <a:noFill/>
            <a:ln w="12700" algn="ctr">
              <a:solidFill>
                <a:schemeClr val="tx1"/>
              </a:solidFill>
              <a:round/>
              <a:headEnd type="none" w="sm" len="sm"/>
              <a:tailEnd type="none" w="sm" len="sm"/>
            </a:ln>
            <a:extLst>
              <a:ext uri="{909E8E84-426E-40dd-AFC4-6F175D3DCCD1}">
                <a14:hiddenFill xmlns:a14="http://schemas.microsoft.com/office/drawing/2010/main">
                  <a:noFill/>
                </a14:hiddenFill>
              </a:ext>
            </a:extLst>
          </p:spPr>
        </p:cxnSp>
        <p:cxnSp>
          <p:nvCxnSpPr>
            <p:cNvPr id="51232" name="Straight Connector 24"/>
            <p:cNvCxnSpPr>
              <a:cxnSpLocks noChangeShapeType="1"/>
            </p:cNvCxnSpPr>
            <p:nvPr/>
          </p:nvCxnSpPr>
          <p:spPr bwMode="auto">
            <a:xfrm>
              <a:off x="3124200" y="1588959"/>
              <a:ext cx="1147997" cy="0"/>
            </a:xfrm>
            <a:prstGeom prst="line">
              <a:avLst/>
            </a:prstGeom>
            <a:noFill/>
            <a:ln w="12700" algn="ctr">
              <a:solidFill>
                <a:schemeClr val="tx1"/>
              </a:solidFill>
              <a:round/>
              <a:headEnd type="none" w="sm" len="sm"/>
              <a:tailEnd type="none" w="sm" len="sm"/>
            </a:ln>
            <a:extLst>
              <a:ext uri="{909E8E84-426E-40dd-AFC4-6F175D3DCCD1}">
                <a14:hiddenFill xmlns:a14="http://schemas.microsoft.com/office/drawing/2010/main">
                  <a:noFill/>
                </a14:hiddenFill>
              </a:ext>
            </a:extLst>
          </p:spPr>
        </p:cxnSp>
        <p:cxnSp>
          <p:nvCxnSpPr>
            <p:cNvPr id="51233" name="Straight Connector 25"/>
            <p:cNvCxnSpPr>
              <a:cxnSpLocks noChangeShapeType="1"/>
            </p:cNvCxnSpPr>
            <p:nvPr/>
          </p:nvCxnSpPr>
          <p:spPr bwMode="auto">
            <a:xfrm>
              <a:off x="3111710" y="1861279"/>
              <a:ext cx="1147997" cy="0"/>
            </a:xfrm>
            <a:prstGeom prst="line">
              <a:avLst/>
            </a:prstGeom>
            <a:noFill/>
            <a:ln w="12700" algn="ctr">
              <a:solidFill>
                <a:schemeClr val="tx1"/>
              </a:solidFill>
              <a:round/>
              <a:headEnd type="none" w="sm" len="sm"/>
              <a:tailEnd type="none" w="sm" len="sm"/>
            </a:ln>
            <a:extLst>
              <a:ext uri="{909E8E84-426E-40dd-AFC4-6F175D3DCCD1}">
                <a14:hiddenFill xmlns:a14="http://schemas.microsoft.com/office/drawing/2010/main">
                  <a:noFill/>
                </a14:hiddenFill>
              </a:ext>
            </a:extLst>
          </p:spPr>
        </p:cxnSp>
        <p:cxnSp>
          <p:nvCxnSpPr>
            <p:cNvPr id="51234" name="Straight Connector 26"/>
            <p:cNvCxnSpPr>
              <a:cxnSpLocks noChangeShapeType="1"/>
            </p:cNvCxnSpPr>
            <p:nvPr/>
          </p:nvCxnSpPr>
          <p:spPr bwMode="auto">
            <a:xfrm>
              <a:off x="3114210" y="2133599"/>
              <a:ext cx="1147997" cy="0"/>
            </a:xfrm>
            <a:prstGeom prst="line">
              <a:avLst/>
            </a:prstGeom>
            <a:noFill/>
            <a:ln w="12700" algn="ctr">
              <a:solidFill>
                <a:schemeClr val="tx1"/>
              </a:solidFill>
              <a:round/>
              <a:headEnd type="none" w="sm" len="sm"/>
              <a:tailEnd type="none" w="sm" len="sm"/>
            </a:ln>
            <a:extLst>
              <a:ext uri="{909E8E84-426E-40dd-AFC4-6F175D3DCCD1}">
                <a14:hiddenFill xmlns:a14="http://schemas.microsoft.com/office/drawing/2010/main">
                  <a:noFill/>
                </a14:hiddenFill>
              </a:ext>
            </a:extLst>
          </p:spPr>
        </p:cxnSp>
      </p:grpSp>
      <p:grpSp>
        <p:nvGrpSpPr>
          <p:cNvPr id="5" name="Group 35"/>
          <p:cNvGrpSpPr>
            <a:grpSpLocks/>
          </p:cNvGrpSpPr>
          <p:nvPr/>
        </p:nvGrpSpPr>
        <p:grpSpPr bwMode="auto">
          <a:xfrm>
            <a:off x="1806575" y="2896736"/>
            <a:ext cx="6969730" cy="1446551"/>
            <a:chOff x="1086464" y="3196352"/>
            <a:chExt cx="6969642" cy="1446768"/>
          </a:xfrm>
        </p:grpSpPr>
        <p:grpSp>
          <p:nvGrpSpPr>
            <p:cNvPr id="51214" name="Group 16"/>
            <p:cNvGrpSpPr>
              <a:grpSpLocks/>
            </p:cNvGrpSpPr>
            <p:nvPr/>
          </p:nvGrpSpPr>
          <p:grpSpPr bwMode="auto">
            <a:xfrm>
              <a:off x="1086464" y="3196352"/>
              <a:ext cx="694120" cy="1446768"/>
              <a:chOff x="2113614" y="1245131"/>
              <a:chExt cx="694120" cy="1446768"/>
            </a:xfrm>
          </p:grpSpPr>
          <p:sp>
            <p:nvSpPr>
              <p:cNvPr id="51222" name="TextBox 17"/>
              <p:cNvSpPr txBox="1">
                <a:spLocks noChangeArrowheads="1"/>
              </p:cNvSpPr>
              <p:nvPr/>
            </p:nvSpPr>
            <p:spPr bwMode="auto">
              <a:xfrm>
                <a:off x="2178624" y="1274164"/>
                <a:ext cx="569296" cy="1323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200" b="1">
                    <a:solidFill>
                      <a:schemeClr val="tx1"/>
                    </a:solidFill>
                    <a:latin typeface="Arial" pitchFamily="34" charset="0"/>
                  </a:defRPr>
                </a:lvl1pPr>
                <a:lvl2pPr marL="742950" indent="-285750">
                  <a:defRPr sz="1200" b="1">
                    <a:solidFill>
                      <a:schemeClr val="tx1"/>
                    </a:solidFill>
                    <a:latin typeface="Arial" pitchFamily="34" charset="0"/>
                  </a:defRPr>
                </a:lvl2pPr>
                <a:lvl3pPr marL="1143000" indent="-228600">
                  <a:defRPr sz="1200" b="1">
                    <a:solidFill>
                      <a:schemeClr val="tx1"/>
                    </a:solidFill>
                    <a:latin typeface="Arial" pitchFamily="34" charset="0"/>
                  </a:defRPr>
                </a:lvl3pPr>
                <a:lvl4pPr marL="1600200" indent="-228600">
                  <a:defRPr sz="1200" b="1">
                    <a:solidFill>
                      <a:schemeClr val="tx1"/>
                    </a:solidFill>
                    <a:latin typeface="Arial" pitchFamily="34" charset="0"/>
                  </a:defRPr>
                </a:lvl4pPr>
                <a:lvl5pPr marL="2057400" indent="-228600">
                  <a:defRPr sz="1200" b="1">
                    <a:solidFill>
                      <a:schemeClr val="tx1"/>
                    </a:solidFill>
                    <a:latin typeface="Arial" pitchFamily="34" charset="0"/>
                  </a:defRPr>
                </a:lvl5pPr>
                <a:lvl6pPr marL="2514600" indent="-228600" algn="l" rtl="0" eaLnBrk="0" fontAlgn="base" hangingPunct="0">
                  <a:spcBef>
                    <a:spcPct val="0"/>
                  </a:spcBef>
                  <a:spcAft>
                    <a:spcPct val="0"/>
                  </a:spcAft>
                  <a:defRPr sz="1200" b="1">
                    <a:solidFill>
                      <a:schemeClr val="tx1"/>
                    </a:solidFill>
                    <a:latin typeface="Arial" pitchFamily="34" charset="0"/>
                  </a:defRPr>
                </a:lvl6pPr>
                <a:lvl7pPr marL="2971800" indent="-228600" algn="l" rtl="0" eaLnBrk="0" fontAlgn="base" hangingPunct="0">
                  <a:spcBef>
                    <a:spcPct val="0"/>
                  </a:spcBef>
                  <a:spcAft>
                    <a:spcPct val="0"/>
                  </a:spcAft>
                  <a:defRPr sz="1200" b="1">
                    <a:solidFill>
                      <a:schemeClr val="tx1"/>
                    </a:solidFill>
                    <a:latin typeface="Arial" pitchFamily="34" charset="0"/>
                  </a:defRPr>
                </a:lvl7pPr>
                <a:lvl8pPr marL="3429000" indent="-228600" algn="l" rtl="0" eaLnBrk="0" fontAlgn="base" hangingPunct="0">
                  <a:spcBef>
                    <a:spcPct val="0"/>
                  </a:spcBef>
                  <a:spcAft>
                    <a:spcPct val="0"/>
                  </a:spcAft>
                  <a:defRPr sz="1200" b="1">
                    <a:solidFill>
                      <a:schemeClr val="tx1"/>
                    </a:solidFill>
                    <a:latin typeface="Arial" pitchFamily="34" charset="0"/>
                  </a:defRPr>
                </a:lvl8pPr>
                <a:lvl9pPr marL="3886200" indent="-228600" algn="l" rtl="0" eaLnBrk="0" fontAlgn="base" hangingPunct="0">
                  <a:spcBef>
                    <a:spcPct val="0"/>
                  </a:spcBef>
                  <a:spcAft>
                    <a:spcPct val="0"/>
                  </a:spcAft>
                  <a:defRPr sz="1200" b="1">
                    <a:solidFill>
                      <a:schemeClr val="tx1"/>
                    </a:solidFill>
                    <a:latin typeface="Arial" pitchFamily="34" charset="0"/>
                  </a:defRPr>
                </a:lvl9pPr>
              </a:lstStyle>
              <a:p>
                <a:r>
                  <a:rPr lang="en-US" sz="2000" b="0" dirty="0"/>
                  <a:t>W</a:t>
                </a:r>
                <a:r>
                  <a:rPr lang="en-US" sz="2000" b="0" baseline="-25000" dirty="0"/>
                  <a:t>1</a:t>
                </a:r>
                <a:r>
                  <a:rPr lang="en-US" sz="2000" b="0" dirty="0"/>
                  <a:t>’</a:t>
                </a:r>
              </a:p>
              <a:p>
                <a:r>
                  <a:rPr lang="en-US" sz="2000" b="0" dirty="0"/>
                  <a:t>W</a:t>
                </a:r>
                <a:r>
                  <a:rPr lang="en-US" sz="2000" b="0" baseline="-25000" dirty="0"/>
                  <a:t>2</a:t>
                </a:r>
                <a:r>
                  <a:rPr lang="en-US" sz="2000" b="0" dirty="0"/>
                  <a:t>’</a:t>
                </a:r>
              </a:p>
              <a:p>
                <a:r>
                  <a:rPr lang="en-US" sz="2000" b="0" dirty="0"/>
                  <a:t>W</a:t>
                </a:r>
                <a:r>
                  <a:rPr lang="en-US" sz="2000" b="0" baseline="-25000" dirty="0"/>
                  <a:t>3</a:t>
                </a:r>
                <a:r>
                  <a:rPr lang="en-US" sz="2000" b="0" dirty="0"/>
                  <a:t>’</a:t>
                </a:r>
              </a:p>
              <a:p>
                <a:r>
                  <a:rPr lang="en-US" sz="2000" b="0" dirty="0"/>
                  <a:t>W</a:t>
                </a:r>
                <a:r>
                  <a:rPr lang="en-US" sz="2000" b="0" baseline="-25000" dirty="0"/>
                  <a:t>4</a:t>
                </a:r>
                <a:r>
                  <a:rPr lang="en-US" sz="1600" b="0" dirty="0"/>
                  <a:t>’</a:t>
                </a:r>
              </a:p>
            </p:txBody>
          </p:sp>
          <p:sp>
            <p:nvSpPr>
              <p:cNvPr id="51223" name="Double Bracket 18"/>
              <p:cNvSpPr>
                <a:spLocks noChangeArrowheads="1"/>
              </p:cNvSpPr>
              <p:nvPr/>
            </p:nvSpPr>
            <p:spPr bwMode="auto">
              <a:xfrm>
                <a:off x="2113614" y="1245131"/>
                <a:ext cx="694120" cy="1446768"/>
              </a:xfrm>
              <a:prstGeom prst="bracketPair">
                <a:avLst>
                  <a:gd name="adj" fmla="val 16667"/>
                </a:avLst>
              </a:prstGeom>
              <a:noFill/>
              <a:ln w="12700" algn="ctr">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it-IT" sz="1800"/>
              </a:p>
            </p:txBody>
          </p:sp>
        </p:grpSp>
        <p:cxnSp>
          <p:nvCxnSpPr>
            <p:cNvPr id="51215" name="Straight Connector 27"/>
            <p:cNvCxnSpPr>
              <a:cxnSpLocks noChangeShapeType="1"/>
            </p:cNvCxnSpPr>
            <p:nvPr/>
          </p:nvCxnSpPr>
          <p:spPr bwMode="auto">
            <a:xfrm>
              <a:off x="1131434" y="3938621"/>
              <a:ext cx="530915" cy="0"/>
            </a:xfrm>
            <a:prstGeom prst="line">
              <a:avLst/>
            </a:prstGeom>
            <a:noFill/>
            <a:ln w="12700" algn="ctr">
              <a:solidFill>
                <a:schemeClr val="tx1"/>
              </a:solidFill>
              <a:round/>
              <a:headEnd type="none" w="sm" len="sm"/>
              <a:tailEnd type="none" w="sm" len="sm"/>
            </a:ln>
            <a:extLst>
              <a:ext uri="{909E8E84-426E-40dd-AFC4-6F175D3DCCD1}">
                <a14:hiddenFill xmlns:a14="http://schemas.microsoft.com/office/drawing/2010/main">
                  <a:noFill/>
                </a14:hiddenFill>
              </a:ext>
            </a:extLst>
          </p:spPr>
        </p:cxnSp>
        <p:grpSp>
          <p:nvGrpSpPr>
            <p:cNvPr id="51216" name="Group 32"/>
            <p:cNvGrpSpPr>
              <a:grpSpLocks/>
            </p:cNvGrpSpPr>
            <p:nvPr/>
          </p:nvGrpSpPr>
          <p:grpSpPr bwMode="auto">
            <a:xfrm>
              <a:off x="2358275" y="3372792"/>
              <a:ext cx="1434236" cy="1052921"/>
              <a:chOff x="2358275" y="3822492"/>
              <a:chExt cx="1434236" cy="1052921"/>
            </a:xfrm>
          </p:grpSpPr>
          <p:sp>
            <p:nvSpPr>
              <p:cNvPr id="51219" name="TextBox 28"/>
              <p:cNvSpPr txBox="1">
                <a:spLocks noChangeArrowheads="1"/>
              </p:cNvSpPr>
              <p:nvPr/>
            </p:nvSpPr>
            <p:spPr bwMode="auto">
              <a:xfrm>
                <a:off x="2386566" y="3822492"/>
                <a:ext cx="1405945" cy="10158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200" b="1">
                    <a:solidFill>
                      <a:schemeClr val="tx1"/>
                    </a:solidFill>
                    <a:latin typeface="Arial" pitchFamily="34" charset="0"/>
                  </a:defRPr>
                </a:lvl1pPr>
                <a:lvl2pPr marL="742950" indent="-285750">
                  <a:defRPr sz="1200" b="1">
                    <a:solidFill>
                      <a:schemeClr val="tx1"/>
                    </a:solidFill>
                    <a:latin typeface="Arial" pitchFamily="34" charset="0"/>
                  </a:defRPr>
                </a:lvl2pPr>
                <a:lvl3pPr marL="1143000" indent="-228600">
                  <a:defRPr sz="1200" b="1">
                    <a:solidFill>
                      <a:schemeClr val="tx1"/>
                    </a:solidFill>
                    <a:latin typeface="Arial" pitchFamily="34" charset="0"/>
                  </a:defRPr>
                </a:lvl3pPr>
                <a:lvl4pPr marL="1600200" indent="-228600">
                  <a:defRPr sz="1200" b="1">
                    <a:solidFill>
                      <a:schemeClr val="tx1"/>
                    </a:solidFill>
                    <a:latin typeface="Arial" pitchFamily="34" charset="0"/>
                  </a:defRPr>
                </a:lvl4pPr>
                <a:lvl5pPr marL="2057400" indent="-228600">
                  <a:defRPr sz="1200" b="1">
                    <a:solidFill>
                      <a:schemeClr val="tx1"/>
                    </a:solidFill>
                    <a:latin typeface="Arial" pitchFamily="34" charset="0"/>
                  </a:defRPr>
                </a:lvl5pPr>
                <a:lvl6pPr marL="2514600" indent="-228600" algn="l" rtl="0" eaLnBrk="0" fontAlgn="base" hangingPunct="0">
                  <a:spcBef>
                    <a:spcPct val="0"/>
                  </a:spcBef>
                  <a:spcAft>
                    <a:spcPct val="0"/>
                  </a:spcAft>
                  <a:defRPr sz="1200" b="1">
                    <a:solidFill>
                      <a:schemeClr val="tx1"/>
                    </a:solidFill>
                    <a:latin typeface="Arial" pitchFamily="34" charset="0"/>
                  </a:defRPr>
                </a:lvl6pPr>
                <a:lvl7pPr marL="2971800" indent="-228600" algn="l" rtl="0" eaLnBrk="0" fontAlgn="base" hangingPunct="0">
                  <a:spcBef>
                    <a:spcPct val="0"/>
                  </a:spcBef>
                  <a:spcAft>
                    <a:spcPct val="0"/>
                  </a:spcAft>
                  <a:defRPr sz="1200" b="1">
                    <a:solidFill>
                      <a:schemeClr val="tx1"/>
                    </a:solidFill>
                    <a:latin typeface="Arial" pitchFamily="34" charset="0"/>
                  </a:defRPr>
                </a:lvl7pPr>
                <a:lvl8pPr marL="3429000" indent="-228600" algn="l" rtl="0" eaLnBrk="0" fontAlgn="base" hangingPunct="0">
                  <a:spcBef>
                    <a:spcPct val="0"/>
                  </a:spcBef>
                  <a:spcAft>
                    <a:spcPct val="0"/>
                  </a:spcAft>
                  <a:defRPr sz="1200" b="1">
                    <a:solidFill>
                      <a:schemeClr val="tx1"/>
                    </a:solidFill>
                    <a:latin typeface="Arial" pitchFamily="34" charset="0"/>
                  </a:defRPr>
                </a:lvl8pPr>
                <a:lvl9pPr marL="3886200" indent="-228600" algn="l" rtl="0" eaLnBrk="0" fontAlgn="base" hangingPunct="0">
                  <a:spcBef>
                    <a:spcPct val="0"/>
                  </a:spcBef>
                  <a:spcAft>
                    <a:spcPct val="0"/>
                  </a:spcAft>
                  <a:defRPr sz="1200" b="1">
                    <a:solidFill>
                      <a:schemeClr val="tx1"/>
                    </a:solidFill>
                    <a:latin typeface="Arial" pitchFamily="34" charset="0"/>
                  </a:defRPr>
                </a:lvl9pPr>
              </a:lstStyle>
              <a:p>
                <a:r>
                  <a:rPr lang="en-US" sz="2000" b="0" dirty="0"/>
                  <a:t>P</a:t>
                </a:r>
                <a:r>
                  <a:rPr lang="en-US" sz="2000" b="0" baseline="-25000" dirty="0"/>
                  <a:t>12</a:t>
                </a:r>
                <a:r>
                  <a:rPr lang="en-US" sz="2000" b="0" dirty="0"/>
                  <a:t>·L</a:t>
                </a:r>
                <a:r>
                  <a:rPr lang="en-US" sz="2000" b="0" baseline="-25000" dirty="0"/>
                  <a:t>12</a:t>
                </a:r>
                <a:r>
                  <a:rPr lang="en-US" sz="2000" b="0" dirty="0"/>
                  <a:t>·U</a:t>
                </a:r>
                <a:r>
                  <a:rPr lang="en-US" sz="2000" b="0" baseline="-25000" dirty="0"/>
                  <a:t>12</a:t>
                </a:r>
              </a:p>
              <a:p>
                <a:endParaRPr lang="en-US" sz="2000" b="0" dirty="0"/>
              </a:p>
              <a:p>
                <a:r>
                  <a:rPr lang="en-US" sz="2000" b="0" dirty="0"/>
                  <a:t>P</a:t>
                </a:r>
                <a:r>
                  <a:rPr lang="en-US" sz="2000" b="0" baseline="-25000" dirty="0"/>
                  <a:t>34</a:t>
                </a:r>
                <a:r>
                  <a:rPr lang="en-US" sz="2000" b="0" dirty="0"/>
                  <a:t>·L</a:t>
                </a:r>
                <a:r>
                  <a:rPr lang="en-US" sz="2000" b="0" baseline="-25000" dirty="0"/>
                  <a:t>34</a:t>
                </a:r>
                <a:r>
                  <a:rPr lang="en-US" sz="2000" b="0" dirty="0"/>
                  <a:t>·U</a:t>
                </a:r>
                <a:r>
                  <a:rPr lang="en-US" sz="2000" b="0" baseline="-25000" dirty="0"/>
                  <a:t>34</a:t>
                </a:r>
              </a:p>
            </p:txBody>
          </p:sp>
          <p:sp>
            <p:nvSpPr>
              <p:cNvPr id="51220" name="Double Bracket 29"/>
              <p:cNvSpPr>
                <a:spLocks noChangeArrowheads="1"/>
              </p:cNvSpPr>
              <p:nvPr/>
            </p:nvSpPr>
            <p:spPr bwMode="auto">
              <a:xfrm>
                <a:off x="2358275" y="3831422"/>
                <a:ext cx="1434236" cy="1043991"/>
              </a:xfrm>
              <a:prstGeom prst="bracketPair">
                <a:avLst>
                  <a:gd name="adj" fmla="val 16667"/>
                </a:avLst>
              </a:prstGeom>
              <a:noFill/>
              <a:ln w="12700" algn="ctr">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it-IT" sz="1800"/>
              </a:p>
            </p:txBody>
          </p:sp>
          <p:cxnSp>
            <p:nvCxnSpPr>
              <p:cNvPr id="51221" name="Straight Connector 31"/>
              <p:cNvCxnSpPr>
                <a:cxnSpLocks noChangeShapeType="1"/>
              </p:cNvCxnSpPr>
              <p:nvPr/>
            </p:nvCxnSpPr>
            <p:spPr bwMode="auto">
              <a:xfrm>
                <a:off x="2386566" y="4305793"/>
                <a:ext cx="1390955" cy="0"/>
              </a:xfrm>
              <a:prstGeom prst="line">
                <a:avLst/>
              </a:prstGeom>
              <a:noFill/>
              <a:ln w="12700" algn="ctr">
                <a:solidFill>
                  <a:schemeClr val="tx1"/>
                </a:solidFill>
                <a:round/>
                <a:headEnd type="none" w="sm" len="sm"/>
                <a:tailEnd type="none" w="sm" len="sm"/>
              </a:ln>
              <a:extLst>
                <a:ext uri="{909E8E84-426E-40dd-AFC4-6F175D3DCCD1}">
                  <a14:hiddenFill xmlns:a14="http://schemas.microsoft.com/office/drawing/2010/main">
                    <a:noFill/>
                  </a14:hiddenFill>
                </a:ext>
              </a:extLst>
            </p:spPr>
          </p:cxnSp>
        </p:grpSp>
        <p:sp>
          <p:nvSpPr>
            <p:cNvPr id="51217" name="TextBox 33"/>
            <p:cNvSpPr txBox="1">
              <a:spLocks noChangeArrowheads="1"/>
            </p:cNvSpPr>
            <p:nvPr/>
          </p:nvSpPr>
          <p:spPr bwMode="auto">
            <a:xfrm>
              <a:off x="1883087" y="3637826"/>
              <a:ext cx="304887" cy="3386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200" b="1">
                  <a:solidFill>
                    <a:schemeClr val="tx1"/>
                  </a:solidFill>
                  <a:latin typeface="Arial" pitchFamily="34" charset="0"/>
                </a:defRPr>
              </a:lvl1pPr>
              <a:lvl2pPr marL="742950" indent="-285750">
                <a:defRPr sz="1200" b="1">
                  <a:solidFill>
                    <a:schemeClr val="tx1"/>
                  </a:solidFill>
                  <a:latin typeface="Arial" pitchFamily="34" charset="0"/>
                </a:defRPr>
              </a:lvl2pPr>
              <a:lvl3pPr marL="1143000" indent="-228600">
                <a:defRPr sz="1200" b="1">
                  <a:solidFill>
                    <a:schemeClr val="tx1"/>
                  </a:solidFill>
                  <a:latin typeface="Arial" pitchFamily="34" charset="0"/>
                </a:defRPr>
              </a:lvl3pPr>
              <a:lvl4pPr marL="1600200" indent="-228600">
                <a:defRPr sz="1200" b="1">
                  <a:solidFill>
                    <a:schemeClr val="tx1"/>
                  </a:solidFill>
                  <a:latin typeface="Arial" pitchFamily="34" charset="0"/>
                </a:defRPr>
              </a:lvl4pPr>
              <a:lvl5pPr marL="2057400" indent="-228600">
                <a:defRPr sz="1200" b="1">
                  <a:solidFill>
                    <a:schemeClr val="tx1"/>
                  </a:solidFill>
                  <a:latin typeface="Arial" pitchFamily="34" charset="0"/>
                </a:defRPr>
              </a:lvl5pPr>
              <a:lvl6pPr marL="2514600" indent="-228600" algn="l" rtl="0" eaLnBrk="0" fontAlgn="base" hangingPunct="0">
                <a:spcBef>
                  <a:spcPct val="0"/>
                </a:spcBef>
                <a:spcAft>
                  <a:spcPct val="0"/>
                </a:spcAft>
                <a:defRPr sz="1200" b="1">
                  <a:solidFill>
                    <a:schemeClr val="tx1"/>
                  </a:solidFill>
                  <a:latin typeface="Arial" pitchFamily="34" charset="0"/>
                </a:defRPr>
              </a:lvl6pPr>
              <a:lvl7pPr marL="2971800" indent="-228600" algn="l" rtl="0" eaLnBrk="0" fontAlgn="base" hangingPunct="0">
                <a:spcBef>
                  <a:spcPct val="0"/>
                </a:spcBef>
                <a:spcAft>
                  <a:spcPct val="0"/>
                </a:spcAft>
                <a:defRPr sz="1200" b="1">
                  <a:solidFill>
                    <a:schemeClr val="tx1"/>
                  </a:solidFill>
                  <a:latin typeface="Arial" pitchFamily="34" charset="0"/>
                </a:defRPr>
              </a:lvl7pPr>
              <a:lvl8pPr marL="3429000" indent="-228600" algn="l" rtl="0" eaLnBrk="0" fontAlgn="base" hangingPunct="0">
                <a:spcBef>
                  <a:spcPct val="0"/>
                </a:spcBef>
                <a:spcAft>
                  <a:spcPct val="0"/>
                </a:spcAft>
                <a:defRPr sz="1200" b="1">
                  <a:solidFill>
                    <a:schemeClr val="tx1"/>
                  </a:solidFill>
                  <a:latin typeface="Arial" pitchFamily="34" charset="0"/>
                </a:defRPr>
              </a:lvl8pPr>
              <a:lvl9pPr marL="3886200" indent="-228600" algn="l" rtl="0" eaLnBrk="0" fontAlgn="base" hangingPunct="0">
                <a:spcBef>
                  <a:spcPct val="0"/>
                </a:spcBef>
                <a:spcAft>
                  <a:spcPct val="0"/>
                </a:spcAft>
                <a:defRPr sz="1200" b="1">
                  <a:solidFill>
                    <a:schemeClr val="tx1"/>
                  </a:solidFill>
                  <a:latin typeface="Arial" pitchFamily="34" charset="0"/>
                </a:defRPr>
              </a:lvl9pPr>
            </a:lstStyle>
            <a:p>
              <a:r>
                <a:rPr lang="en-US" sz="1600" b="0"/>
                <a:t>=</a:t>
              </a:r>
            </a:p>
          </p:txBody>
        </p:sp>
        <p:sp>
          <p:nvSpPr>
            <p:cNvPr id="51218" name="TextBox 34"/>
            <p:cNvSpPr txBox="1">
              <a:spLocks noChangeArrowheads="1"/>
            </p:cNvSpPr>
            <p:nvPr/>
          </p:nvSpPr>
          <p:spPr bwMode="auto">
            <a:xfrm>
              <a:off x="4232308" y="3452394"/>
              <a:ext cx="3823798" cy="9234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200" b="1">
                  <a:solidFill>
                    <a:schemeClr val="tx1"/>
                  </a:solidFill>
                  <a:latin typeface="Arial" pitchFamily="34" charset="0"/>
                </a:defRPr>
              </a:lvl1pPr>
              <a:lvl2pPr marL="742950" indent="-285750">
                <a:defRPr sz="1200" b="1">
                  <a:solidFill>
                    <a:schemeClr val="tx1"/>
                  </a:solidFill>
                  <a:latin typeface="Arial" pitchFamily="34" charset="0"/>
                </a:defRPr>
              </a:lvl2pPr>
              <a:lvl3pPr marL="1143000" indent="-228600">
                <a:defRPr sz="1200" b="1">
                  <a:solidFill>
                    <a:schemeClr val="tx1"/>
                  </a:solidFill>
                  <a:latin typeface="Arial" pitchFamily="34" charset="0"/>
                </a:defRPr>
              </a:lvl3pPr>
              <a:lvl4pPr marL="1600200" indent="-228600">
                <a:defRPr sz="1200" b="1">
                  <a:solidFill>
                    <a:schemeClr val="tx1"/>
                  </a:solidFill>
                  <a:latin typeface="Arial" pitchFamily="34" charset="0"/>
                </a:defRPr>
              </a:lvl4pPr>
              <a:lvl5pPr marL="2057400" indent="-228600">
                <a:defRPr sz="1200" b="1">
                  <a:solidFill>
                    <a:schemeClr val="tx1"/>
                  </a:solidFill>
                  <a:latin typeface="Arial" pitchFamily="34" charset="0"/>
                </a:defRPr>
              </a:lvl5pPr>
              <a:lvl6pPr marL="2514600" indent="-228600" algn="l" rtl="0" eaLnBrk="0" fontAlgn="base" hangingPunct="0">
                <a:spcBef>
                  <a:spcPct val="0"/>
                </a:spcBef>
                <a:spcAft>
                  <a:spcPct val="0"/>
                </a:spcAft>
                <a:defRPr sz="1200" b="1">
                  <a:solidFill>
                    <a:schemeClr val="tx1"/>
                  </a:solidFill>
                  <a:latin typeface="Arial" pitchFamily="34" charset="0"/>
                </a:defRPr>
              </a:lvl6pPr>
              <a:lvl7pPr marL="2971800" indent="-228600" algn="l" rtl="0" eaLnBrk="0" fontAlgn="base" hangingPunct="0">
                <a:spcBef>
                  <a:spcPct val="0"/>
                </a:spcBef>
                <a:spcAft>
                  <a:spcPct val="0"/>
                </a:spcAft>
                <a:defRPr sz="1200" b="1">
                  <a:solidFill>
                    <a:schemeClr val="tx1"/>
                  </a:solidFill>
                  <a:latin typeface="Arial" pitchFamily="34" charset="0"/>
                </a:defRPr>
              </a:lvl7pPr>
              <a:lvl8pPr marL="3429000" indent="-228600" algn="l" rtl="0" eaLnBrk="0" fontAlgn="base" hangingPunct="0">
                <a:spcBef>
                  <a:spcPct val="0"/>
                </a:spcBef>
                <a:spcAft>
                  <a:spcPct val="0"/>
                </a:spcAft>
                <a:defRPr sz="1200" b="1">
                  <a:solidFill>
                    <a:schemeClr val="tx1"/>
                  </a:solidFill>
                  <a:latin typeface="Arial" pitchFamily="34" charset="0"/>
                </a:defRPr>
              </a:lvl8pPr>
              <a:lvl9pPr marL="3886200" indent="-228600" algn="l" rtl="0" eaLnBrk="0" fontAlgn="base" hangingPunct="0">
                <a:spcBef>
                  <a:spcPct val="0"/>
                </a:spcBef>
                <a:spcAft>
                  <a:spcPct val="0"/>
                </a:spcAft>
                <a:defRPr sz="1200" b="1">
                  <a:solidFill>
                    <a:schemeClr val="tx1"/>
                  </a:solidFill>
                  <a:latin typeface="Arial" pitchFamily="34" charset="0"/>
                </a:defRPr>
              </a:lvl9pPr>
            </a:lstStyle>
            <a:p>
              <a:r>
                <a:rPr lang="en-US" sz="1800" b="0" dirty="0"/>
                <a:t>Choose b pivot rows, call them W</a:t>
              </a:r>
              <a:r>
                <a:rPr lang="en-US" sz="1800" b="0" baseline="-25000" dirty="0"/>
                <a:t>12</a:t>
              </a:r>
              <a:r>
                <a:rPr lang="en-US" sz="1800" b="0" dirty="0"/>
                <a:t>’</a:t>
              </a:r>
            </a:p>
            <a:p>
              <a:endParaRPr lang="en-US" sz="1800" b="0" dirty="0"/>
            </a:p>
            <a:p>
              <a:r>
                <a:rPr lang="en-US" sz="1800" b="0" dirty="0"/>
                <a:t>Choose b pivot rows, call them W</a:t>
              </a:r>
              <a:r>
                <a:rPr lang="en-US" sz="1800" b="0" baseline="-25000" dirty="0"/>
                <a:t>34</a:t>
              </a:r>
              <a:r>
                <a:rPr lang="en-US" sz="1800" b="0" dirty="0"/>
                <a:t>’</a:t>
              </a:r>
            </a:p>
          </p:txBody>
        </p:sp>
      </p:grpSp>
      <p:grpSp>
        <p:nvGrpSpPr>
          <p:cNvPr id="8" name="Group 42"/>
          <p:cNvGrpSpPr>
            <a:grpSpLocks/>
          </p:cNvGrpSpPr>
          <p:nvPr/>
        </p:nvGrpSpPr>
        <p:grpSpPr bwMode="auto">
          <a:xfrm>
            <a:off x="1766888" y="4413252"/>
            <a:ext cx="5507041" cy="826887"/>
            <a:chOff x="1767677" y="4338775"/>
            <a:chExt cx="5506750" cy="662047"/>
          </a:xfrm>
        </p:grpSpPr>
        <p:grpSp>
          <p:nvGrpSpPr>
            <p:cNvPr id="51209" name="Group 38"/>
            <p:cNvGrpSpPr>
              <a:grpSpLocks/>
            </p:cNvGrpSpPr>
            <p:nvPr/>
          </p:nvGrpSpPr>
          <p:grpSpPr bwMode="auto">
            <a:xfrm>
              <a:off x="1767677" y="4338775"/>
              <a:ext cx="664363" cy="646331"/>
              <a:chOff x="2358275" y="4661941"/>
              <a:chExt cx="664363" cy="646331"/>
            </a:xfrm>
          </p:grpSpPr>
          <p:sp>
            <p:nvSpPr>
              <p:cNvPr id="51212" name="TextBox 36"/>
              <p:cNvSpPr txBox="1">
                <a:spLocks noChangeArrowheads="1"/>
              </p:cNvSpPr>
              <p:nvPr/>
            </p:nvSpPr>
            <p:spPr bwMode="auto">
              <a:xfrm>
                <a:off x="2358275" y="4661941"/>
                <a:ext cx="664363" cy="566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200" b="1">
                    <a:solidFill>
                      <a:schemeClr val="tx1"/>
                    </a:solidFill>
                    <a:latin typeface="Arial" pitchFamily="34" charset="0"/>
                  </a:defRPr>
                </a:lvl1pPr>
                <a:lvl2pPr marL="742950" indent="-285750">
                  <a:defRPr sz="1200" b="1">
                    <a:solidFill>
                      <a:schemeClr val="tx1"/>
                    </a:solidFill>
                    <a:latin typeface="Arial" pitchFamily="34" charset="0"/>
                  </a:defRPr>
                </a:lvl2pPr>
                <a:lvl3pPr marL="1143000" indent="-228600">
                  <a:defRPr sz="1200" b="1">
                    <a:solidFill>
                      <a:schemeClr val="tx1"/>
                    </a:solidFill>
                    <a:latin typeface="Arial" pitchFamily="34" charset="0"/>
                  </a:defRPr>
                </a:lvl3pPr>
                <a:lvl4pPr marL="1600200" indent="-228600">
                  <a:defRPr sz="1200" b="1">
                    <a:solidFill>
                      <a:schemeClr val="tx1"/>
                    </a:solidFill>
                    <a:latin typeface="Arial" pitchFamily="34" charset="0"/>
                  </a:defRPr>
                </a:lvl4pPr>
                <a:lvl5pPr marL="2057400" indent="-228600">
                  <a:defRPr sz="1200" b="1">
                    <a:solidFill>
                      <a:schemeClr val="tx1"/>
                    </a:solidFill>
                    <a:latin typeface="Arial" pitchFamily="34" charset="0"/>
                  </a:defRPr>
                </a:lvl5pPr>
                <a:lvl6pPr marL="2514600" indent="-228600" algn="l" rtl="0" eaLnBrk="0" fontAlgn="base" hangingPunct="0">
                  <a:spcBef>
                    <a:spcPct val="0"/>
                  </a:spcBef>
                  <a:spcAft>
                    <a:spcPct val="0"/>
                  </a:spcAft>
                  <a:defRPr sz="1200" b="1">
                    <a:solidFill>
                      <a:schemeClr val="tx1"/>
                    </a:solidFill>
                    <a:latin typeface="Arial" pitchFamily="34" charset="0"/>
                  </a:defRPr>
                </a:lvl6pPr>
                <a:lvl7pPr marL="2971800" indent="-228600" algn="l" rtl="0" eaLnBrk="0" fontAlgn="base" hangingPunct="0">
                  <a:spcBef>
                    <a:spcPct val="0"/>
                  </a:spcBef>
                  <a:spcAft>
                    <a:spcPct val="0"/>
                  </a:spcAft>
                  <a:defRPr sz="1200" b="1">
                    <a:solidFill>
                      <a:schemeClr val="tx1"/>
                    </a:solidFill>
                    <a:latin typeface="Arial" pitchFamily="34" charset="0"/>
                  </a:defRPr>
                </a:lvl7pPr>
                <a:lvl8pPr marL="3429000" indent="-228600" algn="l" rtl="0" eaLnBrk="0" fontAlgn="base" hangingPunct="0">
                  <a:spcBef>
                    <a:spcPct val="0"/>
                  </a:spcBef>
                  <a:spcAft>
                    <a:spcPct val="0"/>
                  </a:spcAft>
                  <a:defRPr sz="1200" b="1">
                    <a:solidFill>
                      <a:schemeClr val="tx1"/>
                    </a:solidFill>
                    <a:latin typeface="Arial" pitchFamily="34" charset="0"/>
                  </a:defRPr>
                </a:lvl8pPr>
                <a:lvl9pPr marL="3886200" indent="-228600" algn="l" rtl="0" eaLnBrk="0" fontAlgn="base" hangingPunct="0">
                  <a:spcBef>
                    <a:spcPct val="0"/>
                  </a:spcBef>
                  <a:spcAft>
                    <a:spcPct val="0"/>
                  </a:spcAft>
                  <a:defRPr sz="1200" b="1">
                    <a:solidFill>
                      <a:schemeClr val="tx1"/>
                    </a:solidFill>
                    <a:latin typeface="Arial" pitchFamily="34" charset="0"/>
                  </a:defRPr>
                </a:lvl9pPr>
              </a:lstStyle>
              <a:p>
                <a:r>
                  <a:rPr lang="en-US" sz="2000" b="0" dirty="0"/>
                  <a:t>W</a:t>
                </a:r>
                <a:r>
                  <a:rPr lang="en-US" sz="2000" b="0" baseline="-25000" dirty="0"/>
                  <a:t>12</a:t>
                </a:r>
                <a:r>
                  <a:rPr lang="en-US" sz="2000" b="0" dirty="0"/>
                  <a:t>’</a:t>
                </a:r>
              </a:p>
              <a:p>
                <a:r>
                  <a:rPr lang="en-US" sz="2000" b="0" dirty="0"/>
                  <a:t>W</a:t>
                </a:r>
                <a:r>
                  <a:rPr lang="en-US" sz="2000" b="0" baseline="-25000" dirty="0"/>
                  <a:t>34</a:t>
                </a:r>
                <a:r>
                  <a:rPr lang="en-US" sz="2000" b="0" dirty="0"/>
                  <a:t>’</a:t>
                </a:r>
              </a:p>
            </p:txBody>
          </p:sp>
          <p:sp>
            <p:nvSpPr>
              <p:cNvPr id="51213" name="Double Bracket 37"/>
              <p:cNvSpPr>
                <a:spLocks noChangeArrowheads="1"/>
              </p:cNvSpPr>
              <p:nvPr/>
            </p:nvSpPr>
            <p:spPr bwMode="auto">
              <a:xfrm>
                <a:off x="2358275" y="4661941"/>
                <a:ext cx="623889" cy="646331"/>
              </a:xfrm>
              <a:prstGeom prst="bracketPair">
                <a:avLst>
                  <a:gd name="adj" fmla="val 16667"/>
                </a:avLst>
              </a:prstGeom>
              <a:noFill/>
              <a:ln w="12700" algn="ctr">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it-IT"/>
              </a:p>
            </p:txBody>
          </p:sp>
        </p:grpSp>
        <p:sp>
          <p:nvSpPr>
            <p:cNvPr id="51210" name="TextBox 39"/>
            <p:cNvSpPr txBox="1">
              <a:spLocks noChangeArrowheads="1"/>
            </p:cNvSpPr>
            <p:nvPr/>
          </p:nvSpPr>
          <p:spPr bwMode="auto">
            <a:xfrm>
              <a:off x="2590800" y="4458695"/>
              <a:ext cx="2450893" cy="542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200" b="1">
                  <a:solidFill>
                    <a:schemeClr val="tx1"/>
                  </a:solidFill>
                  <a:latin typeface="Arial" pitchFamily="34" charset="0"/>
                </a:defRPr>
              </a:lvl1pPr>
              <a:lvl2pPr marL="742950" indent="-285750">
                <a:defRPr sz="1200" b="1">
                  <a:solidFill>
                    <a:schemeClr val="tx1"/>
                  </a:solidFill>
                  <a:latin typeface="Arial" pitchFamily="34" charset="0"/>
                </a:defRPr>
              </a:lvl2pPr>
              <a:lvl3pPr marL="1143000" indent="-228600">
                <a:defRPr sz="1200" b="1">
                  <a:solidFill>
                    <a:schemeClr val="tx1"/>
                  </a:solidFill>
                  <a:latin typeface="Arial" pitchFamily="34" charset="0"/>
                </a:defRPr>
              </a:lvl3pPr>
              <a:lvl4pPr marL="1600200" indent="-228600">
                <a:defRPr sz="1200" b="1">
                  <a:solidFill>
                    <a:schemeClr val="tx1"/>
                  </a:solidFill>
                  <a:latin typeface="Arial" pitchFamily="34" charset="0"/>
                </a:defRPr>
              </a:lvl4pPr>
              <a:lvl5pPr marL="2057400" indent="-228600">
                <a:defRPr sz="1200" b="1">
                  <a:solidFill>
                    <a:schemeClr val="tx1"/>
                  </a:solidFill>
                  <a:latin typeface="Arial" pitchFamily="34" charset="0"/>
                </a:defRPr>
              </a:lvl5pPr>
              <a:lvl6pPr marL="2514600" indent="-228600" algn="l" rtl="0" eaLnBrk="0" fontAlgn="base" hangingPunct="0">
                <a:spcBef>
                  <a:spcPct val="0"/>
                </a:spcBef>
                <a:spcAft>
                  <a:spcPct val="0"/>
                </a:spcAft>
                <a:defRPr sz="1200" b="1">
                  <a:solidFill>
                    <a:schemeClr val="tx1"/>
                  </a:solidFill>
                  <a:latin typeface="Arial" pitchFamily="34" charset="0"/>
                </a:defRPr>
              </a:lvl6pPr>
              <a:lvl7pPr marL="2971800" indent="-228600" algn="l" rtl="0" eaLnBrk="0" fontAlgn="base" hangingPunct="0">
                <a:spcBef>
                  <a:spcPct val="0"/>
                </a:spcBef>
                <a:spcAft>
                  <a:spcPct val="0"/>
                </a:spcAft>
                <a:defRPr sz="1200" b="1">
                  <a:solidFill>
                    <a:schemeClr val="tx1"/>
                  </a:solidFill>
                  <a:latin typeface="Arial" pitchFamily="34" charset="0"/>
                </a:defRPr>
              </a:lvl7pPr>
              <a:lvl8pPr marL="3429000" indent="-228600" algn="l" rtl="0" eaLnBrk="0" fontAlgn="base" hangingPunct="0">
                <a:spcBef>
                  <a:spcPct val="0"/>
                </a:spcBef>
                <a:spcAft>
                  <a:spcPct val="0"/>
                </a:spcAft>
                <a:defRPr sz="1200" b="1">
                  <a:solidFill>
                    <a:schemeClr val="tx1"/>
                  </a:solidFill>
                  <a:latin typeface="Arial" pitchFamily="34" charset="0"/>
                </a:defRPr>
              </a:lvl8pPr>
              <a:lvl9pPr marL="3886200" indent="-228600" algn="l" rtl="0" eaLnBrk="0" fontAlgn="base" hangingPunct="0">
                <a:spcBef>
                  <a:spcPct val="0"/>
                </a:spcBef>
                <a:spcAft>
                  <a:spcPct val="0"/>
                </a:spcAft>
                <a:defRPr sz="1200" b="1">
                  <a:solidFill>
                    <a:schemeClr val="tx1"/>
                  </a:solidFill>
                  <a:latin typeface="Arial" pitchFamily="34" charset="0"/>
                </a:defRPr>
              </a:lvl9pPr>
            </a:lstStyle>
            <a:p>
              <a:r>
                <a:rPr lang="en-US" sz="1800" b="0" dirty="0"/>
                <a:t>=     </a:t>
              </a:r>
              <a:r>
                <a:rPr lang="en-US" sz="2000" b="0" dirty="0"/>
                <a:t>P</a:t>
              </a:r>
              <a:r>
                <a:rPr lang="en-US" sz="2000" b="0" baseline="-25000" dirty="0"/>
                <a:t>1234</a:t>
              </a:r>
              <a:r>
                <a:rPr lang="en-US" sz="2000" b="0" dirty="0"/>
                <a:t>·L</a:t>
              </a:r>
              <a:r>
                <a:rPr lang="en-US" sz="2000" b="0" baseline="-25000" dirty="0"/>
                <a:t>1234</a:t>
              </a:r>
              <a:r>
                <a:rPr lang="en-US" sz="2000" b="0" dirty="0"/>
                <a:t>·U</a:t>
              </a:r>
              <a:r>
                <a:rPr lang="en-US" sz="2000" b="0" baseline="-25000" dirty="0"/>
                <a:t>1234</a:t>
              </a:r>
            </a:p>
            <a:p>
              <a:r>
                <a:rPr lang="en-US" sz="1800" b="0" dirty="0"/>
                <a:t> </a:t>
              </a:r>
            </a:p>
          </p:txBody>
        </p:sp>
        <p:sp>
          <p:nvSpPr>
            <p:cNvPr id="51211" name="TextBox 40"/>
            <p:cNvSpPr txBox="1">
              <a:spLocks noChangeArrowheads="1"/>
            </p:cNvSpPr>
            <p:nvPr/>
          </p:nvSpPr>
          <p:spPr bwMode="auto">
            <a:xfrm>
              <a:off x="4998526" y="4548635"/>
              <a:ext cx="2275901" cy="2957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200" b="1">
                  <a:solidFill>
                    <a:schemeClr val="tx1"/>
                  </a:solidFill>
                  <a:latin typeface="Arial" pitchFamily="34" charset="0"/>
                </a:defRPr>
              </a:lvl1pPr>
              <a:lvl2pPr marL="742950" indent="-285750">
                <a:defRPr sz="1200" b="1">
                  <a:solidFill>
                    <a:schemeClr val="tx1"/>
                  </a:solidFill>
                  <a:latin typeface="Arial" pitchFamily="34" charset="0"/>
                </a:defRPr>
              </a:lvl2pPr>
              <a:lvl3pPr marL="1143000" indent="-228600">
                <a:defRPr sz="1200" b="1">
                  <a:solidFill>
                    <a:schemeClr val="tx1"/>
                  </a:solidFill>
                  <a:latin typeface="Arial" pitchFamily="34" charset="0"/>
                </a:defRPr>
              </a:lvl3pPr>
              <a:lvl4pPr marL="1600200" indent="-228600">
                <a:defRPr sz="1200" b="1">
                  <a:solidFill>
                    <a:schemeClr val="tx1"/>
                  </a:solidFill>
                  <a:latin typeface="Arial" pitchFamily="34" charset="0"/>
                </a:defRPr>
              </a:lvl4pPr>
              <a:lvl5pPr marL="2057400" indent="-228600">
                <a:defRPr sz="1200" b="1">
                  <a:solidFill>
                    <a:schemeClr val="tx1"/>
                  </a:solidFill>
                  <a:latin typeface="Arial" pitchFamily="34" charset="0"/>
                </a:defRPr>
              </a:lvl5pPr>
              <a:lvl6pPr marL="2514600" indent="-228600" algn="l" rtl="0" eaLnBrk="0" fontAlgn="base" hangingPunct="0">
                <a:spcBef>
                  <a:spcPct val="0"/>
                </a:spcBef>
                <a:spcAft>
                  <a:spcPct val="0"/>
                </a:spcAft>
                <a:defRPr sz="1200" b="1">
                  <a:solidFill>
                    <a:schemeClr val="tx1"/>
                  </a:solidFill>
                  <a:latin typeface="Arial" pitchFamily="34" charset="0"/>
                </a:defRPr>
              </a:lvl6pPr>
              <a:lvl7pPr marL="2971800" indent="-228600" algn="l" rtl="0" eaLnBrk="0" fontAlgn="base" hangingPunct="0">
                <a:spcBef>
                  <a:spcPct val="0"/>
                </a:spcBef>
                <a:spcAft>
                  <a:spcPct val="0"/>
                </a:spcAft>
                <a:defRPr sz="1200" b="1">
                  <a:solidFill>
                    <a:schemeClr val="tx1"/>
                  </a:solidFill>
                  <a:latin typeface="Arial" pitchFamily="34" charset="0"/>
                </a:defRPr>
              </a:lvl7pPr>
              <a:lvl8pPr marL="3429000" indent="-228600" algn="l" rtl="0" eaLnBrk="0" fontAlgn="base" hangingPunct="0">
                <a:spcBef>
                  <a:spcPct val="0"/>
                </a:spcBef>
                <a:spcAft>
                  <a:spcPct val="0"/>
                </a:spcAft>
                <a:defRPr sz="1200" b="1">
                  <a:solidFill>
                    <a:schemeClr val="tx1"/>
                  </a:solidFill>
                  <a:latin typeface="Arial" pitchFamily="34" charset="0"/>
                </a:defRPr>
              </a:lvl8pPr>
              <a:lvl9pPr marL="3886200" indent="-228600" algn="l" rtl="0" eaLnBrk="0" fontAlgn="base" hangingPunct="0">
                <a:spcBef>
                  <a:spcPct val="0"/>
                </a:spcBef>
                <a:spcAft>
                  <a:spcPct val="0"/>
                </a:spcAft>
                <a:defRPr sz="1200" b="1">
                  <a:solidFill>
                    <a:schemeClr val="tx1"/>
                  </a:solidFill>
                  <a:latin typeface="Arial" pitchFamily="34" charset="0"/>
                </a:defRPr>
              </a:lvl9pPr>
            </a:lstStyle>
            <a:p>
              <a:r>
                <a:rPr lang="en-US" sz="1800" b="0" dirty="0"/>
                <a:t>Choose b pivot rows</a:t>
              </a:r>
            </a:p>
          </p:txBody>
        </p:sp>
      </p:grpSp>
      <p:sp>
        <p:nvSpPr>
          <p:cNvPr id="44" name="TextBox 43"/>
          <p:cNvSpPr txBox="1">
            <a:spLocks noChangeArrowheads="1"/>
          </p:cNvSpPr>
          <p:nvPr/>
        </p:nvSpPr>
        <p:spPr bwMode="auto">
          <a:xfrm>
            <a:off x="685800" y="5486400"/>
            <a:ext cx="7467600"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200" b="1">
                <a:solidFill>
                  <a:schemeClr val="tx1"/>
                </a:solidFill>
                <a:latin typeface="Arial" pitchFamily="34" charset="0"/>
              </a:defRPr>
            </a:lvl1pPr>
            <a:lvl2pPr marL="742950" indent="-285750">
              <a:defRPr sz="1200" b="1">
                <a:solidFill>
                  <a:schemeClr val="tx1"/>
                </a:solidFill>
                <a:latin typeface="Arial" pitchFamily="34" charset="0"/>
              </a:defRPr>
            </a:lvl2pPr>
            <a:lvl3pPr marL="1143000" indent="-228600">
              <a:defRPr sz="1200" b="1">
                <a:solidFill>
                  <a:schemeClr val="tx1"/>
                </a:solidFill>
                <a:latin typeface="Arial" pitchFamily="34" charset="0"/>
              </a:defRPr>
            </a:lvl3pPr>
            <a:lvl4pPr marL="1600200" indent="-228600">
              <a:defRPr sz="1200" b="1">
                <a:solidFill>
                  <a:schemeClr val="tx1"/>
                </a:solidFill>
                <a:latin typeface="Arial" pitchFamily="34" charset="0"/>
              </a:defRPr>
            </a:lvl4pPr>
            <a:lvl5pPr marL="2057400" indent="-228600">
              <a:defRPr sz="1200" b="1">
                <a:solidFill>
                  <a:schemeClr val="tx1"/>
                </a:solidFill>
                <a:latin typeface="Arial" pitchFamily="34" charset="0"/>
              </a:defRPr>
            </a:lvl5pPr>
            <a:lvl6pPr marL="2514600" indent="-228600" algn="l" rtl="0" eaLnBrk="0" fontAlgn="base" hangingPunct="0">
              <a:spcBef>
                <a:spcPct val="0"/>
              </a:spcBef>
              <a:spcAft>
                <a:spcPct val="0"/>
              </a:spcAft>
              <a:defRPr sz="1200" b="1">
                <a:solidFill>
                  <a:schemeClr val="tx1"/>
                </a:solidFill>
                <a:latin typeface="Arial" pitchFamily="34" charset="0"/>
              </a:defRPr>
            </a:lvl6pPr>
            <a:lvl7pPr marL="2971800" indent="-228600" algn="l" rtl="0" eaLnBrk="0" fontAlgn="base" hangingPunct="0">
              <a:spcBef>
                <a:spcPct val="0"/>
              </a:spcBef>
              <a:spcAft>
                <a:spcPct val="0"/>
              </a:spcAft>
              <a:defRPr sz="1200" b="1">
                <a:solidFill>
                  <a:schemeClr val="tx1"/>
                </a:solidFill>
                <a:latin typeface="Arial" pitchFamily="34" charset="0"/>
              </a:defRPr>
            </a:lvl7pPr>
            <a:lvl8pPr marL="3429000" indent="-228600" algn="l" rtl="0" eaLnBrk="0" fontAlgn="base" hangingPunct="0">
              <a:spcBef>
                <a:spcPct val="0"/>
              </a:spcBef>
              <a:spcAft>
                <a:spcPct val="0"/>
              </a:spcAft>
              <a:defRPr sz="1200" b="1">
                <a:solidFill>
                  <a:schemeClr val="tx1"/>
                </a:solidFill>
                <a:latin typeface="Arial" pitchFamily="34" charset="0"/>
              </a:defRPr>
            </a:lvl8pPr>
            <a:lvl9pPr marL="3886200" indent="-228600" algn="l" rtl="0" eaLnBrk="0" fontAlgn="base" hangingPunct="0">
              <a:spcBef>
                <a:spcPct val="0"/>
              </a:spcBef>
              <a:spcAft>
                <a:spcPct val="0"/>
              </a:spcAft>
              <a:defRPr sz="1200" b="1">
                <a:solidFill>
                  <a:schemeClr val="tx1"/>
                </a:solidFill>
                <a:latin typeface="Arial" pitchFamily="34" charset="0"/>
              </a:defRPr>
            </a:lvl9pPr>
          </a:lstStyle>
          <a:p>
            <a:pPr marL="285750" indent="-285750">
              <a:buFont typeface="Arial"/>
              <a:buChar char="•"/>
            </a:pPr>
            <a:r>
              <a:rPr lang="en-US" sz="1800" b="0" dirty="0"/>
              <a:t>Go back to W and use these b pivot rows </a:t>
            </a:r>
          </a:p>
          <a:p>
            <a:pPr marL="1028700" lvl="1">
              <a:buFont typeface="Arial"/>
              <a:buChar char="•"/>
            </a:pPr>
            <a:r>
              <a:rPr lang="en-US" sz="1800" b="0" dirty="0"/>
              <a:t>M</a:t>
            </a:r>
            <a:r>
              <a:rPr lang="en-US" sz="1800" b="0" dirty="0" smtClean="0"/>
              <a:t>ove </a:t>
            </a:r>
            <a:r>
              <a:rPr lang="en-US" sz="1800" b="0" dirty="0"/>
              <a:t>them to top, do LU without </a:t>
            </a:r>
            <a:r>
              <a:rPr lang="en-US" sz="1800" b="0" dirty="0" smtClean="0"/>
              <a:t>pivoting</a:t>
            </a:r>
          </a:p>
          <a:p>
            <a:pPr marL="1028700" lvl="1">
              <a:buFont typeface="Arial"/>
              <a:buChar char="•"/>
            </a:pPr>
            <a:r>
              <a:rPr lang="en-US" sz="1800" b="0" dirty="0" smtClean="0"/>
              <a:t>Extra work, but lower order term</a:t>
            </a:r>
            <a:endParaRPr lang="en-US" sz="1800" b="0" dirty="0"/>
          </a:p>
          <a:p>
            <a:pPr marL="285750" indent="-285750">
              <a:buFont typeface="Arial"/>
              <a:buChar char="•"/>
            </a:pPr>
            <a:r>
              <a:rPr lang="en-US" sz="1800" b="0" dirty="0" err="1" smtClean="0"/>
              <a:t>Thm</a:t>
            </a:r>
            <a:r>
              <a:rPr lang="en-US" sz="1800" b="0" dirty="0" smtClean="0"/>
              <a:t>:  As numerically stable as Partial Pivoting on a larger matrix	</a:t>
            </a:r>
          </a:p>
        </p:txBody>
      </p:sp>
    </p:spTree>
    <p:extLst>
      <p:ext uri="{BB962C8B-B14F-4D97-AF65-F5344CB8AC3E}">
        <p14:creationId xmlns:p14="http://schemas.microsoft.com/office/powerpoint/2010/main" val="3660795564"/>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err="1" smtClean="0"/>
              <a:t>Exascale</a:t>
            </a:r>
            <a:r>
              <a:rPr lang="en-US" dirty="0" smtClean="0"/>
              <a:t> Machine Parameters</a:t>
            </a:r>
            <a:br>
              <a:rPr lang="en-US" dirty="0" smtClean="0"/>
            </a:br>
            <a:r>
              <a:rPr lang="en-US" dirty="0" smtClean="0"/>
              <a:t>Source: DOE </a:t>
            </a:r>
            <a:r>
              <a:rPr lang="en-US" dirty="0" err="1" smtClean="0"/>
              <a:t>Exascale</a:t>
            </a:r>
            <a:r>
              <a:rPr lang="en-US" dirty="0" smtClean="0"/>
              <a:t> Workshop</a:t>
            </a:r>
            <a:endParaRPr lang="en-US" dirty="0"/>
          </a:p>
        </p:txBody>
      </p:sp>
      <p:sp>
        <p:nvSpPr>
          <p:cNvPr id="3" name="Content Placeholder 2"/>
          <p:cNvSpPr>
            <a:spLocks noGrp="1"/>
          </p:cNvSpPr>
          <p:nvPr>
            <p:ph idx="1"/>
          </p:nvPr>
        </p:nvSpPr>
        <p:spPr>
          <a:xfrm>
            <a:off x="457200" y="1600200"/>
            <a:ext cx="8229600" cy="4724400"/>
          </a:xfrm>
        </p:spPr>
        <p:txBody>
          <a:bodyPr>
            <a:normAutofit/>
          </a:bodyPr>
          <a:lstStyle/>
          <a:p>
            <a:r>
              <a:rPr lang="en-US" dirty="0" smtClean="0"/>
              <a:t>2^20 </a:t>
            </a:r>
            <a:r>
              <a:rPr lang="en-US" dirty="0" smtClean="0">
                <a:sym typeface="Symbol"/>
              </a:rPr>
              <a:t> </a:t>
            </a:r>
            <a:r>
              <a:rPr lang="en-US" dirty="0" smtClean="0"/>
              <a:t>1,000,000 nodes</a:t>
            </a:r>
          </a:p>
          <a:p>
            <a:r>
              <a:rPr lang="en-US" dirty="0" smtClean="0"/>
              <a:t>1024 cores/node   (a billion cores!)</a:t>
            </a:r>
          </a:p>
          <a:p>
            <a:r>
              <a:rPr lang="en-US" dirty="0" smtClean="0"/>
              <a:t>100 GB/sec interconnect bandwidth</a:t>
            </a:r>
          </a:p>
          <a:p>
            <a:r>
              <a:rPr lang="en-US" dirty="0" smtClean="0"/>
              <a:t>400 GB/sec DRAM bandwidth</a:t>
            </a:r>
          </a:p>
          <a:p>
            <a:r>
              <a:rPr lang="en-US" dirty="0" smtClean="0"/>
              <a:t>1 </a:t>
            </a:r>
            <a:r>
              <a:rPr lang="en-US" dirty="0" err="1" smtClean="0"/>
              <a:t>microsec</a:t>
            </a:r>
            <a:r>
              <a:rPr lang="en-US" dirty="0" smtClean="0"/>
              <a:t> interconnect latency</a:t>
            </a:r>
          </a:p>
          <a:p>
            <a:r>
              <a:rPr lang="en-US" dirty="0" smtClean="0"/>
              <a:t>50 </a:t>
            </a:r>
            <a:r>
              <a:rPr lang="en-US" dirty="0" err="1" smtClean="0"/>
              <a:t>nanosec</a:t>
            </a:r>
            <a:r>
              <a:rPr lang="en-US" dirty="0" smtClean="0"/>
              <a:t> memory latency</a:t>
            </a:r>
          </a:p>
          <a:p>
            <a:r>
              <a:rPr lang="en-US" dirty="0" smtClean="0"/>
              <a:t>32 </a:t>
            </a:r>
            <a:r>
              <a:rPr lang="en-US" dirty="0" err="1" smtClean="0"/>
              <a:t>Petabytes</a:t>
            </a:r>
            <a:r>
              <a:rPr lang="en-US" dirty="0" smtClean="0"/>
              <a:t> of memory</a:t>
            </a:r>
          </a:p>
          <a:p>
            <a:r>
              <a:rPr lang="en-US" dirty="0" smtClean="0"/>
              <a:t>1/2 GB total L1 on a node</a:t>
            </a:r>
          </a:p>
          <a:p>
            <a:pPr marL="0" indent="0">
              <a:buNone/>
            </a:pPr>
            <a:endParaRPr lang="en-US" dirty="0"/>
          </a:p>
        </p:txBody>
      </p:sp>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descr="lu_ca_vs_scala_eff_speed_up.png"/>
          <p:cNvPicPr>
            <a:picLocks noGrp="1" noChangeAspect="1"/>
          </p:cNvPicPr>
          <p:nvPr>
            <p:ph idx="1"/>
          </p:nvPr>
        </p:nvPicPr>
        <p:blipFill>
          <a:blip r:embed="rId3" cstate="print"/>
          <a:stretch>
            <a:fillRect/>
          </a:stretch>
        </p:blipFill>
        <p:spPr>
          <a:xfrm>
            <a:off x="2309018" y="1600200"/>
            <a:ext cx="4929982" cy="4525963"/>
          </a:xfrm>
        </p:spPr>
      </p:pic>
      <p:sp>
        <p:nvSpPr>
          <p:cNvPr id="2" name="Title 1"/>
          <p:cNvSpPr>
            <a:spLocks noGrp="1"/>
          </p:cNvSpPr>
          <p:nvPr>
            <p:ph type="title"/>
          </p:nvPr>
        </p:nvSpPr>
        <p:spPr>
          <a:xfrm>
            <a:off x="76200" y="274638"/>
            <a:ext cx="8991600" cy="1143000"/>
          </a:xfrm>
        </p:spPr>
        <p:txBody>
          <a:bodyPr>
            <a:normAutofit fontScale="90000"/>
          </a:bodyPr>
          <a:lstStyle/>
          <a:p>
            <a:r>
              <a:rPr lang="en-US" sz="3600" dirty="0" err="1" smtClean="0"/>
              <a:t>Exascale</a:t>
            </a:r>
            <a:r>
              <a:rPr lang="en-US" sz="3600" dirty="0" smtClean="0"/>
              <a:t>  predicted speedups</a:t>
            </a:r>
            <a:br>
              <a:rPr lang="en-US" sz="3600" dirty="0" smtClean="0"/>
            </a:br>
            <a:r>
              <a:rPr lang="en-US" sz="3600" dirty="0" smtClean="0"/>
              <a:t>for Gaussian Elimination:  </a:t>
            </a:r>
            <a:br>
              <a:rPr lang="en-US" sz="3600" dirty="0" smtClean="0"/>
            </a:br>
            <a:r>
              <a:rPr lang="en-US" sz="3600" dirty="0" smtClean="0"/>
              <a:t> 2D CA-LU </a:t>
            </a:r>
            <a:r>
              <a:rPr lang="en-US" sz="3600" dirty="0" err="1" smtClean="0"/>
              <a:t>vs</a:t>
            </a:r>
            <a:r>
              <a:rPr lang="en-US" sz="3600" dirty="0" smtClean="0"/>
              <a:t> </a:t>
            </a:r>
            <a:r>
              <a:rPr lang="en-US" sz="3600" dirty="0" err="1" smtClean="0"/>
              <a:t>ScaLAPACK</a:t>
            </a:r>
            <a:r>
              <a:rPr lang="en-US" sz="3600" dirty="0" smtClean="0"/>
              <a:t>-LU </a:t>
            </a:r>
            <a:endParaRPr lang="en-US" sz="3600" dirty="0"/>
          </a:p>
        </p:txBody>
      </p:sp>
      <p:sp>
        <p:nvSpPr>
          <p:cNvPr id="4" name="TextBox 3"/>
          <p:cNvSpPr txBox="1"/>
          <p:nvPr/>
        </p:nvSpPr>
        <p:spPr>
          <a:xfrm>
            <a:off x="4343400" y="5867400"/>
            <a:ext cx="1234633" cy="523220"/>
          </a:xfrm>
          <a:prstGeom prst="rect">
            <a:avLst/>
          </a:prstGeom>
          <a:solidFill>
            <a:schemeClr val="bg1"/>
          </a:solidFill>
        </p:spPr>
        <p:txBody>
          <a:bodyPr wrap="none" rtlCol="0">
            <a:spAutoFit/>
          </a:bodyPr>
          <a:lstStyle/>
          <a:p>
            <a:r>
              <a:rPr lang="en-US" sz="2800" dirty="0" smtClean="0"/>
              <a:t>log</a:t>
            </a:r>
            <a:r>
              <a:rPr lang="en-US" sz="2800" baseline="-25000" dirty="0" smtClean="0"/>
              <a:t>2</a:t>
            </a:r>
            <a:r>
              <a:rPr lang="en-US" sz="2800" dirty="0" smtClean="0"/>
              <a:t> (p)</a:t>
            </a:r>
            <a:endParaRPr lang="en-US" sz="2800" dirty="0"/>
          </a:p>
        </p:txBody>
      </p:sp>
      <p:sp>
        <p:nvSpPr>
          <p:cNvPr id="5" name="TextBox 4"/>
          <p:cNvSpPr txBox="1"/>
          <p:nvPr/>
        </p:nvSpPr>
        <p:spPr>
          <a:xfrm rot="16200000">
            <a:off x="265373" y="3392228"/>
            <a:ext cx="3776162" cy="954107"/>
          </a:xfrm>
          <a:prstGeom prst="rect">
            <a:avLst/>
          </a:prstGeom>
          <a:solidFill>
            <a:schemeClr val="bg1"/>
          </a:solidFill>
        </p:spPr>
        <p:txBody>
          <a:bodyPr wrap="none" rtlCol="0">
            <a:spAutoFit/>
          </a:bodyPr>
          <a:lstStyle/>
          <a:p>
            <a:pPr algn="ctr"/>
            <a:r>
              <a:rPr lang="en-US" sz="2800" dirty="0" smtClean="0"/>
              <a:t>log</a:t>
            </a:r>
            <a:r>
              <a:rPr lang="en-US" sz="2800" baseline="-25000" dirty="0" smtClean="0"/>
              <a:t>2</a:t>
            </a:r>
            <a:r>
              <a:rPr lang="en-US" sz="2800" dirty="0" smtClean="0"/>
              <a:t> (n</a:t>
            </a:r>
            <a:r>
              <a:rPr lang="en-US" sz="2800" baseline="30000" dirty="0" smtClean="0"/>
              <a:t>2</a:t>
            </a:r>
            <a:r>
              <a:rPr lang="en-US" sz="2800" dirty="0" smtClean="0"/>
              <a:t>/p) = </a:t>
            </a:r>
          </a:p>
          <a:p>
            <a:pPr algn="ctr"/>
            <a:r>
              <a:rPr lang="en-US" sz="2800" dirty="0" smtClean="0"/>
              <a:t>log</a:t>
            </a:r>
            <a:r>
              <a:rPr lang="en-US" sz="2800" baseline="-25000" dirty="0" smtClean="0"/>
              <a:t>2</a:t>
            </a:r>
            <a:r>
              <a:rPr lang="en-US" sz="2800" dirty="0" smtClean="0"/>
              <a:t> (</a:t>
            </a:r>
            <a:r>
              <a:rPr lang="en-US" sz="2800" dirty="0" err="1" smtClean="0"/>
              <a:t>memory_per_proc</a:t>
            </a:r>
            <a:r>
              <a:rPr lang="en-US" sz="2800" dirty="0" smtClean="0"/>
              <a:t>)</a:t>
            </a:r>
            <a:endParaRPr lang="en-US" sz="2800" dirty="0"/>
          </a:p>
        </p:txBody>
      </p:sp>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2.5D </a:t>
            </a:r>
            <a:r>
              <a:rPr lang="en-US" dirty="0" err="1" smtClean="0"/>
              <a:t>vs</a:t>
            </a:r>
            <a:r>
              <a:rPr lang="en-US" dirty="0" smtClean="0"/>
              <a:t> 2D LU</a:t>
            </a:r>
            <a:br>
              <a:rPr lang="en-US" dirty="0" smtClean="0"/>
            </a:br>
            <a:r>
              <a:rPr lang="en-US" dirty="0" smtClean="0"/>
              <a:t>With and Without Pivoting</a:t>
            </a:r>
            <a:endParaRPr lang="en-US" dirty="0"/>
          </a:p>
        </p:txBody>
      </p:sp>
      <p:pic>
        <p:nvPicPr>
          <p:cNvPr id="4" name="Content Placeholder 3" descr="lu_pvt_ct.pdf"/>
          <p:cNvPicPr>
            <a:picLocks noGrp="1" noChangeAspect="1"/>
          </p:cNvPicPr>
          <p:nvPr>
            <p:ph idx="1"/>
          </p:nvPr>
        </p:nvPicPr>
        <p:blipFill>
          <a:blip r:embed="rId2">
            <a:extLst>
              <a:ext uri="{28A0092B-C50C-407E-A947-70E740481C1C}">
                <a14:useLocalDpi xmlns:a14="http://schemas.microsoft.com/office/drawing/2010/main" val="0"/>
              </a:ext>
            </a:extLst>
          </a:blip>
          <a:srcRect l="-13557" r="-13557"/>
          <a:stretch>
            <a:fillRect/>
          </a:stretch>
        </p:blipFill>
        <p:spPr/>
      </p:pic>
    </p:spTree>
    <p:extLst>
      <p:ext uri="{BB962C8B-B14F-4D97-AF65-F5344CB8AC3E}">
        <p14:creationId xmlns:p14="http://schemas.microsoft.com/office/powerpoint/2010/main" val="3126884045"/>
      </p:ext>
    </p:extLst>
  </p:cSld>
  <p:clrMapOvr>
    <a:masterClrMapping/>
  </p:clrMapOvr>
  <p:timing>
    <p:tnLst>
      <p:par>
        <p:cTn xmlns:p14="http://schemas.microsoft.com/office/powerpoint/2010/mai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p:cNvSpPr>
          <p:nvPr>
            <p:ph type="title"/>
          </p:nvPr>
        </p:nvSpPr>
        <p:spPr>
          <a:xfrm>
            <a:off x="98424" y="112712"/>
            <a:ext cx="8359775" cy="801688"/>
          </a:xfrm>
        </p:spPr>
        <p:txBody>
          <a:bodyPr>
            <a:noAutofit/>
          </a:bodyPr>
          <a:lstStyle/>
          <a:p>
            <a:pPr algn="ctr"/>
            <a:r>
              <a:rPr lang="en-US" sz="3600" dirty="0" smtClean="0"/>
              <a:t>Summary of dense </a:t>
            </a:r>
            <a:r>
              <a:rPr lang="en-US" sz="3600" i="1" u="sng" dirty="0" smtClean="0"/>
              <a:t>sequential</a:t>
            </a:r>
            <a:r>
              <a:rPr lang="en-US" sz="3600" dirty="0" smtClean="0"/>
              <a:t> algorithms </a:t>
            </a:r>
            <a:br>
              <a:rPr lang="en-US" sz="3600" dirty="0" smtClean="0"/>
            </a:br>
            <a:r>
              <a:rPr lang="en-US" sz="3600" dirty="0" smtClean="0"/>
              <a:t>attaining communication lower bounds</a:t>
            </a:r>
          </a:p>
        </p:txBody>
      </p:sp>
      <p:sp>
        <p:nvSpPr>
          <p:cNvPr id="4" name="Slide Number Placeholder 3"/>
          <p:cNvSpPr>
            <a:spLocks noGrp="1"/>
          </p:cNvSpPr>
          <p:nvPr>
            <p:ph type="sldNum" sz="quarter" idx="11"/>
          </p:nvPr>
        </p:nvSpPr>
        <p:spPr>
          <a:xfrm>
            <a:off x="9144000" y="6477000"/>
            <a:ext cx="1905000" cy="457200"/>
          </a:xfrm>
        </p:spPr>
        <p:txBody>
          <a:bodyPr/>
          <a:lstStyle/>
          <a:p>
            <a:pPr>
              <a:defRPr/>
            </a:pPr>
            <a:fld id="{1FCC3470-0D38-4BDD-A13A-71ACC17724CC}" type="slidenum">
              <a:rPr lang="en-US" smtClean="0"/>
              <a:pPr>
                <a:defRPr/>
              </a:pPr>
              <a:t>41</a:t>
            </a:fld>
            <a:endParaRPr lang="en-US" dirty="0"/>
          </a:p>
        </p:txBody>
      </p:sp>
      <p:sp>
        <p:nvSpPr>
          <p:cNvPr id="29700" name="TextBox 7"/>
          <p:cNvSpPr txBox="1">
            <a:spLocks noChangeArrowheads="1"/>
          </p:cNvSpPr>
          <p:nvPr/>
        </p:nvSpPr>
        <p:spPr bwMode="auto">
          <a:xfrm>
            <a:off x="695960" y="1164104"/>
            <a:ext cx="8067040" cy="969496"/>
          </a:xfrm>
          <a:prstGeom prst="rect">
            <a:avLst/>
          </a:prstGeom>
          <a:noFill/>
          <a:ln w="9525">
            <a:noFill/>
            <a:miter lim="800000"/>
            <a:headEnd/>
            <a:tailEnd/>
          </a:ln>
        </p:spPr>
        <p:txBody>
          <a:bodyPr wrap="square">
            <a:spAutoFit/>
          </a:bodyPr>
          <a:lstStyle/>
          <a:p>
            <a:pPr algn="l">
              <a:lnSpc>
                <a:spcPct val="70000"/>
              </a:lnSpc>
              <a:buFont typeface="Arial" pitchFamily="34" charset="0"/>
              <a:buChar char="•"/>
            </a:pPr>
            <a:r>
              <a:rPr lang="en-US" b="0" dirty="0">
                <a:solidFill>
                  <a:schemeClr val="tx1"/>
                </a:solidFill>
              </a:rPr>
              <a:t> </a:t>
            </a:r>
            <a:r>
              <a:rPr lang="en-US" sz="2000" b="0" dirty="0">
                <a:solidFill>
                  <a:schemeClr val="tx1"/>
                </a:solidFill>
              </a:rPr>
              <a:t>Algorithms shown minimizing # Messages use (recursive) block layout</a:t>
            </a:r>
          </a:p>
          <a:p>
            <a:pPr lvl="1" algn="l">
              <a:lnSpc>
                <a:spcPct val="70000"/>
              </a:lnSpc>
              <a:buFont typeface="Arial" pitchFamily="34" charset="0"/>
              <a:buChar char="•"/>
            </a:pPr>
            <a:r>
              <a:rPr lang="en-US" sz="2000" b="0" dirty="0">
                <a:solidFill>
                  <a:schemeClr val="tx1"/>
                </a:solidFill>
              </a:rPr>
              <a:t> Not possible with </a:t>
            </a:r>
            <a:r>
              <a:rPr lang="en-US" sz="2000" b="0" dirty="0" err="1">
                <a:solidFill>
                  <a:schemeClr val="tx1"/>
                </a:solidFill>
              </a:rPr>
              <a:t>columnwise</a:t>
            </a:r>
            <a:r>
              <a:rPr lang="en-US" sz="2000" b="0" dirty="0">
                <a:solidFill>
                  <a:schemeClr val="tx1"/>
                </a:solidFill>
              </a:rPr>
              <a:t> or </a:t>
            </a:r>
            <a:r>
              <a:rPr lang="en-US" sz="2000" b="0" dirty="0" err="1">
                <a:solidFill>
                  <a:schemeClr val="tx1"/>
                </a:solidFill>
              </a:rPr>
              <a:t>rowwise</a:t>
            </a:r>
            <a:r>
              <a:rPr lang="en-US" sz="2000" b="0" dirty="0">
                <a:solidFill>
                  <a:schemeClr val="tx1"/>
                </a:solidFill>
              </a:rPr>
              <a:t> layouts</a:t>
            </a:r>
          </a:p>
          <a:p>
            <a:pPr algn="l">
              <a:lnSpc>
                <a:spcPct val="70000"/>
              </a:lnSpc>
              <a:buFont typeface="Arial" pitchFamily="34" charset="0"/>
              <a:buChar char="•"/>
            </a:pPr>
            <a:r>
              <a:rPr lang="en-US" sz="2000" b="0" dirty="0">
                <a:solidFill>
                  <a:schemeClr val="tx1"/>
                </a:solidFill>
              </a:rPr>
              <a:t> </a:t>
            </a:r>
            <a:r>
              <a:rPr lang="en-US" sz="2000" b="0" i="1" dirty="0">
                <a:solidFill>
                  <a:schemeClr val="tx1"/>
                </a:solidFill>
              </a:rPr>
              <a:t>Many</a:t>
            </a:r>
            <a:r>
              <a:rPr lang="en-US" sz="2000" b="0" dirty="0">
                <a:solidFill>
                  <a:schemeClr val="tx1"/>
                </a:solidFill>
              </a:rPr>
              <a:t> references (see reports), only some shown, plus ours</a:t>
            </a:r>
          </a:p>
          <a:p>
            <a:pPr algn="l">
              <a:lnSpc>
                <a:spcPct val="70000"/>
              </a:lnSpc>
              <a:buFont typeface="Arial" pitchFamily="34" charset="0"/>
              <a:buChar char="•"/>
            </a:pPr>
            <a:r>
              <a:rPr lang="en-US" sz="2000" b="0" dirty="0">
                <a:solidFill>
                  <a:schemeClr val="tx1"/>
                </a:solidFill>
              </a:rPr>
              <a:t> Cache-oblivious are </a:t>
            </a:r>
            <a:r>
              <a:rPr lang="en-US" sz="2000" b="0" u="sng" dirty="0">
                <a:solidFill>
                  <a:schemeClr val="tx1"/>
                </a:solidFill>
              </a:rPr>
              <a:t>underlined</a:t>
            </a:r>
            <a:r>
              <a:rPr lang="en-US" sz="2000" b="0" dirty="0">
                <a:solidFill>
                  <a:schemeClr val="tx1"/>
                </a:solidFill>
              </a:rPr>
              <a:t>, </a:t>
            </a:r>
            <a:r>
              <a:rPr lang="en-US" sz="2000" b="0" dirty="0">
                <a:solidFill>
                  <a:srgbClr val="00B050"/>
                </a:solidFill>
              </a:rPr>
              <a:t>Green</a:t>
            </a:r>
            <a:r>
              <a:rPr lang="en-US" sz="2000" b="0" dirty="0">
                <a:solidFill>
                  <a:schemeClr val="tx1"/>
                </a:solidFill>
              </a:rPr>
              <a:t> are ours, </a:t>
            </a:r>
            <a:r>
              <a:rPr lang="en-US" sz="2000" b="0" dirty="0">
                <a:solidFill>
                  <a:srgbClr val="FF0000"/>
                </a:solidFill>
              </a:rPr>
              <a:t>?</a:t>
            </a:r>
            <a:r>
              <a:rPr lang="en-US" sz="2000" b="0" dirty="0">
                <a:solidFill>
                  <a:schemeClr val="tx1"/>
                </a:solidFill>
              </a:rPr>
              <a:t> is unknown/future work</a:t>
            </a:r>
          </a:p>
        </p:txBody>
      </p:sp>
      <p:sp>
        <p:nvSpPr>
          <p:cNvPr id="29701" name="Rectangle 5"/>
          <p:cNvSpPr>
            <a:spLocks noChangeArrowheads="1"/>
          </p:cNvSpPr>
          <p:nvPr/>
        </p:nvSpPr>
        <p:spPr bwMode="auto">
          <a:xfrm>
            <a:off x="1246188" y="6065838"/>
            <a:ext cx="9348787" cy="3829050"/>
          </a:xfrm>
          <a:prstGeom prst="rect">
            <a:avLst/>
          </a:prstGeom>
          <a:solidFill>
            <a:schemeClr val="bg1"/>
          </a:solidFill>
          <a:ln w="12700" algn="ctr">
            <a:noFill/>
            <a:round/>
            <a:headEnd type="none" w="sm" len="sm"/>
            <a:tailEnd type="none" w="sm" len="sm"/>
          </a:ln>
        </p:spPr>
        <p:txBody>
          <a:bodyPr/>
          <a:lstStyle/>
          <a:p>
            <a:pPr eaLnBrk="0" hangingPunct="0"/>
            <a:endParaRPr lang="en-US"/>
          </a:p>
        </p:txBody>
      </p:sp>
      <p:sp>
        <p:nvSpPr>
          <p:cNvPr id="29702" name="Rectangle 7"/>
          <p:cNvSpPr>
            <a:spLocks noChangeArrowheads="1"/>
          </p:cNvSpPr>
          <p:nvPr/>
        </p:nvSpPr>
        <p:spPr bwMode="auto">
          <a:xfrm>
            <a:off x="1246188" y="5226050"/>
            <a:ext cx="9348787" cy="3829050"/>
          </a:xfrm>
          <a:prstGeom prst="rect">
            <a:avLst/>
          </a:prstGeom>
          <a:solidFill>
            <a:schemeClr val="bg1"/>
          </a:solidFill>
          <a:ln w="12700" algn="ctr">
            <a:noFill/>
            <a:round/>
            <a:headEnd type="none" w="sm" len="sm"/>
            <a:tailEnd type="none" w="sm" len="sm"/>
          </a:ln>
        </p:spPr>
        <p:txBody>
          <a:bodyPr/>
          <a:lstStyle/>
          <a:p>
            <a:pPr eaLnBrk="0" hangingPunct="0"/>
            <a:endParaRPr lang="en-US"/>
          </a:p>
        </p:txBody>
      </p:sp>
      <p:sp>
        <p:nvSpPr>
          <p:cNvPr id="29703" name="Rectangle 8"/>
          <p:cNvSpPr>
            <a:spLocks noChangeArrowheads="1"/>
          </p:cNvSpPr>
          <p:nvPr/>
        </p:nvSpPr>
        <p:spPr bwMode="auto">
          <a:xfrm>
            <a:off x="1246188" y="4575175"/>
            <a:ext cx="9348787" cy="3829050"/>
          </a:xfrm>
          <a:prstGeom prst="rect">
            <a:avLst/>
          </a:prstGeom>
          <a:solidFill>
            <a:schemeClr val="bg1"/>
          </a:solidFill>
          <a:ln w="12700" algn="ctr">
            <a:noFill/>
            <a:round/>
            <a:headEnd type="none" w="sm" len="sm"/>
            <a:tailEnd type="none" w="sm" len="sm"/>
          </a:ln>
        </p:spPr>
        <p:txBody>
          <a:bodyPr/>
          <a:lstStyle/>
          <a:p>
            <a:pPr eaLnBrk="0" hangingPunct="0"/>
            <a:endParaRPr lang="en-US"/>
          </a:p>
        </p:txBody>
      </p:sp>
      <p:sp>
        <p:nvSpPr>
          <p:cNvPr id="29704" name="Rectangle 9"/>
          <p:cNvSpPr>
            <a:spLocks noChangeArrowheads="1"/>
          </p:cNvSpPr>
          <p:nvPr/>
        </p:nvSpPr>
        <p:spPr bwMode="auto">
          <a:xfrm>
            <a:off x="1246188" y="3759200"/>
            <a:ext cx="9348787" cy="3829050"/>
          </a:xfrm>
          <a:prstGeom prst="rect">
            <a:avLst/>
          </a:prstGeom>
          <a:solidFill>
            <a:schemeClr val="bg1"/>
          </a:solidFill>
          <a:ln w="12700" algn="ctr">
            <a:noFill/>
            <a:round/>
            <a:headEnd type="none" w="sm" len="sm"/>
            <a:tailEnd type="none" w="sm" len="sm"/>
          </a:ln>
        </p:spPr>
        <p:txBody>
          <a:bodyPr/>
          <a:lstStyle/>
          <a:p>
            <a:pPr eaLnBrk="0" hangingPunct="0"/>
            <a:endParaRPr lang="en-US"/>
          </a:p>
        </p:txBody>
      </p:sp>
      <p:sp>
        <p:nvSpPr>
          <p:cNvPr id="29705" name="Rectangle 11"/>
          <p:cNvSpPr>
            <a:spLocks noChangeArrowheads="1"/>
          </p:cNvSpPr>
          <p:nvPr/>
        </p:nvSpPr>
        <p:spPr bwMode="auto">
          <a:xfrm>
            <a:off x="98425" y="5538788"/>
            <a:ext cx="974725" cy="527050"/>
          </a:xfrm>
          <a:prstGeom prst="rect">
            <a:avLst/>
          </a:prstGeom>
          <a:solidFill>
            <a:schemeClr val="bg1"/>
          </a:solidFill>
          <a:ln w="12700" algn="ctr">
            <a:solidFill>
              <a:schemeClr val="bg1"/>
            </a:solidFill>
            <a:round/>
            <a:headEnd type="none" w="sm" len="sm"/>
            <a:tailEnd type="none" w="sm" len="sm"/>
          </a:ln>
        </p:spPr>
        <p:txBody>
          <a:bodyPr/>
          <a:lstStyle/>
          <a:p>
            <a:pPr eaLnBrk="0" hangingPunct="0"/>
            <a:endParaRPr lang="en-US"/>
          </a:p>
        </p:txBody>
      </p:sp>
      <p:graphicFrame>
        <p:nvGraphicFramePr>
          <p:cNvPr id="7" name="Table Placeholder 6"/>
          <p:cNvGraphicFramePr>
            <a:graphicFrameLocks noGrp="1"/>
          </p:cNvGraphicFramePr>
          <p:nvPr>
            <p:ph type="tbl" idx="1"/>
            <p:extLst>
              <p:ext uri="{D42A27DB-BD31-4B8C-83A1-F6EECF244321}">
                <p14:modId xmlns:p14="http://schemas.microsoft.com/office/powerpoint/2010/main" val="1656247967"/>
              </p:ext>
            </p:extLst>
          </p:nvPr>
        </p:nvGraphicFramePr>
        <p:xfrm>
          <a:off x="58738" y="2317750"/>
          <a:ext cx="9058871" cy="4363603"/>
        </p:xfrm>
        <a:graphic>
          <a:graphicData uri="http://schemas.openxmlformats.org/drawingml/2006/table">
            <a:tbl>
              <a:tblPr firstRow="1" bandRow="1">
                <a:tableStyleId>{5940675A-B579-460E-94D1-54222C63F5DA}</a:tableStyleId>
              </a:tblPr>
              <a:tblGrid>
                <a:gridCol w="1151876"/>
                <a:gridCol w="2380860"/>
                <a:gridCol w="1894840"/>
                <a:gridCol w="1945640"/>
                <a:gridCol w="1685655"/>
              </a:tblGrid>
              <a:tr h="462163">
                <a:tc>
                  <a:txBody>
                    <a:bodyPr/>
                    <a:lstStyle/>
                    <a:p>
                      <a:pPr algn="ctr"/>
                      <a:r>
                        <a:rPr lang="en-US" dirty="0" smtClean="0"/>
                        <a:t>Algorithm</a:t>
                      </a:r>
                      <a:endParaRPr lang="en-US" dirty="0"/>
                    </a:p>
                  </a:txBody>
                  <a:tcPr/>
                </a:tc>
                <a:tc gridSpan="2">
                  <a:txBody>
                    <a:bodyPr/>
                    <a:lstStyle/>
                    <a:p>
                      <a:pPr algn="ctr"/>
                      <a:r>
                        <a:rPr lang="en-US" dirty="0" smtClean="0"/>
                        <a:t>2 Levels</a:t>
                      </a:r>
                      <a:r>
                        <a:rPr lang="en-US" baseline="0" dirty="0" smtClean="0"/>
                        <a:t> of Memory</a:t>
                      </a:r>
                      <a:endParaRPr lang="en-US" dirty="0"/>
                    </a:p>
                  </a:txBody>
                  <a:tcPr/>
                </a:tc>
                <a:tc hMerge="1">
                  <a:txBody>
                    <a:bodyPr/>
                    <a:lstStyle/>
                    <a:p>
                      <a:endParaRPr lang="en-US"/>
                    </a:p>
                  </a:txBody>
                  <a:tcPr/>
                </a:tc>
                <a:tc gridSpan="2">
                  <a:txBody>
                    <a:bodyPr/>
                    <a:lstStyle/>
                    <a:p>
                      <a:pPr algn="ctr"/>
                      <a:r>
                        <a:rPr lang="en-US" dirty="0" smtClean="0"/>
                        <a:t>Multiple Levels of Memory</a:t>
                      </a:r>
                      <a:endParaRPr lang="en-US" dirty="0"/>
                    </a:p>
                  </a:txBody>
                  <a:tcPr/>
                </a:tc>
                <a:tc hMerge="1">
                  <a:txBody>
                    <a:bodyPr/>
                    <a:lstStyle/>
                    <a:p>
                      <a:endParaRPr lang="en-US"/>
                    </a:p>
                  </a:txBody>
                  <a:tcPr/>
                </a:tc>
              </a:tr>
              <a:tr h="347074">
                <a:tc>
                  <a:txBody>
                    <a:bodyPr/>
                    <a:lstStyle/>
                    <a:p>
                      <a:endParaRPr lang="en-US"/>
                    </a:p>
                  </a:txBody>
                  <a:tcPr/>
                </a:tc>
                <a:tc>
                  <a:txBody>
                    <a:bodyPr/>
                    <a:lstStyle/>
                    <a:p>
                      <a:pPr algn="ctr"/>
                      <a:r>
                        <a:rPr lang="en-US" sz="1600" dirty="0" smtClean="0"/>
                        <a:t>#Words</a:t>
                      </a:r>
                      <a:r>
                        <a:rPr lang="en-US" sz="1600" baseline="0" dirty="0" smtClean="0"/>
                        <a:t> Moved</a:t>
                      </a:r>
                      <a:endParaRPr lang="en-US" sz="1600" dirty="0"/>
                    </a:p>
                  </a:txBody>
                  <a:tcPr/>
                </a:tc>
                <a:tc>
                  <a:txBody>
                    <a:bodyPr/>
                    <a:lstStyle/>
                    <a:p>
                      <a:pPr algn="ctr"/>
                      <a:r>
                        <a:rPr lang="en-US" sz="1600" dirty="0" smtClean="0"/>
                        <a:t> and #</a:t>
                      </a:r>
                      <a:r>
                        <a:rPr lang="en-US" sz="1600" baseline="0" dirty="0" smtClean="0"/>
                        <a:t> Messages</a:t>
                      </a:r>
                      <a:endParaRPr lang="en-US" sz="16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600" dirty="0" smtClean="0"/>
                        <a:t>#Words</a:t>
                      </a:r>
                      <a:r>
                        <a:rPr lang="en-US" sz="1600" baseline="0" dirty="0" smtClean="0"/>
                        <a:t> Moved</a:t>
                      </a:r>
                      <a:endParaRPr lang="en-US" sz="1600" dirty="0" smtClean="0"/>
                    </a:p>
                  </a:txBody>
                  <a:tcPr/>
                </a:tc>
                <a:tc>
                  <a:txBody>
                    <a:bodyPr/>
                    <a:lstStyle/>
                    <a:p>
                      <a:pPr algn="ctr"/>
                      <a:r>
                        <a:rPr lang="en-US" sz="1600" dirty="0" smtClean="0"/>
                        <a:t> and #Messages</a:t>
                      </a:r>
                      <a:endParaRPr lang="en-US" sz="1600" dirty="0"/>
                    </a:p>
                  </a:txBody>
                  <a:tcPr/>
                </a:tc>
              </a:tr>
              <a:tr h="549533">
                <a:tc>
                  <a:txBody>
                    <a:bodyPr/>
                    <a:lstStyle/>
                    <a:p>
                      <a:r>
                        <a:rPr lang="en-US" dirty="0" smtClean="0"/>
                        <a:t>BLAS-3</a:t>
                      </a:r>
                      <a:endParaRPr lang="en-US" dirty="0"/>
                    </a:p>
                  </a:txBody>
                  <a:tcPr/>
                </a:tc>
                <a:tc gridSpan="2">
                  <a:txBody>
                    <a:bodyPr/>
                    <a:lstStyle/>
                    <a:p>
                      <a:pPr algn="ctr"/>
                      <a:r>
                        <a:rPr lang="en-US" dirty="0" smtClean="0"/>
                        <a:t>Usual blocked or recursive algorithms</a:t>
                      </a:r>
                      <a:endParaRPr lang="en-US" dirty="0"/>
                    </a:p>
                  </a:txBody>
                  <a:tcPr/>
                </a:tc>
                <a:tc hMerge="1">
                  <a:txBody>
                    <a:bodyPr/>
                    <a:lstStyle/>
                    <a:p>
                      <a:endParaRPr lang="en-US"/>
                    </a:p>
                  </a:txBody>
                  <a:tcPr/>
                </a:tc>
                <a:tc gridSpan="2">
                  <a:txBody>
                    <a:bodyPr/>
                    <a:lstStyle/>
                    <a:p>
                      <a:pPr algn="ctr"/>
                      <a:r>
                        <a:rPr lang="en-US" sz="1600" dirty="0" smtClean="0"/>
                        <a:t>Usual blocked algorithms (nested),   or recursive</a:t>
                      </a:r>
                      <a:r>
                        <a:rPr lang="en-US" sz="1600" baseline="0" dirty="0" smtClean="0"/>
                        <a:t>  </a:t>
                      </a:r>
                      <a:r>
                        <a:rPr lang="en-US" sz="1600" dirty="0" smtClean="0"/>
                        <a:t>[</a:t>
                      </a:r>
                      <a:r>
                        <a:rPr lang="en-US" sz="1600" u="sng" dirty="0" smtClean="0"/>
                        <a:t>Gustavson,97</a:t>
                      </a:r>
                      <a:r>
                        <a:rPr lang="en-US" sz="1600" dirty="0" smtClean="0"/>
                        <a:t>]</a:t>
                      </a:r>
                      <a:r>
                        <a:rPr lang="en-US" sz="1600" dirty="0" smtClean="0">
                          <a:solidFill>
                            <a:srgbClr val="7030A0"/>
                          </a:solidFill>
                          <a:sym typeface="Wingdings"/>
                        </a:rPr>
                        <a:t> </a:t>
                      </a:r>
                      <a:endParaRPr lang="en-US" sz="1600" dirty="0"/>
                    </a:p>
                  </a:txBody>
                  <a:tcPr/>
                </a:tc>
                <a:tc hMerge="1">
                  <a:txBody>
                    <a:bodyPr/>
                    <a:lstStyle/>
                    <a:p>
                      <a:endParaRPr lang="en-US"/>
                    </a:p>
                  </a:txBody>
                  <a:tcPr/>
                </a:tc>
              </a:tr>
              <a:tr h="549533">
                <a:tc>
                  <a:txBody>
                    <a:bodyPr/>
                    <a:lstStyle/>
                    <a:p>
                      <a:r>
                        <a:rPr lang="en-US" dirty="0" err="1" smtClean="0"/>
                        <a:t>Cholesky</a:t>
                      </a:r>
                      <a:endParaRPr lang="en-US" dirty="0"/>
                    </a:p>
                  </a:txBody>
                  <a:tcPr/>
                </a:tc>
                <a:tc>
                  <a:txBody>
                    <a:bodyPr/>
                    <a:lstStyle/>
                    <a:p>
                      <a:pPr algn="ctr"/>
                      <a:r>
                        <a:rPr lang="en-US" sz="1600" dirty="0" smtClean="0"/>
                        <a:t>LAPACK (with</a:t>
                      </a:r>
                      <a:r>
                        <a:rPr lang="en-US" sz="1600" baseline="0" dirty="0" smtClean="0"/>
                        <a:t> b = M</a:t>
                      </a:r>
                      <a:r>
                        <a:rPr lang="en-US" sz="1600" baseline="30000" dirty="0" smtClean="0"/>
                        <a:t>1/2</a:t>
                      </a:r>
                      <a:r>
                        <a:rPr lang="en-US" sz="1600" baseline="0" dirty="0" smtClean="0"/>
                        <a:t>) </a:t>
                      </a:r>
                      <a:r>
                        <a:rPr lang="en-US" sz="1600" dirty="0" smtClean="0"/>
                        <a:t>[</a:t>
                      </a:r>
                      <a:r>
                        <a:rPr lang="en-US" sz="1600" u="sng" dirty="0" err="1" smtClean="0"/>
                        <a:t>Gustavson</a:t>
                      </a:r>
                      <a:r>
                        <a:rPr lang="en-US" sz="1600" u="sng" baseline="0" dirty="0" smtClean="0"/>
                        <a:t> 97</a:t>
                      </a:r>
                      <a:r>
                        <a:rPr lang="en-US" sz="1600" baseline="0" dirty="0" smtClean="0"/>
                        <a:t>]</a:t>
                      </a:r>
                      <a:r>
                        <a:rPr lang="en-US" sz="1600" dirty="0" smtClean="0">
                          <a:solidFill>
                            <a:srgbClr val="7030A0"/>
                          </a:solidFill>
                          <a:sym typeface="Wingdings"/>
                        </a:rPr>
                        <a:t> </a:t>
                      </a:r>
                      <a:endParaRPr lang="en-US" sz="1600" baseline="0" dirty="0" smtClean="0"/>
                    </a:p>
                    <a:p>
                      <a:pPr algn="ctr"/>
                      <a:r>
                        <a:rPr lang="en-US" sz="1600" baseline="0" dirty="0" smtClean="0">
                          <a:solidFill>
                            <a:srgbClr val="00B050"/>
                          </a:solidFill>
                        </a:rPr>
                        <a:t>[</a:t>
                      </a:r>
                      <a:r>
                        <a:rPr lang="en-US" sz="1600" u="sng" baseline="0" dirty="0" smtClean="0">
                          <a:solidFill>
                            <a:srgbClr val="00B050"/>
                          </a:solidFill>
                        </a:rPr>
                        <a:t>BDHS09</a:t>
                      </a:r>
                      <a:r>
                        <a:rPr lang="en-US" sz="1600" baseline="0" dirty="0" smtClean="0">
                          <a:solidFill>
                            <a:srgbClr val="00B050"/>
                          </a:solidFill>
                        </a:rPr>
                        <a:t>]</a:t>
                      </a:r>
                      <a:r>
                        <a:rPr lang="en-US" sz="1600" dirty="0" smtClean="0">
                          <a:solidFill>
                            <a:srgbClr val="7030A0"/>
                          </a:solidFill>
                          <a:sym typeface="Wingdings"/>
                        </a:rPr>
                        <a:t> </a:t>
                      </a:r>
                      <a:endParaRPr lang="en-US" sz="16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600" b="0" baseline="0" dirty="0" smtClean="0">
                          <a:solidFill>
                            <a:schemeClr val="tx1"/>
                          </a:solidFill>
                        </a:rPr>
                        <a:t>[</a:t>
                      </a:r>
                      <a:r>
                        <a:rPr lang="en-US" sz="1600" b="0" u="sng" baseline="0" dirty="0" smtClean="0">
                          <a:solidFill>
                            <a:schemeClr val="tx1"/>
                          </a:solidFill>
                        </a:rPr>
                        <a:t>Gustavson,97</a:t>
                      </a:r>
                      <a:r>
                        <a:rPr lang="en-US" sz="1600" b="0" baseline="0" dirty="0" smtClean="0">
                          <a:solidFill>
                            <a:schemeClr val="tx1"/>
                          </a:solidFill>
                        </a:rPr>
                        <a:t>] </a:t>
                      </a:r>
                    </a:p>
                    <a:p>
                      <a:pPr marL="0" marR="0" indent="0" algn="ctr" defTabSz="914400" rtl="0" eaLnBrk="1" fontAlgn="auto" latinLnBrk="0" hangingPunct="1">
                        <a:lnSpc>
                          <a:spcPct val="100000"/>
                        </a:lnSpc>
                        <a:spcBef>
                          <a:spcPts val="0"/>
                        </a:spcBef>
                        <a:spcAft>
                          <a:spcPts val="0"/>
                        </a:spcAft>
                        <a:buClrTx/>
                        <a:buSzTx/>
                        <a:buFontTx/>
                        <a:buNone/>
                        <a:tabLst/>
                        <a:defRPr/>
                      </a:pPr>
                      <a:r>
                        <a:rPr lang="en-US" sz="1600" b="0" baseline="0" dirty="0" smtClean="0">
                          <a:solidFill>
                            <a:schemeClr val="tx1"/>
                          </a:solidFill>
                        </a:rPr>
                        <a:t>[</a:t>
                      </a:r>
                      <a:r>
                        <a:rPr lang="en-US" sz="1600" b="0" u="sng" baseline="0" dirty="0" smtClean="0">
                          <a:solidFill>
                            <a:schemeClr val="tx1"/>
                          </a:solidFill>
                        </a:rPr>
                        <a:t>Ahmed,Pingali,00</a:t>
                      </a:r>
                      <a:r>
                        <a:rPr lang="en-US" sz="1600" b="0" baseline="0" dirty="0" smtClean="0">
                          <a:solidFill>
                            <a:schemeClr val="tx1"/>
                          </a:solidFill>
                        </a:rPr>
                        <a:t>]</a:t>
                      </a:r>
                    </a:p>
                    <a:p>
                      <a:pPr marL="0" marR="0" indent="0" algn="ctr" defTabSz="914400" rtl="0" eaLnBrk="1" fontAlgn="auto" latinLnBrk="0" hangingPunct="1">
                        <a:lnSpc>
                          <a:spcPct val="100000"/>
                        </a:lnSpc>
                        <a:spcBef>
                          <a:spcPts val="0"/>
                        </a:spcBef>
                        <a:spcAft>
                          <a:spcPts val="0"/>
                        </a:spcAft>
                        <a:buClrTx/>
                        <a:buSzTx/>
                        <a:buFontTx/>
                        <a:buNone/>
                        <a:tabLst/>
                        <a:defRPr/>
                      </a:pPr>
                      <a:r>
                        <a:rPr lang="en-US" sz="1600" b="0" baseline="0" dirty="0" smtClean="0">
                          <a:solidFill>
                            <a:srgbClr val="00B050"/>
                          </a:solidFill>
                        </a:rPr>
                        <a:t>[</a:t>
                      </a:r>
                      <a:r>
                        <a:rPr lang="en-US" sz="1600" b="0" u="sng" baseline="0" dirty="0" smtClean="0">
                          <a:solidFill>
                            <a:srgbClr val="00B050"/>
                          </a:solidFill>
                        </a:rPr>
                        <a:t>BDHS09</a:t>
                      </a:r>
                      <a:r>
                        <a:rPr lang="en-US" sz="1600" b="0" baseline="0" dirty="0" smtClean="0">
                          <a:solidFill>
                            <a:srgbClr val="00B050"/>
                          </a:solidFill>
                        </a:rPr>
                        <a:t>]</a:t>
                      </a:r>
                      <a:r>
                        <a:rPr lang="en-US" sz="1600" dirty="0" smtClean="0">
                          <a:solidFill>
                            <a:srgbClr val="7030A0"/>
                          </a:solidFill>
                          <a:sym typeface="Wingdings"/>
                        </a:rPr>
                        <a:t> </a:t>
                      </a:r>
                      <a:endParaRPr lang="en-US" sz="1600" b="0" dirty="0"/>
                    </a:p>
                  </a:txBody>
                  <a:tcPr/>
                </a:tc>
                <a:tc>
                  <a:txBody>
                    <a:bodyPr/>
                    <a:lstStyle/>
                    <a:p>
                      <a:pPr algn="ctr"/>
                      <a:r>
                        <a:rPr lang="en-US" sz="1600" dirty="0" smtClean="0">
                          <a:solidFill>
                            <a:schemeClr val="tx1"/>
                          </a:solidFill>
                          <a:sym typeface="Wingdings"/>
                        </a:rPr>
                        <a:t>(←same) </a:t>
                      </a:r>
                      <a:endParaRPr lang="en-US" sz="1600" dirty="0">
                        <a:solidFill>
                          <a:schemeClr val="tx1"/>
                        </a:solidFill>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600" dirty="0" smtClean="0"/>
                        <a:t>(←same)</a:t>
                      </a:r>
                    </a:p>
                  </a:txBody>
                  <a:tcPr/>
                </a:tc>
              </a:tr>
              <a:tr h="607379">
                <a:tc>
                  <a:txBody>
                    <a:bodyPr/>
                    <a:lstStyle/>
                    <a:p>
                      <a:r>
                        <a:rPr lang="en-US" dirty="0" smtClean="0"/>
                        <a:t>LU with</a:t>
                      </a:r>
                    </a:p>
                    <a:p>
                      <a:r>
                        <a:rPr lang="en-US" baseline="0" dirty="0" smtClean="0"/>
                        <a:t>pivoting</a:t>
                      </a:r>
                      <a:endParaRPr lang="en-US"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600" baseline="0" dirty="0" smtClean="0"/>
                        <a:t>LAPACK (sometimes)</a:t>
                      </a:r>
                      <a:endParaRPr lang="en-US" sz="1600" dirty="0" smtClean="0"/>
                    </a:p>
                    <a:p>
                      <a:pPr marL="0" marR="0" indent="0" algn="ctr" defTabSz="914400" rtl="0" eaLnBrk="1" fontAlgn="auto" latinLnBrk="0" hangingPunct="1">
                        <a:lnSpc>
                          <a:spcPct val="100000"/>
                        </a:lnSpc>
                        <a:spcBef>
                          <a:spcPts val="0"/>
                        </a:spcBef>
                        <a:spcAft>
                          <a:spcPts val="0"/>
                        </a:spcAft>
                        <a:buClrTx/>
                        <a:buSzTx/>
                        <a:buFontTx/>
                        <a:buNone/>
                        <a:tabLst/>
                        <a:defRPr/>
                      </a:pPr>
                      <a:r>
                        <a:rPr lang="en-US" sz="1600" dirty="0" smtClean="0"/>
                        <a:t>[</a:t>
                      </a:r>
                      <a:r>
                        <a:rPr lang="en-US" sz="1600" u="sng" dirty="0" smtClean="0"/>
                        <a:t>Toledo,97</a:t>
                      </a:r>
                      <a:r>
                        <a:rPr lang="en-US" sz="1600" dirty="0" smtClean="0"/>
                        <a:t>] , </a:t>
                      </a:r>
                      <a:r>
                        <a:rPr lang="en-US" sz="1600" dirty="0" smtClean="0">
                          <a:solidFill>
                            <a:srgbClr val="00B050"/>
                          </a:solidFill>
                        </a:rPr>
                        <a:t>[GDX</a:t>
                      </a:r>
                      <a:r>
                        <a:rPr lang="en-US" sz="1600" baseline="0" dirty="0" smtClean="0">
                          <a:solidFill>
                            <a:srgbClr val="00B050"/>
                          </a:solidFill>
                        </a:rPr>
                        <a:t> 08]</a:t>
                      </a:r>
                      <a:endParaRPr lang="en-US" sz="1600" baseline="0" dirty="0" smtClean="0"/>
                    </a:p>
                  </a:txBody>
                  <a:tcPr/>
                </a:tc>
                <a:tc>
                  <a:txBody>
                    <a:bodyPr/>
                    <a:lstStyle/>
                    <a:p>
                      <a:pPr algn="ctr"/>
                      <a:r>
                        <a:rPr lang="en-US" sz="1600" dirty="0" smtClean="0">
                          <a:solidFill>
                            <a:srgbClr val="00B050"/>
                          </a:solidFill>
                        </a:rPr>
                        <a:t>[GDX</a:t>
                      </a:r>
                      <a:r>
                        <a:rPr lang="en-US" sz="1600" baseline="0" dirty="0" smtClean="0">
                          <a:solidFill>
                            <a:srgbClr val="00B050"/>
                          </a:solidFill>
                        </a:rPr>
                        <a:t> 08]</a:t>
                      </a:r>
                    </a:p>
                    <a:p>
                      <a:pPr algn="ctr"/>
                      <a:r>
                        <a:rPr lang="en-US" sz="1600" i="1" baseline="0" dirty="0" smtClean="0">
                          <a:solidFill>
                            <a:srgbClr val="00B050"/>
                          </a:solidFill>
                        </a:rPr>
                        <a:t>not</a:t>
                      </a:r>
                      <a:r>
                        <a:rPr lang="en-US" sz="1600" baseline="0" dirty="0" smtClean="0">
                          <a:solidFill>
                            <a:srgbClr val="00B050"/>
                          </a:solidFill>
                        </a:rPr>
                        <a:t> partial pivoting</a:t>
                      </a:r>
                    </a:p>
                  </a:txBody>
                  <a:tcPr/>
                </a:tc>
                <a:tc>
                  <a:txBody>
                    <a:bodyPr/>
                    <a:lstStyle/>
                    <a:p>
                      <a:pPr algn="ctr"/>
                      <a:r>
                        <a:rPr lang="en-US" sz="1600" dirty="0" smtClean="0">
                          <a:solidFill>
                            <a:schemeClr val="tx1"/>
                          </a:solidFill>
                        </a:rPr>
                        <a:t>[</a:t>
                      </a:r>
                      <a:r>
                        <a:rPr lang="en-US" sz="1600" u="sng" dirty="0" smtClean="0">
                          <a:solidFill>
                            <a:schemeClr val="tx1"/>
                          </a:solidFill>
                        </a:rPr>
                        <a:t>Toledo,</a:t>
                      </a:r>
                      <a:r>
                        <a:rPr lang="en-US" sz="1600" u="sng" baseline="0" dirty="0" smtClean="0">
                          <a:solidFill>
                            <a:schemeClr val="tx1"/>
                          </a:solidFill>
                        </a:rPr>
                        <a:t> 97</a:t>
                      </a:r>
                      <a:r>
                        <a:rPr lang="en-US" sz="1600" baseline="0" dirty="0" smtClean="0">
                          <a:solidFill>
                            <a:schemeClr val="tx1"/>
                          </a:solidFill>
                        </a:rPr>
                        <a:t>]</a:t>
                      </a:r>
                      <a:endParaRPr lang="en-US" sz="1600" dirty="0" smtClean="0">
                        <a:solidFill>
                          <a:srgbClr val="7030A0"/>
                        </a:solidFill>
                        <a:sym typeface="Wingdings"/>
                      </a:endParaRPr>
                    </a:p>
                    <a:p>
                      <a:pPr marL="0" marR="0" indent="0" algn="ctr" defTabSz="914400" rtl="0" eaLnBrk="1" fontAlgn="auto" latinLnBrk="0" hangingPunct="1">
                        <a:lnSpc>
                          <a:spcPct val="100000"/>
                        </a:lnSpc>
                        <a:spcBef>
                          <a:spcPts val="0"/>
                        </a:spcBef>
                        <a:spcAft>
                          <a:spcPts val="0"/>
                        </a:spcAft>
                        <a:buClrTx/>
                        <a:buSzTx/>
                        <a:buFontTx/>
                        <a:buNone/>
                        <a:tabLst/>
                        <a:defRPr/>
                      </a:pPr>
                      <a:r>
                        <a:rPr lang="en-US" sz="1600" dirty="0" smtClean="0">
                          <a:solidFill>
                            <a:srgbClr val="00B050"/>
                          </a:solidFill>
                        </a:rPr>
                        <a:t>[GDX</a:t>
                      </a:r>
                      <a:r>
                        <a:rPr lang="en-US" sz="1600" baseline="0" dirty="0" smtClean="0">
                          <a:solidFill>
                            <a:srgbClr val="00B050"/>
                          </a:solidFill>
                        </a:rPr>
                        <a:t> 08]</a:t>
                      </a:r>
                      <a:r>
                        <a:rPr lang="en-US" sz="1600" baseline="0" dirty="0" smtClean="0">
                          <a:solidFill>
                            <a:srgbClr val="FF0000"/>
                          </a:solidFill>
                        </a:rPr>
                        <a:t>?</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600" dirty="0" smtClean="0">
                          <a:solidFill>
                            <a:srgbClr val="00B050"/>
                          </a:solidFill>
                        </a:rPr>
                        <a:t>[GDX</a:t>
                      </a:r>
                      <a:r>
                        <a:rPr lang="en-US" sz="1600" baseline="0" dirty="0" smtClean="0">
                          <a:solidFill>
                            <a:srgbClr val="00B050"/>
                          </a:solidFill>
                        </a:rPr>
                        <a:t> 08]</a:t>
                      </a:r>
                      <a:r>
                        <a:rPr lang="en-US" sz="1600" baseline="0" dirty="0" smtClean="0">
                          <a:solidFill>
                            <a:srgbClr val="FF0000"/>
                          </a:solidFill>
                        </a:rPr>
                        <a:t>?</a:t>
                      </a:r>
                    </a:p>
                    <a:p>
                      <a:pPr algn="ctr"/>
                      <a:endParaRPr lang="en-US" sz="1600" dirty="0">
                        <a:solidFill>
                          <a:srgbClr val="FF0000"/>
                        </a:solidFill>
                      </a:endParaRPr>
                    </a:p>
                  </a:txBody>
                  <a:tcPr/>
                </a:tc>
              </a:tr>
              <a:tr h="838761">
                <a:tc>
                  <a:txBody>
                    <a:bodyPr/>
                    <a:lstStyle/>
                    <a:p>
                      <a:r>
                        <a:rPr lang="en-US" dirty="0" smtClean="0"/>
                        <a:t>QR</a:t>
                      </a:r>
                    </a:p>
                    <a:p>
                      <a:r>
                        <a:rPr lang="en-US" dirty="0" smtClean="0">
                          <a:solidFill>
                            <a:srgbClr val="00B050"/>
                          </a:solidFill>
                        </a:rPr>
                        <a:t>Rank-revealing</a:t>
                      </a:r>
                      <a:endParaRPr lang="en-US" dirty="0">
                        <a:solidFill>
                          <a:srgbClr val="00B050"/>
                        </a:solidFill>
                      </a:endParaRPr>
                    </a:p>
                  </a:txBody>
                  <a:tcPr/>
                </a:tc>
                <a:tc>
                  <a:txBody>
                    <a:bodyPr/>
                    <a:lstStyle/>
                    <a:p>
                      <a:pPr algn="ctr"/>
                      <a:r>
                        <a:rPr lang="en-US" sz="1600" baseline="0" dirty="0" smtClean="0"/>
                        <a:t>LAPACK (sometimes) </a:t>
                      </a:r>
                      <a:r>
                        <a:rPr lang="en-US" sz="1600" dirty="0" smtClean="0"/>
                        <a:t>[</a:t>
                      </a:r>
                      <a:r>
                        <a:rPr lang="en-US" sz="1600" u="sng" dirty="0" smtClean="0"/>
                        <a:t>Elmroth,</a:t>
                      </a:r>
                      <a:r>
                        <a:rPr lang="en-US" sz="1600" u="sng" baseline="0" dirty="0" smtClean="0"/>
                        <a:t>Gustavson,98</a:t>
                      </a:r>
                      <a:r>
                        <a:rPr lang="en-US" sz="1600" dirty="0" smtClean="0"/>
                        <a:t>]</a:t>
                      </a:r>
                    </a:p>
                    <a:p>
                      <a:pPr marL="0" marR="0" indent="0" algn="ctr" defTabSz="914400" rtl="0" eaLnBrk="1" fontAlgn="auto" latinLnBrk="0" hangingPunct="1">
                        <a:lnSpc>
                          <a:spcPct val="100000"/>
                        </a:lnSpc>
                        <a:spcBef>
                          <a:spcPts val="0"/>
                        </a:spcBef>
                        <a:spcAft>
                          <a:spcPts val="0"/>
                        </a:spcAft>
                        <a:buClrTx/>
                        <a:buSzTx/>
                        <a:buFontTx/>
                        <a:buNone/>
                        <a:tabLst/>
                        <a:defRPr/>
                      </a:pPr>
                      <a:r>
                        <a:rPr lang="en-US" sz="1600" baseline="0" dirty="0" smtClean="0"/>
                        <a:t> </a:t>
                      </a:r>
                      <a:r>
                        <a:rPr lang="en-US" sz="1600" dirty="0" smtClean="0">
                          <a:solidFill>
                            <a:srgbClr val="00B050"/>
                          </a:solidFill>
                        </a:rPr>
                        <a:t>[DGHL08]</a:t>
                      </a:r>
                      <a:r>
                        <a:rPr lang="en-US" sz="1600" baseline="30000" dirty="0" smtClean="0">
                          <a:solidFill>
                            <a:srgbClr val="00B050"/>
                          </a:solidFill>
                        </a:rPr>
                        <a:t> </a:t>
                      </a:r>
                      <a:endParaRPr lang="en-US" sz="1600" dirty="0" smtClean="0">
                        <a:solidFill>
                          <a:srgbClr val="00B050"/>
                        </a:solidFill>
                      </a:endParaRPr>
                    </a:p>
                  </a:txBody>
                  <a:tcPr/>
                </a:tc>
                <a:tc>
                  <a:txBody>
                    <a:bodyPr/>
                    <a:lstStyle/>
                    <a:p>
                      <a:pPr algn="ctr"/>
                      <a:r>
                        <a:rPr lang="en-US" sz="1600" dirty="0" smtClean="0">
                          <a:solidFill>
                            <a:schemeClr val="tx1"/>
                          </a:solidFill>
                        </a:rPr>
                        <a:t>[</a:t>
                      </a:r>
                      <a:r>
                        <a:rPr lang="en-US" sz="1600" u="sng" dirty="0" smtClean="0">
                          <a:solidFill>
                            <a:schemeClr val="tx1"/>
                          </a:solidFill>
                        </a:rPr>
                        <a:t>Frens,Wise,03</a:t>
                      </a:r>
                      <a:r>
                        <a:rPr lang="en-US" sz="1600" dirty="0" smtClean="0">
                          <a:solidFill>
                            <a:schemeClr val="tx1"/>
                          </a:solidFill>
                        </a:rPr>
                        <a:t>]</a:t>
                      </a:r>
                    </a:p>
                    <a:p>
                      <a:pPr algn="ctr"/>
                      <a:r>
                        <a:rPr lang="en-US" sz="1600" dirty="0" smtClean="0">
                          <a:solidFill>
                            <a:schemeClr val="tx1"/>
                          </a:solidFill>
                        </a:rPr>
                        <a:t>but 3x flops?</a:t>
                      </a:r>
                    </a:p>
                    <a:p>
                      <a:pPr algn="ctr"/>
                      <a:r>
                        <a:rPr lang="en-US" sz="1600" dirty="0" smtClean="0">
                          <a:solidFill>
                            <a:srgbClr val="00B050"/>
                          </a:solidFill>
                        </a:rPr>
                        <a:t>[DGHL08]</a:t>
                      </a:r>
                      <a:r>
                        <a:rPr lang="en-US" sz="1600" baseline="30000" dirty="0" smtClean="0">
                          <a:solidFill>
                            <a:srgbClr val="00B050"/>
                          </a:solidFill>
                        </a:rPr>
                        <a:t> </a:t>
                      </a:r>
                      <a:endParaRPr lang="en-US" sz="1600" dirty="0" smtClean="0">
                        <a:solidFill>
                          <a:srgbClr val="00B050"/>
                        </a:solidFill>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600" dirty="0" smtClean="0"/>
                        <a:t>[</a:t>
                      </a:r>
                      <a:r>
                        <a:rPr lang="en-US" sz="1600" u="sng" dirty="0" err="1" smtClean="0"/>
                        <a:t>Elmroth</a:t>
                      </a:r>
                      <a:r>
                        <a:rPr lang="en-US" sz="1600" u="sng" dirty="0" smtClean="0"/>
                        <a:t>,</a:t>
                      </a:r>
                    </a:p>
                    <a:p>
                      <a:pPr marL="0" marR="0" indent="0" algn="ctr" defTabSz="914400" rtl="0" eaLnBrk="1" fontAlgn="auto" latinLnBrk="0" hangingPunct="1">
                        <a:lnSpc>
                          <a:spcPct val="100000"/>
                        </a:lnSpc>
                        <a:spcBef>
                          <a:spcPts val="0"/>
                        </a:spcBef>
                        <a:spcAft>
                          <a:spcPts val="0"/>
                        </a:spcAft>
                        <a:buClrTx/>
                        <a:buSzTx/>
                        <a:buFontTx/>
                        <a:buNone/>
                        <a:tabLst/>
                        <a:defRPr/>
                      </a:pPr>
                      <a:r>
                        <a:rPr lang="en-US" sz="1600" u="sng" dirty="0" smtClean="0"/>
                        <a:t>Gustavson,98</a:t>
                      </a:r>
                      <a:r>
                        <a:rPr lang="en-US" sz="1600" dirty="0" smtClean="0"/>
                        <a:t>]</a:t>
                      </a:r>
                      <a:r>
                        <a:rPr lang="en-US" sz="1600" dirty="0" smtClean="0">
                          <a:solidFill>
                            <a:srgbClr val="00B050"/>
                          </a:solidFill>
                        </a:rPr>
                        <a:t> [DGHL08]</a:t>
                      </a:r>
                      <a:r>
                        <a:rPr lang="en-US" sz="1600" baseline="0" dirty="0" smtClean="0">
                          <a:solidFill>
                            <a:srgbClr val="FF0000"/>
                          </a:solidFill>
                        </a:rPr>
                        <a:t> ?</a:t>
                      </a:r>
                      <a:endParaRPr lang="en-US" sz="1600" dirty="0" smtClean="0">
                        <a:solidFill>
                          <a:schemeClr val="tx1"/>
                        </a:solidFill>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600" dirty="0" smtClean="0">
                          <a:solidFill>
                            <a:schemeClr val="tx1"/>
                          </a:solidFill>
                        </a:rPr>
                        <a:t>[</a:t>
                      </a:r>
                      <a:r>
                        <a:rPr lang="en-US" sz="1600" u="sng" dirty="0" smtClean="0">
                          <a:solidFill>
                            <a:schemeClr val="tx1"/>
                          </a:solidFill>
                        </a:rPr>
                        <a:t>Frens,Wise,03</a:t>
                      </a:r>
                      <a:r>
                        <a:rPr lang="en-US" sz="1600" dirty="0" smtClean="0">
                          <a:solidFill>
                            <a:schemeClr val="tx1"/>
                          </a:solidFill>
                        </a:rPr>
                        <a:t>]</a:t>
                      </a:r>
                      <a:r>
                        <a:rPr lang="en-US" sz="1600" dirty="0" smtClean="0">
                          <a:solidFill>
                            <a:srgbClr val="00B050"/>
                          </a:solidFill>
                        </a:rPr>
                        <a:t> [DGHL08]</a:t>
                      </a:r>
                      <a:r>
                        <a:rPr lang="en-US" sz="1600" baseline="30000" dirty="0" smtClean="0">
                          <a:solidFill>
                            <a:schemeClr val="tx1"/>
                          </a:solidFill>
                        </a:rPr>
                        <a:t> </a:t>
                      </a:r>
                      <a:r>
                        <a:rPr lang="en-US" sz="1600" baseline="0" dirty="0" smtClean="0">
                          <a:solidFill>
                            <a:srgbClr val="FF0000"/>
                          </a:solidFill>
                        </a:rPr>
                        <a:t>?</a:t>
                      </a:r>
                      <a:r>
                        <a:rPr lang="en-US" sz="1600" baseline="30000" dirty="0" smtClean="0">
                          <a:solidFill>
                            <a:schemeClr val="tx1"/>
                          </a:solidFill>
                        </a:rPr>
                        <a:t> </a:t>
                      </a:r>
                      <a:endParaRPr lang="en-US" sz="1600" dirty="0" smtClean="0">
                        <a:solidFill>
                          <a:srgbClr val="FF0000"/>
                        </a:solidFill>
                      </a:endParaRPr>
                    </a:p>
                    <a:p>
                      <a:pPr algn="ctr"/>
                      <a:endParaRPr lang="en-US" sz="1600" dirty="0" smtClean="0">
                        <a:solidFill>
                          <a:srgbClr val="FF0000"/>
                        </a:solidFill>
                      </a:endParaRPr>
                    </a:p>
                  </a:txBody>
                  <a:tcPr/>
                </a:tc>
              </a:tr>
              <a:tr h="562786">
                <a:tc>
                  <a:txBody>
                    <a:bodyPr/>
                    <a:lstStyle/>
                    <a:p>
                      <a:r>
                        <a:rPr lang="en-US" dirty="0" err="1" smtClean="0"/>
                        <a:t>Eig</a:t>
                      </a:r>
                      <a:r>
                        <a:rPr lang="en-US" dirty="0" smtClean="0"/>
                        <a:t>,</a:t>
                      </a:r>
                      <a:r>
                        <a:rPr lang="en-US" baseline="0" dirty="0" smtClean="0"/>
                        <a:t> </a:t>
                      </a:r>
                      <a:r>
                        <a:rPr lang="en-US" dirty="0" smtClean="0"/>
                        <a:t>SVD</a:t>
                      </a:r>
                      <a:endParaRPr lang="en-US" dirty="0"/>
                    </a:p>
                  </a:txBody>
                  <a:tcPr/>
                </a:tc>
                <a:tc gridSpan="2">
                  <a:txBody>
                    <a:bodyPr/>
                    <a:lstStyle/>
                    <a:p>
                      <a:pPr algn="ctr"/>
                      <a:r>
                        <a:rPr lang="en-US" sz="1600" i="1" dirty="0" smtClean="0"/>
                        <a:t>Not</a:t>
                      </a:r>
                      <a:r>
                        <a:rPr lang="en-US" sz="1600" dirty="0" smtClean="0"/>
                        <a:t> LAPACK</a:t>
                      </a:r>
                      <a:r>
                        <a:rPr lang="en-US" sz="1600" baseline="0" dirty="0" smtClean="0"/>
                        <a:t>  </a:t>
                      </a:r>
                    </a:p>
                    <a:p>
                      <a:pPr algn="ctr"/>
                      <a:r>
                        <a:rPr lang="en-US" sz="1600" dirty="0" smtClean="0">
                          <a:solidFill>
                            <a:srgbClr val="00B050"/>
                          </a:solidFill>
                        </a:rPr>
                        <a:t>[</a:t>
                      </a:r>
                      <a:r>
                        <a:rPr lang="en-US" sz="1600" u="sng" dirty="0" smtClean="0">
                          <a:solidFill>
                            <a:srgbClr val="00B050"/>
                          </a:solidFill>
                        </a:rPr>
                        <a:t>BDD11</a:t>
                      </a:r>
                      <a:r>
                        <a:rPr lang="en-US" sz="1600" dirty="0" smtClean="0">
                          <a:solidFill>
                            <a:srgbClr val="00B050"/>
                          </a:solidFill>
                        </a:rPr>
                        <a:t>]  randomized, but more flops; [BDK11]</a:t>
                      </a:r>
                      <a:endParaRPr lang="en-US" sz="1600" dirty="0">
                        <a:solidFill>
                          <a:srgbClr val="00B050"/>
                        </a:solidFill>
                      </a:endParaRPr>
                    </a:p>
                  </a:txBody>
                  <a:tcPr/>
                </a:tc>
                <a:tc hMerge="1">
                  <a:txBody>
                    <a:bodyPr/>
                    <a:lstStyle/>
                    <a:p>
                      <a:endParaRPr lang="en-US"/>
                    </a:p>
                  </a:txBody>
                  <a:tcPr/>
                </a:tc>
                <a:tc>
                  <a:txBody>
                    <a:bodyPr/>
                    <a:lstStyle/>
                    <a:p>
                      <a:pPr algn="ctr"/>
                      <a:r>
                        <a:rPr lang="en-US" sz="1600" u="none" dirty="0" smtClean="0">
                          <a:solidFill>
                            <a:srgbClr val="00B050"/>
                          </a:solidFill>
                        </a:rPr>
                        <a:t>[</a:t>
                      </a:r>
                      <a:r>
                        <a:rPr lang="en-US" sz="1600" u="sng" dirty="0" smtClean="0">
                          <a:solidFill>
                            <a:srgbClr val="00B050"/>
                          </a:solidFill>
                        </a:rPr>
                        <a:t>BDD11,</a:t>
                      </a:r>
                    </a:p>
                    <a:p>
                      <a:pPr algn="ctr"/>
                      <a:r>
                        <a:rPr lang="en-US" sz="1600" u="sng" dirty="0" smtClean="0">
                          <a:solidFill>
                            <a:srgbClr val="00B050"/>
                          </a:solidFill>
                        </a:rPr>
                        <a:t>BDK11</a:t>
                      </a:r>
                      <a:r>
                        <a:rPr lang="en-US" sz="1600" u="sng" dirty="0" smtClean="0">
                          <a:solidFill>
                            <a:srgbClr val="FF0000"/>
                          </a:solidFill>
                        </a:rPr>
                        <a:t>?</a:t>
                      </a:r>
                      <a:r>
                        <a:rPr lang="en-US" sz="1600" dirty="0" smtClean="0">
                          <a:solidFill>
                            <a:srgbClr val="00B050"/>
                          </a:solidFill>
                        </a:rPr>
                        <a:t>]</a:t>
                      </a:r>
                      <a:r>
                        <a:rPr lang="en-US" sz="1600" baseline="0" dirty="0" smtClean="0">
                          <a:solidFill>
                            <a:srgbClr val="00B050"/>
                          </a:solidFill>
                        </a:rPr>
                        <a:t> </a:t>
                      </a:r>
                      <a:endParaRPr lang="en-US" sz="1600" dirty="0" smtClean="0">
                        <a:solidFill>
                          <a:srgbClr val="FF0000"/>
                        </a:solidFill>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600" dirty="0" smtClean="0">
                          <a:solidFill>
                            <a:srgbClr val="00B050"/>
                          </a:solidFill>
                        </a:rPr>
                        <a:t>[</a:t>
                      </a:r>
                      <a:r>
                        <a:rPr lang="en-US" sz="1600" u="sng" dirty="0" smtClean="0">
                          <a:solidFill>
                            <a:srgbClr val="00B050"/>
                          </a:solidFill>
                        </a:rPr>
                        <a:t>BDD11,</a:t>
                      </a:r>
                    </a:p>
                    <a:p>
                      <a:pPr marL="0" marR="0" indent="0" algn="ctr" defTabSz="914400" rtl="0" eaLnBrk="1" fontAlgn="auto" latinLnBrk="0" hangingPunct="1">
                        <a:lnSpc>
                          <a:spcPct val="100000"/>
                        </a:lnSpc>
                        <a:spcBef>
                          <a:spcPts val="0"/>
                        </a:spcBef>
                        <a:spcAft>
                          <a:spcPts val="0"/>
                        </a:spcAft>
                        <a:buClrTx/>
                        <a:buSzTx/>
                        <a:buFontTx/>
                        <a:buNone/>
                        <a:tabLst/>
                        <a:defRPr/>
                      </a:pPr>
                      <a:r>
                        <a:rPr lang="en-US" sz="1600" u="sng" dirty="0" smtClean="0">
                          <a:solidFill>
                            <a:srgbClr val="00B050"/>
                          </a:solidFill>
                        </a:rPr>
                        <a:t>BDK11</a:t>
                      </a:r>
                      <a:r>
                        <a:rPr lang="en-US" sz="1600" u="sng" dirty="0" smtClean="0">
                          <a:solidFill>
                            <a:srgbClr val="FF0000"/>
                          </a:solidFill>
                        </a:rPr>
                        <a:t>?</a:t>
                      </a:r>
                      <a:r>
                        <a:rPr lang="en-US" sz="1600" dirty="0" smtClean="0">
                          <a:solidFill>
                            <a:srgbClr val="00B050"/>
                          </a:solidFill>
                        </a:rPr>
                        <a:t>]</a:t>
                      </a:r>
                      <a:r>
                        <a:rPr lang="en-US" sz="1600" baseline="0" dirty="0" smtClean="0">
                          <a:solidFill>
                            <a:srgbClr val="00B050"/>
                          </a:solidFill>
                        </a:rPr>
                        <a:t> </a:t>
                      </a:r>
                      <a:endParaRPr lang="en-US" sz="1600" dirty="0" smtClean="0">
                        <a:solidFill>
                          <a:srgbClr val="FF0000"/>
                        </a:solidFill>
                      </a:endParaRPr>
                    </a:p>
                  </a:txBody>
                  <a:tcPr/>
                </a:tc>
              </a:tr>
            </a:tbl>
          </a:graphicData>
        </a:graphic>
      </p:graphicFrame>
      <p:sp>
        <p:nvSpPr>
          <p:cNvPr id="11" name="Rectangle 10"/>
          <p:cNvSpPr>
            <a:spLocks noChangeArrowheads="1"/>
          </p:cNvSpPr>
          <p:nvPr/>
        </p:nvSpPr>
        <p:spPr bwMode="auto">
          <a:xfrm>
            <a:off x="1234643" y="3168651"/>
            <a:ext cx="9348788" cy="3829050"/>
          </a:xfrm>
          <a:prstGeom prst="rect">
            <a:avLst/>
          </a:prstGeom>
          <a:solidFill>
            <a:schemeClr val="bg1"/>
          </a:solidFill>
          <a:ln w="12700" algn="ctr">
            <a:noFill/>
            <a:round/>
            <a:headEnd type="none" w="sm" len="sm"/>
            <a:tailEnd type="none" w="sm" len="sm"/>
          </a:ln>
        </p:spPr>
        <p:txBody>
          <a:bodyPr/>
          <a:lstStyle/>
          <a:p>
            <a:pPr eaLnBrk="0" hangingPunct="0"/>
            <a:endParaRPr lang="en-US"/>
          </a:p>
        </p:txBody>
      </p:sp>
    </p:spTree>
    <p:extLst>
      <p:ext uri="{BB962C8B-B14F-4D97-AF65-F5344CB8AC3E}">
        <p14:creationId xmlns:p14="http://schemas.microsoft.com/office/powerpoint/2010/main" val="1342720681"/>
      </p:ext>
    </p:extLst>
  </p:cSld>
  <p:clrMapOvr>
    <a:masterClrMapping/>
  </p:clrMapOvr>
  <p:transition xmlns:p14="http://schemas.microsoft.com/office/powerpoint/2010/main"/>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5" name="Title 1"/>
          <p:cNvSpPr>
            <a:spLocks noGrp="1"/>
          </p:cNvSpPr>
          <p:nvPr>
            <p:ph type="title"/>
          </p:nvPr>
        </p:nvSpPr>
        <p:spPr>
          <a:xfrm>
            <a:off x="779463" y="22808"/>
            <a:ext cx="7296150" cy="801688"/>
          </a:xfrm>
        </p:spPr>
        <p:txBody>
          <a:bodyPr>
            <a:noAutofit/>
          </a:bodyPr>
          <a:lstStyle/>
          <a:p>
            <a:pPr algn="ctr"/>
            <a:r>
              <a:rPr lang="en-US" sz="3200" dirty="0" smtClean="0"/>
              <a:t>Summary of dense </a:t>
            </a:r>
            <a:r>
              <a:rPr lang="en-US" sz="3200" i="1" u="sng" dirty="0" smtClean="0"/>
              <a:t>parallel</a:t>
            </a:r>
            <a:r>
              <a:rPr lang="en-US" sz="3200" dirty="0" smtClean="0"/>
              <a:t> algorithms </a:t>
            </a:r>
            <a:br>
              <a:rPr lang="en-US" sz="3200" dirty="0" smtClean="0"/>
            </a:br>
            <a:r>
              <a:rPr lang="en-US" sz="3200" dirty="0" smtClean="0"/>
              <a:t>attaining communication lower bounds</a:t>
            </a:r>
          </a:p>
        </p:txBody>
      </p:sp>
      <p:sp>
        <p:nvSpPr>
          <p:cNvPr id="4" name="Slide Number Placeholder 3"/>
          <p:cNvSpPr>
            <a:spLocks noGrp="1"/>
          </p:cNvSpPr>
          <p:nvPr>
            <p:ph type="sldNum" sz="quarter" idx="11"/>
          </p:nvPr>
        </p:nvSpPr>
        <p:spPr>
          <a:xfrm>
            <a:off x="9832975" y="6400800"/>
            <a:ext cx="1905000" cy="457200"/>
          </a:xfrm>
        </p:spPr>
        <p:txBody>
          <a:bodyPr/>
          <a:lstStyle/>
          <a:p>
            <a:pPr>
              <a:defRPr/>
            </a:pPr>
            <a:fld id="{1110692E-4516-4640-ACA1-F899B3563FBA}" type="slidenum">
              <a:rPr lang="en-US" smtClean="0"/>
              <a:pPr>
                <a:defRPr/>
              </a:pPr>
              <a:t>42</a:t>
            </a:fld>
            <a:endParaRPr lang="en-US" dirty="0"/>
          </a:p>
        </p:txBody>
      </p:sp>
      <p:sp>
        <p:nvSpPr>
          <p:cNvPr id="30727" name="Rectangle 11"/>
          <p:cNvSpPr>
            <a:spLocks noChangeArrowheads="1"/>
          </p:cNvSpPr>
          <p:nvPr/>
        </p:nvSpPr>
        <p:spPr bwMode="auto">
          <a:xfrm>
            <a:off x="6796088" y="4476750"/>
            <a:ext cx="1843087" cy="282575"/>
          </a:xfrm>
          <a:prstGeom prst="rect">
            <a:avLst/>
          </a:prstGeom>
          <a:solidFill>
            <a:schemeClr val="bg1"/>
          </a:solidFill>
          <a:ln w="12700" algn="ctr">
            <a:noFill/>
            <a:round/>
            <a:headEnd type="none" w="sm" len="sm"/>
            <a:tailEnd type="none" w="sm" len="sm"/>
          </a:ln>
        </p:spPr>
        <p:txBody>
          <a:bodyPr/>
          <a:lstStyle/>
          <a:p>
            <a:pPr eaLnBrk="0" hangingPunct="0"/>
            <a:endParaRPr lang="en-US"/>
          </a:p>
        </p:txBody>
      </p:sp>
      <p:sp>
        <p:nvSpPr>
          <p:cNvPr id="30728" name="Rectangle 12"/>
          <p:cNvSpPr>
            <a:spLocks noChangeArrowheads="1"/>
          </p:cNvSpPr>
          <p:nvPr/>
        </p:nvSpPr>
        <p:spPr bwMode="auto">
          <a:xfrm>
            <a:off x="6861175" y="5118100"/>
            <a:ext cx="1843088" cy="282575"/>
          </a:xfrm>
          <a:prstGeom prst="rect">
            <a:avLst/>
          </a:prstGeom>
          <a:solidFill>
            <a:schemeClr val="bg1"/>
          </a:solidFill>
          <a:ln w="12700" algn="ctr">
            <a:noFill/>
            <a:round/>
            <a:headEnd type="none" w="sm" len="sm"/>
            <a:tailEnd type="none" w="sm" len="sm"/>
          </a:ln>
        </p:spPr>
        <p:txBody>
          <a:bodyPr/>
          <a:lstStyle/>
          <a:p>
            <a:pPr eaLnBrk="0" hangingPunct="0"/>
            <a:endParaRPr lang="en-US"/>
          </a:p>
        </p:txBody>
      </p:sp>
      <p:sp>
        <p:nvSpPr>
          <p:cNvPr id="30729" name="Rectangle 13"/>
          <p:cNvSpPr>
            <a:spLocks noChangeArrowheads="1"/>
          </p:cNvSpPr>
          <p:nvPr/>
        </p:nvSpPr>
        <p:spPr bwMode="auto">
          <a:xfrm>
            <a:off x="6778625" y="5773738"/>
            <a:ext cx="1843088" cy="280987"/>
          </a:xfrm>
          <a:prstGeom prst="rect">
            <a:avLst/>
          </a:prstGeom>
          <a:solidFill>
            <a:schemeClr val="bg1"/>
          </a:solidFill>
          <a:ln w="12700" algn="ctr">
            <a:noFill/>
            <a:round/>
            <a:headEnd type="none" w="sm" len="sm"/>
            <a:tailEnd type="none" w="sm" len="sm"/>
          </a:ln>
        </p:spPr>
        <p:txBody>
          <a:bodyPr/>
          <a:lstStyle/>
          <a:p>
            <a:pPr eaLnBrk="0" hangingPunct="0"/>
            <a:endParaRPr lang="en-US"/>
          </a:p>
        </p:txBody>
      </p:sp>
      <p:sp>
        <p:nvSpPr>
          <p:cNvPr id="30730" name="Rectangle 14"/>
          <p:cNvSpPr>
            <a:spLocks noChangeArrowheads="1"/>
          </p:cNvSpPr>
          <p:nvPr/>
        </p:nvSpPr>
        <p:spPr bwMode="auto">
          <a:xfrm>
            <a:off x="6778625" y="6400800"/>
            <a:ext cx="1843088" cy="280988"/>
          </a:xfrm>
          <a:prstGeom prst="rect">
            <a:avLst/>
          </a:prstGeom>
          <a:solidFill>
            <a:schemeClr val="bg1"/>
          </a:solidFill>
          <a:ln w="12700" algn="ctr">
            <a:noFill/>
            <a:round/>
            <a:headEnd type="none" w="sm" len="sm"/>
            <a:tailEnd type="none" w="sm" len="sm"/>
          </a:ln>
        </p:spPr>
        <p:txBody>
          <a:bodyPr/>
          <a:lstStyle/>
          <a:p>
            <a:pPr eaLnBrk="0" hangingPunct="0"/>
            <a:endParaRPr lang="en-US"/>
          </a:p>
        </p:txBody>
      </p:sp>
      <p:sp>
        <p:nvSpPr>
          <p:cNvPr id="30731" name="TextBox 7"/>
          <p:cNvSpPr txBox="1">
            <a:spLocks noChangeArrowheads="1"/>
          </p:cNvSpPr>
          <p:nvPr/>
        </p:nvSpPr>
        <p:spPr bwMode="auto">
          <a:xfrm>
            <a:off x="259286" y="1032808"/>
            <a:ext cx="7741713" cy="1938992"/>
          </a:xfrm>
          <a:prstGeom prst="rect">
            <a:avLst/>
          </a:prstGeom>
          <a:noFill/>
          <a:ln w="9525">
            <a:noFill/>
            <a:miter lim="800000"/>
            <a:headEnd/>
            <a:tailEnd/>
          </a:ln>
        </p:spPr>
        <p:txBody>
          <a:bodyPr wrap="square">
            <a:spAutoFit/>
          </a:bodyPr>
          <a:lstStyle/>
          <a:p>
            <a:pPr algn="l">
              <a:buFont typeface="Arial" pitchFamily="34" charset="0"/>
              <a:buChar char="•"/>
            </a:pPr>
            <a:r>
              <a:rPr lang="en-US" b="0" dirty="0">
                <a:solidFill>
                  <a:schemeClr val="tx1"/>
                </a:solidFill>
              </a:rPr>
              <a:t>  </a:t>
            </a:r>
            <a:r>
              <a:rPr lang="en-US" sz="2400" b="0" dirty="0" smtClean="0">
                <a:solidFill>
                  <a:schemeClr val="tx1"/>
                </a:solidFill>
              </a:rPr>
              <a:t>Assume </a:t>
            </a:r>
            <a:r>
              <a:rPr lang="en-US" sz="2400" b="0" dirty="0" err="1">
                <a:solidFill>
                  <a:schemeClr val="tx1"/>
                </a:solidFill>
              </a:rPr>
              <a:t>nxn</a:t>
            </a:r>
            <a:r>
              <a:rPr lang="en-US" sz="2400" b="0" dirty="0">
                <a:solidFill>
                  <a:schemeClr val="tx1"/>
                </a:solidFill>
              </a:rPr>
              <a:t> matrices on P </a:t>
            </a:r>
            <a:r>
              <a:rPr lang="en-US" sz="2400" b="0" dirty="0" smtClean="0">
                <a:solidFill>
                  <a:schemeClr val="tx1"/>
                </a:solidFill>
              </a:rPr>
              <a:t>processors</a:t>
            </a:r>
          </a:p>
          <a:p>
            <a:pPr algn="l">
              <a:buFont typeface="Arial" pitchFamily="34" charset="0"/>
              <a:buChar char="•"/>
            </a:pPr>
            <a:r>
              <a:rPr lang="en-US" sz="2400" dirty="0" smtClean="0"/>
              <a:t>  </a:t>
            </a:r>
            <a:r>
              <a:rPr lang="en-US" sz="2400" b="0" dirty="0" smtClean="0"/>
              <a:t>Minimum</a:t>
            </a:r>
            <a:r>
              <a:rPr lang="en-US" sz="2400" dirty="0" smtClean="0"/>
              <a:t> </a:t>
            </a:r>
            <a:r>
              <a:rPr lang="en-US" sz="2400" b="0" dirty="0" smtClean="0"/>
              <a:t>M</a:t>
            </a:r>
            <a:r>
              <a:rPr lang="en-US" sz="2400" b="0" dirty="0" smtClean="0">
                <a:solidFill>
                  <a:schemeClr val="tx1"/>
                </a:solidFill>
              </a:rPr>
              <a:t>emory </a:t>
            </a:r>
            <a:r>
              <a:rPr lang="en-US" sz="2400" b="0" dirty="0">
                <a:solidFill>
                  <a:schemeClr val="tx1"/>
                </a:solidFill>
              </a:rPr>
              <a:t>per processor = </a:t>
            </a:r>
            <a:r>
              <a:rPr lang="en-US" sz="2400" b="0" dirty="0" smtClean="0">
                <a:solidFill>
                  <a:schemeClr val="tx1"/>
                </a:solidFill>
              </a:rPr>
              <a:t> M = O(n</a:t>
            </a:r>
            <a:r>
              <a:rPr lang="en-US" sz="2400" b="0" baseline="30000" dirty="0" smtClean="0">
                <a:solidFill>
                  <a:schemeClr val="tx1"/>
                </a:solidFill>
              </a:rPr>
              <a:t>2</a:t>
            </a:r>
            <a:r>
              <a:rPr lang="en-US" sz="2400" b="0" dirty="0" smtClean="0">
                <a:solidFill>
                  <a:schemeClr val="tx1"/>
                </a:solidFill>
              </a:rPr>
              <a:t> </a:t>
            </a:r>
            <a:r>
              <a:rPr lang="en-US" sz="2400" b="0" dirty="0">
                <a:solidFill>
                  <a:schemeClr val="tx1"/>
                </a:solidFill>
              </a:rPr>
              <a:t>/ P</a:t>
            </a:r>
            <a:r>
              <a:rPr lang="en-US" sz="2400" b="0" dirty="0" smtClean="0">
                <a:solidFill>
                  <a:schemeClr val="tx1"/>
                </a:solidFill>
              </a:rPr>
              <a:t>)</a:t>
            </a:r>
            <a:endParaRPr lang="en-US" sz="2400" b="0" dirty="0">
              <a:solidFill>
                <a:schemeClr val="tx1"/>
              </a:solidFill>
            </a:endParaRPr>
          </a:p>
          <a:p>
            <a:pPr algn="l">
              <a:buFont typeface="Arial" pitchFamily="34" charset="0"/>
              <a:buChar char="•"/>
            </a:pPr>
            <a:r>
              <a:rPr lang="en-US" sz="2400" b="0" dirty="0">
                <a:solidFill>
                  <a:schemeClr val="tx1"/>
                </a:solidFill>
              </a:rPr>
              <a:t>  Recall lower bounds:</a:t>
            </a:r>
          </a:p>
          <a:p>
            <a:pPr lvl="1" algn="l"/>
            <a:r>
              <a:rPr lang="en-US" sz="2400" b="0" dirty="0" smtClean="0">
                <a:solidFill>
                  <a:schemeClr val="tx1"/>
                </a:solidFill>
              </a:rPr>
              <a:t>#</a:t>
            </a:r>
            <a:r>
              <a:rPr lang="en-US" sz="2400" b="0" dirty="0" err="1" smtClean="0">
                <a:solidFill>
                  <a:schemeClr val="tx1"/>
                </a:solidFill>
              </a:rPr>
              <a:t>words_moved</a:t>
            </a:r>
            <a:r>
              <a:rPr lang="en-US" sz="2400" b="0" dirty="0" smtClean="0">
                <a:solidFill>
                  <a:schemeClr val="tx1"/>
                </a:solidFill>
              </a:rPr>
              <a:t>    =   </a:t>
            </a:r>
            <a:r>
              <a:rPr lang="en-US" sz="2400" b="0" dirty="0" smtClean="0">
                <a:sym typeface="Symbol" pitchFamily="18" charset="2"/>
              </a:rPr>
              <a:t>( (n</a:t>
            </a:r>
            <a:r>
              <a:rPr lang="en-US" sz="2400" b="0" baseline="30000" dirty="0" smtClean="0">
                <a:sym typeface="Symbol" pitchFamily="18" charset="2"/>
              </a:rPr>
              <a:t>3</a:t>
            </a:r>
            <a:r>
              <a:rPr lang="en-US" sz="2400" b="0" dirty="0" smtClean="0">
                <a:sym typeface="Symbol" pitchFamily="18" charset="2"/>
              </a:rPr>
              <a:t>/ P)  / M</a:t>
            </a:r>
            <a:r>
              <a:rPr lang="en-US" sz="2400" b="0" baseline="30000" dirty="0" smtClean="0">
                <a:sym typeface="Symbol" pitchFamily="18" charset="2"/>
              </a:rPr>
              <a:t>1/2</a:t>
            </a:r>
            <a:r>
              <a:rPr lang="en-US" sz="2400" b="0" dirty="0" smtClean="0">
                <a:sym typeface="Symbol" pitchFamily="18" charset="2"/>
              </a:rPr>
              <a:t> )  =  </a:t>
            </a:r>
            <a:r>
              <a:rPr lang="en-US" sz="2400" b="0" dirty="0">
                <a:solidFill>
                  <a:schemeClr val="tx1"/>
                </a:solidFill>
                <a:sym typeface="Symbol" pitchFamily="18" charset="2"/>
              </a:rPr>
              <a:t>( n</a:t>
            </a:r>
            <a:r>
              <a:rPr lang="en-US" sz="2400" b="0" baseline="30000" dirty="0">
                <a:solidFill>
                  <a:schemeClr val="tx1"/>
                </a:solidFill>
                <a:sym typeface="Symbol" pitchFamily="18" charset="2"/>
              </a:rPr>
              <a:t>2</a:t>
            </a:r>
            <a:r>
              <a:rPr lang="en-US" sz="2400" b="0" dirty="0">
                <a:solidFill>
                  <a:schemeClr val="tx1"/>
                </a:solidFill>
                <a:sym typeface="Symbol" pitchFamily="18" charset="2"/>
              </a:rPr>
              <a:t> /  P</a:t>
            </a:r>
            <a:r>
              <a:rPr lang="en-US" sz="2400" b="0" baseline="30000" dirty="0">
                <a:solidFill>
                  <a:schemeClr val="tx1"/>
                </a:solidFill>
                <a:sym typeface="Symbol" pitchFamily="18" charset="2"/>
              </a:rPr>
              <a:t>1/2</a:t>
            </a:r>
            <a:r>
              <a:rPr lang="en-US" sz="2400" b="0" dirty="0">
                <a:solidFill>
                  <a:schemeClr val="tx1"/>
                </a:solidFill>
                <a:sym typeface="Symbol" pitchFamily="18" charset="2"/>
              </a:rPr>
              <a:t> )      </a:t>
            </a:r>
            <a:r>
              <a:rPr lang="en-US" sz="2400" b="0" dirty="0" smtClean="0">
                <a:solidFill>
                  <a:schemeClr val="tx1"/>
                </a:solidFill>
                <a:sym typeface="Symbol" pitchFamily="18" charset="2"/>
              </a:rPr>
              <a:t>         </a:t>
            </a:r>
          </a:p>
          <a:p>
            <a:pPr lvl="1"/>
            <a:r>
              <a:rPr lang="en-US" sz="2400" b="0" dirty="0" smtClean="0">
                <a:solidFill>
                  <a:schemeClr val="tx1"/>
                </a:solidFill>
                <a:sym typeface="Symbol" pitchFamily="18" charset="2"/>
              </a:rPr>
              <a:t>#</a:t>
            </a:r>
            <a:r>
              <a:rPr lang="en-US" sz="2400" b="0" dirty="0">
                <a:solidFill>
                  <a:schemeClr val="tx1"/>
                </a:solidFill>
                <a:sym typeface="Symbol" pitchFamily="18" charset="2"/>
              </a:rPr>
              <a:t>messages </a:t>
            </a:r>
            <a:r>
              <a:rPr lang="en-US" sz="2400" b="0" dirty="0" smtClean="0">
                <a:solidFill>
                  <a:schemeClr val="tx1"/>
                </a:solidFill>
                <a:sym typeface="Symbol" pitchFamily="18" charset="2"/>
              </a:rPr>
              <a:t>           </a:t>
            </a:r>
            <a:r>
              <a:rPr lang="en-US" sz="2400" b="0" dirty="0" smtClean="0"/>
              <a:t>=   </a:t>
            </a:r>
            <a:r>
              <a:rPr lang="en-US" sz="2400" b="0" dirty="0" smtClean="0">
                <a:sym typeface="Symbol" pitchFamily="18" charset="2"/>
              </a:rPr>
              <a:t>( (n</a:t>
            </a:r>
            <a:r>
              <a:rPr lang="en-US" sz="2400" b="0" baseline="30000" dirty="0" smtClean="0">
                <a:sym typeface="Symbol" pitchFamily="18" charset="2"/>
              </a:rPr>
              <a:t>3</a:t>
            </a:r>
            <a:r>
              <a:rPr lang="en-US" sz="2400" b="0" dirty="0" smtClean="0">
                <a:sym typeface="Symbol" pitchFamily="18" charset="2"/>
              </a:rPr>
              <a:t>/ P)  / M</a:t>
            </a:r>
            <a:r>
              <a:rPr lang="en-US" sz="2400" b="0" baseline="30000" dirty="0" smtClean="0">
                <a:sym typeface="Symbol" pitchFamily="18" charset="2"/>
              </a:rPr>
              <a:t>3/2</a:t>
            </a:r>
            <a:r>
              <a:rPr lang="en-US" sz="2400" b="0" dirty="0" smtClean="0">
                <a:sym typeface="Symbol" pitchFamily="18" charset="2"/>
              </a:rPr>
              <a:t> )  </a:t>
            </a:r>
            <a:r>
              <a:rPr lang="en-US" sz="2400" b="0" dirty="0" smtClean="0">
                <a:solidFill>
                  <a:schemeClr val="tx1"/>
                </a:solidFill>
                <a:sym typeface="Symbol" pitchFamily="18" charset="2"/>
              </a:rPr>
              <a:t>=  </a:t>
            </a:r>
            <a:r>
              <a:rPr lang="en-US" sz="2400" b="0" dirty="0">
                <a:solidFill>
                  <a:schemeClr val="tx1"/>
                </a:solidFill>
                <a:sym typeface="Symbol" pitchFamily="18" charset="2"/>
              </a:rPr>
              <a:t>( P</a:t>
            </a:r>
            <a:r>
              <a:rPr lang="en-US" sz="2400" b="0" baseline="30000" dirty="0">
                <a:solidFill>
                  <a:schemeClr val="tx1"/>
                </a:solidFill>
                <a:sym typeface="Symbol" pitchFamily="18" charset="2"/>
              </a:rPr>
              <a:t>1/2</a:t>
            </a:r>
            <a:r>
              <a:rPr lang="en-US" sz="2400" b="0" dirty="0">
                <a:solidFill>
                  <a:schemeClr val="tx1"/>
                </a:solidFill>
                <a:sym typeface="Symbol" pitchFamily="18" charset="2"/>
              </a:rPr>
              <a:t> )</a:t>
            </a:r>
            <a:endParaRPr lang="en-US" sz="2400" b="0" dirty="0">
              <a:solidFill>
                <a:schemeClr val="tx1"/>
              </a:solidFill>
            </a:endParaRPr>
          </a:p>
        </p:txBody>
      </p:sp>
      <p:graphicFrame>
        <p:nvGraphicFramePr>
          <p:cNvPr id="13" name="Table 12"/>
          <p:cNvGraphicFramePr>
            <a:graphicFrameLocks noGrp="1"/>
          </p:cNvGraphicFramePr>
          <p:nvPr>
            <p:extLst>
              <p:ext uri="{D42A27DB-BD31-4B8C-83A1-F6EECF244321}">
                <p14:modId xmlns:p14="http://schemas.microsoft.com/office/powerpoint/2010/main" val="1836347563"/>
              </p:ext>
            </p:extLst>
          </p:nvPr>
        </p:nvGraphicFramePr>
        <p:xfrm>
          <a:off x="533400" y="3200400"/>
          <a:ext cx="8077200" cy="3383280"/>
        </p:xfrm>
        <a:graphic>
          <a:graphicData uri="http://schemas.openxmlformats.org/drawingml/2006/table">
            <a:tbl>
              <a:tblPr firstRow="1" bandRow="1">
                <a:tableStyleId>{5C22544A-7EE6-4342-B048-85BDC9FD1C3A}</a:tableStyleId>
              </a:tblPr>
              <a:tblGrid>
                <a:gridCol w="1905000"/>
                <a:gridCol w="1600200"/>
                <a:gridCol w="2229613"/>
                <a:gridCol w="2342387"/>
              </a:tblGrid>
              <a:tr h="370840">
                <a:tc>
                  <a:txBody>
                    <a:bodyPr/>
                    <a:lstStyle/>
                    <a:p>
                      <a:r>
                        <a:rPr lang="en-US" sz="2000" dirty="0" smtClean="0">
                          <a:solidFill>
                            <a:schemeClr val="tx1"/>
                          </a:solidFill>
                          <a:latin typeface="Calibri"/>
                          <a:cs typeface="Calibri"/>
                        </a:rPr>
                        <a:t>Algorithm</a:t>
                      </a:r>
                      <a:endParaRPr lang="en-US" sz="2000" dirty="0">
                        <a:solidFill>
                          <a:schemeClr val="tx1"/>
                        </a:solidFill>
                        <a:latin typeface="Calibri"/>
                        <a:cs typeface="Calibri"/>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dirty="0" smtClean="0">
                          <a:solidFill>
                            <a:schemeClr val="tx1"/>
                          </a:solidFill>
                          <a:latin typeface="Calibri"/>
                          <a:cs typeface="Calibri"/>
                        </a:rPr>
                        <a:t>Reference</a:t>
                      </a:r>
                      <a:endParaRPr lang="en-US" sz="2000" dirty="0">
                        <a:latin typeface="Calibri"/>
                        <a:cs typeface="Calibri"/>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dirty="0" smtClean="0">
                          <a:solidFill>
                            <a:schemeClr val="tx1"/>
                          </a:solidFill>
                          <a:latin typeface="Calibri"/>
                          <a:cs typeface="Calibri"/>
                        </a:rPr>
                        <a:t>Factor exceeding lower bound for #</a:t>
                      </a:r>
                      <a:r>
                        <a:rPr lang="en-US" sz="2000" dirty="0" err="1" smtClean="0">
                          <a:solidFill>
                            <a:schemeClr val="tx1"/>
                          </a:solidFill>
                          <a:latin typeface="Calibri"/>
                          <a:cs typeface="Calibri"/>
                        </a:rPr>
                        <a:t>words_moved</a:t>
                      </a:r>
                      <a:endParaRPr lang="en-US" sz="2000" dirty="0">
                        <a:latin typeface="Calibri"/>
                        <a:cs typeface="Calibri"/>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dirty="0" smtClean="0">
                          <a:solidFill>
                            <a:schemeClr val="tx1"/>
                          </a:solidFill>
                          <a:latin typeface="Calibri"/>
                          <a:cs typeface="Calibri"/>
                        </a:rPr>
                        <a:t>Factor</a:t>
                      </a:r>
                      <a:r>
                        <a:rPr lang="en-US" sz="2000" baseline="0" dirty="0" smtClean="0">
                          <a:solidFill>
                            <a:schemeClr val="tx1"/>
                          </a:solidFill>
                          <a:latin typeface="Calibri"/>
                          <a:cs typeface="Calibri"/>
                        </a:rPr>
                        <a:t> exceeding lower bound for #messages</a:t>
                      </a:r>
                      <a:endParaRPr lang="en-US" sz="2000" dirty="0">
                        <a:latin typeface="Calibri"/>
                        <a:cs typeface="Calibri"/>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0840">
                <a:tc>
                  <a:txBody>
                    <a:bodyPr/>
                    <a:lstStyle/>
                    <a:p>
                      <a:r>
                        <a:rPr lang="en-US" sz="2000" b="1" dirty="0" smtClean="0">
                          <a:latin typeface="Calibri"/>
                          <a:cs typeface="Calibri"/>
                        </a:rPr>
                        <a:t>Matrix Multiply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2000" b="1" dirty="0">
                        <a:latin typeface="Calibri"/>
                        <a:cs typeface="Calibri"/>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000" b="1" dirty="0">
                        <a:latin typeface="Calibri"/>
                        <a:cs typeface="Calibri"/>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000" b="1" dirty="0">
                        <a:latin typeface="Calibri"/>
                        <a:cs typeface="Calibri"/>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0840">
                <a:tc>
                  <a:txBody>
                    <a:bodyPr/>
                    <a:lstStyle/>
                    <a:p>
                      <a:r>
                        <a:rPr lang="en-US" sz="2000" b="1" dirty="0" err="1" smtClean="0">
                          <a:latin typeface="Calibri"/>
                          <a:cs typeface="Calibri"/>
                        </a:rPr>
                        <a:t>Cholesky</a:t>
                      </a:r>
                      <a:endParaRPr lang="en-US" sz="2000" b="1" dirty="0">
                        <a:latin typeface="Calibri"/>
                        <a:cs typeface="Calibri"/>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2000" b="1" dirty="0">
                        <a:latin typeface="Calibri"/>
                        <a:cs typeface="Calibri"/>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000" b="1" dirty="0">
                        <a:latin typeface="Calibri"/>
                        <a:cs typeface="Calibri"/>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000" b="1" dirty="0">
                        <a:latin typeface="Calibri"/>
                        <a:cs typeface="Calibri"/>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0840">
                <a:tc>
                  <a:txBody>
                    <a:bodyPr/>
                    <a:lstStyle/>
                    <a:p>
                      <a:r>
                        <a:rPr lang="en-US" sz="2000" b="1" dirty="0" smtClean="0">
                          <a:latin typeface="Calibri"/>
                          <a:cs typeface="Calibri"/>
                        </a:rPr>
                        <a:t>LU</a:t>
                      </a:r>
                      <a:endParaRPr lang="en-US" sz="2000" b="1" dirty="0">
                        <a:latin typeface="Calibri"/>
                        <a:cs typeface="Calibri"/>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2000" b="1" dirty="0">
                        <a:latin typeface="Calibri"/>
                        <a:cs typeface="Calibri"/>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000" b="1" dirty="0">
                        <a:latin typeface="Calibri"/>
                        <a:cs typeface="Calibri"/>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000" b="1" baseline="30000" dirty="0">
                        <a:solidFill>
                          <a:srgbClr val="FF0000"/>
                        </a:solidFill>
                        <a:latin typeface="Calibri"/>
                        <a:cs typeface="Calibri"/>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0840">
                <a:tc>
                  <a:txBody>
                    <a:bodyPr/>
                    <a:lstStyle/>
                    <a:p>
                      <a:r>
                        <a:rPr lang="en-US" sz="2000" b="1" dirty="0" smtClean="0">
                          <a:latin typeface="Calibri"/>
                          <a:cs typeface="Calibri"/>
                        </a:rPr>
                        <a:t>QR</a:t>
                      </a:r>
                      <a:endParaRPr lang="en-US" sz="2000" b="1" dirty="0">
                        <a:latin typeface="Calibri"/>
                        <a:cs typeface="Calibri"/>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2000" b="1" dirty="0">
                        <a:latin typeface="Calibri"/>
                        <a:cs typeface="Calibri"/>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000" b="1" dirty="0">
                        <a:latin typeface="Calibri"/>
                        <a:cs typeface="Calibri"/>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2000" b="1" baseline="30000" dirty="0" smtClean="0">
                        <a:solidFill>
                          <a:srgbClr val="FF0000"/>
                        </a:solidFill>
                        <a:latin typeface="Calibri"/>
                        <a:cs typeface="Calibri"/>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0840">
                <a:tc>
                  <a:txBody>
                    <a:bodyPr/>
                    <a:lstStyle/>
                    <a:p>
                      <a:r>
                        <a:rPr lang="en-US" sz="2000" b="1" dirty="0" smtClean="0">
                          <a:latin typeface="Calibri"/>
                          <a:cs typeface="Calibri"/>
                        </a:rPr>
                        <a:t>Sym </a:t>
                      </a:r>
                      <a:r>
                        <a:rPr lang="en-US" sz="2000" b="1" dirty="0" err="1" smtClean="0">
                          <a:latin typeface="Calibri"/>
                          <a:cs typeface="Calibri"/>
                        </a:rPr>
                        <a:t>Eig</a:t>
                      </a:r>
                      <a:r>
                        <a:rPr lang="en-US" sz="2000" b="1" dirty="0" smtClean="0">
                          <a:latin typeface="Calibri"/>
                          <a:cs typeface="Calibri"/>
                        </a:rPr>
                        <a:t>, SVD</a:t>
                      </a:r>
                      <a:endParaRPr lang="en-US" sz="2000" b="1" dirty="0">
                        <a:latin typeface="Calibri"/>
                        <a:cs typeface="Calibri"/>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2000" b="1" dirty="0">
                        <a:latin typeface="Calibri"/>
                        <a:cs typeface="Calibri"/>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000" b="1" dirty="0">
                        <a:latin typeface="Calibri"/>
                        <a:cs typeface="Calibri"/>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2000" b="1" baseline="30000" dirty="0" smtClean="0">
                        <a:solidFill>
                          <a:srgbClr val="FF0000"/>
                        </a:solidFill>
                        <a:latin typeface="Calibri"/>
                        <a:cs typeface="Calibri"/>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0840">
                <a:tc>
                  <a:txBody>
                    <a:bodyPr/>
                    <a:lstStyle/>
                    <a:p>
                      <a:r>
                        <a:rPr lang="en-US" sz="2000" b="1" dirty="0" err="1" smtClean="0">
                          <a:latin typeface="Calibri"/>
                          <a:cs typeface="Calibri"/>
                        </a:rPr>
                        <a:t>Nonsym</a:t>
                      </a:r>
                      <a:r>
                        <a:rPr lang="en-US" sz="2000" b="1" dirty="0" smtClean="0">
                          <a:latin typeface="Calibri"/>
                          <a:cs typeface="Calibri"/>
                        </a:rPr>
                        <a:t> </a:t>
                      </a:r>
                      <a:r>
                        <a:rPr lang="en-US" sz="2000" b="1" dirty="0" err="1" smtClean="0">
                          <a:latin typeface="Calibri"/>
                          <a:cs typeface="Calibri"/>
                        </a:rPr>
                        <a:t>Eig</a:t>
                      </a:r>
                      <a:endParaRPr lang="en-US" sz="2000" b="1" dirty="0">
                        <a:latin typeface="Calibri"/>
                        <a:cs typeface="Calibri"/>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2000" b="1" dirty="0">
                        <a:latin typeface="Calibri"/>
                        <a:cs typeface="Calibri"/>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000" b="1" dirty="0">
                        <a:solidFill>
                          <a:srgbClr val="FF0000"/>
                        </a:solidFill>
                        <a:latin typeface="Calibri"/>
                        <a:cs typeface="Calibri"/>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2000" b="1" baseline="30000" dirty="0" smtClean="0">
                        <a:solidFill>
                          <a:srgbClr val="FF0000"/>
                        </a:solidFill>
                        <a:latin typeface="Calibri"/>
                        <a:cs typeface="Calibri"/>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p:cxnSp>
        <p:nvCxnSpPr>
          <p:cNvPr id="14" name="Straight Connector 13"/>
          <p:cNvCxnSpPr/>
          <p:nvPr/>
        </p:nvCxnSpPr>
        <p:spPr>
          <a:xfrm>
            <a:off x="381000" y="990600"/>
            <a:ext cx="83058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06769117"/>
      </p:ext>
    </p:extLst>
  </p:cSld>
  <p:clrMapOvr>
    <a:masterClrMapping/>
  </p:clrMapOvr>
  <p:transition xmlns:p14="http://schemas.microsoft.com/office/powerpoint/2010/main"/>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5" name="Title 1"/>
          <p:cNvSpPr>
            <a:spLocks noGrp="1"/>
          </p:cNvSpPr>
          <p:nvPr>
            <p:ph type="title"/>
          </p:nvPr>
        </p:nvSpPr>
        <p:spPr>
          <a:xfrm>
            <a:off x="779463" y="11570"/>
            <a:ext cx="7296150" cy="801688"/>
          </a:xfrm>
        </p:spPr>
        <p:txBody>
          <a:bodyPr>
            <a:noAutofit/>
          </a:bodyPr>
          <a:lstStyle/>
          <a:p>
            <a:pPr algn="ctr"/>
            <a:r>
              <a:rPr lang="en-US" sz="3200" dirty="0" smtClean="0"/>
              <a:t>Summary of dense </a:t>
            </a:r>
            <a:r>
              <a:rPr lang="en-US" sz="3200" i="1" u="sng" dirty="0" smtClean="0"/>
              <a:t>parallel</a:t>
            </a:r>
            <a:r>
              <a:rPr lang="en-US" sz="3200" dirty="0" smtClean="0"/>
              <a:t> algorithms </a:t>
            </a:r>
            <a:br>
              <a:rPr lang="en-US" sz="3200" dirty="0" smtClean="0"/>
            </a:br>
            <a:r>
              <a:rPr lang="en-US" sz="3200" dirty="0" smtClean="0"/>
              <a:t>attaining communication lower bounds</a:t>
            </a:r>
          </a:p>
        </p:txBody>
      </p:sp>
      <p:sp>
        <p:nvSpPr>
          <p:cNvPr id="4" name="Slide Number Placeholder 3"/>
          <p:cNvSpPr>
            <a:spLocks noGrp="1"/>
          </p:cNvSpPr>
          <p:nvPr>
            <p:ph type="sldNum" sz="quarter" idx="11"/>
          </p:nvPr>
        </p:nvSpPr>
        <p:spPr>
          <a:xfrm>
            <a:off x="9832975" y="6400800"/>
            <a:ext cx="1905000" cy="457200"/>
          </a:xfrm>
        </p:spPr>
        <p:txBody>
          <a:bodyPr/>
          <a:lstStyle/>
          <a:p>
            <a:pPr>
              <a:defRPr/>
            </a:pPr>
            <a:fld id="{1110692E-4516-4640-ACA1-F899B3563FBA}" type="slidenum">
              <a:rPr lang="en-US" smtClean="0"/>
              <a:pPr>
                <a:defRPr/>
              </a:pPr>
              <a:t>43</a:t>
            </a:fld>
            <a:endParaRPr lang="en-US" dirty="0"/>
          </a:p>
        </p:txBody>
      </p:sp>
      <p:sp>
        <p:nvSpPr>
          <p:cNvPr id="30727" name="Rectangle 11"/>
          <p:cNvSpPr>
            <a:spLocks noChangeArrowheads="1"/>
          </p:cNvSpPr>
          <p:nvPr/>
        </p:nvSpPr>
        <p:spPr bwMode="auto">
          <a:xfrm>
            <a:off x="6796088" y="4476750"/>
            <a:ext cx="1843087" cy="282575"/>
          </a:xfrm>
          <a:prstGeom prst="rect">
            <a:avLst/>
          </a:prstGeom>
          <a:solidFill>
            <a:schemeClr val="bg1"/>
          </a:solidFill>
          <a:ln w="12700" algn="ctr">
            <a:noFill/>
            <a:round/>
            <a:headEnd type="none" w="sm" len="sm"/>
            <a:tailEnd type="none" w="sm" len="sm"/>
          </a:ln>
        </p:spPr>
        <p:txBody>
          <a:bodyPr/>
          <a:lstStyle/>
          <a:p>
            <a:pPr eaLnBrk="0" hangingPunct="0"/>
            <a:endParaRPr lang="en-US"/>
          </a:p>
        </p:txBody>
      </p:sp>
      <p:sp>
        <p:nvSpPr>
          <p:cNvPr id="30728" name="Rectangle 12"/>
          <p:cNvSpPr>
            <a:spLocks noChangeArrowheads="1"/>
          </p:cNvSpPr>
          <p:nvPr/>
        </p:nvSpPr>
        <p:spPr bwMode="auto">
          <a:xfrm>
            <a:off x="6861175" y="5118100"/>
            <a:ext cx="1843088" cy="282575"/>
          </a:xfrm>
          <a:prstGeom prst="rect">
            <a:avLst/>
          </a:prstGeom>
          <a:solidFill>
            <a:schemeClr val="bg1"/>
          </a:solidFill>
          <a:ln w="12700" algn="ctr">
            <a:noFill/>
            <a:round/>
            <a:headEnd type="none" w="sm" len="sm"/>
            <a:tailEnd type="none" w="sm" len="sm"/>
          </a:ln>
        </p:spPr>
        <p:txBody>
          <a:bodyPr/>
          <a:lstStyle/>
          <a:p>
            <a:pPr eaLnBrk="0" hangingPunct="0"/>
            <a:endParaRPr lang="en-US"/>
          </a:p>
        </p:txBody>
      </p:sp>
      <p:sp>
        <p:nvSpPr>
          <p:cNvPr id="30729" name="Rectangle 13"/>
          <p:cNvSpPr>
            <a:spLocks noChangeArrowheads="1"/>
          </p:cNvSpPr>
          <p:nvPr/>
        </p:nvSpPr>
        <p:spPr bwMode="auto">
          <a:xfrm>
            <a:off x="6778625" y="5773738"/>
            <a:ext cx="1843088" cy="280987"/>
          </a:xfrm>
          <a:prstGeom prst="rect">
            <a:avLst/>
          </a:prstGeom>
          <a:solidFill>
            <a:schemeClr val="bg1"/>
          </a:solidFill>
          <a:ln w="12700" algn="ctr">
            <a:noFill/>
            <a:round/>
            <a:headEnd type="none" w="sm" len="sm"/>
            <a:tailEnd type="none" w="sm" len="sm"/>
          </a:ln>
        </p:spPr>
        <p:txBody>
          <a:bodyPr/>
          <a:lstStyle/>
          <a:p>
            <a:pPr eaLnBrk="0" hangingPunct="0"/>
            <a:endParaRPr lang="en-US"/>
          </a:p>
        </p:txBody>
      </p:sp>
      <p:sp>
        <p:nvSpPr>
          <p:cNvPr id="30730" name="Rectangle 14"/>
          <p:cNvSpPr>
            <a:spLocks noChangeArrowheads="1"/>
          </p:cNvSpPr>
          <p:nvPr/>
        </p:nvSpPr>
        <p:spPr bwMode="auto">
          <a:xfrm>
            <a:off x="6778625" y="6400800"/>
            <a:ext cx="1843088" cy="280988"/>
          </a:xfrm>
          <a:prstGeom prst="rect">
            <a:avLst/>
          </a:prstGeom>
          <a:solidFill>
            <a:schemeClr val="bg1"/>
          </a:solidFill>
          <a:ln w="12700" algn="ctr">
            <a:noFill/>
            <a:round/>
            <a:headEnd type="none" w="sm" len="sm"/>
            <a:tailEnd type="none" w="sm" len="sm"/>
          </a:ln>
        </p:spPr>
        <p:txBody>
          <a:bodyPr/>
          <a:lstStyle/>
          <a:p>
            <a:pPr eaLnBrk="0" hangingPunct="0"/>
            <a:endParaRPr lang="en-US"/>
          </a:p>
        </p:txBody>
      </p:sp>
      <p:sp>
        <p:nvSpPr>
          <p:cNvPr id="30731" name="TextBox 7"/>
          <p:cNvSpPr txBox="1">
            <a:spLocks noChangeArrowheads="1"/>
          </p:cNvSpPr>
          <p:nvPr/>
        </p:nvSpPr>
        <p:spPr bwMode="auto">
          <a:xfrm>
            <a:off x="260862" y="1032808"/>
            <a:ext cx="8174033" cy="1938992"/>
          </a:xfrm>
          <a:prstGeom prst="rect">
            <a:avLst/>
          </a:prstGeom>
          <a:noFill/>
          <a:ln w="9525">
            <a:noFill/>
            <a:miter lim="800000"/>
            <a:headEnd/>
            <a:tailEnd/>
          </a:ln>
        </p:spPr>
        <p:txBody>
          <a:bodyPr wrap="none">
            <a:spAutoFit/>
          </a:bodyPr>
          <a:lstStyle/>
          <a:p>
            <a:pPr algn="l">
              <a:buFont typeface="Arial" pitchFamily="34" charset="0"/>
              <a:buChar char="•"/>
            </a:pPr>
            <a:r>
              <a:rPr lang="en-US" b="0" dirty="0">
                <a:solidFill>
                  <a:schemeClr val="tx1"/>
                </a:solidFill>
              </a:rPr>
              <a:t>  </a:t>
            </a:r>
            <a:r>
              <a:rPr lang="en-US" sz="2400" b="0" dirty="0" smtClean="0">
                <a:solidFill>
                  <a:schemeClr val="tx1"/>
                </a:solidFill>
              </a:rPr>
              <a:t>Assume </a:t>
            </a:r>
            <a:r>
              <a:rPr lang="en-US" sz="2400" b="0" dirty="0" err="1">
                <a:solidFill>
                  <a:schemeClr val="tx1"/>
                </a:solidFill>
              </a:rPr>
              <a:t>nxn</a:t>
            </a:r>
            <a:r>
              <a:rPr lang="en-US" sz="2400" b="0" dirty="0">
                <a:solidFill>
                  <a:schemeClr val="tx1"/>
                </a:solidFill>
              </a:rPr>
              <a:t> matrices on P </a:t>
            </a:r>
            <a:r>
              <a:rPr lang="en-US" sz="2400" b="0" dirty="0" smtClean="0">
                <a:solidFill>
                  <a:schemeClr val="tx1"/>
                </a:solidFill>
              </a:rPr>
              <a:t>processors</a:t>
            </a:r>
            <a:r>
              <a:rPr lang="en-US" sz="2400" dirty="0" smtClean="0"/>
              <a:t> (conventional approach)</a:t>
            </a:r>
            <a:endParaRPr lang="en-US" sz="2400" b="0" dirty="0" smtClean="0">
              <a:solidFill>
                <a:schemeClr val="tx1"/>
              </a:solidFill>
            </a:endParaRPr>
          </a:p>
          <a:p>
            <a:pPr algn="l">
              <a:buFont typeface="Arial" pitchFamily="34" charset="0"/>
              <a:buChar char="•"/>
            </a:pPr>
            <a:r>
              <a:rPr lang="en-US" sz="2400" dirty="0" smtClean="0"/>
              <a:t>  </a:t>
            </a:r>
            <a:r>
              <a:rPr lang="en-US" sz="2400" b="0" dirty="0" smtClean="0"/>
              <a:t>Minimum</a:t>
            </a:r>
            <a:r>
              <a:rPr lang="en-US" sz="2400" dirty="0" smtClean="0"/>
              <a:t> </a:t>
            </a:r>
            <a:r>
              <a:rPr lang="en-US" sz="2400" b="0" dirty="0" smtClean="0"/>
              <a:t>M</a:t>
            </a:r>
            <a:r>
              <a:rPr lang="en-US" sz="2400" b="0" dirty="0" smtClean="0">
                <a:solidFill>
                  <a:schemeClr val="tx1"/>
                </a:solidFill>
              </a:rPr>
              <a:t>emory </a:t>
            </a:r>
            <a:r>
              <a:rPr lang="en-US" sz="2400" b="0" dirty="0">
                <a:solidFill>
                  <a:schemeClr val="tx1"/>
                </a:solidFill>
              </a:rPr>
              <a:t>per processor = </a:t>
            </a:r>
            <a:r>
              <a:rPr lang="en-US" sz="2400" b="0" dirty="0" smtClean="0">
                <a:solidFill>
                  <a:schemeClr val="tx1"/>
                </a:solidFill>
              </a:rPr>
              <a:t> M = O(n</a:t>
            </a:r>
            <a:r>
              <a:rPr lang="en-US" sz="2400" b="0" baseline="30000" dirty="0" smtClean="0">
                <a:solidFill>
                  <a:schemeClr val="tx1"/>
                </a:solidFill>
              </a:rPr>
              <a:t>2</a:t>
            </a:r>
            <a:r>
              <a:rPr lang="en-US" sz="2400" b="0" dirty="0" smtClean="0">
                <a:solidFill>
                  <a:schemeClr val="tx1"/>
                </a:solidFill>
              </a:rPr>
              <a:t> </a:t>
            </a:r>
            <a:r>
              <a:rPr lang="en-US" sz="2400" b="0" dirty="0">
                <a:solidFill>
                  <a:schemeClr val="tx1"/>
                </a:solidFill>
              </a:rPr>
              <a:t>/ P</a:t>
            </a:r>
            <a:r>
              <a:rPr lang="en-US" sz="2400" b="0" dirty="0" smtClean="0">
                <a:solidFill>
                  <a:schemeClr val="tx1"/>
                </a:solidFill>
              </a:rPr>
              <a:t>)</a:t>
            </a:r>
            <a:endParaRPr lang="en-US" sz="2400" b="0" dirty="0">
              <a:solidFill>
                <a:schemeClr val="tx1"/>
              </a:solidFill>
            </a:endParaRPr>
          </a:p>
          <a:p>
            <a:pPr algn="l">
              <a:buFont typeface="Arial" pitchFamily="34" charset="0"/>
              <a:buChar char="•"/>
            </a:pPr>
            <a:r>
              <a:rPr lang="en-US" sz="2400" b="0" dirty="0">
                <a:solidFill>
                  <a:schemeClr val="tx1"/>
                </a:solidFill>
              </a:rPr>
              <a:t>  Recall lower bounds:</a:t>
            </a:r>
          </a:p>
          <a:p>
            <a:pPr lvl="1" algn="l"/>
            <a:r>
              <a:rPr lang="en-US" sz="2400" b="0" dirty="0" smtClean="0">
                <a:solidFill>
                  <a:schemeClr val="tx1"/>
                </a:solidFill>
              </a:rPr>
              <a:t>#</a:t>
            </a:r>
            <a:r>
              <a:rPr lang="en-US" sz="2400" b="0" dirty="0" err="1" smtClean="0">
                <a:solidFill>
                  <a:schemeClr val="tx1"/>
                </a:solidFill>
              </a:rPr>
              <a:t>words_moved</a:t>
            </a:r>
            <a:r>
              <a:rPr lang="en-US" sz="2400" b="0" dirty="0" smtClean="0">
                <a:solidFill>
                  <a:schemeClr val="tx1"/>
                </a:solidFill>
              </a:rPr>
              <a:t>    =   </a:t>
            </a:r>
            <a:r>
              <a:rPr lang="en-US" sz="2400" b="0" dirty="0" smtClean="0">
                <a:sym typeface="Symbol" pitchFamily="18" charset="2"/>
              </a:rPr>
              <a:t>( (n</a:t>
            </a:r>
            <a:r>
              <a:rPr lang="en-US" sz="2400" b="0" baseline="30000" dirty="0" smtClean="0">
                <a:sym typeface="Symbol" pitchFamily="18" charset="2"/>
              </a:rPr>
              <a:t>3</a:t>
            </a:r>
            <a:r>
              <a:rPr lang="en-US" sz="2400" b="0" dirty="0" smtClean="0">
                <a:sym typeface="Symbol" pitchFamily="18" charset="2"/>
              </a:rPr>
              <a:t>/ P)  / M</a:t>
            </a:r>
            <a:r>
              <a:rPr lang="en-US" sz="2400" b="0" baseline="30000" dirty="0" smtClean="0">
                <a:sym typeface="Symbol" pitchFamily="18" charset="2"/>
              </a:rPr>
              <a:t>1/2</a:t>
            </a:r>
            <a:r>
              <a:rPr lang="en-US" sz="2400" b="0" dirty="0" smtClean="0">
                <a:sym typeface="Symbol" pitchFamily="18" charset="2"/>
              </a:rPr>
              <a:t> )  =  </a:t>
            </a:r>
            <a:r>
              <a:rPr lang="en-US" sz="2400" b="0" dirty="0">
                <a:solidFill>
                  <a:schemeClr val="tx1"/>
                </a:solidFill>
                <a:sym typeface="Symbol" pitchFamily="18" charset="2"/>
              </a:rPr>
              <a:t>( n</a:t>
            </a:r>
            <a:r>
              <a:rPr lang="en-US" sz="2400" b="0" baseline="30000" dirty="0">
                <a:solidFill>
                  <a:schemeClr val="tx1"/>
                </a:solidFill>
                <a:sym typeface="Symbol" pitchFamily="18" charset="2"/>
              </a:rPr>
              <a:t>2</a:t>
            </a:r>
            <a:r>
              <a:rPr lang="en-US" sz="2400" b="0" dirty="0">
                <a:solidFill>
                  <a:schemeClr val="tx1"/>
                </a:solidFill>
                <a:sym typeface="Symbol" pitchFamily="18" charset="2"/>
              </a:rPr>
              <a:t> /  P</a:t>
            </a:r>
            <a:r>
              <a:rPr lang="en-US" sz="2400" b="0" baseline="30000" dirty="0">
                <a:solidFill>
                  <a:schemeClr val="tx1"/>
                </a:solidFill>
                <a:sym typeface="Symbol" pitchFamily="18" charset="2"/>
              </a:rPr>
              <a:t>1/2</a:t>
            </a:r>
            <a:r>
              <a:rPr lang="en-US" sz="2400" b="0" dirty="0">
                <a:solidFill>
                  <a:schemeClr val="tx1"/>
                </a:solidFill>
                <a:sym typeface="Symbol" pitchFamily="18" charset="2"/>
              </a:rPr>
              <a:t> )      </a:t>
            </a:r>
            <a:r>
              <a:rPr lang="en-US" sz="2400" b="0" dirty="0" smtClean="0">
                <a:solidFill>
                  <a:schemeClr val="tx1"/>
                </a:solidFill>
                <a:sym typeface="Symbol" pitchFamily="18" charset="2"/>
              </a:rPr>
              <a:t>         </a:t>
            </a:r>
          </a:p>
          <a:p>
            <a:pPr lvl="1" algn="l"/>
            <a:r>
              <a:rPr lang="en-US" sz="2400" b="0" dirty="0" smtClean="0">
                <a:solidFill>
                  <a:schemeClr val="tx1"/>
                </a:solidFill>
                <a:sym typeface="Symbol" pitchFamily="18" charset="2"/>
              </a:rPr>
              <a:t>#</a:t>
            </a:r>
            <a:r>
              <a:rPr lang="en-US" sz="2400" b="0" dirty="0">
                <a:solidFill>
                  <a:schemeClr val="tx1"/>
                </a:solidFill>
                <a:sym typeface="Symbol" pitchFamily="18" charset="2"/>
              </a:rPr>
              <a:t>messages </a:t>
            </a:r>
            <a:r>
              <a:rPr lang="en-US" sz="2400" b="0" dirty="0" smtClean="0">
                <a:solidFill>
                  <a:schemeClr val="tx1"/>
                </a:solidFill>
                <a:sym typeface="Symbol" pitchFamily="18" charset="2"/>
              </a:rPr>
              <a:t>           </a:t>
            </a:r>
            <a:r>
              <a:rPr lang="en-US" sz="2400" b="0" dirty="0" smtClean="0"/>
              <a:t>=   </a:t>
            </a:r>
            <a:r>
              <a:rPr lang="en-US" sz="2400" b="0" dirty="0" smtClean="0">
                <a:sym typeface="Symbol" pitchFamily="18" charset="2"/>
              </a:rPr>
              <a:t>( (n</a:t>
            </a:r>
            <a:r>
              <a:rPr lang="en-US" sz="2400" b="0" baseline="30000" dirty="0" smtClean="0">
                <a:sym typeface="Symbol" pitchFamily="18" charset="2"/>
              </a:rPr>
              <a:t>3</a:t>
            </a:r>
            <a:r>
              <a:rPr lang="en-US" sz="2400" b="0" dirty="0" smtClean="0">
                <a:sym typeface="Symbol" pitchFamily="18" charset="2"/>
              </a:rPr>
              <a:t>/ P)  / M</a:t>
            </a:r>
            <a:r>
              <a:rPr lang="en-US" sz="2400" b="0" baseline="30000" dirty="0" smtClean="0">
                <a:sym typeface="Symbol" pitchFamily="18" charset="2"/>
              </a:rPr>
              <a:t>3/2</a:t>
            </a:r>
            <a:r>
              <a:rPr lang="en-US" sz="2400" b="0" dirty="0" smtClean="0">
                <a:sym typeface="Symbol" pitchFamily="18" charset="2"/>
              </a:rPr>
              <a:t> )  </a:t>
            </a:r>
            <a:r>
              <a:rPr lang="en-US" sz="2400" b="0" dirty="0" smtClean="0">
                <a:solidFill>
                  <a:schemeClr val="tx1"/>
                </a:solidFill>
                <a:sym typeface="Symbol" pitchFamily="18" charset="2"/>
              </a:rPr>
              <a:t>=  </a:t>
            </a:r>
            <a:r>
              <a:rPr lang="en-US" sz="2400" b="0" dirty="0">
                <a:solidFill>
                  <a:schemeClr val="tx1"/>
                </a:solidFill>
                <a:sym typeface="Symbol" pitchFamily="18" charset="2"/>
              </a:rPr>
              <a:t>( P</a:t>
            </a:r>
            <a:r>
              <a:rPr lang="en-US" sz="2400" b="0" baseline="30000" dirty="0">
                <a:solidFill>
                  <a:schemeClr val="tx1"/>
                </a:solidFill>
                <a:sym typeface="Symbol" pitchFamily="18" charset="2"/>
              </a:rPr>
              <a:t>1/2</a:t>
            </a:r>
            <a:r>
              <a:rPr lang="en-US" sz="2400" b="0" dirty="0">
                <a:solidFill>
                  <a:schemeClr val="tx1"/>
                </a:solidFill>
                <a:sym typeface="Symbol" pitchFamily="18" charset="2"/>
              </a:rPr>
              <a:t> )</a:t>
            </a:r>
            <a:endParaRPr lang="en-US" sz="2400" b="0" dirty="0">
              <a:solidFill>
                <a:schemeClr val="tx1"/>
              </a:solidFill>
            </a:endParaRPr>
          </a:p>
        </p:txBody>
      </p:sp>
      <p:graphicFrame>
        <p:nvGraphicFramePr>
          <p:cNvPr id="13" name="Table 12"/>
          <p:cNvGraphicFramePr>
            <a:graphicFrameLocks noGrp="1"/>
          </p:cNvGraphicFramePr>
          <p:nvPr>
            <p:extLst>
              <p:ext uri="{D42A27DB-BD31-4B8C-83A1-F6EECF244321}">
                <p14:modId xmlns:p14="http://schemas.microsoft.com/office/powerpoint/2010/main" val="3072168059"/>
              </p:ext>
            </p:extLst>
          </p:nvPr>
        </p:nvGraphicFramePr>
        <p:xfrm>
          <a:off x="533400" y="3200400"/>
          <a:ext cx="8077200" cy="3383280"/>
        </p:xfrm>
        <a:graphic>
          <a:graphicData uri="http://schemas.openxmlformats.org/drawingml/2006/table">
            <a:tbl>
              <a:tblPr firstRow="1" bandRow="1">
                <a:tableStyleId>{5C22544A-7EE6-4342-B048-85BDC9FD1C3A}</a:tableStyleId>
              </a:tblPr>
              <a:tblGrid>
                <a:gridCol w="1905000"/>
                <a:gridCol w="1600200"/>
                <a:gridCol w="2229613"/>
                <a:gridCol w="2342387"/>
              </a:tblGrid>
              <a:tr h="370840">
                <a:tc>
                  <a:txBody>
                    <a:bodyPr/>
                    <a:lstStyle/>
                    <a:p>
                      <a:r>
                        <a:rPr lang="en-US" sz="2000" dirty="0" smtClean="0">
                          <a:solidFill>
                            <a:schemeClr val="tx1"/>
                          </a:solidFill>
                          <a:latin typeface="Calibri"/>
                          <a:cs typeface="Calibri"/>
                        </a:rPr>
                        <a:t>Algorithm</a:t>
                      </a:r>
                      <a:endParaRPr lang="en-US" sz="2000" dirty="0">
                        <a:solidFill>
                          <a:schemeClr val="tx1"/>
                        </a:solidFill>
                        <a:latin typeface="Calibri"/>
                        <a:cs typeface="Calibri"/>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dirty="0" smtClean="0">
                          <a:solidFill>
                            <a:schemeClr val="tx1"/>
                          </a:solidFill>
                          <a:latin typeface="Calibri"/>
                          <a:cs typeface="Calibri"/>
                        </a:rPr>
                        <a:t>Reference</a:t>
                      </a:r>
                      <a:endParaRPr lang="en-US" sz="2000" dirty="0">
                        <a:latin typeface="Calibri"/>
                        <a:cs typeface="Calibri"/>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dirty="0" smtClean="0">
                          <a:solidFill>
                            <a:schemeClr val="tx1"/>
                          </a:solidFill>
                          <a:latin typeface="Calibri"/>
                          <a:cs typeface="Calibri"/>
                        </a:rPr>
                        <a:t>Factor exceeding lower bound for #</a:t>
                      </a:r>
                      <a:r>
                        <a:rPr lang="en-US" sz="2000" dirty="0" err="1" smtClean="0">
                          <a:solidFill>
                            <a:schemeClr val="tx1"/>
                          </a:solidFill>
                          <a:latin typeface="Calibri"/>
                          <a:cs typeface="Calibri"/>
                        </a:rPr>
                        <a:t>words_moved</a:t>
                      </a:r>
                      <a:endParaRPr lang="en-US" sz="2000" dirty="0">
                        <a:latin typeface="Calibri"/>
                        <a:cs typeface="Calibri"/>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dirty="0" smtClean="0">
                          <a:solidFill>
                            <a:schemeClr val="tx1"/>
                          </a:solidFill>
                          <a:latin typeface="Calibri"/>
                          <a:cs typeface="Calibri"/>
                        </a:rPr>
                        <a:t>Factor</a:t>
                      </a:r>
                      <a:r>
                        <a:rPr lang="en-US" sz="2000" baseline="0" dirty="0" smtClean="0">
                          <a:solidFill>
                            <a:schemeClr val="tx1"/>
                          </a:solidFill>
                          <a:latin typeface="Calibri"/>
                          <a:cs typeface="Calibri"/>
                        </a:rPr>
                        <a:t> exceeding lower bound for #messages</a:t>
                      </a:r>
                      <a:endParaRPr lang="en-US" sz="2000" dirty="0">
                        <a:latin typeface="Calibri"/>
                        <a:cs typeface="Calibri"/>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0840">
                <a:tc>
                  <a:txBody>
                    <a:bodyPr/>
                    <a:lstStyle/>
                    <a:p>
                      <a:r>
                        <a:rPr lang="en-US" sz="2000" b="1" dirty="0" smtClean="0">
                          <a:latin typeface="Calibri"/>
                          <a:cs typeface="Calibri"/>
                        </a:rPr>
                        <a:t>Matrix Multiply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b="1" dirty="0" smtClean="0">
                          <a:latin typeface="Calibri"/>
                          <a:cs typeface="Calibri"/>
                        </a:rPr>
                        <a:t>[Cannon, 69]</a:t>
                      </a:r>
                      <a:endParaRPr lang="en-US" sz="2000" b="1" dirty="0">
                        <a:latin typeface="Calibri"/>
                        <a:cs typeface="Calibri"/>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b="1" dirty="0" smtClean="0">
                          <a:latin typeface="Calibri"/>
                          <a:cs typeface="Calibri"/>
                        </a:rPr>
                        <a:t>1</a:t>
                      </a:r>
                      <a:endParaRPr lang="en-US" sz="2000" b="1" dirty="0">
                        <a:latin typeface="Calibri"/>
                        <a:cs typeface="Calibri"/>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000" b="1" dirty="0">
                        <a:latin typeface="Calibri"/>
                        <a:cs typeface="Calibri"/>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0840">
                <a:tc>
                  <a:txBody>
                    <a:bodyPr/>
                    <a:lstStyle/>
                    <a:p>
                      <a:r>
                        <a:rPr lang="en-US" sz="2000" b="1" dirty="0" err="1" smtClean="0">
                          <a:latin typeface="Calibri"/>
                          <a:cs typeface="Calibri"/>
                        </a:rPr>
                        <a:t>Cholesky</a:t>
                      </a:r>
                      <a:endParaRPr lang="en-US" sz="2000" b="1" dirty="0">
                        <a:latin typeface="Calibri"/>
                        <a:cs typeface="Calibri"/>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b="1" dirty="0" err="1" smtClean="0">
                          <a:latin typeface="Calibri"/>
                          <a:cs typeface="Calibri"/>
                        </a:rPr>
                        <a:t>ScaLAPACK</a:t>
                      </a:r>
                      <a:endParaRPr lang="en-US" sz="2000" b="1" dirty="0">
                        <a:latin typeface="Calibri"/>
                        <a:cs typeface="Calibri"/>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b="1" dirty="0" smtClean="0">
                          <a:latin typeface="Calibri"/>
                          <a:cs typeface="Calibri"/>
                        </a:rPr>
                        <a:t>log P</a:t>
                      </a:r>
                      <a:endParaRPr lang="en-US" sz="2000" b="1" dirty="0">
                        <a:latin typeface="Calibri"/>
                        <a:cs typeface="Calibri"/>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000" b="1" dirty="0">
                        <a:latin typeface="Calibri"/>
                        <a:cs typeface="Calibri"/>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0840">
                <a:tc>
                  <a:txBody>
                    <a:bodyPr/>
                    <a:lstStyle/>
                    <a:p>
                      <a:r>
                        <a:rPr lang="en-US" sz="2000" b="1" dirty="0" smtClean="0">
                          <a:latin typeface="Calibri"/>
                          <a:cs typeface="Calibri"/>
                        </a:rPr>
                        <a:t>LU</a:t>
                      </a:r>
                      <a:endParaRPr lang="en-US" sz="2000" b="1" dirty="0">
                        <a:latin typeface="Calibri"/>
                        <a:cs typeface="Calibri"/>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b="1" dirty="0" err="1" smtClean="0">
                          <a:latin typeface="Calibri"/>
                          <a:cs typeface="Calibri"/>
                        </a:rPr>
                        <a:t>ScaLAPACK</a:t>
                      </a:r>
                      <a:endParaRPr lang="en-US" sz="2000" b="1" dirty="0">
                        <a:latin typeface="Calibri"/>
                        <a:cs typeface="Calibri"/>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b="1" dirty="0" smtClean="0">
                          <a:latin typeface="Calibri"/>
                          <a:cs typeface="Calibri"/>
                        </a:rPr>
                        <a:t>log</a:t>
                      </a:r>
                      <a:r>
                        <a:rPr lang="en-US" sz="2000" b="1" baseline="0" dirty="0" smtClean="0">
                          <a:latin typeface="Calibri"/>
                          <a:cs typeface="Calibri"/>
                        </a:rPr>
                        <a:t> P</a:t>
                      </a:r>
                      <a:endParaRPr lang="en-US" sz="2000" b="1" dirty="0">
                        <a:latin typeface="Calibri"/>
                        <a:cs typeface="Calibri"/>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000" b="1" baseline="30000" dirty="0">
                        <a:solidFill>
                          <a:srgbClr val="FF0000"/>
                        </a:solidFill>
                        <a:latin typeface="Calibri"/>
                        <a:cs typeface="Calibri"/>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0840">
                <a:tc>
                  <a:txBody>
                    <a:bodyPr/>
                    <a:lstStyle/>
                    <a:p>
                      <a:r>
                        <a:rPr lang="en-US" sz="2000" b="1" dirty="0" smtClean="0">
                          <a:latin typeface="Calibri"/>
                          <a:cs typeface="Calibri"/>
                        </a:rPr>
                        <a:t>QR</a:t>
                      </a:r>
                      <a:endParaRPr lang="en-US" sz="2000" b="1" dirty="0">
                        <a:latin typeface="Calibri"/>
                        <a:cs typeface="Calibri"/>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b="1" dirty="0" err="1" smtClean="0">
                          <a:latin typeface="Calibri"/>
                          <a:cs typeface="Calibri"/>
                        </a:rPr>
                        <a:t>ScaLAPACK</a:t>
                      </a:r>
                      <a:endParaRPr lang="en-US" sz="2000" b="1" dirty="0">
                        <a:latin typeface="Calibri"/>
                        <a:cs typeface="Calibri"/>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b="1" dirty="0" smtClean="0">
                          <a:latin typeface="Calibri"/>
                          <a:cs typeface="Calibri"/>
                        </a:rPr>
                        <a:t>log P</a:t>
                      </a:r>
                      <a:endParaRPr lang="en-US" sz="2000" b="1" dirty="0">
                        <a:latin typeface="Calibri"/>
                        <a:cs typeface="Calibri"/>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2000" b="1" baseline="30000" dirty="0" smtClean="0">
                        <a:solidFill>
                          <a:srgbClr val="FF0000"/>
                        </a:solidFill>
                        <a:latin typeface="Calibri"/>
                        <a:cs typeface="Calibri"/>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0840">
                <a:tc>
                  <a:txBody>
                    <a:bodyPr/>
                    <a:lstStyle/>
                    <a:p>
                      <a:r>
                        <a:rPr lang="en-US" sz="2000" b="1" dirty="0" smtClean="0">
                          <a:latin typeface="Calibri"/>
                          <a:cs typeface="Calibri"/>
                        </a:rPr>
                        <a:t>Sym </a:t>
                      </a:r>
                      <a:r>
                        <a:rPr lang="en-US" sz="2000" b="1" dirty="0" err="1" smtClean="0">
                          <a:latin typeface="Calibri"/>
                          <a:cs typeface="Calibri"/>
                        </a:rPr>
                        <a:t>Eig</a:t>
                      </a:r>
                      <a:r>
                        <a:rPr lang="en-US" sz="2000" b="1" dirty="0" smtClean="0">
                          <a:latin typeface="Calibri"/>
                          <a:cs typeface="Calibri"/>
                        </a:rPr>
                        <a:t>, SVD</a:t>
                      </a:r>
                      <a:endParaRPr lang="en-US" sz="2000" b="1" dirty="0">
                        <a:latin typeface="Calibri"/>
                        <a:cs typeface="Calibri"/>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b="1" dirty="0" err="1" smtClean="0">
                          <a:latin typeface="Calibri"/>
                          <a:cs typeface="Calibri"/>
                        </a:rPr>
                        <a:t>ScaLAPACK</a:t>
                      </a:r>
                      <a:endParaRPr lang="en-US" sz="2000" b="1" dirty="0">
                        <a:latin typeface="Calibri"/>
                        <a:cs typeface="Calibri"/>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b="1" dirty="0" smtClean="0">
                          <a:latin typeface="Calibri"/>
                          <a:cs typeface="Calibri"/>
                        </a:rPr>
                        <a:t>log P</a:t>
                      </a:r>
                      <a:endParaRPr lang="en-US" sz="2000" b="1" dirty="0">
                        <a:latin typeface="Calibri"/>
                        <a:cs typeface="Calibri"/>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2000" b="1" baseline="30000" dirty="0" smtClean="0">
                        <a:solidFill>
                          <a:srgbClr val="FF0000"/>
                        </a:solidFill>
                        <a:latin typeface="Calibri"/>
                        <a:cs typeface="Calibri"/>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0840">
                <a:tc>
                  <a:txBody>
                    <a:bodyPr/>
                    <a:lstStyle/>
                    <a:p>
                      <a:r>
                        <a:rPr lang="en-US" sz="2000" b="1" dirty="0" err="1" smtClean="0">
                          <a:latin typeface="Calibri"/>
                          <a:cs typeface="Calibri"/>
                        </a:rPr>
                        <a:t>Nonsym</a:t>
                      </a:r>
                      <a:r>
                        <a:rPr lang="en-US" sz="2000" b="1" dirty="0" smtClean="0">
                          <a:latin typeface="Calibri"/>
                          <a:cs typeface="Calibri"/>
                        </a:rPr>
                        <a:t> </a:t>
                      </a:r>
                      <a:r>
                        <a:rPr lang="en-US" sz="2000" b="1" dirty="0" err="1" smtClean="0">
                          <a:latin typeface="Calibri"/>
                          <a:cs typeface="Calibri"/>
                        </a:rPr>
                        <a:t>Eig</a:t>
                      </a:r>
                      <a:endParaRPr lang="en-US" sz="2000" b="1" dirty="0">
                        <a:latin typeface="Calibri"/>
                        <a:cs typeface="Calibri"/>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b="1" dirty="0" err="1" smtClean="0">
                          <a:latin typeface="Calibri"/>
                          <a:cs typeface="Calibri"/>
                        </a:rPr>
                        <a:t>ScaLAPACK</a:t>
                      </a:r>
                      <a:endParaRPr lang="en-US" sz="2000" b="1" dirty="0">
                        <a:latin typeface="Calibri"/>
                        <a:cs typeface="Calibri"/>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b="1" dirty="0" smtClean="0">
                          <a:solidFill>
                            <a:srgbClr val="FF0000"/>
                          </a:solidFill>
                          <a:latin typeface="Calibri"/>
                          <a:cs typeface="Calibri"/>
                        </a:rPr>
                        <a:t>P</a:t>
                      </a:r>
                      <a:r>
                        <a:rPr lang="en-US" sz="2000" b="1" baseline="30000" dirty="0" smtClean="0">
                          <a:solidFill>
                            <a:srgbClr val="FF0000"/>
                          </a:solidFill>
                          <a:latin typeface="Calibri"/>
                          <a:cs typeface="Calibri"/>
                        </a:rPr>
                        <a:t>1/2</a:t>
                      </a:r>
                      <a:r>
                        <a:rPr lang="en-US" sz="2000" b="1" dirty="0" smtClean="0">
                          <a:solidFill>
                            <a:srgbClr val="FF0000"/>
                          </a:solidFill>
                          <a:latin typeface="Calibri"/>
                          <a:cs typeface="Calibri"/>
                        </a:rPr>
                        <a:t> log P</a:t>
                      </a:r>
                      <a:endParaRPr lang="en-US" sz="2000" b="1" dirty="0">
                        <a:solidFill>
                          <a:srgbClr val="FF0000"/>
                        </a:solidFill>
                        <a:latin typeface="Calibri"/>
                        <a:cs typeface="Calibri"/>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2000" b="1" baseline="30000" dirty="0" smtClean="0">
                        <a:solidFill>
                          <a:srgbClr val="FF0000"/>
                        </a:solidFill>
                        <a:latin typeface="Calibri"/>
                        <a:cs typeface="Calibri"/>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p:cxnSp>
        <p:nvCxnSpPr>
          <p:cNvPr id="14" name="Straight Connector 13"/>
          <p:cNvCxnSpPr/>
          <p:nvPr/>
        </p:nvCxnSpPr>
        <p:spPr>
          <a:xfrm>
            <a:off x="381000" y="990600"/>
            <a:ext cx="83058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98815021"/>
      </p:ext>
    </p:extLst>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5" name="Title 1"/>
          <p:cNvSpPr>
            <a:spLocks noGrp="1"/>
          </p:cNvSpPr>
          <p:nvPr>
            <p:ph type="title"/>
          </p:nvPr>
        </p:nvSpPr>
        <p:spPr>
          <a:xfrm>
            <a:off x="779463" y="11570"/>
            <a:ext cx="7296150" cy="801688"/>
          </a:xfrm>
        </p:spPr>
        <p:txBody>
          <a:bodyPr>
            <a:noAutofit/>
          </a:bodyPr>
          <a:lstStyle/>
          <a:p>
            <a:pPr algn="ctr"/>
            <a:r>
              <a:rPr lang="en-US" sz="3200" dirty="0" smtClean="0"/>
              <a:t>Summary of dense </a:t>
            </a:r>
            <a:r>
              <a:rPr lang="en-US" sz="3200" i="1" u="sng" dirty="0" smtClean="0"/>
              <a:t>parallel</a:t>
            </a:r>
            <a:r>
              <a:rPr lang="en-US" sz="3200" dirty="0" smtClean="0"/>
              <a:t> algorithms </a:t>
            </a:r>
            <a:br>
              <a:rPr lang="en-US" sz="3200" dirty="0" smtClean="0"/>
            </a:br>
            <a:r>
              <a:rPr lang="en-US" sz="3200" dirty="0" smtClean="0"/>
              <a:t>attaining communication lower bounds</a:t>
            </a:r>
          </a:p>
        </p:txBody>
      </p:sp>
      <p:sp>
        <p:nvSpPr>
          <p:cNvPr id="4" name="Slide Number Placeholder 3"/>
          <p:cNvSpPr>
            <a:spLocks noGrp="1"/>
          </p:cNvSpPr>
          <p:nvPr>
            <p:ph type="sldNum" sz="quarter" idx="11"/>
          </p:nvPr>
        </p:nvSpPr>
        <p:spPr>
          <a:xfrm>
            <a:off x="9832975" y="6400800"/>
            <a:ext cx="1905000" cy="457200"/>
          </a:xfrm>
        </p:spPr>
        <p:txBody>
          <a:bodyPr/>
          <a:lstStyle/>
          <a:p>
            <a:pPr>
              <a:defRPr/>
            </a:pPr>
            <a:fld id="{1110692E-4516-4640-ACA1-F899B3563FBA}" type="slidenum">
              <a:rPr lang="en-US" smtClean="0"/>
              <a:pPr>
                <a:defRPr/>
              </a:pPr>
              <a:t>44</a:t>
            </a:fld>
            <a:endParaRPr lang="en-US" dirty="0"/>
          </a:p>
        </p:txBody>
      </p:sp>
      <p:sp>
        <p:nvSpPr>
          <p:cNvPr id="30727" name="Rectangle 11"/>
          <p:cNvSpPr>
            <a:spLocks noChangeArrowheads="1"/>
          </p:cNvSpPr>
          <p:nvPr/>
        </p:nvSpPr>
        <p:spPr bwMode="auto">
          <a:xfrm>
            <a:off x="6796088" y="4476750"/>
            <a:ext cx="1843087" cy="282575"/>
          </a:xfrm>
          <a:prstGeom prst="rect">
            <a:avLst/>
          </a:prstGeom>
          <a:solidFill>
            <a:schemeClr val="bg1"/>
          </a:solidFill>
          <a:ln w="12700" algn="ctr">
            <a:noFill/>
            <a:round/>
            <a:headEnd type="none" w="sm" len="sm"/>
            <a:tailEnd type="none" w="sm" len="sm"/>
          </a:ln>
        </p:spPr>
        <p:txBody>
          <a:bodyPr/>
          <a:lstStyle/>
          <a:p>
            <a:pPr eaLnBrk="0" hangingPunct="0"/>
            <a:endParaRPr lang="en-US"/>
          </a:p>
        </p:txBody>
      </p:sp>
      <p:sp>
        <p:nvSpPr>
          <p:cNvPr id="30728" name="Rectangle 12"/>
          <p:cNvSpPr>
            <a:spLocks noChangeArrowheads="1"/>
          </p:cNvSpPr>
          <p:nvPr/>
        </p:nvSpPr>
        <p:spPr bwMode="auto">
          <a:xfrm>
            <a:off x="6861175" y="5118100"/>
            <a:ext cx="1843088" cy="282575"/>
          </a:xfrm>
          <a:prstGeom prst="rect">
            <a:avLst/>
          </a:prstGeom>
          <a:solidFill>
            <a:schemeClr val="bg1"/>
          </a:solidFill>
          <a:ln w="12700" algn="ctr">
            <a:noFill/>
            <a:round/>
            <a:headEnd type="none" w="sm" len="sm"/>
            <a:tailEnd type="none" w="sm" len="sm"/>
          </a:ln>
        </p:spPr>
        <p:txBody>
          <a:bodyPr/>
          <a:lstStyle/>
          <a:p>
            <a:pPr eaLnBrk="0" hangingPunct="0"/>
            <a:endParaRPr lang="en-US"/>
          </a:p>
        </p:txBody>
      </p:sp>
      <p:sp>
        <p:nvSpPr>
          <p:cNvPr id="30729" name="Rectangle 13"/>
          <p:cNvSpPr>
            <a:spLocks noChangeArrowheads="1"/>
          </p:cNvSpPr>
          <p:nvPr/>
        </p:nvSpPr>
        <p:spPr bwMode="auto">
          <a:xfrm>
            <a:off x="6778625" y="5773738"/>
            <a:ext cx="1843088" cy="280987"/>
          </a:xfrm>
          <a:prstGeom prst="rect">
            <a:avLst/>
          </a:prstGeom>
          <a:solidFill>
            <a:schemeClr val="bg1"/>
          </a:solidFill>
          <a:ln w="12700" algn="ctr">
            <a:noFill/>
            <a:round/>
            <a:headEnd type="none" w="sm" len="sm"/>
            <a:tailEnd type="none" w="sm" len="sm"/>
          </a:ln>
        </p:spPr>
        <p:txBody>
          <a:bodyPr/>
          <a:lstStyle/>
          <a:p>
            <a:pPr eaLnBrk="0" hangingPunct="0"/>
            <a:endParaRPr lang="en-US"/>
          </a:p>
        </p:txBody>
      </p:sp>
      <p:sp>
        <p:nvSpPr>
          <p:cNvPr id="30730" name="Rectangle 14"/>
          <p:cNvSpPr>
            <a:spLocks noChangeArrowheads="1"/>
          </p:cNvSpPr>
          <p:nvPr/>
        </p:nvSpPr>
        <p:spPr bwMode="auto">
          <a:xfrm>
            <a:off x="6778625" y="6400800"/>
            <a:ext cx="1843088" cy="280988"/>
          </a:xfrm>
          <a:prstGeom prst="rect">
            <a:avLst/>
          </a:prstGeom>
          <a:solidFill>
            <a:schemeClr val="bg1"/>
          </a:solidFill>
          <a:ln w="12700" algn="ctr">
            <a:noFill/>
            <a:round/>
            <a:headEnd type="none" w="sm" len="sm"/>
            <a:tailEnd type="none" w="sm" len="sm"/>
          </a:ln>
        </p:spPr>
        <p:txBody>
          <a:bodyPr/>
          <a:lstStyle/>
          <a:p>
            <a:pPr eaLnBrk="0" hangingPunct="0"/>
            <a:endParaRPr lang="en-US"/>
          </a:p>
        </p:txBody>
      </p:sp>
      <p:sp>
        <p:nvSpPr>
          <p:cNvPr id="30731" name="TextBox 7"/>
          <p:cNvSpPr txBox="1">
            <a:spLocks noChangeArrowheads="1"/>
          </p:cNvSpPr>
          <p:nvPr/>
        </p:nvSpPr>
        <p:spPr bwMode="auto">
          <a:xfrm>
            <a:off x="259287" y="1032808"/>
            <a:ext cx="8174033" cy="1938992"/>
          </a:xfrm>
          <a:prstGeom prst="rect">
            <a:avLst/>
          </a:prstGeom>
          <a:noFill/>
          <a:ln w="9525">
            <a:noFill/>
            <a:miter lim="800000"/>
            <a:headEnd/>
            <a:tailEnd/>
          </a:ln>
        </p:spPr>
        <p:txBody>
          <a:bodyPr wrap="none">
            <a:spAutoFit/>
          </a:bodyPr>
          <a:lstStyle/>
          <a:p>
            <a:pPr algn="l">
              <a:buFont typeface="Arial" pitchFamily="34" charset="0"/>
              <a:buChar char="•"/>
            </a:pPr>
            <a:r>
              <a:rPr lang="en-US" b="0" dirty="0">
                <a:solidFill>
                  <a:schemeClr val="tx1"/>
                </a:solidFill>
              </a:rPr>
              <a:t>  </a:t>
            </a:r>
            <a:r>
              <a:rPr lang="en-US" sz="2400" b="0" dirty="0" smtClean="0">
                <a:solidFill>
                  <a:schemeClr val="tx1"/>
                </a:solidFill>
              </a:rPr>
              <a:t>Assume </a:t>
            </a:r>
            <a:r>
              <a:rPr lang="en-US" sz="2400" b="0" dirty="0" err="1">
                <a:solidFill>
                  <a:schemeClr val="tx1"/>
                </a:solidFill>
              </a:rPr>
              <a:t>nxn</a:t>
            </a:r>
            <a:r>
              <a:rPr lang="en-US" sz="2400" b="0" dirty="0">
                <a:solidFill>
                  <a:schemeClr val="tx1"/>
                </a:solidFill>
              </a:rPr>
              <a:t> matrices on P </a:t>
            </a:r>
            <a:r>
              <a:rPr lang="en-US" sz="2400" b="0" dirty="0" smtClean="0">
                <a:solidFill>
                  <a:schemeClr val="tx1"/>
                </a:solidFill>
              </a:rPr>
              <a:t>processors</a:t>
            </a:r>
            <a:r>
              <a:rPr lang="en-US" sz="2400" dirty="0" smtClean="0"/>
              <a:t> </a:t>
            </a:r>
            <a:r>
              <a:rPr lang="en-US" sz="2400" dirty="0" smtClean="0">
                <a:solidFill>
                  <a:srgbClr val="FF0000"/>
                </a:solidFill>
              </a:rPr>
              <a:t>(conventional approach)</a:t>
            </a:r>
            <a:endParaRPr lang="en-US" sz="2400" b="0" dirty="0" smtClean="0">
              <a:solidFill>
                <a:srgbClr val="FF0000"/>
              </a:solidFill>
            </a:endParaRPr>
          </a:p>
          <a:p>
            <a:pPr algn="l">
              <a:buFont typeface="Arial" pitchFamily="34" charset="0"/>
              <a:buChar char="•"/>
            </a:pPr>
            <a:r>
              <a:rPr lang="en-US" sz="2400" dirty="0" smtClean="0"/>
              <a:t>  </a:t>
            </a:r>
            <a:r>
              <a:rPr lang="en-US" sz="2400" b="0" dirty="0" smtClean="0"/>
              <a:t>Minimum M</a:t>
            </a:r>
            <a:r>
              <a:rPr lang="en-US" sz="2400" b="0" dirty="0" smtClean="0">
                <a:solidFill>
                  <a:schemeClr val="tx1"/>
                </a:solidFill>
              </a:rPr>
              <a:t>emory </a:t>
            </a:r>
            <a:r>
              <a:rPr lang="en-US" sz="2400" b="0" dirty="0">
                <a:solidFill>
                  <a:schemeClr val="tx1"/>
                </a:solidFill>
              </a:rPr>
              <a:t>per processor = </a:t>
            </a:r>
            <a:r>
              <a:rPr lang="en-US" sz="2400" b="0" dirty="0" smtClean="0">
                <a:solidFill>
                  <a:schemeClr val="tx1"/>
                </a:solidFill>
              </a:rPr>
              <a:t> M = O(n</a:t>
            </a:r>
            <a:r>
              <a:rPr lang="en-US" sz="2400" b="0" baseline="30000" dirty="0" smtClean="0">
                <a:solidFill>
                  <a:schemeClr val="tx1"/>
                </a:solidFill>
              </a:rPr>
              <a:t>2</a:t>
            </a:r>
            <a:r>
              <a:rPr lang="en-US" sz="2400" b="0" dirty="0" smtClean="0">
                <a:solidFill>
                  <a:schemeClr val="tx1"/>
                </a:solidFill>
              </a:rPr>
              <a:t> </a:t>
            </a:r>
            <a:r>
              <a:rPr lang="en-US" sz="2400" b="0" dirty="0">
                <a:solidFill>
                  <a:schemeClr val="tx1"/>
                </a:solidFill>
              </a:rPr>
              <a:t>/ P</a:t>
            </a:r>
            <a:r>
              <a:rPr lang="en-US" sz="2400" b="0" dirty="0" smtClean="0">
                <a:solidFill>
                  <a:schemeClr val="tx1"/>
                </a:solidFill>
              </a:rPr>
              <a:t>)</a:t>
            </a:r>
            <a:endParaRPr lang="en-US" sz="2400" b="0" dirty="0">
              <a:solidFill>
                <a:schemeClr val="tx1"/>
              </a:solidFill>
            </a:endParaRPr>
          </a:p>
          <a:p>
            <a:pPr algn="l">
              <a:buFont typeface="Arial" pitchFamily="34" charset="0"/>
              <a:buChar char="•"/>
            </a:pPr>
            <a:r>
              <a:rPr lang="en-US" sz="2400" b="0" dirty="0">
                <a:solidFill>
                  <a:schemeClr val="tx1"/>
                </a:solidFill>
              </a:rPr>
              <a:t>  Recall lower bounds:</a:t>
            </a:r>
          </a:p>
          <a:p>
            <a:pPr lvl="1" algn="l"/>
            <a:r>
              <a:rPr lang="en-US" sz="2400" b="0" dirty="0" smtClean="0">
                <a:solidFill>
                  <a:schemeClr val="tx1"/>
                </a:solidFill>
              </a:rPr>
              <a:t>#</a:t>
            </a:r>
            <a:r>
              <a:rPr lang="en-US" sz="2400" b="0" dirty="0" err="1" smtClean="0">
                <a:solidFill>
                  <a:schemeClr val="tx1"/>
                </a:solidFill>
              </a:rPr>
              <a:t>words_moved</a:t>
            </a:r>
            <a:r>
              <a:rPr lang="en-US" sz="2400" b="0" dirty="0" smtClean="0">
                <a:solidFill>
                  <a:schemeClr val="tx1"/>
                </a:solidFill>
              </a:rPr>
              <a:t>    =   </a:t>
            </a:r>
            <a:r>
              <a:rPr lang="en-US" sz="2400" b="0" dirty="0" smtClean="0">
                <a:sym typeface="Symbol" pitchFamily="18" charset="2"/>
              </a:rPr>
              <a:t>( (n</a:t>
            </a:r>
            <a:r>
              <a:rPr lang="en-US" sz="2400" b="0" baseline="30000" dirty="0" smtClean="0">
                <a:sym typeface="Symbol" pitchFamily="18" charset="2"/>
              </a:rPr>
              <a:t>3</a:t>
            </a:r>
            <a:r>
              <a:rPr lang="en-US" sz="2400" b="0" dirty="0" smtClean="0">
                <a:sym typeface="Symbol" pitchFamily="18" charset="2"/>
              </a:rPr>
              <a:t>/ P)  / M</a:t>
            </a:r>
            <a:r>
              <a:rPr lang="en-US" sz="2400" b="0" baseline="30000" dirty="0" smtClean="0">
                <a:sym typeface="Symbol" pitchFamily="18" charset="2"/>
              </a:rPr>
              <a:t>1/2</a:t>
            </a:r>
            <a:r>
              <a:rPr lang="en-US" sz="2400" b="0" dirty="0" smtClean="0">
                <a:sym typeface="Symbol" pitchFamily="18" charset="2"/>
              </a:rPr>
              <a:t> )  =  </a:t>
            </a:r>
            <a:r>
              <a:rPr lang="en-US" sz="2400" b="0" dirty="0">
                <a:solidFill>
                  <a:schemeClr val="tx1"/>
                </a:solidFill>
                <a:sym typeface="Symbol" pitchFamily="18" charset="2"/>
              </a:rPr>
              <a:t>( n</a:t>
            </a:r>
            <a:r>
              <a:rPr lang="en-US" sz="2400" b="0" baseline="30000" dirty="0">
                <a:solidFill>
                  <a:schemeClr val="tx1"/>
                </a:solidFill>
                <a:sym typeface="Symbol" pitchFamily="18" charset="2"/>
              </a:rPr>
              <a:t>2</a:t>
            </a:r>
            <a:r>
              <a:rPr lang="en-US" sz="2400" b="0" dirty="0">
                <a:solidFill>
                  <a:schemeClr val="tx1"/>
                </a:solidFill>
                <a:sym typeface="Symbol" pitchFamily="18" charset="2"/>
              </a:rPr>
              <a:t> /  P</a:t>
            </a:r>
            <a:r>
              <a:rPr lang="en-US" sz="2400" b="0" baseline="30000" dirty="0">
                <a:solidFill>
                  <a:schemeClr val="tx1"/>
                </a:solidFill>
                <a:sym typeface="Symbol" pitchFamily="18" charset="2"/>
              </a:rPr>
              <a:t>1/2</a:t>
            </a:r>
            <a:r>
              <a:rPr lang="en-US" sz="2400" b="0" dirty="0">
                <a:solidFill>
                  <a:schemeClr val="tx1"/>
                </a:solidFill>
                <a:sym typeface="Symbol" pitchFamily="18" charset="2"/>
              </a:rPr>
              <a:t> )      </a:t>
            </a:r>
            <a:r>
              <a:rPr lang="en-US" sz="2400" b="0" dirty="0" smtClean="0">
                <a:solidFill>
                  <a:schemeClr val="tx1"/>
                </a:solidFill>
                <a:sym typeface="Symbol" pitchFamily="18" charset="2"/>
              </a:rPr>
              <a:t>         </a:t>
            </a:r>
          </a:p>
          <a:p>
            <a:pPr lvl="1" algn="l"/>
            <a:r>
              <a:rPr lang="en-US" sz="2400" b="0" dirty="0" smtClean="0">
                <a:solidFill>
                  <a:schemeClr val="tx1"/>
                </a:solidFill>
                <a:sym typeface="Symbol" pitchFamily="18" charset="2"/>
              </a:rPr>
              <a:t>#</a:t>
            </a:r>
            <a:r>
              <a:rPr lang="en-US" sz="2400" b="0" dirty="0">
                <a:solidFill>
                  <a:schemeClr val="tx1"/>
                </a:solidFill>
                <a:sym typeface="Symbol" pitchFamily="18" charset="2"/>
              </a:rPr>
              <a:t>messages </a:t>
            </a:r>
            <a:r>
              <a:rPr lang="en-US" sz="2400" b="0" dirty="0" smtClean="0">
                <a:solidFill>
                  <a:schemeClr val="tx1"/>
                </a:solidFill>
                <a:sym typeface="Symbol" pitchFamily="18" charset="2"/>
              </a:rPr>
              <a:t>           </a:t>
            </a:r>
            <a:r>
              <a:rPr lang="en-US" sz="2400" b="0" dirty="0" smtClean="0"/>
              <a:t>=   </a:t>
            </a:r>
            <a:r>
              <a:rPr lang="en-US" sz="2400" b="0" dirty="0" smtClean="0">
                <a:sym typeface="Symbol" pitchFamily="18" charset="2"/>
              </a:rPr>
              <a:t>( (n</a:t>
            </a:r>
            <a:r>
              <a:rPr lang="en-US" sz="2400" b="0" baseline="30000" dirty="0" smtClean="0">
                <a:sym typeface="Symbol" pitchFamily="18" charset="2"/>
              </a:rPr>
              <a:t>3</a:t>
            </a:r>
            <a:r>
              <a:rPr lang="en-US" sz="2400" b="0" dirty="0" smtClean="0">
                <a:sym typeface="Symbol" pitchFamily="18" charset="2"/>
              </a:rPr>
              <a:t>/ P)  / M</a:t>
            </a:r>
            <a:r>
              <a:rPr lang="en-US" sz="2400" b="0" baseline="30000" dirty="0" smtClean="0">
                <a:sym typeface="Symbol" pitchFamily="18" charset="2"/>
              </a:rPr>
              <a:t>3/2</a:t>
            </a:r>
            <a:r>
              <a:rPr lang="en-US" sz="2400" b="0" dirty="0" smtClean="0">
                <a:sym typeface="Symbol" pitchFamily="18" charset="2"/>
              </a:rPr>
              <a:t> )  </a:t>
            </a:r>
            <a:r>
              <a:rPr lang="en-US" sz="2400" b="0" dirty="0" smtClean="0">
                <a:solidFill>
                  <a:schemeClr val="tx1"/>
                </a:solidFill>
                <a:sym typeface="Symbol" pitchFamily="18" charset="2"/>
              </a:rPr>
              <a:t>=  </a:t>
            </a:r>
            <a:r>
              <a:rPr lang="en-US" sz="2400" b="0" dirty="0">
                <a:solidFill>
                  <a:schemeClr val="tx1"/>
                </a:solidFill>
                <a:sym typeface="Symbol" pitchFamily="18" charset="2"/>
              </a:rPr>
              <a:t>( P</a:t>
            </a:r>
            <a:r>
              <a:rPr lang="en-US" sz="2400" b="0" baseline="30000" dirty="0">
                <a:solidFill>
                  <a:schemeClr val="tx1"/>
                </a:solidFill>
                <a:sym typeface="Symbol" pitchFamily="18" charset="2"/>
              </a:rPr>
              <a:t>1/2</a:t>
            </a:r>
            <a:r>
              <a:rPr lang="en-US" sz="2400" b="0" dirty="0">
                <a:solidFill>
                  <a:schemeClr val="tx1"/>
                </a:solidFill>
                <a:sym typeface="Symbol" pitchFamily="18" charset="2"/>
              </a:rPr>
              <a:t> )</a:t>
            </a:r>
            <a:endParaRPr lang="en-US" sz="2400" b="0" dirty="0">
              <a:solidFill>
                <a:schemeClr val="tx1"/>
              </a:solidFill>
            </a:endParaRPr>
          </a:p>
        </p:txBody>
      </p:sp>
      <p:graphicFrame>
        <p:nvGraphicFramePr>
          <p:cNvPr id="13" name="Table 12"/>
          <p:cNvGraphicFramePr>
            <a:graphicFrameLocks noGrp="1"/>
          </p:cNvGraphicFramePr>
          <p:nvPr>
            <p:extLst>
              <p:ext uri="{D42A27DB-BD31-4B8C-83A1-F6EECF244321}">
                <p14:modId xmlns:p14="http://schemas.microsoft.com/office/powerpoint/2010/main" val="2408780669"/>
              </p:ext>
            </p:extLst>
          </p:nvPr>
        </p:nvGraphicFramePr>
        <p:xfrm>
          <a:off x="533400" y="3200400"/>
          <a:ext cx="8077200" cy="3383280"/>
        </p:xfrm>
        <a:graphic>
          <a:graphicData uri="http://schemas.openxmlformats.org/drawingml/2006/table">
            <a:tbl>
              <a:tblPr firstRow="1" bandRow="1">
                <a:tableStyleId>{5C22544A-7EE6-4342-B048-85BDC9FD1C3A}</a:tableStyleId>
              </a:tblPr>
              <a:tblGrid>
                <a:gridCol w="1905000"/>
                <a:gridCol w="1600200"/>
                <a:gridCol w="2229613"/>
                <a:gridCol w="2342387"/>
              </a:tblGrid>
              <a:tr h="370840">
                <a:tc>
                  <a:txBody>
                    <a:bodyPr/>
                    <a:lstStyle/>
                    <a:p>
                      <a:r>
                        <a:rPr lang="en-US" sz="2000" dirty="0" smtClean="0">
                          <a:solidFill>
                            <a:schemeClr val="tx1"/>
                          </a:solidFill>
                          <a:latin typeface="Calibri"/>
                          <a:cs typeface="Calibri"/>
                        </a:rPr>
                        <a:t>Algorithm</a:t>
                      </a:r>
                      <a:endParaRPr lang="en-US" sz="2000" dirty="0">
                        <a:solidFill>
                          <a:schemeClr val="tx1"/>
                        </a:solidFill>
                        <a:latin typeface="Calibri"/>
                        <a:cs typeface="Calibri"/>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dirty="0" smtClean="0">
                          <a:solidFill>
                            <a:schemeClr val="tx1"/>
                          </a:solidFill>
                          <a:latin typeface="Calibri"/>
                          <a:cs typeface="Calibri"/>
                        </a:rPr>
                        <a:t>Reference</a:t>
                      </a:r>
                      <a:endParaRPr lang="en-US" sz="2000" dirty="0">
                        <a:latin typeface="Calibri"/>
                        <a:cs typeface="Calibri"/>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dirty="0" smtClean="0">
                          <a:solidFill>
                            <a:schemeClr val="tx1"/>
                          </a:solidFill>
                          <a:latin typeface="Calibri"/>
                          <a:cs typeface="Calibri"/>
                        </a:rPr>
                        <a:t>Factor exceeding lower bound for #</a:t>
                      </a:r>
                      <a:r>
                        <a:rPr lang="en-US" sz="2000" dirty="0" err="1" smtClean="0">
                          <a:solidFill>
                            <a:schemeClr val="tx1"/>
                          </a:solidFill>
                          <a:latin typeface="Calibri"/>
                          <a:cs typeface="Calibri"/>
                        </a:rPr>
                        <a:t>words_moved</a:t>
                      </a:r>
                      <a:endParaRPr lang="en-US" sz="2000" dirty="0">
                        <a:latin typeface="Calibri"/>
                        <a:cs typeface="Calibri"/>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dirty="0" smtClean="0">
                          <a:solidFill>
                            <a:schemeClr val="tx1"/>
                          </a:solidFill>
                          <a:latin typeface="Calibri"/>
                          <a:cs typeface="Calibri"/>
                        </a:rPr>
                        <a:t>Factor</a:t>
                      </a:r>
                      <a:r>
                        <a:rPr lang="en-US" sz="2000" baseline="0" dirty="0" smtClean="0">
                          <a:solidFill>
                            <a:schemeClr val="tx1"/>
                          </a:solidFill>
                          <a:latin typeface="Calibri"/>
                          <a:cs typeface="Calibri"/>
                        </a:rPr>
                        <a:t> exceeding lower bound for #messages</a:t>
                      </a:r>
                      <a:endParaRPr lang="en-US" sz="2000" dirty="0">
                        <a:latin typeface="Calibri"/>
                        <a:cs typeface="Calibri"/>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0840">
                <a:tc>
                  <a:txBody>
                    <a:bodyPr/>
                    <a:lstStyle/>
                    <a:p>
                      <a:r>
                        <a:rPr lang="en-US" sz="2000" b="1" dirty="0" smtClean="0">
                          <a:latin typeface="Calibri"/>
                          <a:cs typeface="Calibri"/>
                        </a:rPr>
                        <a:t>Matrix Multiply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b="1" dirty="0" smtClean="0">
                          <a:latin typeface="Calibri"/>
                          <a:cs typeface="Calibri"/>
                        </a:rPr>
                        <a:t>[Cannon, 69]</a:t>
                      </a:r>
                      <a:endParaRPr lang="en-US" sz="2000" b="1" dirty="0">
                        <a:latin typeface="Calibri"/>
                        <a:cs typeface="Calibri"/>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b="1" dirty="0" smtClean="0">
                          <a:latin typeface="Calibri"/>
                          <a:cs typeface="Calibri"/>
                        </a:rPr>
                        <a:t>1</a:t>
                      </a:r>
                      <a:endParaRPr lang="en-US" sz="2000" b="1" dirty="0">
                        <a:latin typeface="Calibri"/>
                        <a:cs typeface="Calibri"/>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b="1" dirty="0" smtClean="0">
                          <a:latin typeface="Calibri"/>
                          <a:cs typeface="Calibri"/>
                        </a:rPr>
                        <a:t>1</a:t>
                      </a:r>
                      <a:endParaRPr lang="en-US" sz="2000" b="1" dirty="0">
                        <a:latin typeface="Calibri"/>
                        <a:cs typeface="Calibri"/>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0840">
                <a:tc>
                  <a:txBody>
                    <a:bodyPr/>
                    <a:lstStyle/>
                    <a:p>
                      <a:r>
                        <a:rPr lang="en-US" sz="2000" b="1" dirty="0" err="1" smtClean="0">
                          <a:latin typeface="Calibri"/>
                          <a:cs typeface="Calibri"/>
                        </a:rPr>
                        <a:t>Cholesky</a:t>
                      </a:r>
                      <a:endParaRPr lang="en-US" sz="2000" b="1" dirty="0">
                        <a:latin typeface="Calibri"/>
                        <a:cs typeface="Calibri"/>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b="1" dirty="0" err="1" smtClean="0">
                          <a:latin typeface="Calibri"/>
                          <a:cs typeface="Calibri"/>
                        </a:rPr>
                        <a:t>ScaLAPACK</a:t>
                      </a:r>
                      <a:endParaRPr lang="en-US" sz="2000" b="1" dirty="0">
                        <a:latin typeface="Calibri"/>
                        <a:cs typeface="Calibri"/>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b="1" dirty="0" smtClean="0">
                          <a:latin typeface="Calibri"/>
                          <a:cs typeface="Calibri"/>
                        </a:rPr>
                        <a:t>log P</a:t>
                      </a:r>
                      <a:endParaRPr lang="en-US" sz="2000" b="1" dirty="0">
                        <a:latin typeface="Calibri"/>
                        <a:cs typeface="Calibri"/>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b="1" dirty="0" smtClean="0">
                          <a:latin typeface="Calibri"/>
                          <a:cs typeface="Calibri"/>
                        </a:rPr>
                        <a:t>log P</a:t>
                      </a:r>
                      <a:endParaRPr lang="en-US" sz="2000" b="1" dirty="0">
                        <a:latin typeface="Calibri"/>
                        <a:cs typeface="Calibri"/>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0840">
                <a:tc>
                  <a:txBody>
                    <a:bodyPr/>
                    <a:lstStyle/>
                    <a:p>
                      <a:r>
                        <a:rPr lang="en-US" sz="2000" b="1" dirty="0" smtClean="0">
                          <a:latin typeface="Calibri"/>
                          <a:cs typeface="Calibri"/>
                        </a:rPr>
                        <a:t>LU</a:t>
                      </a:r>
                      <a:endParaRPr lang="en-US" sz="2000" b="1" dirty="0">
                        <a:latin typeface="Calibri"/>
                        <a:cs typeface="Calibri"/>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b="1" dirty="0" err="1" smtClean="0">
                          <a:latin typeface="Calibri"/>
                          <a:cs typeface="Calibri"/>
                        </a:rPr>
                        <a:t>ScaLAPACK</a:t>
                      </a:r>
                      <a:endParaRPr lang="en-US" sz="2000" b="1" dirty="0">
                        <a:latin typeface="Calibri"/>
                        <a:cs typeface="Calibri"/>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b="1" dirty="0" smtClean="0">
                          <a:latin typeface="Calibri"/>
                          <a:cs typeface="Calibri"/>
                        </a:rPr>
                        <a:t>log</a:t>
                      </a:r>
                      <a:r>
                        <a:rPr lang="en-US" sz="2000" b="1" baseline="0" dirty="0" smtClean="0">
                          <a:latin typeface="Calibri"/>
                          <a:cs typeface="Calibri"/>
                        </a:rPr>
                        <a:t> P</a:t>
                      </a:r>
                      <a:endParaRPr lang="en-US" sz="2000" b="1" dirty="0">
                        <a:latin typeface="Calibri"/>
                        <a:cs typeface="Calibri"/>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b="1" dirty="0" smtClean="0">
                          <a:solidFill>
                            <a:srgbClr val="FF0000"/>
                          </a:solidFill>
                          <a:latin typeface="Calibri"/>
                          <a:cs typeface="Calibri"/>
                        </a:rPr>
                        <a:t>n log P / P</a:t>
                      </a:r>
                      <a:r>
                        <a:rPr lang="en-US" sz="2000" b="1" baseline="30000" dirty="0" smtClean="0">
                          <a:solidFill>
                            <a:srgbClr val="FF0000"/>
                          </a:solidFill>
                          <a:latin typeface="Calibri"/>
                          <a:cs typeface="Calibri"/>
                        </a:rPr>
                        <a:t>1/2</a:t>
                      </a:r>
                      <a:endParaRPr lang="en-US" sz="2000" b="1" baseline="30000" dirty="0">
                        <a:solidFill>
                          <a:srgbClr val="FF0000"/>
                        </a:solidFill>
                        <a:latin typeface="Calibri"/>
                        <a:cs typeface="Calibri"/>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0840">
                <a:tc>
                  <a:txBody>
                    <a:bodyPr/>
                    <a:lstStyle/>
                    <a:p>
                      <a:r>
                        <a:rPr lang="en-US" sz="2000" b="1" dirty="0" smtClean="0">
                          <a:latin typeface="Calibri"/>
                          <a:cs typeface="Calibri"/>
                        </a:rPr>
                        <a:t>QR</a:t>
                      </a:r>
                      <a:endParaRPr lang="en-US" sz="2000" b="1" dirty="0">
                        <a:latin typeface="Calibri"/>
                        <a:cs typeface="Calibri"/>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b="1" dirty="0" err="1" smtClean="0">
                          <a:latin typeface="Calibri"/>
                          <a:cs typeface="Calibri"/>
                        </a:rPr>
                        <a:t>ScaLAPACK</a:t>
                      </a:r>
                      <a:endParaRPr lang="en-US" sz="2000" b="1" dirty="0">
                        <a:latin typeface="Calibri"/>
                        <a:cs typeface="Calibri"/>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b="1" dirty="0" smtClean="0">
                          <a:latin typeface="Calibri"/>
                          <a:cs typeface="Calibri"/>
                        </a:rPr>
                        <a:t>log P</a:t>
                      </a:r>
                      <a:endParaRPr lang="en-US" sz="2000" b="1" dirty="0">
                        <a:latin typeface="Calibri"/>
                        <a:cs typeface="Calibri"/>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b="1" dirty="0" smtClean="0">
                          <a:solidFill>
                            <a:srgbClr val="FF0000"/>
                          </a:solidFill>
                          <a:latin typeface="Calibri"/>
                          <a:cs typeface="Calibri"/>
                        </a:rPr>
                        <a:t>n log P / P</a:t>
                      </a:r>
                      <a:r>
                        <a:rPr lang="en-US" sz="2000" b="1" baseline="30000" dirty="0" smtClean="0">
                          <a:solidFill>
                            <a:srgbClr val="FF0000"/>
                          </a:solidFill>
                          <a:latin typeface="Calibri"/>
                          <a:cs typeface="Calibri"/>
                        </a:rPr>
                        <a:t>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0840">
                <a:tc>
                  <a:txBody>
                    <a:bodyPr/>
                    <a:lstStyle/>
                    <a:p>
                      <a:r>
                        <a:rPr lang="en-US" sz="2000" b="1" dirty="0" smtClean="0">
                          <a:latin typeface="Calibri"/>
                          <a:cs typeface="Calibri"/>
                        </a:rPr>
                        <a:t>Sym </a:t>
                      </a:r>
                      <a:r>
                        <a:rPr lang="en-US" sz="2000" b="1" dirty="0" err="1" smtClean="0">
                          <a:latin typeface="Calibri"/>
                          <a:cs typeface="Calibri"/>
                        </a:rPr>
                        <a:t>Eig</a:t>
                      </a:r>
                      <a:r>
                        <a:rPr lang="en-US" sz="2000" b="1" dirty="0" smtClean="0">
                          <a:latin typeface="Calibri"/>
                          <a:cs typeface="Calibri"/>
                        </a:rPr>
                        <a:t>, SVD</a:t>
                      </a:r>
                      <a:endParaRPr lang="en-US" sz="2000" b="1" dirty="0">
                        <a:latin typeface="Calibri"/>
                        <a:cs typeface="Calibri"/>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b="1" dirty="0" err="1" smtClean="0">
                          <a:latin typeface="Calibri"/>
                          <a:cs typeface="Calibri"/>
                        </a:rPr>
                        <a:t>ScaLAPACK</a:t>
                      </a:r>
                      <a:endParaRPr lang="en-US" sz="2000" b="1" dirty="0">
                        <a:latin typeface="Calibri"/>
                        <a:cs typeface="Calibri"/>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b="1" dirty="0" smtClean="0">
                          <a:latin typeface="Calibri"/>
                          <a:cs typeface="Calibri"/>
                        </a:rPr>
                        <a:t>log P</a:t>
                      </a:r>
                      <a:endParaRPr lang="en-US" sz="2000" b="1" dirty="0">
                        <a:latin typeface="Calibri"/>
                        <a:cs typeface="Calibri"/>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b="1" dirty="0" smtClean="0">
                          <a:solidFill>
                            <a:srgbClr val="FF0000"/>
                          </a:solidFill>
                          <a:latin typeface="Calibri"/>
                          <a:cs typeface="Calibri"/>
                        </a:rPr>
                        <a:t>n / P</a:t>
                      </a:r>
                      <a:r>
                        <a:rPr lang="en-US" sz="2000" b="1" baseline="30000" dirty="0" smtClean="0">
                          <a:solidFill>
                            <a:srgbClr val="FF0000"/>
                          </a:solidFill>
                          <a:latin typeface="Calibri"/>
                          <a:cs typeface="Calibri"/>
                        </a:rPr>
                        <a:t>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0840">
                <a:tc>
                  <a:txBody>
                    <a:bodyPr/>
                    <a:lstStyle/>
                    <a:p>
                      <a:r>
                        <a:rPr lang="en-US" sz="2000" b="1" dirty="0" err="1" smtClean="0">
                          <a:latin typeface="Calibri"/>
                          <a:cs typeface="Calibri"/>
                        </a:rPr>
                        <a:t>Nonsym</a:t>
                      </a:r>
                      <a:r>
                        <a:rPr lang="en-US" sz="2000" b="1" dirty="0" smtClean="0">
                          <a:latin typeface="Calibri"/>
                          <a:cs typeface="Calibri"/>
                        </a:rPr>
                        <a:t> </a:t>
                      </a:r>
                      <a:r>
                        <a:rPr lang="en-US" sz="2000" b="1" dirty="0" err="1" smtClean="0">
                          <a:latin typeface="Calibri"/>
                          <a:cs typeface="Calibri"/>
                        </a:rPr>
                        <a:t>Eig</a:t>
                      </a:r>
                      <a:endParaRPr lang="en-US" sz="2000" b="1" dirty="0">
                        <a:latin typeface="Calibri"/>
                        <a:cs typeface="Calibri"/>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b="1" dirty="0" err="1" smtClean="0">
                          <a:latin typeface="Calibri"/>
                          <a:cs typeface="Calibri"/>
                        </a:rPr>
                        <a:t>ScaLAPACK</a:t>
                      </a:r>
                      <a:endParaRPr lang="en-US" sz="2000" b="1" dirty="0">
                        <a:latin typeface="Calibri"/>
                        <a:cs typeface="Calibri"/>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b="1" dirty="0" smtClean="0">
                          <a:solidFill>
                            <a:srgbClr val="FF0000"/>
                          </a:solidFill>
                          <a:latin typeface="Calibri"/>
                          <a:cs typeface="Calibri"/>
                        </a:rPr>
                        <a:t>P</a:t>
                      </a:r>
                      <a:r>
                        <a:rPr lang="en-US" sz="2000" b="1" baseline="30000" dirty="0" smtClean="0">
                          <a:solidFill>
                            <a:srgbClr val="FF0000"/>
                          </a:solidFill>
                          <a:latin typeface="Calibri"/>
                          <a:cs typeface="Calibri"/>
                        </a:rPr>
                        <a:t>1/2</a:t>
                      </a:r>
                      <a:r>
                        <a:rPr lang="en-US" sz="2000" b="1" dirty="0" smtClean="0">
                          <a:solidFill>
                            <a:srgbClr val="FF0000"/>
                          </a:solidFill>
                          <a:latin typeface="Calibri"/>
                          <a:cs typeface="Calibri"/>
                        </a:rPr>
                        <a:t> log P</a:t>
                      </a:r>
                      <a:endParaRPr lang="en-US" sz="2000" b="1" dirty="0">
                        <a:solidFill>
                          <a:srgbClr val="FF0000"/>
                        </a:solidFill>
                        <a:latin typeface="Calibri"/>
                        <a:cs typeface="Calibri"/>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b="1" dirty="0" smtClean="0">
                          <a:solidFill>
                            <a:srgbClr val="FF0000"/>
                          </a:solidFill>
                          <a:latin typeface="Calibri"/>
                          <a:cs typeface="Calibri"/>
                        </a:rPr>
                        <a:t>n log P </a:t>
                      </a:r>
                      <a:endParaRPr lang="en-US" sz="2000" b="1" baseline="30000" dirty="0" smtClean="0">
                        <a:solidFill>
                          <a:srgbClr val="FF0000"/>
                        </a:solidFill>
                        <a:latin typeface="Calibri"/>
                        <a:cs typeface="Calibri"/>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p:cxnSp>
        <p:nvCxnSpPr>
          <p:cNvPr id="14" name="Straight Connector 13"/>
          <p:cNvCxnSpPr/>
          <p:nvPr/>
        </p:nvCxnSpPr>
        <p:spPr>
          <a:xfrm>
            <a:off x="381000" y="990600"/>
            <a:ext cx="83058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75373537"/>
      </p:ext>
    </p:extLst>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5" name="Title 1"/>
          <p:cNvSpPr>
            <a:spLocks noGrp="1"/>
          </p:cNvSpPr>
          <p:nvPr>
            <p:ph type="title"/>
          </p:nvPr>
        </p:nvSpPr>
        <p:spPr>
          <a:xfrm>
            <a:off x="779463" y="11570"/>
            <a:ext cx="7296150" cy="801688"/>
          </a:xfrm>
        </p:spPr>
        <p:txBody>
          <a:bodyPr>
            <a:noAutofit/>
          </a:bodyPr>
          <a:lstStyle/>
          <a:p>
            <a:pPr algn="ctr"/>
            <a:r>
              <a:rPr lang="en-US" sz="3200" dirty="0" smtClean="0"/>
              <a:t>Summary of dense </a:t>
            </a:r>
            <a:r>
              <a:rPr lang="en-US" sz="3200" i="1" u="sng" dirty="0" smtClean="0"/>
              <a:t>parallel</a:t>
            </a:r>
            <a:r>
              <a:rPr lang="en-US" sz="3200" dirty="0" smtClean="0"/>
              <a:t> algorithms </a:t>
            </a:r>
            <a:br>
              <a:rPr lang="en-US" sz="3200" dirty="0" smtClean="0"/>
            </a:br>
            <a:r>
              <a:rPr lang="en-US" sz="3200" dirty="0" smtClean="0"/>
              <a:t>attaining communication lower bounds</a:t>
            </a:r>
          </a:p>
        </p:txBody>
      </p:sp>
      <p:sp>
        <p:nvSpPr>
          <p:cNvPr id="4" name="Slide Number Placeholder 3"/>
          <p:cNvSpPr>
            <a:spLocks noGrp="1"/>
          </p:cNvSpPr>
          <p:nvPr>
            <p:ph type="sldNum" sz="quarter" idx="11"/>
          </p:nvPr>
        </p:nvSpPr>
        <p:spPr>
          <a:xfrm>
            <a:off x="9832975" y="6400800"/>
            <a:ext cx="1905000" cy="457200"/>
          </a:xfrm>
        </p:spPr>
        <p:txBody>
          <a:bodyPr/>
          <a:lstStyle/>
          <a:p>
            <a:pPr>
              <a:defRPr/>
            </a:pPr>
            <a:fld id="{1110692E-4516-4640-ACA1-F899B3563FBA}" type="slidenum">
              <a:rPr lang="en-US" smtClean="0"/>
              <a:pPr>
                <a:defRPr/>
              </a:pPr>
              <a:t>45</a:t>
            </a:fld>
            <a:endParaRPr lang="en-US" dirty="0"/>
          </a:p>
        </p:txBody>
      </p:sp>
      <p:sp>
        <p:nvSpPr>
          <p:cNvPr id="30727" name="Rectangle 11"/>
          <p:cNvSpPr>
            <a:spLocks noChangeArrowheads="1"/>
          </p:cNvSpPr>
          <p:nvPr/>
        </p:nvSpPr>
        <p:spPr bwMode="auto">
          <a:xfrm>
            <a:off x="6796088" y="4476750"/>
            <a:ext cx="1843087" cy="282575"/>
          </a:xfrm>
          <a:prstGeom prst="rect">
            <a:avLst/>
          </a:prstGeom>
          <a:solidFill>
            <a:schemeClr val="bg1"/>
          </a:solidFill>
          <a:ln w="12700" algn="ctr">
            <a:noFill/>
            <a:round/>
            <a:headEnd type="none" w="sm" len="sm"/>
            <a:tailEnd type="none" w="sm" len="sm"/>
          </a:ln>
        </p:spPr>
        <p:txBody>
          <a:bodyPr/>
          <a:lstStyle/>
          <a:p>
            <a:pPr eaLnBrk="0" hangingPunct="0"/>
            <a:endParaRPr lang="en-US"/>
          </a:p>
        </p:txBody>
      </p:sp>
      <p:sp>
        <p:nvSpPr>
          <p:cNvPr id="30728" name="Rectangle 12"/>
          <p:cNvSpPr>
            <a:spLocks noChangeArrowheads="1"/>
          </p:cNvSpPr>
          <p:nvPr/>
        </p:nvSpPr>
        <p:spPr bwMode="auto">
          <a:xfrm>
            <a:off x="6861175" y="5118100"/>
            <a:ext cx="1843088" cy="282575"/>
          </a:xfrm>
          <a:prstGeom prst="rect">
            <a:avLst/>
          </a:prstGeom>
          <a:solidFill>
            <a:schemeClr val="bg1"/>
          </a:solidFill>
          <a:ln w="12700" algn="ctr">
            <a:noFill/>
            <a:round/>
            <a:headEnd type="none" w="sm" len="sm"/>
            <a:tailEnd type="none" w="sm" len="sm"/>
          </a:ln>
        </p:spPr>
        <p:txBody>
          <a:bodyPr/>
          <a:lstStyle/>
          <a:p>
            <a:pPr eaLnBrk="0" hangingPunct="0"/>
            <a:endParaRPr lang="en-US"/>
          </a:p>
        </p:txBody>
      </p:sp>
      <p:sp>
        <p:nvSpPr>
          <p:cNvPr id="30729" name="Rectangle 13"/>
          <p:cNvSpPr>
            <a:spLocks noChangeArrowheads="1"/>
          </p:cNvSpPr>
          <p:nvPr/>
        </p:nvSpPr>
        <p:spPr bwMode="auto">
          <a:xfrm>
            <a:off x="6778625" y="5773738"/>
            <a:ext cx="1843088" cy="280987"/>
          </a:xfrm>
          <a:prstGeom prst="rect">
            <a:avLst/>
          </a:prstGeom>
          <a:solidFill>
            <a:schemeClr val="bg1"/>
          </a:solidFill>
          <a:ln w="12700" algn="ctr">
            <a:noFill/>
            <a:round/>
            <a:headEnd type="none" w="sm" len="sm"/>
            <a:tailEnd type="none" w="sm" len="sm"/>
          </a:ln>
        </p:spPr>
        <p:txBody>
          <a:bodyPr/>
          <a:lstStyle/>
          <a:p>
            <a:pPr eaLnBrk="0" hangingPunct="0"/>
            <a:endParaRPr lang="en-US"/>
          </a:p>
        </p:txBody>
      </p:sp>
      <p:sp>
        <p:nvSpPr>
          <p:cNvPr id="30730" name="Rectangle 14"/>
          <p:cNvSpPr>
            <a:spLocks noChangeArrowheads="1"/>
          </p:cNvSpPr>
          <p:nvPr/>
        </p:nvSpPr>
        <p:spPr bwMode="auto">
          <a:xfrm>
            <a:off x="6778625" y="6400800"/>
            <a:ext cx="1843088" cy="280988"/>
          </a:xfrm>
          <a:prstGeom prst="rect">
            <a:avLst/>
          </a:prstGeom>
          <a:solidFill>
            <a:schemeClr val="bg1"/>
          </a:solidFill>
          <a:ln w="12700" algn="ctr">
            <a:noFill/>
            <a:round/>
            <a:headEnd type="none" w="sm" len="sm"/>
            <a:tailEnd type="none" w="sm" len="sm"/>
          </a:ln>
        </p:spPr>
        <p:txBody>
          <a:bodyPr/>
          <a:lstStyle/>
          <a:p>
            <a:pPr eaLnBrk="0" hangingPunct="0"/>
            <a:endParaRPr lang="en-US"/>
          </a:p>
        </p:txBody>
      </p:sp>
      <p:sp>
        <p:nvSpPr>
          <p:cNvPr id="30731" name="TextBox 7"/>
          <p:cNvSpPr txBox="1">
            <a:spLocks noChangeArrowheads="1"/>
          </p:cNvSpPr>
          <p:nvPr/>
        </p:nvSpPr>
        <p:spPr bwMode="auto">
          <a:xfrm>
            <a:off x="260284" y="1032808"/>
            <a:ext cx="7500320" cy="1938992"/>
          </a:xfrm>
          <a:prstGeom prst="rect">
            <a:avLst/>
          </a:prstGeom>
          <a:noFill/>
          <a:ln w="9525">
            <a:noFill/>
            <a:miter lim="800000"/>
            <a:headEnd/>
            <a:tailEnd/>
          </a:ln>
        </p:spPr>
        <p:txBody>
          <a:bodyPr wrap="none">
            <a:spAutoFit/>
          </a:bodyPr>
          <a:lstStyle/>
          <a:p>
            <a:pPr algn="l">
              <a:buFont typeface="Arial" pitchFamily="34" charset="0"/>
              <a:buChar char="•"/>
            </a:pPr>
            <a:r>
              <a:rPr lang="en-US" b="0" dirty="0">
                <a:solidFill>
                  <a:schemeClr val="tx1"/>
                </a:solidFill>
              </a:rPr>
              <a:t>  </a:t>
            </a:r>
            <a:r>
              <a:rPr lang="en-US" sz="2400" b="0" dirty="0" smtClean="0">
                <a:solidFill>
                  <a:schemeClr val="tx1"/>
                </a:solidFill>
              </a:rPr>
              <a:t>Assume </a:t>
            </a:r>
            <a:r>
              <a:rPr lang="en-US" sz="2400" b="0" dirty="0" err="1">
                <a:solidFill>
                  <a:schemeClr val="tx1"/>
                </a:solidFill>
              </a:rPr>
              <a:t>nxn</a:t>
            </a:r>
            <a:r>
              <a:rPr lang="en-US" sz="2400" b="0" dirty="0">
                <a:solidFill>
                  <a:schemeClr val="tx1"/>
                </a:solidFill>
              </a:rPr>
              <a:t> matrices on P </a:t>
            </a:r>
            <a:r>
              <a:rPr lang="en-US" sz="2400" b="0" dirty="0" smtClean="0">
                <a:solidFill>
                  <a:schemeClr val="tx1"/>
                </a:solidFill>
              </a:rPr>
              <a:t>processors</a:t>
            </a:r>
            <a:r>
              <a:rPr lang="en-US" sz="2400" dirty="0" smtClean="0"/>
              <a:t> (</a:t>
            </a:r>
            <a:r>
              <a:rPr lang="en-US" sz="2400" dirty="0" smtClean="0">
                <a:solidFill>
                  <a:srgbClr val="0824F2"/>
                </a:solidFill>
              </a:rPr>
              <a:t>better</a:t>
            </a:r>
            <a:r>
              <a:rPr lang="en-US" sz="2400" dirty="0" smtClean="0"/>
              <a:t>)</a:t>
            </a:r>
            <a:endParaRPr lang="en-US" sz="2400" b="0" dirty="0" smtClean="0">
              <a:solidFill>
                <a:schemeClr val="tx1"/>
              </a:solidFill>
            </a:endParaRPr>
          </a:p>
          <a:p>
            <a:pPr algn="l">
              <a:buFont typeface="Arial" pitchFamily="34" charset="0"/>
              <a:buChar char="•"/>
            </a:pPr>
            <a:r>
              <a:rPr lang="en-US" sz="2400" dirty="0" smtClean="0"/>
              <a:t>  </a:t>
            </a:r>
            <a:r>
              <a:rPr lang="en-US" sz="2400" b="0" dirty="0" smtClean="0"/>
              <a:t>Minimum</a:t>
            </a:r>
            <a:r>
              <a:rPr lang="en-US" sz="2400" dirty="0" smtClean="0"/>
              <a:t> </a:t>
            </a:r>
            <a:r>
              <a:rPr lang="en-US" sz="2400" b="0" dirty="0" smtClean="0"/>
              <a:t>M</a:t>
            </a:r>
            <a:r>
              <a:rPr lang="en-US" sz="2400" b="0" dirty="0" smtClean="0">
                <a:solidFill>
                  <a:schemeClr val="tx1"/>
                </a:solidFill>
              </a:rPr>
              <a:t>emory </a:t>
            </a:r>
            <a:r>
              <a:rPr lang="en-US" sz="2400" b="0" dirty="0">
                <a:solidFill>
                  <a:schemeClr val="tx1"/>
                </a:solidFill>
              </a:rPr>
              <a:t>per processor = </a:t>
            </a:r>
            <a:r>
              <a:rPr lang="en-US" sz="2400" b="0" dirty="0" smtClean="0">
                <a:solidFill>
                  <a:schemeClr val="tx1"/>
                </a:solidFill>
              </a:rPr>
              <a:t> M = O(n</a:t>
            </a:r>
            <a:r>
              <a:rPr lang="en-US" sz="2400" b="0" baseline="30000" dirty="0" smtClean="0">
                <a:solidFill>
                  <a:schemeClr val="tx1"/>
                </a:solidFill>
              </a:rPr>
              <a:t>2</a:t>
            </a:r>
            <a:r>
              <a:rPr lang="en-US" sz="2400" b="0" dirty="0" smtClean="0">
                <a:solidFill>
                  <a:schemeClr val="tx1"/>
                </a:solidFill>
              </a:rPr>
              <a:t> </a:t>
            </a:r>
            <a:r>
              <a:rPr lang="en-US" sz="2400" b="0" dirty="0">
                <a:solidFill>
                  <a:schemeClr val="tx1"/>
                </a:solidFill>
              </a:rPr>
              <a:t>/ P</a:t>
            </a:r>
            <a:r>
              <a:rPr lang="en-US" sz="2400" b="0" dirty="0" smtClean="0">
                <a:solidFill>
                  <a:schemeClr val="tx1"/>
                </a:solidFill>
              </a:rPr>
              <a:t>)</a:t>
            </a:r>
            <a:endParaRPr lang="en-US" sz="2400" b="0" dirty="0">
              <a:solidFill>
                <a:schemeClr val="tx1"/>
              </a:solidFill>
            </a:endParaRPr>
          </a:p>
          <a:p>
            <a:pPr algn="l">
              <a:buFont typeface="Arial" pitchFamily="34" charset="0"/>
              <a:buChar char="•"/>
            </a:pPr>
            <a:r>
              <a:rPr lang="en-US" sz="2400" b="0" dirty="0">
                <a:solidFill>
                  <a:schemeClr val="tx1"/>
                </a:solidFill>
              </a:rPr>
              <a:t>  Recall lower bounds:</a:t>
            </a:r>
          </a:p>
          <a:p>
            <a:pPr lvl="1" algn="l"/>
            <a:r>
              <a:rPr lang="en-US" sz="2400" b="0" dirty="0" smtClean="0">
                <a:solidFill>
                  <a:schemeClr val="tx1"/>
                </a:solidFill>
              </a:rPr>
              <a:t>#</a:t>
            </a:r>
            <a:r>
              <a:rPr lang="en-US" sz="2400" b="0" dirty="0" err="1" smtClean="0">
                <a:solidFill>
                  <a:schemeClr val="tx1"/>
                </a:solidFill>
              </a:rPr>
              <a:t>words_moved</a:t>
            </a:r>
            <a:r>
              <a:rPr lang="en-US" sz="2400" b="0" dirty="0" smtClean="0">
                <a:solidFill>
                  <a:schemeClr val="tx1"/>
                </a:solidFill>
              </a:rPr>
              <a:t>    =   </a:t>
            </a:r>
            <a:r>
              <a:rPr lang="en-US" sz="2400" b="0" dirty="0" smtClean="0">
                <a:sym typeface="Symbol" pitchFamily="18" charset="2"/>
              </a:rPr>
              <a:t>( (n</a:t>
            </a:r>
            <a:r>
              <a:rPr lang="en-US" sz="2400" b="0" baseline="30000" dirty="0" smtClean="0">
                <a:sym typeface="Symbol" pitchFamily="18" charset="2"/>
              </a:rPr>
              <a:t>3</a:t>
            </a:r>
            <a:r>
              <a:rPr lang="en-US" sz="2400" b="0" dirty="0" smtClean="0">
                <a:sym typeface="Symbol" pitchFamily="18" charset="2"/>
              </a:rPr>
              <a:t>/ P)  / M</a:t>
            </a:r>
            <a:r>
              <a:rPr lang="en-US" sz="2400" b="0" baseline="30000" dirty="0" smtClean="0">
                <a:sym typeface="Symbol" pitchFamily="18" charset="2"/>
              </a:rPr>
              <a:t>1/2</a:t>
            </a:r>
            <a:r>
              <a:rPr lang="en-US" sz="2400" b="0" dirty="0" smtClean="0">
                <a:sym typeface="Symbol" pitchFamily="18" charset="2"/>
              </a:rPr>
              <a:t> )  =  </a:t>
            </a:r>
            <a:r>
              <a:rPr lang="en-US" sz="2400" b="0" dirty="0">
                <a:solidFill>
                  <a:schemeClr val="tx1"/>
                </a:solidFill>
                <a:sym typeface="Symbol" pitchFamily="18" charset="2"/>
              </a:rPr>
              <a:t>( n</a:t>
            </a:r>
            <a:r>
              <a:rPr lang="en-US" sz="2400" b="0" baseline="30000" dirty="0">
                <a:solidFill>
                  <a:schemeClr val="tx1"/>
                </a:solidFill>
                <a:sym typeface="Symbol" pitchFamily="18" charset="2"/>
              </a:rPr>
              <a:t>2</a:t>
            </a:r>
            <a:r>
              <a:rPr lang="en-US" sz="2400" b="0" dirty="0">
                <a:solidFill>
                  <a:schemeClr val="tx1"/>
                </a:solidFill>
                <a:sym typeface="Symbol" pitchFamily="18" charset="2"/>
              </a:rPr>
              <a:t> /  P</a:t>
            </a:r>
            <a:r>
              <a:rPr lang="en-US" sz="2400" b="0" baseline="30000" dirty="0">
                <a:solidFill>
                  <a:schemeClr val="tx1"/>
                </a:solidFill>
                <a:sym typeface="Symbol" pitchFamily="18" charset="2"/>
              </a:rPr>
              <a:t>1/2</a:t>
            </a:r>
            <a:r>
              <a:rPr lang="en-US" sz="2400" b="0" dirty="0">
                <a:solidFill>
                  <a:schemeClr val="tx1"/>
                </a:solidFill>
                <a:sym typeface="Symbol" pitchFamily="18" charset="2"/>
              </a:rPr>
              <a:t> )      </a:t>
            </a:r>
            <a:r>
              <a:rPr lang="en-US" sz="2400" b="0" dirty="0" smtClean="0">
                <a:solidFill>
                  <a:schemeClr val="tx1"/>
                </a:solidFill>
                <a:sym typeface="Symbol" pitchFamily="18" charset="2"/>
              </a:rPr>
              <a:t>         </a:t>
            </a:r>
          </a:p>
          <a:p>
            <a:pPr lvl="1" algn="l"/>
            <a:r>
              <a:rPr lang="en-US" sz="2400" b="0" dirty="0" smtClean="0">
                <a:solidFill>
                  <a:schemeClr val="tx1"/>
                </a:solidFill>
                <a:sym typeface="Symbol" pitchFamily="18" charset="2"/>
              </a:rPr>
              <a:t>#</a:t>
            </a:r>
            <a:r>
              <a:rPr lang="en-US" sz="2400" b="0" dirty="0">
                <a:solidFill>
                  <a:schemeClr val="tx1"/>
                </a:solidFill>
                <a:sym typeface="Symbol" pitchFamily="18" charset="2"/>
              </a:rPr>
              <a:t>messages </a:t>
            </a:r>
            <a:r>
              <a:rPr lang="en-US" sz="2400" b="0" dirty="0" smtClean="0">
                <a:solidFill>
                  <a:schemeClr val="tx1"/>
                </a:solidFill>
                <a:sym typeface="Symbol" pitchFamily="18" charset="2"/>
              </a:rPr>
              <a:t>           </a:t>
            </a:r>
            <a:r>
              <a:rPr lang="en-US" sz="2400" b="0" dirty="0" smtClean="0"/>
              <a:t>=   </a:t>
            </a:r>
            <a:r>
              <a:rPr lang="en-US" sz="2400" b="0" dirty="0" smtClean="0">
                <a:sym typeface="Symbol" pitchFamily="18" charset="2"/>
              </a:rPr>
              <a:t>( (n</a:t>
            </a:r>
            <a:r>
              <a:rPr lang="en-US" sz="2400" b="0" baseline="30000" dirty="0" smtClean="0">
                <a:sym typeface="Symbol" pitchFamily="18" charset="2"/>
              </a:rPr>
              <a:t>3</a:t>
            </a:r>
            <a:r>
              <a:rPr lang="en-US" sz="2400" b="0" dirty="0" smtClean="0">
                <a:sym typeface="Symbol" pitchFamily="18" charset="2"/>
              </a:rPr>
              <a:t>/ P)  / M</a:t>
            </a:r>
            <a:r>
              <a:rPr lang="en-US" sz="2400" b="0" baseline="30000" dirty="0" smtClean="0">
                <a:sym typeface="Symbol" pitchFamily="18" charset="2"/>
              </a:rPr>
              <a:t>3/2</a:t>
            </a:r>
            <a:r>
              <a:rPr lang="en-US" sz="2400" b="0" dirty="0" smtClean="0">
                <a:sym typeface="Symbol" pitchFamily="18" charset="2"/>
              </a:rPr>
              <a:t> )  </a:t>
            </a:r>
            <a:r>
              <a:rPr lang="en-US" sz="2400" b="0" dirty="0" smtClean="0">
                <a:solidFill>
                  <a:schemeClr val="tx1"/>
                </a:solidFill>
                <a:sym typeface="Symbol" pitchFamily="18" charset="2"/>
              </a:rPr>
              <a:t>=  </a:t>
            </a:r>
            <a:r>
              <a:rPr lang="en-US" sz="2400" b="0" dirty="0">
                <a:solidFill>
                  <a:schemeClr val="tx1"/>
                </a:solidFill>
                <a:sym typeface="Symbol" pitchFamily="18" charset="2"/>
              </a:rPr>
              <a:t>( P</a:t>
            </a:r>
            <a:r>
              <a:rPr lang="en-US" sz="2400" b="0" baseline="30000" dirty="0">
                <a:solidFill>
                  <a:schemeClr val="tx1"/>
                </a:solidFill>
                <a:sym typeface="Symbol" pitchFamily="18" charset="2"/>
              </a:rPr>
              <a:t>1/2</a:t>
            </a:r>
            <a:r>
              <a:rPr lang="en-US" sz="2400" b="0" dirty="0">
                <a:solidFill>
                  <a:schemeClr val="tx1"/>
                </a:solidFill>
                <a:sym typeface="Symbol" pitchFamily="18" charset="2"/>
              </a:rPr>
              <a:t> )</a:t>
            </a:r>
            <a:endParaRPr lang="en-US" sz="2400" b="0" dirty="0">
              <a:solidFill>
                <a:schemeClr val="tx1"/>
              </a:solidFill>
            </a:endParaRPr>
          </a:p>
        </p:txBody>
      </p:sp>
      <p:graphicFrame>
        <p:nvGraphicFramePr>
          <p:cNvPr id="13" name="Table 12"/>
          <p:cNvGraphicFramePr>
            <a:graphicFrameLocks noGrp="1"/>
          </p:cNvGraphicFramePr>
          <p:nvPr>
            <p:extLst>
              <p:ext uri="{D42A27DB-BD31-4B8C-83A1-F6EECF244321}">
                <p14:modId xmlns:p14="http://schemas.microsoft.com/office/powerpoint/2010/main" val="3953516253"/>
              </p:ext>
            </p:extLst>
          </p:nvPr>
        </p:nvGraphicFramePr>
        <p:xfrm>
          <a:off x="533400" y="3200400"/>
          <a:ext cx="8077200" cy="3383280"/>
        </p:xfrm>
        <a:graphic>
          <a:graphicData uri="http://schemas.openxmlformats.org/drawingml/2006/table">
            <a:tbl>
              <a:tblPr firstRow="1" bandRow="1">
                <a:tableStyleId>{5C22544A-7EE6-4342-B048-85BDC9FD1C3A}</a:tableStyleId>
              </a:tblPr>
              <a:tblGrid>
                <a:gridCol w="1905000"/>
                <a:gridCol w="1600200"/>
                <a:gridCol w="2229613"/>
                <a:gridCol w="2342387"/>
              </a:tblGrid>
              <a:tr h="370840">
                <a:tc>
                  <a:txBody>
                    <a:bodyPr/>
                    <a:lstStyle/>
                    <a:p>
                      <a:r>
                        <a:rPr lang="en-US" sz="2000" dirty="0" smtClean="0">
                          <a:solidFill>
                            <a:schemeClr val="tx1"/>
                          </a:solidFill>
                          <a:latin typeface="Calibri"/>
                          <a:cs typeface="Calibri"/>
                        </a:rPr>
                        <a:t>Algorithm</a:t>
                      </a:r>
                      <a:endParaRPr lang="en-US" sz="2000" dirty="0">
                        <a:solidFill>
                          <a:schemeClr val="tx1"/>
                        </a:solidFill>
                        <a:latin typeface="Calibri"/>
                        <a:cs typeface="Calibri"/>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dirty="0" smtClean="0">
                          <a:solidFill>
                            <a:schemeClr val="tx1"/>
                          </a:solidFill>
                          <a:latin typeface="Calibri"/>
                          <a:cs typeface="Calibri"/>
                        </a:rPr>
                        <a:t>Reference</a:t>
                      </a:r>
                      <a:endParaRPr lang="en-US" sz="2000" dirty="0">
                        <a:latin typeface="Calibri"/>
                        <a:cs typeface="Calibri"/>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dirty="0" smtClean="0">
                          <a:solidFill>
                            <a:schemeClr val="tx1"/>
                          </a:solidFill>
                          <a:latin typeface="Calibri"/>
                          <a:cs typeface="Calibri"/>
                        </a:rPr>
                        <a:t>Factor exceeding lower bound for #</a:t>
                      </a:r>
                      <a:r>
                        <a:rPr lang="en-US" sz="2000" dirty="0" err="1" smtClean="0">
                          <a:solidFill>
                            <a:schemeClr val="tx1"/>
                          </a:solidFill>
                          <a:latin typeface="Calibri"/>
                          <a:cs typeface="Calibri"/>
                        </a:rPr>
                        <a:t>words_moved</a:t>
                      </a:r>
                      <a:endParaRPr lang="en-US" sz="2000" dirty="0">
                        <a:latin typeface="Calibri"/>
                        <a:cs typeface="Calibri"/>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dirty="0" smtClean="0">
                          <a:solidFill>
                            <a:schemeClr val="tx1"/>
                          </a:solidFill>
                          <a:latin typeface="Calibri"/>
                          <a:cs typeface="Calibri"/>
                        </a:rPr>
                        <a:t>Factor</a:t>
                      </a:r>
                      <a:r>
                        <a:rPr lang="en-US" sz="2000" baseline="0" dirty="0" smtClean="0">
                          <a:solidFill>
                            <a:schemeClr val="tx1"/>
                          </a:solidFill>
                          <a:latin typeface="Calibri"/>
                          <a:cs typeface="Calibri"/>
                        </a:rPr>
                        <a:t> exceeding lower bound for #messages</a:t>
                      </a:r>
                      <a:endParaRPr lang="en-US" sz="2000" dirty="0">
                        <a:latin typeface="Calibri"/>
                        <a:cs typeface="Calibri"/>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0840">
                <a:tc>
                  <a:txBody>
                    <a:bodyPr/>
                    <a:lstStyle/>
                    <a:p>
                      <a:r>
                        <a:rPr lang="en-US" sz="2000" b="1" dirty="0" smtClean="0">
                          <a:latin typeface="Calibri"/>
                          <a:cs typeface="Calibri"/>
                        </a:rPr>
                        <a:t>Matrix Multiply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b="1" dirty="0" smtClean="0">
                          <a:latin typeface="Calibri"/>
                          <a:cs typeface="Calibri"/>
                        </a:rPr>
                        <a:t>[Cannon, 69]</a:t>
                      </a:r>
                      <a:endParaRPr lang="en-US" sz="2000" b="1" dirty="0">
                        <a:latin typeface="Calibri"/>
                        <a:cs typeface="Calibri"/>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b="1" dirty="0" smtClean="0">
                          <a:latin typeface="Calibri"/>
                          <a:cs typeface="Calibri"/>
                        </a:rPr>
                        <a:t>1</a:t>
                      </a:r>
                      <a:endParaRPr lang="en-US" sz="2000" b="1" dirty="0">
                        <a:latin typeface="Calibri"/>
                        <a:cs typeface="Calibri"/>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b="1" dirty="0" smtClean="0">
                          <a:latin typeface="Calibri"/>
                          <a:cs typeface="Calibri"/>
                        </a:rPr>
                        <a:t>1</a:t>
                      </a:r>
                      <a:endParaRPr lang="en-US" sz="2000" b="1" dirty="0">
                        <a:latin typeface="Calibri"/>
                        <a:cs typeface="Calibri"/>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0840">
                <a:tc>
                  <a:txBody>
                    <a:bodyPr/>
                    <a:lstStyle/>
                    <a:p>
                      <a:r>
                        <a:rPr lang="en-US" sz="2000" b="1" dirty="0" err="1" smtClean="0">
                          <a:latin typeface="Calibri"/>
                          <a:cs typeface="Calibri"/>
                        </a:rPr>
                        <a:t>Cholesky</a:t>
                      </a:r>
                      <a:endParaRPr lang="en-US" sz="2000" b="1" dirty="0">
                        <a:latin typeface="Calibri"/>
                        <a:cs typeface="Calibri"/>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b="1" dirty="0" err="1" smtClean="0">
                          <a:latin typeface="Calibri"/>
                          <a:cs typeface="Calibri"/>
                        </a:rPr>
                        <a:t>ScaLAPACK</a:t>
                      </a:r>
                      <a:endParaRPr lang="en-US" sz="2000" b="1" dirty="0">
                        <a:latin typeface="Calibri"/>
                        <a:cs typeface="Calibri"/>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b="1" dirty="0" smtClean="0">
                          <a:latin typeface="Calibri"/>
                          <a:cs typeface="Calibri"/>
                        </a:rPr>
                        <a:t>log P</a:t>
                      </a:r>
                      <a:endParaRPr lang="en-US" sz="2000" b="1" dirty="0">
                        <a:latin typeface="Calibri"/>
                        <a:cs typeface="Calibri"/>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b="1" dirty="0" smtClean="0">
                          <a:latin typeface="Calibri"/>
                          <a:cs typeface="Calibri"/>
                        </a:rPr>
                        <a:t>log P</a:t>
                      </a:r>
                      <a:endParaRPr lang="en-US" sz="2000" b="1" dirty="0">
                        <a:latin typeface="Calibri"/>
                        <a:cs typeface="Calibri"/>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0840">
                <a:tc>
                  <a:txBody>
                    <a:bodyPr/>
                    <a:lstStyle/>
                    <a:p>
                      <a:r>
                        <a:rPr lang="en-US" sz="2000" b="1" dirty="0" smtClean="0">
                          <a:latin typeface="Calibri"/>
                          <a:cs typeface="Calibri"/>
                        </a:rPr>
                        <a:t>LU</a:t>
                      </a:r>
                      <a:endParaRPr lang="en-US" sz="2000" b="1" dirty="0">
                        <a:latin typeface="Calibri"/>
                        <a:cs typeface="Calibri"/>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b="1" dirty="0" smtClean="0">
                          <a:solidFill>
                            <a:srgbClr val="0824F2"/>
                          </a:solidFill>
                          <a:latin typeface="Calibri"/>
                          <a:cs typeface="Calibri"/>
                        </a:rPr>
                        <a:t>[GDX10]</a:t>
                      </a:r>
                      <a:endParaRPr lang="en-US" sz="2000" b="1" dirty="0">
                        <a:solidFill>
                          <a:srgbClr val="0824F2"/>
                        </a:solidFill>
                        <a:latin typeface="Calibri"/>
                        <a:cs typeface="Calibri"/>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b="1" dirty="0" smtClean="0">
                          <a:latin typeface="Calibri"/>
                          <a:cs typeface="Calibri"/>
                        </a:rPr>
                        <a:t>log</a:t>
                      </a:r>
                      <a:r>
                        <a:rPr lang="en-US" sz="2000" b="1" baseline="0" dirty="0" smtClean="0">
                          <a:latin typeface="Calibri"/>
                          <a:cs typeface="Calibri"/>
                        </a:rPr>
                        <a:t> P</a:t>
                      </a:r>
                      <a:endParaRPr lang="en-US" sz="2000" b="1" dirty="0">
                        <a:latin typeface="Calibri"/>
                        <a:cs typeface="Calibri"/>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b="1" dirty="0" smtClean="0">
                          <a:solidFill>
                            <a:srgbClr val="0824F2"/>
                          </a:solidFill>
                          <a:latin typeface="Calibri"/>
                          <a:cs typeface="Calibri"/>
                        </a:rPr>
                        <a:t>log P</a:t>
                      </a:r>
                      <a:endParaRPr lang="en-US" sz="2000" b="1" baseline="30000" dirty="0">
                        <a:solidFill>
                          <a:srgbClr val="0824F2"/>
                        </a:solidFill>
                        <a:latin typeface="Calibri"/>
                        <a:cs typeface="Calibri"/>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0840">
                <a:tc>
                  <a:txBody>
                    <a:bodyPr/>
                    <a:lstStyle/>
                    <a:p>
                      <a:r>
                        <a:rPr lang="en-US" sz="2000" b="1" dirty="0" smtClean="0">
                          <a:latin typeface="Calibri"/>
                          <a:cs typeface="Calibri"/>
                        </a:rPr>
                        <a:t>QR</a:t>
                      </a:r>
                      <a:endParaRPr lang="en-US" sz="2000" b="1" dirty="0">
                        <a:latin typeface="Calibri"/>
                        <a:cs typeface="Calibri"/>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b="1" dirty="0" smtClean="0">
                          <a:solidFill>
                            <a:srgbClr val="0824F2"/>
                          </a:solidFill>
                          <a:latin typeface="Calibri"/>
                          <a:cs typeface="Calibri"/>
                        </a:rPr>
                        <a:t>[DGHL08]</a:t>
                      </a:r>
                      <a:endParaRPr lang="en-US" sz="2000" b="1" dirty="0">
                        <a:solidFill>
                          <a:srgbClr val="0824F2"/>
                        </a:solidFill>
                        <a:latin typeface="Calibri"/>
                        <a:cs typeface="Calibri"/>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b="1" dirty="0" smtClean="0">
                          <a:latin typeface="Calibri"/>
                          <a:cs typeface="Calibri"/>
                        </a:rPr>
                        <a:t>log P</a:t>
                      </a:r>
                      <a:endParaRPr lang="en-US" sz="2000" b="1" dirty="0">
                        <a:latin typeface="Calibri"/>
                        <a:cs typeface="Calibri"/>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b="1" dirty="0" smtClean="0">
                          <a:solidFill>
                            <a:srgbClr val="0824F2"/>
                          </a:solidFill>
                          <a:latin typeface="Calibri"/>
                          <a:cs typeface="Calibri"/>
                        </a:rPr>
                        <a:t> log</a:t>
                      </a:r>
                      <a:r>
                        <a:rPr lang="en-US" sz="2000" b="1" baseline="30000" dirty="0" smtClean="0">
                          <a:solidFill>
                            <a:srgbClr val="0824F2"/>
                          </a:solidFill>
                          <a:latin typeface="Calibri"/>
                          <a:cs typeface="Calibri"/>
                        </a:rPr>
                        <a:t>3</a:t>
                      </a:r>
                      <a:r>
                        <a:rPr lang="en-US" sz="2000" b="1" dirty="0" smtClean="0">
                          <a:solidFill>
                            <a:srgbClr val="0824F2"/>
                          </a:solidFill>
                          <a:latin typeface="Calibri"/>
                          <a:cs typeface="Calibri"/>
                        </a:rPr>
                        <a:t> P</a:t>
                      </a:r>
                      <a:endParaRPr lang="en-US" sz="2000" b="1" baseline="30000" dirty="0" smtClean="0">
                        <a:solidFill>
                          <a:srgbClr val="0824F2"/>
                        </a:solidFill>
                        <a:latin typeface="Calibri"/>
                        <a:cs typeface="Calibri"/>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0840">
                <a:tc>
                  <a:txBody>
                    <a:bodyPr/>
                    <a:lstStyle/>
                    <a:p>
                      <a:r>
                        <a:rPr lang="en-US" sz="2000" b="1" dirty="0" smtClean="0">
                          <a:latin typeface="Calibri"/>
                          <a:cs typeface="Calibri"/>
                        </a:rPr>
                        <a:t>Sym </a:t>
                      </a:r>
                      <a:r>
                        <a:rPr lang="en-US" sz="2000" b="1" dirty="0" err="1" smtClean="0">
                          <a:latin typeface="Calibri"/>
                          <a:cs typeface="Calibri"/>
                        </a:rPr>
                        <a:t>Eig</a:t>
                      </a:r>
                      <a:r>
                        <a:rPr lang="en-US" sz="2000" b="1" dirty="0" smtClean="0">
                          <a:latin typeface="Calibri"/>
                          <a:cs typeface="Calibri"/>
                        </a:rPr>
                        <a:t>, SVD</a:t>
                      </a:r>
                      <a:endParaRPr lang="en-US" sz="2000" b="1" dirty="0">
                        <a:latin typeface="Calibri"/>
                        <a:cs typeface="Calibri"/>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b="1" dirty="0" smtClean="0">
                          <a:solidFill>
                            <a:srgbClr val="0824F2"/>
                          </a:solidFill>
                          <a:latin typeface="Calibri"/>
                          <a:cs typeface="Calibri"/>
                        </a:rPr>
                        <a:t>[BDD11]</a:t>
                      </a:r>
                      <a:endParaRPr lang="en-US" sz="2000" b="1" dirty="0">
                        <a:solidFill>
                          <a:srgbClr val="0824F2"/>
                        </a:solidFill>
                        <a:latin typeface="Calibri"/>
                        <a:cs typeface="Calibri"/>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b="1" dirty="0" smtClean="0">
                          <a:latin typeface="Calibri"/>
                          <a:cs typeface="Calibri"/>
                        </a:rPr>
                        <a:t>log P</a:t>
                      </a:r>
                      <a:endParaRPr lang="en-US" sz="2000" b="1" dirty="0">
                        <a:latin typeface="Calibri"/>
                        <a:cs typeface="Calibri"/>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b="1" dirty="0" smtClean="0">
                          <a:solidFill>
                            <a:srgbClr val="0824F2"/>
                          </a:solidFill>
                          <a:latin typeface="Calibri"/>
                          <a:cs typeface="Calibri"/>
                        </a:rPr>
                        <a:t>log</a:t>
                      </a:r>
                      <a:r>
                        <a:rPr lang="en-US" sz="2000" b="1" baseline="30000" dirty="0" smtClean="0">
                          <a:solidFill>
                            <a:srgbClr val="0824F2"/>
                          </a:solidFill>
                          <a:latin typeface="Calibri"/>
                          <a:cs typeface="Calibri"/>
                        </a:rPr>
                        <a:t>3</a:t>
                      </a:r>
                      <a:r>
                        <a:rPr lang="en-US" sz="2000" b="1" dirty="0" smtClean="0">
                          <a:solidFill>
                            <a:srgbClr val="0824F2"/>
                          </a:solidFill>
                          <a:latin typeface="Calibri"/>
                          <a:cs typeface="Calibri"/>
                        </a:rPr>
                        <a:t> P</a:t>
                      </a:r>
                      <a:endParaRPr lang="en-US" sz="2000" b="1" baseline="30000" dirty="0" smtClean="0">
                        <a:solidFill>
                          <a:srgbClr val="0824F2"/>
                        </a:solidFill>
                        <a:latin typeface="Calibri"/>
                        <a:cs typeface="Calibri"/>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0840">
                <a:tc>
                  <a:txBody>
                    <a:bodyPr/>
                    <a:lstStyle/>
                    <a:p>
                      <a:r>
                        <a:rPr lang="en-US" sz="2000" b="1" dirty="0" err="1" smtClean="0">
                          <a:latin typeface="Calibri"/>
                          <a:cs typeface="Calibri"/>
                        </a:rPr>
                        <a:t>Nonsym</a:t>
                      </a:r>
                      <a:r>
                        <a:rPr lang="en-US" sz="2000" b="1" dirty="0" smtClean="0">
                          <a:latin typeface="Calibri"/>
                          <a:cs typeface="Calibri"/>
                        </a:rPr>
                        <a:t> </a:t>
                      </a:r>
                      <a:r>
                        <a:rPr lang="en-US" sz="2000" b="1" dirty="0" err="1" smtClean="0">
                          <a:latin typeface="Calibri"/>
                          <a:cs typeface="Calibri"/>
                        </a:rPr>
                        <a:t>Eig</a:t>
                      </a:r>
                      <a:endParaRPr lang="en-US" sz="2000" b="1" dirty="0">
                        <a:latin typeface="Calibri"/>
                        <a:cs typeface="Calibri"/>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b="1" dirty="0" smtClean="0">
                          <a:solidFill>
                            <a:srgbClr val="0824F2"/>
                          </a:solidFill>
                          <a:latin typeface="Calibri"/>
                          <a:cs typeface="Calibri"/>
                        </a:rPr>
                        <a:t>[BDD11]</a:t>
                      </a:r>
                      <a:endParaRPr lang="en-US" sz="2000" b="1" dirty="0">
                        <a:solidFill>
                          <a:srgbClr val="0824F2"/>
                        </a:solidFill>
                        <a:latin typeface="Calibri"/>
                        <a:cs typeface="Calibri"/>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b="1" dirty="0" smtClean="0">
                          <a:solidFill>
                            <a:srgbClr val="0824F2"/>
                          </a:solidFill>
                          <a:latin typeface="Calibri"/>
                          <a:cs typeface="Calibri"/>
                        </a:rPr>
                        <a:t>log P</a:t>
                      </a:r>
                      <a:endParaRPr lang="en-US" sz="2000" b="1" dirty="0">
                        <a:solidFill>
                          <a:srgbClr val="0824F2"/>
                        </a:solidFill>
                        <a:latin typeface="Calibri"/>
                        <a:cs typeface="Calibri"/>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b="1" dirty="0" smtClean="0">
                          <a:solidFill>
                            <a:srgbClr val="0824F2"/>
                          </a:solidFill>
                          <a:latin typeface="Calibri"/>
                          <a:cs typeface="Calibri"/>
                        </a:rPr>
                        <a:t> log</a:t>
                      </a:r>
                      <a:r>
                        <a:rPr lang="en-US" sz="2000" b="1" baseline="30000" dirty="0" smtClean="0">
                          <a:solidFill>
                            <a:srgbClr val="0824F2"/>
                          </a:solidFill>
                          <a:latin typeface="Calibri"/>
                          <a:cs typeface="Calibri"/>
                        </a:rPr>
                        <a:t>3</a:t>
                      </a:r>
                      <a:r>
                        <a:rPr lang="en-US" sz="2000" b="1" dirty="0" smtClean="0">
                          <a:solidFill>
                            <a:srgbClr val="0824F2"/>
                          </a:solidFill>
                          <a:latin typeface="Calibri"/>
                          <a:cs typeface="Calibri"/>
                        </a:rPr>
                        <a:t> P</a:t>
                      </a:r>
                      <a:endParaRPr lang="en-US" sz="2000" b="1" baseline="30000" dirty="0" smtClean="0">
                        <a:solidFill>
                          <a:srgbClr val="0824F2"/>
                        </a:solidFill>
                        <a:latin typeface="Calibri"/>
                        <a:cs typeface="Calibri"/>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p:cxnSp>
        <p:nvCxnSpPr>
          <p:cNvPr id="14" name="Straight Connector 13"/>
          <p:cNvCxnSpPr/>
          <p:nvPr/>
        </p:nvCxnSpPr>
        <p:spPr>
          <a:xfrm>
            <a:off x="381000" y="990600"/>
            <a:ext cx="83058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82951272"/>
      </p:ext>
    </p:extLst>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5" name="Title 1"/>
          <p:cNvSpPr>
            <a:spLocks noGrp="1"/>
          </p:cNvSpPr>
          <p:nvPr>
            <p:ph type="title"/>
          </p:nvPr>
        </p:nvSpPr>
        <p:spPr>
          <a:xfrm>
            <a:off x="779463" y="112712"/>
            <a:ext cx="7296150" cy="801688"/>
          </a:xfrm>
        </p:spPr>
        <p:txBody>
          <a:bodyPr>
            <a:noAutofit/>
          </a:bodyPr>
          <a:lstStyle/>
          <a:p>
            <a:pPr algn="ctr"/>
            <a:r>
              <a:rPr lang="en-US" sz="3200" dirty="0" smtClean="0">
                <a:solidFill>
                  <a:srgbClr val="0824F2"/>
                </a:solidFill>
              </a:rPr>
              <a:t>Can we do even better?</a:t>
            </a:r>
          </a:p>
        </p:txBody>
      </p:sp>
      <p:sp>
        <p:nvSpPr>
          <p:cNvPr id="4" name="Slide Number Placeholder 3"/>
          <p:cNvSpPr>
            <a:spLocks noGrp="1"/>
          </p:cNvSpPr>
          <p:nvPr>
            <p:ph type="sldNum" sz="quarter" idx="11"/>
          </p:nvPr>
        </p:nvSpPr>
        <p:spPr>
          <a:xfrm>
            <a:off x="9832975" y="6400800"/>
            <a:ext cx="1905000" cy="457200"/>
          </a:xfrm>
        </p:spPr>
        <p:txBody>
          <a:bodyPr/>
          <a:lstStyle/>
          <a:p>
            <a:pPr>
              <a:defRPr/>
            </a:pPr>
            <a:fld id="{1110692E-4516-4640-ACA1-F899B3563FBA}" type="slidenum">
              <a:rPr lang="en-US" smtClean="0"/>
              <a:pPr>
                <a:defRPr/>
              </a:pPr>
              <a:t>46</a:t>
            </a:fld>
            <a:endParaRPr lang="en-US" dirty="0"/>
          </a:p>
        </p:txBody>
      </p:sp>
      <p:sp>
        <p:nvSpPr>
          <p:cNvPr id="30727" name="Rectangle 11"/>
          <p:cNvSpPr>
            <a:spLocks noChangeArrowheads="1"/>
          </p:cNvSpPr>
          <p:nvPr/>
        </p:nvSpPr>
        <p:spPr bwMode="auto">
          <a:xfrm>
            <a:off x="6796088" y="4476750"/>
            <a:ext cx="1843087" cy="282575"/>
          </a:xfrm>
          <a:prstGeom prst="rect">
            <a:avLst/>
          </a:prstGeom>
          <a:solidFill>
            <a:schemeClr val="bg1"/>
          </a:solidFill>
          <a:ln w="12700" algn="ctr">
            <a:noFill/>
            <a:round/>
            <a:headEnd type="none" w="sm" len="sm"/>
            <a:tailEnd type="none" w="sm" len="sm"/>
          </a:ln>
        </p:spPr>
        <p:txBody>
          <a:bodyPr/>
          <a:lstStyle/>
          <a:p>
            <a:pPr eaLnBrk="0" hangingPunct="0"/>
            <a:endParaRPr lang="en-US"/>
          </a:p>
        </p:txBody>
      </p:sp>
      <p:sp>
        <p:nvSpPr>
          <p:cNvPr id="30728" name="Rectangle 12"/>
          <p:cNvSpPr>
            <a:spLocks noChangeArrowheads="1"/>
          </p:cNvSpPr>
          <p:nvPr/>
        </p:nvSpPr>
        <p:spPr bwMode="auto">
          <a:xfrm>
            <a:off x="6861175" y="5118100"/>
            <a:ext cx="1843088" cy="282575"/>
          </a:xfrm>
          <a:prstGeom prst="rect">
            <a:avLst/>
          </a:prstGeom>
          <a:solidFill>
            <a:schemeClr val="bg1"/>
          </a:solidFill>
          <a:ln w="12700" algn="ctr">
            <a:noFill/>
            <a:round/>
            <a:headEnd type="none" w="sm" len="sm"/>
            <a:tailEnd type="none" w="sm" len="sm"/>
          </a:ln>
        </p:spPr>
        <p:txBody>
          <a:bodyPr/>
          <a:lstStyle/>
          <a:p>
            <a:pPr eaLnBrk="0" hangingPunct="0"/>
            <a:endParaRPr lang="en-US"/>
          </a:p>
        </p:txBody>
      </p:sp>
      <p:sp>
        <p:nvSpPr>
          <p:cNvPr id="30729" name="Rectangle 13"/>
          <p:cNvSpPr>
            <a:spLocks noChangeArrowheads="1"/>
          </p:cNvSpPr>
          <p:nvPr/>
        </p:nvSpPr>
        <p:spPr bwMode="auto">
          <a:xfrm>
            <a:off x="6778625" y="5773738"/>
            <a:ext cx="1843088" cy="280987"/>
          </a:xfrm>
          <a:prstGeom prst="rect">
            <a:avLst/>
          </a:prstGeom>
          <a:solidFill>
            <a:schemeClr val="bg1"/>
          </a:solidFill>
          <a:ln w="12700" algn="ctr">
            <a:noFill/>
            <a:round/>
            <a:headEnd type="none" w="sm" len="sm"/>
            <a:tailEnd type="none" w="sm" len="sm"/>
          </a:ln>
        </p:spPr>
        <p:txBody>
          <a:bodyPr/>
          <a:lstStyle/>
          <a:p>
            <a:pPr eaLnBrk="0" hangingPunct="0"/>
            <a:endParaRPr lang="en-US"/>
          </a:p>
        </p:txBody>
      </p:sp>
      <p:sp>
        <p:nvSpPr>
          <p:cNvPr id="30730" name="Rectangle 14"/>
          <p:cNvSpPr>
            <a:spLocks noChangeArrowheads="1"/>
          </p:cNvSpPr>
          <p:nvPr/>
        </p:nvSpPr>
        <p:spPr bwMode="auto">
          <a:xfrm>
            <a:off x="6778625" y="6400800"/>
            <a:ext cx="1843088" cy="280988"/>
          </a:xfrm>
          <a:prstGeom prst="rect">
            <a:avLst/>
          </a:prstGeom>
          <a:solidFill>
            <a:schemeClr val="bg1"/>
          </a:solidFill>
          <a:ln w="12700" algn="ctr">
            <a:noFill/>
            <a:round/>
            <a:headEnd type="none" w="sm" len="sm"/>
            <a:tailEnd type="none" w="sm" len="sm"/>
          </a:ln>
        </p:spPr>
        <p:txBody>
          <a:bodyPr/>
          <a:lstStyle/>
          <a:p>
            <a:pPr eaLnBrk="0" hangingPunct="0"/>
            <a:endParaRPr lang="en-US"/>
          </a:p>
        </p:txBody>
      </p:sp>
      <p:sp>
        <p:nvSpPr>
          <p:cNvPr id="30731" name="TextBox 7"/>
          <p:cNvSpPr txBox="1">
            <a:spLocks noChangeArrowheads="1"/>
          </p:cNvSpPr>
          <p:nvPr/>
        </p:nvSpPr>
        <p:spPr bwMode="auto">
          <a:xfrm>
            <a:off x="296103" y="1032808"/>
            <a:ext cx="8387132" cy="1938992"/>
          </a:xfrm>
          <a:prstGeom prst="rect">
            <a:avLst/>
          </a:prstGeom>
          <a:noFill/>
          <a:ln w="9525">
            <a:noFill/>
            <a:miter lim="800000"/>
            <a:headEnd/>
            <a:tailEnd/>
          </a:ln>
        </p:spPr>
        <p:txBody>
          <a:bodyPr wrap="none">
            <a:spAutoFit/>
          </a:bodyPr>
          <a:lstStyle/>
          <a:p>
            <a:pPr algn="l">
              <a:buFont typeface="Arial" pitchFamily="34" charset="0"/>
              <a:buChar char="•"/>
            </a:pPr>
            <a:r>
              <a:rPr lang="en-US" b="0" dirty="0">
                <a:solidFill>
                  <a:schemeClr val="tx1"/>
                </a:solidFill>
              </a:rPr>
              <a:t>  </a:t>
            </a:r>
            <a:r>
              <a:rPr lang="en-US" sz="2400" b="0" dirty="0" smtClean="0">
                <a:solidFill>
                  <a:schemeClr val="tx1"/>
                </a:solidFill>
              </a:rPr>
              <a:t>Assume </a:t>
            </a:r>
            <a:r>
              <a:rPr lang="en-US" sz="2400" b="0" dirty="0" err="1">
                <a:solidFill>
                  <a:schemeClr val="tx1"/>
                </a:solidFill>
              </a:rPr>
              <a:t>nxn</a:t>
            </a:r>
            <a:r>
              <a:rPr lang="en-US" sz="2400" b="0" dirty="0">
                <a:solidFill>
                  <a:schemeClr val="tx1"/>
                </a:solidFill>
              </a:rPr>
              <a:t> matrices on P </a:t>
            </a:r>
            <a:r>
              <a:rPr lang="en-US" sz="2400" b="0" dirty="0" smtClean="0">
                <a:solidFill>
                  <a:schemeClr val="tx1"/>
                </a:solidFill>
              </a:rPr>
              <a:t>processors</a:t>
            </a:r>
            <a:r>
              <a:rPr lang="en-US" sz="2400" dirty="0" smtClean="0"/>
              <a:t> </a:t>
            </a:r>
            <a:endParaRPr lang="en-US" sz="2400" b="0" dirty="0" smtClean="0">
              <a:solidFill>
                <a:schemeClr val="tx1"/>
              </a:solidFill>
            </a:endParaRPr>
          </a:p>
          <a:p>
            <a:pPr algn="l">
              <a:buFont typeface="Arial" pitchFamily="34" charset="0"/>
              <a:buChar char="•"/>
            </a:pPr>
            <a:r>
              <a:rPr lang="en-US" sz="2400" dirty="0" smtClean="0"/>
              <a:t>  </a:t>
            </a:r>
            <a:r>
              <a:rPr lang="en-US" sz="2400" dirty="0" smtClean="0">
                <a:solidFill>
                  <a:srgbClr val="0824F2"/>
                </a:solidFill>
              </a:rPr>
              <a:t>Use c copies of data:</a:t>
            </a:r>
            <a:r>
              <a:rPr lang="en-US" sz="2400" b="0" dirty="0" smtClean="0">
                <a:solidFill>
                  <a:srgbClr val="0824F2"/>
                </a:solidFill>
              </a:rPr>
              <a:t>  M = O(cn</a:t>
            </a:r>
            <a:r>
              <a:rPr lang="en-US" sz="2400" b="0" baseline="30000" dirty="0" smtClean="0">
                <a:solidFill>
                  <a:srgbClr val="0824F2"/>
                </a:solidFill>
              </a:rPr>
              <a:t>2</a:t>
            </a:r>
            <a:r>
              <a:rPr lang="en-US" sz="2400" b="0" dirty="0" smtClean="0">
                <a:solidFill>
                  <a:srgbClr val="0824F2"/>
                </a:solidFill>
              </a:rPr>
              <a:t> </a:t>
            </a:r>
            <a:r>
              <a:rPr lang="en-US" sz="2400" b="0" dirty="0">
                <a:solidFill>
                  <a:srgbClr val="0824F2"/>
                </a:solidFill>
              </a:rPr>
              <a:t>/ P</a:t>
            </a:r>
            <a:r>
              <a:rPr lang="en-US" sz="2400" b="0" dirty="0" smtClean="0">
                <a:solidFill>
                  <a:srgbClr val="0824F2"/>
                </a:solidFill>
              </a:rPr>
              <a:t>) per processor</a:t>
            </a:r>
            <a:endParaRPr lang="en-US" sz="2400" b="0" dirty="0">
              <a:solidFill>
                <a:srgbClr val="0824F2"/>
              </a:solidFill>
            </a:endParaRPr>
          </a:p>
          <a:p>
            <a:pPr algn="l">
              <a:buFont typeface="Arial" pitchFamily="34" charset="0"/>
              <a:buChar char="•"/>
            </a:pPr>
            <a:r>
              <a:rPr lang="en-US" sz="2400" b="0" dirty="0">
                <a:solidFill>
                  <a:schemeClr val="tx1"/>
                </a:solidFill>
              </a:rPr>
              <a:t>  </a:t>
            </a:r>
            <a:r>
              <a:rPr lang="en-US" sz="2400" b="0" dirty="0" smtClean="0">
                <a:solidFill>
                  <a:srgbClr val="0824F2"/>
                </a:solidFill>
              </a:rPr>
              <a:t>Increasing M reduces </a:t>
            </a:r>
            <a:r>
              <a:rPr lang="en-US" sz="2400" b="0" dirty="0">
                <a:solidFill>
                  <a:srgbClr val="0824F2"/>
                </a:solidFill>
              </a:rPr>
              <a:t>lower bounds:</a:t>
            </a:r>
          </a:p>
          <a:p>
            <a:pPr lvl="1" algn="l"/>
            <a:r>
              <a:rPr lang="en-US" sz="2400" b="0" dirty="0" smtClean="0">
                <a:solidFill>
                  <a:schemeClr val="tx1"/>
                </a:solidFill>
              </a:rPr>
              <a:t>#</a:t>
            </a:r>
            <a:r>
              <a:rPr lang="en-US" sz="2400" b="0" dirty="0" err="1" smtClean="0">
                <a:solidFill>
                  <a:schemeClr val="tx1"/>
                </a:solidFill>
              </a:rPr>
              <a:t>words_moved</a:t>
            </a:r>
            <a:r>
              <a:rPr lang="en-US" sz="2400" b="0" dirty="0" smtClean="0">
                <a:solidFill>
                  <a:schemeClr val="tx1"/>
                </a:solidFill>
              </a:rPr>
              <a:t>    =   </a:t>
            </a:r>
            <a:r>
              <a:rPr lang="en-US" sz="2400" b="0" dirty="0" smtClean="0">
                <a:sym typeface="Symbol" pitchFamily="18" charset="2"/>
              </a:rPr>
              <a:t>( (n</a:t>
            </a:r>
            <a:r>
              <a:rPr lang="en-US" sz="2400" b="0" baseline="30000" dirty="0" smtClean="0">
                <a:sym typeface="Symbol" pitchFamily="18" charset="2"/>
              </a:rPr>
              <a:t>3</a:t>
            </a:r>
            <a:r>
              <a:rPr lang="en-US" sz="2400" b="0" dirty="0" smtClean="0">
                <a:sym typeface="Symbol" pitchFamily="18" charset="2"/>
              </a:rPr>
              <a:t>/ P)  / M</a:t>
            </a:r>
            <a:r>
              <a:rPr lang="en-US" sz="2400" b="0" baseline="30000" dirty="0" smtClean="0">
                <a:sym typeface="Symbol" pitchFamily="18" charset="2"/>
              </a:rPr>
              <a:t>1/2</a:t>
            </a:r>
            <a:r>
              <a:rPr lang="en-US" sz="2400" b="0" dirty="0" smtClean="0">
                <a:sym typeface="Symbol" pitchFamily="18" charset="2"/>
              </a:rPr>
              <a:t> )  =  </a:t>
            </a:r>
            <a:r>
              <a:rPr lang="en-US" sz="2400" b="0" dirty="0">
                <a:solidFill>
                  <a:schemeClr val="tx1"/>
                </a:solidFill>
                <a:sym typeface="Symbol" pitchFamily="18" charset="2"/>
              </a:rPr>
              <a:t>( n</a:t>
            </a:r>
            <a:r>
              <a:rPr lang="en-US" sz="2400" b="0" baseline="30000" dirty="0">
                <a:solidFill>
                  <a:schemeClr val="tx1"/>
                </a:solidFill>
                <a:sym typeface="Symbol" pitchFamily="18" charset="2"/>
              </a:rPr>
              <a:t>2</a:t>
            </a:r>
            <a:r>
              <a:rPr lang="en-US" sz="2400" b="0" dirty="0">
                <a:solidFill>
                  <a:schemeClr val="tx1"/>
                </a:solidFill>
                <a:sym typeface="Symbol" pitchFamily="18" charset="2"/>
              </a:rPr>
              <a:t> /  </a:t>
            </a:r>
            <a:r>
              <a:rPr lang="en-US" sz="2400" b="0" dirty="0" smtClean="0">
                <a:solidFill>
                  <a:schemeClr val="tx1"/>
                </a:solidFill>
                <a:sym typeface="Symbol" pitchFamily="18" charset="2"/>
              </a:rPr>
              <a:t>(</a:t>
            </a:r>
            <a:r>
              <a:rPr lang="en-US" sz="2400" b="0" dirty="0" smtClean="0">
                <a:solidFill>
                  <a:srgbClr val="0824F2"/>
                </a:solidFill>
                <a:sym typeface="Symbol" pitchFamily="18" charset="2"/>
              </a:rPr>
              <a:t>c</a:t>
            </a:r>
            <a:r>
              <a:rPr lang="en-US" sz="2400" b="0" baseline="30000" dirty="0" smtClean="0">
                <a:solidFill>
                  <a:srgbClr val="0824F2"/>
                </a:solidFill>
                <a:sym typeface="Symbol" pitchFamily="18" charset="2"/>
              </a:rPr>
              <a:t>1/2</a:t>
            </a:r>
            <a:r>
              <a:rPr lang="en-US" sz="2400" b="0" dirty="0" smtClean="0">
                <a:solidFill>
                  <a:schemeClr val="tx1"/>
                </a:solidFill>
                <a:sym typeface="Symbol" pitchFamily="18" charset="2"/>
              </a:rPr>
              <a:t> P</a:t>
            </a:r>
            <a:r>
              <a:rPr lang="en-US" sz="2400" b="0" baseline="30000" dirty="0" smtClean="0">
                <a:solidFill>
                  <a:schemeClr val="tx1"/>
                </a:solidFill>
                <a:sym typeface="Symbol" pitchFamily="18" charset="2"/>
              </a:rPr>
              <a:t>1</a:t>
            </a:r>
            <a:r>
              <a:rPr lang="en-US" sz="2400" b="0" baseline="30000" dirty="0">
                <a:solidFill>
                  <a:schemeClr val="tx1"/>
                </a:solidFill>
                <a:sym typeface="Symbol" pitchFamily="18" charset="2"/>
              </a:rPr>
              <a:t>/2</a:t>
            </a:r>
            <a:r>
              <a:rPr lang="en-US" sz="2400" b="0" dirty="0">
                <a:solidFill>
                  <a:schemeClr val="tx1"/>
                </a:solidFill>
                <a:sym typeface="Symbol" pitchFamily="18" charset="2"/>
              </a:rPr>
              <a:t> </a:t>
            </a:r>
            <a:r>
              <a:rPr lang="en-US" sz="2400" b="0" dirty="0" smtClean="0">
                <a:solidFill>
                  <a:schemeClr val="tx1"/>
                </a:solidFill>
                <a:sym typeface="Symbol" pitchFamily="18" charset="2"/>
              </a:rPr>
              <a:t>) )               </a:t>
            </a:r>
          </a:p>
          <a:p>
            <a:pPr lvl="1" algn="l"/>
            <a:r>
              <a:rPr lang="en-US" sz="2400" b="0" dirty="0" smtClean="0">
                <a:solidFill>
                  <a:schemeClr val="tx1"/>
                </a:solidFill>
                <a:sym typeface="Symbol" pitchFamily="18" charset="2"/>
              </a:rPr>
              <a:t>#</a:t>
            </a:r>
            <a:r>
              <a:rPr lang="en-US" sz="2400" b="0" dirty="0">
                <a:solidFill>
                  <a:schemeClr val="tx1"/>
                </a:solidFill>
                <a:sym typeface="Symbol" pitchFamily="18" charset="2"/>
              </a:rPr>
              <a:t>messages </a:t>
            </a:r>
            <a:r>
              <a:rPr lang="en-US" sz="2400" b="0" dirty="0" smtClean="0">
                <a:solidFill>
                  <a:schemeClr val="tx1"/>
                </a:solidFill>
                <a:sym typeface="Symbol" pitchFamily="18" charset="2"/>
              </a:rPr>
              <a:t>           </a:t>
            </a:r>
            <a:r>
              <a:rPr lang="en-US" sz="2400" b="0" dirty="0" smtClean="0"/>
              <a:t>=   </a:t>
            </a:r>
            <a:r>
              <a:rPr lang="en-US" sz="2400" b="0" dirty="0" smtClean="0">
                <a:sym typeface="Symbol" pitchFamily="18" charset="2"/>
              </a:rPr>
              <a:t>( (n</a:t>
            </a:r>
            <a:r>
              <a:rPr lang="en-US" sz="2400" b="0" baseline="30000" dirty="0" smtClean="0">
                <a:sym typeface="Symbol" pitchFamily="18" charset="2"/>
              </a:rPr>
              <a:t>3</a:t>
            </a:r>
            <a:r>
              <a:rPr lang="en-US" sz="2400" b="0" dirty="0" smtClean="0">
                <a:sym typeface="Symbol" pitchFamily="18" charset="2"/>
              </a:rPr>
              <a:t>/ P)  / M</a:t>
            </a:r>
            <a:r>
              <a:rPr lang="en-US" sz="2400" b="0" baseline="30000" dirty="0" smtClean="0">
                <a:sym typeface="Symbol" pitchFamily="18" charset="2"/>
              </a:rPr>
              <a:t>3/2</a:t>
            </a:r>
            <a:r>
              <a:rPr lang="en-US" sz="2400" b="0" dirty="0" smtClean="0">
                <a:sym typeface="Symbol" pitchFamily="18" charset="2"/>
              </a:rPr>
              <a:t> )  </a:t>
            </a:r>
            <a:r>
              <a:rPr lang="en-US" sz="2400" b="0" dirty="0" smtClean="0">
                <a:solidFill>
                  <a:schemeClr val="tx1"/>
                </a:solidFill>
                <a:sym typeface="Symbol" pitchFamily="18" charset="2"/>
              </a:rPr>
              <a:t>=  </a:t>
            </a:r>
            <a:r>
              <a:rPr lang="en-US" sz="2400" b="0" dirty="0">
                <a:solidFill>
                  <a:schemeClr val="tx1"/>
                </a:solidFill>
                <a:sym typeface="Symbol" pitchFamily="18" charset="2"/>
              </a:rPr>
              <a:t>( P</a:t>
            </a:r>
            <a:r>
              <a:rPr lang="en-US" sz="2400" b="0" baseline="30000" dirty="0">
                <a:solidFill>
                  <a:schemeClr val="tx1"/>
                </a:solidFill>
                <a:sym typeface="Symbol" pitchFamily="18" charset="2"/>
              </a:rPr>
              <a:t>1/2</a:t>
            </a:r>
            <a:r>
              <a:rPr lang="en-US" sz="2400" b="0" dirty="0">
                <a:solidFill>
                  <a:schemeClr val="tx1"/>
                </a:solidFill>
                <a:sym typeface="Symbol" pitchFamily="18" charset="2"/>
              </a:rPr>
              <a:t> </a:t>
            </a:r>
            <a:r>
              <a:rPr lang="en-US" sz="2400" b="0" dirty="0" smtClean="0">
                <a:solidFill>
                  <a:schemeClr val="tx1"/>
                </a:solidFill>
                <a:sym typeface="Symbol" pitchFamily="18" charset="2"/>
              </a:rPr>
              <a:t>/ </a:t>
            </a:r>
            <a:r>
              <a:rPr lang="en-US" sz="2400" b="0" dirty="0" smtClean="0">
                <a:solidFill>
                  <a:srgbClr val="0824F2"/>
                </a:solidFill>
                <a:sym typeface="Symbol" pitchFamily="18" charset="2"/>
              </a:rPr>
              <a:t>c</a:t>
            </a:r>
            <a:r>
              <a:rPr lang="en-US" sz="2400" b="0" baseline="30000" dirty="0" smtClean="0">
                <a:solidFill>
                  <a:srgbClr val="0824F2"/>
                </a:solidFill>
                <a:sym typeface="Symbol" pitchFamily="18" charset="2"/>
              </a:rPr>
              <a:t>3/2</a:t>
            </a:r>
            <a:r>
              <a:rPr lang="en-US" sz="2400" b="0" baseline="30000" dirty="0" smtClean="0">
                <a:solidFill>
                  <a:schemeClr val="tx1"/>
                </a:solidFill>
                <a:sym typeface="Symbol" pitchFamily="18" charset="2"/>
              </a:rPr>
              <a:t> </a:t>
            </a:r>
            <a:r>
              <a:rPr lang="en-US" sz="2400" b="0" dirty="0" smtClean="0">
                <a:solidFill>
                  <a:schemeClr val="tx1"/>
                </a:solidFill>
                <a:sym typeface="Symbol" pitchFamily="18" charset="2"/>
              </a:rPr>
              <a:t>)</a:t>
            </a:r>
            <a:endParaRPr lang="en-US" sz="2400" b="0" dirty="0">
              <a:solidFill>
                <a:schemeClr val="tx1"/>
              </a:solidFill>
            </a:endParaRPr>
          </a:p>
        </p:txBody>
      </p:sp>
      <p:graphicFrame>
        <p:nvGraphicFramePr>
          <p:cNvPr id="13" name="Table 12"/>
          <p:cNvGraphicFramePr>
            <a:graphicFrameLocks noGrp="1"/>
          </p:cNvGraphicFramePr>
          <p:nvPr>
            <p:extLst>
              <p:ext uri="{D42A27DB-BD31-4B8C-83A1-F6EECF244321}">
                <p14:modId xmlns:p14="http://schemas.microsoft.com/office/powerpoint/2010/main" val="3722292619"/>
              </p:ext>
            </p:extLst>
          </p:nvPr>
        </p:nvGraphicFramePr>
        <p:xfrm>
          <a:off x="304800" y="3200302"/>
          <a:ext cx="8381999" cy="3383280"/>
        </p:xfrm>
        <a:graphic>
          <a:graphicData uri="http://schemas.openxmlformats.org/drawingml/2006/table">
            <a:tbl>
              <a:tblPr firstRow="1" bandRow="1">
                <a:tableStyleId>{5C22544A-7EE6-4342-B048-85BDC9FD1C3A}</a:tableStyleId>
              </a:tblPr>
              <a:tblGrid>
                <a:gridCol w="1828800"/>
                <a:gridCol w="1905000"/>
                <a:gridCol w="1959633"/>
                <a:gridCol w="2688566"/>
              </a:tblGrid>
              <a:tr h="370840">
                <a:tc>
                  <a:txBody>
                    <a:bodyPr/>
                    <a:lstStyle/>
                    <a:p>
                      <a:r>
                        <a:rPr lang="en-US" sz="2000" dirty="0" smtClean="0">
                          <a:solidFill>
                            <a:schemeClr val="tx1"/>
                          </a:solidFill>
                          <a:latin typeface="Calibri"/>
                          <a:cs typeface="Calibri"/>
                        </a:rPr>
                        <a:t>Algorithm</a:t>
                      </a:r>
                      <a:endParaRPr lang="en-US" sz="2000" dirty="0">
                        <a:solidFill>
                          <a:schemeClr val="tx1"/>
                        </a:solidFill>
                        <a:latin typeface="Calibri"/>
                        <a:cs typeface="Calibri"/>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dirty="0" smtClean="0">
                          <a:solidFill>
                            <a:schemeClr val="tx1"/>
                          </a:solidFill>
                          <a:latin typeface="Calibri"/>
                          <a:cs typeface="Calibri"/>
                        </a:rPr>
                        <a:t>Reference</a:t>
                      </a:r>
                      <a:endParaRPr lang="en-US" sz="2000" dirty="0">
                        <a:latin typeface="Calibri"/>
                        <a:cs typeface="Calibri"/>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dirty="0" smtClean="0">
                          <a:solidFill>
                            <a:schemeClr val="tx1"/>
                          </a:solidFill>
                          <a:latin typeface="Calibri"/>
                          <a:cs typeface="Calibri"/>
                        </a:rPr>
                        <a:t>Factor exceeding lower bound for #</a:t>
                      </a:r>
                      <a:r>
                        <a:rPr lang="en-US" sz="2000" dirty="0" err="1" smtClean="0">
                          <a:solidFill>
                            <a:schemeClr val="tx1"/>
                          </a:solidFill>
                          <a:latin typeface="Calibri"/>
                          <a:cs typeface="Calibri"/>
                        </a:rPr>
                        <a:t>words_moved</a:t>
                      </a:r>
                      <a:endParaRPr lang="en-US" sz="2000" dirty="0">
                        <a:latin typeface="Calibri"/>
                        <a:cs typeface="Calibri"/>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dirty="0" smtClean="0">
                          <a:solidFill>
                            <a:schemeClr val="tx1"/>
                          </a:solidFill>
                          <a:latin typeface="Calibri"/>
                          <a:cs typeface="Calibri"/>
                        </a:rPr>
                        <a:t>Factor</a:t>
                      </a:r>
                      <a:r>
                        <a:rPr lang="en-US" sz="2000" baseline="0" dirty="0" smtClean="0">
                          <a:solidFill>
                            <a:schemeClr val="tx1"/>
                          </a:solidFill>
                          <a:latin typeface="Calibri"/>
                          <a:cs typeface="Calibri"/>
                        </a:rPr>
                        <a:t> exceeding lower bound for #messages</a:t>
                      </a:r>
                      <a:endParaRPr lang="en-US" sz="2000" dirty="0">
                        <a:latin typeface="Calibri"/>
                        <a:cs typeface="Calibri"/>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0840">
                <a:tc>
                  <a:txBody>
                    <a:bodyPr/>
                    <a:lstStyle/>
                    <a:p>
                      <a:r>
                        <a:rPr lang="en-US" sz="2000" b="1" dirty="0" smtClean="0">
                          <a:latin typeface="Calibri"/>
                          <a:cs typeface="Calibri"/>
                        </a:rPr>
                        <a:t>Matrix Multiply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b="1" dirty="0" smtClean="0">
                          <a:solidFill>
                            <a:srgbClr val="0824F2"/>
                          </a:solidFill>
                          <a:latin typeface="Calibri"/>
                          <a:cs typeface="Calibri"/>
                        </a:rPr>
                        <a:t>[DS11,SBD11]</a:t>
                      </a:r>
                      <a:endParaRPr lang="en-US" sz="2000" b="1" dirty="0">
                        <a:solidFill>
                          <a:srgbClr val="0824F2"/>
                        </a:solidFill>
                        <a:latin typeface="Calibri"/>
                        <a:cs typeface="Calibri"/>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b="1" dirty="0" err="1" smtClean="0">
                          <a:solidFill>
                            <a:srgbClr val="0824F2"/>
                          </a:solidFill>
                          <a:latin typeface="Calibri"/>
                          <a:cs typeface="Calibri"/>
                        </a:rPr>
                        <a:t>polylog</a:t>
                      </a:r>
                      <a:r>
                        <a:rPr lang="en-US" sz="2000" b="1" baseline="0" dirty="0" smtClean="0">
                          <a:solidFill>
                            <a:srgbClr val="0824F2"/>
                          </a:solidFill>
                          <a:latin typeface="Calibri"/>
                          <a:cs typeface="Calibri"/>
                        </a:rPr>
                        <a:t> P</a:t>
                      </a:r>
                      <a:endParaRPr lang="en-US" sz="2000" b="1" dirty="0">
                        <a:solidFill>
                          <a:srgbClr val="0824F2"/>
                        </a:solidFill>
                        <a:latin typeface="Calibri"/>
                        <a:cs typeface="Calibri"/>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b="1" dirty="0" err="1" smtClean="0">
                          <a:solidFill>
                            <a:srgbClr val="0824F2"/>
                          </a:solidFill>
                          <a:latin typeface="Calibri"/>
                          <a:cs typeface="Calibri"/>
                        </a:rPr>
                        <a:t>polylog</a:t>
                      </a:r>
                      <a:r>
                        <a:rPr lang="en-US" sz="2000" b="1" baseline="0" dirty="0" smtClean="0">
                          <a:solidFill>
                            <a:srgbClr val="0824F2"/>
                          </a:solidFill>
                          <a:latin typeface="Calibri"/>
                          <a:cs typeface="Calibri"/>
                        </a:rPr>
                        <a:t> P</a:t>
                      </a:r>
                      <a:endParaRPr lang="en-US" sz="2000" b="1" dirty="0">
                        <a:solidFill>
                          <a:srgbClr val="0824F2"/>
                        </a:solidFill>
                        <a:latin typeface="Calibri"/>
                        <a:cs typeface="Calibri"/>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0840">
                <a:tc>
                  <a:txBody>
                    <a:bodyPr/>
                    <a:lstStyle/>
                    <a:p>
                      <a:r>
                        <a:rPr lang="en-US" sz="2000" b="1" dirty="0" err="1" smtClean="0">
                          <a:latin typeface="Calibri"/>
                          <a:cs typeface="Calibri"/>
                        </a:rPr>
                        <a:t>Cholesky</a:t>
                      </a:r>
                      <a:endParaRPr lang="en-US" sz="2000" b="1" dirty="0">
                        <a:latin typeface="Calibri"/>
                        <a:cs typeface="Calibri"/>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b="1" dirty="0" smtClean="0">
                          <a:solidFill>
                            <a:srgbClr val="008000"/>
                          </a:solidFill>
                          <a:latin typeface="Calibri"/>
                          <a:cs typeface="Calibri"/>
                        </a:rPr>
                        <a:t>[SD11,</a:t>
                      </a:r>
                      <a:r>
                        <a:rPr lang="en-US" sz="2000" b="1" baseline="0" dirty="0" smtClean="0">
                          <a:solidFill>
                            <a:srgbClr val="008000"/>
                          </a:solidFill>
                          <a:latin typeface="Calibri"/>
                          <a:cs typeface="Calibri"/>
                        </a:rPr>
                        <a:t> in </a:t>
                      </a:r>
                      <a:r>
                        <a:rPr lang="en-US" sz="2000" b="1" baseline="0" dirty="0" err="1" smtClean="0">
                          <a:solidFill>
                            <a:srgbClr val="008000"/>
                          </a:solidFill>
                          <a:latin typeface="Calibri"/>
                          <a:cs typeface="Calibri"/>
                        </a:rPr>
                        <a:t>prog</a:t>
                      </a:r>
                      <a:r>
                        <a:rPr lang="en-US" sz="2000" b="1" baseline="0" dirty="0" smtClean="0">
                          <a:solidFill>
                            <a:srgbClr val="008000"/>
                          </a:solidFill>
                          <a:latin typeface="Calibri"/>
                          <a:cs typeface="Calibri"/>
                        </a:rPr>
                        <a:t>.]</a:t>
                      </a:r>
                      <a:endParaRPr lang="en-US" sz="2000" b="1" dirty="0">
                        <a:solidFill>
                          <a:srgbClr val="008000"/>
                        </a:solidFill>
                        <a:latin typeface="Calibri"/>
                        <a:cs typeface="Calibri"/>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b="1" dirty="0" err="1" smtClean="0">
                          <a:solidFill>
                            <a:srgbClr val="008000"/>
                          </a:solidFill>
                          <a:latin typeface="Calibri"/>
                          <a:cs typeface="Calibri"/>
                        </a:rPr>
                        <a:t>polylog</a:t>
                      </a:r>
                      <a:r>
                        <a:rPr lang="en-US" sz="2000" b="1" dirty="0" smtClean="0">
                          <a:solidFill>
                            <a:srgbClr val="008000"/>
                          </a:solidFill>
                          <a:latin typeface="Calibri"/>
                          <a:cs typeface="Calibri"/>
                        </a:rPr>
                        <a:t> P</a:t>
                      </a:r>
                      <a:endParaRPr lang="en-US" sz="2000" b="1" dirty="0">
                        <a:solidFill>
                          <a:srgbClr val="008000"/>
                        </a:solidFill>
                        <a:latin typeface="Calibri"/>
                        <a:cs typeface="Calibri"/>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b="1" dirty="0" smtClean="0">
                          <a:solidFill>
                            <a:srgbClr val="008000"/>
                          </a:solidFill>
                          <a:latin typeface="+mn-lt"/>
                          <a:cs typeface="Calibri"/>
                        </a:rPr>
                        <a:t>c</a:t>
                      </a:r>
                      <a:r>
                        <a:rPr lang="en-US" sz="2400" b="1" baseline="30000" dirty="0" smtClean="0">
                          <a:solidFill>
                            <a:srgbClr val="008000"/>
                          </a:solidFill>
                          <a:latin typeface="+mn-lt"/>
                          <a:cs typeface="Calibri"/>
                        </a:rPr>
                        <a:t>2</a:t>
                      </a:r>
                      <a:r>
                        <a:rPr lang="en-US" sz="2000" b="1" dirty="0" smtClean="0">
                          <a:solidFill>
                            <a:srgbClr val="008000"/>
                          </a:solidFill>
                          <a:latin typeface="+mn-lt"/>
                          <a:cs typeface="Calibri"/>
                        </a:rPr>
                        <a:t> </a:t>
                      </a:r>
                      <a:r>
                        <a:rPr lang="en-US" sz="2000" b="1" dirty="0" err="1" smtClean="0">
                          <a:solidFill>
                            <a:srgbClr val="008000"/>
                          </a:solidFill>
                          <a:latin typeface="+mn-lt"/>
                          <a:cs typeface="Calibri"/>
                        </a:rPr>
                        <a:t>polylog</a:t>
                      </a:r>
                      <a:r>
                        <a:rPr lang="en-US" sz="2000" b="1" dirty="0" smtClean="0">
                          <a:solidFill>
                            <a:srgbClr val="008000"/>
                          </a:solidFill>
                          <a:latin typeface="+mn-lt"/>
                          <a:cs typeface="Calibri"/>
                        </a:rPr>
                        <a:t> P – optimal!</a:t>
                      </a:r>
                      <a:endParaRPr lang="en-US" sz="2000" b="1" baseline="30000" dirty="0" smtClean="0">
                        <a:solidFill>
                          <a:srgbClr val="008000"/>
                        </a:solidFill>
                        <a:latin typeface="+mn-lt"/>
                        <a:cs typeface="Calibri"/>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0840">
                <a:tc>
                  <a:txBody>
                    <a:bodyPr/>
                    <a:lstStyle/>
                    <a:p>
                      <a:r>
                        <a:rPr lang="en-US" sz="2000" b="1" dirty="0" smtClean="0">
                          <a:latin typeface="Calibri"/>
                          <a:cs typeface="Calibri"/>
                        </a:rPr>
                        <a:t>LU</a:t>
                      </a:r>
                      <a:endParaRPr lang="en-US" sz="2000" b="1" dirty="0">
                        <a:latin typeface="Calibri"/>
                        <a:cs typeface="Calibri"/>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b="1" dirty="0" smtClean="0">
                          <a:solidFill>
                            <a:srgbClr val="0824F2"/>
                          </a:solidFill>
                          <a:latin typeface="Calibri"/>
                          <a:cs typeface="Calibri"/>
                        </a:rPr>
                        <a:t>[DS11,SBD11]</a:t>
                      </a:r>
                      <a:endParaRPr lang="en-US" sz="2000" b="1" dirty="0">
                        <a:solidFill>
                          <a:srgbClr val="0824F2"/>
                        </a:solidFill>
                        <a:latin typeface="Calibri"/>
                        <a:cs typeface="Calibri"/>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b="1" dirty="0" err="1" smtClean="0">
                          <a:solidFill>
                            <a:srgbClr val="0824F2"/>
                          </a:solidFill>
                          <a:latin typeface="Calibri"/>
                          <a:cs typeface="Calibri"/>
                        </a:rPr>
                        <a:t>polylog</a:t>
                      </a:r>
                      <a:r>
                        <a:rPr lang="en-US" sz="2000" b="1" baseline="0" dirty="0" smtClean="0">
                          <a:solidFill>
                            <a:srgbClr val="0824F2"/>
                          </a:solidFill>
                          <a:latin typeface="Calibri"/>
                          <a:cs typeface="Calibri"/>
                        </a:rPr>
                        <a:t> P</a:t>
                      </a:r>
                      <a:endParaRPr lang="en-US" sz="2000" b="1" dirty="0">
                        <a:solidFill>
                          <a:srgbClr val="0824F2"/>
                        </a:solidFill>
                        <a:latin typeface="Calibri"/>
                        <a:cs typeface="Calibri"/>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b="1" dirty="0" smtClean="0">
                          <a:solidFill>
                            <a:srgbClr val="0824F2"/>
                          </a:solidFill>
                          <a:latin typeface="Calibri"/>
                          <a:cs typeface="Calibri"/>
                        </a:rPr>
                        <a:t>c</a:t>
                      </a:r>
                      <a:r>
                        <a:rPr lang="en-US" sz="2400" b="1" baseline="30000" dirty="0" smtClean="0">
                          <a:solidFill>
                            <a:srgbClr val="0824F2"/>
                          </a:solidFill>
                          <a:latin typeface="Calibri"/>
                          <a:cs typeface="Calibri"/>
                        </a:rPr>
                        <a:t>2</a:t>
                      </a:r>
                      <a:r>
                        <a:rPr lang="en-US" sz="2000" b="1" dirty="0" smtClean="0">
                          <a:solidFill>
                            <a:srgbClr val="0824F2"/>
                          </a:solidFill>
                          <a:latin typeface="Calibri"/>
                          <a:cs typeface="Calibri"/>
                        </a:rPr>
                        <a:t> </a:t>
                      </a:r>
                      <a:r>
                        <a:rPr lang="en-US" sz="2000" b="1" dirty="0" err="1" smtClean="0">
                          <a:solidFill>
                            <a:srgbClr val="0824F2"/>
                          </a:solidFill>
                          <a:latin typeface="Calibri"/>
                          <a:cs typeface="Calibri"/>
                        </a:rPr>
                        <a:t>polylog</a:t>
                      </a:r>
                      <a:r>
                        <a:rPr lang="en-US" sz="2000" b="1" dirty="0" smtClean="0">
                          <a:solidFill>
                            <a:srgbClr val="0824F2"/>
                          </a:solidFill>
                          <a:latin typeface="Calibri"/>
                          <a:cs typeface="Calibri"/>
                        </a:rPr>
                        <a:t> P – optimal!</a:t>
                      </a:r>
                      <a:endParaRPr lang="en-US" sz="2000" b="1" baseline="30000" dirty="0">
                        <a:solidFill>
                          <a:srgbClr val="0824F2"/>
                        </a:solidFill>
                        <a:latin typeface="Calibri"/>
                        <a:cs typeface="Calibri"/>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0840">
                <a:tc>
                  <a:txBody>
                    <a:bodyPr/>
                    <a:lstStyle/>
                    <a:p>
                      <a:r>
                        <a:rPr lang="en-US" sz="2000" b="1" dirty="0" smtClean="0">
                          <a:latin typeface="Calibri"/>
                          <a:cs typeface="Calibri"/>
                        </a:rPr>
                        <a:t>QR</a:t>
                      </a:r>
                      <a:endParaRPr lang="en-US" sz="2000" b="1" dirty="0">
                        <a:latin typeface="Calibri"/>
                        <a:cs typeface="Calibri"/>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b="1" dirty="0" smtClean="0">
                          <a:solidFill>
                            <a:srgbClr val="FF0000"/>
                          </a:solidFill>
                          <a:latin typeface="Calibri"/>
                          <a:cs typeface="Calibri"/>
                        </a:rPr>
                        <a:t>Via</a:t>
                      </a:r>
                      <a:r>
                        <a:rPr lang="en-US" sz="2000" b="1" baseline="0" dirty="0" smtClean="0">
                          <a:solidFill>
                            <a:srgbClr val="FF0000"/>
                          </a:solidFill>
                          <a:latin typeface="Calibri"/>
                          <a:cs typeface="Calibri"/>
                        </a:rPr>
                        <a:t> </a:t>
                      </a:r>
                      <a:r>
                        <a:rPr lang="en-US" sz="2000" b="1" baseline="0" dirty="0" err="1" smtClean="0">
                          <a:solidFill>
                            <a:srgbClr val="FF0000"/>
                          </a:solidFill>
                          <a:latin typeface="Calibri"/>
                          <a:cs typeface="Calibri"/>
                        </a:rPr>
                        <a:t>Cholesky</a:t>
                      </a:r>
                      <a:r>
                        <a:rPr lang="en-US" sz="2000" b="1" baseline="0" dirty="0" smtClean="0">
                          <a:solidFill>
                            <a:srgbClr val="FF0000"/>
                          </a:solidFill>
                          <a:latin typeface="Calibri"/>
                          <a:cs typeface="Calibri"/>
                        </a:rPr>
                        <a:t> QR</a:t>
                      </a:r>
                      <a:endParaRPr lang="en-US" sz="2000" b="1" dirty="0">
                        <a:solidFill>
                          <a:srgbClr val="FF0000"/>
                        </a:solidFill>
                        <a:latin typeface="Calibri"/>
                        <a:cs typeface="Calibri"/>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b="1" dirty="0" err="1" smtClean="0">
                          <a:solidFill>
                            <a:srgbClr val="008000"/>
                          </a:solidFill>
                          <a:latin typeface="+mn-lt"/>
                          <a:cs typeface="Calibri"/>
                        </a:rPr>
                        <a:t>polylog</a:t>
                      </a:r>
                      <a:r>
                        <a:rPr lang="en-US" sz="2000" b="1" dirty="0" smtClean="0">
                          <a:solidFill>
                            <a:srgbClr val="008000"/>
                          </a:solidFill>
                          <a:latin typeface="+mn-lt"/>
                          <a:cs typeface="Calibri"/>
                        </a:rPr>
                        <a:t> 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b="1" dirty="0" smtClean="0">
                          <a:solidFill>
                            <a:srgbClr val="008000"/>
                          </a:solidFill>
                          <a:latin typeface="+mn-lt"/>
                          <a:cs typeface="Calibri"/>
                        </a:rPr>
                        <a:t>c</a:t>
                      </a:r>
                      <a:r>
                        <a:rPr lang="en-US" sz="2400" b="1" baseline="30000" dirty="0" smtClean="0">
                          <a:solidFill>
                            <a:srgbClr val="008000"/>
                          </a:solidFill>
                          <a:latin typeface="+mn-lt"/>
                          <a:cs typeface="Calibri"/>
                        </a:rPr>
                        <a:t>2</a:t>
                      </a:r>
                      <a:r>
                        <a:rPr lang="en-US" sz="2000" b="1" dirty="0" smtClean="0">
                          <a:solidFill>
                            <a:srgbClr val="008000"/>
                          </a:solidFill>
                          <a:latin typeface="+mn-lt"/>
                          <a:cs typeface="Calibri"/>
                        </a:rPr>
                        <a:t> </a:t>
                      </a:r>
                      <a:r>
                        <a:rPr lang="en-US" sz="2000" b="1" dirty="0" err="1" smtClean="0">
                          <a:solidFill>
                            <a:srgbClr val="008000"/>
                          </a:solidFill>
                          <a:latin typeface="+mn-lt"/>
                          <a:cs typeface="Calibri"/>
                        </a:rPr>
                        <a:t>polylog</a:t>
                      </a:r>
                      <a:r>
                        <a:rPr lang="en-US" sz="2000" b="1" dirty="0" smtClean="0">
                          <a:solidFill>
                            <a:srgbClr val="008000"/>
                          </a:solidFill>
                          <a:latin typeface="+mn-lt"/>
                          <a:cs typeface="Calibri"/>
                        </a:rPr>
                        <a:t> P – optimal!</a:t>
                      </a:r>
                      <a:endParaRPr lang="en-US" sz="2000" b="1" baseline="30000" dirty="0" smtClean="0">
                        <a:solidFill>
                          <a:srgbClr val="008000"/>
                        </a:solidFill>
                        <a:latin typeface="+mn-lt"/>
                        <a:cs typeface="Calibri"/>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0840">
                <a:tc>
                  <a:txBody>
                    <a:bodyPr/>
                    <a:lstStyle/>
                    <a:p>
                      <a:r>
                        <a:rPr lang="en-US" sz="2000" b="1" dirty="0" smtClean="0">
                          <a:latin typeface="Calibri"/>
                          <a:cs typeface="Calibri"/>
                        </a:rPr>
                        <a:t>Sym </a:t>
                      </a:r>
                      <a:r>
                        <a:rPr lang="en-US" sz="2000" b="1" dirty="0" err="1" smtClean="0">
                          <a:latin typeface="Calibri"/>
                          <a:cs typeface="Calibri"/>
                        </a:rPr>
                        <a:t>Eig</a:t>
                      </a:r>
                      <a:r>
                        <a:rPr lang="en-US" sz="2000" b="1" dirty="0" smtClean="0">
                          <a:latin typeface="Calibri"/>
                          <a:cs typeface="Calibri"/>
                        </a:rPr>
                        <a:t>, SVD</a:t>
                      </a:r>
                      <a:endParaRPr lang="en-US" sz="2000" b="1" dirty="0">
                        <a:latin typeface="Calibri"/>
                        <a:cs typeface="Calibri"/>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b="1" dirty="0" smtClean="0">
                          <a:solidFill>
                            <a:srgbClr val="FF0000"/>
                          </a:solidFill>
                          <a:latin typeface="Calibri"/>
                          <a:cs typeface="Calibri"/>
                        </a:rPr>
                        <a:t>?</a:t>
                      </a:r>
                      <a:endParaRPr lang="en-US" sz="2000" b="1" dirty="0">
                        <a:solidFill>
                          <a:srgbClr val="FF0000"/>
                        </a:solidFill>
                        <a:latin typeface="Calibri"/>
                        <a:cs typeface="Calibri"/>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000" b="1" dirty="0">
                        <a:latin typeface="Calibri"/>
                        <a:cs typeface="Calibri"/>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2000" b="1" baseline="30000" dirty="0" smtClean="0">
                        <a:solidFill>
                          <a:srgbClr val="0824F2"/>
                        </a:solidFill>
                        <a:latin typeface="Calibri"/>
                        <a:cs typeface="Calibri"/>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0840">
                <a:tc>
                  <a:txBody>
                    <a:bodyPr/>
                    <a:lstStyle/>
                    <a:p>
                      <a:r>
                        <a:rPr lang="en-US" sz="2000" b="1" dirty="0" err="1" smtClean="0">
                          <a:latin typeface="Calibri"/>
                          <a:cs typeface="Calibri"/>
                        </a:rPr>
                        <a:t>Nonsym</a:t>
                      </a:r>
                      <a:r>
                        <a:rPr lang="en-US" sz="2000" b="1" dirty="0" smtClean="0">
                          <a:latin typeface="Calibri"/>
                          <a:cs typeface="Calibri"/>
                        </a:rPr>
                        <a:t> </a:t>
                      </a:r>
                      <a:r>
                        <a:rPr lang="en-US" sz="2000" b="1" dirty="0" err="1" smtClean="0">
                          <a:latin typeface="Calibri"/>
                          <a:cs typeface="Calibri"/>
                        </a:rPr>
                        <a:t>Eig</a:t>
                      </a:r>
                      <a:endParaRPr lang="en-US" sz="2000" b="1" dirty="0">
                        <a:latin typeface="Calibri"/>
                        <a:cs typeface="Calibri"/>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b="1" dirty="0" smtClean="0">
                          <a:solidFill>
                            <a:srgbClr val="FF0000"/>
                          </a:solidFill>
                          <a:latin typeface="Calibri"/>
                          <a:cs typeface="Calibri"/>
                        </a:rPr>
                        <a:t>?</a:t>
                      </a:r>
                      <a:endParaRPr lang="en-US" sz="2000" b="1" dirty="0">
                        <a:solidFill>
                          <a:srgbClr val="FF0000"/>
                        </a:solidFill>
                        <a:latin typeface="Calibri"/>
                        <a:cs typeface="Calibri"/>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000" b="1" dirty="0">
                        <a:solidFill>
                          <a:srgbClr val="0824F2"/>
                        </a:solidFill>
                        <a:latin typeface="Calibri"/>
                        <a:cs typeface="Calibri"/>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2000" b="1" baseline="30000" dirty="0" smtClean="0">
                        <a:solidFill>
                          <a:srgbClr val="0824F2"/>
                        </a:solidFill>
                        <a:latin typeface="Calibri"/>
                        <a:cs typeface="Calibri"/>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p:cxnSp>
        <p:nvCxnSpPr>
          <p:cNvPr id="14" name="Straight Connector 13"/>
          <p:cNvCxnSpPr/>
          <p:nvPr/>
        </p:nvCxnSpPr>
        <p:spPr>
          <a:xfrm>
            <a:off x="381000" y="990600"/>
            <a:ext cx="83058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2130429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xmlns:p14="http://schemas.microsoft.com/office/powerpoint/2010/mai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Symmetric Band Reduction</a:t>
            </a:r>
            <a:endParaRPr lang="en-US" dirty="0"/>
          </a:p>
        </p:txBody>
      </p:sp>
      <p:sp>
        <p:nvSpPr>
          <p:cNvPr id="3" name="Content Placeholder 2"/>
          <p:cNvSpPr>
            <a:spLocks noGrp="1"/>
          </p:cNvSpPr>
          <p:nvPr>
            <p:ph idx="1"/>
          </p:nvPr>
        </p:nvSpPr>
        <p:spPr>
          <a:xfrm>
            <a:off x="457200" y="1600200"/>
            <a:ext cx="8382000" cy="4876800"/>
          </a:xfrm>
        </p:spPr>
        <p:txBody>
          <a:bodyPr>
            <a:normAutofit fontScale="85000" lnSpcReduction="10000"/>
          </a:bodyPr>
          <a:lstStyle/>
          <a:p>
            <a:r>
              <a:rPr lang="en-US" dirty="0" smtClean="0"/>
              <a:t>Grey Ballard and Nick Knight</a:t>
            </a:r>
          </a:p>
          <a:p>
            <a:r>
              <a:rPr lang="en-US" dirty="0" smtClean="0"/>
              <a:t>A  </a:t>
            </a:r>
            <a:r>
              <a:rPr lang="en-US" dirty="0" smtClean="0">
                <a:sym typeface="Symbol"/>
              </a:rPr>
              <a:t> QAQ</a:t>
            </a:r>
            <a:r>
              <a:rPr lang="en-US" baseline="30000" dirty="0" smtClean="0">
                <a:sym typeface="Symbol"/>
              </a:rPr>
              <a:t>T </a:t>
            </a:r>
            <a:r>
              <a:rPr lang="en-US" dirty="0" smtClean="0">
                <a:sym typeface="Symbol"/>
              </a:rPr>
              <a:t>= T,  where </a:t>
            </a:r>
          </a:p>
          <a:p>
            <a:pPr lvl="1"/>
            <a:r>
              <a:rPr lang="en-US" dirty="0" smtClean="0">
                <a:sym typeface="Symbol"/>
              </a:rPr>
              <a:t>A=A</a:t>
            </a:r>
            <a:r>
              <a:rPr lang="en-US" baseline="30000" dirty="0" smtClean="0">
                <a:sym typeface="Symbol"/>
              </a:rPr>
              <a:t>T</a:t>
            </a:r>
            <a:r>
              <a:rPr lang="en-US" dirty="0" smtClean="0">
                <a:sym typeface="Symbol"/>
              </a:rPr>
              <a:t> is banded</a:t>
            </a:r>
          </a:p>
          <a:p>
            <a:pPr lvl="1"/>
            <a:r>
              <a:rPr lang="en-US" dirty="0" smtClean="0">
                <a:sym typeface="Symbol"/>
              </a:rPr>
              <a:t>T </a:t>
            </a:r>
            <a:r>
              <a:rPr lang="en-US" dirty="0" err="1" smtClean="0">
                <a:sym typeface="Symbol"/>
              </a:rPr>
              <a:t>tridiagonal</a:t>
            </a:r>
            <a:endParaRPr lang="en-US" dirty="0" smtClean="0">
              <a:sym typeface="Symbol"/>
            </a:endParaRPr>
          </a:p>
          <a:p>
            <a:pPr lvl="1"/>
            <a:r>
              <a:rPr lang="en-US" dirty="0" smtClean="0">
                <a:sym typeface="Symbol"/>
              </a:rPr>
              <a:t>Similar idea for SVD of a band matrix</a:t>
            </a:r>
          </a:p>
          <a:p>
            <a:r>
              <a:rPr lang="en-US" dirty="0" smtClean="0">
                <a:sym typeface="Symbol"/>
              </a:rPr>
              <a:t>Use alone, or as second phase when A is dense:</a:t>
            </a:r>
          </a:p>
          <a:p>
            <a:pPr lvl="1"/>
            <a:r>
              <a:rPr lang="en-US" dirty="0" smtClean="0">
                <a:sym typeface="Symbol"/>
              </a:rPr>
              <a:t>Dense  Banded  </a:t>
            </a:r>
            <a:r>
              <a:rPr lang="en-US" dirty="0" err="1" smtClean="0">
                <a:sym typeface="Symbol"/>
              </a:rPr>
              <a:t>Tridiagonal</a:t>
            </a:r>
            <a:endParaRPr lang="en-US" dirty="0" smtClean="0">
              <a:sym typeface="Symbol"/>
            </a:endParaRPr>
          </a:p>
          <a:p>
            <a:r>
              <a:rPr lang="en-US" dirty="0" smtClean="0">
                <a:sym typeface="Symbol"/>
              </a:rPr>
              <a:t>Implemented in LAPACK’s </a:t>
            </a:r>
            <a:r>
              <a:rPr lang="en-US" dirty="0" err="1" smtClean="0">
                <a:sym typeface="Symbol"/>
              </a:rPr>
              <a:t>sytrd</a:t>
            </a:r>
            <a:endParaRPr lang="en-US" dirty="0" smtClean="0">
              <a:sym typeface="Symbol"/>
            </a:endParaRPr>
          </a:p>
          <a:p>
            <a:r>
              <a:rPr lang="en-US" dirty="0" smtClean="0">
                <a:sym typeface="Symbol"/>
              </a:rPr>
              <a:t>Algorithm does not satisfy communication lower bound theorem for applying orthogonal transformations</a:t>
            </a:r>
          </a:p>
          <a:p>
            <a:pPr lvl="1"/>
            <a:r>
              <a:rPr lang="en-US" dirty="0" smtClean="0">
                <a:sym typeface="Symbol"/>
              </a:rPr>
              <a:t>It can communicate even less!</a:t>
            </a:r>
            <a:endParaRPr lang="en-US" dirty="0"/>
          </a:p>
        </p:txBody>
      </p:sp>
    </p:spTree>
    <p:extLst>
      <p:ext uri="{BB962C8B-B14F-4D97-AF65-F5344CB8AC3E}">
        <p14:creationId xmlns:p14="http://schemas.microsoft.com/office/powerpoint/2010/main" val="2688998623"/>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8" end="8"/>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p:cNvCxnSpPr/>
          <p:nvPr/>
        </p:nvCxnSpPr>
        <p:spPr>
          <a:xfrm>
            <a:off x="1295400" y="1600200"/>
            <a:ext cx="9144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rot="16200000" flipH="1">
            <a:off x="2209800" y="1600200"/>
            <a:ext cx="3657600" cy="36576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rot="5400000">
            <a:off x="5410200" y="5715000"/>
            <a:ext cx="9144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rot="10800000">
            <a:off x="4953000" y="6172200"/>
            <a:ext cx="9144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rot="16200000" flipV="1">
            <a:off x="1295400" y="2514600"/>
            <a:ext cx="3657600" cy="36576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rot="5400000" flipH="1" flipV="1">
            <a:off x="1295400" y="2514600"/>
            <a:ext cx="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1295400" y="2514600"/>
            <a:ext cx="914400" cy="9144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rot="5400000">
            <a:off x="838200" y="2057400"/>
            <a:ext cx="9144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2" name="Straight Arrow Connector 211"/>
          <p:cNvCxnSpPr/>
          <p:nvPr/>
        </p:nvCxnSpPr>
        <p:spPr>
          <a:xfrm>
            <a:off x="1295400" y="1143000"/>
            <a:ext cx="914400" cy="1588"/>
          </a:xfrm>
          <a:prstGeom prst="straightConnector1">
            <a:avLst/>
          </a:prstGeom>
          <a:ln>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1211" name="TextBox 212"/>
          <p:cNvSpPr txBox="1">
            <a:spLocks noChangeArrowheads="1"/>
          </p:cNvSpPr>
          <p:nvPr/>
        </p:nvSpPr>
        <p:spPr bwMode="auto">
          <a:xfrm>
            <a:off x="1524000" y="914400"/>
            <a:ext cx="454025" cy="276225"/>
          </a:xfrm>
          <a:prstGeom prst="rect">
            <a:avLst/>
          </a:prstGeom>
          <a:noFill/>
          <a:ln w="9525">
            <a:noFill/>
            <a:miter lim="800000"/>
            <a:headEnd/>
            <a:tailEnd/>
          </a:ln>
        </p:spPr>
        <p:txBody>
          <a:bodyPr wrap="none">
            <a:spAutoFit/>
          </a:bodyPr>
          <a:lstStyle/>
          <a:p>
            <a:r>
              <a:rPr lang="en-US" sz="1200">
                <a:latin typeface="Calibri" pitchFamily="34" charset="0"/>
              </a:rPr>
              <a:t>b+1</a:t>
            </a:r>
          </a:p>
        </p:txBody>
      </p:sp>
      <p:cxnSp>
        <p:nvCxnSpPr>
          <p:cNvPr id="215" name="Straight Arrow Connector 214"/>
          <p:cNvCxnSpPr/>
          <p:nvPr/>
        </p:nvCxnSpPr>
        <p:spPr>
          <a:xfrm rot="5400000">
            <a:off x="229394" y="2056606"/>
            <a:ext cx="914400" cy="1588"/>
          </a:xfrm>
          <a:prstGeom prst="straightConnector1">
            <a:avLst/>
          </a:prstGeom>
          <a:ln>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1213" name="TextBox 215"/>
          <p:cNvSpPr txBox="1">
            <a:spLocks noChangeArrowheads="1"/>
          </p:cNvSpPr>
          <p:nvPr/>
        </p:nvSpPr>
        <p:spPr bwMode="auto">
          <a:xfrm rot="-5400000">
            <a:off x="368300" y="1905000"/>
            <a:ext cx="454025" cy="276225"/>
          </a:xfrm>
          <a:prstGeom prst="rect">
            <a:avLst/>
          </a:prstGeom>
          <a:noFill/>
          <a:ln w="9525">
            <a:noFill/>
            <a:miter lim="800000"/>
            <a:headEnd/>
            <a:tailEnd/>
          </a:ln>
        </p:spPr>
        <p:txBody>
          <a:bodyPr wrap="none">
            <a:spAutoFit/>
          </a:bodyPr>
          <a:lstStyle/>
          <a:p>
            <a:r>
              <a:rPr lang="en-US" sz="1200">
                <a:latin typeface="Calibri" pitchFamily="34" charset="0"/>
              </a:rPr>
              <a:t>b+1</a:t>
            </a:r>
          </a:p>
        </p:txBody>
      </p:sp>
      <p:sp>
        <p:nvSpPr>
          <p:cNvPr id="51214" name="TextBox 105"/>
          <p:cNvSpPr txBox="1">
            <a:spLocks noChangeArrowheads="1"/>
          </p:cNvSpPr>
          <p:nvPr/>
        </p:nvSpPr>
        <p:spPr bwMode="auto">
          <a:xfrm>
            <a:off x="811213" y="171450"/>
            <a:ext cx="7512050" cy="585788"/>
          </a:xfrm>
          <a:prstGeom prst="rect">
            <a:avLst/>
          </a:prstGeom>
          <a:noFill/>
          <a:ln w="9525">
            <a:noFill/>
            <a:miter lim="800000"/>
            <a:headEnd/>
            <a:tailEnd/>
          </a:ln>
        </p:spPr>
        <p:txBody>
          <a:bodyPr>
            <a:spAutoFit/>
          </a:bodyPr>
          <a:lstStyle/>
          <a:p>
            <a:pPr algn="ctr"/>
            <a:r>
              <a:rPr lang="en-US" sz="3200" dirty="0" smtClean="0">
                <a:solidFill>
                  <a:schemeClr val="tx1"/>
                </a:solidFill>
                <a:latin typeface="Calibri" pitchFamily="34" charset="0"/>
              </a:rPr>
              <a:t>Successive </a:t>
            </a:r>
            <a:r>
              <a:rPr lang="en-US" sz="3200" dirty="0">
                <a:solidFill>
                  <a:schemeClr val="tx1"/>
                </a:solidFill>
                <a:latin typeface="Calibri" pitchFamily="34" charset="0"/>
              </a:rPr>
              <a:t>Band Reduction</a:t>
            </a:r>
          </a:p>
        </p:txBody>
      </p:sp>
    </p:spTree>
    <p:extLst>
      <p:ext uri="{BB962C8B-B14F-4D97-AF65-F5344CB8AC3E}">
        <p14:creationId xmlns:p14="http://schemas.microsoft.com/office/powerpoint/2010/main" val="309789247"/>
      </p:ext>
    </p:extLst>
  </p:cSld>
  <p:clrMapOvr>
    <a:masterClrMapping/>
  </p:clrMapOvr>
  <p:timing>
    <p:tnLst>
      <p:par>
        <p:cTn xmlns:p14="http://schemas.microsoft.com/office/powerpoint/2010/mai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p:cNvCxnSpPr/>
          <p:nvPr/>
        </p:nvCxnSpPr>
        <p:spPr>
          <a:xfrm>
            <a:off x="1295400" y="1600200"/>
            <a:ext cx="9144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rot="16200000" flipH="1">
            <a:off x="2209800" y="1600200"/>
            <a:ext cx="3657600" cy="36576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rot="5400000">
            <a:off x="5410200" y="5715000"/>
            <a:ext cx="9144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rot="10800000">
            <a:off x="4953000" y="6172200"/>
            <a:ext cx="9144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rot="16200000" flipV="1">
            <a:off x="1295400" y="2514600"/>
            <a:ext cx="3657600" cy="36576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rot="5400000" flipH="1" flipV="1">
            <a:off x="1295400" y="2514600"/>
            <a:ext cx="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1295400" y="2514600"/>
            <a:ext cx="914400" cy="9144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rot="5400000">
            <a:off x="838200" y="2057400"/>
            <a:ext cx="9144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rot="16200000" flipH="1">
            <a:off x="1295400" y="2286000"/>
            <a:ext cx="152400" cy="15240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rot="5400000">
            <a:off x="1333500" y="2552700"/>
            <a:ext cx="228600" cy="0"/>
          </a:xfrm>
          <a:prstGeom prst="line">
            <a:avLst/>
          </a:prstGeom>
          <a:ln>
            <a:solidFill>
              <a:schemeClr val="accent1"/>
            </a:solidFill>
            <a:prstDash val="dash"/>
          </a:ln>
        </p:spPr>
        <p:style>
          <a:lnRef idx="1">
            <a:schemeClr val="accent1"/>
          </a:lnRef>
          <a:fillRef idx="0">
            <a:schemeClr val="accent1"/>
          </a:fillRef>
          <a:effectRef idx="0">
            <a:schemeClr val="accent1"/>
          </a:effectRef>
          <a:fontRef idx="minor">
            <a:schemeClr val="tx1"/>
          </a:fontRef>
        </p:style>
      </p:cxnSp>
      <p:sp>
        <p:nvSpPr>
          <p:cNvPr id="52236" name="TextBox 183"/>
          <p:cNvSpPr txBox="1">
            <a:spLocks noChangeArrowheads="1"/>
          </p:cNvSpPr>
          <p:nvPr/>
        </p:nvSpPr>
        <p:spPr bwMode="auto">
          <a:xfrm>
            <a:off x="1295400" y="2362200"/>
            <a:ext cx="76200" cy="230188"/>
          </a:xfrm>
          <a:prstGeom prst="rect">
            <a:avLst/>
          </a:prstGeom>
          <a:noFill/>
          <a:ln w="9525">
            <a:noFill/>
            <a:miter lim="800000"/>
            <a:headEnd/>
            <a:tailEnd/>
          </a:ln>
        </p:spPr>
        <p:txBody>
          <a:bodyPr>
            <a:spAutoFit/>
          </a:bodyPr>
          <a:lstStyle/>
          <a:p>
            <a:r>
              <a:rPr lang="en-US" sz="900">
                <a:latin typeface="Calibri" pitchFamily="34" charset="0"/>
              </a:rPr>
              <a:t>1</a:t>
            </a:r>
          </a:p>
        </p:txBody>
      </p:sp>
      <p:cxnSp>
        <p:nvCxnSpPr>
          <p:cNvPr id="212" name="Straight Arrow Connector 211"/>
          <p:cNvCxnSpPr/>
          <p:nvPr/>
        </p:nvCxnSpPr>
        <p:spPr>
          <a:xfrm>
            <a:off x="1295400" y="1143000"/>
            <a:ext cx="914400" cy="1588"/>
          </a:xfrm>
          <a:prstGeom prst="straightConnector1">
            <a:avLst/>
          </a:prstGeom>
          <a:ln>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2238" name="TextBox 212"/>
          <p:cNvSpPr txBox="1">
            <a:spLocks noChangeArrowheads="1"/>
          </p:cNvSpPr>
          <p:nvPr/>
        </p:nvSpPr>
        <p:spPr bwMode="auto">
          <a:xfrm>
            <a:off x="1524000" y="914400"/>
            <a:ext cx="454025" cy="276225"/>
          </a:xfrm>
          <a:prstGeom prst="rect">
            <a:avLst/>
          </a:prstGeom>
          <a:noFill/>
          <a:ln w="9525">
            <a:noFill/>
            <a:miter lim="800000"/>
            <a:headEnd/>
            <a:tailEnd/>
          </a:ln>
        </p:spPr>
        <p:txBody>
          <a:bodyPr wrap="none">
            <a:spAutoFit/>
          </a:bodyPr>
          <a:lstStyle/>
          <a:p>
            <a:r>
              <a:rPr lang="en-US" sz="1200">
                <a:latin typeface="Calibri" pitchFamily="34" charset="0"/>
              </a:rPr>
              <a:t>b+1</a:t>
            </a:r>
          </a:p>
        </p:txBody>
      </p:sp>
      <p:cxnSp>
        <p:nvCxnSpPr>
          <p:cNvPr id="215" name="Straight Arrow Connector 214"/>
          <p:cNvCxnSpPr/>
          <p:nvPr/>
        </p:nvCxnSpPr>
        <p:spPr>
          <a:xfrm rot="5400000">
            <a:off x="229394" y="2056606"/>
            <a:ext cx="914400" cy="1588"/>
          </a:xfrm>
          <a:prstGeom prst="straightConnector1">
            <a:avLst/>
          </a:prstGeom>
          <a:ln>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2240" name="TextBox 215"/>
          <p:cNvSpPr txBox="1">
            <a:spLocks noChangeArrowheads="1"/>
          </p:cNvSpPr>
          <p:nvPr/>
        </p:nvSpPr>
        <p:spPr bwMode="auto">
          <a:xfrm rot="-5400000">
            <a:off x="368300" y="1905000"/>
            <a:ext cx="454025" cy="276225"/>
          </a:xfrm>
          <a:prstGeom prst="rect">
            <a:avLst/>
          </a:prstGeom>
          <a:noFill/>
          <a:ln w="9525">
            <a:noFill/>
            <a:miter lim="800000"/>
            <a:headEnd/>
            <a:tailEnd/>
          </a:ln>
        </p:spPr>
        <p:txBody>
          <a:bodyPr wrap="none">
            <a:spAutoFit/>
          </a:bodyPr>
          <a:lstStyle/>
          <a:p>
            <a:r>
              <a:rPr lang="en-US" sz="1200">
                <a:latin typeface="Calibri" pitchFamily="34" charset="0"/>
              </a:rPr>
              <a:t>b+1</a:t>
            </a:r>
          </a:p>
        </p:txBody>
      </p:sp>
      <p:cxnSp>
        <p:nvCxnSpPr>
          <p:cNvPr id="226" name="Straight Arrow Connector 225"/>
          <p:cNvCxnSpPr/>
          <p:nvPr/>
        </p:nvCxnSpPr>
        <p:spPr>
          <a:xfrm rot="5400000" flipH="1" flipV="1">
            <a:off x="875507" y="2401094"/>
            <a:ext cx="228600" cy="1587"/>
          </a:xfrm>
          <a:prstGeom prst="straightConnector1">
            <a:avLst/>
          </a:prstGeom>
          <a:ln>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2242" name="TextBox 226"/>
          <p:cNvSpPr txBox="1">
            <a:spLocks noChangeArrowheads="1"/>
          </p:cNvSpPr>
          <p:nvPr/>
        </p:nvSpPr>
        <p:spPr bwMode="auto">
          <a:xfrm rot="-5400000">
            <a:off x="673100" y="2286000"/>
            <a:ext cx="454025" cy="276225"/>
          </a:xfrm>
          <a:prstGeom prst="rect">
            <a:avLst/>
          </a:prstGeom>
          <a:noFill/>
          <a:ln w="9525">
            <a:noFill/>
            <a:miter lim="800000"/>
            <a:headEnd/>
            <a:tailEnd/>
          </a:ln>
        </p:spPr>
        <p:txBody>
          <a:bodyPr wrap="none">
            <a:spAutoFit/>
          </a:bodyPr>
          <a:lstStyle/>
          <a:p>
            <a:r>
              <a:rPr lang="en-US" sz="1200">
                <a:latin typeface="Calibri" pitchFamily="34" charset="0"/>
              </a:rPr>
              <a:t>d+1</a:t>
            </a:r>
          </a:p>
        </p:txBody>
      </p:sp>
      <p:sp>
        <p:nvSpPr>
          <p:cNvPr id="52243" name="TextBox 228"/>
          <p:cNvSpPr txBox="1">
            <a:spLocks noChangeArrowheads="1"/>
          </p:cNvSpPr>
          <p:nvPr/>
        </p:nvSpPr>
        <p:spPr bwMode="auto">
          <a:xfrm>
            <a:off x="1227138" y="2667000"/>
            <a:ext cx="269875" cy="276225"/>
          </a:xfrm>
          <a:prstGeom prst="rect">
            <a:avLst/>
          </a:prstGeom>
          <a:noFill/>
          <a:ln w="9525">
            <a:solidFill>
              <a:schemeClr val="bg1"/>
            </a:solidFill>
            <a:miter lim="800000"/>
            <a:headEnd/>
            <a:tailEnd/>
          </a:ln>
        </p:spPr>
        <p:txBody>
          <a:bodyPr wrap="none">
            <a:spAutoFit/>
          </a:bodyPr>
          <a:lstStyle/>
          <a:p>
            <a:r>
              <a:rPr lang="en-US" sz="1200">
                <a:latin typeface="Calibri" pitchFamily="34" charset="0"/>
              </a:rPr>
              <a:t>c</a:t>
            </a:r>
          </a:p>
        </p:txBody>
      </p:sp>
      <p:cxnSp>
        <p:nvCxnSpPr>
          <p:cNvPr id="234" name="Straight Arrow Connector 233"/>
          <p:cNvCxnSpPr/>
          <p:nvPr/>
        </p:nvCxnSpPr>
        <p:spPr>
          <a:xfrm rot="10800000">
            <a:off x="1295400" y="2743200"/>
            <a:ext cx="152400" cy="1588"/>
          </a:xfrm>
          <a:prstGeom prst="straightConnector1">
            <a:avLst/>
          </a:prstGeom>
          <a:ln w="3175">
            <a:solidFill>
              <a:schemeClr val="tx1"/>
            </a:solidFill>
            <a:headEnd type="diamond" w="med" len="med"/>
            <a:tailEnd type="diamond" w="med" len="med"/>
          </a:ln>
        </p:spPr>
        <p:style>
          <a:lnRef idx="1">
            <a:schemeClr val="accent1"/>
          </a:lnRef>
          <a:fillRef idx="0">
            <a:schemeClr val="accent1"/>
          </a:fillRef>
          <a:effectRef idx="0">
            <a:schemeClr val="accent1"/>
          </a:effectRef>
          <a:fontRef idx="minor">
            <a:schemeClr val="tx1"/>
          </a:fontRef>
        </p:style>
      </p:cxnSp>
      <p:sp>
        <p:nvSpPr>
          <p:cNvPr id="52245" name="TextBox 105"/>
          <p:cNvSpPr txBox="1">
            <a:spLocks noChangeArrowheads="1"/>
          </p:cNvSpPr>
          <p:nvPr/>
        </p:nvSpPr>
        <p:spPr bwMode="auto">
          <a:xfrm>
            <a:off x="811213" y="171450"/>
            <a:ext cx="7512050" cy="585788"/>
          </a:xfrm>
          <a:prstGeom prst="rect">
            <a:avLst/>
          </a:prstGeom>
          <a:noFill/>
          <a:ln w="9525">
            <a:noFill/>
            <a:miter lim="800000"/>
            <a:headEnd/>
            <a:tailEnd/>
          </a:ln>
        </p:spPr>
        <p:txBody>
          <a:bodyPr>
            <a:spAutoFit/>
          </a:bodyPr>
          <a:lstStyle/>
          <a:p>
            <a:pPr algn="ctr"/>
            <a:r>
              <a:rPr lang="en-US" sz="3200" dirty="0" smtClean="0">
                <a:solidFill>
                  <a:schemeClr val="tx1"/>
                </a:solidFill>
                <a:latin typeface="Calibri" pitchFamily="34" charset="0"/>
              </a:rPr>
              <a:t>Successive </a:t>
            </a:r>
            <a:r>
              <a:rPr lang="en-US" sz="3200" dirty="0">
                <a:solidFill>
                  <a:schemeClr val="tx1"/>
                </a:solidFill>
                <a:latin typeface="Calibri" pitchFamily="34" charset="0"/>
              </a:rPr>
              <a:t>Band Reduction</a:t>
            </a:r>
          </a:p>
        </p:txBody>
      </p:sp>
      <p:sp>
        <p:nvSpPr>
          <p:cNvPr id="23" name="TextBox 22"/>
          <p:cNvSpPr txBox="1"/>
          <p:nvPr/>
        </p:nvSpPr>
        <p:spPr>
          <a:xfrm>
            <a:off x="685800" y="5181600"/>
            <a:ext cx="1956177" cy="1200329"/>
          </a:xfrm>
          <a:prstGeom prst="rect">
            <a:avLst/>
          </a:prstGeom>
          <a:noFill/>
        </p:spPr>
        <p:txBody>
          <a:bodyPr wrap="none" rtlCol="0">
            <a:spAutoFit/>
          </a:bodyPr>
          <a:lstStyle/>
          <a:p>
            <a:r>
              <a:rPr lang="en-US" dirty="0" smtClean="0"/>
              <a:t>b = bandwidth</a:t>
            </a:r>
          </a:p>
          <a:p>
            <a:r>
              <a:rPr lang="en-US" dirty="0" smtClean="0"/>
              <a:t>c = #columns</a:t>
            </a:r>
          </a:p>
          <a:p>
            <a:r>
              <a:rPr lang="en-US" dirty="0" smtClean="0"/>
              <a:t>d = #diagonals</a:t>
            </a:r>
          </a:p>
          <a:p>
            <a:r>
              <a:rPr lang="en-US" dirty="0" smtClean="0"/>
              <a:t>Constraint: </a:t>
            </a:r>
            <a:r>
              <a:rPr lang="en-US" dirty="0" err="1" smtClean="0"/>
              <a:t>c+d</a:t>
            </a:r>
            <a:r>
              <a:rPr lang="en-US" dirty="0" smtClean="0"/>
              <a:t> </a:t>
            </a:r>
            <a:r>
              <a:rPr lang="en-US" dirty="0" smtClean="0">
                <a:sym typeface="Symbol"/>
              </a:rPr>
              <a:t> b</a:t>
            </a:r>
            <a:endParaRPr lang="en-US" dirty="0"/>
          </a:p>
        </p:txBody>
      </p:sp>
    </p:spTree>
    <p:extLst>
      <p:ext uri="{BB962C8B-B14F-4D97-AF65-F5344CB8AC3E}">
        <p14:creationId xmlns:p14="http://schemas.microsoft.com/office/powerpoint/2010/main" val="1568407613"/>
      </p:ext>
    </p:extLst>
  </p:cSld>
  <p:clrMapOvr>
    <a:masterClrMapping/>
  </p:clrMapOvr>
  <p:timing>
    <p:tnLst>
      <p:par>
        <p:cTn xmlns:p14="http://schemas.microsoft.com/office/powerpoint/2010/mai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p:cNvCxnSpPr/>
          <p:nvPr/>
        </p:nvCxnSpPr>
        <p:spPr>
          <a:xfrm>
            <a:off x="1295400" y="1600200"/>
            <a:ext cx="9144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rot="16200000" flipH="1">
            <a:off x="2209800" y="1600200"/>
            <a:ext cx="3657600" cy="36576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rot="5400000">
            <a:off x="5410200" y="5715000"/>
            <a:ext cx="9144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rot="10800000">
            <a:off x="4953000" y="6172200"/>
            <a:ext cx="9144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rot="16200000" flipV="1">
            <a:off x="1295400" y="2514600"/>
            <a:ext cx="3657600" cy="36576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rot="5400000" flipH="1" flipV="1">
            <a:off x="1295400" y="2514600"/>
            <a:ext cx="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1295400" y="2514600"/>
            <a:ext cx="914400" cy="9144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rot="5400000">
            <a:off x="838200" y="2057400"/>
            <a:ext cx="9144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rot="16200000" flipH="1">
            <a:off x="1295400" y="2286000"/>
            <a:ext cx="152400" cy="15240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rot="5400000">
            <a:off x="1333500" y="2552700"/>
            <a:ext cx="228600" cy="0"/>
          </a:xfrm>
          <a:prstGeom prst="line">
            <a:avLst/>
          </a:prstGeom>
          <a:ln>
            <a:solidFill>
              <a:schemeClr val="accent1"/>
            </a:solidFill>
            <a:prstDash val="dash"/>
          </a:ln>
        </p:spPr>
        <p:style>
          <a:lnRef idx="1">
            <a:schemeClr val="accent1"/>
          </a:lnRef>
          <a:fillRef idx="0">
            <a:schemeClr val="accent1"/>
          </a:fillRef>
          <a:effectRef idx="0">
            <a:schemeClr val="accent1"/>
          </a:effectRef>
          <a:fontRef idx="minor">
            <a:schemeClr val="tx1"/>
          </a:fontRef>
        </p:style>
      </p:cxnSp>
      <p:sp>
        <p:nvSpPr>
          <p:cNvPr id="53260" name="TextBox 183"/>
          <p:cNvSpPr txBox="1">
            <a:spLocks noChangeArrowheads="1"/>
          </p:cNvSpPr>
          <p:nvPr/>
        </p:nvSpPr>
        <p:spPr bwMode="auto">
          <a:xfrm>
            <a:off x="1295400" y="2362200"/>
            <a:ext cx="76200" cy="230188"/>
          </a:xfrm>
          <a:prstGeom prst="rect">
            <a:avLst/>
          </a:prstGeom>
          <a:noFill/>
          <a:ln w="9525">
            <a:noFill/>
            <a:miter lim="800000"/>
            <a:headEnd/>
            <a:tailEnd/>
          </a:ln>
        </p:spPr>
        <p:txBody>
          <a:bodyPr>
            <a:spAutoFit/>
          </a:bodyPr>
          <a:lstStyle/>
          <a:p>
            <a:r>
              <a:rPr lang="en-US" sz="900">
                <a:latin typeface="Calibri" pitchFamily="34" charset="0"/>
              </a:rPr>
              <a:t>1</a:t>
            </a:r>
          </a:p>
        </p:txBody>
      </p:sp>
      <p:sp>
        <p:nvSpPr>
          <p:cNvPr id="53261" name="TextBox 197"/>
          <p:cNvSpPr txBox="1">
            <a:spLocks noChangeArrowheads="1"/>
          </p:cNvSpPr>
          <p:nvPr/>
        </p:nvSpPr>
        <p:spPr bwMode="auto">
          <a:xfrm>
            <a:off x="1031875" y="2362200"/>
            <a:ext cx="361950" cy="276225"/>
          </a:xfrm>
          <a:prstGeom prst="rect">
            <a:avLst/>
          </a:prstGeom>
          <a:noFill/>
          <a:ln w="9525">
            <a:noFill/>
            <a:miter lim="800000"/>
            <a:headEnd/>
            <a:tailEnd/>
          </a:ln>
        </p:spPr>
        <p:txBody>
          <a:bodyPr wrap="none">
            <a:spAutoFit/>
          </a:bodyPr>
          <a:lstStyle/>
          <a:p>
            <a:r>
              <a:rPr lang="en-US" sz="1200">
                <a:latin typeface="Calibri" pitchFamily="34" charset="0"/>
              </a:rPr>
              <a:t>Q</a:t>
            </a:r>
            <a:r>
              <a:rPr lang="en-US" sz="1200" baseline="-25000">
                <a:latin typeface="Calibri" pitchFamily="34" charset="0"/>
              </a:rPr>
              <a:t>1</a:t>
            </a:r>
          </a:p>
        </p:txBody>
      </p:sp>
      <p:cxnSp>
        <p:nvCxnSpPr>
          <p:cNvPr id="212" name="Straight Arrow Connector 211"/>
          <p:cNvCxnSpPr/>
          <p:nvPr/>
        </p:nvCxnSpPr>
        <p:spPr>
          <a:xfrm>
            <a:off x="1295400" y="1143000"/>
            <a:ext cx="914400" cy="1588"/>
          </a:xfrm>
          <a:prstGeom prst="straightConnector1">
            <a:avLst/>
          </a:prstGeom>
          <a:ln>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3263" name="TextBox 212"/>
          <p:cNvSpPr txBox="1">
            <a:spLocks noChangeArrowheads="1"/>
          </p:cNvSpPr>
          <p:nvPr/>
        </p:nvSpPr>
        <p:spPr bwMode="auto">
          <a:xfrm>
            <a:off x="1524000" y="914400"/>
            <a:ext cx="454025" cy="276225"/>
          </a:xfrm>
          <a:prstGeom prst="rect">
            <a:avLst/>
          </a:prstGeom>
          <a:noFill/>
          <a:ln w="9525">
            <a:noFill/>
            <a:miter lim="800000"/>
            <a:headEnd/>
            <a:tailEnd/>
          </a:ln>
        </p:spPr>
        <p:txBody>
          <a:bodyPr wrap="none">
            <a:spAutoFit/>
          </a:bodyPr>
          <a:lstStyle/>
          <a:p>
            <a:r>
              <a:rPr lang="en-US" sz="1200">
                <a:latin typeface="Calibri" pitchFamily="34" charset="0"/>
              </a:rPr>
              <a:t>b+1</a:t>
            </a:r>
          </a:p>
        </p:txBody>
      </p:sp>
      <p:cxnSp>
        <p:nvCxnSpPr>
          <p:cNvPr id="215" name="Straight Arrow Connector 214"/>
          <p:cNvCxnSpPr/>
          <p:nvPr/>
        </p:nvCxnSpPr>
        <p:spPr>
          <a:xfrm rot="5400000">
            <a:off x="229394" y="2056606"/>
            <a:ext cx="914400" cy="1588"/>
          </a:xfrm>
          <a:prstGeom prst="straightConnector1">
            <a:avLst/>
          </a:prstGeom>
          <a:ln>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3265" name="TextBox 215"/>
          <p:cNvSpPr txBox="1">
            <a:spLocks noChangeArrowheads="1"/>
          </p:cNvSpPr>
          <p:nvPr/>
        </p:nvSpPr>
        <p:spPr bwMode="auto">
          <a:xfrm rot="-5400000">
            <a:off x="368300" y="1905000"/>
            <a:ext cx="454025" cy="276225"/>
          </a:xfrm>
          <a:prstGeom prst="rect">
            <a:avLst/>
          </a:prstGeom>
          <a:noFill/>
          <a:ln w="9525">
            <a:noFill/>
            <a:miter lim="800000"/>
            <a:headEnd/>
            <a:tailEnd/>
          </a:ln>
        </p:spPr>
        <p:txBody>
          <a:bodyPr wrap="none">
            <a:spAutoFit/>
          </a:bodyPr>
          <a:lstStyle/>
          <a:p>
            <a:r>
              <a:rPr lang="en-US" sz="1200">
                <a:latin typeface="Calibri" pitchFamily="34" charset="0"/>
              </a:rPr>
              <a:t>b+1</a:t>
            </a:r>
          </a:p>
        </p:txBody>
      </p:sp>
      <p:cxnSp>
        <p:nvCxnSpPr>
          <p:cNvPr id="226" name="Straight Arrow Connector 225"/>
          <p:cNvCxnSpPr/>
          <p:nvPr/>
        </p:nvCxnSpPr>
        <p:spPr>
          <a:xfrm rot="5400000" flipH="1" flipV="1">
            <a:off x="875507" y="2401094"/>
            <a:ext cx="228600" cy="1587"/>
          </a:xfrm>
          <a:prstGeom prst="straightConnector1">
            <a:avLst/>
          </a:prstGeom>
          <a:ln>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3267" name="TextBox 226"/>
          <p:cNvSpPr txBox="1">
            <a:spLocks noChangeArrowheads="1"/>
          </p:cNvSpPr>
          <p:nvPr/>
        </p:nvSpPr>
        <p:spPr bwMode="auto">
          <a:xfrm rot="-5400000">
            <a:off x="673100" y="2286000"/>
            <a:ext cx="454025" cy="276225"/>
          </a:xfrm>
          <a:prstGeom prst="rect">
            <a:avLst/>
          </a:prstGeom>
          <a:noFill/>
          <a:ln w="9525">
            <a:noFill/>
            <a:miter lim="800000"/>
            <a:headEnd/>
            <a:tailEnd/>
          </a:ln>
        </p:spPr>
        <p:txBody>
          <a:bodyPr wrap="none">
            <a:spAutoFit/>
          </a:bodyPr>
          <a:lstStyle/>
          <a:p>
            <a:r>
              <a:rPr lang="en-US" sz="1200">
                <a:latin typeface="Calibri" pitchFamily="34" charset="0"/>
              </a:rPr>
              <a:t>d+1</a:t>
            </a:r>
          </a:p>
        </p:txBody>
      </p:sp>
      <p:sp>
        <p:nvSpPr>
          <p:cNvPr id="53268" name="TextBox 228"/>
          <p:cNvSpPr txBox="1">
            <a:spLocks noChangeArrowheads="1"/>
          </p:cNvSpPr>
          <p:nvPr/>
        </p:nvSpPr>
        <p:spPr bwMode="auto">
          <a:xfrm>
            <a:off x="1227138" y="2667000"/>
            <a:ext cx="269875" cy="276225"/>
          </a:xfrm>
          <a:prstGeom prst="rect">
            <a:avLst/>
          </a:prstGeom>
          <a:noFill/>
          <a:ln w="9525">
            <a:solidFill>
              <a:schemeClr val="bg1"/>
            </a:solidFill>
            <a:miter lim="800000"/>
            <a:headEnd/>
            <a:tailEnd/>
          </a:ln>
        </p:spPr>
        <p:txBody>
          <a:bodyPr wrap="none">
            <a:spAutoFit/>
          </a:bodyPr>
          <a:lstStyle/>
          <a:p>
            <a:r>
              <a:rPr lang="en-US" sz="1200">
                <a:latin typeface="Calibri" pitchFamily="34" charset="0"/>
              </a:rPr>
              <a:t>c</a:t>
            </a:r>
          </a:p>
        </p:txBody>
      </p:sp>
      <p:cxnSp>
        <p:nvCxnSpPr>
          <p:cNvPr id="234" name="Straight Arrow Connector 233"/>
          <p:cNvCxnSpPr/>
          <p:nvPr/>
        </p:nvCxnSpPr>
        <p:spPr>
          <a:xfrm rot="10800000">
            <a:off x="1295400" y="2743200"/>
            <a:ext cx="152400" cy="1588"/>
          </a:xfrm>
          <a:prstGeom prst="straightConnector1">
            <a:avLst/>
          </a:prstGeom>
          <a:ln w="3175">
            <a:solidFill>
              <a:schemeClr val="tx1"/>
            </a:solidFill>
            <a:headEnd type="diamond" w="med" len="med"/>
            <a:tailEnd type="diamond" w="med" len="med"/>
          </a:ln>
        </p:spPr>
        <p:style>
          <a:lnRef idx="1">
            <a:schemeClr val="accent1"/>
          </a:lnRef>
          <a:fillRef idx="0">
            <a:schemeClr val="accent1"/>
          </a:fillRef>
          <a:effectRef idx="0">
            <a:schemeClr val="accent1"/>
          </a:effectRef>
          <a:fontRef idx="minor">
            <a:schemeClr val="tx1"/>
          </a:fontRef>
        </p:style>
      </p:cxnSp>
      <p:sp>
        <p:nvSpPr>
          <p:cNvPr id="53270" name="TextBox 105"/>
          <p:cNvSpPr txBox="1">
            <a:spLocks noChangeArrowheads="1"/>
          </p:cNvSpPr>
          <p:nvPr/>
        </p:nvSpPr>
        <p:spPr bwMode="auto">
          <a:xfrm>
            <a:off x="811213" y="171450"/>
            <a:ext cx="7512050" cy="585788"/>
          </a:xfrm>
          <a:prstGeom prst="rect">
            <a:avLst/>
          </a:prstGeom>
          <a:noFill/>
          <a:ln w="9525">
            <a:noFill/>
            <a:miter lim="800000"/>
            <a:headEnd/>
            <a:tailEnd/>
          </a:ln>
        </p:spPr>
        <p:txBody>
          <a:bodyPr>
            <a:spAutoFit/>
          </a:bodyPr>
          <a:lstStyle/>
          <a:p>
            <a:pPr algn="ctr"/>
            <a:r>
              <a:rPr lang="en-US" sz="3200" dirty="0" smtClean="0">
                <a:solidFill>
                  <a:schemeClr val="tx1"/>
                </a:solidFill>
                <a:latin typeface="Calibri" pitchFamily="34" charset="0"/>
              </a:rPr>
              <a:t>Successive </a:t>
            </a:r>
            <a:r>
              <a:rPr lang="en-US" sz="3200" dirty="0">
                <a:solidFill>
                  <a:schemeClr val="tx1"/>
                </a:solidFill>
                <a:latin typeface="Calibri" pitchFamily="34" charset="0"/>
              </a:rPr>
              <a:t>Band Reduction</a:t>
            </a:r>
          </a:p>
        </p:txBody>
      </p:sp>
      <p:sp>
        <p:nvSpPr>
          <p:cNvPr id="23" name="TextBox 22"/>
          <p:cNvSpPr txBox="1"/>
          <p:nvPr/>
        </p:nvSpPr>
        <p:spPr>
          <a:xfrm>
            <a:off x="685800" y="5181600"/>
            <a:ext cx="1956177" cy="1200329"/>
          </a:xfrm>
          <a:prstGeom prst="rect">
            <a:avLst/>
          </a:prstGeom>
          <a:noFill/>
        </p:spPr>
        <p:txBody>
          <a:bodyPr wrap="none" rtlCol="0">
            <a:spAutoFit/>
          </a:bodyPr>
          <a:lstStyle/>
          <a:p>
            <a:r>
              <a:rPr lang="en-US" dirty="0" smtClean="0"/>
              <a:t>b = bandwidth</a:t>
            </a:r>
          </a:p>
          <a:p>
            <a:r>
              <a:rPr lang="en-US" dirty="0" smtClean="0"/>
              <a:t>c = #columns</a:t>
            </a:r>
          </a:p>
          <a:p>
            <a:r>
              <a:rPr lang="en-US" dirty="0" smtClean="0"/>
              <a:t>d = #diagonals</a:t>
            </a:r>
          </a:p>
          <a:p>
            <a:r>
              <a:rPr lang="en-US" dirty="0" smtClean="0"/>
              <a:t>Constraint: </a:t>
            </a:r>
            <a:r>
              <a:rPr lang="en-US" dirty="0" err="1" smtClean="0"/>
              <a:t>c+d</a:t>
            </a:r>
            <a:r>
              <a:rPr lang="en-US" dirty="0" smtClean="0"/>
              <a:t> </a:t>
            </a:r>
            <a:r>
              <a:rPr lang="en-US" dirty="0" smtClean="0">
                <a:sym typeface="Symbol"/>
              </a:rPr>
              <a:t> b</a:t>
            </a:r>
            <a:endParaRPr lang="en-US" dirty="0"/>
          </a:p>
        </p:txBody>
      </p:sp>
    </p:spTree>
    <p:extLst>
      <p:ext uri="{BB962C8B-B14F-4D97-AF65-F5344CB8AC3E}">
        <p14:creationId xmlns:p14="http://schemas.microsoft.com/office/powerpoint/2010/main" val="466468180"/>
      </p:ext>
    </p:extLst>
  </p:cSld>
  <p:clrMapOvr>
    <a:masterClrMapping/>
  </p:clrMapOvr>
  <p:timing>
    <p:tnLst>
      <p:par>
        <p:cTn xmlns:p14="http://schemas.microsoft.com/office/powerpoint/2010/mai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p:cNvCxnSpPr/>
          <p:nvPr/>
        </p:nvCxnSpPr>
        <p:spPr>
          <a:xfrm>
            <a:off x="1295400" y="1600200"/>
            <a:ext cx="9144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rot="16200000" flipH="1">
            <a:off x="2209800" y="1600200"/>
            <a:ext cx="3657600" cy="36576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rot="5400000">
            <a:off x="5410200" y="5715000"/>
            <a:ext cx="9144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rot="10800000">
            <a:off x="4953000" y="6172200"/>
            <a:ext cx="9144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rot="16200000" flipV="1">
            <a:off x="1295400" y="2514600"/>
            <a:ext cx="3657600" cy="36576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rot="5400000" flipH="1" flipV="1">
            <a:off x="1295400" y="2514600"/>
            <a:ext cx="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1295400" y="2514600"/>
            <a:ext cx="914400" cy="9144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rot="5400000">
            <a:off x="838200" y="2057400"/>
            <a:ext cx="9144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rot="16200000" flipH="1">
            <a:off x="1295400" y="2286000"/>
            <a:ext cx="152400" cy="15240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rot="5400000">
            <a:off x="1333500" y="2552700"/>
            <a:ext cx="228600" cy="0"/>
          </a:xfrm>
          <a:prstGeom prst="line">
            <a:avLst/>
          </a:prstGeom>
          <a:ln>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a:off x="1447800" y="2667000"/>
            <a:ext cx="1828800" cy="0"/>
          </a:xfrm>
          <a:prstGeom prst="line">
            <a:avLst/>
          </a:prstGeom>
          <a:ln>
            <a:prstDash val="sysDot"/>
          </a:ln>
        </p:spPr>
        <p:style>
          <a:lnRef idx="1">
            <a:schemeClr val="accent1"/>
          </a:lnRef>
          <a:fillRef idx="0">
            <a:schemeClr val="accent1"/>
          </a:fillRef>
          <a:effectRef idx="0">
            <a:schemeClr val="accent1"/>
          </a:effectRef>
          <a:fontRef idx="minor">
            <a:schemeClr val="tx1"/>
          </a:fontRef>
        </p:style>
      </p:cxnSp>
      <p:cxnSp>
        <p:nvCxnSpPr>
          <p:cNvPr id="110" name="Straight Connector 109"/>
          <p:cNvCxnSpPr/>
          <p:nvPr/>
        </p:nvCxnSpPr>
        <p:spPr>
          <a:xfrm>
            <a:off x="1295400" y="2286000"/>
            <a:ext cx="1600200" cy="0"/>
          </a:xfrm>
          <a:prstGeom prst="line">
            <a:avLst/>
          </a:prstGeom>
          <a:ln>
            <a:prstDash val="sysDot"/>
          </a:ln>
        </p:spPr>
        <p:style>
          <a:lnRef idx="1">
            <a:schemeClr val="accent1"/>
          </a:lnRef>
          <a:fillRef idx="0">
            <a:schemeClr val="accent1"/>
          </a:fillRef>
          <a:effectRef idx="0">
            <a:schemeClr val="accent1"/>
          </a:effectRef>
          <a:fontRef idx="minor">
            <a:schemeClr val="tx1"/>
          </a:fontRef>
        </p:style>
      </p:cxnSp>
      <p:grpSp>
        <p:nvGrpSpPr>
          <p:cNvPr id="2" name="Group 135"/>
          <p:cNvGrpSpPr>
            <a:grpSpLocks/>
          </p:cNvGrpSpPr>
          <p:nvPr/>
        </p:nvGrpSpPr>
        <p:grpSpPr bwMode="auto">
          <a:xfrm>
            <a:off x="2895600" y="2286000"/>
            <a:ext cx="381000" cy="381000"/>
            <a:chOff x="3733800" y="1981200"/>
            <a:chExt cx="381000" cy="381000"/>
          </a:xfrm>
        </p:grpSpPr>
        <p:cxnSp>
          <p:nvCxnSpPr>
            <p:cNvPr id="129" name="Straight Connector 128"/>
            <p:cNvCxnSpPr/>
            <p:nvPr/>
          </p:nvCxnSpPr>
          <p:spPr>
            <a:xfrm>
              <a:off x="3733800" y="1981200"/>
              <a:ext cx="228600"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31" name="Straight Connector 130"/>
            <p:cNvCxnSpPr/>
            <p:nvPr/>
          </p:nvCxnSpPr>
          <p:spPr>
            <a:xfrm rot="5400000" flipH="1" flipV="1">
              <a:off x="4000500" y="2247900"/>
              <a:ext cx="228600" cy="0"/>
            </a:xfrm>
            <a:prstGeom prst="line">
              <a:avLst/>
            </a:prstGeom>
            <a:ln>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133" name="Straight Connector 132"/>
            <p:cNvCxnSpPr/>
            <p:nvPr/>
          </p:nvCxnSpPr>
          <p:spPr>
            <a:xfrm rot="16200000" flipH="1">
              <a:off x="3962400" y="1981200"/>
              <a:ext cx="152400" cy="152400"/>
            </a:xfrm>
            <a:prstGeom prst="line">
              <a:avLst/>
            </a:prstGeom>
            <a:ln>
              <a:prstDash val="dash"/>
            </a:ln>
          </p:spPr>
          <p:style>
            <a:lnRef idx="1">
              <a:schemeClr val="accent1"/>
            </a:lnRef>
            <a:fillRef idx="0">
              <a:schemeClr val="accent1"/>
            </a:fillRef>
            <a:effectRef idx="0">
              <a:schemeClr val="accent1"/>
            </a:effectRef>
            <a:fontRef idx="minor">
              <a:schemeClr val="tx1"/>
            </a:fontRef>
          </p:style>
        </p:cxnSp>
      </p:grpSp>
      <p:sp>
        <p:nvSpPr>
          <p:cNvPr id="54287" name="TextBox 183"/>
          <p:cNvSpPr txBox="1">
            <a:spLocks noChangeArrowheads="1"/>
          </p:cNvSpPr>
          <p:nvPr/>
        </p:nvSpPr>
        <p:spPr bwMode="auto">
          <a:xfrm>
            <a:off x="1295400" y="2362200"/>
            <a:ext cx="76200" cy="230188"/>
          </a:xfrm>
          <a:prstGeom prst="rect">
            <a:avLst/>
          </a:prstGeom>
          <a:noFill/>
          <a:ln w="9525">
            <a:noFill/>
            <a:miter lim="800000"/>
            <a:headEnd/>
            <a:tailEnd/>
          </a:ln>
        </p:spPr>
        <p:txBody>
          <a:bodyPr>
            <a:spAutoFit/>
          </a:bodyPr>
          <a:lstStyle/>
          <a:p>
            <a:r>
              <a:rPr lang="en-US" sz="900">
                <a:latin typeface="Calibri" pitchFamily="34" charset="0"/>
              </a:rPr>
              <a:t>1</a:t>
            </a:r>
          </a:p>
        </p:txBody>
      </p:sp>
      <p:sp>
        <p:nvSpPr>
          <p:cNvPr id="54288" name="TextBox 185"/>
          <p:cNvSpPr txBox="1">
            <a:spLocks noChangeArrowheads="1"/>
          </p:cNvSpPr>
          <p:nvPr/>
        </p:nvSpPr>
        <p:spPr bwMode="auto">
          <a:xfrm rot="10800000" flipV="1">
            <a:off x="3048000" y="2278063"/>
            <a:ext cx="152400" cy="231775"/>
          </a:xfrm>
          <a:prstGeom prst="rect">
            <a:avLst/>
          </a:prstGeom>
          <a:noFill/>
          <a:ln w="9525">
            <a:noFill/>
            <a:miter lim="800000"/>
            <a:headEnd/>
            <a:tailEnd/>
          </a:ln>
        </p:spPr>
        <p:txBody>
          <a:bodyPr>
            <a:spAutoFit/>
          </a:bodyPr>
          <a:lstStyle/>
          <a:p>
            <a:r>
              <a:rPr lang="en-US" sz="900">
                <a:latin typeface="Calibri" pitchFamily="34" charset="0"/>
              </a:rPr>
              <a:t>2</a:t>
            </a:r>
          </a:p>
        </p:txBody>
      </p:sp>
      <p:sp>
        <p:nvSpPr>
          <p:cNvPr id="54289" name="TextBox 197"/>
          <p:cNvSpPr txBox="1">
            <a:spLocks noChangeArrowheads="1"/>
          </p:cNvSpPr>
          <p:nvPr/>
        </p:nvSpPr>
        <p:spPr bwMode="auto">
          <a:xfrm>
            <a:off x="1031875" y="2362200"/>
            <a:ext cx="361950" cy="276225"/>
          </a:xfrm>
          <a:prstGeom prst="rect">
            <a:avLst/>
          </a:prstGeom>
          <a:noFill/>
          <a:ln w="9525">
            <a:noFill/>
            <a:miter lim="800000"/>
            <a:headEnd/>
            <a:tailEnd/>
          </a:ln>
        </p:spPr>
        <p:txBody>
          <a:bodyPr wrap="none">
            <a:spAutoFit/>
          </a:bodyPr>
          <a:lstStyle/>
          <a:p>
            <a:r>
              <a:rPr lang="en-US" sz="1200">
                <a:latin typeface="Calibri" pitchFamily="34" charset="0"/>
              </a:rPr>
              <a:t>Q</a:t>
            </a:r>
            <a:r>
              <a:rPr lang="en-US" sz="1200" baseline="-25000">
                <a:latin typeface="Calibri" pitchFamily="34" charset="0"/>
              </a:rPr>
              <a:t>1</a:t>
            </a:r>
          </a:p>
        </p:txBody>
      </p:sp>
      <p:cxnSp>
        <p:nvCxnSpPr>
          <p:cNvPr id="212" name="Straight Arrow Connector 211"/>
          <p:cNvCxnSpPr/>
          <p:nvPr/>
        </p:nvCxnSpPr>
        <p:spPr>
          <a:xfrm>
            <a:off x="1295400" y="1143000"/>
            <a:ext cx="914400" cy="1588"/>
          </a:xfrm>
          <a:prstGeom prst="straightConnector1">
            <a:avLst/>
          </a:prstGeom>
          <a:ln>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4291" name="TextBox 212"/>
          <p:cNvSpPr txBox="1">
            <a:spLocks noChangeArrowheads="1"/>
          </p:cNvSpPr>
          <p:nvPr/>
        </p:nvSpPr>
        <p:spPr bwMode="auto">
          <a:xfrm>
            <a:off x="1524000" y="914400"/>
            <a:ext cx="454025" cy="276225"/>
          </a:xfrm>
          <a:prstGeom prst="rect">
            <a:avLst/>
          </a:prstGeom>
          <a:noFill/>
          <a:ln w="9525">
            <a:noFill/>
            <a:miter lim="800000"/>
            <a:headEnd/>
            <a:tailEnd/>
          </a:ln>
        </p:spPr>
        <p:txBody>
          <a:bodyPr wrap="none">
            <a:spAutoFit/>
          </a:bodyPr>
          <a:lstStyle/>
          <a:p>
            <a:r>
              <a:rPr lang="en-US" sz="1200">
                <a:latin typeface="Calibri" pitchFamily="34" charset="0"/>
              </a:rPr>
              <a:t>b+1</a:t>
            </a:r>
          </a:p>
        </p:txBody>
      </p:sp>
      <p:cxnSp>
        <p:nvCxnSpPr>
          <p:cNvPr id="215" name="Straight Arrow Connector 214"/>
          <p:cNvCxnSpPr/>
          <p:nvPr/>
        </p:nvCxnSpPr>
        <p:spPr>
          <a:xfrm rot="5400000">
            <a:off x="229394" y="2056606"/>
            <a:ext cx="914400" cy="1588"/>
          </a:xfrm>
          <a:prstGeom prst="straightConnector1">
            <a:avLst/>
          </a:prstGeom>
          <a:ln>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4293" name="TextBox 215"/>
          <p:cNvSpPr txBox="1">
            <a:spLocks noChangeArrowheads="1"/>
          </p:cNvSpPr>
          <p:nvPr/>
        </p:nvSpPr>
        <p:spPr bwMode="auto">
          <a:xfrm rot="-5400000">
            <a:off x="368300" y="1905000"/>
            <a:ext cx="454025" cy="276225"/>
          </a:xfrm>
          <a:prstGeom prst="rect">
            <a:avLst/>
          </a:prstGeom>
          <a:noFill/>
          <a:ln w="9525">
            <a:noFill/>
            <a:miter lim="800000"/>
            <a:headEnd/>
            <a:tailEnd/>
          </a:ln>
        </p:spPr>
        <p:txBody>
          <a:bodyPr wrap="none">
            <a:spAutoFit/>
          </a:bodyPr>
          <a:lstStyle/>
          <a:p>
            <a:r>
              <a:rPr lang="en-US" sz="1200">
                <a:latin typeface="Calibri" pitchFamily="34" charset="0"/>
              </a:rPr>
              <a:t>b+1</a:t>
            </a:r>
          </a:p>
        </p:txBody>
      </p:sp>
      <p:cxnSp>
        <p:nvCxnSpPr>
          <p:cNvPr id="226" name="Straight Arrow Connector 225"/>
          <p:cNvCxnSpPr/>
          <p:nvPr/>
        </p:nvCxnSpPr>
        <p:spPr>
          <a:xfrm rot="5400000" flipH="1" flipV="1">
            <a:off x="875507" y="2401094"/>
            <a:ext cx="228600" cy="1587"/>
          </a:xfrm>
          <a:prstGeom prst="straightConnector1">
            <a:avLst/>
          </a:prstGeom>
          <a:ln>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4295" name="TextBox 226"/>
          <p:cNvSpPr txBox="1">
            <a:spLocks noChangeArrowheads="1"/>
          </p:cNvSpPr>
          <p:nvPr/>
        </p:nvSpPr>
        <p:spPr bwMode="auto">
          <a:xfrm rot="-5400000">
            <a:off x="673100" y="2286000"/>
            <a:ext cx="454025" cy="276225"/>
          </a:xfrm>
          <a:prstGeom prst="rect">
            <a:avLst/>
          </a:prstGeom>
          <a:noFill/>
          <a:ln w="9525">
            <a:noFill/>
            <a:miter lim="800000"/>
            <a:headEnd/>
            <a:tailEnd/>
          </a:ln>
        </p:spPr>
        <p:txBody>
          <a:bodyPr wrap="none">
            <a:spAutoFit/>
          </a:bodyPr>
          <a:lstStyle/>
          <a:p>
            <a:r>
              <a:rPr lang="en-US" sz="1200">
                <a:latin typeface="Calibri" pitchFamily="34" charset="0"/>
              </a:rPr>
              <a:t>d+1</a:t>
            </a:r>
          </a:p>
        </p:txBody>
      </p:sp>
      <p:cxnSp>
        <p:nvCxnSpPr>
          <p:cNvPr id="240" name="Straight Arrow Connector 239"/>
          <p:cNvCxnSpPr/>
          <p:nvPr/>
        </p:nvCxnSpPr>
        <p:spPr>
          <a:xfrm>
            <a:off x="2895600" y="1965325"/>
            <a:ext cx="381000" cy="1588"/>
          </a:xfrm>
          <a:prstGeom prst="straightConnector1">
            <a:avLst/>
          </a:prstGeom>
          <a:ln>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54297" name="TextBox 240"/>
          <p:cNvSpPr txBox="1">
            <a:spLocks noChangeArrowheads="1"/>
          </p:cNvSpPr>
          <p:nvPr/>
        </p:nvSpPr>
        <p:spPr bwMode="auto">
          <a:xfrm>
            <a:off x="2895600" y="1706563"/>
            <a:ext cx="454025" cy="276225"/>
          </a:xfrm>
          <a:prstGeom prst="rect">
            <a:avLst/>
          </a:prstGeom>
          <a:noFill/>
          <a:ln w="9525">
            <a:noFill/>
            <a:miter lim="800000"/>
            <a:headEnd/>
            <a:tailEnd/>
          </a:ln>
        </p:spPr>
        <p:txBody>
          <a:bodyPr wrap="none">
            <a:spAutoFit/>
          </a:bodyPr>
          <a:lstStyle/>
          <a:p>
            <a:r>
              <a:rPr lang="en-US" sz="1200">
                <a:latin typeface="Calibri" pitchFamily="34" charset="0"/>
              </a:rPr>
              <a:t>d+c</a:t>
            </a:r>
          </a:p>
        </p:txBody>
      </p:sp>
      <p:cxnSp>
        <p:nvCxnSpPr>
          <p:cNvPr id="243" name="Straight Arrow Connector 242"/>
          <p:cNvCxnSpPr/>
          <p:nvPr/>
        </p:nvCxnSpPr>
        <p:spPr>
          <a:xfrm rot="5400000">
            <a:off x="3238501" y="2476500"/>
            <a:ext cx="381000" cy="3175"/>
          </a:xfrm>
          <a:prstGeom prst="straightConnector1">
            <a:avLst/>
          </a:prstGeom>
          <a:ln>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54299" name="TextBox 243"/>
          <p:cNvSpPr txBox="1">
            <a:spLocks noChangeArrowheads="1"/>
          </p:cNvSpPr>
          <p:nvPr/>
        </p:nvSpPr>
        <p:spPr bwMode="auto">
          <a:xfrm>
            <a:off x="3429000" y="2286000"/>
            <a:ext cx="454025" cy="276225"/>
          </a:xfrm>
          <a:prstGeom prst="rect">
            <a:avLst/>
          </a:prstGeom>
          <a:noFill/>
          <a:ln w="9525">
            <a:noFill/>
            <a:miter lim="800000"/>
            <a:headEnd/>
            <a:tailEnd/>
          </a:ln>
        </p:spPr>
        <p:txBody>
          <a:bodyPr wrap="none">
            <a:spAutoFit/>
          </a:bodyPr>
          <a:lstStyle/>
          <a:p>
            <a:r>
              <a:rPr lang="en-US" sz="1200">
                <a:latin typeface="Calibri" pitchFamily="34" charset="0"/>
              </a:rPr>
              <a:t>d+c</a:t>
            </a:r>
          </a:p>
        </p:txBody>
      </p:sp>
      <p:sp>
        <p:nvSpPr>
          <p:cNvPr id="54300" name="TextBox 105"/>
          <p:cNvSpPr txBox="1">
            <a:spLocks noChangeArrowheads="1"/>
          </p:cNvSpPr>
          <p:nvPr/>
        </p:nvSpPr>
        <p:spPr bwMode="auto">
          <a:xfrm>
            <a:off x="811213" y="171450"/>
            <a:ext cx="7512050" cy="585788"/>
          </a:xfrm>
          <a:prstGeom prst="rect">
            <a:avLst/>
          </a:prstGeom>
          <a:noFill/>
          <a:ln w="9525">
            <a:noFill/>
            <a:miter lim="800000"/>
            <a:headEnd/>
            <a:tailEnd/>
          </a:ln>
        </p:spPr>
        <p:txBody>
          <a:bodyPr>
            <a:spAutoFit/>
          </a:bodyPr>
          <a:lstStyle/>
          <a:p>
            <a:pPr algn="ctr"/>
            <a:r>
              <a:rPr lang="en-US" sz="3200" dirty="0" smtClean="0">
                <a:solidFill>
                  <a:schemeClr val="tx1"/>
                </a:solidFill>
                <a:latin typeface="Calibri" pitchFamily="34" charset="0"/>
              </a:rPr>
              <a:t>Successive </a:t>
            </a:r>
            <a:r>
              <a:rPr lang="en-US" sz="3200" dirty="0">
                <a:solidFill>
                  <a:schemeClr val="tx1"/>
                </a:solidFill>
                <a:latin typeface="Calibri" pitchFamily="34" charset="0"/>
              </a:rPr>
              <a:t>Band Reduction</a:t>
            </a:r>
          </a:p>
        </p:txBody>
      </p:sp>
      <p:cxnSp>
        <p:nvCxnSpPr>
          <p:cNvPr id="40" name="Straight Arrow Connector 39"/>
          <p:cNvCxnSpPr/>
          <p:nvPr/>
        </p:nvCxnSpPr>
        <p:spPr>
          <a:xfrm rot="10800000">
            <a:off x="1295400" y="2743200"/>
            <a:ext cx="152400" cy="1588"/>
          </a:xfrm>
          <a:prstGeom prst="straightConnector1">
            <a:avLst/>
          </a:prstGeom>
          <a:ln w="3175">
            <a:solidFill>
              <a:schemeClr val="tx1"/>
            </a:solidFill>
            <a:headEnd type="diamond" w="med" len="med"/>
            <a:tailEnd type="diamond" w="med" len="med"/>
          </a:ln>
        </p:spPr>
        <p:style>
          <a:lnRef idx="1">
            <a:schemeClr val="accent1"/>
          </a:lnRef>
          <a:fillRef idx="0">
            <a:schemeClr val="accent1"/>
          </a:fillRef>
          <a:effectRef idx="0">
            <a:schemeClr val="accent1"/>
          </a:effectRef>
          <a:fontRef idx="minor">
            <a:schemeClr val="tx1"/>
          </a:fontRef>
        </p:style>
      </p:cxnSp>
      <p:sp>
        <p:nvSpPr>
          <p:cNvPr id="54302" name="TextBox 228"/>
          <p:cNvSpPr txBox="1">
            <a:spLocks noChangeArrowheads="1"/>
          </p:cNvSpPr>
          <p:nvPr/>
        </p:nvSpPr>
        <p:spPr bwMode="auto">
          <a:xfrm>
            <a:off x="1227138" y="2667000"/>
            <a:ext cx="269875" cy="276225"/>
          </a:xfrm>
          <a:prstGeom prst="rect">
            <a:avLst/>
          </a:prstGeom>
          <a:noFill/>
          <a:ln w="9525">
            <a:solidFill>
              <a:schemeClr val="bg1"/>
            </a:solidFill>
            <a:miter lim="800000"/>
            <a:headEnd/>
            <a:tailEnd/>
          </a:ln>
        </p:spPr>
        <p:txBody>
          <a:bodyPr wrap="none">
            <a:spAutoFit/>
          </a:bodyPr>
          <a:lstStyle/>
          <a:p>
            <a:r>
              <a:rPr lang="en-US" sz="1200">
                <a:latin typeface="Calibri" pitchFamily="34" charset="0"/>
              </a:rPr>
              <a:t>c</a:t>
            </a:r>
          </a:p>
        </p:txBody>
      </p:sp>
      <p:sp>
        <p:nvSpPr>
          <p:cNvPr id="34" name="TextBox 33"/>
          <p:cNvSpPr txBox="1"/>
          <p:nvPr/>
        </p:nvSpPr>
        <p:spPr>
          <a:xfrm>
            <a:off x="685800" y="5181600"/>
            <a:ext cx="1956177" cy="1200329"/>
          </a:xfrm>
          <a:prstGeom prst="rect">
            <a:avLst/>
          </a:prstGeom>
          <a:noFill/>
        </p:spPr>
        <p:txBody>
          <a:bodyPr wrap="none" rtlCol="0">
            <a:spAutoFit/>
          </a:bodyPr>
          <a:lstStyle/>
          <a:p>
            <a:r>
              <a:rPr lang="en-US" dirty="0" smtClean="0"/>
              <a:t>b = bandwidth</a:t>
            </a:r>
          </a:p>
          <a:p>
            <a:r>
              <a:rPr lang="en-US" dirty="0" smtClean="0"/>
              <a:t>c = #columns</a:t>
            </a:r>
          </a:p>
          <a:p>
            <a:r>
              <a:rPr lang="en-US" dirty="0" smtClean="0"/>
              <a:t>d = #diagonals</a:t>
            </a:r>
          </a:p>
          <a:p>
            <a:r>
              <a:rPr lang="en-US" dirty="0" smtClean="0"/>
              <a:t>Constraint: </a:t>
            </a:r>
            <a:r>
              <a:rPr lang="en-US" dirty="0" err="1" smtClean="0"/>
              <a:t>c+d</a:t>
            </a:r>
            <a:r>
              <a:rPr lang="en-US" dirty="0" smtClean="0"/>
              <a:t> </a:t>
            </a:r>
            <a:r>
              <a:rPr lang="en-US" dirty="0" smtClean="0">
                <a:sym typeface="Symbol"/>
              </a:rPr>
              <a:t> b</a:t>
            </a:r>
            <a:endParaRPr lang="en-US" dirty="0"/>
          </a:p>
        </p:txBody>
      </p:sp>
    </p:spTree>
    <p:extLst>
      <p:ext uri="{BB962C8B-B14F-4D97-AF65-F5344CB8AC3E}">
        <p14:creationId xmlns:p14="http://schemas.microsoft.com/office/powerpoint/2010/main" val="3605110506"/>
      </p:ext>
    </p:extLst>
  </p:cSld>
  <p:clrMapOvr>
    <a:masterClrMapping/>
  </p:clrMapOvr>
  <p:timing>
    <p:tnLst>
      <p:par>
        <p:cTn xmlns:p14="http://schemas.microsoft.com/office/powerpoint/2010/mai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p:cNvCxnSpPr/>
          <p:nvPr/>
        </p:nvCxnSpPr>
        <p:spPr>
          <a:xfrm>
            <a:off x="1295400" y="1600200"/>
            <a:ext cx="9144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rot="16200000" flipH="1">
            <a:off x="2209800" y="1600200"/>
            <a:ext cx="3657600" cy="36576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rot="5400000">
            <a:off x="5410200" y="5715000"/>
            <a:ext cx="9144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rot="10800000">
            <a:off x="4953000" y="6172200"/>
            <a:ext cx="9144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rot="16200000" flipV="1">
            <a:off x="1295400" y="2514600"/>
            <a:ext cx="3657600" cy="36576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rot="5400000" flipH="1" flipV="1">
            <a:off x="1295400" y="2514600"/>
            <a:ext cx="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1295400" y="2514600"/>
            <a:ext cx="914400" cy="9144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rot="5400000">
            <a:off x="838200" y="2057400"/>
            <a:ext cx="9144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rot="16200000" flipH="1">
            <a:off x="1295400" y="2286000"/>
            <a:ext cx="152400" cy="15240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rot="5400000">
            <a:off x="1333500" y="2552700"/>
            <a:ext cx="228600" cy="0"/>
          </a:xfrm>
          <a:prstGeom prst="line">
            <a:avLst/>
          </a:prstGeom>
          <a:ln>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a:off x="1447800" y="2667000"/>
            <a:ext cx="1828800" cy="0"/>
          </a:xfrm>
          <a:prstGeom prst="line">
            <a:avLst/>
          </a:prstGeom>
          <a:ln>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rot="16200000" flipH="1">
            <a:off x="1981200" y="1600200"/>
            <a:ext cx="152400" cy="15240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a:xfrm>
            <a:off x="2133600" y="1752600"/>
            <a:ext cx="228600"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10" name="Straight Connector 109"/>
          <p:cNvCxnSpPr/>
          <p:nvPr/>
        </p:nvCxnSpPr>
        <p:spPr>
          <a:xfrm>
            <a:off x="1295400" y="2286000"/>
            <a:ext cx="1600200" cy="0"/>
          </a:xfrm>
          <a:prstGeom prst="line">
            <a:avLst/>
          </a:prstGeom>
          <a:ln>
            <a:prstDash val="sysDot"/>
          </a:ln>
        </p:spPr>
        <p:style>
          <a:lnRef idx="1">
            <a:schemeClr val="accent1"/>
          </a:lnRef>
          <a:fillRef idx="0">
            <a:schemeClr val="accent1"/>
          </a:fillRef>
          <a:effectRef idx="0">
            <a:schemeClr val="accent1"/>
          </a:effectRef>
          <a:fontRef idx="minor">
            <a:schemeClr val="tx1"/>
          </a:fontRef>
        </p:style>
      </p:cxnSp>
      <p:grpSp>
        <p:nvGrpSpPr>
          <p:cNvPr id="2" name="Group 135"/>
          <p:cNvGrpSpPr>
            <a:grpSpLocks/>
          </p:cNvGrpSpPr>
          <p:nvPr/>
        </p:nvGrpSpPr>
        <p:grpSpPr bwMode="auto">
          <a:xfrm>
            <a:off x="2895600" y="2286000"/>
            <a:ext cx="381000" cy="381000"/>
            <a:chOff x="3733800" y="1981200"/>
            <a:chExt cx="381000" cy="381000"/>
          </a:xfrm>
        </p:grpSpPr>
        <p:cxnSp>
          <p:nvCxnSpPr>
            <p:cNvPr id="129" name="Straight Connector 128"/>
            <p:cNvCxnSpPr/>
            <p:nvPr/>
          </p:nvCxnSpPr>
          <p:spPr>
            <a:xfrm>
              <a:off x="3733800" y="1981200"/>
              <a:ext cx="228600"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31" name="Straight Connector 130"/>
            <p:cNvCxnSpPr/>
            <p:nvPr/>
          </p:nvCxnSpPr>
          <p:spPr>
            <a:xfrm rot="5400000" flipH="1" flipV="1">
              <a:off x="4000500" y="2247900"/>
              <a:ext cx="228600" cy="0"/>
            </a:xfrm>
            <a:prstGeom prst="line">
              <a:avLst/>
            </a:prstGeom>
            <a:ln>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133" name="Straight Connector 132"/>
            <p:cNvCxnSpPr/>
            <p:nvPr/>
          </p:nvCxnSpPr>
          <p:spPr>
            <a:xfrm rot="16200000" flipH="1">
              <a:off x="3962400" y="1981200"/>
              <a:ext cx="152400" cy="152400"/>
            </a:xfrm>
            <a:prstGeom prst="line">
              <a:avLst/>
            </a:prstGeom>
            <a:ln>
              <a:prstDash val="dash"/>
            </a:ln>
          </p:spPr>
          <p:style>
            <a:lnRef idx="1">
              <a:schemeClr val="accent1"/>
            </a:lnRef>
            <a:fillRef idx="0">
              <a:schemeClr val="accent1"/>
            </a:fillRef>
            <a:effectRef idx="0">
              <a:schemeClr val="accent1"/>
            </a:effectRef>
            <a:fontRef idx="minor">
              <a:schemeClr val="tx1"/>
            </a:fontRef>
          </p:style>
        </p:cxnSp>
      </p:grpSp>
      <p:sp>
        <p:nvSpPr>
          <p:cNvPr id="55313" name="TextBox 181"/>
          <p:cNvSpPr txBox="1">
            <a:spLocks noChangeArrowheads="1"/>
          </p:cNvSpPr>
          <p:nvPr/>
        </p:nvSpPr>
        <p:spPr bwMode="auto">
          <a:xfrm>
            <a:off x="2133600" y="1536700"/>
            <a:ext cx="76200" cy="231775"/>
          </a:xfrm>
          <a:prstGeom prst="rect">
            <a:avLst/>
          </a:prstGeom>
          <a:noFill/>
          <a:ln w="9525">
            <a:noFill/>
            <a:miter lim="800000"/>
            <a:headEnd/>
            <a:tailEnd/>
          </a:ln>
        </p:spPr>
        <p:txBody>
          <a:bodyPr>
            <a:spAutoFit/>
          </a:bodyPr>
          <a:lstStyle/>
          <a:p>
            <a:r>
              <a:rPr lang="en-US" sz="900">
                <a:latin typeface="Calibri" pitchFamily="34" charset="0"/>
              </a:rPr>
              <a:t>1</a:t>
            </a:r>
          </a:p>
        </p:txBody>
      </p:sp>
      <p:sp>
        <p:nvSpPr>
          <p:cNvPr id="55314" name="TextBox 183"/>
          <p:cNvSpPr txBox="1">
            <a:spLocks noChangeArrowheads="1"/>
          </p:cNvSpPr>
          <p:nvPr/>
        </p:nvSpPr>
        <p:spPr bwMode="auto">
          <a:xfrm>
            <a:off x="1295400" y="2362200"/>
            <a:ext cx="76200" cy="230188"/>
          </a:xfrm>
          <a:prstGeom prst="rect">
            <a:avLst/>
          </a:prstGeom>
          <a:noFill/>
          <a:ln w="9525">
            <a:noFill/>
            <a:miter lim="800000"/>
            <a:headEnd/>
            <a:tailEnd/>
          </a:ln>
        </p:spPr>
        <p:txBody>
          <a:bodyPr>
            <a:spAutoFit/>
          </a:bodyPr>
          <a:lstStyle/>
          <a:p>
            <a:r>
              <a:rPr lang="en-US" sz="900">
                <a:latin typeface="Calibri" pitchFamily="34" charset="0"/>
              </a:rPr>
              <a:t>1</a:t>
            </a:r>
          </a:p>
        </p:txBody>
      </p:sp>
      <p:sp>
        <p:nvSpPr>
          <p:cNvPr id="55315" name="TextBox 185"/>
          <p:cNvSpPr txBox="1">
            <a:spLocks noChangeArrowheads="1"/>
          </p:cNvSpPr>
          <p:nvPr/>
        </p:nvSpPr>
        <p:spPr bwMode="auto">
          <a:xfrm rot="10800000" flipV="1">
            <a:off x="3048000" y="2278063"/>
            <a:ext cx="152400" cy="231775"/>
          </a:xfrm>
          <a:prstGeom prst="rect">
            <a:avLst/>
          </a:prstGeom>
          <a:noFill/>
          <a:ln w="9525">
            <a:noFill/>
            <a:miter lim="800000"/>
            <a:headEnd/>
            <a:tailEnd/>
          </a:ln>
        </p:spPr>
        <p:txBody>
          <a:bodyPr>
            <a:spAutoFit/>
          </a:bodyPr>
          <a:lstStyle/>
          <a:p>
            <a:r>
              <a:rPr lang="en-US" sz="900">
                <a:latin typeface="Calibri" pitchFamily="34" charset="0"/>
              </a:rPr>
              <a:t>2</a:t>
            </a:r>
          </a:p>
        </p:txBody>
      </p:sp>
      <p:sp>
        <p:nvSpPr>
          <p:cNvPr id="55316" name="TextBox 197"/>
          <p:cNvSpPr txBox="1">
            <a:spLocks noChangeArrowheads="1"/>
          </p:cNvSpPr>
          <p:nvPr/>
        </p:nvSpPr>
        <p:spPr bwMode="auto">
          <a:xfrm>
            <a:off x="1031875" y="2362200"/>
            <a:ext cx="361950" cy="276225"/>
          </a:xfrm>
          <a:prstGeom prst="rect">
            <a:avLst/>
          </a:prstGeom>
          <a:noFill/>
          <a:ln w="9525">
            <a:noFill/>
            <a:miter lim="800000"/>
            <a:headEnd/>
            <a:tailEnd/>
          </a:ln>
        </p:spPr>
        <p:txBody>
          <a:bodyPr wrap="none">
            <a:spAutoFit/>
          </a:bodyPr>
          <a:lstStyle/>
          <a:p>
            <a:r>
              <a:rPr lang="en-US" sz="1200">
                <a:latin typeface="Calibri" pitchFamily="34" charset="0"/>
              </a:rPr>
              <a:t>Q</a:t>
            </a:r>
            <a:r>
              <a:rPr lang="en-US" sz="1200" baseline="-25000">
                <a:latin typeface="Calibri" pitchFamily="34" charset="0"/>
              </a:rPr>
              <a:t>1</a:t>
            </a:r>
          </a:p>
        </p:txBody>
      </p:sp>
      <p:sp>
        <p:nvSpPr>
          <p:cNvPr id="55317" name="TextBox 198"/>
          <p:cNvSpPr txBox="1">
            <a:spLocks noChangeArrowheads="1"/>
          </p:cNvSpPr>
          <p:nvPr/>
        </p:nvSpPr>
        <p:spPr bwMode="auto">
          <a:xfrm>
            <a:off x="2057400" y="1371600"/>
            <a:ext cx="425450" cy="276225"/>
          </a:xfrm>
          <a:prstGeom prst="rect">
            <a:avLst/>
          </a:prstGeom>
          <a:noFill/>
          <a:ln w="9525">
            <a:noFill/>
            <a:miter lim="800000"/>
            <a:headEnd/>
            <a:tailEnd/>
          </a:ln>
        </p:spPr>
        <p:txBody>
          <a:bodyPr wrap="none">
            <a:spAutoFit/>
          </a:bodyPr>
          <a:lstStyle/>
          <a:p>
            <a:r>
              <a:rPr lang="en-US" sz="1200">
                <a:latin typeface="Calibri" pitchFamily="34" charset="0"/>
              </a:rPr>
              <a:t>Q</a:t>
            </a:r>
            <a:r>
              <a:rPr lang="en-US" sz="1200" baseline="-25000">
                <a:latin typeface="Calibri" pitchFamily="34" charset="0"/>
              </a:rPr>
              <a:t>1</a:t>
            </a:r>
            <a:r>
              <a:rPr lang="en-US" sz="1200" baseline="30000">
                <a:latin typeface="Calibri" pitchFamily="34" charset="0"/>
              </a:rPr>
              <a:t>T</a:t>
            </a:r>
          </a:p>
        </p:txBody>
      </p:sp>
      <p:cxnSp>
        <p:nvCxnSpPr>
          <p:cNvPr id="212" name="Straight Arrow Connector 211"/>
          <p:cNvCxnSpPr/>
          <p:nvPr/>
        </p:nvCxnSpPr>
        <p:spPr>
          <a:xfrm>
            <a:off x="1295400" y="1143000"/>
            <a:ext cx="914400" cy="1588"/>
          </a:xfrm>
          <a:prstGeom prst="straightConnector1">
            <a:avLst/>
          </a:prstGeom>
          <a:ln>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5319" name="TextBox 212"/>
          <p:cNvSpPr txBox="1">
            <a:spLocks noChangeArrowheads="1"/>
          </p:cNvSpPr>
          <p:nvPr/>
        </p:nvSpPr>
        <p:spPr bwMode="auto">
          <a:xfrm>
            <a:off x="1524000" y="914400"/>
            <a:ext cx="454025" cy="276225"/>
          </a:xfrm>
          <a:prstGeom prst="rect">
            <a:avLst/>
          </a:prstGeom>
          <a:noFill/>
          <a:ln w="9525">
            <a:noFill/>
            <a:miter lim="800000"/>
            <a:headEnd/>
            <a:tailEnd/>
          </a:ln>
        </p:spPr>
        <p:txBody>
          <a:bodyPr wrap="none">
            <a:spAutoFit/>
          </a:bodyPr>
          <a:lstStyle/>
          <a:p>
            <a:r>
              <a:rPr lang="en-US" sz="1200">
                <a:latin typeface="Calibri" pitchFamily="34" charset="0"/>
              </a:rPr>
              <a:t>b+1</a:t>
            </a:r>
          </a:p>
        </p:txBody>
      </p:sp>
      <p:cxnSp>
        <p:nvCxnSpPr>
          <p:cNvPr id="215" name="Straight Arrow Connector 214"/>
          <p:cNvCxnSpPr/>
          <p:nvPr/>
        </p:nvCxnSpPr>
        <p:spPr>
          <a:xfrm rot="5400000">
            <a:off x="229394" y="2056606"/>
            <a:ext cx="914400" cy="1588"/>
          </a:xfrm>
          <a:prstGeom prst="straightConnector1">
            <a:avLst/>
          </a:prstGeom>
          <a:ln>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5321" name="TextBox 215"/>
          <p:cNvSpPr txBox="1">
            <a:spLocks noChangeArrowheads="1"/>
          </p:cNvSpPr>
          <p:nvPr/>
        </p:nvSpPr>
        <p:spPr bwMode="auto">
          <a:xfrm rot="-5400000">
            <a:off x="368300" y="1905000"/>
            <a:ext cx="454025" cy="276225"/>
          </a:xfrm>
          <a:prstGeom prst="rect">
            <a:avLst/>
          </a:prstGeom>
          <a:noFill/>
          <a:ln w="9525">
            <a:noFill/>
            <a:miter lim="800000"/>
            <a:headEnd/>
            <a:tailEnd/>
          </a:ln>
        </p:spPr>
        <p:txBody>
          <a:bodyPr wrap="none">
            <a:spAutoFit/>
          </a:bodyPr>
          <a:lstStyle/>
          <a:p>
            <a:r>
              <a:rPr lang="en-US" sz="1200">
                <a:latin typeface="Calibri" pitchFamily="34" charset="0"/>
              </a:rPr>
              <a:t>b+1</a:t>
            </a:r>
          </a:p>
        </p:txBody>
      </p:sp>
      <p:cxnSp>
        <p:nvCxnSpPr>
          <p:cNvPr id="218" name="Straight Arrow Connector 217"/>
          <p:cNvCxnSpPr/>
          <p:nvPr/>
        </p:nvCxnSpPr>
        <p:spPr>
          <a:xfrm>
            <a:off x="1981200" y="1371600"/>
            <a:ext cx="228600" cy="1588"/>
          </a:xfrm>
          <a:prstGeom prst="straightConnector1">
            <a:avLst/>
          </a:prstGeom>
          <a:ln>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5323" name="TextBox 223"/>
          <p:cNvSpPr txBox="1">
            <a:spLocks noChangeArrowheads="1"/>
          </p:cNvSpPr>
          <p:nvPr/>
        </p:nvSpPr>
        <p:spPr bwMode="auto">
          <a:xfrm>
            <a:off x="1873250" y="1143000"/>
            <a:ext cx="454025" cy="276225"/>
          </a:xfrm>
          <a:prstGeom prst="rect">
            <a:avLst/>
          </a:prstGeom>
          <a:noFill/>
          <a:ln w="9525">
            <a:noFill/>
            <a:miter lim="800000"/>
            <a:headEnd/>
            <a:tailEnd/>
          </a:ln>
        </p:spPr>
        <p:txBody>
          <a:bodyPr wrap="none">
            <a:spAutoFit/>
          </a:bodyPr>
          <a:lstStyle/>
          <a:p>
            <a:r>
              <a:rPr lang="en-US" sz="1200">
                <a:latin typeface="Calibri" pitchFamily="34" charset="0"/>
              </a:rPr>
              <a:t>d+1</a:t>
            </a:r>
          </a:p>
        </p:txBody>
      </p:sp>
      <p:cxnSp>
        <p:nvCxnSpPr>
          <p:cNvPr id="226" name="Straight Arrow Connector 225"/>
          <p:cNvCxnSpPr/>
          <p:nvPr/>
        </p:nvCxnSpPr>
        <p:spPr>
          <a:xfrm rot="5400000" flipH="1" flipV="1">
            <a:off x="875507" y="2401094"/>
            <a:ext cx="228600" cy="1587"/>
          </a:xfrm>
          <a:prstGeom prst="straightConnector1">
            <a:avLst/>
          </a:prstGeom>
          <a:ln>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5325" name="TextBox 226"/>
          <p:cNvSpPr txBox="1">
            <a:spLocks noChangeArrowheads="1"/>
          </p:cNvSpPr>
          <p:nvPr/>
        </p:nvSpPr>
        <p:spPr bwMode="auto">
          <a:xfrm rot="-5400000">
            <a:off x="673100" y="2286000"/>
            <a:ext cx="454025" cy="276225"/>
          </a:xfrm>
          <a:prstGeom prst="rect">
            <a:avLst/>
          </a:prstGeom>
          <a:noFill/>
          <a:ln w="9525">
            <a:noFill/>
            <a:miter lim="800000"/>
            <a:headEnd/>
            <a:tailEnd/>
          </a:ln>
        </p:spPr>
        <p:txBody>
          <a:bodyPr wrap="none">
            <a:spAutoFit/>
          </a:bodyPr>
          <a:lstStyle/>
          <a:p>
            <a:r>
              <a:rPr lang="en-US" sz="1200">
                <a:latin typeface="Calibri" pitchFamily="34" charset="0"/>
              </a:rPr>
              <a:t>d+1</a:t>
            </a:r>
          </a:p>
        </p:txBody>
      </p:sp>
      <p:sp>
        <p:nvSpPr>
          <p:cNvPr id="55326" name="TextBox 227"/>
          <p:cNvSpPr txBox="1">
            <a:spLocks noChangeArrowheads="1"/>
          </p:cNvSpPr>
          <p:nvPr/>
        </p:nvSpPr>
        <p:spPr bwMode="auto">
          <a:xfrm>
            <a:off x="2514600" y="1524000"/>
            <a:ext cx="269875" cy="276225"/>
          </a:xfrm>
          <a:prstGeom prst="rect">
            <a:avLst/>
          </a:prstGeom>
          <a:noFill/>
          <a:ln w="9525">
            <a:noFill/>
            <a:miter lim="800000"/>
            <a:headEnd/>
            <a:tailEnd/>
          </a:ln>
        </p:spPr>
        <p:txBody>
          <a:bodyPr wrap="none">
            <a:spAutoFit/>
          </a:bodyPr>
          <a:lstStyle/>
          <a:p>
            <a:r>
              <a:rPr lang="en-US" sz="1200">
                <a:latin typeface="Calibri" pitchFamily="34" charset="0"/>
              </a:rPr>
              <a:t>c</a:t>
            </a:r>
          </a:p>
        </p:txBody>
      </p:sp>
      <p:cxnSp>
        <p:nvCxnSpPr>
          <p:cNvPr id="231" name="Straight Arrow Connector 230"/>
          <p:cNvCxnSpPr/>
          <p:nvPr/>
        </p:nvCxnSpPr>
        <p:spPr>
          <a:xfrm rot="5400000">
            <a:off x="2439194" y="1675606"/>
            <a:ext cx="152400" cy="1588"/>
          </a:xfrm>
          <a:prstGeom prst="straightConnector1">
            <a:avLst/>
          </a:prstGeom>
          <a:ln w="3175">
            <a:solidFill>
              <a:schemeClr val="tx1"/>
            </a:solidFill>
            <a:headEnd type="diamond" w="med" len="med"/>
            <a:tailEnd type="diamond" w="med" len="med"/>
          </a:ln>
        </p:spPr>
        <p:style>
          <a:lnRef idx="1">
            <a:schemeClr val="accent1"/>
          </a:lnRef>
          <a:fillRef idx="0">
            <a:schemeClr val="accent1"/>
          </a:fillRef>
          <a:effectRef idx="0">
            <a:schemeClr val="accent1"/>
          </a:effectRef>
          <a:fontRef idx="minor">
            <a:schemeClr val="tx1"/>
          </a:fontRef>
        </p:style>
      </p:cxnSp>
      <p:cxnSp>
        <p:nvCxnSpPr>
          <p:cNvPr id="240" name="Straight Arrow Connector 239"/>
          <p:cNvCxnSpPr/>
          <p:nvPr/>
        </p:nvCxnSpPr>
        <p:spPr>
          <a:xfrm>
            <a:off x="2895600" y="1965325"/>
            <a:ext cx="381000" cy="1588"/>
          </a:xfrm>
          <a:prstGeom prst="straightConnector1">
            <a:avLst/>
          </a:prstGeom>
          <a:ln>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55329" name="TextBox 240"/>
          <p:cNvSpPr txBox="1">
            <a:spLocks noChangeArrowheads="1"/>
          </p:cNvSpPr>
          <p:nvPr/>
        </p:nvSpPr>
        <p:spPr bwMode="auto">
          <a:xfrm>
            <a:off x="2895600" y="1706563"/>
            <a:ext cx="454025" cy="276225"/>
          </a:xfrm>
          <a:prstGeom prst="rect">
            <a:avLst/>
          </a:prstGeom>
          <a:noFill/>
          <a:ln w="9525">
            <a:noFill/>
            <a:miter lim="800000"/>
            <a:headEnd/>
            <a:tailEnd/>
          </a:ln>
        </p:spPr>
        <p:txBody>
          <a:bodyPr wrap="none">
            <a:spAutoFit/>
          </a:bodyPr>
          <a:lstStyle/>
          <a:p>
            <a:r>
              <a:rPr lang="en-US" sz="1200">
                <a:latin typeface="Calibri" pitchFamily="34" charset="0"/>
              </a:rPr>
              <a:t>d+c</a:t>
            </a:r>
          </a:p>
        </p:txBody>
      </p:sp>
      <p:cxnSp>
        <p:nvCxnSpPr>
          <p:cNvPr id="243" name="Straight Arrow Connector 242"/>
          <p:cNvCxnSpPr/>
          <p:nvPr/>
        </p:nvCxnSpPr>
        <p:spPr>
          <a:xfrm rot="5400000">
            <a:off x="3238501" y="2476500"/>
            <a:ext cx="381000" cy="3175"/>
          </a:xfrm>
          <a:prstGeom prst="straightConnector1">
            <a:avLst/>
          </a:prstGeom>
          <a:ln>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55331" name="TextBox 243"/>
          <p:cNvSpPr txBox="1">
            <a:spLocks noChangeArrowheads="1"/>
          </p:cNvSpPr>
          <p:nvPr/>
        </p:nvSpPr>
        <p:spPr bwMode="auto">
          <a:xfrm>
            <a:off x="3429000" y="2286000"/>
            <a:ext cx="454025" cy="276225"/>
          </a:xfrm>
          <a:prstGeom prst="rect">
            <a:avLst/>
          </a:prstGeom>
          <a:noFill/>
          <a:ln w="9525">
            <a:noFill/>
            <a:miter lim="800000"/>
            <a:headEnd/>
            <a:tailEnd/>
          </a:ln>
        </p:spPr>
        <p:txBody>
          <a:bodyPr wrap="none">
            <a:spAutoFit/>
          </a:bodyPr>
          <a:lstStyle/>
          <a:p>
            <a:r>
              <a:rPr lang="en-US" sz="1200">
                <a:latin typeface="Calibri" pitchFamily="34" charset="0"/>
              </a:rPr>
              <a:t>d+c</a:t>
            </a:r>
          </a:p>
        </p:txBody>
      </p:sp>
      <p:sp>
        <p:nvSpPr>
          <p:cNvPr id="55332" name="TextBox 105"/>
          <p:cNvSpPr txBox="1">
            <a:spLocks noChangeArrowheads="1"/>
          </p:cNvSpPr>
          <p:nvPr/>
        </p:nvSpPr>
        <p:spPr bwMode="auto">
          <a:xfrm>
            <a:off x="811213" y="171450"/>
            <a:ext cx="7512050" cy="585788"/>
          </a:xfrm>
          <a:prstGeom prst="rect">
            <a:avLst/>
          </a:prstGeom>
          <a:noFill/>
          <a:ln w="9525">
            <a:noFill/>
            <a:miter lim="800000"/>
            <a:headEnd/>
            <a:tailEnd/>
          </a:ln>
        </p:spPr>
        <p:txBody>
          <a:bodyPr>
            <a:spAutoFit/>
          </a:bodyPr>
          <a:lstStyle/>
          <a:p>
            <a:pPr algn="ctr"/>
            <a:r>
              <a:rPr lang="en-US" sz="3200" dirty="0" smtClean="0">
                <a:solidFill>
                  <a:schemeClr val="tx1"/>
                </a:solidFill>
                <a:latin typeface="Calibri" pitchFamily="34" charset="0"/>
              </a:rPr>
              <a:t>Successive </a:t>
            </a:r>
            <a:r>
              <a:rPr lang="en-US" sz="3200" dirty="0">
                <a:solidFill>
                  <a:schemeClr val="tx1"/>
                </a:solidFill>
                <a:latin typeface="Calibri" pitchFamily="34" charset="0"/>
              </a:rPr>
              <a:t>Band Reduction</a:t>
            </a:r>
          </a:p>
        </p:txBody>
      </p:sp>
      <p:sp>
        <p:nvSpPr>
          <p:cNvPr id="55333" name="TextBox 228"/>
          <p:cNvSpPr txBox="1">
            <a:spLocks noChangeArrowheads="1"/>
          </p:cNvSpPr>
          <p:nvPr/>
        </p:nvSpPr>
        <p:spPr bwMode="auto">
          <a:xfrm>
            <a:off x="1227138" y="2667000"/>
            <a:ext cx="269875" cy="276225"/>
          </a:xfrm>
          <a:prstGeom prst="rect">
            <a:avLst/>
          </a:prstGeom>
          <a:noFill/>
          <a:ln w="9525">
            <a:solidFill>
              <a:schemeClr val="bg1"/>
            </a:solidFill>
            <a:miter lim="800000"/>
            <a:headEnd/>
            <a:tailEnd/>
          </a:ln>
        </p:spPr>
        <p:txBody>
          <a:bodyPr wrap="none">
            <a:spAutoFit/>
          </a:bodyPr>
          <a:lstStyle/>
          <a:p>
            <a:r>
              <a:rPr lang="en-US" sz="1200">
                <a:latin typeface="Calibri" pitchFamily="34" charset="0"/>
              </a:rPr>
              <a:t>c</a:t>
            </a:r>
          </a:p>
        </p:txBody>
      </p:sp>
      <p:cxnSp>
        <p:nvCxnSpPr>
          <p:cNvPr id="62" name="Straight Arrow Connector 61"/>
          <p:cNvCxnSpPr/>
          <p:nvPr/>
        </p:nvCxnSpPr>
        <p:spPr>
          <a:xfrm rot="10800000">
            <a:off x="1295400" y="2743200"/>
            <a:ext cx="152400" cy="1588"/>
          </a:xfrm>
          <a:prstGeom prst="straightConnector1">
            <a:avLst/>
          </a:prstGeom>
          <a:ln w="3175">
            <a:solidFill>
              <a:schemeClr val="tx1"/>
            </a:solidFill>
            <a:headEnd type="diamond" w="med" len="med"/>
            <a:tailEnd type="diamond" w="med" len="med"/>
          </a:ln>
        </p:spPr>
        <p:style>
          <a:lnRef idx="1">
            <a:schemeClr val="accent1"/>
          </a:lnRef>
          <a:fillRef idx="0">
            <a:schemeClr val="accent1"/>
          </a:fillRef>
          <a:effectRef idx="0">
            <a:schemeClr val="accent1"/>
          </a:effectRef>
          <a:fontRef idx="minor">
            <a:schemeClr val="tx1"/>
          </a:fontRef>
        </p:style>
      </p:cxnSp>
      <p:sp>
        <p:nvSpPr>
          <p:cNvPr id="42" name="TextBox 41"/>
          <p:cNvSpPr txBox="1"/>
          <p:nvPr/>
        </p:nvSpPr>
        <p:spPr>
          <a:xfrm>
            <a:off x="685800" y="5181600"/>
            <a:ext cx="1956177" cy="1200329"/>
          </a:xfrm>
          <a:prstGeom prst="rect">
            <a:avLst/>
          </a:prstGeom>
          <a:noFill/>
        </p:spPr>
        <p:txBody>
          <a:bodyPr wrap="none" rtlCol="0">
            <a:spAutoFit/>
          </a:bodyPr>
          <a:lstStyle/>
          <a:p>
            <a:r>
              <a:rPr lang="en-US" dirty="0" smtClean="0"/>
              <a:t>b = bandwidth</a:t>
            </a:r>
          </a:p>
          <a:p>
            <a:r>
              <a:rPr lang="en-US" dirty="0" smtClean="0"/>
              <a:t>c = #columns</a:t>
            </a:r>
          </a:p>
          <a:p>
            <a:r>
              <a:rPr lang="en-US" dirty="0" smtClean="0"/>
              <a:t>d = #diagonals</a:t>
            </a:r>
          </a:p>
          <a:p>
            <a:r>
              <a:rPr lang="en-US" dirty="0" smtClean="0"/>
              <a:t>Constraint: </a:t>
            </a:r>
            <a:r>
              <a:rPr lang="en-US" dirty="0" err="1" smtClean="0"/>
              <a:t>c+d</a:t>
            </a:r>
            <a:r>
              <a:rPr lang="en-US" dirty="0" smtClean="0"/>
              <a:t> </a:t>
            </a:r>
            <a:r>
              <a:rPr lang="en-US" dirty="0" smtClean="0">
                <a:sym typeface="Symbol"/>
              </a:rPr>
              <a:t> b</a:t>
            </a:r>
            <a:endParaRPr lang="en-US" dirty="0"/>
          </a:p>
        </p:txBody>
      </p:sp>
    </p:spTree>
    <p:extLst>
      <p:ext uri="{BB962C8B-B14F-4D97-AF65-F5344CB8AC3E}">
        <p14:creationId xmlns:p14="http://schemas.microsoft.com/office/powerpoint/2010/main" val="1026176081"/>
      </p:ext>
    </p:extLst>
  </p:cSld>
  <p:clrMapOvr>
    <a:masterClrMapping/>
  </p:clrMapOvr>
  <p:timing>
    <p:tnLst>
      <p:par>
        <p:cTn xmlns:p14="http://schemas.microsoft.com/office/powerpoint/2010/mai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p:cNvCxnSpPr/>
          <p:nvPr/>
        </p:nvCxnSpPr>
        <p:spPr>
          <a:xfrm>
            <a:off x="1295400" y="1600200"/>
            <a:ext cx="9144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rot="16200000" flipH="1">
            <a:off x="2209800" y="1600200"/>
            <a:ext cx="3657600" cy="36576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rot="5400000">
            <a:off x="5410200" y="5715000"/>
            <a:ext cx="9144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rot="10800000">
            <a:off x="4953000" y="6172200"/>
            <a:ext cx="9144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rot="16200000" flipV="1">
            <a:off x="1295400" y="2514600"/>
            <a:ext cx="3657600" cy="36576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rot="5400000" flipH="1" flipV="1">
            <a:off x="1295400" y="2514600"/>
            <a:ext cx="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1295400" y="2514600"/>
            <a:ext cx="914400" cy="9144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rot="5400000">
            <a:off x="838200" y="2057400"/>
            <a:ext cx="9144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rot="16200000" flipH="1">
            <a:off x="1295400" y="2286000"/>
            <a:ext cx="152400" cy="15240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rot="5400000">
            <a:off x="1333500" y="2552700"/>
            <a:ext cx="228600" cy="0"/>
          </a:xfrm>
          <a:prstGeom prst="line">
            <a:avLst/>
          </a:prstGeom>
          <a:ln>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a:off x="1447800" y="2667000"/>
            <a:ext cx="1828800" cy="0"/>
          </a:xfrm>
          <a:prstGeom prst="line">
            <a:avLst/>
          </a:prstGeom>
          <a:ln>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rot="16200000" flipH="1">
            <a:off x="1981200" y="1600200"/>
            <a:ext cx="152400" cy="15240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a:xfrm>
            <a:off x="2133600" y="1752600"/>
            <a:ext cx="228600"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a:xfrm rot="5400000">
            <a:off x="1447800" y="2667000"/>
            <a:ext cx="1828800" cy="0"/>
          </a:xfrm>
          <a:prstGeom prst="line">
            <a:avLst/>
          </a:prstGeom>
          <a:ln>
            <a:prstDash val="sysDot"/>
          </a:ln>
        </p:spPr>
        <p:style>
          <a:lnRef idx="1">
            <a:schemeClr val="accent1"/>
          </a:lnRef>
          <a:fillRef idx="0">
            <a:schemeClr val="accent1"/>
          </a:fillRef>
          <a:effectRef idx="0">
            <a:schemeClr val="accent1"/>
          </a:effectRef>
          <a:fontRef idx="minor">
            <a:schemeClr val="tx1"/>
          </a:fontRef>
        </p:style>
      </p:cxnSp>
      <p:cxnSp>
        <p:nvCxnSpPr>
          <p:cNvPr id="110" name="Straight Connector 109"/>
          <p:cNvCxnSpPr/>
          <p:nvPr/>
        </p:nvCxnSpPr>
        <p:spPr>
          <a:xfrm>
            <a:off x="1295400" y="2286000"/>
            <a:ext cx="1600200" cy="0"/>
          </a:xfrm>
          <a:prstGeom prst="line">
            <a:avLst/>
          </a:prstGeom>
          <a:ln>
            <a:prstDash val="sysDot"/>
          </a:ln>
        </p:spPr>
        <p:style>
          <a:lnRef idx="1">
            <a:schemeClr val="accent1"/>
          </a:lnRef>
          <a:fillRef idx="0">
            <a:schemeClr val="accent1"/>
          </a:fillRef>
          <a:effectRef idx="0">
            <a:schemeClr val="accent1"/>
          </a:effectRef>
          <a:fontRef idx="minor">
            <a:schemeClr val="tx1"/>
          </a:fontRef>
        </p:style>
      </p:cxnSp>
      <p:cxnSp>
        <p:nvCxnSpPr>
          <p:cNvPr id="112" name="Straight Connector 111"/>
          <p:cNvCxnSpPr/>
          <p:nvPr/>
        </p:nvCxnSpPr>
        <p:spPr>
          <a:xfrm rot="5400000">
            <a:off x="1181100" y="2400300"/>
            <a:ext cx="1600200" cy="0"/>
          </a:xfrm>
          <a:prstGeom prst="line">
            <a:avLst/>
          </a:prstGeom>
          <a:ln>
            <a:prstDash val="sysDot"/>
          </a:ln>
        </p:spPr>
        <p:style>
          <a:lnRef idx="1">
            <a:schemeClr val="accent1"/>
          </a:lnRef>
          <a:fillRef idx="0">
            <a:schemeClr val="accent1"/>
          </a:fillRef>
          <a:effectRef idx="0">
            <a:schemeClr val="accent1"/>
          </a:effectRef>
          <a:fontRef idx="minor">
            <a:schemeClr val="tx1"/>
          </a:fontRef>
        </p:style>
      </p:cxnSp>
      <p:grpSp>
        <p:nvGrpSpPr>
          <p:cNvPr id="2" name="Group 135"/>
          <p:cNvGrpSpPr>
            <a:grpSpLocks/>
          </p:cNvGrpSpPr>
          <p:nvPr/>
        </p:nvGrpSpPr>
        <p:grpSpPr bwMode="auto">
          <a:xfrm>
            <a:off x="2895600" y="2286000"/>
            <a:ext cx="381000" cy="381000"/>
            <a:chOff x="3733800" y="1981200"/>
            <a:chExt cx="381000" cy="381000"/>
          </a:xfrm>
        </p:grpSpPr>
        <p:cxnSp>
          <p:nvCxnSpPr>
            <p:cNvPr id="129" name="Straight Connector 128"/>
            <p:cNvCxnSpPr/>
            <p:nvPr/>
          </p:nvCxnSpPr>
          <p:spPr>
            <a:xfrm>
              <a:off x="3733800" y="1981200"/>
              <a:ext cx="228600"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31" name="Straight Connector 130"/>
            <p:cNvCxnSpPr/>
            <p:nvPr/>
          </p:nvCxnSpPr>
          <p:spPr>
            <a:xfrm rot="5400000" flipH="1" flipV="1">
              <a:off x="4000500" y="2247900"/>
              <a:ext cx="228600" cy="0"/>
            </a:xfrm>
            <a:prstGeom prst="line">
              <a:avLst/>
            </a:prstGeom>
            <a:ln>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133" name="Straight Connector 132"/>
            <p:cNvCxnSpPr/>
            <p:nvPr/>
          </p:nvCxnSpPr>
          <p:spPr>
            <a:xfrm rot="16200000" flipH="1">
              <a:off x="3962400" y="1981200"/>
              <a:ext cx="152400" cy="152400"/>
            </a:xfrm>
            <a:prstGeom prst="line">
              <a:avLst/>
            </a:prstGeom>
            <a:ln>
              <a:prstDash val="dash"/>
            </a:ln>
          </p:spPr>
          <p:style>
            <a:lnRef idx="1">
              <a:schemeClr val="accent1"/>
            </a:lnRef>
            <a:fillRef idx="0">
              <a:schemeClr val="accent1"/>
            </a:fillRef>
            <a:effectRef idx="0">
              <a:schemeClr val="accent1"/>
            </a:effectRef>
            <a:fontRef idx="minor">
              <a:schemeClr val="tx1"/>
            </a:fontRef>
          </p:style>
        </p:cxnSp>
      </p:grpSp>
      <p:grpSp>
        <p:nvGrpSpPr>
          <p:cNvPr id="3" name="Group 140"/>
          <p:cNvGrpSpPr>
            <a:grpSpLocks/>
          </p:cNvGrpSpPr>
          <p:nvPr/>
        </p:nvGrpSpPr>
        <p:grpSpPr bwMode="auto">
          <a:xfrm rot="10800000">
            <a:off x="1981200" y="3200400"/>
            <a:ext cx="381000" cy="381000"/>
            <a:chOff x="3733800" y="1981200"/>
            <a:chExt cx="381000" cy="381000"/>
          </a:xfrm>
        </p:grpSpPr>
        <p:cxnSp>
          <p:nvCxnSpPr>
            <p:cNvPr id="142" name="Straight Connector 141"/>
            <p:cNvCxnSpPr/>
            <p:nvPr/>
          </p:nvCxnSpPr>
          <p:spPr>
            <a:xfrm>
              <a:off x="3740150" y="1981200"/>
              <a:ext cx="228600"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43" name="Straight Connector 142"/>
            <p:cNvCxnSpPr/>
            <p:nvPr/>
          </p:nvCxnSpPr>
          <p:spPr>
            <a:xfrm rot="5400000" flipH="1" flipV="1">
              <a:off x="4006850" y="2247900"/>
              <a:ext cx="228600" cy="0"/>
            </a:xfrm>
            <a:prstGeom prst="line">
              <a:avLst/>
            </a:prstGeom>
            <a:ln>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144" name="Straight Connector 143"/>
            <p:cNvCxnSpPr/>
            <p:nvPr/>
          </p:nvCxnSpPr>
          <p:spPr>
            <a:xfrm rot="16200000" flipH="1">
              <a:off x="3968750" y="1981200"/>
              <a:ext cx="152400" cy="152400"/>
            </a:xfrm>
            <a:prstGeom prst="line">
              <a:avLst/>
            </a:prstGeom>
            <a:ln>
              <a:prstDash val="dash"/>
            </a:ln>
          </p:spPr>
          <p:style>
            <a:lnRef idx="1">
              <a:schemeClr val="accent1"/>
            </a:lnRef>
            <a:fillRef idx="0">
              <a:schemeClr val="accent1"/>
            </a:fillRef>
            <a:effectRef idx="0">
              <a:schemeClr val="accent1"/>
            </a:effectRef>
            <a:fontRef idx="minor">
              <a:schemeClr val="tx1"/>
            </a:fontRef>
          </p:style>
        </p:cxnSp>
      </p:grpSp>
      <p:sp>
        <p:nvSpPr>
          <p:cNvPr id="56340" name="TextBox 181"/>
          <p:cNvSpPr txBox="1">
            <a:spLocks noChangeArrowheads="1"/>
          </p:cNvSpPr>
          <p:nvPr/>
        </p:nvSpPr>
        <p:spPr bwMode="auto">
          <a:xfrm>
            <a:off x="2133600" y="1536700"/>
            <a:ext cx="76200" cy="231775"/>
          </a:xfrm>
          <a:prstGeom prst="rect">
            <a:avLst/>
          </a:prstGeom>
          <a:noFill/>
          <a:ln w="9525">
            <a:noFill/>
            <a:miter lim="800000"/>
            <a:headEnd/>
            <a:tailEnd/>
          </a:ln>
        </p:spPr>
        <p:txBody>
          <a:bodyPr>
            <a:spAutoFit/>
          </a:bodyPr>
          <a:lstStyle/>
          <a:p>
            <a:r>
              <a:rPr lang="en-US" sz="900">
                <a:latin typeface="Calibri" pitchFamily="34" charset="0"/>
              </a:rPr>
              <a:t>1</a:t>
            </a:r>
          </a:p>
        </p:txBody>
      </p:sp>
      <p:sp>
        <p:nvSpPr>
          <p:cNvPr id="56341" name="TextBox 183"/>
          <p:cNvSpPr txBox="1">
            <a:spLocks noChangeArrowheads="1"/>
          </p:cNvSpPr>
          <p:nvPr/>
        </p:nvSpPr>
        <p:spPr bwMode="auto">
          <a:xfrm>
            <a:off x="1295400" y="2362200"/>
            <a:ext cx="76200" cy="230188"/>
          </a:xfrm>
          <a:prstGeom prst="rect">
            <a:avLst/>
          </a:prstGeom>
          <a:noFill/>
          <a:ln w="9525">
            <a:noFill/>
            <a:miter lim="800000"/>
            <a:headEnd/>
            <a:tailEnd/>
          </a:ln>
        </p:spPr>
        <p:txBody>
          <a:bodyPr>
            <a:spAutoFit/>
          </a:bodyPr>
          <a:lstStyle/>
          <a:p>
            <a:r>
              <a:rPr lang="en-US" sz="900">
                <a:latin typeface="Calibri" pitchFamily="34" charset="0"/>
              </a:rPr>
              <a:t>1</a:t>
            </a:r>
          </a:p>
        </p:txBody>
      </p:sp>
      <p:sp>
        <p:nvSpPr>
          <p:cNvPr id="56342" name="TextBox 184"/>
          <p:cNvSpPr txBox="1">
            <a:spLocks noChangeArrowheads="1"/>
          </p:cNvSpPr>
          <p:nvPr/>
        </p:nvSpPr>
        <p:spPr bwMode="auto">
          <a:xfrm rot="10800000" flipV="1">
            <a:off x="1981200" y="3268663"/>
            <a:ext cx="152400" cy="231775"/>
          </a:xfrm>
          <a:prstGeom prst="rect">
            <a:avLst/>
          </a:prstGeom>
          <a:noFill/>
          <a:ln w="9525">
            <a:noFill/>
            <a:miter lim="800000"/>
            <a:headEnd/>
            <a:tailEnd/>
          </a:ln>
        </p:spPr>
        <p:txBody>
          <a:bodyPr>
            <a:spAutoFit/>
          </a:bodyPr>
          <a:lstStyle/>
          <a:p>
            <a:r>
              <a:rPr lang="en-US" sz="900">
                <a:latin typeface="Calibri" pitchFamily="34" charset="0"/>
              </a:rPr>
              <a:t>2</a:t>
            </a:r>
          </a:p>
        </p:txBody>
      </p:sp>
      <p:sp>
        <p:nvSpPr>
          <p:cNvPr id="56343" name="TextBox 185"/>
          <p:cNvSpPr txBox="1">
            <a:spLocks noChangeArrowheads="1"/>
          </p:cNvSpPr>
          <p:nvPr/>
        </p:nvSpPr>
        <p:spPr bwMode="auto">
          <a:xfrm rot="10800000" flipV="1">
            <a:off x="3048000" y="2278063"/>
            <a:ext cx="152400" cy="231775"/>
          </a:xfrm>
          <a:prstGeom prst="rect">
            <a:avLst/>
          </a:prstGeom>
          <a:noFill/>
          <a:ln w="9525">
            <a:noFill/>
            <a:miter lim="800000"/>
            <a:headEnd/>
            <a:tailEnd/>
          </a:ln>
        </p:spPr>
        <p:txBody>
          <a:bodyPr>
            <a:spAutoFit/>
          </a:bodyPr>
          <a:lstStyle/>
          <a:p>
            <a:r>
              <a:rPr lang="en-US" sz="900">
                <a:latin typeface="Calibri" pitchFamily="34" charset="0"/>
              </a:rPr>
              <a:t>2</a:t>
            </a:r>
          </a:p>
        </p:txBody>
      </p:sp>
      <p:sp>
        <p:nvSpPr>
          <p:cNvPr id="56344" name="TextBox 197"/>
          <p:cNvSpPr txBox="1">
            <a:spLocks noChangeArrowheads="1"/>
          </p:cNvSpPr>
          <p:nvPr/>
        </p:nvSpPr>
        <p:spPr bwMode="auto">
          <a:xfrm>
            <a:off x="1031875" y="2362200"/>
            <a:ext cx="361950" cy="276225"/>
          </a:xfrm>
          <a:prstGeom prst="rect">
            <a:avLst/>
          </a:prstGeom>
          <a:noFill/>
          <a:ln w="9525">
            <a:noFill/>
            <a:miter lim="800000"/>
            <a:headEnd/>
            <a:tailEnd/>
          </a:ln>
        </p:spPr>
        <p:txBody>
          <a:bodyPr wrap="none">
            <a:spAutoFit/>
          </a:bodyPr>
          <a:lstStyle/>
          <a:p>
            <a:r>
              <a:rPr lang="en-US" sz="1200">
                <a:latin typeface="Calibri" pitchFamily="34" charset="0"/>
              </a:rPr>
              <a:t>Q</a:t>
            </a:r>
            <a:r>
              <a:rPr lang="en-US" sz="1200" baseline="-25000">
                <a:latin typeface="Calibri" pitchFamily="34" charset="0"/>
              </a:rPr>
              <a:t>1</a:t>
            </a:r>
          </a:p>
        </p:txBody>
      </p:sp>
      <p:sp>
        <p:nvSpPr>
          <p:cNvPr id="56345" name="TextBox 198"/>
          <p:cNvSpPr txBox="1">
            <a:spLocks noChangeArrowheads="1"/>
          </p:cNvSpPr>
          <p:nvPr/>
        </p:nvSpPr>
        <p:spPr bwMode="auto">
          <a:xfrm>
            <a:off x="2057400" y="1371600"/>
            <a:ext cx="425450" cy="276225"/>
          </a:xfrm>
          <a:prstGeom prst="rect">
            <a:avLst/>
          </a:prstGeom>
          <a:noFill/>
          <a:ln w="9525">
            <a:noFill/>
            <a:miter lim="800000"/>
            <a:headEnd/>
            <a:tailEnd/>
          </a:ln>
        </p:spPr>
        <p:txBody>
          <a:bodyPr wrap="none">
            <a:spAutoFit/>
          </a:bodyPr>
          <a:lstStyle/>
          <a:p>
            <a:r>
              <a:rPr lang="en-US" sz="1200">
                <a:latin typeface="Calibri" pitchFamily="34" charset="0"/>
              </a:rPr>
              <a:t>Q</a:t>
            </a:r>
            <a:r>
              <a:rPr lang="en-US" sz="1200" baseline="-25000">
                <a:latin typeface="Calibri" pitchFamily="34" charset="0"/>
              </a:rPr>
              <a:t>1</a:t>
            </a:r>
            <a:r>
              <a:rPr lang="en-US" sz="1200" baseline="30000">
                <a:latin typeface="Calibri" pitchFamily="34" charset="0"/>
              </a:rPr>
              <a:t>T</a:t>
            </a:r>
          </a:p>
        </p:txBody>
      </p:sp>
      <p:cxnSp>
        <p:nvCxnSpPr>
          <p:cNvPr id="212" name="Straight Arrow Connector 211"/>
          <p:cNvCxnSpPr/>
          <p:nvPr/>
        </p:nvCxnSpPr>
        <p:spPr>
          <a:xfrm>
            <a:off x="1295400" y="1143000"/>
            <a:ext cx="914400" cy="1588"/>
          </a:xfrm>
          <a:prstGeom prst="straightConnector1">
            <a:avLst/>
          </a:prstGeom>
          <a:ln>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6347" name="TextBox 212"/>
          <p:cNvSpPr txBox="1">
            <a:spLocks noChangeArrowheads="1"/>
          </p:cNvSpPr>
          <p:nvPr/>
        </p:nvSpPr>
        <p:spPr bwMode="auto">
          <a:xfrm>
            <a:off x="1524000" y="914400"/>
            <a:ext cx="454025" cy="276225"/>
          </a:xfrm>
          <a:prstGeom prst="rect">
            <a:avLst/>
          </a:prstGeom>
          <a:noFill/>
          <a:ln w="9525">
            <a:noFill/>
            <a:miter lim="800000"/>
            <a:headEnd/>
            <a:tailEnd/>
          </a:ln>
        </p:spPr>
        <p:txBody>
          <a:bodyPr wrap="none">
            <a:spAutoFit/>
          </a:bodyPr>
          <a:lstStyle/>
          <a:p>
            <a:r>
              <a:rPr lang="en-US" sz="1200">
                <a:latin typeface="Calibri" pitchFamily="34" charset="0"/>
              </a:rPr>
              <a:t>b+1</a:t>
            </a:r>
          </a:p>
        </p:txBody>
      </p:sp>
      <p:cxnSp>
        <p:nvCxnSpPr>
          <p:cNvPr id="215" name="Straight Arrow Connector 214"/>
          <p:cNvCxnSpPr/>
          <p:nvPr/>
        </p:nvCxnSpPr>
        <p:spPr>
          <a:xfrm rot="5400000">
            <a:off x="229394" y="2056606"/>
            <a:ext cx="914400" cy="1588"/>
          </a:xfrm>
          <a:prstGeom prst="straightConnector1">
            <a:avLst/>
          </a:prstGeom>
          <a:ln>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6349" name="TextBox 215"/>
          <p:cNvSpPr txBox="1">
            <a:spLocks noChangeArrowheads="1"/>
          </p:cNvSpPr>
          <p:nvPr/>
        </p:nvSpPr>
        <p:spPr bwMode="auto">
          <a:xfrm rot="-5400000">
            <a:off x="368300" y="1905000"/>
            <a:ext cx="454025" cy="276225"/>
          </a:xfrm>
          <a:prstGeom prst="rect">
            <a:avLst/>
          </a:prstGeom>
          <a:noFill/>
          <a:ln w="9525">
            <a:noFill/>
            <a:miter lim="800000"/>
            <a:headEnd/>
            <a:tailEnd/>
          </a:ln>
        </p:spPr>
        <p:txBody>
          <a:bodyPr wrap="none">
            <a:spAutoFit/>
          </a:bodyPr>
          <a:lstStyle/>
          <a:p>
            <a:r>
              <a:rPr lang="en-US" sz="1200">
                <a:latin typeface="Calibri" pitchFamily="34" charset="0"/>
              </a:rPr>
              <a:t>b+1</a:t>
            </a:r>
          </a:p>
        </p:txBody>
      </p:sp>
      <p:cxnSp>
        <p:nvCxnSpPr>
          <p:cNvPr id="218" name="Straight Arrow Connector 217"/>
          <p:cNvCxnSpPr/>
          <p:nvPr/>
        </p:nvCxnSpPr>
        <p:spPr>
          <a:xfrm>
            <a:off x="1981200" y="1371600"/>
            <a:ext cx="228600" cy="1588"/>
          </a:xfrm>
          <a:prstGeom prst="straightConnector1">
            <a:avLst/>
          </a:prstGeom>
          <a:ln>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6351" name="TextBox 223"/>
          <p:cNvSpPr txBox="1">
            <a:spLocks noChangeArrowheads="1"/>
          </p:cNvSpPr>
          <p:nvPr/>
        </p:nvSpPr>
        <p:spPr bwMode="auto">
          <a:xfrm>
            <a:off x="1873250" y="1143000"/>
            <a:ext cx="454025" cy="276225"/>
          </a:xfrm>
          <a:prstGeom prst="rect">
            <a:avLst/>
          </a:prstGeom>
          <a:noFill/>
          <a:ln w="9525">
            <a:noFill/>
            <a:miter lim="800000"/>
            <a:headEnd/>
            <a:tailEnd/>
          </a:ln>
        </p:spPr>
        <p:txBody>
          <a:bodyPr wrap="none">
            <a:spAutoFit/>
          </a:bodyPr>
          <a:lstStyle/>
          <a:p>
            <a:r>
              <a:rPr lang="en-US" sz="1200">
                <a:latin typeface="Calibri" pitchFamily="34" charset="0"/>
              </a:rPr>
              <a:t>d+1</a:t>
            </a:r>
          </a:p>
        </p:txBody>
      </p:sp>
      <p:cxnSp>
        <p:nvCxnSpPr>
          <p:cNvPr id="226" name="Straight Arrow Connector 225"/>
          <p:cNvCxnSpPr/>
          <p:nvPr/>
        </p:nvCxnSpPr>
        <p:spPr>
          <a:xfrm rot="5400000" flipH="1" flipV="1">
            <a:off x="875507" y="2401094"/>
            <a:ext cx="228600" cy="1587"/>
          </a:xfrm>
          <a:prstGeom prst="straightConnector1">
            <a:avLst/>
          </a:prstGeom>
          <a:ln>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6353" name="TextBox 226"/>
          <p:cNvSpPr txBox="1">
            <a:spLocks noChangeArrowheads="1"/>
          </p:cNvSpPr>
          <p:nvPr/>
        </p:nvSpPr>
        <p:spPr bwMode="auto">
          <a:xfrm rot="-5400000">
            <a:off x="673100" y="2286000"/>
            <a:ext cx="454025" cy="276225"/>
          </a:xfrm>
          <a:prstGeom prst="rect">
            <a:avLst/>
          </a:prstGeom>
          <a:noFill/>
          <a:ln w="9525">
            <a:noFill/>
            <a:miter lim="800000"/>
            <a:headEnd/>
            <a:tailEnd/>
          </a:ln>
        </p:spPr>
        <p:txBody>
          <a:bodyPr wrap="none">
            <a:spAutoFit/>
          </a:bodyPr>
          <a:lstStyle/>
          <a:p>
            <a:r>
              <a:rPr lang="en-US" sz="1200">
                <a:latin typeface="Calibri" pitchFamily="34" charset="0"/>
              </a:rPr>
              <a:t>d+1</a:t>
            </a:r>
          </a:p>
        </p:txBody>
      </p:sp>
      <p:sp>
        <p:nvSpPr>
          <p:cNvPr id="56354" name="TextBox 227"/>
          <p:cNvSpPr txBox="1">
            <a:spLocks noChangeArrowheads="1"/>
          </p:cNvSpPr>
          <p:nvPr/>
        </p:nvSpPr>
        <p:spPr bwMode="auto">
          <a:xfrm>
            <a:off x="2514600" y="1524000"/>
            <a:ext cx="269875" cy="276225"/>
          </a:xfrm>
          <a:prstGeom prst="rect">
            <a:avLst/>
          </a:prstGeom>
          <a:noFill/>
          <a:ln w="9525">
            <a:noFill/>
            <a:miter lim="800000"/>
            <a:headEnd/>
            <a:tailEnd/>
          </a:ln>
        </p:spPr>
        <p:txBody>
          <a:bodyPr wrap="none">
            <a:spAutoFit/>
          </a:bodyPr>
          <a:lstStyle/>
          <a:p>
            <a:r>
              <a:rPr lang="en-US" sz="1200">
                <a:latin typeface="Calibri" pitchFamily="34" charset="0"/>
              </a:rPr>
              <a:t>c</a:t>
            </a:r>
          </a:p>
        </p:txBody>
      </p:sp>
      <p:cxnSp>
        <p:nvCxnSpPr>
          <p:cNvPr id="231" name="Straight Arrow Connector 230"/>
          <p:cNvCxnSpPr/>
          <p:nvPr/>
        </p:nvCxnSpPr>
        <p:spPr>
          <a:xfrm rot="5400000">
            <a:off x="2439194" y="1675606"/>
            <a:ext cx="152400" cy="1588"/>
          </a:xfrm>
          <a:prstGeom prst="straightConnector1">
            <a:avLst/>
          </a:prstGeom>
          <a:ln w="3175">
            <a:solidFill>
              <a:schemeClr val="tx1"/>
            </a:solidFill>
            <a:headEnd type="diamond" w="med" len="med"/>
            <a:tailEnd type="diamond" w="med" len="med"/>
          </a:ln>
        </p:spPr>
        <p:style>
          <a:lnRef idx="1">
            <a:schemeClr val="accent1"/>
          </a:lnRef>
          <a:fillRef idx="0">
            <a:schemeClr val="accent1"/>
          </a:fillRef>
          <a:effectRef idx="0">
            <a:schemeClr val="accent1"/>
          </a:effectRef>
          <a:fontRef idx="minor">
            <a:schemeClr val="tx1"/>
          </a:fontRef>
        </p:style>
      </p:cxnSp>
      <p:cxnSp>
        <p:nvCxnSpPr>
          <p:cNvPr id="240" name="Straight Arrow Connector 239"/>
          <p:cNvCxnSpPr/>
          <p:nvPr/>
        </p:nvCxnSpPr>
        <p:spPr>
          <a:xfrm>
            <a:off x="2895600" y="1965325"/>
            <a:ext cx="381000" cy="1588"/>
          </a:xfrm>
          <a:prstGeom prst="straightConnector1">
            <a:avLst/>
          </a:prstGeom>
          <a:ln>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56357" name="TextBox 240"/>
          <p:cNvSpPr txBox="1">
            <a:spLocks noChangeArrowheads="1"/>
          </p:cNvSpPr>
          <p:nvPr/>
        </p:nvSpPr>
        <p:spPr bwMode="auto">
          <a:xfrm>
            <a:off x="2895600" y="1706563"/>
            <a:ext cx="454025" cy="276225"/>
          </a:xfrm>
          <a:prstGeom prst="rect">
            <a:avLst/>
          </a:prstGeom>
          <a:noFill/>
          <a:ln w="9525">
            <a:noFill/>
            <a:miter lim="800000"/>
            <a:headEnd/>
            <a:tailEnd/>
          </a:ln>
        </p:spPr>
        <p:txBody>
          <a:bodyPr wrap="none">
            <a:spAutoFit/>
          </a:bodyPr>
          <a:lstStyle/>
          <a:p>
            <a:r>
              <a:rPr lang="en-US" sz="1200">
                <a:latin typeface="Calibri" pitchFamily="34" charset="0"/>
              </a:rPr>
              <a:t>d+c</a:t>
            </a:r>
          </a:p>
        </p:txBody>
      </p:sp>
      <p:cxnSp>
        <p:nvCxnSpPr>
          <p:cNvPr id="243" name="Straight Arrow Connector 242"/>
          <p:cNvCxnSpPr/>
          <p:nvPr/>
        </p:nvCxnSpPr>
        <p:spPr>
          <a:xfrm rot="5400000">
            <a:off x="3238501" y="2476500"/>
            <a:ext cx="381000" cy="3175"/>
          </a:xfrm>
          <a:prstGeom prst="straightConnector1">
            <a:avLst/>
          </a:prstGeom>
          <a:ln>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56359" name="TextBox 243"/>
          <p:cNvSpPr txBox="1">
            <a:spLocks noChangeArrowheads="1"/>
          </p:cNvSpPr>
          <p:nvPr/>
        </p:nvSpPr>
        <p:spPr bwMode="auto">
          <a:xfrm>
            <a:off x="3429000" y="2286000"/>
            <a:ext cx="454025" cy="276225"/>
          </a:xfrm>
          <a:prstGeom prst="rect">
            <a:avLst/>
          </a:prstGeom>
          <a:noFill/>
          <a:ln w="9525">
            <a:noFill/>
            <a:miter lim="800000"/>
            <a:headEnd/>
            <a:tailEnd/>
          </a:ln>
        </p:spPr>
        <p:txBody>
          <a:bodyPr wrap="none">
            <a:spAutoFit/>
          </a:bodyPr>
          <a:lstStyle/>
          <a:p>
            <a:r>
              <a:rPr lang="en-US" sz="1200">
                <a:latin typeface="Calibri" pitchFamily="34" charset="0"/>
              </a:rPr>
              <a:t>d+c</a:t>
            </a:r>
          </a:p>
        </p:txBody>
      </p:sp>
      <p:cxnSp>
        <p:nvCxnSpPr>
          <p:cNvPr id="245" name="Straight Arrow Connector 244"/>
          <p:cNvCxnSpPr/>
          <p:nvPr/>
        </p:nvCxnSpPr>
        <p:spPr>
          <a:xfrm rot="5400000">
            <a:off x="1486694" y="3390106"/>
            <a:ext cx="381000" cy="1588"/>
          </a:xfrm>
          <a:prstGeom prst="straightConnector1">
            <a:avLst/>
          </a:prstGeom>
          <a:ln>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246" name="Straight Arrow Connector 245"/>
          <p:cNvCxnSpPr/>
          <p:nvPr/>
        </p:nvCxnSpPr>
        <p:spPr>
          <a:xfrm>
            <a:off x="1981200" y="3733800"/>
            <a:ext cx="379413" cy="1588"/>
          </a:xfrm>
          <a:prstGeom prst="straightConnector1">
            <a:avLst/>
          </a:prstGeom>
          <a:ln>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56362" name="TextBox 247"/>
          <p:cNvSpPr txBox="1">
            <a:spLocks noChangeArrowheads="1"/>
          </p:cNvSpPr>
          <p:nvPr/>
        </p:nvSpPr>
        <p:spPr bwMode="auto">
          <a:xfrm>
            <a:off x="1295400" y="3276600"/>
            <a:ext cx="454025" cy="276225"/>
          </a:xfrm>
          <a:prstGeom prst="rect">
            <a:avLst/>
          </a:prstGeom>
          <a:noFill/>
          <a:ln w="9525">
            <a:noFill/>
            <a:miter lim="800000"/>
            <a:headEnd/>
            <a:tailEnd/>
          </a:ln>
        </p:spPr>
        <p:txBody>
          <a:bodyPr wrap="none">
            <a:spAutoFit/>
          </a:bodyPr>
          <a:lstStyle/>
          <a:p>
            <a:r>
              <a:rPr lang="en-US" sz="1200">
                <a:latin typeface="Calibri" pitchFamily="34" charset="0"/>
              </a:rPr>
              <a:t>d+c</a:t>
            </a:r>
          </a:p>
        </p:txBody>
      </p:sp>
      <p:sp>
        <p:nvSpPr>
          <p:cNvPr id="56363" name="TextBox 248"/>
          <p:cNvSpPr txBox="1">
            <a:spLocks noChangeArrowheads="1"/>
          </p:cNvSpPr>
          <p:nvPr/>
        </p:nvSpPr>
        <p:spPr bwMode="auto">
          <a:xfrm>
            <a:off x="1981200" y="3686175"/>
            <a:ext cx="454025" cy="276225"/>
          </a:xfrm>
          <a:prstGeom prst="rect">
            <a:avLst/>
          </a:prstGeom>
          <a:noFill/>
          <a:ln w="9525">
            <a:noFill/>
            <a:miter lim="800000"/>
            <a:headEnd/>
            <a:tailEnd/>
          </a:ln>
        </p:spPr>
        <p:txBody>
          <a:bodyPr wrap="none">
            <a:spAutoFit/>
          </a:bodyPr>
          <a:lstStyle/>
          <a:p>
            <a:r>
              <a:rPr lang="en-US" sz="1200">
                <a:latin typeface="Calibri" pitchFamily="34" charset="0"/>
              </a:rPr>
              <a:t>d+c</a:t>
            </a:r>
          </a:p>
        </p:txBody>
      </p:sp>
      <p:sp>
        <p:nvSpPr>
          <p:cNvPr id="56364" name="TextBox 105"/>
          <p:cNvSpPr txBox="1">
            <a:spLocks noChangeArrowheads="1"/>
          </p:cNvSpPr>
          <p:nvPr/>
        </p:nvSpPr>
        <p:spPr bwMode="auto">
          <a:xfrm>
            <a:off x="811213" y="171450"/>
            <a:ext cx="7512050" cy="585788"/>
          </a:xfrm>
          <a:prstGeom prst="rect">
            <a:avLst/>
          </a:prstGeom>
          <a:noFill/>
          <a:ln w="9525">
            <a:noFill/>
            <a:miter lim="800000"/>
            <a:headEnd/>
            <a:tailEnd/>
          </a:ln>
        </p:spPr>
        <p:txBody>
          <a:bodyPr>
            <a:spAutoFit/>
          </a:bodyPr>
          <a:lstStyle/>
          <a:p>
            <a:pPr algn="ctr"/>
            <a:r>
              <a:rPr lang="en-US" sz="3200" dirty="0" smtClean="0">
                <a:solidFill>
                  <a:schemeClr val="tx1"/>
                </a:solidFill>
                <a:latin typeface="Calibri" pitchFamily="34" charset="0"/>
              </a:rPr>
              <a:t>Successive </a:t>
            </a:r>
            <a:r>
              <a:rPr lang="en-US" sz="3200" dirty="0">
                <a:solidFill>
                  <a:schemeClr val="tx1"/>
                </a:solidFill>
                <a:latin typeface="Calibri" pitchFamily="34" charset="0"/>
              </a:rPr>
              <a:t>Band Reduction</a:t>
            </a:r>
          </a:p>
        </p:txBody>
      </p:sp>
      <p:sp>
        <p:nvSpPr>
          <p:cNvPr id="56365" name="TextBox 228"/>
          <p:cNvSpPr txBox="1">
            <a:spLocks noChangeArrowheads="1"/>
          </p:cNvSpPr>
          <p:nvPr/>
        </p:nvSpPr>
        <p:spPr bwMode="auto">
          <a:xfrm>
            <a:off x="1227138" y="2667000"/>
            <a:ext cx="269875" cy="276225"/>
          </a:xfrm>
          <a:prstGeom prst="rect">
            <a:avLst/>
          </a:prstGeom>
          <a:noFill/>
          <a:ln w="9525">
            <a:solidFill>
              <a:schemeClr val="bg1"/>
            </a:solidFill>
            <a:miter lim="800000"/>
            <a:headEnd/>
            <a:tailEnd/>
          </a:ln>
        </p:spPr>
        <p:txBody>
          <a:bodyPr wrap="none">
            <a:spAutoFit/>
          </a:bodyPr>
          <a:lstStyle/>
          <a:p>
            <a:r>
              <a:rPr lang="en-US" sz="1200">
                <a:latin typeface="Calibri" pitchFamily="34" charset="0"/>
              </a:rPr>
              <a:t>c</a:t>
            </a:r>
          </a:p>
        </p:txBody>
      </p:sp>
      <p:cxnSp>
        <p:nvCxnSpPr>
          <p:cNvPr id="79" name="Straight Arrow Connector 78"/>
          <p:cNvCxnSpPr/>
          <p:nvPr/>
        </p:nvCxnSpPr>
        <p:spPr>
          <a:xfrm rot="10800000">
            <a:off x="1295400" y="2743200"/>
            <a:ext cx="152400" cy="1588"/>
          </a:xfrm>
          <a:prstGeom prst="straightConnector1">
            <a:avLst/>
          </a:prstGeom>
          <a:ln w="3175">
            <a:solidFill>
              <a:schemeClr val="tx1"/>
            </a:solidFill>
            <a:headEnd type="diamond" w="med" len="med"/>
            <a:tailEnd type="diamond" w="med" len="med"/>
          </a:ln>
        </p:spPr>
        <p:style>
          <a:lnRef idx="1">
            <a:schemeClr val="accent1"/>
          </a:lnRef>
          <a:fillRef idx="0">
            <a:schemeClr val="accent1"/>
          </a:fillRef>
          <a:effectRef idx="0">
            <a:schemeClr val="accent1"/>
          </a:effectRef>
          <a:fontRef idx="minor">
            <a:schemeClr val="tx1"/>
          </a:fontRef>
        </p:style>
      </p:cxnSp>
      <p:sp>
        <p:nvSpPr>
          <p:cNvPr id="53" name="TextBox 52"/>
          <p:cNvSpPr txBox="1"/>
          <p:nvPr/>
        </p:nvSpPr>
        <p:spPr>
          <a:xfrm>
            <a:off x="685800" y="5181600"/>
            <a:ext cx="1956177" cy="1200329"/>
          </a:xfrm>
          <a:prstGeom prst="rect">
            <a:avLst/>
          </a:prstGeom>
          <a:noFill/>
        </p:spPr>
        <p:txBody>
          <a:bodyPr wrap="none" rtlCol="0">
            <a:spAutoFit/>
          </a:bodyPr>
          <a:lstStyle/>
          <a:p>
            <a:r>
              <a:rPr lang="en-US" dirty="0" smtClean="0"/>
              <a:t>b = bandwidth</a:t>
            </a:r>
          </a:p>
          <a:p>
            <a:r>
              <a:rPr lang="en-US" dirty="0" smtClean="0"/>
              <a:t>c = #columns</a:t>
            </a:r>
          </a:p>
          <a:p>
            <a:r>
              <a:rPr lang="en-US" dirty="0" smtClean="0"/>
              <a:t>d = #diagonals</a:t>
            </a:r>
          </a:p>
          <a:p>
            <a:r>
              <a:rPr lang="en-US" dirty="0" smtClean="0"/>
              <a:t>Constraint: </a:t>
            </a:r>
            <a:r>
              <a:rPr lang="en-US" dirty="0" err="1" smtClean="0"/>
              <a:t>c+d</a:t>
            </a:r>
            <a:r>
              <a:rPr lang="en-US" dirty="0" smtClean="0"/>
              <a:t> </a:t>
            </a:r>
            <a:r>
              <a:rPr lang="en-US" dirty="0" smtClean="0">
                <a:sym typeface="Symbol"/>
              </a:rPr>
              <a:t> b</a:t>
            </a:r>
            <a:endParaRPr lang="en-US" dirty="0"/>
          </a:p>
        </p:txBody>
      </p:sp>
    </p:spTree>
    <p:extLst>
      <p:ext uri="{BB962C8B-B14F-4D97-AF65-F5344CB8AC3E}">
        <p14:creationId xmlns:p14="http://schemas.microsoft.com/office/powerpoint/2010/main" val="1446246869"/>
      </p:ext>
    </p:extLst>
  </p:cSld>
  <p:clrMapOvr>
    <a:masterClrMapping/>
  </p:clrMapOvr>
  <p:timing>
    <p:tnLst>
      <p:par>
        <p:cTn xmlns:p14="http://schemas.microsoft.com/office/powerpoint/2010/mai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p:cNvCxnSpPr/>
          <p:nvPr/>
        </p:nvCxnSpPr>
        <p:spPr>
          <a:xfrm>
            <a:off x="1295400" y="1600200"/>
            <a:ext cx="9144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rot="16200000" flipH="1">
            <a:off x="2209800" y="1600200"/>
            <a:ext cx="3657600" cy="36576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rot="5400000">
            <a:off x="5410200" y="5715000"/>
            <a:ext cx="9144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rot="10800000">
            <a:off x="4953000" y="6172200"/>
            <a:ext cx="9144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rot="16200000" flipV="1">
            <a:off x="1295400" y="2514600"/>
            <a:ext cx="3657600" cy="36576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rot="5400000" flipH="1" flipV="1">
            <a:off x="1295400" y="2514600"/>
            <a:ext cx="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1295400" y="2514600"/>
            <a:ext cx="914400" cy="9144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rot="5400000">
            <a:off x="838200" y="2057400"/>
            <a:ext cx="9144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rot="16200000" flipH="1">
            <a:off x="1295400" y="2286000"/>
            <a:ext cx="152400" cy="15240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rot="5400000">
            <a:off x="1333500" y="2552700"/>
            <a:ext cx="228600" cy="0"/>
          </a:xfrm>
          <a:prstGeom prst="line">
            <a:avLst/>
          </a:prstGeom>
          <a:ln>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a:off x="1447800" y="2667000"/>
            <a:ext cx="1828800" cy="0"/>
          </a:xfrm>
          <a:prstGeom prst="line">
            <a:avLst/>
          </a:prstGeom>
          <a:ln>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rot="16200000" flipH="1">
            <a:off x="1981200" y="1600200"/>
            <a:ext cx="152400" cy="15240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a:xfrm>
            <a:off x="2133600" y="1752600"/>
            <a:ext cx="228600"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a:xfrm rot="5400000">
            <a:off x="1447800" y="2667000"/>
            <a:ext cx="1828800" cy="0"/>
          </a:xfrm>
          <a:prstGeom prst="line">
            <a:avLst/>
          </a:prstGeom>
          <a:ln>
            <a:prstDash val="sysDot"/>
          </a:ln>
        </p:spPr>
        <p:style>
          <a:lnRef idx="1">
            <a:schemeClr val="accent1"/>
          </a:lnRef>
          <a:fillRef idx="0">
            <a:schemeClr val="accent1"/>
          </a:fillRef>
          <a:effectRef idx="0">
            <a:schemeClr val="accent1"/>
          </a:effectRef>
          <a:fontRef idx="minor">
            <a:schemeClr val="tx1"/>
          </a:fontRef>
        </p:style>
      </p:cxnSp>
      <p:cxnSp>
        <p:nvCxnSpPr>
          <p:cNvPr id="68" name="Straight Connector 67"/>
          <p:cNvCxnSpPr/>
          <p:nvPr/>
        </p:nvCxnSpPr>
        <p:spPr>
          <a:xfrm>
            <a:off x="1981200" y="3200400"/>
            <a:ext cx="1828800" cy="0"/>
          </a:xfrm>
          <a:prstGeom prst="line">
            <a:avLst/>
          </a:prstGeom>
          <a:ln>
            <a:prstDash val="sysDot"/>
          </a:ln>
        </p:spPr>
        <p:style>
          <a:lnRef idx="1">
            <a:schemeClr val="accent1"/>
          </a:lnRef>
          <a:fillRef idx="0">
            <a:schemeClr val="accent1"/>
          </a:fillRef>
          <a:effectRef idx="0">
            <a:schemeClr val="accent1"/>
          </a:effectRef>
          <a:fontRef idx="minor">
            <a:schemeClr val="tx1"/>
          </a:fontRef>
        </p:style>
      </p:cxnSp>
      <p:cxnSp>
        <p:nvCxnSpPr>
          <p:cNvPr id="69" name="Straight Connector 68"/>
          <p:cNvCxnSpPr/>
          <p:nvPr/>
        </p:nvCxnSpPr>
        <p:spPr>
          <a:xfrm>
            <a:off x="2362200" y="3581400"/>
            <a:ext cx="1828800" cy="0"/>
          </a:xfrm>
          <a:prstGeom prst="line">
            <a:avLst/>
          </a:prstGeom>
          <a:ln>
            <a:prstDash val="sysDot"/>
          </a:ln>
        </p:spPr>
        <p:style>
          <a:lnRef idx="1">
            <a:schemeClr val="accent1"/>
          </a:lnRef>
          <a:fillRef idx="0">
            <a:schemeClr val="accent1"/>
          </a:fillRef>
          <a:effectRef idx="0">
            <a:schemeClr val="accent1"/>
          </a:effectRef>
          <a:fontRef idx="minor">
            <a:schemeClr val="tx1"/>
          </a:fontRef>
        </p:style>
      </p:cxnSp>
      <p:cxnSp>
        <p:nvCxnSpPr>
          <p:cNvPr id="70" name="Straight Connector 69"/>
          <p:cNvCxnSpPr/>
          <p:nvPr/>
        </p:nvCxnSpPr>
        <p:spPr>
          <a:xfrm rot="5400000">
            <a:off x="1981200" y="3200400"/>
            <a:ext cx="1828800" cy="0"/>
          </a:xfrm>
          <a:prstGeom prst="line">
            <a:avLst/>
          </a:prstGeom>
          <a:ln>
            <a:prstDash val="sysDot"/>
          </a:ln>
        </p:spPr>
        <p:style>
          <a:lnRef idx="1">
            <a:schemeClr val="accent1"/>
          </a:lnRef>
          <a:fillRef idx="0">
            <a:schemeClr val="accent1"/>
          </a:fillRef>
          <a:effectRef idx="0">
            <a:schemeClr val="accent1"/>
          </a:effectRef>
          <a:fontRef idx="minor">
            <a:schemeClr val="tx1"/>
          </a:fontRef>
        </p:style>
      </p:cxnSp>
      <p:cxnSp>
        <p:nvCxnSpPr>
          <p:cNvPr id="71" name="Straight Connector 70"/>
          <p:cNvCxnSpPr/>
          <p:nvPr/>
        </p:nvCxnSpPr>
        <p:spPr>
          <a:xfrm rot="5400000">
            <a:off x="2362200" y="3581400"/>
            <a:ext cx="1828800" cy="0"/>
          </a:xfrm>
          <a:prstGeom prst="line">
            <a:avLst/>
          </a:prstGeom>
          <a:ln>
            <a:prstDash val="sysDot"/>
          </a:ln>
        </p:spPr>
        <p:style>
          <a:lnRef idx="1">
            <a:schemeClr val="accent1"/>
          </a:lnRef>
          <a:fillRef idx="0">
            <a:schemeClr val="accent1"/>
          </a:fillRef>
          <a:effectRef idx="0">
            <a:schemeClr val="accent1"/>
          </a:effectRef>
          <a:fontRef idx="minor">
            <a:schemeClr val="tx1"/>
          </a:fontRef>
        </p:style>
      </p:cxnSp>
      <p:cxnSp>
        <p:nvCxnSpPr>
          <p:cNvPr id="110" name="Straight Connector 109"/>
          <p:cNvCxnSpPr/>
          <p:nvPr/>
        </p:nvCxnSpPr>
        <p:spPr>
          <a:xfrm>
            <a:off x="1295400" y="2286000"/>
            <a:ext cx="1600200" cy="0"/>
          </a:xfrm>
          <a:prstGeom prst="line">
            <a:avLst/>
          </a:prstGeom>
          <a:ln>
            <a:prstDash val="sysDot"/>
          </a:ln>
        </p:spPr>
        <p:style>
          <a:lnRef idx="1">
            <a:schemeClr val="accent1"/>
          </a:lnRef>
          <a:fillRef idx="0">
            <a:schemeClr val="accent1"/>
          </a:fillRef>
          <a:effectRef idx="0">
            <a:schemeClr val="accent1"/>
          </a:effectRef>
          <a:fontRef idx="minor">
            <a:schemeClr val="tx1"/>
          </a:fontRef>
        </p:style>
      </p:cxnSp>
      <p:cxnSp>
        <p:nvCxnSpPr>
          <p:cNvPr id="112" name="Straight Connector 111"/>
          <p:cNvCxnSpPr/>
          <p:nvPr/>
        </p:nvCxnSpPr>
        <p:spPr>
          <a:xfrm rot="5400000">
            <a:off x="1181100" y="2400300"/>
            <a:ext cx="1600200" cy="0"/>
          </a:xfrm>
          <a:prstGeom prst="line">
            <a:avLst/>
          </a:prstGeom>
          <a:ln>
            <a:prstDash val="sysDot"/>
          </a:ln>
        </p:spPr>
        <p:style>
          <a:lnRef idx="1">
            <a:schemeClr val="accent1"/>
          </a:lnRef>
          <a:fillRef idx="0">
            <a:schemeClr val="accent1"/>
          </a:fillRef>
          <a:effectRef idx="0">
            <a:schemeClr val="accent1"/>
          </a:effectRef>
          <a:fontRef idx="minor">
            <a:schemeClr val="tx1"/>
          </a:fontRef>
        </p:style>
      </p:cxnSp>
      <p:grpSp>
        <p:nvGrpSpPr>
          <p:cNvPr id="2" name="Group 135"/>
          <p:cNvGrpSpPr>
            <a:grpSpLocks/>
          </p:cNvGrpSpPr>
          <p:nvPr/>
        </p:nvGrpSpPr>
        <p:grpSpPr bwMode="auto">
          <a:xfrm>
            <a:off x="2895600" y="2286000"/>
            <a:ext cx="381000" cy="381000"/>
            <a:chOff x="3733800" y="1981200"/>
            <a:chExt cx="381000" cy="381000"/>
          </a:xfrm>
        </p:grpSpPr>
        <p:cxnSp>
          <p:nvCxnSpPr>
            <p:cNvPr id="129" name="Straight Connector 128"/>
            <p:cNvCxnSpPr/>
            <p:nvPr/>
          </p:nvCxnSpPr>
          <p:spPr>
            <a:xfrm>
              <a:off x="3733800" y="1981200"/>
              <a:ext cx="228600"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31" name="Straight Connector 130"/>
            <p:cNvCxnSpPr/>
            <p:nvPr/>
          </p:nvCxnSpPr>
          <p:spPr>
            <a:xfrm rot="5400000" flipH="1" flipV="1">
              <a:off x="4000500" y="2247900"/>
              <a:ext cx="228600" cy="0"/>
            </a:xfrm>
            <a:prstGeom prst="line">
              <a:avLst/>
            </a:prstGeom>
            <a:ln>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133" name="Straight Connector 132"/>
            <p:cNvCxnSpPr/>
            <p:nvPr/>
          </p:nvCxnSpPr>
          <p:spPr>
            <a:xfrm rot="16200000" flipH="1">
              <a:off x="3962400" y="1981200"/>
              <a:ext cx="152400" cy="152400"/>
            </a:xfrm>
            <a:prstGeom prst="line">
              <a:avLst/>
            </a:prstGeom>
            <a:ln>
              <a:prstDash val="dash"/>
            </a:ln>
          </p:spPr>
          <p:style>
            <a:lnRef idx="1">
              <a:schemeClr val="accent1"/>
            </a:lnRef>
            <a:fillRef idx="0">
              <a:schemeClr val="accent1"/>
            </a:fillRef>
            <a:effectRef idx="0">
              <a:schemeClr val="accent1"/>
            </a:effectRef>
            <a:fontRef idx="minor">
              <a:schemeClr val="tx1"/>
            </a:fontRef>
          </p:style>
        </p:cxnSp>
      </p:grpSp>
      <p:grpSp>
        <p:nvGrpSpPr>
          <p:cNvPr id="3" name="Group 140"/>
          <p:cNvGrpSpPr>
            <a:grpSpLocks/>
          </p:cNvGrpSpPr>
          <p:nvPr/>
        </p:nvGrpSpPr>
        <p:grpSpPr bwMode="auto">
          <a:xfrm rot="10800000">
            <a:off x="1981200" y="3200400"/>
            <a:ext cx="381000" cy="381000"/>
            <a:chOff x="3733800" y="1981200"/>
            <a:chExt cx="381000" cy="381000"/>
          </a:xfrm>
        </p:grpSpPr>
        <p:cxnSp>
          <p:nvCxnSpPr>
            <p:cNvPr id="142" name="Straight Connector 141"/>
            <p:cNvCxnSpPr/>
            <p:nvPr/>
          </p:nvCxnSpPr>
          <p:spPr>
            <a:xfrm>
              <a:off x="3740150" y="1981200"/>
              <a:ext cx="228600"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43" name="Straight Connector 142"/>
            <p:cNvCxnSpPr/>
            <p:nvPr/>
          </p:nvCxnSpPr>
          <p:spPr>
            <a:xfrm rot="5400000" flipH="1" flipV="1">
              <a:off x="4006850" y="2247900"/>
              <a:ext cx="228600" cy="0"/>
            </a:xfrm>
            <a:prstGeom prst="line">
              <a:avLst/>
            </a:prstGeom>
            <a:ln>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144" name="Straight Connector 143"/>
            <p:cNvCxnSpPr/>
            <p:nvPr/>
          </p:nvCxnSpPr>
          <p:spPr>
            <a:xfrm rot="16200000" flipH="1">
              <a:off x="3968750" y="1981200"/>
              <a:ext cx="152400" cy="152400"/>
            </a:xfrm>
            <a:prstGeom prst="line">
              <a:avLst/>
            </a:prstGeom>
            <a:ln>
              <a:prstDash val="dash"/>
            </a:ln>
          </p:spPr>
          <p:style>
            <a:lnRef idx="1">
              <a:schemeClr val="accent1"/>
            </a:lnRef>
            <a:fillRef idx="0">
              <a:schemeClr val="accent1"/>
            </a:fillRef>
            <a:effectRef idx="0">
              <a:schemeClr val="accent1"/>
            </a:effectRef>
            <a:fontRef idx="minor">
              <a:schemeClr val="tx1"/>
            </a:fontRef>
          </p:style>
        </p:cxnSp>
      </p:grpSp>
      <p:grpSp>
        <p:nvGrpSpPr>
          <p:cNvPr id="4" name="Group 154"/>
          <p:cNvGrpSpPr>
            <a:grpSpLocks/>
          </p:cNvGrpSpPr>
          <p:nvPr/>
        </p:nvGrpSpPr>
        <p:grpSpPr bwMode="auto">
          <a:xfrm>
            <a:off x="3810000" y="3200400"/>
            <a:ext cx="381000" cy="381000"/>
            <a:chOff x="3733800" y="1981200"/>
            <a:chExt cx="381000" cy="381000"/>
          </a:xfrm>
        </p:grpSpPr>
        <p:cxnSp>
          <p:nvCxnSpPr>
            <p:cNvPr id="156" name="Straight Connector 155"/>
            <p:cNvCxnSpPr/>
            <p:nvPr/>
          </p:nvCxnSpPr>
          <p:spPr>
            <a:xfrm>
              <a:off x="3733800" y="1981200"/>
              <a:ext cx="228600"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57" name="Straight Connector 156"/>
            <p:cNvCxnSpPr/>
            <p:nvPr/>
          </p:nvCxnSpPr>
          <p:spPr>
            <a:xfrm rot="5400000" flipH="1" flipV="1">
              <a:off x="4000500" y="2247900"/>
              <a:ext cx="228600" cy="0"/>
            </a:xfrm>
            <a:prstGeom prst="line">
              <a:avLst/>
            </a:prstGeom>
            <a:ln>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158" name="Straight Connector 157"/>
            <p:cNvCxnSpPr/>
            <p:nvPr/>
          </p:nvCxnSpPr>
          <p:spPr>
            <a:xfrm rot="16200000" flipH="1">
              <a:off x="3962400" y="1981200"/>
              <a:ext cx="152400" cy="152400"/>
            </a:xfrm>
            <a:prstGeom prst="line">
              <a:avLst/>
            </a:prstGeom>
            <a:ln>
              <a:prstDash val="dash"/>
            </a:ln>
          </p:spPr>
          <p:style>
            <a:lnRef idx="1">
              <a:schemeClr val="accent1"/>
            </a:lnRef>
            <a:fillRef idx="0">
              <a:schemeClr val="accent1"/>
            </a:fillRef>
            <a:effectRef idx="0">
              <a:schemeClr val="accent1"/>
            </a:effectRef>
            <a:fontRef idx="minor">
              <a:schemeClr val="tx1"/>
            </a:fontRef>
          </p:style>
        </p:cxnSp>
      </p:grpSp>
      <p:grpSp>
        <p:nvGrpSpPr>
          <p:cNvPr id="6" name="Group 158"/>
          <p:cNvGrpSpPr>
            <a:grpSpLocks/>
          </p:cNvGrpSpPr>
          <p:nvPr/>
        </p:nvGrpSpPr>
        <p:grpSpPr bwMode="auto">
          <a:xfrm rot="10800000">
            <a:off x="2895600" y="4114800"/>
            <a:ext cx="381000" cy="381000"/>
            <a:chOff x="3733800" y="1981200"/>
            <a:chExt cx="381000" cy="381000"/>
          </a:xfrm>
        </p:grpSpPr>
        <p:cxnSp>
          <p:nvCxnSpPr>
            <p:cNvPr id="160" name="Straight Connector 159"/>
            <p:cNvCxnSpPr/>
            <p:nvPr/>
          </p:nvCxnSpPr>
          <p:spPr>
            <a:xfrm>
              <a:off x="3740150" y="1981200"/>
              <a:ext cx="228600"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61" name="Straight Connector 160"/>
            <p:cNvCxnSpPr/>
            <p:nvPr/>
          </p:nvCxnSpPr>
          <p:spPr>
            <a:xfrm rot="5400000" flipH="1" flipV="1">
              <a:off x="4006850" y="2247900"/>
              <a:ext cx="228600" cy="0"/>
            </a:xfrm>
            <a:prstGeom prst="line">
              <a:avLst/>
            </a:prstGeom>
            <a:ln>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162" name="Straight Connector 161"/>
            <p:cNvCxnSpPr/>
            <p:nvPr/>
          </p:nvCxnSpPr>
          <p:spPr>
            <a:xfrm rot="16200000" flipH="1">
              <a:off x="3968750" y="1981200"/>
              <a:ext cx="152400" cy="152400"/>
            </a:xfrm>
            <a:prstGeom prst="line">
              <a:avLst/>
            </a:prstGeom>
            <a:ln>
              <a:prstDash val="dash"/>
            </a:ln>
          </p:spPr>
          <p:style>
            <a:lnRef idx="1">
              <a:schemeClr val="accent1"/>
            </a:lnRef>
            <a:fillRef idx="0">
              <a:schemeClr val="accent1"/>
            </a:fillRef>
            <a:effectRef idx="0">
              <a:schemeClr val="accent1"/>
            </a:effectRef>
            <a:fontRef idx="minor">
              <a:schemeClr val="tx1"/>
            </a:fontRef>
          </p:style>
        </p:cxnSp>
      </p:grpSp>
      <p:sp>
        <p:nvSpPr>
          <p:cNvPr id="57370" name="TextBox 181"/>
          <p:cNvSpPr txBox="1">
            <a:spLocks noChangeArrowheads="1"/>
          </p:cNvSpPr>
          <p:nvPr/>
        </p:nvSpPr>
        <p:spPr bwMode="auto">
          <a:xfrm>
            <a:off x="2133600" y="1536700"/>
            <a:ext cx="76200" cy="231775"/>
          </a:xfrm>
          <a:prstGeom prst="rect">
            <a:avLst/>
          </a:prstGeom>
          <a:noFill/>
          <a:ln w="9525">
            <a:noFill/>
            <a:miter lim="800000"/>
            <a:headEnd/>
            <a:tailEnd/>
          </a:ln>
        </p:spPr>
        <p:txBody>
          <a:bodyPr>
            <a:spAutoFit/>
          </a:bodyPr>
          <a:lstStyle/>
          <a:p>
            <a:r>
              <a:rPr lang="en-US" sz="900">
                <a:latin typeface="Calibri" pitchFamily="34" charset="0"/>
              </a:rPr>
              <a:t>1</a:t>
            </a:r>
          </a:p>
        </p:txBody>
      </p:sp>
      <p:sp>
        <p:nvSpPr>
          <p:cNvPr id="57371" name="TextBox 183"/>
          <p:cNvSpPr txBox="1">
            <a:spLocks noChangeArrowheads="1"/>
          </p:cNvSpPr>
          <p:nvPr/>
        </p:nvSpPr>
        <p:spPr bwMode="auto">
          <a:xfrm>
            <a:off x="1295400" y="2362200"/>
            <a:ext cx="76200" cy="230188"/>
          </a:xfrm>
          <a:prstGeom prst="rect">
            <a:avLst/>
          </a:prstGeom>
          <a:noFill/>
          <a:ln w="9525">
            <a:noFill/>
            <a:miter lim="800000"/>
            <a:headEnd/>
            <a:tailEnd/>
          </a:ln>
        </p:spPr>
        <p:txBody>
          <a:bodyPr>
            <a:spAutoFit/>
          </a:bodyPr>
          <a:lstStyle/>
          <a:p>
            <a:r>
              <a:rPr lang="en-US" sz="900">
                <a:latin typeface="Calibri" pitchFamily="34" charset="0"/>
              </a:rPr>
              <a:t>1</a:t>
            </a:r>
          </a:p>
        </p:txBody>
      </p:sp>
      <p:sp>
        <p:nvSpPr>
          <p:cNvPr id="57372" name="TextBox 184"/>
          <p:cNvSpPr txBox="1">
            <a:spLocks noChangeArrowheads="1"/>
          </p:cNvSpPr>
          <p:nvPr/>
        </p:nvSpPr>
        <p:spPr bwMode="auto">
          <a:xfrm rot="10800000" flipV="1">
            <a:off x="1981200" y="3268663"/>
            <a:ext cx="152400" cy="231775"/>
          </a:xfrm>
          <a:prstGeom prst="rect">
            <a:avLst/>
          </a:prstGeom>
          <a:noFill/>
          <a:ln w="9525">
            <a:noFill/>
            <a:miter lim="800000"/>
            <a:headEnd/>
            <a:tailEnd/>
          </a:ln>
        </p:spPr>
        <p:txBody>
          <a:bodyPr>
            <a:spAutoFit/>
          </a:bodyPr>
          <a:lstStyle/>
          <a:p>
            <a:r>
              <a:rPr lang="en-US" sz="900">
                <a:latin typeface="Calibri" pitchFamily="34" charset="0"/>
              </a:rPr>
              <a:t>2</a:t>
            </a:r>
          </a:p>
        </p:txBody>
      </p:sp>
      <p:sp>
        <p:nvSpPr>
          <p:cNvPr id="57373" name="TextBox 185"/>
          <p:cNvSpPr txBox="1">
            <a:spLocks noChangeArrowheads="1"/>
          </p:cNvSpPr>
          <p:nvPr/>
        </p:nvSpPr>
        <p:spPr bwMode="auto">
          <a:xfrm rot="10800000" flipV="1">
            <a:off x="3048000" y="2278063"/>
            <a:ext cx="152400" cy="231775"/>
          </a:xfrm>
          <a:prstGeom prst="rect">
            <a:avLst/>
          </a:prstGeom>
          <a:noFill/>
          <a:ln w="9525">
            <a:noFill/>
            <a:miter lim="800000"/>
            <a:headEnd/>
            <a:tailEnd/>
          </a:ln>
        </p:spPr>
        <p:txBody>
          <a:bodyPr>
            <a:spAutoFit/>
          </a:bodyPr>
          <a:lstStyle/>
          <a:p>
            <a:r>
              <a:rPr lang="en-US" sz="900">
                <a:latin typeface="Calibri" pitchFamily="34" charset="0"/>
              </a:rPr>
              <a:t>2</a:t>
            </a:r>
          </a:p>
        </p:txBody>
      </p:sp>
      <p:sp>
        <p:nvSpPr>
          <p:cNvPr id="57374" name="TextBox 186"/>
          <p:cNvSpPr txBox="1">
            <a:spLocks noChangeArrowheads="1"/>
          </p:cNvSpPr>
          <p:nvPr/>
        </p:nvSpPr>
        <p:spPr bwMode="auto">
          <a:xfrm rot="10800000" flipV="1">
            <a:off x="3962400" y="3192463"/>
            <a:ext cx="152400" cy="231775"/>
          </a:xfrm>
          <a:prstGeom prst="rect">
            <a:avLst/>
          </a:prstGeom>
          <a:noFill/>
          <a:ln w="9525">
            <a:noFill/>
            <a:miter lim="800000"/>
            <a:headEnd/>
            <a:tailEnd/>
          </a:ln>
        </p:spPr>
        <p:txBody>
          <a:bodyPr>
            <a:spAutoFit/>
          </a:bodyPr>
          <a:lstStyle/>
          <a:p>
            <a:r>
              <a:rPr lang="en-US" sz="900">
                <a:latin typeface="Calibri" pitchFamily="34" charset="0"/>
              </a:rPr>
              <a:t>3</a:t>
            </a:r>
          </a:p>
        </p:txBody>
      </p:sp>
      <p:sp>
        <p:nvSpPr>
          <p:cNvPr id="57375" name="TextBox 188"/>
          <p:cNvSpPr txBox="1">
            <a:spLocks noChangeArrowheads="1"/>
          </p:cNvSpPr>
          <p:nvPr/>
        </p:nvSpPr>
        <p:spPr bwMode="auto">
          <a:xfrm rot="10800000" flipV="1">
            <a:off x="2971800" y="4259263"/>
            <a:ext cx="152400" cy="231775"/>
          </a:xfrm>
          <a:prstGeom prst="rect">
            <a:avLst/>
          </a:prstGeom>
          <a:noFill/>
          <a:ln w="9525">
            <a:noFill/>
            <a:miter lim="800000"/>
            <a:headEnd/>
            <a:tailEnd/>
          </a:ln>
        </p:spPr>
        <p:txBody>
          <a:bodyPr>
            <a:spAutoFit/>
          </a:bodyPr>
          <a:lstStyle/>
          <a:p>
            <a:r>
              <a:rPr lang="en-US" sz="900">
                <a:latin typeface="Calibri" pitchFamily="34" charset="0"/>
              </a:rPr>
              <a:t>3</a:t>
            </a:r>
          </a:p>
        </p:txBody>
      </p:sp>
      <p:sp>
        <p:nvSpPr>
          <p:cNvPr id="57376" name="TextBox 197"/>
          <p:cNvSpPr txBox="1">
            <a:spLocks noChangeArrowheads="1"/>
          </p:cNvSpPr>
          <p:nvPr/>
        </p:nvSpPr>
        <p:spPr bwMode="auto">
          <a:xfrm>
            <a:off x="1031875" y="2362200"/>
            <a:ext cx="361950" cy="276225"/>
          </a:xfrm>
          <a:prstGeom prst="rect">
            <a:avLst/>
          </a:prstGeom>
          <a:noFill/>
          <a:ln w="9525">
            <a:noFill/>
            <a:miter lim="800000"/>
            <a:headEnd/>
            <a:tailEnd/>
          </a:ln>
        </p:spPr>
        <p:txBody>
          <a:bodyPr wrap="none">
            <a:spAutoFit/>
          </a:bodyPr>
          <a:lstStyle/>
          <a:p>
            <a:r>
              <a:rPr lang="en-US" sz="1200">
                <a:latin typeface="Calibri" pitchFamily="34" charset="0"/>
              </a:rPr>
              <a:t>Q</a:t>
            </a:r>
            <a:r>
              <a:rPr lang="en-US" sz="1200" baseline="-25000">
                <a:latin typeface="Calibri" pitchFamily="34" charset="0"/>
              </a:rPr>
              <a:t>1</a:t>
            </a:r>
          </a:p>
        </p:txBody>
      </p:sp>
      <p:sp>
        <p:nvSpPr>
          <p:cNvPr id="57377" name="TextBox 198"/>
          <p:cNvSpPr txBox="1">
            <a:spLocks noChangeArrowheads="1"/>
          </p:cNvSpPr>
          <p:nvPr/>
        </p:nvSpPr>
        <p:spPr bwMode="auto">
          <a:xfrm>
            <a:off x="2057400" y="1371600"/>
            <a:ext cx="425450" cy="276225"/>
          </a:xfrm>
          <a:prstGeom prst="rect">
            <a:avLst/>
          </a:prstGeom>
          <a:noFill/>
          <a:ln w="9525">
            <a:noFill/>
            <a:miter lim="800000"/>
            <a:headEnd/>
            <a:tailEnd/>
          </a:ln>
        </p:spPr>
        <p:txBody>
          <a:bodyPr wrap="none">
            <a:spAutoFit/>
          </a:bodyPr>
          <a:lstStyle/>
          <a:p>
            <a:r>
              <a:rPr lang="en-US" sz="1200">
                <a:latin typeface="Calibri" pitchFamily="34" charset="0"/>
              </a:rPr>
              <a:t>Q</a:t>
            </a:r>
            <a:r>
              <a:rPr lang="en-US" sz="1200" baseline="-25000">
                <a:latin typeface="Calibri" pitchFamily="34" charset="0"/>
              </a:rPr>
              <a:t>1</a:t>
            </a:r>
            <a:r>
              <a:rPr lang="en-US" sz="1200" baseline="30000">
                <a:latin typeface="Calibri" pitchFamily="34" charset="0"/>
              </a:rPr>
              <a:t>T</a:t>
            </a:r>
          </a:p>
        </p:txBody>
      </p:sp>
      <p:sp>
        <p:nvSpPr>
          <p:cNvPr id="57378" name="TextBox 199"/>
          <p:cNvSpPr txBox="1">
            <a:spLocks noChangeArrowheads="1"/>
          </p:cNvSpPr>
          <p:nvPr/>
        </p:nvSpPr>
        <p:spPr bwMode="auto">
          <a:xfrm>
            <a:off x="1654175" y="3276600"/>
            <a:ext cx="403225" cy="276225"/>
          </a:xfrm>
          <a:prstGeom prst="rect">
            <a:avLst/>
          </a:prstGeom>
          <a:noFill/>
          <a:ln w="9525">
            <a:noFill/>
            <a:miter lim="800000"/>
            <a:headEnd/>
            <a:tailEnd/>
          </a:ln>
        </p:spPr>
        <p:txBody>
          <a:bodyPr>
            <a:spAutoFit/>
          </a:bodyPr>
          <a:lstStyle/>
          <a:p>
            <a:r>
              <a:rPr lang="en-US" sz="1200">
                <a:latin typeface="Calibri" pitchFamily="34" charset="0"/>
              </a:rPr>
              <a:t>Q</a:t>
            </a:r>
            <a:r>
              <a:rPr lang="en-US" sz="1200" baseline="-25000">
                <a:latin typeface="Calibri" pitchFamily="34" charset="0"/>
              </a:rPr>
              <a:t>2</a:t>
            </a:r>
          </a:p>
        </p:txBody>
      </p:sp>
      <p:sp>
        <p:nvSpPr>
          <p:cNvPr id="57379" name="TextBox 200"/>
          <p:cNvSpPr txBox="1">
            <a:spLocks noChangeArrowheads="1"/>
          </p:cNvSpPr>
          <p:nvPr/>
        </p:nvSpPr>
        <p:spPr bwMode="auto">
          <a:xfrm>
            <a:off x="2971800" y="2009775"/>
            <a:ext cx="425450" cy="276225"/>
          </a:xfrm>
          <a:prstGeom prst="rect">
            <a:avLst/>
          </a:prstGeom>
          <a:noFill/>
          <a:ln w="9525">
            <a:noFill/>
            <a:miter lim="800000"/>
            <a:headEnd/>
            <a:tailEnd/>
          </a:ln>
        </p:spPr>
        <p:txBody>
          <a:bodyPr wrap="none">
            <a:spAutoFit/>
          </a:bodyPr>
          <a:lstStyle/>
          <a:p>
            <a:r>
              <a:rPr lang="en-US" sz="1200">
                <a:latin typeface="Calibri" pitchFamily="34" charset="0"/>
              </a:rPr>
              <a:t>Q</a:t>
            </a:r>
            <a:r>
              <a:rPr lang="en-US" sz="1200" baseline="-25000">
                <a:latin typeface="Calibri" pitchFamily="34" charset="0"/>
              </a:rPr>
              <a:t>2</a:t>
            </a:r>
            <a:r>
              <a:rPr lang="en-US" sz="1200" baseline="30000">
                <a:latin typeface="Calibri" pitchFamily="34" charset="0"/>
              </a:rPr>
              <a:t>T</a:t>
            </a:r>
          </a:p>
        </p:txBody>
      </p:sp>
      <p:cxnSp>
        <p:nvCxnSpPr>
          <p:cNvPr id="212" name="Straight Arrow Connector 211"/>
          <p:cNvCxnSpPr/>
          <p:nvPr/>
        </p:nvCxnSpPr>
        <p:spPr>
          <a:xfrm>
            <a:off x="1295400" y="1143000"/>
            <a:ext cx="914400" cy="1588"/>
          </a:xfrm>
          <a:prstGeom prst="straightConnector1">
            <a:avLst/>
          </a:prstGeom>
          <a:ln>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7381" name="TextBox 212"/>
          <p:cNvSpPr txBox="1">
            <a:spLocks noChangeArrowheads="1"/>
          </p:cNvSpPr>
          <p:nvPr/>
        </p:nvSpPr>
        <p:spPr bwMode="auto">
          <a:xfrm>
            <a:off x="1524000" y="914400"/>
            <a:ext cx="454025" cy="276225"/>
          </a:xfrm>
          <a:prstGeom prst="rect">
            <a:avLst/>
          </a:prstGeom>
          <a:noFill/>
          <a:ln w="9525">
            <a:noFill/>
            <a:miter lim="800000"/>
            <a:headEnd/>
            <a:tailEnd/>
          </a:ln>
        </p:spPr>
        <p:txBody>
          <a:bodyPr wrap="none">
            <a:spAutoFit/>
          </a:bodyPr>
          <a:lstStyle/>
          <a:p>
            <a:r>
              <a:rPr lang="en-US" sz="1200">
                <a:latin typeface="Calibri" pitchFamily="34" charset="0"/>
              </a:rPr>
              <a:t>b+1</a:t>
            </a:r>
          </a:p>
        </p:txBody>
      </p:sp>
      <p:cxnSp>
        <p:nvCxnSpPr>
          <p:cNvPr id="215" name="Straight Arrow Connector 214"/>
          <p:cNvCxnSpPr/>
          <p:nvPr/>
        </p:nvCxnSpPr>
        <p:spPr>
          <a:xfrm rot="5400000">
            <a:off x="229394" y="2056606"/>
            <a:ext cx="914400" cy="1588"/>
          </a:xfrm>
          <a:prstGeom prst="straightConnector1">
            <a:avLst/>
          </a:prstGeom>
          <a:ln>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7383" name="TextBox 215"/>
          <p:cNvSpPr txBox="1">
            <a:spLocks noChangeArrowheads="1"/>
          </p:cNvSpPr>
          <p:nvPr/>
        </p:nvSpPr>
        <p:spPr bwMode="auto">
          <a:xfrm rot="-5400000">
            <a:off x="368300" y="1905000"/>
            <a:ext cx="454025" cy="276225"/>
          </a:xfrm>
          <a:prstGeom prst="rect">
            <a:avLst/>
          </a:prstGeom>
          <a:noFill/>
          <a:ln w="9525">
            <a:noFill/>
            <a:miter lim="800000"/>
            <a:headEnd/>
            <a:tailEnd/>
          </a:ln>
        </p:spPr>
        <p:txBody>
          <a:bodyPr wrap="none">
            <a:spAutoFit/>
          </a:bodyPr>
          <a:lstStyle/>
          <a:p>
            <a:r>
              <a:rPr lang="en-US" sz="1200">
                <a:latin typeface="Calibri" pitchFamily="34" charset="0"/>
              </a:rPr>
              <a:t>b+1</a:t>
            </a:r>
          </a:p>
        </p:txBody>
      </p:sp>
      <p:cxnSp>
        <p:nvCxnSpPr>
          <p:cNvPr id="218" name="Straight Arrow Connector 217"/>
          <p:cNvCxnSpPr/>
          <p:nvPr/>
        </p:nvCxnSpPr>
        <p:spPr>
          <a:xfrm>
            <a:off x="1981200" y="1371600"/>
            <a:ext cx="228600" cy="1588"/>
          </a:xfrm>
          <a:prstGeom prst="straightConnector1">
            <a:avLst/>
          </a:prstGeom>
          <a:ln>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7385" name="TextBox 223"/>
          <p:cNvSpPr txBox="1">
            <a:spLocks noChangeArrowheads="1"/>
          </p:cNvSpPr>
          <p:nvPr/>
        </p:nvSpPr>
        <p:spPr bwMode="auto">
          <a:xfrm>
            <a:off x="1873250" y="1143000"/>
            <a:ext cx="454025" cy="276225"/>
          </a:xfrm>
          <a:prstGeom prst="rect">
            <a:avLst/>
          </a:prstGeom>
          <a:noFill/>
          <a:ln w="9525">
            <a:noFill/>
            <a:miter lim="800000"/>
            <a:headEnd/>
            <a:tailEnd/>
          </a:ln>
        </p:spPr>
        <p:txBody>
          <a:bodyPr wrap="none">
            <a:spAutoFit/>
          </a:bodyPr>
          <a:lstStyle/>
          <a:p>
            <a:r>
              <a:rPr lang="en-US" sz="1200">
                <a:latin typeface="Calibri" pitchFamily="34" charset="0"/>
              </a:rPr>
              <a:t>d+1</a:t>
            </a:r>
          </a:p>
        </p:txBody>
      </p:sp>
      <p:cxnSp>
        <p:nvCxnSpPr>
          <p:cNvPr id="226" name="Straight Arrow Connector 225"/>
          <p:cNvCxnSpPr/>
          <p:nvPr/>
        </p:nvCxnSpPr>
        <p:spPr>
          <a:xfrm rot="5400000" flipH="1" flipV="1">
            <a:off x="875507" y="2401094"/>
            <a:ext cx="228600" cy="1587"/>
          </a:xfrm>
          <a:prstGeom prst="straightConnector1">
            <a:avLst/>
          </a:prstGeom>
          <a:ln>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7387" name="TextBox 226"/>
          <p:cNvSpPr txBox="1">
            <a:spLocks noChangeArrowheads="1"/>
          </p:cNvSpPr>
          <p:nvPr/>
        </p:nvSpPr>
        <p:spPr bwMode="auto">
          <a:xfrm rot="-5400000">
            <a:off x="673100" y="2286000"/>
            <a:ext cx="454025" cy="276225"/>
          </a:xfrm>
          <a:prstGeom prst="rect">
            <a:avLst/>
          </a:prstGeom>
          <a:noFill/>
          <a:ln w="9525">
            <a:noFill/>
            <a:miter lim="800000"/>
            <a:headEnd/>
            <a:tailEnd/>
          </a:ln>
        </p:spPr>
        <p:txBody>
          <a:bodyPr wrap="none">
            <a:spAutoFit/>
          </a:bodyPr>
          <a:lstStyle/>
          <a:p>
            <a:r>
              <a:rPr lang="en-US" sz="1200">
                <a:latin typeface="Calibri" pitchFamily="34" charset="0"/>
              </a:rPr>
              <a:t>d+1</a:t>
            </a:r>
          </a:p>
        </p:txBody>
      </p:sp>
      <p:cxnSp>
        <p:nvCxnSpPr>
          <p:cNvPr id="240" name="Straight Arrow Connector 239"/>
          <p:cNvCxnSpPr/>
          <p:nvPr/>
        </p:nvCxnSpPr>
        <p:spPr>
          <a:xfrm>
            <a:off x="2895600" y="1965325"/>
            <a:ext cx="381000" cy="1588"/>
          </a:xfrm>
          <a:prstGeom prst="straightConnector1">
            <a:avLst/>
          </a:prstGeom>
          <a:ln>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57389" name="TextBox 240"/>
          <p:cNvSpPr txBox="1">
            <a:spLocks noChangeArrowheads="1"/>
          </p:cNvSpPr>
          <p:nvPr/>
        </p:nvSpPr>
        <p:spPr bwMode="auto">
          <a:xfrm>
            <a:off x="2895600" y="1706563"/>
            <a:ext cx="454025" cy="276225"/>
          </a:xfrm>
          <a:prstGeom prst="rect">
            <a:avLst/>
          </a:prstGeom>
          <a:noFill/>
          <a:ln w="9525">
            <a:noFill/>
            <a:miter lim="800000"/>
            <a:headEnd/>
            <a:tailEnd/>
          </a:ln>
        </p:spPr>
        <p:txBody>
          <a:bodyPr wrap="none">
            <a:spAutoFit/>
          </a:bodyPr>
          <a:lstStyle/>
          <a:p>
            <a:r>
              <a:rPr lang="en-US" sz="1200">
                <a:latin typeface="Calibri" pitchFamily="34" charset="0"/>
              </a:rPr>
              <a:t>d+c</a:t>
            </a:r>
          </a:p>
        </p:txBody>
      </p:sp>
      <p:cxnSp>
        <p:nvCxnSpPr>
          <p:cNvPr id="243" name="Straight Arrow Connector 242"/>
          <p:cNvCxnSpPr/>
          <p:nvPr/>
        </p:nvCxnSpPr>
        <p:spPr>
          <a:xfrm rot="5400000">
            <a:off x="3238501" y="2476500"/>
            <a:ext cx="381000" cy="3175"/>
          </a:xfrm>
          <a:prstGeom prst="straightConnector1">
            <a:avLst/>
          </a:prstGeom>
          <a:ln>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57391" name="TextBox 243"/>
          <p:cNvSpPr txBox="1">
            <a:spLocks noChangeArrowheads="1"/>
          </p:cNvSpPr>
          <p:nvPr/>
        </p:nvSpPr>
        <p:spPr bwMode="auto">
          <a:xfrm>
            <a:off x="3429000" y="2286000"/>
            <a:ext cx="454025" cy="276225"/>
          </a:xfrm>
          <a:prstGeom prst="rect">
            <a:avLst/>
          </a:prstGeom>
          <a:noFill/>
          <a:ln w="9525">
            <a:noFill/>
            <a:miter lim="800000"/>
            <a:headEnd/>
            <a:tailEnd/>
          </a:ln>
        </p:spPr>
        <p:txBody>
          <a:bodyPr wrap="none">
            <a:spAutoFit/>
          </a:bodyPr>
          <a:lstStyle/>
          <a:p>
            <a:r>
              <a:rPr lang="en-US" sz="1200">
                <a:latin typeface="Calibri" pitchFamily="34" charset="0"/>
              </a:rPr>
              <a:t>d+c</a:t>
            </a:r>
          </a:p>
        </p:txBody>
      </p:sp>
      <p:cxnSp>
        <p:nvCxnSpPr>
          <p:cNvPr id="245" name="Straight Arrow Connector 244"/>
          <p:cNvCxnSpPr/>
          <p:nvPr/>
        </p:nvCxnSpPr>
        <p:spPr>
          <a:xfrm rot="5400000">
            <a:off x="1486694" y="3390106"/>
            <a:ext cx="381000" cy="1588"/>
          </a:xfrm>
          <a:prstGeom prst="straightConnector1">
            <a:avLst/>
          </a:prstGeom>
          <a:ln>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246" name="Straight Arrow Connector 245"/>
          <p:cNvCxnSpPr/>
          <p:nvPr/>
        </p:nvCxnSpPr>
        <p:spPr>
          <a:xfrm>
            <a:off x="1981200" y="3733800"/>
            <a:ext cx="379413" cy="1588"/>
          </a:xfrm>
          <a:prstGeom prst="straightConnector1">
            <a:avLst/>
          </a:prstGeom>
          <a:ln>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57394" name="TextBox 247"/>
          <p:cNvSpPr txBox="1">
            <a:spLocks noChangeArrowheads="1"/>
          </p:cNvSpPr>
          <p:nvPr/>
        </p:nvSpPr>
        <p:spPr bwMode="auto">
          <a:xfrm>
            <a:off x="1295400" y="3276600"/>
            <a:ext cx="454025" cy="276225"/>
          </a:xfrm>
          <a:prstGeom prst="rect">
            <a:avLst/>
          </a:prstGeom>
          <a:noFill/>
          <a:ln w="9525">
            <a:noFill/>
            <a:miter lim="800000"/>
            <a:headEnd/>
            <a:tailEnd/>
          </a:ln>
        </p:spPr>
        <p:txBody>
          <a:bodyPr wrap="none">
            <a:spAutoFit/>
          </a:bodyPr>
          <a:lstStyle/>
          <a:p>
            <a:r>
              <a:rPr lang="en-US" sz="1200">
                <a:latin typeface="Calibri" pitchFamily="34" charset="0"/>
              </a:rPr>
              <a:t>d+c</a:t>
            </a:r>
          </a:p>
        </p:txBody>
      </p:sp>
      <p:sp>
        <p:nvSpPr>
          <p:cNvPr id="57395" name="TextBox 248"/>
          <p:cNvSpPr txBox="1">
            <a:spLocks noChangeArrowheads="1"/>
          </p:cNvSpPr>
          <p:nvPr/>
        </p:nvSpPr>
        <p:spPr bwMode="auto">
          <a:xfrm>
            <a:off x="1981200" y="3686175"/>
            <a:ext cx="454025" cy="276225"/>
          </a:xfrm>
          <a:prstGeom prst="rect">
            <a:avLst/>
          </a:prstGeom>
          <a:noFill/>
          <a:ln w="9525">
            <a:noFill/>
            <a:miter lim="800000"/>
            <a:headEnd/>
            <a:tailEnd/>
          </a:ln>
        </p:spPr>
        <p:txBody>
          <a:bodyPr wrap="none">
            <a:spAutoFit/>
          </a:bodyPr>
          <a:lstStyle/>
          <a:p>
            <a:r>
              <a:rPr lang="en-US" sz="1200">
                <a:latin typeface="Calibri" pitchFamily="34" charset="0"/>
              </a:rPr>
              <a:t>d+c</a:t>
            </a:r>
          </a:p>
        </p:txBody>
      </p:sp>
      <p:sp>
        <p:nvSpPr>
          <p:cNvPr id="57396" name="TextBox 105"/>
          <p:cNvSpPr txBox="1">
            <a:spLocks noChangeArrowheads="1"/>
          </p:cNvSpPr>
          <p:nvPr/>
        </p:nvSpPr>
        <p:spPr bwMode="auto">
          <a:xfrm>
            <a:off x="811213" y="171450"/>
            <a:ext cx="7512050" cy="585788"/>
          </a:xfrm>
          <a:prstGeom prst="rect">
            <a:avLst/>
          </a:prstGeom>
          <a:noFill/>
          <a:ln w="9525">
            <a:noFill/>
            <a:miter lim="800000"/>
            <a:headEnd/>
            <a:tailEnd/>
          </a:ln>
        </p:spPr>
        <p:txBody>
          <a:bodyPr>
            <a:spAutoFit/>
          </a:bodyPr>
          <a:lstStyle/>
          <a:p>
            <a:pPr algn="ctr"/>
            <a:r>
              <a:rPr lang="en-US" sz="3200" dirty="0" smtClean="0">
                <a:solidFill>
                  <a:schemeClr val="tx1"/>
                </a:solidFill>
                <a:latin typeface="Calibri" pitchFamily="34" charset="0"/>
              </a:rPr>
              <a:t>Successive </a:t>
            </a:r>
            <a:r>
              <a:rPr lang="en-US" sz="3200" dirty="0">
                <a:solidFill>
                  <a:schemeClr val="tx1"/>
                </a:solidFill>
                <a:latin typeface="Calibri" pitchFamily="34" charset="0"/>
              </a:rPr>
              <a:t>Band Reduction</a:t>
            </a:r>
          </a:p>
        </p:txBody>
      </p:sp>
      <p:sp>
        <p:nvSpPr>
          <p:cNvPr id="57397" name="TextBox 228"/>
          <p:cNvSpPr txBox="1">
            <a:spLocks noChangeArrowheads="1"/>
          </p:cNvSpPr>
          <p:nvPr/>
        </p:nvSpPr>
        <p:spPr bwMode="auto">
          <a:xfrm>
            <a:off x="1227138" y="2667000"/>
            <a:ext cx="269875" cy="276225"/>
          </a:xfrm>
          <a:prstGeom prst="rect">
            <a:avLst/>
          </a:prstGeom>
          <a:noFill/>
          <a:ln w="9525">
            <a:solidFill>
              <a:schemeClr val="bg1"/>
            </a:solidFill>
            <a:miter lim="800000"/>
            <a:headEnd/>
            <a:tailEnd/>
          </a:ln>
        </p:spPr>
        <p:txBody>
          <a:bodyPr wrap="none">
            <a:spAutoFit/>
          </a:bodyPr>
          <a:lstStyle/>
          <a:p>
            <a:r>
              <a:rPr lang="en-US" sz="1200">
                <a:latin typeface="Calibri" pitchFamily="34" charset="0"/>
              </a:rPr>
              <a:t>c</a:t>
            </a:r>
          </a:p>
        </p:txBody>
      </p:sp>
      <p:cxnSp>
        <p:nvCxnSpPr>
          <p:cNvPr id="93" name="Straight Arrow Connector 92"/>
          <p:cNvCxnSpPr/>
          <p:nvPr/>
        </p:nvCxnSpPr>
        <p:spPr>
          <a:xfrm rot="10800000">
            <a:off x="1295400" y="2743200"/>
            <a:ext cx="152400" cy="1588"/>
          </a:xfrm>
          <a:prstGeom prst="straightConnector1">
            <a:avLst/>
          </a:prstGeom>
          <a:ln w="3175">
            <a:solidFill>
              <a:schemeClr val="tx1"/>
            </a:solidFill>
            <a:headEnd type="diamond" w="med" len="med"/>
            <a:tailEnd type="diamond" w="med" len="med"/>
          </a:ln>
        </p:spPr>
        <p:style>
          <a:lnRef idx="1">
            <a:schemeClr val="accent1"/>
          </a:lnRef>
          <a:fillRef idx="0">
            <a:schemeClr val="accent1"/>
          </a:fillRef>
          <a:effectRef idx="0">
            <a:schemeClr val="accent1"/>
          </a:effectRef>
          <a:fontRef idx="minor">
            <a:schemeClr val="tx1"/>
          </a:fontRef>
        </p:style>
      </p:cxnSp>
      <p:cxnSp>
        <p:nvCxnSpPr>
          <p:cNvPr id="94" name="Straight Arrow Connector 93"/>
          <p:cNvCxnSpPr/>
          <p:nvPr/>
        </p:nvCxnSpPr>
        <p:spPr>
          <a:xfrm rot="5400000">
            <a:off x="2439194" y="1675606"/>
            <a:ext cx="152400" cy="1588"/>
          </a:xfrm>
          <a:prstGeom prst="straightConnector1">
            <a:avLst/>
          </a:prstGeom>
          <a:ln w="3175">
            <a:solidFill>
              <a:schemeClr val="tx1"/>
            </a:solidFill>
            <a:headEnd type="diamond" w="med" len="med"/>
            <a:tailEnd type="diamond" w="med" len="med"/>
          </a:ln>
        </p:spPr>
        <p:style>
          <a:lnRef idx="1">
            <a:schemeClr val="accent1"/>
          </a:lnRef>
          <a:fillRef idx="0">
            <a:schemeClr val="accent1"/>
          </a:fillRef>
          <a:effectRef idx="0">
            <a:schemeClr val="accent1"/>
          </a:effectRef>
          <a:fontRef idx="minor">
            <a:schemeClr val="tx1"/>
          </a:fontRef>
        </p:style>
      </p:cxnSp>
      <p:sp>
        <p:nvSpPr>
          <p:cNvPr id="57400" name="TextBox 227"/>
          <p:cNvSpPr txBox="1">
            <a:spLocks noChangeArrowheads="1"/>
          </p:cNvSpPr>
          <p:nvPr/>
        </p:nvSpPr>
        <p:spPr bwMode="auto">
          <a:xfrm>
            <a:off x="2514600" y="1524000"/>
            <a:ext cx="269875" cy="276225"/>
          </a:xfrm>
          <a:prstGeom prst="rect">
            <a:avLst/>
          </a:prstGeom>
          <a:noFill/>
          <a:ln w="9525">
            <a:noFill/>
            <a:miter lim="800000"/>
            <a:headEnd/>
            <a:tailEnd/>
          </a:ln>
        </p:spPr>
        <p:txBody>
          <a:bodyPr wrap="none">
            <a:spAutoFit/>
          </a:bodyPr>
          <a:lstStyle/>
          <a:p>
            <a:r>
              <a:rPr lang="en-US" sz="1200">
                <a:latin typeface="Calibri" pitchFamily="34" charset="0"/>
              </a:rPr>
              <a:t>c</a:t>
            </a:r>
          </a:p>
        </p:txBody>
      </p:sp>
      <p:sp>
        <p:nvSpPr>
          <p:cNvPr id="72" name="TextBox 71"/>
          <p:cNvSpPr txBox="1"/>
          <p:nvPr/>
        </p:nvSpPr>
        <p:spPr>
          <a:xfrm>
            <a:off x="685800" y="5181600"/>
            <a:ext cx="1956177" cy="1200329"/>
          </a:xfrm>
          <a:prstGeom prst="rect">
            <a:avLst/>
          </a:prstGeom>
          <a:noFill/>
        </p:spPr>
        <p:txBody>
          <a:bodyPr wrap="none" rtlCol="0">
            <a:spAutoFit/>
          </a:bodyPr>
          <a:lstStyle/>
          <a:p>
            <a:r>
              <a:rPr lang="en-US" dirty="0" smtClean="0"/>
              <a:t>b = bandwidth</a:t>
            </a:r>
          </a:p>
          <a:p>
            <a:r>
              <a:rPr lang="en-US" dirty="0" smtClean="0"/>
              <a:t>c = #columns</a:t>
            </a:r>
          </a:p>
          <a:p>
            <a:r>
              <a:rPr lang="en-US" dirty="0" smtClean="0"/>
              <a:t>d = #diagonals</a:t>
            </a:r>
          </a:p>
          <a:p>
            <a:r>
              <a:rPr lang="en-US" dirty="0" smtClean="0"/>
              <a:t>Constraint: </a:t>
            </a:r>
            <a:r>
              <a:rPr lang="en-US" dirty="0" err="1" smtClean="0"/>
              <a:t>c+d</a:t>
            </a:r>
            <a:r>
              <a:rPr lang="en-US" dirty="0" smtClean="0"/>
              <a:t> </a:t>
            </a:r>
            <a:r>
              <a:rPr lang="en-US" dirty="0" smtClean="0">
                <a:sym typeface="Symbol"/>
              </a:rPr>
              <a:t> b</a:t>
            </a:r>
            <a:endParaRPr lang="en-US" dirty="0"/>
          </a:p>
        </p:txBody>
      </p:sp>
    </p:spTree>
    <p:extLst>
      <p:ext uri="{BB962C8B-B14F-4D97-AF65-F5344CB8AC3E}">
        <p14:creationId xmlns:p14="http://schemas.microsoft.com/office/powerpoint/2010/main" val="3202685294"/>
      </p:ext>
    </p:extLst>
  </p:cSld>
  <p:clrMapOvr>
    <a:masterClrMapping/>
  </p:clrMapOvr>
  <p:timing>
    <p:tnLst>
      <p:par>
        <p:cTn xmlns:p14="http://schemas.microsoft.com/office/powerpoint/2010/mai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p:cNvCxnSpPr/>
          <p:nvPr/>
        </p:nvCxnSpPr>
        <p:spPr>
          <a:xfrm>
            <a:off x="1295400" y="1600200"/>
            <a:ext cx="9144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rot="16200000" flipH="1">
            <a:off x="2209800" y="1600200"/>
            <a:ext cx="3657600" cy="36576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rot="5400000">
            <a:off x="5410200" y="5715000"/>
            <a:ext cx="9144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rot="10800000">
            <a:off x="4953000" y="6172200"/>
            <a:ext cx="9144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rot="16200000" flipV="1">
            <a:off x="1295400" y="2514600"/>
            <a:ext cx="3657600" cy="36576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rot="5400000" flipH="1" flipV="1">
            <a:off x="1295400" y="2514600"/>
            <a:ext cx="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1295400" y="2514600"/>
            <a:ext cx="914400" cy="9144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rot="5400000">
            <a:off x="838200" y="2057400"/>
            <a:ext cx="9144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rot="16200000" flipH="1">
            <a:off x="1295400" y="2286000"/>
            <a:ext cx="152400" cy="15240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rot="5400000">
            <a:off x="1333500" y="2552700"/>
            <a:ext cx="228600" cy="0"/>
          </a:xfrm>
          <a:prstGeom prst="line">
            <a:avLst/>
          </a:prstGeom>
          <a:ln>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a:off x="1447800" y="2667000"/>
            <a:ext cx="1828800" cy="0"/>
          </a:xfrm>
          <a:prstGeom prst="line">
            <a:avLst/>
          </a:prstGeom>
          <a:ln>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rot="16200000" flipH="1">
            <a:off x="1981200" y="1600200"/>
            <a:ext cx="152400" cy="15240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a:xfrm>
            <a:off x="2133600" y="1752600"/>
            <a:ext cx="228600"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a:xfrm rot="5400000">
            <a:off x="1447800" y="2667000"/>
            <a:ext cx="1828800" cy="0"/>
          </a:xfrm>
          <a:prstGeom prst="line">
            <a:avLst/>
          </a:prstGeom>
          <a:ln>
            <a:prstDash val="sysDot"/>
          </a:ln>
        </p:spPr>
        <p:style>
          <a:lnRef idx="1">
            <a:schemeClr val="accent1"/>
          </a:lnRef>
          <a:fillRef idx="0">
            <a:schemeClr val="accent1"/>
          </a:fillRef>
          <a:effectRef idx="0">
            <a:schemeClr val="accent1"/>
          </a:effectRef>
          <a:fontRef idx="minor">
            <a:schemeClr val="tx1"/>
          </a:fontRef>
        </p:style>
      </p:cxnSp>
      <p:cxnSp>
        <p:nvCxnSpPr>
          <p:cNvPr id="68" name="Straight Connector 67"/>
          <p:cNvCxnSpPr/>
          <p:nvPr/>
        </p:nvCxnSpPr>
        <p:spPr>
          <a:xfrm>
            <a:off x="1981200" y="3200400"/>
            <a:ext cx="1828800" cy="0"/>
          </a:xfrm>
          <a:prstGeom prst="line">
            <a:avLst/>
          </a:prstGeom>
          <a:ln>
            <a:prstDash val="sysDot"/>
          </a:ln>
        </p:spPr>
        <p:style>
          <a:lnRef idx="1">
            <a:schemeClr val="accent1"/>
          </a:lnRef>
          <a:fillRef idx="0">
            <a:schemeClr val="accent1"/>
          </a:fillRef>
          <a:effectRef idx="0">
            <a:schemeClr val="accent1"/>
          </a:effectRef>
          <a:fontRef idx="minor">
            <a:schemeClr val="tx1"/>
          </a:fontRef>
        </p:style>
      </p:cxnSp>
      <p:cxnSp>
        <p:nvCxnSpPr>
          <p:cNvPr id="69" name="Straight Connector 68"/>
          <p:cNvCxnSpPr/>
          <p:nvPr/>
        </p:nvCxnSpPr>
        <p:spPr>
          <a:xfrm>
            <a:off x="2362200" y="3581400"/>
            <a:ext cx="1828800" cy="0"/>
          </a:xfrm>
          <a:prstGeom prst="line">
            <a:avLst/>
          </a:prstGeom>
          <a:ln>
            <a:prstDash val="sysDot"/>
          </a:ln>
        </p:spPr>
        <p:style>
          <a:lnRef idx="1">
            <a:schemeClr val="accent1"/>
          </a:lnRef>
          <a:fillRef idx="0">
            <a:schemeClr val="accent1"/>
          </a:fillRef>
          <a:effectRef idx="0">
            <a:schemeClr val="accent1"/>
          </a:effectRef>
          <a:fontRef idx="minor">
            <a:schemeClr val="tx1"/>
          </a:fontRef>
        </p:style>
      </p:cxnSp>
      <p:cxnSp>
        <p:nvCxnSpPr>
          <p:cNvPr id="70" name="Straight Connector 69"/>
          <p:cNvCxnSpPr/>
          <p:nvPr/>
        </p:nvCxnSpPr>
        <p:spPr>
          <a:xfrm rot="5400000">
            <a:off x="1981200" y="3200400"/>
            <a:ext cx="1828800" cy="0"/>
          </a:xfrm>
          <a:prstGeom prst="line">
            <a:avLst/>
          </a:prstGeom>
          <a:ln>
            <a:prstDash val="sysDot"/>
          </a:ln>
        </p:spPr>
        <p:style>
          <a:lnRef idx="1">
            <a:schemeClr val="accent1"/>
          </a:lnRef>
          <a:fillRef idx="0">
            <a:schemeClr val="accent1"/>
          </a:fillRef>
          <a:effectRef idx="0">
            <a:schemeClr val="accent1"/>
          </a:effectRef>
          <a:fontRef idx="minor">
            <a:schemeClr val="tx1"/>
          </a:fontRef>
        </p:style>
      </p:cxnSp>
      <p:cxnSp>
        <p:nvCxnSpPr>
          <p:cNvPr id="71" name="Straight Connector 70"/>
          <p:cNvCxnSpPr/>
          <p:nvPr/>
        </p:nvCxnSpPr>
        <p:spPr>
          <a:xfrm rot="5400000">
            <a:off x="2362200" y="3581400"/>
            <a:ext cx="1828800" cy="0"/>
          </a:xfrm>
          <a:prstGeom prst="line">
            <a:avLst/>
          </a:prstGeom>
          <a:ln>
            <a:prstDash val="sysDot"/>
          </a:ln>
        </p:spPr>
        <p:style>
          <a:lnRef idx="1">
            <a:schemeClr val="accent1"/>
          </a:lnRef>
          <a:fillRef idx="0">
            <a:schemeClr val="accent1"/>
          </a:fillRef>
          <a:effectRef idx="0">
            <a:schemeClr val="accent1"/>
          </a:effectRef>
          <a:fontRef idx="minor">
            <a:schemeClr val="tx1"/>
          </a:fontRef>
        </p:style>
      </p:cxnSp>
      <p:cxnSp>
        <p:nvCxnSpPr>
          <p:cNvPr id="80" name="Straight Connector 79"/>
          <p:cNvCxnSpPr/>
          <p:nvPr/>
        </p:nvCxnSpPr>
        <p:spPr>
          <a:xfrm>
            <a:off x="2895600" y="4114800"/>
            <a:ext cx="1828800" cy="0"/>
          </a:xfrm>
          <a:prstGeom prst="line">
            <a:avLst/>
          </a:prstGeom>
          <a:ln>
            <a:prstDash val="sysDot"/>
          </a:ln>
        </p:spPr>
        <p:style>
          <a:lnRef idx="1">
            <a:schemeClr val="accent1"/>
          </a:lnRef>
          <a:fillRef idx="0">
            <a:schemeClr val="accent1"/>
          </a:fillRef>
          <a:effectRef idx="0">
            <a:schemeClr val="accent1"/>
          </a:effectRef>
          <a:fontRef idx="minor">
            <a:schemeClr val="tx1"/>
          </a:fontRef>
        </p:style>
      </p:cxnSp>
      <p:cxnSp>
        <p:nvCxnSpPr>
          <p:cNvPr id="81" name="Straight Connector 80"/>
          <p:cNvCxnSpPr/>
          <p:nvPr/>
        </p:nvCxnSpPr>
        <p:spPr>
          <a:xfrm>
            <a:off x="3276600" y="4495800"/>
            <a:ext cx="1828800" cy="0"/>
          </a:xfrm>
          <a:prstGeom prst="line">
            <a:avLst/>
          </a:prstGeom>
          <a:ln>
            <a:prstDash val="sysDot"/>
          </a:ln>
        </p:spPr>
        <p:style>
          <a:lnRef idx="1">
            <a:schemeClr val="accent1"/>
          </a:lnRef>
          <a:fillRef idx="0">
            <a:schemeClr val="accent1"/>
          </a:fillRef>
          <a:effectRef idx="0">
            <a:schemeClr val="accent1"/>
          </a:effectRef>
          <a:fontRef idx="minor">
            <a:schemeClr val="tx1"/>
          </a:fontRef>
        </p:style>
      </p:cxnSp>
      <p:cxnSp>
        <p:nvCxnSpPr>
          <p:cNvPr id="82" name="Straight Connector 81"/>
          <p:cNvCxnSpPr/>
          <p:nvPr/>
        </p:nvCxnSpPr>
        <p:spPr>
          <a:xfrm rot="5400000">
            <a:off x="3276600" y="4495800"/>
            <a:ext cx="1828800" cy="0"/>
          </a:xfrm>
          <a:prstGeom prst="line">
            <a:avLst/>
          </a:prstGeom>
          <a:ln>
            <a:prstDash val="sysDot"/>
          </a:ln>
        </p:spPr>
        <p:style>
          <a:lnRef idx="1">
            <a:schemeClr val="accent1"/>
          </a:lnRef>
          <a:fillRef idx="0">
            <a:schemeClr val="accent1"/>
          </a:fillRef>
          <a:effectRef idx="0">
            <a:schemeClr val="accent1"/>
          </a:effectRef>
          <a:fontRef idx="minor">
            <a:schemeClr val="tx1"/>
          </a:fontRef>
        </p:style>
      </p:cxnSp>
      <p:cxnSp>
        <p:nvCxnSpPr>
          <p:cNvPr id="83" name="Straight Connector 82"/>
          <p:cNvCxnSpPr/>
          <p:nvPr/>
        </p:nvCxnSpPr>
        <p:spPr>
          <a:xfrm rot="5400000">
            <a:off x="2895600" y="4114800"/>
            <a:ext cx="1828800" cy="0"/>
          </a:xfrm>
          <a:prstGeom prst="line">
            <a:avLst/>
          </a:prstGeom>
          <a:ln>
            <a:prstDash val="sysDot"/>
          </a:ln>
        </p:spPr>
        <p:style>
          <a:lnRef idx="1">
            <a:schemeClr val="accent1"/>
          </a:lnRef>
          <a:fillRef idx="0">
            <a:schemeClr val="accent1"/>
          </a:fillRef>
          <a:effectRef idx="0">
            <a:schemeClr val="accent1"/>
          </a:effectRef>
          <a:fontRef idx="minor">
            <a:schemeClr val="tx1"/>
          </a:fontRef>
        </p:style>
      </p:cxnSp>
      <p:cxnSp>
        <p:nvCxnSpPr>
          <p:cNvPr id="110" name="Straight Connector 109"/>
          <p:cNvCxnSpPr/>
          <p:nvPr/>
        </p:nvCxnSpPr>
        <p:spPr>
          <a:xfrm>
            <a:off x="1295400" y="2286000"/>
            <a:ext cx="1600200" cy="0"/>
          </a:xfrm>
          <a:prstGeom prst="line">
            <a:avLst/>
          </a:prstGeom>
          <a:ln>
            <a:prstDash val="sysDot"/>
          </a:ln>
        </p:spPr>
        <p:style>
          <a:lnRef idx="1">
            <a:schemeClr val="accent1"/>
          </a:lnRef>
          <a:fillRef idx="0">
            <a:schemeClr val="accent1"/>
          </a:fillRef>
          <a:effectRef idx="0">
            <a:schemeClr val="accent1"/>
          </a:effectRef>
          <a:fontRef idx="minor">
            <a:schemeClr val="tx1"/>
          </a:fontRef>
        </p:style>
      </p:cxnSp>
      <p:cxnSp>
        <p:nvCxnSpPr>
          <p:cNvPr id="112" name="Straight Connector 111"/>
          <p:cNvCxnSpPr/>
          <p:nvPr/>
        </p:nvCxnSpPr>
        <p:spPr>
          <a:xfrm rot="5400000">
            <a:off x="1181100" y="2400300"/>
            <a:ext cx="1600200" cy="0"/>
          </a:xfrm>
          <a:prstGeom prst="line">
            <a:avLst/>
          </a:prstGeom>
          <a:ln>
            <a:prstDash val="sysDot"/>
          </a:ln>
        </p:spPr>
        <p:style>
          <a:lnRef idx="1">
            <a:schemeClr val="accent1"/>
          </a:lnRef>
          <a:fillRef idx="0">
            <a:schemeClr val="accent1"/>
          </a:fillRef>
          <a:effectRef idx="0">
            <a:schemeClr val="accent1"/>
          </a:effectRef>
          <a:fontRef idx="minor">
            <a:schemeClr val="tx1"/>
          </a:fontRef>
        </p:style>
      </p:cxnSp>
      <p:grpSp>
        <p:nvGrpSpPr>
          <p:cNvPr id="2" name="Group 135"/>
          <p:cNvGrpSpPr>
            <a:grpSpLocks/>
          </p:cNvGrpSpPr>
          <p:nvPr/>
        </p:nvGrpSpPr>
        <p:grpSpPr bwMode="auto">
          <a:xfrm>
            <a:off x="2895600" y="2286000"/>
            <a:ext cx="381000" cy="381000"/>
            <a:chOff x="3733800" y="1981200"/>
            <a:chExt cx="381000" cy="381000"/>
          </a:xfrm>
        </p:grpSpPr>
        <p:cxnSp>
          <p:nvCxnSpPr>
            <p:cNvPr id="129" name="Straight Connector 128"/>
            <p:cNvCxnSpPr/>
            <p:nvPr/>
          </p:nvCxnSpPr>
          <p:spPr>
            <a:xfrm>
              <a:off x="3733800" y="1981200"/>
              <a:ext cx="228600"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31" name="Straight Connector 130"/>
            <p:cNvCxnSpPr/>
            <p:nvPr/>
          </p:nvCxnSpPr>
          <p:spPr>
            <a:xfrm rot="5400000" flipH="1" flipV="1">
              <a:off x="4000500" y="2247900"/>
              <a:ext cx="228600" cy="0"/>
            </a:xfrm>
            <a:prstGeom prst="line">
              <a:avLst/>
            </a:prstGeom>
            <a:ln>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133" name="Straight Connector 132"/>
            <p:cNvCxnSpPr/>
            <p:nvPr/>
          </p:nvCxnSpPr>
          <p:spPr>
            <a:xfrm rot="16200000" flipH="1">
              <a:off x="3962400" y="1981200"/>
              <a:ext cx="152400" cy="152400"/>
            </a:xfrm>
            <a:prstGeom prst="line">
              <a:avLst/>
            </a:prstGeom>
            <a:ln>
              <a:prstDash val="dash"/>
            </a:ln>
          </p:spPr>
          <p:style>
            <a:lnRef idx="1">
              <a:schemeClr val="accent1"/>
            </a:lnRef>
            <a:fillRef idx="0">
              <a:schemeClr val="accent1"/>
            </a:fillRef>
            <a:effectRef idx="0">
              <a:schemeClr val="accent1"/>
            </a:effectRef>
            <a:fontRef idx="minor">
              <a:schemeClr val="tx1"/>
            </a:fontRef>
          </p:style>
        </p:cxnSp>
      </p:grpSp>
      <p:grpSp>
        <p:nvGrpSpPr>
          <p:cNvPr id="3" name="Group 140"/>
          <p:cNvGrpSpPr>
            <a:grpSpLocks/>
          </p:cNvGrpSpPr>
          <p:nvPr/>
        </p:nvGrpSpPr>
        <p:grpSpPr bwMode="auto">
          <a:xfrm rot="10800000">
            <a:off x="1981200" y="3200400"/>
            <a:ext cx="381000" cy="381000"/>
            <a:chOff x="3733800" y="1981200"/>
            <a:chExt cx="381000" cy="381000"/>
          </a:xfrm>
        </p:grpSpPr>
        <p:cxnSp>
          <p:nvCxnSpPr>
            <p:cNvPr id="142" name="Straight Connector 141"/>
            <p:cNvCxnSpPr/>
            <p:nvPr/>
          </p:nvCxnSpPr>
          <p:spPr>
            <a:xfrm>
              <a:off x="3740150" y="1981200"/>
              <a:ext cx="228600"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43" name="Straight Connector 142"/>
            <p:cNvCxnSpPr/>
            <p:nvPr/>
          </p:nvCxnSpPr>
          <p:spPr>
            <a:xfrm rot="5400000" flipH="1" flipV="1">
              <a:off x="4006850" y="2247900"/>
              <a:ext cx="228600" cy="0"/>
            </a:xfrm>
            <a:prstGeom prst="line">
              <a:avLst/>
            </a:prstGeom>
            <a:ln>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144" name="Straight Connector 143"/>
            <p:cNvCxnSpPr/>
            <p:nvPr/>
          </p:nvCxnSpPr>
          <p:spPr>
            <a:xfrm rot="16200000" flipH="1">
              <a:off x="3968750" y="1981200"/>
              <a:ext cx="152400" cy="152400"/>
            </a:xfrm>
            <a:prstGeom prst="line">
              <a:avLst/>
            </a:prstGeom>
            <a:ln>
              <a:prstDash val="dash"/>
            </a:ln>
          </p:spPr>
          <p:style>
            <a:lnRef idx="1">
              <a:schemeClr val="accent1"/>
            </a:lnRef>
            <a:fillRef idx="0">
              <a:schemeClr val="accent1"/>
            </a:fillRef>
            <a:effectRef idx="0">
              <a:schemeClr val="accent1"/>
            </a:effectRef>
            <a:fontRef idx="minor">
              <a:schemeClr val="tx1"/>
            </a:fontRef>
          </p:style>
        </p:cxnSp>
      </p:grpSp>
      <p:grpSp>
        <p:nvGrpSpPr>
          <p:cNvPr id="4" name="Group 154"/>
          <p:cNvGrpSpPr>
            <a:grpSpLocks/>
          </p:cNvGrpSpPr>
          <p:nvPr/>
        </p:nvGrpSpPr>
        <p:grpSpPr bwMode="auto">
          <a:xfrm>
            <a:off x="3810000" y="3200400"/>
            <a:ext cx="381000" cy="381000"/>
            <a:chOff x="3733800" y="1981200"/>
            <a:chExt cx="381000" cy="381000"/>
          </a:xfrm>
        </p:grpSpPr>
        <p:cxnSp>
          <p:nvCxnSpPr>
            <p:cNvPr id="156" name="Straight Connector 155"/>
            <p:cNvCxnSpPr/>
            <p:nvPr/>
          </p:nvCxnSpPr>
          <p:spPr>
            <a:xfrm>
              <a:off x="3733800" y="1981200"/>
              <a:ext cx="228600"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57" name="Straight Connector 156"/>
            <p:cNvCxnSpPr/>
            <p:nvPr/>
          </p:nvCxnSpPr>
          <p:spPr>
            <a:xfrm rot="5400000" flipH="1" flipV="1">
              <a:off x="4000500" y="2247900"/>
              <a:ext cx="228600" cy="0"/>
            </a:xfrm>
            <a:prstGeom prst="line">
              <a:avLst/>
            </a:prstGeom>
            <a:ln>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158" name="Straight Connector 157"/>
            <p:cNvCxnSpPr/>
            <p:nvPr/>
          </p:nvCxnSpPr>
          <p:spPr>
            <a:xfrm rot="16200000" flipH="1">
              <a:off x="3962400" y="1981200"/>
              <a:ext cx="152400" cy="152400"/>
            </a:xfrm>
            <a:prstGeom prst="line">
              <a:avLst/>
            </a:prstGeom>
            <a:ln>
              <a:prstDash val="dash"/>
            </a:ln>
          </p:spPr>
          <p:style>
            <a:lnRef idx="1">
              <a:schemeClr val="accent1"/>
            </a:lnRef>
            <a:fillRef idx="0">
              <a:schemeClr val="accent1"/>
            </a:fillRef>
            <a:effectRef idx="0">
              <a:schemeClr val="accent1"/>
            </a:effectRef>
            <a:fontRef idx="minor">
              <a:schemeClr val="tx1"/>
            </a:fontRef>
          </p:style>
        </p:cxnSp>
      </p:grpSp>
      <p:grpSp>
        <p:nvGrpSpPr>
          <p:cNvPr id="6" name="Group 158"/>
          <p:cNvGrpSpPr>
            <a:grpSpLocks/>
          </p:cNvGrpSpPr>
          <p:nvPr/>
        </p:nvGrpSpPr>
        <p:grpSpPr bwMode="auto">
          <a:xfrm rot="10800000">
            <a:off x="2895600" y="4114800"/>
            <a:ext cx="381000" cy="381000"/>
            <a:chOff x="3733800" y="1981200"/>
            <a:chExt cx="381000" cy="381000"/>
          </a:xfrm>
        </p:grpSpPr>
        <p:cxnSp>
          <p:nvCxnSpPr>
            <p:cNvPr id="160" name="Straight Connector 159"/>
            <p:cNvCxnSpPr/>
            <p:nvPr/>
          </p:nvCxnSpPr>
          <p:spPr>
            <a:xfrm>
              <a:off x="3740150" y="1981200"/>
              <a:ext cx="228600"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61" name="Straight Connector 160"/>
            <p:cNvCxnSpPr/>
            <p:nvPr/>
          </p:nvCxnSpPr>
          <p:spPr>
            <a:xfrm rot="5400000" flipH="1" flipV="1">
              <a:off x="4006850" y="2247900"/>
              <a:ext cx="228600" cy="0"/>
            </a:xfrm>
            <a:prstGeom prst="line">
              <a:avLst/>
            </a:prstGeom>
            <a:ln>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162" name="Straight Connector 161"/>
            <p:cNvCxnSpPr/>
            <p:nvPr/>
          </p:nvCxnSpPr>
          <p:spPr>
            <a:xfrm rot="16200000" flipH="1">
              <a:off x="3968750" y="1981200"/>
              <a:ext cx="152400" cy="152400"/>
            </a:xfrm>
            <a:prstGeom prst="line">
              <a:avLst/>
            </a:prstGeom>
            <a:ln>
              <a:prstDash val="dash"/>
            </a:ln>
          </p:spPr>
          <p:style>
            <a:lnRef idx="1">
              <a:schemeClr val="accent1"/>
            </a:lnRef>
            <a:fillRef idx="0">
              <a:schemeClr val="accent1"/>
            </a:fillRef>
            <a:effectRef idx="0">
              <a:schemeClr val="accent1"/>
            </a:effectRef>
            <a:fontRef idx="minor">
              <a:schemeClr val="tx1"/>
            </a:fontRef>
          </p:style>
        </p:cxnSp>
      </p:grpSp>
      <p:grpSp>
        <p:nvGrpSpPr>
          <p:cNvPr id="7" name="Group 162"/>
          <p:cNvGrpSpPr>
            <a:grpSpLocks/>
          </p:cNvGrpSpPr>
          <p:nvPr/>
        </p:nvGrpSpPr>
        <p:grpSpPr bwMode="auto">
          <a:xfrm rot="10800000">
            <a:off x="3810000" y="5029200"/>
            <a:ext cx="381000" cy="381000"/>
            <a:chOff x="3733800" y="1981200"/>
            <a:chExt cx="381000" cy="381000"/>
          </a:xfrm>
        </p:grpSpPr>
        <p:cxnSp>
          <p:nvCxnSpPr>
            <p:cNvPr id="164" name="Straight Connector 163"/>
            <p:cNvCxnSpPr/>
            <p:nvPr/>
          </p:nvCxnSpPr>
          <p:spPr>
            <a:xfrm>
              <a:off x="3740150" y="1981200"/>
              <a:ext cx="228600"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65" name="Straight Connector 164"/>
            <p:cNvCxnSpPr/>
            <p:nvPr/>
          </p:nvCxnSpPr>
          <p:spPr>
            <a:xfrm rot="5400000" flipH="1" flipV="1">
              <a:off x="4006850" y="2247900"/>
              <a:ext cx="228600" cy="0"/>
            </a:xfrm>
            <a:prstGeom prst="line">
              <a:avLst/>
            </a:prstGeom>
            <a:ln>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166" name="Straight Connector 165"/>
            <p:cNvCxnSpPr/>
            <p:nvPr/>
          </p:nvCxnSpPr>
          <p:spPr>
            <a:xfrm rot="16200000" flipH="1">
              <a:off x="3968750" y="1981200"/>
              <a:ext cx="152400" cy="152400"/>
            </a:xfrm>
            <a:prstGeom prst="line">
              <a:avLst/>
            </a:prstGeom>
            <a:ln>
              <a:prstDash val="dash"/>
            </a:ln>
          </p:spPr>
          <p:style>
            <a:lnRef idx="1">
              <a:schemeClr val="accent1"/>
            </a:lnRef>
            <a:fillRef idx="0">
              <a:schemeClr val="accent1"/>
            </a:fillRef>
            <a:effectRef idx="0">
              <a:schemeClr val="accent1"/>
            </a:effectRef>
            <a:fontRef idx="minor">
              <a:schemeClr val="tx1"/>
            </a:fontRef>
          </p:style>
        </p:cxnSp>
      </p:grpSp>
      <p:grpSp>
        <p:nvGrpSpPr>
          <p:cNvPr id="8" name="Group 166"/>
          <p:cNvGrpSpPr>
            <a:grpSpLocks/>
          </p:cNvGrpSpPr>
          <p:nvPr/>
        </p:nvGrpSpPr>
        <p:grpSpPr bwMode="auto">
          <a:xfrm>
            <a:off x="4724400" y="4114800"/>
            <a:ext cx="381000" cy="381000"/>
            <a:chOff x="3733800" y="1981200"/>
            <a:chExt cx="381000" cy="381000"/>
          </a:xfrm>
        </p:grpSpPr>
        <p:cxnSp>
          <p:nvCxnSpPr>
            <p:cNvPr id="168" name="Straight Connector 167"/>
            <p:cNvCxnSpPr/>
            <p:nvPr/>
          </p:nvCxnSpPr>
          <p:spPr>
            <a:xfrm>
              <a:off x="3733800" y="1981200"/>
              <a:ext cx="228600"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69" name="Straight Connector 168"/>
            <p:cNvCxnSpPr/>
            <p:nvPr/>
          </p:nvCxnSpPr>
          <p:spPr>
            <a:xfrm rot="5400000" flipH="1" flipV="1">
              <a:off x="4000500" y="2247900"/>
              <a:ext cx="228600" cy="0"/>
            </a:xfrm>
            <a:prstGeom prst="line">
              <a:avLst/>
            </a:prstGeom>
            <a:ln>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170" name="Straight Connector 169"/>
            <p:cNvCxnSpPr/>
            <p:nvPr/>
          </p:nvCxnSpPr>
          <p:spPr>
            <a:xfrm rot="16200000" flipH="1">
              <a:off x="3962400" y="1981200"/>
              <a:ext cx="152400" cy="152400"/>
            </a:xfrm>
            <a:prstGeom prst="line">
              <a:avLst/>
            </a:prstGeom>
            <a:ln>
              <a:prstDash val="dash"/>
            </a:ln>
          </p:spPr>
          <p:style>
            <a:lnRef idx="1">
              <a:schemeClr val="accent1"/>
            </a:lnRef>
            <a:fillRef idx="0">
              <a:schemeClr val="accent1"/>
            </a:fillRef>
            <a:effectRef idx="0">
              <a:schemeClr val="accent1"/>
            </a:effectRef>
            <a:fontRef idx="minor">
              <a:schemeClr val="tx1"/>
            </a:fontRef>
          </p:style>
        </p:cxnSp>
      </p:grpSp>
      <p:sp>
        <p:nvSpPr>
          <p:cNvPr id="58400" name="TextBox 181"/>
          <p:cNvSpPr txBox="1">
            <a:spLocks noChangeArrowheads="1"/>
          </p:cNvSpPr>
          <p:nvPr/>
        </p:nvSpPr>
        <p:spPr bwMode="auto">
          <a:xfrm>
            <a:off x="2133600" y="1536700"/>
            <a:ext cx="76200" cy="231775"/>
          </a:xfrm>
          <a:prstGeom prst="rect">
            <a:avLst/>
          </a:prstGeom>
          <a:noFill/>
          <a:ln w="9525">
            <a:noFill/>
            <a:miter lim="800000"/>
            <a:headEnd/>
            <a:tailEnd/>
          </a:ln>
        </p:spPr>
        <p:txBody>
          <a:bodyPr>
            <a:spAutoFit/>
          </a:bodyPr>
          <a:lstStyle/>
          <a:p>
            <a:r>
              <a:rPr lang="en-US" sz="900">
                <a:latin typeface="Calibri" pitchFamily="34" charset="0"/>
              </a:rPr>
              <a:t>1</a:t>
            </a:r>
          </a:p>
        </p:txBody>
      </p:sp>
      <p:sp>
        <p:nvSpPr>
          <p:cNvPr id="58401" name="TextBox 183"/>
          <p:cNvSpPr txBox="1">
            <a:spLocks noChangeArrowheads="1"/>
          </p:cNvSpPr>
          <p:nvPr/>
        </p:nvSpPr>
        <p:spPr bwMode="auto">
          <a:xfrm>
            <a:off x="1295400" y="2362200"/>
            <a:ext cx="76200" cy="230188"/>
          </a:xfrm>
          <a:prstGeom prst="rect">
            <a:avLst/>
          </a:prstGeom>
          <a:noFill/>
          <a:ln w="9525">
            <a:noFill/>
            <a:miter lim="800000"/>
            <a:headEnd/>
            <a:tailEnd/>
          </a:ln>
        </p:spPr>
        <p:txBody>
          <a:bodyPr>
            <a:spAutoFit/>
          </a:bodyPr>
          <a:lstStyle/>
          <a:p>
            <a:r>
              <a:rPr lang="en-US" sz="900">
                <a:latin typeface="Calibri" pitchFamily="34" charset="0"/>
              </a:rPr>
              <a:t>1</a:t>
            </a:r>
          </a:p>
        </p:txBody>
      </p:sp>
      <p:sp>
        <p:nvSpPr>
          <p:cNvPr id="58402" name="TextBox 184"/>
          <p:cNvSpPr txBox="1">
            <a:spLocks noChangeArrowheads="1"/>
          </p:cNvSpPr>
          <p:nvPr/>
        </p:nvSpPr>
        <p:spPr bwMode="auto">
          <a:xfrm rot="10800000" flipV="1">
            <a:off x="1981200" y="3268663"/>
            <a:ext cx="152400" cy="231775"/>
          </a:xfrm>
          <a:prstGeom prst="rect">
            <a:avLst/>
          </a:prstGeom>
          <a:noFill/>
          <a:ln w="9525">
            <a:noFill/>
            <a:miter lim="800000"/>
            <a:headEnd/>
            <a:tailEnd/>
          </a:ln>
        </p:spPr>
        <p:txBody>
          <a:bodyPr>
            <a:spAutoFit/>
          </a:bodyPr>
          <a:lstStyle/>
          <a:p>
            <a:r>
              <a:rPr lang="en-US" sz="900">
                <a:latin typeface="Calibri" pitchFamily="34" charset="0"/>
              </a:rPr>
              <a:t>2</a:t>
            </a:r>
          </a:p>
        </p:txBody>
      </p:sp>
      <p:sp>
        <p:nvSpPr>
          <p:cNvPr id="58403" name="TextBox 185"/>
          <p:cNvSpPr txBox="1">
            <a:spLocks noChangeArrowheads="1"/>
          </p:cNvSpPr>
          <p:nvPr/>
        </p:nvSpPr>
        <p:spPr bwMode="auto">
          <a:xfrm rot="10800000" flipV="1">
            <a:off x="3048000" y="2278063"/>
            <a:ext cx="152400" cy="231775"/>
          </a:xfrm>
          <a:prstGeom prst="rect">
            <a:avLst/>
          </a:prstGeom>
          <a:noFill/>
          <a:ln w="9525">
            <a:noFill/>
            <a:miter lim="800000"/>
            <a:headEnd/>
            <a:tailEnd/>
          </a:ln>
        </p:spPr>
        <p:txBody>
          <a:bodyPr>
            <a:spAutoFit/>
          </a:bodyPr>
          <a:lstStyle/>
          <a:p>
            <a:r>
              <a:rPr lang="en-US" sz="900">
                <a:latin typeface="Calibri" pitchFamily="34" charset="0"/>
              </a:rPr>
              <a:t>2</a:t>
            </a:r>
          </a:p>
        </p:txBody>
      </p:sp>
      <p:sp>
        <p:nvSpPr>
          <p:cNvPr id="58404" name="TextBox 186"/>
          <p:cNvSpPr txBox="1">
            <a:spLocks noChangeArrowheads="1"/>
          </p:cNvSpPr>
          <p:nvPr/>
        </p:nvSpPr>
        <p:spPr bwMode="auto">
          <a:xfrm rot="10800000" flipV="1">
            <a:off x="3962400" y="3192463"/>
            <a:ext cx="152400" cy="231775"/>
          </a:xfrm>
          <a:prstGeom prst="rect">
            <a:avLst/>
          </a:prstGeom>
          <a:noFill/>
          <a:ln w="9525">
            <a:noFill/>
            <a:miter lim="800000"/>
            <a:headEnd/>
            <a:tailEnd/>
          </a:ln>
        </p:spPr>
        <p:txBody>
          <a:bodyPr>
            <a:spAutoFit/>
          </a:bodyPr>
          <a:lstStyle/>
          <a:p>
            <a:r>
              <a:rPr lang="en-US" sz="900">
                <a:latin typeface="Calibri" pitchFamily="34" charset="0"/>
              </a:rPr>
              <a:t>3</a:t>
            </a:r>
          </a:p>
        </p:txBody>
      </p:sp>
      <p:sp>
        <p:nvSpPr>
          <p:cNvPr id="58405" name="TextBox 188"/>
          <p:cNvSpPr txBox="1">
            <a:spLocks noChangeArrowheads="1"/>
          </p:cNvSpPr>
          <p:nvPr/>
        </p:nvSpPr>
        <p:spPr bwMode="auto">
          <a:xfrm rot="10800000" flipV="1">
            <a:off x="2971800" y="4259263"/>
            <a:ext cx="152400" cy="231775"/>
          </a:xfrm>
          <a:prstGeom prst="rect">
            <a:avLst/>
          </a:prstGeom>
          <a:noFill/>
          <a:ln w="9525">
            <a:noFill/>
            <a:miter lim="800000"/>
            <a:headEnd/>
            <a:tailEnd/>
          </a:ln>
        </p:spPr>
        <p:txBody>
          <a:bodyPr>
            <a:spAutoFit/>
          </a:bodyPr>
          <a:lstStyle/>
          <a:p>
            <a:r>
              <a:rPr lang="en-US" sz="900">
                <a:latin typeface="Calibri" pitchFamily="34" charset="0"/>
              </a:rPr>
              <a:t>3</a:t>
            </a:r>
          </a:p>
        </p:txBody>
      </p:sp>
      <p:sp>
        <p:nvSpPr>
          <p:cNvPr id="58406" name="TextBox 189"/>
          <p:cNvSpPr txBox="1">
            <a:spLocks noChangeArrowheads="1"/>
          </p:cNvSpPr>
          <p:nvPr/>
        </p:nvSpPr>
        <p:spPr bwMode="auto">
          <a:xfrm rot="10800000" flipV="1">
            <a:off x="3810000" y="5097463"/>
            <a:ext cx="152400" cy="231775"/>
          </a:xfrm>
          <a:prstGeom prst="rect">
            <a:avLst/>
          </a:prstGeom>
          <a:noFill/>
          <a:ln w="9525">
            <a:noFill/>
            <a:miter lim="800000"/>
            <a:headEnd/>
            <a:tailEnd/>
          </a:ln>
        </p:spPr>
        <p:txBody>
          <a:bodyPr>
            <a:spAutoFit/>
          </a:bodyPr>
          <a:lstStyle/>
          <a:p>
            <a:r>
              <a:rPr lang="en-US" sz="900">
                <a:latin typeface="Calibri" pitchFamily="34" charset="0"/>
              </a:rPr>
              <a:t>4</a:t>
            </a:r>
          </a:p>
        </p:txBody>
      </p:sp>
      <p:sp>
        <p:nvSpPr>
          <p:cNvPr id="58407" name="TextBox 190"/>
          <p:cNvSpPr txBox="1">
            <a:spLocks noChangeArrowheads="1"/>
          </p:cNvSpPr>
          <p:nvPr/>
        </p:nvSpPr>
        <p:spPr bwMode="auto">
          <a:xfrm rot="10800000" flipV="1">
            <a:off x="4876800" y="4106863"/>
            <a:ext cx="152400" cy="231775"/>
          </a:xfrm>
          <a:prstGeom prst="rect">
            <a:avLst/>
          </a:prstGeom>
          <a:noFill/>
          <a:ln w="9525">
            <a:noFill/>
            <a:miter lim="800000"/>
            <a:headEnd/>
            <a:tailEnd/>
          </a:ln>
        </p:spPr>
        <p:txBody>
          <a:bodyPr>
            <a:spAutoFit/>
          </a:bodyPr>
          <a:lstStyle/>
          <a:p>
            <a:r>
              <a:rPr lang="en-US" sz="900">
                <a:latin typeface="Calibri" pitchFamily="34" charset="0"/>
              </a:rPr>
              <a:t>4</a:t>
            </a:r>
          </a:p>
        </p:txBody>
      </p:sp>
      <p:sp>
        <p:nvSpPr>
          <p:cNvPr id="58408" name="TextBox 197"/>
          <p:cNvSpPr txBox="1">
            <a:spLocks noChangeArrowheads="1"/>
          </p:cNvSpPr>
          <p:nvPr/>
        </p:nvSpPr>
        <p:spPr bwMode="auto">
          <a:xfrm>
            <a:off x="1031875" y="2362200"/>
            <a:ext cx="361950" cy="276225"/>
          </a:xfrm>
          <a:prstGeom prst="rect">
            <a:avLst/>
          </a:prstGeom>
          <a:noFill/>
          <a:ln w="9525">
            <a:noFill/>
            <a:miter lim="800000"/>
            <a:headEnd/>
            <a:tailEnd/>
          </a:ln>
        </p:spPr>
        <p:txBody>
          <a:bodyPr wrap="none">
            <a:spAutoFit/>
          </a:bodyPr>
          <a:lstStyle/>
          <a:p>
            <a:r>
              <a:rPr lang="en-US" sz="1200">
                <a:latin typeface="Calibri" pitchFamily="34" charset="0"/>
              </a:rPr>
              <a:t>Q</a:t>
            </a:r>
            <a:r>
              <a:rPr lang="en-US" sz="1200" baseline="-25000">
                <a:latin typeface="Calibri" pitchFamily="34" charset="0"/>
              </a:rPr>
              <a:t>1</a:t>
            </a:r>
          </a:p>
        </p:txBody>
      </p:sp>
      <p:sp>
        <p:nvSpPr>
          <p:cNvPr id="58409" name="TextBox 198"/>
          <p:cNvSpPr txBox="1">
            <a:spLocks noChangeArrowheads="1"/>
          </p:cNvSpPr>
          <p:nvPr/>
        </p:nvSpPr>
        <p:spPr bwMode="auto">
          <a:xfrm>
            <a:off x="2057400" y="1371600"/>
            <a:ext cx="425450" cy="276225"/>
          </a:xfrm>
          <a:prstGeom prst="rect">
            <a:avLst/>
          </a:prstGeom>
          <a:noFill/>
          <a:ln w="9525">
            <a:noFill/>
            <a:miter lim="800000"/>
            <a:headEnd/>
            <a:tailEnd/>
          </a:ln>
        </p:spPr>
        <p:txBody>
          <a:bodyPr wrap="none">
            <a:spAutoFit/>
          </a:bodyPr>
          <a:lstStyle/>
          <a:p>
            <a:r>
              <a:rPr lang="en-US" sz="1200">
                <a:latin typeface="Calibri" pitchFamily="34" charset="0"/>
              </a:rPr>
              <a:t>Q</a:t>
            </a:r>
            <a:r>
              <a:rPr lang="en-US" sz="1200" baseline="-25000">
                <a:latin typeface="Calibri" pitchFamily="34" charset="0"/>
              </a:rPr>
              <a:t>1</a:t>
            </a:r>
            <a:r>
              <a:rPr lang="en-US" sz="1200" baseline="30000">
                <a:latin typeface="Calibri" pitchFamily="34" charset="0"/>
              </a:rPr>
              <a:t>T</a:t>
            </a:r>
          </a:p>
        </p:txBody>
      </p:sp>
      <p:sp>
        <p:nvSpPr>
          <p:cNvPr id="58410" name="TextBox 199"/>
          <p:cNvSpPr txBox="1">
            <a:spLocks noChangeArrowheads="1"/>
          </p:cNvSpPr>
          <p:nvPr/>
        </p:nvSpPr>
        <p:spPr bwMode="auto">
          <a:xfrm>
            <a:off x="1654175" y="3276600"/>
            <a:ext cx="403225" cy="276225"/>
          </a:xfrm>
          <a:prstGeom prst="rect">
            <a:avLst/>
          </a:prstGeom>
          <a:noFill/>
          <a:ln w="9525">
            <a:noFill/>
            <a:miter lim="800000"/>
            <a:headEnd/>
            <a:tailEnd/>
          </a:ln>
        </p:spPr>
        <p:txBody>
          <a:bodyPr>
            <a:spAutoFit/>
          </a:bodyPr>
          <a:lstStyle/>
          <a:p>
            <a:r>
              <a:rPr lang="en-US" sz="1200">
                <a:latin typeface="Calibri" pitchFamily="34" charset="0"/>
              </a:rPr>
              <a:t>Q</a:t>
            </a:r>
            <a:r>
              <a:rPr lang="en-US" sz="1200" baseline="-25000">
                <a:latin typeface="Calibri" pitchFamily="34" charset="0"/>
              </a:rPr>
              <a:t>2</a:t>
            </a:r>
          </a:p>
        </p:txBody>
      </p:sp>
      <p:sp>
        <p:nvSpPr>
          <p:cNvPr id="58411" name="TextBox 200"/>
          <p:cNvSpPr txBox="1">
            <a:spLocks noChangeArrowheads="1"/>
          </p:cNvSpPr>
          <p:nvPr/>
        </p:nvSpPr>
        <p:spPr bwMode="auto">
          <a:xfrm>
            <a:off x="2971800" y="2009775"/>
            <a:ext cx="425450" cy="276225"/>
          </a:xfrm>
          <a:prstGeom prst="rect">
            <a:avLst/>
          </a:prstGeom>
          <a:noFill/>
          <a:ln w="9525">
            <a:noFill/>
            <a:miter lim="800000"/>
            <a:headEnd/>
            <a:tailEnd/>
          </a:ln>
        </p:spPr>
        <p:txBody>
          <a:bodyPr wrap="none">
            <a:spAutoFit/>
          </a:bodyPr>
          <a:lstStyle/>
          <a:p>
            <a:r>
              <a:rPr lang="en-US" sz="1200">
                <a:latin typeface="Calibri" pitchFamily="34" charset="0"/>
              </a:rPr>
              <a:t>Q</a:t>
            </a:r>
            <a:r>
              <a:rPr lang="en-US" sz="1200" baseline="-25000">
                <a:latin typeface="Calibri" pitchFamily="34" charset="0"/>
              </a:rPr>
              <a:t>2</a:t>
            </a:r>
            <a:r>
              <a:rPr lang="en-US" sz="1200" baseline="30000">
                <a:latin typeface="Calibri" pitchFamily="34" charset="0"/>
              </a:rPr>
              <a:t>T</a:t>
            </a:r>
          </a:p>
        </p:txBody>
      </p:sp>
      <p:sp>
        <p:nvSpPr>
          <p:cNvPr id="58412" name="TextBox 201"/>
          <p:cNvSpPr txBox="1">
            <a:spLocks noChangeArrowheads="1"/>
          </p:cNvSpPr>
          <p:nvPr/>
        </p:nvSpPr>
        <p:spPr bwMode="auto">
          <a:xfrm>
            <a:off x="2416175" y="4191000"/>
            <a:ext cx="361950" cy="276225"/>
          </a:xfrm>
          <a:prstGeom prst="rect">
            <a:avLst/>
          </a:prstGeom>
          <a:noFill/>
          <a:ln w="9525">
            <a:noFill/>
            <a:miter lim="800000"/>
            <a:headEnd/>
            <a:tailEnd/>
          </a:ln>
        </p:spPr>
        <p:txBody>
          <a:bodyPr wrap="none">
            <a:spAutoFit/>
          </a:bodyPr>
          <a:lstStyle/>
          <a:p>
            <a:r>
              <a:rPr lang="en-US" sz="1200">
                <a:latin typeface="Calibri" pitchFamily="34" charset="0"/>
              </a:rPr>
              <a:t>Q</a:t>
            </a:r>
            <a:r>
              <a:rPr lang="en-US" sz="1200" baseline="-25000">
                <a:latin typeface="Calibri" pitchFamily="34" charset="0"/>
              </a:rPr>
              <a:t>3</a:t>
            </a:r>
          </a:p>
        </p:txBody>
      </p:sp>
      <p:sp>
        <p:nvSpPr>
          <p:cNvPr id="58413" name="TextBox 202"/>
          <p:cNvSpPr txBox="1">
            <a:spLocks noChangeArrowheads="1"/>
          </p:cNvSpPr>
          <p:nvPr/>
        </p:nvSpPr>
        <p:spPr bwMode="auto">
          <a:xfrm>
            <a:off x="3886200" y="2819400"/>
            <a:ext cx="425450" cy="276225"/>
          </a:xfrm>
          <a:prstGeom prst="rect">
            <a:avLst/>
          </a:prstGeom>
          <a:noFill/>
          <a:ln w="9525">
            <a:noFill/>
            <a:miter lim="800000"/>
            <a:headEnd/>
            <a:tailEnd/>
          </a:ln>
        </p:spPr>
        <p:txBody>
          <a:bodyPr wrap="none">
            <a:spAutoFit/>
          </a:bodyPr>
          <a:lstStyle/>
          <a:p>
            <a:r>
              <a:rPr lang="en-US" sz="1200">
                <a:latin typeface="Calibri" pitchFamily="34" charset="0"/>
              </a:rPr>
              <a:t>Q</a:t>
            </a:r>
            <a:r>
              <a:rPr lang="en-US" sz="1200" baseline="-25000">
                <a:latin typeface="Calibri" pitchFamily="34" charset="0"/>
              </a:rPr>
              <a:t>3</a:t>
            </a:r>
            <a:r>
              <a:rPr lang="en-US" sz="1200" baseline="30000">
                <a:latin typeface="Calibri" pitchFamily="34" charset="0"/>
              </a:rPr>
              <a:t>T</a:t>
            </a:r>
          </a:p>
        </p:txBody>
      </p:sp>
      <p:cxnSp>
        <p:nvCxnSpPr>
          <p:cNvPr id="212" name="Straight Arrow Connector 211"/>
          <p:cNvCxnSpPr/>
          <p:nvPr/>
        </p:nvCxnSpPr>
        <p:spPr>
          <a:xfrm>
            <a:off x="1295400" y="1143000"/>
            <a:ext cx="914400" cy="1588"/>
          </a:xfrm>
          <a:prstGeom prst="straightConnector1">
            <a:avLst/>
          </a:prstGeom>
          <a:ln>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8415" name="TextBox 212"/>
          <p:cNvSpPr txBox="1">
            <a:spLocks noChangeArrowheads="1"/>
          </p:cNvSpPr>
          <p:nvPr/>
        </p:nvSpPr>
        <p:spPr bwMode="auto">
          <a:xfrm>
            <a:off x="1524000" y="914400"/>
            <a:ext cx="454025" cy="276225"/>
          </a:xfrm>
          <a:prstGeom prst="rect">
            <a:avLst/>
          </a:prstGeom>
          <a:noFill/>
          <a:ln w="9525">
            <a:noFill/>
            <a:miter lim="800000"/>
            <a:headEnd/>
            <a:tailEnd/>
          </a:ln>
        </p:spPr>
        <p:txBody>
          <a:bodyPr wrap="none">
            <a:spAutoFit/>
          </a:bodyPr>
          <a:lstStyle/>
          <a:p>
            <a:r>
              <a:rPr lang="en-US" sz="1200">
                <a:latin typeface="Calibri" pitchFamily="34" charset="0"/>
              </a:rPr>
              <a:t>b+1</a:t>
            </a:r>
          </a:p>
        </p:txBody>
      </p:sp>
      <p:cxnSp>
        <p:nvCxnSpPr>
          <p:cNvPr id="215" name="Straight Arrow Connector 214"/>
          <p:cNvCxnSpPr/>
          <p:nvPr/>
        </p:nvCxnSpPr>
        <p:spPr>
          <a:xfrm rot="5400000">
            <a:off x="229394" y="2056606"/>
            <a:ext cx="914400" cy="1588"/>
          </a:xfrm>
          <a:prstGeom prst="straightConnector1">
            <a:avLst/>
          </a:prstGeom>
          <a:ln>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8417" name="TextBox 215"/>
          <p:cNvSpPr txBox="1">
            <a:spLocks noChangeArrowheads="1"/>
          </p:cNvSpPr>
          <p:nvPr/>
        </p:nvSpPr>
        <p:spPr bwMode="auto">
          <a:xfrm rot="-5400000">
            <a:off x="368300" y="1905000"/>
            <a:ext cx="454025" cy="276225"/>
          </a:xfrm>
          <a:prstGeom prst="rect">
            <a:avLst/>
          </a:prstGeom>
          <a:noFill/>
          <a:ln w="9525">
            <a:noFill/>
            <a:miter lim="800000"/>
            <a:headEnd/>
            <a:tailEnd/>
          </a:ln>
        </p:spPr>
        <p:txBody>
          <a:bodyPr wrap="none">
            <a:spAutoFit/>
          </a:bodyPr>
          <a:lstStyle/>
          <a:p>
            <a:r>
              <a:rPr lang="en-US" sz="1200">
                <a:latin typeface="Calibri" pitchFamily="34" charset="0"/>
              </a:rPr>
              <a:t>b+1</a:t>
            </a:r>
          </a:p>
        </p:txBody>
      </p:sp>
      <p:cxnSp>
        <p:nvCxnSpPr>
          <p:cNvPr id="218" name="Straight Arrow Connector 217"/>
          <p:cNvCxnSpPr/>
          <p:nvPr/>
        </p:nvCxnSpPr>
        <p:spPr>
          <a:xfrm>
            <a:off x="1981200" y="1371600"/>
            <a:ext cx="228600" cy="1588"/>
          </a:xfrm>
          <a:prstGeom prst="straightConnector1">
            <a:avLst/>
          </a:prstGeom>
          <a:ln>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8419" name="TextBox 223"/>
          <p:cNvSpPr txBox="1">
            <a:spLocks noChangeArrowheads="1"/>
          </p:cNvSpPr>
          <p:nvPr/>
        </p:nvSpPr>
        <p:spPr bwMode="auto">
          <a:xfrm>
            <a:off x="1873250" y="1143000"/>
            <a:ext cx="454025" cy="276225"/>
          </a:xfrm>
          <a:prstGeom prst="rect">
            <a:avLst/>
          </a:prstGeom>
          <a:noFill/>
          <a:ln w="9525">
            <a:noFill/>
            <a:miter lim="800000"/>
            <a:headEnd/>
            <a:tailEnd/>
          </a:ln>
        </p:spPr>
        <p:txBody>
          <a:bodyPr wrap="none">
            <a:spAutoFit/>
          </a:bodyPr>
          <a:lstStyle/>
          <a:p>
            <a:r>
              <a:rPr lang="en-US" sz="1200">
                <a:latin typeface="Calibri" pitchFamily="34" charset="0"/>
              </a:rPr>
              <a:t>d+1</a:t>
            </a:r>
          </a:p>
        </p:txBody>
      </p:sp>
      <p:cxnSp>
        <p:nvCxnSpPr>
          <p:cNvPr id="226" name="Straight Arrow Connector 225"/>
          <p:cNvCxnSpPr/>
          <p:nvPr/>
        </p:nvCxnSpPr>
        <p:spPr>
          <a:xfrm rot="5400000" flipH="1" flipV="1">
            <a:off x="875507" y="2401094"/>
            <a:ext cx="228600" cy="1587"/>
          </a:xfrm>
          <a:prstGeom prst="straightConnector1">
            <a:avLst/>
          </a:prstGeom>
          <a:ln>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8421" name="TextBox 226"/>
          <p:cNvSpPr txBox="1">
            <a:spLocks noChangeArrowheads="1"/>
          </p:cNvSpPr>
          <p:nvPr/>
        </p:nvSpPr>
        <p:spPr bwMode="auto">
          <a:xfrm rot="-5400000">
            <a:off x="673100" y="2286000"/>
            <a:ext cx="454025" cy="276225"/>
          </a:xfrm>
          <a:prstGeom prst="rect">
            <a:avLst/>
          </a:prstGeom>
          <a:noFill/>
          <a:ln w="9525">
            <a:noFill/>
            <a:miter lim="800000"/>
            <a:headEnd/>
            <a:tailEnd/>
          </a:ln>
        </p:spPr>
        <p:txBody>
          <a:bodyPr wrap="none">
            <a:spAutoFit/>
          </a:bodyPr>
          <a:lstStyle/>
          <a:p>
            <a:r>
              <a:rPr lang="en-US" sz="1200">
                <a:latin typeface="Calibri" pitchFamily="34" charset="0"/>
              </a:rPr>
              <a:t>d+1</a:t>
            </a:r>
          </a:p>
        </p:txBody>
      </p:sp>
      <p:cxnSp>
        <p:nvCxnSpPr>
          <p:cNvPr id="240" name="Straight Arrow Connector 239"/>
          <p:cNvCxnSpPr/>
          <p:nvPr/>
        </p:nvCxnSpPr>
        <p:spPr>
          <a:xfrm>
            <a:off x="2895600" y="1965325"/>
            <a:ext cx="381000" cy="1588"/>
          </a:xfrm>
          <a:prstGeom prst="straightConnector1">
            <a:avLst/>
          </a:prstGeom>
          <a:ln>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58423" name="TextBox 240"/>
          <p:cNvSpPr txBox="1">
            <a:spLocks noChangeArrowheads="1"/>
          </p:cNvSpPr>
          <p:nvPr/>
        </p:nvSpPr>
        <p:spPr bwMode="auto">
          <a:xfrm>
            <a:off x="2895600" y="1706563"/>
            <a:ext cx="454025" cy="276225"/>
          </a:xfrm>
          <a:prstGeom prst="rect">
            <a:avLst/>
          </a:prstGeom>
          <a:noFill/>
          <a:ln w="9525">
            <a:noFill/>
            <a:miter lim="800000"/>
            <a:headEnd/>
            <a:tailEnd/>
          </a:ln>
        </p:spPr>
        <p:txBody>
          <a:bodyPr wrap="none">
            <a:spAutoFit/>
          </a:bodyPr>
          <a:lstStyle/>
          <a:p>
            <a:r>
              <a:rPr lang="en-US" sz="1200">
                <a:latin typeface="Calibri" pitchFamily="34" charset="0"/>
              </a:rPr>
              <a:t>d+c</a:t>
            </a:r>
          </a:p>
        </p:txBody>
      </p:sp>
      <p:cxnSp>
        <p:nvCxnSpPr>
          <p:cNvPr id="243" name="Straight Arrow Connector 242"/>
          <p:cNvCxnSpPr/>
          <p:nvPr/>
        </p:nvCxnSpPr>
        <p:spPr>
          <a:xfrm rot="5400000">
            <a:off x="3238501" y="2476500"/>
            <a:ext cx="381000" cy="3175"/>
          </a:xfrm>
          <a:prstGeom prst="straightConnector1">
            <a:avLst/>
          </a:prstGeom>
          <a:ln>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58425" name="TextBox 243"/>
          <p:cNvSpPr txBox="1">
            <a:spLocks noChangeArrowheads="1"/>
          </p:cNvSpPr>
          <p:nvPr/>
        </p:nvSpPr>
        <p:spPr bwMode="auto">
          <a:xfrm>
            <a:off x="3429000" y="2286000"/>
            <a:ext cx="454025" cy="276225"/>
          </a:xfrm>
          <a:prstGeom prst="rect">
            <a:avLst/>
          </a:prstGeom>
          <a:noFill/>
          <a:ln w="9525">
            <a:noFill/>
            <a:miter lim="800000"/>
            <a:headEnd/>
            <a:tailEnd/>
          </a:ln>
        </p:spPr>
        <p:txBody>
          <a:bodyPr wrap="none">
            <a:spAutoFit/>
          </a:bodyPr>
          <a:lstStyle/>
          <a:p>
            <a:r>
              <a:rPr lang="en-US" sz="1200">
                <a:latin typeface="Calibri" pitchFamily="34" charset="0"/>
              </a:rPr>
              <a:t>d+c</a:t>
            </a:r>
          </a:p>
        </p:txBody>
      </p:sp>
      <p:cxnSp>
        <p:nvCxnSpPr>
          <p:cNvPr id="245" name="Straight Arrow Connector 244"/>
          <p:cNvCxnSpPr/>
          <p:nvPr/>
        </p:nvCxnSpPr>
        <p:spPr>
          <a:xfrm rot="5400000">
            <a:off x="1486694" y="3390106"/>
            <a:ext cx="381000" cy="1588"/>
          </a:xfrm>
          <a:prstGeom prst="straightConnector1">
            <a:avLst/>
          </a:prstGeom>
          <a:ln>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246" name="Straight Arrow Connector 245"/>
          <p:cNvCxnSpPr/>
          <p:nvPr/>
        </p:nvCxnSpPr>
        <p:spPr>
          <a:xfrm>
            <a:off x="1981200" y="3733800"/>
            <a:ext cx="379413" cy="1588"/>
          </a:xfrm>
          <a:prstGeom prst="straightConnector1">
            <a:avLst/>
          </a:prstGeom>
          <a:ln>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58428" name="TextBox 247"/>
          <p:cNvSpPr txBox="1">
            <a:spLocks noChangeArrowheads="1"/>
          </p:cNvSpPr>
          <p:nvPr/>
        </p:nvSpPr>
        <p:spPr bwMode="auto">
          <a:xfrm>
            <a:off x="1295400" y="3276600"/>
            <a:ext cx="454025" cy="276225"/>
          </a:xfrm>
          <a:prstGeom prst="rect">
            <a:avLst/>
          </a:prstGeom>
          <a:noFill/>
          <a:ln w="9525">
            <a:noFill/>
            <a:miter lim="800000"/>
            <a:headEnd/>
            <a:tailEnd/>
          </a:ln>
        </p:spPr>
        <p:txBody>
          <a:bodyPr wrap="none">
            <a:spAutoFit/>
          </a:bodyPr>
          <a:lstStyle/>
          <a:p>
            <a:r>
              <a:rPr lang="en-US" sz="1200">
                <a:latin typeface="Calibri" pitchFamily="34" charset="0"/>
              </a:rPr>
              <a:t>d+c</a:t>
            </a:r>
          </a:p>
        </p:txBody>
      </p:sp>
      <p:sp>
        <p:nvSpPr>
          <p:cNvPr id="58429" name="TextBox 248"/>
          <p:cNvSpPr txBox="1">
            <a:spLocks noChangeArrowheads="1"/>
          </p:cNvSpPr>
          <p:nvPr/>
        </p:nvSpPr>
        <p:spPr bwMode="auto">
          <a:xfrm>
            <a:off x="1981200" y="3686175"/>
            <a:ext cx="454025" cy="276225"/>
          </a:xfrm>
          <a:prstGeom prst="rect">
            <a:avLst/>
          </a:prstGeom>
          <a:noFill/>
          <a:ln w="9525">
            <a:noFill/>
            <a:miter lim="800000"/>
            <a:headEnd/>
            <a:tailEnd/>
          </a:ln>
        </p:spPr>
        <p:txBody>
          <a:bodyPr wrap="none">
            <a:spAutoFit/>
          </a:bodyPr>
          <a:lstStyle/>
          <a:p>
            <a:r>
              <a:rPr lang="en-US" sz="1200">
                <a:latin typeface="Calibri" pitchFamily="34" charset="0"/>
              </a:rPr>
              <a:t>d+c</a:t>
            </a:r>
          </a:p>
        </p:txBody>
      </p:sp>
      <p:sp>
        <p:nvSpPr>
          <p:cNvPr id="58430" name="TextBox 105"/>
          <p:cNvSpPr txBox="1">
            <a:spLocks noChangeArrowheads="1"/>
          </p:cNvSpPr>
          <p:nvPr/>
        </p:nvSpPr>
        <p:spPr bwMode="auto">
          <a:xfrm>
            <a:off x="811213" y="171450"/>
            <a:ext cx="7512050" cy="585788"/>
          </a:xfrm>
          <a:prstGeom prst="rect">
            <a:avLst/>
          </a:prstGeom>
          <a:noFill/>
          <a:ln w="9525">
            <a:noFill/>
            <a:miter lim="800000"/>
            <a:headEnd/>
            <a:tailEnd/>
          </a:ln>
        </p:spPr>
        <p:txBody>
          <a:bodyPr>
            <a:spAutoFit/>
          </a:bodyPr>
          <a:lstStyle/>
          <a:p>
            <a:pPr algn="ctr"/>
            <a:r>
              <a:rPr lang="en-US" sz="3200" dirty="0" smtClean="0">
                <a:solidFill>
                  <a:schemeClr val="tx1"/>
                </a:solidFill>
                <a:latin typeface="Calibri" pitchFamily="34" charset="0"/>
              </a:rPr>
              <a:t>Successive </a:t>
            </a:r>
            <a:r>
              <a:rPr lang="en-US" sz="3200" dirty="0">
                <a:solidFill>
                  <a:schemeClr val="tx1"/>
                </a:solidFill>
                <a:latin typeface="Calibri" pitchFamily="34" charset="0"/>
              </a:rPr>
              <a:t>Band Reduction</a:t>
            </a:r>
          </a:p>
        </p:txBody>
      </p:sp>
      <p:sp>
        <p:nvSpPr>
          <p:cNvPr id="58431" name="TextBox 228"/>
          <p:cNvSpPr txBox="1">
            <a:spLocks noChangeArrowheads="1"/>
          </p:cNvSpPr>
          <p:nvPr/>
        </p:nvSpPr>
        <p:spPr bwMode="auto">
          <a:xfrm>
            <a:off x="1227138" y="2667000"/>
            <a:ext cx="269875" cy="276225"/>
          </a:xfrm>
          <a:prstGeom prst="rect">
            <a:avLst/>
          </a:prstGeom>
          <a:noFill/>
          <a:ln w="9525">
            <a:solidFill>
              <a:schemeClr val="bg1"/>
            </a:solidFill>
            <a:miter lim="800000"/>
            <a:headEnd/>
            <a:tailEnd/>
          </a:ln>
        </p:spPr>
        <p:txBody>
          <a:bodyPr wrap="none">
            <a:spAutoFit/>
          </a:bodyPr>
          <a:lstStyle/>
          <a:p>
            <a:r>
              <a:rPr lang="en-US" sz="1200">
                <a:latin typeface="Calibri" pitchFamily="34" charset="0"/>
              </a:rPr>
              <a:t>c</a:t>
            </a:r>
          </a:p>
        </p:txBody>
      </p:sp>
      <p:cxnSp>
        <p:nvCxnSpPr>
          <p:cNvPr id="99" name="Straight Arrow Connector 98"/>
          <p:cNvCxnSpPr/>
          <p:nvPr/>
        </p:nvCxnSpPr>
        <p:spPr>
          <a:xfrm rot="10800000">
            <a:off x="1295400" y="2743200"/>
            <a:ext cx="152400" cy="1588"/>
          </a:xfrm>
          <a:prstGeom prst="straightConnector1">
            <a:avLst/>
          </a:prstGeom>
          <a:ln w="3175">
            <a:solidFill>
              <a:schemeClr val="tx1"/>
            </a:solidFill>
            <a:headEnd type="diamond" w="med" len="med"/>
            <a:tailEnd type="diamond" w="med" len="med"/>
          </a:ln>
        </p:spPr>
        <p:style>
          <a:lnRef idx="1">
            <a:schemeClr val="accent1"/>
          </a:lnRef>
          <a:fillRef idx="0">
            <a:schemeClr val="accent1"/>
          </a:fillRef>
          <a:effectRef idx="0">
            <a:schemeClr val="accent1"/>
          </a:effectRef>
          <a:fontRef idx="minor">
            <a:schemeClr val="tx1"/>
          </a:fontRef>
        </p:style>
      </p:cxnSp>
      <p:cxnSp>
        <p:nvCxnSpPr>
          <p:cNvPr id="100" name="Straight Arrow Connector 99"/>
          <p:cNvCxnSpPr/>
          <p:nvPr/>
        </p:nvCxnSpPr>
        <p:spPr>
          <a:xfrm rot="5400000">
            <a:off x="2439194" y="1675606"/>
            <a:ext cx="152400" cy="1588"/>
          </a:xfrm>
          <a:prstGeom prst="straightConnector1">
            <a:avLst/>
          </a:prstGeom>
          <a:ln w="3175">
            <a:solidFill>
              <a:schemeClr val="tx1"/>
            </a:solidFill>
            <a:headEnd type="diamond" w="med" len="med"/>
            <a:tailEnd type="diamond" w="med" len="med"/>
          </a:ln>
        </p:spPr>
        <p:style>
          <a:lnRef idx="1">
            <a:schemeClr val="accent1"/>
          </a:lnRef>
          <a:fillRef idx="0">
            <a:schemeClr val="accent1"/>
          </a:fillRef>
          <a:effectRef idx="0">
            <a:schemeClr val="accent1"/>
          </a:effectRef>
          <a:fontRef idx="minor">
            <a:schemeClr val="tx1"/>
          </a:fontRef>
        </p:style>
      </p:cxnSp>
      <p:sp>
        <p:nvSpPr>
          <p:cNvPr id="58434" name="TextBox 227"/>
          <p:cNvSpPr txBox="1">
            <a:spLocks noChangeArrowheads="1"/>
          </p:cNvSpPr>
          <p:nvPr/>
        </p:nvSpPr>
        <p:spPr bwMode="auto">
          <a:xfrm>
            <a:off x="2514600" y="1524000"/>
            <a:ext cx="269875" cy="276225"/>
          </a:xfrm>
          <a:prstGeom prst="rect">
            <a:avLst/>
          </a:prstGeom>
          <a:noFill/>
          <a:ln w="9525">
            <a:noFill/>
            <a:miter lim="800000"/>
            <a:headEnd/>
            <a:tailEnd/>
          </a:ln>
        </p:spPr>
        <p:txBody>
          <a:bodyPr wrap="none">
            <a:spAutoFit/>
          </a:bodyPr>
          <a:lstStyle/>
          <a:p>
            <a:r>
              <a:rPr lang="en-US" sz="1200">
                <a:latin typeface="Calibri" pitchFamily="34" charset="0"/>
              </a:rPr>
              <a:t>c</a:t>
            </a:r>
          </a:p>
        </p:txBody>
      </p:sp>
      <p:sp>
        <p:nvSpPr>
          <p:cNvPr id="85" name="TextBox 84"/>
          <p:cNvSpPr txBox="1"/>
          <p:nvPr/>
        </p:nvSpPr>
        <p:spPr>
          <a:xfrm>
            <a:off x="685800" y="5181600"/>
            <a:ext cx="1956177" cy="1200329"/>
          </a:xfrm>
          <a:prstGeom prst="rect">
            <a:avLst/>
          </a:prstGeom>
          <a:noFill/>
        </p:spPr>
        <p:txBody>
          <a:bodyPr wrap="none" rtlCol="0">
            <a:spAutoFit/>
          </a:bodyPr>
          <a:lstStyle/>
          <a:p>
            <a:r>
              <a:rPr lang="en-US" dirty="0" smtClean="0"/>
              <a:t>b = bandwidth</a:t>
            </a:r>
          </a:p>
          <a:p>
            <a:r>
              <a:rPr lang="en-US" dirty="0" smtClean="0"/>
              <a:t>c = #columns</a:t>
            </a:r>
          </a:p>
          <a:p>
            <a:r>
              <a:rPr lang="en-US" dirty="0" smtClean="0"/>
              <a:t>d = #diagonals</a:t>
            </a:r>
          </a:p>
          <a:p>
            <a:r>
              <a:rPr lang="en-US" dirty="0" smtClean="0"/>
              <a:t>Constraint: </a:t>
            </a:r>
            <a:r>
              <a:rPr lang="en-US" dirty="0" err="1" smtClean="0"/>
              <a:t>c+d</a:t>
            </a:r>
            <a:r>
              <a:rPr lang="en-US" dirty="0" smtClean="0"/>
              <a:t> </a:t>
            </a:r>
            <a:r>
              <a:rPr lang="en-US" dirty="0" smtClean="0">
                <a:sym typeface="Symbol"/>
              </a:rPr>
              <a:t> b</a:t>
            </a:r>
            <a:endParaRPr lang="en-US" dirty="0"/>
          </a:p>
        </p:txBody>
      </p:sp>
    </p:spTree>
    <p:extLst>
      <p:ext uri="{BB962C8B-B14F-4D97-AF65-F5344CB8AC3E}">
        <p14:creationId xmlns:p14="http://schemas.microsoft.com/office/powerpoint/2010/main" val="2146095347"/>
      </p:ext>
    </p:extLst>
  </p:cSld>
  <p:clrMapOvr>
    <a:masterClrMapping/>
  </p:clrMapOvr>
  <p:timing>
    <p:tnLst>
      <p:par>
        <p:cTn xmlns:p14="http://schemas.microsoft.com/office/powerpoint/2010/mai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p:cNvCxnSpPr/>
          <p:nvPr/>
        </p:nvCxnSpPr>
        <p:spPr>
          <a:xfrm>
            <a:off x="1295400" y="1600200"/>
            <a:ext cx="9144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rot="16200000" flipH="1">
            <a:off x="2209800" y="1600200"/>
            <a:ext cx="3657600" cy="36576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rot="5400000">
            <a:off x="5410200" y="5715000"/>
            <a:ext cx="9144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rot="10800000">
            <a:off x="4953000" y="6172200"/>
            <a:ext cx="9144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rot="16200000" flipV="1">
            <a:off x="1295400" y="2514600"/>
            <a:ext cx="3657600" cy="36576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rot="5400000" flipH="1" flipV="1">
            <a:off x="1295400" y="2514600"/>
            <a:ext cx="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1295400" y="2514600"/>
            <a:ext cx="914400" cy="9144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rot="5400000">
            <a:off x="838200" y="2057400"/>
            <a:ext cx="9144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rot="16200000" flipH="1">
            <a:off x="1295400" y="2286000"/>
            <a:ext cx="152400" cy="15240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rot="5400000">
            <a:off x="1333500" y="2552700"/>
            <a:ext cx="228600" cy="0"/>
          </a:xfrm>
          <a:prstGeom prst="line">
            <a:avLst/>
          </a:prstGeom>
          <a:ln>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a:off x="1447800" y="2667000"/>
            <a:ext cx="1828800" cy="0"/>
          </a:xfrm>
          <a:prstGeom prst="line">
            <a:avLst/>
          </a:prstGeom>
          <a:ln>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rot="16200000" flipH="1">
            <a:off x="1981200" y="1600200"/>
            <a:ext cx="152400" cy="15240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a:xfrm>
            <a:off x="2133600" y="1752600"/>
            <a:ext cx="228600"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a:xfrm rot="5400000">
            <a:off x="1447800" y="2667000"/>
            <a:ext cx="1828800" cy="0"/>
          </a:xfrm>
          <a:prstGeom prst="line">
            <a:avLst/>
          </a:prstGeom>
          <a:ln>
            <a:prstDash val="sysDot"/>
          </a:ln>
        </p:spPr>
        <p:style>
          <a:lnRef idx="1">
            <a:schemeClr val="accent1"/>
          </a:lnRef>
          <a:fillRef idx="0">
            <a:schemeClr val="accent1"/>
          </a:fillRef>
          <a:effectRef idx="0">
            <a:schemeClr val="accent1"/>
          </a:effectRef>
          <a:fontRef idx="minor">
            <a:schemeClr val="tx1"/>
          </a:fontRef>
        </p:style>
      </p:cxnSp>
      <p:cxnSp>
        <p:nvCxnSpPr>
          <p:cNvPr id="68" name="Straight Connector 67"/>
          <p:cNvCxnSpPr/>
          <p:nvPr/>
        </p:nvCxnSpPr>
        <p:spPr>
          <a:xfrm>
            <a:off x="1981200" y="3200400"/>
            <a:ext cx="1828800" cy="0"/>
          </a:xfrm>
          <a:prstGeom prst="line">
            <a:avLst/>
          </a:prstGeom>
          <a:ln>
            <a:prstDash val="sysDot"/>
          </a:ln>
        </p:spPr>
        <p:style>
          <a:lnRef idx="1">
            <a:schemeClr val="accent1"/>
          </a:lnRef>
          <a:fillRef idx="0">
            <a:schemeClr val="accent1"/>
          </a:fillRef>
          <a:effectRef idx="0">
            <a:schemeClr val="accent1"/>
          </a:effectRef>
          <a:fontRef idx="minor">
            <a:schemeClr val="tx1"/>
          </a:fontRef>
        </p:style>
      </p:cxnSp>
      <p:cxnSp>
        <p:nvCxnSpPr>
          <p:cNvPr id="69" name="Straight Connector 68"/>
          <p:cNvCxnSpPr/>
          <p:nvPr/>
        </p:nvCxnSpPr>
        <p:spPr>
          <a:xfrm>
            <a:off x="2362200" y="3581400"/>
            <a:ext cx="1828800" cy="0"/>
          </a:xfrm>
          <a:prstGeom prst="line">
            <a:avLst/>
          </a:prstGeom>
          <a:ln>
            <a:prstDash val="sysDot"/>
          </a:ln>
        </p:spPr>
        <p:style>
          <a:lnRef idx="1">
            <a:schemeClr val="accent1"/>
          </a:lnRef>
          <a:fillRef idx="0">
            <a:schemeClr val="accent1"/>
          </a:fillRef>
          <a:effectRef idx="0">
            <a:schemeClr val="accent1"/>
          </a:effectRef>
          <a:fontRef idx="minor">
            <a:schemeClr val="tx1"/>
          </a:fontRef>
        </p:style>
      </p:cxnSp>
      <p:cxnSp>
        <p:nvCxnSpPr>
          <p:cNvPr id="70" name="Straight Connector 69"/>
          <p:cNvCxnSpPr/>
          <p:nvPr/>
        </p:nvCxnSpPr>
        <p:spPr>
          <a:xfrm rot="5400000">
            <a:off x="1981200" y="3200400"/>
            <a:ext cx="1828800" cy="0"/>
          </a:xfrm>
          <a:prstGeom prst="line">
            <a:avLst/>
          </a:prstGeom>
          <a:ln>
            <a:prstDash val="sysDot"/>
          </a:ln>
        </p:spPr>
        <p:style>
          <a:lnRef idx="1">
            <a:schemeClr val="accent1"/>
          </a:lnRef>
          <a:fillRef idx="0">
            <a:schemeClr val="accent1"/>
          </a:fillRef>
          <a:effectRef idx="0">
            <a:schemeClr val="accent1"/>
          </a:effectRef>
          <a:fontRef idx="minor">
            <a:schemeClr val="tx1"/>
          </a:fontRef>
        </p:style>
      </p:cxnSp>
      <p:cxnSp>
        <p:nvCxnSpPr>
          <p:cNvPr id="71" name="Straight Connector 70"/>
          <p:cNvCxnSpPr/>
          <p:nvPr/>
        </p:nvCxnSpPr>
        <p:spPr>
          <a:xfrm rot="5400000">
            <a:off x="2362200" y="3581400"/>
            <a:ext cx="1828800" cy="0"/>
          </a:xfrm>
          <a:prstGeom prst="line">
            <a:avLst/>
          </a:prstGeom>
          <a:ln>
            <a:prstDash val="sysDot"/>
          </a:ln>
        </p:spPr>
        <p:style>
          <a:lnRef idx="1">
            <a:schemeClr val="accent1"/>
          </a:lnRef>
          <a:fillRef idx="0">
            <a:schemeClr val="accent1"/>
          </a:fillRef>
          <a:effectRef idx="0">
            <a:schemeClr val="accent1"/>
          </a:effectRef>
          <a:fontRef idx="minor">
            <a:schemeClr val="tx1"/>
          </a:fontRef>
        </p:style>
      </p:cxnSp>
      <p:cxnSp>
        <p:nvCxnSpPr>
          <p:cNvPr id="80" name="Straight Connector 79"/>
          <p:cNvCxnSpPr/>
          <p:nvPr/>
        </p:nvCxnSpPr>
        <p:spPr>
          <a:xfrm>
            <a:off x="2895600" y="4114800"/>
            <a:ext cx="1828800" cy="0"/>
          </a:xfrm>
          <a:prstGeom prst="line">
            <a:avLst/>
          </a:prstGeom>
          <a:ln>
            <a:prstDash val="sysDot"/>
          </a:ln>
        </p:spPr>
        <p:style>
          <a:lnRef idx="1">
            <a:schemeClr val="accent1"/>
          </a:lnRef>
          <a:fillRef idx="0">
            <a:schemeClr val="accent1"/>
          </a:fillRef>
          <a:effectRef idx="0">
            <a:schemeClr val="accent1"/>
          </a:effectRef>
          <a:fontRef idx="minor">
            <a:schemeClr val="tx1"/>
          </a:fontRef>
        </p:style>
      </p:cxnSp>
      <p:cxnSp>
        <p:nvCxnSpPr>
          <p:cNvPr id="81" name="Straight Connector 80"/>
          <p:cNvCxnSpPr/>
          <p:nvPr/>
        </p:nvCxnSpPr>
        <p:spPr>
          <a:xfrm>
            <a:off x="3276600" y="4495800"/>
            <a:ext cx="1828800" cy="0"/>
          </a:xfrm>
          <a:prstGeom prst="line">
            <a:avLst/>
          </a:prstGeom>
          <a:ln>
            <a:prstDash val="sysDot"/>
          </a:ln>
        </p:spPr>
        <p:style>
          <a:lnRef idx="1">
            <a:schemeClr val="accent1"/>
          </a:lnRef>
          <a:fillRef idx="0">
            <a:schemeClr val="accent1"/>
          </a:fillRef>
          <a:effectRef idx="0">
            <a:schemeClr val="accent1"/>
          </a:effectRef>
          <a:fontRef idx="minor">
            <a:schemeClr val="tx1"/>
          </a:fontRef>
        </p:style>
      </p:cxnSp>
      <p:cxnSp>
        <p:nvCxnSpPr>
          <p:cNvPr id="82" name="Straight Connector 81"/>
          <p:cNvCxnSpPr/>
          <p:nvPr/>
        </p:nvCxnSpPr>
        <p:spPr>
          <a:xfrm rot="5400000">
            <a:off x="3276600" y="4495800"/>
            <a:ext cx="1828800" cy="0"/>
          </a:xfrm>
          <a:prstGeom prst="line">
            <a:avLst/>
          </a:prstGeom>
          <a:ln>
            <a:prstDash val="sysDot"/>
          </a:ln>
        </p:spPr>
        <p:style>
          <a:lnRef idx="1">
            <a:schemeClr val="accent1"/>
          </a:lnRef>
          <a:fillRef idx="0">
            <a:schemeClr val="accent1"/>
          </a:fillRef>
          <a:effectRef idx="0">
            <a:schemeClr val="accent1"/>
          </a:effectRef>
          <a:fontRef idx="minor">
            <a:schemeClr val="tx1"/>
          </a:fontRef>
        </p:style>
      </p:cxnSp>
      <p:cxnSp>
        <p:nvCxnSpPr>
          <p:cNvPr id="83" name="Straight Connector 82"/>
          <p:cNvCxnSpPr/>
          <p:nvPr/>
        </p:nvCxnSpPr>
        <p:spPr>
          <a:xfrm rot="5400000">
            <a:off x="2895600" y="4114800"/>
            <a:ext cx="1828800" cy="0"/>
          </a:xfrm>
          <a:prstGeom prst="line">
            <a:avLst/>
          </a:prstGeom>
          <a:ln>
            <a:prstDash val="sysDot"/>
          </a:ln>
        </p:spPr>
        <p:style>
          <a:lnRef idx="1">
            <a:schemeClr val="accent1"/>
          </a:lnRef>
          <a:fillRef idx="0">
            <a:schemeClr val="accent1"/>
          </a:fillRef>
          <a:effectRef idx="0">
            <a:schemeClr val="accent1"/>
          </a:effectRef>
          <a:fontRef idx="minor">
            <a:schemeClr val="tx1"/>
          </a:fontRef>
        </p:style>
      </p:cxnSp>
      <p:cxnSp>
        <p:nvCxnSpPr>
          <p:cNvPr id="92" name="Straight Connector 91"/>
          <p:cNvCxnSpPr/>
          <p:nvPr/>
        </p:nvCxnSpPr>
        <p:spPr>
          <a:xfrm>
            <a:off x="3810000" y="5029200"/>
            <a:ext cx="1828800" cy="0"/>
          </a:xfrm>
          <a:prstGeom prst="line">
            <a:avLst/>
          </a:prstGeom>
          <a:ln>
            <a:prstDash val="sysDot"/>
          </a:ln>
        </p:spPr>
        <p:style>
          <a:lnRef idx="1">
            <a:schemeClr val="accent1"/>
          </a:lnRef>
          <a:fillRef idx="0">
            <a:schemeClr val="accent1"/>
          </a:fillRef>
          <a:effectRef idx="0">
            <a:schemeClr val="accent1"/>
          </a:effectRef>
          <a:fontRef idx="minor">
            <a:schemeClr val="tx1"/>
          </a:fontRef>
        </p:style>
      </p:cxnSp>
      <p:cxnSp>
        <p:nvCxnSpPr>
          <p:cNvPr id="93" name="Straight Connector 92"/>
          <p:cNvCxnSpPr/>
          <p:nvPr/>
        </p:nvCxnSpPr>
        <p:spPr>
          <a:xfrm rot="5400000">
            <a:off x="3810000" y="5029200"/>
            <a:ext cx="1828800" cy="0"/>
          </a:xfrm>
          <a:prstGeom prst="line">
            <a:avLst/>
          </a:prstGeom>
          <a:ln>
            <a:prstDash val="sysDot"/>
          </a:ln>
        </p:spPr>
        <p:style>
          <a:lnRef idx="1">
            <a:schemeClr val="accent1"/>
          </a:lnRef>
          <a:fillRef idx="0">
            <a:schemeClr val="accent1"/>
          </a:fillRef>
          <a:effectRef idx="0">
            <a:schemeClr val="accent1"/>
          </a:effectRef>
          <a:fontRef idx="minor">
            <a:schemeClr val="tx1"/>
          </a:fontRef>
        </p:style>
      </p:cxnSp>
      <p:cxnSp>
        <p:nvCxnSpPr>
          <p:cNvPr id="95" name="Straight Connector 94"/>
          <p:cNvCxnSpPr/>
          <p:nvPr/>
        </p:nvCxnSpPr>
        <p:spPr>
          <a:xfrm>
            <a:off x="4191000" y="5410200"/>
            <a:ext cx="1676400" cy="0"/>
          </a:xfrm>
          <a:prstGeom prst="line">
            <a:avLst/>
          </a:prstGeom>
          <a:ln>
            <a:prstDash val="sysDot"/>
          </a:ln>
        </p:spPr>
        <p:style>
          <a:lnRef idx="1">
            <a:schemeClr val="accent1"/>
          </a:lnRef>
          <a:fillRef idx="0">
            <a:schemeClr val="accent1"/>
          </a:fillRef>
          <a:effectRef idx="0">
            <a:schemeClr val="accent1"/>
          </a:effectRef>
          <a:fontRef idx="minor">
            <a:schemeClr val="tx1"/>
          </a:fontRef>
        </p:style>
      </p:cxnSp>
      <p:cxnSp>
        <p:nvCxnSpPr>
          <p:cNvPr id="97" name="Straight Connector 96"/>
          <p:cNvCxnSpPr/>
          <p:nvPr/>
        </p:nvCxnSpPr>
        <p:spPr>
          <a:xfrm rot="5400000">
            <a:off x="4267200" y="5334000"/>
            <a:ext cx="1676400" cy="0"/>
          </a:xfrm>
          <a:prstGeom prst="line">
            <a:avLst/>
          </a:prstGeom>
          <a:ln>
            <a:prstDash val="sysDot"/>
          </a:ln>
        </p:spPr>
        <p:style>
          <a:lnRef idx="1">
            <a:schemeClr val="accent1"/>
          </a:lnRef>
          <a:fillRef idx="0">
            <a:schemeClr val="accent1"/>
          </a:fillRef>
          <a:effectRef idx="0">
            <a:schemeClr val="accent1"/>
          </a:effectRef>
          <a:fontRef idx="minor">
            <a:schemeClr val="tx1"/>
          </a:fontRef>
        </p:style>
      </p:cxnSp>
      <p:cxnSp>
        <p:nvCxnSpPr>
          <p:cNvPr id="99" name="Straight Connector 98"/>
          <p:cNvCxnSpPr/>
          <p:nvPr/>
        </p:nvCxnSpPr>
        <p:spPr>
          <a:xfrm>
            <a:off x="5638800" y="5029200"/>
            <a:ext cx="228600"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00" name="Straight Connector 99"/>
          <p:cNvCxnSpPr/>
          <p:nvPr/>
        </p:nvCxnSpPr>
        <p:spPr>
          <a:xfrm>
            <a:off x="4724400" y="6172200"/>
            <a:ext cx="228600"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02" name="Straight Connector 101"/>
          <p:cNvCxnSpPr/>
          <p:nvPr/>
        </p:nvCxnSpPr>
        <p:spPr>
          <a:xfrm rot="5400000">
            <a:off x="5753100" y="5143500"/>
            <a:ext cx="228600"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03" name="Straight Connector 102"/>
          <p:cNvCxnSpPr/>
          <p:nvPr/>
        </p:nvCxnSpPr>
        <p:spPr>
          <a:xfrm rot="5400000">
            <a:off x="4610100" y="6057900"/>
            <a:ext cx="228600"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10" name="Straight Connector 109"/>
          <p:cNvCxnSpPr/>
          <p:nvPr/>
        </p:nvCxnSpPr>
        <p:spPr>
          <a:xfrm>
            <a:off x="1295400" y="2286000"/>
            <a:ext cx="1600200" cy="0"/>
          </a:xfrm>
          <a:prstGeom prst="line">
            <a:avLst/>
          </a:prstGeom>
          <a:ln>
            <a:prstDash val="sysDot"/>
          </a:ln>
        </p:spPr>
        <p:style>
          <a:lnRef idx="1">
            <a:schemeClr val="accent1"/>
          </a:lnRef>
          <a:fillRef idx="0">
            <a:schemeClr val="accent1"/>
          </a:fillRef>
          <a:effectRef idx="0">
            <a:schemeClr val="accent1"/>
          </a:effectRef>
          <a:fontRef idx="minor">
            <a:schemeClr val="tx1"/>
          </a:fontRef>
        </p:style>
      </p:cxnSp>
      <p:cxnSp>
        <p:nvCxnSpPr>
          <p:cNvPr id="112" name="Straight Connector 111"/>
          <p:cNvCxnSpPr/>
          <p:nvPr/>
        </p:nvCxnSpPr>
        <p:spPr>
          <a:xfrm rot="5400000">
            <a:off x="1181100" y="2400300"/>
            <a:ext cx="1600200" cy="0"/>
          </a:xfrm>
          <a:prstGeom prst="line">
            <a:avLst/>
          </a:prstGeom>
          <a:ln>
            <a:prstDash val="sysDot"/>
          </a:ln>
        </p:spPr>
        <p:style>
          <a:lnRef idx="1">
            <a:schemeClr val="accent1"/>
          </a:lnRef>
          <a:fillRef idx="0">
            <a:schemeClr val="accent1"/>
          </a:fillRef>
          <a:effectRef idx="0">
            <a:schemeClr val="accent1"/>
          </a:effectRef>
          <a:fontRef idx="minor">
            <a:schemeClr val="tx1"/>
          </a:fontRef>
        </p:style>
      </p:cxnSp>
      <p:grpSp>
        <p:nvGrpSpPr>
          <p:cNvPr id="2" name="Group 135"/>
          <p:cNvGrpSpPr>
            <a:grpSpLocks/>
          </p:cNvGrpSpPr>
          <p:nvPr/>
        </p:nvGrpSpPr>
        <p:grpSpPr bwMode="auto">
          <a:xfrm>
            <a:off x="2895600" y="2286000"/>
            <a:ext cx="381000" cy="381000"/>
            <a:chOff x="3733800" y="1981200"/>
            <a:chExt cx="381000" cy="381000"/>
          </a:xfrm>
        </p:grpSpPr>
        <p:cxnSp>
          <p:nvCxnSpPr>
            <p:cNvPr id="129" name="Straight Connector 128"/>
            <p:cNvCxnSpPr/>
            <p:nvPr/>
          </p:nvCxnSpPr>
          <p:spPr>
            <a:xfrm>
              <a:off x="3733800" y="1981200"/>
              <a:ext cx="228600"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31" name="Straight Connector 130"/>
            <p:cNvCxnSpPr/>
            <p:nvPr/>
          </p:nvCxnSpPr>
          <p:spPr>
            <a:xfrm rot="5400000" flipH="1" flipV="1">
              <a:off x="4000500" y="2247900"/>
              <a:ext cx="228600" cy="0"/>
            </a:xfrm>
            <a:prstGeom prst="line">
              <a:avLst/>
            </a:prstGeom>
            <a:ln>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133" name="Straight Connector 132"/>
            <p:cNvCxnSpPr/>
            <p:nvPr/>
          </p:nvCxnSpPr>
          <p:spPr>
            <a:xfrm rot="16200000" flipH="1">
              <a:off x="3962400" y="1981200"/>
              <a:ext cx="152400" cy="152400"/>
            </a:xfrm>
            <a:prstGeom prst="line">
              <a:avLst/>
            </a:prstGeom>
            <a:ln>
              <a:prstDash val="dash"/>
            </a:ln>
          </p:spPr>
          <p:style>
            <a:lnRef idx="1">
              <a:schemeClr val="accent1"/>
            </a:lnRef>
            <a:fillRef idx="0">
              <a:schemeClr val="accent1"/>
            </a:fillRef>
            <a:effectRef idx="0">
              <a:schemeClr val="accent1"/>
            </a:effectRef>
            <a:fontRef idx="minor">
              <a:schemeClr val="tx1"/>
            </a:fontRef>
          </p:style>
        </p:cxnSp>
      </p:grpSp>
      <p:grpSp>
        <p:nvGrpSpPr>
          <p:cNvPr id="3" name="Group 140"/>
          <p:cNvGrpSpPr>
            <a:grpSpLocks/>
          </p:cNvGrpSpPr>
          <p:nvPr/>
        </p:nvGrpSpPr>
        <p:grpSpPr bwMode="auto">
          <a:xfrm rot="10800000">
            <a:off x="1981200" y="3200400"/>
            <a:ext cx="381000" cy="381000"/>
            <a:chOff x="3733800" y="1981200"/>
            <a:chExt cx="381000" cy="381000"/>
          </a:xfrm>
        </p:grpSpPr>
        <p:cxnSp>
          <p:nvCxnSpPr>
            <p:cNvPr id="142" name="Straight Connector 141"/>
            <p:cNvCxnSpPr/>
            <p:nvPr/>
          </p:nvCxnSpPr>
          <p:spPr>
            <a:xfrm>
              <a:off x="3740150" y="1981200"/>
              <a:ext cx="228600"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43" name="Straight Connector 142"/>
            <p:cNvCxnSpPr/>
            <p:nvPr/>
          </p:nvCxnSpPr>
          <p:spPr>
            <a:xfrm rot="5400000" flipH="1" flipV="1">
              <a:off x="4006850" y="2247900"/>
              <a:ext cx="228600" cy="0"/>
            </a:xfrm>
            <a:prstGeom prst="line">
              <a:avLst/>
            </a:prstGeom>
            <a:ln>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144" name="Straight Connector 143"/>
            <p:cNvCxnSpPr/>
            <p:nvPr/>
          </p:nvCxnSpPr>
          <p:spPr>
            <a:xfrm rot="16200000" flipH="1">
              <a:off x="3968750" y="1981200"/>
              <a:ext cx="152400" cy="152400"/>
            </a:xfrm>
            <a:prstGeom prst="line">
              <a:avLst/>
            </a:prstGeom>
            <a:ln>
              <a:prstDash val="dash"/>
            </a:ln>
          </p:spPr>
          <p:style>
            <a:lnRef idx="1">
              <a:schemeClr val="accent1"/>
            </a:lnRef>
            <a:fillRef idx="0">
              <a:schemeClr val="accent1"/>
            </a:fillRef>
            <a:effectRef idx="0">
              <a:schemeClr val="accent1"/>
            </a:effectRef>
            <a:fontRef idx="minor">
              <a:schemeClr val="tx1"/>
            </a:fontRef>
          </p:style>
        </p:cxnSp>
      </p:grpSp>
      <p:grpSp>
        <p:nvGrpSpPr>
          <p:cNvPr id="4" name="Group 154"/>
          <p:cNvGrpSpPr>
            <a:grpSpLocks/>
          </p:cNvGrpSpPr>
          <p:nvPr/>
        </p:nvGrpSpPr>
        <p:grpSpPr bwMode="auto">
          <a:xfrm>
            <a:off x="3810000" y="3200400"/>
            <a:ext cx="381000" cy="381000"/>
            <a:chOff x="3733800" y="1981200"/>
            <a:chExt cx="381000" cy="381000"/>
          </a:xfrm>
        </p:grpSpPr>
        <p:cxnSp>
          <p:nvCxnSpPr>
            <p:cNvPr id="156" name="Straight Connector 155"/>
            <p:cNvCxnSpPr/>
            <p:nvPr/>
          </p:nvCxnSpPr>
          <p:spPr>
            <a:xfrm>
              <a:off x="3733800" y="1981200"/>
              <a:ext cx="228600"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57" name="Straight Connector 156"/>
            <p:cNvCxnSpPr/>
            <p:nvPr/>
          </p:nvCxnSpPr>
          <p:spPr>
            <a:xfrm rot="5400000" flipH="1" flipV="1">
              <a:off x="4000500" y="2247900"/>
              <a:ext cx="228600" cy="0"/>
            </a:xfrm>
            <a:prstGeom prst="line">
              <a:avLst/>
            </a:prstGeom>
            <a:ln>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158" name="Straight Connector 157"/>
            <p:cNvCxnSpPr/>
            <p:nvPr/>
          </p:nvCxnSpPr>
          <p:spPr>
            <a:xfrm rot="16200000" flipH="1">
              <a:off x="3962400" y="1981200"/>
              <a:ext cx="152400" cy="152400"/>
            </a:xfrm>
            <a:prstGeom prst="line">
              <a:avLst/>
            </a:prstGeom>
            <a:ln>
              <a:prstDash val="dash"/>
            </a:ln>
          </p:spPr>
          <p:style>
            <a:lnRef idx="1">
              <a:schemeClr val="accent1"/>
            </a:lnRef>
            <a:fillRef idx="0">
              <a:schemeClr val="accent1"/>
            </a:fillRef>
            <a:effectRef idx="0">
              <a:schemeClr val="accent1"/>
            </a:effectRef>
            <a:fontRef idx="minor">
              <a:schemeClr val="tx1"/>
            </a:fontRef>
          </p:style>
        </p:cxnSp>
      </p:grpSp>
      <p:grpSp>
        <p:nvGrpSpPr>
          <p:cNvPr id="6" name="Group 158"/>
          <p:cNvGrpSpPr>
            <a:grpSpLocks/>
          </p:cNvGrpSpPr>
          <p:nvPr/>
        </p:nvGrpSpPr>
        <p:grpSpPr bwMode="auto">
          <a:xfrm rot="10800000">
            <a:off x="2895600" y="4114800"/>
            <a:ext cx="381000" cy="381000"/>
            <a:chOff x="3733800" y="1981200"/>
            <a:chExt cx="381000" cy="381000"/>
          </a:xfrm>
        </p:grpSpPr>
        <p:cxnSp>
          <p:nvCxnSpPr>
            <p:cNvPr id="160" name="Straight Connector 159"/>
            <p:cNvCxnSpPr/>
            <p:nvPr/>
          </p:nvCxnSpPr>
          <p:spPr>
            <a:xfrm>
              <a:off x="3740150" y="1981200"/>
              <a:ext cx="228600"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61" name="Straight Connector 160"/>
            <p:cNvCxnSpPr/>
            <p:nvPr/>
          </p:nvCxnSpPr>
          <p:spPr>
            <a:xfrm rot="5400000" flipH="1" flipV="1">
              <a:off x="4006850" y="2247900"/>
              <a:ext cx="228600" cy="0"/>
            </a:xfrm>
            <a:prstGeom prst="line">
              <a:avLst/>
            </a:prstGeom>
            <a:ln>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162" name="Straight Connector 161"/>
            <p:cNvCxnSpPr/>
            <p:nvPr/>
          </p:nvCxnSpPr>
          <p:spPr>
            <a:xfrm rot="16200000" flipH="1">
              <a:off x="3968750" y="1981200"/>
              <a:ext cx="152400" cy="152400"/>
            </a:xfrm>
            <a:prstGeom prst="line">
              <a:avLst/>
            </a:prstGeom>
            <a:ln>
              <a:prstDash val="dash"/>
            </a:ln>
          </p:spPr>
          <p:style>
            <a:lnRef idx="1">
              <a:schemeClr val="accent1"/>
            </a:lnRef>
            <a:fillRef idx="0">
              <a:schemeClr val="accent1"/>
            </a:fillRef>
            <a:effectRef idx="0">
              <a:schemeClr val="accent1"/>
            </a:effectRef>
            <a:fontRef idx="minor">
              <a:schemeClr val="tx1"/>
            </a:fontRef>
          </p:style>
        </p:cxnSp>
      </p:grpSp>
      <p:grpSp>
        <p:nvGrpSpPr>
          <p:cNvPr id="7" name="Group 162"/>
          <p:cNvGrpSpPr>
            <a:grpSpLocks/>
          </p:cNvGrpSpPr>
          <p:nvPr/>
        </p:nvGrpSpPr>
        <p:grpSpPr bwMode="auto">
          <a:xfrm rot="10800000">
            <a:off x="3810000" y="5029200"/>
            <a:ext cx="381000" cy="381000"/>
            <a:chOff x="3733800" y="1981200"/>
            <a:chExt cx="381000" cy="381000"/>
          </a:xfrm>
        </p:grpSpPr>
        <p:cxnSp>
          <p:nvCxnSpPr>
            <p:cNvPr id="164" name="Straight Connector 163"/>
            <p:cNvCxnSpPr/>
            <p:nvPr/>
          </p:nvCxnSpPr>
          <p:spPr>
            <a:xfrm>
              <a:off x="3740150" y="1981200"/>
              <a:ext cx="228600"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65" name="Straight Connector 164"/>
            <p:cNvCxnSpPr/>
            <p:nvPr/>
          </p:nvCxnSpPr>
          <p:spPr>
            <a:xfrm rot="5400000" flipH="1" flipV="1">
              <a:off x="4006850" y="2247900"/>
              <a:ext cx="228600" cy="0"/>
            </a:xfrm>
            <a:prstGeom prst="line">
              <a:avLst/>
            </a:prstGeom>
            <a:ln>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166" name="Straight Connector 165"/>
            <p:cNvCxnSpPr/>
            <p:nvPr/>
          </p:nvCxnSpPr>
          <p:spPr>
            <a:xfrm rot="16200000" flipH="1">
              <a:off x="3968750" y="1981200"/>
              <a:ext cx="152400" cy="152400"/>
            </a:xfrm>
            <a:prstGeom prst="line">
              <a:avLst/>
            </a:prstGeom>
            <a:ln>
              <a:prstDash val="dash"/>
            </a:ln>
          </p:spPr>
          <p:style>
            <a:lnRef idx="1">
              <a:schemeClr val="accent1"/>
            </a:lnRef>
            <a:fillRef idx="0">
              <a:schemeClr val="accent1"/>
            </a:fillRef>
            <a:effectRef idx="0">
              <a:schemeClr val="accent1"/>
            </a:effectRef>
            <a:fontRef idx="minor">
              <a:schemeClr val="tx1"/>
            </a:fontRef>
          </p:style>
        </p:cxnSp>
      </p:grpSp>
      <p:grpSp>
        <p:nvGrpSpPr>
          <p:cNvPr id="8" name="Group 166"/>
          <p:cNvGrpSpPr>
            <a:grpSpLocks/>
          </p:cNvGrpSpPr>
          <p:nvPr/>
        </p:nvGrpSpPr>
        <p:grpSpPr bwMode="auto">
          <a:xfrm>
            <a:off x="4724400" y="4114800"/>
            <a:ext cx="381000" cy="381000"/>
            <a:chOff x="3733800" y="1981200"/>
            <a:chExt cx="381000" cy="381000"/>
          </a:xfrm>
        </p:grpSpPr>
        <p:cxnSp>
          <p:nvCxnSpPr>
            <p:cNvPr id="168" name="Straight Connector 167"/>
            <p:cNvCxnSpPr/>
            <p:nvPr/>
          </p:nvCxnSpPr>
          <p:spPr>
            <a:xfrm>
              <a:off x="3733800" y="1981200"/>
              <a:ext cx="228600"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69" name="Straight Connector 168"/>
            <p:cNvCxnSpPr/>
            <p:nvPr/>
          </p:nvCxnSpPr>
          <p:spPr>
            <a:xfrm rot="5400000" flipH="1" flipV="1">
              <a:off x="4000500" y="2247900"/>
              <a:ext cx="228600" cy="0"/>
            </a:xfrm>
            <a:prstGeom prst="line">
              <a:avLst/>
            </a:prstGeom>
            <a:ln>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170" name="Straight Connector 169"/>
            <p:cNvCxnSpPr/>
            <p:nvPr/>
          </p:nvCxnSpPr>
          <p:spPr>
            <a:xfrm rot="16200000" flipH="1">
              <a:off x="3962400" y="1981200"/>
              <a:ext cx="152400" cy="152400"/>
            </a:xfrm>
            <a:prstGeom prst="line">
              <a:avLst/>
            </a:prstGeom>
            <a:ln>
              <a:prstDash val="dash"/>
            </a:ln>
          </p:spPr>
          <p:style>
            <a:lnRef idx="1">
              <a:schemeClr val="accent1"/>
            </a:lnRef>
            <a:fillRef idx="0">
              <a:schemeClr val="accent1"/>
            </a:fillRef>
            <a:effectRef idx="0">
              <a:schemeClr val="accent1"/>
            </a:effectRef>
            <a:fontRef idx="minor">
              <a:schemeClr val="tx1"/>
            </a:fontRef>
          </p:style>
        </p:cxnSp>
      </p:grpSp>
      <p:sp>
        <p:nvSpPr>
          <p:cNvPr id="59432" name="TextBox 181"/>
          <p:cNvSpPr txBox="1">
            <a:spLocks noChangeArrowheads="1"/>
          </p:cNvSpPr>
          <p:nvPr/>
        </p:nvSpPr>
        <p:spPr bwMode="auto">
          <a:xfrm>
            <a:off x="2133600" y="1536700"/>
            <a:ext cx="76200" cy="231775"/>
          </a:xfrm>
          <a:prstGeom prst="rect">
            <a:avLst/>
          </a:prstGeom>
          <a:noFill/>
          <a:ln w="9525">
            <a:noFill/>
            <a:miter lim="800000"/>
            <a:headEnd/>
            <a:tailEnd/>
          </a:ln>
        </p:spPr>
        <p:txBody>
          <a:bodyPr>
            <a:spAutoFit/>
          </a:bodyPr>
          <a:lstStyle/>
          <a:p>
            <a:r>
              <a:rPr lang="en-US" sz="900">
                <a:latin typeface="Calibri" pitchFamily="34" charset="0"/>
              </a:rPr>
              <a:t>1</a:t>
            </a:r>
          </a:p>
        </p:txBody>
      </p:sp>
      <p:sp>
        <p:nvSpPr>
          <p:cNvPr id="59433" name="TextBox 183"/>
          <p:cNvSpPr txBox="1">
            <a:spLocks noChangeArrowheads="1"/>
          </p:cNvSpPr>
          <p:nvPr/>
        </p:nvSpPr>
        <p:spPr bwMode="auto">
          <a:xfrm>
            <a:off x="1295400" y="2362200"/>
            <a:ext cx="76200" cy="230188"/>
          </a:xfrm>
          <a:prstGeom prst="rect">
            <a:avLst/>
          </a:prstGeom>
          <a:noFill/>
          <a:ln w="9525">
            <a:noFill/>
            <a:miter lim="800000"/>
            <a:headEnd/>
            <a:tailEnd/>
          </a:ln>
        </p:spPr>
        <p:txBody>
          <a:bodyPr>
            <a:spAutoFit/>
          </a:bodyPr>
          <a:lstStyle/>
          <a:p>
            <a:r>
              <a:rPr lang="en-US" sz="900">
                <a:latin typeface="Calibri" pitchFamily="34" charset="0"/>
              </a:rPr>
              <a:t>1</a:t>
            </a:r>
          </a:p>
        </p:txBody>
      </p:sp>
      <p:sp>
        <p:nvSpPr>
          <p:cNvPr id="59434" name="TextBox 184"/>
          <p:cNvSpPr txBox="1">
            <a:spLocks noChangeArrowheads="1"/>
          </p:cNvSpPr>
          <p:nvPr/>
        </p:nvSpPr>
        <p:spPr bwMode="auto">
          <a:xfrm rot="10800000" flipV="1">
            <a:off x="1981200" y="3268663"/>
            <a:ext cx="152400" cy="231775"/>
          </a:xfrm>
          <a:prstGeom prst="rect">
            <a:avLst/>
          </a:prstGeom>
          <a:noFill/>
          <a:ln w="9525">
            <a:noFill/>
            <a:miter lim="800000"/>
            <a:headEnd/>
            <a:tailEnd/>
          </a:ln>
        </p:spPr>
        <p:txBody>
          <a:bodyPr>
            <a:spAutoFit/>
          </a:bodyPr>
          <a:lstStyle/>
          <a:p>
            <a:r>
              <a:rPr lang="en-US" sz="900">
                <a:latin typeface="Calibri" pitchFamily="34" charset="0"/>
              </a:rPr>
              <a:t>2</a:t>
            </a:r>
          </a:p>
        </p:txBody>
      </p:sp>
      <p:sp>
        <p:nvSpPr>
          <p:cNvPr id="59435" name="TextBox 185"/>
          <p:cNvSpPr txBox="1">
            <a:spLocks noChangeArrowheads="1"/>
          </p:cNvSpPr>
          <p:nvPr/>
        </p:nvSpPr>
        <p:spPr bwMode="auto">
          <a:xfrm rot="10800000" flipV="1">
            <a:off x="3048000" y="2278063"/>
            <a:ext cx="152400" cy="231775"/>
          </a:xfrm>
          <a:prstGeom prst="rect">
            <a:avLst/>
          </a:prstGeom>
          <a:noFill/>
          <a:ln w="9525">
            <a:noFill/>
            <a:miter lim="800000"/>
            <a:headEnd/>
            <a:tailEnd/>
          </a:ln>
        </p:spPr>
        <p:txBody>
          <a:bodyPr>
            <a:spAutoFit/>
          </a:bodyPr>
          <a:lstStyle/>
          <a:p>
            <a:r>
              <a:rPr lang="en-US" sz="900">
                <a:latin typeface="Calibri" pitchFamily="34" charset="0"/>
              </a:rPr>
              <a:t>2</a:t>
            </a:r>
          </a:p>
        </p:txBody>
      </p:sp>
      <p:sp>
        <p:nvSpPr>
          <p:cNvPr id="59436" name="TextBox 186"/>
          <p:cNvSpPr txBox="1">
            <a:spLocks noChangeArrowheads="1"/>
          </p:cNvSpPr>
          <p:nvPr/>
        </p:nvSpPr>
        <p:spPr bwMode="auto">
          <a:xfrm rot="10800000" flipV="1">
            <a:off x="3962400" y="3192463"/>
            <a:ext cx="152400" cy="231775"/>
          </a:xfrm>
          <a:prstGeom prst="rect">
            <a:avLst/>
          </a:prstGeom>
          <a:noFill/>
          <a:ln w="9525">
            <a:noFill/>
            <a:miter lim="800000"/>
            <a:headEnd/>
            <a:tailEnd/>
          </a:ln>
        </p:spPr>
        <p:txBody>
          <a:bodyPr>
            <a:spAutoFit/>
          </a:bodyPr>
          <a:lstStyle/>
          <a:p>
            <a:r>
              <a:rPr lang="en-US" sz="900">
                <a:latin typeface="Calibri" pitchFamily="34" charset="0"/>
              </a:rPr>
              <a:t>3</a:t>
            </a:r>
          </a:p>
        </p:txBody>
      </p:sp>
      <p:sp>
        <p:nvSpPr>
          <p:cNvPr id="59437" name="TextBox 188"/>
          <p:cNvSpPr txBox="1">
            <a:spLocks noChangeArrowheads="1"/>
          </p:cNvSpPr>
          <p:nvPr/>
        </p:nvSpPr>
        <p:spPr bwMode="auto">
          <a:xfrm rot="10800000" flipV="1">
            <a:off x="2971800" y="4259263"/>
            <a:ext cx="152400" cy="231775"/>
          </a:xfrm>
          <a:prstGeom prst="rect">
            <a:avLst/>
          </a:prstGeom>
          <a:noFill/>
          <a:ln w="9525">
            <a:noFill/>
            <a:miter lim="800000"/>
            <a:headEnd/>
            <a:tailEnd/>
          </a:ln>
        </p:spPr>
        <p:txBody>
          <a:bodyPr>
            <a:spAutoFit/>
          </a:bodyPr>
          <a:lstStyle/>
          <a:p>
            <a:r>
              <a:rPr lang="en-US" sz="900">
                <a:latin typeface="Calibri" pitchFamily="34" charset="0"/>
              </a:rPr>
              <a:t>3</a:t>
            </a:r>
          </a:p>
        </p:txBody>
      </p:sp>
      <p:sp>
        <p:nvSpPr>
          <p:cNvPr id="59438" name="TextBox 189"/>
          <p:cNvSpPr txBox="1">
            <a:spLocks noChangeArrowheads="1"/>
          </p:cNvSpPr>
          <p:nvPr/>
        </p:nvSpPr>
        <p:spPr bwMode="auto">
          <a:xfrm rot="10800000" flipV="1">
            <a:off x="3810000" y="5097463"/>
            <a:ext cx="152400" cy="231775"/>
          </a:xfrm>
          <a:prstGeom prst="rect">
            <a:avLst/>
          </a:prstGeom>
          <a:noFill/>
          <a:ln w="9525">
            <a:noFill/>
            <a:miter lim="800000"/>
            <a:headEnd/>
            <a:tailEnd/>
          </a:ln>
        </p:spPr>
        <p:txBody>
          <a:bodyPr>
            <a:spAutoFit/>
          </a:bodyPr>
          <a:lstStyle/>
          <a:p>
            <a:r>
              <a:rPr lang="en-US" sz="900">
                <a:latin typeface="Calibri" pitchFamily="34" charset="0"/>
              </a:rPr>
              <a:t>4</a:t>
            </a:r>
          </a:p>
        </p:txBody>
      </p:sp>
      <p:sp>
        <p:nvSpPr>
          <p:cNvPr id="59439" name="TextBox 190"/>
          <p:cNvSpPr txBox="1">
            <a:spLocks noChangeArrowheads="1"/>
          </p:cNvSpPr>
          <p:nvPr/>
        </p:nvSpPr>
        <p:spPr bwMode="auto">
          <a:xfrm rot="10800000" flipV="1">
            <a:off x="4876800" y="4106863"/>
            <a:ext cx="152400" cy="231775"/>
          </a:xfrm>
          <a:prstGeom prst="rect">
            <a:avLst/>
          </a:prstGeom>
          <a:noFill/>
          <a:ln w="9525">
            <a:noFill/>
            <a:miter lim="800000"/>
            <a:headEnd/>
            <a:tailEnd/>
          </a:ln>
        </p:spPr>
        <p:txBody>
          <a:bodyPr>
            <a:spAutoFit/>
          </a:bodyPr>
          <a:lstStyle/>
          <a:p>
            <a:r>
              <a:rPr lang="en-US" sz="900">
                <a:latin typeface="Calibri" pitchFamily="34" charset="0"/>
              </a:rPr>
              <a:t>4</a:t>
            </a:r>
          </a:p>
        </p:txBody>
      </p:sp>
      <p:sp>
        <p:nvSpPr>
          <p:cNvPr id="59440" name="TextBox 191"/>
          <p:cNvSpPr txBox="1">
            <a:spLocks noChangeArrowheads="1"/>
          </p:cNvSpPr>
          <p:nvPr/>
        </p:nvSpPr>
        <p:spPr bwMode="auto">
          <a:xfrm rot="10800000" flipV="1">
            <a:off x="4648200" y="6024563"/>
            <a:ext cx="152400" cy="231775"/>
          </a:xfrm>
          <a:prstGeom prst="rect">
            <a:avLst/>
          </a:prstGeom>
          <a:noFill/>
          <a:ln w="9525">
            <a:noFill/>
            <a:miter lim="800000"/>
            <a:headEnd/>
            <a:tailEnd/>
          </a:ln>
        </p:spPr>
        <p:txBody>
          <a:bodyPr>
            <a:spAutoFit/>
          </a:bodyPr>
          <a:lstStyle/>
          <a:p>
            <a:r>
              <a:rPr lang="en-US" sz="900">
                <a:latin typeface="Calibri" pitchFamily="34" charset="0"/>
              </a:rPr>
              <a:t>5</a:t>
            </a:r>
          </a:p>
        </p:txBody>
      </p:sp>
      <p:sp>
        <p:nvSpPr>
          <p:cNvPr id="59441" name="TextBox 192"/>
          <p:cNvSpPr txBox="1">
            <a:spLocks noChangeArrowheads="1"/>
          </p:cNvSpPr>
          <p:nvPr/>
        </p:nvSpPr>
        <p:spPr bwMode="auto">
          <a:xfrm rot="10800000" flipV="1">
            <a:off x="5715000" y="4945063"/>
            <a:ext cx="152400" cy="231775"/>
          </a:xfrm>
          <a:prstGeom prst="rect">
            <a:avLst/>
          </a:prstGeom>
          <a:noFill/>
          <a:ln w="9525">
            <a:noFill/>
            <a:miter lim="800000"/>
            <a:headEnd/>
            <a:tailEnd/>
          </a:ln>
        </p:spPr>
        <p:txBody>
          <a:bodyPr>
            <a:spAutoFit/>
          </a:bodyPr>
          <a:lstStyle/>
          <a:p>
            <a:r>
              <a:rPr lang="en-US" sz="900">
                <a:latin typeface="Calibri" pitchFamily="34" charset="0"/>
              </a:rPr>
              <a:t>5</a:t>
            </a:r>
          </a:p>
        </p:txBody>
      </p:sp>
      <p:sp>
        <p:nvSpPr>
          <p:cNvPr id="59442" name="TextBox 197"/>
          <p:cNvSpPr txBox="1">
            <a:spLocks noChangeArrowheads="1"/>
          </p:cNvSpPr>
          <p:nvPr/>
        </p:nvSpPr>
        <p:spPr bwMode="auto">
          <a:xfrm>
            <a:off x="1031875" y="2362200"/>
            <a:ext cx="361950" cy="276225"/>
          </a:xfrm>
          <a:prstGeom prst="rect">
            <a:avLst/>
          </a:prstGeom>
          <a:noFill/>
          <a:ln w="9525">
            <a:noFill/>
            <a:miter lim="800000"/>
            <a:headEnd/>
            <a:tailEnd/>
          </a:ln>
        </p:spPr>
        <p:txBody>
          <a:bodyPr wrap="none">
            <a:spAutoFit/>
          </a:bodyPr>
          <a:lstStyle/>
          <a:p>
            <a:r>
              <a:rPr lang="en-US" sz="1200">
                <a:latin typeface="Calibri" pitchFamily="34" charset="0"/>
              </a:rPr>
              <a:t>Q</a:t>
            </a:r>
            <a:r>
              <a:rPr lang="en-US" sz="1200" baseline="-25000">
                <a:latin typeface="Calibri" pitchFamily="34" charset="0"/>
              </a:rPr>
              <a:t>1</a:t>
            </a:r>
          </a:p>
        </p:txBody>
      </p:sp>
      <p:sp>
        <p:nvSpPr>
          <p:cNvPr id="59443" name="TextBox 198"/>
          <p:cNvSpPr txBox="1">
            <a:spLocks noChangeArrowheads="1"/>
          </p:cNvSpPr>
          <p:nvPr/>
        </p:nvSpPr>
        <p:spPr bwMode="auto">
          <a:xfrm>
            <a:off x="2057400" y="1371600"/>
            <a:ext cx="425450" cy="276225"/>
          </a:xfrm>
          <a:prstGeom prst="rect">
            <a:avLst/>
          </a:prstGeom>
          <a:noFill/>
          <a:ln w="9525">
            <a:noFill/>
            <a:miter lim="800000"/>
            <a:headEnd/>
            <a:tailEnd/>
          </a:ln>
        </p:spPr>
        <p:txBody>
          <a:bodyPr wrap="none">
            <a:spAutoFit/>
          </a:bodyPr>
          <a:lstStyle/>
          <a:p>
            <a:r>
              <a:rPr lang="en-US" sz="1200">
                <a:latin typeface="Calibri" pitchFamily="34" charset="0"/>
              </a:rPr>
              <a:t>Q</a:t>
            </a:r>
            <a:r>
              <a:rPr lang="en-US" sz="1200" baseline="-25000">
                <a:latin typeface="Calibri" pitchFamily="34" charset="0"/>
              </a:rPr>
              <a:t>1</a:t>
            </a:r>
            <a:r>
              <a:rPr lang="en-US" sz="1200" baseline="30000">
                <a:latin typeface="Calibri" pitchFamily="34" charset="0"/>
              </a:rPr>
              <a:t>T</a:t>
            </a:r>
          </a:p>
        </p:txBody>
      </p:sp>
      <p:sp>
        <p:nvSpPr>
          <p:cNvPr id="59444" name="TextBox 199"/>
          <p:cNvSpPr txBox="1">
            <a:spLocks noChangeArrowheads="1"/>
          </p:cNvSpPr>
          <p:nvPr/>
        </p:nvSpPr>
        <p:spPr bwMode="auto">
          <a:xfrm>
            <a:off x="1654175" y="3276600"/>
            <a:ext cx="403225" cy="276225"/>
          </a:xfrm>
          <a:prstGeom prst="rect">
            <a:avLst/>
          </a:prstGeom>
          <a:noFill/>
          <a:ln w="9525">
            <a:noFill/>
            <a:miter lim="800000"/>
            <a:headEnd/>
            <a:tailEnd/>
          </a:ln>
        </p:spPr>
        <p:txBody>
          <a:bodyPr>
            <a:spAutoFit/>
          </a:bodyPr>
          <a:lstStyle/>
          <a:p>
            <a:r>
              <a:rPr lang="en-US" sz="1200">
                <a:latin typeface="Calibri" pitchFamily="34" charset="0"/>
              </a:rPr>
              <a:t>Q</a:t>
            </a:r>
            <a:r>
              <a:rPr lang="en-US" sz="1200" baseline="-25000">
                <a:latin typeface="Calibri" pitchFamily="34" charset="0"/>
              </a:rPr>
              <a:t>2</a:t>
            </a:r>
          </a:p>
        </p:txBody>
      </p:sp>
      <p:sp>
        <p:nvSpPr>
          <p:cNvPr id="59445" name="TextBox 200"/>
          <p:cNvSpPr txBox="1">
            <a:spLocks noChangeArrowheads="1"/>
          </p:cNvSpPr>
          <p:nvPr/>
        </p:nvSpPr>
        <p:spPr bwMode="auto">
          <a:xfrm>
            <a:off x="2971800" y="2009775"/>
            <a:ext cx="425450" cy="276225"/>
          </a:xfrm>
          <a:prstGeom prst="rect">
            <a:avLst/>
          </a:prstGeom>
          <a:noFill/>
          <a:ln w="9525">
            <a:noFill/>
            <a:miter lim="800000"/>
            <a:headEnd/>
            <a:tailEnd/>
          </a:ln>
        </p:spPr>
        <p:txBody>
          <a:bodyPr wrap="none">
            <a:spAutoFit/>
          </a:bodyPr>
          <a:lstStyle/>
          <a:p>
            <a:r>
              <a:rPr lang="en-US" sz="1200">
                <a:latin typeface="Calibri" pitchFamily="34" charset="0"/>
              </a:rPr>
              <a:t>Q</a:t>
            </a:r>
            <a:r>
              <a:rPr lang="en-US" sz="1200" baseline="-25000">
                <a:latin typeface="Calibri" pitchFamily="34" charset="0"/>
              </a:rPr>
              <a:t>2</a:t>
            </a:r>
            <a:r>
              <a:rPr lang="en-US" sz="1200" baseline="30000">
                <a:latin typeface="Calibri" pitchFamily="34" charset="0"/>
              </a:rPr>
              <a:t>T</a:t>
            </a:r>
          </a:p>
        </p:txBody>
      </p:sp>
      <p:sp>
        <p:nvSpPr>
          <p:cNvPr id="59446" name="TextBox 201"/>
          <p:cNvSpPr txBox="1">
            <a:spLocks noChangeArrowheads="1"/>
          </p:cNvSpPr>
          <p:nvPr/>
        </p:nvSpPr>
        <p:spPr bwMode="auto">
          <a:xfrm>
            <a:off x="2416175" y="4191000"/>
            <a:ext cx="361950" cy="276225"/>
          </a:xfrm>
          <a:prstGeom prst="rect">
            <a:avLst/>
          </a:prstGeom>
          <a:noFill/>
          <a:ln w="9525">
            <a:noFill/>
            <a:miter lim="800000"/>
            <a:headEnd/>
            <a:tailEnd/>
          </a:ln>
        </p:spPr>
        <p:txBody>
          <a:bodyPr wrap="none">
            <a:spAutoFit/>
          </a:bodyPr>
          <a:lstStyle/>
          <a:p>
            <a:r>
              <a:rPr lang="en-US" sz="1200">
                <a:latin typeface="Calibri" pitchFamily="34" charset="0"/>
              </a:rPr>
              <a:t>Q</a:t>
            </a:r>
            <a:r>
              <a:rPr lang="en-US" sz="1200" baseline="-25000">
                <a:latin typeface="Calibri" pitchFamily="34" charset="0"/>
              </a:rPr>
              <a:t>3</a:t>
            </a:r>
          </a:p>
        </p:txBody>
      </p:sp>
      <p:sp>
        <p:nvSpPr>
          <p:cNvPr id="59447" name="TextBox 202"/>
          <p:cNvSpPr txBox="1">
            <a:spLocks noChangeArrowheads="1"/>
          </p:cNvSpPr>
          <p:nvPr/>
        </p:nvSpPr>
        <p:spPr bwMode="auto">
          <a:xfrm>
            <a:off x="3886200" y="2819400"/>
            <a:ext cx="425450" cy="276225"/>
          </a:xfrm>
          <a:prstGeom prst="rect">
            <a:avLst/>
          </a:prstGeom>
          <a:noFill/>
          <a:ln w="9525">
            <a:noFill/>
            <a:miter lim="800000"/>
            <a:headEnd/>
            <a:tailEnd/>
          </a:ln>
        </p:spPr>
        <p:txBody>
          <a:bodyPr wrap="none">
            <a:spAutoFit/>
          </a:bodyPr>
          <a:lstStyle/>
          <a:p>
            <a:r>
              <a:rPr lang="en-US" sz="1200">
                <a:latin typeface="Calibri" pitchFamily="34" charset="0"/>
              </a:rPr>
              <a:t>Q</a:t>
            </a:r>
            <a:r>
              <a:rPr lang="en-US" sz="1200" baseline="-25000">
                <a:latin typeface="Calibri" pitchFamily="34" charset="0"/>
              </a:rPr>
              <a:t>3</a:t>
            </a:r>
            <a:r>
              <a:rPr lang="en-US" sz="1200" baseline="30000">
                <a:latin typeface="Calibri" pitchFamily="34" charset="0"/>
              </a:rPr>
              <a:t>T</a:t>
            </a:r>
          </a:p>
        </p:txBody>
      </p:sp>
      <p:sp>
        <p:nvSpPr>
          <p:cNvPr id="59448" name="TextBox 204"/>
          <p:cNvSpPr txBox="1">
            <a:spLocks noChangeArrowheads="1"/>
          </p:cNvSpPr>
          <p:nvPr/>
        </p:nvSpPr>
        <p:spPr bwMode="auto">
          <a:xfrm>
            <a:off x="3352800" y="5105400"/>
            <a:ext cx="361950" cy="276225"/>
          </a:xfrm>
          <a:prstGeom prst="rect">
            <a:avLst/>
          </a:prstGeom>
          <a:noFill/>
          <a:ln w="9525">
            <a:noFill/>
            <a:miter lim="800000"/>
            <a:headEnd/>
            <a:tailEnd/>
          </a:ln>
        </p:spPr>
        <p:txBody>
          <a:bodyPr wrap="none">
            <a:spAutoFit/>
          </a:bodyPr>
          <a:lstStyle/>
          <a:p>
            <a:r>
              <a:rPr lang="en-US" sz="1200">
                <a:latin typeface="Calibri" pitchFamily="34" charset="0"/>
              </a:rPr>
              <a:t>Q</a:t>
            </a:r>
            <a:r>
              <a:rPr lang="en-US" sz="1200" baseline="-25000">
                <a:latin typeface="Calibri" pitchFamily="34" charset="0"/>
              </a:rPr>
              <a:t>4</a:t>
            </a:r>
            <a:endParaRPr lang="en-US" sz="1100" baseline="-25000">
              <a:latin typeface="Calibri" pitchFamily="34" charset="0"/>
            </a:endParaRPr>
          </a:p>
        </p:txBody>
      </p:sp>
      <p:sp>
        <p:nvSpPr>
          <p:cNvPr id="59449" name="TextBox 205"/>
          <p:cNvSpPr txBox="1">
            <a:spLocks noChangeArrowheads="1"/>
          </p:cNvSpPr>
          <p:nvPr/>
        </p:nvSpPr>
        <p:spPr bwMode="auto">
          <a:xfrm>
            <a:off x="4800600" y="3733800"/>
            <a:ext cx="425450" cy="276225"/>
          </a:xfrm>
          <a:prstGeom prst="rect">
            <a:avLst/>
          </a:prstGeom>
          <a:noFill/>
          <a:ln w="9525">
            <a:noFill/>
            <a:miter lim="800000"/>
            <a:headEnd/>
            <a:tailEnd/>
          </a:ln>
        </p:spPr>
        <p:txBody>
          <a:bodyPr wrap="none">
            <a:spAutoFit/>
          </a:bodyPr>
          <a:lstStyle/>
          <a:p>
            <a:r>
              <a:rPr lang="en-US" sz="1200">
                <a:latin typeface="Calibri" pitchFamily="34" charset="0"/>
              </a:rPr>
              <a:t>Q</a:t>
            </a:r>
            <a:r>
              <a:rPr lang="en-US" sz="1200" baseline="-25000">
                <a:latin typeface="Calibri" pitchFamily="34" charset="0"/>
              </a:rPr>
              <a:t>4</a:t>
            </a:r>
            <a:r>
              <a:rPr lang="en-US" sz="1200" baseline="30000">
                <a:latin typeface="Calibri" pitchFamily="34" charset="0"/>
              </a:rPr>
              <a:t>T</a:t>
            </a:r>
          </a:p>
        </p:txBody>
      </p:sp>
      <p:cxnSp>
        <p:nvCxnSpPr>
          <p:cNvPr id="208" name="Straight Connector 207"/>
          <p:cNvCxnSpPr/>
          <p:nvPr/>
        </p:nvCxnSpPr>
        <p:spPr>
          <a:xfrm>
            <a:off x="4724400" y="5943600"/>
            <a:ext cx="1143000" cy="0"/>
          </a:xfrm>
          <a:prstGeom prst="line">
            <a:avLst/>
          </a:prstGeom>
          <a:ln>
            <a:prstDash val="sysDot"/>
          </a:ln>
        </p:spPr>
        <p:style>
          <a:lnRef idx="1">
            <a:schemeClr val="accent1"/>
          </a:lnRef>
          <a:fillRef idx="0">
            <a:schemeClr val="accent1"/>
          </a:fillRef>
          <a:effectRef idx="0">
            <a:schemeClr val="accent1"/>
          </a:effectRef>
          <a:fontRef idx="minor">
            <a:schemeClr val="tx1"/>
          </a:fontRef>
        </p:style>
      </p:cxnSp>
      <p:cxnSp>
        <p:nvCxnSpPr>
          <p:cNvPr id="210" name="Straight Connector 209"/>
          <p:cNvCxnSpPr/>
          <p:nvPr/>
        </p:nvCxnSpPr>
        <p:spPr>
          <a:xfrm rot="5400000">
            <a:off x="5067300" y="5600700"/>
            <a:ext cx="1143000" cy="0"/>
          </a:xfrm>
          <a:prstGeom prst="line">
            <a:avLst/>
          </a:prstGeom>
          <a:ln>
            <a:prstDash val="sysDot"/>
          </a:ln>
        </p:spPr>
        <p:style>
          <a:lnRef idx="1">
            <a:schemeClr val="accent1"/>
          </a:lnRef>
          <a:fillRef idx="0">
            <a:schemeClr val="accent1"/>
          </a:fillRef>
          <a:effectRef idx="0">
            <a:schemeClr val="accent1"/>
          </a:effectRef>
          <a:fontRef idx="minor">
            <a:schemeClr val="tx1"/>
          </a:fontRef>
        </p:style>
      </p:cxnSp>
      <p:cxnSp>
        <p:nvCxnSpPr>
          <p:cNvPr id="212" name="Straight Arrow Connector 211"/>
          <p:cNvCxnSpPr/>
          <p:nvPr/>
        </p:nvCxnSpPr>
        <p:spPr>
          <a:xfrm>
            <a:off x="1295400" y="1143000"/>
            <a:ext cx="914400" cy="1588"/>
          </a:xfrm>
          <a:prstGeom prst="straightConnector1">
            <a:avLst/>
          </a:prstGeom>
          <a:ln>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9453" name="TextBox 212"/>
          <p:cNvSpPr txBox="1">
            <a:spLocks noChangeArrowheads="1"/>
          </p:cNvSpPr>
          <p:nvPr/>
        </p:nvSpPr>
        <p:spPr bwMode="auto">
          <a:xfrm>
            <a:off x="1524000" y="914400"/>
            <a:ext cx="454025" cy="276225"/>
          </a:xfrm>
          <a:prstGeom prst="rect">
            <a:avLst/>
          </a:prstGeom>
          <a:noFill/>
          <a:ln w="9525">
            <a:noFill/>
            <a:miter lim="800000"/>
            <a:headEnd/>
            <a:tailEnd/>
          </a:ln>
        </p:spPr>
        <p:txBody>
          <a:bodyPr wrap="none">
            <a:spAutoFit/>
          </a:bodyPr>
          <a:lstStyle/>
          <a:p>
            <a:r>
              <a:rPr lang="en-US" sz="1200">
                <a:latin typeface="Calibri" pitchFamily="34" charset="0"/>
              </a:rPr>
              <a:t>b+1</a:t>
            </a:r>
          </a:p>
        </p:txBody>
      </p:sp>
      <p:cxnSp>
        <p:nvCxnSpPr>
          <p:cNvPr id="215" name="Straight Arrow Connector 214"/>
          <p:cNvCxnSpPr/>
          <p:nvPr/>
        </p:nvCxnSpPr>
        <p:spPr>
          <a:xfrm rot="5400000">
            <a:off x="229394" y="2056606"/>
            <a:ext cx="914400" cy="1588"/>
          </a:xfrm>
          <a:prstGeom prst="straightConnector1">
            <a:avLst/>
          </a:prstGeom>
          <a:ln>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9455" name="TextBox 215"/>
          <p:cNvSpPr txBox="1">
            <a:spLocks noChangeArrowheads="1"/>
          </p:cNvSpPr>
          <p:nvPr/>
        </p:nvSpPr>
        <p:spPr bwMode="auto">
          <a:xfrm rot="-5400000">
            <a:off x="368300" y="1905000"/>
            <a:ext cx="454025" cy="276225"/>
          </a:xfrm>
          <a:prstGeom prst="rect">
            <a:avLst/>
          </a:prstGeom>
          <a:noFill/>
          <a:ln w="9525">
            <a:noFill/>
            <a:miter lim="800000"/>
            <a:headEnd/>
            <a:tailEnd/>
          </a:ln>
        </p:spPr>
        <p:txBody>
          <a:bodyPr wrap="none">
            <a:spAutoFit/>
          </a:bodyPr>
          <a:lstStyle/>
          <a:p>
            <a:r>
              <a:rPr lang="en-US" sz="1200">
                <a:latin typeface="Calibri" pitchFamily="34" charset="0"/>
              </a:rPr>
              <a:t>b+1</a:t>
            </a:r>
          </a:p>
        </p:txBody>
      </p:sp>
      <p:cxnSp>
        <p:nvCxnSpPr>
          <p:cNvPr id="218" name="Straight Arrow Connector 217"/>
          <p:cNvCxnSpPr/>
          <p:nvPr/>
        </p:nvCxnSpPr>
        <p:spPr>
          <a:xfrm>
            <a:off x="1981200" y="1371600"/>
            <a:ext cx="228600" cy="1588"/>
          </a:xfrm>
          <a:prstGeom prst="straightConnector1">
            <a:avLst/>
          </a:prstGeom>
          <a:ln>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9457" name="TextBox 223"/>
          <p:cNvSpPr txBox="1">
            <a:spLocks noChangeArrowheads="1"/>
          </p:cNvSpPr>
          <p:nvPr/>
        </p:nvSpPr>
        <p:spPr bwMode="auto">
          <a:xfrm>
            <a:off x="1873250" y="1143000"/>
            <a:ext cx="454025" cy="276225"/>
          </a:xfrm>
          <a:prstGeom prst="rect">
            <a:avLst/>
          </a:prstGeom>
          <a:noFill/>
          <a:ln w="9525">
            <a:noFill/>
            <a:miter lim="800000"/>
            <a:headEnd/>
            <a:tailEnd/>
          </a:ln>
        </p:spPr>
        <p:txBody>
          <a:bodyPr wrap="none">
            <a:spAutoFit/>
          </a:bodyPr>
          <a:lstStyle/>
          <a:p>
            <a:r>
              <a:rPr lang="en-US" sz="1200">
                <a:latin typeface="Calibri" pitchFamily="34" charset="0"/>
              </a:rPr>
              <a:t>d+1</a:t>
            </a:r>
          </a:p>
        </p:txBody>
      </p:sp>
      <p:cxnSp>
        <p:nvCxnSpPr>
          <p:cNvPr id="226" name="Straight Arrow Connector 225"/>
          <p:cNvCxnSpPr/>
          <p:nvPr/>
        </p:nvCxnSpPr>
        <p:spPr>
          <a:xfrm rot="5400000" flipH="1" flipV="1">
            <a:off x="875507" y="2401094"/>
            <a:ext cx="228600" cy="1587"/>
          </a:xfrm>
          <a:prstGeom prst="straightConnector1">
            <a:avLst/>
          </a:prstGeom>
          <a:ln>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9459" name="TextBox 226"/>
          <p:cNvSpPr txBox="1">
            <a:spLocks noChangeArrowheads="1"/>
          </p:cNvSpPr>
          <p:nvPr/>
        </p:nvSpPr>
        <p:spPr bwMode="auto">
          <a:xfrm rot="-5400000">
            <a:off x="673100" y="2286000"/>
            <a:ext cx="454025" cy="276225"/>
          </a:xfrm>
          <a:prstGeom prst="rect">
            <a:avLst/>
          </a:prstGeom>
          <a:noFill/>
          <a:ln w="9525">
            <a:noFill/>
            <a:miter lim="800000"/>
            <a:headEnd/>
            <a:tailEnd/>
          </a:ln>
        </p:spPr>
        <p:txBody>
          <a:bodyPr wrap="none">
            <a:spAutoFit/>
          </a:bodyPr>
          <a:lstStyle/>
          <a:p>
            <a:r>
              <a:rPr lang="en-US" sz="1200">
                <a:latin typeface="Calibri" pitchFamily="34" charset="0"/>
              </a:rPr>
              <a:t>d+1</a:t>
            </a:r>
          </a:p>
        </p:txBody>
      </p:sp>
      <p:sp>
        <p:nvSpPr>
          <p:cNvPr id="59460" name="TextBox 227"/>
          <p:cNvSpPr txBox="1">
            <a:spLocks noChangeArrowheads="1"/>
          </p:cNvSpPr>
          <p:nvPr/>
        </p:nvSpPr>
        <p:spPr bwMode="auto">
          <a:xfrm>
            <a:off x="2514600" y="1524000"/>
            <a:ext cx="269875" cy="276225"/>
          </a:xfrm>
          <a:prstGeom prst="rect">
            <a:avLst/>
          </a:prstGeom>
          <a:noFill/>
          <a:ln w="9525">
            <a:noFill/>
            <a:miter lim="800000"/>
            <a:headEnd/>
            <a:tailEnd/>
          </a:ln>
        </p:spPr>
        <p:txBody>
          <a:bodyPr wrap="none">
            <a:spAutoFit/>
          </a:bodyPr>
          <a:lstStyle/>
          <a:p>
            <a:r>
              <a:rPr lang="en-US" sz="1200">
                <a:latin typeface="Calibri" pitchFamily="34" charset="0"/>
              </a:rPr>
              <a:t>c</a:t>
            </a:r>
          </a:p>
        </p:txBody>
      </p:sp>
      <p:sp>
        <p:nvSpPr>
          <p:cNvPr id="59461" name="TextBox 228"/>
          <p:cNvSpPr txBox="1">
            <a:spLocks noChangeArrowheads="1"/>
          </p:cNvSpPr>
          <p:nvPr/>
        </p:nvSpPr>
        <p:spPr bwMode="auto">
          <a:xfrm>
            <a:off x="1227138" y="2667000"/>
            <a:ext cx="269875" cy="276225"/>
          </a:xfrm>
          <a:prstGeom prst="rect">
            <a:avLst/>
          </a:prstGeom>
          <a:noFill/>
          <a:ln w="9525">
            <a:solidFill>
              <a:schemeClr val="bg1"/>
            </a:solidFill>
            <a:miter lim="800000"/>
            <a:headEnd/>
            <a:tailEnd/>
          </a:ln>
        </p:spPr>
        <p:txBody>
          <a:bodyPr wrap="none">
            <a:spAutoFit/>
          </a:bodyPr>
          <a:lstStyle/>
          <a:p>
            <a:r>
              <a:rPr lang="en-US" sz="1200">
                <a:latin typeface="Calibri" pitchFamily="34" charset="0"/>
              </a:rPr>
              <a:t>c</a:t>
            </a:r>
          </a:p>
        </p:txBody>
      </p:sp>
      <p:cxnSp>
        <p:nvCxnSpPr>
          <p:cNvPr id="231" name="Straight Arrow Connector 230"/>
          <p:cNvCxnSpPr/>
          <p:nvPr/>
        </p:nvCxnSpPr>
        <p:spPr>
          <a:xfrm rot="5400000">
            <a:off x="2439194" y="1675606"/>
            <a:ext cx="152400" cy="1588"/>
          </a:xfrm>
          <a:prstGeom prst="straightConnector1">
            <a:avLst/>
          </a:prstGeom>
          <a:ln w="3175">
            <a:solidFill>
              <a:schemeClr val="tx1"/>
            </a:solidFill>
            <a:headEnd type="diamond" w="med" len="med"/>
            <a:tailEnd type="diamond" w="med" len="med"/>
          </a:ln>
        </p:spPr>
        <p:style>
          <a:lnRef idx="1">
            <a:schemeClr val="accent1"/>
          </a:lnRef>
          <a:fillRef idx="0">
            <a:schemeClr val="accent1"/>
          </a:fillRef>
          <a:effectRef idx="0">
            <a:schemeClr val="accent1"/>
          </a:effectRef>
          <a:fontRef idx="minor">
            <a:schemeClr val="tx1"/>
          </a:fontRef>
        </p:style>
      </p:cxnSp>
      <p:cxnSp>
        <p:nvCxnSpPr>
          <p:cNvPr id="234" name="Straight Arrow Connector 233"/>
          <p:cNvCxnSpPr/>
          <p:nvPr/>
        </p:nvCxnSpPr>
        <p:spPr>
          <a:xfrm rot="10800000">
            <a:off x="1295400" y="2743200"/>
            <a:ext cx="152400" cy="1588"/>
          </a:xfrm>
          <a:prstGeom prst="straightConnector1">
            <a:avLst/>
          </a:prstGeom>
          <a:ln w="3175">
            <a:solidFill>
              <a:schemeClr val="tx1"/>
            </a:solidFill>
            <a:headEnd type="diamond" w="med" len="med"/>
            <a:tailEnd type="diamond" w="med" len="med"/>
          </a:ln>
        </p:spPr>
        <p:style>
          <a:lnRef idx="1">
            <a:schemeClr val="accent1"/>
          </a:lnRef>
          <a:fillRef idx="0">
            <a:schemeClr val="accent1"/>
          </a:fillRef>
          <a:effectRef idx="0">
            <a:schemeClr val="accent1"/>
          </a:effectRef>
          <a:fontRef idx="minor">
            <a:schemeClr val="tx1"/>
          </a:fontRef>
        </p:style>
      </p:cxnSp>
      <p:cxnSp>
        <p:nvCxnSpPr>
          <p:cNvPr id="240" name="Straight Arrow Connector 239"/>
          <p:cNvCxnSpPr/>
          <p:nvPr/>
        </p:nvCxnSpPr>
        <p:spPr>
          <a:xfrm>
            <a:off x="2895600" y="1965325"/>
            <a:ext cx="381000" cy="1588"/>
          </a:xfrm>
          <a:prstGeom prst="straightConnector1">
            <a:avLst/>
          </a:prstGeom>
          <a:ln>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59465" name="TextBox 240"/>
          <p:cNvSpPr txBox="1">
            <a:spLocks noChangeArrowheads="1"/>
          </p:cNvSpPr>
          <p:nvPr/>
        </p:nvSpPr>
        <p:spPr bwMode="auto">
          <a:xfrm>
            <a:off x="2895600" y="1706563"/>
            <a:ext cx="454025" cy="276225"/>
          </a:xfrm>
          <a:prstGeom prst="rect">
            <a:avLst/>
          </a:prstGeom>
          <a:noFill/>
          <a:ln w="9525">
            <a:noFill/>
            <a:miter lim="800000"/>
            <a:headEnd/>
            <a:tailEnd/>
          </a:ln>
        </p:spPr>
        <p:txBody>
          <a:bodyPr wrap="none">
            <a:spAutoFit/>
          </a:bodyPr>
          <a:lstStyle/>
          <a:p>
            <a:r>
              <a:rPr lang="en-US" sz="1200">
                <a:latin typeface="Calibri" pitchFamily="34" charset="0"/>
              </a:rPr>
              <a:t>d+c</a:t>
            </a:r>
          </a:p>
        </p:txBody>
      </p:sp>
      <p:cxnSp>
        <p:nvCxnSpPr>
          <p:cNvPr id="243" name="Straight Arrow Connector 242"/>
          <p:cNvCxnSpPr/>
          <p:nvPr/>
        </p:nvCxnSpPr>
        <p:spPr>
          <a:xfrm rot="5400000">
            <a:off x="3238501" y="2476500"/>
            <a:ext cx="381000" cy="3175"/>
          </a:xfrm>
          <a:prstGeom prst="straightConnector1">
            <a:avLst/>
          </a:prstGeom>
          <a:ln>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59467" name="TextBox 243"/>
          <p:cNvSpPr txBox="1">
            <a:spLocks noChangeArrowheads="1"/>
          </p:cNvSpPr>
          <p:nvPr/>
        </p:nvSpPr>
        <p:spPr bwMode="auto">
          <a:xfrm>
            <a:off x="3429000" y="2286000"/>
            <a:ext cx="454025" cy="276225"/>
          </a:xfrm>
          <a:prstGeom prst="rect">
            <a:avLst/>
          </a:prstGeom>
          <a:noFill/>
          <a:ln w="9525">
            <a:noFill/>
            <a:miter lim="800000"/>
            <a:headEnd/>
            <a:tailEnd/>
          </a:ln>
        </p:spPr>
        <p:txBody>
          <a:bodyPr wrap="none">
            <a:spAutoFit/>
          </a:bodyPr>
          <a:lstStyle/>
          <a:p>
            <a:r>
              <a:rPr lang="en-US" sz="1200">
                <a:latin typeface="Calibri" pitchFamily="34" charset="0"/>
              </a:rPr>
              <a:t>d+c</a:t>
            </a:r>
          </a:p>
        </p:txBody>
      </p:sp>
      <p:cxnSp>
        <p:nvCxnSpPr>
          <p:cNvPr id="245" name="Straight Arrow Connector 244"/>
          <p:cNvCxnSpPr/>
          <p:nvPr/>
        </p:nvCxnSpPr>
        <p:spPr>
          <a:xfrm rot="5400000">
            <a:off x="1486694" y="3390106"/>
            <a:ext cx="381000" cy="1588"/>
          </a:xfrm>
          <a:prstGeom prst="straightConnector1">
            <a:avLst/>
          </a:prstGeom>
          <a:ln>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246" name="Straight Arrow Connector 245"/>
          <p:cNvCxnSpPr/>
          <p:nvPr/>
        </p:nvCxnSpPr>
        <p:spPr>
          <a:xfrm>
            <a:off x="1981200" y="3733800"/>
            <a:ext cx="379413" cy="1588"/>
          </a:xfrm>
          <a:prstGeom prst="straightConnector1">
            <a:avLst/>
          </a:prstGeom>
          <a:ln>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59470" name="TextBox 247"/>
          <p:cNvSpPr txBox="1">
            <a:spLocks noChangeArrowheads="1"/>
          </p:cNvSpPr>
          <p:nvPr/>
        </p:nvSpPr>
        <p:spPr bwMode="auto">
          <a:xfrm>
            <a:off x="1295400" y="3276600"/>
            <a:ext cx="454025" cy="276225"/>
          </a:xfrm>
          <a:prstGeom prst="rect">
            <a:avLst/>
          </a:prstGeom>
          <a:noFill/>
          <a:ln w="9525">
            <a:noFill/>
            <a:miter lim="800000"/>
            <a:headEnd/>
            <a:tailEnd/>
          </a:ln>
        </p:spPr>
        <p:txBody>
          <a:bodyPr wrap="none">
            <a:spAutoFit/>
          </a:bodyPr>
          <a:lstStyle/>
          <a:p>
            <a:r>
              <a:rPr lang="en-US" sz="1200">
                <a:latin typeface="Calibri" pitchFamily="34" charset="0"/>
              </a:rPr>
              <a:t>d+c</a:t>
            </a:r>
          </a:p>
        </p:txBody>
      </p:sp>
      <p:sp>
        <p:nvSpPr>
          <p:cNvPr id="59471" name="TextBox 248"/>
          <p:cNvSpPr txBox="1">
            <a:spLocks noChangeArrowheads="1"/>
          </p:cNvSpPr>
          <p:nvPr/>
        </p:nvSpPr>
        <p:spPr bwMode="auto">
          <a:xfrm>
            <a:off x="1981200" y="3686175"/>
            <a:ext cx="454025" cy="276225"/>
          </a:xfrm>
          <a:prstGeom prst="rect">
            <a:avLst/>
          </a:prstGeom>
          <a:noFill/>
          <a:ln w="9525">
            <a:noFill/>
            <a:miter lim="800000"/>
            <a:headEnd/>
            <a:tailEnd/>
          </a:ln>
        </p:spPr>
        <p:txBody>
          <a:bodyPr wrap="none">
            <a:spAutoFit/>
          </a:bodyPr>
          <a:lstStyle/>
          <a:p>
            <a:r>
              <a:rPr lang="en-US" sz="1200">
                <a:latin typeface="Calibri" pitchFamily="34" charset="0"/>
              </a:rPr>
              <a:t>d+c</a:t>
            </a:r>
          </a:p>
        </p:txBody>
      </p:sp>
      <p:sp>
        <p:nvSpPr>
          <p:cNvPr id="59472" name="TextBox 105"/>
          <p:cNvSpPr txBox="1">
            <a:spLocks noChangeArrowheads="1"/>
          </p:cNvSpPr>
          <p:nvPr/>
        </p:nvSpPr>
        <p:spPr bwMode="auto">
          <a:xfrm>
            <a:off x="811213" y="171450"/>
            <a:ext cx="7512050" cy="585788"/>
          </a:xfrm>
          <a:prstGeom prst="rect">
            <a:avLst/>
          </a:prstGeom>
          <a:noFill/>
          <a:ln w="9525">
            <a:noFill/>
            <a:miter lim="800000"/>
            <a:headEnd/>
            <a:tailEnd/>
          </a:ln>
        </p:spPr>
        <p:txBody>
          <a:bodyPr>
            <a:spAutoFit/>
          </a:bodyPr>
          <a:lstStyle/>
          <a:p>
            <a:pPr algn="ctr"/>
            <a:r>
              <a:rPr lang="en-US" sz="3200" dirty="0" smtClean="0">
                <a:latin typeface="Calibri" pitchFamily="34" charset="0"/>
              </a:rPr>
              <a:t>S</a:t>
            </a:r>
            <a:r>
              <a:rPr lang="en-US" sz="3200" dirty="0" smtClean="0">
                <a:solidFill>
                  <a:schemeClr val="tx1"/>
                </a:solidFill>
                <a:latin typeface="Calibri" pitchFamily="34" charset="0"/>
              </a:rPr>
              <a:t>uccessive </a:t>
            </a:r>
            <a:r>
              <a:rPr lang="en-US" sz="3200" dirty="0">
                <a:solidFill>
                  <a:schemeClr val="tx1"/>
                </a:solidFill>
                <a:latin typeface="Calibri" pitchFamily="34" charset="0"/>
              </a:rPr>
              <a:t>Band Reduction</a:t>
            </a:r>
          </a:p>
        </p:txBody>
      </p:sp>
      <p:sp>
        <p:nvSpPr>
          <p:cNvPr id="101" name="TextBox 100"/>
          <p:cNvSpPr txBox="1"/>
          <p:nvPr/>
        </p:nvSpPr>
        <p:spPr>
          <a:xfrm>
            <a:off x="685800" y="5181600"/>
            <a:ext cx="1956177" cy="1200329"/>
          </a:xfrm>
          <a:prstGeom prst="rect">
            <a:avLst/>
          </a:prstGeom>
          <a:noFill/>
        </p:spPr>
        <p:txBody>
          <a:bodyPr wrap="none" rtlCol="0">
            <a:spAutoFit/>
          </a:bodyPr>
          <a:lstStyle/>
          <a:p>
            <a:r>
              <a:rPr lang="en-US" dirty="0" smtClean="0"/>
              <a:t>b = bandwidth</a:t>
            </a:r>
          </a:p>
          <a:p>
            <a:r>
              <a:rPr lang="en-US" dirty="0" smtClean="0"/>
              <a:t>c = #columns</a:t>
            </a:r>
          </a:p>
          <a:p>
            <a:r>
              <a:rPr lang="en-US" dirty="0" smtClean="0"/>
              <a:t>d = #diagonals</a:t>
            </a:r>
          </a:p>
          <a:p>
            <a:r>
              <a:rPr lang="en-US" dirty="0" smtClean="0"/>
              <a:t>Constraint: </a:t>
            </a:r>
            <a:r>
              <a:rPr lang="en-US" dirty="0" err="1" smtClean="0"/>
              <a:t>c+d</a:t>
            </a:r>
            <a:r>
              <a:rPr lang="en-US" dirty="0" smtClean="0"/>
              <a:t> </a:t>
            </a:r>
            <a:r>
              <a:rPr lang="en-US" dirty="0" smtClean="0">
                <a:sym typeface="Symbol"/>
              </a:rPr>
              <a:t> b</a:t>
            </a:r>
            <a:endParaRPr lang="en-US" dirty="0"/>
          </a:p>
        </p:txBody>
      </p:sp>
    </p:spTree>
    <p:extLst>
      <p:ext uri="{BB962C8B-B14F-4D97-AF65-F5344CB8AC3E}">
        <p14:creationId xmlns:p14="http://schemas.microsoft.com/office/powerpoint/2010/main" val="1818701419"/>
      </p:ext>
    </p:extLst>
  </p:cSld>
  <p:clrMapOvr>
    <a:masterClrMapping/>
  </p:clrMapOvr>
  <p:timing>
    <p:tnLst>
      <p:par>
        <p:cTn xmlns:p14="http://schemas.microsoft.com/office/powerpoint/2010/mai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p:cNvCxnSpPr/>
          <p:nvPr/>
        </p:nvCxnSpPr>
        <p:spPr>
          <a:xfrm>
            <a:off x="1295400" y="1600200"/>
            <a:ext cx="9144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rot="16200000" flipH="1">
            <a:off x="2209800" y="1600200"/>
            <a:ext cx="3657600" cy="36576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rot="5400000">
            <a:off x="5410200" y="5715000"/>
            <a:ext cx="9144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rot="10800000">
            <a:off x="4953000" y="6172200"/>
            <a:ext cx="9144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rot="16200000" flipV="1">
            <a:off x="1295400" y="2514600"/>
            <a:ext cx="3657600" cy="36576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rot="5400000" flipH="1" flipV="1">
            <a:off x="1295400" y="2514600"/>
            <a:ext cx="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1295400" y="2514600"/>
            <a:ext cx="914400" cy="9144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rot="5400000">
            <a:off x="838200" y="2057400"/>
            <a:ext cx="9144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rot="16200000" flipH="1">
            <a:off x="1295400" y="2286000"/>
            <a:ext cx="152400" cy="15240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rot="5400000">
            <a:off x="1333500" y="2552700"/>
            <a:ext cx="228600" cy="0"/>
          </a:xfrm>
          <a:prstGeom prst="line">
            <a:avLst/>
          </a:prstGeom>
          <a:ln>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a:off x="1447800" y="2667000"/>
            <a:ext cx="1828800" cy="0"/>
          </a:xfrm>
          <a:prstGeom prst="line">
            <a:avLst/>
          </a:prstGeom>
          <a:ln>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rot="16200000" flipH="1">
            <a:off x="1981200" y="1600200"/>
            <a:ext cx="152400" cy="15240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a:xfrm>
            <a:off x="2133600" y="1752600"/>
            <a:ext cx="228600"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a:xfrm rot="5400000">
            <a:off x="1447800" y="2667000"/>
            <a:ext cx="1828800" cy="0"/>
          </a:xfrm>
          <a:prstGeom prst="line">
            <a:avLst/>
          </a:prstGeom>
          <a:ln>
            <a:prstDash val="sysDot"/>
          </a:ln>
        </p:spPr>
        <p:style>
          <a:lnRef idx="1">
            <a:schemeClr val="accent1"/>
          </a:lnRef>
          <a:fillRef idx="0">
            <a:schemeClr val="accent1"/>
          </a:fillRef>
          <a:effectRef idx="0">
            <a:schemeClr val="accent1"/>
          </a:effectRef>
          <a:fontRef idx="minor">
            <a:schemeClr val="tx1"/>
          </a:fontRef>
        </p:style>
      </p:cxnSp>
      <p:cxnSp>
        <p:nvCxnSpPr>
          <p:cNvPr id="68" name="Straight Connector 67"/>
          <p:cNvCxnSpPr/>
          <p:nvPr/>
        </p:nvCxnSpPr>
        <p:spPr>
          <a:xfrm>
            <a:off x="1981200" y="3200400"/>
            <a:ext cx="1828800" cy="0"/>
          </a:xfrm>
          <a:prstGeom prst="line">
            <a:avLst/>
          </a:prstGeom>
          <a:ln>
            <a:prstDash val="sysDot"/>
          </a:ln>
        </p:spPr>
        <p:style>
          <a:lnRef idx="1">
            <a:schemeClr val="accent1"/>
          </a:lnRef>
          <a:fillRef idx="0">
            <a:schemeClr val="accent1"/>
          </a:fillRef>
          <a:effectRef idx="0">
            <a:schemeClr val="accent1"/>
          </a:effectRef>
          <a:fontRef idx="minor">
            <a:schemeClr val="tx1"/>
          </a:fontRef>
        </p:style>
      </p:cxnSp>
      <p:cxnSp>
        <p:nvCxnSpPr>
          <p:cNvPr id="69" name="Straight Connector 68"/>
          <p:cNvCxnSpPr/>
          <p:nvPr/>
        </p:nvCxnSpPr>
        <p:spPr>
          <a:xfrm>
            <a:off x="2362200" y="3581400"/>
            <a:ext cx="1828800" cy="0"/>
          </a:xfrm>
          <a:prstGeom prst="line">
            <a:avLst/>
          </a:prstGeom>
          <a:ln>
            <a:prstDash val="sysDot"/>
          </a:ln>
        </p:spPr>
        <p:style>
          <a:lnRef idx="1">
            <a:schemeClr val="accent1"/>
          </a:lnRef>
          <a:fillRef idx="0">
            <a:schemeClr val="accent1"/>
          </a:fillRef>
          <a:effectRef idx="0">
            <a:schemeClr val="accent1"/>
          </a:effectRef>
          <a:fontRef idx="minor">
            <a:schemeClr val="tx1"/>
          </a:fontRef>
        </p:style>
      </p:cxnSp>
      <p:cxnSp>
        <p:nvCxnSpPr>
          <p:cNvPr id="70" name="Straight Connector 69"/>
          <p:cNvCxnSpPr/>
          <p:nvPr/>
        </p:nvCxnSpPr>
        <p:spPr>
          <a:xfrm rot="5400000">
            <a:off x="1981200" y="3200400"/>
            <a:ext cx="1828800" cy="0"/>
          </a:xfrm>
          <a:prstGeom prst="line">
            <a:avLst/>
          </a:prstGeom>
          <a:ln>
            <a:prstDash val="sysDot"/>
          </a:ln>
        </p:spPr>
        <p:style>
          <a:lnRef idx="1">
            <a:schemeClr val="accent1"/>
          </a:lnRef>
          <a:fillRef idx="0">
            <a:schemeClr val="accent1"/>
          </a:fillRef>
          <a:effectRef idx="0">
            <a:schemeClr val="accent1"/>
          </a:effectRef>
          <a:fontRef idx="minor">
            <a:schemeClr val="tx1"/>
          </a:fontRef>
        </p:style>
      </p:cxnSp>
      <p:cxnSp>
        <p:nvCxnSpPr>
          <p:cNvPr id="71" name="Straight Connector 70"/>
          <p:cNvCxnSpPr/>
          <p:nvPr/>
        </p:nvCxnSpPr>
        <p:spPr>
          <a:xfrm rot="5400000">
            <a:off x="2362200" y="3581400"/>
            <a:ext cx="1828800" cy="0"/>
          </a:xfrm>
          <a:prstGeom prst="line">
            <a:avLst/>
          </a:prstGeom>
          <a:ln>
            <a:prstDash val="sysDot"/>
          </a:ln>
        </p:spPr>
        <p:style>
          <a:lnRef idx="1">
            <a:schemeClr val="accent1"/>
          </a:lnRef>
          <a:fillRef idx="0">
            <a:schemeClr val="accent1"/>
          </a:fillRef>
          <a:effectRef idx="0">
            <a:schemeClr val="accent1"/>
          </a:effectRef>
          <a:fontRef idx="minor">
            <a:schemeClr val="tx1"/>
          </a:fontRef>
        </p:style>
      </p:cxnSp>
      <p:cxnSp>
        <p:nvCxnSpPr>
          <p:cNvPr id="80" name="Straight Connector 79"/>
          <p:cNvCxnSpPr/>
          <p:nvPr/>
        </p:nvCxnSpPr>
        <p:spPr>
          <a:xfrm>
            <a:off x="2895600" y="4114800"/>
            <a:ext cx="1828800" cy="0"/>
          </a:xfrm>
          <a:prstGeom prst="line">
            <a:avLst/>
          </a:prstGeom>
          <a:ln>
            <a:prstDash val="sysDot"/>
          </a:ln>
        </p:spPr>
        <p:style>
          <a:lnRef idx="1">
            <a:schemeClr val="accent1"/>
          </a:lnRef>
          <a:fillRef idx="0">
            <a:schemeClr val="accent1"/>
          </a:fillRef>
          <a:effectRef idx="0">
            <a:schemeClr val="accent1"/>
          </a:effectRef>
          <a:fontRef idx="minor">
            <a:schemeClr val="tx1"/>
          </a:fontRef>
        </p:style>
      </p:cxnSp>
      <p:cxnSp>
        <p:nvCxnSpPr>
          <p:cNvPr id="81" name="Straight Connector 80"/>
          <p:cNvCxnSpPr/>
          <p:nvPr/>
        </p:nvCxnSpPr>
        <p:spPr>
          <a:xfrm>
            <a:off x="3276600" y="4495800"/>
            <a:ext cx="1828800" cy="0"/>
          </a:xfrm>
          <a:prstGeom prst="line">
            <a:avLst/>
          </a:prstGeom>
          <a:ln>
            <a:prstDash val="sysDot"/>
          </a:ln>
        </p:spPr>
        <p:style>
          <a:lnRef idx="1">
            <a:schemeClr val="accent1"/>
          </a:lnRef>
          <a:fillRef idx="0">
            <a:schemeClr val="accent1"/>
          </a:fillRef>
          <a:effectRef idx="0">
            <a:schemeClr val="accent1"/>
          </a:effectRef>
          <a:fontRef idx="minor">
            <a:schemeClr val="tx1"/>
          </a:fontRef>
        </p:style>
      </p:cxnSp>
      <p:cxnSp>
        <p:nvCxnSpPr>
          <p:cNvPr id="82" name="Straight Connector 81"/>
          <p:cNvCxnSpPr/>
          <p:nvPr/>
        </p:nvCxnSpPr>
        <p:spPr>
          <a:xfrm rot="5400000">
            <a:off x="3276600" y="4495800"/>
            <a:ext cx="1828800" cy="0"/>
          </a:xfrm>
          <a:prstGeom prst="line">
            <a:avLst/>
          </a:prstGeom>
          <a:ln>
            <a:prstDash val="sysDot"/>
          </a:ln>
        </p:spPr>
        <p:style>
          <a:lnRef idx="1">
            <a:schemeClr val="accent1"/>
          </a:lnRef>
          <a:fillRef idx="0">
            <a:schemeClr val="accent1"/>
          </a:fillRef>
          <a:effectRef idx="0">
            <a:schemeClr val="accent1"/>
          </a:effectRef>
          <a:fontRef idx="minor">
            <a:schemeClr val="tx1"/>
          </a:fontRef>
        </p:style>
      </p:cxnSp>
      <p:cxnSp>
        <p:nvCxnSpPr>
          <p:cNvPr id="83" name="Straight Connector 82"/>
          <p:cNvCxnSpPr/>
          <p:nvPr/>
        </p:nvCxnSpPr>
        <p:spPr>
          <a:xfrm rot="5400000">
            <a:off x="2895600" y="4114800"/>
            <a:ext cx="1828800" cy="0"/>
          </a:xfrm>
          <a:prstGeom prst="line">
            <a:avLst/>
          </a:prstGeom>
          <a:ln>
            <a:prstDash val="sysDot"/>
          </a:ln>
        </p:spPr>
        <p:style>
          <a:lnRef idx="1">
            <a:schemeClr val="accent1"/>
          </a:lnRef>
          <a:fillRef idx="0">
            <a:schemeClr val="accent1"/>
          </a:fillRef>
          <a:effectRef idx="0">
            <a:schemeClr val="accent1"/>
          </a:effectRef>
          <a:fontRef idx="minor">
            <a:schemeClr val="tx1"/>
          </a:fontRef>
        </p:style>
      </p:cxnSp>
      <p:cxnSp>
        <p:nvCxnSpPr>
          <p:cNvPr id="92" name="Straight Connector 91"/>
          <p:cNvCxnSpPr/>
          <p:nvPr/>
        </p:nvCxnSpPr>
        <p:spPr>
          <a:xfrm>
            <a:off x="3810000" y="5029200"/>
            <a:ext cx="1828800" cy="0"/>
          </a:xfrm>
          <a:prstGeom prst="line">
            <a:avLst/>
          </a:prstGeom>
          <a:ln>
            <a:prstDash val="sysDot"/>
          </a:ln>
        </p:spPr>
        <p:style>
          <a:lnRef idx="1">
            <a:schemeClr val="accent1"/>
          </a:lnRef>
          <a:fillRef idx="0">
            <a:schemeClr val="accent1"/>
          </a:fillRef>
          <a:effectRef idx="0">
            <a:schemeClr val="accent1"/>
          </a:effectRef>
          <a:fontRef idx="minor">
            <a:schemeClr val="tx1"/>
          </a:fontRef>
        </p:style>
      </p:cxnSp>
      <p:cxnSp>
        <p:nvCxnSpPr>
          <p:cNvPr id="93" name="Straight Connector 92"/>
          <p:cNvCxnSpPr/>
          <p:nvPr/>
        </p:nvCxnSpPr>
        <p:spPr>
          <a:xfrm rot="5400000">
            <a:off x="3810000" y="5029200"/>
            <a:ext cx="1828800" cy="0"/>
          </a:xfrm>
          <a:prstGeom prst="line">
            <a:avLst/>
          </a:prstGeom>
          <a:ln>
            <a:prstDash val="sysDot"/>
          </a:ln>
        </p:spPr>
        <p:style>
          <a:lnRef idx="1">
            <a:schemeClr val="accent1"/>
          </a:lnRef>
          <a:fillRef idx="0">
            <a:schemeClr val="accent1"/>
          </a:fillRef>
          <a:effectRef idx="0">
            <a:schemeClr val="accent1"/>
          </a:effectRef>
          <a:fontRef idx="minor">
            <a:schemeClr val="tx1"/>
          </a:fontRef>
        </p:style>
      </p:cxnSp>
      <p:cxnSp>
        <p:nvCxnSpPr>
          <p:cNvPr id="95" name="Straight Connector 94"/>
          <p:cNvCxnSpPr/>
          <p:nvPr/>
        </p:nvCxnSpPr>
        <p:spPr>
          <a:xfrm>
            <a:off x="4191000" y="5410200"/>
            <a:ext cx="1676400" cy="0"/>
          </a:xfrm>
          <a:prstGeom prst="line">
            <a:avLst/>
          </a:prstGeom>
          <a:ln>
            <a:prstDash val="sysDot"/>
          </a:ln>
        </p:spPr>
        <p:style>
          <a:lnRef idx="1">
            <a:schemeClr val="accent1"/>
          </a:lnRef>
          <a:fillRef idx="0">
            <a:schemeClr val="accent1"/>
          </a:fillRef>
          <a:effectRef idx="0">
            <a:schemeClr val="accent1"/>
          </a:effectRef>
          <a:fontRef idx="minor">
            <a:schemeClr val="tx1"/>
          </a:fontRef>
        </p:style>
      </p:cxnSp>
      <p:cxnSp>
        <p:nvCxnSpPr>
          <p:cNvPr id="97" name="Straight Connector 96"/>
          <p:cNvCxnSpPr/>
          <p:nvPr/>
        </p:nvCxnSpPr>
        <p:spPr>
          <a:xfrm rot="5400000">
            <a:off x="4267200" y="5334000"/>
            <a:ext cx="1676400" cy="0"/>
          </a:xfrm>
          <a:prstGeom prst="line">
            <a:avLst/>
          </a:prstGeom>
          <a:ln>
            <a:prstDash val="sysDot"/>
          </a:ln>
        </p:spPr>
        <p:style>
          <a:lnRef idx="1">
            <a:schemeClr val="accent1"/>
          </a:lnRef>
          <a:fillRef idx="0">
            <a:schemeClr val="accent1"/>
          </a:fillRef>
          <a:effectRef idx="0">
            <a:schemeClr val="accent1"/>
          </a:effectRef>
          <a:fontRef idx="minor">
            <a:schemeClr val="tx1"/>
          </a:fontRef>
        </p:style>
      </p:cxnSp>
      <p:cxnSp>
        <p:nvCxnSpPr>
          <p:cNvPr id="99" name="Straight Connector 98"/>
          <p:cNvCxnSpPr/>
          <p:nvPr/>
        </p:nvCxnSpPr>
        <p:spPr>
          <a:xfrm>
            <a:off x="5638800" y="5029200"/>
            <a:ext cx="228600"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00" name="Straight Connector 99"/>
          <p:cNvCxnSpPr/>
          <p:nvPr/>
        </p:nvCxnSpPr>
        <p:spPr>
          <a:xfrm>
            <a:off x="4724400" y="6172200"/>
            <a:ext cx="228600"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02" name="Straight Connector 101"/>
          <p:cNvCxnSpPr/>
          <p:nvPr/>
        </p:nvCxnSpPr>
        <p:spPr>
          <a:xfrm rot="5400000">
            <a:off x="5753100" y="5143500"/>
            <a:ext cx="228600"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03" name="Straight Connector 102"/>
          <p:cNvCxnSpPr/>
          <p:nvPr/>
        </p:nvCxnSpPr>
        <p:spPr>
          <a:xfrm rot="5400000">
            <a:off x="4610100" y="6057900"/>
            <a:ext cx="228600"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10" name="Straight Connector 109"/>
          <p:cNvCxnSpPr/>
          <p:nvPr/>
        </p:nvCxnSpPr>
        <p:spPr>
          <a:xfrm>
            <a:off x="1295400" y="2286000"/>
            <a:ext cx="1600200" cy="0"/>
          </a:xfrm>
          <a:prstGeom prst="line">
            <a:avLst/>
          </a:prstGeom>
          <a:ln>
            <a:prstDash val="sysDot"/>
          </a:ln>
        </p:spPr>
        <p:style>
          <a:lnRef idx="1">
            <a:schemeClr val="accent1"/>
          </a:lnRef>
          <a:fillRef idx="0">
            <a:schemeClr val="accent1"/>
          </a:fillRef>
          <a:effectRef idx="0">
            <a:schemeClr val="accent1"/>
          </a:effectRef>
          <a:fontRef idx="minor">
            <a:schemeClr val="tx1"/>
          </a:fontRef>
        </p:style>
      </p:cxnSp>
      <p:cxnSp>
        <p:nvCxnSpPr>
          <p:cNvPr id="112" name="Straight Connector 111"/>
          <p:cNvCxnSpPr/>
          <p:nvPr/>
        </p:nvCxnSpPr>
        <p:spPr>
          <a:xfrm rot="5400000">
            <a:off x="1181100" y="2400300"/>
            <a:ext cx="1600200" cy="0"/>
          </a:xfrm>
          <a:prstGeom prst="line">
            <a:avLst/>
          </a:prstGeom>
          <a:ln>
            <a:prstDash val="sysDot"/>
          </a:ln>
        </p:spPr>
        <p:style>
          <a:lnRef idx="1">
            <a:schemeClr val="accent1"/>
          </a:lnRef>
          <a:fillRef idx="0">
            <a:schemeClr val="accent1"/>
          </a:fillRef>
          <a:effectRef idx="0">
            <a:schemeClr val="accent1"/>
          </a:effectRef>
          <a:fontRef idx="minor">
            <a:schemeClr val="tx1"/>
          </a:fontRef>
        </p:style>
      </p:cxnSp>
      <p:grpSp>
        <p:nvGrpSpPr>
          <p:cNvPr id="2" name="Group 135"/>
          <p:cNvGrpSpPr>
            <a:grpSpLocks/>
          </p:cNvGrpSpPr>
          <p:nvPr/>
        </p:nvGrpSpPr>
        <p:grpSpPr bwMode="auto">
          <a:xfrm>
            <a:off x="2895600" y="2286000"/>
            <a:ext cx="381000" cy="381000"/>
            <a:chOff x="3733800" y="1981200"/>
            <a:chExt cx="381000" cy="381000"/>
          </a:xfrm>
        </p:grpSpPr>
        <p:cxnSp>
          <p:nvCxnSpPr>
            <p:cNvPr id="129" name="Straight Connector 128"/>
            <p:cNvCxnSpPr/>
            <p:nvPr/>
          </p:nvCxnSpPr>
          <p:spPr>
            <a:xfrm>
              <a:off x="3733800" y="1981200"/>
              <a:ext cx="228600"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31" name="Straight Connector 130"/>
            <p:cNvCxnSpPr/>
            <p:nvPr/>
          </p:nvCxnSpPr>
          <p:spPr>
            <a:xfrm rot="5400000" flipH="1" flipV="1">
              <a:off x="4000500" y="2247900"/>
              <a:ext cx="228600" cy="0"/>
            </a:xfrm>
            <a:prstGeom prst="line">
              <a:avLst/>
            </a:prstGeom>
            <a:ln>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133" name="Straight Connector 132"/>
            <p:cNvCxnSpPr/>
            <p:nvPr/>
          </p:nvCxnSpPr>
          <p:spPr>
            <a:xfrm rot="16200000" flipH="1">
              <a:off x="3962400" y="1981200"/>
              <a:ext cx="152400" cy="152400"/>
            </a:xfrm>
            <a:prstGeom prst="line">
              <a:avLst/>
            </a:prstGeom>
            <a:ln>
              <a:prstDash val="dash"/>
            </a:ln>
          </p:spPr>
          <p:style>
            <a:lnRef idx="1">
              <a:schemeClr val="accent1"/>
            </a:lnRef>
            <a:fillRef idx="0">
              <a:schemeClr val="accent1"/>
            </a:fillRef>
            <a:effectRef idx="0">
              <a:schemeClr val="accent1"/>
            </a:effectRef>
            <a:fontRef idx="minor">
              <a:schemeClr val="tx1"/>
            </a:fontRef>
          </p:style>
        </p:cxnSp>
      </p:grpSp>
      <p:grpSp>
        <p:nvGrpSpPr>
          <p:cNvPr id="3" name="Group 140"/>
          <p:cNvGrpSpPr>
            <a:grpSpLocks/>
          </p:cNvGrpSpPr>
          <p:nvPr/>
        </p:nvGrpSpPr>
        <p:grpSpPr bwMode="auto">
          <a:xfrm rot="10800000">
            <a:off x="1981200" y="3200400"/>
            <a:ext cx="381000" cy="381000"/>
            <a:chOff x="3733800" y="1981200"/>
            <a:chExt cx="381000" cy="381000"/>
          </a:xfrm>
        </p:grpSpPr>
        <p:cxnSp>
          <p:nvCxnSpPr>
            <p:cNvPr id="142" name="Straight Connector 141"/>
            <p:cNvCxnSpPr/>
            <p:nvPr/>
          </p:nvCxnSpPr>
          <p:spPr>
            <a:xfrm>
              <a:off x="3740150" y="1981200"/>
              <a:ext cx="228600"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43" name="Straight Connector 142"/>
            <p:cNvCxnSpPr/>
            <p:nvPr/>
          </p:nvCxnSpPr>
          <p:spPr>
            <a:xfrm rot="5400000" flipH="1" flipV="1">
              <a:off x="4006850" y="2247900"/>
              <a:ext cx="228600" cy="0"/>
            </a:xfrm>
            <a:prstGeom prst="line">
              <a:avLst/>
            </a:prstGeom>
            <a:ln>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144" name="Straight Connector 143"/>
            <p:cNvCxnSpPr/>
            <p:nvPr/>
          </p:nvCxnSpPr>
          <p:spPr>
            <a:xfrm rot="16200000" flipH="1">
              <a:off x="3968750" y="1981200"/>
              <a:ext cx="152400" cy="152400"/>
            </a:xfrm>
            <a:prstGeom prst="line">
              <a:avLst/>
            </a:prstGeom>
            <a:ln>
              <a:prstDash val="dash"/>
            </a:ln>
          </p:spPr>
          <p:style>
            <a:lnRef idx="1">
              <a:schemeClr val="accent1"/>
            </a:lnRef>
            <a:fillRef idx="0">
              <a:schemeClr val="accent1"/>
            </a:fillRef>
            <a:effectRef idx="0">
              <a:schemeClr val="accent1"/>
            </a:effectRef>
            <a:fontRef idx="minor">
              <a:schemeClr val="tx1"/>
            </a:fontRef>
          </p:style>
        </p:cxnSp>
      </p:grpSp>
      <p:grpSp>
        <p:nvGrpSpPr>
          <p:cNvPr id="4" name="Group 154"/>
          <p:cNvGrpSpPr>
            <a:grpSpLocks/>
          </p:cNvGrpSpPr>
          <p:nvPr/>
        </p:nvGrpSpPr>
        <p:grpSpPr bwMode="auto">
          <a:xfrm>
            <a:off x="3810000" y="3200400"/>
            <a:ext cx="381000" cy="381000"/>
            <a:chOff x="3733800" y="1981200"/>
            <a:chExt cx="381000" cy="381000"/>
          </a:xfrm>
        </p:grpSpPr>
        <p:cxnSp>
          <p:nvCxnSpPr>
            <p:cNvPr id="156" name="Straight Connector 155"/>
            <p:cNvCxnSpPr/>
            <p:nvPr/>
          </p:nvCxnSpPr>
          <p:spPr>
            <a:xfrm>
              <a:off x="3733800" y="1981200"/>
              <a:ext cx="228600"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57" name="Straight Connector 156"/>
            <p:cNvCxnSpPr/>
            <p:nvPr/>
          </p:nvCxnSpPr>
          <p:spPr>
            <a:xfrm rot="5400000" flipH="1" flipV="1">
              <a:off x="4000500" y="2247900"/>
              <a:ext cx="228600" cy="0"/>
            </a:xfrm>
            <a:prstGeom prst="line">
              <a:avLst/>
            </a:prstGeom>
            <a:ln>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158" name="Straight Connector 157"/>
            <p:cNvCxnSpPr/>
            <p:nvPr/>
          </p:nvCxnSpPr>
          <p:spPr>
            <a:xfrm rot="16200000" flipH="1">
              <a:off x="3962400" y="1981200"/>
              <a:ext cx="152400" cy="152400"/>
            </a:xfrm>
            <a:prstGeom prst="line">
              <a:avLst/>
            </a:prstGeom>
            <a:ln>
              <a:prstDash val="dash"/>
            </a:ln>
          </p:spPr>
          <p:style>
            <a:lnRef idx="1">
              <a:schemeClr val="accent1"/>
            </a:lnRef>
            <a:fillRef idx="0">
              <a:schemeClr val="accent1"/>
            </a:fillRef>
            <a:effectRef idx="0">
              <a:schemeClr val="accent1"/>
            </a:effectRef>
            <a:fontRef idx="minor">
              <a:schemeClr val="tx1"/>
            </a:fontRef>
          </p:style>
        </p:cxnSp>
      </p:grpSp>
      <p:grpSp>
        <p:nvGrpSpPr>
          <p:cNvPr id="6" name="Group 158"/>
          <p:cNvGrpSpPr>
            <a:grpSpLocks/>
          </p:cNvGrpSpPr>
          <p:nvPr/>
        </p:nvGrpSpPr>
        <p:grpSpPr bwMode="auto">
          <a:xfrm rot="10800000">
            <a:off x="2895600" y="4114800"/>
            <a:ext cx="381000" cy="381000"/>
            <a:chOff x="3733800" y="1981200"/>
            <a:chExt cx="381000" cy="381000"/>
          </a:xfrm>
        </p:grpSpPr>
        <p:cxnSp>
          <p:nvCxnSpPr>
            <p:cNvPr id="160" name="Straight Connector 159"/>
            <p:cNvCxnSpPr/>
            <p:nvPr/>
          </p:nvCxnSpPr>
          <p:spPr>
            <a:xfrm>
              <a:off x="3740150" y="1981200"/>
              <a:ext cx="228600"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61" name="Straight Connector 160"/>
            <p:cNvCxnSpPr/>
            <p:nvPr/>
          </p:nvCxnSpPr>
          <p:spPr>
            <a:xfrm rot="5400000" flipH="1" flipV="1">
              <a:off x="4006850" y="2247900"/>
              <a:ext cx="228600" cy="0"/>
            </a:xfrm>
            <a:prstGeom prst="line">
              <a:avLst/>
            </a:prstGeom>
            <a:ln>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162" name="Straight Connector 161"/>
            <p:cNvCxnSpPr/>
            <p:nvPr/>
          </p:nvCxnSpPr>
          <p:spPr>
            <a:xfrm rot="16200000" flipH="1">
              <a:off x="3968750" y="1981200"/>
              <a:ext cx="152400" cy="152400"/>
            </a:xfrm>
            <a:prstGeom prst="line">
              <a:avLst/>
            </a:prstGeom>
            <a:ln>
              <a:prstDash val="dash"/>
            </a:ln>
          </p:spPr>
          <p:style>
            <a:lnRef idx="1">
              <a:schemeClr val="accent1"/>
            </a:lnRef>
            <a:fillRef idx="0">
              <a:schemeClr val="accent1"/>
            </a:fillRef>
            <a:effectRef idx="0">
              <a:schemeClr val="accent1"/>
            </a:effectRef>
            <a:fontRef idx="minor">
              <a:schemeClr val="tx1"/>
            </a:fontRef>
          </p:style>
        </p:cxnSp>
      </p:grpSp>
      <p:grpSp>
        <p:nvGrpSpPr>
          <p:cNvPr id="7" name="Group 162"/>
          <p:cNvGrpSpPr>
            <a:grpSpLocks/>
          </p:cNvGrpSpPr>
          <p:nvPr/>
        </p:nvGrpSpPr>
        <p:grpSpPr bwMode="auto">
          <a:xfrm rot="10800000">
            <a:off x="3810000" y="5029200"/>
            <a:ext cx="381000" cy="381000"/>
            <a:chOff x="3733800" y="1981200"/>
            <a:chExt cx="381000" cy="381000"/>
          </a:xfrm>
        </p:grpSpPr>
        <p:cxnSp>
          <p:nvCxnSpPr>
            <p:cNvPr id="164" name="Straight Connector 163"/>
            <p:cNvCxnSpPr/>
            <p:nvPr/>
          </p:nvCxnSpPr>
          <p:spPr>
            <a:xfrm>
              <a:off x="3740150" y="1981200"/>
              <a:ext cx="228600"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65" name="Straight Connector 164"/>
            <p:cNvCxnSpPr/>
            <p:nvPr/>
          </p:nvCxnSpPr>
          <p:spPr>
            <a:xfrm rot="5400000" flipH="1" flipV="1">
              <a:off x="4006850" y="2247900"/>
              <a:ext cx="228600" cy="0"/>
            </a:xfrm>
            <a:prstGeom prst="line">
              <a:avLst/>
            </a:prstGeom>
            <a:ln>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166" name="Straight Connector 165"/>
            <p:cNvCxnSpPr/>
            <p:nvPr/>
          </p:nvCxnSpPr>
          <p:spPr>
            <a:xfrm rot="16200000" flipH="1">
              <a:off x="3968750" y="1981200"/>
              <a:ext cx="152400" cy="152400"/>
            </a:xfrm>
            <a:prstGeom prst="line">
              <a:avLst/>
            </a:prstGeom>
            <a:ln>
              <a:prstDash val="dash"/>
            </a:ln>
          </p:spPr>
          <p:style>
            <a:lnRef idx="1">
              <a:schemeClr val="accent1"/>
            </a:lnRef>
            <a:fillRef idx="0">
              <a:schemeClr val="accent1"/>
            </a:fillRef>
            <a:effectRef idx="0">
              <a:schemeClr val="accent1"/>
            </a:effectRef>
            <a:fontRef idx="minor">
              <a:schemeClr val="tx1"/>
            </a:fontRef>
          </p:style>
        </p:cxnSp>
      </p:grpSp>
      <p:grpSp>
        <p:nvGrpSpPr>
          <p:cNvPr id="8" name="Group 166"/>
          <p:cNvGrpSpPr>
            <a:grpSpLocks/>
          </p:cNvGrpSpPr>
          <p:nvPr/>
        </p:nvGrpSpPr>
        <p:grpSpPr bwMode="auto">
          <a:xfrm>
            <a:off x="4724400" y="4114800"/>
            <a:ext cx="381000" cy="381000"/>
            <a:chOff x="3733800" y="1981200"/>
            <a:chExt cx="381000" cy="381000"/>
          </a:xfrm>
        </p:grpSpPr>
        <p:cxnSp>
          <p:nvCxnSpPr>
            <p:cNvPr id="168" name="Straight Connector 167"/>
            <p:cNvCxnSpPr/>
            <p:nvPr/>
          </p:nvCxnSpPr>
          <p:spPr>
            <a:xfrm>
              <a:off x="3733800" y="1981200"/>
              <a:ext cx="228600"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69" name="Straight Connector 168"/>
            <p:cNvCxnSpPr/>
            <p:nvPr/>
          </p:nvCxnSpPr>
          <p:spPr>
            <a:xfrm rot="5400000" flipH="1" flipV="1">
              <a:off x="4000500" y="2247900"/>
              <a:ext cx="228600" cy="0"/>
            </a:xfrm>
            <a:prstGeom prst="line">
              <a:avLst/>
            </a:prstGeom>
            <a:ln>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170" name="Straight Connector 169"/>
            <p:cNvCxnSpPr/>
            <p:nvPr/>
          </p:nvCxnSpPr>
          <p:spPr>
            <a:xfrm rot="16200000" flipH="1">
              <a:off x="3962400" y="1981200"/>
              <a:ext cx="152400" cy="152400"/>
            </a:xfrm>
            <a:prstGeom prst="line">
              <a:avLst/>
            </a:prstGeom>
            <a:ln>
              <a:prstDash val="dash"/>
            </a:ln>
          </p:spPr>
          <p:style>
            <a:lnRef idx="1">
              <a:schemeClr val="accent1"/>
            </a:lnRef>
            <a:fillRef idx="0">
              <a:schemeClr val="accent1"/>
            </a:fillRef>
            <a:effectRef idx="0">
              <a:schemeClr val="accent1"/>
            </a:effectRef>
            <a:fontRef idx="minor">
              <a:schemeClr val="tx1"/>
            </a:fontRef>
          </p:style>
        </p:cxnSp>
      </p:grpSp>
      <p:sp>
        <p:nvSpPr>
          <p:cNvPr id="60456" name="TextBox 181"/>
          <p:cNvSpPr txBox="1">
            <a:spLocks noChangeArrowheads="1"/>
          </p:cNvSpPr>
          <p:nvPr/>
        </p:nvSpPr>
        <p:spPr bwMode="auto">
          <a:xfrm>
            <a:off x="2133600" y="1536700"/>
            <a:ext cx="76200" cy="231775"/>
          </a:xfrm>
          <a:prstGeom prst="rect">
            <a:avLst/>
          </a:prstGeom>
          <a:noFill/>
          <a:ln w="9525">
            <a:noFill/>
            <a:miter lim="800000"/>
            <a:headEnd/>
            <a:tailEnd/>
          </a:ln>
        </p:spPr>
        <p:txBody>
          <a:bodyPr>
            <a:spAutoFit/>
          </a:bodyPr>
          <a:lstStyle/>
          <a:p>
            <a:r>
              <a:rPr lang="en-US" sz="900">
                <a:latin typeface="Calibri" pitchFamily="34" charset="0"/>
              </a:rPr>
              <a:t>1</a:t>
            </a:r>
          </a:p>
        </p:txBody>
      </p:sp>
      <p:sp>
        <p:nvSpPr>
          <p:cNvPr id="60457" name="TextBox 183"/>
          <p:cNvSpPr txBox="1">
            <a:spLocks noChangeArrowheads="1"/>
          </p:cNvSpPr>
          <p:nvPr/>
        </p:nvSpPr>
        <p:spPr bwMode="auto">
          <a:xfrm>
            <a:off x="1295400" y="2362200"/>
            <a:ext cx="76200" cy="230188"/>
          </a:xfrm>
          <a:prstGeom prst="rect">
            <a:avLst/>
          </a:prstGeom>
          <a:noFill/>
          <a:ln w="9525">
            <a:noFill/>
            <a:miter lim="800000"/>
            <a:headEnd/>
            <a:tailEnd/>
          </a:ln>
        </p:spPr>
        <p:txBody>
          <a:bodyPr>
            <a:spAutoFit/>
          </a:bodyPr>
          <a:lstStyle/>
          <a:p>
            <a:r>
              <a:rPr lang="en-US" sz="900">
                <a:latin typeface="Calibri" pitchFamily="34" charset="0"/>
              </a:rPr>
              <a:t>1</a:t>
            </a:r>
          </a:p>
        </p:txBody>
      </p:sp>
      <p:sp>
        <p:nvSpPr>
          <p:cNvPr id="60458" name="TextBox 184"/>
          <p:cNvSpPr txBox="1">
            <a:spLocks noChangeArrowheads="1"/>
          </p:cNvSpPr>
          <p:nvPr/>
        </p:nvSpPr>
        <p:spPr bwMode="auto">
          <a:xfrm rot="10800000" flipV="1">
            <a:off x="1981200" y="3268663"/>
            <a:ext cx="152400" cy="231775"/>
          </a:xfrm>
          <a:prstGeom prst="rect">
            <a:avLst/>
          </a:prstGeom>
          <a:noFill/>
          <a:ln w="9525">
            <a:noFill/>
            <a:miter lim="800000"/>
            <a:headEnd/>
            <a:tailEnd/>
          </a:ln>
        </p:spPr>
        <p:txBody>
          <a:bodyPr>
            <a:spAutoFit/>
          </a:bodyPr>
          <a:lstStyle/>
          <a:p>
            <a:r>
              <a:rPr lang="en-US" sz="900">
                <a:latin typeface="Calibri" pitchFamily="34" charset="0"/>
              </a:rPr>
              <a:t>2</a:t>
            </a:r>
          </a:p>
        </p:txBody>
      </p:sp>
      <p:sp>
        <p:nvSpPr>
          <p:cNvPr id="60459" name="TextBox 185"/>
          <p:cNvSpPr txBox="1">
            <a:spLocks noChangeArrowheads="1"/>
          </p:cNvSpPr>
          <p:nvPr/>
        </p:nvSpPr>
        <p:spPr bwMode="auto">
          <a:xfrm rot="10800000" flipV="1">
            <a:off x="3048000" y="2278063"/>
            <a:ext cx="152400" cy="231775"/>
          </a:xfrm>
          <a:prstGeom prst="rect">
            <a:avLst/>
          </a:prstGeom>
          <a:noFill/>
          <a:ln w="9525">
            <a:noFill/>
            <a:miter lim="800000"/>
            <a:headEnd/>
            <a:tailEnd/>
          </a:ln>
        </p:spPr>
        <p:txBody>
          <a:bodyPr>
            <a:spAutoFit/>
          </a:bodyPr>
          <a:lstStyle/>
          <a:p>
            <a:r>
              <a:rPr lang="en-US" sz="900">
                <a:latin typeface="Calibri" pitchFamily="34" charset="0"/>
              </a:rPr>
              <a:t>2</a:t>
            </a:r>
          </a:p>
        </p:txBody>
      </p:sp>
      <p:sp>
        <p:nvSpPr>
          <p:cNvPr id="60460" name="TextBox 186"/>
          <p:cNvSpPr txBox="1">
            <a:spLocks noChangeArrowheads="1"/>
          </p:cNvSpPr>
          <p:nvPr/>
        </p:nvSpPr>
        <p:spPr bwMode="auto">
          <a:xfrm rot="10800000" flipV="1">
            <a:off x="3962400" y="3192463"/>
            <a:ext cx="152400" cy="231775"/>
          </a:xfrm>
          <a:prstGeom prst="rect">
            <a:avLst/>
          </a:prstGeom>
          <a:noFill/>
          <a:ln w="9525">
            <a:noFill/>
            <a:miter lim="800000"/>
            <a:headEnd/>
            <a:tailEnd/>
          </a:ln>
        </p:spPr>
        <p:txBody>
          <a:bodyPr>
            <a:spAutoFit/>
          </a:bodyPr>
          <a:lstStyle/>
          <a:p>
            <a:r>
              <a:rPr lang="en-US" sz="900">
                <a:latin typeface="Calibri" pitchFamily="34" charset="0"/>
              </a:rPr>
              <a:t>3</a:t>
            </a:r>
          </a:p>
        </p:txBody>
      </p:sp>
      <p:sp>
        <p:nvSpPr>
          <p:cNvPr id="60461" name="TextBox 188"/>
          <p:cNvSpPr txBox="1">
            <a:spLocks noChangeArrowheads="1"/>
          </p:cNvSpPr>
          <p:nvPr/>
        </p:nvSpPr>
        <p:spPr bwMode="auto">
          <a:xfrm rot="10800000" flipV="1">
            <a:off x="2971800" y="4259263"/>
            <a:ext cx="152400" cy="231775"/>
          </a:xfrm>
          <a:prstGeom prst="rect">
            <a:avLst/>
          </a:prstGeom>
          <a:noFill/>
          <a:ln w="9525">
            <a:noFill/>
            <a:miter lim="800000"/>
            <a:headEnd/>
            <a:tailEnd/>
          </a:ln>
        </p:spPr>
        <p:txBody>
          <a:bodyPr>
            <a:spAutoFit/>
          </a:bodyPr>
          <a:lstStyle/>
          <a:p>
            <a:r>
              <a:rPr lang="en-US" sz="900">
                <a:latin typeface="Calibri" pitchFamily="34" charset="0"/>
              </a:rPr>
              <a:t>3</a:t>
            </a:r>
          </a:p>
        </p:txBody>
      </p:sp>
      <p:sp>
        <p:nvSpPr>
          <p:cNvPr id="60462" name="TextBox 189"/>
          <p:cNvSpPr txBox="1">
            <a:spLocks noChangeArrowheads="1"/>
          </p:cNvSpPr>
          <p:nvPr/>
        </p:nvSpPr>
        <p:spPr bwMode="auto">
          <a:xfrm rot="10800000" flipV="1">
            <a:off x="3810000" y="5097463"/>
            <a:ext cx="152400" cy="231775"/>
          </a:xfrm>
          <a:prstGeom prst="rect">
            <a:avLst/>
          </a:prstGeom>
          <a:noFill/>
          <a:ln w="9525">
            <a:noFill/>
            <a:miter lim="800000"/>
            <a:headEnd/>
            <a:tailEnd/>
          </a:ln>
        </p:spPr>
        <p:txBody>
          <a:bodyPr>
            <a:spAutoFit/>
          </a:bodyPr>
          <a:lstStyle/>
          <a:p>
            <a:r>
              <a:rPr lang="en-US" sz="900">
                <a:latin typeface="Calibri" pitchFamily="34" charset="0"/>
              </a:rPr>
              <a:t>4</a:t>
            </a:r>
          </a:p>
        </p:txBody>
      </p:sp>
      <p:sp>
        <p:nvSpPr>
          <p:cNvPr id="60463" name="TextBox 190"/>
          <p:cNvSpPr txBox="1">
            <a:spLocks noChangeArrowheads="1"/>
          </p:cNvSpPr>
          <p:nvPr/>
        </p:nvSpPr>
        <p:spPr bwMode="auto">
          <a:xfrm rot="10800000" flipV="1">
            <a:off x="4876800" y="4106863"/>
            <a:ext cx="152400" cy="231775"/>
          </a:xfrm>
          <a:prstGeom prst="rect">
            <a:avLst/>
          </a:prstGeom>
          <a:noFill/>
          <a:ln w="9525">
            <a:noFill/>
            <a:miter lim="800000"/>
            <a:headEnd/>
            <a:tailEnd/>
          </a:ln>
        </p:spPr>
        <p:txBody>
          <a:bodyPr>
            <a:spAutoFit/>
          </a:bodyPr>
          <a:lstStyle/>
          <a:p>
            <a:r>
              <a:rPr lang="en-US" sz="900">
                <a:latin typeface="Calibri" pitchFamily="34" charset="0"/>
              </a:rPr>
              <a:t>4</a:t>
            </a:r>
          </a:p>
        </p:txBody>
      </p:sp>
      <p:sp>
        <p:nvSpPr>
          <p:cNvPr id="60464" name="TextBox 191"/>
          <p:cNvSpPr txBox="1">
            <a:spLocks noChangeArrowheads="1"/>
          </p:cNvSpPr>
          <p:nvPr/>
        </p:nvSpPr>
        <p:spPr bwMode="auto">
          <a:xfrm rot="10800000" flipV="1">
            <a:off x="4648200" y="6024563"/>
            <a:ext cx="152400" cy="231775"/>
          </a:xfrm>
          <a:prstGeom prst="rect">
            <a:avLst/>
          </a:prstGeom>
          <a:noFill/>
          <a:ln w="9525">
            <a:noFill/>
            <a:miter lim="800000"/>
            <a:headEnd/>
            <a:tailEnd/>
          </a:ln>
        </p:spPr>
        <p:txBody>
          <a:bodyPr>
            <a:spAutoFit/>
          </a:bodyPr>
          <a:lstStyle/>
          <a:p>
            <a:r>
              <a:rPr lang="en-US" sz="900">
                <a:latin typeface="Calibri" pitchFamily="34" charset="0"/>
              </a:rPr>
              <a:t>5</a:t>
            </a:r>
          </a:p>
        </p:txBody>
      </p:sp>
      <p:sp>
        <p:nvSpPr>
          <p:cNvPr id="60465" name="TextBox 192"/>
          <p:cNvSpPr txBox="1">
            <a:spLocks noChangeArrowheads="1"/>
          </p:cNvSpPr>
          <p:nvPr/>
        </p:nvSpPr>
        <p:spPr bwMode="auto">
          <a:xfrm rot="10800000" flipV="1">
            <a:off x="5715000" y="4945063"/>
            <a:ext cx="152400" cy="231775"/>
          </a:xfrm>
          <a:prstGeom prst="rect">
            <a:avLst/>
          </a:prstGeom>
          <a:noFill/>
          <a:ln w="9525">
            <a:noFill/>
            <a:miter lim="800000"/>
            <a:headEnd/>
            <a:tailEnd/>
          </a:ln>
        </p:spPr>
        <p:txBody>
          <a:bodyPr>
            <a:spAutoFit/>
          </a:bodyPr>
          <a:lstStyle/>
          <a:p>
            <a:r>
              <a:rPr lang="en-US" sz="900">
                <a:latin typeface="Calibri" pitchFamily="34" charset="0"/>
              </a:rPr>
              <a:t>5</a:t>
            </a:r>
          </a:p>
        </p:txBody>
      </p:sp>
      <p:sp>
        <p:nvSpPr>
          <p:cNvPr id="60466" name="TextBox 196"/>
          <p:cNvSpPr txBox="1">
            <a:spLocks noChangeArrowheads="1"/>
          </p:cNvSpPr>
          <p:nvPr/>
        </p:nvSpPr>
        <p:spPr bwMode="auto">
          <a:xfrm>
            <a:off x="5562600" y="4648200"/>
            <a:ext cx="425450" cy="276225"/>
          </a:xfrm>
          <a:prstGeom prst="rect">
            <a:avLst/>
          </a:prstGeom>
          <a:noFill/>
          <a:ln w="9525">
            <a:noFill/>
            <a:miter lim="800000"/>
            <a:headEnd/>
            <a:tailEnd/>
          </a:ln>
        </p:spPr>
        <p:txBody>
          <a:bodyPr wrap="none">
            <a:spAutoFit/>
          </a:bodyPr>
          <a:lstStyle/>
          <a:p>
            <a:r>
              <a:rPr lang="en-US" sz="1200">
                <a:latin typeface="Calibri" pitchFamily="34" charset="0"/>
              </a:rPr>
              <a:t>Q</a:t>
            </a:r>
            <a:r>
              <a:rPr lang="en-US" sz="1200" baseline="-25000">
                <a:latin typeface="Calibri" pitchFamily="34" charset="0"/>
              </a:rPr>
              <a:t>5</a:t>
            </a:r>
            <a:r>
              <a:rPr lang="en-US" sz="1200" baseline="30000">
                <a:latin typeface="Calibri" pitchFamily="34" charset="0"/>
              </a:rPr>
              <a:t>T</a:t>
            </a:r>
          </a:p>
        </p:txBody>
      </p:sp>
      <p:sp>
        <p:nvSpPr>
          <p:cNvPr id="60467" name="TextBox 197"/>
          <p:cNvSpPr txBox="1">
            <a:spLocks noChangeArrowheads="1"/>
          </p:cNvSpPr>
          <p:nvPr/>
        </p:nvSpPr>
        <p:spPr bwMode="auto">
          <a:xfrm>
            <a:off x="1031875" y="2362200"/>
            <a:ext cx="361950" cy="276225"/>
          </a:xfrm>
          <a:prstGeom prst="rect">
            <a:avLst/>
          </a:prstGeom>
          <a:noFill/>
          <a:ln w="9525">
            <a:noFill/>
            <a:miter lim="800000"/>
            <a:headEnd/>
            <a:tailEnd/>
          </a:ln>
        </p:spPr>
        <p:txBody>
          <a:bodyPr wrap="none">
            <a:spAutoFit/>
          </a:bodyPr>
          <a:lstStyle/>
          <a:p>
            <a:r>
              <a:rPr lang="en-US" sz="1200">
                <a:latin typeface="Calibri" pitchFamily="34" charset="0"/>
              </a:rPr>
              <a:t>Q</a:t>
            </a:r>
            <a:r>
              <a:rPr lang="en-US" sz="1200" baseline="-25000">
                <a:latin typeface="Calibri" pitchFamily="34" charset="0"/>
              </a:rPr>
              <a:t>1</a:t>
            </a:r>
          </a:p>
        </p:txBody>
      </p:sp>
      <p:sp>
        <p:nvSpPr>
          <p:cNvPr id="60468" name="TextBox 198"/>
          <p:cNvSpPr txBox="1">
            <a:spLocks noChangeArrowheads="1"/>
          </p:cNvSpPr>
          <p:nvPr/>
        </p:nvSpPr>
        <p:spPr bwMode="auto">
          <a:xfrm>
            <a:off x="2057400" y="1371600"/>
            <a:ext cx="425450" cy="276225"/>
          </a:xfrm>
          <a:prstGeom prst="rect">
            <a:avLst/>
          </a:prstGeom>
          <a:noFill/>
          <a:ln w="9525">
            <a:noFill/>
            <a:miter lim="800000"/>
            <a:headEnd/>
            <a:tailEnd/>
          </a:ln>
        </p:spPr>
        <p:txBody>
          <a:bodyPr wrap="none">
            <a:spAutoFit/>
          </a:bodyPr>
          <a:lstStyle/>
          <a:p>
            <a:r>
              <a:rPr lang="en-US" sz="1200">
                <a:latin typeface="Calibri" pitchFamily="34" charset="0"/>
              </a:rPr>
              <a:t>Q</a:t>
            </a:r>
            <a:r>
              <a:rPr lang="en-US" sz="1200" baseline="-25000">
                <a:latin typeface="Calibri" pitchFamily="34" charset="0"/>
              </a:rPr>
              <a:t>1</a:t>
            </a:r>
            <a:r>
              <a:rPr lang="en-US" sz="1200" baseline="30000">
                <a:latin typeface="Calibri" pitchFamily="34" charset="0"/>
              </a:rPr>
              <a:t>T</a:t>
            </a:r>
          </a:p>
        </p:txBody>
      </p:sp>
      <p:sp>
        <p:nvSpPr>
          <p:cNvPr id="60469" name="TextBox 199"/>
          <p:cNvSpPr txBox="1">
            <a:spLocks noChangeArrowheads="1"/>
          </p:cNvSpPr>
          <p:nvPr/>
        </p:nvSpPr>
        <p:spPr bwMode="auto">
          <a:xfrm>
            <a:off x="1654175" y="3276600"/>
            <a:ext cx="403225" cy="276225"/>
          </a:xfrm>
          <a:prstGeom prst="rect">
            <a:avLst/>
          </a:prstGeom>
          <a:noFill/>
          <a:ln w="9525">
            <a:noFill/>
            <a:miter lim="800000"/>
            <a:headEnd/>
            <a:tailEnd/>
          </a:ln>
        </p:spPr>
        <p:txBody>
          <a:bodyPr>
            <a:spAutoFit/>
          </a:bodyPr>
          <a:lstStyle/>
          <a:p>
            <a:r>
              <a:rPr lang="en-US" sz="1200">
                <a:latin typeface="Calibri" pitchFamily="34" charset="0"/>
              </a:rPr>
              <a:t>Q</a:t>
            </a:r>
            <a:r>
              <a:rPr lang="en-US" sz="1200" baseline="-25000">
                <a:latin typeface="Calibri" pitchFamily="34" charset="0"/>
              </a:rPr>
              <a:t>2</a:t>
            </a:r>
          </a:p>
        </p:txBody>
      </p:sp>
      <p:sp>
        <p:nvSpPr>
          <p:cNvPr id="60470" name="TextBox 200"/>
          <p:cNvSpPr txBox="1">
            <a:spLocks noChangeArrowheads="1"/>
          </p:cNvSpPr>
          <p:nvPr/>
        </p:nvSpPr>
        <p:spPr bwMode="auto">
          <a:xfrm>
            <a:off x="2971800" y="2009775"/>
            <a:ext cx="425450" cy="276225"/>
          </a:xfrm>
          <a:prstGeom prst="rect">
            <a:avLst/>
          </a:prstGeom>
          <a:noFill/>
          <a:ln w="9525">
            <a:noFill/>
            <a:miter lim="800000"/>
            <a:headEnd/>
            <a:tailEnd/>
          </a:ln>
        </p:spPr>
        <p:txBody>
          <a:bodyPr wrap="none">
            <a:spAutoFit/>
          </a:bodyPr>
          <a:lstStyle/>
          <a:p>
            <a:r>
              <a:rPr lang="en-US" sz="1200">
                <a:latin typeface="Calibri" pitchFamily="34" charset="0"/>
              </a:rPr>
              <a:t>Q</a:t>
            </a:r>
            <a:r>
              <a:rPr lang="en-US" sz="1200" baseline="-25000">
                <a:latin typeface="Calibri" pitchFamily="34" charset="0"/>
              </a:rPr>
              <a:t>2</a:t>
            </a:r>
            <a:r>
              <a:rPr lang="en-US" sz="1200" baseline="30000">
                <a:latin typeface="Calibri" pitchFamily="34" charset="0"/>
              </a:rPr>
              <a:t>T</a:t>
            </a:r>
          </a:p>
        </p:txBody>
      </p:sp>
      <p:sp>
        <p:nvSpPr>
          <p:cNvPr id="60471" name="TextBox 201"/>
          <p:cNvSpPr txBox="1">
            <a:spLocks noChangeArrowheads="1"/>
          </p:cNvSpPr>
          <p:nvPr/>
        </p:nvSpPr>
        <p:spPr bwMode="auto">
          <a:xfrm>
            <a:off x="2416175" y="4191000"/>
            <a:ext cx="361950" cy="276225"/>
          </a:xfrm>
          <a:prstGeom prst="rect">
            <a:avLst/>
          </a:prstGeom>
          <a:noFill/>
          <a:ln w="9525">
            <a:noFill/>
            <a:miter lim="800000"/>
            <a:headEnd/>
            <a:tailEnd/>
          </a:ln>
        </p:spPr>
        <p:txBody>
          <a:bodyPr wrap="none">
            <a:spAutoFit/>
          </a:bodyPr>
          <a:lstStyle/>
          <a:p>
            <a:r>
              <a:rPr lang="en-US" sz="1200">
                <a:latin typeface="Calibri" pitchFamily="34" charset="0"/>
              </a:rPr>
              <a:t>Q</a:t>
            </a:r>
            <a:r>
              <a:rPr lang="en-US" sz="1200" baseline="-25000">
                <a:latin typeface="Calibri" pitchFamily="34" charset="0"/>
              </a:rPr>
              <a:t>3</a:t>
            </a:r>
          </a:p>
        </p:txBody>
      </p:sp>
      <p:sp>
        <p:nvSpPr>
          <p:cNvPr id="60472" name="TextBox 202"/>
          <p:cNvSpPr txBox="1">
            <a:spLocks noChangeArrowheads="1"/>
          </p:cNvSpPr>
          <p:nvPr/>
        </p:nvSpPr>
        <p:spPr bwMode="auto">
          <a:xfrm>
            <a:off x="3886200" y="2819400"/>
            <a:ext cx="425450" cy="276225"/>
          </a:xfrm>
          <a:prstGeom prst="rect">
            <a:avLst/>
          </a:prstGeom>
          <a:noFill/>
          <a:ln w="9525">
            <a:noFill/>
            <a:miter lim="800000"/>
            <a:headEnd/>
            <a:tailEnd/>
          </a:ln>
        </p:spPr>
        <p:txBody>
          <a:bodyPr wrap="none">
            <a:spAutoFit/>
          </a:bodyPr>
          <a:lstStyle/>
          <a:p>
            <a:r>
              <a:rPr lang="en-US" sz="1200">
                <a:latin typeface="Calibri" pitchFamily="34" charset="0"/>
              </a:rPr>
              <a:t>Q</a:t>
            </a:r>
            <a:r>
              <a:rPr lang="en-US" sz="1200" baseline="-25000">
                <a:latin typeface="Calibri" pitchFamily="34" charset="0"/>
              </a:rPr>
              <a:t>3</a:t>
            </a:r>
            <a:r>
              <a:rPr lang="en-US" sz="1200" baseline="30000">
                <a:latin typeface="Calibri" pitchFamily="34" charset="0"/>
              </a:rPr>
              <a:t>T</a:t>
            </a:r>
          </a:p>
        </p:txBody>
      </p:sp>
      <p:sp>
        <p:nvSpPr>
          <p:cNvPr id="60473" name="TextBox 203"/>
          <p:cNvSpPr txBox="1">
            <a:spLocks noChangeArrowheads="1"/>
          </p:cNvSpPr>
          <p:nvPr/>
        </p:nvSpPr>
        <p:spPr bwMode="auto">
          <a:xfrm>
            <a:off x="4343400" y="5943600"/>
            <a:ext cx="361950" cy="276225"/>
          </a:xfrm>
          <a:prstGeom prst="rect">
            <a:avLst/>
          </a:prstGeom>
          <a:noFill/>
          <a:ln w="9525">
            <a:noFill/>
            <a:miter lim="800000"/>
            <a:headEnd/>
            <a:tailEnd/>
          </a:ln>
        </p:spPr>
        <p:txBody>
          <a:bodyPr wrap="none">
            <a:spAutoFit/>
          </a:bodyPr>
          <a:lstStyle/>
          <a:p>
            <a:r>
              <a:rPr lang="en-US" sz="1200">
                <a:latin typeface="Calibri" pitchFamily="34" charset="0"/>
              </a:rPr>
              <a:t>Q</a:t>
            </a:r>
            <a:r>
              <a:rPr lang="en-US" sz="1200" baseline="-25000">
                <a:latin typeface="Calibri" pitchFamily="34" charset="0"/>
              </a:rPr>
              <a:t>5</a:t>
            </a:r>
          </a:p>
        </p:txBody>
      </p:sp>
      <p:sp>
        <p:nvSpPr>
          <p:cNvPr id="60474" name="TextBox 204"/>
          <p:cNvSpPr txBox="1">
            <a:spLocks noChangeArrowheads="1"/>
          </p:cNvSpPr>
          <p:nvPr/>
        </p:nvSpPr>
        <p:spPr bwMode="auto">
          <a:xfrm>
            <a:off x="3352800" y="5105400"/>
            <a:ext cx="361950" cy="276225"/>
          </a:xfrm>
          <a:prstGeom prst="rect">
            <a:avLst/>
          </a:prstGeom>
          <a:noFill/>
          <a:ln w="9525">
            <a:noFill/>
            <a:miter lim="800000"/>
            <a:headEnd/>
            <a:tailEnd/>
          </a:ln>
        </p:spPr>
        <p:txBody>
          <a:bodyPr wrap="none">
            <a:spAutoFit/>
          </a:bodyPr>
          <a:lstStyle/>
          <a:p>
            <a:r>
              <a:rPr lang="en-US" sz="1200">
                <a:latin typeface="Calibri" pitchFamily="34" charset="0"/>
              </a:rPr>
              <a:t>Q</a:t>
            </a:r>
            <a:r>
              <a:rPr lang="en-US" sz="1200" baseline="-25000">
                <a:latin typeface="Calibri" pitchFamily="34" charset="0"/>
              </a:rPr>
              <a:t>4</a:t>
            </a:r>
            <a:endParaRPr lang="en-US" sz="1100" baseline="-25000">
              <a:latin typeface="Calibri" pitchFamily="34" charset="0"/>
            </a:endParaRPr>
          </a:p>
        </p:txBody>
      </p:sp>
      <p:sp>
        <p:nvSpPr>
          <p:cNvPr id="60475" name="TextBox 205"/>
          <p:cNvSpPr txBox="1">
            <a:spLocks noChangeArrowheads="1"/>
          </p:cNvSpPr>
          <p:nvPr/>
        </p:nvSpPr>
        <p:spPr bwMode="auto">
          <a:xfrm>
            <a:off x="4800600" y="3733800"/>
            <a:ext cx="425450" cy="276225"/>
          </a:xfrm>
          <a:prstGeom prst="rect">
            <a:avLst/>
          </a:prstGeom>
          <a:noFill/>
          <a:ln w="9525">
            <a:noFill/>
            <a:miter lim="800000"/>
            <a:headEnd/>
            <a:tailEnd/>
          </a:ln>
        </p:spPr>
        <p:txBody>
          <a:bodyPr wrap="none">
            <a:spAutoFit/>
          </a:bodyPr>
          <a:lstStyle/>
          <a:p>
            <a:r>
              <a:rPr lang="en-US" sz="1200">
                <a:latin typeface="Calibri" pitchFamily="34" charset="0"/>
              </a:rPr>
              <a:t>Q</a:t>
            </a:r>
            <a:r>
              <a:rPr lang="en-US" sz="1200" baseline="-25000">
                <a:latin typeface="Calibri" pitchFamily="34" charset="0"/>
              </a:rPr>
              <a:t>4</a:t>
            </a:r>
            <a:r>
              <a:rPr lang="en-US" sz="1200" baseline="30000">
                <a:latin typeface="Calibri" pitchFamily="34" charset="0"/>
              </a:rPr>
              <a:t>T</a:t>
            </a:r>
          </a:p>
        </p:txBody>
      </p:sp>
      <p:cxnSp>
        <p:nvCxnSpPr>
          <p:cNvPr id="208" name="Straight Connector 207"/>
          <p:cNvCxnSpPr/>
          <p:nvPr/>
        </p:nvCxnSpPr>
        <p:spPr>
          <a:xfrm>
            <a:off x="4724400" y="5943600"/>
            <a:ext cx="1143000" cy="0"/>
          </a:xfrm>
          <a:prstGeom prst="line">
            <a:avLst/>
          </a:prstGeom>
          <a:ln>
            <a:prstDash val="sysDot"/>
          </a:ln>
        </p:spPr>
        <p:style>
          <a:lnRef idx="1">
            <a:schemeClr val="accent1"/>
          </a:lnRef>
          <a:fillRef idx="0">
            <a:schemeClr val="accent1"/>
          </a:fillRef>
          <a:effectRef idx="0">
            <a:schemeClr val="accent1"/>
          </a:effectRef>
          <a:fontRef idx="minor">
            <a:schemeClr val="tx1"/>
          </a:fontRef>
        </p:style>
      </p:cxnSp>
      <p:cxnSp>
        <p:nvCxnSpPr>
          <p:cNvPr id="210" name="Straight Connector 209"/>
          <p:cNvCxnSpPr/>
          <p:nvPr/>
        </p:nvCxnSpPr>
        <p:spPr>
          <a:xfrm rot="5400000">
            <a:off x="5067300" y="5600700"/>
            <a:ext cx="1143000" cy="0"/>
          </a:xfrm>
          <a:prstGeom prst="line">
            <a:avLst/>
          </a:prstGeom>
          <a:ln>
            <a:prstDash val="sysDot"/>
          </a:ln>
        </p:spPr>
        <p:style>
          <a:lnRef idx="1">
            <a:schemeClr val="accent1"/>
          </a:lnRef>
          <a:fillRef idx="0">
            <a:schemeClr val="accent1"/>
          </a:fillRef>
          <a:effectRef idx="0">
            <a:schemeClr val="accent1"/>
          </a:effectRef>
          <a:fontRef idx="minor">
            <a:schemeClr val="tx1"/>
          </a:fontRef>
        </p:style>
      </p:cxnSp>
      <p:cxnSp>
        <p:nvCxnSpPr>
          <p:cNvPr id="212" name="Straight Arrow Connector 211"/>
          <p:cNvCxnSpPr/>
          <p:nvPr/>
        </p:nvCxnSpPr>
        <p:spPr>
          <a:xfrm>
            <a:off x="1295400" y="1143000"/>
            <a:ext cx="914400" cy="1588"/>
          </a:xfrm>
          <a:prstGeom prst="straightConnector1">
            <a:avLst/>
          </a:prstGeom>
          <a:ln>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60479" name="TextBox 212"/>
          <p:cNvSpPr txBox="1">
            <a:spLocks noChangeArrowheads="1"/>
          </p:cNvSpPr>
          <p:nvPr/>
        </p:nvSpPr>
        <p:spPr bwMode="auto">
          <a:xfrm>
            <a:off x="1524000" y="914400"/>
            <a:ext cx="454025" cy="276225"/>
          </a:xfrm>
          <a:prstGeom prst="rect">
            <a:avLst/>
          </a:prstGeom>
          <a:noFill/>
          <a:ln w="9525">
            <a:noFill/>
            <a:miter lim="800000"/>
            <a:headEnd/>
            <a:tailEnd/>
          </a:ln>
        </p:spPr>
        <p:txBody>
          <a:bodyPr wrap="none">
            <a:spAutoFit/>
          </a:bodyPr>
          <a:lstStyle/>
          <a:p>
            <a:r>
              <a:rPr lang="en-US" sz="1200">
                <a:latin typeface="Calibri" pitchFamily="34" charset="0"/>
              </a:rPr>
              <a:t>b+1</a:t>
            </a:r>
          </a:p>
        </p:txBody>
      </p:sp>
      <p:cxnSp>
        <p:nvCxnSpPr>
          <p:cNvPr id="215" name="Straight Arrow Connector 214"/>
          <p:cNvCxnSpPr/>
          <p:nvPr/>
        </p:nvCxnSpPr>
        <p:spPr>
          <a:xfrm rot="5400000">
            <a:off x="229394" y="2056606"/>
            <a:ext cx="914400" cy="1588"/>
          </a:xfrm>
          <a:prstGeom prst="straightConnector1">
            <a:avLst/>
          </a:prstGeom>
          <a:ln>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60481" name="TextBox 215"/>
          <p:cNvSpPr txBox="1">
            <a:spLocks noChangeArrowheads="1"/>
          </p:cNvSpPr>
          <p:nvPr/>
        </p:nvSpPr>
        <p:spPr bwMode="auto">
          <a:xfrm rot="-5400000">
            <a:off x="368300" y="1905000"/>
            <a:ext cx="454025" cy="276225"/>
          </a:xfrm>
          <a:prstGeom prst="rect">
            <a:avLst/>
          </a:prstGeom>
          <a:noFill/>
          <a:ln w="9525">
            <a:noFill/>
            <a:miter lim="800000"/>
            <a:headEnd/>
            <a:tailEnd/>
          </a:ln>
        </p:spPr>
        <p:txBody>
          <a:bodyPr wrap="none">
            <a:spAutoFit/>
          </a:bodyPr>
          <a:lstStyle/>
          <a:p>
            <a:r>
              <a:rPr lang="en-US" sz="1200">
                <a:latin typeface="Calibri" pitchFamily="34" charset="0"/>
              </a:rPr>
              <a:t>b+1</a:t>
            </a:r>
          </a:p>
        </p:txBody>
      </p:sp>
      <p:cxnSp>
        <p:nvCxnSpPr>
          <p:cNvPr id="218" name="Straight Arrow Connector 217"/>
          <p:cNvCxnSpPr/>
          <p:nvPr/>
        </p:nvCxnSpPr>
        <p:spPr>
          <a:xfrm>
            <a:off x="1981200" y="1371600"/>
            <a:ext cx="228600" cy="1588"/>
          </a:xfrm>
          <a:prstGeom prst="straightConnector1">
            <a:avLst/>
          </a:prstGeom>
          <a:ln>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60483" name="TextBox 223"/>
          <p:cNvSpPr txBox="1">
            <a:spLocks noChangeArrowheads="1"/>
          </p:cNvSpPr>
          <p:nvPr/>
        </p:nvSpPr>
        <p:spPr bwMode="auto">
          <a:xfrm>
            <a:off x="1873250" y="1143000"/>
            <a:ext cx="454025" cy="276225"/>
          </a:xfrm>
          <a:prstGeom prst="rect">
            <a:avLst/>
          </a:prstGeom>
          <a:noFill/>
          <a:ln w="9525">
            <a:noFill/>
            <a:miter lim="800000"/>
            <a:headEnd/>
            <a:tailEnd/>
          </a:ln>
        </p:spPr>
        <p:txBody>
          <a:bodyPr wrap="none">
            <a:spAutoFit/>
          </a:bodyPr>
          <a:lstStyle/>
          <a:p>
            <a:r>
              <a:rPr lang="en-US" sz="1200">
                <a:latin typeface="Calibri" pitchFamily="34" charset="0"/>
              </a:rPr>
              <a:t>d+1</a:t>
            </a:r>
          </a:p>
        </p:txBody>
      </p:sp>
      <p:cxnSp>
        <p:nvCxnSpPr>
          <p:cNvPr id="226" name="Straight Arrow Connector 225"/>
          <p:cNvCxnSpPr/>
          <p:nvPr/>
        </p:nvCxnSpPr>
        <p:spPr>
          <a:xfrm rot="5400000" flipH="1" flipV="1">
            <a:off x="875507" y="2401094"/>
            <a:ext cx="228600" cy="1587"/>
          </a:xfrm>
          <a:prstGeom prst="straightConnector1">
            <a:avLst/>
          </a:prstGeom>
          <a:ln>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60485" name="TextBox 226"/>
          <p:cNvSpPr txBox="1">
            <a:spLocks noChangeArrowheads="1"/>
          </p:cNvSpPr>
          <p:nvPr/>
        </p:nvSpPr>
        <p:spPr bwMode="auto">
          <a:xfrm rot="-5400000">
            <a:off x="673100" y="2286000"/>
            <a:ext cx="454025" cy="276225"/>
          </a:xfrm>
          <a:prstGeom prst="rect">
            <a:avLst/>
          </a:prstGeom>
          <a:noFill/>
          <a:ln w="9525">
            <a:noFill/>
            <a:miter lim="800000"/>
            <a:headEnd/>
            <a:tailEnd/>
          </a:ln>
        </p:spPr>
        <p:txBody>
          <a:bodyPr wrap="none">
            <a:spAutoFit/>
          </a:bodyPr>
          <a:lstStyle/>
          <a:p>
            <a:r>
              <a:rPr lang="en-US" sz="1200">
                <a:latin typeface="Calibri" pitchFamily="34" charset="0"/>
              </a:rPr>
              <a:t>d+1</a:t>
            </a:r>
          </a:p>
        </p:txBody>
      </p:sp>
      <p:sp>
        <p:nvSpPr>
          <p:cNvPr id="60486" name="TextBox 227"/>
          <p:cNvSpPr txBox="1">
            <a:spLocks noChangeArrowheads="1"/>
          </p:cNvSpPr>
          <p:nvPr/>
        </p:nvSpPr>
        <p:spPr bwMode="auto">
          <a:xfrm>
            <a:off x="2514600" y="1524000"/>
            <a:ext cx="269875" cy="276225"/>
          </a:xfrm>
          <a:prstGeom prst="rect">
            <a:avLst/>
          </a:prstGeom>
          <a:noFill/>
          <a:ln w="9525">
            <a:noFill/>
            <a:miter lim="800000"/>
            <a:headEnd/>
            <a:tailEnd/>
          </a:ln>
        </p:spPr>
        <p:txBody>
          <a:bodyPr wrap="none">
            <a:spAutoFit/>
          </a:bodyPr>
          <a:lstStyle/>
          <a:p>
            <a:r>
              <a:rPr lang="en-US" sz="1200">
                <a:latin typeface="Calibri" pitchFamily="34" charset="0"/>
              </a:rPr>
              <a:t>c</a:t>
            </a:r>
          </a:p>
        </p:txBody>
      </p:sp>
      <p:sp>
        <p:nvSpPr>
          <p:cNvPr id="60487" name="TextBox 228"/>
          <p:cNvSpPr txBox="1">
            <a:spLocks noChangeArrowheads="1"/>
          </p:cNvSpPr>
          <p:nvPr/>
        </p:nvSpPr>
        <p:spPr bwMode="auto">
          <a:xfrm>
            <a:off x="1227138" y="2667000"/>
            <a:ext cx="269875" cy="276225"/>
          </a:xfrm>
          <a:prstGeom prst="rect">
            <a:avLst/>
          </a:prstGeom>
          <a:noFill/>
          <a:ln w="9525">
            <a:solidFill>
              <a:schemeClr val="bg1"/>
            </a:solidFill>
            <a:miter lim="800000"/>
            <a:headEnd/>
            <a:tailEnd/>
          </a:ln>
        </p:spPr>
        <p:txBody>
          <a:bodyPr wrap="none">
            <a:spAutoFit/>
          </a:bodyPr>
          <a:lstStyle/>
          <a:p>
            <a:r>
              <a:rPr lang="en-US" sz="1200">
                <a:latin typeface="Calibri" pitchFamily="34" charset="0"/>
              </a:rPr>
              <a:t>c</a:t>
            </a:r>
          </a:p>
        </p:txBody>
      </p:sp>
      <p:cxnSp>
        <p:nvCxnSpPr>
          <p:cNvPr id="231" name="Straight Arrow Connector 230"/>
          <p:cNvCxnSpPr/>
          <p:nvPr/>
        </p:nvCxnSpPr>
        <p:spPr>
          <a:xfrm rot="5400000">
            <a:off x="2439194" y="1675606"/>
            <a:ext cx="152400" cy="1588"/>
          </a:xfrm>
          <a:prstGeom prst="straightConnector1">
            <a:avLst/>
          </a:prstGeom>
          <a:ln w="3175">
            <a:solidFill>
              <a:schemeClr val="tx1"/>
            </a:solidFill>
            <a:headEnd type="diamond" w="med" len="med"/>
            <a:tailEnd type="diamond" w="med" len="med"/>
          </a:ln>
        </p:spPr>
        <p:style>
          <a:lnRef idx="1">
            <a:schemeClr val="accent1"/>
          </a:lnRef>
          <a:fillRef idx="0">
            <a:schemeClr val="accent1"/>
          </a:fillRef>
          <a:effectRef idx="0">
            <a:schemeClr val="accent1"/>
          </a:effectRef>
          <a:fontRef idx="minor">
            <a:schemeClr val="tx1"/>
          </a:fontRef>
        </p:style>
      </p:cxnSp>
      <p:cxnSp>
        <p:nvCxnSpPr>
          <p:cNvPr id="234" name="Straight Arrow Connector 233"/>
          <p:cNvCxnSpPr/>
          <p:nvPr/>
        </p:nvCxnSpPr>
        <p:spPr>
          <a:xfrm rot="10800000">
            <a:off x="1295400" y="2743200"/>
            <a:ext cx="152400" cy="1588"/>
          </a:xfrm>
          <a:prstGeom prst="straightConnector1">
            <a:avLst/>
          </a:prstGeom>
          <a:ln w="3175">
            <a:solidFill>
              <a:schemeClr val="tx1"/>
            </a:solidFill>
            <a:headEnd type="diamond" w="med" len="med"/>
            <a:tailEnd type="diamond" w="med" len="med"/>
          </a:ln>
        </p:spPr>
        <p:style>
          <a:lnRef idx="1">
            <a:schemeClr val="accent1"/>
          </a:lnRef>
          <a:fillRef idx="0">
            <a:schemeClr val="accent1"/>
          </a:fillRef>
          <a:effectRef idx="0">
            <a:schemeClr val="accent1"/>
          </a:effectRef>
          <a:fontRef idx="minor">
            <a:schemeClr val="tx1"/>
          </a:fontRef>
        </p:style>
      </p:cxnSp>
      <p:cxnSp>
        <p:nvCxnSpPr>
          <p:cNvPr id="240" name="Straight Arrow Connector 239"/>
          <p:cNvCxnSpPr/>
          <p:nvPr/>
        </p:nvCxnSpPr>
        <p:spPr>
          <a:xfrm>
            <a:off x="2895600" y="1965325"/>
            <a:ext cx="381000" cy="1588"/>
          </a:xfrm>
          <a:prstGeom prst="straightConnector1">
            <a:avLst/>
          </a:prstGeom>
          <a:ln>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60491" name="TextBox 240"/>
          <p:cNvSpPr txBox="1">
            <a:spLocks noChangeArrowheads="1"/>
          </p:cNvSpPr>
          <p:nvPr/>
        </p:nvSpPr>
        <p:spPr bwMode="auto">
          <a:xfrm>
            <a:off x="2895600" y="1706563"/>
            <a:ext cx="454025" cy="276225"/>
          </a:xfrm>
          <a:prstGeom prst="rect">
            <a:avLst/>
          </a:prstGeom>
          <a:noFill/>
          <a:ln w="9525">
            <a:noFill/>
            <a:miter lim="800000"/>
            <a:headEnd/>
            <a:tailEnd/>
          </a:ln>
        </p:spPr>
        <p:txBody>
          <a:bodyPr wrap="none">
            <a:spAutoFit/>
          </a:bodyPr>
          <a:lstStyle/>
          <a:p>
            <a:r>
              <a:rPr lang="en-US" sz="1200">
                <a:latin typeface="Calibri" pitchFamily="34" charset="0"/>
              </a:rPr>
              <a:t>d+c</a:t>
            </a:r>
          </a:p>
        </p:txBody>
      </p:sp>
      <p:cxnSp>
        <p:nvCxnSpPr>
          <p:cNvPr id="243" name="Straight Arrow Connector 242"/>
          <p:cNvCxnSpPr/>
          <p:nvPr/>
        </p:nvCxnSpPr>
        <p:spPr>
          <a:xfrm rot="5400000">
            <a:off x="3238501" y="2476500"/>
            <a:ext cx="381000" cy="3175"/>
          </a:xfrm>
          <a:prstGeom prst="straightConnector1">
            <a:avLst/>
          </a:prstGeom>
          <a:ln>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60493" name="TextBox 243"/>
          <p:cNvSpPr txBox="1">
            <a:spLocks noChangeArrowheads="1"/>
          </p:cNvSpPr>
          <p:nvPr/>
        </p:nvSpPr>
        <p:spPr bwMode="auto">
          <a:xfrm>
            <a:off x="3429000" y="2286000"/>
            <a:ext cx="454025" cy="276225"/>
          </a:xfrm>
          <a:prstGeom prst="rect">
            <a:avLst/>
          </a:prstGeom>
          <a:noFill/>
          <a:ln w="9525">
            <a:noFill/>
            <a:miter lim="800000"/>
            <a:headEnd/>
            <a:tailEnd/>
          </a:ln>
        </p:spPr>
        <p:txBody>
          <a:bodyPr wrap="none">
            <a:spAutoFit/>
          </a:bodyPr>
          <a:lstStyle/>
          <a:p>
            <a:r>
              <a:rPr lang="en-US" sz="1200">
                <a:latin typeface="Calibri" pitchFamily="34" charset="0"/>
              </a:rPr>
              <a:t>d+c</a:t>
            </a:r>
          </a:p>
        </p:txBody>
      </p:sp>
      <p:cxnSp>
        <p:nvCxnSpPr>
          <p:cNvPr id="245" name="Straight Arrow Connector 244"/>
          <p:cNvCxnSpPr/>
          <p:nvPr/>
        </p:nvCxnSpPr>
        <p:spPr>
          <a:xfrm rot="5400000">
            <a:off x="1486694" y="3390106"/>
            <a:ext cx="381000" cy="1588"/>
          </a:xfrm>
          <a:prstGeom prst="straightConnector1">
            <a:avLst/>
          </a:prstGeom>
          <a:ln>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246" name="Straight Arrow Connector 245"/>
          <p:cNvCxnSpPr/>
          <p:nvPr/>
        </p:nvCxnSpPr>
        <p:spPr>
          <a:xfrm>
            <a:off x="1981200" y="3733800"/>
            <a:ext cx="379413" cy="1588"/>
          </a:xfrm>
          <a:prstGeom prst="straightConnector1">
            <a:avLst/>
          </a:prstGeom>
          <a:ln>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60496" name="TextBox 247"/>
          <p:cNvSpPr txBox="1">
            <a:spLocks noChangeArrowheads="1"/>
          </p:cNvSpPr>
          <p:nvPr/>
        </p:nvSpPr>
        <p:spPr bwMode="auto">
          <a:xfrm>
            <a:off x="1295400" y="3276600"/>
            <a:ext cx="454025" cy="276225"/>
          </a:xfrm>
          <a:prstGeom prst="rect">
            <a:avLst/>
          </a:prstGeom>
          <a:noFill/>
          <a:ln w="9525">
            <a:noFill/>
            <a:miter lim="800000"/>
            <a:headEnd/>
            <a:tailEnd/>
          </a:ln>
        </p:spPr>
        <p:txBody>
          <a:bodyPr wrap="none">
            <a:spAutoFit/>
          </a:bodyPr>
          <a:lstStyle/>
          <a:p>
            <a:r>
              <a:rPr lang="en-US" sz="1200">
                <a:latin typeface="Calibri" pitchFamily="34" charset="0"/>
              </a:rPr>
              <a:t>d+c</a:t>
            </a:r>
          </a:p>
        </p:txBody>
      </p:sp>
      <p:sp>
        <p:nvSpPr>
          <p:cNvPr id="60497" name="TextBox 248"/>
          <p:cNvSpPr txBox="1">
            <a:spLocks noChangeArrowheads="1"/>
          </p:cNvSpPr>
          <p:nvPr/>
        </p:nvSpPr>
        <p:spPr bwMode="auto">
          <a:xfrm>
            <a:off x="1981200" y="3686175"/>
            <a:ext cx="454025" cy="276225"/>
          </a:xfrm>
          <a:prstGeom prst="rect">
            <a:avLst/>
          </a:prstGeom>
          <a:noFill/>
          <a:ln w="9525">
            <a:noFill/>
            <a:miter lim="800000"/>
            <a:headEnd/>
            <a:tailEnd/>
          </a:ln>
        </p:spPr>
        <p:txBody>
          <a:bodyPr wrap="none">
            <a:spAutoFit/>
          </a:bodyPr>
          <a:lstStyle/>
          <a:p>
            <a:r>
              <a:rPr lang="en-US" sz="1200">
                <a:latin typeface="Calibri" pitchFamily="34" charset="0"/>
              </a:rPr>
              <a:t>d+c</a:t>
            </a:r>
          </a:p>
        </p:txBody>
      </p:sp>
      <p:sp>
        <p:nvSpPr>
          <p:cNvPr id="60498" name="TextBox 105"/>
          <p:cNvSpPr txBox="1">
            <a:spLocks noChangeArrowheads="1"/>
          </p:cNvSpPr>
          <p:nvPr/>
        </p:nvSpPr>
        <p:spPr bwMode="auto">
          <a:xfrm>
            <a:off x="811213" y="171450"/>
            <a:ext cx="7512050" cy="585788"/>
          </a:xfrm>
          <a:prstGeom prst="rect">
            <a:avLst/>
          </a:prstGeom>
          <a:noFill/>
          <a:ln w="9525">
            <a:noFill/>
            <a:miter lim="800000"/>
            <a:headEnd/>
            <a:tailEnd/>
          </a:ln>
        </p:spPr>
        <p:txBody>
          <a:bodyPr>
            <a:spAutoFit/>
          </a:bodyPr>
          <a:lstStyle/>
          <a:p>
            <a:pPr algn="ctr"/>
            <a:r>
              <a:rPr lang="en-US" sz="3200" dirty="0" smtClean="0">
                <a:solidFill>
                  <a:schemeClr val="tx1"/>
                </a:solidFill>
                <a:latin typeface="Calibri" pitchFamily="34" charset="0"/>
              </a:rPr>
              <a:t>Successive </a:t>
            </a:r>
            <a:r>
              <a:rPr lang="en-US" sz="3200" dirty="0">
                <a:solidFill>
                  <a:schemeClr val="tx1"/>
                </a:solidFill>
                <a:latin typeface="Calibri" pitchFamily="34" charset="0"/>
              </a:rPr>
              <a:t>Band Reduction</a:t>
            </a:r>
          </a:p>
        </p:txBody>
      </p:sp>
      <p:sp>
        <p:nvSpPr>
          <p:cNvPr id="101" name="TextBox 100"/>
          <p:cNvSpPr txBox="1"/>
          <p:nvPr/>
        </p:nvSpPr>
        <p:spPr>
          <a:xfrm>
            <a:off x="685800" y="5181600"/>
            <a:ext cx="1956177" cy="1200329"/>
          </a:xfrm>
          <a:prstGeom prst="rect">
            <a:avLst/>
          </a:prstGeom>
          <a:noFill/>
        </p:spPr>
        <p:txBody>
          <a:bodyPr wrap="none" rtlCol="0">
            <a:spAutoFit/>
          </a:bodyPr>
          <a:lstStyle/>
          <a:p>
            <a:r>
              <a:rPr lang="en-US" dirty="0" smtClean="0"/>
              <a:t>b = bandwidth</a:t>
            </a:r>
          </a:p>
          <a:p>
            <a:r>
              <a:rPr lang="en-US" dirty="0" smtClean="0"/>
              <a:t>c = #columns</a:t>
            </a:r>
          </a:p>
          <a:p>
            <a:r>
              <a:rPr lang="en-US" dirty="0" smtClean="0"/>
              <a:t>d = #diagonals</a:t>
            </a:r>
          </a:p>
          <a:p>
            <a:r>
              <a:rPr lang="en-US" dirty="0" smtClean="0"/>
              <a:t>Constraint: </a:t>
            </a:r>
            <a:r>
              <a:rPr lang="en-US" dirty="0" err="1" smtClean="0"/>
              <a:t>c+d</a:t>
            </a:r>
            <a:r>
              <a:rPr lang="en-US" dirty="0" smtClean="0"/>
              <a:t> </a:t>
            </a:r>
            <a:r>
              <a:rPr lang="en-US" dirty="0" smtClean="0">
                <a:sym typeface="Symbol"/>
              </a:rPr>
              <a:t> b</a:t>
            </a:r>
            <a:endParaRPr lang="en-US" dirty="0"/>
          </a:p>
        </p:txBody>
      </p:sp>
    </p:spTree>
    <p:extLst>
      <p:ext uri="{BB962C8B-B14F-4D97-AF65-F5344CB8AC3E}">
        <p14:creationId xmlns:p14="http://schemas.microsoft.com/office/powerpoint/2010/main" val="83618804"/>
      </p:ext>
    </p:extLst>
  </p:cSld>
  <p:clrMapOvr>
    <a:masterClrMapping/>
  </p:clrMapOvr>
  <p:timing>
    <p:tnLst>
      <p:par>
        <p:cTn xmlns:p14="http://schemas.microsoft.com/office/powerpoint/2010/mai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07"/>
          <p:cNvGrpSpPr>
            <a:grpSpLocks/>
          </p:cNvGrpSpPr>
          <p:nvPr/>
        </p:nvGrpSpPr>
        <p:grpSpPr bwMode="auto">
          <a:xfrm>
            <a:off x="457200" y="914400"/>
            <a:ext cx="5530850" cy="5341938"/>
            <a:chOff x="990600" y="914400"/>
            <a:chExt cx="5530850" cy="5341938"/>
          </a:xfrm>
        </p:grpSpPr>
        <p:cxnSp>
          <p:nvCxnSpPr>
            <p:cNvPr id="5" name="Straight Connector 4"/>
            <p:cNvCxnSpPr/>
            <p:nvPr/>
          </p:nvCxnSpPr>
          <p:spPr>
            <a:xfrm>
              <a:off x="1828800" y="1600200"/>
              <a:ext cx="9144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rot="16200000" flipH="1">
              <a:off x="2743200" y="1600200"/>
              <a:ext cx="3657600" cy="36576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rot="5400000">
              <a:off x="5943600" y="5715000"/>
              <a:ext cx="9144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rot="10800000">
              <a:off x="5486400" y="6172200"/>
              <a:ext cx="9144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rot="16200000" flipV="1">
              <a:off x="1828800" y="2514600"/>
              <a:ext cx="3657600" cy="36576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rot="5400000" flipH="1" flipV="1">
              <a:off x="1828800" y="2514600"/>
              <a:ext cx="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1828800" y="2514600"/>
              <a:ext cx="914400" cy="9144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rot="5400000">
              <a:off x="1371600" y="2057400"/>
              <a:ext cx="9144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rot="16200000" flipH="1">
              <a:off x="1828800" y="2286000"/>
              <a:ext cx="152400" cy="15240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rot="5400000">
              <a:off x="1866900" y="2552700"/>
              <a:ext cx="228600" cy="0"/>
            </a:xfrm>
            <a:prstGeom prst="line">
              <a:avLst/>
            </a:prstGeom>
            <a:ln>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a:off x="1981200" y="2667000"/>
              <a:ext cx="1828800" cy="0"/>
            </a:xfrm>
            <a:prstGeom prst="line">
              <a:avLst/>
            </a:prstGeom>
            <a:ln>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rot="16200000" flipH="1">
              <a:off x="2514600" y="1600200"/>
              <a:ext cx="152400" cy="15240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a:xfrm>
              <a:off x="2667000" y="1752600"/>
              <a:ext cx="228600"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a:xfrm rot="5400000">
              <a:off x="1981200" y="2667000"/>
              <a:ext cx="1828800" cy="0"/>
            </a:xfrm>
            <a:prstGeom prst="line">
              <a:avLst/>
            </a:prstGeom>
            <a:ln>
              <a:prstDash val="sysDot"/>
            </a:ln>
          </p:spPr>
          <p:style>
            <a:lnRef idx="1">
              <a:schemeClr val="accent1"/>
            </a:lnRef>
            <a:fillRef idx="0">
              <a:schemeClr val="accent1"/>
            </a:fillRef>
            <a:effectRef idx="0">
              <a:schemeClr val="accent1"/>
            </a:effectRef>
            <a:fontRef idx="minor">
              <a:schemeClr val="tx1"/>
            </a:fontRef>
          </p:style>
        </p:cxnSp>
        <p:cxnSp>
          <p:nvCxnSpPr>
            <p:cNvPr id="68" name="Straight Connector 67"/>
            <p:cNvCxnSpPr/>
            <p:nvPr/>
          </p:nvCxnSpPr>
          <p:spPr>
            <a:xfrm>
              <a:off x="2514600" y="3200400"/>
              <a:ext cx="1828800" cy="0"/>
            </a:xfrm>
            <a:prstGeom prst="line">
              <a:avLst/>
            </a:prstGeom>
            <a:ln>
              <a:prstDash val="sysDot"/>
            </a:ln>
          </p:spPr>
          <p:style>
            <a:lnRef idx="1">
              <a:schemeClr val="accent1"/>
            </a:lnRef>
            <a:fillRef idx="0">
              <a:schemeClr val="accent1"/>
            </a:fillRef>
            <a:effectRef idx="0">
              <a:schemeClr val="accent1"/>
            </a:effectRef>
            <a:fontRef idx="minor">
              <a:schemeClr val="tx1"/>
            </a:fontRef>
          </p:style>
        </p:cxnSp>
        <p:cxnSp>
          <p:nvCxnSpPr>
            <p:cNvPr id="69" name="Straight Connector 68"/>
            <p:cNvCxnSpPr/>
            <p:nvPr/>
          </p:nvCxnSpPr>
          <p:spPr>
            <a:xfrm>
              <a:off x="2895600" y="3581400"/>
              <a:ext cx="1828800" cy="0"/>
            </a:xfrm>
            <a:prstGeom prst="line">
              <a:avLst/>
            </a:prstGeom>
            <a:ln>
              <a:prstDash val="sysDot"/>
            </a:ln>
          </p:spPr>
          <p:style>
            <a:lnRef idx="1">
              <a:schemeClr val="accent1"/>
            </a:lnRef>
            <a:fillRef idx="0">
              <a:schemeClr val="accent1"/>
            </a:fillRef>
            <a:effectRef idx="0">
              <a:schemeClr val="accent1"/>
            </a:effectRef>
            <a:fontRef idx="minor">
              <a:schemeClr val="tx1"/>
            </a:fontRef>
          </p:style>
        </p:cxnSp>
        <p:cxnSp>
          <p:nvCxnSpPr>
            <p:cNvPr id="70" name="Straight Connector 69"/>
            <p:cNvCxnSpPr/>
            <p:nvPr/>
          </p:nvCxnSpPr>
          <p:spPr>
            <a:xfrm rot="5400000">
              <a:off x="2514600" y="3200400"/>
              <a:ext cx="1828800" cy="0"/>
            </a:xfrm>
            <a:prstGeom prst="line">
              <a:avLst/>
            </a:prstGeom>
            <a:ln>
              <a:prstDash val="sysDot"/>
            </a:ln>
          </p:spPr>
          <p:style>
            <a:lnRef idx="1">
              <a:schemeClr val="accent1"/>
            </a:lnRef>
            <a:fillRef idx="0">
              <a:schemeClr val="accent1"/>
            </a:fillRef>
            <a:effectRef idx="0">
              <a:schemeClr val="accent1"/>
            </a:effectRef>
            <a:fontRef idx="minor">
              <a:schemeClr val="tx1"/>
            </a:fontRef>
          </p:style>
        </p:cxnSp>
        <p:cxnSp>
          <p:nvCxnSpPr>
            <p:cNvPr id="71" name="Straight Connector 70"/>
            <p:cNvCxnSpPr/>
            <p:nvPr/>
          </p:nvCxnSpPr>
          <p:spPr>
            <a:xfrm rot="5400000">
              <a:off x="2895600" y="3581400"/>
              <a:ext cx="1828800" cy="0"/>
            </a:xfrm>
            <a:prstGeom prst="line">
              <a:avLst/>
            </a:prstGeom>
            <a:ln>
              <a:prstDash val="sysDot"/>
            </a:ln>
          </p:spPr>
          <p:style>
            <a:lnRef idx="1">
              <a:schemeClr val="accent1"/>
            </a:lnRef>
            <a:fillRef idx="0">
              <a:schemeClr val="accent1"/>
            </a:fillRef>
            <a:effectRef idx="0">
              <a:schemeClr val="accent1"/>
            </a:effectRef>
            <a:fontRef idx="minor">
              <a:schemeClr val="tx1"/>
            </a:fontRef>
          </p:style>
        </p:cxnSp>
        <p:cxnSp>
          <p:nvCxnSpPr>
            <p:cNvPr id="80" name="Straight Connector 79"/>
            <p:cNvCxnSpPr/>
            <p:nvPr/>
          </p:nvCxnSpPr>
          <p:spPr>
            <a:xfrm>
              <a:off x="3429000" y="4114800"/>
              <a:ext cx="1828800" cy="0"/>
            </a:xfrm>
            <a:prstGeom prst="line">
              <a:avLst/>
            </a:prstGeom>
            <a:ln>
              <a:prstDash val="sysDot"/>
            </a:ln>
          </p:spPr>
          <p:style>
            <a:lnRef idx="1">
              <a:schemeClr val="accent1"/>
            </a:lnRef>
            <a:fillRef idx="0">
              <a:schemeClr val="accent1"/>
            </a:fillRef>
            <a:effectRef idx="0">
              <a:schemeClr val="accent1"/>
            </a:effectRef>
            <a:fontRef idx="minor">
              <a:schemeClr val="tx1"/>
            </a:fontRef>
          </p:style>
        </p:cxnSp>
        <p:cxnSp>
          <p:nvCxnSpPr>
            <p:cNvPr id="81" name="Straight Connector 80"/>
            <p:cNvCxnSpPr/>
            <p:nvPr/>
          </p:nvCxnSpPr>
          <p:spPr>
            <a:xfrm>
              <a:off x="3810000" y="4495800"/>
              <a:ext cx="1828800" cy="0"/>
            </a:xfrm>
            <a:prstGeom prst="line">
              <a:avLst/>
            </a:prstGeom>
            <a:ln>
              <a:prstDash val="sysDot"/>
            </a:ln>
          </p:spPr>
          <p:style>
            <a:lnRef idx="1">
              <a:schemeClr val="accent1"/>
            </a:lnRef>
            <a:fillRef idx="0">
              <a:schemeClr val="accent1"/>
            </a:fillRef>
            <a:effectRef idx="0">
              <a:schemeClr val="accent1"/>
            </a:effectRef>
            <a:fontRef idx="minor">
              <a:schemeClr val="tx1"/>
            </a:fontRef>
          </p:style>
        </p:cxnSp>
        <p:cxnSp>
          <p:nvCxnSpPr>
            <p:cNvPr id="82" name="Straight Connector 81"/>
            <p:cNvCxnSpPr/>
            <p:nvPr/>
          </p:nvCxnSpPr>
          <p:spPr>
            <a:xfrm rot="5400000">
              <a:off x="3810000" y="4495800"/>
              <a:ext cx="1828800" cy="0"/>
            </a:xfrm>
            <a:prstGeom prst="line">
              <a:avLst/>
            </a:prstGeom>
            <a:ln>
              <a:prstDash val="sysDot"/>
            </a:ln>
          </p:spPr>
          <p:style>
            <a:lnRef idx="1">
              <a:schemeClr val="accent1"/>
            </a:lnRef>
            <a:fillRef idx="0">
              <a:schemeClr val="accent1"/>
            </a:fillRef>
            <a:effectRef idx="0">
              <a:schemeClr val="accent1"/>
            </a:effectRef>
            <a:fontRef idx="minor">
              <a:schemeClr val="tx1"/>
            </a:fontRef>
          </p:style>
        </p:cxnSp>
        <p:cxnSp>
          <p:nvCxnSpPr>
            <p:cNvPr id="83" name="Straight Connector 82"/>
            <p:cNvCxnSpPr/>
            <p:nvPr/>
          </p:nvCxnSpPr>
          <p:spPr>
            <a:xfrm rot="5400000">
              <a:off x="3429000" y="4114800"/>
              <a:ext cx="1828800" cy="0"/>
            </a:xfrm>
            <a:prstGeom prst="line">
              <a:avLst/>
            </a:prstGeom>
            <a:ln>
              <a:prstDash val="sysDot"/>
            </a:ln>
          </p:spPr>
          <p:style>
            <a:lnRef idx="1">
              <a:schemeClr val="accent1"/>
            </a:lnRef>
            <a:fillRef idx="0">
              <a:schemeClr val="accent1"/>
            </a:fillRef>
            <a:effectRef idx="0">
              <a:schemeClr val="accent1"/>
            </a:effectRef>
            <a:fontRef idx="minor">
              <a:schemeClr val="tx1"/>
            </a:fontRef>
          </p:style>
        </p:cxnSp>
        <p:cxnSp>
          <p:nvCxnSpPr>
            <p:cNvPr id="92" name="Straight Connector 91"/>
            <p:cNvCxnSpPr/>
            <p:nvPr/>
          </p:nvCxnSpPr>
          <p:spPr>
            <a:xfrm>
              <a:off x="4343400" y="5029200"/>
              <a:ext cx="1828800" cy="0"/>
            </a:xfrm>
            <a:prstGeom prst="line">
              <a:avLst/>
            </a:prstGeom>
            <a:ln>
              <a:prstDash val="sysDot"/>
            </a:ln>
          </p:spPr>
          <p:style>
            <a:lnRef idx="1">
              <a:schemeClr val="accent1"/>
            </a:lnRef>
            <a:fillRef idx="0">
              <a:schemeClr val="accent1"/>
            </a:fillRef>
            <a:effectRef idx="0">
              <a:schemeClr val="accent1"/>
            </a:effectRef>
            <a:fontRef idx="minor">
              <a:schemeClr val="tx1"/>
            </a:fontRef>
          </p:style>
        </p:cxnSp>
        <p:cxnSp>
          <p:nvCxnSpPr>
            <p:cNvPr id="93" name="Straight Connector 92"/>
            <p:cNvCxnSpPr/>
            <p:nvPr/>
          </p:nvCxnSpPr>
          <p:spPr>
            <a:xfrm rot="5400000">
              <a:off x="4343400" y="5029200"/>
              <a:ext cx="1828800" cy="0"/>
            </a:xfrm>
            <a:prstGeom prst="line">
              <a:avLst/>
            </a:prstGeom>
            <a:ln>
              <a:prstDash val="sysDot"/>
            </a:ln>
          </p:spPr>
          <p:style>
            <a:lnRef idx="1">
              <a:schemeClr val="accent1"/>
            </a:lnRef>
            <a:fillRef idx="0">
              <a:schemeClr val="accent1"/>
            </a:fillRef>
            <a:effectRef idx="0">
              <a:schemeClr val="accent1"/>
            </a:effectRef>
            <a:fontRef idx="minor">
              <a:schemeClr val="tx1"/>
            </a:fontRef>
          </p:style>
        </p:cxnSp>
        <p:cxnSp>
          <p:nvCxnSpPr>
            <p:cNvPr id="95" name="Straight Connector 94"/>
            <p:cNvCxnSpPr/>
            <p:nvPr/>
          </p:nvCxnSpPr>
          <p:spPr>
            <a:xfrm>
              <a:off x="4724400" y="5410200"/>
              <a:ext cx="1676400" cy="0"/>
            </a:xfrm>
            <a:prstGeom prst="line">
              <a:avLst/>
            </a:prstGeom>
            <a:ln>
              <a:prstDash val="sysDot"/>
            </a:ln>
          </p:spPr>
          <p:style>
            <a:lnRef idx="1">
              <a:schemeClr val="accent1"/>
            </a:lnRef>
            <a:fillRef idx="0">
              <a:schemeClr val="accent1"/>
            </a:fillRef>
            <a:effectRef idx="0">
              <a:schemeClr val="accent1"/>
            </a:effectRef>
            <a:fontRef idx="minor">
              <a:schemeClr val="tx1"/>
            </a:fontRef>
          </p:style>
        </p:cxnSp>
        <p:cxnSp>
          <p:nvCxnSpPr>
            <p:cNvPr id="97" name="Straight Connector 96"/>
            <p:cNvCxnSpPr/>
            <p:nvPr/>
          </p:nvCxnSpPr>
          <p:spPr>
            <a:xfrm rot="5400000">
              <a:off x="4800600" y="5334000"/>
              <a:ext cx="1676400" cy="0"/>
            </a:xfrm>
            <a:prstGeom prst="line">
              <a:avLst/>
            </a:prstGeom>
            <a:ln>
              <a:prstDash val="sysDot"/>
            </a:ln>
          </p:spPr>
          <p:style>
            <a:lnRef idx="1">
              <a:schemeClr val="accent1"/>
            </a:lnRef>
            <a:fillRef idx="0">
              <a:schemeClr val="accent1"/>
            </a:fillRef>
            <a:effectRef idx="0">
              <a:schemeClr val="accent1"/>
            </a:effectRef>
            <a:fontRef idx="minor">
              <a:schemeClr val="tx1"/>
            </a:fontRef>
          </p:style>
        </p:cxnSp>
        <p:cxnSp>
          <p:nvCxnSpPr>
            <p:cNvPr id="99" name="Straight Connector 98"/>
            <p:cNvCxnSpPr/>
            <p:nvPr/>
          </p:nvCxnSpPr>
          <p:spPr>
            <a:xfrm>
              <a:off x="6172200" y="5029200"/>
              <a:ext cx="228600"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00" name="Straight Connector 99"/>
            <p:cNvCxnSpPr/>
            <p:nvPr/>
          </p:nvCxnSpPr>
          <p:spPr>
            <a:xfrm>
              <a:off x="5257800" y="6172200"/>
              <a:ext cx="228600"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02" name="Straight Connector 101"/>
            <p:cNvCxnSpPr/>
            <p:nvPr/>
          </p:nvCxnSpPr>
          <p:spPr>
            <a:xfrm rot="5400000">
              <a:off x="6286500" y="5143500"/>
              <a:ext cx="228600"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03" name="Straight Connector 102"/>
            <p:cNvCxnSpPr/>
            <p:nvPr/>
          </p:nvCxnSpPr>
          <p:spPr>
            <a:xfrm rot="5400000">
              <a:off x="5143500" y="6057900"/>
              <a:ext cx="228600"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10" name="Straight Connector 109"/>
            <p:cNvCxnSpPr/>
            <p:nvPr/>
          </p:nvCxnSpPr>
          <p:spPr>
            <a:xfrm>
              <a:off x="1828800" y="2286000"/>
              <a:ext cx="1600200" cy="0"/>
            </a:xfrm>
            <a:prstGeom prst="line">
              <a:avLst/>
            </a:prstGeom>
            <a:ln>
              <a:prstDash val="sysDot"/>
            </a:ln>
          </p:spPr>
          <p:style>
            <a:lnRef idx="1">
              <a:schemeClr val="accent1"/>
            </a:lnRef>
            <a:fillRef idx="0">
              <a:schemeClr val="accent1"/>
            </a:fillRef>
            <a:effectRef idx="0">
              <a:schemeClr val="accent1"/>
            </a:effectRef>
            <a:fontRef idx="minor">
              <a:schemeClr val="tx1"/>
            </a:fontRef>
          </p:style>
        </p:cxnSp>
        <p:cxnSp>
          <p:nvCxnSpPr>
            <p:cNvPr id="112" name="Straight Connector 111"/>
            <p:cNvCxnSpPr/>
            <p:nvPr/>
          </p:nvCxnSpPr>
          <p:spPr>
            <a:xfrm rot="5400000">
              <a:off x="1714500" y="2400300"/>
              <a:ext cx="1600200" cy="0"/>
            </a:xfrm>
            <a:prstGeom prst="line">
              <a:avLst/>
            </a:prstGeom>
            <a:ln>
              <a:prstDash val="sysDot"/>
            </a:ln>
          </p:spPr>
          <p:style>
            <a:lnRef idx="1">
              <a:schemeClr val="accent1"/>
            </a:lnRef>
            <a:fillRef idx="0">
              <a:schemeClr val="accent1"/>
            </a:fillRef>
            <a:effectRef idx="0">
              <a:schemeClr val="accent1"/>
            </a:effectRef>
            <a:fontRef idx="minor">
              <a:schemeClr val="tx1"/>
            </a:fontRef>
          </p:style>
        </p:cxnSp>
        <p:grpSp>
          <p:nvGrpSpPr>
            <p:cNvPr id="3" name="Group 135"/>
            <p:cNvGrpSpPr>
              <a:grpSpLocks/>
            </p:cNvGrpSpPr>
            <p:nvPr/>
          </p:nvGrpSpPr>
          <p:grpSpPr bwMode="auto">
            <a:xfrm>
              <a:off x="3429000" y="2286000"/>
              <a:ext cx="381000" cy="381000"/>
              <a:chOff x="3733800" y="1981200"/>
              <a:chExt cx="381000" cy="381000"/>
            </a:xfrm>
          </p:grpSpPr>
          <p:cxnSp>
            <p:nvCxnSpPr>
              <p:cNvPr id="129" name="Straight Connector 128"/>
              <p:cNvCxnSpPr/>
              <p:nvPr/>
            </p:nvCxnSpPr>
            <p:spPr>
              <a:xfrm>
                <a:off x="3733800" y="1981200"/>
                <a:ext cx="228600"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31" name="Straight Connector 130"/>
              <p:cNvCxnSpPr/>
              <p:nvPr/>
            </p:nvCxnSpPr>
            <p:spPr>
              <a:xfrm rot="5400000" flipH="1" flipV="1">
                <a:off x="4000500" y="2247900"/>
                <a:ext cx="228600" cy="0"/>
              </a:xfrm>
              <a:prstGeom prst="line">
                <a:avLst/>
              </a:prstGeom>
              <a:ln>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133" name="Straight Connector 132"/>
              <p:cNvCxnSpPr/>
              <p:nvPr/>
            </p:nvCxnSpPr>
            <p:spPr>
              <a:xfrm rot="16200000" flipH="1">
                <a:off x="3962400" y="1981200"/>
                <a:ext cx="152400" cy="152400"/>
              </a:xfrm>
              <a:prstGeom prst="line">
                <a:avLst/>
              </a:prstGeom>
              <a:ln>
                <a:prstDash val="dash"/>
              </a:ln>
            </p:spPr>
            <p:style>
              <a:lnRef idx="1">
                <a:schemeClr val="accent1"/>
              </a:lnRef>
              <a:fillRef idx="0">
                <a:schemeClr val="accent1"/>
              </a:fillRef>
              <a:effectRef idx="0">
                <a:schemeClr val="accent1"/>
              </a:effectRef>
              <a:fontRef idx="minor">
                <a:schemeClr val="tx1"/>
              </a:fontRef>
            </p:style>
          </p:cxnSp>
        </p:grpSp>
        <p:grpSp>
          <p:nvGrpSpPr>
            <p:cNvPr id="4" name="Group 140"/>
            <p:cNvGrpSpPr>
              <a:grpSpLocks/>
            </p:cNvGrpSpPr>
            <p:nvPr/>
          </p:nvGrpSpPr>
          <p:grpSpPr bwMode="auto">
            <a:xfrm rot="10800000">
              <a:off x="2514600" y="3200400"/>
              <a:ext cx="381000" cy="381000"/>
              <a:chOff x="3733800" y="1981200"/>
              <a:chExt cx="381000" cy="381000"/>
            </a:xfrm>
          </p:grpSpPr>
          <p:cxnSp>
            <p:nvCxnSpPr>
              <p:cNvPr id="142" name="Straight Connector 141"/>
              <p:cNvCxnSpPr/>
              <p:nvPr/>
            </p:nvCxnSpPr>
            <p:spPr>
              <a:xfrm>
                <a:off x="3740150" y="1981200"/>
                <a:ext cx="228600"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43" name="Straight Connector 142"/>
              <p:cNvCxnSpPr/>
              <p:nvPr/>
            </p:nvCxnSpPr>
            <p:spPr>
              <a:xfrm rot="5400000" flipH="1" flipV="1">
                <a:off x="4006850" y="2247900"/>
                <a:ext cx="228600" cy="0"/>
              </a:xfrm>
              <a:prstGeom prst="line">
                <a:avLst/>
              </a:prstGeom>
              <a:ln>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144" name="Straight Connector 143"/>
              <p:cNvCxnSpPr/>
              <p:nvPr/>
            </p:nvCxnSpPr>
            <p:spPr>
              <a:xfrm rot="16200000" flipH="1">
                <a:off x="3968750" y="1981200"/>
                <a:ext cx="152400" cy="152400"/>
              </a:xfrm>
              <a:prstGeom prst="line">
                <a:avLst/>
              </a:prstGeom>
              <a:ln>
                <a:prstDash val="dash"/>
              </a:ln>
            </p:spPr>
            <p:style>
              <a:lnRef idx="1">
                <a:schemeClr val="accent1"/>
              </a:lnRef>
              <a:fillRef idx="0">
                <a:schemeClr val="accent1"/>
              </a:fillRef>
              <a:effectRef idx="0">
                <a:schemeClr val="accent1"/>
              </a:effectRef>
              <a:fontRef idx="minor">
                <a:schemeClr val="tx1"/>
              </a:fontRef>
            </p:style>
          </p:cxnSp>
        </p:grpSp>
        <p:grpSp>
          <p:nvGrpSpPr>
            <p:cNvPr id="6" name="Group 154"/>
            <p:cNvGrpSpPr>
              <a:grpSpLocks/>
            </p:cNvGrpSpPr>
            <p:nvPr/>
          </p:nvGrpSpPr>
          <p:grpSpPr bwMode="auto">
            <a:xfrm>
              <a:off x="4343400" y="3200400"/>
              <a:ext cx="381000" cy="381000"/>
              <a:chOff x="3733800" y="1981200"/>
              <a:chExt cx="381000" cy="381000"/>
            </a:xfrm>
          </p:grpSpPr>
          <p:cxnSp>
            <p:nvCxnSpPr>
              <p:cNvPr id="156" name="Straight Connector 155"/>
              <p:cNvCxnSpPr/>
              <p:nvPr/>
            </p:nvCxnSpPr>
            <p:spPr>
              <a:xfrm>
                <a:off x="3733800" y="1981200"/>
                <a:ext cx="228600"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57" name="Straight Connector 156"/>
              <p:cNvCxnSpPr/>
              <p:nvPr/>
            </p:nvCxnSpPr>
            <p:spPr>
              <a:xfrm rot="5400000" flipH="1" flipV="1">
                <a:off x="4000500" y="2247900"/>
                <a:ext cx="228600" cy="0"/>
              </a:xfrm>
              <a:prstGeom prst="line">
                <a:avLst/>
              </a:prstGeom>
              <a:ln>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158" name="Straight Connector 157"/>
              <p:cNvCxnSpPr/>
              <p:nvPr/>
            </p:nvCxnSpPr>
            <p:spPr>
              <a:xfrm rot="16200000" flipH="1">
                <a:off x="3962400" y="1981200"/>
                <a:ext cx="152400" cy="152400"/>
              </a:xfrm>
              <a:prstGeom prst="line">
                <a:avLst/>
              </a:prstGeom>
              <a:ln>
                <a:prstDash val="dash"/>
              </a:ln>
            </p:spPr>
            <p:style>
              <a:lnRef idx="1">
                <a:schemeClr val="accent1"/>
              </a:lnRef>
              <a:fillRef idx="0">
                <a:schemeClr val="accent1"/>
              </a:fillRef>
              <a:effectRef idx="0">
                <a:schemeClr val="accent1"/>
              </a:effectRef>
              <a:fontRef idx="minor">
                <a:schemeClr val="tx1"/>
              </a:fontRef>
            </p:style>
          </p:cxnSp>
        </p:grpSp>
        <p:grpSp>
          <p:nvGrpSpPr>
            <p:cNvPr id="7" name="Group 158"/>
            <p:cNvGrpSpPr>
              <a:grpSpLocks/>
            </p:cNvGrpSpPr>
            <p:nvPr/>
          </p:nvGrpSpPr>
          <p:grpSpPr bwMode="auto">
            <a:xfrm rot="10800000">
              <a:off x="3429000" y="4114800"/>
              <a:ext cx="381000" cy="381000"/>
              <a:chOff x="3733800" y="1981200"/>
              <a:chExt cx="381000" cy="381000"/>
            </a:xfrm>
          </p:grpSpPr>
          <p:cxnSp>
            <p:nvCxnSpPr>
              <p:cNvPr id="160" name="Straight Connector 159"/>
              <p:cNvCxnSpPr/>
              <p:nvPr/>
            </p:nvCxnSpPr>
            <p:spPr>
              <a:xfrm>
                <a:off x="3740150" y="1981200"/>
                <a:ext cx="228600"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61" name="Straight Connector 160"/>
              <p:cNvCxnSpPr/>
              <p:nvPr/>
            </p:nvCxnSpPr>
            <p:spPr>
              <a:xfrm rot="5400000" flipH="1" flipV="1">
                <a:off x="4006850" y="2247900"/>
                <a:ext cx="228600" cy="0"/>
              </a:xfrm>
              <a:prstGeom prst="line">
                <a:avLst/>
              </a:prstGeom>
              <a:ln>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162" name="Straight Connector 161"/>
              <p:cNvCxnSpPr/>
              <p:nvPr/>
            </p:nvCxnSpPr>
            <p:spPr>
              <a:xfrm rot="16200000" flipH="1">
                <a:off x="3968750" y="1981200"/>
                <a:ext cx="152400" cy="152400"/>
              </a:xfrm>
              <a:prstGeom prst="line">
                <a:avLst/>
              </a:prstGeom>
              <a:ln>
                <a:prstDash val="dash"/>
              </a:ln>
            </p:spPr>
            <p:style>
              <a:lnRef idx="1">
                <a:schemeClr val="accent1"/>
              </a:lnRef>
              <a:fillRef idx="0">
                <a:schemeClr val="accent1"/>
              </a:fillRef>
              <a:effectRef idx="0">
                <a:schemeClr val="accent1"/>
              </a:effectRef>
              <a:fontRef idx="minor">
                <a:schemeClr val="tx1"/>
              </a:fontRef>
            </p:style>
          </p:cxnSp>
        </p:grpSp>
        <p:grpSp>
          <p:nvGrpSpPr>
            <p:cNvPr id="8" name="Group 162"/>
            <p:cNvGrpSpPr>
              <a:grpSpLocks/>
            </p:cNvGrpSpPr>
            <p:nvPr/>
          </p:nvGrpSpPr>
          <p:grpSpPr bwMode="auto">
            <a:xfrm rot="10800000">
              <a:off x="4343400" y="5029200"/>
              <a:ext cx="381000" cy="381000"/>
              <a:chOff x="3733800" y="1981200"/>
              <a:chExt cx="381000" cy="381000"/>
            </a:xfrm>
          </p:grpSpPr>
          <p:cxnSp>
            <p:nvCxnSpPr>
              <p:cNvPr id="164" name="Straight Connector 163"/>
              <p:cNvCxnSpPr/>
              <p:nvPr/>
            </p:nvCxnSpPr>
            <p:spPr>
              <a:xfrm>
                <a:off x="3740150" y="1981200"/>
                <a:ext cx="228600"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65" name="Straight Connector 164"/>
              <p:cNvCxnSpPr/>
              <p:nvPr/>
            </p:nvCxnSpPr>
            <p:spPr>
              <a:xfrm rot="5400000" flipH="1" flipV="1">
                <a:off x="4006850" y="2247900"/>
                <a:ext cx="228600" cy="0"/>
              </a:xfrm>
              <a:prstGeom prst="line">
                <a:avLst/>
              </a:prstGeom>
              <a:ln>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166" name="Straight Connector 165"/>
              <p:cNvCxnSpPr/>
              <p:nvPr/>
            </p:nvCxnSpPr>
            <p:spPr>
              <a:xfrm rot="16200000" flipH="1">
                <a:off x="3968750" y="1981200"/>
                <a:ext cx="152400" cy="152400"/>
              </a:xfrm>
              <a:prstGeom prst="line">
                <a:avLst/>
              </a:prstGeom>
              <a:ln>
                <a:prstDash val="dash"/>
              </a:ln>
            </p:spPr>
            <p:style>
              <a:lnRef idx="1">
                <a:schemeClr val="accent1"/>
              </a:lnRef>
              <a:fillRef idx="0">
                <a:schemeClr val="accent1"/>
              </a:fillRef>
              <a:effectRef idx="0">
                <a:schemeClr val="accent1"/>
              </a:effectRef>
              <a:fontRef idx="minor">
                <a:schemeClr val="tx1"/>
              </a:fontRef>
            </p:style>
          </p:cxnSp>
        </p:grpSp>
        <p:grpSp>
          <p:nvGrpSpPr>
            <p:cNvPr id="10" name="Group 166"/>
            <p:cNvGrpSpPr>
              <a:grpSpLocks/>
            </p:cNvGrpSpPr>
            <p:nvPr/>
          </p:nvGrpSpPr>
          <p:grpSpPr bwMode="auto">
            <a:xfrm>
              <a:off x="5257800" y="4114800"/>
              <a:ext cx="381000" cy="381000"/>
              <a:chOff x="3733800" y="1981200"/>
              <a:chExt cx="381000" cy="381000"/>
            </a:xfrm>
          </p:grpSpPr>
          <p:cxnSp>
            <p:nvCxnSpPr>
              <p:cNvPr id="168" name="Straight Connector 167"/>
              <p:cNvCxnSpPr/>
              <p:nvPr/>
            </p:nvCxnSpPr>
            <p:spPr>
              <a:xfrm>
                <a:off x="3733800" y="1981200"/>
                <a:ext cx="228600"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69" name="Straight Connector 168"/>
              <p:cNvCxnSpPr/>
              <p:nvPr/>
            </p:nvCxnSpPr>
            <p:spPr>
              <a:xfrm rot="5400000" flipH="1" flipV="1">
                <a:off x="4000500" y="2247900"/>
                <a:ext cx="228600" cy="0"/>
              </a:xfrm>
              <a:prstGeom prst="line">
                <a:avLst/>
              </a:prstGeom>
              <a:ln>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170" name="Straight Connector 169"/>
              <p:cNvCxnSpPr/>
              <p:nvPr/>
            </p:nvCxnSpPr>
            <p:spPr>
              <a:xfrm rot="16200000" flipH="1">
                <a:off x="3962400" y="1981200"/>
                <a:ext cx="152400" cy="152400"/>
              </a:xfrm>
              <a:prstGeom prst="line">
                <a:avLst/>
              </a:prstGeom>
              <a:ln>
                <a:prstDash val="dash"/>
              </a:ln>
            </p:spPr>
            <p:style>
              <a:lnRef idx="1">
                <a:schemeClr val="accent1"/>
              </a:lnRef>
              <a:fillRef idx="0">
                <a:schemeClr val="accent1"/>
              </a:fillRef>
              <a:effectRef idx="0">
                <a:schemeClr val="accent1"/>
              </a:effectRef>
              <a:fontRef idx="minor">
                <a:schemeClr val="tx1"/>
              </a:fontRef>
            </p:style>
          </p:cxnSp>
        </p:grpSp>
        <p:cxnSp>
          <p:nvCxnSpPr>
            <p:cNvPr id="178" name="Straight Connector 177"/>
            <p:cNvCxnSpPr/>
            <p:nvPr/>
          </p:nvCxnSpPr>
          <p:spPr>
            <a:xfrm rot="16200000" flipH="1">
              <a:off x="2667000" y="1752600"/>
              <a:ext cx="152400" cy="15240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79" name="Straight Connector 178"/>
            <p:cNvCxnSpPr/>
            <p:nvPr/>
          </p:nvCxnSpPr>
          <p:spPr>
            <a:xfrm>
              <a:off x="2819400" y="1905000"/>
              <a:ext cx="228600"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80" name="Straight Connector 179"/>
            <p:cNvCxnSpPr/>
            <p:nvPr/>
          </p:nvCxnSpPr>
          <p:spPr>
            <a:xfrm rot="16200000" flipH="1">
              <a:off x="1981200" y="2438400"/>
              <a:ext cx="152400" cy="15240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81" name="Straight Connector 180"/>
            <p:cNvCxnSpPr/>
            <p:nvPr/>
          </p:nvCxnSpPr>
          <p:spPr>
            <a:xfrm rot="5400000">
              <a:off x="2019300" y="2705100"/>
              <a:ext cx="228600" cy="0"/>
            </a:xfrm>
            <a:prstGeom prst="line">
              <a:avLst/>
            </a:prstGeom>
            <a:ln>
              <a:solidFill>
                <a:schemeClr val="accent1"/>
              </a:solidFill>
              <a:prstDash val="dash"/>
            </a:ln>
          </p:spPr>
          <p:style>
            <a:lnRef idx="1">
              <a:schemeClr val="accent1"/>
            </a:lnRef>
            <a:fillRef idx="0">
              <a:schemeClr val="accent1"/>
            </a:fillRef>
            <a:effectRef idx="0">
              <a:schemeClr val="accent1"/>
            </a:effectRef>
            <a:fontRef idx="minor">
              <a:schemeClr val="tx1"/>
            </a:fontRef>
          </p:style>
        </p:cxnSp>
        <p:sp>
          <p:nvSpPr>
            <p:cNvPr id="61487" name="TextBox 181"/>
            <p:cNvSpPr txBox="1">
              <a:spLocks noChangeArrowheads="1"/>
            </p:cNvSpPr>
            <p:nvPr/>
          </p:nvSpPr>
          <p:spPr bwMode="auto">
            <a:xfrm>
              <a:off x="2667000" y="1536700"/>
              <a:ext cx="76200" cy="231775"/>
            </a:xfrm>
            <a:prstGeom prst="rect">
              <a:avLst/>
            </a:prstGeom>
            <a:noFill/>
            <a:ln w="9525">
              <a:noFill/>
              <a:miter lim="800000"/>
              <a:headEnd/>
              <a:tailEnd/>
            </a:ln>
          </p:spPr>
          <p:txBody>
            <a:bodyPr>
              <a:spAutoFit/>
            </a:bodyPr>
            <a:lstStyle/>
            <a:p>
              <a:r>
                <a:rPr lang="en-US" sz="900">
                  <a:latin typeface="Calibri" pitchFamily="34" charset="0"/>
                </a:rPr>
                <a:t>1</a:t>
              </a:r>
            </a:p>
          </p:txBody>
        </p:sp>
        <p:sp>
          <p:nvSpPr>
            <p:cNvPr id="61488" name="TextBox 183"/>
            <p:cNvSpPr txBox="1">
              <a:spLocks noChangeArrowheads="1"/>
            </p:cNvSpPr>
            <p:nvPr/>
          </p:nvSpPr>
          <p:spPr bwMode="auto">
            <a:xfrm>
              <a:off x="1828800" y="2362200"/>
              <a:ext cx="76200" cy="230188"/>
            </a:xfrm>
            <a:prstGeom prst="rect">
              <a:avLst/>
            </a:prstGeom>
            <a:noFill/>
            <a:ln w="9525">
              <a:noFill/>
              <a:miter lim="800000"/>
              <a:headEnd/>
              <a:tailEnd/>
            </a:ln>
          </p:spPr>
          <p:txBody>
            <a:bodyPr>
              <a:spAutoFit/>
            </a:bodyPr>
            <a:lstStyle/>
            <a:p>
              <a:r>
                <a:rPr lang="en-US" sz="900">
                  <a:latin typeface="Calibri" pitchFamily="34" charset="0"/>
                </a:rPr>
                <a:t>1</a:t>
              </a:r>
            </a:p>
          </p:txBody>
        </p:sp>
        <p:sp>
          <p:nvSpPr>
            <p:cNvPr id="61489" name="TextBox 184"/>
            <p:cNvSpPr txBox="1">
              <a:spLocks noChangeArrowheads="1"/>
            </p:cNvSpPr>
            <p:nvPr/>
          </p:nvSpPr>
          <p:spPr bwMode="auto">
            <a:xfrm rot="10800000" flipV="1">
              <a:off x="2514600" y="3268663"/>
              <a:ext cx="152400" cy="231775"/>
            </a:xfrm>
            <a:prstGeom prst="rect">
              <a:avLst/>
            </a:prstGeom>
            <a:noFill/>
            <a:ln w="9525">
              <a:noFill/>
              <a:miter lim="800000"/>
              <a:headEnd/>
              <a:tailEnd/>
            </a:ln>
          </p:spPr>
          <p:txBody>
            <a:bodyPr>
              <a:spAutoFit/>
            </a:bodyPr>
            <a:lstStyle/>
            <a:p>
              <a:r>
                <a:rPr lang="en-US" sz="900">
                  <a:latin typeface="Calibri" pitchFamily="34" charset="0"/>
                </a:rPr>
                <a:t>2</a:t>
              </a:r>
            </a:p>
          </p:txBody>
        </p:sp>
        <p:sp>
          <p:nvSpPr>
            <p:cNvPr id="61490" name="TextBox 185"/>
            <p:cNvSpPr txBox="1">
              <a:spLocks noChangeArrowheads="1"/>
            </p:cNvSpPr>
            <p:nvPr/>
          </p:nvSpPr>
          <p:spPr bwMode="auto">
            <a:xfrm rot="10800000" flipV="1">
              <a:off x="3581400" y="2278063"/>
              <a:ext cx="152400" cy="231775"/>
            </a:xfrm>
            <a:prstGeom prst="rect">
              <a:avLst/>
            </a:prstGeom>
            <a:noFill/>
            <a:ln w="9525">
              <a:noFill/>
              <a:miter lim="800000"/>
              <a:headEnd/>
              <a:tailEnd/>
            </a:ln>
          </p:spPr>
          <p:txBody>
            <a:bodyPr>
              <a:spAutoFit/>
            </a:bodyPr>
            <a:lstStyle/>
            <a:p>
              <a:r>
                <a:rPr lang="en-US" sz="900">
                  <a:latin typeface="Calibri" pitchFamily="34" charset="0"/>
                </a:rPr>
                <a:t>2</a:t>
              </a:r>
            </a:p>
          </p:txBody>
        </p:sp>
        <p:sp>
          <p:nvSpPr>
            <p:cNvPr id="61491" name="TextBox 186"/>
            <p:cNvSpPr txBox="1">
              <a:spLocks noChangeArrowheads="1"/>
            </p:cNvSpPr>
            <p:nvPr/>
          </p:nvSpPr>
          <p:spPr bwMode="auto">
            <a:xfrm rot="10800000" flipV="1">
              <a:off x="4495800" y="3192463"/>
              <a:ext cx="152400" cy="231775"/>
            </a:xfrm>
            <a:prstGeom prst="rect">
              <a:avLst/>
            </a:prstGeom>
            <a:noFill/>
            <a:ln w="9525">
              <a:noFill/>
              <a:miter lim="800000"/>
              <a:headEnd/>
              <a:tailEnd/>
            </a:ln>
          </p:spPr>
          <p:txBody>
            <a:bodyPr>
              <a:spAutoFit/>
            </a:bodyPr>
            <a:lstStyle/>
            <a:p>
              <a:r>
                <a:rPr lang="en-US" sz="900">
                  <a:latin typeface="Calibri" pitchFamily="34" charset="0"/>
                </a:rPr>
                <a:t>3</a:t>
              </a:r>
            </a:p>
          </p:txBody>
        </p:sp>
        <p:sp>
          <p:nvSpPr>
            <p:cNvPr id="61492" name="TextBox 188"/>
            <p:cNvSpPr txBox="1">
              <a:spLocks noChangeArrowheads="1"/>
            </p:cNvSpPr>
            <p:nvPr/>
          </p:nvSpPr>
          <p:spPr bwMode="auto">
            <a:xfrm rot="10800000" flipV="1">
              <a:off x="3505200" y="4259263"/>
              <a:ext cx="152400" cy="231775"/>
            </a:xfrm>
            <a:prstGeom prst="rect">
              <a:avLst/>
            </a:prstGeom>
            <a:noFill/>
            <a:ln w="9525">
              <a:noFill/>
              <a:miter lim="800000"/>
              <a:headEnd/>
              <a:tailEnd/>
            </a:ln>
          </p:spPr>
          <p:txBody>
            <a:bodyPr>
              <a:spAutoFit/>
            </a:bodyPr>
            <a:lstStyle/>
            <a:p>
              <a:r>
                <a:rPr lang="en-US" sz="900">
                  <a:latin typeface="Calibri" pitchFamily="34" charset="0"/>
                </a:rPr>
                <a:t>3</a:t>
              </a:r>
            </a:p>
          </p:txBody>
        </p:sp>
        <p:sp>
          <p:nvSpPr>
            <p:cNvPr id="61493" name="TextBox 189"/>
            <p:cNvSpPr txBox="1">
              <a:spLocks noChangeArrowheads="1"/>
            </p:cNvSpPr>
            <p:nvPr/>
          </p:nvSpPr>
          <p:spPr bwMode="auto">
            <a:xfrm rot="10800000" flipV="1">
              <a:off x="4343400" y="5097463"/>
              <a:ext cx="152400" cy="231775"/>
            </a:xfrm>
            <a:prstGeom prst="rect">
              <a:avLst/>
            </a:prstGeom>
            <a:noFill/>
            <a:ln w="9525">
              <a:noFill/>
              <a:miter lim="800000"/>
              <a:headEnd/>
              <a:tailEnd/>
            </a:ln>
          </p:spPr>
          <p:txBody>
            <a:bodyPr>
              <a:spAutoFit/>
            </a:bodyPr>
            <a:lstStyle/>
            <a:p>
              <a:r>
                <a:rPr lang="en-US" sz="900">
                  <a:latin typeface="Calibri" pitchFamily="34" charset="0"/>
                </a:rPr>
                <a:t>4</a:t>
              </a:r>
            </a:p>
          </p:txBody>
        </p:sp>
        <p:sp>
          <p:nvSpPr>
            <p:cNvPr id="61494" name="TextBox 190"/>
            <p:cNvSpPr txBox="1">
              <a:spLocks noChangeArrowheads="1"/>
            </p:cNvSpPr>
            <p:nvPr/>
          </p:nvSpPr>
          <p:spPr bwMode="auto">
            <a:xfrm rot="10800000" flipV="1">
              <a:off x="5410200" y="4106863"/>
              <a:ext cx="152400" cy="231775"/>
            </a:xfrm>
            <a:prstGeom prst="rect">
              <a:avLst/>
            </a:prstGeom>
            <a:noFill/>
            <a:ln w="9525">
              <a:noFill/>
              <a:miter lim="800000"/>
              <a:headEnd/>
              <a:tailEnd/>
            </a:ln>
          </p:spPr>
          <p:txBody>
            <a:bodyPr>
              <a:spAutoFit/>
            </a:bodyPr>
            <a:lstStyle/>
            <a:p>
              <a:r>
                <a:rPr lang="en-US" sz="900">
                  <a:latin typeface="Calibri" pitchFamily="34" charset="0"/>
                </a:rPr>
                <a:t>4</a:t>
              </a:r>
            </a:p>
          </p:txBody>
        </p:sp>
        <p:sp>
          <p:nvSpPr>
            <p:cNvPr id="61495" name="TextBox 191"/>
            <p:cNvSpPr txBox="1">
              <a:spLocks noChangeArrowheads="1"/>
            </p:cNvSpPr>
            <p:nvPr/>
          </p:nvSpPr>
          <p:spPr bwMode="auto">
            <a:xfrm rot="10800000" flipV="1">
              <a:off x="5181600" y="6024563"/>
              <a:ext cx="152400" cy="231775"/>
            </a:xfrm>
            <a:prstGeom prst="rect">
              <a:avLst/>
            </a:prstGeom>
            <a:noFill/>
            <a:ln w="9525">
              <a:noFill/>
              <a:miter lim="800000"/>
              <a:headEnd/>
              <a:tailEnd/>
            </a:ln>
          </p:spPr>
          <p:txBody>
            <a:bodyPr>
              <a:spAutoFit/>
            </a:bodyPr>
            <a:lstStyle/>
            <a:p>
              <a:r>
                <a:rPr lang="en-US" sz="900">
                  <a:latin typeface="Calibri" pitchFamily="34" charset="0"/>
                </a:rPr>
                <a:t>5</a:t>
              </a:r>
            </a:p>
          </p:txBody>
        </p:sp>
        <p:sp>
          <p:nvSpPr>
            <p:cNvPr id="61496" name="TextBox 192"/>
            <p:cNvSpPr txBox="1">
              <a:spLocks noChangeArrowheads="1"/>
            </p:cNvSpPr>
            <p:nvPr/>
          </p:nvSpPr>
          <p:spPr bwMode="auto">
            <a:xfrm rot="10800000" flipV="1">
              <a:off x="6248400" y="4945063"/>
              <a:ext cx="152400" cy="231775"/>
            </a:xfrm>
            <a:prstGeom prst="rect">
              <a:avLst/>
            </a:prstGeom>
            <a:noFill/>
            <a:ln w="9525">
              <a:noFill/>
              <a:miter lim="800000"/>
              <a:headEnd/>
              <a:tailEnd/>
            </a:ln>
          </p:spPr>
          <p:txBody>
            <a:bodyPr>
              <a:spAutoFit/>
            </a:bodyPr>
            <a:lstStyle/>
            <a:p>
              <a:r>
                <a:rPr lang="en-US" sz="900">
                  <a:latin typeface="Calibri" pitchFamily="34" charset="0"/>
                </a:rPr>
                <a:t>5</a:t>
              </a:r>
            </a:p>
          </p:txBody>
        </p:sp>
        <p:sp>
          <p:nvSpPr>
            <p:cNvPr id="61497" name="TextBox 193"/>
            <p:cNvSpPr txBox="1">
              <a:spLocks noChangeArrowheads="1"/>
            </p:cNvSpPr>
            <p:nvPr/>
          </p:nvSpPr>
          <p:spPr bwMode="auto">
            <a:xfrm>
              <a:off x="1981200" y="2514600"/>
              <a:ext cx="76200" cy="230188"/>
            </a:xfrm>
            <a:prstGeom prst="rect">
              <a:avLst/>
            </a:prstGeom>
            <a:noFill/>
            <a:ln w="9525">
              <a:noFill/>
              <a:miter lim="800000"/>
              <a:headEnd/>
              <a:tailEnd/>
            </a:ln>
          </p:spPr>
          <p:txBody>
            <a:bodyPr>
              <a:spAutoFit/>
            </a:bodyPr>
            <a:lstStyle/>
            <a:p>
              <a:r>
                <a:rPr lang="en-US" sz="900">
                  <a:latin typeface="Calibri" pitchFamily="34" charset="0"/>
                </a:rPr>
                <a:t>6</a:t>
              </a:r>
            </a:p>
          </p:txBody>
        </p:sp>
        <p:sp>
          <p:nvSpPr>
            <p:cNvPr id="61498" name="TextBox 194"/>
            <p:cNvSpPr txBox="1">
              <a:spLocks noChangeArrowheads="1"/>
            </p:cNvSpPr>
            <p:nvPr/>
          </p:nvSpPr>
          <p:spPr bwMode="auto">
            <a:xfrm>
              <a:off x="2819400" y="1689100"/>
              <a:ext cx="76200" cy="231775"/>
            </a:xfrm>
            <a:prstGeom prst="rect">
              <a:avLst/>
            </a:prstGeom>
            <a:noFill/>
            <a:ln w="9525">
              <a:noFill/>
              <a:miter lim="800000"/>
              <a:headEnd/>
              <a:tailEnd/>
            </a:ln>
          </p:spPr>
          <p:txBody>
            <a:bodyPr>
              <a:spAutoFit/>
            </a:bodyPr>
            <a:lstStyle/>
            <a:p>
              <a:r>
                <a:rPr lang="en-US" sz="900">
                  <a:latin typeface="Calibri" pitchFamily="34" charset="0"/>
                </a:rPr>
                <a:t>6</a:t>
              </a:r>
            </a:p>
          </p:txBody>
        </p:sp>
        <p:sp>
          <p:nvSpPr>
            <p:cNvPr id="61499" name="TextBox 196"/>
            <p:cNvSpPr txBox="1">
              <a:spLocks noChangeArrowheads="1"/>
            </p:cNvSpPr>
            <p:nvPr/>
          </p:nvSpPr>
          <p:spPr bwMode="auto">
            <a:xfrm>
              <a:off x="6096000" y="4648200"/>
              <a:ext cx="425450" cy="276225"/>
            </a:xfrm>
            <a:prstGeom prst="rect">
              <a:avLst/>
            </a:prstGeom>
            <a:noFill/>
            <a:ln w="9525">
              <a:noFill/>
              <a:miter lim="800000"/>
              <a:headEnd/>
              <a:tailEnd/>
            </a:ln>
          </p:spPr>
          <p:txBody>
            <a:bodyPr wrap="none">
              <a:spAutoFit/>
            </a:bodyPr>
            <a:lstStyle/>
            <a:p>
              <a:r>
                <a:rPr lang="en-US" sz="1200">
                  <a:latin typeface="Calibri" pitchFamily="34" charset="0"/>
                </a:rPr>
                <a:t>Q</a:t>
              </a:r>
              <a:r>
                <a:rPr lang="en-US" sz="1200" baseline="-25000">
                  <a:latin typeface="Calibri" pitchFamily="34" charset="0"/>
                </a:rPr>
                <a:t>5</a:t>
              </a:r>
              <a:r>
                <a:rPr lang="en-US" sz="1200" baseline="30000">
                  <a:latin typeface="Calibri" pitchFamily="34" charset="0"/>
                </a:rPr>
                <a:t>T</a:t>
              </a:r>
            </a:p>
          </p:txBody>
        </p:sp>
        <p:sp>
          <p:nvSpPr>
            <p:cNvPr id="61500" name="TextBox 197"/>
            <p:cNvSpPr txBox="1">
              <a:spLocks noChangeArrowheads="1"/>
            </p:cNvSpPr>
            <p:nvPr/>
          </p:nvSpPr>
          <p:spPr bwMode="auto">
            <a:xfrm>
              <a:off x="1565275" y="2362200"/>
              <a:ext cx="361950" cy="276225"/>
            </a:xfrm>
            <a:prstGeom prst="rect">
              <a:avLst/>
            </a:prstGeom>
            <a:noFill/>
            <a:ln w="9525">
              <a:noFill/>
              <a:miter lim="800000"/>
              <a:headEnd/>
              <a:tailEnd/>
            </a:ln>
          </p:spPr>
          <p:txBody>
            <a:bodyPr wrap="none">
              <a:spAutoFit/>
            </a:bodyPr>
            <a:lstStyle/>
            <a:p>
              <a:r>
                <a:rPr lang="en-US" sz="1200">
                  <a:latin typeface="Calibri" pitchFamily="34" charset="0"/>
                </a:rPr>
                <a:t>Q</a:t>
              </a:r>
              <a:r>
                <a:rPr lang="en-US" sz="1200" baseline="-25000">
                  <a:latin typeface="Calibri" pitchFamily="34" charset="0"/>
                </a:rPr>
                <a:t>1</a:t>
              </a:r>
            </a:p>
          </p:txBody>
        </p:sp>
        <p:sp>
          <p:nvSpPr>
            <p:cNvPr id="61501" name="TextBox 198"/>
            <p:cNvSpPr txBox="1">
              <a:spLocks noChangeArrowheads="1"/>
            </p:cNvSpPr>
            <p:nvPr/>
          </p:nvSpPr>
          <p:spPr bwMode="auto">
            <a:xfrm>
              <a:off x="2590800" y="1371600"/>
              <a:ext cx="425450" cy="276225"/>
            </a:xfrm>
            <a:prstGeom prst="rect">
              <a:avLst/>
            </a:prstGeom>
            <a:noFill/>
            <a:ln w="9525">
              <a:noFill/>
              <a:miter lim="800000"/>
              <a:headEnd/>
              <a:tailEnd/>
            </a:ln>
          </p:spPr>
          <p:txBody>
            <a:bodyPr wrap="none">
              <a:spAutoFit/>
            </a:bodyPr>
            <a:lstStyle/>
            <a:p>
              <a:r>
                <a:rPr lang="en-US" sz="1200">
                  <a:latin typeface="Calibri" pitchFamily="34" charset="0"/>
                </a:rPr>
                <a:t>Q</a:t>
              </a:r>
              <a:r>
                <a:rPr lang="en-US" sz="1200" baseline="-25000">
                  <a:latin typeface="Calibri" pitchFamily="34" charset="0"/>
                </a:rPr>
                <a:t>1</a:t>
              </a:r>
              <a:r>
                <a:rPr lang="en-US" sz="1200" baseline="30000">
                  <a:latin typeface="Calibri" pitchFamily="34" charset="0"/>
                </a:rPr>
                <a:t>T</a:t>
              </a:r>
            </a:p>
          </p:txBody>
        </p:sp>
        <p:sp>
          <p:nvSpPr>
            <p:cNvPr id="61502" name="TextBox 199"/>
            <p:cNvSpPr txBox="1">
              <a:spLocks noChangeArrowheads="1"/>
            </p:cNvSpPr>
            <p:nvPr/>
          </p:nvSpPr>
          <p:spPr bwMode="auto">
            <a:xfrm>
              <a:off x="2187575" y="3276600"/>
              <a:ext cx="403225" cy="276225"/>
            </a:xfrm>
            <a:prstGeom prst="rect">
              <a:avLst/>
            </a:prstGeom>
            <a:noFill/>
            <a:ln w="9525">
              <a:noFill/>
              <a:miter lim="800000"/>
              <a:headEnd/>
              <a:tailEnd/>
            </a:ln>
          </p:spPr>
          <p:txBody>
            <a:bodyPr>
              <a:spAutoFit/>
            </a:bodyPr>
            <a:lstStyle/>
            <a:p>
              <a:r>
                <a:rPr lang="en-US" sz="1200">
                  <a:latin typeface="Calibri" pitchFamily="34" charset="0"/>
                </a:rPr>
                <a:t>Q</a:t>
              </a:r>
              <a:r>
                <a:rPr lang="en-US" sz="1200" baseline="-25000">
                  <a:latin typeface="Calibri" pitchFamily="34" charset="0"/>
                </a:rPr>
                <a:t>2</a:t>
              </a:r>
            </a:p>
          </p:txBody>
        </p:sp>
        <p:sp>
          <p:nvSpPr>
            <p:cNvPr id="61503" name="TextBox 200"/>
            <p:cNvSpPr txBox="1">
              <a:spLocks noChangeArrowheads="1"/>
            </p:cNvSpPr>
            <p:nvPr/>
          </p:nvSpPr>
          <p:spPr bwMode="auto">
            <a:xfrm>
              <a:off x="3505200" y="2009775"/>
              <a:ext cx="425450" cy="276225"/>
            </a:xfrm>
            <a:prstGeom prst="rect">
              <a:avLst/>
            </a:prstGeom>
            <a:noFill/>
            <a:ln w="9525">
              <a:noFill/>
              <a:miter lim="800000"/>
              <a:headEnd/>
              <a:tailEnd/>
            </a:ln>
          </p:spPr>
          <p:txBody>
            <a:bodyPr wrap="none">
              <a:spAutoFit/>
            </a:bodyPr>
            <a:lstStyle/>
            <a:p>
              <a:r>
                <a:rPr lang="en-US" sz="1200">
                  <a:latin typeface="Calibri" pitchFamily="34" charset="0"/>
                </a:rPr>
                <a:t>Q</a:t>
              </a:r>
              <a:r>
                <a:rPr lang="en-US" sz="1200" baseline="-25000">
                  <a:latin typeface="Calibri" pitchFamily="34" charset="0"/>
                </a:rPr>
                <a:t>2</a:t>
              </a:r>
              <a:r>
                <a:rPr lang="en-US" sz="1200" baseline="30000">
                  <a:latin typeface="Calibri" pitchFamily="34" charset="0"/>
                </a:rPr>
                <a:t>T</a:t>
              </a:r>
            </a:p>
          </p:txBody>
        </p:sp>
        <p:sp>
          <p:nvSpPr>
            <p:cNvPr id="61504" name="TextBox 201"/>
            <p:cNvSpPr txBox="1">
              <a:spLocks noChangeArrowheads="1"/>
            </p:cNvSpPr>
            <p:nvPr/>
          </p:nvSpPr>
          <p:spPr bwMode="auto">
            <a:xfrm>
              <a:off x="2949575" y="4191000"/>
              <a:ext cx="361950" cy="276225"/>
            </a:xfrm>
            <a:prstGeom prst="rect">
              <a:avLst/>
            </a:prstGeom>
            <a:noFill/>
            <a:ln w="9525">
              <a:noFill/>
              <a:miter lim="800000"/>
              <a:headEnd/>
              <a:tailEnd/>
            </a:ln>
          </p:spPr>
          <p:txBody>
            <a:bodyPr wrap="none">
              <a:spAutoFit/>
            </a:bodyPr>
            <a:lstStyle/>
            <a:p>
              <a:r>
                <a:rPr lang="en-US" sz="1200">
                  <a:latin typeface="Calibri" pitchFamily="34" charset="0"/>
                </a:rPr>
                <a:t>Q</a:t>
              </a:r>
              <a:r>
                <a:rPr lang="en-US" sz="1200" baseline="-25000">
                  <a:latin typeface="Calibri" pitchFamily="34" charset="0"/>
                </a:rPr>
                <a:t>3</a:t>
              </a:r>
            </a:p>
          </p:txBody>
        </p:sp>
        <p:sp>
          <p:nvSpPr>
            <p:cNvPr id="61505" name="TextBox 202"/>
            <p:cNvSpPr txBox="1">
              <a:spLocks noChangeArrowheads="1"/>
            </p:cNvSpPr>
            <p:nvPr/>
          </p:nvSpPr>
          <p:spPr bwMode="auto">
            <a:xfrm>
              <a:off x="4419600" y="2819400"/>
              <a:ext cx="425450" cy="276225"/>
            </a:xfrm>
            <a:prstGeom prst="rect">
              <a:avLst/>
            </a:prstGeom>
            <a:noFill/>
            <a:ln w="9525">
              <a:noFill/>
              <a:miter lim="800000"/>
              <a:headEnd/>
              <a:tailEnd/>
            </a:ln>
          </p:spPr>
          <p:txBody>
            <a:bodyPr wrap="none">
              <a:spAutoFit/>
            </a:bodyPr>
            <a:lstStyle/>
            <a:p>
              <a:r>
                <a:rPr lang="en-US" sz="1200">
                  <a:latin typeface="Calibri" pitchFamily="34" charset="0"/>
                </a:rPr>
                <a:t>Q</a:t>
              </a:r>
              <a:r>
                <a:rPr lang="en-US" sz="1200" baseline="-25000">
                  <a:latin typeface="Calibri" pitchFamily="34" charset="0"/>
                </a:rPr>
                <a:t>3</a:t>
              </a:r>
              <a:r>
                <a:rPr lang="en-US" sz="1200" baseline="30000">
                  <a:latin typeface="Calibri" pitchFamily="34" charset="0"/>
                </a:rPr>
                <a:t>T</a:t>
              </a:r>
            </a:p>
          </p:txBody>
        </p:sp>
        <p:sp>
          <p:nvSpPr>
            <p:cNvPr id="61506" name="TextBox 203"/>
            <p:cNvSpPr txBox="1">
              <a:spLocks noChangeArrowheads="1"/>
            </p:cNvSpPr>
            <p:nvPr/>
          </p:nvSpPr>
          <p:spPr bwMode="auto">
            <a:xfrm>
              <a:off x="4876800" y="5943600"/>
              <a:ext cx="361950" cy="276225"/>
            </a:xfrm>
            <a:prstGeom prst="rect">
              <a:avLst/>
            </a:prstGeom>
            <a:noFill/>
            <a:ln w="9525">
              <a:noFill/>
              <a:miter lim="800000"/>
              <a:headEnd/>
              <a:tailEnd/>
            </a:ln>
          </p:spPr>
          <p:txBody>
            <a:bodyPr wrap="none">
              <a:spAutoFit/>
            </a:bodyPr>
            <a:lstStyle/>
            <a:p>
              <a:r>
                <a:rPr lang="en-US" sz="1200">
                  <a:latin typeface="Calibri" pitchFamily="34" charset="0"/>
                </a:rPr>
                <a:t>Q</a:t>
              </a:r>
              <a:r>
                <a:rPr lang="en-US" sz="1200" baseline="-25000">
                  <a:latin typeface="Calibri" pitchFamily="34" charset="0"/>
                </a:rPr>
                <a:t>5</a:t>
              </a:r>
            </a:p>
          </p:txBody>
        </p:sp>
        <p:sp>
          <p:nvSpPr>
            <p:cNvPr id="61507" name="TextBox 204"/>
            <p:cNvSpPr txBox="1">
              <a:spLocks noChangeArrowheads="1"/>
            </p:cNvSpPr>
            <p:nvPr/>
          </p:nvSpPr>
          <p:spPr bwMode="auto">
            <a:xfrm>
              <a:off x="3886200" y="5105400"/>
              <a:ext cx="361950" cy="276225"/>
            </a:xfrm>
            <a:prstGeom prst="rect">
              <a:avLst/>
            </a:prstGeom>
            <a:noFill/>
            <a:ln w="9525">
              <a:noFill/>
              <a:miter lim="800000"/>
              <a:headEnd/>
              <a:tailEnd/>
            </a:ln>
          </p:spPr>
          <p:txBody>
            <a:bodyPr wrap="none">
              <a:spAutoFit/>
            </a:bodyPr>
            <a:lstStyle/>
            <a:p>
              <a:r>
                <a:rPr lang="en-US" sz="1200">
                  <a:latin typeface="Calibri" pitchFamily="34" charset="0"/>
                </a:rPr>
                <a:t>Q</a:t>
              </a:r>
              <a:r>
                <a:rPr lang="en-US" sz="1200" baseline="-25000">
                  <a:latin typeface="Calibri" pitchFamily="34" charset="0"/>
                </a:rPr>
                <a:t>4</a:t>
              </a:r>
              <a:endParaRPr lang="en-US" sz="1100" baseline="-25000">
                <a:latin typeface="Calibri" pitchFamily="34" charset="0"/>
              </a:endParaRPr>
            </a:p>
          </p:txBody>
        </p:sp>
        <p:sp>
          <p:nvSpPr>
            <p:cNvPr id="61508" name="TextBox 205"/>
            <p:cNvSpPr txBox="1">
              <a:spLocks noChangeArrowheads="1"/>
            </p:cNvSpPr>
            <p:nvPr/>
          </p:nvSpPr>
          <p:spPr bwMode="auto">
            <a:xfrm>
              <a:off x="5334000" y="3733800"/>
              <a:ext cx="425450" cy="276225"/>
            </a:xfrm>
            <a:prstGeom prst="rect">
              <a:avLst/>
            </a:prstGeom>
            <a:noFill/>
            <a:ln w="9525">
              <a:noFill/>
              <a:miter lim="800000"/>
              <a:headEnd/>
              <a:tailEnd/>
            </a:ln>
          </p:spPr>
          <p:txBody>
            <a:bodyPr wrap="none">
              <a:spAutoFit/>
            </a:bodyPr>
            <a:lstStyle/>
            <a:p>
              <a:r>
                <a:rPr lang="en-US" sz="1200">
                  <a:latin typeface="Calibri" pitchFamily="34" charset="0"/>
                </a:rPr>
                <a:t>Q</a:t>
              </a:r>
              <a:r>
                <a:rPr lang="en-US" sz="1200" baseline="-25000">
                  <a:latin typeface="Calibri" pitchFamily="34" charset="0"/>
                </a:rPr>
                <a:t>4</a:t>
              </a:r>
              <a:r>
                <a:rPr lang="en-US" sz="1200" baseline="30000">
                  <a:latin typeface="Calibri" pitchFamily="34" charset="0"/>
                </a:rPr>
                <a:t>T</a:t>
              </a:r>
            </a:p>
          </p:txBody>
        </p:sp>
        <p:cxnSp>
          <p:nvCxnSpPr>
            <p:cNvPr id="208" name="Straight Connector 207"/>
            <p:cNvCxnSpPr/>
            <p:nvPr/>
          </p:nvCxnSpPr>
          <p:spPr>
            <a:xfrm>
              <a:off x="5257800" y="5943600"/>
              <a:ext cx="1143000" cy="0"/>
            </a:xfrm>
            <a:prstGeom prst="line">
              <a:avLst/>
            </a:prstGeom>
            <a:ln>
              <a:prstDash val="sysDot"/>
            </a:ln>
          </p:spPr>
          <p:style>
            <a:lnRef idx="1">
              <a:schemeClr val="accent1"/>
            </a:lnRef>
            <a:fillRef idx="0">
              <a:schemeClr val="accent1"/>
            </a:fillRef>
            <a:effectRef idx="0">
              <a:schemeClr val="accent1"/>
            </a:effectRef>
            <a:fontRef idx="minor">
              <a:schemeClr val="tx1"/>
            </a:fontRef>
          </p:style>
        </p:cxnSp>
        <p:cxnSp>
          <p:nvCxnSpPr>
            <p:cNvPr id="210" name="Straight Connector 209"/>
            <p:cNvCxnSpPr/>
            <p:nvPr/>
          </p:nvCxnSpPr>
          <p:spPr>
            <a:xfrm rot="5400000">
              <a:off x="5600700" y="5600700"/>
              <a:ext cx="1143000" cy="0"/>
            </a:xfrm>
            <a:prstGeom prst="line">
              <a:avLst/>
            </a:prstGeom>
            <a:ln>
              <a:prstDash val="sysDot"/>
            </a:ln>
          </p:spPr>
          <p:style>
            <a:lnRef idx="1">
              <a:schemeClr val="accent1"/>
            </a:lnRef>
            <a:fillRef idx="0">
              <a:schemeClr val="accent1"/>
            </a:fillRef>
            <a:effectRef idx="0">
              <a:schemeClr val="accent1"/>
            </a:effectRef>
            <a:fontRef idx="minor">
              <a:schemeClr val="tx1"/>
            </a:fontRef>
          </p:style>
        </p:cxnSp>
        <p:cxnSp>
          <p:nvCxnSpPr>
            <p:cNvPr id="212" name="Straight Arrow Connector 211"/>
            <p:cNvCxnSpPr/>
            <p:nvPr/>
          </p:nvCxnSpPr>
          <p:spPr>
            <a:xfrm>
              <a:off x="1828800" y="1143000"/>
              <a:ext cx="914400" cy="1588"/>
            </a:xfrm>
            <a:prstGeom prst="straightConnector1">
              <a:avLst/>
            </a:prstGeom>
            <a:ln>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61512" name="TextBox 212"/>
            <p:cNvSpPr txBox="1">
              <a:spLocks noChangeArrowheads="1"/>
            </p:cNvSpPr>
            <p:nvPr/>
          </p:nvSpPr>
          <p:spPr bwMode="auto">
            <a:xfrm>
              <a:off x="2057400" y="914400"/>
              <a:ext cx="454025" cy="276225"/>
            </a:xfrm>
            <a:prstGeom prst="rect">
              <a:avLst/>
            </a:prstGeom>
            <a:noFill/>
            <a:ln w="9525">
              <a:noFill/>
              <a:miter lim="800000"/>
              <a:headEnd/>
              <a:tailEnd/>
            </a:ln>
          </p:spPr>
          <p:txBody>
            <a:bodyPr wrap="none">
              <a:spAutoFit/>
            </a:bodyPr>
            <a:lstStyle/>
            <a:p>
              <a:r>
                <a:rPr lang="en-US" sz="1200">
                  <a:latin typeface="Calibri" pitchFamily="34" charset="0"/>
                </a:rPr>
                <a:t>b+1</a:t>
              </a:r>
            </a:p>
          </p:txBody>
        </p:sp>
        <p:cxnSp>
          <p:nvCxnSpPr>
            <p:cNvPr id="215" name="Straight Arrow Connector 214"/>
            <p:cNvCxnSpPr/>
            <p:nvPr/>
          </p:nvCxnSpPr>
          <p:spPr>
            <a:xfrm rot="5400000">
              <a:off x="762794" y="2056606"/>
              <a:ext cx="914400" cy="1588"/>
            </a:xfrm>
            <a:prstGeom prst="straightConnector1">
              <a:avLst/>
            </a:prstGeom>
            <a:ln>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61514" name="TextBox 215"/>
            <p:cNvSpPr txBox="1">
              <a:spLocks noChangeArrowheads="1"/>
            </p:cNvSpPr>
            <p:nvPr/>
          </p:nvSpPr>
          <p:spPr bwMode="auto">
            <a:xfrm rot="-5400000">
              <a:off x="901700" y="1905000"/>
              <a:ext cx="454025" cy="276225"/>
            </a:xfrm>
            <a:prstGeom prst="rect">
              <a:avLst/>
            </a:prstGeom>
            <a:noFill/>
            <a:ln w="9525">
              <a:noFill/>
              <a:miter lim="800000"/>
              <a:headEnd/>
              <a:tailEnd/>
            </a:ln>
          </p:spPr>
          <p:txBody>
            <a:bodyPr wrap="none">
              <a:spAutoFit/>
            </a:bodyPr>
            <a:lstStyle/>
            <a:p>
              <a:r>
                <a:rPr lang="en-US" sz="1200">
                  <a:latin typeface="Calibri" pitchFamily="34" charset="0"/>
                </a:rPr>
                <a:t>b+1</a:t>
              </a:r>
            </a:p>
          </p:txBody>
        </p:sp>
        <p:cxnSp>
          <p:nvCxnSpPr>
            <p:cNvPr id="218" name="Straight Arrow Connector 217"/>
            <p:cNvCxnSpPr/>
            <p:nvPr/>
          </p:nvCxnSpPr>
          <p:spPr>
            <a:xfrm>
              <a:off x="2514600" y="1371600"/>
              <a:ext cx="228600" cy="1588"/>
            </a:xfrm>
            <a:prstGeom prst="straightConnector1">
              <a:avLst/>
            </a:prstGeom>
            <a:ln>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61516" name="TextBox 223"/>
            <p:cNvSpPr txBox="1">
              <a:spLocks noChangeArrowheads="1"/>
            </p:cNvSpPr>
            <p:nvPr/>
          </p:nvSpPr>
          <p:spPr bwMode="auto">
            <a:xfrm>
              <a:off x="2406650" y="1143000"/>
              <a:ext cx="454025" cy="276225"/>
            </a:xfrm>
            <a:prstGeom prst="rect">
              <a:avLst/>
            </a:prstGeom>
            <a:noFill/>
            <a:ln w="9525">
              <a:noFill/>
              <a:miter lim="800000"/>
              <a:headEnd/>
              <a:tailEnd/>
            </a:ln>
          </p:spPr>
          <p:txBody>
            <a:bodyPr wrap="none">
              <a:spAutoFit/>
            </a:bodyPr>
            <a:lstStyle/>
            <a:p>
              <a:r>
                <a:rPr lang="en-US" sz="1200">
                  <a:latin typeface="Calibri" pitchFamily="34" charset="0"/>
                </a:rPr>
                <a:t>d+1</a:t>
              </a:r>
            </a:p>
          </p:txBody>
        </p:sp>
        <p:cxnSp>
          <p:nvCxnSpPr>
            <p:cNvPr id="226" name="Straight Arrow Connector 225"/>
            <p:cNvCxnSpPr/>
            <p:nvPr/>
          </p:nvCxnSpPr>
          <p:spPr>
            <a:xfrm rot="5400000" flipH="1" flipV="1">
              <a:off x="1408907" y="2401094"/>
              <a:ext cx="228600" cy="1587"/>
            </a:xfrm>
            <a:prstGeom prst="straightConnector1">
              <a:avLst/>
            </a:prstGeom>
            <a:ln>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61518" name="TextBox 226"/>
            <p:cNvSpPr txBox="1">
              <a:spLocks noChangeArrowheads="1"/>
            </p:cNvSpPr>
            <p:nvPr/>
          </p:nvSpPr>
          <p:spPr bwMode="auto">
            <a:xfrm rot="-5400000">
              <a:off x="1206500" y="2286000"/>
              <a:ext cx="454025" cy="276225"/>
            </a:xfrm>
            <a:prstGeom prst="rect">
              <a:avLst/>
            </a:prstGeom>
            <a:noFill/>
            <a:ln w="9525">
              <a:noFill/>
              <a:miter lim="800000"/>
              <a:headEnd/>
              <a:tailEnd/>
            </a:ln>
          </p:spPr>
          <p:txBody>
            <a:bodyPr wrap="none">
              <a:spAutoFit/>
            </a:bodyPr>
            <a:lstStyle/>
            <a:p>
              <a:r>
                <a:rPr lang="en-US" sz="1200">
                  <a:latin typeface="Calibri" pitchFamily="34" charset="0"/>
                </a:rPr>
                <a:t>d+1</a:t>
              </a:r>
            </a:p>
          </p:txBody>
        </p:sp>
        <p:sp>
          <p:nvSpPr>
            <p:cNvPr id="61519" name="TextBox 227"/>
            <p:cNvSpPr txBox="1">
              <a:spLocks noChangeArrowheads="1"/>
            </p:cNvSpPr>
            <p:nvPr/>
          </p:nvSpPr>
          <p:spPr bwMode="auto">
            <a:xfrm>
              <a:off x="3048000" y="1524000"/>
              <a:ext cx="269875" cy="276225"/>
            </a:xfrm>
            <a:prstGeom prst="rect">
              <a:avLst/>
            </a:prstGeom>
            <a:noFill/>
            <a:ln w="9525">
              <a:noFill/>
              <a:miter lim="800000"/>
              <a:headEnd/>
              <a:tailEnd/>
            </a:ln>
          </p:spPr>
          <p:txBody>
            <a:bodyPr wrap="none">
              <a:spAutoFit/>
            </a:bodyPr>
            <a:lstStyle/>
            <a:p>
              <a:r>
                <a:rPr lang="en-US" sz="1200">
                  <a:latin typeface="Calibri" pitchFamily="34" charset="0"/>
                </a:rPr>
                <a:t>c</a:t>
              </a:r>
            </a:p>
          </p:txBody>
        </p:sp>
        <p:sp>
          <p:nvSpPr>
            <p:cNvPr id="61520" name="TextBox 228"/>
            <p:cNvSpPr txBox="1">
              <a:spLocks noChangeArrowheads="1"/>
            </p:cNvSpPr>
            <p:nvPr/>
          </p:nvSpPr>
          <p:spPr bwMode="auto">
            <a:xfrm>
              <a:off x="1760538" y="2667000"/>
              <a:ext cx="269875" cy="276225"/>
            </a:xfrm>
            <a:prstGeom prst="rect">
              <a:avLst/>
            </a:prstGeom>
            <a:noFill/>
            <a:ln w="9525">
              <a:solidFill>
                <a:schemeClr val="bg1"/>
              </a:solidFill>
              <a:miter lim="800000"/>
              <a:headEnd/>
              <a:tailEnd/>
            </a:ln>
          </p:spPr>
          <p:txBody>
            <a:bodyPr wrap="none">
              <a:spAutoFit/>
            </a:bodyPr>
            <a:lstStyle/>
            <a:p>
              <a:r>
                <a:rPr lang="en-US" sz="1200">
                  <a:latin typeface="Calibri" pitchFamily="34" charset="0"/>
                </a:rPr>
                <a:t>c</a:t>
              </a:r>
            </a:p>
          </p:txBody>
        </p:sp>
        <p:cxnSp>
          <p:nvCxnSpPr>
            <p:cNvPr id="231" name="Straight Arrow Connector 230"/>
            <p:cNvCxnSpPr/>
            <p:nvPr/>
          </p:nvCxnSpPr>
          <p:spPr>
            <a:xfrm rot="5400000">
              <a:off x="2972594" y="1675606"/>
              <a:ext cx="152400" cy="1588"/>
            </a:xfrm>
            <a:prstGeom prst="straightConnector1">
              <a:avLst/>
            </a:prstGeom>
            <a:ln w="3175">
              <a:solidFill>
                <a:schemeClr val="tx1"/>
              </a:solidFill>
              <a:headEnd type="diamond" w="med" len="med"/>
              <a:tailEnd type="diamond" w="med" len="med"/>
            </a:ln>
          </p:spPr>
          <p:style>
            <a:lnRef idx="1">
              <a:schemeClr val="accent1"/>
            </a:lnRef>
            <a:fillRef idx="0">
              <a:schemeClr val="accent1"/>
            </a:fillRef>
            <a:effectRef idx="0">
              <a:schemeClr val="accent1"/>
            </a:effectRef>
            <a:fontRef idx="minor">
              <a:schemeClr val="tx1"/>
            </a:fontRef>
          </p:style>
        </p:cxnSp>
        <p:cxnSp>
          <p:nvCxnSpPr>
            <p:cNvPr id="234" name="Straight Arrow Connector 233"/>
            <p:cNvCxnSpPr/>
            <p:nvPr/>
          </p:nvCxnSpPr>
          <p:spPr>
            <a:xfrm rot="10800000">
              <a:off x="1828800" y="2743200"/>
              <a:ext cx="152400" cy="1588"/>
            </a:xfrm>
            <a:prstGeom prst="straightConnector1">
              <a:avLst/>
            </a:prstGeom>
            <a:ln w="3175">
              <a:solidFill>
                <a:schemeClr val="tx1"/>
              </a:solidFill>
              <a:headEnd type="diamond" w="med" len="med"/>
              <a:tailEnd type="diamond" w="med" len="med"/>
            </a:ln>
          </p:spPr>
          <p:style>
            <a:lnRef idx="1">
              <a:schemeClr val="accent1"/>
            </a:lnRef>
            <a:fillRef idx="0">
              <a:schemeClr val="accent1"/>
            </a:fillRef>
            <a:effectRef idx="0">
              <a:schemeClr val="accent1"/>
            </a:effectRef>
            <a:fontRef idx="minor">
              <a:schemeClr val="tx1"/>
            </a:fontRef>
          </p:style>
        </p:cxnSp>
        <p:cxnSp>
          <p:nvCxnSpPr>
            <p:cNvPr id="240" name="Straight Arrow Connector 239"/>
            <p:cNvCxnSpPr/>
            <p:nvPr/>
          </p:nvCxnSpPr>
          <p:spPr>
            <a:xfrm>
              <a:off x="3429000" y="1965325"/>
              <a:ext cx="381000" cy="1588"/>
            </a:xfrm>
            <a:prstGeom prst="straightConnector1">
              <a:avLst/>
            </a:prstGeom>
            <a:ln>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61524" name="TextBox 240"/>
            <p:cNvSpPr txBox="1">
              <a:spLocks noChangeArrowheads="1"/>
            </p:cNvSpPr>
            <p:nvPr/>
          </p:nvSpPr>
          <p:spPr bwMode="auto">
            <a:xfrm>
              <a:off x="3429000" y="1706563"/>
              <a:ext cx="454025" cy="276225"/>
            </a:xfrm>
            <a:prstGeom prst="rect">
              <a:avLst/>
            </a:prstGeom>
            <a:noFill/>
            <a:ln w="9525">
              <a:noFill/>
              <a:miter lim="800000"/>
              <a:headEnd/>
              <a:tailEnd/>
            </a:ln>
          </p:spPr>
          <p:txBody>
            <a:bodyPr wrap="none">
              <a:spAutoFit/>
            </a:bodyPr>
            <a:lstStyle/>
            <a:p>
              <a:r>
                <a:rPr lang="en-US" sz="1200">
                  <a:latin typeface="Calibri" pitchFamily="34" charset="0"/>
                </a:rPr>
                <a:t>d+c</a:t>
              </a:r>
            </a:p>
          </p:txBody>
        </p:sp>
        <p:cxnSp>
          <p:nvCxnSpPr>
            <p:cNvPr id="243" name="Straight Arrow Connector 242"/>
            <p:cNvCxnSpPr/>
            <p:nvPr/>
          </p:nvCxnSpPr>
          <p:spPr>
            <a:xfrm rot="5400000">
              <a:off x="3771901" y="2476500"/>
              <a:ext cx="381000" cy="3175"/>
            </a:xfrm>
            <a:prstGeom prst="straightConnector1">
              <a:avLst/>
            </a:prstGeom>
            <a:ln>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61526" name="TextBox 243"/>
            <p:cNvSpPr txBox="1">
              <a:spLocks noChangeArrowheads="1"/>
            </p:cNvSpPr>
            <p:nvPr/>
          </p:nvSpPr>
          <p:spPr bwMode="auto">
            <a:xfrm>
              <a:off x="3962400" y="2286000"/>
              <a:ext cx="454025" cy="276225"/>
            </a:xfrm>
            <a:prstGeom prst="rect">
              <a:avLst/>
            </a:prstGeom>
            <a:noFill/>
            <a:ln w="9525">
              <a:noFill/>
              <a:miter lim="800000"/>
              <a:headEnd/>
              <a:tailEnd/>
            </a:ln>
          </p:spPr>
          <p:txBody>
            <a:bodyPr wrap="none">
              <a:spAutoFit/>
            </a:bodyPr>
            <a:lstStyle/>
            <a:p>
              <a:r>
                <a:rPr lang="en-US" sz="1200">
                  <a:latin typeface="Calibri" pitchFamily="34" charset="0"/>
                </a:rPr>
                <a:t>d+c</a:t>
              </a:r>
            </a:p>
          </p:txBody>
        </p:sp>
        <p:cxnSp>
          <p:nvCxnSpPr>
            <p:cNvPr id="245" name="Straight Arrow Connector 244"/>
            <p:cNvCxnSpPr/>
            <p:nvPr/>
          </p:nvCxnSpPr>
          <p:spPr>
            <a:xfrm rot="5400000">
              <a:off x="2020094" y="3390106"/>
              <a:ext cx="381000" cy="1588"/>
            </a:xfrm>
            <a:prstGeom prst="straightConnector1">
              <a:avLst/>
            </a:prstGeom>
            <a:ln>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246" name="Straight Arrow Connector 245"/>
            <p:cNvCxnSpPr/>
            <p:nvPr/>
          </p:nvCxnSpPr>
          <p:spPr>
            <a:xfrm>
              <a:off x="2514600" y="3733800"/>
              <a:ext cx="379413" cy="1588"/>
            </a:xfrm>
            <a:prstGeom prst="straightConnector1">
              <a:avLst/>
            </a:prstGeom>
            <a:ln>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61529" name="TextBox 247"/>
            <p:cNvSpPr txBox="1">
              <a:spLocks noChangeArrowheads="1"/>
            </p:cNvSpPr>
            <p:nvPr/>
          </p:nvSpPr>
          <p:spPr bwMode="auto">
            <a:xfrm>
              <a:off x="1828800" y="3276600"/>
              <a:ext cx="454025" cy="276225"/>
            </a:xfrm>
            <a:prstGeom prst="rect">
              <a:avLst/>
            </a:prstGeom>
            <a:noFill/>
            <a:ln w="9525">
              <a:noFill/>
              <a:miter lim="800000"/>
              <a:headEnd/>
              <a:tailEnd/>
            </a:ln>
          </p:spPr>
          <p:txBody>
            <a:bodyPr wrap="none">
              <a:spAutoFit/>
            </a:bodyPr>
            <a:lstStyle/>
            <a:p>
              <a:r>
                <a:rPr lang="en-US" sz="1200">
                  <a:latin typeface="Calibri" pitchFamily="34" charset="0"/>
                </a:rPr>
                <a:t>d+c</a:t>
              </a:r>
            </a:p>
          </p:txBody>
        </p:sp>
        <p:sp>
          <p:nvSpPr>
            <p:cNvPr id="61530" name="TextBox 248"/>
            <p:cNvSpPr txBox="1">
              <a:spLocks noChangeArrowheads="1"/>
            </p:cNvSpPr>
            <p:nvPr/>
          </p:nvSpPr>
          <p:spPr bwMode="auto">
            <a:xfrm>
              <a:off x="2514600" y="3686175"/>
              <a:ext cx="454025" cy="276225"/>
            </a:xfrm>
            <a:prstGeom prst="rect">
              <a:avLst/>
            </a:prstGeom>
            <a:noFill/>
            <a:ln w="9525">
              <a:noFill/>
              <a:miter lim="800000"/>
              <a:headEnd/>
              <a:tailEnd/>
            </a:ln>
          </p:spPr>
          <p:txBody>
            <a:bodyPr wrap="none">
              <a:spAutoFit/>
            </a:bodyPr>
            <a:lstStyle/>
            <a:p>
              <a:r>
                <a:rPr lang="en-US" sz="1200">
                  <a:latin typeface="Calibri" pitchFamily="34" charset="0"/>
                </a:rPr>
                <a:t>d+c</a:t>
              </a:r>
            </a:p>
          </p:txBody>
        </p:sp>
      </p:grpSp>
      <p:sp>
        <p:nvSpPr>
          <p:cNvPr id="61443" name="TextBox 105"/>
          <p:cNvSpPr txBox="1">
            <a:spLocks noChangeArrowheads="1"/>
          </p:cNvSpPr>
          <p:nvPr/>
        </p:nvSpPr>
        <p:spPr bwMode="auto">
          <a:xfrm>
            <a:off x="811213" y="171450"/>
            <a:ext cx="7512050" cy="585788"/>
          </a:xfrm>
          <a:prstGeom prst="rect">
            <a:avLst/>
          </a:prstGeom>
          <a:noFill/>
          <a:ln w="9525">
            <a:noFill/>
            <a:miter lim="800000"/>
            <a:headEnd/>
            <a:tailEnd/>
          </a:ln>
        </p:spPr>
        <p:txBody>
          <a:bodyPr>
            <a:spAutoFit/>
          </a:bodyPr>
          <a:lstStyle/>
          <a:p>
            <a:pPr algn="ctr"/>
            <a:r>
              <a:rPr lang="en-US" sz="3200" dirty="0" smtClean="0">
                <a:solidFill>
                  <a:schemeClr val="tx1"/>
                </a:solidFill>
                <a:latin typeface="Calibri" pitchFamily="34" charset="0"/>
              </a:rPr>
              <a:t>Successive </a:t>
            </a:r>
            <a:r>
              <a:rPr lang="en-US" sz="3200" dirty="0">
                <a:solidFill>
                  <a:schemeClr val="tx1"/>
                </a:solidFill>
                <a:latin typeface="Calibri" pitchFamily="34" charset="0"/>
              </a:rPr>
              <a:t>Band Reduction</a:t>
            </a:r>
          </a:p>
        </p:txBody>
      </p:sp>
      <p:sp>
        <p:nvSpPr>
          <p:cNvPr id="37977" name="TextBox 106"/>
          <p:cNvSpPr txBox="1">
            <a:spLocks noChangeArrowheads="1"/>
          </p:cNvSpPr>
          <p:nvPr/>
        </p:nvSpPr>
        <p:spPr bwMode="auto">
          <a:xfrm>
            <a:off x="9829800" y="762000"/>
            <a:ext cx="4914900" cy="2554287"/>
          </a:xfrm>
          <a:prstGeom prst="rect">
            <a:avLst/>
          </a:prstGeom>
          <a:noFill/>
          <a:ln w="9525">
            <a:noFill/>
            <a:miter lim="800000"/>
            <a:headEnd/>
            <a:tailEnd/>
          </a:ln>
        </p:spPr>
        <p:txBody>
          <a:bodyPr>
            <a:spAutoFit/>
          </a:bodyPr>
          <a:lstStyle/>
          <a:p>
            <a:r>
              <a:rPr lang="en-US" dirty="0">
                <a:solidFill>
                  <a:schemeClr val="tx1"/>
                </a:solidFill>
                <a:latin typeface="Calibri" pitchFamily="34" charset="0"/>
              </a:rPr>
              <a:t>To minimize #words moved (when n &gt; M</a:t>
            </a:r>
            <a:r>
              <a:rPr lang="en-US" baseline="30000" dirty="0">
                <a:solidFill>
                  <a:schemeClr val="tx1"/>
                </a:solidFill>
                <a:latin typeface="Calibri" pitchFamily="34" charset="0"/>
              </a:rPr>
              <a:t>1/2</a:t>
            </a:r>
            <a:r>
              <a:rPr lang="en-US" dirty="0">
                <a:solidFill>
                  <a:schemeClr val="tx1"/>
                </a:solidFill>
                <a:latin typeface="Calibri" pitchFamily="34" charset="0"/>
              </a:rPr>
              <a:t> )</a:t>
            </a:r>
          </a:p>
          <a:p>
            <a:r>
              <a:rPr lang="en-US" dirty="0">
                <a:solidFill>
                  <a:schemeClr val="tx1"/>
                </a:solidFill>
                <a:latin typeface="Calibri" pitchFamily="34" charset="0"/>
              </a:rPr>
              <a:t>after reducing to bandwidth b = M</a:t>
            </a:r>
            <a:r>
              <a:rPr lang="en-US" baseline="30000" dirty="0">
                <a:solidFill>
                  <a:schemeClr val="tx1"/>
                </a:solidFill>
                <a:latin typeface="Calibri" pitchFamily="34" charset="0"/>
              </a:rPr>
              <a:t>1/2</a:t>
            </a:r>
            <a:r>
              <a:rPr lang="en-US" dirty="0">
                <a:solidFill>
                  <a:schemeClr val="tx1"/>
                </a:solidFill>
                <a:latin typeface="Calibri" pitchFamily="34" charset="0"/>
              </a:rPr>
              <a:t> :</a:t>
            </a:r>
          </a:p>
          <a:p>
            <a:endParaRPr lang="en-US" dirty="0">
              <a:solidFill>
                <a:schemeClr val="tx1"/>
              </a:solidFill>
              <a:latin typeface="Calibri" pitchFamily="34" charset="0"/>
            </a:endParaRPr>
          </a:p>
          <a:p>
            <a:r>
              <a:rPr lang="en-US" dirty="0">
                <a:solidFill>
                  <a:schemeClr val="tx1"/>
                </a:solidFill>
                <a:latin typeface="Calibri" pitchFamily="34" charset="0"/>
              </a:rPr>
              <a:t>if n &gt; M</a:t>
            </a:r>
          </a:p>
          <a:p>
            <a:r>
              <a:rPr lang="en-US" dirty="0">
                <a:solidFill>
                  <a:schemeClr val="tx1"/>
                </a:solidFill>
                <a:latin typeface="Calibri" pitchFamily="34" charset="0"/>
              </a:rPr>
              <a:t>   Use d=b-1 and c=1  </a:t>
            </a:r>
          </a:p>
          <a:p>
            <a:r>
              <a:rPr lang="en-US" dirty="0">
                <a:solidFill>
                  <a:schemeClr val="tx1"/>
                </a:solidFill>
                <a:latin typeface="Calibri" pitchFamily="34" charset="0"/>
              </a:rPr>
              <a:t>else if M</a:t>
            </a:r>
            <a:r>
              <a:rPr lang="en-US" baseline="30000" dirty="0">
                <a:solidFill>
                  <a:schemeClr val="tx1"/>
                </a:solidFill>
                <a:latin typeface="Calibri" pitchFamily="34" charset="0"/>
              </a:rPr>
              <a:t>1/2</a:t>
            </a:r>
            <a:r>
              <a:rPr lang="en-US" dirty="0">
                <a:solidFill>
                  <a:schemeClr val="tx1"/>
                </a:solidFill>
                <a:latin typeface="Calibri" pitchFamily="34" charset="0"/>
              </a:rPr>
              <a:t>  &lt; n ≤ M</a:t>
            </a:r>
          </a:p>
          <a:p>
            <a:r>
              <a:rPr lang="en-US" dirty="0">
                <a:solidFill>
                  <a:schemeClr val="tx1"/>
                </a:solidFill>
                <a:latin typeface="Calibri" pitchFamily="34" charset="0"/>
              </a:rPr>
              <a:t>   Pass 1: Use  d=b – M/(4n) and c=M/(4n)</a:t>
            </a:r>
          </a:p>
          <a:p>
            <a:r>
              <a:rPr lang="en-US" dirty="0">
                <a:solidFill>
                  <a:schemeClr val="tx1"/>
                </a:solidFill>
                <a:latin typeface="Calibri" pitchFamily="34" charset="0"/>
              </a:rPr>
              <a:t>   Pass 2: Use  d=M/(4n)-1 and c=1</a:t>
            </a:r>
          </a:p>
        </p:txBody>
      </p:sp>
      <p:grpSp>
        <p:nvGrpSpPr>
          <p:cNvPr id="123" name="Group 122"/>
          <p:cNvGrpSpPr/>
          <p:nvPr/>
        </p:nvGrpSpPr>
        <p:grpSpPr>
          <a:xfrm>
            <a:off x="5638800" y="1524000"/>
            <a:ext cx="3218445" cy="2362200"/>
            <a:chOff x="5638800" y="1524000"/>
            <a:chExt cx="3218445" cy="2362200"/>
          </a:xfrm>
        </p:grpSpPr>
        <p:sp>
          <p:nvSpPr>
            <p:cNvPr id="109" name="TextBox 108"/>
            <p:cNvSpPr txBox="1"/>
            <p:nvPr/>
          </p:nvSpPr>
          <p:spPr>
            <a:xfrm>
              <a:off x="5638800" y="1524000"/>
              <a:ext cx="3218445" cy="646331"/>
            </a:xfrm>
            <a:prstGeom prst="rect">
              <a:avLst/>
            </a:prstGeom>
            <a:noFill/>
          </p:spPr>
          <p:txBody>
            <a:bodyPr wrap="none" rtlCol="0">
              <a:spAutoFit/>
            </a:bodyPr>
            <a:lstStyle/>
            <a:p>
              <a:r>
                <a:rPr lang="en-US" dirty="0" smtClean="0"/>
                <a:t>Only need to zero out leading</a:t>
              </a:r>
            </a:p>
            <a:p>
              <a:r>
                <a:rPr lang="en-US" dirty="0" smtClean="0"/>
                <a:t>parallelogram of each trapezoid:</a:t>
              </a:r>
              <a:endParaRPr lang="en-US" dirty="0"/>
            </a:p>
          </p:txBody>
        </p:sp>
        <p:cxnSp>
          <p:nvCxnSpPr>
            <p:cNvPr id="113" name="Straight Connector 112"/>
            <p:cNvCxnSpPr/>
            <p:nvPr/>
          </p:nvCxnSpPr>
          <p:spPr>
            <a:xfrm rot="5400000">
              <a:off x="6286500" y="2857500"/>
              <a:ext cx="533400"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14" name="Straight Connector 113"/>
            <p:cNvCxnSpPr/>
            <p:nvPr/>
          </p:nvCxnSpPr>
          <p:spPr>
            <a:xfrm rot="5400000">
              <a:off x="7200899" y="3619500"/>
              <a:ext cx="533400"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16" name="Straight Connector 115"/>
            <p:cNvCxnSpPr/>
            <p:nvPr/>
          </p:nvCxnSpPr>
          <p:spPr>
            <a:xfrm>
              <a:off x="6553200" y="3124200"/>
              <a:ext cx="914400" cy="76200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19" name="Straight Connector 118"/>
            <p:cNvCxnSpPr/>
            <p:nvPr/>
          </p:nvCxnSpPr>
          <p:spPr>
            <a:xfrm>
              <a:off x="7467600" y="3886200"/>
              <a:ext cx="609600"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21" name="Straight Connector 120"/>
            <p:cNvCxnSpPr/>
            <p:nvPr/>
          </p:nvCxnSpPr>
          <p:spPr>
            <a:xfrm>
              <a:off x="6553200" y="2590800"/>
              <a:ext cx="1524000" cy="1295400"/>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122" name="TextBox 121"/>
            <p:cNvSpPr txBox="1"/>
            <p:nvPr/>
          </p:nvSpPr>
          <p:spPr>
            <a:xfrm>
              <a:off x="6858000" y="2971800"/>
              <a:ext cx="301686" cy="369332"/>
            </a:xfrm>
            <a:prstGeom prst="rect">
              <a:avLst/>
            </a:prstGeom>
            <a:noFill/>
          </p:spPr>
          <p:txBody>
            <a:bodyPr wrap="none" rtlCol="0">
              <a:spAutoFit/>
            </a:bodyPr>
            <a:lstStyle/>
            <a:p>
              <a:r>
                <a:rPr lang="en-US" dirty="0" smtClean="0"/>
                <a:t>2</a:t>
              </a:r>
              <a:endParaRPr lang="en-US" dirty="0"/>
            </a:p>
          </p:txBody>
        </p:sp>
      </p:grpSp>
      <p:sp>
        <p:nvSpPr>
          <p:cNvPr id="124" name="TextBox 123"/>
          <p:cNvSpPr txBox="1"/>
          <p:nvPr/>
        </p:nvSpPr>
        <p:spPr>
          <a:xfrm>
            <a:off x="685800" y="5181600"/>
            <a:ext cx="1956177" cy="1200329"/>
          </a:xfrm>
          <a:prstGeom prst="rect">
            <a:avLst/>
          </a:prstGeom>
          <a:noFill/>
        </p:spPr>
        <p:txBody>
          <a:bodyPr wrap="none" rtlCol="0">
            <a:spAutoFit/>
          </a:bodyPr>
          <a:lstStyle/>
          <a:p>
            <a:r>
              <a:rPr lang="en-US" dirty="0" smtClean="0"/>
              <a:t>b = bandwidth</a:t>
            </a:r>
          </a:p>
          <a:p>
            <a:r>
              <a:rPr lang="en-US" dirty="0" smtClean="0"/>
              <a:t>c = #columns</a:t>
            </a:r>
          </a:p>
          <a:p>
            <a:r>
              <a:rPr lang="en-US" dirty="0" smtClean="0"/>
              <a:t>d = #diagonals</a:t>
            </a:r>
          </a:p>
          <a:p>
            <a:r>
              <a:rPr lang="en-US" dirty="0" smtClean="0"/>
              <a:t>Constraint: </a:t>
            </a:r>
            <a:r>
              <a:rPr lang="en-US" dirty="0" err="1" smtClean="0"/>
              <a:t>c+d</a:t>
            </a:r>
            <a:r>
              <a:rPr lang="en-US" dirty="0" smtClean="0"/>
              <a:t> </a:t>
            </a:r>
            <a:r>
              <a:rPr lang="en-US" dirty="0" smtClean="0">
                <a:sym typeface="Symbol"/>
              </a:rPr>
              <a:t> b</a:t>
            </a:r>
            <a:endParaRPr lang="en-US" dirty="0"/>
          </a:p>
        </p:txBody>
      </p:sp>
    </p:spTree>
    <p:extLst>
      <p:ext uri="{BB962C8B-B14F-4D97-AF65-F5344CB8AC3E}">
        <p14:creationId xmlns:p14="http://schemas.microsoft.com/office/powerpoint/2010/main" val="579258627"/>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797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977"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Conventional </a:t>
            </a:r>
            <a:r>
              <a:rPr lang="en-US" dirty="0" err="1" smtClean="0"/>
              <a:t>vs</a:t>
            </a:r>
            <a:r>
              <a:rPr lang="en-US" dirty="0" smtClean="0"/>
              <a:t> CA - SBR</a:t>
            </a:r>
            <a:endParaRPr lang="en-US" dirty="0"/>
          </a:p>
        </p:txBody>
      </p:sp>
      <p:pic>
        <p:nvPicPr>
          <p:cNvPr id="3" name="CASBR_n1000_b20_m1.avi">
            <a:hlinkClick r:id="" action="ppaction://media"/>
          </p:cNvPr>
          <p:cNvPicPr>
            <a:picLocks noRot="1" noChangeAspect="1"/>
          </p:cNvPicPr>
          <p:nvPr>
            <a:videoFile r:link="rId2"/>
            <p:extLst>
              <p:ext uri="{DAA4B4D4-6D71-4841-9C94-3DE7FCFB9230}">
                <p14:media xmlns:p14="http://schemas.microsoft.com/office/powerpoint/2010/main" r:link="rId1"/>
              </p:ext>
            </p:extLst>
          </p:nvPr>
        </p:nvPicPr>
        <p:blipFill>
          <a:blip r:embed="rId6" cstate="print"/>
          <a:stretch>
            <a:fillRect/>
          </a:stretch>
        </p:blipFill>
        <p:spPr>
          <a:xfrm>
            <a:off x="533400" y="1752600"/>
            <a:ext cx="3267075" cy="3267075"/>
          </a:xfrm>
          <a:prstGeom prst="rect">
            <a:avLst/>
          </a:prstGeom>
        </p:spPr>
      </p:pic>
      <p:pic>
        <p:nvPicPr>
          <p:cNvPr id="4" name="CASBR_n1000_b20_m4.avi">
            <a:hlinkClick r:id="" action="ppaction://media"/>
          </p:cNvPr>
          <p:cNvPicPr>
            <a:picLocks noRot="1" noChangeAspect="1"/>
          </p:cNvPicPr>
          <p:nvPr>
            <a:videoFile r:link="rId4"/>
            <p:extLst>
              <p:ext uri="{DAA4B4D4-6D71-4841-9C94-3DE7FCFB9230}">
                <p14:media xmlns:p14="http://schemas.microsoft.com/office/powerpoint/2010/main" r:link="rId3"/>
              </p:ext>
            </p:extLst>
          </p:nvPr>
        </p:nvPicPr>
        <p:blipFill>
          <a:blip r:embed="rId6" cstate="print"/>
          <a:stretch>
            <a:fillRect/>
          </a:stretch>
        </p:blipFill>
        <p:spPr>
          <a:xfrm>
            <a:off x="5267325" y="1752600"/>
            <a:ext cx="3267075" cy="3267075"/>
          </a:xfrm>
          <a:prstGeom prst="rect">
            <a:avLst/>
          </a:prstGeom>
        </p:spPr>
      </p:pic>
      <p:sp>
        <p:nvSpPr>
          <p:cNvPr id="5" name="TextBox 4"/>
          <p:cNvSpPr txBox="1"/>
          <p:nvPr/>
        </p:nvSpPr>
        <p:spPr>
          <a:xfrm>
            <a:off x="1084316" y="5029200"/>
            <a:ext cx="2116084" cy="523220"/>
          </a:xfrm>
          <a:prstGeom prst="rect">
            <a:avLst/>
          </a:prstGeom>
          <a:noFill/>
        </p:spPr>
        <p:txBody>
          <a:bodyPr wrap="none" rtlCol="0">
            <a:spAutoFit/>
          </a:bodyPr>
          <a:lstStyle/>
          <a:p>
            <a:r>
              <a:rPr lang="en-US" sz="2800" dirty="0" smtClean="0"/>
              <a:t>Conventional</a:t>
            </a:r>
            <a:endParaRPr lang="en-US" sz="2800" dirty="0"/>
          </a:p>
        </p:txBody>
      </p:sp>
      <p:sp>
        <p:nvSpPr>
          <p:cNvPr id="6" name="TextBox 5"/>
          <p:cNvSpPr txBox="1"/>
          <p:nvPr/>
        </p:nvSpPr>
        <p:spPr>
          <a:xfrm>
            <a:off x="5042227" y="4953000"/>
            <a:ext cx="3881115" cy="523220"/>
          </a:xfrm>
          <a:prstGeom prst="rect">
            <a:avLst/>
          </a:prstGeom>
          <a:noFill/>
        </p:spPr>
        <p:txBody>
          <a:bodyPr wrap="none" rtlCol="0">
            <a:spAutoFit/>
          </a:bodyPr>
          <a:lstStyle/>
          <a:p>
            <a:pPr algn="ctr"/>
            <a:r>
              <a:rPr lang="en-US" sz="2800" dirty="0" smtClean="0"/>
              <a:t>Communication-Avoiding</a:t>
            </a:r>
            <a:endParaRPr lang="en-US" sz="2800" dirty="0"/>
          </a:p>
        </p:txBody>
      </p:sp>
      <p:sp>
        <p:nvSpPr>
          <p:cNvPr id="7" name="TextBox 6"/>
          <p:cNvSpPr txBox="1"/>
          <p:nvPr/>
        </p:nvSpPr>
        <p:spPr>
          <a:xfrm>
            <a:off x="762000" y="5562600"/>
            <a:ext cx="7635424" cy="1200329"/>
          </a:xfrm>
          <a:prstGeom prst="rect">
            <a:avLst/>
          </a:prstGeom>
          <a:noFill/>
        </p:spPr>
        <p:txBody>
          <a:bodyPr wrap="none" rtlCol="0">
            <a:spAutoFit/>
          </a:bodyPr>
          <a:lstStyle/>
          <a:p>
            <a:r>
              <a:rPr lang="en-US" dirty="0" smtClean="0"/>
              <a:t>Many tuning parameters:</a:t>
            </a:r>
          </a:p>
          <a:p>
            <a:r>
              <a:rPr lang="en-US" dirty="0"/>
              <a:t> </a:t>
            </a:r>
            <a:r>
              <a:rPr lang="en-US" dirty="0" smtClean="0"/>
              <a:t>   Number of “sweeps”,  #diagonals cleared per sweep,   sizes of parallelograms</a:t>
            </a:r>
          </a:p>
          <a:p>
            <a:r>
              <a:rPr lang="en-US" dirty="0" smtClean="0"/>
              <a:t>    #bulges chased at one time,    how far to chase each </a:t>
            </a:r>
            <a:r>
              <a:rPr lang="en-US" dirty="0" smtClean="0"/>
              <a:t>bulge</a:t>
            </a:r>
          </a:p>
          <a:p>
            <a:r>
              <a:rPr lang="en-US" dirty="0" smtClean="0"/>
              <a:t>Right choices reduce #</a:t>
            </a:r>
            <a:r>
              <a:rPr lang="en-US" dirty="0" err="1" smtClean="0"/>
              <a:t>words_moved</a:t>
            </a:r>
            <a:r>
              <a:rPr lang="en-US" dirty="0" smtClean="0"/>
              <a:t> by factor M/</a:t>
            </a:r>
            <a:r>
              <a:rPr lang="en-US" dirty="0" err="1" smtClean="0"/>
              <a:t>bw</a:t>
            </a:r>
            <a:r>
              <a:rPr lang="en-US" dirty="0" smtClean="0"/>
              <a:t>, not just M</a:t>
            </a:r>
            <a:r>
              <a:rPr lang="en-US" baseline="30000" dirty="0" smtClean="0"/>
              <a:t>1/2</a:t>
            </a:r>
            <a:r>
              <a:rPr lang="en-US" dirty="0" smtClean="0"/>
              <a:t>  </a:t>
            </a:r>
            <a:endParaRPr lang="en-US" dirty="0"/>
          </a:p>
        </p:txBody>
      </p:sp>
      <p:sp>
        <p:nvSpPr>
          <p:cNvPr id="8" name="TextBox 7"/>
          <p:cNvSpPr txBox="1"/>
          <p:nvPr/>
        </p:nvSpPr>
        <p:spPr>
          <a:xfrm>
            <a:off x="838200" y="1295400"/>
            <a:ext cx="2239165" cy="369332"/>
          </a:xfrm>
          <a:prstGeom prst="rect">
            <a:avLst/>
          </a:prstGeom>
          <a:noFill/>
        </p:spPr>
        <p:txBody>
          <a:bodyPr wrap="none" rtlCol="0">
            <a:spAutoFit/>
          </a:bodyPr>
          <a:lstStyle/>
          <a:p>
            <a:r>
              <a:rPr lang="en-US" dirty="0" smtClean="0"/>
              <a:t>Touch all data 4 times</a:t>
            </a:r>
            <a:endParaRPr lang="en-US" dirty="0"/>
          </a:p>
        </p:txBody>
      </p:sp>
      <p:sp>
        <p:nvSpPr>
          <p:cNvPr id="9" name="TextBox 8"/>
          <p:cNvSpPr txBox="1"/>
          <p:nvPr/>
        </p:nvSpPr>
        <p:spPr>
          <a:xfrm>
            <a:off x="5993682" y="1295400"/>
            <a:ext cx="2007318" cy="369332"/>
          </a:xfrm>
          <a:prstGeom prst="rect">
            <a:avLst/>
          </a:prstGeom>
          <a:noFill/>
        </p:spPr>
        <p:txBody>
          <a:bodyPr wrap="none" rtlCol="0">
            <a:spAutoFit/>
          </a:bodyPr>
          <a:lstStyle/>
          <a:p>
            <a:r>
              <a:rPr lang="en-US" dirty="0" smtClean="0"/>
              <a:t>Touch all data once</a:t>
            </a:r>
            <a:endParaRPr lang="en-US" dirty="0"/>
          </a:p>
        </p:txBody>
      </p:sp>
    </p:spTree>
    <p:extLst>
      <p:ext uri="{BB962C8B-B14F-4D97-AF65-F5344CB8AC3E}">
        <p14:creationId xmlns:p14="http://schemas.microsoft.com/office/powerpoint/2010/main" val="1029638633"/>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1"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seq concurrent="1" nextAc="seek">
              <p:cTn id="11" restart="whenNotActive" fill="hold" evtFilter="cancelBubble" nodeType="interactiveSeq">
                <p:stCondLst>
                  <p:cond evt="onClick" delay="0">
                    <p:tgtEl>
                      <p:spTgt spid="3"/>
                    </p:tgtEl>
                  </p:cond>
                </p:stCondLst>
                <p:endSync evt="end" delay="0">
                  <p:rtn val="all"/>
                </p:endSync>
                <p:childTnLst>
                  <p:par>
                    <p:cTn id="12" fill="hold">
                      <p:stCondLst>
                        <p:cond delay="0"/>
                      </p:stCondLst>
                      <p:childTnLst>
                        <p:par>
                          <p:cTn id="13" fill="hold">
                            <p:stCondLst>
                              <p:cond delay="0"/>
                            </p:stCondLst>
                            <p:childTnLst>
                              <p:par>
                                <p:cTn id="14" presetID="2" presetClass="mediacall" presetSubtype="0" fill="hold" nodeType="clickEffect">
                                  <p:stCondLst>
                                    <p:cond delay="0"/>
                                  </p:stCondLst>
                                  <p:childTnLst>
                                    <p:cmd type="call" cmd="togglePause">
                                      <p:cBhvr>
                                        <p:cTn id="15" dur="1" fill="hold"/>
                                        <p:tgtEl>
                                          <p:spTgt spid="3"/>
                                        </p:tgtEl>
                                      </p:cBhvr>
                                    </p:cmd>
                                  </p:childTnLst>
                                </p:cTn>
                              </p:par>
                            </p:childTnLst>
                          </p:cTn>
                        </p:par>
                      </p:childTnLst>
                    </p:cTn>
                  </p:par>
                </p:childTnLst>
              </p:cTn>
              <p:nextCondLst>
                <p:cond evt="onClick" delay="0">
                  <p:tgtEl>
                    <p:spTgt spid="3"/>
                  </p:tgtEl>
                </p:cond>
              </p:nextCondLst>
            </p:seq>
            <p:video>
              <p:cMediaNode>
                <p:cTn id="16" fill="hold" display="0">
                  <p:stCondLst>
                    <p:cond delay="indefinite"/>
                  </p:stCondLst>
                  <p:endCondLst>
                    <p:cond evt="onNext" delay="0">
                      <p:tgtEl>
                        <p:sldTgt/>
                      </p:tgtEl>
                    </p:cond>
                    <p:cond evt="onPrev" delay="0">
                      <p:tgtEl>
                        <p:sldTgt/>
                      </p:tgtEl>
                    </p:cond>
                  </p:endCondLst>
                </p:cTn>
                <p:tgtEl>
                  <p:spTgt spid="3"/>
                </p:tgtEl>
              </p:cMediaNode>
            </p:video>
            <p:seq concurrent="1" nextAc="seek">
              <p:cTn id="17" restart="whenNotActive" fill="hold" evtFilter="cancelBubble" nodeType="interactiveSeq">
                <p:stCondLst>
                  <p:cond evt="onClick" delay="0">
                    <p:tgtEl>
                      <p:spTgt spid="4"/>
                    </p:tgtEl>
                  </p:cond>
                </p:stCondLst>
                <p:endSync evt="end" delay="0">
                  <p:rtn val="all"/>
                </p:endSync>
                <p:childTnLst>
                  <p:par>
                    <p:cTn id="18" fill="hold">
                      <p:stCondLst>
                        <p:cond delay="0"/>
                      </p:stCondLst>
                      <p:childTnLst>
                        <p:par>
                          <p:cTn id="19" fill="hold">
                            <p:stCondLst>
                              <p:cond delay="0"/>
                            </p:stCondLst>
                            <p:childTnLst>
                              <p:par>
                                <p:cTn id="20" presetID="2" presetClass="mediacall" presetSubtype="0" fill="hold" nodeType="clickEffect">
                                  <p:stCondLst>
                                    <p:cond delay="0"/>
                                  </p:stCondLst>
                                  <p:childTnLst>
                                    <p:cmd type="call" cmd="togglePause">
                                      <p:cBhvr>
                                        <p:cTn id="21" dur="1" fill="hold"/>
                                        <p:tgtEl>
                                          <p:spTgt spid="4"/>
                                        </p:tgtEl>
                                      </p:cBhvr>
                                    </p:cmd>
                                  </p:childTnLst>
                                </p:cTn>
                              </p:par>
                              <p:par>
                                <p:cTn id="22" presetID="1" presetClass="entr" presetSubtype="0" fill="hold" grpId="0" nodeType="withEffect">
                                  <p:stCondLst>
                                    <p:cond delay="0"/>
                                  </p:stCondLst>
                                  <p:childTnLst>
                                    <p:set>
                                      <p:cBhvr>
                                        <p:cTn id="23" dur="1" fill="hold">
                                          <p:stCondLst>
                                            <p:cond delay="0"/>
                                          </p:stCondLst>
                                        </p:cTn>
                                        <p:tgtEl>
                                          <p:spTgt spid="7"/>
                                        </p:tgtEl>
                                        <p:attrNameLst>
                                          <p:attrName>style.visibility</p:attrName>
                                        </p:attrNameLst>
                                      </p:cBhvr>
                                      <p:to>
                                        <p:strVal val="visible"/>
                                      </p:to>
                                    </p:set>
                                  </p:childTnLst>
                                </p:cTn>
                              </p:par>
                            </p:childTnLst>
                          </p:cTn>
                        </p:par>
                      </p:childTnLst>
                    </p:cTn>
                  </p:par>
                </p:childTnLst>
              </p:cTn>
              <p:nextCondLst>
                <p:cond evt="onClick" delay="0">
                  <p:tgtEl>
                    <p:spTgt spid="4"/>
                  </p:tgtEl>
                </p:cond>
              </p:nextCondLst>
            </p:seq>
            <p:video>
              <p:cMediaNode>
                <p:cTn id="24" fill="hold" display="0">
                  <p:stCondLst>
                    <p:cond delay="indefinite"/>
                  </p:stCondLst>
                  <p:endCondLst>
                    <p:cond evt="onNext" delay="0">
                      <p:tgtEl>
                        <p:sldTgt/>
                      </p:tgtEl>
                    </p:cond>
                    <p:cond evt="onPrev" delay="0">
                      <p:tgtEl>
                        <p:sldTgt/>
                      </p:tgtEl>
                    </p:cond>
                  </p:endCondLst>
                </p:cTn>
                <p:tgtEl>
                  <p:spTgt spid="4"/>
                </p:tgtEl>
              </p:cMediaNode>
            </p:video>
          </p:childTnLst>
        </p:cTn>
      </p:par>
    </p:tnLst>
    <p:bldLst>
      <p:bldP spid="7" grpId="0"/>
      <p:bldP spid="7" grpId="1"/>
      <p:bldP spid="8" grpId="0"/>
      <p:bldP spid="9"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Speedups of Sym. Band Reduction</a:t>
            </a:r>
            <a:br>
              <a:rPr lang="en-US" dirty="0" smtClean="0"/>
            </a:br>
            <a:r>
              <a:rPr lang="en-US" dirty="0" err="1" smtClean="0"/>
              <a:t>vs</a:t>
            </a:r>
            <a:r>
              <a:rPr lang="en-US" dirty="0" smtClean="0"/>
              <a:t> DSBTRD</a:t>
            </a:r>
            <a:endParaRPr lang="en-US" dirty="0"/>
          </a:p>
        </p:txBody>
      </p:sp>
      <p:sp>
        <p:nvSpPr>
          <p:cNvPr id="3" name="Content Placeholder 2"/>
          <p:cNvSpPr>
            <a:spLocks noGrp="1"/>
          </p:cNvSpPr>
          <p:nvPr>
            <p:ph idx="1"/>
          </p:nvPr>
        </p:nvSpPr>
        <p:spPr>
          <a:xfrm>
            <a:off x="457200" y="1600200"/>
            <a:ext cx="8534400" cy="5257800"/>
          </a:xfrm>
        </p:spPr>
        <p:txBody>
          <a:bodyPr>
            <a:normAutofit fontScale="85000" lnSpcReduction="20000"/>
          </a:bodyPr>
          <a:lstStyle/>
          <a:p>
            <a:r>
              <a:rPr lang="en-US" dirty="0" smtClean="0"/>
              <a:t>Up to </a:t>
            </a:r>
            <a:r>
              <a:rPr lang="en-US" b="1" dirty="0" smtClean="0"/>
              <a:t>17x</a:t>
            </a:r>
            <a:r>
              <a:rPr lang="en-US" dirty="0" smtClean="0"/>
              <a:t> on Intel </a:t>
            </a:r>
            <a:r>
              <a:rPr lang="en-US" dirty="0" err="1" smtClean="0"/>
              <a:t>Gainestown</a:t>
            </a:r>
            <a:r>
              <a:rPr lang="en-US" dirty="0" smtClean="0"/>
              <a:t>, </a:t>
            </a:r>
            <a:r>
              <a:rPr lang="en-US" dirty="0" err="1" smtClean="0"/>
              <a:t>vs</a:t>
            </a:r>
            <a:r>
              <a:rPr lang="en-US" dirty="0" smtClean="0"/>
              <a:t> MKL 10.0</a:t>
            </a:r>
          </a:p>
          <a:p>
            <a:pPr lvl="1"/>
            <a:r>
              <a:rPr lang="en-US" dirty="0" smtClean="0"/>
              <a:t>n=12000, b=500, 8 threads</a:t>
            </a:r>
          </a:p>
          <a:p>
            <a:r>
              <a:rPr lang="en-US" dirty="0" smtClean="0"/>
              <a:t>Up to </a:t>
            </a:r>
            <a:r>
              <a:rPr lang="en-US" b="1" dirty="0" smtClean="0"/>
              <a:t>12x</a:t>
            </a:r>
            <a:r>
              <a:rPr lang="en-US" dirty="0" smtClean="0"/>
              <a:t> on Intel </a:t>
            </a:r>
            <a:r>
              <a:rPr lang="en-US" dirty="0" err="1" smtClean="0"/>
              <a:t>Westmere</a:t>
            </a:r>
            <a:r>
              <a:rPr lang="en-US" dirty="0" smtClean="0"/>
              <a:t>, </a:t>
            </a:r>
            <a:r>
              <a:rPr lang="en-US" dirty="0" err="1" smtClean="0"/>
              <a:t>vs</a:t>
            </a:r>
            <a:r>
              <a:rPr lang="en-US" dirty="0" smtClean="0"/>
              <a:t> MKL 10.3</a:t>
            </a:r>
          </a:p>
          <a:p>
            <a:pPr lvl="1"/>
            <a:r>
              <a:rPr lang="en-US" dirty="0" smtClean="0"/>
              <a:t>n=12000, b=200, 10 threads</a:t>
            </a:r>
          </a:p>
          <a:p>
            <a:r>
              <a:rPr lang="en-US" dirty="0" smtClean="0"/>
              <a:t>Up to </a:t>
            </a:r>
            <a:r>
              <a:rPr lang="en-US" b="1" dirty="0" smtClean="0"/>
              <a:t>25x</a:t>
            </a:r>
            <a:r>
              <a:rPr lang="en-US" dirty="0" smtClean="0"/>
              <a:t> on AMD Budapest, </a:t>
            </a:r>
            <a:r>
              <a:rPr lang="en-US" dirty="0" err="1" smtClean="0"/>
              <a:t>vs</a:t>
            </a:r>
            <a:r>
              <a:rPr lang="en-US" dirty="0" smtClean="0"/>
              <a:t> ACML 4.4</a:t>
            </a:r>
          </a:p>
          <a:p>
            <a:pPr lvl="1"/>
            <a:r>
              <a:rPr lang="en-US" dirty="0" smtClean="0"/>
              <a:t>n=9000, b=500, 4 threads</a:t>
            </a:r>
          </a:p>
          <a:p>
            <a:r>
              <a:rPr lang="en-US" dirty="0" smtClean="0"/>
              <a:t>Up to </a:t>
            </a:r>
            <a:r>
              <a:rPr lang="en-US" b="1" dirty="0" smtClean="0"/>
              <a:t>30x</a:t>
            </a:r>
            <a:r>
              <a:rPr lang="en-US" dirty="0" smtClean="0"/>
              <a:t> on AMD </a:t>
            </a:r>
            <a:r>
              <a:rPr lang="en-US" dirty="0" err="1" smtClean="0"/>
              <a:t>Magny-Cours</a:t>
            </a:r>
            <a:r>
              <a:rPr lang="en-US" dirty="0" smtClean="0"/>
              <a:t>, </a:t>
            </a:r>
            <a:r>
              <a:rPr lang="en-US" dirty="0" err="1" smtClean="0"/>
              <a:t>vs</a:t>
            </a:r>
            <a:r>
              <a:rPr lang="en-US" dirty="0" smtClean="0"/>
              <a:t> ACML 4.4</a:t>
            </a:r>
          </a:p>
          <a:p>
            <a:pPr lvl="1"/>
            <a:r>
              <a:rPr lang="en-US" dirty="0" smtClean="0"/>
              <a:t>n=12000, b=500, 6 threads</a:t>
            </a:r>
          </a:p>
          <a:p>
            <a:pPr lvl="1">
              <a:buNone/>
            </a:pPr>
            <a:endParaRPr lang="en-US" dirty="0" smtClean="0"/>
          </a:p>
          <a:p>
            <a:r>
              <a:rPr lang="en-US" dirty="0" smtClean="0"/>
              <a:t>Neither MKL nor ACML benefits from multithreading in DSBTRD </a:t>
            </a:r>
          </a:p>
          <a:p>
            <a:pPr lvl="1"/>
            <a:r>
              <a:rPr lang="en-US" dirty="0" smtClean="0"/>
              <a:t>Best sequential speedup </a:t>
            </a:r>
            <a:r>
              <a:rPr lang="en-US" dirty="0" err="1" smtClean="0"/>
              <a:t>vs</a:t>
            </a:r>
            <a:r>
              <a:rPr lang="en-US" dirty="0" smtClean="0"/>
              <a:t> MKL: </a:t>
            </a:r>
            <a:r>
              <a:rPr lang="en-US" b="1" dirty="0" smtClean="0"/>
              <a:t>1.9x</a:t>
            </a:r>
          </a:p>
          <a:p>
            <a:pPr lvl="1"/>
            <a:r>
              <a:rPr lang="en-US" dirty="0" smtClean="0"/>
              <a:t>Best sequential speedup </a:t>
            </a:r>
            <a:r>
              <a:rPr lang="en-US" dirty="0" err="1" smtClean="0"/>
              <a:t>vs</a:t>
            </a:r>
            <a:r>
              <a:rPr lang="en-US" dirty="0" smtClean="0"/>
              <a:t> ACML: </a:t>
            </a:r>
            <a:r>
              <a:rPr lang="en-US" b="1" dirty="0" smtClean="0"/>
              <a:t>8.5x</a:t>
            </a:r>
          </a:p>
          <a:p>
            <a:endParaRPr lang="en-US" b="1" dirty="0" smtClean="0"/>
          </a:p>
          <a:p>
            <a:pPr lvl="1"/>
            <a:endParaRPr lang="en-US" dirty="0" smtClean="0"/>
          </a:p>
          <a:p>
            <a:pPr lvl="1"/>
            <a:endParaRPr lang="en-US" dirty="0"/>
          </a:p>
        </p:txBody>
      </p:sp>
    </p:spTree>
    <p:extLst>
      <p:ext uri="{BB962C8B-B14F-4D97-AF65-F5344CB8AC3E}">
        <p14:creationId xmlns:p14="http://schemas.microsoft.com/office/powerpoint/2010/main" val="2437850550"/>
      </p:ext>
    </p:extLst>
  </p:cSld>
  <p:clrMapOvr>
    <a:masterClrMapping/>
  </p:clrMapOvr>
  <p:timing>
    <p:tnLst>
      <p:par>
        <p:cTn xmlns:p14="http://schemas.microsoft.com/office/powerpoint/2010/mai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4"/>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chemeClr val="tx1"/>
                </a:solidFill>
                <a:latin typeface="Arial" charset="0"/>
                <a:cs typeface="Arial" charset="0"/>
              </a:defRPr>
            </a:lvl1pPr>
            <a:lvl2pPr marL="742950" indent="-285750" eaLnBrk="0" hangingPunct="0">
              <a:defRPr sz="2000" b="1">
                <a:solidFill>
                  <a:schemeClr val="tx1"/>
                </a:solidFill>
                <a:latin typeface="Arial" charset="0"/>
                <a:cs typeface="Arial" charset="0"/>
              </a:defRPr>
            </a:lvl2pPr>
            <a:lvl3pPr marL="1143000" indent="-228600" eaLnBrk="0" hangingPunct="0">
              <a:defRPr sz="2000" b="1">
                <a:solidFill>
                  <a:schemeClr val="tx1"/>
                </a:solidFill>
                <a:latin typeface="Arial" charset="0"/>
                <a:cs typeface="Arial" charset="0"/>
              </a:defRPr>
            </a:lvl3pPr>
            <a:lvl4pPr marL="1600200" indent="-228600" eaLnBrk="0" hangingPunct="0">
              <a:defRPr sz="2000" b="1">
                <a:solidFill>
                  <a:schemeClr val="tx1"/>
                </a:solidFill>
                <a:latin typeface="Arial" charset="0"/>
                <a:cs typeface="Arial" charset="0"/>
              </a:defRPr>
            </a:lvl4pPr>
            <a:lvl5pPr marL="2057400" indent="-228600" eaLnBrk="0" hangingPunct="0">
              <a:defRPr sz="2000" b="1">
                <a:solidFill>
                  <a:schemeClr val="tx1"/>
                </a:solidFill>
                <a:latin typeface="Arial" charset="0"/>
                <a:cs typeface="Arial" charset="0"/>
              </a:defRPr>
            </a:lvl5pPr>
            <a:lvl6pPr marL="2514600" indent="-228600" algn="ctr" eaLnBrk="0" fontAlgn="base" hangingPunct="0">
              <a:spcBef>
                <a:spcPct val="50000"/>
              </a:spcBef>
              <a:spcAft>
                <a:spcPct val="0"/>
              </a:spcAft>
              <a:defRPr sz="2000" b="1">
                <a:solidFill>
                  <a:schemeClr val="tx1"/>
                </a:solidFill>
                <a:latin typeface="Arial" charset="0"/>
                <a:cs typeface="Arial" charset="0"/>
              </a:defRPr>
            </a:lvl6pPr>
            <a:lvl7pPr marL="2971800" indent="-228600" algn="ctr" eaLnBrk="0" fontAlgn="base" hangingPunct="0">
              <a:spcBef>
                <a:spcPct val="50000"/>
              </a:spcBef>
              <a:spcAft>
                <a:spcPct val="0"/>
              </a:spcAft>
              <a:defRPr sz="2000" b="1">
                <a:solidFill>
                  <a:schemeClr val="tx1"/>
                </a:solidFill>
                <a:latin typeface="Arial" charset="0"/>
                <a:cs typeface="Arial" charset="0"/>
              </a:defRPr>
            </a:lvl7pPr>
            <a:lvl8pPr marL="3429000" indent="-228600" algn="ctr" eaLnBrk="0" fontAlgn="base" hangingPunct="0">
              <a:spcBef>
                <a:spcPct val="50000"/>
              </a:spcBef>
              <a:spcAft>
                <a:spcPct val="0"/>
              </a:spcAft>
              <a:defRPr sz="2000" b="1">
                <a:solidFill>
                  <a:schemeClr val="tx1"/>
                </a:solidFill>
                <a:latin typeface="Arial" charset="0"/>
                <a:cs typeface="Arial" charset="0"/>
              </a:defRPr>
            </a:lvl8pPr>
            <a:lvl9pPr marL="3886200" indent="-228600" algn="ctr" eaLnBrk="0" fontAlgn="base" hangingPunct="0">
              <a:spcBef>
                <a:spcPct val="50000"/>
              </a:spcBef>
              <a:spcAft>
                <a:spcPct val="0"/>
              </a:spcAft>
              <a:defRPr sz="2000" b="1">
                <a:solidFill>
                  <a:schemeClr val="tx1"/>
                </a:solidFill>
                <a:latin typeface="Arial" charset="0"/>
                <a:cs typeface="Arial" charset="0"/>
              </a:defRPr>
            </a:lvl9pPr>
          </a:lstStyle>
          <a:p>
            <a:fld id="{15C163E0-2D3E-4B36-B341-921BD5F4A553}" type="slidenum">
              <a:rPr lang="he-IL" sz="1400" b="0" smtClean="0">
                <a:latin typeface="Helvetica" charset="0"/>
              </a:rPr>
              <a:pPr/>
              <a:t>61</a:t>
            </a:fld>
            <a:endParaRPr lang="en-US" sz="1400" b="0" smtClean="0">
              <a:latin typeface="Helvetica" charset="0"/>
            </a:endParaRPr>
          </a:p>
        </p:txBody>
      </p:sp>
      <p:sp>
        <p:nvSpPr>
          <p:cNvPr id="23555" name="Rectangle 2"/>
          <p:cNvSpPr>
            <a:spLocks noGrp="1" noChangeArrowheads="1"/>
          </p:cNvSpPr>
          <p:nvPr>
            <p:ph type="title" idx="4294967295"/>
          </p:nvPr>
        </p:nvSpPr>
        <p:spPr>
          <a:xfrm>
            <a:off x="0" y="152400"/>
            <a:ext cx="9144000" cy="801688"/>
          </a:xfrm>
        </p:spPr>
        <p:txBody>
          <a:bodyPr>
            <a:noAutofit/>
          </a:bodyPr>
          <a:lstStyle/>
          <a:p>
            <a:r>
              <a:rPr lang="en-US" sz="2800" dirty="0" smtClean="0">
                <a:latin typeface="Arial" charset="0"/>
              </a:rPr>
              <a:t>New lower bound for </a:t>
            </a:r>
            <a:r>
              <a:rPr lang="en-US" sz="2800" dirty="0" err="1" smtClean="0">
                <a:latin typeface="Arial" charset="0"/>
              </a:rPr>
              <a:t>Strassen’s</a:t>
            </a:r>
            <a:r>
              <a:rPr lang="en-US" sz="2800" dirty="0" smtClean="0">
                <a:latin typeface="Arial" charset="0"/>
              </a:rPr>
              <a:t> fast matrix multiplication</a:t>
            </a:r>
          </a:p>
        </p:txBody>
      </p:sp>
      <p:sp>
        <p:nvSpPr>
          <p:cNvPr id="23556" name="Rectangle 3"/>
          <p:cNvSpPr>
            <a:spLocks noGrp="1" noChangeArrowheads="1"/>
          </p:cNvSpPr>
          <p:nvPr>
            <p:ph type="body" idx="4294967295"/>
          </p:nvPr>
        </p:nvSpPr>
        <p:spPr>
          <a:xfrm>
            <a:off x="0" y="838200"/>
            <a:ext cx="9001125" cy="5626100"/>
          </a:xfrm>
        </p:spPr>
        <p:txBody>
          <a:bodyPr/>
          <a:lstStyle/>
          <a:p>
            <a:pPr algn="ctr">
              <a:buFontTx/>
              <a:buNone/>
            </a:pPr>
            <a:r>
              <a:rPr lang="en-US" sz="2800" dirty="0" smtClean="0">
                <a:latin typeface="Arial" charset="0"/>
              </a:rPr>
              <a:t>The communication bandwidth lower bound is</a:t>
            </a:r>
          </a:p>
          <a:p>
            <a:pPr algn="ctr">
              <a:buFontTx/>
              <a:buNone/>
            </a:pPr>
            <a:r>
              <a:rPr lang="en-US" sz="2800" dirty="0" smtClean="0">
                <a:latin typeface="Arial" charset="0"/>
              </a:rPr>
              <a:t>(M = size of fast / local memory)</a:t>
            </a:r>
          </a:p>
          <a:p>
            <a:pPr>
              <a:buFontTx/>
              <a:buNone/>
            </a:pPr>
            <a:endParaRPr lang="en-US" dirty="0" smtClean="0">
              <a:latin typeface="Arial" charset="0"/>
            </a:endParaRPr>
          </a:p>
          <a:p>
            <a:pPr>
              <a:buFontTx/>
              <a:buNone/>
            </a:pPr>
            <a:endParaRPr lang="en-US" dirty="0" smtClean="0">
              <a:latin typeface="Arial" charset="0"/>
            </a:endParaRPr>
          </a:p>
          <a:p>
            <a:pPr>
              <a:buFontTx/>
              <a:buNone/>
            </a:pPr>
            <a:endParaRPr lang="en-US" dirty="0" smtClean="0">
              <a:latin typeface="Arial" charset="0"/>
            </a:endParaRPr>
          </a:p>
          <a:p>
            <a:pPr>
              <a:buFontTx/>
              <a:buNone/>
            </a:pPr>
            <a:endParaRPr lang="en-US" dirty="0" smtClean="0">
              <a:latin typeface="Arial" charset="0"/>
            </a:endParaRPr>
          </a:p>
          <a:p>
            <a:pPr>
              <a:buFontTx/>
              <a:buNone/>
            </a:pPr>
            <a:endParaRPr lang="en-US" dirty="0" smtClean="0">
              <a:latin typeface="Arial" charset="0"/>
            </a:endParaRPr>
          </a:p>
          <a:p>
            <a:pPr>
              <a:buFontTx/>
              <a:buNone/>
            </a:pPr>
            <a:endParaRPr lang="en-US" dirty="0" smtClean="0">
              <a:latin typeface="Arial" charset="0"/>
            </a:endParaRPr>
          </a:p>
          <a:p>
            <a:pPr>
              <a:buFontTx/>
              <a:buNone/>
            </a:pPr>
            <a:endParaRPr lang="en-US" dirty="0" smtClean="0">
              <a:latin typeface="Arial" charset="0"/>
            </a:endParaRPr>
          </a:p>
          <a:p>
            <a:pPr>
              <a:buFontTx/>
              <a:buNone/>
            </a:pPr>
            <a:endParaRPr lang="en-US" dirty="0" smtClean="0">
              <a:latin typeface="Arial" charset="0"/>
            </a:endParaRPr>
          </a:p>
          <a:p>
            <a:pPr>
              <a:buFontTx/>
              <a:buNone/>
            </a:pPr>
            <a:endParaRPr lang="en-US" dirty="0" smtClean="0">
              <a:latin typeface="Arial" charset="0"/>
            </a:endParaRPr>
          </a:p>
        </p:txBody>
      </p:sp>
      <p:graphicFrame>
        <p:nvGraphicFramePr>
          <p:cNvPr id="23557" name="Object 1"/>
          <p:cNvGraphicFramePr>
            <a:graphicFrameLocks noChangeAspect="1"/>
          </p:cNvGraphicFramePr>
          <p:nvPr/>
        </p:nvGraphicFramePr>
        <p:xfrm>
          <a:off x="1854200" y="2722563"/>
          <a:ext cx="2162175" cy="1008062"/>
        </p:xfrm>
        <a:graphic>
          <a:graphicData uri="http://schemas.openxmlformats.org/presentationml/2006/ole">
            <mc:AlternateContent xmlns:mc="http://schemas.openxmlformats.org/markup-compatibility/2006">
              <mc:Choice xmlns:v="urn:schemas-microsoft-com:vml" Requires="v">
                <p:oleObj spid="_x0000_s2146" name="Equation" r:id="rId4" imgW="1143000" imgH="533400" progId="Equation.3">
                  <p:embed/>
                </p:oleObj>
              </mc:Choice>
              <mc:Fallback>
                <p:oleObj name="Equation" r:id="rId4" imgW="1143000" imgH="5334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54200" y="2722563"/>
                        <a:ext cx="2162175" cy="10080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0" name="Object 19"/>
          <p:cNvGraphicFramePr>
            <a:graphicFrameLocks noChangeAspect="1"/>
          </p:cNvGraphicFramePr>
          <p:nvPr/>
        </p:nvGraphicFramePr>
        <p:xfrm>
          <a:off x="4310063" y="2722563"/>
          <a:ext cx="1946275" cy="1008062"/>
        </p:xfrm>
        <a:graphic>
          <a:graphicData uri="http://schemas.openxmlformats.org/presentationml/2006/ole">
            <mc:AlternateContent xmlns:mc="http://schemas.openxmlformats.org/markup-compatibility/2006">
              <mc:Choice xmlns:v="urn:schemas-microsoft-com:vml" Requires="v">
                <p:oleObj spid="_x0000_s2147" name="Equation" r:id="rId6" imgW="1028254" imgH="533169" progId="Equation.3">
                  <p:embed/>
                </p:oleObj>
              </mc:Choice>
              <mc:Fallback>
                <p:oleObj name="Equation" r:id="rId6" imgW="1028254" imgH="533169"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310063" y="2722563"/>
                        <a:ext cx="1946275" cy="10080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3" name="Object 22"/>
          <p:cNvGraphicFramePr>
            <a:graphicFrameLocks noChangeAspect="1"/>
          </p:cNvGraphicFramePr>
          <p:nvPr/>
        </p:nvGraphicFramePr>
        <p:xfrm>
          <a:off x="6626225" y="2722563"/>
          <a:ext cx="2139950" cy="1008062"/>
        </p:xfrm>
        <a:graphic>
          <a:graphicData uri="http://schemas.openxmlformats.org/presentationml/2006/ole">
            <mc:AlternateContent xmlns:mc="http://schemas.openxmlformats.org/markup-compatibility/2006">
              <mc:Choice xmlns:v="urn:schemas-microsoft-com:vml" Requires="v">
                <p:oleObj spid="_x0000_s2148" name="Equation" r:id="rId8" imgW="1129810" imgH="533169" progId="Equation.3">
                  <p:embed/>
                </p:oleObj>
              </mc:Choice>
              <mc:Fallback>
                <p:oleObj name="Equation" r:id="rId8" imgW="1129810" imgH="533169"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626225" y="2722563"/>
                        <a:ext cx="2139950" cy="10080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4" name="Group 177"/>
          <p:cNvGrpSpPr>
            <a:grpSpLocks/>
          </p:cNvGrpSpPr>
          <p:nvPr/>
        </p:nvGrpSpPr>
        <p:grpSpPr bwMode="auto">
          <a:xfrm>
            <a:off x="-1905000" y="4038600"/>
            <a:ext cx="703262" cy="587375"/>
            <a:chOff x="172" y="3030"/>
            <a:chExt cx="469" cy="392"/>
          </a:xfrm>
        </p:grpSpPr>
        <p:sp>
          <p:nvSpPr>
            <p:cNvPr id="23575" name="AutoShape 169"/>
            <p:cNvSpPr>
              <a:spLocks noChangeArrowheads="1"/>
            </p:cNvSpPr>
            <p:nvPr/>
          </p:nvSpPr>
          <p:spPr bwMode="auto">
            <a:xfrm>
              <a:off x="172" y="3030"/>
              <a:ext cx="166" cy="115"/>
            </a:xfrm>
            <a:prstGeom prst="triangle">
              <a:avLst>
                <a:gd name="adj" fmla="val 50000"/>
              </a:avLst>
            </a:prstGeom>
            <a:solidFill>
              <a:srgbClr val="00FF00"/>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spcBef>
                  <a:spcPct val="0"/>
                </a:spcBef>
              </a:pPr>
              <a:endParaRPr lang="he-IL" sz="1000"/>
            </a:p>
          </p:txBody>
        </p:sp>
        <p:sp>
          <p:nvSpPr>
            <p:cNvPr id="23576" name="AutoShape 170"/>
            <p:cNvSpPr>
              <a:spLocks noChangeArrowheads="1"/>
            </p:cNvSpPr>
            <p:nvPr/>
          </p:nvSpPr>
          <p:spPr bwMode="auto">
            <a:xfrm>
              <a:off x="212" y="3145"/>
              <a:ext cx="82" cy="162"/>
            </a:xfrm>
            <a:prstGeom prst="upDownArrow">
              <a:avLst>
                <a:gd name="adj1" fmla="val 50000"/>
                <a:gd name="adj2" fmla="val 39512"/>
              </a:avLst>
            </a:prstGeom>
            <a:solidFill>
              <a:srgbClr val="0000FF"/>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he-IL"/>
            </a:p>
          </p:txBody>
        </p:sp>
        <p:sp>
          <p:nvSpPr>
            <p:cNvPr id="23577" name="AutoShape 171"/>
            <p:cNvSpPr>
              <a:spLocks noChangeArrowheads="1"/>
            </p:cNvSpPr>
            <p:nvPr/>
          </p:nvSpPr>
          <p:spPr bwMode="auto">
            <a:xfrm>
              <a:off x="475" y="3307"/>
              <a:ext cx="166" cy="115"/>
            </a:xfrm>
            <a:prstGeom prst="triangle">
              <a:avLst>
                <a:gd name="adj" fmla="val 50000"/>
              </a:avLst>
            </a:prstGeom>
            <a:solidFill>
              <a:srgbClr val="00FF00"/>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spcBef>
                  <a:spcPct val="0"/>
                </a:spcBef>
              </a:pPr>
              <a:endParaRPr lang="he-IL" sz="1000"/>
            </a:p>
          </p:txBody>
        </p:sp>
        <p:sp>
          <p:nvSpPr>
            <p:cNvPr id="23578" name="AutoShape 172"/>
            <p:cNvSpPr>
              <a:spLocks noChangeArrowheads="1"/>
            </p:cNvSpPr>
            <p:nvPr/>
          </p:nvSpPr>
          <p:spPr bwMode="auto">
            <a:xfrm>
              <a:off x="172" y="3307"/>
              <a:ext cx="166" cy="115"/>
            </a:xfrm>
            <a:prstGeom prst="triangle">
              <a:avLst>
                <a:gd name="adj" fmla="val 50000"/>
              </a:avLst>
            </a:prstGeom>
            <a:solidFill>
              <a:srgbClr val="00FF00"/>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spcBef>
                  <a:spcPct val="0"/>
                </a:spcBef>
              </a:pPr>
              <a:endParaRPr lang="he-IL" sz="1000"/>
            </a:p>
          </p:txBody>
        </p:sp>
        <p:sp>
          <p:nvSpPr>
            <p:cNvPr id="23579" name="AutoShape 173"/>
            <p:cNvSpPr>
              <a:spLocks noChangeArrowheads="1"/>
            </p:cNvSpPr>
            <p:nvPr/>
          </p:nvSpPr>
          <p:spPr bwMode="auto">
            <a:xfrm>
              <a:off x="475" y="3030"/>
              <a:ext cx="166" cy="115"/>
            </a:xfrm>
            <a:prstGeom prst="triangle">
              <a:avLst>
                <a:gd name="adj" fmla="val 50000"/>
              </a:avLst>
            </a:prstGeom>
            <a:solidFill>
              <a:srgbClr val="00FF00"/>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spcBef>
                  <a:spcPct val="0"/>
                </a:spcBef>
              </a:pPr>
              <a:endParaRPr lang="he-IL" sz="1000"/>
            </a:p>
          </p:txBody>
        </p:sp>
        <p:sp>
          <p:nvSpPr>
            <p:cNvPr id="23580" name="AutoShape 174"/>
            <p:cNvSpPr>
              <a:spLocks noChangeArrowheads="1"/>
            </p:cNvSpPr>
            <p:nvPr/>
          </p:nvSpPr>
          <p:spPr bwMode="auto">
            <a:xfrm>
              <a:off x="517" y="3144"/>
              <a:ext cx="82" cy="162"/>
            </a:xfrm>
            <a:prstGeom prst="upDownArrow">
              <a:avLst>
                <a:gd name="adj1" fmla="val 50000"/>
                <a:gd name="adj2" fmla="val 39512"/>
              </a:avLst>
            </a:prstGeom>
            <a:solidFill>
              <a:srgbClr val="0000FF"/>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he-IL"/>
            </a:p>
          </p:txBody>
        </p:sp>
        <p:sp>
          <p:nvSpPr>
            <p:cNvPr id="23581" name="AutoShape 175"/>
            <p:cNvSpPr>
              <a:spLocks noChangeArrowheads="1"/>
            </p:cNvSpPr>
            <p:nvPr/>
          </p:nvSpPr>
          <p:spPr bwMode="auto">
            <a:xfrm rot="-5400000">
              <a:off x="366" y="3019"/>
              <a:ext cx="81" cy="163"/>
            </a:xfrm>
            <a:prstGeom prst="upDownArrow">
              <a:avLst>
                <a:gd name="adj1" fmla="val 50000"/>
                <a:gd name="adj2" fmla="val 40247"/>
              </a:avLst>
            </a:prstGeom>
            <a:solidFill>
              <a:srgbClr val="0000FF"/>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he-IL"/>
            </a:p>
          </p:txBody>
        </p:sp>
        <p:sp>
          <p:nvSpPr>
            <p:cNvPr id="23582" name="AutoShape 176"/>
            <p:cNvSpPr>
              <a:spLocks noChangeArrowheads="1"/>
            </p:cNvSpPr>
            <p:nvPr/>
          </p:nvSpPr>
          <p:spPr bwMode="auto">
            <a:xfrm rot="-5400000">
              <a:off x="365" y="3298"/>
              <a:ext cx="81" cy="163"/>
            </a:xfrm>
            <a:prstGeom prst="upDownArrow">
              <a:avLst>
                <a:gd name="adj1" fmla="val 50000"/>
                <a:gd name="adj2" fmla="val 40247"/>
              </a:avLst>
            </a:prstGeom>
            <a:solidFill>
              <a:srgbClr val="0000FF"/>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he-IL"/>
            </a:p>
          </p:txBody>
        </p:sp>
      </p:grpSp>
      <p:grpSp>
        <p:nvGrpSpPr>
          <p:cNvPr id="5" name="Group 61"/>
          <p:cNvGrpSpPr>
            <a:grpSpLocks/>
          </p:cNvGrpSpPr>
          <p:nvPr/>
        </p:nvGrpSpPr>
        <p:grpSpPr bwMode="auto">
          <a:xfrm>
            <a:off x="-1828800" y="2667000"/>
            <a:ext cx="701675" cy="515937"/>
            <a:chOff x="2710" y="1618"/>
            <a:chExt cx="2422" cy="1779"/>
          </a:xfrm>
        </p:grpSpPr>
        <p:sp>
          <p:nvSpPr>
            <p:cNvPr id="23572" name="AutoShape 62"/>
            <p:cNvSpPr>
              <a:spLocks noChangeArrowheads="1"/>
            </p:cNvSpPr>
            <p:nvPr/>
          </p:nvSpPr>
          <p:spPr bwMode="auto">
            <a:xfrm>
              <a:off x="3418" y="1618"/>
              <a:ext cx="1036" cy="714"/>
            </a:xfrm>
            <a:prstGeom prst="triangle">
              <a:avLst>
                <a:gd name="adj" fmla="val 50000"/>
              </a:avLst>
            </a:prstGeom>
            <a:solidFill>
              <a:srgbClr val="00FF00"/>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spcBef>
                  <a:spcPct val="0"/>
                </a:spcBef>
              </a:pPr>
              <a:endParaRPr lang="en-US"/>
            </a:p>
            <a:p>
              <a:pPr>
                <a:spcBef>
                  <a:spcPct val="0"/>
                </a:spcBef>
              </a:pPr>
              <a:endParaRPr lang="en-US"/>
            </a:p>
          </p:txBody>
        </p:sp>
        <p:sp>
          <p:nvSpPr>
            <p:cNvPr id="23573" name="AutoShape 63"/>
            <p:cNvSpPr>
              <a:spLocks noChangeArrowheads="1"/>
            </p:cNvSpPr>
            <p:nvPr/>
          </p:nvSpPr>
          <p:spPr bwMode="auto">
            <a:xfrm flipV="1">
              <a:off x="2710" y="2578"/>
              <a:ext cx="2422" cy="819"/>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415 w 21600"/>
                <a:gd name="T13" fmla="*/ 4431 h 21600"/>
                <a:gd name="T14" fmla="*/ 17185 w 21600"/>
                <a:gd name="T15" fmla="*/ 17169 h 21600"/>
              </a:gdLst>
              <a:ahLst/>
              <a:cxnLst>
                <a:cxn ang="T8">
                  <a:pos x="T0" y="T1"/>
                </a:cxn>
                <a:cxn ang="T9">
                  <a:pos x="T2" y="T3"/>
                </a:cxn>
                <a:cxn ang="T10">
                  <a:pos x="T4" y="T5"/>
                </a:cxn>
                <a:cxn ang="T11">
                  <a:pos x="T6" y="T7"/>
                </a:cxn>
              </a:cxnLst>
              <a:rect l="T12" t="T13" r="T14" b="T15"/>
              <a:pathLst>
                <a:path w="21600" h="21600">
                  <a:moveTo>
                    <a:pt x="0" y="0"/>
                  </a:moveTo>
                  <a:lnTo>
                    <a:pt x="5235" y="21600"/>
                  </a:lnTo>
                  <a:lnTo>
                    <a:pt x="16365" y="21600"/>
                  </a:lnTo>
                  <a:lnTo>
                    <a:pt x="21600" y="0"/>
                  </a:lnTo>
                  <a:lnTo>
                    <a:pt x="0" y="0"/>
                  </a:lnTo>
                  <a:close/>
                </a:path>
              </a:pathLst>
            </a:custGeom>
            <a:solidFill>
              <a:srgbClr val="00FF00"/>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en-US"/>
            </a:p>
          </p:txBody>
        </p:sp>
        <p:sp>
          <p:nvSpPr>
            <p:cNvPr id="23574" name="AutoShape 64"/>
            <p:cNvSpPr>
              <a:spLocks noChangeArrowheads="1"/>
            </p:cNvSpPr>
            <p:nvPr/>
          </p:nvSpPr>
          <p:spPr bwMode="auto">
            <a:xfrm>
              <a:off x="3792" y="2332"/>
              <a:ext cx="274" cy="246"/>
            </a:xfrm>
            <a:prstGeom prst="upDownArrow">
              <a:avLst>
                <a:gd name="adj1" fmla="val 50000"/>
                <a:gd name="adj2" fmla="val 20000"/>
              </a:avLst>
            </a:prstGeom>
            <a:solidFill>
              <a:srgbClr val="0000FF"/>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he-IL"/>
            </a:p>
          </p:txBody>
        </p:sp>
      </p:grpSp>
      <p:graphicFrame>
        <p:nvGraphicFramePr>
          <p:cNvPr id="48" name="Object 47"/>
          <p:cNvGraphicFramePr>
            <a:graphicFrameLocks noChangeAspect="1"/>
          </p:cNvGraphicFramePr>
          <p:nvPr/>
        </p:nvGraphicFramePr>
        <p:xfrm>
          <a:off x="1817688" y="3962400"/>
          <a:ext cx="2232025" cy="1008063"/>
        </p:xfrm>
        <a:graphic>
          <a:graphicData uri="http://schemas.openxmlformats.org/presentationml/2006/ole">
            <mc:AlternateContent xmlns:mc="http://schemas.openxmlformats.org/markup-compatibility/2006">
              <mc:Choice xmlns:v="urn:schemas-microsoft-com:vml" Requires="v">
                <p:oleObj spid="_x0000_s2149" name="Equation" r:id="rId10" imgW="1180588" imgH="533169" progId="Equation.3">
                  <p:embed/>
                </p:oleObj>
              </mc:Choice>
              <mc:Fallback>
                <p:oleObj name="Equation" r:id="rId10" imgW="1180588" imgH="533169"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817688" y="3962400"/>
                        <a:ext cx="2232025" cy="10080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9" name="Object 48"/>
          <p:cNvGraphicFramePr>
            <a:graphicFrameLocks noChangeAspect="1"/>
          </p:cNvGraphicFramePr>
          <p:nvPr/>
        </p:nvGraphicFramePr>
        <p:xfrm>
          <a:off x="4275138" y="3962400"/>
          <a:ext cx="2016125" cy="1008063"/>
        </p:xfrm>
        <a:graphic>
          <a:graphicData uri="http://schemas.openxmlformats.org/presentationml/2006/ole">
            <mc:AlternateContent xmlns:mc="http://schemas.openxmlformats.org/markup-compatibility/2006">
              <mc:Choice xmlns:v="urn:schemas-microsoft-com:vml" Requires="v">
                <p:oleObj spid="_x0000_s2150" name="Equation" r:id="rId12" imgW="1066337" imgH="533169" progId="Equation.3">
                  <p:embed/>
                </p:oleObj>
              </mc:Choice>
              <mc:Fallback>
                <p:oleObj name="Equation" r:id="rId12" imgW="1066337" imgH="533169" progId="Equation.3">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275138" y="3962400"/>
                        <a:ext cx="2016125" cy="10080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0" name="Object 49"/>
          <p:cNvGraphicFramePr>
            <a:graphicFrameLocks noChangeAspect="1"/>
          </p:cNvGraphicFramePr>
          <p:nvPr/>
        </p:nvGraphicFramePr>
        <p:xfrm>
          <a:off x="6583363" y="3962400"/>
          <a:ext cx="2233612" cy="1008063"/>
        </p:xfrm>
        <a:graphic>
          <a:graphicData uri="http://schemas.openxmlformats.org/presentationml/2006/ole">
            <mc:AlternateContent xmlns:mc="http://schemas.openxmlformats.org/markup-compatibility/2006">
              <mc:Choice xmlns:v="urn:schemas-microsoft-com:vml" Requires="v">
                <p:oleObj spid="_x0000_s2151" name="Equation" r:id="rId14" imgW="1180588" imgH="533169" progId="Equation.3">
                  <p:embed/>
                </p:oleObj>
              </mc:Choice>
              <mc:Fallback>
                <p:oleObj name="Equation" r:id="rId14" imgW="1180588" imgH="533169" progId="Equation.3">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6583363" y="3962400"/>
                        <a:ext cx="2233612" cy="10080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extBox 2"/>
          <p:cNvSpPr txBox="1">
            <a:spLocks noChangeAspect="1"/>
          </p:cNvSpPr>
          <p:nvPr/>
        </p:nvSpPr>
        <p:spPr bwMode="auto">
          <a:xfrm>
            <a:off x="4232275" y="2276475"/>
            <a:ext cx="216852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000" b="1">
                <a:solidFill>
                  <a:schemeClr val="tx1"/>
                </a:solidFill>
                <a:latin typeface="Arial" charset="0"/>
                <a:cs typeface="Arial" charset="0"/>
              </a:defRPr>
            </a:lvl1pPr>
            <a:lvl2pPr marL="742950" indent="-285750" eaLnBrk="0" hangingPunct="0">
              <a:defRPr sz="2000" b="1">
                <a:solidFill>
                  <a:schemeClr val="tx1"/>
                </a:solidFill>
                <a:latin typeface="Arial" charset="0"/>
                <a:cs typeface="Arial" charset="0"/>
              </a:defRPr>
            </a:lvl2pPr>
            <a:lvl3pPr marL="1143000" indent="-228600" eaLnBrk="0" hangingPunct="0">
              <a:defRPr sz="2000" b="1">
                <a:solidFill>
                  <a:schemeClr val="tx1"/>
                </a:solidFill>
                <a:latin typeface="Arial" charset="0"/>
                <a:cs typeface="Arial" charset="0"/>
              </a:defRPr>
            </a:lvl3pPr>
            <a:lvl4pPr marL="1600200" indent="-228600" eaLnBrk="0" hangingPunct="0">
              <a:defRPr sz="2000" b="1">
                <a:solidFill>
                  <a:schemeClr val="tx1"/>
                </a:solidFill>
                <a:latin typeface="Arial" charset="0"/>
                <a:cs typeface="Arial" charset="0"/>
              </a:defRPr>
            </a:lvl4pPr>
            <a:lvl5pPr marL="2057400" indent="-228600" eaLnBrk="0" hangingPunct="0">
              <a:defRPr sz="2000" b="1">
                <a:solidFill>
                  <a:schemeClr val="tx1"/>
                </a:solidFill>
                <a:latin typeface="Arial" charset="0"/>
                <a:cs typeface="Arial" charset="0"/>
              </a:defRPr>
            </a:lvl5pPr>
            <a:lvl6pPr marL="2514600" indent="-228600" algn="ctr" eaLnBrk="0" fontAlgn="base" hangingPunct="0">
              <a:spcBef>
                <a:spcPct val="50000"/>
              </a:spcBef>
              <a:spcAft>
                <a:spcPct val="0"/>
              </a:spcAft>
              <a:defRPr sz="2000" b="1">
                <a:solidFill>
                  <a:schemeClr val="tx1"/>
                </a:solidFill>
                <a:latin typeface="Arial" charset="0"/>
                <a:cs typeface="Arial" charset="0"/>
              </a:defRPr>
            </a:lvl6pPr>
            <a:lvl7pPr marL="2971800" indent="-228600" algn="ctr" eaLnBrk="0" fontAlgn="base" hangingPunct="0">
              <a:spcBef>
                <a:spcPct val="50000"/>
              </a:spcBef>
              <a:spcAft>
                <a:spcPct val="0"/>
              </a:spcAft>
              <a:defRPr sz="2000" b="1">
                <a:solidFill>
                  <a:schemeClr val="tx1"/>
                </a:solidFill>
                <a:latin typeface="Arial" charset="0"/>
                <a:cs typeface="Arial" charset="0"/>
              </a:defRPr>
            </a:lvl7pPr>
            <a:lvl8pPr marL="3429000" indent="-228600" algn="ctr" eaLnBrk="0" fontAlgn="base" hangingPunct="0">
              <a:spcBef>
                <a:spcPct val="50000"/>
              </a:spcBef>
              <a:spcAft>
                <a:spcPct val="0"/>
              </a:spcAft>
              <a:defRPr sz="2000" b="1">
                <a:solidFill>
                  <a:schemeClr val="tx1"/>
                </a:solidFill>
                <a:latin typeface="Arial" charset="0"/>
                <a:cs typeface="Arial" charset="0"/>
              </a:defRPr>
            </a:lvl8pPr>
            <a:lvl9pPr marL="3886200" indent="-228600" algn="ctr" eaLnBrk="0" fontAlgn="base" hangingPunct="0">
              <a:spcBef>
                <a:spcPct val="50000"/>
              </a:spcBef>
              <a:spcAft>
                <a:spcPct val="0"/>
              </a:spcAft>
              <a:defRPr sz="2000" b="1">
                <a:solidFill>
                  <a:schemeClr val="tx1"/>
                </a:solidFill>
                <a:latin typeface="Arial" charset="0"/>
                <a:cs typeface="Arial" charset="0"/>
              </a:defRPr>
            </a:lvl9pPr>
          </a:lstStyle>
          <a:p>
            <a:pPr algn="l" eaLnBrk="1" hangingPunct="1"/>
            <a:r>
              <a:rPr lang="en-US" b="0" dirty="0" smtClean="0"/>
              <a:t>For </a:t>
            </a:r>
            <a:r>
              <a:rPr lang="en-US" b="0" dirty="0" err="1" smtClean="0"/>
              <a:t>Strassen</a:t>
            </a:r>
            <a:r>
              <a:rPr lang="en-US" b="0" dirty="0"/>
              <a:t>-like:</a:t>
            </a:r>
            <a:endParaRPr lang="he-IL" b="0" dirty="0"/>
          </a:p>
        </p:txBody>
      </p:sp>
      <p:sp>
        <p:nvSpPr>
          <p:cNvPr id="52" name="TextBox 51"/>
          <p:cNvSpPr txBox="1">
            <a:spLocks noChangeAspect="1"/>
          </p:cNvSpPr>
          <p:nvPr/>
        </p:nvSpPr>
        <p:spPr bwMode="auto">
          <a:xfrm>
            <a:off x="6515100" y="2276475"/>
            <a:ext cx="27051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000" b="1">
                <a:solidFill>
                  <a:schemeClr val="tx1"/>
                </a:solidFill>
                <a:latin typeface="Arial" charset="0"/>
                <a:cs typeface="Arial" charset="0"/>
              </a:defRPr>
            </a:lvl1pPr>
            <a:lvl2pPr marL="742950" indent="-285750" eaLnBrk="0" hangingPunct="0">
              <a:defRPr sz="2000" b="1">
                <a:solidFill>
                  <a:schemeClr val="tx1"/>
                </a:solidFill>
                <a:latin typeface="Arial" charset="0"/>
                <a:cs typeface="Arial" charset="0"/>
              </a:defRPr>
            </a:lvl2pPr>
            <a:lvl3pPr marL="1143000" indent="-228600" eaLnBrk="0" hangingPunct="0">
              <a:defRPr sz="2000" b="1">
                <a:solidFill>
                  <a:schemeClr val="tx1"/>
                </a:solidFill>
                <a:latin typeface="Arial" charset="0"/>
                <a:cs typeface="Arial" charset="0"/>
              </a:defRPr>
            </a:lvl3pPr>
            <a:lvl4pPr marL="1600200" indent="-228600" eaLnBrk="0" hangingPunct="0">
              <a:defRPr sz="2000" b="1">
                <a:solidFill>
                  <a:schemeClr val="tx1"/>
                </a:solidFill>
                <a:latin typeface="Arial" charset="0"/>
                <a:cs typeface="Arial" charset="0"/>
              </a:defRPr>
            </a:lvl4pPr>
            <a:lvl5pPr marL="2057400" indent="-228600" eaLnBrk="0" hangingPunct="0">
              <a:defRPr sz="2000" b="1">
                <a:solidFill>
                  <a:schemeClr val="tx1"/>
                </a:solidFill>
                <a:latin typeface="Arial" charset="0"/>
                <a:cs typeface="Arial" charset="0"/>
              </a:defRPr>
            </a:lvl5pPr>
            <a:lvl6pPr marL="2514600" indent="-228600" algn="ctr" eaLnBrk="0" fontAlgn="base" hangingPunct="0">
              <a:spcBef>
                <a:spcPct val="50000"/>
              </a:spcBef>
              <a:spcAft>
                <a:spcPct val="0"/>
              </a:spcAft>
              <a:defRPr sz="2000" b="1">
                <a:solidFill>
                  <a:schemeClr val="tx1"/>
                </a:solidFill>
                <a:latin typeface="Arial" charset="0"/>
                <a:cs typeface="Arial" charset="0"/>
              </a:defRPr>
            </a:lvl6pPr>
            <a:lvl7pPr marL="2971800" indent="-228600" algn="ctr" eaLnBrk="0" fontAlgn="base" hangingPunct="0">
              <a:spcBef>
                <a:spcPct val="50000"/>
              </a:spcBef>
              <a:spcAft>
                <a:spcPct val="0"/>
              </a:spcAft>
              <a:defRPr sz="2000" b="1">
                <a:solidFill>
                  <a:schemeClr val="tx1"/>
                </a:solidFill>
                <a:latin typeface="Arial" charset="0"/>
                <a:cs typeface="Arial" charset="0"/>
              </a:defRPr>
            </a:lvl7pPr>
            <a:lvl8pPr marL="3429000" indent="-228600" algn="ctr" eaLnBrk="0" fontAlgn="base" hangingPunct="0">
              <a:spcBef>
                <a:spcPct val="50000"/>
              </a:spcBef>
              <a:spcAft>
                <a:spcPct val="0"/>
              </a:spcAft>
              <a:defRPr sz="2000" b="1">
                <a:solidFill>
                  <a:schemeClr val="tx1"/>
                </a:solidFill>
                <a:latin typeface="Arial" charset="0"/>
                <a:cs typeface="Arial" charset="0"/>
              </a:defRPr>
            </a:lvl8pPr>
            <a:lvl9pPr marL="3886200" indent="-228600" algn="ctr" eaLnBrk="0" fontAlgn="base" hangingPunct="0">
              <a:spcBef>
                <a:spcPct val="50000"/>
              </a:spcBef>
              <a:spcAft>
                <a:spcPct val="0"/>
              </a:spcAft>
              <a:defRPr sz="2000" b="1">
                <a:solidFill>
                  <a:schemeClr val="tx1"/>
                </a:solidFill>
                <a:latin typeface="Arial" charset="0"/>
                <a:cs typeface="Arial" charset="0"/>
              </a:defRPr>
            </a:lvl9pPr>
          </a:lstStyle>
          <a:p>
            <a:pPr algn="l" eaLnBrk="1" hangingPunct="1"/>
            <a:r>
              <a:rPr lang="en-US" b="0" dirty="0"/>
              <a:t>F</a:t>
            </a:r>
            <a:r>
              <a:rPr lang="en-US" b="0" dirty="0" smtClean="0"/>
              <a:t>or O(n</a:t>
            </a:r>
            <a:r>
              <a:rPr lang="en-US" sz="2800" b="0" baseline="30000" dirty="0" smtClean="0"/>
              <a:t>3</a:t>
            </a:r>
            <a:r>
              <a:rPr lang="en-US" b="0" dirty="0" smtClean="0"/>
              <a:t>) algorithm:</a:t>
            </a:r>
            <a:endParaRPr lang="he-IL" b="0" dirty="0"/>
          </a:p>
        </p:txBody>
      </p:sp>
      <p:sp>
        <p:nvSpPr>
          <p:cNvPr id="23567" name="TextBox 52"/>
          <p:cNvSpPr txBox="1">
            <a:spLocks noChangeAspect="1"/>
          </p:cNvSpPr>
          <p:nvPr/>
        </p:nvSpPr>
        <p:spPr bwMode="auto">
          <a:xfrm>
            <a:off x="1828800" y="2276475"/>
            <a:ext cx="20272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Arial" charset="0"/>
                <a:cs typeface="Arial" charset="0"/>
              </a:defRPr>
            </a:lvl1pPr>
            <a:lvl2pPr marL="742950" indent="-285750" eaLnBrk="0" hangingPunct="0">
              <a:defRPr sz="2000" b="1">
                <a:solidFill>
                  <a:schemeClr val="tx1"/>
                </a:solidFill>
                <a:latin typeface="Arial" charset="0"/>
                <a:cs typeface="Arial" charset="0"/>
              </a:defRPr>
            </a:lvl2pPr>
            <a:lvl3pPr marL="1143000" indent="-228600" eaLnBrk="0" hangingPunct="0">
              <a:defRPr sz="2000" b="1">
                <a:solidFill>
                  <a:schemeClr val="tx1"/>
                </a:solidFill>
                <a:latin typeface="Arial" charset="0"/>
                <a:cs typeface="Arial" charset="0"/>
              </a:defRPr>
            </a:lvl3pPr>
            <a:lvl4pPr marL="1600200" indent="-228600" eaLnBrk="0" hangingPunct="0">
              <a:defRPr sz="2000" b="1">
                <a:solidFill>
                  <a:schemeClr val="tx1"/>
                </a:solidFill>
                <a:latin typeface="Arial" charset="0"/>
                <a:cs typeface="Arial" charset="0"/>
              </a:defRPr>
            </a:lvl4pPr>
            <a:lvl5pPr marL="2057400" indent="-228600" eaLnBrk="0" hangingPunct="0">
              <a:defRPr sz="2000" b="1">
                <a:solidFill>
                  <a:schemeClr val="tx1"/>
                </a:solidFill>
                <a:latin typeface="Arial" charset="0"/>
                <a:cs typeface="Arial" charset="0"/>
              </a:defRPr>
            </a:lvl5pPr>
            <a:lvl6pPr marL="2514600" indent="-228600" algn="ctr" eaLnBrk="0" fontAlgn="base" hangingPunct="0">
              <a:spcBef>
                <a:spcPct val="50000"/>
              </a:spcBef>
              <a:spcAft>
                <a:spcPct val="0"/>
              </a:spcAft>
              <a:defRPr sz="2000" b="1">
                <a:solidFill>
                  <a:schemeClr val="tx1"/>
                </a:solidFill>
                <a:latin typeface="Arial" charset="0"/>
                <a:cs typeface="Arial" charset="0"/>
              </a:defRPr>
            </a:lvl6pPr>
            <a:lvl7pPr marL="2971800" indent="-228600" algn="ctr" eaLnBrk="0" fontAlgn="base" hangingPunct="0">
              <a:spcBef>
                <a:spcPct val="50000"/>
              </a:spcBef>
              <a:spcAft>
                <a:spcPct val="0"/>
              </a:spcAft>
              <a:defRPr sz="2000" b="1">
                <a:solidFill>
                  <a:schemeClr val="tx1"/>
                </a:solidFill>
                <a:latin typeface="Arial" charset="0"/>
                <a:cs typeface="Arial" charset="0"/>
              </a:defRPr>
            </a:lvl7pPr>
            <a:lvl8pPr marL="3429000" indent="-228600" algn="ctr" eaLnBrk="0" fontAlgn="base" hangingPunct="0">
              <a:spcBef>
                <a:spcPct val="50000"/>
              </a:spcBef>
              <a:spcAft>
                <a:spcPct val="0"/>
              </a:spcAft>
              <a:defRPr sz="2000" b="1">
                <a:solidFill>
                  <a:schemeClr val="tx1"/>
                </a:solidFill>
                <a:latin typeface="Arial" charset="0"/>
                <a:cs typeface="Arial" charset="0"/>
              </a:defRPr>
            </a:lvl8pPr>
            <a:lvl9pPr marL="3886200" indent="-228600" algn="ctr" eaLnBrk="0" fontAlgn="base" hangingPunct="0">
              <a:spcBef>
                <a:spcPct val="50000"/>
              </a:spcBef>
              <a:spcAft>
                <a:spcPct val="0"/>
              </a:spcAft>
              <a:defRPr sz="2000" b="1">
                <a:solidFill>
                  <a:schemeClr val="tx1"/>
                </a:solidFill>
                <a:latin typeface="Arial" charset="0"/>
                <a:cs typeface="Arial" charset="0"/>
              </a:defRPr>
            </a:lvl9pPr>
          </a:lstStyle>
          <a:p>
            <a:pPr algn="l" eaLnBrk="1" hangingPunct="1"/>
            <a:r>
              <a:rPr lang="en-US" b="0" dirty="0"/>
              <a:t>For </a:t>
            </a:r>
            <a:r>
              <a:rPr lang="en-US" b="0" dirty="0" err="1" smtClean="0"/>
              <a:t>Strassen</a:t>
            </a:r>
            <a:r>
              <a:rPr lang="en-US" b="0" dirty="0" smtClean="0"/>
              <a:t>:</a:t>
            </a:r>
            <a:endParaRPr lang="he-IL" b="0" dirty="0"/>
          </a:p>
        </p:txBody>
      </p:sp>
      <p:sp>
        <p:nvSpPr>
          <p:cNvPr id="2" name="TextBox 1"/>
          <p:cNvSpPr txBox="1"/>
          <p:nvPr/>
        </p:nvSpPr>
        <p:spPr>
          <a:xfrm>
            <a:off x="1533526" y="5222875"/>
            <a:ext cx="6819900" cy="1169551"/>
          </a:xfrm>
          <a:prstGeom prst="rect">
            <a:avLst/>
          </a:prstGeom>
          <a:noFill/>
        </p:spPr>
        <p:txBody>
          <a:bodyPr wrap="square" rtlCol="1">
            <a:spAutoFit/>
          </a:bodyPr>
          <a:lstStyle/>
          <a:p>
            <a:pPr algn="l">
              <a:defRPr/>
            </a:pPr>
            <a:r>
              <a:rPr lang="en-US" b="0" dirty="0">
                <a:latin typeface="Arial" pitchFamily="34" charset="0"/>
                <a:cs typeface="Arial" pitchFamily="34" charset="0"/>
              </a:rPr>
              <a:t>The parallel lower bounds applies </a:t>
            </a:r>
            <a:r>
              <a:rPr lang="en-US" b="0" dirty="0" smtClean="0">
                <a:latin typeface="Arial" pitchFamily="34" charset="0"/>
                <a:cs typeface="Arial" pitchFamily="34" charset="0"/>
              </a:rPr>
              <a:t>to</a:t>
            </a:r>
            <a:r>
              <a:rPr lang="en-US" b="0" dirty="0">
                <a:latin typeface="Arial" pitchFamily="34" charset="0"/>
                <a:cs typeface="Arial" pitchFamily="34" charset="0"/>
              </a:rPr>
              <a:t> </a:t>
            </a:r>
            <a:r>
              <a:rPr lang="en-US" b="0" dirty="0" smtClean="0">
                <a:latin typeface="Arial" pitchFamily="34" charset="0"/>
                <a:cs typeface="Arial" pitchFamily="34" charset="0"/>
              </a:rPr>
              <a:t>a</a:t>
            </a:r>
            <a:r>
              <a:rPr lang="en-US" b="0" dirty="0" smtClean="0">
                <a:cs typeface="Times New Roman" pitchFamily="18" charset="0"/>
              </a:rPr>
              <a:t>lgorithms using:</a:t>
            </a:r>
          </a:p>
          <a:p>
            <a:pPr algn="l">
              <a:defRPr/>
            </a:pPr>
            <a:r>
              <a:rPr lang="en-US" b="0" dirty="0" smtClean="0">
                <a:latin typeface="+mj-lt"/>
                <a:cs typeface="Times New Roman" pitchFamily="18" charset="0"/>
              </a:rPr>
              <a:t>Minimal required memory:</a:t>
            </a:r>
            <a:r>
              <a:rPr lang="en-US" b="0" i="1" dirty="0" smtClean="0">
                <a:latin typeface="Times New Roman" pitchFamily="18" charset="0"/>
                <a:cs typeface="Times New Roman" pitchFamily="18" charset="0"/>
              </a:rPr>
              <a:t>     </a:t>
            </a:r>
            <a:r>
              <a:rPr lang="en-US" b="0" i="1" dirty="0">
                <a:latin typeface="Times New Roman" pitchFamily="18" charset="0"/>
                <a:cs typeface="Times New Roman" pitchFamily="18" charset="0"/>
              </a:rPr>
              <a:t>M = </a:t>
            </a:r>
            <a:r>
              <a:rPr lang="en-US" b="0" i="1" dirty="0">
                <a:latin typeface="Times New Roman" pitchFamily="18" charset="0"/>
                <a:cs typeface="Times New Roman" pitchFamily="18" charset="0"/>
                <a:sym typeface="Symbol"/>
              </a:rPr>
              <a:t>(</a:t>
            </a:r>
            <a:r>
              <a:rPr lang="en-US" b="0" i="1" dirty="0" smtClean="0">
                <a:latin typeface="Times New Roman" pitchFamily="18" charset="0"/>
                <a:cs typeface="Times New Roman" pitchFamily="18" charset="0"/>
                <a:sym typeface="Symbol"/>
              </a:rPr>
              <a:t>n</a:t>
            </a:r>
            <a:r>
              <a:rPr lang="en-US" b="0" i="1" baseline="30000" dirty="0" smtClean="0">
                <a:latin typeface="Times New Roman" pitchFamily="18" charset="0"/>
                <a:cs typeface="Times New Roman" pitchFamily="18" charset="0"/>
                <a:sym typeface="Symbol"/>
              </a:rPr>
              <a:t>2</a:t>
            </a:r>
            <a:r>
              <a:rPr lang="en-US" b="0" i="1" dirty="0" smtClean="0">
                <a:latin typeface="Times New Roman" pitchFamily="18" charset="0"/>
                <a:cs typeface="Times New Roman" pitchFamily="18" charset="0"/>
                <a:sym typeface="Symbol"/>
              </a:rPr>
              <a:t>/P)</a:t>
            </a:r>
            <a:r>
              <a:rPr lang="en-US" b="0" i="1" dirty="0">
                <a:latin typeface="Times New Roman" pitchFamily="18" charset="0"/>
                <a:cs typeface="Times New Roman" pitchFamily="18" charset="0"/>
                <a:sym typeface="Symbol"/>
              </a:rPr>
              <a:t>		</a:t>
            </a:r>
            <a:br>
              <a:rPr lang="en-US" b="0" i="1" dirty="0">
                <a:latin typeface="Times New Roman" pitchFamily="18" charset="0"/>
                <a:cs typeface="Times New Roman" pitchFamily="18" charset="0"/>
                <a:sym typeface="Symbol"/>
              </a:rPr>
            </a:br>
            <a:r>
              <a:rPr lang="en-US" b="0" dirty="0" smtClean="0">
                <a:latin typeface="+mj-lt"/>
                <a:cs typeface="Times New Roman" pitchFamily="18" charset="0"/>
                <a:sym typeface="Symbol"/>
              </a:rPr>
              <a:t>Extra available memory:       </a:t>
            </a:r>
            <a:r>
              <a:rPr lang="en-US" b="0" i="1" dirty="0" smtClean="0">
                <a:latin typeface="Times New Roman" pitchFamily="18" charset="0"/>
                <a:cs typeface="Times New Roman" pitchFamily="18" charset="0"/>
              </a:rPr>
              <a:t>M </a:t>
            </a:r>
            <a:r>
              <a:rPr lang="en-US" b="0" i="1" dirty="0">
                <a:latin typeface="Times New Roman" pitchFamily="18" charset="0"/>
                <a:cs typeface="Times New Roman" pitchFamily="18" charset="0"/>
              </a:rPr>
              <a:t>= </a:t>
            </a:r>
            <a:r>
              <a:rPr lang="en-US" b="0" i="1" dirty="0">
                <a:latin typeface="Times New Roman" pitchFamily="18" charset="0"/>
                <a:cs typeface="Times New Roman" pitchFamily="18" charset="0"/>
                <a:sym typeface="Symbol"/>
              </a:rPr>
              <a:t>(c∙n</a:t>
            </a:r>
            <a:r>
              <a:rPr lang="en-US" b="0" i="1" baseline="30000" dirty="0">
                <a:latin typeface="Times New Roman" pitchFamily="18" charset="0"/>
                <a:cs typeface="Times New Roman" pitchFamily="18" charset="0"/>
                <a:sym typeface="Symbol"/>
              </a:rPr>
              <a:t>2</a:t>
            </a:r>
            <a:r>
              <a:rPr lang="en-US" b="0" i="1" dirty="0">
                <a:latin typeface="Times New Roman" pitchFamily="18" charset="0"/>
                <a:cs typeface="Times New Roman" pitchFamily="18" charset="0"/>
                <a:sym typeface="Symbol"/>
              </a:rPr>
              <a:t>/P)</a:t>
            </a:r>
            <a:endParaRPr lang="he-IL" b="0" i="1" dirty="0">
              <a:latin typeface="Times New Roman" pitchFamily="18" charset="0"/>
              <a:cs typeface="Times New Roman" pitchFamily="18" charset="0"/>
            </a:endParaRPr>
          </a:p>
        </p:txBody>
      </p:sp>
      <p:sp>
        <p:nvSpPr>
          <p:cNvPr id="28" name="TextBox 27"/>
          <p:cNvSpPr txBox="1">
            <a:spLocks noChangeArrowheads="1"/>
          </p:cNvSpPr>
          <p:nvPr/>
        </p:nvSpPr>
        <p:spPr bwMode="auto">
          <a:xfrm>
            <a:off x="3067050" y="2708275"/>
            <a:ext cx="817563" cy="3079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Arial" charset="0"/>
                <a:cs typeface="Arial" charset="0"/>
              </a:defRPr>
            </a:lvl1pPr>
            <a:lvl2pPr marL="742950" indent="-285750" eaLnBrk="0" hangingPunct="0">
              <a:defRPr sz="2000" b="1">
                <a:solidFill>
                  <a:schemeClr val="tx1"/>
                </a:solidFill>
                <a:latin typeface="Arial" charset="0"/>
                <a:cs typeface="Arial" charset="0"/>
              </a:defRPr>
            </a:lvl2pPr>
            <a:lvl3pPr marL="1143000" indent="-228600" eaLnBrk="0" hangingPunct="0">
              <a:defRPr sz="2000" b="1">
                <a:solidFill>
                  <a:schemeClr val="tx1"/>
                </a:solidFill>
                <a:latin typeface="Arial" charset="0"/>
                <a:cs typeface="Arial" charset="0"/>
              </a:defRPr>
            </a:lvl3pPr>
            <a:lvl4pPr marL="1600200" indent="-228600" eaLnBrk="0" hangingPunct="0">
              <a:defRPr sz="2000" b="1">
                <a:solidFill>
                  <a:schemeClr val="tx1"/>
                </a:solidFill>
                <a:latin typeface="Arial" charset="0"/>
                <a:cs typeface="Arial" charset="0"/>
              </a:defRPr>
            </a:lvl4pPr>
            <a:lvl5pPr marL="2057400" indent="-228600" eaLnBrk="0" hangingPunct="0">
              <a:defRPr sz="2000" b="1">
                <a:solidFill>
                  <a:schemeClr val="tx1"/>
                </a:solidFill>
                <a:latin typeface="Arial" charset="0"/>
                <a:cs typeface="Arial" charset="0"/>
              </a:defRPr>
            </a:lvl5pPr>
            <a:lvl6pPr marL="2514600" indent="-228600" algn="ctr" eaLnBrk="0" fontAlgn="base" hangingPunct="0">
              <a:spcBef>
                <a:spcPct val="50000"/>
              </a:spcBef>
              <a:spcAft>
                <a:spcPct val="0"/>
              </a:spcAft>
              <a:defRPr sz="2000" b="1">
                <a:solidFill>
                  <a:schemeClr val="tx1"/>
                </a:solidFill>
                <a:latin typeface="Arial" charset="0"/>
                <a:cs typeface="Arial" charset="0"/>
              </a:defRPr>
            </a:lvl6pPr>
            <a:lvl7pPr marL="2971800" indent="-228600" algn="ctr" eaLnBrk="0" fontAlgn="base" hangingPunct="0">
              <a:spcBef>
                <a:spcPct val="50000"/>
              </a:spcBef>
              <a:spcAft>
                <a:spcPct val="0"/>
              </a:spcAft>
              <a:defRPr sz="2000" b="1">
                <a:solidFill>
                  <a:schemeClr val="tx1"/>
                </a:solidFill>
                <a:latin typeface="Arial" charset="0"/>
                <a:cs typeface="Arial" charset="0"/>
              </a:defRPr>
            </a:lvl7pPr>
            <a:lvl8pPr marL="3429000" indent="-228600" algn="ctr" eaLnBrk="0" fontAlgn="base" hangingPunct="0">
              <a:spcBef>
                <a:spcPct val="50000"/>
              </a:spcBef>
              <a:spcAft>
                <a:spcPct val="0"/>
              </a:spcAft>
              <a:defRPr sz="2000" b="1">
                <a:solidFill>
                  <a:schemeClr val="tx1"/>
                </a:solidFill>
                <a:latin typeface="Arial" charset="0"/>
                <a:cs typeface="Arial" charset="0"/>
              </a:defRPr>
            </a:lvl8pPr>
            <a:lvl9pPr marL="3886200" indent="-228600" algn="ctr" eaLnBrk="0" fontAlgn="base" hangingPunct="0">
              <a:spcBef>
                <a:spcPct val="50000"/>
              </a:spcBef>
              <a:spcAft>
                <a:spcPct val="0"/>
              </a:spcAft>
              <a:defRPr sz="2000" b="1">
                <a:solidFill>
                  <a:schemeClr val="tx1"/>
                </a:solidFill>
                <a:latin typeface="Arial" charset="0"/>
                <a:cs typeface="Arial" charset="0"/>
              </a:defRPr>
            </a:lvl9pPr>
          </a:lstStyle>
          <a:p>
            <a:pPr algn="l" eaLnBrk="1" hangingPunct="1"/>
            <a:r>
              <a:rPr lang="en-US" sz="1400" b="0" dirty="0">
                <a:solidFill>
                  <a:srgbClr val="FF0000"/>
                </a:solidFill>
                <a:latin typeface="Times New Roman" pitchFamily="18" charset="0"/>
                <a:cs typeface="Times New Roman" pitchFamily="18" charset="0"/>
              </a:rPr>
              <a:t>log</a:t>
            </a:r>
            <a:r>
              <a:rPr lang="en-US" sz="1400" b="0" baseline="-25000" dirty="0">
                <a:solidFill>
                  <a:srgbClr val="FF0000"/>
                </a:solidFill>
                <a:latin typeface="Times New Roman" pitchFamily="18" charset="0"/>
                <a:cs typeface="Times New Roman" pitchFamily="18" charset="0"/>
              </a:rPr>
              <a:t>2 </a:t>
            </a:r>
            <a:r>
              <a:rPr lang="en-US" sz="1400" b="0" dirty="0">
                <a:solidFill>
                  <a:srgbClr val="FF0000"/>
                </a:solidFill>
                <a:latin typeface="Times New Roman" pitchFamily="18" charset="0"/>
                <a:cs typeface="Times New Roman" pitchFamily="18" charset="0"/>
              </a:rPr>
              <a:t>7</a:t>
            </a:r>
            <a:endParaRPr lang="he-IL" sz="1400" b="0" dirty="0">
              <a:solidFill>
                <a:srgbClr val="FF0000"/>
              </a:solidFill>
              <a:latin typeface="Times New Roman" pitchFamily="18" charset="0"/>
              <a:cs typeface="Times New Roman" pitchFamily="18" charset="0"/>
            </a:endParaRPr>
          </a:p>
        </p:txBody>
      </p:sp>
      <p:sp>
        <p:nvSpPr>
          <p:cNvPr id="29" name="TextBox 28"/>
          <p:cNvSpPr txBox="1">
            <a:spLocks noChangeArrowheads="1"/>
          </p:cNvSpPr>
          <p:nvPr/>
        </p:nvSpPr>
        <p:spPr bwMode="auto">
          <a:xfrm>
            <a:off x="7842250" y="2684463"/>
            <a:ext cx="819150" cy="30638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Arial" charset="0"/>
                <a:cs typeface="Arial" charset="0"/>
              </a:defRPr>
            </a:lvl1pPr>
            <a:lvl2pPr marL="742950" indent="-285750" eaLnBrk="0" hangingPunct="0">
              <a:defRPr sz="2000" b="1">
                <a:solidFill>
                  <a:schemeClr val="tx1"/>
                </a:solidFill>
                <a:latin typeface="Arial" charset="0"/>
                <a:cs typeface="Arial" charset="0"/>
              </a:defRPr>
            </a:lvl2pPr>
            <a:lvl3pPr marL="1143000" indent="-228600" eaLnBrk="0" hangingPunct="0">
              <a:defRPr sz="2000" b="1">
                <a:solidFill>
                  <a:schemeClr val="tx1"/>
                </a:solidFill>
                <a:latin typeface="Arial" charset="0"/>
                <a:cs typeface="Arial" charset="0"/>
              </a:defRPr>
            </a:lvl3pPr>
            <a:lvl4pPr marL="1600200" indent="-228600" eaLnBrk="0" hangingPunct="0">
              <a:defRPr sz="2000" b="1">
                <a:solidFill>
                  <a:schemeClr val="tx1"/>
                </a:solidFill>
                <a:latin typeface="Arial" charset="0"/>
                <a:cs typeface="Arial" charset="0"/>
              </a:defRPr>
            </a:lvl4pPr>
            <a:lvl5pPr marL="2057400" indent="-228600" eaLnBrk="0" hangingPunct="0">
              <a:defRPr sz="2000" b="1">
                <a:solidFill>
                  <a:schemeClr val="tx1"/>
                </a:solidFill>
                <a:latin typeface="Arial" charset="0"/>
                <a:cs typeface="Arial" charset="0"/>
              </a:defRPr>
            </a:lvl5pPr>
            <a:lvl6pPr marL="2514600" indent="-228600" algn="ctr" eaLnBrk="0" fontAlgn="base" hangingPunct="0">
              <a:spcBef>
                <a:spcPct val="50000"/>
              </a:spcBef>
              <a:spcAft>
                <a:spcPct val="0"/>
              </a:spcAft>
              <a:defRPr sz="2000" b="1">
                <a:solidFill>
                  <a:schemeClr val="tx1"/>
                </a:solidFill>
                <a:latin typeface="Arial" charset="0"/>
                <a:cs typeface="Arial" charset="0"/>
              </a:defRPr>
            </a:lvl6pPr>
            <a:lvl7pPr marL="2971800" indent="-228600" algn="ctr" eaLnBrk="0" fontAlgn="base" hangingPunct="0">
              <a:spcBef>
                <a:spcPct val="50000"/>
              </a:spcBef>
              <a:spcAft>
                <a:spcPct val="0"/>
              </a:spcAft>
              <a:defRPr sz="2000" b="1">
                <a:solidFill>
                  <a:schemeClr val="tx1"/>
                </a:solidFill>
                <a:latin typeface="Arial" charset="0"/>
                <a:cs typeface="Arial" charset="0"/>
              </a:defRPr>
            </a:lvl7pPr>
            <a:lvl8pPr marL="3429000" indent="-228600" algn="ctr" eaLnBrk="0" fontAlgn="base" hangingPunct="0">
              <a:spcBef>
                <a:spcPct val="50000"/>
              </a:spcBef>
              <a:spcAft>
                <a:spcPct val="0"/>
              </a:spcAft>
              <a:defRPr sz="2000" b="1">
                <a:solidFill>
                  <a:schemeClr val="tx1"/>
                </a:solidFill>
                <a:latin typeface="Arial" charset="0"/>
                <a:cs typeface="Arial" charset="0"/>
              </a:defRPr>
            </a:lvl8pPr>
            <a:lvl9pPr marL="3886200" indent="-228600" algn="ctr" eaLnBrk="0" fontAlgn="base" hangingPunct="0">
              <a:spcBef>
                <a:spcPct val="50000"/>
              </a:spcBef>
              <a:spcAft>
                <a:spcPct val="0"/>
              </a:spcAft>
              <a:defRPr sz="2000" b="1">
                <a:solidFill>
                  <a:schemeClr val="tx1"/>
                </a:solidFill>
                <a:latin typeface="Arial" charset="0"/>
                <a:cs typeface="Arial" charset="0"/>
              </a:defRPr>
            </a:lvl9pPr>
          </a:lstStyle>
          <a:p>
            <a:pPr algn="l" eaLnBrk="1" hangingPunct="1"/>
            <a:r>
              <a:rPr lang="en-US" sz="1400" b="0">
                <a:solidFill>
                  <a:srgbClr val="FF0000"/>
                </a:solidFill>
                <a:latin typeface="Times New Roman" pitchFamily="18" charset="0"/>
                <a:cs typeface="Times New Roman" pitchFamily="18" charset="0"/>
              </a:rPr>
              <a:t>log</a:t>
            </a:r>
            <a:r>
              <a:rPr lang="en-US" sz="1400" b="0" baseline="-25000">
                <a:solidFill>
                  <a:srgbClr val="FF0000"/>
                </a:solidFill>
                <a:latin typeface="Times New Roman" pitchFamily="18" charset="0"/>
                <a:cs typeface="Times New Roman" pitchFamily="18" charset="0"/>
              </a:rPr>
              <a:t>2 </a:t>
            </a:r>
            <a:r>
              <a:rPr lang="en-US" sz="1400" b="0">
                <a:solidFill>
                  <a:srgbClr val="FF0000"/>
                </a:solidFill>
                <a:latin typeface="Times New Roman" pitchFamily="18" charset="0"/>
                <a:cs typeface="Times New Roman" pitchFamily="18" charset="0"/>
              </a:rPr>
              <a:t>8</a:t>
            </a:r>
            <a:endParaRPr lang="he-IL" sz="1400" b="0">
              <a:solidFill>
                <a:srgbClr val="FF0000"/>
              </a:solidFill>
              <a:latin typeface="Times New Roman" pitchFamily="18" charset="0"/>
              <a:cs typeface="Times New Roman" pitchFamily="18" charset="0"/>
            </a:endParaRPr>
          </a:p>
        </p:txBody>
      </p:sp>
      <p:sp>
        <p:nvSpPr>
          <p:cNvPr id="30" name="TextBox 29"/>
          <p:cNvSpPr txBox="1">
            <a:spLocks noChangeArrowheads="1"/>
          </p:cNvSpPr>
          <p:nvPr/>
        </p:nvSpPr>
        <p:spPr bwMode="auto">
          <a:xfrm>
            <a:off x="5537200" y="2684463"/>
            <a:ext cx="411163" cy="30638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Arial" charset="0"/>
                <a:cs typeface="Arial" charset="0"/>
              </a:defRPr>
            </a:lvl1pPr>
            <a:lvl2pPr marL="742950" indent="-285750" eaLnBrk="0" hangingPunct="0">
              <a:defRPr sz="2000" b="1">
                <a:solidFill>
                  <a:schemeClr val="tx1"/>
                </a:solidFill>
                <a:latin typeface="Arial" charset="0"/>
                <a:cs typeface="Arial" charset="0"/>
              </a:defRPr>
            </a:lvl2pPr>
            <a:lvl3pPr marL="1143000" indent="-228600" eaLnBrk="0" hangingPunct="0">
              <a:defRPr sz="2000" b="1">
                <a:solidFill>
                  <a:schemeClr val="tx1"/>
                </a:solidFill>
                <a:latin typeface="Arial" charset="0"/>
                <a:cs typeface="Arial" charset="0"/>
              </a:defRPr>
            </a:lvl3pPr>
            <a:lvl4pPr marL="1600200" indent="-228600" eaLnBrk="0" hangingPunct="0">
              <a:defRPr sz="2000" b="1">
                <a:solidFill>
                  <a:schemeClr val="tx1"/>
                </a:solidFill>
                <a:latin typeface="Arial" charset="0"/>
                <a:cs typeface="Arial" charset="0"/>
              </a:defRPr>
            </a:lvl4pPr>
            <a:lvl5pPr marL="2057400" indent="-228600" eaLnBrk="0" hangingPunct="0">
              <a:defRPr sz="2000" b="1">
                <a:solidFill>
                  <a:schemeClr val="tx1"/>
                </a:solidFill>
                <a:latin typeface="Arial" charset="0"/>
                <a:cs typeface="Arial" charset="0"/>
              </a:defRPr>
            </a:lvl5pPr>
            <a:lvl6pPr marL="2514600" indent="-228600" algn="ctr" eaLnBrk="0" fontAlgn="base" hangingPunct="0">
              <a:spcBef>
                <a:spcPct val="50000"/>
              </a:spcBef>
              <a:spcAft>
                <a:spcPct val="0"/>
              </a:spcAft>
              <a:defRPr sz="2000" b="1">
                <a:solidFill>
                  <a:schemeClr val="tx1"/>
                </a:solidFill>
                <a:latin typeface="Arial" charset="0"/>
                <a:cs typeface="Arial" charset="0"/>
              </a:defRPr>
            </a:lvl6pPr>
            <a:lvl7pPr marL="2971800" indent="-228600" algn="ctr" eaLnBrk="0" fontAlgn="base" hangingPunct="0">
              <a:spcBef>
                <a:spcPct val="50000"/>
              </a:spcBef>
              <a:spcAft>
                <a:spcPct val="0"/>
              </a:spcAft>
              <a:defRPr sz="2000" b="1">
                <a:solidFill>
                  <a:schemeClr val="tx1"/>
                </a:solidFill>
                <a:latin typeface="Arial" charset="0"/>
                <a:cs typeface="Arial" charset="0"/>
              </a:defRPr>
            </a:lvl7pPr>
            <a:lvl8pPr marL="3429000" indent="-228600" algn="ctr" eaLnBrk="0" fontAlgn="base" hangingPunct="0">
              <a:spcBef>
                <a:spcPct val="50000"/>
              </a:spcBef>
              <a:spcAft>
                <a:spcPct val="0"/>
              </a:spcAft>
              <a:defRPr sz="2000" b="1">
                <a:solidFill>
                  <a:schemeClr val="tx1"/>
                </a:solidFill>
                <a:latin typeface="Arial" charset="0"/>
                <a:cs typeface="Arial" charset="0"/>
              </a:defRPr>
            </a:lvl8pPr>
            <a:lvl9pPr marL="3886200" indent="-228600" algn="ctr" eaLnBrk="0" fontAlgn="base" hangingPunct="0">
              <a:spcBef>
                <a:spcPct val="50000"/>
              </a:spcBef>
              <a:spcAft>
                <a:spcPct val="0"/>
              </a:spcAft>
              <a:defRPr sz="2000" b="1">
                <a:solidFill>
                  <a:schemeClr val="tx1"/>
                </a:solidFill>
                <a:latin typeface="Arial" charset="0"/>
                <a:cs typeface="Arial" charset="0"/>
              </a:defRPr>
            </a:lvl9pPr>
          </a:lstStyle>
          <a:p>
            <a:pPr algn="l" eaLnBrk="1" hangingPunct="1"/>
            <a:r>
              <a:rPr lang="en-US" sz="1400" b="0" i="1" dirty="0">
                <a:solidFill>
                  <a:srgbClr val="FF0000"/>
                </a:solidFill>
                <a:latin typeface="Times New Roman" pitchFamily="18" charset="0"/>
                <a:cs typeface="Times New Roman" pitchFamily="18" charset="0"/>
                <a:sym typeface="Symbol" pitchFamily="18" charset="2"/>
              </a:rPr>
              <a:t></a:t>
            </a:r>
            <a:r>
              <a:rPr lang="en-US" sz="1400" b="0" baseline="-25000" dirty="0">
                <a:solidFill>
                  <a:srgbClr val="FF0000"/>
                </a:solidFill>
                <a:latin typeface="Times New Roman" pitchFamily="18" charset="0"/>
                <a:cs typeface="Times New Roman" pitchFamily="18" charset="0"/>
                <a:sym typeface="Symbol" pitchFamily="18" charset="2"/>
              </a:rPr>
              <a:t>0</a:t>
            </a:r>
            <a:endParaRPr lang="he-IL" sz="1400" b="0" baseline="-25000" dirty="0">
              <a:solidFill>
                <a:srgbClr val="FF0000"/>
              </a:solidFill>
              <a:latin typeface="Times New Roman" pitchFamily="18" charset="0"/>
              <a:cs typeface="Times New Roman" pitchFamily="18" charset="0"/>
            </a:endParaRPr>
          </a:p>
        </p:txBody>
      </p:sp>
      <p:sp>
        <p:nvSpPr>
          <p:cNvPr id="6" name="TextBox 5"/>
          <p:cNvSpPr txBox="1"/>
          <p:nvPr/>
        </p:nvSpPr>
        <p:spPr>
          <a:xfrm>
            <a:off x="152400" y="2971800"/>
            <a:ext cx="1589347" cy="461665"/>
          </a:xfrm>
          <a:prstGeom prst="rect">
            <a:avLst/>
          </a:prstGeom>
          <a:noFill/>
        </p:spPr>
        <p:txBody>
          <a:bodyPr wrap="none" rtlCol="0">
            <a:spAutoFit/>
          </a:bodyPr>
          <a:lstStyle/>
          <a:p>
            <a:r>
              <a:rPr lang="en-US" sz="2400" dirty="0" smtClean="0"/>
              <a:t>Sequential:</a:t>
            </a:r>
            <a:endParaRPr lang="en-US" sz="2400" dirty="0"/>
          </a:p>
        </p:txBody>
      </p:sp>
      <p:sp>
        <p:nvSpPr>
          <p:cNvPr id="32" name="TextBox 31"/>
          <p:cNvSpPr txBox="1"/>
          <p:nvPr/>
        </p:nvSpPr>
        <p:spPr>
          <a:xfrm>
            <a:off x="152400" y="4191000"/>
            <a:ext cx="1193205" cy="461665"/>
          </a:xfrm>
          <a:prstGeom prst="rect">
            <a:avLst/>
          </a:prstGeom>
          <a:noFill/>
        </p:spPr>
        <p:txBody>
          <a:bodyPr wrap="none" rtlCol="0">
            <a:spAutoFit/>
          </a:bodyPr>
          <a:lstStyle/>
          <a:p>
            <a:r>
              <a:rPr lang="en-US" sz="2400" dirty="0" smtClean="0"/>
              <a:t>Parallel:</a:t>
            </a:r>
            <a:endParaRPr lang="en-US" sz="2400" dirty="0"/>
          </a:p>
        </p:txBody>
      </p:sp>
      <p:sp>
        <p:nvSpPr>
          <p:cNvPr id="33" name="TextBox 32"/>
          <p:cNvSpPr txBox="1"/>
          <p:nvPr/>
        </p:nvSpPr>
        <p:spPr>
          <a:xfrm>
            <a:off x="2582746" y="6248400"/>
            <a:ext cx="4275254" cy="523220"/>
          </a:xfrm>
          <a:prstGeom prst="rect">
            <a:avLst/>
          </a:prstGeom>
          <a:noFill/>
        </p:spPr>
        <p:txBody>
          <a:bodyPr wrap="none" rtlCol="0">
            <a:spAutoFit/>
          </a:bodyPr>
          <a:lstStyle/>
          <a:p>
            <a:r>
              <a:rPr lang="en-US" sz="2800" b="1" dirty="0" smtClean="0">
                <a:solidFill>
                  <a:srgbClr val="0824F2"/>
                </a:solidFill>
              </a:rPr>
              <a:t>Best Paper Award, SPAA’11</a:t>
            </a:r>
          </a:p>
        </p:txBody>
      </p:sp>
    </p:spTree>
    <p:extLst>
      <p:ext uri="{BB962C8B-B14F-4D97-AF65-F5344CB8AC3E}">
        <p14:creationId xmlns:p14="http://schemas.microsoft.com/office/powerpoint/2010/main" val="1486902789"/>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56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355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0"/>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3567" grpId="0"/>
      <p:bldP spid="2" grpId="0"/>
      <p:bldP spid="28" grpId="0" animBg="1"/>
      <p:bldP spid="30" grpId="0" animBg="1"/>
      <p:bldP spid="32" grpId="0"/>
      <p:bldP spid="33"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lstStyle/>
          <a:p>
            <a:r>
              <a:rPr lang="en-US" dirty="0" smtClean="0"/>
              <a:t>Performance on 7</a:t>
            </a:r>
            <a:r>
              <a:rPr lang="en-US" baseline="30000" dirty="0" smtClean="0"/>
              <a:t>k</a:t>
            </a:r>
            <a:r>
              <a:rPr lang="en-US" dirty="0" smtClean="0"/>
              <a:t> Processes</a:t>
            </a:r>
            <a:endParaRPr lang="en-US" dirty="0"/>
          </a:p>
        </p:txBody>
      </p:sp>
      <p:pic>
        <p:nvPicPr>
          <p:cNvPr id="4" name="Content Placeholder 3" descr="ss1-7.jpg"/>
          <p:cNvPicPr>
            <a:picLocks noGrp="1" noChangeAspect="1"/>
          </p:cNvPicPr>
          <p:nvPr>
            <p:ph idx="1"/>
          </p:nvPr>
        </p:nvPicPr>
        <p:blipFill rotWithShape="1">
          <a:blip r:embed="rId2">
            <a:extLst>
              <a:ext uri="{28A0092B-C50C-407E-A947-70E740481C1C}">
                <a14:useLocalDpi xmlns:a14="http://schemas.microsoft.com/office/drawing/2010/main" val="0"/>
              </a:ext>
            </a:extLst>
          </a:blip>
          <a:srcRect l="6584" t="9488" r="4527" b="8763"/>
          <a:stretch/>
        </p:blipFill>
        <p:spPr>
          <a:xfrm>
            <a:off x="304800" y="838200"/>
            <a:ext cx="8534400" cy="6064957"/>
          </a:xfrm>
        </p:spPr>
      </p:pic>
    </p:spTree>
    <p:extLst>
      <p:ext uri="{BB962C8B-B14F-4D97-AF65-F5344CB8AC3E}">
        <p14:creationId xmlns:p14="http://schemas.microsoft.com/office/powerpoint/2010/main" val="3394966140"/>
      </p:ext>
    </p:extLst>
  </p:cSld>
  <p:clrMapOvr>
    <a:masterClrMapping/>
  </p:clrMapOvr>
  <p:timing>
    <p:tnLst>
      <p:par>
        <p:cTn xmlns:p14="http://schemas.microsoft.com/office/powerpoint/2010/mai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Summary of Direct Linear Algebra</a:t>
            </a:r>
            <a:endParaRPr lang="en-US" dirty="0"/>
          </a:p>
        </p:txBody>
      </p:sp>
      <p:sp>
        <p:nvSpPr>
          <p:cNvPr id="3" name="Content Placeholder 2"/>
          <p:cNvSpPr>
            <a:spLocks noGrp="1"/>
          </p:cNvSpPr>
          <p:nvPr>
            <p:ph idx="1"/>
          </p:nvPr>
        </p:nvSpPr>
        <p:spPr>
          <a:xfrm>
            <a:off x="457200" y="1600200"/>
            <a:ext cx="8305800" cy="4525963"/>
          </a:xfrm>
        </p:spPr>
        <p:txBody>
          <a:bodyPr>
            <a:normAutofit/>
          </a:bodyPr>
          <a:lstStyle/>
          <a:p>
            <a:r>
              <a:rPr lang="en-US" dirty="0" smtClean="0"/>
              <a:t>New lower bounds, optimal algorithms, big speedups in theory and practice</a:t>
            </a:r>
          </a:p>
          <a:p>
            <a:r>
              <a:rPr lang="en-US" dirty="0" smtClean="0"/>
              <a:t>Lots of other topics, open problems</a:t>
            </a:r>
          </a:p>
          <a:p>
            <a:pPr lvl="1"/>
            <a:r>
              <a:rPr lang="en-US" dirty="0" smtClean="0"/>
              <a:t>Heterogeneous architectures</a:t>
            </a:r>
          </a:p>
          <a:p>
            <a:pPr lvl="2"/>
            <a:r>
              <a:rPr lang="en-US" dirty="0" smtClean="0"/>
              <a:t>Extends to case where each processor and link has a different speed (SPAA’11)</a:t>
            </a:r>
          </a:p>
          <a:p>
            <a:pPr lvl="1"/>
            <a:r>
              <a:rPr lang="en-US" dirty="0" smtClean="0"/>
              <a:t>Lots more dense and sparse algorithms </a:t>
            </a:r>
          </a:p>
          <a:p>
            <a:pPr lvl="2"/>
            <a:r>
              <a:rPr lang="en-US" dirty="0" smtClean="0"/>
              <a:t>Some designed, a few implemented, rest to be invented</a:t>
            </a:r>
          </a:p>
          <a:p>
            <a:pPr lvl="1"/>
            <a:r>
              <a:rPr lang="en-US" dirty="0" smtClean="0"/>
              <a:t>Need </a:t>
            </a:r>
            <a:r>
              <a:rPr lang="en-US" dirty="0" err="1"/>
              <a:t>a</a:t>
            </a:r>
            <a:r>
              <a:rPr lang="en-US" dirty="0" err="1" smtClean="0"/>
              <a:t>utotuning</a:t>
            </a:r>
            <a:r>
              <a:rPr lang="en-US" dirty="0" smtClean="0"/>
              <a:t>, synthesis</a:t>
            </a:r>
            <a:endParaRPr lang="en-US" dirty="0"/>
          </a:p>
        </p:txBody>
      </p:sp>
    </p:spTree>
  </p:cSld>
  <p:clrMapOvr>
    <a:masterClrMapping/>
  </p:clrMapOvr>
  <p:timing>
    <p:tnLst>
      <p:par>
        <p:cTn xmlns:p14="http://schemas.microsoft.com/office/powerpoint/2010/mai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itle 1"/>
          <p:cNvSpPr>
            <a:spLocks noGrp="1"/>
          </p:cNvSpPr>
          <p:nvPr>
            <p:ph type="title"/>
          </p:nvPr>
        </p:nvSpPr>
        <p:spPr>
          <a:xfrm>
            <a:off x="155575" y="196850"/>
            <a:ext cx="8994775" cy="425450"/>
          </a:xfrm>
        </p:spPr>
        <p:txBody>
          <a:bodyPr>
            <a:noAutofit/>
          </a:bodyPr>
          <a:lstStyle/>
          <a:p>
            <a:pPr eaLnBrk="1" hangingPunct="1"/>
            <a:r>
              <a:rPr lang="en-US" sz="3200" dirty="0" smtClean="0"/>
              <a:t>Avoiding Communication in Iterative Linear Algebra</a:t>
            </a:r>
          </a:p>
        </p:txBody>
      </p:sp>
      <p:sp>
        <p:nvSpPr>
          <p:cNvPr id="3" name="Content Placeholder 2"/>
          <p:cNvSpPr>
            <a:spLocks noGrp="1"/>
          </p:cNvSpPr>
          <p:nvPr>
            <p:ph idx="1"/>
          </p:nvPr>
        </p:nvSpPr>
        <p:spPr>
          <a:xfrm>
            <a:off x="0" y="835025"/>
            <a:ext cx="9144000" cy="5791200"/>
          </a:xfrm>
        </p:spPr>
        <p:txBody>
          <a:bodyPr rtlCol="0">
            <a:normAutofit fontScale="92500" lnSpcReduction="10000"/>
          </a:bodyPr>
          <a:lstStyle/>
          <a:p>
            <a:pPr eaLnBrk="1" fontAlgn="auto" hangingPunct="1">
              <a:spcAft>
                <a:spcPts val="0"/>
              </a:spcAft>
              <a:defRPr/>
            </a:pPr>
            <a:r>
              <a:rPr lang="en-US" dirty="0" smtClean="0"/>
              <a:t>k-steps of iterative solver for sparse Ax=b or Ax=</a:t>
            </a:r>
            <a:r>
              <a:rPr lang="el-GR" dirty="0" smtClean="0"/>
              <a:t>λ</a:t>
            </a:r>
            <a:r>
              <a:rPr lang="en-US" dirty="0" smtClean="0"/>
              <a:t>x</a:t>
            </a:r>
          </a:p>
          <a:p>
            <a:pPr lvl="1" eaLnBrk="1" fontAlgn="auto" hangingPunct="1">
              <a:spcAft>
                <a:spcPts val="0"/>
              </a:spcAft>
              <a:defRPr/>
            </a:pPr>
            <a:r>
              <a:rPr lang="en-US" dirty="0" smtClean="0"/>
              <a:t>Does k </a:t>
            </a:r>
            <a:r>
              <a:rPr lang="en-US" dirty="0" err="1" smtClean="0"/>
              <a:t>SpMVs</a:t>
            </a:r>
            <a:r>
              <a:rPr lang="en-US" dirty="0" smtClean="0"/>
              <a:t> with A and starting vector</a:t>
            </a:r>
          </a:p>
          <a:p>
            <a:pPr lvl="1" eaLnBrk="1" fontAlgn="auto" hangingPunct="1">
              <a:spcAft>
                <a:spcPts val="0"/>
              </a:spcAft>
              <a:defRPr/>
            </a:pPr>
            <a:r>
              <a:rPr lang="en-US" dirty="0" smtClean="0"/>
              <a:t>Many such “</a:t>
            </a:r>
            <a:r>
              <a:rPr lang="en-US" dirty="0" err="1" smtClean="0"/>
              <a:t>Krylov</a:t>
            </a:r>
            <a:r>
              <a:rPr lang="en-US" dirty="0" smtClean="0"/>
              <a:t> Subspace Methods”</a:t>
            </a:r>
          </a:p>
          <a:p>
            <a:pPr eaLnBrk="1" fontAlgn="auto" hangingPunct="1">
              <a:spcAft>
                <a:spcPts val="0"/>
              </a:spcAft>
              <a:defRPr/>
            </a:pPr>
            <a:r>
              <a:rPr lang="en-US" dirty="0" smtClean="0"/>
              <a:t>Goal: minimize communication</a:t>
            </a:r>
          </a:p>
          <a:p>
            <a:pPr lvl="1" eaLnBrk="1" fontAlgn="auto" hangingPunct="1">
              <a:spcAft>
                <a:spcPts val="0"/>
              </a:spcAft>
              <a:defRPr/>
            </a:pPr>
            <a:r>
              <a:rPr lang="en-US" dirty="0" smtClean="0"/>
              <a:t>Assume matrix “well-partitioned”</a:t>
            </a:r>
          </a:p>
          <a:p>
            <a:pPr lvl="1">
              <a:defRPr/>
            </a:pPr>
            <a:r>
              <a:rPr lang="en-US" dirty="0" smtClean="0"/>
              <a:t>Serial implementation</a:t>
            </a:r>
          </a:p>
          <a:p>
            <a:pPr lvl="2">
              <a:defRPr/>
            </a:pPr>
            <a:r>
              <a:rPr lang="en-US" sz="2600" dirty="0" smtClean="0"/>
              <a:t>Conventional: O(k) moves of data from slow to fast memory</a:t>
            </a:r>
          </a:p>
          <a:p>
            <a:pPr lvl="2">
              <a:defRPr/>
            </a:pPr>
            <a:r>
              <a:rPr lang="en-US" sz="2600" b="1" dirty="0" smtClean="0"/>
              <a:t>New</a:t>
            </a:r>
            <a:r>
              <a:rPr lang="en-US" sz="2600" dirty="0" smtClean="0"/>
              <a:t>: </a:t>
            </a:r>
            <a:r>
              <a:rPr lang="en-US" sz="2600" b="1" dirty="0" smtClean="0"/>
              <a:t>O(1) moves of data – optimal</a:t>
            </a:r>
            <a:endParaRPr lang="en-US" dirty="0" smtClean="0"/>
          </a:p>
          <a:p>
            <a:pPr lvl="1" eaLnBrk="1" fontAlgn="auto" hangingPunct="1">
              <a:spcAft>
                <a:spcPts val="0"/>
              </a:spcAft>
              <a:defRPr/>
            </a:pPr>
            <a:r>
              <a:rPr lang="en-US" dirty="0" smtClean="0"/>
              <a:t>Parallel implementation on p processors</a:t>
            </a:r>
          </a:p>
          <a:p>
            <a:pPr lvl="2" eaLnBrk="1" fontAlgn="auto" hangingPunct="1">
              <a:spcAft>
                <a:spcPts val="0"/>
              </a:spcAft>
              <a:defRPr/>
            </a:pPr>
            <a:r>
              <a:rPr lang="en-US" sz="2600" dirty="0" smtClean="0"/>
              <a:t>Conventional: O(k log p) messages  (k </a:t>
            </a:r>
            <a:r>
              <a:rPr lang="en-US" sz="2600" dirty="0" err="1" smtClean="0"/>
              <a:t>SpMV</a:t>
            </a:r>
            <a:r>
              <a:rPr lang="en-US" sz="2600" dirty="0" smtClean="0"/>
              <a:t> calls, dot prods)</a:t>
            </a:r>
          </a:p>
          <a:p>
            <a:pPr lvl="2" eaLnBrk="1" fontAlgn="auto" hangingPunct="1">
              <a:spcAft>
                <a:spcPts val="0"/>
              </a:spcAft>
              <a:defRPr/>
            </a:pPr>
            <a:r>
              <a:rPr lang="en-US" sz="2600" b="1" dirty="0" smtClean="0"/>
              <a:t>New: O(log p) messages - optimal</a:t>
            </a:r>
          </a:p>
          <a:p>
            <a:pPr eaLnBrk="1" fontAlgn="auto" hangingPunct="1">
              <a:spcAft>
                <a:spcPts val="0"/>
              </a:spcAft>
              <a:defRPr/>
            </a:pPr>
            <a:r>
              <a:rPr lang="en-US" dirty="0" smtClean="0"/>
              <a:t>Lots of speed up possible (modeled and measured)</a:t>
            </a:r>
          </a:p>
          <a:p>
            <a:pPr lvl="1" eaLnBrk="1" fontAlgn="auto" hangingPunct="1">
              <a:spcAft>
                <a:spcPts val="0"/>
              </a:spcAft>
              <a:defRPr/>
            </a:pPr>
            <a:r>
              <a:rPr lang="en-US" dirty="0" smtClean="0"/>
              <a:t>Price: some redundant computation</a:t>
            </a:r>
          </a:p>
          <a:p>
            <a:pPr lvl="1" eaLnBrk="1" fontAlgn="auto" hangingPunct="1">
              <a:spcAft>
                <a:spcPts val="0"/>
              </a:spcAft>
              <a:buNone/>
              <a:defRPr/>
            </a:pPr>
            <a:endParaRPr lang="en-US" dirty="0" smtClean="0"/>
          </a:p>
          <a:p>
            <a:pPr lvl="1" eaLnBrk="1" fontAlgn="auto" hangingPunct="1">
              <a:spcAft>
                <a:spcPts val="0"/>
              </a:spcAft>
              <a:defRPr/>
            </a:pPr>
            <a:endParaRPr lang="en-US" dirty="0" smtClean="0"/>
          </a:p>
        </p:txBody>
      </p:sp>
      <p:sp>
        <p:nvSpPr>
          <p:cNvPr id="45060" name="Slide Number Placeholder 6"/>
          <p:cNvSpPr txBox="1">
            <a:spLocks/>
          </p:cNvSpPr>
          <p:nvPr/>
        </p:nvSpPr>
        <p:spPr bwMode="auto">
          <a:xfrm>
            <a:off x="7158038" y="6408738"/>
            <a:ext cx="1905000" cy="457200"/>
          </a:xfrm>
          <a:prstGeom prst="rect">
            <a:avLst/>
          </a:prstGeom>
          <a:noFill/>
          <a:ln w="9525">
            <a:noFill/>
            <a:miter lim="800000"/>
            <a:headEnd/>
            <a:tailEnd/>
          </a:ln>
        </p:spPr>
        <p:txBody>
          <a:bodyPr/>
          <a:lstStyle/>
          <a:p>
            <a:pPr algn="r"/>
            <a:fld id="{F64C5B53-2C2C-4E43-8D19-4FD9D068384E}" type="slidenum">
              <a:rPr lang="en-US" sz="1400" b="0">
                <a:solidFill>
                  <a:schemeClr val="tx1"/>
                </a:solidFill>
              </a:rPr>
              <a:pPr algn="r"/>
              <a:t>64</a:t>
            </a:fld>
            <a:endParaRPr lang="en-US" b="0">
              <a:solidFill>
                <a:schemeClr val="tx1"/>
              </a:solidFill>
            </a:endParaRPr>
          </a:p>
        </p:txBody>
      </p:sp>
      <p:cxnSp>
        <p:nvCxnSpPr>
          <p:cNvPr id="5" name="Straight Connector 4"/>
          <p:cNvCxnSpPr/>
          <p:nvPr/>
        </p:nvCxnSpPr>
        <p:spPr>
          <a:xfrm>
            <a:off x="381000" y="762000"/>
            <a:ext cx="8305800" cy="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
                                            <p:txEl>
                                              <p:pRg st="11" end="11"/>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
                                            <p:txEl>
                                              <p:pRg st="12" end="12"/>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3">
                                            <p:txEl>
                                              <p:pRg st="9" end="9"/>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308"/>
          <p:cNvGrpSpPr/>
          <p:nvPr/>
        </p:nvGrpSpPr>
        <p:grpSpPr>
          <a:xfrm>
            <a:off x="762000" y="2895600"/>
            <a:ext cx="8077200" cy="1219200"/>
            <a:chOff x="-9144000" y="1447800"/>
            <a:chExt cx="28498800" cy="2895600"/>
          </a:xfrm>
        </p:grpSpPr>
        <p:grpSp>
          <p:nvGrpSpPr>
            <p:cNvPr id="3" name="Group 180"/>
            <p:cNvGrpSpPr/>
            <p:nvPr/>
          </p:nvGrpSpPr>
          <p:grpSpPr>
            <a:xfrm>
              <a:off x="-9144000" y="1447800"/>
              <a:ext cx="13868400" cy="2895600"/>
              <a:chOff x="914400" y="1447800"/>
              <a:chExt cx="13868400" cy="2895600"/>
            </a:xfrm>
          </p:grpSpPr>
          <p:grpSp>
            <p:nvGrpSpPr>
              <p:cNvPr id="4" name="Group 116"/>
              <p:cNvGrpSpPr/>
              <p:nvPr/>
            </p:nvGrpSpPr>
            <p:grpSpPr>
              <a:xfrm>
                <a:off x="914400" y="1447800"/>
                <a:ext cx="6553200" cy="2895600"/>
                <a:chOff x="914400" y="1447800"/>
                <a:chExt cx="6553200" cy="2895600"/>
              </a:xfrm>
            </p:grpSpPr>
            <p:grpSp>
              <p:nvGrpSpPr>
                <p:cNvPr id="5" name="Group 84"/>
                <p:cNvGrpSpPr/>
                <p:nvPr/>
              </p:nvGrpSpPr>
              <p:grpSpPr>
                <a:xfrm>
                  <a:off x="914400" y="1447800"/>
                  <a:ext cx="2895600" cy="2895600"/>
                  <a:chOff x="914400" y="1447800"/>
                  <a:chExt cx="2895600" cy="2895600"/>
                </a:xfrm>
              </p:grpSpPr>
              <p:grpSp>
                <p:nvGrpSpPr>
                  <p:cNvPr id="6" name="Group 68"/>
                  <p:cNvGrpSpPr/>
                  <p:nvPr/>
                </p:nvGrpSpPr>
                <p:grpSpPr>
                  <a:xfrm>
                    <a:off x="914400" y="1447800"/>
                    <a:ext cx="2895600" cy="1066800"/>
                    <a:chOff x="914400" y="1447800"/>
                    <a:chExt cx="2895600" cy="1066800"/>
                  </a:xfrm>
                </p:grpSpPr>
                <p:grpSp>
                  <p:nvGrpSpPr>
                    <p:cNvPr id="7" name="Group 60"/>
                    <p:cNvGrpSpPr/>
                    <p:nvPr/>
                  </p:nvGrpSpPr>
                  <p:grpSpPr>
                    <a:xfrm>
                      <a:off x="914400" y="2362200"/>
                      <a:ext cx="2895600" cy="152400"/>
                      <a:chOff x="914400" y="1447800"/>
                      <a:chExt cx="2895600" cy="152400"/>
                    </a:xfrm>
                  </p:grpSpPr>
                  <p:grpSp>
                    <p:nvGrpSpPr>
                      <p:cNvPr id="8" name="Group 56"/>
                      <p:cNvGrpSpPr/>
                      <p:nvPr/>
                    </p:nvGrpSpPr>
                    <p:grpSpPr>
                      <a:xfrm>
                        <a:off x="914400" y="1447800"/>
                        <a:ext cx="1066800" cy="152400"/>
                        <a:chOff x="914400" y="1447800"/>
                        <a:chExt cx="1066800" cy="152400"/>
                      </a:xfrm>
                    </p:grpSpPr>
                    <p:sp>
                      <p:nvSpPr>
                        <p:cNvPr id="53" name="Oval 5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Oval 5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 name="Group 57"/>
                      <p:cNvGrpSpPr/>
                      <p:nvPr/>
                    </p:nvGrpSpPr>
                    <p:grpSpPr>
                      <a:xfrm>
                        <a:off x="2743200" y="1447800"/>
                        <a:ext cx="1066800" cy="152400"/>
                        <a:chOff x="914400" y="1447800"/>
                        <a:chExt cx="1066800" cy="152400"/>
                      </a:xfrm>
                    </p:grpSpPr>
                    <p:sp>
                      <p:nvSpPr>
                        <p:cNvPr id="59" name="Oval 58"/>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Oval 59"/>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0" name="Group 61"/>
                    <p:cNvGrpSpPr/>
                    <p:nvPr/>
                  </p:nvGrpSpPr>
                  <p:grpSpPr>
                    <a:xfrm>
                      <a:off x="914400" y="1447800"/>
                      <a:ext cx="2895600" cy="152400"/>
                      <a:chOff x="914400" y="1447800"/>
                      <a:chExt cx="2895600" cy="152400"/>
                    </a:xfrm>
                  </p:grpSpPr>
                  <p:grpSp>
                    <p:nvGrpSpPr>
                      <p:cNvPr id="11" name="Group 56"/>
                      <p:cNvGrpSpPr/>
                      <p:nvPr/>
                    </p:nvGrpSpPr>
                    <p:grpSpPr>
                      <a:xfrm>
                        <a:off x="914400" y="1447800"/>
                        <a:ext cx="1066800" cy="152400"/>
                        <a:chOff x="914400" y="1447800"/>
                        <a:chExt cx="1066800" cy="152400"/>
                      </a:xfrm>
                    </p:grpSpPr>
                    <p:sp>
                      <p:nvSpPr>
                        <p:cNvPr id="67" name="Oval 66"/>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Oval 67"/>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2" name="Group 57"/>
                      <p:cNvGrpSpPr/>
                      <p:nvPr/>
                    </p:nvGrpSpPr>
                    <p:grpSpPr>
                      <a:xfrm>
                        <a:off x="2743200" y="1447800"/>
                        <a:ext cx="1066800" cy="152400"/>
                        <a:chOff x="914400" y="1447800"/>
                        <a:chExt cx="1066800" cy="152400"/>
                      </a:xfrm>
                    </p:grpSpPr>
                    <p:sp>
                      <p:nvSpPr>
                        <p:cNvPr id="65" name="Oval 64"/>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Oval 65"/>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nvGrpSpPr>
                  <p:cNvPr id="13" name="Group 69"/>
                  <p:cNvGrpSpPr/>
                  <p:nvPr/>
                </p:nvGrpSpPr>
                <p:grpSpPr>
                  <a:xfrm>
                    <a:off x="914400" y="3276600"/>
                    <a:ext cx="2895600" cy="1066800"/>
                    <a:chOff x="914400" y="1447800"/>
                    <a:chExt cx="2895600" cy="1066800"/>
                  </a:xfrm>
                </p:grpSpPr>
                <p:grpSp>
                  <p:nvGrpSpPr>
                    <p:cNvPr id="14" name="Group 60"/>
                    <p:cNvGrpSpPr/>
                    <p:nvPr/>
                  </p:nvGrpSpPr>
                  <p:grpSpPr>
                    <a:xfrm>
                      <a:off x="914400" y="2362200"/>
                      <a:ext cx="2895600" cy="152400"/>
                      <a:chOff x="914400" y="1447800"/>
                      <a:chExt cx="2895600" cy="152400"/>
                    </a:xfrm>
                  </p:grpSpPr>
                  <p:grpSp>
                    <p:nvGrpSpPr>
                      <p:cNvPr id="15" name="Group 56"/>
                      <p:cNvGrpSpPr/>
                      <p:nvPr/>
                    </p:nvGrpSpPr>
                    <p:grpSpPr>
                      <a:xfrm>
                        <a:off x="914400" y="1447800"/>
                        <a:ext cx="1066800" cy="152400"/>
                        <a:chOff x="914400" y="1447800"/>
                        <a:chExt cx="1066800" cy="152400"/>
                      </a:xfrm>
                    </p:grpSpPr>
                    <p:sp>
                      <p:nvSpPr>
                        <p:cNvPr id="83" name="Oval 8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Oval 8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 name="Group 57"/>
                      <p:cNvGrpSpPr/>
                      <p:nvPr/>
                    </p:nvGrpSpPr>
                    <p:grpSpPr>
                      <a:xfrm>
                        <a:off x="2743200" y="1447800"/>
                        <a:ext cx="1066800" cy="152400"/>
                        <a:chOff x="914400" y="1447800"/>
                        <a:chExt cx="1066800" cy="152400"/>
                      </a:xfrm>
                    </p:grpSpPr>
                    <p:sp>
                      <p:nvSpPr>
                        <p:cNvPr id="81" name="Oval 80"/>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Oval 81"/>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7" name="Group 61"/>
                    <p:cNvGrpSpPr/>
                    <p:nvPr/>
                  </p:nvGrpSpPr>
                  <p:grpSpPr>
                    <a:xfrm>
                      <a:off x="914400" y="1447800"/>
                      <a:ext cx="2895600" cy="152400"/>
                      <a:chOff x="914400" y="1447800"/>
                      <a:chExt cx="2895600" cy="152400"/>
                    </a:xfrm>
                  </p:grpSpPr>
                  <p:grpSp>
                    <p:nvGrpSpPr>
                      <p:cNvPr id="18" name="Group 56"/>
                      <p:cNvGrpSpPr/>
                      <p:nvPr/>
                    </p:nvGrpSpPr>
                    <p:grpSpPr>
                      <a:xfrm>
                        <a:off x="914400" y="1447800"/>
                        <a:ext cx="1066800" cy="152400"/>
                        <a:chOff x="914400" y="1447800"/>
                        <a:chExt cx="1066800" cy="152400"/>
                      </a:xfrm>
                    </p:grpSpPr>
                    <p:sp>
                      <p:nvSpPr>
                        <p:cNvPr id="77" name="Oval 76"/>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Oval 77"/>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9" name="Group 57"/>
                      <p:cNvGrpSpPr/>
                      <p:nvPr/>
                    </p:nvGrpSpPr>
                    <p:grpSpPr>
                      <a:xfrm>
                        <a:off x="2743200" y="1447800"/>
                        <a:ext cx="1066800" cy="152400"/>
                        <a:chOff x="914400" y="1447800"/>
                        <a:chExt cx="1066800" cy="152400"/>
                      </a:xfrm>
                    </p:grpSpPr>
                    <p:sp>
                      <p:nvSpPr>
                        <p:cNvPr id="75" name="Oval 74"/>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Oval 75"/>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grpSp>
              <p:nvGrpSpPr>
                <p:cNvPr id="20" name="Group 85"/>
                <p:cNvGrpSpPr/>
                <p:nvPr/>
              </p:nvGrpSpPr>
              <p:grpSpPr>
                <a:xfrm>
                  <a:off x="4572000" y="1447800"/>
                  <a:ext cx="2895600" cy="2895600"/>
                  <a:chOff x="914400" y="1447800"/>
                  <a:chExt cx="2895600" cy="2895600"/>
                </a:xfrm>
              </p:grpSpPr>
              <p:grpSp>
                <p:nvGrpSpPr>
                  <p:cNvPr id="21" name="Group 68"/>
                  <p:cNvGrpSpPr/>
                  <p:nvPr/>
                </p:nvGrpSpPr>
                <p:grpSpPr>
                  <a:xfrm>
                    <a:off x="914400" y="1447800"/>
                    <a:ext cx="2895600" cy="1066800"/>
                    <a:chOff x="914400" y="1447800"/>
                    <a:chExt cx="2895600" cy="1066800"/>
                  </a:xfrm>
                </p:grpSpPr>
                <p:grpSp>
                  <p:nvGrpSpPr>
                    <p:cNvPr id="22" name="Group 60"/>
                    <p:cNvGrpSpPr/>
                    <p:nvPr/>
                  </p:nvGrpSpPr>
                  <p:grpSpPr>
                    <a:xfrm>
                      <a:off x="914400" y="2362200"/>
                      <a:ext cx="2895600" cy="152400"/>
                      <a:chOff x="914400" y="1447800"/>
                      <a:chExt cx="2895600" cy="152400"/>
                    </a:xfrm>
                  </p:grpSpPr>
                  <p:grpSp>
                    <p:nvGrpSpPr>
                      <p:cNvPr id="23" name="Group 56"/>
                      <p:cNvGrpSpPr/>
                      <p:nvPr/>
                    </p:nvGrpSpPr>
                    <p:grpSpPr>
                      <a:xfrm>
                        <a:off x="914400" y="1447800"/>
                        <a:ext cx="1066800" cy="152400"/>
                        <a:chOff x="914400" y="1447800"/>
                        <a:chExt cx="1066800" cy="152400"/>
                      </a:xfrm>
                    </p:grpSpPr>
                    <p:sp>
                      <p:nvSpPr>
                        <p:cNvPr id="115" name="Oval 114"/>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 name="Oval 115"/>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4" name="Group 57"/>
                      <p:cNvGrpSpPr/>
                      <p:nvPr/>
                    </p:nvGrpSpPr>
                    <p:grpSpPr>
                      <a:xfrm>
                        <a:off x="2743200" y="1447800"/>
                        <a:ext cx="1066800" cy="152400"/>
                        <a:chOff x="914400" y="1447800"/>
                        <a:chExt cx="1066800" cy="152400"/>
                      </a:xfrm>
                    </p:grpSpPr>
                    <p:sp>
                      <p:nvSpPr>
                        <p:cNvPr id="113" name="Oval 11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Oval 11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25" name="Group 61"/>
                    <p:cNvGrpSpPr/>
                    <p:nvPr/>
                  </p:nvGrpSpPr>
                  <p:grpSpPr>
                    <a:xfrm>
                      <a:off x="914400" y="1447800"/>
                      <a:ext cx="2895600" cy="152400"/>
                      <a:chOff x="914400" y="1447800"/>
                      <a:chExt cx="2895600" cy="152400"/>
                    </a:xfrm>
                  </p:grpSpPr>
                  <p:grpSp>
                    <p:nvGrpSpPr>
                      <p:cNvPr id="26" name="Group 56"/>
                      <p:cNvGrpSpPr/>
                      <p:nvPr/>
                    </p:nvGrpSpPr>
                    <p:grpSpPr>
                      <a:xfrm>
                        <a:off x="914400" y="1447800"/>
                        <a:ext cx="1066800" cy="152400"/>
                        <a:chOff x="914400" y="1447800"/>
                        <a:chExt cx="1066800" cy="152400"/>
                      </a:xfrm>
                    </p:grpSpPr>
                    <p:sp>
                      <p:nvSpPr>
                        <p:cNvPr id="109" name="Oval 108"/>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Oval 109"/>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7" name="Group 57"/>
                      <p:cNvGrpSpPr/>
                      <p:nvPr/>
                    </p:nvGrpSpPr>
                    <p:grpSpPr>
                      <a:xfrm>
                        <a:off x="2743200" y="1447800"/>
                        <a:ext cx="1066800" cy="152400"/>
                        <a:chOff x="914400" y="1447800"/>
                        <a:chExt cx="1066800" cy="152400"/>
                      </a:xfrm>
                    </p:grpSpPr>
                    <p:sp>
                      <p:nvSpPr>
                        <p:cNvPr id="107" name="Oval 106"/>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Oval 107"/>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nvGrpSpPr>
                  <p:cNvPr id="28" name="Group 69"/>
                  <p:cNvGrpSpPr/>
                  <p:nvPr/>
                </p:nvGrpSpPr>
                <p:grpSpPr>
                  <a:xfrm>
                    <a:off x="914400" y="3276600"/>
                    <a:ext cx="2895600" cy="1066800"/>
                    <a:chOff x="914400" y="1447800"/>
                    <a:chExt cx="2895600" cy="1066800"/>
                  </a:xfrm>
                </p:grpSpPr>
                <p:grpSp>
                  <p:nvGrpSpPr>
                    <p:cNvPr id="29" name="Group 60"/>
                    <p:cNvGrpSpPr/>
                    <p:nvPr/>
                  </p:nvGrpSpPr>
                  <p:grpSpPr>
                    <a:xfrm>
                      <a:off x="914400" y="2362200"/>
                      <a:ext cx="2895600" cy="152400"/>
                      <a:chOff x="914400" y="1447800"/>
                      <a:chExt cx="2895600" cy="152400"/>
                    </a:xfrm>
                  </p:grpSpPr>
                  <p:grpSp>
                    <p:nvGrpSpPr>
                      <p:cNvPr id="30" name="Group 56"/>
                      <p:cNvGrpSpPr/>
                      <p:nvPr/>
                    </p:nvGrpSpPr>
                    <p:grpSpPr>
                      <a:xfrm>
                        <a:off x="914400" y="1447800"/>
                        <a:ext cx="1066800" cy="152400"/>
                        <a:chOff x="914400" y="1447800"/>
                        <a:chExt cx="1066800" cy="152400"/>
                      </a:xfrm>
                    </p:grpSpPr>
                    <p:sp>
                      <p:nvSpPr>
                        <p:cNvPr id="101" name="Oval 100"/>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Oval 101"/>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1" name="Group 57"/>
                      <p:cNvGrpSpPr/>
                      <p:nvPr/>
                    </p:nvGrpSpPr>
                    <p:grpSpPr>
                      <a:xfrm>
                        <a:off x="2743200" y="1447800"/>
                        <a:ext cx="1066800" cy="152400"/>
                        <a:chOff x="914400" y="1447800"/>
                        <a:chExt cx="1066800" cy="152400"/>
                      </a:xfrm>
                    </p:grpSpPr>
                    <p:sp>
                      <p:nvSpPr>
                        <p:cNvPr id="99" name="Oval 98"/>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Oval 99"/>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32" name="Group 61"/>
                    <p:cNvGrpSpPr/>
                    <p:nvPr/>
                  </p:nvGrpSpPr>
                  <p:grpSpPr>
                    <a:xfrm>
                      <a:off x="914400" y="1447800"/>
                      <a:ext cx="2895600" cy="152400"/>
                      <a:chOff x="914400" y="1447800"/>
                      <a:chExt cx="2895600" cy="152400"/>
                    </a:xfrm>
                  </p:grpSpPr>
                  <p:grpSp>
                    <p:nvGrpSpPr>
                      <p:cNvPr id="33" name="Group 56"/>
                      <p:cNvGrpSpPr/>
                      <p:nvPr/>
                    </p:nvGrpSpPr>
                    <p:grpSpPr>
                      <a:xfrm>
                        <a:off x="914400" y="1447800"/>
                        <a:ext cx="1066800" cy="152400"/>
                        <a:chOff x="914400" y="1447800"/>
                        <a:chExt cx="1066800" cy="152400"/>
                      </a:xfrm>
                    </p:grpSpPr>
                    <p:sp>
                      <p:nvSpPr>
                        <p:cNvPr id="95" name="Oval 94"/>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Oval 95"/>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4" name="Group 57"/>
                      <p:cNvGrpSpPr/>
                      <p:nvPr/>
                    </p:nvGrpSpPr>
                    <p:grpSpPr>
                      <a:xfrm>
                        <a:off x="2743200" y="1447800"/>
                        <a:ext cx="1066800" cy="152400"/>
                        <a:chOff x="914400" y="1447800"/>
                        <a:chExt cx="1066800" cy="152400"/>
                      </a:xfrm>
                    </p:grpSpPr>
                    <p:sp>
                      <p:nvSpPr>
                        <p:cNvPr id="93" name="Oval 9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Oval 9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grpSp>
          <p:grpSp>
            <p:nvGrpSpPr>
              <p:cNvPr id="35" name="Group 117"/>
              <p:cNvGrpSpPr/>
              <p:nvPr/>
            </p:nvGrpSpPr>
            <p:grpSpPr>
              <a:xfrm>
                <a:off x="8229600" y="1447800"/>
                <a:ext cx="6553200" cy="2895600"/>
                <a:chOff x="914400" y="1447800"/>
                <a:chExt cx="6553200" cy="2895600"/>
              </a:xfrm>
            </p:grpSpPr>
            <p:grpSp>
              <p:nvGrpSpPr>
                <p:cNvPr id="36" name="Group 84"/>
                <p:cNvGrpSpPr/>
                <p:nvPr/>
              </p:nvGrpSpPr>
              <p:grpSpPr>
                <a:xfrm>
                  <a:off x="914400" y="1447800"/>
                  <a:ext cx="2895600" cy="2895600"/>
                  <a:chOff x="914400" y="1447800"/>
                  <a:chExt cx="2895600" cy="2895600"/>
                </a:xfrm>
              </p:grpSpPr>
              <p:grpSp>
                <p:nvGrpSpPr>
                  <p:cNvPr id="37" name="Group 68"/>
                  <p:cNvGrpSpPr/>
                  <p:nvPr/>
                </p:nvGrpSpPr>
                <p:grpSpPr>
                  <a:xfrm>
                    <a:off x="914400" y="1447800"/>
                    <a:ext cx="2895600" cy="1066800"/>
                    <a:chOff x="914400" y="1447800"/>
                    <a:chExt cx="2895600" cy="1066800"/>
                  </a:xfrm>
                </p:grpSpPr>
                <p:grpSp>
                  <p:nvGrpSpPr>
                    <p:cNvPr id="38" name="Group 60"/>
                    <p:cNvGrpSpPr/>
                    <p:nvPr/>
                  </p:nvGrpSpPr>
                  <p:grpSpPr>
                    <a:xfrm>
                      <a:off x="914400" y="2362200"/>
                      <a:ext cx="2895600" cy="152400"/>
                      <a:chOff x="914400" y="1447800"/>
                      <a:chExt cx="2895600" cy="152400"/>
                    </a:xfrm>
                  </p:grpSpPr>
                  <p:grpSp>
                    <p:nvGrpSpPr>
                      <p:cNvPr id="39" name="Group 56"/>
                      <p:cNvGrpSpPr/>
                      <p:nvPr/>
                    </p:nvGrpSpPr>
                    <p:grpSpPr>
                      <a:xfrm>
                        <a:off x="914400" y="1447800"/>
                        <a:ext cx="1066800" cy="152400"/>
                        <a:chOff x="914400" y="1447800"/>
                        <a:chExt cx="1066800" cy="152400"/>
                      </a:xfrm>
                    </p:grpSpPr>
                    <p:sp>
                      <p:nvSpPr>
                        <p:cNvPr id="179" name="Oval 5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0" name="Oval 5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0" name="Group 57"/>
                      <p:cNvGrpSpPr/>
                      <p:nvPr/>
                    </p:nvGrpSpPr>
                    <p:grpSpPr>
                      <a:xfrm>
                        <a:off x="2743200" y="1447800"/>
                        <a:ext cx="1066800" cy="152400"/>
                        <a:chOff x="914400" y="1447800"/>
                        <a:chExt cx="1066800" cy="152400"/>
                      </a:xfrm>
                    </p:grpSpPr>
                    <p:sp>
                      <p:nvSpPr>
                        <p:cNvPr id="177" name="Oval 58"/>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8" name="Oval 59"/>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41" name="Group 61"/>
                    <p:cNvGrpSpPr/>
                    <p:nvPr/>
                  </p:nvGrpSpPr>
                  <p:grpSpPr>
                    <a:xfrm>
                      <a:off x="914400" y="1447800"/>
                      <a:ext cx="2895600" cy="152400"/>
                      <a:chOff x="914400" y="1447800"/>
                      <a:chExt cx="2895600" cy="152400"/>
                    </a:xfrm>
                  </p:grpSpPr>
                  <p:grpSp>
                    <p:nvGrpSpPr>
                      <p:cNvPr id="42" name="Group 56"/>
                      <p:cNvGrpSpPr/>
                      <p:nvPr/>
                    </p:nvGrpSpPr>
                    <p:grpSpPr>
                      <a:xfrm>
                        <a:off x="914400" y="1447800"/>
                        <a:ext cx="1066800" cy="152400"/>
                        <a:chOff x="914400" y="1447800"/>
                        <a:chExt cx="1066800" cy="152400"/>
                      </a:xfrm>
                    </p:grpSpPr>
                    <p:sp>
                      <p:nvSpPr>
                        <p:cNvPr id="173" name="Oval 17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4" name="Oval 17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3" name="Group 57"/>
                      <p:cNvGrpSpPr/>
                      <p:nvPr/>
                    </p:nvGrpSpPr>
                    <p:grpSpPr>
                      <a:xfrm>
                        <a:off x="2743200" y="1447800"/>
                        <a:ext cx="1066800" cy="152400"/>
                        <a:chOff x="914400" y="1447800"/>
                        <a:chExt cx="1066800" cy="152400"/>
                      </a:xfrm>
                    </p:grpSpPr>
                    <p:sp>
                      <p:nvSpPr>
                        <p:cNvPr id="171" name="Oval 170"/>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2" name="Oval 171"/>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nvGrpSpPr>
                  <p:cNvPr id="44" name="Group 69"/>
                  <p:cNvGrpSpPr/>
                  <p:nvPr/>
                </p:nvGrpSpPr>
                <p:grpSpPr>
                  <a:xfrm>
                    <a:off x="914400" y="3276600"/>
                    <a:ext cx="2895600" cy="1066800"/>
                    <a:chOff x="914400" y="1447800"/>
                    <a:chExt cx="2895600" cy="1066800"/>
                  </a:xfrm>
                </p:grpSpPr>
                <p:grpSp>
                  <p:nvGrpSpPr>
                    <p:cNvPr id="45" name="Group 60"/>
                    <p:cNvGrpSpPr/>
                    <p:nvPr/>
                  </p:nvGrpSpPr>
                  <p:grpSpPr>
                    <a:xfrm>
                      <a:off x="914400" y="2362200"/>
                      <a:ext cx="2895600" cy="152400"/>
                      <a:chOff x="914400" y="1447800"/>
                      <a:chExt cx="2895600" cy="152400"/>
                    </a:xfrm>
                  </p:grpSpPr>
                  <p:grpSp>
                    <p:nvGrpSpPr>
                      <p:cNvPr id="46" name="Group 56"/>
                      <p:cNvGrpSpPr/>
                      <p:nvPr/>
                    </p:nvGrpSpPr>
                    <p:grpSpPr>
                      <a:xfrm>
                        <a:off x="914400" y="1447800"/>
                        <a:ext cx="1066800" cy="152400"/>
                        <a:chOff x="914400" y="1447800"/>
                        <a:chExt cx="1066800" cy="152400"/>
                      </a:xfrm>
                    </p:grpSpPr>
                    <p:sp>
                      <p:nvSpPr>
                        <p:cNvPr id="165" name="Oval 164"/>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6" name="Oval 165"/>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7" name="Group 57"/>
                      <p:cNvGrpSpPr/>
                      <p:nvPr/>
                    </p:nvGrpSpPr>
                    <p:grpSpPr>
                      <a:xfrm>
                        <a:off x="2743200" y="1447800"/>
                        <a:ext cx="1066800" cy="152400"/>
                        <a:chOff x="914400" y="1447800"/>
                        <a:chExt cx="1066800" cy="152400"/>
                      </a:xfrm>
                    </p:grpSpPr>
                    <p:sp>
                      <p:nvSpPr>
                        <p:cNvPr id="163" name="Oval 16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4" name="Oval 16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48" name="Group 61"/>
                    <p:cNvGrpSpPr/>
                    <p:nvPr/>
                  </p:nvGrpSpPr>
                  <p:grpSpPr>
                    <a:xfrm>
                      <a:off x="914400" y="1447800"/>
                      <a:ext cx="2895600" cy="152400"/>
                      <a:chOff x="914400" y="1447800"/>
                      <a:chExt cx="2895600" cy="152400"/>
                    </a:xfrm>
                  </p:grpSpPr>
                  <p:grpSp>
                    <p:nvGrpSpPr>
                      <p:cNvPr id="49" name="Group 56"/>
                      <p:cNvGrpSpPr/>
                      <p:nvPr/>
                    </p:nvGrpSpPr>
                    <p:grpSpPr>
                      <a:xfrm>
                        <a:off x="914400" y="1447800"/>
                        <a:ext cx="1066800" cy="152400"/>
                        <a:chOff x="914400" y="1447800"/>
                        <a:chExt cx="1066800" cy="152400"/>
                      </a:xfrm>
                    </p:grpSpPr>
                    <p:sp>
                      <p:nvSpPr>
                        <p:cNvPr id="159" name="Oval 158"/>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0" name="Oval 159"/>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0" name="Group 57"/>
                      <p:cNvGrpSpPr/>
                      <p:nvPr/>
                    </p:nvGrpSpPr>
                    <p:grpSpPr>
                      <a:xfrm>
                        <a:off x="2743200" y="1447800"/>
                        <a:ext cx="1066800" cy="152400"/>
                        <a:chOff x="914400" y="1447800"/>
                        <a:chExt cx="1066800" cy="152400"/>
                      </a:xfrm>
                    </p:grpSpPr>
                    <p:sp>
                      <p:nvSpPr>
                        <p:cNvPr id="157" name="Oval 156"/>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8" name="Oval 157"/>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grpSp>
              <p:nvGrpSpPr>
                <p:cNvPr id="51" name="Group 85"/>
                <p:cNvGrpSpPr/>
                <p:nvPr/>
              </p:nvGrpSpPr>
              <p:grpSpPr>
                <a:xfrm>
                  <a:off x="4572000" y="1447800"/>
                  <a:ext cx="2895600" cy="2895600"/>
                  <a:chOff x="914400" y="1447800"/>
                  <a:chExt cx="2895600" cy="2895600"/>
                </a:xfrm>
              </p:grpSpPr>
              <p:grpSp>
                <p:nvGrpSpPr>
                  <p:cNvPr id="52" name="Group 68"/>
                  <p:cNvGrpSpPr/>
                  <p:nvPr/>
                </p:nvGrpSpPr>
                <p:grpSpPr>
                  <a:xfrm>
                    <a:off x="914400" y="1447800"/>
                    <a:ext cx="2895600" cy="1066800"/>
                    <a:chOff x="914400" y="1447800"/>
                    <a:chExt cx="2895600" cy="1066800"/>
                  </a:xfrm>
                </p:grpSpPr>
                <p:grpSp>
                  <p:nvGrpSpPr>
                    <p:cNvPr id="55" name="Group 60"/>
                    <p:cNvGrpSpPr/>
                    <p:nvPr/>
                  </p:nvGrpSpPr>
                  <p:grpSpPr>
                    <a:xfrm>
                      <a:off x="914400" y="2362200"/>
                      <a:ext cx="2895600" cy="152400"/>
                      <a:chOff x="914400" y="1447800"/>
                      <a:chExt cx="2895600" cy="152400"/>
                    </a:xfrm>
                  </p:grpSpPr>
                  <p:grpSp>
                    <p:nvGrpSpPr>
                      <p:cNvPr id="56" name="Group 56"/>
                      <p:cNvGrpSpPr/>
                      <p:nvPr/>
                    </p:nvGrpSpPr>
                    <p:grpSpPr>
                      <a:xfrm>
                        <a:off x="914400" y="1447800"/>
                        <a:ext cx="1066800" cy="152400"/>
                        <a:chOff x="914400" y="1447800"/>
                        <a:chExt cx="1066800" cy="152400"/>
                      </a:xfrm>
                    </p:grpSpPr>
                    <p:sp>
                      <p:nvSpPr>
                        <p:cNvPr id="149" name="Oval 148"/>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0" name="Oval 149"/>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7" name="Group 57"/>
                      <p:cNvGrpSpPr/>
                      <p:nvPr/>
                    </p:nvGrpSpPr>
                    <p:grpSpPr>
                      <a:xfrm>
                        <a:off x="2743200" y="1447800"/>
                        <a:ext cx="1066800" cy="152400"/>
                        <a:chOff x="914400" y="1447800"/>
                        <a:chExt cx="1066800" cy="152400"/>
                      </a:xfrm>
                    </p:grpSpPr>
                    <p:sp>
                      <p:nvSpPr>
                        <p:cNvPr id="147" name="Oval 146"/>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8" name="Oval 147"/>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58" name="Group 61"/>
                    <p:cNvGrpSpPr/>
                    <p:nvPr/>
                  </p:nvGrpSpPr>
                  <p:grpSpPr>
                    <a:xfrm>
                      <a:off x="914400" y="1447800"/>
                      <a:ext cx="2895600" cy="152400"/>
                      <a:chOff x="914400" y="1447800"/>
                      <a:chExt cx="2895600" cy="152400"/>
                    </a:xfrm>
                  </p:grpSpPr>
                  <p:grpSp>
                    <p:nvGrpSpPr>
                      <p:cNvPr id="61" name="Group 56"/>
                      <p:cNvGrpSpPr/>
                      <p:nvPr/>
                    </p:nvGrpSpPr>
                    <p:grpSpPr>
                      <a:xfrm>
                        <a:off x="914400" y="1447800"/>
                        <a:ext cx="1066800" cy="152400"/>
                        <a:chOff x="914400" y="1447800"/>
                        <a:chExt cx="1066800" cy="152400"/>
                      </a:xfrm>
                    </p:grpSpPr>
                    <p:sp>
                      <p:nvSpPr>
                        <p:cNvPr id="143" name="Oval 14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4" name="Oval 14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2" name="Group 57"/>
                      <p:cNvGrpSpPr/>
                      <p:nvPr/>
                    </p:nvGrpSpPr>
                    <p:grpSpPr>
                      <a:xfrm>
                        <a:off x="2743200" y="1447800"/>
                        <a:ext cx="1066800" cy="152400"/>
                        <a:chOff x="914400" y="1447800"/>
                        <a:chExt cx="1066800" cy="152400"/>
                      </a:xfrm>
                    </p:grpSpPr>
                    <p:sp>
                      <p:nvSpPr>
                        <p:cNvPr id="141" name="Oval 140"/>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2" name="Oval 141"/>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nvGrpSpPr>
                  <p:cNvPr id="63" name="Group 69"/>
                  <p:cNvGrpSpPr/>
                  <p:nvPr/>
                </p:nvGrpSpPr>
                <p:grpSpPr>
                  <a:xfrm>
                    <a:off x="914400" y="3276600"/>
                    <a:ext cx="2895600" cy="1066800"/>
                    <a:chOff x="914400" y="1447800"/>
                    <a:chExt cx="2895600" cy="1066800"/>
                  </a:xfrm>
                </p:grpSpPr>
                <p:grpSp>
                  <p:nvGrpSpPr>
                    <p:cNvPr id="64" name="Group 60"/>
                    <p:cNvGrpSpPr/>
                    <p:nvPr/>
                  </p:nvGrpSpPr>
                  <p:grpSpPr>
                    <a:xfrm>
                      <a:off x="914400" y="2362200"/>
                      <a:ext cx="2895600" cy="152400"/>
                      <a:chOff x="914400" y="1447800"/>
                      <a:chExt cx="2895600" cy="152400"/>
                    </a:xfrm>
                  </p:grpSpPr>
                  <p:grpSp>
                    <p:nvGrpSpPr>
                      <p:cNvPr id="69" name="Group 56"/>
                      <p:cNvGrpSpPr/>
                      <p:nvPr/>
                    </p:nvGrpSpPr>
                    <p:grpSpPr>
                      <a:xfrm>
                        <a:off x="914400" y="1447800"/>
                        <a:ext cx="1066800" cy="152400"/>
                        <a:chOff x="914400" y="1447800"/>
                        <a:chExt cx="1066800" cy="152400"/>
                      </a:xfrm>
                    </p:grpSpPr>
                    <p:sp>
                      <p:nvSpPr>
                        <p:cNvPr id="135" name="Oval 134"/>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6" name="Oval 135"/>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0" name="Group 57"/>
                      <p:cNvGrpSpPr/>
                      <p:nvPr/>
                    </p:nvGrpSpPr>
                    <p:grpSpPr>
                      <a:xfrm>
                        <a:off x="2743200" y="1447800"/>
                        <a:ext cx="1066800" cy="152400"/>
                        <a:chOff x="914400" y="1447800"/>
                        <a:chExt cx="1066800" cy="152400"/>
                      </a:xfrm>
                    </p:grpSpPr>
                    <p:sp>
                      <p:nvSpPr>
                        <p:cNvPr id="133" name="Oval 13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 name="Oval 13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71" name="Group 61"/>
                    <p:cNvGrpSpPr/>
                    <p:nvPr/>
                  </p:nvGrpSpPr>
                  <p:grpSpPr>
                    <a:xfrm>
                      <a:off x="914400" y="1447800"/>
                      <a:ext cx="2895600" cy="152400"/>
                      <a:chOff x="914400" y="1447800"/>
                      <a:chExt cx="2895600" cy="152400"/>
                    </a:xfrm>
                  </p:grpSpPr>
                  <p:grpSp>
                    <p:nvGrpSpPr>
                      <p:cNvPr id="72" name="Group 56"/>
                      <p:cNvGrpSpPr/>
                      <p:nvPr/>
                    </p:nvGrpSpPr>
                    <p:grpSpPr>
                      <a:xfrm>
                        <a:off x="914400" y="1447800"/>
                        <a:ext cx="1066800" cy="152400"/>
                        <a:chOff x="914400" y="1447800"/>
                        <a:chExt cx="1066800" cy="152400"/>
                      </a:xfrm>
                    </p:grpSpPr>
                    <p:sp>
                      <p:nvSpPr>
                        <p:cNvPr id="129" name="Oval 128"/>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 name="Oval 129"/>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3" name="Group 57"/>
                      <p:cNvGrpSpPr/>
                      <p:nvPr/>
                    </p:nvGrpSpPr>
                    <p:grpSpPr>
                      <a:xfrm>
                        <a:off x="2743200" y="1447800"/>
                        <a:ext cx="1066800" cy="152400"/>
                        <a:chOff x="914400" y="1447800"/>
                        <a:chExt cx="1066800" cy="152400"/>
                      </a:xfrm>
                    </p:grpSpPr>
                    <p:sp>
                      <p:nvSpPr>
                        <p:cNvPr id="127" name="Oval 126"/>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8" name="Oval 127"/>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grpSp>
        </p:grpSp>
        <p:grpSp>
          <p:nvGrpSpPr>
            <p:cNvPr id="74" name="Group 181"/>
            <p:cNvGrpSpPr/>
            <p:nvPr/>
          </p:nvGrpSpPr>
          <p:grpSpPr>
            <a:xfrm>
              <a:off x="5486400" y="1447800"/>
              <a:ext cx="13868400" cy="2895600"/>
              <a:chOff x="914400" y="1447800"/>
              <a:chExt cx="13868400" cy="2895600"/>
            </a:xfrm>
          </p:grpSpPr>
          <p:grpSp>
            <p:nvGrpSpPr>
              <p:cNvPr id="79" name="Group 116"/>
              <p:cNvGrpSpPr/>
              <p:nvPr/>
            </p:nvGrpSpPr>
            <p:grpSpPr>
              <a:xfrm>
                <a:off x="914400" y="1447800"/>
                <a:ext cx="6553200" cy="2895600"/>
                <a:chOff x="914400" y="1447800"/>
                <a:chExt cx="6553200" cy="2895600"/>
              </a:xfrm>
            </p:grpSpPr>
            <p:grpSp>
              <p:nvGrpSpPr>
                <p:cNvPr id="80" name="Group 84"/>
                <p:cNvGrpSpPr/>
                <p:nvPr/>
              </p:nvGrpSpPr>
              <p:grpSpPr>
                <a:xfrm>
                  <a:off x="914400" y="1447800"/>
                  <a:ext cx="2895600" cy="2895600"/>
                  <a:chOff x="914400" y="1447800"/>
                  <a:chExt cx="2895600" cy="2895600"/>
                </a:xfrm>
              </p:grpSpPr>
              <p:grpSp>
                <p:nvGrpSpPr>
                  <p:cNvPr id="85" name="Group 68"/>
                  <p:cNvGrpSpPr/>
                  <p:nvPr/>
                </p:nvGrpSpPr>
                <p:grpSpPr>
                  <a:xfrm>
                    <a:off x="914400" y="1447800"/>
                    <a:ext cx="2895600" cy="1066800"/>
                    <a:chOff x="914400" y="1447800"/>
                    <a:chExt cx="2895600" cy="1066800"/>
                  </a:xfrm>
                </p:grpSpPr>
                <p:grpSp>
                  <p:nvGrpSpPr>
                    <p:cNvPr id="86" name="Group 60"/>
                    <p:cNvGrpSpPr/>
                    <p:nvPr/>
                  </p:nvGrpSpPr>
                  <p:grpSpPr>
                    <a:xfrm>
                      <a:off x="914400" y="2362200"/>
                      <a:ext cx="2895600" cy="152400"/>
                      <a:chOff x="914400" y="1447800"/>
                      <a:chExt cx="2895600" cy="152400"/>
                    </a:xfrm>
                  </p:grpSpPr>
                  <p:grpSp>
                    <p:nvGrpSpPr>
                      <p:cNvPr id="87" name="Group 56"/>
                      <p:cNvGrpSpPr/>
                      <p:nvPr/>
                    </p:nvGrpSpPr>
                    <p:grpSpPr>
                      <a:xfrm>
                        <a:off x="914400" y="1447800"/>
                        <a:ext cx="1066800" cy="152400"/>
                        <a:chOff x="914400" y="1447800"/>
                        <a:chExt cx="1066800" cy="152400"/>
                      </a:xfrm>
                    </p:grpSpPr>
                    <p:sp>
                      <p:nvSpPr>
                        <p:cNvPr id="307" name="Oval 5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 name="Oval 5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8" name="Group 57"/>
                      <p:cNvGrpSpPr/>
                      <p:nvPr/>
                    </p:nvGrpSpPr>
                    <p:grpSpPr>
                      <a:xfrm>
                        <a:off x="2743200" y="1447800"/>
                        <a:ext cx="1066800" cy="152400"/>
                        <a:chOff x="914400" y="1447800"/>
                        <a:chExt cx="1066800" cy="152400"/>
                      </a:xfrm>
                    </p:grpSpPr>
                    <p:sp>
                      <p:nvSpPr>
                        <p:cNvPr id="305" name="Oval 304"/>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6" name="Oval 305"/>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89" name="Group 61"/>
                    <p:cNvGrpSpPr/>
                    <p:nvPr/>
                  </p:nvGrpSpPr>
                  <p:grpSpPr>
                    <a:xfrm>
                      <a:off x="914400" y="1447800"/>
                      <a:ext cx="2895600" cy="152400"/>
                      <a:chOff x="914400" y="1447800"/>
                      <a:chExt cx="2895600" cy="152400"/>
                    </a:xfrm>
                  </p:grpSpPr>
                  <p:grpSp>
                    <p:nvGrpSpPr>
                      <p:cNvPr id="90" name="Group 56"/>
                      <p:cNvGrpSpPr/>
                      <p:nvPr/>
                    </p:nvGrpSpPr>
                    <p:grpSpPr>
                      <a:xfrm>
                        <a:off x="914400" y="1447800"/>
                        <a:ext cx="1066800" cy="152400"/>
                        <a:chOff x="914400" y="1447800"/>
                        <a:chExt cx="1066800" cy="152400"/>
                      </a:xfrm>
                    </p:grpSpPr>
                    <p:sp>
                      <p:nvSpPr>
                        <p:cNvPr id="301" name="Oval 66"/>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2" name="Oval 67"/>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1" name="Group 57"/>
                      <p:cNvGrpSpPr/>
                      <p:nvPr/>
                    </p:nvGrpSpPr>
                    <p:grpSpPr>
                      <a:xfrm>
                        <a:off x="2743200" y="1447800"/>
                        <a:ext cx="1066800" cy="152400"/>
                        <a:chOff x="914400" y="1447800"/>
                        <a:chExt cx="1066800" cy="152400"/>
                      </a:xfrm>
                    </p:grpSpPr>
                    <p:sp>
                      <p:nvSpPr>
                        <p:cNvPr id="299" name="Oval 298"/>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0" name="Oval 299"/>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nvGrpSpPr>
                  <p:cNvPr id="92" name="Group 69"/>
                  <p:cNvGrpSpPr/>
                  <p:nvPr/>
                </p:nvGrpSpPr>
                <p:grpSpPr>
                  <a:xfrm>
                    <a:off x="914400" y="3276600"/>
                    <a:ext cx="2895600" cy="1066800"/>
                    <a:chOff x="914400" y="1447800"/>
                    <a:chExt cx="2895600" cy="1066800"/>
                  </a:xfrm>
                </p:grpSpPr>
                <p:grpSp>
                  <p:nvGrpSpPr>
                    <p:cNvPr id="97" name="Group 60"/>
                    <p:cNvGrpSpPr/>
                    <p:nvPr/>
                  </p:nvGrpSpPr>
                  <p:grpSpPr>
                    <a:xfrm>
                      <a:off x="914400" y="2362200"/>
                      <a:ext cx="2895600" cy="152400"/>
                      <a:chOff x="914400" y="1447800"/>
                      <a:chExt cx="2895600" cy="152400"/>
                    </a:xfrm>
                  </p:grpSpPr>
                  <p:grpSp>
                    <p:nvGrpSpPr>
                      <p:cNvPr id="98" name="Group 56"/>
                      <p:cNvGrpSpPr/>
                      <p:nvPr/>
                    </p:nvGrpSpPr>
                    <p:grpSpPr>
                      <a:xfrm>
                        <a:off x="914400" y="1447800"/>
                        <a:ext cx="1066800" cy="152400"/>
                        <a:chOff x="914400" y="1447800"/>
                        <a:chExt cx="1066800" cy="152400"/>
                      </a:xfrm>
                    </p:grpSpPr>
                    <p:sp>
                      <p:nvSpPr>
                        <p:cNvPr id="293" name="Oval 29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4" name="Oval 29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3" name="Group 57"/>
                      <p:cNvGrpSpPr/>
                      <p:nvPr/>
                    </p:nvGrpSpPr>
                    <p:grpSpPr>
                      <a:xfrm>
                        <a:off x="2743200" y="1447800"/>
                        <a:ext cx="1066800" cy="152400"/>
                        <a:chOff x="914400" y="1447800"/>
                        <a:chExt cx="1066800" cy="152400"/>
                      </a:xfrm>
                    </p:grpSpPr>
                    <p:sp>
                      <p:nvSpPr>
                        <p:cNvPr id="291" name="Oval 290"/>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2" name="Oval 291"/>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04" name="Group 61"/>
                    <p:cNvGrpSpPr/>
                    <p:nvPr/>
                  </p:nvGrpSpPr>
                  <p:grpSpPr>
                    <a:xfrm>
                      <a:off x="914400" y="1447800"/>
                      <a:ext cx="2895600" cy="152400"/>
                      <a:chOff x="914400" y="1447800"/>
                      <a:chExt cx="2895600" cy="152400"/>
                    </a:xfrm>
                  </p:grpSpPr>
                  <p:grpSp>
                    <p:nvGrpSpPr>
                      <p:cNvPr id="105" name="Group 56"/>
                      <p:cNvGrpSpPr/>
                      <p:nvPr/>
                    </p:nvGrpSpPr>
                    <p:grpSpPr>
                      <a:xfrm>
                        <a:off x="914400" y="1447800"/>
                        <a:ext cx="1066800" cy="152400"/>
                        <a:chOff x="914400" y="1447800"/>
                        <a:chExt cx="1066800" cy="152400"/>
                      </a:xfrm>
                    </p:grpSpPr>
                    <p:sp>
                      <p:nvSpPr>
                        <p:cNvPr id="287" name="Oval 286"/>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8" name="Oval 287"/>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6" name="Group 57"/>
                      <p:cNvGrpSpPr/>
                      <p:nvPr/>
                    </p:nvGrpSpPr>
                    <p:grpSpPr>
                      <a:xfrm>
                        <a:off x="2743200" y="1447800"/>
                        <a:ext cx="1066800" cy="152400"/>
                        <a:chOff x="914400" y="1447800"/>
                        <a:chExt cx="1066800" cy="152400"/>
                      </a:xfrm>
                    </p:grpSpPr>
                    <p:sp>
                      <p:nvSpPr>
                        <p:cNvPr id="285" name="Oval 284"/>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6" name="Oval 285"/>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grpSp>
              <p:nvGrpSpPr>
                <p:cNvPr id="111" name="Group 85"/>
                <p:cNvGrpSpPr/>
                <p:nvPr/>
              </p:nvGrpSpPr>
              <p:grpSpPr>
                <a:xfrm>
                  <a:off x="4572000" y="1447800"/>
                  <a:ext cx="2895600" cy="2895600"/>
                  <a:chOff x="914400" y="1447800"/>
                  <a:chExt cx="2895600" cy="2895600"/>
                </a:xfrm>
              </p:grpSpPr>
              <p:grpSp>
                <p:nvGrpSpPr>
                  <p:cNvPr id="112" name="Group 248"/>
                  <p:cNvGrpSpPr/>
                  <p:nvPr/>
                </p:nvGrpSpPr>
                <p:grpSpPr>
                  <a:xfrm>
                    <a:off x="914400" y="1447800"/>
                    <a:ext cx="2895600" cy="1066800"/>
                    <a:chOff x="914400" y="1447800"/>
                    <a:chExt cx="2895600" cy="1066800"/>
                  </a:xfrm>
                </p:grpSpPr>
                <p:grpSp>
                  <p:nvGrpSpPr>
                    <p:cNvPr id="117" name="Group 60"/>
                    <p:cNvGrpSpPr/>
                    <p:nvPr/>
                  </p:nvGrpSpPr>
                  <p:grpSpPr>
                    <a:xfrm>
                      <a:off x="914400" y="2362200"/>
                      <a:ext cx="2895600" cy="152400"/>
                      <a:chOff x="914400" y="1447800"/>
                      <a:chExt cx="2895600" cy="152400"/>
                    </a:xfrm>
                  </p:grpSpPr>
                  <p:grpSp>
                    <p:nvGrpSpPr>
                      <p:cNvPr id="118" name="Group 56"/>
                      <p:cNvGrpSpPr/>
                      <p:nvPr/>
                    </p:nvGrpSpPr>
                    <p:grpSpPr>
                      <a:xfrm>
                        <a:off x="914400" y="1447800"/>
                        <a:ext cx="1066800" cy="152400"/>
                        <a:chOff x="914400" y="1447800"/>
                        <a:chExt cx="1066800" cy="152400"/>
                      </a:xfrm>
                    </p:grpSpPr>
                    <p:sp>
                      <p:nvSpPr>
                        <p:cNvPr id="277" name="Oval 276"/>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8" name="Oval 277"/>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9" name="Group 57"/>
                      <p:cNvGrpSpPr/>
                      <p:nvPr/>
                    </p:nvGrpSpPr>
                    <p:grpSpPr>
                      <a:xfrm>
                        <a:off x="2743200" y="1447800"/>
                        <a:ext cx="1066800" cy="152400"/>
                        <a:chOff x="914400" y="1447800"/>
                        <a:chExt cx="1066800" cy="152400"/>
                      </a:xfrm>
                    </p:grpSpPr>
                    <p:sp>
                      <p:nvSpPr>
                        <p:cNvPr id="275" name="Oval 274"/>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6" name="Oval 275"/>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20" name="Group 61"/>
                    <p:cNvGrpSpPr/>
                    <p:nvPr/>
                  </p:nvGrpSpPr>
                  <p:grpSpPr>
                    <a:xfrm>
                      <a:off x="914400" y="1447800"/>
                      <a:ext cx="2895600" cy="152400"/>
                      <a:chOff x="914400" y="1447800"/>
                      <a:chExt cx="2895600" cy="152400"/>
                    </a:xfrm>
                  </p:grpSpPr>
                  <p:grpSp>
                    <p:nvGrpSpPr>
                      <p:cNvPr id="121" name="Group 56"/>
                      <p:cNvGrpSpPr/>
                      <p:nvPr/>
                    </p:nvGrpSpPr>
                    <p:grpSpPr>
                      <a:xfrm>
                        <a:off x="914400" y="1447800"/>
                        <a:ext cx="1066800" cy="152400"/>
                        <a:chOff x="914400" y="1447800"/>
                        <a:chExt cx="1066800" cy="152400"/>
                      </a:xfrm>
                    </p:grpSpPr>
                    <p:sp>
                      <p:nvSpPr>
                        <p:cNvPr id="271" name="Oval 270"/>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2" name="Oval 271"/>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22" name="Group 57"/>
                      <p:cNvGrpSpPr/>
                      <p:nvPr/>
                    </p:nvGrpSpPr>
                    <p:grpSpPr>
                      <a:xfrm>
                        <a:off x="2743200" y="1447800"/>
                        <a:ext cx="1066800" cy="152400"/>
                        <a:chOff x="914400" y="1447800"/>
                        <a:chExt cx="1066800" cy="152400"/>
                      </a:xfrm>
                    </p:grpSpPr>
                    <p:sp>
                      <p:nvSpPr>
                        <p:cNvPr id="269" name="Oval 268"/>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0" name="Oval 269"/>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nvGrpSpPr>
                  <p:cNvPr id="123" name="Group 249"/>
                  <p:cNvGrpSpPr/>
                  <p:nvPr/>
                </p:nvGrpSpPr>
                <p:grpSpPr>
                  <a:xfrm>
                    <a:off x="914400" y="3276600"/>
                    <a:ext cx="2895600" cy="1066800"/>
                    <a:chOff x="914400" y="1447800"/>
                    <a:chExt cx="2895600" cy="1066800"/>
                  </a:xfrm>
                </p:grpSpPr>
                <p:grpSp>
                  <p:nvGrpSpPr>
                    <p:cNvPr id="124" name="Group 60"/>
                    <p:cNvGrpSpPr/>
                    <p:nvPr/>
                  </p:nvGrpSpPr>
                  <p:grpSpPr>
                    <a:xfrm>
                      <a:off x="914400" y="2362200"/>
                      <a:ext cx="2895600" cy="152400"/>
                      <a:chOff x="914400" y="1447800"/>
                      <a:chExt cx="2895600" cy="152400"/>
                    </a:xfrm>
                  </p:grpSpPr>
                  <p:grpSp>
                    <p:nvGrpSpPr>
                      <p:cNvPr id="125" name="Group 56"/>
                      <p:cNvGrpSpPr/>
                      <p:nvPr/>
                    </p:nvGrpSpPr>
                    <p:grpSpPr>
                      <a:xfrm>
                        <a:off x="914400" y="1447800"/>
                        <a:ext cx="1066800" cy="152400"/>
                        <a:chOff x="914400" y="1447800"/>
                        <a:chExt cx="1066800" cy="152400"/>
                      </a:xfrm>
                    </p:grpSpPr>
                    <p:sp>
                      <p:nvSpPr>
                        <p:cNvPr id="263" name="Oval 26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4" name="Oval 26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26" name="Group 57"/>
                      <p:cNvGrpSpPr/>
                      <p:nvPr/>
                    </p:nvGrpSpPr>
                    <p:grpSpPr>
                      <a:xfrm>
                        <a:off x="2743200" y="1447800"/>
                        <a:ext cx="1066800" cy="152400"/>
                        <a:chOff x="914400" y="1447800"/>
                        <a:chExt cx="1066800" cy="152400"/>
                      </a:xfrm>
                    </p:grpSpPr>
                    <p:sp>
                      <p:nvSpPr>
                        <p:cNvPr id="261" name="Oval 260"/>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2" name="Oval 261"/>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31" name="Group 61"/>
                    <p:cNvGrpSpPr/>
                    <p:nvPr/>
                  </p:nvGrpSpPr>
                  <p:grpSpPr>
                    <a:xfrm>
                      <a:off x="914400" y="1447800"/>
                      <a:ext cx="2895600" cy="152400"/>
                      <a:chOff x="914400" y="1447800"/>
                      <a:chExt cx="2895600" cy="152400"/>
                    </a:xfrm>
                  </p:grpSpPr>
                  <p:grpSp>
                    <p:nvGrpSpPr>
                      <p:cNvPr id="132" name="Group 56"/>
                      <p:cNvGrpSpPr/>
                      <p:nvPr/>
                    </p:nvGrpSpPr>
                    <p:grpSpPr>
                      <a:xfrm>
                        <a:off x="914400" y="1447800"/>
                        <a:ext cx="1066800" cy="152400"/>
                        <a:chOff x="914400" y="1447800"/>
                        <a:chExt cx="1066800" cy="152400"/>
                      </a:xfrm>
                    </p:grpSpPr>
                    <p:sp>
                      <p:nvSpPr>
                        <p:cNvPr id="257" name="Oval 256"/>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8" name="Oval 257"/>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7" name="Group 57"/>
                      <p:cNvGrpSpPr/>
                      <p:nvPr/>
                    </p:nvGrpSpPr>
                    <p:grpSpPr>
                      <a:xfrm>
                        <a:off x="2743200" y="1447800"/>
                        <a:ext cx="1066800" cy="152400"/>
                        <a:chOff x="914400" y="1447800"/>
                        <a:chExt cx="1066800" cy="152400"/>
                      </a:xfrm>
                    </p:grpSpPr>
                    <p:sp>
                      <p:nvSpPr>
                        <p:cNvPr id="255" name="Oval 254"/>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6" name="Oval 255"/>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grpSp>
          <p:grpSp>
            <p:nvGrpSpPr>
              <p:cNvPr id="138" name="Group 117"/>
              <p:cNvGrpSpPr/>
              <p:nvPr/>
            </p:nvGrpSpPr>
            <p:grpSpPr>
              <a:xfrm>
                <a:off x="8229600" y="1447800"/>
                <a:ext cx="6553200" cy="2895600"/>
                <a:chOff x="914400" y="1447800"/>
                <a:chExt cx="6553200" cy="2895600"/>
              </a:xfrm>
            </p:grpSpPr>
            <p:grpSp>
              <p:nvGrpSpPr>
                <p:cNvPr id="139" name="Group 84"/>
                <p:cNvGrpSpPr/>
                <p:nvPr/>
              </p:nvGrpSpPr>
              <p:grpSpPr>
                <a:xfrm>
                  <a:off x="914400" y="1447800"/>
                  <a:ext cx="2895600" cy="2895600"/>
                  <a:chOff x="914400" y="1447800"/>
                  <a:chExt cx="2895600" cy="2895600"/>
                </a:xfrm>
              </p:grpSpPr>
              <p:grpSp>
                <p:nvGrpSpPr>
                  <p:cNvPr id="140" name="Group 68"/>
                  <p:cNvGrpSpPr/>
                  <p:nvPr/>
                </p:nvGrpSpPr>
                <p:grpSpPr>
                  <a:xfrm>
                    <a:off x="914400" y="1447800"/>
                    <a:ext cx="2895600" cy="1066800"/>
                    <a:chOff x="914400" y="1447800"/>
                    <a:chExt cx="2895600" cy="1066800"/>
                  </a:xfrm>
                </p:grpSpPr>
                <p:grpSp>
                  <p:nvGrpSpPr>
                    <p:cNvPr id="145" name="Group 60"/>
                    <p:cNvGrpSpPr/>
                    <p:nvPr/>
                  </p:nvGrpSpPr>
                  <p:grpSpPr>
                    <a:xfrm>
                      <a:off x="914400" y="2362200"/>
                      <a:ext cx="2895600" cy="152400"/>
                      <a:chOff x="914400" y="1447800"/>
                      <a:chExt cx="2895600" cy="152400"/>
                    </a:xfrm>
                  </p:grpSpPr>
                  <p:grpSp>
                    <p:nvGrpSpPr>
                      <p:cNvPr id="146" name="Group 56"/>
                      <p:cNvGrpSpPr/>
                      <p:nvPr/>
                    </p:nvGrpSpPr>
                    <p:grpSpPr>
                      <a:xfrm>
                        <a:off x="914400" y="1447800"/>
                        <a:ext cx="1066800" cy="152400"/>
                        <a:chOff x="914400" y="1447800"/>
                        <a:chExt cx="1066800" cy="152400"/>
                      </a:xfrm>
                    </p:grpSpPr>
                    <p:sp>
                      <p:nvSpPr>
                        <p:cNvPr id="245" name="Oval 5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6" name="Oval 5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51" name="Group 57"/>
                      <p:cNvGrpSpPr/>
                      <p:nvPr/>
                    </p:nvGrpSpPr>
                    <p:grpSpPr>
                      <a:xfrm>
                        <a:off x="2743200" y="1447800"/>
                        <a:ext cx="1066800" cy="152400"/>
                        <a:chOff x="914400" y="1447800"/>
                        <a:chExt cx="1066800" cy="152400"/>
                      </a:xfrm>
                    </p:grpSpPr>
                    <p:sp>
                      <p:nvSpPr>
                        <p:cNvPr id="243" name="Oval 58"/>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4" name="Oval 59"/>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52" name="Group 61"/>
                    <p:cNvGrpSpPr/>
                    <p:nvPr/>
                  </p:nvGrpSpPr>
                  <p:grpSpPr>
                    <a:xfrm>
                      <a:off x="914400" y="1447800"/>
                      <a:ext cx="2895600" cy="152400"/>
                      <a:chOff x="914400" y="1447800"/>
                      <a:chExt cx="2895600" cy="152400"/>
                    </a:xfrm>
                  </p:grpSpPr>
                  <p:grpSp>
                    <p:nvGrpSpPr>
                      <p:cNvPr id="153" name="Group 56"/>
                      <p:cNvGrpSpPr/>
                      <p:nvPr/>
                    </p:nvGrpSpPr>
                    <p:grpSpPr>
                      <a:xfrm>
                        <a:off x="914400" y="1447800"/>
                        <a:ext cx="1066800" cy="152400"/>
                        <a:chOff x="914400" y="1447800"/>
                        <a:chExt cx="1066800" cy="152400"/>
                      </a:xfrm>
                    </p:grpSpPr>
                    <p:sp>
                      <p:nvSpPr>
                        <p:cNvPr id="239" name="Oval 238"/>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0" name="Oval 239"/>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54" name="Group 57"/>
                      <p:cNvGrpSpPr/>
                      <p:nvPr/>
                    </p:nvGrpSpPr>
                    <p:grpSpPr>
                      <a:xfrm>
                        <a:off x="2743200" y="1447800"/>
                        <a:ext cx="1066800" cy="152400"/>
                        <a:chOff x="914400" y="1447800"/>
                        <a:chExt cx="1066800" cy="152400"/>
                      </a:xfrm>
                    </p:grpSpPr>
                    <p:sp>
                      <p:nvSpPr>
                        <p:cNvPr id="237" name="Oval 236"/>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8" name="Oval 237"/>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nvGrpSpPr>
                  <p:cNvPr id="155" name="Group 69"/>
                  <p:cNvGrpSpPr/>
                  <p:nvPr/>
                </p:nvGrpSpPr>
                <p:grpSpPr>
                  <a:xfrm>
                    <a:off x="914400" y="3276600"/>
                    <a:ext cx="2895600" cy="1066800"/>
                    <a:chOff x="914400" y="1447800"/>
                    <a:chExt cx="2895600" cy="1066800"/>
                  </a:xfrm>
                </p:grpSpPr>
                <p:grpSp>
                  <p:nvGrpSpPr>
                    <p:cNvPr id="156" name="Group 60"/>
                    <p:cNvGrpSpPr/>
                    <p:nvPr/>
                  </p:nvGrpSpPr>
                  <p:grpSpPr>
                    <a:xfrm>
                      <a:off x="914400" y="2362200"/>
                      <a:ext cx="2895600" cy="152400"/>
                      <a:chOff x="914400" y="1447800"/>
                      <a:chExt cx="2895600" cy="152400"/>
                    </a:xfrm>
                  </p:grpSpPr>
                  <p:grpSp>
                    <p:nvGrpSpPr>
                      <p:cNvPr id="161" name="Group 56"/>
                      <p:cNvGrpSpPr/>
                      <p:nvPr/>
                    </p:nvGrpSpPr>
                    <p:grpSpPr>
                      <a:xfrm>
                        <a:off x="914400" y="1447800"/>
                        <a:ext cx="1066800" cy="152400"/>
                        <a:chOff x="914400" y="1447800"/>
                        <a:chExt cx="1066800" cy="152400"/>
                      </a:xfrm>
                    </p:grpSpPr>
                    <p:sp>
                      <p:nvSpPr>
                        <p:cNvPr id="231" name="Oval 230"/>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2" name="Oval 231"/>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2" name="Group 57"/>
                      <p:cNvGrpSpPr/>
                      <p:nvPr/>
                    </p:nvGrpSpPr>
                    <p:grpSpPr>
                      <a:xfrm>
                        <a:off x="2743200" y="1447800"/>
                        <a:ext cx="1066800" cy="152400"/>
                        <a:chOff x="914400" y="1447800"/>
                        <a:chExt cx="1066800" cy="152400"/>
                      </a:xfrm>
                    </p:grpSpPr>
                    <p:sp>
                      <p:nvSpPr>
                        <p:cNvPr id="229" name="Oval 228"/>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0" name="Oval 229"/>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67" name="Group 61"/>
                    <p:cNvGrpSpPr/>
                    <p:nvPr/>
                  </p:nvGrpSpPr>
                  <p:grpSpPr>
                    <a:xfrm>
                      <a:off x="914400" y="1447800"/>
                      <a:ext cx="2895600" cy="152400"/>
                      <a:chOff x="914400" y="1447800"/>
                      <a:chExt cx="2895600" cy="152400"/>
                    </a:xfrm>
                  </p:grpSpPr>
                  <p:grpSp>
                    <p:nvGrpSpPr>
                      <p:cNvPr id="168" name="Group 56"/>
                      <p:cNvGrpSpPr/>
                      <p:nvPr/>
                    </p:nvGrpSpPr>
                    <p:grpSpPr>
                      <a:xfrm>
                        <a:off x="914400" y="1447800"/>
                        <a:ext cx="1066800" cy="152400"/>
                        <a:chOff x="914400" y="1447800"/>
                        <a:chExt cx="1066800" cy="152400"/>
                      </a:xfrm>
                    </p:grpSpPr>
                    <p:sp>
                      <p:nvSpPr>
                        <p:cNvPr id="225" name="Oval 224"/>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6" name="Oval 225"/>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9" name="Group 57"/>
                      <p:cNvGrpSpPr/>
                      <p:nvPr/>
                    </p:nvGrpSpPr>
                    <p:grpSpPr>
                      <a:xfrm>
                        <a:off x="2743200" y="1447800"/>
                        <a:ext cx="1066800" cy="152400"/>
                        <a:chOff x="914400" y="1447800"/>
                        <a:chExt cx="1066800" cy="152400"/>
                      </a:xfrm>
                    </p:grpSpPr>
                    <p:sp>
                      <p:nvSpPr>
                        <p:cNvPr id="223" name="Oval 22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4" name="Oval 22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grpSp>
              <p:nvGrpSpPr>
                <p:cNvPr id="170" name="Group 85"/>
                <p:cNvGrpSpPr/>
                <p:nvPr/>
              </p:nvGrpSpPr>
              <p:grpSpPr>
                <a:xfrm>
                  <a:off x="4572000" y="1447800"/>
                  <a:ext cx="2895600" cy="2895600"/>
                  <a:chOff x="914400" y="1447800"/>
                  <a:chExt cx="2895600" cy="2895600"/>
                </a:xfrm>
              </p:grpSpPr>
              <p:grpSp>
                <p:nvGrpSpPr>
                  <p:cNvPr id="175" name="Group 68"/>
                  <p:cNvGrpSpPr/>
                  <p:nvPr/>
                </p:nvGrpSpPr>
                <p:grpSpPr>
                  <a:xfrm>
                    <a:off x="914400" y="1447800"/>
                    <a:ext cx="2895600" cy="1066800"/>
                    <a:chOff x="914400" y="1447800"/>
                    <a:chExt cx="2895600" cy="1066800"/>
                  </a:xfrm>
                </p:grpSpPr>
                <p:grpSp>
                  <p:nvGrpSpPr>
                    <p:cNvPr id="176" name="Group 60"/>
                    <p:cNvGrpSpPr/>
                    <p:nvPr/>
                  </p:nvGrpSpPr>
                  <p:grpSpPr>
                    <a:xfrm>
                      <a:off x="914400" y="2362200"/>
                      <a:ext cx="2895600" cy="152400"/>
                      <a:chOff x="914400" y="1447800"/>
                      <a:chExt cx="2895600" cy="152400"/>
                    </a:xfrm>
                  </p:grpSpPr>
                  <p:grpSp>
                    <p:nvGrpSpPr>
                      <p:cNvPr id="181" name="Group 56"/>
                      <p:cNvGrpSpPr/>
                      <p:nvPr/>
                    </p:nvGrpSpPr>
                    <p:grpSpPr>
                      <a:xfrm>
                        <a:off x="914400" y="1447800"/>
                        <a:ext cx="1066800" cy="152400"/>
                        <a:chOff x="914400" y="1447800"/>
                        <a:chExt cx="1066800" cy="152400"/>
                      </a:xfrm>
                    </p:grpSpPr>
                    <p:sp>
                      <p:nvSpPr>
                        <p:cNvPr id="215" name="Oval 214"/>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6" name="Oval 215"/>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2" name="Group 57"/>
                      <p:cNvGrpSpPr/>
                      <p:nvPr/>
                    </p:nvGrpSpPr>
                    <p:grpSpPr>
                      <a:xfrm>
                        <a:off x="2743200" y="1447800"/>
                        <a:ext cx="1066800" cy="152400"/>
                        <a:chOff x="914400" y="1447800"/>
                        <a:chExt cx="1066800" cy="152400"/>
                      </a:xfrm>
                    </p:grpSpPr>
                    <p:sp>
                      <p:nvSpPr>
                        <p:cNvPr id="213" name="Oval 21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4" name="Oval 21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83" name="Group 61"/>
                    <p:cNvGrpSpPr/>
                    <p:nvPr/>
                  </p:nvGrpSpPr>
                  <p:grpSpPr>
                    <a:xfrm>
                      <a:off x="914400" y="1447800"/>
                      <a:ext cx="2895600" cy="152400"/>
                      <a:chOff x="914400" y="1447800"/>
                      <a:chExt cx="2895600" cy="152400"/>
                    </a:xfrm>
                  </p:grpSpPr>
                  <p:grpSp>
                    <p:nvGrpSpPr>
                      <p:cNvPr id="184" name="Group 56"/>
                      <p:cNvGrpSpPr/>
                      <p:nvPr/>
                    </p:nvGrpSpPr>
                    <p:grpSpPr>
                      <a:xfrm>
                        <a:off x="914400" y="1447800"/>
                        <a:ext cx="1066800" cy="152400"/>
                        <a:chOff x="914400" y="1447800"/>
                        <a:chExt cx="1066800" cy="152400"/>
                      </a:xfrm>
                    </p:grpSpPr>
                    <p:sp>
                      <p:nvSpPr>
                        <p:cNvPr id="209" name="Oval 208"/>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0" name="Oval 209"/>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5" name="Group 57"/>
                      <p:cNvGrpSpPr/>
                      <p:nvPr/>
                    </p:nvGrpSpPr>
                    <p:grpSpPr>
                      <a:xfrm>
                        <a:off x="2743200" y="1447800"/>
                        <a:ext cx="1066800" cy="152400"/>
                        <a:chOff x="914400" y="1447800"/>
                        <a:chExt cx="1066800" cy="152400"/>
                      </a:xfrm>
                    </p:grpSpPr>
                    <p:sp>
                      <p:nvSpPr>
                        <p:cNvPr id="207" name="Oval 206"/>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8" name="Oval 207"/>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nvGrpSpPr>
                  <p:cNvPr id="186" name="Group 69"/>
                  <p:cNvGrpSpPr/>
                  <p:nvPr/>
                </p:nvGrpSpPr>
                <p:grpSpPr>
                  <a:xfrm>
                    <a:off x="914400" y="3276600"/>
                    <a:ext cx="2895600" cy="1066800"/>
                    <a:chOff x="914400" y="1447800"/>
                    <a:chExt cx="2895600" cy="1066800"/>
                  </a:xfrm>
                </p:grpSpPr>
                <p:grpSp>
                  <p:nvGrpSpPr>
                    <p:cNvPr id="187" name="Group 60"/>
                    <p:cNvGrpSpPr/>
                    <p:nvPr/>
                  </p:nvGrpSpPr>
                  <p:grpSpPr>
                    <a:xfrm>
                      <a:off x="914400" y="2362200"/>
                      <a:ext cx="2895600" cy="152400"/>
                      <a:chOff x="914400" y="1447800"/>
                      <a:chExt cx="2895600" cy="152400"/>
                    </a:xfrm>
                  </p:grpSpPr>
                  <p:grpSp>
                    <p:nvGrpSpPr>
                      <p:cNvPr id="188" name="Group 56"/>
                      <p:cNvGrpSpPr/>
                      <p:nvPr/>
                    </p:nvGrpSpPr>
                    <p:grpSpPr>
                      <a:xfrm>
                        <a:off x="914400" y="1447800"/>
                        <a:ext cx="1066800" cy="152400"/>
                        <a:chOff x="914400" y="1447800"/>
                        <a:chExt cx="1066800" cy="152400"/>
                      </a:xfrm>
                    </p:grpSpPr>
                    <p:sp>
                      <p:nvSpPr>
                        <p:cNvPr id="201" name="Oval 200"/>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2" name="Oval 201"/>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9" name="Group 57"/>
                      <p:cNvGrpSpPr/>
                      <p:nvPr/>
                    </p:nvGrpSpPr>
                    <p:grpSpPr>
                      <a:xfrm>
                        <a:off x="2743200" y="1447800"/>
                        <a:ext cx="1066800" cy="152400"/>
                        <a:chOff x="914400" y="1447800"/>
                        <a:chExt cx="1066800" cy="152400"/>
                      </a:xfrm>
                    </p:grpSpPr>
                    <p:sp>
                      <p:nvSpPr>
                        <p:cNvPr id="199" name="Oval 198"/>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0" name="Oval 199"/>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90" name="Group 61"/>
                    <p:cNvGrpSpPr/>
                    <p:nvPr/>
                  </p:nvGrpSpPr>
                  <p:grpSpPr>
                    <a:xfrm>
                      <a:off x="914400" y="1447800"/>
                      <a:ext cx="2895600" cy="152400"/>
                      <a:chOff x="914400" y="1447800"/>
                      <a:chExt cx="2895600" cy="152400"/>
                    </a:xfrm>
                  </p:grpSpPr>
                  <p:grpSp>
                    <p:nvGrpSpPr>
                      <p:cNvPr id="191" name="Group 56"/>
                      <p:cNvGrpSpPr/>
                      <p:nvPr/>
                    </p:nvGrpSpPr>
                    <p:grpSpPr>
                      <a:xfrm>
                        <a:off x="914400" y="1447800"/>
                        <a:ext cx="1066800" cy="152400"/>
                        <a:chOff x="914400" y="1447800"/>
                        <a:chExt cx="1066800" cy="152400"/>
                      </a:xfrm>
                    </p:grpSpPr>
                    <p:sp>
                      <p:nvSpPr>
                        <p:cNvPr id="195" name="Oval 194"/>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6" name="Oval 195"/>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92" name="Group 57"/>
                      <p:cNvGrpSpPr/>
                      <p:nvPr/>
                    </p:nvGrpSpPr>
                    <p:grpSpPr>
                      <a:xfrm>
                        <a:off x="2743200" y="1447800"/>
                        <a:ext cx="1066800" cy="152400"/>
                        <a:chOff x="914400" y="1447800"/>
                        <a:chExt cx="1066800" cy="152400"/>
                      </a:xfrm>
                    </p:grpSpPr>
                    <p:sp>
                      <p:nvSpPr>
                        <p:cNvPr id="193" name="Oval 19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 name="Oval 19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grpSp>
        </p:grpSp>
      </p:grpSp>
      <p:sp>
        <p:nvSpPr>
          <p:cNvPr id="565" name="TextBox 564"/>
          <p:cNvSpPr txBox="1"/>
          <p:nvPr/>
        </p:nvSpPr>
        <p:spPr>
          <a:xfrm>
            <a:off x="609600" y="4343400"/>
            <a:ext cx="3048000" cy="369332"/>
          </a:xfrm>
          <a:prstGeom prst="rect">
            <a:avLst/>
          </a:prstGeom>
          <a:noFill/>
        </p:spPr>
        <p:txBody>
          <a:bodyPr wrap="square" rtlCol="0">
            <a:spAutoFit/>
          </a:bodyPr>
          <a:lstStyle/>
          <a:p>
            <a:r>
              <a:rPr lang="en-US" dirty="0" smtClean="0">
                <a:solidFill>
                  <a:srgbClr val="0824F2"/>
                </a:solidFill>
              </a:rPr>
              <a:t>1   2   3   4  …</a:t>
            </a:r>
            <a:endParaRPr lang="en-US" dirty="0">
              <a:solidFill>
                <a:srgbClr val="0824F2"/>
              </a:solidFill>
            </a:endParaRPr>
          </a:p>
        </p:txBody>
      </p:sp>
      <p:sp>
        <p:nvSpPr>
          <p:cNvPr id="566" name="TextBox 565"/>
          <p:cNvSpPr txBox="1"/>
          <p:nvPr/>
        </p:nvSpPr>
        <p:spPr>
          <a:xfrm>
            <a:off x="8305800" y="4355068"/>
            <a:ext cx="838200" cy="369332"/>
          </a:xfrm>
          <a:prstGeom prst="rect">
            <a:avLst/>
          </a:prstGeom>
          <a:noFill/>
        </p:spPr>
        <p:txBody>
          <a:bodyPr wrap="square" rtlCol="0">
            <a:spAutoFit/>
          </a:bodyPr>
          <a:lstStyle/>
          <a:p>
            <a:r>
              <a:rPr lang="en-US" dirty="0" smtClean="0">
                <a:solidFill>
                  <a:srgbClr val="0824F2"/>
                </a:solidFill>
              </a:rPr>
              <a:t> … 32</a:t>
            </a:r>
            <a:endParaRPr lang="en-US" dirty="0">
              <a:solidFill>
                <a:srgbClr val="0824F2"/>
              </a:solidFill>
            </a:endParaRPr>
          </a:p>
        </p:txBody>
      </p:sp>
      <p:sp>
        <p:nvSpPr>
          <p:cNvPr id="567" name="TextBox 566"/>
          <p:cNvSpPr txBox="1"/>
          <p:nvPr/>
        </p:nvSpPr>
        <p:spPr>
          <a:xfrm>
            <a:off x="304800" y="3886200"/>
            <a:ext cx="381000" cy="369332"/>
          </a:xfrm>
          <a:prstGeom prst="rect">
            <a:avLst/>
          </a:prstGeom>
          <a:noFill/>
        </p:spPr>
        <p:txBody>
          <a:bodyPr wrap="square" rtlCol="0">
            <a:spAutoFit/>
          </a:bodyPr>
          <a:lstStyle/>
          <a:p>
            <a:r>
              <a:rPr lang="en-US" dirty="0" smtClean="0">
                <a:solidFill>
                  <a:srgbClr val="0824F2"/>
                </a:solidFill>
              </a:rPr>
              <a:t>x</a:t>
            </a:r>
            <a:endParaRPr lang="en-US" dirty="0">
              <a:solidFill>
                <a:srgbClr val="0824F2"/>
              </a:solidFill>
            </a:endParaRPr>
          </a:p>
        </p:txBody>
      </p:sp>
      <p:sp>
        <p:nvSpPr>
          <p:cNvPr id="568" name="TextBox 567"/>
          <p:cNvSpPr txBox="1"/>
          <p:nvPr/>
        </p:nvSpPr>
        <p:spPr>
          <a:xfrm>
            <a:off x="152400" y="3516868"/>
            <a:ext cx="609600" cy="369332"/>
          </a:xfrm>
          <a:prstGeom prst="rect">
            <a:avLst/>
          </a:prstGeom>
          <a:noFill/>
        </p:spPr>
        <p:txBody>
          <a:bodyPr wrap="square" rtlCol="0">
            <a:spAutoFit/>
          </a:bodyPr>
          <a:lstStyle/>
          <a:p>
            <a:r>
              <a:rPr lang="en-US" dirty="0" err="1" smtClean="0">
                <a:solidFill>
                  <a:srgbClr val="0824F2"/>
                </a:solidFill>
              </a:rPr>
              <a:t>A·x</a:t>
            </a:r>
            <a:endParaRPr lang="en-US" dirty="0">
              <a:solidFill>
                <a:srgbClr val="0824F2"/>
              </a:solidFill>
            </a:endParaRPr>
          </a:p>
        </p:txBody>
      </p:sp>
      <p:sp>
        <p:nvSpPr>
          <p:cNvPr id="569" name="TextBox 568"/>
          <p:cNvSpPr txBox="1"/>
          <p:nvPr/>
        </p:nvSpPr>
        <p:spPr>
          <a:xfrm>
            <a:off x="152400" y="3124200"/>
            <a:ext cx="609600" cy="369332"/>
          </a:xfrm>
          <a:prstGeom prst="rect">
            <a:avLst/>
          </a:prstGeom>
          <a:noFill/>
        </p:spPr>
        <p:txBody>
          <a:bodyPr wrap="square" rtlCol="0">
            <a:spAutoFit/>
          </a:bodyPr>
          <a:lstStyle/>
          <a:p>
            <a:r>
              <a:rPr lang="en-US" dirty="0" smtClean="0">
                <a:solidFill>
                  <a:srgbClr val="0824F2"/>
                </a:solidFill>
              </a:rPr>
              <a:t>A</a:t>
            </a:r>
            <a:r>
              <a:rPr lang="en-US" sz="2000" b="1" baseline="30000" dirty="0" smtClean="0">
                <a:solidFill>
                  <a:srgbClr val="0824F2"/>
                </a:solidFill>
              </a:rPr>
              <a:t>2</a:t>
            </a:r>
            <a:r>
              <a:rPr lang="en-US" dirty="0" smtClean="0">
                <a:solidFill>
                  <a:srgbClr val="0824F2"/>
                </a:solidFill>
              </a:rPr>
              <a:t>·x</a:t>
            </a:r>
            <a:endParaRPr lang="en-US" dirty="0">
              <a:solidFill>
                <a:srgbClr val="0824F2"/>
              </a:solidFill>
            </a:endParaRPr>
          </a:p>
        </p:txBody>
      </p:sp>
      <p:sp>
        <p:nvSpPr>
          <p:cNvPr id="570" name="TextBox 569"/>
          <p:cNvSpPr txBox="1"/>
          <p:nvPr/>
        </p:nvSpPr>
        <p:spPr>
          <a:xfrm>
            <a:off x="152400" y="2743200"/>
            <a:ext cx="609600" cy="369332"/>
          </a:xfrm>
          <a:prstGeom prst="rect">
            <a:avLst/>
          </a:prstGeom>
          <a:noFill/>
        </p:spPr>
        <p:txBody>
          <a:bodyPr wrap="square" rtlCol="0">
            <a:spAutoFit/>
          </a:bodyPr>
          <a:lstStyle/>
          <a:p>
            <a:r>
              <a:rPr lang="en-US" dirty="0" smtClean="0">
                <a:solidFill>
                  <a:srgbClr val="0824F2"/>
                </a:solidFill>
              </a:rPr>
              <a:t>A</a:t>
            </a:r>
            <a:r>
              <a:rPr lang="en-US" sz="2000" b="1" baseline="30000" dirty="0" smtClean="0">
                <a:solidFill>
                  <a:srgbClr val="0824F2"/>
                </a:solidFill>
              </a:rPr>
              <a:t>3</a:t>
            </a:r>
            <a:r>
              <a:rPr lang="en-US" dirty="0" smtClean="0">
                <a:solidFill>
                  <a:srgbClr val="0824F2"/>
                </a:solidFill>
              </a:rPr>
              <a:t>·x</a:t>
            </a:r>
            <a:endParaRPr lang="en-US" dirty="0">
              <a:solidFill>
                <a:srgbClr val="0824F2"/>
              </a:solidFill>
            </a:endParaRPr>
          </a:p>
        </p:txBody>
      </p:sp>
      <p:sp>
        <p:nvSpPr>
          <p:cNvPr id="522" name="Title 1"/>
          <p:cNvSpPr txBox="1">
            <a:spLocks/>
          </p:cNvSpPr>
          <p:nvPr/>
        </p:nvSpPr>
        <p:spPr>
          <a:xfrm>
            <a:off x="457200" y="274638"/>
            <a:ext cx="8229600" cy="1143000"/>
          </a:xfrm>
          <a:prstGeom prst="rect">
            <a:avLst/>
          </a:prstGeom>
        </p:spPr>
        <p:txBody>
          <a:bodyPr rtlCol="0">
            <a:noAutofit/>
          </a:bodyPr>
          <a:lstStyle/>
          <a:p>
            <a:pPr lvl="0" algn="ctr">
              <a:spcBef>
                <a:spcPct val="0"/>
              </a:spcBef>
              <a:defRPr/>
            </a:pPr>
            <a:r>
              <a:rPr kumimoji="0" lang="en-US" sz="3600" b="0" i="0" u="none" strike="noStrike" kern="1200" cap="none" spc="0" normalizeH="0" baseline="0" noProof="0" dirty="0" smtClean="0">
                <a:ln>
                  <a:noFill/>
                </a:ln>
                <a:solidFill>
                  <a:schemeClr val="tx1"/>
                </a:solidFill>
                <a:effectLst/>
                <a:uLnTx/>
                <a:uFillTx/>
                <a:latin typeface="+mj-lt"/>
                <a:ea typeface="+mj-ea"/>
                <a:cs typeface="+mj-cs"/>
              </a:rPr>
              <a:t>Communication Avoiding Kernels:</a:t>
            </a:r>
            <a:br>
              <a:rPr kumimoji="0" lang="en-US" sz="3600" b="0" i="0" u="none" strike="noStrike" kern="1200" cap="none" spc="0" normalizeH="0" baseline="0" noProof="0" dirty="0" smtClean="0">
                <a:ln>
                  <a:noFill/>
                </a:ln>
                <a:solidFill>
                  <a:schemeClr val="tx1"/>
                </a:solidFill>
                <a:effectLst/>
                <a:uLnTx/>
                <a:uFillTx/>
                <a:latin typeface="+mj-lt"/>
                <a:ea typeface="+mj-ea"/>
                <a:cs typeface="+mj-cs"/>
              </a:rPr>
            </a:br>
            <a:r>
              <a:rPr kumimoji="0" lang="en-US" sz="2800" b="0" i="0" u="none" strike="noStrike" kern="1200" cap="none" spc="0" normalizeH="0" baseline="0" noProof="0" dirty="0" smtClean="0">
                <a:ln>
                  <a:noFill/>
                </a:ln>
                <a:solidFill>
                  <a:schemeClr val="tx1"/>
                </a:solidFill>
                <a:effectLst/>
                <a:uLnTx/>
                <a:uFillTx/>
                <a:latin typeface="+mj-lt"/>
                <a:ea typeface="+mj-ea"/>
                <a:cs typeface="+mj-cs"/>
              </a:rPr>
              <a:t>The Matrix Powers Kernel :</a:t>
            </a:r>
            <a:r>
              <a:rPr lang="en-US" sz="2800" dirty="0" smtClean="0">
                <a:sym typeface="Symbol"/>
              </a:rPr>
              <a:t> [</a:t>
            </a:r>
            <a:r>
              <a:rPr lang="en-US" sz="2800" dirty="0" smtClean="0"/>
              <a:t>Ax, A</a:t>
            </a:r>
            <a:r>
              <a:rPr lang="en-US" sz="2800" baseline="40000" dirty="0" smtClean="0"/>
              <a:t>2</a:t>
            </a:r>
            <a:r>
              <a:rPr lang="en-US" sz="2800" dirty="0" smtClean="0"/>
              <a:t>x, …, </a:t>
            </a:r>
            <a:r>
              <a:rPr lang="en-US" sz="2800" dirty="0" err="1" smtClean="0"/>
              <a:t>A</a:t>
            </a:r>
            <a:r>
              <a:rPr lang="en-US" sz="2800" baseline="40000" dirty="0" err="1" smtClean="0"/>
              <a:t>k</a:t>
            </a:r>
            <a:r>
              <a:rPr lang="en-US" sz="2800" dirty="0" err="1" smtClean="0"/>
              <a:t>x</a:t>
            </a:r>
            <a:r>
              <a:rPr lang="en-US" sz="2800" dirty="0" smtClean="0"/>
              <a:t>] </a:t>
            </a:r>
            <a:endParaRPr kumimoji="0" lang="en-US" sz="2800" b="0" i="0" u="none" strike="noStrike" kern="1200" cap="none" spc="0" normalizeH="0" baseline="0" noProof="0" dirty="0">
              <a:ln>
                <a:noFill/>
              </a:ln>
              <a:solidFill>
                <a:schemeClr val="tx1"/>
              </a:solidFill>
              <a:effectLst/>
              <a:uLnTx/>
              <a:uFillTx/>
              <a:latin typeface="+mj-lt"/>
              <a:ea typeface="+mj-ea"/>
              <a:cs typeface="+mj-cs"/>
            </a:endParaRPr>
          </a:p>
        </p:txBody>
      </p:sp>
      <p:sp>
        <p:nvSpPr>
          <p:cNvPr id="523" name="Content Placeholder 2"/>
          <p:cNvSpPr txBox="1">
            <a:spLocks/>
          </p:cNvSpPr>
          <p:nvPr/>
        </p:nvSpPr>
        <p:spPr>
          <a:xfrm>
            <a:off x="228600" y="1447800"/>
            <a:ext cx="8915400" cy="4525963"/>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Replace k iterations of y = </a:t>
            </a:r>
            <a:r>
              <a:rPr kumimoji="0" lang="en-US" sz="3200" b="0" i="0" u="none" strike="noStrike" kern="1200" cap="none" spc="0" normalizeH="0" baseline="0" noProof="0" dirty="0" err="1" smtClean="0">
                <a:ln>
                  <a:noFill/>
                </a:ln>
                <a:solidFill>
                  <a:schemeClr val="tx1"/>
                </a:solidFill>
                <a:effectLst/>
                <a:uLnTx/>
                <a:uFillTx/>
                <a:latin typeface="+mn-lt"/>
                <a:ea typeface="+mn-ea"/>
                <a:cs typeface="+mn-cs"/>
              </a:rPr>
              <a:t>A</a:t>
            </a:r>
            <a:r>
              <a:rPr kumimoji="0" lang="en-US" sz="3200" b="0" i="0" u="none" strike="noStrike" kern="1200" cap="none" spc="0" normalizeH="0" baseline="0" noProof="0" dirty="0" err="1" smtClean="0">
                <a:ln>
                  <a:noFill/>
                </a:ln>
                <a:solidFill>
                  <a:schemeClr val="tx1"/>
                </a:solidFill>
                <a:effectLst/>
                <a:uLnTx/>
                <a:uFillTx/>
                <a:latin typeface="+mn-lt"/>
                <a:ea typeface="+mn-ea"/>
                <a:cs typeface="+mn-cs"/>
                <a:sym typeface="Symbol"/>
              </a:rPr>
              <a:t>x</a:t>
            </a:r>
            <a:r>
              <a:rPr kumimoji="0" lang="en-US" sz="3200" b="0" i="0" u="none" strike="noStrike" kern="1200" cap="none" spc="0" normalizeH="0" baseline="0" noProof="0" dirty="0" smtClean="0">
                <a:ln>
                  <a:noFill/>
                </a:ln>
                <a:solidFill>
                  <a:schemeClr val="tx1"/>
                </a:solidFill>
                <a:effectLst/>
                <a:uLnTx/>
                <a:uFillTx/>
                <a:latin typeface="+mn-lt"/>
                <a:ea typeface="+mn-ea"/>
                <a:cs typeface="+mn-cs"/>
                <a:sym typeface="Symbol"/>
              </a:rPr>
              <a:t> with [</a:t>
            </a:r>
            <a:r>
              <a:rPr kumimoji="0" lang="en-US" sz="3200" b="0" i="0" u="none" strike="noStrike" kern="1200" cap="none" spc="0" normalizeH="0" baseline="0" noProof="0" dirty="0" smtClean="0">
                <a:ln>
                  <a:noFill/>
                </a:ln>
                <a:solidFill>
                  <a:schemeClr val="tx1"/>
                </a:solidFill>
                <a:effectLst/>
                <a:uLnTx/>
                <a:uFillTx/>
                <a:latin typeface="+mn-lt"/>
                <a:ea typeface="+mn-ea"/>
                <a:cs typeface="+mn-cs"/>
              </a:rPr>
              <a:t>Ax, A</a:t>
            </a:r>
            <a:r>
              <a:rPr kumimoji="0" lang="en-US" sz="3200" b="0" i="0" u="none" strike="noStrike" kern="1200" cap="none" spc="0" normalizeH="0" baseline="40000" noProof="0" dirty="0" smtClean="0">
                <a:ln>
                  <a:noFill/>
                </a:ln>
                <a:solidFill>
                  <a:schemeClr val="tx1"/>
                </a:solidFill>
                <a:effectLst/>
                <a:uLnTx/>
                <a:uFillTx/>
                <a:latin typeface="+mn-lt"/>
                <a:ea typeface="+mn-ea"/>
                <a:cs typeface="+mn-cs"/>
              </a:rPr>
              <a:t>2</a:t>
            </a:r>
            <a:r>
              <a:rPr kumimoji="0" lang="en-US" sz="3200" b="0" i="0" u="none" strike="noStrike" kern="1200" cap="none" spc="0" normalizeH="0" baseline="0" noProof="0" dirty="0" smtClean="0">
                <a:ln>
                  <a:noFill/>
                </a:ln>
                <a:solidFill>
                  <a:schemeClr val="tx1"/>
                </a:solidFill>
                <a:effectLst/>
                <a:uLnTx/>
                <a:uFillTx/>
                <a:latin typeface="+mn-lt"/>
                <a:ea typeface="+mn-ea"/>
                <a:cs typeface="+mn-cs"/>
              </a:rPr>
              <a:t>x, …, </a:t>
            </a:r>
            <a:r>
              <a:rPr kumimoji="0" lang="en-US" sz="3200" b="0" i="0" u="none" strike="noStrike" kern="1200" cap="none" spc="0" normalizeH="0" baseline="0" noProof="0" dirty="0" err="1" smtClean="0">
                <a:ln>
                  <a:noFill/>
                </a:ln>
                <a:solidFill>
                  <a:schemeClr val="tx1"/>
                </a:solidFill>
                <a:effectLst/>
                <a:uLnTx/>
                <a:uFillTx/>
                <a:latin typeface="+mn-lt"/>
                <a:ea typeface="+mn-ea"/>
                <a:cs typeface="+mn-cs"/>
              </a:rPr>
              <a:t>A</a:t>
            </a:r>
            <a:r>
              <a:rPr kumimoji="0" lang="en-US" sz="3200" b="0" i="0" u="none" strike="noStrike" kern="1200" cap="none" spc="0" normalizeH="0" baseline="40000" noProof="0" dirty="0" err="1" smtClean="0">
                <a:ln>
                  <a:noFill/>
                </a:ln>
                <a:solidFill>
                  <a:schemeClr val="tx1"/>
                </a:solidFill>
                <a:effectLst/>
                <a:uLnTx/>
                <a:uFillTx/>
                <a:latin typeface="+mn-lt"/>
                <a:ea typeface="+mn-ea"/>
                <a:cs typeface="+mn-cs"/>
              </a:rPr>
              <a:t>k</a:t>
            </a:r>
            <a:r>
              <a:rPr kumimoji="0" lang="en-US" sz="3200" b="0" i="0" u="none" strike="noStrike" kern="1200" cap="none" spc="0" normalizeH="0" baseline="0" noProof="0" dirty="0" err="1" smtClean="0">
                <a:ln>
                  <a:noFill/>
                </a:ln>
                <a:solidFill>
                  <a:schemeClr val="tx1"/>
                </a:solidFill>
                <a:effectLst/>
                <a:uLnTx/>
                <a:uFillTx/>
                <a:latin typeface="+mn-lt"/>
                <a:ea typeface="+mn-ea"/>
                <a:cs typeface="+mn-cs"/>
              </a:rPr>
              <a:t>x</a:t>
            </a:r>
            <a:r>
              <a:rPr kumimoji="0" lang="en-US" sz="3200" b="0" i="0" u="none" strike="noStrike" kern="1200" cap="none" spc="0" normalizeH="0" baseline="0" noProof="0" dirty="0" smtClean="0">
                <a:ln>
                  <a:noFill/>
                </a:ln>
                <a:solidFill>
                  <a:schemeClr val="tx1"/>
                </a:solidFill>
                <a:effectLst/>
                <a:uLnTx/>
                <a:uFillTx/>
                <a:latin typeface="+mn-lt"/>
                <a:ea typeface="+mn-ea"/>
                <a:cs typeface="+mn-cs"/>
              </a:rPr>
              <a:t>] </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en-US" sz="3200" dirty="0" smtClean="0"/>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en-US" sz="3200" dirty="0" smtClean="0"/>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Example: A </a:t>
            </a:r>
            <a:r>
              <a:rPr kumimoji="0" lang="en-US" sz="3200" b="0" i="0" u="none" strike="noStrike" kern="1200" cap="none" spc="0" normalizeH="0" baseline="0" noProof="0" dirty="0" err="1" smtClean="0">
                <a:ln>
                  <a:noFill/>
                </a:ln>
                <a:solidFill>
                  <a:schemeClr val="tx1"/>
                </a:solidFill>
                <a:effectLst/>
                <a:uLnTx/>
                <a:uFillTx/>
                <a:latin typeface="+mn-lt"/>
                <a:ea typeface="+mn-ea"/>
                <a:cs typeface="+mn-cs"/>
              </a:rPr>
              <a:t>tridiagonal</a:t>
            </a:r>
            <a:r>
              <a:rPr kumimoji="0" lang="en-US" sz="3200" b="0" i="0" u="none" strike="noStrike" kern="1200" cap="none" spc="0" normalizeH="0" baseline="0" noProof="0" dirty="0" smtClean="0">
                <a:ln>
                  <a:noFill/>
                </a:ln>
                <a:solidFill>
                  <a:schemeClr val="tx1"/>
                </a:solidFill>
                <a:effectLst/>
                <a:uLnTx/>
                <a:uFillTx/>
                <a:latin typeface="+mn-lt"/>
                <a:ea typeface="+mn-ea"/>
                <a:cs typeface="+mn-cs"/>
              </a:rPr>
              <a:t>, n=32, k=3</a:t>
            </a:r>
          </a:p>
          <a:p>
            <a:pPr marL="342900" indent="-342900">
              <a:spcBef>
                <a:spcPct val="20000"/>
              </a:spcBef>
              <a:buFont typeface="Arial" pitchFamily="34" charset="0"/>
              <a:buChar cha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Works for any “well-partitioned” A</a:t>
            </a:r>
          </a:p>
        </p:txBody>
      </p:sp>
      <p:cxnSp>
        <p:nvCxnSpPr>
          <p:cNvPr id="524" name="Straight Connector 523"/>
          <p:cNvCxnSpPr/>
          <p:nvPr/>
        </p:nvCxnSpPr>
        <p:spPr>
          <a:xfrm>
            <a:off x="228600" y="1371600"/>
            <a:ext cx="8305800" cy="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xmlns:p14="http://schemas.microsoft.com/office/powerpoint/2010/mai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5" name="TextBox 564"/>
          <p:cNvSpPr txBox="1"/>
          <p:nvPr/>
        </p:nvSpPr>
        <p:spPr>
          <a:xfrm>
            <a:off x="609600" y="4343400"/>
            <a:ext cx="3048000" cy="369332"/>
          </a:xfrm>
          <a:prstGeom prst="rect">
            <a:avLst/>
          </a:prstGeom>
          <a:noFill/>
        </p:spPr>
        <p:txBody>
          <a:bodyPr wrap="square" rtlCol="0">
            <a:spAutoFit/>
          </a:bodyPr>
          <a:lstStyle/>
          <a:p>
            <a:r>
              <a:rPr lang="en-US" dirty="0" smtClean="0">
                <a:solidFill>
                  <a:srgbClr val="0824F2"/>
                </a:solidFill>
              </a:rPr>
              <a:t>1   2   3   4  …</a:t>
            </a:r>
            <a:endParaRPr lang="en-US" dirty="0">
              <a:solidFill>
                <a:srgbClr val="0824F2"/>
              </a:solidFill>
            </a:endParaRPr>
          </a:p>
        </p:txBody>
      </p:sp>
      <p:sp>
        <p:nvSpPr>
          <p:cNvPr id="566" name="TextBox 565"/>
          <p:cNvSpPr txBox="1"/>
          <p:nvPr/>
        </p:nvSpPr>
        <p:spPr>
          <a:xfrm>
            <a:off x="8305800" y="4355068"/>
            <a:ext cx="838200" cy="369332"/>
          </a:xfrm>
          <a:prstGeom prst="rect">
            <a:avLst/>
          </a:prstGeom>
          <a:noFill/>
        </p:spPr>
        <p:txBody>
          <a:bodyPr wrap="square" rtlCol="0">
            <a:spAutoFit/>
          </a:bodyPr>
          <a:lstStyle/>
          <a:p>
            <a:r>
              <a:rPr lang="en-US" dirty="0" smtClean="0">
                <a:solidFill>
                  <a:srgbClr val="0824F2"/>
                </a:solidFill>
              </a:rPr>
              <a:t> … 32</a:t>
            </a:r>
            <a:endParaRPr lang="en-US" dirty="0">
              <a:solidFill>
                <a:srgbClr val="0824F2"/>
              </a:solidFill>
            </a:endParaRPr>
          </a:p>
        </p:txBody>
      </p:sp>
      <p:sp>
        <p:nvSpPr>
          <p:cNvPr id="567" name="TextBox 566"/>
          <p:cNvSpPr txBox="1"/>
          <p:nvPr/>
        </p:nvSpPr>
        <p:spPr>
          <a:xfrm>
            <a:off x="304800" y="3886200"/>
            <a:ext cx="381000" cy="369332"/>
          </a:xfrm>
          <a:prstGeom prst="rect">
            <a:avLst/>
          </a:prstGeom>
          <a:noFill/>
        </p:spPr>
        <p:txBody>
          <a:bodyPr wrap="square" rtlCol="0">
            <a:spAutoFit/>
          </a:bodyPr>
          <a:lstStyle/>
          <a:p>
            <a:r>
              <a:rPr lang="en-US" dirty="0" smtClean="0">
                <a:solidFill>
                  <a:srgbClr val="0824F2"/>
                </a:solidFill>
              </a:rPr>
              <a:t>x</a:t>
            </a:r>
            <a:endParaRPr lang="en-US" dirty="0">
              <a:solidFill>
                <a:srgbClr val="0824F2"/>
              </a:solidFill>
            </a:endParaRPr>
          </a:p>
        </p:txBody>
      </p:sp>
      <p:sp>
        <p:nvSpPr>
          <p:cNvPr id="568" name="TextBox 567"/>
          <p:cNvSpPr txBox="1"/>
          <p:nvPr/>
        </p:nvSpPr>
        <p:spPr>
          <a:xfrm>
            <a:off x="152400" y="3516868"/>
            <a:ext cx="609600" cy="369332"/>
          </a:xfrm>
          <a:prstGeom prst="rect">
            <a:avLst/>
          </a:prstGeom>
          <a:noFill/>
        </p:spPr>
        <p:txBody>
          <a:bodyPr wrap="square" rtlCol="0">
            <a:spAutoFit/>
          </a:bodyPr>
          <a:lstStyle/>
          <a:p>
            <a:r>
              <a:rPr lang="en-US" dirty="0" err="1" smtClean="0">
                <a:solidFill>
                  <a:srgbClr val="0824F2"/>
                </a:solidFill>
              </a:rPr>
              <a:t>A·x</a:t>
            </a:r>
            <a:endParaRPr lang="en-US" dirty="0">
              <a:solidFill>
                <a:srgbClr val="0824F2"/>
              </a:solidFill>
            </a:endParaRPr>
          </a:p>
        </p:txBody>
      </p:sp>
      <p:sp>
        <p:nvSpPr>
          <p:cNvPr id="569" name="TextBox 568"/>
          <p:cNvSpPr txBox="1"/>
          <p:nvPr/>
        </p:nvSpPr>
        <p:spPr>
          <a:xfrm>
            <a:off x="152400" y="3124200"/>
            <a:ext cx="609600" cy="369332"/>
          </a:xfrm>
          <a:prstGeom prst="rect">
            <a:avLst/>
          </a:prstGeom>
          <a:noFill/>
        </p:spPr>
        <p:txBody>
          <a:bodyPr wrap="square" rtlCol="0">
            <a:spAutoFit/>
          </a:bodyPr>
          <a:lstStyle/>
          <a:p>
            <a:r>
              <a:rPr lang="en-US" dirty="0" smtClean="0">
                <a:solidFill>
                  <a:srgbClr val="0824F2"/>
                </a:solidFill>
              </a:rPr>
              <a:t>A</a:t>
            </a:r>
            <a:r>
              <a:rPr lang="en-US" sz="2000" b="1" baseline="30000" dirty="0" smtClean="0">
                <a:solidFill>
                  <a:srgbClr val="0824F2"/>
                </a:solidFill>
              </a:rPr>
              <a:t>2</a:t>
            </a:r>
            <a:r>
              <a:rPr lang="en-US" dirty="0" smtClean="0">
                <a:solidFill>
                  <a:srgbClr val="0824F2"/>
                </a:solidFill>
              </a:rPr>
              <a:t>·x</a:t>
            </a:r>
            <a:endParaRPr lang="en-US" dirty="0">
              <a:solidFill>
                <a:srgbClr val="0824F2"/>
              </a:solidFill>
            </a:endParaRPr>
          </a:p>
        </p:txBody>
      </p:sp>
      <p:sp>
        <p:nvSpPr>
          <p:cNvPr id="570" name="TextBox 569"/>
          <p:cNvSpPr txBox="1"/>
          <p:nvPr/>
        </p:nvSpPr>
        <p:spPr>
          <a:xfrm>
            <a:off x="152400" y="2743200"/>
            <a:ext cx="609600" cy="369332"/>
          </a:xfrm>
          <a:prstGeom prst="rect">
            <a:avLst/>
          </a:prstGeom>
          <a:noFill/>
        </p:spPr>
        <p:txBody>
          <a:bodyPr wrap="square" rtlCol="0">
            <a:spAutoFit/>
          </a:bodyPr>
          <a:lstStyle/>
          <a:p>
            <a:r>
              <a:rPr lang="en-US" dirty="0" smtClean="0">
                <a:solidFill>
                  <a:srgbClr val="0824F2"/>
                </a:solidFill>
              </a:rPr>
              <a:t>A</a:t>
            </a:r>
            <a:r>
              <a:rPr lang="en-US" sz="2000" b="1" baseline="30000" dirty="0" smtClean="0">
                <a:solidFill>
                  <a:srgbClr val="0824F2"/>
                </a:solidFill>
              </a:rPr>
              <a:t>3</a:t>
            </a:r>
            <a:r>
              <a:rPr lang="en-US" dirty="0" smtClean="0">
                <a:solidFill>
                  <a:srgbClr val="0824F2"/>
                </a:solidFill>
              </a:rPr>
              <a:t>·x</a:t>
            </a:r>
            <a:endParaRPr lang="en-US" dirty="0">
              <a:solidFill>
                <a:srgbClr val="0824F2"/>
              </a:solidFill>
            </a:endParaRPr>
          </a:p>
        </p:txBody>
      </p:sp>
      <p:sp>
        <p:nvSpPr>
          <p:cNvPr id="522" name="Title 1"/>
          <p:cNvSpPr txBox="1">
            <a:spLocks/>
          </p:cNvSpPr>
          <p:nvPr/>
        </p:nvSpPr>
        <p:spPr>
          <a:xfrm>
            <a:off x="457200" y="274638"/>
            <a:ext cx="8229600" cy="1143000"/>
          </a:xfrm>
          <a:prstGeom prst="rect">
            <a:avLst/>
          </a:prstGeom>
        </p:spPr>
        <p:txBody>
          <a:bodyPr rtlCol="0">
            <a:noAutofit/>
          </a:bodyPr>
          <a:lstStyle/>
          <a:p>
            <a:pPr lvl="0" algn="ctr">
              <a:spcBef>
                <a:spcPct val="0"/>
              </a:spcBef>
              <a:defRPr/>
            </a:pPr>
            <a:r>
              <a:rPr kumimoji="0" lang="en-US" sz="3600" b="0" i="0" u="none" strike="noStrike" kern="1200" cap="none" spc="0" normalizeH="0" baseline="0" noProof="0" dirty="0" smtClean="0">
                <a:ln>
                  <a:noFill/>
                </a:ln>
                <a:solidFill>
                  <a:schemeClr val="tx1"/>
                </a:solidFill>
                <a:effectLst/>
                <a:uLnTx/>
                <a:uFillTx/>
                <a:latin typeface="+mj-lt"/>
                <a:ea typeface="+mj-ea"/>
                <a:cs typeface="+mj-cs"/>
              </a:rPr>
              <a:t>Communication Avoiding Kernels:</a:t>
            </a:r>
            <a:br>
              <a:rPr kumimoji="0" lang="en-US" sz="3600" b="0" i="0" u="none" strike="noStrike" kern="1200" cap="none" spc="0" normalizeH="0" baseline="0" noProof="0" dirty="0" smtClean="0">
                <a:ln>
                  <a:noFill/>
                </a:ln>
                <a:solidFill>
                  <a:schemeClr val="tx1"/>
                </a:solidFill>
                <a:effectLst/>
                <a:uLnTx/>
                <a:uFillTx/>
                <a:latin typeface="+mj-lt"/>
                <a:ea typeface="+mj-ea"/>
                <a:cs typeface="+mj-cs"/>
              </a:rPr>
            </a:br>
            <a:r>
              <a:rPr kumimoji="0" lang="en-US" sz="2800" b="0" i="0" u="none" strike="noStrike" kern="1200" cap="none" spc="0" normalizeH="0" baseline="0" noProof="0" dirty="0" smtClean="0">
                <a:ln>
                  <a:noFill/>
                </a:ln>
                <a:solidFill>
                  <a:schemeClr val="tx1"/>
                </a:solidFill>
                <a:effectLst/>
                <a:uLnTx/>
                <a:uFillTx/>
                <a:latin typeface="+mj-lt"/>
                <a:ea typeface="+mj-ea"/>
                <a:cs typeface="+mj-cs"/>
              </a:rPr>
              <a:t>The Matrix Powers Kernel</a:t>
            </a:r>
            <a:r>
              <a:rPr lang="en-US" sz="2800" dirty="0" smtClean="0"/>
              <a:t> :</a:t>
            </a:r>
            <a:r>
              <a:rPr lang="en-US" sz="2800" dirty="0" smtClean="0">
                <a:sym typeface="Symbol"/>
              </a:rPr>
              <a:t> [</a:t>
            </a:r>
            <a:r>
              <a:rPr lang="en-US" sz="2800" dirty="0" smtClean="0"/>
              <a:t>Ax, A</a:t>
            </a:r>
            <a:r>
              <a:rPr lang="en-US" sz="2800" baseline="40000" dirty="0" smtClean="0"/>
              <a:t>2</a:t>
            </a:r>
            <a:r>
              <a:rPr lang="en-US" sz="2800" dirty="0" smtClean="0"/>
              <a:t>x, …, </a:t>
            </a:r>
            <a:r>
              <a:rPr lang="en-US" sz="2800" dirty="0" err="1" smtClean="0"/>
              <a:t>A</a:t>
            </a:r>
            <a:r>
              <a:rPr lang="en-US" sz="2800" baseline="40000" dirty="0" err="1" smtClean="0"/>
              <a:t>k</a:t>
            </a:r>
            <a:r>
              <a:rPr lang="en-US" sz="2800" dirty="0" err="1" smtClean="0"/>
              <a:t>x</a:t>
            </a:r>
            <a:r>
              <a:rPr lang="en-US" sz="2800" dirty="0" smtClean="0"/>
              <a:t>] </a:t>
            </a:r>
            <a:endParaRPr kumimoji="0" lang="en-US" sz="2800" b="0" i="0" u="none" strike="noStrike" kern="1200" cap="none" spc="0" normalizeH="0" baseline="0" noProof="0" dirty="0">
              <a:ln>
                <a:noFill/>
              </a:ln>
              <a:solidFill>
                <a:schemeClr val="tx1"/>
              </a:solidFill>
              <a:effectLst/>
              <a:uLnTx/>
              <a:uFillTx/>
              <a:latin typeface="+mj-lt"/>
              <a:ea typeface="+mj-ea"/>
              <a:cs typeface="+mj-cs"/>
            </a:endParaRPr>
          </a:p>
        </p:txBody>
      </p:sp>
      <p:sp>
        <p:nvSpPr>
          <p:cNvPr id="523" name="Content Placeholder 2"/>
          <p:cNvSpPr txBox="1">
            <a:spLocks/>
          </p:cNvSpPr>
          <p:nvPr/>
        </p:nvSpPr>
        <p:spPr>
          <a:xfrm>
            <a:off x="228600" y="1447800"/>
            <a:ext cx="8915400" cy="4525963"/>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Replace k iterations of y = </a:t>
            </a:r>
            <a:r>
              <a:rPr kumimoji="0" lang="en-US" sz="3200" b="0" i="0" u="none" strike="noStrike" kern="1200" cap="none" spc="0" normalizeH="0" baseline="0" noProof="0" dirty="0" err="1" smtClean="0">
                <a:ln>
                  <a:noFill/>
                </a:ln>
                <a:solidFill>
                  <a:schemeClr val="tx1"/>
                </a:solidFill>
                <a:effectLst/>
                <a:uLnTx/>
                <a:uFillTx/>
                <a:latin typeface="+mn-lt"/>
                <a:ea typeface="+mn-ea"/>
                <a:cs typeface="+mn-cs"/>
              </a:rPr>
              <a:t>A</a:t>
            </a:r>
            <a:r>
              <a:rPr kumimoji="0" lang="en-US" sz="3200" b="0" i="0" u="none" strike="noStrike" kern="1200" cap="none" spc="0" normalizeH="0" baseline="0" noProof="0" dirty="0" err="1" smtClean="0">
                <a:ln>
                  <a:noFill/>
                </a:ln>
                <a:solidFill>
                  <a:schemeClr val="tx1"/>
                </a:solidFill>
                <a:effectLst/>
                <a:uLnTx/>
                <a:uFillTx/>
                <a:latin typeface="+mn-lt"/>
                <a:ea typeface="+mn-ea"/>
                <a:cs typeface="+mn-cs"/>
                <a:sym typeface="Symbol"/>
              </a:rPr>
              <a:t>x</a:t>
            </a:r>
            <a:r>
              <a:rPr kumimoji="0" lang="en-US" sz="3200" b="0" i="0" u="none" strike="noStrike" kern="1200" cap="none" spc="0" normalizeH="0" baseline="0" noProof="0" dirty="0" smtClean="0">
                <a:ln>
                  <a:noFill/>
                </a:ln>
                <a:solidFill>
                  <a:schemeClr val="tx1"/>
                </a:solidFill>
                <a:effectLst/>
                <a:uLnTx/>
                <a:uFillTx/>
                <a:latin typeface="+mn-lt"/>
                <a:ea typeface="+mn-ea"/>
                <a:cs typeface="+mn-cs"/>
                <a:sym typeface="Symbol"/>
              </a:rPr>
              <a:t> with [</a:t>
            </a:r>
            <a:r>
              <a:rPr kumimoji="0" lang="en-US" sz="3200" b="0" i="0" u="none" strike="noStrike" kern="1200" cap="none" spc="0" normalizeH="0" baseline="0" noProof="0" dirty="0" smtClean="0">
                <a:ln>
                  <a:noFill/>
                </a:ln>
                <a:solidFill>
                  <a:schemeClr val="tx1"/>
                </a:solidFill>
                <a:effectLst/>
                <a:uLnTx/>
                <a:uFillTx/>
                <a:latin typeface="+mn-lt"/>
                <a:ea typeface="+mn-ea"/>
                <a:cs typeface="+mn-cs"/>
              </a:rPr>
              <a:t>Ax, A</a:t>
            </a:r>
            <a:r>
              <a:rPr kumimoji="0" lang="en-US" sz="3200" b="0" i="0" u="none" strike="noStrike" kern="1200" cap="none" spc="0" normalizeH="0" baseline="40000" noProof="0" dirty="0" smtClean="0">
                <a:ln>
                  <a:noFill/>
                </a:ln>
                <a:solidFill>
                  <a:schemeClr val="tx1"/>
                </a:solidFill>
                <a:effectLst/>
                <a:uLnTx/>
                <a:uFillTx/>
                <a:latin typeface="+mn-lt"/>
                <a:ea typeface="+mn-ea"/>
                <a:cs typeface="+mn-cs"/>
              </a:rPr>
              <a:t>2</a:t>
            </a:r>
            <a:r>
              <a:rPr kumimoji="0" lang="en-US" sz="3200" b="0" i="0" u="none" strike="noStrike" kern="1200" cap="none" spc="0" normalizeH="0" baseline="0" noProof="0" dirty="0" smtClean="0">
                <a:ln>
                  <a:noFill/>
                </a:ln>
                <a:solidFill>
                  <a:schemeClr val="tx1"/>
                </a:solidFill>
                <a:effectLst/>
                <a:uLnTx/>
                <a:uFillTx/>
                <a:latin typeface="+mn-lt"/>
                <a:ea typeface="+mn-ea"/>
                <a:cs typeface="+mn-cs"/>
              </a:rPr>
              <a:t>x, …, </a:t>
            </a:r>
            <a:r>
              <a:rPr kumimoji="0" lang="en-US" sz="3200" b="0" i="0" u="none" strike="noStrike" kern="1200" cap="none" spc="0" normalizeH="0" baseline="0" noProof="0" dirty="0" err="1" smtClean="0">
                <a:ln>
                  <a:noFill/>
                </a:ln>
                <a:solidFill>
                  <a:schemeClr val="tx1"/>
                </a:solidFill>
                <a:effectLst/>
                <a:uLnTx/>
                <a:uFillTx/>
                <a:latin typeface="+mn-lt"/>
                <a:ea typeface="+mn-ea"/>
                <a:cs typeface="+mn-cs"/>
              </a:rPr>
              <a:t>A</a:t>
            </a:r>
            <a:r>
              <a:rPr kumimoji="0" lang="en-US" sz="3200" b="0" i="0" u="none" strike="noStrike" kern="1200" cap="none" spc="0" normalizeH="0" baseline="40000" noProof="0" dirty="0" err="1" smtClean="0">
                <a:ln>
                  <a:noFill/>
                </a:ln>
                <a:solidFill>
                  <a:schemeClr val="tx1"/>
                </a:solidFill>
                <a:effectLst/>
                <a:uLnTx/>
                <a:uFillTx/>
                <a:latin typeface="+mn-lt"/>
                <a:ea typeface="+mn-ea"/>
                <a:cs typeface="+mn-cs"/>
              </a:rPr>
              <a:t>k</a:t>
            </a:r>
            <a:r>
              <a:rPr kumimoji="0" lang="en-US" sz="3200" b="0" i="0" u="none" strike="noStrike" kern="1200" cap="none" spc="0" normalizeH="0" baseline="0" noProof="0" dirty="0" err="1" smtClean="0">
                <a:ln>
                  <a:noFill/>
                </a:ln>
                <a:solidFill>
                  <a:schemeClr val="tx1"/>
                </a:solidFill>
                <a:effectLst/>
                <a:uLnTx/>
                <a:uFillTx/>
                <a:latin typeface="+mn-lt"/>
                <a:ea typeface="+mn-ea"/>
                <a:cs typeface="+mn-cs"/>
              </a:rPr>
              <a:t>x</a:t>
            </a:r>
            <a:r>
              <a:rPr kumimoji="0" lang="en-US" sz="3200" b="0" i="0" u="none" strike="noStrike" kern="1200" cap="none" spc="0" normalizeH="0" baseline="0" noProof="0" dirty="0" smtClean="0">
                <a:ln>
                  <a:noFill/>
                </a:ln>
                <a:solidFill>
                  <a:schemeClr val="tx1"/>
                </a:solidFill>
                <a:effectLst/>
                <a:uLnTx/>
                <a:uFillTx/>
                <a:latin typeface="+mn-lt"/>
                <a:ea typeface="+mn-ea"/>
                <a:cs typeface="+mn-cs"/>
              </a:rPr>
              <a:t>] </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en-US" sz="3200" dirty="0" smtClean="0"/>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en-US" sz="3200" dirty="0" smtClean="0"/>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Example: A </a:t>
            </a:r>
            <a:r>
              <a:rPr kumimoji="0" lang="en-US" sz="3200" b="0" i="0" u="none" strike="noStrike" kern="1200" cap="none" spc="0" normalizeH="0" baseline="0" noProof="0" dirty="0" err="1" smtClean="0">
                <a:ln>
                  <a:noFill/>
                </a:ln>
                <a:solidFill>
                  <a:schemeClr val="tx1"/>
                </a:solidFill>
                <a:effectLst/>
                <a:uLnTx/>
                <a:uFillTx/>
                <a:latin typeface="+mn-lt"/>
                <a:ea typeface="+mn-ea"/>
                <a:cs typeface="+mn-cs"/>
              </a:rPr>
              <a:t>tridiagonal</a:t>
            </a:r>
            <a:r>
              <a:rPr kumimoji="0" lang="en-US" sz="3200" b="0" i="0" u="none" strike="noStrike" kern="1200" cap="none" spc="0" normalizeH="0" baseline="0" noProof="0" dirty="0" smtClean="0">
                <a:ln>
                  <a:noFill/>
                </a:ln>
                <a:solidFill>
                  <a:schemeClr val="tx1"/>
                </a:solidFill>
                <a:effectLst/>
                <a:uLnTx/>
                <a:uFillTx/>
                <a:latin typeface="+mn-lt"/>
                <a:ea typeface="+mn-ea"/>
                <a:cs typeface="+mn-cs"/>
              </a:rPr>
              <a:t>, n=32, k=3</a:t>
            </a:r>
          </a:p>
        </p:txBody>
      </p:sp>
      <p:cxnSp>
        <p:nvCxnSpPr>
          <p:cNvPr id="524" name="Straight Connector 523"/>
          <p:cNvCxnSpPr/>
          <p:nvPr/>
        </p:nvCxnSpPr>
        <p:spPr>
          <a:xfrm>
            <a:off x="228600" y="1371600"/>
            <a:ext cx="83058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84" name="Straight Connector 283"/>
          <p:cNvCxnSpPr/>
          <p:nvPr/>
        </p:nvCxnSpPr>
        <p:spPr>
          <a:xfrm rot="5400000">
            <a:off x="1143000" y="3886200"/>
            <a:ext cx="304800" cy="0"/>
          </a:xfrm>
          <a:prstGeom prst="line">
            <a:avLst/>
          </a:prstGeom>
          <a:ln w="28575">
            <a:solidFill>
              <a:srgbClr val="0824F2"/>
            </a:solidFill>
          </a:ln>
        </p:spPr>
        <p:style>
          <a:lnRef idx="1">
            <a:schemeClr val="accent1"/>
          </a:lnRef>
          <a:fillRef idx="0">
            <a:schemeClr val="accent1"/>
          </a:fillRef>
          <a:effectRef idx="0">
            <a:schemeClr val="accent1"/>
          </a:effectRef>
          <a:fontRef idx="minor">
            <a:schemeClr val="tx1"/>
          </a:fontRef>
        </p:style>
      </p:cxnSp>
      <p:cxnSp>
        <p:nvCxnSpPr>
          <p:cNvPr id="290" name="Straight Connector 289"/>
          <p:cNvCxnSpPr/>
          <p:nvPr/>
        </p:nvCxnSpPr>
        <p:spPr>
          <a:xfrm rot="5400000">
            <a:off x="1028700" y="3771900"/>
            <a:ext cx="304800" cy="228600"/>
          </a:xfrm>
          <a:prstGeom prst="line">
            <a:avLst/>
          </a:prstGeom>
          <a:ln w="28575">
            <a:solidFill>
              <a:srgbClr val="0824F2"/>
            </a:solidFill>
          </a:ln>
        </p:spPr>
        <p:style>
          <a:lnRef idx="1">
            <a:schemeClr val="accent1"/>
          </a:lnRef>
          <a:fillRef idx="0">
            <a:schemeClr val="accent1"/>
          </a:fillRef>
          <a:effectRef idx="0">
            <a:schemeClr val="accent1"/>
          </a:effectRef>
          <a:fontRef idx="minor">
            <a:schemeClr val="tx1"/>
          </a:fontRef>
        </p:style>
      </p:cxnSp>
      <p:cxnSp>
        <p:nvCxnSpPr>
          <p:cNvPr id="297" name="Straight Connector 296"/>
          <p:cNvCxnSpPr/>
          <p:nvPr/>
        </p:nvCxnSpPr>
        <p:spPr>
          <a:xfrm rot="16200000" flipH="1">
            <a:off x="1257300" y="3771900"/>
            <a:ext cx="304800" cy="228600"/>
          </a:xfrm>
          <a:prstGeom prst="line">
            <a:avLst/>
          </a:prstGeom>
          <a:ln w="28575">
            <a:solidFill>
              <a:srgbClr val="0824F2"/>
            </a:solidFill>
          </a:ln>
        </p:spPr>
        <p:style>
          <a:lnRef idx="1">
            <a:schemeClr val="accent1"/>
          </a:lnRef>
          <a:fillRef idx="0">
            <a:schemeClr val="accent1"/>
          </a:fillRef>
          <a:effectRef idx="0">
            <a:schemeClr val="accent1"/>
          </a:effectRef>
          <a:fontRef idx="minor">
            <a:schemeClr val="tx1"/>
          </a:fontRef>
        </p:style>
      </p:cxnSp>
      <p:cxnSp>
        <p:nvCxnSpPr>
          <p:cNvPr id="309" name="Straight Connector 308"/>
          <p:cNvCxnSpPr/>
          <p:nvPr/>
        </p:nvCxnSpPr>
        <p:spPr>
          <a:xfrm rot="5400000" flipH="1" flipV="1">
            <a:off x="1066800" y="4038600"/>
            <a:ext cx="0" cy="0"/>
          </a:xfrm>
          <a:prstGeom prst="line">
            <a:avLst/>
          </a:prstGeom>
          <a:ln>
            <a:solidFill>
              <a:srgbClr val="0824F2"/>
            </a:solidFill>
          </a:ln>
        </p:spPr>
        <p:style>
          <a:lnRef idx="1">
            <a:schemeClr val="accent1"/>
          </a:lnRef>
          <a:fillRef idx="0">
            <a:schemeClr val="accent1"/>
          </a:fillRef>
          <a:effectRef idx="0">
            <a:schemeClr val="accent1"/>
          </a:effectRef>
          <a:fontRef idx="minor">
            <a:schemeClr val="tx1"/>
          </a:fontRef>
        </p:style>
      </p:cxnSp>
      <p:grpSp>
        <p:nvGrpSpPr>
          <p:cNvPr id="2" name="Group 308"/>
          <p:cNvGrpSpPr/>
          <p:nvPr/>
        </p:nvGrpSpPr>
        <p:grpSpPr>
          <a:xfrm>
            <a:off x="762000" y="2895600"/>
            <a:ext cx="8077200" cy="1219200"/>
            <a:chOff x="-9144000" y="1447800"/>
            <a:chExt cx="28498800" cy="2895600"/>
          </a:xfrm>
        </p:grpSpPr>
        <p:grpSp>
          <p:nvGrpSpPr>
            <p:cNvPr id="3" name="Group 180"/>
            <p:cNvGrpSpPr/>
            <p:nvPr/>
          </p:nvGrpSpPr>
          <p:grpSpPr>
            <a:xfrm>
              <a:off x="-9144000" y="1447800"/>
              <a:ext cx="13868400" cy="2895600"/>
              <a:chOff x="914400" y="1447800"/>
              <a:chExt cx="13868400" cy="2895600"/>
            </a:xfrm>
          </p:grpSpPr>
          <p:grpSp>
            <p:nvGrpSpPr>
              <p:cNvPr id="4" name="Group 116"/>
              <p:cNvGrpSpPr/>
              <p:nvPr/>
            </p:nvGrpSpPr>
            <p:grpSpPr>
              <a:xfrm>
                <a:off x="914400" y="1447800"/>
                <a:ext cx="6553200" cy="2895600"/>
                <a:chOff x="914400" y="1447800"/>
                <a:chExt cx="6553200" cy="2895600"/>
              </a:xfrm>
            </p:grpSpPr>
            <p:grpSp>
              <p:nvGrpSpPr>
                <p:cNvPr id="5" name="Group 84"/>
                <p:cNvGrpSpPr/>
                <p:nvPr/>
              </p:nvGrpSpPr>
              <p:grpSpPr>
                <a:xfrm>
                  <a:off x="914400" y="1447800"/>
                  <a:ext cx="2895600" cy="2895600"/>
                  <a:chOff x="914400" y="1447800"/>
                  <a:chExt cx="2895600" cy="2895600"/>
                </a:xfrm>
              </p:grpSpPr>
              <p:grpSp>
                <p:nvGrpSpPr>
                  <p:cNvPr id="6" name="Group 68"/>
                  <p:cNvGrpSpPr/>
                  <p:nvPr/>
                </p:nvGrpSpPr>
                <p:grpSpPr>
                  <a:xfrm>
                    <a:off x="914400" y="1447800"/>
                    <a:ext cx="2895600" cy="1066800"/>
                    <a:chOff x="914400" y="1447800"/>
                    <a:chExt cx="2895600" cy="1066800"/>
                  </a:xfrm>
                </p:grpSpPr>
                <p:grpSp>
                  <p:nvGrpSpPr>
                    <p:cNvPr id="7" name="Group 60"/>
                    <p:cNvGrpSpPr/>
                    <p:nvPr/>
                  </p:nvGrpSpPr>
                  <p:grpSpPr>
                    <a:xfrm>
                      <a:off x="914400" y="2362200"/>
                      <a:ext cx="2895600" cy="152400"/>
                      <a:chOff x="914400" y="1447800"/>
                      <a:chExt cx="2895600" cy="152400"/>
                    </a:xfrm>
                  </p:grpSpPr>
                  <p:grpSp>
                    <p:nvGrpSpPr>
                      <p:cNvPr id="8" name="Group 56"/>
                      <p:cNvGrpSpPr/>
                      <p:nvPr/>
                    </p:nvGrpSpPr>
                    <p:grpSpPr>
                      <a:xfrm>
                        <a:off x="914400" y="1447800"/>
                        <a:ext cx="1066800" cy="152400"/>
                        <a:chOff x="914400" y="1447800"/>
                        <a:chExt cx="1066800" cy="152400"/>
                      </a:xfrm>
                    </p:grpSpPr>
                    <p:sp>
                      <p:nvSpPr>
                        <p:cNvPr id="53" name="Oval 5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Oval 5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 name="Group 57"/>
                      <p:cNvGrpSpPr/>
                      <p:nvPr/>
                    </p:nvGrpSpPr>
                    <p:grpSpPr>
                      <a:xfrm>
                        <a:off x="2743200" y="1447800"/>
                        <a:ext cx="1066800" cy="152400"/>
                        <a:chOff x="914400" y="1447800"/>
                        <a:chExt cx="1066800" cy="152400"/>
                      </a:xfrm>
                    </p:grpSpPr>
                    <p:sp>
                      <p:nvSpPr>
                        <p:cNvPr id="59" name="Oval 58"/>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Oval 59"/>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0" name="Group 61"/>
                    <p:cNvGrpSpPr/>
                    <p:nvPr/>
                  </p:nvGrpSpPr>
                  <p:grpSpPr>
                    <a:xfrm>
                      <a:off x="914400" y="1447800"/>
                      <a:ext cx="2895600" cy="152400"/>
                      <a:chOff x="914400" y="1447800"/>
                      <a:chExt cx="2895600" cy="152400"/>
                    </a:xfrm>
                  </p:grpSpPr>
                  <p:grpSp>
                    <p:nvGrpSpPr>
                      <p:cNvPr id="11" name="Group 56"/>
                      <p:cNvGrpSpPr/>
                      <p:nvPr/>
                    </p:nvGrpSpPr>
                    <p:grpSpPr>
                      <a:xfrm>
                        <a:off x="914400" y="1447800"/>
                        <a:ext cx="1066800" cy="152400"/>
                        <a:chOff x="914400" y="1447800"/>
                        <a:chExt cx="1066800" cy="152400"/>
                      </a:xfrm>
                    </p:grpSpPr>
                    <p:sp>
                      <p:nvSpPr>
                        <p:cNvPr id="67" name="Oval 66"/>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Oval 67"/>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2" name="Group 57"/>
                      <p:cNvGrpSpPr/>
                      <p:nvPr/>
                    </p:nvGrpSpPr>
                    <p:grpSpPr>
                      <a:xfrm>
                        <a:off x="2743200" y="1447800"/>
                        <a:ext cx="1066800" cy="152400"/>
                        <a:chOff x="914400" y="1447800"/>
                        <a:chExt cx="1066800" cy="152400"/>
                      </a:xfrm>
                    </p:grpSpPr>
                    <p:sp>
                      <p:nvSpPr>
                        <p:cNvPr id="65" name="Oval 64"/>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Oval 65"/>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nvGrpSpPr>
                  <p:cNvPr id="13" name="Group 69"/>
                  <p:cNvGrpSpPr/>
                  <p:nvPr/>
                </p:nvGrpSpPr>
                <p:grpSpPr>
                  <a:xfrm>
                    <a:off x="914400" y="3276600"/>
                    <a:ext cx="2895600" cy="1066800"/>
                    <a:chOff x="914400" y="1447800"/>
                    <a:chExt cx="2895600" cy="1066800"/>
                  </a:xfrm>
                </p:grpSpPr>
                <p:grpSp>
                  <p:nvGrpSpPr>
                    <p:cNvPr id="14" name="Group 60"/>
                    <p:cNvGrpSpPr/>
                    <p:nvPr/>
                  </p:nvGrpSpPr>
                  <p:grpSpPr>
                    <a:xfrm>
                      <a:off x="914400" y="2362200"/>
                      <a:ext cx="2895600" cy="152400"/>
                      <a:chOff x="914400" y="1447800"/>
                      <a:chExt cx="2895600" cy="152400"/>
                    </a:xfrm>
                  </p:grpSpPr>
                  <p:grpSp>
                    <p:nvGrpSpPr>
                      <p:cNvPr id="15" name="Group 56"/>
                      <p:cNvGrpSpPr/>
                      <p:nvPr/>
                    </p:nvGrpSpPr>
                    <p:grpSpPr>
                      <a:xfrm>
                        <a:off x="914400" y="1447800"/>
                        <a:ext cx="1066800" cy="152400"/>
                        <a:chOff x="914400" y="1447800"/>
                        <a:chExt cx="1066800" cy="152400"/>
                      </a:xfrm>
                    </p:grpSpPr>
                    <p:sp>
                      <p:nvSpPr>
                        <p:cNvPr id="83" name="Oval 8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Oval 8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 name="Group 57"/>
                      <p:cNvGrpSpPr/>
                      <p:nvPr/>
                    </p:nvGrpSpPr>
                    <p:grpSpPr>
                      <a:xfrm>
                        <a:off x="2743200" y="1447800"/>
                        <a:ext cx="1066800" cy="152400"/>
                        <a:chOff x="914400" y="1447800"/>
                        <a:chExt cx="1066800" cy="152400"/>
                      </a:xfrm>
                    </p:grpSpPr>
                    <p:sp>
                      <p:nvSpPr>
                        <p:cNvPr id="81" name="Oval 80"/>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Oval 81"/>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7" name="Group 61"/>
                    <p:cNvGrpSpPr/>
                    <p:nvPr/>
                  </p:nvGrpSpPr>
                  <p:grpSpPr>
                    <a:xfrm>
                      <a:off x="914400" y="1447800"/>
                      <a:ext cx="2895600" cy="152400"/>
                      <a:chOff x="914400" y="1447800"/>
                      <a:chExt cx="2895600" cy="152400"/>
                    </a:xfrm>
                  </p:grpSpPr>
                  <p:grpSp>
                    <p:nvGrpSpPr>
                      <p:cNvPr id="18" name="Group 56"/>
                      <p:cNvGrpSpPr/>
                      <p:nvPr/>
                    </p:nvGrpSpPr>
                    <p:grpSpPr>
                      <a:xfrm>
                        <a:off x="914400" y="1447800"/>
                        <a:ext cx="1066800" cy="152400"/>
                        <a:chOff x="914400" y="1447800"/>
                        <a:chExt cx="1066800" cy="152400"/>
                      </a:xfrm>
                    </p:grpSpPr>
                    <p:sp>
                      <p:nvSpPr>
                        <p:cNvPr id="77" name="Oval 76"/>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Oval 77"/>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9" name="Group 57"/>
                      <p:cNvGrpSpPr/>
                      <p:nvPr/>
                    </p:nvGrpSpPr>
                    <p:grpSpPr>
                      <a:xfrm>
                        <a:off x="2743200" y="1447800"/>
                        <a:ext cx="1066800" cy="152400"/>
                        <a:chOff x="914400" y="1447800"/>
                        <a:chExt cx="1066800" cy="152400"/>
                      </a:xfrm>
                    </p:grpSpPr>
                    <p:sp>
                      <p:nvSpPr>
                        <p:cNvPr id="75" name="Oval 74"/>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Oval 75"/>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grpSp>
              <p:nvGrpSpPr>
                <p:cNvPr id="20" name="Group 85"/>
                <p:cNvGrpSpPr/>
                <p:nvPr/>
              </p:nvGrpSpPr>
              <p:grpSpPr>
                <a:xfrm>
                  <a:off x="4572000" y="1447800"/>
                  <a:ext cx="2895600" cy="2895600"/>
                  <a:chOff x="914400" y="1447800"/>
                  <a:chExt cx="2895600" cy="2895600"/>
                </a:xfrm>
              </p:grpSpPr>
              <p:grpSp>
                <p:nvGrpSpPr>
                  <p:cNvPr id="21" name="Group 68"/>
                  <p:cNvGrpSpPr/>
                  <p:nvPr/>
                </p:nvGrpSpPr>
                <p:grpSpPr>
                  <a:xfrm>
                    <a:off x="914400" y="1447800"/>
                    <a:ext cx="2895600" cy="1066800"/>
                    <a:chOff x="914400" y="1447800"/>
                    <a:chExt cx="2895600" cy="1066800"/>
                  </a:xfrm>
                </p:grpSpPr>
                <p:grpSp>
                  <p:nvGrpSpPr>
                    <p:cNvPr id="22" name="Group 60"/>
                    <p:cNvGrpSpPr/>
                    <p:nvPr/>
                  </p:nvGrpSpPr>
                  <p:grpSpPr>
                    <a:xfrm>
                      <a:off x="914400" y="2362200"/>
                      <a:ext cx="2895600" cy="152400"/>
                      <a:chOff x="914400" y="1447800"/>
                      <a:chExt cx="2895600" cy="152400"/>
                    </a:xfrm>
                  </p:grpSpPr>
                  <p:grpSp>
                    <p:nvGrpSpPr>
                      <p:cNvPr id="23" name="Group 56"/>
                      <p:cNvGrpSpPr/>
                      <p:nvPr/>
                    </p:nvGrpSpPr>
                    <p:grpSpPr>
                      <a:xfrm>
                        <a:off x="914400" y="1447800"/>
                        <a:ext cx="1066800" cy="152400"/>
                        <a:chOff x="914400" y="1447800"/>
                        <a:chExt cx="1066800" cy="152400"/>
                      </a:xfrm>
                    </p:grpSpPr>
                    <p:sp>
                      <p:nvSpPr>
                        <p:cNvPr id="115" name="Oval 114"/>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 name="Oval 115"/>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4" name="Group 57"/>
                      <p:cNvGrpSpPr/>
                      <p:nvPr/>
                    </p:nvGrpSpPr>
                    <p:grpSpPr>
                      <a:xfrm>
                        <a:off x="2743200" y="1447800"/>
                        <a:ext cx="1066800" cy="152400"/>
                        <a:chOff x="914400" y="1447800"/>
                        <a:chExt cx="1066800" cy="152400"/>
                      </a:xfrm>
                    </p:grpSpPr>
                    <p:sp>
                      <p:nvSpPr>
                        <p:cNvPr id="113" name="Oval 11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Oval 11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25" name="Group 61"/>
                    <p:cNvGrpSpPr/>
                    <p:nvPr/>
                  </p:nvGrpSpPr>
                  <p:grpSpPr>
                    <a:xfrm>
                      <a:off x="914400" y="1447800"/>
                      <a:ext cx="2895600" cy="152400"/>
                      <a:chOff x="914400" y="1447800"/>
                      <a:chExt cx="2895600" cy="152400"/>
                    </a:xfrm>
                  </p:grpSpPr>
                  <p:grpSp>
                    <p:nvGrpSpPr>
                      <p:cNvPr id="26" name="Group 56"/>
                      <p:cNvGrpSpPr/>
                      <p:nvPr/>
                    </p:nvGrpSpPr>
                    <p:grpSpPr>
                      <a:xfrm>
                        <a:off x="914400" y="1447800"/>
                        <a:ext cx="1066800" cy="152400"/>
                        <a:chOff x="914400" y="1447800"/>
                        <a:chExt cx="1066800" cy="152400"/>
                      </a:xfrm>
                    </p:grpSpPr>
                    <p:sp>
                      <p:nvSpPr>
                        <p:cNvPr id="109" name="Oval 108"/>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Oval 109"/>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7" name="Group 57"/>
                      <p:cNvGrpSpPr/>
                      <p:nvPr/>
                    </p:nvGrpSpPr>
                    <p:grpSpPr>
                      <a:xfrm>
                        <a:off x="2743200" y="1447800"/>
                        <a:ext cx="1066800" cy="152400"/>
                        <a:chOff x="914400" y="1447800"/>
                        <a:chExt cx="1066800" cy="152400"/>
                      </a:xfrm>
                    </p:grpSpPr>
                    <p:sp>
                      <p:nvSpPr>
                        <p:cNvPr id="107" name="Oval 106"/>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Oval 107"/>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nvGrpSpPr>
                  <p:cNvPr id="28" name="Group 69"/>
                  <p:cNvGrpSpPr/>
                  <p:nvPr/>
                </p:nvGrpSpPr>
                <p:grpSpPr>
                  <a:xfrm>
                    <a:off x="914400" y="3276600"/>
                    <a:ext cx="2895600" cy="1066800"/>
                    <a:chOff x="914400" y="1447800"/>
                    <a:chExt cx="2895600" cy="1066800"/>
                  </a:xfrm>
                </p:grpSpPr>
                <p:grpSp>
                  <p:nvGrpSpPr>
                    <p:cNvPr id="29" name="Group 60"/>
                    <p:cNvGrpSpPr/>
                    <p:nvPr/>
                  </p:nvGrpSpPr>
                  <p:grpSpPr>
                    <a:xfrm>
                      <a:off x="914400" y="2362200"/>
                      <a:ext cx="2895600" cy="152400"/>
                      <a:chOff x="914400" y="1447800"/>
                      <a:chExt cx="2895600" cy="152400"/>
                    </a:xfrm>
                  </p:grpSpPr>
                  <p:grpSp>
                    <p:nvGrpSpPr>
                      <p:cNvPr id="30" name="Group 56"/>
                      <p:cNvGrpSpPr/>
                      <p:nvPr/>
                    </p:nvGrpSpPr>
                    <p:grpSpPr>
                      <a:xfrm>
                        <a:off x="914400" y="1447800"/>
                        <a:ext cx="1066800" cy="152400"/>
                        <a:chOff x="914400" y="1447800"/>
                        <a:chExt cx="1066800" cy="152400"/>
                      </a:xfrm>
                    </p:grpSpPr>
                    <p:sp>
                      <p:nvSpPr>
                        <p:cNvPr id="101" name="Oval 100"/>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Oval 101"/>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1" name="Group 57"/>
                      <p:cNvGrpSpPr/>
                      <p:nvPr/>
                    </p:nvGrpSpPr>
                    <p:grpSpPr>
                      <a:xfrm>
                        <a:off x="2743200" y="1447800"/>
                        <a:ext cx="1066800" cy="152400"/>
                        <a:chOff x="914400" y="1447800"/>
                        <a:chExt cx="1066800" cy="152400"/>
                      </a:xfrm>
                    </p:grpSpPr>
                    <p:sp>
                      <p:nvSpPr>
                        <p:cNvPr id="99" name="Oval 98"/>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Oval 99"/>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32" name="Group 61"/>
                    <p:cNvGrpSpPr/>
                    <p:nvPr/>
                  </p:nvGrpSpPr>
                  <p:grpSpPr>
                    <a:xfrm>
                      <a:off x="914400" y="1447800"/>
                      <a:ext cx="2895600" cy="152400"/>
                      <a:chOff x="914400" y="1447800"/>
                      <a:chExt cx="2895600" cy="152400"/>
                    </a:xfrm>
                  </p:grpSpPr>
                  <p:grpSp>
                    <p:nvGrpSpPr>
                      <p:cNvPr id="33" name="Group 56"/>
                      <p:cNvGrpSpPr/>
                      <p:nvPr/>
                    </p:nvGrpSpPr>
                    <p:grpSpPr>
                      <a:xfrm>
                        <a:off x="914400" y="1447800"/>
                        <a:ext cx="1066800" cy="152400"/>
                        <a:chOff x="914400" y="1447800"/>
                        <a:chExt cx="1066800" cy="152400"/>
                      </a:xfrm>
                    </p:grpSpPr>
                    <p:sp>
                      <p:nvSpPr>
                        <p:cNvPr id="95" name="Oval 94"/>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Oval 95"/>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4" name="Group 57"/>
                      <p:cNvGrpSpPr/>
                      <p:nvPr/>
                    </p:nvGrpSpPr>
                    <p:grpSpPr>
                      <a:xfrm>
                        <a:off x="2743200" y="1447800"/>
                        <a:ext cx="1066800" cy="152400"/>
                        <a:chOff x="914400" y="1447800"/>
                        <a:chExt cx="1066800" cy="152400"/>
                      </a:xfrm>
                    </p:grpSpPr>
                    <p:sp>
                      <p:nvSpPr>
                        <p:cNvPr id="93" name="Oval 9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Oval 9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grpSp>
          <p:grpSp>
            <p:nvGrpSpPr>
              <p:cNvPr id="35" name="Group 117"/>
              <p:cNvGrpSpPr/>
              <p:nvPr/>
            </p:nvGrpSpPr>
            <p:grpSpPr>
              <a:xfrm>
                <a:off x="8229600" y="1447800"/>
                <a:ext cx="6553200" cy="2895600"/>
                <a:chOff x="914400" y="1447800"/>
                <a:chExt cx="6553200" cy="2895600"/>
              </a:xfrm>
            </p:grpSpPr>
            <p:grpSp>
              <p:nvGrpSpPr>
                <p:cNvPr id="36" name="Group 84"/>
                <p:cNvGrpSpPr/>
                <p:nvPr/>
              </p:nvGrpSpPr>
              <p:grpSpPr>
                <a:xfrm>
                  <a:off x="914400" y="1447800"/>
                  <a:ext cx="2895600" cy="2895600"/>
                  <a:chOff x="914400" y="1447800"/>
                  <a:chExt cx="2895600" cy="2895600"/>
                </a:xfrm>
              </p:grpSpPr>
              <p:grpSp>
                <p:nvGrpSpPr>
                  <p:cNvPr id="37" name="Group 68"/>
                  <p:cNvGrpSpPr/>
                  <p:nvPr/>
                </p:nvGrpSpPr>
                <p:grpSpPr>
                  <a:xfrm>
                    <a:off x="914400" y="1447800"/>
                    <a:ext cx="2895600" cy="1066800"/>
                    <a:chOff x="914400" y="1447800"/>
                    <a:chExt cx="2895600" cy="1066800"/>
                  </a:xfrm>
                </p:grpSpPr>
                <p:grpSp>
                  <p:nvGrpSpPr>
                    <p:cNvPr id="38" name="Group 60"/>
                    <p:cNvGrpSpPr/>
                    <p:nvPr/>
                  </p:nvGrpSpPr>
                  <p:grpSpPr>
                    <a:xfrm>
                      <a:off x="914400" y="2362200"/>
                      <a:ext cx="2895600" cy="152400"/>
                      <a:chOff x="914400" y="1447800"/>
                      <a:chExt cx="2895600" cy="152400"/>
                    </a:xfrm>
                  </p:grpSpPr>
                  <p:grpSp>
                    <p:nvGrpSpPr>
                      <p:cNvPr id="39" name="Group 56"/>
                      <p:cNvGrpSpPr/>
                      <p:nvPr/>
                    </p:nvGrpSpPr>
                    <p:grpSpPr>
                      <a:xfrm>
                        <a:off x="914400" y="1447800"/>
                        <a:ext cx="1066800" cy="152400"/>
                        <a:chOff x="914400" y="1447800"/>
                        <a:chExt cx="1066800" cy="152400"/>
                      </a:xfrm>
                    </p:grpSpPr>
                    <p:sp>
                      <p:nvSpPr>
                        <p:cNvPr id="179" name="Oval 5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0" name="Oval 5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0" name="Group 57"/>
                      <p:cNvGrpSpPr/>
                      <p:nvPr/>
                    </p:nvGrpSpPr>
                    <p:grpSpPr>
                      <a:xfrm>
                        <a:off x="2743200" y="1447800"/>
                        <a:ext cx="1066800" cy="152400"/>
                        <a:chOff x="914400" y="1447800"/>
                        <a:chExt cx="1066800" cy="152400"/>
                      </a:xfrm>
                    </p:grpSpPr>
                    <p:sp>
                      <p:nvSpPr>
                        <p:cNvPr id="177" name="Oval 58"/>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8" name="Oval 59"/>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41" name="Group 61"/>
                    <p:cNvGrpSpPr/>
                    <p:nvPr/>
                  </p:nvGrpSpPr>
                  <p:grpSpPr>
                    <a:xfrm>
                      <a:off x="914400" y="1447800"/>
                      <a:ext cx="2895600" cy="152400"/>
                      <a:chOff x="914400" y="1447800"/>
                      <a:chExt cx="2895600" cy="152400"/>
                    </a:xfrm>
                  </p:grpSpPr>
                  <p:grpSp>
                    <p:nvGrpSpPr>
                      <p:cNvPr id="42" name="Group 56"/>
                      <p:cNvGrpSpPr/>
                      <p:nvPr/>
                    </p:nvGrpSpPr>
                    <p:grpSpPr>
                      <a:xfrm>
                        <a:off x="914400" y="1447800"/>
                        <a:ext cx="1066800" cy="152400"/>
                        <a:chOff x="914400" y="1447800"/>
                        <a:chExt cx="1066800" cy="152400"/>
                      </a:xfrm>
                    </p:grpSpPr>
                    <p:sp>
                      <p:nvSpPr>
                        <p:cNvPr id="173" name="Oval 17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4" name="Oval 17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3" name="Group 57"/>
                      <p:cNvGrpSpPr/>
                      <p:nvPr/>
                    </p:nvGrpSpPr>
                    <p:grpSpPr>
                      <a:xfrm>
                        <a:off x="2743200" y="1447800"/>
                        <a:ext cx="1066800" cy="152400"/>
                        <a:chOff x="914400" y="1447800"/>
                        <a:chExt cx="1066800" cy="152400"/>
                      </a:xfrm>
                    </p:grpSpPr>
                    <p:sp>
                      <p:nvSpPr>
                        <p:cNvPr id="171" name="Oval 170"/>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2" name="Oval 171"/>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nvGrpSpPr>
                  <p:cNvPr id="44" name="Group 69"/>
                  <p:cNvGrpSpPr/>
                  <p:nvPr/>
                </p:nvGrpSpPr>
                <p:grpSpPr>
                  <a:xfrm>
                    <a:off x="914400" y="3276600"/>
                    <a:ext cx="2895600" cy="1066800"/>
                    <a:chOff x="914400" y="1447800"/>
                    <a:chExt cx="2895600" cy="1066800"/>
                  </a:xfrm>
                </p:grpSpPr>
                <p:grpSp>
                  <p:nvGrpSpPr>
                    <p:cNvPr id="45" name="Group 60"/>
                    <p:cNvGrpSpPr/>
                    <p:nvPr/>
                  </p:nvGrpSpPr>
                  <p:grpSpPr>
                    <a:xfrm>
                      <a:off x="914400" y="2362200"/>
                      <a:ext cx="2895600" cy="152400"/>
                      <a:chOff x="914400" y="1447800"/>
                      <a:chExt cx="2895600" cy="152400"/>
                    </a:xfrm>
                  </p:grpSpPr>
                  <p:grpSp>
                    <p:nvGrpSpPr>
                      <p:cNvPr id="46" name="Group 56"/>
                      <p:cNvGrpSpPr/>
                      <p:nvPr/>
                    </p:nvGrpSpPr>
                    <p:grpSpPr>
                      <a:xfrm>
                        <a:off x="914400" y="1447800"/>
                        <a:ext cx="1066800" cy="152400"/>
                        <a:chOff x="914400" y="1447800"/>
                        <a:chExt cx="1066800" cy="152400"/>
                      </a:xfrm>
                    </p:grpSpPr>
                    <p:sp>
                      <p:nvSpPr>
                        <p:cNvPr id="165" name="Oval 164"/>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6" name="Oval 165"/>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7" name="Group 57"/>
                      <p:cNvGrpSpPr/>
                      <p:nvPr/>
                    </p:nvGrpSpPr>
                    <p:grpSpPr>
                      <a:xfrm>
                        <a:off x="2743200" y="1447800"/>
                        <a:ext cx="1066800" cy="152400"/>
                        <a:chOff x="914400" y="1447800"/>
                        <a:chExt cx="1066800" cy="152400"/>
                      </a:xfrm>
                    </p:grpSpPr>
                    <p:sp>
                      <p:nvSpPr>
                        <p:cNvPr id="163" name="Oval 16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4" name="Oval 16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48" name="Group 61"/>
                    <p:cNvGrpSpPr/>
                    <p:nvPr/>
                  </p:nvGrpSpPr>
                  <p:grpSpPr>
                    <a:xfrm>
                      <a:off x="914400" y="1447800"/>
                      <a:ext cx="2895600" cy="152400"/>
                      <a:chOff x="914400" y="1447800"/>
                      <a:chExt cx="2895600" cy="152400"/>
                    </a:xfrm>
                  </p:grpSpPr>
                  <p:grpSp>
                    <p:nvGrpSpPr>
                      <p:cNvPr id="49" name="Group 56"/>
                      <p:cNvGrpSpPr/>
                      <p:nvPr/>
                    </p:nvGrpSpPr>
                    <p:grpSpPr>
                      <a:xfrm>
                        <a:off x="914400" y="1447800"/>
                        <a:ext cx="1066800" cy="152400"/>
                        <a:chOff x="914400" y="1447800"/>
                        <a:chExt cx="1066800" cy="152400"/>
                      </a:xfrm>
                    </p:grpSpPr>
                    <p:sp>
                      <p:nvSpPr>
                        <p:cNvPr id="159" name="Oval 158"/>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0" name="Oval 159"/>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0" name="Group 57"/>
                      <p:cNvGrpSpPr/>
                      <p:nvPr/>
                    </p:nvGrpSpPr>
                    <p:grpSpPr>
                      <a:xfrm>
                        <a:off x="2743200" y="1447800"/>
                        <a:ext cx="1066800" cy="152400"/>
                        <a:chOff x="914400" y="1447800"/>
                        <a:chExt cx="1066800" cy="152400"/>
                      </a:xfrm>
                    </p:grpSpPr>
                    <p:sp>
                      <p:nvSpPr>
                        <p:cNvPr id="157" name="Oval 156"/>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8" name="Oval 157"/>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grpSp>
              <p:nvGrpSpPr>
                <p:cNvPr id="51" name="Group 85"/>
                <p:cNvGrpSpPr/>
                <p:nvPr/>
              </p:nvGrpSpPr>
              <p:grpSpPr>
                <a:xfrm>
                  <a:off x="4572000" y="1447800"/>
                  <a:ext cx="2895600" cy="2895600"/>
                  <a:chOff x="914400" y="1447800"/>
                  <a:chExt cx="2895600" cy="2895600"/>
                </a:xfrm>
              </p:grpSpPr>
              <p:grpSp>
                <p:nvGrpSpPr>
                  <p:cNvPr id="52" name="Group 68"/>
                  <p:cNvGrpSpPr/>
                  <p:nvPr/>
                </p:nvGrpSpPr>
                <p:grpSpPr>
                  <a:xfrm>
                    <a:off x="914400" y="1447800"/>
                    <a:ext cx="2895600" cy="1066800"/>
                    <a:chOff x="914400" y="1447800"/>
                    <a:chExt cx="2895600" cy="1066800"/>
                  </a:xfrm>
                </p:grpSpPr>
                <p:grpSp>
                  <p:nvGrpSpPr>
                    <p:cNvPr id="55" name="Group 60"/>
                    <p:cNvGrpSpPr/>
                    <p:nvPr/>
                  </p:nvGrpSpPr>
                  <p:grpSpPr>
                    <a:xfrm>
                      <a:off x="914400" y="2362200"/>
                      <a:ext cx="2895600" cy="152400"/>
                      <a:chOff x="914400" y="1447800"/>
                      <a:chExt cx="2895600" cy="152400"/>
                    </a:xfrm>
                  </p:grpSpPr>
                  <p:grpSp>
                    <p:nvGrpSpPr>
                      <p:cNvPr id="56" name="Group 56"/>
                      <p:cNvGrpSpPr/>
                      <p:nvPr/>
                    </p:nvGrpSpPr>
                    <p:grpSpPr>
                      <a:xfrm>
                        <a:off x="914400" y="1447800"/>
                        <a:ext cx="1066800" cy="152400"/>
                        <a:chOff x="914400" y="1447800"/>
                        <a:chExt cx="1066800" cy="152400"/>
                      </a:xfrm>
                    </p:grpSpPr>
                    <p:sp>
                      <p:nvSpPr>
                        <p:cNvPr id="149" name="Oval 148"/>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0" name="Oval 149"/>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7" name="Group 57"/>
                      <p:cNvGrpSpPr/>
                      <p:nvPr/>
                    </p:nvGrpSpPr>
                    <p:grpSpPr>
                      <a:xfrm>
                        <a:off x="2743200" y="1447800"/>
                        <a:ext cx="1066800" cy="152400"/>
                        <a:chOff x="914400" y="1447800"/>
                        <a:chExt cx="1066800" cy="152400"/>
                      </a:xfrm>
                    </p:grpSpPr>
                    <p:sp>
                      <p:nvSpPr>
                        <p:cNvPr id="147" name="Oval 146"/>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8" name="Oval 147"/>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58" name="Group 61"/>
                    <p:cNvGrpSpPr/>
                    <p:nvPr/>
                  </p:nvGrpSpPr>
                  <p:grpSpPr>
                    <a:xfrm>
                      <a:off x="914400" y="1447800"/>
                      <a:ext cx="2895600" cy="152400"/>
                      <a:chOff x="914400" y="1447800"/>
                      <a:chExt cx="2895600" cy="152400"/>
                    </a:xfrm>
                  </p:grpSpPr>
                  <p:grpSp>
                    <p:nvGrpSpPr>
                      <p:cNvPr id="61" name="Group 56"/>
                      <p:cNvGrpSpPr/>
                      <p:nvPr/>
                    </p:nvGrpSpPr>
                    <p:grpSpPr>
                      <a:xfrm>
                        <a:off x="914400" y="1447800"/>
                        <a:ext cx="1066800" cy="152400"/>
                        <a:chOff x="914400" y="1447800"/>
                        <a:chExt cx="1066800" cy="152400"/>
                      </a:xfrm>
                    </p:grpSpPr>
                    <p:sp>
                      <p:nvSpPr>
                        <p:cNvPr id="143" name="Oval 14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4" name="Oval 14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2" name="Group 57"/>
                      <p:cNvGrpSpPr/>
                      <p:nvPr/>
                    </p:nvGrpSpPr>
                    <p:grpSpPr>
                      <a:xfrm>
                        <a:off x="2743200" y="1447800"/>
                        <a:ext cx="1066800" cy="152400"/>
                        <a:chOff x="914400" y="1447800"/>
                        <a:chExt cx="1066800" cy="152400"/>
                      </a:xfrm>
                    </p:grpSpPr>
                    <p:sp>
                      <p:nvSpPr>
                        <p:cNvPr id="141" name="Oval 140"/>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2" name="Oval 141"/>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nvGrpSpPr>
                  <p:cNvPr id="63" name="Group 69"/>
                  <p:cNvGrpSpPr/>
                  <p:nvPr/>
                </p:nvGrpSpPr>
                <p:grpSpPr>
                  <a:xfrm>
                    <a:off x="914400" y="3276600"/>
                    <a:ext cx="2895600" cy="1066800"/>
                    <a:chOff x="914400" y="1447800"/>
                    <a:chExt cx="2895600" cy="1066800"/>
                  </a:xfrm>
                </p:grpSpPr>
                <p:grpSp>
                  <p:nvGrpSpPr>
                    <p:cNvPr id="64" name="Group 60"/>
                    <p:cNvGrpSpPr/>
                    <p:nvPr/>
                  </p:nvGrpSpPr>
                  <p:grpSpPr>
                    <a:xfrm>
                      <a:off x="914400" y="2362200"/>
                      <a:ext cx="2895600" cy="152400"/>
                      <a:chOff x="914400" y="1447800"/>
                      <a:chExt cx="2895600" cy="152400"/>
                    </a:xfrm>
                  </p:grpSpPr>
                  <p:grpSp>
                    <p:nvGrpSpPr>
                      <p:cNvPr id="69" name="Group 56"/>
                      <p:cNvGrpSpPr/>
                      <p:nvPr/>
                    </p:nvGrpSpPr>
                    <p:grpSpPr>
                      <a:xfrm>
                        <a:off x="914400" y="1447800"/>
                        <a:ext cx="1066800" cy="152400"/>
                        <a:chOff x="914400" y="1447800"/>
                        <a:chExt cx="1066800" cy="152400"/>
                      </a:xfrm>
                    </p:grpSpPr>
                    <p:sp>
                      <p:nvSpPr>
                        <p:cNvPr id="135" name="Oval 134"/>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6" name="Oval 135"/>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0" name="Group 57"/>
                      <p:cNvGrpSpPr/>
                      <p:nvPr/>
                    </p:nvGrpSpPr>
                    <p:grpSpPr>
                      <a:xfrm>
                        <a:off x="2743200" y="1447800"/>
                        <a:ext cx="1066800" cy="152400"/>
                        <a:chOff x="914400" y="1447800"/>
                        <a:chExt cx="1066800" cy="152400"/>
                      </a:xfrm>
                    </p:grpSpPr>
                    <p:sp>
                      <p:nvSpPr>
                        <p:cNvPr id="133" name="Oval 13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 name="Oval 13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71" name="Group 61"/>
                    <p:cNvGrpSpPr/>
                    <p:nvPr/>
                  </p:nvGrpSpPr>
                  <p:grpSpPr>
                    <a:xfrm>
                      <a:off x="914400" y="1447800"/>
                      <a:ext cx="2895600" cy="152400"/>
                      <a:chOff x="914400" y="1447800"/>
                      <a:chExt cx="2895600" cy="152400"/>
                    </a:xfrm>
                  </p:grpSpPr>
                  <p:grpSp>
                    <p:nvGrpSpPr>
                      <p:cNvPr id="72" name="Group 56"/>
                      <p:cNvGrpSpPr/>
                      <p:nvPr/>
                    </p:nvGrpSpPr>
                    <p:grpSpPr>
                      <a:xfrm>
                        <a:off x="914400" y="1447800"/>
                        <a:ext cx="1066800" cy="152400"/>
                        <a:chOff x="914400" y="1447800"/>
                        <a:chExt cx="1066800" cy="152400"/>
                      </a:xfrm>
                    </p:grpSpPr>
                    <p:sp>
                      <p:nvSpPr>
                        <p:cNvPr id="129" name="Oval 128"/>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 name="Oval 129"/>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3" name="Group 57"/>
                      <p:cNvGrpSpPr/>
                      <p:nvPr/>
                    </p:nvGrpSpPr>
                    <p:grpSpPr>
                      <a:xfrm>
                        <a:off x="2743200" y="1447800"/>
                        <a:ext cx="1066800" cy="152400"/>
                        <a:chOff x="914400" y="1447800"/>
                        <a:chExt cx="1066800" cy="152400"/>
                      </a:xfrm>
                    </p:grpSpPr>
                    <p:sp>
                      <p:nvSpPr>
                        <p:cNvPr id="127" name="Oval 126"/>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8" name="Oval 127"/>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grpSp>
        </p:grpSp>
        <p:grpSp>
          <p:nvGrpSpPr>
            <p:cNvPr id="74" name="Group 181"/>
            <p:cNvGrpSpPr/>
            <p:nvPr/>
          </p:nvGrpSpPr>
          <p:grpSpPr>
            <a:xfrm>
              <a:off x="5486400" y="1447800"/>
              <a:ext cx="13868400" cy="2895600"/>
              <a:chOff x="914400" y="1447800"/>
              <a:chExt cx="13868400" cy="2895600"/>
            </a:xfrm>
          </p:grpSpPr>
          <p:grpSp>
            <p:nvGrpSpPr>
              <p:cNvPr id="79" name="Group 116"/>
              <p:cNvGrpSpPr/>
              <p:nvPr/>
            </p:nvGrpSpPr>
            <p:grpSpPr>
              <a:xfrm>
                <a:off x="914400" y="1447800"/>
                <a:ext cx="6553200" cy="2895600"/>
                <a:chOff x="914400" y="1447800"/>
                <a:chExt cx="6553200" cy="2895600"/>
              </a:xfrm>
            </p:grpSpPr>
            <p:grpSp>
              <p:nvGrpSpPr>
                <p:cNvPr id="80" name="Group 84"/>
                <p:cNvGrpSpPr/>
                <p:nvPr/>
              </p:nvGrpSpPr>
              <p:grpSpPr>
                <a:xfrm>
                  <a:off x="914400" y="1447800"/>
                  <a:ext cx="2895600" cy="2895600"/>
                  <a:chOff x="914400" y="1447800"/>
                  <a:chExt cx="2895600" cy="2895600"/>
                </a:xfrm>
              </p:grpSpPr>
              <p:grpSp>
                <p:nvGrpSpPr>
                  <p:cNvPr id="85" name="Group 68"/>
                  <p:cNvGrpSpPr/>
                  <p:nvPr/>
                </p:nvGrpSpPr>
                <p:grpSpPr>
                  <a:xfrm>
                    <a:off x="914400" y="1447800"/>
                    <a:ext cx="2895600" cy="1066800"/>
                    <a:chOff x="914400" y="1447800"/>
                    <a:chExt cx="2895600" cy="1066800"/>
                  </a:xfrm>
                </p:grpSpPr>
                <p:grpSp>
                  <p:nvGrpSpPr>
                    <p:cNvPr id="86" name="Group 60"/>
                    <p:cNvGrpSpPr/>
                    <p:nvPr/>
                  </p:nvGrpSpPr>
                  <p:grpSpPr>
                    <a:xfrm>
                      <a:off x="914400" y="2362200"/>
                      <a:ext cx="2895600" cy="152400"/>
                      <a:chOff x="914400" y="1447800"/>
                      <a:chExt cx="2895600" cy="152400"/>
                    </a:xfrm>
                  </p:grpSpPr>
                  <p:grpSp>
                    <p:nvGrpSpPr>
                      <p:cNvPr id="87" name="Group 56"/>
                      <p:cNvGrpSpPr/>
                      <p:nvPr/>
                    </p:nvGrpSpPr>
                    <p:grpSpPr>
                      <a:xfrm>
                        <a:off x="914400" y="1447800"/>
                        <a:ext cx="1066800" cy="152400"/>
                        <a:chOff x="914400" y="1447800"/>
                        <a:chExt cx="1066800" cy="152400"/>
                      </a:xfrm>
                    </p:grpSpPr>
                    <p:sp>
                      <p:nvSpPr>
                        <p:cNvPr id="307" name="Oval 5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 name="Oval 5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8" name="Group 57"/>
                      <p:cNvGrpSpPr/>
                      <p:nvPr/>
                    </p:nvGrpSpPr>
                    <p:grpSpPr>
                      <a:xfrm>
                        <a:off x="2743200" y="1447800"/>
                        <a:ext cx="1066800" cy="152400"/>
                        <a:chOff x="914400" y="1447800"/>
                        <a:chExt cx="1066800" cy="152400"/>
                      </a:xfrm>
                    </p:grpSpPr>
                    <p:sp>
                      <p:nvSpPr>
                        <p:cNvPr id="305" name="Oval 304"/>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6" name="Oval 305"/>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89" name="Group 61"/>
                    <p:cNvGrpSpPr/>
                    <p:nvPr/>
                  </p:nvGrpSpPr>
                  <p:grpSpPr>
                    <a:xfrm>
                      <a:off x="914400" y="1447800"/>
                      <a:ext cx="2895600" cy="152400"/>
                      <a:chOff x="914400" y="1447800"/>
                      <a:chExt cx="2895600" cy="152400"/>
                    </a:xfrm>
                  </p:grpSpPr>
                  <p:grpSp>
                    <p:nvGrpSpPr>
                      <p:cNvPr id="90" name="Group 56"/>
                      <p:cNvGrpSpPr/>
                      <p:nvPr/>
                    </p:nvGrpSpPr>
                    <p:grpSpPr>
                      <a:xfrm>
                        <a:off x="914400" y="1447800"/>
                        <a:ext cx="1066800" cy="152400"/>
                        <a:chOff x="914400" y="1447800"/>
                        <a:chExt cx="1066800" cy="152400"/>
                      </a:xfrm>
                    </p:grpSpPr>
                    <p:sp>
                      <p:nvSpPr>
                        <p:cNvPr id="301" name="Oval 66"/>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2" name="Oval 67"/>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1" name="Group 57"/>
                      <p:cNvGrpSpPr/>
                      <p:nvPr/>
                    </p:nvGrpSpPr>
                    <p:grpSpPr>
                      <a:xfrm>
                        <a:off x="2743200" y="1447800"/>
                        <a:ext cx="1066800" cy="152400"/>
                        <a:chOff x="914400" y="1447800"/>
                        <a:chExt cx="1066800" cy="152400"/>
                      </a:xfrm>
                    </p:grpSpPr>
                    <p:sp>
                      <p:nvSpPr>
                        <p:cNvPr id="299" name="Oval 298"/>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0" name="Oval 299"/>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nvGrpSpPr>
                  <p:cNvPr id="92" name="Group 69"/>
                  <p:cNvGrpSpPr/>
                  <p:nvPr/>
                </p:nvGrpSpPr>
                <p:grpSpPr>
                  <a:xfrm>
                    <a:off x="914400" y="3276600"/>
                    <a:ext cx="2895600" cy="1066800"/>
                    <a:chOff x="914400" y="1447800"/>
                    <a:chExt cx="2895600" cy="1066800"/>
                  </a:xfrm>
                </p:grpSpPr>
                <p:grpSp>
                  <p:nvGrpSpPr>
                    <p:cNvPr id="97" name="Group 60"/>
                    <p:cNvGrpSpPr/>
                    <p:nvPr/>
                  </p:nvGrpSpPr>
                  <p:grpSpPr>
                    <a:xfrm>
                      <a:off x="914400" y="2362200"/>
                      <a:ext cx="2895600" cy="152400"/>
                      <a:chOff x="914400" y="1447800"/>
                      <a:chExt cx="2895600" cy="152400"/>
                    </a:xfrm>
                  </p:grpSpPr>
                  <p:grpSp>
                    <p:nvGrpSpPr>
                      <p:cNvPr id="98" name="Group 56"/>
                      <p:cNvGrpSpPr/>
                      <p:nvPr/>
                    </p:nvGrpSpPr>
                    <p:grpSpPr>
                      <a:xfrm>
                        <a:off x="914400" y="1447800"/>
                        <a:ext cx="1066800" cy="152400"/>
                        <a:chOff x="914400" y="1447800"/>
                        <a:chExt cx="1066800" cy="152400"/>
                      </a:xfrm>
                    </p:grpSpPr>
                    <p:sp>
                      <p:nvSpPr>
                        <p:cNvPr id="293" name="Oval 29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4" name="Oval 29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3" name="Group 57"/>
                      <p:cNvGrpSpPr/>
                      <p:nvPr/>
                    </p:nvGrpSpPr>
                    <p:grpSpPr>
                      <a:xfrm>
                        <a:off x="2743200" y="1447800"/>
                        <a:ext cx="1066800" cy="152400"/>
                        <a:chOff x="914400" y="1447800"/>
                        <a:chExt cx="1066800" cy="152400"/>
                      </a:xfrm>
                    </p:grpSpPr>
                    <p:sp>
                      <p:nvSpPr>
                        <p:cNvPr id="291" name="Oval 290"/>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2" name="Oval 291"/>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04" name="Group 61"/>
                    <p:cNvGrpSpPr/>
                    <p:nvPr/>
                  </p:nvGrpSpPr>
                  <p:grpSpPr>
                    <a:xfrm>
                      <a:off x="914400" y="1447800"/>
                      <a:ext cx="2895600" cy="152400"/>
                      <a:chOff x="914400" y="1447800"/>
                      <a:chExt cx="2895600" cy="152400"/>
                    </a:xfrm>
                  </p:grpSpPr>
                  <p:grpSp>
                    <p:nvGrpSpPr>
                      <p:cNvPr id="105" name="Group 56"/>
                      <p:cNvGrpSpPr/>
                      <p:nvPr/>
                    </p:nvGrpSpPr>
                    <p:grpSpPr>
                      <a:xfrm>
                        <a:off x="914400" y="1447800"/>
                        <a:ext cx="1066800" cy="152400"/>
                        <a:chOff x="914400" y="1447800"/>
                        <a:chExt cx="1066800" cy="152400"/>
                      </a:xfrm>
                    </p:grpSpPr>
                    <p:sp>
                      <p:nvSpPr>
                        <p:cNvPr id="287" name="Oval 286"/>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8" name="Oval 287"/>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6" name="Group 57"/>
                      <p:cNvGrpSpPr/>
                      <p:nvPr/>
                    </p:nvGrpSpPr>
                    <p:grpSpPr>
                      <a:xfrm>
                        <a:off x="2743200" y="1447800"/>
                        <a:ext cx="1066800" cy="152400"/>
                        <a:chOff x="914400" y="1447800"/>
                        <a:chExt cx="1066800" cy="152400"/>
                      </a:xfrm>
                    </p:grpSpPr>
                    <p:sp>
                      <p:nvSpPr>
                        <p:cNvPr id="285" name="Oval 284"/>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6" name="Oval 285"/>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grpSp>
              <p:nvGrpSpPr>
                <p:cNvPr id="111" name="Group 85"/>
                <p:cNvGrpSpPr/>
                <p:nvPr/>
              </p:nvGrpSpPr>
              <p:grpSpPr>
                <a:xfrm>
                  <a:off x="4572000" y="1447800"/>
                  <a:ext cx="2895600" cy="2895600"/>
                  <a:chOff x="914400" y="1447800"/>
                  <a:chExt cx="2895600" cy="2895600"/>
                </a:xfrm>
              </p:grpSpPr>
              <p:grpSp>
                <p:nvGrpSpPr>
                  <p:cNvPr id="112" name="Group 248"/>
                  <p:cNvGrpSpPr/>
                  <p:nvPr/>
                </p:nvGrpSpPr>
                <p:grpSpPr>
                  <a:xfrm>
                    <a:off x="914400" y="1447800"/>
                    <a:ext cx="2895600" cy="1066800"/>
                    <a:chOff x="914400" y="1447800"/>
                    <a:chExt cx="2895600" cy="1066800"/>
                  </a:xfrm>
                </p:grpSpPr>
                <p:grpSp>
                  <p:nvGrpSpPr>
                    <p:cNvPr id="117" name="Group 60"/>
                    <p:cNvGrpSpPr/>
                    <p:nvPr/>
                  </p:nvGrpSpPr>
                  <p:grpSpPr>
                    <a:xfrm>
                      <a:off x="914400" y="2362200"/>
                      <a:ext cx="2895600" cy="152400"/>
                      <a:chOff x="914400" y="1447800"/>
                      <a:chExt cx="2895600" cy="152400"/>
                    </a:xfrm>
                  </p:grpSpPr>
                  <p:grpSp>
                    <p:nvGrpSpPr>
                      <p:cNvPr id="118" name="Group 56"/>
                      <p:cNvGrpSpPr/>
                      <p:nvPr/>
                    </p:nvGrpSpPr>
                    <p:grpSpPr>
                      <a:xfrm>
                        <a:off x="914400" y="1447800"/>
                        <a:ext cx="1066800" cy="152400"/>
                        <a:chOff x="914400" y="1447800"/>
                        <a:chExt cx="1066800" cy="152400"/>
                      </a:xfrm>
                    </p:grpSpPr>
                    <p:sp>
                      <p:nvSpPr>
                        <p:cNvPr id="277" name="Oval 276"/>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8" name="Oval 277"/>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9" name="Group 57"/>
                      <p:cNvGrpSpPr/>
                      <p:nvPr/>
                    </p:nvGrpSpPr>
                    <p:grpSpPr>
                      <a:xfrm>
                        <a:off x="2743200" y="1447800"/>
                        <a:ext cx="1066800" cy="152400"/>
                        <a:chOff x="914400" y="1447800"/>
                        <a:chExt cx="1066800" cy="152400"/>
                      </a:xfrm>
                    </p:grpSpPr>
                    <p:sp>
                      <p:nvSpPr>
                        <p:cNvPr id="275" name="Oval 274"/>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6" name="Oval 275"/>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20" name="Group 61"/>
                    <p:cNvGrpSpPr/>
                    <p:nvPr/>
                  </p:nvGrpSpPr>
                  <p:grpSpPr>
                    <a:xfrm>
                      <a:off x="914400" y="1447800"/>
                      <a:ext cx="2895600" cy="152400"/>
                      <a:chOff x="914400" y="1447800"/>
                      <a:chExt cx="2895600" cy="152400"/>
                    </a:xfrm>
                  </p:grpSpPr>
                  <p:grpSp>
                    <p:nvGrpSpPr>
                      <p:cNvPr id="121" name="Group 56"/>
                      <p:cNvGrpSpPr/>
                      <p:nvPr/>
                    </p:nvGrpSpPr>
                    <p:grpSpPr>
                      <a:xfrm>
                        <a:off x="914400" y="1447800"/>
                        <a:ext cx="1066800" cy="152400"/>
                        <a:chOff x="914400" y="1447800"/>
                        <a:chExt cx="1066800" cy="152400"/>
                      </a:xfrm>
                    </p:grpSpPr>
                    <p:sp>
                      <p:nvSpPr>
                        <p:cNvPr id="271" name="Oval 270"/>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2" name="Oval 271"/>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22" name="Group 57"/>
                      <p:cNvGrpSpPr/>
                      <p:nvPr/>
                    </p:nvGrpSpPr>
                    <p:grpSpPr>
                      <a:xfrm>
                        <a:off x="2743200" y="1447800"/>
                        <a:ext cx="1066800" cy="152400"/>
                        <a:chOff x="914400" y="1447800"/>
                        <a:chExt cx="1066800" cy="152400"/>
                      </a:xfrm>
                    </p:grpSpPr>
                    <p:sp>
                      <p:nvSpPr>
                        <p:cNvPr id="269" name="Oval 268"/>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0" name="Oval 269"/>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nvGrpSpPr>
                  <p:cNvPr id="123" name="Group 249"/>
                  <p:cNvGrpSpPr/>
                  <p:nvPr/>
                </p:nvGrpSpPr>
                <p:grpSpPr>
                  <a:xfrm>
                    <a:off x="914400" y="3276600"/>
                    <a:ext cx="2895600" cy="1066800"/>
                    <a:chOff x="914400" y="1447800"/>
                    <a:chExt cx="2895600" cy="1066800"/>
                  </a:xfrm>
                </p:grpSpPr>
                <p:grpSp>
                  <p:nvGrpSpPr>
                    <p:cNvPr id="124" name="Group 60"/>
                    <p:cNvGrpSpPr/>
                    <p:nvPr/>
                  </p:nvGrpSpPr>
                  <p:grpSpPr>
                    <a:xfrm>
                      <a:off x="914400" y="2362200"/>
                      <a:ext cx="2895600" cy="152400"/>
                      <a:chOff x="914400" y="1447800"/>
                      <a:chExt cx="2895600" cy="152400"/>
                    </a:xfrm>
                  </p:grpSpPr>
                  <p:grpSp>
                    <p:nvGrpSpPr>
                      <p:cNvPr id="125" name="Group 56"/>
                      <p:cNvGrpSpPr/>
                      <p:nvPr/>
                    </p:nvGrpSpPr>
                    <p:grpSpPr>
                      <a:xfrm>
                        <a:off x="914400" y="1447800"/>
                        <a:ext cx="1066800" cy="152400"/>
                        <a:chOff x="914400" y="1447800"/>
                        <a:chExt cx="1066800" cy="152400"/>
                      </a:xfrm>
                    </p:grpSpPr>
                    <p:sp>
                      <p:nvSpPr>
                        <p:cNvPr id="263" name="Oval 26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4" name="Oval 26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26" name="Group 57"/>
                      <p:cNvGrpSpPr/>
                      <p:nvPr/>
                    </p:nvGrpSpPr>
                    <p:grpSpPr>
                      <a:xfrm>
                        <a:off x="2743200" y="1447800"/>
                        <a:ext cx="1066800" cy="152400"/>
                        <a:chOff x="914400" y="1447800"/>
                        <a:chExt cx="1066800" cy="152400"/>
                      </a:xfrm>
                    </p:grpSpPr>
                    <p:sp>
                      <p:nvSpPr>
                        <p:cNvPr id="261" name="Oval 260"/>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2" name="Oval 261"/>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31" name="Group 61"/>
                    <p:cNvGrpSpPr/>
                    <p:nvPr/>
                  </p:nvGrpSpPr>
                  <p:grpSpPr>
                    <a:xfrm>
                      <a:off x="914400" y="1447800"/>
                      <a:ext cx="2895600" cy="152400"/>
                      <a:chOff x="914400" y="1447800"/>
                      <a:chExt cx="2895600" cy="152400"/>
                    </a:xfrm>
                  </p:grpSpPr>
                  <p:grpSp>
                    <p:nvGrpSpPr>
                      <p:cNvPr id="132" name="Group 56"/>
                      <p:cNvGrpSpPr/>
                      <p:nvPr/>
                    </p:nvGrpSpPr>
                    <p:grpSpPr>
                      <a:xfrm>
                        <a:off x="914400" y="1447800"/>
                        <a:ext cx="1066800" cy="152400"/>
                        <a:chOff x="914400" y="1447800"/>
                        <a:chExt cx="1066800" cy="152400"/>
                      </a:xfrm>
                    </p:grpSpPr>
                    <p:sp>
                      <p:nvSpPr>
                        <p:cNvPr id="257" name="Oval 256"/>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8" name="Oval 257"/>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7" name="Group 57"/>
                      <p:cNvGrpSpPr/>
                      <p:nvPr/>
                    </p:nvGrpSpPr>
                    <p:grpSpPr>
                      <a:xfrm>
                        <a:off x="2743200" y="1447800"/>
                        <a:ext cx="1066800" cy="152400"/>
                        <a:chOff x="914400" y="1447800"/>
                        <a:chExt cx="1066800" cy="152400"/>
                      </a:xfrm>
                    </p:grpSpPr>
                    <p:sp>
                      <p:nvSpPr>
                        <p:cNvPr id="255" name="Oval 254"/>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6" name="Oval 255"/>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grpSp>
          <p:grpSp>
            <p:nvGrpSpPr>
              <p:cNvPr id="138" name="Group 117"/>
              <p:cNvGrpSpPr/>
              <p:nvPr/>
            </p:nvGrpSpPr>
            <p:grpSpPr>
              <a:xfrm>
                <a:off x="8229600" y="1447800"/>
                <a:ext cx="6553200" cy="2895600"/>
                <a:chOff x="914400" y="1447800"/>
                <a:chExt cx="6553200" cy="2895600"/>
              </a:xfrm>
            </p:grpSpPr>
            <p:grpSp>
              <p:nvGrpSpPr>
                <p:cNvPr id="139" name="Group 84"/>
                <p:cNvGrpSpPr/>
                <p:nvPr/>
              </p:nvGrpSpPr>
              <p:grpSpPr>
                <a:xfrm>
                  <a:off x="914400" y="1447800"/>
                  <a:ext cx="2895600" cy="2895600"/>
                  <a:chOff x="914400" y="1447800"/>
                  <a:chExt cx="2895600" cy="2895600"/>
                </a:xfrm>
              </p:grpSpPr>
              <p:grpSp>
                <p:nvGrpSpPr>
                  <p:cNvPr id="140" name="Group 68"/>
                  <p:cNvGrpSpPr/>
                  <p:nvPr/>
                </p:nvGrpSpPr>
                <p:grpSpPr>
                  <a:xfrm>
                    <a:off x="914400" y="1447800"/>
                    <a:ext cx="2895600" cy="1066800"/>
                    <a:chOff x="914400" y="1447800"/>
                    <a:chExt cx="2895600" cy="1066800"/>
                  </a:xfrm>
                </p:grpSpPr>
                <p:grpSp>
                  <p:nvGrpSpPr>
                    <p:cNvPr id="145" name="Group 60"/>
                    <p:cNvGrpSpPr/>
                    <p:nvPr/>
                  </p:nvGrpSpPr>
                  <p:grpSpPr>
                    <a:xfrm>
                      <a:off x="914400" y="2362200"/>
                      <a:ext cx="2895600" cy="152400"/>
                      <a:chOff x="914400" y="1447800"/>
                      <a:chExt cx="2895600" cy="152400"/>
                    </a:xfrm>
                  </p:grpSpPr>
                  <p:grpSp>
                    <p:nvGrpSpPr>
                      <p:cNvPr id="146" name="Group 56"/>
                      <p:cNvGrpSpPr/>
                      <p:nvPr/>
                    </p:nvGrpSpPr>
                    <p:grpSpPr>
                      <a:xfrm>
                        <a:off x="914400" y="1447800"/>
                        <a:ext cx="1066800" cy="152400"/>
                        <a:chOff x="914400" y="1447800"/>
                        <a:chExt cx="1066800" cy="152400"/>
                      </a:xfrm>
                    </p:grpSpPr>
                    <p:sp>
                      <p:nvSpPr>
                        <p:cNvPr id="245" name="Oval 5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6" name="Oval 5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51" name="Group 57"/>
                      <p:cNvGrpSpPr/>
                      <p:nvPr/>
                    </p:nvGrpSpPr>
                    <p:grpSpPr>
                      <a:xfrm>
                        <a:off x="2743200" y="1447800"/>
                        <a:ext cx="1066800" cy="152400"/>
                        <a:chOff x="914400" y="1447800"/>
                        <a:chExt cx="1066800" cy="152400"/>
                      </a:xfrm>
                    </p:grpSpPr>
                    <p:sp>
                      <p:nvSpPr>
                        <p:cNvPr id="243" name="Oval 58"/>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4" name="Oval 59"/>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52" name="Group 61"/>
                    <p:cNvGrpSpPr/>
                    <p:nvPr/>
                  </p:nvGrpSpPr>
                  <p:grpSpPr>
                    <a:xfrm>
                      <a:off x="914400" y="1447800"/>
                      <a:ext cx="2895600" cy="152400"/>
                      <a:chOff x="914400" y="1447800"/>
                      <a:chExt cx="2895600" cy="152400"/>
                    </a:xfrm>
                  </p:grpSpPr>
                  <p:grpSp>
                    <p:nvGrpSpPr>
                      <p:cNvPr id="153" name="Group 56"/>
                      <p:cNvGrpSpPr/>
                      <p:nvPr/>
                    </p:nvGrpSpPr>
                    <p:grpSpPr>
                      <a:xfrm>
                        <a:off x="914400" y="1447800"/>
                        <a:ext cx="1066800" cy="152400"/>
                        <a:chOff x="914400" y="1447800"/>
                        <a:chExt cx="1066800" cy="152400"/>
                      </a:xfrm>
                    </p:grpSpPr>
                    <p:sp>
                      <p:nvSpPr>
                        <p:cNvPr id="239" name="Oval 238"/>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0" name="Oval 239"/>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54" name="Group 57"/>
                      <p:cNvGrpSpPr/>
                      <p:nvPr/>
                    </p:nvGrpSpPr>
                    <p:grpSpPr>
                      <a:xfrm>
                        <a:off x="2743200" y="1447800"/>
                        <a:ext cx="1066800" cy="152400"/>
                        <a:chOff x="914400" y="1447800"/>
                        <a:chExt cx="1066800" cy="152400"/>
                      </a:xfrm>
                    </p:grpSpPr>
                    <p:sp>
                      <p:nvSpPr>
                        <p:cNvPr id="237" name="Oval 236"/>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8" name="Oval 237"/>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nvGrpSpPr>
                  <p:cNvPr id="155" name="Group 69"/>
                  <p:cNvGrpSpPr/>
                  <p:nvPr/>
                </p:nvGrpSpPr>
                <p:grpSpPr>
                  <a:xfrm>
                    <a:off x="914400" y="3276600"/>
                    <a:ext cx="2895600" cy="1066800"/>
                    <a:chOff x="914400" y="1447800"/>
                    <a:chExt cx="2895600" cy="1066800"/>
                  </a:xfrm>
                </p:grpSpPr>
                <p:grpSp>
                  <p:nvGrpSpPr>
                    <p:cNvPr id="156" name="Group 60"/>
                    <p:cNvGrpSpPr/>
                    <p:nvPr/>
                  </p:nvGrpSpPr>
                  <p:grpSpPr>
                    <a:xfrm>
                      <a:off x="914400" y="2362200"/>
                      <a:ext cx="2895600" cy="152400"/>
                      <a:chOff x="914400" y="1447800"/>
                      <a:chExt cx="2895600" cy="152400"/>
                    </a:xfrm>
                  </p:grpSpPr>
                  <p:grpSp>
                    <p:nvGrpSpPr>
                      <p:cNvPr id="161" name="Group 56"/>
                      <p:cNvGrpSpPr/>
                      <p:nvPr/>
                    </p:nvGrpSpPr>
                    <p:grpSpPr>
                      <a:xfrm>
                        <a:off x="914400" y="1447800"/>
                        <a:ext cx="1066800" cy="152400"/>
                        <a:chOff x="914400" y="1447800"/>
                        <a:chExt cx="1066800" cy="152400"/>
                      </a:xfrm>
                    </p:grpSpPr>
                    <p:sp>
                      <p:nvSpPr>
                        <p:cNvPr id="231" name="Oval 230"/>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2" name="Oval 231"/>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2" name="Group 57"/>
                      <p:cNvGrpSpPr/>
                      <p:nvPr/>
                    </p:nvGrpSpPr>
                    <p:grpSpPr>
                      <a:xfrm>
                        <a:off x="2743200" y="1447800"/>
                        <a:ext cx="1066800" cy="152400"/>
                        <a:chOff x="914400" y="1447800"/>
                        <a:chExt cx="1066800" cy="152400"/>
                      </a:xfrm>
                    </p:grpSpPr>
                    <p:sp>
                      <p:nvSpPr>
                        <p:cNvPr id="229" name="Oval 228"/>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0" name="Oval 229"/>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67" name="Group 61"/>
                    <p:cNvGrpSpPr/>
                    <p:nvPr/>
                  </p:nvGrpSpPr>
                  <p:grpSpPr>
                    <a:xfrm>
                      <a:off x="914400" y="1447800"/>
                      <a:ext cx="2895600" cy="152400"/>
                      <a:chOff x="914400" y="1447800"/>
                      <a:chExt cx="2895600" cy="152400"/>
                    </a:xfrm>
                  </p:grpSpPr>
                  <p:grpSp>
                    <p:nvGrpSpPr>
                      <p:cNvPr id="168" name="Group 56"/>
                      <p:cNvGrpSpPr/>
                      <p:nvPr/>
                    </p:nvGrpSpPr>
                    <p:grpSpPr>
                      <a:xfrm>
                        <a:off x="914400" y="1447800"/>
                        <a:ext cx="1066800" cy="152400"/>
                        <a:chOff x="914400" y="1447800"/>
                        <a:chExt cx="1066800" cy="152400"/>
                      </a:xfrm>
                    </p:grpSpPr>
                    <p:sp>
                      <p:nvSpPr>
                        <p:cNvPr id="225" name="Oval 224"/>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6" name="Oval 225"/>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9" name="Group 57"/>
                      <p:cNvGrpSpPr/>
                      <p:nvPr/>
                    </p:nvGrpSpPr>
                    <p:grpSpPr>
                      <a:xfrm>
                        <a:off x="2743200" y="1447800"/>
                        <a:ext cx="1066800" cy="152400"/>
                        <a:chOff x="914400" y="1447800"/>
                        <a:chExt cx="1066800" cy="152400"/>
                      </a:xfrm>
                    </p:grpSpPr>
                    <p:sp>
                      <p:nvSpPr>
                        <p:cNvPr id="223" name="Oval 22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4" name="Oval 22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grpSp>
              <p:nvGrpSpPr>
                <p:cNvPr id="170" name="Group 85"/>
                <p:cNvGrpSpPr/>
                <p:nvPr/>
              </p:nvGrpSpPr>
              <p:grpSpPr>
                <a:xfrm>
                  <a:off x="4572000" y="1447800"/>
                  <a:ext cx="2895600" cy="2895600"/>
                  <a:chOff x="914400" y="1447800"/>
                  <a:chExt cx="2895600" cy="2895600"/>
                </a:xfrm>
              </p:grpSpPr>
              <p:grpSp>
                <p:nvGrpSpPr>
                  <p:cNvPr id="175" name="Group 68"/>
                  <p:cNvGrpSpPr/>
                  <p:nvPr/>
                </p:nvGrpSpPr>
                <p:grpSpPr>
                  <a:xfrm>
                    <a:off x="914400" y="1447800"/>
                    <a:ext cx="2895600" cy="1066800"/>
                    <a:chOff x="914400" y="1447800"/>
                    <a:chExt cx="2895600" cy="1066800"/>
                  </a:xfrm>
                </p:grpSpPr>
                <p:grpSp>
                  <p:nvGrpSpPr>
                    <p:cNvPr id="176" name="Group 60"/>
                    <p:cNvGrpSpPr/>
                    <p:nvPr/>
                  </p:nvGrpSpPr>
                  <p:grpSpPr>
                    <a:xfrm>
                      <a:off x="914400" y="2362200"/>
                      <a:ext cx="2895600" cy="152400"/>
                      <a:chOff x="914400" y="1447800"/>
                      <a:chExt cx="2895600" cy="152400"/>
                    </a:xfrm>
                  </p:grpSpPr>
                  <p:grpSp>
                    <p:nvGrpSpPr>
                      <p:cNvPr id="181" name="Group 56"/>
                      <p:cNvGrpSpPr/>
                      <p:nvPr/>
                    </p:nvGrpSpPr>
                    <p:grpSpPr>
                      <a:xfrm>
                        <a:off x="914400" y="1447800"/>
                        <a:ext cx="1066800" cy="152400"/>
                        <a:chOff x="914400" y="1447800"/>
                        <a:chExt cx="1066800" cy="152400"/>
                      </a:xfrm>
                    </p:grpSpPr>
                    <p:sp>
                      <p:nvSpPr>
                        <p:cNvPr id="215" name="Oval 214"/>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6" name="Oval 215"/>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2" name="Group 57"/>
                      <p:cNvGrpSpPr/>
                      <p:nvPr/>
                    </p:nvGrpSpPr>
                    <p:grpSpPr>
                      <a:xfrm>
                        <a:off x="2743200" y="1447800"/>
                        <a:ext cx="1066800" cy="152400"/>
                        <a:chOff x="914400" y="1447800"/>
                        <a:chExt cx="1066800" cy="152400"/>
                      </a:xfrm>
                    </p:grpSpPr>
                    <p:sp>
                      <p:nvSpPr>
                        <p:cNvPr id="213" name="Oval 21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4" name="Oval 21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83" name="Group 61"/>
                    <p:cNvGrpSpPr/>
                    <p:nvPr/>
                  </p:nvGrpSpPr>
                  <p:grpSpPr>
                    <a:xfrm>
                      <a:off x="914400" y="1447800"/>
                      <a:ext cx="2895600" cy="152400"/>
                      <a:chOff x="914400" y="1447800"/>
                      <a:chExt cx="2895600" cy="152400"/>
                    </a:xfrm>
                  </p:grpSpPr>
                  <p:grpSp>
                    <p:nvGrpSpPr>
                      <p:cNvPr id="184" name="Group 56"/>
                      <p:cNvGrpSpPr/>
                      <p:nvPr/>
                    </p:nvGrpSpPr>
                    <p:grpSpPr>
                      <a:xfrm>
                        <a:off x="914400" y="1447800"/>
                        <a:ext cx="1066800" cy="152400"/>
                        <a:chOff x="914400" y="1447800"/>
                        <a:chExt cx="1066800" cy="152400"/>
                      </a:xfrm>
                    </p:grpSpPr>
                    <p:sp>
                      <p:nvSpPr>
                        <p:cNvPr id="209" name="Oval 208"/>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0" name="Oval 209"/>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5" name="Group 57"/>
                      <p:cNvGrpSpPr/>
                      <p:nvPr/>
                    </p:nvGrpSpPr>
                    <p:grpSpPr>
                      <a:xfrm>
                        <a:off x="2743200" y="1447800"/>
                        <a:ext cx="1066800" cy="152400"/>
                        <a:chOff x="914400" y="1447800"/>
                        <a:chExt cx="1066800" cy="152400"/>
                      </a:xfrm>
                    </p:grpSpPr>
                    <p:sp>
                      <p:nvSpPr>
                        <p:cNvPr id="207" name="Oval 206"/>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8" name="Oval 207"/>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nvGrpSpPr>
                  <p:cNvPr id="186" name="Group 69"/>
                  <p:cNvGrpSpPr/>
                  <p:nvPr/>
                </p:nvGrpSpPr>
                <p:grpSpPr>
                  <a:xfrm>
                    <a:off x="914400" y="3276600"/>
                    <a:ext cx="2895600" cy="1066800"/>
                    <a:chOff x="914400" y="1447800"/>
                    <a:chExt cx="2895600" cy="1066800"/>
                  </a:xfrm>
                </p:grpSpPr>
                <p:grpSp>
                  <p:nvGrpSpPr>
                    <p:cNvPr id="187" name="Group 60"/>
                    <p:cNvGrpSpPr/>
                    <p:nvPr/>
                  </p:nvGrpSpPr>
                  <p:grpSpPr>
                    <a:xfrm>
                      <a:off x="914400" y="2362200"/>
                      <a:ext cx="2895600" cy="152400"/>
                      <a:chOff x="914400" y="1447800"/>
                      <a:chExt cx="2895600" cy="152400"/>
                    </a:xfrm>
                  </p:grpSpPr>
                  <p:grpSp>
                    <p:nvGrpSpPr>
                      <p:cNvPr id="188" name="Group 56"/>
                      <p:cNvGrpSpPr/>
                      <p:nvPr/>
                    </p:nvGrpSpPr>
                    <p:grpSpPr>
                      <a:xfrm>
                        <a:off x="914400" y="1447800"/>
                        <a:ext cx="1066800" cy="152400"/>
                        <a:chOff x="914400" y="1447800"/>
                        <a:chExt cx="1066800" cy="152400"/>
                      </a:xfrm>
                    </p:grpSpPr>
                    <p:sp>
                      <p:nvSpPr>
                        <p:cNvPr id="201" name="Oval 200"/>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2" name="Oval 201"/>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9" name="Group 57"/>
                      <p:cNvGrpSpPr/>
                      <p:nvPr/>
                    </p:nvGrpSpPr>
                    <p:grpSpPr>
                      <a:xfrm>
                        <a:off x="2743200" y="1447800"/>
                        <a:ext cx="1066800" cy="152400"/>
                        <a:chOff x="914400" y="1447800"/>
                        <a:chExt cx="1066800" cy="152400"/>
                      </a:xfrm>
                    </p:grpSpPr>
                    <p:sp>
                      <p:nvSpPr>
                        <p:cNvPr id="199" name="Oval 198"/>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0" name="Oval 199"/>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90" name="Group 61"/>
                    <p:cNvGrpSpPr/>
                    <p:nvPr/>
                  </p:nvGrpSpPr>
                  <p:grpSpPr>
                    <a:xfrm>
                      <a:off x="914400" y="1447800"/>
                      <a:ext cx="2895600" cy="152400"/>
                      <a:chOff x="914400" y="1447800"/>
                      <a:chExt cx="2895600" cy="152400"/>
                    </a:xfrm>
                  </p:grpSpPr>
                  <p:grpSp>
                    <p:nvGrpSpPr>
                      <p:cNvPr id="191" name="Group 56"/>
                      <p:cNvGrpSpPr/>
                      <p:nvPr/>
                    </p:nvGrpSpPr>
                    <p:grpSpPr>
                      <a:xfrm>
                        <a:off x="914400" y="1447800"/>
                        <a:ext cx="1066800" cy="152400"/>
                        <a:chOff x="914400" y="1447800"/>
                        <a:chExt cx="1066800" cy="152400"/>
                      </a:xfrm>
                    </p:grpSpPr>
                    <p:sp>
                      <p:nvSpPr>
                        <p:cNvPr id="195" name="Oval 194"/>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6" name="Oval 195"/>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92" name="Group 57"/>
                      <p:cNvGrpSpPr/>
                      <p:nvPr/>
                    </p:nvGrpSpPr>
                    <p:grpSpPr>
                      <a:xfrm>
                        <a:off x="2743200" y="1447800"/>
                        <a:ext cx="1066800" cy="152400"/>
                        <a:chOff x="914400" y="1447800"/>
                        <a:chExt cx="1066800" cy="152400"/>
                      </a:xfrm>
                    </p:grpSpPr>
                    <p:sp>
                      <p:nvSpPr>
                        <p:cNvPr id="193" name="Oval 19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 name="Oval 19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grpSp>
        </p:grpSp>
      </p:grpSp>
    </p:spTree>
  </p:cSld>
  <p:clrMapOvr>
    <a:masterClrMapping/>
  </p:clrMapOvr>
  <p:timing>
    <p:tnLst>
      <p:par>
        <p:cTn xmlns:p14="http://schemas.microsoft.com/office/powerpoint/2010/mai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1" name="Isosceles Triangle 520"/>
          <p:cNvSpPr/>
          <p:nvPr/>
        </p:nvSpPr>
        <p:spPr>
          <a:xfrm>
            <a:off x="990600" y="3657600"/>
            <a:ext cx="609600" cy="457200"/>
          </a:xfrm>
          <a:prstGeom prst="triangle">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 308"/>
          <p:cNvGrpSpPr/>
          <p:nvPr/>
        </p:nvGrpSpPr>
        <p:grpSpPr>
          <a:xfrm>
            <a:off x="762000" y="2895600"/>
            <a:ext cx="8077200" cy="1219200"/>
            <a:chOff x="-9144000" y="1447800"/>
            <a:chExt cx="28498800" cy="2895600"/>
          </a:xfrm>
        </p:grpSpPr>
        <p:grpSp>
          <p:nvGrpSpPr>
            <p:cNvPr id="3" name="Group 180"/>
            <p:cNvGrpSpPr/>
            <p:nvPr/>
          </p:nvGrpSpPr>
          <p:grpSpPr>
            <a:xfrm>
              <a:off x="-9144000" y="1447800"/>
              <a:ext cx="13868400" cy="2895600"/>
              <a:chOff x="914400" y="1447800"/>
              <a:chExt cx="13868400" cy="2895600"/>
            </a:xfrm>
          </p:grpSpPr>
          <p:grpSp>
            <p:nvGrpSpPr>
              <p:cNvPr id="4" name="Group 116"/>
              <p:cNvGrpSpPr/>
              <p:nvPr/>
            </p:nvGrpSpPr>
            <p:grpSpPr>
              <a:xfrm>
                <a:off x="914400" y="1447800"/>
                <a:ext cx="6553200" cy="2895600"/>
                <a:chOff x="914400" y="1447800"/>
                <a:chExt cx="6553200" cy="2895600"/>
              </a:xfrm>
            </p:grpSpPr>
            <p:grpSp>
              <p:nvGrpSpPr>
                <p:cNvPr id="5" name="Group 84"/>
                <p:cNvGrpSpPr/>
                <p:nvPr/>
              </p:nvGrpSpPr>
              <p:grpSpPr>
                <a:xfrm>
                  <a:off x="914400" y="1447800"/>
                  <a:ext cx="2895600" cy="2895600"/>
                  <a:chOff x="914400" y="1447800"/>
                  <a:chExt cx="2895600" cy="2895600"/>
                </a:xfrm>
              </p:grpSpPr>
              <p:grpSp>
                <p:nvGrpSpPr>
                  <p:cNvPr id="6" name="Group 68"/>
                  <p:cNvGrpSpPr/>
                  <p:nvPr/>
                </p:nvGrpSpPr>
                <p:grpSpPr>
                  <a:xfrm>
                    <a:off x="914400" y="1447800"/>
                    <a:ext cx="2895600" cy="1066800"/>
                    <a:chOff x="914400" y="1447800"/>
                    <a:chExt cx="2895600" cy="1066800"/>
                  </a:xfrm>
                </p:grpSpPr>
                <p:grpSp>
                  <p:nvGrpSpPr>
                    <p:cNvPr id="7" name="Group 60"/>
                    <p:cNvGrpSpPr/>
                    <p:nvPr/>
                  </p:nvGrpSpPr>
                  <p:grpSpPr>
                    <a:xfrm>
                      <a:off x="914400" y="2362200"/>
                      <a:ext cx="2895600" cy="152400"/>
                      <a:chOff x="914400" y="1447800"/>
                      <a:chExt cx="2895600" cy="152400"/>
                    </a:xfrm>
                  </p:grpSpPr>
                  <p:grpSp>
                    <p:nvGrpSpPr>
                      <p:cNvPr id="8" name="Group 56"/>
                      <p:cNvGrpSpPr/>
                      <p:nvPr/>
                    </p:nvGrpSpPr>
                    <p:grpSpPr>
                      <a:xfrm>
                        <a:off x="914400" y="1447800"/>
                        <a:ext cx="1066800" cy="152400"/>
                        <a:chOff x="914400" y="1447800"/>
                        <a:chExt cx="1066800" cy="152400"/>
                      </a:xfrm>
                    </p:grpSpPr>
                    <p:sp>
                      <p:nvSpPr>
                        <p:cNvPr id="53" name="Oval 5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Oval 5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 name="Group 57"/>
                      <p:cNvGrpSpPr/>
                      <p:nvPr/>
                    </p:nvGrpSpPr>
                    <p:grpSpPr>
                      <a:xfrm>
                        <a:off x="2743200" y="1447800"/>
                        <a:ext cx="1066800" cy="152400"/>
                        <a:chOff x="914400" y="1447800"/>
                        <a:chExt cx="1066800" cy="152400"/>
                      </a:xfrm>
                    </p:grpSpPr>
                    <p:sp>
                      <p:nvSpPr>
                        <p:cNvPr id="59" name="Oval 58"/>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Oval 59"/>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0" name="Group 61"/>
                    <p:cNvGrpSpPr/>
                    <p:nvPr/>
                  </p:nvGrpSpPr>
                  <p:grpSpPr>
                    <a:xfrm>
                      <a:off x="914400" y="1447800"/>
                      <a:ext cx="2895600" cy="152400"/>
                      <a:chOff x="914400" y="1447800"/>
                      <a:chExt cx="2895600" cy="152400"/>
                    </a:xfrm>
                  </p:grpSpPr>
                  <p:grpSp>
                    <p:nvGrpSpPr>
                      <p:cNvPr id="11" name="Group 56"/>
                      <p:cNvGrpSpPr/>
                      <p:nvPr/>
                    </p:nvGrpSpPr>
                    <p:grpSpPr>
                      <a:xfrm>
                        <a:off x="914400" y="1447800"/>
                        <a:ext cx="1066800" cy="152400"/>
                        <a:chOff x="914400" y="1447800"/>
                        <a:chExt cx="1066800" cy="152400"/>
                      </a:xfrm>
                    </p:grpSpPr>
                    <p:sp>
                      <p:nvSpPr>
                        <p:cNvPr id="67" name="Oval 66"/>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Oval 67"/>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2" name="Group 57"/>
                      <p:cNvGrpSpPr/>
                      <p:nvPr/>
                    </p:nvGrpSpPr>
                    <p:grpSpPr>
                      <a:xfrm>
                        <a:off x="2743200" y="1447800"/>
                        <a:ext cx="1066800" cy="152400"/>
                        <a:chOff x="914400" y="1447800"/>
                        <a:chExt cx="1066800" cy="152400"/>
                      </a:xfrm>
                    </p:grpSpPr>
                    <p:sp>
                      <p:nvSpPr>
                        <p:cNvPr id="65" name="Oval 64"/>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Oval 65"/>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nvGrpSpPr>
                  <p:cNvPr id="13" name="Group 69"/>
                  <p:cNvGrpSpPr/>
                  <p:nvPr/>
                </p:nvGrpSpPr>
                <p:grpSpPr>
                  <a:xfrm>
                    <a:off x="914400" y="3276600"/>
                    <a:ext cx="2895600" cy="1066800"/>
                    <a:chOff x="914400" y="1447800"/>
                    <a:chExt cx="2895600" cy="1066800"/>
                  </a:xfrm>
                </p:grpSpPr>
                <p:grpSp>
                  <p:nvGrpSpPr>
                    <p:cNvPr id="14" name="Group 60"/>
                    <p:cNvGrpSpPr/>
                    <p:nvPr/>
                  </p:nvGrpSpPr>
                  <p:grpSpPr>
                    <a:xfrm>
                      <a:off x="914400" y="2362200"/>
                      <a:ext cx="2895600" cy="152400"/>
                      <a:chOff x="914400" y="1447800"/>
                      <a:chExt cx="2895600" cy="152400"/>
                    </a:xfrm>
                  </p:grpSpPr>
                  <p:grpSp>
                    <p:nvGrpSpPr>
                      <p:cNvPr id="15" name="Group 56"/>
                      <p:cNvGrpSpPr/>
                      <p:nvPr/>
                    </p:nvGrpSpPr>
                    <p:grpSpPr>
                      <a:xfrm>
                        <a:off x="914400" y="1447800"/>
                        <a:ext cx="1066800" cy="152400"/>
                        <a:chOff x="914400" y="1447800"/>
                        <a:chExt cx="1066800" cy="152400"/>
                      </a:xfrm>
                    </p:grpSpPr>
                    <p:sp>
                      <p:nvSpPr>
                        <p:cNvPr id="83" name="Oval 8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Oval 8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 name="Group 57"/>
                      <p:cNvGrpSpPr/>
                      <p:nvPr/>
                    </p:nvGrpSpPr>
                    <p:grpSpPr>
                      <a:xfrm>
                        <a:off x="2743200" y="1447800"/>
                        <a:ext cx="1066800" cy="152400"/>
                        <a:chOff x="914400" y="1447800"/>
                        <a:chExt cx="1066800" cy="152400"/>
                      </a:xfrm>
                    </p:grpSpPr>
                    <p:sp>
                      <p:nvSpPr>
                        <p:cNvPr id="81" name="Oval 80"/>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Oval 81"/>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7" name="Group 61"/>
                    <p:cNvGrpSpPr/>
                    <p:nvPr/>
                  </p:nvGrpSpPr>
                  <p:grpSpPr>
                    <a:xfrm>
                      <a:off x="914400" y="1447800"/>
                      <a:ext cx="2895600" cy="152400"/>
                      <a:chOff x="914400" y="1447800"/>
                      <a:chExt cx="2895600" cy="152400"/>
                    </a:xfrm>
                  </p:grpSpPr>
                  <p:grpSp>
                    <p:nvGrpSpPr>
                      <p:cNvPr id="18" name="Group 56"/>
                      <p:cNvGrpSpPr/>
                      <p:nvPr/>
                    </p:nvGrpSpPr>
                    <p:grpSpPr>
                      <a:xfrm>
                        <a:off x="914400" y="1447800"/>
                        <a:ext cx="1066800" cy="152400"/>
                        <a:chOff x="914400" y="1447800"/>
                        <a:chExt cx="1066800" cy="152400"/>
                      </a:xfrm>
                    </p:grpSpPr>
                    <p:sp>
                      <p:nvSpPr>
                        <p:cNvPr id="77" name="Oval 76"/>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Oval 77"/>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9" name="Group 57"/>
                      <p:cNvGrpSpPr/>
                      <p:nvPr/>
                    </p:nvGrpSpPr>
                    <p:grpSpPr>
                      <a:xfrm>
                        <a:off x="2743200" y="1447800"/>
                        <a:ext cx="1066800" cy="152400"/>
                        <a:chOff x="914400" y="1447800"/>
                        <a:chExt cx="1066800" cy="152400"/>
                      </a:xfrm>
                    </p:grpSpPr>
                    <p:sp>
                      <p:nvSpPr>
                        <p:cNvPr id="75" name="Oval 74"/>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Oval 75"/>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grpSp>
              <p:nvGrpSpPr>
                <p:cNvPr id="20" name="Group 85"/>
                <p:cNvGrpSpPr/>
                <p:nvPr/>
              </p:nvGrpSpPr>
              <p:grpSpPr>
                <a:xfrm>
                  <a:off x="4572000" y="1447800"/>
                  <a:ext cx="2895600" cy="2895600"/>
                  <a:chOff x="914400" y="1447800"/>
                  <a:chExt cx="2895600" cy="2895600"/>
                </a:xfrm>
              </p:grpSpPr>
              <p:grpSp>
                <p:nvGrpSpPr>
                  <p:cNvPr id="21" name="Group 68"/>
                  <p:cNvGrpSpPr/>
                  <p:nvPr/>
                </p:nvGrpSpPr>
                <p:grpSpPr>
                  <a:xfrm>
                    <a:off x="914400" y="1447800"/>
                    <a:ext cx="2895600" cy="1066800"/>
                    <a:chOff x="914400" y="1447800"/>
                    <a:chExt cx="2895600" cy="1066800"/>
                  </a:xfrm>
                </p:grpSpPr>
                <p:grpSp>
                  <p:nvGrpSpPr>
                    <p:cNvPr id="22" name="Group 60"/>
                    <p:cNvGrpSpPr/>
                    <p:nvPr/>
                  </p:nvGrpSpPr>
                  <p:grpSpPr>
                    <a:xfrm>
                      <a:off x="914400" y="2362200"/>
                      <a:ext cx="2895600" cy="152400"/>
                      <a:chOff x="914400" y="1447800"/>
                      <a:chExt cx="2895600" cy="152400"/>
                    </a:xfrm>
                  </p:grpSpPr>
                  <p:grpSp>
                    <p:nvGrpSpPr>
                      <p:cNvPr id="23" name="Group 56"/>
                      <p:cNvGrpSpPr/>
                      <p:nvPr/>
                    </p:nvGrpSpPr>
                    <p:grpSpPr>
                      <a:xfrm>
                        <a:off x="914400" y="1447800"/>
                        <a:ext cx="1066800" cy="152400"/>
                        <a:chOff x="914400" y="1447800"/>
                        <a:chExt cx="1066800" cy="152400"/>
                      </a:xfrm>
                    </p:grpSpPr>
                    <p:sp>
                      <p:nvSpPr>
                        <p:cNvPr id="115" name="Oval 114"/>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 name="Oval 115"/>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4" name="Group 57"/>
                      <p:cNvGrpSpPr/>
                      <p:nvPr/>
                    </p:nvGrpSpPr>
                    <p:grpSpPr>
                      <a:xfrm>
                        <a:off x="2743200" y="1447800"/>
                        <a:ext cx="1066800" cy="152400"/>
                        <a:chOff x="914400" y="1447800"/>
                        <a:chExt cx="1066800" cy="152400"/>
                      </a:xfrm>
                    </p:grpSpPr>
                    <p:sp>
                      <p:nvSpPr>
                        <p:cNvPr id="113" name="Oval 11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Oval 11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25" name="Group 61"/>
                    <p:cNvGrpSpPr/>
                    <p:nvPr/>
                  </p:nvGrpSpPr>
                  <p:grpSpPr>
                    <a:xfrm>
                      <a:off x="914400" y="1447800"/>
                      <a:ext cx="2895600" cy="152400"/>
                      <a:chOff x="914400" y="1447800"/>
                      <a:chExt cx="2895600" cy="152400"/>
                    </a:xfrm>
                  </p:grpSpPr>
                  <p:grpSp>
                    <p:nvGrpSpPr>
                      <p:cNvPr id="26" name="Group 56"/>
                      <p:cNvGrpSpPr/>
                      <p:nvPr/>
                    </p:nvGrpSpPr>
                    <p:grpSpPr>
                      <a:xfrm>
                        <a:off x="914400" y="1447800"/>
                        <a:ext cx="1066800" cy="152400"/>
                        <a:chOff x="914400" y="1447800"/>
                        <a:chExt cx="1066800" cy="152400"/>
                      </a:xfrm>
                    </p:grpSpPr>
                    <p:sp>
                      <p:nvSpPr>
                        <p:cNvPr id="109" name="Oval 108"/>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Oval 109"/>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7" name="Group 57"/>
                      <p:cNvGrpSpPr/>
                      <p:nvPr/>
                    </p:nvGrpSpPr>
                    <p:grpSpPr>
                      <a:xfrm>
                        <a:off x="2743200" y="1447800"/>
                        <a:ext cx="1066800" cy="152400"/>
                        <a:chOff x="914400" y="1447800"/>
                        <a:chExt cx="1066800" cy="152400"/>
                      </a:xfrm>
                    </p:grpSpPr>
                    <p:sp>
                      <p:nvSpPr>
                        <p:cNvPr id="107" name="Oval 106"/>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Oval 107"/>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nvGrpSpPr>
                  <p:cNvPr id="28" name="Group 69"/>
                  <p:cNvGrpSpPr/>
                  <p:nvPr/>
                </p:nvGrpSpPr>
                <p:grpSpPr>
                  <a:xfrm>
                    <a:off x="914400" y="3276600"/>
                    <a:ext cx="2895600" cy="1066800"/>
                    <a:chOff x="914400" y="1447800"/>
                    <a:chExt cx="2895600" cy="1066800"/>
                  </a:xfrm>
                </p:grpSpPr>
                <p:grpSp>
                  <p:nvGrpSpPr>
                    <p:cNvPr id="29" name="Group 60"/>
                    <p:cNvGrpSpPr/>
                    <p:nvPr/>
                  </p:nvGrpSpPr>
                  <p:grpSpPr>
                    <a:xfrm>
                      <a:off x="914400" y="2362200"/>
                      <a:ext cx="2895600" cy="152400"/>
                      <a:chOff x="914400" y="1447800"/>
                      <a:chExt cx="2895600" cy="152400"/>
                    </a:xfrm>
                  </p:grpSpPr>
                  <p:grpSp>
                    <p:nvGrpSpPr>
                      <p:cNvPr id="30" name="Group 56"/>
                      <p:cNvGrpSpPr/>
                      <p:nvPr/>
                    </p:nvGrpSpPr>
                    <p:grpSpPr>
                      <a:xfrm>
                        <a:off x="914400" y="1447800"/>
                        <a:ext cx="1066800" cy="152400"/>
                        <a:chOff x="914400" y="1447800"/>
                        <a:chExt cx="1066800" cy="152400"/>
                      </a:xfrm>
                    </p:grpSpPr>
                    <p:sp>
                      <p:nvSpPr>
                        <p:cNvPr id="101" name="Oval 100"/>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Oval 101"/>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1" name="Group 57"/>
                      <p:cNvGrpSpPr/>
                      <p:nvPr/>
                    </p:nvGrpSpPr>
                    <p:grpSpPr>
                      <a:xfrm>
                        <a:off x="2743200" y="1447800"/>
                        <a:ext cx="1066800" cy="152400"/>
                        <a:chOff x="914400" y="1447800"/>
                        <a:chExt cx="1066800" cy="152400"/>
                      </a:xfrm>
                    </p:grpSpPr>
                    <p:sp>
                      <p:nvSpPr>
                        <p:cNvPr id="99" name="Oval 98"/>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Oval 99"/>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32" name="Group 61"/>
                    <p:cNvGrpSpPr/>
                    <p:nvPr/>
                  </p:nvGrpSpPr>
                  <p:grpSpPr>
                    <a:xfrm>
                      <a:off x="914400" y="1447800"/>
                      <a:ext cx="2895600" cy="152400"/>
                      <a:chOff x="914400" y="1447800"/>
                      <a:chExt cx="2895600" cy="152400"/>
                    </a:xfrm>
                  </p:grpSpPr>
                  <p:grpSp>
                    <p:nvGrpSpPr>
                      <p:cNvPr id="33" name="Group 56"/>
                      <p:cNvGrpSpPr/>
                      <p:nvPr/>
                    </p:nvGrpSpPr>
                    <p:grpSpPr>
                      <a:xfrm>
                        <a:off x="914400" y="1447800"/>
                        <a:ext cx="1066800" cy="152400"/>
                        <a:chOff x="914400" y="1447800"/>
                        <a:chExt cx="1066800" cy="152400"/>
                      </a:xfrm>
                    </p:grpSpPr>
                    <p:sp>
                      <p:nvSpPr>
                        <p:cNvPr id="95" name="Oval 94"/>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Oval 95"/>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4" name="Group 57"/>
                      <p:cNvGrpSpPr/>
                      <p:nvPr/>
                    </p:nvGrpSpPr>
                    <p:grpSpPr>
                      <a:xfrm>
                        <a:off x="2743200" y="1447800"/>
                        <a:ext cx="1066800" cy="152400"/>
                        <a:chOff x="914400" y="1447800"/>
                        <a:chExt cx="1066800" cy="152400"/>
                      </a:xfrm>
                    </p:grpSpPr>
                    <p:sp>
                      <p:nvSpPr>
                        <p:cNvPr id="93" name="Oval 9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Oval 9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grpSp>
          <p:grpSp>
            <p:nvGrpSpPr>
              <p:cNvPr id="35" name="Group 117"/>
              <p:cNvGrpSpPr/>
              <p:nvPr/>
            </p:nvGrpSpPr>
            <p:grpSpPr>
              <a:xfrm>
                <a:off x="8229600" y="1447800"/>
                <a:ext cx="6553200" cy="2895600"/>
                <a:chOff x="914400" y="1447800"/>
                <a:chExt cx="6553200" cy="2895600"/>
              </a:xfrm>
            </p:grpSpPr>
            <p:grpSp>
              <p:nvGrpSpPr>
                <p:cNvPr id="36" name="Group 84"/>
                <p:cNvGrpSpPr/>
                <p:nvPr/>
              </p:nvGrpSpPr>
              <p:grpSpPr>
                <a:xfrm>
                  <a:off x="914400" y="1447800"/>
                  <a:ext cx="2895600" cy="2895600"/>
                  <a:chOff x="914400" y="1447800"/>
                  <a:chExt cx="2895600" cy="2895600"/>
                </a:xfrm>
              </p:grpSpPr>
              <p:grpSp>
                <p:nvGrpSpPr>
                  <p:cNvPr id="37" name="Group 68"/>
                  <p:cNvGrpSpPr/>
                  <p:nvPr/>
                </p:nvGrpSpPr>
                <p:grpSpPr>
                  <a:xfrm>
                    <a:off x="914400" y="1447800"/>
                    <a:ext cx="2895600" cy="1066800"/>
                    <a:chOff x="914400" y="1447800"/>
                    <a:chExt cx="2895600" cy="1066800"/>
                  </a:xfrm>
                </p:grpSpPr>
                <p:grpSp>
                  <p:nvGrpSpPr>
                    <p:cNvPr id="38" name="Group 60"/>
                    <p:cNvGrpSpPr/>
                    <p:nvPr/>
                  </p:nvGrpSpPr>
                  <p:grpSpPr>
                    <a:xfrm>
                      <a:off x="914400" y="2362200"/>
                      <a:ext cx="2895600" cy="152400"/>
                      <a:chOff x="914400" y="1447800"/>
                      <a:chExt cx="2895600" cy="152400"/>
                    </a:xfrm>
                  </p:grpSpPr>
                  <p:grpSp>
                    <p:nvGrpSpPr>
                      <p:cNvPr id="39" name="Group 56"/>
                      <p:cNvGrpSpPr/>
                      <p:nvPr/>
                    </p:nvGrpSpPr>
                    <p:grpSpPr>
                      <a:xfrm>
                        <a:off x="914400" y="1447800"/>
                        <a:ext cx="1066800" cy="152400"/>
                        <a:chOff x="914400" y="1447800"/>
                        <a:chExt cx="1066800" cy="152400"/>
                      </a:xfrm>
                    </p:grpSpPr>
                    <p:sp>
                      <p:nvSpPr>
                        <p:cNvPr id="179" name="Oval 5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0" name="Oval 5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0" name="Group 57"/>
                      <p:cNvGrpSpPr/>
                      <p:nvPr/>
                    </p:nvGrpSpPr>
                    <p:grpSpPr>
                      <a:xfrm>
                        <a:off x="2743200" y="1447800"/>
                        <a:ext cx="1066800" cy="152400"/>
                        <a:chOff x="914400" y="1447800"/>
                        <a:chExt cx="1066800" cy="152400"/>
                      </a:xfrm>
                    </p:grpSpPr>
                    <p:sp>
                      <p:nvSpPr>
                        <p:cNvPr id="177" name="Oval 58"/>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8" name="Oval 59"/>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41" name="Group 61"/>
                    <p:cNvGrpSpPr/>
                    <p:nvPr/>
                  </p:nvGrpSpPr>
                  <p:grpSpPr>
                    <a:xfrm>
                      <a:off x="914400" y="1447800"/>
                      <a:ext cx="2895600" cy="152400"/>
                      <a:chOff x="914400" y="1447800"/>
                      <a:chExt cx="2895600" cy="152400"/>
                    </a:xfrm>
                  </p:grpSpPr>
                  <p:grpSp>
                    <p:nvGrpSpPr>
                      <p:cNvPr id="42" name="Group 56"/>
                      <p:cNvGrpSpPr/>
                      <p:nvPr/>
                    </p:nvGrpSpPr>
                    <p:grpSpPr>
                      <a:xfrm>
                        <a:off x="914400" y="1447800"/>
                        <a:ext cx="1066800" cy="152400"/>
                        <a:chOff x="914400" y="1447800"/>
                        <a:chExt cx="1066800" cy="152400"/>
                      </a:xfrm>
                    </p:grpSpPr>
                    <p:sp>
                      <p:nvSpPr>
                        <p:cNvPr id="173" name="Oval 17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4" name="Oval 17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3" name="Group 57"/>
                      <p:cNvGrpSpPr/>
                      <p:nvPr/>
                    </p:nvGrpSpPr>
                    <p:grpSpPr>
                      <a:xfrm>
                        <a:off x="2743200" y="1447800"/>
                        <a:ext cx="1066800" cy="152400"/>
                        <a:chOff x="914400" y="1447800"/>
                        <a:chExt cx="1066800" cy="152400"/>
                      </a:xfrm>
                    </p:grpSpPr>
                    <p:sp>
                      <p:nvSpPr>
                        <p:cNvPr id="171" name="Oval 170"/>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2" name="Oval 171"/>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nvGrpSpPr>
                  <p:cNvPr id="44" name="Group 69"/>
                  <p:cNvGrpSpPr/>
                  <p:nvPr/>
                </p:nvGrpSpPr>
                <p:grpSpPr>
                  <a:xfrm>
                    <a:off x="914400" y="3276600"/>
                    <a:ext cx="2895600" cy="1066800"/>
                    <a:chOff x="914400" y="1447800"/>
                    <a:chExt cx="2895600" cy="1066800"/>
                  </a:xfrm>
                </p:grpSpPr>
                <p:grpSp>
                  <p:nvGrpSpPr>
                    <p:cNvPr id="45" name="Group 60"/>
                    <p:cNvGrpSpPr/>
                    <p:nvPr/>
                  </p:nvGrpSpPr>
                  <p:grpSpPr>
                    <a:xfrm>
                      <a:off x="914400" y="2362200"/>
                      <a:ext cx="2895600" cy="152400"/>
                      <a:chOff x="914400" y="1447800"/>
                      <a:chExt cx="2895600" cy="152400"/>
                    </a:xfrm>
                  </p:grpSpPr>
                  <p:grpSp>
                    <p:nvGrpSpPr>
                      <p:cNvPr id="46" name="Group 56"/>
                      <p:cNvGrpSpPr/>
                      <p:nvPr/>
                    </p:nvGrpSpPr>
                    <p:grpSpPr>
                      <a:xfrm>
                        <a:off x="914400" y="1447800"/>
                        <a:ext cx="1066800" cy="152400"/>
                        <a:chOff x="914400" y="1447800"/>
                        <a:chExt cx="1066800" cy="152400"/>
                      </a:xfrm>
                    </p:grpSpPr>
                    <p:sp>
                      <p:nvSpPr>
                        <p:cNvPr id="165" name="Oval 164"/>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6" name="Oval 165"/>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7" name="Group 57"/>
                      <p:cNvGrpSpPr/>
                      <p:nvPr/>
                    </p:nvGrpSpPr>
                    <p:grpSpPr>
                      <a:xfrm>
                        <a:off x="2743200" y="1447800"/>
                        <a:ext cx="1066800" cy="152400"/>
                        <a:chOff x="914400" y="1447800"/>
                        <a:chExt cx="1066800" cy="152400"/>
                      </a:xfrm>
                    </p:grpSpPr>
                    <p:sp>
                      <p:nvSpPr>
                        <p:cNvPr id="163" name="Oval 16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4" name="Oval 16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48" name="Group 61"/>
                    <p:cNvGrpSpPr/>
                    <p:nvPr/>
                  </p:nvGrpSpPr>
                  <p:grpSpPr>
                    <a:xfrm>
                      <a:off x="914400" y="1447800"/>
                      <a:ext cx="2895600" cy="152400"/>
                      <a:chOff x="914400" y="1447800"/>
                      <a:chExt cx="2895600" cy="152400"/>
                    </a:xfrm>
                  </p:grpSpPr>
                  <p:grpSp>
                    <p:nvGrpSpPr>
                      <p:cNvPr id="49" name="Group 56"/>
                      <p:cNvGrpSpPr/>
                      <p:nvPr/>
                    </p:nvGrpSpPr>
                    <p:grpSpPr>
                      <a:xfrm>
                        <a:off x="914400" y="1447800"/>
                        <a:ext cx="1066800" cy="152400"/>
                        <a:chOff x="914400" y="1447800"/>
                        <a:chExt cx="1066800" cy="152400"/>
                      </a:xfrm>
                    </p:grpSpPr>
                    <p:sp>
                      <p:nvSpPr>
                        <p:cNvPr id="159" name="Oval 158"/>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0" name="Oval 159"/>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0" name="Group 57"/>
                      <p:cNvGrpSpPr/>
                      <p:nvPr/>
                    </p:nvGrpSpPr>
                    <p:grpSpPr>
                      <a:xfrm>
                        <a:off x="2743200" y="1447800"/>
                        <a:ext cx="1066800" cy="152400"/>
                        <a:chOff x="914400" y="1447800"/>
                        <a:chExt cx="1066800" cy="152400"/>
                      </a:xfrm>
                    </p:grpSpPr>
                    <p:sp>
                      <p:nvSpPr>
                        <p:cNvPr id="157" name="Oval 156"/>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8" name="Oval 157"/>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grpSp>
              <p:nvGrpSpPr>
                <p:cNvPr id="51" name="Group 85"/>
                <p:cNvGrpSpPr/>
                <p:nvPr/>
              </p:nvGrpSpPr>
              <p:grpSpPr>
                <a:xfrm>
                  <a:off x="4572000" y="1447800"/>
                  <a:ext cx="2895600" cy="2895600"/>
                  <a:chOff x="914400" y="1447800"/>
                  <a:chExt cx="2895600" cy="2895600"/>
                </a:xfrm>
              </p:grpSpPr>
              <p:grpSp>
                <p:nvGrpSpPr>
                  <p:cNvPr id="52" name="Group 68"/>
                  <p:cNvGrpSpPr/>
                  <p:nvPr/>
                </p:nvGrpSpPr>
                <p:grpSpPr>
                  <a:xfrm>
                    <a:off x="914400" y="1447800"/>
                    <a:ext cx="2895600" cy="1066800"/>
                    <a:chOff x="914400" y="1447800"/>
                    <a:chExt cx="2895600" cy="1066800"/>
                  </a:xfrm>
                </p:grpSpPr>
                <p:grpSp>
                  <p:nvGrpSpPr>
                    <p:cNvPr id="55" name="Group 60"/>
                    <p:cNvGrpSpPr/>
                    <p:nvPr/>
                  </p:nvGrpSpPr>
                  <p:grpSpPr>
                    <a:xfrm>
                      <a:off x="914400" y="2362200"/>
                      <a:ext cx="2895600" cy="152400"/>
                      <a:chOff x="914400" y="1447800"/>
                      <a:chExt cx="2895600" cy="152400"/>
                    </a:xfrm>
                  </p:grpSpPr>
                  <p:grpSp>
                    <p:nvGrpSpPr>
                      <p:cNvPr id="56" name="Group 56"/>
                      <p:cNvGrpSpPr/>
                      <p:nvPr/>
                    </p:nvGrpSpPr>
                    <p:grpSpPr>
                      <a:xfrm>
                        <a:off x="914400" y="1447800"/>
                        <a:ext cx="1066800" cy="152400"/>
                        <a:chOff x="914400" y="1447800"/>
                        <a:chExt cx="1066800" cy="152400"/>
                      </a:xfrm>
                    </p:grpSpPr>
                    <p:sp>
                      <p:nvSpPr>
                        <p:cNvPr id="149" name="Oval 148"/>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0" name="Oval 149"/>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7" name="Group 57"/>
                      <p:cNvGrpSpPr/>
                      <p:nvPr/>
                    </p:nvGrpSpPr>
                    <p:grpSpPr>
                      <a:xfrm>
                        <a:off x="2743200" y="1447800"/>
                        <a:ext cx="1066800" cy="152400"/>
                        <a:chOff x="914400" y="1447800"/>
                        <a:chExt cx="1066800" cy="152400"/>
                      </a:xfrm>
                    </p:grpSpPr>
                    <p:sp>
                      <p:nvSpPr>
                        <p:cNvPr id="147" name="Oval 146"/>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8" name="Oval 147"/>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58" name="Group 61"/>
                    <p:cNvGrpSpPr/>
                    <p:nvPr/>
                  </p:nvGrpSpPr>
                  <p:grpSpPr>
                    <a:xfrm>
                      <a:off x="914400" y="1447800"/>
                      <a:ext cx="2895600" cy="152400"/>
                      <a:chOff x="914400" y="1447800"/>
                      <a:chExt cx="2895600" cy="152400"/>
                    </a:xfrm>
                  </p:grpSpPr>
                  <p:grpSp>
                    <p:nvGrpSpPr>
                      <p:cNvPr id="61" name="Group 56"/>
                      <p:cNvGrpSpPr/>
                      <p:nvPr/>
                    </p:nvGrpSpPr>
                    <p:grpSpPr>
                      <a:xfrm>
                        <a:off x="914400" y="1447800"/>
                        <a:ext cx="1066800" cy="152400"/>
                        <a:chOff x="914400" y="1447800"/>
                        <a:chExt cx="1066800" cy="152400"/>
                      </a:xfrm>
                    </p:grpSpPr>
                    <p:sp>
                      <p:nvSpPr>
                        <p:cNvPr id="143" name="Oval 14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4" name="Oval 14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2" name="Group 57"/>
                      <p:cNvGrpSpPr/>
                      <p:nvPr/>
                    </p:nvGrpSpPr>
                    <p:grpSpPr>
                      <a:xfrm>
                        <a:off x="2743200" y="1447800"/>
                        <a:ext cx="1066800" cy="152400"/>
                        <a:chOff x="914400" y="1447800"/>
                        <a:chExt cx="1066800" cy="152400"/>
                      </a:xfrm>
                    </p:grpSpPr>
                    <p:sp>
                      <p:nvSpPr>
                        <p:cNvPr id="141" name="Oval 140"/>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2" name="Oval 141"/>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nvGrpSpPr>
                  <p:cNvPr id="63" name="Group 69"/>
                  <p:cNvGrpSpPr/>
                  <p:nvPr/>
                </p:nvGrpSpPr>
                <p:grpSpPr>
                  <a:xfrm>
                    <a:off x="914400" y="3276600"/>
                    <a:ext cx="2895600" cy="1066800"/>
                    <a:chOff x="914400" y="1447800"/>
                    <a:chExt cx="2895600" cy="1066800"/>
                  </a:xfrm>
                </p:grpSpPr>
                <p:grpSp>
                  <p:nvGrpSpPr>
                    <p:cNvPr id="64" name="Group 60"/>
                    <p:cNvGrpSpPr/>
                    <p:nvPr/>
                  </p:nvGrpSpPr>
                  <p:grpSpPr>
                    <a:xfrm>
                      <a:off x="914400" y="2362200"/>
                      <a:ext cx="2895600" cy="152400"/>
                      <a:chOff x="914400" y="1447800"/>
                      <a:chExt cx="2895600" cy="152400"/>
                    </a:xfrm>
                  </p:grpSpPr>
                  <p:grpSp>
                    <p:nvGrpSpPr>
                      <p:cNvPr id="69" name="Group 56"/>
                      <p:cNvGrpSpPr/>
                      <p:nvPr/>
                    </p:nvGrpSpPr>
                    <p:grpSpPr>
                      <a:xfrm>
                        <a:off x="914400" y="1447800"/>
                        <a:ext cx="1066800" cy="152400"/>
                        <a:chOff x="914400" y="1447800"/>
                        <a:chExt cx="1066800" cy="152400"/>
                      </a:xfrm>
                    </p:grpSpPr>
                    <p:sp>
                      <p:nvSpPr>
                        <p:cNvPr id="135" name="Oval 134"/>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6" name="Oval 135"/>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0" name="Group 57"/>
                      <p:cNvGrpSpPr/>
                      <p:nvPr/>
                    </p:nvGrpSpPr>
                    <p:grpSpPr>
                      <a:xfrm>
                        <a:off x="2743200" y="1447800"/>
                        <a:ext cx="1066800" cy="152400"/>
                        <a:chOff x="914400" y="1447800"/>
                        <a:chExt cx="1066800" cy="152400"/>
                      </a:xfrm>
                    </p:grpSpPr>
                    <p:sp>
                      <p:nvSpPr>
                        <p:cNvPr id="133" name="Oval 13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 name="Oval 13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71" name="Group 61"/>
                    <p:cNvGrpSpPr/>
                    <p:nvPr/>
                  </p:nvGrpSpPr>
                  <p:grpSpPr>
                    <a:xfrm>
                      <a:off x="914400" y="1447800"/>
                      <a:ext cx="2895600" cy="152400"/>
                      <a:chOff x="914400" y="1447800"/>
                      <a:chExt cx="2895600" cy="152400"/>
                    </a:xfrm>
                  </p:grpSpPr>
                  <p:grpSp>
                    <p:nvGrpSpPr>
                      <p:cNvPr id="72" name="Group 56"/>
                      <p:cNvGrpSpPr/>
                      <p:nvPr/>
                    </p:nvGrpSpPr>
                    <p:grpSpPr>
                      <a:xfrm>
                        <a:off x="914400" y="1447800"/>
                        <a:ext cx="1066800" cy="152400"/>
                        <a:chOff x="914400" y="1447800"/>
                        <a:chExt cx="1066800" cy="152400"/>
                      </a:xfrm>
                    </p:grpSpPr>
                    <p:sp>
                      <p:nvSpPr>
                        <p:cNvPr id="129" name="Oval 128"/>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 name="Oval 129"/>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3" name="Group 57"/>
                      <p:cNvGrpSpPr/>
                      <p:nvPr/>
                    </p:nvGrpSpPr>
                    <p:grpSpPr>
                      <a:xfrm>
                        <a:off x="2743200" y="1447800"/>
                        <a:ext cx="1066800" cy="152400"/>
                        <a:chOff x="914400" y="1447800"/>
                        <a:chExt cx="1066800" cy="152400"/>
                      </a:xfrm>
                    </p:grpSpPr>
                    <p:sp>
                      <p:nvSpPr>
                        <p:cNvPr id="127" name="Oval 126"/>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8" name="Oval 127"/>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grpSp>
        </p:grpSp>
        <p:grpSp>
          <p:nvGrpSpPr>
            <p:cNvPr id="74" name="Group 181"/>
            <p:cNvGrpSpPr/>
            <p:nvPr/>
          </p:nvGrpSpPr>
          <p:grpSpPr>
            <a:xfrm>
              <a:off x="5486400" y="1447800"/>
              <a:ext cx="13868400" cy="2895600"/>
              <a:chOff x="914400" y="1447800"/>
              <a:chExt cx="13868400" cy="2895600"/>
            </a:xfrm>
          </p:grpSpPr>
          <p:grpSp>
            <p:nvGrpSpPr>
              <p:cNvPr id="79" name="Group 116"/>
              <p:cNvGrpSpPr/>
              <p:nvPr/>
            </p:nvGrpSpPr>
            <p:grpSpPr>
              <a:xfrm>
                <a:off x="914400" y="1447800"/>
                <a:ext cx="6553200" cy="2895600"/>
                <a:chOff x="914400" y="1447800"/>
                <a:chExt cx="6553200" cy="2895600"/>
              </a:xfrm>
            </p:grpSpPr>
            <p:grpSp>
              <p:nvGrpSpPr>
                <p:cNvPr id="80" name="Group 84"/>
                <p:cNvGrpSpPr/>
                <p:nvPr/>
              </p:nvGrpSpPr>
              <p:grpSpPr>
                <a:xfrm>
                  <a:off x="914400" y="1447800"/>
                  <a:ext cx="2895600" cy="2895600"/>
                  <a:chOff x="914400" y="1447800"/>
                  <a:chExt cx="2895600" cy="2895600"/>
                </a:xfrm>
              </p:grpSpPr>
              <p:grpSp>
                <p:nvGrpSpPr>
                  <p:cNvPr id="85" name="Group 68"/>
                  <p:cNvGrpSpPr/>
                  <p:nvPr/>
                </p:nvGrpSpPr>
                <p:grpSpPr>
                  <a:xfrm>
                    <a:off x="914400" y="1447800"/>
                    <a:ext cx="2895600" cy="1066800"/>
                    <a:chOff x="914400" y="1447800"/>
                    <a:chExt cx="2895600" cy="1066800"/>
                  </a:xfrm>
                </p:grpSpPr>
                <p:grpSp>
                  <p:nvGrpSpPr>
                    <p:cNvPr id="86" name="Group 60"/>
                    <p:cNvGrpSpPr/>
                    <p:nvPr/>
                  </p:nvGrpSpPr>
                  <p:grpSpPr>
                    <a:xfrm>
                      <a:off x="914400" y="2362200"/>
                      <a:ext cx="2895600" cy="152400"/>
                      <a:chOff x="914400" y="1447800"/>
                      <a:chExt cx="2895600" cy="152400"/>
                    </a:xfrm>
                  </p:grpSpPr>
                  <p:grpSp>
                    <p:nvGrpSpPr>
                      <p:cNvPr id="87" name="Group 56"/>
                      <p:cNvGrpSpPr/>
                      <p:nvPr/>
                    </p:nvGrpSpPr>
                    <p:grpSpPr>
                      <a:xfrm>
                        <a:off x="914400" y="1447800"/>
                        <a:ext cx="1066800" cy="152400"/>
                        <a:chOff x="914400" y="1447800"/>
                        <a:chExt cx="1066800" cy="152400"/>
                      </a:xfrm>
                    </p:grpSpPr>
                    <p:sp>
                      <p:nvSpPr>
                        <p:cNvPr id="307" name="Oval 5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 name="Oval 5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8" name="Group 57"/>
                      <p:cNvGrpSpPr/>
                      <p:nvPr/>
                    </p:nvGrpSpPr>
                    <p:grpSpPr>
                      <a:xfrm>
                        <a:off x="2743200" y="1447800"/>
                        <a:ext cx="1066800" cy="152400"/>
                        <a:chOff x="914400" y="1447800"/>
                        <a:chExt cx="1066800" cy="152400"/>
                      </a:xfrm>
                    </p:grpSpPr>
                    <p:sp>
                      <p:nvSpPr>
                        <p:cNvPr id="305" name="Oval 304"/>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6" name="Oval 305"/>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89" name="Group 61"/>
                    <p:cNvGrpSpPr/>
                    <p:nvPr/>
                  </p:nvGrpSpPr>
                  <p:grpSpPr>
                    <a:xfrm>
                      <a:off x="914400" y="1447800"/>
                      <a:ext cx="2895600" cy="152400"/>
                      <a:chOff x="914400" y="1447800"/>
                      <a:chExt cx="2895600" cy="152400"/>
                    </a:xfrm>
                  </p:grpSpPr>
                  <p:grpSp>
                    <p:nvGrpSpPr>
                      <p:cNvPr id="90" name="Group 56"/>
                      <p:cNvGrpSpPr/>
                      <p:nvPr/>
                    </p:nvGrpSpPr>
                    <p:grpSpPr>
                      <a:xfrm>
                        <a:off x="914400" y="1447800"/>
                        <a:ext cx="1066800" cy="152400"/>
                        <a:chOff x="914400" y="1447800"/>
                        <a:chExt cx="1066800" cy="152400"/>
                      </a:xfrm>
                    </p:grpSpPr>
                    <p:sp>
                      <p:nvSpPr>
                        <p:cNvPr id="301" name="Oval 66"/>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2" name="Oval 67"/>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1" name="Group 57"/>
                      <p:cNvGrpSpPr/>
                      <p:nvPr/>
                    </p:nvGrpSpPr>
                    <p:grpSpPr>
                      <a:xfrm>
                        <a:off x="2743200" y="1447800"/>
                        <a:ext cx="1066800" cy="152400"/>
                        <a:chOff x="914400" y="1447800"/>
                        <a:chExt cx="1066800" cy="152400"/>
                      </a:xfrm>
                    </p:grpSpPr>
                    <p:sp>
                      <p:nvSpPr>
                        <p:cNvPr id="299" name="Oval 298"/>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0" name="Oval 299"/>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nvGrpSpPr>
                  <p:cNvPr id="92" name="Group 69"/>
                  <p:cNvGrpSpPr/>
                  <p:nvPr/>
                </p:nvGrpSpPr>
                <p:grpSpPr>
                  <a:xfrm>
                    <a:off x="914400" y="3276600"/>
                    <a:ext cx="2895600" cy="1066800"/>
                    <a:chOff x="914400" y="1447800"/>
                    <a:chExt cx="2895600" cy="1066800"/>
                  </a:xfrm>
                </p:grpSpPr>
                <p:grpSp>
                  <p:nvGrpSpPr>
                    <p:cNvPr id="97" name="Group 60"/>
                    <p:cNvGrpSpPr/>
                    <p:nvPr/>
                  </p:nvGrpSpPr>
                  <p:grpSpPr>
                    <a:xfrm>
                      <a:off x="914400" y="2362200"/>
                      <a:ext cx="2895600" cy="152400"/>
                      <a:chOff x="914400" y="1447800"/>
                      <a:chExt cx="2895600" cy="152400"/>
                    </a:xfrm>
                  </p:grpSpPr>
                  <p:grpSp>
                    <p:nvGrpSpPr>
                      <p:cNvPr id="98" name="Group 56"/>
                      <p:cNvGrpSpPr/>
                      <p:nvPr/>
                    </p:nvGrpSpPr>
                    <p:grpSpPr>
                      <a:xfrm>
                        <a:off x="914400" y="1447800"/>
                        <a:ext cx="1066800" cy="152400"/>
                        <a:chOff x="914400" y="1447800"/>
                        <a:chExt cx="1066800" cy="152400"/>
                      </a:xfrm>
                    </p:grpSpPr>
                    <p:sp>
                      <p:nvSpPr>
                        <p:cNvPr id="293" name="Oval 29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4" name="Oval 29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3" name="Group 57"/>
                      <p:cNvGrpSpPr/>
                      <p:nvPr/>
                    </p:nvGrpSpPr>
                    <p:grpSpPr>
                      <a:xfrm>
                        <a:off x="2743200" y="1447800"/>
                        <a:ext cx="1066800" cy="152400"/>
                        <a:chOff x="914400" y="1447800"/>
                        <a:chExt cx="1066800" cy="152400"/>
                      </a:xfrm>
                    </p:grpSpPr>
                    <p:sp>
                      <p:nvSpPr>
                        <p:cNvPr id="291" name="Oval 290"/>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2" name="Oval 291"/>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04" name="Group 61"/>
                    <p:cNvGrpSpPr/>
                    <p:nvPr/>
                  </p:nvGrpSpPr>
                  <p:grpSpPr>
                    <a:xfrm>
                      <a:off x="914400" y="1447800"/>
                      <a:ext cx="2895600" cy="152400"/>
                      <a:chOff x="914400" y="1447800"/>
                      <a:chExt cx="2895600" cy="152400"/>
                    </a:xfrm>
                  </p:grpSpPr>
                  <p:grpSp>
                    <p:nvGrpSpPr>
                      <p:cNvPr id="105" name="Group 56"/>
                      <p:cNvGrpSpPr/>
                      <p:nvPr/>
                    </p:nvGrpSpPr>
                    <p:grpSpPr>
                      <a:xfrm>
                        <a:off x="914400" y="1447800"/>
                        <a:ext cx="1066800" cy="152400"/>
                        <a:chOff x="914400" y="1447800"/>
                        <a:chExt cx="1066800" cy="152400"/>
                      </a:xfrm>
                    </p:grpSpPr>
                    <p:sp>
                      <p:nvSpPr>
                        <p:cNvPr id="287" name="Oval 286"/>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8" name="Oval 287"/>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6" name="Group 57"/>
                      <p:cNvGrpSpPr/>
                      <p:nvPr/>
                    </p:nvGrpSpPr>
                    <p:grpSpPr>
                      <a:xfrm>
                        <a:off x="2743200" y="1447800"/>
                        <a:ext cx="1066800" cy="152400"/>
                        <a:chOff x="914400" y="1447800"/>
                        <a:chExt cx="1066800" cy="152400"/>
                      </a:xfrm>
                    </p:grpSpPr>
                    <p:sp>
                      <p:nvSpPr>
                        <p:cNvPr id="285" name="Oval 284"/>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6" name="Oval 285"/>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grpSp>
              <p:nvGrpSpPr>
                <p:cNvPr id="111" name="Group 85"/>
                <p:cNvGrpSpPr/>
                <p:nvPr/>
              </p:nvGrpSpPr>
              <p:grpSpPr>
                <a:xfrm>
                  <a:off x="4572000" y="1447800"/>
                  <a:ext cx="2895600" cy="2895600"/>
                  <a:chOff x="914400" y="1447800"/>
                  <a:chExt cx="2895600" cy="2895600"/>
                </a:xfrm>
              </p:grpSpPr>
              <p:grpSp>
                <p:nvGrpSpPr>
                  <p:cNvPr id="112" name="Group 248"/>
                  <p:cNvGrpSpPr/>
                  <p:nvPr/>
                </p:nvGrpSpPr>
                <p:grpSpPr>
                  <a:xfrm>
                    <a:off x="914400" y="1447800"/>
                    <a:ext cx="2895600" cy="1066800"/>
                    <a:chOff x="914400" y="1447800"/>
                    <a:chExt cx="2895600" cy="1066800"/>
                  </a:xfrm>
                </p:grpSpPr>
                <p:grpSp>
                  <p:nvGrpSpPr>
                    <p:cNvPr id="117" name="Group 60"/>
                    <p:cNvGrpSpPr/>
                    <p:nvPr/>
                  </p:nvGrpSpPr>
                  <p:grpSpPr>
                    <a:xfrm>
                      <a:off x="914400" y="2362200"/>
                      <a:ext cx="2895600" cy="152400"/>
                      <a:chOff x="914400" y="1447800"/>
                      <a:chExt cx="2895600" cy="152400"/>
                    </a:xfrm>
                  </p:grpSpPr>
                  <p:grpSp>
                    <p:nvGrpSpPr>
                      <p:cNvPr id="118" name="Group 56"/>
                      <p:cNvGrpSpPr/>
                      <p:nvPr/>
                    </p:nvGrpSpPr>
                    <p:grpSpPr>
                      <a:xfrm>
                        <a:off x="914400" y="1447800"/>
                        <a:ext cx="1066800" cy="152400"/>
                        <a:chOff x="914400" y="1447800"/>
                        <a:chExt cx="1066800" cy="152400"/>
                      </a:xfrm>
                    </p:grpSpPr>
                    <p:sp>
                      <p:nvSpPr>
                        <p:cNvPr id="277" name="Oval 276"/>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8" name="Oval 277"/>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9" name="Group 57"/>
                      <p:cNvGrpSpPr/>
                      <p:nvPr/>
                    </p:nvGrpSpPr>
                    <p:grpSpPr>
                      <a:xfrm>
                        <a:off x="2743200" y="1447800"/>
                        <a:ext cx="1066800" cy="152400"/>
                        <a:chOff x="914400" y="1447800"/>
                        <a:chExt cx="1066800" cy="152400"/>
                      </a:xfrm>
                    </p:grpSpPr>
                    <p:sp>
                      <p:nvSpPr>
                        <p:cNvPr id="275" name="Oval 274"/>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6" name="Oval 275"/>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20" name="Group 61"/>
                    <p:cNvGrpSpPr/>
                    <p:nvPr/>
                  </p:nvGrpSpPr>
                  <p:grpSpPr>
                    <a:xfrm>
                      <a:off x="914400" y="1447800"/>
                      <a:ext cx="2895600" cy="152400"/>
                      <a:chOff x="914400" y="1447800"/>
                      <a:chExt cx="2895600" cy="152400"/>
                    </a:xfrm>
                  </p:grpSpPr>
                  <p:grpSp>
                    <p:nvGrpSpPr>
                      <p:cNvPr id="121" name="Group 56"/>
                      <p:cNvGrpSpPr/>
                      <p:nvPr/>
                    </p:nvGrpSpPr>
                    <p:grpSpPr>
                      <a:xfrm>
                        <a:off x="914400" y="1447800"/>
                        <a:ext cx="1066800" cy="152400"/>
                        <a:chOff x="914400" y="1447800"/>
                        <a:chExt cx="1066800" cy="152400"/>
                      </a:xfrm>
                    </p:grpSpPr>
                    <p:sp>
                      <p:nvSpPr>
                        <p:cNvPr id="271" name="Oval 270"/>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2" name="Oval 271"/>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22" name="Group 57"/>
                      <p:cNvGrpSpPr/>
                      <p:nvPr/>
                    </p:nvGrpSpPr>
                    <p:grpSpPr>
                      <a:xfrm>
                        <a:off x="2743200" y="1447800"/>
                        <a:ext cx="1066800" cy="152400"/>
                        <a:chOff x="914400" y="1447800"/>
                        <a:chExt cx="1066800" cy="152400"/>
                      </a:xfrm>
                    </p:grpSpPr>
                    <p:sp>
                      <p:nvSpPr>
                        <p:cNvPr id="269" name="Oval 268"/>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0" name="Oval 269"/>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nvGrpSpPr>
                  <p:cNvPr id="123" name="Group 249"/>
                  <p:cNvGrpSpPr/>
                  <p:nvPr/>
                </p:nvGrpSpPr>
                <p:grpSpPr>
                  <a:xfrm>
                    <a:off x="914400" y="3276600"/>
                    <a:ext cx="2895600" cy="1066800"/>
                    <a:chOff x="914400" y="1447800"/>
                    <a:chExt cx="2895600" cy="1066800"/>
                  </a:xfrm>
                </p:grpSpPr>
                <p:grpSp>
                  <p:nvGrpSpPr>
                    <p:cNvPr id="124" name="Group 60"/>
                    <p:cNvGrpSpPr/>
                    <p:nvPr/>
                  </p:nvGrpSpPr>
                  <p:grpSpPr>
                    <a:xfrm>
                      <a:off x="914400" y="2362200"/>
                      <a:ext cx="2895600" cy="152400"/>
                      <a:chOff x="914400" y="1447800"/>
                      <a:chExt cx="2895600" cy="152400"/>
                    </a:xfrm>
                  </p:grpSpPr>
                  <p:grpSp>
                    <p:nvGrpSpPr>
                      <p:cNvPr id="125" name="Group 56"/>
                      <p:cNvGrpSpPr/>
                      <p:nvPr/>
                    </p:nvGrpSpPr>
                    <p:grpSpPr>
                      <a:xfrm>
                        <a:off x="914400" y="1447800"/>
                        <a:ext cx="1066800" cy="152400"/>
                        <a:chOff x="914400" y="1447800"/>
                        <a:chExt cx="1066800" cy="152400"/>
                      </a:xfrm>
                    </p:grpSpPr>
                    <p:sp>
                      <p:nvSpPr>
                        <p:cNvPr id="263" name="Oval 26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4" name="Oval 26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26" name="Group 57"/>
                      <p:cNvGrpSpPr/>
                      <p:nvPr/>
                    </p:nvGrpSpPr>
                    <p:grpSpPr>
                      <a:xfrm>
                        <a:off x="2743200" y="1447800"/>
                        <a:ext cx="1066800" cy="152400"/>
                        <a:chOff x="914400" y="1447800"/>
                        <a:chExt cx="1066800" cy="152400"/>
                      </a:xfrm>
                    </p:grpSpPr>
                    <p:sp>
                      <p:nvSpPr>
                        <p:cNvPr id="261" name="Oval 260"/>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2" name="Oval 261"/>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31" name="Group 61"/>
                    <p:cNvGrpSpPr/>
                    <p:nvPr/>
                  </p:nvGrpSpPr>
                  <p:grpSpPr>
                    <a:xfrm>
                      <a:off x="914400" y="1447800"/>
                      <a:ext cx="2895600" cy="152400"/>
                      <a:chOff x="914400" y="1447800"/>
                      <a:chExt cx="2895600" cy="152400"/>
                    </a:xfrm>
                  </p:grpSpPr>
                  <p:grpSp>
                    <p:nvGrpSpPr>
                      <p:cNvPr id="132" name="Group 56"/>
                      <p:cNvGrpSpPr/>
                      <p:nvPr/>
                    </p:nvGrpSpPr>
                    <p:grpSpPr>
                      <a:xfrm>
                        <a:off x="914400" y="1447800"/>
                        <a:ext cx="1066800" cy="152400"/>
                        <a:chOff x="914400" y="1447800"/>
                        <a:chExt cx="1066800" cy="152400"/>
                      </a:xfrm>
                    </p:grpSpPr>
                    <p:sp>
                      <p:nvSpPr>
                        <p:cNvPr id="257" name="Oval 256"/>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8" name="Oval 257"/>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7" name="Group 57"/>
                      <p:cNvGrpSpPr/>
                      <p:nvPr/>
                    </p:nvGrpSpPr>
                    <p:grpSpPr>
                      <a:xfrm>
                        <a:off x="2743200" y="1447800"/>
                        <a:ext cx="1066800" cy="152400"/>
                        <a:chOff x="914400" y="1447800"/>
                        <a:chExt cx="1066800" cy="152400"/>
                      </a:xfrm>
                    </p:grpSpPr>
                    <p:sp>
                      <p:nvSpPr>
                        <p:cNvPr id="255" name="Oval 254"/>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6" name="Oval 255"/>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grpSp>
          <p:grpSp>
            <p:nvGrpSpPr>
              <p:cNvPr id="138" name="Group 117"/>
              <p:cNvGrpSpPr/>
              <p:nvPr/>
            </p:nvGrpSpPr>
            <p:grpSpPr>
              <a:xfrm>
                <a:off x="8229600" y="1447800"/>
                <a:ext cx="6553200" cy="2895600"/>
                <a:chOff x="914400" y="1447800"/>
                <a:chExt cx="6553200" cy="2895600"/>
              </a:xfrm>
            </p:grpSpPr>
            <p:grpSp>
              <p:nvGrpSpPr>
                <p:cNvPr id="139" name="Group 84"/>
                <p:cNvGrpSpPr/>
                <p:nvPr/>
              </p:nvGrpSpPr>
              <p:grpSpPr>
                <a:xfrm>
                  <a:off x="914400" y="1447800"/>
                  <a:ext cx="2895600" cy="2895600"/>
                  <a:chOff x="914400" y="1447800"/>
                  <a:chExt cx="2895600" cy="2895600"/>
                </a:xfrm>
              </p:grpSpPr>
              <p:grpSp>
                <p:nvGrpSpPr>
                  <p:cNvPr id="140" name="Group 68"/>
                  <p:cNvGrpSpPr/>
                  <p:nvPr/>
                </p:nvGrpSpPr>
                <p:grpSpPr>
                  <a:xfrm>
                    <a:off x="914400" y="1447800"/>
                    <a:ext cx="2895600" cy="1066800"/>
                    <a:chOff x="914400" y="1447800"/>
                    <a:chExt cx="2895600" cy="1066800"/>
                  </a:xfrm>
                </p:grpSpPr>
                <p:grpSp>
                  <p:nvGrpSpPr>
                    <p:cNvPr id="145" name="Group 60"/>
                    <p:cNvGrpSpPr/>
                    <p:nvPr/>
                  </p:nvGrpSpPr>
                  <p:grpSpPr>
                    <a:xfrm>
                      <a:off x="914400" y="2362200"/>
                      <a:ext cx="2895600" cy="152400"/>
                      <a:chOff x="914400" y="1447800"/>
                      <a:chExt cx="2895600" cy="152400"/>
                    </a:xfrm>
                  </p:grpSpPr>
                  <p:grpSp>
                    <p:nvGrpSpPr>
                      <p:cNvPr id="146" name="Group 56"/>
                      <p:cNvGrpSpPr/>
                      <p:nvPr/>
                    </p:nvGrpSpPr>
                    <p:grpSpPr>
                      <a:xfrm>
                        <a:off x="914400" y="1447800"/>
                        <a:ext cx="1066800" cy="152400"/>
                        <a:chOff x="914400" y="1447800"/>
                        <a:chExt cx="1066800" cy="152400"/>
                      </a:xfrm>
                    </p:grpSpPr>
                    <p:sp>
                      <p:nvSpPr>
                        <p:cNvPr id="245" name="Oval 5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6" name="Oval 5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51" name="Group 57"/>
                      <p:cNvGrpSpPr/>
                      <p:nvPr/>
                    </p:nvGrpSpPr>
                    <p:grpSpPr>
                      <a:xfrm>
                        <a:off x="2743200" y="1447800"/>
                        <a:ext cx="1066800" cy="152400"/>
                        <a:chOff x="914400" y="1447800"/>
                        <a:chExt cx="1066800" cy="152400"/>
                      </a:xfrm>
                    </p:grpSpPr>
                    <p:sp>
                      <p:nvSpPr>
                        <p:cNvPr id="243" name="Oval 58"/>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4" name="Oval 59"/>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52" name="Group 61"/>
                    <p:cNvGrpSpPr/>
                    <p:nvPr/>
                  </p:nvGrpSpPr>
                  <p:grpSpPr>
                    <a:xfrm>
                      <a:off x="914400" y="1447800"/>
                      <a:ext cx="2895600" cy="152400"/>
                      <a:chOff x="914400" y="1447800"/>
                      <a:chExt cx="2895600" cy="152400"/>
                    </a:xfrm>
                  </p:grpSpPr>
                  <p:grpSp>
                    <p:nvGrpSpPr>
                      <p:cNvPr id="153" name="Group 56"/>
                      <p:cNvGrpSpPr/>
                      <p:nvPr/>
                    </p:nvGrpSpPr>
                    <p:grpSpPr>
                      <a:xfrm>
                        <a:off x="914400" y="1447800"/>
                        <a:ext cx="1066800" cy="152400"/>
                        <a:chOff x="914400" y="1447800"/>
                        <a:chExt cx="1066800" cy="152400"/>
                      </a:xfrm>
                    </p:grpSpPr>
                    <p:sp>
                      <p:nvSpPr>
                        <p:cNvPr id="239" name="Oval 238"/>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0" name="Oval 239"/>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54" name="Group 57"/>
                      <p:cNvGrpSpPr/>
                      <p:nvPr/>
                    </p:nvGrpSpPr>
                    <p:grpSpPr>
                      <a:xfrm>
                        <a:off x="2743200" y="1447800"/>
                        <a:ext cx="1066800" cy="152400"/>
                        <a:chOff x="914400" y="1447800"/>
                        <a:chExt cx="1066800" cy="152400"/>
                      </a:xfrm>
                    </p:grpSpPr>
                    <p:sp>
                      <p:nvSpPr>
                        <p:cNvPr id="237" name="Oval 236"/>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8" name="Oval 237"/>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nvGrpSpPr>
                  <p:cNvPr id="155" name="Group 69"/>
                  <p:cNvGrpSpPr/>
                  <p:nvPr/>
                </p:nvGrpSpPr>
                <p:grpSpPr>
                  <a:xfrm>
                    <a:off x="914400" y="3276600"/>
                    <a:ext cx="2895600" cy="1066800"/>
                    <a:chOff x="914400" y="1447800"/>
                    <a:chExt cx="2895600" cy="1066800"/>
                  </a:xfrm>
                </p:grpSpPr>
                <p:grpSp>
                  <p:nvGrpSpPr>
                    <p:cNvPr id="156" name="Group 60"/>
                    <p:cNvGrpSpPr/>
                    <p:nvPr/>
                  </p:nvGrpSpPr>
                  <p:grpSpPr>
                    <a:xfrm>
                      <a:off x="914400" y="2362200"/>
                      <a:ext cx="2895600" cy="152400"/>
                      <a:chOff x="914400" y="1447800"/>
                      <a:chExt cx="2895600" cy="152400"/>
                    </a:xfrm>
                  </p:grpSpPr>
                  <p:grpSp>
                    <p:nvGrpSpPr>
                      <p:cNvPr id="161" name="Group 56"/>
                      <p:cNvGrpSpPr/>
                      <p:nvPr/>
                    </p:nvGrpSpPr>
                    <p:grpSpPr>
                      <a:xfrm>
                        <a:off x="914400" y="1447800"/>
                        <a:ext cx="1066800" cy="152400"/>
                        <a:chOff x="914400" y="1447800"/>
                        <a:chExt cx="1066800" cy="152400"/>
                      </a:xfrm>
                    </p:grpSpPr>
                    <p:sp>
                      <p:nvSpPr>
                        <p:cNvPr id="231" name="Oval 230"/>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2" name="Oval 231"/>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2" name="Group 57"/>
                      <p:cNvGrpSpPr/>
                      <p:nvPr/>
                    </p:nvGrpSpPr>
                    <p:grpSpPr>
                      <a:xfrm>
                        <a:off x="2743200" y="1447800"/>
                        <a:ext cx="1066800" cy="152400"/>
                        <a:chOff x="914400" y="1447800"/>
                        <a:chExt cx="1066800" cy="152400"/>
                      </a:xfrm>
                    </p:grpSpPr>
                    <p:sp>
                      <p:nvSpPr>
                        <p:cNvPr id="229" name="Oval 228"/>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0" name="Oval 229"/>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67" name="Group 61"/>
                    <p:cNvGrpSpPr/>
                    <p:nvPr/>
                  </p:nvGrpSpPr>
                  <p:grpSpPr>
                    <a:xfrm>
                      <a:off x="914400" y="1447800"/>
                      <a:ext cx="2895600" cy="152400"/>
                      <a:chOff x="914400" y="1447800"/>
                      <a:chExt cx="2895600" cy="152400"/>
                    </a:xfrm>
                  </p:grpSpPr>
                  <p:grpSp>
                    <p:nvGrpSpPr>
                      <p:cNvPr id="168" name="Group 56"/>
                      <p:cNvGrpSpPr/>
                      <p:nvPr/>
                    </p:nvGrpSpPr>
                    <p:grpSpPr>
                      <a:xfrm>
                        <a:off x="914400" y="1447800"/>
                        <a:ext cx="1066800" cy="152400"/>
                        <a:chOff x="914400" y="1447800"/>
                        <a:chExt cx="1066800" cy="152400"/>
                      </a:xfrm>
                    </p:grpSpPr>
                    <p:sp>
                      <p:nvSpPr>
                        <p:cNvPr id="225" name="Oval 224"/>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6" name="Oval 225"/>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9" name="Group 57"/>
                      <p:cNvGrpSpPr/>
                      <p:nvPr/>
                    </p:nvGrpSpPr>
                    <p:grpSpPr>
                      <a:xfrm>
                        <a:off x="2743200" y="1447800"/>
                        <a:ext cx="1066800" cy="152400"/>
                        <a:chOff x="914400" y="1447800"/>
                        <a:chExt cx="1066800" cy="152400"/>
                      </a:xfrm>
                    </p:grpSpPr>
                    <p:sp>
                      <p:nvSpPr>
                        <p:cNvPr id="223" name="Oval 22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4" name="Oval 22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grpSp>
              <p:nvGrpSpPr>
                <p:cNvPr id="170" name="Group 85"/>
                <p:cNvGrpSpPr/>
                <p:nvPr/>
              </p:nvGrpSpPr>
              <p:grpSpPr>
                <a:xfrm>
                  <a:off x="4572000" y="1447800"/>
                  <a:ext cx="2895600" cy="2895600"/>
                  <a:chOff x="914400" y="1447800"/>
                  <a:chExt cx="2895600" cy="2895600"/>
                </a:xfrm>
              </p:grpSpPr>
              <p:grpSp>
                <p:nvGrpSpPr>
                  <p:cNvPr id="175" name="Group 68"/>
                  <p:cNvGrpSpPr/>
                  <p:nvPr/>
                </p:nvGrpSpPr>
                <p:grpSpPr>
                  <a:xfrm>
                    <a:off x="914400" y="1447800"/>
                    <a:ext cx="2895600" cy="1066800"/>
                    <a:chOff x="914400" y="1447800"/>
                    <a:chExt cx="2895600" cy="1066800"/>
                  </a:xfrm>
                </p:grpSpPr>
                <p:grpSp>
                  <p:nvGrpSpPr>
                    <p:cNvPr id="176" name="Group 60"/>
                    <p:cNvGrpSpPr/>
                    <p:nvPr/>
                  </p:nvGrpSpPr>
                  <p:grpSpPr>
                    <a:xfrm>
                      <a:off x="914400" y="2362200"/>
                      <a:ext cx="2895600" cy="152400"/>
                      <a:chOff x="914400" y="1447800"/>
                      <a:chExt cx="2895600" cy="152400"/>
                    </a:xfrm>
                  </p:grpSpPr>
                  <p:grpSp>
                    <p:nvGrpSpPr>
                      <p:cNvPr id="181" name="Group 56"/>
                      <p:cNvGrpSpPr/>
                      <p:nvPr/>
                    </p:nvGrpSpPr>
                    <p:grpSpPr>
                      <a:xfrm>
                        <a:off x="914400" y="1447800"/>
                        <a:ext cx="1066800" cy="152400"/>
                        <a:chOff x="914400" y="1447800"/>
                        <a:chExt cx="1066800" cy="152400"/>
                      </a:xfrm>
                    </p:grpSpPr>
                    <p:sp>
                      <p:nvSpPr>
                        <p:cNvPr id="215" name="Oval 214"/>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6" name="Oval 215"/>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2" name="Group 57"/>
                      <p:cNvGrpSpPr/>
                      <p:nvPr/>
                    </p:nvGrpSpPr>
                    <p:grpSpPr>
                      <a:xfrm>
                        <a:off x="2743200" y="1447800"/>
                        <a:ext cx="1066800" cy="152400"/>
                        <a:chOff x="914400" y="1447800"/>
                        <a:chExt cx="1066800" cy="152400"/>
                      </a:xfrm>
                    </p:grpSpPr>
                    <p:sp>
                      <p:nvSpPr>
                        <p:cNvPr id="213" name="Oval 21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4" name="Oval 21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83" name="Group 61"/>
                    <p:cNvGrpSpPr/>
                    <p:nvPr/>
                  </p:nvGrpSpPr>
                  <p:grpSpPr>
                    <a:xfrm>
                      <a:off x="914400" y="1447800"/>
                      <a:ext cx="2895600" cy="152400"/>
                      <a:chOff x="914400" y="1447800"/>
                      <a:chExt cx="2895600" cy="152400"/>
                    </a:xfrm>
                  </p:grpSpPr>
                  <p:grpSp>
                    <p:nvGrpSpPr>
                      <p:cNvPr id="184" name="Group 56"/>
                      <p:cNvGrpSpPr/>
                      <p:nvPr/>
                    </p:nvGrpSpPr>
                    <p:grpSpPr>
                      <a:xfrm>
                        <a:off x="914400" y="1447800"/>
                        <a:ext cx="1066800" cy="152400"/>
                        <a:chOff x="914400" y="1447800"/>
                        <a:chExt cx="1066800" cy="152400"/>
                      </a:xfrm>
                    </p:grpSpPr>
                    <p:sp>
                      <p:nvSpPr>
                        <p:cNvPr id="209" name="Oval 208"/>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0" name="Oval 209"/>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5" name="Group 57"/>
                      <p:cNvGrpSpPr/>
                      <p:nvPr/>
                    </p:nvGrpSpPr>
                    <p:grpSpPr>
                      <a:xfrm>
                        <a:off x="2743200" y="1447800"/>
                        <a:ext cx="1066800" cy="152400"/>
                        <a:chOff x="914400" y="1447800"/>
                        <a:chExt cx="1066800" cy="152400"/>
                      </a:xfrm>
                    </p:grpSpPr>
                    <p:sp>
                      <p:nvSpPr>
                        <p:cNvPr id="207" name="Oval 206"/>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8" name="Oval 207"/>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nvGrpSpPr>
                  <p:cNvPr id="186" name="Group 69"/>
                  <p:cNvGrpSpPr/>
                  <p:nvPr/>
                </p:nvGrpSpPr>
                <p:grpSpPr>
                  <a:xfrm>
                    <a:off x="914400" y="3276600"/>
                    <a:ext cx="2895600" cy="1066800"/>
                    <a:chOff x="914400" y="1447800"/>
                    <a:chExt cx="2895600" cy="1066800"/>
                  </a:xfrm>
                </p:grpSpPr>
                <p:grpSp>
                  <p:nvGrpSpPr>
                    <p:cNvPr id="187" name="Group 60"/>
                    <p:cNvGrpSpPr/>
                    <p:nvPr/>
                  </p:nvGrpSpPr>
                  <p:grpSpPr>
                    <a:xfrm>
                      <a:off x="914400" y="2362200"/>
                      <a:ext cx="2895600" cy="152400"/>
                      <a:chOff x="914400" y="1447800"/>
                      <a:chExt cx="2895600" cy="152400"/>
                    </a:xfrm>
                  </p:grpSpPr>
                  <p:grpSp>
                    <p:nvGrpSpPr>
                      <p:cNvPr id="188" name="Group 56"/>
                      <p:cNvGrpSpPr/>
                      <p:nvPr/>
                    </p:nvGrpSpPr>
                    <p:grpSpPr>
                      <a:xfrm>
                        <a:off x="914400" y="1447800"/>
                        <a:ext cx="1066800" cy="152400"/>
                        <a:chOff x="914400" y="1447800"/>
                        <a:chExt cx="1066800" cy="152400"/>
                      </a:xfrm>
                    </p:grpSpPr>
                    <p:sp>
                      <p:nvSpPr>
                        <p:cNvPr id="201" name="Oval 200"/>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2" name="Oval 201"/>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9" name="Group 57"/>
                      <p:cNvGrpSpPr/>
                      <p:nvPr/>
                    </p:nvGrpSpPr>
                    <p:grpSpPr>
                      <a:xfrm>
                        <a:off x="2743200" y="1447800"/>
                        <a:ext cx="1066800" cy="152400"/>
                        <a:chOff x="914400" y="1447800"/>
                        <a:chExt cx="1066800" cy="152400"/>
                      </a:xfrm>
                    </p:grpSpPr>
                    <p:sp>
                      <p:nvSpPr>
                        <p:cNvPr id="199" name="Oval 198"/>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0" name="Oval 199"/>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90" name="Group 61"/>
                    <p:cNvGrpSpPr/>
                    <p:nvPr/>
                  </p:nvGrpSpPr>
                  <p:grpSpPr>
                    <a:xfrm>
                      <a:off x="914400" y="1447800"/>
                      <a:ext cx="2895600" cy="152400"/>
                      <a:chOff x="914400" y="1447800"/>
                      <a:chExt cx="2895600" cy="152400"/>
                    </a:xfrm>
                  </p:grpSpPr>
                  <p:grpSp>
                    <p:nvGrpSpPr>
                      <p:cNvPr id="191" name="Group 56"/>
                      <p:cNvGrpSpPr/>
                      <p:nvPr/>
                    </p:nvGrpSpPr>
                    <p:grpSpPr>
                      <a:xfrm>
                        <a:off x="914400" y="1447800"/>
                        <a:ext cx="1066800" cy="152400"/>
                        <a:chOff x="914400" y="1447800"/>
                        <a:chExt cx="1066800" cy="152400"/>
                      </a:xfrm>
                    </p:grpSpPr>
                    <p:sp>
                      <p:nvSpPr>
                        <p:cNvPr id="195" name="Oval 194"/>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6" name="Oval 195"/>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92" name="Group 57"/>
                      <p:cNvGrpSpPr/>
                      <p:nvPr/>
                    </p:nvGrpSpPr>
                    <p:grpSpPr>
                      <a:xfrm>
                        <a:off x="2743200" y="1447800"/>
                        <a:ext cx="1066800" cy="152400"/>
                        <a:chOff x="914400" y="1447800"/>
                        <a:chExt cx="1066800" cy="152400"/>
                      </a:xfrm>
                    </p:grpSpPr>
                    <p:sp>
                      <p:nvSpPr>
                        <p:cNvPr id="193" name="Oval 19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 name="Oval 19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grpSp>
        </p:grpSp>
      </p:grpSp>
      <p:sp>
        <p:nvSpPr>
          <p:cNvPr id="565" name="TextBox 564"/>
          <p:cNvSpPr txBox="1"/>
          <p:nvPr/>
        </p:nvSpPr>
        <p:spPr>
          <a:xfrm>
            <a:off x="609600" y="4343400"/>
            <a:ext cx="3048000" cy="369332"/>
          </a:xfrm>
          <a:prstGeom prst="rect">
            <a:avLst/>
          </a:prstGeom>
          <a:noFill/>
        </p:spPr>
        <p:txBody>
          <a:bodyPr wrap="square" rtlCol="0">
            <a:spAutoFit/>
          </a:bodyPr>
          <a:lstStyle/>
          <a:p>
            <a:r>
              <a:rPr lang="en-US" dirty="0" smtClean="0">
                <a:solidFill>
                  <a:srgbClr val="0824F2"/>
                </a:solidFill>
              </a:rPr>
              <a:t>1   2   3   4  …</a:t>
            </a:r>
            <a:endParaRPr lang="en-US" dirty="0">
              <a:solidFill>
                <a:srgbClr val="0824F2"/>
              </a:solidFill>
            </a:endParaRPr>
          </a:p>
        </p:txBody>
      </p:sp>
      <p:sp>
        <p:nvSpPr>
          <p:cNvPr id="566" name="TextBox 565"/>
          <p:cNvSpPr txBox="1"/>
          <p:nvPr/>
        </p:nvSpPr>
        <p:spPr>
          <a:xfrm>
            <a:off x="8305800" y="4355068"/>
            <a:ext cx="838200" cy="369332"/>
          </a:xfrm>
          <a:prstGeom prst="rect">
            <a:avLst/>
          </a:prstGeom>
          <a:noFill/>
        </p:spPr>
        <p:txBody>
          <a:bodyPr wrap="square" rtlCol="0">
            <a:spAutoFit/>
          </a:bodyPr>
          <a:lstStyle/>
          <a:p>
            <a:r>
              <a:rPr lang="en-US" dirty="0" smtClean="0">
                <a:solidFill>
                  <a:srgbClr val="0824F2"/>
                </a:solidFill>
              </a:rPr>
              <a:t> … 32</a:t>
            </a:r>
            <a:endParaRPr lang="en-US" dirty="0">
              <a:solidFill>
                <a:srgbClr val="0824F2"/>
              </a:solidFill>
            </a:endParaRPr>
          </a:p>
        </p:txBody>
      </p:sp>
      <p:sp>
        <p:nvSpPr>
          <p:cNvPr id="567" name="TextBox 566"/>
          <p:cNvSpPr txBox="1"/>
          <p:nvPr/>
        </p:nvSpPr>
        <p:spPr>
          <a:xfrm>
            <a:off x="304800" y="3886200"/>
            <a:ext cx="381000" cy="369332"/>
          </a:xfrm>
          <a:prstGeom prst="rect">
            <a:avLst/>
          </a:prstGeom>
          <a:noFill/>
        </p:spPr>
        <p:txBody>
          <a:bodyPr wrap="square" rtlCol="0">
            <a:spAutoFit/>
          </a:bodyPr>
          <a:lstStyle/>
          <a:p>
            <a:r>
              <a:rPr lang="en-US" dirty="0" smtClean="0">
                <a:solidFill>
                  <a:srgbClr val="0824F2"/>
                </a:solidFill>
              </a:rPr>
              <a:t>x</a:t>
            </a:r>
            <a:endParaRPr lang="en-US" dirty="0">
              <a:solidFill>
                <a:srgbClr val="0824F2"/>
              </a:solidFill>
            </a:endParaRPr>
          </a:p>
        </p:txBody>
      </p:sp>
      <p:sp>
        <p:nvSpPr>
          <p:cNvPr id="568" name="TextBox 567"/>
          <p:cNvSpPr txBox="1"/>
          <p:nvPr/>
        </p:nvSpPr>
        <p:spPr>
          <a:xfrm>
            <a:off x="152400" y="3516868"/>
            <a:ext cx="609600" cy="369332"/>
          </a:xfrm>
          <a:prstGeom prst="rect">
            <a:avLst/>
          </a:prstGeom>
          <a:noFill/>
        </p:spPr>
        <p:txBody>
          <a:bodyPr wrap="square" rtlCol="0">
            <a:spAutoFit/>
          </a:bodyPr>
          <a:lstStyle/>
          <a:p>
            <a:r>
              <a:rPr lang="en-US" dirty="0" err="1" smtClean="0">
                <a:solidFill>
                  <a:srgbClr val="0824F2"/>
                </a:solidFill>
              </a:rPr>
              <a:t>A·x</a:t>
            </a:r>
            <a:endParaRPr lang="en-US" dirty="0">
              <a:solidFill>
                <a:srgbClr val="0824F2"/>
              </a:solidFill>
            </a:endParaRPr>
          </a:p>
        </p:txBody>
      </p:sp>
      <p:sp>
        <p:nvSpPr>
          <p:cNvPr id="569" name="TextBox 568"/>
          <p:cNvSpPr txBox="1"/>
          <p:nvPr/>
        </p:nvSpPr>
        <p:spPr>
          <a:xfrm>
            <a:off x="152400" y="3124200"/>
            <a:ext cx="609600" cy="369332"/>
          </a:xfrm>
          <a:prstGeom prst="rect">
            <a:avLst/>
          </a:prstGeom>
          <a:noFill/>
        </p:spPr>
        <p:txBody>
          <a:bodyPr wrap="square" rtlCol="0">
            <a:spAutoFit/>
          </a:bodyPr>
          <a:lstStyle/>
          <a:p>
            <a:r>
              <a:rPr lang="en-US" dirty="0" smtClean="0">
                <a:solidFill>
                  <a:srgbClr val="0824F2"/>
                </a:solidFill>
              </a:rPr>
              <a:t>A</a:t>
            </a:r>
            <a:r>
              <a:rPr lang="en-US" sz="2000" b="1" baseline="30000" dirty="0" smtClean="0">
                <a:solidFill>
                  <a:srgbClr val="0824F2"/>
                </a:solidFill>
              </a:rPr>
              <a:t>2</a:t>
            </a:r>
            <a:r>
              <a:rPr lang="en-US" dirty="0" smtClean="0">
                <a:solidFill>
                  <a:srgbClr val="0824F2"/>
                </a:solidFill>
              </a:rPr>
              <a:t>·x</a:t>
            </a:r>
            <a:endParaRPr lang="en-US" dirty="0">
              <a:solidFill>
                <a:srgbClr val="0824F2"/>
              </a:solidFill>
            </a:endParaRPr>
          </a:p>
        </p:txBody>
      </p:sp>
      <p:sp>
        <p:nvSpPr>
          <p:cNvPr id="570" name="TextBox 569"/>
          <p:cNvSpPr txBox="1"/>
          <p:nvPr/>
        </p:nvSpPr>
        <p:spPr>
          <a:xfrm>
            <a:off x="152400" y="2743200"/>
            <a:ext cx="609600" cy="369332"/>
          </a:xfrm>
          <a:prstGeom prst="rect">
            <a:avLst/>
          </a:prstGeom>
          <a:noFill/>
        </p:spPr>
        <p:txBody>
          <a:bodyPr wrap="square" rtlCol="0">
            <a:spAutoFit/>
          </a:bodyPr>
          <a:lstStyle/>
          <a:p>
            <a:r>
              <a:rPr lang="en-US" dirty="0" smtClean="0">
                <a:solidFill>
                  <a:srgbClr val="0824F2"/>
                </a:solidFill>
              </a:rPr>
              <a:t>A</a:t>
            </a:r>
            <a:r>
              <a:rPr lang="en-US" sz="2000" b="1" baseline="30000" dirty="0" smtClean="0">
                <a:solidFill>
                  <a:srgbClr val="0824F2"/>
                </a:solidFill>
              </a:rPr>
              <a:t>3</a:t>
            </a:r>
            <a:r>
              <a:rPr lang="en-US" dirty="0" smtClean="0">
                <a:solidFill>
                  <a:srgbClr val="0824F2"/>
                </a:solidFill>
              </a:rPr>
              <a:t>·x</a:t>
            </a:r>
            <a:endParaRPr lang="en-US" dirty="0">
              <a:solidFill>
                <a:srgbClr val="0824F2"/>
              </a:solidFill>
            </a:endParaRPr>
          </a:p>
        </p:txBody>
      </p:sp>
      <p:sp>
        <p:nvSpPr>
          <p:cNvPr id="522" name="Title 1"/>
          <p:cNvSpPr txBox="1">
            <a:spLocks/>
          </p:cNvSpPr>
          <p:nvPr/>
        </p:nvSpPr>
        <p:spPr>
          <a:xfrm>
            <a:off x="457200" y="274638"/>
            <a:ext cx="8229600" cy="1143000"/>
          </a:xfrm>
          <a:prstGeom prst="rect">
            <a:avLst/>
          </a:prstGeom>
        </p:spPr>
        <p:txBody>
          <a:bodyPr rtlCol="0">
            <a:noAutofit/>
          </a:bodyPr>
          <a:lstStyle/>
          <a:p>
            <a:pPr lvl="0" algn="ctr">
              <a:spcBef>
                <a:spcPct val="0"/>
              </a:spcBef>
              <a:defRPr/>
            </a:pPr>
            <a:r>
              <a:rPr kumimoji="0" lang="en-US" sz="3600" b="0" i="0" u="none" strike="noStrike" kern="1200" cap="none" spc="0" normalizeH="0" baseline="0" noProof="0" dirty="0" smtClean="0">
                <a:ln>
                  <a:noFill/>
                </a:ln>
                <a:solidFill>
                  <a:schemeClr val="tx1"/>
                </a:solidFill>
                <a:effectLst/>
                <a:uLnTx/>
                <a:uFillTx/>
                <a:latin typeface="+mj-lt"/>
                <a:ea typeface="+mj-ea"/>
                <a:cs typeface="+mj-cs"/>
              </a:rPr>
              <a:t>Communication Avoiding Kernels:</a:t>
            </a:r>
            <a:br>
              <a:rPr kumimoji="0" lang="en-US" sz="3600" b="0" i="0" u="none" strike="noStrike" kern="1200" cap="none" spc="0" normalizeH="0" baseline="0" noProof="0" dirty="0" smtClean="0">
                <a:ln>
                  <a:noFill/>
                </a:ln>
                <a:solidFill>
                  <a:schemeClr val="tx1"/>
                </a:solidFill>
                <a:effectLst/>
                <a:uLnTx/>
                <a:uFillTx/>
                <a:latin typeface="+mj-lt"/>
                <a:ea typeface="+mj-ea"/>
                <a:cs typeface="+mj-cs"/>
              </a:rPr>
            </a:br>
            <a:r>
              <a:rPr kumimoji="0" lang="en-US" sz="2800" b="0" i="0" u="none" strike="noStrike" kern="1200" cap="none" spc="0" normalizeH="0" baseline="0" noProof="0" dirty="0" smtClean="0">
                <a:ln>
                  <a:noFill/>
                </a:ln>
                <a:solidFill>
                  <a:schemeClr val="tx1"/>
                </a:solidFill>
                <a:effectLst/>
                <a:uLnTx/>
                <a:uFillTx/>
                <a:latin typeface="+mj-lt"/>
                <a:ea typeface="+mj-ea"/>
                <a:cs typeface="+mj-cs"/>
              </a:rPr>
              <a:t>The Matrix Powers Kernel</a:t>
            </a:r>
            <a:r>
              <a:rPr lang="en-US" sz="2800" dirty="0" smtClean="0"/>
              <a:t> :</a:t>
            </a:r>
            <a:r>
              <a:rPr lang="en-US" sz="2800" dirty="0" smtClean="0">
                <a:sym typeface="Symbol"/>
              </a:rPr>
              <a:t> [</a:t>
            </a:r>
            <a:r>
              <a:rPr lang="en-US" sz="2800" dirty="0" smtClean="0"/>
              <a:t>Ax, A</a:t>
            </a:r>
            <a:r>
              <a:rPr lang="en-US" sz="2800" baseline="40000" dirty="0" smtClean="0"/>
              <a:t>2</a:t>
            </a:r>
            <a:r>
              <a:rPr lang="en-US" sz="2800" dirty="0" smtClean="0"/>
              <a:t>x, …, </a:t>
            </a:r>
            <a:r>
              <a:rPr lang="en-US" sz="2800" dirty="0" err="1" smtClean="0"/>
              <a:t>A</a:t>
            </a:r>
            <a:r>
              <a:rPr lang="en-US" sz="2800" baseline="40000" dirty="0" err="1" smtClean="0"/>
              <a:t>k</a:t>
            </a:r>
            <a:r>
              <a:rPr lang="en-US" sz="2800" dirty="0" err="1" smtClean="0"/>
              <a:t>x</a:t>
            </a:r>
            <a:r>
              <a:rPr lang="en-US" sz="2800" dirty="0" smtClean="0"/>
              <a:t>] </a:t>
            </a:r>
            <a:endParaRPr kumimoji="0" lang="en-US" sz="2800" b="0" i="0" u="none" strike="noStrike" kern="1200" cap="none" spc="0" normalizeH="0" baseline="0" noProof="0" dirty="0">
              <a:ln>
                <a:noFill/>
              </a:ln>
              <a:solidFill>
                <a:schemeClr val="tx1"/>
              </a:solidFill>
              <a:effectLst/>
              <a:uLnTx/>
              <a:uFillTx/>
              <a:latin typeface="+mj-lt"/>
              <a:ea typeface="+mj-ea"/>
              <a:cs typeface="+mj-cs"/>
            </a:endParaRPr>
          </a:p>
        </p:txBody>
      </p:sp>
      <p:cxnSp>
        <p:nvCxnSpPr>
          <p:cNvPr id="523" name="Straight Connector 522"/>
          <p:cNvCxnSpPr/>
          <p:nvPr/>
        </p:nvCxnSpPr>
        <p:spPr>
          <a:xfrm>
            <a:off x="228600" y="1371600"/>
            <a:ext cx="8305800" cy="0"/>
          </a:xfrm>
          <a:prstGeom prst="line">
            <a:avLst/>
          </a:prstGeom>
        </p:spPr>
        <p:style>
          <a:lnRef idx="1">
            <a:schemeClr val="accent1"/>
          </a:lnRef>
          <a:fillRef idx="0">
            <a:schemeClr val="accent1"/>
          </a:fillRef>
          <a:effectRef idx="0">
            <a:schemeClr val="accent1"/>
          </a:effectRef>
          <a:fontRef idx="minor">
            <a:schemeClr val="tx1"/>
          </a:fontRef>
        </p:style>
      </p:cxnSp>
      <p:sp>
        <p:nvSpPr>
          <p:cNvPr id="524" name="Content Placeholder 2"/>
          <p:cNvSpPr txBox="1">
            <a:spLocks/>
          </p:cNvSpPr>
          <p:nvPr/>
        </p:nvSpPr>
        <p:spPr>
          <a:xfrm>
            <a:off x="228600" y="1447800"/>
            <a:ext cx="8915400" cy="4525963"/>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Replace k iterations of y = </a:t>
            </a:r>
            <a:r>
              <a:rPr kumimoji="0" lang="en-US" sz="3200" b="0" i="0" u="none" strike="noStrike" kern="1200" cap="none" spc="0" normalizeH="0" baseline="0" noProof="0" dirty="0" err="1" smtClean="0">
                <a:ln>
                  <a:noFill/>
                </a:ln>
                <a:solidFill>
                  <a:schemeClr val="tx1"/>
                </a:solidFill>
                <a:effectLst/>
                <a:uLnTx/>
                <a:uFillTx/>
                <a:latin typeface="+mn-lt"/>
                <a:ea typeface="+mn-ea"/>
                <a:cs typeface="+mn-cs"/>
              </a:rPr>
              <a:t>A</a:t>
            </a:r>
            <a:r>
              <a:rPr kumimoji="0" lang="en-US" sz="3200" b="0" i="0" u="none" strike="noStrike" kern="1200" cap="none" spc="0" normalizeH="0" baseline="0" noProof="0" dirty="0" err="1" smtClean="0">
                <a:ln>
                  <a:noFill/>
                </a:ln>
                <a:solidFill>
                  <a:schemeClr val="tx1"/>
                </a:solidFill>
                <a:effectLst/>
                <a:uLnTx/>
                <a:uFillTx/>
                <a:latin typeface="+mn-lt"/>
                <a:ea typeface="+mn-ea"/>
                <a:cs typeface="+mn-cs"/>
                <a:sym typeface="Symbol"/>
              </a:rPr>
              <a:t>x</a:t>
            </a:r>
            <a:r>
              <a:rPr kumimoji="0" lang="en-US" sz="3200" b="0" i="0" u="none" strike="noStrike" kern="1200" cap="none" spc="0" normalizeH="0" baseline="0" noProof="0" dirty="0" smtClean="0">
                <a:ln>
                  <a:noFill/>
                </a:ln>
                <a:solidFill>
                  <a:schemeClr val="tx1"/>
                </a:solidFill>
                <a:effectLst/>
                <a:uLnTx/>
                <a:uFillTx/>
                <a:latin typeface="+mn-lt"/>
                <a:ea typeface="+mn-ea"/>
                <a:cs typeface="+mn-cs"/>
                <a:sym typeface="Symbol"/>
              </a:rPr>
              <a:t> with [</a:t>
            </a:r>
            <a:r>
              <a:rPr kumimoji="0" lang="en-US" sz="3200" b="0" i="0" u="none" strike="noStrike" kern="1200" cap="none" spc="0" normalizeH="0" baseline="0" noProof="0" dirty="0" smtClean="0">
                <a:ln>
                  <a:noFill/>
                </a:ln>
                <a:solidFill>
                  <a:schemeClr val="tx1"/>
                </a:solidFill>
                <a:effectLst/>
                <a:uLnTx/>
                <a:uFillTx/>
                <a:latin typeface="+mn-lt"/>
                <a:ea typeface="+mn-ea"/>
                <a:cs typeface="+mn-cs"/>
              </a:rPr>
              <a:t>Ax, A</a:t>
            </a:r>
            <a:r>
              <a:rPr kumimoji="0" lang="en-US" sz="3200" b="0" i="0" u="none" strike="noStrike" kern="1200" cap="none" spc="0" normalizeH="0" baseline="40000" noProof="0" dirty="0" smtClean="0">
                <a:ln>
                  <a:noFill/>
                </a:ln>
                <a:solidFill>
                  <a:schemeClr val="tx1"/>
                </a:solidFill>
                <a:effectLst/>
                <a:uLnTx/>
                <a:uFillTx/>
                <a:latin typeface="+mn-lt"/>
                <a:ea typeface="+mn-ea"/>
                <a:cs typeface="+mn-cs"/>
              </a:rPr>
              <a:t>2</a:t>
            </a:r>
            <a:r>
              <a:rPr kumimoji="0" lang="en-US" sz="3200" b="0" i="0" u="none" strike="noStrike" kern="1200" cap="none" spc="0" normalizeH="0" baseline="0" noProof="0" dirty="0" smtClean="0">
                <a:ln>
                  <a:noFill/>
                </a:ln>
                <a:solidFill>
                  <a:schemeClr val="tx1"/>
                </a:solidFill>
                <a:effectLst/>
                <a:uLnTx/>
                <a:uFillTx/>
                <a:latin typeface="+mn-lt"/>
                <a:ea typeface="+mn-ea"/>
                <a:cs typeface="+mn-cs"/>
              </a:rPr>
              <a:t>x, …, </a:t>
            </a:r>
            <a:r>
              <a:rPr kumimoji="0" lang="en-US" sz="3200" b="0" i="0" u="none" strike="noStrike" kern="1200" cap="none" spc="0" normalizeH="0" baseline="0" noProof="0" dirty="0" err="1" smtClean="0">
                <a:ln>
                  <a:noFill/>
                </a:ln>
                <a:solidFill>
                  <a:schemeClr val="tx1"/>
                </a:solidFill>
                <a:effectLst/>
                <a:uLnTx/>
                <a:uFillTx/>
                <a:latin typeface="+mn-lt"/>
                <a:ea typeface="+mn-ea"/>
                <a:cs typeface="+mn-cs"/>
              </a:rPr>
              <a:t>A</a:t>
            </a:r>
            <a:r>
              <a:rPr kumimoji="0" lang="en-US" sz="3200" b="0" i="0" u="none" strike="noStrike" kern="1200" cap="none" spc="0" normalizeH="0" baseline="40000" noProof="0" dirty="0" err="1" smtClean="0">
                <a:ln>
                  <a:noFill/>
                </a:ln>
                <a:solidFill>
                  <a:schemeClr val="tx1"/>
                </a:solidFill>
                <a:effectLst/>
                <a:uLnTx/>
                <a:uFillTx/>
                <a:latin typeface="+mn-lt"/>
                <a:ea typeface="+mn-ea"/>
                <a:cs typeface="+mn-cs"/>
              </a:rPr>
              <a:t>k</a:t>
            </a:r>
            <a:r>
              <a:rPr kumimoji="0" lang="en-US" sz="3200" b="0" i="0" u="none" strike="noStrike" kern="1200" cap="none" spc="0" normalizeH="0" baseline="0" noProof="0" dirty="0" err="1" smtClean="0">
                <a:ln>
                  <a:noFill/>
                </a:ln>
                <a:solidFill>
                  <a:schemeClr val="tx1"/>
                </a:solidFill>
                <a:effectLst/>
                <a:uLnTx/>
                <a:uFillTx/>
                <a:latin typeface="+mn-lt"/>
                <a:ea typeface="+mn-ea"/>
                <a:cs typeface="+mn-cs"/>
              </a:rPr>
              <a:t>x</a:t>
            </a:r>
            <a:r>
              <a:rPr kumimoji="0" lang="en-US" sz="3200" b="0" i="0" u="none" strike="noStrike" kern="1200" cap="none" spc="0" normalizeH="0" baseline="0" noProof="0" dirty="0" smtClean="0">
                <a:ln>
                  <a:noFill/>
                </a:ln>
                <a:solidFill>
                  <a:schemeClr val="tx1"/>
                </a:solidFill>
                <a:effectLst/>
                <a:uLnTx/>
                <a:uFillTx/>
                <a:latin typeface="+mn-lt"/>
                <a:ea typeface="+mn-ea"/>
                <a:cs typeface="+mn-cs"/>
              </a:rPr>
              <a:t>] </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en-US" sz="3200" dirty="0" smtClean="0"/>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en-US" sz="3200" dirty="0" smtClean="0"/>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Example: A </a:t>
            </a:r>
            <a:r>
              <a:rPr kumimoji="0" lang="en-US" sz="3200" b="0" i="0" u="none" strike="noStrike" kern="1200" cap="none" spc="0" normalizeH="0" baseline="0" noProof="0" dirty="0" err="1" smtClean="0">
                <a:ln>
                  <a:noFill/>
                </a:ln>
                <a:solidFill>
                  <a:schemeClr val="tx1"/>
                </a:solidFill>
                <a:effectLst/>
                <a:uLnTx/>
                <a:uFillTx/>
                <a:latin typeface="+mn-lt"/>
                <a:ea typeface="+mn-ea"/>
                <a:cs typeface="+mn-cs"/>
              </a:rPr>
              <a:t>tridiagonal</a:t>
            </a:r>
            <a:r>
              <a:rPr kumimoji="0" lang="en-US" sz="3200" b="0" i="0" u="none" strike="noStrike" kern="1200" cap="none" spc="0" normalizeH="0" baseline="0" noProof="0" dirty="0" smtClean="0">
                <a:ln>
                  <a:noFill/>
                </a:ln>
                <a:solidFill>
                  <a:schemeClr val="tx1"/>
                </a:solidFill>
                <a:effectLst/>
                <a:uLnTx/>
                <a:uFillTx/>
                <a:latin typeface="+mn-lt"/>
                <a:ea typeface="+mn-ea"/>
                <a:cs typeface="+mn-cs"/>
              </a:rPr>
              <a:t>, n=32,</a:t>
            </a:r>
            <a:r>
              <a:rPr kumimoji="0" lang="en-US" sz="3200" b="0" i="0" u="none" strike="noStrike" kern="1200" cap="none" spc="0" normalizeH="0" noProof="0" dirty="0" smtClean="0">
                <a:ln>
                  <a:noFill/>
                </a:ln>
                <a:solidFill>
                  <a:schemeClr val="tx1"/>
                </a:solidFill>
                <a:effectLst/>
                <a:uLnTx/>
                <a:uFillTx/>
                <a:latin typeface="+mn-lt"/>
                <a:ea typeface="+mn-ea"/>
                <a:cs typeface="+mn-cs"/>
              </a:rPr>
              <a:t> </a:t>
            </a:r>
            <a:r>
              <a:rPr kumimoji="0" lang="en-US" sz="3200" b="0" i="0" u="none" strike="noStrike" kern="1200" cap="none" spc="0" normalizeH="0" baseline="0" noProof="0" dirty="0" smtClean="0">
                <a:ln>
                  <a:noFill/>
                </a:ln>
                <a:solidFill>
                  <a:schemeClr val="tx1"/>
                </a:solidFill>
                <a:effectLst/>
                <a:uLnTx/>
                <a:uFillTx/>
                <a:latin typeface="+mn-lt"/>
                <a:ea typeface="+mn-ea"/>
                <a:cs typeface="+mn-cs"/>
              </a:rPr>
              <a:t>k=3</a:t>
            </a:r>
          </a:p>
        </p:txBody>
      </p:sp>
    </p:spTree>
  </p:cSld>
  <p:clrMapOvr>
    <a:masterClrMapping/>
  </p:clrMapOvr>
  <p:timing>
    <p:tnLst>
      <p:par>
        <p:cTn xmlns:p14="http://schemas.microsoft.com/office/powerpoint/2010/mai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 name="Isosceles Triangle 521"/>
          <p:cNvSpPr/>
          <p:nvPr/>
        </p:nvSpPr>
        <p:spPr>
          <a:xfrm>
            <a:off x="4114800" y="2895600"/>
            <a:ext cx="609600" cy="457200"/>
          </a:xfrm>
          <a:prstGeom prst="triangle">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1" name="Isosceles Triangle 520"/>
          <p:cNvSpPr/>
          <p:nvPr/>
        </p:nvSpPr>
        <p:spPr>
          <a:xfrm>
            <a:off x="990600" y="3657600"/>
            <a:ext cx="609600" cy="457200"/>
          </a:xfrm>
          <a:prstGeom prst="triangle">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 308"/>
          <p:cNvGrpSpPr/>
          <p:nvPr/>
        </p:nvGrpSpPr>
        <p:grpSpPr>
          <a:xfrm>
            <a:off x="762000" y="2895600"/>
            <a:ext cx="8077200" cy="1219200"/>
            <a:chOff x="-9144000" y="1447800"/>
            <a:chExt cx="28498800" cy="2895600"/>
          </a:xfrm>
        </p:grpSpPr>
        <p:grpSp>
          <p:nvGrpSpPr>
            <p:cNvPr id="3" name="Group 180"/>
            <p:cNvGrpSpPr/>
            <p:nvPr/>
          </p:nvGrpSpPr>
          <p:grpSpPr>
            <a:xfrm>
              <a:off x="-9144000" y="1447800"/>
              <a:ext cx="13868400" cy="2895600"/>
              <a:chOff x="914400" y="1447800"/>
              <a:chExt cx="13868400" cy="2895600"/>
            </a:xfrm>
          </p:grpSpPr>
          <p:grpSp>
            <p:nvGrpSpPr>
              <p:cNvPr id="4" name="Group 116"/>
              <p:cNvGrpSpPr/>
              <p:nvPr/>
            </p:nvGrpSpPr>
            <p:grpSpPr>
              <a:xfrm>
                <a:off x="914400" y="1447800"/>
                <a:ext cx="6553200" cy="2895600"/>
                <a:chOff x="914400" y="1447800"/>
                <a:chExt cx="6553200" cy="2895600"/>
              </a:xfrm>
            </p:grpSpPr>
            <p:grpSp>
              <p:nvGrpSpPr>
                <p:cNvPr id="5" name="Group 84"/>
                <p:cNvGrpSpPr/>
                <p:nvPr/>
              </p:nvGrpSpPr>
              <p:grpSpPr>
                <a:xfrm>
                  <a:off x="914400" y="1447800"/>
                  <a:ext cx="2895600" cy="2895600"/>
                  <a:chOff x="914400" y="1447800"/>
                  <a:chExt cx="2895600" cy="2895600"/>
                </a:xfrm>
              </p:grpSpPr>
              <p:grpSp>
                <p:nvGrpSpPr>
                  <p:cNvPr id="6" name="Group 68"/>
                  <p:cNvGrpSpPr/>
                  <p:nvPr/>
                </p:nvGrpSpPr>
                <p:grpSpPr>
                  <a:xfrm>
                    <a:off x="914400" y="1447800"/>
                    <a:ext cx="2895600" cy="1066800"/>
                    <a:chOff x="914400" y="1447800"/>
                    <a:chExt cx="2895600" cy="1066800"/>
                  </a:xfrm>
                </p:grpSpPr>
                <p:grpSp>
                  <p:nvGrpSpPr>
                    <p:cNvPr id="7" name="Group 60"/>
                    <p:cNvGrpSpPr/>
                    <p:nvPr/>
                  </p:nvGrpSpPr>
                  <p:grpSpPr>
                    <a:xfrm>
                      <a:off x="914400" y="2362200"/>
                      <a:ext cx="2895600" cy="152400"/>
                      <a:chOff x="914400" y="1447800"/>
                      <a:chExt cx="2895600" cy="152400"/>
                    </a:xfrm>
                  </p:grpSpPr>
                  <p:grpSp>
                    <p:nvGrpSpPr>
                      <p:cNvPr id="8" name="Group 56"/>
                      <p:cNvGrpSpPr/>
                      <p:nvPr/>
                    </p:nvGrpSpPr>
                    <p:grpSpPr>
                      <a:xfrm>
                        <a:off x="914400" y="1447800"/>
                        <a:ext cx="1066800" cy="152400"/>
                        <a:chOff x="914400" y="1447800"/>
                        <a:chExt cx="1066800" cy="152400"/>
                      </a:xfrm>
                    </p:grpSpPr>
                    <p:sp>
                      <p:nvSpPr>
                        <p:cNvPr id="53" name="Oval 5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Oval 5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 name="Group 57"/>
                      <p:cNvGrpSpPr/>
                      <p:nvPr/>
                    </p:nvGrpSpPr>
                    <p:grpSpPr>
                      <a:xfrm>
                        <a:off x="2743200" y="1447800"/>
                        <a:ext cx="1066800" cy="152400"/>
                        <a:chOff x="914400" y="1447800"/>
                        <a:chExt cx="1066800" cy="152400"/>
                      </a:xfrm>
                    </p:grpSpPr>
                    <p:sp>
                      <p:nvSpPr>
                        <p:cNvPr id="59" name="Oval 58"/>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Oval 59"/>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0" name="Group 61"/>
                    <p:cNvGrpSpPr/>
                    <p:nvPr/>
                  </p:nvGrpSpPr>
                  <p:grpSpPr>
                    <a:xfrm>
                      <a:off x="914400" y="1447800"/>
                      <a:ext cx="2895600" cy="152400"/>
                      <a:chOff x="914400" y="1447800"/>
                      <a:chExt cx="2895600" cy="152400"/>
                    </a:xfrm>
                  </p:grpSpPr>
                  <p:grpSp>
                    <p:nvGrpSpPr>
                      <p:cNvPr id="11" name="Group 56"/>
                      <p:cNvGrpSpPr/>
                      <p:nvPr/>
                    </p:nvGrpSpPr>
                    <p:grpSpPr>
                      <a:xfrm>
                        <a:off x="914400" y="1447800"/>
                        <a:ext cx="1066800" cy="152400"/>
                        <a:chOff x="914400" y="1447800"/>
                        <a:chExt cx="1066800" cy="152400"/>
                      </a:xfrm>
                    </p:grpSpPr>
                    <p:sp>
                      <p:nvSpPr>
                        <p:cNvPr id="67" name="Oval 66"/>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Oval 67"/>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2" name="Group 57"/>
                      <p:cNvGrpSpPr/>
                      <p:nvPr/>
                    </p:nvGrpSpPr>
                    <p:grpSpPr>
                      <a:xfrm>
                        <a:off x="2743200" y="1447800"/>
                        <a:ext cx="1066800" cy="152400"/>
                        <a:chOff x="914400" y="1447800"/>
                        <a:chExt cx="1066800" cy="152400"/>
                      </a:xfrm>
                    </p:grpSpPr>
                    <p:sp>
                      <p:nvSpPr>
                        <p:cNvPr id="65" name="Oval 64"/>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Oval 65"/>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nvGrpSpPr>
                  <p:cNvPr id="13" name="Group 69"/>
                  <p:cNvGrpSpPr/>
                  <p:nvPr/>
                </p:nvGrpSpPr>
                <p:grpSpPr>
                  <a:xfrm>
                    <a:off x="914400" y="3276600"/>
                    <a:ext cx="2895600" cy="1066800"/>
                    <a:chOff x="914400" y="1447800"/>
                    <a:chExt cx="2895600" cy="1066800"/>
                  </a:xfrm>
                </p:grpSpPr>
                <p:grpSp>
                  <p:nvGrpSpPr>
                    <p:cNvPr id="14" name="Group 60"/>
                    <p:cNvGrpSpPr/>
                    <p:nvPr/>
                  </p:nvGrpSpPr>
                  <p:grpSpPr>
                    <a:xfrm>
                      <a:off x="914400" y="2362200"/>
                      <a:ext cx="2895600" cy="152400"/>
                      <a:chOff x="914400" y="1447800"/>
                      <a:chExt cx="2895600" cy="152400"/>
                    </a:xfrm>
                  </p:grpSpPr>
                  <p:grpSp>
                    <p:nvGrpSpPr>
                      <p:cNvPr id="15" name="Group 56"/>
                      <p:cNvGrpSpPr/>
                      <p:nvPr/>
                    </p:nvGrpSpPr>
                    <p:grpSpPr>
                      <a:xfrm>
                        <a:off x="914400" y="1447800"/>
                        <a:ext cx="1066800" cy="152400"/>
                        <a:chOff x="914400" y="1447800"/>
                        <a:chExt cx="1066800" cy="152400"/>
                      </a:xfrm>
                    </p:grpSpPr>
                    <p:sp>
                      <p:nvSpPr>
                        <p:cNvPr id="83" name="Oval 8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Oval 8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 name="Group 57"/>
                      <p:cNvGrpSpPr/>
                      <p:nvPr/>
                    </p:nvGrpSpPr>
                    <p:grpSpPr>
                      <a:xfrm>
                        <a:off x="2743200" y="1447800"/>
                        <a:ext cx="1066800" cy="152400"/>
                        <a:chOff x="914400" y="1447800"/>
                        <a:chExt cx="1066800" cy="152400"/>
                      </a:xfrm>
                    </p:grpSpPr>
                    <p:sp>
                      <p:nvSpPr>
                        <p:cNvPr id="81" name="Oval 80"/>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Oval 81"/>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7" name="Group 61"/>
                    <p:cNvGrpSpPr/>
                    <p:nvPr/>
                  </p:nvGrpSpPr>
                  <p:grpSpPr>
                    <a:xfrm>
                      <a:off x="914400" y="1447800"/>
                      <a:ext cx="2895600" cy="152400"/>
                      <a:chOff x="914400" y="1447800"/>
                      <a:chExt cx="2895600" cy="152400"/>
                    </a:xfrm>
                  </p:grpSpPr>
                  <p:grpSp>
                    <p:nvGrpSpPr>
                      <p:cNvPr id="18" name="Group 56"/>
                      <p:cNvGrpSpPr/>
                      <p:nvPr/>
                    </p:nvGrpSpPr>
                    <p:grpSpPr>
                      <a:xfrm>
                        <a:off x="914400" y="1447800"/>
                        <a:ext cx="1066800" cy="152400"/>
                        <a:chOff x="914400" y="1447800"/>
                        <a:chExt cx="1066800" cy="152400"/>
                      </a:xfrm>
                    </p:grpSpPr>
                    <p:sp>
                      <p:nvSpPr>
                        <p:cNvPr id="77" name="Oval 76"/>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Oval 77"/>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9" name="Group 57"/>
                      <p:cNvGrpSpPr/>
                      <p:nvPr/>
                    </p:nvGrpSpPr>
                    <p:grpSpPr>
                      <a:xfrm>
                        <a:off x="2743200" y="1447800"/>
                        <a:ext cx="1066800" cy="152400"/>
                        <a:chOff x="914400" y="1447800"/>
                        <a:chExt cx="1066800" cy="152400"/>
                      </a:xfrm>
                    </p:grpSpPr>
                    <p:sp>
                      <p:nvSpPr>
                        <p:cNvPr id="75" name="Oval 74"/>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Oval 75"/>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grpSp>
              <p:nvGrpSpPr>
                <p:cNvPr id="20" name="Group 85"/>
                <p:cNvGrpSpPr/>
                <p:nvPr/>
              </p:nvGrpSpPr>
              <p:grpSpPr>
                <a:xfrm>
                  <a:off x="4572000" y="1447800"/>
                  <a:ext cx="2895600" cy="2895600"/>
                  <a:chOff x="914400" y="1447800"/>
                  <a:chExt cx="2895600" cy="2895600"/>
                </a:xfrm>
              </p:grpSpPr>
              <p:grpSp>
                <p:nvGrpSpPr>
                  <p:cNvPr id="21" name="Group 68"/>
                  <p:cNvGrpSpPr/>
                  <p:nvPr/>
                </p:nvGrpSpPr>
                <p:grpSpPr>
                  <a:xfrm>
                    <a:off x="914400" y="1447800"/>
                    <a:ext cx="2895600" cy="1066800"/>
                    <a:chOff x="914400" y="1447800"/>
                    <a:chExt cx="2895600" cy="1066800"/>
                  </a:xfrm>
                </p:grpSpPr>
                <p:grpSp>
                  <p:nvGrpSpPr>
                    <p:cNvPr id="22" name="Group 60"/>
                    <p:cNvGrpSpPr/>
                    <p:nvPr/>
                  </p:nvGrpSpPr>
                  <p:grpSpPr>
                    <a:xfrm>
                      <a:off x="914400" y="2362200"/>
                      <a:ext cx="2895600" cy="152400"/>
                      <a:chOff x="914400" y="1447800"/>
                      <a:chExt cx="2895600" cy="152400"/>
                    </a:xfrm>
                  </p:grpSpPr>
                  <p:grpSp>
                    <p:nvGrpSpPr>
                      <p:cNvPr id="23" name="Group 56"/>
                      <p:cNvGrpSpPr/>
                      <p:nvPr/>
                    </p:nvGrpSpPr>
                    <p:grpSpPr>
                      <a:xfrm>
                        <a:off x="914400" y="1447800"/>
                        <a:ext cx="1066800" cy="152400"/>
                        <a:chOff x="914400" y="1447800"/>
                        <a:chExt cx="1066800" cy="152400"/>
                      </a:xfrm>
                    </p:grpSpPr>
                    <p:sp>
                      <p:nvSpPr>
                        <p:cNvPr id="115" name="Oval 114"/>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 name="Oval 115"/>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4" name="Group 57"/>
                      <p:cNvGrpSpPr/>
                      <p:nvPr/>
                    </p:nvGrpSpPr>
                    <p:grpSpPr>
                      <a:xfrm>
                        <a:off x="2743200" y="1447800"/>
                        <a:ext cx="1066800" cy="152400"/>
                        <a:chOff x="914400" y="1447800"/>
                        <a:chExt cx="1066800" cy="152400"/>
                      </a:xfrm>
                    </p:grpSpPr>
                    <p:sp>
                      <p:nvSpPr>
                        <p:cNvPr id="113" name="Oval 11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Oval 11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25" name="Group 61"/>
                    <p:cNvGrpSpPr/>
                    <p:nvPr/>
                  </p:nvGrpSpPr>
                  <p:grpSpPr>
                    <a:xfrm>
                      <a:off x="914400" y="1447800"/>
                      <a:ext cx="2895600" cy="152400"/>
                      <a:chOff x="914400" y="1447800"/>
                      <a:chExt cx="2895600" cy="152400"/>
                    </a:xfrm>
                  </p:grpSpPr>
                  <p:grpSp>
                    <p:nvGrpSpPr>
                      <p:cNvPr id="26" name="Group 56"/>
                      <p:cNvGrpSpPr/>
                      <p:nvPr/>
                    </p:nvGrpSpPr>
                    <p:grpSpPr>
                      <a:xfrm>
                        <a:off x="914400" y="1447800"/>
                        <a:ext cx="1066800" cy="152400"/>
                        <a:chOff x="914400" y="1447800"/>
                        <a:chExt cx="1066800" cy="152400"/>
                      </a:xfrm>
                    </p:grpSpPr>
                    <p:sp>
                      <p:nvSpPr>
                        <p:cNvPr id="109" name="Oval 108"/>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Oval 109"/>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7" name="Group 57"/>
                      <p:cNvGrpSpPr/>
                      <p:nvPr/>
                    </p:nvGrpSpPr>
                    <p:grpSpPr>
                      <a:xfrm>
                        <a:off x="2743200" y="1447800"/>
                        <a:ext cx="1066800" cy="152400"/>
                        <a:chOff x="914400" y="1447800"/>
                        <a:chExt cx="1066800" cy="152400"/>
                      </a:xfrm>
                    </p:grpSpPr>
                    <p:sp>
                      <p:nvSpPr>
                        <p:cNvPr id="107" name="Oval 106"/>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Oval 107"/>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nvGrpSpPr>
                  <p:cNvPr id="28" name="Group 69"/>
                  <p:cNvGrpSpPr/>
                  <p:nvPr/>
                </p:nvGrpSpPr>
                <p:grpSpPr>
                  <a:xfrm>
                    <a:off x="914400" y="3276600"/>
                    <a:ext cx="2895600" cy="1066800"/>
                    <a:chOff x="914400" y="1447800"/>
                    <a:chExt cx="2895600" cy="1066800"/>
                  </a:xfrm>
                </p:grpSpPr>
                <p:grpSp>
                  <p:nvGrpSpPr>
                    <p:cNvPr id="29" name="Group 60"/>
                    <p:cNvGrpSpPr/>
                    <p:nvPr/>
                  </p:nvGrpSpPr>
                  <p:grpSpPr>
                    <a:xfrm>
                      <a:off x="914400" y="2362200"/>
                      <a:ext cx="2895600" cy="152400"/>
                      <a:chOff x="914400" y="1447800"/>
                      <a:chExt cx="2895600" cy="152400"/>
                    </a:xfrm>
                  </p:grpSpPr>
                  <p:grpSp>
                    <p:nvGrpSpPr>
                      <p:cNvPr id="30" name="Group 56"/>
                      <p:cNvGrpSpPr/>
                      <p:nvPr/>
                    </p:nvGrpSpPr>
                    <p:grpSpPr>
                      <a:xfrm>
                        <a:off x="914400" y="1447800"/>
                        <a:ext cx="1066800" cy="152400"/>
                        <a:chOff x="914400" y="1447800"/>
                        <a:chExt cx="1066800" cy="152400"/>
                      </a:xfrm>
                    </p:grpSpPr>
                    <p:sp>
                      <p:nvSpPr>
                        <p:cNvPr id="101" name="Oval 100"/>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Oval 101"/>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1" name="Group 57"/>
                      <p:cNvGrpSpPr/>
                      <p:nvPr/>
                    </p:nvGrpSpPr>
                    <p:grpSpPr>
                      <a:xfrm>
                        <a:off x="2743200" y="1447800"/>
                        <a:ext cx="1066800" cy="152400"/>
                        <a:chOff x="914400" y="1447800"/>
                        <a:chExt cx="1066800" cy="152400"/>
                      </a:xfrm>
                    </p:grpSpPr>
                    <p:sp>
                      <p:nvSpPr>
                        <p:cNvPr id="99" name="Oval 98"/>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Oval 99"/>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32" name="Group 61"/>
                    <p:cNvGrpSpPr/>
                    <p:nvPr/>
                  </p:nvGrpSpPr>
                  <p:grpSpPr>
                    <a:xfrm>
                      <a:off x="914400" y="1447800"/>
                      <a:ext cx="2895600" cy="152400"/>
                      <a:chOff x="914400" y="1447800"/>
                      <a:chExt cx="2895600" cy="152400"/>
                    </a:xfrm>
                  </p:grpSpPr>
                  <p:grpSp>
                    <p:nvGrpSpPr>
                      <p:cNvPr id="33" name="Group 56"/>
                      <p:cNvGrpSpPr/>
                      <p:nvPr/>
                    </p:nvGrpSpPr>
                    <p:grpSpPr>
                      <a:xfrm>
                        <a:off x="914400" y="1447800"/>
                        <a:ext cx="1066800" cy="152400"/>
                        <a:chOff x="914400" y="1447800"/>
                        <a:chExt cx="1066800" cy="152400"/>
                      </a:xfrm>
                    </p:grpSpPr>
                    <p:sp>
                      <p:nvSpPr>
                        <p:cNvPr id="95" name="Oval 94"/>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Oval 95"/>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4" name="Group 57"/>
                      <p:cNvGrpSpPr/>
                      <p:nvPr/>
                    </p:nvGrpSpPr>
                    <p:grpSpPr>
                      <a:xfrm>
                        <a:off x="2743200" y="1447800"/>
                        <a:ext cx="1066800" cy="152400"/>
                        <a:chOff x="914400" y="1447800"/>
                        <a:chExt cx="1066800" cy="152400"/>
                      </a:xfrm>
                    </p:grpSpPr>
                    <p:sp>
                      <p:nvSpPr>
                        <p:cNvPr id="93" name="Oval 9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Oval 9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grpSp>
          <p:grpSp>
            <p:nvGrpSpPr>
              <p:cNvPr id="35" name="Group 117"/>
              <p:cNvGrpSpPr/>
              <p:nvPr/>
            </p:nvGrpSpPr>
            <p:grpSpPr>
              <a:xfrm>
                <a:off x="8229600" y="1447800"/>
                <a:ext cx="6553200" cy="2895600"/>
                <a:chOff x="914400" y="1447800"/>
                <a:chExt cx="6553200" cy="2895600"/>
              </a:xfrm>
            </p:grpSpPr>
            <p:grpSp>
              <p:nvGrpSpPr>
                <p:cNvPr id="36" name="Group 84"/>
                <p:cNvGrpSpPr/>
                <p:nvPr/>
              </p:nvGrpSpPr>
              <p:grpSpPr>
                <a:xfrm>
                  <a:off x="914400" y="1447800"/>
                  <a:ext cx="2895600" cy="2895600"/>
                  <a:chOff x="914400" y="1447800"/>
                  <a:chExt cx="2895600" cy="2895600"/>
                </a:xfrm>
              </p:grpSpPr>
              <p:grpSp>
                <p:nvGrpSpPr>
                  <p:cNvPr id="37" name="Group 68"/>
                  <p:cNvGrpSpPr/>
                  <p:nvPr/>
                </p:nvGrpSpPr>
                <p:grpSpPr>
                  <a:xfrm>
                    <a:off x="914400" y="1447800"/>
                    <a:ext cx="2895600" cy="1066800"/>
                    <a:chOff x="914400" y="1447800"/>
                    <a:chExt cx="2895600" cy="1066800"/>
                  </a:xfrm>
                </p:grpSpPr>
                <p:grpSp>
                  <p:nvGrpSpPr>
                    <p:cNvPr id="38" name="Group 60"/>
                    <p:cNvGrpSpPr/>
                    <p:nvPr/>
                  </p:nvGrpSpPr>
                  <p:grpSpPr>
                    <a:xfrm>
                      <a:off x="914400" y="2362200"/>
                      <a:ext cx="2895600" cy="152400"/>
                      <a:chOff x="914400" y="1447800"/>
                      <a:chExt cx="2895600" cy="152400"/>
                    </a:xfrm>
                  </p:grpSpPr>
                  <p:grpSp>
                    <p:nvGrpSpPr>
                      <p:cNvPr id="39" name="Group 56"/>
                      <p:cNvGrpSpPr/>
                      <p:nvPr/>
                    </p:nvGrpSpPr>
                    <p:grpSpPr>
                      <a:xfrm>
                        <a:off x="914400" y="1447800"/>
                        <a:ext cx="1066800" cy="152400"/>
                        <a:chOff x="914400" y="1447800"/>
                        <a:chExt cx="1066800" cy="152400"/>
                      </a:xfrm>
                    </p:grpSpPr>
                    <p:sp>
                      <p:nvSpPr>
                        <p:cNvPr id="179" name="Oval 5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0" name="Oval 5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0" name="Group 57"/>
                      <p:cNvGrpSpPr/>
                      <p:nvPr/>
                    </p:nvGrpSpPr>
                    <p:grpSpPr>
                      <a:xfrm>
                        <a:off x="2743200" y="1447800"/>
                        <a:ext cx="1066800" cy="152400"/>
                        <a:chOff x="914400" y="1447800"/>
                        <a:chExt cx="1066800" cy="152400"/>
                      </a:xfrm>
                    </p:grpSpPr>
                    <p:sp>
                      <p:nvSpPr>
                        <p:cNvPr id="177" name="Oval 58"/>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8" name="Oval 59"/>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41" name="Group 61"/>
                    <p:cNvGrpSpPr/>
                    <p:nvPr/>
                  </p:nvGrpSpPr>
                  <p:grpSpPr>
                    <a:xfrm>
                      <a:off x="914400" y="1447800"/>
                      <a:ext cx="2895600" cy="152400"/>
                      <a:chOff x="914400" y="1447800"/>
                      <a:chExt cx="2895600" cy="152400"/>
                    </a:xfrm>
                  </p:grpSpPr>
                  <p:grpSp>
                    <p:nvGrpSpPr>
                      <p:cNvPr id="42" name="Group 56"/>
                      <p:cNvGrpSpPr/>
                      <p:nvPr/>
                    </p:nvGrpSpPr>
                    <p:grpSpPr>
                      <a:xfrm>
                        <a:off x="914400" y="1447800"/>
                        <a:ext cx="1066800" cy="152400"/>
                        <a:chOff x="914400" y="1447800"/>
                        <a:chExt cx="1066800" cy="152400"/>
                      </a:xfrm>
                    </p:grpSpPr>
                    <p:sp>
                      <p:nvSpPr>
                        <p:cNvPr id="173" name="Oval 17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4" name="Oval 17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3" name="Group 57"/>
                      <p:cNvGrpSpPr/>
                      <p:nvPr/>
                    </p:nvGrpSpPr>
                    <p:grpSpPr>
                      <a:xfrm>
                        <a:off x="2743200" y="1447800"/>
                        <a:ext cx="1066800" cy="152400"/>
                        <a:chOff x="914400" y="1447800"/>
                        <a:chExt cx="1066800" cy="152400"/>
                      </a:xfrm>
                    </p:grpSpPr>
                    <p:sp>
                      <p:nvSpPr>
                        <p:cNvPr id="171" name="Oval 170"/>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2" name="Oval 171"/>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nvGrpSpPr>
                  <p:cNvPr id="44" name="Group 69"/>
                  <p:cNvGrpSpPr/>
                  <p:nvPr/>
                </p:nvGrpSpPr>
                <p:grpSpPr>
                  <a:xfrm>
                    <a:off x="914400" y="3276600"/>
                    <a:ext cx="2895600" cy="1066800"/>
                    <a:chOff x="914400" y="1447800"/>
                    <a:chExt cx="2895600" cy="1066800"/>
                  </a:xfrm>
                </p:grpSpPr>
                <p:grpSp>
                  <p:nvGrpSpPr>
                    <p:cNvPr id="45" name="Group 60"/>
                    <p:cNvGrpSpPr/>
                    <p:nvPr/>
                  </p:nvGrpSpPr>
                  <p:grpSpPr>
                    <a:xfrm>
                      <a:off x="914400" y="2362200"/>
                      <a:ext cx="2895600" cy="152400"/>
                      <a:chOff x="914400" y="1447800"/>
                      <a:chExt cx="2895600" cy="152400"/>
                    </a:xfrm>
                  </p:grpSpPr>
                  <p:grpSp>
                    <p:nvGrpSpPr>
                      <p:cNvPr id="46" name="Group 56"/>
                      <p:cNvGrpSpPr/>
                      <p:nvPr/>
                    </p:nvGrpSpPr>
                    <p:grpSpPr>
                      <a:xfrm>
                        <a:off x="914400" y="1447800"/>
                        <a:ext cx="1066800" cy="152400"/>
                        <a:chOff x="914400" y="1447800"/>
                        <a:chExt cx="1066800" cy="152400"/>
                      </a:xfrm>
                    </p:grpSpPr>
                    <p:sp>
                      <p:nvSpPr>
                        <p:cNvPr id="165" name="Oval 164"/>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6" name="Oval 165"/>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7" name="Group 57"/>
                      <p:cNvGrpSpPr/>
                      <p:nvPr/>
                    </p:nvGrpSpPr>
                    <p:grpSpPr>
                      <a:xfrm>
                        <a:off x="2743200" y="1447800"/>
                        <a:ext cx="1066800" cy="152400"/>
                        <a:chOff x="914400" y="1447800"/>
                        <a:chExt cx="1066800" cy="152400"/>
                      </a:xfrm>
                    </p:grpSpPr>
                    <p:sp>
                      <p:nvSpPr>
                        <p:cNvPr id="163" name="Oval 16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4" name="Oval 16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48" name="Group 61"/>
                    <p:cNvGrpSpPr/>
                    <p:nvPr/>
                  </p:nvGrpSpPr>
                  <p:grpSpPr>
                    <a:xfrm>
                      <a:off x="914400" y="1447800"/>
                      <a:ext cx="2895600" cy="152400"/>
                      <a:chOff x="914400" y="1447800"/>
                      <a:chExt cx="2895600" cy="152400"/>
                    </a:xfrm>
                  </p:grpSpPr>
                  <p:grpSp>
                    <p:nvGrpSpPr>
                      <p:cNvPr id="49" name="Group 56"/>
                      <p:cNvGrpSpPr/>
                      <p:nvPr/>
                    </p:nvGrpSpPr>
                    <p:grpSpPr>
                      <a:xfrm>
                        <a:off x="914400" y="1447800"/>
                        <a:ext cx="1066800" cy="152400"/>
                        <a:chOff x="914400" y="1447800"/>
                        <a:chExt cx="1066800" cy="152400"/>
                      </a:xfrm>
                    </p:grpSpPr>
                    <p:sp>
                      <p:nvSpPr>
                        <p:cNvPr id="159" name="Oval 158"/>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0" name="Oval 159"/>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0" name="Group 57"/>
                      <p:cNvGrpSpPr/>
                      <p:nvPr/>
                    </p:nvGrpSpPr>
                    <p:grpSpPr>
                      <a:xfrm>
                        <a:off x="2743200" y="1447800"/>
                        <a:ext cx="1066800" cy="152400"/>
                        <a:chOff x="914400" y="1447800"/>
                        <a:chExt cx="1066800" cy="152400"/>
                      </a:xfrm>
                    </p:grpSpPr>
                    <p:sp>
                      <p:nvSpPr>
                        <p:cNvPr id="157" name="Oval 156"/>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8" name="Oval 157"/>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grpSp>
              <p:nvGrpSpPr>
                <p:cNvPr id="51" name="Group 85"/>
                <p:cNvGrpSpPr/>
                <p:nvPr/>
              </p:nvGrpSpPr>
              <p:grpSpPr>
                <a:xfrm>
                  <a:off x="4572000" y="1447800"/>
                  <a:ext cx="2895600" cy="2895600"/>
                  <a:chOff x="914400" y="1447800"/>
                  <a:chExt cx="2895600" cy="2895600"/>
                </a:xfrm>
              </p:grpSpPr>
              <p:grpSp>
                <p:nvGrpSpPr>
                  <p:cNvPr id="52" name="Group 68"/>
                  <p:cNvGrpSpPr/>
                  <p:nvPr/>
                </p:nvGrpSpPr>
                <p:grpSpPr>
                  <a:xfrm>
                    <a:off x="914400" y="1447800"/>
                    <a:ext cx="2895600" cy="1066800"/>
                    <a:chOff x="914400" y="1447800"/>
                    <a:chExt cx="2895600" cy="1066800"/>
                  </a:xfrm>
                </p:grpSpPr>
                <p:grpSp>
                  <p:nvGrpSpPr>
                    <p:cNvPr id="55" name="Group 60"/>
                    <p:cNvGrpSpPr/>
                    <p:nvPr/>
                  </p:nvGrpSpPr>
                  <p:grpSpPr>
                    <a:xfrm>
                      <a:off x="914400" y="2362200"/>
                      <a:ext cx="2895600" cy="152400"/>
                      <a:chOff x="914400" y="1447800"/>
                      <a:chExt cx="2895600" cy="152400"/>
                    </a:xfrm>
                  </p:grpSpPr>
                  <p:grpSp>
                    <p:nvGrpSpPr>
                      <p:cNvPr id="56" name="Group 56"/>
                      <p:cNvGrpSpPr/>
                      <p:nvPr/>
                    </p:nvGrpSpPr>
                    <p:grpSpPr>
                      <a:xfrm>
                        <a:off x="914400" y="1447800"/>
                        <a:ext cx="1066800" cy="152400"/>
                        <a:chOff x="914400" y="1447800"/>
                        <a:chExt cx="1066800" cy="152400"/>
                      </a:xfrm>
                    </p:grpSpPr>
                    <p:sp>
                      <p:nvSpPr>
                        <p:cNvPr id="149" name="Oval 148"/>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0" name="Oval 149"/>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7" name="Group 57"/>
                      <p:cNvGrpSpPr/>
                      <p:nvPr/>
                    </p:nvGrpSpPr>
                    <p:grpSpPr>
                      <a:xfrm>
                        <a:off x="2743200" y="1447800"/>
                        <a:ext cx="1066800" cy="152400"/>
                        <a:chOff x="914400" y="1447800"/>
                        <a:chExt cx="1066800" cy="152400"/>
                      </a:xfrm>
                    </p:grpSpPr>
                    <p:sp>
                      <p:nvSpPr>
                        <p:cNvPr id="147" name="Oval 146"/>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8" name="Oval 147"/>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58" name="Group 61"/>
                    <p:cNvGrpSpPr/>
                    <p:nvPr/>
                  </p:nvGrpSpPr>
                  <p:grpSpPr>
                    <a:xfrm>
                      <a:off x="914400" y="1447800"/>
                      <a:ext cx="2895600" cy="152400"/>
                      <a:chOff x="914400" y="1447800"/>
                      <a:chExt cx="2895600" cy="152400"/>
                    </a:xfrm>
                  </p:grpSpPr>
                  <p:grpSp>
                    <p:nvGrpSpPr>
                      <p:cNvPr id="61" name="Group 56"/>
                      <p:cNvGrpSpPr/>
                      <p:nvPr/>
                    </p:nvGrpSpPr>
                    <p:grpSpPr>
                      <a:xfrm>
                        <a:off x="914400" y="1447800"/>
                        <a:ext cx="1066800" cy="152400"/>
                        <a:chOff x="914400" y="1447800"/>
                        <a:chExt cx="1066800" cy="152400"/>
                      </a:xfrm>
                    </p:grpSpPr>
                    <p:sp>
                      <p:nvSpPr>
                        <p:cNvPr id="143" name="Oval 14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4" name="Oval 14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2" name="Group 57"/>
                      <p:cNvGrpSpPr/>
                      <p:nvPr/>
                    </p:nvGrpSpPr>
                    <p:grpSpPr>
                      <a:xfrm>
                        <a:off x="2743200" y="1447800"/>
                        <a:ext cx="1066800" cy="152400"/>
                        <a:chOff x="914400" y="1447800"/>
                        <a:chExt cx="1066800" cy="152400"/>
                      </a:xfrm>
                    </p:grpSpPr>
                    <p:sp>
                      <p:nvSpPr>
                        <p:cNvPr id="141" name="Oval 140"/>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2" name="Oval 141"/>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nvGrpSpPr>
                  <p:cNvPr id="63" name="Group 69"/>
                  <p:cNvGrpSpPr/>
                  <p:nvPr/>
                </p:nvGrpSpPr>
                <p:grpSpPr>
                  <a:xfrm>
                    <a:off x="914400" y="3276600"/>
                    <a:ext cx="2895600" cy="1066800"/>
                    <a:chOff x="914400" y="1447800"/>
                    <a:chExt cx="2895600" cy="1066800"/>
                  </a:xfrm>
                </p:grpSpPr>
                <p:grpSp>
                  <p:nvGrpSpPr>
                    <p:cNvPr id="64" name="Group 60"/>
                    <p:cNvGrpSpPr/>
                    <p:nvPr/>
                  </p:nvGrpSpPr>
                  <p:grpSpPr>
                    <a:xfrm>
                      <a:off x="914400" y="2362200"/>
                      <a:ext cx="2895600" cy="152400"/>
                      <a:chOff x="914400" y="1447800"/>
                      <a:chExt cx="2895600" cy="152400"/>
                    </a:xfrm>
                  </p:grpSpPr>
                  <p:grpSp>
                    <p:nvGrpSpPr>
                      <p:cNvPr id="69" name="Group 56"/>
                      <p:cNvGrpSpPr/>
                      <p:nvPr/>
                    </p:nvGrpSpPr>
                    <p:grpSpPr>
                      <a:xfrm>
                        <a:off x="914400" y="1447800"/>
                        <a:ext cx="1066800" cy="152400"/>
                        <a:chOff x="914400" y="1447800"/>
                        <a:chExt cx="1066800" cy="152400"/>
                      </a:xfrm>
                    </p:grpSpPr>
                    <p:sp>
                      <p:nvSpPr>
                        <p:cNvPr id="135" name="Oval 134"/>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6" name="Oval 135"/>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0" name="Group 57"/>
                      <p:cNvGrpSpPr/>
                      <p:nvPr/>
                    </p:nvGrpSpPr>
                    <p:grpSpPr>
                      <a:xfrm>
                        <a:off x="2743200" y="1447800"/>
                        <a:ext cx="1066800" cy="152400"/>
                        <a:chOff x="914400" y="1447800"/>
                        <a:chExt cx="1066800" cy="152400"/>
                      </a:xfrm>
                    </p:grpSpPr>
                    <p:sp>
                      <p:nvSpPr>
                        <p:cNvPr id="133" name="Oval 13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 name="Oval 13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71" name="Group 61"/>
                    <p:cNvGrpSpPr/>
                    <p:nvPr/>
                  </p:nvGrpSpPr>
                  <p:grpSpPr>
                    <a:xfrm>
                      <a:off x="914400" y="1447800"/>
                      <a:ext cx="2895600" cy="152400"/>
                      <a:chOff x="914400" y="1447800"/>
                      <a:chExt cx="2895600" cy="152400"/>
                    </a:xfrm>
                  </p:grpSpPr>
                  <p:grpSp>
                    <p:nvGrpSpPr>
                      <p:cNvPr id="72" name="Group 56"/>
                      <p:cNvGrpSpPr/>
                      <p:nvPr/>
                    </p:nvGrpSpPr>
                    <p:grpSpPr>
                      <a:xfrm>
                        <a:off x="914400" y="1447800"/>
                        <a:ext cx="1066800" cy="152400"/>
                        <a:chOff x="914400" y="1447800"/>
                        <a:chExt cx="1066800" cy="152400"/>
                      </a:xfrm>
                    </p:grpSpPr>
                    <p:sp>
                      <p:nvSpPr>
                        <p:cNvPr id="129" name="Oval 128"/>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 name="Oval 129"/>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3" name="Group 57"/>
                      <p:cNvGrpSpPr/>
                      <p:nvPr/>
                    </p:nvGrpSpPr>
                    <p:grpSpPr>
                      <a:xfrm>
                        <a:off x="2743200" y="1447800"/>
                        <a:ext cx="1066800" cy="152400"/>
                        <a:chOff x="914400" y="1447800"/>
                        <a:chExt cx="1066800" cy="152400"/>
                      </a:xfrm>
                    </p:grpSpPr>
                    <p:sp>
                      <p:nvSpPr>
                        <p:cNvPr id="127" name="Oval 126"/>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8" name="Oval 127"/>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grpSp>
        </p:grpSp>
        <p:grpSp>
          <p:nvGrpSpPr>
            <p:cNvPr id="74" name="Group 181"/>
            <p:cNvGrpSpPr/>
            <p:nvPr/>
          </p:nvGrpSpPr>
          <p:grpSpPr>
            <a:xfrm>
              <a:off x="5486400" y="1447800"/>
              <a:ext cx="13868400" cy="2895600"/>
              <a:chOff x="914400" y="1447800"/>
              <a:chExt cx="13868400" cy="2895600"/>
            </a:xfrm>
          </p:grpSpPr>
          <p:grpSp>
            <p:nvGrpSpPr>
              <p:cNvPr id="79" name="Group 116"/>
              <p:cNvGrpSpPr/>
              <p:nvPr/>
            </p:nvGrpSpPr>
            <p:grpSpPr>
              <a:xfrm>
                <a:off x="914400" y="1447800"/>
                <a:ext cx="6553200" cy="2895600"/>
                <a:chOff x="914400" y="1447800"/>
                <a:chExt cx="6553200" cy="2895600"/>
              </a:xfrm>
            </p:grpSpPr>
            <p:grpSp>
              <p:nvGrpSpPr>
                <p:cNvPr id="80" name="Group 84"/>
                <p:cNvGrpSpPr/>
                <p:nvPr/>
              </p:nvGrpSpPr>
              <p:grpSpPr>
                <a:xfrm>
                  <a:off x="914400" y="1447800"/>
                  <a:ext cx="2895600" cy="2895600"/>
                  <a:chOff x="914400" y="1447800"/>
                  <a:chExt cx="2895600" cy="2895600"/>
                </a:xfrm>
              </p:grpSpPr>
              <p:grpSp>
                <p:nvGrpSpPr>
                  <p:cNvPr id="85" name="Group 68"/>
                  <p:cNvGrpSpPr/>
                  <p:nvPr/>
                </p:nvGrpSpPr>
                <p:grpSpPr>
                  <a:xfrm>
                    <a:off x="914400" y="1447800"/>
                    <a:ext cx="2895600" cy="1066800"/>
                    <a:chOff x="914400" y="1447800"/>
                    <a:chExt cx="2895600" cy="1066800"/>
                  </a:xfrm>
                </p:grpSpPr>
                <p:grpSp>
                  <p:nvGrpSpPr>
                    <p:cNvPr id="86" name="Group 60"/>
                    <p:cNvGrpSpPr/>
                    <p:nvPr/>
                  </p:nvGrpSpPr>
                  <p:grpSpPr>
                    <a:xfrm>
                      <a:off x="914400" y="2362200"/>
                      <a:ext cx="2895600" cy="152400"/>
                      <a:chOff x="914400" y="1447800"/>
                      <a:chExt cx="2895600" cy="152400"/>
                    </a:xfrm>
                  </p:grpSpPr>
                  <p:grpSp>
                    <p:nvGrpSpPr>
                      <p:cNvPr id="87" name="Group 56"/>
                      <p:cNvGrpSpPr/>
                      <p:nvPr/>
                    </p:nvGrpSpPr>
                    <p:grpSpPr>
                      <a:xfrm>
                        <a:off x="914400" y="1447800"/>
                        <a:ext cx="1066800" cy="152400"/>
                        <a:chOff x="914400" y="1447800"/>
                        <a:chExt cx="1066800" cy="152400"/>
                      </a:xfrm>
                    </p:grpSpPr>
                    <p:sp>
                      <p:nvSpPr>
                        <p:cNvPr id="307" name="Oval 5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 name="Oval 5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8" name="Group 57"/>
                      <p:cNvGrpSpPr/>
                      <p:nvPr/>
                    </p:nvGrpSpPr>
                    <p:grpSpPr>
                      <a:xfrm>
                        <a:off x="2743200" y="1447800"/>
                        <a:ext cx="1066800" cy="152400"/>
                        <a:chOff x="914400" y="1447800"/>
                        <a:chExt cx="1066800" cy="152400"/>
                      </a:xfrm>
                    </p:grpSpPr>
                    <p:sp>
                      <p:nvSpPr>
                        <p:cNvPr id="305" name="Oval 304"/>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6" name="Oval 305"/>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89" name="Group 61"/>
                    <p:cNvGrpSpPr/>
                    <p:nvPr/>
                  </p:nvGrpSpPr>
                  <p:grpSpPr>
                    <a:xfrm>
                      <a:off x="914400" y="1447800"/>
                      <a:ext cx="2895600" cy="152400"/>
                      <a:chOff x="914400" y="1447800"/>
                      <a:chExt cx="2895600" cy="152400"/>
                    </a:xfrm>
                  </p:grpSpPr>
                  <p:grpSp>
                    <p:nvGrpSpPr>
                      <p:cNvPr id="90" name="Group 56"/>
                      <p:cNvGrpSpPr/>
                      <p:nvPr/>
                    </p:nvGrpSpPr>
                    <p:grpSpPr>
                      <a:xfrm>
                        <a:off x="914400" y="1447800"/>
                        <a:ext cx="1066800" cy="152400"/>
                        <a:chOff x="914400" y="1447800"/>
                        <a:chExt cx="1066800" cy="152400"/>
                      </a:xfrm>
                    </p:grpSpPr>
                    <p:sp>
                      <p:nvSpPr>
                        <p:cNvPr id="301" name="Oval 66"/>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2" name="Oval 67"/>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1" name="Group 57"/>
                      <p:cNvGrpSpPr/>
                      <p:nvPr/>
                    </p:nvGrpSpPr>
                    <p:grpSpPr>
                      <a:xfrm>
                        <a:off x="2743200" y="1447800"/>
                        <a:ext cx="1066800" cy="152400"/>
                        <a:chOff x="914400" y="1447800"/>
                        <a:chExt cx="1066800" cy="152400"/>
                      </a:xfrm>
                    </p:grpSpPr>
                    <p:sp>
                      <p:nvSpPr>
                        <p:cNvPr id="299" name="Oval 298"/>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0" name="Oval 299"/>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nvGrpSpPr>
                  <p:cNvPr id="92" name="Group 69"/>
                  <p:cNvGrpSpPr/>
                  <p:nvPr/>
                </p:nvGrpSpPr>
                <p:grpSpPr>
                  <a:xfrm>
                    <a:off x="914400" y="3276600"/>
                    <a:ext cx="2895600" cy="1066800"/>
                    <a:chOff x="914400" y="1447800"/>
                    <a:chExt cx="2895600" cy="1066800"/>
                  </a:xfrm>
                </p:grpSpPr>
                <p:grpSp>
                  <p:nvGrpSpPr>
                    <p:cNvPr id="97" name="Group 60"/>
                    <p:cNvGrpSpPr/>
                    <p:nvPr/>
                  </p:nvGrpSpPr>
                  <p:grpSpPr>
                    <a:xfrm>
                      <a:off x="914400" y="2362200"/>
                      <a:ext cx="2895600" cy="152400"/>
                      <a:chOff x="914400" y="1447800"/>
                      <a:chExt cx="2895600" cy="152400"/>
                    </a:xfrm>
                  </p:grpSpPr>
                  <p:grpSp>
                    <p:nvGrpSpPr>
                      <p:cNvPr id="98" name="Group 56"/>
                      <p:cNvGrpSpPr/>
                      <p:nvPr/>
                    </p:nvGrpSpPr>
                    <p:grpSpPr>
                      <a:xfrm>
                        <a:off x="914400" y="1447800"/>
                        <a:ext cx="1066800" cy="152400"/>
                        <a:chOff x="914400" y="1447800"/>
                        <a:chExt cx="1066800" cy="152400"/>
                      </a:xfrm>
                    </p:grpSpPr>
                    <p:sp>
                      <p:nvSpPr>
                        <p:cNvPr id="293" name="Oval 29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4" name="Oval 29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3" name="Group 57"/>
                      <p:cNvGrpSpPr/>
                      <p:nvPr/>
                    </p:nvGrpSpPr>
                    <p:grpSpPr>
                      <a:xfrm>
                        <a:off x="2743200" y="1447800"/>
                        <a:ext cx="1066800" cy="152400"/>
                        <a:chOff x="914400" y="1447800"/>
                        <a:chExt cx="1066800" cy="152400"/>
                      </a:xfrm>
                    </p:grpSpPr>
                    <p:sp>
                      <p:nvSpPr>
                        <p:cNvPr id="291" name="Oval 290"/>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2" name="Oval 291"/>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04" name="Group 61"/>
                    <p:cNvGrpSpPr/>
                    <p:nvPr/>
                  </p:nvGrpSpPr>
                  <p:grpSpPr>
                    <a:xfrm>
                      <a:off x="914400" y="1447800"/>
                      <a:ext cx="2895600" cy="152400"/>
                      <a:chOff x="914400" y="1447800"/>
                      <a:chExt cx="2895600" cy="152400"/>
                    </a:xfrm>
                  </p:grpSpPr>
                  <p:grpSp>
                    <p:nvGrpSpPr>
                      <p:cNvPr id="105" name="Group 56"/>
                      <p:cNvGrpSpPr/>
                      <p:nvPr/>
                    </p:nvGrpSpPr>
                    <p:grpSpPr>
                      <a:xfrm>
                        <a:off x="914400" y="1447800"/>
                        <a:ext cx="1066800" cy="152400"/>
                        <a:chOff x="914400" y="1447800"/>
                        <a:chExt cx="1066800" cy="152400"/>
                      </a:xfrm>
                    </p:grpSpPr>
                    <p:sp>
                      <p:nvSpPr>
                        <p:cNvPr id="287" name="Oval 286"/>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8" name="Oval 287"/>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6" name="Group 57"/>
                      <p:cNvGrpSpPr/>
                      <p:nvPr/>
                    </p:nvGrpSpPr>
                    <p:grpSpPr>
                      <a:xfrm>
                        <a:off x="2743200" y="1447800"/>
                        <a:ext cx="1066800" cy="152400"/>
                        <a:chOff x="914400" y="1447800"/>
                        <a:chExt cx="1066800" cy="152400"/>
                      </a:xfrm>
                    </p:grpSpPr>
                    <p:sp>
                      <p:nvSpPr>
                        <p:cNvPr id="285" name="Oval 284"/>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6" name="Oval 285"/>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grpSp>
              <p:nvGrpSpPr>
                <p:cNvPr id="111" name="Group 85"/>
                <p:cNvGrpSpPr/>
                <p:nvPr/>
              </p:nvGrpSpPr>
              <p:grpSpPr>
                <a:xfrm>
                  <a:off x="4572000" y="1447800"/>
                  <a:ext cx="2895600" cy="2895600"/>
                  <a:chOff x="914400" y="1447800"/>
                  <a:chExt cx="2895600" cy="2895600"/>
                </a:xfrm>
              </p:grpSpPr>
              <p:grpSp>
                <p:nvGrpSpPr>
                  <p:cNvPr id="112" name="Group 248"/>
                  <p:cNvGrpSpPr/>
                  <p:nvPr/>
                </p:nvGrpSpPr>
                <p:grpSpPr>
                  <a:xfrm>
                    <a:off x="914400" y="1447800"/>
                    <a:ext cx="2895600" cy="1066800"/>
                    <a:chOff x="914400" y="1447800"/>
                    <a:chExt cx="2895600" cy="1066800"/>
                  </a:xfrm>
                </p:grpSpPr>
                <p:grpSp>
                  <p:nvGrpSpPr>
                    <p:cNvPr id="117" name="Group 60"/>
                    <p:cNvGrpSpPr/>
                    <p:nvPr/>
                  </p:nvGrpSpPr>
                  <p:grpSpPr>
                    <a:xfrm>
                      <a:off x="914400" y="2362200"/>
                      <a:ext cx="2895600" cy="152400"/>
                      <a:chOff x="914400" y="1447800"/>
                      <a:chExt cx="2895600" cy="152400"/>
                    </a:xfrm>
                  </p:grpSpPr>
                  <p:grpSp>
                    <p:nvGrpSpPr>
                      <p:cNvPr id="118" name="Group 56"/>
                      <p:cNvGrpSpPr/>
                      <p:nvPr/>
                    </p:nvGrpSpPr>
                    <p:grpSpPr>
                      <a:xfrm>
                        <a:off x="914400" y="1447800"/>
                        <a:ext cx="1066800" cy="152400"/>
                        <a:chOff x="914400" y="1447800"/>
                        <a:chExt cx="1066800" cy="152400"/>
                      </a:xfrm>
                    </p:grpSpPr>
                    <p:sp>
                      <p:nvSpPr>
                        <p:cNvPr id="277" name="Oval 276"/>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8" name="Oval 277"/>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9" name="Group 57"/>
                      <p:cNvGrpSpPr/>
                      <p:nvPr/>
                    </p:nvGrpSpPr>
                    <p:grpSpPr>
                      <a:xfrm>
                        <a:off x="2743200" y="1447800"/>
                        <a:ext cx="1066800" cy="152400"/>
                        <a:chOff x="914400" y="1447800"/>
                        <a:chExt cx="1066800" cy="152400"/>
                      </a:xfrm>
                    </p:grpSpPr>
                    <p:sp>
                      <p:nvSpPr>
                        <p:cNvPr id="275" name="Oval 274"/>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6" name="Oval 275"/>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20" name="Group 61"/>
                    <p:cNvGrpSpPr/>
                    <p:nvPr/>
                  </p:nvGrpSpPr>
                  <p:grpSpPr>
                    <a:xfrm>
                      <a:off x="914400" y="1447800"/>
                      <a:ext cx="2895600" cy="152400"/>
                      <a:chOff x="914400" y="1447800"/>
                      <a:chExt cx="2895600" cy="152400"/>
                    </a:xfrm>
                  </p:grpSpPr>
                  <p:grpSp>
                    <p:nvGrpSpPr>
                      <p:cNvPr id="121" name="Group 56"/>
                      <p:cNvGrpSpPr/>
                      <p:nvPr/>
                    </p:nvGrpSpPr>
                    <p:grpSpPr>
                      <a:xfrm>
                        <a:off x="914400" y="1447800"/>
                        <a:ext cx="1066800" cy="152400"/>
                        <a:chOff x="914400" y="1447800"/>
                        <a:chExt cx="1066800" cy="152400"/>
                      </a:xfrm>
                    </p:grpSpPr>
                    <p:sp>
                      <p:nvSpPr>
                        <p:cNvPr id="271" name="Oval 270"/>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2" name="Oval 271"/>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22" name="Group 57"/>
                      <p:cNvGrpSpPr/>
                      <p:nvPr/>
                    </p:nvGrpSpPr>
                    <p:grpSpPr>
                      <a:xfrm>
                        <a:off x="2743200" y="1447800"/>
                        <a:ext cx="1066800" cy="152400"/>
                        <a:chOff x="914400" y="1447800"/>
                        <a:chExt cx="1066800" cy="152400"/>
                      </a:xfrm>
                    </p:grpSpPr>
                    <p:sp>
                      <p:nvSpPr>
                        <p:cNvPr id="269" name="Oval 268"/>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0" name="Oval 269"/>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nvGrpSpPr>
                  <p:cNvPr id="123" name="Group 249"/>
                  <p:cNvGrpSpPr/>
                  <p:nvPr/>
                </p:nvGrpSpPr>
                <p:grpSpPr>
                  <a:xfrm>
                    <a:off x="914400" y="3276600"/>
                    <a:ext cx="2895600" cy="1066800"/>
                    <a:chOff x="914400" y="1447800"/>
                    <a:chExt cx="2895600" cy="1066800"/>
                  </a:xfrm>
                </p:grpSpPr>
                <p:grpSp>
                  <p:nvGrpSpPr>
                    <p:cNvPr id="124" name="Group 60"/>
                    <p:cNvGrpSpPr/>
                    <p:nvPr/>
                  </p:nvGrpSpPr>
                  <p:grpSpPr>
                    <a:xfrm>
                      <a:off x="914400" y="2362200"/>
                      <a:ext cx="2895600" cy="152400"/>
                      <a:chOff x="914400" y="1447800"/>
                      <a:chExt cx="2895600" cy="152400"/>
                    </a:xfrm>
                  </p:grpSpPr>
                  <p:grpSp>
                    <p:nvGrpSpPr>
                      <p:cNvPr id="125" name="Group 56"/>
                      <p:cNvGrpSpPr/>
                      <p:nvPr/>
                    </p:nvGrpSpPr>
                    <p:grpSpPr>
                      <a:xfrm>
                        <a:off x="914400" y="1447800"/>
                        <a:ext cx="1066800" cy="152400"/>
                        <a:chOff x="914400" y="1447800"/>
                        <a:chExt cx="1066800" cy="152400"/>
                      </a:xfrm>
                    </p:grpSpPr>
                    <p:sp>
                      <p:nvSpPr>
                        <p:cNvPr id="263" name="Oval 26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4" name="Oval 26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26" name="Group 57"/>
                      <p:cNvGrpSpPr/>
                      <p:nvPr/>
                    </p:nvGrpSpPr>
                    <p:grpSpPr>
                      <a:xfrm>
                        <a:off x="2743200" y="1447800"/>
                        <a:ext cx="1066800" cy="152400"/>
                        <a:chOff x="914400" y="1447800"/>
                        <a:chExt cx="1066800" cy="152400"/>
                      </a:xfrm>
                    </p:grpSpPr>
                    <p:sp>
                      <p:nvSpPr>
                        <p:cNvPr id="261" name="Oval 260"/>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2" name="Oval 261"/>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31" name="Group 61"/>
                    <p:cNvGrpSpPr/>
                    <p:nvPr/>
                  </p:nvGrpSpPr>
                  <p:grpSpPr>
                    <a:xfrm>
                      <a:off x="914400" y="1447800"/>
                      <a:ext cx="2895600" cy="152400"/>
                      <a:chOff x="914400" y="1447800"/>
                      <a:chExt cx="2895600" cy="152400"/>
                    </a:xfrm>
                  </p:grpSpPr>
                  <p:grpSp>
                    <p:nvGrpSpPr>
                      <p:cNvPr id="132" name="Group 56"/>
                      <p:cNvGrpSpPr/>
                      <p:nvPr/>
                    </p:nvGrpSpPr>
                    <p:grpSpPr>
                      <a:xfrm>
                        <a:off x="914400" y="1447800"/>
                        <a:ext cx="1066800" cy="152400"/>
                        <a:chOff x="914400" y="1447800"/>
                        <a:chExt cx="1066800" cy="152400"/>
                      </a:xfrm>
                    </p:grpSpPr>
                    <p:sp>
                      <p:nvSpPr>
                        <p:cNvPr id="257" name="Oval 256"/>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8" name="Oval 257"/>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7" name="Group 57"/>
                      <p:cNvGrpSpPr/>
                      <p:nvPr/>
                    </p:nvGrpSpPr>
                    <p:grpSpPr>
                      <a:xfrm>
                        <a:off x="2743200" y="1447800"/>
                        <a:ext cx="1066800" cy="152400"/>
                        <a:chOff x="914400" y="1447800"/>
                        <a:chExt cx="1066800" cy="152400"/>
                      </a:xfrm>
                    </p:grpSpPr>
                    <p:sp>
                      <p:nvSpPr>
                        <p:cNvPr id="255" name="Oval 254"/>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6" name="Oval 255"/>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grpSp>
          <p:grpSp>
            <p:nvGrpSpPr>
              <p:cNvPr id="138" name="Group 117"/>
              <p:cNvGrpSpPr/>
              <p:nvPr/>
            </p:nvGrpSpPr>
            <p:grpSpPr>
              <a:xfrm>
                <a:off x="8229600" y="1447800"/>
                <a:ext cx="6553200" cy="2895600"/>
                <a:chOff x="914400" y="1447800"/>
                <a:chExt cx="6553200" cy="2895600"/>
              </a:xfrm>
            </p:grpSpPr>
            <p:grpSp>
              <p:nvGrpSpPr>
                <p:cNvPr id="139" name="Group 84"/>
                <p:cNvGrpSpPr/>
                <p:nvPr/>
              </p:nvGrpSpPr>
              <p:grpSpPr>
                <a:xfrm>
                  <a:off x="914400" y="1447800"/>
                  <a:ext cx="2895600" cy="2895600"/>
                  <a:chOff x="914400" y="1447800"/>
                  <a:chExt cx="2895600" cy="2895600"/>
                </a:xfrm>
              </p:grpSpPr>
              <p:grpSp>
                <p:nvGrpSpPr>
                  <p:cNvPr id="140" name="Group 68"/>
                  <p:cNvGrpSpPr/>
                  <p:nvPr/>
                </p:nvGrpSpPr>
                <p:grpSpPr>
                  <a:xfrm>
                    <a:off x="914400" y="1447800"/>
                    <a:ext cx="2895600" cy="1066800"/>
                    <a:chOff x="914400" y="1447800"/>
                    <a:chExt cx="2895600" cy="1066800"/>
                  </a:xfrm>
                </p:grpSpPr>
                <p:grpSp>
                  <p:nvGrpSpPr>
                    <p:cNvPr id="145" name="Group 60"/>
                    <p:cNvGrpSpPr/>
                    <p:nvPr/>
                  </p:nvGrpSpPr>
                  <p:grpSpPr>
                    <a:xfrm>
                      <a:off x="914400" y="2362200"/>
                      <a:ext cx="2895600" cy="152400"/>
                      <a:chOff x="914400" y="1447800"/>
                      <a:chExt cx="2895600" cy="152400"/>
                    </a:xfrm>
                  </p:grpSpPr>
                  <p:grpSp>
                    <p:nvGrpSpPr>
                      <p:cNvPr id="146" name="Group 56"/>
                      <p:cNvGrpSpPr/>
                      <p:nvPr/>
                    </p:nvGrpSpPr>
                    <p:grpSpPr>
                      <a:xfrm>
                        <a:off x="914400" y="1447800"/>
                        <a:ext cx="1066800" cy="152400"/>
                        <a:chOff x="914400" y="1447800"/>
                        <a:chExt cx="1066800" cy="152400"/>
                      </a:xfrm>
                    </p:grpSpPr>
                    <p:sp>
                      <p:nvSpPr>
                        <p:cNvPr id="245" name="Oval 5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6" name="Oval 5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51" name="Group 57"/>
                      <p:cNvGrpSpPr/>
                      <p:nvPr/>
                    </p:nvGrpSpPr>
                    <p:grpSpPr>
                      <a:xfrm>
                        <a:off x="2743200" y="1447800"/>
                        <a:ext cx="1066800" cy="152400"/>
                        <a:chOff x="914400" y="1447800"/>
                        <a:chExt cx="1066800" cy="152400"/>
                      </a:xfrm>
                    </p:grpSpPr>
                    <p:sp>
                      <p:nvSpPr>
                        <p:cNvPr id="243" name="Oval 58"/>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4" name="Oval 59"/>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52" name="Group 61"/>
                    <p:cNvGrpSpPr/>
                    <p:nvPr/>
                  </p:nvGrpSpPr>
                  <p:grpSpPr>
                    <a:xfrm>
                      <a:off x="914400" y="1447800"/>
                      <a:ext cx="2895600" cy="152400"/>
                      <a:chOff x="914400" y="1447800"/>
                      <a:chExt cx="2895600" cy="152400"/>
                    </a:xfrm>
                  </p:grpSpPr>
                  <p:grpSp>
                    <p:nvGrpSpPr>
                      <p:cNvPr id="153" name="Group 56"/>
                      <p:cNvGrpSpPr/>
                      <p:nvPr/>
                    </p:nvGrpSpPr>
                    <p:grpSpPr>
                      <a:xfrm>
                        <a:off x="914400" y="1447800"/>
                        <a:ext cx="1066800" cy="152400"/>
                        <a:chOff x="914400" y="1447800"/>
                        <a:chExt cx="1066800" cy="152400"/>
                      </a:xfrm>
                    </p:grpSpPr>
                    <p:sp>
                      <p:nvSpPr>
                        <p:cNvPr id="239" name="Oval 238"/>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0" name="Oval 239"/>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54" name="Group 57"/>
                      <p:cNvGrpSpPr/>
                      <p:nvPr/>
                    </p:nvGrpSpPr>
                    <p:grpSpPr>
                      <a:xfrm>
                        <a:off x="2743200" y="1447800"/>
                        <a:ext cx="1066800" cy="152400"/>
                        <a:chOff x="914400" y="1447800"/>
                        <a:chExt cx="1066800" cy="152400"/>
                      </a:xfrm>
                    </p:grpSpPr>
                    <p:sp>
                      <p:nvSpPr>
                        <p:cNvPr id="237" name="Oval 236"/>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8" name="Oval 237"/>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nvGrpSpPr>
                  <p:cNvPr id="155" name="Group 69"/>
                  <p:cNvGrpSpPr/>
                  <p:nvPr/>
                </p:nvGrpSpPr>
                <p:grpSpPr>
                  <a:xfrm>
                    <a:off x="914400" y="3276600"/>
                    <a:ext cx="2895600" cy="1066800"/>
                    <a:chOff x="914400" y="1447800"/>
                    <a:chExt cx="2895600" cy="1066800"/>
                  </a:xfrm>
                </p:grpSpPr>
                <p:grpSp>
                  <p:nvGrpSpPr>
                    <p:cNvPr id="156" name="Group 60"/>
                    <p:cNvGrpSpPr/>
                    <p:nvPr/>
                  </p:nvGrpSpPr>
                  <p:grpSpPr>
                    <a:xfrm>
                      <a:off x="914400" y="2362200"/>
                      <a:ext cx="2895600" cy="152400"/>
                      <a:chOff x="914400" y="1447800"/>
                      <a:chExt cx="2895600" cy="152400"/>
                    </a:xfrm>
                  </p:grpSpPr>
                  <p:grpSp>
                    <p:nvGrpSpPr>
                      <p:cNvPr id="161" name="Group 56"/>
                      <p:cNvGrpSpPr/>
                      <p:nvPr/>
                    </p:nvGrpSpPr>
                    <p:grpSpPr>
                      <a:xfrm>
                        <a:off x="914400" y="1447800"/>
                        <a:ext cx="1066800" cy="152400"/>
                        <a:chOff x="914400" y="1447800"/>
                        <a:chExt cx="1066800" cy="152400"/>
                      </a:xfrm>
                    </p:grpSpPr>
                    <p:sp>
                      <p:nvSpPr>
                        <p:cNvPr id="231" name="Oval 230"/>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2" name="Oval 231"/>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2" name="Group 57"/>
                      <p:cNvGrpSpPr/>
                      <p:nvPr/>
                    </p:nvGrpSpPr>
                    <p:grpSpPr>
                      <a:xfrm>
                        <a:off x="2743200" y="1447800"/>
                        <a:ext cx="1066800" cy="152400"/>
                        <a:chOff x="914400" y="1447800"/>
                        <a:chExt cx="1066800" cy="152400"/>
                      </a:xfrm>
                    </p:grpSpPr>
                    <p:sp>
                      <p:nvSpPr>
                        <p:cNvPr id="229" name="Oval 228"/>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0" name="Oval 229"/>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67" name="Group 61"/>
                    <p:cNvGrpSpPr/>
                    <p:nvPr/>
                  </p:nvGrpSpPr>
                  <p:grpSpPr>
                    <a:xfrm>
                      <a:off x="914400" y="1447800"/>
                      <a:ext cx="2895600" cy="152400"/>
                      <a:chOff x="914400" y="1447800"/>
                      <a:chExt cx="2895600" cy="152400"/>
                    </a:xfrm>
                  </p:grpSpPr>
                  <p:grpSp>
                    <p:nvGrpSpPr>
                      <p:cNvPr id="168" name="Group 56"/>
                      <p:cNvGrpSpPr/>
                      <p:nvPr/>
                    </p:nvGrpSpPr>
                    <p:grpSpPr>
                      <a:xfrm>
                        <a:off x="914400" y="1447800"/>
                        <a:ext cx="1066800" cy="152400"/>
                        <a:chOff x="914400" y="1447800"/>
                        <a:chExt cx="1066800" cy="152400"/>
                      </a:xfrm>
                    </p:grpSpPr>
                    <p:sp>
                      <p:nvSpPr>
                        <p:cNvPr id="225" name="Oval 224"/>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6" name="Oval 225"/>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9" name="Group 57"/>
                      <p:cNvGrpSpPr/>
                      <p:nvPr/>
                    </p:nvGrpSpPr>
                    <p:grpSpPr>
                      <a:xfrm>
                        <a:off x="2743200" y="1447800"/>
                        <a:ext cx="1066800" cy="152400"/>
                        <a:chOff x="914400" y="1447800"/>
                        <a:chExt cx="1066800" cy="152400"/>
                      </a:xfrm>
                    </p:grpSpPr>
                    <p:sp>
                      <p:nvSpPr>
                        <p:cNvPr id="223" name="Oval 22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4" name="Oval 22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grpSp>
              <p:nvGrpSpPr>
                <p:cNvPr id="170" name="Group 85"/>
                <p:cNvGrpSpPr/>
                <p:nvPr/>
              </p:nvGrpSpPr>
              <p:grpSpPr>
                <a:xfrm>
                  <a:off x="4572000" y="1447800"/>
                  <a:ext cx="2895600" cy="2895600"/>
                  <a:chOff x="914400" y="1447800"/>
                  <a:chExt cx="2895600" cy="2895600"/>
                </a:xfrm>
              </p:grpSpPr>
              <p:grpSp>
                <p:nvGrpSpPr>
                  <p:cNvPr id="175" name="Group 68"/>
                  <p:cNvGrpSpPr/>
                  <p:nvPr/>
                </p:nvGrpSpPr>
                <p:grpSpPr>
                  <a:xfrm>
                    <a:off x="914400" y="1447800"/>
                    <a:ext cx="2895600" cy="1066800"/>
                    <a:chOff x="914400" y="1447800"/>
                    <a:chExt cx="2895600" cy="1066800"/>
                  </a:xfrm>
                </p:grpSpPr>
                <p:grpSp>
                  <p:nvGrpSpPr>
                    <p:cNvPr id="176" name="Group 60"/>
                    <p:cNvGrpSpPr/>
                    <p:nvPr/>
                  </p:nvGrpSpPr>
                  <p:grpSpPr>
                    <a:xfrm>
                      <a:off x="914400" y="2362200"/>
                      <a:ext cx="2895600" cy="152400"/>
                      <a:chOff x="914400" y="1447800"/>
                      <a:chExt cx="2895600" cy="152400"/>
                    </a:xfrm>
                  </p:grpSpPr>
                  <p:grpSp>
                    <p:nvGrpSpPr>
                      <p:cNvPr id="181" name="Group 56"/>
                      <p:cNvGrpSpPr/>
                      <p:nvPr/>
                    </p:nvGrpSpPr>
                    <p:grpSpPr>
                      <a:xfrm>
                        <a:off x="914400" y="1447800"/>
                        <a:ext cx="1066800" cy="152400"/>
                        <a:chOff x="914400" y="1447800"/>
                        <a:chExt cx="1066800" cy="152400"/>
                      </a:xfrm>
                    </p:grpSpPr>
                    <p:sp>
                      <p:nvSpPr>
                        <p:cNvPr id="215" name="Oval 214"/>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6" name="Oval 215"/>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2" name="Group 57"/>
                      <p:cNvGrpSpPr/>
                      <p:nvPr/>
                    </p:nvGrpSpPr>
                    <p:grpSpPr>
                      <a:xfrm>
                        <a:off x="2743200" y="1447800"/>
                        <a:ext cx="1066800" cy="152400"/>
                        <a:chOff x="914400" y="1447800"/>
                        <a:chExt cx="1066800" cy="152400"/>
                      </a:xfrm>
                    </p:grpSpPr>
                    <p:sp>
                      <p:nvSpPr>
                        <p:cNvPr id="213" name="Oval 21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4" name="Oval 21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83" name="Group 61"/>
                    <p:cNvGrpSpPr/>
                    <p:nvPr/>
                  </p:nvGrpSpPr>
                  <p:grpSpPr>
                    <a:xfrm>
                      <a:off x="914400" y="1447800"/>
                      <a:ext cx="2895600" cy="152400"/>
                      <a:chOff x="914400" y="1447800"/>
                      <a:chExt cx="2895600" cy="152400"/>
                    </a:xfrm>
                  </p:grpSpPr>
                  <p:grpSp>
                    <p:nvGrpSpPr>
                      <p:cNvPr id="184" name="Group 56"/>
                      <p:cNvGrpSpPr/>
                      <p:nvPr/>
                    </p:nvGrpSpPr>
                    <p:grpSpPr>
                      <a:xfrm>
                        <a:off x="914400" y="1447800"/>
                        <a:ext cx="1066800" cy="152400"/>
                        <a:chOff x="914400" y="1447800"/>
                        <a:chExt cx="1066800" cy="152400"/>
                      </a:xfrm>
                    </p:grpSpPr>
                    <p:sp>
                      <p:nvSpPr>
                        <p:cNvPr id="209" name="Oval 208"/>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0" name="Oval 209"/>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5" name="Group 57"/>
                      <p:cNvGrpSpPr/>
                      <p:nvPr/>
                    </p:nvGrpSpPr>
                    <p:grpSpPr>
                      <a:xfrm>
                        <a:off x="2743200" y="1447800"/>
                        <a:ext cx="1066800" cy="152400"/>
                        <a:chOff x="914400" y="1447800"/>
                        <a:chExt cx="1066800" cy="152400"/>
                      </a:xfrm>
                    </p:grpSpPr>
                    <p:sp>
                      <p:nvSpPr>
                        <p:cNvPr id="207" name="Oval 206"/>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8" name="Oval 207"/>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nvGrpSpPr>
                  <p:cNvPr id="186" name="Group 69"/>
                  <p:cNvGrpSpPr/>
                  <p:nvPr/>
                </p:nvGrpSpPr>
                <p:grpSpPr>
                  <a:xfrm>
                    <a:off x="914400" y="3276600"/>
                    <a:ext cx="2895600" cy="1066800"/>
                    <a:chOff x="914400" y="1447800"/>
                    <a:chExt cx="2895600" cy="1066800"/>
                  </a:xfrm>
                </p:grpSpPr>
                <p:grpSp>
                  <p:nvGrpSpPr>
                    <p:cNvPr id="187" name="Group 60"/>
                    <p:cNvGrpSpPr/>
                    <p:nvPr/>
                  </p:nvGrpSpPr>
                  <p:grpSpPr>
                    <a:xfrm>
                      <a:off x="914400" y="2362200"/>
                      <a:ext cx="2895600" cy="152400"/>
                      <a:chOff x="914400" y="1447800"/>
                      <a:chExt cx="2895600" cy="152400"/>
                    </a:xfrm>
                  </p:grpSpPr>
                  <p:grpSp>
                    <p:nvGrpSpPr>
                      <p:cNvPr id="188" name="Group 56"/>
                      <p:cNvGrpSpPr/>
                      <p:nvPr/>
                    </p:nvGrpSpPr>
                    <p:grpSpPr>
                      <a:xfrm>
                        <a:off x="914400" y="1447800"/>
                        <a:ext cx="1066800" cy="152400"/>
                        <a:chOff x="914400" y="1447800"/>
                        <a:chExt cx="1066800" cy="152400"/>
                      </a:xfrm>
                    </p:grpSpPr>
                    <p:sp>
                      <p:nvSpPr>
                        <p:cNvPr id="201" name="Oval 200"/>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2" name="Oval 201"/>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9" name="Group 57"/>
                      <p:cNvGrpSpPr/>
                      <p:nvPr/>
                    </p:nvGrpSpPr>
                    <p:grpSpPr>
                      <a:xfrm>
                        <a:off x="2743200" y="1447800"/>
                        <a:ext cx="1066800" cy="152400"/>
                        <a:chOff x="914400" y="1447800"/>
                        <a:chExt cx="1066800" cy="152400"/>
                      </a:xfrm>
                    </p:grpSpPr>
                    <p:sp>
                      <p:nvSpPr>
                        <p:cNvPr id="199" name="Oval 198"/>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0" name="Oval 199"/>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90" name="Group 61"/>
                    <p:cNvGrpSpPr/>
                    <p:nvPr/>
                  </p:nvGrpSpPr>
                  <p:grpSpPr>
                    <a:xfrm>
                      <a:off x="914400" y="1447800"/>
                      <a:ext cx="2895600" cy="152400"/>
                      <a:chOff x="914400" y="1447800"/>
                      <a:chExt cx="2895600" cy="152400"/>
                    </a:xfrm>
                  </p:grpSpPr>
                  <p:grpSp>
                    <p:nvGrpSpPr>
                      <p:cNvPr id="191" name="Group 56"/>
                      <p:cNvGrpSpPr/>
                      <p:nvPr/>
                    </p:nvGrpSpPr>
                    <p:grpSpPr>
                      <a:xfrm>
                        <a:off x="914400" y="1447800"/>
                        <a:ext cx="1066800" cy="152400"/>
                        <a:chOff x="914400" y="1447800"/>
                        <a:chExt cx="1066800" cy="152400"/>
                      </a:xfrm>
                    </p:grpSpPr>
                    <p:sp>
                      <p:nvSpPr>
                        <p:cNvPr id="195" name="Oval 194"/>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6" name="Oval 195"/>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92" name="Group 57"/>
                      <p:cNvGrpSpPr/>
                      <p:nvPr/>
                    </p:nvGrpSpPr>
                    <p:grpSpPr>
                      <a:xfrm>
                        <a:off x="2743200" y="1447800"/>
                        <a:ext cx="1066800" cy="152400"/>
                        <a:chOff x="914400" y="1447800"/>
                        <a:chExt cx="1066800" cy="152400"/>
                      </a:xfrm>
                    </p:grpSpPr>
                    <p:sp>
                      <p:nvSpPr>
                        <p:cNvPr id="193" name="Oval 19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 name="Oval 19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grpSp>
        </p:grpSp>
      </p:grpSp>
      <p:sp>
        <p:nvSpPr>
          <p:cNvPr id="565" name="TextBox 564"/>
          <p:cNvSpPr txBox="1"/>
          <p:nvPr/>
        </p:nvSpPr>
        <p:spPr>
          <a:xfrm>
            <a:off x="609600" y="4343400"/>
            <a:ext cx="3048000" cy="369332"/>
          </a:xfrm>
          <a:prstGeom prst="rect">
            <a:avLst/>
          </a:prstGeom>
          <a:noFill/>
        </p:spPr>
        <p:txBody>
          <a:bodyPr wrap="square" rtlCol="0">
            <a:spAutoFit/>
          </a:bodyPr>
          <a:lstStyle/>
          <a:p>
            <a:r>
              <a:rPr lang="en-US" dirty="0" smtClean="0">
                <a:solidFill>
                  <a:srgbClr val="0824F2"/>
                </a:solidFill>
              </a:rPr>
              <a:t>1   2   3   4  …</a:t>
            </a:r>
            <a:endParaRPr lang="en-US" dirty="0">
              <a:solidFill>
                <a:srgbClr val="0824F2"/>
              </a:solidFill>
            </a:endParaRPr>
          </a:p>
        </p:txBody>
      </p:sp>
      <p:sp>
        <p:nvSpPr>
          <p:cNvPr id="566" name="TextBox 565"/>
          <p:cNvSpPr txBox="1"/>
          <p:nvPr/>
        </p:nvSpPr>
        <p:spPr>
          <a:xfrm>
            <a:off x="8305800" y="4355068"/>
            <a:ext cx="838200" cy="369332"/>
          </a:xfrm>
          <a:prstGeom prst="rect">
            <a:avLst/>
          </a:prstGeom>
          <a:noFill/>
        </p:spPr>
        <p:txBody>
          <a:bodyPr wrap="square" rtlCol="0">
            <a:spAutoFit/>
          </a:bodyPr>
          <a:lstStyle/>
          <a:p>
            <a:r>
              <a:rPr lang="en-US" dirty="0" smtClean="0">
                <a:solidFill>
                  <a:srgbClr val="0824F2"/>
                </a:solidFill>
              </a:rPr>
              <a:t> … 32</a:t>
            </a:r>
            <a:endParaRPr lang="en-US" dirty="0">
              <a:solidFill>
                <a:srgbClr val="0824F2"/>
              </a:solidFill>
            </a:endParaRPr>
          </a:p>
        </p:txBody>
      </p:sp>
      <p:sp>
        <p:nvSpPr>
          <p:cNvPr id="567" name="TextBox 566"/>
          <p:cNvSpPr txBox="1"/>
          <p:nvPr/>
        </p:nvSpPr>
        <p:spPr>
          <a:xfrm>
            <a:off x="304800" y="3886200"/>
            <a:ext cx="381000" cy="369332"/>
          </a:xfrm>
          <a:prstGeom prst="rect">
            <a:avLst/>
          </a:prstGeom>
          <a:noFill/>
        </p:spPr>
        <p:txBody>
          <a:bodyPr wrap="square" rtlCol="0">
            <a:spAutoFit/>
          </a:bodyPr>
          <a:lstStyle/>
          <a:p>
            <a:r>
              <a:rPr lang="en-US" dirty="0" smtClean="0">
                <a:solidFill>
                  <a:srgbClr val="0824F2"/>
                </a:solidFill>
              </a:rPr>
              <a:t>x</a:t>
            </a:r>
            <a:endParaRPr lang="en-US" dirty="0">
              <a:solidFill>
                <a:srgbClr val="0824F2"/>
              </a:solidFill>
            </a:endParaRPr>
          </a:p>
        </p:txBody>
      </p:sp>
      <p:sp>
        <p:nvSpPr>
          <p:cNvPr id="568" name="TextBox 567"/>
          <p:cNvSpPr txBox="1"/>
          <p:nvPr/>
        </p:nvSpPr>
        <p:spPr>
          <a:xfrm>
            <a:off x="152400" y="3516868"/>
            <a:ext cx="609600" cy="369332"/>
          </a:xfrm>
          <a:prstGeom prst="rect">
            <a:avLst/>
          </a:prstGeom>
          <a:noFill/>
        </p:spPr>
        <p:txBody>
          <a:bodyPr wrap="square" rtlCol="0">
            <a:spAutoFit/>
          </a:bodyPr>
          <a:lstStyle/>
          <a:p>
            <a:r>
              <a:rPr lang="en-US" dirty="0" err="1" smtClean="0">
                <a:solidFill>
                  <a:srgbClr val="0824F2"/>
                </a:solidFill>
              </a:rPr>
              <a:t>A·x</a:t>
            </a:r>
            <a:endParaRPr lang="en-US" dirty="0">
              <a:solidFill>
                <a:srgbClr val="0824F2"/>
              </a:solidFill>
            </a:endParaRPr>
          </a:p>
        </p:txBody>
      </p:sp>
      <p:sp>
        <p:nvSpPr>
          <p:cNvPr id="569" name="TextBox 568"/>
          <p:cNvSpPr txBox="1"/>
          <p:nvPr/>
        </p:nvSpPr>
        <p:spPr>
          <a:xfrm>
            <a:off x="152400" y="3124200"/>
            <a:ext cx="609600" cy="369332"/>
          </a:xfrm>
          <a:prstGeom prst="rect">
            <a:avLst/>
          </a:prstGeom>
          <a:noFill/>
        </p:spPr>
        <p:txBody>
          <a:bodyPr wrap="square" rtlCol="0">
            <a:spAutoFit/>
          </a:bodyPr>
          <a:lstStyle/>
          <a:p>
            <a:r>
              <a:rPr lang="en-US" dirty="0" smtClean="0">
                <a:solidFill>
                  <a:srgbClr val="0824F2"/>
                </a:solidFill>
              </a:rPr>
              <a:t>A</a:t>
            </a:r>
            <a:r>
              <a:rPr lang="en-US" sz="2000" b="1" baseline="30000" dirty="0" smtClean="0">
                <a:solidFill>
                  <a:srgbClr val="0824F2"/>
                </a:solidFill>
              </a:rPr>
              <a:t>2</a:t>
            </a:r>
            <a:r>
              <a:rPr lang="en-US" dirty="0" smtClean="0">
                <a:solidFill>
                  <a:srgbClr val="0824F2"/>
                </a:solidFill>
              </a:rPr>
              <a:t>·x</a:t>
            </a:r>
            <a:endParaRPr lang="en-US" dirty="0">
              <a:solidFill>
                <a:srgbClr val="0824F2"/>
              </a:solidFill>
            </a:endParaRPr>
          </a:p>
        </p:txBody>
      </p:sp>
      <p:sp>
        <p:nvSpPr>
          <p:cNvPr id="570" name="TextBox 569"/>
          <p:cNvSpPr txBox="1"/>
          <p:nvPr/>
        </p:nvSpPr>
        <p:spPr>
          <a:xfrm>
            <a:off x="152400" y="2743200"/>
            <a:ext cx="609600" cy="369332"/>
          </a:xfrm>
          <a:prstGeom prst="rect">
            <a:avLst/>
          </a:prstGeom>
          <a:noFill/>
        </p:spPr>
        <p:txBody>
          <a:bodyPr wrap="square" rtlCol="0">
            <a:spAutoFit/>
          </a:bodyPr>
          <a:lstStyle/>
          <a:p>
            <a:r>
              <a:rPr lang="en-US" dirty="0" smtClean="0">
                <a:solidFill>
                  <a:srgbClr val="0824F2"/>
                </a:solidFill>
              </a:rPr>
              <a:t>A</a:t>
            </a:r>
            <a:r>
              <a:rPr lang="en-US" sz="2000" b="1" baseline="30000" dirty="0" smtClean="0">
                <a:solidFill>
                  <a:srgbClr val="0824F2"/>
                </a:solidFill>
              </a:rPr>
              <a:t>3</a:t>
            </a:r>
            <a:r>
              <a:rPr lang="en-US" dirty="0" smtClean="0">
                <a:solidFill>
                  <a:srgbClr val="0824F2"/>
                </a:solidFill>
              </a:rPr>
              <a:t>·x</a:t>
            </a:r>
            <a:endParaRPr lang="en-US" dirty="0">
              <a:solidFill>
                <a:srgbClr val="0824F2"/>
              </a:solidFill>
            </a:endParaRPr>
          </a:p>
        </p:txBody>
      </p:sp>
      <p:sp>
        <p:nvSpPr>
          <p:cNvPr id="523" name="Title 1"/>
          <p:cNvSpPr txBox="1">
            <a:spLocks/>
          </p:cNvSpPr>
          <p:nvPr/>
        </p:nvSpPr>
        <p:spPr>
          <a:xfrm>
            <a:off x="457200" y="274638"/>
            <a:ext cx="8229600" cy="1143000"/>
          </a:xfrm>
          <a:prstGeom prst="rect">
            <a:avLst/>
          </a:prstGeom>
        </p:spPr>
        <p:txBody>
          <a:bodyPr rtlCol="0">
            <a:noAutofit/>
          </a:bodyPr>
          <a:lstStyle/>
          <a:p>
            <a:pPr lvl="0" algn="ctr">
              <a:spcBef>
                <a:spcPct val="0"/>
              </a:spcBef>
              <a:defRPr/>
            </a:pPr>
            <a:r>
              <a:rPr kumimoji="0" lang="en-US" sz="3600" b="0" i="0" u="none" strike="noStrike" kern="1200" cap="none" spc="0" normalizeH="0" baseline="0" noProof="0" dirty="0" smtClean="0">
                <a:ln>
                  <a:noFill/>
                </a:ln>
                <a:solidFill>
                  <a:schemeClr val="tx1"/>
                </a:solidFill>
                <a:effectLst/>
                <a:uLnTx/>
                <a:uFillTx/>
                <a:latin typeface="+mj-lt"/>
                <a:ea typeface="+mj-ea"/>
                <a:cs typeface="+mj-cs"/>
              </a:rPr>
              <a:t>Communication Avoiding Kernels:</a:t>
            </a:r>
            <a:br>
              <a:rPr kumimoji="0" lang="en-US" sz="3600" b="0" i="0" u="none" strike="noStrike" kern="1200" cap="none" spc="0" normalizeH="0" baseline="0" noProof="0" dirty="0" smtClean="0">
                <a:ln>
                  <a:noFill/>
                </a:ln>
                <a:solidFill>
                  <a:schemeClr val="tx1"/>
                </a:solidFill>
                <a:effectLst/>
                <a:uLnTx/>
                <a:uFillTx/>
                <a:latin typeface="+mj-lt"/>
                <a:ea typeface="+mj-ea"/>
                <a:cs typeface="+mj-cs"/>
              </a:rPr>
            </a:br>
            <a:r>
              <a:rPr kumimoji="0" lang="en-US" sz="2800" b="0" i="0" u="none" strike="noStrike" kern="1200" cap="none" spc="0" normalizeH="0" baseline="0" noProof="0" dirty="0" smtClean="0">
                <a:ln>
                  <a:noFill/>
                </a:ln>
                <a:solidFill>
                  <a:schemeClr val="tx1"/>
                </a:solidFill>
                <a:effectLst/>
                <a:uLnTx/>
                <a:uFillTx/>
                <a:latin typeface="+mj-lt"/>
                <a:ea typeface="+mj-ea"/>
                <a:cs typeface="+mj-cs"/>
              </a:rPr>
              <a:t>The Matrix Powers Kernel</a:t>
            </a:r>
            <a:r>
              <a:rPr lang="en-US" sz="2800" dirty="0" smtClean="0"/>
              <a:t> :</a:t>
            </a:r>
            <a:r>
              <a:rPr lang="en-US" sz="2800" dirty="0" smtClean="0">
                <a:sym typeface="Symbol"/>
              </a:rPr>
              <a:t> [</a:t>
            </a:r>
            <a:r>
              <a:rPr lang="en-US" sz="2800" dirty="0" smtClean="0"/>
              <a:t>Ax, A</a:t>
            </a:r>
            <a:r>
              <a:rPr lang="en-US" sz="2800" baseline="40000" dirty="0" smtClean="0"/>
              <a:t>2</a:t>
            </a:r>
            <a:r>
              <a:rPr lang="en-US" sz="2800" dirty="0" smtClean="0"/>
              <a:t>x, …, </a:t>
            </a:r>
            <a:r>
              <a:rPr lang="en-US" sz="2800" dirty="0" err="1" smtClean="0"/>
              <a:t>A</a:t>
            </a:r>
            <a:r>
              <a:rPr lang="en-US" sz="2800" baseline="40000" dirty="0" err="1" smtClean="0"/>
              <a:t>k</a:t>
            </a:r>
            <a:r>
              <a:rPr lang="en-US" sz="2800" dirty="0" err="1" smtClean="0"/>
              <a:t>x</a:t>
            </a:r>
            <a:r>
              <a:rPr lang="en-US" sz="2800" dirty="0" smtClean="0"/>
              <a:t>] </a:t>
            </a:r>
            <a:endParaRPr kumimoji="0" lang="en-US" sz="2800" b="0" i="0" u="none" strike="noStrike" kern="1200" cap="none" spc="0" normalizeH="0" baseline="0" noProof="0" dirty="0">
              <a:ln>
                <a:noFill/>
              </a:ln>
              <a:solidFill>
                <a:schemeClr val="tx1"/>
              </a:solidFill>
              <a:effectLst/>
              <a:uLnTx/>
              <a:uFillTx/>
              <a:latin typeface="+mj-lt"/>
              <a:ea typeface="+mj-ea"/>
              <a:cs typeface="+mj-cs"/>
            </a:endParaRPr>
          </a:p>
        </p:txBody>
      </p:sp>
      <p:cxnSp>
        <p:nvCxnSpPr>
          <p:cNvPr id="524" name="Straight Connector 523"/>
          <p:cNvCxnSpPr/>
          <p:nvPr/>
        </p:nvCxnSpPr>
        <p:spPr>
          <a:xfrm>
            <a:off x="228600" y="1371600"/>
            <a:ext cx="8305800" cy="0"/>
          </a:xfrm>
          <a:prstGeom prst="line">
            <a:avLst/>
          </a:prstGeom>
        </p:spPr>
        <p:style>
          <a:lnRef idx="1">
            <a:schemeClr val="accent1"/>
          </a:lnRef>
          <a:fillRef idx="0">
            <a:schemeClr val="accent1"/>
          </a:fillRef>
          <a:effectRef idx="0">
            <a:schemeClr val="accent1"/>
          </a:effectRef>
          <a:fontRef idx="minor">
            <a:schemeClr val="tx1"/>
          </a:fontRef>
        </p:style>
      </p:cxnSp>
      <p:sp>
        <p:nvSpPr>
          <p:cNvPr id="529" name="Content Placeholder 2"/>
          <p:cNvSpPr txBox="1">
            <a:spLocks/>
          </p:cNvSpPr>
          <p:nvPr/>
        </p:nvSpPr>
        <p:spPr>
          <a:xfrm>
            <a:off x="228600" y="1447800"/>
            <a:ext cx="8915400" cy="4525963"/>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Replace k iterations of y = </a:t>
            </a:r>
            <a:r>
              <a:rPr kumimoji="0" lang="en-US" sz="3200" b="0" i="0" u="none" strike="noStrike" kern="1200" cap="none" spc="0" normalizeH="0" baseline="0" noProof="0" dirty="0" err="1" smtClean="0">
                <a:ln>
                  <a:noFill/>
                </a:ln>
                <a:solidFill>
                  <a:schemeClr val="tx1"/>
                </a:solidFill>
                <a:effectLst/>
                <a:uLnTx/>
                <a:uFillTx/>
                <a:latin typeface="+mn-lt"/>
                <a:ea typeface="+mn-ea"/>
                <a:cs typeface="+mn-cs"/>
              </a:rPr>
              <a:t>A</a:t>
            </a:r>
            <a:r>
              <a:rPr kumimoji="0" lang="en-US" sz="3200" b="0" i="0" u="none" strike="noStrike" kern="1200" cap="none" spc="0" normalizeH="0" baseline="0" noProof="0" dirty="0" err="1" smtClean="0">
                <a:ln>
                  <a:noFill/>
                </a:ln>
                <a:solidFill>
                  <a:schemeClr val="tx1"/>
                </a:solidFill>
                <a:effectLst/>
                <a:uLnTx/>
                <a:uFillTx/>
                <a:latin typeface="+mn-lt"/>
                <a:ea typeface="+mn-ea"/>
                <a:cs typeface="+mn-cs"/>
                <a:sym typeface="Symbol"/>
              </a:rPr>
              <a:t>x</a:t>
            </a:r>
            <a:r>
              <a:rPr kumimoji="0" lang="en-US" sz="3200" b="0" i="0" u="none" strike="noStrike" kern="1200" cap="none" spc="0" normalizeH="0" baseline="0" noProof="0" dirty="0" smtClean="0">
                <a:ln>
                  <a:noFill/>
                </a:ln>
                <a:solidFill>
                  <a:schemeClr val="tx1"/>
                </a:solidFill>
                <a:effectLst/>
                <a:uLnTx/>
                <a:uFillTx/>
                <a:latin typeface="+mn-lt"/>
                <a:ea typeface="+mn-ea"/>
                <a:cs typeface="+mn-cs"/>
                <a:sym typeface="Symbol"/>
              </a:rPr>
              <a:t> with [</a:t>
            </a:r>
            <a:r>
              <a:rPr kumimoji="0" lang="en-US" sz="3200" b="0" i="0" u="none" strike="noStrike" kern="1200" cap="none" spc="0" normalizeH="0" baseline="0" noProof="0" dirty="0" smtClean="0">
                <a:ln>
                  <a:noFill/>
                </a:ln>
                <a:solidFill>
                  <a:schemeClr val="tx1"/>
                </a:solidFill>
                <a:effectLst/>
                <a:uLnTx/>
                <a:uFillTx/>
                <a:latin typeface="+mn-lt"/>
                <a:ea typeface="+mn-ea"/>
                <a:cs typeface="+mn-cs"/>
              </a:rPr>
              <a:t>Ax, A</a:t>
            </a:r>
            <a:r>
              <a:rPr kumimoji="0" lang="en-US" sz="3200" b="0" i="0" u="none" strike="noStrike" kern="1200" cap="none" spc="0" normalizeH="0" baseline="40000" noProof="0" dirty="0" smtClean="0">
                <a:ln>
                  <a:noFill/>
                </a:ln>
                <a:solidFill>
                  <a:schemeClr val="tx1"/>
                </a:solidFill>
                <a:effectLst/>
                <a:uLnTx/>
                <a:uFillTx/>
                <a:latin typeface="+mn-lt"/>
                <a:ea typeface="+mn-ea"/>
                <a:cs typeface="+mn-cs"/>
              </a:rPr>
              <a:t>2</a:t>
            </a:r>
            <a:r>
              <a:rPr kumimoji="0" lang="en-US" sz="3200" b="0" i="0" u="none" strike="noStrike" kern="1200" cap="none" spc="0" normalizeH="0" baseline="0" noProof="0" dirty="0" smtClean="0">
                <a:ln>
                  <a:noFill/>
                </a:ln>
                <a:solidFill>
                  <a:schemeClr val="tx1"/>
                </a:solidFill>
                <a:effectLst/>
                <a:uLnTx/>
                <a:uFillTx/>
                <a:latin typeface="+mn-lt"/>
                <a:ea typeface="+mn-ea"/>
                <a:cs typeface="+mn-cs"/>
              </a:rPr>
              <a:t>x, …, </a:t>
            </a:r>
            <a:r>
              <a:rPr kumimoji="0" lang="en-US" sz="3200" b="0" i="0" u="none" strike="noStrike" kern="1200" cap="none" spc="0" normalizeH="0" baseline="0" noProof="0" dirty="0" err="1" smtClean="0">
                <a:ln>
                  <a:noFill/>
                </a:ln>
                <a:solidFill>
                  <a:schemeClr val="tx1"/>
                </a:solidFill>
                <a:effectLst/>
                <a:uLnTx/>
                <a:uFillTx/>
                <a:latin typeface="+mn-lt"/>
                <a:ea typeface="+mn-ea"/>
                <a:cs typeface="+mn-cs"/>
              </a:rPr>
              <a:t>A</a:t>
            </a:r>
            <a:r>
              <a:rPr kumimoji="0" lang="en-US" sz="3200" b="0" i="0" u="none" strike="noStrike" kern="1200" cap="none" spc="0" normalizeH="0" baseline="40000" noProof="0" dirty="0" err="1" smtClean="0">
                <a:ln>
                  <a:noFill/>
                </a:ln>
                <a:solidFill>
                  <a:schemeClr val="tx1"/>
                </a:solidFill>
                <a:effectLst/>
                <a:uLnTx/>
                <a:uFillTx/>
                <a:latin typeface="+mn-lt"/>
                <a:ea typeface="+mn-ea"/>
                <a:cs typeface="+mn-cs"/>
              </a:rPr>
              <a:t>k</a:t>
            </a:r>
            <a:r>
              <a:rPr kumimoji="0" lang="en-US" sz="3200" b="0" i="0" u="none" strike="noStrike" kern="1200" cap="none" spc="0" normalizeH="0" baseline="0" noProof="0" dirty="0" err="1" smtClean="0">
                <a:ln>
                  <a:noFill/>
                </a:ln>
                <a:solidFill>
                  <a:schemeClr val="tx1"/>
                </a:solidFill>
                <a:effectLst/>
                <a:uLnTx/>
                <a:uFillTx/>
                <a:latin typeface="+mn-lt"/>
                <a:ea typeface="+mn-ea"/>
                <a:cs typeface="+mn-cs"/>
              </a:rPr>
              <a:t>x</a:t>
            </a:r>
            <a:r>
              <a:rPr kumimoji="0" lang="en-US" sz="3200" b="0" i="0" u="none" strike="noStrike" kern="1200" cap="none" spc="0" normalizeH="0" baseline="0" noProof="0" dirty="0" smtClean="0">
                <a:ln>
                  <a:noFill/>
                </a:ln>
                <a:solidFill>
                  <a:schemeClr val="tx1"/>
                </a:solidFill>
                <a:effectLst/>
                <a:uLnTx/>
                <a:uFillTx/>
                <a:latin typeface="+mn-lt"/>
                <a:ea typeface="+mn-ea"/>
                <a:cs typeface="+mn-cs"/>
              </a:rPr>
              <a:t>] </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en-US" sz="3200" dirty="0" smtClean="0"/>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en-US" sz="3200" dirty="0" smtClean="0"/>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Example: A </a:t>
            </a:r>
            <a:r>
              <a:rPr kumimoji="0" lang="en-US" sz="3200" b="0" i="0" u="none" strike="noStrike" kern="1200" cap="none" spc="0" normalizeH="0" baseline="0" noProof="0" dirty="0" err="1" smtClean="0">
                <a:ln>
                  <a:noFill/>
                </a:ln>
                <a:solidFill>
                  <a:schemeClr val="tx1"/>
                </a:solidFill>
                <a:effectLst/>
                <a:uLnTx/>
                <a:uFillTx/>
                <a:latin typeface="+mn-lt"/>
                <a:ea typeface="+mn-ea"/>
                <a:cs typeface="+mn-cs"/>
              </a:rPr>
              <a:t>tridiagonal</a:t>
            </a:r>
            <a:r>
              <a:rPr kumimoji="0" lang="en-US" sz="3200" b="0" i="0" u="none" strike="noStrike" kern="1200" cap="none" spc="0" normalizeH="0" baseline="0" noProof="0" dirty="0" smtClean="0">
                <a:ln>
                  <a:noFill/>
                </a:ln>
                <a:solidFill>
                  <a:schemeClr val="tx1"/>
                </a:solidFill>
                <a:effectLst/>
                <a:uLnTx/>
                <a:uFillTx/>
                <a:latin typeface="+mn-lt"/>
                <a:ea typeface="+mn-ea"/>
                <a:cs typeface="+mn-cs"/>
              </a:rPr>
              <a:t>, n=32, k=3</a:t>
            </a:r>
          </a:p>
        </p:txBody>
      </p:sp>
    </p:spTree>
  </p:cSld>
  <p:clrMapOvr>
    <a:masterClrMapping/>
  </p:clrMapOvr>
  <p:timing>
    <p:tnLst>
      <p:par>
        <p:cTn xmlns:p14="http://schemas.microsoft.com/office/powerpoint/2010/mai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 name="Isosceles Triangle 521"/>
          <p:cNvSpPr/>
          <p:nvPr/>
        </p:nvSpPr>
        <p:spPr>
          <a:xfrm>
            <a:off x="3581400" y="2895600"/>
            <a:ext cx="1676400" cy="1219200"/>
          </a:xfrm>
          <a:prstGeom prst="triangle">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1" name="Isosceles Triangle 520"/>
          <p:cNvSpPr/>
          <p:nvPr/>
        </p:nvSpPr>
        <p:spPr>
          <a:xfrm>
            <a:off x="990600" y="3657600"/>
            <a:ext cx="609600" cy="457200"/>
          </a:xfrm>
          <a:prstGeom prst="triangle">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 308"/>
          <p:cNvGrpSpPr/>
          <p:nvPr/>
        </p:nvGrpSpPr>
        <p:grpSpPr>
          <a:xfrm>
            <a:off x="762000" y="2895600"/>
            <a:ext cx="8077200" cy="1219200"/>
            <a:chOff x="-9144000" y="1447800"/>
            <a:chExt cx="28498800" cy="2895600"/>
          </a:xfrm>
        </p:grpSpPr>
        <p:grpSp>
          <p:nvGrpSpPr>
            <p:cNvPr id="3" name="Group 180"/>
            <p:cNvGrpSpPr/>
            <p:nvPr/>
          </p:nvGrpSpPr>
          <p:grpSpPr>
            <a:xfrm>
              <a:off x="-9144000" y="1447800"/>
              <a:ext cx="13868400" cy="2895600"/>
              <a:chOff x="914400" y="1447800"/>
              <a:chExt cx="13868400" cy="2895600"/>
            </a:xfrm>
          </p:grpSpPr>
          <p:grpSp>
            <p:nvGrpSpPr>
              <p:cNvPr id="4" name="Group 116"/>
              <p:cNvGrpSpPr/>
              <p:nvPr/>
            </p:nvGrpSpPr>
            <p:grpSpPr>
              <a:xfrm>
                <a:off x="914400" y="1447800"/>
                <a:ext cx="6553200" cy="2895600"/>
                <a:chOff x="914400" y="1447800"/>
                <a:chExt cx="6553200" cy="2895600"/>
              </a:xfrm>
            </p:grpSpPr>
            <p:grpSp>
              <p:nvGrpSpPr>
                <p:cNvPr id="5" name="Group 84"/>
                <p:cNvGrpSpPr/>
                <p:nvPr/>
              </p:nvGrpSpPr>
              <p:grpSpPr>
                <a:xfrm>
                  <a:off x="914400" y="1447800"/>
                  <a:ext cx="2895600" cy="2895600"/>
                  <a:chOff x="914400" y="1447800"/>
                  <a:chExt cx="2895600" cy="2895600"/>
                </a:xfrm>
              </p:grpSpPr>
              <p:grpSp>
                <p:nvGrpSpPr>
                  <p:cNvPr id="6" name="Group 68"/>
                  <p:cNvGrpSpPr/>
                  <p:nvPr/>
                </p:nvGrpSpPr>
                <p:grpSpPr>
                  <a:xfrm>
                    <a:off x="914400" y="1447800"/>
                    <a:ext cx="2895600" cy="1066800"/>
                    <a:chOff x="914400" y="1447800"/>
                    <a:chExt cx="2895600" cy="1066800"/>
                  </a:xfrm>
                </p:grpSpPr>
                <p:grpSp>
                  <p:nvGrpSpPr>
                    <p:cNvPr id="7" name="Group 60"/>
                    <p:cNvGrpSpPr/>
                    <p:nvPr/>
                  </p:nvGrpSpPr>
                  <p:grpSpPr>
                    <a:xfrm>
                      <a:off x="914400" y="2362200"/>
                      <a:ext cx="2895600" cy="152400"/>
                      <a:chOff x="914400" y="1447800"/>
                      <a:chExt cx="2895600" cy="152400"/>
                    </a:xfrm>
                  </p:grpSpPr>
                  <p:grpSp>
                    <p:nvGrpSpPr>
                      <p:cNvPr id="8" name="Group 56"/>
                      <p:cNvGrpSpPr/>
                      <p:nvPr/>
                    </p:nvGrpSpPr>
                    <p:grpSpPr>
                      <a:xfrm>
                        <a:off x="914400" y="1447800"/>
                        <a:ext cx="1066800" cy="152400"/>
                        <a:chOff x="914400" y="1447800"/>
                        <a:chExt cx="1066800" cy="152400"/>
                      </a:xfrm>
                    </p:grpSpPr>
                    <p:sp>
                      <p:nvSpPr>
                        <p:cNvPr id="53" name="Oval 5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Oval 5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 name="Group 57"/>
                      <p:cNvGrpSpPr/>
                      <p:nvPr/>
                    </p:nvGrpSpPr>
                    <p:grpSpPr>
                      <a:xfrm>
                        <a:off x="2743200" y="1447800"/>
                        <a:ext cx="1066800" cy="152400"/>
                        <a:chOff x="914400" y="1447800"/>
                        <a:chExt cx="1066800" cy="152400"/>
                      </a:xfrm>
                    </p:grpSpPr>
                    <p:sp>
                      <p:nvSpPr>
                        <p:cNvPr id="59" name="Oval 58"/>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Oval 59"/>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0" name="Group 61"/>
                    <p:cNvGrpSpPr/>
                    <p:nvPr/>
                  </p:nvGrpSpPr>
                  <p:grpSpPr>
                    <a:xfrm>
                      <a:off x="914400" y="1447800"/>
                      <a:ext cx="2895600" cy="152400"/>
                      <a:chOff x="914400" y="1447800"/>
                      <a:chExt cx="2895600" cy="152400"/>
                    </a:xfrm>
                  </p:grpSpPr>
                  <p:grpSp>
                    <p:nvGrpSpPr>
                      <p:cNvPr id="11" name="Group 56"/>
                      <p:cNvGrpSpPr/>
                      <p:nvPr/>
                    </p:nvGrpSpPr>
                    <p:grpSpPr>
                      <a:xfrm>
                        <a:off x="914400" y="1447800"/>
                        <a:ext cx="1066800" cy="152400"/>
                        <a:chOff x="914400" y="1447800"/>
                        <a:chExt cx="1066800" cy="152400"/>
                      </a:xfrm>
                    </p:grpSpPr>
                    <p:sp>
                      <p:nvSpPr>
                        <p:cNvPr id="67" name="Oval 66"/>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Oval 67"/>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2" name="Group 57"/>
                      <p:cNvGrpSpPr/>
                      <p:nvPr/>
                    </p:nvGrpSpPr>
                    <p:grpSpPr>
                      <a:xfrm>
                        <a:off x="2743200" y="1447800"/>
                        <a:ext cx="1066800" cy="152400"/>
                        <a:chOff x="914400" y="1447800"/>
                        <a:chExt cx="1066800" cy="152400"/>
                      </a:xfrm>
                    </p:grpSpPr>
                    <p:sp>
                      <p:nvSpPr>
                        <p:cNvPr id="65" name="Oval 64"/>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Oval 65"/>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nvGrpSpPr>
                  <p:cNvPr id="13" name="Group 69"/>
                  <p:cNvGrpSpPr/>
                  <p:nvPr/>
                </p:nvGrpSpPr>
                <p:grpSpPr>
                  <a:xfrm>
                    <a:off x="914400" y="3276600"/>
                    <a:ext cx="2895600" cy="1066800"/>
                    <a:chOff x="914400" y="1447800"/>
                    <a:chExt cx="2895600" cy="1066800"/>
                  </a:xfrm>
                </p:grpSpPr>
                <p:grpSp>
                  <p:nvGrpSpPr>
                    <p:cNvPr id="14" name="Group 60"/>
                    <p:cNvGrpSpPr/>
                    <p:nvPr/>
                  </p:nvGrpSpPr>
                  <p:grpSpPr>
                    <a:xfrm>
                      <a:off x="914400" y="2362200"/>
                      <a:ext cx="2895600" cy="152400"/>
                      <a:chOff x="914400" y="1447800"/>
                      <a:chExt cx="2895600" cy="152400"/>
                    </a:xfrm>
                  </p:grpSpPr>
                  <p:grpSp>
                    <p:nvGrpSpPr>
                      <p:cNvPr id="15" name="Group 56"/>
                      <p:cNvGrpSpPr/>
                      <p:nvPr/>
                    </p:nvGrpSpPr>
                    <p:grpSpPr>
                      <a:xfrm>
                        <a:off x="914400" y="1447800"/>
                        <a:ext cx="1066800" cy="152400"/>
                        <a:chOff x="914400" y="1447800"/>
                        <a:chExt cx="1066800" cy="152400"/>
                      </a:xfrm>
                    </p:grpSpPr>
                    <p:sp>
                      <p:nvSpPr>
                        <p:cNvPr id="83" name="Oval 8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Oval 8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 name="Group 57"/>
                      <p:cNvGrpSpPr/>
                      <p:nvPr/>
                    </p:nvGrpSpPr>
                    <p:grpSpPr>
                      <a:xfrm>
                        <a:off x="2743200" y="1447800"/>
                        <a:ext cx="1066800" cy="152400"/>
                        <a:chOff x="914400" y="1447800"/>
                        <a:chExt cx="1066800" cy="152400"/>
                      </a:xfrm>
                    </p:grpSpPr>
                    <p:sp>
                      <p:nvSpPr>
                        <p:cNvPr id="81" name="Oval 80"/>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Oval 81"/>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7" name="Group 61"/>
                    <p:cNvGrpSpPr/>
                    <p:nvPr/>
                  </p:nvGrpSpPr>
                  <p:grpSpPr>
                    <a:xfrm>
                      <a:off x="914400" y="1447800"/>
                      <a:ext cx="2895600" cy="152400"/>
                      <a:chOff x="914400" y="1447800"/>
                      <a:chExt cx="2895600" cy="152400"/>
                    </a:xfrm>
                  </p:grpSpPr>
                  <p:grpSp>
                    <p:nvGrpSpPr>
                      <p:cNvPr id="18" name="Group 56"/>
                      <p:cNvGrpSpPr/>
                      <p:nvPr/>
                    </p:nvGrpSpPr>
                    <p:grpSpPr>
                      <a:xfrm>
                        <a:off x="914400" y="1447800"/>
                        <a:ext cx="1066800" cy="152400"/>
                        <a:chOff x="914400" y="1447800"/>
                        <a:chExt cx="1066800" cy="152400"/>
                      </a:xfrm>
                    </p:grpSpPr>
                    <p:sp>
                      <p:nvSpPr>
                        <p:cNvPr id="77" name="Oval 76"/>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Oval 77"/>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9" name="Group 57"/>
                      <p:cNvGrpSpPr/>
                      <p:nvPr/>
                    </p:nvGrpSpPr>
                    <p:grpSpPr>
                      <a:xfrm>
                        <a:off x="2743200" y="1447800"/>
                        <a:ext cx="1066800" cy="152400"/>
                        <a:chOff x="914400" y="1447800"/>
                        <a:chExt cx="1066800" cy="152400"/>
                      </a:xfrm>
                    </p:grpSpPr>
                    <p:sp>
                      <p:nvSpPr>
                        <p:cNvPr id="75" name="Oval 74"/>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Oval 75"/>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grpSp>
              <p:nvGrpSpPr>
                <p:cNvPr id="20" name="Group 85"/>
                <p:cNvGrpSpPr/>
                <p:nvPr/>
              </p:nvGrpSpPr>
              <p:grpSpPr>
                <a:xfrm>
                  <a:off x="4572000" y="1447800"/>
                  <a:ext cx="2895600" cy="2895600"/>
                  <a:chOff x="914400" y="1447800"/>
                  <a:chExt cx="2895600" cy="2895600"/>
                </a:xfrm>
              </p:grpSpPr>
              <p:grpSp>
                <p:nvGrpSpPr>
                  <p:cNvPr id="21" name="Group 68"/>
                  <p:cNvGrpSpPr/>
                  <p:nvPr/>
                </p:nvGrpSpPr>
                <p:grpSpPr>
                  <a:xfrm>
                    <a:off x="914400" y="1447800"/>
                    <a:ext cx="2895600" cy="1066800"/>
                    <a:chOff x="914400" y="1447800"/>
                    <a:chExt cx="2895600" cy="1066800"/>
                  </a:xfrm>
                </p:grpSpPr>
                <p:grpSp>
                  <p:nvGrpSpPr>
                    <p:cNvPr id="22" name="Group 60"/>
                    <p:cNvGrpSpPr/>
                    <p:nvPr/>
                  </p:nvGrpSpPr>
                  <p:grpSpPr>
                    <a:xfrm>
                      <a:off x="914400" y="2362200"/>
                      <a:ext cx="2895600" cy="152400"/>
                      <a:chOff x="914400" y="1447800"/>
                      <a:chExt cx="2895600" cy="152400"/>
                    </a:xfrm>
                  </p:grpSpPr>
                  <p:grpSp>
                    <p:nvGrpSpPr>
                      <p:cNvPr id="23" name="Group 56"/>
                      <p:cNvGrpSpPr/>
                      <p:nvPr/>
                    </p:nvGrpSpPr>
                    <p:grpSpPr>
                      <a:xfrm>
                        <a:off x="914400" y="1447800"/>
                        <a:ext cx="1066800" cy="152400"/>
                        <a:chOff x="914400" y="1447800"/>
                        <a:chExt cx="1066800" cy="152400"/>
                      </a:xfrm>
                    </p:grpSpPr>
                    <p:sp>
                      <p:nvSpPr>
                        <p:cNvPr id="115" name="Oval 114"/>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 name="Oval 115"/>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4" name="Group 57"/>
                      <p:cNvGrpSpPr/>
                      <p:nvPr/>
                    </p:nvGrpSpPr>
                    <p:grpSpPr>
                      <a:xfrm>
                        <a:off x="2743200" y="1447800"/>
                        <a:ext cx="1066800" cy="152400"/>
                        <a:chOff x="914400" y="1447800"/>
                        <a:chExt cx="1066800" cy="152400"/>
                      </a:xfrm>
                    </p:grpSpPr>
                    <p:sp>
                      <p:nvSpPr>
                        <p:cNvPr id="113" name="Oval 11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Oval 11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25" name="Group 61"/>
                    <p:cNvGrpSpPr/>
                    <p:nvPr/>
                  </p:nvGrpSpPr>
                  <p:grpSpPr>
                    <a:xfrm>
                      <a:off x="914400" y="1447800"/>
                      <a:ext cx="2895600" cy="152400"/>
                      <a:chOff x="914400" y="1447800"/>
                      <a:chExt cx="2895600" cy="152400"/>
                    </a:xfrm>
                  </p:grpSpPr>
                  <p:grpSp>
                    <p:nvGrpSpPr>
                      <p:cNvPr id="26" name="Group 56"/>
                      <p:cNvGrpSpPr/>
                      <p:nvPr/>
                    </p:nvGrpSpPr>
                    <p:grpSpPr>
                      <a:xfrm>
                        <a:off x="914400" y="1447800"/>
                        <a:ext cx="1066800" cy="152400"/>
                        <a:chOff x="914400" y="1447800"/>
                        <a:chExt cx="1066800" cy="152400"/>
                      </a:xfrm>
                    </p:grpSpPr>
                    <p:sp>
                      <p:nvSpPr>
                        <p:cNvPr id="109" name="Oval 108"/>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Oval 109"/>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7" name="Group 57"/>
                      <p:cNvGrpSpPr/>
                      <p:nvPr/>
                    </p:nvGrpSpPr>
                    <p:grpSpPr>
                      <a:xfrm>
                        <a:off x="2743200" y="1447800"/>
                        <a:ext cx="1066800" cy="152400"/>
                        <a:chOff x="914400" y="1447800"/>
                        <a:chExt cx="1066800" cy="152400"/>
                      </a:xfrm>
                    </p:grpSpPr>
                    <p:sp>
                      <p:nvSpPr>
                        <p:cNvPr id="107" name="Oval 106"/>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Oval 107"/>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nvGrpSpPr>
                  <p:cNvPr id="28" name="Group 69"/>
                  <p:cNvGrpSpPr/>
                  <p:nvPr/>
                </p:nvGrpSpPr>
                <p:grpSpPr>
                  <a:xfrm>
                    <a:off x="914400" y="3276600"/>
                    <a:ext cx="2895600" cy="1066800"/>
                    <a:chOff x="914400" y="1447800"/>
                    <a:chExt cx="2895600" cy="1066800"/>
                  </a:xfrm>
                </p:grpSpPr>
                <p:grpSp>
                  <p:nvGrpSpPr>
                    <p:cNvPr id="29" name="Group 60"/>
                    <p:cNvGrpSpPr/>
                    <p:nvPr/>
                  </p:nvGrpSpPr>
                  <p:grpSpPr>
                    <a:xfrm>
                      <a:off x="914400" y="2362200"/>
                      <a:ext cx="2895600" cy="152400"/>
                      <a:chOff x="914400" y="1447800"/>
                      <a:chExt cx="2895600" cy="152400"/>
                    </a:xfrm>
                  </p:grpSpPr>
                  <p:grpSp>
                    <p:nvGrpSpPr>
                      <p:cNvPr id="30" name="Group 56"/>
                      <p:cNvGrpSpPr/>
                      <p:nvPr/>
                    </p:nvGrpSpPr>
                    <p:grpSpPr>
                      <a:xfrm>
                        <a:off x="914400" y="1447800"/>
                        <a:ext cx="1066800" cy="152400"/>
                        <a:chOff x="914400" y="1447800"/>
                        <a:chExt cx="1066800" cy="152400"/>
                      </a:xfrm>
                    </p:grpSpPr>
                    <p:sp>
                      <p:nvSpPr>
                        <p:cNvPr id="101" name="Oval 100"/>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Oval 101"/>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1" name="Group 57"/>
                      <p:cNvGrpSpPr/>
                      <p:nvPr/>
                    </p:nvGrpSpPr>
                    <p:grpSpPr>
                      <a:xfrm>
                        <a:off x="2743200" y="1447800"/>
                        <a:ext cx="1066800" cy="152400"/>
                        <a:chOff x="914400" y="1447800"/>
                        <a:chExt cx="1066800" cy="152400"/>
                      </a:xfrm>
                    </p:grpSpPr>
                    <p:sp>
                      <p:nvSpPr>
                        <p:cNvPr id="99" name="Oval 98"/>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Oval 99"/>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32" name="Group 61"/>
                    <p:cNvGrpSpPr/>
                    <p:nvPr/>
                  </p:nvGrpSpPr>
                  <p:grpSpPr>
                    <a:xfrm>
                      <a:off x="914400" y="1447800"/>
                      <a:ext cx="2895600" cy="152400"/>
                      <a:chOff x="914400" y="1447800"/>
                      <a:chExt cx="2895600" cy="152400"/>
                    </a:xfrm>
                  </p:grpSpPr>
                  <p:grpSp>
                    <p:nvGrpSpPr>
                      <p:cNvPr id="33" name="Group 56"/>
                      <p:cNvGrpSpPr/>
                      <p:nvPr/>
                    </p:nvGrpSpPr>
                    <p:grpSpPr>
                      <a:xfrm>
                        <a:off x="914400" y="1447800"/>
                        <a:ext cx="1066800" cy="152400"/>
                        <a:chOff x="914400" y="1447800"/>
                        <a:chExt cx="1066800" cy="152400"/>
                      </a:xfrm>
                    </p:grpSpPr>
                    <p:sp>
                      <p:nvSpPr>
                        <p:cNvPr id="95" name="Oval 94"/>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Oval 95"/>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4" name="Group 57"/>
                      <p:cNvGrpSpPr/>
                      <p:nvPr/>
                    </p:nvGrpSpPr>
                    <p:grpSpPr>
                      <a:xfrm>
                        <a:off x="2743200" y="1447800"/>
                        <a:ext cx="1066800" cy="152400"/>
                        <a:chOff x="914400" y="1447800"/>
                        <a:chExt cx="1066800" cy="152400"/>
                      </a:xfrm>
                    </p:grpSpPr>
                    <p:sp>
                      <p:nvSpPr>
                        <p:cNvPr id="93" name="Oval 9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Oval 9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grpSp>
          <p:grpSp>
            <p:nvGrpSpPr>
              <p:cNvPr id="35" name="Group 117"/>
              <p:cNvGrpSpPr/>
              <p:nvPr/>
            </p:nvGrpSpPr>
            <p:grpSpPr>
              <a:xfrm>
                <a:off x="8229600" y="1447800"/>
                <a:ext cx="6553200" cy="2895600"/>
                <a:chOff x="914400" y="1447800"/>
                <a:chExt cx="6553200" cy="2895600"/>
              </a:xfrm>
            </p:grpSpPr>
            <p:grpSp>
              <p:nvGrpSpPr>
                <p:cNvPr id="36" name="Group 84"/>
                <p:cNvGrpSpPr/>
                <p:nvPr/>
              </p:nvGrpSpPr>
              <p:grpSpPr>
                <a:xfrm>
                  <a:off x="914400" y="1447800"/>
                  <a:ext cx="2895600" cy="2895600"/>
                  <a:chOff x="914400" y="1447800"/>
                  <a:chExt cx="2895600" cy="2895600"/>
                </a:xfrm>
              </p:grpSpPr>
              <p:grpSp>
                <p:nvGrpSpPr>
                  <p:cNvPr id="37" name="Group 68"/>
                  <p:cNvGrpSpPr/>
                  <p:nvPr/>
                </p:nvGrpSpPr>
                <p:grpSpPr>
                  <a:xfrm>
                    <a:off x="914400" y="1447800"/>
                    <a:ext cx="2895600" cy="1066800"/>
                    <a:chOff x="914400" y="1447800"/>
                    <a:chExt cx="2895600" cy="1066800"/>
                  </a:xfrm>
                </p:grpSpPr>
                <p:grpSp>
                  <p:nvGrpSpPr>
                    <p:cNvPr id="38" name="Group 60"/>
                    <p:cNvGrpSpPr/>
                    <p:nvPr/>
                  </p:nvGrpSpPr>
                  <p:grpSpPr>
                    <a:xfrm>
                      <a:off x="914400" y="2362200"/>
                      <a:ext cx="2895600" cy="152400"/>
                      <a:chOff x="914400" y="1447800"/>
                      <a:chExt cx="2895600" cy="152400"/>
                    </a:xfrm>
                  </p:grpSpPr>
                  <p:grpSp>
                    <p:nvGrpSpPr>
                      <p:cNvPr id="39" name="Group 56"/>
                      <p:cNvGrpSpPr/>
                      <p:nvPr/>
                    </p:nvGrpSpPr>
                    <p:grpSpPr>
                      <a:xfrm>
                        <a:off x="914400" y="1447800"/>
                        <a:ext cx="1066800" cy="152400"/>
                        <a:chOff x="914400" y="1447800"/>
                        <a:chExt cx="1066800" cy="152400"/>
                      </a:xfrm>
                    </p:grpSpPr>
                    <p:sp>
                      <p:nvSpPr>
                        <p:cNvPr id="179" name="Oval 5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0" name="Oval 5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0" name="Group 57"/>
                      <p:cNvGrpSpPr/>
                      <p:nvPr/>
                    </p:nvGrpSpPr>
                    <p:grpSpPr>
                      <a:xfrm>
                        <a:off x="2743200" y="1447800"/>
                        <a:ext cx="1066800" cy="152400"/>
                        <a:chOff x="914400" y="1447800"/>
                        <a:chExt cx="1066800" cy="152400"/>
                      </a:xfrm>
                    </p:grpSpPr>
                    <p:sp>
                      <p:nvSpPr>
                        <p:cNvPr id="177" name="Oval 58"/>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8" name="Oval 59"/>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41" name="Group 61"/>
                    <p:cNvGrpSpPr/>
                    <p:nvPr/>
                  </p:nvGrpSpPr>
                  <p:grpSpPr>
                    <a:xfrm>
                      <a:off x="914400" y="1447800"/>
                      <a:ext cx="2895600" cy="152400"/>
                      <a:chOff x="914400" y="1447800"/>
                      <a:chExt cx="2895600" cy="152400"/>
                    </a:xfrm>
                  </p:grpSpPr>
                  <p:grpSp>
                    <p:nvGrpSpPr>
                      <p:cNvPr id="42" name="Group 56"/>
                      <p:cNvGrpSpPr/>
                      <p:nvPr/>
                    </p:nvGrpSpPr>
                    <p:grpSpPr>
                      <a:xfrm>
                        <a:off x="914400" y="1447800"/>
                        <a:ext cx="1066800" cy="152400"/>
                        <a:chOff x="914400" y="1447800"/>
                        <a:chExt cx="1066800" cy="152400"/>
                      </a:xfrm>
                    </p:grpSpPr>
                    <p:sp>
                      <p:nvSpPr>
                        <p:cNvPr id="173" name="Oval 17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4" name="Oval 17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3" name="Group 57"/>
                      <p:cNvGrpSpPr/>
                      <p:nvPr/>
                    </p:nvGrpSpPr>
                    <p:grpSpPr>
                      <a:xfrm>
                        <a:off x="2743200" y="1447800"/>
                        <a:ext cx="1066800" cy="152400"/>
                        <a:chOff x="914400" y="1447800"/>
                        <a:chExt cx="1066800" cy="152400"/>
                      </a:xfrm>
                    </p:grpSpPr>
                    <p:sp>
                      <p:nvSpPr>
                        <p:cNvPr id="171" name="Oval 170"/>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2" name="Oval 171"/>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nvGrpSpPr>
                  <p:cNvPr id="44" name="Group 69"/>
                  <p:cNvGrpSpPr/>
                  <p:nvPr/>
                </p:nvGrpSpPr>
                <p:grpSpPr>
                  <a:xfrm>
                    <a:off x="914400" y="3276600"/>
                    <a:ext cx="2895600" cy="1066800"/>
                    <a:chOff x="914400" y="1447800"/>
                    <a:chExt cx="2895600" cy="1066800"/>
                  </a:xfrm>
                </p:grpSpPr>
                <p:grpSp>
                  <p:nvGrpSpPr>
                    <p:cNvPr id="45" name="Group 60"/>
                    <p:cNvGrpSpPr/>
                    <p:nvPr/>
                  </p:nvGrpSpPr>
                  <p:grpSpPr>
                    <a:xfrm>
                      <a:off x="914400" y="2362200"/>
                      <a:ext cx="2895600" cy="152400"/>
                      <a:chOff x="914400" y="1447800"/>
                      <a:chExt cx="2895600" cy="152400"/>
                    </a:xfrm>
                  </p:grpSpPr>
                  <p:grpSp>
                    <p:nvGrpSpPr>
                      <p:cNvPr id="46" name="Group 56"/>
                      <p:cNvGrpSpPr/>
                      <p:nvPr/>
                    </p:nvGrpSpPr>
                    <p:grpSpPr>
                      <a:xfrm>
                        <a:off x="914400" y="1447800"/>
                        <a:ext cx="1066800" cy="152400"/>
                        <a:chOff x="914400" y="1447800"/>
                        <a:chExt cx="1066800" cy="152400"/>
                      </a:xfrm>
                    </p:grpSpPr>
                    <p:sp>
                      <p:nvSpPr>
                        <p:cNvPr id="165" name="Oval 164"/>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6" name="Oval 165"/>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7" name="Group 57"/>
                      <p:cNvGrpSpPr/>
                      <p:nvPr/>
                    </p:nvGrpSpPr>
                    <p:grpSpPr>
                      <a:xfrm>
                        <a:off x="2743200" y="1447800"/>
                        <a:ext cx="1066800" cy="152400"/>
                        <a:chOff x="914400" y="1447800"/>
                        <a:chExt cx="1066800" cy="152400"/>
                      </a:xfrm>
                    </p:grpSpPr>
                    <p:sp>
                      <p:nvSpPr>
                        <p:cNvPr id="163" name="Oval 16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4" name="Oval 16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48" name="Group 61"/>
                    <p:cNvGrpSpPr/>
                    <p:nvPr/>
                  </p:nvGrpSpPr>
                  <p:grpSpPr>
                    <a:xfrm>
                      <a:off x="914400" y="1447800"/>
                      <a:ext cx="2895600" cy="152400"/>
                      <a:chOff x="914400" y="1447800"/>
                      <a:chExt cx="2895600" cy="152400"/>
                    </a:xfrm>
                  </p:grpSpPr>
                  <p:grpSp>
                    <p:nvGrpSpPr>
                      <p:cNvPr id="49" name="Group 56"/>
                      <p:cNvGrpSpPr/>
                      <p:nvPr/>
                    </p:nvGrpSpPr>
                    <p:grpSpPr>
                      <a:xfrm>
                        <a:off x="914400" y="1447800"/>
                        <a:ext cx="1066800" cy="152400"/>
                        <a:chOff x="914400" y="1447800"/>
                        <a:chExt cx="1066800" cy="152400"/>
                      </a:xfrm>
                    </p:grpSpPr>
                    <p:sp>
                      <p:nvSpPr>
                        <p:cNvPr id="159" name="Oval 158"/>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0" name="Oval 159"/>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0" name="Group 57"/>
                      <p:cNvGrpSpPr/>
                      <p:nvPr/>
                    </p:nvGrpSpPr>
                    <p:grpSpPr>
                      <a:xfrm>
                        <a:off x="2743200" y="1447800"/>
                        <a:ext cx="1066800" cy="152400"/>
                        <a:chOff x="914400" y="1447800"/>
                        <a:chExt cx="1066800" cy="152400"/>
                      </a:xfrm>
                    </p:grpSpPr>
                    <p:sp>
                      <p:nvSpPr>
                        <p:cNvPr id="157" name="Oval 156"/>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8" name="Oval 157"/>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grpSp>
              <p:nvGrpSpPr>
                <p:cNvPr id="51" name="Group 85"/>
                <p:cNvGrpSpPr/>
                <p:nvPr/>
              </p:nvGrpSpPr>
              <p:grpSpPr>
                <a:xfrm>
                  <a:off x="4572000" y="1447800"/>
                  <a:ext cx="2895600" cy="2895600"/>
                  <a:chOff x="914400" y="1447800"/>
                  <a:chExt cx="2895600" cy="2895600"/>
                </a:xfrm>
              </p:grpSpPr>
              <p:grpSp>
                <p:nvGrpSpPr>
                  <p:cNvPr id="52" name="Group 68"/>
                  <p:cNvGrpSpPr/>
                  <p:nvPr/>
                </p:nvGrpSpPr>
                <p:grpSpPr>
                  <a:xfrm>
                    <a:off x="914400" y="1447800"/>
                    <a:ext cx="2895600" cy="1066800"/>
                    <a:chOff x="914400" y="1447800"/>
                    <a:chExt cx="2895600" cy="1066800"/>
                  </a:xfrm>
                </p:grpSpPr>
                <p:grpSp>
                  <p:nvGrpSpPr>
                    <p:cNvPr id="55" name="Group 60"/>
                    <p:cNvGrpSpPr/>
                    <p:nvPr/>
                  </p:nvGrpSpPr>
                  <p:grpSpPr>
                    <a:xfrm>
                      <a:off x="914400" y="2362200"/>
                      <a:ext cx="2895600" cy="152400"/>
                      <a:chOff x="914400" y="1447800"/>
                      <a:chExt cx="2895600" cy="152400"/>
                    </a:xfrm>
                  </p:grpSpPr>
                  <p:grpSp>
                    <p:nvGrpSpPr>
                      <p:cNvPr id="56" name="Group 56"/>
                      <p:cNvGrpSpPr/>
                      <p:nvPr/>
                    </p:nvGrpSpPr>
                    <p:grpSpPr>
                      <a:xfrm>
                        <a:off x="914400" y="1447800"/>
                        <a:ext cx="1066800" cy="152400"/>
                        <a:chOff x="914400" y="1447800"/>
                        <a:chExt cx="1066800" cy="152400"/>
                      </a:xfrm>
                    </p:grpSpPr>
                    <p:sp>
                      <p:nvSpPr>
                        <p:cNvPr id="149" name="Oval 148"/>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0" name="Oval 149"/>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7" name="Group 57"/>
                      <p:cNvGrpSpPr/>
                      <p:nvPr/>
                    </p:nvGrpSpPr>
                    <p:grpSpPr>
                      <a:xfrm>
                        <a:off x="2743200" y="1447800"/>
                        <a:ext cx="1066800" cy="152400"/>
                        <a:chOff x="914400" y="1447800"/>
                        <a:chExt cx="1066800" cy="152400"/>
                      </a:xfrm>
                    </p:grpSpPr>
                    <p:sp>
                      <p:nvSpPr>
                        <p:cNvPr id="147" name="Oval 146"/>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8" name="Oval 147"/>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58" name="Group 61"/>
                    <p:cNvGrpSpPr/>
                    <p:nvPr/>
                  </p:nvGrpSpPr>
                  <p:grpSpPr>
                    <a:xfrm>
                      <a:off x="914400" y="1447800"/>
                      <a:ext cx="2895600" cy="152400"/>
                      <a:chOff x="914400" y="1447800"/>
                      <a:chExt cx="2895600" cy="152400"/>
                    </a:xfrm>
                  </p:grpSpPr>
                  <p:grpSp>
                    <p:nvGrpSpPr>
                      <p:cNvPr id="61" name="Group 56"/>
                      <p:cNvGrpSpPr/>
                      <p:nvPr/>
                    </p:nvGrpSpPr>
                    <p:grpSpPr>
                      <a:xfrm>
                        <a:off x="914400" y="1447800"/>
                        <a:ext cx="1066800" cy="152400"/>
                        <a:chOff x="914400" y="1447800"/>
                        <a:chExt cx="1066800" cy="152400"/>
                      </a:xfrm>
                    </p:grpSpPr>
                    <p:sp>
                      <p:nvSpPr>
                        <p:cNvPr id="143" name="Oval 14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4" name="Oval 14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2" name="Group 57"/>
                      <p:cNvGrpSpPr/>
                      <p:nvPr/>
                    </p:nvGrpSpPr>
                    <p:grpSpPr>
                      <a:xfrm>
                        <a:off x="2743200" y="1447800"/>
                        <a:ext cx="1066800" cy="152400"/>
                        <a:chOff x="914400" y="1447800"/>
                        <a:chExt cx="1066800" cy="152400"/>
                      </a:xfrm>
                    </p:grpSpPr>
                    <p:sp>
                      <p:nvSpPr>
                        <p:cNvPr id="141" name="Oval 140"/>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2" name="Oval 141"/>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nvGrpSpPr>
                  <p:cNvPr id="63" name="Group 69"/>
                  <p:cNvGrpSpPr/>
                  <p:nvPr/>
                </p:nvGrpSpPr>
                <p:grpSpPr>
                  <a:xfrm>
                    <a:off x="914400" y="3276600"/>
                    <a:ext cx="2895600" cy="1066800"/>
                    <a:chOff x="914400" y="1447800"/>
                    <a:chExt cx="2895600" cy="1066800"/>
                  </a:xfrm>
                </p:grpSpPr>
                <p:grpSp>
                  <p:nvGrpSpPr>
                    <p:cNvPr id="64" name="Group 60"/>
                    <p:cNvGrpSpPr/>
                    <p:nvPr/>
                  </p:nvGrpSpPr>
                  <p:grpSpPr>
                    <a:xfrm>
                      <a:off x="914400" y="2362200"/>
                      <a:ext cx="2895600" cy="152400"/>
                      <a:chOff x="914400" y="1447800"/>
                      <a:chExt cx="2895600" cy="152400"/>
                    </a:xfrm>
                  </p:grpSpPr>
                  <p:grpSp>
                    <p:nvGrpSpPr>
                      <p:cNvPr id="69" name="Group 56"/>
                      <p:cNvGrpSpPr/>
                      <p:nvPr/>
                    </p:nvGrpSpPr>
                    <p:grpSpPr>
                      <a:xfrm>
                        <a:off x="914400" y="1447800"/>
                        <a:ext cx="1066800" cy="152400"/>
                        <a:chOff x="914400" y="1447800"/>
                        <a:chExt cx="1066800" cy="152400"/>
                      </a:xfrm>
                    </p:grpSpPr>
                    <p:sp>
                      <p:nvSpPr>
                        <p:cNvPr id="135" name="Oval 134"/>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6" name="Oval 135"/>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0" name="Group 57"/>
                      <p:cNvGrpSpPr/>
                      <p:nvPr/>
                    </p:nvGrpSpPr>
                    <p:grpSpPr>
                      <a:xfrm>
                        <a:off x="2743200" y="1447800"/>
                        <a:ext cx="1066800" cy="152400"/>
                        <a:chOff x="914400" y="1447800"/>
                        <a:chExt cx="1066800" cy="152400"/>
                      </a:xfrm>
                    </p:grpSpPr>
                    <p:sp>
                      <p:nvSpPr>
                        <p:cNvPr id="133" name="Oval 13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 name="Oval 13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71" name="Group 61"/>
                    <p:cNvGrpSpPr/>
                    <p:nvPr/>
                  </p:nvGrpSpPr>
                  <p:grpSpPr>
                    <a:xfrm>
                      <a:off x="914400" y="1447800"/>
                      <a:ext cx="2895600" cy="152400"/>
                      <a:chOff x="914400" y="1447800"/>
                      <a:chExt cx="2895600" cy="152400"/>
                    </a:xfrm>
                  </p:grpSpPr>
                  <p:grpSp>
                    <p:nvGrpSpPr>
                      <p:cNvPr id="72" name="Group 56"/>
                      <p:cNvGrpSpPr/>
                      <p:nvPr/>
                    </p:nvGrpSpPr>
                    <p:grpSpPr>
                      <a:xfrm>
                        <a:off x="914400" y="1447800"/>
                        <a:ext cx="1066800" cy="152400"/>
                        <a:chOff x="914400" y="1447800"/>
                        <a:chExt cx="1066800" cy="152400"/>
                      </a:xfrm>
                    </p:grpSpPr>
                    <p:sp>
                      <p:nvSpPr>
                        <p:cNvPr id="129" name="Oval 128"/>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 name="Oval 129"/>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3" name="Group 57"/>
                      <p:cNvGrpSpPr/>
                      <p:nvPr/>
                    </p:nvGrpSpPr>
                    <p:grpSpPr>
                      <a:xfrm>
                        <a:off x="2743200" y="1447800"/>
                        <a:ext cx="1066800" cy="152400"/>
                        <a:chOff x="914400" y="1447800"/>
                        <a:chExt cx="1066800" cy="152400"/>
                      </a:xfrm>
                    </p:grpSpPr>
                    <p:sp>
                      <p:nvSpPr>
                        <p:cNvPr id="127" name="Oval 126"/>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8" name="Oval 127"/>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grpSp>
        </p:grpSp>
        <p:grpSp>
          <p:nvGrpSpPr>
            <p:cNvPr id="74" name="Group 181"/>
            <p:cNvGrpSpPr/>
            <p:nvPr/>
          </p:nvGrpSpPr>
          <p:grpSpPr>
            <a:xfrm>
              <a:off x="5486400" y="1447800"/>
              <a:ext cx="13868400" cy="2895600"/>
              <a:chOff x="914400" y="1447800"/>
              <a:chExt cx="13868400" cy="2895600"/>
            </a:xfrm>
          </p:grpSpPr>
          <p:grpSp>
            <p:nvGrpSpPr>
              <p:cNvPr id="79" name="Group 116"/>
              <p:cNvGrpSpPr/>
              <p:nvPr/>
            </p:nvGrpSpPr>
            <p:grpSpPr>
              <a:xfrm>
                <a:off x="914400" y="1447800"/>
                <a:ext cx="6553200" cy="2895600"/>
                <a:chOff x="914400" y="1447800"/>
                <a:chExt cx="6553200" cy="2895600"/>
              </a:xfrm>
            </p:grpSpPr>
            <p:grpSp>
              <p:nvGrpSpPr>
                <p:cNvPr id="80" name="Group 84"/>
                <p:cNvGrpSpPr/>
                <p:nvPr/>
              </p:nvGrpSpPr>
              <p:grpSpPr>
                <a:xfrm>
                  <a:off x="914400" y="1447800"/>
                  <a:ext cx="2895600" cy="2895600"/>
                  <a:chOff x="914400" y="1447800"/>
                  <a:chExt cx="2895600" cy="2895600"/>
                </a:xfrm>
              </p:grpSpPr>
              <p:grpSp>
                <p:nvGrpSpPr>
                  <p:cNvPr id="85" name="Group 68"/>
                  <p:cNvGrpSpPr/>
                  <p:nvPr/>
                </p:nvGrpSpPr>
                <p:grpSpPr>
                  <a:xfrm>
                    <a:off x="914400" y="1447800"/>
                    <a:ext cx="2895600" cy="1066800"/>
                    <a:chOff x="914400" y="1447800"/>
                    <a:chExt cx="2895600" cy="1066800"/>
                  </a:xfrm>
                </p:grpSpPr>
                <p:grpSp>
                  <p:nvGrpSpPr>
                    <p:cNvPr id="86" name="Group 60"/>
                    <p:cNvGrpSpPr/>
                    <p:nvPr/>
                  </p:nvGrpSpPr>
                  <p:grpSpPr>
                    <a:xfrm>
                      <a:off x="914400" y="2362200"/>
                      <a:ext cx="2895600" cy="152400"/>
                      <a:chOff x="914400" y="1447800"/>
                      <a:chExt cx="2895600" cy="152400"/>
                    </a:xfrm>
                  </p:grpSpPr>
                  <p:grpSp>
                    <p:nvGrpSpPr>
                      <p:cNvPr id="87" name="Group 56"/>
                      <p:cNvGrpSpPr/>
                      <p:nvPr/>
                    </p:nvGrpSpPr>
                    <p:grpSpPr>
                      <a:xfrm>
                        <a:off x="914400" y="1447800"/>
                        <a:ext cx="1066800" cy="152400"/>
                        <a:chOff x="914400" y="1447800"/>
                        <a:chExt cx="1066800" cy="152400"/>
                      </a:xfrm>
                    </p:grpSpPr>
                    <p:sp>
                      <p:nvSpPr>
                        <p:cNvPr id="307" name="Oval 5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 name="Oval 5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8" name="Group 57"/>
                      <p:cNvGrpSpPr/>
                      <p:nvPr/>
                    </p:nvGrpSpPr>
                    <p:grpSpPr>
                      <a:xfrm>
                        <a:off x="2743200" y="1447800"/>
                        <a:ext cx="1066800" cy="152400"/>
                        <a:chOff x="914400" y="1447800"/>
                        <a:chExt cx="1066800" cy="152400"/>
                      </a:xfrm>
                    </p:grpSpPr>
                    <p:sp>
                      <p:nvSpPr>
                        <p:cNvPr id="305" name="Oval 304"/>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6" name="Oval 305"/>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89" name="Group 61"/>
                    <p:cNvGrpSpPr/>
                    <p:nvPr/>
                  </p:nvGrpSpPr>
                  <p:grpSpPr>
                    <a:xfrm>
                      <a:off x="914400" y="1447800"/>
                      <a:ext cx="2895600" cy="152400"/>
                      <a:chOff x="914400" y="1447800"/>
                      <a:chExt cx="2895600" cy="152400"/>
                    </a:xfrm>
                  </p:grpSpPr>
                  <p:grpSp>
                    <p:nvGrpSpPr>
                      <p:cNvPr id="90" name="Group 56"/>
                      <p:cNvGrpSpPr/>
                      <p:nvPr/>
                    </p:nvGrpSpPr>
                    <p:grpSpPr>
                      <a:xfrm>
                        <a:off x="914400" y="1447800"/>
                        <a:ext cx="1066800" cy="152400"/>
                        <a:chOff x="914400" y="1447800"/>
                        <a:chExt cx="1066800" cy="152400"/>
                      </a:xfrm>
                    </p:grpSpPr>
                    <p:sp>
                      <p:nvSpPr>
                        <p:cNvPr id="301" name="Oval 66"/>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2" name="Oval 67"/>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1" name="Group 57"/>
                      <p:cNvGrpSpPr/>
                      <p:nvPr/>
                    </p:nvGrpSpPr>
                    <p:grpSpPr>
                      <a:xfrm>
                        <a:off x="2743200" y="1447800"/>
                        <a:ext cx="1066800" cy="152400"/>
                        <a:chOff x="914400" y="1447800"/>
                        <a:chExt cx="1066800" cy="152400"/>
                      </a:xfrm>
                    </p:grpSpPr>
                    <p:sp>
                      <p:nvSpPr>
                        <p:cNvPr id="299" name="Oval 298"/>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0" name="Oval 299"/>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nvGrpSpPr>
                  <p:cNvPr id="92" name="Group 69"/>
                  <p:cNvGrpSpPr/>
                  <p:nvPr/>
                </p:nvGrpSpPr>
                <p:grpSpPr>
                  <a:xfrm>
                    <a:off x="914400" y="3276600"/>
                    <a:ext cx="2895600" cy="1066800"/>
                    <a:chOff x="914400" y="1447800"/>
                    <a:chExt cx="2895600" cy="1066800"/>
                  </a:xfrm>
                </p:grpSpPr>
                <p:grpSp>
                  <p:nvGrpSpPr>
                    <p:cNvPr id="97" name="Group 60"/>
                    <p:cNvGrpSpPr/>
                    <p:nvPr/>
                  </p:nvGrpSpPr>
                  <p:grpSpPr>
                    <a:xfrm>
                      <a:off x="914400" y="2362200"/>
                      <a:ext cx="2895600" cy="152400"/>
                      <a:chOff x="914400" y="1447800"/>
                      <a:chExt cx="2895600" cy="152400"/>
                    </a:xfrm>
                  </p:grpSpPr>
                  <p:grpSp>
                    <p:nvGrpSpPr>
                      <p:cNvPr id="98" name="Group 56"/>
                      <p:cNvGrpSpPr/>
                      <p:nvPr/>
                    </p:nvGrpSpPr>
                    <p:grpSpPr>
                      <a:xfrm>
                        <a:off x="914400" y="1447800"/>
                        <a:ext cx="1066800" cy="152400"/>
                        <a:chOff x="914400" y="1447800"/>
                        <a:chExt cx="1066800" cy="152400"/>
                      </a:xfrm>
                    </p:grpSpPr>
                    <p:sp>
                      <p:nvSpPr>
                        <p:cNvPr id="293" name="Oval 29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4" name="Oval 29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3" name="Group 57"/>
                      <p:cNvGrpSpPr/>
                      <p:nvPr/>
                    </p:nvGrpSpPr>
                    <p:grpSpPr>
                      <a:xfrm>
                        <a:off x="2743200" y="1447800"/>
                        <a:ext cx="1066800" cy="152400"/>
                        <a:chOff x="914400" y="1447800"/>
                        <a:chExt cx="1066800" cy="152400"/>
                      </a:xfrm>
                    </p:grpSpPr>
                    <p:sp>
                      <p:nvSpPr>
                        <p:cNvPr id="291" name="Oval 290"/>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2" name="Oval 291"/>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04" name="Group 61"/>
                    <p:cNvGrpSpPr/>
                    <p:nvPr/>
                  </p:nvGrpSpPr>
                  <p:grpSpPr>
                    <a:xfrm>
                      <a:off x="914400" y="1447800"/>
                      <a:ext cx="2895600" cy="152400"/>
                      <a:chOff x="914400" y="1447800"/>
                      <a:chExt cx="2895600" cy="152400"/>
                    </a:xfrm>
                  </p:grpSpPr>
                  <p:grpSp>
                    <p:nvGrpSpPr>
                      <p:cNvPr id="105" name="Group 56"/>
                      <p:cNvGrpSpPr/>
                      <p:nvPr/>
                    </p:nvGrpSpPr>
                    <p:grpSpPr>
                      <a:xfrm>
                        <a:off x="914400" y="1447800"/>
                        <a:ext cx="1066800" cy="152400"/>
                        <a:chOff x="914400" y="1447800"/>
                        <a:chExt cx="1066800" cy="152400"/>
                      </a:xfrm>
                    </p:grpSpPr>
                    <p:sp>
                      <p:nvSpPr>
                        <p:cNvPr id="287" name="Oval 286"/>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8" name="Oval 287"/>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6" name="Group 57"/>
                      <p:cNvGrpSpPr/>
                      <p:nvPr/>
                    </p:nvGrpSpPr>
                    <p:grpSpPr>
                      <a:xfrm>
                        <a:off x="2743200" y="1447800"/>
                        <a:ext cx="1066800" cy="152400"/>
                        <a:chOff x="914400" y="1447800"/>
                        <a:chExt cx="1066800" cy="152400"/>
                      </a:xfrm>
                    </p:grpSpPr>
                    <p:sp>
                      <p:nvSpPr>
                        <p:cNvPr id="285" name="Oval 284"/>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6" name="Oval 285"/>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grpSp>
              <p:nvGrpSpPr>
                <p:cNvPr id="111" name="Group 85"/>
                <p:cNvGrpSpPr/>
                <p:nvPr/>
              </p:nvGrpSpPr>
              <p:grpSpPr>
                <a:xfrm>
                  <a:off x="4572000" y="1447800"/>
                  <a:ext cx="2895600" cy="2895600"/>
                  <a:chOff x="914400" y="1447800"/>
                  <a:chExt cx="2895600" cy="2895600"/>
                </a:xfrm>
              </p:grpSpPr>
              <p:grpSp>
                <p:nvGrpSpPr>
                  <p:cNvPr id="112" name="Group 248"/>
                  <p:cNvGrpSpPr/>
                  <p:nvPr/>
                </p:nvGrpSpPr>
                <p:grpSpPr>
                  <a:xfrm>
                    <a:off x="914400" y="1447800"/>
                    <a:ext cx="2895600" cy="1066800"/>
                    <a:chOff x="914400" y="1447800"/>
                    <a:chExt cx="2895600" cy="1066800"/>
                  </a:xfrm>
                </p:grpSpPr>
                <p:grpSp>
                  <p:nvGrpSpPr>
                    <p:cNvPr id="117" name="Group 60"/>
                    <p:cNvGrpSpPr/>
                    <p:nvPr/>
                  </p:nvGrpSpPr>
                  <p:grpSpPr>
                    <a:xfrm>
                      <a:off x="914400" y="2362200"/>
                      <a:ext cx="2895600" cy="152400"/>
                      <a:chOff x="914400" y="1447800"/>
                      <a:chExt cx="2895600" cy="152400"/>
                    </a:xfrm>
                  </p:grpSpPr>
                  <p:grpSp>
                    <p:nvGrpSpPr>
                      <p:cNvPr id="118" name="Group 56"/>
                      <p:cNvGrpSpPr/>
                      <p:nvPr/>
                    </p:nvGrpSpPr>
                    <p:grpSpPr>
                      <a:xfrm>
                        <a:off x="914400" y="1447800"/>
                        <a:ext cx="1066800" cy="152400"/>
                        <a:chOff x="914400" y="1447800"/>
                        <a:chExt cx="1066800" cy="152400"/>
                      </a:xfrm>
                    </p:grpSpPr>
                    <p:sp>
                      <p:nvSpPr>
                        <p:cNvPr id="277" name="Oval 276"/>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8" name="Oval 277"/>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9" name="Group 57"/>
                      <p:cNvGrpSpPr/>
                      <p:nvPr/>
                    </p:nvGrpSpPr>
                    <p:grpSpPr>
                      <a:xfrm>
                        <a:off x="2743200" y="1447800"/>
                        <a:ext cx="1066800" cy="152400"/>
                        <a:chOff x="914400" y="1447800"/>
                        <a:chExt cx="1066800" cy="152400"/>
                      </a:xfrm>
                    </p:grpSpPr>
                    <p:sp>
                      <p:nvSpPr>
                        <p:cNvPr id="275" name="Oval 274"/>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6" name="Oval 275"/>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20" name="Group 61"/>
                    <p:cNvGrpSpPr/>
                    <p:nvPr/>
                  </p:nvGrpSpPr>
                  <p:grpSpPr>
                    <a:xfrm>
                      <a:off x="914400" y="1447800"/>
                      <a:ext cx="2895600" cy="152400"/>
                      <a:chOff x="914400" y="1447800"/>
                      <a:chExt cx="2895600" cy="152400"/>
                    </a:xfrm>
                  </p:grpSpPr>
                  <p:grpSp>
                    <p:nvGrpSpPr>
                      <p:cNvPr id="121" name="Group 56"/>
                      <p:cNvGrpSpPr/>
                      <p:nvPr/>
                    </p:nvGrpSpPr>
                    <p:grpSpPr>
                      <a:xfrm>
                        <a:off x="914400" y="1447800"/>
                        <a:ext cx="1066800" cy="152400"/>
                        <a:chOff x="914400" y="1447800"/>
                        <a:chExt cx="1066800" cy="152400"/>
                      </a:xfrm>
                    </p:grpSpPr>
                    <p:sp>
                      <p:nvSpPr>
                        <p:cNvPr id="271" name="Oval 270"/>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2" name="Oval 271"/>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22" name="Group 57"/>
                      <p:cNvGrpSpPr/>
                      <p:nvPr/>
                    </p:nvGrpSpPr>
                    <p:grpSpPr>
                      <a:xfrm>
                        <a:off x="2743200" y="1447800"/>
                        <a:ext cx="1066800" cy="152400"/>
                        <a:chOff x="914400" y="1447800"/>
                        <a:chExt cx="1066800" cy="152400"/>
                      </a:xfrm>
                    </p:grpSpPr>
                    <p:sp>
                      <p:nvSpPr>
                        <p:cNvPr id="269" name="Oval 268"/>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0" name="Oval 269"/>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nvGrpSpPr>
                  <p:cNvPr id="123" name="Group 249"/>
                  <p:cNvGrpSpPr/>
                  <p:nvPr/>
                </p:nvGrpSpPr>
                <p:grpSpPr>
                  <a:xfrm>
                    <a:off x="914400" y="3276600"/>
                    <a:ext cx="2895600" cy="1066800"/>
                    <a:chOff x="914400" y="1447800"/>
                    <a:chExt cx="2895600" cy="1066800"/>
                  </a:xfrm>
                </p:grpSpPr>
                <p:grpSp>
                  <p:nvGrpSpPr>
                    <p:cNvPr id="124" name="Group 60"/>
                    <p:cNvGrpSpPr/>
                    <p:nvPr/>
                  </p:nvGrpSpPr>
                  <p:grpSpPr>
                    <a:xfrm>
                      <a:off x="914400" y="2362200"/>
                      <a:ext cx="2895600" cy="152400"/>
                      <a:chOff x="914400" y="1447800"/>
                      <a:chExt cx="2895600" cy="152400"/>
                    </a:xfrm>
                  </p:grpSpPr>
                  <p:grpSp>
                    <p:nvGrpSpPr>
                      <p:cNvPr id="125" name="Group 56"/>
                      <p:cNvGrpSpPr/>
                      <p:nvPr/>
                    </p:nvGrpSpPr>
                    <p:grpSpPr>
                      <a:xfrm>
                        <a:off x="914400" y="1447800"/>
                        <a:ext cx="1066800" cy="152400"/>
                        <a:chOff x="914400" y="1447800"/>
                        <a:chExt cx="1066800" cy="152400"/>
                      </a:xfrm>
                    </p:grpSpPr>
                    <p:sp>
                      <p:nvSpPr>
                        <p:cNvPr id="263" name="Oval 26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4" name="Oval 26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26" name="Group 57"/>
                      <p:cNvGrpSpPr/>
                      <p:nvPr/>
                    </p:nvGrpSpPr>
                    <p:grpSpPr>
                      <a:xfrm>
                        <a:off x="2743200" y="1447800"/>
                        <a:ext cx="1066800" cy="152400"/>
                        <a:chOff x="914400" y="1447800"/>
                        <a:chExt cx="1066800" cy="152400"/>
                      </a:xfrm>
                    </p:grpSpPr>
                    <p:sp>
                      <p:nvSpPr>
                        <p:cNvPr id="261" name="Oval 260"/>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2" name="Oval 261"/>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31" name="Group 61"/>
                    <p:cNvGrpSpPr/>
                    <p:nvPr/>
                  </p:nvGrpSpPr>
                  <p:grpSpPr>
                    <a:xfrm>
                      <a:off x="914400" y="1447800"/>
                      <a:ext cx="2895600" cy="152400"/>
                      <a:chOff x="914400" y="1447800"/>
                      <a:chExt cx="2895600" cy="152400"/>
                    </a:xfrm>
                  </p:grpSpPr>
                  <p:grpSp>
                    <p:nvGrpSpPr>
                      <p:cNvPr id="132" name="Group 56"/>
                      <p:cNvGrpSpPr/>
                      <p:nvPr/>
                    </p:nvGrpSpPr>
                    <p:grpSpPr>
                      <a:xfrm>
                        <a:off x="914400" y="1447800"/>
                        <a:ext cx="1066800" cy="152400"/>
                        <a:chOff x="914400" y="1447800"/>
                        <a:chExt cx="1066800" cy="152400"/>
                      </a:xfrm>
                    </p:grpSpPr>
                    <p:sp>
                      <p:nvSpPr>
                        <p:cNvPr id="257" name="Oval 256"/>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8" name="Oval 257"/>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7" name="Group 57"/>
                      <p:cNvGrpSpPr/>
                      <p:nvPr/>
                    </p:nvGrpSpPr>
                    <p:grpSpPr>
                      <a:xfrm>
                        <a:off x="2743200" y="1447800"/>
                        <a:ext cx="1066800" cy="152400"/>
                        <a:chOff x="914400" y="1447800"/>
                        <a:chExt cx="1066800" cy="152400"/>
                      </a:xfrm>
                    </p:grpSpPr>
                    <p:sp>
                      <p:nvSpPr>
                        <p:cNvPr id="255" name="Oval 254"/>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6" name="Oval 255"/>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grpSp>
          <p:grpSp>
            <p:nvGrpSpPr>
              <p:cNvPr id="138" name="Group 117"/>
              <p:cNvGrpSpPr/>
              <p:nvPr/>
            </p:nvGrpSpPr>
            <p:grpSpPr>
              <a:xfrm>
                <a:off x="8229600" y="1447800"/>
                <a:ext cx="6553200" cy="2895600"/>
                <a:chOff x="914400" y="1447800"/>
                <a:chExt cx="6553200" cy="2895600"/>
              </a:xfrm>
            </p:grpSpPr>
            <p:grpSp>
              <p:nvGrpSpPr>
                <p:cNvPr id="139" name="Group 84"/>
                <p:cNvGrpSpPr/>
                <p:nvPr/>
              </p:nvGrpSpPr>
              <p:grpSpPr>
                <a:xfrm>
                  <a:off x="914400" y="1447800"/>
                  <a:ext cx="2895600" cy="2895600"/>
                  <a:chOff x="914400" y="1447800"/>
                  <a:chExt cx="2895600" cy="2895600"/>
                </a:xfrm>
              </p:grpSpPr>
              <p:grpSp>
                <p:nvGrpSpPr>
                  <p:cNvPr id="140" name="Group 68"/>
                  <p:cNvGrpSpPr/>
                  <p:nvPr/>
                </p:nvGrpSpPr>
                <p:grpSpPr>
                  <a:xfrm>
                    <a:off x="914400" y="1447800"/>
                    <a:ext cx="2895600" cy="1066800"/>
                    <a:chOff x="914400" y="1447800"/>
                    <a:chExt cx="2895600" cy="1066800"/>
                  </a:xfrm>
                </p:grpSpPr>
                <p:grpSp>
                  <p:nvGrpSpPr>
                    <p:cNvPr id="145" name="Group 60"/>
                    <p:cNvGrpSpPr/>
                    <p:nvPr/>
                  </p:nvGrpSpPr>
                  <p:grpSpPr>
                    <a:xfrm>
                      <a:off x="914400" y="2362200"/>
                      <a:ext cx="2895600" cy="152400"/>
                      <a:chOff x="914400" y="1447800"/>
                      <a:chExt cx="2895600" cy="152400"/>
                    </a:xfrm>
                  </p:grpSpPr>
                  <p:grpSp>
                    <p:nvGrpSpPr>
                      <p:cNvPr id="146" name="Group 56"/>
                      <p:cNvGrpSpPr/>
                      <p:nvPr/>
                    </p:nvGrpSpPr>
                    <p:grpSpPr>
                      <a:xfrm>
                        <a:off x="914400" y="1447800"/>
                        <a:ext cx="1066800" cy="152400"/>
                        <a:chOff x="914400" y="1447800"/>
                        <a:chExt cx="1066800" cy="152400"/>
                      </a:xfrm>
                    </p:grpSpPr>
                    <p:sp>
                      <p:nvSpPr>
                        <p:cNvPr id="245" name="Oval 5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6" name="Oval 5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51" name="Group 57"/>
                      <p:cNvGrpSpPr/>
                      <p:nvPr/>
                    </p:nvGrpSpPr>
                    <p:grpSpPr>
                      <a:xfrm>
                        <a:off x="2743200" y="1447800"/>
                        <a:ext cx="1066800" cy="152400"/>
                        <a:chOff x="914400" y="1447800"/>
                        <a:chExt cx="1066800" cy="152400"/>
                      </a:xfrm>
                    </p:grpSpPr>
                    <p:sp>
                      <p:nvSpPr>
                        <p:cNvPr id="243" name="Oval 58"/>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4" name="Oval 59"/>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52" name="Group 61"/>
                    <p:cNvGrpSpPr/>
                    <p:nvPr/>
                  </p:nvGrpSpPr>
                  <p:grpSpPr>
                    <a:xfrm>
                      <a:off x="914400" y="1447800"/>
                      <a:ext cx="2895600" cy="152400"/>
                      <a:chOff x="914400" y="1447800"/>
                      <a:chExt cx="2895600" cy="152400"/>
                    </a:xfrm>
                  </p:grpSpPr>
                  <p:grpSp>
                    <p:nvGrpSpPr>
                      <p:cNvPr id="153" name="Group 56"/>
                      <p:cNvGrpSpPr/>
                      <p:nvPr/>
                    </p:nvGrpSpPr>
                    <p:grpSpPr>
                      <a:xfrm>
                        <a:off x="914400" y="1447800"/>
                        <a:ext cx="1066800" cy="152400"/>
                        <a:chOff x="914400" y="1447800"/>
                        <a:chExt cx="1066800" cy="152400"/>
                      </a:xfrm>
                    </p:grpSpPr>
                    <p:sp>
                      <p:nvSpPr>
                        <p:cNvPr id="239" name="Oval 238"/>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0" name="Oval 239"/>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54" name="Group 57"/>
                      <p:cNvGrpSpPr/>
                      <p:nvPr/>
                    </p:nvGrpSpPr>
                    <p:grpSpPr>
                      <a:xfrm>
                        <a:off x="2743200" y="1447800"/>
                        <a:ext cx="1066800" cy="152400"/>
                        <a:chOff x="914400" y="1447800"/>
                        <a:chExt cx="1066800" cy="152400"/>
                      </a:xfrm>
                    </p:grpSpPr>
                    <p:sp>
                      <p:nvSpPr>
                        <p:cNvPr id="237" name="Oval 236"/>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8" name="Oval 237"/>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nvGrpSpPr>
                  <p:cNvPr id="155" name="Group 69"/>
                  <p:cNvGrpSpPr/>
                  <p:nvPr/>
                </p:nvGrpSpPr>
                <p:grpSpPr>
                  <a:xfrm>
                    <a:off x="914400" y="3276600"/>
                    <a:ext cx="2895600" cy="1066800"/>
                    <a:chOff x="914400" y="1447800"/>
                    <a:chExt cx="2895600" cy="1066800"/>
                  </a:xfrm>
                </p:grpSpPr>
                <p:grpSp>
                  <p:nvGrpSpPr>
                    <p:cNvPr id="156" name="Group 60"/>
                    <p:cNvGrpSpPr/>
                    <p:nvPr/>
                  </p:nvGrpSpPr>
                  <p:grpSpPr>
                    <a:xfrm>
                      <a:off x="914400" y="2362200"/>
                      <a:ext cx="2895600" cy="152400"/>
                      <a:chOff x="914400" y="1447800"/>
                      <a:chExt cx="2895600" cy="152400"/>
                    </a:xfrm>
                  </p:grpSpPr>
                  <p:grpSp>
                    <p:nvGrpSpPr>
                      <p:cNvPr id="161" name="Group 56"/>
                      <p:cNvGrpSpPr/>
                      <p:nvPr/>
                    </p:nvGrpSpPr>
                    <p:grpSpPr>
                      <a:xfrm>
                        <a:off x="914400" y="1447800"/>
                        <a:ext cx="1066800" cy="152400"/>
                        <a:chOff x="914400" y="1447800"/>
                        <a:chExt cx="1066800" cy="152400"/>
                      </a:xfrm>
                    </p:grpSpPr>
                    <p:sp>
                      <p:nvSpPr>
                        <p:cNvPr id="231" name="Oval 230"/>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2" name="Oval 231"/>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2" name="Group 57"/>
                      <p:cNvGrpSpPr/>
                      <p:nvPr/>
                    </p:nvGrpSpPr>
                    <p:grpSpPr>
                      <a:xfrm>
                        <a:off x="2743200" y="1447800"/>
                        <a:ext cx="1066800" cy="152400"/>
                        <a:chOff x="914400" y="1447800"/>
                        <a:chExt cx="1066800" cy="152400"/>
                      </a:xfrm>
                    </p:grpSpPr>
                    <p:sp>
                      <p:nvSpPr>
                        <p:cNvPr id="229" name="Oval 228"/>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0" name="Oval 229"/>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67" name="Group 61"/>
                    <p:cNvGrpSpPr/>
                    <p:nvPr/>
                  </p:nvGrpSpPr>
                  <p:grpSpPr>
                    <a:xfrm>
                      <a:off x="914400" y="1447800"/>
                      <a:ext cx="2895600" cy="152400"/>
                      <a:chOff x="914400" y="1447800"/>
                      <a:chExt cx="2895600" cy="152400"/>
                    </a:xfrm>
                  </p:grpSpPr>
                  <p:grpSp>
                    <p:nvGrpSpPr>
                      <p:cNvPr id="168" name="Group 56"/>
                      <p:cNvGrpSpPr/>
                      <p:nvPr/>
                    </p:nvGrpSpPr>
                    <p:grpSpPr>
                      <a:xfrm>
                        <a:off x="914400" y="1447800"/>
                        <a:ext cx="1066800" cy="152400"/>
                        <a:chOff x="914400" y="1447800"/>
                        <a:chExt cx="1066800" cy="152400"/>
                      </a:xfrm>
                    </p:grpSpPr>
                    <p:sp>
                      <p:nvSpPr>
                        <p:cNvPr id="225" name="Oval 224"/>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6" name="Oval 225"/>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9" name="Group 57"/>
                      <p:cNvGrpSpPr/>
                      <p:nvPr/>
                    </p:nvGrpSpPr>
                    <p:grpSpPr>
                      <a:xfrm>
                        <a:off x="2743200" y="1447800"/>
                        <a:ext cx="1066800" cy="152400"/>
                        <a:chOff x="914400" y="1447800"/>
                        <a:chExt cx="1066800" cy="152400"/>
                      </a:xfrm>
                    </p:grpSpPr>
                    <p:sp>
                      <p:nvSpPr>
                        <p:cNvPr id="223" name="Oval 22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4" name="Oval 22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grpSp>
              <p:nvGrpSpPr>
                <p:cNvPr id="170" name="Group 85"/>
                <p:cNvGrpSpPr/>
                <p:nvPr/>
              </p:nvGrpSpPr>
              <p:grpSpPr>
                <a:xfrm>
                  <a:off x="4572000" y="1447800"/>
                  <a:ext cx="2895600" cy="2895600"/>
                  <a:chOff x="914400" y="1447800"/>
                  <a:chExt cx="2895600" cy="2895600"/>
                </a:xfrm>
              </p:grpSpPr>
              <p:grpSp>
                <p:nvGrpSpPr>
                  <p:cNvPr id="175" name="Group 68"/>
                  <p:cNvGrpSpPr/>
                  <p:nvPr/>
                </p:nvGrpSpPr>
                <p:grpSpPr>
                  <a:xfrm>
                    <a:off x="914400" y="1447800"/>
                    <a:ext cx="2895600" cy="1066800"/>
                    <a:chOff x="914400" y="1447800"/>
                    <a:chExt cx="2895600" cy="1066800"/>
                  </a:xfrm>
                </p:grpSpPr>
                <p:grpSp>
                  <p:nvGrpSpPr>
                    <p:cNvPr id="176" name="Group 60"/>
                    <p:cNvGrpSpPr/>
                    <p:nvPr/>
                  </p:nvGrpSpPr>
                  <p:grpSpPr>
                    <a:xfrm>
                      <a:off x="914400" y="2362200"/>
                      <a:ext cx="2895600" cy="152400"/>
                      <a:chOff x="914400" y="1447800"/>
                      <a:chExt cx="2895600" cy="152400"/>
                    </a:xfrm>
                  </p:grpSpPr>
                  <p:grpSp>
                    <p:nvGrpSpPr>
                      <p:cNvPr id="181" name="Group 56"/>
                      <p:cNvGrpSpPr/>
                      <p:nvPr/>
                    </p:nvGrpSpPr>
                    <p:grpSpPr>
                      <a:xfrm>
                        <a:off x="914400" y="1447800"/>
                        <a:ext cx="1066800" cy="152400"/>
                        <a:chOff x="914400" y="1447800"/>
                        <a:chExt cx="1066800" cy="152400"/>
                      </a:xfrm>
                    </p:grpSpPr>
                    <p:sp>
                      <p:nvSpPr>
                        <p:cNvPr id="215" name="Oval 214"/>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6" name="Oval 215"/>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2" name="Group 57"/>
                      <p:cNvGrpSpPr/>
                      <p:nvPr/>
                    </p:nvGrpSpPr>
                    <p:grpSpPr>
                      <a:xfrm>
                        <a:off x="2743200" y="1447800"/>
                        <a:ext cx="1066800" cy="152400"/>
                        <a:chOff x="914400" y="1447800"/>
                        <a:chExt cx="1066800" cy="152400"/>
                      </a:xfrm>
                    </p:grpSpPr>
                    <p:sp>
                      <p:nvSpPr>
                        <p:cNvPr id="213" name="Oval 21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4" name="Oval 21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83" name="Group 61"/>
                    <p:cNvGrpSpPr/>
                    <p:nvPr/>
                  </p:nvGrpSpPr>
                  <p:grpSpPr>
                    <a:xfrm>
                      <a:off x="914400" y="1447800"/>
                      <a:ext cx="2895600" cy="152400"/>
                      <a:chOff x="914400" y="1447800"/>
                      <a:chExt cx="2895600" cy="152400"/>
                    </a:xfrm>
                  </p:grpSpPr>
                  <p:grpSp>
                    <p:nvGrpSpPr>
                      <p:cNvPr id="184" name="Group 56"/>
                      <p:cNvGrpSpPr/>
                      <p:nvPr/>
                    </p:nvGrpSpPr>
                    <p:grpSpPr>
                      <a:xfrm>
                        <a:off x="914400" y="1447800"/>
                        <a:ext cx="1066800" cy="152400"/>
                        <a:chOff x="914400" y="1447800"/>
                        <a:chExt cx="1066800" cy="152400"/>
                      </a:xfrm>
                    </p:grpSpPr>
                    <p:sp>
                      <p:nvSpPr>
                        <p:cNvPr id="209" name="Oval 208"/>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0" name="Oval 209"/>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5" name="Group 57"/>
                      <p:cNvGrpSpPr/>
                      <p:nvPr/>
                    </p:nvGrpSpPr>
                    <p:grpSpPr>
                      <a:xfrm>
                        <a:off x="2743200" y="1447800"/>
                        <a:ext cx="1066800" cy="152400"/>
                        <a:chOff x="914400" y="1447800"/>
                        <a:chExt cx="1066800" cy="152400"/>
                      </a:xfrm>
                    </p:grpSpPr>
                    <p:sp>
                      <p:nvSpPr>
                        <p:cNvPr id="207" name="Oval 206"/>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8" name="Oval 207"/>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nvGrpSpPr>
                  <p:cNvPr id="186" name="Group 69"/>
                  <p:cNvGrpSpPr/>
                  <p:nvPr/>
                </p:nvGrpSpPr>
                <p:grpSpPr>
                  <a:xfrm>
                    <a:off x="914400" y="3276600"/>
                    <a:ext cx="2895600" cy="1066800"/>
                    <a:chOff x="914400" y="1447800"/>
                    <a:chExt cx="2895600" cy="1066800"/>
                  </a:xfrm>
                </p:grpSpPr>
                <p:grpSp>
                  <p:nvGrpSpPr>
                    <p:cNvPr id="187" name="Group 60"/>
                    <p:cNvGrpSpPr/>
                    <p:nvPr/>
                  </p:nvGrpSpPr>
                  <p:grpSpPr>
                    <a:xfrm>
                      <a:off x="914400" y="2362200"/>
                      <a:ext cx="2895600" cy="152400"/>
                      <a:chOff x="914400" y="1447800"/>
                      <a:chExt cx="2895600" cy="152400"/>
                    </a:xfrm>
                  </p:grpSpPr>
                  <p:grpSp>
                    <p:nvGrpSpPr>
                      <p:cNvPr id="188" name="Group 56"/>
                      <p:cNvGrpSpPr/>
                      <p:nvPr/>
                    </p:nvGrpSpPr>
                    <p:grpSpPr>
                      <a:xfrm>
                        <a:off x="914400" y="1447800"/>
                        <a:ext cx="1066800" cy="152400"/>
                        <a:chOff x="914400" y="1447800"/>
                        <a:chExt cx="1066800" cy="152400"/>
                      </a:xfrm>
                    </p:grpSpPr>
                    <p:sp>
                      <p:nvSpPr>
                        <p:cNvPr id="201" name="Oval 200"/>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2" name="Oval 201"/>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9" name="Group 57"/>
                      <p:cNvGrpSpPr/>
                      <p:nvPr/>
                    </p:nvGrpSpPr>
                    <p:grpSpPr>
                      <a:xfrm>
                        <a:off x="2743200" y="1447800"/>
                        <a:ext cx="1066800" cy="152400"/>
                        <a:chOff x="914400" y="1447800"/>
                        <a:chExt cx="1066800" cy="152400"/>
                      </a:xfrm>
                    </p:grpSpPr>
                    <p:sp>
                      <p:nvSpPr>
                        <p:cNvPr id="199" name="Oval 198"/>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0" name="Oval 199"/>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90" name="Group 61"/>
                    <p:cNvGrpSpPr/>
                    <p:nvPr/>
                  </p:nvGrpSpPr>
                  <p:grpSpPr>
                    <a:xfrm>
                      <a:off x="914400" y="1447800"/>
                      <a:ext cx="2895600" cy="152400"/>
                      <a:chOff x="914400" y="1447800"/>
                      <a:chExt cx="2895600" cy="152400"/>
                    </a:xfrm>
                  </p:grpSpPr>
                  <p:grpSp>
                    <p:nvGrpSpPr>
                      <p:cNvPr id="191" name="Group 56"/>
                      <p:cNvGrpSpPr/>
                      <p:nvPr/>
                    </p:nvGrpSpPr>
                    <p:grpSpPr>
                      <a:xfrm>
                        <a:off x="914400" y="1447800"/>
                        <a:ext cx="1066800" cy="152400"/>
                        <a:chOff x="914400" y="1447800"/>
                        <a:chExt cx="1066800" cy="152400"/>
                      </a:xfrm>
                    </p:grpSpPr>
                    <p:sp>
                      <p:nvSpPr>
                        <p:cNvPr id="195" name="Oval 194"/>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6" name="Oval 195"/>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92" name="Group 57"/>
                      <p:cNvGrpSpPr/>
                      <p:nvPr/>
                    </p:nvGrpSpPr>
                    <p:grpSpPr>
                      <a:xfrm>
                        <a:off x="2743200" y="1447800"/>
                        <a:ext cx="1066800" cy="152400"/>
                        <a:chOff x="914400" y="1447800"/>
                        <a:chExt cx="1066800" cy="152400"/>
                      </a:xfrm>
                    </p:grpSpPr>
                    <p:sp>
                      <p:nvSpPr>
                        <p:cNvPr id="193" name="Oval 19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 name="Oval 19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grpSp>
        </p:grpSp>
      </p:grpSp>
      <p:sp>
        <p:nvSpPr>
          <p:cNvPr id="565" name="TextBox 564"/>
          <p:cNvSpPr txBox="1"/>
          <p:nvPr/>
        </p:nvSpPr>
        <p:spPr>
          <a:xfrm>
            <a:off x="609600" y="4343400"/>
            <a:ext cx="3048000" cy="369332"/>
          </a:xfrm>
          <a:prstGeom prst="rect">
            <a:avLst/>
          </a:prstGeom>
          <a:noFill/>
        </p:spPr>
        <p:txBody>
          <a:bodyPr wrap="square" rtlCol="0">
            <a:spAutoFit/>
          </a:bodyPr>
          <a:lstStyle/>
          <a:p>
            <a:r>
              <a:rPr lang="en-US" dirty="0" smtClean="0">
                <a:solidFill>
                  <a:srgbClr val="0824F2"/>
                </a:solidFill>
              </a:rPr>
              <a:t>1   2   3   4  …</a:t>
            </a:r>
            <a:endParaRPr lang="en-US" dirty="0">
              <a:solidFill>
                <a:srgbClr val="0824F2"/>
              </a:solidFill>
            </a:endParaRPr>
          </a:p>
        </p:txBody>
      </p:sp>
      <p:sp>
        <p:nvSpPr>
          <p:cNvPr id="566" name="TextBox 565"/>
          <p:cNvSpPr txBox="1"/>
          <p:nvPr/>
        </p:nvSpPr>
        <p:spPr>
          <a:xfrm>
            <a:off x="8305800" y="4355068"/>
            <a:ext cx="838200" cy="369332"/>
          </a:xfrm>
          <a:prstGeom prst="rect">
            <a:avLst/>
          </a:prstGeom>
          <a:noFill/>
        </p:spPr>
        <p:txBody>
          <a:bodyPr wrap="square" rtlCol="0">
            <a:spAutoFit/>
          </a:bodyPr>
          <a:lstStyle/>
          <a:p>
            <a:r>
              <a:rPr lang="en-US" dirty="0" smtClean="0">
                <a:solidFill>
                  <a:srgbClr val="0824F2"/>
                </a:solidFill>
              </a:rPr>
              <a:t> … 32</a:t>
            </a:r>
            <a:endParaRPr lang="en-US" dirty="0">
              <a:solidFill>
                <a:srgbClr val="0824F2"/>
              </a:solidFill>
            </a:endParaRPr>
          </a:p>
        </p:txBody>
      </p:sp>
      <p:sp>
        <p:nvSpPr>
          <p:cNvPr id="567" name="TextBox 566"/>
          <p:cNvSpPr txBox="1"/>
          <p:nvPr/>
        </p:nvSpPr>
        <p:spPr>
          <a:xfrm>
            <a:off x="304800" y="3886200"/>
            <a:ext cx="381000" cy="369332"/>
          </a:xfrm>
          <a:prstGeom prst="rect">
            <a:avLst/>
          </a:prstGeom>
          <a:noFill/>
        </p:spPr>
        <p:txBody>
          <a:bodyPr wrap="square" rtlCol="0">
            <a:spAutoFit/>
          </a:bodyPr>
          <a:lstStyle/>
          <a:p>
            <a:r>
              <a:rPr lang="en-US" dirty="0" smtClean="0">
                <a:solidFill>
                  <a:srgbClr val="0824F2"/>
                </a:solidFill>
              </a:rPr>
              <a:t>x</a:t>
            </a:r>
            <a:endParaRPr lang="en-US" dirty="0">
              <a:solidFill>
                <a:srgbClr val="0824F2"/>
              </a:solidFill>
            </a:endParaRPr>
          </a:p>
        </p:txBody>
      </p:sp>
      <p:sp>
        <p:nvSpPr>
          <p:cNvPr id="568" name="TextBox 567"/>
          <p:cNvSpPr txBox="1"/>
          <p:nvPr/>
        </p:nvSpPr>
        <p:spPr>
          <a:xfrm>
            <a:off x="152400" y="3516868"/>
            <a:ext cx="609600" cy="369332"/>
          </a:xfrm>
          <a:prstGeom prst="rect">
            <a:avLst/>
          </a:prstGeom>
          <a:noFill/>
        </p:spPr>
        <p:txBody>
          <a:bodyPr wrap="square" rtlCol="0">
            <a:spAutoFit/>
          </a:bodyPr>
          <a:lstStyle/>
          <a:p>
            <a:r>
              <a:rPr lang="en-US" dirty="0" err="1" smtClean="0">
                <a:solidFill>
                  <a:srgbClr val="0824F2"/>
                </a:solidFill>
              </a:rPr>
              <a:t>A·x</a:t>
            </a:r>
            <a:endParaRPr lang="en-US" dirty="0">
              <a:solidFill>
                <a:srgbClr val="0824F2"/>
              </a:solidFill>
            </a:endParaRPr>
          </a:p>
        </p:txBody>
      </p:sp>
      <p:sp>
        <p:nvSpPr>
          <p:cNvPr id="569" name="TextBox 568"/>
          <p:cNvSpPr txBox="1"/>
          <p:nvPr/>
        </p:nvSpPr>
        <p:spPr>
          <a:xfrm>
            <a:off x="152400" y="3124200"/>
            <a:ext cx="609600" cy="369332"/>
          </a:xfrm>
          <a:prstGeom prst="rect">
            <a:avLst/>
          </a:prstGeom>
          <a:noFill/>
        </p:spPr>
        <p:txBody>
          <a:bodyPr wrap="square" rtlCol="0">
            <a:spAutoFit/>
          </a:bodyPr>
          <a:lstStyle/>
          <a:p>
            <a:r>
              <a:rPr lang="en-US" dirty="0" smtClean="0">
                <a:solidFill>
                  <a:srgbClr val="0824F2"/>
                </a:solidFill>
              </a:rPr>
              <a:t>A</a:t>
            </a:r>
            <a:r>
              <a:rPr lang="en-US" sz="2000" b="1" baseline="30000" dirty="0" smtClean="0">
                <a:solidFill>
                  <a:srgbClr val="0824F2"/>
                </a:solidFill>
              </a:rPr>
              <a:t>2</a:t>
            </a:r>
            <a:r>
              <a:rPr lang="en-US" dirty="0" smtClean="0">
                <a:solidFill>
                  <a:srgbClr val="0824F2"/>
                </a:solidFill>
              </a:rPr>
              <a:t>·x</a:t>
            </a:r>
            <a:endParaRPr lang="en-US" dirty="0">
              <a:solidFill>
                <a:srgbClr val="0824F2"/>
              </a:solidFill>
            </a:endParaRPr>
          </a:p>
        </p:txBody>
      </p:sp>
      <p:sp>
        <p:nvSpPr>
          <p:cNvPr id="570" name="TextBox 569"/>
          <p:cNvSpPr txBox="1"/>
          <p:nvPr/>
        </p:nvSpPr>
        <p:spPr>
          <a:xfrm>
            <a:off x="152400" y="2743200"/>
            <a:ext cx="609600" cy="369332"/>
          </a:xfrm>
          <a:prstGeom prst="rect">
            <a:avLst/>
          </a:prstGeom>
          <a:noFill/>
        </p:spPr>
        <p:txBody>
          <a:bodyPr wrap="square" rtlCol="0">
            <a:spAutoFit/>
          </a:bodyPr>
          <a:lstStyle/>
          <a:p>
            <a:r>
              <a:rPr lang="en-US" dirty="0" smtClean="0">
                <a:solidFill>
                  <a:srgbClr val="0824F2"/>
                </a:solidFill>
              </a:rPr>
              <a:t>A</a:t>
            </a:r>
            <a:r>
              <a:rPr lang="en-US" sz="2000" b="1" baseline="30000" dirty="0" smtClean="0">
                <a:solidFill>
                  <a:srgbClr val="0824F2"/>
                </a:solidFill>
              </a:rPr>
              <a:t>3</a:t>
            </a:r>
            <a:r>
              <a:rPr lang="en-US" dirty="0" smtClean="0">
                <a:solidFill>
                  <a:srgbClr val="0824F2"/>
                </a:solidFill>
              </a:rPr>
              <a:t>·x</a:t>
            </a:r>
            <a:endParaRPr lang="en-US" dirty="0">
              <a:solidFill>
                <a:srgbClr val="0824F2"/>
              </a:solidFill>
            </a:endParaRPr>
          </a:p>
        </p:txBody>
      </p:sp>
      <p:sp>
        <p:nvSpPr>
          <p:cNvPr id="523" name="Title 1"/>
          <p:cNvSpPr txBox="1">
            <a:spLocks/>
          </p:cNvSpPr>
          <p:nvPr/>
        </p:nvSpPr>
        <p:spPr>
          <a:xfrm>
            <a:off x="457200" y="274638"/>
            <a:ext cx="8229600" cy="1143000"/>
          </a:xfrm>
          <a:prstGeom prst="rect">
            <a:avLst/>
          </a:prstGeom>
        </p:spPr>
        <p:txBody>
          <a:bodyPr rtlCol="0">
            <a:noAutofit/>
          </a:bodyPr>
          <a:lstStyle/>
          <a:p>
            <a:pPr lvl="0" algn="ctr">
              <a:spcBef>
                <a:spcPct val="0"/>
              </a:spcBef>
              <a:defRPr/>
            </a:pPr>
            <a:r>
              <a:rPr kumimoji="0" lang="en-US" sz="3600" b="0" i="0" u="none" strike="noStrike" kern="1200" cap="none" spc="0" normalizeH="0" baseline="0" noProof="0" dirty="0" smtClean="0">
                <a:ln>
                  <a:noFill/>
                </a:ln>
                <a:solidFill>
                  <a:schemeClr val="tx1"/>
                </a:solidFill>
                <a:effectLst/>
                <a:uLnTx/>
                <a:uFillTx/>
                <a:latin typeface="+mj-lt"/>
                <a:ea typeface="+mj-ea"/>
                <a:cs typeface="+mj-cs"/>
              </a:rPr>
              <a:t>Communication Avoiding Kernels:</a:t>
            </a:r>
            <a:br>
              <a:rPr kumimoji="0" lang="en-US" sz="3600" b="0" i="0" u="none" strike="noStrike" kern="1200" cap="none" spc="0" normalizeH="0" baseline="0" noProof="0" dirty="0" smtClean="0">
                <a:ln>
                  <a:noFill/>
                </a:ln>
                <a:solidFill>
                  <a:schemeClr val="tx1"/>
                </a:solidFill>
                <a:effectLst/>
                <a:uLnTx/>
                <a:uFillTx/>
                <a:latin typeface="+mj-lt"/>
                <a:ea typeface="+mj-ea"/>
                <a:cs typeface="+mj-cs"/>
              </a:rPr>
            </a:br>
            <a:r>
              <a:rPr kumimoji="0" lang="en-US" sz="2800" b="0" i="0" u="none" strike="noStrike" kern="1200" cap="none" spc="0" normalizeH="0" baseline="0" noProof="0" dirty="0" smtClean="0">
                <a:ln>
                  <a:noFill/>
                </a:ln>
                <a:solidFill>
                  <a:schemeClr val="tx1"/>
                </a:solidFill>
                <a:effectLst/>
                <a:uLnTx/>
                <a:uFillTx/>
                <a:latin typeface="+mj-lt"/>
                <a:ea typeface="+mj-ea"/>
                <a:cs typeface="+mj-cs"/>
              </a:rPr>
              <a:t>The Matrix Powers Kernel</a:t>
            </a:r>
            <a:r>
              <a:rPr lang="en-US" sz="2800" dirty="0" smtClean="0"/>
              <a:t> :</a:t>
            </a:r>
            <a:r>
              <a:rPr lang="en-US" sz="2800" dirty="0" smtClean="0">
                <a:sym typeface="Symbol"/>
              </a:rPr>
              <a:t> [</a:t>
            </a:r>
            <a:r>
              <a:rPr lang="en-US" sz="2800" dirty="0" smtClean="0"/>
              <a:t>Ax, A</a:t>
            </a:r>
            <a:r>
              <a:rPr lang="en-US" sz="2800" baseline="40000" dirty="0" smtClean="0"/>
              <a:t>2</a:t>
            </a:r>
            <a:r>
              <a:rPr lang="en-US" sz="2800" dirty="0" smtClean="0"/>
              <a:t>x, …, </a:t>
            </a:r>
            <a:r>
              <a:rPr lang="en-US" sz="2800" dirty="0" err="1" smtClean="0"/>
              <a:t>A</a:t>
            </a:r>
            <a:r>
              <a:rPr lang="en-US" sz="2800" baseline="40000" dirty="0" err="1" smtClean="0"/>
              <a:t>k</a:t>
            </a:r>
            <a:r>
              <a:rPr lang="en-US" sz="2800" dirty="0" err="1" smtClean="0"/>
              <a:t>x</a:t>
            </a:r>
            <a:r>
              <a:rPr lang="en-US" sz="2800" dirty="0" smtClean="0"/>
              <a:t>] </a:t>
            </a:r>
            <a:endParaRPr kumimoji="0" lang="en-US" sz="2800" b="0" i="0" u="none" strike="noStrike" kern="1200" cap="none" spc="0" normalizeH="0" baseline="0" noProof="0" dirty="0">
              <a:ln>
                <a:noFill/>
              </a:ln>
              <a:solidFill>
                <a:schemeClr val="tx1"/>
              </a:solidFill>
              <a:effectLst/>
              <a:uLnTx/>
              <a:uFillTx/>
              <a:latin typeface="+mj-lt"/>
              <a:ea typeface="+mj-ea"/>
              <a:cs typeface="+mj-cs"/>
            </a:endParaRPr>
          </a:p>
        </p:txBody>
      </p:sp>
      <p:cxnSp>
        <p:nvCxnSpPr>
          <p:cNvPr id="524" name="Straight Connector 523"/>
          <p:cNvCxnSpPr/>
          <p:nvPr/>
        </p:nvCxnSpPr>
        <p:spPr>
          <a:xfrm>
            <a:off x="228600" y="1371600"/>
            <a:ext cx="8305800" cy="0"/>
          </a:xfrm>
          <a:prstGeom prst="line">
            <a:avLst/>
          </a:prstGeom>
        </p:spPr>
        <p:style>
          <a:lnRef idx="1">
            <a:schemeClr val="accent1"/>
          </a:lnRef>
          <a:fillRef idx="0">
            <a:schemeClr val="accent1"/>
          </a:fillRef>
          <a:effectRef idx="0">
            <a:schemeClr val="accent1"/>
          </a:effectRef>
          <a:fontRef idx="minor">
            <a:schemeClr val="tx1"/>
          </a:fontRef>
        </p:style>
      </p:cxnSp>
      <p:sp>
        <p:nvSpPr>
          <p:cNvPr id="529" name="Content Placeholder 2"/>
          <p:cNvSpPr txBox="1">
            <a:spLocks/>
          </p:cNvSpPr>
          <p:nvPr/>
        </p:nvSpPr>
        <p:spPr>
          <a:xfrm>
            <a:off x="228600" y="1447800"/>
            <a:ext cx="8915400" cy="4525963"/>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Replace k iterations of y = </a:t>
            </a:r>
            <a:r>
              <a:rPr kumimoji="0" lang="en-US" sz="3200" b="0" i="0" u="none" strike="noStrike" kern="1200" cap="none" spc="0" normalizeH="0" baseline="0" noProof="0" dirty="0" err="1" smtClean="0">
                <a:ln>
                  <a:noFill/>
                </a:ln>
                <a:solidFill>
                  <a:schemeClr val="tx1"/>
                </a:solidFill>
                <a:effectLst/>
                <a:uLnTx/>
                <a:uFillTx/>
                <a:latin typeface="+mn-lt"/>
                <a:ea typeface="+mn-ea"/>
                <a:cs typeface="+mn-cs"/>
              </a:rPr>
              <a:t>A</a:t>
            </a:r>
            <a:r>
              <a:rPr kumimoji="0" lang="en-US" sz="3200" b="0" i="0" u="none" strike="noStrike" kern="1200" cap="none" spc="0" normalizeH="0" baseline="0" noProof="0" dirty="0" err="1" smtClean="0">
                <a:ln>
                  <a:noFill/>
                </a:ln>
                <a:solidFill>
                  <a:schemeClr val="tx1"/>
                </a:solidFill>
                <a:effectLst/>
                <a:uLnTx/>
                <a:uFillTx/>
                <a:latin typeface="+mn-lt"/>
                <a:ea typeface="+mn-ea"/>
                <a:cs typeface="+mn-cs"/>
                <a:sym typeface="Symbol"/>
              </a:rPr>
              <a:t>x</a:t>
            </a:r>
            <a:r>
              <a:rPr kumimoji="0" lang="en-US" sz="3200" b="0" i="0" u="none" strike="noStrike" kern="1200" cap="none" spc="0" normalizeH="0" baseline="0" noProof="0" dirty="0" smtClean="0">
                <a:ln>
                  <a:noFill/>
                </a:ln>
                <a:solidFill>
                  <a:schemeClr val="tx1"/>
                </a:solidFill>
                <a:effectLst/>
                <a:uLnTx/>
                <a:uFillTx/>
                <a:latin typeface="+mn-lt"/>
                <a:ea typeface="+mn-ea"/>
                <a:cs typeface="+mn-cs"/>
                <a:sym typeface="Symbol"/>
              </a:rPr>
              <a:t> with [</a:t>
            </a:r>
            <a:r>
              <a:rPr kumimoji="0" lang="en-US" sz="3200" b="0" i="0" u="none" strike="noStrike" kern="1200" cap="none" spc="0" normalizeH="0" baseline="0" noProof="0" dirty="0" smtClean="0">
                <a:ln>
                  <a:noFill/>
                </a:ln>
                <a:solidFill>
                  <a:schemeClr val="tx1"/>
                </a:solidFill>
                <a:effectLst/>
                <a:uLnTx/>
                <a:uFillTx/>
                <a:latin typeface="+mn-lt"/>
                <a:ea typeface="+mn-ea"/>
                <a:cs typeface="+mn-cs"/>
              </a:rPr>
              <a:t>Ax, A</a:t>
            </a:r>
            <a:r>
              <a:rPr kumimoji="0" lang="en-US" sz="3200" b="0" i="0" u="none" strike="noStrike" kern="1200" cap="none" spc="0" normalizeH="0" baseline="40000" noProof="0" dirty="0" smtClean="0">
                <a:ln>
                  <a:noFill/>
                </a:ln>
                <a:solidFill>
                  <a:schemeClr val="tx1"/>
                </a:solidFill>
                <a:effectLst/>
                <a:uLnTx/>
                <a:uFillTx/>
                <a:latin typeface="+mn-lt"/>
                <a:ea typeface="+mn-ea"/>
                <a:cs typeface="+mn-cs"/>
              </a:rPr>
              <a:t>2</a:t>
            </a:r>
            <a:r>
              <a:rPr kumimoji="0" lang="en-US" sz="3200" b="0" i="0" u="none" strike="noStrike" kern="1200" cap="none" spc="0" normalizeH="0" baseline="0" noProof="0" dirty="0" smtClean="0">
                <a:ln>
                  <a:noFill/>
                </a:ln>
                <a:solidFill>
                  <a:schemeClr val="tx1"/>
                </a:solidFill>
                <a:effectLst/>
                <a:uLnTx/>
                <a:uFillTx/>
                <a:latin typeface="+mn-lt"/>
                <a:ea typeface="+mn-ea"/>
                <a:cs typeface="+mn-cs"/>
              </a:rPr>
              <a:t>x, …, </a:t>
            </a:r>
            <a:r>
              <a:rPr kumimoji="0" lang="en-US" sz="3200" b="0" i="0" u="none" strike="noStrike" kern="1200" cap="none" spc="0" normalizeH="0" baseline="0" noProof="0" dirty="0" err="1" smtClean="0">
                <a:ln>
                  <a:noFill/>
                </a:ln>
                <a:solidFill>
                  <a:schemeClr val="tx1"/>
                </a:solidFill>
                <a:effectLst/>
                <a:uLnTx/>
                <a:uFillTx/>
                <a:latin typeface="+mn-lt"/>
                <a:ea typeface="+mn-ea"/>
                <a:cs typeface="+mn-cs"/>
              </a:rPr>
              <a:t>A</a:t>
            </a:r>
            <a:r>
              <a:rPr kumimoji="0" lang="en-US" sz="3200" b="0" i="0" u="none" strike="noStrike" kern="1200" cap="none" spc="0" normalizeH="0" baseline="40000" noProof="0" dirty="0" err="1" smtClean="0">
                <a:ln>
                  <a:noFill/>
                </a:ln>
                <a:solidFill>
                  <a:schemeClr val="tx1"/>
                </a:solidFill>
                <a:effectLst/>
                <a:uLnTx/>
                <a:uFillTx/>
                <a:latin typeface="+mn-lt"/>
                <a:ea typeface="+mn-ea"/>
                <a:cs typeface="+mn-cs"/>
              </a:rPr>
              <a:t>k</a:t>
            </a:r>
            <a:r>
              <a:rPr kumimoji="0" lang="en-US" sz="3200" b="0" i="0" u="none" strike="noStrike" kern="1200" cap="none" spc="0" normalizeH="0" baseline="0" noProof="0" dirty="0" err="1" smtClean="0">
                <a:ln>
                  <a:noFill/>
                </a:ln>
                <a:solidFill>
                  <a:schemeClr val="tx1"/>
                </a:solidFill>
                <a:effectLst/>
                <a:uLnTx/>
                <a:uFillTx/>
                <a:latin typeface="+mn-lt"/>
                <a:ea typeface="+mn-ea"/>
                <a:cs typeface="+mn-cs"/>
              </a:rPr>
              <a:t>x</a:t>
            </a:r>
            <a:r>
              <a:rPr kumimoji="0" lang="en-US" sz="3200" b="0" i="0" u="none" strike="noStrike" kern="1200" cap="none" spc="0" normalizeH="0" baseline="0" noProof="0" dirty="0" smtClean="0">
                <a:ln>
                  <a:noFill/>
                </a:ln>
                <a:solidFill>
                  <a:schemeClr val="tx1"/>
                </a:solidFill>
                <a:effectLst/>
                <a:uLnTx/>
                <a:uFillTx/>
                <a:latin typeface="+mn-lt"/>
                <a:ea typeface="+mn-ea"/>
                <a:cs typeface="+mn-cs"/>
              </a:rPr>
              <a:t>] </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en-US" sz="3200" dirty="0" smtClean="0"/>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en-US" sz="3200" dirty="0" smtClean="0"/>
          </a:p>
          <a:p>
            <a:pPr marL="342900" marR="0" lvl="0" indent="-342900" algn="l" defTabSz="914400" rtl="0" eaLnBrk="1" fontAlgn="auto" latinLnBrk="0" hangingPunct="1">
              <a:lnSpc>
                <a:spcPct val="100000"/>
              </a:lnSpc>
              <a:spcBef>
                <a:spcPct val="20000"/>
              </a:spcBef>
              <a:spcAft>
                <a:spcPts val="0"/>
              </a:spcAft>
              <a:buClrTx/>
              <a:buSzTx/>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Example: A </a:t>
            </a:r>
            <a:r>
              <a:rPr kumimoji="0" lang="en-US" sz="3200" b="0" i="0" u="none" strike="noStrike" kern="1200" cap="none" spc="0" normalizeH="0" baseline="0" noProof="0" dirty="0" err="1" smtClean="0">
                <a:ln>
                  <a:noFill/>
                </a:ln>
                <a:solidFill>
                  <a:schemeClr val="tx1"/>
                </a:solidFill>
                <a:effectLst/>
                <a:uLnTx/>
                <a:uFillTx/>
                <a:latin typeface="+mn-lt"/>
                <a:ea typeface="+mn-ea"/>
                <a:cs typeface="+mn-cs"/>
              </a:rPr>
              <a:t>tridiagonal</a:t>
            </a:r>
            <a:r>
              <a:rPr kumimoji="0" lang="en-US" sz="3200" b="0" i="0" u="none" strike="noStrike" kern="1200" cap="none" spc="0" normalizeH="0" baseline="0" noProof="0" dirty="0" smtClean="0">
                <a:ln>
                  <a:noFill/>
                </a:ln>
                <a:solidFill>
                  <a:schemeClr val="tx1"/>
                </a:solidFill>
                <a:effectLst/>
                <a:uLnTx/>
                <a:uFillTx/>
                <a:latin typeface="+mn-lt"/>
                <a:ea typeface="+mn-ea"/>
                <a:cs typeface="+mn-cs"/>
              </a:rPr>
              <a:t>, n=32, k=3</a:t>
            </a:r>
          </a:p>
        </p:txBody>
      </p:sp>
    </p:spTree>
  </p:cSld>
  <p:clrMapOvr>
    <a:masterClrMapping/>
  </p:clrMapOvr>
  <p:timing>
    <p:tnLst>
      <p:par>
        <p:cTn xmlns:p14="http://schemas.microsoft.com/office/powerpoint/2010/mai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1" name="Trapezoid 520"/>
          <p:cNvSpPr/>
          <p:nvPr/>
        </p:nvSpPr>
        <p:spPr>
          <a:xfrm>
            <a:off x="2590800" y="2895600"/>
            <a:ext cx="3429000" cy="1219200"/>
          </a:xfrm>
          <a:prstGeom prst="trapezoid">
            <a:avLst>
              <a:gd name="adj" fmla="val 65625"/>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 308"/>
          <p:cNvGrpSpPr/>
          <p:nvPr/>
        </p:nvGrpSpPr>
        <p:grpSpPr>
          <a:xfrm>
            <a:off x="762000" y="2895600"/>
            <a:ext cx="8077200" cy="1219200"/>
            <a:chOff x="-9144000" y="1447800"/>
            <a:chExt cx="28498800" cy="2895600"/>
          </a:xfrm>
        </p:grpSpPr>
        <p:grpSp>
          <p:nvGrpSpPr>
            <p:cNvPr id="3" name="Group 180"/>
            <p:cNvGrpSpPr/>
            <p:nvPr/>
          </p:nvGrpSpPr>
          <p:grpSpPr>
            <a:xfrm>
              <a:off x="-9144000" y="1447800"/>
              <a:ext cx="13868400" cy="2895600"/>
              <a:chOff x="914400" y="1447800"/>
              <a:chExt cx="13868400" cy="2895600"/>
            </a:xfrm>
          </p:grpSpPr>
          <p:grpSp>
            <p:nvGrpSpPr>
              <p:cNvPr id="4" name="Group 116"/>
              <p:cNvGrpSpPr/>
              <p:nvPr/>
            </p:nvGrpSpPr>
            <p:grpSpPr>
              <a:xfrm>
                <a:off x="914400" y="1447800"/>
                <a:ext cx="6553200" cy="2895600"/>
                <a:chOff x="914400" y="1447800"/>
                <a:chExt cx="6553200" cy="2895600"/>
              </a:xfrm>
            </p:grpSpPr>
            <p:grpSp>
              <p:nvGrpSpPr>
                <p:cNvPr id="5" name="Group 84"/>
                <p:cNvGrpSpPr/>
                <p:nvPr/>
              </p:nvGrpSpPr>
              <p:grpSpPr>
                <a:xfrm>
                  <a:off x="914400" y="1447800"/>
                  <a:ext cx="2895600" cy="2895600"/>
                  <a:chOff x="914400" y="1447800"/>
                  <a:chExt cx="2895600" cy="2895600"/>
                </a:xfrm>
              </p:grpSpPr>
              <p:grpSp>
                <p:nvGrpSpPr>
                  <p:cNvPr id="6" name="Group 68"/>
                  <p:cNvGrpSpPr/>
                  <p:nvPr/>
                </p:nvGrpSpPr>
                <p:grpSpPr>
                  <a:xfrm>
                    <a:off x="914400" y="1447800"/>
                    <a:ext cx="2895600" cy="1066800"/>
                    <a:chOff x="914400" y="1447800"/>
                    <a:chExt cx="2895600" cy="1066800"/>
                  </a:xfrm>
                </p:grpSpPr>
                <p:grpSp>
                  <p:nvGrpSpPr>
                    <p:cNvPr id="7" name="Group 60"/>
                    <p:cNvGrpSpPr/>
                    <p:nvPr/>
                  </p:nvGrpSpPr>
                  <p:grpSpPr>
                    <a:xfrm>
                      <a:off x="914400" y="2362200"/>
                      <a:ext cx="2895600" cy="152400"/>
                      <a:chOff x="914400" y="1447800"/>
                      <a:chExt cx="2895600" cy="152400"/>
                    </a:xfrm>
                  </p:grpSpPr>
                  <p:grpSp>
                    <p:nvGrpSpPr>
                      <p:cNvPr id="8" name="Group 56"/>
                      <p:cNvGrpSpPr/>
                      <p:nvPr/>
                    </p:nvGrpSpPr>
                    <p:grpSpPr>
                      <a:xfrm>
                        <a:off x="914400" y="1447800"/>
                        <a:ext cx="1066800" cy="152400"/>
                        <a:chOff x="914400" y="1447800"/>
                        <a:chExt cx="1066800" cy="152400"/>
                      </a:xfrm>
                    </p:grpSpPr>
                    <p:sp>
                      <p:nvSpPr>
                        <p:cNvPr id="53" name="Oval 5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Oval 5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 name="Group 57"/>
                      <p:cNvGrpSpPr/>
                      <p:nvPr/>
                    </p:nvGrpSpPr>
                    <p:grpSpPr>
                      <a:xfrm>
                        <a:off x="2743200" y="1447800"/>
                        <a:ext cx="1066800" cy="152400"/>
                        <a:chOff x="914400" y="1447800"/>
                        <a:chExt cx="1066800" cy="152400"/>
                      </a:xfrm>
                    </p:grpSpPr>
                    <p:sp>
                      <p:nvSpPr>
                        <p:cNvPr id="59" name="Oval 58"/>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Oval 59"/>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0" name="Group 61"/>
                    <p:cNvGrpSpPr/>
                    <p:nvPr/>
                  </p:nvGrpSpPr>
                  <p:grpSpPr>
                    <a:xfrm>
                      <a:off x="914400" y="1447800"/>
                      <a:ext cx="2895600" cy="152400"/>
                      <a:chOff x="914400" y="1447800"/>
                      <a:chExt cx="2895600" cy="152400"/>
                    </a:xfrm>
                  </p:grpSpPr>
                  <p:grpSp>
                    <p:nvGrpSpPr>
                      <p:cNvPr id="11" name="Group 56"/>
                      <p:cNvGrpSpPr/>
                      <p:nvPr/>
                    </p:nvGrpSpPr>
                    <p:grpSpPr>
                      <a:xfrm>
                        <a:off x="914400" y="1447800"/>
                        <a:ext cx="1066800" cy="152400"/>
                        <a:chOff x="914400" y="1447800"/>
                        <a:chExt cx="1066800" cy="152400"/>
                      </a:xfrm>
                    </p:grpSpPr>
                    <p:sp>
                      <p:nvSpPr>
                        <p:cNvPr id="67" name="Oval 66"/>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Oval 67"/>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2" name="Group 57"/>
                      <p:cNvGrpSpPr/>
                      <p:nvPr/>
                    </p:nvGrpSpPr>
                    <p:grpSpPr>
                      <a:xfrm>
                        <a:off x="2743200" y="1447800"/>
                        <a:ext cx="1066800" cy="152400"/>
                        <a:chOff x="914400" y="1447800"/>
                        <a:chExt cx="1066800" cy="152400"/>
                      </a:xfrm>
                    </p:grpSpPr>
                    <p:sp>
                      <p:nvSpPr>
                        <p:cNvPr id="65" name="Oval 64"/>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Oval 65"/>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nvGrpSpPr>
                  <p:cNvPr id="13" name="Group 69"/>
                  <p:cNvGrpSpPr/>
                  <p:nvPr/>
                </p:nvGrpSpPr>
                <p:grpSpPr>
                  <a:xfrm>
                    <a:off x="914400" y="3276600"/>
                    <a:ext cx="2895600" cy="1066800"/>
                    <a:chOff x="914400" y="1447800"/>
                    <a:chExt cx="2895600" cy="1066800"/>
                  </a:xfrm>
                </p:grpSpPr>
                <p:grpSp>
                  <p:nvGrpSpPr>
                    <p:cNvPr id="14" name="Group 60"/>
                    <p:cNvGrpSpPr/>
                    <p:nvPr/>
                  </p:nvGrpSpPr>
                  <p:grpSpPr>
                    <a:xfrm>
                      <a:off x="914400" y="2362200"/>
                      <a:ext cx="2895600" cy="152400"/>
                      <a:chOff x="914400" y="1447800"/>
                      <a:chExt cx="2895600" cy="152400"/>
                    </a:xfrm>
                  </p:grpSpPr>
                  <p:grpSp>
                    <p:nvGrpSpPr>
                      <p:cNvPr id="15" name="Group 56"/>
                      <p:cNvGrpSpPr/>
                      <p:nvPr/>
                    </p:nvGrpSpPr>
                    <p:grpSpPr>
                      <a:xfrm>
                        <a:off x="914400" y="1447800"/>
                        <a:ext cx="1066800" cy="152400"/>
                        <a:chOff x="914400" y="1447800"/>
                        <a:chExt cx="1066800" cy="152400"/>
                      </a:xfrm>
                    </p:grpSpPr>
                    <p:sp>
                      <p:nvSpPr>
                        <p:cNvPr id="83" name="Oval 8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Oval 8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 name="Group 57"/>
                      <p:cNvGrpSpPr/>
                      <p:nvPr/>
                    </p:nvGrpSpPr>
                    <p:grpSpPr>
                      <a:xfrm>
                        <a:off x="2743200" y="1447800"/>
                        <a:ext cx="1066800" cy="152400"/>
                        <a:chOff x="914400" y="1447800"/>
                        <a:chExt cx="1066800" cy="152400"/>
                      </a:xfrm>
                    </p:grpSpPr>
                    <p:sp>
                      <p:nvSpPr>
                        <p:cNvPr id="81" name="Oval 80"/>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Oval 81"/>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7" name="Group 61"/>
                    <p:cNvGrpSpPr/>
                    <p:nvPr/>
                  </p:nvGrpSpPr>
                  <p:grpSpPr>
                    <a:xfrm>
                      <a:off x="914400" y="1447800"/>
                      <a:ext cx="2895600" cy="152400"/>
                      <a:chOff x="914400" y="1447800"/>
                      <a:chExt cx="2895600" cy="152400"/>
                    </a:xfrm>
                  </p:grpSpPr>
                  <p:grpSp>
                    <p:nvGrpSpPr>
                      <p:cNvPr id="18" name="Group 56"/>
                      <p:cNvGrpSpPr/>
                      <p:nvPr/>
                    </p:nvGrpSpPr>
                    <p:grpSpPr>
                      <a:xfrm>
                        <a:off x="914400" y="1447800"/>
                        <a:ext cx="1066800" cy="152400"/>
                        <a:chOff x="914400" y="1447800"/>
                        <a:chExt cx="1066800" cy="152400"/>
                      </a:xfrm>
                    </p:grpSpPr>
                    <p:sp>
                      <p:nvSpPr>
                        <p:cNvPr id="77" name="Oval 76"/>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Oval 77"/>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9" name="Group 57"/>
                      <p:cNvGrpSpPr/>
                      <p:nvPr/>
                    </p:nvGrpSpPr>
                    <p:grpSpPr>
                      <a:xfrm>
                        <a:off x="2743200" y="1447800"/>
                        <a:ext cx="1066800" cy="152400"/>
                        <a:chOff x="914400" y="1447800"/>
                        <a:chExt cx="1066800" cy="152400"/>
                      </a:xfrm>
                    </p:grpSpPr>
                    <p:sp>
                      <p:nvSpPr>
                        <p:cNvPr id="75" name="Oval 74"/>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Oval 75"/>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grpSp>
              <p:nvGrpSpPr>
                <p:cNvPr id="20" name="Group 85"/>
                <p:cNvGrpSpPr/>
                <p:nvPr/>
              </p:nvGrpSpPr>
              <p:grpSpPr>
                <a:xfrm>
                  <a:off x="4572000" y="1447800"/>
                  <a:ext cx="2895600" cy="2895600"/>
                  <a:chOff x="914400" y="1447800"/>
                  <a:chExt cx="2895600" cy="2895600"/>
                </a:xfrm>
              </p:grpSpPr>
              <p:grpSp>
                <p:nvGrpSpPr>
                  <p:cNvPr id="21" name="Group 68"/>
                  <p:cNvGrpSpPr/>
                  <p:nvPr/>
                </p:nvGrpSpPr>
                <p:grpSpPr>
                  <a:xfrm>
                    <a:off x="914400" y="1447800"/>
                    <a:ext cx="2895600" cy="1066800"/>
                    <a:chOff x="914400" y="1447800"/>
                    <a:chExt cx="2895600" cy="1066800"/>
                  </a:xfrm>
                </p:grpSpPr>
                <p:grpSp>
                  <p:nvGrpSpPr>
                    <p:cNvPr id="22" name="Group 60"/>
                    <p:cNvGrpSpPr/>
                    <p:nvPr/>
                  </p:nvGrpSpPr>
                  <p:grpSpPr>
                    <a:xfrm>
                      <a:off x="914400" y="2362200"/>
                      <a:ext cx="2895600" cy="152400"/>
                      <a:chOff x="914400" y="1447800"/>
                      <a:chExt cx="2895600" cy="152400"/>
                    </a:xfrm>
                  </p:grpSpPr>
                  <p:grpSp>
                    <p:nvGrpSpPr>
                      <p:cNvPr id="23" name="Group 56"/>
                      <p:cNvGrpSpPr/>
                      <p:nvPr/>
                    </p:nvGrpSpPr>
                    <p:grpSpPr>
                      <a:xfrm>
                        <a:off x="914400" y="1447800"/>
                        <a:ext cx="1066800" cy="152400"/>
                        <a:chOff x="914400" y="1447800"/>
                        <a:chExt cx="1066800" cy="152400"/>
                      </a:xfrm>
                    </p:grpSpPr>
                    <p:sp>
                      <p:nvSpPr>
                        <p:cNvPr id="115" name="Oval 114"/>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 name="Oval 115"/>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4" name="Group 57"/>
                      <p:cNvGrpSpPr/>
                      <p:nvPr/>
                    </p:nvGrpSpPr>
                    <p:grpSpPr>
                      <a:xfrm>
                        <a:off x="2743200" y="1447800"/>
                        <a:ext cx="1066800" cy="152400"/>
                        <a:chOff x="914400" y="1447800"/>
                        <a:chExt cx="1066800" cy="152400"/>
                      </a:xfrm>
                    </p:grpSpPr>
                    <p:sp>
                      <p:nvSpPr>
                        <p:cNvPr id="113" name="Oval 11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Oval 11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25" name="Group 61"/>
                    <p:cNvGrpSpPr/>
                    <p:nvPr/>
                  </p:nvGrpSpPr>
                  <p:grpSpPr>
                    <a:xfrm>
                      <a:off x="914400" y="1447800"/>
                      <a:ext cx="2895600" cy="152400"/>
                      <a:chOff x="914400" y="1447800"/>
                      <a:chExt cx="2895600" cy="152400"/>
                    </a:xfrm>
                  </p:grpSpPr>
                  <p:grpSp>
                    <p:nvGrpSpPr>
                      <p:cNvPr id="26" name="Group 56"/>
                      <p:cNvGrpSpPr/>
                      <p:nvPr/>
                    </p:nvGrpSpPr>
                    <p:grpSpPr>
                      <a:xfrm>
                        <a:off x="914400" y="1447800"/>
                        <a:ext cx="1066800" cy="152400"/>
                        <a:chOff x="914400" y="1447800"/>
                        <a:chExt cx="1066800" cy="152400"/>
                      </a:xfrm>
                    </p:grpSpPr>
                    <p:sp>
                      <p:nvSpPr>
                        <p:cNvPr id="109" name="Oval 108"/>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Oval 109"/>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7" name="Group 57"/>
                      <p:cNvGrpSpPr/>
                      <p:nvPr/>
                    </p:nvGrpSpPr>
                    <p:grpSpPr>
                      <a:xfrm>
                        <a:off x="2743200" y="1447800"/>
                        <a:ext cx="1066800" cy="152400"/>
                        <a:chOff x="914400" y="1447800"/>
                        <a:chExt cx="1066800" cy="152400"/>
                      </a:xfrm>
                    </p:grpSpPr>
                    <p:sp>
                      <p:nvSpPr>
                        <p:cNvPr id="107" name="Oval 106"/>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Oval 107"/>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nvGrpSpPr>
                  <p:cNvPr id="28" name="Group 69"/>
                  <p:cNvGrpSpPr/>
                  <p:nvPr/>
                </p:nvGrpSpPr>
                <p:grpSpPr>
                  <a:xfrm>
                    <a:off x="914400" y="3276600"/>
                    <a:ext cx="2895600" cy="1066800"/>
                    <a:chOff x="914400" y="1447800"/>
                    <a:chExt cx="2895600" cy="1066800"/>
                  </a:xfrm>
                </p:grpSpPr>
                <p:grpSp>
                  <p:nvGrpSpPr>
                    <p:cNvPr id="29" name="Group 60"/>
                    <p:cNvGrpSpPr/>
                    <p:nvPr/>
                  </p:nvGrpSpPr>
                  <p:grpSpPr>
                    <a:xfrm>
                      <a:off x="914400" y="2362200"/>
                      <a:ext cx="2895600" cy="152400"/>
                      <a:chOff x="914400" y="1447800"/>
                      <a:chExt cx="2895600" cy="152400"/>
                    </a:xfrm>
                  </p:grpSpPr>
                  <p:grpSp>
                    <p:nvGrpSpPr>
                      <p:cNvPr id="30" name="Group 56"/>
                      <p:cNvGrpSpPr/>
                      <p:nvPr/>
                    </p:nvGrpSpPr>
                    <p:grpSpPr>
                      <a:xfrm>
                        <a:off x="914400" y="1447800"/>
                        <a:ext cx="1066800" cy="152400"/>
                        <a:chOff x="914400" y="1447800"/>
                        <a:chExt cx="1066800" cy="152400"/>
                      </a:xfrm>
                    </p:grpSpPr>
                    <p:sp>
                      <p:nvSpPr>
                        <p:cNvPr id="101" name="Oval 100"/>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Oval 101"/>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1" name="Group 57"/>
                      <p:cNvGrpSpPr/>
                      <p:nvPr/>
                    </p:nvGrpSpPr>
                    <p:grpSpPr>
                      <a:xfrm>
                        <a:off x="2743200" y="1447800"/>
                        <a:ext cx="1066800" cy="152400"/>
                        <a:chOff x="914400" y="1447800"/>
                        <a:chExt cx="1066800" cy="152400"/>
                      </a:xfrm>
                    </p:grpSpPr>
                    <p:sp>
                      <p:nvSpPr>
                        <p:cNvPr id="99" name="Oval 98"/>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Oval 99"/>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32" name="Group 61"/>
                    <p:cNvGrpSpPr/>
                    <p:nvPr/>
                  </p:nvGrpSpPr>
                  <p:grpSpPr>
                    <a:xfrm>
                      <a:off x="914400" y="1447800"/>
                      <a:ext cx="2895600" cy="152400"/>
                      <a:chOff x="914400" y="1447800"/>
                      <a:chExt cx="2895600" cy="152400"/>
                    </a:xfrm>
                  </p:grpSpPr>
                  <p:grpSp>
                    <p:nvGrpSpPr>
                      <p:cNvPr id="33" name="Group 56"/>
                      <p:cNvGrpSpPr/>
                      <p:nvPr/>
                    </p:nvGrpSpPr>
                    <p:grpSpPr>
                      <a:xfrm>
                        <a:off x="914400" y="1447800"/>
                        <a:ext cx="1066800" cy="152400"/>
                        <a:chOff x="914400" y="1447800"/>
                        <a:chExt cx="1066800" cy="152400"/>
                      </a:xfrm>
                    </p:grpSpPr>
                    <p:sp>
                      <p:nvSpPr>
                        <p:cNvPr id="95" name="Oval 94"/>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Oval 95"/>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4" name="Group 57"/>
                      <p:cNvGrpSpPr/>
                      <p:nvPr/>
                    </p:nvGrpSpPr>
                    <p:grpSpPr>
                      <a:xfrm>
                        <a:off x="2743200" y="1447800"/>
                        <a:ext cx="1066800" cy="152400"/>
                        <a:chOff x="914400" y="1447800"/>
                        <a:chExt cx="1066800" cy="152400"/>
                      </a:xfrm>
                    </p:grpSpPr>
                    <p:sp>
                      <p:nvSpPr>
                        <p:cNvPr id="93" name="Oval 9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Oval 9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grpSp>
          <p:grpSp>
            <p:nvGrpSpPr>
              <p:cNvPr id="35" name="Group 117"/>
              <p:cNvGrpSpPr/>
              <p:nvPr/>
            </p:nvGrpSpPr>
            <p:grpSpPr>
              <a:xfrm>
                <a:off x="8229600" y="1447800"/>
                <a:ext cx="6553200" cy="2895600"/>
                <a:chOff x="914400" y="1447800"/>
                <a:chExt cx="6553200" cy="2895600"/>
              </a:xfrm>
            </p:grpSpPr>
            <p:grpSp>
              <p:nvGrpSpPr>
                <p:cNvPr id="36" name="Group 84"/>
                <p:cNvGrpSpPr/>
                <p:nvPr/>
              </p:nvGrpSpPr>
              <p:grpSpPr>
                <a:xfrm>
                  <a:off x="914400" y="1447800"/>
                  <a:ext cx="2895600" cy="2895600"/>
                  <a:chOff x="914400" y="1447800"/>
                  <a:chExt cx="2895600" cy="2895600"/>
                </a:xfrm>
              </p:grpSpPr>
              <p:grpSp>
                <p:nvGrpSpPr>
                  <p:cNvPr id="37" name="Group 68"/>
                  <p:cNvGrpSpPr/>
                  <p:nvPr/>
                </p:nvGrpSpPr>
                <p:grpSpPr>
                  <a:xfrm>
                    <a:off x="914400" y="1447800"/>
                    <a:ext cx="2895600" cy="1066800"/>
                    <a:chOff x="914400" y="1447800"/>
                    <a:chExt cx="2895600" cy="1066800"/>
                  </a:xfrm>
                </p:grpSpPr>
                <p:grpSp>
                  <p:nvGrpSpPr>
                    <p:cNvPr id="38" name="Group 60"/>
                    <p:cNvGrpSpPr/>
                    <p:nvPr/>
                  </p:nvGrpSpPr>
                  <p:grpSpPr>
                    <a:xfrm>
                      <a:off x="914400" y="2362200"/>
                      <a:ext cx="2895600" cy="152400"/>
                      <a:chOff x="914400" y="1447800"/>
                      <a:chExt cx="2895600" cy="152400"/>
                    </a:xfrm>
                  </p:grpSpPr>
                  <p:grpSp>
                    <p:nvGrpSpPr>
                      <p:cNvPr id="39" name="Group 56"/>
                      <p:cNvGrpSpPr/>
                      <p:nvPr/>
                    </p:nvGrpSpPr>
                    <p:grpSpPr>
                      <a:xfrm>
                        <a:off x="914400" y="1447800"/>
                        <a:ext cx="1066800" cy="152400"/>
                        <a:chOff x="914400" y="1447800"/>
                        <a:chExt cx="1066800" cy="152400"/>
                      </a:xfrm>
                    </p:grpSpPr>
                    <p:sp>
                      <p:nvSpPr>
                        <p:cNvPr id="179" name="Oval 5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0" name="Oval 5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0" name="Group 57"/>
                      <p:cNvGrpSpPr/>
                      <p:nvPr/>
                    </p:nvGrpSpPr>
                    <p:grpSpPr>
                      <a:xfrm>
                        <a:off x="2743200" y="1447800"/>
                        <a:ext cx="1066800" cy="152400"/>
                        <a:chOff x="914400" y="1447800"/>
                        <a:chExt cx="1066800" cy="152400"/>
                      </a:xfrm>
                    </p:grpSpPr>
                    <p:sp>
                      <p:nvSpPr>
                        <p:cNvPr id="177" name="Oval 58"/>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8" name="Oval 59"/>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41" name="Group 61"/>
                    <p:cNvGrpSpPr/>
                    <p:nvPr/>
                  </p:nvGrpSpPr>
                  <p:grpSpPr>
                    <a:xfrm>
                      <a:off x="914400" y="1447800"/>
                      <a:ext cx="2895600" cy="152400"/>
                      <a:chOff x="914400" y="1447800"/>
                      <a:chExt cx="2895600" cy="152400"/>
                    </a:xfrm>
                  </p:grpSpPr>
                  <p:grpSp>
                    <p:nvGrpSpPr>
                      <p:cNvPr id="42" name="Group 56"/>
                      <p:cNvGrpSpPr/>
                      <p:nvPr/>
                    </p:nvGrpSpPr>
                    <p:grpSpPr>
                      <a:xfrm>
                        <a:off x="914400" y="1447800"/>
                        <a:ext cx="1066800" cy="152400"/>
                        <a:chOff x="914400" y="1447800"/>
                        <a:chExt cx="1066800" cy="152400"/>
                      </a:xfrm>
                    </p:grpSpPr>
                    <p:sp>
                      <p:nvSpPr>
                        <p:cNvPr id="173" name="Oval 17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4" name="Oval 17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3" name="Group 57"/>
                      <p:cNvGrpSpPr/>
                      <p:nvPr/>
                    </p:nvGrpSpPr>
                    <p:grpSpPr>
                      <a:xfrm>
                        <a:off x="2743200" y="1447800"/>
                        <a:ext cx="1066800" cy="152400"/>
                        <a:chOff x="914400" y="1447800"/>
                        <a:chExt cx="1066800" cy="152400"/>
                      </a:xfrm>
                    </p:grpSpPr>
                    <p:sp>
                      <p:nvSpPr>
                        <p:cNvPr id="171" name="Oval 170"/>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2" name="Oval 171"/>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nvGrpSpPr>
                  <p:cNvPr id="44" name="Group 69"/>
                  <p:cNvGrpSpPr/>
                  <p:nvPr/>
                </p:nvGrpSpPr>
                <p:grpSpPr>
                  <a:xfrm>
                    <a:off x="914400" y="3276600"/>
                    <a:ext cx="2895600" cy="1066800"/>
                    <a:chOff x="914400" y="1447800"/>
                    <a:chExt cx="2895600" cy="1066800"/>
                  </a:xfrm>
                </p:grpSpPr>
                <p:grpSp>
                  <p:nvGrpSpPr>
                    <p:cNvPr id="45" name="Group 60"/>
                    <p:cNvGrpSpPr/>
                    <p:nvPr/>
                  </p:nvGrpSpPr>
                  <p:grpSpPr>
                    <a:xfrm>
                      <a:off x="914400" y="2362200"/>
                      <a:ext cx="2895600" cy="152400"/>
                      <a:chOff x="914400" y="1447800"/>
                      <a:chExt cx="2895600" cy="152400"/>
                    </a:xfrm>
                  </p:grpSpPr>
                  <p:grpSp>
                    <p:nvGrpSpPr>
                      <p:cNvPr id="46" name="Group 56"/>
                      <p:cNvGrpSpPr/>
                      <p:nvPr/>
                    </p:nvGrpSpPr>
                    <p:grpSpPr>
                      <a:xfrm>
                        <a:off x="914400" y="1447800"/>
                        <a:ext cx="1066800" cy="152400"/>
                        <a:chOff x="914400" y="1447800"/>
                        <a:chExt cx="1066800" cy="152400"/>
                      </a:xfrm>
                    </p:grpSpPr>
                    <p:sp>
                      <p:nvSpPr>
                        <p:cNvPr id="165" name="Oval 164"/>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6" name="Oval 165"/>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7" name="Group 57"/>
                      <p:cNvGrpSpPr/>
                      <p:nvPr/>
                    </p:nvGrpSpPr>
                    <p:grpSpPr>
                      <a:xfrm>
                        <a:off x="2743200" y="1447800"/>
                        <a:ext cx="1066800" cy="152400"/>
                        <a:chOff x="914400" y="1447800"/>
                        <a:chExt cx="1066800" cy="152400"/>
                      </a:xfrm>
                    </p:grpSpPr>
                    <p:sp>
                      <p:nvSpPr>
                        <p:cNvPr id="163" name="Oval 16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4" name="Oval 16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48" name="Group 61"/>
                    <p:cNvGrpSpPr/>
                    <p:nvPr/>
                  </p:nvGrpSpPr>
                  <p:grpSpPr>
                    <a:xfrm>
                      <a:off x="914400" y="1447800"/>
                      <a:ext cx="2895600" cy="152400"/>
                      <a:chOff x="914400" y="1447800"/>
                      <a:chExt cx="2895600" cy="152400"/>
                    </a:xfrm>
                  </p:grpSpPr>
                  <p:grpSp>
                    <p:nvGrpSpPr>
                      <p:cNvPr id="49" name="Group 56"/>
                      <p:cNvGrpSpPr/>
                      <p:nvPr/>
                    </p:nvGrpSpPr>
                    <p:grpSpPr>
                      <a:xfrm>
                        <a:off x="914400" y="1447800"/>
                        <a:ext cx="1066800" cy="152400"/>
                        <a:chOff x="914400" y="1447800"/>
                        <a:chExt cx="1066800" cy="152400"/>
                      </a:xfrm>
                    </p:grpSpPr>
                    <p:sp>
                      <p:nvSpPr>
                        <p:cNvPr id="159" name="Oval 158"/>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0" name="Oval 159"/>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0" name="Group 57"/>
                      <p:cNvGrpSpPr/>
                      <p:nvPr/>
                    </p:nvGrpSpPr>
                    <p:grpSpPr>
                      <a:xfrm>
                        <a:off x="2743200" y="1447800"/>
                        <a:ext cx="1066800" cy="152400"/>
                        <a:chOff x="914400" y="1447800"/>
                        <a:chExt cx="1066800" cy="152400"/>
                      </a:xfrm>
                    </p:grpSpPr>
                    <p:sp>
                      <p:nvSpPr>
                        <p:cNvPr id="157" name="Oval 156"/>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8" name="Oval 157"/>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grpSp>
              <p:nvGrpSpPr>
                <p:cNvPr id="51" name="Group 85"/>
                <p:cNvGrpSpPr/>
                <p:nvPr/>
              </p:nvGrpSpPr>
              <p:grpSpPr>
                <a:xfrm>
                  <a:off x="4572000" y="1447800"/>
                  <a:ext cx="2895600" cy="2895600"/>
                  <a:chOff x="914400" y="1447800"/>
                  <a:chExt cx="2895600" cy="2895600"/>
                </a:xfrm>
              </p:grpSpPr>
              <p:grpSp>
                <p:nvGrpSpPr>
                  <p:cNvPr id="52" name="Group 68"/>
                  <p:cNvGrpSpPr/>
                  <p:nvPr/>
                </p:nvGrpSpPr>
                <p:grpSpPr>
                  <a:xfrm>
                    <a:off x="914400" y="1447800"/>
                    <a:ext cx="2895600" cy="1066800"/>
                    <a:chOff x="914400" y="1447800"/>
                    <a:chExt cx="2895600" cy="1066800"/>
                  </a:xfrm>
                </p:grpSpPr>
                <p:grpSp>
                  <p:nvGrpSpPr>
                    <p:cNvPr id="55" name="Group 60"/>
                    <p:cNvGrpSpPr/>
                    <p:nvPr/>
                  </p:nvGrpSpPr>
                  <p:grpSpPr>
                    <a:xfrm>
                      <a:off x="914400" y="2362200"/>
                      <a:ext cx="2895600" cy="152400"/>
                      <a:chOff x="914400" y="1447800"/>
                      <a:chExt cx="2895600" cy="152400"/>
                    </a:xfrm>
                  </p:grpSpPr>
                  <p:grpSp>
                    <p:nvGrpSpPr>
                      <p:cNvPr id="56" name="Group 56"/>
                      <p:cNvGrpSpPr/>
                      <p:nvPr/>
                    </p:nvGrpSpPr>
                    <p:grpSpPr>
                      <a:xfrm>
                        <a:off x="914400" y="1447800"/>
                        <a:ext cx="1066800" cy="152400"/>
                        <a:chOff x="914400" y="1447800"/>
                        <a:chExt cx="1066800" cy="152400"/>
                      </a:xfrm>
                    </p:grpSpPr>
                    <p:sp>
                      <p:nvSpPr>
                        <p:cNvPr id="149" name="Oval 148"/>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0" name="Oval 149"/>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7" name="Group 57"/>
                      <p:cNvGrpSpPr/>
                      <p:nvPr/>
                    </p:nvGrpSpPr>
                    <p:grpSpPr>
                      <a:xfrm>
                        <a:off x="2743200" y="1447800"/>
                        <a:ext cx="1066800" cy="152400"/>
                        <a:chOff x="914400" y="1447800"/>
                        <a:chExt cx="1066800" cy="152400"/>
                      </a:xfrm>
                    </p:grpSpPr>
                    <p:sp>
                      <p:nvSpPr>
                        <p:cNvPr id="147" name="Oval 146"/>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8" name="Oval 147"/>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58" name="Group 61"/>
                    <p:cNvGrpSpPr/>
                    <p:nvPr/>
                  </p:nvGrpSpPr>
                  <p:grpSpPr>
                    <a:xfrm>
                      <a:off x="914400" y="1447800"/>
                      <a:ext cx="2895600" cy="152400"/>
                      <a:chOff x="914400" y="1447800"/>
                      <a:chExt cx="2895600" cy="152400"/>
                    </a:xfrm>
                  </p:grpSpPr>
                  <p:grpSp>
                    <p:nvGrpSpPr>
                      <p:cNvPr id="61" name="Group 56"/>
                      <p:cNvGrpSpPr/>
                      <p:nvPr/>
                    </p:nvGrpSpPr>
                    <p:grpSpPr>
                      <a:xfrm>
                        <a:off x="914400" y="1447800"/>
                        <a:ext cx="1066800" cy="152400"/>
                        <a:chOff x="914400" y="1447800"/>
                        <a:chExt cx="1066800" cy="152400"/>
                      </a:xfrm>
                    </p:grpSpPr>
                    <p:sp>
                      <p:nvSpPr>
                        <p:cNvPr id="143" name="Oval 14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4" name="Oval 14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2" name="Group 57"/>
                      <p:cNvGrpSpPr/>
                      <p:nvPr/>
                    </p:nvGrpSpPr>
                    <p:grpSpPr>
                      <a:xfrm>
                        <a:off x="2743200" y="1447800"/>
                        <a:ext cx="1066800" cy="152400"/>
                        <a:chOff x="914400" y="1447800"/>
                        <a:chExt cx="1066800" cy="152400"/>
                      </a:xfrm>
                    </p:grpSpPr>
                    <p:sp>
                      <p:nvSpPr>
                        <p:cNvPr id="141" name="Oval 140"/>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2" name="Oval 141"/>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nvGrpSpPr>
                  <p:cNvPr id="63" name="Group 69"/>
                  <p:cNvGrpSpPr/>
                  <p:nvPr/>
                </p:nvGrpSpPr>
                <p:grpSpPr>
                  <a:xfrm>
                    <a:off x="914400" y="3276600"/>
                    <a:ext cx="2895600" cy="1066800"/>
                    <a:chOff x="914400" y="1447800"/>
                    <a:chExt cx="2895600" cy="1066800"/>
                  </a:xfrm>
                </p:grpSpPr>
                <p:grpSp>
                  <p:nvGrpSpPr>
                    <p:cNvPr id="64" name="Group 60"/>
                    <p:cNvGrpSpPr/>
                    <p:nvPr/>
                  </p:nvGrpSpPr>
                  <p:grpSpPr>
                    <a:xfrm>
                      <a:off x="914400" y="2362200"/>
                      <a:ext cx="2895600" cy="152400"/>
                      <a:chOff x="914400" y="1447800"/>
                      <a:chExt cx="2895600" cy="152400"/>
                    </a:xfrm>
                  </p:grpSpPr>
                  <p:grpSp>
                    <p:nvGrpSpPr>
                      <p:cNvPr id="69" name="Group 56"/>
                      <p:cNvGrpSpPr/>
                      <p:nvPr/>
                    </p:nvGrpSpPr>
                    <p:grpSpPr>
                      <a:xfrm>
                        <a:off x="914400" y="1447800"/>
                        <a:ext cx="1066800" cy="152400"/>
                        <a:chOff x="914400" y="1447800"/>
                        <a:chExt cx="1066800" cy="152400"/>
                      </a:xfrm>
                    </p:grpSpPr>
                    <p:sp>
                      <p:nvSpPr>
                        <p:cNvPr id="135" name="Oval 134"/>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6" name="Oval 135"/>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0" name="Group 57"/>
                      <p:cNvGrpSpPr/>
                      <p:nvPr/>
                    </p:nvGrpSpPr>
                    <p:grpSpPr>
                      <a:xfrm>
                        <a:off x="2743200" y="1447800"/>
                        <a:ext cx="1066800" cy="152400"/>
                        <a:chOff x="914400" y="1447800"/>
                        <a:chExt cx="1066800" cy="152400"/>
                      </a:xfrm>
                    </p:grpSpPr>
                    <p:sp>
                      <p:nvSpPr>
                        <p:cNvPr id="133" name="Oval 13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 name="Oval 13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71" name="Group 61"/>
                    <p:cNvGrpSpPr/>
                    <p:nvPr/>
                  </p:nvGrpSpPr>
                  <p:grpSpPr>
                    <a:xfrm>
                      <a:off x="914400" y="1447800"/>
                      <a:ext cx="2895600" cy="152400"/>
                      <a:chOff x="914400" y="1447800"/>
                      <a:chExt cx="2895600" cy="152400"/>
                    </a:xfrm>
                  </p:grpSpPr>
                  <p:grpSp>
                    <p:nvGrpSpPr>
                      <p:cNvPr id="72" name="Group 56"/>
                      <p:cNvGrpSpPr/>
                      <p:nvPr/>
                    </p:nvGrpSpPr>
                    <p:grpSpPr>
                      <a:xfrm>
                        <a:off x="914400" y="1447800"/>
                        <a:ext cx="1066800" cy="152400"/>
                        <a:chOff x="914400" y="1447800"/>
                        <a:chExt cx="1066800" cy="152400"/>
                      </a:xfrm>
                    </p:grpSpPr>
                    <p:sp>
                      <p:nvSpPr>
                        <p:cNvPr id="129" name="Oval 128"/>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 name="Oval 129"/>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3" name="Group 57"/>
                      <p:cNvGrpSpPr/>
                      <p:nvPr/>
                    </p:nvGrpSpPr>
                    <p:grpSpPr>
                      <a:xfrm>
                        <a:off x="2743200" y="1447800"/>
                        <a:ext cx="1066800" cy="152400"/>
                        <a:chOff x="914400" y="1447800"/>
                        <a:chExt cx="1066800" cy="152400"/>
                      </a:xfrm>
                    </p:grpSpPr>
                    <p:sp>
                      <p:nvSpPr>
                        <p:cNvPr id="127" name="Oval 126"/>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8" name="Oval 127"/>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grpSp>
        </p:grpSp>
        <p:grpSp>
          <p:nvGrpSpPr>
            <p:cNvPr id="74" name="Group 181"/>
            <p:cNvGrpSpPr/>
            <p:nvPr/>
          </p:nvGrpSpPr>
          <p:grpSpPr>
            <a:xfrm>
              <a:off x="5486400" y="1447800"/>
              <a:ext cx="13868400" cy="2895600"/>
              <a:chOff x="914400" y="1447800"/>
              <a:chExt cx="13868400" cy="2895600"/>
            </a:xfrm>
          </p:grpSpPr>
          <p:grpSp>
            <p:nvGrpSpPr>
              <p:cNvPr id="79" name="Group 116"/>
              <p:cNvGrpSpPr/>
              <p:nvPr/>
            </p:nvGrpSpPr>
            <p:grpSpPr>
              <a:xfrm>
                <a:off x="914400" y="1447800"/>
                <a:ext cx="6553200" cy="2895600"/>
                <a:chOff x="914400" y="1447800"/>
                <a:chExt cx="6553200" cy="2895600"/>
              </a:xfrm>
            </p:grpSpPr>
            <p:grpSp>
              <p:nvGrpSpPr>
                <p:cNvPr id="80" name="Group 84"/>
                <p:cNvGrpSpPr/>
                <p:nvPr/>
              </p:nvGrpSpPr>
              <p:grpSpPr>
                <a:xfrm>
                  <a:off x="914400" y="1447800"/>
                  <a:ext cx="2895600" cy="2895600"/>
                  <a:chOff x="914400" y="1447800"/>
                  <a:chExt cx="2895600" cy="2895600"/>
                </a:xfrm>
              </p:grpSpPr>
              <p:grpSp>
                <p:nvGrpSpPr>
                  <p:cNvPr id="85" name="Group 68"/>
                  <p:cNvGrpSpPr/>
                  <p:nvPr/>
                </p:nvGrpSpPr>
                <p:grpSpPr>
                  <a:xfrm>
                    <a:off x="914400" y="1447800"/>
                    <a:ext cx="2895600" cy="1066800"/>
                    <a:chOff x="914400" y="1447800"/>
                    <a:chExt cx="2895600" cy="1066800"/>
                  </a:xfrm>
                </p:grpSpPr>
                <p:grpSp>
                  <p:nvGrpSpPr>
                    <p:cNvPr id="86" name="Group 60"/>
                    <p:cNvGrpSpPr/>
                    <p:nvPr/>
                  </p:nvGrpSpPr>
                  <p:grpSpPr>
                    <a:xfrm>
                      <a:off x="914400" y="2362200"/>
                      <a:ext cx="2895600" cy="152400"/>
                      <a:chOff x="914400" y="1447800"/>
                      <a:chExt cx="2895600" cy="152400"/>
                    </a:xfrm>
                  </p:grpSpPr>
                  <p:grpSp>
                    <p:nvGrpSpPr>
                      <p:cNvPr id="87" name="Group 56"/>
                      <p:cNvGrpSpPr/>
                      <p:nvPr/>
                    </p:nvGrpSpPr>
                    <p:grpSpPr>
                      <a:xfrm>
                        <a:off x="914400" y="1447800"/>
                        <a:ext cx="1066800" cy="152400"/>
                        <a:chOff x="914400" y="1447800"/>
                        <a:chExt cx="1066800" cy="152400"/>
                      </a:xfrm>
                    </p:grpSpPr>
                    <p:sp>
                      <p:nvSpPr>
                        <p:cNvPr id="307" name="Oval 5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 name="Oval 5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8" name="Group 57"/>
                      <p:cNvGrpSpPr/>
                      <p:nvPr/>
                    </p:nvGrpSpPr>
                    <p:grpSpPr>
                      <a:xfrm>
                        <a:off x="2743200" y="1447800"/>
                        <a:ext cx="1066800" cy="152400"/>
                        <a:chOff x="914400" y="1447800"/>
                        <a:chExt cx="1066800" cy="152400"/>
                      </a:xfrm>
                    </p:grpSpPr>
                    <p:sp>
                      <p:nvSpPr>
                        <p:cNvPr id="305" name="Oval 304"/>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6" name="Oval 305"/>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89" name="Group 61"/>
                    <p:cNvGrpSpPr/>
                    <p:nvPr/>
                  </p:nvGrpSpPr>
                  <p:grpSpPr>
                    <a:xfrm>
                      <a:off x="914400" y="1447800"/>
                      <a:ext cx="2895600" cy="152400"/>
                      <a:chOff x="914400" y="1447800"/>
                      <a:chExt cx="2895600" cy="152400"/>
                    </a:xfrm>
                  </p:grpSpPr>
                  <p:grpSp>
                    <p:nvGrpSpPr>
                      <p:cNvPr id="90" name="Group 56"/>
                      <p:cNvGrpSpPr/>
                      <p:nvPr/>
                    </p:nvGrpSpPr>
                    <p:grpSpPr>
                      <a:xfrm>
                        <a:off x="914400" y="1447800"/>
                        <a:ext cx="1066800" cy="152400"/>
                        <a:chOff x="914400" y="1447800"/>
                        <a:chExt cx="1066800" cy="152400"/>
                      </a:xfrm>
                    </p:grpSpPr>
                    <p:sp>
                      <p:nvSpPr>
                        <p:cNvPr id="301" name="Oval 66"/>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2" name="Oval 67"/>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1" name="Group 57"/>
                      <p:cNvGrpSpPr/>
                      <p:nvPr/>
                    </p:nvGrpSpPr>
                    <p:grpSpPr>
                      <a:xfrm>
                        <a:off x="2743200" y="1447800"/>
                        <a:ext cx="1066800" cy="152400"/>
                        <a:chOff x="914400" y="1447800"/>
                        <a:chExt cx="1066800" cy="152400"/>
                      </a:xfrm>
                    </p:grpSpPr>
                    <p:sp>
                      <p:nvSpPr>
                        <p:cNvPr id="299" name="Oval 298"/>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0" name="Oval 299"/>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nvGrpSpPr>
                  <p:cNvPr id="92" name="Group 69"/>
                  <p:cNvGrpSpPr/>
                  <p:nvPr/>
                </p:nvGrpSpPr>
                <p:grpSpPr>
                  <a:xfrm>
                    <a:off x="914400" y="3276600"/>
                    <a:ext cx="2895600" cy="1066800"/>
                    <a:chOff x="914400" y="1447800"/>
                    <a:chExt cx="2895600" cy="1066800"/>
                  </a:xfrm>
                </p:grpSpPr>
                <p:grpSp>
                  <p:nvGrpSpPr>
                    <p:cNvPr id="97" name="Group 60"/>
                    <p:cNvGrpSpPr/>
                    <p:nvPr/>
                  </p:nvGrpSpPr>
                  <p:grpSpPr>
                    <a:xfrm>
                      <a:off x="914400" y="2362200"/>
                      <a:ext cx="2895600" cy="152400"/>
                      <a:chOff x="914400" y="1447800"/>
                      <a:chExt cx="2895600" cy="152400"/>
                    </a:xfrm>
                  </p:grpSpPr>
                  <p:grpSp>
                    <p:nvGrpSpPr>
                      <p:cNvPr id="98" name="Group 56"/>
                      <p:cNvGrpSpPr/>
                      <p:nvPr/>
                    </p:nvGrpSpPr>
                    <p:grpSpPr>
                      <a:xfrm>
                        <a:off x="914400" y="1447800"/>
                        <a:ext cx="1066800" cy="152400"/>
                        <a:chOff x="914400" y="1447800"/>
                        <a:chExt cx="1066800" cy="152400"/>
                      </a:xfrm>
                    </p:grpSpPr>
                    <p:sp>
                      <p:nvSpPr>
                        <p:cNvPr id="293" name="Oval 29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4" name="Oval 29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3" name="Group 57"/>
                      <p:cNvGrpSpPr/>
                      <p:nvPr/>
                    </p:nvGrpSpPr>
                    <p:grpSpPr>
                      <a:xfrm>
                        <a:off x="2743200" y="1447800"/>
                        <a:ext cx="1066800" cy="152400"/>
                        <a:chOff x="914400" y="1447800"/>
                        <a:chExt cx="1066800" cy="152400"/>
                      </a:xfrm>
                    </p:grpSpPr>
                    <p:sp>
                      <p:nvSpPr>
                        <p:cNvPr id="291" name="Oval 290"/>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2" name="Oval 291"/>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04" name="Group 61"/>
                    <p:cNvGrpSpPr/>
                    <p:nvPr/>
                  </p:nvGrpSpPr>
                  <p:grpSpPr>
                    <a:xfrm>
                      <a:off x="914400" y="1447800"/>
                      <a:ext cx="2895600" cy="152400"/>
                      <a:chOff x="914400" y="1447800"/>
                      <a:chExt cx="2895600" cy="152400"/>
                    </a:xfrm>
                  </p:grpSpPr>
                  <p:grpSp>
                    <p:nvGrpSpPr>
                      <p:cNvPr id="105" name="Group 56"/>
                      <p:cNvGrpSpPr/>
                      <p:nvPr/>
                    </p:nvGrpSpPr>
                    <p:grpSpPr>
                      <a:xfrm>
                        <a:off x="914400" y="1447800"/>
                        <a:ext cx="1066800" cy="152400"/>
                        <a:chOff x="914400" y="1447800"/>
                        <a:chExt cx="1066800" cy="152400"/>
                      </a:xfrm>
                    </p:grpSpPr>
                    <p:sp>
                      <p:nvSpPr>
                        <p:cNvPr id="287" name="Oval 286"/>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8" name="Oval 287"/>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6" name="Group 57"/>
                      <p:cNvGrpSpPr/>
                      <p:nvPr/>
                    </p:nvGrpSpPr>
                    <p:grpSpPr>
                      <a:xfrm>
                        <a:off x="2743200" y="1447800"/>
                        <a:ext cx="1066800" cy="152400"/>
                        <a:chOff x="914400" y="1447800"/>
                        <a:chExt cx="1066800" cy="152400"/>
                      </a:xfrm>
                    </p:grpSpPr>
                    <p:sp>
                      <p:nvSpPr>
                        <p:cNvPr id="285" name="Oval 284"/>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6" name="Oval 285"/>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grpSp>
              <p:nvGrpSpPr>
                <p:cNvPr id="111" name="Group 85"/>
                <p:cNvGrpSpPr/>
                <p:nvPr/>
              </p:nvGrpSpPr>
              <p:grpSpPr>
                <a:xfrm>
                  <a:off x="4572000" y="1447800"/>
                  <a:ext cx="2895600" cy="2895600"/>
                  <a:chOff x="914400" y="1447800"/>
                  <a:chExt cx="2895600" cy="2895600"/>
                </a:xfrm>
              </p:grpSpPr>
              <p:grpSp>
                <p:nvGrpSpPr>
                  <p:cNvPr id="112" name="Group 248"/>
                  <p:cNvGrpSpPr/>
                  <p:nvPr/>
                </p:nvGrpSpPr>
                <p:grpSpPr>
                  <a:xfrm>
                    <a:off x="914400" y="1447800"/>
                    <a:ext cx="2895600" cy="1066800"/>
                    <a:chOff x="914400" y="1447800"/>
                    <a:chExt cx="2895600" cy="1066800"/>
                  </a:xfrm>
                </p:grpSpPr>
                <p:grpSp>
                  <p:nvGrpSpPr>
                    <p:cNvPr id="117" name="Group 60"/>
                    <p:cNvGrpSpPr/>
                    <p:nvPr/>
                  </p:nvGrpSpPr>
                  <p:grpSpPr>
                    <a:xfrm>
                      <a:off x="914400" y="2362200"/>
                      <a:ext cx="2895600" cy="152400"/>
                      <a:chOff x="914400" y="1447800"/>
                      <a:chExt cx="2895600" cy="152400"/>
                    </a:xfrm>
                  </p:grpSpPr>
                  <p:grpSp>
                    <p:nvGrpSpPr>
                      <p:cNvPr id="118" name="Group 56"/>
                      <p:cNvGrpSpPr/>
                      <p:nvPr/>
                    </p:nvGrpSpPr>
                    <p:grpSpPr>
                      <a:xfrm>
                        <a:off x="914400" y="1447800"/>
                        <a:ext cx="1066800" cy="152400"/>
                        <a:chOff x="914400" y="1447800"/>
                        <a:chExt cx="1066800" cy="152400"/>
                      </a:xfrm>
                    </p:grpSpPr>
                    <p:sp>
                      <p:nvSpPr>
                        <p:cNvPr id="277" name="Oval 276"/>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8" name="Oval 277"/>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9" name="Group 57"/>
                      <p:cNvGrpSpPr/>
                      <p:nvPr/>
                    </p:nvGrpSpPr>
                    <p:grpSpPr>
                      <a:xfrm>
                        <a:off x="2743200" y="1447800"/>
                        <a:ext cx="1066800" cy="152400"/>
                        <a:chOff x="914400" y="1447800"/>
                        <a:chExt cx="1066800" cy="152400"/>
                      </a:xfrm>
                    </p:grpSpPr>
                    <p:sp>
                      <p:nvSpPr>
                        <p:cNvPr id="275" name="Oval 274"/>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6" name="Oval 275"/>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20" name="Group 61"/>
                    <p:cNvGrpSpPr/>
                    <p:nvPr/>
                  </p:nvGrpSpPr>
                  <p:grpSpPr>
                    <a:xfrm>
                      <a:off x="914400" y="1447800"/>
                      <a:ext cx="2895600" cy="152400"/>
                      <a:chOff x="914400" y="1447800"/>
                      <a:chExt cx="2895600" cy="152400"/>
                    </a:xfrm>
                  </p:grpSpPr>
                  <p:grpSp>
                    <p:nvGrpSpPr>
                      <p:cNvPr id="121" name="Group 56"/>
                      <p:cNvGrpSpPr/>
                      <p:nvPr/>
                    </p:nvGrpSpPr>
                    <p:grpSpPr>
                      <a:xfrm>
                        <a:off x="914400" y="1447800"/>
                        <a:ext cx="1066800" cy="152400"/>
                        <a:chOff x="914400" y="1447800"/>
                        <a:chExt cx="1066800" cy="152400"/>
                      </a:xfrm>
                    </p:grpSpPr>
                    <p:sp>
                      <p:nvSpPr>
                        <p:cNvPr id="271" name="Oval 270"/>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2" name="Oval 271"/>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22" name="Group 57"/>
                      <p:cNvGrpSpPr/>
                      <p:nvPr/>
                    </p:nvGrpSpPr>
                    <p:grpSpPr>
                      <a:xfrm>
                        <a:off x="2743200" y="1447800"/>
                        <a:ext cx="1066800" cy="152400"/>
                        <a:chOff x="914400" y="1447800"/>
                        <a:chExt cx="1066800" cy="152400"/>
                      </a:xfrm>
                    </p:grpSpPr>
                    <p:sp>
                      <p:nvSpPr>
                        <p:cNvPr id="269" name="Oval 268"/>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0" name="Oval 269"/>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nvGrpSpPr>
                  <p:cNvPr id="123" name="Group 249"/>
                  <p:cNvGrpSpPr/>
                  <p:nvPr/>
                </p:nvGrpSpPr>
                <p:grpSpPr>
                  <a:xfrm>
                    <a:off x="914400" y="3276600"/>
                    <a:ext cx="2895600" cy="1066800"/>
                    <a:chOff x="914400" y="1447800"/>
                    <a:chExt cx="2895600" cy="1066800"/>
                  </a:xfrm>
                </p:grpSpPr>
                <p:grpSp>
                  <p:nvGrpSpPr>
                    <p:cNvPr id="124" name="Group 60"/>
                    <p:cNvGrpSpPr/>
                    <p:nvPr/>
                  </p:nvGrpSpPr>
                  <p:grpSpPr>
                    <a:xfrm>
                      <a:off x="914400" y="2362200"/>
                      <a:ext cx="2895600" cy="152400"/>
                      <a:chOff x="914400" y="1447800"/>
                      <a:chExt cx="2895600" cy="152400"/>
                    </a:xfrm>
                  </p:grpSpPr>
                  <p:grpSp>
                    <p:nvGrpSpPr>
                      <p:cNvPr id="125" name="Group 56"/>
                      <p:cNvGrpSpPr/>
                      <p:nvPr/>
                    </p:nvGrpSpPr>
                    <p:grpSpPr>
                      <a:xfrm>
                        <a:off x="914400" y="1447800"/>
                        <a:ext cx="1066800" cy="152400"/>
                        <a:chOff x="914400" y="1447800"/>
                        <a:chExt cx="1066800" cy="152400"/>
                      </a:xfrm>
                    </p:grpSpPr>
                    <p:sp>
                      <p:nvSpPr>
                        <p:cNvPr id="263" name="Oval 26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4" name="Oval 26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26" name="Group 57"/>
                      <p:cNvGrpSpPr/>
                      <p:nvPr/>
                    </p:nvGrpSpPr>
                    <p:grpSpPr>
                      <a:xfrm>
                        <a:off x="2743200" y="1447800"/>
                        <a:ext cx="1066800" cy="152400"/>
                        <a:chOff x="914400" y="1447800"/>
                        <a:chExt cx="1066800" cy="152400"/>
                      </a:xfrm>
                    </p:grpSpPr>
                    <p:sp>
                      <p:nvSpPr>
                        <p:cNvPr id="261" name="Oval 260"/>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2" name="Oval 261"/>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31" name="Group 61"/>
                    <p:cNvGrpSpPr/>
                    <p:nvPr/>
                  </p:nvGrpSpPr>
                  <p:grpSpPr>
                    <a:xfrm>
                      <a:off x="914400" y="1447800"/>
                      <a:ext cx="2895600" cy="152400"/>
                      <a:chOff x="914400" y="1447800"/>
                      <a:chExt cx="2895600" cy="152400"/>
                    </a:xfrm>
                  </p:grpSpPr>
                  <p:grpSp>
                    <p:nvGrpSpPr>
                      <p:cNvPr id="132" name="Group 56"/>
                      <p:cNvGrpSpPr/>
                      <p:nvPr/>
                    </p:nvGrpSpPr>
                    <p:grpSpPr>
                      <a:xfrm>
                        <a:off x="914400" y="1447800"/>
                        <a:ext cx="1066800" cy="152400"/>
                        <a:chOff x="914400" y="1447800"/>
                        <a:chExt cx="1066800" cy="152400"/>
                      </a:xfrm>
                    </p:grpSpPr>
                    <p:sp>
                      <p:nvSpPr>
                        <p:cNvPr id="257" name="Oval 256"/>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8" name="Oval 257"/>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7" name="Group 57"/>
                      <p:cNvGrpSpPr/>
                      <p:nvPr/>
                    </p:nvGrpSpPr>
                    <p:grpSpPr>
                      <a:xfrm>
                        <a:off x="2743200" y="1447800"/>
                        <a:ext cx="1066800" cy="152400"/>
                        <a:chOff x="914400" y="1447800"/>
                        <a:chExt cx="1066800" cy="152400"/>
                      </a:xfrm>
                    </p:grpSpPr>
                    <p:sp>
                      <p:nvSpPr>
                        <p:cNvPr id="255" name="Oval 254"/>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6" name="Oval 255"/>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grpSp>
          <p:grpSp>
            <p:nvGrpSpPr>
              <p:cNvPr id="138" name="Group 117"/>
              <p:cNvGrpSpPr/>
              <p:nvPr/>
            </p:nvGrpSpPr>
            <p:grpSpPr>
              <a:xfrm>
                <a:off x="8229600" y="1447800"/>
                <a:ext cx="6553200" cy="2895600"/>
                <a:chOff x="914400" y="1447800"/>
                <a:chExt cx="6553200" cy="2895600"/>
              </a:xfrm>
            </p:grpSpPr>
            <p:grpSp>
              <p:nvGrpSpPr>
                <p:cNvPr id="139" name="Group 84"/>
                <p:cNvGrpSpPr/>
                <p:nvPr/>
              </p:nvGrpSpPr>
              <p:grpSpPr>
                <a:xfrm>
                  <a:off x="914400" y="1447800"/>
                  <a:ext cx="2895600" cy="2895600"/>
                  <a:chOff x="914400" y="1447800"/>
                  <a:chExt cx="2895600" cy="2895600"/>
                </a:xfrm>
              </p:grpSpPr>
              <p:grpSp>
                <p:nvGrpSpPr>
                  <p:cNvPr id="140" name="Group 68"/>
                  <p:cNvGrpSpPr/>
                  <p:nvPr/>
                </p:nvGrpSpPr>
                <p:grpSpPr>
                  <a:xfrm>
                    <a:off x="914400" y="1447800"/>
                    <a:ext cx="2895600" cy="1066800"/>
                    <a:chOff x="914400" y="1447800"/>
                    <a:chExt cx="2895600" cy="1066800"/>
                  </a:xfrm>
                </p:grpSpPr>
                <p:grpSp>
                  <p:nvGrpSpPr>
                    <p:cNvPr id="145" name="Group 60"/>
                    <p:cNvGrpSpPr/>
                    <p:nvPr/>
                  </p:nvGrpSpPr>
                  <p:grpSpPr>
                    <a:xfrm>
                      <a:off x="914400" y="2362200"/>
                      <a:ext cx="2895600" cy="152400"/>
                      <a:chOff x="914400" y="1447800"/>
                      <a:chExt cx="2895600" cy="152400"/>
                    </a:xfrm>
                  </p:grpSpPr>
                  <p:grpSp>
                    <p:nvGrpSpPr>
                      <p:cNvPr id="146" name="Group 56"/>
                      <p:cNvGrpSpPr/>
                      <p:nvPr/>
                    </p:nvGrpSpPr>
                    <p:grpSpPr>
                      <a:xfrm>
                        <a:off x="914400" y="1447800"/>
                        <a:ext cx="1066800" cy="152400"/>
                        <a:chOff x="914400" y="1447800"/>
                        <a:chExt cx="1066800" cy="152400"/>
                      </a:xfrm>
                    </p:grpSpPr>
                    <p:sp>
                      <p:nvSpPr>
                        <p:cNvPr id="245" name="Oval 5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6" name="Oval 5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51" name="Group 57"/>
                      <p:cNvGrpSpPr/>
                      <p:nvPr/>
                    </p:nvGrpSpPr>
                    <p:grpSpPr>
                      <a:xfrm>
                        <a:off x="2743200" y="1447800"/>
                        <a:ext cx="1066800" cy="152400"/>
                        <a:chOff x="914400" y="1447800"/>
                        <a:chExt cx="1066800" cy="152400"/>
                      </a:xfrm>
                    </p:grpSpPr>
                    <p:sp>
                      <p:nvSpPr>
                        <p:cNvPr id="243" name="Oval 58"/>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4" name="Oval 59"/>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52" name="Group 61"/>
                    <p:cNvGrpSpPr/>
                    <p:nvPr/>
                  </p:nvGrpSpPr>
                  <p:grpSpPr>
                    <a:xfrm>
                      <a:off x="914400" y="1447800"/>
                      <a:ext cx="2895600" cy="152400"/>
                      <a:chOff x="914400" y="1447800"/>
                      <a:chExt cx="2895600" cy="152400"/>
                    </a:xfrm>
                  </p:grpSpPr>
                  <p:grpSp>
                    <p:nvGrpSpPr>
                      <p:cNvPr id="153" name="Group 56"/>
                      <p:cNvGrpSpPr/>
                      <p:nvPr/>
                    </p:nvGrpSpPr>
                    <p:grpSpPr>
                      <a:xfrm>
                        <a:off x="914400" y="1447800"/>
                        <a:ext cx="1066800" cy="152400"/>
                        <a:chOff x="914400" y="1447800"/>
                        <a:chExt cx="1066800" cy="152400"/>
                      </a:xfrm>
                    </p:grpSpPr>
                    <p:sp>
                      <p:nvSpPr>
                        <p:cNvPr id="239" name="Oval 238"/>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0" name="Oval 239"/>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54" name="Group 57"/>
                      <p:cNvGrpSpPr/>
                      <p:nvPr/>
                    </p:nvGrpSpPr>
                    <p:grpSpPr>
                      <a:xfrm>
                        <a:off x="2743200" y="1447800"/>
                        <a:ext cx="1066800" cy="152400"/>
                        <a:chOff x="914400" y="1447800"/>
                        <a:chExt cx="1066800" cy="152400"/>
                      </a:xfrm>
                    </p:grpSpPr>
                    <p:sp>
                      <p:nvSpPr>
                        <p:cNvPr id="237" name="Oval 236"/>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8" name="Oval 237"/>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nvGrpSpPr>
                  <p:cNvPr id="155" name="Group 69"/>
                  <p:cNvGrpSpPr/>
                  <p:nvPr/>
                </p:nvGrpSpPr>
                <p:grpSpPr>
                  <a:xfrm>
                    <a:off x="914400" y="3276600"/>
                    <a:ext cx="2895600" cy="1066800"/>
                    <a:chOff x="914400" y="1447800"/>
                    <a:chExt cx="2895600" cy="1066800"/>
                  </a:xfrm>
                </p:grpSpPr>
                <p:grpSp>
                  <p:nvGrpSpPr>
                    <p:cNvPr id="156" name="Group 60"/>
                    <p:cNvGrpSpPr/>
                    <p:nvPr/>
                  </p:nvGrpSpPr>
                  <p:grpSpPr>
                    <a:xfrm>
                      <a:off x="914400" y="2362200"/>
                      <a:ext cx="2895600" cy="152400"/>
                      <a:chOff x="914400" y="1447800"/>
                      <a:chExt cx="2895600" cy="152400"/>
                    </a:xfrm>
                  </p:grpSpPr>
                  <p:grpSp>
                    <p:nvGrpSpPr>
                      <p:cNvPr id="161" name="Group 56"/>
                      <p:cNvGrpSpPr/>
                      <p:nvPr/>
                    </p:nvGrpSpPr>
                    <p:grpSpPr>
                      <a:xfrm>
                        <a:off x="914400" y="1447800"/>
                        <a:ext cx="1066800" cy="152400"/>
                        <a:chOff x="914400" y="1447800"/>
                        <a:chExt cx="1066800" cy="152400"/>
                      </a:xfrm>
                    </p:grpSpPr>
                    <p:sp>
                      <p:nvSpPr>
                        <p:cNvPr id="231" name="Oval 230"/>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2" name="Oval 231"/>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2" name="Group 57"/>
                      <p:cNvGrpSpPr/>
                      <p:nvPr/>
                    </p:nvGrpSpPr>
                    <p:grpSpPr>
                      <a:xfrm>
                        <a:off x="2743200" y="1447800"/>
                        <a:ext cx="1066800" cy="152400"/>
                        <a:chOff x="914400" y="1447800"/>
                        <a:chExt cx="1066800" cy="152400"/>
                      </a:xfrm>
                    </p:grpSpPr>
                    <p:sp>
                      <p:nvSpPr>
                        <p:cNvPr id="229" name="Oval 228"/>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0" name="Oval 229"/>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67" name="Group 61"/>
                    <p:cNvGrpSpPr/>
                    <p:nvPr/>
                  </p:nvGrpSpPr>
                  <p:grpSpPr>
                    <a:xfrm>
                      <a:off x="914400" y="1447800"/>
                      <a:ext cx="2895600" cy="152400"/>
                      <a:chOff x="914400" y="1447800"/>
                      <a:chExt cx="2895600" cy="152400"/>
                    </a:xfrm>
                  </p:grpSpPr>
                  <p:grpSp>
                    <p:nvGrpSpPr>
                      <p:cNvPr id="168" name="Group 56"/>
                      <p:cNvGrpSpPr/>
                      <p:nvPr/>
                    </p:nvGrpSpPr>
                    <p:grpSpPr>
                      <a:xfrm>
                        <a:off x="914400" y="1447800"/>
                        <a:ext cx="1066800" cy="152400"/>
                        <a:chOff x="914400" y="1447800"/>
                        <a:chExt cx="1066800" cy="152400"/>
                      </a:xfrm>
                    </p:grpSpPr>
                    <p:sp>
                      <p:nvSpPr>
                        <p:cNvPr id="225" name="Oval 224"/>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6" name="Oval 225"/>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9" name="Group 57"/>
                      <p:cNvGrpSpPr/>
                      <p:nvPr/>
                    </p:nvGrpSpPr>
                    <p:grpSpPr>
                      <a:xfrm>
                        <a:off x="2743200" y="1447800"/>
                        <a:ext cx="1066800" cy="152400"/>
                        <a:chOff x="914400" y="1447800"/>
                        <a:chExt cx="1066800" cy="152400"/>
                      </a:xfrm>
                    </p:grpSpPr>
                    <p:sp>
                      <p:nvSpPr>
                        <p:cNvPr id="223" name="Oval 22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4" name="Oval 22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grpSp>
              <p:nvGrpSpPr>
                <p:cNvPr id="170" name="Group 85"/>
                <p:cNvGrpSpPr/>
                <p:nvPr/>
              </p:nvGrpSpPr>
              <p:grpSpPr>
                <a:xfrm>
                  <a:off x="4572000" y="1447800"/>
                  <a:ext cx="2895600" cy="2895600"/>
                  <a:chOff x="914400" y="1447800"/>
                  <a:chExt cx="2895600" cy="2895600"/>
                </a:xfrm>
              </p:grpSpPr>
              <p:grpSp>
                <p:nvGrpSpPr>
                  <p:cNvPr id="175" name="Group 68"/>
                  <p:cNvGrpSpPr/>
                  <p:nvPr/>
                </p:nvGrpSpPr>
                <p:grpSpPr>
                  <a:xfrm>
                    <a:off x="914400" y="1447800"/>
                    <a:ext cx="2895600" cy="1066800"/>
                    <a:chOff x="914400" y="1447800"/>
                    <a:chExt cx="2895600" cy="1066800"/>
                  </a:xfrm>
                </p:grpSpPr>
                <p:grpSp>
                  <p:nvGrpSpPr>
                    <p:cNvPr id="176" name="Group 60"/>
                    <p:cNvGrpSpPr/>
                    <p:nvPr/>
                  </p:nvGrpSpPr>
                  <p:grpSpPr>
                    <a:xfrm>
                      <a:off x="914400" y="2362200"/>
                      <a:ext cx="2895600" cy="152400"/>
                      <a:chOff x="914400" y="1447800"/>
                      <a:chExt cx="2895600" cy="152400"/>
                    </a:xfrm>
                  </p:grpSpPr>
                  <p:grpSp>
                    <p:nvGrpSpPr>
                      <p:cNvPr id="181" name="Group 56"/>
                      <p:cNvGrpSpPr/>
                      <p:nvPr/>
                    </p:nvGrpSpPr>
                    <p:grpSpPr>
                      <a:xfrm>
                        <a:off x="914400" y="1447800"/>
                        <a:ext cx="1066800" cy="152400"/>
                        <a:chOff x="914400" y="1447800"/>
                        <a:chExt cx="1066800" cy="152400"/>
                      </a:xfrm>
                    </p:grpSpPr>
                    <p:sp>
                      <p:nvSpPr>
                        <p:cNvPr id="215" name="Oval 214"/>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6" name="Oval 215"/>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2" name="Group 57"/>
                      <p:cNvGrpSpPr/>
                      <p:nvPr/>
                    </p:nvGrpSpPr>
                    <p:grpSpPr>
                      <a:xfrm>
                        <a:off x="2743200" y="1447800"/>
                        <a:ext cx="1066800" cy="152400"/>
                        <a:chOff x="914400" y="1447800"/>
                        <a:chExt cx="1066800" cy="152400"/>
                      </a:xfrm>
                    </p:grpSpPr>
                    <p:sp>
                      <p:nvSpPr>
                        <p:cNvPr id="213" name="Oval 21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4" name="Oval 21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83" name="Group 61"/>
                    <p:cNvGrpSpPr/>
                    <p:nvPr/>
                  </p:nvGrpSpPr>
                  <p:grpSpPr>
                    <a:xfrm>
                      <a:off x="914400" y="1447800"/>
                      <a:ext cx="2895600" cy="152400"/>
                      <a:chOff x="914400" y="1447800"/>
                      <a:chExt cx="2895600" cy="152400"/>
                    </a:xfrm>
                  </p:grpSpPr>
                  <p:grpSp>
                    <p:nvGrpSpPr>
                      <p:cNvPr id="184" name="Group 56"/>
                      <p:cNvGrpSpPr/>
                      <p:nvPr/>
                    </p:nvGrpSpPr>
                    <p:grpSpPr>
                      <a:xfrm>
                        <a:off x="914400" y="1447800"/>
                        <a:ext cx="1066800" cy="152400"/>
                        <a:chOff x="914400" y="1447800"/>
                        <a:chExt cx="1066800" cy="152400"/>
                      </a:xfrm>
                    </p:grpSpPr>
                    <p:sp>
                      <p:nvSpPr>
                        <p:cNvPr id="209" name="Oval 208"/>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0" name="Oval 209"/>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5" name="Group 57"/>
                      <p:cNvGrpSpPr/>
                      <p:nvPr/>
                    </p:nvGrpSpPr>
                    <p:grpSpPr>
                      <a:xfrm>
                        <a:off x="2743200" y="1447800"/>
                        <a:ext cx="1066800" cy="152400"/>
                        <a:chOff x="914400" y="1447800"/>
                        <a:chExt cx="1066800" cy="152400"/>
                      </a:xfrm>
                    </p:grpSpPr>
                    <p:sp>
                      <p:nvSpPr>
                        <p:cNvPr id="207" name="Oval 206"/>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8" name="Oval 207"/>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nvGrpSpPr>
                  <p:cNvPr id="186" name="Group 69"/>
                  <p:cNvGrpSpPr/>
                  <p:nvPr/>
                </p:nvGrpSpPr>
                <p:grpSpPr>
                  <a:xfrm>
                    <a:off x="914400" y="3276600"/>
                    <a:ext cx="2895600" cy="1066800"/>
                    <a:chOff x="914400" y="1447800"/>
                    <a:chExt cx="2895600" cy="1066800"/>
                  </a:xfrm>
                </p:grpSpPr>
                <p:grpSp>
                  <p:nvGrpSpPr>
                    <p:cNvPr id="187" name="Group 60"/>
                    <p:cNvGrpSpPr/>
                    <p:nvPr/>
                  </p:nvGrpSpPr>
                  <p:grpSpPr>
                    <a:xfrm>
                      <a:off x="914400" y="2362200"/>
                      <a:ext cx="2895600" cy="152400"/>
                      <a:chOff x="914400" y="1447800"/>
                      <a:chExt cx="2895600" cy="152400"/>
                    </a:xfrm>
                  </p:grpSpPr>
                  <p:grpSp>
                    <p:nvGrpSpPr>
                      <p:cNvPr id="188" name="Group 56"/>
                      <p:cNvGrpSpPr/>
                      <p:nvPr/>
                    </p:nvGrpSpPr>
                    <p:grpSpPr>
                      <a:xfrm>
                        <a:off x="914400" y="1447800"/>
                        <a:ext cx="1066800" cy="152400"/>
                        <a:chOff x="914400" y="1447800"/>
                        <a:chExt cx="1066800" cy="152400"/>
                      </a:xfrm>
                    </p:grpSpPr>
                    <p:sp>
                      <p:nvSpPr>
                        <p:cNvPr id="201" name="Oval 200"/>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2" name="Oval 201"/>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9" name="Group 57"/>
                      <p:cNvGrpSpPr/>
                      <p:nvPr/>
                    </p:nvGrpSpPr>
                    <p:grpSpPr>
                      <a:xfrm>
                        <a:off x="2743200" y="1447800"/>
                        <a:ext cx="1066800" cy="152400"/>
                        <a:chOff x="914400" y="1447800"/>
                        <a:chExt cx="1066800" cy="152400"/>
                      </a:xfrm>
                    </p:grpSpPr>
                    <p:sp>
                      <p:nvSpPr>
                        <p:cNvPr id="199" name="Oval 198"/>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0" name="Oval 199"/>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90" name="Group 61"/>
                    <p:cNvGrpSpPr/>
                    <p:nvPr/>
                  </p:nvGrpSpPr>
                  <p:grpSpPr>
                    <a:xfrm>
                      <a:off x="914400" y="1447800"/>
                      <a:ext cx="2895600" cy="152400"/>
                      <a:chOff x="914400" y="1447800"/>
                      <a:chExt cx="2895600" cy="152400"/>
                    </a:xfrm>
                  </p:grpSpPr>
                  <p:grpSp>
                    <p:nvGrpSpPr>
                      <p:cNvPr id="191" name="Group 56"/>
                      <p:cNvGrpSpPr/>
                      <p:nvPr/>
                    </p:nvGrpSpPr>
                    <p:grpSpPr>
                      <a:xfrm>
                        <a:off x="914400" y="1447800"/>
                        <a:ext cx="1066800" cy="152400"/>
                        <a:chOff x="914400" y="1447800"/>
                        <a:chExt cx="1066800" cy="152400"/>
                      </a:xfrm>
                    </p:grpSpPr>
                    <p:sp>
                      <p:nvSpPr>
                        <p:cNvPr id="195" name="Oval 194"/>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6" name="Oval 195"/>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92" name="Group 57"/>
                      <p:cNvGrpSpPr/>
                      <p:nvPr/>
                    </p:nvGrpSpPr>
                    <p:grpSpPr>
                      <a:xfrm>
                        <a:off x="2743200" y="1447800"/>
                        <a:ext cx="1066800" cy="152400"/>
                        <a:chOff x="914400" y="1447800"/>
                        <a:chExt cx="1066800" cy="152400"/>
                      </a:xfrm>
                    </p:grpSpPr>
                    <p:sp>
                      <p:nvSpPr>
                        <p:cNvPr id="193" name="Oval 19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 name="Oval 19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grpSp>
        </p:grpSp>
      </p:grpSp>
      <p:sp>
        <p:nvSpPr>
          <p:cNvPr id="565" name="TextBox 564"/>
          <p:cNvSpPr txBox="1"/>
          <p:nvPr/>
        </p:nvSpPr>
        <p:spPr>
          <a:xfrm>
            <a:off x="609600" y="4343400"/>
            <a:ext cx="1981200" cy="369332"/>
          </a:xfrm>
          <a:prstGeom prst="rect">
            <a:avLst/>
          </a:prstGeom>
          <a:noFill/>
        </p:spPr>
        <p:txBody>
          <a:bodyPr wrap="square" rtlCol="0">
            <a:spAutoFit/>
          </a:bodyPr>
          <a:lstStyle/>
          <a:p>
            <a:r>
              <a:rPr lang="en-US" dirty="0" smtClean="0">
                <a:solidFill>
                  <a:srgbClr val="0824F2"/>
                </a:solidFill>
              </a:rPr>
              <a:t>1   2   3   4 …</a:t>
            </a:r>
            <a:endParaRPr lang="en-US" dirty="0">
              <a:solidFill>
                <a:srgbClr val="0824F2"/>
              </a:solidFill>
            </a:endParaRPr>
          </a:p>
        </p:txBody>
      </p:sp>
      <p:sp>
        <p:nvSpPr>
          <p:cNvPr id="566" name="TextBox 565"/>
          <p:cNvSpPr txBox="1"/>
          <p:nvPr/>
        </p:nvSpPr>
        <p:spPr>
          <a:xfrm>
            <a:off x="8305800" y="4355068"/>
            <a:ext cx="838200" cy="369332"/>
          </a:xfrm>
          <a:prstGeom prst="rect">
            <a:avLst/>
          </a:prstGeom>
          <a:noFill/>
        </p:spPr>
        <p:txBody>
          <a:bodyPr wrap="square" rtlCol="0">
            <a:spAutoFit/>
          </a:bodyPr>
          <a:lstStyle/>
          <a:p>
            <a:r>
              <a:rPr lang="en-US" dirty="0" smtClean="0">
                <a:solidFill>
                  <a:srgbClr val="0824F2"/>
                </a:solidFill>
              </a:rPr>
              <a:t> … 32</a:t>
            </a:r>
            <a:endParaRPr lang="en-US" dirty="0">
              <a:solidFill>
                <a:srgbClr val="0824F2"/>
              </a:solidFill>
            </a:endParaRPr>
          </a:p>
        </p:txBody>
      </p:sp>
      <p:sp>
        <p:nvSpPr>
          <p:cNvPr id="567" name="TextBox 566"/>
          <p:cNvSpPr txBox="1"/>
          <p:nvPr/>
        </p:nvSpPr>
        <p:spPr>
          <a:xfrm>
            <a:off x="304800" y="3886200"/>
            <a:ext cx="381000" cy="369332"/>
          </a:xfrm>
          <a:prstGeom prst="rect">
            <a:avLst/>
          </a:prstGeom>
          <a:noFill/>
        </p:spPr>
        <p:txBody>
          <a:bodyPr wrap="square" rtlCol="0">
            <a:spAutoFit/>
          </a:bodyPr>
          <a:lstStyle/>
          <a:p>
            <a:r>
              <a:rPr lang="en-US" dirty="0" smtClean="0">
                <a:solidFill>
                  <a:srgbClr val="0824F2"/>
                </a:solidFill>
              </a:rPr>
              <a:t>x</a:t>
            </a:r>
            <a:endParaRPr lang="en-US" dirty="0">
              <a:solidFill>
                <a:srgbClr val="0824F2"/>
              </a:solidFill>
            </a:endParaRPr>
          </a:p>
        </p:txBody>
      </p:sp>
      <p:sp>
        <p:nvSpPr>
          <p:cNvPr id="568" name="TextBox 567"/>
          <p:cNvSpPr txBox="1"/>
          <p:nvPr/>
        </p:nvSpPr>
        <p:spPr>
          <a:xfrm>
            <a:off x="152400" y="3516868"/>
            <a:ext cx="609600" cy="369332"/>
          </a:xfrm>
          <a:prstGeom prst="rect">
            <a:avLst/>
          </a:prstGeom>
          <a:noFill/>
        </p:spPr>
        <p:txBody>
          <a:bodyPr wrap="square" rtlCol="0">
            <a:spAutoFit/>
          </a:bodyPr>
          <a:lstStyle/>
          <a:p>
            <a:r>
              <a:rPr lang="en-US" dirty="0" err="1" smtClean="0">
                <a:solidFill>
                  <a:srgbClr val="0824F2"/>
                </a:solidFill>
              </a:rPr>
              <a:t>A·x</a:t>
            </a:r>
            <a:endParaRPr lang="en-US" dirty="0">
              <a:solidFill>
                <a:srgbClr val="0824F2"/>
              </a:solidFill>
            </a:endParaRPr>
          </a:p>
        </p:txBody>
      </p:sp>
      <p:sp>
        <p:nvSpPr>
          <p:cNvPr id="569" name="TextBox 568"/>
          <p:cNvSpPr txBox="1"/>
          <p:nvPr/>
        </p:nvSpPr>
        <p:spPr>
          <a:xfrm>
            <a:off x="152400" y="3124200"/>
            <a:ext cx="609600" cy="369332"/>
          </a:xfrm>
          <a:prstGeom prst="rect">
            <a:avLst/>
          </a:prstGeom>
          <a:noFill/>
        </p:spPr>
        <p:txBody>
          <a:bodyPr wrap="square" rtlCol="0">
            <a:spAutoFit/>
          </a:bodyPr>
          <a:lstStyle/>
          <a:p>
            <a:r>
              <a:rPr lang="en-US" dirty="0" smtClean="0">
                <a:solidFill>
                  <a:srgbClr val="0824F2"/>
                </a:solidFill>
              </a:rPr>
              <a:t>A</a:t>
            </a:r>
            <a:r>
              <a:rPr lang="en-US" sz="2000" b="1" baseline="30000" dirty="0" smtClean="0">
                <a:solidFill>
                  <a:srgbClr val="0824F2"/>
                </a:solidFill>
              </a:rPr>
              <a:t>2</a:t>
            </a:r>
            <a:r>
              <a:rPr lang="en-US" dirty="0" smtClean="0">
                <a:solidFill>
                  <a:srgbClr val="0824F2"/>
                </a:solidFill>
              </a:rPr>
              <a:t>·x</a:t>
            </a:r>
            <a:endParaRPr lang="en-US" dirty="0">
              <a:solidFill>
                <a:srgbClr val="0824F2"/>
              </a:solidFill>
            </a:endParaRPr>
          </a:p>
        </p:txBody>
      </p:sp>
      <p:sp>
        <p:nvSpPr>
          <p:cNvPr id="570" name="TextBox 569"/>
          <p:cNvSpPr txBox="1"/>
          <p:nvPr/>
        </p:nvSpPr>
        <p:spPr>
          <a:xfrm>
            <a:off x="152400" y="2743200"/>
            <a:ext cx="609600" cy="369332"/>
          </a:xfrm>
          <a:prstGeom prst="rect">
            <a:avLst/>
          </a:prstGeom>
          <a:noFill/>
        </p:spPr>
        <p:txBody>
          <a:bodyPr wrap="square" rtlCol="0">
            <a:spAutoFit/>
          </a:bodyPr>
          <a:lstStyle/>
          <a:p>
            <a:r>
              <a:rPr lang="en-US" dirty="0" smtClean="0">
                <a:solidFill>
                  <a:srgbClr val="0824F2"/>
                </a:solidFill>
              </a:rPr>
              <a:t>A</a:t>
            </a:r>
            <a:r>
              <a:rPr lang="en-US" sz="2000" b="1" baseline="30000" dirty="0" smtClean="0">
                <a:solidFill>
                  <a:srgbClr val="0824F2"/>
                </a:solidFill>
              </a:rPr>
              <a:t>3</a:t>
            </a:r>
            <a:r>
              <a:rPr lang="en-US" dirty="0" smtClean="0">
                <a:solidFill>
                  <a:srgbClr val="0824F2"/>
                </a:solidFill>
              </a:rPr>
              <a:t>·x</a:t>
            </a:r>
            <a:endParaRPr lang="en-US" dirty="0">
              <a:solidFill>
                <a:srgbClr val="0824F2"/>
              </a:solidFill>
            </a:endParaRPr>
          </a:p>
        </p:txBody>
      </p:sp>
      <p:sp>
        <p:nvSpPr>
          <p:cNvPr id="522" name="Title 1"/>
          <p:cNvSpPr txBox="1">
            <a:spLocks/>
          </p:cNvSpPr>
          <p:nvPr/>
        </p:nvSpPr>
        <p:spPr>
          <a:xfrm>
            <a:off x="457200" y="274638"/>
            <a:ext cx="8229600" cy="1143000"/>
          </a:xfrm>
          <a:prstGeom prst="rect">
            <a:avLst/>
          </a:prstGeom>
        </p:spPr>
        <p:txBody>
          <a:bodyPr rtlCol="0">
            <a:noAutofit/>
          </a:bodyPr>
          <a:lstStyle/>
          <a:p>
            <a:pPr lvl="0" algn="ctr">
              <a:spcBef>
                <a:spcPct val="0"/>
              </a:spcBef>
              <a:defRPr/>
            </a:pPr>
            <a:r>
              <a:rPr kumimoji="0" lang="en-US" sz="3600" b="0" i="0" u="none" strike="noStrike" kern="1200" cap="none" spc="0" normalizeH="0" baseline="0" noProof="0" dirty="0" smtClean="0">
                <a:ln>
                  <a:noFill/>
                </a:ln>
                <a:solidFill>
                  <a:schemeClr val="tx1"/>
                </a:solidFill>
                <a:effectLst/>
                <a:uLnTx/>
                <a:uFillTx/>
                <a:latin typeface="+mj-lt"/>
                <a:ea typeface="+mj-ea"/>
                <a:cs typeface="+mj-cs"/>
              </a:rPr>
              <a:t>Communication Avoiding Kernels:</a:t>
            </a:r>
            <a:br>
              <a:rPr kumimoji="0" lang="en-US" sz="3600" b="0" i="0" u="none" strike="noStrike" kern="1200" cap="none" spc="0" normalizeH="0" baseline="0" noProof="0" dirty="0" smtClean="0">
                <a:ln>
                  <a:noFill/>
                </a:ln>
                <a:solidFill>
                  <a:schemeClr val="tx1"/>
                </a:solidFill>
                <a:effectLst/>
                <a:uLnTx/>
                <a:uFillTx/>
                <a:latin typeface="+mj-lt"/>
                <a:ea typeface="+mj-ea"/>
                <a:cs typeface="+mj-cs"/>
              </a:rPr>
            </a:br>
            <a:r>
              <a:rPr kumimoji="0" lang="en-US" sz="2800" b="0" i="0" u="none" strike="noStrike" kern="1200" cap="none" spc="0" normalizeH="0" baseline="0" noProof="0" dirty="0" smtClean="0">
                <a:ln>
                  <a:noFill/>
                </a:ln>
                <a:solidFill>
                  <a:schemeClr val="tx1"/>
                </a:solidFill>
                <a:effectLst/>
                <a:uLnTx/>
                <a:uFillTx/>
                <a:latin typeface="+mj-lt"/>
                <a:ea typeface="+mj-ea"/>
                <a:cs typeface="+mj-cs"/>
              </a:rPr>
              <a:t>The Matrix Powers Kernel</a:t>
            </a:r>
            <a:r>
              <a:rPr lang="en-US" sz="2800" dirty="0" smtClean="0"/>
              <a:t> :</a:t>
            </a:r>
            <a:r>
              <a:rPr lang="en-US" sz="2800" dirty="0" smtClean="0">
                <a:sym typeface="Symbol"/>
              </a:rPr>
              <a:t> [</a:t>
            </a:r>
            <a:r>
              <a:rPr lang="en-US" sz="2800" dirty="0" smtClean="0"/>
              <a:t>Ax, A</a:t>
            </a:r>
            <a:r>
              <a:rPr lang="en-US" sz="2800" baseline="40000" dirty="0" smtClean="0"/>
              <a:t>2</a:t>
            </a:r>
            <a:r>
              <a:rPr lang="en-US" sz="2800" dirty="0" smtClean="0"/>
              <a:t>x, …, </a:t>
            </a:r>
            <a:r>
              <a:rPr lang="en-US" sz="2800" dirty="0" err="1" smtClean="0"/>
              <a:t>A</a:t>
            </a:r>
            <a:r>
              <a:rPr lang="en-US" sz="2800" baseline="40000" dirty="0" err="1" smtClean="0"/>
              <a:t>k</a:t>
            </a:r>
            <a:r>
              <a:rPr lang="en-US" sz="2800" dirty="0" err="1" smtClean="0"/>
              <a:t>x</a:t>
            </a:r>
            <a:r>
              <a:rPr lang="en-US" sz="2800" dirty="0" smtClean="0"/>
              <a:t>] </a:t>
            </a:r>
            <a:endParaRPr kumimoji="0" lang="en-US" sz="2800" b="0" i="0" u="none" strike="noStrike" kern="1200" cap="none" spc="0" normalizeH="0" baseline="0" noProof="0" dirty="0">
              <a:ln>
                <a:noFill/>
              </a:ln>
              <a:solidFill>
                <a:schemeClr val="tx1"/>
              </a:solidFill>
              <a:effectLst/>
              <a:uLnTx/>
              <a:uFillTx/>
              <a:latin typeface="+mj-lt"/>
              <a:ea typeface="+mj-ea"/>
              <a:cs typeface="+mj-cs"/>
            </a:endParaRPr>
          </a:p>
        </p:txBody>
      </p:sp>
      <p:cxnSp>
        <p:nvCxnSpPr>
          <p:cNvPr id="523" name="Straight Connector 522"/>
          <p:cNvCxnSpPr/>
          <p:nvPr/>
        </p:nvCxnSpPr>
        <p:spPr>
          <a:xfrm>
            <a:off x="228600" y="1371600"/>
            <a:ext cx="8305800" cy="0"/>
          </a:xfrm>
          <a:prstGeom prst="line">
            <a:avLst/>
          </a:prstGeom>
        </p:spPr>
        <p:style>
          <a:lnRef idx="1">
            <a:schemeClr val="accent1"/>
          </a:lnRef>
          <a:fillRef idx="0">
            <a:schemeClr val="accent1"/>
          </a:fillRef>
          <a:effectRef idx="0">
            <a:schemeClr val="accent1"/>
          </a:effectRef>
          <a:fontRef idx="minor">
            <a:schemeClr val="tx1"/>
          </a:fontRef>
        </p:style>
      </p:cxnSp>
      <p:sp>
        <p:nvSpPr>
          <p:cNvPr id="524" name="Content Placeholder 2"/>
          <p:cNvSpPr txBox="1">
            <a:spLocks/>
          </p:cNvSpPr>
          <p:nvPr/>
        </p:nvSpPr>
        <p:spPr>
          <a:xfrm>
            <a:off x="228600" y="1447800"/>
            <a:ext cx="8915400" cy="4525963"/>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Replace k iterations of y = </a:t>
            </a:r>
            <a:r>
              <a:rPr kumimoji="0" lang="en-US" sz="3200" b="0" i="0" u="none" strike="noStrike" kern="1200" cap="none" spc="0" normalizeH="0" baseline="0" noProof="0" dirty="0" err="1" smtClean="0">
                <a:ln>
                  <a:noFill/>
                </a:ln>
                <a:solidFill>
                  <a:schemeClr val="tx1"/>
                </a:solidFill>
                <a:effectLst/>
                <a:uLnTx/>
                <a:uFillTx/>
                <a:latin typeface="+mn-lt"/>
                <a:ea typeface="+mn-ea"/>
                <a:cs typeface="+mn-cs"/>
              </a:rPr>
              <a:t>A</a:t>
            </a:r>
            <a:r>
              <a:rPr kumimoji="0" lang="en-US" sz="3200" b="0" i="0" u="none" strike="noStrike" kern="1200" cap="none" spc="0" normalizeH="0" baseline="0" noProof="0" dirty="0" err="1" smtClean="0">
                <a:ln>
                  <a:noFill/>
                </a:ln>
                <a:solidFill>
                  <a:schemeClr val="tx1"/>
                </a:solidFill>
                <a:effectLst/>
                <a:uLnTx/>
                <a:uFillTx/>
                <a:latin typeface="+mn-lt"/>
                <a:ea typeface="+mn-ea"/>
                <a:cs typeface="+mn-cs"/>
                <a:sym typeface="Symbol"/>
              </a:rPr>
              <a:t>x</a:t>
            </a:r>
            <a:r>
              <a:rPr kumimoji="0" lang="en-US" sz="3200" b="0" i="0" u="none" strike="noStrike" kern="1200" cap="none" spc="0" normalizeH="0" baseline="0" noProof="0" dirty="0" smtClean="0">
                <a:ln>
                  <a:noFill/>
                </a:ln>
                <a:solidFill>
                  <a:schemeClr val="tx1"/>
                </a:solidFill>
                <a:effectLst/>
                <a:uLnTx/>
                <a:uFillTx/>
                <a:latin typeface="+mn-lt"/>
                <a:ea typeface="+mn-ea"/>
                <a:cs typeface="+mn-cs"/>
                <a:sym typeface="Symbol"/>
              </a:rPr>
              <a:t> with [</a:t>
            </a:r>
            <a:r>
              <a:rPr kumimoji="0" lang="en-US" sz="3200" b="0" i="0" u="none" strike="noStrike" kern="1200" cap="none" spc="0" normalizeH="0" baseline="0" noProof="0" dirty="0" smtClean="0">
                <a:ln>
                  <a:noFill/>
                </a:ln>
                <a:solidFill>
                  <a:schemeClr val="tx1"/>
                </a:solidFill>
                <a:effectLst/>
                <a:uLnTx/>
                <a:uFillTx/>
                <a:latin typeface="+mn-lt"/>
                <a:ea typeface="+mn-ea"/>
                <a:cs typeface="+mn-cs"/>
              </a:rPr>
              <a:t>Ax, A</a:t>
            </a:r>
            <a:r>
              <a:rPr kumimoji="0" lang="en-US" sz="3200" b="0" i="0" u="none" strike="noStrike" kern="1200" cap="none" spc="0" normalizeH="0" baseline="40000" noProof="0" dirty="0" smtClean="0">
                <a:ln>
                  <a:noFill/>
                </a:ln>
                <a:solidFill>
                  <a:schemeClr val="tx1"/>
                </a:solidFill>
                <a:effectLst/>
                <a:uLnTx/>
                <a:uFillTx/>
                <a:latin typeface="+mn-lt"/>
                <a:ea typeface="+mn-ea"/>
                <a:cs typeface="+mn-cs"/>
              </a:rPr>
              <a:t>2</a:t>
            </a:r>
            <a:r>
              <a:rPr kumimoji="0" lang="en-US" sz="3200" b="0" i="0" u="none" strike="noStrike" kern="1200" cap="none" spc="0" normalizeH="0" baseline="0" noProof="0" dirty="0" smtClean="0">
                <a:ln>
                  <a:noFill/>
                </a:ln>
                <a:solidFill>
                  <a:schemeClr val="tx1"/>
                </a:solidFill>
                <a:effectLst/>
                <a:uLnTx/>
                <a:uFillTx/>
                <a:latin typeface="+mn-lt"/>
                <a:ea typeface="+mn-ea"/>
                <a:cs typeface="+mn-cs"/>
              </a:rPr>
              <a:t>x, …, </a:t>
            </a:r>
            <a:r>
              <a:rPr kumimoji="0" lang="en-US" sz="3200" b="0" i="0" u="none" strike="noStrike" kern="1200" cap="none" spc="0" normalizeH="0" baseline="0" noProof="0" dirty="0" err="1" smtClean="0">
                <a:ln>
                  <a:noFill/>
                </a:ln>
                <a:solidFill>
                  <a:schemeClr val="tx1"/>
                </a:solidFill>
                <a:effectLst/>
                <a:uLnTx/>
                <a:uFillTx/>
                <a:latin typeface="+mn-lt"/>
                <a:ea typeface="+mn-ea"/>
                <a:cs typeface="+mn-cs"/>
              </a:rPr>
              <a:t>A</a:t>
            </a:r>
            <a:r>
              <a:rPr kumimoji="0" lang="en-US" sz="3200" b="0" i="0" u="none" strike="noStrike" kern="1200" cap="none" spc="0" normalizeH="0" baseline="40000" noProof="0" dirty="0" err="1" smtClean="0">
                <a:ln>
                  <a:noFill/>
                </a:ln>
                <a:solidFill>
                  <a:schemeClr val="tx1"/>
                </a:solidFill>
                <a:effectLst/>
                <a:uLnTx/>
                <a:uFillTx/>
                <a:latin typeface="+mn-lt"/>
                <a:ea typeface="+mn-ea"/>
                <a:cs typeface="+mn-cs"/>
              </a:rPr>
              <a:t>k</a:t>
            </a:r>
            <a:r>
              <a:rPr kumimoji="0" lang="en-US" sz="3200" b="0" i="0" u="none" strike="noStrike" kern="1200" cap="none" spc="0" normalizeH="0" baseline="0" noProof="0" dirty="0" err="1" smtClean="0">
                <a:ln>
                  <a:noFill/>
                </a:ln>
                <a:solidFill>
                  <a:schemeClr val="tx1"/>
                </a:solidFill>
                <a:effectLst/>
                <a:uLnTx/>
                <a:uFillTx/>
                <a:latin typeface="+mn-lt"/>
                <a:ea typeface="+mn-ea"/>
                <a:cs typeface="+mn-cs"/>
              </a:rPr>
              <a:t>x</a:t>
            </a:r>
            <a:r>
              <a:rPr kumimoji="0" lang="en-US" sz="3200" b="0" i="0" u="none" strike="noStrike" kern="1200" cap="none" spc="0" normalizeH="0" baseline="0" noProof="0" dirty="0" smtClean="0">
                <a:ln>
                  <a:noFill/>
                </a:ln>
                <a:solidFill>
                  <a:schemeClr val="tx1"/>
                </a:solidFill>
                <a:effectLst/>
                <a:uLnTx/>
                <a:uFillTx/>
                <a:latin typeface="+mn-lt"/>
                <a:ea typeface="+mn-ea"/>
                <a:cs typeface="+mn-cs"/>
              </a:rPr>
              <a:t>] </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en-US" sz="3200" dirty="0" smtClean="0"/>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en-US" sz="3200" dirty="0" smtClean="0"/>
          </a:p>
          <a:p>
            <a:pPr marL="342900" marR="0" lvl="0" indent="-342900" algn="l" defTabSz="914400" rtl="0" eaLnBrk="1" fontAlgn="auto" latinLnBrk="0" hangingPunct="1">
              <a:lnSpc>
                <a:spcPct val="100000"/>
              </a:lnSpc>
              <a:spcBef>
                <a:spcPct val="20000"/>
              </a:spcBef>
              <a:spcAft>
                <a:spcPts val="0"/>
              </a:spcAft>
              <a:buClrTx/>
              <a:buSzTx/>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Example: A </a:t>
            </a:r>
            <a:r>
              <a:rPr kumimoji="0" lang="en-US" sz="3200" b="0" i="0" u="none" strike="noStrike" kern="1200" cap="none" spc="0" normalizeH="0" baseline="0" noProof="0" dirty="0" err="1" smtClean="0">
                <a:ln>
                  <a:noFill/>
                </a:ln>
                <a:solidFill>
                  <a:schemeClr val="tx1"/>
                </a:solidFill>
                <a:effectLst/>
                <a:uLnTx/>
                <a:uFillTx/>
                <a:latin typeface="+mn-lt"/>
                <a:ea typeface="+mn-ea"/>
                <a:cs typeface="+mn-cs"/>
              </a:rPr>
              <a:t>tridiagonal</a:t>
            </a:r>
            <a:r>
              <a:rPr kumimoji="0" lang="en-US" sz="3200" b="0" i="0" u="none" strike="noStrike" kern="1200" cap="none" spc="0" normalizeH="0" baseline="0" noProof="0" dirty="0" smtClean="0">
                <a:ln>
                  <a:noFill/>
                </a:ln>
                <a:solidFill>
                  <a:schemeClr val="tx1"/>
                </a:solidFill>
                <a:effectLst/>
                <a:uLnTx/>
                <a:uFillTx/>
                <a:latin typeface="+mn-lt"/>
                <a:ea typeface="+mn-ea"/>
                <a:cs typeface="+mn-cs"/>
              </a:rPr>
              <a:t>, n=32, k=3</a:t>
            </a:r>
          </a:p>
        </p:txBody>
      </p:sp>
    </p:spTree>
  </p:cSld>
  <p:clrMapOvr>
    <a:masterClrMapping/>
  </p:clrMapOvr>
  <p:timing>
    <p:tnLst>
      <p:par>
        <p:cTn xmlns:p14="http://schemas.microsoft.com/office/powerpoint/2010/mai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 name="Right Triangle 521"/>
          <p:cNvSpPr/>
          <p:nvPr/>
        </p:nvSpPr>
        <p:spPr>
          <a:xfrm>
            <a:off x="1905000" y="2895600"/>
            <a:ext cx="838200" cy="1219200"/>
          </a:xfrm>
          <a:prstGeom prst="rtTriangle">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1" name="Rectangle 520"/>
          <p:cNvSpPr/>
          <p:nvPr/>
        </p:nvSpPr>
        <p:spPr>
          <a:xfrm>
            <a:off x="762000" y="2895600"/>
            <a:ext cx="1143000" cy="1219200"/>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 308"/>
          <p:cNvGrpSpPr/>
          <p:nvPr/>
        </p:nvGrpSpPr>
        <p:grpSpPr>
          <a:xfrm>
            <a:off x="762000" y="2895600"/>
            <a:ext cx="8077200" cy="1219200"/>
            <a:chOff x="-9144000" y="1447800"/>
            <a:chExt cx="28498800" cy="2895600"/>
          </a:xfrm>
        </p:grpSpPr>
        <p:grpSp>
          <p:nvGrpSpPr>
            <p:cNvPr id="3" name="Group 180"/>
            <p:cNvGrpSpPr/>
            <p:nvPr/>
          </p:nvGrpSpPr>
          <p:grpSpPr>
            <a:xfrm>
              <a:off x="-9144000" y="1447800"/>
              <a:ext cx="13868400" cy="2895600"/>
              <a:chOff x="914400" y="1447800"/>
              <a:chExt cx="13868400" cy="2895600"/>
            </a:xfrm>
          </p:grpSpPr>
          <p:grpSp>
            <p:nvGrpSpPr>
              <p:cNvPr id="4" name="Group 116"/>
              <p:cNvGrpSpPr/>
              <p:nvPr/>
            </p:nvGrpSpPr>
            <p:grpSpPr>
              <a:xfrm>
                <a:off x="914400" y="1447800"/>
                <a:ext cx="6553200" cy="2895600"/>
                <a:chOff x="914400" y="1447800"/>
                <a:chExt cx="6553200" cy="2895600"/>
              </a:xfrm>
            </p:grpSpPr>
            <p:grpSp>
              <p:nvGrpSpPr>
                <p:cNvPr id="5" name="Group 84"/>
                <p:cNvGrpSpPr/>
                <p:nvPr/>
              </p:nvGrpSpPr>
              <p:grpSpPr>
                <a:xfrm>
                  <a:off x="914400" y="1447800"/>
                  <a:ext cx="2895600" cy="2895600"/>
                  <a:chOff x="914400" y="1447800"/>
                  <a:chExt cx="2895600" cy="2895600"/>
                </a:xfrm>
              </p:grpSpPr>
              <p:grpSp>
                <p:nvGrpSpPr>
                  <p:cNvPr id="6" name="Group 68"/>
                  <p:cNvGrpSpPr/>
                  <p:nvPr/>
                </p:nvGrpSpPr>
                <p:grpSpPr>
                  <a:xfrm>
                    <a:off x="914400" y="1447800"/>
                    <a:ext cx="2895600" cy="1066800"/>
                    <a:chOff x="914400" y="1447800"/>
                    <a:chExt cx="2895600" cy="1066800"/>
                  </a:xfrm>
                </p:grpSpPr>
                <p:grpSp>
                  <p:nvGrpSpPr>
                    <p:cNvPr id="7" name="Group 60"/>
                    <p:cNvGrpSpPr/>
                    <p:nvPr/>
                  </p:nvGrpSpPr>
                  <p:grpSpPr>
                    <a:xfrm>
                      <a:off x="914400" y="2362200"/>
                      <a:ext cx="2895600" cy="152400"/>
                      <a:chOff x="914400" y="1447800"/>
                      <a:chExt cx="2895600" cy="152400"/>
                    </a:xfrm>
                  </p:grpSpPr>
                  <p:grpSp>
                    <p:nvGrpSpPr>
                      <p:cNvPr id="8" name="Group 56"/>
                      <p:cNvGrpSpPr/>
                      <p:nvPr/>
                    </p:nvGrpSpPr>
                    <p:grpSpPr>
                      <a:xfrm>
                        <a:off x="914400" y="1447800"/>
                        <a:ext cx="1066800" cy="152400"/>
                        <a:chOff x="914400" y="1447800"/>
                        <a:chExt cx="1066800" cy="152400"/>
                      </a:xfrm>
                    </p:grpSpPr>
                    <p:sp>
                      <p:nvSpPr>
                        <p:cNvPr id="53" name="Oval 5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Oval 5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 name="Group 57"/>
                      <p:cNvGrpSpPr/>
                      <p:nvPr/>
                    </p:nvGrpSpPr>
                    <p:grpSpPr>
                      <a:xfrm>
                        <a:off x="2743200" y="1447800"/>
                        <a:ext cx="1066800" cy="152400"/>
                        <a:chOff x="914400" y="1447800"/>
                        <a:chExt cx="1066800" cy="152400"/>
                      </a:xfrm>
                    </p:grpSpPr>
                    <p:sp>
                      <p:nvSpPr>
                        <p:cNvPr id="59" name="Oval 58"/>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Oval 59"/>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0" name="Group 61"/>
                    <p:cNvGrpSpPr/>
                    <p:nvPr/>
                  </p:nvGrpSpPr>
                  <p:grpSpPr>
                    <a:xfrm>
                      <a:off x="914400" y="1447800"/>
                      <a:ext cx="2895600" cy="152400"/>
                      <a:chOff x="914400" y="1447800"/>
                      <a:chExt cx="2895600" cy="152400"/>
                    </a:xfrm>
                  </p:grpSpPr>
                  <p:grpSp>
                    <p:nvGrpSpPr>
                      <p:cNvPr id="11" name="Group 56"/>
                      <p:cNvGrpSpPr/>
                      <p:nvPr/>
                    </p:nvGrpSpPr>
                    <p:grpSpPr>
                      <a:xfrm>
                        <a:off x="914400" y="1447800"/>
                        <a:ext cx="1066800" cy="152400"/>
                        <a:chOff x="914400" y="1447800"/>
                        <a:chExt cx="1066800" cy="152400"/>
                      </a:xfrm>
                    </p:grpSpPr>
                    <p:sp>
                      <p:nvSpPr>
                        <p:cNvPr id="67" name="Oval 66"/>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Oval 67"/>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2" name="Group 57"/>
                      <p:cNvGrpSpPr/>
                      <p:nvPr/>
                    </p:nvGrpSpPr>
                    <p:grpSpPr>
                      <a:xfrm>
                        <a:off x="2743200" y="1447800"/>
                        <a:ext cx="1066800" cy="152400"/>
                        <a:chOff x="914400" y="1447800"/>
                        <a:chExt cx="1066800" cy="152400"/>
                      </a:xfrm>
                    </p:grpSpPr>
                    <p:sp>
                      <p:nvSpPr>
                        <p:cNvPr id="65" name="Oval 64"/>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Oval 65"/>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nvGrpSpPr>
                  <p:cNvPr id="13" name="Group 69"/>
                  <p:cNvGrpSpPr/>
                  <p:nvPr/>
                </p:nvGrpSpPr>
                <p:grpSpPr>
                  <a:xfrm>
                    <a:off x="914400" y="3276600"/>
                    <a:ext cx="2895600" cy="1066800"/>
                    <a:chOff x="914400" y="1447800"/>
                    <a:chExt cx="2895600" cy="1066800"/>
                  </a:xfrm>
                </p:grpSpPr>
                <p:grpSp>
                  <p:nvGrpSpPr>
                    <p:cNvPr id="14" name="Group 60"/>
                    <p:cNvGrpSpPr/>
                    <p:nvPr/>
                  </p:nvGrpSpPr>
                  <p:grpSpPr>
                    <a:xfrm>
                      <a:off x="914400" y="2362200"/>
                      <a:ext cx="2895600" cy="152400"/>
                      <a:chOff x="914400" y="1447800"/>
                      <a:chExt cx="2895600" cy="152400"/>
                    </a:xfrm>
                  </p:grpSpPr>
                  <p:grpSp>
                    <p:nvGrpSpPr>
                      <p:cNvPr id="15" name="Group 56"/>
                      <p:cNvGrpSpPr/>
                      <p:nvPr/>
                    </p:nvGrpSpPr>
                    <p:grpSpPr>
                      <a:xfrm>
                        <a:off x="914400" y="1447800"/>
                        <a:ext cx="1066800" cy="152400"/>
                        <a:chOff x="914400" y="1447800"/>
                        <a:chExt cx="1066800" cy="152400"/>
                      </a:xfrm>
                    </p:grpSpPr>
                    <p:sp>
                      <p:nvSpPr>
                        <p:cNvPr id="83" name="Oval 8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Oval 8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 name="Group 57"/>
                      <p:cNvGrpSpPr/>
                      <p:nvPr/>
                    </p:nvGrpSpPr>
                    <p:grpSpPr>
                      <a:xfrm>
                        <a:off x="2743200" y="1447800"/>
                        <a:ext cx="1066800" cy="152400"/>
                        <a:chOff x="914400" y="1447800"/>
                        <a:chExt cx="1066800" cy="152400"/>
                      </a:xfrm>
                    </p:grpSpPr>
                    <p:sp>
                      <p:nvSpPr>
                        <p:cNvPr id="81" name="Oval 80"/>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Oval 81"/>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7" name="Group 61"/>
                    <p:cNvGrpSpPr/>
                    <p:nvPr/>
                  </p:nvGrpSpPr>
                  <p:grpSpPr>
                    <a:xfrm>
                      <a:off x="914400" y="1447800"/>
                      <a:ext cx="2895600" cy="152400"/>
                      <a:chOff x="914400" y="1447800"/>
                      <a:chExt cx="2895600" cy="152400"/>
                    </a:xfrm>
                  </p:grpSpPr>
                  <p:grpSp>
                    <p:nvGrpSpPr>
                      <p:cNvPr id="18" name="Group 56"/>
                      <p:cNvGrpSpPr/>
                      <p:nvPr/>
                    </p:nvGrpSpPr>
                    <p:grpSpPr>
                      <a:xfrm>
                        <a:off x="914400" y="1447800"/>
                        <a:ext cx="1066800" cy="152400"/>
                        <a:chOff x="914400" y="1447800"/>
                        <a:chExt cx="1066800" cy="152400"/>
                      </a:xfrm>
                    </p:grpSpPr>
                    <p:sp>
                      <p:nvSpPr>
                        <p:cNvPr id="77" name="Oval 76"/>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Oval 77"/>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9" name="Group 57"/>
                      <p:cNvGrpSpPr/>
                      <p:nvPr/>
                    </p:nvGrpSpPr>
                    <p:grpSpPr>
                      <a:xfrm>
                        <a:off x="2743200" y="1447800"/>
                        <a:ext cx="1066800" cy="152400"/>
                        <a:chOff x="914400" y="1447800"/>
                        <a:chExt cx="1066800" cy="152400"/>
                      </a:xfrm>
                    </p:grpSpPr>
                    <p:sp>
                      <p:nvSpPr>
                        <p:cNvPr id="75" name="Oval 74"/>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Oval 75"/>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grpSp>
              <p:nvGrpSpPr>
                <p:cNvPr id="20" name="Group 85"/>
                <p:cNvGrpSpPr/>
                <p:nvPr/>
              </p:nvGrpSpPr>
              <p:grpSpPr>
                <a:xfrm>
                  <a:off x="4572000" y="1447800"/>
                  <a:ext cx="2895600" cy="2895600"/>
                  <a:chOff x="914400" y="1447800"/>
                  <a:chExt cx="2895600" cy="2895600"/>
                </a:xfrm>
              </p:grpSpPr>
              <p:grpSp>
                <p:nvGrpSpPr>
                  <p:cNvPr id="21" name="Group 68"/>
                  <p:cNvGrpSpPr/>
                  <p:nvPr/>
                </p:nvGrpSpPr>
                <p:grpSpPr>
                  <a:xfrm>
                    <a:off x="914400" y="1447800"/>
                    <a:ext cx="2895600" cy="1066800"/>
                    <a:chOff x="914400" y="1447800"/>
                    <a:chExt cx="2895600" cy="1066800"/>
                  </a:xfrm>
                </p:grpSpPr>
                <p:grpSp>
                  <p:nvGrpSpPr>
                    <p:cNvPr id="22" name="Group 60"/>
                    <p:cNvGrpSpPr/>
                    <p:nvPr/>
                  </p:nvGrpSpPr>
                  <p:grpSpPr>
                    <a:xfrm>
                      <a:off x="914400" y="2362200"/>
                      <a:ext cx="2895600" cy="152400"/>
                      <a:chOff x="914400" y="1447800"/>
                      <a:chExt cx="2895600" cy="152400"/>
                    </a:xfrm>
                  </p:grpSpPr>
                  <p:grpSp>
                    <p:nvGrpSpPr>
                      <p:cNvPr id="23" name="Group 56"/>
                      <p:cNvGrpSpPr/>
                      <p:nvPr/>
                    </p:nvGrpSpPr>
                    <p:grpSpPr>
                      <a:xfrm>
                        <a:off x="914400" y="1447800"/>
                        <a:ext cx="1066800" cy="152400"/>
                        <a:chOff x="914400" y="1447800"/>
                        <a:chExt cx="1066800" cy="152400"/>
                      </a:xfrm>
                    </p:grpSpPr>
                    <p:sp>
                      <p:nvSpPr>
                        <p:cNvPr id="115" name="Oval 114"/>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 name="Oval 115"/>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4" name="Group 57"/>
                      <p:cNvGrpSpPr/>
                      <p:nvPr/>
                    </p:nvGrpSpPr>
                    <p:grpSpPr>
                      <a:xfrm>
                        <a:off x="2743200" y="1447800"/>
                        <a:ext cx="1066800" cy="152400"/>
                        <a:chOff x="914400" y="1447800"/>
                        <a:chExt cx="1066800" cy="152400"/>
                      </a:xfrm>
                    </p:grpSpPr>
                    <p:sp>
                      <p:nvSpPr>
                        <p:cNvPr id="113" name="Oval 11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Oval 11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25" name="Group 61"/>
                    <p:cNvGrpSpPr/>
                    <p:nvPr/>
                  </p:nvGrpSpPr>
                  <p:grpSpPr>
                    <a:xfrm>
                      <a:off x="914400" y="1447800"/>
                      <a:ext cx="2895600" cy="152400"/>
                      <a:chOff x="914400" y="1447800"/>
                      <a:chExt cx="2895600" cy="152400"/>
                    </a:xfrm>
                  </p:grpSpPr>
                  <p:grpSp>
                    <p:nvGrpSpPr>
                      <p:cNvPr id="26" name="Group 56"/>
                      <p:cNvGrpSpPr/>
                      <p:nvPr/>
                    </p:nvGrpSpPr>
                    <p:grpSpPr>
                      <a:xfrm>
                        <a:off x="914400" y="1447800"/>
                        <a:ext cx="1066800" cy="152400"/>
                        <a:chOff x="914400" y="1447800"/>
                        <a:chExt cx="1066800" cy="152400"/>
                      </a:xfrm>
                    </p:grpSpPr>
                    <p:sp>
                      <p:nvSpPr>
                        <p:cNvPr id="109" name="Oval 108"/>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Oval 109"/>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7" name="Group 57"/>
                      <p:cNvGrpSpPr/>
                      <p:nvPr/>
                    </p:nvGrpSpPr>
                    <p:grpSpPr>
                      <a:xfrm>
                        <a:off x="2743200" y="1447800"/>
                        <a:ext cx="1066800" cy="152400"/>
                        <a:chOff x="914400" y="1447800"/>
                        <a:chExt cx="1066800" cy="152400"/>
                      </a:xfrm>
                    </p:grpSpPr>
                    <p:sp>
                      <p:nvSpPr>
                        <p:cNvPr id="107" name="Oval 106"/>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Oval 107"/>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nvGrpSpPr>
                  <p:cNvPr id="28" name="Group 69"/>
                  <p:cNvGrpSpPr/>
                  <p:nvPr/>
                </p:nvGrpSpPr>
                <p:grpSpPr>
                  <a:xfrm>
                    <a:off x="914400" y="3276600"/>
                    <a:ext cx="2895600" cy="1066800"/>
                    <a:chOff x="914400" y="1447800"/>
                    <a:chExt cx="2895600" cy="1066800"/>
                  </a:xfrm>
                </p:grpSpPr>
                <p:grpSp>
                  <p:nvGrpSpPr>
                    <p:cNvPr id="29" name="Group 60"/>
                    <p:cNvGrpSpPr/>
                    <p:nvPr/>
                  </p:nvGrpSpPr>
                  <p:grpSpPr>
                    <a:xfrm>
                      <a:off x="914400" y="2362200"/>
                      <a:ext cx="2895600" cy="152400"/>
                      <a:chOff x="914400" y="1447800"/>
                      <a:chExt cx="2895600" cy="152400"/>
                    </a:xfrm>
                  </p:grpSpPr>
                  <p:grpSp>
                    <p:nvGrpSpPr>
                      <p:cNvPr id="30" name="Group 56"/>
                      <p:cNvGrpSpPr/>
                      <p:nvPr/>
                    </p:nvGrpSpPr>
                    <p:grpSpPr>
                      <a:xfrm>
                        <a:off x="914400" y="1447800"/>
                        <a:ext cx="1066800" cy="152400"/>
                        <a:chOff x="914400" y="1447800"/>
                        <a:chExt cx="1066800" cy="152400"/>
                      </a:xfrm>
                    </p:grpSpPr>
                    <p:sp>
                      <p:nvSpPr>
                        <p:cNvPr id="101" name="Oval 100"/>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Oval 101"/>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1" name="Group 57"/>
                      <p:cNvGrpSpPr/>
                      <p:nvPr/>
                    </p:nvGrpSpPr>
                    <p:grpSpPr>
                      <a:xfrm>
                        <a:off x="2743200" y="1447800"/>
                        <a:ext cx="1066800" cy="152400"/>
                        <a:chOff x="914400" y="1447800"/>
                        <a:chExt cx="1066800" cy="152400"/>
                      </a:xfrm>
                    </p:grpSpPr>
                    <p:sp>
                      <p:nvSpPr>
                        <p:cNvPr id="99" name="Oval 98"/>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Oval 99"/>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32" name="Group 61"/>
                    <p:cNvGrpSpPr/>
                    <p:nvPr/>
                  </p:nvGrpSpPr>
                  <p:grpSpPr>
                    <a:xfrm>
                      <a:off x="914400" y="1447800"/>
                      <a:ext cx="2895600" cy="152400"/>
                      <a:chOff x="914400" y="1447800"/>
                      <a:chExt cx="2895600" cy="152400"/>
                    </a:xfrm>
                  </p:grpSpPr>
                  <p:grpSp>
                    <p:nvGrpSpPr>
                      <p:cNvPr id="33" name="Group 56"/>
                      <p:cNvGrpSpPr/>
                      <p:nvPr/>
                    </p:nvGrpSpPr>
                    <p:grpSpPr>
                      <a:xfrm>
                        <a:off x="914400" y="1447800"/>
                        <a:ext cx="1066800" cy="152400"/>
                        <a:chOff x="914400" y="1447800"/>
                        <a:chExt cx="1066800" cy="152400"/>
                      </a:xfrm>
                    </p:grpSpPr>
                    <p:sp>
                      <p:nvSpPr>
                        <p:cNvPr id="95" name="Oval 94"/>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Oval 95"/>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4" name="Group 57"/>
                      <p:cNvGrpSpPr/>
                      <p:nvPr/>
                    </p:nvGrpSpPr>
                    <p:grpSpPr>
                      <a:xfrm>
                        <a:off x="2743200" y="1447800"/>
                        <a:ext cx="1066800" cy="152400"/>
                        <a:chOff x="914400" y="1447800"/>
                        <a:chExt cx="1066800" cy="152400"/>
                      </a:xfrm>
                    </p:grpSpPr>
                    <p:sp>
                      <p:nvSpPr>
                        <p:cNvPr id="93" name="Oval 9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Oval 9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grpSp>
          <p:grpSp>
            <p:nvGrpSpPr>
              <p:cNvPr id="35" name="Group 117"/>
              <p:cNvGrpSpPr/>
              <p:nvPr/>
            </p:nvGrpSpPr>
            <p:grpSpPr>
              <a:xfrm>
                <a:off x="8229600" y="1447800"/>
                <a:ext cx="6553200" cy="2895600"/>
                <a:chOff x="914400" y="1447800"/>
                <a:chExt cx="6553200" cy="2895600"/>
              </a:xfrm>
            </p:grpSpPr>
            <p:grpSp>
              <p:nvGrpSpPr>
                <p:cNvPr id="36" name="Group 84"/>
                <p:cNvGrpSpPr/>
                <p:nvPr/>
              </p:nvGrpSpPr>
              <p:grpSpPr>
                <a:xfrm>
                  <a:off x="914400" y="1447800"/>
                  <a:ext cx="2895600" cy="2895600"/>
                  <a:chOff x="914400" y="1447800"/>
                  <a:chExt cx="2895600" cy="2895600"/>
                </a:xfrm>
              </p:grpSpPr>
              <p:grpSp>
                <p:nvGrpSpPr>
                  <p:cNvPr id="37" name="Group 68"/>
                  <p:cNvGrpSpPr/>
                  <p:nvPr/>
                </p:nvGrpSpPr>
                <p:grpSpPr>
                  <a:xfrm>
                    <a:off x="914400" y="1447800"/>
                    <a:ext cx="2895600" cy="1066800"/>
                    <a:chOff x="914400" y="1447800"/>
                    <a:chExt cx="2895600" cy="1066800"/>
                  </a:xfrm>
                </p:grpSpPr>
                <p:grpSp>
                  <p:nvGrpSpPr>
                    <p:cNvPr id="38" name="Group 60"/>
                    <p:cNvGrpSpPr/>
                    <p:nvPr/>
                  </p:nvGrpSpPr>
                  <p:grpSpPr>
                    <a:xfrm>
                      <a:off x="914400" y="2362200"/>
                      <a:ext cx="2895600" cy="152400"/>
                      <a:chOff x="914400" y="1447800"/>
                      <a:chExt cx="2895600" cy="152400"/>
                    </a:xfrm>
                  </p:grpSpPr>
                  <p:grpSp>
                    <p:nvGrpSpPr>
                      <p:cNvPr id="39" name="Group 56"/>
                      <p:cNvGrpSpPr/>
                      <p:nvPr/>
                    </p:nvGrpSpPr>
                    <p:grpSpPr>
                      <a:xfrm>
                        <a:off x="914400" y="1447800"/>
                        <a:ext cx="1066800" cy="152400"/>
                        <a:chOff x="914400" y="1447800"/>
                        <a:chExt cx="1066800" cy="152400"/>
                      </a:xfrm>
                    </p:grpSpPr>
                    <p:sp>
                      <p:nvSpPr>
                        <p:cNvPr id="179" name="Oval 5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0" name="Oval 5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0" name="Group 57"/>
                      <p:cNvGrpSpPr/>
                      <p:nvPr/>
                    </p:nvGrpSpPr>
                    <p:grpSpPr>
                      <a:xfrm>
                        <a:off x="2743200" y="1447800"/>
                        <a:ext cx="1066800" cy="152400"/>
                        <a:chOff x="914400" y="1447800"/>
                        <a:chExt cx="1066800" cy="152400"/>
                      </a:xfrm>
                    </p:grpSpPr>
                    <p:sp>
                      <p:nvSpPr>
                        <p:cNvPr id="177" name="Oval 58"/>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8" name="Oval 59"/>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41" name="Group 61"/>
                    <p:cNvGrpSpPr/>
                    <p:nvPr/>
                  </p:nvGrpSpPr>
                  <p:grpSpPr>
                    <a:xfrm>
                      <a:off x="914400" y="1447800"/>
                      <a:ext cx="2895600" cy="152400"/>
                      <a:chOff x="914400" y="1447800"/>
                      <a:chExt cx="2895600" cy="152400"/>
                    </a:xfrm>
                  </p:grpSpPr>
                  <p:grpSp>
                    <p:nvGrpSpPr>
                      <p:cNvPr id="42" name="Group 56"/>
                      <p:cNvGrpSpPr/>
                      <p:nvPr/>
                    </p:nvGrpSpPr>
                    <p:grpSpPr>
                      <a:xfrm>
                        <a:off x="914400" y="1447800"/>
                        <a:ext cx="1066800" cy="152400"/>
                        <a:chOff x="914400" y="1447800"/>
                        <a:chExt cx="1066800" cy="152400"/>
                      </a:xfrm>
                    </p:grpSpPr>
                    <p:sp>
                      <p:nvSpPr>
                        <p:cNvPr id="173" name="Oval 17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4" name="Oval 17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3" name="Group 57"/>
                      <p:cNvGrpSpPr/>
                      <p:nvPr/>
                    </p:nvGrpSpPr>
                    <p:grpSpPr>
                      <a:xfrm>
                        <a:off x="2743200" y="1447800"/>
                        <a:ext cx="1066800" cy="152400"/>
                        <a:chOff x="914400" y="1447800"/>
                        <a:chExt cx="1066800" cy="152400"/>
                      </a:xfrm>
                    </p:grpSpPr>
                    <p:sp>
                      <p:nvSpPr>
                        <p:cNvPr id="171" name="Oval 170"/>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2" name="Oval 171"/>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nvGrpSpPr>
                  <p:cNvPr id="44" name="Group 69"/>
                  <p:cNvGrpSpPr/>
                  <p:nvPr/>
                </p:nvGrpSpPr>
                <p:grpSpPr>
                  <a:xfrm>
                    <a:off x="914400" y="3276600"/>
                    <a:ext cx="2895600" cy="1066800"/>
                    <a:chOff x="914400" y="1447800"/>
                    <a:chExt cx="2895600" cy="1066800"/>
                  </a:xfrm>
                </p:grpSpPr>
                <p:grpSp>
                  <p:nvGrpSpPr>
                    <p:cNvPr id="45" name="Group 60"/>
                    <p:cNvGrpSpPr/>
                    <p:nvPr/>
                  </p:nvGrpSpPr>
                  <p:grpSpPr>
                    <a:xfrm>
                      <a:off x="914400" y="2362200"/>
                      <a:ext cx="2895600" cy="152400"/>
                      <a:chOff x="914400" y="1447800"/>
                      <a:chExt cx="2895600" cy="152400"/>
                    </a:xfrm>
                  </p:grpSpPr>
                  <p:grpSp>
                    <p:nvGrpSpPr>
                      <p:cNvPr id="46" name="Group 56"/>
                      <p:cNvGrpSpPr/>
                      <p:nvPr/>
                    </p:nvGrpSpPr>
                    <p:grpSpPr>
                      <a:xfrm>
                        <a:off x="914400" y="1447800"/>
                        <a:ext cx="1066800" cy="152400"/>
                        <a:chOff x="914400" y="1447800"/>
                        <a:chExt cx="1066800" cy="152400"/>
                      </a:xfrm>
                    </p:grpSpPr>
                    <p:sp>
                      <p:nvSpPr>
                        <p:cNvPr id="165" name="Oval 164"/>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6" name="Oval 165"/>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7" name="Group 57"/>
                      <p:cNvGrpSpPr/>
                      <p:nvPr/>
                    </p:nvGrpSpPr>
                    <p:grpSpPr>
                      <a:xfrm>
                        <a:off x="2743200" y="1447800"/>
                        <a:ext cx="1066800" cy="152400"/>
                        <a:chOff x="914400" y="1447800"/>
                        <a:chExt cx="1066800" cy="152400"/>
                      </a:xfrm>
                    </p:grpSpPr>
                    <p:sp>
                      <p:nvSpPr>
                        <p:cNvPr id="163" name="Oval 16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4" name="Oval 16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48" name="Group 61"/>
                    <p:cNvGrpSpPr/>
                    <p:nvPr/>
                  </p:nvGrpSpPr>
                  <p:grpSpPr>
                    <a:xfrm>
                      <a:off x="914400" y="1447800"/>
                      <a:ext cx="2895600" cy="152400"/>
                      <a:chOff x="914400" y="1447800"/>
                      <a:chExt cx="2895600" cy="152400"/>
                    </a:xfrm>
                  </p:grpSpPr>
                  <p:grpSp>
                    <p:nvGrpSpPr>
                      <p:cNvPr id="49" name="Group 56"/>
                      <p:cNvGrpSpPr/>
                      <p:nvPr/>
                    </p:nvGrpSpPr>
                    <p:grpSpPr>
                      <a:xfrm>
                        <a:off x="914400" y="1447800"/>
                        <a:ext cx="1066800" cy="152400"/>
                        <a:chOff x="914400" y="1447800"/>
                        <a:chExt cx="1066800" cy="152400"/>
                      </a:xfrm>
                    </p:grpSpPr>
                    <p:sp>
                      <p:nvSpPr>
                        <p:cNvPr id="159" name="Oval 158"/>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0" name="Oval 159"/>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0" name="Group 57"/>
                      <p:cNvGrpSpPr/>
                      <p:nvPr/>
                    </p:nvGrpSpPr>
                    <p:grpSpPr>
                      <a:xfrm>
                        <a:off x="2743200" y="1447800"/>
                        <a:ext cx="1066800" cy="152400"/>
                        <a:chOff x="914400" y="1447800"/>
                        <a:chExt cx="1066800" cy="152400"/>
                      </a:xfrm>
                    </p:grpSpPr>
                    <p:sp>
                      <p:nvSpPr>
                        <p:cNvPr id="157" name="Oval 156"/>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8" name="Oval 157"/>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grpSp>
              <p:nvGrpSpPr>
                <p:cNvPr id="51" name="Group 85"/>
                <p:cNvGrpSpPr/>
                <p:nvPr/>
              </p:nvGrpSpPr>
              <p:grpSpPr>
                <a:xfrm>
                  <a:off x="4572000" y="1447800"/>
                  <a:ext cx="2895600" cy="2895600"/>
                  <a:chOff x="914400" y="1447800"/>
                  <a:chExt cx="2895600" cy="2895600"/>
                </a:xfrm>
              </p:grpSpPr>
              <p:grpSp>
                <p:nvGrpSpPr>
                  <p:cNvPr id="52" name="Group 68"/>
                  <p:cNvGrpSpPr/>
                  <p:nvPr/>
                </p:nvGrpSpPr>
                <p:grpSpPr>
                  <a:xfrm>
                    <a:off x="914400" y="1447800"/>
                    <a:ext cx="2895600" cy="1066800"/>
                    <a:chOff x="914400" y="1447800"/>
                    <a:chExt cx="2895600" cy="1066800"/>
                  </a:xfrm>
                </p:grpSpPr>
                <p:grpSp>
                  <p:nvGrpSpPr>
                    <p:cNvPr id="55" name="Group 60"/>
                    <p:cNvGrpSpPr/>
                    <p:nvPr/>
                  </p:nvGrpSpPr>
                  <p:grpSpPr>
                    <a:xfrm>
                      <a:off x="914400" y="2362200"/>
                      <a:ext cx="2895600" cy="152400"/>
                      <a:chOff x="914400" y="1447800"/>
                      <a:chExt cx="2895600" cy="152400"/>
                    </a:xfrm>
                  </p:grpSpPr>
                  <p:grpSp>
                    <p:nvGrpSpPr>
                      <p:cNvPr id="56" name="Group 56"/>
                      <p:cNvGrpSpPr/>
                      <p:nvPr/>
                    </p:nvGrpSpPr>
                    <p:grpSpPr>
                      <a:xfrm>
                        <a:off x="914400" y="1447800"/>
                        <a:ext cx="1066800" cy="152400"/>
                        <a:chOff x="914400" y="1447800"/>
                        <a:chExt cx="1066800" cy="152400"/>
                      </a:xfrm>
                    </p:grpSpPr>
                    <p:sp>
                      <p:nvSpPr>
                        <p:cNvPr id="149" name="Oval 148"/>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0" name="Oval 149"/>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7" name="Group 57"/>
                      <p:cNvGrpSpPr/>
                      <p:nvPr/>
                    </p:nvGrpSpPr>
                    <p:grpSpPr>
                      <a:xfrm>
                        <a:off x="2743200" y="1447800"/>
                        <a:ext cx="1066800" cy="152400"/>
                        <a:chOff x="914400" y="1447800"/>
                        <a:chExt cx="1066800" cy="152400"/>
                      </a:xfrm>
                    </p:grpSpPr>
                    <p:sp>
                      <p:nvSpPr>
                        <p:cNvPr id="147" name="Oval 146"/>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8" name="Oval 147"/>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58" name="Group 61"/>
                    <p:cNvGrpSpPr/>
                    <p:nvPr/>
                  </p:nvGrpSpPr>
                  <p:grpSpPr>
                    <a:xfrm>
                      <a:off x="914400" y="1447800"/>
                      <a:ext cx="2895600" cy="152400"/>
                      <a:chOff x="914400" y="1447800"/>
                      <a:chExt cx="2895600" cy="152400"/>
                    </a:xfrm>
                  </p:grpSpPr>
                  <p:grpSp>
                    <p:nvGrpSpPr>
                      <p:cNvPr id="61" name="Group 56"/>
                      <p:cNvGrpSpPr/>
                      <p:nvPr/>
                    </p:nvGrpSpPr>
                    <p:grpSpPr>
                      <a:xfrm>
                        <a:off x="914400" y="1447800"/>
                        <a:ext cx="1066800" cy="152400"/>
                        <a:chOff x="914400" y="1447800"/>
                        <a:chExt cx="1066800" cy="152400"/>
                      </a:xfrm>
                    </p:grpSpPr>
                    <p:sp>
                      <p:nvSpPr>
                        <p:cNvPr id="143" name="Oval 14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4" name="Oval 14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2" name="Group 57"/>
                      <p:cNvGrpSpPr/>
                      <p:nvPr/>
                    </p:nvGrpSpPr>
                    <p:grpSpPr>
                      <a:xfrm>
                        <a:off x="2743200" y="1447800"/>
                        <a:ext cx="1066800" cy="152400"/>
                        <a:chOff x="914400" y="1447800"/>
                        <a:chExt cx="1066800" cy="152400"/>
                      </a:xfrm>
                    </p:grpSpPr>
                    <p:sp>
                      <p:nvSpPr>
                        <p:cNvPr id="141" name="Oval 140"/>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2" name="Oval 141"/>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nvGrpSpPr>
                  <p:cNvPr id="63" name="Group 69"/>
                  <p:cNvGrpSpPr/>
                  <p:nvPr/>
                </p:nvGrpSpPr>
                <p:grpSpPr>
                  <a:xfrm>
                    <a:off x="914400" y="3276600"/>
                    <a:ext cx="2895600" cy="1066800"/>
                    <a:chOff x="914400" y="1447800"/>
                    <a:chExt cx="2895600" cy="1066800"/>
                  </a:xfrm>
                </p:grpSpPr>
                <p:grpSp>
                  <p:nvGrpSpPr>
                    <p:cNvPr id="64" name="Group 60"/>
                    <p:cNvGrpSpPr/>
                    <p:nvPr/>
                  </p:nvGrpSpPr>
                  <p:grpSpPr>
                    <a:xfrm>
                      <a:off x="914400" y="2362200"/>
                      <a:ext cx="2895600" cy="152400"/>
                      <a:chOff x="914400" y="1447800"/>
                      <a:chExt cx="2895600" cy="152400"/>
                    </a:xfrm>
                  </p:grpSpPr>
                  <p:grpSp>
                    <p:nvGrpSpPr>
                      <p:cNvPr id="69" name="Group 56"/>
                      <p:cNvGrpSpPr/>
                      <p:nvPr/>
                    </p:nvGrpSpPr>
                    <p:grpSpPr>
                      <a:xfrm>
                        <a:off x="914400" y="1447800"/>
                        <a:ext cx="1066800" cy="152400"/>
                        <a:chOff x="914400" y="1447800"/>
                        <a:chExt cx="1066800" cy="152400"/>
                      </a:xfrm>
                    </p:grpSpPr>
                    <p:sp>
                      <p:nvSpPr>
                        <p:cNvPr id="135" name="Oval 134"/>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6" name="Oval 135"/>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0" name="Group 57"/>
                      <p:cNvGrpSpPr/>
                      <p:nvPr/>
                    </p:nvGrpSpPr>
                    <p:grpSpPr>
                      <a:xfrm>
                        <a:off x="2743200" y="1447800"/>
                        <a:ext cx="1066800" cy="152400"/>
                        <a:chOff x="914400" y="1447800"/>
                        <a:chExt cx="1066800" cy="152400"/>
                      </a:xfrm>
                    </p:grpSpPr>
                    <p:sp>
                      <p:nvSpPr>
                        <p:cNvPr id="133" name="Oval 13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 name="Oval 13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71" name="Group 61"/>
                    <p:cNvGrpSpPr/>
                    <p:nvPr/>
                  </p:nvGrpSpPr>
                  <p:grpSpPr>
                    <a:xfrm>
                      <a:off x="914400" y="1447800"/>
                      <a:ext cx="2895600" cy="152400"/>
                      <a:chOff x="914400" y="1447800"/>
                      <a:chExt cx="2895600" cy="152400"/>
                    </a:xfrm>
                  </p:grpSpPr>
                  <p:grpSp>
                    <p:nvGrpSpPr>
                      <p:cNvPr id="72" name="Group 56"/>
                      <p:cNvGrpSpPr/>
                      <p:nvPr/>
                    </p:nvGrpSpPr>
                    <p:grpSpPr>
                      <a:xfrm>
                        <a:off x="914400" y="1447800"/>
                        <a:ext cx="1066800" cy="152400"/>
                        <a:chOff x="914400" y="1447800"/>
                        <a:chExt cx="1066800" cy="152400"/>
                      </a:xfrm>
                    </p:grpSpPr>
                    <p:sp>
                      <p:nvSpPr>
                        <p:cNvPr id="129" name="Oval 128"/>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 name="Oval 129"/>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3" name="Group 57"/>
                      <p:cNvGrpSpPr/>
                      <p:nvPr/>
                    </p:nvGrpSpPr>
                    <p:grpSpPr>
                      <a:xfrm>
                        <a:off x="2743200" y="1447800"/>
                        <a:ext cx="1066800" cy="152400"/>
                        <a:chOff x="914400" y="1447800"/>
                        <a:chExt cx="1066800" cy="152400"/>
                      </a:xfrm>
                    </p:grpSpPr>
                    <p:sp>
                      <p:nvSpPr>
                        <p:cNvPr id="127" name="Oval 126"/>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8" name="Oval 127"/>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grpSp>
        </p:grpSp>
        <p:grpSp>
          <p:nvGrpSpPr>
            <p:cNvPr id="74" name="Group 181"/>
            <p:cNvGrpSpPr/>
            <p:nvPr/>
          </p:nvGrpSpPr>
          <p:grpSpPr>
            <a:xfrm>
              <a:off x="5486400" y="1447800"/>
              <a:ext cx="13868400" cy="2895600"/>
              <a:chOff x="914400" y="1447800"/>
              <a:chExt cx="13868400" cy="2895600"/>
            </a:xfrm>
          </p:grpSpPr>
          <p:grpSp>
            <p:nvGrpSpPr>
              <p:cNvPr id="79" name="Group 116"/>
              <p:cNvGrpSpPr/>
              <p:nvPr/>
            </p:nvGrpSpPr>
            <p:grpSpPr>
              <a:xfrm>
                <a:off x="914400" y="1447800"/>
                <a:ext cx="6553200" cy="2895600"/>
                <a:chOff x="914400" y="1447800"/>
                <a:chExt cx="6553200" cy="2895600"/>
              </a:xfrm>
            </p:grpSpPr>
            <p:grpSp>
              <p:nvGrpSpPr>
                <p:cNvPr id="80" name="Group 84"/>
                <p:cNvGrpSpPr/>
                <p:nvPr/>
              </p:nvGrpSpPr>
              <p:grpSpPr>
                <a:xfrm>
                  <a:off x="914400" y="1447800"/>
                  <a:ext cx="2895600" cy="2895600"/>
                  <a:chOff x="914400" y="1447800"/>
                  <a:chExt cx="2895600" cy="2895600"/>
                </a:xfrm>
              </p:grpSpPr>
              <p:grpSp>
                <p:nvGrpSpPr>
                  <p:cNvPr id="85" name="Group 68"/>
                  <p:cNvGrpSpPr/>
                  <p:nvPr/>
                </p:nvGrpSpPr>
                <p:grpSpPr>
                  <a:xfrm>
                    <a:off x="914400" y="1447800"/>
                    <a:ext cx="2895600" cy="1066800"/>
                    <a:chOff x="914400" y="1447800"/>
                    <a:chExt cx="2895600" cy="1066800"/>
                  </a:xfrm>
                </p:grpSpPr>
                <p:grpSp>
                  <p:nvGrpSpPr>
                    <p:cNvPr id="86" name="Group 60"/>
                    <p:cNvGrpSpPr/>
                    <p:nvPr/>
                  </p:nvGrpSpPr>
                  <p:grpSpPr>
                    <a:xfrm>
                      <a:off x="914400" y="2362200"/>
                      <a:ext cx="2895600" cy="152400"/>
                      <a:chOff x="914400" y="1447800"/>
                      <a:chExt cx="2895600" cy="152400"/>
                    </a:xfrm>
                  </p:grpSpPr>
                  <p:grpSp>
                    <p:nvGrpSpPr>
                      <p:cNvPr id="87" name="Group 56"/>
                      <p:cNvGrpSpPr/>
                      <p:nvPr/>
                    </p:nvGrpSpPr>
                    <p:grpSpPr>
                      <a:xfrm>
                        <a:off x="914400" y="1447800"/>
                        <a:ext cx="1066800" cy="152400"/>
                        <a:chOff x="914400" y="1447800"/>
                        <a:chExt cx="1066800" cy="152400"/>
                      </a:xfrm>
                    </p:grpSpPr>
                    <p:sp>
                      <p:nvSpPr>
                        <p:cNvPr id="307" name="Oval 5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 name="Oval 5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8" name="Group 57"/>
                      <p:cNvGrpSpPr/>
                      <p:nvPr/>
                    </p:nvGrpSpPr>
                    <p:grpSpPr>
                      <a:xfrm>
                        <a:off x="2743200" y="1447800"/>
                        <a:ext cx="1066800" cy="152400"/>
                        <a:chOff x="914400" y="1447800"/>
                        <a:chExt cx="1066800" cy="152400"/>
                      </a:xfrm>
                    </p:grpSpPr>
                    <p:sp>
                      <p:nvSpPr>
                        <p:cNvPr id="305" name="Oval 304"/>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6" name="Oval 305"/>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89" name="Group 61"/>
                    <p:cNvGrpSpPr/>
                    <p:nvPr/>
                  </p:nvGrpSpPr>
                  <p:grpSpPr>
                    <a:xfrm>
                      <a:off x="914400" y="1447800"/>
                      <a:ext cx="2895600" cy="152400"/>
                      <a:chOff x="914400" y="1447800"/>
                      <a:chExt cx="2895600" cy="152400"/>
                    </a:xfrm>
                  </p:grpSpPr>
                  <p:grpSp>
                    <p:nvGrpSpPr>
                      <p:cNvPr id="90" name="Group 56"/>
                      <p:cNvGrpSpPr/>
                      <p:nvPr/>
                    </p:nvGrpSpPr>
                    <p:grpSpPr>
                      <a:xfrm>
                        <a:off x="914400" y="1447800"/>
                        <a:ext cx="1066800" cy="152400"/>
                        <a:chOff x="914400" y="1447800"/>
                        <a:chExt cx="1066800" cy="152400"/>
                      </a:xfrm>
                    </p:grpSpPr>
                    <p:sp>
                      <p:nvSpPr>
                        <p:cNvPr id="301" name="Oval 66"/>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2" name="Oval 67"/>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1" name="Group 57"/>
                      <p:cNvGrpSpPr/>
                      <p:nvPr/>
                    </p:nvGrpSpPr>
                    <p:grpSpPr>
                      <a:xfrm>
                        <a:off x="2743200" y="1447800"/>
                        <a:ext cx="1066800" cy="152400"/>
                        <a:chOff x="914400" y="1447800"/>
                        <a:chExt cx="1066800" cy="152400"/>
                      </a:xfrm>
                    </p:grpSpPr>
                    <p:sp>
                      <p:nvSpPr>
                        <p:cNvPr id="299" name="Oval 298"/>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0" name="Oval 299"/>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nvGrpSpPr>
                  <p:cNvPr id="92" name="Group 69"/>
                  <p:cNvGrpSpPr/>
                  <p:nvPr/>
                </p:nvGrpSpPr>
                <p:grpSpPr>
                  <a:xfrm>
                    <a:off x="914400" y="3276600"/>
                    <a:ext cx="2895600" cy="1066800"/>
                    <a:chOff x="914400" y="1447800"/>
                    <a:chExt cx="2895600" cy="1066800"/>
                  </a:xfrm>
                </p:grpSpPr>
                <p:grpSp>
                  <p:nvGrpSpPr>
                    <p:cNvPr id="97" name="Group 60"/>
                    <p:cNvGrpSpPr/>
                    <p:nvPr/>
                  </p:nvGrpSpPr>
                  <p:grpSpPr>
                    <a:xfrm>
                      <a:off x="914400" y="2362200"/>
                      <a:ext cx="2895600" cy="152400"/>
                      <a:chOff x="914400" y="1447800"/>
                      <a:chExt cx="2895600" cy="152400"/>
                    </a:xfrm>
                  </p:grpSpPr>
                  <p:grpSp>
                    <p:nvGrpSpPr>
                      <p:cNvPr id="98" name="Group 56"/>
                      <p:cNvGrpSpPr/>
                      <p:nvPr/>
                    </p:nvGrpSpPr>
                    <p:grpSpPr>
                      <a:xfrm>
                        <a:off x="914400" y="1447800"/>
                        <a:ext cx="1066800" cy="152400"/>
                        <a:chOff x="914400" y="1447800"/>
                        <a:chExt cx="1066800" cy="152400"/>
                      </a:xfrm>
                    </p:grpSpPr>
                    <p:sp>
                      <p:nvSpPr>
                        <p:cNvPr id="293" name="Oval 29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4" name="Oval 29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3" name="Group 57"/>
                      <p:cNvGrpSpPr/>
                      <p:nvPr/>
                    </p:nvGrpSpPr>
                    <p:grpSpPr>
                      <a:xfrm>
                        <a:off x="2743200" y="1447800"/>
                        <a:ext cx="1066800" cy="152400"/>
                        <a:chOff x="914400" y="1447800"/>
                        <a:chExt cx="1066800" cy="152400"/>
                      </a:xfrm>
                    </p:grpSpPr>
                    <p:sp>
                      <p:nvSpPr>
                        <p:cNvPr id="291" name="Oval 290"/>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2" name="Oval 291"/>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04" name="Group 61"/>
                    <p:cNvGrpSpPr/>
                    <p:nvPr/>
                  </p:nvGrpSpPr>
                  <p:grpSpPr>
                    <a:xfrm>
                      <a:off x="914400" y="1447800"/>
                      <a:ext cx="2895600" cy="152400"/>
                      <a:chOff x="914400" y="1447800"/>
                      <a:chExt cx="2895600" cy="152400"/>
                    </a:xfrm>
                  </p:grpSpPr>
                  <p:grpSp>
                    <p:nvGrpSpPr>
                      <p:cNvPr id="105" name="Group 56"/>
                      <p:cNvGrpSpPr/>
                      <p:nvPr/>
                    </p:nvGrpSpPr>
                    <p:grpSpPr>
                      <a:xfrm>
                        <a:off x="914400" y="1447800"/>
                        <a:ext cx="1066800" cy="152400"/>
                        <a:chOff x="914400" y="1447800"/>
                        <a:chExt cx="1066800" cy="152400"/>
                      </a:xfrm>
                    </p:grpSpPr>
                    <p:sp>
                      <p:nvSpPr>
                        <p:cNvPr id="287" name="Oval 286"/>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8" name="Oval 287"/>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6" name="Group 57"/>
                      <p:cNvGrpSpPr/>
                      <p:nvPr/>
                    </p:nvGrpSpPr>
                    <p:grpSpPr>
                      <a:xfrm>
                        <a:off x="2743200" y="1447800"/>
                        <a:ext cx="1066800" cy="152400"/>
                        <a:chOff x="914400" y="1447800"/>
                        <a:chExt cx="1066800" cy="152400"/>
                      </a:xfrm>
                    </p:grpSpPr>
                    <p:sp>
                      <p:nvSpPr>
                        <p:cNvPr id="285" name="Oval 284"/>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6" name="Oval 285"/>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grpSp>
              <p:nvGrpSpPr>
                <p:cNvPr id="111" name="Group 85"/>
                <p:cNvGrpSpPr/>
                <p:nvPr/>
              </p:nvGrpSpPr>
              <p:grpSpPr>
                <a:xfrm>
                  <a:off x="4572000" y="1447800"/>
                  <a:ext cx="2895600" cy="2895600"/>
                  <a:chOff x="914400" y="1447800"/>
                  <a:chExt cx="2895600" cy="2895600"/>
                </a:xfrm>
              </p:grpSpPr>
              <p:grpSp>
                <p:nvGrpSpPr>
                  <p:cNvPr id="112" name="Group 248"/>
                  <p:cNvGrpSpPr/>
                  <p:nvPr/>
                </p:nvGrpSpPr>
                <p:grpSpPr>
                  <a:xfrm>
                    <a:off x="914400" y="1447800"/>
                    <a:ext cx="2895600" cy="1066800"/>
                    <a:chOff x="914400" y="1447800"/>
                    <a:chExt cx="2895600" cy="1066800"/>
                  </a:xfrm>
                </p:grpSpPr>
                <p:grpSp>
                  <p:nvGrpSpPr>
                    <p:cNvPr id="117" name="Group 60"/>
                    <p:cNvGrpSpPr/>
                    <p:nvPr/>
                  </p:nvGrpSpPr>
                  <p:grpSpPr>
                    <a:xfrm>
                      <a:off x="914400" y="2362200"/>
                      <a:ext cx="2895600" cy="152400"/>
                      <a:chOff x="914400" y="1447800"/>
                      <a:chExt cx="2895600" cy="152400"/>
                    </a:xfrm>
                  </p:grpSpPr>
                  <p:grpSp>
                    <p:nvGrpSpPr>
                      <p:cNvPr id="118" name="Group 56"/>
                      <p:cNvGrpSpPr/>
                      <p:nvPr/>
                    </p:nvGrpSpPr>
                    <p:grpSpPr>
                      <a:xfrm>
                        <a:off x="914400" y="1447800"/>
                        <a:ext cx="1066800" cy="152400"/>
                        <a:chOff x="914400" y="1447800"/>
                        <a:chExt cx="1066800" cy="152400"/>
                      </a:xfrm>
                    </p:grpSpPr>
                    <p:sp>
                      <p:nvSpPr>
                        <p:cNvPr id="277" name="Oval 276"/>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8" name="Oval 277"/>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9" name="Group 57"/>
                      <p:cNvGrpSpPr/>
                      <p:nvPr/>
                    </p:nvGrpSpPr>
                    <p:grpSpPr>
                      <a:xfrm>
                        <a:off x="2743200" y="1447800"/>
                        <a:ext cx="1066800" cy="152400"/>
                        <a:chOff x="914400" y="1447800"/>
                        <a:chExt cx="1066800" cy="152400"/>
                      </a:xfrm>
                    </p:grpSpPr>
                    <p:sp>
                      <p:nvSpPr>
                        <p:cNvPr id="275" name="Oval 274"/>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6" name="Oval 275"/>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20" name="Group 61"/>
                    <p:cNvGrpSpPr/>
                    <p:nvPr/>
                  </p:nvGrpSpPr>
                  <p:grpSpPr>
                    <a:xfrm>
                      <a:off x="914400" y="1447800"/>
                      <a:ext cx="2895600" cy="152400"/>
                      <a:chOff x="914400" y="1447800"/>
                      <a:chExt cx="2895600" cy="152400"/>
                    </a:xfrm>
                  </p:grpSpPr>
                  <p:grpSp>
                    <p:nvGrpSpPr>
                      <p:cNvPr id="121" name="Group 56"/>
                      <p:cNvGrpSpPr/>
                      <p:nvPr/>
                    </p:nvGrpSpPr>
                    <p:grpSpPr>
                      <a:xfrm>
                        <a:off x="914400" y="1447800"/>
                        <a:ext cx="1066800" cy="152400"/>
                        <a:chOff x="914400" y="1447800"/>
                        <a:chExt cx="1066800" cy="152400"/>
                      </a:xfrm>
                    </p:grpSpPr>
                    <p:sp>
                      <p:nvSpPr>
                        <p:cNvPr id="271" name="Oval 270"/>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2" name="Oval 271"/>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22" name="Group 57"/>
                      <p:cNvGrpSpPr/>
                      <p:nvPr/>
                    </p:nvGrpSpPr>
                    <p:grpSpPr>
                      <a:xfrm>
                        <a:off x="2743200" y="1447800"/>
                        <a:ext cx="1066800" cy="152400"/>
                        <a:chOff x="914400" y="1447800"/>
                        <a:chExt cx="1066800" cy="152400"/>
                      </a:xfrm>
                    </p:grpSpPr>
                    <p:sp>
                      <p:nvSpPr>
                        <p:cNvPr id="269" name="Oval 268"/>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0" name="Oval 269"/>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nvGrpSpPr>
                  <p:cNvPr id="123" name="Group 249"/>
                  <p:cNvGrpSpPr/>
                  <p:nvPr/>
                </p:nvGrpSpPr>
                <p:grpSpPr>
                  <a:xfrm>
                    <a:off x="914400" y="3276600"/>
                    <a:ext cx="2895600" cy="1066800"/>
                    <a:chOff x="914400" y="1447800"/>
                    <a:chExt cx="2895600" cy="1066800"/>
                  </a:xfrm>
                </p:grpSpPr>
                <p:grpSp>
                  <p:nvGrpSpPr>
                    <p:cNvPr id="124" name="Group 60"/>
                    <p:cNvGrpSpPr/>
                    <p:nvPr/>
                  </p:nvGrpSpPr>
                  <p:grpSpPr>
                    <a:xfrm>
                      <a:off x="914400" y="2362200"/>
                      <a:ext cx="2895600" cy="152400"/>
                      <a:chOff x="914400" y="1447800"/>
                      <a:chExt cx="2895600" cy="152400"/>
                    </a:xfrm>
                  </p:grpSpPr>
                  <p:grpSp>
                    <p:nvGrpSpPr>
                      <p:cNvPr id="125" name="Group 56"/>
                      <p:cNvGrpSpPr/>
                      <p:nvPr/>
                    </p:nvGrpSpPr>
                    <p:grpSpPr>
                      <a:xfrm>
                        <a:off x="914400" y="1447800"/>
                        <a:ext cx="1066800" cy="152400"/>
                        <a:chOff x="914400" y="1447800"/>
                        <a:chExt cx="1066800" cy="152400"/>
                      </a:xfrm>
                    </p:grpSpPr>
                    <p:sp>
                      <p:nvSpPr>
                        <p:cNvPr id="263" name="Oval 26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4" name="Oval 26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26" name="Group 57"/>
                      <p:cNvGrpSpPr/>
                      <p:nvPr/>
                    </p:nvGrpSpPr>
                    <p:grpSpPr>
                      <a:xfrm>
                        <a:off x="2743200" y="1447800"/>
                        <a:ext cx="1066800" cy="152400"/>
                        <a:chOff x="914400" y="1447800"/>
                        <a:chExt cx="1066800" cy="152400"/>
                      </a:xfrm>
                    </p:grpSpPr>
                    <p:sp>
                      <p:nvSpPr>
                        <p:cNvPr id="261" name="Oval 260"/>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2" name="Oval 261"/>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31" name="Group 61"/>
                    <p:cNvGrpSpPr/>
                    <p:nvPr/>
                  </p:nvGrpSpPr>
                  <p:grpSpPr>
                    <a:xfrm>
                      <a:off x="914400" y="1447800"/>
                      <a:ext cx="2895600" cy="152400"/>
                      <a:chOff x="914400" y="1447800"/>
                      <a:chExt cx="2895600" cy="152400"/>
                    </a:xfrm>
                  </p:grpSpPr>
                  <p:grpSp>
                    <p:nvGrpSpPr>
                      <p:cNvPr id="132" name="Group 56"/>
                      <p:cNvGrpSpPr/>
                      <p:nvPr/>
                    </p:nvGrpSpPr>
                    <p:grpSpPr>
                      <a:xfrm>
                        <a:off x="914400" y="1447800"/>
                        <a:ext cx="1066800" cy="152400"/>
                        <a:chOff x="914400" y="1447800"/>
                        <a:chExt cx="1066800" cy="152400"/>
                      </a:xfrm>
                    </p:grpSpPr>
                    <p:sp>
                      <p:nvSpPr>
                        <p:cNvPr id="257" name="Oval 256"/>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8" name="Oval 257"/>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7" name="Group 57"/>
                      <p:cNvGrpSpPr/>
                      <p:nvPr/>
                    </p:nvGrpSpPr>
                    <p:grpSpPr>
                      <a:xfrm>
                        <a:off x="2743200" y="1447800"/>
                        <a:ext cx="1066800" cy="152400"/>
                        <a:chOff x="914400" y="1447800"/>
                        <a:chExt cx="1066800" cy="152400"/>
                      </a:xfrm>
                    </p:grpSpPr>
                    <p:sp>
                      <p:nvSpPr>
                        <p:cNvPr id="255" name="Oval 254"/>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6" name="Oval 255"/>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grpSp>
          <p:grpSp>
            <p:nvGrpSpPr>
              <p:cNvPr id="138" name="Group 117"/>
              <p:cNvGrpSpPr/>
              <p:nvPr/>
            </p:nvGrpSpPr>
            <p:grpSpPr>
              <a:xfrm>
                <a:off x="8229600" y="1447800"/>
                <a:ext cx="6553200" cy="2895600"/>
                <a:chOff x="914400" y="1447800"/>
                <a:chExt cx="6553200" cy="2895600"/>
              </a:xfrm>
            </p:grpSpPr>
            <p:grpSp>
              <p:nvGrpSpPr>
                <p:cNvPr id="139" name="Group 84"/>
                <p:cNvGrpSpPr/>
                <p:nvPr/>
              </p:nvGrpSpPr>
              <p:grpSpPr>
                <a:xfrm>
                  <a:off x="914400" y="1447800"/>
                  <a:ext cx="2895600" cy="2895600"/>
                  <a:chOff x="914400" y="1447800"/>
                  <a:chExt cx="2895600" cy="2895600"/>
                </a:xfrm>
              </p:grpSpPr>
              <p:grpSp>
                <p:nvGrpSpPr>
                  <p:cNvPr id="140" name="Group 68"/>
                  <p:cNvGrpSpPr/>
                  <p:nvPr/>
                </p:nvGrpSpPr>
                <p:grpSpPr>
                  <a:xfrm>
                    <a:off x="914400" y="1447800"/>
                    <a:ext cx="2895600" cy="1066800"/>
                    <a:chOff x="914400" y="1447800"/>
                    <a:chExt cx="2895600" cy="1066800"/>
                  </a:xfrm>
                </p:grpSpPr>
                <p:grpSp>
                  <p:nvGrpSpPr>
                    <p:cNvPr id="145" name="Group 60"/>
                    <p:cNvGrpSpPr/>
                    <p:nvPr/>
                  </p:nvGrpSpPr>
                  <p:grpSpPr>
                    <a:xfrm>
                      <a:off x="914400" y="2362200"/>
                      <a:ext cx="2895600" cy="152400"/>
                      <a:chOff x="914400" y="1447800"/>
                      <a:chExt cx="2895600" cy="152400"/>
                    </a:xfrm>
                  </p:grpSpPr>
                  <p:grpSp>
                    <p:nvGrpSpPr>
                      <p:cNvPr id="146" name="Group 56"/>
                      <p:cNvGrpSpPr/>
                      <p:nvPr/>
                    </p:nvGrpSpPr>
                    <p:grpSpPr>
                      <a:xfrm>
                        <a:off x="914400" y="1447800"/>
                        <a:ext cx="1066800" cy="152400"/>
                        <a:chOff x="914400" y="1447800"/>
                        <a:chExt cx="1066800" cy="152400"/>
                      </a:xfrm>
                    </p:grpSpPr>
                    <p:sp>
                      <p:nvSpPr>
                        <p:cNvPr id="245" name="Oval 5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6" name="Oval 5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51" name="Group 57"/>
                      <p:cNvGrpSpPr/>
                      <p:nvPr/>
                    </p:nvGrpSpPr>
                    <p:grpSpPr>
                      <a:xfrm>
                        <a:off x="2743200" y="1447800"/>
                        <a:ext cx="1066800" cy="152400"/>
                        <a:chOff x="914400" y="1447800"/>
                        <a:chExt cx="1066800" cy="152400"/>
                      </a:xfrm>
                    </p:grpSpPr>
                    <p:sp>
                      <p:nvSpPr>
                        <p:cNvPr id="243" name="Oval 58"/>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4" name="Oval 59"/>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52" name="Group 61"/>
                    <p:cNvGrpSpPr/>
                    <p:nvPr/>
                  </p:nvGrpSpPr>
                  <p:grpSpPr>
                    <a:xfrm>
                      <a:off x="914400" y="1447800"/>
                      <a:ext cx="2895600" cy="152400"/>
                      <a:chOff x="914400" y="1447800"/>
                      <a:chExt cx="2895600" cy="152400"/>
                    </a:xfrm>
                  </p:grpSpPr>
                  <p:grpSp>
                    <p:nvGrpSpPr>
                      <p:cNvPr id="153" name="Group 56"/>
                      <p:cNvGrpSpPr/>
                      <p:nvPr/>
                    </p:nvGrpSpPr>
                    <p:grpSpPr>
                      <a:xfrm>
                        <a:off x="914400" y="1447800"/>
                        <a:ext cx="1066800" cy="152400"/>
                        <a:chOff x="914400" y="1447800"/>
                        <a:chExt cx="1066800" cy="152400"/>
                      </a:xfrm>
                    </p:grpSpPr>
                    <p:sp>
                      <p:nvSpPr>
                        <p:cNvPr id="239" name="Oval 238"/>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0" name="Oval 239"/>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54" name="Group 57"/>
                      <p:cNvGrpSpPr/>
                      <p:nvPr/>
                    </p:nvGrpSpPr>
                    <p:grpSpPr>
                      <a:xfrm>
                        <a:off x="2743200" y="1447800"/>
                        <a:ext cx="1066800" cy="152400"/>
                        <a:chOff x="914400" y="1447800"/>
                        <a:chExt cx="1066800" cy="152400"/>
                      </a:xfrm>
                    </p:grpSpPr>
                    <p:sp>
                      <p:nvSpPr>
                        <p:cNvPr id="237" name="Oval 236"/>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8" name="Oval 237"/>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nvGrpSpPr>
                  <p:cNvPr id="155" name="Group 69"/>
                  <p:cNvGrpSpPr/>
                  <p:nvPr/>
                </p:nvGrpSpPr>
                <p:grpSpPr>
                  <a:xfrm>
                    <a:off x="914400" y="3276600"/>
                    <a:ext cx="2895600" cy="1066800"/>
                    <a:chOff x="914400" y="1447800"/>
                    <a:chExt cx="2895600" cy="1066800"/>
                  </a:xfrm>
                </p:grpSpPr>
                <p:grpSp>
                  <p:nvGrpSpPr>
                    <p:cNvPr id="156" name="Group 60"/>
                    <p:cNvGrpSpPr/>
                    <p:nvPr/>
                  </p:nvGrpSpPr>
                  <p:grpSpPr>
                    <a:xfrm>
                      <a:off x="914400" y="2362200"/>
                      <a:ext cx="2895600" cy="152400"/>
                      <a:chOff x="914400" y="1447800"/>
                      <a:chExt cx="2895600" cy="152400"/>
                    </a:xfrm>
                  </p:grpSpPr>
                  <p:grpSp>
                    <p:nvGrpSpPr>
                      <p:cNvPr id="161" name="Group 56"/>
                      <p:cNvGrpSpPr/>
                      <p:nvPr/>
                    </p:nvGrpSpPr>
                    <p:grpSpPr>
                      <a:xfrm>
                        <a:off x="914400" y="1447800"/>
                        <a:ext cx="1066800" cy="152400"/>
                        <a:chOff x="914400" y="1447800"/>
                        <a:chExt cx="1066800" cy="152400"/>
                      </a:xfrm>
                    </p:grpSpPr>
                    <p:sp>
                      <p:nvSpPr>
                        <p:cNvPr id="231" name="Oval 230"/>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2" name="Oval 231"/>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2" name="Group 57"/>
                      <p:cNvGrpSpPr/>
                      <p:nvPr/>
                    </p:nvGrpSpPr>
                    <p:grpSpPr>
                      <a:xfrm>
                        <a:off x="2743200" y="1447800"/>
                        <a:ext cx="1066800" cy="152400"/>
                        <a:chOff x="914400" y="1447800"/>
                        <a:chExt cx="1066800" cy="152400"/>
                      </a:xfrm>
                    </p:grpSpPr>
                    <p:sp>
                      <p:nvSpPr>
                        <p:cNvPr id="229" name="Oval 228"/>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0" name="Oval 229"/>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67" name="Group 61"/>
                    <p:cNvGrpSpPr/>
                    <p:nvPr/>
                  </p:nvGrpSpPr>
                  <p:grpSpPr>
                    <a:xfrm>
                      <a:off x="914400" y="1447800"/>
                      <a:ext cx="2895600" cy="152400"/>
                      <a:chOff x="914400" y="1447800"/>
                      <a:chExt cx="2895600" cy="152400"/>
                    </a:xfrm>
                  </p:grpSpPr>
                  <p:grpSp>
                    <p:nvGrpSpPr>
                      <p:cNvPr id="168" name="Group 56"/>
                      <p:cNvGrpSpPr/>
                      <p:nvPr/>
                    </p:nvGrpSpPr>
                    <p:grpSpPr>
                      <a:xfrm>
                        <a:off x="914400" y="1447800"/>
                        <a:ext cx="1066800" cy="152400"/>
                        <a:chOff x="914400" y="1447800"/>
                        <a:chExt cx="1066800" cy="152400"/>
                      </a:xfrm>
                    </p:grpSpPr>
                    <p:sp>
                      <p:nvSpPr>
                        <p:cNvPr id="225" name="Oval 224"/>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6" name="Oval 225"/>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9" name="Group 57"/>
                      <p:cNvGrpSpPr/>
                      <p:nvPr/>
                    </p:nvGrpSpPr>
                    <p:grpSpPr>
                      <a:xfrm>
                        <a:off x="2743200" y="1447800"/>
                        <a:ext cx="1066800" cy="152400"/>
                        <a:chOff x="914400" y="1447800"/>
                        <a:chExt cx="1066800" cy="152400"/>
                      </a:xfrm>
                    </p:grpSpPr>
                    <p:sp>
                      <p:nvSpPr>
                        <p:cNvPr id="223" name="Oval 22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4" name="Oval 22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grpSp>
              <p:nvGrpSpPr>
                <p:cNvPr id="170" name="Group 85"/>
                <p:cNvGrpSpPr/>
                <p:nvPr/>
              </p:nvGrpSpPr>
              <p:grpSpPr>
                <a:xfrm>
                  <a:off x="4572000" y="1447800"/>
                  <a:ext cx="2895600" cy="2895600"/>
                  <a:chOff x="914400" y="1447800"/>
                  <a:chExt cx="2895600" cy="2895600"/>
                </a:xfrm>
              </p:grpSpPr>
              <p:grpSp>
                <p:nvGrpSpPr>
                  <p:cNvPr id="175" name="Group 68"/>
                  <p:cNvGrpSpPr/>
                  <p:nvPr/>
                </p:nvGrpSpPr>
                <p:grpSpPr>
                  <a:xfrm>
                    <a:off x="914400" y="1447800"/>
                    <a:ext cx="2895600" cy="1066800"/>
                    <a:chOff x="914400" y="1447800"/>
                    <a:chExt cx="2895600" cy="1066800"/>
                  </a:xfrm>
                </p:grpSpPr>
                <p:grpSp>
                  <p:nvGrpSpPr>
                    <p:cNvPr id="176" name="Group 60"/>
                    <p:cNvGrpSpPr/>
                    <p:nvPr/>
                  </p:nvGrpSpPr>
                  <p:grpSpPr>
                    <a:xfrm>
                      <a:off x="914400" y="2362200"/>
                      <a:ext cx="2895600" cy="152400"/>
                      <a:chOff x="914400" y="1447800"/>
                      <a:chExt cx="2895600" cy="152400"/>
                    </a:xfrm>
                  </p:grpSpPr>
                  <p:grpSp>
                    <p:nvGrpSpPr>
                      <p:cNvPr id="181" name="Group 56"/>
                      <p:cNvGrpSpPr/>
                      <p:nvPr/>
                    </p:nvGrpSpPr>
                    <p:grpSpPr>
                      <a:xfrm>
                        <a:off x="914400" y="1447800"/>
                        <a:ext cx="1066800" cy="152400"/>
                        <a:chOff x="914400" y="1447800"/>
                        <a:chExt cx="1066800" cy="152400"/>
                      </a:xfrm>
                    </p:grpSpPr>
                    <p:sp>
                      <p:nvSpPr>
                        <p:cNvPr id="215" name="Oval 214"/>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6" name="Oval 215"/>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2" name="Group 57"/>
                      <p:cNvGrpSpPr/>
                      <p:nvPr/>
                    </p:nvGrpSpPr>
                    <p:grpSpPr>
                      <a:xfrm>
                        <a:off x="2743200" y="1447800"/>
                        <a:ext cx="1066800" cy="152400"/>
                        <a:chOff x="914400" y="1447800"/>
                        <a:chExt cx="1066800" cy="152400"/>
                      </a:xfrm>
                    </p:grpSpPr>
                    <p:sp>
                      <p:nvSpPr>
                        <p:cNvPr id="213" name="Oval 21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4" name="Oval 21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83" name="Group 61"/>
                    <p:cNvGrpSpPr/>
                    <p:nvPr/>
                  </p:nvGrpSpPr>
                  <p:grpSpPr>
                    <a:xfrm>
                      <a:off x="914400" y="1447800"/>
                      <a:ext cx="2895600" cy="152400"/>
                      <a:chOff x="914400" y="1447800"/>
                      <a:chExt cx="2895600" cy="152400"/>
                    </a:xfrm>
                  </p:grpSpPr>
                  <p:grpSp>
                    <p:nvGrpSpPr>
                      <p:cNvPr id="184" name="Group 56"/>
                      <p:cNvGrpSpPr/>
                      <p:nvPr/>
                    </p:nvGrpSpPr>
                    <p:grpSpPr>
                      <a:xfrm>
                        <a:off x="914400" y="1447800"/>
                        <a:ext cx="1066800" cy="152400"/>
                        <a:chOff x="914400" y="1447800"/>
                        <a:chExt cx="1066800" cy="152400"/>
                      </a:xfrm>
                    </p:grpSpPr>
                    <p:sp>
                      <p:nvSpPr>
                        <p:cNvPr id="209" name="Oval 208"/>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0" name="Oval 209"/>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5" name="Group 57"/>
                      <p:cNvGrpSpPr/>
                      <p:nvPr/>
                    </p:nvGrpSpPr>
                    <p:grpSpPr>
                      <a:xfrm>
                        <a:off x="2743200" y="1447800"/>
                        <a:ext cx="1066800" cy="152400"/>
                        <a:chOff x="914400" y="1447800"/>
                        <a:chExt cx="1066800" cy="152400"/>
                      </a:xfrm>
                    </p:grpSpPr>
                    <p:sp>
                      <p:nvSpPr>
                        <p:cNvPr id="207" name="Oval 206"/>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8" name="Oval 207"/>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nvGrpSpPr>
                  <p:cNvPr id="186" name="Group 69"/>
                  <p:cNvGrpSpPr/>
                  <p:nvPr/>
                </p:nvGrpSpPr>
                <p:grpSpPr>
                  <a:xfrm>
                    <a:off x="914400" y="3276600"/>
                    <a:ext cx="2895600" cy="1066800"/>
                    <a:chOff x="914400" y="1447800"/>
                    <a:chExt cx="2895600" cy="1066800"/>
                  </a:xfrm>
                </p:grpSpPr>
                <p:grpSp>
                  <p:nvGrpSpPr>
                    <p:cNvPr id="187" name="Group 60"/>
                    <p:cNvGrpSpPr/>
                    <p:nvPr/>
                  </p:nvGrpSpPr>
                  <p:grpSpPr>
                    <a:xfrm>
                      <a:off x="914400" y="2362200"/>
                      <a:ext cx="2895600" cy="152400"/>
                      <a:chOff x="914400" y="1447800"/>
                      <a:chExt cx="2895600" cy="152400"/>
                    </a:xfrm>
                  </p:grpSpPr>
                  <p:grpSp>
                    <p:nvGrpSpPr>
                      <p:cNvPr id="188" name="Group 56"/>
                      <p:cNvGrpSpPr/>
                      <p:nvPr/>
                    </p:nvGrpSpPr>
                    <p:grpSpPr>
                      <a:xfrm>
                        <a:off x="914400" y="1447800"/>
                        <a:ext cx="1066800" cy="152400"/>
                        <a:chOff x="914400" y="1447800"/>
                        <a:chExt cx="1066800" cy="152400"/>
                      </a:xfrm>
                    </p:grpSpPr>
                    <p:sp>
                      <p:nvSpPr>
                        <p:cNvPr id="201" name="Oval 200"/>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2" name="Oval 201"/>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9" name="Group 57"/>
                      <p:cNvGrpSpPr/>
                      <p:nvPr/>
                    </p:nvGrpSpPr>
                    <p:grpSpPr>
                      <a:xfrm>
                        <a:off x="2743200" y="1447800"/>
                        <a:ext cx="1066800" cy="152400"/>
                        <a:chOff x="914400" y="1447800"/>
                        <a:chExt cx="1066800" cy="152400"/>
                      </a:xfrm>
                    </p:grpSpPr>
                    <p:sp>
                      <p:nvSpPr>
                        <p:cNvPr id="199" name="Oval 198"/>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0" name="Oval 199"/>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90" name="Group 61"/>
                    <p:cNvGrpSpPr/>
                    <p:nvPr/>
                  </p:nvGrpSpPr>
                  <p:grpSpPr>
                    <a:xfrm>
                      <a:off x="914400" y="1447800"/>
                      <a:ext cx="2895600" cy="152400"/>
                      <a:chOff x="914400" y="1447800"/>
                      <a:chExt cx="2895600" cy="152400"/>
                    </a:xfrm>
                  </p:grpSpPr>
                  <p:grpSp>
                    <p:nvGrpSpPr>
                      <p:cNvPr id="191" name="Group 56"/>
                      <p:cNvGrpSpPr/>
                      <p:nvPr/>
                    </p:nvGrpSpPr>
                    <p:grpSpPr>
                      <a:xfrm>
                        <a:off x="914400" y="1447800"/>
                        <a:ext cx="1066800" cy="152400"/>
                        <a:chOff x="914400" y="1447800"/>
                        <a:chExt cx="1066800" cy="152400"/>
                      </a:xfrm>
                    </p:grpSpPr>
                    <p:sp>
                      <p:nvSpPr>
                        <p:cNvPr id="195" name="Oval 194"/>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6" name="Oval 195"/>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92" name="Group 57"/>
                      <p:cNvGrpSpPr/>
                      <p:nvPr/>
                    </p:nvGrpSpPr>
                    <p:grpSpPr>
                      <a:xfrm>
                        <a:off x="2743200" y="1447800"/>
                        <a:ext cx="1066800" cy="152400"/>
                        <a:chOff x="914400" y="1447800"/>
                        <a:chExt cx="1066800" cy="152400"/>
                      </a:xfrm>
                    </p:grpSpPr>
                    <p:sp>
                      <p:nvSpPr>
                        <p:cNvPr id="193" name="Oval 19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 name="Oval 19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grpSp>
        </p:grpSp>
      </p:grpSp>
      <p:sp>
        <p:nvSpPr>
          <p:cNvPr id="565" name="TextBox 564"/>
          <p:cNvSpPr txBox="1"/>
          <p:nvPr/>
        </p:nvSpPr>
        <p:spPr>
          <a:xfrm>
            <a:off x="609600" y="4343400"/>
            <a:ext cx="1981200" cy="369332"/>
          </a:xfrm>
          <a:prstGeom prst="rect">
            <a:avLst/>
          </a:prstGeom>
          <a:noFill/>
        </p:spPr>
        <p:txBody>
          <a:bodyPr wrap="square" rtlCol="0">
            <a:spAutoFit/>
          </a:bodyPr>
          <a:lstStyle/>
          <a:p>
            <a:r>
              <a:rPr lang="en-US" dirty="0" smtClean="0">
                <a:solidFill>
                  <a:srgbClr val="0824F2"/>
                </a:solidFill>
              </a:rPr>
              <a:t>1   2   3   4 …</a:t>
            </a:r>
            <a:endParaRPr lang="en-US" dirty="0">
              <a:solidFill>
                <a:srgbClr val="0824F2"/>
              </a:solidFill>
            </a:endParaRPr>
          </a:p>
        </p:txBody>
      </p:sp>
      <p:sp>
        <p:nvSpPr>
          <p:cNvPr id="566" name="TextBox 565"/>
          <p:cNvSpPr txBox="1"/>
          <p:nvPr/>
        </p:nvSpPr>
        <p:spPr>
          <a:xfrm>
            <a:off x="8305800" y="4355068"/>
            <a:ext cx="838200" cy="369332"/>
          </a:xfrm>
          <a:prstGeom prst="rect">
            <a:avLst/>
          </a:prstGeom>
          <a:noFill/>
        </p:spPr>
        <p:txBody>
          <a:bodyPr wrap="square" rtlCol="0">
            <a:spAutoFit/>
          </a:bodyPr>
          <a:lstStyle/>
          <a:p>
            <a:r>
              <a:rPr lang="en-US" dirty="0" smtClean="0">
                <a:solidFill>
                  <a:srgbClr val="0824F2"/>
                </a:solidFill>
              </a:rPr>
              <a:t> … 32</a:t>
            </a:r>
            <a:endParaRPr lang="en-US" dirty="0">
              <a:solidFill>
                <a:srgbClr val="0824F2"/>
              </a:solidFill>
            </a:endParaRPr>
          </a:p>
        </p:txBody>
      </p:sp>
      <p:sp>
        <p:nvSpPr>
          <p:cNvPr id="567" name="TextBox 566"/>
          <p:cNvSpPr txBox="1"/>
          <p:nvPr/>
        </p:nvSpPr>
        <p:spPr>
          <a:xfrm>
            <a:off x="304800" y="3886200"/>
            <a:ext cx="381000" cy="369332"/>
          </a:xfrm>
          <a:prstGeom prst="rect">
            <a:avLst/>
          </a:prstGeom>
          <a:noFill/>
        </p:spPr>
        <p:txBody>
          <a:bodyPr wrap="square" rtlCol="0">
            <a:spAutoFit/>
          </a:bodyPr>
          <a:lstStyle/>
          <a:p>
            <a:r>
              <a:rPr lang="en-US" dirty="0" smtClean="0">
                <a:solidFill>
                  <a:srgbClr val="0824F2"/>
                </a:solidFill>
              </a:rPr>
              <a:t>x</a:t>
            </a:r>
            <a:endParaRPr lang="en-US" dirty="0">
              <a:solidFill>
                <a:srgbClr val="0824F2"/>
              </a:solidFill>
            </a:endParaRPr>
          </a:p>
        </p:txBody>
      </p:sp>
      <p:sp>
        <p:nvSpPr>
          <p:cNvPr id="568" name="TextBox 567"/>
          <p:cNvSpPr txBox="1"/>
          <p:nvPr/>
        </p:nvSpPr>
        <p:spPr>
          <a:xfrm>
            <a:off x="152400" y="3516868"/>
            <a:ext cx="609600" cy="369332"/>
          </a:xfrm>
          <a:prstGeom prst="rect">
            <a:avLst/>
          </a:prstGeom>
          <a:noFill/>
        </p:spPr>
        <p:txBody>
          <a:bodyPr wrap="square" rtlCol="0">
            <a:spAutoFit/>
          </a:bodyPr>
          <a:lstStyle/>
          <a:p>
            <a:r>
              <a:rPr lang="en-US" dirty="0" err="1" smtClean="0">
                <a:solidFill>
                  <a:srgbClr val="0824F2"/>
                </a:solidFill>
              </a:rPr>
              <a:t>A·x</a:t>
            </a:r>
            <a:endParaRPr lang="en-US" dirty="0">
              <a:solidFill>
                <a:srgbClr val="0824F2"/>
              </a:solidFill>
            </a:endParaRPr>
          </a:p>
        </p:txBody>
      </p:sp>
      <p:sp>
        <p:nvSpPr>
          <p:cNvPr id="569" name="TextBox 568"/>
          <p:cNvSpPr txBox="1"/>
          <p:nvPr/>
        </p:nvSpPr>
        <p:spPr>
          <a:xfrm>
            <a:off x="152400" y="3124200"/>
            <a:ext cx="609600" cy="369332"/>
          </a:xfrm>
          <a:prstGeom prst="rect">
            <a:avLst/>
          </a:prstGeom>
          <a:noFill/>
        </p:spPr>
        <p:txBody>
          <a:bodyPr wrap="square" rtlCol="0">
            <a:spAutoFit/>
          </a:bodyPr>
          <a:lstStyle/>
          <a:p>
            <a:r>
              <a:rPr lang="en-US" dirty="0" smtClean="0">
                <a:solidFill>
                  <a:srgbClr val="0824F2"/>
                </a:solidFill>
              </a:rPr>
              <a:t>A</a:t>
            </a:r>
            <a:r>
              <a:rPr lang="en-US" sz="2000" b="1" baseline="30000" dirty="0" smtClean="0">
                <a:solidFill>
                  <a:srgbClr val="0824F2"/>
                </a:solidFill>
              </a:rPr>
              <a:t>2</a:t>
            </a:r>
            <a:r>
              <a:rPr lang="en-US" dirty="0" smtClean="0">
                <a:solidFill>
                  <a:srgbClr val="0824F2"/>
                </a:solidFill>
              </a:rPr>
              <a:t>·x</a:t>
            </a:r>
            <a:endParaRPr lang="en-US" dirty="0">
              <a:solidFill>
                <a:srgbClr val="0824F2"/>
              </a:solidFill>
            </a:endParaRPr>
          </a:p>
        </p:txBody>
      </p:sp>
      <p:sp>
        <p:nvSpPr>
          <p:cNvPr id="570" name="TextBox 569"/>
          <p:cNvSpPr txBox="1"/>
          <p:nvPr/>
        </p:nvSpPr>
        <p:spPr>
          <a:xfrm>
            <a:off x="152400" y="2743200"/>
            <a:ext cx="609600" cy="369332"/>
          </a:xfrm>
          <a:prstGeom prst="rect">
            <a:avLst/>
          </a:prstGeom>
          <a:noFill/>
        </p:spPr>
        <p:txBody>
          <a:bodyPr wrap="square" rtlCol="0">
            <a:spAutoFit/>
          </a:bodyPr>
          <a:lstStyle/>
          <a:p>
            <a:r>
              <a:rPr lang="en-US" dirty="0" smtClean="0">
                <a:solidFill>
                  <a:srgbClr val="0824F2"/>
                </a:solidFill>
              </a:rPr>
              <a:t>A</a:t>
            </a:r>
            <a:r>
              <a:rPr lang="en-US" sz="2000" b="1" baseline="30000" dirty="0" smtClean="0">
                <a:solidFill>
                  <a:srgbClr val="0824F2"/>
                </a:solidFill>
              </a:rPr>
              <a:t>3</a:t>
            </a:r>
            <a:r>
              <a:rPr lang="en-US" dirty="0" smtClean="0">
                <a:solidFill>
                  <a:srgbClr val="0824F2"/>
                </a:solidFill>
              </a:rPr>
              <a:t>·x</a:t>
            </a:r>
            <a:endParaRPr lang="en-US" dirty="0">
              <a:solidFill>
                <a:srgbClr val="0824F2"/>
              </a:solidFill>
            </a:endParaRPr>
          </a:p>
        </p:txBody>
      </p:sp>
      <p:sp>
        <p:nvSpPr>
          <p:cNvPr id="523" name="Title 1"/>
          <p:cNvSpPr txBox="1">
            <a:spLocks/>
          </p:cNvSpPr>
          <p:nvPr/>
        </p:nvSpPr>
        <p:spPr>
          <a:xfrm>
            <a:off x="457200" y="274638"/>
            <a:ext cx="8229600" cy="1143000"/>
          </a:xfrm>
          <a:prstGeom prst="rect">
            <a:avLst/>
          </a:prstGeom>
        </p:spPr>
        <p:txBody>
          <a:bodyPr rtlCol="0">
            <a:noAutofit/>
          </a:bodyPr>
          <a:lstStyle/>
          <a:p>
            <a:pPr lvl="0" algn="ctr">
              <a:spcBef>
                <a:spcPct val="0"/>
              </a:spcBef>
              <a:defRPr/>
            </a:pPr>
            <a:r>
              <a:rPr kumimoji="0" lang="en-US" sz="3600" b="0" i="0" u="none" strike="noStrike" kern="1200" cap="none" spc="0" normalizeH="0" baseline="0" noProof="0" dirty="0" smtClean="0">
                <a:ln>
                  <a:noFill/>
                </a:ln>
                <a:solidFill>
                  <a:schemeClr val="tx1"/>
                </a:solidFill>
                <a:effectLst/>
                <a:uLnTx/>
                <a:uFillTx/>
                <a:latin typeface="+mj-lt"/>
                <a:ea typeface="+mj-ea"/>
                <a:cs typeface="+mj-cs"/>
              </a:rPr>
              <a:t>Communication Avoiding Kernels:</a:t>
            </a:r>
            <a:br>
              <a:rPr kumimoji="0" lang="en-US" sz="3600" b="0" i="0" u="none" strike="noStrike" kern="1200" cap="none" spc="0" normalizeH="0" baseline="0" noProof="0" dirty="0" smtClean="0">
                <a:ln>
                  <a:noFill/>
                </a:ln>
                <a:solidFill>
                  <a:schemeClr val="tx1"/>
                </a:solidFill>
                <a:effectLst/>
                <a:uLnTx/>
                <a:uFillTx/>
                <a:latin typeface="+mj-lt"/>
                <a:ea typeface="+mj-ea"/>
                <a:cs typeface="+mj-cs"/>
              </a:rPr>
            </a:br>
            <a:r>
              <a:rPr kumimoji="0" lang="en-US" sz="2800" b="0" i="0" u="none" strike="noStrike" kern="1200" cap="none" spc="0" normalizeH="0" baseline="0" noProof="0" dirty="0" smtClean="0">
                <a:ln>
                  <a:noFill/>
                </a:ln>
                <a:solidFill>
                  <a:schemeClr val="tx1"/>
                </a:solidFill>
                <a:effectLst/>
                <a:uLnTx/>
                <a:uFillTx/>
                <a:latin typeface="+mj-lt"/>
                <a:ea typeface="+mj-ea"/>
                <a:cs typeface="+mj-cs"/>
              </a:rPr>
              <a:t>The Matrix Powers Kernel</a:t>
            </a:r>
            <a:r>
              <a:rPr lang="en-US" sz="2800" dirty="0" smtClean="0"/>
              <a:t> :</a:t>
            </a:r>
            <a:r>
              <a:rPr lang="en-US" sz="2800" dirty="0" smtClean="0">
                <a:sym typeface="Symbol"/>
              </a:rPr>
              <a:t> [</a:t>
            </a:r>
            <a:r>
              <a:rPr lang="en-US" sz="2800" dirty="0" smtClean="0"/>
              <a:t>Ax, A</a:t>
            </a:r>
            <a:r>
              <a:rPr lang="en-US" sz="2800" baseline="40000" dirty="0" smtClean="0"/>
              <a:t>2</a:t>
            </a:r>
            <a:r>
              <a:rPr lang="en-US" sz="2800" dirty="0" smtClean="0"/>
              <a:t>x, …, </a:t>
            </a:r>
            <a:r>
              <a:rPr lang="en-US" sz="2800" dirty="0" err="1" smtClean="0"/>
              <a:t>A</a:t>
            </a:r>
            <a:r>
              <a:rPr lang="en-US" sz="2800" baseline="40000" dirty="0" err="1" smtClean="0"/>
              <a:t>k</a:t>
            </a:r>
            <a:r>
              <a:rPr lang="en-US" sz="2800" dirty="0" err="1" smtClean="0"/>
              <a:t>x</a:t>
            </a:r>
            <a:r>
              <a:rPr lang="en-US" sz="2800" dirty="0" smtClean="0"/>
              <a:t>] </a:t>
            </a:r>
            <a:endParaRPr kumimoji="0" lang="en-US" sz="2800" b="0" i="0" u="none" strike="noStrike" kern="1200" cap="none" spc="0" normalizeH="0" baseline="0" noProof="0" dirty="0">
              <a:ln>
                <a:noFill/>
              </a:ln>
              <a:solidFill>
                <a:schemeClr val="tx1"/>
              </a:solidFill>
              <a:effectLst/>
              <a:uLnTx/>
              <a:uFillTx/>
              <a:latin typeface="+mj-lt"/>
              <a:ea typeface="+mj-ea"/>
              <a:cs typeface="+mj-cs"/>
            </a:endParaRPr>
          </a:p>
        </p:txBody>
      </p:sp>
      <p:cxnSp>
        <p:nvCxnSpPr>
          <p:cNvPr id="524" name="Straight Connector 523"/>
          <p:cNvCxnSpPr/>
          <p:nvPr/>
        </p:nvCxnSpPr>
        <p:spPr>
          <a:xfrm>
            <a:off x="228600" y="1371600"/>
            <a:ext cx="8305800" cy="0"/>
          </a:xfrm>
          <a:prstGeom prst="line">
            <a:avLst/>
          </a:prstGeom>
        </p:spPr>
        <p:style>
          <a:lnRef idx="1">
            <a:schemeClr val="accent1"/>
          </a:lnRef>
          <a:fillRef idx="0">
            <a:schemeClr val="accent1"/>
          </a:fillRef>
          <a:effectRef idx="0">
            <a:schemeClr val="accent1"/>
          </a:effectRef>
          <a:fontRef idx="minor">
            <a:schemeClr val="tx1"/>
          </a:fontRef>
        </p:style>
      </p:cxnSp>
      <p:sp>
        <p:nvSpPr>
          <p:cNvPr id="529" name="Content Placeholder 2"/>
          <p:cNvSpPr txBox="1">
            <a:spLocks/>
          </p:cNvSpPr>
          <p:nvPr/>
        </p:nvSpPr>
        <p:spPr>
          <a:xfrm>
            <a:off x="228600" y="1447800"/>
            <a:ext cx="8915400" cy="4525963"/>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Replace k iterations of y = </a:t>
            </a:r>
            <a:r>
              <a:rPr kumimoji="0" lang="en-US" sz="3200" b="0" i="0" u="none" strike="noStrike" kern="1200" cap="none" spc="0" normalizeH="0" baseline="0" noProof="0" dirty="0" err="1" smtClean="0">
                <a:ln>
                  <a:noFill/>
                </a:ln>
                <a:solidFill>
                  <a:schemeClr val="tx1"/>
                </a:solidFill>
                <a:effectLst/>
                <a:uLnTx/>
                <a:uFillTx/>
                <a:latin typeface="+mn-lt"/>
                <a:ea typeface="+mn-ea"/>
                <a:cs typeface="+mn-cs"/>
              </a:rPr>
              <a:t>A</a:t>
            </a:r>
            <a:r>
              <a:rPr kumimoji="0" lang="en-US" sz="3200" b="0" i="0" u="none" strike="noStrike" kern="1200" cap="none" spc="0" normalizeH="0" baseline="0" noProof="0" dirty="0" err="1" smtClean="0">
                <a:ln>
                  <a:noFill/>
                </a:ln>
                <a:solidFill>
                  <a:schemeClr val="tx1"/>
                </a:solidFill>
                <a:effectLst/>
                <a:uLnTx/>
                <a:uFillTx/>
                <a:latin typeface="+mn-lt"/>
                <a:ea typeface="+mn-ea"/>
                <a:cs typeface="+mn-cs"/>
                <a:sym typeface="Symbol"/>
              </a:rPr>
              <a:t>x</a:t>
            </a:r>
            <a:r>
              <a:rPr kumimoji="0" lang="en-US" sz="3200" b="0" i="0" u="none" strike="noStrike" kern="1200" cap="none" spc="0" normalizeH="0" baseline="0" noProof="0" dirty="0" smtClean="0">
                <a:ln>
                  <a:noFill/>
                </a:ln>
                <a:solidFill>
                  <a:schemeClr val="tx1"/>
                </a:solidFill>
                <a:effectLst/>
                <a:uLnTx/>
                <a:uFillTx/>
                <a:latin typeface="+mn-lt"/>
                <a:ea typeface="+mn-ea"/>
                <a:cs typeface="+mn-cs"/>
                <a:sym typeface="Symbol"/>
              </a:rPr>
              <a:t> with [</a:t>
            </a:r>
            <a:r>
              <a:rPr kumimoji="0" lang="en-US" sz="3200" b="0" i="0" u="none" strike="noStrike" kern="1200" cap="none" spc="0" normalizeH="0" baseline="0" noProof="0" dirty="0" smtClean="0">
                <a:ln>
                  <a:noFill/>
                </a:ln>
                <a:solidFill>
                  <a:schemeClr val="tx1"/>
                </a:solidFill>
                <a:effectLst/>
                <a:uLnTx/>
                <a:uFillTx/>
                <a:latin typeface="+mn-lt"/>
                <a:ea typeface="+mn-ea"/>
                <a:cs typeface="+mn-cs"/>
              </a:rPr>
              <a:t>Ax, A</a:t>
            </a:r>
            <a:r>
              <a:rPr kumimoji="0" lang="en-US" sz="3200" b="0" i="0" u="none" strike="noStrike" kern="1200" cap="none" spc="0" normalizeH="0" baseline="40000" noProof="0" dirty="0" smtClean="0">
                <a:ln>
                  <a:noFill/>
                </a:ln>
                <a:solidFill>
                  <a:schemeClr val="tx1"/>
                </a:solidFill>
                <a:effectLst/>
                <a:uLnTx/>
                <a:uFillTx/>
                <a:latin typeface="+mn-lt"/>
                <a:ea typeface="+mn-ea"/>
                <a:cs typeface="+mn-cs"/>
              </a:rPr>
              <a:t>2</a:t>
            </a:r>
            <a:r>
              <a:rPr kumimoji="0" lang="en-US" sz="3200" b="0" i="0" u="none" strike="noStrike" kern="1200" cap="none" spc="0" normalizeH="0" baseline="0" noProof="0" dirty="0" smtClean="0">
                <a:ln>
                  <a:noFill/>
                </a:ln>
                <a:solidFill>
                  <a:schemeClr val="tx1"/>
                </a:solidFill>
                <a:effectLst/>
                <a:uLnTx/>
                <a:uFillTx/>
                <a:latin typeface="+mn-lt"/>
                <a:ea typeface="+mn-ea"/>
                <a:cs typeface="+mn-cs"/>
              </a:rPr>
              <a:t>x, …, </a:t>
            </a:r>
            <a:r>
              <a:rPr kumimoji="0" lang="en-US" sz="3200" b="0" i="0" u="none" strike="noStrike" kern="1200" cap="none" spc="0" normalizeH="0" baseline="0" noProof="0" dirty="0" err="1" smtClean="0">
                <a:ln>
                  <a:noFill/>
                </a:ln>
                <a:solidFill>
                  <a:schemeClr val="tx1"/>
                </a:solidFill>
                <a:effectLst/>
                <a:uLnTx/>
                <a:uFillTx/>
                <a:latin typeface="+mn-lt"/>
                <a:ea typeface="+mn-ea"/>
                <a:cs typeface="+mn-cs"/>
              </a:rPr>
              <a:t>A</a:t>
            </a:r>
            <a:r>
              <a:rPr kumimoji="0" lang="en-US" sz="3200" b="0" i="0" u="none" strike="noStrike" kern="1200" cap="none" spc="0" normalizeH="0" baseline="40000" noProof="0" dirty="0" err="1" smtClean="0">
                <a:ln>
                  <a:noFill/>
                </a:ln>
                <a:solidFill>
                  <a:schemeClr val="tx1"/>
                </a:solidFill>
                <a:effectLst/>
                <a:uLnTx/>
                <a:uFillTx/>
                <a:latin typeface="+mn-lt"/>
                <a:ea typeface="+mn-ea"/>
                <a:cs typeface="+mn-cs"/>
              </a:rPr>
              <a:t>k</a:t>
            </a:r>
            <a:r>
              <a:rPr kumimoji="0" lang="en-US" sz="3200" b="0" i="0" u="none" strike="noStrike" kern="1200" cap="none" spc="0" normalizeH="0" baseline="0" noProof="0" dirty="0" err="1" smtClean="0">
                <a:ln>
                  <a:noFill/>
                </a:ln>
                <a:solidFill>
                  <a:schemeClr val="tx1"/>
                </a:solidFill>
                <a:effectLst/>
                <a:uLnTx/>
                <a:uFillTx/>
                <a:latin typeface="+mn-lt"/>
                <a:ea typeface="+mn-ea"/>
                <a:cs typeface="+mn-cs"/>
              </a:rPr>
              <a:t>x</a:t>
            </a:r>
            <a:r>
              <a:rPr kumimoji="0" lang="en-US" sz="3200" b="0" i="0" u="none" strike="noStrike" kern="1200" cap="none" spc="0" normalizeH="0" baseline="0" noProof="0" dirty="0" smtClean="0">
                <a:ln>
                  <a:noFill/>
                </a:ln>
                <a:solidFill>
                  <a:schemeClr val="tx1"/>
                </a:solidFill>
                <a:effectLst/>
                <a:uLnTx/>
                <a:uFillTx/>
                <a:latin typeface="+mn-lt"/>
                <a:ea typeface="+mn-ea"/>
                <a:cs typeface="+mn-cs"/>
              </a:rPr>
              <a:t>]</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sz="3200" dirty="0" smtClean="0"/>
              <a:t>Sequential Algorithm</a:t>
            </a:r>
            <a:r>
              <a:rPr kumimoji="0" lang="en-US" sz="3200" b="0" i="0" u="none" strike="noStrike" kern="1200" cap="none" spc="0" normalizeH="0" baseline="0" noProof="0" dirty="0" smtClean="0">
                <a:ln>
                  <a:noFill/>
                </a:ln>
                <a:solidFill>
                  <a:schemeClr val="tx1"/>
                </a:solidFill>
                <a:effectLst/>
                <a:uLnTx/>
                <a:uFillTx/>
                <a:latin typeface="+mn-lt"/>
                <a:ea typeface="+mn-ea"/>
                <a:cs typeface="+mn-cs"/>
              </a:rPr>
              <a:t> </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en-US" sz="3200" dirty="0" smtClean="0"/>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Example: A </a:t>
            </a:r>
            <a:r>
              <a:rPr kumimoji="0" lang="en-US" sz="3200" b="0" i="0" u="none" strike="noStrike" kern="1200" cap="none" spc="0" normalizeH="0" baseline="0" noProof="0" dirty="0" err="1" smtClean="0">
                <a:ln>
                  <a:noFill/>
                </a:ln>
                <a:solidFill>
                  <a:schemeClr val="tx1"/>
                </a:solidFill>
                <a:effectLst/>
                <a:uLnTx/>
                <a:uFillTx/>
                <a:latin typeface="+mn-lt"/>
                <a:ea typeface="+mn-ea"/>
                <a:cs typeface="+mn-cs"/>
              </a:rPr>
              <a:t>tridiagonal</a:t>
            </a:r>
            <a:r>
              <a:rPr kumimoji="0" lang="en-US" sz="3200" b="0" i="0" u="none" strike="noStrike" kern="1200" cap="none" spc="0" normalizeH="0" baseline="0" noProof="0" dirty="0" smtClean="0">
                <a:ln>
                  <a:noFill/>
                </a:ln>
                <a:solidFill>
                  <a:schemeClr val="tx1"/>
                </a:solidFill>
                <a:effectLst/>
                <a:uLnTx/>
                <a:uFillTx/>
                <a:latin typeface="+mn-lt"/>
                <a:ea typeface="+mn-ea"/>
                <a:cs typeface="+mn-cs"/>
              </a:rPr>
              <a:t>, n=32, k=3</a:t>
            </a:r>
          </a:p>
        </p:txBody>
      </p:sp>
      <p:sp>
        <p:nvSpPr>
          <p:cNvPr id="530" name="TextBox 529"/>
          <p:cNvSpPr txBox="1"/>
          <p:nvPr/>
        </p:nvSpPr>
        <p:spPr>
          <a:xfrm>
            <a:off x="990600" y="2514600"/>
            <a:ext cx="779765" cy="369332"/>
          </a:xfrm>
          <a:prstGeom prst="rect">
            <a:avLst/>
          </a:prstGeom>
          <a:noFill/>
        </p:spPr>
        <p:txBody>
          <a:bodyPr wrap="none" rtlCol="0">
            <a:spAutoFit/>
          </a:bodyPr>
          <a:lstStyle/>
          <a:p>
            <a:r>
              <a:rPr lang="en-US" b="1" dirty="0" smtClean="0">
                <a:solidFill>
                  <a:schemeClr val="tx2">
                    <a:lumMod val="60000"/>
                    <a:lumOff val="40000"/>
                  </a:schemeClr>
                </a:solidFill>
              </a:rPr>
              <a:t>Step 1</a:t>
            </a:r>
            <a:endParaRPr lang="en-US" b="1" dirty="0">
              <a:solidFill>
                <a:schemeClr val="tx2">
                  <a:lumMod val="60000"/>
                  <a:lumOff val="40000"/>
                </a:schemeClr>
              </a:solidFill>
            </a:endParaRPr>
          </a:p>
        </p:txBody>
      </p:sp>
    </p:spTree>
  </p:cSld>
  <p:clrMapOvr>
    <a:masterClrMapping/>
  </p:clrMapOvr>
  <p:timing>
    <p:tnLst>
      <p:par>
        <p:cTn xmlns:p14="http://schemas.microsoft.com/office/powerpoint/2010/mai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3" name="Parallelogram 522"/>
          <p:cNvSpPr/>
          <p:nvPr/>
        </p:nvSpPr>
        <p:spPr>
          <a:xfrm flipH="1">
            <a:off x="1752600" y="2895600"/>
            <a:ext cx="3048000" cy="1219200"/>
          </a:xfrm>
          <a:prstGeom prst="parallelogram">
            <a:avLst>
              <a:gd name="adj" fmla="val 68478"/>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2" name="Right Triangle 521"/>
          <p:cNvSpPr/>
          <p:nvPr/>
        </p:nvSpPr>
        <p:spPr>
          <a:xfrm>
            <a:off x="1905000" y="2895600"/>
            <a:ext cx="838200" cy="1219200"/>
          </a:xfrm>
          <a:prstGeom prst="rtTriangle">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1" name="Rectangle 520"/>
          <p:cNvSpPr/>
          <p:nvPr/>
        </p:nvSpPr>
        <p:spPr>
          <a:xfrm>
            <a:off x="762000" y="2895600"/>
            <a:ext cx="1143000" cy="1219200"/>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 308"/>
          <p:cNvGrpSpPr/>
          <p:nvPr/>
        </p:nvGrpSpPr>
        <p:grpSpPr>
          <a:xfrm>
            <a:off x="762000" y="2895600"/>
            <a:ext cx="8077200" cy="1219200"/>
            <a:chOff x="-9144000" y="1447800"/>
            <a:chExt cx="28498800" cy="2895600"/>
          </a:xfrm>
        </p:grpSpPr>
        <p:grpSp>
          <p:nvGrpSpPr>
            <p:cNvPr id="3" name="Group 180"/>
            <p:cNvGrpSpPr/>
            <p:nvPr/>
          </p:nvGrpSpPr>
          <p:grpSpPr>
            <a:xfrm>
              <a:off x="-9144000" y="1447800"/>
              <a:ext cx="13868400" cy="2895600"/>
              <a:chOff x="914400" y="1447800"/>
              <a:chExt cx="13868400" cy="2895600"/>
            </a:xfrm>
          </p:grpSpPr>
          <p:grpSp>
            <p:nvGrpSpPr>
              <p:cNvPr id="4" name="Group 116"/>
              <p:cNvGrpSpPr/>
              <p:nvPr/>
            </p:nvGrpSpPr>
            <p:grpSpPr>
              <a:xfrm>
                <a:off x="914400" y="1447800"/>
                <a:ext cx="6553200" cy="2895600"/>
                <a:chOff x="914400" y="1447800"/>
                <a:chExt cx="6553200" cy="2895600"/>
              </a:xfrm>
            </p:grpSpPr>
            <p:grpSp>
              <p:nvGrpSpPr>
                <p:cNvPr id="5" name="Group 84"/>
                <p:cNvGrpSpPr/>
                <p:nvPr/>
              </p:nvGrpSpPr>
              <p:grpSpPr>
                <a:xfrm>
                  <a:off x="914400" y="1447800"/>
                  <a:ext cx="2895600" cy="2895600"/>
                  <a:chOff x="914400" y="1447800"/>
                  <a:chExt cx="2895600" cy="2895600"/>
                </a:xfrm>
              </p:grpSpPr>
              <p:grpSp>
                <p:nvGrpSpPr>
                  <p:cNvPr id="6" name="Group 68"/>
                  <p:cNvGrpSpPr/>
                  <p:nvPr/>
                </p:nvGrpSpPr>
                <p:grpSpPr>
                  <a:xfrm>
                    <a:off x="914400" y="1447800"/>
                    <a:ext cx="2895600" cy="1066800"/>
                    <a:chOff x="914400" y="1447800"/>
                    <a:chExt cx="2895600" cy="1066800"/>
                  </a:xfrm>
                </p:grpSpPr>
                <p:grpSp>
                  <p:nvGrpSpPr>
                    <p:cNvPr id="7" name="Group 60"/>
                    <p:cNvGrpSpPr/>
                    <p:nvPr/>
                  </p:nvGrpSpPr>
                  <p:grpSpPr>
                    <a:xfrm>
                      <a:off x="914400" y="2362200"/>
                      <a:ext cx="2895600" cy="152400"/>
                      <a:chOff x="914400" y="1447800"/>
                      <a:chExt cx="2895600" cy="152400"/>
                    </a:xfrm>
                  </p:grpSpPr>
                  <p:grpSp>
                    <p:nvGrpSpPr>
                      <p:cNvPr id="8" name="Group 56"/>
                      <p:cNvGrpSpPr/>
                      <p:nvPr/>
                    </p:nvGrpSpPr>
                    <p:grpSpPr>
                      <a:xfrm>
                        <a:off x="914400" y="1447800"/>
                        <a:ext cx="1066800" cy="152400"/>
                        <a:chOff x="914400" y="1447800"/>
                        <a:chExt cx="1066800" cy="152400"/>
                      </a:xfrm>
                    </p:grpSpPr>
                    <p:sp>
                      <p:nvSpPr>
                        <p:cNvPr id="53" name="Oval 5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Oval 5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 name="Group 57"/>
                      <p:cNvGrpSpPr/>
                      <p:nvPr/>
                    </p:nvGrpSpPr>
                    <p:grpSpPr>
                      <a:xfrm>
                        <a:off x="2743200" y="1447800"/>
                        <a:ext cx="1066800" cy="152400"/>
                        <a:chOff x="914400" y="1447800"/>
                        <a:chExt cx="1066800" cy="152400"/>
                      </a:xfrm>
                    </p:grpSpPr>
                    <p:sp>
                      <p:nvSpPr>
                        <p:cNvPr id="59" name="Oval 58"/>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Oval 59"/>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0" name="Group 61"/>
                    <p:cNvGrpSpPr/>
                    <p:nvPr/>
                  </p:nvGrpSpPr>
                  <p:grpSpPr>
                    <a:xfrm>
                      <a:off x="914400" y="1447800"/>
                      <a:ext cx="2895600" cy="152400"/>
                      <a:chOff x="914400" y="1447800"/>
                      <a:chExt cx="2895600" cy="152400"/>
                    </a:xfrm>
                  </p:grpSpPr>
                  <p:grpSp>
                    <p:nvGrpSpPr>
                      <p:cNvPr id="11" name="Group 56"/>
                      <p:cNvGrpSpPr/>
                      <p:nvPr/>
                    </p:nvGrpSpPr>
                    <p:grpSpPr>
                      <a:xfrm>
                        <a:off x="914400" y="1447800"/>
                        <a:ext cx="1066800" cy="152400"/>
                        <a:chOff x="914400" y="1447800"/>
                        <a:chExt cx="1066800" cy="152400"/>
                      </a:xfrm>
                    </p:grpSpPr>
                    <p:sp>
                      <p:nvSpPr>
                        <p:cNvPr id="67" name="Oval 66"/>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Oval 67"/>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2" name="Group 57"/>
                      <p:cNvGrpSpPr/>
                      <p:nvPr/>
                    </p:nvGrpSpPr>
                    <p:grpSpPr>
                      <a:xfrm>
                        <a:off x="2743200" y="1447800"/>
                        <a:ext cx="1066800" cy="152400"/>
                        <a:chOff x="914400" y="1447800"/>
                        <a:chExt cx="1066800" cy="152400"/>
                      </a:xfrm>
                    </p:grpSpPr>
                    <p:sp>
                      <p:nvSpPr>
                        <p:cNvPr id="65" name="Oval 64"/>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Oval 65"/>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nvGrpSpPr>
                  <p:cNvPr id="13" name="Group 69"/>
                  <p:cNvGrpSpPr/>
                  <p:nvPr/>
                </p:nvGrpSpPr>
                <p:grpSpPr>
                  <a:xfrm>
                    <a:off x="914400" y="3276600"/>
                    <a:ext cx="2895600" cy="1066800"/>
                    <a:chOff x="914400" y="1447800"/>
                    <a:chExt cx="2895600" cy="1066800"/>
                  </a:xfrm>
                </p:grpSpPr>
                <p:grpSp>
                  <p:nvGrpSpPr>
                    <p:cNvPr id="14" name="Group 60"/>
                    <p:cNvGrpSpPr/>
                    <p:nvPr/>
                  </p:nvGrpSpPr>
                  <p:grpSpPr>
                    <a:xfrm>
                      <a:off x="914400" y="2362200"/>
                      <a:ext cx="2895600" cy="152400"/>
                      <a:chOff x="914400" y="1447800"/>
                      <a:chExt cx="2895600" cy="152400"/>
                    </a:xfrm>
                  </p:grpSpPr>
                  <p:grpSp>
                    <p:nvGrpSpPr>
                      <p:cNvPr id="15" name="Group 56"/>
                      <p:cNvGrpSpPr/>
                      <p:nvPr/>
                    </p:nvGrpSpPr>
                    <p:grpSpPr>
                      <a:xfrm>
                        <a:off x="914400" y="1447800"/>
                        <a:ext cx="1066800" cy="152400"/>
                        <a:chOff x="914400" y="1447800"/>
                        <a:chExt cx="1066800" cy="152400"/>
                      </a:xfrm>
                    </p:grpSpPr>
                    <p:sp>
                      <p:nvSpPr>
                        <p:cNvPr id="83" name="Oval 8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Oval 8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 name="Group 57"/>
                      <p:cNvGrpSpPr/>
                      <p:nvPr/>
                    </p:nvGrpSpPr>
                    <p:grpSpPr>
                      <a:xfrm>
                        <a:off x="2743200" y="1447800"/>
                        <a:ext cx="1066800" cy="152400"/>
                        <a:chOff x="914400" y="1447800"/>
                        <a:chExt cx="1066800" cy="152400"/>
                      </a:xfrm>
                    </p:grpSpPr>
                    <p:sp>
                      <p:nvSpPr>
                        <p:cNvPr id="81" name="Oval 80"/>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Oval 81"/>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7" name="Group 61"/>
                    <p:cNvGrpSpPr/>
                    <p:nvPr/>
                  </p:nvGrpSpPr>
                  <p:grpSpPr>
                    <a:xfrm>
                      <a:off x="914400" y="1447800"/>
                      <a:ext cx="2895600" cy="152400"/>
                      <a:chOff x="914400" y="1447800"/>
                      <a:chExt cx="2895600" cy="152400"/>
                    </a:xfrm>
                  </p:grpSpPr>
                  <p:grpSp>
                    <p:nvGrpSpPr>
                      <p:cNvPr id="18" name="Group 56"/>
                      <p:cNvGrpSpPr/>
                      <p:nvPr/>
                    </p:nvGrpSpPr>
                    <p:grpSpPr>
                      <a:xfrm>
                        <a:off x="914400" y="1447800"/>
                        <a:ext cx="1066800" cy="152400"/>
                        <a:chOff x="914400" y="1447800"/>
                        <a:chExt cx="1066800" cy="152400"/>
                      </a:xfrm>
                    </p:grpSpPr>
                    <p:sp>
                      <p:nvSpPr>
                        <p:cNvPr id="77" name="Oval 76"/>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Oval 77"/>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9" name="Group 57"/>
                      <p:cNvGrpSpPr/>
                      <p:nvPr/>
                    </p:nvGrpSpPr>
                    <p:grpSpPr>
                      <a:xfrm>
                        <a:off x="2743200" y="1447800"/>
                        <a:ext cx="1066800" cy="152400"/>
                        <a:chOff x="914400" y="1447800"/>
                        <a:chExt cx="1066800" cy="152400"/>
                      </a:xfrm>
                    </p:grpSpPr>
                    <p:sp>
                      <p:nvSpPr>
                        <p:cNvPr id="75" name="Oval 74"/>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Oval 75"/>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grpSp>
              <p:nvGrpSpPr>
                <p:cNvPr id="20" name="Group 85"/>
                <p:cNvGrpSpPr/>
                <p:nvPr/>
              </p:nvGrpSpPr>
              <p:grpSpPr>
                <a:xfrm>
                  <a:off x="4572000" y="1447800"/>
                  <a:ext cx="2895600" cy="2895600"/>
                  <a:chOff x="914400" y="1447800"/>
                  <a:chExt cx="2895600" cy="2895600"/>
                </a:xfrm>
              </p:grpSpPr>
              <p:grpSp>
                <p:nvGrpSpPr>
                  <p:cNvPr id="21" name="Group 68"/>
                  <p:cNvGrpSpPr/>
                  <p:nvPr/>
                </p:nvGrpSpPr>
                <p:grpSpPr>
                  <a:xfrm>
                    <a:off x="914400" y="1447800"/>
                    <a:ext cx="2895600" cy="1066800"/>
                    <a:chOff x="914400" y="1447800"/>
                    <a:chExt cx="2895600" cy="1066800"/>
                  </a:xfrm>
                </p:grpSpPr>
                <p:grpSp>
                  <p:nvGrpSpPr>
                    <p:cNvPr id="22" name="Group 60"/>
                    <p:cNvGrpSpPr/>
                    <p:nvPr/>
                  </p:nvGrpSpPr>
                  <p:grpSpPr>
                    <a:xfrm>
                      <a:off x="914400" y="2362200"/>
                      <a:ext cx="2895600" cy="152400"/>
                      <a:chOff x="914400" y="1447800"/>
                      <a:chExt cx="2895600" cy="152400"/>
                    </a:xfrm>
                  </p:grpSpPr>
                  <p:grpSp>
                    <p:nvGrpSpPr>
                      <p:cNvPr id="23" name="Group 56"/>
                      <p:cNvGrpSpPr/>
                      <p:nvPr/>
                    </p:nvGrpSpPr>
                    <p:grpSpPr>
                      <a:xfrm>
                        <a:off x="914400" y="1447800"/>
                        <a:ext cx="1066800" cy="152400"/>
                        <a:chOff x="914400" y="1447800"/>
                        <a:chExt cx="1066800" cy="152400"/>
                      </a:xfrm>
                    </p:grpSpPr>
                    <p:sp>
                      <p:nvSpPr>
                        <p:cNvPr id="115" name="Oval 114"/>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 name="Oval 115"/>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4" name="Group 57"/>
                      <p:cNvGrpSpPr/>
                      <p:nvPr/>
                    </p:nvGrpSpPr>
                    <p:grpSpPr>
                      <a:xfrm>
                        <a:off x="2743200" y="1447800"/>
                        <a:ext cx="1066800" cy="152400"/>
                        <a:chOff x="914400" y="1447800"/>
                        <a:chExt cx="1066800" cy="152400"/>
                      </a:xfrm>
                    </p:grpSpPr>
                    <p:sp>
                      <p:nvSpPr>
                        <p:cNvPr id="113" name="Oval 11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Oval 11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25" name="Group 61"/>
                    <p:cNvGrpSpPr/>
                    <p:nvPr/>
                  </p:nvGrpSpPr>
                  <p:grpSpPr>
                    <a:xfrm>
                      <a:off x="914400" y="1447800"/>
                      <a:ext cx="2895600" cy="152400"/>
                      <a:chOff x="914400" y="1447800"/>
                      <a:chExt cx="2895600" cy="152400"/>
                    </a:xfrm>
                  </p:grpSpPr>
                  <p:grpSp>
                    <p:nvGrpSpPr>
                      <p:cNvPr id="26" name="Group 56"/>
                      <p:cNvGrpSpPr/>
                      <p:nvPr/>
                    </p:nvGrpSpPr>
                    <p:grpSpPr>
                      <a:xfrm>
                        <a:off x="914400" y="1447800"/>
                        <a:ext cx="1066800" cy="152400"/>
                        <a:chOff x="914400" y="1447800"/>
                        <a:chExt cx="1066800" cy="152400"/>
                      </a:xfrm>
                    </p:grpSpPr>
                    <p:sp>
                      <p:nvSpPr>
                        <p:cNvPr id="109" name="Oval 108"/>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Oval 109"/>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7" name="Group 57"/>
                      <p:cNvGrpSpPr/>
                      <p:nvPr/>
                    </p:nvGrpSpPr>
                    <p:grpSpPr>
                      <a:xfrm>
                        <a:off x="2743200" y="1447800"/>
                        <a:ext cx="1066800" cy="152400"/>
                        <a:chOff x="914400" y="1447800"/>
                        <a:chExt cx="1066800" cy="152400"/>
                      </a:xfrm>
                    </p:grpSpPr>
                    <p:sp>
                      <p:nvSpPr>
                        <p:cNvPr id="107" name="Oval 106"/>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Oval 107"/>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nvGrpSpPr>
                  <p:cNvPr id="28" name="Group 69"/>
                  <p:cNvGrpSpPr/>
                  <p:nvPr/>
                </p:nvGrpSpPr>
                <p:grpSpPr>
                  <a:xfrm>
                    <a:off x="914400" y="3276600"/>
                    <a:ext cx="2895600" cy="1066800"/>
                    <a:chOff x="914400" y="1447800"/>
                    <a:chExt cx="2895600" cy="1066800"/>
                  </a:xfrm>
                </p:grpSpPr>
                <p:grpSp>
                  <p:nvGrpSpPr>
                    <p:cNvPr id="29" name="Group 60"/>
                    <p:cNvGrpSpPr/>
                    <p:nvPr/>
                  </p:nvGrpSpPr>
                  <p:grpSpPr>
                    <a:xfrm>
                      <a:off x="914400" y="2362200"/>
                      <a:ext cx="2895600" cy="152400"/>
                      <a:chOff x="914400" y="1447800"/>
                      <a:chExt cx="2895600" cy="152400"/>
                    </a:xfrm>
                  </p:grpSpPr>
                  <p:grpSp>
                    <p:nvGrpSpPr>
                      <p:cNvPr id="30" name="Group 56"/>
                      <p:cNvGrpSpPr/>
                      <p:nvPr/>
                    </p:nvGrpSpPr>
                    <p:grpSpPr>
                      <a:xfrm>
                        <a:off x="914400" y="1447800"/>
                        <a:ext cx="1066800" cy="152400"/>
                        <a:chOff x="914400" y="1447800"/>
                        <a:chExt cx="1066800" cy="152400"/>
                      </a:xfrm>
                    </p:grpSpPr>
                    <p:sp>
                      <p:nvSpPr>
                        <p:cNvPr id="101" name="Oval 100"/>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Oval 101"/>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1" name="Group 57"/>
                      <p:cNvGrpSpPr/>
                      <p:nvPr/>
                    </p:nvGrpSpPr>
                    <p:grpSpPr>
                      <a:xfrm>
                        <a:off x="2743200" y="1447800"/>
                        <a:ext cx="1066800" cy="152400"/>
                        <a:chOff x="914400" y="1447800"/>
                        <a:chExt cx="1066800" cy="152400"/>
                      </a:xfrm>
                    </p:grpSpPr>
                    <p:sp>
                      <p:nvSpPr>
                        <p:cNvPr id="99" name="Oval 98"/>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Oval 99"/>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32" name="Group 61"/>
                    <p:cNvGrpSpPr/>
                    <p:nvPr/>
                  </p:nvGrpSpPr>
                  <p:grpSpPr>
                    <a:xfrm>
                      <a:off x="914400" y="1447800"/>
                      <a:ext cx="2895600" cy="152400"/>
                      <a:chOff x="914400" y="1447800"/>
                      <a:chExt cx="2895600" cy="152400"/>
                    </a:xfrm>
                  </p:grpSpPr>
                  <p:grpSp>
                    <p:nvGrpSpPr>
                      <p:cNvPr id="33" name="Group 56"/>
                      <p:cNvGrpSpPr/>
                      <p:nvPr/>
                    </p:nvGrpSpPr>
                    <p:grpSpPr>
                      <a:xfrm>
                        <a:off x="914400" y="1447800"/>
                        <a:ext cx="1066800" cy="152400"/>
                        <a:chOff x="914400" y="1447800"/>
                        <a:chExt cx="1066800" cy="152400"/>
                      </a:xfrm>
                    </p:grpSpPr>
                    <p:sp>
                      <p:nvSpPr>
                        <p:cNvPr id="95" name="Oval 94"/>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Oval 95"/>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4" name="Group 57"/>
                      <p:cNvGrpSpPr/>
                      <p:nvPr/>
                    </p:nvGrpSpPr>
                    <p:grpSpPr>
                      <a:xfrm>
                        <a:off x="2743200" y="1447800"/>
                        <a:ext cx="1066800" cy="152400"/>
                        <a:chOff x="914400" y="1447800"/>
                        <a:chExt cx="1066800" cy="152400"/>
                      </a:xfrm>
                    </p:grpSpPr>
                    <p:sp>
                      <p:nvSpPr>
                        <p:cNvPr id="93" name="Oval 9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Oval 9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grpSp>
          <p:grpSp>
            <p:nvGrpSpPr>
              <p:cNvPr id="35" name="Group 117"/>
              <p:cNvGrpSpPr/>
              <p:nvPr/>
            </p:nvGrpSpPr>
            <p:grpSpPr>
              <a:xfrm>
                <a:off x="8229600" y="1447800"/>
                <a:ext cx="6553200" cy="2895600"/>
                <a:chOff x="914400" y="1447800"/>
                <a:chExt cx="6553200" cy="2895600"/>
              </a:xfrm>
            </p:grpSpPr>
            <p:grpSp>
              <p:nvGrpSpPr>
                <p:cNvPr id="36" name="Group 84"/>
                <p:cNvGrpSpPr/>
                <p:nvPr/>
              </p:nvGrpSpPr>
              <p:grpSpPr>
                <a:xfrm>
                  <a:off x="914400" y="1447800"/>
                  <a:ext cx="2895600" cy="2895600"/>
                  <a:chOff x="914400" y="1447800"/>
                  <a:chExt cx="2895600" cy="2895600"/>
                </a:xfrm>
              </p:grpSpPr>
              <p:grpSp>
                <p:nvGrpSpPr>
                  <p:cNvPr id="37" name="Group 68"/>
                  <p:cNvGrpSpPr/>
                  <p:nvPr/>
                </p:nvGrpSpPr>
                <p:grpSpPr>
                  <a:xfrm>
                    <a:off x="914400" y="1447800"/>
                    <a:ext cx="2895600" cy="1066800"/>
                    <a:chOff x="914400" y="1447800"/>
                    <a:chExt cx="2895600" cy="1066800"/>
                  </a:xfrm>
                </p:grpSpPr>
                <p:grpSp>
                  <p:nvGrpSpPr>
                    <p:cNvPr id="38" name="Group 60"/>
                    <p:cNvGrpSpPr/>
                    <p:nvPr/>
                  </p:nvGrpSpPr>
                  <p:grpSpPr>
                    <a:xfrm>
                      <a:off x="914400" y="2362200"/>
                      <a:ext cx="2895600" cy="152400"/>
                      <a:chOff x="914400" y="1447800"/>
                      <a:chExt cx="2895600" cy="152400"/>
                    </a:xfrm>
                  </p:grpSpPr>
                  <p:grpSp>
                    <p:nvGrpSpPr>
                      <p:cNvPr id="39" name="Group 56"/>
                      <p:cNvGrpSpPr/>
                      <p:nvPr/>
                    </p:nvGrpSpPr>
                    <p:grpSpPr>
                      <a:xfrm>
                        <a:off x="914400" y="1447800"/>
                        <a:ext cx="1066800" cy="152400"/>
                        <a:chOff x="914400" y="1447800"/>
                        <a:chExt cx="1066800" cy="152400"/>
                      </a:xfrm>
                    </p:grpSpPr>
                    <p:sp>
                      <p:nvSpPr>
                        <p:cNvPr id="179" name="Oval 5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0" name="Oval 5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0" name="Group 57"/>
                      <p:cNvGrpSpPr/>
                      <p:nvPr/>
                    </p:nvGrpSpPr>
                    <p:grpSpPr>
                      <a:xfrm>
                        <a:off x="2743200" y="1447800"/>
                        <a:ext cx="1066800" cy="152400"/>
                        <a:chOff x="914400" y="1447800"/>
                        <a:chExt cx="1066800" cy="152400"/>
                      </a:xfrm>
                    </p:grpSpPr>
                    <p:sp>
                      <p:nvSpPr>
                        <p:cNvPr id="177" name="Oval 58"/>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8" name="Oval 59"/>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41" name="Group 61"/>
                    <p:cNvGrpSpPr/>
                    <p:nvPr/>
                  </p:nvGrpSpPr>
                  <p:grpSpPr>
                    <a:xfrm>
                      <a:off x="914400" y="1447800"/>
                      <a:ext cx="2895600" cy="152400"/>
                      <a:chOff x="914400" y="1447800"/>
                      <a:chExt cx="2895600" cy="152400"/>
                    </a:xfrm>
                  </p:grpSpPr>
                  <p:grpSp>
                    <p:nvGrpSpPr>
                      <p:cNvPr id="42" name="Group 56"/>
                      <p:cNvGrpSpPr/>
                      <p:nvPr/>
                    </p:nvGrpSpPr>
                    <p:grpSpPr>
                      <a:xfrm>
                        <a:off x="914400" y="1447800"/>
                        <a:ext cx="1066800" cy="152400"/>
                        <a:chOff x="914400" y="1447800"/>
                        <a:chExt cx="1066800" cy="152400"/>
                      </a:xfrm>
                    </p:grpSpPr>
                    <p:sp>
                      <p:nvSpPr>
                        <p:cNvPr id="173" name="Oval 17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4" name="Oval 17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3" name="Group 57"/>
                      <p:cNvGrpSpPr/>
                      <p:nvPr/>
                    </p:nvGrpSpPr>
                    <p:grpSpPr>
                      <a:xfrm>
                        <a:off x="2743200" y="1447800"/>
                        <a:ext cx="1066800" cy="152400"/>
                        <a:chOff x="914400" y="1447800"/>
                        <a:chExt cx="1066800" cy="152400"/>
                      </a:xfrm>
                    </p:grpSpPr>
                    <p:sp>
                      <p:nvSpPr>
                        <p:cNvPr id="171" name="Oval 170"/>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2" name="Oval 171"/>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nvGrpSpPr>
                  <p:cNvPr id="44" name="Group 69"/>
                  <p:cNvGrpSpPr/>
                  <p:nvPr/>
                </p:nvGrpSpPr>
                <p:grpSpPr>
                  <a:xfrm>
                    <a:off x="914400" y="3276600"/>
                    <a:ext cx="2895600" cy="1066800"/>
                    <a:chOff x="914400" y="1447800"/>
                    <a:chExt cx="2895600" cy="1066800"/>
                  </a:xfrm>
                </p:grpSpPr>
                <p:grpSp>
                  <p:nvGrpSpPr>
                    <p:cNvPr id="45" name="Group 60"/>
                    <p:cNvGrpSpPr/>
                    <p:nvPr/>
                  </p:nvGrpSpPr>
                  <p:grpSpPr>
                    <a:xfrm>
                      <a:off x="914400" y="2362200"/>
                      <a:ext cx="2895600" cy="152400"/>
                      <a:chOff x="914400" y="1447800"/>
                      <a:chExt cx="2895600" cy="152400"/>
                    </a:xfrm>
                  </p:grpSpPr>
                  <p:grpSp>
                    <p:nvGrpSpPr>
                      <p:cNvPr id="46" name="Group 56"/>
                      <p:cNvGrpSpPr/>
                      <p:nvPr/>
                    </p:nvGrpSpPr>
                    <p:grpSpPr>
                      <a:xfrm>
                        <a:off x="914400" y="1447800"/>
                        <a:ext cx="1066800" cy="152400"/>
                        <a:chOff x="914400" y="1447800"/>
                        <a:chExt cx="1066800" cy="152400"/>
                      </a:xfrm>
                    </p:grpSpPr>
                    <p:sp>
                      <p:nvSpPr>
                        <p:cNvPr id="165" name="Oval 164"/>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6" name="Oval 165"/>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7" name="Group 57"/>
                      <p:cNvGrpSpPr/>
                      <p:nvPr/>
                    </p:nvGrpSpPr>
                    <p:grpSpPr>
                      <a:xfrm>
                        <a:off x="2743200" y="1447800"/>
                        <a:ext cx="1066800" cy="152400"/>
                        <a:chOff x="914400" y="1447800"/>
                        <a:chExt cx="1066800" cy="152400"/>
                      </a:xfrm>
                    </p:grpSpPr>
                    <p:sp>
                      <p:nvSpPr>
                        <p:cNvPr id="163" name="Oval 16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4" name="Oval 16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48" name="Group 61"/>
                    <p:cNvGrpSpPr/>
                    <p:nvPr/>
                  </p:nvGrpSpPr>
                  <p:grpSpPr>
                    <a:xfrm>
                      <a:off x="914400" y="1447800"/>
                      <a:ext cx="2895600" cy="152400"/>
                      <a:chOff x="914400" y="1447800"/>
                      <a:chExt cx="2895600" cy="152400"/>
                    </a:xfrm>
                  </p:grpSpPr>
                  <p:grpSp>
                    <p:nvGrpSpPr>
                      <p:cNvPr id="49" name="Group 56"/>
                      <p:cNvGrpSpPr/>
                      <p:nvPr/>
                    </p:nvGrpSpPr>
                    <p:grpSpPr>
                      <a:xfrm>
                        <a:off x="914400" y="1447800"/>
                        <a:ext cx="1066800" cy="152400"/>
                        <a:chOff x="914400" y="1447800"/>
                        <a:chExt cx="1066800" cy="152400"/>
                      </a:xfrm>
                    </p:grpSpPr>
                    <p:sp>
                      <p:nvSpPr>
                        <p:cNvPr id="159" name="Oval 158"/>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0" name="Oval 159"/>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0" name="Group 57"/>
                      <p:cNvGrpSpPr/>
                      <p:nvPr/>
                    </p:nvGrpSpPr>
                    <p:grpSpPr>
                      <a:xfrm>
                        <a:off x="2743200" y="1447800"/>
                        <a:ext cx="1066800" cy="152400"/>
                        <a:chOff x="914400" y="1447800"/>
                        <a:chExt cx="1066800" cy="152400"/>
                      </a:xfrm>
                    </p:grpSpPr>
                    <p:sp>
                      <p:nvSpPr>
                        <p:cNvPr id="157" name="Oval 156"/>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8" name="Oval 157"/>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grpSp>
              <p:nvGrpSpPr>
                <p:cNvPr id="51" name="Group 85"/>
                <p:cNvGrpSpPr/>
                <p:nvPr/>
              </p:nvGrpSpPr>
              <p:grpSpPr>
                <a:xfrm>
                  <a:off x="4572000" y="1447800"/>
                  <a:ext cx="2895600" cy="2895600"/>
                  <a:chOff x="914400" y="1447800"/>
                  <a:chExt cx="2895600" cy="2895600"/>
                </a:xfrm>
              </p:grpSpPr>
              <p:grpSp>
                <p:nvGrpSpPr>
                  <p:cNvPr id="52" name="Group 68"/>
                  <p:cNvGrpSpPr/>
                  <p:nvPr/>
                </p:nvGrpSpPr>
                <p:grpSpPr>
                  <a:xfrm>
                    <a:off x="914400" y="1447800"/>
                    <a:ext cx="2895600" cy="1066800"/>
                    <a:chOff x="914400" y="1447800"/>
                    <a:chExt cx="2895600" cy="1066800"/>
                  </a:xfrm>
                </p:grpSpPr>
                <p:grpSp>
                  <p:nvGrpSpPr>
                    <p:cNvPr id="55" name="Group 60"/>
                    <p:cNvGrpSpPr/>
                    <p:nvPr/>
                  </p:nvGrpSpPr>
                  <p:grpSpPr>
                    <a:xfrm>
                      <a:off x="914400" y="2362200"/>
                      <a:ext cx="2895600" cy="152400"/>
                      <a:chOff x="914400" y="1447800"/>
                      <a:chExt cx="2895600" cy="152400"/>
                    </a:xfrm>
                  </p:grpSpPr>
                  <p:grpSp>
                    <p:nvGrpSpPr>
                      <p:cNvPr id="56" name="Group 56"/>
                      <p:cNvGrpSpPr/>
                      <p:nvPr/>
                    </p:nvGrpSpPr>
                    <p:grpSpPr>
                      <a:xfrm>
                        <a:off x="914400" y="1447800"/>
                        <a:ext cx="1066800" cy="152400"/>
                        <a:chOff x="914400" y="1447800"/>
                        <a:chExt cx="1066800" cy="152400"/>
                      </a:xfrm>
                    </p:grpSpPr>
                    <p:sp>
                      <p:nvSpPr>
                        <p:cNvPr id="149" name="Oval 148"/>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0" name="Oval 149"/>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7" name="Group 57"/>
                      <p:cNvGrpSpPr/>
                      <p:nvPr/>
                    </p:nvGrpSpPr>
                    <p:grpSpPr>
                      <a:xfrm>
                        <a:off x="2743200" y="1447800"/>
                        <a:ext cx="1066800" cy="152400"/>
                        <a:chOff x="914400" y="1447800"/>
                        <a:chExt cx="1066800" cy="152400"/>
                      </a:xfrm>
                    </p:grpSpPr>
                    <p:sp>
                      <p:nvSpPr>
                        <p:cNvPr id="147" name="Oval 146"/>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8" name="Oval 147"/>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58" name="Group 61"/>
                    <p:cNvGrpSpPr/>
                    <p:nvPr/>
                  </p:nvGrpSpPr>
                  <p:grpSpPr>
                    <a:xfrm>
                      <a:off x="914400" y="1447800"/>
                      <a:ext cx="2895600" cy="152400"/>
                      <a:chOff x="914400" y="1447800"/>
                      <a:chExt cx="2895600" cy="152400"/>
                    </a:xfrm>
                  </p:grpSpPr>
                  <p:grpSp>
                    <p:nvGrpSpPr>
                      <p:cNvPr id="61" name="Group 56"/>
                      <p:cNvGrpSpPr/>
                      <p:nvPr/>
                    </p:nvGrpSpPr>
                    <p:grpSpPr>
                      <a:xfrm>
                        <a:off x="914400" y="1447800"/>
                        <a:ext cx="1066800" cy="152400"/>
                        <a:chOff x="914400" y="1447800"/>
                        <a:chExt cx="1066800" cy="152400"/>
                      </a:xfrm>
                    </p:grpSpPr>
                    <p:sp>
                      <p:nvSpPr>
                        <p:cNvPr id="143" name="Oval 14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4" name="Oval 14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2" name="Group 57"/>
                      <p:cNvGrpSpPr/>
                      <p:nvPr/>
                    </p:nvGrpSpPr>
                    <p:grpSpPr>
                      <a:xfrm>
                        <a:off x="2743200" y="1447800"/>
                        <a:ext cx="1066800" cy="152400"/>
                        <a:chOff x="914400" y="1447800"/>
                        <a:chExt cx="1066800" cy="152400"/>
                      </a:xfrm>
                    </p:grpSpPr>
                    <p:sp>
                      <p:nvSpPr>
                        <p:cNvPr id="141" name="Oval 140"/>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2" name="Oval 141"/>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nvGrpSpPr>
                  <p:cNvPr id="63" name="Group 69"/>
                  <p:cNvGrpSpPr/>
                  <p:nvPr/>
                </p:nvGrpSpPr>
                <p:grpSpPr>
                  <a:xfrm>
                    <a:off x="914400" y="3276600"/>
                    <a:ext cx="2895600" cy="1066800"/>
                    <a:chOff x="914400" y="1447800"/>
                    <a:chExt cx="2895600" cy="1066800"/>
                  </a:xfrm>
                </p:grpSpPr>
                <p:grpSp>
                  <p:nvGrpSpPr>
                    <p:cNvPr id="64" name="Group 60"/>
                    <p:cNvGrpSpPr/>
                    <p:nvPr/>
                  </p:nvGrpSpPr>
                  <p:grpSpPr>
                    <a:xfrm>
                      <a:off x="914400" y="2362200"/>
                      <a:ext cx="2895600" cy="152400"/>
                      <a:chOff x="914400" y="1447800"/>
                      <a:chExt cx="2895600" cy="152400"/>
                    </a:xfrm>
                  </p:grpSpPr>
                  <p:grpSp>
                    <p:nvGrpSpPr>
                      <p:cNvPr id="69" name="Group 56"/>
                      <p:cNvGrpSpPr/>
                      <p:nvPr/>
                    </p:nvGrpSpPr>
                    <p:grpSpPr>
                      <a:xfrm>
                        <a:off x="914400" y="1447800"/>
                        <a:ext cx="1066800" cy="152400"/>
                        <a:chOff x="914400" y="1447800"/>
                        <a:chExt cx="1066800" cy="152400"/>
                      </a:xfrm>
                    </p:grpSpPr>
                    <p:sp>
                      <p:nvSpPr>
                        <p:cNvPr id="135" name="Oval 134"/>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6" name="Oval 135"/>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0" name="Group 57"/>
                      <p:cNvGrpSpPr/>
                      <p:nvPr/>
                    </p:nvGrpSpPr>
                    <p:grpSpPr>
                      <a:xfrm>
                        <a:off x="2743200" y="1447800"/>
                        <a:ext cx="1066800" cy="152400"/>
                        <a:chOff x="914400" y="1447800"/>
                        <a:chExt cx="1066800" cy="152400"/>
                      </a:xfrm>
                    </p:grpSpPr>
                    <p:sp>
                      <p:nvSpPr>
                        <p:cNvPr id="133" name="Oval 13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 name="Oval 13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71" name="Group 61"/>
                    <p:cNvGrpSpPr/>
                    <p:nvPr/>
                  </p:nvGrpSpPr>
                  <p:grpSpPr>
                    <a:xfrm>
                      <a:off x="914400" y="1447800"/>
                      <a:ext cx="2895600" cy="152400"/>
                      <a:chOff x="914400" y="1447800"/>
                      <a:chExt cx="2895600" cy="152400"/>
                    </a:xfrm>
                  </p:grpSpPr>
                  <p:grpSp>
                    <p:nvGrpSpPr>
                      <p:cNvPr id="72" name="Group 56"/>
                      <p:cNvGrpSpPr/>
                      <p:nvPr/>
                    </p:nvGrpSpPr>
                    <p:grpSpPr>
                      <a:xfrm>
                        <a:off x="914400" y="1447800"/>
                        <a:ext cx="1066800" cy="152400"/>
                        <a:chOff x="914400" y="1447800"/>
                        <a:chExt cx="1066800" cy="152400"/>
                      </a:xfrm>
                    </p:grpSpPr>
                    <p:sp>
                      <p:nvSpPr>
                        <p:cNvPr id="129" name="Oval 128"/>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 name="Oval 129"/>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3" name="Group 57"/>
                      <p:cNvGrpSpPr/>
                      <p:nvPr/>
                    </p:nvGrpSpPr>
                    <p:grpSpPr>
                      <a:xfrm>
                        <a:off x="2743200" y="1447800"/>
                        <a:ext cx="1066800" cy="152400"/>
                        <a:chOff x="914400" y="1447800"/>
                        <a:chExt cx="1066800" cy="152400"/>
                      </a:xfrm>
                    </p:grpSpPr>
                    <p:sp>
                      <p:nvSpPr>
                        <p:cNvPr id="127" name="Oval 126"/>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8" name="Oval 127"/>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grpSp>
        </p:grpSp>
        <p:grpSp>
          <p:nvGrpSpPr>
            <p:cNvPr id="74" name="Group 181"/>
            <p:cNvGrpSpPr/>
            <p:nvPr/>
          </p:nvGrpSpPr>
          <p:grpSpPr>
            <a:xfrm>
              <a:off x="5486400" y="1447800"/>
              <a:ext cx="13868400" cy="2895600"/>
              <a:chOff x="914400" y="1447800"/>
              <a:chExt cx="13868400" cy="2895600"/>
            </a:xfrm>
          </p:grpSpPr>
          <p:grpSp>
            <p:nvGrpSpPr>
              <p:cNvPr id="79" name="Group 116"/>
              <p:cNvGrpSpPr/>
              <p:nvPr/>
            </p:nvGrpSpPr>
            <p:grpSpPr>
              <a:xfrm>
                <a:off x="914400" y="1447800"/>
                <a:ext cx="6553200" cy="2895600"/>
                <a:chOff x="914400" y="1447800"/>
                <a:chExt cx="6553200" cy="2895600"/>
              </a:xfrm>
            </p:grpSpPr>
            <p:grpSp>
              <p:nvGrpSpPr>
                <p:cNvPr id="80" name="Group 84"/>
                <p:cNvGrpSpPr/>
                <p:nvPr/>
              </p:nvGrpSpPr>
              <p:grpSpPr>
                <a:xfrm>
                  <a:off x="914400" y="1447800"/>
                  <a:ext cx="2895600" cy="2895600"/>
                  <a:chOff x="914400" y="1447800"/>
                  <a:chExt cx="2895600" cy="2895600"/>
                </a:xfrm>
              </p:grpSpPr>
              <p:grpSp>
                <p:nvGrpSpPr>
                  <p:cNvPr id="85" name="Group 68"/>
                  <p:cNvGrpSpPr/>
                  <p:nvPr/>
                </p:nvGrpSpPr>
                <p:grpSpPr>
                  <a:xfrm>
                    <a:off x="914400" y="1447800"/>
                    <a:ext cx="2895600" cy="1066800"/>
                    <a:chOff x="914400" y="1447800"/>
                    <a:chExt cx="2895600" cy="1066800"/>
                  </a:xfrm>
                </p:grpSpPr>
                <p:grpSp>
                  <p:nvGrpSpPr>
                    <p:cNvPr id="86" name="Group 60"/>
                    <p:cNvGrpSpPr/>
                    <p:nvPr/>
                  </p:nvGrpSpPr>
                  <p:grpSpPr>
                    <a:xfrm>
                      <a:off x="914400" y="2362200"/>
                      <a:ext cx="2895600" cy="152400"/>
                      <a:chOff x="914400" y="1447800"/>
                      <a:chExt cx="2895600" cy="152400"/>
                    </a:xfrm>
                  </p:grpSpPr>
                  <p:grpSp>
                    <p:nvGrpSpPr>
                      <p:cNvPr id="87" name="Group 56"/>
                      <p:cNvGrpSpPr/>
                      <p:nvPr/>
                    </p:nvGrpSpPr>
                    <p:grpSpPr>
                      <a:xfrm>
                        <a:off x="914400" y="1447800"/>
                        <a:ext cx="1066800" cy="152400"/>
                        <a:chOff x="914400" y="1447800"/>
                        <a:chExt cx="1066800" cy="152400"/>
                      </a:xfrm>
                    </p:grpSpPr>
                    <p:sp>
                      <p:nvSpPr>
                        <p:cNvPr id="307" name="Oval 5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 name="Oval 5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8" name="Group 57"/>
                      <p:cNvGrpSpPr/>
                      <p:nvPr/>
                    </p:nvGrpSpPr>
                    <p:grpSpPr>
                      <a:xfrm>
                        <a:off x="2743200" y="1447800"/>
                        <a:ext cx="1066800" cy="152400"/>
                        <a:chOff x="914400" y="1447800"/>
                        <a:chExt cx="1066800" cy="152400"/>
                      </a:xfrm>
                    </p:grpSpPr>
                    <p:sp>
                      <p:nvSpPr>
                        <p:cNvPr id="305" name="Oval 304"/>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6" name="Oval 305"/>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89" name="Group 61"/>
                    <p:cNvGrpSpPr/>
                    <p:nvPr/>
                  </p:nvGrpSpPr>
                  <p:grpSpPr>
                    <a:xfrm>
                      <a:off x="914400" y="1447800"/>
                      <a:ext cx="2895600" cy="152400"/>
                      <a:chOff x="914400" y="1447800"/>
                      <a:chExt cx="2895600" cy="152400"/>
                    </a:xfrm>
                  </p:grpSpPr>
                  <p:grpSp>
                    <p:nvGrpSpPr>
                      <p:cNvPr id="90" name="Group 56"/>
                      <p:cNvGrpSpPr/>
                      <p:nvPr/>
                    </p:nvGrpSpPr>
                    <p:grpSpPr>
                      <a:xfrm>
                        <a:off x="914400" y="1447800"/>
                        <a:ext cx="1066800" cy="152400"/>
                        <a:chOff x="914400" y="1447800"/>
                        <a:chExt cx="1066800" cy="152400"/>
                      </a:xfrm>
                    </p:grpSpPr>
                    <p:sp>
                      <p:nvSpPr>
                        <p:cNvPr id="301" name="Oval 66"/>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2" name="Oval 67"/>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1" name="Group 57"/>
                      <p:cNvGrpSpPr/>
                      <p:nvPr/>
                    </p:nvGrpSpPr>
                    <p:grpSpPr>
                      <a:xfrm>
                        <a:off x="2743200" y="1447800"/>
                        <a:ext cx="1066800" cy="152400"/>
                        <a:chOff x="914400" y="1447800"/>
                        <a:chExt cx="1066800" cy="152400"/>
                      </a:xfrm>
                    </p:grpSpPr>
                    <p:sp>
                      <p:nvSpPr>
                        <p:cNvPr id="299" name="Oval 298"/>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0" name="Oval 299"/>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nvGrpSpPr>
                  <p:cNvPr id="92" name="Group 69"/>
                  <p:cNvGrpSpPr/>
                  <p:nvPr/>
                </p:nvGrpSpPr>
                <p:grpSpPr>
                  <a:xfrm>
                    <a:off x="914400" y="3276600"/>
                    <a:ext cx="2895600" cy="1066800"/>
                    <a:chOff x="914400" y="1447800"/>
                    <a:chExt cx="2895600" cy="1066800"/>
                  </a:xfrm>
                </p:grpSpPr>
                <p:grpSp>
                  <p:nvGrpSpPr>
                    <p:cNvPr id="97" name="Group 60"/>
                    <p:cNvGrpSpPr/>
                    <p:nvPr/>
                  </p:nvGrpSpPr>
                  <p:grpSpPr>
                    <a:xfrm>
                      <a:off x="914400" y="2362200"/>
                      <a:ext cx="2895600" cy="152400"/>
                      <a:chOff x="914400" y="1447800"/>
                      <a:chExt cx="2895600" cy="152400"/>
                    </a:xfrm>
                  </p:grpSpPr>
                  <p:grpSp>
                    <p:nvGrpSpPr>
                      <p:cNvPr id="98" name="Group 56"/>
                      <p:cNvGrpSpPr/>
                      <p:nvPr/>
                    </p:nvGrpSpPr>
                    <p:grpSpPr>
                      <a:xfrm>
                        <a:off x="914400" y="1447800"/>
                        <a:ext cx="1066800" cy="152400"/>
                        <a:chOff x="914400" y="1447800"/>
                        <a:chExt cx="1066800" cy="152400"/>
                      </a:xfrm>
                    </p:grpSpPr>
                    <p:sp>
                      <p:nvSpPr>
                        <p:cNvPr id="293" name="Oval 29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4" name="Oval 29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3" name="Group 57"/>
                      <p:cNvGrpSpPr/>
                      <p:nvPr/>
                    </p:nvGrpSpPr>
                    <p:grpSpPr>
                      <a:xfrm>
                        <a:off x="2743200" y="1447800"/>
                        <a:ext cx="1066800" cy="152400"/>
                        <a:chOff x="914400" y="1447800"/>
                        <a:chExt cx="1066800" cy="152400"/>
                      </a:xfrm>
                    </p:grpSpPr>
                    <p:sp>
                      <p:nvSpPr>
                        <p:cNvPr id="291" name="Oval 290"/>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2" name="Oval 291"/>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04" name="Group 61"/>
                    <p:cNvGrpSpPr/>
                    <p:nvPr/>
                  </p:nvGrpSpPr>
                  <p:grpSpPr>
                    <a:xfrm>
                      <a:off x="914400" y="1447800"/>
                      <a:ext cx="2895600" cy="152400"/>
                      <a:chOff x="914400" y="1447800"/>
                      <a:chExt cx="2895600" cy="152400"/>
                    </a:xfrm>
                  </p:grpSpPr>
                  <p:grpSp>
                    <p:nvGrpSpPr>
                      <p:cNvPr id="105" name="Group 56"/>
                      <p:cNvGrpSpPr/>
                      <p:nvPr/>
                    </p:nvGrpSpPr>
                    <p:grpSpPr>
                      <a:xfrm>
                        <a:off x="914400" y="1447800"/>
                        <a:ext cx="1066800" cy="152400"/>
                        <a:chOff x="914400" y="1447800"/>
                        <a:chExt cx="1066800" cy="152400"/>
                      </a:xfrm>
                    </p:grpSpPr>
                    <p:sp>
                      <p:nvSpPr>
                        <p:cNvPr id="287" name="Oval 286"/>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8" name="Oval 287"/>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6" name="Group 57"/>
                      <p:cNvGrpSpPr/>
                      <p:nvPr/>
                    </p:nvGrpSpPr>
                    <p:grpSpPr>
                      <a:xfrm>
                        <a:off x="2743200" y="1447800"/>
                        <a:ext cx="1066800" cy="152400"/>
                        <a:chOff x="914400" y="1447800"/>
                        <a:chExt cx="1066800" cy="152400"/>
                      </a:xfrm>
                    </p:grpSpPr>
                    <p:sp>
                      <p:nvSpPr>
                        <p:cNvPr id="285" name="Oval 284"/>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6" name="Oval 285"/>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grpSp>
              <p:nvGrpSpPr>
                <p:cNvPr id="111" name="Group 85"/>
                <p:cNvGrpSpPr/>
                <p:nvPr/>
              </p:nvGrpSpPr>
              <p:grpSpPr>
                <a:xfrm>
                  <a:off x="4572000" y="1447800"/>
                  <a:ext cx="2895600" cy="2895600"/>
                  <a:chOff x="914400" y="1447800"/>
                  <a:chExt cx="2895600" cy="2895600"/>
                </a:xfrm>
              </p:grpSpPr>
              <p:grpSp>
                <p:nvGrpSpPr>
                  <p:cNvPr id="112" name="Group 248"/>
                  <p:cNvGrpSpPr/>
                  <p:nvPr/>
                </p:nvGrpSpPr>
                <p:grpSpPr>
                  <a:xfrm>
                    <a:off x="914400" y="1447800"/>
                    <a:ext cx="2895600" cy="1066800"/>
                    <a:chOff x="914400" y="1447800"/>
                    <a:chExt cx="2895600" cy="1066800"/>
                  </a:xfrm>
                </p:grpSpPr>
                <p:grpSp>
                  <p:nvGrpSpPr>
                    <p:cNvPr id="117" name="Group 60"/>
                    <p:cNvGrpSpPr/>
                    <p:nvPr/>
                  </p:nvGrpSpPr>
                  <p:grpSpPr>
                    <a:xfrm>
                      <a:off x="914400" y="2362200"/>
                      <a:ext cx="2895600" cy="152400"/>
                      <a:chOff x="914400" y="1447800"/>
                      <a:chExt cx="2895600" cy="152400"/>
                    </a:xfrm>
                  </p:grpSpPr>
                  <p:grpSp>
                    <p:nvGrpSpPr>
                      <p:cNvPr id="118" name="Group 56"/>
                      <p:cNvGrpSpPr/>
                      <p:nvPr/>
                    </p:nvGrpSpPr>
                    <p:grpSpPr>
                      <a:xfrm>
                        <a:off x="914400" y="1447800"/>
                        <a:ext cx="1066800" cy="152400"/>
                        <a:chOff x="914400" y="1447800"/>
                        <a:chExt cx="1066800" cy="152400"/>
                      </a:xfrm>
                    </p:grpSpPr>
                    <p:sp>
                      <p:nvSpPr>
                        <p:cNvPr id="277" name="Oval 276"/>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8" name="Oval 277"/>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9" name="Group 57"/>
                      <p:cNvGrpSpPr/>
                      <p:nvPr/>
                    </p:nvGrpSpPr>
                    <p:grpSpPr>
                      <a:xfrm>
                        <a:off x="2743200" y="1447800"/>
                        <a:ext cx="1066800" cy="152400"/>
                        <a:chOff x="914400" y="1447800"/>
                        <a:chExt cx="1066800" cy="152400"/>
                      </a:xfrm>
                    </p:grpSpPr>
                    <p:sp>
                      <p:nvSpPr>
                        <p:cNvPr id="275" name="Oval 274"/>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6" name="Oval 275"/>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20" name="Group 61"/>
                    <p:cNvGrpSpPr/>
                    <p:nvPr/>
                  </p:nvGrpSpPr>
                  <p:grpSpPr>
                    <a:xfrm>
                      <a:off x="914400" y="1447800"/>
                      <a:ext cx="2895600" cy="152400"/>
                      <a:chOff x="914400" y="1447800"/>
                      <a:chExt cx="2895600" cy="152400"/>
                    </a:xfrm>
                  </p:grpSpPr>
                  <p:grpSp>
                    <p:nvGrpSpPr>
                      <p:cNvPr id="121" name="Group 56"/>
                      <p:cNvGrpSpPr/>
                      <p:nvPr/>
                    </p:nvGrpSpPr>
                    <p:grpSpPr>
                      <a:xfrm>
                        <a:off x="914400" y="1447800"/>
                        <a:ext cx="1066800" cy="152400"/>
                        <a:chOff x="914400" y="1447800"/>
                        <a:chExt cx="1066800" cy="152400"/>
                      </a:xfrm>
                    </p:grpSpPr>
                    <p:sp>
                      <p:nvSpPr>
                        <p:cNvPr id="271" name="Oval 270"/>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2" name="Oval 271"/>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22" name="Group 57"/>
                      <p:cNvGrpSpPr/>
                      <p:nvPr/>
                    </p:nvGrpSpPr>
                    <p:grpSpPr>
                      <a:xfrm>
                        <a:off x="2743200" y="1447800"/>
                        <a:ext cx="1066800" cy="152400"/>
                        <a:chOff x="914400" y="1447800"/>
                        <a:chExt cx="1066800" cy="152400"/>
                      </a:xfrm>
                    </p:grpSpPr>
                    <p:sp>
                      <p:nvSpPr>
                        <p:cNvPr id="269" name="Oval 268"/>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0" name="Oval 269"/>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nvGrpSpPr>
                  <p:cNvPr id="123" name="Group 249"/>
                  <p:cNvGrpSpPr/>
                  <p:nvPr/>
                </p:nvGrpSpPr>
                <p:grpSpPr>
                  <a:xfrm>
                    <a:off x="914400" y="3276600"/>
                    <a:ext cx="2895600" cy="1066800"/>
                    <a:chOff x="914400" y="1447800"/>
                    <a:chExt cx="2895600" cy="1066800"/>
                  </a:xfrm>
                </p:grpSpPr>
                <p:grpSp>
                  <p:nvGrpSpPr>
                    <p:cNvPr id="124" name="Group 60"/>
                    <p:cNvGrpSpPr/>
                    <p:nvPr/>
                  </p:nvGrpSpPr>
                  <p:grpSpPr>
                    <a:xfrm>
                      <a:off x="914400" y="2362200"/>
                      <a:ext cx="2895600" cy="152400"/>
                      <a:chOff x="914400" y="1447800"/>
                      <a:chExt cx="2895600" cy="152400"/>
                    </a:xfrm>
                  </p:grpSpPr>
                  <p:grpSp>
                    <p:nvGrpSpPr>
                      <p:cNvPr id="125" name="Group 56"/>
                      <p:cNvGrpSpPr/>
                      <p:nvPr/>
                    </p:nvGrpSpPr>
                    <p:grpSpPr>
                      <a:xfrm>
                        <a:off x="914400" y="1447800"/>
                        <a:ext cx="1066800" cy="152400"/>
                        <a:chOff x="914400" y="1447800"/>
                        <a:chExt cx="1066800" cy="152400"/>
                      </a:xfrm>
                    </p:grpSpPr>
                    <p:sp>
                      <p:nvSpPr>
                        <p:cNvPr id="263" name="Oval 26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4" name="Oval 26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26" name="Group 57"/>
                      <p:cNvGrpSpPr/>
                      <p:nvPr/>
                    </p:nvGrpSpPr>
                    <p:grpSpPr>
                      <a:xfrm>
                        <a:off x="2743200" y="1447800"/>
                        <a:ext cx="1066800" cy="152400"/>
                        <a:chOff x="914400" y="1447800"/>
                        <a:chExt cx="1066800" cy="152400"/>
                      </a:xfrm>
                    </p:grpSpPr>
                    <p:sp>
                      <p:nvSpPr>
                        <p:cNvPr id="261" name="Oval 260"/>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2" name="Oval 261"/>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31" name="Group 61"/>
                    <p:cNvGrpSpPr/>
                    <p:nvPr/>
                  </p:nvGrpSpPr>
                  <p:grpSpPr>
                    <a:xfrm>
                      <a:off x="914400" y="1447800"/>
                      <a:ext cx="2895600" cy="152400"/>
                      <a:chOff x="914400" y="1447800"/>
                      <a:chExt cx="2895600" cy="152400"/>
                    </a:xfrm>
                  </p:grpSpPr>
                  <p:grpSp>
                    <p:nvGrpSpPr>
                      <p:cNvPr id="132" name="Group 56"/>
                      <p:cNvGrpSpPr/>
                      <p:nvPr/>
                    </p:nvGrpSpPr>
                    <p:grpSpPr>
                      <a:xfrm>
                        <a:off x="914400" y="1447800"/>
                        <a:ext cx="1066800" cy="152400"/>
                        <a:chOff x="914400" y="1447800"/>
                        <a:chExt cx="1066800" cy="152400"/>
                      </a:xfrm>
                    </p:grpSpPr>
                    <p:sp>
                      <p:nvSpPr>
                        <p:cNvPr id="257" name="Oval 256"/>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8" name="Oval 257"/>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7" name="Group 57"/>
                      <p:cNvGrpSpPr/>
                      <p:nvPr/>
                    </p:nvGrpSpPr>
                    <p:grpSpPr>
                      <a:xfrm>
                        <a:off x="2743200" y="1447800"/>
                        <a:ext cx="1066800" cy="152400"/>
                        <a:chOff x="914400" y="1447800"/>
                        <a:chExt cx="1066800" cy="152400"/>
                      </a:xfrm>
                    </p:grpSpPr>
                    <p:sp>
                      <p:nvSpPr>
                        <p:cNvPr id="255" name="Oval 254"/>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6" name="Oval 255"/>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grpSp>
          <p:grpSp>
            <p:nvGrpSpPr>
              <p:cNvPr id="138" name="Group 117"/>
              <p:cNvGrpSpPr/>
              <p:nvPr/>
            </p:nvGrpSpPr>
            <p:grpSpPr>
              <a:xfrm>
                <a:off x="8229600" y="1447800"/>
                <a:ext cx="6553200" cy="2895600"/>
                <a:chOff x="914400" y="1447800"/>
                <a:chExt cx="6553200" cy="2895600"/>
              </a:xfrm>
            </p:grpSpPr>
            <p:grpSp>
              <p:nvGrpSpPr>
                <p:cNvPr id="139" name="Group 84"/>
                <p:cNvGrpSpPr/>
                <p:nvPr/>
              </p:nvGrpSpPr>
              <p:grpSpPr>
                <a:xfrm>
                  <a:off x="914400" y="1447800"/>
                  <a:ext cx="2895600" cy="2895600"/>
                  <a:chOff x="914400" y="1447800"/>
                  <a:chExt cx="2895600" cy="2895600"/>
                </a:xfrm>
              </p:grpSpPr>
              <p:grpSp>
                <p:nvGrpSpPr>
                  <p:cNvPr id="140" name="Group 68"/>
                  <p:cNvGrpSpPr/>
                  <p:nvPr/>
                </p:nvGrpSpPr>
                <p:grpSpPr>
                  <a:xfrm>
                    <a:off x="914400" y="1447800"/>
                    <a:ext cx="2895600" cy="1066800"/>
                    <a:chOff x="914400" y="1447800"/>
                    <a:chExt cx="2895600" cy="1066800"/>
                  </a:xfrm>
                </p:grpSpPr>
                <p:grpSp>
                  <p:nvGrpSpPr>
                    <p:cNvPr id="145" name="Group 60"/>
                    <p:cNvGrpSpPr/>
                    <p:nvPr/>
                  </p:nvGrpSpPr>
                  <p:grpSpPr>
                    <a:xfrm>
                      <a:off x="914400" y="2362200"/>
                      <a:ext cx="2895600" cy="152400"/>
                      <a:chOff x="914400" y="1447800"/>
                      <a:chExt cx="2895600" cy="152400"/>
                    </a:xfrm>
                  </p:grpSpPr>
                  <p:grpSp>
                    <p:nvGrpSpPr>
                      <p:cNvPr id="146" name="Group 56"/>
                      <p:cNvGrpSpPr/>
                      <p:nvPr/>
                    </p:nvGrpSpPr>
                    <p:grpSpPr>
                      <a:xfrm>
                        <a:off x="914400" y="1447800"/>
                        <a:ext cx="1066800" cy="152400"/>
                        <a:chOff x="914400" y="1447800"/>
                        <a:chExt cx="1066800" cy="152400"/>
                      </a:xfrm>
                    </p:grpSpPr>
                    <p:sp>
                      <p:nvSpPr>
                        <p:cNvPr id="245" name="Oval 5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6" name="Oval 5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51" name="Group 57"/>
                      <p:cNvGrpSpPr/>
                      <p:nvPr/>
                    </p:nvGrpSpPr>
                    <p:grpSpPr>
                      <a:xfrm>
                        <a:off x="2743200" y="1447800"/>
                        <a:ext cx="1066800" cy="152400"/>
                        <a:chOff x="914400" y="1447800"/>
                        <a:chExt cx="1066800" cy="152400"/>
                      </a:xfrm>
                    </p:grpSpPr>
                    <p:sp>
                      <p:nvSpPr>
                        <p:cNvPr id="243" name="Oval 58"/>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4" name="Oval 59"/>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52" name="Group 61"/>
                    <p:cNvGrpSpPr/>
                    <p:nvPr/>
                  </p:nvGrpSpPr>
                  <p:grpSpPr>
                    <a:xfrm>
                      <a:off x="914400" y="1447800"/>
                      <a:ext cx="2895600" cy="152400"/>
                      <a:chOff x="914400" y="1447800"/>
                      <a:chExt cx="2895600" cy="152400"/>
                    </a:xfrm>
                  </p:grpSpPr>
                  <p:grpSp>
                    <p:nvGrpSpPr>
                      <p:cNvPr id="153" name="Group 56"/>
                      <p:cNvGrpSpPr/>
                      <p:nvPr/>
                    </p:nvGrpSpPr>
                    <p:grpSpPr>
                      <a:xfrm>
                        <a:off x="914400" y="1447800"/>
                        <a:ext cx="1066800" cy="152400"/>
                        <a:chOff x="914400" y="1447800"/>
                        <a:chExt cx="1066800" cy="152400"/>
                      </a:xfrm>
                    </p:grpSpPr>
                    <p:sp>
                      <p:nvSpPr>
                        <p:cNvPr id="239" name="Oval 238"/>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0" name="Oval 239"/>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54" name="Group 57"/>
                      <p:cNvGrpSpPr/>
                      <p:nvPr/>
                    </p:nvGrpSpPr>
                    <p:grpSpPr>
                      <a:xfrm>
                        <a:off x="2743200" y="1447800"/>
                        <a:ext cx="1066800" cy="152400"/>
                        <a:chOff x="914400" y="1447800"/>
                        <a:chExt cx="1066800" cy="152400"/>
                      </a:xfrm>
                    </p:grpSpPr>
                    <p:sp>
                      <p:nvSpPr>
                        <p:cNvPr id="237" name="Oval 236"/>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8" name="Oval 237"/>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nvGrpSpPr>
                  <p:cNvPr id="155" name="Group 69"/>
                  <p:cNvGrpSpPr/>
                  <p:nvPr/>
                </p:nvGrpSpPr>
                <p:grpSpPr>
                  <a:xfrm>
                    <a:off x="914400" y="3276600"/>
                    <a:ext cx="2895600" cy="1066800"/>
                    <a:chOff x="914400" y="1447800"/>
                    <a:chExt cx="2895600" cy="1066800"/>
                  </a:xfrm>
                </p:grpSpPr>
                <p:grpSp>
                  <p:nvGrpSpPr>
                    <p:cNvPr id="156" name="Group 60"/>
                    <p:cNvGrpSpPr/>
                    <p:nvPr/>
                  </p:nvGrpSpPr>
                  <p:grpSpPr>
                    <a:xfrm>
                      <a:off x="914400" y="2362200"/>
                      <a:ext cx="2895600" cy="152400"/>
                      <a:chOff x="914400" y="1447800"/>
                      <a:chExt cx="2895600" cy="152400"/>
                    </a:xfrm>
                  </p:grpSpPr>
                  <p:grpSp>
                    <p:nvGrpSpPr>
                      <p:cNvPr id="161" name="Group 56"/>
                      <p:cNvGrpSpPr/>
                      <p:nvPr/>
                    </p:nvGrpSpPr>
                    <p:grpSpPr>
                      <a:xfrm>
                        <a:off x="914400" y="1447800"/>
                        <a:ext cx="1066800" cy="152400"/>
                        <a:chOff x="914400" y="1447800"/>
                        <a:chExt cx="1066800" cy="152400"/>
                      </a:xfrm>
                    </p:grpSpPr>
                    <p:sp>
                      <p:nvSpPr>
                        <p:cNvPr id="231" name="Oval 230"/>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2" name="Oval 231"/>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2" name="Group 57"/>
                      <p:cNvGrpSpPr/>
                      <p:nvPr/>
                    </p:nvGrpSpPr>
                    <p:grpSpPr>
                      <a:xfrm>
                        <a:off x="2743200" y="1447800"/>
                        <a:ext cx="1066800" cy="152400"/>
                        <a:chOff x="914400" y="1447800"/>
                        <a:chExt cx="1066800" cy="152400"/>
                      </a:xfrm>
                    </p:grpSpPr>
                    <p:sp>
                      <p:nvSpPr>
                        <p:cNvPr id="229" name="Oval 228"/>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0" name="Oval 229"/>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67" name="Group 61"/>
                    <p:cNvGrpSpPr/>
                    <p:nvPr/>
                  </p:nvGrpSpPr>
                  <p:grpSpPr>
                    <a:xfrm>
                      <a:off x="914400" y="1447800"/>
                      <a:ext cx="2895600" cy="152400"/>
                      <a:chOff x="914400" y="1447800"/>
                      <a:chExt cx="2895600" cy="152400"/>
                    </a:xfrm>
                  </p:grpSpPr>
                  <p:grpSp>
                    <p:nvGrpSpPr>
                      <p:cNvPr id="168" name="Group 56"/>
                      <p:cNvGrpSpPr/>
                      <p:nvPr/>
                    </p:nvGrpSpPr>
                    <p:grpSpPr>
                      <a:xfrm>
                        <a:off x="914400" y="1447800"/>
                        <a:ext cx="1066800" cy="152400"/>
                        <a:chOff x="914400" y="1447800"/>
                        <a:chExt cx="1066800" cy="152400"/>
                      </a:xfrm>
                    </p:grpSpPr>
                    <p:sp>
                      <p:nvSpPr>
                        <p:cNvPr id="225" name="Oval 224"/>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6" name="Oval 225"/>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9" name="Group 57"/>
                      <p:cNvGrpSpPr/>
                      <p:nvPr/>
                    </p:nvGrpSpPr>
                    <p:grpSpPr>
                      <a:xfrm>
                        <a:off x="2743200" y="1447800"/>
                        <a:ext cx="1066800" cy="152400"/>
                        <a:chOff x="914400" y="1447800"/>
                        <a:chExt cx="1066800" cy="152400"/>
                      </a:xfrm>
                    </p:grpSpPr>
                    <p:sp>
                      <p:nvSpPr>
                        <p:cNvPr id="223" name="Oval 22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4" name="Oval 22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grpSp>
              <p:nvGrpSpPr>
                <p:cNvPr id="170" name="Group 85"/>
                <p:cNvGrpSpPr/>
                <p:nvPr/>
              </p:nvGrpSpPr>
              <p:grpSpPr>
                <a:xfrm>
                  <a:off x="4572000" y="1447800"/>
                  <a:ext cx="2895600" cy="2895600"/>
                  <a:chOff x="914400" y="1447800"/>
                  <a:chExt cx="2895600" cy="2895600"/>
                </a:xfrm>
              </p:grpSpPr>
              <p:grpSp>
                <p:nvGrpSpPr>
                  <p:cNvPr id="175" name="Group 68"/>
                  <p:cNvGrpSpPr/>
                  <p:nvPr/>
                </p:nvGrpSpPr>
                <p:grpSpPr>
                  <a:xfrm>
                    <a:off x="914400" y="1447800"/>
                    <a:ext cx="2895600" cy="1066800"/>
                    <a:chOff x="914400" y="1447800"/>
                    <a:chExt cx="2895600" cy="1066800"/>
                  </a:xfrm>
                </p:grpSpPr>
                <p:grpSp>
                  <p:nvGrpSpPr>
                    <p:cNvPr id="176" name="Group 60"/>
                    <p:cNvGrpSpPr/>
                    <p:nvPr/>
                  </p:nvGrpSpPr>
                  <p:grpSpPr>
                    <a:xfrm>
                      <a:off x="914400" y="2362200"/>
                      <a:ext cx="2895600" cy="152400"/>
                      <a:chOff x="914400" y="1447800"/>
                      <a:chExt cx="2895600" cy="152400"/>
                    </a:xfrm>
                  </p:grpSpPr>
                  <p:grpSp>
                    <p:nvGrpSpPr>
                      <p:cNvPr id="181" name="Group 56"/>
                      <p:cNvGrpSpPr/>
                      <p:nvPr/>
                    </p:nvGrpSpPr>
                    <p:grpSpPr>
                      <a:xfrm>
                        <a:off x="914400" y="1447800"/>
                        <a:ext cx="1066800" cy="152400"/>
                        <a:chOff x="914400" y="1447800"/>
                        <a:chExt cx="1066800" cy="152400"/>
                      </a:xfrm>
                    </p:grpSpPr>
                    <p:sp>
                      <p:nvSpPr>
                        <p:cNvPr id="215" name="Oval 214"/>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6" name="Oval 215"/>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2" name="Group 57"/>
                      <p:cNvGrpSpPr/>
                      <p:nvPr/>
                    </p:nvGrpSpPr>
                    <p:grpSpPr>
                      <a:xfrm>
                        <a:off x="2743200" y="1447800"/>
                        <a:ext cx="1066800" cy="152400"/>
                        <a:chOff x="914400" y="1447800"/>
                        <a:chExt cx="1066800" cy="152400"/>
                      </a:xfrm>
                    </p:grpSpPr>
                    <p:sp>
                      <p:nvSpPr>
                        <p:cNvPr id="213" name="Oval 21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4" name="Oval 21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83" name="Group 61"/>
                    <p:cNvGrpSpPr/>
                    <p:nvPr/>
                  </p:nvGrpSpPr>
                  <p:grpSpPr>
                    <a:xfrm>
                      <a:off x="914400" y="1447800"/>
                      <a:ext cx="2895600" cy="152400"/>
                      <a:chOff x="914400" y="1447800"/>
                      <a:chExt cx="2895600" cy="152400"/>
                    </a:xfrm>
                  </p:grpSpPr>
                  <p:grpSp>
                    <p:nvGrpSpPr>
                      <p:cNvPr id="184" name="Group 56"/>
                      <p:cNvGrpSpPr/>
                      <p:nvPr/>
                    </p:nvGrpSpPr>
                    <p:grpSpPr>
                      <a:xfrm>
                        <a:off x="914400" y="1447800"/>
                        <a:ext cx="1066800" cy="152400"/>
                        <a:chOff x="914400" y="1447800"/>
                        <a:chExt cx="1066800" cy="152400"/>
                      </a:xfrm>
                    </p:grpSpPr>
                    <p:sp>
                      <p:nvSpPr>
                        <p:cNvPr id="209" name="Oval 208"/>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0" name="Oval 209"/>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5" name="Group 57"/>
                      <p:cNvGrpSpPr/>
                      <p:nvPr/>
                    </p:nvGrpSpPr>
                    <p:grpSpPr>
                      <a:xfrm>
                        <a:off x="2743200" y="1447800"/>
                        <a:ext cx="1066800" cy="152400"/>
                        <a:chOff x="914400" y="1447800"/>
                        <a:chExt cx="1066800" cy="152400"/>
                      </a:xfrm>
                    </p:grpSpPr>
                    <p:sp>
                      <p:nvSpPr>
                        <p:cNvPr id="207" name="Oval 206"/>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8" name="Oval 207"/>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nvGrpSpPr>
                  <p:cNvPr id="186" name="Group 69"/>
                  <p:cNvGrpSpPr/>
                  <p:nvPr/>
                </p:nvGrpSpPr>
                <p:grpSpPr>
                  <a:xfrm>
                    <a:off x="914400" y="3276600"/>
                    <a:ext cx="2895600" cy="1066800"/>
                    <a:chOff x="914400" y="1447800"/>
                    <a:chExt cx="2895600" cy="1066800"/>
                  </a:xfrm>
                </p:grpSpPr>
                <p:grpSp>
                  <p:nvGrpSpPr>
                    <p:cNvPr id="187" name="Group 60"/>
                    <p:cNvGrpSpPr/>
                    <p:nvPr/>
                  </p:nvGrpSpPr>
                  <p:grpSpPr>
                    <a:xfrm>
                      <a:off x="914400" y="2362200"/>
                      <a:ext cx="2895600" cy="152400"/>
                      <a:chOff x="914400" y="1447800"/>
                      <a:chExt cx="2895600" cy="152400"/>
                    </a:xfrm>
                  </p:grpSpPr>
                  <p:grpSp>
                    <p:nvGrpSpPr>
                      <p:cNvPr id="188" name="Group 56"/>
                      <p:cNvGrpSpPr/>
                      <p:nvPr/>
                    </p:nvGrpSpPr>
                    <p:grpSpPr>
                      <a:xfrm>
                        <a:off x="914400" y="1447800"/>
                        <a:ext cx="1066800" cy="152400"/>
                        <a:chOff x="914400" y="1447800"/>
                        <a:chExt cx="1066800" cy="152400"/>
                      </a:xfrm>
                    </p:grpSpPr>
                    <p:sp>
                      <p:nvSpPr>
                        <p:cNvPr id="201" name="Oval 200"/>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2" name="Oval 201"/>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9" name="Group 57"/>
                      <p:cNvGrpSpPr/>
                      <p:nvPr/>
                    </p:nvGrpSpPr>
                    <p:grpSpPr>
                      <a:xfrm>
                        <a:off x="2743200" y="1447800"/>
                        <a:ext cx="1066800" cy="152400"/>
                        <a:chOff x="914400" y="1447800"/>
                        <a:chExt cx="1066800" cy="152400"/>
                      </a:xfrm>
                    </p:grpSpPr>
                    <p:sp>
                      <p:nvSpPr>
                        <p:cNvPr id="199" name="Oval 198"/>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0" name="Oval 199"/>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90" name="Group 61"/>
                    <p:cNvGrpSpPr/>
                    <p:nvPr/>
                  </p:nvGrpSpPr>
                  <p:grpSpPr>
                    <a:xfrm>
                      <a:off x="914400" y="1447800"/>
                      <a:ext cx="2895600" cy="152400"/>
                      <a:chOff x="914400" y="1447800"/>
                      <a:chExt cx="2895600" cy="152400"/>
                    </a:xfrm>
                  </p:grpSpPr>
                  <p:grpSp>
                    <p:nvGrpSpPr>
                      <p:cNvPr id="191" name="Group 56"/>
                      <p:cNvGrpSpPr/>
                      <p:nvPr/>
                    </p:nvGrpSpPr>
                    <p:grpSpPr>
                      <a:xfrm>
                        <a:off x="914400" y="1447800"/>
                        <a:ext cx="1066800" cy="152400"/>
                        <a:chOff x="914400" y="1447800"/>
                        <a:chExt cx="1066800" cy="152400"/>
                      </a:xfrm>
                    </p:grpSpPr>
                    <p:sp>
                      <p:nvSpPr>
                        <p:cNvPr id="195" name="Oval 194"/>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6" name="Oval 195"/>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92" name="Group 57"/>
                      <p:cNvGrpSpPr/>
                      <p:nvPr/>
                    </p:nvGrpSpPr>
                    <p:grpSpPr>
                      <a:xfrm>
                        <a:off x="2743200" y="1447800"/>
                        <a:ext cx="1066800" cy="152400"/>
                        <a:chOff x="914400" y="1447800"/>
                        <a:chExt cx="1066800" cy="152400"/>
                      </a:xfrm>
                    </p:grpSpPr>
                    <p:sp>
                      <p:nvSpPr>
                        <p:cNvPr id="193" name="Oval 19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 name="Oval 19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grpSp>
        </p:grpSp>
      </p:grpSp>
      <p:sp>
        <p:nvSpPr>
          <p:cNvPr id="565" name="TextBox 564"/>
          <p:cNvSpPr txBox="1"/>
          <p:nvPr/>
        </p:nvSpPr>
        <p:spPr>
          <a:xfrm>
            <a:off x="609600" y="4343400"/>
            <a:ext cx="1981200" cy="369332"/>
          </a:xfrm>
          <a:prstGeom prst="rect">
            <a:avLst/>
          </a:prstGeom>
          <a:noFill/>
        </p:spPr>
        <p:txBody>
          <a:bodyPr wrap="square" rtlCol="0">
            <a:spAutoFit/>
          </a:bodyPr>
          <a:lstStyle/>
          <a:p>
            <a:r>
              <a:rPr lang="en-US" dirty="0" smtClean="0">
                <a:solidFill>
                  <a:srgbClr val="0824F2"/>
                </a:solidFill>
              </a:rPr>
              <a:t>1   2   3   4 …</a:t>
            </a:r>
            <a:endParaRPr lang="en-US" dirty="0">
              <a:solidFill>
                <a:srgbClr val="0824F2"/>
              </a:solidFill>
            </a:endParaRPr>
          </a:p>
        </p:txBody>
      </p:sp>
      <p:sp>
        <p:nvSpPr>
          <p:cNvPr id="566" name="TextBox 565"/>
          <p:cNvSpPr txBox="1"/>
          <p:nvPr/>
        </p:nvSpPr>
        <p:spPr>
          <a:xfrm>
            <a:off x="8305800" y="4355068"/>
            <a:ext cx="838200" cy="369332"/>
          </a:xfrm>
          <a:prstGeom prst="rect">
            <a:avLst/>
          </a:prstGeom>
          <a:noFill/>
        </p:spPr>
        <p:txBody>
          <a:bodyPr wrap="square" rtlCol="0">
            <a:spAutoFit/>
          </a:bodyPr>
          <a:lstStyle/>
          <a:p>
            <a:r>
              <a:rPr lang="en-US" dirty="0" smtClean="0">
                <a:solidFill>
                  <a:srgbClr val="0824F2"/>
                </a:solidFill>
              </a:rPr>
              <a:t> … 32</a:t>
            </a:r>
            <a:endParaRPr lang="en-US" dirty="0">
              <a:solidFill>
                <a:srgbClr val="0824F2"/>
              </a:solidFill>
            </a:endParaRPr>
          </a:p>
        </p:txBody>
      </p:sp>
      <p:sp>
        <p:nvSpPr>
          <p:cNvPr id="567" name="TextBox 566"/>
          <p:cNvSpPr txBox="1"/>
          <p:nvPr/>
        </p:nvSpPr>
        <p:spPr>
          <a:xfrm>
            <a:off x="304800" y="3886200"/>
            <a:ext cx="381000" cy="369332"/>
          </a:xfrm>
          <a:prstGeom prst="rect">
            <a:avLst/>
          </a:prstGeom>
          <a:noFill/>
        </p:spPr>
        <p:txBody>
          <a:bodyPr wrap="square" rtlCol="0">
            <a:spAutoFit/>
          </a:bodyPr>
          <a:lstStyle/>
          <a:p>
            <a:r>
              <a:rPr lang="en-US" dirty="0" smtClean="0">
                <a:solidFill>
                  <a:srgbClr val="0824F2"/>
                </a:solidFill>
              </a:rPr>
              <a:t>x</a:t>
            </a:r>
            <a:endParaRPr lang="en-US" dirty="0">
              <a:solidFill>
                <a:srgbClr val="0824F2"/>
              </a:solidFill>
            </a:endParaRPr>
          </a:p>
        </p:txBody>
      </p:sp>
      <p:sp>
        <p:nvSpPr>
          <p:cNvPr id="568" name="TextBox 567"/>
          <p:cNvSpPr txBox="1"/>
          <p:nvPr/>
        </p:nvSpPr>
        <p:spPr>
          <a:xfrm>
            <a:off x="152400" y="3516868"/>
            <a:ext cx="609600" cy="369332"/>
          </a:xfrm>
          <a:prstGeom prst="rect">
            <a:avLst/>
          </a:prstGeom>
          <a:noFill/>
        </p:spPr>
        <p:txBody>
          <a:bodyPr wrap="square" rtlCol="0">
            <a:spAutoFit/>
          </a:bodyPr>
          <a:lstStyle/>
          <a:p>
            <a:r>
              <a:rPr lang="en-US" dirty="0" err="1" smtClean="0">
                <a:solidFill>
                  <a:srgbClr val="0824F2"/>
                </a:solidFill>
              </a:rPr>
              <a:t>A·x</a:t>
            </a:r>
            <a:endParaRPr lang="en-US" dirty="0">
              <a:solidFill>
                <a:srgbClr val="0824F2"/>
              </a:solidFill>
            </a:endParaRPr>
          </a:p>
        </p:txBody>
      </p:sp>
      <p:sp>
        <p:nvSpPr>
          <p:cNvPr id="569" name="TextBox 568"/>
          <p:cNvSpPr txBox="1"/>
          <p:nvPr/>
        </p:nvSpPr>
        <p:spPr>
          <a:xfrm>
            <a:off x="152400" y="3124200"/>
            <a:ext cx="609600" cy="369332"/>
          </a:xfrm>
          <a:prstGeom prst="rect">
            <a:avLst/>
          </a:prstGeom>
          <a:noFill/>
        </p:spPr>
        <p:txBody>
          <a:bodyPr wrap="square" rtlCol="0">
            <a:spAutoFit/>
          </a:bodyPr>
          <a:lstStyle/>
          <a:p>
            <a:r>
              <a:rPr lang="en-US" dirty="0" smtClean="0">
                <a:solidFill>
                  <a:srgbClr val="0824F2"/>
                </a:solidFill>
              </a:rPr>
              <a:t>A</a:t>
            </a:r>
            <a:r>
              <a:rPr lang="en-US" sz="2000" b="1" baseline="30000" dirty="0" smtClean="0">
                <a:solidFill>
                  <a:srgbClr val="0824F2"/>
                </a:solidFill>
              </a:rPr>
              <a:t>2</a:t>
            </a:r>
            <a:r>
              <a:rPr lang="en-US" dirty="0" smtClean="0">
                <a:solidFill>
                  <a:srgbClr val="0824F2"/>
                </a:solidFill>
              </a:rPr>
              <a:t>·x</a:t>
            </a:r>
            <a:endParaRPr lang="en-US" dirty="0">
              <a:solidFill>
                <a:srgbClr val="0824F2"/>
              </a:solidFill>
            </a:endParaRPr>
          </a:p>
        </p:txBody>
      </p:sp>
      <p:sp>
        <p:nvSpPr>
          <p:cNvPr id="570" name="TextBox 569"/>
          <p:cNvSpPr txBox="1"/>
          <p:nvPr/>
        </p:nvSpPr>
        <p:spPr>
          <a:xfrm>
            <a:off x="152400" y="2743200"/>
            <a:ext cx="609600" cy="369332"/>
          </a:xfrm>
          <a:prstGeom prst="rect">
            <a:avLst/>
          </a:prstGeom>
          <a:noFill/>
        </p:spPr>
        <p:txBody>
          <a:bodyPr wrap="square" rtlCol="0">
            <a:spAutoFit/>
          </a:bodyPr>
          <a:lstStyle/>
          <a:p>
            <a:r>
              <a:rPr lang="en-US" dirty="0" smtClean="0">
                <a:solidFill>
                  <a:srgbClr val="0824F2"/>
                </a:solidFill>
              </a:rPr>
              <a:t>A</a:t>
            </a:r>
            <a:r>
              <a:rPr lang="en-US" sz="2000" b="1" baseline="30000" dirty="0" smtClean="0">
                <a:solidFill>
                  <a:srgbClr val="0824F2"/>
                </a:solidFill>
              </a:rPr>
              <a:t>3</a:t>
            </a:r>
            <a:r>
              <a:rPr lang="en-US" dirty="0" smtClean="0">
                <a:solidFill>
                  <a:srgbClr val="0824F2"/>
                </a:solidFill>
              </a:rPr>
              <a:t>·x</a:t>
            </a:r>
            <a:endParaRPr lang="en-US" dirty="0">
              <a:solidFill>
                <a:srgbClr val="0824F2"/>
              </a:solidFill>
            </a:endParaRPr>
          </a:p>
        </p:txBody>
      </p:sp>
      <p:sp>
        <p:nvSpPr>
          <p:cNvPr id="524" name="Title 1"/>
          <p:cNvSpPr txBox="1">
            <a:spLocks/>
          </p:cNvSpPr>
          <p:nvPr/>
        </p:nvSpPr>
        <p:spPr>
          <a:xfrm>
            <a:off x="457200" y="274638"/>
            <a:ext cx="8229600" cy="1143000"/>
          </a:xfrm>
          <a:prstGeom prst="rect">
            <a:avLst/>
          </a:prstGeom>
        </p:spPr>
        <p:txBody>
          <a:bodyPr rtlCol="0">
            <a:noAutofit/>
          </a:bodyPr>
          <a:lstStyle/>
          <a:p>
            <a:pPr lvl="0" algn="ctr">
              <a:spcBef>
                <a:spcPct val="0"/>
              </a:spcBef>
              <a:defRPr/>
            </a:pPr>
            <a:r>
              <a:rPr kumimoji="0" lang="en-US" sz="3600" b="0" i="0" u="none" strike="noStrike" kern="1200" cap="none" spc="0" normalizeH="0" baseline="0" noProof="0" dirty="0" smtClean="0">
                <a:ln>
                  <a:noFill/>
                </a:ln>
                <a:solidFill>
                  <a:schemeClr val="tx1"/>
                </a:solidFill>
                <a:effectLst/>
                <a:uLnTx/>
                <a:uFillTx/>
                <a:latin typeface="+mj-lt"/>
                <a:ea typeface="+mj-ea"/>
                <a:cs typeface="+mj-cs"/>
              </a:rPr>
              <a:t>Communication Avoiding Kernels:</a:t>
            </a:r>
            <a:br>
              <a:rPr kumimoji="0" lang="en-US" sz="3600" b="0" i="0" u="none" strike="noStrike" kern="1200" cap="none" spc="0" normalizeH="0" baseline="0" noProof="0" dirty="0" smtClean="0">
                <a:ln>
                  <a:noFill/>
                </a:ln>
                <a:solidFill>
                  <a:schemeClr val="tx1"/>
                </a:solidFill>
                <a:effectLst/>
                <a:uLnTx/>
                <a:uFillTx/>
                <a:latin typeface="+mj-lt"/>
                <a:ea typeface="+mj-ea"/>
                <a:cs typeface="+mj-cs"/>
              </a:rPr>
            </a:br>
            <a:r>
              <a:rPr kumimoji="0" lang="en-US" sz="2800" b="0" i="0" u="none" strike="noStrike" kern="1200" cap="none" spc="0" normalizeH="0" baseline="0" noProof="0" dirty="0" smtClean="0">
                <a:ln>
                  <a:noFill/>
                </a:ln>
                <a:solidFill>
                  <a:schemeClr val="tx1"/>
                </a:solidFill>
                <a:effectLst/>
                <a:uLnTx/>
                <a:uFillTx/>
                <a:latin typeface="+mj-lt"/>
                <a:ea typeface="+mj-ea"/>
                <a:cs typeface="+mj-cs"/>
              </a:rPr>
              <a:t>The Matrix Powers Kernel</a:t>
            </a:r>
            <a:r>
              <a:rPr lang="en-US" sz="2800" dirty="0" smtClean="0"/>
              <a:t> :</a:t>
            </a:r>
            <a:r>
              <a:rPr lang="en-US" sz="2800" dirty="0" smtClean="0">
                <a:sym typeface="Symbol"/>
              </a:rPr>
              <a:t> [</a:t>
            </a:r>
            <a:r>
              <a:rPr lang="en-US" sz="2800" dirty="0" smtClean="0"/>
              <a:t>Ax, A</a:t>
            </a:r>
            <a:r>
              <a:rPr lang="en-US" sz="2800" baseline="40000" dirty="0" smtClean="0"/>
              <a:t>2</a:t>
            </a:r>
            <a:r>
              <a:rPr lang="en-US" sz="2800" dirty="0" smtClean="0"/>
              <a:t>x, …, </a:t>
            </a:r>
            <a:r>
              <a:rPr lang="en-US" sz="2800" dirty="0" err="1" smtClean="0"/>
              <a:t>A</a:t>
            </a:r>
            <a:r>
              <a:rPr lang="en-US" sz="2800" baseline="40000" dirty="0" err="1" smtClean="0"/>
              <a:t>k</a:t>
            </a:r>
            <a:r>
              <a:rPr lang="en-US" sz="2800" dirty="0" err="1" smtClean="0"/>
              <a:t>x</a:t>
            </a:r>
            <a:r>
              <a:rPr lang="en-US" sz="2800" dirty="0" smtClean="0"/>
              <a:t>] </a:t>
            </a:r>
            <a:endParaRPr kumimoji="0" lang="en-US" sz="2800" b="0" i="0" u="none" strike="noStrike" kern="1200" cap="none" spc="0" normalizeH="0" baseline="0" noProof="0" dirty="0">
              <a:ln>
                <a:noFill/>
              </a:ln>
              <a:solidFill>
                <a:schemeClr val="tx1"/>
              </a:solidFill>
              <a:effectLst/>
              <a:uLnTx/>
              <a:uFillTx/>
              <a:latin typeface="+mj-lt"/>
              <a:ea typeface="+mj-ea"/>
              <a:cs typeface="+mj-cs"/>
            </a:endParaRPr>
          </a:p>
        </p:txBody>
      </p:sp>
      <p:cxnSp>
        <p:nvCxnSpPr>
          <p:cNvPr id="529" name="Straight Connector 528"/>
          <p:cNvCxnSpPr/>
          <p:nvPr/>
        </p:nvCxnSpPr>
        <p:spPr>
          <a:xfrm>
            <a:off x="228600" y="1371600"/>
            <a:ext cx="8305800" cy="0"/>
          </a:xfrm>
          <a:prstGeom prst="line">
            <a:avLst/>
          </a:prstGeom>
        </p:spPr>
        <p:style>
          <a:lnRef idx="1">
            <a:schemeClr val="accent1"/>
          </a:lnRef>
          <a:fillRef idx="0">
            <a:schemeClr val="accent1"/>
          </a:fillRef>
          <a:effectRef idx="0">
            <a:schemeClr val="accent1"/>
          </a:effectRef>
          <a:fontRef idx="minor">
            <a:schemeClr val="tx1"/>
          </a:fontRef>
        </p:style>
      </p:cxnSp>
      <p:sp>
        <p:nvSpPr>
          <p:cNvPr id="530" name="Content Placeholder 2"/>
          <p:cNvSpPr txBox="1">
            <a:spLocks/>
          </p:cNvSpPr>
          <p:nvPr/>
        </p:nvSpPr>
        <p:spPr>
          <a:xfrm>
            <a:off x="228600" y="1447800"/>
            <a:ext cx="8915400" cy="4525963"/>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Replace k iterations of y = </a:t>
            </a:r>
            <a:r>
              <a:rPr kumimoji="0" lang="en-US" sz="3200" b="0" i="0" u="none" strike="noStrike" kern="1200" cap="none" spc="0" normalizeH="0" baseline="0" noProof="0" dirty="0" err="1" smtClean="0">
                <a:ln>
                  <a:noFill/>
                </a:ln>
                <a:solidFill>
                  <a:schemeClr val="tx1"/>
                </a:solidFill>
                <a:effectLst/>
                <a:uLnTx/>
                <a:uFillTx/>
                <a:latin typeface="+mn-lt"/>
                <a:ea typeface="+mn-ea"/>
                <a:cs typeface="+mn-cs"/>
              </a:rPr>
              <a:t>A</a:t>
            </a:r>
            <a:r>
              <a:rPr kumimoji="0" lang="en-US" sz="3200" b="0" i="0" u="none" strike="noStrike" kern="1200" cap="none" spc="0" normalizeH="0" baseline="0" noProof="0" dirty="0" err="1" smtClean="0">
                <a:ln>
                  <a:noFill/>
                </a:ln>
                <a:solidFill>
                  <a:schemeClr val="tx1"/>
                </a:solidFill>
                <a:effectLst/>
                <a:uLnTx/>
                <a:uFillTx/>
                <a:latin typeface="+mn-lt"/>
                <a:ea typeface="+mn-ea"/>
                <a:cs typeface="+mn-cs"/>
                <a:sym typeface="Symbol"/>
              </a:rPr>
              <a:t>x</a:t>
            </a:r>
            <a:r>
              <a:rPr kumimoji="0" lang="en-US" sz="3200" b="0" i="0" u="none" strike="noStrike" kern="1200" cap="none" spc="0" normalizeH="0" baseline="0" noProof="0" dirty="0" smtClean="0">
                <a:ln>
                  <a:noFill/>
                </a:ln>
                <a:solidFill>
                  <a:schemeClr val="tx1"/>
                </a:solidFill>
                <a:effectLst/>
                <a:uLnTx/>
                <a:uFillTx/>
                <a:latin typeface="+mn-lt"/>
                <a:ea typeface="+mn-ea"/>
                <a:cs typeface="+mn-cs"/>
                <a:sym typeface="Symbol"/>
              </a:rPr>
              <a:t> with [</a:t>
            </a:r>
            <a:r>
              <a:rPr kumimoji="0" lang="en-US" sz="3200" b="0" i="0" u="none" strike="noStrike" kern="1200" cap="none" spc="0" normalizeH="0" baseline="0" noProof="0" dirty="0" smtClean="0">
                <a:ln>
                  <a:noFill/>
                </a:ln>
                <a:solidFill>
                  <a:schemeClr val="tx1"/>
                </a:solidFill>
                <a:effectLst/>
                <a:uLnTx/>
                <a:uFillTx/>
                <a:latin typeface="+mn-lt"/>
                <a:ea typeface="+mn-ea"/>
                <a:cs typeface="+mn-cs"/>
              </a:rPr>
              <a:t>Ax, A</a:t>
            </a:r>
            <a:r>
              <a:rPr kumimoji="0" lang="en-US" sz="3200" b="0" i="0" u="none" strike="noStrike" kern="1200" cap="none" spc="0" normalizeH="0" baseline="40000" noProof="0" dirty="0" smtClean="0">
                <a:ln>
                  <a:noFill/>
                </a:ln>
                <a:solidFill>
                  <a:schemeClr val="tx1"/>
                </a:solidFill>
                <a:effectLst/>
                <a:uLnTx/>
                <a:uFillTx/>
                <a:latin typeface="+mn-lt"/>
                <a:ea typeface="+mn-ea"/>
                <a:cs typeface="+mn-cs"/>
              </a:rPr>
              <a:t>2</a:t>
            </a:r>
            <a:r>
              <a:rPr kumimoji="0" lang="en-US" sz="3200" b="0" i="0" u="none" strike="noStrike" kern="1200" cap="none" spc="0" normalizeH="0" baseline="0" noProof="0" dirty="0" smtClean="0">
                <a:ln>
                  <a:noFill/>
                </a:ln>
                <a:solidFill>
                  <a:schemeClr val="tx1"/>
                </a:solidFill>
                <a:effectLst/>
                <a:uLnTx/>
                <a:uFillTx/>
                <a:latin typeface="+mn-lt"/>
                <a:ea typeface="+mn-ea"/>
                <a:cs typeface="+mn-cs"/>
              </a:rPr>
              <a:t>x, …, </a:t>
            </a:r>
            <a:r>
              <a:rPr kumimoji="0" lang="en-US" sz="3200" b="0" i="0" u="none" strike="noStrike" kern="1200" cap="none" spc="0" normalizeH="0" baseline="0" noProof="0" dirty="0" err="1" smtClean="0">
                <a:ln>
                  <a:noFill/>
                </a:ln>
                <a:solidFill>
                  <a:schemeClr val="tx1"/>
                </a:solidFill>
                <a:effectLst/>
                <a:uLnTx/>
                <a:uFillTx/>
                <a:latin typeface="+mn-lt"/>
                <a:ea typeface="+mn-ea"/>
                <a:cs typeface="+mn-cs"/>
              </a:rPr>
              <a:t>A</a:t>
            </a:r>
            <a:r>
              <a:rPr kumimoji="0" lang="en-US" sz="3200" b="0" i="0" u="none" strike="noStrike" kern="1200" cap="none" spc="0" normalizeH="0" baseline="40000" noProof="0" dirty="0" err="1" smtClean="0">
                <a:ln>
                  <a:noFill/>
                </a:ln>
                <a:solidFill>
                  <a:schemeClr val="tx1"/>
                </a:solidFill>
                <a:effectLst/>
                <a:uLnTx/>
                <a:uFillTx/>
                <a:latin typeface="+mn-lt"/>
                <a:ea typeface="+mn-ea"/>
                <a:cs typeface="+mn-cs"/>
              </a:rPr>
              <a:t>k</a:t>
            </a:r>
            <a:r>
              <a:rPr kumimoji="0" lang="en-US" sz="3200" b="0" i="0" u="none" strike="noStrike" kern="1200" cap="none" spc="0" normalizeH="0" baseline="0" noProof="0" dirty="0" err="1" smtClean="0">
                <a:ln>
                  <a:noFill/>
                </a:ln>
                <a:solidFill>
                  <a:schemeClr val="tx1"/>
                </a:solidFill>
                <a:effectLst/>
                <a:uLnTx/>
                <a:uFillTx/>
                <a:latin typeface="+mn-lt"/>
                <a:ea typeface="+mn-ea"/>
                <a:cs typeface="+mn-cs"/>
              </a:rPr>
              <a:t>x</a:t>
            </a:r>
            <a:r>
              <a:rPr kumimoji="0" lang="en-US" sz="3200" b="0" i="0" u="none" strike="noStrike" kern="1200" cap="none" spc="0" normalizeH="0" baseline="0" noProof="0" dirty="0" smtClean="0">
                <a:ln>
                  <a:noFill/>
                </a:ln>
                <a:solidFill>
                  <a:schemeClr val="tx1"/>
                </a:solidFill>
                <a:effectLst/>
                <a:uLnTx/>
                <a:uFillTx/>
                <a:latin typeface="+mn-lt"/>
                <a:ea typeface="+mn-ea"/>
                <a:cs typeface="+mn-cs"/>
              </a:rPr>
              <a:t>]</a:t>
            </a:r>
          </a:p>
          <a:p>
            <a:pPr marL="342900" indent="-342900">
              <a:spcBef>
                <a:spcPct val="20000"/>
              </a:spcBef>
              <a:buFont typeface="Arial" pitchFamily="34" charset="0"/>
              <a:buChar char="•"/>
            </a:pPr>
            <a:r>
              <a:rPr lang="en-US" sz="3200" dirty="0" smtClean="0"/>
              <a:t>Sequential Algorithm </a:t>
            </a:r>
          </a:p>
          <a:p>
            <a:pPr marL="342900" marR="0" lvl="0" indent="-342900" algn="l" defTabSz="914400" rtl="0" eaLnBrk="1" fontAlgn="auto" latinLnBrk="0" hangingPunct="1">
              <a:lnSpc>
                <a:spcPct val="100000"/>
              </a:lnSpc>
              <a:spcBef>
                <a:spcPct val="20000"/>
              </a:spcBef>
              <a:spcAft>
                <a:spcPts val="0"/>
              </a:spcAft>
              <a:buClrTx/>
              <a:buSzTx/>
              <a:tabLst/>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 </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en-US" sz="3200" dirty="0" smtClean="0"/>
          </a:p>
          <a:p>
            <a:pPr marL="342900" marR="0" lvl="0" indent="-342900" algn="l" defTabSz="914400" rtl="0" eaLnBrk="1" fontAlgn="auto" latinLnBrk="0" hangingPunct="1">
              <a:lnSpc>
                <a:spcPct val="100000"/>
              </a:lnSpc>
              <a:spcBef>
                <a:spcPct val="20000"/>
              </a:spcBef>
              <a:spcAft>
                <a:spcPts val="0"/>
              </a:spcAft>
              <a:buClrTx/>
              <a:buSzTx/>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indent="-342900">
              <a:spcBef>
                <a:spcPct val="20000"/>
              </a:spcBef>
              <a:buFont typeface="Arial" pitchFamily="34" charset="0"/>
              <a:buChar cha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Example: A </a:t>
            </a:r>
            <a:r>
              <a:rPr kumimoji="0" lang="en-US" sz="3200" b="0" i="0" u="none" strike="noStrike" kern="1200" cap="none" spc="0" normalizeH="0" baseline="0" noProof="0" dirty="0" err="1" smtClean="0">
                <a:ln>
                  <a:noFill/>
                </a:ln>
                <a:solidFill>
                  <a:schemeClr val="tx1"/>
                </a:solidFill>
                <a:effectLst/>
                <a:uLnTx/>
                <a:uFillTx/>
                <a:latin typeface="+mn-lt"/>
                <a:ea typeface="+mn-ea"/>
                <a:cs typeface="+mn-cs"/>
              </a:rPr>
              <a:t>tridiagonal</a:t>
            </a:r>
            <a:r>
              <a:rPr kumimoji="0" lang="en-US" sz="3200" b="0" i="0" u="none" strike="noStrike" kern="1200" cap="none" spc="0" normalizeH="0" baseline="0" noProof="0" dirty="0" smtClean="0">
                <a:ln>
                  <a:noFill/>
                </a:ln>
                <a:solidFill>
                  <a:schemeClr val="tx1"/>
                </a:solidFill>
                <a:effectLst/>
                <a:uLnTx/>
                <a:uFillTx/>
                <a:latin typeface="+mn-lt"/>
                <a:ea typeface="+mn-ea"/>
                <a:cs typeface="+mn-cs"/>
              </a:rPr>
              <a:t>, n=32, k=3</a:t>
            </a:r>
          </a:p>
          <a:p>
            <a:pPr marL="342900" marR="0" lvl="0" indent="-342900" algn="l" defTabSz="914400" rtl="0" eaLnBrk="1" fontAlgn="auto" latinLnBrk="0" hangingPunct="1">
              <a:lnSpc>
                <a:spcPct val="100000"/>
              </a:lnSpc>
              <a:spcBef>
                <a:spcPct val="20000"/>
              </a:spcBef>
              <a:spcAft>
                <a:spcPts val="0"/>
              </a:spcAft>
              <a:buClrTx/>
              <a:buSzTx/>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535" name="TextBox 534"/>
          <p:cNvSpPr txBox="1"/>
          <p:nvPr/>
        </p:nvSpPr>
        <p:spPr>
          <a:xfrm>
            <a:off x="990600" y="2514600"/>
            <a:ext cx="779765" cy="369332"/>
          </a:xfrm>
          <a:prstGeom prst="rect">
            <a:avLst/>
          </a:prstGeom>
          <a:noFill/>
        </p:spPr>
        <p:txBody>
          <a:bodyPr wrap="none" rtlCol="0">
            <a:spAutoFit/>
          </a:bodyPr>
          <a:lstStyle/>
          <a:p>
            <a:r>
              <a:rPr lang="en-US" b="1" dirty="0" smtClean="0">
                <a:solidFill>
                  <a:schemeClr val="tx2">
                    <a:lumMod val="60000"/>
                    <a:lumOff val="40000"/>
                  </a:schemeClr>
                </a:solidFill>
              </a:rPr>
              <a:t>Step 1</a:t>
            </a:r>
            <a:endParaRPr lang="en-US" b="1" dirty="0">
              <a:solidFill>
                <a:schemeClr val="tx2">
                  <a:lumMod val="60000"/>
                  <a:lumOff val="40000"/>
                </a:schemeClr>
              </a:solidFill>
            </a:endParaRPr>
          </a:p>
        </p:txBody>
      </p:sp>
      <p:sp>
        <p:nvSpPr>
          <p:cNvPr id="536" name="TextBox 535"/>
          <p:cNvSpPr txBox="1"/>
          <p:nvPr/>
        </p:nvSpPr>
        <p:spPr>
          <a:xfrm>
            <a:off x="2667000" y="2514600"/>
            <a:ext cx="824969" cy="369332"/>
          </a:xfrm>
          <a:prstGeom prst="rect">
            <a:avLst/>
          </a:prstGeom>
          <a:noFill/>
        </p:spPr>
        <p:txBody>
          <a:bodyPr wrap="none" rtlCol="0">
            <a:spAutoFit/>
          </a:bodyPr>
          <a:lstStyle/>
          <a:p>
            <a:r>
              <a:rPr lang="en-US" b="1" dirty="0" smtClean="0">
                <a:solidFill>
                  <a:srgbClr val="FF0000"/>
                </a:solidFill>
              </a:rPr>
              <a:t>Step  2</a:t>
            </a:r>
            <a:endParaRPr lang="en-US" b="1" dirty="0">
              <a:solidFill>
                <a:srgbClr val="FF0000"/>
              </a:solidFill>
            </a:endParaRPr>
          </a:p>
        </p:txBody>
      </p:sp>
    </p:spTree>
  </p:cSld>
  <p:clrMapOvr>
    <a:masterClrMapping/>
  </p:clrMapOvr>
  <p:timing>
    <p:tnLst>
      <p:par>
        <p:cTn xmlns:p14="http://schemas.microsoft.com/office/powerpoint/2010/mai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4" name="Parallelogram 523"/>
          <p:cNvSpPr/>
          <p:nvPr/>
        </p:nvSpPr>
        <p:spPr>
          <a:xfrm flipH="1">
            <a:off x="3962400" y="2895600"/>
            <a:ext cx="2895600" cy="1219200"/>
          </a:xfrm>
          <a:prstGeom prst="parallelogram">
            <a:avLst>
              <a:gd name="adj" fmla="val 68478"/>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3" name="Parallelogram 522"/>
          <p:cNvSpPr/>
          <p:nvPr/>
        </p:nvSpPr>
        <p:spPr>
          <a:xfrm flipH="1">
            <a:off x="1752600" y="2895600"/>
            <a:ext cx="3048000" cy="1219200"/>
          </a:xfrm>
          <a:prstGeom prst="parallelogram">
            <a:avLst>
              <a:gd name="adj" fmla="val 68478"/>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2" name="Right Triangle 521"/>
          <p:cNvSpPr/>
          <p:nvPr/>
        </p:nvSpPr>
        <p:spPr>
          <a:xfrm>
            <a:off x="1905000" y="2895600"/>
            <a:ext cx="838200" cy="1219200"/>
          </a:xfrm>
          <a:prstGeom prst="rtTriangle">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1" name="Rectangle 520"/>
          <p:cNvSpPr/>
          <p:nvPr/>
        </p:nvSpPr>
        <p:spPr>
          <a:xfrm>
            <a:off x="762000" y="2895600"/>
            <a:ext cx="1143000" cy="1219200"/>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 308"/>
          <p:cNvGrpSpPr/>
          <p:nvPr/>
        </p:nvGrpSpPr>
        <p:grpSpPr>
          <a:xfrm>
            <a:off x="762000" y="2895600"/>
            <a:ext cx="8077200" cy="1219200"/>
            <a:chOff x="-9144000" y="1447800"/>
            <a:chExt cx="28498800" cy="2895600"/>
          </a:xfrm>
        </p:grpSpPr>
        <p:grpSp>
          <p:nvGrpSpPr>
            <p:cNvPr id="3" name="Group 180"/>
            <p:cNvGrpSpPr/>
            <p:nvPr/>
          </p:nvGrpSpPr>
          <p:grpSpPr>
            <a:xfrm>
              <a:off x="-9144000" y="1447800"/>
              <a:ext cx="13868400" cy="2895600"/>
              <a:chOff x="914400" y="1447800"/>
              <a:chExt cx="13868400" cy="2895600"/>
            </a:xfrm>
          </p:grpSpPr>
          <p:grpSp>
            <p:nvGrpSpPr>
              <p:cNvPr id="4" name="Group 116"/>
              <p:cNvGrpSpPr/>
              <p:nvPr/>
            </p:nvGrpSpPr>
            <p:grpSpPr>
              <a:xfrm>
                <a:off x="914400" y="1447800"/>
                <a:ext cx="6553200" cy="2895600"/>
                <a:chOff x="914400" y="1447800"/>
                <a:chExt cx="6553200" cy="2895600"/>
              </a:xfrm>
            </p:grpSpPr>
            <p:grpSp>
              <p:nvGrpSpPr>
                <p:cNvPr id="5" name="Group 84"/>
                <p:cNvGrpSpPr/>
                <p:nvPr/>
              </p:nvGrpSpPr>
              <p:grpSpPr>
                <a:xfrm>
                  <a:off x="914400" y="1447800"/>
                  <a:ext cx="2895600" cy="2895600"/>
                  <a:chOff x="914400" y="1447800"/>
                  <a:chExt cx="2895600" cy="2895600"/>
                </a:xfrm>
              </p:grpSpPr>
              <p:grpSp>
                <p:nvGrpSpPr>
                  <p:cNvPr id="6" name="Group 68"/>
                  <p:cNvGrpSpPr/>
                  <p:nvPr/>
                </p:nvGrpSpPr>
                <p:grpSpPr>
                  <a:xfrm>
                    <a:off x="914400" y="1447800"/>
                    <a:ext cx="2895600" cy="1066800"/>
                    <a:chOff x="914400" y="1447800"/>
                    <a:chExt cx="2895600" cy="1066800"/>
                  </a:xfrm>
                </p:grpSpPr>
                <p:grpSp>
                  <p:nvGrpSpPr>
                    <p:cNvPr id="7" name="Group 60"/>
                    <p:cNvGrpSpPr/>
                    <p:nvPr/>
                  </p:nvGrpSpPr>
                  <p:grpSpPr>
                    <a:xfrm>
                      <a:off x="914400" y="2362200"/>
                      <a:ext cx="2895600" cy="152400"/>
                      <a:chOff x="914400" y="1447800"/>
                      <a:chExt cx="2895600" cy="152400"/>
                    </a:xfrm>
                  </p:grpSpPr>
                  <p:grpSp>
                    <p:nvGrpSpPr>
                      <p:cNvPr id="8" name="Group 56"/>
                      <p:cNvGrpSpPr/>
                      <p:nvPr/>
                    </p:nvGrpSpPr>
                    <p:grpSpPr>
                      <a:xfrm>
                        <a:off x="914400" y="1447800"/>
                        <a:ext cx="1066800" cy="152400"/>
                        <a:chOff x="914400" y="1447800"/>
                        <a:chExt cx="1066800" cy="152400"/>
                      </a:xfrm>
                    </p:grpSpPr>
                    <p:sp>
                      <p:nvSpPr>
                        <p:cNvPr id="53" name="Oval 5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Oval 5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 name="Group 57"/>
                      <p:cNvGrpSpPr/>
                      <p:nvPr/>
                    </p:nvGrpSpPr>
                    <p:grpSpPr>
                      <a:xfrm>
                        <a:off x="2743200" y="1447800"/>
                        <a:ext cx="1066800" cy="152400"/>
                        <a:chOff x="914400" y="1447800"/>
                        <a:chExt cx="1066800" cy="152400"/>
                      </a:xfrm>
                    </p:grpSpPr>
                    <p:sp>
                      <p:nvSpPr>
                        <p:cNvPr id="59" name="Oval 58"/>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Oval 59"/>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0" name="Group 61"/>
                    <p:cNvGrpSpPr/>
                    <p:nvPr/>
                  </p:nvGrpSpPr>
                  <p:grpSpPr>
                    <a:xfrm>
                      <a:off x="914400" y="1447800"/>
                      <a:ext cx="2895600" cy="152400"/>
                      <a:chOff x="914400" y="1447800"/>
                      <a:chExt cx="2895600" cy="152400"/>
                    </a:xfrm>
                  </p:grpSpPr>
                  <p:grpSp>
                    <p:nvGrpSpPr>
                      <p:cNvPr id="11" name="Group 56"/>
                      <p:cNvGrpSpPr/>
                      <p:nvPr/>
                    </p:nvGrpSpPr>
                    <p:grpSpPr>
                      <a:xfrm>
                        <a:off x="914400" y="1447800"/>
                        <a:ext cx="1066800" cy="152400"/>
                        <a:chOff x="914400" y="1447800"/>
                        <a:chExt cx="1066800" cy="152400"/>
                      </a:xfrm>
                    </p:grpSpPr>
                    <p:sp>
                      <p:nvSpPr>
                        <p:cNvPr id="67" name="Oval 66"/>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Oval 67"/>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2" name="Group 57"/>
                      <p:cNvGrpSpPr/>
                      <p:nvPr/>
                    </p:nvGrpSpPr>
                    <p:grpSpPr>
                      <a:xfrm>
                        <a:off x="2743200" y="1447800"/>
                        <a:ext cx="1066800" cy="152400"/>
                        <a:chOff x="914400" y="1447800"/>
                        <a:chExt cx="1066800" cy="152400"/>
                      </a:xfrm>
                    </p:grpSpPr>
                    <p:sp>
                      <p:nvSpPr>
                        <p:cNvPr id="65" name="Oval 64"/>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Oval 65"/>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nvGrpSpPr>
                  <p:cNvPr id="13" name="Group 69"/>
                  <p:cNvGrpSpPr/>
                  <p:nvPr/>
                </p:nvGrpSpPr>
                <p:grpSpPr>
                  <a:xfrm>
                    <a:off x="914400" y="3276600"/>
                    <a:ext cx="2895600" cy="1066800"/>
                    <a:chOff x="914400" y="1447800"/>
                    <a:chExt cx="2895600" cy="1066800"/>
                  </a:xfrm>
                </p:grpSpPr>
                <p:grpSp>
                  <p:nvGrpSpPr>
                    <p:cNvPr id="14" name="Group 60"/>
                    <p:cNvGrpSpPr/>
                    <p:nvPr/>
                  </p:nvGrpSpPr>
                  <p:grpSpPr>
                    <a:xfrm>
                      <a:off x="914400" y="2362200"/>
                      <a:ext cx="2895600" cy="152400"/>
                      <a:chOff x="914400" y="1447800"/>
                      <a:chExt cx="2895600" cy="152400"/>
                    </a:xfrm>
                  </p:grpSpPr>
                  <p:grpSp>
                    <p:nvGrpSpPr>
                      <p:cNvPr id="15" name="Group 56"/>
                      <p:cNvGrpSpPr/>
                      <p:nvPr/>
                    </p:nvGrpSpPr>
                    <p:grpSpPr>
                      <a:xfrm>
                        <a:off x="914400" y="1447800"/>
                        <a:ext cx="1066800" cy="152400"/>
                        <a:chOff x="914400" y="1447800"/>
                        <a:chExt cx="1066800" cy="152400"/>
                      </a:xfrm>
                    </p:grpSpPr>
                    <p:sp>
                      <p:nvSpPr>
                        <p:cNvPr id="83" name="Oval 8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Oval 8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 name="Group 57"/>
                      <p:cNvGrpSpPr/>
                      <p:nvPr/>
                    </p:nvGrpSpPr>
                    <p:grpSpPr>
                      <a:xfrm>
                        <a:off x="2743200" y="1447800"/>
                        <a:ext cx="1066800" cy="152400"/>
                        <a:chOff x="914400" y="1447800"/>
                        <a:chExt cx="1066800" cy="152400"/>
                      </a:xfrm>
                    </p:grpSpPr>
                    <p:sp>
                      <p:nvSpPr>
                        <p:cNvPr id="81" name="Oval 80"/>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Oval 81"/>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7" name="Group 61"/>
                    <p:cNvGrpSpPr/>
                    <p:nvPr/>
                  </p:nvGrpSpPr>
                  <p:grpSpPr>
                    <a:xfrm>
                      <a:off x="914400" y="1447800"/>
                      <a:ext cx="2895600" cy="152400"/>
                      <a:chOff x="914400" y="1447800"/>
                      <a:chExt cx="2895600" cy="152400"/>
                    </a:xfrm>
                  </p:grpSpPr>
                  <p:grpSp>
                    <p:nvGrpSpPr>
                      <p:cNvPr id="18" name="Group 56"/>
                      <p:cNvGrpSpPr/>
                      <p:nvPr/>
                    </p:nvGrpSpPr>
                    <p:grpSpPr>
                      <a:xfrm>
                        <a:off x="914400" y="1447800"/>
                        <a:ext cx="1066800" cy="152400"/>
                        <a:chOff x="914400" y="1447800"/>
                        <a:chExt cx="1066800" cy="152400"/>
                      </a:xfrm>
                    </p:grpSpPr>
                    <p:sp>
                      <p:nvSpPr>
                        <p:cNvPr id="77" name="Oval 76"/>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Oval 77"/>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9" name="Group 57"/>
                      <p:cNvGrpSpPr/>
                      <p:nvPr/>
                    </p:nvGrpSpPr>
                    <p:grpSpPr>
                      <a:xfrm>
                        <a:off x="2743200" y="1447800"/>
                        <a:ext cx="1066800" cy="152400"/>
                        <a:chOff x="914400" y="1447800"/>
                        <a:chExt cx="1066800" cy="152400"/>
                      </a:xfrm>
                    </p:grpSpPr>
                    <p:sp>
                      <p:nvSpPr>
                        <p:cNvPr id="75" name="Oval 74"/>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Oval 75"/>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grpSp>
              <p:nvGrpSpPr>
                <p:cNvPr id="20" name="Group 85"/>
                <p:cNvGrpSpPr/>
                <p:nvPr/>
              </p:nvGrpSpPr>
              <p:grpSpPr>
                <a:xfrm>
                  <a:off x="4572000" y="1447800"/>
                  <a:ext cx="2895600" cy="2895600"/>
                  <a:chOff x="914400" y="1447800"/>
                  <a:chExt cx="2895600" cy="2895600"/>
                </a:xfrm>
              </p:grpSpPr>
              <p:grpSp>
                <p:nvGrpSpPr>
                  <p:cNvPr id="21" name="Group 68"/>
                  <p:cNvGrpSpPr/>
                  <p:nvPr/>
                </p:nvGrpSpPr>
                <p:grpSpPr>
                  <a:xfrm>
                    <a:off x="914400" y="1447800"/>
                    <a:ext cx="2895600" cy="1066800"/>
                    <a:chOff x="914400" y="1447800"/>
                    <a:chExt cx="2895600" cy="1066800"/>
                  </a:xfrm>
                </p:grpSpPr>
                <p:grpSp>
                  <p:nvGrpSpPr>
                    <p:cNvPr id="22" name="Group 60"/>
                    <p:cNvGrpSpPr/>
                    <p:nvPr/>
                  </p:nvGrpSpPr>
                  <p:grpSpPr>
                    <a:xfrm>
                      <a:off x="914400" y="2362200"/>
                      <a:ext cx="2895600" cy="152400"/>
                      <a:chOff x="914400" y="1447800"/>
                      <a:chExt cx="2895600" cy="152400"/>
                    </a:xfrm>
                  </p:grpSpPr>
                  <p:grpSp>
                    <p:nvGrpSpPr>
                      <p:cNvPr id="23" name="Group 56"/>
                      <p:cNvGrpSpPr/>
                      <p:nvPr/>
                    </p:nvGrpSpPr>
                    <p:grpSpPr>
                      <a:xfrm>
                        <a:off x="914400" y="1447800"/>
                        <a:ext cx="1066800" cy="152400"/>
                        <a:chOff x="914400" y="1447800"/>
                        <a:chExt cx="1066800" cy="152400"/>
                      </a:xfrm>
                    </p:grpSpPr>
                    <p:sp>
                      <p:nvSpPr>
                        <p:cNvPr id="115" name="Oval 114"/>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 name="Oval 115"/>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4" name="Group 57"/>
                      <p:cNvGrpSpPr/>
                      <p:nvPr/>
                    </p:nvGrpSpPr>
                    <p:grpSpPr>
                      <a:xfrm>
                        <a:off x="2743200" y="1447800"/>
                        <a:ext cx="1066800" cy="152400"/>
                        <a:chOff x="914400" y="1447800"/>
                        <a:chExt cx="1066800" cy="152400"/>
                      </a:xfrm>
                    </p:grpSpPr>
                    <p:sp>
                      <p:nvSpPr>
                        <p:cNvPr id="113" name="Oval 11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Oval 11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25" name="Group 61"/>
                    <p:cNvGrpSpPr/>
                    <p:nvPr/>
                  </p:nvGrpSpPr>
                  <p:grpSpPr>
                    <a:xfrm>
                      <a:off x="914400" y="1447800"/>
                      <a:ext cx="2895600" cy="152400"/>
                      <a:chOff x="914400" y="1447800"/>
                      <a:chExt cx="2895600" cy="152400"/>
                    </a:xfrm>
                  </p:grpSpPr>
                  <p:grpSp>
                    <p:nvGrpSpPr>
                      <p:cNvPr id="26" name="Group 56"/>
                      <p:cNvGrpSpPr/>
                      <p:nvPr/>
                    </p:nvGrpSpPr>
                    <p:grpSpPr>
                      <a:xfrm>
                        <a:off x="914400" y="1447800"/>
                        <a:ext cx="1066800" cy="152400"/>
                        <a:chOff x="914400" y="1447800"/>
                        <a:chExt cx="1066800" cy="152400"/>
                      </a:xfrm>
                    </p:grpSpPr>
                    <p:sp>
                      <p:nvSpPr>
                        <p:cNvPr id="109" name="Oval 108"/>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Oval 109"/>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7" name="Group 57"/>
                      <p:cNvGrpSpPr/>
                      <p:nvPr/>
                    </p:nvGrpSpPr>
                    <p:grpSpPr>
                      <a:xfrm>
                        <a:off x="2743200" y="1447800"/>
                        <a:ext cx="1066800" cy="152400"/>
                        <a:chOff x="914400" y="1447800"/>
                        <a:chExt cx="1066800" cy="152400"/>
                      </a:xfrm>
                    </p:grpSpPr>
                    <p:sp>
                      <p:nvSpPr>
                        <p:cNvPr id="107" name="Oval 106"/>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Oval 107"/>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nvGrpSpPr>
                  <p:cNvPr id="28" name="Group 69"/>
                  <p:cNvGrpSpPr/>
                  <p:nvPr/>
                </p:nvGrpSpPr>
                <p:grpSpPr>
                  <a:xfrm>
                    <a:off x="914400" y="3276600"/>
                    <a:ext cx="2895600" cy="1066800"/>
                    <a:chOff x="914400" y="1447800"/>
                    <a:chExt cx="2895600" cy="1066800"/>
                  </a:xfrm>
                </p:grpSpPr>
                <p:grpSp>
                  <p:nvGrpSpPr>
                    <p:cNvPr id="29" name="Group 60"/>
                    <p:cNvGrpSpPr/>
                    <p:nvPr/>
                  </p:nvGrpSpPr>
                  <p:grpSpPr>
                    <a:xfrm>
                      <a:off x="914400" y="2362200"/>
                      <a:ext cx="2895600" cy="152400"/>
                      <a:chOff x="914400" y="1447800"/>
                      <a:chExt cx="2895600" cy="152400"/>
                    </a:xfrm>
                  </p:grpSpPr>
                  <p:grpSp>
                    <p:nvGrpSpPr>
                      <p:cNvPr id="30" name="Group 56"/>
                      <p:cNvGrpSpPr/>
                      <p:nvPr/>
                    </p:nvGrpSpPr>
                    <p:grpSpPr>
                      <a:xfrm>
                        <a:off x="914400" y="1447800"/>
                        <a:ext cx="1066800" cy="152400"/>
                        <a:chOff x="914400" y="1447800"/>
                        <a:chExt cx="1066800" cy="152400"/>
                      </a:xfrm>
                    </p:grpSpPr>
                    <p:sp>
                      <p:nvSpPr>
                        <p:cNvPr id="101" name="Oval 100"/>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Oval 101"/>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1" name="Group 57"/>
                      <p:cNvGrpSpPr/>
                      <p:nvPr/>
                    </p:nvGrpSpPr>
                    <p:grpSpPr>
                      <a:xfrm>
                        <a:off x="2743200" y="1447800"/>
                        <a:ext cx="1066800" cy="152400"/>
                        <a:chOff x="914400" y="1447800"/>
                        <a:chExt cx="1066800" cy="152400"/>
                      </a:xfrm>
                    </p:grpSpPr>
                    <p:sp>
                      <p:nvSpPr>
                        <p:cNvPr id="99" name="Oval 98"/>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Oval 99"/>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32" name="Group 61"/>
                    <p:cNvGrpSpPr/>
                    <p:nvPr/>
                  </p:nvGrpSpPr>
                  <p:grpSpPr>
                    <a:xfrm>
                      <a:off x="914400" y="1447800"/>
                      <a:ext cx="2895600" cy="152400"/>
                      <a:chOff x="914400" y="1447800"/>
                      <a:chExt cx="2895600" cy="152400"/>
                    </a:xfrm>
                  </p:grpSpPr>
                  <p:grpSp>
                    <p:nvGrpSpPr>
                      <p:cNvPr id="33" name="Group 56"/>
                      <p:cNvGrpSpPr/>
                      <p:nvPr/>
                    </p:nvGrpSpPr>
                    <p:grpSpPr>
                      <a:xfrm>
                        <a:off x="914400" y="1447800"/>
                        <a:ext cx="1066800" cy="152400"/>
                        <a:chOff x="914400" y="1447800"/>
                        <a:chExt cx="1066800" cy="152400"/>
                      </a:xfrm>
                    </p:grpSpPr>
                    <p:sp>
                      <p:nvSpPr>
                        <p:cNvPr id="95" name="Oval 94"/>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Oval 95"/>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4" name="Group 57"/>
                      <p:cNvGrpSpPr/>
                      <p:nvPr/>
                    </p:nvGrpSpPr>
                    <p:grpSpPr>
                      <a:xfrm>
                        <a:off x="2743200" y="1447800"/>
                        <a:ext cx="1066800" cy="152400"/>
                        <a:chOff x="914400" y="1447800"/>
                        <a:chExt cx="1066800" cy="152400"/>
                      </a:xfrm>
                    </p:grpSpPr>
                    <p:sp>
                      <p:nvSpPr>
                        <p:cNvPr id="93" name="Oval 9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Oval 9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grpSp>
          <p:grpSp>
            <p:nvGrpSpPr>
              <p:cNvPr id="35" name="Group 117"/>
              <p:cNvGrpSpPr/>
              <p:nvPr/>
            </p:nvGrpSpPr>
            <p:grpSpPr>
              <a:xfrm>
                <a:off x="8229600" y="1447800"/>
                <a:ext cx="6553200" cy="2895600"/>
                <a:chOff x="914400" y="1447800"/>
                <a:chExt cx="6553200" cy="2895600"/>
              </a:xfrm>
            </p:grpSpPr>
            <p:grpSp>
              <p:nvGrpSpPr>
                <p:cNvPr id="36" name="Group 84"/>
                <p:cNvGrpSpPr/>
                <p:nvPr/>
              </p:nvGrpSpPr>
              <p:grpSpPr>
                <a:xfrm>
                  <a:off x="914400" y="1447800"/>
                  <a:ext cx="2895600" cy="2895600"/>
                  <a:chOff x="914400" y="1447800"/>
                  <a:chExt cx="2895600" cy="2895600"/>
                </a:xfrm>
              </p:grpSpPr>
              <p:grpSp>
                <p:nvGrpSpPr>
                  <p:cNvPr id="37" name="Group 68"/>
                  <p:cNvGrpSpPr/>
                  <p:nvPr/>
                </p:nvGrpSpPr>
                <p:grpSpPr>
                  <a:xfrm>
                    <a:off x="914400" y="1447800"/>
                    <a:ext cx="2895600" cy="1066800"/>
                    <a:chOff x="914400" y="1447800"/>
                    <a:chExt cx="2895600" cy="1066800"/>
                  </a:xfrm>
                </p:grpSpPr>
                <p:grpSp>
                  <p:nvGrpSpPr>
                    <p:cNvPr id="38" name="Group 60"/>
                    <p:cNvGrpSpPr/>
                    <p:nvPr/>
                  </p:nvGrpSpPr>
                  <p:grpSpPr>
                    <a:xfrm>
                      <a:off x="914400" y="2362200"/>
                      <a:ext cx="2895600" cy="152400"/>
                      <a:chOff x="914400" y="1447800"/>
                      <a:chExt cx="2895600" cy="152400"/>
                    </a:xfrm>
                  </p:grpSpPr>
                  <p:grpSp>
                    <p:nvGrpSpPr>
                      <p:cNvPr id="39" name="Group 56"/>
                      <p:cNvGrpSpPr/>
                      <p:nvPr/>
                    </p:nvGrpSpPr>
                    <p:grpSpPr>
                      <a:xfrm>
                        <a:off x="914400" y="1447800"/>
                        <a:ext cx="1066800" cy="152400"/>
                        <a:chOff x="914400" y="1447800"/>
                        <a:chExt cx="1066800" cy="152400"/>
                      </a:xfrm>
                    </p:grpSpPr>
                    <p:sp>
                      <p:nvSpPr>
                        <p:cNvPr id="179" name="Oval 5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0" name="Oval 5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0" name="Group 57"/>
                      <p:cNvGrpSpPr/>
                      <p:nvPr/>
                    </p:nvGrpSpPr>
                    <p:grpSpPr>
                      <a:xfrm>
                        <a:off x="2743200" y="1447800"/>
                        <a:ext cx="1066800" cy="152400"/>
                        <a:chOff x="914400" y="1447800"/>
                        <a:chExt cx="1066800" cy="152400"/>
                      </a:xfrm>
                    </p:grpSpPr>
                    <p:sp>
                      <p:nvSpPr>
                        <p:cNvPr id="177" name="Oval 58"/>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8" name="Oval 59"/>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41" name="Group 61"/>
                    <p:cNvGrpSpPr/>
                    <p:nvPr/>
                  </p:nvGrpSpPr>
                  <p:grpSpPr>
                    <a:xfrm>
                      <a:off x="914400" y="1447800"/>
                      <a:ext cx="2895600" cy="152400"/>
                      <a:chOff x="914400" y="1447800"/>
                      <a:chExt cx="2895600" cy="152400"/>
                    </a:xfrm>
                  </p:grpSpPr>
                  <p:grpSp>
                    <p:nvGrpSpPr>
                      <p:cNvPr id="42" name="Group 56"/>
                      <p:cNvGrpSpPr/>
                      <p:nvPr/>
                    </p:nvGrpSpPr>
                    <p:grpSpPr>
                      <a:xfrm>
                        <a:off x="914400" y="1447800"/>
                        <a:ext cx="1066800" cy="152400"/>
                        <a:chOff x="914400" y="1447800"/>
                        <a:chExt cx="1066800" cy="152400"/>
                      </a:xfrm>
                    </p:grpSpPr>
                    <p:sp>
                      <p:nvSpPr>
                        <p:cNvPr id="173" name="Oval 17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4" name="Oval 17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3" name="Group 57"/>
                      <p:cNvGrpSpPr/>
                      <p:nvPr/>
                    </p:nvGrpSpPr>
                    <p:grpSpPr>
                      <a:xfrm>
                        <a:off x="2743200" y="1447800"/>
                        <a:ext cx="1066800" cy="152400"/>
                        <a:chOff x="914400" y="1447800"/>
                        <a:chExt cx="1066800" cy="152400"/>
                      </a:xfrm>
                    </p:grpSpPr>
                    <p:sp>
                      <p:nvSpPr>
                        <p:cNvPr id="171" name="Oval 170"/>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2" name="Oval 171"/>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nvGrpSpPr>
                  <p:cNvPr id="44" name="Group 69"/>
                  <p:cNvGrpSpPr/>
                  <p:nvPr/>
                </p:nvGrpSpPr>
                <p:grpSpPr>
                  <a:xfrm>
                    <a:off x="914400" y="3276600"/>
                    <a:ext cx="2895600" cy="1066800"/>
                    <a:chOff x="914400" y="1447800"/>
                    <a:chExt cx="2895600" cy="1066800"/>
                  </a:xfrm>
                </p:grpSpPr>
                <p:grpSp>
                  <p:nvGrpSpPr>
                    <p:cNvPr id="45" name="Group 60"/>
                    <p:cNvGrpSpPr/>
                    <p:nvPr/>
                  </p:nvGrpSpPr>
                  <p:grpSpPr>
                    <a:xfrm>
                      <a:off x="914400" y="2362200"/>
                      <a:ext cx="2895600" cy="152400"/>
                      <a:chOff x="914400" y="1447800"/>
                      <a:chExt cx="2895600" cy="152400"/>
                    </a:xfrm>
                  </p:grpSpPr>
                  <p:grpSp>
                    <p:nvGrpSpPr>
                      <p:cNvPr id="46" name="Group 56"/>
                      <p:cNvGrpSpPr/>
                      <p:nvPr/>
                    </p:nvGrpSpPr>
                    <p:grpSpPr>
                      <a:xfrm>
                        <a:off x="914400" y="1447800"/>
                        <a:ext cx="1066800" cy="152400"/>
                        <a:chOff x="914400" y="1447800"/>
                        <a:chExt cx="1066800" cy="152400"/>
                      </a:xfrm>
                    </p:grpSpPr>
                    <p:sp>
                      <p:nvSpPr>
                        <p:cNvPr id="165" name="Oval 164"/>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6" name="Oval 165"/>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7" name="Group 57"/>
                      <p:cNvGrpSpPr/>
                      <p:nvPr/>
                    </p:nvGrpSpPr>
                    <p:grpSpPr>
                      <a:xfrm>
                        <a:off x="2743200" y="1447800"/>
                        <a:ext cx="1066800" cy="152400"/>
                        <a:chOff x="914400" y="1447800"/>
                        <a:chExt cx="1066800" cy="152400"/>
                      </a:xfrm>
                    </p:grpSpPr>
                    <p:sp>
                      <p:nvSpPr>
                        <p:cNvPr id="163" name="Oval 16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4" name="Oval 16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48" name="Group 61"/>
                    <p:cNvGrpSpPr/>
                    <p:nvPr/>
                  </p:nvGrpSpPr>
                  <p:grpSpPr>
                    <a:xfrm>
                      <a:off x="914400" y="1447800"/>
                      <a:ext cx="2895600" cy="152400"/>
                      <a:chOff x="914400" y="1447800"/>
                      <a:chExt cx="2895600" cy="152400"/>
                    </a:xfrm>
                  </p:grpSpPr>
                  <p:grpSp>
                    <p:nvGrpSpPr>
                      <p:cNvPr id="49" name="Group 56"/>
                      <p:cNvGrpSpPr/>
                      <p:nvPr/>
                    </p:nvGrpSpPr>
                    <p:grpSpPr>
                      <a:xfrm>
                        <a:off x="914400" y="1447800"/>
                        <a:ext cx="1066800" cy="152400"/>
                        <a:chOff x="914400" y="1447800"/>
                        <a:chExt cx="1066800" cy="152400"/>
                      </a:xfrm>
                    </p:grpSpPr>
                    <p:sp>
                      <p:nvSpPr>
                        <p:cNvPr id="159" name="Oval 158"/>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0" name="Oval 159"/>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0" name="Group 57"/>
                      <p:cNvGrpSpPr/>
                      <p:nvPr/>
                    </p:nvGrpSpPr>
                    <p:grpSpPr>
                      <a:xfrm>
                        <a:off x="2743200" y="1447800"/>
                        <a:ext cx="1066800" cy="152400"/>
                        <a:chOff x="914400" y="1447800"/>
                        <a:chExt cx="1066800" cy="152400"/>
                      </a:xfrm>
                    </p:grpSpPr>
                    <p:sp>
                      <p:nvSpPr>
                        <p:cNvPr id="157" name="Oval 156"/>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8" name="Oval 157"/>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grpSp>
              <p:nvGrpSpPr>
                <p:cNvPr id="51" name="Group 85"/>
                <p:cNvGrpSpPr/>
                <p:nvPr/>
              </p:nvGrpSpPr>
              <p:grpSpPr>
                <a:xfrm>
                  <a:off x="4572000" y="1447800"/>
                  <a:ext cx="2895600" cy="2895600"/>
                  <a:chOff x="914400" y="1447800"/>
                  <a:chExt cx="2895600" cy="2895600"/>
                </a:xfrm>
              </p:grpSpPr>
              <p:grpSp>
                <p:nvGrpSpPr>
                  <p:cNvPr id="52" name="Group 68"/>
                  <p:cNvGrpSpPr/>
                  <p:nvPr/>
                </p:nvGrpSpPr>
                <p:grpSpPr>
                  <a:xfrm>
                    <a:off x="914400" y="1447800"/>
                    <a:ext cx="2895600" cy="1066800"/>
                    <a:chOff x="914400" y="1447800"/>
                    <a:chExt cx="2895600" cy="1066800"/>
                  </a:xfrm>
                </p:grpSpPr>
                <p:grpSp>
                  <p:nvGrpSpPr>
                    <p:cNvPr id="55" name="Group 60"/>
                    <p:cNvGrpSpPr/>
                    <p:nvPr/>
                  </p:nvGrpSpPr>
                  <p:grpSpPr>
                    <a:xfrm>
                      <a:off x="914400" y="2362200"/>
                      <a:ext cx="2895600" cy="152400"/>
                      <a:chOff x="914400" y="1447800"/>
                      <a:chExt cx="2895600" cy="152400"/>
                    </a:xfrm>
                  </p:grpSpPr>
                  <p:grpSp>
                    <p:nvGrpSpPr>
                      <p:cNvPr id="56" name="Group 56"/>
                      <p:cNvGrpSpPr/>
                      <p:nvPr/>
                    </p:nvGrpSpPr>
                    <p:grpSpPr>
                      <a:xfrm>
                        <a:off x="914400" y="1447800"/>
                        <a:ext cx="1066800" cy="152400"/>
                        <a:chOff x="914400" y="1447800"/>
                        <a:chExt cx="1066800" cy="152400"/>
                      </a:xfrm>
                    </p:grpSpPr>
                    <p:sp>
                      <p:nvSpPr>
                        <p:cNvPr id="149" name="Oval 148"/>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0" name="Oval 149"/>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7" name="Group 57"/>
                      <p:cNvGrpSpPr/>
                      <p:nvPr/>
                    </p:nvGrpSpPr>
                    <p:grpSpPr>
                      <a:xfrm>
                        <a:off x="2743200" y="1447800"/>
                        <a:ext cx="1066800" cy="152400"/>
                        <a:chOff x="914400" y="1447800"/>
                        <a:chExt cx="1066800" cy="152400"/>
                      </a:xfrm>
                    </p:grpSpPr>
                    <p:sp>
                      <p:nvSpPr>
                        <p:cNvPr id="147" name="Oval 146"/>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8" name="Oval 147"/>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58" name="Group 61"/>
                    <p:cNvGrpSpPr/>
                    <p:nvPr/>
                  </p:nvGrpSpPr>
                  <p:grpSpPr>
                    <a:xfrm>
                      <a:off x="914400" y="1447800"/>
                      <a:ext cx="2895600" cy="152400"/>
                      <a:chOff x="914400" y="1447800"/>
                      <a:chExt cx="2895600" cy="152400"/>
                    </a:xfrm>
                  </p:grpSpPr>
                  <p:grpSp>
                    <p:nvGrpSpPr>
                      <p:cNvPr id="61" name="Group 56"/>
                      <p:cNvGrpSpPr/>
                      <p:nvPr/>
                    </p:nvGrpSpPr>
                    <p:grpSpPr>
                      <a:xfrm>
                        <a:off x="914400" y="1447800"/>
                        <a:ext cx="1066800" cy="152400"/>
                        <a:chOff x="914400" y="1447800"/>
                        <a:chExt cx="1066800" cy="152400"/>
                      </a:xfrm>
                    </p:grpSpPr>
                    <p:sp>
                      <p:nvSpPr>
                        <p:cNvPr id="143" name="Oval 14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4" name="Oval 14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2" name="Group 57"/>
                      <p:cNvGrpSpPr/>
                      <p:nvPr/>
                    </p:nvGrpSpPr>
                    <p:grpSpPr>
                      <a:xfrm>
                        <a:off x="2743200" y="1447800"/>
                        <a:ext cx="1066800" cy="152400"/>
                        <a:chOff x="914400" y="1447800"/>
                        <a:chExt cx="1066800" cy="152400"/>
                      </a:xfrm>
                    </p:grpSpPr>
                    <p:sp>
                      <p:nvSpPr>
                        <p:cNvPr id="141" name="Oval 140"/>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2" name="Oval 141"/>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nvGrpSpPr>
                  <p:cNvPr id="63" name="Group 69"/>
                  <p:cNvGrpSpPr/>
                  <p:nvPr/>
                </p:nvGrpSpPr>
                <p:grpSpPr>
                  <a:xfrm>
                    <a:off x="914400" y="3276600"/>
                    <a:ext cx="2895600" cy="1066800"/>
                    <a:chOff x="914400" y="1447800"/>
                    <a:chExt cx="2895600" cy="1066800"/>
                  </a:xfrm>
                </p:grpSpPr>
                <p:grpSp>
                  <p:nvGrpSpPr>
                    <p:cNvPr id="64" name="Group 60"/>
                    <p:cNvGrpSpPr/>
                    <p:nvPr/>
                  </p:nvGrpSpPr>
                  <p:grpSpPr>
                    <a:xfrm>
                      <a:off x="914400" y="2362200"/>
                      <a:ext cx="2895600" cy="152400"/>
                      <a:chOff x="914400" y="1447800"/>
                      <a:chExt cx="2895600" cy="152400"/>
                    </a:xfrm>
                  </p:grpSpPr>
                  <p:grpSp>
                    <p:nvGrpSpPr>
                      <p:cNvPr id="69" name="Group 56"/>
                      <p:cNvGrpSpPr/>
                      <p:nvPr/>
                    </p:nvGrpSpPr>
                    <p:grpSpPr>
                      <a:xfrm>
                        <a:off x="914400" y="1447800"/>
                        <a:ext cx="1066800" cy="152400"/>
                        <a:chOff x="914400" y="1447800"/>
                        <a:chExt cx="1066800" cy="152400"/>
                      </a:xfrm>
                    </p:grpSpPr>
                    <p:sp>
                      <p:nvSpPr>
                        <p:cNvPr id="135" name="Oval 134"/>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6" name="Oval 135"/>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0" name="Group 57"/>
                      <p:cNvGrpSpPr/>
                      <p:nvPr/>
                    </p:nvGrpSpPr>
                    <p:grpSpPr>
                      <a:xfrm>
                        <a:off x="2743200" y="1447800"/>
                        <a:ext cx="1066800" cy="152400"/>
                        <a:chOff x="914400" y="1447800"/>
                        <a:chExt cx="1066800" cy="152400"/>
                      </a:xfrm>
                    </p:grpSpPr>
                    <p:sp>
                      <p:nvSpPr>
                        <p:cNvPr id="133" name="Oval 13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 name="Oval 13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71" name="Group 61"/>
                    <p:cNvGrpSpPr/>
                    <p:nvPr/>
                  </p:nvGrpSpPr>
                  <p:grpSpPr>
                    <a:xfrm>
                      <a:off x="914400" y="1447800"/>
                      <a:ext cx="2895600" cy="152400"/>
                      <a:chOff x="914400" y="1447800"/>
                      <a:chExt cx="2895600" cy="152400"/>
                    </a:xfrm>
                  </p:grpSpPr>
                  <p:grpSp>
                    <p:nvGrpSpPr>
                      <p:cNvPr id="72" name="Group 56"/>
                      <p:cNvGrpSpPr/>
                      <p:nvPr/>
                    </p:nvGrpSpPr>
                    <p:grpSpPr>
                      <a:xfrm>
                        <a:off x="914400" y="1447800"/>
                        <a:ext cx="1066800" cy="152400"/>
                        <a:chOff x="914400" y="1447800"/>
                        <a:chExt cx="1066800" cy="152400"/>
                      </a:xfrm>
                    </p:grpSpPr>
                    <p:sp>
                      <p:nvSpPr>
                        <p:cNvPr id="129" name="Oval 128"/>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 name="Oval 129"/>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3" name="Group 57"/>
                      <p:cNvGrpSpPr/>
                      <p:nvPr/>
                    </p:nvGrpSpPr>
                    <p:grpSpPr>
                      <a:xfrm>
                        <a:off x="2743200" y="1447800"/>
                        <a:ext cx="1066800" cy="152400"/>
                        <a:chOff x="914400" y="1447800"/>
                        <a:chExt cx="1066800" cy="152400"/>
                      </a:xfrm>
                    </p:grpSpPr>
                    <p:sp>
                      <p:nvSpPr>
                        <p:cNvPr id="127" name="Oval 126"/>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8" name="Oval 127"/>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grpSp>
        </p:grpSp>
        <p:grpSp>
          <p:nvGrpSpPr>
            <p:cNvPr id="74" name="Group 181"/>
            <p:cNvGrpSpPr/>
            <p:nvPr/>
          </p:nvGrpSpPr>
          <p:grpSpPr>
            <a:xfrm>
              <a:off x="5486400" y="1447800"/>
              <a:ext cx="13868400" cy="2895600"/>
              <a:chOff x="914400" y="1447800"/>
              <a:chExt cx="13868400" cy="2895600"/>
            </a:xfrm>
          </p:grpSpPr>
          <p:grpSp>
            <p:nvGrpSpPr>
              <p:cNvPr id="79" name="Group 116"/>
              <p:cNvGrpSpPr/>
              <p:nvPr/>
            </p:nvGrpSpPr>
            <p:grpSpPr>
              <a:xfrm>
                <a:off x="914400" y="1447800"/>
                <a:ext cx="6553200" cy="2895600"/>
                <a:chOff x="914400" y="1447800"/>
                <a:chExt cx="6553200" cy="2895600"/>
              </a:xfrm>
            </p:grpSpPr>
            <p:grpSp>
              <p:nvGrpSpPr>
                <p:cNvPr id="80" name="Group 84"/>
                <p:cNvGrpSpPr/>
                <p:nvPr/>
              </p:nvGrpSpPr>
              <p:grpSpPr>
                <a:xfrm>
                  <a:off x="914400" y="1447800"/>
                  <a:ext cx="2895600" cy="2895600"/>
                  <a:chOff x="914400" y="1447800"/>
                  <a:chExt cx="2895600" cy="2895600"/>
                </a:xfrm>
              </p:grpSpPr>
              <p:grpSp>
                <p:nvGrpSpPr>
                  <p:cNvPr id="85" name="Group 68"/>
                  <p:cNvGrpSpPr/>
                  <p:nvPr/>
                </p:nvGrpSpPr>
                <p:grpSpPr>
                  <a:xfrm>
                    <a:off x="914400" y="1447800"/>
                    <a:ext cx="2895600" cy="1066800"/>
                    <a:chOff x="914400" y="1447800"/>
                    <a:chExt cx="2895600" cy="1066800"/>
                  </a:xfrm>
                </p:grpSpPr>
                <p:grpSp>
                  <p:nvGrpSpPr>
                    <p:cNvPr id="86" name="Group 60"/>
                    <p:cNvGrpSpPr/>
                    <p:nvPr/>
                  </p:nvGrpSpPr>
                  <p:grpSpPr>
                    <a:xfrm>
                      <a:off x="914400" y="2362200"/>
                      <a:ext cx="2895600" cy="152400"/>
                      <a:chOff x="914400" y="1447800"/>
                      <a:chExt cx="2895600" cy="152400"/>
                    </a:xfrm>
                  </p:grpSpPr>
                  <p:grpSp>
                    <p:nvGrpSpPr>
                      <p:cNvPr id="87" name="Group 56"/>
                      <p:cNvGrpSpPr/>
                      <p:nvPr/>
                    </p:nvGrpSpPr>
                    <p:grpSpPr>
                      <a:xfrm>
                        <a:off x="914400" y="1447800"/>
                        <a:ext cx="1066800" cy="152400"/>
                        <a:chOff x="914400" y="1447800"/>
                        <a:chExt cx="1066800" cy="152400"/>
                      </a:xfrm>
                    </p:grpSpPr>
                    <p:sp>
                      <p:nvSpPr>
                        <p:cNvPr id="307" name="Oval 5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 name="Oval 5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8" name="Group 57"/>
                      <p:cNvGrpSpPr/>
                      <p:nvPr/>
                    </p:nvGrpSpPr>
                    <p:grpSpPr>
                      <a:xfrm>
                        <a:off x="2743200" y="1447800"/>
                        <a:ext cx="1066800" cy="152400"/>
                        <a:chOff x="914400" y="1447800"/>
                        <a:chExt cx="1066800" cy="152400"/>
                      </a:xfrm>
                    </p:grpSpPr>
                    <p:sp>
                      <p:nvSpPr>
                        <p:cNvPr id="305" name="Oval 304"/>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6" name="Oval 305"/>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89" name="Group 61"/>
                    <p:cNvGrpSpPr/>
                    <p:nvPr/>
                  </p:nvGrpSpPr>
                  <p:grpSpPr>
                    <a:xfrm>
                      <a:off x="914400" y="1447800"/>
                      <a:ext cx="2895600" cy="152400"/>
                      <a:chOff x="914400" y="1447800"/>
                      <a:chExt cx="2895600" cy="152400"/>
                    </a:xfrm>
                  </p:grpSpPr>
                  <p:grpSp>
                    <p:nvGrpSpPr>
                      <p:cNvPr id="90" name="Group 56"/>
                      <p:cNvGrpSpPr/>
                      <p:nvPr/>
                    </p:nvGrpSpPr>
                    <p:grpSpPr>
                      <a:xfrm>
                        <a:off x="914400" y="1447800"/>
                        <a:ext cx="1066800" cy="152400"/>
                        <a:chOff x="914400" y="1447800"/>
                        <a:chExt cx="1066800" cy="152400"/>
                      </a:xfrm>
                    </p:grpSpPr>
                    <p:sp>
                      <p:nvSpPr>
                        <p:cNvPr id="301" name="Oval 66"/>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2" name="Oval 67"/>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1" name="Group 57"/>
                      <p:cNvGrpSpPr/>
                      <p:nvPr/>
                    </p:nvGrpSpPr>
                    <p:grpSpPr>
                      <a:xfrm>
                        <a:off x="2743200" y="1447800"/>
                        <a:ext cx="1066800" cy="152400"/>
                        <a:chOff x="914400" y="1447800"/>
                        <a:chExt cx="1066800" cy="152400"/>
                      </a:xfrm>
                    </p:grpSpPr>
                    <p:sp>
                      <p:nvSpPr>
                        <p:cNvPr id="299" name="Oval 298"/>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0" name="Oval 299"/>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nvGrpSpPr>
                  <p:cNvPr id="92" name="Group 69"/>
                  <p:cNvGrpSpPr/>
                  <p:nvPr/>
                </p:nvGrpSpPr>
                <p:grpSpPr>
                  <a:xfrm>
                    <a:off x="914400" y="3276600"/>
                    <a:ext cx="2895600" cy="1066800"/>
                    <a:chOff x="914400" y="1447800"/>
                    <a:chExt cx="2895600" cy="1066800"/>
                  </a:xfrm>
                </p:grpSpPr>
                <p:grpSp>
                  <p:nvGrpSpPr>
                    <p:cNvPr id="97" name="Group 60"/>
                    <p:cNvGrpSpPr/>
                    <p:nvPr/>
                  </p:nvGrpSpPr>
                  <p:grpSpPr>
                    <a:xfrm>
                      <a:off x="914400" y="2362200"/>
                      <a:ext cx="2895600" cy="152400"/>
                      <a:chOff x="914400" y="1447800"/>
                      <a:chExt cx="2895600" cy="152400"/>
                    </a:xfrm>
                  </p:grpSpPr>
                  <p:grpSp>
                    <p:nvGrpSpPr>
                      <p:cNvPr id="98" name="Group 56"/>
                      <p:cNvGrpSpPr/>
                      <p:nvPr/>
                    </p:nvGrpSpPr>
                    <p:grpSpPr>
                      <a:xfrm>
                        <a:off x="914400" y="1447800"/>
                        <a:ext cx="1066800" cy="152400"/>
                        <a:chOff x="914400" y="1447800"/>
                        <a:chExt cx="1066800" cy="152400"/>
                      </a:xfrm>
                    </p:grpSpPr>
                    <p:sp>
                      <p:nvSpPr>
                        <p:cNvPr id="293" name="Oval 29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4" name="Oval 29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3" name="Group 57"/>
                      <p:cNvGrpSpPr/>
                      <p:nvPr/>
                    </p:nvGrpSpPr>
                    <p:grpSpPr>
                      <a:xfrm>
                        <a:off x="2743200" y="1447800"/>
                        <a:ext cx="1066800" cy="152400"/>
                        <a:chOff x="914400" y="1447800"/>
                        <a:chExt cx="1066800" cy="152400"/>
                      </a:xfrm>
                    </p:grpSpPr>
                    <p:sp>
                      <p:nvSpPr>
                        <p:cNvPr id="291" name="Oval 290"/>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2" name="Oval 291"/>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04" name="Group 61"/>
                    <p:cNvGrpSpPr/>
                    <p:nvPr/>
                  </p:nvGrpSpPr>
                  <p:grpSpPr>
                    <a:xfrm>
                      <a:off x="914400" y="1447800"/>
                      <a:ext cx="2895600" cy="152400"/>
                      <a:chOff x="914400" y="1447800"/>
                      <a:chExt cx="2895600" cy="152400"/>
                    </a:xfrm>
                  </p:grpSpPr>
                  <p:grpSp>
                    <p:nvGrpSpPr>
                      <p:cNvPr id="105" name="Group 56"/>
                      <p:cNvGrpSpPr/>
                      <p:nvPr/>
                    </p:nvGrpSpPr>
                    <p:grpSpPr>
                      <a:xfrm>
                        <a:off x="914400" y="1447800"/>
                        <a:ext cx="1066800" cy="152400"/>
                        <a:chOff x="914400" y="1447800"/>
                        <a:chExt cx="1066800" cy="152400"/>
                      </a:xfrm>
                    </p:grpSpPr>
                    <p:sp>
                      <p:nvSpPr>
                        <p:cNvPr id="287" name="Oval 286"/>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8" name="Oval 287"/>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6" name="Group 57"/>
                      <p:cNvGrpSpPr/>
                      <p:nvPr/>
                    </p:nvGrpSpPr>
                    <p:grpSpPr>
                      <a:xfrm>
                        <a:off x="2743200" y="1447800"/>
                        <a:ext cx="1066800" cy="152400"/>
                        <a:chOff x="914400" y="1447800"/>
                        <a:chExt cx="1066800" cy="152400"/>
                      </a:xfrm>
                    </p:grpSpPr>
                    <p:sp>
                      <p:nvSpPr>
                        <p:cNvPr id="285" name="Oval 284"/>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6" name="Oval 285"/>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grpSp>
              <p:nvGrpSpPr>
                <p:cNvPr id="111" name="Group 85"/>
                <p:cNvGrpSpPr/>
                <p:nvPr/>
              </p:nvGrpSpPr>
              <p:grpSpPr>
                <a:xfrm>
                  <a:off x="4572000" y="1447800"/>
                  <a:ext cx="2895600" cy="2895600"/>
                  <a:chOff x="914400" y="1447800"/>
                  <a:chExt cx="2895600" cy="2895600"/>
                </a:xfrm>
              </p:grpSpPr>
              <p:grpSp>
                <p:nvGrpSpPr>
                  <p:cNvPr id="112" name="Group 248"/>
                  <p:cNvGrpSpPr/>
                  <p:nvPr/>
                </p:nvGrpSpPr>
                <p:grpSpPr>
                  <a:xfrm>
                    <a:off x="914400" y="1447800"/>
                    <a:ext cx="2895600" cy="1066800"/>
                    <a:chOff x="914400" y="1447800"/>
                    <a:chExt cx="2895600" cy="1066800"/>
                  </a:xfrm>
                </p:grpSpPr>
                <p:grpSp>
                  <p:nvGrpSpPr>
                    <p:cNvPr id="117" name="Group 60"/>
                    <p:cNvGrpSpPr/>
                    <p:nvPr/>
                  </p:nvGrpSpPr>
                  <p:grpSpPr>
                    <a:xfrm>
                      <a:off x="914400" y="2362200"/>
                      <a:ext cx="2895600" cy="152400"/>
                      <a:chOff x="914400" y="1447800"/>
                      <a:chExt cx="2895600" cy="152400"/>
                    </a:xfrm>
                  </p:grpSpPr>
                  <p:grpSp>
                    <p:nvGrpSpPr>
                      <p:cNvPr id="118" name="Group 56"/>
                      <p:cNvGrpSpPr/>
                      <p:nvPr/>
                    </p:nvGrpSpPr>
                    <p:grpSpPr>
                      <a:xfrm>
                        <a:off x="914400" y="1447800"/>
                        <a:ext cx="1066800" cy="152400"/>
                        <a:chOff x="914400" y="1447800"/>
                        <a:chExt cx="1066800" cy="152400"/>
                      </a:xfrm>
                    </p:grpSpPr>
                    <p:sp>
                      <p:nvSpPr>
                        <p:cNvPr id="277" name="Oval 276"/>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8" name="Oval 277"/>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9" name="Group 57"/>
                      <p:cNvGrpSpPr/>
                      <p:nvPr/>
                    </p:nvGrpSpPr>
                    <p:grpSpPr>
                      <a:xfrm>
                        <a:off x="2743200" y="1447800"/>
                        <a:ext cx="1066800" cy="152400"/>
                        <a:chOff x="914400" y="1447800"/>
                        <a:chExt cx="1066800" cy="152400"/>
                      </a:xfrm>
                    </p:grpSpPr>
                    <p:sp>
                      <p:nvSpPr>
                        <p:cNvPr id="275" name="Oval 274"/>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6" name="Oval 275"/>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20" name="Group 61"/>
                    <p:cNvGrpSpPr/>
                    <p:nvPr/>
                  </p:nvGrpSpPr>
                  <p:grpSpPr>
                    <a:xfrm>
                      <a:off x="914400" y="1447800"/>
                      <a:ext cx="2895600" cy="152400"/>
                      <a:chOff x="914400" y="1447800"/>
                      <a:chExt cx="2895600" cy="152400"/>
                    </a:xfrm>
                  </p:grpSpPr>
                  <p:grpSp>
                    <p:nvGrpSpPr>
                      <p:cNvPr id="121" name="Group 56"/>
                      <p:cNvGrpSpPr/>
                      <p:nvPr/>
                    </p:nvGrpSpPr>
                    <p:grpSpPr>
                      <a:xfrm>
                        <a:off x="914400" y="1447800"/>
                        <a:ext cx="1066800" cy="152400"/>
                        <a:chOff x="914400" y="1447800"/>
                        <a:chExt cx="1066800" cy="152400"/>
                      </a:xfrm>
                    </p:grpSpPr>
                    <p:sp>
                      <p:nvSpPr>
                        <p:cNvPr id="271" name="Oval 270"/>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2" name="Oval 271"/>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22" name="Group 57"/>
                      <p:cNvGrpSpPr/>
                      <p:nvPr/>
                    </p:nvGrpSpPr>
                    <p:grpSpPr>
                      <a:xfrm>
                        <a:off x="2743200" y="1447800"/>
                        <a:ext cx="1066800" cy="152400"/>
                        <a:chOff x="914400" y="1447800"/>
                        <a:chExt cx="1066800" cy="152400"/>
                      </a:xfrm>
                    </p:grpSpPr>
                    <p:sp>
                      <p:nvSpPr>
                        <p:cNvPr id="269" name="Oval 268"/>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0" name="Oval 269"/>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nvGrpSpPr>
                  <p:cNvPr id="123" name="Group 249"/>
                  <p:cNvGrpSpPr/>
                  <p:nvPr/>
                </p:nvGrpSpPr>
                <p:grpSpPr>
                  <a:xfrm>
                    <a:off x="914400" y="3276600"/>
                    <a:ext cx="2895600" cy="1066800"/>
                    <a:chOff x="914400" y="1447800"/>
                    <a:chExt cx="2895600" cy="1066800"/>
                  </a:xfrm>
                </p:grpSpPr>
                <p:grpSp>
                  <p:nvGrpSpPr>
                    <p:cNvPr id="124" name="Group 60"/>
                    <p:cNvGrpSpPr/>
                    <p:nvPr/>
                  </p:nvGrpSpPr>
                  <p:grpSpPr>
                    <a:xfrm>
                      <a:off x="914400" y="2362200"/>
                      <a:ext cx="2895600" cy="152400"/>
                      <a:chOff x="914400" y="1447800"/>
                      <a:chExt cx="2895600" cy="152400"/>
                    </a:xfrm>
                  </p:grpSpPr>
                  <p:grpSp>
                    <p:nvGrpSpPr>
                      <p:cNvPr id="125" name="Group 56"/>
                      <p:cNvGrpSpPr/>
                      <p:nvPr/>
                    </p:nvGrpSpPr>
                    <p:grpSpPr>
                      <a:xfrm>
                        <a:off x="914400" y="1447800"/>
                        <a:ext cx="1066800" cy="152400"/>
                        <a:chOff x="914400" y="1447800"/>
                        <a:chExt cx="1066800" cy="152400"/>
                      </a:xfrm>
                    </p:grpSpPr>
                    <p:sp>
                      <p:nvSpPr>
                        <p:cNvPr id="263" name="Oval 26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4" name="Oval 26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26" name="Group 57"/>
                      <p:cNvGrpSpPr/>
                      <p:nvPr/>
                    </p:nvGrpSpPr>
                    <p:grpSpPr>
                      <a:xfrm>
                        <a:off x="2743200" y="1447800"/>
                        <a:ext cx="1066800" cy="152400"/>
                        <a:chOff x="914400" y="1447800"/>
                        <a:chExt cx="1066800" cy="152400"/>
                      </a:xfrm>
                    </p:grpSpPr>
                    <p:sp>
                      <p:nvSpPr>
                        <p:cNvPr id="261" name="Oval 260"/>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2" name="Oval 261"/>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31" name="Group 61"/>
                    <p:cNvGrpSpPr/>
                    <p:nvPr/>
                  </p:nvGrpSpPr>
                  <p:grpSpPr>
                    <a:xfrm>
                      <a:off x="914400" y="1447800"/>
                      <a:ext cx="2895600" cy="152400"/>
                      <a:chOff x="914400" y="1447800"/>
                      <a:chExt cx="2895600" cy="152400"/>
                    </a:xfrm>
                  </p:grpSpPr>
                  <p:grpSp>
                    <p:nvGrpSpPr>
                      <p:cNvPr id="132" name="Group 56"/>
                      <p:cNvGrpSpPr/>
                      <p:nvPr/>
                    </p:nvGrpSpPr>
                    <p:grpSpPr>
                      <a:xfrm>
                        <a:off x="914400" y="1447800"/>
                        <a:ext cx="1066800" cy="152400"/>
                        <a:chOff x="914400" y="1447800"/>
                        <a:chExt cx="1066800" cy="152400"/>
                      </a:xfrm>
                    </p:grpSpPr>
                    <p:sp>
                      <p:nvSpPr>
                        <p:cNvPr id="257" name="Oval 256"/>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8" name="Oval 257"/>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7" name="Group 57"/>
                      <p:cNvGrpSpPr/>
                      <p:nvPr/>
                    </p:nvGrpSpPr>
                    <p:grpSpPr>
                      <a:xfrm>
                        <a:off x="2743200" y="1447800"/>
                        <a:ext cx="1066800" cy="152400"/>
                        <a:chOff x="914400" y="1447800"/>
                        <a:chExt cx="1066800" cy="152400"/>
                      </a:xfrm>
                    </p:grpSpPr>
                    <p:sp>
                      <p:nvSpPr>
                        <p:cNvPr id="255" name="Oval 254"/>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6" name="Oval 255"/>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grpSp>
          <p:grpSp>
            <p:nvGrpSpPr>
              <p:cNvPr id="138" name="Group 117"/>
              <p:cNvGrpSpPr/>
              <p:nvPr/>
            </p:nvGrpSpPr>
            <p:grpSpPr>
              <a:xfrm>
                <a:off x="8229600" y="1447800"/>
                <a:ext cx="6553200" cy="2895600"/>
                <a:chOff x="914400" y="1447800"/>
                <a:chExt cx="6553200" cy="2895600"/>
              </a:xfrm>
            </p:grpSpPr>
            <p:grpSp>
              <p:nvGrpSpPr>
                <p:cNvPr id="139" name="Group 84"/>
                <p:cNvGrpSpPr/>
                <p:nvPr/>
              </p:nvGrpSpPr>
              <p:grpSpPr>
                <a:xfrm>
                  <a:off x="914400" y="1447800"/>
                  <a:ext cx="2895600" cy="2895600"/>
                  <a:chOff x="914400" y="1447800"/>
                  <a:chExt cx="2895600" cy="2895600"/>
                </a:xfrm>
              </p:grpSpPr>
              <p:grpSp>
                <p:nvGrpSpPr>
                  <p:cNvPr id="140" name="Group 68"/>
                  <p:cNvGrpSpPr/>
                  <p:nvPr/>
                </p:nvGrpSpPr>
                <p:grpSpPr>
                  <a:xfrm>
                    <a:off x="914400" y="1447800"/>
                    <a:ext cx="2895600" cy="1066800"/>
                    <a:chOff x="914400" y="1447800"/>
                    <a:chExt cx="2895600" cy="1066800"/>
                  </a:xfrm>
                </p:grpSpPr>
                <p:grpSp>
                  <p:nvGrpSpPr>
                    <p:cNvPr id="145" name="Group 60"/>
                    <p:cNvGrpSpPr/>
                    <p:nvPr/>
                  </p:nvGrpSpPr>
                  <p:grpSpPr>
                    <a:xfrm>
                      <a:off x="914400" y="2362200"/>
                      <a:ext cx="2895600" cy="152400"/>
                      <a:chOff x="914400" y="1447800"/>
                      <a:chExt cx="2895600" cy="152400"/>
                    </a:xfrm>
                  </p:grpSpPr>
                  <p:grpSp>
                    <p:nvGrpSpPr>
                      <p:cNvPr id="146" name="Group 56"/>
                      <p:cNvGrpSpPr/>
                      <p:nvPr/>
                    </p:nvGrpSpPr>
                    <p:grpSpPr>
                      <a:xfrm>
                        <a:off x="914400" y="1447800"/>
                        <a:ext cx="1066800" cy="152400"/>
                        <a:chOff x="914400" y="1447800"/>
                        <a:chExt cx="1066800" cy="152400"/>
                      </a:xfrm>
                    </p:grpSpPr>
                    <p:sp>
                      <p:nvSpPr>
                        <p:cNvPr id="245" name="Oval 5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6" name="Oval 5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51" name="Group 57"/>
                      <p:cNvGrpSpPr/>
                      <p:nvPr/>
                    </p:nvGrpSpPr>
                    <p:grpSpPr>
                      <a:xfrm>
                        <a:off x="2743200" y="1447800"/>
                        <a:ext cx="1066800" cy="152400"/>
                        <a:chOff x="914400" y="1447800"/>
                        <a:chExt cx="1066800" cy="152400"/>
                      </a:xfrm>
                    </p:grpSpPr>
                    <p:sp>
                      <p:nvSpPr>
                        <p:cNvPr id="243" name="Oval 58"/>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4" name="Oval 59"/>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52" name="Group 61"/>
                    <p:cNvGrpSpPr/>
                    <p:nvPr/>
                  </p:nvGrpSpPr>
                  <p:grpSpPr>
                    <a:xfrm>
                      <a:off x="914400" y="1447800"/>
                      <a:ext cx="2895600" cy="152400"/>
                      <a:chOff x="914400" y="1447800"/>
                      <a:chExt cx="2895600" cy="152400"/>
                    </a:xfrm>
                  </p:grpSpPr>
                  <p:grpSp>
                    <p:nvGrpSpPr>
                      <p:cNvPr id="153" name="Group 56"/>
                      <p:cNvGrpSpPr/>
                      <p:nvPr/>
                    </p:nvGrpSpPr>
                    <p:grpSpPr>
                      <a:xfrm>
                        <a:off x="914400" y="1447800"/>
                        <a:ext cx="1066800" cy="152400"/>
                        <a:chOff x="914400" y="1447800"/>
                        <a:chExt cx="1066800" cy="152400"/>
                      </a:xfrm>
                    </p:grpSpPr>
                    <p:sp>
                      <p:nvSpPr>
                        <p:cNvPr id="239" name="Oval 238"/>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0" name="Oval 239"/>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54" name="Group 57"/>
                      <p:cNvGrpSpPr/>
                      <p:nvPr/>
                    </p:nvGrpSpPr>
                    <p:grpSpPr>
                      <a:xfrm>
                        <a:off x="2743200" y="1447800"/>
                        <a:ext cx="1066800" cy="152400"/>
                        <a:chOff x="914400" y="1447800"/>
                        <a:chExt cx="1066800" cy="152400"/>
                      </a:xfrm>
                    </p:grpSpPr>
                    <p:sp>
                      <p:nvSpPr>
                        <p:cNvPr id="237" name="Oval 236"/>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8" name="Oval 237"/>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nvGrpSpPr>
                  <p:cNvPr id="155" name="Group 69"/>
                  <p:cNvGrpSpPr/>
                  <p:nvPr/>
                </p:nvGrpSpPr>
                <p:grpSpPr>
                  <a:xfrm>
                    <a:off x="914400" y="3276600"/>
                    <a:ext cx="2895600" cy="1066800"/>
                    <a:chOff x="914400" y="1447800"/>
                    <a:chExt cx="2895600" cy="1066800"/>
                  </a:xfrm>
                </p:grpSpPr>
                <p:grpSp>
                  <p:nvGrpSpPr>
                    <p:cNvPr id="156" name="Group 60"/>
                    <p:cNvGrpSpPr/>
                    <p:nvPr/>
                  </p:nvGrpSpPr>
                  <p:grpSpPr>
                    <a:xfrm>
                      <a:off x="914400" y="2362200"/>
                      <a:ext cx="2895600" cy="152400"/>
                      <a:chOff x="914400" y="1447800"/>
                      <a:chExt cx="2895600" cy="152400"/>
                    </a:xfrm>
                  </p:grpSpPr>
                  <p:grpSp>
                    <p:nvGrpSpPr>
                      <p:cNvPr id="161" name="Group 56"/>
                      <p:cNvGrpSpPr/>
                      <p:nvPr/>
                    </p:nvGrpSpPr>
                    <p:grpSpPr>
                      <a:xfrm>
                        <a:off x="914400" y="1447800"/>
                        <a:ext cx="1066800" cy="152400"/>
                        <a:chOff x="914400" y="1447800"/>
                        <a:chExt cx="1066800" cy="152400"/>
                      </a:xfrm>
                    </p:grpSpPr>
                    <p:sp>
                      <p:nvSpPr>
                        <p:cNvPr id="231" name="Oval 230"/>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2" name="Oval 231"/>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2" name="Group 57"/>
                      <p:cNvGrpSpPr/>
                      <p:nvPr/>
                    </p:nvGrpSpPr>
                    <p:grpSpPr>
                      <a:xfrm>
                        <a:off x="2743200" y="1447800"/>
                        <a:ext cx="1066800" cy="152400"/>
                        <a:chOff x="914400" y="1447800"/>
                        <a:chExt cx="1066800" cy="152400"/>
                      </a:xfrm>
                    </p:grpSpPr>
                    <p:sp>
                      <p:nvSpPr>
                        <p:cNvPr id="229" name="Oval 228"/>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0" name="Oval 229"/>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67" name="Group 61"/>
                    <p:cNvGrpSpPr/>
                    <p:nvPr/>
                  </p:nvGrpSpPr>
                  <p:grpSpPr>
                    <a:xfrm>
                      <a:off x="914400" y="1447800"/>
                      <a:ext cx="2895600" cy="152400"/>
                      <a:chOff x="914400" y="1447800"/>
                      <a:chExt cx="2895600" cy="152400"/>
                    </a:xfrm>
                  </p:grpSpPr>
                  <p:grpSp>
                    <p:nvGrpSpPr>
                      <p:cNvPr id="168" name="Group 56"/>
                      <p:cNvGrpSpPr/>
                      <p:nvPr/>
                    </p:nvGrpSpPr>
                    <p:grpSpPr>
                      <a:xfrm>
                        <a:off x="914400" y="1447800"/>
                        <a:ext cx="1066800" cy="152400"/>
                        <a:chOff x="914400" y="1447800"/>
                        <a:chExt cx="1066800" cy="152400"/>
                      </a:xfrm>
                    </p:grpSpPr>
                    <p:sp>
                      <p:nvSpPr>
                        <p:cNvPr id="225" name="Oval 224"/>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6" name="Oval 225"/>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9" name="Group 57"/>
                      <p:cNvGrpSpPr/>
                      <p:nvPr/>
                    </p:nvGrpSpPr>
                    <p:grpSpPr>
                      <a:xfrm>
                        <a:off x="2743200" y="1447800"/>
                        <a:ext cx="1066800" cy="152400"/>
                        <a:chOff x="914400" y="1447800"/>
                        <a:chExt cx="1066800" cy="152400"/>
                      </a:xfrm>
                    </p:grpSpPr>
                    <p:sp>
                      <p:nvSpPr>
                        <p:cNvPr id="223" name="Oval 22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4" name="Oval 22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grpSp>
              <p:nvGrpSpPr>
                <p:cNvPr id="170" name="Group 85"/>
                <p:cNvGrpSpPr/>
                <p:nvPr/>
              </p:nvGrpSpPr>
              <p:grpSpPr>
                <a:xfrm>
                  <a:off x="4572000" y="1447800"/>
                  <a:ext cx="2895600" cy="2895600"/>
                  <a:chOff x="914400" y="1447800"/>
                  <a:chExt cx="2895600" cy="2895600"/>
                </a:xfrm>
              </p:grpSpPr>
              <p:grpSp>
                <p:nvGrpSpPr>
                  <p:cNvPr id="175" name="Group 68"/>
                  <p:cNvGrpSpPr/>
                  <p:nvPr/>
                </p:nvGrpSpPr>
                <p:grpSpPr>
                  <a:xfrm>
                    <a:off x="914400" y="1447800"/>
                    <a:ext cx="2895600" cy="1066800"/>
                    <a:chOff x="914400" y="1447800"/>
                    <a:chExt cx="2895600" cy="1066800"/>
                  </a:xfrm>
                </p:grpSpPr>
                <p:grpSp>
                  <p:nvGrpSpPr>
                    <p:cNvPr id="176" name="Group 60"/>
                    <p:cNvGrpSpPr/>
                    <p:nvPr/>
                  </p:nvGrpSpPr>
                  <p:grpSpPr>
                    <a:xfrm>
                      <a:off x="914400" y="2362200"/>
                      <a:ext cx="2895600" cy="152400"/>
                      <a:chOff x="914400" y="1447800"/>
                      <a:chExt cx="2895600" cy="152400"/>
                    </a:xfrm>
                  </p:grpSpPr>
                  <p:grpSp>
                    <p:nvGrpSpPr>
                      <p:cNvPr id="181" name="Group 56"/>
                      <p:cNvGrpSpPr/>
                      <p:nvPr/>
                    </p:nvGrpSpPr>
                    <p:grpSpPr>
                      <a:xfrm>
                        <a:off x="914400" y="1447800"/>
                        <a:ext cx="1066800" cy="152400"/>
                        <a:chOff x="914400" y="1447800"/>
                        <a:chExt cx="1066800" cy="152400"/>
                      </a:xfrm>
                    </p:grpSpPr>
                    <p:sp>
                      <p:nvSpPr>
                        <p:cNvPr id="215" name="Oval 214"/>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6" name="Oval 215"/>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2" name="Group 57"/>
                      <p:cNvGrpSpPr/>
                      <p:nvPr/>
                    </p:nvGrpSpPr>
                    <p:grpSpPr>
                      <a:xfrm>
                        <a:off x="2743200" y="1447800"/>
                        <a:ext cx="1066800" cy="152400"/>
                        <a:chOff x="914400" y="1447800"/>
                        <a:chExt cx="1066800" cy="152400"/>
                      </a:xfrm>
                    </p:grpSpPr>
                    <p:sp>
                      <p:nvSpPr>
                        <p:cNvPr id="213" name="Oval 21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4" name="Oval 21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83" name="Group 61"/>
                    <p:cNvGrpSpPr/>
                    <p:nvPr/>
                  </p:nvGrpSpPr>
                  <p:grpSpPr>
                    <a:xfrm>
                      <a:off x="914400" y="1447800"/>
                      <a:ext cx="2895600" cy="152400"/>
                      <a:chOff x="914400" y="1447800"/>
                      <a:chExt cx="2895600" cy="152400"/>
                    </a:xfrm>
                  </p:grpSpPr>
                  <p:grpSp>
                    <p:nvGrpSpPr>
                      <p:cNvPr id="184" name="Group 56"/>
                      <p:cNvGrpSpPr/>
                      <p:nvPr/>
                    </p:nvGrpSpPr>
                    <p:grpSpPr>
                      <a:xfrm>
                        <a:off x="914400" y="1447800"/>
                        <a:ext cx="1066800" cy="152400"/>
                        <a:chOff x="914400" y="1447800"/>
                        <a:chExt cx="1066800" cy="152400"/>
                      </a:xfrm>
                    </p:grpSpPr>
                    <p:sp>
                      <p:nvSpPr>
                        <p:cNvPr id="209" name="Oval 208"/>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0" name="Oval 209"/>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5" name="Group 57"/>
                      <p:cNvGrpSpPr/>
                      <p:nvPr/>
                    </p:nvGrpSpPr>
                    <p:grpSpPr>
                      <a:xfrm>
                        <a:off x="2743200" y="1447800"/>
                        <a:ext cx="1066800" cy="152400"/>
                        <a:chOff x="914400" y="1447800"/>
                        <a:chExt cx="1066800" cy="152400"/>
                      </a:xfrm>
                    </p:grpSpPr>
                    <p:sp>
                      <p:nvSpPr>
                        <p:cNvPr id="207" name="Oval 206"/>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8" name="Oval 207"/>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nvGrpSpPr>
                  <p:cNvPr id="186" name="Group 69"/>
                  <p:cNvGrpSpPr/>
                  <p:nvPr/>
                </p:nvGrpSpPr>
                <p:grpSpPr>
                  <a:xfrm>
                    <a:off x="914400" y="3276600"/>
                    <a:ext cx="2895600" cy="1066800"/>
                    <a:chOff x="914400" y="1447800"/>
                    <a:chExt cx="2895600" cy="1066800"/>
                  </a:xfrm>
                </p:grpSpPr>
                <p:grpSp>
                  <p:nvGrpSpPr>
                    <p:cNvPr id="187" name="Group 60"/>
                    <p:cNvGrpSpPr/>
                    <p:nvPr/>
                  </p:nvGrpSpPr>
                  <p:grpSpPr>
                    <a:xfrm>
                      <a:off x="914400" y="2362200"/>
                      <a:ext cx="2895600" cy="152400"/>
                      <a:chOff x="914400" y="1447800"/>
                      <a:chExt cx="2895600" cy="152400"/>
                    </a:xfrm>
                  </p:grpSpPr>
                  <p:grpSp>
                    <p:nvGrpSpPr>
                      <p:cNvPr id="188" name="Group 56"/>
                      <p:cNvGrpSpPr/>
                      <p:nvPr/>
                    </p:nvGrpSpPr>
                    <p:grpSpPr>
                      <a:xfrm>
                        <a:off x="914400" y="1447800"/>
                        <a:ext cx="1066800" cy="152400"/>
                        <a:chOff x="914400" y="1447800"/>
                        <a:chExt cx="1066800" cy="152400"/>
                      </a:xfrm>
                    </p:grpSpPr>
                    <p:sp>
                      <p:nvSpPr>
                        <p:cNvPr id="201" name="Oval 200"/>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2" name="Oval 201"/>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9" name="Group 57"/>
                      <p:cNvGrpSpPr/>
                      <p:nvPr/>
                    </p:nvGrpSpPr>
                    <p:grpSpPr>
                      <a:xfrm>
                        <a:off x="2743200" y="1447800"/>
                        <a:ext cx="1066800" cy="152400"/>
                        <a:chOff x="914400" y="1447800"/>
                        <a:chExt cx="1066800" cy="152400"/>
                      </a:xfrm>
                    </p:grpSpPr>
                    <p:sp>
                      <p:nvSpPr>
                        <p:cNvPr id="199" name="Oval 198"/>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0" name="Oval 199"/>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90" name="Group 61"/>
                    <p:cNvGrpSpPr/>
                    <p:nvPr/>
                  </p:nvGrpSpPr>
                  <p:grpSpPr>
                    <a:xfrm>
                      <a:off x="914400" y="1447800"/>
                      <a:ext cx="2895600" cy="152400"/>
                      <a:chOff x="914400" y="1447800"/>
                      <a:chExt cx="2895600" cy="152400"/>
                    </a:xfrm>
                  </p:grpSpPr>
                  <p:grpSp>
                    <p:nvGrpSpPr>
                      <p:cNvPr id="191" name="Group 56"/>
                      <p:cNvGrpSpPr/>
                      <p:nvPr/>
                    </p:nvGrpSpPr>
                    <p:grpSpPr>
                      <a:xfrm>
                        <a:off x="914400" y="1447800"/>
                        <a:ext cx="1066800" cy="152400"/>
                        <a:chOff x="914400" y="1447800"/>
                        <a:chExt cx="1066800" cy="152400"/>
                      </a:xfrm>
                    </p:grpSpPr>
                    <p:sp>
                      <p:nvSpPr>
                        <p:cNvPr id="195" name="Oval 194"/>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6" name="Oval 195"/>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92" name="Group 57"/>
                      <p:cNvGrpSpPr/>
                      <p:nvPr/>
                    </p:nvGrpSpPr>
                    <p:grpSpPr>
                      <a:xfrm>
                        <a:off x="2743200" y="1447800"/>
                        <a:ext cx="1066800" cy="152400"/>
                        <a:chOff x="914400" y="1447800"/>
                        <a:chExt cx="1066800" cy="152400"/>
                      </a:xfrm>
                    </p:grpSpPr>
                    <p:sp>
                      <p:nvSpPr>
                        <p:cNvPr id="193" name="Oval 19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 name="Oval 19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grpSp>
        </p:grpSp>
      </p:grpSp>
      <p:sp>
        <p:nvSpPr>
          <p:cNvPr id="565" name="TextBox 564"/>
          <p:cNvSpPr txBox="1"/>
          <p:nvPr/>
        </p:nvSpPr>
        <p:spPr>
          <a:xfrm>
            <a:off x="609600" y="4343400"/>
            <a:ext cx="1981200" cy="369332"/>
          </a:xfrm>
          <a:prstGeom prst="rect">
            <a:avLst/>
          </a:prstGeom>
          <a:noFill/>
        </p:spPr>
        <p:txBody>
          <a:bodyPr wrap="square" rtlCol="0">
            <a:spAutoFit/>
          </a:bodyPr>
          <a:lstStyle/>
          <a:p>
            <a:r>
              <a:rPr lang="en-US" dirty="0" smtClean="0">
                <a:solidFill>
                  <a:srgbClr val="0824F2"/>
                </a:solidFill>
              </a:rPr>
              <a:t>1   2   3   4 …</a:t>
            </a:r>
            <a:endParaRPr lang="en-US" dirty="0">
              <a:solidFill>
                <a:srgbClr val="0824F2"/>
              </a:solidFill>
            </a:endParaRPr>
          </a:p>
        </p:txBody>
      </p:sp>
      <p:sp>
        <p:nvSpPr>
          <p:cNvPr id="566" name="TextBox 565"/>
          <p:cNvSpPr txBox="1"/>
          <p:nvPr/>
        </p:nvSpPr>
        <p:spPr>
          <a:xfrm>
            <a:off x="8305800" y="4355068"/>
            <a:ext cx="838200" cy="369332"/>
          </a:xfrm>
          <a:prstGeom prst="rect">
            <a:avLst/>
          </a:prstGeom>
          <a:noFill/>
        </p:spPr>
        <p:txBody>
          <a:bodyPr wrap="square" rtlCol="0">
            <a:spAutoFit/>
          </a:bodyPr>
          <a:lstStyle/>
          <a:p>
            <a:r>
              <a:rPr lang="en-US" dirty="0" smtClean="0">
                <a:solidFill>
                  <a:srgbClr val="0824F2"/>
                </a:solidFill>
              </a:rPr>
              <a:t> … 32</a:t>
            </a:r>
            <a:endParaRPr lang="en-US" dirty="0">
              <a:solidFill>
                <a:srgbClr val="0824F2"/>
              </a:solidFill>
            </a:endParaRPr>
          </a:p>
        </p:txBody>
      </p:sp>
      <p:sp>
        <p:nvSpPr>
          <p:cNvPr id="567" name="TextBox 566"/>
          <p:cNvSpPr txBox="1"/>
          <p:nvPr/>
        </p:nvSpPr>
        <p:spPr>
          <a:xfrm>
            <a:off x="304800" y="3886200"/>
            <a:ext cx="381000" cy="369332"/>
          </a:xfrm>
          <a:prstGeom prst="rect">
            <a:avLst/>
          </a:prstGeom>
          <a:noFill/>
        </p:spPr>
        <p:txBody>
          <a:bodyPr wrap="square" rtlCol="0">
            <a:spAutoFit/>
          </a:bodyPr>
          <a:lstStyle/>
          <a:p>
            <a:r>
              <a:rPr lang="en-US" dirty="0" smtClean="0">
                <a:solidFill>
                  <a:srgbClr val="0824F2"/>
                </a:solidFill>
              </a:rPr>
              <a:t>x</a:t>
            </a:r>
            <a:endParaRPr lang="en-US" dirty="0">
              <a:solidFill>
                <a:srgbClr val="0824F2"/>
              </a:solidFill>
            </a:endParaRPr>
          </a:p>
        </p:txBody>
      </p:sp>
      <p:sp>
        <p:nvSpPr>
          <p:cNvPr id="568" name="TextBox 567"/>
          <p:cNvSpPr txBox="1"/>
          <p:nvPr/>
        </p:nvSpPr>
        <p:spPr>
          <a:xfrm>
            <a:off x="152400" y="3516868"/>
            <a:ext cx="609600" cy="369332"/>
          </a:xfrm>
          <a:prstGeom prst="rect">
            <a:avLst/>
          </a:prstGeom>
          <a:noFill/>
        </p:spPr>
        <p:txBody>
          <a:bodyPr wrap="square" rtlCol="0">
            <a:spAutoFit/>
          </a:bodyPr>
          <a:lstStyle/>
          <a:p>
            <a:r>
              <a:rPr lang="en-US" dirty="0" err="1" smtClean="0">
                <a:solidFill>
                  <a:srgbClr val="0824F2"/>
                </a:solidFill>
              </a:rPr>
              <a:t>A·x</a:t>
            </a:r>
            <a:endParaRPr lang="en-US" dirty="0">
              <a:solidFill>
                <a:srgbClr val="0824F2"/>
              </a:solidFill>
            </a:endParaRPr>
          </a:p>
        </p:txBody>
      </p:sp>
      <p:sp>
        <p:nvSpPr>
          <p:cNvPr id="569" name="TextBox 568"/>
          <p:cNvSpPr txBox="1"/>
          <p:nvPr/>
        </p:nvSpPr>
        <p:spPr>
          <a:xfrm>
            <a:off x="152400" y="3124200"/>
            <a:ext cx="609600" cy="369332"/>
          </a:xfrm>
          <a:prstGeom prst="rect">
            <a:avLst/>
          </a:prstGeom>
          <a:noFill/>
        </p:spPr>
        <p:txBody>
          <a:bodyPr wrap="square" rtlCol="0">
            <a:spAutoFit/>
          </a:bodyPr>
          <a:lstStyle/>
          <a:p>
            <a:r>
              <a:rPr lang="en-US" dirty="0" smtClean="0">
                <a:solidFill>
                  <a:srgbClr val="0824F2"/>
                </a:solidFill>
              </a:rPr>
              <a:t>A</a:t>
            </a:r>
            <a:r>
              <a:rPr lang="en-US" sz="2000" b="1" baseline="30000" dirty="0" smtClean="0">
                <a:solidFill>
                  <a:srgbClr val="0824F2"/>
                </a:solidFill>
              </a:rPr>
              <a:t>2</a:t>
            </a:r>
            <a:r>
              <a:rPr lang="en-US" dirty="0" smtClean="0">
                <a:solidFill>
                  <a:srgbClr val="0824F2"/>
                </a:solidFill>
              </a:rPr>
              <a:t>·x</a:t>
            </a:r>
            <a:endParaRPr lang="en-US" dirty="0">
              <a:solidFill>
                <a:srgbClr val="0824F2"/>
              </a:solidFill>
            </a:endParaRPr>
          </a:p>
        </p:txBody>
      </p:sp>
      <p:sp>
        <p:nvSpPr>
          <p:cNvPr id="570" name="TextBox 569"/>
          <p:cNvSpPr txBox="1"/>
          <p:nvPr/>
        </p:nvSpPr>
        <p:spPr>
          <a:xfrm>
            <a:off x="152400" y="2743200"/>
            <a:ext cx="609600" cy="369332"/>
          </a:xfrm>
          <a:prstGeom prst="rect">
            <a:avLst/>
          </a:prstGeom>
          <a:noFill/>
        </p:spPr>
        <p:txBody>
          <a:bodyPr wrap="square" rtlCol="0">
            <a:spAutoFit/>
          </a:bodyPr>
          <a:lstStyle/>
          <a:p>
            <a:r>
              <a:rPr lang="en-US" dirty="0" smtClean="0">
                <a:solidFill>
                  <a:srgbClr val="0824F2"/>
                </a:solidFill>
              </a:rPr>
              <a:t>A</a:t>
            </a:r>
            <a:r>
              <a:rPr lang="en-US" sz="2000" b="1" baseline="30000" dirty="0" smtClean="0">
                <a:solidFill>
                  <a:srgbClr val="0824F2"/>
                </a:solidFill>
              </a:rPr>
              <a:t>3</a:t>
            </a:r>
            <a:r>
              <a:rPr lang="en-US" dirty="0" smtClean="0">
                <a:solidFill>
                  <a:srgbClr val="0824F2"/>
                </a:solidFill>
              </a:rPr>
              <a:t>·x</a:t>
            </a:r>
            <a:endParaRPr lang="en-US" dirty="0">
              <a:solidFill>
                <a:srgbClr val="0824F2"/>
              </a:solidFill>
            </a:endParaRPr>
          </a:p>
        </p:txBody>
      </p:sp>
      <p:sp>
        <p:nvSpPr>
          <p:cNvPr id="529" name="Title 1"/>
          <p:cNvSpPr txBox="1">
            <a:spLocks/>
          </p:cNvSpPr>
          <p:nvPr/>
        </p:nvSpPr>
        <p:spPr>
          <a:xfrm>
            <a:off x="457200" y="274638"/>
            <a:ext cx="8229600" cy="1143000"/>
          </a:xfrm>
          <a:prstGeom prst="rect">
            <a:avLst/>
          </a:prstGeom>
        </p:spPr>
        <p:txBody>
          <a:bodyPr rtlCol="0">
            <a:noAutofit/>
          </a:bodyPr>
          <a:lstStyle/>
          <a:p>
            <a:pPr lvl="0" algn="ctr">
              <a:spcBef>
                <a:spcPct val="0"/>
              </a:spcBef>
              <a:defRPr/>
            </a:pPr>
            <a:r>
              <a:rPr kumimoji="0" lang="en-US" sz="3600" b="0" i="0" u="none" strike="noStrike" kern="1200" cap="none" spc="0" normalizeH="0" baseline="0" noProof="0" dirty="0" smtClean="0">
                <a:ln>
                  <a:noFill/>
                </a:ln>
                <a:solidFill>
                  <a:schemeClr val="tx1"/>
                </a:solidFill>
                <a:effectLst/>
                <a:uLnTx/>
                <a:uFillTx/>
                <a:latin typeface="+mj-lt"/>
                <a:ea typeface="+mj-ea"/>
                <a:cs typeface="+mj-cs"/>
              </a:rPr>
              <a:t>Communication Avoiding Kernels:</a:t>
            </a:r>
            <a:br>
              <a:rPr kumimoji="0" lang="en-US" sz="3600" b="0" i="0" u="none" strike="noStrike" kern="1200" cap="none" spc="0" normalizeH="0" baseline="0" noProof="0" dirty="0" smtClean="0">
                <a:ln>
                  <a:noFill/>
                </a:ln>
                <a:solidFill>
                  <a:schemeClr val="tx1"/>
                </a:solidFill>
                <a:effectLst/>
                <a:uLnTx/>
                <a:uFillTx/>
                <a:latin typeface="+mj-lt"/>
                <a:ea typeface="+mj-ea"/>
                <a:cs typeface="+mj-cs"/>
              </a:rPr>
            </a:br>
            <a:r>
              <a:rPr kumimoji="0" lang="en-US" sz="2800" b="0" i="0" u="none" strike="noStrike" kern="1200" cap="none" spc="0" normalizeH="0" baseline="0" noProof="0" dirty="0" smtClean="0">
                <a:ln>
                  <a:noFill/>
                </a:ln>
                <a:solidFill>
                  <a:schemeClr val="tx1"/>
                </a:solidFill>
                <a:effectLst/>
                <a:uLnTx/>
                <a:uFillTx/>
                <a:latin typeface="+mj-lt"/>
                <a:ea typeface="+mj-ea"/>
                <a:cs typeface="+mj-cs"/>
              </a:rPr>
              <a:t>The Matrix Powers Kernel</a:t>
            </a:r>
            <a:r>
              <a:rPr lang="en-US" sz="2800" dirty="0" smtClean="0"/>
              <a:t> :</a:t>
            </a:r>
            <a:r>
              <a:rPr lang="en-US" sz="2800" dirty="0" smtClean="0">
                <a:sym typeface="Symbol"/>
              </a:rPr>
              <a:t> [</a:t>
            </a:r>
            <a:r>
              <a:rPr lang="en-US" sz="2800" dirty="0" smtClean="0"/>
              <a:t>Ax, A</a:t>
            </a:r>
            <a:r>
              <a:rPr lang="en-US" sz="2800" baseline="40000" dirty="0" smtClean="0"/>
              <a:t>2</a:t>
            </a:r>
            <a:r>
              <a:rPr lang="en-US" sz="2800" dirty="0" smtClean="0"/>
              <a:t>x, …, </a:t>
            </a:r>
            <a:r>
              <a:rPr lang="en-US" sz="2800" dirty="0" err="1" smtClean="0"/>
              <a:t>A</a:t>
            </a:r>
            <a:r>
              <a:rPr lang="en-US" sz="2800" baseline="40000" dirty="0" err="1" smtClean="0"/>
              <a:t>k</a:t>
            </a:r>
            <a:r>
              <a:rPr lang="en-US" sz="2800" dirty="0" err="1" smtClean="0"/>
              <a:t>x</a:t>
            </a:r>
            <a:r>
              <a:rPr lang="en-US" sz="2800" dirty="0" smtClean="0"/>
              <a:t>] </a:t>
            </a:r>
            <a:endParaRPr kumimoji="0" lang="en-US" sz="2800" b="0" i="0" u="none" strike="noStrike" kern="1200" cap="none" spc="0" normalizeH="0" baseline="0" noProof="0" dirty="0">
              <a:ln>
                <a:noFill/>
              </a:ln>
              <a:solidFill>
                <a:schemeClr val="tx1"/>
              </a:solidFill>
              <a:effectLst/>
              <a:uLnTx/>
              <a:uFillTx/>
              <a:latin typeface="+mj-lt"/>
              <a:ea typeface="+mj-ea"/>
              <a:cs typeface="+mj-cs"/>
            </a:endParaRPr>
          </a:p>
        </p:txBody>
      </p:sp>
      <p:cxnSp>
        <p:nvCxnSpPr>
          <p:cNvPr id="530" name="Straight Connector 529"/>
          <p:cNvCxnSpPr/>
          <p:nvPr/>
        </p:nvCxnSpPr>
        <p:spPr>
          <a:xfrm>
            <a:off x="228600" y="1371600"/>
            <a:ext cx="8305800" cy="0"/>
          </a:xfrm>
          <a:prstGeom prst="line">
            <a:avLst/>
          </a:prstGeom>
        </p:spPr>
        <p:style>
          <a:lnRef idx="1">
            <a:schemeClr val="accent1"/>
          </a:lnRef>
          <a:fillRef idx="0">
            <a:schemeClr val="accent1"/>
          </a:fillRef>
          <a:effectRef idx="0">
            <a:schemeClr val="accent1"/>
          </a:effectRef>
          <a:fontRef idx="minor">
            <a:schemeClr val="tx1"/>
          </a:fontRef>
        </p:style>
      </p:cxnSp>
      <p:sp>
        <p:nvSpPr>
          <p:cNvPr id="535" name="Content Placeholder 2"/>
          <p:cNvSpPr txBox="1">
            <a:spLocks/>
          </p:cNvSpPr>
          <p:nvPr/>
        </p:nvSpPr>
        <p:spPr>
          <a:xfrm>
            <a:off x="228600" y="1447800"/>
            <a:ext cx="8915400" cy="4525963"/>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Replace k iterations of y = </a:t>
            </a:r>
            <a:r>
              <a:rPr kumimoji="0" lang="en-US" sz="3200" b="0" i="0" u="none" strike="noStrike" kern="1200" cap="none" spc="0" normalizeH="0" baseline="0" noProof="0" dirty="0" err="1" smtClean="0">
                <a:ln>
                  <a:noFill/>
                </a:ln>
                <a:solidFill>
                  <a:schemeClr val="tx1"/>
                </a:solidFill>
                <a:effectLst/>
                <a:uLnTx/>
                <a:uFillTx/>
                <a:latin typeface="+mn-lt"/>
                <a:ea typeface="+mn-ea"/>
                <a:cs typeface="+mn-cs"/>
              </a:rPr>
              <a:t>A</a:t>
            </a:r>
            <a:r>
              <a:rPr kumimoji="0" lang="en-US" sz="3200" b="0" i="0" u="none" strike="noStrike" kern="1200" cap="none" spc="0" normalizeH="0" baseline="0" noProof="0" dirty="0" err="1" smtClean="0">
                <a:ln>
                  <a:noFill/>
                </a:ln>
                <a:solidFill>
                  <a:schemeClr val="tx1"/>
                </a:solidFill>
                <a:effectLst/>
                <a:uLnTx/>
                <a:uFillTx/>
                <a:latin typeface="+mn-lt"/>
                <a:ea typeface="+mn-ea"/>
                <a:cs typeface="+mn-cs"/>
                <a:sym typeface="Symbol"/>
              </a:rPr>
              <a:t>x</a:t>
            </a:r>
            <a:r>
              <a:rPr kumimoji="0" lang="en-US" sz="3200" b="0" i="0" u="none" strike="noStrike" kern="1200" cap="none" spc="0" normalizeH="0" baseline="0" noProof="0" dirty="0" smtClean="0">
                <a:ln>
                  <a:noFill/>
                </a:ln>
                <a:solidFill>
                  <a:schemeClr val="tx1"/>
                </a:solidFill>
                <a:effectLst/>
                <a:uLnTx/>
                <a:uFillTx/>
                <a:latin typeface="+mn-lt"/>
                <a:ea typeface="+mn-ea"/>
                <a:cs typeface="+mn-cs"/>
                <a:sym typeface="Symbol"/>
              </a:rPr>
              <a:t> with [</a:t>
            </a:r>
            <a:r>
              <a:rPr kumimoji="0" lang="en-US" sz="3200" b="0" i="0" u="none" strike="noStrike" kern="1200" cap="none" spc="0" normalizeH="0" baseline="0" noProof="0" dirty="0" smtClean="0">
                <a:ln>
                  <a:noFill/>
                </a:ln>
                <a:solidFill>
                  <a:schemeClr val="tx1"/>
                </a:solidFill>
                <a:effectLst/>
                <a:uLnTx/>
                <a:uFillTx/>
                <a:latin typeface="+mn-lt"/>
                <a:ea typeface="+mn-ea"/>
                <a:cs typeface="+mn-cs"/>
              </a:rPr>
              <a:t>Ax, A</a:t>
            </a:r>
            <a:r>
              <a:rPr kumimoji="0" lang="en-US" sz="3200" b="0" i="0" u="none" strike="noStrike" kern="1200" cap="none" spc="0" normalizeH="0" baseline="40000" noProof="0" dirty="0" smtClean="0">
                <a:ln>
                  <a:noFill/>
                </a:ln>
                <a:solidFill>
                  <a:schemeClr val="tx1"/>
                </a:solidFill>
                <a:effectLst/>
                <a:uLnTx/>
                <a:uFillTx/>
                <a:latin typeface="+mn-lt"/>
                <a:ea typeface="+mn-ea"/>
                <a:cs typeface="+mn-cs"/>
              </a:rPr>
              <a:t>2</a:t>
            </a:r>
            <a:r>
              <a:rPr kumimoji="0" lang="en-US" sz="3200" b="0" i="0" u="none" strike="noStrike" kern="1200" cap="none" spc="0" normalizeH="0" baseline="0" noProof="0" dirty="0" smtClean="0">
                <a:ln>
                  <a:noFill/>
                </a:ln>
                <a:solidFill>
                  <a:schemeClr val="tx1"/>
                </a:solidFill>
                <a:effectLst/>
                <a:uLnTx/>
                <a:uFillTx/>
                <a:latin typeface="+mn-lt"/>
                <a:ea typeface="+mn-ea"/>
                <a:cs typeface="+mn-cs"/>
              </a:rPr>
              <a:t>x, …, </a:t>
            </a:r>
            <a:r>
              <a:rPr kumimoji="0" lang="en-US" sz="3200" b="0" i="0" u="none" strike="noStrike" kern="1200" cap="none" spc="0" normalizeH="0" baseline="0" noProof="0" dirty="0" err="1" smtClean="0">
                <a:ln>
                  <a:noFill/>
                </a:ln>
                <a:solidFill>
                  <a:schemeClr val="tx1"/>
                </a:solidFill>
                <a:effectLst/>
                <a:uLnTx/>
                <a:uFillTx/>
                <a:latin typeface="+mn-lt"/>
                <a:ea typeface="+mn-ea"/>
                <a:cs typeface="+mn-cs"/>
              </a:rPr>
              <a:t>A</a:t>
            </a:r>
            <a:r>
              <a:rPr kumimoji="0" lang="en-US" sz="3200" b="0" i="0" u="none" strike="noStrike" kern="1200" cap="none" spc="0" normalizeH="0" baseline="40000" noProof="0" dirty="0" err="1" smtClean="0">
                <a:ln>
                  <a:noFill/>
                </a:ln>
                <a:solidFill>
                  <a:schemeClr val="tx1"/>
                </a:solidFill>
                <a:effectLst/>
                <a:uLnTx/>
                <a:uFillTx/>
                <a:latin typeface="+mn-lt"/>
                <a:ea typeface="+mn-ea"/>
                <a:cs typeface="+mn-cs"/>
              </a:rPr>
              <a:t>k</a:t>
            </a:r>
            <a:r>
              <a:rPr kumimoji="0" lang="en-US" sz="3200" b="0" i="0" u="none" strike="noStrike" kern="1200" cap="none" spc="0" normalizeH="0" baseline="0" noProof="0" dirty="0" err="1" smtClean="0">
                <a:ln>
                  <a:noFill/>
                </a:ln>
                <a:solidFill>
                  <a:schemeClr val="tx1"/>
                </a:solidFill>
                <a:effectLst/>
                <a:uLnTx/>
                <a:uFillTx/>
                <a:latin typeface="+mn-lt"/>
                <a:ea typeface="+mn-ea"/>
                <a:cs typeface="+mn-cs"/>
              </a:rPr>
              <a:t>x</a:t>
            </a:r>
            <a:r>
              <a:rPr kumimoji="0" lang="en-US" sz="3200" b="0" i="0" u="none" strike="noStrike" kern="1200" cap="none" spc="0" normalizeH="0" baseline="0" noProof="0" dirty="0" smtClean="0">
                <a:ln>
                  <a:noFill/>
                </a:ln>
                <a:solidFill>
                  <a:schemeClr val="tx1"/>
                </a:solidFill>
                <a:effectLst/>
                <a:uLnTx/>
                <a:uFillTx/>
                <a:latin typeface="+mn-lt"/>
                <a:ea typeface="+mn-ea"/>
                <a:cs typeface="+mn-cs"/>
              </a:rPr>
              <a:t>]</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sz="3200" dirty="0" smtClean="0"/>
              <a:t>Sequential Algorithm</a:t>
            </a:r>
            <a:r>
              <a:rPr kumimoji="0" lang="en-US" sz="3200" b="0" i="0" u="none" strike="noStrike" kern="1200" cap="none" spc="0" normalizeH="0" baseline="0" noProof="0" dirty="0" smtClean="0">
                <a:ln>
                  <a:noFill/>
                </a:ln>
                <a:solidFill>
                  <a:schemeClr val="tx1"/>
                </a:solidFill>
                <a:effectLst/>
                <a:uLnTx/>
                <a:uFillTx/>
                <a:latin typeface="+mn-lt"/>
                <a:ea typeface="+mn-ea"/>
                <a:cs typeface="+mn-cs"/>
              </a:rPr>
              <a:t> </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en-US" sz="3200" dirty="0" smtClean="0"/>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Example: A </a:t>
            </a:r>
            <a:r>
              <a:rPr kumimoji="0" lang="en-US" sz="3200" b="0" i="0" u="none" strike="noStrike" kern="1200" cap="none" spc="0" normalizeH="0" baseline="0" noProof="0" dirty="0" err="1" smtClean="0">
                <a:ln>
                  <a:noFill/>
                </a:ln>
                <a:solidFill>
                  <a:schemeClr val="tx1"/>
                </a:solidFill>
                <a:effectLst/>
                <a:uLnTx/>
                <a:uFillTx/>
                <a:latin typeface="+mn-lt"/>
                <a:ea typeface="+mn-ea"/>
                <a:cs typeface="+mn-cs"/>
              </a:rPr>
              <a:t>tridiagonal</a:t>
            </a:r>
            <a:r>
              <a:rPr kumimoji="0" lang="en-US" sz="3200" b="0" i="0" u="none" strike="noStrike" kern="1200" cap="none" spc="0" normalizeH="0" baseline="0" noProof="0" dirty="0" smtClean="0">
                <a:ln>
                  <a:noFill/>
                </a:ln>
                <a:solidFill>
                  <a:schemeClr val="tx1"/>
                </a:solidFill>
                <a:effectLst/>
                <a:uLnTx/>
                <a:uFillTx/>
                <a:latin typeface="+mn-lt"/>
                <a:ea typeface="+mn-ea"/>
                <a:cs typeface="+mn-cs"/>
              </a:rPr>
              <a:t>, n=32, k=3</a:t>
            </a:r>
          </a:p>
        </p:txBody>
      </p:sp>
      <p:sp>
        <p:nvSpPr>
          <p:cNvPr id="536" name="TextBox 535"/>
          <p:cNvSpPr txBox="1"/>
          <p:nvPr/>
        </p:nvSpPr>
        <p:spPr>
          <a:xfrm>
            <a:off x="990600" y="2514600"/>
            <a:ext cx="779765" cy="369332"/>
          </a:xfrm>
          <a:prstGeom prst="rect">
            <a:avLst/>
          </a:prstGeom>
          <a:noFill/>
        </p:spPr>
        <p:txBody>
          <a:bodyPr wrap="none" rtlCol="0">
            <a:spAutoFit/>
          </a:bodyPr>
          <a:lstStyle/>
          <a:p>
            <a:r>
              <a:rPr lang="en-US" b="1" dirty="0" smtClean="0">
                <a:solidFill>
                  <a:schemeClr val="tx2">
                    <a:lumMod val="60000"/>
                    <a:lumOff val="40000"/>
                  </a:schemeClr>
                </a:solidFill>
              </a:rPr>
              <a:t>Step 1</a:t>
            </a:r>
            <a:endParaRPr lang="en-US" b="1" dirty="0">
              <a:solidFill>
                <a:schemeClr val="tx2">
                  <a:lumMod val="60000"/>
                  <a:lumOff val="40000"/>
                </a:schemeClr>
              </a:solidFill>
            </a:endParaRPr>
          </a:p>
        </p:txBody>
      </p:sp>
      <p:sp>
        <p:nvSpPr>
          <p:cNvPr id="537" name="TextBox 536"/>
          <p:cNvSpPr txBox="1"/>
          <p:nvPr/>
        </p:nvSpPr>
        <p:spPr>
          <a:xfrm>
            <a:off x="2667000" y="2514600"/>
            <a:ext cx="824969" cy="369332"/>
          </a:xfrm>
          <a:prstGeom prst="rect">
            <a:avLst/>
          </a:prstGeom>
          <a:noFill/>
        </p:spPr>
        <p:txBody>
          <a:bodyPr wrap="none" rtlCol="0">
            <a:spAutoFit/>
          </a:bodyPr>
          <a:lstStyle/>
          <a:p>
            <a:r>
              <a:rPr lang="en-US" b="1" dirty="0" smtClean="0">
                <a:solidFill>
                  <a:srgbClr val="FF0000"/>
                </a:solidFill>
              </a:rPr>
              <a:t>Step  2</a:t>
            </a:r>
            <a:endParaRPr lang="en-US" b="1" dirty="0">
              <a:solidFill>
                <a:srgbClr val="FF0000"/>
              </a:solidFill>
            </a:endParaRPr>
          </a:p>
        </p:txBody>
      </p:sp>
      <p:sp>
        <p:nvSpPr>
          <p:cNvPr id="538" name="TextBox 537"/>
          <p:cNvSpPr txBox="1"/>
          <p:nvPr/>
        </p:nvSpPr>
        <p:spPr>
          <a:xfrm>
            <a:off x="4572000" y="2514600"/>
            <a:ext cx="824969" cy="369332"/>
          </a:xfrm>
          <a:prstGeom prst="rect">
            <a:avLst/>
          </a:prstGeom>
          <a:noFill/>
        </p:spPr>
        <p:txBody>
          <a:bodyPr wrap="none" rtlCol="0">
            <a:spAutoFit/>
          </a:bodyPr>
          <a:lstStyle/>
          <a:p>
            <a:r>
              <a:rPr lang="en-US" b="1" dirty="0" smtClean="0">
                <a:solidFill>
                  <a:srgbClr val="92D050"/>
                </a:solidFill>
              </a:rPr>
              <a:t>Step  3</a:t>
            </a:r>
            <a:endParaRPr lang="en-US" b="1" dirty="0">
              <a:solidFill>
                <a:srgbClr val="92D050"/>
              </a:solidFill>
            </a:endParaRPr>
          </a:p>
        </p:txBody>
      </p:sp>
    </p:spTree>
  </p:cSld>
  <p:clrMapOvr>
    <a:masterClrMapping/>
  </p:clrMapOvr>
  <p:timing>
    <p:tnLst>
      <p:par>
        <p:cTn xmlns:p14="http://schemas.microsoft.com/office/powerpoint/2010/mai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0" name="Right Triangle 529"/>
          <p:cNvSpPr/>
          <p:nvPr/>
        </p:nvSpPr>
        <p:spPr>
          <a:xfrm flipH="1" flipV="1">
            <a:off x="6019800" y="2895600"/>
            <a:ext cx="838200" cy="1219200"/>
          </a:xfrm>
          <a:prstGeom prst="rtTriangl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9" name="Rectangle 528"/>
          <p:cNvSpPr/>
          <p:nvPr/>
        </p:nvSpPr>
        <p:spPr>
          <a:xfrm>
            <a:off x="6858000" y="2895600"/>
            <a:ext cx="1981200" cy="1219200"/>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4" name="Parallelogram 523"/>
          <p:cNvSpPr/>
          <p:nvPr/>
        </p:nvSpPr>
        <p:spPr>
          <a:xfrm flipH="1">
            <a:off x="3962400" y="2895600"/>
            <a:ext cx="2895600" cy="1219200"/>
          </a:xfrm>
          <a:prstGeom prst="parallelogram">
            <a:avLst>
              <a:gd name="adj" fmla="val 68478"/>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3" name="Parallelogram 522"/>
          <p:cNvSpPr/>
          <p:nvPr/>
        </p:nvSpPr>
        <p:spPr>
          <a:xfrm flipH="1">
            <a:off x="1752600" y="2895600"/>
            <a:ext cx="3048000" cy="1219200"/>
          </a:xfrm>
          <a:prstGeom prst="parallelogram">
            <a:avLst>
              <a:gd name="adj" fmla="val 68478"/>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2" name="Right Triangle 521"/>
          <p:cNvSpPr/>
          <p:nvPr/>
        </p:nvSpPr>
        <p:spPr>
          <a:xfrm>
            <a:off x="1905000" y="2895600"/>
            <a:ext cx="838200" cy="1219200"/>
          </a:xfrm>
          <a:prstGeom prst="rtTriangle">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1" name="Rectangle 520"/>
          <p:cNvSpPr/>
          <p:nvPr/>
        </p:nvSpPr>
        <p:spPr>
          <a:xfrm>
            <a:off x="762000" y="2895600"/>
            <a:ext cx="1143000" cy="1219200"/>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 308"/>
          <p:cNvGrpSpPr/>
          <p:nvPr/>
        </p:nvGrpSpPr>
        <p:grpSpPr>
          <a:xfrm>
            <a:off x="762000" y="2895600"/>
            <a:ext cx="8077200" cy="1219200"/>
            <a:chOff x="-9144000" y="1447800"/>
            <a:chExt cx="28498800" cy="2895600"/>
          </a:xfrm>
        </p:grpSpPr>
        <p:grpSp>
          <p:nvGrpSpPr>
            <p:cNvPr id="3" name="Group 180"/>
            <p:cNvGrpSpPr/>
            <p:nvPr/>
          </p:nvGrpSpPr>
          <p:grpSpPr>
            <a:xfrm>
              <a:off x="-9144000" y="1447800"/>
              <a:ext cx="13868400" cy="2895600"/>
              <a:chOff x="914400" y="1447800"/>
              <a:chExt cx="13868400" cy="2895600"/>
            </a:xfrm>
          </p:grpSpPr>
          <p:grpSp>
            <p:nvGrpSpPr>
              <p:cNvPr id="4" name="Group 116"/>
              <p:cNvGrpSpPr/>
              <p:nvPr/>
            </p:nvGrpSpPr>
            <p:grpSpPr>
              <a:xfrm>
                <a:off x="914400" y="1447800"/>
                <a:ext cx="6553200" cy="2895600"/>
                <a:chOff x="914400" y="1447800"/>
                <a:chExt cx="6553200" cy="2895600"/>
              </a:xfrm>
            </p:grpSpPr>
            <p:grpSp>
              <p:nvGrpSpPr>
                <p:cNvPr id="5" name="Group 84"/>
                <p:cNvGrpSpPr/>
                <p:nvPr/>
              </p:nvGrpSpPr>
              <p:grpSpPr>
                <a:xfrm>
                  <a:off x="914400" y="1447800"/>
                  <a:ext cx="2895600" cy="2895600"/>
                  <a:chOff x="914400" y="1447800"/>
                  <a:chExt cx="2895600" cy="2895600"/>
                </a:xfrm>
              </p:grpSpPr>
              <p:grpSp>
                <p:nvGrpSpPr>
                  <p:cNvPr id="6" name="Group 68"/>
                  <p:cNvGrpSpPr/>
                  <p:nvPr/>
                </p:nvGrpSpPr>
                <p:grpSpPr>
                  <a:xfrm>
                    <a:off x="914400" y="1447800"/>
                    <a:ext cx="2895600" cy="1066800"/>
                    <a:chOff x="914400" y="1447800"/>
                    <a:chExt cx="2895600" cy="1066800"/>
                  </a:xfrm>
                </p:grpSpPr>
                <p:grpSp>
                  <p:nvGrpSpPr>
                    <p:cNvPr id="7" name="Group 60"/>
                    <p:cNvGrpSpPr/>
                    <p:nvPr/>
                  </p:nvGrpSpPr>
                  <p:grpSpPr>
                    <a:xfrm>
                      <a:off x="914400" y="2362200"/>
                      <a:ext cx="2895600" cy="152400"/>
                      <a:chOff x="914400" y="1447800"/>
                      <a:chExt cx="2895600" cy="152400"/>
                    </a:xfrm>
                  </p:grpSpPr>
                  <p:grpSp>
                    <p:nvGrpSpPr>
                      <p:cNvPr id="8" name="Group 56"/>
                      <p:cNvGrpSpPr/>
                      <p:nvPr/>
                    </p:nvGrpSpPr>
                    <p:grpSpPr>
                      <a:xfrm>
                        <a:off x="914400" y="1447800"/>
                        <a:ext cx="1066800" cy="152400"/>
                        <a:chOff x="914400" y="1447800"/>
                        <a:chExt cx="1066800" cy="152400"/>
                      </a:xfrm>
                    </p:grpSpPr>
                    <p:sp>
                      <p:nvSpPr>
                        <p:cNvPr id="53" name="Oval 5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Oval 5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 name="Group 57"/>
                      <p:cNvGrpSpPr/>
                      <p:nvPr/>
                    </p:nvGrpSpPr>
                    <p:grpSpPr>
                      <a:xfrm>
                        <a:off x="2743200" y="1447800"/>
                        <a:ext cx="1066800" cy="152400"/>
                        <a:chOff x="914400" y="1447800"/>
                        <a:chExt cx="1066800" cy="152400"/>
                      </a:xfrm>
                    </p:grpSpPr>
                    <p:sp>
                      <p:nvSpPr>
                        <p:cNvPr id="59" name="Oval 58"/>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Oval 59"/>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0" name="Group 61"/>
                    <p:cNvGrpSpPr/>
                    <p:nvPr/>
                  </p:nvGrpSpPr>
                  <p:grpSpPr>
                    <a:xfrm>
                      <a:off x="914400" y="1447800"/>
                      <a:ext cx="2895600" cy="152400"/>
                      <a:chOff x="914400" y="1447800"/>
                      <a:chExt cx="2895600" cy="152400"/>
                    </a:xfrm>
                  </p:grpSpPr>
                  <p:grpSp>
                    <p:nvGrpSpPr>
                      <p:cNvPr id="11" name="Group 56"/>
                      <p:cNvGrpSpPr/>
                      <p:nvPr/>
                    </p:nvGrpSpPr>
                    <p:grpSpPr>
                      <a:xfrm>
                        <a:off x="914400" y="1447800"/>
                        <a:ext cx="1066800" cy="152400"/>
                        <a:chOff x="914400" y="1447800"/>
                        <a:chExt cx="1066800" cy="152400"/>
                      </a:xfrm>
                    </p:grpSpPr>
                    <p:sp>
                      <p:nvSpPr>
                        <p:cNvPr id="67" name="Oval 66"/>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Oval 67"/>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2" name="Group 57"/>
                      <p:cNvGrpSpPr/>
                      <p:nvPr/>
                    </p:nvGrpSpPr>
                    <p:grpSpPr>
                      <a:xfrm>
                        <a:off x="2743200" y="1447800"/>
                        <a:ext cx="1066800" cy="152400"/>
                        <a:chOff x="914400" y="1447800"/>
                        <a:chExt cx="1066800" cy="152400"/>
                      </a:xfrm>
                    </p:grpSpPr>
                    <p:sp>
                      <p:nvSpPr>
                        <p:cNvPr id="65" name="Oval 64"/>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Oval 65"/>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nvGrpSpPr>
                  <p:cNvPr id="13" name="Group 69"/>
                  <p:cNvGrpSpPr/>
                  <p:nvPr/>
                </p:nvGrpSpPr>
                <p:grpSpPr>
                  <a:xfrm>
                    <a:off x="914400" y="3276600"/>
                    <a:ext cx="2895600" cy="1066800"/>
                    <a:chOff x="914400" y="1447800"/>
                    <a:chExt cx="2895600" cy="1066800"/>
                  </a:xfrm>
                </p:grpSpPr>
                <p:grpSp>
                  <p:nvGrpSpPr>
                    <p:cNvPr id="14" name="Group 60"/>
                    <p:cNvGrpSpPr/>
                    <p:nvPr/>
                  </p:nvGrpSpPr>
                  <p:grpSpPr>
                    <a:xfrm>
                      <a:off x="914400" y="2362200"/>
                      <a:ext cx="2895600" cy="152400"/>
                      <a:chOff x="914400" y="1447800"/>
                      <a:chExt cx="2895600" cy="152400"/>
                    </a:xfrm>
                  </p:grpSpPr>
                  <p:grpSp>
                    <p:nvGrpSpPr>
                      <p:cNvPr id="15" name="Group 56"/>
                      <p:cNvGrpSpPr/>
                      <p:nvPr/>
                    </p:nvGrpSpPr>
                    <p:grpSpPr>
                      <a:xfrm>
                        <a:off x="914400" y="1447800"/>
                        <a:ext cx="1066800" cy="152400"/>
                        <a:chOff x="914400" y="1447800"/>
                        <a:chExt cx="1066800" cy="152400"/>
                      </a:xfrm>
                    </p:grpSpPr>
                    <p:sp>
                      <p:nvSpPr>
                        <p:cNvPr id="83" name="Oval 8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Oval 8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 name="Group 57"/>
                      <p:cNvGrpSpPr/>
                      <p:nvPr/>
                    </p:nvGrpSpPr>
                    <p:grpSpPr>
                      <a:xfrm>
                        <a:off x="2743200" y="1447800"/>
                        <a:ext cx="1066800" cy="152400"/>
                        <a:chOff x="914400" y="1447800"/>
                        <a:chExt cx="1066800" cy="152400"/>
                      </a:xfrm>
                    </p:grpSpPr>
                    <p:sp>
                      <p:nvSpPr>
                        <p:cNvPr id="81" name="Oval 80"/>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Oval 81"/>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7" name="Group 61"/>
                    <p:cNvGrpSpPr/>
                    <p:nvPr/>
                  </p:nvGrpSpPr>
                  <p:grpSpPr>
                    <a:xfrm>
                      <a:off x="914400" y="1447800"/>
                      <a:ext cx="2895600" cy="152400"/>
                      <a:chOff x="914400" y="1447800"/>
                      <a:chExt cx="2895600" cy="152400"/>
                    </a:xfrm>
                  </p:grpSpPr>
                  <p:grpSp>
                    <p:nvGrpSpPr>
                      <p:cNvPr id="18" name="Group 56"/>
                      <p:cNvGrpSpPr/>
                      <p:nvPr/>
                    </p:nvGrpSpPr>
                    <p:grpSpPr>
                      <a:xfrm>
                        <a:off x="914400" y="1447800"/>
                        <a:ext cx="1066800" cy="152400"/>
                        <a:chOff x="914400" y="1447800"/>
                        <a:chExt cx="1066800" cy="152400"/>
                      </a:xfrm>
                    </p:grpSpPr>
                    <p:sp>
                      <p:nvSpPr>
                        <p:cNvPr id="77" name="Oval 76"/>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Oval 77"/>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9" name="Group 57"/>
                      <p:cNvGrpSpPr/>
                      <p:nvPr/>
                    </p:nvGrpSpPr>
                    <p:grpSpPr>
                      <a:xfrm>
                        <a:off x="2743200" y="1447800"/>
                        <a:ext cx="1066800" cy="152400"/>
                        <a:chOff x="914400" y="1447800"/>
                        <a:chExt cx="1066800" cy="152400"/>
                      </a:xfrm>
                    </p:grpSpPr>
                    <p:sp>
                      <p:nvSpPr>
                        <p:cNvPr id="75" name="Oval 74"/>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Oval 75"/>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grpSp>
              <p:nvGrpSpPr>
                <p:cNvPr id="20" name="Group 85"/>
                <p:cNvGrpSpPr/>
                <p:nvPr/>
              </p:nvGrpSpPr>
              <p:grpSpPr>
                <a:xfrm>
                  <a:off x="4572000" y="1447800"/>
                  <a:ext cx="2895600" cy="2895600"/>
                  <a:chOff x="914400" y="1447800"/>
                  <a:chExt cx="2895600" cy="2895600"/>
                </a:xfrm>
              </p:grpSpPr>
              <p:grpSp>
                <p:nvGrpSpPr>
                  <p:cNvPr id="21" name="Group 68"/>
                  <p:cNvGrpSpPr/>
                  <p:nvPr/>
                </p:nvGrpSpPr>
                <p:grpSpPr>
                  <a:xfrm>
                    <a:off x="914400" y="1447800"/>
                    <a:ext cx="2895600" cy="1066800"/>
                    <a:chOff x="914400" y="1447800"/>
                    <a:chExt cx="2895600" cy="1066800"/>
                  </a:xfrm>
                </p:grpSpPr>
                <p:grpSp>
                  <p:nvGrpSpPr>
                    <p:cNvPr id="22" name="Group 60"/>
                    <p:cNvGrpSpPr/>
                    <p:nvPr/>
                  </p:nvGrpSpPr>
                  <p:grpSpPr>
                    <a:xfrm>
                      <a:off x="914400" y="2362200"/>
                      <a:ext cx="2895600" cy="152400"/>
                      <a:chOff x="914400" y="1447800"/>
                      <a:chExt cx="2895600" cy="152400"/>
                    </a:xfrm>
                  </p:grpSpPr>
                  <p:grpSp>
                    <p:nvGrpSpPr>
                      <p:cNvPr id="23" name="Group 56"/>
                      <p:cNvGrpSpPr/>
                      <p:nvPr/>
                    </p:nvGrpSpPr>
                    <p:grpSpPr>
                      <a:xfrm>
                        <a:off x="914400" y="1447800"/>
                        <a:ext cx="1066800" cy="152400"/>
                        <a:chOff x="914400" y="1447800"/>
                        <a:chExt cx="1066800" cy="152400"/>
                      </a:xfrm>
                    </p:grpSpPr>
                    <p:sp>
                      <p:nvSpPr>
                        <p:cNvPr id="115" name="Oval 114"/>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 name="Oval 115"/>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4" name="Group 57"/>
                      <p:cNvGrpSpPr/>
                      <p:nvPr/>
                    </p:nvGrpSpPr>
                    <p:grpSpPr>
                      <a:xfrm>
                        <a:off x="2743200" y="1447800"/>
                        <a:ext cx="1066800" cy="152400"/>
                        <a:chOff x="914400" y="1447800"/>
                        <a:chExt cx="1066800" cy="152400"/>
                      </a:xfrm>
                    </p:grpSpPr>
                    <p:sp>
                      <p:nvSpPr>
                        <p:cNvPr id="113" name="Oval 11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Oval 11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25" name="Group 61"/>
                    <p:cNvGrpSpPr/>
                    <p:nvPr/>
                  </p:nvGrpSpPr>
                  <p:grpSpPr>
                    <a:xfrm>
                      <a:off x="914400" y="1447800"/>
                      <a:ext cx="2895600" cy="152400"/>
                      <a:chOff x="914400" y="1447800"/>
                      <a:chExt cx="2895600" cy="152400"/>
                    </a:xfrm>
                  </p:grpSpPr>
                  <p:grpSp>
                    <p:nvGrpSpPr>
                      <p:cNvPr id="26" name="Group 56"/>
                      <p:cNvGrpSpPr/>
                      <p:nvPr/>
                    </p:nvGrpSpPr>
                    <p:grpSpPr>
                      <a:xfrm>
                        <a:off x="914400" y="1447800"/>
                        <a:ext cx="1066800" cy="152400"/>
                        <a:chOff x="914400" y="1447800"/>
                        <a:chExt cx="1066800" cy="152400"/>
                      </a:xfrm>
                    </p:grpSpPr>
                    <p:sp>
                      <p:nvSpPr>
                        <p:cNvPr id="109" name="Oval 108"/>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Oval 109"/>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7" name="Group 57"/>
                      <p:cNvGrpSpPr/>
                      <p:nvPr/>
                    </p:nvGrpSpPr>
                    <p:grpSpPr>
                      <a:xfrm>
                        <a:off x="2743200" y="1447800"/>
                        <a:ext cx="1066800" cy="152400"/>
                        <a:chOff x="914400" y="1447800"/>
                        <a:chExt cx="1066800" cy="152400"/>
                      </a:xfrm>
                    </p:grpSpPr>
                    <p:sp>
                      <p:nvSpPr>
                        <p:cNvPr id="107" name="Oval 106"/>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Oval 107"/>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nvGrpSpPr>
                  <p:cNvPr id="28" name="Group 69"/>
                  <p:cNvGrpSpPr/>
                  <p:nvPr/>
                </p:nvGrpSpPr>
                <p:grpSpPr>
                  <a:xfrm>
                    <a:off x="914400" y="3276600"/>
                    <a:ext cx="2895600" cy="1066800"/>
                    <a:chOff x="914400" y="1447800"/>
                    <a:chExt cx="2895600" cy="1066800"/>
                  </a:xfrm>
                </p:grpSpPr>
                <p:grpSp>
                  <p:nvGrpSpPr>
                    <p:cNvPr id="29" name="Group 60"/>
                    <p:cNvGrpSpPr/>
                    <p:nvPr/>
                  </p:nvGrpSpPr>
                  <p:grpSpPr>
                    <a:xfrm>
                      <a:off x="914400" y="2362200"/>
                      <a:ext cx="2895600" cy="152400"/>
                      <a:chOff x="914400" y="1447800"/>
                      <a:chExt cx="2895600" cy="152400"/>
                    </a:xfrm>
                  </p:grpSpPr>
                  <p:grpSp>
                    <p:nvGrpSpPr>
                      <p:cNvPr id="30" name="Group 56"/>
                      <p:cNvGrpSpPr/>
                      <p:nvPr/>
                    </p:nvGrpSpPr>
                    <p:grpSpPr>
                      <a:xfrm>
                        <a:off x="914400" y="1447800"/>
                        <a:ext cx="1066800" cy="152400"/>
                        <a:chOff x="914400" y="1447800"/>
                        <a:chExt cx="1066800" cy="152400"/>
                      </a:xfrm>
                    </p:grpSpPr>
                    <p:sp>
                      <p:nvSpPr>
                        <p:cNvPr id="101" name="Oval 100"/>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Oval 101"/>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1" name="Group 57"/>
                      <p:cNvGrpSpPr/>
                      <p:nvPr/>
                    </p:nvGrpSpPr>
                    <p:grpSpPr>
                      <a:xfrm>
                        <a:off x="2743200" y="1447800"/>
                        <a:ext cx="1066800" cy="152400"/>
                        <a:chOff x="914400" y="1447800"/>
                        <a:chExt cx="1066800" cy="152400"/>
                      </a:xfrm>
                    </p:grpSpPr>
                    <p:sp>
                      <p:nvSpPr>
                        <p:cNvPr id="99" name="Oval 98"/>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Oval 99"/>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32" name="Group 61"/>
                    <p:cNvGrpSpPr/>
                    <p:nvPr/>
                  </p:nvGrpSpPr>
                  <p:grpSpPr>
                    <a:xfrm>
                      <a:off x="914400" y="1447800"/>
                      <a:ext cx="2895600" cy="152400"/>
                      <a:chOff x="914400" y="1447800"/>
                      <a:chExt cx="2895600" cy="152400"/>
                    </a:xfrm>
                  </p:grpSpPr>
                  <p:grpSp>
                    <p:nvGrpSpPr>
                      <p:cNvPr id="33" name="Group 56"/>
                      <p:cNvGrpSpPr/>
                      <p:nvPr/>
                    </p:nvGrpSpPr>
                    <p:grpSpPr>
                      <a:xfrm>
                        <a:off x="914400" y="1447800"/>
                        <a:ext cx="1066800" cy="152400"/>
                        <a:chOff x="914400" y="1447800"/>
                        <a:chExt cx="1066800" cy="152400"/>
                      </a:xfrm>
                    </p:grpSpPr>
                    <p:sp>
                      <p:nvSpPr>
                        <p:cNvPr id="95" name="Oval 94"/>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Oval 95"/>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4" name="Group 57"/>
                      <p:cNvGrpSpPr/>
                      <p:nvPr/>
                    </p:nvGrpSpPr>
                    <p:grpSpPr>
                      <a:xfrm>
                        <a:off x="2743200" y="1447800"/>
                        <a:ext cx="1066800" cy="152400"/>
                        <a:chOff x="914400" y="1447800"/>
                        <a:chExt cx="1066800" cy="152400"/>
                      </a:xfrm>
                    </p:grpSpPr>
                    <p:sp>
                      <p:nvSpPr>
                        <p:cNvPr id="93" name="Oval 9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Oval 9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grpSp>
          <p:grpSp>
            <p:nvGrpSpPr>
              <p:cNvPr id="35" name="Group 117"/>
              <p:cNvGrpSpPr/>
              <p:nvPr/>
            </p:nvGrpSpPr>
            <p:grpSpPr>
              <a:xfrm>
                <a:off x="8229600" y="1447800"/>
                <a:ext cx="6553200" cy="2895600"/>
                <a:chOff x="914400" y="1447800"/>
                <a:chExt cx="6553200" cy="2895600"/>
              </a:xfrm>
            </p:grpSpPr>
            <p:grpSp>
              <p:nvGrpSpPr>
                <p:cNvPr id="36" name="Group 84"/>
                <p:cNvGrpSpPr/>
                <p:nvPr/>
              </p:nvGrpSpPr>
              <p:grpSpPr>
                <a:xfrm>
                  <a:off x="914400" y="1447800"/>
                  <a:ext cx="2895600" cy="2895600"/>
                  <a:chOff x="914400" y="1447800"/>
                  <a:chExt cx="2895600" cy="2895600"/>
                </a:xfrm>
              </p:grpSpPr>
              <p:grpSp>
                <p:nvGrpSpPr>
                  <p:cNvPr id="37" name="Group 68"/>
                  <p:cNvGrpSpPr/>
                  <p:nvPr/>
                </p:nvGrpSpPr>
                <p:grpSpPr>
                  <a:xfrm>
                    <a:off x="914400" y="1447800"/>
                    <a:ext cx="2895600" cy="1066800"/>
                    <a:chOff x="914400" y="1447800"/>
                    <a:chExt cx="2895600" cy="1066800"/>
                  </a:xfrm>
                </p:grpSpPr>
                <p:grpSp>
                  <p:nvGrpSpPr>
                    <p:cNvPr id="38" name="Group 60"/>
                    <p:cNvGrpSpPr/>
                    <p:nvPr/>
                  </p:nvGrpSpPr>
                  <p:grpSpPr>
                    <a:xfrm>
                      <a:off x="914400" y="2362200"/>
                      <a:ext cx="2895600" cy="152400"/>
                      <a:chOff x="914400" y="1447800"/>
                      <a:chExt cx="2895600" cy="152400"/>
                    </a:xfrm>
                  </p:grpSpPr>
                  <p:grpSp>
                    <p:nvGrpSpPr>
                      <p:cNvPr id="39" name="Group 56"/>
                      <p:cNvGrpSpPr/>
                      <p:nvPr/>
                    </p:nvGrpSpPr>
                    <p:grpSpPr>
                      <a:xfrm>
                        <a:off x="914400" y="1447800"/>
                        <a:ext cx="1066800" cy="152400"/>
                        <a:chOff x="914400" y="1447800"/>
                        <a:chExt cx="1066800" cy="152400"/>
                      </a:xfrm>
                    </p:grpSpPr>
                    <p:sp>
                      <p:nvSpPr>
                        <p:cNvPr id="179" name="Oval 5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0" name="Oval 5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0" name="Group 57"/>
                      <p:cNvGrpSpPr/>
                      <p:nvPr/>
                    </p:nvGrpSpPr>
                    <p:grpSpPr>
                      <a:xfrm>
                        <a:off x="2743200" y="1447800"/>
                        <a:ext cx="1066800" cy="152400"/>
                        <a:chOff x="914400" y="1447800"/>
                        <a:chExt cx="1066800" cy="152400"/>
                      </a:xfrm>
                    </p:grpSpPr>
                    <p:sp>
                      <p:nvSpPr>
                        <p:cNvPr id="177" name="Oval 58"/>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8" name="Oval 59"/>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41" name="Group 61"/>
                    <p:cNvGrpSpPr/>
                    <p:nvPr/>
                  </p:nvGrpSpPr>
                  <p:grpSpPr>
                    <a:xfrm>
                      <a:off x="914400" y="1447800"/>
                      <a:ext cx="2895600" cy="152400"/>
                      <a:chOff x="914400" y="1447800"/>
                      <a:chExt cx="2895600" cy="152400"/>
                    </a:xfrm>
                  </p:grpSpPr>
                  <p:grpSp>
                    <p:nvGrpSpPr>
                      <p:cNvPr id="42" name="Group 56"/>
                      <p:cNvGrpSpPr/>
                      <p:nvPr/>
                    </p:nvGrpSpPr>
                    <p:grpSpPr>
                      <a:xfrm>
                        <a:off x="914400" y="1447800"/>
                        <a:ext cx="1066800" cy="152400"/>
                        <a:chOff x="914400" y="1447800"/>
                        <a:chExt cx="1066800" cy="152400"/>
                      </a:xfrm>
                    </p:grpSpPr>
                    <p:sp>
                      <p:nvSpPr>
                        <p:cNvPr id="173" name="Oval 17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4" name="Oval 17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3" name="Group 57"/>
                      <p:cNvGrpSpPr/>
                      <p:nvPr/>
                    </p:nvGrpSpPr>
                    <p:grpSpPr>
                      <a:xfrm>
                        <a:off x="2743200" y="1447800"/>
                        <a:ext cx="1066800" cy="152400"/>
                        <a:chOff x="914400" y="1447800"/>
                        <a:chExt cx="1066800" cy="152400"/>
                      </a:xfrm>
                    </p:grpSpPr>
                    <p:sp>
                      <p:nvSpPr>
                        <p:cNvPr id="171" name="Oval 170"/>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2" name="Oval 171"/>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nvGrpSpPr>
                  <p:cNvPr id="44" name="Group 69"/>
                  <p:cNvGrpSpPr/>
                  <p:nvPr/>
                </p:nvGrpSpPr>
                <p:grpSpPr>
                  <a:xfrm>
                    <a:off x="914400" y="3276600"/>
                    <a:ext cx="2895600" cy="1066800"/>
                    <a:chOff x="914400" y="1447800"/>
                    <a:chExt cx="2895600" cy="1066800"/>
                  </a:xfrm>
                </p:grpSpPr>
                <p:grpSp>
                  <p:nvGrpSpPr>
                    <p:cNvPr id="45" name="Group 60"/>
                    <p:cNvGrpSpPr/>
                    <p:nvPr/>
                  </p:nvGrpSpPr>
                  <p:grpSpPr>
                    <a:xfrm>
                      <a:off x="914400" y="2362200"/>
                      <a:ext cx="2895600" cy="152400"/>
                      <a:chOff x="914400" y="1447800"/>
                      <a:chExt cx="2895600" cy="152400"/>
                    </a:xfrm>
                  </p:grpSpPr>
                  <p:grpSp>
                    <p:nvGrpSpPr>
                      <p:cNvPr id="46" name="Group 56"/>
                      <p:cNvGrpSpPr/>
                      <p:nvPr/>
                    </p:nvGrpSpPr>
                    <p:grpSpPr>
                      <a:xfrm>
                        <a:off x="914400" y="1447800"/>
                        <a:ext cx="1066800" cy="152400"/>
                        <a:chOff x="914400" y="1447800"/>
                        <a:chExt cx="1066800" cy="152400"/>
                      </a:xfrm>
                    </p:grpSpPr>
                    <p:sp>
                      <p:nvSpPr>
                        <p:cNvPr id="165" name="Oval 164"/>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6" name="Oval 165"/>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7" name="Group 57"/>
                      <p:cNvGrpSpPr/>
                      <p:nvPr/>
                    </p:nvGrpSpPr>
                    <p:grpSpPr>
                      <a:xfrm>
                        <a:off x="2743200" y="1447800"/>
                        <a:ext cx="1066800" cy="152400"/>
                        <a:chOff x="914400" y="1447800"/>
                        <a:chExt cx="1066800" cy="152400"/>
                      </a:xfrm>
                    </p:grpSpPr>
                    <p:sp>
                      <p:nvSpPr>
                        <p:cNvPr id="163" name="Oval 16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4" name="Oval 16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48" name="Group 61"/>
                    <p:cNvGrpSpPr/>
                    <p:nvPr/>
                  </p:nvGrpSpPr>
                  <p:grpSpPr>
                    <a:xfrm>
                      <a:off x="914400" y="1447800"/>
                      <a:ext cx="2895600" cy="152400"/>
                      <a:chOff x="914400" y="1447800"/>
                      <a:chExt cx="2895600" cy="152400"/>
                    </a:xfrm>
                  </p:grpSpPr>
                  <p:grpSp>
                    <p:nvGrpSpPr>
                      <p:cNvPr id="49" name="Group 56"/>
                      <p:cNvGrpSpPr/>
                      <p:nvPr/>
                    </p:nvGrpSpPr>
                    <p:grpSpPr>
                      <a:xfrm>
                        <a:off x="914400" y="1447800"/>
                        <a:ext cx="1066800" cy="152400"/>
                        <a:chOff x="914400" y="1447800"/>
                        <a:chExt cx="1066800" cy="152400"/>
                      </a:xfrm>
                    </p:grpSpPr>
                    <p:sp>
                      <p:nvSpPr>
                        <p:cNvPr id="159" name="Oval 158"/>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0" name="Oval 159"/>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0" name="Group 57"/>
                      <p:cNvGrpSpPr/>
                      <p:nvPr/>
                    </p:nvGrpSpPr>
                    <p:grpSpPr>
                      <a:xfrm>
                        <a:off x="2743200" y="1447800"/>
                        <a:ext cx="1066800" cy="152400"/>
                        <a:chOff x="914400" y="1447800"/>
                        <a:chExt cx="1066800" cy="152400"/>
                      </a:xfrm>
                    </p:grpSpPr>
                    <p:sp>
                      <p:nvSpPr>
                        <p:cNvPr id="157" name="Oval 156"/>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8" name="Oval 157"/>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grpSp>
              <p:nvGrpSpPr>
                <p:cNvPr id="51" name="Group 85"/>
                <p:cNvGrpSpPr/>
                <p:nvPr/>
              </p:nvGrpSpPr>
              <p:grpSpPr>
                <a:xfrm>
                  <a:off x="4572000" y="1447800"/>
                  <a:ext cx="2895600" cy="2895600"/>
                  <a:chOff x="914400" y="1447800"/>
                  <a:chExt cx="2895600" cy="2895600"/>
                </a:xfrm>
              </p:grpSpPr>
              <p:grpSp>
                <p:nvGrpSpPr>
                  <p:cNvPr id="52" name="Group 68"/>
                  <p:cNvGrpSpPr/>
                  <p:nvPr/>
                </p:nvGrpSpPr>
                <p:grpSpPr>
                  <a:xfrm>
                    <a:off x="914400" y="1447800"/>
                    <a:ext cx="2895600" cy="1066800"/>
                    <a:chOff x="914400" y="1447800"/>
                    <a:chExt cx="2895600" cy="1066800"/>
                  </a:xfrm>
                </p:grpSpPr>
                <p:grpSp>
                  <p:nvGrpSpPr>
                    <p:cNvPr id="55" name="Group 60"/>
                    <p:cNvGrpSpPr/>
                    <p:nvPr/>
                  </p:nvGrpSpPr>
                  <p:grpSpPr>
                    <a:xfrm>
                      <a:off x="914400" y="2362200"/>
                      <a:ext cx="2895600" cy="152400"/>
                      <a:chOff x="914400" y="1447800"/>
                      <a:chExt cx="2895600" cy="152400"/>
                    </a:xfrm>
                  </p:grpSpPr>
                  <p:grpSp>
                    <p:nvGrpSpPr>
                      <p:cNvPr id="56" name="Group 56"/>
                      <p:cNvGrpSpPr/>
                      <p:nvPr/>
                    </p:nvGrpSpPr>
                    <p:grpSpPr>
                      <a:xfrm>
                        <a:off x="914400" y="1447800"/>
                        <a:ext cx="1066800" cy="152400"/>
                        <a:chOff x="914400" y="1447800"/>
                        <a:chExt cx="1066800" cy="152400"/>
                      </a:xfrm>
                    </p:grpSpPr>
                    <p:sp>
                      <p:nvSpPr>
                        <p:cNvPr id="149" name="Oval 148"/>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0" name="Oval 149"/>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7" name="Group 57"/>
                      <p:cNvGrpSpPr/>
                      <p:nvPr/>
                    </p:nvGrpSpPr>
                    <p:grpSpPr>
                      <a:xfrm>
                        <a:off x="2743200" y="1447800"/>
                        <a:ext cx="1066800" cy="152400"/>
                        <a:chOff x="914400" y="1447800"/>
                        <a:chExt cx="1066800" cy="152400"/>
                      </a:xfrm>
                    </p:grpSpPr>
                    <p:sp>
                      <p:nvSpPr>
                        <p:cNvPr id="147" name="Oval 146"/>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8" name="Oval 147"/>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58" name="Group 61"/>
                    <p:cNvGrpSpPr/>
                    <p:nvPr/>
                  </p:nvGrpSpPr>
                  <p:grpSpPr>
                    <a:xfrm>
                      <a:off x="914400" y="1447800"/>
                      <a:ext cx="2895600" cy="152400"/>
                      <a:chOff x="914400" y="1447800"/>
                      <a:chExt cx="2895600" cy="152400"/>
                    </a:xfrm>
                  </p:grpSpPr>
                  <p:grpSp>
                    <p:nvGrpSpPr>
                      <p:cNvPr id="61" name="Group 56"/>
                      <p:cNvGrpSpPr/>
                      <p:nvPr/>
                    </p:nvGrpSpPr>
                    <p:grpSpPr>
                      <a:xfrm>
                        <a:off x="914400" y="1447800"/>
                        <a:ext cx="1066800" cy="152400"/>
                        <a:chOff x="914400" y="1447800"/>
                        <a:chExt cx="1066800" cy="152400"/>
                      </a:xfrm>
                    </p:grpSpPr>
                    <p:sp>
                      <p:nvSpPr>
                        <p:cNvPr id="143" name="Oval 14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4" name="Oval 14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2" name="Group 57"/>
                      <p:cNvGrpSpPr/>
                      <p:nvPr/>
                    </p:nvGrpSpPr>
                    <p:grpSpPr>
                      <a:xfrm>
                        <a:off x="2743200" y="1447800"/>
                        <a:ext cx="1066800" cy="152400"/>
                        <a:chOff x="914400" y="1447800"/>
                        <a:chExt cx="1066800" cy="152400"/>
                      </a:xfrm>
                    </p:grpSpPr>
                    <p:sp>
                      <p:nvSpPr>
                        <p:cNvPr id="141" name="Oval 140"/>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2" name="Oval 141"/>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nvGrpSpPr>
                  <p:cNvPr id="63" name="Group 69"/>
                  <p:cNvGrpSpPr/>
                  <p:nvPr/>
                </p:nvGrpSpPr>
                <p:grpSpPr>
                  <a:xfrm>
                    <a:off x="914400" y="3276600"/>
                    <a:ext cx="2895600" cy="1066800"/>
                    <a:chOff x="914400" y="1447800"/>
                    <a:chExt cx="2895600" cy="1066800"/>
                  </a:xfrm>
                </p:grpSpPr>
                <p:grpSp>
                  <p:nvGrpSpPr>
                    <p:cNvPr id="64" name="Group 60"/>
                    <p:cNvGrpSpPr/>
                    <p:nvPr/>
                  </p:nvGrpSpPr>
                  <p:grpSpPr>
                    <a:xfrm>
                      <a:off x="914400" y="2362200"/>
                      <a:ext cx="2895600" cy="152400"/>
                      <a:chOff x="914400" y="1447800"/>
                      <a:chExt cx="2895600" cy="152400"/>
                    </a:xfrm>
                  </p:grpSpPr>
                  <p:grpSp>
                    <p:nvGrpSpPr>
                      <p:cNvPr id="69" name="Group 56"/>
                      <p:cNvGrpSpPr/>
                      <p:nvPr/>
                    </p:nvGrpSpPr>
                    <p:grpSpPr>
                      <a:xfrm>
                        <a:off x="914400" y="1447800"/>
                        <a:ext cx="1066800" cy="152400"/>
                        <a:chOff x="914400" y="1447800"/>
                        <a:chExt cx="1066800" cy="152400"/>
                      </a:xfrm>
                    </p:grpSpPr>
                    <p:sp>
                      <p:nvSpPr>
                        <p:cNvPr id="135" name="Oval 134"/>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6" name="Oval 135"/>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0" name="Group 57"/>
                      <p:cNvGrpSpPr/>
                      <p:nvPr/>
                    </p:nvGrpSpPr>
                    <p:grpSpPr>
                      <a:xfrm>
                        <a:off x="2743200" y="1447800"/>
                        <a:ext cx="1066800" cy="152400"/>
                        <a:chOff x="914400" y="1447800"/>
                        <a:chExt cx="1066800" cy="152400"/>
                      </a:xfrm>
                    </p:grpSpPr>
                    <p:sp>
                      <p:nvSpPr>
                        <p:cNvPr id="133" name="Oval 13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 name="Oval 13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71" name="Group 61"/>
                    <p:cNvGrpSpPr/>
                    <p:nvPr/>
                  </p:nvGrpSpPr>
                  <p:grpSpPr>
                    <a:xfrm>
                      <a:off x="914400" y="1447800"/>
                      <a:ext cx="2895600" cy="152400"/>
                      <a:chOff x="914400" y="1447800"/>
                      <a:chExt cx="2895600" cy="152400"/>
                    </a:xfrm>
                  </p:grpSpPr>
                  <p:grpSp>
                    <p:nvGrpSpPr>
                      <p:cNvPr id="72" name="Group 56"/>
                      <p:cNvGrpSpPr/>
                      <p:nvPr/>
                    </p:nvGrpSpPr>
                    <p:grpSpPr>
                      <a:xfrm>
                        <a:off x="914400" y="1447800"/>
                        <a:ext cx="1066800" cy="152400"/>
                        <a:chOff x="914400" y="1447800"/>
                        <a:chExt cx="1066800" cy="152400"/>
                      </a:xfrm>
                    </p:grpSpPr>
                    <p:sp>
                      <p:nvSpPr>
                        <p:cNvPr id="129" name="Oval 128"/>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 name="Oval 129"/>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3" name="Group 57"/>
                      <p:cNvGrpSpPr/>
                      <p:nvPr/>
                    </p:nvGrpSpPr>
                    <p:grpSpPr>
                      <a:xfrm>
                        <a:off x="2743200" y="1447800"/>
                        <a:ext cx="1066800" cy="152400"/>
                        <a:chOff x="914400" y="1447800"/>
                        <a:chExt cx="1066800" cy="152400"/>
                      </a:xfrm>
                    </p:grpSpPr>
                    <p:sp>
                      <p:nvSpPr>
                        <p:cNvPr id="127" name="Oval 126"/>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8" name="Oval 127"/>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grpSp>
        </p:grpSp>
        <p:grpSp>
          <p:nvGrpSpPr>
            <p:cNvPr id="74" name="Group 181"/>
            <p:cNvGrpSpPr/>
            <p:nvPr/>
          </p:nvGrpSpPr>
          <p:grpSpPr>
            <a:xfrm>
              <a:off x="5486400" y="1447800"/>
              <a:ext cx="13868400" cy="2895600"/>
              <a:chOff x="914400" y="1447800"/>
              <a:chExt cx="13868400" cy="2895600"/>
            </a:xfrm>
          </p:grpSpPr>
          <p:grpSp>
            <p:nvGrpSpPr>
              <p:cNvPr id="79" name="Group 116"/>
              <p:cNvGrpSpPr/>
              <p:nvPr/>
            </p:nvGrpSpPr>
            <p:grpSpPr>
              <a:xfrm>
                <a:off x="914400" y="1447800"/>
                <a:ext cx="6553200" cy="2895600"/>
                <a:chOff x="914400" y="1447800"/>
                <a:chExt cx="6553200" cy="2895600"/>
              </a:xfrm>
            </p:grpSpPr>
            <p:grpSp>
              <p:nvGrpSpPr>
                <p:cNvPr id="80" name="Group 84"/>
                <p:cNvGrpSpPr/>
                <p:nvPr/>
              </p:nvGrpSpPr>
              <p:grpSpPr>
                <a:xfrm>
                  <a:off x="914400" y="1447800"/>
                  <a:ext cx="2895600" cy="2895600"/>
                  <a:chOff x="914400" y="1447800"/>
                  <a:chExt cx="2895600" cy="2895600"/>
                </a:xfrm>
              </p:grpSpPr>
              <p:grpSp>
                <p:nvGrpSpPr>
                  <p:cNvPr id="85" name="Group 68"/>
                  <p:cNvGrpSpPr/>
                  <p:nvPr/>
                </p:nvGrpSpPr>
                <p:grpSpPr>
                  <a:xfrm>
                    <a:off x="914400" y="1447800"/>
                    <a:ext cx="2895600" cy="1066800"/>
                    <a:chOff x="914400" y="1447800"/>
                    <a:chExt cx="2895600" cy="1066800"/>
                  </a:xfrm>
                </p:grpSpPr>
                <p:grpSp>
                  <p:nvGrpSpPr>
                    <p:cNvPr id="86" name="Group 60"/>
                    <p:cNvGrpSpPr/>
                    <p:nvPr/>
                  </p:nvGrpSpPr>
                  <p:grpSpPr>
                    <a:xfrm>
                      <a:off x="914400" y="2362200"/>
                      <a:ext cx="2895600" cy="152400"/>
                      <a:chOff x="914400" y="1447800"/>
                      <a:chExt cx="2895600" cy="152400"/>
                    </a:xfrm>
                  </p:grpSpPr>
                  <p:grpSp>
                    <p:nvGrpSpPr>
                      <p:cNvPr id="87" name="Group 56"/>
                      <p:cNvGrpSpPr/>
                      <p:nvPr/>
                    </p:nvGrpSpPr>
                    <p:grpSpPr>
                      <a:xfrm>
                        <a:off x="914400" y="1447800"/>
                        <a:ext cx="1066800" cy="152400"/>
                        <a:chOff x="914400" y="1447800"/>
                        <a:chExt cx="1066800" cy="152400"/>
                      </a:xfrm>
                    </p:grpSpPr>
                    <p:sp>
                      <p:nvSpPr>
                        <p:cNvPr id="307" name="Oval 5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 name="Oval 5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8" name="Group 57"/>
                      <p:cNvGrpSpPr/>
                      <p:nvPr/>
                    </p:nvGrpSpPr>
                    <p:grpSpPr>
                      <a:xfrm>
                        <a:off x="2743200" y="1447800"/>
                        <a:ext cx="1066800" cy="152400"/>
                        <a:chOff x="914400" y="1447800"/>
                        <a:chExt cx="1066800" cy="152400"/>
                      </a:xfrm>
                    </p:grpSpPr>
                    <p:sp>
                      <p:nvSpPr>
                        <p:cNvPr id="305" name="Oval 304"/>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6" name="Oval 305"/>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89" name="Group 61"/>
                    <p:cNvGrpSpPr/>
                    <p:nvPr/>
                  </p:nvGrpSpPr>
                  <p:grpSpPr>
                    <a:xfrm>
                      <a:off x="914400" y="1447800"/>
                      <a:ext cx="2895600" cy="152400"/>
                      <a:chOff x="914400" y="1447800"/>
                      <a:chExt cx="2895600" cy="152400"/>
                    </a:xfrm>
                  </p:grpSpPr>
                  <p:grpSp>
                    <p:nvGrpSpPr>
                      <p:cNvPr id="90" name="Group 56"/>
                      <p:cNvGrpSpPr/>
                      <p:nvPr/>
                    </p:nvGrpSpPr>
                    <p:grpSpPr>
                      <a:xfrm>
                        <a:off x="914400" y="1447800"/>
                        <a:ext cx="1066800" cy="152400"/>
                        <a:chOff x="914400" y="1447800"/>
                        <a:chExt cx="1066800" cy="152400"/>
                      </a:xfrm>
                    </p:grpSpPr>
                    <p:sp>
                      <p:nvSpPr>
                        <p:cNvPr id="301" name="Oval 66"/>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2" name="Oval 67"/>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1" name="Group 57"/>
                      <p:cNvGrpSpPr/>
                      <p:nvPr/>
                    </p:nvGrpSpPr>
                    <p:grpSpPr>
                      <a:xfrm>
                        <a:off x="2743200" y="1447800"/>
                        <a:ext cx="1066800" cy="152400"/>
                        <a:chOff x="914400" y="1447800"/>
                        <a:chExt cx="1066800" cy="152400"/>
                      </a:xfrm>
                    </p:grpSpPr>
                    <p:sp>
                      <p:nvSpPr>
                        <p:cNvPr id="299" name="Oval 298"/>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0" name="Oval 299"/>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nvGrpSpPr>
                  <p:cNvPr id="92" name="Group 69"/>
                  <p:cNvGrpSpPr/>
                  <p:nvPr/>
                </p:nvGrpSpPr>
                <p:grpSpPr>
                  <a:xfrm>
                    <a:off x="914400" y="3276600"/>
                    <a:ext cx="2895600" cy="1066800"/>
                    <a:chOff x="914400" y="1447800"/>
                    <a:chExt cx="2895600" cy="1066800"/>
                  </a:xfrm>
                </p:grpSpPr>
                <p:grpSp>
                  <p:nvGrpSpPr>
                    <p:cNvPr id="97" name="Group 60"/>
                    <p:cNvGrpSpPr/>
                    <p:nvPr/>
                  </p:nvGrpSpPr>
                  <p:grpSpPr>
                    <a:xfrm>
                      <a:off x="914400" y="2362200"/>
                      <a:ext cx="2895600" cy="152400"/>
                      <a:chOff x="914400" y="1447800"/>
                      <a:chExt cx="2895600" cy="152400"/>
                    </a:xfrm>
                  </p:grpSpPr>
                  <p:grpSp>
                    <p:nvGrpSpPr>
                      <p:cNvPr id="98" name="Group 56"/>
                      <p:cNvGrpSpPr/>
                      <p:nvPr/>
                    </p:nvGrpSpPr>
                    <p:grpSpPr>
                      <a:xfrm>
                        <a:off x="914400" y="1447800"/>
                        <a:ext cx="1066800" cy="152400"/>
                        <a:chOff x="914400" y="1447800"/>
                        <a:chExt cx="1066800" cy="152400"/>
                      </a:xfrm>
                    </p:grpSpPr>
                    <p:sp>
                      <p:nvSpPr>
                        <p:cNvPr id="293" name="Oval 29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4" name="Oval 29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3" name="Group 57"/>
                      <p:cNvGrpSpPr/>
                      <p:nvPr/>
                    </p:nvGrpSpPr>
                    <p:grpSpPr>
                      <a:xfrm>
                        <a:off x="2743200" y="1447800"/>
                        <a:ext cx="1066800" cy="152400"/>
                        <a:chOff x="914400" y="1447800"/>
                        <a:chExt cx="1066800" cy="152400"/>
                      </a:xfrm>
                    </p:grpSpPr>
                    <p:sp>
                      <p:nvSpPr>
                        <p:cNvPr id="291" name="Oval 290"/>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2" name="Oval 291"/>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04" name="Group 61"/>
                    <p:cNvGrpSpPr/>
                    <p:nvPr/>
                  </p:nvGrpSpPr>
                  <p:grpSpPr>
                    <a:xfrm>
                      <a:off x="914400" y="1447800"/>
                      <a:ext cx="2895600" cy="152400"/>
                      <a:chOff x="914400" y="1447800"/>
                      <a:chExt cx="2895600" cy="152400"/>
                    </a:xfrm>
                  </p:grpSpPr>
                  <p:grpSp>
                    <p:nvGrpSpPr>
                      <p:cNvPr id="105" name="Group 56"/>
                      <p:cNvGrpSpPr/>
                      <p:nvPr/>
                    </p:nvGrpSpPr>
                    <p:grpSpPr>
                      <a:xfrm>
                        <a:off x="914400" y="1447800"/>
                        <a:ext cx="1066800" cy="152400"/>
                        <a:chOff x="914400" y="1447800"/>
                        <a:chExt cx="1066800" cy="152400"/>
                      </a:xfrm>
                    </p:grpSpPr>
                    <p:sp>
                      <p:nvSpPr>
                        <p:cNvPr id="287" name="Oval 286"/>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8" name="Oval 287"/>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6" name="Group 57"/>
                      <p:cNvGrpSpPr/>
                      <p:nvPr/>
                    </p:nvGrpSpPr>
                    <p:grpSpPr>
                      <a:xfrm>
                        <a:off x="2743200" y="1447800"/>
                        <a:ext cx="1066800" cy="152400"/>
                        <a:chOff x="914400" y="1447800"/>
                        <a:chExt cx="1066800" cy="152400"/>
                      </a:xfrm>
                    </p:grpSpPr>
                    <p:sp>
                      <p:nvSpPr>
                        <p:cNvPr id="285" name="Oval 284"/>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6" name="Oval 285"/>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grpSp>
              <p:nvGrpSpPr>
                <p:cNvPr id="111" name="Group 85"/>
                <p:cNvGrpSpPr/>
                <p:nvPr/>
              </p:nvGrpSpPr>
              <p:grpSpPr>
                <a:xfrm>
                  <a:off x="4572000" y="1447800"/>
                  <a:ext cx="2895600" cy="2895600"/>
                  <a:chOff x="914400" y="1447800"/>
                  <a:chExt cx="2895600" cy="2895600"/>
                </a:xfrm>
              </p:grpSpPr>
              <p:grpSp>
                <p:nvGrpSpPr>
                  <p:cNvPr id="112" name="Group 248"/>
                  <p:cNvGrpSpPr/>
                  <p:nvPr/>
                </p:nvGrpSpPr>
                <p:grpSpPr>
                  <a:xfrm>
                    <a:off x="914400" y="1447800"/>
                    <a:ext cx="2895600" cy="1066800"/>
                    <a:chOff x="914400" y="1447800"/>
                    <a:chExt cx="2895600" cy="1066800"/>
                  </a:xfrm>
                </p:grpSpPr>
                <p:grpSp>
                  <p:nvGrpSpPr>
                    <p:cNvPr id="117" name="Group 60"/>
                    <p:cNvGrpSpPr/>
                    <p:nvPr/>
                  </p:nvGrpSpPr>
                  <p:grpSpPr>
                    <a:xfrm>
                      <a:off x="914400" y="2362200"/>
                      <a:ext cx="2895600" cy="152400"/>
                      <a:chOff x="914400" y="1447800"/>
                      <a:chExt cx="2895600" cy="152400"/>
                    </a:xfrm>
                  </p:grpSpPr>
                  <p:grpSp>
                    <p:nvGrpSpPr>
                      <p:cNvPr id="118" name="Group 56"/>
                      <p:cNvGrpSpPr/>
                      <p:nvPr/>
                    </p:nvGrpSpPr>
                    <p:grpSpPr>
                      <a:xfrm>
                        <a:off x="914400" y="1447800"/>
                        <a:ext cx="1066800" cy="152400"/>
                        <a:chOff x="914400" y="1447800"/>
                        <a:chExt cx="1066800" cy="152400"/>
                      </a:xfrm>
                    </p:grpSpPr>
                    <p:sp>
                      <p:nvSpPr>
                        <p:cNvPr id="277" name="Oval 276"/>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8" name="Oval 277"/>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9" name="Group 57"/>
                      <p:cNvGrpSpPr/>
                      <p:nvPr/>
                    </p:nvGrpSpPr>
                    <p:grpSpPr>
                      <a:xfrm>
                        <a:off x="2743200" y="1447800"/>
                        <a:ext cx="1066800" cy="152400"/>
                        <a:chOff x="914400" y="1447800"/>
                        <a:chExt cx="1066800" cy="152400"/>
                      </a:xfrm>
                    </p:grpSpPr>
                    <p:sp>
                      <p:nvSpPr>
                        <p:cNvPr id="275" name="Oval 274"/>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6" name="Oval 275"/>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20" name="Group 61"/>
                    <p:cNvGrpSpPr/>
                    <p:nvPr/>
                  </p:nvGrpSpPr>
                  <p:grpSpPr>
                    <a:xfrm>
                      <a:off x="914400" y="1447800"/>
                      <a:ext cx="2895600" cy="152400"/>
                      <a:chOff x="914400" y="1447800"/>
                      <a:chExt cx="2895600" cy="152400"/>
                    </a:xfrm>
                  </p:grpSpPr>
                  <p:grpSp>
                    <p:nvGrpSpPr>
                      <p:cNvPr id="121" name="Group 56"/>
                      <p:cNvGrpSpPr/>
                      <p:nvPr/>
                    </p:nvGrpSpPr>
                    <p:grpSpPr>
                      <a:xfrm>
                        <a:off x="914400" y="1447800"/>
                        <a:ext cx="1066800" cy="152400"/>
                        <a:chOff x="914400" y="1447800"/>
                        <a:chExt cx="1066800" cy="152400"/>
                      </a:xfrm>
                    </p:grpSpPr>
                    <p:sp>
                      <p:nvSpPr>
                        <p:cNvPr id="271" name="Oval 270"/>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2" name="Oval 271"/>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22" name="Group 57"/>
                      <p:cNvGrpSpPr/>
                      <p:nvPr/>
                    </p:nvGrpSpPr>
                    <p:grpSpPr>
                      <a:xfrm>
                        <a:off x="2743200" y="1447800"/>
                        <a:ext cx="1066800" cy="152400"/>
                        <a:chOff x="914400" y="1447800"/>
                        <a:chExt cx="1066800" cy="152400"/>
                      </a:xfrm>
                    </p:grpSpPr>
                    <p:sp>
                      <p:nvSpPr>
                        <p:cNvPr id="269" name="Oval 268"/>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0" name="Oval 269"/>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nvGrpSpPr>
                  <p:cNvPr id="123" name="Group 249"/>
                  <p:cNvGrpSpPr/>
                  <p:nvPr/>
                </p:nvGrpSpPr>
                <p:grpSpPr>
                  <a:xfrm>
                    <a:off x="914400" y="3276600"/>
                    <a:ext cx="2895600" cy="1066800"/>
                    <a:chOff x="914400" y="1447800"/>
                    <a:chExt cx="2895600" cy="1066800"/>
                  </a:xfrm>
                </p:grpSpPr>
                <p:grpSp>
                  <p:nvGrpSpPr>
                    <p:cNvPr id="124" name="Group 60"/>
                    <p:cNvGrpSpPr/>
                    <p:nvPr/>
                  </p:nvGrpSpPr>
                  <p:grpSpPr>
                    <a:xfrm>
                      <a:off x="914400" y="2362200"/>
                      <a:ext cx="2895600" cy="152400"/>
                      <a:chOff x="914400" y="1447800"/>
                      <a:chExt cx="2895600" cy="152400"/>
                    </a:xfrm>
                  </p:grpSpPr>
                  <p:grpSp>
                    <p:nvGrpSpPr>
                      <p:cNvPr id="125" name="Group 56"/>
                      <p:cNvGrpSpPr/>
                      <p:nvPr/>
                    </p:nvGrpSpPr>
                    <p:grpSpPr>
                      <a:xfrm>
                        <a:off x="914400" y="1447800"/>
                        <a:ext cx="1066800" cy="152400"/>
                        <a:chOff x="914400" y="1447800"/>
                        <a:chExt cx="1066800" cy="152400"/>
                      </a:xfrm>
                    </p:grpSpPr>
                    <p:sp>
                      <p:nvSpPr>
                        <p:cNvPr id="263" name="Oval 26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4" name="Oval 26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26" name="Group 57"/>
                      <p:cNvGrpSpPr/>
                      <p:nvPr/>
                    </p:nvGrpSpPr>
                    <p:grpSpPr>
                      <a:xfrm>
                        <a:off x="2743200" y="1447800"/>
                        <a:ext cx="1066800" cy="152400"/>
                        <a:chOff x="914400" y="1447800"/>
                        <a:chExt cx="1066800" cy="152400"/>
                      </a:xfrm>
                    </p:grpSpPr>
                    <p:sp>
                      <p:nvSpPr>
                        <p:cNvPr id="261" name="Oval 260"/>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2" name="Oval 261"/>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31" name="Group 61"/>
                    <p:cNvGrpSpPr/>
                    <p:nvPr/>
                  </p:nvGrpSpPr>
                  <p:grpSpPr>
                    <a:xfrm>
                      <a:off x="914400" y="1447800"/>
                      <a:ext cx="2895600" cy="152400"/>
                      <a:chOff x="914400" y="1447800"/>
                      <a:chExt cx="2895600" cy="152400"/>
                    </a:xfrm>
                  </p:grpSpPr>
                  <p:grpSp>
                    <p:nvGrpSpPr>
                      <p:cNvPr id="132" name="Group 56"/>
                      <p:cNvGrpSpPr/>
                      <p:nvPr/>
                    </p:nvGrpSpPr>
                    <p:grpSpPr>
                      <a:xfrm>
                        <a:off x="914400" y="1447800"/>
                        <a:ext cx="1066800" cy="152400"/>
                        <a:chOff x="914400" y="1447800"/>
                        <a:chExt cx="1066800" cy="152400"/>
                      </a:xfrm>
                    </p:grpSpPr>
                    <p:sp>
                      <p:nvSpPr>
                        <p:cNvPr id="257" name="Oval 256"/>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8" name="Oval 257"/>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7" name="Group 57"/>
                      <p:cNvGrpSpPr/>
                      <p:nvPr/>
                    </p:nvGrpSpPr>
                    <p:grpSpPr>
                      <a:xfrm>
                        <a:off x="2743200" y="1447800"/>
                        <a:ext cx="1066800" cy="152400"/>
                        <a:chOff x="914400" y="1447800"/>
                        <a:chExt cx="1066800" cy="152400"/>
                      </a:xfrm>
                    </p:grpSpPr>
                    <p:sp>
                      <p:nvSpPr>
                        <p:cNvPr id="255" name="Oval 254"/>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6" name="Oval 255"/>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grpSp>
          <p:grpSp>
            <p:nvGrpSpPr>
              <p:cNvPr id="138" name="Group 117"/>
              <p:cNvGrpSpPr/>
              <p:nvPr/>
            </p:nvGrpSpPr>
            <p:grpSpPr>
              <a:xfrm>
                <a:off x="8229600" y="1447800"/>
                <a:ext cx="6553200" cy="2895600"/>
                <a:chOff x="914400" y="1447800"/>
                <a:chExt cx="6553200" cy="2895600"/>
              </a:xfrm>
            </p:grpSpPr>
            <p:grpSp>
              <p:nvGrpSpPr>
                <p:cNvPr id="139" name="Group 84"/>
                <p:cNvGrpSpPr/>
                <p:nvPr/>
              </p:nvGrpSpPr>
              <p:grpSpPr>
                <a:xfrm>
                  <a:off x="914400" y="1447800"/>
                  <a:ext cx="2895600" cy="2895600"/>
                  <a:chOff x="914400" y="1447800"/>
                  <a:chExt cx="2895600" cy="2895600"/>
                </a:xfrm>
              </p:grpSpPr>
              <p:grpSp>
                <p:nvGrpSpPr>
                  <p:cNvPr id="140" name="Group 68"/>
                  <p:cNvGrpSpPr/>
                  <p:nvPr/>
                </p:nvGrpSpPr>
                <p:grpSpPr>
                  <a:xfrm>
                    <a:off x="914400" y="1447800"/>
                    <a:ext cx="2895600" cy="1066800"/>
                    <a:chOff x="914400" y="1447800"/>
                    <a:chExt cx="2895600" cy="1066800"/>
                  </a:xfrm>
                </p:grpSpPr>
                <p:grpSp>
                  <p:nvGrpSpPr>
                    <p:cNvPr id="145" name="Group 60"/>
                    <p:cNvGrpSpPr/>
                    <p:nvPr/>
                  </p:nvGrpSpPr>
                  <p:grpSpPr>
                    <a:xfrm>
                      <a:off x="914400" y="2362200"/>
                      <a:ext cx="2895600" cy="152400"/>
                      <a:chOff x="914400" y="1447800"/>
                      <a:chExt cx="2895600" cy="152400"/>
                    </a:xfrm>
                  </p:grpSpPr>
                  <p:grpSp>
                    <p:nvGrpSpPr>
                      <p:cNvPr id="146" name="Group 56"/>
                      <p:cNvGrpSpPr/>
                      <p:nvPr/>
                    </p:nvGrpSpPr>
                    <p:grpSpPr>
                      <a:xfrm>
                        <a:off x="914400" y="1447800"/>
                        <a:ext cx="1066800" cy="152400"/>
                        <a:chOff x="914400" y="1447800"/>
                        <a:chExt cx="1066800" cy="152400"/>
                      </a:xfrm>
                    </p:grpSpPr>
                    <p:sp>
                      <p:nvSpPr>
                        <p:cNvPr id="245" name="Oval 5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6" name="Oval 5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51" name="Group 57"/>
                      <p:cNvGrpSpPr/>
                      <p:nvPr/>
                    </p:nvGrpSpPr>
                    <p:grpSpPr>
                      <a:xfrm>
                        <a:off x="2743200" y="1447800"/>
                        <a:ext cx="1066800" cy="152400"/>
                        <a:chOff x="914400" y="1447800"/>
                        <a:chExt cx="1066800" cy="152400"/>
                      </a:xfrm>
                    </p:grpSpPr>
                    <p:sp>
                      <p:nvSpPr>
                        <p:cNvPr id="243" name="Oval 58"/>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4" name="Oval 59"/>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52" name="Group 61"/>
                    <p:cNvGrpSpPr/>
                    <p:nvPr/>
                  </p:nvGrpSpPr>
                  <p:grpSpPr>
                    <a:xfrm>
                      <a:off x="914400" y="1447800"/>
                      <a:ext cx="2895600" cy="152400"/>
                      <a:chOff x="914400" y="1447800"/>
                      <a:chExt cx="2895600" cy="152400"/>
                    </a:xfrm>
                  </p:grpSpPr>
                  <p:grpSp>
                    <p:nvGrpSpPr>
                      <p:cNvPr id="153" name="Group 56"/>
                      <p:cNvGrpSpPr/>
                      <p:nvPr/>
                    </p:nvGrpSpPr>
                    <p:grpSpPr>
                      <a:xfrm>
                        <a:off x="914400" y="1447800"/>
                        <a:ext cx="1066800" cy="152400"/>
                        <a:chOff x="914400" y="1447800"/>
                        <a:chExt cx="1066800" cy="152400"/>
                      </a:xfrm>
                    </p:grpSpPr>
                    <p:sp>
                      <p:nvSpPr>
                        <p:cNvPr id="239" name="Oval 238"/>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0" name="Oval 239"/>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54" name="Group 57"/>
                      <p:cNvGrpSpPr/>
                      <p:nvPr/>
                    </p:nvGrpSpPr>
                    <p:grpSpPr>
                      <a:xfrm>
                        <a:off x="2743200" y="1447800"/>
                        <a:ext cx="1066800" cy="152400"/>
                        <a:chOff x="914400" y="1447800"/>
                        <a:chExt cx="1066800" cy="152400"/>
                      </a:xfrm>
                    </p:grpSpPr>
                    <p:sp>
                      <p:nvSpPr>
                        <p:cNvPr id="237" name="Oval 236"/>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8" name="Oval 237"/>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nvGrpSpPr>
                  <p:cNvPr id="155" name="Group 69"/>
                  <p:cNvGrpSpPr/>
                  <p:nvPr/>
                </p:nvGrpSpPr>
                <p:grpSpPr>
                  <a:xfrm>
                    <a:off x="914400" y="3276600"/>
                    <a:ext cx="2895600" cy="1066800"/>
                    <a:chOff x="914400" y="1447800"/>
                    <a:chExt cx="2895600" cy="1066800"/>
                  </a:xfrm>
                </p:grpSpPr>
                <p:grpSp>
                  <p:nvGrpSpPr>
                    <p:cNvPr id="156" name="Group 60"/>
                    <p:cNvGrpSpPr/>
                    <p:nvPr/>
                  </p:nvGrpSpPr>
                  <p:grpSpPr>
                    <a:xfrm>
                      <a:off x="914400" y="2362200"/>
                      <a:ext cx="2895600" cy="152400"/>
                      <a:chOff x="914400" y="1447800"/>
                      <a:chExt cx="2895600" cy="152400"/>
                    </a:xfrm>
                  </p:grpSpPr>
                  <p:grpSp>
                    <p:nvGrpSpPr>
                      <p:cNvPr id="161" name="Group 56"/>
                      <p:cNvGrpSpPr/>
                      <p:nvPr/>
                    </p:nvGrpSpPr>
                    <p:grpSpPr>
                      <a:xfrm>
                        <a:off x="914400" y="1447800"/>
                        <a:ext cx="1066800" cy="152400"/>
                        <a:chOff x="914400" y="1447800"/>
                        <a:chExt cx="1066800" cy="152400"/>
                      </a:xfrm>
                    </p:grpSpPr>
                    <p:sp>
                      <p:nvSpPr>
                        <p:cNvPr id="231" name="Oval 230"/>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2" name="Oval 231"/>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2" name="Group 57"/>
                      <p:cNvGrpSpPr/>
                      <p:nvPr/>
                    </p:nvGrpSpPr>
                    <p:grpSpPr>
                      <a:xfrm>
                        <a:off x="2743200" y="1447800"/>
                        <a:ext cx="1066800" cy="152400"/>
                        <a:chOff x="914400" y="1447800"/>
                        <a:chExt cx="1066800" cy="152400"/>
                      </a:xfrm>
                    </p:grpSpPr>
                    <p:sp>
                      <p:nvSpPr>
                        <p:cNvPr id="229" name="Oval 228"/>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0" name="Oval 229"/>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67" name="Group 61"/>
                    <p:cNvGrpSpPr/>
                    <p:nvPr/>
                  </p:nvGrpSpPr>
                  <p:grpSpPr>
                    <a:xfrm>
                      <a:off x="914400" y="1447800"/>
                      <a:ext cx="2895600" cy="152400"/>
                      <a:chOff x="914400" y="1447800"/>
                      <a:chExt cx="2895600" cy="152400"/>
                    </a:xfrm>
                  </p:grpSpPr>
                  <p:grpSp>
                    <p:nvGrpSpPr>
                      <p:cNvPr id="168" name="Group 56"/>
                      <p:cNvGrpSpPr/>
                      <p:nvPr/>
                    </p:nvGrpSpPr>
                    <p:grpSpPr>
                      <a:xfrm>
                        <a:off x="914400" y="1447800"/>
                        <a:ext cx="1066800" cy="152400"/>
                        <a:chOff x="914400" y="1447800"/>
                        <a:chExt cx="1066800" cy="152400"/>
                      </a:xfrm>
                    </p:grpSpPr>
                    <p:sp>
                      <p:nvSpPr>
                        <p:cNvPr id="225" name="Oval 224"/>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6" name="Oval 225"/>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9" name="Group 57"/>
                      <p:cNvGrpSpPr/>
                      <p:nvPr/>
                    </p:nvGrpSpPr>
                    <p:grpSpPr>
                      <a:xfrm>
                        <a:off x="2743200" y="1447800"/>
                        <a:ext cx="1066800" cy="152400"/>
                        <a:chOff x="914400" y="1447800"/>
                        <a:chExt cx="1066800" cy="152400"/>
                      </a:xfrm>
                    </p:grpSpPr>
                    <p:sp>
                      <p:nvSpPr>
                        <p:cNvPr id="223" name="Oval 22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4" name="Oval 22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grpSp>
              <p:nvGrpSpPr>
                <p:cNvPr id="170" name="Group 85"/>
                <p:cNvGrpSpPr/>
                <p:nvPr/>
              </p:nvGrpSpPr>
              <p:grpSpPr>
                <a:xfrm>
                  <a:off x="4572000" y="1447800"/>
                  <a:ext cx="2895600" cy="2895600"/>
                  <a:chOff x="914400" y="1447800"/>
                  <a:chExt cx="2895600" cy="2895600"/>
                </a:xfrm>
              </p:grpSpPr>
              <p:grpSp>
                <p:nvGrpSpPr>
                  <p:cNvPr id="175" name="Group 68"/>
                  <p:cNvGrpSpPr/>
                  <p:nvPr/>
                </p:nvGrpSpPr>
                <p:grpSpPr>
                  <a:xfrm>
                    <a:off x="914400" y="1447800"/>
                    <a:ext cx="2895600" cy="1066800"/>
                    <a:chOff x="914400" y="1447800"/>
                    <a:chExt cx="2895600" cy="1066800"/>
                  </a:xfrm>
                </p:grpSpPr>
                <p:grpSp>
                  <p:nvGrpSpPr>
                    <p:cNvPr id="176" name="Group 60"/>
                    <p:cNvGrpSpPr/>
                    <p:nvPr/>
                  </p:nvGrpSpPr>
                  <p:grpSpPr>
                    <a:xfrm>
                      <a:off x="914400" y="2362200"/>
                      <a:ext cx="2895600" cy="152400"/>
                      <a:chOff x="914400" y="1447800"/>
                      <a:chExt cx="2895600" cy="152400"/>
                    </a:xfrm>
                  </p:grpSpPr>
                  <p:grpSp>
                    <p:nvGrpSpPr>
                      <p:cNvPr id="181" name="Group 56"/>
                      <p:cNvGrpSpPr/>
                      <p:nvPr/>
                    </p:nvGrpSpPr>
                    <p:grpSpPr>
                      <a:xfrm>
                        <a:off x="914400" y="1447800"/>
                        <a:ext cx="1066800" cy="152400"/>
                        <a:chOff x="914400" y="1447800"/>
                        <a:chExt cx="1066800" cy="152400"/>
                      </a:xfrm>
                    </p:grpSpPr>
                    <p:sp>
                      <p:nvSpPr>
                        <p:cNvPr id="215" name="Oval 214"/>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6" name="Oval 215"/>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2" name="Group 57"/>
                      <p:cNvGrpSpPr/>
                      <p:nvPr/>
                    </p:nvGrpSpPr>
                    <p:grpSpPr>
                      <a:xfrm>
                        <a:off x="2743200" y="1447800"/>
                        <a:ext cx="1066800" cy="152400"/>
                        <a:chOff x="914400" y="1447800"/>
                        <a:chExt cx="1066800" cy="152400"/>
                      </a:xfrm>
                    </p:grpSpPr>
                    <p:sp>
                      <p:nvSpPr>
                        <p:cNvPr id="213" name="Oval 21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4" name="Oval 21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83" name="Group 61"/>
                    <p:cNvGrpSpPr/>
                    <p:nvPr/>
                  </p:nvGrpSpPr>
                  <p:grpSpPr>
                    <a:xfrm>
                      <a:off x="914400" y="1447800"/>
                      <a:ext cx="2895600" cy="152400"/>
                      <a:chOff x="914400" y="1447800"/>
                      <a:chExt cx="2895600" cy="152400"/>
                    </a:xfrm>
                  </p:grpSpPr>
                  <p:grpSp>
                    <p:nvGrpSpPr>
                      <p:cNvPr id="184" name="Group 56"/>
                      <p:cNvGrpSpPr/>
                      <p:nvPr/>
                    </p:nvGrpSpPr>
                    <p:grpSpPr>
                      <a:xfrm>
                        <a:off x="914400" y="1447800"/>
                        <a:ext cx="1066800" cy="152400"/>
                        <a:chOff x="914400" y="1447800"/>
                        <a:chExt cx="1066800" cy="152400"/>
                      </a:xfrm>
                    </p:grpSpPr>
                    <p:sp>
                      <p:nvSpPr>
                        <p:cNvPr id="209" name="Oval 208"/>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0" name="Oval 209"/>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5" name="Group 57"/>
                      <p:cNvGrpSpPr/>
                      <p:nvPr/>
                    </p:nvGrpSpPr>
                    <p:grpSpPr>
                      <a:xfrm>
                        <a:off x="2743200" y="1447800"/>
                        <a:ext cx="1066800" cy="152400"/>
                        <a:chOff x="914400" y="1447800"/>
                        <a:chExt cx="1066800" cy="152400"/>
                      </a:xfrm>
                    </p:grpSpPr>
                    <p:sp>
                      <p:nvSpPr>
                        <p:cNvPr id="207" name="Oval 206"/>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8" name="Oval 207"/>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nvGrpSpPr>
                  <p:cNvPr id="186" name="Group 69"/>
                  <p:cNvGrpSpPr/>
                  <p:nvPr/>
                </p:nvGrpSpPr>
                <p:grpSpPr>
                  <a:xfrm>
                    <a:off x="914400" y="3276600"/>
                    <a:ext cx="2895600" cy="1066800"/>
                    <a:chOff x="914400" y="1447800"/>
                    <a:chExt cx="2895600" cy="1066800"/>
                  </a:xfrm>
                </p:grpSpPr>
                <p:grpSp>
                  <p:nvGrpSpPr>
                    <p:cNvPr id="187" name="Group 60"/>
                    <p:cNvGrpSpPr/>
                    <p:nvPr/>
                  </p:nvGrpSpPr>
                  <p:grpSpPr>
                    <a:xfrm>
                      <a:off x="914400" y="2362200"/>
                      <a:ext cx="2895600" cy="152400"/>
                      <a:chOff x="914400" y="1447800"/>
                      <a:chExt cx="2895600" cy="152400"/>
                    </a:xfrm>
                  </p:grpSpPr>
                  <p:grpSp>
                    <p:nvGrpSpPr>
                      <p:cNvPr id="188" name="Group 56"/>
                      <p:cNvGrpSpPr/>
                      <p:nvPr/>
                    </p:nvGrpSpPr>
                    <p:grpSpPr>
                      <a:xfrm>
                        <a:off x="914400" y="1447800"/>
                        <a:ext cx="1066800" cy="152400"/>
                        <a:chOff x="914400" y="1447800"/>
                        <a:chExt cx="1066800" cy="152400"/>
                      </a:xfrm>
                    </p:grpSpPr>
                    <p:sp>
                      <p:nvSpPr>
                        <p:cNvPr id="201" name="Oval 200"/>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2" name="Oval 201"/>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9" name="Group 57"/>
                      <p:cNvGrpSpPr/>
                      <p:nvPr/>
                    </p:nvGrpSpPr>
                    <p:grpSpPr>
                      <a:xfrm>
                        <a:off x="2743200" y="1447800"/>
                        <a:ext cx="1066800" cy="152400"/>
                        <a:chOff x="914400" y="1447800"/>
                        <a:chExt cx="1066800" cy="152400"/>
                      </a:xfrm>
                    </p:grpSpPr>
                    <p:sp>
                      <p:nvSpPr>
                        <p:cNvPr id="199" name="Oval 198"/>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0" name="Oval 199"/>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90" name="Group 61"/>
                    <p:cNvGrpSpPr/>
                    <p:nvPr/>
                  </p:nvGrpSpPr>
                  <p:grpSpPr>
                    <a:xfrm>
                      <a:off x="914400" y="1447800"/>
                      <a:ext cx="2895600" cy="152400"/>
                      <a:chOff x="914400" y="1447800"/>
                      <a:chExt cx="2895600" cy="152400"/>
                    </a:xfrm>
                  </p:grpSpPr>
                  <p:grpSp>
                    <p:nvGrpSpPr>
                      <p:cNvPr id="191" name="Group 56"/>
                      <p:cNvGrpSpPr/>
                      <p:nvPr/>
                    </p:nvGrpSpPr>
                    <p:grpSpPr>
                      <a:xfrm>
                        <a:off x="914400" y="1447800"/>
                        <a:ext cx="1066800" cy="152400"/>
                        <a:chOff x="914400" y="1447800"/>
                        <a:chExt cx="1066800" cy="152400"/>
                      </a:xfrm>
                    </p:grpSpPr>
                    <p:sp>
                      <p:nvSpPr>
                        <p:cNvPr id="195" name="Oval 194"/>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6" name="Oval 195"/>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92" name="Group 57"/>
                      <p:cNvGrpSpPr/>
                      <p:nvPr/>
                    </p:nvGrpSpPr>
                    <p:grpSpPr>
                      <a:xfrm>
                        <a:off x="2743200" y="1447800"/>
                        <a:ext cx="1066800" cy="152400"/>
                        <a:chOff x="914400" y="1447800"/>
                        <a:chExt cx="1066800" cy="152400"/>
                      </a:xfrm>
                    </p:grpSpPr>
                    <p:sp>
                      <p:nvSpPr>
                        <p:cNvPr id="193" name="Oval 19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 name="Oval 19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grpSp>
        </p:grpSp>
      </p:grpSp>
      <p:sp>
        <p:nvSpPr>
          <p:cNvPr id="565" name="TextBox 564"/>
          <p:cNvSpPr txBox="1"/>
          <p:nvPr/>
        </p:nvSpPr>
        <p:spPr>
          <a:xfrm>
            <a:off x="609600" y="4343400"/>
            <a:ext cx="1981200" cy="369332"/>
          </a:xfrm>
          <a:prstGeom prst="rect">
            <a:avLst/>
          </a:prstGeom>
          <a:noFill/>
        </p:spPr>
        <p:txBody>
          <a:bodyPr wrap="square" rtlCol="0">
            <a:spAutoFit/>
          </a:bodyPr>
          <a:lstStyle/>
          <a:p>
            <a:r>
              <a:rPr lang="en-US" dirty="0" smtClean="0">
                <a:solidFill>
                  <a:srgbClr val="0824F2"/>
                </a:solidFill>
              </a:rPr>
              <a:t>1   2   3   4 …</a:t>
            </a:r>
            <a:endParaRPr lang="en-US" dirty="0">
              <a:solidFill>
                <a:srgbClr val="0824F2"/>
              </a:solidFill>
            </a:endParaRPr>
          </a:p>
        </p:txBody>
      </p:sp>
      <p:sp>
        <p:nvSpPr>
          <p:cNvPr id="566" name="TextBox 565"/>
          <p:cNvSpPr txBox="1"/>
          <p:nvPr/>
        </p:nvSpPr>
        <p:spPr>
          <a:xfrm>
            <a:off x="8305800" y="4355068"/>
            <a:ext cx="838200" cy="369332"/>
          </a:xfrm>
          <a:prstGeom prst="rect">
            <a:avLst/>
          </a:prstGeom>
          <a:noFill/>
        </p:spPr>
        <p:txBody>
          <a:bodyPr wrap="square" rtlCol="0">
            <a:spAutoFit/>
          </a:bodyPr>
          <a:lstStyle/>
          <a:p>
            <a:r>
              <a:rPr lang="en-US" dirty="0" smtClean="0">
                <a:solidFill>
                  <a:srgbClr val="0824F2"/>
                </a:solidFill>
              </a:rPr>
              <a:t> … 32</a:t>
            </a:r>
            <a:endParaRPr lang="en-US" dirty="0">
              <a:solidFill>
                <a:srgbClr val="0824F2"/>
              </a:solidFill>
            </a:endParaRPr>
          </a:p>
        </p:txBody>
      </p:sp>
      <p:sp>
        <p:nvSpPr>
          <p:cNvPr id="567" name="TextBox 566"/>
          <p:cNvSpPr txBox="1"/>
          <p:nvPr/>
        </p:nvSpPr>
        <p:spPr>
          <a:xfrm>
            <a:off x="304800" y="3886200"/>
            <a:ext cx="381000" cy="369332"/>
          </a:xfrm>
          <a:prstGeom prst="rect">
            <a:avLst/>
          </a:prstGeom>
          <a:noFill/>
        </p:spPr>
        <p:txBody>
          <a:bodyPr wrap="square" rtlCol="0">
            <a:spAutoFit/>
          </a:bodyPr>
          <a:lstStyle/>
          <a:p>
            <a:r>
              <a:rPr lang="en-US" dirty="0" smtClean="0">
                <a:solidFill>
                  <a:srgbClr val="0824F2"/>
                </a:solidFill>
              </a:rPr>
              <a:t>x</a:t>
            </a:r>
            <a:endParaRPr lang="en-US" dirty="0">
              <a:solidFill>
                <a:srgbClr val="0824F2"/>
              </a:solidFill>
            </a:endParaRPr>
          </a:p>
        </p:txBody>
      </p:sp>
      <p:sp>
        <p:nvSpPr>
          <p:cNvPr id="568" name="TextBox 567"/>
          <p:cNvSpPr txBox="1"/>
          <p:nvPr/>
        </p:nvSpPr>
        <p:spPr>
          <a:xfrm>
            <a:off x="152400" y="3516868"/>
            <a:ext cx="609600" cy="369332"/>
          </a:xfrm>
          <a:prstGeom prst="rect">
            <a:avLst/>
          </a:prstGeom>
          <a:noFill/>
        </p:spPr>
        <p:txBody>
          <a:bodyPr wrap="square" rtlCol="0">
            <a:spAutoFit/>
          </a:bodyPr>
          <a:lstStyle/>
          <a:p>
            <a:r>
              <a:rPr lang="en-US" dirty="0" err="1" smtClean="0">
                <a:solidFill>
                  <a:srgbClr val="0824F2"/>
                </a:solidFill>
              </a:rPr>
              <a:t>A·x</a:t>
            </a:r>
            <a:endParaRPr lang="en-US" dirty="0">
              <a:solidFill>
                <a:srgbClr val="0824F2"/>
              </a:solidFill>
            </a:endParaRPr>
          </a:p>
        </p:txBody>
      </p:sp>
      <p:sp>
        <p:nvSpPr>
          <p:cNvPr id="569" name="TextBox 568"/>
          <p:cNvSpPr txBox="1"/>
          <p:nvPr/>
        </p:nvSpPr>
        <p:spPr>
          <a:xfrm>
            <a:off x="152400" y="3124200"/>
            <a:ext cx="609600" cy="369332"/>
          </a:xfrm>
          <a:prstGeom prst="rect">
            <a:avLst/>
          </a:prstGeom>
          <a:noFill/>
        </p:spPr>
        <p:txBody>
          <a:bodyPr wrap="square" rtlCol="0">
            <a:spAutoFit/>
          </a:bodyPr>
          <a:lstStyle/>
          <a:p>
            <a:r>
              <a:rPr lang="en-US" dirty="0" smtClean="0">
                <a:solidFill>
                  <a:srgbClr val="0824F2"/>
                </a:solidFill>
              </a:rPr>
              <a:t>A</a:t>
            </a:r>
            <a:r>
              <a:rPr lang="en-US" sz="2000" b="1" baseline="30000" dirty="0" smtClean="0">
                <a:solidFill>
                  <a:srgbClr val="0824F2"/>
                </a:solidFill>
              </a:rPr>
              <a:t>2</a:t>
            </a:r>
            <a:r>
              <a:rPr lang="en-US" dirty="0" smtClean="0">
                <a:solidFill>
                  <a:srgbClr val="0824F2"/>
                </a:solidFill>
              </a:rPr>
              <a:t>·x</a:t>
            </a:r>
            <a:endParaRPr lang="en-US" dirty="0">
              <a:solidFill>
                <a:srgbClr val="0824F2"/>
              </a:solidFill>
            </a:endParaRPr>
          </a:p>
        </p:txBody>
      </p:sp>
      <p:sp>
        <p:nvSpPr>
          <p:cNvPr id="570" name="TextBox 569"/>
          <p:cNvSpPr txBox="1"/>
          <p:nvPr/>
        </p:nvSpPr>
        <p:spPr>
          <a:xfrm>
            <a:off x="152400" y="2743200"/>
            <a:ext cx="609600" cy="369332"/>
          </a:xfrm>
          <a:prstGeom prst="rect">
            <a:avLst/>
          </a:prstGeom>
          <a:noFill/>
        </p:spPr>
        <p:txBody>
          <a:bodyPr wrap="square" rtlCol="0">
            <a:spAutoFit/>
          </a:bodyPr>
          <a:lstStyle/>
          <a:p>
            <a:r>
              <a:rPr lang="en-US" dirty="0" smtClean="0">
                <a:solidFill>
                  <a:srgbClr val="0824F2"/>
                </a:solidFill>
              </a:rPr>
              <a:t>A</a:t>
            </a:r>
            <a:r>
              <a:rPr lang="en-US" sz="2000" b="1" baseline="30000" dirty="0" smtClean="0">
                <a:solidFill>
                  <a:srgbClr val="0824F2"/>
                </a:solidFill>
              </a:rPr>
              <a:t>3</a:t>
            </a:r>
            <a:r>
              <a:rPr lang="en-US" dirty="0" smtClean="0">
                <a:solidFill>
                  <a:srgbClr val="0824F2"/>
                </a:solidFill>
              </a:rPr>
              <a:t>·x</a:t>
            </a:r>
            <a:endParaRPr lang="en-US" dirty="0">
              <a:solidFill>
                <a:srgbClr val="0824F2"/>
              </a:solidFill>
            </a:endParaRPr>
          </a:p>
        </p:txBody>
      </p:sp>
      <p:sp>
        <p:nvSpPr>
          <p:cNvPr id="535" name="Title 1"/>
          <p:cNvSpPr txBox="1">
            <a:spLocks/>
          </p:cNvSpPr>
          <p:nvPr/>
        </p:nvSpPr>
        <p:spPr>
          <a:xfrm>
            <a:off x="457200" y="274638"/>
            <a:ext cx="8229600" cy="1143000"/>
          </a:xfrm>
          <a:prstGeom prst="rect">
            <a:avLst/>
          </a:prstGeom>
        </p:spPr>
        <p:txBody>
          <a:bodyPr rtlCol="0">
            <a:noAutofit/>
          </a:bodyPr>
          <a:lstStyle/>
          <a:p>
            <a:pPr lvl="0" algn="ctr">
              <a:spcBef>
                <a:spcPct val="0"/>
              </a:spcBef>
              <a:defRPr/>
            </a:pPr>
            <a:r>
              <a:rPr kumimoji="0" lang="en-US" sz="3600" b="0" i="0" u="none" strike="noStrike" kern="1200" cap="none" spc="0" normalizeH="0" baseline="0" noProof="0" dirty="0" smtClean="0">
                <a:ln>
                  <a:noFill/>
                </a:ln>
                <a:solidFill>
                  <a:schemeClr val="tx1"/>
                </a:solidFill>
                <a:effectLst/>
                <a:uLnTx/>
                <a:uFillTx/>
                <a:latin typeface="+mj-lt"/>
                <a:ea typeface="+mj-ea"/>
                <a:cs typeface="+mj-cs"/>
              </a:rPr>
              <a:t>Communication Avoiding Kernels:</a:t>
            </a:r>
            <a:br>
              <a:rPr kumimoji="0" lang="en-US" sz="3600" b="0" i="0" u="none" strike="noStrike" kern="1200" cap="none" spc="0" normalizeH="0" baseline="0" noProof="0" dirty="0" smtClean="0">
                <a:ln>
                  <a:noFill/>
                </a:ln>
                <a:solidFill>
                  <a:schemeClr val="tx1"/>
                </a:solidFill>
                <a:effectLst/>
                <a:uLnTx/>
                <a:uFillTx/>
                <a:latin typeface="+mj-lt"/>
                <a:ea typeface="+mj-ea"/>
                <a:cs typeface="+mj-cs"/>
              </a:rPr>
            </a:br>
            <a:r>
              <a:rPr kumimoji="0" lang="en-US" sz="2800" b="0" i="0" u="none" strike="noStrike" kern="1200" cap="none" spc="0" normalizeH="0" baseline="0" noProof="0" dirty="0" smtClean="0">
                <a:ln>
                  <a:noFill/>
                </a:ln>
                <a:solidFill>
                  <a:schemeClr val="tx1"/>
                </a:solidFill>
                <a:effectLst/>
                <a:uLnTx/>
                <a:uFillTx/>
                <a:latin typeface="+mj-lt"/>
                <a:ea typeface="+mj-ea"/>
                <a:cs typeface="+mj-cs"/>
              </a:rPr>
              <a:t>The Matrix Powers Kernel</a:t>
            </a:r>
            <a:r>
              <a:rPr lang="en-US" sz="2800" dirty="0" smtClean="0"/>
              <a:t> :</a:t>
            </a:r>
            <a:r>
              <a:rPr lang="en-US" sz="2800" dirty="0" smtClean="0">
                <a:sym typeface="Symbol"/>
              </a:rPr>
              <a:t> [</a:t>
            </a:r>
            <a:r>
              <a:rPr lang="en-US" sz="2800" dirty="0" smtClean="0"/>
              <a:t>Ax, A</a:t>
            </a:r>
            <a:r>
              <a:rPr lang="en-US" sz="2800" baseline="40000" dirty="0" smtClean="0"/>
              <a:t>2</a:t>
            </a:r>
            <a:r>
              <a:rPr lang="en-US" sz="2800" dirty="0" smtClean="0"/>
              <a:t>x, …, </a:t>
            </a:r>
            <a:r>
              <a:rPr lang="en-US" sz="2800" dirty="0" err="1" smtClean="0"/>
              <a:t>A</a:t>
            </a:r>
            <a:r>
              <a:rPr lang="en-US" sz="2800" baseline="40000" dirty="0" err="1" smtClean="0"/>
              <a:t>k</a:t>
            </a:r>
            <a:r>
              <a:rPr lang="en-US" sz="2800" dirty="0" err="1" smtClean="0"/>
              <a:t>x</a:t>
            </a:r>
            <a:r>
              <a:rPr lang="en-US" sz="2800" dirty="0" smtClean="0"/>
              <a:t>] </a:t>
            </a:r>
            <a:endParaRPr kumimoji="0" lang="en-US" sz="2800" b="0" i="0" u="none" strike="noStrike" kern="1200" cap="none" spc="0" normalizeH="0" baseline="0" noProof="0" dirty="0">
              <a:ln>
                <a:noFill/>
              </a:ln>
              <a:solidFill>
                <a:schemeClr val="tx1"/>
              </a:solidFill>
              <a:effectLst/>
              <a:uLnTx/>
              <a:uFillTx/>
              <a:latin typeface="+mj-lt"/>
              <a:ea typeface="+mj-ea"/>
              <a:cs typeface="+mj-cs"/>
            </a:endParaRPr>
          </a:p>
        </p:txBody>
      </p:sp>
      <p:cxnSp>
        <p:nvCxnSpPr>
          <p:cNvPr id="536" name="Straight Connector 535"/>
          <p:cNvCxnSpPr/>
          <p:nvPr/>
        </p:nvCxnSpPr>
        <p:spPr>
          <a:xfrm>
            <a:off x="228600" y="1371600"/>
            <a:ext cx="8305800" cy="0"/>
          </a:xfrm>
          <a:prstGeom prst="line">
            <a:avLst/>
          </a:prstGeom>
        </p:spPr>
        <p:style>
          <a:lnRef idx="1">
            <a:schemeClr val="accent1"/>
          </a:lnRef>
          <a:fillRef idx="0">
            <a:schemeClr val="accent1"/>
          </a:fillRef>
          <a:effectRef idx="0">
            <a:schemeClr val="accent1"/>
          </a:effectRef>
          <a:fontRef idx="minor">
            <a:schemeClr val="tx1"/>
          </a:fontRef>
        </p:style>
      </p:cxnSp>
      <p:sp>
        <p:nvSpPr>
          <p:cNvPr id="537" name="Content Placeholder 2"/>
          <p:cNvSpPr txBox="1">
            <a:spLocks/>
          </p:cNvSpPr>
          <p:nvPr/>
        </p:nvSpPr>
        <p:spPr>
          <a:xfrm>
            <a:off x="228600" y="1447800"/>
            <a:ext cx="8915400" cy="4525963"/>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Replace k iterations of y = </a:t>
            </a:r>
            <a:r>
              <a:rPr kumimoji="0" lang="en-US" sz="3200" b="0" i="0" u="none" strike="noStrike" kern="1200" cap="none" spc="0" normalizeH="0" baseline="0" noProof="0" dirty="0" err="1" smtClean="0">
                <a:ln>
                  <a:noFill/>
                </a:ln>
                <a:solidFill>
                  <a:schemeClr val="tx1"/>
                </a:solidFill>
                <a:effectLst/>
                <a:uLnTx/>
                <a:uFillTx/>
                <a:latin typeface="+mn-lt"/>
                <a:ea typeface="+mn-ea"/>
                <a:cs typeface="+mn-cs"/>
              </a:rPr>
              <a:t>A</a:t>
            </a:r>
            <a:r>
              <a:rPr kumimoji="0" lang="en-US" sz="3200" b="0" i="0" u="none" strike="noStrike" kern="1200" cap="none" spc="0" normalizeH="0" baseline="0" noProof="0" dirty="0" err="1" smtClean="0">
                <a:ln>
                  <a:noFill/>
                </a:ln>
                <a:solidFill>
                  <a:schemeClr val="tx1"/>
                </a:solidFill>
                <a:effectLst/>
                <a:uLnTx/>
                <a:uFillTx/>
                <a:latin typeface="+mn-lt"/>
                <a:ea typeface="+mn-ea"/>
                <a:cs typeface="+mn-cs"/>
                <a:sym typeface="Symbol"/>
              </a:rPr>
              <a:t>x</a:t>
            </a:r>
            <a:r>
              <a:rPr kumimoji="0" lang="en-US" sz="3200" b="0" i="0" u="none" strike="noStrike" kern="1200" cap="none" spc="0" normalizeH="0" baseline="0" noProof="0" dirty="0" smtClean="0">
                <a:ln>
                  <a:noFill/>
                </a:ln>
                <a:solidFill>
                  <a:schemeClr val="tx1"/>
                </a:solidFill>
                <a:effectLst/>
                <a:uLnTx/>
                <a:uFillTx/>
                <a:latin typeface="+mn-lt"/>
                <a:ea typeface="+mn-ea"/>
                <a:cs typeface="+mn-cs"/>
                <a:sym typeface="Symbol"/>
              </a:rPr>
              <a:t> with [</a:t>
            </a:r>
            <a:r>
              <a:rPr kumimoji="0" lang="en-US" sz="3200" b="0" i="0" u="none" strike="noStrike" kern="1200" cap="none" spc="0" normalizeH="0" baseline="0" noProof="0" dirty="0" smtClean="0">
                <a:ln>
                  <a:noFill/>
                </a:ln>
                <a:solidFill>
                  <a:schemeClr val="tx1"/>
                </a:solidFill>
                <a:effectLst/>
                <a:uLnTx/>
                <a:uFillTx/>
                <a:latin typeface="+mn-lt"/>
                <a:ea typeface="+mn-ea"/>
                <a:cs typeface="+mn-cs"/>
              </a:rPr>
              <a:t>Ax, A</a:t>
            </a:r>
            <a:r>
              <a:rPr kumimoji="0" lang="en-US" sz="3200" b="0" i="0" u="none" strike="noStrike" kern="1200" cap="none" spc="0" normalizeH="0" baseline="40000" noProof="0" dirty="0" smtClean="0">
                <a:ln>
                  <a:noFill/>
                </a:ln>
                <a:solidFill>
                  <a:schemeClr val="tx1"/>
                </a:solidFill>
                <a:effectLst/>
                <a:uLnTx/>
                <a:uFillTx/>
                <a:latin typeface="+mn-lt"/>
                <a:ea typeface="+mn-ea"/>
                <a:cs typeface="+mn-cs"/>
              </a:rPr>
              <a:t>2</a:t>
            </a:r>
            <a:r>
              <a:rPr kumimoji="0" lang="en-US" sz="3200" b="0" i="0" u="none" strike="noStrike" kern="1200" cap="none" spc="0" normalizeH="0" baseline="0" noProof="0" dirty="0" smtClean="0">
                <a:ln>
                  <a:noFill/>
                </a:ln>
                <a:solidFill>
                  <a:schemeClr val="tx1"/>
                </a:solidFill>
                <a:effectLst/>
                <a:uLnTx/>
                <a:uFillTx/>
                <a:latin typeface="+mn-lt"/>
                <a:ea typeface="+mn-ea"/>
                <a:cs typeface="+mn-cs"/>
              </a:rPr>
              <a:t>x, …, </a:t>
            </a:r>
            <a:r>
              <a:rPr kumimoji="0" lang="en-US" sz="3200" b="0" i="0" u="none" strike="noStrike" kern="1200" cap="none" spc="0" normalizeH="0" baseline="0" noProof="0" dirty="0" err="1" smtClean="0">
                <a:ln>
                  <a:noFill/>
                </a:ln>
                <a:solidFill>
                  <a:schemeClr val="tx1"/>
                </a:solidFill>
                <a:effectLst/>
                <a:uLnTx/>
                <a:uFillTx/>
                <a:latin typeface="+mn-lt"/>
                <a:ea typeface="+mn-ea"/>
                <a:cs typeface="+mn-cs"/>
              </a:rPr>
              <a:t>A</a:t>
            </a:r>
            <a:r>
              <a:rPr kumimoji="0" lang="en-US" sz="3200" b="0" i="0" u="none" strike="noStrike" kern="1200" cap="none" spc="0" normalizeH="0" baseline="40000" noProof="0" dirty="0" err="1" smtClean="0">
                <a:ln>
                  <a:noFill/>
                </a:ln>
                <a:solidFill>
                  <a:schemeClr val="tx1"/>
                </a:solidFill>
                <a:effectLst/>
                <a:uLnTx/>
                <a:uFillTx/>
                <a:latin typeface="+mn-lt"/>
                <a:ea typeface="+mn-ea"/>
                <a:cs typeface="+mn-cs"/>
              </a:rPr>
              <a:t>k</a:t>
            </a:r>
            <a:r>
              <a:rPr kumimoji="0" lang="en-US" sz="3200" b="0" i="0" u="none" strike="noStrike" kern="1200" cap="none" spc="0" normalizeH="0" baseline="0" noProof="0" dirty="0" err="1" smtClean="0">
                <a:ln>
                  <a:noFill/>
                </a:ln>
                <a:solidFill>
                  <a:schemeClr val="tx1"/>
                </a:solidFill>
                <a:effectLst/>
                <a:uLnTx/>
                <a:uFillTx/>
                <a:latin typeface="+mn-lt"/>
                <a:ea typeface="+mn-ea"/>
                <a:cs typeface="+mn-cs"/>
              </a:rPr>
              <a:t>x</a:t>
            </a:r>
            <a:r>
              <a:rPr kumimoji="0" lang="en-US" sz="3200" b="0" i="0" u="none" strike="noStrike" kern="1200" cap="none" spc="0" normalizeH="0" baseline="0" noProof="0" dirty="0" smtClean="0">
                <a:ln>
                  <a:noFill/>
                </a:ln>
                <a:solidFill>
                  <a:schemeClr val="tx1"/>
                </a:solidFill>
                <a:effectLst/>
                <a:uLnTx/>
                <a:uFillTx/>
                <a:latin typeface="+mn-lt"/>
                <a:ea typeface="+mn-ea"/>
                <a:cs typeface="+mn-cs"/>
              </a:rPr>
              <a:t>] </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Sequential Algorithm</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en-US" sz="3200" dirty="0" smtClean="0"/>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en-US" sz="3200" dirty="0" smtClean="0"/>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Example: A </a:t>
            </a:r>
            <a:r>
              <a:rPr kumimoji="0" lang="en-US" sz="3200" b="0" i="0" u="none" strike="noStrike" kern="1200" cap="none" spc="0" normalizeH="0" baseline="0" noProof="0" dirty="0" err="1" smtClean="0">
                <a:ln>
                  <a:noFill/>
                </a:ln>
                <a:solidFill>
                  <a:schemeClr val="tx1"/>
                </a:solidFill>
                <a:effectLst/>
                <a:uLnTx/>
                <a:uFillTx/>
                <a:latin typeface="+mn-lt"/>
                <a:ea typeface="+mn-ea"/>
                <a:cs typeface="+mn-cs"/>
              </a:rPr>
              <a:t>tridiagonal</a:t>
            </a:r>
            <a:r>
              <a:rPr kumimoji="0" lang="en-US" sz="3200" b="0" i="0" u="none" strike="noStrike" kern="1200" cap="none" spc="0" normalizeH="0" baseline="0" noProof="0" dirty="0" smtClean="0">
                <a:ln>
                  <a:noFill/>
                </a:ln>
                <a:solidFill>
                  <a:schemeClr val="tx1"/>
                </a:solidFill>
                <a:effectLst/>
                <a:uLnTx/>
                <a:uFillTx/>
                <a:latin typeface="+mn-lt"/>
                <a:ea typeface="+mn-ea"/>
                <a:cs typeface="+mn-cs"/>
              </a:rPr>
              <a:t>, n=32, k=3</a:t>
            </a:r>
          </a:p>
        </p:txBody>
      </p:sp>
      <p:sp>
        <p:nvSpPr>
          <p:cNvPr id="538" name="TextBox 537"/>
          <p:cNvSpPr txBox="1"/>
          <p:nvPr/>
        </p:nvSpPr>
        <p:spPr>
          <a:xfrm>
            <a:off x="990600" y="2514600"/>
            <a:ext cx="779765" cy="369332"/>
          </a:xfrm>
          <a:prstGeom prst="rect">
            <a:avLst/>
          </a:prstGeom>
          <a:noFill/>
        </p:spPr>
        <p:txBody>
          <a:bodyPr wrap="none" rtlCol="0">
            <a:spAutoFit/>
          </a:bodyPr>
          <a:lstStyle/>
          <a:p>
            <a:r>
              <a:rPr lang="en-US" b="1" dirty="0" smtClean="0">
                <a:solidFill>
                  <a:schemeClr val="tx2">
                    <a:lumMod val="60000"/>
                    <a:lumOff val="40000"/>
                  </a:schemeClr>
                </a:solidFill>
              </a:rPr>
              <a:t>Step 1</a:t>
            </a:r>
            <a:endParaRPr lang="en-US" b="1" dirty="0">
              <a:solidFill>
                <a:schemeClr val="tx2">
                  <a:lumMod val="60000"/>
                  <a:lumOff val="40000"/>
                </a:schemeClr>
              </a:solidFill>
            </a:endParaRPr>
          </a:p>
        </p:txBody>
      </p:sp>
      <p:sp>
        <p:nvSpPr>
          <p:cNvPr id="539" name="TextBox 538"/>
          <p:cNvSpPr txBox="1"/>
          <p:nvPr/>
        </p:nvSpPr>
        <p:spPr>
          <a:xfrm>
            <a:off x="2667000" y="2514600"/>
            <a:ext cx="824969" cy="369332"/>
          </a:xfrm>
          <a:prstGeom prst="rect">
            <a:avLst/>
          </a:prstGeom>
          <a:noFill/>
        </p:spPr>
        <p:txBody>
          <a:bodyPr wrap="none" rtlCol="0">
            <a:spAutoFit/>
          </a:bodyPr>
          <a:lstStyle/>
          <a:p>
            <a:r>
              <a:rPr lang="en-US" b="1" dirty="0" smtClean="0">
                <a:solidFill>
                  <a:srgbClr val="FF0000"/>
                </a:solidFill>
              </a:rPr>
              <a:t>Step  2</a:t>
            </a:r>
            <a:endParaRPr lang="en-US" b="1" dirty="0">
              <a:solidFill>
                <a:srgbClr val="FF0000"/>
              </a:solidFill>
            </a:endParaRPr>
          </a:p>
        </p:txBody>
      </p:sp>
      <p:sp>
        <p:nvSpPr>
          <p:cNvPr id="540" name="TextBox 539"/>
          <p:cNvSpPr txBox="1"/>
          <p:nvPr/>
        </p:nvSpPr>
        <p:spPr>
          <a:xfrm>
            <a:off x="4572000" y="2514600"/>
            <a:ext cx="824969" cy="369332"/>
          </a:xfrm>
          <a:prstGeom prst="rect">
            <a:avLst/>
          </a:prstGeom>
          <a:noFill/>
        </p:spPr>
        <p:txBody>
          <a:bodyPr wrap="none" rtlCol="0">
            <a:spAutoFit/>
          </a:bodyPr>
          <a:lstStyle/>
          <a:p>
            <a:r>
              <a:rPr lang="en-US" b="1" dirty="0" smtClean="0">
                <a:solidFill>
                  <a:srgbClr val="92D050"/>
                </a:solidFill>
              </a:rPr>
              <a:t>Step  3</a:t>
            </a:r>
            <a:endParaRPr lang="en-US" b="1" dirty="0">
              <a:solidFill>
                <a:srgbClr val="92D050"/>
              </a:solidFill>
            </a:endParaRPr>
          </a:p>
        </p:txBody>
      </p:sp>
      <p:sp>
        <p:nvSpPr>
          <p:cNvPr id="545" name="TextBox 544"/>
          <p:cNvSpPr txBox="1"/>
          <p:nvPr/>
        </p:nvSpPr>
        <p:spPr>
          <a:xfrm>
            <a:off x="6477000" y="2514600"/>
            <a:ext cx="824969" cy="369332"/>
          </a:xfrm>
          <a:prstGeom prst="rect">
            <a:avLst/>
          </a:prstGeom>
          <a:noFill/>
        </p:spPr>
        <p:txBody>
          <a:bodyPr wrap="none" rtlCol="0">
            <a:spAutoFit/>
          </a:bodyPr>
          <a:lstStyle/>
          <a:p>
            <a:r>
              <a:rPr lang="en-US" b="1" dirty="0" smtClean="0">
                <a:solidFill>
                  <a:srgbClr val="FFC000"/>
                </a:solidFill>
              </a:rPr>
              <a:t>Step  4</a:t>
            </a:r>
            <a:endParaRPr lang="en-US" b="1" dirty="0">
              <a:solidFill>
                <a:srgbClr val="FFC000"/>
              </a:solidFill>
            </a:endParaRPr>
          </a:p>
        </p:txBody>
      </p:sp>
    </p:spTree>
  </p:cSld>
  <p:clrMapOvr>
    <a:masterClrMapping/>
  </p:clrMapOvr>
  <p:timing>
    <p:tnLst>
      <p:par>
        <p:cTn xmlns:p14="http://schemas.microsoft.com/office/powerpoint/2010/mai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5" name="Trapezoid 534"/>
          <p:cNvSpPr/>
          <p:nvPr/>
        </p:nvSpPr>
        <p:spPr>
          <a:xfrm>
            <a:off x="1981200" y="2895600"/>
            <a:ext cx="3581400" cy="1219200"/>
          </a:xfrm>
          <a:prstGeom prst="trapezoid">
            <a:avLst>
              <a:gd name="adj" fmla="val 63044"/>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2" name="Right Triangle 521"/>
          <p:cNvSpPr/>
          <p:nvPr/>
        </p:nvSpPr>
        <p:spPr>
          <a:xfrm>
            <a:off x="2743200" y="2895600"/>
            <a:ext cx="838200" cy="1219200"/>
          </a:xfrm>
          <a:prstGeom prst="rtTriangle">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5" name="TextBox 564"/>
          <p:cNvSpPr txBox="1"/>
          <p:nvPr/>
        </p:nvSpPr>
        <p:spPr>
          <a:xfrm>
            <a:off x="609600" y="4343400"/>
            <a:ext cx="1981200" cy="369332"/>
          </a:xfrm>
          <a:prstGeom prst="rect">
            <a:avLst/>
          </a:prstGeom>
          <a:noFill/>
        </p:spPr>
        <p:txBody>
          <a:bodyPr wrap="square" rtlCol="0">
            <a:spAutoFit/>
          </a:bodyPr>
          <a:lstStyle/>
          <a:p>
            <a:r>
              <a:rPr lang="en-US" dirty="0" smtClean="0">
                <a:solidFill>
                  <a:srgbClr val="0824F2"/>
                </a:solidFill>
              </a:rPr>
              <a:t>1   2   3   4 …</a:t>
            </a:r>
            <a:endParaRPr lang="en-US" dirty="0">
              <a:solidFill>
                <a:srgbClr val="0824F2"/>
              </a:solidFill>
            </a:endParaRPr>
          </a:p>
        </p:txBody>
      </p:sp>
      <p:sp>
        <p:nvSpPr>
          <p:cNvPr id="566" name="TextBox 565"/>
          <p:cNvSpPr txBox="1"/>
          <p:nvPr/>
        </p:nvSpPr>
        <p:spPr>
          <a:xfrm>
            <a:off x="8305800" y="4355068"/>
            <a:ext cx="838200" cy="369332"/>
          </a:xfrm>
          <a:prstGeom prst="rect">
            <a:avLst/>
          </a:prstGeom>
          <a:noFill/>
        </p:spPr>
        <p:txBody>
          <a:bodyPr wrap="square" rtlCol="0">
            <a:spAutoFit/>
          </a:bodyPr>
          <a:lstStyle/>
          <a:p>
            <a:r>
              <a:rPr lang="en-US" dirty="0" smtClean="0">
                <a:solidFill>
                  <a:srgbClr val="0824F2"/>
                </a:solidFill>
              </a:rPr>
              <a:t> … 32</a:t>
            </a:r>
            <a:endParaRPr lang="en-US" dirty="0">
              <a:solidFill>
                <a:srgbClr val="0824F2"/>
              </a:solidFill>
            </a:endParaRPr>
          </a:p>
        </p:txBody>
      </p:sp>
      <p:sp>
        <p:nvSpPr>
          <p:cNvPr id="567" name="TextBox 566"/>
          <p:cNvSpPr txBox="1"/>
          <p:nvPr/>
        </p:nvSpPr>
        <p:spPr>
          <a:xfrm>
            <a:off x="304800" y="3886200"/>
            <a:ext cx="381000" cy="369332"/>
          </a:xfrm>
          <a:prstGeom prst="rect">
            <a:avLst/>
          </a:prstGeom>
          <a:noFill/>
        </p:spPr>
        <p:txBody>
          <a:bodyPr wrap="square" rtlCol="0">
            <a:spAutoFit/>
          </a:bodyPr>
          <a:lstStyle/>
          <a:p>
            <a:r>
              <a:rPr lang="en-US" dirty="0" smtClean="0">
                <a:solidFill>
                  <a:srgbClr val="0824F2"/>
                </a:solidFill>
              </a:rPr>
              <a:t>x</a:t>
            </a:r>
            <a:endParaRPr lang="en-US" dirty="0">
              <a:solidFill>
                <a:srgbClr val="0824F2"/>
              </a:solidFill>
            </a:endParaRPr>
          </a:p>
        </p:txBody>
      </p:sp>
      <p:sp>
        <p:nvSpPr>
          <p:cNvPr id="568" name="TextBox 567"/>
          <p:cNvSpPr txBox="1"/>
          <p:nvPr/>
        </p:nvSpPr>
        <p:spPr>
          <a:xfrm>
            <a:off x="152400" y="3516868"/>
            <a:ext cx="609600" cy="369332"/>
          </a:xfrm>
          <a:prstGeom prst="rect">
            <a:avLst/>
          </a:prstGeom>
          <a:noFill/>
        </p:spPr>
        <p:txBody>
          <a:bodyPr wrap="square" rtlCol="0">
            <a:spAutoFit/>
          </a:bodyPr>
          <a:lstStyle/>
          <a:p>
            <a:r>
              <a:rPr lang="en-US" dirty="0" err="1" smtClean="0">
                <a:solidFill>
                  <a:srgbClr val="0824F2"/>
                </a:solidFill>
              </a:rPr>
              <a:t>A·x</a:t>
            </a:r>
            <a:endParaRPr lang="en-US" dirty="0">
              <a:solidFill>
                <a:srgbClr val="0824F2"/>
              </a:solidFill>
            </a:endParaRPr>
          </a:p>
        </p:txBody>
      </p:sp>
      <p:sp>
        <p:nvSpPr>
          <p:cNvPr id="569" name="TextBox 568"/>
          <p:cNvSpPr txBox="1"/>
          <p:nvPr/>
        </p:nvSpPr>
        <p:spPr>
          <a:xfrm>
            <a:off x="152400" y="3124200"/>
            <a:ext cx="609600" cy="369332"/>
          </a:xfrm>
          <a:prstGeom prst="rect">
            <a:avLst/>
          </a:prstGeom>
          <a:noFill/>
        </p:spPr>
        <p:txBody>
          <a:bodyPr wrap="square" rtlCol="0">
            <a:spAutoFit/>
          </a:bodyPr>
          <a:lstStyle/>
          <a:p>
            <a:r>
              <a:rPr lang="en-US" dirty="0" smtClean="0">
                <a:solidFill>
                  <a:srgbClr val="0824F2"/>
                </a:solidFill>
              </a:rPr>
              <a:t>A</a:t>
            </a:r>
            <a:r>
              <a:rPr lang="en-US" sz="2000" b="1" baseline="30000" dirty="0" smtClean="0">
                <a:solidFill>
                  <a:srgbClr val="0824F2"/>
                </a:solidFill>
              </a:rPr>
              <a:t>2</a:t>
            </a:r>
            <a:r>
              <a:rPr lang="en-US" dirty="0" smtClean="0">
                <a:solidFill>
                  <a:srgbClr val="0824F2"/>
                </a:solidFill>
              </a:rPr>
              <a:t>·x</a:t>
            </a:r>
            <a:endParaRPr lang="en-US" dirty="0">
              <a:solidFill>
                <a:srgbClr val="0824F2"/>
              </a:solidFill>
            </a:endParaRPr>
          </a:p>
        </p:txBody>
      </p:sp>
      <p:sp>
        <p:nvSpPr>
          <p:cNvPr id="570" name="TextBox 569"/>
          <p:cNvSpPr txBox="1"/>
          <p:nvPr/>
        </p:nvSpPr>
        <p:spPr>
          <a:xfrm>
            <a:off x="152400" y="2743200"/>
            <a:ext cx="609600" cy="369332"/>
          </a:xfrm>
          <a:prstGeom prst="rect">
            <a:avLst/>
          </a:prstGeom>
          <a:noFill/>
        </p:spPr>
        <p:txBody>
          <a:bodyPr wrap="square" rtlCol="0">
            <a:spAutoFit/>
          </a:bodyPr>
          <a:lstStyle/>
          <a:p>
            <a:r>
              <a:rPr lang="en-US" dirty="0" smtClean="0">
                <a:solidFill>
                  <a:srgbClr val="0824F2"/>
                </a:solidFill>
              </a:rPr>
              <a:t>A</a:t>
            </a:r>
            <a:r>
              <a:rPr lang="en-US" sz="2000" b="1" baseline="30000" dirty="0" smtClean="0">
                <a:solidFill>
                  <a:srgbClr val="0824F2"/>
                </a:solidFill>
              </a:rPr>
              <a:t>3</a:t>
            </a:r>
            <a:r>
              <a:rPr lang="en-US" dirty="0" smtClean="0">
                <a:solidFill>
                  <a:srgbClr val="0824F2"/>
                </a:solidFill>
              </a:rPr>
              <a:t>·x</a:t>
            </a:r>
            <a:endParaRPr lang="en-US" dirty="0">
              <a:solidFill>
                <a:srgbClr val="0824F2"/>
              </a:solidFill>
            </a:endParaRPr>
          </a:p>
        </p:txBody>
      </p:sp>
      <p:sp>
        <p:nvSpPr>
          <p:cNvPr id="536" name="Isosceles Triangle 535"/>
          <p:cNvSpPr/>
          <p:nvPr/>
        </p:nvSpPr>
        <p:spPr>
          <a:xfrm>
            <a:off x="1981200" y="2895600"/>
            <a:ext cx="1600200" cy="1219200"/>
          </a:xfrm>
          <a:prstGeom prst="triangl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8" name="Isosceles Triangle 537"/>
          <p:cNvSpPr/>
          <p:nvPr/>
        </p:nvSpPr>
        <p:spPr>
          <a:xfrm>
            <a:off x="4038600" y="2895600"/>
            <a:ext cx="1524000" cy="1219200"/>
          </a:xfrm>
          <a:prstGeom prst="triangl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 308"/>
          <p:cNvGrpSpPr/>
          <p:nvPr/>
        </p:nvGrpSpPr>
        <p:grpSpPr>
          <a:xfrm>
            <a:off x="762000" y="2895600"/>
            <a:ext cx="8077200" cy="1219200"/>
            <a:chOff x="-9144000" y="1447800"/>
            <a:chExt cx="28498800" cy="2895600"/>
          </a:xfrm>
        </p:grpSpPr>
        <p:grpSp>
          <p:nvGrpSpPr>
            <p:cNvPr id="3" name="Group 180"/>
            <p:cNvGrpSpPr/>
            <p:nvPr/>
          </p:nvGrpSpPr>
          <p:grpSpPr>
            <a:xfrm>
              <a:off x="-9144000" y="1447800"/>
              <a:ext cx="13868400" cy="2895600"/>
              <a:chOff x="914400" y="1447800"/>
              <a:chExt cx="13868400" cy="2895600"/>
            </a:xfrm>
          </p:grpSpPr>
          <p:grpSp>
            <p:nvGrpSpPr>
              <p:cNvPr id="4" name="Group 116"/>
              <p:cNvGrpSpPr/>
              <p:nvPr/>
            </p:nvGrpSpPr>
            <p:grpSpPr>
              <a:xfrm>
                <a:off x="914400" y="1447800"/>
                <a:ext cx="6553200" cy="2895600"/>
                <a:chOff x="914400" y="1447800"/>
                <a:chExt cx="6553200" cy="2895600"/>
              </a:xfrm>
            </p:grpSpPr>
            <p:grpSp>
              <p:nvGrpSpPr>
                <p:cNvPr id="5" name="Group 84"/>
                <p:cNvGrpSpPr/>
                <p:nvPr/>
              </p:nvGrpSpPr>
              <p:grpSpPr>
                <a:xfrm>
                  <a:off x="914400" y="1447800"/>
                  <a:ext cx="2895600" cy="2895600"/>
                  <a:chOff x="914400" y="1447800"/>
                  <a:chExt cx="2895600" cy="2895600"/>
                </a:xfrm>
              </p:grpSpPr>
              <p:grpSp>
                <p:nvGrpSpPr>
                  <p:cNvPr id="6" name="Group 68"/>
                  <p:cNvGrpSpPr/>
                  <p:nvPr/>
                </p:nvGrpSpPr>
                <p:grpSpPr>
                  <a:xfrm>
                    <a:off x="914400" y="1447800"/>
                    <a:ext cx="2895600" cy="1066800"/>
                    <a:chOff x="914400" y="1447800"/>
                    <a:chExt cx="2895600" cy="1066800"/>
                  </a:xfrm>
                </p:grpSpPr>
                <p:grpSp>
                  <p:nvGrpSpPr>
                    <p:cNvPr id="7" name="Group 60"/>
                    <p:cNvGrpSpPr/>
                    <p:nvPr/>
                  </p:nvGrpSpPr>
                  <p:grpSpPr>
                    <a:xfrm>
                      <a:off x="914400" y="2362200"/>
                      <a:ext cx="2895600" cy="152400"/>
                      <a:chOff x="914400" y="1447800"/>
                      <a:chExt cx="2895600" cy="152400"/>
                    </a:xfrm>
                  </p:grpSpPr>
                  <p:grpSp>
                    <p:nvGrpSpPr>
                      <p:cNvPr id="8" name="Group 56"/>
                      <p:cNvGrpSpPr/>
                      <p:nvPr/>
                    </p:nvGrpSpPr>
                    <p:grpSpPr>
                      <a:xfrm>
                        <a:off x="914400" y="1447800"/>
                        <a:ext cx="1066800" cy="152400"/>
                        <a:chOff x="914400" y="1447800"/>
                        <a:chExt cx="1066800" cy="152400"/>
                      </a:xfrm>
                    </p:grpSpPr>
                    <p:sp>
                      <p:nvSpPr>
                        <p:cNvPr id="53" name="Oval 5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Oval 5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 name="Group 57"/>
                      <p:cNvGrpSpPr/>
                      <p:nvPr/>
                    </p:nvGrpSpPr>
                    <p:grpSpPr>
                      <a:xfrm>
                        <a:off x="2743200" y="1447800"/>
                        <a:ext cx="1066800" cy="152400"/>
                        <a:chOff x="914400" y="1447800"/>
                        <a:chExt cx="1066800" cy="152400"/>
                      </a:xfrm>
                    </p:grpSpPr>
                    <p:sp>
                      <p:nvSpPr>
                        <p:cNvPr id="59" name="Oval 58"/>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Oval 59"/>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0" name="Group 61"/>
                    <p:cNvGrpSpPr/>
                    <p:nvPr/>
                  </p:nvGrpSpPr>
                  <p:grpSpPr>
                    <a:xfrm>
                      <a:off x="914400" y="1447800"/>
                      <a:ext cx="2895600" cy="152400"/>
                      <a:chOff x="914400" y="1447800"/>
                      <a:chExt cx="2895600" cy="152400"/>
                    </a:xfrm>
                  </p:grpSpPr>
                  <p:grpSp>
                    <p:nvGrpSpPr>
                      <p:cNvPr id="11" name="Group 56"/>
                      <p:cNvGrpSpPr/>
                      <p:nvPr/>
                    </p:nvGrpSpPr>
                    <p:grpSpPr>
                      <a:xfrm>
                        <a:off x="914400" y="1447800"/>
                        <a:ext cx="1066800" cy="152400"/>
                        <a:chOff x="914400" y="1447800"/>
                        <a:chExt cx="1066800" cy="152400"/>
                      </a:xfrm>
                    </p:grpSpPr>
                    <p:sp>
                      <p:nvSpPr>
                        <p:cNvPr id="67" name="Oval 66"/>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Oval 67"/>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2" name="Group 57"/>
                      <p:cNvGrpSpPr/>
                      <p:nvPr/>
                    </p:nvGrpSpPr>
                    <p:grpSpPr>
                      <a:xfrm>
                        <a:off x="2743200" y="1447800"/>
                        <a:ext cx="1066800" cy="152400"/>
                        <a:chOff x="914400" y="1447800"/>
                        <a:chExt cx="1066800" cy="152400"/>
                      </a:xfrm>
                    </p:grpSpPr>
                    <p:sp>
                      <p:nvSpPr>
                        <p:cNvPr id="65" name="Oval 64"/>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Oval 65"/>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nvGrpSpPr>
                  <p:cNvPr id="13" name="Group 69"/>
                  <p:cNvGrpSpPr/>
                  <p:nvPr/>
                </p:nvGrpSpPr>
                <p:grpSpPr>
                  <a:xfrm>
                    <a:off x="914400" y="3276600"/>
                    <a:ext cx="2895600" cy="1066800"/>
                    <a:chOff x="914400" y="1447800"/>
                    <a:chExt cx="2895600" cy="1066800"/>
                  </a:xfrm>
                </p:grpSpPr>
                <p:grpSp>
                  <p:nvGrpSpPr>
                    <p:cNvPr id="14" name="Group 60"/>
                    <p:cNvGrpSpPr/>
                    <p:nvPr/>
                  </p:nvGrpSpPr>
                  <p:grpSpPr>
                    <a:xfrm>
                      <a:off x="914400" y="2362200"/>
                      <a:ext cx="2895600" cy="152400"/>
                      <a:chOff x="914400" y="1447800"/>
                      <a:chExt cx="2895600" cy="152400"/>
                    </a:xfrm>
                  </p:grpSpPr>
                  <p:grpSp>
                    <p:nvGrpSpPr>
                      <p:cNvPr id="15" name="Group 56"/>
                      <p:cNvGrpSpPr/>
                      <p:nvPr/>
                    </p:nvGrpSpPr>
                    <p:grpSpPr>
                      <a:xfrm>
                        <a:off x="914400" y="1447800"/>
                        <a:ext cx="1066800" cy="152400"/>
                        <a:chOff x="914400" y="1447800"/>
                        <a:chExt cx="1066800" cy="152400"/>
                      </a:xfrm>
                    </p:grpSpPr>
                    <p:sp>
                      <p:nvSpPr>
                        <p:cNvPr id="83" name="Oval 8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Oval 8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 name="Group 57"/>
                      <p:cNvGrpSpPr/>
                      <p:nvPr/>
                    </p:nvGrpSpPr>
                    <p:grpSpPr>
                      <a:xfrm>
                        <a:off x="2743200" y="1447800"/>
                        <a:ext cx="1066800" cy="152400"/>
                        <a:chOff x="914400" y="1447800"/>
                        <a:chExt cx="1066800" cy="152400"/>
                      </a:xfrm>
                    </p:grpSpPr>
                    <p:sp>
                      <p:nvSpPr>
                        <p:cNvPr id="81" name="Oval 80"/>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Oval 81"/>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7" name="Group 61"/>
                    <p:cNvGrpSpPr/>
                    <p:nvPr/>
                  </p:nvGrpSpPr>
                  <p:grpSpPr>
                    <a:xfrm>
                      <a:off x="914400" y="1447800"/>
                      <a:ext cx="2895600" cy="152400"/>
                      <a:chOff x="914400" y="1447800"/>
                      <a:chExt cx="2895600" cy="152400"/>
                    </a:xfrm>
                  </p:grpSpPr>
                  <p:grpSp>
                    <p:nvGrpSpPr>
                      <p:cNvPr id="18" name="Group 56"/>
                      <p:cNvGrpSpPr/>
                      <p:nvPr/>
                    </p:nvGrpSpPr>
                    <p:grpSpPr>
                      <a:xfrm>
                        <a:off x="914400" y="1447800"/>
                        <a:ext cx="1066800" cy="152400"/>
                        <a:chOff x="914400" y="1447800"/>
                        <a:chExt cx="1066800" cy="152400"/>
                      </a:xfrm>
                    </p:grpSpPr>
                    <p:sp>
                      <p:nvSpPr>
                        <p:cNvPr id="77" name="Oval 76"/>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Oval 77"/>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9" name="Group 57"/>
                      <p:cNvGrpSpPr/>
                      <p:nvPr/>
                    </p:nvGrpSpPr>
                    <p:grpSpPr>
                      <a:xfrm>
                        <a:off x="2743200" y="1447800"/>
                        <a:ext cx="1066800" cy="152400"/>
                        <a:chOff x="914400" y="1447800"/>
                        <a:chExt cx="1066800" cy="152400"/>
                      </a:xfrm>
                    </p:grpSpPr>
                    <p:sp>
                      <p:nvSpPr>
                        <p:cNvPr id="75" name="Oval 74"/>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Oval 75"/>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grpSp>
              <p:nvGrpSpPr>
                <p:cNvPr id="20" name="Group 85"/>
                <p:cNvGrpSpPr/>
                <p:nvPr/>
              </p:nvGrpSpPr>
              <p:grpSpPr>
                <a:xfrm>
                  <a:off x="4572000" y="1447800"/>
                  <a:ext cx="2895600" cy="2895600"/>
                  <a:chOff x="914400" y="1447800"/>
                  <a:chExt cx="2895600" cy="2895600"/>
                </a:xfrm>
              </p:grpSpPr>
              <p:grpSp>
                <p:nvGrpSpPr>
                  <p:cNvPr id="21" name="Group 68"/>
                  <p:cNvGrpSpPr/>
                  <p:nvPr/>
                </p:nvGrpSpPr>
                <p:grpSpPr>
                  <a:xfrm>
                    <a:off x="914400" y="1447800"/>
                    <a:ext cx="2895600" cy="1066800"/>
                    <a:chOff x="914400" y="1447800"/>
                    <a:chExt cx="2895600" cy="1066800"/>
                  </a:xfrm>
                </p:grpSpPr>
                <p:grpSp>
                  <p:nvGrpSpPr>
                    <p:cNvPr id="22" name="Group 60"/>
                    <p:cNvGrpSpPr/>
                    <p:nvPr/>
                  </p:nvGrpSpPr>
                  <p:grpSpPr>
                    <a:xfrm>
                      <a:off x="914400" y="2362200"/>
                      <a:ext cx="2895600" cy="152400"/>
                      <a:chOff x="914400" y="1447800"/>
                      <a:chExt cx="2895600" cy="152400"/>
                    </a:xfrm>
                  </p:grpSpPr>
                  <p:grpSp>
                    <p:nvGrpSpPr>
                      <p:cNvPr id="23" name="Group 56"/>
                      <p:cNvGrpSpPr/>
                      <p:nvPr/>
                    </p:nvGrpSpPr>
                    <p:grpSpPr>
                      <a:xfrm>
                        <a:off x="914400" y="1447800"/>
                        <a:ext cx="1066800" cy="152400"/>
                        <a:chOff x="914400" y="1447800"/>
                        <a:chExt cx="1066800" cy="152400"/>
                      </a:xfrm>
                    </p:grpSpPr>
                    <p:sp>
                      <p:nvSpPr>
                        <p:cNvPr id="115" name="Oval 114"/>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 name="Oval 115"/>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4" name="Group 57"/>
                      <p:cNvGrpSpPr/>
                      <p:nvPr/>
                    </p:nvGrpSpPr>
                    <p:grpSpPr>
                      <a:xfrm>
                        <a:off x="2743200" y="1447800"/>
                        <a:ext cx="1066800" cy="152400"/>
                        <a:chOff x="914400" y="1447800"/>
                        <a:chExt cx="1066800" cy="152400"/>
                      </a:xfrm>
                    </p:grpSpPr>
                    <p:sp>
                      <p:nvSpPr>
                        <p:cNvPr id="113" name="Oval 11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Oval 11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25" name="Group 61"/>
                    <p:cNvGrpSpPr/>
                    <p:nvPr/>
                  </p:nvGrpSpPr>
                  <p:grpSpPr>
                    <a:xfrm>
                      <a:off x="914400" y="1447800"/>
                      <a:ext cx="2895600" cy="152400"/>
                      <a:chOff x="914400" y="1447800"/>
                      <a:chExt cx="2895600" cy="152400"/>
                    </a:xfrm>
                  </p:grpSpPr>
                  <p:grpSp>
                    <p:nvGrpSpPr>
                      <p:cNvPr id="26" name="Group 56"/>
                      <p:cNvGrpSpPr/>
                      <p:nvPr/>
                    </p:nvGrpSpPr>
                    <p:grpSpPr>
                      <a:xfrm>
                        <a:off x="914400" y="1447800"/>
                        <a:ext cx="1066800" cy="152400"/>
                        <a:chOff x="914400" y="1447800"/>
                        <a:chExt cx="1066800" cy="152400"/>
                      </a:xfrm>
                    </p:grpSpPr>
                    <p:sp>
                      <p:nvSpPr>
                        <p:cNvPr id="109" name="Oval 108"/>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Oval 109"/>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7" name="Group 57"/>
                      <p:cNvGrpSpPr/>
                      <p:nvPr/>
                    </p:nvGrpSpPr>
                    <p:grpSpPr>
                      <a:xfrm>
                        <a:off x="2743200" y="1447800"/>
                        <a:ext cx="1066800" cy="152400"/>
                        <a:chOff x="914400" y="1447800"/>
                        <a:chExt cx="1066800" cy="152400"/>
                      </a:xfrm>
                    </p:grpSpPr>
                    <p:sp>
                      <p:nvSpPr>
                        <p:cNvPr id="107" name="Oval 106"/>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Oval 107"/>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nvGrpSpPr>
                  <p:cNvPr id="28" name="Group 69"/>
                  <p:cNvGrpSpPr/>
                  <p:nvPr/>
                </p:nvGrpSpPr>
                <p:grpSpPr>
                  <a:xfrm>
                    <a:off x="914400" y="3276600"/>
                    <a:ext cx="2895600" cy="1066800"/>
                    <a:chOff x="914400" y="1447800"/>
                    <a:chExt cx="2895600" cy="1066800"/>
                  </a:xfrm>
                </p:grpSpPr>
                <p:grpSp>
                  <p:nvGrpSpPr>
                    <p:cNvPr id="29" name="Group 60"/>
                    <p:cNvGrpSpPr/>
                    <p:nvPr/>
                  </p:nvGrpSpPr>
                  <p:grpSpPr>
                    <a:xfrm>
                      <a:off x="914400" y="2362200"/>
                      <a:ext cx="2895600" cy="152400"/>
                      <a:chOff x="914400" y="1447800"/>
                      <a:chExt cx="2895600" cy="152400"/>
                    </a:xfrm>
                  </p:grpSpPr>
                  <p:grpSp>
                    <p:nvGrpSpPr>
                      <p:cNvPr id="30" name="Group 56"/>
                      <p:cNvGrpSpPr/>
                      <p:nvPr/>
                    </p:nvGrpSpPr>
                    <p:grpSpPr>
                      <a:xfrm>
                        <a:off x="914400" y="1447800"/>
                        <a:ext cx="1066800" cy="152400"/>
                        <a:chOff x="914400" y="1447800"/>
                        <a:chExt cx="1066800" cy="152400"/>
                      </a:xfrm>
                    </p:grpSpPr>
                    <p:sp>
                      <p:nvSpPr>
                        <p:cNvPr id="101" name="Oval 100"/>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Oval 101"/>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1" name="Group 57"/>
                      <p:cNvGrpSpPr/>
                      <p:nvPr/>
                    </p:nvGrpSpPr>
                    <p:grpSpPr>
                      <a:xfrm>
                        <a:off x="2743200" y="1447800"/>
                        <a:ext cx="1066800" cy="152400"/>
                        <a:chOff x="914400" y="1447800"/>
                        <a:chExt cx="1066800" cy="152400"/>
                      </a:xfrm>
                    </p:grpSpPr>
                    <p:sp>
                      <p:nvSpPr>
                        <p:cNvPr id="99" name="Oval 98"/>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Oval 99"/>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32" name="Group 61"/>
                    <p:cNvGrpSpPr/>
                    <p:nvPr/>
                  </p:nvGrpSpPr>
                  <p:grpSpPr>
                    <a:xfrm>
                      <a:off x="914400" y="1447800"/>
                      <a:ext cx="2895600" cy="152400"/>
                      <a:chOff x="914400" y="1447800"/>
                      <a:chExt cx="2895600" cy="152400"/>
                    </a:xfrm>
                  </p:grpSpPr>
                  <p:grpSp>
                    <p:nvGrpSpPr>
                      <p:cNvPr id="33" name="Group 56"/>
                      <p:cNvGrpSpPr/>
                      <p:nvPr/>
                    </p:nvGrpSpPr>
                    <p:grpSpPr>
                      <a:xfrm>
                        <a:off x="914400" y="1447800"/>
                        <a:ext cx="1066800" cy="152400"/>
                        <a:chOff x="914400" y="1447800"/>
                        <a:chExt cx="1066800" cy="152400"/>
                      </a:xfrm>
                    </p:grpSpPr>
                    <p:sp>
                      <p:nvSpPr>
                        <p:cNvPr id="95" name="Oval 94"/>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Oval 95"/>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4" name="Group 57"/>
                      <p:cNvGrpSpPr/>
                      <p:nvPr/>
                    </p:nvGrpSpPr>
                    <p:grpSpPr>
                      <a:xfrm>
                        <a:off x="2743200" y="1447800"/>
                        <a:ext cx="1066800" cy="152400"/>
                        <a:chOff x="914400" y="1447800"/>
                        <a:chExt cx="1066800" cy="152400"/>
                      </a:xfrm>
                    </p:grpSpPr>
                    <p:sp>
                      <p:nvSpPr>
                        <p:cNvPr id="93" name="Oval 9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Oval 9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grpSp>
          <p:grpSp>
            <p:nvGrpSpPr>
              <p:cNvPr id="35" name="Group 117"/>
              <p:cNvGrpSpPr/>
              <p:nvPr/>
            </p:nvGrpSpPr>
            <p:grpSpPr>
              <a:xfrm>
                <a:off x="8229600" y="1447800"/>
                <a:ext cx="6553200" cy="2895600"/>
                <a:chOff x="914400" y="1447800"/>
                <a:chExt cx="6553200" cy="2895600"/>
              </a:xfrm>
            </p:grpSpPr>
            <p:grpSp>
              <p:nvGrpSpPr>
                <p:cNvPr id="36" name="Group 84"/>
                <p:cNvGrpSpPr/>
                <p:nvPr/>
              </p:nvGrpSpPr>
              <p:grpSpPr>
                <a:xfrm>
                  <a:off x="914400" y="1447800"/>
                  <a:ext cx="2895600" cy="2895600"/>
                  <a:chOff x="914400" y="1447800"/>
                  <a:chExt cx="2895600" cy="2895600"/>
                </a:xfrm>
              </p:grpSpPr>
              <p:grpSp>
                <p:nvGrpSpPr>
                  <p:cNvPr id="37" name="Group 68"/>
                  <p:cNvGrpSpPr/>
                  <p:nvPr/>
                </p:nvGrpSpPr>
                <p:grpSpPr>
                  <a:xfrm>
                    <a:off x="914400" y="1447800"/>
                    <a:ext cx="2895600" cy="1066800"/>
                    <a:chOff x="914400" y="1447800"/>
                    <a:chExt cx="2895600" cy="1066800"/>
                  </a:xfrm>
                </p:grpSpPr>
                <p:grpSp>
                  <p:nvGrpSpPr>
                    <p:cNvPr id="38" name="Group 60"/>
                    <p:cNvGrpSpPr/>
                    <p:nvPr/>
                  </p:nvGrpSpPr>
                  <p:grpSpPr>
                    <a:xfrm>
                      <a:off x="914400" y="2362200"/>
                      <a:ext cx="2895600" cy="152400"/>
                      <a:chOff x="914400" y="1447800"/>
                      <a:chExt cx="2895600" cy="152400"/>
                    </a:xfrm>
                  </p:grpSpPr>
                  <p:grpSp>
                    <p:nvGrpSpPr>
                      <p:cNvPr id="39" name="Group 56"/>
                      <p:cNvGrpSpPr/>
                      <p:nvPr/>
                    </p:nvGrpSpPr>
                    <p:grpSpPr>
                      <a:xfrm>
                        <a:off x="914400" y="1447800"/>
                        <a:ext cx="1066800" cy="152400"/>
                        <a:chOff x="914400" y="1447800"/>
                        <a:chExt cx="1066800" cy="152400"/>
                      </a:xfrm>
                    </p:grpSpPr>
                    <p:sp>
                      <p:nvSpPr>
                        <p:cNvPr id="179" name="Oval 5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0" name="Oval 5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0" name="Group 57"/>
                      <p:cNvGrpSpPr/>
                      <p:nvPr/>
                    </p:nvGrpSpPr>
                    <p:grpSpPr>
                      <a:xfrm>
                        <a:off x="2743200" y="1447800"/>
                        <a:ext cx="1066800" cy="152400"/>
                        <a:chOff x="914400" y="1447800"/>
                        <a:chExt cx="1066800" cy="152400"/>
                      </a:xfrm>
                    </p:grpSpPr>
                    <p:sp>
                      <p:nvSpPr>
                        <p:cNvPr id="177" name="Oval 58"/>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8" name="Oval 59"/>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41" name="Group 61"/>
                    <p:cNvGrpSpPr/>
                    <p:nvPr/>
                  </p:nvGrpSpPr>
                  <p:grpSpPr>
                    <a:xfrm>
                      <a:off x="914400" y="1447800"/>
                      <a:ext cx="2895600" cy="152400"/>
                      <a:chOff x="914400" y="1447800"/>
                      <a:chExt cx="2895600" cy="152400"/>
                    </a:xfrm>
                  </p:grpSpPr>
                  <p:grpSp>
                    <p:nvGrpSpPr>
                      <p:cNvPr id="42" name="Group 56"/>
                      <p:cNvGrpSpPr/>
                      <p:nvPr/>
                    </p:nvGrpSpPr>
                    <p:grpSpPr>
                      <a:xfrm>
                        <a:off x="914400" y="1447800"/>
                        <a:ext cx="1066800" cy="152400"/>
                        <a:chOff x="914400" y="1447800"/>
                        <a:chExt cx="1066800" cy="152400"/>
                      </a:xfrm>
                    </p:grpSpPr>
                    <p:sp>
                      <p:nvSpPr>
                        <p:cNvPr id="173" name="Oval 17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4" name="Oval 17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3" name="Group 57"/>
                      <p:cNvGrpSpPr/>
                      <p:nvPr/>
                    </p:nvGrpSpPr>
                    <p:grpSpPr>
                      <a:xfrm>
                        <a:off x="2743200" y="1447800"/>
                        <a:ext cx="1066800" cy="152400"/>
                        <a:chOff x="914400" y="1447800"/>
                        <a:chExt cx="1066800" cy="152400"/>
                      </a:xfrm>
                    </p:grpSpPr>
                    <p:sp>
                      <p:nvSpPr>
                        <p:cNvPr id="171" name="Oval 170"/>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2" name="Oval 171"/>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nvGrpSpPr>
                  <p:cNvPr id="44" name="Group 69"/>
                  <p:cNvGrpSpPr/>
                  <p:nvPr/>
                </p:nvGrpSpPr>
                <p:grpSpPr>
                  <a:xfrm>
                    <a:off x="914400" y="3276600"/>
                    <a:ext cx="2895600" cy="1066800"/>
                    <a:chOff x="914400" y="1447800"/>
                    <a:chExt cx="2895600" cy="1066800"/>
                  </a:xfrm>
                </p:grpSpPr>
                <p:grpSp>
                  <p:nvGrpSpPr>
                    <p:cNvPr id="45" name="Group 60"/>
                    <p:cNvGrpSpPr/>
                    <p:nvPr/>
                  </p:nvGrpSpPr>
                  <p:grpSpPr>
                    <a:xfrm>
                      <a:off x="914400" y="2362200"/>
                      <a:ext cx="2895600" cy="152400"/>
                      <a:chOff x="914400" y="1447800"/>
                      <a:chExt cx="2895600" cy="152400"/>
                    </a:xfrm>
                  </p:grpSpPr>
                  <p:grpSp>
                    <p:nvGrpSpPr>
                      <p:cNvPr id="46" name="Group 56"/>
                      <p:cNvGrpSpPr/>
                      <p:nvPr/>
                    </p:nvGrpSpPr>
                    <p:grpSpPr>
                      <a:xfrm>
                        <a:off x="914400" y="1447800"/>
                        <a:ext cx="1066800" cy="152400"/>
                        <a:chOff x="914400" y="1447800"/>
                        <a:chExt cx="1066800" cy="152400"/>
                      </a:xfrm>
                    </p:grpSpPr>
                    <p:sp>
                      <p:nvSpPr>
                        <p:cNvPr id="165" name="Oval 164"/>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6" name="Oval 165"/>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7" name="Group 57"/>
                      <p:cNvGrpSpPr/>
                      <p:nvPr/>
                    </p:nvGrpSpPr>
                    <p:grpSpPr>
                      <a:xfrm>
                        <a:off x="2743200" y="1447800"/>
                        <a:ext cx="1066800" cy="152400"/>
                        <a:chOff x="914400" y="1447800"/>
                        <a:chExt cx="1066800" cy="152400"/>
                      </a:xfrm>
                    </p:grpSpPr>
                    <p:sp>
                      <p:nvSpPr>
                        <p:cNvPr id="163" name="Oval 16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4" name="Oval 16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48" name="Group 61"/>
                    <p:cNvGrpSpPr/>
                    <p:nvPr/>
                  </p:nvGrpSpPr>
                  <p:grpSpPr>
                    <a:xfrm>
                      <a:off x="914400" y="1447800"/>
                      <a:ext cx="2895600" cy="152400"/>
                      <a:chOff x="914400" y="1447800"/>
                      <a:chExt cx="2895600" cy="152400"/>
                    </a:xfrm>
                  </p:grpSpPr>
                  <p:grpSp>
                    <p:nvGrpSpPr>
                      <p:cNvPr id="49" name="Group 56"/>
                      <p:cNvGrpSpPr/>
                      <p:nvPr/>
                    </p:nvGrpSpPr>
                    <p:grpSpPr>
                      <a:xfrm>
                        <a:off x="914400" y="1447800"/>
                        <a:ext cx="1066800" cy="152400"/>
                        <a:chOff x="914400" y="1447800"/>
                        <a:chExt cx="1066800" cy="152400"/>
                      </a:xfrm>
                    </p:grpSpPr>
                    <p:sp>
                      <p:nvSpPr>
                        <p:cNvPr id="159" name="Oval 158"/>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0" name="Oval 159"/>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0" name="Group 57"/>
                      <p:cNvGrpSpPr/>
                      <p:nvPr/>
                    </p:nvGrpSpPr>
                    <p:grpSpPr>
                      <a:xfrm>
                        <a:off x="2743200" y="1447800"/>
                        <a:ext cx="1066800" cy="152400"/>
                        <a:chOff x="914400" y="1447800"/>
                        <a:chExt cx="1066800" cy="152400"/>
                      </a:xfrm>
                    </p:grpSpPr>
                    <p:sp>
                      <p:nvSpPr>
                        <p:cNvPr id="157" name="Oval 156"/>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8" name="Oval 157"/>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grpSp>
              <p:nvGrpSpPr>
                <p:cNvPr id="51" name="Group 85"/>
                <p:cNvGrpSpPr/>
                <p:nvPr/>
              </p:nvGrpSpPr>
              <p:grpSpPr>
                <a:xfrm>
                  <a:off x="4572000" y="1447800"/>
                  <a:ext cx="2895600" cy="2895600"/>
                  <a:chOff x="914400" y="1447800"/>
                  <a:chExt cx="2895600" cy="2895600"/>
                </a:xfrm>
              </p:grpSpPr>
              <p:grpSp>
                <p:nvGrpSpPr>
                  <p:cNvPr id="52" name="Group 68"/>
                  <p:cNvGrpSpPr/>
                  <p:nvPr/>
                </p:nvGrpSpPr>
                <p:grpSpPr>
                  <a:xfrm>
                    <a:off x="914400" y="1447800"/>
                    <a:ext cx="2895600" cy="1066800"/>
                    <a:chOff x="914400" y="1447800"/>
                    <a:chExt cx="2895600" cy="1066800"/>
                  </a:xfrm>
                </p:grpSpPr>
                <p:grpSp>
                  <p:nvGrpSpPr>
                    <p:cNvPr id="55" name="Group 60"/>
                    <p:cNvGrpSpPr/>
                    <p:nvPr/>
                  </p:nvGrpSpPr>
                  <p:grpSpPr>
                    <a:xfrm>
                      <a:off x="914400" y="2362200"/>
                      <a:ext cx="2895600" cy="152400"/>
                      <a:chOff x="914400" y="1447800"/>
                      <a:chExt cx="2895600" cy="152400"/>
                    </a:xfrm>
                  </p:grpSpPr>
                  <p:grpSp>
                    <p:nvGrpSpPr>
                      <p:cNvPr id="56" name="Group 56"/>
                      <p:cNvGrpSpPr/>
                      <p:nvPr/>
                    </p:nvGrpSpPr>
                    <p:grpSpPr>
                      <a:xfrm>
                        <a:off x="914400" y="1447800"/>
                        <a:ext cx="1066800" cy="152400"/>
                        <a:chOff x="914400" y="1447800"/>
                        <a:chExt cx="1066800" cy="152400"/>
                      </a:xfrm>
                    </p:grpSpPr>
                    <p:sp>
                      <p:nvSpPr>
                        <p:cNvPr id="149" name="Oval 148"/>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0" name="Oval 149"/>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7" name="Group 57"/>
                      <p:cNvGrpSpPr/>
                      <p:nvPr/>
                    </p:nvGrpSpPr>
                    <p:grpSpPr>
                      <a:xfrm>
                        <a:off x="2743200" y="1447800"/>
                        <a:ext cx="1066800" cy="152400"/>
                        <a:chOff x="914400" y="1447800"/>
                        <a:chExt cx="1066800" cy="152400"/>
                      </a:xfrm>
                    </p:grpSpPr>
                    <p:sp>
                      <p:nvSpPr>
                        <p:cNvPr id="147" name="Oval 146"/>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8" name="Oval 147"/>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58" name="Group 61"/>
                    <p:cNvGrpSpPr/>
                    <p:nvPr/>
                  </p:nvGrpSpPr>
                  <p:grpSpPr>
                    <a:xfrm>
                      <a:off x="914400" y="1447800"/>
                      <a:ext cx="2895600" cy="152400"/>
                      <a:chOff x="914400" y="1447800"/>
                      <a:chExt cx="2895600" cy="152400"/>
                    </a:xfrm>
                  </p:grpSpPr>
                  <p:grpSp>
                    <p:nvGrpSpPr>
                      <p:cNvPr id="61" name="Group 56"/>
                      <p:cNvGrpSpPr/>
                      <p:nvPr/>
                    </p:nvGrpSpPr>
                    <p:grpSpPr>
                      <a:xfrm>
                        <a:off x="914400" y="1447800"/>
                        <a:ext cx="1066800" cy="152400"/>
                        <a:chOff x="914400" y="1447800"/>
                        <a:chExt cx="1066800" cy="152400"/>
                      </a:xfrm>
                    </p:grpSpPr>
                    <p:sp>
                      <p:nvSpPr>
                        <p:cNvPr id="143" name="Oval 14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4" name="Oval 14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2" name="Group 57"/>
                      <p:cNvGrpSpPr/>
                      <p:nvPr/>
                    </p:nvGrpSpPr>
                    <p:grpSpPr>
                      <a:xfrm>
                        <a:off x="2743200" y="1447800"/>
                        <a:ext cx="1066800" cy="152400"/>
                        <a:chOff x="914400" y="1447800"/>
                        <a:chExt cx="1066800" cy="152400"/>
                      </a:xfrm>
                    </p:grpSpPr>
                    <p:sp>
                      <p:nvSpPr>
                        <p:cNvPr id="141" name="Oval 140"/>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2" name="Oval 141"/>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nvGrpSpPr>
                  <p:cNvPr id="63" name="Group 69"/>
                  <p:cNvGrpSpPr/>
                  <p:nvPr/>
                </p:nvGrpSpPr>
                <p:grpSpPr>
                  <a:xfrm>
                    <a:off x="914400" y="3276600"/>
                    <a:ext cx="2895600" cy="1066800"/>
                    <a:chOff x="914400" y="1447800"/>
                    <a:chExt cx="2895600" cy="1066800"/>
                  </a:xfrm>
                </p:grpSpPr>
                <p:grpSp>
                  <p:nvGrpSpPr>
                    <p:cNvPr id="64" name="Group 60"/>
                    <p:cNvGrpSpPr/>
                    <p:nvPr/>
                  </p:nvGrpSpPr>
                  <p:grpSpPr>
                    <a:xfrm>
                      <a:off x="914400" y="2362200"/>
                      <a:ext cx="2895600" cy="152400"/>
                      <a:chOff x="914400" y="1447800"/>
                      <a:chExt cx="2895600" cy="152400"/>
                    </a:xfrm>
                  </p:grpSpPr>
                  <p:grpSp>
                    <p:nvGrpSpPr>
                      <p:cNvPr id="69" name="Group 56"/>
                      <p:cNvGrpSpPr/>
                      <p:nvPr/>
                    </p:nvGrpSpPr>
                    <p:grpSpPr>
                      <a:xfrm>
                        <a:off x="914400" y="1447800"/>
                        <a:ext cx="1066800" cy="152400"/>
                        <a:chOff x="914400" y="1447800"/>
                        <a:chExt cx="1066800" cy="152400"/>
                      </a:xfrm>
                    </p:grpSpPr>
                    <p:sp>
                      <p:nvSpPr>
                        <p:cNvPr id="135" name="Oval 134"/>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6" name="Oval 135"/>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0" name="Group 57"/>
                      <p:cNvGrpSpPr/>
                      <p:nvPr/>
                    </p:nvGrpSpPr>
                    <p:grpSpPr>
                      <a:xfrm>
                        <a:off x="2743200" y="1447800"/>
                        <a:ext cx="1066800" cy="152400"/>
                        <a:chOff x="914400" y="1447800"/>
                        <a:chExt cx="1066800" cy="152400"/>
                      </a:xfrm>
                    </p:grpSpPr>
                    <p:sp>
                      <p:nvSpPr>
                        <p:cNvPr id="133" name="Oval 13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 name="Oval 13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71" name="Group 61"/>
                    <p:cNvGrpSpPr/>
                    <p:nvPr/>
                  </p:nvGrpSpPr>
                  <p:grpSpPr>
                    <a:xfrm>
                      <a:off x="914400" y="1447800"/>
                      <a:ext cx="2895600" cy="152400"/>
                      <a:chOff x="914400" y="1447800"/>
                      <a:chExt cx="2895600" cy="152400"/>
                    </a:xfrm>
                  </p:grpSpPr>
                  <p:grpSp>
                    <p:nvGrpSpPr>
                      <p:cNvPr id="72" name="Group 56"/>
                      <p:cNvGrpSpPr/>
                      <p:nvPr/>
                    </p:nvGrpSpPr>
                    <p:grpSpPr>
                      <a:xfrm>
                        <a:off x="914400" y="1447800"/>
                        <a:ext cx="1066800" cy="152400"/>
                        <a:chOff x="914400" y="1447800"/>
                        <a:chExt cx="1066800" cy="152400"/>
                      </a:xfrm>
                    </p:grpSpPr>
                    <p:sp>
                      <p:nvSpPr>
                        <p:cNvPr id="129" name="Oval 128"/>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 name="Oval 129"/>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3" name="Group 57"/>
                      <p:cNvGrpSpPr/>
                      <p:nvPr/>
                    </p:nvGrpSpPr>
                    <p:grpSpPr>
                      <a:xfrm>
                        <a:off x="2743200" y="1447800"/>
                        <a:ext cx="1066800" cy="152400"/>
                        <a:chOff x="914400" y="1447800"/>
                        <a:chExt cx="1066800" cy="152400"/>
                      </a:xfrm>
                    </p:grpSpPr>
                    <p:sp>
                      <p:nvSpPr>
                        <p:cNvPr id="127" name="Oval 126"/>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8" name="Oval 127"/>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grpSp>
        </p:grpSp>
        <p:grpSp>
          <p:nvGrpSpPr>
            <p:cNvPr id="74" name="Group 181"/>
            <p:cNvGrpSpPr/>
            <p:nvPr/>
          </p:nvGrpSpPr>
          <p:grpSpPr>
            <a:xfrm>
              <a:off x="5486400" y="1447800"/>
              <a:ext cx="13868400" cy="2895600"/>
              <a:chOff x="914400" y="1447800"/>
              <a:chExt cx="13868400" cy="2895600"/>
            </a:xfrm>
          </p:grpSpPr>
          <p:grpSp>
            <p:nvGrpSpPr>
              <p:cNvPr id="79" name="Group 116"/>
              <p:cNvGrpSpPr/>
              <p:nvPr/>
            </p:nvGrpSpPr>
            <p:grpSpPr>
              <a:xfrm>
                <a:off x="914400" y="1447800"/>
                <a:ext cx="6553200" cy="2895600"/>
                <a:chOff x="914400" y="1447800"/>
                <a:chExt cx="6553200" cy="2895600"/>
              </a:xfrm>
            </p:grpSpPr>
            <p:grpSp>
              <p:nvGrpSpPr>
                <p:cNvPr id="80" name="Group 84"/>
                <p:cNvGrpSpPr/>
                <p:nvPr/>
              </p:nvGrpSpPr>
              <p:grpSpPr>
                <a:xfrm>
                  <a:off x="914400" y="1447800"/>
                  <a:ext cx="2895600" cy="2895600"/>
                  <a:chOff x="914400" y="1447800"/>
                  <a:chExt cx="2895600" cy="2895600"/>
                </a:xfrm>
              </p:grpSpPr>
              <p:grpSp>
                <p:nvGrpSpPr>
                  <p:cNvPr id="85" name="Group 68"/>
                  <p:cNvGrpSpPr/>
                  <p:nvPr/>
                </p:nvGrpSpPr>
                <p:grpSpPr>
                  <a:xfrm>
                    <a:off x="914400" y="1447800"/>
                    <a:ext cx="2895600" cy="1066800"/>
                    <a:chOff x="914400" y="1447800"/>
                    <a:chExt cx="2895600" cy="1066800"/>
                  </a:xfrm>
                </p:grpSpPr>
                <p:grpSp>
                  <p:nvGrpSpPr>
                    <p:cNvPr id="86" name="Group 60"/>
                    <p:cNvGrpSpPr/>
                    <p:nvPr/>
                  </p:nvGrpSpPr>
                  <p:grpSpPr>
                    <a:xfrm>
                      <a:off x="914400" y="2362200"/>
                      <a:ext cx="2895600" cy="152400"/>
                      <a:chOff x="914400" y="1447800"/>
                      <a:chExt cx="2895600" cy="152400"/>
                    </a:xfrm>
                  </p:grpSpPr>
                  <p:grpSp>
                    <p:nvGrpSpPr>
                      <p:cNvPr id="87" name="Group 56"/>
                      <p:cNvGrpSpPr/>
                      <p:nvPr/>
                    </p:nvGrpSpPr>
                    <p:grpSpPr>
                      <a:xfrm>
                        <a:off x="914400" y="1447800"/>
                        <a:ext cx="1066800" cy="152400"/>
                        <a:chOff x="914400" y="1447800"/>
                        <a:chExt cx="1066800" cy="152400"/>
                      </a:xfrm>
                    </p:grpSpPr>
                    <p:sp>
                      <p:nvSpPr>
                        <p:cNvPr id="307" name="Oval 5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 name="Oval 5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8" name="Group 57"/>
                      <p:cNvGrpSpPr/>
                      <p:nvPr/>
                    </p:nvGrpSpPr>
                    <p:grpSpPr>
                      <a:xfrm>
                        <a:off x="2743200" y="1447800"/>
                        <a:ext cx="1066800" cy="152400"/>
                        <a:chOff x="914400" y="1447800"/>
                        <a:chExt cx="1066800" cy="152400"/>
                      </a:xfrm>
                    </p:grpSpPr>
                    <p:sp>
                      <p:nvSpPr>
                        <p:cNvPr id="305" name="Oval 304"/>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6" name="Oval 305"/>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89" name="Group 61"/>
                    <p:cNvGrpSpPr/>
                    <p:nvPr/>
                  </p:nvGrpSpPr>
                  <p:grpSpPr>
                    <a:xfrm>
                      <a:off x="914400" y="1447800"/>
                      <a:ext cx="2895600" cy="152400"/>
                      <a:chOff x="914400" y="1447800"/>
                      <a:chExt cx="2895600" cy="152400"/>
                    </a:xfrm>
                  </p:grpSpPr>
                  <p:grpSp>
                    <p:nvGrpSpPr>
                      <p:cNvPr id="90" name="Group 56"/>
                      <p:cNvGrpSpPr/>
                      <p:nvPr/>
                    </p:nvGrpSpPr>
                    <p:grpSpPr>
                      <a:xfrm>
                        <a:off x="914400" y="1447800"/>
                        <a:ext cx="1066800" cy="152400"/>
                        <a:chOff x="914400" y="1447800"/>
                        <a:chExt cx="1066800" cy="152400"/>
                      </a:xfrm>
                    </p:grpSpPr>
                    <p:sp>
                      <p:nvSpPr>
                        <p:cNvPr id="301" name="Oval 66"/>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2" name="Oval 67"/>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1" name="Group 57"/>
                      <p:cNvGrpSpPr/>
                      <p:nvPr/>
                    </p:nvGrpSpPr>
                    <p:grpSpPr>
                      <a:xfrm>
                        <a:off x="2743200" y="1447800"/>
                        <a:ext cx="1066800" cy="152400"/>
                        <a:chOff x="914400" y="1447800"/>
                        <a:chExt cx="1066800" cy="152400"/>
                      </a:xfrm>
                    </p:grpSpPr>
                    <p:sp>
                      <p:nvSpPr>
                        <p:cNvPr id="299" name="Oval 298"/>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0" name="Oval 299"/>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nvGrpSpPr>
                  <p:cNvPr id="92" name="Group 69"/>
                  <p:cNvGrpSpPr/>
                  <p:nvPr/>
                </p:nvGrpSpPr>
                <p:grpSpPr>
                  <a:xfrm>
                    <a:off x="914400" y="3276600"/>
                    <a:ext cx="2895600" cy="1066800"/>
                    <a:chOff x="914400" y="1447800"/>
                    <a:chExt cx="2895600" cy="1066800"/>
                  </a:xfrm>
                </p:grpSpPr>
                <p:grpSp>
                  <p:nvGrpSpPr>
                    <p:cNvPr id="97" name="Group 60"/>
                    <p:cNvGrpSpPr/>
                    <p:nvPr/>
                  </p:nvGrpSpPr>
                  <p:grpSpPr>
                    <a:xfrm>
                      <a:off x="914400" y="2362200"/>
                      <a:ext cx="2895600" cy="152400"/>
                      <a:chOff x="914400" y="1447800"/>
                      <a:chExt cx="2895600" cy="152400"/>
                    </a:xfrm>
                  </p:grpSpPr>
                  <p:grpSp>
                    <p:nvGrpSpPr>
                      <p:cNvPr id="98" name="Group 56"/>
                      <p:cNvGrpSpPr/>
                      <p:nvPr/>
                    </p:nvGrpSpPr>
                    <p:grpSpPr>
                      <a:xfrm>
                        <a:off x="914400" y="1447800"/>
                        <a:ext cx="1066800" cy="152400"/>
                        <a:chOff x="914400" y="1447800"/>
                        <a:chExt cx="1066800" cy="152400"/>
                      </a:xfrm>
                    </p:grpSpPr>
                    <p:sp>
                      <p:nvSpPr>
                        <p:cNvPr id="293" name="Oval 29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4" name="Oval 29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3" name="Group 57"/>
                      <p:cNvGrpSpPr/>
                      <p:nvPr/>
                    </p:nvGrpSpPr>
                    <p:grpSpPr>
                      <a:xfrm>
                        <a:off x="2743200" y="1447800"/>
                        <a:ext cx="1066800" cy="152400"/>
                        <a:chOff x="914400" y="1447800"/>
                        <a:chExt cx="1066800" cy="152400"/>
                      </a:xfrm>
                    </p:grpSpPr>
                    <p:sp>
                      <p:nvSpPr>
                        <p:cNvPr id="291" name="Oval 290"/>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2" name="Oval 291"/>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04" name="Group 61"/>
                    <p:cNvGrpSpPr/>
                    <p:nvPr/>
                  </p:nvGrpSpPr>
                  <p:grpSpPr>
                    <a:xfrm>
                      <a:off x="914400" y="1447800"/>
                      <a:ext cx="2895600" cy="152400"/>
                      <a:chOff x="914400" y="1447800"/>
                      <a:chExt cx="2895600" cy="152400"/>
                    </a:xfrm>
                  </p:grpSpPr>
                  <p:grpSp>
                    <p:nvGrpSpPr>
                      <p:cNvPr id="105" name="Group 56"/>
                      <p:cNvGrpSpPr/>
                      <p:nvPr/>
                    </p:nvGrpSpPr>
                    <p:grpSpPr>
                      <a:xfrm>
                        <a:off x="914400" y="1447800"/>
                        <a:ext cx="1066800" cy="152400"/>
                        <a:chOff x="914400" y="1447800"/>
                        <a:chExt cx="1066800" cy="152400"/>
                      </a:xfrm>
                    </p:grpSpPr>
                    <p:sp>
                      <p:nvSpPr>
                        <p:cNvPr id="287" name="Oval 286"/>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8" name="Oval 287"/>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6" name="Group 57"/>
                      <p:cNvGrpSpPr/>
                      <p:nvPr/>
                    </p:nvGrpSpPr>
                    <p:grpSpPr>
                      <a:xfrm>
                        <a:off x="2743200" y="1447800"/>
                        <a:ext cx="1066800" cy="152400"/>
                        <a:chOff x="914400" y="1447800"/>
                        <a:chExt cx="1066800" cy="152400"/>
                      </a:xfrm>
                    </p:grpSpPr>
                    <p:sp>
                      <p:nvSpPr>
                        <p:cNvPr id="285" name="Oval 284"/>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6" name="Oval 285"/>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grpSp>
              <p:nvGrpSpPr>
                <p:cNvPr id="111" name="Group 85"/>
                <p:cNvGrpSpPr/>
                <p:nvPr/>
              </p:nvGrpSpPr>
              <p:grpSpPr>
                <a:xfrm>
                  <a:off x="4572000" y="1447800"/>
                  <a:ext cx="2895600" cy="2895600"/>
                  <a:chOff x="914400" y="1447800"/>
                  <a:chExt cx="2895600" cy="2895600"/>
                </a:xfrm>
              </p:grpSpPr>
              <p:grpSp>
                <p:nvGrpSpPr>
                  <p:cNvPr id="112" name="Group 248"/>
                  <p:cNvGrpSpPr/>
                  <p:nvPr/>
                </p:nvGrpSpPr>
                <p:grpSpPr>
                  <a:xfrm>
                    <a:off x="914400" y="1447800"/>
                    <a:ext cx="2895600" cy="1066800"/>
                    <a:chOff x="914400" y="1447800"/>
                    <a:chExt cx="2895600" cy="1066800"/>
                  </a:xfrm>
                </p:grpSpPr>
                <p:grpSp>
                  <p:nvGrpSpPr>
                    <p:cNvPr id="117" name="Group 60"/>
                    <p:cNvGrpSpPr/>
                    <p:nvPr/>
                  </p:nvGrpSpPr>
                  <p:grpSpPr>
                    <a:xfrm>
                      <a:off x="914400" y="2362200"/>
                      <a:ext cx="2895600" cy="152400"/>
                      <a:chOff x="914400" y="1447800"/>
                      <a:chExt cx="2895600" cy="152400"/>
                    </a:xfrm>
                  </p:grpSpPr>
                  <p:grpSp>
                    <p:nvGrpSpPr>
                      <p:cNvPr id="118" name="Group 56"/>
                      <p:cNvGrpSpPr/>
                      <p:nvPr/>
                    </p:nvGrpSpPr>
                    <p:grpSpPr>
                      <a:xfrm>
                        <a:off x="914400" y="1447800"/>
                        <a:ext cx="1066800" cy="152400"/>
                        <a:chOff x="914400" y="1447800"/>
                        <a:chExt cx="1066800" cy="152400"/>
                      </a:xfrm>
                    </p:grpSpPr>
                    <p:sp>
                      <p:nvSpPr>
                        <p:cNvPr id="277" name="Oval 276"/>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8" name="Oval 277"/>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9" name="Group 57"/>
                      <p:cNvGrpSpPr/>
                      <p:nvPr/>
                    </p:nvGrpSpPr>
                    <p:grpSpPr>
                      <a:xfrm>
                        <a:off x="2743200" y="1447800"/>
                        <a:ext cx="1066800" cy="152400"/>
                        <a:chOff x="914400" y="1447800"/>
                        <a:chExt cx="1066800" cy="152400"/>
                      </a:xfrm>
                    </p:grpSpPr>
                    <p:sp>
                      <p:nvSpPr>
                        <p:cNvPr id="275" name="Oval 274"/>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6" name="Oval 275"/>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20" name="Group 61"/>
                    <p:cNvGrpSpPr/>
                    <p:nvPr/>
                  </p:nvGrpSpPr>
                  <p:grpSpPr>
                    <a:xfrm>
                      <a:off x="914400" y="1447800"/>
                      <a:ext cx="2895600" cy="152400"/>
                      <a:chOff x="914400" y="1447800"/>
                      <a:chExt cx="2895600" cy="152400"/>
                    </a:xfrm>
                  </p:grpSpPr>
                  <p:grpSp>
                    <p:nvGrpSpPr>
                      <p:cNvPr id="121" name="Group 56"/>
                      <p:cNvGrpSpPr/>
                      <p:nvPr/>
                    </p:nvGrpSpPr>
                    <p:grpSpPr>
                      <a:xfrm>
                        <a:off x="914400" y="1447800"/>
                        <a:ext cx="1066800" cy="152400"/>
                        <a:chOff x="914400" y="1447800"/>
                        <a:chExt cx="1066800" cy="152400"/>
                      </a:xfrm>
                    </p:grpSpPr>
                    <p:sp>
                      <p:nvSpPr>
                        <p:cNvPr id="271" name="Oval 270"/>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2" name="Oval 271"/>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22" name="Group 57"/>
                      <p:cNvGrpSpPr/>
                      <p:nvPr/>
                    </p:nvGrpSpPr>
                    <p:grpSpPr>
                      <a:xfrm>
                        <a:off x="2743200" y="1447800"/>
                        <a:ext cx="1066800" cy="152400"/>
                        <a:chOff x="914400" y="1447800"/>
                        <a:chExt cx="1066800" cy="152400"/>
                      </a:xfrm>
                    </p:grpSpPr>
                    <p:sp>
                      <p:nvSpPr>
                        <p:cNvPr id="269" name="Oval 268"/>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0" name="Oval 269"/>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nvGrpSpPr>
                  <p:cNvPr id="123" name="Group 249"/>
                  <p:cNvGrpSpPr/>
                  <p:nvPr/>
                </p:nvGrpSpPr>
                <p:grpSpPr>
                  <a:xfrm>
                    <a:off x="914400" y="3276600"/>
                    <a:ext cx="2895600" cy="1066800"/>
                    <a:chOff x="914400" y="1447800"/>
                    <a:chExt cx="2895600" cy="1066800"/>
                  </a:xfrm>
                </p:grpSpPr>
                <p:grpSp>
                  <p:nvGrpSpPr>
                    <p:cNvPr id="124" name="Group 60"/>
                    <p:cNvGrpSpPr/>
                    <p:nvPr/>
                  </p:nvGrpSpPr>
                  <p:grpSpPr>
                    <a:xfrm>
                      <a:off x="914400" y="2362200"/>
                      <a:ext cx="2895600" cy="152400"/>
                      <a:chOff x="914400" y="1447800"/>
                      <a:chExt cx="2895600" cy="152400"/>
                    </a:xfrm>
                  </p:grpSpPr>
                  <p:grpSp>
                    <p:nvGrpSpPr>
                      <p:cNvPr id="125" name="Group 56"/>
                      <p:cNvGrpSpPr/>
                      <p:nvPr/>
                    </p:nvGrpSpPr>
                    <p:grpSpPr>
                      <a:xfrm>
                        <a:off x="914400" y="1447800"/>
                        <a:ext cx="1066800" cy="152400"/>
                        <a:chOff x="914400" y="1447800"/>
                        <a:chExt cx="1066800" cy="152400"/>
                      </a:xfrm>
                    </p:grpSpPr>
                    <p:sp>
                      <p:nvSpPr>
                        <p:cNvPr id="263" name="Oval 26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4" name="Oval 26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26" name="Group 57"/>
                      <p:cNvGrpSpPr/>
                      <p:nvPr/>
                    </p:nvGrpSpPr>
                    <p:grpSpPr>
                      <a:xfrm>
                        <a:off x="2743200" y="1447800"/>
                        <a:ext cx="1066800" cy="152400"/>
                        <a:chOff x="914400" y="1447800"/>
                        <a:chExt cx="1066800" cy="152400"/>
                      </a:xfrm>
                    </p:grpSpPr>
                    <p:sp>
                      <p:nvSpPr>
                        <p:cNvPr id="261" name="Oval 260"/>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2" name="Oval 261"/>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31" name="Group 61"/>
                    <p:cNvGrpSpPr/>
                    <p:nvPr/>
                  </p:nvGrpSpPr>
                  <p:grpSpPr>
                    <a:xfrm>
                      <a:off x="914400" y="1447800"/>
                      <a:ext cx="2895600" cy="152400"/>
                      <a:chOff x="914400" y="1447800"/>
                      <a:chExt cx="2895600" cy="152400"/>
                    </a:xfrm>
                  </p:grpSpPr>
                  <p:grpSp>
                    <p:nvGrpSpPr>
                      <p:cNvPr id="132" name="Group 56"/>
                      <p:cNvGrpSpPr/>
                      <p:nvPr/>
                    </p:nvGrpSpPr>
                    <p:grpSpPr>
                      <a:xfrm>
                        <a:off x="914400" y="1447800"/>
                        <a:ext cx="1066800" cy="152400"/>
                        <a:chOff x="914400" y="1447800"/>
                        <a:chExt cx="1066800" cy="152400"/>
                      </a:xfrm>
                    </p:grpSpPr>
                    <p:sp>
                      <p:nvSpPr>
                        <p:cNvPr id="257" name="Oval 256"/>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8" name="Oval 257"/>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7" name="Group 57"/>
                      <p:cNvGrpSpPr/>
                      <p:nvPr/>
                    </p:nvGrpSpPr>
                    <p:grpSpPr>
                      <a:xfrm>
                        <a:off x="2743200" y="1447800"/>
                        <a:ext cx="1066800" cy="152400"/>
                        <a:chOff x="914400" y="1447800"/>
                        <a:chExt cx="1066800" cy="152400"/>
                      </a:xfrm>
                    </p:grpSpPr>
                    <p:sp>
                      <p:nvSpPr>
                        <p:cNvPr id="255" name="Oval 254"/>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6" name="Oval 255"/>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grpSp>
          <p:grpSp>
            <p:nvGrpSpPr>
              <p:cNvPr id="138" name="Group 117"/>
              <p:cNvGrpSpPr/>
              <p:nvPr/>
            </p:nvGrpSpPr>
            <p:grpSpPr>
              <a:xfrm>
                <a:off x="8229600" y="1447800"/>
                <a:ext cx="6553200" cy="2895600"/>
                <a:chOff x="914400" y="1447800"/>
                <a:chExt cx="6553200" cy="2895600"/>
              </a:xfrm>
            </p:grpSpPr>
            <p:grpSp>
              <p:nvGrpSpPr>
                <p:cNvPr id="139" name="Group 84"/>
                <p:cNvGrpSpPr/>
                <p:nvPr/>
              </p:nvGrpSpPr>
              <p:grpSpPr>
                <a:xfrm>
                  <a:off x="914400" y="1447800"/>
                  <a:ext cx="2895600" cy="2895600"/>
                  <a:chOff x="914400" y="1447800"/>
                  <a:chExt cx="2895600" cy="2895600"/>
                </a:xfrm>
              </p:grpSpPr>
              <p:grpSp>
                <p:nvGrpSpPr>
                  <p:cNvPr id="140" name="Group 68"/>
                  <p:cNvGrpSpPr/>
                  <p:nvPr/>
                </p:nvGrpSpPr>
                <p:grpSpPr>
                  <a:xfrm>
                    <a:off x="914400" y="1447800"/>
                    <a:ext cx="2895600" cy="1066800"/>
                    <a:chOff x="914400" y="1447800"/>
                    <a:chExt cx="2895600" cy="1066800"/>
                  </a:xfrm>
                </p:grpSpPr>
                <p:grpSp>
                  <p:nvGrpSpPr>
                    <p:cNvPr id="145" name="Group 60"/>
                    <p:cNvGrpSpPr/>
                    <p:nvPr/>
                  </p:nvGrpSpPr>
                  <p:grpSpPr>
                    <a:xfrm>
                      <a:off x="914400" y="2362200"/>
                      <a:ext cx="2895600" cy="152400"/>
                      <a:chOff x="914400" y="1447800"/>
                      <a:chExt cx="2895600" cy="152400"/>
                    </a:xfrm>
                  </p:grpSpPr>
                  <p:grpSp>
                    <p:nvGrpSpPr>
                      <p:cNvPr id="146" name="Group 56"/>
                      <p:cNvGrpSpPr/>
                      <p:nvPr/>
                    </p:nvGrpSpPr>
                    <p:grpSpPr>
                      <a:xfrm>
                        <a:off x="914400" y="1447800"/>
                        <a:ext cx="1066800" cy="152400"/>
                        <a:chOff x="914400" y="1447800"/>
                        <a:chExt cx="1066800" cy="152400"/>
                      </a:xfrm>
                    </p:grpSpPr>
                    <p:sp>
                      <p:nvSpPr>
                        <p:cNvPr id="245" name="Oval 5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6" name="Oval 5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51" name="Group 57"/>
                      <p:cNvGrpSpPr/>
                      <p:nvPr/>
                    </p:nvGrpSpPr>
                    <p:grpSpPr>
                      <a:xfrm>
                        <a:off x="2743200" y="1447800"/>
                        <a:ext cx="1066800" cy="152400"/>
                        <a:chOff x="914400" y="1447800"/>
                        <a:chExt cx="1066800" cy="152400"/>
                      </a:xfrm>
                    </p:grpSpPr>
                    <p:sp>
                      <p:nvSpPr>
                        <p:cNvPr id="243" name="Oval 58"/>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4" name="Oval 59"/>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52" name="Group 61"/>
                    <p:cNvGrpSpPr/>
                    <p:nvPr/>
                  </p:nvGrpSpPr>
                  <p:grpSpPr>
                    <a:xfrm>
                      <a:off x="914400" y="1447800"/>
                      <a:ext cx="2895600" cy="152400"/>
                      <a:chOff x="914400" y="1447800"/>
                      <a:chExt cx="2895600" cy="152400"/>
                    </a:xfrm>
                  </p:grpSpPr>
                  <p:grpSp>
                    <p:nvGrpSpPr>
                      <p:cNvPr id="153" name="Group 56"/>
                      <p:cNvGrpSpPr/>
                      <p:nvPr/>
                    </p:nvGrpSpPr>
                    <p:grpSpPr>
                      <a:xfrm>
                        <a:off x="914400" y="1447800"/>
                        <a:ext cx="1066800" cy="152400"/>
                        <a:chOff x="914400" y="1447800"/>
                        <a:chExt cx="1066800" cy="152400"/>
                      </a:xfrm>
                    </p:grpSpPr>
                    <p:sp>
                      <p:nvSpPr>
                        <p:cNvPr id="239" name="Oval 238"/>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0" name="Oval 239"/>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54" name="Group 57"/>
                      <p:cNvGrpSpPr/>
                      <p:nvPr/>
                    </p:nvGrpSpPr>
                    <p:grpSpPr>
                      <a:xfrm>
                        <a:off x="2743200" y="1447800"/>
                        <a:ext cx="1066800" cy="152400"/>
                        <a:chOff x="914400" y="1447800"/>
                        <a:chExt cx="1066800" cy="152400"/>
                      </a:xfrm>
                    </p:grpSpPr>
                    <p:sp>
                      <p:nvSpPr>
                        <p:cNvPr id="237" name="Oval 236"/>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8" name="Oval 237"/>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nvGrpSpPr>
                  <p:cNvPr id="155" name="Group 69"/>
                  <p:cNvGrpSpPr/>
                  <p:nvPr/>
                </p:nvGrpSpPr>
                <p:grpSpPr>
                  <a:xfrm>
                    <a:off x="914400" y="3276600"/>
                    <a:ext cx="2895600" cy="1066800"/>
                    <a:chOff x="914400" y="1447800"/>
                    <a:chExt cx="2895600" cy="1066800"/>
                  </a:xfrm>
                </p:grpSpPr>
                <p:grpSp>
                  <p:nvGrpSpPr>
                    <p:cNvPr id="156" name="Group 60"/>
                    <p:cNvGrpSpPr/>
                    <p:nvPr/>
                  </p:nvGrpSpPr>
                  <p:grpSpPr>
                    <a:xfrm>
                      <a:off x="914400" y="2362200"/>
                      <a:ext cx="2895600" cy="152400"/>
                      <a:chOff x="914400" y="1447800"/>
                      <a:chExt cx="2895600" cy="152400"/>
                    </a:xfrm>
                  </p:grpSpPr>
                  <p:grpSp>
                    <p:nvGrpSpPr>
                      <p:cNvPr id="161" name="Group 56"/>
                      <p:cNvGrpSpPr/>
                      <p:nvPr/>
                    </p:nvGrpSpPr>
                    <p:grpSpPr>
                      <a:xfrm>
                        <a:off x="914400" y="1447800"/>
                        <a:ext cx="1066800" cy="152400"/>
                        <a:chOff x="914400" y="1447800"/>
                        <a:chExt cx="1066800" cy="152400"/>
                      </a:xfrm>
                    </p:grpSpPr>
                    <p:sp>
                      <p:nvSpPr>
                        <p:cNvPr id="231" name="Oval 230"/>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2" name="Oval 231"/>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2" name="Group 57"/>
                      <p:cNvGrpSpPr/>
                      <p:nvPr/>
                    </p:nvGrpSpPr>
                    <p:grpSpPr>
                      <a:xfrm>
                        <a:off x="2743200" y="1447800"/>
                        <a:ext cx="1066800" cy="152400"/>
                        <a:chOff x="914400" y="1447800"/>
                        <a:chExt cx="1066800" cy="152400"/>
                      </a:xfrm>
                    </p:grpSpPr>
                    <p:sp>
                      <p:nvSpPr>
                        <p:cNvPr id="229" name="Oval 228"/>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0" name="Oval 229"/>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67" name="Group 61"/>
                    <p:cNvGrpSpPr/>
                    <p:nvPr/>
                  </p:nvGrpSpPr>
                  <p:grpSpPr>
                    <a:xfrm>
                      <a:off x="914400" y="1447800"/>
                      <a:ext cx="2895600" cy="152400"/>
                      <a:chOff x="914400" y="1447800"/>
                      <a:chExt cx="2895600" cy="152400"/>
                    </a:xfrm>
                  </p:grpSpPr>
                  <p:grpSp>
                    <p:nvGrpSpPr>
                      <p:cNvPr id="168" name="Group 56"/>
                      <p:cNvGrpSpPr/>
                      <p:nvPr/>
                    </p:nvGrpSpPr>
                    <p:grpSpPr>
                      <a:xfrm>
                        <a:off x="914400" y="1447800"/>
                        <a:ext cx="1066800" cy="152400"/>
                        <a:chOff x="914400" y="1447800"/>
                        <a:chExt cx="1066800" cy="152400"/>
                      </a:xfrm>
                    </p:grpSpPr>
                    <p:sp>
                      <p:nvSpPr>
                        <p:cNvPr id="225" name="Oval 224"/>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6" name="Oval 225"/>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9" name="Group 57"/>
                      <p:cNvGrpSpPr/>
                      <p:nvPr/>
                    </p:nvGrpSpPr>
                    <p:grpSpPr>
                      <a:xfrm>
                        <a:off x="2743200" y="1447800"/>
                        <a:ext cx="1066800" cy="152400"/>
                        <a:chOff x="914400" y="1447800"/>
                        <a:chExt cx="1066800" cy="152400"/>
                      </a:xfrm>
                    </p:grpSpPr>
                    <p:sp>
                      <p:nvSpPr>
                        <p:cNvPr id="223" name="Oval 22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4" name="Oval 22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grpSp>
              <p:nvGrpSpPr>
                <p:cNvPr id="170" name="Group 85"/>
                <p:cNvGrpSpPr/>
                <p:nvPr/>
              </p:nvGrpSpPr>
              <p:grpSpPr>
                <a:xfrm>
                  <a:off x="4572000" y="1447800"/>
                  <a:ext cx="2895600" cy="2895600"/>
                  <a:chOff x="914400" y="1447800"/>
                  <a:chExt cx="2895600" cy="2895600"/>
                </a:xfrm>
              </p:grpSpPr>
              <p:grpSp>
                <p:nvGrpSpPr>
                  <p:cNvPr id="175" name="Group 68"/>
                  <p:cNvGrpSpPr/>
                  <p:nvPr/>
                </p:nvGrpSpPr>
                <p:grpSpPr>
                  <a:xfrm>
                    <a:off x="914400" y="1447800"/>
                    <a:ext cx="2895600" cy="1066800"/>
                    <a:chOff x="914400" y="1447800"/>
                    <a:chExt cx="2895600" cy="1066800"/>
                  </a:xfrm>
                </p:grpSpPr>
                <p:grpSp>
                  <p:nvGrpSpPr>
                    <p:cNvPr id="176" name="Group 60"/>
                    <p:cNvGrpSpPr/>
                    <p:nvPr/>
                  </p:nvGrpSpPr>
                  <p:grpSpPr>
                    <a:xfrm>
                      <a:off x="914400" y="2362200"/>
                      <a:ext cx="2895600" cy="152400"/>
                      <a:chOff x="914400" y="1447800"/>
                      <a:chExt cx="2895600" cy="152400"/>
                    </a:xfrm>
                  </p:grpSpPr>
                  <p:grpSp>
                    <p:nvGrpSpPr>
                      <p:cNvPr id="181" name="Group 56"/>
                      <p:cNvGrpSpPr/>
                      <p:nvPr/>
                    </p:nvGrpSpPr>
                    <p:grpSpPr>
                      <a:xfrm>
                        <a:off x="914400" y="1447800"/>
                        <a:ext cx="1066800" cy="152400"/>
                        <a:chOff x="914400" y="1447800"/>
                        <a:chExt cx="1066800" cy="152400"/>
                      </a:xfrm>
                    </p:grpSpPr>
                    <p:sp>
                      <p:nvSpPr>
                        <p:cNvPr id="215" name="Oval 214"/>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6" name="Oval 215"/>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2" name="Group 57"/>
                      <p:cNvGrpSpPr/>
                      <p:nvPr/>
                    </p:nvGrpSpPr>
                    <p:grpSpPr>
                      <a:xfrm>
                        <a:off x="2743200" y="1447800"/>
                        <a:ext cx="1066800" cy="152400"/>
                        <a:chOff x="914400" y="1447800"/>
                        <a:chExt cx="1066800" cy="152400"/>
                      </a:xfrm>
                    </p:grpSpPr>
                    <p:sp>
                      <p:nvSpPr>
                        <p:cNvPr id="213" name="Oval 21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4" name="Oval 21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83" name="Group 61"/>
                    <p:cNvGrpSpPr/>
                    <p:nvPr/>
                  </p:nvGrpSpPr>
                  <p:grpSpPr>
                    <a:xfrm>
                      <a:off x="914400" y="1447800"/>
                      <a:ext cx="2895600" cy="152400"/>
                      <a:chOff x="914400" y="1447800"/>
                      <a:chExt cx="2895600" cy="152400"/>
                    </a:xfrm>
                  </p:grpSpPr>
                  <p:grpSp>
                    <p:nvGrpSpPr>
                      <p:cNvPr id="184" name="Group 56"/>
                      <p:cNvGrpSpPr/>
                      <p:nvPr/>
                    </p:nvGrpSpPr>
                    <p:grpSpPr>
                      <a:xfrm>
                        <a:off x="914400" y="1447800"/>
                        <a:ext cx="1066800" cy="152400"/>
                        <a:chOff x="914400" y="1447800"/>
                        <a:chExt cx="1066800" cy="152400"/>
                      </a:xfrm>
                    </p:grpSpPr>
                    <p:sp>
                      <p:nvSpPr>
                        <p:cNvPr id="209" name="Oval 208"/>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0" name="Oval 209"/>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5" name="Group 57"/>
                      <p:cNvGrpSpPr/>
                      <p:nvPr/>
                    </p:nvGrpSpPr>
                    <p:grpSpPr>
                      <a:xfrm>
                        <a:off x="2743200" y="1447800"/>
                        <a:ext cx="1066800" cy="152400"/>
                        <a:chOff x="914400" y="1447800"/>
                        <a:chExt cx="1066800" cy="152400"/>
                      </a:xfrm>
                    </p:grpSpPr>
                    <p:sp>
                      <p:nvSpPr>
                        <p:cNvPr id="207" name="Oval 206"/>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8" name="Oval 207"/>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nvGrpSpPr>
                  <p:cNvPr id="186" name="Group 69"/>
                  <p:cNvGrpSpPr/>
                  <p:nvPr/>
                </p:nvGrpSpPr>
                <p:grpSpPr>
                  <a:xfrm>
                    <a:off x="914400" y="3276600"/>
                    <a:ext cx="2895600" cy="1066800"/>
                    <a:chOff x="914400" y="1447800"/>
                    <a:chExt cx="2895600" cy="1066800"/>
                  </a:xfrm>
                </p:grpSpPr>
                <p:grpSp>
                  <p:nvGrpSpPr>
                    <p:cNvPr id="187" name="Group 60"/>
                    <p:cNvGrpSpPr/>
                    <p:nvPr/>
                  </p:nvGrpSpPr>
                  <p:grpSpPr>
                    <a:xfrm>
                      <a:off x="914400" y="2362200"/>
                      <a:ext cx="2895600" cy="152400"/>
                      <a:chOff x="914400" y="1447800"/>
                      <a:chExt cx="2895600" cy="152400"/>
                    </a:xfrm>
                  </p:grpSpPr>
                  <p:grpSp>
                    <p:nvGrpSpPr>
                      <p:cNvPr id="188" name="Group 56"/>
                      <p:cNvGrpSpPr/>
                      <p:nvPr/>
                    </p:nvGrpSpPr>
                    <p:grpSpPr>
                      <a:xfrm>
                        <a:off x="914400" y="1447800"/>
                        <a:ext cx="1066800" cy="152400"/>
                        <a:chOff x="914400" y="1447800"/>
                        <a:chExt cx="1066800" cy="152400"/>
                      </a:xfrm>
                    </p:grpSpPr>
                    <p:sp>
                      <p:nvSpPr>
                        <p:cNvPr id="201" name="Oval 200"/>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2" name="Oval 201"/>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9" name="Group 57"/>
                      <p:cNvGrpSpPr/>
                      <p:nvPr/>
                    </p:nvGrpSpPr>
                    <p:grpSpPr>
                      <a:xfrm>
                        <a:off x="2743200" y="1447800"/>
                        <a:ext cx="1066800" cy="152400"/>
                        <a:chOff x="914400" y="1447800"/>
                        <a:chExt cx="1066800" cy="152400"/>
                      </a:xfrm>
                    </p:grpSpPr>
                    <p:sp>
                      <p:nvSpPr>
                        <p:cNvPr id="199" name="Oval 198"/>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0" name="Oval 199"/>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90" name="Group 61"/>
                    <p:cNvGrpSpPr/>
                    <p:nvPr/>
                  </p:nvGrpSpPr>
                  <p:grpSpPr>
                    <a:xfrm>
                      <a:off x="914400" y="1447800"/>
                      <a:ext cx="2895600" cy="152400"/>
                      <a:chOff x="914400" y="1447800"/>
                      <a:chExt cx="2895600" cy="152400"/>
                    </a:xfrm>
                  </p:grpSpPr>
                  <p:grpSp>
                    <p:nvGrpSpPr>
                      <p:cNvPr id="191" name="Group 56"/>
                      <p:cNvGrpSpPr/>
                      <p:nvPr/>
                    </p:nvGrpSpPr>
                    <p:grpSpPr>
                      <a:xfrm>
                        <a:off x="914400" y="1447800"/>
                        <a:ext cx="1066800" cy="152400"/>
                        <a:chOff x="914400" y="1447800"/>
                        <a:chExt cx="1066800" cy="152400"/>
                      </a:xfrm>
                    </p:grpSpPr>
                    <p:sp>
                      <p:nvSpPr>
                        <p:cNvPr id="195" name="Oval 194"/>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6" name="Oval 195"/>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92" name="Group 57"/>
                      <p:cNvGrpSpPr/>
                      <p:nvPr/>
                    </p:nvGrpSpPr>
                    <p:grpSpPr>
                      <a:xfrm>
                        <a:off x="2743200" y="1447800"/>
                        <a:ext cx="1066800" cy="152400"/>
                        <a:chOff x="914400" y="1447800"/>
                        <a:chExt cx="1066800" cy="152400"/>
                      </a:xfrm>
                    </p:grpSpPr>
                    <p:sp>
                      <p:nvSpPr>
                        <p:cNvPr id="193" name="Oval 19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 name="Oval 19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grpSp>
        </p:grpSp>
      </p:grpSp>
      <p:sp>
        <p:nvSpPr>
          <p:cNvPr id="540" name="Title 1"/>
          <p:cNvSpPr txBox="1">
            <a:spLocks/>
          </p:cNvSpPr>
          <p:nvPr/>
        </p:nvSpPr>
        <p:spPr>
          <a:xfrm>
            <a:off x="457200" y="274638"/>
            <a:ext cx="8229600" cy="1143000"/>
          </a:xfrm>
          <a:prstGeom prst="rect">
            <a:avLst/>
          </a:prstGeom>
        </p:spPr>
        <p:txBody>
          <a:bodyPr rtlCol="0">
            <a:noAutofit/>
          </a:bodyPr>
          <a:lstStyle/>
          <a:p>
            <a:pPr lvl="0" algn="ctr">
              <a:spcBef>
                <a:spcPct val="0"/>
              </a:spcBef>
              <a:defRPr/>
            </a:pPr>
            <a:r>
              <a:rPr kumimoji="0" lang="en-US" sz="3600" b="0" i="0" u="none" strike="noStrike" kern="1200" cap="none" spc="0" normalizeH="0" baseline="0" noProof="0" dirty="0" smtClean="0">
                <a:ln>
                  <a:noFill/>
                </a:ln>
                <a:solidFill>
                  <a:schemeClr val="tx1"/>
                </a:solidFill>
                <a:effectLst/>
                <a:uLnTx/>
                <a:uFillTx/>
                <a:latin typeface="+mj-lt"/>
                <a:ea typeface="+mj-ea"/>
                <a:cs typeface="+mj-cs"/>
              </a:rPr>
              <a:t>Communication Avoiding Kernels:</a:t>
            </a:r>
            <a:br>
              <a:rPr kumimoji="0" lang="en-US" sz="3600" b="0" i="0" u="none" strike="noStrike" kern="1200" cap="none" spc="0" normalizeH="0" baseline="0" noProof="0" dirty="0" smtClean="0">
                <a:ln>
                  <a:noFill/>
                </a:ln>
                <a:solidFill>
                  <a:schemeClr val="tx1"/>
                </a:solidFill>
                <a:effectLst/>
                <a:uLnTx/>
                <a:uFillTx/>
                <a:latin typeface="+mj-lt"/>
                <a:ea typeface="+mj-ea"/>
                <a:cs typeface="+mj-cs"/>
              </a:rPr>
            </a:br>
            <a:r>
              <a:rPr kumimoji="0" lang="en-US" sz="2800" b="0" i="0" u="none" strike="noStrike" kern="1200" cap="none" spc="0" normalizeH="0" baseline="0" noProof="0" dirty="0" smtClean="0">
                <a:ln>
                  <a:noFill/>
                </a:ln>
                <a:solidFill>
                  <a:schemeClr val="tx1"/>
                </a:solidFill>
                <a:effectLst/>
                <a:uLnTx/>
                <a:uFillTx/>
                <a:latin typeface="+mj-lt"/>
                <a:ea typeface="+mj-ea"/>
                <a:cs typeface="+mj-cs"/>
              </a:rPr>
              <a:t>The Matrix Powers Kernel</a:t>
            </a:r>
            <a:r>
              <a:rPr lang="en-US" sz="2800" dirty="0" smtClean="0"/>
              <a:t> :</a:t>
            </a:r>
            <a:r>
              <a:rPr lang="en-US" sz="2800" dirty="0" smtClean="0">
                <a:sym typeface="Symbol"/>
              </a:rPr>
              <a:t> [</a:t>
            </a:r>
            <a:r>
              <a:rPr lang="en-US" sz="2800" dirty="0" smtClean="0"/>
              <a:t>Ax, A</a:t>
            </a:r>
            <a:r>
              <a:rPr lang="en-US" sz="2800" baseline="40000" dirty="0" smtClean="0"/>
              <a:t>2</a:t>
            </a:r>
            <a:r>
              <a:rPr lang="en-US" sz="2800" dirty="0" smtClean="0"/>
              <a:t>x, …, </a:t>
            </a:r>
            <a:r>
              <a:rPr lang="en-US" sz="2800" dirty="0" err="1" smtClean="0"/>
              <a:t>A</a:t>
            </a:r>
            <a:r>
              <a:rPr lang="en-US" sz="2800" baseline="40000" dirty="0" err="1" smtClean="0"/>
              <a:t>k</a:t>
            </a:r>
            <a:r>
              <a:rPr lang="en-US" sz="2800" dirty="0" err="1" smtClean="0"/>
              <a:t>x</a:t>
            </a:r>
            <a:r>
              <a:rPr lang="en-US" sz="2800" dirty="0" smtClean="0"/>
              <a:t>] </a:t>
            </a:r>
            <a:endParaRPr kumimoji="0" lang="en-US" sz="2800" b="0" i="0" u="none" strike="noStrike" kern="1200" cap="none" spc="0" normalizeH="0" baseline="0" noProof="0" dirty="0">
              <a:ln>
                <a:noFill/>
              </a:ln>
              <a:solidFill>
                <a:schemeClr val="tx1"/>
              </a:solidFill>
              <a:effectLst/>
              <a:uLnTx/>
              <a:uFillTx/>
              <a:latin typeface="+mj-lt"/>
              <a:ea typeface="+mj-ea"/>
              <a:cs typeface="+mj-cs"/>
            </a:endParaRPr>
          </a:p>
        </p:txBody>
      </p:sp>
      <p:cxnSp>
        <p:nvCxnSpPr>
          <p:cNvPr id="545" name="Straight Connector 544"/>
          <p:cNvCxnSpPr/>
          <p:nvPr/>
        </p:nvCxnSpPr>
        <p:spPr>
          <a:xfrm>
            <a:off x="228600" y="1371600"/>
            <a:ext cx="8305800" cy="0"/>
          </a:xfrm>
          <a:prstGeom prst="line">
            <a:avLst/>
          </a:prstGeom>
        </p:spPr>
        <p:style>
          <a:lnRef idx="1">
            <a:schemeClr val="accent1"/>
          </a:lnRef>
          <a:fillRef idx="0">
            <a:schemeClr val="accent1"/>
          </a:fillRef>
          <a:effectRef idx="0">
            <a:schemeClr val="accent1"/>
          </a:effectRef>
          <a:fontRef idx="minor">
            <a:schemeClr val="tx1"/>
          </a:fontRef>
        </p:style>
      </p:cxnSp>
      <p:sp>
        <p:nvSpPr>
          <p:cNvPr id="546" name="Content Placeholder 2"/>
          <p:cNvSpPr txBox="1">
            <a:spLocks/>
          </p:cNvSpPr>
          <p:nvPr/>
        </p:nvSpPr>
        <p:spPr>
          <a:xfrm>
            <a:off x="228600" y="1447800"/>
            <a:ext cx="9067800" cy="4525963"/>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Replace k iterations of y = </a:t>
            </a:r>
            <a:r>
              <a:rPr kumimoji="0" lang="en-US" sz="3200" b="0" i="0" u="none" strike="noStrike" kern="1200" cap="none" spc="0" normalizeH="0" baseline="0" noProof="0" dirty="0" err="1" smtClean="0">
                <a:ln>
                  <a:noFill/>
                </a:ln>
                <a:solidFill>
                  <a:schemeClr val="tx1"/>
                </a:solidFill>
                <a:effectLst/>
                <a:uLnTx/>
                <a:uFillTx/>
                <a:latin typeface="+mn-lt"/>
                <a:ea typeface="+mn-ea"/>
                <a:cs typeface="+mn-cs"/>
              </a:rPr>
              <a:t>A</a:t>
            </a:r>
            <a:r>
              <a:rPr kumimoji="0" lang="en-US" sz="3200" b="0" i="0" u="none" strike="noStrike" kern="1200" cap="none" spc="0" normalizeH="0" baseline="0" noProof="0" dirty="0" err="1" smtClean="0">
                <a:ln>
                  <a:noFill/>
                </a:ln>
                <a:solidFill>
                  <a:schemeClr val="tx1"/>
                </a:solidFill>
                <a:effectLst/>
                <a:uLnTx/>
                <a:uFillTx/>
                <a:latin typeface="+mn-lt"/>
                <a:ea typeface="+mn-ea"/>
                <a:cs typeface="+mn-cs"/>
                <a:sym typeface="Symbol"/>
              </a:rPr>
              <a:t>x</a:t>
            </a:r>
            <a:r>
              <a:rPr kumimoji="0" lang="en-US" sz="3200" b="0" i="0" u="none" strike="noStrike" kern="1200" cap="none" spc="0" normalizeH="0" baseline="0" noProof="0" dirty="0" smtClean="0">
                <a:ln>
                  <a:noFill/>
                </a:ln>
                <a:solidFill>
                  <a:schemeClr val="tx1"/>
                </a:solidFill>
                <a:effectLst/>
                <a:uLnTx/>
                <a:uFillTx/>
                <a:latin typeface="+mn-lt"/>
                <a:ea typeface="+mn-ea"/>
                <a:cs typeface="+mn-cs"/>
                <a:sym typeface="Symbol"/>
              </a:rPr>
              <a:t> with [</a:t>
            </a:r>
            <a:r>
              <a:rPr kumimoji="0" lang="en-US" sz="3200" b="0" i="0" u="none" strike="noStrike" kern="1200" cap="none" spc="0" normalizeH="0" baseline="0" noProof="0" dirty="0" smtClean="0">
                <a:ln>
                  <a:noFill/>
                </a:ln>
                <a:solidFill>
                  <a:schemeClr val="tx1"/>
                </a:solidFill>
                <a:effectLst/>
                <a:uLnTx/>
                <a:uFillTx/>
                <a:latin typeface="+mn-lt"/>
                <a:ea typeface="+mn-ea"/>
                <a:cs typeface="+mn-cs"/>
              </a:rPr>
              <a:t>Ax, A</a:t>
            </a:r>
            <a:r>
              <a:rPr kumimoji="0" lang="en-US" sz="3200" b="0" i="0" u="none" strike="noStrike" kern="1200" cap="none" spc="0" normalizeH="0" baseline="40000" noProof="0" dirty="0" smtClean="0">
                <a:ln>
                  <a:noFill/>
                </a:ln>
                <a:solidFill>
                  <a:schemeClr val="tx1"/>
                </a:solidFill>
                <a:effectLst/>
                <a:uLnTx/>
                <a:uFillTx/>
                <a:latin typeface="+mn-lt"/>
                <a:ea typeface="+mn-ea"/>
                <a:cs typeface="+mn-cs"/>
              </a:rPr>
              <a:t>2</a:t>
            </a:r>
            <a:r>
              <a:rPr kumimoji="0" lang="en-US" sz="3200" b="0" i="0" u="none" strike="noStrike" kern="1200" cap="none" spc="0" normalizeH="0" baseline="0" noProof="0" dirty="0" smtClean="0">
                <a:ln>
                  <a:noFill/>
                </a:ln>
                <a:solidFill>
                  <a:schemeClr val="tx1"/>
                </a:solidFill>
                <a:effectLst/>
                <a:uLnTx/>
                <a:uFillTx/>
                <a:latin typeface="+mn-lt"/>
                <a:ea typeface="+mn-ea"/>
                <a:cs typeface="+mn-cs"/>
              </a:rPr>
              <a:t>x, …, </a:t>
            </a:r>
            <a:r>
              <a:rPr kumimoji="0" lang="en-US" sz="3200" b="0" i="0" u="none" strike="noStrike" kern="1200" cap="none" spc="0" normalizeH="0" baseline="0" noProof="0" dirty="0" err="1" smtClean="0">
                <a:ln>
                  <a:noFill/>
                </a:ln>
                <a:solidFill>
                  <a:schemeClr val="tx1"/>
                </a:solidFill>
                <a:effectLst/>
                <a:uLnTx/>
                <a:uFillTx/>
                <a:latin typeface="+mn-lt"/>
                <a:ea typeface="+mn-ea"/>
                <a:cs typeface="+mn-cs"/>
              </a:rPr>
              <a:t>A</a:t>
            </a:r>
            <a:r>
              <a:rPr kumimoji="0" lang="en-US" sz="3200" b="0" i="0" u="none" strike="noStrike" kern="1200" cap="none" spc="0" normalizeH="0" baseline="40000" noProof="0" dirty="0" err="1" smtClean="0">
                <a:ln>
                  <a:noFill/>
                </a:ln>
                <a:solidFill>
                  <a:schemeClr val="tx1"/>
                </a:solidFill>
                <a:effectLst/>
                <a:uLnTx/>
                <a:uFillTx/>
                <a:latin typeface="+mn-lt"/>
                <a:ea typeface="+mn-ea"/>
                <a:cs typeface="+mn-cs"/>
              </a:rPr>
              <a:t>k</a:t>
            </a:r>
            <a:r>
              <a:rPr kumimoji="0" lang="en-US" sz="3200" b="0" i="0" u="none" strike="noStrike" kern="1200" cap="none" spc="0" normalizeH="0" baseline="0" noProof="0" dirty="0" err="1" smtClean="0">
                <a:ln>
                  <a:noFill/>
                </a:ln>
                <a:solidFill>
                  <a:schemeClr val="tx1"/>
                </a:solidFill>
                <a:effectLst/>
                <a:uLnTx/>
                <a:uFillTx/>
                <a:latin typeface="+mn-lt"/>
                <a:ea typeface="+mn-ea"/>
                <a:cs typeface="+mn-cs"/>
              </a:rPr>
              <a:t>x</a:t>
            </a:r>
            <a:r>
              <a:rPr kumimoji="0" lang="en-US" sz="3200" b="0" i="0" u="none" strike="noStrike" kern="1200" cap="none" spc="0" normalizeH="0" baseline="0" noProof="0" dirty="0" smtClean="0">
                <a:ln>
                  <a:noFill/>
                </a:ln>
                <a:solidFill>
                  <a:schemeClr val="tx1"/>
                </a:solidFill>
                <a:effectLst/>
                <a:uLnTx/>
                <a:uFillTx/>
                <a:latin typeface="+mn-lt"/>
                <a:ea typeface="+mn-ea"/>
                <a:cs typeface="+mn-cs"/>
              </a:rPr>
              <a:t>]</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sz="3200" noProof="0" dirty="0" smtClean="0"/>
              <a:t>Parallel Algorithm</a:t>
            </a:r>
            <a:r>
              <a:rPr kumimoji="0" lang="en-US" sz="3200" b="0" i="0" u="none" strike="noStrike" kern="1200" cap="none" spc="0" normalizeH="0" baseline="0" noProof="0" dirty="0" smtClean="0">
                <a:ln>
                  <a:noFill/>
                </a:ln>
                <a:solidFill>
                  <a:schemeClr val="tx1"/>
                </a:solidFill>
                <a:effectLst/>
                <a:uLnTx/>
                <a:uFillTx/>
                <a:latin typeface="+mn-lt"/>
                <a:ea typeface="+mn-ea"/>
                <a:cs typeface="+mn-cs"/>
              </a:rPr>
              <a:t> </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en-US" sz="3200" dirty="0" smtClean="0"/>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Example: A </a:t>
            </a:r>
            <a:r>
              <a:rPr kumimoji="0" lang="en-US" sz="3200" b="0" i="0" u="none" strike="noStrike" kern="1200" cap="none" spc="0" normalizeH="0" baseline="0" noProof="0" dirty="0" err="1" smtClean="0">
                <a:ln>
                  <a:noFill/>
                </a:ln>
                <a:solidFill>
                  <a:schemeClr val="tx1"/>
                </a:solidFill>
                <a:effectLst/>
                <a:uLnTx/>
                <a:uFillTx/>
                <a:latin typeface="+mn-lt"/>
                <a:ea typeface="+mn-ea"/>
                <a:cs typeface="+mn-cs"/>
              </a:rPr>
              <a:t>tridiagonal</a:t>
            </a:r>
            <a:r>
              <a:rPr kumimoji="0" lang="en-US" sz="3200" b="0" i="0" u="none" strike="noStrike" kern="1200" cap="none" spc="0" normalizeH="0" baseline="0" noProof="0" dirty="0" smtClean="0">
                <a:ln>
                  <a:noFill/>
                </a:ln>
                <a:solidFill>
                  <a:schemeClr val="tx1"/>
                </a:solidFill>
                <a:effectLst/>
                <a:uLnTx/>
                <a:uFillTx/>
                <a:latin typeface="+mn-lt"/>
                <a:ea typeface="+mn-ea"/>
                <a:cs typeface="+mn-cs"/>
              </a:rPr>
              <a:t>, n=32, k=3</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sz="3200" dirty="0" smtClean="0"/>
              <a:t>Each processor communicates once with neighbors </a:t>
            </a: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551" name="TextBox 550"/>
          <p:cNvSpPr txBox="1"/>
          <p:nvPr/>
        </p:nvSpPr>
        <p:spPr>
          <a:xfrm>
            <a:off x="990600" y="2514600"/>
            <a:ext cx="776559" cy="369332"/>
          </a:xfrm>
          <a:prstGeom prst="rect">
            <a:avLst/>
          </a:prstGeom>
          <a:noFill/>
        </p:spPr>
        <p:txBody>
          <a:bodyPr wrap="none" rtlCol="0">
            <a:spAutoFit/>
          </a:bodyPr>
          <a:lstStyle/>
          <a:p>
            <a:r>
              <a:rPr lang="en-US" b="1" dirty="0" smtClean="0">
                <a:solidFill>
                  <a:schemeClr val="tx2">
                    <a:lumMod val="60000"/>
                    <a:lumOff val="40000"/>
                  </a:schemeClr>
                </a:solidFill>
              </a:rPr>
              <a:t>Proc 1</a:t>
            </a:r>
            <a:endParaRPr lang="en-US" b="1" dirty="0">
              <a:solidFill>
                <a:schemeClr val="tx2">
                  <a:lumMod val="60000"/>
                  <a:lumOff val="40000"/>
                </a:schemeClr>
              </a:solidFill>
            </a:endParaRPr>
          </a:p>
        </p:txBody>
      </p:sp>
      <p:sp>
        <p:nvSpPr>
          <p:cNvPr id="552" name="TextBox 551"/>
          <p:cNvSpPr txBox="1"/>
          <p:nvPr/>
        </p:nvSpPr>
        <p:spPr>
          <a:xfrm>
            <a:off x="3289831" y="2514600"/>
            <a:ext cx="829458" cy="369332"/>
          </a:xfrm>
          <a:prstGeom prst="rect">
            <a:avLst/>
          </a:prstGeom>
          <a:noFill/>
        </p:spPr>
        <p:txBody>
          <a:bodyPr wrap="none" rtlCol="0">
            <a:spAutoFit/>
          </a:bodyPr>
          <a:lstStyle/>
          <a:p>
            <a:r>
              <a:rPr lang="en-US" b="1" dirty="0" smtClean="0">
                <a:solidFill>
                  <a:srgbClr val="FF0000"/>
                </a:solidFill>
              </a:rPr>
              <a:t>Proc  2</a:t>
            </a:r>
            <a:endParaRPr lang="en-US" b="1" dirty="0">
              <a:solidFill>
                <a:srgbClr val="FF0000"/>
              </a:solidFill>
            </a:endParaRPr>
          </a:p>
        </p:txBody>
      </p:sp>
      <p:sp>
        <p:nvSpPr>
          <p:cNvPr id="553" name="TextBox 552"/>
          <p:cNvSpPr txBox="1"/>
          <p:nvPr/>
        </p:nvSpPr>
        <p:spPr>
          <a:xfrm>
            <a:off x="5410200" y="2514600"/>
            <a:ext cx="829458" cy="369332"/>
          </a:xfrm>
          <a:prstGeom prst="rect">
            <a:avLst/>
          </a:prstGeom>
          <a:noFill/>
        </p:spPr>
        <p:txBody>
          <a:bodyPr wrap="none" rtlCol="0">
            <a:spAutoFit/>
          </a:bodyPr>
          <a:lstStyle/>
          <a:p>
            <a:r>
              <a:rPr lang="en-US" b="1" dirty="0" smtClean="0">
                <a:solidFill>
                  <a:srgbClr val="92D050"/>
                </a:solidFill>
              </a:rPr>
              <a:t>Proc  3</a:t>
            </a:r>
            <a:endParaRPr lang="en-US" b="1" dirty="0">
              <a:solidFill>
                <a:srgbClr val="92D050"/>
              </a:solidFill>
            </a:endParaRPr>
          </a:p>
        </p:txBody>
      </p:sp>
      <p:sp>
        <p:nvSpPr>
          <p:cNvPr id="554" name="TextBox 553"/>
          <p:cNvSpPr txBox="1"/>
          <p:nvPr/>
        </p:nvSpPr>
        <p:spPr>
          <a:xfrm>
            <a:off x="7404631" y="2514600"/>
            <a:ext cx="829458" cy="369332"/>
          </a:xfrm>
          <a:prstGeom prst="rect">
            <a:avLst/>
          </a:prstGeom>
          <a:noFill/>
        </p:spPr>
        <p:txBody>
          <a:bodyPr wrap="none" rtlCol="0">
            <a:spAutoFit/>
          </a:bodyPr>
          <a:lstStyle/>
          <a:p>
            <a:r>
              <a:rPr lang="en-US" b="1" dirty="0" smtClean="0">
                <a:solidFill>
                  <a:srgbClr val="FFC000"/>
                </a:solidFill>
              </a:rPr>
              <a:t>Proc  4</a:t>
            </a:r>
            <a:endParaRPr lang="en-US" b="1" dirty="0">
              <a:solidFill>
                <a:srgbClr val="FFC000"/>
              </a:solidFill>
            </a:endParaRPr>
          </a:p>
        </p:txBody>
      </p:sp>
      <p:cxnSp>
        <p:nvCxnSpPr>
          <p:cNvPr id="295" name="Straight Connector 294"/>
          <p:cNvCxnSpPr/>
          <p:nvPr/>
        </p:nvCxnSpPr>
        <p:spPr>
          <a:xfrm rot="5400000">
            <a:off x="6248400" y="3505200"/>
            <a:ext cx="1219200" cy="0"/>
          </a:xfrm>
          <a:prstGeom prst="line">
            <a:avLst/>
          </a:prstGeom>
          <a:ln w="38100">
            <a:solidFill>
              <a:schemeClr val="bg2">
                <a:lumMod val="25000"/>
              </a:schemeClr>
            </a:solidFill>
          </a:ln>
        </p:spPr>
        <p:style>
          <a:lnRef idx="1">
            <a:schemeClr val="accent1"/>
          </a:lnRef>
          <a:fillRef idx="0">
            <a:schemeClr val="accent1"/>
          </a:fillRef>
          <a:effectRef idx="0">
            <a:schemeClr val="accent1"/>
          </a:effectRef>
          <a:fontRef idx="minor">
            <a:schemeClr val="tx1"/>
          </a:fontRef>
        </p:style>
      </p:cxnSp>
      <p:cxnSp>
        <p:nvCxnSpPr>
          <p:cNvPr id="296" name="Straight Connector 295"/>
          <p:cNvCxnSpPr/>
          <p:nvPr/>
        </p:nvCxnSpPr>
        <p:spPr>
          <a:xfrm rot="5400000">
            <a:off x="2133600" y="3505200"/>
            <a:ext cx="1219200" cy="0"/>
          </a:xfrm>
          <a:prstGeom prst="line">
            <a:avLst/>
          </a:prstGeom>
          <a:ln w="38100">
            <a:solidFill>
              <a:schemeClr val="bg2">
                <a:lumMod val="25000"/>
              </a:schemeClr>
            </a:solidFill>
          </a:ln>
        </p:spPr>
        <p:style>
          <a:lnRef idx="1">
            <a:schemeClr val="accent1"/>
          </a:lnRef>
          <a:fillRef idx="0">
            <a:schemeClr val="accent1"/>
          </a:fillRef>
          <a:effectRef idx="0">
            <a:schemeClr val="accent1"/>
          </a:effectRef>
          <a:fontRef idx="minor">
            <a:schemeClr val="tx1"/>
          </a:fontRef>
        </p:style>
      </p:cxnSp>
      <p:cxnSp>
        <p:nvCxnSpPr>
          <p:cNvPr id="297" name="Straight Connector 296"/>
          <p:cNvCxnSpPr/>
          <p:nvPr/>
        </p:nvCxnSpPr>
        <p:spPr>
          <a:xfrm rot="5400000">
            <a:off x="4191000" y="3505200"/>
            <a:ext cx="1219200" cy="0"/>
          </a:xfrm>
          <a:prstGeom prst="line">
            <a:avLst/>
          </a:prstGeom>
          <a:ln w="38100">
            <a:solidFill>
              <a:schemeClr val="bg2">
                <a:lumMod val="25000"/>
              </a:schemeClr>
            </a:solidFill>
          </a:ln>
        </p:spPr>
        <p:style>
          <a:lnRef idx="1">
            <a:schemeClr val="accent1"/>
          </a:lnRef>
          <a:fillRef idx="0">
            <a:schemeClr val="accent1"/>
          </a:fillRef>
          <a:effectRef idx="0">
            <a:schemeClr val="accent1"/>
          </a:effectRef>
          <a:fontRef idx="minor">
            <a:schemeClr val="tx1"/>
          </a:fontRef>
        </p:style>
      </p:cxnSp>
      <p:sp>
        <p:nvSpPr>
          <p:cNvPr id="298" name="Rounded Rectangle 297"/>
          <p:cNvSpPr/>
          <p:nvPr/>
        </p:nvSpPr>
        <p:spPr>
          <a:xfrm>
            <a:off x="4876800" y="3886200"/>
            <a:ext cx="685800" cy="381000"/>
          </a:xfrm>
          <a:prstGeom prst="roundRect">
            <a:avLst/>
          </a:prstGeom>
          <a:noFill/>
          <a:ln w="571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3" name="Rounded Rectangle 302"/>
          <p:cNvSpPr/>
          <p:nvPr/>
        </p:nvSpPr>
        <p:spPr>
          <a:xfrm>
            <a:off x="1981200" y="3886200"/>
            <a:ext cx="685800" cy="381000"/>
          </a:xfrm>
          <a:prstGeom prst="roundRect">
            <a:avLst/>
          </a:prstGeom>
          <a:noFill/>
          <a:ln w="571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0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8" grpId="0" animBg="1"/>
      <p:bldP spid="303" grpId="0" animBg="1"/>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5" name="Trapezoid 534"/>
          <p:cNvSpPr/>
          <p:nvPr/>
        </p:nvSpPr>
        <p:spPr>
          <a:xfrm>
            <a:off x="1981200" y="2895600"/>
            <a:ext cx="3581400" cy="1219200"/>
          </a:xfrm>
          <a:prstGeom prst="trapezoid">
            <a:avLst>
              <a:gd name="adj" fmla="val 63044"/>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9" name="Rectangle 528"/>
          <p:cNvSpPr/>
          <p:nvPr/>
        </p:nvSpPr>
        <p:spPr>
          <a:xfrm>
            <a:off x="6858000" y="2895600"/>
            <a:ext cx="1981200" cy="1219200"/>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2" name="Right Triangle 521"/>
          <p:cNvSpPr/>
          <p:nvPr/>
        </p:nvSpPr>
        <p:spPr>
          <a:xfrm>
            <a:off x="2743200" y="2895600"/>
            <a:ext cx="838200" cy="1219200"/>
          </a:xfrm>
          <a:prstGeom prst="rtTriangle">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1" name="Rectangle 520"/>
          <p:cNvSpPr/>
          <p:nvPr/>
        </p:nvSpPr>
        <p:spPr>
          <a:xfrm>
            <a:off x="762000" y="2895600"/>
            <a:ext cx="1981200" cy="1219200"/>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5" name="TextBox 564"/>
          <p:cNvSpPr txBox="1"/>
          <p:nvPr/>
        </p:nvSpPr>
        <p:spPr>
          <a:xfrm>
            <a:off x="609600" y="4343400"/>
            <a:ext cx="1981200" cy="369332"/>
          </a:xfrm>
          <a:prstGeom prst="rect">
            <a:avLst/>
          </a:prstGeom>
          <a:noFill/>
        </p:spPr>
        <p:txBody>
          <a:bodyPr wrap="square" rtlCol="0">
            <a:spAutoFit/>
          </a:bodyPr>
          <a:lstStyle/>
          <a:p>
            <a:r>
              <a:rPr lang="en-US" dirty="0" smtClean="0">
                <a:solidFill>
                  <a:srgbClr val="0824F2"/>
                </a:solidFill>
              </a:rPr>
              <a:t>1   2   3   4 …</a:t>
            </a:r>
            <a:endParaRPr lang="en-US" dirty="0">
              <a:solidFill>
                <a:srgbClr val="0824F2"/>
              </a:solidFill>
            </a:endParaRPr>
          </a:p>
        </p:txBody>
      </p:sp>
      <p:sp>
        <p:nvSpPr>
          <p:cNvPr id="566" name="TextBox 565"/>
          <p:cNvSpPr txBox="1"/>
          <p:nvPr/>
        </p:nvSpPr>
        <p:spPr>
          <a:xfrm>
            <a:off x="8305800" y="4355068"/>
            <a:ext cx="838200" cy="369332"/>
          </a:xfrm>
          <a:prstGeom prst="rect">
            <a:avLst/>
          </a:prstGeom>
          <a:noFill/>
        </p:spPr>
        <p:txBody>
          <a:bodyPr wrap="square" rtlCol="0">
            <a:spAutoFit/>
          </a:bodyPr>
          <a:lstStyle/>
          <a:p>
            <a:r>
              <a:rPr lang="en-US" dirty="0" smtClean="0">
                <a:solidFill>
                  <a:srgbClr val="0824F2"/>
                </a:solidFill>
              </a:rPr>
              <a:t> … 32</a:t>
            </a:r>
            <a:endParaRPr lang="en-US" dirty="0">
              <a:solidFill>
                <a:srgbClr val="0824F2"/>
              </a:solidFill>
            </a:endParaRPr>
          </a:p>
        </p:txBody>
      </p:sp>
      <p:sp>
        <p:nvSpPr>
          <p:cNvPr id="567" name="TextBox 566"/>
          <p:cNvSpPr txBox="1"/>
          <p:nvPr/>
        </p:nvSpPr>
        <p:spPr>
          <a:xfrm>
            <a:off x="304800" y="3886200"/>
            <a:ext cx="381000" cy="369332"/>
          </a:xfrm>
          <a:prstGeom prst="rect">
            <a:avLst/>
          </a:prstGeom>
          <a:noFill/>
        </p:spPr>
        <p:txBody>
          <a:bodyPr wrap="square" rtlCol="0">
            <a:spAutoFit/>
          </a:bodyPr>
          <a:lstStyle/>
          <a:p>
            <a:r>
              <a:rPr lang="en-US" dirty="0" smtClean="0">
                <a:solidFill>
                  <a:srgbClr val="0824F2"/>
                </a:solidFill>
              </a:rPr>
              <a:t>x</a:t>
            </a:r>
            <a:endParaRPr lang="en-US" dirty="0">
              <a:solidFill>
                <a:srgbClr val="0824F2"/>
              </a:solidFill>
            </a:endParaRPr>
          </a:p>
        </p:txBody>
      </p:sp>
      <p:sp>
        <p:nvSpPr>
          <p:cNvPr id="568" name="TextBox 567"/>
          <p:cNvSpPr txBox="1"/>
          <p:nvPr/>
        </p:nvSpPr>
        <p:spPr>
          <a:xfrm>
            <a:off x="152400" y="3516868"/>
            <a:ext cx="609600" cy="369332"/>
          </a:xfrm>
          <a:prstGeom prst="rect">
            <a:avLst/>
          </a:prstGeom>
          <a:noFill/>
        </p:spPr>
        <p:txBody>
          <a:bodyPr wrap="square" rtlCol="0">
            <a:spAutoFit/>
          </a:bodyPr>
          <a:lstStyle/>
          <a:p>
            <a:r>
              <a:rPr lang="en-US" dirty="0" err="1" smtClean="0">
                <a:solidFill>
                  <a:srgbClr val="0824F2"/>
                </a:solidFill>
              </a:rPr>
              <a:t>A·x</a:t>
            </a:r>
            <a:endParaRPr lang="en-US" dirty="0">
              <a:solidFill>
                <a:srgbClr val="0824F2"/>
              </a:solidFill>
            </a:endParaRPr>
          </a:p>
        </p:txBody>
      </p:sp>
      <p:sp>
        <p:nvSpPr>
          <p:cNvPr id="569" name="TextBox 568"/>
          <p:cNvSpPr txBox="1"/>
          <p:nvPr/>
        </p:nvSpPr>
        <p:spPr>
          <a:xfrm>
            <a:off x="152400" y="3124200"/>
            <a:ext cx="609600" cy="369332"/>
          </a:xfrm>
          <a:prstGeom prst="rect">
            <a:avLst/>
          </a:prstGeom>
          <a:noFill/>
        </p:spPr>
        <p:txBody>
          <a:bodyPr wrap="square" rtlCol="0">
            <a:spAutoFit/>
          </a:bodyPr>
          <a:lstStyle/>
          <a:p>
            <a:r>
              <a:rPr lang="en-US" dirty="0" smtClean="0">
                <a:solidFill>
                  <a:srgbClr val="0824F2"/>
                </a:solidFill>
              </a:rPr>
              <a:t>A</a:t>
            </a:r>
            <a:r>
              <a:rPr lang="en-US" sz="2000" b="1" baseline="30000" dirty="0" smtClean="0">
                <a:solidFill>
                  <a:srgbClr val="0824F2"/>
                </a:solidFill>
              </a:rPr>
              <a:t>2</a:t>
            </a:r>
            <a:r>
              <a:rPr lang="en-US" dirty="0" smtClean="0">
                <a:solidFill>
                  <a:srgbClr val="0824F2"/>
                </a:solidFill>
              </a:rPr>
              <a:t>·x</a:t>
            </a:r>
            <a:endParaRPr lang="en-US" dirty="0">
              <a:solidFill>
                <a:srgbClr val="0824F2"/>
              </a:solidFill>
            </a:endParaRPr>
          </a:p>
        </p:txBody>
      </p:sp>
      <p:sp>
        <p:nvSpPr>
          <p:cNvPr id="570" name="TextBox 569"/>
          <p:cNvSpPr txBox="1"/>
          <p:nvPr/>
        </p:nvSpPr>
        <p:spPr>
          <a:xfrm>
            <a:off x="152400" y="2743200"/>
            <a:ext cx="609600" cy="369332"/>
          </a:xfrm>
          <a:prstGeom prst="rect">
            <a:avLst/>
          </a:prstGeom>
          <a:noFill/>
        </p:spPr>
        <p:txBody>
          <a:bodyPr wrap="square" rtlCol="0">
            <a:spAutoFit/>
          </a:bodyPr>
          <a:lstStyle/>
          <a:p>
            <a:r>
              <a:rPr lang="en-US" dirty="0" smtClean="0">
                <a:solidFill>
                  <a:srgbClr val="0824F2"/>
                </a:solidFill>
              </a:rPr>
              <a:t>A</a:t>
            </a:r>
            <a:r>
              <a:rPr lang="en-US" sz="2000" b="1" baseline="30000" dirty="0" smtClean="0">
                <a:solidFill>
                  <a:srgbClr val="0824F2"/>
                </a:solidFill>
              </a:rPr>
              <a:t>3</a:t>
            </a:r>
            <a:r>
              <a:rPr lang="en-US" dirty="0" smtClean="0">
                <a:solidFill>
                  <a:srgbClr val="0824F2"/>
                </a:solidFill>
              </a:rPr>
              <a:t>·x</a:t>
            </a:r>
            <a:endParaRPr lang="en-US" dirty="0">
              <a:solidFill>
                <a:srgbClr val="0824F2"/>
              </a:solidFill>
            </a:endParaRPr>
          </a:p>
        </p:txBody>
      </p:sp>
      <p:sp>
        <p:nvSpPr>
          <p:cNvPr id="536" name="Isosceles Triangle 535"/>
          <p:cNvSpPr/>
          <p:nvPr/>
        </p:nvSpPr>
        <p:spPr>
          <a:xfrm>
            <a:off x="1981200" y="2895600"/>
            <a:ext cx="1600200" cy="1219200"/>
          </a:xfrm>
          <a:prstGeom prst="triangle">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7" name="Trapezoid 536"/>
          <p:cNvSpPr/>
          <p:nvPr/>
        </p:nvSpPr>
        <p:spPr>
          <a:xfrm>
            <a:off x="4038600" y="2895600"/>
            <a:ext cx="3581400" cy="1219200"/>
          </a:xfrm>
          <a:prstGeom prst="trapezoid">
            <a:avLst>
              <a:gd name="adj" fmla="val 63044"/>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8" name="Isosceles Triangle 537"/>
          <p:cNvSpPr/>
          <p:nvPr/>
        </p:nvSpPr>
        <p:spPr>
          <a:xfrm>
            <a:off x="4038600" y="2895600"/>
            <a:ext cx="1524000" cy="1219200"/>
          </a:xfrm>
          <a:prstGeom prst="triangle">
            <a:avLst/>
          </a:prstGeom>
          <a:solidFill>
            <a:schemeClr val="bg2">
              <a:lumMod val="50000"/>
            </a:schemeClr>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9" name="Isosceles Triangle 538"/>
          <p:cNvSpPr/>
          <p:nvPr/>
        </p:nvSpPr>
        <p:spPr>
          <a:xfrm>
            <a:off x="6096000" y="2895600"/>
            <a:ext cx="1524000" cy="1219200"/>
          </a:xfrm>
          <a:prstGeom prst="triangle">
            <a:avLst/>
          </a:prstGeom>
          <a:solidFill>
            <a:schemeClr val="accent4">
              <a:lumMod val="40000"/>
              <a:lumOff val="60000"/>
            </a:schemeClr>
          </a:solidFill>
          <a:ln>
            <a:solidFill>
              <a:schemeClr val="accent4">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 308"/>
          <p:cNvGrpSpPr/>
          <p:nvPr/>
        </p:nvGrpSpPr>
        <p:grpSpPr>
          <a:xfrm>
            <a:off x="762000" y="2895600"/>
            <a:ext cx="8077200" cy="1219200"/>
            <a:chOff x="-9144000" y="1447800"/>
            <a:chExt cx="28498800" cy="2895600"/>
          </a:xfrm>
        </p:grpSpPr>
        <p:grpSp>
          <p:nvGrpSpPr>
            <p:cNvPr id="3" name="Group 180"/>
            <p:cNvGrpSpPr/>
            <p:nvPr/>
          </p:nvGrpSpPr>
          <p:grpSpPr>
            <a:xfrm>
              <a:off x="-9144000" y="1447800"/>
              <a:ext cx="13868400" cy="2895600"/>
              <a:chOff x="914400" y="1447800"/>
              <a:chExt cx="13868400" cy="2895600"/>
            </a:xfrm>
          </p:grpSpPr>
          <p:grpSp>
            <p:nvGrpSpPr>
              <p:cNvPr id="4" name="Group 116"/>
              <p:cNvGrpSpPr/>
              <p:nvPr/>
            </p:nvGrpSpPr>
            <p:grpSpPr>
              <a:xfrm>
                <a:off x="914400" y="1447800"/>
                <a:ext cx="6553200" cy="2895600"/>
                <a:chOff x="914400" y="1447800"/>
                <a:chExt cx="6553200" cy="2895600"/>
              </a:xfrm>
            </p:grpSpPr>
            <p:grpSp>
              <p:nvGrpSpPr>
                <p:cNvPr id="5" name="Group 84"/>
                <p:cNvGrpSpPr/>
                <p:nvPr/>
              </p:nvGrpSpPr>
              <p:grpSpPr>
                <a:xfrm>
                  <a:off x="914400" y="1447800"/>
                  <a:ext cx="2895600" cy="2895600"/>
                  <a:chOff x="914400" y="1447800"/>
                  <a:chExt cx="2895600" cy="2895600"/>
                </a:xfrm>
              </p:grpSpPr>
              <p:grpSp>
                <p:nvGrpSpPr>
                  <p:cNvPr id="6" name="Group 68"/>
                  <p:cNvGrpSpPr/>
                  <p:nvPr/>
                </p:nvGrpSpPr>
                <p:grpSpPr>
                  <a:xfrm>
                    <a:off x="914400" y="1447800"/>
                    <a:ext cx="2895600" cy="1066800"/>
                    <a:chOff x="914400" y="1447800"/>
                    <a:chExt cx="2895600" cy="1066800"/>
                  </a:xfrm>
                </p:grpSpPr>
                <p:grpSp>
                  <p:nvGrpSpPr>
                    <p:cNvPr id="7" name="Group 60"/>
                    <p:cNvGrpSpPr/>
                    <p:nvPr/>
                  </p:nvGrpSpPr>
                  <p:grpSpPr>
                    <a:xfrm>
                      <a:off x="914400" y="2362200"/>
                      <a:ext cx="2895600" cy="152400"/>
                      <a:chOff x="914400" y="1447800"/>
                      <a:chExt cx="2895600" cy="152400"/>
                    </a:xfrm>
                  </p:grpSpPr>
                  <p:grpSp>
                    <p:nvGrpSpPr>
                      <p:cNvPr id="8" name="Group 56"/>
                      <p:cNvGrpSpPr/>
                      <p:nvPr/>
                    </p:nvGrpSpPr>
                    <p:grpSpPr>
                      <a:xfrm>
                        <a:off x="914400" y="1447800"/>
                        <a:ext cx="1066800" cy="152400"/>
                        <a:chOff x="914400" y="1447800"/>
                        <a:chExt cx="1066800" cy="152400"/>
                      </a:xfrm>
                    </p:grpSpPr>
                    <p:sp>
                      <p:nvSpPr>
                        <p:cNvPr id="53" name="Oval 5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Oval 5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 name="Group 57"/>
                      <p:cNvGrpSpPr/>
                      <p:nvPr/>
                    </p:nvGrpSpPr>
                    <p:grpSpPr>
                      <a:xfrm>
                        <a:off x="2743200" y="1447800"/>
                        <a:ext cx="1066800" cy="152400"/>
                        <a:chOff x="914400" y="1447800"/>
                        <a:chExt cx="1066800" cy="152400"/>
                      </a:xfrm>
                    </p:grpSpPr>
                    <p:sp>
                      <p:nvSpPr>
                        <p:cNvPr id="59" name="Oval 58"/>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Oval 59"/>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0" name="Group 61"/>
                    <p:cNvGrpSpPr/>
                    <p:nvPr/>
                  </p:nvGrpSpPr>
                  <p:grpSpPr>
                    <a:xfrm>
                      <a:off x="914400" y="1447800"/>
                      <a:ext cx="2895600" cy="152400"/>
                      <a:chOff x="914400" y="1447800"/>
                      <a:chExt cx="2895600" cy="152400"/>
                    </a:xfrm>
                  </p:grpSpPr>
                  <p:grpSp>
                    <p:nvGrpSpPr>
                      <p:cNvPr id="11" name="Group 56"/>
                      <p:cNvGrpSpPr/>
                      <p:nvPr/>
                    </p:nvGrpSpPr>
                    <p:grpSpPr>
                      <a:xfrm>
                        <a:off x="914400" y="1447800"/>
                        <a:ext cx="1066800" cy="152400"/>
                        <a:chOff x="914400" y="1447800"/>
                        <a:chExt cx="1066800" cy="152400"/>
                      </a:xfrm>
                    </p:grpSpPr>
                    <p:sp>
                      <p:nvSpPr>
                        <p:cNvPr id="67" name="Oval 66"/>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Oval 67"/>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2" name="Group 57"/>
                      <p:cNvGrpSpPr/>
                      <p:nvPr/>
                    </p:nvGrpSpPr>
                    <p:grpSpPr>
                      <a:xfrm>
                        <a:off x="2743200" y="1447800"/>
                        <a:ext cx="1066800" cy="152400"/>
                        <a:chOff x="914400" y="1447800"/>
                        <a:chExt cx="1066800" cy="152400"/>
                      </a:xfrm>
                    </p:grpSpPr>
                    <p:sp>
                      <p:nvSpPr>
                        <p:cNvPr id="65" name="Oval 64"/>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Oval 65"/>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nvGrpSpPr>
                  <p:cNvPr id="13" name="Group 69"/>
                  <p:cNvGrpSpPr/>
                  <p:nvPr/>
                </p:nvGrpSpPr>
                <p:grpSpPr>
                  <a:xfrm>
                    <a:off x="914400" y="3276600"/>
                    <a:ext cx="2895600" cy="1066800"/>
                    <a:chOff x="914400" y="1447800"/>
                    <a:chExt cx="2895600" cy="1066800"/>
                  </a:xfrm>
                </p:grpSpPr>
                <p:grpSp>
                  <p:nvGrpSpPr>
                    <p:cNvPr id="14" name="Group 60"/>
                    <p:cNvGrpSpPr/>
                    <p:nvPr/>
                  </p:nvGrpSpPr>
                  <p:grpSpPr>
                    <a:xfrm>
                      <a:off x="914400" y="2362200"/>
                      <a:ext cx="2895600" cy="152400"/>
                      <a:chOff x="914400" y="1447800"/>
                      <a:chExt cx="2895600" cy="152400"/>
                    </a:xfrm>
                  </p:grpSpPr>
                  <p:grpSp>
                    <p:nvGrpSpPr>
                      <p:cNvPr id="15" name="Group 56"/>
                      <p:cNvGrpSpPr/>
                      <p:nvPr/>
                    </p:nvGrpSpPr>
                    <p:grpSpPr>
                      <a:xfrm>
                        <a:off x="914400" y="1447800"/>
                        <a:ext cx="1066800" cy="152400"/>
                        <a:chOff x="914400" y="1447800"/>
                        <a:chExt cx="1066800" cy="152400"/>
                      </a:xfrm>
                    </p:grpSpPr>
                    <p:sp>
                      <p:nvSpPr>
                        <p:cNvPr id="83" name="Oval 8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Oval 8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 name="Group 57"/>
                      <p:cNvGrpSpPr/>
                      <p:nvPr/>
                    </p:nvGrpSpPr>
                    <p:grpSpPr>
                      <a:xfrm>
                        <a:off x="2743200" y="1447800"/>
                        <a:ext cx="1066800" cy="152400"/>
                        <a:chOff x="914400" y="1447800"/>
                        <a:chExt cx="1066800" cy="152400"/>
                      </a:xfrm>
                    </p:grpSpPr>
                    <p:sp>
                      <p:nvSpPr>
                        <p:cNvPr id="81" name="Oval 80"/>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Oval 81"/>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7" name="Group 61"/>
                    <p:cNvGrpSpPr/>
                    <p:nvPr/>
                  </p:nvGrpSpPr>
                  <p:grpSpPr>
                    <a:xfrm>
                      <a:off x="914400" y="1447800"/>
                      <a:ext cx="2895600" cy="152400"/>
                      <a:chOff x="914400" y="1447800"/>
                      <a:chExt cx="2895600" cy="152400"/>
                    </a:xfrm>
                  </p:grpSpPr>
                  <p:grpSp>
                    <p:nvGrpSpPr>
                      <p:cNvPr id="18" name="Group 56"/>
                      <p:cNvGrpSpPr/>
                      <p:nvPr/>
                    </p:nvGrpSpPr>
                    <p:grpSpPr>
                      <a:xfrm>
                        <a:off x="914400" y="1447800"/>
                        <a:ext cx="1066800" cy="152400"/>
                        <a:chOff x="914400" y="1447800"/>
                        <a:chExt cx="1066800" cy="152400"/>
                      </a:xfrm>
                    </p:grpSpPr>
                    <p:sp>
                      <p:nvSpPr>
                        <p:cNvPr id="77" name="Oval 76"/>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Oval 77"/>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9" name="Group 57"/>
                      <p:cNvGrpSpPr/>
                      <p:nvPr/>
                    </p:nvGrpSpPr>
                    <p:grpSpPr>
                      <a:xfrm>
                        <a:off x="2743200" y="1447800"/>
                        <a:ext cx="1066800" cy="152400"/>
                        <a:chOff x="914400" y="1447800"/>
                        <a:chExt cx="1066800" cy="152400"/>
                      </a:xfrm>
                    </p:grpSpPr>
                    <p:sp>
                      <p:nvSpPr>
                        <p:cNvPr id="75" name="Oval 74"/>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Oval 75"/>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grpSp>
              <p:nvGrpSpPr>
                <p:cNvPr id="20" name="Group 85"/>
                <p:cNvGrpSpPr/>
                <p:nvPr/>
              </p:nvGrpSpPr>
              <p:grpSpPr>
                <a:xfrm>
                  <a:off x="4572000" y="1447800"/>
                  <a:ext cx="2895600" cy="2895600"/>
                  <a:chOff x="914400" y="1447800"/>
                  <a:chExt cx="2895600" cy="2895600"/>
                </a:xfrm>
              </p:grpSpPr>
              <p:grpSp>
                <p:nvGrpSpPr>
                  <p:cNvPr id="21" name="Group 68"/>
                  <p:cNvGrpSpPr/>
                  <p:nvPr/>
                </p:nvGrpSpPr>
                <p:grpSpPr>
                  <a:xfrm>
                    <a:off x="914400" y="1447800"/>
                    <a:ext cx="2895600" cy="1066800"/>
                    <a:chOff x="914400" y="1447800"/>
                    <a:chExt cx="2895600" cy="1066800"/>
                  </a:xfrm>
                </p:grpSpPr>
                <p:grpSp>
                  <p:nvGrpSpPr>
                    <p:cNvPr id="22" name="Group 60"/>
                    <p:cNvGrpSpPr/>
                    <p:nvPr/>
                  </p:nvGrpSpPr>
                  <p:grpSpPr>
                    <a:xfrm>
                      <a:off x="914400" y="2362200"/>
                      <a:ext cx="2895600" cy="152400"/>
                      <a:chOff x="914400" y="1447800"/>
                      <a:chExt cx="2895600" cy="152400"/>
                    </a:xfrm>
                  </p:grpSpPr>
                  <p:grpSp>
                    <p:nvGrpSpPr>
                      <p:cNvPr id="23" name="Group 56"/>
                      <p:cNvGrpSpPr/>
                      <p:nvPr/>
                    </p:nvGrpSpPr>
                    <p:grpSpPr>
                      <a:xfrm>
                        <a:off x="914400" y="1447800"/>
                        <a:ext cx="1066800" cy="152400"/>
                        <a:chOff x="914400" y="1447800"/>
                        <a:chExt cx="1066800" cy="152400"/>
                      </a:xfrm>
                    </p:grpSpPr>
                    <p:sp>
                      <p:nvSpPr>
                        <p:cNvPr id="115" name="Oval 114"/>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 name="Oval 115"/>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4" name="Group 57"/>
                      <p:cNvGrpSpPr/>
                      <p:nvPr/>
                    </p:nvGrpSpPr>
                    <p:grpSpPr>
                      <a:xfrm>
                        <a:off x="2743200" y="1447800"/>
                        <a:ext cx="1066800" cy="152400"/>
                        <a:chOff x="914400" y="1447800"/>
                        <a:chExt cx="1066800" cy="152400"/>
                      </a:xfrm>
                    </p:grpSpPr>
                    <p:sp>
                      <p:nvSpPr>
                        <p:cNvPr id="113" name="Oval 11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Oval 11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25" name="Group 61"/>
                    <p:cNvGrpSpPr/>
                    <p:nvPr/>
                  </p:nvGrpSpPr>
                  <p:grpSpPr>
                    <a:xfrm>
                      <a:off x="914400" y="1447800"/>
                      <a:ext cx="2895600" cy="152400"/>
                      <a:chOff x="914400" y="1447800"/>
                      <a:chExt cx="2895600" cy="152400"/>
                    </a:xfrm>
                  </p:grpSpPr>
                  <p:grpSp>
                    <p:nvGrpSpPr>
                      <p:cNvPr id="26" name="Group 56"/>
                      <p:cNvGrpSpPr/>
                      <p:nvPr/>
                    </p:nvGrpSpPr>
                    <p:grpSpPr>
                      <a:xfrm>
                        <a:off x="914400" y="1447800"/>
                        <a:ext cx="1066800" cy="152400"/>
                        <a:chOff x="914400" y="1447800"/>
                        <a:chExt cx="1066800" cy="152400"/>
                      </a:xfrm>
                    </p:grpSpPr>
                    <p:sp>
                      <p:nvSpPr>
                        <p:cNvPr id="109" name="Oval 108"/>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Oval 109"/>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7" name="Group 57"/>
                      <p:cNvGrpSpPr/>
                      <p:nvPr/>
                    </p:nvGrpSpPr>
                    <p:grpSpPr>
                      <a:xfrm>
                        <a:off x="2743200" y="1447800"/>
                        <a:ext cx="1066800" cy="152400"/>
                        <a:chOff x="914400" y="1447800"/>
                        <a:chExt cx="1066800" cy="152400"/>
                      </a:xfrm>
                    </p:grpSpPr>
                    <p:sp>
                      <p:nvSpPr>
                        <p:cNvPr id="107" name="Oval 106"/>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Oval 107"/>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nvGrpSpPr>
                  <p:cNvPr id="28" name="Group 69"/>
                  <p:cNvGrpSpPr/>
                  <p:nvPr/>
                </p:nvGrpSpPr>
                <p:grpSpPr>
                  <a:xfrm>
                    <a:off x="914400" y="3276600"/>
                    <a:ext cx="2895600" cy="1066800"/>
                    <a:chOff x="914400" y="1447800"/>
                    <a:chExt cx="2895600" cy="1066800"/>
                  </a:xfrm>
                </p:grpSpPr>
                <p:grpSp>
                  <p:nvGrpSpPr>
                    <p:cNvPr id="29" name="Group 60"/>
                    <p:cNvGrpSpPr/>
                    <p:nvPr/>
                  </p:nvGrpSpPr>
                  <p:grpSpPr>
                    <a:xfrm>
                      <a:off x="914400" y="2362200"/>
                      <a:ext cx="2895600" cy="152400"/>
                      <a:chOff x="914400" y="1447800"/>
                      <a:chExt cx="2895600" cy="152400"/>
                    </a:xfrm>
                  </p:grpSpPr>
                  <p:grpSp>
                    <p:nvGrpSpPr>
                      <p:cNvPr id="30" name="Group 56"/>
                      <p:cNvGrpSpPr/>
                      <p:nvPr/>
                    </p:nvGrpSpPr>
                    <p:grpSpPr>
                      <a:xfrm>
                        <a:off x="914400" y="1447800"/>
                        <a:ext cx="1066800" cy="152400"/>
                        <a:chOff x="914400" y="1447800"/>
                        <a:chExt cx="1066800" cy="152400"/>
                      </a:xfrm>
                    </p:grpSpPr>
                    <p:sp>
                      <p:nvSpPr>
                        <p:cNvPr id="101" name="Oval 100"/>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Oval 101"/>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1" name="Group 57"/>
                      <p:cNvGrpSpPr/>
                      <p:nvPr/>
                    </p:nvGrpSpPr>
                    <p:grpSpPr>
                      <a:xfrm>
                        <a:off x="2743200" y="1447800"/>
                        <a:ext cx="1066800" cy="152400"/>
                        <a:chOff x="914400" y="1447800"/>
                        <a:chExt cx="1066800" cy="152400"/>
                      </a:xfrm>
                    </p:grpSpPr>
                    <p:sp>
                      <p:nvSpPr>
                        <p:cNvPr id="99" name="Oval 98"/>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Oval 99"/>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32" name="Group 61"/>
                    <p:cNvGrpSpPr/>
                    <p:nvPr/>
                  </p:nvGrpSpPr>
                  <p:grpSpPr>
                    <a:xfrm>
                      <a:off x="914400" y="1447800"/>
                      <a:ext cx="2895600" cy="152400"/>
                      <a:chOff x="914400" y="1447800"/>
                      <a:chExt cx="2895600" cy="152400"/>
                    </a:xfrm>
                  </p:grpSpPr>
                  <p:grpSp>
                    <p:nvGrpSpPr>
                      <p:cNvPr id="33" name="Group 56"/>
                      <p:cNvGrpSpPr/>
                      <p:nvPr/>
                    </p:nvGrpSpPr>
                    <p:grpSpPr>
                      <a:xfrm>
                        <a:off x="914400" y="1447800"/>
                        <a:ext cx="1066800" cy="152400"/>
                        <a:chOff x="914400" y="1447800"/>
                        <a:chExt cx="1066800" cy="152400"/>
                      </a:xfrm>
                    </p:grpSpPr>
                    <p:sp>
                      <p:nvSpPr>
                        <p:cNvPr id="95" name="Oval 94"/>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Oval 95"/>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4" name="Group 57"/>
                      <p:cNvGrpSpPr/>
                      <p:nvPr/>
                    </p:nvGrpSpPr>
                    <p:grpSpPr>
                      <a:xfrm>
                        <a:off x="2743200" y="1447800"/>
                        <a:ext cx="1066800" cy="152400"/>
                        <a:chOff x="914400" y="1447800"/>
                        <a:chExt cx="1066800" cy="152400"/>
                      </a:xfrm>
                    </p:grpSpPr>
                    <p:sp>
                      <p:nvSpPr>
                        <p:cNvPr id="93" name="Oval 9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Oval 9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grpSp>
          <p:grpSp>
            <p:nvGrpSpPr>
              <p:cNvPr id="35" name="Group 117"/>
              <p:cNvGrpSpPr/>
              <p:nvPr/>
            </p:nvGrpSpPr>
            <p:grpSpPr>
              <a:xfrm>
                <a:off x="8229600" y="1447800"/>
                <a:ext cx="6553200" cy="2895600"/>
                <a:chOff x="914400" y="1447800"/>
                <a:chExt cx="6553200" cy="2895600"/>
              </a:xfrm>
            </p:grpSpPr>
            <p:grpSp>
              <p:nvGrpSpPr>
                <p:cNvPr id="36" name="Group 84"/>
                <p:cNvGrpSpPr/>
                <p:nvPr/>
              </p:nvGrpSpPr>
              <p:grpSpPr>
                <a:xfrm>
                  <a:off x="914400" y="1447800"/>
                  <a:ext cx="2895600" cy="2895600"/>
                  <a:chOff x="914400" y="1447800"/>
                  <a:chExt cx="2895600" cy="2895600"/>
                </a:xfrm>
              </p:grpSpPr>
              <p:grpSp>
                <p:nvGrpSpPr>
                  <p:cNvPr id="37" name="Group 68"/>
                  <p:cNvGrpSpPr/>
                  <p:nvPr/>
                </p:nvGrpSpPr>
                <p:grpSpPr>
                  <a:xfrm>
                    <a:off x="914400" y="1447800"/>
                    <a:ext cx="2895600" cy="1066800"/>
                    <a:chOff x="914400" y="1447800"/>
                    <a:chExt cx="2895600" cy="1066800"/>
                  </a:xfrm>
                </p:grpSpPr>
                <p:grpSp>
                  <p:nvGrpSpPr>
                    <p:cNvPr id="38" name="Group 60"/>
                    <p:cNvGrpSpPr/>
                    <p:nvPr/>
                  </p:nvGrpSpPr>
                  <p:grpSpPr>
                    <a:xfrm>
                      <a:off x="914400" y="2362200"/>
                      <a:ext cx="2895600" cy="152400"/>
                      <a:chOff x="914400" y="1447800"/>
                      <a:chExt cx="2895600" cy="152400"/>
                    </a:xfrm>
                  </p:grpSpPr>
                  <p:grpSp>
                    <p:nvGrpSpPr>
                      <p:cNvPr id="39" name="Group 56"/>
                      <p:cNvGrpSpPr/>
                      <p:nvPr/>
                    </p:nvGrpSpPr>
                    <p:grpSpPr>
                      <a:xfrm>
                        <a:off x="914400" y="1447800"/>
                        <a:ext cx="1066800" cy="152400"/>
                        <a:chOff x="914400" y="1447800"/>
                        <a:chExt cx="1066800" cy="152400"/>
                      </a:xfrm>
                    </p:grpSpPr>
                    <p:sp>
                      <p:nvSpPr>
                        <p:cNvPr id="179" name="Oval 5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0" name="Oval 5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0" name="Group 57"/>
                      <p:cNvGrpSpPr/>
                      <p:nvPr/>
                    </p:nvGrpSpPr>
                    <p:grpSpPr>
                      <a:xfrm>
                        <a:off x="2743200" y="1447800"/>
                        <a:ext cx="1066800" cy="152400"/>
                        <a:chOff x="914400" y="1447800"/>
                        <a:chExt cx="1066800" cy="152400"/>
                      </a:xfrm>
                    </p:grpSpPr>
                    <p:sp>
                      <p:nvSpPr>
                        <p:cNvPr id="177" name="Oval 58"/>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8" name="Oval 59"/>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41" name="Group 61"/>
                    <p:cNvGrpSpPr/>
                    <p:nvPr/>
                  </p:nvGrpSpPr>
                  <p:grpSpPr>
                    <a:xfrm>
                      <a:off x="914400" y="1447800"/>
                      <a:ext cx="2895600" cy="152400"/>
                      <a:chOff x="914400" y="1447800"/>
                      <a:chExt cx="2895600" cy="152400"/>
                    </a:xfrm>
                  </p:grpSpPr>
                  <p:grpSp>
                    <p:nvGrpSpPr>
                      <p:cNvPr id="42" name="Group 56"/>
                      <p:cNvGrpSpPr/>
                      <p:nvPr/>
                    </p:nvGrpSpPr>
                    <p:grpSpPr>
                      <a:xfrm>
                        <a:off x="914400" y="1447800"/>
                        <a:ext cx="1066800" cy="152400"/>
                        <a:chOff x="914400" y="1447800"/>
                        <a:chExt cx="1066800" cy="152400"/>
                      </a:xfrm>
                    </p:grpSpPr>
                    <p:sp>
                      <p:nvSpPr>
                        <p:cNvPr id="173" name="Oval 17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4" name="Oval 17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3" name="Group 57"/>
                      <p:cNvGrpSpPr/>
                      <p:nvPr/>
                    </p:nvGrpSpPr>
                    <p:grpSpPr>
                      <a:xfrm>
                        <a:off x="2743200" y="1447800"/>
                        <a:ext cx="1066800" cy="152400"/>
                        <a:chOff x="914400" y="1447800"/>
                        <a:chExt cx="1066800" cy="152400"/>
                      </a:xfrm>
                    </p:grpSpPr>
                    <p:sp>
                      <p:nvSpPr>
                        <p:cNvPr id="171" name="Oval 170"/>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2" name="Oval 171"/>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nvGrpSpPr>
                  <p:cNvPr id="44" name="Group 69"/>
                  <p:cNvGrpSpPr/>
                  <p:nvPr/>
                </p:nvGrpSpPr>
                <p:grpSpPr>
                  <a:xfrm>
                    <a:off x="914400" y="3276600"/>
                    <a:ext cx="2895600" cy="1066800"/>
                    <a:chOff x="914400" y="1447800"/>
                    <a:chExt cx="2895600" cy="1066800"/>
                  </a:xfrm>
                </p:grpSpPr>
                <p:grpSp>
                  <p:nvGrpSpPr>
                    <p:cNvPr id="45" name="Group 60"/>
                    <p:cNvGrpSpPr/>
                    <p:nvPr/>
                  </p:nvGrpSpPr>
                  <p:grpSpPr>
                    <a:xfrm>
                      <a:off x="914400" y="2362200"/>
                      <a:ext cx="2895600" cy="152400"/>
                      <a:chOff x="914400" y="1447800"/>
                      <a:chExt cx="2895600" cy="152400"/>
                    </a:xfrm>
                  </p:grpSpPr>
                  <p:grpSp>
                    <p:nvGrpSpPr>
                      <p:cNvPr id="46" name="Group 56"/>
                      <p:cNvGrpSpPr/>
                      <p:nvPr/>
                    </p:nvGrpSpPr>
                    <p:grpSpPr>
                      <a:xfrm>
                        <a:off x="914400" y="1447800"/>
                        <a:ext cx="1066800" cy="152400"/>
                        <a:chOff x="914400" y="1447800"/>
                        <a:chExt cx="1066800" cy="152400"/>
                      </a:xfrm>
                    </p:grpSpPr>
                    <p:sp>
                      <p:nvSpPr>
                        <p:cNvPr id="165" name="Oval 164"/>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6" name="Oval 165"/>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7" name="Group 57"/>
                      <p:cNvGrpSpPr/>
                      <p:nvPr/>
                    </p:nvGrpSpPr>
                    <p:grpSpPr>
                      <a:xfrm>
                        <a:off x="2743200" y="1447800"/>
                        <a:ext cx="1066800" cy="152400"/>
                        <a:chOff x="914400" y="1447800"/>
                        <a:chExt cx="1066800" cy="152400"/>
                      </a:xfrm>
                    </p:grpSpPr>
                    <p:sp>
                      <p:nvSpPr>
                        <p:cNvPr id="163" name="Oval 16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4" name="Oval 16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48" name="Group 61"/>
                    <p:cNvGrpSpPr/>
                    <p:nvPr/>
                  </p:nvGrpSpPr>
                  <p:grpSpPr>
                    <a:xfrm>
                      <a:off x="914400" y="1447800"/>
                      <a:ext cx="2895600" cy="152400"/>
                      <a:chOff x="914400" y="1447800"/>
                      <a:chExt cx="2895600" cy="152400"/>
                    </a:xfrm>
                  </p:grpSpPr>
                  <p:grpSp>
                    <p:nvGrpSpPr>
                      <p:cNvPr id="49" name="Group 56"/>
                      <p:cNvGrpSpPr/>
                      <p:nvPr/>
                    </p:nvGrpSpPr>
                    <p:grpSpPr>
                      <a:xfrm>
                        <a:off x="914400" y="1447800"/>
                        <a:ext cx="1066800" cy="152400"/>
                        <a:chOff x="914400" y="1447800"/>
                        <a:chExt cx="1066800" cy="152400"/>
                      </a:xfrm>
                    </p:grpSpPr>
                    <p:sp>
                      <p:nvSpPr>
                        <p:cNvPr id="159" name="Oval 158"/>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0" name="Oval 159"/>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0" name="Group 57"/>
                      <p:cNvGrpSpPr/>
                      <p:nvPr/>
                    </p:nvGrpSpPr>
                    <p:grpSpPr>
                      <a:xfrm>
                        <a:off x="2743200" y="1447800"/>
                        <a:ext cx="1066800" cy="152400"/>
                        <a:chOff x="914400" y="1447800"/>
                        <a:chExt cx="1066800" cy="152400"/>
                      </a:xfrm>
                    </p:grpSpPr>
                    <p:sp>
                      <p:nvSpPr>
                        <p:cNvPr id="157" name="Oval 156"/>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8" name="Oval 157"/>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grpSp>
              <p:nvGrpSpPr>
                <p:cNvPr id="51" name="Group 85"/>
                <p:cNvGrpSpPr/>
                <p:nvPr/>
              </p:nvGrpSpPr>
              <p:grpSpPr>
                <a:xfrm>
                  <a:off x="4572000" y="1447800"/>
                  <a:ext cx="2895600" cy="2895600"/>
                  <a:chOff x="914400" y="1447800"/>
                  <a:chExt cx="2895600" cy="2895600"/>
                </a:xfrm>
              </p:grpSpPr>
              <p:grpSp>
                <p:nvGrpSpPr>
                  <p:cNvPr id="52" name="Group 68"/>
                  <p:cNvGrpSpPr/>
                  <p:nvPr/>
                </p:nvGrpSpPr>
                <p:grpSpPr>
                  <a:xfrm>
                    <a:off x="914400" y="1447800"/>
                    <a:ext cx="2895600" cy="1066800"/>
                    <a:chOff x="914400" y="1447800"/>
                    <a:chExt cx="2895600" cy="1066800"/>
                  </a:xfrm>
                </p:grpSpPr>
                <p:grpSp>
                  <p:nvGrpSpPr>
                    <p:cNvPr id="55" name="Group 60"/>
                    <p:cNvGrpSpPr/>
                    <p:nvPr/>
                  </p:nvGrpSpPr>
                  <p:grpSpPr>
                    <a:xfrm>
                      <a:off x="914400" y="2362200"/>
                      <a:ext cx="2895600" cy="152400"/>
                      <a:chOff x="914400" y="1447800"/>
                      <a:chExt cx="2895600" cy="152400"/>
                    </a:xfrm>
                  </p:grpSpPr>
                  <p:grpSp>
                    <p:nvGrpSpPr>
                      <p:cNvPr id="56" name="Group 56"/>
                      <p:cNvGrpSpPr/>
                      <p:nvPr/>
                    </p:nvGrpSpPr>
                    <p:grpSpPr>
                      <a:xfrm>
                        <a:off x="914400" y="1447800"/>
                        <a:ext cx="1066800" cy="152400"/>
                        <a:chOff x="914400" y="1447800"/>
                        <a:chExt cx="1066800" cy="152400"/>
                      </a:xfrm>
                    </p:grpSpPr>
                    <p:sp>
                      <p:nvSpPr>
                        <p:cNvPr id="149" name="Oval 148"/>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0" name="Oval 149"/>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7" name="Group 57"/>
                      <p:cNvGrpSpPr/>
                      <p:nvPr/>
                    </p:nvGrpSpPr>
                    <p:grpSpPr>
                      <a:xfrm>
                        <a:off x="2743200" y="1447800"/>
                        <a:ext cx="1066800" cy="152400"/>
                        <a:chOff x="914400" y="1447800"/>
                        <a:chExt cx="1066800" cy="152400"/>
                      </a:xfrm>
                    </p:grpSpPr>
                    <p:sp>
                      <p:nvSpPr>
                        <p:cNvPr id="147" name="Oval 146"/>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8" name="Oval 147"/>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58" name="Group 61"/>
                    <p:cNvGrpSpPr/>
                    <p:nvPr/>
                  </p:nvGrpSpPr>
                  <p:grpSpPr>
                    <a:xfrm>
                      <a:off x="914400" y="1447800"/>
                      <a:ext cx="2895600" cy="152400"/>
                      <a:chOff x="914400" y="1447800"/>
                      <a:chExt cx="2895600" cy="152400"/>
                    </a:xfrm>
                  </p:grpSpPr>
                  <p:grpSp>
                    <p:nvGrpSpPr>
                      <p:cNvPr id="61" name="Group 56"/>
                      <p:cNvGrpSpPr/>
                      <p:nvPr/>
                    </p:nvGrpSpPr>
                    <p:grpSpPr>
                      <a:xfrm>
                        <a:off x="914400" y="1447800"/>
                        <a:ext cx="1066800" cy="152400"/>
                        <a:chOff x="914400" y="1447800"/>
                        <a:chExt cx="1066800" cy="152400"/>
                      </a:xfrm>
                    </p:grpSpPr>
                    <p:sp>
                      <p:nvSpPr>
                        <p:cNvPr id="143" name="Oval 14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4" name="Oval 14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2" name="Group 57"/>
                      <p:cNvGrpSpPr/>
                      <p:nvPr/>
                    </p:nvGrpSpPr>
                    <p:grpSpPr>
                      <a:xfrm>
                        <a:off x="2743200" y="1447800"/>
                        <a:ext cx="1066800" cy="152400"/>
                        <a:chOff x="914400" y="1447800"/>
                        <a:chExt cx="1066800" cy="152400"/>
                      </a:xfrm>
                    </p:grpSpPr>
                    <p:sp>
                      <p:nvSpPr>
                        <p:cNvPr id="141" name="Oval 140"/>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2" name="Oval 141"/>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nvGrpSpPr>
                  <p:cNvPr id="63" name="Group 69"/>
                  <p:cNvGrpSpPr/>
                  <p:nvPr/>
                </p:nvGrpSpPr>
                <p:grpSpPr>
                  <a:xfrm>
                    <a:off x="914400" y="3276600"/>
                    <a:ext cx="2895600" cy="1066800"/>
                    <a:chOff x="914400" y="1447800"/>
                    <a:chExt cx="2895600" cy="1066800"/>
                  </a:xfrm>
                </p:grpSpPr>
                <p:grpSp>
                  <p:nvGrpSpPr>
                    <p:cNvPr id="64" name="Group 60"/>
                    <p:cNvGrpSpPr/>
                    <p:nvPr/>
                  </p:nvGrpSpPr>
                  <p:grpSpPr>
                    <a:xfrm>
                      <a:off x="914400" y="2362200"/>
                      <a:ext cx="2895600" cy="152400"/>
                      <a:chOff x="914400" y="1447800"/>
                      <a:chExt cx="2895600" cy="152400"/>
                    </a:xfrm>
                  </p:grpSpPr>
                  <p:grpSp>
                    <p:nvGrpSpPr>
                      <p:cNvPr id="69" name="Group 56"/>
                      <p:cNvGrpSpPr/>
                      <p:nvPr/>
                    </p:nvGrpSpPr>
                    <p:grpSpPr>
                      <a:xfrm>
                        <a:off x="914400" y="1447800"/>
                        <a:ext cx="1066800" cy="152400"/>
                        <a:chOff x="914400" y="1447800"/>
                        <a:chExt cx="1066800" cy="152400"/>
                      </a:xfrm>
                    </p:grpSpPr>
                    <p:sp>
                      <p:nvSpPr>
                        <p:cNvPr id="135" name="Oval 134"/>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6" name="Oval 135"/>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0" name="Group 57"/>
                      <p:cNvGrpSpPr/>
                      <p:nvPr/>
                    </p:nvGrpSpPr>
                    <p:grpSpPr>
                      <a:xfrm>
                        <a:off x="2743200" y="1447800"/>
                        <a:ext cx="1066800" cy="152400"/>
                        <a:chOff x="914400" y="1447800"/>
                        <a:chExt cx="1066800" cy="152400"/>
                      </a:xfrm>
                    </p:grpSpPr>
                    <p:sp>
                      <p:nvSpPr>
                        <p:cNvPr id="133" name="Oval 13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 name="Oval 13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71" name="Group 61"/>
                    <p:cNvGrpSpPr/>
                    <p:nvPr/>
                  </p:nvGrpSpPr>
                  <p:grpSpPr>
                    <a:xfrm>
                      <a:off x="914400" y="1447800"/>
                      <a:ext cx="2895600" cy="152400"/>
                      <a:chOff x="914400" y="1447800"/>
                      <a:chExt cx="2895600" cy="152400"/>
                    </a:xfrm>
                  </p:grpSpPr>
                  <p:grpSp>
                    <p:nvGrpSpPr>
                      <p:cNvPr id="72" name="Group 56"/>
                      <p:cNvGrpSpPr/>
                      <p:nvPr/>
                    </p:nvGrpSpPr>
                    <p:grpSpPr>
                      <a:xfrm>
                        <a:off x="914400" y="1447800"/>
                        <a:ext cx="1066800" cy="152400"/>
                        <a:chOff x="914400" y="1447800"/>
                        <a:chExt cx="1066800" cy="152400"/>
                      </a:xfrm>
                    </p:grpSpPr>
                    <p:sp>
                      <p:nvSpPr>
                        <p:cNvPr id="129" name="Oval 128"/>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 name="Oval 129"/>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3" name="Group 57"/>
                      <p:cNvGrpSpPr/>
                      <p:nvPr/>
                    </p:nvGrpSpPr>
                    <p:grpSpPr>
                      <a:xfrm>
                        <a:off x="2743200" y="1447800"/>
                        <a:ext cx="1066800" cy="152400"/>
                        <a:chOff x="914400" y="1447800"/>
                        <a:chExt cx="1066800" cy="152400"/>
                      </a:xfrm>
                    </p:grpSpPr>
                    <p:sp>
                      <p:nvSpPr>
                        <p:cNvPr id="127" name="Oval 126"/>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8" name="Oval 127"/>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grpSp>
        </p:grpSp>
        <p:grpSp>
          <p:nvGrpSpPr>
            <p:cNvPr id="74" name="Group 181"/>
            <p:cNvGrpSpPr/>
            <p:nvPr/>
          </p:nvGrpSpPr>
          <p:grpSpPr>
            <a:xfrm>
              <a:off x="5486400" y="1447800"/>
              <a:ext cx="13868400" cy="2895600"/>
              <a:chOff x="914400" y="1447800"/>
              <a:chExt cx="13868400" cy="2895600"/>
            </a:xfrm>
          </p:grpSpPr>
          <p:grpSp>
            <p:nvGrpSpPr>
              <p:cNvPr id="79" name="Group 116"/>
              <p:cNvGrpSpPr/>
              <p:nvPr/>
            </p:nvGrpSpPr>
            <p:grpSpPr>
              <a:xfrm>
                <a:off x="914400" y="1447800"/>
                <a:ext cx="6553200" cy="2895600"/>
                <a:chOff x="914400" y="1447800"/>
                <a:chExt cx="6553200" cy="2895600"/>
              </a:xfrm>
            </p:grpSpPr>
            <p:grpSp>
              <p:nvGrpSpPr>
                <p:cNvPr id="80" name="Group 84"/>
                <p:cNvGrpSpPr/>
                <p:nvPr/>
              </p:nvGrpSpPr>
              <p:grpSpPr>
                <a:xfrm>
                  <a:off x="914400" y="1447800"/>
                  <a:ext cx="2895600" cy="2895600"/>
                  <a:chOff x="914400" y="1447800"/>
                  <a:chExt cx="2895600" cy="2895600"/>
                </a:xfrm>
              </p:grpSpPr>
              <p:grpSp>
                <p:nvGrpSpPr>
                  <p:cNvPr id="85" name="Group 68"/>
                  <p:cNvGrpSpPr/>
                  <p:nvPr/>
                </p:nvGrpSpPr>
                <p:grpSpPr>
                  <a:xfrm>
                    <a:off x="914400" y="1447800"/>
                    <a:ext cx="2895600" cy="1066800"/>
                    <a:chOff x="914400" y="1447800"/>
                    <a:chExt cx="2895600" cy="1066800"/>
                  </a:xfrm>
                </p:grpSpPr>
                <p:grpSp>
                  <p:nvGrpSpPr>
                    <p:cNvPr id="86" name="Group 60"/>
                    <p:cNvGrpSpPr/>
                    <p:nvPr/>
                  </p:nvGrpSpPr>
                  <p:grpSpPr>
                    <a:xfrm>
                      <a:off x="914400" y="2362200"/>
                      <a:ext cx="2895600" cy="152400"/>
                      <a:chOff x="914400" y="1447800"/>
                      <a:chExt cx="2895600" cy="152400"/>
                    </a:xfrm>
                  </p:grpSpPr>
                  <p:grpSp>
                    <p:nvGrpSpPr>
                      <p:cNvPr id="87" name="Group 56"/>
                      <p:cNvGrpSpPr/>
                      <p:nvPr/>
                    </p:nvGrpSpPr>
                    <p:grpSpPr>
                      <a:xfrm>
                        <a:off x="914400" y="1447800"/>
                        <a:ext cx="1066800" cy="152400"/>
                        <a:chOff x="914400" y="1447800"/>
                        <a:chExt cx="1066800" cy="152400"/>
                      </a:xfrm>
                    </p:grpSpPr>
                    <p:sp>
                      <p:nvSpPr>
                        <p:cNvPr id="307" name="Oval 5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 name="Oval 5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8" name="Group 57"/>
                      <p:cNvGrpSpPr/>
                      <p:nvPr/>
                    </p:nvGrpSpPr>
                    <p:grpSpPr>
                      <a:xfrm>
                        <a:off x="2743200" y="1447800"/>
                        <a:ext cx="1066800" cy="152400"/>
                        <a:chOff x="914400" y="1447800"/>
                        <a:chExt cx="1066800" cy="152400"/>
                      </a:xfrm>
                    </p:grpSpPr>
                    <p:sp>
                      <p:nvSpPr>
                        <p:cNvPr id="305" name="Oval 304"/>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6" name="Oval 305"/>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89" name="Group 61"/>
                    <p:cNvGrpSpPr/>
                    <p:nvPr/>
                  </p:nvGrpSpPr>
                  <p:grpSpPr>
                    <a:xfrm>
                      <a:off x="914400" y="1447800"/>
                      <a:ext cx="2895600" cy="152400"/>
                      <a:chOff x="914400" y="1447800"/>
                      <a:chExt cx="2895600" cy="152400"/>
                    </a:xfrm>
                  </p:grpSpPr>
                  <p:grpSp>
                    <p:nvGrpSpPr>
                      <p:cNvPr id="90" name="Group 56"/>
                      <p:cNvGrpSpPr/>
                      <p:nvPr/>
                    </p:nvGrpSpPr>
                    <p:grpSpPr>
                      <a:xfrm>
                        <a:off x="914400" y="1447800"/>
                        <a:ext cx="1066800" cy="152400"/>
                        <a:chOff x="914400" y="1447800"/>
                        <a:chExt cx="1066800" cy="152400"/>
                      </a:xfrm>
                    </p:grpSpPr>
                    <p:sp>
                      <p:nvSpPr>
                        <p:cNvPr id="301" name="Oval 66"/>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2" name="Oval 67"/>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1" name="Group 57"/>
                      <p:cNvGrpSpPr/>
                      <p:nvPr/>
                    </p:nvGrpSpPr>
                    <p:grpSpPr>
                      <a:xfrm>
                        <a:off x="2743200" y="1447800"/>
                        <a:ext cx="1066800" cy="152400"/>
                        <a:chOff x="914400" y="1447800"/>
                        <a:chExt cx="1066800" cy="152400"/>
                      </a:xfrm>
                    </p:grpSpPr>
                    <p:sp>
                      <p:nvSpPr>
                        <p:cNvPr id="299" name="Oval 298"/>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0" name="Oval 299"/>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nvGrpSpPr>
                  <p:cNvPr id="92" name="Group 69"/>
                  <p:cNvGrpSpPr/>
                  <p:nvPr/>
                </p:nvGrpSpPr>
                <p:grpSpPr>
                  <a:xfrm>
                    <a:off x="914400" y="3276600"/>
                    <a:ext cx="2895600" cy="1066800"/>
                    <a:chOff x="914400" y="1447800"/>
                    <a:chExt cx="2895600" cy="1066800"/>
                  </a:xfrm>
                </p:grpSpPr>
                <p:grpSp>
                  <p:nvGrpSpPr>
                    <p:cNvPr id="97" name="Group 60"/>
                    <p:cNvGrpSpPr/>
                    <p:nvPr/>
                  </p:nvGrpSpPr>
                  <p:grpSpPr>
                    <a:xfrm>
                      <a:off x="914400" y="2362200"/>
                      <a:ext cx="2895600" cy="152400"/>
                      <a:chOff x="914400" y="1447800"/>
                      <a:chExt cx="2895600" cy="152400"/>
                    </a:xfrm>
                  </p:grpSpPr>
                  <p:grpSp>
                    <p:nvGrpSpPr>
                      <p:cNvPr id="98" name="Group 56"/>
                      <p:cNvGrpSpPr/>
                      <p:nvPr/>
                    </p:nvGrpSpPr>
                    <p:grpSpPr>
                      <a:xfrm>
                        <a:off x="914400" y="1447800"/>
                        <a:ext cx="1066800" cy="152400"/>
                        <a:chOff x="914400" y="1447800"/>
                        <a:chExt cx="1066800" cy="152400"/>
                      </a:xfrm>
                    </p:grpSpPr>
                    <p:sp>
                      <p:nvSpPr>
                        <p:cNvPr id="293" name="Oval 29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4" name="Oval 29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3" name="Group 57"/>
                      <p:cNvGrpSpPr/>
                      <p:nvPr/>
                    </p:nvGrpSpPr>
                    <p:grpSpPr>
                      <a:xfrm>
                        <a:off x="2743200" y="1447800"/>
                        <a:ext cx="1066800" cy="152400"/>
                        <a:chOff x="914400" y="1447800"/>
                        <a:chExt cx="1066800" cy="152400"/>
                      </a:xfrm>
                    </p:grpSpPr>
                    <p:sp>
                      <p:nvSpPr>
                        <p:cNvPr id="291" name="Oval 290"/>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2" name="Oval 291"/>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04" name="Group 61"/>
                    <p:cNvGrpSpPr/>
                    <p:nvPr/>
                  </p:nvGrpSpPr>
                  <p:grpSpPr>
                    <a:xfrm>
                      <a:off x="914400" y="1447800"/>
                      <a:ext cx="2895600" cy="152400"/>
                      <a:chOff x="914400" y="1447800"/>
                      <a:chExt cx="2895600" cy="152400"/>
                    </a:xfrm>
                  </p:grpSpPr>
                  <p:grpSp>
                    <p:nvGrpSpPr>
                      <p:cNvPr id="105" name="Group 56"/>
                      <p:cNvGrpSpPr/>
                      <p:nvPr/>
                    </p:nvGrpSpPr>
                    <p:grpSpPr>
                      <a:xfrm>
                        <a:off x="914400" y="1447800"/>
                        <a:ext cx="1066800" cy="152400"/>
                        <a:chOff x="914400" y="1447800"/>
                        <a:chExt cx="1066800" cy="152400"/>
                      </a:xfrm>
                    </p:grpSpPr>
                    <p:sp>
                      <p:nvSpPr>
                        <p:cNvPr id="287" name="Oval 286"/>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8" name="Oval 287"/>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6" name="Group 57"/>
                      <p:cNvGrpSpPr/>
                      <p:nvPr/>
                    </p:nvGrpSpPr>
                    <p:grpSpPr>
                      <a:xfrm>
                        <a:off x="2743200" y="1447800"/>
                        <a:ext cx="1066800" cy="152400"/>
                        <a:chOff x="914400" y="1447800"/>
                        <a:chExt cx="1066800" cy="152400"/>
                      </a:xfrm>
                    </p:grpSpPr>
                    <p:sp>
                      <p:nvSpPr>
                        <p:cNvPr id="285" name="Oval 284"/>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6" name="Oval 285"/>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grpSp>
              <p:nvGrpSpPr>
                <p:cNvPr id="111" name="Group 85"/>
                <p:cNvGrpSpPr/>
                <p:nvPr/>
              </p:nvGrpSpPr>
              <p:grpSpPr>
                <a:xfrm>
                  <a:off x="4572000" y="1447800"/>
                  <a:ext cx="2895600" cy="2895600"/>
                  <a:chOff x="914400" y="1447800"/>
                  <a:chExt cx="2895600" cy="2895600"/>
                </a:xfrm>
              </p:grpSpPr>
              <p:grpSp>
                <p:nvGrpSpPr>
                  <p:cNvPr id="112" name="Group 248"/>
                  <p:cNvGrpSpPr/>
                  <p:nvPr/>
                </p:nvGrpSpPr>
                <p:grpSpPr>
                  <a:xfrm>
                    <a:off x="914400" y="1447800"/>
                    <a:ext cx="2895600" cy="1066800"/>
                    <a:chOff x="914400" y="1447800"/>
                    <a:chExt cx="2895600" cy="1066800"/>
                  </a:xfrm>
                </p:grpSpPr>
                <p:grpSp>
                  <p:nvGrpSpPr>
                    <p:cNvPr id="117" name="Group 60"/>
                    <p:cNvGrpSpPr/>
                    <p:nvPr/>
                  </p:nvGrpSpPr>
                  <p:grpSpPr>
                    <a:xfrm>
                      <a:off x="914400" y="2362200"/>
                      <a:ext cx="2895600" cy="152400"/>
                      <a:chOff x="914400" y="1447800"/>
                      <a:chExt cx="2895600" cy="152400"/>
                    </a:xfrm>
                  </p:grpSpPr>
                  <p:grpSp>
                    <p:nvGrpSpPr>
                      <p:cNvPr id="118" name="Group 56"/>
                      <p:cNvGrpSpPr/>
                      <p:nvPr/>
                    </p:nvGrpSpPr>
                    <p:grpSpPr>
                      <a:xfrm>
                        <a:off x="914400" y="1447800"/>
                        <a:ext cx="1066800" cy="152400"/>
                        <a:chOff x="914400" y="1447800"/>
                        <a:chExt cx="1066800" cy="152400"/>
                      </a:xfrm>
                    </p:grpSpPr>
                    <p:sp>
                      <p:nvSpPr>
                        <p:cNvPr id="277" name="Oval 276"/>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8" name="Oval 277"/>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9" name="Group 57"/>
                      <p:cNvGrpSpPr/>
                      <p:nvPr/>
                    </p:nvGrpSpPr>
                    <p:grpSpPr>
                      <a:xfrm>
                        <a:off x="2743200" y="1447800"/>
                        <a:ext cx="1066800" cy="152400"/>
                        <a:chOff x="914400" y="1447800"/>
                        <a:chExt cx="1066800" cy="152400"/>
                      </a:xfrm>
                    </p:grpSpPr>
                    <p:sp>
                      <p:nvSpPr>
                        <p:cNvPr id="275" name="Oval 274"/>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6" name="Oval 275"/>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20" name="Group 61"/>
                    <p:cNvGrpSpPr/>
                    <p:nvPr/>
                  </p:nvGrpSpPr>
                  <p:grpSpPr>
                    <a:xfrm>
                      <a:off x="914400" y="1447800"/>
                      <a:ext cx="2895600" cy="152400"/>
                      <a:chOff x="914400" y="1447800"/>
                      <a:chExt cx="2895600" cy="152400"/>
                    </a:xfrm>
                  </p:grpSpPr>
                  <p:grpSp>
                    <p:nvGrpSpPr>
                      <p:cNvPr id="121" name="Group 56"/>
                      <p:cNvGrpSpPr/>
                      <p:nvPr/>
                    </p:nvGrpSpPr>
                    <p:grpSpPr>
                      <a:xfrm>
                        <a:off x="914400" y="1447800"/>
                        <a:ext cx="1066800" cy="152400"/>
                        <a:chOff x="914400" y="1447800"/>
                        <a:chExt cx="1066800" cy="152400"/>
                      </a:xfrm>
                    </p:grpSpPr>
                    <p:sp>
                      <p:nvSpPr>
                        <p:cNvPr id="271" name="Oval 270"/>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2" name="Oval 271"/>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22" name="Group 57"/>
                      <p:cNvGrpSpPr/>
                      <p:nvPr/>
                    </p:nvGrpSpPr>
                    <p:grpSpPr>
                      <a:xfrm>
                        <a:off x="2743200" y="1447800"/>
                        <a:ext cx="1066800" cy="152400"/>
                        <a:chOff x="914400" y="1447800"/>
                        <a:chExt cx="1066800" cy="152400"/>
                      </a:xfrm>
                    </p:grpSpPr>
                    <p:sp>
                      <p:nvSpPr>
                        <p:cNvPr id="269" name="Oval 268"/>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0" name="Oval 269"/>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nvGrpSpPr>
                  <p:cNvPr id="123" name="Group 249"/>
                  <p:cNvGrpSpPr/>
                  <p:nvPr/>
                </p:nvGrpSpPr>
                <p:grpSpPr>
                  <a:xfrm>
                    <a:off x="914400" y="3276600"/>
                    <a:ext cx="2895600" cy="1066800"/>
                    <a:chOff x="914400" y="1447800"/>
                    <a:chExt cx="2895600" cy="1066800"/>
                  </a:xfrm>
                </p:grpSpPr>
                <p:grpSp>
                  <p:nvGrpSpPr>
                    <p:cNvPr id="124" name="Group 60"/>
                    <p:cNvGrpSpPr/>
                    <p:nvPr/>
                  </p:nvGrpSpPr>
                  <p:grpSpPr>
                    <a:xfrm>
                      <a:off x="914400" y="2362200"/>
                      <a:ext cx="2895600" cy="152400"/>
                      <a:chOff x="914400" y="1447800"/>
                      <a:chExt cx="2895600" cy="152400"/>
                    </a:xfrm>
                  </p:grpSpPr>
                  <p:grpSp>
                    <p:nvGrpSpPr>
                      <p:cNvPr id="125" name="Group 56"/>
                      <p:cNvGrpSpPr/>
                      <p:nvPr/>
                    </p:nvGrpSpPr>
                    <p:grpSpPr>
                      <a:xfrm>
                        <a:off x="914400" y="1447800"/>
                        <a:ext cx="1066800" cy="152400"/>
                        <a:chOff x="914400" y="1447800"/>
                        <a:chExt cx="1066800" cy="152400"/>
                      </a:xfrm>
                    </p:grpSpPr>
                    <p:sp>
                      <p:nvSpPr>
                        <p:cNvPr id="263" name="Oval 26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4" name="Oval 26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26" name="Group 57"/>
                      <p:cNvGrpSpPr/>
                      <p:nvPr/>
                    </p:nvGrpSpPr>
                    <p:grpSpPr>
                      <a:xfrm>
                        <a:off x="2743200" y="1447800"/>
                        <a:ext cx="1066800" cy="152400"/>
                        <a:chOff x="914400" y="1447800"/>
                        <a:chExt cx="1066800" cy="152400"/>
                      </a:xfrm>
                    </p:grpSpPr>
                    <p:sp>
                      <p:nvSpPr>
                        <p:cNvPr id="261" name="Oval 260"/>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2" name="Oval 261"/>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31" name="Group 61"/>
                    <p:cNvGrpSpPr/>
                    <p:nvPr/>
                  </p:nvGrpSpPr>
                  <p:grpSpPr>
                    <a:xfrm>
                      <a:off x="914400" y="1447800"/>
                      <a:ext cx="2895600" cy="152400"/>
                      <a:chOff x="914400" y="1447800"/>
                      <a:chExt cx="2895600" cy="152400"/>
                    </a:xfrm>
                  </p:grpSpPr>
                  <p:grpSp>
                    <p:nvGrpSpPr>
                      <p:cNvPr id="132" name="Group 56"/>
                      <p:cNvGrpSpPr/>
                      <p:nvPr/>
                    </p:nvGrpSpPr>
                    <p:grpSpPr>
                      <a:xfrm>
                        <a:off x="914400" y="1447800"/>
                        <a:ext cx="1066800" cy="152400"/>
                        <a:chOff x="914400" y="1447800"/>
                        <a:chExt cx="1066800" cy="152400"/>
                      </a:xfrm>
                    </p:grpSpPr>
                    <p:sp>
                      <p:nvSpPr>
                        <p:cNvPr id="257" name="Oval 256"/>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8" name="Oval 257"/>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7" name="Group 57"/>
                      <p:cNvGrpSpPr/>
                      <p:nvPr/>
                    </p:nvGrpSpPr>
                    <p:grpSpPr>
                      <a:xfrm>
                        <a:off x="2743200" y="1447800"/>
                        <a:ext cx="1066800" cy="152400"/>
                        <a:chOff x="914400" y="1447800"/>
                        <a:chExt cx="1066800" cy="152400"/>
                      </a:xfrm>
                    </p:grpSpPr>
                    <p:sp>
                      <p:nvSpPr>
                        <p:cNvPr id="255" name="Oval 254"/>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6" name="Oval 255"/>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grpSp>
          <p:grpSp>
            <p:nvGrpSpPr>
              <p:cNvPr id="138" name="Group 117"/>
              <p:cNvGrpSpPr/>
              <p:nvPr/>
            </p:nvGrpSpPr>
            <p:grpSpPr>
              <a:xfrm>
                <a:off x="8229600" y="1447800"/>
                <a:ext cx="6553200" cy="2895600"/>
                <a:chOff x="914400" y="1447800"/>
                <a:chExt cx="6553200" cy="2895600"/>
              </a:xfrm>
            </p:grpSpPr>
            <p:grpSp>
              <p:nvGrpSpPr>
                <p:cNvPr id="139" name="Group 84"/>
                <p:cNvGrpSpPr/>
                <p:nvPr/>
              </p:nvGrpSpPr>
              <p:grpSpPr>
                <a:xfrm>
                  <a:off x="914400" y="1447800"/>
                  <a:ext cx="2895600" cy="2895600"/>
                  <a:chOff x="914400" y="1447800"/>
                  <a:chExt cx="2895600" cy="2895600"/>
                </a:xfrm>
              </p:grpSpPr>
              <p:grpSp>
                <p:nvGrpSpPr>
                  <p:cNvPr id="140" name="Group 68"/>
                  <p:cNvGrpSpPr/>
                  <p:nvPr/>
                </p:nvGrpSpPr>
                <p:grpSpPr>
                  <a:xfrm>
                    <a:off x="914400" y="1447800"/>
                    <a:ext cx="2895600" cy="1066800"/>
                    <a:chOff x="914400" y="1447800"/>
                    <a:chExt cx="2895600" cy="1066800"/>
                  </a:xfrm>
                </p:grpSpPr>
                <p:grpSp>
                  <p:nvGrpSpPr>
                    <p:cNvPr id="145" name="Group 60"/>
                    <p:cNvGrpSpPr/>
                    <p:nvPr/>
                  </p:nvGrpSpPr>
                  <p:grpSpPr>
                    <a:xfrm>
                      <a:off x="914400" y="2362200"/>
                      <a:ext cx="2895600" cy="152400"/>
                      <a:chOff x="914400" y="1447800"/>
                      <a:chExt cx="2895600" cy="152400"/>
                    </a:xfrm>
                  </p:grpSpPr>
                  <p:grpSp>
                    <p:nvGrpSpPr>
                      <p:cNvPr id="146" name="Group 56"/>
                      <p:cNvGrpSpPr/>
                      <p:nvPr/>
                    </p:nvGrpSpPr>
                    <p:grpSpPr>
                      <a:xfrm>
                        <a:off x="914400" y="1447800"/>
                        <a:ext cx="1066800" cy="152400"/>
                        <a:chOff x="914400" y="1447800"/>
                        <a:chExt cx="1066800" cy="152400"/>
                      </a:xfrm>
                    </p:grpSpPr>
                    <p:sp>
                      <p:nvSpPr>
                        <p:cNvPr id="245" name="Oval 5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6" name="Oval 5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51" name="Group 57"/>
                      <p:cNvGrpSpPr/>
                      <p:nvPr/>
                    </p:nvGrpSpPr>
                    <p:grpSpPr>
                      <a:xfrm>
                        <a:off x="2743200" y="1447800"/>
                        <a:ext cx="1066800" cy="152400"/>
                        <a:chOff x="914400" y="1447800"/>
                        <a:chExt cx="1066800" cy="152400"/>
                      </a:xfrm>
                    </p:grpSpPr>
                    <p:sp>
                      <p:nvSpPr>
                        <p:cNvPr id="243" name="Oval 58"/>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4" name="Oval 59"/>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52" name="Group 61"/>
                    <p:cNvGrpSpPr/>
                    <p:nvPr/>
                  </p:nvGrpSpPr>
                  <p:grpSpPr>
                    <a:xfrm>
                      <a:off x="914400" y="1447800"/>
                      <a:ext cx="2895600" cy="152400"/>
                      <a:chOff x="914400" y="1447800"/>
                      <a:chExt cx="2895600" cy="152400"/>
                    </a:xfrm>
                  </p:grpSpPr>
                  <p:grpSp>
                    <p:nvGrpSpPr>
                      <p:cNvPr id="153" name="Group 56"/>
                      <p:cNvGrpSpPr/>
                      <p:nvPr/>
                    </p:nvGrpSpPr>
                    <p:grpSpPr>
                      <a:xfrm>
                        <a:off x="914400" y="1447800"/>
                        <a:ext cx="1066800" cy="152400"/>
                        <a:chOff x="914400" y="1447800"/>
                        <a:chExt cx="1066800" cy="152400"/>
                      </a:xfrm>
                    </p:grpSpPr>
                    <p:sp>
                      <p:nvSpPr>
                        <p:cNvPr id="239" name="Oval 238"/>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0" name="Oval 239"/>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54" name="Group 57"/>
                      <p:cNvGrpSpPr/>
                      <p:nvPr/>
                    </p:nvGrpSpPr>
                    <p:grpSpPr>
                      <a:xfrm>
                        <a:off x="2743200" y="1447800"/>
                        <a:ext cx="1066800" cy="152400"/>
                        <a:chOff x="914400" y="1447800"/>
                        <a:chExt cx="1066800" cy="152400"/>
                      </a:xfrm>
                    </p:grpSpPr>
                    <p:sp>
                      <p:nvSpPr>
                        <p:cNvPr id="237" name="Oval 236"/>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8" name="Oval 237"/>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nvGrpSpPr>
                  <p:cNvPr id="155" name="Group 69"/>
                  <p:cNvGrpSpPr/>
                  <p:nvPr/>
                </p:nvGrpSpPr>
                <p:grpSpPr>
                  <a:xfrm>
                    <a:off x="914400" y="3276600"/>
                    <a:ext cx="2895600" cy="1066800"/>
                    <a:chOff x="914400" y="1447800"/>
                    <a:chExt cx="2895600" cy="1066800"/>
                  </a:xfrm>
                </p:grpSpPr>
                <p:grpSp>
                  <p:nvGrpSpPr>
                    <p:cNvPr id="156" name="Group 60"/>
                    <p:cNvGrpSpPr/>
                    <p:nvPr/>
                  </p:nvGrpSpPr>
                  <p:grpSpPr>
                    <a:xfrm>
                      <a:off x="914400" y="2362200"/>
                      <a:ext cx="2895600" cy="152400"/>
                      <a:chOff x="914400" y="1447800"/>
                      <a:chExt cx="2895600" cy="152400"/>
                    </a:xfrm>
                  </p:grpSpPr>
                  <p:grpSp>
                    <p:nvGrpSpPr>
                      <p:cNvPr id="161" name="Group 56"/>
                      <p:cNvGrpSpPr/>
                      <p:nvPr/>
                    </p:nvGrpSpPr>
                    <p:grpSpPr>
                      <a:xfrm>
                        <a:off x="914400" y="1447800"/>
                        <a:ext cx="1066800" cy="152400"/>
                        <a:chOff x="914400" y="1447800"/>
                        <a:chExt cx="1066800" cy="152400"/>
                      </a:xfrm>
                    </p:grpSpPr>
                    <p:sp>
                      <p:nvSpPr>
                        <p:cNvPr id="231" name="Oval 230"/>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2" name="Oval 231"/>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2" name="Group 57"/>
                      <p:cNvGrpSpPr/>
                      <p:nvPr/>
                    </p:nvGrpSpPr>
                    <p:grpSpPr>
                      <a:xfrm>
                        <a:off x="2743200" y="1447800"/>
                        <a:ext cx="1066800" cy="152400"/>
                        <a:chOff x="914400" y="1447800"/>
                        <a:chExt cx="1066800" cy="152400"/>
                      </a:xfrm>
                    </p:grpSpPr>
                    <p:sp>
                      <p:nvSpPr>
                        <p:cNvPr id="229" name="Oval 228"/>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0" name="Oval 229"/>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67" name="Group 61"/>
                    <p:cNvGrpSpPr/>
                    <p:nvPr/>
                  </p:nvGrpSpPr>
                  <p:grpSpPr>
                    <a:xfrm>
                      <a:off x="914400" y="1447800"/>
                      <a:ext cx="2895600" cy="152400"/>
                      <a:chOff x="914400" y="1447800"/>
                      <a:chExt cx="2895600" cy="152400"/>
                    </a:xfrm>
                  </p:grpSpPr>
                  <p:grpSp>
                    <p:nvGrpSpPr>
                      <p:cNvPr id="168" name="Group 56"/>
                      <p:cNvGrpSpPr/>
                      <p:nvPr/>
                    </p:nvGrpSpPr>
                    <p:grpSpPr>
                      <a:xfrm>
                        <a:off x="914400" y="1447800"/>
                        <a:ext cx="1066800" cy="152400"/>
                        <a:chOff x="914400" y="1447800"/>
                        <a:chExt cx="1066800" cy="152400"/>
                      </a:xfrm>
                    </p:grpSpPr>
                    <p:sp>
                      <p:nvSpPr>
                        <p:cNvPr id="225" name="Oval 224"/>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6" name="Oval 225"/>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9" name="Group 57"/>
                      <p:cNvGrpSpPr/>
                      <p:nvPr/>
                    </p:nvGrpSpPr>
                    <p:grpSpPr>
                      <a:xfrm>
                        <a:off x="2743200" y="1447800"/>
                        <a:ext cx="1066800" cy="152400"/>
                        <a:chOff x="914400" y="1447800"/>
                        <a:chExt cx="1066800" cy="152400"/>
                      </a:xfrm>
                    </p:grpSpPr>
                    <p:sp>
                      <p:nvSpPr>
                        <p:cNvPr id="223" name="Oval 22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4" name="Oval 22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grpSp>
              <p:nvGrpSpPr>
                <p:cNvPr id="170" name="Group 85"/>
                <p:cNvGrpSpPr/>
                <p:nvPr/>
              </p:nvGrpSpPr>
              <p:grpSpPr>
                <a:xfrm>
                  <a:off x="4572000" y="1447800"/>
                  <a:ext cx="2895600" cy="2895600"/>
                  <a:chOff x="914400" y="1447800"/>
                  <a:chExt cx="2895600" cy="2895600"/>
                </a:xfrm>
              </p:grpSpPr>
              <p:grpSp>
                <p:nvGrpSpPr>
                  <p:cNvPr id="175" name="Group 68"/>
                  <p:cNvGrpSpPr/>
                  <p:nvPr/>
                </p:nvGrpSpPr>
                <p:grpSpPr>
                  <a:xfrm>
                    <a:off x="914400" y="1447800"/>
                    <a:ext cx="2895600" cy="1066800"/>
                    <a:chOff x="914400" y="1447800"/>
                    <a:chExt cx="2895600" cy="1066800"/>
                  </a:xfrm>
                </p:grpSpPr>
                <p:grpSp>
                  <p:nvGrpSpPr>
                    <p:cNvPr id="176" name="Group 60"/>
                    <p:cNvGrpSpPr/>
                    <p:nvPr/>
                  </p:nvGrpSpPr>
                  <p:grpSpPr>
                    <a:xfrm>
                      <a:off x="914400" y="2362200"/>
                      <a:ext cx="2895600" cy="152400"/>
                      <a:chOff x="914400" y="1447800"/>
                      <a:chExt cx="2895600" cy="152400"/>
                    </a:xfrm>
                  </p:grpSpPr>
                  <p:grpSp>
                    <p:nvGrpSpPr>
                      <p:cNvPr id="181" name="Group 56"/>
                      <p:cNvGrpSpPr/>
                      <p:nvPr/>
                    </p:nvGrpSpPr>
                    <p:grpSpPr>
                      <a:xfrm>
                        <a:off x="914400" y="1447800"/>
                        <a:ext cx="1066800" cy="152400"/>
                        <a:chOff x="914400" y="1447800"/>
                        <a:chExt cx="1066800" cy="152400"/>
                      </a:xfrm>
                    </p:grpSpPr>
                    <p:sp>
                      <p:nvSpPr>
                        <p:cNvPr id="215" name="Oval 214"/>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6" name="Oval 215"/>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2" name="Group 57"/>
                      <p:cNvGrpSpPr/>
                      <p:nvPr/>
                    </p:nvGrpSpPr>
                    <p:grpSpPr>
                      <a:xfrm>
                        <a:off x="2743200" y="1447800"/>
                        <a:ext cx="1066800" cy="152400"/>
                        <a:chOff x="914400" y="1447800"/>
                        <a:chExt cx="1066800" cy="152400"/>
                      </a:xfrm>
                    </p:grpSpPr>
                    <p:sp>
                      <p:nvSpPr>
                        <p:cNvPr id="213" name="Oval 21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4" name="Oval 21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83" name="Group 61"/>
                    <p:cNvGrpSpPr/>
                    <p:nvPr/>
                  </p:nvGrpSpPr>
                  <p:grpSpPr>
                    <a:xfrm>
                      <a:off x="914400" y="1447800"/>
                      <a:ext cx="2895600" cy="152400"/>
                      <a:chOff x="914400" y="1447800"/>
                      <a:chExt cx="2895600" cy="152400"/>
                    </a:xfrm>
                  </p:grpSpPr>
                  <p:grpSp>
                    <p:nvGrpSpPr>
                      <p:cNvPr id="184" name="Group 56"/>
                      <p:cNvGrpSpPr/>
                      <p:nvPr/>
                    </p:nvGrpSpPr>
                    <p:grpSpPr>
                      <a:xfrm>
                        <a:off x="914400" y="1447800"/>
                        <a:ext cx="1066800" cy="152400"/>
                        <a:chOff x="914400" y="1447800"/>
                        <a:chExt cx="1066800" cy="152400"/>
                      </a:xfrm>
                    </p:grpSpPr>
                    <p:sp>
                      <p:nvSpPr>
                        <p:cNvPr id="209" name="Oval 208"/>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0" name="Oval 209"/>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5" name="Group 57"/>
                      <p:cNvGrpSpPr/>
                      <p:nvPr/>
                    </p:nvGrpSpPr>
                    <p:grpSpPr>
                      <a:xfrm>
                        <a:off x="2743200" y="1447800"/>
                        <a:ext cx="1066800" cy="152400"/>
                        <a:chOff x="914400" y="1447800"/>
                        <a:chExt cx="1066800" cy="152400"/>
                      </a:xfrm>
                    </p:grpSpPr>
                    <p:sp>
                      <p:nvSpPr>
                        <p:cNvPr id="207" name="Oval 206"/>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8" name="Oval 207"/>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nvGrpSpPr>
                  <p:cNvPr id="186" name="Group 69"/>
                  <p:cNvGrpSpPr/>
                  <p:nvPr/>
                </p:nvGrpSpPr>
                <p:grpSpPr>
                  <a:xfrm>
                    <a:off x="914400" y="3276600"/>
                    <a:ext cx="2895600" cy="1066800"/>
                    <a:chOff x="914400" y="1447800"/>
                    <a:chExt cx="2895600" cy="1066800"/>
                  </a:xfrm>
                </p:grpSpPr>
                <p:grpSp>
                  <p:nvGrpSpPr>
                    <p:cNvPr id="187" name="Group 60"/>
                    <p:cNvGrpSpPr/>
                    <p:nvPr/>
                  </p:nvGrpSpPr>
                  <p:grpSpPr>
                    <a:xfrm>
                      <a:off x="914400" y="2362200"/>
                      <a:ext cx="2895600" cy="152400"/>
                      <a:chOff x="914400" y="1447800"/>
                      <a:chExt cx="2895600" cy="152400"/>
                    </a:xfrm>
                  </p:grpSpPr>
                  <p:grpSp>
                    <p:nvGrpSpPr>
                      <p:cNvPr id="188" name="Group 56"/>
                      <p:cNvGrpSpPr/>
                      <p:nvPr/>
                    </p:nvGrpSpPr>
                    <p:grpSpPr>
                      <a:xfrm>
                        <a:off x="914400" y="1447800"/>
                        <a:ext cx="1066800" cy="152400"/>
                        <a:chOff x="914400" y="1447800"/>
                        <a:chExt cx="1066800" cy="152400"/>
                      </a:xfrm>
                    </p:grpSpPr>
                    <p:sp>
                      <p:nvSpPr>
                        <p:cNvPr id="201" name="Oval 200"/>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2" name="Oval 201"/>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9" name="Group 57"/>
                      <p:cNvGrpSpPr/>
                      <p:nvPr/>
                    </p:nvGrpSpPr>
                    <p:grpSpPr>
                      <a:xfrm>
                        <a:off x="2743200" y="1447800"/>
                        <a:ext cx="1066800" cy="152400"/>
                        <a:chOff x="914400" y="1447800"/>
                        <a:chExt cx="1066800" cy="152400"/>
                      </a:xfrm>
                    </p:grpSpPr>
                    <p:sp>
                      <p:nvSpPr>
                        <p:cNvPr id="199" name="Oval 198"/>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0" name="Oval 199"/>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90" name="Group 61"/>
                    <p:cNvGrpSpPr/>
                    <p:nvPr/>
                  </p:nvGrpSpPr>
                  <p:grpSpPr>
                    <a:xfrm>
                      <a:off x="914400" y="1447800"/>
                      <a:ext cx="2895600" cy="152400"/>
                      <a:chOff x="914400" y="1447800"/>
                      <a:chExt cx="2895600" cy="152400"/>
                    </a:xfrm>
                  </p:grpSpPr>
                  <p:grpSp>
                    <p:nvGrpSpPr>
                      <p:cNvPr id="191" name="Group 56"/>
                      <p:cNvGrpSpPr/>
                      <p:nvPr/>
                    </p:nvGrpSpPr>
                    <p:grpSpPr>
                      <a:xfrm>
                        <a:off x="914400" y="1447800"/>
                        <a:ext cx="1066800" cy="152400"/>
                        <a:chOff x="914400" y="1447800"/>
                        <a:chExt cx="1066800" cy="152400"/>
                      </a:xfrm>
                    </p:grpSpPr>
                    <p:sp>
                      <p:nvSpPr>
                        <p:cNvPr id="195" name="Oval 194"/>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6" name="Oval 195"/>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92" name="Group 57"/>
                      <p:cNvGrpSpPr/>
                      <p:nvPr/>
                    </p:nvGrpSpPr>
                    <p:grpSpPr>
                      <a:xfrm>
                        <a:off x="2743200" y="1447800"/>
                        <a:ext cx="1066800" cy="152400"/>
                        <a:chOff x="914400" y="1447800"/>
                        <a:chExt cx="1066800" cy="152400"/>
                      </a:xfrm>
                    </p:grpSpPr>
                    <p:sp>
                      <p:nvSpPr>
                        <p:cNvPr id="193" name="Oval 192"/>
                        <p:cNvSpPr/>
                        <p:nvPr/>
                      </p:nvSpPr>
                      <p:spPr>
                        <a:xfrm>
                          <a:off x="9144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 name="Oval 193"/>
                        <p:cNvSpPr/>
                        <p:nvPr/>
                      </p:nvSpPr>
                      <p:spPr>
                        <a:xfrm>
                          <a:off x="1828800" y="1447800"/>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grpSp>
        </p:grpSp>
      </p:grpSp>
      <p:sp>
        <p:nvSpPr>
          <p:cNvPr id="540" name="Title 1"/>
          <p:cNvSpPr txBox="1">
            <a:spLocks/>
          </p:cNvSpPr>
          <p:nvPr/>
        </p:nvSpPr>
        <p:spPr>
          <a:xfrm>
            <a:off x="457200" y="274638"/>
            <a:ext cx="8229600" cy="1143000"/>
          </a:xfrm>
          <a:prstGeom prst="rect">
            <a:avLst/>
          </a:prstGeom>
        </p:spPr>
        <p:txBody>
          <a:bodyPr rtlCol="0">
            <a:noAutofit/>
          </a:bodyPr>
          <a:lstStyle/>
          <a:p>
            <a:pPr lvl="0" algn="ctr">
              <a:spcBef>
                <a:spcPct val="0"/>
              </a:spcBef>
              <a:defRPr/>
            </a:pPr>
            <a:r>
              <a:rPr kumimoji="0" lang="en-US" sz="3600" b="0" i="0" u="none" strike="noStrike" kern="1200" cap="none" spc="0" normalizeH="0" baseline="0" noProof="0" dirty="0" smtClean="0">
                <a:ln>
                  <a:noFill/>
                </a:ln>
                <a:solidFill>
                  <a:schemeClr val="tx1"/>
                </a:solidFill>
                <a:effectLst/>
                <a:uLnTx/>
                <a:uFillTx/>
                <a:latin typeface="+mj-lt"/>
                <a:ea typeface="+mj-ea"/>
                <a:cs typeface="+mj-cs"/>
              </a:rPr>
              <a:t>Communication Avoiding Kernels:</a:t>
            </a:r>
            <a:br>
              <a:rPr kumimoji="0" lang="en-US" sz="3600" b="0" i="0" u="none" strike="noStrike" kern="1200" cap="none" spc="0" normalizeH="0" baseline="0" noProof="0" dirty="0" smtClean="0">
                <a:ln>
                  <a:noFill/>
                </a:ln>
                <a:solidFill>
                  <a:schemeClr val="tx1"/>
                </a:solidFill>
                <a:effectLst/>
                <a:uLnTx/>
                <a:uFillTx/>
                <a:latin typeface="+mj-lt"/>
                <a:ea typeface="+mj-ea"/>
                <a:cs typeface="+mj-cs"/>
              </a:rPr>
            </a:br>
            <a:r>
              <a:rPr kumimoji="0" lang="en-US" sz="2800" b="0" i="0" u="none" strike="noStrike" kern="1200" cap="none" spc="0" normalizeH="0" baseline="0" noProof="0" dirty="0" smtClean="0">
                <a:ln>
                  <a:noFill/>
                </a:ln>
                <a:solidFill>
                  <a:schemeClr val="tx1"/>
                </a:solidFill>
                <a:effectLst/>
                <a:uLnTx/>
                <a:uFillTx/>
                <a:latin typeface="+mj-lt"/>
                <a:ea typeface="+mj-ea"/>
                <a:cs typeface="+mj-cs"/>
              </a:rPr>
              <a:t>The Matrix Powers Kernel</a:t>
            </a:r>
            <a:r>
              <a:rPr lang="en-US" sz="2800" dirty="0" smtClean="0"/>
              <a:t> :</a:t>
            </a:r>
            <a:r>
              <a:rPr lang="en-US" sz="2800" dirty="0" smtClean="0">
                <a:sym typeface="Symbol"/>
              </a:rPr>
              <a:t> [</a:t>
            </a:r>
            <a:r>
              <a:rPr lang="en-US" sz="2800" dirty="0" smtClean="0"/>
              <a:t>Ax, A</a:t>
            </a:r>
            <a:r>
              <a:rPr lang="en-US" sz="2800" baseline="40000" dirty="0" smtClean="0"/>
              <a:t>2</a:t>
            </a:r>
            <a:r>
              <a:rPr lang="en-US" sz="2800" dirty="0" smtClean="0"/>
              <a:t>x, …, </a:t>
            </a:r>
            <a:r>
              <a:rPr lang="en-US" sz="2800" dirty="0" err="1" smtClean="0"/>
              <a:t>A</a:t>
            </a:r>
            <a:r>
              <a:rPr lang="en-US" sz="2800" baseline="40000" dirty="0" err="1" smtClean="0"/>
              <a:t>k</a:t>
            </a:r>
            <a:r>
              <a:rPr lang="en-US" sz="2800" dirty="0" err="1" smtClean="0"/>
              <a:t>x</a:t>
            </a:r>
            <a:r>
              <a:rPr lang="en-US" sz="2800" dirty="0" smtClean="0"/>
              <a:t>] </a:t>
            </a:r>
            <a:endParaRPr kumimoji="0" lang="en-US" sz="2800" b="0" i="0" u="none" strike="noStrike" kern="1200" cap="none" spc="0" normalizeH="0" baseline="0" noProof="0" dirty="0">
              <a:ln>
                <a:noFill/>
              </a:ln>
              <a:solidFill>
                <a:schemeClr val="tx1"/>
              </a:solidFill>
              <a:effectLst/>
              <a:uLnTx/>
              <a:uFillTx/>
              <a:latin typeface="+mj-lt"/>
              <a:ea typeface="+mj-ea"/>
              <a:cs typeface="+mj-cs"/>
            </a:endParaRPr>
          </a:p>
        </p:txBody>
      </p:sp>
      <p:cxnSp>
        <p:nvCxnSpPr>
          <p:cNvPr id="545" name="Straight Connector 544"/>
          <p:cNvCxnSpPr/>
          <p:nvPr/>
        </p:nvCxnSpPr>
        <p:spPr>
          <a:xfrm>
            <a:off x="228600" y="1371600"/>
            <a:ext cx="8305800" cy="0"/>
          </a:xfrm>
          <a:prstGeom prst="line">
            <a:avLst/>
          </a:prstGeom>
        </p:spPr>
        <p:style>
          <a:lnRef idx="1">
            <a:schemeClr val="accent1"/>
          </a:lnRef>
          <a:fillRef idx="0">
            <a:schemeClr val="accent1"/>
          </a:fillRef>
          <a:effectRef idx="0">
            <a:schemeClr val="accent1"/>
          </a:effectRef>
          <a:fontRef idx="minor">
            <a:schemeClr val="tx1"/>
          </a:fontRef>
        </p:style>
      </p:cxnSp>
      <p:sp>
        <p:nvSpPr>
          <p:cNvPr id="546" name="Content Placeholder 2"/>
          <p:cNvSpPr txBox="1">
            <a:spLocks/>
          </p:cNvSpPr>
          <p:nvPr/>
        </p:nvSpPr>
        <p:spPr>
          <a:xfrm>
            <a:off x="228600" y="1447800"/>
            <a:ext cx="9067800" cy="4525963"/>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Replace k iterations of y = </a:t>
            </a:r>
            <a:r>
              <a:rPr kumimoji="0" lang="en-US" sz="3200" b="0" i="0" u="none" strike="noStrike" kern="1200" cap="none" spc="0" normalizeH="0" baseline="0" noProof="0" dirty="0" err="1" smtClean="0">
                <a:ln>
                  <a:noFill/>
                </a:ln>
                <a:solidFill>
                  <a:schemeClr val="tx1"/>
                </a:solidFill>
                <a:effectLst/>
                <a:uLnTx/>
                <a:uFillTx/>
                <a:latin typeface="+mn-lt"/>
                <a:ea typeface="+mn-ea"/>
                <a:cs typeface="+mn-cs"/>
              </a:rPr>
              <a:t>A</a:t>
            </a:r>
            <a:r>
              <a:rPr kumimoji="0" lang="en-US" sz="3200" b="0" i="0" u="none" strike="noStrike" kern="1200" cap="none" spc="0" normalizeH="0" baseline="0" noProof="0" dirty="0" err="1" smtClean="0">
                <a:ln>
                  <a:noFill/>
                </a:ln>
                <a:solidFill>
                  <a:schemeClr val="tx1"/>
                </a:solidFill>
                <a:effectLst/>
                <a:uLnTx/>
                <a:uFillTx/>
                <a:latin typeface="+mn-lt"/>
                <a:ea typeface="+mn-ea"/>
                <a:cs typeface="+mn-cs"/>
                <a:sym typeface="Symbol"/>
              </a:rPr>
              <a:t>x</a:t>
            </a:r>
            <a:r>
              <a:rPr kumimoji="0" lang="en-US" sz="3200" b="0" i="0" u="none" strike="noStrike" kern="1200" cap="none" spc="0" normalizeH="0" baseline="0" noProof="0" dirty="0" smtClean="0">
                <a:ln>
                  <a:noFill/>
                </a:ln>
                <a:solidFill>
                  <a:schemeClr val="tx1"/>
                </a:solidFill>
                <a:effectLst/>
                <a:uLnTx/>
                <a:uFillTx/>
                <a:latin typeface="+mn-lt"/>
                <a:ea typeface="+mn-ea"/>
                <a:cs typeface="+mn-cs"/>
                <a:sym typeface="Symbol"/>
              </a:rPr>
              <a:t> with [</a:t>
            </a:r>
            <a:r>
              <a:rPr kumimoji="0" lang="en-US" sz="3200" b="0" i="0" u="none" strike="noStrike" kern="1200" cap="none" spc="0" normalizeH="0" baseline="0" noProof="0" dirty="0" smtClean="0">
                <a:ln>
                  <a:noFill/>
                </a:ln>
                <a:solidFill>
                  <a:schemeClr val="tx1"/>
                </a:solidFill>
                <a:effectLst/>
                <a:uLnTx/>
                <a:uFillTx/>
                <a:latin typeface="+mn-lt"/>
                <a:ea typeface="+mn-ea"/>
                <a:cs typeface="+mn-cs"/>
              </a:rPr>
              <a:t>Ax, A</a:t>
            </a:r>
            <a:r>
              <a:rPr kumimoji="0" lang="en-US" sz="3200" b="0" i="0" u="none" strike="noStrike" kern="1200" cap="none" spc="0" normalizeH="0" baseline="40000" noProof="0" dirty="0" smtClean="0">
                <a:ln>
                  <a:noFill/>
                </a:ln>
                <a:solidFill>
                  <a:schemeClr val="tx1"/>
                </a:solidFill>
                <a:effectLst/>
                <a:uLnTx/>
                <a:uFillTx/>
                <a:latin typeface="+mn-lt"/>
                <a:ea typeface="+mn-ea"/>
                <a:cs typeface="+mn-cs"/>
              </a:rPr>
              <a:t>2</a:t>
            </a:r>
            <a:r>
              <a:rPr kumimoji="0" lang="en-US" sz="3200" b="0" i="0" u="none" strike="noStrike" kern="1200" cap="none" spc="0" normalizeH="0" baseline="0" noProof="0" dirty="0" smtClean="0">
                <a:ln>
                  <a:noFill/>
                </a:ln>
                <a:solidFill>
                  <a:schemeClr val="tx1"/>
                </a:solidFill>
                <a:effectLst/>
                <a:uLnTx/>
                <a:uFillTx/>
                <a:latin typeface="+mn-lt"/>
                <a:ea typeface="+mn-ea"/>
                <a:cs typeface="+mn-cs"/>
              </a:rPr>
              <a:t>x, …, </a:t>
            </a:r>
            <a:r>
              <a:rPr kumimoji="0" lang="en-US" sz="3200" b="0" i="0" u="none" strike="noStrike" kern="1200" cap="none" spc="0" normalizeH="0" baseline="0" noProof="0" dirty="0" err="1" smtClean="0">
                <a:ln>
                  <a:noFill/>
                </a:ln>
                <a:solidFill>
                  <a:schemeClr val="tx1"/>
                </a:solidFill>
                <a:effectLst/>
                <a:uLnTx/>
                <a:uFillTx/>
                <a:latin typeface="+mn-lt"/>
                <a:ea typeface="+mn-ea"/>
                <a:cs typeface="+mn-cs"/>
              </a:rPr>
              <a:t>A</a:t>
            </a:r>
            <a:r>
              <a:rPr kumimoji="0" lang="en-US" sz="3200" b="0" i="0" u="none" strike="noStrike" kern="1200" cap="none" spc="0" normalizeH="0" baseline="40000" noProof="0" dirty="0" err="1" smtClean="0">
                <a:ln>
                  <a:noFill/>
                </a:ln>
                <a:solidFill>
                  <a:schemeClr val="tx1"/>
                </a:solidFill>
                <a:effectLst/>
                <a:uLnTx/>
                <a:uFillTx/>
                <a:latin typeface="+mn-lt"/>
                <a:ea typeface="+mn-ea"/>
                <a:cs typeface="+mn-cs"/>
              </a:rPr>
              <a:t>k</a:t>
            </a:r>
            <a:r>
              <a:rPr kumimoji="0" lang="en-US" sz="3200" b="0" i="0" u="none" strike="noStrike" kern="1200" cap="none" spc="0" normalizeH="0" baseline="0" noProof="0" dirty="0" err="1" smtClean="0">
                <a:ln>
                  <a:noFill/>
                </a:ln>
                <a:solidFill>
                  <a:schemeClr val="tx1"/>
                </a:solidFill>
                <a:effectLst/>
                <a:uLnTx/>
                <a:uFillTx/>
                <a:latin typeface="+mn-lt"/>
                <a:ea typeface="+mn-ea"/>
                <a:cs typeface="+mn-cs"/>
              </a:rPr>
              <a:t>x</a:t>
            </a:r>
            <a:r>
              <a:rPr kumimoji="0" lang="en-US" sz="3200" b="0" i="0" u="none" strike="noStrike" kern="1200" cap="none" spc="0" normalizeH="0" baseline="0" noProof="0" dirty="0" smtClean="0">
                <a:ln>
                  <a:noFill/>
                </a:ln>
                <a:solidFill>
                  <a:schemeClr val="tx1"/>
                </a:solidFill>
                <a:effectLst/>
                <a:uLnTx/>
                <a:uFillTx/>
                <a:latin typeface="+mn-lt"/>
                <a:ea typeface="+mn-ea"/>
                <a:cs typeface="+mn-cs"/>
              </a:rPr>
              <a:t>]</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sz="3200" noProof="0" dirty="0" smtClean="0"/>
              <a:t>Parallel Algorithm</a:t>
            </a:r>
            <a:r>
              <a:rPr kumimoji="0" lang="en-US" sz="3200" b="0" i="0" u="none" strike="noStrike" kern="1200" cap="none" spc="0" normalizeH="0" baseline="0" noProof="0" dirty="0" smtClean="0">
                <a:ln>
                  <a:noFill/>
                </a:ln>
                <a:solidFill>
                  <a:schemeClr val="tx1"/>
                </a:solidFill>
                <a:effectLst/>
                <a:uLnTx/>
                <a:uFillTx/>
                <a:latin typeface="+mn-lt"/>
                <a:ea typeface="+mn-ea"/>
                <a:cs typeface="+mn-cs"/>
              </a:rPr>
              <a:t> </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en-US" sz="3200" dirty="0" smtClean="0"/>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Example: A </a:t>
            </a:r>
            <a:r>
              <a:rPr kumimoji="0" lang="en-US" sz="3200" b="0" i="0" u="none" strike="noStrike" kern="1200" cap="none" spc="0" normalizeH="0" baseline="0" noProof="0" dirty="0" err="1" smtClean="0">
                <a:ln>
                  <a:noFill/>
                </a:ln>
                <a:solidFill>
                  <a:schemeClr val="tx1"/>
                </a:solidFill>
                <a:effectLst/>
                <a:uLnTx/>
                <a:uFillTx/>
                <a:latin typeface="+mn-lt"/>
                <a:ea typeface="+mn-ea"/>
                <a:cs typeface="+mn-cs"/>
              </a:rPr>
              <a:t>tridiagonal</a:t>
            </a:r>
            <a:r>
              <a:rPr kumimoji="0" lang="en-US" sz="3200" b="0" i="0" u="none" strike="noStrike" kern="1200" cap="none" spc="0" normalizeH="0" baseline="0" noProof="0" dirty="0" smtClean="0">
                <a:ln>
                  <a:noFill/>
                </a:ln>
                <a:solidFill>
                  <a:schemeClr val="tx1"/>
                </a:solidFill>
                <a:effectLst/>
                <a:uLnTx/>
                <a:uFillTx/>
                <a:latin typeface="+mn-lt"/>
                <a:ea typeface="+mn-ea"/>
                <a:cs typeface="+mn-cs"/>
              </a:rPr>
              <a:t>, n=32, k=3</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sz="3200" dirty="0" smtClean="0"/>
              <a:t>Each processor works on (overlapping) trapezoid</a:t>
            </a: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551" name="TextBox 550"/>
          <p:cNvSpPr txBox="1"/>
          <p:nvPr/>
        </p:nvSpPr>
        <p:spPr>
          <a:xfrm>
            <a:off x="990600" y="2514600"/>
            <a:ext cx="776559" cy="369332"/>
          </a:xfrm>
          <a:prstGeom prst="rect">
            <a:avLst/>
          </a:prstGeom>
          <a:noFill/>
        </p:spPr>
        <p:txBody>
          <a:bodyPr wrap="none" rtlCol="0">
            <a:spAutoFit/>
          </a:bodyPr>
          <a:lstStyle/>
          <a:p>
            <a:r>
              <a:rPr lang="en-US" b="1" dirty="0" smtClean="0">
                <a:solidFill>
                  <a:schemeClr val="tx2">
                    <a:lumMod val="60000"/>
                    <a:lumOff val="40000"/>
                  </a:schemeClr>
                </a:solidFill>
              </a:rPr>
              <a:t>Proc 1</a:t>
            </a:r>
            <a:endParaRPr lang="en-US" b="1" dirty="0">
              <a:solidFill>
                <a:schemeClr val="tx2">
                  <a:lumMod val="60000"/>
                  <a:lumOff val="40000"/>
                </a:schemeClr>
              </a:solidFill>
            </a:endParaRPr>
          </a:p>
        </p:txBody>
      </p:sp>
      <p:sp>
        <p:nvSpPr>
          <p:cNvPr id="552" name="TextBox 551"/>
          <p:cNvSpPr txBox="1"/>
          <p:nvPr/>
        </p:nvSpPr>
        <p:spPr>
          <a:xfrm>
            <a:off x="3289831" y="2514600"/>
            <a:ext cx="829458" cy="369332"/>
          </a:xfrm>
          <a:prstGeom prst="rect">
            <a:avLst/>
          </a:prstGeom>
          <a:noFill/>
        </p:spPr>
        <p:txBody>
          <a:bodyPr wrap="none" rtlCol="0">
            <a:spAutoFit/>
          </a:bodyPr>
          <a:lstStyle/>
          <a:p>
            <a:r>
              <a:rPr lang="en-US" b="1" dirty="0" smtClean="0">
                <a:solidFill>
                  <a:srgbClr val="FF0000"/>
                </a:solidFill>
              </a:rPr>
              <a:t>Proc  2</a:t>
            </a:r>
            <a:endParaRPr lang="en-US" b="1" dirty="0">
              <a:solidFill>
                <a:srgbClr val="FF0000"/>
              </a:solidFill>
            </a:endParaRPr>
          </a:p>
        </p:txBody>
      </p:sp>
      <p:sp>
        <p:nvSpPr>
          <p:cNvPr id="553" name="TextBox 552"/>
          <p:cNvSpPr txBox="1"/>
          <p:nvPr/>
        </p:nvSpPr>
        <p:spPr>
          <a:xfrm>
            <a:off x="5410200" y="2514600"/>
            <a:ext cx="829458" cy="369332"/>
          </a:xfrm>
          <a:prstGeom prst="rect">
            <a:avLst/>
          </a:prstGeom>
          <a:noFill/>
        </p:spPr>
        <p:txBody>
          <a:bodyPr wrap="none" rtlCol="0">
            <a:spAutoFit/>
          </a:bodyPr>
          <a:lstStyle/>
          <a:p>
            <a:r>
              <a:rPr lang="en-US" b="1" dirty="0" smtClean="0">
                <a:solidFill>
                  <a:srgbClr val="92D050"/>
                </a:solidFill>
              </a:rPr>
              <a:t>Proc  3</a:t>
            </a:r>
            <a:endParaRPr lang="en-US" b="1" dirty="0">
              <a:solidFill>
                <a:srgbClr val="92D050"/>
              </a:solidFill>
            </a:endParaRPr>
          </a:p>
        </p:txBody>
      </p:sp>
      <p:sp>
        <p:nvSpPr>
          <p:cNvPr id="554" name="TextBox 553"/>
          <p:cNvSpPr txBox="1"/>
          <p:nvPr/>
        </p:nvSpPr>
        <p:spPr>
          <a:xfrm>
            <a:off x="7404631" y="2514600"/>
            <a:ext cx="829458" cy="369332"/>
          </a:xfrm>
          <a:prstGeom prst="rect">
            <a:avLst/>
          </a:prstGeom>
          <a:noFill/>
        </p:spPr>
        <p:txBody>
          <a:bodyPr wrap="none" rtlCol="0">
            <a:spAutoFit/>
          </a:bodyPr>
          <a:lstStyle/>
          <a:p>
            <a:r>
              <a:rPr lang="en-US" b="1" dirty="0" smtClean="0">
                <a:solidFill>
                  <a:srgbClr val="FFC000"/>
                </a:solidFill>
              </a:rPr>
              <a:t>Proc  4</a:t>
            </a:r>
            <a:endParaRPr lang="en-US" b="1" dirty="0">
              <a:solidFill>
                <a:srgbClr val="FFC000"/>
              </a:solidFill>
            </a:endParaRPr>
          </a:p>
        </p:txBody>
      </p:sp>
    </p:spTree>
  </p:cSld>
  <p:clrMapOvr>
    <a:masterClrMapping/>
  </p:clrMapOvr>
  <p:timing>
    <p:tnLst>
      <p:par>
        <p:cTn xmlns:p14="http://schemas.microsoft.com/office/powerpoint/2010/mai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62" name="Picture 2" descr="pa1_general.jpg"/>
          <p:cNvPicPr>
            <a:picLocks noChangeAspect="1"/>
          </p:cNvPicPr>
          <p:nvPr/>
        </p:nvPicPr>
        <p:blipFill>
          <a:blip r:embed="rId3" cstate="print"/>
          <a:srcRect/>
          <a:stretch>
            <a:fillRect/>
          </a:stretch>
        </p:blipFill>
        <p:spPr bwMode="auto">
          <a:xfrm>
            <a:off x="4176664" y="2514600"/>
            <a:ext cx="4052936" cy="4032250"/>
          </a:xfrm>
          <a:prstGeom prst="rect">
            <a:avLst/>
          </a:prstGeom>
          <a:noFill/>
          <a:ln w="9525">
            <a:noFill/>
            <a:miter lim="800000"/>
            <a:headEnd/>
            <a:tailEnd/>
          </a:ln>
        </p:spPr>
      </p:pic>
      <p:sp>
        <p:nvSpPr>
          <p:cNvPr id="40963" name="Text Box 3"/>
          <p:cNvSpPr txBox="1">
            <a:spLocks noChangeArrowheads="1"/>
          </p:cNvSpPr>
          <p:nvPr/>
        </p:nvSpPr>
        <p:spPr bwMode="auto">
          <a:xfrm>
            <a:off x="914400" y="1686580"/>
            <a:ext cx="7467600" cy="523220"/>
          </a:xfrm>
          <a:prstGeom prst="rect">
            <a:avLst/>
          </a:prstGeom>
          <a:noFill/>
          <a:ln w="9525">
            <a:noFill/>
            <a:miter lim="800000"/>
            <a:headEnd/>
            <a:tailEnd/>
          </a:ln>
        </p:spPr>
        <p:txBody>
          <a:bodyPr>
            <a:spAutoFit/>
          </a:bodyPr>
          <a:lstStyle/>
          <a:p>
            <a:pPr algn="ctr"/>
            <a:r>
              <a:rPr lang="en-US" sz="2800" dirty="0" smtClean="0">
                <a:latin typeface="Calibri" pitchFamily="34" charset="0"/>
              </a:rPr>
              <a:t>Same idea works for general sparse matrices</a:t>
            </a:r>
            <a:endParaRPr lang="en-US" sz="2800" dirty="0">
              <a:solidFill>
                <a:schemeClr val="tx1"/>
              </a:solidFill>
              <a:latin typeface="Calibri" pitchFamily="34" charset="0"/>
            </a:endParaRPr>
          </a:p>
        </p:txBody>
      </p:sp>
      <p:sp>
        <p:nvSpPr>
          <p:cNvPr id="4" name="Title 1"/>
          <p:cNvSpPr txBox="1">
            <a:spLocks/>
          </p:cNvSpPr>
          <p:nvPr/>
        </p:nvSpPr>
        <p:spPr>
          <a:xfrm>
            <a:off x="457200" y="274638"/>
            <a:ext cx="8229600" cy="1143000"/>
          </a:xfrm>
          <a:prstGeom prst="rect">
            <a:avLst/>
          </a:prstGeom>
        </p:spPr>
        <p:txBody>
          <a:bodyPr rtlCol="0">
            <a:noAutofit/>
          </a:bodyPr>
          <a:lstStyle/>
          <a:p>
            <a:pPr lvl="0" algn="ctr">
              <a:spcBef>
                <a:spcPct val="0"/>
              </a:spcBef>
              <a:defRPr/>
            </a:pPr>
            <a:r>
              <a:rPr kumimoji="0" lang="en-US" sz="3600" b="0" i="0" u="none" strike="noStrike" kern="1200" cap="none" spc="0" normalizeH="0" baseline="0" noProof="0" dirty="0" smtClean="0">
                <a:ln>
                  <a:noFill/>
                </a:ln>
                <a:solidFill>
                  <a:schemeClr val="tx1"/>
                </a:solidFill>
                <a:effectLst/>
                <a:uLnTx/>
                <a:uFillTx/>
                <a:latin typeface="+mj-lt"/>
                <a:ea typeface="+mj-ea"/>
                <a:cs typeface="+mj-cs"/>
              </a:rPr>
              <a:t>Communication Avoiding Kernels:</a:t>
            </a:r>
            <a:br>
              <a:rPr kumimoji="0" lang="en-US" sz="3600" b="0" i="0" u="none" strike="noStrike" kern="1200" cap="none" spc="0" normalizeH="0" baseline="0" noProof="0" dirty="0" smtClean="0">
                <a:ln>
                  <a:noFill/>
                </a:ln>
                <a:solidFill>
                  <a:schemeClr val="tx1"/>
                </a:solidFill>
                <a:effectLst/>
                <a:uLnTx/>
                <a:uFillTx/>
                <a:latin typeface="+mj-lt"/>
                <a:ea typeface="+mj-ea"/>
                <a:cs typeface="+mj-cs"/>
              </a:rPr>
            </a:br>
            <a:r>
              <a:rPr kumimoji="0" lang="en-US" sz="2800" b="0" i="0" u="none" strike="noStrike" kern="1200" cap="none" spc="0" normalizeH="0" baseline="0" noProof="0" dirty="0" smtClean="0">
                <a:ln>
                  <a:noFill/>
                </a:ln>
                <a:solidFill>
                  <a:schemeClr val="tx1"/>
                </a:solidFill>
                <a:effectLst/>
                <a:uLnTx/>
                <a:uFillTx/>
                <a:latin typeface="+mj-lt"/>
                <a:ea typeface="+mj-ea"/>
                <a:cs typeface="+mj-cs"/>
              </a:rPr>
              <a:t>The Matrix Powers Kernel</a:t>
            </a:r>
            <a:r>
              <a:rPr lang="en-US" sz="2800" dirty="0" smtClean="0"/>
              <a:t> :</a:t>
            </a:r>
            <a:r>
              <a:rPr lang="en-US" sz="2800" dirty="0" smtClean="0">
                <a:sym typeface="Symbol"/>
              </a:rPr>
              <a:t> [</a:t>
            </a:r>
            <a:r>
              <a:rPr lang="en-US" sz="2800" dirty="0" smtClean="0"/>
              <a:t>Ax, A</a:t>
            </a:r>
            <a:r>
              <a:rPr lang="en-US" sz="2800" baseline="40000" dirty="0" smtClean="0"/>
              <a:t>2</a:t>
            </a:r>
            <a:r>
              <a:rPr lang="en-US" sz="2800" dirty="0" smtClean="0"/>
              <a:t>x, …, </a:t>
            </a:r>
            <a:r>
              <a:rPr lang="en-US" sz="2800" dirty="0" err="1" smtClean="0"/>
              <a:t>A</a:t>
            </a:r>
            <a:r>
              <a:rPr lang="en-US" sz="2800" baseline="40000" dirty="0" err="1" smtClean="0"/>
              <a:t>k</a:t>
            </a:r>
            <a:r>
              <a:rPr lang="en-US" sz="2800" dirty="0" err="1" smtClean="0"/>
              <a:t>x</a:t>
            </a:r>
            <a:r>
              <a:rPr lang="en-US" sz="2800" dirty="0" smtClean="0"/>
              <a:t>] </a:t>
            </a:r>
            <a:endParaRPr kumimoji="0" lang="en-US" sz="2800" b="0" i="0" u="none" strike="noStrike" kern="1200" cap="none" spc="0" normalizeH="0" baseline="0" noProof="0" dirty="0">
              <a:ln>
                <a:noFill/>
              </a:ln>
              <a:solidFill>
                <a:schemeClr val="tx1"/>
              </a:solidFill>
              <a:effectLst/>
              <a:uLnTx/>
              <a:uFillTx/>
              <a:latin typeface="+mj-lt"/>
              <a:ea typeface="+mj-ea"/>
              <a:cs typeface="+mj-cs"/>
            </a:endParaRPr>
          </a:p>
        </p:txBody>
      </p:sp>
      <p:cxnSp>
        <p:nvCxnSpPr>
          <p:cNvPr id="5" name="Straight Connector 4"/>
          <p:cNvCxnSpPr/>
          <p:nvPr/>
        </p:nvCxnSpPr>
        <p:spPr>
          <a:xfrm>
            <a:off x="228600" y="1371600"/>
            <a:ext cx="83058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TextBox 1"/>
          <p:cNvSpPr txBox="1"/>
          <p:nvPr/>
        </p:nvSpPr>
        <p:spPr>
          <a:xfrm>
            <a:off x="533400" y="3048000"/>
            <a:ext cx="3251987" cy="1477328"/>
          </a:xfrm>
          <a:prstGeom prst="rect">
            <a:avLst/>
          </a:prstGeom>
          <a:noFill/>
        </p:spPr>
        <p:txBody>
          <a:bodyPr wrap="none" rtlCol="0">
            <a:spAutoFit/>
          </a:bodyPr>
          <a:lstStyle/>
          <a:p>
            <a:r>
              <a:rPr lang="en-US" dirty="0" smtClean="0"/>
              <a:t>Simple block-row partitioning </a:t>
            </a:r>
            <a:r>
              <a:rPr lang="en-US" dirty="0" smtClean="0">
                <a:latin typeface="Wingdings"/>
                <a:ea typeface="Wingdings"/>
                <a:cs typeface="Wingdings"/>
                <a:sym typeface="Wingdings"/>
              </a:rPr>
              <a:t></a:t>
            </a:r>
            <a:r>
              <a:rPr lang="en-US" dirty="0">
                <a:sym typeface="Wingdings"/>
              </a:rPr>
              <a:t> </a:t>
            </a:r>
            <a:endParaRPr lang="en-US" dirty="0" smtClean="0">
              <a:sym typeface="Wingdings"/>
            </a:endParaRPr>
          </a:p>
          <a:p>
            <a:r>
              <a:rPr lang="en-US" dirty="0">
                <a:sym typeface="Wingdings"/>
              </a:rPr>
              <a:t> </a:t>
            </a:r>
            <a:r>
              <a:rPr lang="en-US" dirty="0" smtClean="0">
                <a:sym typeface="Wingdings"/>
              </a:rPr>
              <a:t>   (hyper)graph partitioning</a:t>
            </a:r>
          </a:p>
          <a:p>
            <a:endParaRPr lang="en-US" dirty="0">
              <a:sym typeface="Wingdings"/>
            </a:endParaRPr>
          </a:p>
          <a:p>
            <a:r>
              <a:rPr lang="en-US" dirty="0" smtClean="0">
                <a:sym typeface="Wingdings"/>
              </a:rPr>
              <a:t>Top-to-bottom processing </a:t>
            </a:r>
            <a:r>
              <a:rPr lang="en-US" dirty="0" smtClean="0">
                <a:latin typeface="Wingdings"/>
                <a:ea typeface="Wingdings"/>
                <a:cs typeface="Wingdings"/>
                <a:sym typeface="Wingdings"/>
              </a:rPr>
              <a:t></a:t>
            </a:r>
          </a:p>
          <a:p>
            <a:r>
              <a:rPr lang="en-US" dirty="0">
                <a:latin typeface="Wingdings"/>
                <a:ea typeface="Wingdings"/>
                <a:cs typeface="Wingdings"/>
                <a:sym typeface="Wingdings"/>
              </a:rPr>
              <a:t> </a:t>
            </a:r>
            <a:r>
              <a:rPr lang="en-US" dirty="0" smtClean="0">
                <a:ea typeface="Wingdings"/>
                <a:cs typeface="Wingdings"/>
                <a:sym typeface="Wingdings"/>
              </a:rPr>
              <a:t>Traveling Salesman Problem</a:t>
            </a:r>
            <a:endParaRPr lang="en-US" dirty="0"/>
          </a:p>
        </p:txBody>
      </p:sp>
    </p:spTree>
  </p:cSld>
  <p:clrMapOvr>
    <a:masterClrMapping/>
  </p:clrMapOvr>
  <p:timing>
    <p:tnLst>
      <p:par>
        <p:cTn xmlns:p14="http://schemas.microsoft.com/office/powerpoint/2010/mai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a:xfrm>
            <a:off x="123825" y="152400"/>
            <a:ext cx="9099550" cy="425450"/>
          </a:xfrm>
        </p:spPr>
        <p:txBody>
          <a:bodyPr>
            <a:noAutofit/>
          </a:bodyPr>
          <a:lstStyle/>
          <a:p>
            <a:pPr eaLnBrk="1" hangingPunct="1"/>
            <a:r>
              <a:rPr lang="en-US" sz="3200" dirty="0" smtClean="0"/>
              <a:t>Minimizing Communication of GMRES to solve Ax=b</a:t>
            </a:r>
          </a:p>
        </p:txBody>
      </p:sp>
      <p:sp>
        <p:nvSpPr>
          <p:cNvPr id="54275" name="Rectangle 3"/>
          <p:cNvSpPr>
            <a:spLocks noGrp="1" noChangeArrowheads="1"/>
          </p:cNvSpPr>
          <p:nvPr>
            <p:ph type="body" idx="1"/>
          </p:nvPr>
        </p:nvSpPr>
        <p:spPr>
          <a:xfrm>
            <a:off x="228600" y="704850"/>
            <a:ext cx="8915400" cy="842963"/>
          </a:xfrm>
        </p:spPr>
        <p:txBody>
          <a:bodyPr>
            <a:noAutofit/>
          </a:bodyPr>
          <a:lstStyle/>
          <a:p>
            <a:pPr eaLnBrk="1" hangingPunct="1"/>
            <a:r>
              <a:rPr lang="en-US" sz="2800" dirty="0" smtClean="0"/>
              <a:t>GMRES: find x in span{</a:t>
            </a:r>
            <a:r>
              <a:rPr lang="en-US" sz="2800" dirty="0" err="1" smtClean="0"/>
              <a:t>b,Ab</a:t>
            </a:r>
            <a:r>
              <a:rPr lang="en-US" sz="2800" dirty="0" smtClean="0"/>
              <a:t>,…,</a:t>
            </a:r>
            <a:r>
              <a:rPr lang="en-US" sz="2800" dirty="0" err="1" smtClean="0"/>
              <a:t>A</a:t>
            </a:r>
            <a:r>
              <a:rPr lang="en-US" sz="2800" baseline="30000" dirty="0" err="1" smtClean="0"/>
              <a:t>k</a:t>
            </a:r>
            <a:r>
              <a:rPr lang="en-US" sz="2800" dirty="0" err="1" smtClean="0"/>
              <a:t>b</a:t>
            </a:r>
            <a:r>
              <a:rPr lang="en-US" sz="2800" dirty="0" smtClean="0"/>
              <a:t>} minimizing || Ax-b ||</a:t>
            </a:r>
            <a:r>
              <a:rPr lang="en-US" sz="2800" baseline="-25000" dirty="0" smtClean="0"/>
              <a:t>2</a:t>
            </a:r>
          </a:p>
        </p:txBody>
      </p:sp>
      <p:sp>
        <p:nvSpPr>
          <p:cNvPr id="54276" name="Text Box 4"/>
          <p:cNvSpPr txBox="1">
            <a:spLocks noChangeArrowheads="1"/>
          </p:cNvSpPr>
          <p:nvPr/>
        </p:nvSpPr>
        <p:spPr bwMode="auto">
          <a:xfrm>
            <a:off x="746125" y="1631950"/>
            <a:ext cx="3523785" cy="2954655"/>
          </a:xfrm>
          <a:prstGeom prst="rect">
            <a:avLst/>
          </a:prstGeom>
          <a:noFill/>
          <a:ln w="9525">
            <a:noFill/>
            <a:miter lim="800000"/>
            <a:headEnd/>
            <a:tailEnd/>
          </a:ln>
        </p:spPr>
        <p:txBody>
          <a:bodyPr wrap="none">
            <a:spAutoFit/>
          </a:bodyPr>
          <a:lstStyle/>
          <a:p>
            <a:r>
              <a:rPr lang="en-US" sz="2400" b="1" dirty="0">
                <a:solidFill>
                  <a:schemeClr val="tx1"/>
                </a:solidFill>
                <a:latin typeface="Calibri" pitchFamily="34" charset="0"/>
              </a:rPr>
              <a:t>Standard GMRES</a:t>
            </a:r>
          </a:p>
          <a:p>
            <a:r>
              <a:rPr lang="en-US" sz="2400" dirty="0">
                <a:solidFill>
                  <a:schemeClr val="tx1"/>
                </a:solidFill>
                <a:latin typeface="Calibri" pitchFamily="34" charset="0"/>
              </a:rPr>
              <a:t>  for </a:t>
            </a:r>
            <a:r>
              <a:rPr lang="en-US" sz="2400" dirty="0" err="1">
                <a:solidFill>
                  <a:schemeClr val="tx1"/>
                </a:solidFill>
                <a:latin typeface="Calibri" pitchFamily="34" charset="0"/>
              </a:rPr>
              <a:t>i</a:t>
            </a:r>
            <a:r>
              <a:rPr lang="en-US" sz="2400" dirty="0">
                <a:solidFill>
                  <a:schemeClr val="tx1"/>
                </a:solidFill>
                <a:latin typeface="Calibri" pitchFamily="34" charset="0"/>
              </a:rPr>
              <a:t>=1 to </a:t>
            </a:r>
            <a:r>
              <a:rPr lang="en-US" sz="2400" dirty="0" smtClean="0">
                <a:latin typeface="Calibri" pitchFamily="34" charset="0"/>
              </a:rPr>
              <a:t>k</a:t>
            </a:r>
            <a:endParaRPr lang="en-US" sz="2400" dirty="0">
              <a:solidFill>
                <a:schemeClr val="tx1"/>
              </a:solidFill>
              <a:latin typeface="Calibri" pitchFamily="34" charset="0"/>
            </a:endParaRPr>
          </a:p>
          <a:p>
            <a:r>
              <a:rPr lang="en-US" sz="2400" dirty="0">
                <a:solidFill>
                  <a:schemeClr val="tx1"/>
                </a:solidFill>
                <a:latin typeface="Calibri" pitchFamily="34" charset="0"/>
              </a:rPr>
              <a:t>     w = A · v(i-1</a:t>
            </a:r>
            <a:r>
              <a:rPr lang="en-US" sz="2400" dirty="0" smtClean="0">
                <a:solidFill>
                  <a:schemeClr val="tx1"/>
                </a:solidFill>
                <a:latin typeface="Calibri" pitchFamily="34" charset="0"/>
              </a:rPr>
              <a:t>)   </a:t>
            </a:r>
            <a:r>
              <a:rPr lang="en-US" sz="2400" i="1" dirty="0" smtClean="0">
                <a:solidFill>
                  <a:schemeClr val="tx1"/>
                </a:solidFill>
                <a:latin typeface="Calibri" pitchFamily="34" charset="0"/>
              </a:rPr>
              <a:t>… </a:t>
            </a:r>
            <a:r>
              <a:rPr lang="en-US" sz="2400" i="1" dirty="0" err="1" smtClean="0">
                <a:solidFill>
                  <a:schemeClr val="tx1"/>
                </a:solidFill>
                <a:latin typeface="Calibri" pitchFamily="34" charset="0"/>
              </a:rPr>
              <a:t>SpMV</a:t>
            </a:r>
            <a:endParaRPr lang="en-US" sz="2400" i="1" dirty="0">
              <a:solidFill>
                <a:schemeClr val="tx1"/>
              </a:solidFill>
              <a:latin typeface="Calibri" pitchFamily="34" charset="0"/>
            </a:endParaRPr>
          </a:p>
          <a:p>
            <a:r>
              <a:rPr lang="en-US" sz="2400" dirty="0">
                <a:solidFill>
                  <a:schemeClr val="tx1"/>
                </a:solidFill>
                <a:latin typeface="Calibri" pitchFamily="34" charset="0"/>
              </a:rPr>
              <a:t>     MGS(w, v(0),…,v(i-1))</a:t>
            </a:r>
          </a:p>
          <a:p>
            <a:r>
              <a:rPr lang="en-US" sz="2400" dirty="0">
                <a:solidFill>
                  <a:schemeClr val="tx1"/>
                </a:solidFill>
                <a:latin typeface="Calibri" pitchFamily="34" charset="0"/>
              </a:rPr>
              <a:t>     update v(</a:t>
            </a:r>
            <a:r>
              <a:rPr lang="en-US" sz="2400" dirty="0" err="1">
                <a:solidFill>
                  <a:schemeClr val="tx1"/>
                </a:solidFill>
                <a:latin typeface="Calibri" pitchFamily="34" charset="0"/>
              </a:rPr>
              <a:t>i</a:t>
            </a:r>
            <a:r>
              <a:rPr lang="en-US" sz="2400" dirty="0">
                <a:solidFill>
                  <a:schemeClr val="tx1"/>
                </a:solidFill>
                <a:latin typeface="Calibri" pitchFamily="34" charset="0"/>
              </a:rPr>
              <a:t>), H</a:t>
            </a:r>
          </a:p>
          <a:p>
            <a:r>
              <a:rPr lang="en-US" sz="2400" dirty="0">
                <a:solidFill>
                  <a:schemeClr val="tx1"/>
                </a:solidFill>
                <a:latin typeface="Calibri" pitchFamily="34" charset="0"/>
              </a:rPr>
              <a:t>  </a:t>
            </a:r>
            <a:r>
              <a:rPr lang="en-US" sz="2400" dirty="0" err="1">
                <a:solidFill>
                  <a:schemeClr val="tx1"/>
                </a:solidFill>
                <a:latin typeface="Calibri" pitchFamily="34" charset="0"/>
              </a:rPr>
              <a:t>endfor</a:t>
            </a:r>
            <a:endParaRPr lang="en-US" sz="2400" dirty="0">
              <a:solidFill>
                <a:schemeClr val="tx1"/>
              </a:solidFill>
              <a:latin typeface="Calibri" pitchFamily="34" charset="0"/>
            </a:endParaRPr>
          </a:p>
          <a:p>
            <a:r>
              <a:rPr lang="en-US" sz="2400" dirty="0">
                <a:solidFill>
                  <a:schemeClr val="tx1"/>
                </a:solidFill>
                <a:latin typeface="Calibri" pitchFamily="34" charset="0"/>
              </a:rPr>
              <a:t>  solve LSQ problem with H</a:t>
            </a:r>
          </a:p>
          <a:p>
            <a:endParaRPr lang="en-US" dirty="0">
              <a:solidFill>
                <a:schemeClr val="tx1"/>
              </a:solidFill>
              <a:latin typeface="Calibri" pitchFamily="34" charset="0"/>
            </a:endParaRPr>
          </a:p>
        </p:txBody>
      </p:sp>
      <p:sp>
        <p:nvSpPr>
          <p:cNvPr id="12" name="Text Box 10"/>
          <p:cNvSpPr txBox="1">
            <a:spLocks noChangeArrowheads="1"/>
          </p:cNvSpPr>
          <p:nvPr/>
        </p:nvSpPr>
        <p:spPr bwMode="auto">
          <a:xfrm>
            <a:off x="4572000" y="1631951"/>
            <a:ext cx="4572000" cy="3416320"/>
          </a:xfrm>
          <a:prstGeom prst="rect">
            <a:avLst/>
          </a:prstGeom>
          <a:noFill/>
          <a:ln w="9525">
            <a:noFill/>
            <a:miter lim="800000"/>
            <a:headEnd/>
            <a:tailEnd/>
          </a:ln>
        </p:spPr>
        <p:txBody>
          <a:bodyPr wrap="square">
            <a:spAutoFit/>
          </a:bodyPr>
          <a:lstStyle/>
          <a:p>
            <a:r>
              <a:rPr lang="en-US" sz="2400" b="1" dirty="0">
                <a:solidFill>
                  <a:schemeClr val="tx1"/>
                </a:solidFill>
                <a:latin typeface="Calibri" pitchFamily="34" charset="0"/>
              </a:rPr>
              <a:t>Communication-avoiding GMRES</a:t>
            </a:r>
          </a:p>
          <a:p>
            <a:r>
              <a:rPr lang="en-US" sz="2400" dirty="0">
                <a:solidFill>
                  <a:schemeClr val="tx1"/>
                </a:solidFill>
                <a:latin typeface="Calibri" pitchFamily="34" charset="0"/>
              </a:rPr>
              <a:t>   W = [ v, Av, A</a:t>
            </a:r>
            <a:r>
              <a:rPr lang="en-US" sz="2400" baseline="30000" dirty="0">
                <a:solidFill>
                  <a:schemeClr val="tx1"/>
                </a:solidFill>
                <a:latin typeface="Calibri" pitchFamily="34" charset="0"/>
              </a:rPr>
              <a:t>2</a:t>
            </a:r>
            <a:r>
              <a:rPr lang="en-US" sz="2400" dirty="0">
                <a:solidFill>
                  <a:schemeClr val="tx1"/>
                </a:solidFill>
                <a:latin typeface="Calibri" pitchFamily="34" charset="0"/>
              </a:rPr>
              <a:t>v, … , </a:t>
            </a:r>
            <a:r>
              <a:rPr lang="en-US" sz="2400" dirty="0" err="1" smtClean="0">
                <a:solidFill>
                  <a:schemeClr val="tx1"/>
                </a:solidFill>
                <a:latin typeface="Calibri" pitchFamily="34" charset="0"/>
              </a:rPr>
              <a:t>A</a:t>
            </a:r>
            <a:r>
              <a:rPr lang="en-US" sz="3600" baseline="30000" dirty="0" err="1" smtClean="0">
                <a:solidFill>
                  <a:schemeClr val="tx1"/>
                </a:solidFill>
                <a:latin typeface="Calibri" pitchFamily="34" charset="0"/>
              </a:rPr>
              <a:t>k</a:t>
            </a:r>
            <a:r>
              <a:rPr lang="en-US" sz="2400" dirty="0" err="1" smtClean="0">
                <a:solidFill>
                  <a:schemeClr val="tx1"/>
                </a:solidFill>
                <a:latin typeface="Calibri" pitchFamily="34" charset="0"/>
              </a:rPr>
              <a:t>v</a:t>
            </a:r>
            <a:r>
              <a:rPr lang="en-US" sz="2400" dirty="0" smtClean="0">
                <a:solidFill>
                  <a:schemeClr val="tx1"/>
                </a:solidFill>
                <a:latin typeface="Calibri" pitchFamily="34" charset="0"/>
              </a:rPr>
              <a:t> </a:t>
            </a:r>
            <a:r>
              <a:rPr lang="en-US" sz="2400" dirty="0">
                <a:solidFill>
                  <a:schemeClr val="tx1"/>
                </a:solidFill>
                <a:latin typeface="Calibri" pitchFamily="34" charset="0"/>
              </a:rPr>
              <a:t>]</a:t>
            </a:r>
          </a:p>
          <a:p>
            <a:r>
              <a:rPr lang="en-US" sz="2400" dirty="0">
                <a:solidFill>
                  <a:schemeClr val="tx1"/>
                </a:solidFill>
                <a:latin typeface="Calibri" pitchFamily="34" charset="0"/>
              </a:rPr>
              <a:t>   [Q,R] = TSQR(W)  </a:t>
            </a:r>
            <a:endParaRPr lang="en-US" sz="2400" dirty="0" smtClean="0">
              <a:solidFill>
                <a:schemeClr val="tx1"/>
              </a:solidFill>
              <a:latin typeface="Calibri" pitchFamily="34" charset="0"/>
            </a:endParaRPr>
          </a:p>
          <a:p>
            <a:r>
              <a:rPr lang="en-US" sz="2400" dirty="0">
                <a:latin typeface="Calibri" pitchFamily="34" charset="0"/>
              </a:rPr>
              <a:t> </a:t>
            </a:r>
            <a:r>
              <a:rPr lang="en-US" sz="2400" dirty="0" smtClean="0">
                <a:latin typeface="Calibri" pitchFamily="34" charset="0"/>
              </a:rPr>
              <a:t>         </a:t>
            </a:r>
            <a:r>
              <a:rPr lang="en-US" sz="2400" i="1" dirty="0" smtClean="0">
                <a:solidFill>
                  <a:schemeClr val="tx1"/>
                </a:solidFill>
                <a:latin typeface="Calibri" pitchFamily="34" charset="0"/>
              </a:rPr>
              <a:t>…  </a:t>
            </a:r>
            <a:r>
              <a:rPr lang="en-US" sz="2400" i="1" dirty="0">
                <a:solidFill>
                  <a:schemeClr val="tx1"/>
                </a:solidFill>
                <a:latin typeface="Calibri" pitchFamily="34" charset="0"/>
              </a:rPr>
              <a:t>“Tall Skinny QR”</a:t>
            </a:r>
          </a:p>
          <a:p>
            <a:r>
              <a:rPr lang="en-US" sz="2400" dirty="0">
                <a:solidFill>
                  <a:schemeClr val="tx1"/>
                </a:solidFill>
                <a:latin typeface="Calibri" pitchFamily="34" charset="0"/>
              </a:rPr>
              <a:t>   </a:t>
            </a:r>
            <a:r>
              <a:rPr lang="en-US" sz="2400" dirty="0" smtClean="0">
                <a:solidFill>
                  <a:schemeClr val="tx1"/>
                </a:solidFill>
                <a:latin typeface="Calibri" pitchFamily="34" charset="0"/>
              </a:rPr>
              <a:t>build </a:t>
            </a:r>
            <a:r>
              <a:rPr lang="en-US" sz="2400" dirty="0">
                <a:solidFill>
                  <a:schemeClr val="tx1"/>
                </a:solidFill>
                <a:latin typeface="Calibri" pitchFamily="34" charset="0"/>
              </a:rPr>
              <a:t>H from </a:t>
            </a:r>
            <a:r>
              <a:rPr lang="en-US" sz="2400" dirty="0" smtClean="0">
                <a:solidFill>
                  <a:schemeClr val="tx1"/>
                </a:solidFill>
                <a:latin typeface="Calibri" pitchFamily="34" charset="0"/>
              </a:rPr>
              <a:t>R </a:t>
            </a:r>
          </a:p>
          <a:p>
            <a:r>
              <a:rPr lang="en-US" sz="2400" dirty="0">
                <a:latin typeface="Calibri" pitchFamily="34" charset="0"/>
              </a:rPr>
              <a:t> </a:t>
            </a:r>
            <a:r>
              <a:rPr lang="en-US" sz="2400" dirty="0" smtClean="0">
                <a:latin typeface="Calibri" pitchFamily="34" charset="0"/>
              </a:rPr>
              <a:t>  </a:t>
            </a:r>
            <a:r>
              <a:rPr lang="en-US" sz="2400" dirty="0" smtClean="0">
                <a:solidFill>
                  <a:schemeClr val="tx1"/>
                </a:solidFill>
                <a:latin typeface="Calibri" pitchFamily="34" charset="0"/>
              </a:rPr>
              <a:t>solve </a:t>
            </a:r>
            <a:r>
              <a:rPr lang="en-US" sz="2400" dirty="0">
                <a:solidFill>
                  <a:schemeClr val="tx1"/>
                </a:solidFill>
                <a:latin typeface="Calibri" pitchFamily="34" charset="0"/>
              </a:rPr>
              <a:t>LSQ </a:t>
            </a:r>
            <a:r>
              <a:rPr lang="en-US" sz="2400" dirty="0" smtClean="0">
                <a:solidFill>
                  <a:schemeClr val="tx1"/>
                </a:solidFill>
                <a:latin typeface="Calibri" pitchFamily="34" charset="0"/>
              </a:rPr>
              <a:t>problem with H</a:t>
            </a:r>
            <a:endParaRPr lang="en-US" sz="2400" dirty="0">
              <a:solidFill>
                <a:schemeClr val="tx1"/>
              </a:solidFill>
              <a:latin typeface="Calibri" pitchFamily="34" charset="0"/>
            </a:endParaRPr>
          </a:p>
          <a:p>
            <a:endParaRPr lang="en-US" dirty="0">
              <a:solidFill>
                <a:schemeClr val="tx1"/>
              </a:solidFill>
              <a:latin typeface="Calibri" pitchFamily="34" charset="0"/>
            </a:endParaRPr>
          </a:p>
          <a:p>
            <a:endParaRPr lang="en-US" dirty="0">
              <a:solidFill>
                <a:schemeClr val="tx1"/>
              </a:solidFill>
              <a:latin typeface="Calibri" pitchFamily="34" charset="0"/>
            </a:endParaRPr>
          </a:p>
          <a:p>
            <a:endParaRPr lang="en-US" dirty="0">
              <a:solidFill>
                <a:schemeClr val="tx1"/>
              </a:solidFill>
              <a:latin typeface="Calibri" pitchFamily="34" charset="0"/>
            </a:endParaRPr>
          </a:p>
          <a:p>
            <a:endParaRPr lang="en-US" dirty="0">
              <a:solidFill>
                <a:schemeClr val="tx1"/>
              </a:solidFill>
              <a:latin typeface="Calibri" pitchFamily="34" charset="0"/>
            </a:endParaRPr>
          </a:p>
        </p:txBody>
      </p:sp>
      <p:sp>
        <p:nvSpPr>
          <p:cNvPr id="13" name="Text Box 8"/>
          <p:cNvSpPr txBox="1">
            <a:spLocks noChangeArrowheads="1"/>
          </p:cNvSpPr>
          <p:nvPr/>
        </p:nvSpPr>
        <p:spPr bwMode="auto">
          <a:xfrm>
            <a:off x="457200" y="6089650"/>
            <a:ext cx="7167563" cy="523875"/>
          </a:xfrm>
          <a:prstGeom prst="rect">
            <a:avLst/>
          </a:prstGeom>
          <a:noFill/>
          <a:ln w="9525">
            <a:noFill/>
            <a:miter lim="800000"/>
            <a:headEnd/>
            <a:tailEnd/>
          </a:ln>
        </p:spPr>
        <p:txBody>
          <a:bodyPr>
            <a:spAutoFit/>
          </a:bodyPr>
          <a:lstStyle/>
          <a:p>
            <a:pPr>
              <a:buFontTx/>
              <a:buChar char="•"/>
            </a:pPr>
            <a:r>
              <a:rPr lang="en-US" sz="2800">
                <a:solidFill>
                  <a:srgbClr val="C00000"/>
                </a:solidFill>
                <a:latin typeface="Calibri" pitchFamily="34" charset="0"/>
              </a:rPr>
              <a:t>Oops – W from power method, precision lost!</a:t>
            </a:r>
            <a:endParaRPr lang="en-US">
              <a:solidFill>
                <a:srgbClr val="C00000"/>
              </a:solidFill>
              <a:latin typeface="Calibri" pitchFamily="34" charset="0"/>
            </a:endParaRPr>
          </a:p>
        </p:txBody>
      </p:sp>
      <p:sp>
        <p:nvSpPr>
          <p:cNvPr id="54279" name="Slide Number Placeholder 6"/>
          <p:cNvSpPr txBox="1">
            <a:spLocks/>
          </p:cNvSpPr>
          <p:nvPr/>
        </p:nvSpPr>
        <p:spPr bwMode="auto">
          <a:xfrm>
            <a:off x="7158038" y="6408738"/>
            <a:ext cx="1905000" cy="457200"/>
          </a:xfrm>
          <a:prstGeom prst="rect">
            <a:avLst/>
          </a:prstGeom>
          <a:noFill/>
          <a:ln w="9525">
            <a:noFill/>
            <a:miter lim="800000"/>
            <a:headEnd/>
            <a:tailEnd/>
          </a:ln>
        </p:spPr>
        <p:txBody>
          <a:bodyPr/>
          <a:lstStyle/>
          <a:p>
            <a:pPr algn="r"/>
            <a:fld id="{FF97F013-77D3-4E4C-847E-5A357542A521}" type="slidenum">
              <a:rPr lang="en-US" sz="1400" b="0">
                <a:solidFill>
                  <a:schemeClr val="tx1"/>
                </a:solidFill>
              </a:rPr>
              <a:pPr algn="r"/>
              <a:t>78</a:t>
            </a:fld>
            <a:endParaRPr lang="en-US" b="0">
              <a:solidFill>
                <a:schemeClr val="tx1"/>
              </a:solidFill>
            </a:endParaRPr>
          </a:p>
        </p:txBody>
      </p:sp>
      <p:cxnSp>
        <p:nvCxnSpPr>
          <p:cNvPr id="8" name="Straight Connector 7"/>
          <p:cNvCxnSpPr/>
          <p:nvPr/>
        </p:nvCxnSpPr>
        <p:spPr>
          <a:xfrm>
            <a:off x="381000" y="609600"/>
            <a:ext cx="8305800" cy="0"/>
          </a:xfrm>
          <a:prstGeom prst="line">
            <a:avLst/>
          </a:prstGeom>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990600" y="4800600"/>
            <a:ext cx="7357079" cy="830997"/>
          </a:xfrm>
          <a:prstGeom prst="rect">
            <a:avLst/>
          </a:prstGeom>
          <a:noFill/>
        </p:spPr>
        <p:txBody>
          <a:bodyPr wrap="none" rtlCol="0">
            <a:spAutoFit/>
          </a:bodyPr>
          <a:lstStyle/>
          <a:p>
            <a:r>
              <a:rPr lang="en-US" sz="2400" dirty="0" smtClean="0"/>
              <a:t>Sequential case: #words moved decreases by a factor of k</a:t>
            </a:r>
          </a:p>
          <a:p>
            <a:r>
              <a:rPr lang="en-US" sz="2400" dirty="0" smtClean="0"/>
              <a:t>Parallel case: #messages decreases by a factor of k</a:t>
            </a:r>
            <a:endParaRPr lang="en-US" sz="2400" dirty="0"/>
          </a:p>
        </p:txBody>
      </p:sp>
    </p:spTree>
  </p:cSld>
  <p:clrMapOvr>
    <a:masterClrMapping/>
  </p:clrMapOvr>
  <p:transition xmlns:p14="http://schemas.microsoft.com/office/powerpoint/2010/main"/>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9" grpId="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7346" name="Picture 2"/>
          <p:cNvPicPr>
            <a:picLocks noChangeAspect="1" noChangeArrowheads="1"/>
          </p:cNvPicPr>
          <p:nvPr/>
        </p:nvPicPr>
        <p:blipFill>
          <a:blip r:embed="rId2" cstate="print"/>
          <a:srcRect/>
          <a:stretch>
            <a:fillRect/>
          </a:stretch>
        </p:blipFill>
        <p:spPr bwMode="auto">
          <a:xfrm>
            <a:off x="457200" y="69850"/>
            <a:ext cx="8229600" cy="6718300"/>
          </a:xfrm>
          <a:prstGeom prst="rect">
            <a:avLst/>
          </a:prstGeom>
          <a:noFill/>
          <a:ln w="9525">
            <a:noFill/>
            <a:miter lim="800000"/>
            <a:headEnd/>
            <a:tailEnd/>
          </a:ln>
        </p:spPr>
      </p:pic>
      <p:sp>
        <p:nvSpPr>
          <p:cNvPr id="57347" name="Text Box 8"/>
          <p:cNvSpPr txBox="1">
            <a:spLocks noChangeArrowheads="1"/>
          </p:cNvSpPr>
          <p:nvPr/>
        </p:nvSpPr>
        <p:spPr bwMode="auto">
          <a:xfrm>
            <a:off x="1817688" y="688975"/>
            <a:ext cx="3524250" cy="707886"/>
          </a:xfrm>
          <a:prstGeom prst="rect">
            <a:avLst/>
          </a:prstGeom>
          <a:noFill/>
          <a:ln w="9525">
            <a:noFill/>
            <a:miter lim="800000"/>
            <a:headEnd/>
            <a:tailEnd/>
          </a:ln>
        </p:spPr>
        <p:txBody>
          <a:bodyPr>
            <a:spAutoFit/>
          </a:bodyPr>
          <a:lstStyle/>
          <a:p>
            <a:pPr algn="ctr"/>
            <a:r>
              <a:rPr lang="en-US" sz="2000" b="1" dirty="0">
                <a:solidFill>
                  <a:srgbClr val="0824F2"/>
                </a:solidFill>
                <a:latin typeface="Calibri" pitchFamily="34" charset="0"/>
              </a:rPr>
              <a:t>“Monomial” basis [Ax,…,</a:t>
            </a:r>
            <a:r>
              <a:rPr lang="en-US" sz="2000" b="1" dirty="0" err="1" smtClean="0">
                <a:solidFill>
                  <a:srgbClr val="0824F2"/>
                </a:solidFill>
                <a:latin typeface="Calibri" pitchFamily="34" charset="0"/>
              </a:rPr>
              <a:t>A</a:t>
            </a:r>
            <a:r>
              <a:rPr lang="en-US" sz="2000" b="1" baseline="30000" dirty="0" err="1" smtClean="0">
                <a:solidFill>
                  <a:srgbClr val="0824F2"/>
                </a:solidFill>
                <a:latin typeface="Calibri" pitchFamily="34" charset="0"/>
              </a:rPr>
              <a:t>k</a:t>
            </a:r>
            <a:r>
              <a:rPr lang="en-US" sz="2000" b="1" dirty="0" err="1" smtClean="0">
                <a:solidFill>
                  <a:srgbClr val="0824F2"/>
                </a:solidFill>
                <a:latin typeface="Calibri" pitchFamily="34" charset="0"/>
              </a:rPr>
              <a:t>x</a:t>
            </a:r>
            <a:r>
              <a:rPr lang="en-US" sz="2000" b="1" dirty="0">
                <a:solidFill>
                  <a:srgbClr val="0824F2"/>
                </a:solidFill>
                <a:latin typeface="Calibri" pitchFamily="34" charset="0"/>
              </a:rPr>
              <a:t>]  </a:t>
            </a:r>
          </a:p>
          <a:p>
            <a:pPr algn="ctr"/>
            <a:r>
              <a:rPr lang="en-US" sz="2000" b="1" dirty="0">
                <a:solidFill>
                  <a:srgbClr val="0824F2"/>
                </a:solidFill>
                <a:latin typeface="Calibri" pitchFamily="34" charset="0"/>
              </a:rPr>
              <a:t>fails to converge</a:t>
            </a:r>
          </a:p>
        </p:txBody>
      </p:sp>
      <p:sp>
        <p:nvSpPr>
          <p:cNvPr id="4" name="Text Box 8"/>
          <p:cNvSpPr txBox="1">
            <a:spLocks noChangeArrowheads="1"/>
          </p:cNvSpPr>
          <p:nvPr/>
        </p:nvSpPr>
        <p:spPr bwMode="auto">
          <a:xfrm>
            <a:off x="3170238" y="4202113"/>
            <a:ext cx="5059362" cy="707886"/>
          </a:xfrm>
          <a:prstGeom prst="rect">
            <a:avLst/>
          </a:prstGeom>
          <a:noFill/>
          <a:ln w="9525">
            <a:noFill/>
            <a:miter lim="800000"/>
            <a:headEnd/>
            <a:tailEnd/>
          </a:ln>
        </p:spPr>
        <p:txBody>
          <a:bodyPr wrap="square">
            <a:spAutoFit/>
          </a:bodyPr>
          <a:lstStyle/>
          <a:p>
            <a:r>
              <a:rPr lang="en-US" dirty="0">
                <a:solidFill>
                  <a:srgbClr val="C00000"/>
                </a:solidFill>
                <a:latin typeface="Calibri" pitchFamily="34" charset="0"/>
              </a:rPr>
              <a:t> </a:t>
            </a:r>
            <a:r>
              <a:rPr lang="en-US" sz="2000" b="1" dirty="0" smtClean="0">
                <a:solidFill>
                  <a:srgbClr val="00B050"/>
                </a:solidFill>
                <a:latin typeface="Calibri" pitchFamily="34" charset="0"/>
              </a:rPr>
              <a:t>Different </a:t>
            </a:r>
            <a:r>
              <a:rPr lang="en-US" sz="2000" b="1" dirty="0">
                <a:solidFill>
                  <a:srgbClr val="00B050"/>
                </a:solidFill>
                <a:latin typeface="Calibri" pitchFamily="34" charset="0"/>
              </a:rPr>
              <a:t>polynomial basis </a:t>
            </a:r>
            <a:r>
              <a:rPr lang="en-US" sz="2000" b="1" dirty="0" smtClean="0">
                <a:solidFill>
                  <a:srgbClr val="00B050"/>
                </a:solidFill>
                <a:latin typeface="Calibri" pitchFamily="34" charset="0"/>
              </a:rPr>
              <a:t> [p</a:t>
            </a:r>
            <a:r>
              <a:rPr lang="en-US" sz="2000" b="1" baseline="-25000" dirty="0" smtClean="0">
                <a:solidFill>
                  <a:srgbClr val="00B050"/>
                </a:solidFill>
                <a:latin typeface="Calibri" pitchFamily="34" charset="0"/>
              </a:rPr>
              <a:t>1</a:t>
            </a:r>
            <a:r>
              <a:rPr lang="en-US" sz="2000" b="1" dirty="0" smtClean="0">
                <a:solidFill>
                  <a:srgbClr val="00B050"/>
                </a:solidFill>
                <a:latin typeface="Calibri" pitchFamily="34" charset="0"/>
              </a:rPr>
              <a:t>(A)x,…,</a:t>
            </a:r>
            <a:r>
              <a:rPr lang="en-US" sz="2000" b="1" dirty="0" err="1" smtClean="0">
                <a:solidFill>
                  <a:srgbClr val="00B050"/>
                </a:solidFill>
                <a:latin typeface="Calibri" pitchFamily="34" charset="0"/>
              </a:rPr>
              <a:t>p</a:t>
            </a:r>
            <a:r>
              <a:rPr lang="en-US" sz="2000" b="1" baseline="-25000" dirty="0" err="1" smtClean="0">
                <a:solidFill>
                  <a:srgbClr val="00B050"/>
                </a:solidFill>
                <a:latin typeface="Calibri" pitchFamily="34" charset="0"/>
              </a:rPr>
              <a:t>k</a:t>
            </a:r>
            <a:r>
              <a:rPr lang="en-US" sz="2000" b="1" dirty="0" smtClean="0">
                <a:solidFill>
                  <a:srgbClr val="00B050"/>
                </a:solidFill>
                <a:latin typeface="Calibri" pitchFamily="34" charset="0"/>
              </a:rPr>
              <a:t>(A)x]</a:t>
            </a:r>
          </a:p>
          <a:p>
            <a:r>
              <a:rPr lang="en-US" sz="2000" b="1" dirty="0" smtClean="0">
                <a:solidFill>
                  <a:srgbClr val="00B050"/>
                </a:solidFill>
                <a:latin typeface="Calibri" pitchFamily="34" charset="0"/>
              </a:rPr>
              <a:t> does </a:t>
            </a:r>
            <a:r>
              <a:rPr lang="en-US" sz="2000" b="1" dirty="0">
                <a:solidFill>
                  <a:srgbClr val="00B050"/>
                </a:solidFill>
                <a:latin typeface="Calibri" pitchFamily="34" charset="0"/>
              </a:rPr>
              <a:t>converge</a:t>
            </a:r>
          </a:p>
        </p:txBody>
      </p:sp>
      <p:cxnSp>
        <p:nvCxnSpPr>
          <p:cNvPr id="6" name="Straight Arrow Connector 5"/>
          <p:cNvCxnSpPr>
            <a:cxnSpLocks noChangeShapeType="1"/>
            <a:stCxn id="4" idx="1"/>
          </p:cNvCxnSpPr>
          <p:nvPr/>
        </p:nvCxnSpPr>
        <p:spPr bwMode="auto">
          <a:xfrm rot="10800000" flipV="1">
            <a:off x="2857500" y="4556056"/>
            <a:ext cx="312738" cy="46112"/>
          </a:xfrm>
          <a:prstGeom prst="straightConnector1">
            <a:avLst/>
          </a:prstGeom>
          <a:noFill/>
          <a:ln w="12700" algn="ctr">
            <a:solidFill>
              <a:srgbClr val="00B050"/>
            </a:solidFill>
            <a:round/>
            <a:headEnd type="none" w="sm" len="sm"/>
            <a:tailEnd type="arrow" w="med" len="med"/>
          </a:ln>
        </p:spPr>
      </p:cxnSp>
      <p:sp>
        <p:nvSpPr>
          <p:cNvPr id="57350" name="Slide Number Placeholder 3"/>
          <p:cNvSpPr txBox="1">
            <a:spLocks/>
          </p:cNvSpPr>
          <p:nvPr/>
        </p:nvSpPr>
        <p:spPr bwMode="auto">
          <a:xfrm>
            <a:off x="7010400" y="6553200"/>
            <a:ext cx="2133600" cy="304800"/>
          </a:xfrm>
          <a:prstGeom prst="rect">
            <a:avLst/>
          </a:prstGeom>
          <a:noFill/>
          <a:ln w="9525">
            <a:noFill/>
            <a:miter lim="800000"/>
            <a:headEnd/>
            <a:tailEnd/>
          </a:ln>
        </p:spPr>
        <p:txBody>
          <a:bodyPr/>
          <a:lstStyle/>
          <a:p>
            <a:pPr algn="r"/>
            <a:fld id="{D58C2980-F3AF-4B1F-A118-43C63B2529AC}" type="slidenum">
              <a:rPr lang="en-US" sz="1400" b="0">
                <a:solidFill>
                  <a:schemeClr val="tx1"/>
                </a:solidFill>
                <a:ea typeface="MS PGothic" pitchFamily="34" charset="-128"/>
              </a:rPr>
              <a:pPr algn="r"/>
              <a:t>79</a:t>
            </a:fld>
            <a:endParaRPr lang="en-US" sz="1400" b="0">
              <a:solidFill>
                <a:schemeClr val="tx1"/>
              </a:solidFill>
              <a:ea typeface="MS PGothic" pitchFamily="34" charset="-128"/>
            </a:endParaRPr>
          </a:p>
        </p:txBody>
      </p:sp>
    </p:spTree>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734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347" grpId="0"/>
      <p:bldP spid="4" grpId="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itle 3"/>
          <p:cNvSpPr>
            <a:spLocks noGrp="1"/>
          </p:cNvSpPr>
          <p:nvPr>
            <p:ph type="title"/>
          </p:nvPr>
        </p:nvSpPr>
        <p:spPr>
          <a:xfrm>
            <a:off x="473075" y="296863"/>
            <a:ext cx="8413750" cy="801687"/>
          </a:xfrm>
        </p:spPr>
        <p:txBody>
          <a:bodyPr>
            <a:noAutofit/>
          </a:bodyPr>
          <a:lstStyle/>
          <a:p>
            <a:pPr algn="ctr"/>
            <a:r>
              <a:rPr lang="en-US" sz="3200" dirty="0" smtClean="0"/>
              <a:t>Speed ups of GMRES on 8-core Intel </a:t>
            </a:r>
            <a:r>
              <a:rPr lang="en-US" sz="3200" dirty="0" err="1" smtClean="0"/>
              <a:t>Clovertown</a:t>
            </a:r>
            <a:r>
              <a:rPr lang="en-US" sz="3200" dirty="0" smtClean="0"/>
              <a:t/>
            </a:r>
            <a:br>
              <a:rPr lang="en-US" sz="3200" dirty="0" smtClean="0"/>
            </a:br>
            <a:endParaRPr lang="en-US" sz="3200" dirty="0" smtClean="0"/>
          </a:p>
        </p:txBody>
      </p:sp>
      <p:pic>
        <p:nvPicPr>
          <p:cNvPr id="58371" name="Picture 4" descr="bar_r60_p8.jpg"/>
          <p:cNvPicPr>
            <a:picLocks noChangeAspect="1"/>
          </p:cNvPicPr>
          <p:nvPr/>
        </p:nvPicPr>
        <p:blipFill>
          <a:blip r:embed="rId2" cstate="print"/>
          <a:srcRect/>
          <a:stretch>
            <a:fillRect/>
          </a:stretch>
        </p:blipFill>
        <p:spPr bwMode="auto">
          <a:xfrm>
            <a:off x="838200" y="1422400"/>
            <a:ext cx="7543800" cy="5359400"/>
          </a:xfrm>
          <a:prstGeom prst="rect">
            <a:avLst/>
          </a:prstGeom>
          <a:noFill/>
          <a:ln w="9525">
            <a:noFill/>
            <a:miter lim="800000"/>
            <a:headEnd/>
            <a:tailEnd/>
          </a:ln>
        </p:spPr>
      </p:pic>
      <p:sp>
        <p:nvSpPr>
          <p:cNvPr id="58372" name="TextBox 3"/>
          <p:cNvSpPr txBox="1">
            <a:spLocks noChangeArrowheads="1"/>
          </p:cNvSpPr>
          <p:nvPr/>
        </p:nvSpPr>
        <p:spPr bwMode="auto">
          <a:xfrm>
            <a:off x="3835400" y="1060450"/>
            <a:ext cx="1397000" cy="400050"/>
          </a:xfrm>
          <a:prstGeom prst="rect">
            <a:avLst/>
          </a:prstGeom>
          <a:noFill/>
          <a:ln w="9525">
            <a:noFill/>
            <a:miter lim="800000"/>
            <a:headEnd/>
            <a:tailEnd/>
          </a:ln>
        </p:spPr>
        <p:txBody>
          <a:bodyPr wrap="none">
            <a:spAutoFit/>
          </a:bodyPr>
          <a:lstStyle/>
          <a:p>
            <a:r>
              <a:rPr lang="en-US">
                <a:solidFill>
                  <a:srgbClr val="00B050"/>
                </a:solidFill>
              </a:rPr>
              <a:t>[MHDY09]</a:t>
            </a:r>
          </a:p>
        </p:txBody>
      </p:sp>
      <p:sp>
        <p:nvSpPr>
          <p:cNvPr id="58373" name="Slide Number Placeholder 6"/>
          <p:cNvSpPr txBox="1">
            <a:spLocks/>
          </p:cNvSpPr>
          <p:nvPr/>
        </p:nvSpPr>
        <p:spPr bwMode="auto">
          <a:xfrm>
            <a:off x="7158038" y="6408738"/>
            <a:ext cx="1905000" cy="457200"/>
          </a:xfrm>
          <a:prstGeom prst="rect">
            <a:avLst/>
          </a:prstGeom>
          <a:noFill/>
          <a:ln w="9525">
            <a:noFill/>
            <a:miter lim="800000"/>
            <a:headEnd/>
            <a:tailEnd/>
          </a:ln>
        </p:spPr>
        <p:txBody>
          <a:bodyPr/>
          <a:lstStyle/>
          <a:p>
            <a:pPr algn="r"/>
            <a:fld id="{5A0CED5E-3E17-48CE-8D11-444C9ABDC9B6}" type="slidenum">
              <a:rPr lang="en-US" sz="1400" b="0">
                <a:solidFill>
                  <a:schemeClr val="tx1"/>
                </a:solidFill>
              </a:rPr>
              <a:pPr algn="r"/>
              <a:t>80</a:t>
            </a:fld>
            <a:endParaRPr lang="en-US" b="0">
              <a:solidFill>
                <a:schemeClr val="tx1"/>
              </a:solidFill>
            </a:endParaRPr>
          </a:p>
        </p:txBody>
      </p:sp>
      <p:sp>
        <p:nvSpPr>
          <p:cNvPr id="6" name="TextBox 5"/>
          <p:cNvSpPr txBox="1"/>
          <p:nvPr/>
        </p:nvSpPr>
        <p:spPr>
          <a:xfrm>
            <a:off x="2209800" y="609600"/>
            <a:ext cx="4681859" cy="584775"/>
          </a:xfrm>
          <a:prstGeom prst="rect">
            <a:avLst/>
          </a:prstGeom>
          <a:noFill/>
        </p:spPr>
        <p:txBody>
          <a:bodyPr wrap="none" rtlCol="0">
            <a:spAutoFit/>
          </a:bodyPr>
          <a:lstStyle/>
          <a:p>
            <a:r>
              <a:rPr lang="en-US" sz="3200" dirty="0" smtClean="0">
                <a:solidFill>
                  <a:srgbClr val="FF0000"/>
                </a:solidFill>
              </a:rPr>
              <a:t>Requires Co-tuning Kernels</a:t>
            </a:r>
            <a:endParaRPr lang="en-US" sz="3200" dirty="0">
              <a:solidFill>
                <a:srgbClr val="FF0000"/>
              </a:solidFill>
            </a:endParaRPr>
          </a:p>
        </p:txBody>
      </p:sp>
    </p:spTree>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1" name="Picture 3"/>
          <p:cNvPicPr>
            <a:picLocks noChangeAspect="1" noChangeArrowheads="1"/>
          </p:cNvPicPr>
          <p:nvPr/>
        </p:nvPicPr>
        <p:blipFill>
          <a:blip r:embed="rId2" cstate="print"/>
          <a:srcRect/>
          <a:stretch>
            <a:fillRect/>
          </a:stretch>
        </p:blipFill>
        <p:spPr bwMode="auto">
          <a:xfrm>
            <a:off x="228600" y="304799"/>
            <a:ext cx="3886200" cy="3572025"/>
          </a:xfrm>
          <a:prstGeom prst="rect">
            <a:avLst/>
          </a:prstGeom>
          <a:noFill/>
          <a:ln w="9525">
            <a:noFill/>
            <a:miter lim="800000"/>
            <a:headEnd/>
            <a:tailEnd/>
          </a:ln>
        </p:spPr>
      </p:pic>
      <p:sp>
        <p:nvSpPr>
          <p:cNvPr id="4" name="Slide Number Placeholder 3"/>
          <p:cNvSpPr>
            <a:spLocks noGrp="1"/>
          </p:cNvSpPr>
          <p:nvPr>
            <p:ph type="sldNum" sz="quarter" idx="12"/>
          </p:nvPr>
        </p:nvSpPr>
        <p:spPr/>
        <p:txBody>
          <a:bodyPr/>
          <a:lstStyle/>
          <a:p>
            <a:fld id="{B767E78C-0198-421F-ACEA-FE03F05AF8BD}" type="slidenum">
              <a:rPr lang="en-US" smtClean="0"/>
              <a:pPr/>
              <a:t>81</a:t>
            </a:fld>
            <a:endParaRPr lang="en-US" dirty="0"/>
          </a:p>
        </p:txBody>
      </p:sp>
      <p:pic>
        <p:nvPicPr>
          <p:cNvPr id="7172" name="Picture 4"/>
          <p:cNvPicPr>
            <a:picLocks noChangeAspect="1" noChangeArrowheads="1"/>
          </p:cNvPicPr>
          <p:nvPr/>
        </p:nvPicPr>
        <p:blipFill>
          <a:blip r:embed="rId3" cstate="print"/>
          <a:srcRect/>
          <a:stretch>
            <a:fillRect/>
          </a:stretch>
        </p:blipFill>
        <p:spPr bwMode="auto">
          <a:xfrm>
            <a:off x="4048665" y="1600200"/>
            <a:ext cx="4891668" cy="4572000"/>
          </a:xfrm>
          <a:prstGeom prst="rect">
            <a:avLst/>
          </a:prstGeom>
          <a:noFill/>
          <a:ln w="9525">
            <a:noFill/>
            <a:miter lim="800000"/>
            <a:headEnd/>
            <a:tailEnd/>
          </a:ln>
        </p:spPr>
      </p:pic>
      <p:pic>
        <p:nvPicPr>
          <p:cNvPr id="7173" name="Picture 5"/>
          <p:cNvPicPr>
            <a:picLocks noChangeAspect="1" noChangeArrowheads="1"/>
          </p:cNvPicPr>
          <p:nvPr/>
        </p:nvPicPr>
        <p:blipFill>
          <a:blip r:embed="rId4" cstate="print"/>
          <a:srcRect/>
          <a:stretch>
            <a:fillRect/>
          </a:stretch>
        </p:blipFill>
        <p:spPr bwMode="auto">
          <a:xfrm>
            <a:off x="3962400" y="6238335"/>
            <a:ext cx="533400" cy="195443"/>
          </a:xfrm>
          <a:prstGeom prst="rect">
            <a:avLst/>
          </a:prstGeom>
          <a:noFill/>
          <a:ln w="9525">
            <a:noFill/>
            <a:miter lim="800000"/>
            <a:headEnd/>
            <a:tailEnd/>
          </a:ln>
        </p:spPr>
      </p:pic>
      <p:sp>
        <p:nvSpPr>
          <p:cNvPr id="10" name="TextBox 9"/>
          <p:cNvSpPr txBox="1"/>
          <p:nvPr/>
        </p:nvSpPr>
        <p:spPr>
          <a:xfrm>
            <a:off x="4800600" y="457200"/>
            <a:ext cx="3276600" cy="646331"/>
          </a:xfrm>
          <a:prstGeom prst="rect">
            <a:avLst/>
          </a:prstGeom>
          <a:noFill/>
        </p:spPr>
        <p:txBody>
          <a:bodyPr wrap="square" rtlCol="0">
            <a:spAutoFit/>
          </a:bodyPr>
          <a:lstStyle/>
          <a:p>
            <a:r>
              <a:rPr lang="en-US" sz="3600" dirty="0" smtClean="0"/>
              <a:t>CA-</a:t>
            </a:r>
            <a:r>
              <a:rPr lang="en-US" sz="3600" dirty="0" err="1" smtClean="0"/>
              <a:t>BiCGStab</a:t>
            </a:r>
            <a:endParaRPr lang="en-US" sz="3600" dirty="0"/>
          </a:p>
        </p:txBody>
      </p:sp>
      <p:pic>
        <p:nvPicPr>
          <p:cNvPr id="7174" name="Picture 6"/>
          <p:cNvPicPr>
            <a:picLocks noChangeAspect="1" noChangeArrowheads="1"/>
          </p:cNvPicPr>
          <p:nvPr/>
        </p:nvPicPr>
        <p:blipFill>
          <a:blip r:embed="rId5" cstate="print"/>
          <a:srcRect/>
          <a:stretch>
            <a:fillRect/>
          </a:stretch>
        </p:blipFill>
        <p:spPr bwMode="auto">
          <a:xfrm>
            <a:off x="304800" y="4343400"/>
            <a:ext cx="3205257" cy="2266950"/>
          </a:xfrm>
          <a:prstGeom prst="rect">
            <a:avLst/>
          </a:prstGeom>
          <a:noFill/>
          <a:ln w="9525">
            <a:noFill/>
            <a:miter lim="800000"/>
            <a:headEnd/>
            <a:tailEnd/>
          </a:ln>
        </p:spPr>
      </p:pic>
      <p:sp>
        <p:nvSpPr>
          <p:cNvPr id="12" name="Rectangle 11"/>
          <p:cNvSpPr/>
          <p:nvPr/>
        </p:nvSpPr>
        <p:spPr>
          <a:xfrm>
            <a:off x="304800" y="4267200"/>
            <a:ext cx="3048000" cy="2362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ed Rectangle 12"/>
          <p:cNvSpPr/>
          <p:nvPr/>
        </p:nvSpPr>
        <p:spPr>
          <a:xfrm>
            <a:off x="567906" y="1524000"/>
            <a:ext cx="3505200" cy="1143000"/>
          </a:xfrm>
          <a:prstGeom prst="roundRect">
            <a:avLst/>
          </a:prstGeom>
          <a:no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ounded Rectangle 13"/>
          <p:cNvSpPr/>
          <p:nvPr/>
        </p:nvSpPr>
        <p:spPr>
          <a:xfrm>
            <a:off x="1219200" y="4953000"/>
            <a:ext cx="1447800" cy="228600"/>
          </a:xfrm>
          <a:prstGeom prst="roundRect">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ounded Rectangle 14"/>
          <p:cNvSpPr/>
          <p:nvPr/>
        </p:nvSpPr>
        <p:spPr>
          <a:xfrm>
            <a:off x="1219200" y="5334000"/>
            <a:ext cx="1524000" cy="228600"/>
          </a:xfrm>
          <a:prstGeom prst="roundRect">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ounded Rectangle 15"/>
          <p:cNvSpPr/>
          <p:nvPr/>
        </p:nvSpPr>
        <p:spPr>
          <a:xfrm>
            <a:off x="1219200" y="5926347"/>
            <a:ext cx="609600" cy="304800"/>
          </a:xfrm>
          <a:prstGeom prst="roundRect">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ounded Rectangle 16"/>
          <p:cNvSpPr/>
          <p:nvPr/>
        </p:nvSpPr>
        <p:spPr>
          <a:xfrm>
            <a:off x="533400" y="838200"/>
            <a:ext cx="2438400" cy="685800"/>
          </a:xfrm>
          <a:prstGeom prst="round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ounded Rectangle 17"/>
          <p:cNvSpPr/>
          <p:nvPr/>
        </p:nvSpPr>
        <p:spPr>
          <a:xfrm>
            <a:off x="1828800" y="4953000"/>
            <a:ext cx="381000" cy="228600"/>
          </a:xfrm>
          <a:prstGeom prst="round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ounded Rectangle 18"/>
          <p:cNvSpPr/>
          <p:nvPr/>
        </p:nvSpPr>
        <p:spPr>
          <a:xfrm>
            <a:off x="1219200" y="5334000"/>
            <a:ext cx="381000" cy="228600"/>
          </a:xfrm>
          <a:prstGeom prst="round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5" name="Shape 24"/>
          <p:cNvCxnSpPr>
            <a:stCxn id="17" idx="1"/>
            <a:endCxn id="18" idx="0"/>
          </p:cNvCxnSpPr>
          <p:nvPr/>
        </p:nvCxnSpPr>
        <p:spPr>
          <a:xfrm rot="10800000" flipH="1" flipV="1">
            <a:off x="533400" y="1181100"/>
            <a:ext cx="1485900" cy="3771900"/>
          </a:xfrm>
          <a:prstGeom prst="curvedConnector4">
            <a:avLst>
              <a:gd name="adj1" fmla="val -15385"/>
              <a:gd name="adj2" fmla="val 54545"/>
            </a:avLst>
          </a:prstGeom>
          <a:ln w="15875">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27" name="Shape 26"/>
          <p:cNvCxnSpPr>
            <a:endCxn id="19" idx="1"/>
          </p:cNvCxnSpPr>
          <p:nvPr/>
        </p:nvCxnSpPr>
        <p:spPr>
          <a:xfrm rot="16200000" flipH="1">
            <a:off x="-247650" y="3981450"/>
            <a:ext cx="2400300" cy="533400"/>
          </a:xfrm>
          <a:prstGeom prst="curvedConnector2">
            <a:avLst/>
          </a:prstGeom>
          <a:ln w="15875">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30" name="Shape 29"/>
          <p:cNvCxnSpPr>
            <a:endCxn id="14" idx="3"/>
          </p:cNvCxnSpPr>
          <p:nvPr/>
        </p:nvCxnSpPr>
        <p:spPr>
          <a:xfrm rot="5400000">
            <a:off x="2114550" y="3143250"/>
            <a:ext cx="2476500" cy="1371600"/>
          </a:xfrm>
          <a:prstGeom prst="curvedConnector2">
            <a:avLst/>
          </a:prstGeom>
          <a:ln>
            <a:solidFill>
              <a:schemeClr val="accent6"/>
            </a:solidFill>
            <a:tailEnd type="arrow"/>
          </a:ln>
        </p:spPr>
        <p:style>
          <a:lnRef idx="1">
            <a:schemeClr val="accent1"/>
          </a:lnRef>
          <a:fillRef idx="0">
            <a:schemeClr val="accent1"/>
          </a:fillRef>
          <a:effectRef idx="0">
            <a:schemeClr val="accent1"/>
          </a:effectRef>
          <a:fontRef idx="minor">
            <a:schemeClr val="tx1"/>
          </a:fontRef>
        </p:style>
      </p:cxnSp>
      <p:cxnSp>
        <p:nvCxnSpPr>
          <p:cNvPr id="32" name="Shape 31"/>
          <p:cNvCxnSpPr>
            <a:endCxn id="15" idx="3"/>
          </p:cNvCxnSpPr>
          <p:nvPr/>
        </p:nvCxnSpPr>
        <p:spPr>
          <a:xfrm rot="5400000">
            <a:off x="2495550" y="4133850"/>
            <a:ext cx="1562100" cy="1066800"/>
          </a:xfrm>
          <a:prstGeom prst="curvedConnector2">
            <a:avLst/>
          </a:prstGeom>
          <a:ln>
            <a:solidFill>
              <a:schemeClr val="accent6"/>
            </a:solidFill>
            <a:tailEnd type="arrow"/>
          </a:ln>
        </p:spPr>
        <p:style>
          <a:lnRef idx="1">
            <a:schemeClr val="accent1"/>
          </a:lnRef>
          <a:fillRef idx="0">
            <a:schemeClr val="accent1"/>
          </a:fillRef>
          <a:effectRef idx="0">
            <a:schemeClr val="accent1"/>
          </a:effectRef>
          <a:fontRef idx="minor">
            <a:schemeClr val="tx1"/>
          </a:fontRef>
        </p:style>
      </p:cxnSp>
      <p:cxnSp>
        <p:nvCxnSpPr>
          <p:cNvPr id="34" name="Shape 33"/>
          <p:cNvCxnSpPr>
            <a:endCxn id="16" idx="3"/>
          </p:cNvCxnSpPr>
          <p:nvPr/>
        </p:nvCxnSpPr>
        <p:spPr>
          <a:xfrm rot="5400000">
            <a:off x="1723127" y="3991873"/>
            <a:ext cx="2192547" cy="1981200"/>
          </a:xfrm>
          <a:prstGeom prst="curvedConnector2">
            <a:avLst/>
          </a:prstGeom>
          <a:ln>
            <a:solidFill>
              <a:schemeClr val="accent6"/>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ransition xmlns:p14="http://schemas.microsoft.com/office/powerpoint/2010/main"/>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174"/>
                                        </p:tgtEl>
                                        <p:attrNameLst>
                                          <p:attrName>style.visibility</p:attrName>
                                        </p:attrNameLst>
                                      </p:cBhvr>
                                      <p:to>
                                        <p:strVal val="visible"/>
                                      </p:to>
                                    </p:set>
                                  </p:childTnLst>
                                </p:cTn>
                              </p:par>
                              <p:par>
                                <p:cTn id="7" presetID="10"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500"/>
                                        <p:tgtEl>
                                          <p:spTgt spid="12"/>
                                        </p:tgtEl>
                                      </p:cBhvr>
                                    </p:animEffect>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7171"/>
                                        </p:tgtEl>
                                        <p:attrNameLst>
                                          <p:attrName>style.visibility</p:attrName>
                                        </p:attrNameLst>
                                      </p:cBhvr>
                                      <p:to>
                                        <p:strVal val="visible"/>
                                      </p:to>
                                    </p:set>
                                    <p:animEffect transition="in" filter="fade">
                                      <p:cBhvr>
                                        <p:cTn id="14" dur="500"/>
                                        <p:tgtEl>
                                          <p:spTgt spid="7171"/>
                                        </p:tgtEl>
                                      </p:cBhvr>
                                    </p:animEffect>
                                  </p:childTnLst>
                                </p:cTn>
                              </p:par>
                              <p:par>
                                <p:cTn id="15" presetID="10" presetClass="entr" presetSubtype="0" fill="hold" nodeType="withEffect">
                                  <p:stCondLst>
                                    <p:cond delay="0"/>
                                  </p:stCondLst>
                                  <p:childTnLst>
                                    <p:set>
                                      <p:cBhvr>
                                        <p:cTn id="16" dur="1" fill="hold">
                                          <p:stCondLst>
                                            <p:cond delay="0"/>
                                          </p:stCondLst>
                                        </p:cTn>
                                        <p:tgtEl>
                                          <p:spTgt spid="7172"/>
                                        </p:tgtEl>
                                        <p:attrNameLst>
                                          <p:attrName>style.visibility</p:attrName>
                                        </p:attrNameLst>
                                      </p:cBhvr>
                                      <p:to>
                                        <p:strVal val="visible"/>
                                      </p:to>
                                    </p:set>
                                    <p:animEffect transition="in" filter="fade">
                                      <p:cBhvr>
                                        <p:cTn id="17" dur="500"/>
                                        <p:tgtEl>
                                          <p:spTgt spid="7172"/>
                                        </p:tgtEl>
                                      </p:cBhvr>
                                    </p:animEffect>
                                  </p:childTnLst>
                                </p:cTn>
                              </p:par>
                              <p:par>
                                <p:cTn id="18" presetID="10" presetClass="entr" presetSubtype="0" fill="hold" nodeType="withEffect">
                                  <p:stCondLst>
                                    <p:cond delay="0"/>
                                  </p:stCondLst>
                                  <p:childTnLst>
                                    <p:set>
                                      <p:cBhvr>
                                        <p:cTn id="19" dur="1" fill="hold">
                                          <p:stCondLst>
                                            <p:cond delay="0"/>
                                          </p:stCondLst>
                                        </p:cTn>
                                        <p:tgtEl>
                                          <p:spTgt spid="7173"/>
                                        </p:tgtEl>
                                        <p:attrNameLst>
                                          <p:attrName>style.visibility</p:attrName>
                                        </p:attrNameLst>
                                      </p:cBhvr>
                                      <p:to>
                                        <p:strVal val="visible"/>
                                      </p:to>
                                    </p:set>
                                    <p:animEffect transition="in" filter="fade">
                                      <p:cBhvr>
                                        <p:cTn id="20" dur="500"/>
                                        <p:tgtEl>
                                          <p:spTgt spid="7173"/>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fade">
                                      <p:cBhvr>
                                        <p:cTn id="25" dur="500"/>
                                        <p:tgtEl>
                                          <p:spTgt spid="17"/>
                                        </p:tgtEl>
                                      </p:cBhvr>
                                    </p:animEffect>
                                  </p:childTnLst>
                                </p:cTn>
                              </p:par>
                              <p:par>
                                <p:cTn id="26" presetID="10" presetClass="entr" presetSubtype="0" fill="hold" nodeType="withEffect">
                                  <p:stCondLst>
                                    <p:cond delay="0"/>
                                  </p:stCondLst>
                                  <p:childTnLst>
                                    <p:set>
                                      <p:cBhvr>
                                        <p:cTn id="27" dur="1" fill="hold">
                                          <p:stCondLst>
                                            <p:cond delay="0"/>
                                          </p:stCondLst>
                                        </p:cTn>
                                        <p:tgtEl>
                                          <p:spTgt spid="27"/>
                                        </p:tgtEl>
                                        <p:attrNameLst>
                                          <p:attrName>style.visibility</p:attrName>
                                        </p:attrNameLst>
                                      </p:cBhvr>
                                      <p:to>
                                        <p:strVal val="visible"/>
                                      </p:to>
                                    </p:set>
                                    <p:animEffect transition="in" filter="fade">
                                      <p:cBhvr>
                                        <p:cTn id="28" dur="500"/>
                                        <p:tgtEl>
                                          <p:spTgt spid="27"/>
                                        </p:tgtEl>
                                      </p:cBhvr>
                                    </p:animEffect>
                                  </p:childTnLst>
                                </p:cTn>
                              </p:par>
                              <p:par>
                                <p:cTn id="29" presetID="10" presetClass="entr" presetSubtype="0" fill="hold" nodeType="withEffect">
                                  <p:stCondLst>
                                    <p:cond delay="0"/>
                                  </p:stCondLst>
                                  <p:childTnLst>
                                    <p:set>
                                      <p:cBhvr>
                                        <p:cTn id="30" dur="1" fill="hold">
                                          <p:stCondLst>
                                            <p:cond delay="0"/>
                                          </p:stCondLst>
                                        </p:cTn>
                                        <p:tgtEl>
                                          <p:spTgt spid="25"/>
                                        </p:tgtEl>
                                        <p:attrNameLst>
                                          <p:attrName>style.visibility</p:attrName>
                                        </p:attrNameLst>
                                      </p:cBhvr>
                                      <p:to>
                                        <p:strVal val="visible"/>
                                      </p:to>
                                    </p:set>
                                    <p:animEffect transition="in" filter="fade">
                                      <p:cBhvr>
                                        <p:cTn id="31" dur="500"/>
                                        <p:tgtEl>
                                          <p:spTgt spid="25"/>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8"/>
                                        </p:tgtEl>
                                        <p:attrNameLst>
                                          <p:attrName>style.visibility</p:attrName>
                                        </p:attrNameLst>
                                      </p:cBhvr>
                                      <p:to>
                                        <p:strVal val="visible"/>
                                      </p:to>
                                    </p:set>
                                    <p:animEffect transition="in" filter="fade">
                                      <p:cBhvr>
                                        <p:cTn id="34" dur="500"/>
                                        <p:tgtEl>
                                          <p:spTgt spid="18"/>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9"/>
                                        </p:tgtEl>
                                        <p:attrNameLst>
                                          <p:attrName>style.visibility</p:attrName>
                                        </p:attrNameLst>
                                      </p:cBhvr>
                                      <p:to>
                                        <p:strVal val="visible"/>
                                      </p:to>
                                    </p:set>
                                    <p:animEffect transition="in" filter="fade">
                                      <p:cBhvr>
                                        <p:cTn id="37" dur="500"/>
                                        <p:tgtEl>
                                          <p:spTgt spid="19"/>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3"/>
                                        </p:tgtEl>
                                        <p:attrNameLst>
                                          <p:attrName>style.visibility</p:attrName>
                                        </p:attrNameLst>
                                      </p:cBhvr>
                                      <p:to>
                                        <p:strVal val="visible"/>
                                      </p:to>
                                    </p:set>
                                    <p:animEffect transition="in" filter="fade">
                                      <p:cBhvr>
                                        <p:cTn id="42" dur="500"/>
                                        <p:tgtEl>
                                          <p:spTgt spid="13"/>
                                        </p:tgtEl>
                                      </p:cBhvr>
                                    </p:animEffect>
                                  </p:childTnLst>
                                </p:cTn>
                              </p:par>
                              <p:par>
                                <p:cTn id="43" presetID="10" presetClass="entr" presetSubtype="0" fill="hold" nodeType="withEffect">
                                  <p:stCondLst>
                                    <p:cond delay="0"/>
                                  </p:stCondLst>
                                  <p:childTnLst>
                                    <p:set>
                                      <p:cBhvr>
                                        <p:cTn id="44" dur="1" fill="hold">
                                          <p:stCondLst>
                                            <p:cond delay="0"/>
                                          </p:stCondLst>
                                        </p:cTn>
                                        <p:tgtEl>
                                          <p:spTgt spid="30"/>
                                        </p:tgtEl>
                                        <p:attrNameLst>
                                          <p:attrName>style.visibility</p:attrName>
                                        </p:attrNameLst>
                                      </p:cBhvr>
                                      <p:to>
                                        <p:strVal val="visible"/>
                                      </p:to>
                                    </p:set>
                                    <p:animEffect transition="in" filter="fade">
                                      <p:cBhvr>
                                        <p:cTn id="45" dur="500"/>
                                        <p:tgtEl>
                                          <p:spTgt spid="30"/>
                                        </p:tgtEl>
                                      </p:cBhvr>
                                    </p:animEffect>
                                  </p:childTnLst>
                                </p:cTn>
                              </p:par>
                              <p:par>
                                <p:cTn id="46" presetID="10" presetClass="entr" presetSubtype="0" fill="hold" nodeType="withEffect">
                                  <p:stCondLst>
                                    <p:cond delay="0"/>
                                  </p:stCondLst>
                                  <p:childTnLst>
                                    <p:set>
                                      <p:cBhvr>
                                        <p:cTn id="47" dur="1" fill="hold">
                                          <p:stCondLst>
                                            <p:cond delay="0"/>
                                          </p:stCondLst>
                                        </p:cTn>
                                        <p:tgtEl>
                                          <p:spTgt spid="32"/>
                                        </p:tgtEl>
                                        <p:attrNameLst>
                                          <p:attrName>style.visibility</p:attrName>
                                        </p:attrNameLst>
                                      </p:cBhvr>
                                      <p:to>
                                        <p:strVal val="visible"/>
                                      </p:to>
                                    </p:set>
                                    <p:animEffect transition="in" filter="fade">
                                      <p:cBhvr>
                                        <p:cTn id="48" dur="500"/>
                                        <p:tgtEl>
                                          <p:spTgt spid="32"/>
                                        </p:tgtEl>
                                      </p:cBhvr>
                                    </p:animEffect>
                                  </p:childTnLst>
                                </p:cTn>
                              </p:par>
                              <p:par>
                                <p:cTn id="49" presetID="10" presetClass="entr" presetSubtype="0" fill="hold" nodeType="withEffect">
                                  <p:stCondLst>
                                    <p:cond delay="0"/>
                                  </p:stCondLst>
                                  <p:childTnLst>
                                    <p:set>
                                      <p:cBhvr>
                                        <p:cTn id="50" dur="1" fill="hold">
                                          <p:stCondLst>
                                            <p:cond delay="0"/>
                                          </p:stCondLst>
                                        </p:cTn>
                                        <p:tgtEl>
                                          <p:spTgt spid="34"/>
                                        </p:tgtEl>
                                        <p:attrNameLst>
                                          <p:attrName>style.visibility</p:attrName>
                                        </p:attrNameLst>
                                      </p:cBhvr>
                                      <p:to>
                                        <p:strVal val="visible"/>
                                      </p:to>
                                    </p:set>
                                    <p:animEffect transition="in" filter="fade">
                                      <p:cBhvr>
                                        <p:cTn id="51" dur="500"/>
                                        <p:tgtEl>
                                          <p:spTgt spid="34"/>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14"/>
                                        </p:tgtEl>
                                        <p:attrNameLst>
                                          <p:attrName>style.visibility</p:attrName>
                                        </p:attrNameLst>
                                      </p:cBhvr>
                                      <p:to>
                                        <p:strVal val="visible"/>
                                      </p:to>
                                    </p:set>
                                    <p:animEffect transition="in" filter="fade">
                                      <p:cBhvr>
                                        <p:cTn id="54" dur="500"/>
                                        <p:tgtEl>
                                          <p:spTgt spid="14"/>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15"/>
                                        </p:tgtEl>
                                        <p:attrNameLst>
                                          <p:attrName>style.visibility</p:attrName>
                                        </p:attrNameLst>
                                      </p:cBhvr>
                                      <p:to>
                                        <p:strVal val="visible"/>
                                      </p:to>
                                    </p:set>
                                    <p:animEffect transition="in" filter="fade">
                                      <p:cBhvr>
                                        <p:cTn id="57" dur="500"/>
                                        <p:tgtEl>
                                          <p:spTgt spid="15"/>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16"/>
                                        </p:tgtEl>
                                        <p:attrNameLst>
                                          <p:attrName>style.visibility</p:attrName>
                                        </p:attrNameLst>
                                      </p:cBhvr>
                                      <p:to>
                                        <p:strVal val="visible"/>
                                      </p:to>
                                    </p:set>
                                    <p:animEffect transition="in" filter="fade">
                                      <p:cBhvr>
                                        <p:cTn id="60"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P spid="15" grpId="0" animBg="1"/>
      <p:bldP spid="16" grpId="0" animBg="1"/>
      <p:bldP spid="17" grpId="0" animBg="1"/>
      <p:bldP spid="18" grpId="0" animBg="1"/>
      <p:bldP spid="19" grpId="0" animBg="1"/>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Tuning space for </a:t>
            </a:r>
            <a:r>
              <a:rPr lang="en-US" dirty="0" err="1" smtClean="0"/>
              <a:t>Krylov</a:t>
            </a:r>
            <a:r>
              <a:rPr lang="en-US" dirty="0" smtClean="0"/>
              <a:t> Methods</a:t>
            </a:r>
            <a:endParaRPr lang="en-US" dirty="0"/>
          </a:p>
        </p:txBody>
      </p:sp>
      <p:graphicFrame>
        <p:nvGraphicFramePr>
          <p:cNvPr id="4" name="Content Placeholder 3"/>
          <p:cNvGraphicFramePr>
            <a:graphicFrameLocks noGrp="1"/>
          </p:cNvGraphicFramePr>
          <p:nvPr>
            <p:ph idx="1"/>
          </p:nvPr>
        </p:nvGraphicFramePr>
        <p:xfrm>
          <a:off x="1981200" y="2747665"/>
          <a:ext cx="6477000" cy="1112520"/>
        </p:xfrm>
        <a:graphic>
          <a:graphicData uri="http://schemas.openxmlformats.org/drawingml/2006/table">
            <a:tbl>
              <a:tblPr firstRow="1" bandRow="1">
                <a:tableStyleId>{5C22544A-7EE6-4342-B048-85BDC9FD1C3A}</a:tableStyleId>
              </a:tblPr>
              <a:tblGrid>
                <a:gridCol w="1885950"/>
                <a:gridCol w="2143125"/>
                <a:gridCol w="2447925"/>
              </a:tblGrid>
              <a:tr h="370840">
                <a:tc>
                  <a:txBody>
                    <a:bodyPr/>
                    <a:lstStyle/>
                    <a:p>
                      <a:endParaRPr 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dirty="0" smtClean="0">
                          <a:solidFill>
                            <a:schemeClr val="tx1"/>
                          </a:solidFill>
                        </a:rPr>
                        <a:t>Explicit   (O(</a:t>
                      </a:r>
                      <a:r>
                        <a:rPr lang="en-US" b="0" dirty="0" err="1" smtClean="0">
                          <a:solidFill>
                            <a:schemeClr val="tx1"/>
                          </a:solidFill>
                        </a:rPr>
                        <a:t>nnz</a:t>
                      </a:r>
                      <a:r>
                        <a:rPr lang="en-US" b="0" dirty="0" smtClean="0">
                          <a:solidFill>
                            <a:schemeClr val="tx1"/>
                          </a:solidFill>
                        </a:rPr>
                        <a:t>))</a:t>
                      </a:r>
                      <a:endParaRPr 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dirty="0" smtClean="0">
                          <a:solidFill>
                            <a:schemeClr val="tx1"/>
                          </a:solidFill>
                        </a:rPr>
                        <a:t>Implicit    (o(</a:t>
                      </a:r>
                      <a:r>
                        <a:rPr lang="en-US" b="0" dirty="0" err="1" smtClean="0">
                          <a:solidFill>
                            <a:schemeClr val="tx1"/>
                          </a:solidFill>
                        </a:rPr>
                        <a:t>nnz</a:t>
                      </a:r>
                      <a:r>
                        <a:rPr lang="en-US" b="0" dirty="0" smtClean="0">
                          <a:solidFill>
                            <a:schemeClr val="tx1"/>
                          </a:solidFill>
                        </a:rPr>
                        <a:t>))</a:t>
                      </a:r>
                      <a:endParaRPr 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0840">
                <a:tc>
                  <a:txBody>
                    <a:bodyPr/>
                    <a:lstStyle/>
                    <a:p>
                      <a:r>
                        <a:rPr lang="en-US" b="0" dirty="0" smtClean="0">
                          <a:solidFill>
                            <a:schemeClr val="tx1"/>
                          </a:solidFill>
                        </a:rPr>
                        <a:t>Explicit    (O(</a:t>
                      </a:r>
                      <a:r>
                        <a:rPr lang="en-US" b="0" dirty="0" err="1" smtClean="0">
                          <a:solidFill>
                            <a:schemeClr val="tx1"/>
                          </a:solidFill>
                        </a:rPr>
                        <a:t>nnz</a:t>
                      </a:r>
                      <a:r>
                        <a:rPr lang="en-US" b="0" dirty="0" smtClean="0">
                          <a:solidFill>
                            <a:schemeClr val="tx1"/>
                          </a:solidFill>
                        </a:rPr>
                        <a:t>))</a:t>
                      </a:r>
                      <a:endParaRPr 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dirty="0" smtClean="0">
                          <a:solidFill>
                            <a:schemeClr val="tx1"/>
                          </a:solidFill>
                        </a:rPr>
                        <a:t>CSR</a:t>
                      </a:r>
                      <a:r>
                        <a:rPr lang="en-US" b="0" baseline="0" dirty="0" smtClean="0">
                          <a:solidFill>
                            <a:schemeClr val="tx1"/>
                          </a:solidFill>
                        </a:rPr>
                        <a:t> and variations</a:t>
                      </a:r>
                      <a:endParaRPr 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dirty="0" smtClean="0">
                          <a:solidFill>
                            <a:schemeClr val="tx1"/>
                          </a:solidFill>
                        </a:rPr>
                        <a:t>Vision, climate,</a:t>
                      </a:r>
                      <a:r>
                        <a:rPr lang="en-US" b="0" baseline="0" dirty="0" smtClean="0">
                          <a:solidFill>
                            <a:schemeClr val="tx1"/>
                          </a:solidFill>
                        </a:rPr>
                        <a:t> AMR,…</a:t>
                      </a:r>
                      <a:endParaRPr 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0840">
                <a:tc>
                  <a:txBody>
                    <a:bodyPr/>
                    <a:lstStyle/>
                    <a:p>
                      <a:r>
                        <a:rPr lang="en-US" b="0" dirty="0" smtClean="0">
                          <a:solidFill>
                            <a:schemeClr val="tx1"/>
                          </a:solidFill>
                        </a:rPr>
                        <a:t>Implicit   (o(</a:t>
                      </a:r>
                      <a:r>
                        <a:rPr lang="en-US" b="0" dirty="0" err="1" smtClean="0">
                          <a:solidFill>
                            <a:schemeClr val="tx1"/>
                          </a:solidFill>
                        </a:rPr>
                        <a:t>nnz</a:t>
                      </a:r>
                      <a:r>
                        <a:rPr lang="en-US" b="0" dirty="0" smtClean="0">
                          <a:solidFill>
                            <a:schemeClr val="tx1"/>
                          </a:solidFill>
                        </a:rPr>
                        <a:t>))</a:t>
                      </a:r>
                      <a:endParaRPr 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dirty="0" smtClean="0">
                          <a:solidFill>
                            <a:schemeClr val="tx1"/>
                          </a:solidFill>
                        </a:rPr>
                        <a:t>Graph </a:t>
                      </a:r>
                      <a:r>
                        <a:rPr lang="en-US" b="0" dirty="0" err="1" smtClean="0">
                          <a:solidFill>
                            <a:schemeClr val="tx1"/>
                          </a:solidFill>
                        </a:rPr>
                        <a:t>Laplacian</a:t>
                      </a:r>
                      <a:endParaRPr 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dirty="0" smtClean="0">
                          <a:solidFill>
                            <a:schemeClr val="tx1"/>
                          </a:solidFill>
                        </a:rPr>
                        <a:t>Stencils</a:t>
                      </a:r>
                      <a:endParaRPr 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p:sp>
        <p:nvSpPr>
          <p:cNvPr id="5" name="TextBox 4"/>
          <p:cNvSpPr txBox="1"/>
          <p:nvPr/>
        </p:nvSpPr>
        <p:spPr>
          <a:xfrm>
            <a:off x="685800" y="3059668"/>
            <a:ext cx="1309333" cy="830997"/>
          </a:xfrm>
          <a:prstGeom prst="rect">
            <a:avLst/>
          </a:prstGeom>
          <a:noFill/>
        </p:spPr>
        <p:txBody>
          <a:bodyPr wrap="none" rtlCol="0">
            <a:spAutoFit/>
          </a:bodyPr>
          <a:lstStyle/>
          <a:p>
            <a:r>
              <a:rPr lang="en-US" sz="2400" dirty="0" smtClean="0"/>
              <a:t>Nonzero </a:t>
            </a:r>
          </a:p>
          <a:p>
            <a:r>
              <a:rPr lang="en-US" sz="2400" dirty="0" smtClean="0"/>
              <a:t>entries</a:t>
            </a:r>
            <a:endParaRPr lang="en-US" sz="2400" dirty="0"/>
          </a:p>
        </p:txBody>
      </p:sp>
      <p:sp>
        <p:nvSpPr>
          <p:cNvPr id="6" name="TextBox 5"/>
          <p:cNvSpPr txBox="1"/>
          <p:nvPr/>
        </p:nvSpPr>
        <p:spPr>
          <a:xfrm>
            <a:off x="5493294" y="2286000"/>
            <a:ext cx="1059906" cy="461665"/>
          </a:xfrm>
          <a:prstGeom prst="rect">
            <a:avLst/>
          </a:prstGeom>
          <a:noFill/>
        </p:spPr>
        <p:txBody>
          <a:bodyPr wrap="none" rtlCol="0">
            <a:spAutoFit/>
          </a:bodyPr>
          <a:lstStyle/>
          <a:p>
            <a:r>
              <a:rPr lang="en-US" sz="2400" dirty="0" smtClean="0"/>
              <a:t>Indices</a:t>
            </a:r>
            <a:endParaRPr lang="en-US" sz="2400" dirty="0"/>
          </a:p>
        </p:txBody>
      </p:sp>
      <p:sp>
        <p:nvSpPr>
          <p:cNvPr id="7" name="TextBox 6"/>
          <p:cNvSpPr txBox="1"/>
          <p:nvPr/>
        </p:nvSpPr>
        <p:spPr>
          <a:xfrm>
            <a:off x="304800" y="1371600"/>
            <a:ext cx="8589724" cy="923330"/>
          </a:xfrm>
          <a:prstGeom prst="rect">
            <a:avLst/>
          </a:prstGeom>
          <a:noFill/>
        </p:spPr>
        <p:txBody>
          <a:bodyPr wrap="none" rtlCol="0">
            <a:spAutoFit/>
          </a:bodyPr>
          <a:lstStyle/>
          <a:p>
            <a:pPr>
              <a:buFont typeface="Arial" pitchFamily="34" charset="0"/>
              <a:buChar char="•"/>
            </a:pPr>
            <a:r>
              <a:rPr lang="en-US" dirty="0" smtClean="0"/>
              <a:t>  Classifications of sparse operators for avoiding communication</a:t>
            </a:r>
          </a:p>
          <a:p>
            <a:pPr lvl="1">
              <a:buFont typeface="Arial" pitchFamily="34" charset="0"/>
              <a:buChar char="•"/>
            </a:pPr>
            <a:r>
              <a:rPr lang="en-US" dirty="0" smtClean="0"/>
              <a:t>  Explicit indices or nonzero entries  cause  most communication,  along with vectors</a:t>
            </a:r>
          </a:p>
          <a:p>
            <a:pPr lvl="1">
              <a:buFont typeface="Arial" pitchFamily="34" charset="0"/>
              <a:buChar char="•"/>
            </a:pPr>
            <a:r>
              <a:rPr lang="en-US" dirty="0" smtClean="0"/>
              <a:t>  Ex: With stencils (all implicit) all communication for vectors</a:t>
            </a:r>
            <a:endParaRPr lang="en-US" dirty="0"/>
          </a:p>
        </p:txBody>
      </p:sp>
      <p:sp>
        <p:nvSpPr>
          <p:cNvPr id="8" name="TextBox 7"/>
          <p:cNvSpPr txBox="1"/>
          <p:nvPr/>
        </p:nvSpPr>
        <p:spPr>
          <a:xfrm>
            <a:off x="381000" y="4105870"/>
            <a:ext cx="8041112" cy="2585323"/>
          </a:xfrm>
          <a:prstGeom prst="rect">
            <a:avLst/>
          </a:prstGeom>
          <a:noFill/>
        </p:spPr>
        <p:txBody>
          <a:bodyPr wrap="none" rtlCol="0">
            <a:spAutoFit/>
          </a:bodyPr>
          <a:lstStyle/>
          <a:p>
            <a:pPr>
              <a:buFont typeface="Arial" pitchFamily="34" charset="0"/>
              <a:buChar char="•"/>
            </a:pPr>
            <a:r>
              <a:rPr lang="en-US" dirty="0" smtClean="0"/>
              <a:t>  Operations</a:t>
            </a:r>
          </a:p>
          <a:p>
            <a:pPr lvl="1">
              <a:buFont typeface="Arial" pitchFamily="34" charset="0"/>
              <a:buChar char="•"/>
            </a:pPr>
            <a:r>
              <a:rPr lang="en-US" dirty="0" smtClean="0"/>
              <a:t>  [x, Ax, A</a:t>
            </a:r>
            <a:r>
              <a:rPr lang="en-US" baseline="30000" dirty="0" smtClean="0"/>
              <a:t>2</a:t>
            </a:r>
            <a:r>
              <a:rPr lang="en-US" dirty="0" smtClean="0"/>
              <a:t>x,…, </a:t>
            </a:r>
            <a:r>
              <a:rPr lang="en-US" dirty="0" err="1" smtClean="0"/>
              <a:t>A</a:t>
            </a:r>
            <a:r>
              <a:rPr lang="en-US" baseline="30000" dirty="0" err="1" smtClean="0"/>
              <a:t>k</a:t>
            </a:r>
            <a:r>
              <a:rPr lang="en-US" dirty="0" err="1" smtClean="0"/>
              <a:t>x</a:t>
            </a:r>
            <a:r>
              <a:rPr lang="en-US" dirty="0" smtClean="0"/>
              <a:t> ]   or  [x, p</a:t>
            </a:r>
            <a:r>
              <a:rPr lang="en-US" baseline="-25000" dirty="0" smtClean="0"/>
              <a:t>1</a:t>
            </a:r>
            <a:r>
              <a:rPr lang="en-US" dirty="0" smtClean="0"/>
              <a:t>(A)x, p</a:t>
            </a:r>
            <a:r>
              <a:rPr lang="en-US" baseline="-25000" dirty="0" smtClean="0"/>
              <a:t>2</a:t>
            </a:r>
            <a:r>
              <a:rPr lang="en-US" dirty="0" smtClean="0"/>
              <a:t>(A)x, …, </a:t>
            </a:r>
            <a:r>
              <a:rPr lang="en-US" dirty="0" err="1" smtClean="0"/>
              <a:t>p</a:t>
            </a:r>
            <a:r>
              <a:rPr lang="en-US" baseline="-25000" dirty="0" err="1" smtClean="0"/>
              <a:t>k</a:t>
            </a:r>
            <a:r>
              <a:rPr lang="en-US" dirty="0" smtClean="0"/>
              <a:t>(A)x ]</a:t>
            </a:r>
          </a:p>
          <a:p>
            <a:pPr lvl="1">
              <a:buFont typeface="Arial" pitchFamily="34" charset="0"/>
              <a:buChar char="•"/>
            </a:pPr>
            <a:r>
              <a:rPr lang="en-US" dirty="0" smtClean="0"/>
              <a:t>  Number of columns in  x</a:t>
            </a:r>
          </a:p>
          <a:p>
            <a:pPr lvl="1">
              <a:buFont typeface="Arial" pitchFamily="34" charset="0"/>
              <a:buChar char="•"/>
            </a:pPr>
            <a:r>
              <a:rPr lang="en-US" dirty="0" smtClean="0"/>
              <a:t>  [x, Ax, A</a:t>
            </a:r>
            <a:r>
              <a:rPr lang="en-US" baseline="30000" dirty="0" smtClean="0"/>
              <a:t>2</a:t>
            </a:r>
            <a:r>
              <a:rPr lang="en-US" dirty="0" smtClean="0"/>
              <a:t>x,…, </a:t>
            </a:r>
            <a:r>
              <a:rPr lang="en-US" dirty="0" err="1" smtClean="0"/>
              <a:t>A</a:t>
            </a:r>
            <a:r>
              <a:rPr lang="en-US" baseline="30000" dirty="0" err="1" smtClean="0"/>
              <a:t>k</a:t>
            </a:r>
            <a:r>
              <a:rPr lang="en-US" dirty="0" err="1" smtClean="0"/>
              <a:t>x</a:t>
            </a:r>
            <a:r>
              <a:rPr lang="en-US" dirty="0" smtClean="0"/>
              <a:t> ]  and [y, </a:t>
            </a:r>
            <a:r>
              <a:rPr lang="en-US" dirty="0" err="1" smtClean="0"/>
              <a:t>A</a:t>
            </a:r>
            <a:r>
              <a:rPr lang="en-US" baseline="30000" dirty="0" err="1" smtClean="0"/>
              <a:t>T</a:t>
            </a:r>
            <a:r>
              <a:rPr lang="en-US" dirty="0" err="1" smtClean="0"/>
              <a:t>y</a:t>
            </a:r>
            <a:r>
              <a:rPr lang="en-US" dirty="0" smtClean="0"/>
              <a:t>, (A</a:t>
            </a:r>
            <a:r>
              <a:rPr lang="en-US" baseline="30000" dirty="0" smtClean="0"/>
              <a:t>T</a:t>
            </a:r>
            <a:r>
              <a:rPr lang="en-US" dirty="0" smtClean="0"/>
              <a:t>)</a:t>
            </a:r>
            <a:r>
              <a:rPr lang="en-US" baseline="30000" dirty="0" smtClean="0"/>
              <a:t>2</a:t>
            </a:r>
            <a:r>
              <a:rPr lang="en-US" dirty="0" smtClean="0"/>
              <a:t>y,…, (A</a:t>
            </a:r>
            <a:r>
              <a:rPr lang="en-US" baseline="30000" dirty="0" smtClean="0"/>
              <a:t>T</a:t>
            </a:r>
            <a:r>
              <a:rPr lang="en-US" dirty="0" smtClean="0"/>
              <a:t>)</a:t>
            </a:r>
            <a:r>
              <a:rPr lang="en-US" baseline="30000" dirty="0" err="1" smtClean="0"/>
              <a:t>k</a:t>
            </a:r>
            <a:r>
              <a:rPr lang="en-US" dirty="0" err="1" smtClean="0"/>
              <a:t>y</a:t>
            </a:r>
            <a:r>
              <a:rPr lang="en-US" dirty="0" smtClean="0"/>
              <a:t> ], or [y, </a:t>
            </a:r>
            <a:r>
              <a:rPr lang="en-US" dirty="0" err="1" smtClean="0"/>
              <a:t>A</a:t>
            </a:r>
            <a:r>
              <a:rPr lang="en-US" baseline="30000" dirty="0" err="1" smtClean="0"/>
              <a:t>T</a:t>
            </a:r>
            <a:r>
              <a:rPr lang="en-US" dirty="0" err="1" smtClean="0"/>
              <a:t>Ay</a:t>
            </a:r>
            <a:r>
              <a:rPr lang="en-US" dirty="0" smtClean="0"/>
              <a:t>, (A</a:t>
            </a:r>
            <a:r>
              <a:rPr lang="en-US" baseline="30000" dirty="0" smtClean="0"/>
              <a:t>T</a:t>
            </a:r>
            <a:r>
              <a:rPr lang="en-US" dirty="0" smtClean="0"/>
              <a:t>A)</a:t>
            </a:r>
            <a:r>
              <a:rPr lang="en-US" baseline="30000" dirty="0" smtClean="0"/>
              <a:t>2</a:t>
            </a:r>
            <a:r>
              <a:rPr lang="en-US" dirty="0" smtClean="0"/>
              <a:t>y,…, (A</a:t>
            </a:r>
            <a:r>
              <a:rPr lang="en-US" baseline="30000" dirty="0" smtClean="0"/>
              <a:t>T</a:t>
            </a:r>
            <a:r>
              <a:rPr lang="en-US" dirty="0" smtClean="0"/>
              <a:t>A)</a:t>
            </a:r>
            <a:r>
              <a:rPr lang="en-US" baseline="30000" dirty="0" err="1" smtClean="0"/>
              <a:t>k</a:t>
            </a:r>
            <a:r>
              <a:rPr lang="en-US" dirty="0" err="1" smtClean="0"/>
              <a:t>y</a:t>
            </a:r>
            <a:r>
              <a:rPr lang="en-US" dirty="0" smtClean="0"/>
              <a:t> ], </a:t>
            </a:r>
          </a:p>
          <a:p>
            <a:pPr lvl="1">
              <a:buFont typeface="Arial" pitchFamily="34" charset="0"/>
              <a:buChar char="•"/>
            </a:pPr>
            <a:r>
              <a:rPr lang="en-US" dirty="0" smtClean="0"/>
              <a:t>  return all vectors or just last one</a:t>
            </a:r>
          </a:p>
          <a:p>
            <a:pPr>
              <a:buFont typeface="Arial" pitchFamily="34" charset="0"/>
              <a:buChar char="•"/>
            </a:pPr>
            <a:r>
              <a:rPr lang="en-US" dirty="0" smtClean="0"/>
              <a:t>  </a:t>
            </a:r>
            <a:r>
              <a:rPr lang="en-US" dirty="0" err="1" smtClean="0"/>
              <a:t>Cotuning</a:t>
            </a:r>
            <a:r>
              <a:rPr lang="en-US" dirty="0" smtClean="0"/>
              <a:t> and/or interleaving</a:t>
            </a:r>
          </a:p>
          <a:p>
            <a:pPr lvl="1">
              <a:buFont typeface="Arial" pitchFamily="34" charset="0"/>
              <a:buChar char="•"/>
            </a:pPr>
            <a:r>
              <a:rPr lang="en-US" dirty="0" smtClean="0"/>
              <a:t>  W = [x, Ax, A</a:t>
            </a:r>
            <a:r>
              <a:rPr lang="en-US" baseline="30000" dirty="0" smtClean="0"/>
              <a:t>2</a:t>
            </a:r>
            <a:r>
              <a:rPr lang="en-US" dirty="0" smtClean="0"/>
              <a:t>x,…, </a:t>
            </a:r>
            <a:r>
              <a:rPr lang="en-US" dirty="0" err="1" smtClean="0"/>
              <a:t>A</a:t>
            </a:r>
            <a:r>
              <a:rPr lang="en-US" baseline="30000" dirty="0" err="1" smtClean="0"/>
              <a:t>k</a:t>
            </a:r>
            <a:r>
              <a:rPr lang="en-US" dirty="0" err="1" smtClean="0"/>
              <a:t>x</a:t>
            </a:r>
            <a:r>
              <a:rPr lang="en-US" dirty="0" smtClean="0"/>
              <a:t> ]  and  {TSQR(W) or W</a:t>
            </a:r>
            <a:r>
              <a:rPr lang="en-US" baseline="30000" dirty="0" smtClean="0"/>
              <a:t>T</a:t>
            </a:r>
            <a:r>
              <a:rPr lang="en-US" dirty="0" smtClean="0"/>
              <a:t>W or … }</a:t>
            </a:r>
          </a:p>
          <a:p>
            <a:pPr lvl="1">
              <a:buFont typeface="Arial" pitchFamily="34" charset="0"/>
              <a:buChar char="•"/>
            </a:pPr>
            <a:r>
              <a:rPr lang="en-US" dirty="0" smtClean="0"/>
              <a:t>  Ditto, but throw away W</a:t>
            </a:r>
          </a:p>
          <a:p>
            <a:pPr>
              <a:buFont typeface="Arial" pitchFamily="34" charset="0"/>
              <a:buChar char="•"/>
            </a:pPr>
            <a:r>
              <a:rPr lang="en-US" dirty="0" smtClean="0"/>
              <a:t>  Preconditioned versions</a:t>
            </a:r>
            <a:endParaRPr lang="en-US" dirty="0"/>
          </a:p>
        </p:txBody>
      </p:sp>
    </p:spTree>
    <p:extLst>
      <p:ext uri="{BB962C8B-B14F-4D97-AF65-F5344CB8AC3E}">
        <p14:creationId xmlns:p14="http://schemas.microsoft.com/office/powerpoint/2010/main" val="2279795665"/>
      </p:ext>
    </p:extLst>
  </p:cSld>
  <p:clrMapOvr>
    <a:masterClrMapping/>
  </p:clrMapOvr>
  <p:timing>
    <p:tnLst>
      <p:par>
        <p:cTn xmlns:p14="http://schemas.microsoft.com/office/powerpoint/2010/mai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Summary of Iterative Linear Algebra</a:t>
            </a:r>
            <a:endParaRPr lang="en-US" dirty="0"/>
          </a:p>
        </p:txBody>
      </p:sp>
      <p:sp>
        <p:nvSpPr>
          <p:cNvPr id="3" name="Content Placeholder 2"/>
          <p:cNvSpPr>
            <a:spLocks noGrp="1"/>
          </p:cNvSpPr>
          <p:nvPr>
            <p:ph idx="1"/>
          </p:nvPr>
        </p:nvSpPr>
        <p:spPr>
          <a:xfrm>
            <a:off x="457200" y="1600200"/>
            <a:ext cx="7620000" cy="4800600"/>
          </a:xfrm>
        </p:spPr>
        <p:txBody>
          <a:bodyPr>
            <a:normAutofit lnSpcReduction="10000"/>
          </a:bodyPr>
          <a:lstStyle/>
          <a:p>
            <a:r>
              <a:rPr lang="en-US" dirty="0" smtClean="0"/>
              <a:t>New Lower bounds, optimal algorithms,                  big speedups in theory and practice</a:t>
            </a:r>
          </a:p>
          <a:p>
            <a:r>
              <a:rPr lang="en-US" dirty="0" smtClean="0"/>
              <a:t>Lots of other progress, open problems</a:t>
            </a:r>
          </a:p>
          <a:p>
            <a:pPr lvl="1"/>
            <a:r>
              <a:rPr lang="en-US" dirty="0" smtClean="0"/>
              <a:t> Many different algorithms reorganized </a:t>
            </a:r>
          </a:p>
          <a:p>
            <a:pPr lvl="2"/>
            <a:r>
              <a:rPr lang="en-US" dirty="0" smtClean="0"/>
              <a:t>More underway, more to be done</a:t>
            </a:r>
          </a:p>
          <a:p>
            <a:pPr lvl="1"/>
            <a:r>
              <a:rPr lang="en-US" dirty="0" smtClean="0"/>
              <a:t>Need to recognize stable variants more easily</a:t>
            </a:r>
          </a:p>
          <a:p>
            <a:pPr lvl="1"/>
            <a:r>
              <a:rPr lang="en-US" dirty="0" smtClean="0"/>
              <a:t>Preconditioning  </a:t>
            </a:r>
          </a:p>
          <a:p>
            <a:pPr lvl="2"/>
            <a:r>
              <a:rPr lang="en-US" dirty="0" smtClean="0"/>
              <a:t>Hierarchically </a:t>
            </a:r>
            <a:r>
              <a:rPr lang="en-US" dirty="0" err="1" smtClean="0"/>
              <a:t>Semiseparable</a:t>
            </a:r>
            <a:r>
              <a:rPr lang="en-US" dirty="0" smtClean="0"/>
              <a:t> Matrices</a:t>
            </a:r>
          </a:p>
          <a:p>
            <a:pPr lvl="1"/>
            <a:r>
              <a:rPr lang="en-US" dirty="0" err="1" smtClean="0"/>
              <a:t>Autotuning</a:t>
            </a:r>
            <a:r>
              <a:rPr lang="en-US" dirty="0" smtClean="0"/>
              <a:t> and synthesis</a:t>
            </a:r>
          </a:p>
          <a:p>
            <a:pPr lvl="2"/>
            <a:r>
              <a:rPr lang="en-US" dirty="0" smtClean="0"/>
              <a:t>Different kinds of “sparse matrices”</a:t>
            </a:r>
          </a:p>
        </p:txBody>
      </p:sp>
    </p:spTree>
  </p:cSld>
  <p:clrMapOvr>
    <a:masterClrMapping/>
  </p:clrMapOvr>
  <p:timing>
    <p:tnLst>
      <p:par>
        <p:cTn xmlns:p14="http://schemas.microsoft.com/office/powerpoint/2010/mai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For further information</a:t>
            </a:r>
            <a:endParaRPr lang="en-US" dirty="0"/>
          </a:p>
        </p:txBody>
      </p:sp>
      <p:sp>
        <p:nvSpPr>
          <p:cNvPr id="3" name="Content Placeholder 2"/>
          <p:cNvSpPr>
            <a:spLocks noGrp="1"/>
          </p:cNvSpPr>
          <p:nvPr>
            <p:ph idx="1"/>
          </p:nvPr>
        </p:nvSpPr>
        <p:spPr/>
        <p:txBody>
          <a:bodyPr>
            <a:normAutofit lnSpcReduction="10000"/>
          </a:bodyPr>
          <a:lstStyle/>
          <a:p>
            <a:r>
              <a:rPr lang="en-US" dirty="0" smtClean="0"/>
              <a:t>www.cs.berkeley.edu/~demmel</a:t>
            </a:r>
          </a:p>
          <a:p>
            <a:r>
              <a:rPr lang="en-US" dirty="0" smtClean="0"/>
              <a:t>Papers</a:t>
            </a:r>
          </a:p>
          <a:p>
            <a:pPr lvl="1"/>
            <a:r>
              <a:rPr lang="en-US" dirty="0" smtClean="0"/>
              <a:t>bebop.cs.berkeley.edu</a:t>
            </a:r>
          </a:p>
          <a:p>
            <a:pPr lvl="1"/>
            <a:r>
              <a:rPr lang="en-US" dirty="0" smtClean="0"/>
              <a:t>www.netlib.org/lapack/lawns</a:t>
            </a:r>
          </a:p>
          <a:p>
            <a:r>
              <a:rPr lang="en-US" dirty="0" smtClean="0"/>
              <a:t>1-week-short course – slides and video</a:t>
            </a:r>
          </a:p>
          <a:p>
            <a:pPr lvl="1"/>
            <a:r>
              <a:rPr lang="en-US" dirty="0" smtClean="0">
                <a:hlinkClick r:id="rId2"/>
              </a:rPr>
              <a:t>www.ba.cnr.it/ISSNLA2010</a:t>
            </a:r>
            <a:endParaRPr lang="en-US" dirty="0" smtClean="0"/>
          </a:p>
          <a:p>
            <a:r>
              <a:rPr lang="en-US" dirty="0" smtClean="0"/>
              <a:t>Google “parallel computing course</a:t>
            </a:r>
            <a:r>
              <a:rPr lang="en-US" dirty="0" smtClean="0"/>
              <a:t>”</a:t>
            </a:r>
          </a:p>
          <a:p>
            <a:r>
              <a:rPr lang="en-US" dirty="0" smtClean="0"/>
              <a:t>Course on parallel computing to be offered by NSF XSEDE next semester</a:t>
            </a:r>
            <a:endParaRPr lang="en-US" dirty="0"/>
          </a:p>
        </p:txBody>
      </p:sp>
    </p:spTree>
  </p:cSld>
  <p:clrMapOvr>
    <a:masterClrMapping/>
  </p:clrMapOvr>
  <p:timing>
    <p:tnLst>
      <p:par>
        <p:cTn xmlns:p14="http://schemas.microsoft.com/office/powerpoint/2010/mai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Collaborators and Supporters</a:t>
            </a:r>
            <a:endParaRPr lang="en-US" dirty="0"/>
          </a:p>
        </p:txBody>
      </p:sp>
      <p:sp>
        <p:nvSpPr>
          <p:cNvPr id="4" name="Content Placeholder 2"/>
          <p:cNvSpPr txBox="1">
            <a:spLocks/>
          </p:cNvSpPr>
          <p:nvPr/>
        </p:nvSpPr>
        <p:spPr>
          <a:xfrm>
            <a:off x="304800" y="1752600"/>
            <a:ext cx="8610600" cy="4876800"/>
          </a:xfrm>
          <a:prstGeom prst="rect">
            <a:avLst/>
          </a:prstGeom>
        </p:spPr>
        <p:txBody>
          <a:bodyPr>
            <a:normAutofit fontScale="85000" lnSpcReduction="20000"/>
          </a:bodyPr>
          <a:lstStyle>
            <a:lvl1pPr marL="342900" indent="-342900" algn="l" defTabSz="914400" rtl="0" eaLnBrk="1" latinLnBrk="0" hangingPunct="1">
              <a:spcBef>
                <a:spcPct val="20000"/>
              </a:spcBef>
              <a:buFont typeface="Arial" pitchFamily="34" charset="0"/>
              <a:buChar char="•"/>
              <a:defRPr sz="2400" b="1" kern="1200">
                <a:solidFill>
                  <a:srgbClr val="146737"/>
                </a:solidFill>
                <a:latin typeface="Arial" pitchFamily="34" charset="0"/>
                <a:ea typeface="+mn-ea"/>
                <a:cs typeface="Arial" pitchFamily="34" charset="0"/>
              </a:defRPr>
            </a:lvl1pPr>
            <a:lvl2pPr marL="742950" indent="-285750" algn="l" defTabSz="914400" rtl="0" eaLnBrk="1" latinLnBrk="0" hangingPunct="1">
              <a:spcBef>
                <a:spcPct val="20000"/>
              </a:spcBef>
              <a:buFont typeface="Arial" pitchFamily="34" charset="0"/>
              <a:buChar char="–"/>
              <a:defRPr sz="2200" kern="1200">
                <a:solidFill>
                  <a:schemeClr val="tx1">
                    <a:lumMod val="75000"/>
                    <a:lumOff val="25000"/>
                  </a:schemeClr>
                </a:solidFill>
                <a:latin typeface="Arial" pitchFamily="34" charset="0"/>
                <a:ea typeface="+mn-ea"/>
                <a:cs typeface="Arial" pitchFamily="34" charset="0"/>
              </a:defRPr>
            </a:lvl2pPr>
            <a:lvl3pPr marL="11430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3000" dirty="0" smtClean="0"/>
              <a:t>Collaborators</a:t>
            </a:r>
          </a:p>
          <a:p>
            <a:pPr lvl="1"/>
            <a:r>
              <a:rPr lang="en-US" sz="2400" dirty="0" smtClean="0"/>
              <a:t>Katherine </a:t>
            </a:r>
            <a:r>
              <a:rPr lang="en-US" sz="2400" dirty="0" err="1" smtClean="0"/>
              <a:t>Yelick</a:t>
            </a:r>
            <a:r>
              <a:rPr lang="en-US" sz="2400" dirty="0" smtClean="0"/>
              <a:t> (UCB &amp; LBNL), Michael Anderson (UCB),         Grey Ballard (UCB), Erin Carson (UCB), Jack </a:t>
            </a:r>
            <a:r>
              <a:rPr lang="en-US" sz="2400" dirty="0" err="1" smtClean="0"/>
              <a:t>Dongarra</a:t>
            </a:r>
            <a:r>
              <a:rPr lang="en-US" sz="2400" dirty="0" smtClean="0"/>
              <a:t> (UTK), </a:t>
            </a:r>
            <a:r>
              <a:rPr lang="en-US" sz="2400" dirty="0" err="1" smtClean="0"/>
              <a:t>Ioana</a:t>
            </a:r>
            <a:r>
              <a:rPr lang="en-US" sz="2400" dirty="0" smtClean="0"/>
              <a:t> </a:t>
            </a:r>
            <a:r>
              <a:rPr lang="en-US" sz="2400" dirty="0" err="1" smtClean="0"/>
              <a:t>Dumitriu</a:t>
            </a:r>
            <a:r>
              <a:rPr lang="en-US" sz="2400" dirty="0" smtClean="0"/>
              <a:t> (U. Wash), Laura </a:t>
            </a:r>
            <a:r>
              <a:rPr lang="en-US" sz="2400" dirty="0" err="1" smtClean="0"/>
              <a:t>Grigori</a:t>
            </a:r>
            <a:r>
              <a:rPr lang="en-US" sz="2400" dirty="0" smtClean="0"/>
              <a:t>  (INRIA), Ming </a:t>
            </a:r>
            <a:r>
              <a:rPr lang="en-US" sz="2400" dirty="0" err="1" smtClean="0"/>
              <a:t>Gu</a:t>
            </a:r>
            <a:r>
              <a:rPr lang="en-US" sz="2400" dirty="0"/>
              <a:t> </a:t>
            </a:r>
            <a:r>
              <a:rPr lang="en-US" sz="2400" dirty="0" smtClean="0"/>
              <a:t>(UCB), </a:t>
            </a:r>
            <a:r>
              <a:rPr lang="en-US" sz="2400" dirty="0"/>
              <a:t>M</a:t>
            </a:r>
            <a:r>
              <a:rPr lang="en-US" sz="2400" dirty="0" smtClean="0"/>
              <a:t>ike </a:t>
            </a:r>
            <a:r>
              <a:rPr lang="en-US" sz="2400" dirty="0" err="1" smtClean="0"/>
              <a:t>Heroux</a:t>
            </a:r>
            <a:r>
              <a:rPr lang="en-US" sz="2400" dirty="0" smtClean="0"/>
              <a:t> (SNL),  Mark </a:t>
            </a:r>
            <a:r>
              <a:rPr lang="en-US" sz="2400" dirty="0" err="1" smtClean="0"/>
              <a:t>Hoemmen</a:t>
            </a:r>
            <a:r>
              <a:rPr lang="en-US" sz="2400" dirty="0" smtClean="0"/>
              <a:t> (Sandia NL), Olga Holtz (UCB &amp; TU Berlin),   Kurt </a:t>
            </a:r>
            <a:r>
              <a:rPr lang="en-US" sz="2400" dirty="0" err="1" smtClean="0"/>
              <a:t>Keutzer</a:t>
            </a:r>
            <a:r>
              <a:rPr lang="en-US" sz="2400" dirty="0" smtClean="0"/>
              <a:t> (UCB), Nick Knight (UCB), </a:t>
            </a:r>
            <a:r>
              <a:rPr lang="en-US" sz="2400" dirty="0" err="1" smtClean="0"/>
              <a:t>Jakub</a:t>
            </a:r>
            <a:r>
              <a:rPr lang="en-US" sz="2400" dirty="0" smtClean="0"/>
              <a:t> </a:t>
            </a:r>
            <a:r>
              <a:rPr lang="en-US" sz="2400" dirty="0" err="1" smtClean="0"/>
              <a:t>Kurzak</a:t>
            </a:r>
            <a:r>
              <a:rPr lang="en-US" sz="2400" dirty="0" smtClean="0"/>
              <a:t> (UTK), </a:t>
            </a:r>
            <a:r>
              <a:rPr lang="en-US" sz="2400" dirty="0" err="1" smtClean="0"/>
              <a:t>Julien</a:t>
            </a:r>
            <a:r>
              <a:rPr lang="en-US" sz="2400" dirty="0" smtClean="0"/>
              <a:t> </a:t>
            </a:r>
            <a:r>
              <a:rPr lang="en-US" sz="2400" dirty="0" err="1" smtClean="0"/>
              <a:t>Langou</a:t>
            </a:r>
            <a:r>
              <a:rPr lang="en-US" sz="2400" dirty="0"/>
              <a:t> </a:t>
            </a:r>
            <a:r>
              <a:rPr lang="en-US" sz="2400" dirty="0" smtClean="0"/>
              <a:t>(U Colo. Denver), </a:t>
            </a:r>
            <a:r>
              <a:rPr lang="en-US" sz="2400" dirty="0" err="1" smtClean="0"/>
              <a:t>Xiaoye</a:t>
            </a:r>
            <a:r>
              <a:rPr lang="en-US" sz="2400" dirty="0" smtClean="0"/>
              <a:t> Li (LBNL), Ben </a:t>
            </a:r>
            <a:r>
              <a:rPr lang="en-US" sz="2400" dirty="0" err="1" smtClean="0"/>
              <a:t>Lipshitz</a:t>
            </a:r>
            <a:r>
              <a:rPr lang="en-US" sz="2400" dirty="0" smtClean="0"/>
              <a:t> (UCB), </a:t>
            </a:r>
            <a:r>
              <a:rPr lang="en-US" sz="2400" dirty="0" err="1" smtClean="0"/>
              <a:t>Marghoob</a:t>
            </a:r>
            <a:r>
              <a:rPr lang="en-US" sz="2400" dirty="0" smtClean="0"/>
              <a:t> </a:t>
            </a:r>
            <a:r>
              <a:rPr lang="en-US" sz="2400" dirty="0" err="1" smtClean="0"/>
              <a:t>Mohiyuddin</a:t>
            </a:r>
            <a:r>
              <a:rPr lang="en-US" sz="2400" dirty="0" smtClean="0"/>
              <a:t> (UCB), </a:t>
            </a:r>
            <a:r>
              <a:rPr lang="en-US" sz="2400" dirty="0" err="1" smtClean="0"/>
              <a:t>Oded</a:t>
            </a:r>
            <a:r>
              <a:rPr lang="en-US" sz="2400" dirty="0" smtClean="0"/>
              <a:t> Schwartz  (UCB), Edgar </a:t>
            </a:r>
            <a:r>
              <a:rPr lang="en-US" sz="2400" dirty="0" err="1" smtClean="0"/>
              <a:t>Solomonik</a:t>
            </a:r>
            <a:r>
              <a:rPr lang="en-US" sz="2400" dirty="0" smtClean="0"/>
              <a:t> (UCB), Michelle </a:t>
            </a:r>
            <a:r>
              <a:rPr lang="en-US" sz="2400" dirty="0" err="1" smtClean="0"/>
              <a:t>Strout</a:t>
            </a:r>
            <a:r>
              <a:rPr lang="en-US" sz="2400" dirty="0" smtClean="0"/>
              <a:t> (Colo. SU), </a:t>
            </a:r>
            <a:r>
              <a:rPr lang="en-US" sz="2400" dirty="0" err="1" smtClean="0"/>
              <a:t>Vasily</a:t>
            </a:r>
            <a:r>
              <a:rPr lang="en-US" sz="2400" dirty="0" smtClean="0"/>
              <a:t> </a:t>
            </a:r>
            <a:r>
              <a:rPr lang="en-US" sz="2400" dirty="0" err="1" smtClean="0"/>
              <a:t>Volkov</a:t>
            </a:r>
            <a:r>
              <a:rPr lang="en-US" sz="2400" dirty="0" smtClean="0"/>
              <a:t> (UCB), Sam Williams (LBNL), </a:t>
            </a:r>
            <a:r>
              <a:rPr lang="en-US" sz="2400" dirty="0" err="1" smtClean="0"/>
              <a:t>Hua</a:t>
            </a:r>
            <a:r>
              <a:rPr lang="en-US" sz="2400" dirty="0" smtClean="0"/>
              <a:t> Xiang (INRIA)</a:t>
            </a:r>
          </a:p>
          <a:p>
            <a:pPr lvl="1"/>
            <a:r>
              <a:rPr lang="en-US" sz="2400" dirty="0" smtClean="0"/>
              <a:t>Other members of the </a:t>
            </a:r>
            <a:r>
              <a:rPr lang="en-US" sz="2400" dirty="0" err="1" smtClean="0"/>
              <a:t>ParLab</a:t>
            </a:r>
            <a:r>
              <a:rPr lang="en-US" sz="2400" dirty="0" smtClean="0"/>
              <a:t>, BEBOP, CACHE, EASI, MAGMA, PLASMA, </a:t>
            </a:r>
            <a:r>
              <a:rPr lang="en-US" sz="2400" dirty="0" err="1" smtClean="0"/>
              <a:t>FASTMath</a:t>
            </a:r>
            <a:r>
              <a:rPr lang="en-US" sz="2400" dirty="0" smtClean="0"/>
              <a:t> projects</a:t>
            </a:r>
          </a:p>
          <a:p>
            <a:r>
              <a:rPr lang="en-US" sz="3000" dirty="0" smtClean="0"/>
              <a:t>Supporters</a:t>
            </a:r>
          </a:p>
          <a:p>
            <a:pPr lvl="1"/>
            <a:r>
              <a:rPr lang="en-US" dirty="0" smtClean="0"/>
              <a:t>DOE, NSF, UC Discovery</a:t>
            </a:r>
          </a:p>
          <a:p>
            <a:pPr lvl="1"/>
            <a:r>
              <a:rPr lang="en-US" dirty="0" smtClean="0"/>
              <a:t>Intel, Microsoft, </a:t>
            </a:r>
            <a:r>
              <a:rPr lang="en-US" dirty="0" err="1" smtClean="0"/>
              <a:t>Mathworks</a:t>
            </a:r>
            <a:r>
              <a:rPr lang="en-US" dirty="0" smtClean="0"/>
              <a:t>, National Instruments, NEC, Nokia, NVIDIA, Samsung, Sun</a:t>
            </a:r>
          </a:p>
          <a:p>
            <a:pPr lvl="1"/>
            <a:endParaRPr lang="en-US" dirty="0" smtClean="0"/>
          </a:p>
        </p:txBody>
      </p:sp>
    </p:spTree>
    <p:extLst>
      <p:ext uri="{BB962C8B-B14F-4D97-AF65-F5344CB8AC3E}">
        <p14:creationId xmlns:p14="http://schemas.microsoft.com/office/powerpoint/2010/main" val="872672535"/>
      </p:ext>
    </p:extLst>
  </p:cSld>
  <p:clrMapOvr>
    <a:masterClrMapping/>
  </p:clrMapOvr>
  <p:timing>
    <p:tnLst>
      <p:par>
        <p:cTn xmlns:p14="http://schemas.microsoft.com/office/powerpoint/2010/mai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itle 1"/>
          <p:cNvSpPr>
            <a:spLocks noGrp="1"/>
          </p:cNvSpPr>
          <p:nvPr>
            <p:ph type="title"/>
          </p:nvPr>
        </p:nvSpPr>
        <p:spPr>
          <a:xfrm>
            <a:off x="2133600" y="457200"/>
            <a:ext cx="4603750" cy="425450"/>
          </a:xfrm>
        </p:spPr>
        <p:txBody>
          <a:bodyPr>
            <a:normAutofit fontScale="90000"/>
          </a:bodyPr>
          <a:lstStyle/>
          <a:p>
            <a:r>
              <a:rPr lang="en-US" dirty="0" smtClean="0"/>
              <a:t>Summary</a:t>
            </a:r>
          </a:p>
        </p:txBody>
      </p:sp>
      <p:sp>
        <p:nvSpPr>
          <p:cNvPr id="36867" name="Content Placeholder 2"/>
          <p:cNvSpPr>
            <a:spLocks noGrp="1"/>
          </p:cNvSpPr>
          <p:nvPr>
            <p:ph idx="1"/>
          </p:nvPr>
        </p:nvSpPr>
        <p:spPr>
          <a:xfrm>
            <a:off x="609600" y="4437063"/>
            <a:ext cx="8001000" cy="744537"/>
          </a:xfrm>
        </p:spPr>
        <p:txBody>
          <a:bodyPr>
            <a:noAutofit/>
          </a:bodyPr>
          <a:lstStyle/>
          <a:p>
            <a:pPr algn="ctr">
              <a:buFontTx/>
              <a:buNone/>
            </a:pPr>
            <a:r>
              <a:rPr lang="en-US" sz="3600" dirty="0" smtClean="0"/>
              <a:t>Don’t </a:t>
            </a:r>
            <a:r>
              <a:rPr lang="en-US" sz="3600" dirty="0" err="1" smtClean="0"/>
              <a:t>Communic</a:t>
            </a:r>
            <a:r>
              <a:rPr lang="en-US" sz="3600" dirty="0" smtClean="0"/>
              <a:t>…</a:t>
            </a:r>
          </a:p>
        </p:txBody>
      </p:sp>
      <p:sp>
        <p:nvSpPr>
          <p:cNvPr id="4" name="Slide Number Placeholder 3"/>
          <p:cNvSpPr>
            <a:spLocks noGrp="1"/>
          </p:cNvSpPr>
          <p:nvPr>
            <p:ph type="sldNum" sz="quarter" idx="10"/>
          </p:nvPr>
        </p:nvSpPr>
        <p:spPr>
          <a:xfrm>
            <a:off x="7239000" y="6400800"/>
            <a:ext cx="1905000" cy="457200"/>
          </a:xfrm>
        </p:spPr>
        <p:txBody>
          <a:bodyPr/>
          <a:lstStyle/>
          <a:p>
            <a:pPr>
              <a:defRPr/>
            </a:pPr>
            <a:fld id="{FF82FEF4-93E3-42FA-B82C-EFBA8D4A2706}" type="slidenum">
              <a:rPr lang="en-US" smtClean="0"/>
              <a:pPr>
                <a:defRPr/>
              </a:pPr>
              <a:t>86</a:t>
            </a:fld>
            <a:endParaRPr lang="en-US" dirty="0"/>
          </a:p>
        </p:txBody>
      </p:sp>
      <p:sp>
        <p:nvSpPr>
          <p:cNvPr id="5" name="Content Placeholder 2"/>
          <p:cNvSpPr txBox="1">
            <a:spLocks/>
          </p:cNvSpPr>
          <p:nvPr/>
        </p:nvSpPr>
        <p:spPr bwMode="auto">
          <a:xfrm>
            <a:off x="152400" y="1447800"/>
            <a:ext cx="8991600" cy="2242665"/>
          </a:xfrm>
          <a:prstGeom prst="rect">
            <a:avLst/>
          </a:prstGeom>
          <a:noFill/>
          <a:ln w="9525">
            <a:noFill/>
            <a:miter lim="800000"/>
            <a:headEnd/>
            <a:tailEnd/>
          </a:ln>
        </p:spPr>
        <p:txBody>
          <a:bodyPr wrap="square" lIns="63500" tIns="25400" rIns="63500" bIns="25400">
            <a:spAutoFit/>
          </a:bodyPr>
          <a:lstStyle/>
          <a:p>
            <a:pPr marL="203200" indent="-203200" algn="ctr" eaLnBrk="0" hangingPunct="0">
              <a:spcBef>
                <a:spcPct val="15000"/>
              </a:spcBef>
              <a:buSzPct val="100000"/>
              <a:defRPr/>
            </a:pPr>
            <a:r>
              <a:rPr lang="en-US" sz="3200" b="0" kern="0" dirty="0">
                <a:solidFill>
                  <a:schemeClr val="tx1"/>
                </a:solidFill>
                <a:latin typeface="+mn-lt"/>
                <a:cs typeface="+mn-cs"/>
              </a:rPr>
              <a:t>Time to redesign all </a:t>
            </a:r>
            <a:r>
              <a:rPr lang="en-US" sz="3200" b="0" kern="0" dirty="0" smtClean="0">
                <a:solidFill>
                  <a:schemeClr val="tx1"/>
                </a:solidFill>
                <a:latin typeface="+mn-lt"/>
                <a:cs typeface="+mn-cs"/>
              </a:rPr>
              <a:t>linear algebra  </a:t>
            </a:r>
          </a:p>
          <a:p>
            <a:pPr marL="203200" indent="-203200" algn="ctr" eaLnBrk="0" hangingPunct="0">
              <a:spcBef>
                <a:spcPct val="15000"/>
              </a:spcBef>
              <a:buSzPct val="100000"/>
              <a:defRPr/>
            </a:pPr>
            <a:r>
              <a:rPr lang="en-US" sz="3200" b="0" kern="0" dirty="0" smtClean="0">
                <a:solidFill>
                  <a:schemeClr val="tx1"/>
                </a:solidFill>
                <a:latin typeface="+mn-lt"/>
                <a:cs typeface="+mn-cs"/>
              </a:rPr>
              <a:t>algorithms and software</a:t>
            </a:r>
          </a:p>
          <a:p>
            <a:pPr marL="203200" indent="-203200" algn="ctr" eaLnBrk="0" hangingPunct="0">
              <a:spcBef>
                <a:spcPct val="15000"/>
              </a:spcBef>
              <a:buSzPct val="100000"/>
              <a:defRPr/>
            </a:pPr>
            <a:endParaRPr lang="en-US" sz="3200" kern="0" dirty="0" smtClean="0"/>
          </a:p>
          <a:p>
            <a:pPr marL="203200" indent="-203200" algn="ctr" eaLnBrk="0" hangingPunct="0">
              <a:spcBef>
                <a:spcPct val="15000"/>
              </a:spcBef>
              <a:buSzPct val="100000"/>
              <a:defRPr/>
            </a:pPr>
            <a:r>
              <a:rPr lang="en-US" sz="3200" b="0" kern="0" dirty="0" smtClean="0">
                <a:solidFill>
                  <a:schemeClr val="tx1"/>
                </a:solidFill>
                <a:latin typeface="+mn-lt"/>
                <a:cs typeface="+mn-cs"/>
              </a:rPr>
              <a:t>And eventually the </a:t>
            </a:r>
            <a:r>
              <a:rPr lang="en-US" sz="3200" kern="0" dirty="0" smtClean="0"/>
              <a:t>rest of the 13 motifs</a:t>
            </a:r>
          </a:p>
        </p:txBody>
      </p:sp>
    </p:spTree>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6867">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7" grpId="0" build="p"/>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2971800"/>
            <a:ext cx="7772400" cy="1362075"/>
          </a:xfrm>
        </p:spPr>
        <p:txBody>
          <a:bodyPr/>
          <a:lstStyle/>
          <a:p>
            <a:pPr algn="ctr"/>
            <a:r>
              <a:rPr lang="en-US" dirty="0" smtClean="0"/>
              <a:t>Extra Slides</a:t>
            </a:r>
            <a:endParaRPr lang="en-US" dirty="0"/>
          </a:p>
        </p:txBody>
      </p:sp>
      <p:sp>
        <p:nvSpPr>
          <p:cNvPr id="3" name="Text Placeholder 2"/>
          <p:cNvSpPr>
            <a:spLocks noGrp="1"/>
          </p:cNvSpPr>
          <p:nvPr>
            <p:ph type="body" idx="1"/>
          </p:nvPr>
        </p:nvSpPr>
        <p:spPr/>
        <p:txBody>
          <a:bodyPr/>
          <a:lstStyle/>
          <a:p>
            <a:endParaRPr lang="en-US"/>
          </a:p>
        </p:txBody>
      </p:sp>
    </p:spTree>
  </p:cSld>
  <p:clrMapOvr>
    <a:masterClrMapping/>
  </p:clrMapOvr>
  <p:timing>
    <p:tnLst>
      <p:par>
        <p:cTn xmlns:p14="http://schemas.microsoft.com/office/powerpoint/2010/mai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Exascale</a:t>
            </a:r>
            <a:r>
              <a:rPr lang="en-US" dirty="0" smtClean="0"/>
              <a:t> Machine Parameters</a:t>
            </a:r>
            <a:endParaRPr lang="en-US" dirty="0"/>
          </a:p>
        </p:txBody>
      </p:sp>
      <p:sp>
        <p:nvSpPr>
          <p:cNvPr id="3" name="Content Placeholder 2"/>
          <p:cNvSpPr>
            <a:spLocks noGrp="1"/>
          </p:cNvSpPr>
          <p:nvPr>
            <p:ph idx="1"/>
          </p:nvPr>
        </p:nvSpPr>
        <p:spPr>
          <a:xfrm>
            <a:off x="457200" y="1600200"/>
            <a:ext cx="8229600" cy="4724400"/>
          </a:xfrm>
        </p:spPr>
        <p:txBody>
          <a:bodyPr>
            <a:normAutofit fontScale="92500" lnSpcReduction="10000"/>
          </a:bodyPr>
          <a:lstStyle/>
          <a:p>
            <a:r>
              <a:rPr lang="en-US" dirty="0" smtClean="0"/>
              <a:t>2^30 </a:t>
            </a:r>
            <a:r>
              <a:rPr lang="en-US" dirty="0" smtClean="0">
                <a:sym typeface="Symbol"/>
              </a:rPr>
              <a:t> </a:t>
            </a:r>
            <a:r>
              <a:rPr lang="en-US" dirty="0" smtClean="0"/>
              <a:t>1,000,000 nodes</a:t>
            </a:r>
          </a:p>
          <a:p>
            <a:r>
              <a:rPr lang="en-US" dirty="0" smtClean="0"/>
              <a:t>1024 cores/node   (a billion cores!)</a:t>
            </a:r>
          </a:p>
          <a:p>
            <a:r>
              <a:rPr lang="en-US" dirty="0" smtClean="0"/>
              <a:t>100 GB/sec interconnect bandwidth</a:t>
            </a:r>
          </a:p>
          <a:p>
            <a:r>
              <a:rPr lang="en-US" dirty="0" smtClean="0"/>
              <a:t>400 GB/sec DRAM bandwidth</a:t>
            </a:r>
          </a:p>
          <a:p>
            <a:r>
              <a:rPr lang="en-US" dirty="0" smtClean="0"/>
              <a:t>1 </a:t>
            </a:r>
            <a:r>
              <a:rPr lang="en-US" dirty="0" err="1" smtClean="0"/>
              <a:t>microsec</a:t>
            </a:r>
            <a:r>
              <a:rPr lang="en-US" dirty="0" smtClean="0"/>
              <a:t> interconnect latency</a:t>
            </a:r>
          </a:p>
          <a:p>
            <a:r>
              <a:rPr lang="en-US" dirty="0" smtClean="0"/>
              <a:t>50 </a:t>
            </a:r>
            <a:r>
              <a:rPr lang="en-US" dirty="0" err="1" smtClean="0"/>
              <a:t>nanosec</a:t>
            </a:r>
            <a:r>
              <a:rPr lang="en-US" dirty="0" smtClean="0"/>
              <a:t> memory latency</a:t>
            </a:r>
          </a:p>
          <a:p>
            <a:r>
              <a:rPr lang="en-US" dirty="0" smtClean="0"/>
              <a:t>32 </a:t>
            </a:r>
            <a:r>
              <a:rPr lang="en-US" dirty="0" err="1" smtClean="0"/>
              <a:t>Petabytes</a:t>
            </a:r>
            <a:r>
              <a:rPr lang="en-US" dirty="0" smtClean="0"/>
              <a:t> of memory</a:t>
            </a:r>
          </a:p>
          <a:p>
            <a:r>
              <a:rPr lang="en-US" dirty="0" smtClean="0"/>
              <a:t>1/2 GB total L1 on a node</a:t>
            </a:r>
          </a:p>
          <a:p>
            <a:r>
              <a:rPr lang="en-US" dirty="0" smtClean="0"/>
              <a:t>20 Megawatts !?</a:t>
            </a:r>
          </a:p>
          <a:p>
            <a:endParaRPr lang="en-US" dirty="0"/>
          </a:p>
        </p:txBody>
      </p:sp>
      <p:sp>
        <p:nvSpPr>
          <p:cNvPr id="4" name="Rectangle 3"/>
          <p:cNvSpPr/>
          <p:nvPr/>
        </p:nvSpPr>
        <p:spPr>
          <a:xfrm>
            <a:off x="533400" y="5638800"/>
            <a:ext cx="3276600" cy="5334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ransition xmlns:p14="http://schemas.microsoft.com/office/powerpoint/2010/main"/>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8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9458" name="Title 1"/>
          <p:cNvSpPr>
            <a:spLocks noGrp="1"/>
          </p:cNvSpPr>
          <p:nvPr>
            <p:ph type="title"/>
          </p:nvPr>
        </p:nvSpPr>
        <p:spPr>
          <a:xfrm>
            <a:off x="550863" y="306388"/>
            <a:ext cx="7832725" cy="425450"/>
          </a:xfrm>
        </p:spPr>
        <p:txBody>
          <a:bodyPr>
            <a:noAutofit/>
          </a:bodyPr>
          <a:lstStyle/>
          <a:p>
            <a:r>
              <a:rPr lang="en-US" sz="3200" dirty="0" smtClean="0"/>
              <a:t>Direct linear algebra:    Prior Work on </a:t>
            </a:r>
            <a:r>
              <a:rPr lang="en-US" sz="3200" dirty="0" err="1" smtClean="0"/>
              <a:t>Matmul</a:t>
            </a:r>
            <a:endParaRPr lang="en-US" sz="3200" dirty="0" smtClean="0"/>
          </a:p>
        </p:txBody>
      </p:sp>
      <p:sp>
        <p:nvSpPr>
          <p:cNvPr id="19459" name="Content Placeholder 2"/>
          <p:cNvSpPr>
            <a:spLocks noGrp="1"/>
          </p:cNvSpPr>
          <p:nvPr>
            <p:ph idx="1"/>
          </p:nvPr>
        </p:nvSpPr>
        <p:spPr>
          <a:xfrm>
            <a:off x="76201" y="782638"/>
            <a:ext cx="9067800" cy="2063750"/>
          </a:xfrm>
        </p:spPr>
        <p:txBody>
          <a:bodyPr>
            <a:normAutofit fontScale="92500" lnSpcReduction="20000"/>
          </a:bodyPr>
          <a:lstStyle/>
          <a:p>
            <a:r>
              <a:rPr lang="en-US" dirty="0" smtClean="0"/>
              <a:t>Assume  n</a:t>
            </a:r>
            <a:r>
              <a:rPr lang="en-US" baseline="30000" dirty="0" smtClean="0"/>
              <a:t>3</a:t>
            </a:r>
            <a:r>
              <a:rPr lang="en-US" dirty="0" smtClean="0"/>
              <a:t> algorithm for C=A*B  (i.e. not </a:t>
            </a:r>
            <a:r>
              <a:rPr lang="en-US" dirty="0" err="1" smtClean="0"/>
              <a:t>Strassen</a:t>
            </a:r>
            <a:r>
              <a:rPr lang="en-US" dirty="0" smtClean="0"/>
              <a:t>-like)</a:t>
            </a:r>
          </a:p>
          <a:p>
            <a:r>
              <a:rPr lang="en-US" dirty="0" smtClean="0"/>
              <a:t>Sequential case, with fast memory of size M</a:t>
            </a:r>
          </a:p>
          <a:p>
            <a:pPr lvl="1"/>
            <a:r>
              <a:rPr lang="en-US" sz="2600" dirty="0" smtClean="0">
                <a:solidFill>
                  <a:schemeClr val="tx1"/>
                </a:solidFill>
              </a:rPr>
              <a:t>Lower bound on  #words moved to/from slow memory                   = </a:t>
            </a:r>
            <a:r>
              <a:rPr lang="en-US" sz="2600" dirty="0" smtClean="0">
                <a:solidFill>
                  <a:schemeClr val="tx1"/>
                </a:solidFill>
                <a:sym typeface="Symbol" pitchFamily="18" charset="2"/>
              </a:rPr>
              <a:t> (n</a:t>
            </a:r>
            <a:r>
              <a:rPr lang="en-US" sz="2600" baseline="30000" dirty="0" smtClean="0">
                <a:solidFill>
                  <a:schemeClr val="tx1"/>
                </a:solidFill>
                <a:sym typeface="Symbol" pitchFamily="18" charset="2"/>
              </a:rPr>
              <a:t>3</a:t>
            </a:r>
            <a:r>
              <a:rPr lang="en-US" sz="2600" dirty="0" smtClean="0">
                <a:solidFill>
                  <a:schemeClr val="tx1"/>
                </a:solidFill>
                <a:sym typeface="Symbol" pitchFamily="18" charset="2"/>
              </a:rPr>
              <a:t> / M</a:t>
            </a:r>
            <a:r>
              <a:rPr lang="en-US" sz="2600" baseline="30000" dirty="0" smtClean="0">
                <a:solidFill>
                  <a:schemeClr val="tx1"/>
                </a:solidFill>
                <a:sym typeface="Symbol" pitchFamily="18" charset="2"/>
              </a:rPr>
              <a:t>1/2 </a:t>
            </a:r>
            <a:r>
              <a:rPr lang="en-US" sz="2600" dirty="0" smtClean="0">
                <a:solidFill>
                  <a:schemeClr val="tx1"/>
                </a:solidFill>
                <a:sym typeface="Symbol" pitchFamily="18" charset="2"/>
              </a:rPr>
              <a:t>)    [Hong, Kung, 81] </a:t>
            </a:r>
          </a:p>
          <a:p>
            <a:pPr lvl="1"/>
            <a:r>
              <a:rPr lang="en-US" sz="2600" dirty="0" smtClean="0">
                <a:solidFill>
                  <a:schemeClr val="tx1"/>
                </a:solidFill>
                <a:sym typeface="Symbol" pitchFamily="18" charset="2"/>
              </a:rPr>
              <a:t>Attained using “blocked” or cache-oblivious algorithms</a:t>
            </a:r>
          </a:p>
        </p:txBody>
      </p:sp>
      <p:sp>
        <p:nvSpPr>
          <p:cNvPr id="21508" name="Slide Number Placeholder 3"/>
          <p:cNvSpPr>
            <a:spLocks noGrp="1"/>
          </p:cNvSpPr>
          <p:nvPr>
            <p:ph type="sldNum" sz="quarter" idx="10"/>
          </p:nvPr>
        </p:nvSpPr>
        <p:spPr/>
        <p:txBody>
          <a:bodyPr/>
          <a:lstStyle/>
          <a:p>
            <a:pPr>
              <a:defRPr/>
            </a:pPr>
            <a:fld id="{0BDBC8F9-B77F-4407-9FBD-0E267DCAF6B0}" type="slidenum">
              <a:rPr lang="en-US" smtClean="0">
                <a:latin typeface="Helvetica"/>
              </a:rPr>
              <a:pPr>
                <a:defRPr/>
              </a:pPr>
              <a:t>89</a:t>
            </a:fld>
            <a:endParaRPr lang="en-US" smtClean="0">
              <a:latin typeface="Helvetica"/>
            </a:endParaRPr>
          </a:p>
        </p:txBody>
      </p:sp>
      <p:sp>
        <p:nvSpPr>
          <p:cNvPr id="5" name="Content Placeholder 2"/>
          <p:cNvSpPr txBox="1">
            <a:spLocks/>
          </p:cNvSpPr>
          <p:nvPr/>
        </p:nvSpPr>
        <p:spPr bwMode="auto">
          <a:xfrm>
            <a:off x="246063" y="3302000"/>
            <a:ext cx="8620125" cy="2187265"/>
          </a:xfrm>
          <a:prstGeom prst="rect">
            <a:avLst/>
          </a:prstGeom>
          <a:noFill/>
          <a:ln w="9525">
            <a:noFill/>
            <a:miter lim="800000"/>
            <a:headEnd/>
            <a:tailEnd/>
          </a:ln>
        </p:spPr>
        <p:txBody>
          <a:bodyPr lIns="63500" tIns="25400" rIns="63500" bIns="25400">
            <a:spAutoFit/>
          </a:bodyPr>
          <a:lstStyle/>
          <a:p>
            <a:pPr marL="203200" indent="-203200" eaLnBrk="0" hangingPunct="0">
              <a:spcBef>
                <a:spcPct val="15000"/>
              </a:spcBef>
              <a:buSzPct val="100000"/>
              <a:buFontTx/>
              <a:buChar char="•"/>
              <a:defRPr/>
            </a:pPr>
            <a:r>
              <a:rPr lang="en-US" sz="3000" b="0" kern="0" dirty="0">
                <a:solidFill>
                  <a:schemeClr val="tx1"/>
                </a:solidFill>
                <a:latin typeface="+mn-lt"/>
                <a:cs typeface="+mn-cs"/>
              </a:rPr>
              <a:t>Parallel case on P processors:</a:t>
            </a:r>
          </a:p>
          <a:p>
            <a:pPr marL="660400" lvl="1" indent="-203200" eaLnBrk="0" hangingPunct="0">
              <a:spcBef>
                <a:spcPct val="15000"/>
              </a:spcBef>
              <a:buSzPct val="100000"/>
              <a:buFontTx/>
              <a:buChar char="•"/>
              <a:defRPr/>
            </a:pPr>
            <a:r>
              <a:rPr lang="en-US" sz="2400" kern="0" dirty="0"/>
              <a:t>A</a:t>
            </a:r>
            <a:r>
              <a:rPr lang="en-US" sz="2400" b="0" kern="0" dirty="0" smtClean="0">
                <a:solidFill>
                  <a:schemeClr val="tx1"/>
                </a:solidFill>
                <a:latin typeface="+mn-lt"/>
                <a:cs typeface="+mn-cs"/>
              </a:rPr>
              <a:t>ssume </a:t>
            </a:r>
            <a:r>
              <a:rPr lang="en-US" sz="2400" b="0" kern="0" dirty="0">
                <a:solidFill>
                  <a:schemeClr val="tx1"/>
                </a:solidFill>
                <a:latin typeface="+mn-lt"/>
                <a:cs typeface="+mn-cs"/>
              </a:rPr>
              <a:t>load </a:t>
            </a:r>
            <a:r>
              <a:rPr lang="en-US" sz="2400" b="0" kern="0" dirty="0" smtClean="0">
                <a:solidFill>
                  <a:schemeClr val="tx1"/>
                </a:solidFill>
                <a:latin typeface="+mn-lt"/>
                <a:cs typeface="+mn-cs"/>
              </a:rPr>
              <a:t>balanced, one copy each of A, B, C </a:t>
            </a:r>
            <a:endParaRPr lang="en-US" sz="2400" b="0" kern="0" dirty="0">
              <a:solidFill>
                <a:schemeClr val="tx1"/>
              </a:solidFill>
              <a:latin typeface="+mn-lt"/>
              <a:cs typeface="+mn-cs"/>
            </a:endParaRPr>
          </a:p>
          <a:p>
            <a:pPr marL="660400" lvl="1" indent="-203200" eaLnBrk="0" hangingPunct="0">
              <a:spcBef>
                <a:spcPct val="15000"/>
              </a:spcBef>
              <a:buSzPct val="100000"/>
              <a:buFontTx/>
              <a:buChar char="•"/>
              <a:defRPr/>
            </a:pPr>
            <a:r>
              <a:rPr lang="en-US" sz="2400" b="0" kern="0" dirty="0">
                <a:solidFill>
                  <a:schemeClr val="tx1"/>
                </a:solidFill>
                <a:latin typeface="+mn-lt"/>
                <a:cs typeface="+mn-cs"/>
              </a:rPr>
              <a:t>Lower bound on #words communicated   </a:t>
            </a:r>
            <a:r>
              <a:rPr lang="en-US" sz="2400" b="0" kern="0" dirty="0" smtClean="0">
                <a:solidFill>
                  <a:schemeClr val="tx1"/>
                </a:solidFill>
                <a:latin typeface="+mn-lt"/>
                <a:cs typeface="+mn-cs"/>
              </a:rPr>
              <a:t>                                      = </a:t>
            </a:r>
            <a:r>
              <a:rPr lang="en-US" sz="2400" b="0" kern="0" dirty="0">
                <a:solidFill>
                  <a:schemeClr val="tx1"/>
                </a:solidFill>
                <a:latin typeface="+mn-lt"/>
                <a:cs typeface="+mn-cs"/>
                <a:sym typeface="Symbol"/>
              </a:rPr>
              <a:t> (</a:t>
            </a:r>
            <a:r>
              <a:rPr lang="en-US" sz="2400" b="0" dirty="0" smtClean="0">
                <a:solidFill>
                  <a:schemeClr val="tx1"/>
                </a:solidFill>
                <a:latin typeface="Arial" pitchFamily="34" charset="0"/>
                <a:cs typeface="Arial" pitchFamily="34" charset="0"/>
                <a:sym typeface="Symbol" pitchFamily="18" charset="2"/>
              </a:rPr>
              <a:t>n</a:t>
            </a:r>
            <a:r>
              <a:rPr lang="en-US" sz="2800" b="0" baseline="30000" dirty="0" smtClean="0">
                <a:solidFill>
                  <a:schemeClr val="tx1"/>
                </a:solidFill>
                <a:latin typeface="Arial" pitchFamily="34" charset="0"/>
                <a:cs typeface="Arial" pitchFamily="34" charset="0"/>
                <a:sym typeface="Symbol" pitchFamily="18" charset="2"/>
              </a:rPr>
              <a:t>2</a:t>
            </a:r>
            <a:r>
              <a:rPr lang="en-US" sz="2400" b="0" dirty="0" smtClean="0">
                <a:solidFill>
                  <a:schemeClr val="tx1"/>
                </a:solidFill>
                <a:latin typeface="Arial" pitchFamily="34" charset="0"/>
                <a:cs typeface="Arial" pitchFamily="34" charset="0"/>
                <a:sym typeface="Symbol" pitchFamily="18" charset="2"/>
              </a:rPr>
              <a:t> / </a:t>
            </a:r>
            <a:r>
              <a:rPr lang="en-US" sz="2400" b="0" kern="0" dirty="0" smtClean="0">
                <a:solidFill>
                  <a:schemeClr val="tx1"/>
                </a:solidFill>
                <a:latin typeface="+mn-lt"/>
                <a:cs typeface="+mn-cs"/>
                <a:sym typeface="Symbol"/>
              </a:rPr>
              <a:t>P</a:t>
            </a:r>
            <a:r>
              <a:rPr lang="en-US" sz="2800" b="0" kern="0" baseline="30000" dirty="0" smtClean="0">
                <a:solidFill>
                  <a:schemeClr val="tx1"/>
                </a:solidFill>
                <a:latin typeface="+mn-lt"/>
                <a:cs typeface="+mn-cs"/>
                <a:sym typeface="Symbol"/>
              </a:rPr>
              <a:t>1/2 </a:t>
            </a:r>
            <a:r>
              <a:rPr lang="en-US" sz="2400" b="0" kern="0" dirty="0">
                <a:solidFill>
                  <a:schemeClr val="tx1"/>
                </a:solidFill>
                <a:latin typeface="+mn-lt"/>
                <a:cs typeface="+mn-cs"/>
                <a:sym typeface="Symbol"/>
              </a:rPr>
              <a:t>)        [Irony, </a:t>
            </a:r>
            <a:r>
              <a:rPr lang="en-US" sz="2400" b="0" kern="0" dirty="0" err="1">
                <a:solidFill>
                  <a:schemeClr val="tx1"/>
                </a:solidFill>
                <a:latin typeface="+mn-lt"/>
                <a:cs typeface="+mn-cs"/>
                <a:sym typeface="Symbol"/>
              </a:rPr>
              <a:t>Tiskin</a:t>
            </a:r>
            <a:r>
              <a:rPr lang="en-US" sz="2400" b="0" kern="0" dirty="0">
                <a:solidFill>
                  <a:schemeClr val="tx1"/>
                </a:solidFill>
                <a:latin typeface="+mn-lt"/>
                <a:cs typeface="+mn-cs"/>
                <a:sym typeface="Symbol"/>
              </a:rPr>
              <a:t>, Toledo, 04</a:t>
            </a:r>
            <a:r>
              <a:rPr lang="en-US" sz="2400" b="0" kern="0" dirty="0" smtClean="0">
                <a:solidFill>
                  <a:schemeClr val="tx1"/>
                </a:solidFill>
                <a:latin typeface="+mn-lt"/>
                <a:cs typeface="+mn-cs"/>
                <a:sym typeface="Symbol"/>
              </a:rPr>
              <a:t>]</a:t>
            </a:r>
          </a:p>
          <a:p>
            <a:pPr marL="660400" lvl="1" indent="-203200" eaLnBrk="0" hangingPunct="0">
              <a:spcBef>
                <a:spcPct val="15000"/>
              </a:spcBef>
              <a:buSzPct val="100000"/>
              <a:buFontTx/>
              <a:buChar char="•"/>
              <a:defRPr/>
            </a:pPr>
            <a:r>
              <a:rPr lang="en-US" sz="2400" kern="0" dirty="0" smtClean="0">
                <a:sym typeface="Symbol"/>
              </a:rPr>
              <a:t>Attained by Cannon’s Algorithm </a:t>
            </a:r>
            <a:endParaRPr lang="en-US" sz="2400" b="0" kern="0" dirty="0">
              <a:solidFill>
                <a:schemeClr val="tx1"/>
              </a:solidFill>
              <a:latin typeface="+mn-lt"/>
              <a:cs typeface="+mn-cs"/>
              <a:sym typeface="Symbol"/>
            </a:endParaRPr>
          </a:p>
        </p:txBody>
      </p:sp>
      <p:graphicFrame>
        <p:nvGraphicFramePr>
          <p:cNvPr id="6" name="Table 5"/>
          <p:cNvGraphicFramePr>
            <a:graphicFrameLocks noGrp="1"/>
          </p:cNvGraphicFramePr>
          <p:nvPr/>
        </p:nvGraphicFramePr>
        <p:xfrm>
          <a:off x="1447800" y="6964680"/>
          <a:ext cx="6096000" cy="1493520"/>
        </p:xfrm>
        <a:graphic>
          <a:graphicData uri="http://schemas.openxmlformats.org/drawingml/2006/table">
            <a:tbl>
              <a:tblPr firstRow="1" bandRow="1">
                <a:tableStyleId>{5940675A-B579-460E-94D1-54222C63F5DA}</a:tableStyleId>
              </a:tblPr>
              <a:tblGrid>
                <a:gridCol w="2367870"/>
                <a:gridCol w="1696130"/>
                <a:gridCol w="2032000"/>
              </a:tblGrid>
              <a:tr h="0">
                <a:tc>
                  <a:txBody>
                    <a:bodyPr/>
                    <a:lstStyle/>
                    <a:p>
                      <a:r>
                        <a:rPr lang="en-US" sz="2000" dirty="0" smtClean="0"/>
                        <a:t>NNZ</a:t>
                      </a:r>
                      <a:endParaRPr lang="en-US" sz="2000" dirty="0"/>
                    </a:p>
                  </a:txBody>
                  <a:tcPr/>
                </a:tc>
                <a:tc>
                  <a:txBody>
                    <a:bodyPr/>
                    <a:lstStyle/>
                    <a:p>
                      <a:pPr algn="ctr"/>
                      <a:r>
                        <a:rPr lang="en-US" sz="2000" dirty="0" smtClean="0"/>
                        <a:t>Lower bound</a:t>
                      </a:r>
                    </a:p>
                    <a:p>
                      <a:pPr algn="ctr"/>
                      <a:r>
                        <a:rPr lang="en-US" sz="2000" dirty="0" smtClean="0"/>
                        <a:t>on #words</a:t>
                      </a:r>
                      <a:endParaRPr lang="en-US" sz="2000" dirty="0"/>
                    </a:p>
                  </a:txBody>
                  <a:tcPr/>
                </a:tc>
                <a:tc>
                  <a:txBody>
                    <a:bodyPr/>
                    <a:lstStyle/>
                    <a:p>
                      <a:pPr algn="ctr"/>
                      <a:r>
                        <a:rPr lang="en-US" sz="2000" dirty="0" smtClean="0"/>
                        <a:t>Attained</a:t>
                      </a:r>
                      <a:r>
                        <a:rPr lang="en-US" sz="2000" baseline="0" dirty="0" smtClean="0"/>
                        <a:t> by</a:t>
                      </a:r>
                      <a:endParaRPr lang="en-US" sz="2000" dirty="0"/>
                    </a:p>
                  </a:txBody>
                  <a:tcPr/>
                </a:tc>
              </a:tr>
              <a:tr h="370840">
                <a:tc>
                  <a:txBody>
                    <a:bodyPr/>
                    <a:lstStyle/>
                    <a:p>
                      <a:r>
                        <a:rPr lang="en-US" sz="2000" dirty="0" smtClean="0"/>
                        <a:t>3n</a:t>
                      </a:r>
                      <a:r>
                        <a:rPr lang="en-US" sz="2400" baseline="30000" dirty="0" smtClean="0"/>
                        <a:t>2           </a:t>
                      </a:r>
                      <a:r>
                        <a:rPr lang="en-US" sz="2000" baseline="0" dirty="0" smtClean="0"/>
                        <a:t>(“2D </a:t>
                      </a:r>
                      <a:r>
                        <a:rPr lang="en-US" sz="2000" baseline="0" dirty="0" err="1" smtClean="0"/>
                        <a:t>alg</a:t>
                      </a:r>
                      <a:r>
                        <a:rPr lang="en-US" sz="2000" baseline="0" dirty="0" smtClean="0"/>
                        <a:t>”)</a:t>
                      </a:r>
                      <a:endParaRPr lang="en-US" sz="2000" baseline="0" dirty="0"/>
                    </a:p>
                  </a:txBody>
                  <a:tcPr/>
                </a:tc>
                <a:tc>
                  <a:txBody>
                    <a:bodyPr/>
                    <a:lstStyle/>
                    <a:p>
                      <a:pPr algn="ctr"/>
                      <a:r>
                        <a:rPr lang="en-US" sz="2000" b="0" dirty="0" smtClean="0">
                          <a:solidFill>
                            <a:schemeClr val="tx1"/>
                          </a:solidFill>
                          <a:sym typeface="Symbol"/>
                        </a:rPr>
                        <a:t> (n</a:t>
                      </a:r>
                      <a:r>
                        <a:rPr lang="en-US" sz="2000" b="0" baseline="30000" dirty="0" smtClean="0">
                          <a:solidFill>
                            <a:schemeClr val="tx1"/>
                          </a:solidFill>
                          <a:sym typeface="Symbol"/>
                        </a:rPr>
                        <a:t>2</a:t>
                      </a:r>
                      <a:r>
                        <a:rPr lang="en-US" sz="2000" b="0" dirty="0" smtClean="0">
                          <a:solidFill>
                            <a:schemeClr val="tx1"/>
                          </a:solidFill>
                          <a:sym typeface="Symbol"/>
                        </a:rPr>
                        <a:t> / P</a:t>
                      </a:r>
                      <a:r>
                        <a:rPr lang="en-US" sz="2000" b="0" baseline="30000" dirty="0" smtClean="0">
                          <a:solidFill>
                            <a:schemeClr val="tx1"/>
                          </a:solidFill>
                          <a:sym typeface="Symbol"/>
                        </a:rPr>
                        <a:t>1/2 </a:t>
                      </a:r>
                      <a:r>
                        <a:rPr lang="en-US" sz="2000" b="0" dirty="0" smtClean="0">
                          <a:solidFill>
                            <a:schemeClr val="tx1"/>
                          </a:solidFill>
                          <a:sym typeface="Symbol"/>
                        </a:rPr>
                        <a:t>)</a:t>
                      </a:r>
                      <a:endParaRPr lang="en-US" sz="2000" dirty="0"/>
                    </a:p>
                  </a:txBody>
                  <a:tcPr/>
                </a:tc>
                <a:tc>
                  <a:txBody>
                    <a:bodyPr/>
                    <a:lstStyle/>
                    <a:p>
                      <a:pPr algn="ctr"/>
                      <a:r>
                        <a:rPr lang="en-US" sz="2000" b="0" dirty="0" smtClean="0">
                          <a:solidFill>
                            <a:schemeClr val="tx1"/>
                          </a:solidFill>
                          <a:sym typeface="Symbol"/>
                        </a:rPr>
                        <a:t>[Cannon, 69]</a:t>
                      </a:r>
                      <a:endParaRPr lang="en-US" sz="2000" dirty="0"/>
                    </a:p>
                  </a:txBody>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smtClean="0"/>
                        <a:t>3n</a:t>
                      </a:r>
                      <a:r>
                        <a:rPr lang="en-US" sz="2400" baseline="30000" dirty="0" smtClean="0"/>
                        <a:t>2</a:t>
                      </a:r>
                      <a:r>
                        <a:rPr lang="en-US" sz="2000" baseline="0" dirty="0" smtClean="0"/>
                        <a:t> P</a:t>
                      </a:r>
                      <a:r>
                        <a:rPr lang="en-US" sz="2400" baseline="30000" dirty="0" smtClean="0"/>
                        <a:t>1/3  </a:t>
                      </a:r>
                      <a:r>
                        <a:rPr lang="en-US" sz="2000" baseline="0" dirty="0" smtClean="0"/>
                        <a:t>(“3D </a:t>
                      </a:r>
                      <a:r>
                        <a:rPr lang="en-US" sz="2000" baseline="0" dirty="0" err="1" smtClean="0"/>
                        <a:t>alg</a:t>
                      </a:r>
                      <a:r>
                        <a:rPr lang="en-US" sz="2000" baseline="0" dirty="0" smtClean="0"/>
                        <a:t>”)</a:t>
                      </a:r>
                      <a:endParaRPr lang="en-US" sz="2000" baseline="30000" dirty="0" smtClean="0"/>
                    </a:p>
                  </a:txBody>
                  <a:tcPr/>
                </a:tc>
                <a:tc>
                  <a:txBody>
                    <a:bodyPr/>
                    <a:lstStyle/>
                    <a:p>
                      <a:pPr algn="ctr"/>
                      <a:r>
                        <a:rPr lang="en-US" sz="2000" b="0" dirty="0" smtClean="0">
                          <a:solidFill>
                            <a:schemeClr val="tx1"/>
                          </a:solidFill>
                          <a:sym typeface="Symbol"/>
                        </a:rPr>
                        <a:t> (n</a:t>
                      </a:r>
                      <a:r>
                        <a:rPr lang="en-US" sz="2000" b="0" baseline="30000" dirty="0" smtClean="0">
                          <a:solidFill>
                            <a:schemeClr val="tx1"/>
                          </a:solidFill>
                          <a:sym typeface="Symbol"/>
                        </a:rPr>
                        <a:t>2</a:t>
                      </a:r>
                      <a:r>
                        <a:rPr lang="en-US" sz="2000" b="0" dirty="0" smtClean="0">
                          <a:solidFill>
                            <a:schemeClr val="tx1"/>
                          </a:solidFill>
                          <a:sym typeface="Symbol"/>
                        </a:rPr>
                        <a:t> / P</a:t>
                      </a:r>
                      <a:r>
                        <a:rPr lang="en-US" sz="2000" b="0" baseline="30000" dirty="0" smtClean="0">
                          <a:solidFill>
                            <a:schemeClr val="tx1"/>
                          </a:solidFill>
                          <a:sym typeface="Symbol"/>
                        </a:rPr>
                        <a:t>2/3 </a:t>
                      </a:r>
                      <a:r>
                        <a:rPr lang="en-US" sz="2000" b="0" dirty="0" smtClean="0">
                          <a:solidFill>
                            <a:schemeClr val="tx1"/>
                          </a:solidFill>
                          <a:sym typeface="Symbol"/>
                        </a:rPr>
                        <a:t>)</a:t>
                      </a:r>
                      <a:endParaRPr lang="en-US" sz="2000" dirty="0"/>
                    </a:p>
                  </a:txBody>
                  <a:tcPr/>
                </a:tc>
                <a:tc>
                  <a:txBody>
                    <a:bodyPr/>
                    <a:lstStyle/>
                    <a:p>
                      <a:pPr algn="ctr"/>
                      <a:r>
                        <a:rPr lang="en-US" sz="2000" b="0" dirty="0" smtClean="0">
                          <a:solidFill>
                            <a:schemeClr val="tx1"/>
                          </a:solidFill>
                          <a:sym typeface="Symbol"/>
                        </a:rPr>
                        <a:t>[Johnson,93]</a:t>
                      </a:r>
                      <a:endParaRPr lang="en-US" sz="2000" dirty="0"/>
                    </a:p>
                  </a:txBody>
                  <a:tcPr/>
                </a:tc>
              </a:tr>
            </a:tbl>
          </a:graphicData>
        </a:graphic>
      </p:graphicFrame>
      <p:cxnSp>
        <p:nvCxnSpPr>
          <p:cNvPr id="7" name="Straight Connector 6"/>
          <p:cNvCxnSpPr/>
          <p:nvPr/>
        </p:nvCxnSpPr>
        <p:spPr>
          <a:xfrm>
            <a:off x="381000" y="762000"/>
            <a:ext cx="8305800" cy="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transition xmlns:p14="http://schemas.microsoft.com/office/powerpoint/2010/main"/>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9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Eigenvalue</a:t>
            </a:r>
            <a:r>
              <a:rPr lang="en-US" dirty="0" smtClean="0"/>
              <a:t> Algorithms</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Symmetric </a:t>
            </a:r>
            <a:r>
              <a:rPr lang="en-US" dirty="0" err="1" smtClean="0"/>
              <a:t>eigenproblem</a:t>
            </a:r>
            <a:r>
              <a:rPr lang="en-US" dirty="0" smtClean="0"/>
              <a:t> and SVD</a:t>
            </a:r>
          </a:p>
          <a:p>
            <a:pPr lvl="1"/>
            <a:r>
              <a:rPr lang="en-US" dirty="0" smtClean="0"/>
              <a:t>Variations on Successive Band Reduction can minimize communication</a:t>
            </a:r>
          </a:p>
          <a:p>
            <a:pPr lvl="1"/>
            <a:r>
              <a:rPr lang="en-US" dirty="0" smtClean="0"/>
              <a:t>Up to 17x speedups over </a:t>
            </a:r>
            <a:r>
              <a:rPr lang="en-US" dirty="0" err="1" smtClean="0"/>
              <a:t>dsbtrd</a:t>
            </a:r>
            <a:r>
              <a:rPr lang="en-US" dirty="0" smtClean="0"/>
              <a:t> in Intel MKL</a:t>
            </a:r>
          </a:p>
          <a:p>
            <a:pPr lvl="1"/>
            <a:r>
              <a:rPr lang="en-US" dirty="0" smtClean="0"/>
              <a:t>Talk by Grey Ballard, Thursday , 4:30pm</a:t>
            </a:r>
          </a:p>
          <a:p>
            <a:r>
              <a:rPr lang="en-US" dirty="0" err="1" smtClean="0"/>
              <a:t>Nonsymmetric</a:t>
            </a:r>
            <a:r>
              <a:rPr lang="en-US" dirty="0" smtClean="0"/>
              <a:t> </a:t>
            </a:r>
            <a:r>
              <a:rPr lang="en-US" dirty="0" err="1" smtClean="0"/>
              <a:t>eigenproblem</a:t>
            </a:r>
            <a:endParaRPr lang="en-US" dirty="0" smtClean="0"/>
          </a:p>
          <a:p>
            <a:pPr lvl="1"/>
            <a:r>
              <a:rPr lang="en-US" dirty="0" smtClean="0"/>
              <a:t>Used divide-and-conquer [JD, </a:t>
            </a:r>
            <a:r>
              <a:rPr lang="en-US" dirty="0" err="1" smtClean="0"/>
              <a:t>Dumitriu</a:t>
            </a:r>
            <a:r>
              <a:rPr lang="en-US" dirty="0" smtClean="0"/>
              <a:t>, Holtz, 07]</a:t>
            </a:r>
          </a:p>
          <a:p>
            <a:pPr lvl="1"/>
            <a:r>
              <a:rPr lang="en-US" dirty="0" smtClean="0"/>
              <a:t>Need randomized rank-revealing decomposition</a:t>
            </a:r>
          </a:p>
          <a:p>
            <a:pPr lvl="1"/>
            <a:r>
              <a:rPr lang="en-US" dirty="0" smtClean="0"/>
              <a:t>Correctness guaranteed, progress probabilistic</a:t>
            </a:r>
          </a:p>
          <a:p>
            <a:pPr lvl="1"/>
            <a:r>
              <a:rPr lang="en-US" dirty="0" smtClean="0"/>
              <a:t>Talk by </a:t>
            </a:r>
            <a:r>
              <a:rPr lang="en-US" dirty="0" err="1" smtClean="0"/>
              <a:t>Ioana</a:t>
            </a:r>
            <a:r>
              <a:rPr lang="en-US" dirty="0" smtClean="0"/>
              <a:t> </a:t>
            </a:r>
            <a:r>
              <a:rPr lang="en-US" dirty="0" err="1" smtClean="0"/>
              <a:t>Dumitriu</a:t>
            </a:r>
            <a:r>
              <a:rPr lang="en-US" dirty="0" smtClean="0"/>
              <a:t>, Thursday, 5:10pm</a:t>
            </a:r>
            <a:endParaRPr lang="en-US" dirty="0"/>
          </a:p>
        </p:txBody>
      </p:sp>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6" name="Picture 5" descr="nov15_akx_speedup.png"/>
          <p:cNvPicPr>
            <a:picLocks noChangeAspect="1"/>
          </p:cNvPicPr>
          <p:nvPr/>
        </p:nvPicPr>
        <p:blipFill>
          <a:blip r:embed="rId2" cstate="print"/>
          <a:stretch>
            <a:fillRect/>
          </a:stretch>
        </p:blipFill>
        <p:spPr>
          <a:xfrm>
            <a:off x="2133600" y="1447800"/>
            <a:ext cx="5257800" cy="5257800"/>
          </a:xfrm>
          <a:prstGeom prst="rect">
            <a:avLst/>
          </a:prstGeom>
        </p:spPr>
      </p:pic>
      <p:sp>
        <p:nvSpPr>
          <p:cNvPr id="2" name="Title 1"/>
          <p:cNvSpPr>
            <a:spLocks noGrp="1"/>
          </p:cNvSpPr>
          <p:nvPr>
            <p:ph type="title"/>
          </p:nvPr>
        </p:nvSpPr>
        <p:spPr/>
        <p:txBody>
          <a:bodyPr>
            <a:noAutofit/>
          </a:bodyPr>
          <a:lstStyle/>
          <a:p>
            <a:r>
              <a:rPr lang="en-US" sz="3600" dirty="0" err="1" smtClean="0"/>
              <a:t>Exascale</a:t>
            </a:r>
            <a:r>
              <a:rPr lang="en-US" sz="3600" dirty="0" smtClean="0"/>
              <a:t> predicted speedups for </a:t>
            </a:r>
            <a:r>
              <a:rPr lang="en-US" sz="3600" smtClean="0"/>
              <a:t/>
            </a:r>
            <a:br>
              <a:rPr lang="en-US" sz="3600" smtClean="0"/>
            </a:br>
            <a:r>
              <a:rPr lang="en-US" sz="3600" smtClean="0"/>
              <a:t>Matrix </a:t>
            </a:r>
            <a:r>
              <a:rPr lang="en-US" sz="3600" dirty="0" smtClean="0"/>
              <a:t>Powers Kernel over </a:t>
            </a:r>
            <a:r>
              <a:rPr lang="en-US" sz="3600" dirty="0" err="1" smtClean="0"/>
              <a:t>SpMV</a:t>
            </a:r>
            <a:r>
              <a:rPr lang="en-US" sz="3600" dirty="0" smtClean="0"/>
              <a:t/>
            </a:r>
            <a:br>
              <a:rPr lang="en-US" sz="3600" dirty="0" smtClean="0"/>
            </a:br>
            <a:r>
              <a:rPr lang="en-US" sz="3600" dirty="0" smtClean="0"/>
              <a:t>for 2D Poisson (5 point stencil)</a:t>
            </a:r>
            <a:endParaRPr lang="en-US" sz="3600" dirty="0"/>
          </a:p>
        </p:txBody>
      </p:sp>
      <p:sp>
        <p:nvSpPr>
          <p:cNvPr id="4" name="TextBox 3"/>
          <p:cNvSpPr txBox="1"/>
          <p:nvPr/>
        </p:nvSpPr>
        <p:spPr>
          <a:xfrm>
            <a:off x="4343400" y="6324600"/>
            <a:ext cx="1234633" cy="523220"/>
          </a:xfrm>
          <a:prstGeom prst="rect">
            <a:avLst/>
          </a:prstGeom>
          <a:solidFill>
            <a:schemeClr val="bg1"/>
          </a:solidFill>
        </p:spPr>
        <p:txBody>
          <a:bodyPr wrap="none" rtlCol="0">
            <a:spAutoFit/>
          </a:bodyPr>
          <a:lstStyle/>
          <a:p>
            <a:r>
              <a:rPr lang="en-US" sz="2800" dirty="0" smtClean="0"/>
              <a:t>log</a:t>
            </a:r>
            <a:r>
              <a:rPr lang="en-US" sz="2800" baseline="-25000" dirty="0" smtClean="0"/>
              <a:t>2</a:t>
            </a:r>
            <a:r>
              <a:rPr lang="en-US" sz="2800" dirty="0" smtClean="0"/>
              <a:t> (p)</a:t>
            </a:r>
            <a:endParaRPr lang="en-US" sz="2800" dirty="0"/>
          </a:p>
        </p:txBody>
      </p:sp>
      <p:sp>
        <p:nvSpPr>
          <p:cNvPr id="5" name="TextBox 4"/>
          <p:cNvSpPr txBox="1"/>
          <p:nvPr/>
        </p:nvSpPr>
        <p:spPr>
          <a:xfrm rot="16200000">
            <a:off x="73265" y="3392228"/>
            <a:ext cx="3776162" cy="954107"/>
          </a:xfrm>
          <a:prstGeom prst="rect">
            <a:avLst/>
          </a:prstGeom>
          <a:solidFill>
            <a:schemeClr val="bg1"/>
          </a:solidFill>
        </p:spPr>
        <p:txBody>
          <a:bodyPr wrap="none" rtlCol="0">
            <a:spAutoFit/>
          </a:bodyPr>
          <a:lstStyle/>
          <a:p>
            <a:pPr algn="ctr"/>
            <a:r>
              <a:rPr lang="en-US" sz="2800" dirty="0" smtClean="0"/>
              <a:t>log</a:t>
            </a:r>
            <a:r>
              <a:rPr lang="en-US" sz="2800" baseline="-25000" dirty="0" smtClean="0"/>
              <a:t>2</a:t>
            </a:r>
            <a:r>
              <a:rPr lang="en-US" sz="2800" dirty="0" smtClean="0"/>
              <a:t> (n</a:t>
            </a:r>
            <a:r>
              <a:rPr lang="en-US" sz="2800" baseline="30000" dirty="0" smtClean="0"/>
              <a:t>2</a:t>
            </a:r>
            <a:r>
              <a:rPr lang="en-US" sz="2800" dirty="0" smtClean="0"/>
              <a:t>/p) = </a:t>
            </a:r>
          </a:p>
          <a:p>
            <a:pPr algn="ctr"/>
            <a:r>
              <a:rPr lang="en-US" sz="2800" dirty="0" smtClean="0"/>
              <a:t>log</a:t>
            </a:r>
            <a:r>
              <a:rPr lang="en-US" sz="2800" baseline="-25000" dirty="0" smtClean="0"/>
              <a:t>2</a:t>
            </a:r>
            <a:r>
              <a:rPr lang="en-US" sz="2800" dirty="0" smtClean="0"/>
              <a:t> (</a:t>
            </a:r>
            <a:r>
              <a:rPr lang="en-US" sz="2800" dirty="0" err="1" smtClean="0"/>
              <a:t>memory_per_proc</a:t>
            </a:r>
            <a:r>
              <a:rPr lang="en-US" sz="2800" dirty="0" smtClean="0"/>
              <a:t>)</a:t>
            </a:r>
            <a:endParaRPr lang="en-US" sz="2800" dirty="0"/>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xmlns:p14="http://schemas.microsoft.com/office/powerpoint/2010/mai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a:xfrm>
            <a:off x="490538" y="306388"/>
            <a:ext cx="8634412" cy="801687"/>
          </a:xfrm>
        </p:spPr>
        <p:txBody>
          <a:bodyPr>
            <a:normAutofit fontScale="90000"/>
          </a:bodyPr>
          <a:lstStyle/>
          <a:p>
            <a:pPr eaLnBrk="1" hangingPunct="1"/>
            <a:r>
              <a:rPr lang="en-US" sz="3200" dirty="0" smtClean="0"/>
              <a:t>Communication-Avoiding LU:</a:t>
            </a:r>
            <a:br>
              <a:rPr lang="en-US" sz="3200" dirty="0" smtClean="0"/>
            </a:br>
            <a:r>
              <a:rPr lang="en-US" sz="3200" dirty="0" smtClean="0"/>
              <a:t> Use reduction tree, to do “Tournament Pivoting”</a:t>
            </a:r>
          </a:p>
        </p:txBody>
      </p:sp>
      <p:sp>
        <p:nvSpPr>
          <p:cNvPr id="58372" name="Slide Number Placeholder 4"/>
          <p:cNvSpPr>
            <a:spLocks noGrp="1"/>
          </p:cNvSpPr>
          <p:nvPr>
            <p:ph type="sldNum" sz="quarter" idx="12"/>
          </p:nvPr>
        </p:nvSpPr>
        <p:spPr/>
        <p:txBody>
          <a:bodyPr/>
          <a:lstStyle/>
          <a:p>
            <a:pPr>
              <a:defRPr/>
            </a:pPr>
            <a:fld id="{5DB7E544-7305-4ED5-8EB2-5415760D4660}" type="slidenum">
              <a:rPr lang="en-US"/>
              <a:pPr>
                <a:defRPr/>
              </a:pPr>
              <a:t>92</a:t>
            </a:fld>
            <a:endParaRPr lang="en-US"/>
          </a:p>
        </p:txBody>
      </p:sp>
      <p:grpSp>
        <p:nvGrpSpPr>
          <p:cNvPr id="2" name="Group 41"/>
          <p:cNvGrpSpPr>
            <a:grpSpLocks/>
          </p:cNvGrpSpPr>
          <p:nvPr/>
        </p:nvGrpSpPr>
        <p:grpSpPr bwMode="auto">
          <a:xfrm>
            <a:off x="685800" y="1349375"/>
            <a:ext cx="7393513" cy="1200150"/>
            <a:chOff x="685800" y="1274164"/>
            <a:chExt cx="7393587" cy="1200330"/>
          </a:xfrm>
        </p:grpSpPr>
        <p:sp>
          <p:nvSpPr>
            <p:cNvPr id="24599" name="TextBox 5"/>
            <p:cNvSpPr txBox="1">
              <a:spLocks noChangeArrowheads="1"/>
            </p:cNvSpPr>
            <p:nvPr/>
          </p:nvSpPr>
          <p:spPr bwMode="auto">
            <a:xfrm>
              <a:off x="685800" y="1693889"/>
              <a:ext cx="976549" cy="400110"/>
            </a:xfrm>
            <a:prstGeom prst="rect">
              <a:avLst/>
            </a:prstGeom>
            <a:noFill/>
            <a:ln w="9525">
              <a:noFill/>
              <a:miter lim="800000"/>
              <a:headEnd/>
              <a:tailEnd/>
            </a:ln>
          </p:spPr>
          <p:txBody>
            <a:bodyPr wrap="none">
              <a:spAutoFit/>
            </a:bodyPr>
            <a:lstStyle/>
            <a:p>
              <a:r>
                <a:rPr lang="en-US" sz="2000">
                  <a:latin typeface="Calibri" pitchFamily="34" charset="0"/>
                </a:rPr>
                <a:t>W</a:t>
              </a:r>
              <a:r>
                <a:rPr lang="en-US" sz="2400" baseline="30000">
                  <a:latin typeface="Calibri" pitchFamily="34" charset="0"/>
                </a:rPr>
                <a:t>nxb</a:t>
              </a:r>
              <a:r>
                <a:rPr lang="en-US" sz="2000">
                  <a:latin typeface="Calibri" pitchFamily="34" charset="0"/>
                </a:rPr>
                <a:t> =</a:t>
              </a:r>
            </a:p>
          </p:txBody>
        </p:sp>
        <p:grpSp>
          <p:nvGrpSpPr>
            <p:cNvPr id="3" name="Group 8"/>
            <p:cNvGrpSpPr>
              <a:grpSpLocks/>
            </p:cNvGrpSpPr>
            <p:nvPr/>
          </p:nvGrpSpPr>
          <p:grpSpPr bwMode="auto">
            <a:xfrm>
              <a:off x="1825671" y="1274164"/>
              <a:ext cx="575885" cy="1200330"/>
              <a:chOff x="2113614" y="1274163"/>
              <a:chExt cx="575885" cy="1200330"/>
            </a:xfrm>
          </p:grpSpPr>
          <p:sp>
            <p:nvSpPr>
              <p:cNvPr id="24612" name="TextBox 6"/>
              <p:cNvSpPr txBox="1">
                <a:spLocks noChangeArrowheads="1"/>
              </p:cNvSpPr>
              <p:nvPr/>
            </p:nvSpPr>
            <p:spPr bwMode="auto">
              <a:xfrm>
                <a:off x="2158584" y="1274164"/>
                <a:ext cx="487634" cy="1200329"/>
              </a:xfrm>
              <a:prstGeom prst="rect">
                <a:avLst/>
              </a:prstGeom>
              <a:noFill/>
              <a:ln w="9525">
                <a:noFill/>
                <a:miter lim="800000"/>
                <a:headEnd/>
                <a:tailEnd/>
              </a:ln>
            </p:spPr>
            <p:txBody>
              <a:bodyPr wrap="none">
                <a:spAutoFit/>
              </a:bodyPr>
              <a:lstStyle/>
              <a:p>
                <a:r>
                  <a:rPr lang="en-US">
                    <a:latin typeface="Calibri" pitchFamily="34" charset="0"/>
                  </a:rPr>
                  <a:t>W</a:t>
                </a:r>
                <a:r>
                  <a:rPr lang="en-US" baseline="-25000">
                    <a:latin typeface="Calibri" pitchFamily="34" charset="0"/>
                  </a:rPr>
                  <a:t>1</a:t>
                </a:r>
              </a:p>
              <a:p>
                <a:r>
                  <a:rPr lang="en-US">
                    <a:latin typeface="Calibri" pitchFamily="34" charset="0"/>
                  </a:rPr>
                  <a:t>W</a:t>
                </a:r>
                <a:r>
                  <a:rPr lang="en-US" baseline="-25000">
                    <a:latin typeface="Calibri" pitchFamily="34" charset="0"/>
                  </a:rPr>
                  <a:t>2</a:t>
                </a:r>
              </a:p>
              <a:p>
                <a:r>
                  <a:rPr lang="en-US">
                    <a:latin typeface="Calibri" pitchFamily="34" charset="0"/>
                  </a:rPr>
                  <a:t>W</a:t>
                </a:r>
                <a:r>
                  <a:rPr lang="en-US" baseline="-25000">
                    <a:latin typeface="Calibri" pitchFamily="34" charset="0"/>
                  </a:rPr>
                  <a:t>3</a:t>
                </a:r>
              </a:p>
              <a:p>
                <a:r>
                  <a:rPr lang="en-US">
                    <a:latin typeface="Calibri" pitchFamily="34" charset="0"/>
                  </a:rPr>
                  <a:t>W</a:t>
                </a:r>
                <a:r>
                  <a:rPr lang="en-US" baseline="-25000">
                    <a:latin typeface="Calibri" pitchFamily="34" charset="0"/>
                  </a:rPr>
                  <a:t>4</a:t>
                </a:r>
              </a:p>
            </p:txBody>
          </p:sp>
          <p:sp>
            <p:nvSpPr>
              <p:cNvPr id="24613" name="Double Bracket 7"/>
              <p:cNvSpPr>
                <a:spLocks noChangeArrowheads="1"/>
              </p:cNvSpPr>
              <p:nvPr/>
            </p:nvSpPr>
            <p:spPr bwMode="auto">
              <a:xfrm>
                <a:off x="2113614" y="1274163"/>
                <a:ext cx="575885" cy="1200329"/>
              </a:xfrm>
              <a:prstGeom prst="bracketPair">
                <a:avLst>
                  <a:gd name="adj" fmla="val 16667"/>
                </a:avLst>
              </a:prstGeom>
              <a:noFill/>
              <a:ln w="12700" algn="ctr">
                <a:solidFill>
                  <a:schemeClr val="tx1"/>
                </a:solidFill>
                <a:round/>
                <a:headEnd type="none" w="sm" len="sm"/>
                <a:tailEnd type="none" w="sm" len="sm"/>
              </a:ln>
            </p:spPr>
            <p:txBody>
              <a:bodyPr/>
              <a:lstStyle/>
              <a:p>
                <a:endParaRPr lang="en-US">
                  <a:latin typeface="Calibri" pitchFamily="34" charset="0"/>
                </a:endParaRPr>
              </a:p>
            </p:txBody>
          </p:sp>
        </p:grpSp>
        <p:grpSp>
          <p:nvGrpSpPr>
            <p:cNvPr id="4" name="Group 14"/>
            <p:cNvGrpSpPr>
              <a:grpSpLocks/>
            </p:cNvGrpSpPr>
            <p:nvPr/>
          </p:nvGrpSpPr>
          <p:grpSpPr bwMode="auto">
            <a:xfrm>
              <a:off x="3124200" y="1274164"/>
              <a:ext cx="1282910" cy="1200330"/>
              <a:chOff x="3124200" y="1274164"/>
              <a:chExt cx="1282910" cy="1200330"/>
            </a:xfrm>
          </p:grpSpPr>
          <p:sp>
            <p:nvSpPr>
              <p:cNvPr id="24610" name="TextBox 11"/>
              <p:cNvSpPr txBox="1">
                <a:spLocks noChangeArrowheads="1"/>
              </p:cNvSpPr>
              <p:nvPr/>
            </p:nvSpPr>
            <p:spPr bwMode="auto">
              <a:xfrm>
                <a:off x="3124200" y="1274164"/>
                <a:ext cx="1282910" cy="1200329"/>
              </a:xfrm>
              <a:prstGeom prst="rect">
                <a:avLst/>
              </a:prstGeom>
              <a:noFill/>
              <a:ln w="9525">
                <a:noFill/>
                <a:miter lim="800000"/>
                <a:headEnd/>
                <a:tailEnd/>
              </a:ln>
            </p:spPr>
            <p:txBody>
              <a:bodyPr>
                <a:spAutoFit/>
              </a:bodyPr>
              <a:lstStyle/>
              <a:p>
                <a:r>
                  <a:rPr lang="en-US">
                    <a:latin typeface="Calibri" pitchFamily="34" charset="0"/>
                  </a:rPr>
                  <a:t>P</a:t>
                </a:r>
                <a:r>
                  <a:rPr lang="en-US" baseline="-25000">
                    <a:latin typeface="Calibri" pitchFamily="34" charset="0"/>
                  </a:rPr>
                  <a:t>1</a:t>
                </a:r>
                <a:r>
                  <a:rPr lang="en-US">
                    <a:latin typeface="Calibri" pitchFamily="34" charset="0"/>
                  </a:rPr>
                  <a:t>·L</a:t>
                </a:r>
                <a:r>
                  <a:rPr lang="en-US" baseline="-25000">
                    <a:latin typeface="Calibri" pitchFamily="34" charset="0"/>
                  </a:rPr>
                  <a:t>1</a:t>
                </a:r>
                <a:r>
                  <a:rPr lang="en-US">
                    <a:latin typeface="Calibri" pitchFamily="34" charset="0"/>
                  </a:rPr>
                  <a:t>·U</a:t>
                </a:r>
                <a:r>
                  <a:rPr lang="en-US" baseline="-25000">
                    <a:latin typeface="Calibri" pitchFamily="34" charset="0"/>
                  </a:rPr>
                  <a:t>1</a:t>
                </a:r>
              </a:p>
              <a:p>
                <a:r>
                  <a:rPr lang="en-US">
                    <a:latin typeface="Calibri" pitchFamily="34" charset="0"/>
                  </a:rPr>
                  <a:t>P</a:t>
                </a:r>
                <a:r>
                  <a:rPr lang="en-US" baseline="-25000">
                    <a:latin typeface="Calibri" pitchFamily="34" charset="0"/>
                  </a:rPr>
                  <a:t>2</a:t>
                </a:r>
                <a:r>
                  <a:rPr lang="en-US">
                    <a:latin typeface="Calibri" pitchFamily="34" charset="0"/>
                  </a:rPr>
                  <a:t>·L</a:t>
                </a:r>
                <a:r>
                  <a:rPr lang="en-US" baseline="-25000">
                    <a:latin typeface="Calibri" pitchFamily="34" charset="0"/>
                  </a:rPr>
                  <a:t>2</a:t>
                </a:r>
                <a:r>
                  <a:rPr lang="en-US">
                    <a:latin typeface="Calibri" pitchFamily="34" charset="0"/>
                  </a:rPr>
                  <a:t>·U</a:t>
                </a:r>
                <a:r>
                  <a:rPr lang="en-US" baseline="-25000">
                    <a:latin typeface="Calibri" pitchFamily="34" charset="0"/>
                  </a:rPr>
                  <a:t>2</a:t>
                </a:r>
              </a:p>
              <a:p>
                <a:r>
                  <a:rPr lang="en-US">
                    <a:latin typeface="Calibri" pitchFamily="34" charset="0"/>
                  </a:rPr>
                  <a:t>P</a:t>
                </a:r>
                <a:r>
                  <a:rPr lang="en-US" baseline="-25000">
                    <a:latin typeface="Calibri" pitchFamily="34" charset="0"/>
                  </a:rPr>
                  <a:t>3</a:t>
                </a:r>
                <a:r>
                  <a:rPr lang="en-US">
                    <a:latin typeface="Calibri" pitchFamily="34" charset="0"/>
                  </a:rPr>
                  <a:t>·L</a:t>
                </a:r>
                <a:r>
                  <a:rPr lang="en-US" baseline="-25000">
                    <a:latin typeface="Calibri" pitchFamily="34" charset="0"/>
                  </a:rPr>
                  <a:t>3</a:t>
                </a:r>
                <a:r>
                  <a:rPr lang="en-US">
                    <a:latin typeface="Calibri" pitchFamily="34" charset="0"/>
                  </a:rPr>
                  <a:t>·U</a:t>
                </a:r>
                <a:r>
                  <a:rPr lang="en-US" baseline="-25000">
                    <a:latin typeface="Calibri" pitchFamily="34" charset="0"/>
                  </a:rPr>
                  <a:t>3</a:t>
                </a:r>
              </a:p>
              <a:p>
                <a:r>
                  <a:rPr lang="en-US">
                    <a:latin typeface="Calibri" pitchFamily="34" charset="0"/>
                  </a:rPr>
                  <a:t>P</a:t>
                </a:r>
                <a:r>
                  <a:rPr lang="en-US" baseline="-25000">
                    <a:latin typeface="Calibri" pitchFamily="34" charset="0"/>
                  </a:rPr>
                  <a:t>4</a:t>
                </a:r>
                <a:r>
                  <a:rPr lang="en-US">
                    <a:latin typeface="Calibri" pitchFamily="34" charset="0"/>
                  </a:rPr>
                  <a:t>·L</a:t>
                </a:r>
                <a:r>
                  <a:rPr lang="en-US" baseline="-25000">
                    <a:latin typeface="Calibri" pitchFamily="34" charset="0"/>
                  </a:rPr>
                  <a:t>4</a:t>
                </a:r>
                <a:r>
                  <a:rPr lang="en-US">
                    <a:latin typeface="Calibri" pitchFamily="34" charset="0"/>
                  </a:rPr>
                  <a:t>·U</a:t>
                </a:r>
                <a:r>
                  <a:rPr lang="en-US" baseline="-25000">
                    <a:latin typeface="Calibri" pitchFamily="34" charset="0"/>
                  </a:rPr>
                  <a:t>4</a:t>
                </a:r>
              </a:p>
            </p:txBody>
          </p:sp>
          <p:sp>
            <p:nvSpPr>
              <p:cNvPr id="24611" name="Double Bracket 12"/>
              <p:cNvSpPr>
                <a:spLocks noChangeArrowheads="1"/>
              </p:cNvSpPr>
              <p:nvPr/>
            </p:nvSpPr>
            <p:spPr bwMode="auto">
              <a:xfrm>
                <a:off x="3124200" y="1274165"/>
                <a:ext cx="1147997" cy="1200329"/>
              </a:xfrm>
              <a:prstGeom prst="bracketPair">
                <a:avLst>
                  <a:gd name="adj" fmla="val 16667"/>
                </a:avLst>
              </a:prstGeom>
              <a:noFill/>
              <a:ln w="12700" algn="ctr">
                <a:solidFill>
                  <a:schemeClr val="tx1"/>
                </a:solidFill>
                <a:round/>
                <a:headEnd type="none" w="sm" len="sm"/>
                <a:tailEnd type="none" w="sm" len="sm"/>
              </a:ln>
            </p:spPr>
            <p:txBody>
              <a:bodyPr/>
              <a:lstStyle/>
              <a:p>
                <a:endParaRPr lang="en-US">
                  <a:latin typeface="Calibri" pitchFamily="34" charset="0"/>
                </a:endParaRPr>
              </a:p>
            </p:txBody>
          </p:sp>
        </p:grpSp>
        <p:sp>
          <p:nvSpPr>
            <p:cNvPr id="24602" name="TextBox 13"/>
            <p:cNvSpPr txBox="1">
              <a:spLocks noChangeArrowheads="1"/>
            </p:cNvSpPr>
            <p:nvPr/>
          </p:nvSpPr>
          <p:spPr bwMode="auto">
            <a:xfrm>
              <a:off x="2600559" y="1724667"/>
              <a:ext cx="319318" cy="369332"/>
            </a:xfrm>
            <a:prstGeom prst="rect">
              <a:avLst/>
            </a:prstGeom>
            <a:noFill/>
            <a:ln w="9525">
              <a:noFill/>
              <a:miter lim="800000"/>
              <a:headEnd/>
              <a:tailEnd/>
            </a:ln>
          </p:spPr>
          <p:txBody>
            <a:bodyPr wrap="none">
              <a:spAutoFit/>
            </a:bodyPr>
            <a:lstStyle/>
            <a:p>
              <a:r>
                <a:rPr lang="en-US">
                  <a:latin typeface="Calibri" pitchFamily="34" charset="0"/>
                </a:rPr>
                <a:t>=</a:t>
              </a:r>
            </a:p>
          </p:txBody>
        </p:sp>
        <p:sp>
          <p:nvSpPr>
            <p:cNvPr id="24603" name="TextBox 15"/>
            <p:cNvSpPr txBox="1">
              <a:spLocks noChangeArrowheads="1"/>
            </p:cNvSpPr>
            <p:nvPr/>
          </p:nvSpPr>
          <p:spPr bwMode="auto">
            <a:xfrm>
              <a:off x="4477083" y="1355335"/>
              <a:ext cx="3602304" cy="1077380"/>
            </a:xfrm>
            <a:prstGeom prst="rect">
              <a:avLst/>
            </a:prstGeom>
            <a:noFill/>
            <a:ln w="9525">
              <a:noFill/>
              <a:miter lim="800000"/>
              <a:headEnd/>
              <a:tailEnd/>
            </a:ln>
          </p:spPr>
          <p:txBody>
            <a:bodyPr wrap="none">
              <a:spAutoFit/>
            </a:bodyPr>
            <a:lstStyle/>
            <a:p>
              <a:r>
                <a:rPr lang="en-US" sz="1600" dirty="0">
                  <a:latin typeface="Calibri" pitchFamily="34" charset="0"/>
                </a:rPr>
                <a:t>Choose b pivot rows of W</a:t>
              </a:r>
              <a:r>
                <a:rPr lang="en-US" sz="1600" baseline="-25000" dirty="0">
                  <a:latin typeface="Calibri" pitchFamily="34" charset="0"/>
                </a:rPr>
                <a:t>1</a:t>
              </a:r>
              <a:r>
                <a:rPr lang="en-US" sz="1600" dirty="0">
                  <a:latin typeface="Calibri" pitchFamily="34" charset="0"/>
                </a:rPr>
                <a:t>, call them W</a:t>
              </a:r>
              <a:r>
                <a:rPr lang="en-US" sz="1600" baseline="-25000" dirty="0">
                  <a:latin typeface="Calibri" pitchFamily="34" charset="0"/>
                </a:rPr>
                <a:t>1</a:t>
              </a:r>
              <a:r>
                <a:rPr lang="en-US" sz="1600" dirty="0">
                  <a:latin typeface="Calibri" pitchFamily="34" charset="0"/>
                </a:rPr>
                <a:t>’</a:t>
              </a:r>
            </a:p>
            <a:p>
              <a:r>
                <a:rPr lang="en-US" sz="1600" dirty="0" smtClean="0">
                  <a:latin typeface="Calibri" pitchFamily="34" charset="0"/>
                </a:rPr>
                <a:t>Ditto for W</a:t>
              </a:r>
              <a:r>
                <a:rPr lang="en-US" sz="1600" baseline="-25000" dirty="0" smtClean="0">
                  <a:latin typeface="Calibri" pitchFamily="34" charset="0"/>
                </a:rPr>
                <a:t>2</a:t>
              </a:r>
              <a:r>
                <a:rPr lang="en-US" sz="1600" dirty="0" smtClean="0">
                  <a:latin typeface="Calibri" pitchFamily="34" charset="0"/>
                </a:rPr>
                <a:t>, yielding W</a:t>
              </a:r>
              <a:r>
                <a:rPr lang="en-US" sz="1600" baseline="-25000" dirty="0" smtClean="0">
                  <a:latin typeface="Calibri" pitchFamily="34" charset="0"/>
                </a:rPr>
                <a:t>2</a:t>
              </a:r>
              <a:r>
                <a:rPr lang="en-US" sz="1600" dirty="0" smtClean="0">
                  <a:latin typeface="Calibri" pitchFamily="34" charset="0"/>
                </a:rPr>
                <a:t>’</a:t>
              </a:r>
              <a:endParaRPr lang="en-US" sz="1600" dirty="0">
                <a:latin typeface="Calibri" pitchFamily="34" charset="0"/>
              </a:endParaRPr>
            </a:p>
            <a:p>
              <a:r>
                <a:rPr lang="en-US" sz="1600" dirty="0" smtClean="0">
                  <a:latin typeface="Calibri" pitchFamily="34" charset="0"/>
                </a:rPr>
                <a:t>Ditto for W</a:t>
              </a:r>
              <a:r>
                <a:rPr lang="en-US" sz="1600" baseline="-25000" dirty="0" smtClean="0">
                  <a:latin typeface="Calibri" pitchFamily="34" charset="0"/>
                </a:rPr>
                <a:t>3</a:t>
              </a:r>
              <a:r>
                <a:rPr lang="en-US" sz="1600" dirty="0">
                  <a:latin typeface="Calibri" pitchFamily="34" charset="0"/>
                </a:rPr>
                <a:t>, </a:t>
              </a:r>
              <a:r>
                <a:rPr lang="en-US" sz="1600" dirty="0" smtClean="0">
                  <a:latin typeface="Calibri" pitchFamily="34" charset="0"/>
                </a:rPr>
                <a:t>yielding </a:t>
              </a:r>
              <a:r>
                <a:rPr lang="en-US" sz="1600" dirty="0">
                  <a:latin typeface="Calibri" pitchFamily="34" charset="0"/>
                </a:rPr>
                <a:t>W</a:t>
              </a:r>
              <a:r>
                <a:rPr lang="en-US" sz="1600" baseline="-25000" dirty="0">
                  <a:latin typeface="Calibri" pitchFamily="34" charset="0"/>
                </a:rPr>
                <a:t>3</a:t>
              </a:r>
              <a:r>
                <a:rPr lang="en-US" sz="1600" dirty="0">
                  <a:latin typeface="Calibri" pitchFamily="34" charset="0"/>
                </a:rPr>
                <a:t>’</a:t>
              </a:r>
            </a:p>
            <a:p>
              <a:r>
                <a:rPr lang="en-US" sz="1600" dirty="0" smtClean="0">
                  <a:latin typeface="Calibri" pitchFamily="34" charset="0"/>
                </a:rPr>
                <a:t>Ditto for W</a:t>
              </a:r>
              <a:r>
                <a:rPr lang="en-US" sz="1600" baseline="-25000" dirty="0" smtClean="0">
                  <a:latin typeface="Calibri" pitchFamily="34" charset="0"/>
                </a:rPr>
                <a:t>4</a:t>
              </a:r>
              <a:r>
                <a:rPr lang="en-US" sz="1600" dirty="0">
                  <a:latin typeface="Calibri" pitchFamily="34" charset="0"/>
                </a:rPr>
                <a:t>, </a:t>
              </a:r>
              <a:r>
                <a:rPr lang="en-US" sz="1600" dirty="0" smtClean="0">
                  <a:latin typeface="Calibri" pitchFamily="34" charset="0"/>
                </a:rPr>
                <a:t>yielding </a:t>
              </a:r>
              <a:r>
                <a:rPr lang="en-US" sz="1600" dirty="0">
                  <a:latin typeface="Calibri" pitchFamily="34" charset="0"/>
                </a:rPr>
                <a:t>W</a:t>
              </a:r>
              <a:r>
                <a:rPr lang="en-US" sz="1600" baseline="-25000" dirty="0">
                  <a:latin typeface="Calibri" pitchFamily="34" charset="0"/>
                </a:rPr>
                <a:t>4</a:t>
              </a:r>
              <a:r>
                <a:rPr lang="en-US" sz="1600" dirty="0">
                  <a:latin typeface="Calibri" pitchFamily="34" charset="0"/>
                </a:rPr>
                <a:t>’</a:t>
              </a:r>
            </a:p>
          </p:txBody>
        </p:sp>
        <p:cxnSp>
          <p:nvCxnSpPr>
            <p:cNvPr id="24604" name="Straight Connector 20"/>
            <p:cNvCxnSpPr>
              <a:cxnSpLocks noChangeShapeType="1"/>
            </p:cNvCxnSpPr>
            <p:nvPr/>
          </p:nvCxnSpPr>
          <p:spPr bwMode="auto">
            <a:xfrm>
              <a:off x="1855651" y="1588959"/>
              <a:ext cx="530915" cy="0"/>
            </a:xfrm>
            <a:prstGeom prst="line">
              <a:avLst/>
            </a:prstGeom>
            <a:noFill/>
            <a:ln w="12700" algn="ctr">
              <a:solidFill>
                <a:schemeClr val="tx1"/>
              </a:solidFill>
              <a:round/>
              <a:headEnd type="none" w="sm" len="sm"/>
              <a:tailEnd type="none" w="sm" len="sm"/>
            </a:ln>
          </p:spPr>
        </p:cxnSp>
        <p:cxnSp>
          <p:nvCxnSpPr>
            <p:cNvPr id="24605" name="Straight Connector 21"/>
            <p:cNvCxnSpPr>
              <a:cxnSpLocks noChangeShapeType="1"/>
            </p:cNvCxnSpPr>
            <p:nvPr/>
          </p:nvCxnSpPr>
          <p:spPr bwMode="auto">
            <a:xfrm>
              <a:off x="1843161" y="1861279"/>
              <a:ext cx="530915" cy="0"/>
            </a:xfrm>
            <a:prstGeom prst="line">
              <a:avLst/>
            </a:prstGeom>
            <a:noFill/>
            <a:ln w="12700" algn="ctr">
              <a:solidFill>
                <a:schemeClr val="tx1"/>
              </a:solidFill>
              <a:round/>
              <a:headEnd type="none" w="sm" len="sm"/>
              <a:tailEnd type="none" w="sm" len="sm"/>
            </a:ln>
          </p:spPr>
        </p:cxnSp>
        <p:cxnSp>
          <p:nvCxnSpPr>
            <p:cNvPr id="24606" name="Straight Connector 22"/>
            <p:cNvCxnSpPr>
              <a:cxnSpLocks noChangeShapeType="1"/>
            </p:cNvCxnSpPr>
            <p:nvPr/>
          </p:nvCxnSpPr>
          <p:spPr bwMode="auto">
            <a:xfrm>
              <a:off x="1860651" y="2148589"/>
              <a:ext cx="530915" cy="0"/>
            </a:xfrm>
            <a:prstGeom prst="line">
              <a:avLst/>
            </a:prstGeom>
            <a:noFill/>
            <a:ln w="12700" algn="ctr">
              <a:solidFill>
                <a:schemeClr val="tx1"/>
              </a:solidFill>
              <a:round/>
              <a:headEnd type="none" w="sm" len="sm"/>
              <a:tailEnd type="none" w="sm" len="sm"/>
            </a:ln>
          </p:spPr>
        </p:cxnSp>
        <p:cxnSp>
          <p:nvCxnSpPr>
            <p:cNvPr id="24607" name="Straight Connector 24"/>
            <p:cNvCxnSpPr>
              <a:cxnSpLocks noChangeShapeType="1"/>
            </p:cNvCxnSpPr>
            <p:nvPr/>
          </p:nvCxnSpPr>
          <p:spPr bwMode="auto">
            <a:xfrm>
              <a:off x="3124200" y="1588959"/>
              <a:ext cx="1147997" cy="0"/>
            </a:xfrm>
            <a:prstGeom prst="line">
              <a:avLst/>
            </a:prstGeom>
            <a:noFill/>
            <a:ln w="12700" algn="ctr">
              <a:solidFill>
                <a:schemeClr val="tx1"/>
              </a:solidFill>
              <a:round/>
              <a:headEnd type="none" w="sm" len="sm"/>
              <a:tailEnd type="none" w="sm" len="sm"/>
            </a:ln>
          </p:spPr>
        </p:cxnSp>
        <p:cxnSp>
          <p:nvCxnSpPr>
            <p:cNvPr id="24608" name="Straight Connector 25"/>
            <p:cNvCxnSpPr>
              <a:cxnSpLocks noChangeShapeType="1"/>
            </p:cNvCxnSpPr>
            <p:nvPr/>
          </p:nvCxnSpPr>
          <p:spPr bwMode="auto">
            <a:xfrm>
              <a:off x="3111710" y="1861279"/>
              <a:ext cx="1147997" cy="0"/>
            </a:xfrm>
            <a:prstGeom prst="line">
              <a:avLst/>
            </a:prstGeom>
            <a:noFill/>
            <a:ln w="12700" algn="ctr">
              <a:solidFill>
                <a:schemeClr val="tx1"/>
              </a:solidFill>
              <a:round/>
              <a:headEnd type="none" w="sm" len="sm"/>
              <a:tailEnd type="none" w="sm" len="sm"/>
            </a:ln>
          </p:spPr>
        </p:cxnSp>
        <p:cxnSp>
          <p:nvCxnSpPr>
            <p:cNvPr id="24609" name="Straight Connector 26"/>
            <p:cNvCxnSpPr>
              <a:cxnSpLocks noChangeShapeType="1"/>
            </p:cNvCxnSpPr>
            <p:nvPr/>
          </p:nvCxnSpPr>
          <p:spPr bwMode="auto">
            <a:xfrm>
              <a:off x="3114210" y="2133599"/>
              <a:ext cx="1147997" cy="0"/>
            </a:xfrm>
            <a:prstGeom prst="line">
              <a:avLst/>
            </a:prstGeom>
            <a:noFill/>
            <a:ln w="12700" algn="ctr">
              <a:solidFill>
                <a:schemeClr val="tx1"/>
              </a:solidFill>
              <a:round/>
              <a:headEnd type="none" w="sm" len="sm"/>
              <a:tailEnd type="none" w="sm" len="sm"/>
            </a:ln>
          </p:spPr>
        </p:cxnSp>
      </p:grpSp>
      <p:grpSp>
        <p:nvGrpSpPr>
          <p:cNvPr id="5" name="Group 35"/>
          <p:cNvGrpSpPr>
            <a:grpSpLocks/>
          </p:cNvGrpSpPr>
          <p:nvPr/>
        </p:nvGrpSpPr>
        <p:grpSpPr bwMode="auto">
          <a:xfrm>
            <a:off x="1806575" y="2925763"/>
            <a:ext cx="6096512" cy="1200150"/>
            <a:chOff x="1086464" y="3225384"/>
            <a:chExt cx="6096433" cy="1200330"/>
          </a:xfrm>
        </p:grpSpPr>
        <p:grpSp>
          <p:nvGrpSpPr>
            <p:cNvPr id="6" name="Group 16"/>
            <p:cNvGrpSpPr>
              <a:grpSpLocks/>
            </p:cNvGrpSpPr>
            <p:nvPr/>
          </p:nvGrpSpPr>
          <p:grpSpPr bwMode="auto">
            <a:xfrm>
              <a:off x="1086464" y="3225384"/>
              <a:ext cx="583900" cy="1200330"/>
              <a:chOff x="2113614" y="1274163"/>
              <a:chExt cx="583900" cy="1200330"/>
            </a:xfrm>
          </p:grpSpPr>
          <p:sp>
            <p:nvSpPr>
              <p:cNvPr id="24597" name="TextBox 17"/>
              <p:cNvSpPr txBox="1">
                <a:spLocks noChangeArrowheads="1"/>
              </p:cNvSpPr>
              <p:nvPr/>
            </p:nvSpPr>
            <p:spPr bwMode="auto">
              <a:xfrm>
                <a:off x="2158584" y="1274164"/>
                <a:ext cx="538930" cy="1200329"/>
              </a:xfrm>
              <a:prstGeom prst="rect">
                <a:avLst/>
              </a:prstGeom>
              <a:noFill/>
              <a:ln w="9525">
                <a:noFill/>
                <a:miter lim="800000"/>
                <a:headEnd/>
                <a:tailEnd/>
              </a:ln>
            </p:spPr>
            <p:txBody>
              <a:bodyPr wrap="none">
                <a:spAutoFit/>
              </a:bodyPr>
              <a:lstStyle/>
              <a:p>
                <a:r>
                  <a:rPr lang="en-US">
                    <a:latin typeface="Calibri" pitchFamily="34" charset="0"/>
                  </a:rPr>
                  <a:t>W</a:t>
                </a:r>
                <a:r>
                  <a:rPr lang="en-US" baseline="-25000">
                    <a:latin typeface="Calibri" pitchFamily="34" charset="0"/>
                  </a:rPr>
                  <a:t>1</a:t>
                </a:r>
                <a:r>
                  <a:rPr lang="en-US">
                    <a:latin typeface="Calibri" pitchFamily="34" charset="0"/>
                  </a:rPr>
                  <a:t>’</a:t>
                </a:r>
              </a:p>
              <a:p>
                <a:r>
                  <a:rPr lang="en-US">
                    <a:latin typeface="Calibri" pitchFamily="34" charset="0"/>
                  </a:rPr>
                  <a:t>W</a:t>
                </a:r>
                <a:r>
                  <a:rPr lang="en-US" baseline="-25000">
                    <a:latin typeface="Calibri" pitchFamily="34" charset="0"/>
                  </a:rPr>
                  <a:t>2</a:t>
                </a:r>
                <a:r>
                  <a:rPr lang="en-US">
                    <a:latin typeface="Calibri" pitchFamily="34" charset="0"/>
                  </a:rPr>
                  <a:t>’</a:t>
                </a:r>
              </a:p>
              <a:p>
                <a:r>
                  <a:rPr lang="en-US">
                    <a:latin typeface="Calibri" pitchFamily="34" charset="0"/>
                  </a:rPr>
                  <a:t>W</a:t>
                </a:r>
                <a:r>
                  <a:rPr lang="en-US" baseline="-25000">
                    <a:latin typeface="Calibri" pitchFamily="34" charset="0"/>
                  </a:rPr>
                  <a:t>3</a:t>
                </a:r>
                <a:r>
                  <a:rPr lang="en-US">
                    <a:latin typeface="Calibri" pitchFamily="34" charset="0"/>
                  </a:rPr>
                  <a:t>’</a:t>
                </a:r>
              </a:p>
              <a:p>
                <a:r>
                  <a:rPr lang="en-US">
                    <a:latin typeface="Calibri" pitchFamily="34" charset="0"/>
                  </a:rPr>
                  <a:t>W</a:t>
                </a:r>
                <a:r>
                  <a:rPr lang="en-US" baseline="-25000">
                    <a:latin typeface="Calibri" pitchFamily="34" charset="0"/>
                  </a:rPr>
                  <a:t>4</a:t>
                </a:r>
                <a:r>
                  <a:rPr lang="en-US">
                    <a:latin typeface="Calibri" pitchFamily="34" charset="0"/>
                  </a:rPr>
                  <a:t>’</a:t>
                </a:r>
              </a:p>
            </p:txBody>
          </p:sp>
          <p:sp>
            <p:nvSpPr>
              <p:cNvPr id="24598" name="Double Bracket 18"/>
              <p:cNvSpPr>
                <a:spLocks noChangeArrowheads="1"/>
              </p:cNvSpPr>
              <p:nvPr/>
            </p:nvSpPr>
            <p:spPr bwMode="auto">
              <a:xfrm>
                <a:off x="2113614" y="1274163"/>
                <a:ext cx="575885" cy="1200329"/>
              </a:xfrm>
              <a:prstGeom prst="bracketPair">
                <a:avLst>
                  <a:gd name="adj" fmla="val 16667"/>
                </a:avLst>
              </a:prstGeom>
              <a:noFill/>
              <a:ln w="12700" algn="ctr">
                <a:solidFill>
                  <a:schemeClr val="tx1"/>
                </a:solidFill>
                <a:round/>
                <a:headEnd type="none" w="sm" len="sm"/>
                <a:tailEnd type="none" w="sm" len="sm"/>
              </a:ln>
            </p:spPr>
            <p:txBody>
              <a:bodyPr/>
              <a:lstStyle/>
              <a:p>
                <a:endParaRPr lang="en-US">
                  <a:latin typeface="Calibri" pitchFamily="34" charset="0"/>
                </a:endParaRPr>
              </a:p>
            </p:txBody>
          </p:sp>
        </p:grpSp>
        <p:cxnSp>
          <p:nvCxnSpPr>
            <p:cNvPr id="24590" name="Straight Connector 27"/>
            <p:cNvCxnSpPr>
              <a:cxnSpLocks noChangeShapeType="1"/>
            </p:cNvCxnSpPr>
            <p:nvPr/>
          </p:nvCxnSpPr>
          <p:spPr bwMode="auto">
            <a:xfrm>
              <a:off x="1131434" y="3822492"/>
              <a:ext cx="530915" cy="0"/>
            </a:xfrm>
            <a:prstGeom prst="line">
              <a:avLst/>
            </a:prstGeom>
            <a:noFill/>
            <a:ln w="12700" algn="ctr">
              <a:solidFill>
                <a:schemeClr val="tx1"/>
              </a:solidFill>
              <a:round/>
              <a:headEnd type="none" w="sm" len="sm"/>
              <a:tailEnd type="none" w="sm" len="sm"/>
            </a:ln>
          </p:spPr>
        </p:cxnSp>
        <p:grpSp>
          <p:nvGrpSpPr>
            <p:cNvPr id="7" name="Group 32"/>
            <p:cNvGrpSpPr>
              <a:grpSpLocks/>
            </p:cNvGrpSpPr>
            <p:nvPr/>
          </p:nvGrpSpPr>
          <p:grpSpPr bwMode="auto">
            <a:xfrm>
              <a:off x="2358275" y="3372792"/>
              <a:ext cx="1434236" cy="923330"/>
              <a:chOff x="2358275" y="3822492"/>
              <a:chExt cx="1434236" cy="923330"/>
            </a:xfrm>
          </p:grpSpPr>
          <p:sp>
            <p:nvSpPr>
              <p:cNvPr id="24594" name="TextBox 28"/>
              <p:cNvSpPr txBox="1">
                <a:spLocks noChangeArrowheads="1"/>
              </p:cNvSpPr>
              <p:nvPr/>
            </p:nvSpPr>
            <p:spPr bwMode="auto">
              <a:xfrm>
                <a:off x="2386566" y="3822492"/>
                <a:ext cx="1405945" cy="923330"/>
              </a:xfrm>
              <a:prstGeom prst="rect">
                <a:avLst/>
              </a:prstGeom>
              <a:noFill/>
              <a:ln w="9525">
                <a:noFill/>
                <a:miter lim="800000"/>
                <a:headEnd/>
                <a:tailEnd/>
              </a:ln>
            </p:spPr>
            <p:txBody>
              <a:bodyPr>
                <a:spAutoFit/>
              </a:bodyPr>
              <a:lstStyle/>
              <a:p>
                <a:r>
                  <a:rPr lang="en-US">
                    <a:latin typeface="Calibri" pitchFamily="34" charset="0"/>
                  </a:rPr>
                  <a:t>P</a:t>
                </a:r>
                <a:r>
                  <a:rPr lang="en-US" baseline="-25000">
                    <a:latin typeface="Calibri" pitchFamily="34" charset="0"/>
                  </a:rPr>
                  <a:t>12</a:t>
                </a:r>
                <a:r>
                  <a:rPr lang="en-US">
                    <a:latin typeface="Calibri" pitchFamily="34" charset="0"/>
                  </a:rPr>
                  <a:t>·L</a:t>
                </a:r>
                <a:r>
                  <a:rPr lang="en-US" baseline="-25000">
                    <a:latin typeface="Calibri" pitchFamily="34" charset="0"/>
                  </a:rPr>
                  <a:t>12</a:t>
                </a:r>
                <a:r>
                  <a:rPr lang="en-US">
                    <a:latin typeface="Calibri" pitchFamily="34" charset="0"/>
                  </a:rPr>
                  <a:t>·U</a:t>
                </a:r>
                <a:r>
                  <a:rPr lang="en-US" baseline="-25000">
                    <a:latin typeface="Calibri" pitchFamily="34" charset="0"/>
                  </a:rPr>
                  <a:t>12</a:t>
                </a:r>
              </a:p>
              <a:p>
                <a:endParaRPr lang="en-US">
                  <a:latin typeface="Calibri" pitchFamily="34" charset="0"/>
                </a:endParaRPr>
              </a:p>
              <a:p>
                <a:r>
                  <a:rPr lang="en-US">
                    <a:latin typeface="Calibri" pitchFamily="34" charset="0"/>
                  </a:rPr>
                  <a:t>P</a:t>
                </a:r>
                <a:r>
                  <a:rPr lang="en-US" baseline="-25000">
                    <a:latin typeface="Calibri" pitchFamily="34" charset="0"/>
                  </a:rPr>
                  <a:t>34</a:t>
                </a:r>
                <a:r>
                  <a:rPr lang="en-US">
                    <a:latin typeface="Calibri" pitchFamily="34" charset="0"/>
                  </a:rPr>
                  <a:t>·L</a:t>
                </a:r>
                <a:r>
                  <a:rPr lang="en-US" baseline="-25000">
                    <a:latin typeface="Calibri" pitchFamily="34" charset="0"/>
                  </a:rPr>
                  <a:t>34</a:t>
                </a:r>
                <a:r>
                  <a:rPr lang="en-US">
                    <a:latin typeface="Calibri" pitchFamily="34" charset="0"/>
                  </a:rPr>
                  <a:t>·U</a:t>
                </a:r>
                <a:r>
                  <a:rPr lang="en-US" baseline="-25000">
                    <a:latin typeface="Calibri" pitchFamily="34" charset="0"/>
                  </a:rPr>
                  <a:t>34</a:t>
                </a:r>
              </a:p>
            </p:txBody>
          </p:sp>
          <p:sp>
            <p:nvSpPr>
              <p:cNvPr id="24595" name="Double Bracket 29"/>
              <p:cNvSpPr>
                <a:spLocks noChangeArrowheads="1"/>
              </p:cNvSpPr>
              <p:nvPr/>
            </p:nvSpPr>
            <p:spPr bwMode="auto">
              <a:xfrm>
                <a:off x="2358275" y="3831422"/>
                <a:ext cx="1434236" cy="914400"/>
              </a:xfrm>
              <a:prstGeom prst="bracketPair">
                <a:avLst>
                  <a:gd name="adj" fmla="val 16667"/>
                </a:avLst>
              </a:prstGeom>
              <a:noFill/>
              <a:ln w="12700" algn="ctr">
                <a:solidFill>
                  <a:schemeClr val="tx1"/>
                </a:solidFill>
                <a:round/>
                <a:headEnd type="none" w="sm" len="sm"/>
                <a:tailEnd type="none" w="sm" len="sm"/>
              </a:ln>
            </p:spPr>
            <p:txBody>
              <a:bodyPr/>
              <a:lstStyle/>
              <a:p>
                <a:endParaRPr lang="en-US">
                  <a:latin typeface="Calibri" pitchFamily="34" charset="0"/>
                </a:endParaRPr>
              </a:p>
            </p:txBody>
          </p:sp>
          <p:cxnSp>
            <p:nvCxnSpPr>
              <p:cNvPr id="24596" name="Straight Connector 31"/>
              <p:cNvCxnSpPr>
                <a:cxnSpLocks noChangeShapeType="1"/>
              </p:cNvCxnSpPr>
              <p:nvPr/>
            </p:nvCxnSpPr>
            <p:spPr bwMode="auto">
              <a:xfrm>
                <a:off x="2386566" y="4305793"/>
                <a:ext cx="1390955" cy="0"/>
              </a:xfrm>
              <a:prstGeom prst="line">
                <a:avLst/>
              </a:prstGeom>
              <a:noFill/>
              <a:ln w="12700" algn="ctr">
                <a:solidFill>
                  <a:schemeClr val="tx1"/>
                </a:solidFill>
                <a:round/>
                <a:headEnd type="none" w="sm" len="sm"/>
                <a:tailEnd type="none" w="sm" len="sm"/>
              </a:ln>
            </p:spPr>
          </p:cxnSp>
        </p:grpSp>
        <p:sp>
          <p:nvSpPr>
            <p:cNvPr id="24592" name="TextBox 33"/>
            <p:cNvSpPr txBox="1">
              <a:spLocks noChangeArrowheads="1"/>
            </p:cNvSpPr>
            <p:nvPr/>
          </p:nvSpPr>
          <p:spPr bwMode="auto">
            <a:xfrm>
              <a:off x="1875872" y="3637826"/>
              <a:ext cx="319318" cy="369332"/>
            </a:xfrm>
            <a:prstGeom prst="rect">
              <a:avLst/>
            </a:prstGeom>
            <a:noFill/>
            <a:ln w="9525">
              <a:noFill/>
              <a:miter lim="800000"/>
              <a:headEnd/>
              <a:tailEnd/>
            </a:ln>
          </p:spPr>
          <p:txBody>
            <a:bodyPr wrap="none">
              <a:spAutoFit/>
            </a:bodyPr>
            <a:lstStyle/>
            <a:p>
              <a:r>
                <a:rPr lang="en-US">
                  <a:latin typeface="Calibri" pitchFamily="34" charset="0"/>
                </a:rPr>
                <a:t>=</a:t>
              </a:r>
            </a:p>
          </p:txBody>
        </p:sp>
        <p:sp>
          <p:nvSpPr>
            <p:cNvPr id="24593" name="TextBox 34"/>
            <p:cNvSpPr txBox="1">
              <a:spLocks noChangeArrowheads="1"/>
            </p:cNvSpPr>
            <p:nvPr/>
          </p:nvSpPr>
          <p:spPr bwMode="auto">
            <a:xfrm>
              <a:off x="4027907" y="3452394"/>
              <a:ext cx="3154990" cy="831122"/>
            </a:xfrm>
            <a:prstGeom prst="rect">
              <a:avLst/>
            </a:prstGeom>
            <a:noFill/>
            <a:ln w="9525">
              <a:noFill/>
              <a:miter lim="800000"/>
              <a:headEnd/>
              <a:tailEnd/>
            </a:ln>
          </p:spPr>
          <p:txBody>
            <a:bodyPr wrap="none">
              <a:spAutoFit/>
            </a:bodyPr>
            <a:lstStyle/>
            <a:p>
              <a:r>
                <a:rPr lang="en-US" sz="1600" dirty="0">
                  <a:latin typeface="Calibri" pitchFamily="34" charset="0"/>
                </a:rPr>
                <a:t>Choose b pivot rows, call them W</a:t>
              </a:r>
              <a:r>
                <a:rPr lang="en-US" sz="1600" baseline="-25000" dirty="0">
                  <a:latin typeface="Calibri" pitchFamily="34" charset="0"/>
                </a:rPr>
                <a:t>12</a:t>
              </a:r>
              <a:r>
                <a:rPr lang="en-US" sz="1600" dirty="0">
                  <a:latin typeface="Calibri" pitchFamily="34" charset="0"/>
                </a:rPr>
                <a:t>’</a:t>
              </a:r>
            </a:p>
            <a:p>
              <a:endParaRPr lang="en-US" sz="1600" dirty="0">
                <a:latin typeface="Calibri" pitchFamily="34" charset="0"/>
              </a:endParaRPr>
            </a:p>
            <a:p>
              <a:r>
                <a:rPr lang="en-US" sz="1600" dirty="0" smtClean="0">
                  <a:latin typeface="Calibri" pitchFamily="34" charset="0"/>
                </a:rPr>
                <a:t>Ditto, yielding </a:t>
              </a:r>
              <a:r>
                <a:rPr lang="en-US" sz="1600" dirty="0">
                  <a:latin typeface="Calibri" pitchFamily="34" charset="0"/>
                </a:rPr>
                <a:t>W</a:t>
              </a:r>
              <a:r>
                <a:rPr lang="en-US" sz="1600" baseline="-25000" dirty="0">
                  <a:latin typeface="Calibri" pitchFamily="34" charset="0"/>
                </a:rPr>
                <a:t>34</a:t>
              </a:r>
              <a:r>
                <a:rPr lang="en-US" sz="1600" dirty="0">
                  <a:latin typeface="Calibri" pitchFamily="34" charset="0"/>
                </a:rPr>
                <a:t>’</a:t>
              </a:r>
            </a:p>
          </p:txBody>
        </p:sp>
      </p:grpSp>
      <p:grpSp>
        <p:nvGrpSpPr>
          <p:cNvPr id="8" name="Group 42"/>
          <p:cNvGrpSpPr>
            <a:grpSpLocks/>
          </p:cNvGrpSpPr>
          <p:nvPr/>
        </p:nvGrpSpPr>
        <p:grpSpPr bwMode="auto">
          <a:xfrm>
            <a:off x="1766888" y="4413250"/>
            <a:ext cx="5091112" cy="766763"/>
            <a:chOff x="1767677" y="4338775"/>
            <a:chExt cx="5090842" cy="766251"/>
          </a:xfrm>
        </p:grpSpPr>
        <p:grpSp>
          <p:nvGrpSpPr>
            <p:cNvPr id="9" name="Group 38"/>
            <p:cNvGrpSpPr>
              <a:grpSpLocks/>
            </p:cNvGrpSpPr>
            <p:nvPr/>
          </p:nvGrpSpPr>
          <p:grpSpPr bwMode="auto">
            <a:xfrm>
              <a:off x="1767677" y="4338775"/>
              <a:ext cx="623889" cy="646331"/>
              <a:chOff x="2358275" y="4661941"/>
              <a:chExt cx="623889" cy="646331"/>
            </a:xfrm>
          </p:grpSpPr>
          <p:sp>
            <p:nvSpPr>
              <p:cNvPr id="24587" name="TextBox 36"/>
              <p:cNvSpPr txBox="1">
                <a:spLocks noChangeArrowheads="1"/>
              </p:cNvSpPr>
              <p:nvPr/>
            </p:nvSpPr>
            <p:spPr bwMode="auto">
              <a:xfrm>
                <a:off x="2358275" y="4661941"/>
                <a:ext cx="623889" cy="646331"/>
              </a:xfrm>
              <a:prstGeom prst="rect">
                <a:avLst/>
              </a:prstGeom>
              <a:noFill/>
              <a:ln w="9525">
                <a:noFill/>
                <a:miter lim="800000"/>
                <a:headEnd/>
                <a:tailEnd/>
              </a:ln>
            </p:spPr>
            <p:txBody>
              <a:bodyPr wrap="none">
                <a:spAutoFit/>
              </a:bodyPr>
              <a:lstStyle/>
              <a:p>
                <a:r>
                  <a:rPr lang="en-US">
                    <a:latin typeface="Calibri" pitchFamily="34" charset="0"/>
                  </a:rPr>
                  <a:t>W</a:t>
                </a:r>
                <a:r>
                  <a:rPr lang="en-US" baseline="-25000">
                    <a:latin typeface="Calibri" pitchFamily="34" charset="0"/>
                  </a:rPr>
                  <a:t>12</a:t>
                </a:r>
                <a:r>
                  <a:rPr lang="en-US">
                    <a:latin typeface="Calibri" pitchFamily="34" charset="0"/>
                  </a:rPr>
                  <a:t>’</a:t>
                </a:r>
              </a:p>
              <a:p>
                <a:r>
                  <a:rPr lang="en-US">
                    <a:latin typeface="Calibri" pitchFamily="34" charset="0"/>
                  </a:rPr>
                  <a:t>W</a:t>
                </a:r>
                <a:r>
                  <a:rPr lang="en-US" baseline="-25000">
                    <a:latin typeface="Calibri" pitchFamily="34" charset="0"/>
                  </a:rPr>
                  <a:t>34</a:t>
                </a:r>
                <a:r>
                  <a:rPr lang="en-US">
                    <a:latin typeface="Calibri" pitchFamily="34" charset="0"/>
                  </a:rPr>
                  <a:t>’</a:t>
                </a:r>
              </a:p>
            </p:txBody>
          </p:sp>
          <p:sp>
            <p:nvSpPr>
              <p:cNvPr id="24588" name="Double Bracket 37"/>
              <p:cNvSpPr>
                <a:spLocks noChangeArrowheads="1"/>
              </p:cNvSpPr>
              <p:nvPr/>
            </p:nvSpPr>
            <p:spPr bwMode="auto">
              <a:xfrm>
                <a:off x="2358275" y="4661941"/>
                <a:ext cx="623889" cy="646331"/>
              </a:xfrm>
              <a:prstGeom prst="bracketPair">
                <a:avLst>
                  <a:gd name="adj" fmla="val 16667"/>
                </a:avLst>
              </a:prstGeom>
              <a:noFill/>
              <a:ln w="12700" algn="ctr">
                <a:solidFill>
                  <a:schemeClr val="tx1"/>
                </a:solidFill>
                <a:round/>
                <a:headEnd type="none" w="sm" len="sm"/>
                <a:tailEnd type="none" w="sm" len="sm"/>
              </a:ln>
            </p:spPr>
            <p:txBody>
              <a:bodyPr/>
              <a:lstStyle/>
              <a:p>
                <a:endParaRPr lang="en-US">
                  <a:latin typeface="Calibri" pitchFamily="34" charset="0"/>
                </a:endParaRPr>
              </a:p>
            </p:txBody>
          </p:sp>
        </p:grpSp>
        <p:sp>
          <p:nvSpPr>
            <p:cNvPr id="24585" name="TextBox 39"/>
            <p:cNvSpPr txBox="1">
              <a:spLocks noChangeArrowheads="1"/>
            </p:cNvSpPr>
            <p:nvPr/>
          </p:nvSpPr>
          <p:spPr bwMode="auto">
            <a:xfrm>
              <a:off x="2590800" y="4458695"/>
              <a:ext cx="2236510" cy="646331"/>
            </a:xfrm>
            <a:prstGeom prst="rect">
              <a:avLst/>
            </a:prstGeom>
            <a:noFill/>
            <a:ln w="9525">
              <a:noFill/>
              <a:miter lim="800000"/>
              <a:headEnd/>
              <a:tailEnd/>
            </a:ln>
          </p:spPr>
          <p:txBody>
            <a:bodyPr wrap="none">
              <a:spAutoFit/>
            </a:bodyPr>
            <a:lstStyle/>
            <a:p>
              <a:r>
                <a:rPr lang="en-US">
                  <a:latin typeface="Calibri" pitchFamily="34" charset="0"/>
                </a:rPr>
                <a:t>=     P</a:t>
              </a:r>
              <a:r>
                <a:rPr lang="en-US" baseline="-25000">
                  <a:latin typeface="Calibri" pitchFamily="34" charset="0"/>
                </a:rPr>
                <a:t>1234</a:t>
              </a:r>
              <a:r>
                <a:rPr lang="en-US">
                  <a:latin typeface="Calibri" pitchFamily="34" charset="0"/>
                </a:rPr>
                <a:t>·L</a:t>
              </a:r>
              <a:r>
                <a:rPr lang="en-US" baseline="-25000">
                  <a:latin typeface="Calibri" pitchFamily="34" charset="0"/>
                </a:rPr>
                <a:t>1234</a:t>
              </a:r>
              <a:r>
                <a:rPr lang="en-US">
                  <a:latin typeface="Calibri" pitchFamily="34" charset="0"/>
                </a:rPr>
                <a:t>·U</a:t>
              </a:r>
              <a:r>
                <a:rPr lang="en-US" baseline="-25000">
                  <a:latin typeface="Calibri" pitchFamily="34" charset="0"/>
                </a:rPr>
                <a:t>1234</a:t>
              </a:r>
            </a:p>
            <a:p>
              <a:r>
                <a:rPr lang="en-US">
                  <a:latin typeface="Calibri" pitchFamily="34" charset="0"/>
                </a:rPr>
                <a:t> </a:t>
              </a:r>
            </a:p>
          </p:txBody>
        </p:sp>
        <p:sp>
          <p:nvSpPr>
            <p:cNvPr id="24586" name="TextBox 40"/>
            <p:cNvSpPr txBox="1">
              <a:spLocks noChangeArrowheads="1"/>
            </p:cNvSpPr>
            <p:nvPr/>
          </p:nvSpPr>
          <p:spPr bwMode="auto">
            <a:xfrm>
              <a:off x="4815972" y="4548635"/>
              <a:ext cx="2042547" cy="338554"/>
            </a:xfrm>
            <a:prstGeom prst="rect">
              <a:avLst/>
            </a:prstGeom>
            <a:noFill/>
            <a:ln w="9525">
              <a:noFill/>
              <a:miter lim="800000"/>
              <a:headEnd/>
              <a:tailEnd/>
            </a:ln>
          </p:spPr>
          <p:txBody>
            <a:bodyPr wrap="none">
              <a:spAutoFit/>
            </a:bodyPr>
            <a:lstStyle/>
            <a:p>
              <a:r>
                <a:rPr lang="en-US" sz="1600" dirty="0">
                  <a:latin typeface="Calibri" pitchFamily="34" charset="0"/>
                </a:rPr>
                <a:t>Choose b pivot rows</a:t>
              </a:r>
            </a:p>
          </p:txBody>
        </p:sp>
      </p:grpSp>
      <p:sp>
        <p:nvSpPr>
          <p:cNvPr id="44" name="TextBox 43"/>
          <p:cNvSpPr txBox="1">
            <a:spLocks noChangeArrowheads="1"/>
          </p:cNvSpPr>
          <p:nvPr/>
        </p:nvSpPr>
        <p:spPr bwMode="auto">
          <a:xfrm>
            <a:off x="1676400" y="5257800"/>
            <a:ext cx="5816977" cy="830997"/>
          </a:xfrm>
          <a:prstGeom prst="rect">
            <a:avLst/>
          </a:prstGeom>
          <a:noFill/>
          <a:ln w="9525">
            <a:noFill/>
            <a:miter lim="800000"/>
            <a:headEnd/>
            <a:tailEnd/>
          </a:ln>
        </p:spPr>
        <p:txBody>
          <a:bodyPr wrap="none">
            <a:spAutoFit/>
          </a:bodyPr>
          <a:lstStyle/>
          <a:p>
            <a:pPr>
              <a:buFont typeface="Arial" pitchFamily="34" charset="0"/>
              <a:buChar char="•"/>
            </a:pPr>
            <a:r>
              <a:rPr lang="en-US" sz="2400" dirty="0">
                <a:latin typeface="Calibri" pitchFamily="34" charset="0"/>
              </a:rPr>
              <a:t> Go back to W and use these b pivot rows </a:t>
            </a:r>
          </a:p>
          <a:p>
            <a:r>
              <a:rPr lang="en-US" sz="2400" dirty="0">
                <a:latin typeface="Calibri" pitchFamily="34" charset="0"/>
              </a:rPr>
              <a:t>   (move them to top, do LU </a:t>
            </a:r>
            <a:r>
              <a:rPr lang="en-US" sz="2400" dirty="0" smtClean="0">
                <a:latin typeface="Calibri" pitchFamily="34" charset="0"/>
              </a:rPr>
              <a:t>without pivoting)</a:t>
            </a:r>
            <a:endParaRPr lang="en-US" sz="2400" dirty="0">
              <a:latin typeface="Calibri" pitchFamily="34" charset="0"/>
            </a:endParaRPr>
          </a:p>
        </p:txBody>
      </p:sp>
    </p:spTree>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Collaborators</a:t>
            </a:r>
            <a:endParaRPr lang="en-US" dirty="0"/>
          </a:p>
        </p:txBody>
      </p:sp>
      <p:sp>
        <p:nvSpPr>
          <p:cNvPr id="3" name="Content Placeholder 2"/>
          <p:cNvSpPr>
            <a:spLocks noGrp="1"/>
          </p:cNvSpPr>
          <p:nvPr>
            <p:ph idx="1"/>
          </p:nvPr>
        </p:nvSpPr>
        <p:spPr/>
        <p:txBody>
          <a:bodyPr/>
          <a:lstStyle/>
          <a:p>
            <a:r>
              <a:rPr lang="en-US" dirty="0" smtClean="0"/>
              <a:t>Katherine </a:t>
            </a:r>
            <a:r>
              <a:rPr lang="en-US" dirty="0" err="1" smtClean="0"/>
              <a:t>Yelick</a:t>
            </a:r>
            <a:r>
              <a:rPr lang="en-US" dirty="0" smtClean="0"/>
              <a:t>, Michael Anderson, Grey Ballard, Erin Carson, </a:t>
            </a:r>
            <a:r>
              <a:rPr lang="en-US" dirty="0" err="1" smtClean="0"/>
              <a:t>Ioana</a:t>
            </a:r>
            <a:r>
              <a:rPr lang="en-US" dirty="0" smtClean="0"/>
              <a:t> </a:t>
            </a:r>
            <a:r>
              <a:rPr lang="en-US" dirty="0" err="1" smtClean="0"/>
              <a:t>Dumitriu</a:t>
            </a:r>
            <a:r>
              <a:rPr lang="en-US" dirty="0" smtClean="0"/>
              <a:t>, Laura </a:t>
            </a:r>
            <a:r>
              <a:rPr lang="en-US" dirty="0" err="1" smtClean="0"/>
              <a:t>Grigori</a:t>
            </a:r>
            <a:r>
              <a:rPr lang="en-US" dirty="0" smtClean="0"/>
              <a:t>, Mark </a:t>
            </a:r>
            <a:r>
              <a:rPr lang="en-US" dirty="0" err="1" smtClean="0"/>
              <a:t>Hoemmen</a:t>
            </a:r>
            <a:r>
              <a:rPr lang="en-US" dirty="0" smtClean="0"/>
              <a:t>, Olga Holtz, Kurt </a:t>
            </a:r>
            <a:r>
              <a:rPr lang="en-US" dirty="0" err="1" smtClean="0"/>
              <a:t>Keutzer</a:t>
            </a:r>
            <a:r>
              <a:rPr lang="en-US" dirty="0" smtClean="0"/>
              <a:t>, Nicholas Knight, </a:t>
            </a:r>
            <a:r>
              <a:rPr lang="en-US" dirty="0" err="1" smtClean="0"/>
              <a:t>Julien</a:t>
            </a:r>
            <a:r>
              <a:rPr lang="en-US" dirty="0" smtClean="0"/>
              <a:t> </a:t>
            </a:r>
            <a:r>
              <a:rPr lang="en-US" dirty="0" err="1" smtClean="0"/>
              <a:t>Langou</a:t>
            </a:r>
            <a:r>
              <a:rPr lang="en-US" dirty="0" smtClean="0"/>
              <a:t>, </a:t>
            </a:r>
            <a:r>
              <a:rPr lang="en-US" dirty="0" err="1" smtClean="0"/>
              <a:t>Marghoob</a:t>
            </a:r>
            <a:r>
              <a:rPr lang="en-US" dirty="0" smtClean="0"/>
              <a:t> </a:t>
            </a:r>
            <a:r>
              <a:rPr lang="en-US" dirty="0" err="1" smtClean="0"/>
              <a:t>Mohiyuddin</a:t>
            </a:r>
            <a:r>
              <a:rPr lang="en-US" dirty="0" smtClean="0"/>
              <a:t>, </a:t>
            </a:r>
            <a:r>
              <a:rPr lang="en-US" dirty="0" err="1" smtClean="0"/>
              <a:t>Oded</a:t>
            </a:r>
            <a:r>
              <a:rPr lang="en-US" dirty="0" smtClean="0"/>
              <a:t> Schwartz, Edgar </a:t>
            </a:r>
            <a:r>
              <a:rPr lang="en-US" dirty="0" err="1" smtClean="0"/>
              <a:t>Solomonik</a:t>
            </a:r>
            <a:r>
              <a:rPr lang="en-US" dirty="0" smtClean="0"/>
              <a:t>, </a:t>
            </a:r>
            <a:r>
              <a:rPr lang="en-US" dirty="0" err="1" smtClean="0"/>
              <a:t>Vasily</a:t>
            </a:r>
            <a:r>
              <a:rPr lang="en-US" dirty="0" smtClean="0"/>
              <a:t> </a:t>
            </a:r>
            <a:r>
              <a:rPr lang="en-US" dirty="0" err="1" smtClean="0"/>
              <a:t>Volkok</a:t>
            </a:r>
            <a:r>
              <a:rPr lang="en-US" dirty="0" smtClean="0"/>
              <a:t>, Sam Williams, </a:t>
            </a:r>
            <a:r>
              <a:rPr lang="en-US" dirty="0" err="1" smtClean="0"/>
              <a:t>Hua</a:t>
            </a:r>
            <a:r>
              <a:rPr lang="en-US" dirty="0" smtClean="0"/>
              <a:t> Xiang</a:t>
            </a:r>
            <a:endParaRPr lang="en-US" dirty="0"/>
          </a:p>
        </p:txBody>
      </p:sp>
    </p:spTree>
  </p:cSld>
  <p:clrMapOvr>
    <a:masterClrMapping/>
  </p:clrMapOvr>
  <p:timing>
    <p:tnLst>
      <p:par>
        <p:cTn xmlns:p14="http://schemas.microsoft.com/office/powerpoint/2010/mai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0725" name="Title 1"/>
          <p:cNvSpPr>
            <a:spLocks noGrp="1"/>
          </p:cNvSpPr>
          <p:nvPr>
            <p:ph type="title"/>
          </p:nvPr>
        </p:nvSpPr>
        <p:spPr>
          <a:xfrm>
            <a:off x="779463" y="112712"/>
            <a:ext cx="7296150" cy="801688"/>
          </a:xfrm>
        </p:spPr>
        <p:txBody>
          <a:bodyPr>
            <a:noAutofit/>
          </a:bodyPr>
          <a:lstStyle/>
          <a:p>
            <a:pPr algn="ctr"/>
            <a:r>
              <a:rPr lang="en-US" sz="3200" dirty="0" smtClean="0"/>
              <a:t>Summary of dense </a:t>
            </a:r>
            <a:r>
              <a:rPr lang="en-US" sz="3200" i="1" u="sng" dirty="0" smtClean="0"/>
              <a:t>parallel</a:t>
            </a:r>
            <a:r>
              <a:rPr lang="en-US" sz="3200" dirty="0" smtClean="0"/>
              <a:t> algorithms </a:t>
            </a:r>
            <a:br>
              <a:rPr lang="en-US" sz="3200" dirty="0" smtClean="0"/>
            </a:br>
            <a:r>
              <a:rPr lang="en-US" sz="3200" dirty="0" smtClean="0"/>
              <a:t>attaining communication lower bounds</a:t>
            </a:r>
          </a:p>
        </p:txBody>
      </p:sp>
      <p:sp>
        <p:nvSpPr>
          <p:cNvPr id="4" name="Slide Number Placeholder 3"/>
          <p:cNvSpPr>
            <a:spLocks noGrp="1"/>
          </p:cNvSpPr>
          <p:nvPr>
            <p:ph type="sldNum" sz="quarter" idx="11"/>
          </p:nvPr>
        </p:nvSpPr>
        <p:spPr>
          <a:xfrm>
            <a:off x="9832975" y="6400800"/>
            <a:ext cx="1905000" cy="457200"/>
          </a:xfrm>
        </p:spPr>
        <p:txBody>
          <a:bodyPr/>
          <a:lstStyle/>
          <a:p>
            <a:pPr>
              <a:defRPr/>
            </a:pPr>
            <a:fld id="{1110692E-4516-4640-ACA1-F899B3563FBA}" type="slidenum">
              <a:rPr lang="en-US" smtClean="0"/>
              <a:pPr>
                <a:defRPr/>
              </a:pPr>
              <a:t>94</a:t>
            </a:fld>
            <a:endParaRPr lang="en-US" dirty="0"/>
          </a:p>
        </p:txBody>
      </p:sp>
      <p:sp>
        <p:nvSpPr>
          <p:cNvPr id="30727" name="Rectangle 11"/>
          <p:cNvSpPr>
            <a:spLocks noChangeArrowheads="1"/>
          </p:cNvSpPr>
          <p:nvPr/>
        </p:nvSpPr>
        <p:spPr bwMode="auto">
          <a:xfrm>
            <a:off x="6796088" y="4476750"/>
            <a:ext cx="1843087" cy="282575"/>
          </a:xfrm>
          <a:prstGeom prst="rect">
            <a:avLst/>
          </a:prstGeom>
          <a:solidFill>
            <a:schemeClr val="bg1"/>
          </a:solidFill>
          <a:ln w="12700" algn="ctr">
            <a:noFill/>
            <a:round/>
            <a:headEnd type="none" w="sm" len="sm"/>
            <a:tailEnd type="none" w="sm" len="sm"/>
          </a:ln>
        </p:spPr>
        <p:txBody>
          <a:bodyPr/>
          <a:lstStyle/>
          <a:p>
            <a:pPr eaLnBrk="0" hangingPunct="0"/>
            <a:endParaRPr lang="en-US"/>
          </a:p>
        </p:txBody>
      </p:sp>
      <p:sp>
        <p:nvSpPr>
          <p:cNvPr id="30728" name="Rectangle 12"/>
          <p:cNvSpPr>
            <a:spLocks noChangeArrowheads="1"/>
          </p:cNvSpPr>
          <p:nvPr/>
        </p:nvSpPr>
        <p:spPr bwMode="auto">
          <a:xfrm>
            <a:off x="6861175" y="5118100"/>
            <a:ext cx="1843088" cy="282575"/>
          </a:xfrm>
          <a:prstGeom prst="rect">
            <a:avLst/>
          </a:prstGeom>
          <a:solidFill>
            <a:schemeClr val="bg1"/>
          </a:solidFill>
          <a:ln w="12700" algn="ctr">
            <a:noFill/>
            <a:round/>
            <a:headEnd type="none" w="sm" len="sm"/>
            <a:tailEnd type="none" w="sm" len="sm"/>
          </a:ln>
        </p:spPr>
        <p:txBody>
          <a:bodyPr/>
          <a:lstStyle/>
          <a:p>
            <a:pPr eaLnBrk="0" hangingPunct="0"/>
            <a:endParaRPr lang="en-US"/>
          </a:p>
        </p:txBody>
      </p:sp>
      <p:sp>
        <p:nvSpPr>
          <p:cNvPr id="30729" name="Rectangle 13"/>
          <p:cNvSpPr>
            <a:spLocks noChangeArrowheads="1"/>
          </p:cNvSpPr>
          <p:nvPr/>
        </p:nvSpPr>
        <p:spPr bwMode="auto">
          <a:xfrm>
            <a:off x="6778625" y="5773738"/>
            <a:ext cx="1843088" cy="280987"/>
          </a:xfrm>
          <a:prstGeom prst="rect">
            <a:avLst/>
          </a:prstGeom>
          <a:solidFill>
            <a:schemeClr val="bg1"/>
          </a:solidFill>
          <a:ln w="12700" algn="ctr">
            <a:noFill/>
            <a:round/>
            <a:headEnd type="none" w="sm" len="sm"/>
            <a:tailEnd type="none" w="sm" len="sm"/>
          </a:ln>
        </p:spPr>
        <p:txBody>
          <a:bodyPr/>
          <a:lstStyle/>
          <a:p>
            <a:pPr eaLnBrk="0" hangingPunct="0"/>
            <a:endParaRPr lang="en-US"/>
          </a:p>
        </p:txBody>
      </p:sp>
      <p:sp>
        <p:nvSpPr>
          <p:cNvPr id="30730" name="Rectangle 14"/>
          <p:cNvSpPr>
            <a:spLocks noChangeArrowheads="1"/>
          </p:cNvSpPr>
          <p:nvPr/>
        </p:nvSpPr>
        <p:spPr bwMode="auto">
          <a:xfrm>
            <a:off x="6778625" y="6400800"/>
            <a:ext cx="1843088" cy="280988"/>
          </a:xfrm>
          <a:prstGeom prst="rect">
            <a:avLst/>
          </a:prstGeom>
          <a:solidFill>
            <a:schemeClr val="bg1"/>
          </a:solidFill>
          <a:ln w="12700" algn="ctr">
            <a:noFill/>
            <a:round/>
            <a:headEnd type="none" w="sm" len="sm"/>
            <a:tailEnd type="none" w="sm" len="sm"/>
          </a:ln>
        </p:spPr>
        <p:txBody>
          <a:bodyPr/>
          <a:lstStyle/>
          <a:p>
            <a:pPr eaLnBrk="0" hangingPunct="0"/>
            <a:endParaRPr lang="en-US"/>
          </a:p>
        </p:txBody>
      </p:sp>
      <p:sp>
        <p:nvSpPr>
          <p:cNvPr id="30731" name="TextBox 7"/>
          <p:cNvSpPr txBox="1">
            <a:spLocks noChangeArrowheads="1"/>
          </p:cNvSpPr>
          <p:nvPr/>
        </p:nvSpPr>
        <p:spPr bwMode="auto">
          <a:xfrm>
            <a:off x="296103" y="1032808"/>
            <a:ext cx="8771697" cy="1938992"/>
          </a:xfrm>
          <a:prstGeom prst="rect">
            <a:avLst/>
          </a:prstGeom>
          <a:noFill/>
          <a:ln w="9525">
            <a:noFill/>
            <a:miter lim="800000"/>
            <a:headEnd/>
            <a:tailEnd/>
          </a:ln>
        </p:spPr>
        <p:txBody>
          <a:bodyPr wrap="none">
            <a:spAutoFit/>
          </a:bodyPr>
          <a:lstStyle/>
          <a:p>
            <a:pPr>
              <a:buFont typeface="Arial" pitchFamily="34" charset="0"/>
              <a:buChar char="•"/>
            </a:pPr>
            <a:r>
              <a:rPr lang="en-US" b="0" dirty="0">
                <a:solidFill>
                  <a:schemeClr val="tx1"/>
                </a:solidFill>
              </a:rPr>
              <a:t>  </a:t>
            </a:r>
            <a:r>
              <a:rPr lang="en-US" b="0" dirty="0" smtClean="0">
                <a:solidFill>
                  <a:schemeClr val="tx1"/>
                </a:solidFill>
              </a:rPr>
              <a:t> </a:t>
            </a:r>
            <a:r>
              <a:rPr lang="en-US" sz="2400" b="0" dirty="0" smtClean="0">
                <a:solidFill>
                  <a:schemeClr val="tx1"/>
                </a:solidFill>
              </a:rPr>
              <a:t>Assume </a:t>
            </a:r>
            <a:r>
              <a:rPr lang="en-US" sz="2400" b="0" dirty="0" err="1">
                <a:solidFill>
                  <a:schemeClr val="tx1"/>
                </a:solidFill>
              </a:rPr>
              <a:t>nxn</a:t>
            </a:r>
            <a:r>
              <a:rPr lang="en-US" sz="2400" b="0" dirty="0">
                <a:solidFill>
                  <a:schemeClr val="tx1"/>
                </a:solidFill>
              </a:rPr>
              <a:t> matrices on P </a:t>
            </a:r>
            <a:r>
              <a:rPr lang="en-US" sz="2400" b="0" dirty="0" smtClean="0">
                <a:solidFill>
                  <a:schemeClr val="tx1"/>
                </a:solidFill>
              </a:rPr>
              <a:t>processors</a:t>
            </a:r>
          </a:p>
          <a:p>
            <a:pPr>
              <a:buFont typeface="Arial" pitchFamily="34" charset="0"/>
              <a:buChar char="•"/>
            </a:pPr>
            <a:r>
              <a:rPr lang="en-US" sz="2400" dirty="0" smtClean="0"/>
              <a:t>  M</a:t>
            </a:r>
            <a:r>
              <a:rPr lang="en-US" sz="2400" b="0" dirty="0" smtClean="0">
                <a:solidFill>
                  <a:schemeClr val="tx1"/>
                </a:solidFill>
              </a:rPr>
              <a:t>emory </a:t>
            </a:r>
            <a:r>
              <a:rPr lang="en-US" sz="2400" b="0" dirty="0">
                <a:solidFill>
                  <a:schemeClr val="tx1"/>
                </a:solidFill>
              </a:rPr>
              <a:t>per processor = </a:t>
            </a:r>
            <a:r>
              <a:rPr lang="en-US" sz="2400" b="0" dirty="0" smtClean="0">
                <a:solidFill>
                  <a:schemeClr val="tx1"/>
                </a:solidFill>
              </a:rPr>
              <a:t> M = O(n</a:t>
            </a:r>
            <a:r>
              <a:rPr lang="en-US" sz="3200" b="0" baseline="30000" dirty="0" smtClean="0">
                <a:solidFill>
                  <a:schemeClr val="tx1"/>
                </a:solidFill>
              </a:rPr>
              <a:t>2</a:t>
            </a:r>
            <a:r>
              <a:rPr lang="en-US" sz="2400" b="0" dirty="0" smtClean="0">
                <a:solidFill>
                  <a:schemeClr val="tx1"/>
                </a:solidFill>
              </a:rPr>
              <a:t> </a:t>
            </a:r>
            <a:r>
              <a:rPr lang="en-US" sz="2400" b="0" dirty="0">
                <a:solidFill>
                  <a:schemeClr val="tx1"/>
                </a:solidFill>
              </a:rPr>
              <a:t>/ P</a:t>
            </a:r>
            <a:r>
              <a:rPr lang="en-US" sz="2400" b="0" dirty="0" smtClean="0">
                <a:solidFill>
                  <a:schemeClr val="tx1"/>
                </a:solidFill>
              </a:rPr>
              <a:t>)</a:t>
            </a:r>
            <a:endParaRPr lang="en-US" sz="2400" b="0" dirty="0">
              <a:solidFill>
                <a:schemeClr val="tx1"/>
              </a:solidFill>
            </a:endParaRPr>
          </a:p>
          <a:p>
            <a:pPr>
              <a:buFont typeface="Arial" pitchFamily="34" charset="0"/>
              <a:buChar char="•"/>
            </a:pPr>
            <a:r>
              <a:rPr lang="en-US" sz="2400" b="0" dirty="0">
                <a:solidFill>
                  <a:schemeClr val="tx1"/>
                </a:solidFill>
              </a:rPr>
              <a:t>  Recall lower bounds:</a:t>
            </a:r>
          </a:p>
          <a:p>
            <a:pPr lvl="1"/>
            <a:r>
              <a:rPr lang="en-US" sz="2400" b="0" dirty="0" smtClean="0">
                <a:solidFill>
                  <a:schemeClr val="tx1"/>
                </a:solidFill>
              </a:rPr>
              <a:t>#</a:t>
            </a:r>
            <a:r>
              <a:rPr lang="en-US" sz="2400" b="0" dirty="0" err="1" smtClean="0">
                <a:solidFill>
                  <a:schemeClr val="tx1"/>
                </a:solidFill>
              </a:rPr>
              <a:t>words_moved</a:t>
            </a:r>
            <a:r>
              <a:rPr lang="en-US" sz="2400" b="0" dirty="0" smtClean="0">
                <a:solidFill>
                  <a:schemeClr val="tx1"/>
                </a:solidFill>
              </a:rPr>
              <a:t>    =   </a:t>
            </a:r>
            <a:r>
              <a:rPr lang="en-US" sz="2400" dirty="0" smtClean="0">
                <a:sym typeface="Symbol" pitchFamily="18" charset="2"/>
              </a:rPr>
              <a:t>( (n</a:t>
            </a:r>
            <a:r>
              <a:rPr lang="en-US" sz="3200" baseline="30000" dirty="0" smtClean="0">
                <a:sym typeface="Symbol" pitchFamily="18" charset="2"/>
              </a:rPr>
              <a:t>3</a:t>
            </a:r>
            <a:r>
              <a:rPr lang="en-US" sz="2400" dirty="0" smtClean="0">
                <a:sym typeface="Symbol" pitchFamily="18" charset="2"/>
              </a:rPr>
              <a:t>/ P)  / M</a:t>
            </a:r>
            <a:r>
              <a:rPr lang="en-US" sz="3200" baseline="30000" dirty="0" smtClean="0">
                <a:sym typeface="Symbol" pitchFamily="18" charset="2"/>
              </a:rPr>
              <a:t>1/2</a:t>
            </a:r>
            <a:r>
              <a:rPr lang="en-US" sz="2400" dirty="0" smtClean="0">
                <a:sym typeface="Symbol" pitchFamily="18" charset="2"/>
              </a:rPr>
              <a:t> )  =  </a:t>
            </a:r>
            <a:r>
              <a:rPr lang="en-US" sz="2400" b="0" dirty="0">
                <a:solidFill>
                  <a:schemeClr val="tx1"/>
                </a:solidFill>
                <a:sym typeface="Symbol" pitchFamily="18" charset="2"/>
              </a:rPr>
              <a:t>( n</a:t>
            </a:r>
            <a:r>
              <a:rPr lang="en-US" sz="3200" b="0" baseline="30000" dirty="0">
                <a:solidFill>
                  <a:schemeClr val="tx1"/>
                </a:solidFill>
                <a:sym typeface="Symbol" pitchFamily="18" charset="2"/>
              </a:rPr>
              <a:t>2</a:t>
            </a:r>
            <a:r>
              <a:rPr lang="en-US" sz="2400" b="0" dirty="0">
                <a:solidFill>
                  <a:schemeClr val="tx1"/>
                </a:solidFill>
                <a:sym typeface="Symbol" pitchFamily="18" charset="2"/>
              </a:rPr>
              <a:t> /  P</a:t>
            </a:r>
            <a:r>
              <a:rPr lang="en-US" sz="3200" b="0" baseline="30000" dirty="0">
                <a:solidFill>
                  <a:schemeClr val="tx1"/>
                </a:solidFill>
                <a:sym typeface="Symbol" pitchFamily="18" charset="2"/>
              </a:rPr>
              <a:t>1/2</a:t>
            </a:r>
            <a:r>
              <a:rPr lang="en-US" sz="2400" b="0" dirty="0">
                <a:solidFill>
                  <a:schemeClr val="tx1"/>
                </a:solidFill>
                <a:sym typeface="Symbol" pitchFamily="18" charset="2"/>
              </a:rPr>
              <a:t> )      </a:t>
            </a:r>
            <a:r>
              <a:rPr lang="en-US" sz="2400" b="0" dirty="0" smtClean="0">
                <a:solidFill>
                  <a:schemeClr val="tx1"/>
                </a:solidFill>
                <a:sym typeface="Symbol" pitchFamily="18" charset="2"/>
              </a:rPr>
              <a:t>         </a:t>
            </a:r>
          </a:p>
          <a:p>
            <a:pPr lvl="1"/>
            <a:r>
              <a:rPr lang="en-US" sz="2400" b="0" dirty="0" smtClean="0">
                <a:solidFill>
                  <a:schemeClr val="tx1"/>
                </a:solidFill>
                <a:sym typeface="Symbol" pitchFamily="18" charset="2"/>
              </a:rPr>
              <a:t>#</a:t>
            </a:r>
            <a:r>
              <a:rPr lang="en-US" sz="2400" b="0" dirty="0">
                <a:solidFill>
                  <a:schemeClr val="tx1"/>
                </a:solidFill>
                <a:sym typeface="Symbol" pitchFamily="18" charset="2"/>
              </a:rPr>
              <a:t>messages </a:t>
            </a:r>
            <a:r>
              <a:rPr lang="en-US" sz="2400" b="0" dirty="0" smtClean="0">
                <a:solidFill>
                  <a:schemeClr val="tx1"/>
                </a:solidFill>
                <a:sym typeface="Symbol" pitchFamily="18" charset="2"/>
              </a:rPr>
              <a:t>           </a:t>
            </a:r>
            <a:r>
              <a:rPr lang="en-US" sz="2400" dirty="0" smtClean="0"/>
              <a:t>=   </a:t>
            </a:r>
            <a:r>
              <a:rPr lang="en-US" sz="2400" dirty="0" smtClean="0">
                <a:sym typeface="Symbol" pitchFamily="18" charset="2"/>
              </a:rPr>
              <a:t>( (n</a:t>
            </a:r>
            <a:r>
              <a:rPr lang="en-US" sz="3200" baseline="30000" dirty="0" smtClean="0">
                <a:sym typeface="Symbol" pitchFamily="18" charset="2"/>
              </a:rPr>
              <a:t>3</a:t>
            </a:r>
            <a:r>
              <a:rPr lang="en-US" sz="2400" dirty="0" smtClean="0">
                <a:sym typeface="Symbol" pitchFamily="18" charset="2"/>
              </a:rPr>
              <a:t>/ P)  / M</a:t>
            </a:r>
            <a:r>
              <a:rPr lang="en-US" sz="3200" baseline="30000" dirty="0" smtClean="0">
                <a:sym typeface="Symbol" pitchFamily="18" charset="2"/>
              </a:rPr>
              <a:t>3/2</a:t>
            </a:r>
            <a:r>
              <a:rPr lang="en-US" sz="2400" dirty="0" smtClean="0">
                <a:sym typeface="Symbol" pitchFamily="18" charset="2"/>
              </a:rPr>
              <a:t> )  </a:t>
            </a:r>
            <a:r>
              <a:rPr lang="en-US" sz="2400" b="0" dirty="0" smtClean="0">
                <a:solidFill>
                  <a:schemeClr val="tx1"/>
                </a:solidFill>
                <a:sym typeface="Symbol" pitchFamily="18" charset="2"/>
              </a:rPr>
              <a:t>=  </a:t>
            </a:r>
            <a:r>
              <a:rPr lang="en-US" sz="2400" b="0" dirty="0">
                <a:solidFill>
                  <a:schemeClr val="tx1"/>
                </a:solidFill>
                <a:sym typeface="Symbol" pitchFamily="18" charset="2"/>
              </a:rPr>
              <a:t>( P</a:t>
            </a:r>
            <a:r>
              <a:rPr lang="en-US" sz="3200" b="0" baseline="30000" dirty="0">
                <a:solidFill>
                  <a:schemeClr val="tx1"/>
                </a:solidFill>
                <a:sym typeface="Symbol" pitchFamily="18" charset="2"/>
              </a:rPr>
              <a:t>1/2</a:t>
            </a:r>
            <a:r>
              <a:rPr lang="en-US" sz="2400" b="0" dirty="0">
                <a:solidFill>
                  <a:schemeClr val="tx1"/>
                </a:solidFill>
                <a:sym typeface="Symbol" pitchFamily="18" charset="2"/>
              </a:rPr>
              <a:t> )</a:t>
            </a:r>
            <a:endParaRPr lang="en-US" sz="2400" b="0" dirty="0">
              <a:solidFill>
                <a:schemeClr val="tx1"/>
              </a:solidFill>
            </a:endParaRPr>
          </a:p>
        </p:txBody>
      </p:sp>
      <p:graphicFrame>
        <p:nvGraphicFramePr>
          <p:cNvPr id="13" name="Table 12"/>
          <p:cNvGraphicFramePr>
            <a:graphicFrameLocks noGrp="1"/>
          </p:cNvGraphicFramePr>
          <p:nvPr/>
        </p:nvGraphicFramePr>
        <p:xfrm>
          <a:off x="533400" y="3200400"/>
          <a:ext cx="8077200" cy="3383280"/>
        </p:xfrm>
        <a:graphic>
          <a:graphicData uri="http://schemas.openxmlformats.org/drawingml/2006/table">
            <a:tbl>
              <a:tblPr firstRow="1" bandRow="1">
                <a:tableStyleId>{5C22544A-7EE6-4342-B048-85BDC9FD1C3A}</a:tableStyleId>
              </a:tblPr>
              <a:tblGrid>
                <a:gridCol w="1905000"/>
                <a:gridCol w="1600200"/>
                <a:gridCol w="2229613"/>
                <a:gridCol w="2342387"/>
              </a:tblGrid>
              <a:tr h="370840">
                <a:tc>
                  <a:txBody>
                    <a:bodyPr/>
                    <a:lstStyle/>
                    <a:p>
                      <a:r>
                        <a:rPr lang="en-US" sz="2000" dirty="0" smtClean="0">
                          <a:solidFill>
                            <a:schemeClr val="tx1"/>
                          </a:solidFill>
                        </a:rPr>
                        <a:t>Algorithm</a:t>
                      </a:r>
                      <a:endParaRPr lang="en-US" sz="20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dirty="0" smtClean="0">
                          <a:solidFill>
                            <a:schemeClr val="tx1"/>
                          </a:solidFill>
                        </a:rPr>
                        <a:t>Reference</a:t>
                      </a:r>
                      <a:endParaRPr 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dirty="0" smtClean="0">
                          <a:solidFill>
                            <a:schemeClr val="tx1"/>
                          </a:solidFill>
                        </a:rPr>
                        <a:t>Factor exceeding lower bound for #</a:t>
                      </a:r>
                      <a:r>
                        <a:rPr lang="en-US" sz="2000" dirty="0" err="1" smtClean="0">
                          <a:solidFill>
                            <a:schemeClr val="tx1"/>
                          </a:solidFill>
                        </a:rPr>
                        <a:t>words_moved</a:t>
                      </a:r>
                      <a:endParaRPr 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dirty="0" smtClean="0">
                          <a:solidFill>
                            <a:schemeClr val="tx1"/>
                          </a:solidFill>
                        </a:rPr>
                        <a:t>Factor</a:t>
                      </a:r>
                      <a:r>
                        <a:rPr lang="en-US" sz="2000" baseline="0" dirty="0" smtClean="0">
                          <a:solidFill>
                            <a:schemeClr val="tx1"/>
                          </a:solidFill>
                        </a:rPr>
                        <a:t> exceeding lower bound for #messages</a:t>
                      </a:r>
                      <a:endParaRPr 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0840">
                <a:tc>
                  <a:txBody>
                    <a:bodyPr/>
                    <a:lstStyle/>
                    <a:p>
                      <a:r>
                        <a:rPr lang="en-US" sz="2000" b="1" dirty="0" smtClean="0"/>
                        <a:t>Matrix Multiply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20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0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0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0840">
                <a:tc>
                  <a:txBody>
                    <a:bodyPr/>
                    <a:lstStyle/>
                    <a:p>
                      <a:r>
                        <a:rPr lang="en-US" sz="2000" b="1" dirty="0" err="1" smtClean="0"/>
                        <a:t>Cholesky</a:t>
                      </a:r>
                      <a:endParaRPr lang="en-US" sz="20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20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0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0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0840">
                <a:tc>
                  <a:txBody>
                    <a:bodyPr/>
                    <a:lstStyle/>
                    <a:p>
                      <a:r>
                        <a:rPr lang="en-US" sz="2000" b="1" dirty="0" smtClean="0"/>
                        <a:t>LU</a:t>
                      </a:r>
                      <a:endParaRPr lang="en-US" sz="20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20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0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000" b="1" baseline="300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0840">
                <a:tc>
                  <a:txBody>
                    <a:bodyPr/>
                    <a:lstStyle/>
                    <a:p>
                      <a:r>
                        <a:rPr lang="en-US" sz="2000" b="1" dirty="0" smtClean="0"/>
                        <a:t>QR</a:t>
                      </a:r>
                      <a:endParaRPr lang="en-US" sz="20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20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0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2000" b="1" baseline="30000" dirty="0" smtClean="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0840">
                <a:tc>
                  <a:txBody>
                    <a:bodyPr/>
                    <a:lstStyle/>
                    <a:p>
                      <a:r>
                        <a:rPr lang="en-US" sz="2000" b="1" dirty="0" smtClean="0"/>
                        <a:t>Sym </a:t>
                      </a:r>
                      <a:r>
                        <a:rPr lang="en-US" sz="2000" b="1" dirty="0" err="1" smtClean="0"/>
                        <a:t>Eig</a:t>
                      </a:r>
                      <a:r>
                        <a:rPr lang="en-US" sz="2000" b="1" dirty="0" smtClean="0"/>
                        <a:t>, SVD</a:t>
                      </a:r>
                      <a:endParaRPr lang="en-US" sz="20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20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0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2000" b="1" baseline="30000" dirty="0" smtClean="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0840">
                <a:tc>
                  <a:txBody>
                    <a:bodyPr/>
                    <a:lstStyle/>
                    <a:p>
                      <a:r>
                        <a:rPr lang="en-US" sz="2000" b="1" dirty="0" err="1" smtClean="0"/>
                        <a:t>Nonsym</a:t>
                      </a:r>
                      <a:r>
                        <a:rPr lang="en-US" sz="2000" b="1" dirty="0" smtClean="0"/>
                        <a:t> </a:t>
                      </a:r>
                      <a:r>
                        <a:rPr lang="en-US" sz="2000" b="1" dirty="0" err="1" smtClean="0"/>
                        <a:t>Eig</a:t>
                      </a:r>
                      <a:endParaRPr lang="en-US" sz="20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20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000"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2000" b="1" baseline="30000" dirty="0" smtClean="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p:cxnSp>
        <p:nvCxnSpPr>
          <p:cNvPr id="14" name="Straight Connector 13"/>
          <p:cNvCxnSpPr/>
          <p:nvPr/>
        </p:nvCxnSpPr>
        <p:spPr>
          <a:xfrm>
            <a:off x="381000" y="990600"/>
            <a:ext cx="8305800" cy="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transition xmlns:p14="http://schemas.microsoft.com/office/powerpoint/2010/main"/>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0725" name="Title 1"/>
          <p:cNvSpPr>
            <a:spLocks noGrp="1"/>
          </p:cNvSpPr>
          <p:nvPr>
            <p:ph type="title"/>
          </p:nvPr>
        </p:nvSpPr>
        <p:spPr>
          <a:xfrm>
            <a:off x="779463" y="112712"/>
            <a:ext cx="7296150" cy="801688"/>
          </a:xfrm>
        </p:spPr>
        <p:txBody>
          <a:bodyPr>
            <a:noAutofit/>
          </a:bodyPr>
          <a:lstStyle/>
          <a:p>
            <a:pPr algn="ctr"/>
            <a:r>
              <a:rPr lang="en-US" sz="3200" dirty="0" smtClean="0"/>
              <a:t>Summary of dense </a:t>
            </a:r>
            <a:r>
              <a:rPr lang="en-US" sz="3200" i="1" u="sng" dirty="0" smtClean="0"/>
              <a:t>parallel</a:t>
            </a:r>
            <a:r>
              <a:rPr lang="en-US" sz="3200" dirty="0" smtClean="0"/>
              <a:t> algorithms </a:t>
            </a:r>
            <a:br>
              <a:rPr lang="en-US" sz="3200" dirty="0" smtClean="0"/>
            </a:br>
            <a:r>
              <a:rPr lang="en-US" sz="3200" dirty="0" smtClean="0"/>
              <a:t>attaining communication lower bounds</a:t>
            </a:r>
          </a:p>
        </p:txBody>
      </p:sp>
      <p:sp>
        <p:nvSpPr>
          <p:cNvPr id="4" name="Slide Number Placeholder 3"/>
          <p:cNvSpPr>
            <a:spLocks noGrp="1"/>
          </p:cNvSpPr>
          <p:nvPr>
            <p:ph type="sldNum" sz="quarter" idx="11"/>
          </p:nvPr>
        </p:nvSpPr>
        <p:spPr>
          <a:xfrm>
            <a:off x="9832975" y="6400800"/>
            <a:ext cx="1905000" cy="457200"/>
          </a:xfrm>
        </p:spPr>
        <p:txBody>
          <a:bodyPr/>
          <a:lstStyle/>
          <a:p>
            <a:pPr>
              <a:defRPr/>
            </a:pPr>
            <a:fld id="{1110692E-4516-4640-ACA1-F899B3563FBA}" type="slidenum">
              <a:rPr lang="en-US" smtClean="0"/>
              <a:pPr>
                <a:defRPr/>
              </a:pPr>
              <a:t>95</a:t>
            </a:fld>
            <a:endParaRPr lang="en-US" dirty="0"/>
          </a:p>
        </p:txBody>
      </p:sp>
      <p:sp>
        <p:nvSpPr>
          <p:cNvPr id="30727" name="Rectangle 11"/>
          <p:cNvSpPr>
            <a:spLocks noChangeArrowheads="1"/>
          </p:cNvSpPr>
          <p:nvPr/>
        </p:nvSpPr>
        <p:spPr bwMode="auto">
          <a:xfrm>
            <a:off x="6796088" y="4476750"/>
            <a:ext cx="1843087" cy="282575"/>
          </a:xfrm>
          <a:prstGeom prst="rect">
            <a:avLst/>
          </a:prstGeom>
          <a:solidFill>
            <a:schemeClr val="bg1"/>
          </a:solidFill>
          <a:ln w="12700" algn="ctr">
            <a:noFill/>
            <a:round/>
            <a:headEnd type="none" w="sm" len="sm"/>
            <a:tailEnd type="none" w="sm" len="sm"/>
          </a:ln>
        </p:spPr>
        <p:txBody>
          <a:bodyPr/>
          <a:lstStyle/>
          <a:p>
            <a:pPr eaLnBrk="0" hangingPunct="0"/>
            <a:endParaRPr lang="en-US"/>
          </a:p>
        </p:txBody>
      </p:sp>
      <p:sp>
        <p:nvSpPr>
          <p:cNvPr id="30728" name="Rectangle 12"/>
          <p:cNvSpPr>
            <a:spLocks noChangeArrowheads="1"/>
          </p:cNvSpPr>
          <p:nvPr/>
        </p:nvSpPr>
        <p:spPr bwMode="auto">
          <a:xfrm>
            <a:off x="6861175" y="5118100"/>
            <a:ext cx="1843088" cy="282575"/>
          </a:xfrm>
          <a:prstGeom prst="rect">
            <a:avLst/>
          </a:prstGeom>
          <a:solidFill>
            <a:schemeClr val="bg1"/>
          </a:solidFill>
          <a:ln w="12700" algn="ctr">
            <a:noFill/>
            <a:round/>
            <a:headEnd type="none" w="sm" len="sm"/>
            <a:tailEnd type="none" w="sm" len="sm"/>
          </a:ln>
        </p:spPr>
        <p:txBody>
          <a:bodyPr/>
          <a:lstStyle/>
          <a:p>
            <a:pPr eaLnBrk="0" hangingPunct="0"/>
            <a:endParaRPr lang="en-US"/>
          </a:p>
        </p:txBody>
      </p:sp>
      <p:sp>
        <p:nvSpPr>
          <p:cNvPr id="30729" name="Rectangle 13"/>
          <p:cNvSpPr>
            <a:spLocks noChangeArrowheads="1"/>
          </p:cNvSpPr>
          <p:nvPr/>
        </p:nvSpPr>
        <p:spPr bwMode="auto">
          <a:xfrm>
            <a:off x="6778625" y="5773738"/>
            <a:ext cx="1843088" cy="280987"/>
          </a:xfrm>
          <a:prstGeom prst="rect">
            <a:avLst/>
          </a:prstGeom>
          <a:solidFill>
            <a:schemeClr val="bg1"/>
          </a:solidFill>
          <a:ln w="12700" algn="ctr">
            <a:noFill/>
            <a:round/>
            <a:headEnd type="none" w="sm" len="sm"/>
            <a:tailEnd type="none" w="sm" len="sm"/>
          </a:ln>
        </p:spPr>
        <p:txBody>
          <a:bodyPr/>
          <a:lstStyle/>
          <a:p>
            <a:pPr eaLnBrk="0" hangingPunct="0"/>
            <a:endParaRPr lang="en-US"/>
          </a:p>
        </p:txBody>
      </p:sp>
      <p:sp>
        <p:nvSpPr>
          <p:cNvPr id="30730" name="Rectangle 14"/>
          <p:cNvSpPr>
            <a:spLocks noChangeArrowheads="1"/>
          </p:cNvSpPr>
          <p:nvPr/>
        </p:nvSpPr>
        <p:spPr bwMode="auto">
          <a:xfrm>
            <a:off x="6778625" y="6400800"/>
            <a:ext cx="1843088" cy="280988"/>
          </a:xfrm>
          <a:prstGeom prst="rect">
            <a:avLst/>
          </a:prstGeom>
          <a:solidFill>
            <a:schemeClr val="bg1"/>
          </a:solidFill>
          <a:ln w="12700" algn="ctr">
            <a:noFill/>
            <a:round/>
            <a:headEnd type="none" w="sm" len="sm"/>
            <a:tailEnd type="none" w="sm" len="sm"/>
          </a:ln>
        </p:spPr>
        <p:txBody>
          <a:bodyPr/>
          <a:lstStyle/>
          <a:p>
            <a:pPr eaLnBrk="0" hangingPunct="0"/>
            <a:endParaRPr lang="en-US"/>
          </a:p>
        </p:txBody>
      </p:sp>
      <p:sp>
        <p:nvSpPr>
          <p:cNvPr id="30731" name="TextBox 7"/>
          <p:cNvSpPr txBox="1">
            <a:spLocks noChangeArrowheads="1"/>
          </p:cNvSpPr>
          <p:nvPr/>
        </p:nvSpPr>
        <p:spPr bwMode="auto">
          <a:xfrm>
            <a:off x="296103" y="1032808"/>
            <a:ext cx="8771697" cy="1938992"/>
          </a:xfrm>
          <a:prstGeom prst="rect">
            <a:avLst/>
          </a:prstGeom>
          <a:noFill/>
          <a:ln w="9525">
            <a:noFill/>
            <a:miter lim="800000"/>
            <a:headEnd/>
            <a:tailEnd/>
          </a:ln>
        </p:spPr>
        <p:txBody>
          <a:bodyPr wrap="none">
            <a:spAutoFit/>
          </a:bodyPr>
          <a:lstStyle/>
          <a:p>
            <a:pPr>
              <a:buFont typeface="Arial" pitchFamily="34" charset="0"/>
              <a:buChar char="•"/>
            </a:pPr>
            <a:r>
              <a:rPr lang="en-US" b="0" dirty="0">
                <a:solidFill>
                  <a:schemeClr val="tx1"/>
                </a:solidFill>
              </a:rPr>
              <a:t>  </a:t>
            </a:r>
            <a:r>
              <a:rPr lang="en-US" b="0" dirty="0" smtClean="0">
                <a:solidFill>
                  <a:schemeClr val="tx1"/>
                </a:solidFill>
              </a:rPr>
              <a:t> </a:t>
            </a:r>
            <a:r>
              <a:rPr lang="en-US" sz="2400" b="0" dirty="0" smtClean="0">
                <a:solidFill>
                  <a:schemeClr val="tx1"/>
                </a:solidFill>
              </a:rPr>
              <a:t>Assume </a:t>
            </a:r>
            <a:r>
              <a:rPr lang="en-US" sz="2400" b="0" dirty="0" err="1">
                <a:solidFill>
                  <a:schemeClr val="tx1"/>
                </a:solidFill>
              </a:rPr>
              <a:t>nxn</a:t>
            </a:r>
            <a:r>
              <a:rPr lang="en-US" sz="2400" b="0" dirty="0">
                <a:solidFill>
                  <a:schemeClr val="tx1"/>
                </a:solidFill>
              </a:rPr>
              <a:t> matrices on P </a:t>
            </a:r>
            <a:r>
              <a:rPr lang="en-US" sz="2400" b="0" dirty="0" smtClean="0">
                <a:solidFill>
                  <a:schemeClr val="tx1"/>
                </a:solidFill>
              </a:rPr>
              <a:t>processors</a:t>
            </a:r>
            <a:r>
              <a:rPr lang="en-US" sz="2400" dirty="0" smtClean="0"/>
              <a:t> (conventional approach)</a:t>
            </a:r>
            <a:endParaRPr lang="en-US" sz="2400" b="0" dirty="0" smtClean="0">
              <a:solidFill>
                <a:schemeClr val="tx1"/>
              </a:solidFill>
            </a:endParaRPr>
          </a:p>
          <a:p>
            <a:pPr>
              <a:buFont typeface="Arial" pitchFamily="34" charset="0"/>
              <a:buChar char="•"/>
            </a:pPr>
            <a:r>
              <a:rPr lang="en-US" sz="2400" dirty="0" smtClean="0"/>
              <a:t>  M</a:t>
            </a:r>
            <a:r>
              <a:rPr lang="en-US" sz="2400" b="0" dirty="0" smtClean="0">
                <a:solidFill>
                  <a:schemeClr val="tx1"/>
                </a:solidFill>
              </a:rPr>
              <a:t>emory </a:t>
            </a:r>
            <a:r>
              <a:rPr lang="en-US" sz="2400" b="0" dirty="0">
                <a:solidFill>
                  <a:schemeClr val="tx1"/>
                </a:solidFill>
              </a:rPr>
              <a:t>per processor = </a:t>
            </a:r>
            <a:r>
              <a:rPr lang="en-US" sz="2400" b="0" dirty="0" smtClean="0">
                <a:solidFill>
                  <a:schemeClr val="tx1"/>
                </a:solidFill>
              </a:rPr>
              <a:t> M = O(n</a:t>
            </a:r>
            <a:r>
              <a:rPr lang="en-US" sz="3200" b="0" baseline="30000" dirty="0" smtClean="0">
                <a:solidFill>
                  <a:schemeClr val="tx1"/>
                </a:solidFill>
              </a:rPr>
              <a:t>2</a:t>
            </a:r>
            <a:r>
              <a:rPr lang="en-US" sz="2400" b="0" dirty="0" smtClean="0">
                <a:solidFill>
                  <a:schemeClr val="tx1"/>
                </a:solidFill>
              </a:rPr>
              <a:t> </a:t>
            </a:r>
            <a:r>
              <a:rPr lang="en-US" sz="2400" b="0" dirty="0">
                <a:solidFill>
                  <a:schemeClr val="tx1"/>
                </a:solidFill>
              </a:rPr>
              <a:t>/ P</a:t>
            </a:r>
            <a:r>
              <a:rPr lang="en-US" sz="2400" b="0" dirty="0" smtClean="0">
                <a:solidFill>
                  <a:schemeClr val="tx1"/>
                </a:solidFill>
              </a:rPr>
              <a:t>)</a:t>
            </a:r>
            <a:endParaRPr lang="en-US" sz="2400" b="0" dirty="0">
              <a:solidFill>
                <a:schemeClr val="tx1"/>
              </a:solidFill>
            </a:endParaRPr>
          </a:p>
          <a:p>
            <a:pPr>
              <a:buFont typeface="Arial" pitchFamily="34" charset="0"/>
              <a:buChar char="•"/>
            </a:pPr>
            <a:r>
              <a:rPr lang="en-US" sz="2400" b="0" dirty="0">
                <a:solidFill>
                  <a:schemeClr val="tx1"/>
                </a:solidFill>
              </a:rPr>
              <a:t>  Recall lower bounds:</a:t>
            </a:r>
          </a:p>
          <a:p>
            <a:pPr lvl="1"/>
            <a:r>
              <a:rPr lang="en-US" sz="2400" b="0" dirty="0" smtClean="0">
                <a:solidFill>
                  <a:schemeClr val="tx1"/>
                </a:solidFill>
              </a:rPr>
              <a:t>#</a:t>
            </a:r>
            <a:r>
              <a:rPr lang="en-US" sz="2400" b="0" dirty="0" err="1" smtClean="0">
                <a:solidFill>
                  <a:schemeClr val="tx1"/>
                </a:solidFill>
              </a:rPr>
              <a:t>words_moved</a:t>
            </a:r>
            <a:r>
              <a:rPr lang="en-US" sz="2400" b="0" dirty="0" smtClean="0">
                <a:solidFill>
                  <a:schemeClr val="tx1"/>
                </a:solidFill>
              </a:rPr>
              <a:t>    =   </a:t>
            </a:r>
            <a:r>
              <a:rPr lang="en-US" sz="2400" dirty="0" smtClean="0">
                <a:sym typeface="Symbol" pitchFamily="18" charset="2"/>
              </a:rPr>
              <a:t>( (n</a:t>
            </a:r>
            <a:r>
              <a:rPr lang="en-US" sz="3200" baseline="30000" dirty="0" smtClean="0">
                <a:sym typeface="Symbol" pitchFamily="18" charset="2"/>
              </a:rPr>
              <a:t>3</a:t>
            </a:r>
            <a:r>
              <a:rPr lang="en-US" sz="2400" dirty="0" smtClean="0">
                <a:sym typeface="Symbol" pitchFamily="18" charset="2"/>
              </a:rPr>
              <a:t>/ P)  / M</a:t>
            </a:r>
            <a:r>
              <a:rPr lang="en-US" sz="3200" baseline="30000" dirty="0" smtClean="0">
                <a:sym typeface="Symbol" pitchFamily="18" charset="2"/>
              </a:rPr>
              <a:t>1/2</a:t>
            </a:r>
            <a:r>
              <a:rPr lang="en-US" sz="2400" dirty="0" smtClean="0">
                <a:sym typeface="Symbol" pitchFamily="18" charset="2"/>
              </a:rPr>
              <a:t> )  =  </a:t>
            </a:r>
            <a:r>
              <a:rPr lang="en-US" sz="2400" b="0" dirty="0">
                <a:solidFill>
                  <a:schemeClr val="tx1"/>
                </a:solidFill>
                <a:sym typeface="Symbol" pitchFamily="18" charset="2"/>
              </a:rPr>
              <a:t>( n</a:t>
            </a:r>
            <a:r>
              <a:rPr lang="en-US" sz="3200" b="0" baseline="30000" dirty="0">
                <a:solidFill>
                  <a:schemeClr val="tx1"/>
                </a:solidFill>
                <a:sym typeface="Symbol" pitchFamily="18" charset="2"/>
              </a:rPr>
              <a:t>2</a:t>
            </a:r>
            <a:r>
              <a:rPr lang="en-US" sz="2400" b="0" dirty="0">
                <a:solidFill>
                  <a:schemeClr val="tx1"/>
                </a:solidFill>
                <a:sym typeface="Symbol" pitchFamily="18" charset="2"/>
              </a:rPr>
              <a:t> /  P</a:t>
            </a:r>
            <a:r>
              <a:rPr lang="en-US" sz="3200" b="0" baseline="30000" dirty="0">
                <a:solidFill>
                  <a:schemeClr val="tx1"/>
                </a:solidFill>
                <a:sym typeface="Symbol" pitchFamily="18" charset="2"/>
              </a:rPr>
              <a:t>1/2</a:t>
            </a:r>
            <a:r>
              <a:rPr lang="en-US" sz="2400" b="0" dirty="0">
                <a:solidFill>
                  <a:schemeClr val="tx1"/>
                </a:solidFill>
                <a:sym typeface="Symbol" pitchFamily="18" charset="2"/>
              </a:rPr>
              <a:t> )      </a:t>
            </a:r>
            <a:r>
              <a:rPr lang="en-US" sz="2400" b="0" dirty="0" smtClean="0">
                <a:solidFill>
                  <a:schemeClr val="tx1"/>
                </a:solidFill>
                <a:sym typeface="Symbol" pitchFamily="18" charset="2"/>
              </a:rPr>
              <a:t>         </a:t>
            </a:r>
          </a:p>
          <a:p>
            <a:pPr lvl="1"/>
            <a:r>
              <a:rPr lang="en-US" sz="2400" b="0" dirty="0" smtClean="0">
                <a:solidFill>
                  <a:schemeClr val="tx1"/>
                </a:solidFill>
                <a:sym typeface="Symbol" pitchFamily="18" charset="2"/>
              </a:rPr>
              <a:t>#</a:t>
            </a:r>
            <a:r>
              <a:rPr lang="en-US" sz="2400" b="0" dirty="0">
                <a:solidFill>
                  <a:schemeClr val="tx1"/>
                </a:solidFill>
                <a:sym typeface="Symbol" pitchFamily="18" charset="2"/>
              </a:rPr>
              <a:t>messages </a:t>
            </a:r>
            <a:r>
              <a:rPr lang="en-US" sz="2400" b="0" dirty="0" smtClean="0">
                <a:solidFill>
                  <a:schemeClr val="tx1"/>
                </a:solidFill>
                <a:sym typeface="Symbol" pitchFamily="18" charset="2"/>
              </a:rPr>
              <a:t>           </a:t>
            </a:r>
            <a:r>
              <a:rPr lang="en-US" sz="2400" dirty="0" smtClean="0"/>
              <a:t>=   </a:t>
            </a:r>
            <a:r>
              <a:rPr lang="en-US" sz="2400" dirty="0" smtClean="0">
                <a:sym typeface="Symbol" pitchFamily="18" charset="2"/>
              </a:rPr>
              <a:t>( (n</a:t>
            </a:r>
            <a:r>
              <a:rPr lang="en-US" sz="3200" baseline="30000" dirty="0" smtClean="0">
                <a:sym typeface="Symbol" pitchFamily="18" charset="2"/>
              </a:rPr>
              <a:t>3</a:t>
            </a:r>
            <a:r>
              <a:rPr lang="en-US" sz="2400" dirty="0" smtClean="0">
                <a:sym typeface="Symbol" pitchFamily="18" charset="2"/>
              </a:rPr>
              <a:t>/ P)  / M</a:t>
            </a:r>
            <a:r>
              <a:rPr lang="en-US" sz="3200" baseline="30000" dirty="0" smtClean="0">
                <a:sym typeface="Symbol" pitchFamily="18" charset="2"/>
              </a:rPr>
              <a:t>3/2</a:t>
            </a:r>
            <a:r>
              <a:rPr lang="en-US" sz="2400" dirty="0" smtClean="0">
                <a:sym typeface="Symbol" pitchFamily="18" charset="2"/>
              </a:rPr>
              <a:t> )  </a:t>
            </a:r>
            <a:r>
              <a:rPr lang="en-US" sz="2400" b="0" dirty="0" smtClean="0">
                <a:solidFill>
                  <a:schemeClr val="tx1"/>
                </a:solidFill>
                <a:sym typeface="Symbol" pitchFamily="18" charset="2"/>
              </a:rPr>
              <a:t>=  </a:t>
            </a:r>
            <a:r>
              <a:rPr lang="en-US" sz="2400" b="0" dirty="0">
                <a:solidFill>
                  <a:schemeClr val="tx1"/>
                </a:solidFill>
                <a:sym typeface="Symbol" pitchFamily="18" charset="2"/>
              </a:rPr>
              <a:t>( P</a:t>
            </a:r>
            <a:r>
              <a:rPr lang="en-US" sz="3200" b="0" baseline="30000" dirty="0">
                <a:solidFill>
                  <a:schemeClr val="tx1"/>
                </a:solidFill>
                <a:sym typeface="Symbol" pitchFamily="18" charset="2"/>
              </a:rPr>
              <a:t>1/2</a:t>
            </a:r>
            <a:r>
              <a:rPr lang="en-US" sz="2400" b="0" dirty="0">
                <a:solidFill>
                  <a:schemeClr val="tx1"/>
                </a:solidFill>
                <a:sym typeface="Symbol" pitchFamily="18" charset="2"/>
              </a:rPr>
              <a:t> )</a:t>
            </a:r>
            <a:endParaRPr lang="en-US" sz="2400" b="0" dirty="0">
              <a:solidFill>
                <a:schemeClr val="tx1"/>
              </a:solidFill>
            </a:endParaRPr>
          </a:p>
        </p:txBody>
      </p:sp>
      <p:graphicFrame>
        <p:nvGraphicFramePr>
          <p:cNvPr id="13" name="Table 12"/>
          <p:cNvGraphicFramePr>
            <a:graphicFrameLocks noGrp="1"/>
          </p:cNvGraphicFramePr>
          <p:nvPr/>
        </p:nvGraphicFramePr>
        <p:xfrm>
          <a:off x="533400" y="3200400"/>
          <a:ext cx="8077200" cy="3383280"/>
        </p:xfrm>
        <a:graphic>
          <a:graphicData uri="http://schemas.openxmlformats.org/drawingml/2006/table">
            <a:tbl>
              <a:tblPr firstRow="1" bandRow="1">
                <a:tableStyleId>{5C22544A-7EE6-4342-B048-85BDC9FD1C3A}</a:tableStyleId>
              </a:tblPr>
              <a:tblGrid>
                <a:gridCol w="1905000"/>
                <a:gridCol w="1600200"/>
                <a:gridCol w="2229613"/>
                <a:gridCol w="2342387"/>
              </a:tblGrid>
              <a:tr h="370840">
                <a:tc>
                  <a:txBody>
                    <a:bodyPr/>
                    <a:lstStyle/>
                    <a:p>
                      <a:r>
                        <a:rPr lang="en-US" sz="2000" dirty="0" smtClean="0">
                          <a:solidFill>
                            <a:schemeClr val="tx1"/>
                          </a:solidFill>
                        </a:rPr>
                        <a:t>Algorithm</a:t>
                      </a:r>
                      <a:endParaRPr lang="en-US" sz="20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dirty="0" smtClean="0">
                          <a:solidFill>
                            <a:schemeClr val="tx1"/>
                          </a:solidFill>
                        </a:rPr>
                        <a:t>Reference</a:t>
                      </a:r>
                      <a:endParaRPr 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dirty="0" smtClean="0">
                          <a:solidFill>
                            <a:schemeClr val="tx1"/>
                          </a:solidFill>
                        </a:rPr>
                        <a:t>Factor exceeding lower bound for #</a:t>
                      </a:r>
                      <a:r>
                        <a:rPr lang="en-US" sz="2000" dirty="0" err="1" smtClean="0">
                          <a:solidFill>
                            <a:schemeClr val="tx1"/>
                          </a:solidFill>
                        </a:rPr>
                        <a:t>words_moved</a:t>
                      </a:r>
                      <a:endParaRPr 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dirty="0" smtClean="0">
                          <a:solidFill>
                            <a:schemeClr val="tx1"/>
                          </a:solidFill>
                        </a:rPr>
                        <a:t>Factor</a:t>
                      </a:r>
                      <a:r>
                        <a:rPr lang="en-US" sz="2000" baseline="0" dirty="0" smtClean="0">
                          <a:solidFill>
                            <a:schemeClr val="tx1"/>
                          </a:solidFill>
                        </a:rPr>
                        <a:t> exceeding lower bound for #messages</a:t>
                      </a:r>
                      <a:endParaRPr 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0840">
                <a:tc>
                  <a:txBody>
                    <a:bodyPr/>
                    <a:lstStyle/>
                    <a:p>
                      <a:r>
                        <a:rPr lang="en-US" sz="2000" b="1" dirty="0" smtClean="0"/>
                        <a:t>Matrix Multiply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b="1" dirty="0" smtClean="0"/>
                        <a:t>[Cannon, 69]</a:t>
                      </a:r>
                      <a:endParaRPr lang="en-US" sz="20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b="1" dirty="0" smtClean="0"/>
                        <a:t>1</a:t>
                      </a:r>
                      <a:endParaRPr lang="en-US" sz="20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0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0840">
                <a:tc>
                  <a:txBody>
                    <a:bodyPr/>
                    <a:lstStyle/>
                    <a:p>
                      <a:r>
                        <a:rPr lang="en-US" sz="2000" b="1" dirty="0" err="1" smtClean="0"/>
                        <a:t>Cholesky</a:t>
                      </a:r>
                      <a:endParaRPr lang="en-US" sz="20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b="1" dirty="0" err="1" smtClean="0"/>
                        <a:t>ScaLAPACK</a:t>
                      </a:r>
                      <a:endParaRPr lang="en-US" sz="20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b="1" dirty="0" smtClean="0"/>
                        <a:t>log P</a:t>
                      </a:r>
                      <a:endParaRPr lang="en-US" sz="20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0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0840">
                <a:tc>
                  <a:txBody>
                    <a:bodyPr/>
                    <a:lstStyle/>
                    <a:p>
                      <a:r>
                        <a:rPr lang="en-US" sz="2000" b="1" dirty="0" smtClean="0"/>
                        <a:t>LU</a:t>
                      </a:r>
                      <a:endParaRPr lang="en-US" sz="20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b="1" dirty="0" err="1" smtClean="0"/>
                        <a:t>ScaLAPACK</a:t>
                      </a:r>
                      <a:endParaRPr lang="en-US" sz="20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b="1" dirty="0" smtClean="0"/>
                        <a:t>log</a:t>
                      </a:r>
                      <a:r>
                        <a:rPr lang="en-US" sz="2000" b="1" baseline="0" dirty="0" smtClean="0"/>
                        <a:t> P</a:t>
                      </a:r>
                      <a:endParaRPr lang="en-US" sz="20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000" b="1" baseline="300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0840">
                <a:tc>
                  <a:txBody>
                    <a:bodyPr/>
                    <a:lstStyle/>
                    <a:p>
                      <a:r>
                        <a:rPr lang="en-US" sz="2000" b="1" dirty="0" smtClean="0"/>
                        <a:t>QR</a:t>
                      </a:r>
                      <a:endParaRPr lang="en-US" sz="20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b="1" dirty="0" err="1" smtClean="0"/>
                        <a:t>ScaLAPACK</a:t>
                      </a:r>
                      <a:endParaRPr lang="en-US" sz="20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b="1" dirty="0" smtClean="0"/>
                        <a:t>log P</a:t>
                      </a:r>
                      <a:endParaRPr lang="en-US" sz="20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2000" b="1" baseline="30000" dirty="0" smtClean="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0840">
                <a:tc>
                  <a:txBody>
                    <a:bodyPr/>
                    <a:lstStyle/>
                    <a:p>
                      <a:r>
                        <a:rPr lang="en-US" sz="2000" b="1" dirty="0" smtClean="0"/>
                        <a:t>Sym </a:t>
                      </a:r>
                      <a:r>
                        <a:rPr lang="en-US" sz="2000" b="1" dirty="0" err="1" smtClean="0"/>
                        <a:t>Eig</a:t>
                      </a:r>
                      <a:r>
                        <a:rPr lang="en-US" sz="2000" b="1" dirty="0" smtClean="0"/>
                        <a:t>, SVD</a:t>
                      </a:r>
                      <a:endParaRPr lang="en-US" sz="20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b="1" dirty="0" err="1" smtClean="0"/>
                        <a:t>ScaLAPACK</a:t>
                      </a:r>
                      <a:endParaRPr lang="en-US" sz="20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b="1" dirty="0" smtClean="0"/>
                        <a:t>log P</a:t>
                      </a:r>
                      <a:endParaRPr lang="en-US" sz="20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2000" b="1" baseline="30000" dirty="0" smtClean="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0840">
                <a:tc>
                  <a:txBody>
                    <a:bodyPr/>
                    <a:lstStyle/>
                    <a:p>
                      <a:r>
                        <a:rPr lang="en-US" sz="2000" b="1" dirty="0" err="1" smtClean="0"/>
                        <a:t>Nonsym</a:t>
                      </a:r>
                      <a:r>
                        <a:rPr lang="en-US" sz="2000" b="1" dirty="0" smtClean="0"/>
                        <a:t> </a:t>
                      </a:r>
                      <a:r>
                        <a:rPr lang="en-US" sz="2000" b="1" dirty="0" err="1" smtClean="0"/>
                        <a:t>Eig</a:t>
                      </a:r>
                      <a:endParaRPr lang="en-US" sz="20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b="1" dirty="0" err="1" smtClean="0"/>
                        <a:t>ScaLAPACK</a:t>
                      </a:r>
                      <a:endParaRPr lang="en-US" sz="20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b="1" dirty="0" smtClean="0">
                          <a:solidFill>
                            <a:srgbClr val="FF0000"/>
                          </a:solidFill>
                        </a:rPr>
                        <a:t>P</a:t>
                      </a:r>
                      <a:r>
                        <a:rPr lang="en-US" sz="2400" b="1" baseline="30000" dirty="0" smtClean="0">
                          <a:solidFill>
                            <a:srgbClr val="FF0000"/>
                          </a:solidFill>
                        </a:rPr>
                        <a:t>1/2</a:t>
                      </a:r>
                      <a:r>
                        <a:rPr lang="en-US" sz="2000" b="1" dirty="0" smtClean="0">
                          <a:solidFill>
                            <a:srgbClr val="FF0000"/>
                          </a:solidFill>
                        </a:rPr>
                        <a:t> log P</a:t>
                      </a:r>
                      <a:endParaRPr lang="en-US" sz="2000"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2000" b="1" baseline="30000" dirty="0" smtClean="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p:cxnSp>
        <p:nvCxnSpPr>
          <p:cNvPr id="14" name="Straight Connector 13"/>
          <p:cNvCxnSpPr/>
          <p:nvPr/>
        </p:nvCxnSpPr>
        <p:spPr>
          <a:xfrm>
            <a:off x="381000" y="990600"/>
            <a:ext cx="8305800" cy="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0725" name="Title 1"/>
          <p:cNvSpPr>
            <a:spLocks noGrp="1"/>
          </p:cNvSpPr>
          <p:nvPr>
            <p:ph type="title"/>
          </p:nvPr>
        </p:nvSpPr>
        <p:spPr>
          <a:xfrm>
            <a:off x="779463" y="112712"/>
            <a:ext cx="7296150" cy="801688"/>
          </a:xfrm>
        </p:spPr>
        <p:txBody>
          <a:bodyPr>
            <a:noAutofit/>
          </a:bodyPr>
          <a:lstStyle/>
          <a:p>
            <a:pPr algn="ctr"/>
            <a:r>
              <a:rPr lang="en-US" sz="3200" dirty="0" smtClean="0"/>
              <a:t>Summary of dense </a:t>
            </a:r>
            <a:r>
              <a:rPr lang="en-US" sz="3200" i="1" u="sng" dirty="0" smtClean="0"/>
              <a:t>parallel</a:t>
            </a:r>
            <a:r>
              <a:rPr lang="en-US" sz="3200" dirty="0" smtClean="0"/>
              <a:t> algorithms </a:t>
            </a:r>
            <a:br>
              <a:rPr lang="en-US" sz="3200" dirty="0" smtClean="0"/>
            </a:br>
            <a:r>
              <a:rPr lang="en-US" sz="3200" dirty="0" smtClean="0"/>
              <a:t>attaining communication lower bounds</a:t>
            </a:r>
          </a:p>
        </p:txBody>
      </p:sp>
      <p:sp>
        <p:nvSpPr>
          <p:cNvPr id="4" name="Slide Number Placeholder 3"/>
          <p:cNvSpPr>
            <a:spLocks noGrp="1"/>
          </p:cNvSpPr>
          <p:nvPr>
            <p:ph type="sldNum" sz="quarter" idx="11"/>
          </p:nvPr>
        </p:nvSpPr>
        <p:spPr>
          <a:xfrm>
            <a:off x="9832975" y="6400800"/>
            <a:ext cx="1905000" cy="457200"/>
          </a:xfrm>
        </p:spPr>
        <p:txBody>
          <a:bodyPr/>
          <a:lstStyle/>
          <a:p>
            <a:pPr>
              <a:defRPr/>
            </a:pPr>
            <a:fld id="{1110692E-4516-4640-ACA1-F899B3563FBA}" type="slidenum">
              <a:rPr lang="en-US" smtClean="0"/>
              <a:pPr>
                <a:defRPr/>
              </a:pPr>
              <a:t>96</a:t>
            </a:fld>
            <a:endParaRPr lang="en-US" dirty="0"/>
          </a:p>
        </p:txBody>
      </p:sp>
      <p:sp>
        <p:nvSpPr>
          <p:cNvPr id="30727" name="Rectangle 11"/>
          <p:cNvSpPr>
            <a:spLocks noChangeArrowheads="1"/>
          </p:cNvSpPr>
          <p:nvPr/>
        </p:nvSpPr>
        <p:spPr bwMode="auto">
          <a:xfrm>
            <a:off x="6796088" y="4476750"/>
            <a:ext cx="1843087" cy="282575"/>
          </a:xfrm>
          <a:prstGeom prst="rect">
            <a:avLst/>
          </a:prstGeom>
          <a:solidFill>
            <a:schemeClr val="bg1"/>
          </a:solidFill>
          <a:ln w="12700" algn="ctr">
            <a:noFill/>
            <a:round/>
            <a:headEnd type="none" w="sm" len="sm"/>
            <a:tailEnd type="none" w="sm" len="sm"/>
          </a:ln>
        </p:spPr>
        <p:txBody>
          <a:bodyPr/>
          <a:lstStyle/>
          <a:p>
            <a:pPr eaLnBrk="0" hangingPunct="0"/>
            <a:endParaRPr lang="en-US"/>
          </a:p>
        </p:txBody>
      </p:sp>
      <p:sp>
        <p:nvSpPr>
          <p:cNvPr id="30728" name="Rectangle 12"/>
          <p:cNvSpPr>
            <a:spLocks noChangeArrowheads="1"/>
          </p:cNvSpPr>
          <p:nvPr/>
        </p:nvSpPr>
        <p:spPr bwMode="auto">
          <a:xfrm>
            <a:off x="6861175" y="5118100"/>
            <a:ext cx="1843088" cy="282575"/>
          </a:xfrm>
          <a:prstGeom prst="rect">
            <a:avLst/>
          </a:prstGeom>
          <a:solidFill>
            <a:schemeClr val="bg1"/>
          </a:solidFill>
          <a:ln w="12700" algn="ctr">
            <a:noFill/>
            <a:round/>
            <a:headEnd type="none" w="sm" len="sm"/>
            <a:tailEnd type="none" w="sm" len="sm"/>
          </a:ln>
        </p:spPr>
        <p:txBody>
          <a:bodyPr/>
          <a:lstStyle/>
          <a:p>
            <a:pPr eaLnBrk="0" hangingPunct="0"/>
            <a:endParaRPr lang="en-US"/>
          </a:p>
        </p:txBody>
      </p:sp>
      <p:sp>
        <p:nvSpPr>
          <p:cNvPr id="30729" name="Rectangle 13"/>
          <p:cNvSpPr>
            <a:spLocks noChangeArrowheads="1"/>
          </p:cNvSpPr>
          <p:nvPr/>
        </p:nvSpPr>
        <p:spPr bwMode="auto">
          <a:xfrm>
            <a:off x="6778625" y="5773738"/>
            <a:ext cx="1843088" cy="280987"/>
          </a:xfrm>
          <a:prstGeom prst="rect">
            <a:avLst/>
          </a:prstGeom>
          <a:solidFill>
            <a:schemeClr val="bg1"/>
          </a:solidFill>
          <a:ln w="12700" algn="ctr">
            <a:noFill/>
            <a:round/>
            <a:headEnd type="none" w="sm" len="sm"/>
            <a:tailEnd type="none" w="sm" len="sm"/>
          </a:ln>
        </p:spPr>
        <p:txBody>
          <a:bodyPr/>
          <a:lstStyle/>
          <a:p>
            <a:pPr eaLnBrk="0" hangingPunct="0"/>
            <a:endParaRPr lang="en-US"/>
          </a:p>
        </p:txBody>
      </p:sp>
      <p:sp>
        <p:nvSpPr>
          <p:cNvPr id="30730" name="Rectangle 14"/>
          <p:cNvSpPr>
            <a:spLocks noChangeArrowheads="1"/>
          </p:cNvSpPr>
          <p:nvPr/>
        </p:nvSpPr>
        <p:spPr bwMode="auto">
          <a:xfrm>
            <a:off x="6778625" y="6400800"/>
            <a:ext cx="1843088" cy="280988"/>
          </a:xfrm>
          <a:prstGeom prst="rect">
            <a:avLst/>
          </a:prstGeom>
          <a:solidFill>
            <a:schemeClr val="bg1"/>
          </a:solidFill>
          <a:ln w="12700" algn="ctr">
            <a:noFill/>
            <a:round/>
            <a:headEnd type="none" w="sm" len="sm"/>
            <a:tailEnd type="none" w="sm" len="sm"/>
          </a:ln>
        </p:spPr>
        <p:txBody>
          <a:bodyPr/>
          <a:lstStyle/>
          <a:p>
            <a:pPr eaLnBrk="0" hangingPunct="0"/>
            <a:endParaRPr lang="en-US"/>
          </a:p>
        </p:txBody>
      </p:sp>
      <p:sp>
        <p:nvSpPr>
          <p:cNvPr id="30731" name="TextBox 7"/>
          <p:cNvSpPr txBox="1">
            <a:spLocks noChangeArrowheads="1"/>
          </p:cNvSpPr>
          <p:nvPr/>
        </p:nvSpPr>
        <p:spPr bwMode="auto">
          <a:xfrm>
            <a:off x="296103" y="1032808"/>
            <a:ext cx="8771697" cy="1938992"/>
          </a:xfrm>
          <a:prstGeom prst="rect">
            <a:avLst/>
          </a:prstGeom>
          <a:noFill/>
          <a:ln w="9525">
            <a:noFill/>
            <a:miter lim="800000"/>
            <a:headEnd/>
            <a:tailEnd/>
          </a:ln>
        </p:spPr>
        <p:txBody>
          <a:bodyPr wrap="none">
            <a:spAutoFit/>
          </a:bodyPr>
          <a:lstStyle/>
          <a:p>
            <a:pPr>
              <a:buFont typeface="Arial" pitchFamily="34" charset="0"/>
              <a:buChar char="•"/>
            </a:pPr>
            <a:r>
              <a:rPr lang="en-US" b="0" dirty="0">
                <a:solidFill>
                  <a:schemeClr val="tx1"/>
                </a:solidFill>
              </a:rPr>
              <a:t>  </a:t>
            </a:r>
            <a:r>
              <a:rPr lang="en-US" b="0" dirty="0" smtClean="0">
                <a:solidFill>
                  <a:schemeClr val="tx1"/>
                </a:solidFill>
              </a:rPr>
              <a:t> </a:t>
            </a:r>
            <a:r>
              <a:rPr lang="en-US" sz="2400" b="0" dirty="0" smtClean="0">
                <a:solidFill>
                  <a:schemeClr val="tx1"/>
                </a:solidFill>
              </a:rPr>
              <a:t>Assume </a:t>
            </a:r>
            <a:r>
              <a:rPr lang="en-US" sz="2400" b="0" dirty="0" err="1">
                <a:solidFill>
                  <a:schemeClr val="tx1"/>
                </a:solidFill>
              </a:rPr>
              <a:t>nxn</a:t>
            </a:r>
            <a:r>
              <a:rPr lang="en-US" sz="2400" b="0" dirty="0">
                <a:solidFill>
                  <a:schemeClr val="tx1"/>
                </a:solidFill>
              </a:rPr>
              <a:t> matrices on P </a:t>
            </a:r>
            <a:r>
              <a:rPr lang="en-US" sz="2400" b="0" dirty="0" smtClean="0">
                <a:solidFill>
                  <a:schemeClr val="tx1"/>
                </a:solidFill>
              </a:rPr>
              <a:t>processors</a:t>
            </a:r>
            <a:r>
              <a:rPr lang="en-US" sz="2400" dirty="0" smtClean="0"/>
              <a:t> </a:t>
            </a:r>
            <a:r>
              <a:rPr lang="en-US" sz="2400" dirty="0" smtClean="0">
                <a:solidFill>
                  <a:srgbClr val="FF0000"/>
                </a:solidFill>
              </a:rPr>
              <a:t>(conventional approach)</a:t>
            </a:r>
            <a:endParaRPr lang="en-US" sz="2400" b="0" dirty="0" smtClean="0">
              <a:solidFill>
                <a:srgbClr val="FF0000"/>
              </a:solidFill>
            </a:endParaRPr>
          </a:p>
          <a:p>
            <a:pPr>
              <a:buFont typeface="Arial" pitchFamily="34" charset="0"/>
              <a:buChar char="•"/>
            </a:pPr>
            <a:r>
              <a:rPr lang="en-US" sz="2400" dirty="0" smtClean="0"/>
              <a:t>  M</a:t>
            </a:r>
            <a:r>
              <a:rPr lang="en-US" sz="2400" b="0" dirty="0" smtClean="0">
                <a:solidFill>
                  <a:schemeClr val="tx1"/>
                </a:solidFill>
              </a:rPr>
              <a:t>emory </a:t>
            </a:r>
            <a:r>
              <a:rPr lang="en-US" sz="2400" b="0" dirty="0">
                <a:solidFill>
                  <a:schemeClr val="tx1"/>
                </a:solidFill>
              </a:rPr>
              <a:t>per processor = </a:t>
            </a:r>
            <a:r>
              <a:rPr lang="en-US" sz="2400" b="0" dirty="0" smtClean="0">
                <a:solidFill>
                  <a:schemeClr val="tx1"/>
                </a:solidFill>
              </a:rPr>
              <a:t> M = O(n</a:t>
            </a:r>
            <a:r>
              <a:rPr lang="en-US" sz="3200" b="0" baseline="30000" dirty="0" smtClean="0">
                <a:solidFill>
                  <a:schemeClr val="tx1"/>
                </a:solidFill>
              </a:rPr>
              <a:t>2</a:t>
            </a:r>
            <a:r>
              <a:rPr lang="en-US" sz="2400" b="0" dirty="0" smtClean="0">
                <a:solidFill>
                  <a:schemeClr val="tx1"/>
                </a:solidFill>
              </a:rPr>
              <a:t> </a:t>
            </a:r>
            <a:r>
              <a:rPr lang="en-US" sz="2400" b="0" dirty="0">
                <a:solidFill>
                  <a:schemeClr val="tx1"/>
                </a:solidFill>
              </a:rPr>
              <a:t>/ P</a:t>
            </a:r>
            <a:r>
              <a:rPr lang="en-US" sz="2400" b="0" dirty="0" smtClean="0">
                <a:solidFill>
                  <a:schemeClr val="tx1"/>
                </a:solidFill>
              </a:rPr>
              <a:t>)</a:t>
            </a:r>
            <a:endParaRPr lang="en-US" sz="2400" b="0" dirty="0">
              <a:solidFill>
                <a:schemeClr val="tx1"/>
              </a:solidFill>
            </a:endParaRPr>
          </a:p>
          <a:p>
            <a:pPr>
              <a:buFont typeface="Arial" pitchFamily="34" charset="0"/>
              <a:buChar char="•"/>
            </a:pPr>
            <a:r>
              <a:rPr lang="en-US" sz="2400" b="0" dirty="0">
                <a:solidFill>
                  <a:schemeClr val="tx1"/>
                </a:solidFill>
              </a:rPr>
              <a:t>  Recall lower bounds:</a:t>
            </a:r>
          </a:p>
          <a:p>
            <a:pPr lvl="1"/>
            <a:r>
              <a:rPr lang="en-US" sz="2400" b="0" dirty="0" smtClean="0">
                <a:solidFill>
                  <a:schemeClr val="tx1"/>
                </a:solidFill>
              </a:rPr>
              <a:t>#</a:t>
            </a:r>
            <a:r>
              <a:rPr lang="en-US" sz="2400" b="0" dirty="0" err="1" smtClean="0">
                <a:solidFill>
                  <a:schemeClr val="tx1"/>
                </a:solidFill>
              </a:rPr>
              <a:t>words_moved</a:t>
            </a:r>
            <a:r>
              <a:rPr lang="en-US" sz="2400" b="0" dirty="0" smtClean="0">
                <a:solidFill>
                  <a:schemeClr val="tx1"/>
                </a:solidFill>
              </a:rPr>
              <a:t>    =   </a:t>
            </a:r>
            <a:r>
              <a:rPr lang="en-US" sz="2400" dirty="0" smtClean="0">
                <a:sym typeface="Symbol" pitchFamily="18" charset="2"/>
              </a:rPr>
              <a:t>( (n</a:t>
            </a:r>
            <a:r>
              <a:rPr lang="en-US" sz="3200" baseline="30000" dirty="0" smtClean="0">
                <a:sym typeface="Symbol" pitchFamily="18" charset="2"/>
              </a:rPr>
              <a:t>3</a:t>
            </a:r>
            <a:r>
              <a:rPr lang="en-US" sz="2400" dirty="0" smtClean="0">
                <a:sym typeface="Symbol" pitchFamily="18" charset="2"/>
              </a:rPr>
              <a:t>/ P)  / M</a:t>
            </a:r>
            <a:r>
              <a:rPr lang="en-US" sz="3200" baseline="30000" dirty="0" smtClean="0">
                <a:sym typeface="Symbol" pitchFamily="18" charset="2"/>
              </a:rPr>
              <a:t>1/2</a:t>
            </a:r>
            <a:r>
              <a:rPr lang="en-US" sz="2400" dirty="0" smtClean="0">
                <a:sym typeface="Symbol" pitchFamily="18" charset="2"/>
              </a:rPr>
              <a:t> )  =  </a:t>
            </a:r>
            <a:r>
              <a:rPr lang="en-US" sz="2400" b="0" dirty="0">
                <a:solidFill>
                  <a:schemeClr val="tx1"/>
                </a:solidFill>
                <a:sym typeface="Symbol" pitchFamily="18" charset="2"/>
              </a:rPr>
              <a:t>( n</a:t>
            </a:r>
            <a:r>
              <a:rPr lang="en-US" sz="3200" b="0" baseline="30000" dirty="0">
                <a:solidFill>
                  <a:schemeClr val="tx1"/>
                </a:solidFill>
                <a:sym typeface="Symbol" pitchFamily="18" charset="2"/>
              </a:rPr>
              <a:t>2</a:t>
            </a:r>
            <a:r>
              <a:rPr lang="en-US" sz="2400" b="0" dirty="0">
                <a:solidFill>
                  <a:schemeClr val="tx1"/>
                </a:solidFill>
                <a:sym typeface="Symbol" pitchFamily="18" charset="2"/>
              </a:rPr>
              <a:t> /  P</a:t>
            </a:r>
            <a:r>
              <a:rPr lang="en-US" sz="3200" b="0" baseline="30000" dirty="0">
                <a:solidFill>
                  <a:schemeClr val="tx1"/>
                </a:solidFill>
                <a:sym typeface="Symbol" pitchFamily="18" charset="2"/>
              </a:rPr>
              <a:t>1/2</a:t>
            </a:r>
            <a:r>
              <a:rPr lang="en-US" sz="2400" b="0" dirty="0">
                <a:solidFill>
                  <a:schemeClr val="tx1"/>
                </a:solidFill>
                <a:sym typeface="Symbol" pitchFamily="18" charset="2"/>
              </a:rPr>
              <a:t> )      </a:t>
            </a:r>
            <a:r>
              <a:rPr lang="en-US" sz="2400" b="0" dirty="0" smtClean="0">
                <a:solidFill>
                  <a:schemeClr val="tx1"/>
                </a:solidFill>
                <a:sym typeface="Symbol" pitchFamily="18" charset="2"/>
              </a:rPr>
              <a:t>         </a:t>
            </a:r>
          </a:p>
          <a:p>
            <a:pPr lvl="1"/>
            <a:r>
              <a:rPr lang="en-US" sz="2400" b="0" dirty="0" smtClean="0">
                <a:solidFill>
                  <a:schemeClr val="tx1"/>
                </a:solidFill>
                <a:sym typeface="Symbol" pitchFamily="18" charset="2"/>
              </a:rPr>
              <a:t>#</a:t>
            </a:r>
            <a:r>
              <a:rPr lang="en-US" sz="2400" b="0" dirty="0">
                <a:solidFill>
                  <a:schemeClr val="tx1"/>
                </a:solidFill>
                <a:sym typeface="Symbol" pitchFamily="18" charset="2"/>
              </a:rPr>
              <a:t>messages </a:t>
            </a:r>
            <a:r>
              <a:rPr lang="en-US" sz="2400" b="0" dirty="0" smtClean="0">
                <a:solidFill>
                  <a:schemeClr val="tx1"/>
                </a:solidFill>
                <a:sym typeface="Symbol" pitchFamily="18" charset="2"/>
              </a:rPr>
              <a:t>           </a:t>
            </a:r>
            <a:r>
              <a:rPr lang="en-US" sz="2400" dirty="0" smtClean="0"/>
              <a:t>=   </a:t>
            </a:r>
            <a:r>
              <a:rPr lang="en-US" sz="2400" dirty="0" smtClean="0">
                <a:sym typeface="Symbol" pitchFamily="18" charset="2"/>
              </a:rPr>
              <a:t>( (n</a:t>
            </a:r>
            <a:r>
              <a:rPr lang="en-US" sz="3200" baseline="30000" dirty="0" smtClean="0">
                <a:sym typeface="Symbol" pitchFamily="18" charset="2"/>
              </a:rPr>
              <a:t>3</a:t>
            </a:r>
            <a:r>
              <a:rPr lang="en-US" sz="2400" dirty="0" smtClean="0">
                <a:sym typeface="Symbol" pitchFamily="18" charset="2"/>
              </a:rPr>
              <a:t>/ P)  / M</a:t>
            </a:r>
            <a:r>
              <a:rPr lang="en-US" sz="3200" baseline="30000" dirty="0" smtClean="0">
                <a:sym typeface="Symbol" pitchFamily="18" charset="2"/>
              </a:rPr>
              <a:t>3/2</a:t>
            </a:r>
            <a:r>
              <a:rPr lang="en-US" sz="2400" dirty="0" smtClean="0">
                <a:sym typeface="Symbol" pitchFamily="18" charset="2"/>
              </a:rPr>
              <a:t> )  </a:t>
            </a:r>
            <a:r>
              <a:rPr lang="en-US" sz="2400" b="0" dirty="0" smtClean="0">
                <a:solidFill>
                  <a:schemeClr val="tx1"/>
                </a:solidFill>
                <a:sym typeface="Symbol" pitchFamily="18" charset="2"/>
              </a:rPr>
              <a:t>=  </a:t>
            </a:r>
            <a:r>
              <a:rPr lang="en-US" sz="2400" b="0" dirty="0">
                <a:solidFill>
                  <a:schemeClr val="tx1"/>
                </a:solidFill>
                <a:sym typeface="Symbol" pitchFamily="18" charset="2"/>
              </a:rPr>
              <a:t>( P</a:t>
            </a:r>
            <a:r>
              <a:rPr lang="en-US" sz="3200" b="0" baseline="30000" dirty="0">
                <a:solidFill>
                  <a:schemeClr val="tx1"/>
                </a:solidFill>
                <a:sym typeface="Symbol" pitchFamily="18" charset="2"/>
              </a:rPr>
              <a:t>1/2</a:t>
            </a:r>
            <a:r>
              <a:rPr lang="en-US" sz="2400" b="0" dirty="0">
                <a:solidFill>
                  <a:schemeClr val="tx1"/>
                </a:solidFill>
                <a:sym typeface="Symbol" pitchFamily="18" charset="2"/>
              </a:rPr>
              <a:t> )</a:t>
            </a:r>
            <a:endParaRPr lang="en-US" sz="2400" b="0" dirty="0">
              <a:solidFill>
                <a:schemeClr val="tx1"/>
              </a:solidFill>
            </a:endParaRPr>
          </a:p>
        </p:txBody>
      </p:sp>
      <p:graphicFrame>
        <p:nvGraphicFramePr>
          <p:cNvPr id="13" name="Table 12"/>
          <p:cNvGraphicFramePr>
            <a:graphicFrameLocks noGrp="1"/>
          </p:cNvGraphicFramePr>
          <p:nvPr/>
        </p:nvGraphicFramePr>
        <p:xfrm>
          <a:off x="533400" y="3200400"/>
          <a:ext cx="8077200" cy="3383280"/>
        </p:xfrm>
        <a:graphic>
          <a:graphicData uri="http://schemas.openxmlformats.org/drawingml/2006/table">
            <a:tbl>
              <a:tblPr firstRow="1" bandRow="1">
                <a:tableStyleId>{5C22544A-7EE6-4342-B048-85BDC9FD1C3A}</a:tableStyleId>
              </a:tblPr>
              <a:tblGrid>
                <a:gridCol w="1905000"/>
                <a:gridCol w="1600200"/>
                <a:gridCol w="2229613"/>
                <a:gridCol w="2342387"/>
              </a:tblGrid>
              <a:tr h="370840">
                <a:tc>
                  <a:txBody>
                    <a:bodyPr/>
                    <a:lstStyle/>
                    <a:p>
                      <a:r>
                        <a:rPr lang="en-US" sz="2000" dirty="0" smtClean="0">
                          <a:solidFill>
                            <a:schemeClr val="tx1"/>
                          </a:solidFill>
                        </a:rPr>
                        <a:t>Algorithm</a:t>
                      </a:r>
                      <a:endParaRPr lang="en-US" sz="20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dirty="0" smtClean="0">
                          <a:solidFill>
                            <a:schemeClr val="tx1"/>
                          </a:solidFill>
                        </a:rPr>
                        <a:t>Reference</a:t>
                      </a:r>
                      <a:endParaRPr 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dirty="0" smtClean="0">
                          <a:solidFill>
                            <a:schemeClr val="tx1"/>
                          </a:solidFill>
                        </a:rPr>
                        <a:t>Factor exceeding lower bound for #</a:t>
                      </a:r>
                      <a:r>
                        <a:rPr lang="en-US" sz="2000" dirty="0" err="1" smtClean="0">
                          <a:solidFill>
                            <a:schemeClr val="tx1"/>
                          </a:solidFill>
                        </a:rPr>
                        <a:t>words_moved</a:t>
                      </a:r>
                      <a:endParaRPr 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dirty="0" smtClean="0">
                          <a:solidFill>
                            <a:schemeClr val="tx1"/>
                          </a:solidFill>
                        </a:rPr>
                        <a:t>Factor</a:t>
                      </a:r>
                      <a:r>
                        <a:rPr lang="en-US" sz="2000" baseline="0" dirty="0" smtClean="0">
                          <a:solidFill>
                            <a:schemeClr val="tx1"/>
                          </a:solidFill>
                        </a:rPr>
                        <a:t> exceeding lower bound for #messages</a:t>
                      </a:r>
                      <a:endParaRPr 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0840">
                <a:tc>
                  <a:txBody>
                    <a:bodyPr/>
                    <a:lstStyle/>
                    <a:p>
                      <a:r>
                        <a:rPr lang="en-US" sz="2000" b="1" dirty="0" smtClean="0"/>
                        <a:t>Matrix Multiply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b="1" dirty="0" smtClean="0"/>
                        <a:t>[Cannon, 69]</a:t>
                      </a:r>
                      <a:endParaRPr lang="en-US" sz="20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b="1" dirty="0" smtClean="0"/>
                        <a:t>1</a:t>
                      </a:r>
                      <a:endParaRPr lang="en-US" sz="20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b="1" dirty="0" smtClean="0"/>
                        <a:t>1</a:t>
                      </a:r>
                      <a:endParaRPr lang="en-US" sz="20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0840">
                <a:tc>
                  <a:txBody>
                    <a:bodyPr/>
                    <a:lstStyle/>
                    <a:p>
                      <a:r>
                        <a:rPr lang="en-US" sz="2000" b="1" dirty="0" err="1" smtClean="0"/>
                        <a:t>Cholesky</a:t>
                      </a:r>
                      <a:endParaRPr lang="en-US" sz="20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b="1" dirty="0" err="1" smtClean="0"/>
                        <a:t>ScaLAPACK</a:t>
                      </a:r>
                      <a:endParaRPr lang="en-US" sz="20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b="1" dirty="0" smtClean="0"/>
                        <a:t>log P</a:t>
                      </a:r>
                      <a:endParaRPr lang="en-US" sz="20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b="1" dirty="0" smtClean="0"/>
                        <a:t>log P</a:t>
                      </a:r>
                      <a:endParaRPr lang="en-US" sz="20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0840">
                <a:tc>
                  <a:txBody>
                    <a:bodyPr/>
                    <a:lstStyle/>
                    <a:p>
                      <a:r>
                        <a:rPr lang="en-US" sz="2000" b="1" dirty="0" smtClean="0"/>
                        <a:t>LU</a:t>
                      </a:r>
                      <a:endParaRPr lang="en-US" sz="20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b="1" dirty="0" err="1" smtClean="0"/>
                        <a:t>ScaLAPACK</a:t>
                      </a:r>
                      <a:endParaRPr lang="en-US" sz="20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b="1" dirty="0" smtClean="0"/>
                        <a:t>log</a:t>
                      </a:r>
                      <a:r>
                        <a:rPr lang="en-US" sz="2000" b="1" baseline="0" dirty="0" smtClean="0"/>
                        <a:t> P</a:t>
                      </a:r>
                      <a:endParaRPr lang="en-US" sz="20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b="1" dirty="0" smtClean="0">
                          <a:solidFill>
                            <a:srgbClr val="FF0000"/>
                          </a:solidFill>
                        </a:rPr>
                        <a:t>n log P / P</a:t>
                      </a:r>
                      <a:r>
                        <a:rPr lang="en-US" sz="2400" b="1" baseline="30000" dirty="0" smtClean="0">
                          <a:solidFill>
                            <a:srgbClr val="FF0000"/>
                          </a:solidFill>
                        </a:rPr>
                        <a:t>1/2</a:t>
                      </a:r>
                      <a:endParaRPr lang="en-US" sz="2000" b="1" baseline="300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0840">
                <a:tc>
                  <a:txBody>
                    <a:bodyPr/>
                    <a:lstStyle/>
                    <a:p>
                      <a:r>
                        <a:rPr lang="en-US" sz="2000" b="1" dirty="0" smtClean="0"/>
                        <a:t>QR</a:t>
                      </a:r>
                      <a:endParaRPr lang="en-US" sz="20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b="1" dirty="0" err="1" smtClean="0"/>
                        <a:t>ScaLAPACK</a:t>
                      </a:r>
                      <a:endParaRPr lang="en-US" sz="20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b="1" dirty="0" smtClean="0"/>
                        <a:t>log P</a:t>
                      </a:r>
                      <a:endParaRPr lang="en-US" sz="20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b="1" dirty="0" smtClean="0">
                          <a:solidFill>
                            <a:srgbClr val="FF0000"/>
                          </a:solidFill>
                        </a:rPr>
                        <a:t>n log P / P</a:t>
                      </a:r>
                      <a:r>
                        <a:rPr lang="en-US" sz="2400" b="1" baseline="30000" dirty="0" smtClean="0">
                          <a:solidFill>
                            <a:srgbClr val="FF0000"/>
                          </a:solidFill>
                        </a:rPr>
                        <a:t>1/2</a:t>
                      </a:r>
                      <a:endParaRPr lang="en-US" sz="2000" b="1" baseline="30000" dirty="0" smtClean="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0840">
                <a:tc>
                  <a:txBody>
                    <a:bodyPr/>
                    <a:lstStyle/>
                    <a:p>
                      <a:r>
                        <a:rPr lang="en-US" sz="2000" b="1" dirty="0" smtClean="0"/>
                        <a:t>Sym </a:t>
                      </a:r>
                      <a:r>
                        <a:rPr lang="en-US" sz="2000" b="1" dirty="0" err="1" smtClean="0"/>
                        <a:t>Eig</a:t>
                      </a:r>
                      <a:r>
                        <a:rPr lang="en-US" sz="2000" b="1" dirty="0" smtClean="0"/>
                        <a:t>, SVD</a:t>
                      </a:r>
                      <a:endParaRPr lang="en-US" sz="20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b="1" dirty="0" err="1" smtClean="0"/>
                        <a:t>ScaLAPACK</a:t>
                      </a:r>
                      <a:endParaRPr lang="en-US" sz="20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b="1" dirty="0" smtClean="0"/>
                        <a:t>log P</a:t>
                      </a:r>
                      <a:endParaRPr lang="en-US" sz="20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b="1" dirty="0" smtClean="0">
                          <a:solidFill>
                            <a:srgbClr val="FF0000"/>
                          </a:solidFill>
                        </a:rPr>
                        <a:t>n / P</a:t>
                      </a:r>
                      <a:r>
                        <a:rPr lang="en-US" sz="2400" b="1" baseline="30000" dirty="0" smtClean="0">
                          <a:solidFill>
                            <a:srgbClr val="FF0000"/>
                          </a:solidFill>
                        </a:rPr>
                        <a:t>1/2</a:t>
                      </a:r>
                      <a:endParaRPr lang="en-US" sz="2000" b="1" baseline="30000" dirty="0" smtClean="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0840">
                <a:tc>
                  <a:txBody>
                    <a:bodyPr/>
                    <a:lstStyle/>
                    <a:p>
                      <a:r>
                        <a:rPr lang="en-US" sz="2000" b="1" dirty="0" err="1" smtClean="0"/>
                        <a:t>Nonsym</a:t>
                      </a:r>
                      <a:r>
                        <a:rPr lang="en-US" sz="2000" b="1" dirty="0" smtClean="0"/>
                        <a:t> </a:t>
                      </a:r>
                      <a:r>
                        <a:rPr lang="en-US" sz="2000" b="1" dirty="0" err="1" smtClean="0"/>
                        <a:t>Eig</a:t>
                      </a:r>
                      <a:endParaRPr lang="en-US" sz="20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b="1" dirty="0" err="1" smtClean="0"/>
                        <a:t>ScaLAPACK</a:t>
                      </a:r>
                      <a:endParaRPr lang="en-US" sz="20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b="1" dirty="0" smtClean="0">
                          <a:solidFill>
                            <a:srgbClr val="FF0000"/>
                          </a:solidFill>
                        </a:rPr>
                        <a:t>P</a:t>
                      </a:r>
                      <a:r>
                        <a:rPr lang="en-US" sz="2400" b="1" baseline="30000" dirty="0" smtClean="0">
                          <a:solidFill>
                            <a:srgbClr val="FF0000"/>
                          </a:solidFill>
                        </a:rPr>
                        <a:t>1/2</a:t>
                      </a:r>
                      <a:r>
                        <a:rPr lang="en-US" sz="2000" b="1" dirty="0" smtClean="0">
                          <a:solidFill>
                            <a:srgbClr val="FF0000"/>
                          </a:solidFill>
                        </a:rPr>
                        <a:t> log P</a:t>
                      </a:r>
                      <a:endParaRPr lang="en-US" sz="2000"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b="1" smtClean="0">
                          <a:solidFill>
                            <a:srgbClr val="FF0000"/>
                          </a:solidFill>
                        </a:rPr>
                        <a:t>n log P </a:t>
                      </a:r>
                      <a:endParaRPr lang="en-US" sz="2000" b="1" baseline="30000" smtClean="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p:cxnSp>
        <p:nvCxnSpPr>
          <p:cNvPr id="14" name="Straight Connector 13"/>
          <p:cNvCxnSpPr/>
          <p:nvPr/>
        </p:nvCxnSpPr>
        <p:spPr>
          <a:xfrm>
            <a:off x="381000" y="990600"/>
            <a:ext cx="8305800" cy="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0725" name="Title 1"/>
          <p:cNvSpPr>
            <a:spLocks noGrp="1"/>
          </p:cNvSpPr>
          <p:nvPr>
            <p:ph type="title"/>
          </p:nvPr>
        </p:nvSpPr>
        <p:spPr>
          <a:xfrm>
            <a:off x="779463" y="112712"/>
            <a:ext cx="7296150" cy="801688"/>
          </a:xfrm>
        </p:spPr>
        <p:txBody>
          <a:bodyPr>
            <a:noAutofit/>
          </a:bodyPr>
          <a:lstStyle/>
          <a:p>
            <a:pPr algn="ctr"/>
            <a:r>
              <a:rPr lang="en-US" sz="3200" dirty="0" smtClean="0"/>
              <a:t>Summary of dense </a:t>
            </a:r>
            <a:r>
              <a:rPr lang="en-US" sz="3200" i="1" u="sng" dirty="0" smtClean="0"/>
              <a:t>parallel</a:t>
            </a:r>
            <a:r>
              <a:rPr lang="en-US" sz="3200" dirty="0" smtClean="0"/>
              <a:t> algorithms </a:t>
            </a:r>
            <a:br>
              <a:rPr lang="en-US" sz="3200" dirty="0" smtClean="0"/>
            </a:br>
            <a:r>
              <a:rPr lang="en-US" sz="3200" dirty="0" smtClean="0"/>
              <a:t>attaining communication lower bounds</a:t>
            </a:r>
          </a:p>
        </p:txBody>
      </p:sp>
      <p:sp>
        <p:nvSpPr>
          <p:cNvPr id="4" name="Slide Number Placeholder 3"/>
          <p:cNvSpPr>
            <a:spLocks noGrp="1"/>
          </p:cNvSpPr>
          <p:nvPr>
            <p:ph type="sldNum" sz="quarter" idx="11"/>
          </p:nvPr>
        </p:nvSpPr>
        <p:spPr>
          <a:xfrm>
            <a:off x="9832975" y="6400800"/>
            <a:ext cx="1905000" cy="457200"/>
          </a:xfrm>
        </p:spPr>
        <p:txBody>
          <a:bodyPr/>
          <a:lstStyle/>
          <a:p>
            <a:pPr>
              <a:defRPr/>
            </a:pPr>
            <a:fld id="{1110692E-4516-4640-ACA1-F899B3563FBA}" type="slidenum">
              <a:rPr lang="en-US" smtClean="0"/>
              <a:pPr>
                <a:defRPr/>
              </a:pPr>
              <a:t>97</a:t>
            </a:fld>
            <a:endParaRPr lang="en-US" dirty="0"/>
          </a:p>
        </p:txBody>
      </p:sp>
      <p:sp>
        <p:nvSpPr>
          <p:cNvPr id="30727" name="Rectangle 11"/>
          <p:cNvSpPr>
            <a:spLocks noChangeArrowheads="1"/>
          </p:cNvSpPr>
          <p:nvPr/>
        </p:nvSpPr>
        <p:spPr bwMode="auto">
          <a:xfrm>
            <a:off x="6796088" y="4476750"/>
            <a:ext cx="1843087" cy="282575"/>
          </a:xfrm>
          <a:prstGeom prst="rect">
            <a:avLst/>
          </a:prstGeom>
          <a:solidFill>
            <a:schemeClr val="bg1"/>
          </a:solidFill>
          <a:ln w="12700" algn="ctr">
            <a:noFill/>
            <a:round/>
            <a:headEnd type="none" w="sm" len="sm"/>
            <a:tailEnd type="none" w="sm" len="sm"/>
          </a:ln>
        </p:spPr>
        <p:txBody>
          <a:bodyPr/>
          <a:lstStyle/>
          <a:p>
            <a:pPr eaLnBrk="0" hangingPunct="0"/>
            <a:endParaRPr lang="en-US"/>
          </a:p>
        </p:txBody>
      </p:sp>
      <p:sp>
        <p:nvSpPr>
          <p:cNvPr id="30728" name="Rectangle 12"/>
          <p:cNvSpPr>
            <a:spLocks noChangeArrowheads="1"/>
          </p:cNvSpPr>
          <p:nvPr/>
        </p:nvSpPr>
        <p:spPr bwMode="auto">
          <a:xfrm>
            <a:off x="6861175" y="5118100"/>
            <a:ext cx="1843088" cy="282575"/>
          </a:xfrm>
          <a:prstGeom prst="rect">
            <a:avLst/>
          </a:prstGeom>
          <a:solidFill>
            <a:schemeClr val="bg1"/>
          </a:solidFill>
          <a:ln w="12700" algn="ctr">
            <a:noFill/>
            <a:round/>
            <a:headEnd type="none" w="sm" len="sm"/>
            <a:tailEnd type="none" w="sm" len="sm"/>
          </a:ln>
        </p:spPr>
        <p:txBody>
          <a:bodyPr/>
          <a:lstStyle/>
          <a:p>
            <a:pPr eaLnBrk="0" hangingPunct="0"/>
            <a:endParaRPr lang="en-US"/>
          </a:p>
        </p:txBody>
      </p:sp>
      <p:sp>
        <p:nvSpPr>
          <p:cNvPr id="30729" name="Rectangle 13"/>
          <p:cNvSpPr>
            <a:spLocks noChangeArrowheads="1"/>
          </p:cNvSpPr>
          <p:nvPr/>
        </p:nvSpPr>
        <p:spPr bwMode="auto">
          <a:xfrm>
            <a:off x="6778625" y="5773738"/>
            <a:ext cx="1843088" cy="280987"/>
          </a:xfrm>
          <a:prstGeom prst="rect">
            <a:avLst/>
          </a:prstGeom>
          <a:solidFill>
            <a:schemeClr val="bg1"/>
          </a:solidFill>
          <a:ln w="12700" algn="ctr">
            <a:noFill/>
            <a:round/>
            <a:headEnd type="none" w="sm" len="sm"/>
            <a:tailEnd type="none" w="sm" len="sm"/>
          </a:ln>
        </p:spPr>
        <p:txBody>
          <a:bodyPr/>
          <a:lstStyle/>
          <a:p>
            <a:pPr eaLnBrk="0" hangingPunct="0"/>
            <a:endParaRPr lang="en-US"/>
          </a:p>
        </p:txBody>
      </p:sp>
      <p:sp>
        <p:nvSpPr>
          <p:cNvPr id="30730" name="Rectangle 14"/>
          <p:cNvSpPr>
            <a:spLocks noChangeArrowheads="1"/>
          </p:cNvSpPr>
          <p:nvPr/>
        </p:nvSpPr>
        <p:spPr bwMode="auto">
          <a:xfrm>
            <a:off x="6778625" y="6400800"/>
            <a:ext cx="1843088" cy="280988"/>
          </a:xfrm>
          <a:prstGeom prst="rect">
            <a:avLst/>
          </a:prstGeom>
          <a:solidFill>
            <a:schemeClr val="bg1"/>
          </a:solidFill>
          <a:ln w="12700" algn="ctr">
            <a:noFill/>
            <a:round/>
            <a:headEnd type="none" w="sm" len="sm"/>
            <a:tailEnd type="none" w="sm" len="sm"/>
          </a:ln>
        </p:spPr>
        <p:txBody>
          <a:bodyPr/>
          <a:lstStyle/>
          <a:p>
            <a:pPr eaLnBrk="0" hangingPunct="0"/>
            <a:endParaRPr lang="en-US"/>
          </a:p>
        </p:txBody>
      </p:sp>
      <p:sp>
        <p:nvSpPr>
          <p:cNvPr id="30731" name="TextBox 7"/>
          <p:cNvSpPr txBox="1">
            <a:spLocks noChangeArrowheads="1"/>
          </p:cNvSpPr>
          <p:nvPr/>
        </p:nvSpPr>
        <p:spPr bwMode="auto">
          <a:xfrm>
            <a:off x="296103" y="1032808"/>
            <a:ext cx="8771697" cy="1938992"/>
          </a:xfrm>
          <a:prstGeom prst="rect">
            <a:avLst/>
          </a:prstGeom>
          <a:noFill/>
          <a:ln w="9525">
            <a:noFill/>
            <a:miter lim="800000"/>
            <a:headEnd/>
            <a:tailEnd/>
          </a:ln>
        </p:spPr>
        <p:txBody>
          <a:bodyPr wrap="none">
            <a:spAutoFit/>
          </a:bodyPr>
          <a:lstStyle/>
          <a:p>
            <a:pPr>
              <a:buFont typeface="Arial" pitchFamily="34" charset="0"/>
              <a:buChar char="•"/>
            </a:pPr>
            <a:r>
              <a:rPr lang="en-US" b="0" dirty="0">
                <a:solidFill>
                  <a:schemeClr val="tx1"/>
                </a:solidFill>
              </a:rPr>
              <a:t>  </a:t>
            </a:r>
            <a:r>
              <a:rPr lang="en-US" b="0" dirty="0" smtClean="0">
                <a:solidFill>
                  <a:schemeClr val="tx1"/>
                </a:solidFill>
              </a:rPr>
              <a:t> </a:t>
            </a:r>
            <a:r>
              <a:rPr lang="en-US" sz="2400" b="0" dirty="0" smtClean="0">
                <a:solidFill>
                  <a:schemeClr val="tx1"/>
                </a:solidFill>
              </a:rPr>
              <a:t>Assume </a:t>
            </a:r>
            <a:r>
              <a:rPr lang="en-US" sz="2400" b="0" dirty="0" err="1">
                <a:solidFill>
                  <a:schemeClr val="tx1"/>
                </a:solidFill>
              </a:rPr>
              <a:t>nxn</a:t>
            </a:r>
            <a:r>
              <a:rPr lang="en-US" sz="2400" b="0" dirty="0">
                <a:solidFill>
                  <a:schemeClr val="tx1"/>
                </a:solidFill>
              </a:rPr>
              <a:t> matrices on P </a:t>
            </a:r>
            <a:r>
              <a:rPr lang="en-US" sz="2400" b="0" dirty="0" smtClean="0">
                <a:solidFill>
                  <a:schemeClr val="tx1"/>
                </a:solidFill>
              </a:rPr>
              <a:t>processors</a:t>
            </a:r>
            <a:r>
              <a:rPr lang="en-US" sz="2400" dirty="0" smtClean="0"/>
              <a:t> (</a:t>
            </a:r>
            <a:r>
              <a:rPr lang="en-US" sz="2400" dirty="0" smtClean="0">
                <a:solidFill>
                  <a:srgbClr val="0824F2"/>
                </a:solidFill>
              </a:rPr>
              <a:t>better</a:t>
            </a:r>
            <a:r>
              <a:rPr lang="en-US" sz="2400" dirty="0" smtClean="0"/>
              <a:t>)</a:t>
            </a:r>
            <a:endParaRPr lang="en-US" sz="2400" b="0" dirty="0" smtClean="0">
              <a:solidFill>
                <a:schemeClr val="tx1"/>
              </a:solidFill>
            </a:endParaRPr>
          </a:p>
          <a:p>
            <a:pPr>
              <a:buFont typeface="Arial" pitchFamily="34" charset="0"/>
              <a:buChar char="•"/>
            </a:pPr>
            <a:r>
              <a:rPr lang="en-US" sz="2400" dirty="0" smtClean="0"/>
              <a:t>  M</a:t>
            </a:r>
            <a:r>
              <a:rPr lang="en-US" sz="2400" b="0" dirty="0" smtClean="0">
                <a:solidFill>
                  <a:schemeClr val="tx1"/>
                </a:solidFill>
              </a:rPr>
              <a:t>emory </a:t>
            </a:r>
            <a:r>
              <a:rPr lang="en-US" sz="2400" b="0" dirty="0">
                <a:solidFill>
                  <a:schemeClr val="tx1"/>
                </a:solidFill>
              </a:rPr>
              <a:t>per processor = </a:t>
            </a:r>
            <a:r>
              <a:rPr lang="en-US" sz="2400" b="0" dirty="0" smtClean="0">
                <a:solidFill>
                  <a:schemeClr val="tx1"/>
                </a:solidFill>
              </a:rPr>
              <a:t> M = O(n</a:t>
            </a:r>
            <a:r>
              <a:rPr lang="en-US" sz="3200" b="0" baseline="30000" dirty="0" smtClean="0">
                <a:solidFill>
                  <a:schemeClr val="tx1"/>
                </a:solidFill>
              </a:rPr>
              <a:t>2</a:t>
            </a:r>
            <a:r>
              <a:rPr lang="en-US" sz="2400" b="0" dirty="0" smtClean="0">
                <a:solidFill>
                  <a:schemeClr val="tx1"/>
                </a:solidFill>
              </a:rPr>
              <a:t> </a:t>
            </a:r>
            <a:r>
              <a:rPr lang="en-US" sz="2400" b="0" dirty="0">
                <a:solidFill>
                  <a:schemeClr val="tx1"/>
                </a:solidFill>
              </a:rPr>
              <a:t>/ P</a:t>
            </a:r>
            <a:r>
              <a:rPr lang="en-US" sz="2400" b="0" dirty="0" smtClean="0">
                <a:solidFill>
                  <a:schemeClr val="tx1"/>
                </a:solidFill>
              </a:rPr>
              <a:t>)</a:t>
            </a:r>
            <a:endParaRPr lang="en-US" sz="2400" b="0" dirty="0">
              <a:solidFill>
                <a:schemeClr val="tx1"/>
              </a:solidFill>
            </a:endParaRPr>
          </a:p>
          <a:p>
            <a:pPr>
              <a:buFont typeface="Arial" pitchFamily="34" charset="0"/>
              <a:buChar char="•"/>
            </a:pPr>
            <a:r>
              <a:rPr lang="en-US" sz="2400" b="0" dirty="0">
                <a:solidFill>
                  <a:schemeClr val="tx1"/>
                </a:solidFill>
              </a:rPr>
              <a:t>  Recall lower bounds:</a:t>
            </a:r>
          </a:p>
          <a:p>
            <a:pPr lvl="1"/>
            <a:r>
              <a:rPr lang="en-US" sz="2400" b="0" dirty="0" smtClean="0">
                <a:solidFill>
                  <a:schemeClr val="tx1"/>
                </a:solidFill>
              </a:rPr>
              <a:t>#</a:t>
            </a:r>
            <a:r>
              <a:rPr lang="en-US" sz="2400" b="0" dirty="0" err="1" smtClean="0">
                <a:solidFill>
                  <a:schemeClr val="tx1"/>
                </a:solidFill>
              </a:rPr>
              <a:t>words_moved</a:t>
            </a:r>
            <a:r>
              <a:rPr lang="en-US" sz="2400" b="0" dirty="0" smtClean="0">
                <a:solidFill>
                  <a:schemeClr val="tx1"/>
                </a:solidFill>
              </a:rPr>
              <a:t>    =   </a:t>
            </a:r>
            <a:r>
              <a:rPr lang="en-US" sz="2400" dirty="0" smtClean="0">
                <a:sym typeface="Symbol" pitchFamily="18" charset="2"/>
              </a:rPr>
              <a:t>( (n</a:t>
            </a:r>
            <a:r>
              <a:rPr lang="en-US" sz="3200" baseline="30000" dirty="0" smtClean="0">
                <a:sym typeface="Symbol" pitchFamily="18" charset="2"/>
              </a:rPr>
              <a:t>3</a:t>
            </a:r>
            <a:r>
              <a:rPr lang="en-US" sz="2400" dirty="0" smtClean="0">
                <a:sym typeface="Symbol" pitchFamily="18" charset="2"/>
              </a:rPr>
              <a:t>/ P)  / M</a:t>
            </a:r>
            <a:r>
              <a:rPr lang="en-US" sz="3200" baseline="30000" dirty="0" smtClean="0">
                <a:sym typeface="Symbol" pitchFamily="18" charset="2"/>
              </a:rPr>
              <a:t>1/2</a:t>
            </a:r>
            <a:r>
              <a:rPr lang="en-US" sz="2400" dirty="0" smtClean="0">
                <a:sym typeface="Symbol" pitchFamily="18" charset="2"/>
              </a:rPr>
              <a:t> )  =  </a:t>
            </a:r>
            <a:r>
              <a:rPr lang="en-US" sz="2400" b="0" dirty="0">
                <a:solidFill>
                  <a:schemeClr val="tx1"/>
                </a:solidFill>
                <a:sym typeface="Symbol" pitchFamily="18" charset="2"/>
              </a:rPr>
              <a:t>( n</a:t>
            </a:r>
            <a:r>
              <a:rPr lang="en-US" sz="3200" b="0" baseline="30000" dirty="0">
                <a:solidFill>
                  <a:schemeClr val="tx1"/>
                </a:solidFill>
                <a:sym typeface="Symbol" pitchFamily="18" charset="2"/>
              </a:rPr>
              <a:t>2</a:t>
            </a:r>
            <a:r>
              <a:rPr lang="en-US" sz="2400" b="0" dirty="0">
                <a:solidFill>
                  <a:schemeClr val="tx1"/>
                </a:solidFill>
                <a:sym typeface="Symbol" pitchFamily="18" charset="2"/>
              </a:rPr>
              <a:t> /  P</a:t>
            </a:r>
            <a:r>
              <a:rPr lang="en-US" sz="3200" b="0" baseline="30000" dirty="0">
                <a:solidFill>
                  <a:schemeClr val="tx1"/>
                </a:solidFill>
                <a:sym typeface="Symbol" pitchFamily="18" charset="2"/>
              </a:rPr>
              <a:t>1/2</a:t>
            </a:r>
            <a:r>
              <a:rPr lang="en-US" sz="2400" b="0" dirty="0">
                <a:solidFill>
                  <a:schemeClr val="tx1"/>
                </a:solidFill>
                <a:sym typeface="Symbol" pitchFamily="18" charset="2"/>
              </a:rPr>
              <a:t> )      </a:t>
            </a:r>
            <a:r>
              <a:rPr lang="en-US" sz="2400" b="0" dirty="0" smtClean="0">
                <a:solidFill>
                  <a:schemeClr val="tx1"/>
                </a:solidFill>
                <a:sym typeface="Symbol" pitchFamily="18" charset="2"/>
              </a:rPr>
              <a:t>         </a:t>
            </a:r>
          </a:p>
          <a:p>
            <a:pPr lvl="1"/>
            <a:r>
              <a:rPr lang="en-US" sz="2400" b="0" dirty="0" smtClean="0">
                <a:solidFill>
                  <a:schemeClr val="tx1"/>
                </a:solidFill>
                <a:sym typeface="Symbol" pitchFamily="18" charset="2"/>
              </a:rPr>
              <a:t>#</a:t>
            </a:r>
            <a:r>
              <a:rPr lang="en-US" sz="2400" b="0" dirty="0">
                <a:solidFill>
                  <a:schemeClr val="tx1"/>
                </a:solidFill>
                <a:sym typeface="Symbol" pitchFamily="18" charset="2"/>
              </a:rPr>
              <a:t>messages </a:t>
            </a:r>
            <a:r>
              <a:rPr lang="en-US" sz="2400" b="0" dirty="0" smtClean="0">
                <a:solidFill>
                  <a:schemeClr val="tx1"/>
                </a:solidFill>
                <a:sym typeface="Symbol" pitchFamily="18" charset="2"/>
              </a:rPr>
              <a:t>           </a:t>
            </a:r>
            <a:r>
              <a:rPr lang="en-US" sz="2400" dirty="0" smtClean="0"/>
              <a:t>=   </a:t>
            </a:r>
            <a:r>
              <a:rPr lang="en-US" sz="2400" dirty="0" smtClean="0">
                <a:sym typeface="Symbol" pitchFamily="18" charset="2"/>
              </a:rPr>
              <a:t>( (n</a:t>
            </a:r>
            <a:r>
              <a:rPr lang="en-US" sz="3200" baseline="30000" dirty="0" smtClean="0">
                <a:sym typeface="Symbol" pitchFamily="18" charset="2"/>
              </a:rPr>
              <a:t>3</a:t>
            </a:r>
            <a:r>
              <a:rPr lang="en-US" sz="2400" dirty="0" smtClean="0">
                <a:sym typeface="Symbol" pitchFamily="18" charset="2"/>
              </a:rPr>
              <a:t>/ P)  / M</a:t>
            </a:r>
            <a:r>
              <a:rPr lang="en-US" sz="3200" baseline="30000" dirty="0" smtClean="0">
                <a:sym typeface="Symbol" pitchFamily="18" charset="2"/>
              </a:rPr>
              <a:t>3/2</a:t>
            </a:r>
            <a:r>
              <a:rPr lang="en-US" sz="2400" dirty="0" smtClean="0">
                <a:sym typeface="Symbol" pitchFamily="18" charset="2"/>
              </a:rPr>
              <a:t> )  </a:t>
            </a:r>
            <a:r>
              <a:rPr lang="en-US" sz="2400" b="0" dirty="0" smtClean="0">
                <a:solidFill>
                  <a:schemeClr val="tx1"/>
                </a:solidFill>
                <a:sym typeface="Symbol" pitchFamily="18" charset="2"/>
              </a:rPr>
              <a:t>=  </a:t>
            </a:r>
            <a:r>
              <a:rPr lang="en-US" sz="2400" b="0" dirty="0">
                <a:solidFill>
                  <a:schemeClr val="tx1"/>
                </a:solidFill>
                <a:sym typeface="Symbol" pitchFamily="18" charset="2"/>
              </a:rPr>
              <a:t>( P</a:t>
            </a:r>
            <a:r>
              <a:rPr lang="en-US" sz="3200" b="0" baseline="30000" dirty="0">
                <a:solidFill>
                  <a:schemeClr val="tx1"/>
                </a:solidFill>
                <a:sym typeface="Symbol" pitchFamily="18" charset="2"/>
              </a:rPr>
              <a:t>1/2</a:t>
            </a:r>
            <a:r>
              <a:rPr lang="en-US" sz="2400" b="0" dirty="0">
                <a:solidFill>
                  <a:schemeClr val="tx1"/>
                </a:solidFill>
                <a:sym typeface="Symbol" pitchFamily="18" charset="2"/>
              </a:rPr>
              <a:t> )</a:t>
            </a:r>
            <a:endParaRPr lang="en-US" sz="2400" b="0" dirty="0">
              <a:solidFill>
                <a:schemeClr val="tx1"/>
              </a:solidFill>
            </a:endParaRPr>
          </a:p>
        </p:txBody>
      </p:sp>
      <p:graphicFrame>
        <p:nvGraphicFramePr>
          <p:cNvPr id="13" name="Table 12"/>
          <p:cNvGraphicFramePr>
            <a:graphicFrameLocks noGrp="1"/>
          </p:cNvGraphicFramePr>
          <p:nvPr/>
        </p:nvGraphicFramePr>
        <p:xfrm>
          <a:off x="533400" y="3200400"/>
          <a:ext cx="8077200" cy="3383280"/>
        </p:xfrm>
        <a:graphic>
          <a:graphicData uri="http://schemas.openxmlformats.org/drawingml/2006/table">
            <a:tbl>
              <a:tblPr firstRow="1" bandRow="1">
                <a:tableStyleId>{5C22544A-7EE6-4342-B048-85BDC9FD1C3A}</a:tableStyleId>
              </a:tblPr>
              <a:tblGrid>
                <a:gridCol w="1905000"/>
                <a:gridCol w="1600200"/>
                <a:gridCol w="2229613"/>
                <a:gridCol w="2342387"/>
              </a:tblGrid>
              <a:tr h="370840">
                <a:tc>
                  <a:txBody>
                    <a:bodyPr/>
                    <a:lstStyle/>
                    <a:p>
                      <a:r>
                        <a:rPr lang="en-US" sz="2000" dirty="0" smtClean="0">
                          <a:solidFill>
                            <a:schemeClr val="tx1"/>
                          </a:solidFill>
                        </a:rPr>
                        <a:t>Algorithm</a:t>
                      </a:r>
                      <a:endParaRPr lang="en-US" sz="20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dirty="0" smtClean="0">
                          <a:solidFill>
                            <a:schemeClr val="tx1"/>
                          </a:solidFill>
                        </a:rPr>
                        <a:t>Reference</a:t>
                      </a:r>
                      <a:endParaRPr 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dirty="0" smtClean="0">
                          <a:solidFill>
                            <a:schemeClr val="tx1"/>
                          </a:solidFill>
                        </a:rPr>
                        <a:t>Factor exceeding lower bound for #</a:t>
                      </a:r>
                      <a:r>
                        <a:rPr lang="en-US" sz="2000" dirty="0" err="1" smtClean="0">
                          <a:solidFill>
                            <a:schemeClr val="tx1"/>
                          </a:solidFill>
                        </a:rPr>
                        <a:t>words_moved</a:t>
                      </a:r>
                      <a:endParaRPr 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dirty="0" smtClean="0">
                          <a:solidFill>
                            <a:schemeClr val="tx1"/>
                          </a:solidFill>
                        </a:rPr>
                        <a:t>Factor</a:t>
                      </a:r>
                      <a:r>
                        <a:rPr lang="en-US" sz="2000" baseline="0" dirty="0" smtClean="0">
                          <a:solidFill>
                            <a:schemeClr val="tx1"/>
                          </a:solidFill>
                        </a:rPr>
                        <a:t> exceeding lower bound for #messages</a:t>
                      </a:r>
                      <a:endParaRPr 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0840">
                <a:tc>
                  <a:txBody>
                    <a:bodyPr/>
                    <a:lstStyle/>
                    <a:p>
                      <a:r>
                        <a:rPr lang="en-US" sz="2000" b="1" dirty="0" smtClean="0"/>
                        <a:t>Matrix Multiply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b="1" dirty="0" smtClean="0"/>
                        <a:t>[Cannon, 69]</a:t>
                      </a:r>
                      <a:endParaRPr lang="en-US" sz="20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b="1" dirty="0" smtClean="0"/>
                        <a:t>1</a:t>
                      </a:r>
                      <a:endParaRPr lang="en-US" sz="20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b="1" dirty="0" smtClean="0"/>
                        <a:t>1</a:t>
                      </a:r>
                      <a:endParaRPr lang="en-US" sz="20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0840">
                <a:tc>
                  <a:txBody>
                    <a:bodyPr/>
                    <a:lstStyle/>
                    <a:p>
                      <a:r>
                        <a:rPr lang="en-US" sz="2000" b="1" dirty="0" err="1" smtClean="0"/>
                        <a:t>Cholesky</a:t>
                      </a:r>
                      <a:endParaRPr lang="en-US" sz="20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b="1" dirty="0" err="1" smtClean="0"/>
                        <a:t>ScaLAPACK</a:t>
                      </a:r>
                      <a:endParaRPr lang="en-US" sz="20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b="1" dirty="0" smtClean="0"/>
                        <a:t>log P</a:t>
                      </a:r>
                      <a:endParaRPr lang="en-US" sz="20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b="1" dirty="0" smtClean="0"/>
                        <a:t>log P</a:t>
                      </a:r>
                      <a:endParaRPr lang="en-US" sz="20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0840">
                <a:tc>
                  <a:txBody>
                    <a:bodyPr/>
                    <a:lstStyle/>
                    <a:p>
                      <a:r>
                        <a:rPr lang="en-US" sz="2000" b="1" dirty="0" smtClean="0"/>
                        <a:t>LU</a:t>
                      </a:r>
                      <a:endParaRPr lang="en-US" sz="20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b="1" dirty="0" smtClean="0">
                          <a:solidFill>
                            <a:srgbClr val="0824F2"/>
                          </a:solidFill>
                        </a:rPr>
                        <a:t>[GDX10]</a:t>
                      </a:r>
                      <a:endParaRPr lang="en-US" sz="2000" b="1" dirty="0">
                        <a:solidFill>
                          <a:srgbClr val="0824F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b="1" dirty="0" smtClean="0"/>
                        <a:t>log</a:t>
                      </a:r>
                      <a:r>
                        <a:rPr lang="en-US" sz="2000" b="1" baseline="0" dirty="0" smtClean="0"/>
                        <a:t> P</a:t>
                      </a:r>
                      <a:endParaRPr lang="en-US" sz="20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b="1" dirty="0" smtClean="0">
                          <a:solidFill>
                            <a:srgbClr val="0824F2"/>
                          </a:solidFill>
                        </a:rPr>
                        <a:t>log P</a:t>
                      </a:r>
                      <a:endParaRPr lang="en-US" sz="2000" b="1" baseline="30000" dirty="0">
                        <a:solidFill>
                          <a:srgbClr val="0824F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0840">
                <a:tc>
                  <a:txBody>
                    <a:bodyPr/>
                    <a:lstStyle/>
                    <a:p>
                      <a:r>
                        <a:rPr lang="en-US" sz="2000" b="1" dirty="0" smtClean="0"/>
                        <a:t>QR</a:t>
                      </a:r>
                      <a:endParaRPr lang="en-US" sz="20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b="1" dirty="0" smtClean="0">
                          <a:solidFill>
                            <a:srgbClr val="0824F2"/>
                          </a:solidFill>
                        </a:rPr>
                        <a:t>[DGHL08]</a:t>
                      </a:r>
                      <a:endParaRPr lang="en-US" sz="2000" b="1" dirty="0">
                        <a:solidFill>
                          <a:srgbClr val="0824F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b="1" dirty="0" smtClean="0"/>
                        <a:t>log P</a:t>
                      </a:r>
                      <a:endParaRPr lang="en-US" sz="20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b="1" dirty="0" smtClean="0">
                          <a:solidFill>
                            <a:srgbClr val="0824F2"/>
                          </a:solidFill>
                        </a:rPr>
                        <a:t> log</a:t>
                      </a:r>
                      <a:r>
                        <a:rPr lang="en-US" sz="2400" b="1" baseline="30000" dirty="0" smtClean="0">
                          <a:solidFill>
                            <a:srgbClr val="0824F2"/>
                          </a:solidFill>
                        </a:rPr>
                        <a:t>3</a:t>
                      </a:r>
                      <a:r>
                        <a:rPr lang="en-US" sz="2000" b="1" dirty="0" smtClean="0">
                          <a:solidFill>
                            <a:srgbClr val="0824F2"/>
                          </a:solidFill>
                        </a:rPr>
                        <a:t> P</a:t>
                      </a:r>
                      <a:endParaRPr lang="en-US" sz="2000" b="1" baseline="30000" dirty="0" smtClean="0">
                        <a:solidFill>
                          <a:srgbClr val="0824F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0840">
                <a:tc>
                  <a:txBody>
                    <a:bodyPr/>
                    <a:lstStyle/>
                    <a:p>
                      <a:r>
                        <a:rPr lang="en-US" sz="2000" b="1" dirty="0" smtClean="0"/>
                        <a:t>Sym </a:t>
                      </a:r>
                      <a:r>
                        <a:rPr lang="en-US" sz="2000" b="1" dirty="0" err="1" smtClean="0"/>
                        <a:t>Eig</a:t>
                      </a:r>
                      <a:r>
                        <a:rPr lang="en-US" sz="2000" b="1" dirty="0" smtClean="0"/>
                        <a:t>, SVD</a:t>
                      </a:r>
                      <a:endParaRPr lang="en-US" sz="20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b="1" dirty="0" smtClean="0">
                          <a:solidFill>
                            <a:srgbClr val="0824F2"/>
                          </a:solidFill>
                        </a:rPr>
                        <a:t>[BDD11]</a:t>
                      </a:r>
                      <a:endParaRPr lang="en-US" sz="2000" b="1" dirty="0">
                        <a:solidFill>
                          <a:srgbClr val="0824F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b="1" dirty="0" smtClean="0"/>
                        <a:t>log P</a:t>
                      </a:r>
                      <a:endParaRPr lang="en-US" sz="20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b="1" dirty="0" smtClean="0">
                          <a:solidFill>
                            <a:srgbClr val="0824F2"/>
                          </a:solidFill>
                        </a:rPr>
                        <a:t>log</a:t>
                      </a:r>
                      <a:r>
                        <a:rPr lang="en-US" sz="2400" b="1" baseline="30000" dirty="0" smtClean="0">
                          <a:solidFill>
                            <a:srgbClr val="0824F2"/>
                          </a:solidFill>
                        </a:rPr>
                        <a:t>3</a:t>
                      </a:r>
                      <a:r>
                        <a:rPr lang="en-US" sz="2000" b="1" dirty="0" smtClean="0">
                          <a:solidFill>
                            <a:srgbClr val="0824F2"/>
                          </a:solidFill>
                        </a:rPr>
                        <a:t> P</a:t>
                      </a:r>
                      <a:endParaRPr lang="en-US" sz="2000" b="1" baseline="30000" dirty="0" smtClean="0">
                        <a:solidFill>
                          <a:srgbClr val="0824F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0840">
                <a:tc>
                  <a:txBody>
                    <a:bodyPr/>
                    <a:lstStyle/>
                    <a:p>
                      <a:r>
                        <a:rPr lang="en-US" sz="2000" b="1" dirty="0" err="1" smtClean="0"/>
                        <a:t>Nonsym</a:t>
                      </a:r>
                      <a:r>
                        <a:rPr lang="en-US" sz="2000" b="1" dirty="0" smtClean="0"/>
                        <a:t> </a:t>
                      </a:r>
                      <a:r>
                        <a:rPr lang="en-US" sz="2000" b="1" dirty="0" err="1" smtClean="0"/>
                        <a:t>Eig</a:t>
                      </a:r>
                      <a:endParaRPr lang="en-US" sz="20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b="1" dirty="0" smtClean="0">
                          <a:solidFill>
                            <a:srgbClr val="0824F2"/>
                          </a:solidFill>
                        </a:rPr>
                        <a:t>[BDD11]</a:t>
                      </a:r>
                      <a:endParaRPr lang="en-US" sz="2000" b="1" dirty="0">
                        <a:solidFill>
                          <a:srgbClr val="0824F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b="1" dirty="0" smtClean="0">
                          <a:solidFill>
                            <a:srgbClr val="0824F2"/>
                          </a:solidFill>
                        </a:rPr>
                        <a:t>log P</a:t>
                      </a:r>
                      <a:endParaRPr lang="en-US" sz="2000" b="1" dirty="0">
                        <a:solidFill>
                          <a:srgbClr val="0824F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b="1" dirty="0" smtClean="0">
                          <a:solidFill>
                            <a:srgbClr val="0824F2"/>
                          </a:solidFill>
                        </a:rPr>
                        <a:t> log</a:t>
                      </a:r>
                      <a:r>
                        <a:rPr lang="en-US" sz="2400" b="1" baseline="30000" dirty="0" smtClean="0">
                          <a:solidFill>
                            <a:srgbClr val="0824F2"/>
                          </a:solidFill>
                        </a:rPr>
                        <a:t>3</a:t>
                      </a:r>
                      <a:r>
                        <a:rPr lang="en-US" sz="2000" b="1" dirty="0" smtClean="0">
                          <a:solidFill>
                            <a:srgbClr val="0824F2"/>
                          </a:solidFill>
                        </a:rPr>
                        <a:t> P</a:t>
                      </a:r>
                      <a:endParaRPr lang="en-US" sz="2000" b="1" baseline="30000" dirty="0" smtClean="0">
                        <a:solidFill>
                          <a:srgbClr val="0824F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p:cxnSp>
        <p:nvCxnSpPr>
          <p:cNvPr id="14" name="Straight Connector 13"/>
          <p:cNvCxnSpPr/>
          <p:nvPr/>
        </p:nvCxnSpPr>
        <p:spPr>
          <a:xfrm>
            <a:off x="381000" y="990600"/>
            <a:ext cx="8305800" cy="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5" name="Title 1"/>
          <p:cNvSpPr>
            <a:spLocks noGrp="1"/>
          </p:cNvSpPr>
          <p:nvPr>
            <p:ph type="title"/>
          </p:nvPr>
        </p:nvSpPr>
        <p:spPr>
          <a:xfrm>
            <a:off x="779463" y="112712"/>
            <a:ext cx="7296150" cy="801688"/>
          </a:xfrm>
        </p:spPr>
        <p:txBody>
          <a:bodyPr>
            <a:noAutofit/>
          </a:bodyPr>
          <a:lstStyle/>
          <a:p>
            <a:pPr algn="ctr"/>
            <a:r>
              <a:rPr lang="en-US" sz="3200" dirty="0" smtClean="0">
                <a:solidFill>
                  <a:srgbClr val="0824F2"/>
                </a:solidFill>
              </a:rPr>
              <a:t>Can we do even better?</a:t>
            </a:r>
          </a:p>
        </p:txBody>
      </p:sp>
      <p:sp>
        <p:nvSpPr>
          <p:cNvPr id="4" name="Slide Number Placeholder 3"/>
          <p:cNvSpPr>
            <a:spLocks noGrp="1"/>
          </p:cNvSpPr>
          <p:nvPr>
            <p:ph type="sldNum" sz="quarter" idx="11"/>
          </p:nvPr>
        </p:nvSpPr>
        <p:spPr>
          <a:xfrm>
            <a:off x="9832975" y="6400800"/>
            <a:ext cx="1905000" cy="457200"/>
          </a:xfrm>
        </p:spPr>
        <p:txBody>
          <a:bodyPr/>
          <a:lstStyle/>
          <a:p>
            <a:pPr>
              <a:defRPr/>
            </a:pPr>
            <a:fld id="{1110692E-4516-4640-ACA1-F899B3563FBA}" type="slidenum">
              <a:rPr lang="en-US" smtClean="0"/>
              <a:pPr>
                <a:defRPr/>
              </a:pPr>
              <a:t>98</a:t>
            </a:fld>
            <a:endParaRPr lang="en-US" dirty="0"/>
          </a:p>
        </p:txBody>
      </p:sp>
      <p:sp>
        <p:nvSpPr>
          <p:cNvPr id="30727" name="Rectangle 11"/>
          <p:cNvSpPr>
            <a:spLocks noChangeArrowheads="1"/>
          </p:cNvSpPr>
          <p:nvPr/>
        </p:nvSpPr>
        <p:spPr bwMode="auto">
          <a:xfrm>
            <a:off x="6796088" y="4476750"/>
            <a:ext cx="1843087" cy="282575"/>
          </a:xfrm>
          <a:prstGeom prst="rect">
            <a:avLst/>
          </a:prstGeom>
          <a:solidFill>
            <a:schemeClr val="bg1"/>
          </a:solidFill>
          <a:ln w="12700" algn="ctr">
            <a:noFill/>
            <a:round/>
            <a:headEnd type="none" w="sm" len="sm"/>
            <a:tailEnd type="none" w="sm" len="sm"/>
          </a:ln>
        </p:spPr>
        <p:txBody>
          <a:bodyPr/>
          <a:lstStyle/>
          <a:p>
            <a:pPr eaLnBrk="0" hangingPunct="0"/>
            <a:endParaRPr lang="en-US"/>
          </a:p>
        </p:txBody>
      </p:sp>
      <p:sp>
        <p:nvSpPr>
          <p:cNvPr id="30728" name="Rectangle 12"/>
          <p:cNvSpPr>
            <a:spLocks noChangeArrowheads="1"/>
          </p:cNvSpPr>
          <p:nvPr/>
        </p:nvSpPr>
        <p:spPr bwMode="auto">
          <a:xfrm>
            <a:off x="6861175" y="5118100"/>
            <a:ext cx="1843088" cy="282575"/>
          </a:xfrm>
          <a:prstGeom prst="rect">
            <a:avLst/>
          </a:prstGeom>
          <a:solidFill>
            <a:schemeClr val="bg1"/>
          </a:solidFill>
          <a:ln w="12700" algn="ctr">
            <a:noFill/>
            <a:round/>
            <a:headEnd type="none" w="sm" len="sm"/>
            <a:tailEnd type="none" w="sm" len="sm"/>
          </a:ln>
        </p:spPr>
        <p:txBody>
          <a:bodyPr/>
          <a:lstStyle/>
          <a:p>
            <a:pPr eaLnBrk="0" hangingPunct="0"/>
            <a:endParaRPr lang="en-US"/>
          </a:p>
        </p:txBody>
      </p:sp>
      <p:sp>
        <p:nvSpPr>
          <p:cNvPr id="30729" name="Rectangle 13"/>
          <p:cNvSpPr>
            <a:spLocks noChangeArrowheads="1"/>
          </p:cNvSpPr>
          <p:nvPr/>
        </p:nvSpPr>
        <p:spPr bwMode="auto">
          <a:xfrm>
            <a:off x="6778625" y="5773738"/>
            <a:ext cx="1843088" cy="280987"/>
          </a:xfrm>
          <a:prstGeom prst="rect">
            <a:avLst/>
          </a:prstGeom>
          <a:solidFill>
            <a:schemeClr val="bg1"/>
          </a:solidFill>
          <a:ln w="12700" algn="ctr">
            <a:noFill/>
            <a:round/>
            <a:headEnd type="none" w="sm" len="sm"/>
            <a:tailEnd type="none" w="sm" len="sm"/>
          </a:ln>
        </p:spPr>
        <p:txBody>
          <a:bodyPr/>
          <a:lstStyle/>
          <a:p>
            <a:pPr eaLnBrk="0" hangingPunct="0"/>
            <a:endParaRPr lang="en-US"/>
          </a:p>
        </p:txBody>
      </p:sp>
      <p:sp>
        <p:nvSpPr>
          <p:cNvPr id="30730" name="Rectangle 14"/>
          <p:cNvSpPr>
            <a:spLocks noChangeArrowheads="1"/>
          </p:cNvSpPr>
          <p:nvPr/>
        </p:nvSpPr>
        <p:spPr bwMode="auto">
          <a:xfrm>
            <a:off x="6778625" y="6400800"/>
            <a:ext cx="1843088" cy="280988"/>
          </a:xfrm>
          <a:prstGeom prst="rect">
            <a:avLst/>
          </a:prstGeom>
          <a:solidFill>
            <a:schemeClr val="bg1"/>
          </a:solidFill>
          <a:ln w="12700" algn="ctr">
            <a:noFill/>
            <a:round/>
            <a:headEnd type="none" w="sm" len="sm"/>
            <a:tailEnd type="none" w="sm" len="sm"/>
          </a:ln>
        </p:spPr>
        <p:txBody>
          <a:bodyPr/>
          <a:lstStyle/>
          <a:p>
            <a:pPr eaLnBrk="0" hangingPunct="0"/>
            <a:endParaRPr lang="en-US"/>
          </a:p>
        </p:txBody>
      </p:sp>
      <p:sp>
        <p:nvSpPr>
          <p:cNvPr id="30731" name="TextBox 7"/>
          <p:cNvSpPr txBox="1">
            <a:spLocks noChangeArrowheads="1"/>
          </p:cNvSpPr>
          <p:nvPr/>
        </p:nvSpPr>
        <p:spPr bwMode="auto">
          <a:xfrm>
            <a:off x="296103" y="1032808"/>
            <a:ext cx="8771697" cy="1938992"/>
          </a:xfrm>
          <a:prstGeom prst="rect">
            <a:avLst/>
          </a:prstGeom>
          <a:noFill/>
          <a:ln w="9525">
            <a:noFill/>
            <a:miter lim="800000"/>
            <a:headEnd/>
            <a:tailEnd/>
          </a:ln>
        </p:spPr>
        <p:txBody>
          <a:bodyPr wrap="none">
            <a:spAutoFit/>
          </a:bodyPr>
          <a:lstStyle/>
          <a:p>
            <a:pPr>
              <a:buFont typeface="Arial" pitchFamily="34" charset="0"/>
              <a:buChar char="•"/>
            </a:pPr>
            <a:r>
              <a:rPr lang="en-US" b="0" dirty="0">
                <a:solidFill>
                  <a:schemeClr val="tx1"/>
                </a:solidFill>
              </a:rPr>
              <a:t>  </a:t>
            </a:r>
            <a:r>
              <a:rPr lang="en-US" b="0" dirty="0" smtClean="0">
                <a:solidFill>
                  <a:schemeClr val="tx1"/>
                </a:solidFill>
              </a:rPr>
              <a:t> </a:t>
            </a:r>
            <a:r>
              <a:rPr lang="en-US" sz="2400" b="0" dirty="0" smtClean="0">
                <a:solidFill>
                  <a:schemeClr val="tx1"/>
                </a:solidFill>
              </a:rPr>
              <a:t>Assume </a:t>
            </a:r>
            <a:r>
              <a:rPr lang="en-US" sz="2400" b="0" dirty="0" err="1">
                <a:solidFill>
                  <a:schemeClr val="tx1"/>
                </a:solidFill>
              </a:rPr>
              <a:t>nxn</a:t>
            </a:r>
            <a:r>
              <a:rPr lang="en-US" sz="2400" b="0" dirty="0">
                <a:solidFill>
                  <a:schemeClr val="tx1"/>
                </a:solidFill>
              </a:rPr>
              <a:t> matrices on P </a:t>
            </a:r>
            <a:r>
              <a:rPr lang="en-US" sz="2400" b="0" dirty="0" smtClean="0">
                <a:solidFill>
                  <a:schemeClr val="tx1"/>
                </a:solidFill>
              </a:rPr>
              <a:t>processors</a:t>
            </a:r>
            <a:r>
              <a:rPr lang="en-US" sz="2400" dirty="0" smtClean="0"/>
              <a:t> </a:t>
            </a:r>
            <a:endParaRPr lang="en-US" sz="2400" b="0" dirty="0" smtClean="0">
              <a:solidFill>
                <a:schemeClr val="tx1"/>
              </a:solidFill>
            </a:endParaRPr>
          </a:p>
          <a:p>
            <a:pPr>
              <a:buFont typeface="Arial" pitchFamily="34" charset="0"/>
              <a:buChar char="•"/>
            </a:pPr>
            <a:r>
              <a:rPr lang="en-US" sz="2400" dirty="0" smtClean="0"/>
              <a:t>  </a:t>
            </a:r>
            <a:r>
              <a:rPr lang="en-US" sz="2400" dirty="0" smtClean="0">
                <a:solidFill>
                  <a:srgbClr val="0824F2"/>
                </a:solidFill>
              </a:rPr>
              <a:t>Why just one copy of data:</a:t>
            </a:r>
            <a:r>
              <a:rPr lang="en-US" sz="2400" b="0" dirty="0" smtClean="0">
                <a:solidFill>
                  <a:srgbClr val="0824F2"/>
                </a:solidFill>
              </a:rPr>
              <a:t>  M = O(n</a:t>
            </a:r>
            <a:r>
              <a:rPr lang="en-US" sz="3200" b="0" baseline="30000" dirty="0" smtClean="0">
                <a:solidFill>
                  <a:srgbClr val="0824F2"/>
                </a:solidFill>
              </a:rPr>
              <a:t>2</a:t>
            </a:r>
            <a:r>
              <a:rPr lang="en-US" sz="2400" b="0" dirty="0" smtClean="0">
                <a:solidFill>
                  <a:srgbClr val="0824F2"/>
                </a:solidFill>
              </a:rPr>
              <a:t> </a:t>
            </a:r>
            <a:r>
              <a:rPr lang="en-US" sz="2400" b="0" dirty="0">
                <a:solidFill>
                  <a:srgbClr val="0824F2"/>
                </a:solidFill>
              </a:rPr>
              <a:t>/ P</a:t>
            </a:r>
            <a:r>
              <a:rPr lang="en-US" sz="2400" b="0" dirty="0" smtClean="0">
                <a:solidFill>
                  <a:srgbClr val="0824F2"/>
                </a:solidFill>
              </a:rPr>
              <a:t>) per processor?</a:t>
            </a:r>
            <a:endParaRPr lang="en-US" sz="2400" b="0" dirty="0">
              <a:solidFill>
                <a:srgbClr val="0824F2"/>
              </a:solidFill>
            </a:endParaRPr>
          </a:p>
          <a:p>
            <a:pPr>
              <a:buFont typeface="Arial" pitchFamily="34" charset="0"/>
              <a:buChar char="•"/>
            </a:pPr>
            <a:r>
              <a:rPr lang="en-US" sz="2400" b="0" dirty="0">
                <a:solidFill>
                  <a:schemeClr val="tx1"/>
                </a:solidFill>
              </a:rPr>
              <a:t>  Recall lower bounds:</a:t>
            </a:r>
          </a:p>
          <a:p>
            <a:pPr lvl="1"/>
            <a:r>
              <a:rPr lang="en-US" sz="2400" b="0" dirty="0" smtClean="0">
                <a:solidFill>
                  <a:schemeClr val="tx1"/>
                </a:solidFill>
              </a:rPr>
              <a:t>#</a:t>
            </a:r>
            <a:r>
              <a:rPr lang="en-US" sz="2400" b="0" dirty="0" err="1" smtClean="0">
                <a:solidFill>
                  <a:schemeClr val="tx1"/>
                </a:solidFill>
              </a:rPr>
              <a:t>words_moved</a:t>
            </a:r>
            <a:r>
              <a:rPr lang="en-US" sz="2400" b="0" dirty="0" smtClean="0">
                <a:solidFill>
                  <a:schemeClr val="tx1"/>
                </a:solidFill>
              </a:rPr>
              <a:t>    =   </a:t>
            </a:r>
            <a:r>
              <a:rPr lang="en-US" sz="2400" dirty="0" smtClean="0">
                <a:sym typeface="Symbol" pitchFamily="18" charset="2"/>
              </a:rPr>
              <a:t>( (n</a:t>
            </a:r>
            <a:r>
              <a:rPr lang="en-US" sz="3200" baseline="30000" dirty="0" smtClean="0">
                <a:sym typeface="Symbol" pitchFamily="18" charset="2"/>
              </a:rPr>
              <a:t>3</a:t>
            </a:r>
            <a:r>
              <a:rPr lang="en-US" sz="2400" dirty="0" smtClean="0">
                <a:sym typeface="Symbol" pitchFamily="18" charset="2"/>
              </a:rPr>
              <a:t>/ P)  / M</a:t>
            </a:r>
            <a:r>
              <a:rPr lang="en-US" sz="3200" baseline="30000" dirty="0" smtClean="0">
                <a:sym typeface="Symbol" pitchFamily="18" charset="2"/>
              </a:rPr>
              <a:t>1/2</a:t>
            </a:r>
            <a:r>
              <a:rPr lang="en-US" sz="2400" dirty="0" smtClean="0">
                <a:sym typeface="Symbol" pitchFamily="18" charset="2"/>
              </a:rPr>
              <a:t> )  =  </a:t>
            </a:r>
            <a:r>
              <a:rPr lang="en-US" sz="2400" b="0" dirty="0">
                <a:solidFill>
                  <a:schemeClr val="tx1"/>
                </a:solidFill>
                <a:sym typeface="Symbol" pitchFamily="18" charset="2"/>
              </a:rPr>
              <a:t>( n</a:t>
            </a:r>
            <a:r>
              <a:rPr lang="en-US" sz="3200" b="0" baseline="30000" dirty="0">
                <a:solidFill>
                  <a:schemeClr val="tx1"/>
                </a:solidFill>
                <a:sym typeface="Symbol" pitchFamily="18" charset="2"/>
              </a:rPr>
              <a:t>2</a:t>
            </a:r>
            <a:r>
              <a:rPr lang="en-US" sz="2400" b="0" dirty="0">
                <a:solidFill>
                  <a:schemeClr val="tx1"/>
                </a:solidFill>
                <a:sym typeface="Symbol" pitchFamily="18" charset="2"/>
              </a:rPr>
              <a:t> /  P</a:t>
            </a:r>
            <a:r>
              <a:rPr lang="en-US" sz="3200" b="0" baseline="30000" dirty="0">
                <a:solidFill>
                  <a:schemeClr val="tx1"/>
                </a:solidFill>
                <a:sym typeface="Symbol" pitchFamily="18" charset="2"/>
              </a:rPr>
              <a:t>1/2</a:t>
            </a:r>
            <a:r>
              <a:rPr lang="en-US" sz="2400" b="0" dirty="0">
                <a:solidFill>
                  <a:schemeClr val="tx1"/>
                </a:solidFill>
                <a:sym typeface="Symbol" pitchFamily="18" charset="2"/>
              </a:rPr>
              <a:t> )      </a:t>
            </a:r>
            <a:r>
              <a:rPr lang="en-US" sz="2400" b="0" dirty="0" smtClean="0">
                <a:solidFill>
                  <a:schemeClr val="tx1"/>
                </a:solidFill>
                <a:sym typeface="Symbol" pitchFamily="18" charset="2"/>
              </a:rPr>
              <a:t>         </a:t>
            </a:r>
          </a:p>
          <a:p>
            <a:pPr lvl="1"/>
            <a:r>
              <a:rPr lang="en-US" sz="2400" b="0" dirty="0" smtClean="0">
                <a:solidFill>
                  <a:schemeClr val="tx1"/>
                </a:solidFill>
                <a:sym typeface="Symbol" pitchFamily="18" charset="2"/>
              </a:rPr>
              <a:t>#</a:t>
            </a:r>
            <a:r>
              <a:rPr lang="en-US" sz="2400" b="0" dirty="0">
                <a:solidFill>
                  <a:schemeClr val="tx1"/>
                </a:solidFill>
                <a:sym typeface="Symbol" pitchFamily="18" charset="2"/>
              </a:rPr>
              <a:t>messages </a:t>
            </a:r>
            <a:r>
              <a:rPr lang="en-US" sz="2400" b="0" dirty="0" smtClean="0">
                <a:solidFill>
                  <a:schemeClr val="tx1"/>
                </a:solidFill>
                <a:sym typeface="Symbol" pitchFamily="18" charset="2"/>
              </a:rPr>
              <a:t>           </a:t>
            </a:r>
            <a:r>
              <a:rPr lang="en-US" sz="2400" dirty="0" smtClean="0"/>
              <a:t>=   </a:t>
            </a:r>
            <a:r>
              <a:rPr lang="en-US" sz="2400" dirty="0" smtClean="0">
                <a:sym typeface="Symbol" pitchFamily="18" charset="2"/>
              </a:rPr>
              <a:t>( (n</a:t>
            </a:r>
            <a:r>
              <a:rPr lang="en-US" sz="3200" baseline="30000" dirty="0" smtClean="0">
                <a:sym typeface="Symbol" pitchFamily="18" charset="2"/>
              </a:rPr>
              <a:t>3</a:t>
            </a:r>
            <a:r>
              <a:rPr lang="en-US" sz="2400" dirty="0" smtClean="0">
                <a:sym typeface="Symbol" pitchFamily="18" charset="2"/>
              </a:rPr>
              <a:t>/ P)  / M</a:t>
            </a:r>
            <a:r>
              <a:rPr lang="en-US" sz="3200" baseline="30000" dirty="0" smtClean="0">
                <a:sym typeface="Symbol" pitchFamily="18" charset="2"/>
              </a:rPr>
              <a:t>3/2</a:t>
            </a:r>
            <a:r>
              <a:rPr lang="en-US" sz="2400" dirty="0" smtClean="0">
                <a:sym typeface="Symbol" pitchFamily="18" charset="2"/>
              </a:rPr>
              <a:t> )  </a:t>
            </a:r>
            <a:r>
              <a:rPr lang="en-US" sz="2400" b="0" dirty="0" smtClean="0">
                <a:solidFill>
                  <a:schemeClr val="tx1"/>
                </a:solidFill>
                <a:sym typeface="Symbol" pitchFamily="18" charset="2"/>
              </a:rPr>
              <a:t>=  </a:t>
            </a:r>
            <a:r>
              <a:rPr lang="en-US" sz="2400" b="0" dirty="0">
                <a:solidFill>
                  <a:schemeClr val="tx1"/>
                </a:solidFill>
                <a:sym typeface="Symbol" pitchFamily="18" charset="2"/>
              </a:rPr>
              <a:t>( P</a:t>
            </a:r>
            <a:r>
              <a:rPr lang="en-US" sz="3200" b="0" baseline="30000" dirty="0">
                <a:solidFill>
                  <a:schemeClr val="tx1"/>
                </a:solidFill>
                <a:sym typeface="Symbol" pitchFamily="18" charset="2"/>
              </a:rPr>
              <a:t>1/2</a:t>
            </a:r>
            <a:r>
              <a:rPr lang="en-US" sz="2400" b="0" dirty="0">
                <a:solidFill>
                  <a:schemeClr val="tx1"/>
                </a:solidFill>
                <a:sym typeface="Symbol" pitchFamily="18" charset="2"/>
              </a:rPr>
              <a:t> )</a:t>
            </a:r>
            <a:endParaRPr lang="en-US" sz="2400" b="0" dirty="0">
              <a:solidFill>
                <a:schemeClr val="tx1"/>
              </a:solidFill>
            </a:endParaRPr>
          </a:p>
        </p:txBody>
      </p:sp>
      <p:graphicFrame>
        <p:nvGraphicFramePr>
          <p:cNvPr id="13" name="Table 12"/>
          <p:cNvGraphicFramePr>
            <a:graphicFrameLocks noGrp="1"/>
          </p:cNvGraphicFramePr>
          <p:nvPr/>
        </p:nvGraphicFramePr>
        <p:xfrm>
          <a:off x="533400" y="3200400"/>
          <a:ext cx="8077200" cy="3383280"/>
        </p:xfrm>
        <a:graphic>
          <a:graphicData uri="http://schemas.openxmlformats.org/drawingml/2006/table">
            <a:tbl>
              <a:tblPr firstRow="1" bandRow="1">
                <a:tableStyleId>{5C22544A-7EE6-4342-B048-85BDC9FD1C3A}</a:tableStyleId>
              </a:tblPr>
              <a:tblGrid>
                <a:gridCol w="1905000"/>
                <a:gridCol w="1600200"/>
                <a:gridCol w="2229613"/>
                <a:gridCol w="2342387"/>
              </a:tblGrid>
              <a:tr h="370840">
                <a:tc>
                  <a:txBody>
                    <a:bodyPr/>
                    <a:lstStyle/>
                    <a:p>
                      <a:r>
                        <a:rPr lang="en-US" sz="2000" dirty="0" smtClean="0">
                          <a:solidFill>
                            <a:schemeClr val="tx1"/>
                          </a:solidFill>
                        </a:rPr>
                        <a:t>Algorithm</a:t>
                      </a:r>
                      <a:endParaRPr lang="en-US" sz="20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dirty="0" smtClean="0">
                          <a:solidFill>
                            <a:schemeClr val="tx1"/>
                          </a:solidFill>
                        </a:rPr>
                        <a:t>Reference</a:t>
                      </a:r>
                      <a:endParaRPr 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dirty="0" smtClean="0">
                          <a:solidFill>
                            <a:schemeClr val="tx1"/>
                          </a:solidFill>
                        </a:rPr>
                        <a:t>Factor exceeding lower bound for #</a:t>
                      </a:r>
                      <a:r>
                        <a:rPr lang="en-US" sz="2000" dirty="0" err="1" smtClean="0">
                          <a:solidFill>
                            <a:schemeClr val="tx1"/>
                          </a:solidFill>
                        </a:rPr>
                        <a:t>words_moved</a:t>
                      </a:r>
                      <a:endParaRPr 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dirty="0" smtClean="0">
                          <a:solidFill>
                            <a:schemeClr val="tx1"/>
                          </a:solidFill>
                        </a:rPr>
                        <a:t>Factor</a:t>
                      </a:r>
                      <a:r>
                        <a:rPr lang="en-US" sz="2000" baseline="0" dirty="0" smtClean="0">
                          <a:solidFill>
                            <a:schemeClr val="tx1"/>
                          </a:solidFill>
                        </a:rPr>
                        <a:t> exceeding lower bound for #messages</a:t>
                      </a:r>
                      <a:endParaRPr 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0840">
                <a:tc>
                  <a:txBody>
                    <a:bodyPr/>
                    <a:lstStyle/>
                    <a:p>
                      <a:r>
                        <a:rPr lang="en-US" sz="2000" b="1" dirty="0" smtClean="0"/>
                        <a:t>Matrix Multiply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b="1" dirty="0" smtClean="0"/>
                        <a:t>[Cannon, 69]</a:t>
                      </a:r>
                      <a:endParaRPr lang="en-US" sz="20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b="1" dirty="0" smtClean="0"/>
                        <a:t>1</a:t>
                      </a:r>
                      <a:endParaRPr lang="en-US" sz="20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b="1" dirty="0" smtClean="0"/>
                        <a:t>1</a:t>
                      </a:r>
                      <a:endParaRPr lang="en-US" sz="20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0840">
                <a:tc>
                  <a:txBody>
                    <a:bodyPr/>
                    <a:lstStyle/>
                    <a:p>
                      <a:r>
                        <a:rPr lang="en-US" sz="2000" b="1" dirty="0" err="1" smtClean="0"/>
                        <a:t>Cholesky</a:t>
                      </a:r>
                      <a:endParaRPr lang="en-US" sz="20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b="1" dirty="0" err="1" smtClean="0"/>
                        <a:t>ScaLAPACK</a:t>
                      </a:r>
                      <a:endParaRPr lang="en-US" sz="20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b="1" dirty="0" smtClean="0"/>
                        <a:t>log P</a:t>
                      </a:r>
                      <a:endParaRPr lang="en-US" sz="20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b="1" dirty="0" smtClean="0"/>
                        <a:t>log P</a:t>
                      </a:r>
                      <a:endParaRPr lang="en-US" sz="20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0840">
                <a:tc>
                  <a:txBody>
                    <a:bodyPr/>
                    <a:lstStyle/>
                    <a:p>
                      <a:r>
                        <a:rPr lang="en-US" sz="2000" b="1" dirty="0" smtClean="0"/>
                        <a:t>LU</a:t>
                      </a:r>
                      <a:endParaRPr lang="en-US" sz="20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b="1" dirty="0" smtClean="0">
                          <a:solidFill>
                            <a:srgbClr val="0824F2"/>
                          </a:solidFill>
                        </a:rPr>
                        <a:t>[GDX10]</a:t>
                      </a:r>
                      <a:endParaRPr lang="en-US" sz="2000" b="1" dirty="0">
                        <a:solidFill>
                          <a:srgbClr val="0824F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b="1" dirty="0" smtClean="0"/>
                        <a:t>log</a:t>
                      </a:r>
                      <a:r>
                        <a:rPr lang="en-US" sz="2000" b="1" baseline="0" dirty="0" smtClean="0"/>
                        <a:t> P</a:t>
                      </a:r>
                      <a:endParaRPr lang="en-US" sz="20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b="1" dirty="0" smtClean="0">
                          <a:solidFill>
                            <a:srgbClr val="0824F2"/>
                          </a:solidFill>
                        </a:rPr>
                        <a:t>log P</a:t>
                      </a:r>
                      <a:endParaRPr lang="en-US" sz="2000" b="1" baseline="30000" dirty="0">
                        <a:solidFill>
                          <a:srgbClr val="0824F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0840">
                <a:tc>
                  <a:txBody>
                    <a:bodyPr/>
                    <a:lstStyle/>
                    <a:p>
                      <a:r>
                        <a:rPr lang="en-US" sz="2000" b="1" dirty="0" smtClean="0"/>
                        <a:t>QR</a:t>
                      </a:r>
                      <a:endParaRPr lang="en-US" sz="20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b="1" dirty="0" smtClean="0">
                          <a:solidFill>
                            <a:srgbClr val="0824F2"/>
                          </a:solidFill>
                        </a:rPr>
                        <a:t>[DGHL08]</a:t>
                      </a:r>
                      <a:endParaRPr lang="en-US" sz="2000" b="1" dirty="0">
                        <a:solidFill>
                          <a:srgbClr val="0824F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b="1" dirty="0" smtClean="0"/>
                        <a:t>log P</a:t>
                      </a:r>
                      <a:endParaRPr lang="en-US" sz="20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b="1" dirty="0" smtClean="0">
                          <a:solidFill>
                            <a:srgbClr val="0824F2"/>
                          </a:solidFill>
                        </a:rPr>
                        <a:t> log</a:t>
                      </a:r>
                      <a:r>
                        <a:rPr lang="en-US" sz="2400" b="1" baseline="30000" dirty="0" smtClean="0">
                          <a:solidFill>
                            <a:srgbClr val="0824F2"/>
                          </a:solidFill>
                        </a:rPr>
                        <a:t>3</a:t>
                      </a:r>
                      <a:r>
                        <a:rPr lang="en-US" sz="2000" b="1" dirty="0" smtClean="0">
                          <a:solidFill>
                            <a:srgbClr val="0824F2"/>
                          </a:solidFill>
                        </a:rPr>
                        <a:t> P</a:t>
                      </a:r>
                      <a:endParaRPr lang="en-US" sz="2000" b="1" baseline="30000" dirty="0" smtClean="0">
                        <a:solidFill>
                          <a:srgbClr val="0824F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0840">
                <a:tc>
                  <a:txBody>
                    <a:bodyPr/>
                    <a:lstStyle/>
                    <a:p>
                      <a:r>
                        <a:rPr lang="en-US" sz="2000" b="1" dirty="0" smtClean="0"/>
                        <a:t>Sym </a:t>
                      </a:r>
                      <a:r>
                        <a:rPr lang="en-US" sz="2000" b="1" dirty="0" err="1" smtClean="0"/>
                        <a:t>Eig</a:t>
                      </a:r>
                      <a:r>
                        <a:rPr lang="en-US" sz="2000" b="1" dirty="0" smtClean="0"/>
                        <a:t>, SVD</a:t>
                      </a:r>
                      <a:endParaRPr lang="en-US" sz="20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b="1" dirty="0" smtClean="0">
                          <a:solidFill>
                            <a:srgbClr val="0824F2"/>
                          </a:solidFill>
                        </a:rPr>
                        <a:t>[BDD11]</a:t>
                      </a:r>
                      <a:endParaRPr lang="en-US" sz="2000" b="1" dirty="0">
                        <a:solidFill>
                          <a:srgbClr val="0824F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b="1" dirty="0" smtClean="0"/>
                        <a:t>log P</a:t>
                      </a:r>
                      <a:endParaRPr lang="en-US" sz="20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b="1" dirty="0" smtClean="0">
                          <a:solidFill>
                            <a:srgbClr val="0824F2"/>
                          </a:solidFill>
                        </a:rPr>
                        <a:t>log</a:t>
                      </a:r>
                      <a:r>
                        <a:rPr lang="en-US" sz="2400" b="1" baseline="30000" dirty="0" smtClean="0">
                          <a:solidFill>
                            <a:srgbClr val="0824F2"/>
                          </a:solidFill>
                        </a:rPr>
                        <a:t>3</a:t>
                      </a:r>
                      <a:r>
                        <a:rPr lang="en-US" sz="2000" b="1" dirty="0" smtClean="0">
                          <a:solidFill>
                            <a:srgbClr val="0824F2"/>
                          </a:solidFill>
                        </a:rPr>
                        <a:t> P</a:t>
                      </a:r>
                      <a:endParaRPr lang="en-US" sz="2000" b="1" baseline="30000" dirty="0" smtClean="0">
                        <a:solidFill>
                          <a:srgbClr val="0824F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0840">
                <a:tc>
                  <a:txBody>
                    <a:bodyPr/>
                    <a:lstStyle/>
                    <a:p>
                      <a:r>
                        <a:rPr lang="en-US" sz="2000" b="1" dirty="0" err="1" smtClean="0"/>
                        <a:t>Nonsym</a:t>
                      </a:r>
                      <a:r>
                        <a:rPr lang="en-US" sz="2000" b="1" dirty="0" smtClean="0"/>
                        <a:t> </a:t>
                      </a:r>
                      <a:r>
                        <a:rPr lang="en-US" sz="2000" b="1" dirty="0" err="1" smtClean="0"/>
                        <a:t>Eig</a:t>
                      </a:r>
                      <a:endParaRPr lang="en-US" sz="20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b="1" dirty="0" smtClean="0">
                          <a:solidFill>
                            <a:srgbClr val="0824F2"/>
                          </a:solidFill>
                        </a:rPr>
                        <a:t>[BDD11]</a:t>
                      </a:r>
                      <a:endParaRPr lang="en-US" sz="2000" b="1" dirty="0">
                        <a:solidFill>
                          <a:srgbClr val="0824F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b="1" dirty="0" smtClean="0">
                          <a:solidFill>
                            <a:srgbClr val="0824F2"/>
                          </a:solidFill>
                        </a:rPr>
                        <a:t>log P</a:t>
                      </a:r>
                      <a:endParaRPr lang="en-US" sz="2000" b="1" dirty="0">
                        <a:solidFill>
                          <a:srgbClr val="0824F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b="1" dirty="0" smtClean="0">
                          <a:solidFill>
                            <a:srgbClr val="0824F2"/>
                          </a:solidFill>
                        </a:rPr>
                        <a:t> log</a:t>
                      </a:r>
                      <a:r>
                        <a:rPr lang="en-US" sz="2400" b="1" baseline="30000" dirty="0" smtClean="0">
                          <a:solidFill>
                            <a:srgbClr val="0824F2"/>
                          </a:solidFill>
                        </a:rPr>
                        <a:t>3</a:t>
                      </a:r>
                      <a:r>
                        <a:rPr lang="en-US" sz="2000" b="1" dirty="0" smtClean="0">
                          <a:solidFill>
                            <a:srgbClr val="0824F2"/>
                          </a:solidFill>
                        </a:rPr>
                        <a:t> P</a:t>
                      </a:r>
                      <a:endParaRPr lang="en-US" sz="2000" b="1" baseline="30000" dirty="0" smtClean="0">
                        <a:solidFill>
                          <a:srgbClr val="0824F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p:cxnSp>
        <p:nvCxnSpPr>
          <p:cNvPr id="14" name="Straight Connector 13"/>
          <p:cNvCxnSpPr/>
          <p:nvPr/>
        </p:nvCxnSpPr>
        <p:spPr>
          <a:xfrm>
            <a:off x="381000" y="990600"/>
            <a:ext cx="8305800" cy="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xmlns:p14="http://schemas.microsoft.com/office/powerpoint/2010/mai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5" name="Title 1"/>
          <p:cNvSpPr>
            <a:spLocks noGrp="1"/>
          </p:cNvSpPr>
          <p:nvPr>
            <p:ph type="title"/>
          </p:nvPr>
        </p:nvSpPr>
        <p:spPr>
          <a:xfrm>
            <a:off x="779463" y="112712"/>
            <a:ext cx="7296150" cy="801688"/>
          </a:xfrm>
        </p:spPr>
        <p:txBody>
          <a:bodyPr>
            <a:noAutofit/>
          </a:bodyPr>
          <a:lstStyle/>
          <a:p>
            <a:pPr algn="ctr"/>
            <a:r>
              <a:rPr lang="en-US" sz="3200" dirty="0" smtClean="0">
                <a:solidFill>
                  <a:srgbClr val="0824F2"/>
                </a:solidFill>
              </a:rPr>
              <a:t>Can we do even better?</a:t>
            </a:r>
          </a:p>
        </p:txBody>
      </p:sp>
      <p:sp>
        <p:nvSpPr>
          <p:cNvPr id="4" name="Slide Number Placeholder 3"/>
          <p:cNvSpPr>
            <a:spLocks noGrp="1"/>
          </p:cNvSpPr>
          <p:nvPr>
            <p:ph type="sldNum" sz="quarter" idx="11"/>
          </p:nvPr>
        </p:nvSpPr>
        <p:spPr>
          <a:xfrm>
            <a:off x="9832975" y="6400800"/>
            <a:ext cx="1905000" cy="457200"/>
          </a:xfrm>
        </p:spPr>
        <p:txBody>
          <a:bodyPr/>
          <a:lstStyle/>
          <a:p>
            <a:pPr>
              <a:defRPr/>
            </a:pPr>
            <a:fld id="{1110692E-4516-4640-ACA1-F899B3563FBA}" type="slidenum">
              <a:rPr lang="en-US" smtClean="0"/>
              <a:pPr>
                <a:defRPr/>
              </a:pPr>
              <a:t>99</a:t>
            </a:fld>
            <a:endParaRPr lang="en-US" dirty="0"/>
          </a:p>
        </p:txBody>
      </p:sp>
      <p:sp>
        <p:nvSpPr>
          <p:cNvPr id="30727" name="Rectangle 11"/>
          <p:cNvSpPr>
            <a:spLocks noChangeArrowheads="1"/>
          </p:cNvSpPr>
          <p:nvPr/>
        </p:nvSpPr>
        <p:spPr bwMode="auto">
          <a:xfrm>
            <a:off x="6796088" y="4476750"/>
            <a:ext cx="1843087" cy="282575"/>
          </a:xfrm>
          <a:prstGeom prst="rect">
            <a:avLst/>
          </a:prstGeom>
          <a:solidFill>
            <a:schemeClr val="bg1"/>
          </a:solidFill>
          <a:ln w="12700" algn="ctr">
            <a:noFill/>
            <a:round/>
            <a:headEnd type="none" w="sm" len="sm"/>
            <a:tailEnd type="none" w="sm" len="sm"/>
          </a:ln>
        </p:spPr>
        <p:txBody>
          <a:bodyPr/>
          <a:lstStyle/>
          <a:p>
            <a:pPr eaLnBrk="0" hangingPunct="0"/>
            <a:endParaRPr lang="en-US"/>
          </a:p>
        </p:txBody>
      </p:sp>
      <p:sp>
        <p:nvSpPr>
          <p:cNvPr id="30728" name="Rectangle 12"/>
          <p:cNvSpPr>
            <a:spLocks noChangeArrowheads="1"/>
          </p:cNvSpPr>
          <p:nvPr/>
        </p:nvSpPr>
        <p:spPr bwMode="auto">
          <a:xfrm>
            <a:off x="6861175" y="5118100"/>
            <a:ext cx="1843088" cy="282575"/>
          </a:xfrm>
          <a:prstGeom prst="rect">
            <a:avLst/>
          </a:prstGeom>
          <a:solidFill>
            <a:schemeClr val="bg1"/>
          </a:solidFill>
          <a:ln w="12700" algn="ctr">
            <a:noFill/>
            <a:round/>
            <a:headEnd type="none" w="sm" len="sm"/>
            <a:tailEnd type="none" w="sm" len="sm"/>
          </a:ln>
        </p:spPr>
        <p:txBody>
          <a:bodyPr/>
          <a:lstStyle/>
          <a:p>
            <a:pPr eaLnBrk="0" hangingPunct="0"/>
            <a:endParaRPr lang="en-US"/>
          </a:p>
        </p:txBody>
      </p:sp>
      <p:sp>
        <p:nvSpPr>
          <p:cNvPr id="30729" name="Rectangle 13"/>
          <p:cNvSpPr>
            <a:spLocks noChangeArrowheads="1"/>
          </p:cNvSpPr>
          <p:nvPr/>
        </p:nvSpPr>
        <p:spPr bwMode="auto">
          <a:xfrm>
            <a:off x="6778625" y="5773738"/>
            <a:ext cx="1843088" cy="280987"/>
          </a:xfrm>
          <a:prstGeom prst="rect">
            <a:avLst/>
          </a:prstGeom>
          <a:solidFill>
            <a:schemeClr val="bg1"/>
          </a:solidFill>
          <a:ln w="12700" algn="ctr">
            <a:noFill/>
            <a:round/>
            <a:headEnd type="none" w="sm" len="sm"/>
            <a:tailEnd type="none" w="sm" len="sm"/>
          </a:ln>
        </p:spPr>
        <p:txBody>
          <a:bodyPr/>
          <a:lstStyle/>
          <a:p>
            <a:pPr eaLnBrk="0" hangingPunct="0"/>
            <a:endParaRPr lang="en-US"/>
          </a:p>
        </p:txBody>
      </p:sp>
      <p:sp>
        <p:nvSpPr>
          <p:cNvPr id="30730" name="Rectangle 14"/>
          <p:cNvSpPr>
            <a:spLocks noChangeArrowheads="1"/>
          </p:cNvSpPr>
          <p:nvPr/>
        </p:nvSpPr>
        <p:spPr bwMode="auto">
          <a:xfrm>
            <a:off x="6778625" y="6400800"/>
            <a:ext cx="1843088" cy="280988"/>
          </a:xfrm>
          <a:prstGeom prst="rect">
            <a:avLst/>
          </a:prstGeom>
          <a:solidFill>
            <a:schemeClr val="bg1"/>
          </a:solidFill>
          <a:ln w="12700" algn="ctr">
            <a:noFill/>
            <a:round/>
            <a:headEnd type="none" w="sm" len="sm"/>
            <a:tailEnd type="none" w="sm" len="sm"/>
          </a:ln>
        </p:spPr>
        <p:txBody>
          <a:bodyPr/>
          <a:lstStyle/>
          <a:p>
            <a:pPr eaLnBrk="0" hangingPunct="0"/>
            <a:endParaRPr lang="en-US"/>
          </a:p>
        </p:txBody>
      </p:sp>
      <p:sp>
        <p:nvSpPr>
          <p:cNvPr id="30731" name="TextBox 7"/>
          <p:cNvSpPr txBox="1">
            <a:spLocks noChangeArrowheads="1"/>
          </p:cNvSpPr>
          <p:nvPr/>
        </p:nvSpPr>
        <p:spPr bwMode="auto">
          <a:xfrm>
            <a:off x="296103" y="1032808"/>
            <a:ext cx="8771697" cy="1938992"/>
          </a:xfrm>
          <a:prstGeom prst="rect">
            <a:avLst/>
          </a:prstGeom>
          <a:noFill/>
          <a:ln w="9525">
            <a:noFill/>
            <a:miter lim="800000"/>
            <a:headEnd/>
            <a:tailEnd/>
          </a:ln>
        </p:spPr>
        <p:txBody>
          <a:bodyPr wrap="none">
            <a:spAutoFit/>
          </a:bodyPr>
          <a:lstStyle/>
          <a:p>
            <a:pPr>
              <a:buFont typeface="Arial" pitchFamily="34" charset="0"/>
              <a:buChar char="•"/>
            </a:pPr>
            <a:r>
              <a:rPr lang="en-US" b="0" dirty="0">
                <a:solidFill>
                  <a:schemeClr val="tx1"/>
                </a:solidFill>
              </a:rPr>
              <a:t>  </a:t>
            </a:r>
            <a:r>
              <a:rPr lang="en-US" b="0" dirty="0" smtClean="0">
                <a:solidFill>
                  <a:schemeClr val="tx1"/>
                </a:solidFill>
              </a:rPr>
              <a:t> </a:t>
            </a:r>
            <a:r>
              <a:rPr lang="en-US" sz="2400" b="0" dirty="0" smtClean="0">
                <a:solidFill>
                  <a:schemeClr val="tx1"/>
                </a:solidFill>
              </a:rPr>
              <a:t>Assume </a:t>
            </a:r>
            <a:r>
              <a:rPr lang="en-US" sz="2400" b="0" dirty="0" err="1">
                <a:solidFill>
                  <a:schemeClr val="tx1"/>
                </a:solidFill>
              </a:rPr>
              <a:t>nxn</a:t>
            </a:r>
            <a:r>
              <a:rPr lang="en-US" sz="2400" b="0" dirty="0">
                <a:solidFill>
                  <a:schemeClr val="tx1"/>
                </a:solidFill>
              </a:rPr>
              <a:t> matrices on P </a:t>
            </a:r>
            <a:r>
              <a:rPr lang="en-US" sz="2400" b="0" dirty="0" smtClean="0">
                <a:solidFill>
                  <a:schemeClr val="tx1"/>
                </a:solidFill>
              </a:rPr>
              <a:t>processors</a:t>
            </a:r>
            <a:r>
              <a:rPr lang="en-US" sz="2400" dirty="0" smtClean="0"/>
              <a:t> </a:t>
            </a:r>
            <a:endParaRPr lang="en-US" sz="2400" b="0" dirty="0" smtClean="0">
              <a:solidFill>
                <a:schemeClr val="tx1"/>
              </a:solidFill>
            </a:endParaRPr>
          </a:p>
          <a:p>
            <a:pPr>
              <a:buFont typeface="Arial" pitchFamily="34" charset="0"/>
              <a:buChar char="•"/>
            </a:pPr>
            <a:r>
              <a:rPr lang="en-US" sz="2400" dirty="0" smtClean="0"/>
              <a:t>  </a:t>
            </a:r>
            <a:r>
              <a:rPr lang="en-US" sz="2400" dirty="0" smtClean="0">
                <a:solidFill>
                  <a:srgbClr val="0824F2"/>
                </a:solidFill>
              </a:rPr>
              <a:t>Why just one copy of data:</a:t>
            </a:r>
            <a:r>
              <a:rPr lang="en-US" sz="2400" b="0" dirty="0" smtClean="0">
                <a:solidFill>
                  <a:srgbClr val="0824F2"/>
                </a:solidFill>
              </a:rPr>
              <a:t>  M = O(n</a:t>
            </a:r>
            <a:r>
              <a:rPr lang="en-US" sz="3200" b="0" baseline="30000" dirty="0" smtClean="0">
                <a:solidFill>
                  <a:srgbClr val="0824F2"/>
                </a:solidFill>
              </a:rPr>
              <a:t>2</a:t>
            </a:r>
            <a:r>
              <a:rPr lang="en-US" sz="2400" b="0" dirty="0" smtClean="0">
                <a:solidFill>
                  <a:srgbClr val="0824F2"/>
                </a:solidFill>
              </a:rPr>
              <a:t> </a:t>
            </a:r>
            <a:r>
              <a:rPr lang="en-US" sz="2400" b="0" dirty="0">
                <a:solidFill>
                  <a:srgbClr val="0824F2"/>
                </a:solidFill>
              </a:rPr>
              <a:t>/ P</a:t>
            </a:r>
            <a:r>
              <a:rPr lang="en-US" sz="2400" b="0" dirty="0" smtClean="0">
                <a:solidFill>
                  <a:srgbClr val="0824F2"/>
                </a:solidFill>
              </a:rPr>
              <a:t>) per processor?</a:t>
            </a:r>
            <a:endParaRPr lang="en-US" sz="2400" b="0" dirty="0">
              <a:solidFill>
                <a:srgbClr val="0824F2"/>
              </a:solidFill>
            </a:endParaRPr>
          </a:p>
          <a:p>
            <a:pPr>
              <a:buFont typeface="Arial" pitchFamily="34" charset="0"/>
              <a:buChar char="•"/>
            </a:pPr>
            <a:r>
              <a:rPr lang="en-US" sz="2400" b="0" dirty="0">
                <a:solidFill>
                  <a:schemeClr val="tx1"/>
                </a:solidFill>
              </a:rPr>
              <a:t>  </a:t>
            </a:r>
            <a:r>
              <a:rPr lang="en-US" sz="2400" b="0" dirty="0" smtClean="0">
                <a:solidFill>
                  <a:srgbClr val="0824F2"/>
                </a:solidFill>
              </a:rPr>
              <a:t>Increase M to reduce lower bounds:</a:t>
            </a:r>
            <a:endParaRPr lang="en-US" sz="2400" b="0" dirty="0">
              <a:solidFill>
                <a:srgbClr val="0824F2"/>
              </a:solidFill>
            </a:endParaRPr>
          </a:p>
          <a:p>
            <a:pPr lvl="1"/>
            <a:r>
              <a:rPr lang="en-US" sz="2400" b="0" dirty="0" smtClean="0">
                <a:solidFill>
                  <a:schemeClr val="tx1"/>
                </a:solidFill>
              </a:rPr>
              <a:t>#</a:t>
            </a:r>
            <a:r>
              <a:rPr lang="en-US" sz="2400" b="0" dirty="0" err="1" smtClean="0">
                <a:solidFill>
                  <a:schemeClr val="tx1"/>
                </a:solidFill>
              </a:rPr>
              <a:t>words_moved</a:t>
            </a:r>
            <a:r>
              <a:rPr lang="en-US" sz="2400" b="0" dirty="0" smtClean="0">
                <a:solidFill>
                  <a:schemeClr val="tx1"/>
                </a:solidFill>
              </a:rPr>
              <a:t>    =   </a:t>
            </a:r>
            <a:r>
              <a:rPr lang="en-US" sz="2400" dirty="0" smtClean="0">
                <a:sym typeface="Symbol" pitchFamily="18" charset="2"/>
              </a:rPr>
              <a:t>( (n</a:t>
            </a:r>
            <a:r>
              <a:rPr lang="en-US" sz="3200" baseline="30000" dirty="0" smtClean="0">
                <a:sym typeface="Symbol" pitchFamily="18" charset="2"/>
              </a:rPr>
              <a:t>3</a:t>
            </a:r>
            <a:r>
              <a:rPr lang="en-US" sz="2400" dirty="0" smtClean="0">
                <a:sym typeface="Symbol" pitchFamily="18" charset="2"/>
              </a:rPr>
              <a:t>/ P)  / M</a:t>
            </a:r>
            <a:r>
              <a:rPr lang="en-US" sz="3200" baseline="30000" dirty="0" smtClean="0">
                <a:sym typeface="Symbol" pitchFamily="18" charset="2"/>
              </a:rPr>
              <a:t>1/2</a:t>
            </a:r>
            <a:r>
              <a:rPr lang="en-US" sz="2400" dirty="0" smtClean="0">
                <a:sym typeface="Symbol" pitchFamily="18" charset="2"/>
              </a:rPr>
              <a:t> )  =  </a:t>
            </a:r>
            <a:r>
              <a:rPr lang="en-US" sz="2400" b="0" dirty="0">
                <a:solidFill>
                  <a:schemeClr val="tx1"/>
                </a:solidFill>
                <a:sym typeface="Symbol" pitchFamily="18" charset="2"/>
              </a:rPr>
              <a:t>( n</a:t>
            </a:r>
            <a:r>
              <a:rPr lang="en-US" sz="3200" b="0" baseline="30000" dirty="0">
                <a:solidFill>
                  <a:schemeClr val="tx1"/>
                </a:solidFill>
                <a:sym typeface="Symbol" pitchFamily="18" charset="2"/>
              </a:rPr>
              <a:t>2</a:t>
            </a:r>
            <a:r>
              <a:rPr lang="en-US" sz="2400" b="0" dirty="0">
                <a:solidFill>
                  <a:schemeClr val="tx1"/>
                </a:solidFill>
                <a:sym typeface="Symbol" pitchFamily="18" charset="2"/>
              </a:rPr>
              <a:t> /  P</a:t>
            </a:r>
            <a:r>
              <a:rPr lang="en-US" sz="3200" b="0" baseline="30000" dirty="0">
                <a:solidFill>
                  <a:schemeClr val="tx1"/>
                </a:solidFill>
                <a:sym typeface="Symbol" pitchFamily="18" charset="2"/>
              </a:rPr>
              <a:t>1/2</a:t>
            </a:r>
            <a:r>
              <a:rPr lang="en-US" sz="2400" b="0" dirty="0">
                <a:solidFill>
                  <a:schemeClr val="tx1"/>
                </a:solidFill>
                <a:sym typeface="Symbol" pitchFamily="18" charset="2"/>
              </a:rPr>
              <a:t> )      </a:t>
            </a:r>
            <a:r>
              <a:rPr lang="en-US" sz="2400" b="0" dirty="0" smtClean="0">
                <a:solidFill>
                  <a:schemeClr val="tx1"/>
                </a:solidFill>
                <a:sym typeface="Symbol" pitchFamily="18" charset="2"/>
              </a:rPr>
              <a:t>         </a:t>
            </a:r>
          </a:p>
          <a:p>
            <a:pPr lvl="1"/>
            <a:r>
              <a:rPr lang="en-US" sz="2400" b="0" dirty="0" smtClean="0">
                <a:solidFill>
                  <a:schemeClr val="tx1"/>
                </a:solidFill>
                <a:sym typeface="Symbol" pitchFamily="18" charset="2"/>
              </a:rPr>
              <a:t>#</a:t>
            </a:r>
            <a:r>
              <a:rPr lang="en-US" sz="2400" b="0" dirty="0">
                <a:solidFill>
                  <a:schemeClr val="tx1"/>
                </a:solidFill>
                <a:sym typeface="Symbol" pitchFamily="18" charset="2"/>
              </a:rPr>
              <a:t>messages </a:t>
            </a:r>
            <a:r>
              <a:rPr lang="en-US" sz="2400" b="0" dirty="0" smtClean="0">
                <a:solidFill>
                  <a:schemeClr val="tx1"/>
                </a:solidFill>
                <a:sym typeface="Symbol" pitchFamily="18" charset="2"/>
              </a:rPr>
              <a:t>           </a:t>
            </a:r>
            <a:r>
              <a:rPr lang="en-US" sz="2400" dirty="0" smtClean="0"/>
              <a:t>=   </a:t>
            </a:r>
            <a:r>
              <a:rPr lang="en-US" sz="2400" dirty="0" smtClean="0">
                <a:sym typeface="Symbol" pitchFamily="18" charset="2"/>
              </a:rPr>
              <a:t>( (n</a:t>
            </a:r>
            <a:r>
              <a:rPr lang="en-US" sz="3200" baseline="30000" dirty="0" smtClean="0">
                <a:sym typeface="Symbol" pitchFamily="18" charset="2"/>
              </a:rPr>
              <a:t>3</a:t>
            </a:r>
            <a:r>
              <a:rPr lang="en-US" sz="2400" dirty="0" smtClean="0">
                <a:sym typeface="Symbol" pitchFamily="18" charset="2"/>
              </a:rPr>
              <a:t>/ P)  / M</a:t>
            </a:r>
            <a:r>
              <a:rPr lang="en-US" sz="3200" baseline="30000" dirty="0" smtClean="0">
                <a:sym typeface="Symbol" pitchFamily="18" charset="2"/>
              </a:rPr>
              <a:t>3/2</a:t>
            </a:r>
            <a:r>
              <a:rPr lang="en-US" sz="2400" dirty="0" smtClean="0">
                <a:sym typeface="Symbol" pitchFamily="18" charset="2"/>
              </a:rPr>
              <a:t> )  </a:t>
            </a:r>
            <a:r>
              <a:rPr lang="en-US" sz="2400" b="0" dirty="0" smtClean="0">
                <a:solidFill>
                  <a:schemeClr val="tx1"/>
                </a:solidFill>
                <a:sym typeface="Symbol" pitchFamily="18" charset="2"/>
              </a:rPr>
              <a:t>=  </a:t>
            </a:r>
            <a:r>
              <a:rPr lang="en-US" sz="2400" b="0" dirty="0">
                <a:solidFill>
                  <a:schemeClr val="tx1"/>
                </a:solidFill>
                <a:sym typeface="Symbol" pitchFamily="18" charset="2"/>
              </a:rPr>
              <a:t>( P</a:t>
            </a:r>
            <a:r>
              <a:rPr lang="en-US" sz="3200" b="0" baseline="30000" dirty="0">
                <a:solidFill>
                  <a:schemeClr val="tx1"/>
                </a:solidFill>
                <a:sym typeface="Symbol" pitchFamily="18" charset="2"/>
              </a:rPr>
              <a:t>1/2</a:t>
            </a:r>
            <a:r>
              <a:rPr lang="en-US" sz="2400" b="0" dirty="0">
                <a:solidFill>
                  <a:schemeClr val="tx1"/>
                </a:solidFill>
                <a:sym typeface="Symbol" pitchFamily="18" charset="2"/>
              </a:rPr>
              <a:t> )</a:t>
            </a:r>
            <a:endParaRPr lang="en-US" sz="2400" b="0" dirty="0">
              <a:solidFill>
                <a:schemeClr val="tx1"/>
              </a:solidFill>
            </a:endParaRPr>
          </a:p>
        </p:txBody>
      </p:sp>
      <p:graphicFrame>
        <p:nvGraphicFramePr>
          <p:cNvPr id="13" name="Table 12"/>
          <p:cNvGraphicFramePr>
            <a:graphicFrameLocks noGrp="1"/>
          </p:cNvGraphicFramePr>
          <p:nvPr/>
        </p:nvGraphicFramePr>
        <p:xfrm>
          <a:off x="533400" y="3200400"/>
          <a:ext cx="8077200" cy="3383280"/>
        </p:xfrm>
        <a:graphic>
          <a:graphicData uri="http://schemas.openxmlformats.org/drawingml/2006/table">
            <a:tbl>
              <a:tblPr firstRow="1" bandRow="1">
                <a:tableStyleId>{5C22544A-7EE6-4342-B048-85BDC9FD1C3A}</a:tableStyleId>
              </a:tblPr>
              <a:tblGrid>
                <a:gridCol w="1905000"/>
                <a:gridCol w="1600200"/>
                <a:gridCol w="2229613"/>
                <a:gridCol w="2342387"/>
              </a:tblGrid>
              <a:tr h="370840">
                <a:tc>
                  <a:txBody>
                    <a:bodyPr/>
                    <a:lstStyle/>
                    <a:p>
                      <a:r>
                        <a:rPr lang="en-US" sz="2000" dirty="0" smtClean="0">
                          <a:solidFill>
                            <a:schemeClr val="tx1"/>
                          </a:solidFill>
                        </a:rPr>
                        <a:t>Algorithm</a:t>
                      </a:r>
                      <a:endParaRPr lang="en-US" sz="20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dirty="0" smtClean="0">
                          <a:solidFill>
                            <a:schemeClr val="tx1"/>
                          </a:solidFill>
                        </a:rPr>
                        <a:t>Reference</a:t>
                      </a:r>
                      <a:endParaRPr 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dirty="0" smtClean="0">
                          <a:solidFill>
                            <a:schemeClr val="tx1"/>
                          </a:solidFill>
                        </a:rPr>
                        <a:t>Factor exceeding lower bound for #</a:t>
                      </a:r>
                      <a:r>
                        <a:rPr lang="en-US" sz="2000" dirty="0" err="1" smtClean="0">
                          <a:solidFill>
                            <a:schemeClr val="tx1"/>
                          </a:solidFill>
                        </a:rPr>
                        <a:t>words_moved</a:t>
                      </a:r>
                      <a:endParaRPr 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dirty="0" smtClean="0">
                          <a:solidFill>
                            <a:schemeClr val="tx1"/>
                          </a:solidFill>
                        </a:rPr>
                        <a:t>Factor</a:t>
                      </a:r>
                      <a:r>
                        <a:rPr lang="en-US" sz="2000" baseline="0" dirty="0" smtClean="0">
                          <a:solidFill>
                            <a:schemeClr val="tx1"/>
                          </a:solidFill>
                        </a:rPr>
                        <a:t> exceeding lower bound for #messages</a:t>
                      </a:r>
                      <a:endParaRPr 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0840">
                <a:tc>
                  <a:txBody>
                    <a:bodyPr/>
                    <a:lstStyle/>
                    <a:p>
                      <a:r>
                        <a:rPr lang="en-US" sz="2000" b="1" dirty="0" smtClean="0"/>
                        <a:t>Matrix Multiply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b="1" dirty="0" smtClean="0"/>
                        <a:t>[Cannon, 69]</a:t>
                      </a:r>
                      <a:endParaRPr lang="en-US" sz="20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b="1" dirty="0" smtClean="0"/>
                        <a:t>1</a:t>
                      </a:r>
                      <a:endParaRPr lang="en-US" sz="20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b="1" dirty="0" smtClean="0"/>
                        <a:t>1</a:t>
                      </a:r>
                      <a:endParaRPr lang="en-US" sz="20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0840">
                <a:tc>
                  <a:txBody>
                    <a:bodyPr/>
                    <a:lstStyle/>
                    <a:p>
                      <a:r>
                        <a:rPr lang="en-US" sz="2000" b="1" dirty="0" err="1" smtClean="0"/>
                        <a:t>Cholesky</a:t>
                      </a:r>
                      <a:endParaRPr lang="en-US" sz="20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b="1" dirty="0" err="1" smtClean="0"/>
                        <a:t>ScaLAPACK</a:t>
                      </a:r>
                      <a:endParaRPr lang="en-US" sz="20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b="1" dirty="0" smtClean="0"/>
                        <a:t>log P</a:t>
                      </a:r>
                      <a:endParaRPr lang="en-US" sz="20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b="1" dirty="0" smtClean="0"/>
                        <a:t>log P</a:t>
                      </a:r>
                      <a:endParaRPr lang="en-US" sz="20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0840">
                <a:tc>
                  <a:txBody>
                    <a:bodyPr/>
                    <a:lstStyle/>
                    <a:p>
                      <a:r>
                        <a:rPr lang="en-US" sz="2000" b="1" dirty="0" smtClean="0"/>
                        <a:t>LU</a:t>
                      </a:r>
                      <a:endParaRPr lang="en-US" sz="20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b="1" dirty="0" smtClean="0">
                          <a:solidFill>
                            <a:srgbClr val="0824F2"/>
                          </a:solidFill>
                        </a:rPr>
                        <a:t>[GDX10]</a:t>
                      </a:r>
                      <a:endParaRPr lang="en-US" sz="2000" b="1" dirty="0">
                        <a:solidFill>
                          <a:srgbClr val="0824F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b="1" dirty="0" smtClean="0"/>
                        <a:t>log</a:t>
                      </a:r>
                      <a:r>
                        <a:rPr lang="en-US" sz="2000" b="1" baseline="0" dirty="0" smtClean="0"/>
                        <a:t> P</a:t>
                      </a:r>
                      <a:endParaRPr lang="en-US" sz="20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b="1" dirty="0" smtClean="0">
                          <a:solidFill>
                            <a:srgbClr val="0824F2"/>
                          </a:solidFill>
                        </a:rPr>
                        <a:t>log P</a:t>
                      </a:r>
                      <a:endParaRPr lang="en-US" sz="2000" b="1" baseline="30000" dirty="0">
                        <a:solidFill>
                          <a:srgbClr val="0824F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0840">
                <a:tc>
                  <a:txBody>
                    <a:bodyPr/>
                    <a:lstStyle/>
                    <a:p>
                      <a:r>
                        <a:rPr lang="en-US" sz="2000" b="1" dirty="0" smtClean="0"/>
                        <a:t>QR</a:t>
                      </a:r>
                      <a:endParaRPr lang="en-US" sz="20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b="1" dirty="0" smtClean="0">
                          <a:solidFill>
                            <a:srgbClr val="0824F2"/>
                          </a:solidFill>
                        </a:rPr>
                        <a:t>[DGHL08]</a:t>
                      </a:r>
                      <a:endParaRPr lang="en-US" sz="2000" b="1" dirty="0">
                        <a:solidFill>
                          <a:srgbClr val="0824F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b="1" dirty="0" smtClean="0"/>
                        <a:t>log P</a:t>
                      </a:r>
                      <a:endParaRPr lang="en-US" sz="20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b="1" dirty="0" smtClean="0">
                          <a:solidFill>
                            <a:srgbClr val="0824F2"/>
                          </a:solidFill>
                        </a:rPr>
                        <a:t> log</a:t>
                      </a:r>
                      <a:r>
                        <a:rPr lang="en-US" sz="2400" b="1" baseline="30000" dirty="0" smtClean="0">
                          <a:solidFill>
                            <a:srgbClr val="0824F2"/>
                          </a:solidFill>
                        </a:rPr>
                        <a:t>3</a:t>
                      </a:r>
                      <a:r>
                        <a:rPr lang="en-US" sz="2000" b="1" dirty="0" smtClean="0">
                          <a:solidFill>
                            <a:srgbClr val="0824F2"/>
                          </a:solidFill>
                        </a:rPr>
                        <a:t> P</a:t>
                      </a:r>
                      <a:endParaRPr lang="en-US" sz="2000" b="1" baseline="30000" dirty="0" smtClean="0">
                        <a:solidFill>
                          <a:srgbClr val="0824F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0840">
                <a:tc>
                  <a:txBody>
                    <a:bodyPr/>
                    <a:lstStyle/>
                    <a:p>
                      <a:r>
                        <a:rPr lang="en-US" sz="2000" b="1" dirty="0" smtClean="0"/>
                        <a:t>Sym </a:t>
                      </a:r>
                      <a:r>
                        <a:rPr lang="en-US" sz="2000" b="1" dirty="0" err="1" smtClean="0"/>
                        <a:t>Eig</a:t>
                      </a:r>
                      <a:r>
                        <a:rPr lang="en-US" sz="2000" b="1" dirty="0" smtClean="0"/>
                        <a:t>, SVD</a:t>
                      </a:r>
                      <a:endParaRPr lang="en-US" sz="20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b="1" dirty="0" smtClean="0">
                          <a:solidFill>
                            <a:srgbClr val="0824F2"/>
                          </a:solidFill>
                        </a:rPr>
                        <a:t>[BDD11]</a:t>
                      </a:r>
                      <a:endParaRPr lang="en-US" sz="2000" b="1" dirty="0">
                        <a:solidFill>
                          <a:srgbClr val="0824F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b="1" dirty="0" smtClean="0"/>
                        <a:t>log P</a:t>
                      </a:r>
                      <a:endParaRPr lang="en-US" sz="20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b="1" dirty="0" smtClean="0">
                          <a:solidFill>
                            <a:srgbClr val="0824F2"/>
                          </a:solidFill>
                        </a:rPr>
                        <a:t>log</a:t>
                      </a:r>
                      <a:r>
                        <a:rPr lang="en-US" sz="2400" b="1" baseline="30000" dirty="0" smtClean="0">
                          <a:solidFill>
                            <a:srgbClr val="0824F2"/>
                          </a:solidFill>
                        </a:rPr>
                        <a:t>3</a:t>
                      </a:r>
                      <a:r>
                        <a:rPr lang="en-US" sz="2000" b="1" dirty="0" smtClean="0">
                          <a:solidFill>
                            <a:srgbClr val="0824F2"/>
                          </a:solidFill>
                        </a:rPr>
                        <a:t> P</a:t>
                      </a:r>
                      <a:endParaRPr lang="en-US" sz="2000" b="1" baseline="30000" dirty="0" smtClean="0">
                        <a:solidFill>
                          <a:srgbClr val="0824F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0840">
                <a:tc>
                  <a:txBody>
                    <a:bodyPr/>
                    <a:lstStyle/>
                    <a:p>
                      <a:r>
                        <a:rPr lang="en-US" sz="2000" b="1" dirty="0" err="1" smtClean="0"/>
                        <a:t>Nonsym</a:t>
                      </a:r>
                      <a:r>
                        <a:rPr lang="en-US" sz="2000" b="1" dirty="0" smtClean="0"/>
                        <a:t> </a:t>
                      </a:r>
                      <a:r>
                        <a:rPr lang="en-US" sz="2000" b="1" dirty="0" err="1" smtClean="0"/>
                        <a:t>Eig</a:t>
                      </a:r>
                      <a:endParaRPr lang="en-US" sz="20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b="1" dirty="0" smtClean="0">
                          <a:solidFill>
                            <a:srgbClr val="0824F2"/>
                          </a:solidFill>
                        </a:rPr>
                        <a:t>[BDD11]</a:t>
                      </a:r>
                      <a:endParaRPr lang="en-US" sz="2000" b="1" dirty="0">
                        <a:solidFill>
                          <a:srgbClr val="0824F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b="1" dirty="0" smtClean="0">
                          <a:solidFill>
                            <a:srgbClr val="0824F2"/>
                          </a:solidFill>
                        </a:rPr>
                        <a:t>log P</a:t>
                      </a:r>
                      <a:endParaRPr lang="en-US" sz="2000" b="1" dirty="0">
                        <a:solidFill>
                          <a:srgbClr val="0824F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b="1" dirty="0" smtClean="0">
                          <a:solidFill>
                            <a:srgbClr val="0824F2"/>
                          </a:solidFill>
                        </a:rPr>
                        <a:t> log</a:t>
                      </a:r>
                      <a:r>
                        <a:rPr lang="en-US" sz="2400" b="1" baseline="30000" dirty="0" smtClean="0">
                          <a:solidFill>
                            <a:srgbClr val="0824F2"/>
                          </a:solidFill>
                        </a:rPr>
                        <a:t>3</a:t>
                      </a:r>
                      <a:r>
                        <a:rPr lang="en-US" sz="2000" b="1" dirty="0" smtClean="0">
                          <a:solidFill>
                            <a:srgbClr val="0824F2"/>
                          </a:solidFill>
                        </a:rPr>
                        <a:t> P</a:t>
                      </a:r>
                      <a:endParaRPr lang="en-US" sz="2000" b="1" baseline="30000" dirty="0" smtClean="0">
                        <a:solidFill>
                          <a:srgbClr val="0824F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p:cxnSp>
        <p:nvCxnSpPr>
          <p:cNvPr id="14" name="Straight Connector 13"/>
          <p:cNvCxnSpPr/>
          <p:nvPr/>
        </p:nvCxnSpPr>
        <p:spPr>
          <a:xfrm>
            <a:off x="381000" y="990600"/>
            <a:ext cx="8305800" cy="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xmlns:p14="http://schemas.microsoft.com/office/powerpoint/2010/mai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itle 1"/>
          <p:cNvSpPr>
            <a:spLocks noGrp="1"/>
          </p:cNvSpPr>
          <p:nvPr>
            <p:ph type="title"/>
          </p:nvPr>
        </p:nvSpPr>
        <p:spPr>
          <a:xfrm>
            <a:off x="609600" y="0"/>
            <a:ext cx="7842250" cy="479425"/>
          </a:xfrm>
        </p:spPr>
        <p:txBody>
          <a:bodyPr>
            <a:noAutofit/>
          </a:bodyPr>
          <a:lstStyle/>
          <a:p>
            <a:r>
              <a:rPr lang="en-US" sz="3200" dirty="0" smtClean="0"/>
              <a:t>Beating   #</a:t>
            </a:r>
            <a:r>
              <a:rPr lang="en-US" sz="3200" dirty="0" err="1" smtClean="0"/>
              <a:t>words_moved</a:t>
            </a:r>
            <a:r>
              <a:rPr lang="en-US" sz="3200" dirty="0" smtClean="0"/>
              <a:t>  =  </a:t>
            </a:r>
            <a:r>
              <a:rPr lang="en-US" sz="3200" dirty="0" smtClean="0">
                <a:sym typeface="Symbol"/>
              </a:rPr>
              <a:t>(n</a:t>
            </a:r>
            <a:r>
              <a:rPr lang="en-US" sz="3200" baseline="30000" dirty="0" smtClean="0"/>
              <a:t>2</a:t>
            </a:r>
            <a:r>
              <a:rPr lang="en-US" sz="3200" dirty="0" smtClean="0"/>
              <a:t>/P</a:t>
            </a:r>
            <a:r>
              <a:rPr lang="en-US" sz="3200" baseline="30000" dirty="0" smtClean="0"/>
              <a:t>1/2</a:t>
            </a:r>
            <a:r>
              <a:rPr lang="en-US" sz="3200" dirty="0" smtClean="0"/>
              <a:t>) </a:t>
            </a:r>
            <a:endParaRPr lang="en-US" sz="3600" dirty="0" smtClean="0"/>
          </a:p>
        </p:txBody>
      </p:sp>
      <p:sp>
        <p:nvSpPr>
          <p:cNvPr id="118787" name="Slide Number Placeholder 2"/>
          <p:cNvSpPr>
            <a:spLocks noGrp="1"/>
          </p:cNvSpPr>
          <p:nvPr>
            <p:ph type="sldNum" sz="quarter" idx="11"/>
          </p:nvPr>
        </p:nvSpPr>
        <p:spPr>
          <a:xfrm>
            <a:off x="7243763" y="6400800"/>
            <a:ext cx="1905000" cy="457200"/>
          </a:xfrm>
        </p:spPr>
        <p:txBody>
          <a:bodyPr/>
          <a:lstStyle/>
          <a:p>
            <a:pPr>
              <a:defRPr/>
            </a:pPr>
            <a:fld id="{17537F36-F4DE-4684-B378-1299F7645A2E}" type="slidenum">
              <a:rPr lang="en-US" smtClean="0">
                <a:latin typeface="Helvetica" charset="0"/>
              </a:rPr>
              <a:pPr>
                <a:defRPr/>
              </a:pPr>
              <a:t>100</a:t>
            </a:fld>
            <a:endParaRPr lang="en-US" dirty="0" smtClean="0">
              <a:latin typeface="Helvetica" charset="0"/>
            </a:endParaRPr>
          </a:p>
        </p:txBody>
      </p:sp>
      <p:grpSp>
        <p:nvGrpSpPr>
          <p:cNvPr id="2" name="Group 38"/>
          <p:cNvGrpSpPr>
            <a:grpSpLocks/>
          </p:cNvGrpSpPr>
          <p:nvPr/>
        </p:nvGrpSpPr>
        <p:grpSpPr bwMode="auto">
          <a:xfrm>
            <a:off x="9525000" y="1981200"/>
            <a:ext cx="5464175" cy="4089400"/>
            <a:chOff x="3684588" y="2614613"/>
            <a:chExt cx="5464175" cy="4089400"/>
          </a:xfrm>
        </p:grpSpPr>
        <p:sp>
          <p:nvSpPr>
            <p:cNvPr id="47110" name="Cube 3"/>
            <p:cNvSpPr>
              <a:spLocks noChangeArrowheads="1"/>
            </p:cNvSpPr>
            <p:nvPr/>
          </p:nvSpPr>
          <p:spPr bwMode="auto">
            <a:xfrm>
              <a:off x="4432177" y="3437942"/>
              <a:ext cx="3385935" cy="2804059"/>
            </a:xfrm>
            <a:prstGeom prst="cube">
              <a:avLst>
                <a:gd name="adj" fmla="val 25000"/>
              </a:avLst>
            </a:prstGeom>
            <a:noFill/>
            <a:ln w="12700">
              <a:solidFill>
                <a:schemeClr val="tx1"/>
              </a:solidFill>
              <a:round/>
              <a:headEnd type="none" w="sm" len="sm"/>
              <a:tailEnd type="none" w="sm" len="sm"/>
            </a:ln>
          </p:spPr>
          <p:txBody>
            <a:bodyPr/>
            <a:lstStyle/>
            <a:p>
              <a:endParaRPr lang="en-US"/>
            </a:p>
          </p:txBody>
        </p:sp>
        <p:cxnSp>
          <p:nvCxnSpPr>
            <p:cNvPr id="47111" name="Straight Connector 5"/>
            <p:cNvCxnSpPr>
              <a:cxnSpLocks noChangeShapeType="1"/>
            </p:cNvCxnSpPr>
            <p:nvPr/>
          </p:nvCxnSpPr>
          <p:spPr bwMode="auto">
            <a:xfrm>
              <a:off x="4432177" y="4827533"/>
              <a:ext cx="2738102" cy="1184"/>
            </a:xfrm>
            <a:prstGeom prst="line">
              <a:avLst/>
            </a:prstGeom>
            <a:noFill/>
            <a:ln w="12700">
              <a:solidFill>
                <a:srgbClr val="FF0000"/>
              </a:solidFill>
              <a:round/>
              <a:headEnd type="none" w="sm" len="sm"/>
              <a:tailEnd type="none" w="sm" len="sm"/>
            </a:ln>
          </p:spPr>
        </p:cxnSp>
        <p:cxnSp>
          <p:nvCxnSpPr>
            <p:cNvPr id="47112" name="Straight Connector 6"/>
            <p:cNvCxnSpPr>
              <a:cxnSpLocks noChangeShapeType="1"/>
            </p:cNvCxnSpPr>
            <p:nvPr/>
          </p:nvCxnSpPr>
          <p:spPr bwMode="auto">
            <a:xfrm>
              <a:off x="4432177" y="5558459"/>
              <a:ext cx="2738102" cy="1185"/>
            </a:xfrm>
            <a:prstGeom prst="line">
              <a:avLst/>
            </a:prstGeom>
            <a:noFill/>
            <a:ln w="12700">
              <a:solidFill>
                <a:srgbClr val="FF0000"/>
              </a:solidFill>
              <a:round/>
              <a:headEnd type="none" w="sm" len="sm"/>
              <a:tailEnd type="none" w="sm" len="sm"/>
            </a:ln>
          </p:spPr>
        </p:cxnSp>
        <p:cxnSp>
          <p:nvCxnSpPr>
            <p:cNvPr id="47113" name="Straight Connector 9"/>
            <p:cNvCxnSpPr>
              <a:cxnSpLocks noChangeShapeType="1"/>
            </p:cNvCxnSpPr>
            <p:nvPr/>
          </p:nvCxnSpPr>
          <p:spPr bwMode="auto">
            <a:xfrm rot="16200000" flipH="1">
              <a:off x="4194819" y="5181378"/>
              <a:ext cx="2107487" cy="13759"/>
            </a:xfrm>
            <a:prstGeom prst="line">
              <a:avLst/>
            </a:prstGeom>
            <a:noFill/>
            <a:ln w="12700">
              <a:solidFill>
                <a:srgbClr val="FF0000"/>
              </a:solidFill>
              <a:round/>
              <a:headEnd type="none" w="sm" len="sm"/>
              <a:tailEnd type="none" w="sm" len="sm"/>
            </a:ln>
          </p:spPr>
        </p:cxnSp>
        <p:cxnSp>
          <p:nvCxnSpPr>
            <p:cNvPr id="47114" name="Straight Connector 10"/>
            <p:cNvCxnSpPr>
              <a:cxnSpLocks noChangeShapeType="1"/>
            </p:cNvCxnSpPr>
            <p:nvPr/>
          </p:nvCxnSpPr>
          <p:spPr bwMode="auto">
            <a:xfrm rot="16200000" flipH="1">
              <a:off x="5159116" y="5181378"/>
              <a:ext cx="2107487" cy="13759"/>
            </a:xfrm>
            <a:prstGeom prst="line">
              <a:avLst/>
            </a:prstGeom>
            <a:noFill/>
            <a:ln w="12700">
              <a:solidFill>
                <a:srgbClr val="FF0000"/>
              </a:solidFill>
              <a:round/>
              <a:headEnd type="none" w="sm" len="sm"/>
              <a:tailEnd type="none" w="sm" len="sm"/>
            </a:ln>
          </p:spPr>
        </p:cxnSp>
        <p:cxnSp>
          <p:nvCxnSpPr>
            <p:cNvPr id="47115" name="Straight Connector 12"/>
            <p:cNvCxnSpPr>
              <a:cxnSpLocks noChangeShapeType="1"/>
            </p:cNvCxnSpPr>
            <p:nvPr/>
          </p:nvCxnSpPr>
          <p:spPr bwMode="auto">
            <a:xfrm rot="5400000" flipH="1" flipV="1">
              <a:off x="5204128" y="3475497"/>
              <a:ext cx="696572" cy="621462"/>
            </a:xfrm>
            <a:prstGeom prst="line">
              <a:avLst/>
            </a:prstGeom>
            <a:noFill/>
            <a:ln w="12700">
              <a:solidFill>
                <a:schemeClr val="tx1"/>
              </a:solidFill>
              <a:round/>
              <a:headEnd type="none" w="sm" len="sm"/>
              <a:tailEnd type="none" w="sm" len="sm"/>
            </a:ln>
          </p:spPr>
        </p:cxnSp>
        <p:cxnSp>
          <p:nvCxnSpPr>
            <p:cNvPr id="47116" name="Straight Connector 13"/>
            <p:cNvCxnSpPr>
              <a:cxnSpLocks noChangeShapeType="1"/>
            </p:cNvCxnSpPr>
            <p:nvPr/>
          </p:nvCxnSpPr>
          <p:spPr bwMode="auto">
            <a:xfrm rot="5400000" flipH="1" flipV="1">
              <a:off x="6168425" y="3475497"/>
              <a:ext cx="696572" cy="621462"/>
            </a:xfrm>
            <a:prstGeom prst="line">
              <a:avLst/>
            </a:prstGeom>
            <a:noFill/>
            <a:ln w="12700">
              <a:solidFill>
                <a:schemeClr val="tx1"/>
              </a:solidFill>
              <a:round/>
              <a:headEnd type="none" w="sm" len="sm"/>
              <a:tailEnd type="none" w="sm" len="sm"/>
            </a:ln>
          </p:spPr>
        </p:cxnSp>
        <p:cxnSp>
          <p:nvCxnSpPr>
            <p:cNvPr id="47117" name="Straight Connector 15"/>
            <p:cNvCxnSpPr>
              <a:cxnSpLocks noChangeShapeType="1"/>
            </p:cNvCxnSpPr>
            <p:nvPr/>
          </p:nvCxnSpPr>
          <p:spPr bwMode="auto">
            <a:xfrm flipV="1">
              <a:off x="7170278" y="4186639"/>
              <a:ext cx="647834" cy="642078"/>
            </a:xfrm>
            <a:prstGeom prst="line">
              <a:avLst/>
            </a:prstGeom>
            <a:noFill/>
            <a:ln w="12700">
              <a:solidFill>
                <a:schemeClr val="accent2"/>
              </a:solidFill>
              <a:round/>
              <a:headEnd type="none" w="sm" len="sm"/>
              <a:tailEnd type="none" w="sm" len="sm"/>
            </a:ln>
          </p:spPr>
        </p:cxnSp>
        <p:cxnSp>
          <p:nvCxnSpPr>
            <p:cNvPr id="47118" name="Straight Connector 16"/>
            <p:cNvCxnSpPr>
              <a:cxnSpLocks noChangeShapeType="1"/>
            </p:cNvCxnSpPr>
            <p:nvPr/>
          </p:nvCxnSpPr>
          <p:spPr bwMode="auto">
            <a:xfrm flipV="1">
              <a:off x="7170278" y="4908089"/>
              <a:ext cx="647834" cy="642078"/>
            </a:xfrm>
            <a:prstGeom prst="line">
              <a:avLst/>
            </a:prstGeom>
            <a:noFill/>
            <a:ln w="12700">
              <a:solidFill>
                <a:schemeClr val="accent2"/>
              </a:solidFill>
              <a:round/>
              <a:headEnd type="none" w="sm" len="sm"/>
              <a:tailEnd type="none" w="sm" len="sm"/>
            </a:ln>
          </p:spPr>
        </p:cxnSp>
        <p:cxnSp>
          <p:nvCxnSpPr>
            <p:cNvPr id="47119" name="Straight Connector 30"/>
            <p:cNvCxnSpPr>
              <a:cxnSpLocks noChangeShapeType="1"/>
            </p:cNvCxnSpPr>
            <p:nvPr/>
          </p:nvCxnSpPr>
          <p:spPr bwMode="auto">
            <a:xfrm flipV="1">
              <a:off x="4706216" y="3852568"/>
              <a:ext cx="2717463" cy="7108"/>
            </a:xfrm>
            <a:prstGeom prst="line">
              <a:avLst/>
            </a:prstGeom>
            <a:noFill/>
            <a:ln w="12700">
              <a:solidFill>
                <a:schemeClr val="tx1"/>
              </a:solidFill>
              <a:round/>
              <a:headEnd type="none" w="sm" len="sm"/>
              <a:tailEnd type="none" w="sm" len="sm"/>
            </a:ln>
          </p:spPr>
        </p:cxnSp>
        <p:cxnSp>
          <p:nvCxnSpPr>
            <p:cNvPr id="47120" name="Straight Connector 31"/>
            <p:cNvCxnSpPr>
              <a:cxnSpLocks noChangeShapeType="1"/>
            </p:cNvCxnSpPr>
            <p:nvPr/>
          </p:nvCxnSpPr>
          <p:spPr bwMode="auto">
            <a:xfrm flipV="1">
              <a:off x="4933244" y="3614455"/>
              <a:ext cx="2717463" cy="7108"/>
            </a:xfrm>
            <a:prstGeom prst="line">
              <a:avLst/>
            </a:prstGeom>
            <a:noFill/>
            <a:ln w="12700">
              <a:solidFill>
                <a:schemeClr val="tx1"/>
              </a:solidFill>
              <a:round/>
              <a:headEnd type="none" w="sm" len="sm"/>
              <a:tailEnd type="none" w="sm" len="sm"/>
            </a:ln>
          </p:spPr>
        </p:cxnSp>
        <p:cxnSp>
          <p:nvCxnSpPr>
            <p:cNvPr id="47121" name="Straight Connector 33"/>
            <p:cNvCxnSpPr>
              <a:cxnSpLocks noChangeShapeType="1"/>
            </p:cNvCxnSpPr>
            <p:nvPr/>
          </p:nvCxnSpPr>
          <p:spPr bwMode="auto">
            <a:xfrm rot="5400000">
              <a:off x="6379986" y="4897446"/>
              <a:ext cx="2088532" cy="1147"/>
            </a:xfrm>
            <a:prstGeom prst="line">
              <a:avLst/>
            </a:prstGeom>
            <a:noFill/>
            <a:ln w="12700">
              <a:solidFill>
                <a:schemeClr val="accent2"/>
              </a:solidFill>
              <a:round/>
              <a:headEnd type="none" w="sm" len="sm"/>
              <a:tailEnd type="none" w="sm" len="sm"/>
            </a:ln>
          </p:spPr>
        </p:cxnSp>
        <p:cxnSp>
          <p:nvCxnSpPr>
            <p:cNvPr id="47122" name="Straight Connector 35"/>
            <p:cNvCxnSpPr>
              <a:cxnSpLocks noChangeShapeType="1"/>
            </p:cNvCxnSpPr>
            <p:nvPr/>
          </p:nvCxnSpPr>
          <p:spPr bwMode="auto">
            <a:xfrm rot="5400000">
              <a:off x="6606441" y="4665866"/>
              <a:ext cx="2088532" cy="2293"/>
            </a:xfrm>
            <a:prstGeom prst="line">
              <a:avLst/>
            </a:prstGeom>
            <a:noFill/>
            <a:ln w="12700">
              <a:solidFill>
                <a:schemeClr val="accent2"/>
              </a:solidFill>
              <a:round/>
              <a:headEnd type="none" w="sm" len="sm"/>
              <a:tailEnd type="none" w="sm" len="sm"/>
            </a:ln>
          </p:spPr>
        </p:cxnSp>
        <p:cxnSp>
          <p:nvCxnSpPr>
            <p:cNvPr id="47123" name="Straight Arrow Connector 37"/>
            <p:cNvCxnSpPr>
              <a:cxnSpLocks noChangeShapeType="1"/>
            </p:cNvCxnSpPr>
            <p:nvPr/>
          </p:nvCxnSpPr>
          <p:spPr bwMode="auto">
            <a:xfrm flipV="1">
              <a:off x="7936213" y="5267036"/>
              <a:ext cx="167405" cy="154004"/>
            </a:xfrm>
            <a:prstGeom prst="straightConnector1">
              <a:avLst/>
            </a:prstGeom>
            <a:noFill/>
            <a:ln w="12700">
              <a:solidFill>
                <a:schemeClr val="tx1"/>
              </a:solidFill>
              <a:round/>
              <a:headEnd type="none" w="sm" len="sm"/>
              <a:tailEnd type="arrow" w="med" len="med"/>
            </a:ln>
          </p:spPr>
        </p:cxnSp>
        <p:cxnSp>
          <p:nvCxnSpPr>
            <p:cNvPr id="47124" name="Straight Arrow Connector 40"/>
            <p:cNvCxnSpPr>
              <a:cxnSpLocks noChangeShapeType="1"/>
            </p:cNvCxnSpPr>
            <p:nvPr/>
          </p:nvCxnSpPr>
          <p:spPr bwMode="auto">
            <a:xfrm rot="10800000">
              <a:off x="3935695" y="6242001"/>
              <a:ext cx="298118" cy="1184"/>
            </a:xfrm>
            <a:prstGeom prst="straightConnector1">
              <a:avLst/>
            </a:prstGeom>
            <a:noFill/>
            <a:ln w="12700">
              <a:solidFill>
                <a:schemeClr val="tx1"/>
              </a:solidFill>
              <a:round/>
              <a:headEnd type="none" w="sm" len="sm"/>
              <a:tailEnd type="arrow" w="med" len="med"/>
            </a:ln>
          </p:spPr>
        </p:cxnSp>
        <p:cxnSp>
          <p:nvCxnSpPr>
            <p:cNvPr id="47125" name="Straight Arrow Connector 44"/>
            <p:cNvCxnSpPr>
              <a:cxnSpLocks noChangeShapeType="1"/>
            </p:cNvCxnSpPr>
            <p:nvPr/>
          </p:nvCxnSpPr>
          <p:spPr bwMode="auto">
            <a:xfrm rot="5400000" flipH="1" flipV="1">
              <a:off x="6988416" y="3095006"/>
              <a:ext cx="364871" cy="1146"/>
            </a:xfrm>
            <a:prstGeom prst="straightConnector1">
              <a:avLst/>
            </a:prstGeom>
            <a:noFill/>
            <a:ln w="12700">
              <a:solidFill>
                <a:schemeClr val="tx1"/>
              </a:solidFill>
              <a:round/>
              <a:headEnd type="none" w="sm" len="sm"/>
              <a:tailEnd type="arrow" w="med" len="med"/>
            </a:ln>
          </p:spPr>
        </p:cxnSp>
        <p:sp>
          <p:nvSpPr>
            <p:cNvPr id="47126" name="TextBox 45"/>
            <p:cNvSpPr txBox="1">
              <a:spLocks noChangeArrowheads="1"/>
            </p:cNvSpPr>
            <p:nvPr/>
          </p:nvSpPr>
          <p:spPr bwMode="auto">
            <a:xfrm>
              <a:off x="3684588" y="6093920"/>
              <a:ext cx="184604" cy="298531"/>
            </a:xfrm>
            <a:prstGeom prst="rect">
              <a:avLst/>
            </a:prstGeom>
            <a:noFill/>
            <a:ln w="9525">
              <a:noFill/>
              <a:miter lim="800000"/>
              <a:headEnd/>
              <a:tailEnd/>
            </a:ln>
          </p:spPr>
          <p:txBody>
            <a:bodyPr wrap="none">
              <a:spAutoFit/>
            </a:bodyPr>
            <a:lstStyle/>
            <a:p>
              <a:r>
                <a:rPr lang="en-US">
                  <a:solidFill>
                    <a:schemeClr val="tx1"/>
                  </a:solidFill>
                </a:rPr>
                <a:t>i</a:t>
              </a:r>
            </a:p>
          </p:txBody>
        </p:sp>
        <p:sp>
          <p:nvSpPr>
            <p:cNvPr id="47127" name="TextBox 47"/>
            <p:cNvSpPr txBox="1">
              <a:spLocks noChangeArrowheads="1"/>
            </p:cNvSpPr>
            <p:nvPr/>
          </p:nvSpPr>
          <p:spPr bwMode="auto">
            <a:xfrm>
              <a:off x="8225158" y="4968505"/>
              <a:ext cx="183457" cy="298531"/>
            </a:xfrm>
            <a:prstGeom prst="rect">
              <a:avLst/>
            </a:prstGeom>
            <a:noFill/>
            <a:ln w="9525">
              <a:noFill/>
              <a:miter lim="800000"/>
              <a:headEnd/>
              <a:tailEnd/>
            </a:ln>
          </p:spPr>
          <p:txBody>
            <a:bodyPr wrap="none">
              <a:spAutoFit/>
            </a:bodyPr>
            <a:lstStyle/>
            <a:p>
              <a:r>
                <a:rPr lang="en-US">
                  <a:solidFill>
                    <a:schemeClr val="tx1"/>
                  </a:solidFill>
                </a:rPr>
                <a:t>j</a:t>
              </a:r>
            </a:p>
          </p:txBody>
        </p:sp>
        <p:sp>
          <p:nvSpPr>
            <p:cNvPr id="47128" name="TextBox 48"/>
            <p:cNvSpPr txBox="1">
              <a:spLocks noChangeArrowheads="1"/>
            </p:cNvSpPr>
            <p:nvPr/>
          </p:nvSpPr>
          <p:spPr bwMode="auto">
            <a:xfrm>
              <a:off x="7078550" y="2614613"/>
              <a:ext cx="237348" cy="298531"/>
            </a:xfrm>
            <a:prstGeom prst="rect">
              <a:avLst/>
            </a:prstGeom>
            <a:noFill/>
            <a:ln w="9525">
              <a:noFill/>
              <a:miter lim="800000"/>
              <a:headEnd/>
              <a:tailEnd/>
            </a:ln>
          </p:spPr>
          <p:txBody>
            <a:bodyPr wrap="none">
              <a:spAutoFit/>
            </a:bodyPr>
            <a:lstStyle/>
            <a:p>
              <a:r>
                <a:rPr lang="en-US">
                  <a:solidFill>
                    <a:schemeClr val="tx1"/>
                  </a:solidFill>
                </a:rPr>
                <a:t>k</a:t>
              </a:r>
            </a:p>
          </p:txBody>
        </p:sp>
        <p:sp>
          <p:nvSpPr>
            <p:cNvPr id="47129" name="TextBox 49"/>
            <p:cNvSpPr txBox="1">
              <a:spLocks noChangeArrowheads="1"/>
            </p:cNvSpPr>
            <p:nvPr/>
          </p:nvSpPr>
          <p:spPr bwMode="auto">
            <a:xfrm>
              <a:off x="5255442" y="6405482"/>
              <a:ext cx="862250" cy="298531"/>
            </a:xfrm>
            <a:prstGeom prst="rect">
              <a:avLst/>
            </a:prstGeom>
            <a:noFill/>
            <a:ln w="9525">
              <a:noFill/>
              <a:miter lim="800000"/>
              <a:headEnd/>
              <a:tailEnd/>
            </a:ln>
          </p:spPr>
          <p:txBody>
            <a:bodyPr wrap="none">
              <a:spAutoFit/>
            </a:bodyPr>
            <a:lstStyle/>
            <a:p>
              <a:r>
                <a:rPr lang="en-US">
                  <a:solidFill>
                    <a:srgbClr val="FF0000"/>
                  </a:solidFill>
                </a:rPr>
                <a:t>“A face”</a:t>
              </a:r>
            </a:p>
          </p:txBody>
        </p:sp>
        <p:sp>
          <p:nvSpPr>
            <p:cNvPr id="47130" name="TextBox 52"/>
            <p:cNvSpPr txBox="1">
              <a:spLocks noChangeArrowheads="1"/>
            </p:cNvSpPr>
            <p:nvPr/>
          </p:nvSpPr>
          <p:spPr bwMode="auto">
            <a:xfrm rot="-2605187">
              <a:off x="7361762" y="5944654"/>
              <a:ext cx="874863" cy="298531"/>
            </a:xfrm>
            <a:prstGeom prst="rect">
              <a:avLst/>
            </a:prstGeom>
            <a:noFill/>
            <a:ln w="9525">
              <a:noFill/>
              <a:miter lim="800000"/>
              <a:headEnd/>
              <a:tailEnd/>
            </a:ln>
          </p:spPr>
          <p:txBody>
            <a:bodyPr wrap="none">
              <a:spAutoFit/>
            </a:bodyPr>
            <a:lstStyle/>
            <a:p>
              <a:r>
                <a:rPr lang="en-US">
                  <a:solidFill>
                    <a:schemeClr val="accent2"/>
                  </a:solidFill>
                </a:rPr>
                <a:t>“B face”</a:t>
              </a:r>
            </a:p>
          </p:txBody>
        </p:sp>
        <p:sp>
          <p:nvSpPr>
            <p:cNvPr id="47131" name="TextBox 53"/>
            <p:cNvSpPr txBox="1">
              <a:spLocks noChangeArrowheads="1"/>
            </p:cNvSpPr>
            <p:nvPr/>
          </p:nvSpPr>
          <p:spPr bwMode="auto">
            <a:xfrm>
              <a:off x="5796641" y="2763878"/>
              <a:ext cx="874862" cy="298531"/>
            </a:xfrm>
            <a:prstGeom prst="rect">
              <a:avLst/>
            </a:prstGeom>
            <a:noFill/>
            <a:ln w="9525">
              <a:noFill/>
              <a:miter lim="800000"/>
              <a:headEnd/>
              <a:tailEnd/>
            </a:ln>
          </p:spPr>
          <p:txBody>
            <a:bodyPr wrap="none">
              <a:spAutoFit/>
            </a:bodyPr>
            <a:lstStyle/>
            <a:p>
              <a:r>
                <a:rPr lang="en-US" dirty="0">
                  <a:solidFill>
                    <a:schemeClr val="tx1"/>
                  </a:solidFill>
                </a:rPr>
                <a:t>“C face”</a:t>
              </a:r>
            </a:p>
          </p:txBody>
        </p:sp>
        <p:sp>
          <p:nvSpPr>
            <p:cNvPr id="47132" name="TextBox 54"/>
            <p:cNvSpPr txBox="1">
              <a:spLocks noChangeArrowheads="1"/>
            </p:cNvSpPr>
            <p:nvPr/>
          </p:nvSpPr>
          <p:spPr bwMode="auto">
            <a:xfrm>
              <a:off x="5423194" y="5760306"/>
              <a:ext cx="491895" cy="229821"/>
            </a:xfrm>
            <a:prstGeom prst="rect">
              <a:avLst/>
            </a:prstGeom>
            <a:noFill/>
            <a:ln w="9525">
              <a:noFill/>
              <a:miter lim="800000"/>
              <a:headEnd/>
              <a:tailEnd/>
            </a:ln>
          </p:spPr>
          <p:txBody>
            <a:bodyPr wrap="none">
              <a:spAutoFit/>
            </a:bodyPr>
            <a:lstStyle/>
            <a:p>
              <a:r>
                <a:rPr lang="en-US" sz="1400">
                  <a:solidFill>
                    <a:srgbClr val="FF0000"/>
                  </a:solidFill>
                </a:rPr>
                <a:t>A(2,1)</a:t>
              </a:r>
            </a:p>
          </p:txBody>
        </p:sp>
        <p:sp>
          <p:nvSpPr>
            <p:cNvPr id="47133" name="TextBox 55"/>
            <p:cNvSpPr txBox="1">
              <a:spLocks noChangeArrowheads="1"/>
            </p:cNvSpPr>
            <p:nvPr/>
          </p:nvSpPr>
          <p:spPr bwMode="auto">
            <a:xfrm>
              <a:off x="6373467" y="4344653"/>
              <a:ext cx="491895" cy="229821"/>
            </a:xfrm>
            <a:prstGeom prst="rect">
              <a:avLst/>
            </a:prstGeom>
            <a:noFill/>
            <a:ln w="9525">
              <a:noFill/>
              <a:miter lim="800000"/>
              <a:headEnd/>
              <a:tailEnd/>
            </a:ln>
          </p:spPr>
          <p:txBody>
            <a:bodyPr wrap="none">
              <a:spAutoFit/>
            </a:bodyPr>
            <a:lstStyle/>
            <a:p>
              <a:r>
                <a:rPr lang="en-US" sz="1400">
                  <a:solidFill>
                    <a:srgbClr val="FF0000"/>
                  </a:solidFill>
                </a:rPr>
                <a:t>A(1,3)</a:t>
              </a:r>
            </a:p>
          </p:txBody>
        </p:sp>
        <p:sp>
          <p:nvSpPr>
            <p:cNvPr id="47134" name="TextBox 56"/>
            <p:cNvSpPr txBox="1">
              <a:spLocks noChangeArrowheads="1"/>
            </p:cNvSpPr>
            <p:nvPr/>
          </p:nvSpPr>
          <p:spPr bwMode="auto">
            <a:xfrm rot="-5400000">
              <a:off x="7450839" y="5277665"/>
              <a:ext cx="508214" cy="222442"/>
            </a:xfrm>
            <a:prstGeom prst="rect">
              <a:avLst/>
            </a:prstGeom>
            <a:noFill/>
            <a:ln w="9525">
              <a:noFill/>
              <a:miter lim="800000"/>
              <a:headEnd/>
              <a:tailEnd/>
            </a:ln>
          </p:spPr>
          <p:txBody>
            <a:bodyPr wrap="none">
              <a:spAutoFit/>
            </a:bodyPr>
            <a:lstStyle/>
            <a:p>
              <a:r>
                <a:rPr lang="en-US" sz="1400">
                  <a:solidFill>
                    <a:schemeClr val="accent2"/>
                  </a:solidFill>
                </a:rPr>
                <a:t>B(1,3)</a:t>
              </a:r>
            </a:p>
          </p:txBody>
        </p:sp>
        <p:sp>
          <p:nvSpPr>
            <p:cNvPr id="47135" name="TextBox 57"/>
            <p:cNvSpPr txBox="1">
              <a:spLocks noChangeArrowheads="1"/>
            </p:cNvSpPr>
            <p:nvPr/>
          </p:nvSpPr>
          <p:spPr bwMode="auto">
            <a:xfrm rot="-5400000">
              <a:off x="6965557" y="4354674"/>
              <a:ext cx="508214" cy="222442"/>
            </a:xfrm>
            <a:prstGeom prst="rect">
              <a:avLst/>
            </a:prstGeom>
            <a:noFill/>
            <a:ln w="9525">
              <a:noFill/>
              <a:miter lim="800000"/>
              <a:headEnd/>
              <a:tailEnd/>
            </a:ln>
          </p:spPr>
          <p:txBody>
            <a:bodyPr wrap="none">
              <a:spAutoFit/>
            </a:bodyPr>
            <a:lstStyle/>
            <a:p>
              <a:r>
                <a:rPr lang="en-US" sz="1400">
                  <a:solidFill>
                    <a:schemeClr val="accent2"/>
                  </a:solidFill>
                </a:rPr>
                <a:t>B(3,1)</a:t>
              </a:r>
            </a:p>
          </p:txBody>
        </p:sp>
        <p:sp>
          <p:nvSpPr>
            <p:cNvPr id="47136" name="TextBox 58"/>
            <p:cNvSpPr txBox="1">
              <a:spLocks noChangeArrowheads="1"/>
            </p:cNvSpPr>
            <p:nvPr/>
          </p:nvSpPr>
          <p:spPr bwMode="auto">
            <a:xfrm>
              <a:off x="6465011" y="3866056"/>
              <a:ext cx="491895" cy="229821"/>
            </a:xfrm>
            <a:prstGeom prst="rect">
              <a:avLst/>
            </a:prstGeom>
            <a:noFill/>
            <a:ln w="9525">
              <a:noFill/>
              <a:miter lim="800000"/>
              <a:headEnd/>
              <a:tailEnd/>
            </a:ln>
          </p:spPr>
          <p:txBody>
            <a:bodyPr wrap="none">
              <a:spAutoFit/>
            </a:bodyPr>
            <a:lstStyle/>
            <a:p>
              <a:r>
                <a:rPr lang="en-US" sz="1400">
                  <a:solidFill>
                    <a:schemeClr val="tx1"/>
                  </a:solidFill>
                </a:rPr>
                <a:t>C(1,1)</a:t>
              </a:r>
            </a:p>
          </p:txBody>
        </p:sp>
        <p:sp>
          <p:nvSpPr>
            <p:cNvPr id="47137" name="TextBox 59"/>
            <p:cNvSpPr txBox="1">
              <a:spLocks noChangeArrowheads="1"/>
            </p:cNvSpPr>
            <p:nvPr/>
          </p:nvSpPr>
          <p:spPr bwMode="auto">
            <a:xfrm>
              <a:off x="5960340" y="3387307"/>
              <a:ext cx="491895" cy="229821"/>
            </a:xfrm>
            <a:prstGeom prst="rect">
              <a:avLst/>
            </a:prstGeom>
            <a:noFill/>
            <a:ln w="9525">
              <a:noFill/>
              <a:miter lim="800000"/>
              <a:headEnd/>
              <a:tailEnd/>
            </a:ln>
          </p:spPr>
          <p:txBody>
            <a:bodyPr wrap="none">
              <a:spAutoFit/>
            </a:bodyPr>
            <a:lstStyle/>
            <a:p>
              <a:r>
                <a:rPr lang="en-US" sz="1400">
                  <a:solidFill>
                    <a:schemeClr val="tx1"/>
                  </a:solidFill>
                </a:rPr>
                <a:t>C(2,3)</a:t>
              </a:r>
            </a:p>
          </p:txBody>
        </p:sp>
        <p:sp>
          <p:nvSpPr>
            <p:cNvPr id="47138" name="TextBox 60"/>
            <p:cNvSpPr txBox="1">
              <a:spLocks noChangeArrowheads="1"/>
            </p:cNvSpPr>
            <p:nvPr/>
          </p:nvSpPr>
          <p:spPr bwMode="auto">
            <a:xfrm>
              <a:off x="7669637" y="2817704"/>
              <a:ext cx="1479126" cy="954107"/>
            </a:xfrm>
            <a:prstGeom prst="rect">
              <a:avLst/>
            </a:prstGeom>
            <a:noFill/>
            <a:ln w="9525">
              <a:noFill/>
              <a:miter lim="800000"/>
              <a:headEnd/>
              <a:tailEnd/>
            </a:ln>
          </p:spPr>
          <p:txBody>
            <a:bodyPr>
              <a:spAutoFit/>
            </a:bodyPr>
            <a:lstStyle/>
            <a:p>
              <a:pPr algn="ctr"/>
              <a:r>
                <a:rPr lang="en-US" sz="1400" dirty="0">
                  <a:solidFill>
                    <a:schemeClr val="tx1"/>
                  </a:solidFill>
                </a:rPr>
                <a:t>Cube representing</a:t>
              </a:r>
            </a:p>
            <a:p>
              <a:pPr algn="ctr"/>
              <a:r>
                <a:rPr lang="en-US" sz="1400" dirty="0">
                  <a:solidFill>
                    <a:schemeClr val="tx1"/>
                  </a:solidFill>
                </a:rPr>
                <a:t>C(1,1) += </a:t>
              </a:r>
              <a:r>
                <a:rPr lang="en-US" sz="1400" dirty="0">
                  <a:solidFill>
                    <a:srgbClr val="FF0000"/>
                  </a:solidFill>
                </a:rPr>
                <a:t>A(1,3)</a:t>
              </a:r>
              <a:r>
                <a:rPr lang="en-US" sz="1400" dirty="0"/>
                <a:t>*</a:t>
              </a:r>
              <a:r>
                <a:rPr lang="en-US" sz="1400" dirty="0">
                  <a:solidFill>
                    <a:schemeClr val="accent2"/>
                  </a:solidFill>
                </a:rPr>
                <a:t>B(3,1)</a:t>
              </a:r>
            </a:p>
          </p:txBody>
        </p:sp>
        <p:cxnSp>
          <p:nvCxnSpPr>
            <p:cNvPr id="47139" name="Straight Arrow Connector 62"/>
            <p:cNvCxnSpPr>
              <a:cxnSpLocks noChangeShapeType="1"/>
            </p:cNvCxnSpPr>
            <p:nvPr/>
          </p:nvCxnSpPr>
          <p:spPr bwMode="auto">
            <a:xfrm rot="5400000">
              <a:off x="7632879" y="3244255"/>
              <a:ext cx="287403" cy="1239482"/>
            </a:xfrm>
            <a:prstGeom prst="straightConnector1">
              <a:avLst/>
            </a:prstGeom>
            <a:noFill/>
            <a:ln w="12700">
              <a:solidFill>
                <a:schemeClr val="tx1"/>
              </a:solidFill>
              <a:round/>
              <a:headEnd type="none" w="sm" len="sm"/>
              <a:tailEnd type="arrow" w="med" len="med"/>
            </a:ln>
          </p:spPr>
        </p:cxnSp>
      </p:grpSp>
      <p:sp>
        <p:nvSpPr>
          <p:cNvPr id="47109" name="TextBox 35"/>
          <p:cNvSpPr txBox="1">
            <a:spLocks noChangeArrowheads="1"/>
          </p:cNvSpPr>
          <p:nvPr/>
        </p:nvSpPr>
        <p:spPr bwMode="auto">
          <a:xfrm>
            <a:off x="0" y="1676400"/>
            <a:ext cx="9144000" cy="4739759"/>
          </a:xfrm>
          <a:prstGeom prst="rect">
            <a:avLst/>
          </a:prstGeom>
          <a:noFill/>
          <a:ln w="9525">
            <a:noFill/>
            <a:miter lim="800000"/>
            <a:headEnd/>
            <a:tailEnd/>
          </a:ln>
        </p:spPr>
        <p:txBody>
          <a:bodyPr wrap="square">
            <a:spAutoFit/>
          </a:bodyPr>
          <a:lstStyle/>
          <a:p>
            <a:pPr>
              <a:buFont typeface="Arial" pitchFamily="34" charset="0"/>
              <a:buChar char="•"/>
            </a:pPr>
            <a:endParaRPr lang="en-US" dirty="0" smtClean="0"/>
          </a:p>
          <a:p>
            <a:pPr>
              <a:buFont typeface="Arial" pitchFamily="34" charset="0"/>
              <a:buChar char="•"/>
            </a:pPr>
            <a:r>
              <a:rPr lang="en-US" sz="2000" dirty="0" smtClean="0">
                <a:solidFill>
                  <a:schemeClr val="tx1"/>
                </a:solidFill>
              </a:rPr>
              <a:t> </a:t>
            </a:r>
            <a:r>
              <a:rPr lang="en-US" sz="2400" dirty="0" smtClean="0"/>
              <a:t>  “3D”</a:t>
            </a:r>
            <a:r>
              <a:rPr lang="en-US" sz="2400" dirty="0" smtClean="0">
                <a:solidFill>
                  <a:schemeClr val="tx1"/>
                </a:solidFill>
              </a:rPr>
              <a:t> </a:t>
            </a:r>
            <a:r>
              <a:rPr lang="en-US" sz="2400" dirty="0" err="1" smtClean="0">
                <a:solidFill>
                  <a:schemeClr val="tx1"/>
                </a:solidFill>
              </a:rPr>
              <a:t>Matmul</a:t>
            </a:r>
            <a:r>
              <a:rPr lang="en-US" sz="2400" dirty="0" smtClean="0">
                <a:solidFill>
                  <a:schemeClr val="tx1"/>
                </a:solidFill>
              </a:rPr>
              <a:t> Algorithm</a:t>
            </a:r>
            <a:r>
              <a:rPr lang="en-US" sz="2400" dirty="0" smtClean="0"/>
              <a:t> on P</a:t>
            </a:r>
            <a:r>
              <a:rPr lang="en-US" sz="2400" baseline="30000" dirty="0" smtClean="0"/>
              <a:t>1/3</a:t>
            </a:r>
            <a:r>
              <a:rPr lang="en-US" sz="2400" dirty="0" smtClean="0"/>
              <a:t> x P</a:t>
            </a:r>
            <a:r>
              <a:rPr lang="en-US" sz="2400" baseline="30000" dirty="0" smtClean="0"/>
              <a:t>1/3</a:t>
            </a:r>
            <a:r>
              <a:rPr lang="en-US" sz="2400" dirty="0" smtClean="0"/>
              <a:t> x P</a:t>
            </a:r>
            <a:r>
              <a:rPr lang="en-US" sz="2400" baseline="30000" dirty="0" smtClean="0"/>
              <a:t>1/3</a:t>
            </a:r>
            <a:r>
              <a:rPr lang="en-US" sz="2400" dirty="0" smtClean="0"/>
              <a:t> processor grid</a:t>
            </a:r>
            <a:endParaRPr lang="en-US" sz="2400" dirty="0">
              <a:solidFill>
                <a:schemeClr val="tx1"/>
              </a:solidFill>
            </a:endParaRPr>
          </a:p>
          <a:p>
            <a:pPr lvl="1">
              <a:buFont typeface="Arial" pitchFamily="34" charset="0"/>
              <a:buChar char="•"/>
            </a:pPr>
            <a:r>
              <a:rPr lang="en-US" sz="2400" dirty="0" smtClean="0">
                <a:solidFill>
                  <a:srgbClr val="0824F2"/>
                </a:solidFill>
              </a:rPr>
              <a:t> P</a:t>
            </a:r>
            <a:r>
              <a:rPr lang="en-US" sz="2400" baseline="30000" dirty="0" smtClean="0">
                <a:solidFill>
                  <a:srgbClr val="0824F2"/>
                </a:solidFill>
              </a:rPr>
              <a:t>1/3</a:t>
            </a:r>
            <a:r>
              <a:rPr lang="en-US" sz="2400" dirty="0" smtClean="0">
                <a:solidFill>
                  <a:srgbClr val="0824F2"/>
                </a:solidFill>
              </a:rPr>
              <a:t> </a:t>
            </a:r>
            <a:r>
              <a:rPr lang="en-US" sz="2400" dirty="0">
                <a:solidFill>
                  <a:srgbClr val="0824F2"/>
                </a:solidFill>
              </a:rPr>
              <a:t>redundant </a:t>
            </a:r>
            <a:r>
              <a:rPr lang="en-US" sz="2400" dirty="0" smtClean="0">
                <a:solidFill>
                  <a:srgbClr val="0824F2"/>
                </a:solidFill>
              </a:rPr>
              <a:t>copies</a:t>
            </a:r>
            <a:r>
              <a:rPr lang="en-US" sz="2400" dirty="0"/>
              <a:t> </a:t>
            </a:r>
            <a:r>
              <a:rPr lang="en-US" sz="2400" dirty="0" smtClean="0"/>
              <a:t>of A and B</a:t>
            </a:r>
            <a:endParaRPr lang="en-US" sz="2400" dirty="0">
              <a:solidFill>
                <a:schemeClr val="tx1"/>
              </a:solidFill>
            </a:endParaRPr>
          </a:p>
          <a:p>
            <a:pPr lvl="1">
              <a:buFont typeface="Arial" pitchFamily="34" charset="0"/>
              <a:buChar char="•"/>
            </a:pPr>
            <a:r>
              <a:rPr lang="en-US" sz="2400" dirty="0" smtClean="0">
                <a:solidFill>
                  <a:schemeClr val="tx1"/>
                </a:solidFill>
              </a:rPr>
              <a:t> Reduces communication volume </a:t>
            </a:r>
            <a:r>
              <a:rPr lang="en-US" sz="2400" dirty="0" smtClean="0"/>
              <a:t>to</a:t>
            </a:r>
            <a:r>
              <a:rPr lang="en-US" sz="2400" dirty="0" smtClean="0">
                <a:solidFill>
                  <a:schemeClr val="tx1"/>
                </a:solidFill>
              </a:rPr>
              <a:t>  </a:t>
            </a:r>
            <a:r>
              <a:rPr lang="en-US" sz="2400" dirty="0">
                <a:solidFill>
                  <a:schemeClr val="tx1"/>
                </a:solidFill>
              </a:rPr>
              <a:t>O( (</a:t>
            </a:r>
            <a:r>
              <a:rPr lang="en-US" sz="2400" dirty="0" smtClean="0">
                <a:solidFill>
                  <a:schemeClr val="tx1"/>
                </a:solidFill>
              </a:rPr>
              <a:t>n</a:t>
            </a:r>
            <a:r>
              <a:rPr lang="en-US" sz="2800" baseline="30000" dirty="0" smtClean="0"/>
              <a:t>2</a:t>
            </a:r>
            <a:r>
              <a:rPr lang="en-US" sz="2400" dirty="0" smtClean="0">
                <a:solidFill>
                  <a:schemeClr val="tx1"/>
                </a:solidFill>
              </a:rPr>
              <a:t>/P</a:t>
            </a:r>
            <a:r>
              <a:rPr lang="en-US" sz="2800" baseline="30000" dirty="0" smtClean="0">
                <a:solidFill>
                  <a:srgbClr val="061BBA"/>
                </a:solidFill>
              </a:rPr>
              <a:t>2/3</a:t>
            </a:r>
            <a:r>
              <a:rPr lang="en-US" sz="2400" dirty="0" smtClean="0">
                <a:solidFill>
                  <a:schemeClr val="tx1"/>
                </a:solidFill>
              </a:rPr>
              <a:t>)  log(P) </a:t>
            </a:r>
            <a:r>
              <a:rPr lang="en-US" sz="2400" dirty="0">
                <a:solidFill>
                  <a:schemeClr val="tx1"/>
                </a:solidFill>
              </a:rPr>
              <a:t>) </a:t>
            </a:r>
            <a:r>
              <a:rPr lang="en-US" sz="2400" dirty="0" smtClean="0">
                <a:solidFill>
                  <a:schemeClr val="tx1"/>
                </a:solidFill>
              </a:rPr>
              <a:t> </a:t>
            </a:r>
          </a:p>
          <a:p>
            <a:pPr lvl="2">
              <a:buFont typeface="Arial" pitchFamily="34" charset="0"/>
              <a:buChar char="•"/>
            </a:pPr>
            <a:r>
              <a:rPr lang="en-US" sz="2400" dirty="0" smtClean="0"/>
              <a:t> </a:t>
            </a:r>
            <a:r>
              <a:rPr lang="en-US" sz="2400" dirty="0" smtClean="0">
                <a:solidFill>
                  <a:schemeClr val="tx1"/>
                </a:solidFill>
              </a:rPr>
              <a:t>optimal for </a:t>
            </a:r>
            <a:r>
              <a:rPr lang="en-US" sz="2400" dirty="0" smtClean="0"/>
              <a:t>P</a:t>
            </a:r>
            <a:r>
              <a:rPr lang="en-US" sz="2400" baseline="30000" dirty="0" smtClean="0"/>
              <a:t>1/3</a:t>
            </a:r>
            <a:r>
              <a:rPr lang="en-US" sz="2400" dirty="0" smtClean="0"/>
              <a:t> copies  (more memory can’t help)</a:t>
            </a:r>
            <a:endParaRPr lang="en-US" sz="2400" dirty="0"/>
          </a:p>
          <a:p>
            <a:pPr lvl="1">
              <a:buFont typeface="Arial" pitchFamily="34" charset="0"/>
              <a:buChar char="•"/>
            </a:pPr>
            <a:r>
              <a:rPr lang="en-US" sz="2400" dirty="0" smtClean="0">
                <a:solidFill>
                  <a:schemeClr val="tx1"/>
                </a:solidFill>
              </a:rPr>
              <a:t> Reduces number </a:t>
            </a:r>
            <a:r>
              <a:rPr lang="en-US" sz="2400" dirty="0">
                <a:solidFill>
                  <a:schemeClr val="tx1"/>
                </a:solidFill>
              </a:rPr>
              <a:t>of messages </a:t>
            </a:r>
            <a:r>
              <a:rPr lang="en-US" sz="2400" dirty="0" smtClean="0"/>
              <a:t>to</a:t>
            </a:r>
            <a:r>
              <a:rPr lang="en-US" sz="2400" dirty="0" smtClean="0">
                <a:solidFill>
                  <a:schemeClr val="tx1"/>
                </a:solidFill>
              </a:rPr>
              <a:t>  O(log(P)) </a:t>
            </a:r>
            <a:r>
              <a:rPr lang="en-US" sz="2400" dirty="0">
                <a:solidFill>
                  <a:schemeClr val="tx1"/>
                </a:solidFill>
              </a:rPr>
              <a:t>– </a:t>
            </a:r>
            <a:r>
              <a:rPr lang="en-US" sz="2400" dirty="0" smtClean="0">
                <a:solidFill>
                  <a:schemeClr val="tx1"/>
                </a:solidFill>
              </a:rPr>
              <a:t>also optimal</a:t>
            </a:r>
          </a:p>
          <a:p>
            <a:endParaRPr lang="en-US" sz="2000" dirty="0" smtClean="0">
              <a:solidFill>
                <a:schemeClr val="tx1"/>
              </a:solidFill>
            </a:endParaRPr>
          </a:p>
          <a:p>
            <a:pPr>
              <a:buFont typeface="Arial" pitchFamily="34" charset="0"/>
              <a:buChar char="•"/>
            </a:pPr>
            <a:r>
              <a:rPr lang="en-US" sz="2000" dirty="0" smtClean="0"/>
              <a:t>  </a:t>
            </a:r>
            <a:r>
              <a:rPr lang="en-US" sz="2400" dirty="0" smtClean="0"/>
              <a:t>“2.5D” Algorithms</a:t>
            </a:r>
          </a:p>
          <a:p>
            <a:pPr lvl="1">
              <a:buFont typeface="Arial" pitchFamily="34" charset="0"/>
              <a:buChar char="•"/>
            </a:pPr>
            <a:r>
              <a:rPr lang="en-US" sz="2400" dirty="0" smtClean="0"/>
              <a:t> Extends to 1 ≤ c ≤ P</a:t>
            </a:r>
            <a:r>
              <a:rPr lang="en-US" sz="2400" baseline="30000" dirty="0" smtClean="0"/>
              <a:t>1/3</a:t>
            </a:r>
            <a:r>
              <a:rPr lang="en-US" sz="2400" dirty="0" smtClean="0"/>
              <a:t>  copies on (P/c)</a:t>
            </a:r>
            <a:r>
              <a:rPr lang="en-US" sz="2400" baseline="30000" dirty="0" smtClean="0"/>
              <a:t>1/2</a:t>
            </a:r>
            <a:r>
              <a:rPr lang="en-US" sz="2400" dirty="0" smtClean="0"/>
              <a:t>  x (P/c)</a:t>
            </a:r>
            <a:r>
              <a:rPr lang="en-US" sz="2400" baseline="30000" dirty="0" smtClean="0"/>
              <a:t>1/2</a:t>
            </a:r>
            <a:r>
              <a:rPr lang="en-US" sz="2400" dirty="0" smtClean="0"/>
              <a:t>  x  c grid</a:t>
            </a:r>
            <a:endParaRPr lang="en-US" sz="2400" dirty="0"/>
          </a:p>
          <a:p>
            <a:pPr lvl="1">
              <a:buFont typeface="Arial" pitchFamily="34" charset="0"/>
              <a:buChar char="•"/>
            </a:pPr>
            <a:r>
              <a:rPr lang="en-US" sz="2400" dirty="0" smtClean="0">
                <a:solidFill>
                  <a:schemeClr val="tx1"/>
                </a:solidFill>
              </a:rPr>
              <a:t> Reduces communication volume </a:t>
            </a:r>
            <a:r>
              <a:rPr lang="en-US" sz="2400" dirty="0" smtClean="0"/>
              <a:t>of </a:t>
            </a:r>
            <a:r>
              <a:rPr lang="en-US" sz="2400" dirty="0" err="1" smtClean="0"/>
              <a:t>Matmul</a:t>
            </a:r>
            <a:r>
              <a:rPr lang="en-US" sz="2400" dirty="0" smtClean="0"/>
              <a:t> and LU by c</a:t>
            </a:r>
            <a:r>
              <a:rPr lang="en-US" sz="2400" baseline="30000" dirty="0" smtClean="0"/>
              <a:t>1/2</a:t>
            </a:r>
          </a:p>
          <a:p>
            <a:pPr lvl="1">
              <a:buFont typeface="Arial" pitchFamily="34" charset="0"/>
              <a:buChar char="•"/>
            </a:pPr>
            <a:r>
              <a:rPr lang="en-US" sz="2400" dirty="0" smtClean="0"/>
              <a:t> Reduces </a:t>
            </a:r>
            <a:r>
              <a:rPr lang="en-US" sz="2400" dirty="0" err="1" smtClean="0"/>
              <a:t>comm</a:t>
            </a:r>
            <a:r>
              <a:rPr lang="en-US" sz="2400" dirty="0" smtClean="0"/>
              <a:t> 83% on 64K proc BG-P,   LU&amp;MM speedup 2.6x</a:t>
            </a:r>
          </a:p>
          <a:p>
            <a:pPr lvl="1">
              <a:buFont typeface="Arial" pitchFamily="34" charset="0"/>
              <a:buChar char="•"/>
            </a:pPr>
            <a:endParaRPr lang="en-US" sz="2400" dirty="0" smtClean="0">
              <a:solidFill>
                <a:schemeClr val="tx1"/>
              </a:solidFill>
            </a:endParaRPr>
          </a:p>
          <a:p>
            <a:pPr>
              <a:buFont typeface="Arial" pitchFamily="34" charset="0"/>
              <a:buChar char="•"/>
            </a:pPr>
            <a:r>
              <a:rPr lang="en-US" sz="2400" dirty="0" smtClean="0"/>
              <a:t>  </a:t>
            </a:r>
            <a:r>
              <a:rPr lang="en-US" sz="2400" b="1" dirty="0" smtClean="0"/>
              <a:t>Distinguished Paper Prize, Euro-Par’11 (E. </a:t>
            </a:r>
            <a:r>
              <a:rPr lang="en-US" sz="2400" b="1" dirty="0" err="1" smtClean="0"/>
              <a:t>Solomonik</a:t>
            </a:r>
            <a:r>
              <a:rPr lang="en-US" sz="2400" b="1" dirty="0" smtClean="0"/>
              <a:t>, JD)</a:t>
            </a:r>
            <a:endParaRPr lang="en-US" sz="2400" b="1" dirty="0">
              <a:solidFill>
                <a:schemeClr val="tx1"/>
              </a:solidFill>
            </a:endParaRPr>
          </a:p>
        </p:txBody>
      </p:sp>
      <p:sp>
        <p:nvSpPr>
          <p:cNvPr id="36" name="Content Placeholder 2"/>
          <p:cNvSpPr txBox="1">
            <a:spLocks/>
          </p:cNvSpPr>
          <p:nvPr/>
        </p:nvSpPr>
        <p:spPr>
          <a:xfrm>
            <a:off x="0" y="609600"/>
            <a:ext cx="8686800" cy="1295399"/>
          </a:xfrm>
          <a:prstGeom prst="rect">
            <a:avLst/>
          </a:prstGeom>
        </p:spPr>
        <p:txBody>
          <a:bodyPr>
            <a:noAutofit/>
          </a:bodyPr>
          <a:lstStyle/>
          <a:p>
            <a:pPr marL="342900" lvl="0" indent="-342900">
              <a:spcBef>
                <a:spcPct val="20000"/>
              </a:spcBef>
              <a:buFont typeface="Arial" pitchFamily="34" charset="0"/>
              <a:buChar char="•"/>
            </a:pPr>
            <a:r>
              <a:rPr kumimoji="0" lang="en-US" sz="2400" b="0" i="0" u="none" strike="noStrike" kern="1200" cap="none" spc="0" normalizeH="0" baseline="0" noProof="0" dirty="0" smtClean="0">
                <a:ln>
                  <a:noFill/>
                </a:ln>
                <a:solidFill>
                  <a:schemeClr val="tx1"/>
                </a:solidFill>
                <a:effectLst/>
                <a:uLnTx/>
                <a:uFillTx/>
                <a:latin typeface="+mn-lt"/>
                <a:ea typeface="+mn-ea"/>
                <a:cs typeface="+mn-cs"/>
              </a:rPr>
              <a:t>#</a:t>
            </a:r>
            <a:r>
              <a:rPr kumimoji="0" lang="en-US" sz="2400" b="0" i="0" u="none" strike="noStrike" kern="1200" cap="none" spc="0" normalizeH="0" baseline="0" noProof="0" dirty="0" err="1" smtClean="0">
                <a:ln>
                  <a:noFill/>
                </a:ln>
                <a:solidFill>
                  <a:schemeClr val="tx1"/>
                </a:solidFill>
                <a:effectLst/>
                <a:uLnTx/>
                <a:uFillTx/>
                <a:latin typeface="+mn-lt"/>
                <a:ea typeface="+mn-ea"/>
                <a:cs typeface="+mn-cs"/>
              </a:rPr>
              <a:t>words_moved</a:t>
            </a:r>
            <a:r>
              <a:rPr kumimoji="0" lang="en-US" sz="2400" b="0" i="0" u="none" strike="noStrike" kern="1200" cap="none" spc="0" normalizeH="0" baseline="0" noProof="0" dirty="0" smtClean="0">
                <a:ln>
                  <a:noFill/>
                </a:ln>
                <a:solidFill>
                  <a:schemeClr val="tx1"/>
                </a:solidFill>
                <a:effectLst/>
                <a:uLnTx/>
                <a:uFillTx/>
                <a:latin typeface="+mn-lt"/>
                <a:ea typeface="+mn-ea"/>
                <a:cs typeface="+mn-cs"/>
              </a:rPr>
              <a:t> = </a:t>
            </a:r>
            <a:r>
              <a:rPr lang="en-US" sz="2400" dirty="0" smtClean="0">
                <a:sym typeface="Symbol"/>
              </a:rPr>
              <a:t>((n</a:t>
            </a:r>
            <a:r>
              <a:rPr lang="en-US" sz="2800" baseline="30000" dirty="0" smtClean="0">
                <a:sym typeface="Symbol"/>
              </a:rPr>
              <a:t>3</a:t>
            </a:r>
            <a:r>
              <a:rPr lang="en-US" sz="2400" dirty="0" smtClean="0">
                <a:sym typeface="Symbol"/>
              </a:rPr>
              <a:t>/P)/</a:t>
            </a:r>
            <a:r>
              <a:rPr kumimoji="0" lang="en-US" sz="2400" b="0" i="0" u="none" strike="noStrike" kern="1200" cap="none" spc="0" normalizeH="0" baseline="0" noProof="0" dirty="0" smtClean="0">
                <a:ln>
                  <a:noFill/>
                </a:ln>
                <a:solidFill>
                  <a:schemeClr val="tx1"/>
                </a:solidFill>
                <a:effectLst/>
                <a:uLnTx/>
                <a:uFillTx/>
                <a:latin typeface="+mn-lt"/>
                <a:ea typeface="+mn-ea"/>
                <a:cs typeface="+mn-cs"/>
                <a:sym typeface="Symbol"/>
              </a:rPr>
              <a:t>M</a:t>
            </a:r>
            <a:r>
              <a:rPr kumimoji="0" lang="en-US" sz="2800" b="0" i="0" u="none" strike="noStrike" kern="1200" cap="none" spc="0" normalizeH="0" baseline="30000" noProof="0" dirty="0" smtClean="0">
                <a:ln>
                  <a:noFill/>
                </a:ln>
                <a:solidFill>
                  <a:schemeClr val="tx1"/>
                </a:solidFill>
                <a:effectLst/>
                <a:uLnTx/>
                <a:uFillTx/>
                <a:latin typeface="+mn-lt"/>
                <a:ea typeface="+mn-ea"/>
                <a:cs typeface="+mn-cs"/>
                <a:sym typeface="Symbol"/>
              </a:rPr>
              <a:t>1/2</a:t>
            </a:r>
            <a:r>
              <a:rPr kumimoji="0" lang="en-US" sz="2400" b="0" i="0" u="none" strike="noStrike" kern="1200" cap="none" spc="0" normalizeH="0" baseline="0" noProof="0" dirty="0" smtClean="0">
                <a:ln>
                  <a:noFill/>
                </a:ln>
                <a:solidFill>
                  <a:schemeClr val="tx1"/>
                </a:solidFill>
                <a:effectLst/>
                <a:uLnTx/>
                <a:uFillTx/>
                <a:latin typeface="+mn-lt"/>
                <a:ea typeface="+mn-ea"/>
                <a:cs typeface="+mn-cs"/>
                <a:sym typeface="Symbol"/>
              </a:rPr>
              <a:t>)</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400" b="0" i="0" u="none" strike="noStrike" kern="1200" cap="none" spc="0" normalizeH="0" baseline="0" noProof="0" dirty="0" smtClean="0">
                <a:ln>
                  <a:noFill/>
                </a:ln>
                <a:solidFill>
                  <a:schemeClr val="tx1"/>
                </a:solidFill>
                <a:effectLst/>
                <a:uLnTx/>
                <a:uFillTx/>
                <a:latin typeface="+mn-lt"/>
                <a:ea typeface="+mn-ea"/>
                <a:cs typeface="+mn-cs"/>
                <a:sym typeface="Symbol"/>
              </a:rPr>
              <a:t>If </a:t>
            </a:r>
            <a:r>
              <a:rPr lang="en-US" sz="2400" dirty="0" smtClean="0">
                <a:sym typeface="Symbol"/>
              </a:rPr>
              <a:t>c</a:t>
            </a:r>
            <a:r>
              <a:rPr kumimoji="0" lang="en-US" sz="2400" b="0" i="0" u="none" strike="noStrike" kern="1200" cap="none" spc="0" normalizeH="0" baseline="0" noProof="0" dirty="0" smtClean="0">
                <a:ln>
                  <a:noFill/>
                </a:ln>
                <a:solidFill>
                  <a:schemeClr val="tx1"/>
                </a:solidFill>
                <a:effectLst/>
                <a:uLnTx/>
                <a:uFillTx/>
                <a:latin typeface="+mn-lt"/>
                <a:ea typeface="+mn-ea"/>
                <a:cs typeface="+mn-cs"/>
                <a:sym typeface="Symbol"/>
              </a:rPr>
              <a:t> copies of data, </a:t>
            </a:r>
            <a:r>
              <a:rPr lang="en-US" sz="2400" dirty="0" smtClean="0">
                <a:sym typeface="Symbol"/>
              </a:rPr>
              <a:t>M </a:t>
            </a:r>
            <a:r>
              <a:rPr kumimoji="0" lang="en-US" sz="2400" b="0" i="0" u="none" strike="noStrike" kern="1200" cap="none" spc="0" normalizeH="0" baseline="0" noProof="0" dirty="0" smtClean="0">
                <a:ln>
                  <a:noFill/>
                </a:ln>
                <a:solidFill>
                  <a:schemeClr val="tx1"/>
                </a:solidFill>
                <a:effectLst/>
                <a:uLnTx/>
                <a:uFillTx/>
                <a:latin typeface="+mn-lt"/>
                <a:ea typeface="+mn-ea"/>
                <a:cs typeface="+mn-cs"/>
                <a:sym typeface="Symbol"/>
              </a:rPr>
              <a:t>= c·n</a:t>
            </a:r>
            <a:r>
              <a:rPr kumimoji="0" lang="en-US" sz="2800" b="0" i="0" u="none" strike="noStrike" kern="1200" cap="none" spc="0" normalizeH="0" baseline="30000" noProof="0" dirty="0" smtClean="0">
                <a:ln>
                  <a:noFill/>
                </a:ln>
                <a:solidFill>
                  <a:schemeClr val="tx1"/>
                </a:solidFill>
                <a:effectLst/>
                <a:uLnTx/>
                <a:uFillTx/>
                <a:latin typeface="+mn-lt"/>
                <a:ea typeface="+mn-ea"/>
                <a:cs typeface="+mn-cs"/>
                <a:sym typeface="Symbol"/>
              </a:rPr>
              <a:t>2</a:t>
            </a:r>
            <a:r>
              <a:rPr kumimoji="0" lang="en-US" sz="2400" b="0" i="0" u="none" strike="noStrike" kern="1200" cap="none" spc="0" normalizeH="0" baseline="0" noProof="0" dirty="0" smtClean="0">
                <a:ln>
                  <a:noFill/>
                </a:ln>
                <a:solidFill>
                  <a:schemeClr val="tx1"/>
                </a:solidFill>
                <a:effectLst/>
                <a:uLnTx/>
                <a:uFillTx/>
                <a:latin typeface="+mn-lt"/>
                <a:ea typeface="+mn-ea"/>
                <a:cs typeface="+mn-cs"/>
                <a:sym typeface="Symbol"/>
              </a:rPr>
              <a:t>/P,  bound decreases by factor c</a:t>
            </a:r>
            <a:r>
              <a:rPr kumimoji="0" lang="en-US" sz="2800" b="0" i="0" u="none" strike="noStrike" kern="1200" cap="none" spc="0" normalizeH="0" baseline="30000" noProof="0" dirty="0" smtClean="0">
                <a:ln>
                  <a:noFill/>
                </a:ln>
                <a:solidFill>
                  <a:schemeClr val="tx1"/>
                </a:solidFill>
                <a:effectLst/>
                <a:uLnTx/>
                <a:uFillTx/>
                <a:latin typeface="+mn-lt"/>
                <a:ea typeface="+mn-ea"/>
                <a:cs typeface="+mn-cs"/>
                <a:sym typeface="Symbol"/>
              </a:rPr>
              <a:t>1/2</a:t>
            </a:r>
            <a:endParaRPr kumimoji="0" lang="en-US" sz="2400" b="0" i="0" u="none" strike="noStrike" kern="1200" cap="none" spc="0" normalizeH="0" baseline="30000" noProof="0" dirty="0" smtClean="0">
              <a:ln>
                <a:noFill/>
              </a:ln>
              <a:solidFill>
                <a:schemeClr val="tx1"/>
              </a:solidFill>
              <a:effectLst/>
              <a:uLnTx/>
              <a:uFillTx/>
              <a:latin typeface="+mn-lt"/>
              <a:ea typeface="+mn-ea"/>
              <a:cs typeface="+mn-cs"/>
              <a:sym typeface="Symbol"/>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400" b="0" i="0" u="none" strike="noStrike" kern="1200" cap="none" spc="0" normalizeH="0" baseline="0" noProof="0" dirty="0" smtClean="0">
                <a:ln>
                  <a:noFill/>
                </a:ln>
                <a:solidFill>
                  <a:schemeClr val="tx1"/>
                </a:solidFill>
                <a:effectLst/>
                <a:uLnTx/>
                <a:uFillTx/>
                <a:latin typeface="+mn-lt"/>
                <a:ea typeface="+mn-ea"/>
                <a:cs typeface="+mn-cs"/>
                <a:sym typeface="Symbol"/>
              </a:rPr>
              <a:t>Can</a:t>
            </a:r>
            <a:r>
              <a:rPr kumimoji="0" lang="en-US" sz="2400" b="0" i="0" u="none" strike="noStrike" kern="1200" cap="none" spc="0" normalizeH="0" noProof="0" dirty="0" smtClean="0">
                <a:ln>
                  <a:noFill/>
                </a:ln>
                <a:solidFill>
                  <a:schemeClr val="tx1"/>
                </a:solidFill>
                <a:effectLst/>
                <a:uLnTx/>
                <a:uFillTx/>
                <a:latin typeface="+mn-lt"/>
                <a:ea typeface="+mn-ea"/>
                <a:cs typeface="+mn-cs"/>
                <a:sym typeface="Symbol"/>
              </a:rPr>
              <a:t> we attain it</a:t>
            </a:r>
            <a:r>
              <a:rPr kumimoji="0" lang="en-US" sz="2400" b="0" i="0" u="none" strike="noStrike" kern="1200" cap="none" spc="0" normalizeH="0" baseline="0" noProof="0" dirty="0" smtClean="0">
                <a:ln>
                  <a:noFill/>
                </a:ln>
                <a:solidFill>
                  <a:schemeClr val="tx1"/>
                </a:solidFill>
                <a:effectLst/>
                <a:uLnTx/>
                <a:uFillTx/>
                <a:latin typeface="+mn-lt"/>
                <a:ea typeface="+mn-ea"/>
                <a:cs typeface="+mn-cs"/>
                <a:sym typeface="Symbol"/>
              </a:rPr>
              <a:t>?</a:t>
            </a:r>
            <a:endParaRPr kumimoji="0" lang="en-US" sz="24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ransition xmlns:p14="http://schemas.microsoft.com/office/powerpoint/2010/main"/>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7109">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7109">
                                            <p:txEl>
                                              <p:pRg st="2" end="2"/>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7109">
                                            <p:txEl>
                                              <p:pRg st="3" end="3"/>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7109">
                                            <p:txEl>
                                              <p:pRg st="4" end="4"/>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7109">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7109">
                                            <p:txEl>
                                              <p:pRg st="7" end="7"/>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7109">
                                            <p:txEl>
                                              <p:pRg st="8" end="8"/>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7109">
                                            <p:txEl>
                                              <p:pRg st="9" end="9"/>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7109">
                                            <p:txEl>
                                              <p:pRg st="10" end="10"/>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7109">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09" grpId="0" uiExpand="1" build="allAtOnce"/>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4"/>
          <p:cNvSpPr>
            <a:spLocks noGrp="1" noChangeArrowheads="1"/>
          </p:cNvSpPr>
          <p:nvPr>
            <p:ph type="sldNum" sz="quarter" idx="12"/>
          </p:nvPr>
        </p:nvSpPr>
        <p:spPr>
          <a:noFill/>
        </p:spPr>
        <p:txBody>
          <a:bodyPr/>
          <a:lstStyle/>
          <a:p>
            <a:fld id="{15162D1D-E6FA-4897-BB52-0CC312C929C8}" type="slidenum">
              <a:rPr lang="he-IL" smtClean="0">
                <a:cs typeface="Arial" charset="0"/>
              </a:rPr>
              <a:pPr/>
              <a:t>101</a:t>
            </a:fld>
            <a:endParaRPr lang="en-US" smtClean="0">
              <a:cs typeface="Arial" charset="0"/>
            </a:endParaRPr>
          </a:p>
        </p:txBody>
      </p:sp>
      <p:sp>
        <p:nvSpPr>
          <p:cNvPr id="29699" name="Rectangle 2"/>
          <p:cNvSpPr>
            <a:spLocks noGrp="1" noChangeArrowheads="1"/>
          </p:cNvSpPr>
          <p:nvPr>
            <p:ph type="title" idx="4294967295"/>
          </p:nvPr>
        </p:nvSpPr>
        <p:spPr>
          <a:xfrm>
            <a:off x="1295400" y="301625"/>
            <a:ext cx="6300788" cy="801688"/>
          </a:xfrm>
        </p:spPr>
        <p:txBody>
          <a:bodyPr>
            <a:noAutofit/>
          </a:bodyPr>
          <a:lstStyle/>
          <a:p>
            <a:r>
              <a:rPr lang="en-US" sz="2800" dirty="0" smtClean="0">
                <a:latin typeface="Arial" charset="0"/>
              </a:rPr>
              <a:t>Lower bound for </a:t>
            </a:r>
            <a:br>
              <a:rPr lang="en-US" sz="2800" dirty="0" smtClean="0">
                <a:latin typeface="Arial" charset="0"/>
              </a:rPr>
            </a:br>
            <a:r>
              <a:rPr lang="en-US" sz="2800" dirty="0" err="1" smtClean="0">
                <a:latin typeface="Arial" charset="0"/>
              </a:rPr>
              <a:t>Strassen’s</a:t>
            </a:r>
            <a:r>
              <a:rPr lang="en-US" sz="2800" dirty="0" smtClean="0">
                <a:latin typeface="Arial" charset="0"/>
              </a:rPr>
              <a:t> fast matrix multiplication</a:t>
            </a:r>
          </a:p>
        </p:txBody>
      </p:sp>
      <p:graphicFrame>
        <p:nvGraphicFramePr>
          <p:cNvPr id="29701" name="Object 1"/>
          <p:cNvGraphicFramePr>
            <a:graphicFrameLocks noChangeAspect="1"/>
          </p:cNvGraphicFramePr>
          <p:nvPr/>
        </p:nvGraphicFramePr>
        <p:xfrm>
          <a:off x="4314825" y="1970088"/>
          <a:ext cx="2162175" cy="1008062"/>
        </p:xfrm>
        <a:graphic>
          <a:graphicData uri="http://schemas.openxmlformats.org/presentationml/2006/ole">
            <mc:AlternateContent xmlns:mc="http://schemas.openxmlformats.org/markup-compatibility/2006">
              <mc:Choice xmlns:v="urn:schemas-microsoft-com:vml" Requires="v">
                <p:oleObj spid="_x0000_s1497" name="Equation" r:id="rId4" imgW="1143000" imgH="533400" progId="Equation.3">
                  <p:embed/>
                </p:oleObj>
              </mc:Choice>
              <mc:Fallback>
                <p:oleObj name="Equation" r:id="rId4" imgW="1143000" imgH="533400" progId="Equation.3">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314825" y="1970088"/>
                        <a:ext cx="2162175" cy="10080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0" name="Object 19"/>
          <p:cNvGraphicFramePr>
            <a:graphicFrameLocks noChangeAspect="1"/>
          </p:cNvGraphicFramePr>
          <p:nvPr/>
        </p:nvGraphicFramePr>
        <p:xfrm>
          <a:off x="6664325" y="1970088"/>
          <a:ext cx="1946275" cy="1008062"/>
        </p:xfrm>
        <a:graphic>
          <a:graphicData uri="http://schemas.openxmlformats.org/presentationml/2006/ole">
            <mc:AlternateContent xmlns:mc="http://schemas.openxmlformats.org/markup-compatibility/2006">
              <mc:Choice xmlns:v="urn:schemas-microsoft-com:vml" Requires="v">
                <p:oleObj spid="_x0000_s1498" name="Equation" r:id="rId6" imgW="1028254" imgH="533169" progId="Equation.3">
                  <p:embed/>
                </p:oleObj>
              </mc:Choice>
              <mc:Fallback>
                <p:oleObj name="Equation" r:id="rId6" imgW="1028254" imgH="533169" progId="Equation.3">
                  <p:embed/>
                  <p:pic>
                    <p:nvPicPr>
                      <p:cNvPr id="0" name="Object 1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664325" y="1970088"/>
                        <a:ext cx="1946275" cy="10080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3" name="Object 22"/>
          <p:cNvGraphicFramePr>
            <a:graphicFrameLocks noChangeAspect="1"/>
          </p:cNvGraphicFramePr>
          <p:nvPr/>
        </p:nvGraphicFramePr>
        <p:xfrm>
          <a:off x="1981200" y="1970088"/>
          <a:ext cx="2139950" cy="1008062"/>
        </p:xfrm>
        <a:graphic>
          <a:graphicData uri="http://schemas.openxmlformats.org/presentationml/2006/ole">
            <mc:AlternateContent xmlns:mc="http://schemas.openxmlformats.org/markup-compatibility/2006">
              <mc:Choice xmlns:v="urn:schemas-microsoft-com:vml" Requires="v">
                <p:oleObj spid="_x0000_s1499" name="Equation" r:id="rId8" imgW="1129810" imgH="533169" progId="Equation.3">
                  <p:embed/>
                </p:oleObj>
              </mc:Choice>
              <mc:Fallback>
                <p:oleObj name="Equation" r:id="rId8" imgW="1129810" imgH="533169" progId="Equation.3">
                  <p:embed/>
                  <p:pic>
                    <p:nvPicPr>
                      <p:cNvPr id="0" name="Object 2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981200" y="1970088"/>
                        <a:ext cx="2139950" cy="10080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4" name="Group 177"/>
          <p:cNvGrpSpPr>
            <a:grpSpLocks/>
          </p:cNvGrpSpPr>
          <p:nvPr/>
        </p:nvGrpSpPr>
        <p:grpSpPr bwMode="auto">
          <a:xfrm>
            <a:off x="-1219200" y="4038600"/>
            <a:ext cx="703262" cy="587375"/>
            <a:chOff x="172" y="3030"/>
            <a:chExt cx="469" cy="392"/>
          </a:xfrm>
        </p:grpSpPr>
        <p:sp>
          <p:nvSpPr>
            <p:cNvPr id="29719" name="AutoShape 169"/>
            <p:cNvSpPr>
              <a:spLocks noChangeArrowheads="1"/>
            </p:cNvSpPr>
            <p:nvPr/>
          </p:nvSpPr>
          <p:spPr bwMode="auto">
            <a:xfrm>
              <a:off x="172" y="3030"/>
              <a:ext cx="166" cy="115"/>
            </a:xfrm>
            <a:prstGeom prst="triangle">
              <a:avLst>
                <a:gd name="adj" fmla="val 50000"/>
              </a:avLst>
            </a:prstGeom>
            <a:solidFill>
              <a:srgbClr val="00FF00"/>
            </a:solidFill>
            <a:ln w="9525" algn="ctr">
              <a:solidFill>
                <a:schemeClr val="tx1"/>
              </a:solidFill>
              <a:miter lim="800000"/>
              <a:headEnd/>
              <a:tailEnd/>
            </a:ln>
            <a:effectLst/>
          </p:spPr>
          <p:txBody>
            <a:bodyPr wrap="none" anchor="ctr"/>
            <a:lstStyle/>
            <a:p>
              <a:pPr>
                <a:spcBef>
                  <a:spcPct val="0"/>
                </a:spcBef>
              </a:pPr>
              <a:endParaRPr lang="he-IL" sz="1000"/>
            </a:p>
          </p:txBody>
        </p:sp>
        <p:sp>
          <p:nvSpPr>
            <p:cNvPr id="29720" name="AutoShape 170"/>
            <p:cNvSpPr>
              <a:spLocks noChangeArrowheads="1"/>
            </p:cNvSpPr>
            <p:nvPr/>
          </p:nvSpPr>
          <p:spPr bwMode="auto">
            <a:xfrm>
              <a:off x="212" y="3145"/>
              <a:ext cx="82" cy="162"/>
            </a:xfrm>
            <a:prstGeom prst="upDownArrow">
              <a:avLst>
                <a:gd name="adj1" fmla="val 50000"/>
                <a:gd name="adj2" fmla="val 39512"/>
              </a:avLst>
            </a:prstGeom>
            <a:solidFill>
              <a:srgbClr val="0000FF"/>
            </a:solidFill>
            <a:ln w="9525" algn="ctr">
              <a:solidFill>
                <a:schemeClr val="tx1"/>
              </a:solidFill>
              <a:miter lim="800000"/>
              <a:headEnd/>
              <a:tailEnd/>
            </a:ln>
            <a:effectLst/>
          </p:spPr>
          <p:txBody>
            <a:bodyPr wrap="none" anchor="ctr"/>
            <a:lstStyle/>
            <a:p>
              <a:endParaRPr lang="he-IL"/>
            </a:p>
          </p:txBody>
        </p:sp>
        <p:sp>
          <p:nvSpPr>
            <p:cNvPr id="29721" name="AutoShape 171"/>
            <p:cNvSpPr>
              <a:spLocks noChangeArrowheads="1"/>
            </p:cNvSpPr>
            <p:nvPr/>
          </p:nvSpPr>
          <p:spPr bwMode="auto">
            <a:xfrm>
              <a:off x="475" y="3307"/>
              <a:ext cx="166" cy="115"/>
            </a:xfrm>
            <a:prstGeom prst="triangle">
              <a:avLst>
                <a:gd name="adj" fmla="val 50000"/>
              </a:avLst>
            </a:prstGeom>
            <a:solidFill>
              <a:srgbClr val="00FF00"/>
            </a:solidFill>
            <a:ln w="9525" algn="ctr">
              <a:solidFill>
                <a:schemeClr val="tx1"/>
              </a:solidFill>
              <a:miter lim="800000"/>
              <a:headEnd/>
              <a:tailEnd/>
            </a:ln>
            <a:effectLst/>
          </p:spPr>
          <p:txBody>
            <a:bodyPr wrap="none" anchor="ctr"/>
            <a:lstStyle/>
            <a:p>
              <a:pPr>
                <a:spcBef>
                  <a:spcPct val="0"/>
                </a:spcBef>
              </a:pPr>
              <a:endParaRPr lang="he-IL" sz="1000"/>
            </a:p>
          </p:txBody>
        </p:sp>
        <p:sp>
          <p:nvSpPr>
            <p:cNvPr id="29722" name="AutoShape 172"/>
            <p:cNvSpPr>
              <a:spLocks noChangeArrowheads="1"/>
            </p:cNvSpPr>
            <p:nvPr/>
          </p:nvSpPr>
          <p:spPr bwMode="auto">
            <a:xfrm>
              <a:off x="172" y="3307"/>
              <a:ext cx="166" cy="115"/>
            </a:xfrm>
            <a:prstGeom prst="triangle">
              <a:avLst>
                <a:gd name="adj" fmla="val 50000"/>
              </a:avLst>
            </a:prstGeom>
            <a:solidFill>
              <a:srgbClr val="00FF00"/>
            </a:solidFill>
            <a:ln w="9525" algn="ctr">
              <a:solidFill>
                <a:schemeClr val="tx1"/>
              </a:solidFill>
              <a:miter lim="800000"/>
              <a:headEnd/>
              <a:tailEnd/>
            </a:ln>
            <a:effectLst/>
          </p:spPr>
          <p:txBody>
            <a:bodyPr wrap="none" anchor="ctr"/>
            <a:lstStyle/>
            <a:p>
              <a:pPr>
                <a:spcBef>
                  <a:spcPct val="0"/>
                </a:spcBef>
              </a:pPr>
              <a:endParaRPr lang="he-IL" sz="1000"/>
            </a:p>
          </p:txBody>
        </p:sp>
        <p:sp>
          <p:nvSpPr>
            <p:cNvPr id="29723" name="AutoShape 173"/>
            <p:cNvSpPr>
              <a:spLocks noChangeArrowheads="1"/>
            </p:cNvSpPr>
            <p:nvPr/>
          </p:nvSpPr>
          <p:spPr bwMode="auto">
            <a:xfrm>
              <a:off x="475" y="3030"/>
              <a:ext cx="166" cy="115"/>
            </a:xfrm>
            <a:prstGeom prst="triangle">
              <a:avLst>
                <a:gd name="adj" fmla="val 50000"/>
              </a:avLst>
            </a:prstGeom>
            <a:solidFill>
              <a:srgbClr val="00FF00"/>
            </a:solidFill>
            <a:ln w="9525" algn="ctr">
              <a:solidFill>
                <a:schemeClr val="tx1"/>
              </a:solidFill>
              <a:miter lim="800000"/>
              <a:headEnd/>
              <a:tailEnd/>
            </a:ln>
            <a:effectLst/>
          </p:spPr>
          <p:txBody>
            <a:bodyPr wrap="none" anchor="ctr"/>
            <a:lstStyle/>
            <a:p>
              <a:pPr>
                <a:spcBef>
                  <a:spcPct val="0"/>
                </a:spcBef>
              </a:pPr>
              <a:endParaRPr lang="he-IL" sz="1000"/>
            </a:p>
          </p:txBody>
        </p:sp>
        <p:sp>
          <p:nvSpPr>
            <p:cNvPr id="29724" name="AutoShape 174"/>
            <p:cNvSpPr>
              <a:spLocks noChangeArrowheads="1"/>
            </p:cNvSpPr>
            <p:nvPr/>
          </p:nvSpPr>
          <p:spPr bwMode="auto">
            <a:xfrm>
              <a:off x="517" y="3144"/>
              <a:ext cx="82" cy="162"/>
            </a:xfrm>
            <a:prstGeom prst="upDownArrow">
              <a:avLst>
                <a:gd name="adj1" fmla="val 50000"/>
                <a:gd name="adj2" fmla="val 39512"/>
              </a:avLst>
            </a:prstGeom>
            <a:solidFill>
              <a:srgbClr val="0000FF"/>
            </a:solidFill>
            <a:ln w="9525" algn="ctr">
              <a:solidFill>
                <a:schemeClr val="tx1"/>
              </a:solidFill>
              <a:miter lim="800000"/>
              <a:headEnd/>
              <a:tailEnd/>
            </a:ln>
            <a:effectLst/>
          </p:spPr>
          <p:txBody>
            <a:bodyPr wrap="none" anchor="ctr"/>
            <a:lstStyle/>
            <a:p>
              <a:endParaRPr lang="he-IL"/>
            </a:p>
          </p:txBody>
        </p:sp>
        <p:sp>
          <p:nvSpPr>
            <p:cNvPr id="29725" name="AutoShape 175"/>
            <p:cNvSpPr>
              <a:spLocks noChangeArrowheads="1"/>
            </p:cNvSpPr>
            <p:nvPr/>
          </p:nvSpPr>
          <p:spPr bwMode="auto">
            <a:xfrm rot="-5400000">
              <a:off x="366" y="3019"/>
              <a:ext cx="81" cy="163"/>
            </a:xfrm>
            <a:prstGeom prst="upDownArrow">
              <a:avLst>
                <a:gd name="adj1" fmla="val 50000"/>
                <a:gd name="adj2" fmla="val 40247"/>
              </a:avLst>
            </a:prstGeom>
            <a:solidFill>
              <a:srgbClr val="0000FF"/>
            </a:solidFill>
            <a:ln w="9525" algn="ctr">
              <a:solidFill>
                <a:schemeClr val="tx1"/>
              </a:solidFill>
              <a:miter lim="800000"/>
              <a:headEnd/>
              <a:tailEnd/>
            </a:ln>
            <a:effectLst/>
          </p:spPr>
          <p:txBody>
            <a:bodyPr wrap="none" anchor="ctr"/>
            <a:lstStyle/>
            <a:p>
              <a:endParaRPr lang="he-IL"/>
            </a:p>
          </p:txBody>
        </p:sp>
        <p:sp>
          <p:nvSpPr>
            <p:cNvPr id="29726" name="AutoShape 176"/>
            <p:cNvSpPr>
              <a:spLocks noChangeArrowheads="1"/>
            </p:cNvSpPr>
            <p:nvPr/>
          </p:nvSpPr>
          <p:spPr bwMode="auto">
            <a:xfrm rot="-5400000">
              <a:off x="365" y="3298"/>
              <a:ext cx="81" cy="163"/>
            </a:xfrm>
            <a:prstGeom prst="upDownArrow">
              <a:avLst>
                <a:gd name="adj1" fmla="val 50000"/>
                <a:gd name="adj2" fmla="val 40247"/>
              </a:avLst>
            </a:prstGeom>
            <a:solidFill>
              <a:srgbClr val="0000FF"/>
            </a:solidFill>
            <a:ln w="9525" algn="ctr">
              <a:solidFill>
                <a:schemeClr val="tx1"/>
              </a:solidFill>
              <a:miter lim="800000"/>
              <a:headEnd/>
              <a:tailEnd/>
            </a:ln>
            <a:effectLst/>
          </p:spPr>
          <p:txBody>
            <a:bodyPr wrap="none" anchor="ctr"/>
            <a:lstStyle/>
            <a:p>
              <a:endParaRPr lang="he-IL"/>
            </a:p>
          </p:txBody>
        </p:sp>
      </p:grpSp>
      <p:grpSp>
        <p:nvGrpSpPr>
          <p:cNvPr id="5" name="Group 61"/>
          <p:cNvGrpSpPr>
            <a:grpSpLocks/>
          </p:cNvGrpSpPr>
          <p:nvPr/>
        </p:nvGrpSpPr>
        <p:grpSpPr bwMode="auto">
          <a:xfrm>
            <a:off x="-990600" y="2743200"/>
            <a:ext cx="701675" cy="515937"/>
            <a:chOff x="2710" y="1618"/>
            <a:chExt cx="2422" cy="1779"/>
          </a:xfrm>
        </p:grpSpPr>
        <p:sp>
          <p:nvSpPr>
            <p:cNvPr id="29716" name="AutoShape 62"/>
            <p:cNvSpPr>
              <a:spLocks noChangeArrowheads="1"/>
            </p:cNvSpPr>
            <p:nvPr/>
          </p:nvSpPr>
          <p:spPr bwMode="auto">
            <a:xfrm>
              <a:off x="3418" y="1618"/>
              <a:ext cx="1036" cy="714"/>
            </a:xfrm>
            <a:prstGeom prst="triangle">
              <a:avLst>
                <a:gd name="adj" fmla="val 50000"/>
              </a:avLst>
            </a:prstGeom>
            <a:solidFill>
              <a:srgbClr val="00FF00"/>
            </a:solidFill>
            <a:ln w="9525" algn="ctr">
              <a:solidFill>
                <a:schemeClr val="tx1"/>
              </a:solidFill>
              <a:miter lim="800000"/>
              <a:headEnd/>
              <a:tailEnd/>
            </a:ln>
            <a:effectLst/>
          </p:spPr>
          <p:txBody>
            <a:bodyPr wrap="none" anchor="ctr"/>
            <a:lstStyle/>
            <a:p>
              <a:pPr>
                <a:spcBef>
                  <a:spcPct val="0"/>
                </a:spcBef>
              </a:pPr>
              <a:endParaRPr lang="en-US"/>
            </a:p>
            <a:p>
              <a:pPr>
                <a:spcBef>
                  <a:spcPct val="0"/>
                </a:spcBef>
              </a:pPr>
              <a:endParaRPr lang="en-US"/>
            </a:p>
          </p:txBody>
        </p:sp>
        <p:sp>
          <p:nvSpPr>
            <p:cNvPr id="29717" name="AutoShape 63"/>
            <p:cNvSpPr>
              <a:spLocks noChangeArrowheads="1"/>
            </p:cNvSpPr>
            <p:nvPr/>
          </p:nvSpPr>
          <p:spPr bwMode="auto">
            <a:xfrm flipV="1">
              <a:off x="2710" y="2578"/>
              <a:ext cx="2422" cy="819"/>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415 w 21600"/>
                <a:gd name="T13" fmla="*/ 4431 h 21600"/>
                <a:gd name="T14" fmla="*/ 17185 w 21600"/>
                <a:gd name="T15" fmla="*/ 17169 h 21600"/>
              </a:gdLst>
              <a:ahLst/>
              <a:cxnLst>
                <a:cxn ang="T8">
                  <a:pos x="T0" y="T1"/>
                </a:cxn>
                <a:cxn ang="T9">
                  <a:pos x="T2" y="T3"/>
                </a:cxn>
                <a:cxn ang="T10">
                  <a:pos x="T4" y="T5"/>
                </a:cxn>
                <a:cxn ang="T11">
                  <a:pos x="T6" y="T7"/>
                </a:cxn>
              </a:cxnLst>
              <a:rect l="T12" t="T13" r="T14" b="T15"/>
              <a:pathLst>
                <a:path w="21600" h="21600">
                  <a:moveTo>
                    <a:pt x="0" y="0"/>
                  </a:moveTo>
                  <a:lnTo>
                    <a:pt x="5235" y="21600"/>
                  </a:lnTo>
                  <a:lnTo>
                    <a:pt x="16365" y="21600"/>
                  </a:lnTo>
                  <a:lnTo>
                    <a:pt x="21600" y="0"/>
                  </a:lnTo>
                  <a:lnTo>
                    <a:pt x="0" y="0"/>
                  </a:lnTo>
                  <a:close/>
                </a:path>
              </a:pathLst>
            </a:custGeom>
            <a:solidFill>
              <a:srgbClr val="00FF00"/>
            </a:solidFill>
            <a:ln w="9525" algn="ctr">
              <a:solidFill>
                <a:schemeClr val="tx1"/>
              </a:solidFill>
              <a:miter lim="800000"/>
              <a:headEnd/>
              <a:tailEnd/>
            </a:ln>
            <a:effectLst/>
          </p:spPr>
          <p:txBody>
            <a:bodyPr rot="10800000" wrap="none" anchor="ctr"/>
            <a:lstStyle/>
            <a:p>
              <a:endParaRPr lang="en-US"/>
            </a:p>
          </p:txBody>
        </p:sp>
        <p:sp>
          <p:nvSpPr>
            <p:cNvPr id="29718" name="AutoShape 64"/>
            <p:cNvSpPr>
              <a:spLocks noChangeArrowheads="1"/>
            </p:cNvSpPr>
            <p:nvPr/>
          </p:nvSpPr>
          <p:spPr bwMode="auto">
            <a:xfrm>
              <a:off x="3792" y="2332"/>
              <a:ext cx="274" cy="246"/>
            </a:xfrm>
            <a:prstGeom prst="upDownArrow">
              <a:avLst>
                <a:gd name="adj1" fmla="val 50000"/>
                <a:gd name="adj2" fmla="val 20000"/>
              </a:avLst>
            </a:prstGeom>
            <a:solidFill>
              <a:srgbClr val="0000FF"/>
            </a:solidFill>
            <a:ln w="9525" algn="ctr">
              <a:solidFill>
                <a:schemeClr val="tx1"/>
              </a:solidFill>
              <a:miter lim="800000"/>
              <a:headEnd/>
              <a:tailEnd/>
            </a:ln>
            <a:effectLst/>
          </p:spPr>
          <p:txBody>
            <a:bodyPr wrap="none" anchor="ctr"/>
            <a:lstStyle/>
            <a:p>
              <a:endParaRPr lang="he-IL"/>
            </a:p>
          </p:txBody>
        </p:sp>
      </p:grpSp>
      <p:graphicFrame>
        <p:nvGraphicFramePr>
          <p:cNvPr id="48" name="Object 47"/>
          <p:cNvGraphicFramePr>
            <a:graphicFrameLocks noChangeAspect="1"/>
          </p:cNvGraphicFramePr>
          <p:nvPr/>
        </p:nvGraphicFramePr>
        <p:xfrm>
          <a:off x="4244975" y="3200400"/>
          <a:ext cx="2232025" cy="1008063"/>
        </p:xfrm>
        <a:graphic>
          <a:graphicData uri="http://schemas.openxmlformats.org/presentationml/2006/ole">
            <mc:AlternateContent xmlns:mc="http://schemas.openxmlformats.org/markup-compatibility/2006">
              <mc:Choice xmlns:v="urn:schemas-microsoft-com:vml" Requires="v">
                <p:oleObj spid="_x0000_s1500" name="Equation" r:id="rId10" imgW="1180588" imgH="533169" progId="Equation.3">
                  <p:embed/>
                </p:oleObj>
              </mc:Choice>
              <mc:Fallback>
                <p:oleObj name="Equation" r:id="rId10" imgW="1180588" imgH="533169" progId="Equation.3">
                  <p:embed/>
                  <p:pic>
                    <p:nvPicPr>
                      <p:cNvPr id="0" name="Object 4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244975" y="3200400"/>
                        <a:ext cx="2232025" cy="10080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9" name="Object 48"/>
          <p:cNvGraphicFramePr>
            <a:graphicFrameLocks noChangeAspect="1"/>
          </p:cNvGraphicFramePr>
          <p:nvPr/>
        </p:nvGraphicFramePr>
        <p:xfrm>
          <a:off x="6629400" y="3200400"/>
          <a:ext cx="2016125" cy="1008063"/>
        </p:xfrm>
        <a:graphic>
          <a:graphicData uri="http://schemas.openxmlformats.org/presentationml/2006/ole">
            <mc:AlternateContent xmlns:mc="http://schemas.openxmlformats.org/markup-compatibility/2006">
              <mc:Choice xmlns:v="urn:schemas-microsoft-com:vml" Requires="v">
                <p:oleObj spid="_x0000_s1501" name="Equation" r:id="rId12" imgW="1066337" imgH="533169" progId="Equation.3">
                  <p:embed/>
                </p:oleObj>
              </mc:Choice>
              <mc:Fallback>
                <p:oleObj name="Equation" r:id="rId12" imgW="1066337" imgH="533169" progId="Equation.3">
                  <p:embed/>
                  <p:pic>
                    <p:nvPicPr>
                      <p:cNvPr id="0" name="Object 48"/>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629400" y="3200400"/>
                        <a:ext cx="2016125" cy="10080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0" name="Object 49"/>
          <p:cNvGraphicFramePr>
            <a:graphicFrameLocks noChangeAspect="1"/>
          </p:cNvGraphicFramePr>
          <p:nvPr/>
        </p:nvGraphicFramePr>
        <p:xfrm>
          <a:off x="1881188" y="3200400"/>
          <a:ext cx="2233612" cy="1008063"/>
        </p:xfrm>
        <a:graphic>
          <a:graphicData uri="http://schemas.openxmlformats.org/presentationml/2006/ole">
            <mc:AlternateContent xmlns:mc="http://schemas.openxmlformats.org/markup-compatibility/2006">
              <mc:Choice xmlns:v="urn:schemas-microsoft-com:vml" Requires="v">
                <p:oleObj spid="_x0000_s1502" name="Equation" r:id="rId14" imgW="1180588" imgH="533169" progId="Equation.3">
                  <p:embed/>
                </p:oleObj>
              </mc:Choice>
              <mc:Fallback>
                <p:oleObj name="Equation" r:id="rId14" imgW="1180588" imgH="533169" progId="Equation.3">
                  <p:embed/>
                  <p:pic>
                    <p:nvPicPr>
                      <p:cNvPr id="0" name="Object 49"/>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881188" y="3200400"/>
                        <a:ext cx="2233612" cy="10080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extBox 2"/>
          <p:cNvSpPr txBox="1">
            <a:spLocks noChangeAspect="1"/>
          </p:cNvSpPr>
          <p:nvPr/>
        </p:nvSpPr>
        <p:spPr bwMode="auto">
          <a:xfrm>
            <a:off x="6965950" y="1524000"/>
            <a:ext cx="2101850" cy="369332"/>
          </a:xfrm>
          <a:prstGeom prst="rect">
            <a:avLst/>
          </a:prstGeom>
          <a:noFill/>
          <a:ln w="9525">
            <a:noFill/>
            <a:miter lim="800000"/>
            <a:headEnd/>
            <a:tailEnd/>
          </a:ln>
        </p:spPr>
        <p:txBody>
          <a:bodyPr>
            <a:spAutoFit/>
          </a:bodyPr>
          <a:lstStyle/>
          <a:p>
            <a:pPr algn="l"/>
            <a:r>
              <a:rPr lang="en-US" b="0" dirty="0" smtClean="0"/>
              <a:t>For  </a:t>
            </a:r>
            <a:r>
              <a:rPr lang="en-US" b="0" dirty="0" err="1" smtClean="0"/>
              <a:t>Strassen</a:t>
            </a:r>
            <a:r>
              <a:rPr lang="en-US" b="0" dirty="0" smtClean="0"/>
              <a:t>-like</a:t>
            </a:r>
            <a:r>
              <a:rPr lang="en-US" b="0" dirty="0"/>
              <a:t>:</a:t>
            </a:r>
            <a:endParaRPr lang="he-IL" b="0" dirty="0"/>
          </a:p>
        </p:txBody>
      </p:sp>
      <p:sp>
        <p:nvSpPr>
          <p:cNvPr id="52" name="TextBox 51"/>
          <p:cNvSpPr txBox="1">
            <a:spLocks noChangeAspect="1"/>
          </p:cNvSpPr>
          <p:nvPr/>
        </p:nvSpPr>
        <p:spPr bwMode="auto">
          <a:xfrm>
            <a:off x="2276475" y="1524000"/>
            <a:ext cx="2066925" cy="369332"/>
          </a:xfrm>
          <a:prstGeom prst="rect">
            <a:avLst/>
          </a:prstGeom>
          <a:noFill/>
          <a:ln w="9525">
            <a:noFill/>
            <a:miter lim="800000"/>
            <a:headEnd/>
            <a:tailEnd/>
          </a:ln>
        </p:spPr>
        <p:txBody>
          <a:bodyPr>
            <a:spAutoFit/>
          </a:bodyPr>
          <a:lstStyle/>
          <a:p>
            <a:pPr algn="l"/>
            <a:r>
              <a:rPr lang="en-US" b="0" dirty="0"/>
              <a:t>Recall </a:t>
            </a:r>
            <a:r>
              <a:rPr lang="en-US" dirty="0" smtClean="0"/>
              <a:t>O(n</a:t>
            </a:r>
            <a:r>
              <a:rPr lang="en-US" sz="2400" baseline="30000" dirty="0" smtClean="0"/>
              <a:t>3</a:t>
            </a:r>
            <a:r>
              <a:rPr lang="en-US" dirty="0" smtClean="0"/>
              <a:t>) case</a:t>
            </a:r>
            <a:r>
              <a:rPr lang="en-US" b="0" dirty="0" smtClean="0"/>
              <a:t>:</a:t>
            </a:r>
            <a:endParaRPr lang="he-IL" b="0" dirty="0"/>
          </a:p>
        </p:txBody>
      </p:sp>
      <p:sp>
        <p:nvSpPr>
          <p:cNvPr id="29711" name="TextBox 52"/>
          <p:cNvSpPr txBox="1">
            <a:spLocks noChangeAspect="1"/>
          </p:cNvSpPr>
          <p:nvPr/>
        </p:nvSpPr>
        <p:spPr bwMode="auto">
          <a:xfrm>
            <a:off x="4602162" y="1524000"/>
            <a:ext cx="2027238" cy="400050"/>
          </a:xfrm>
          <a:prstGeom prst="rect">
            <a:avLst/>
          </a:prstGeom>
          <a:noFill/>
          <a:ln w="9525">
            <a:noFill/>
            <a:miter lim="800000"/>
            <a:headEnd/>
            <a:tailEnd/>
          </a:ln>
        </p:spPr>
        <p:txBody>
          <a:bodyPr>
            <a:spAutoFit/>
          </a:bodyPr>
          <a:lstStyle/>
          <a:p>
            <a:pPr algn="l"/>
            <a:r>
              <a:rPr lang="en-US" b="0" dirty="0"/>
              <a:t>For </a:t>
            </a:r>
            <a:r>
              <a:rPr lang="en-US" b="0" dirty="0" err="1"/>
              <a:t>Strassen’s</a:t>
            </a:r>
            <a:r>
              <a:rPr lang="en-US" b="0" dirty="0"/>
              <a:t>:</a:t>
            </a:r>
            <a:endParaRPr lang="he-IL" b="0" dirty="0"/>
          </a:p>
        </p:txBody>
      </p:sp>
      <p:sp>
        <p:nvSpPr>
          <p:cNvPr id="2" name="TextBox 1"/>
          <p:cNvSpPr txBox="1"/>
          <p:nvPr/>
        </p:nvSpPr>
        <p:spPr>
          <a:xfrm>
            <a:off x="609600" y="4419600"/>
            <a:ext cx="8534400" cy="400110"/>
          </a:xfrm>
          <a:prstGeom prst="rect">
            <a:avLst/>
          </a:prstGeom>
          <a:noFill/>
        </p:spPr>
        <p:txBody>
          <a:bodyPr wrap="square" rtlCol="1">
            <a:spAutoFit/>
          </a:bodyPr>
          <a:lstStyle/>
          <a:p>
            <a:pPr>
              <a:buFont typeface="Arial" pitchFamily="34" charset="0"/>
              <a:buChar char="•"/>
              <a:defRPr/>
            </a:pPr>
            <a:r>
              <a:rPr lang="en-US" sz="2000" b="0" dirty="0" smtClean="0">
                <a:cs typeface="Arial" pitchFamily="34" charset="0"/>
              </a:rPr>
              <a:t>  </a:t>
            </a:r>
            <a:r>
              <a:rPr lang="en-US" sz="2000" dirty="0" smtClean="0">
                <a:cs typeface="Arial" pitchFamily="34" charset="0"/>
              </a:rPr>
              <a:t>P</a:t>
            </a:r>
            <a:r>
              <a:rPr lang="en-US" sz="2000" b="0" dirty="0" smtClean="0">
                <a:cs typeface="Arial" pitchFamily="34" charset="0"/>
              </a:rPr>
              <a:t>arallel lower bounds apply to </a:t>
            </a:r>
            <a:r>
              <a:rPr lang="en-US" sz="2000" dirty="0" smtClean="0">
                <a:cs typeface="Times New Roman" pitchFamily="18" charset="0"/>
              </a:rPr>
              <a:t>2D (1 copy of data)  </a:t>
            </a:r>
            <a:r>
              <a:rPr lang="en-US" sz="2000" dirty="0" smtClean="0">
                <a:cs typeface="Times New Roman" pitchFamily="18" charset="0"/>
                <a:sym typeface="Symbol"/>
              </a:rPr>
              <a:t>and</a:t>
            </a:r>
            <a:r>
              <a:rPr lang="en-US" sz="2000" i="1" dirty="0" smtClean="0">
                <a:cs typeface="Times New Roman" pitchFamily="18" charset="0"/>
                <a:sym typeface="Symbol"/>
              </a:rPr>
              <a:t> </a:t>
            </a:r>
            <a:r>
              <a:rPr lang="en-US" sz="2000" dirty="0" smtClean="0">
                <a:cs typeface="Times New Roman" pitchFamily="18" charset="0"/>
                <a:sym typeface="Symbol"/>
              </a:rPr>
              <a:t>2.5D (c copies) </a:t>
            </a:r>
            <a:endParaRPr lang="en-US" sz="2000" dirty="0" smtClean="0">
              <a:cs typeface="Arial" pitchFamily="34" charset="0"/>
            </a:endParaRPr>
          </a:p>
        </p:txBody>
      </p:sp>
      <p:sp>
        <p:nvSpPr>
          <p:cNvPr id="28" name="TextBox 27"/>
          <p:cNvSpPr txBox="1">
            <a:spLocks noChangeArrowheads="1"/>
          </p:cNvSpPr>
          <p:nvPr/>
        </p:nvSpPr>
        <p:spPr bwMode="auto">
          <a:xfrm>
            <a:off x="5562600" y="1955800"/>
            <a:ext cx="817563" cy="307975"/>
          </a:xfrm>
          <a:prstGeom prst="rect">
            <a:avLst/>
          </a:prstGeom>
          <a:solidFill>
            <a:schemeClr val="bg1"/>
          </a:solidFill>
          <a:ln w="9525">
            <a:noFill/>
            <a:miter lim="800000"/>
            <a:headEnd/>
            <a:tailEnd/>
          </a:ln>
        </p:spPr>
        <p:txBody>
          <a:bodyPr>
            <a:spAutoFit/>
          </a:bodyPr>
          <a:lstStyle/>
          <a:p>
            <a:pPr algn="l"/>
            <a:r>
              <a:rPr lang="en-US" sz="1400" b="0" dirty="0">
                <a:solidFill>
                  <a:srgbClr val="FF0000"/>
                </a:solidFill>
                <a:latin typeface="Times New Roman" pitchFamily="18" charset="0"/>
                <a:cs typeface="Times New Roman" pitchFamily="18" charset="0"/>
              </a:rPr>
              <a:t>log</a:t>
            </a:r>
            <a:r>
              <a:rPr lang="en-US" sz="1400" b="0" baseline="-25000" dirty="0">
                <a:solidFill>
                  <a:srgbClr val="FF0000"/>
                </a:solidFill>
                <a:latin typeface="Times New Roman" pitchFamily="18" charset="0"/>
                <a:cs typeface="Times New Roman" pitchFamily="18" charset="0"/>
              </a:rPr>
              <a:t>2 </a:t>
            </a:r>
            <a:r>
              <a:rPr lang="en-US" sz="1400" dirty="0" smtClean="0">
                <a:solidFill>
                  <a:srgbClr val="FF0000"/>
                </a:solidFill>
                <a:latin typeface="Times New Roman" pitchFamily="18" charset="0"/>
                <a:cs typeface="Times New Roman" pitchFamily="18" charset="0"/>
              </a:rPr>
              <a:t>7</a:t>
            </a:r>
            <a:endParaRPr lang="he-IL" sz="1400" b="0" dirty="0">
              <a:solidFill>
                <a:srgbClr val="FF0000"/>
              </a:solidFill>
              <a:latin typeface="Times New Roman" pitchFamily="18" charset="0"/>
              <a:cs typeface="Times New Roman" pitchFamily="18" charset="0"/>
            </a:endParaRPr>
          </a:p>
        </p:txBody>
      </p:sp>
      <p:sp>
        <p:nvSpPr>
          <p:cNvPr id="29" name="TextBox 28"/>
          <p:cNvSpPr txBox="1">
            <a:spLocks noChangeArrowheads="1"/>
          </p:cNvSpPr>
          <p:nvPr/>
        </p:nvSpPr>
        <p:spPr bwMode="auto">
          <a:xfrm>
            <a:off x="3219450" y="1931988"/>
            <a:ext cx="819150" cy="306387"/>
          </a:xfrm>
          <a:prstGeom prst="rect">
            <a:avLst/>
          </a:prstGeom>
          <a:solidFill>
            <a:schemeClr val="bg1"/>
          </a:solidFill>
          <a:ln w="9525">
            <a:noFill/>
            <a:miter lim="800000"/>
            <a:headEnd/>
            <a:tailEnd/>
          </a:ln>
        </p:spPr>
        <p:txBody>
          <a:bodyPr>
            <a:spAutoFit/>
          </a:bodyPr>
          <a:lstStyle/>
          <a:p>
            <a:pPr algn="l"/>
            <a:r>
              <a:rPr lang="en-US" sz="1400" b="0" dirty="0">
                <a:solidFill>
                  <a:srgbClr val="FF0000"/>
                </a:solidFill>
                <a:latin typeface="Times New Roman" pitchFamily="18" charset="0"/>
                <a:cs typeface="Times New Roman" pitchFamily="18" charset="0"/>
              </a:rPr>
              <a:t>log</a:t>
            </a:r>
            <a:r>
              <a:rPr lang="en-US" sz="1400" b="0" baseline="-25000" dirty="0">
                <a:solidFill>
                  <a:srgbClr val="FF0000"/>
                </a:solidFill>
                <a:latin typeface="Times New Roman" pitchFamily="18" charset="0"/>
                <a:cs typeface="Times New Roman" pitchFamily="18" charset="0"/>
              </a:rPr>
              <a:t>2 </a:t>
            </a:r>
            <a:r>
              <a:rPr lang="en-US" sz="1400" b="0" dirty="0">
                <a:solidFill>
                  <a:srgbClr val="FF0000"/>
                </a:solidFill>
                <a:latin typeface="Times New Roman" pitchFamily="18" charset="0"/>
                <a:cs typeface="Times New Roman" pitchFamily="18" charset="0"/>
              </a:rPr>
              <a:t>8</a:t>
            </a:r>
            <a:endParaRPr lang="he-IL" sz="1400" b="0" dirty="0">
              <a:solidFill>
                <a:srgbClr val="FF0000"/>
              </a:solidFill>
              <a:latin typeface="Times New Roman" pitchFamily="18" charset="0"/>
              <a:cs typeface="Times New Roman" pitchFamily="18" charset="0"/>
            </a:endParaRPr>
          </a:p>
        </p:txBody>
      </p:sp>
      <p:sp>
        <p:nvSpPr>
          <p:cNvPr id="30" name="TextBox 29"/>
          <p:cNvSpPr txBox="1">
            <a:spLocks noChangeArrowheads="1"/>
          </p:cNvSpPr>
          <p:nvPr/>
        </p:nvSpPr>
        <p:spPr bwMode="auto">
          <a:xfrm>
            <a:off x="7924800" y="1931988"/>
            <a:ext cx="411163" cy="306387"/>
          </a:xfrm>
          <a:prstGeom prst="rect">
            <a:avLst/>
          </a:prstGeom>
          <a:solidFill>
            <a:schemeClr val="bg1"/>
          </a:solidFill>
          <a:ln w="9525">
            <a:noFill/>
            <a:miter lim="800000"/>
            <a:headEnd/>
            <a:tailEnd/>
          </a:ln>
        </p:spPr>
        <p:txBody>
          <a:bodyPr>
            <a:spAutoFit/>
          </a:bodyPr>
          <a:lstStyle/>
          <a:p>
            <a:pPr algn="l"/>
            <a:r>
              <a:rPr lang="en-US" sz="1400" b="0" i="1" dirty="0" smtClean="0">
                <a:solidFill>
                  <a:srgbClr val="FF0000"/>
                </a:solidFill>
                <a:latin typeface="Times New Roman" pitchFamily="18" charset="0"/>
                <a:cs typeface="Times New Roman" pitchFamily="18" charset="0"/>
                <a:sym typeface="Symbol" pitchFamily="18" charset="2"/>
              </a:rPr>
              <a:t></a:t>
            </a:r>
            <a:r>
              <a:rPr lang="en-US" sz="1400" b="0" baseline="-25000" dirty="0" smtClean="0">
                <a:solidFill>
                  <a:srgbClr val="FF0000"/>
                </a:solidFill>
                <a:latin typeface="Times New Roman" pitchFamily="18" charset="0"/>
                <a:cs typeface="Times New Roman" pitchFamily="18" charset="0"/>
                <a:sym typeface="Symbol" pitchFamily="18" charset="2"/>
              </a:rPr>
              <a:t>0</a:t>
            </a:r>
            <a:endParaRPr lang="he-IL" sz="1400" b="0" baseline="-25000" dirty="0">
              <a:solidFill>
                <a:srgbClr val="FF0000"/>
              </a:solidFill>
              <a:latin typeface="Times New Roman" pitchFamily="18" charset="0"/>
              <a:cs typeface="Times New Roman" pitchFamily="18" charset="0"/>
            </a:endParaRPr>
          </a:p>
        </p:txBody>
      </p:sp>
      <p:sp>
        <p:nvSpPr>
          <p:cNvPr id="31" name="TextBox 30"/>
          <p:cNvSpPr txBox="1"/>
          <p:nvPr/>
        </p:nvSpPr>
        <p:spPr>
          <a:xfrm>
            <a:off x="228600" y="2143125"/>
            <a:ext cx="1387752" cy="400110"/>
          </a:xfrm>
          <a:prstGeom prst="rect">
            <a:avLst/>
          </a:prstGeom>
          <a:noFill/>
        </p:spPr>
        <p:txBody>
          <a:bodyPr wrap="none" rtlCol="0">
            <a:spAutoFit/>
          </a:bodyPr>
          <a:lstStyle/>
          <a:p>
            <a:r>
              <a:rPr lang="en-US" sz="2000" b="1" dirty="0" smtClean="0"/>
              <a:t>Sequential:</a:t>
            </a:r>
            <a:endParaRPr lang="en-US" sz="2000" b="1" dirty="0"/>
          </a:p>
        </p:txBody>
      </p:sp>
      <p:sp>
        <p:nvSpPr>
          <p:cNvPr id="32" name="TextBox 31"/>
          <p:cNvSpPr txBox="1"/>
          <p:nvPr/>
        </p:nvSpPr>
        <p:spPr>
          <a:xfrm>
            <a:off x="228600" y="3438525"/>
            <a:ext cx="1042850" cy="400110"/>
          </a:xfrm>
          <a:prstGeom prst="rect">
            <a:avLst/>
          </a:prstGeom>
          <a:noFill/>
        </p:spPr>
        <p:txBody>
          <a:bodyPr wrap="none" rtlCol="0">
            <a:spAutoFit/>
          </a:bodyPr>
          <a:lstStyle/>
          <a:p>
            <a:r>
              <a:rPr lang="en-US" sz="2000" b="1" dirty="0" smtClean="0"/>
              <a:t>Parallel:</a:t>
            </a:r>
            <a:endParaRPr lang="en-US" sz="2000" b="1" dirty="0"/>
          </a:p>
        </p:txBody>
      </p:sp>
      <p:sp>
        <p:nvSpPr>
          <p:cNvPr id="34" name="TextBox 33"/>
          <p:cNvSpPr txBox="1"/>
          <p:nvPr/>
        </p:nvSpPr>
        <p:spPr>
          <a:xfrm>
            <a:off x="609600" y="4953000"/>
            <a:ext cx="8839200" cy="1015663"/>
          </a:xfrm>
          <a:prstGeom prst="rect">
            <a:avLst/>
          </a:prstGeom>
          <a:noFill/>
        </p:spPr>
        <p:txBody>
          <a:bodyPr wrap="square" rtlCol="0">
            <a:spAutoFit/>
          </a:bodyPr>
          <a:lstStyle/>
          <a:p>
            <a:pPr>
              <a:buFont typeface="Arial" pitchFamily="34" charset="0"/>
              <a:buChar char="•"/>
            </a:pPr>
            <a:r>
              <a:rPr lang="en-US" dirty="0" smtClean="0"/>
              <a:t>   </a:t>
            </a:r>
            <a:r>
              <a:rPr lang="en-US" sz="2000" dirty="0" smtClean="0"/>
              <a:t>Attainable</a:t>
            </a:r>
          </a:p>
          <a:p>
            <a:pPr lvl="1">
              <a:buFont typeface="Arial" pitchFamily="34" charset="0"/>
              <a:buChar char="•"/>
            </a:pPr>
            <a:r>
              <a:rPr lang="en-US" sz="2000" dirty="0" smtClean="0"/>
              <a:t>  Sequential:  usual recursive algorithms, also for LU, QR, </a:t>
            </a:r>
            <a:r>
              <a:rPr lang="en-US" sz="2000" dirty="0" err="1" smtClean="0"/>
              <a:t>eig</a:t>
            </a:r>
            <a:r>
              <a:rPr lang="en-US" sz="2000" dirty="0" smtClean="0"/>
              <a:t>, SVD,…</a:t>
            </a:r>
          </a:p>
          <a:p>
            <a:pPr lvl="1">
              <a:buFont typeface="Arial" pitchFamily="34" charset="0"/>
              <a:buChar char="•"/>
            </a:pPr>
            <a:r>
              <a:rPr lang="en-US" sz="2000" dirty="0" smtClean="0"/>
              <a:t>  Parallel:  just </a:t>
            </a:r>
            <a:r>
              <a:rPr lang="en-US" sz="2000" dirty="0" err="1" smtClean="0"/>
              <a:t>matmul</a:t>
            </a:r>
            <a:r>
              <a:rPr lang="en-US" sz="2000" dirty="0" smtClean="0"/>
              <a:t> so far …</a:t>
            </a:r>
            <a:endParaRPr lang="en-US" sz="2000" dirty="0"/>
          </a:p>
        </p:txBody>
      </p:sp>
      <p:sp>
        <p:nvSpPr>
          <p:cNvPr id="35" name="TextBox 34"/>
          <p:cNvSpPr txBox="1"/>
          <p:nvPr/>
        </p:nvSpPr>
        <p:spPr>
          <a:xfrm>
            <a:off x="609600" y="5858470"/>
            <a:ext cx="7620000" cy="707886"/>
          </a:xfrm>
          <a:prstGeom prst="rect">
            <a:avLst/>
          </a:prstGeom>
          <a:noFill/>
        </p:spPr>
        <p:txBody>
          <a:bodyPr wrap="square" rtlCol="0">
            <a:spAutoFit/>
          </a:bodyPr>
          <a:lstStyle/>
          <a:p>
            <a:pPr>
              <a:buFont typeface="Arial" pitchFamily="34" charset="0"/>
              <a:buChar char="•"/>
            </a:pPr>
            <a:r>
              <a:rPr lang="en-US" dirty="0" smtClean="0"/>
              <a:t>   </a:t>
            </a:r>
            <a:r>
              <a:rPr lang="en-US" sz="2000" dirty="0" smtClean="0"/>
              <a:t>Talk by </a:t>
            </a:r>
            <a:r>
              <a:rPr lang="en-US" sz="2000" dirty="0" err="1" smtClean="0"/>
              <a:t>Oded</a:t>
            </a:r>
            <a:r>
              <a:rPr lang="en-US" sz="2000" dirty="0" smtClean="0"/>
              <a:t> Schwartz, Thursday, 5:30pm</a:t>
            </a:r>
          </a:p>
          <a:p>
            <a:pPr>
              <a:buFont typeface="Arial" pitchFamily="34" charset="0"/>
              <a:buChar char="•"/>
            </a:pPr>
            <a:r>
              <a:rPr lang="en-US" sz="2000" dirty="0" smtClean="0"/>
              <a:t>   </a:t>
            </a:r>
            <a:r>
              <a:rPr lang="en-US" sz="2000" b="1" dirty="0" smtClean="0"/>
              <a:t>Best Paper Award, SPAA’11   (Ballard, JD, Holtz, Schwartz)</a:t>
            </a:r>
            <a:endParaRPr lang="en-US" sz="2000" b="1" dirty="0"/>
          </a:p>
        </p:txBody>
      </p:sp>
    </p:spTree>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9711"/>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970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0"/>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0"/>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50"/>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48"/>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49"/>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4"/>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2"/>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4"/>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2" grpId="0"/>
      <p:bldP spid="29711" grpId="0"/>
      <p:bldP spid="2" grpId="0"/>
      <p:bldP spid="28" grpId="0" animBg="1"/>
      <p:bldP spid="29" grpId="0" animBg="1"/>
      <p:bldP spid="30" grpId="0" animBg="1"/>
      <p:bldP spid="31" grpId="0"/>
      <p:bldP spid="32" grpId="0"/>
      <p:bldP spid="34" grpId="0"/>
      <p:bldP spid="35" grpId="0"/>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lstStyle/>
          <a:p>
            <a:r>
              <a:rPr lang="en-US" dirty="0" smtClean="0">
                <a:latin typeface="Times New Roman" pitchFamily="18" charset="0"/>
                <a:cs typeface="Times New Roman" pitchFamily="18" charset="0"/>
              </a:rPr>
              <a:t>Sequential Strong Scaling</a:t>
            </a:r>
            <a:endParaRPr lang="en-US" dirty="0">
              <a:latin typeface="Times New Roman" pitchFamily="18" charset="0"/>
              <a:cs typeface="Times New Roman" pitchFamily="18" charset="0"/>
            </a:endParaRPr>
          </a:p>
        </p:txBody>
      </p:sp>
      <p:graphicFrame>
        <p:nvGraphicFramePr>
          <p:cNvPr id="4" name="Table 3"/>
          <p:cNvGraphicFramePr>
            <a:graphicFrameLocks noGrp="1"/>
          </p:cNvGraphicFramePr>
          <p:nvPr>
            <p:extLst>
              <p:ext uri="{D42A27DB-BD31-4B8C-83A1-F6EECF244321}">
                <p14:modId xmlns:p14="http://schemas.microsoft.com/office/powerpoint/2010/main" val="1665439011"/>
              </p:ext>
            </p:extLst>
          </p:nvPr>
        </p:nvGraphicFramePr>
        <p:xfrm>
          <a:off x="533400" y="1397000"/>
          <a:ext cx="8153400" cy="5080000"/>
        </p:xfrm>
        <a:graphic>
          <a:graphicData uri="http://schemas.openxmlformats.org/drawingml/2006/table">
            <a:tbl>
              <a:tblPr firstRow="1" bandRow="1">
                <a:tableStyleId>{5940675A-B579-460E-94D1-54222C63F5DA}</a:tableStyleId>
              </a:tblPr>
              <a:tblGrid>
                <a:gridCol w="2038350"/>
                <a:gridCol w="2038350"/>
                <a:gridCol w="2038350"/>
                <a:gridCol w="2038350"/>
              </a:tblGrid>
              <a:tr h="822262">
                <a:tc>
                  <a:txBody>
                    <a:bodyPr/>
                    <a:lstStyle/>
                    <a:p>
                      <a:pPr algn="ctr"/>
                      <a:endParaRPr lang="en-US" sz="2000" dirty="0">
                        <a:latin typeface="Times New Roman" pitchFamily="18" charset="0"/>
                        <a:cs typeface="Times New Roman" pitchFamily="18" charset="0"/>
                      </a:endParaRPr>
                    </a:p>
                  </a:txBody>
                  <a:tcPr anchor="ctr"/>
                </a:tc>
                <a:tc>
                  <a:txBody>
                    <a:bodyPr/>
                    <a:lstStyle/>
                    <a:p>
                      <a:pPr algn="ctr"/>
                      <a:r>
                        <a:rPr lang="en-US" sz="2000" dirty="0" smtClean="0">
                          <a:latin typeface="Times New Roman" pitchFamily="18" charset="0"/>
                          <a:cs typeface="Times New Roman" pitchFamily="18" charset="0"/>
                        </a:rPr>
                        <a:t>Standard</a:t>
                      </a:r>
                      <a:r>
                        <a:rPr lang="en-US" sz="2000" baseline="0" dirty="0" smtClean="0">
                          <a:latin typeface="Times New Roman" pitchFamily="18" charset="0"/>
                          <a:cs typeface="Times New Roman" pitchFamily="18" charset="0"/>
                        </a:rPr>
                        <a:t> Alg.</a:t>
                      </a:r>
                      <a:endParaRPr lang="en-US" sz="2000" dirty="0">
                        <a:latin typeface="Times New Roman" pitchFamily="18" charset="0"/>
                        <a:cs typeface="Times New Roman" pitchFamily="18" charset="0"/>
                      </a:endParaRPr>
                    </a:p>
                  </a:txBody>
                  <a:tcPr anchor="ctr"/>
                </a:tc>
                <a:tc>
                  <a:txBody>
                    <a:bodyPr/>
                    <a:lstStyle/>
                    <a:p>
                      <a:pPr algn="ctr"/>
                      <a:r>
                        <a:rPr lang="en-US" sz="2000" dirty="0" smtClean="0">
                          <a:latin typeface="Times New Roman" pitchFamily="18" charset="0"/>
                          <a:cs typeface="Times New Roman" pitchFamily="18" charset="0"/>
                        </a:rPr>
                        <a:t>CA-CG with SA1</a:t>
                      </a:r>
                      <a:endParaRPr lang="en-US" sz="2000" dirty="0">
                        <a:latin typeface="Times New Roman" pitchFamily="18" charset="0"/>
                        <a:cs typeface="Times New Roman" pitchFamily="18" charset="0"/>
                      </a:endParaRPr>
                    </a:p>
                  </a:txBody>
                  <a:tcPr anchor="ctr"/>
                </a:tc>
                <a:tc>
                  <a:txBody>
                    <a:bodyPr/>
                    <a:lstStyle/>
                    <a:p>
                      <a:pPr algn="ctr"/>
                      <a:r>
                        <a:rPr lang="en-US" sz="2000" dirty="0" smtClean="0">
                          <a:latin typeface="Times New Roman" pitchFamily="18" charset="0"/>
                          <a:cs typeface="Times New Roman" pitchFamily="18" charset="0"/>
                        </a:rPr>
                        <a:t>CA-CG</a:t>
                      </a:r>
                      <a:r>
                        <a:rPr lang="en-US" sz="2000" baseline="0" dirty="0" smtClean="0">
                          <a:latin typeface="Times New Roman" pitchFamily="18" charset="0"/>
                          <a:cs typeface="Times New Roman" pitchFamily="18" charset="0"/>
                        </a:rPr>
                        <a:t> with </a:t>
                      </a:r>
                      <a:r>
                        <a:rPr lang="en-US" sz="2000" dirty="0" smtClean="0">
                          <a:latin typeface="Times New Roman" pitchFamily="18" charset="0"/>
                          <a:cs typeface="Times New Roman" pitchFamily="18" charset="0"/>
                        </a:rPr>
                        <a:t>SA2</a:t>
                      </a:r>
                      <a:endParaRPr lang="en-US" sz="2000" dirty="0">
                        <a:latin typeface="Times New Roman" pitchFamily="18" charset="0"/>
                        <a:cs typeface="Times New Roman" pitchFamily="18" charset="0"/>
                      </a:endParaRPr>
                    </a:p>
                  </a:txBody>
                  <a:tcPr anchor="ctr"/>
                </a:tc>
              </a:tr>
              <a:tr h="1419246">
                <a:tc>
                  <a:txBody>
                    <a:bodyPr/>
                    <a:lstStyle/>
                    <a:p>
                      <a:pPr algn="ctr"/>
                      <a:r>
                        <a:rPr lang="en-US" sz="2000" dirty="0" smtClean="0">
                          <a:latin typeface="Times New Roman" pitchFamily="18" charset="0"/>
                          <a:cs typeface="Times New Roman" pitchFamily="18" charset="0"/>
                        </a:rPr>
                        <a:t>1D</a:t>
                      </a:r>
                      <a:r>
                        <a:rPr lang="en-US" sz="2000" baseline="0" dirty="0" smtClean="0">
                          <a:latin typeface="Times New Roman" pitchFamily="18" charset="0"/>
                          <a:cs typeface="Times New Roman" pitchFamily="18" charset="0"/>
                        </a:rPr>
                        <a:t> 3-pt stencil</a:t>
                      </a:r>
                      <a:endParaRPr lang="en-US" sz="2000" dirty="0">
                        <a:latin typeface="Times New Roman" pitchFamily="18" charset="0"/>
                        <a:cs typeface="Times New Roman" pitchFamily="18" charset="0"/>
                      </a:endParaRPr>
                    </a:p>
                  </a:txBody>
                  <a:tcPr anchor="ctr"/>
                </a:tc>
                <a:tc>
                  <a:txBody>
                    <a:bodyPr/>
                    <a:lstStyle/>
                    <a:p>
                      <a:pPr algn="ctr"/>
                      <a:endParaRPr lang="en-US" sz="2000" dirty="0">
                        <a:latin typeface="Times New Roman" pitchFamily="18" charset="0"/>
                        <a:cs typeface="Times New Roman" pitchFamily="18" charset="0"/>
                      </a:endParaRPr>
                    </a:p>
                  </a:txBody>
                  <a:tcPr anchor="ctr"/>
                </a:tc>
                <a:tc>
                  <a:txBody>
                    <a:bodyPr/>
                    <a:lstStyle/>
                    <a:p>
                      <a:pPr algn="ctr"/>
                      <a:endParaRPr lang="en-US" sz="2000" dirty="0">
                        <a:latin typeface="Times New Roman" pitchFamily="18" charset="0"/>
                        <a:cs typeface="Times New Roman" pitchFamily="18" charset="0"/>
                      </a:endParaRPr>
                    </a:p>
                  </a:txBody>
                  <a:tcPr anchor="ctr"/>
                </a:tc>
                <a:tc>
                  <a:txBody>
                    <a:bodyPr/>
                    <a:lstStyle/>
                    <a:p>
                      <a:pPr algn="ctr"/>
                      <a:endParaRPr lang="en-US" sz="2000" dirty="0">
                        <a:latin typeface="Times New Roman" pitchFamily="18" charset="0"/>
                        <a:cs typeface="Times New Roman" pitchFamily="18" charset="0"/>
                      </a:endParaRPr>
                    </a:p>
                  </a:txBody>
                  <a:tcPr anchor="ctr"/>
                </a:tc>
              </a:tr>
              <a:tr h="1419246">
                <a:tc>
                  <a:txBody>
                    <a:bodyPr/>
                    <a:lstStyle/>
                    <a:p>
                      <a:pPr algn="ctr"/>
                      <a:r>
                        <a:rPr lang="en-US" sz="2000" dirty="0" smtClean="0">
                          <a:latin typeface="Times New Roman" pitchFamily="18" charset="0"/>
                          <a:cs typeface="Times New Roman" pitchFamily="18" charset="0"/>
                        </a:rPr>
                        <a:t>2D 5-pt stencil</a:t>
                      </a:r>
                      <a:endParaRPr lang="en-US" sz="2000" dirty="0">
                        <a:latin typeface="Times New Roman" pitchFamily="18" charset="0"/>
                        <a:cs typeface="Times New Roman" pitchFamily="18" charset="0"/>
                      </a:endParaRPr>
                    </a:p>
                  </a:txBody>
                  <a:tcPr anchor="ctr"/>
                </a:tc>
                <a:tc>
                  <a:txBody>
                    <a:bodyPr/>
                    <a:lstStyle/>
                    <a:p>
                      <a:pPr algn="ctr"/>
                      <a:endParaRPr lang="en-US" sz="2000" dirty="0">
                        <a:latin typeface="Times New Roman" pitchFamily="18" charset="0"/>
                        <a:cs typeface="Times New Roman" pitchFamily="18" charset="0"/>
                      </a:endParaRPr>
                    </a:p>
                  </a:txBody>
                  <a:tcPr anchor="ctr"/>
                </a:tc>
                <a:tc>
                  <a:txBody>
                    <a:bodyPr/>
                    <a:lstStyle/>
                    <a:p>
                      <a:pPr algn="ctr"/>
                      <a:endParaRPr lang="en-US" sz="2000" dirty="0">
                        <a:latin typeface="Times New Roman" pitchFamily="18" charset="0"/>
                        <a:cs typeface="Times New Roman" pitchFamily="18" charset="0"/>
                      </a:endParaRPr>
                    </a:p>
                  </a:txBody>
                  <a:tcPr anchor="ctr"/>
                </a:tc>
                <a:tc>
                  <a:txBody>
                    <a:bodyPr/>
                    <a:lstStyle/>
                    <a:p>
                      <a:pPr algn="ctr"/>
                      <a:endParaRPr lang="en-US" sz="2000" dirty="0">
                        <a:latin typeface="Times New Roman" pitchFamily="18" charset="0"/>
                        <a:cs typeface="Times New Roman" pitchFamily="18" charset="0"/>
                      </a:endParaRPr>
                    </a:p>
                  </a:txBody>
                  <a:tcPr anchor="ctr"/>
                </a:tc>
              </a:tr>
              <a:tr h="1419246">
                <a:tc>
                  <a:txBody>
                    <a:bodyPr/>
                    <a:lstStyle/>
                    <a:p>
                      <a:pPr algn="ctr"/>
                      <a:r>
                        <a:rPr lang="en-US" sz="2000" dirty="0" smtClean="0">
                          <a:latin typeface="Times New Roman" pitchFamily="18" charset="0"/>
                          <a:cs typeface="Times New Roman" pitchFamily="18" charset="0"/>
                        </a:rPr>
                        <a:t>3D 7</a:t>
                      </a:r>
                      <a:r>
                        <a:rPr lang="en-US" sz="2000" baseline="0" dirty="0" smtClean="0">
                          <a:latin typeface="Times New Roman" pitchFamily="18" charset="0"/>
                          <a:cs typeface="Times New Roman" pitchFamily="18" charset="0"/>
                        </a:rPr>
                        <a:t>-pt stencil</a:t>
                      </a:r>
                      <a:endParaRPr lang="en-US" sz="2000" dirty="0">
                        <a:latin typeface="Times New Roman" pitchFamily="18" charset="0"/>
                        <a:cs typeface="Times New Roman" pitchFamily="18" charset="0"/>
                      </a:endParaRPr>
                    </a:p>
                  </a:txBody>
                  <a:tcPr anchor="ctr"/>
                </a:tc>
                <a:tc>
                  <a:txBody>
                    <a:bodyPr/>
                    <a:lstStyle/>
                    <a:p>
                      <a:pPr algn="ctr"/>
                      <a:endParaRPr lang="en-US" sz="2000">
                        <a:latin typeface="Times New Roman" pitchFamily="18" charset="0"/>
                        <a:cs typeface="Times New Roman" pitchFamily="18" charset="0"/>
                      </a:endParaRPr>
                    </a:p>
                  </a:txBody>
                  <a:tcPr anchor="ctr"/>
                </a:tc>
                <a:tc>
                  <a:txBody>
                    <a:bodyPr/>
                    <a:lstStyle/>
                    <a:p>
                      <a:pPr algn="ctr"/>
                      <a:endParaRPr lang="en-US" sz="2000" dirty="0">
                        <a:latin typeface="Times New Roman" pitchFamily="18" charset="0"/>
                        <a:cs typeface="Times New Roman" pitchFamily="18" charset="0"/>
                      </a:endParaRPr>
                    </a:p>
                  </a:txBody>
                  <a:tcPr anchor="ctr"/>
                </a:tc>
                <a:tc>
                  <a:txBody>
                    <a:bodyPr/>
                    <a:lstStyle/>
                    <a:p>
                      <a:pPr algn="ctr"/>
                      <a:endParaRPr lang="en-US" sz="2000" dirty="0">
                        <a:latin typeface="Times New Roman" pitchFamily="18" charset="0"/>
                        <a:cs typeface="Times New Roman" pitchFamily="18" charset="0"/>
                      </a:endParaRPr>
                    </a:p>
                  </a:txBody>
                  <a:tcPr anchor="ctr"/>
                </a:tc>
              </a:tr>
            </a:tbl>
          </a:graphicData>
        </a:graphic>
      </p:graphicFrame>
      <p:pic>
        <p:nvPicPr>
          <p:cNvPr id="2050"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17520" y="2341812"/>
            <a:ext cx="1315329" cy="4013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13108" y="2860313"/>
            <a:ext cx="1533776" cy="6753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2" name="Picture 4"/>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773278" y="4175760"/>
            <a:ext cx="1552575" cy="7447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48000" y="3803119"/>
            <a:ext cx="1277853" cy="3899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48000" y="5173086"/>
            <a:ext cx="1376289" cy="4199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109494" y="5227868"/>
            <a:ext cx="1246715" cy="3804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010400" y="3749826"/>
            <a:ext cx="1345809" cy="4106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3" name="Picture 5"/>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998720" y="3765440"/>
            <a:ext cx="1504071" cy="3950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 name="Picture 5"/>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105400" y="5255890"/>
            <a:ext cx="1341706" cy="352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4" name="Picture 5"/>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086600" y="2423410"/>
            <a:ext cx="1333499" cy="3502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4" name="Picture 6"/>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998720" y="2376409"/>
            <a:ext cx="1478866" cy="4270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5" name="Picture 7"/>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2773278" y="5590048"/>
            <a:ext cx="1607836" cy="781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6" name="Picture 8"/>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4821114" y="2875553"/>
            <a:ext cx="1625991" cy="6994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8" name="Picture 8"/>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6794108" y="2856322"/>
            <a:ext cx="1578834" cy="6791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7" name="Picture 9"/>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4842802" y="4242228"/>
            <a:ext cx="1582614" cy="678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 name="Picture 9"/>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6739917" y="4242228"/>
            <a:ext cx="1582614" cy="678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8" name="Picture 10"/>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4804250" y="5673228"/>
            <a:ext cx="1647544" cy="6827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2" name="Picture 10"/>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6708665" y="5688468"/>
            <a:ext cx="1647544" cy="6827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92187838"/>
      </p:ext>
    </p:extLst>
  </p:cSld>
  <p:clrMapOvr>
    <a:masterClrMapping/>
  </p:clrMapOvr>
  <p:timing>
    <p:tnLst>
      <p:par>
        <p:cTn xmlns:p14="http://schemas.microsoft.com/office/powerpoint/2010/mai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lstStyle/>
          <a:p>
            <a:r>
              <a:rPr lang="en-US" dirty="0" smtClean="0">
                <a:latin typeface="Times New Roman" pitchFamily="18" charset="0"/>
                <a:cs typeface="Times New Roman" pitchFamily="18" charset="0"/>
              </a:rPr>
              <a:t>Parallel Strong Scaling</a:t>
            </a:r>
            <a:endParaRPr lang="en-US" dirty="0">
              <a:latin typeface="Times New Roman" pitchFamily="18" charset="0"/>
              <a:cs typeface="Times New Roman" pitchFamily="18" charset="0"/>
            </a:endParaRPr>
          </a:p>
        </p:txBody>
      </p:sp>
      <p:graphicFrame>
        <p:nvGraphicFramePr>
          <p:cNvPr id="4" name="Table 3"/>
          <p:cNvGraphicFramePr>
            <a:graphicFrameLocks noGrp="1"/>
          </p:cNvGraphicFramePr>
          <p:nvPr>
            <p:extLst>
              <p:ext uri="{D42A27DB-BD31-4B8C-83A1-F6EECF244321}">
                <p14:modId xmlns:p14="http://schemas.microsoft.com/office/powerpoint/2010/main" val="4207552692"/>
              </p:ext>
            </p:extLst>
          </p:nvPr>
        </p:nvGraphicFramePr>
        <p:xfrm>
          <a:off x="1600200" y="1422979"/>
          <a:ext cx="6115050" cy="5080000"/>
        </p:xfrm>
        <a:graphic>
          <a:graphicData uri="http://schemas.openxmlformats.org/drawingml/2006/table">
            <a:tbl>
              <a:tblPr firstRow="1" bandRow="1">
                <a:tableStyleId>{5940675A-B579-460E-94D1-54222C63F5DA}</a:tableStyleId>
              </a:tblPr>
              <a:tblGrid>
                <a:gridCol w="2038350"/>
                <a:gridCol w="2038350"/>
                <a:gridCol w="2038350"/>
              </a:tblGrid>
              <a:tr h="822262">
                <a:tc>
                  <a:txBody>
                    <a:bodyPr/>
                    <a:lstStyle/>
                    <a:p>
                      <a:pPr algn="ctr"/>
                      <a:endParaRPr lang="en-US" sz="2000" dirty="0">
                        <a:latin typeface="Times New Roman" pitchFamily="18" charset="0"/>
                        <a:cs typeface="Times New Roman" pitchFamily="18" charset="0"/>
                      </a:endParaRPr>
                    </a:p>
                  </a:txBody>
                  <a:tcPr anchor="ctr"/>
                </a:tc>
                <a:tc>
                  <a:txBody>
                    <a:bodyPr/>
                    <a:lstStyle/>
                    <a:p>
                      <a:pPr algn="ctr"/>
                      <a:r>
                        <a:rPr lang="en-US" sz="2000" dirty="0" smtClean="0">
                          <a:latin typeface="Times New Roman" pitchFamily="18" charset="0"/>
                          <a:cs typeface="Times New Roman" pitchFamily="18" charset="0"/>
                        </a:rPr>
                        <a:t>Standard</a:t>
                      </a:r>
                      <a:r>
                        <a:rPr lang="en-US" sz="2000" baseline="0" dirty="0" smtClean="0">
                          <a:latin typeface="Times New Roman" pitchFamily="18" charset="0"/>
                          <a:cs typeface="Times New Roman" pitchFamily="18" charset="0"/>
                        </a:rPr>
                        <a:t> Alg.</a:t>
                      </a:r>
                      <a:endParaRPr lang="en-US" sz="2000" dirty="0">
                        <a:latin typeface="Times New Roman" pitchFamily="18" charset="0"/>
                        <a:cs typeface="Times New Roman" pitchFamily="18" charset="0"/>
                      </a:endParaRPr>
                    </a:p>
                  </a:txBody>
                  <a:tcPr anchor="ctr"/>
                </a:tc>
                <a:tc>
                  <a:txBody>
                    <a:bodyPr/>
                    <a:lstStyle/>
                    <a:p>
                      <a:pPr algn="ctr"/>
                      <a:r>
                        <a:rPr lang="en-US" sz="2000" dirty="0" smtClean="0">
                          <a:latin typeface="Times New Roman" pitchFamily="18" charset="0"/>
                          <a:cs typeface="Times New Roman" pitchFamily="18" charset="0"/>
                        </a:rPr>
                        <a:t>CA-CG with PA1</a:t>
                      </a:r>
                      <a:endParaRPr lang="en-US" sz="2000" dirty="0">
                        <a:latin typeface="Times New Roman" pitchFamily="18" charset="0"/>
                        <a:cs typeface="Times New Roman" pitchFamily="18" charset="0"/>
                      </a:endParaRPr>
                    </a:p>
                  </a:txBody>
                  <a:tcPr anchor="ctr"/>
                </a:tc>
              </a:tr>
              <a:tr h="1419246">
                <a:tc>
                  <a:txBody>
                    <a:bodyPr/>
                    <a:lstStyle/>
                    <a:p>
                      <a:pPr algn="ctr"/>
                      <a:r>
                        <a:rPr lang="en-US" sz="2000" dirty="0" smtClean="0">
                          <a:latin typeface="Times New Roman" pitchFamily="18" charset="0"/>
                          <a:cs typeface="Times New Roman" pitchFamily="18" charset="0"/>
                        </a:rPr>
                        <a:t>1D</a:t>
                      </a:r>
                      <a:r>
                        <a:rPr lang="en-US" sz="2000" baseline="0" dirty="0" smtClean="0">
                          <a:latin typeface="Times New Roman" pitchFamily="18" charset="0"/>
                          <a:cs typeface="Times New Roman" pitchFamily="18" charset="0"/>
                        </a:rPr>
                        <a:t> 3-pt stencil</a:t>
                      </a:r>
                      <a:endParaRPr lang="en-US" sz="2000" dirty="0">
                        <a:latin typeface="Times New Roman" pitchFamily="18" charset="0"/>
                        <a:cs typeface="Times New Roman" pitchFamily="18" charset="0"/>
                      </a:endParaRPr>
                    </a:p>
                  </a:txBody>
                  <a:tcPr anchor="ctr"/>
                </a:tc>
                <a:tc>
                  <a:txBody>
                    <a:bodyPr/>
                    <a:lstStyle/>
                    <a:p>
                      <a:pPr algn="ctr"/>
                      <a:endParaRPr lang="en-US" sz="2000" dirty="0">
                        <a:latin typeface="Times New Roman" pitchFamily="18" charset="0"/>
                        <a:cs typeface="Times New Roman" pitchFamily="18" charset="0"/>
                      </a:endParaRPr>
                    </a:p>
                  </a:txBody>
                  <a:tcPr anchor="ctr"/>
                </a:tc>
                <a:tc>
                  <a:txBody>
                    <a:bodyPr/>
                    <a:lstStyle/>
                    <a:p>
                      <a:pPr algn="ctr"/>
                      <a:endParaRPr lang="en-US" sz="2000" dirty="0">
                        <a:latin typeface="Times New Roman" pitchFamily="18" charset="0"/>
                        <a:cs typeface="Times New Roman" pitchFamily="18" charset="0"/>
                      </a:endParaRPr>
                    </a:p>
                  </a:txBody>
                  <a:tcPr anchor="ctr"/>
                </a:tc>
              </a:tr>
              <a:tr h="1419246">
                <a:tc>
                  <a:txBody>
                    <a:bodyPr/>
                    <a:lstStyle/>
                    <a:p>
                      <a:pPr algn="ctr"/>
                      <a:r>
                        <a:rPr lang="en-US" sz="2000" dirty="0" smtClean="0">
                          <a:latin typeface="Times New Roman" pitchFamily="18" charset="0"/>
                          <a:cs typeface="Times New Roman" pitchFamily="18" charset="0"/>
                        </a:rPr>
                        <a:t>2D 5-pt stencil</a:t>
                      </a:r>
                      <a:endParaRPr lang="en-US" sz="2000" dirty="0">
                        <a:latin typeface="Times New Roman" pitchFamily="18" charset="0"/>
                        <a:cs typeface="Times New Roman" pitchFamily="18" charset="0"/>
                      </a:endParaRPr>
                    </a:p>
                  </a:txBody>
                  <a:tcPr anchor="ctr"/>
                </a:tc>
                <a:tc>
                  <a:txBody>
                    <a:bodyPr/>
                    <a:lstStyle/>
                    <a:p>
                      <a:pPr algn="ctr"/>
                      <a:endParaRPr lang="en-US" sz="2000" dirty="0">
                        <a:latin typeface="Times New Roman" pitchFamily="18" charset="0"/>
                        <a:cs typeface="Times New Roman" pitchFamily="18" charset="0"/>
                      </a:endParaRPr>
                    </a:p>
                  </a:txBody>
                  <a:tcPr anchor="ctr"/>
                </a:tc>
                <a:tc>
                  <a:txBody>
                    <a:bodyPr/>
                    <a:lstStyle/>
                    <a:p>
                      <a:pPr algn="ctr"/>
                      <a:endParaRPr lang="en-US" sz="2000" dirty="0">
                        <a:latin typeface="Times New Roman" pitchFamily="18" charset="0"/>
                        <a:cs typeface="Times New Roman" pitchFamily="18" charset="0"/>
                      </a:endParaRPr>
                    </a:p>
                  </a:txBody>
                  <a:tcPr anchor="ctr"/>
                </a:tc>
              </a:tr>
              <a:tr h="1419246">
                <a:tc>
                  <a:txBody>
                    <a:bodyPr/>
                    <a:lstStyle/>
                    <a:p>
                      <a:pPr algn="ctr"/>
                      <a:r>
                        <a:rPr lang="en-US" sz="2000" dirty="0" smtClean="0">
                          <a:latin typeface="Times New Roman" pitchFamily="18" charset="0"/>
                          <a:cs typeface="Times New Roman" pitchFamily="18" charset="0"/>
                        </a:rPr>
                        <a:t>3D 7</a:t>
                      </a:r>
                      <a:r>
                        <a:rPr lang="en-US" sz="2000" baseline="0" dirty="0" smtClean="0">
                          <a:latin typeface="Times New Roman" pitchFamily="18" charset="0"/>
                          <a:cs typeface="Times New Roman" pitchFamily="18" charset="0"/>
                        </a:rPr>
                        <a:t>-pt stencil</a:t>
                      </a:r>
                      <a:endParaRPr lang="en-US" sz="2000" dirty="0">
                        <a:latin typeface="Times New Roman" pitchFamily="18" charset="0"/>
                        <a:cs typeface="Times New Roman" pitchFamily="18" charset="0"/>
                      </a:endParaRPr>
                    </a:p>
                  </a:txBody>
                  <a:tcPr anchor="ctr"/>
                </a:tc>
                <a:tc>
                  <a:txBody>
                    <a:bodyPr/>
                    <a:lstStyle/>
                    <a:p>
                      <a:pPr algn="ctr"/>
                      <a:endParaRPr lang="en-US" sz="2000">
                        <a:latin typeface="Times New Roman" pitchFamily="18" charset="0"/>
                        <a:cs typeface="Times New Roman" pitchFamily="18" charset="0"/>
                      </a:endParaRPr>
                    </a:p>
                  </a:txBody>
                  <a:tcPr anchor="ctr"/>
                </a:tc>
                <a:tc>
                  <a:txBody>
                    <a:bodyPr/>
                    <a:lstStyle/>
                    <a:p>
                      <a:pPr algn="ctr"/>
                      <a:endParaRPr lang="en-US" sz="2000" dirty="0">
                        <a:latin typeface="Times New Roman" pitchFamily="18" charset="0"/>
                        <a:cs typeface="Times New Roman" pitchFamily="18" charset="0"/>
                      </a:endParaRPr>
                    </a:p>
                  </a:txBody>
                  <a:tcPr anchor="ctr"/>
                </a:tc>
              </a:tr>
            </a:tbl>
          </a:graphicData>
        </a:graphic>
      </p:graphicFrame>
      <p:pic>
        <p:nvPicPr>
          <p:cNvPr id="307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282440" y="2381557"/>
            <a:ext cx="1231546" cy="5427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5"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733799" y="2933700"/>
            <a:ext cx="1841147" cy="606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370320" y="2337645"/>
            <a:ext cx="1231546" cy="5427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6" name="Picture 4"/>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769520" y="2924272"/>
            <a:ext cx="1884506" cy="6681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7" name="Picture 5"/>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106947" y="3733800"/>
            <a:ext cx="1437519" cy="5989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7" name="Picture 5"/>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164348" y="3733801"/>
            <a:ext cx="1437517" cy="5989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9" name="Picture 7"/>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779519" y="4381802"/>
            <a:ext cx="1825907" cy="653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80" name="Picture 8"/>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978816" y="4401929"/>
            <a:ext cx="1623049" cy="5934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82" name="Picture 10"/>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3962400" y="5181600"/>
            <a:ext cx="1598736" cy="586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3" name="Picture 10"/>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5940943" y="5169807"/>
            <a:ext cx="1630909" cy="5978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83" name="Picture 11"/>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5765221" y="5767613"/>
            <a:ext cx="1859738" cy="6699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84" name="Picture 12"/>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3714201" y="5767613"/>
            <a:ext cx="1852892" cy="6633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83052678"/>
      </p:ext>
    </p:extLst>
  </p:cSld>
  <p:clrMapOvr>
    <a:masterClrMapping/>
  </p:clrMapOvr>
  <p:timing>
    <p:tnLst>
      <p:par>
        <p:cTn xmlns:p14="http://schemas.microsoft.com/office/powerpoint/2010/mai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itchFamily="18" charset="0"/>
                <a:cs typeface="Times New Roman" pitchFamily="18" charset="0"/>
              </a:rPr>
              <a:t>Weak Scaling</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lnSpcReduction="10000"/>
          </a:bodyPr>
          <a:lstStyle/>
          <a:p>
            <a:r>
              <a:rPr lang="en-US" dirty="0" smtClean="0">
                <a:latin typeface="Times New Roman" pitchFamily="18" charset="0"/>
                <a:cs typeface="Times New Roman" pitchFamily="18" charset="0"/>
              </a:rPr>
              <a:t>Change p to x*p, n to x^(1/d)*n</a:t>
            </a:r>
          </a:p>
          <a:p>
            <a:pPr lvl="1"/>
            <a:r>
              <a:rPr lang="en-US" dirty="0" smtClean="0">
                <a:latin typeface="Times New Roman" pitchFamily="18" charset="0"/>
                <a:cs typeface="Times New Roman" pitchFamily="18" charset="0"/>
              </a:rPr>
              <a:t>d = {1, 2, 3} for 1D, 2D, and 3D mesh</a:t>
            </a:r>
          </a:p>
          <a:p>
            <a:endParaRPr lang="en-US"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Bandwidth</a:t>
            </a:r>
          </a:p>
          <a:p>
            <a:pPr lvl="1"/>
            <a:r>
              <a:rPr lang="en-US" dirty="0" smtClean="0">
                <a:latin typeface="Times New Roman" pitchFamily="18" charset="0"/>
                <a:cs typeface="Times New Roman" pitchFamily="18" charset="0"/>
              </a:rPr>
              <a:t>Perfect weak scaling for 1D, 2D, and 3D</a:t>
            </a:r>
          </a:p>
          <a:p>
            <a:r>
              <a:rPr lang="en-US" dirty="0" smtClean="0">
                <a:latin typeface="Times New Roman" pitchFamily="18" charset="0"/>
                <a:cs typeface="Times New Roman" pitchFamily="18" charset="0"/>
              </a:rPr>
              <a:t>Latency</a:t>
            </a:r>
          </a:p>
          <a:p>
            <a:pPr lvl="1"/>
            <a:r>
              <a:rPr lang="en-US" dirty="0" smtClean="0">
                <a:latin typeface="Times New Roman" pitchFamily="18" charset="0"/>
                <a:cs typeface="Times New Roman" pitchFamily="18" charset="0"/>
              </a:rPr>
              <a:t>Perfect weak scaling for 1D, 2D, and 3D if you ignore the log(</a:t>
            </a:r>
            <a:r>
              <a:rPr lang="en-US" dirty="0" err="1" smtClean="0">
                <a:latin typeface="Times New Roman" pitchFamily="18" charset="0"/>
                <a:cs typeface="Times New Roman" pitchFamily="18" charset="0"/>
              </a:rPr>
              <a:t>xp</a:t>
            </a:r>
            <a:r>
              <a:rPr lang="en-US" dirty="0" smtClean="0">
                <a:latin typeface="Times New Roman" pitchFamily="18" charset="0"/>
                <a:cs typeface="Times New Roman" pitchFamily="18" charset="0"/>
              </a:rPr>
              <a:t>) factor in the denominator</a:t>
            </a:r>
          </a:p>
          <a:p>
            <a:pPr lvl="2"/>
            <a:r>
              <a:rPr lang="en-US" dirty="0" smtClean="0">
                <a:latin typeface="Times New Roman" pitchFamily="18" charset="0"/>
                <a:cs typeface="Times New Roman" pitchFamily="18" charset="0"/>
              </a:rPr>
              <a:t>Makes constraint on alpha harder to satisfy</a:t>
            </a: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996231081"/>
      </p:ext>
    </p:extLst>
  </p:cSld>
  <p:clrMapOvr>
    <a:masterClrMapping/>
  </p:clrMapOvr>
  <p:timing>
    <p:tnLst>
      <p:par>
        <p:cTn xmlns:p14="http://schemas.microsoft.com/office/powerpoint/2010/mai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itchFamily="18" charset="0"/>
                <a:cs typeface="Times New Roman" pitchFamily="18" charset="0"/>
              </a:rPr>
              <a:t>Performance Model Assumptions</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p:txBody>
          <a:bodyPr/>
          <a:lstStyle/>
          <a:p>
            <a:r>
              <a:rPr lang="en-US" dirty="0" smtClean="0">
                <a:latin typeface="Times New Roman" pitchFamily="18" charset="0"/>
                <a:cs typeface="Times New Roman" pitchFamily="18" charset="0"/>
              </a:rPr>
              <a:t>Plot for Parallel Algorithm for 1D 3-pt stencil</a:t>
            </a:r>
          </a:p>
          <a:p>
            <a:r>
              <a:rPr lang="en-US" dirty="0" err="1" smtClean="0">
                <a:latin typeface="Times New Roman" pitchFamily="18" charset="0"/>
                <a:cs typeface="Times New Roman" pitchFamily="18" charset="0"/>
              </a:rPr>
              <a:t>Exascale</a:t>
            </a:r>
            <a:r>
              <a:rPr lang="en-US" dirty="0" smtClean="0">
                <a:latin typeface="Times New Roman" pitchFamily="18" charset="0"/>
                <a:cs typeface="Times New Roman" pitchFamily="18" charset="0"/>
              </a:rPr>
              <a:t> machine parameters:</a:t>
            </a:r>
          </a:p>
          <a:p>
            <a:pPr lvl="1"/>
            <a:r>
              <a:rPr lang="en-US" dirty="0" smtClean="0">
                <a:latin typeface="Times New Roman" pitchFamily="18" charset="0"/>
                <a:cs typeface="Times New Roman" pitchFamily="18" charset="0"/>
              </a:rPr>
              <a:t>100 GB/sec interconnect BW</a:t>
            </a:r>
          </a:p>
          <a:p>
            <a:pPr lvl="1"/>
            <a:r>
              <a:rPr lang="en-US" dirty="0" smtClean="0">
                <a:latin typeface="Times New Roman" pitchFamily="18" charset="0"/>
                <a:cs typeface="Times New Roman" pitchFamily="18" charset="0"/>
              </a:rPr>
              <a:t>1 microsecond network latency</a:t>
            </a:r>
          </a:p>
          <a:p>
            <a:pPr lvl="1"/>
            <a:r>
              <a:rPr lang="en-US" dirty="0" smtClean="0">
                <a:latin typeface="Times New Roman" pitchFamily="18" charset="0"/>
                <a:cs typeface="Times New Roman" pitchFamily="18" charset="0"/>
              </a:rPr>
              <a:t>2^28 cores</a:t>
            </a:r>
          </a:p>
          <a:p>
            <a:pPr lvl="1"/>
            <a:r>
              <a:rPr lang="en-US" dirty="0" smtClean="0">
                <a:latin typeface="Times New Roman" pitchFamily="18" charset="0"/>
                <a:cs typeface="Times New Roman" pitchFamily="18" charset="0"/>
              </a:rPr>
              <a:t>.1 ns per flop (per core)</a:t>
            </a: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2347910079"/>
      </p:ext>
    </p:extLst>
  </p:cSld>
  <p:clrMapOvr>
    <a:masterClrMapping/>
  </p:clrMapOvr>
  <p:timing>
    <p:tnLst>
      <p:par>
        <p:cTn xmlns:p14="http://schemas.microsoft.com/office/powerpoint/2010/mai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3" descr="C:\Users\ecc2z\Desktop\CGPerfmodel.bmp"/>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0959" y="60960"/>
            <a:ext cx="9006841" cy="66868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37662079"/>
      </p:ext>
    </p:extLst>
  </p:cSld>
  <p:clrMapOvr>
    <a:masterClrMapping/>
  </p:clrMapOvr>
  <p:timing>
    <p:tnLst>
      <p:par>
        <p:cTn xmlns:p14="http://schemas.microsoft.com/office/powerpoint/2010/mai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itchFamily="18" charset="0"/>
                <a:cs typeface="Times New Roman" pitchFamily="18" charset="0"/>
              </a:rPr>
              <a:t>Observations</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a:xfrm>
            <a:off x="457200" y="1600200"/>
            <a:ext cx="8229600" cy="5029200"/>
          </a:xfrm>
        </p:spPr>
        <p:txBody>
          <a:bodyPr>
            <a:normAutofit/>
          </a:bodyPr>
          <a:lstStyle/>
          <a:p>
            <a:r>
              <a:rPr lang="en-US" sz="2800" dirty="0" smtClean="0">
                <a:latin typeface="Times New Roman" pitchFamily="18" charset="0"/>
                <a:cs typeface="Times New Roman" pitchFamily="18" charset="0"/>
              </a:rPr>
              <a:t>s =1 are the constraints for the standard algorithm</a:t>
            </a:r>
          </a:p>
          <a:p>
            <a:endParaRPr lang="en-US" sz="2800" dirty="0" smtClean="0">
              <a:latin typeface="Times New Roman" pitchFamily="18" charset="0"/>
              <a:cs typeface="Times New Roman" pitchFamily="18" charset="0"/>
            </a:endParaRPr>
          </a:p>
          <a:p>
            <a:pPr lvl="1"/>
            <a:r>
              <a:rPr lang="en-US" sz="2400" dirty="0" smtClean="0">
                <a:latin typeface="Times New Roman" pitchFamily="18" charset="0"/>
                <a:cs typeface="Times New Roman" pitchFamily="18" charset="0"/>
              </a:rPr>
              <a:t>Standard algorithm is communication bound if n &lt;~ 10</a:t>
            </a:r>
            <a:r>
              <a:rPr lang="en-US" sz="2400" baseline="30000" dirty="0" smtClean="0">
                <a:latin typeface="Times New Roman" pitchFamily="18" charset="0"/>
                <a:cs typeface="Times New Roman" pitchFamily="18" charset="0"/>
              </a:rPr>
              <a:t>12</a:t>
            </a:r>
          </a:p>
          <a:p>
            <a:pPr lvl="1"/>
            <a:endParaRPr lang="en-US" sz="2400" dirty="0" smtClean="0">
              <a:latin typeface="Times New Roman" pitchFamily="18" charset="0"/>
              <a:cs typeface="Times New Roman" pitchFamily="18" charset="0"/>
            </a:endParaRPr>
          </a:p>
          <a:p>
            <a:r>
              <a:rPr lang="en-US" sz="2800" dirty="0" smtClean="0">
                <a:latin typeface="Times New Roman" pitchFamily="18" charset="0"/>
                <a:cs typeface="Times New Roman" pitchFamily="18" charset="0"/>
              </a:rPr>
              <a:t>For 10</a:t>
            </a:r>
            <a:r>
              <a:rPr lang="en-US" sz="2800" baseline="30000" dirty="0" smtClean="0">
                <a:latin typeface="Times New Roman" pitchFamily="18" charset="0"/>
                <a:cs typeface="Times New Roman" pitchFamily="18" charset="0"/>
              </a:rPr>
              <a:t>8</a:t>
            </a:r>
            <a:r>
              <a:rPr lang="en-US" sz="2800" dirty="0" smtClean="0">
                <a:latin typeface="Times New Roman" pitchFamily="18" charset="0"/>
                <a:cs typeface="Times New Roman" pitchFamily="18" charset="0"/>
              </a:rPr>
              <a:t> &lt;~ n &lt;~ 10</a:t>
            </a:r>
            <a:r>
              <a:rPr lang="en-US" sz="2800" baseline="30000" dirty="0" smtClean="0">
                <a:latin typeface="Times New Roman" pitchFamily="18" charset="0"/>
                <a:cs typeface="Times New Roman" pitchFamily="18" charset="0"/>
              </a:rPr>
              <a:t>12</a:t>
            </a:r>
            <a:r>
              <a:rPr lang="en-US" sz="2800" dirty="0" smtClean="0">
                <a:latin typeface="Times New Roman" pitchFamily="18" charset="0"/>
                <a:cs typeface="Times New Roman" pitchFamily="18" charset="0"/>
              </a:rPr>
              <a:t>, we can theoretically increase s such that the algorithm is no longer communication bound </a:t>
            </a:r>
          </a:p>
          <a:p>
            <a:endParaRPr lang="en-US" sz="2800" dirty="0" smtClean="0">
              <a:latin typeface="Times New Roman" pitchFamily="18" charset="0"/>
              <a:cs typeface="Times New Roman" pitchFamily="18" charset="0"/>
            </a:endParaRPr>
          </a:p>
          <a:p>
            <a:pPr lvl="1"/>
            <a:r>
              <a:rPr lang="en-US" sz="2400" dirty="0" smtClean="0">
                <a:latin typeface="Times New Roman" pitchFamily="18" charset="0"/>
                <a:cs typeface="Times New Roman" pitchFamily="18" charset="0"/>
              </a:rPr>
              <a:t>In practice, high s values have some complications due to stability, but even s ~ 10 can remove communication bottleneck for matrix sizes ~10</a:t>
            </a:r>
            <a:r>
              <a:rPr lang="en-US" sz="2400" baseline="30000" dirty="0" smtClean="0">
                <a:latin typeface="Times New Roman" pitchFamily="18" charset="0"/>
                <a:cs typeface="Times New Roman" pitchFamily="18" charset="0"/>
              </a:rPr>
              <a:t>10</a:t>
            </a:r>
            <a:r>
              <a:rPr lang="en-US" sz="2400" dirty="0" smtClean="0">
                <a:latin typeface="Times New Roman" pitchFamily="18" charset="0"/>
                <a:cs typeface="Times New Roman" pitchFamily="18" charset="0"/>
              </a:rPr>
              <a:t> </a:t>
            </a:r>
          </a:p>
          <a:p>
            <a:pPr lvl="1"/>
            <a:endParaRPr lang="en-US" sz="2400" dirty="0" smtClean="0">
              <a:latin typeface="Times New Roman" pitchFamily="18" charset="0"/>
              <a:cs typeface="Times New Roman" pitchFamily="18" charset="0"/>
            </a:endParaRPr>
          </a:p>
          <a:p>
            <a:pPr lvl="1"/>
            <a:endParaRPr lang="en-US" sz="2400" dirty="0">
              <a:latin typeface="Times New Roman" pitchFamily="18" charset="0"/>
              <a:cs typeface="Times New Roman" pitchFamily="18" charset="0"/>
            </a:endParaRPr>
          </a:p>
        </p:txBody>
      </p:sp>
    </p:spTree>
    <p:extLst>
      <p:ext uri="{BB962C8B-B14F-4D97-AF65-F5344CB8AC3E}">
        <p14:creationId xmlns:p14="http://schemas.microsoft.com/office/powerpoint/2010/main" val="3778522110"/>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Collaborators and Supporters</a:t>
            </a:r>
            <a:endParaRPr lang="en-US" dirty="0"/>
          </a:p>
        </p:txBody>
      </p:sp>
      <p:sp>
        <p:nvSpPr>
          <p:cNvPr id="3" name="Content Placeholder 2"/>
          <p:cNvSpPr>
            <a:spLocks noGrp="1"/>
          </p:cNvSpPr>
          <p:nvPr>
            <p:ph idx="1"/>
          </p:nvPr>
        </p:nvSpPr>
        <p:spPr>
          <a:xfrm>
            <a:off x="457200" y="1600200"/>
            <a:ext cx="8229600" cy="4876800"/>
          </a:xfrm>
        </p:spPr>
        <p:txBody>
          <a:bodyPr>
            <a:normAutofit fontScale="85000" lnSpcReduction="20000"/>
          </a:bodyPr>
          <a:lstStyle/>
          <a:p>
            <a:r>
              <a:rPr lang="en-US" sz="3600" dirty="0" smtClean="0"/>
              <a:t>Collaborators</a:t>
            </a:r>
          </a:p>
          <a:p>
            <a:pPr lvl="1"/>
            <a:r>
              <a:rPr lang="en-US" sz="2400" dirty="0" smtClean="0"/>
              <a:t>Katherine </a:t>
            </a:r>
            <a:r>
              <a:rPr lang="en-US" sz="2400" dirty="0" err="1" smtClean="0"/>
              <a:t>Yelick</a:t>
            </a:r>
            <a:r>
              <a:rPr lang="en-US" sz="2400" dirty="0" smtClean="0"/>
              <a:t> (UCB &amp; LBNL) Michael Anderson (UCB), Grey Ballard (UCB), Jong-Ho </a:t>
            </a:r>
            <a:r>
              <a:rPr lang="en-US" sz="2400" dirty="0" err="1" smtClean="0"/>
              <a:t>Byun</a:t>
            </a:r>
            <a:r>
              <a:rPr lang="en-US" sz="2400" smtClean="0"/>
              <a:t> (UCB),  </a:t>
            </a:r>
            <a:r>
              <a:rPr lang="en-US" sz="2400" dirty="0" smtClean="0"/>
              <a:t>Erin Carson (UCB), Jack </a:t>
            </a:r>
            <a:r>
              <a:rPr lang="en-US" sz="2400" dirty="0" err="1" smtClean="0"/>
              <a:t>Dongarra</a:t>
            </a:r>
            <a:r>
              <a:rPr lang="en-US" sz="2400" dirty="0" smtClean="0"/>
              <a:t> (UTK),</a:t>
            </a:r>
            <a:r>
              <a:rPr lang="en-US" sz="2400" dirty="0"/>
              <a:t> </a:t>
            </a:r>
            <a:r>
              <a:rPr lang="en-US" sz="2400" dirty="0" err="1" smtClean="0"/>
              <a:t>Ioana</a:t>
            </a:r>
            <a:r>
              <a:rPr lang="en-US" sz="2400" dirty="0" smtClean="0"/>
              <a:t> </a:t>
            </a:r>
            <a:r>
              <a:rPr lang="en-US" sz="2400" dirty="0" err="1" smtClean="0"/>
              <a:t>Dumitriu</a:t>
            </a:r>
            <a:r>
              <a:rPr lang="en-US" sz="2400" dirty="0" smtClean="0"/>
              <a:t> (U. Wash), Laura </a:t>
            </a:r>
            <a:r>
              <a:rPr lang="en-US" sz="2400" dirty="0" err="1" smtClean="0"/>
              <a:t>Grigori</a:t>
            </a:r>
            <a:r>
              <a:rPr lang="en-US" sz="2400" dirty="0" smtClean="0"/>
              <a:t>  (INRIA), Ming </a:t>
            </a:r>
            <a:r>
              <a:rPr lang="en-US" sz="2400" dirty="0" err="1" smtClean="0"/>
              <a:t>Gu</a:t>
            </a:r>
            <a:r>
              <a:rPr lang="en-US" sz="2400" dirty="0" smtClean="0"/>
              <a:t> (UCB),   Mark </a:t>
            </a:r>
            <a:r>
              <a:rPr lang="en-US" sz="2400" dirty="0" err="1" smtClean="0"/>
              <a:t>Hoemmen</a:t>
            </a:r>
            <a:r>
              <a:rPr lang="en-US" sz="2400" dirty="0" smtClean="0"/>
              <a:t> (Sandia NL), Olga Holtz (UCB &amp; TU Berlin),   Kurt </a:t>
            </a:r>
            <a:r>
              <a:rPr lang="en-US" sz="2400" dirty="0" err="1" smtClean="0"/>
              <a:t>Keutzer</a:t>
            </a:r>
            <a:r>
              <a:rPr lang="en-US" sz="2400" dirty="0" smtClean="0"/>
              <a:t> (UCB), Nick Knight (UCB), </a:t>
            </a:r>
            <a:r>
              <a:rPr lang="en-US" sz="2400" dirty="0" err="1" smtClean="0"/>
              <a:t>Julien</a:t>
            </a:r>
            <a:r>
              <a:rPr lang="en-US" sz="2400" dirty="0" smtClean="0"/>
              <a:t> </a:t>
            </a:r>
            <a:r>
              <a:rPr lang="en-US" sz="2400" dirty="0" err="1" smtClean="0"/>
              <a:t>Langou</a:t>
            </a:r>
            <a:r>
              <a:rPr lang="en-US" sz="2400" dirty="0" smtClean="0"/>
              <a:t>, (U </a:t>
            </a:r>
            <a:r>
              <a:rPr lang="en-US" sz="2400" dirty="0"/>
              <a:t>C</a:t>
            </a:r>
            <a:r>
              <a:rPr lang="en-US" sz="2400" dirty="0" smtClean="0"/>
              <a:t>olo. Denver), </a:t>
            </a:r>
            <a:r>
              <a:rPr lang="en-US" sz="2400" dirty="0" err="1" smtClean="0"/>
              <a:t>Marghoob</a:t>
            </a:r>
            <a:r>
              <a:rPr lang="en-US" sz="2400" dirty="0" smtClean="0"/>
              <a:t> </a:t>
            </a:r>
            <a:r>
              <a:rPr lang="en-US" sz="2400" dirty="0" err="1" smtClean="0"/>
              <a:t>Mohiyuddin</a:t>
            </a:r>
            <a:r>
              <a:rPr lang="en-US" sz="2400" dirty="0" smtClean="0"/>
              <a:t> (UCB), Hong </a:t>
            </a:r>
            <a:r>
              <a:rPr lang="en-US" sz="2400" dirty="0" err="1" smtClean="0"/>
              <a:t>Diep</a:t>
            </a:r>
            <a:r>
              <a:rPr lang="en-US" sz="2400" dirty="0" smtClean="0"/>
              <a:t> Nguyen (UCB), </a:t>
            </a:r>
            <a:r>
              <a:rPr lang="en-US" sz="2400" dirty="0" err="1" smtClean="0"/>
              <a:t>Oded</a:t>
            </a:r>
            <a:r>
              <a:rPr lang="en-US" sz="2400" dirty="0" smtClean="0"/>
              <a:t> Schwartz  (TU Berlin), Edgar </a:t>
            </a:r>
            <a:r>
              <a:rPr lang="en-US" sz="2400" dirty="0" err="1" smtClean="0"/>
              <a:t>Solomonik</a:t>
            </a:r>
            <a:r>
              <a:rPr lang="en-US" sz="2400" dirty="0" smtClean="0"/>
              <a:t> (UCB), Michelle </a:t>
            </a:r>
            <a:r>
              <a:rPr lang="en-US" sz="2400" dirty="0" err="1" smtClean="0"/>
              <a:t>Strout</a:t>
            </a:r>
            <a:r>
              <a:rPr lang="en-US" sz="2400" dirty="0" smtClean="0"/>
              <a:t> (Colo. SU), </a:t>
            </a:r>
            <a:r>
              <a:rPr lang="en-US" sz="2400" dirty="0" err="1" smtClean="0"/>
              <a:t>Vasily</a:t>
            </a:r>
            <a:r>
              <a:rPr lang="en-US" sz="2400" dirty="0" smtClean="0"/>
              <a:t> </a:t>
            </a:r>
            <a:r>
              <a:rPr lang="en-US" sz="2400" dirty="0" err="1" smtClean="0"/>
              <a:t>Volkov</a:t>
            </a:r>
            <a:r>
              <a:rPr lang="en-US" sz="2400" dirty="0" smtClean="0"/>
              <a:t> (UCB), Sam Williams (LBNL), </a:t>
            </a:r>
            <a:r>
              <a:rPr lang="en-US" sz="2400" dirty="0" err="1" smtClean="0"/>
              <a:t>Hua</a:t>
            </a:r>
            <a:r>
              <a:rPr lang="en-US" sz="2400" dirty="0" smtClean="0"/>
              <a:t> Xiang (INRIA)</a:t>
            </a:r>
          </a:p>
          <a:p>
            <a:pPr lvl="1"/>
            <a:r>
              <a:rPr lang="en-US" sz="2400" dirty="0"/>
              <a:t>O</a:t>
            </a:r>
            <a:r>
              <a:rPr lang="en-US" sz="2400" dirty="0" smtClean="0"/>
              <a:t>ther members of the </a:t>
            </a:r>
            <a:r>
              <a:rPr lang="en-US" sz="2400" dirty="0" err="1" smtClean="0"/>
              <a:t>ParLab</a:t>
            </a:r>
            <a:r>
              <a:rPr lang="en-US" sz="2400" dirty="0" smtClean="0"/>
              <a:t>, BEBOP, CACHE, EASI, MAGMA, PLASMA, TOPS projects</a:t>
            </a:r>
          </a:p>
          <a:p>
            <a:r>
              <a:rPr lang="en-US" dirty="0" smtClean="0"/>
              <a:t>Supporters</a:t>
            </a:r>
          </a:p>
          <a:p>
            <a:pPr lvl="1"/>
            <a:r>
              <a:rPr lang="en-US" dirty="0" smtClean="0"/>
              <a:t>NSF, DOE, UC Discovery</a:t>
            </a:r>
          </a:p>
          <a:p>
            <a:pPr lvl="1"/>
            <a:r>
              <a:rPr lang="en-US" dirty="0" smtClean="0"/>
              <a:t>Intel, Microsoft, </a:t>
            </a:r>
            <a:r>
              <a:rPr lang="en-US" dirty="0" err="1" smtClean="0"/>
              <a:t>Mathworks</a:t>
            </a:r>
            <a:r>
              <a:rPr lang="en-US" dirty="0" smtClean="0"/>
              <a:t>, National Instruments, NEC, Nokia, NVIDIA, Samsung, Sun</a:t>
            </a:r>
          </a:p>
        </p:txBody>
      </p:sp>
    </p:spTree>
  </p:cSld>
  <p:clrMapOvr>
    <a:masterClrMapping/>
  </p:clrMapOvr>
  <p:timing>
    <p:tnLst>
      <p:par>
        <p:cTn xmlns:p14="http://schemas.microsoft.com/office/powerpoint/2010/mai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i="1" dirty="0" smtClean="0"/>
              <a:t>Example Place Holder</a:t>
            </a:r>
            <a:endParaRPr lang="en-US" i="1" dirty="0"/>
          </a:p>
        </p:txBody>
      </p:sp>
      <p:sp>
        <p:nvSpPr>
          <p:cNvPr id="3" name="Content Placeholder 2"/>
          <p:cNvSpPr>
            <a:spLocks noGrp="1"/>
          </p:cNvSpPr>
          <p:nvPr>
            <p:ph idx="1"/>
          </p:nvPr>
        </p:nvSpPr>
        <p:spPr/>
        <p:txBody>
          <a:bodyPr>
            <a:normAutofit fontScale="92500" lnSpcReduction="20000"/>
          </a:bodyPr>
          <a:lstStyle/>
          <a:p>
            <a:r>
              <a:rPr lang="en-US" i="1" dirty="0" smtClean="0"/>
              <a:t>I would like to insert values into these formulas for current/future architectures, and plot them over time. For example, plotting </a:t>
            </a:r>
            <a:r>
              <a:rPr lang="en-US" dirty="0" smtClean="0">
                <a:sym typeface="Symbol"/>
              </a:rPr>
              <a:t> M</a:t>
            </a:r>
            <a:r>
              <a:rPr lang="en-US" baseline="30000" dirty="0" smtClean="0">
                <a:sym typeface="Symbol"/>
              </a:rPr>
              <a:t>1/2</a:t>
            </a:r>
            <a:r>
              <a:rPr lang="en-US" dirty="0" smtClean="0">
                <a:sym typeface="Symbol"/>
              </a:rPr>
              <a:t> /   </a:t>
            </a:r>
            <a:r>
              <a:rPr lang="en-US" i="1" dirty="0" smtClean="0">
                <a:sym typeface="Symbol"/>
              </a:rPr>
              <a:t>over time, and comparing the ratio to 1, will tell use whether architectures are becoming more or less communication bound.</a:t>
            </a:r>
            <a:endParaRPr lang="en-US" i="1" dirty="0" smtClean="0"/>
          </a:p>
          <a:p>
            <a:r>
              <a:rPr lang="en-US" i="1" dirty="0" smtClean="0"/>
              <a:t>Does anyone have the data to do this easily for some current/future architectures? Ideally a spread sheet, one row per platform and columns for speeds and sizes of various components for difference levels of memory hierarchy, etc.</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xmlns:p14="http://schemas.microsoft.com/office/powerpoint/2010/mai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Reading List Topics (so far)</a:t>
            </a:r>
            <a:endParaRPr lang="en-US" dirty="0"/>
          </a:p>
        </p:txBody>
      </p:sp>
      <p:sp>
        <p:nvSpPr>
          <p:cNvPr id="4" name="Rectangle 3"/>
          <p:cNvSpPr txBox="1">
            <a:spLocks noChangeArrowheads="1"/>
          </p:cNvSpPr>
          <p:nvPr/>
        </p:nvSpPr>
        <p:spPr>
          <a:xfrm>
            <a:off x="152400" y="1371600"/>
            <a:ext cx="8839200" cy="5181600"/>
          </a:xfrm>
          <a:prstGeom prst="rect">
            <a:avLst/>
          </a:prstGeom>
          <a:noFill/>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sz="2800" dirty="0" smtClean="0"/>
              <a:t>Communication lower bounds for linear algebra</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800" b="0" i="0" u="none" strike="noStrike" kern="1200" cap="none" spc="0" normalizeH="0" baseline="0" noProof="0" dirty="0" smtClean="0">
                <a:ln>
                  <a:noFill/>
                </a:ln>
                <a:solidFill>
                  <a:schemeClr val="tx1"/>
                </a:solidFill>
                <a:effectLst/>
                <a:uLnTx/>
                <a:uFillTx/>
              </a:rPr>
              <a:t>Communication</a:t>
            </a:r>
            <a:r>
              <a:rPr kumimoji="0" lang="en-US" sz="2800" b="0" i="0" u="none" strike="noStrike" kern="1200" cap="none" spc="0" normalizeH="0" noProof="0" dirty="0" smtClean="0">
                <a:ln>
                  <a:noFill/>
                </a:ln>
                <a:solidFill>
                  <a:schemeClr val="tx1"/>
                </a:solidFill>
                <a:effectLst/>
                <a:uLnTx/>
                <a:uFillTx/>
              </a:rPr>
              <a:t> avoiding algorithms for linear algebra</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sz="2800" dirty="0" smtClean="0"/>
              <a:t>Fast Fourier Transform</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800" b="0" i="0" u="none" strike="noStrike" kern="1200" cap="none" spc="0" normalizeH="0" noProof="0" dirty="0" smtClean="0">
                <a:ln>
                  <a:noFill/>
                </a:ln>
                <a:solidFill>
                  <a:schemeClr val="tx1"/>
                </a:solidFill>
                <a:effectLst/>
                <a:uLnTx/>
                <a:uFillTx/>
              </a:rPr>
              <a:t>Graph Algorithms</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sz="2800" dirty="0" smtClean="0"/>
              <a:t>Sorting </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sz="2800" dirty="0" smtClean="0"/>
              <a:t>Software Generation</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800" b="0" i="0" u="none" strike="noStrike" kern="1200" cap="none" spc="0" normalizeH="0" noProof="0" dirty="0" smtClean="0">
                <a:ln>
                  <a:noFill/>
                </a:ln>
                <a:solidFill>
                  <a:schemeClr val="tx1"/>
                </a:solidFill>
                <a:effectLst/>
                <a:uLnTx/>
                <a:uFillTx/>
              </a:rPr>
              <a:t>Data Structures</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sz="2800" noProof="0" dirty="0" smtClean="0"/>
              <a:t>Lower bounds for Searching</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800" b="0" i="0" u="none" strike="noStrike" kern="1200" cap="none" spc="0" normalizeH="0" dirty="0" smtClean="0">
                <a:ln>
                  <a:noFill/>
                </a:ln>
                <a:solidFill>
                  <a:schemeClr val="tx1"/>
                </a:solidFill>
                <a:effectLst/>
                <a:uLnTx/>
                <a:uFillTx/>
              </a:rPr>
              <a:t>Dynamic Programming</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sz="2800" noProof="0" dirty="0" smtClean="0"/>
              <a:t>Work stealing</a:t>
            </a:r>
            <a:endParaRPr kumimoji="0" lang="en-US" sz="2800" b="0" i="0" u="none" strike="noStrike" kern="1200" cap="none" spc="0" normalizeH="0" noProof="0" dirty="0" smtClean="0">
              <a:ln>
                <a:noFill/>
              </a:ln>
              <a:solidFill>
                <a:schemeClr val="tx1"/>
              </a:solidFill>
              <a:effectLst/>
              <a:uLnTx/>
              <a:uFillTx/>
            </a:endParaRPr>
          </a:p>
        </p:txBody>
      </p:sp>
      <p:cxnSp>
        <p:nvCxnSpPr>
          <p:cNvPr id="5" name="Straight Connector 4"/>
          <p:cNvCxnSpPr/>
          <p:nvPr/>
        </p:nvCxnSpPr>
        <p:spPr>
          <a:xfrm>
            <a:off x="381000" y="1143000"/>
            <a:ext cx="83058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74495146"/>
      </p:ext>
    </p:extLst>
  </p:cSld>
  <p:clrMapOvr>
    <a:masterClrMapping/>
  </p:clrMapOvr>
  <p:timing>
    <p:tnLst>
      <p:par>
        <p:cTn xmlns:p14="http://schemas.microsoft.com/office/powerpoint/2010/mai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0725" name="Title 1"/>
          <p:cNvSpPr>
            <a:spLocks noGrp="1"/>
          </p:cNvSpPr>
          <p:nvPr>
            <p:ph type="title"/>
          </p:nvPr>
        </p:nvSpPr>
        <p:spPr>
          <a:xfrm>
            <a:off x="779463" y="112712"/>
            <a:ext cx="7296150" cy="801688"/>
          </a:xfrm>
        </p:spPr>
        <p:txBody>
          <a:bodyPr>
            <a:noAutofit/>
          </a:bodyPr>
          <a:lstStyle/>
          <a:p>
            <a:r>
              <a:rPr lang="en-US" sz="3200" dirty="0" smtClean="0"/>
              <a:t>Are we using all the hardware resources?</a:t>
            </a:r>
          </a:p>
        </p:txBody>
      </p:sp>
      <p:sp>
        <p:nvSpPr>
          <p:cNvPr id="4" name="Slide Number Placeholder 3"/>
          <p:cNvSpPr>
            <a:spLocks noGrp="1"/>
          </p:cNvSpPr>
          <p:nvPr>
            <p:ph type="sldNum" sz="quarter" idx="11"/>
          </p:nvPr>
        </p:nvSpPr>
        <p:spPr>
          <a:xfrm>
            <a:off x="9832975" y="6400800"/>
            <a:ext cx="1905000" cy="457200"/>
          </a:xfrm>
        </p:spPr>
        <p:txBody>
          <a:bodyPr/>
          <a:lstStyle/>
          <a:p>
            <a:pPr>
              <a:defRPr/>
            </a:pPr>
            <a:fld id="{1110692E-4516-4640-ACA1-F899B3563FBA}" type="slidenum">
              <a:rPr lang="en-US" smtClean="0"/>
              <a:pPr>
                <a:defRPr/>
              </a:pPr>
              <a:t>111</a:t>
            </a:fld>
            <a:endParaRPr lang="en-US" dirty="0"/>
          </a:p>
        </p:txBody>
      </p:sp>
      <p:sp>
        <p:nvSpPr>
          <p:cNvPr id="30727" name="Rectangle 11"/>
          <p:cNvSpPr>
            <a:spLocks noChangeArrowheads="1"/>
          </p:cNvSpPr>
          <p:nvPr/>
        </p:nvSpPr>
        <p:spPr bwMode="auto">
          <a:xfrm>
            <a:off x="6796088" y="4476750"/>
            <a:ext cx="1843087" cy="282575"/>
          </a:xfrm>
          <a:prstGeom prst="rect">
            <a:avLst/>
          </a:prstGeom>
          <a:solidFill>
            <a:schemeClr val="bg1"/>
          </a:solidFill>
          <a:ln w="12700" algn="ctr">
            <a:noFill/>
            <a:round/>
            <a:headEnd type="none" w="sm" len="sm"/>
            <a:tailEnd type="none" w="sm" len="sm"/>
          </a:ln>
        </p:spPr>
        <p:txBody>
          <a:bodyPr/>
          <a:lstStyle/>
          <a:p>
            <a:pPr eaLnBrk="0" hangingPunct="0"/>
            <a:endParaRPr lang="en-US"/>
          </a:p>
        </p:txBody>
      </p:sp>
      <p:sp>
        <p:nvSpPr>
          <p:cNvPr id="30728" name="Rectangle 12"/>
          <p:cNvSpPr>
            <a:spLocks noChangeArrowheads="1"/>
          </p:cNvSpPr>
          <p:nvPr/>
        </p:nvSpPr>
        <p:spPr bwMode="auto">
          <a:xfrm>
            <a:off x="6861175" y="5118100"/>
            <a:ext cx="1843088" cy="282575"/>
          </a:xfrm>
          <a:prstGeom prst="rect">
            <a:avLst/>
          </a:prstGeom>
          <a:solidFill>
            <a:schemeClr val="bg1"/>
          </a:solidFill>
          <a:ln w="12700" algn="ctr">
            <a:noFill/>
            <a:round/>
            <a:headEnd type="none" w="sm" len="sm"/>
            <a:tailEnd type="none" w="sm" len="sm"/>
          </a:ln>
        </p:spPr>
        <p:txBody>
          <a:bodyPr/>
          <a:lstStyle/>
          <a:p>
            <a:pPr eaLnBrk="0" hangingPunct="0"/>
            <a:endParaRPr lang="en-US"/>
          </a:p>
        </p:txBody>
      </p:sp>
      <p:sp>
        <p:nvSpPr>
          <p:cNvPr id="30729" name="Rectangle 13"/>
          <p:cNvSpPr>
            <a:spLocks noChangeArrowheads="1"/>
          </p:cNvSpPr>
          <p:nvPr/>
        </p:nvSpPr>
        <p:spPr bwMode="auto">
          <a:xfrm>
            <a:off x="6778625" y="5773738"/>
            <a:ext cx="1843088" cy="280987"/>
          </a:xfrm>
          <a:prstGeom prst="rect">
            <a:avLst/>
          </a:prstGeom>
          <a:solidFill>
            <a:schemeClr val="bg1"/>
          </a:solidFill>
          <a:ln w="12700" algn="ctr">
            <a:noFill/>
            <a:round/>
            <a:headEnd type="none" w="sm" len="sm"/>
            <a:tailEnd type="none" w="sm" len="sm"/>
          </a:ln>
        </p:spPr>
        <p:txBody>
          <a:bodyPr/>
          <a:lstStyle/>
          <a:p>
            <a:pPr eaLnBrk="0" hangingPunct="0"/>
            <a:endParaRPr lang="en-US"/>
          </a:p>
        </p:txBody>
      </p:sp>
      <p:sp>
        <p:nvSpPr>
          <p:cNvPr id="30730" name="Rectangle 14"/>
          <p:cNvSpPr>
            <a:spLocks noChangeArrowheads="1"/>
          </p:cNvSpPr>
          <p:nvPr/>
        </p:nvSpPr>
        <p:spPr bwMode="auto">
          <a:xfrm>
            <a:off x="6778625" y="6400800"/>
            <a:ext cx="1843088" cy="280988"/>
          </a:xfrm>
          <a:prstGeom prst="rect">
            <a:avLst/>
          </a:prstGeom>
          <a:solidFill>
            <a:schemeClr val="bg1"/>
          </a:solidFill>
          <a:ln w="12700" algn="ctr">
            <a:noFill/>
            <a:round/>
            <a:headEnd type="none" w="sm" len="sm"/>
            <a:tailEnd type="none" w="sm" len="sm"/>
          </a:ln>
        </p:spPr>
        <p:txBody>
          <a:bodyPr/>
          <a:lstStyle/>
          <a:p>
            <a:pPr eaLnBrk="0" hangingPunct="0"/>
            <a:endParaRPr lang="en-US"/>
          </a:p>
        </p:txBody>
      </p:sp>
      <p:sp>
        <p:nvSpPr>
          <p:cNvPr id="30731" name="TextBox 7"/>
          <p:cNvSpPr txBox="1">
            <a:spLocks noChangeArrowheads="1"/>
          </p:cNvSpPr>
          <p:nvPr/>
        </p:nvSpPr>
        <p:spPr bwMode="auto">
          <a:xfrm>
            <a:off x="296103" y="1032808"/>
            <a:ext cx="9185271" cy="3416320"/>
          </a:xfrm>
          <a:prstGeom prst="rect">
            <a:avLst/>
          </a:prstGeom>
          <a:noFill/>
          <a:ln w="9525">
            <a:noFill/>
            <a:miter lim="800000"/>
            <a:headEnd/>
            <a:tailEnd/>
          </a:ln>
        </p:spPr>
        <p:txBody>
          <a:bodyPr wrap="none">
            <a:spAutoFit/>
          </a:bodyPr>
          <a:lstStyle/>
          <a:p>
            <a:pPr>
              <a:buFont typeface="Arial" pitchFamily="34" charset="0"/>
              <a:buChar char="•"/>
            </a:pPr>
            <a:r>
              <a:rPr lang="en-US" b="0" dirty="0">
                <a:solidFill>
                  <a:schemeClr val="tx1"/>
                </a:solidFill>
              </a:rPr>
              <a:t>  </a:t>
            </a:r>
            <a:r>
              <a:rPr lang="en-US" b="0" dirty="0" smtClean="0">
                <a:solidFill>
                  <a:schemeClr val="tx1"/>
                </a:solidFill>
              </a:rPr>
              <a:t> </a:t>
            </a:r>
            <a:r>
              <a:rPr lang="en-US" sz="2400" b="0" dirty="0" smtClean="0">
                <a:solidFill>
                  <a:schemeClr val="tx1"/>
                </a:solidFill>
              </a:rPr>
              <a:t>Assume </a:t>
            </a:r>
            <a:r>
              <a:rPr lang="en-US" sz="2400" b="0" dirty="0" err="1">
                <a:solidFill>
                  <a:schemeClr val="tx1"/>
                </a:solidFill>
              </a:rPr>
              <a:t>nxn</a:t>
            </a:r>
            <a:r>
              <a:rPr lang="en-US" sz="2400" b="0" dirty="0">
                <a:solidFill>
                  <a:schemeClr val="tx1"/>
                </a:solidFill>
              </a:rPr>
              <a:t> </a:t>
            </a:r>
            <a:r>
              <a:rPr lang="en-US" sz="2400" b="0" dirty="0" smtClean="0">
                <a:solidFill>
                  <a:schemeClr val="tx1"/>
                </a:solidFill>
              </a:rPr>
              <a:t>dense matrices </a:t>
            </a:r>
            <a:r>
              <a:rPr lang="en-US" sz="2400" b="0" dirty="0">
                <a:solidFill>
                  <a:schemeClr val="tx1"/>
                </a:solidFill>
              </a:rPr>
              <a:t>on P </a:t>
            </a:r>
            <a:r>
              <a:rPr lang="en-US" sz="2400" b="0" dirty="0" smtClean="0">
                <a:solidFill>
                  <a:schemeClr val="tx1"/>
                </a:solidFill>
              </a:rPr>
              <a:t>processors</a:t>
            </a:r>
            <a:r>
              <a:rPr lang="en-US" sz="2400" dirty="0" smtClean="0"/>
              <a:t> </a:t>
            </a:r>
            <a:endParaRPr lang="en-US" sz="2400" b="0" dirty="0" smtClean="0">
              <a:solidFill>
                <a:schemeClr val="tx1"/>
              </a:solidFill>
            </a:endParaRPr>
          </a:p>
          <a:p>
            <a:pPr>
              <a:buFont typeface="Arial" pitchFamily="34" charset="0"/>
              <a:buChar char="•"/>
            </a:pPr>
            <a:r>
              <a:rPr lang="en-US" sz="2400" dirty="0" smtClean="0"/>
              <a:t>  Usual approach</a:t>
            </a:r>
          </a:p>
          <a:p>
            <a:pPr lvl="1">
              <a:buFont typeface="Arial" pitchFamily="34" charset="0"/>
              <a:buChar char="•"/>
            </a:pPr>
            <a:r>
              <a:rPr lang="en-US" sz="2400" dirty="0" smtClean="0"/>
              <a:t>  1 copy of data </a:t>
            </a:r>
            <a:r>
              <a:rPr lang="en-US" sz="2400" dirty="0" smtClean="0">
                <a:sym typeface="Symbol"/>
              </a:rPr>
              <a:t> </a:t>
            </a:r>
            <a:r>
              <a:rPr lang="en-US" sz="2400" dirty="0" smtClean="0"/>
              <a:t>M</a:t>
            </a:r>
            <a:r>
              <a:rPr lang="en-US" sz="2400" b="0" dirty="0" smtClean="0">
                <a:solidFill>
                  <a:schemeClr val="tx1"/>
                </a:solidFill>
              </a:rPr>
              <a:t>emory </a:t>
            </a:r>
            <a:r>
              <a:rPr lang="en-US" sz="2400" b="0" dirty="0">
                <a:solidFill>
                  <a:schemeClr val="tx1"/>
                </a:solidFill>
              </a:rPr>
              <a:t>per processor = </a:t>
            </a:r>
            <a:r>
              <a:rPr lang="en-US" sz="2400" b="0" dirty="0" smtClean="0">
                <a:solidFill>
                  <a:schemeClr val="tx1"/>
                </a:solidFill>
              </a:rPr>
              <a:t> M </a:t>
            </a:r>
            <a:r>
              <a:rPr lang="en-US" sz="2400" dirty="0" smtClean="0">
                <a:sym typeface="Symbol"/>
              </a:rPr>
              <a:t>  </a:t>
            </a:r>
            <a:r>
              <a:rPr lang="en-US" sz="2400" b="0" dirty="0" smtClean="0">
                <a:solidFill>
                  <a:schemeClr val="tx1"/>
                </a:solidFill>
              </a:rPr>
              <a:t>n</a:t>
            </a:r>
            <a:r>
              <a:rPr lang="en-US" sz="3200" b="0" baseline="30000" dirty="0" smtClean="0">
                <a:solidFill>
                  <a:schemeClr val="tx1"/>
                </a:solidFill>
              </a:rPr>
              <a:t>2</a:t>
            </a:r>
            <a:r>
              <a:rPr lang="en-US" sz="2400" b="0" dirty="0" smtClean="0">
                <a:solidFill>
                  <a:schemeClr val="tx1"/>
                </a:solidFill>
              </a:rPr>
              <a:t> </a:t>
            </a:r>
            <a:r>
              <a:rPr lang="en-US" sz="2400" b="0" dirty="0">
                <a:solidFill>
                  <a:schemeClr val="tx1"/>
                </a:solidFill>
              </a:rPr>
              <a:t>/ </a:t>
            </a:r>
            <a:r>
              <a:rPr lang="en-US" sz="2400" b="0" dirty="0" smtClean="0">
                <a:solidFill>
                  <a:schemeClr val="tx1"/>
                </a:solidFill>
              </a:rPr>
              <a:t>P</a:t>
            </a:r>
            <a:endParaRPr lang="en-US" sz="2400" dirty="0"/>
          </a:p>
          <a:p>
            <a:pPr lvl="1">
              <a:buFont typeface="Arial" pitchFamily="34" charset="0"/>
              <a:buChar char="•"/>
            </a:pPr>
            <a:r>
              <a:rPr lang="en-US" sz="2400" b="0" dirty="0" smtClean="0">
                <a:solidFill>
                  <a:schemeClr val="tx1"/>
                </a:solidFill>
              </a:rPr>
              <a:t>  </a:t>
            </a:r>
            <a:r>
              <a:rPr lang="en-US" sz="2400" b="0" dirty="0">
                <a:solidFill>
                  <a:schemeClr val="tx1"/>
                </a:solidFill>
              </a:rPr>
              <a:t>Recall lower bounds:</a:t>
            </a:r>
          </a:p>
          <a:p>
            <a:pPr lvl="1"/>
            <a:r>
              <a:rPr lang="en-US" sz="2400" b="0" dirty="0" smtClean="0">
                <a:solidFill>
                  <a:schemeClr val="tx1"/>
                </a:solidFill>
              </a:rPr>
              <a:t>      #</a:t>
            </a:r>
            <a:r>
              <a:rPr lang="en-US" sz="2400" b="0" dirty="0" err="1" smtClean="0">
                <a:solidFill>
                  <a:schemeClr val="tx1"/>
                </a:solidFill>
              </a:rPr>
              <a:t>words_moved</a:t>
            </a:r>
            <a:r>
              <a:rPr lang="en-US" sz="2400" b="0" dirty="0" smtClean="0">
                <a:solidFill>
                  <a:schemeClr val="tx1"/>
                </a:solidFill>
              </a:rPr>
              <a:t>    =   </a:t>
            </a:r>
            <a:r>
              <a:rPr lang="en-US" sz="2400" dirty="0" smtClean="0">
                <a:sym typeface="Symbol" pitchFamily="18" charset="2"/>
              </a:rPr>
              <a:t>( (n</a:t>
            </a:r>
            <a:r>
              <a:rPr lang="en-US" sz="3200" baseline="30000" dirty="0" smtClean="0">
                <a:sym typeface="Symbol" pitchFamily="18" charset="2"/>
              </a:rPr>
              <a:t>3</a:t>
            </a:r>
            <a:r>
              <a:rPr lang="en-US" sz="2400" dirty="0" smtClean="0">
                <a:sym typeface="Symbol" pitchFamily="18" charset="2"/>
              </a:rPr>
              <a:t>/ P)  / M</a:t>
            </a:r>
            <a:r>
              <a:rPr lang="en-US" sz="3200" baseline="30000" dirty="0" smtClean="0">
                <a:sym typeface="Symbol" pitchFamily="18" charset="2"/>
              </a:rPr>
              <a:t>1/2</a:t>
            </a:r>
            <a:r>
              <a:rPr lang="en-US" sz="2400" dirty="0" smtClean="0">
                <a:sym typeface="Symbol" pitchFamily="18" charset="2"/>
              </a:rPr>
              <a:t> )  =  </a:t>
            </a:r>
            <a:r>
              <a:rPr lang="en-US" sz="2400" b="0" dirty="0">
                <a:solidFill>
                  <a:schemeClr val="tx1"/>
                </a:solidFill>
                <a:sym typeface="Symbol" pitchFamily="18" charset="2"/>
              </a:rPr>
              <a:t>( n</a:t>
            </a:r>
            <a:r>
              <a:rPr lang="en-US" sz="3200" b="0" baseline="30000" dirty="0">
                <a:solidFill>
                  <a:schemeClr val="tx1"/>
                </a:solidFill>
                <a:sym typeface="Symbol" pitchFamily="18" charset="2"/>
              </a:rPr>
              <a:t>2</a:t>
            </a:r>
            <a:r>
              <a:rPr lang="en-US" sz="2400" b="0" dirty="0">
                <a:solidFill>
                  <a:schemeClr val="tx1"/>
                </a:solidFill>
                <a:sym typeface="Symbol" pitchFamily="18" charset="2"/>
              </a:rPr>
              <a:t> /  P</a:t>
            </a:r>
            <a:r>
              <a:rPr lang="en-US" sz="3200" b="0" baseline="30000" dirty="0">
                <a:solidFill>
                  <a:schemeClr val="tx1"/>
                </a:solidFill>
                <a:sym typeface="Symbol" pitchFamily="18" charset="2"/>
              </a:rPr>
              <a:t>1/2</a:t>
            </a:r>
            <a:r>
              <a:rPr lang="en-US" sz="2400" b="0" dirty="0">
                <a:solidFill>
                  <a:schemeClr val="tx1"/>
                </a:solidFill>
                <a:sym typeface="Symbol" pitchFamily="18" charset="2"/>
              </a:rPr>
              <a:t> )      </a:t>
            </a:r>
            <a:r>
              <a:rPr lang="en-US" sz="2400" b="0" dirty="0" smtClean="0">
                <a:solidFill>
                  <a:schemeClr val="tx1"/>
                </a:solidFill>
                <a:sym typeface="Symbol" pitchFamily="18" charset="2"/>
              </a:rPr>
              <a:t>         </a:t>
            </a:r>
          </a:p>
          <a:p>
            <a:pPr lvl="1"/>
            <a:r>
              <a:rPr lang="en-US" sz="2400" b="0" dirty="0" smtClean="0">
                <a:solidFill>
                  <a:schemeClr val="tx1"/>
                </a:solidFill>
                <a:sym typeface="Symbol" pitchFamily="18" charset="2"/>
              </a:rPr>
              <a:t>      #</a:t>
            </a:r>
            <a:r>
              <a:rPr lang="en-US" sz="2400" b="0" dirty="0">
                <a:solidFill>
                  <a:schemeClr val="tx1"/>
                </a:solidFill>
                <a:sym typeface="Symbol" pitchFamily="18" charset="2"/>
              </a:rPr>
              <a:t>messages </a:t>
            </a:r>
            <a:r>
              <a:rPr lang="en-US" sz="2400" b="0" dirty="0" smtClean="0">
                <a:solidFill>
                  <a:schemeClr val="tx1"/>
                </a:solidFill>
                <a:sym typeface="Symbol" pitchFamily="18" charset="2"/>
              </a:rPr>
              <a:t>           </a:t>
            </a:r>
            <a:r>
              <a:rPr lang="en-US" sz="2400" dirty="0" smtClean="0"/>
              <a:t>=   </a:t>
            </a:r>
            <a:r>
              <a:rPr lang="en-US" sz="2400" dirty="0" smtClean="0">
                <a:sym typeface="Symbol" pitchFamily="18" charset="2"/>
              </a:rPr>
              <a:t>( (n</a:t>
            </a:r>
            <a:r>
              <a:rPr lang="en-US" sz="3200" baseline="30000" dirty="0" smtClean="0">
                <a:sym typeface="Symbol" pitchFamily="18" charset="2"/>
              </a:rPr>
              <a:t>3</a:t>
            </a:r>
            <a:r>
              <a:rPr lang="en-US" sz="2400" dirty="0" smtClean="0">
                <a:sym typeface="Symbol" pitchFamily="18" charset="2"/>
              </a:rPr>
              <a:t>/ P)  / M</a:t>
            </a:r>
            <a:r>
              <a:rPr lang="en-US" sz="3200" baseline="30000" dirty="0" smtClean="0">
                <a:sym typeface="Symbol" pitchFamily="18" charset="2"/>
              </a:rPr>
              <a:t>3/2</a:t>
            </a:r>
            <a:r>
              <a:rPr lang="en-US" sz="2400" dirty="0" smtClean="0">
                <a:sym typeface="Symbol" pitchFamily="18" charset="2"/>
              </a:rPr>
              <a:t> )  </a:t>
            </a:r>
            <a:r>
              <a:rPr lang="en-US" sz="2400" b="0" dirty="0" smtClean="0">
                <a:solidFill>
                  <a:schemeClr val="tx1"/>
                </a:solidFill>
                <a:sym typeface="Symbol" pitchFamily="18" charset="2"/>
              </a:rPr>
              <a:t>=  </a:t>
            </a:r>
            <a:r>
              <a:rPr lang="en-US" sz="2400" b="0" dirty="0">
                <a:solidFill>
                  <a:schemeClr val="tx1"/>
                </a:solidFill>
                <a:sym typeface="Symbol" pitchFamily="18" charset="2"/>
              </a:rPr>
              <a:t>( P</a:t>
            </a:r>
            <a:r>
              <a:rPr lang="en-US" sz="3200" b="0" baseline="30000" dirty="0">
                <a:solidFill>
                  <a:schemeClr val="tx1"/>
                </a:solidFill>
                <a:sym typeface="Symbol" pitchFamily="18" charset="2"/>
              </a:rPr>
              <a:t>1/2</a:t>
            </a:r>
            <a:r>
              <a:rPr lang="en-US" sz="2400" b="0" dirty="0">
                <a:solidFill>
                  <a:schemeClr val="tx1"/>
                </a:solidFill>
                <a:sym typeface="Symbol" pitchFamily="18" charset="2"/>
              </a:rPr>
              <a:t> </a:t>
            </a:r>
            <a:r>
              <a:rPr lang="en-US" sz="2400" b="0" dirty="0" smtClean="0">
                <a:solidFill>
                  <a:schemeClr val="tx1"/>
                </a:solidFill>
                <a:sym typeface="Symbol" pitchFamily="18" charset="2"/>
              </a:rPr>
              <a:t>)</a:t>
            </a:r>
          </a:p>
          <a:p>
            <a:pPr lvl="1">
              <a:buFont typeface="Arial" pitchFamily="34" charset="0"/>
              <a:buChar char="•"/>
            </a:pPr>
            <a:r>
              <a:rPr lang="en-US" sz="2400" dirty="0" smtClean="0">
                <a:sym typeface="Symbol" pitchFamily="18" charset="2"/>
              </a:rPr>
              <a:t>   Attained by </a:t>
            </a:r>
            <a:r>
              <a:rPr lang="en-US" sz="2400" b="1" dirty="0" smtClean="0">
                <a:sym typeface="Symbol" pitchFamily="18" charset="2"/>
              </a:rPr>
              <a:t>2D algorithms  </a:t>
            </a:r>
            <a:r>
              <a:rPr lang="en-US" sz="2400" dirty="0" smtClean="0">
                <a:sym typeface="Symbol" pitchFamily="18" charset="2"/>
              </a:rPr>
              <a:t>(many examples)</a:t>
            </a:r>
          </a:p>
          <a:p>
            <a:pPr lvl="2">
              <a:buFont typeface="Arial" pitchFamily="34" charset="0"/>
              <a:buChar char="•"/>
            </a:pPr>
            <a:r>
              <a:rPr lang="en-US" sz="2400" b="0" dirty="0" smtClean="0">
                <a:solidFill>
                  <a:schemeClr val="tx1"/>
                </a:solidFill>
                <a:sym typeface="Symbol" pitchFamily="18" charset="2"/>
              </a:rPr>
              <a:t>  P processors connected in P</a:t>
            </a:r>
            <a:r>
              <a:rPr lang="en-US" sz="2400" b="0" baseline="30000" dirty="0" smtClean="0">
                <a:solidFill>
                  <a:schemeClr val="tx1"/>
                </a:solidFill>
                <a:sym typeface="Symbol" pitchFamily="18" charset="2"/>
              </a:rPr>
              <a:t>1/2</a:t>
            </a:r>
            <a:r>
              <a:rPr lang="en-US" sz="2400" dirty="0" smtClean="0">
                <a:sym typeface="Symbol" pitchFamily="18" charset="2"/>
              </a:rPr>
              <a:t>  x  P</a:t>
            </a:r>
            <a:r>
              <a:rPr lang="en-US" sz="2400" baseline="30000" dirty="0" smtClean="0">
                <a:sym typeface="Symbol" pitchFamily="18" charset="2"/>
              </a:rPr>
              <a:t>1/2</a:t>
            </a:r>
            <a:r>
              <a:rPr lang="en-US" sz="2400" dirty="0" smtClean="0">
                <a:sym typeface="Symbol" pitchFamily="18" charset="2"/>
              </a:rPr>
              <a:t>  mesh</a:t>
            </a:r>
          </a:p>
          <a:p>
            <a:pPr lvl="2">
              <a:buFont typeface="Arial" pitchFamily="34" charset="0"/>
              <a:buChar char="•"/>
            </a:pPr>
            <a:r>
              <a:rPr lang="en-US" sz="2400" b="0" dirty="0" smtClean="0">
                <a:solidFill>
                  <a:schemeClr val="tx1"/>
                </a:solidFill>
                <a:sym typeface="Symbol" pitchFamily="18" charset="2"/>
              </a:rPr>
              <a:t>  Each processor owns, computes on a square </a:t>
            </a:r>
            <a:r>
              <a:rPr lang="en-US" sz="2400" b="0" dirty="0" err="1" smtClean="0">
                <a:solidFill>
                  <a:schemeClr val="tx1"/>
                </a:solidFill>
                <a:sym typeface="Symbol" pitchFamily="18" charset="2"/>
              </a:rPr>
              <a:t>submatrix</a:t>
            </a:r>
            <a:endParaRPr lang="en-US" sz="2400" b="0" dirty="0" smtClean="0">
              <a:solidFill>
                <a:schemeClr val="tx1"/>
              </a:solidFill>
              <a:sym typeface="Symbol" pitchFamily="18" charset="2"/>
            </a:endParaRPr>
          </a:p>
        </p:txBody>
      </p:sp>
      <p:cxnSp>
        <p:nvCxnSpPr>
          <p:cNvPr id="14" name="Straight Connector 13"/>
          <p:cNvCxnSpPr/>
          <p:nvPr/>
        </p:nvCxnSpPr>
        <p:spPr>
          <a:xfrm>
            <a:off x="381000" y="990600"/>
            <a:ext cx="8305800" cy="0"/>
          </a:xfrm>
          <a:prstGeom prst="line">
            <a:avLst/>
          </a:prstGeom>
        </p:spPr>
        <p:style>
          <a:lnRef idx="1">
            <a:schemeClr val="accent1"/>
          </a:lnRef>
          <a:fillRef idx="0">
            <a:schemeClr val="accent1"/>
          </a:fillRef>
          <a:effectRef idx="0">
            <a:schemeClr val="accent1"/>
          </a:effectRef>
          <a:fontRef idx="minor">
            <a:schemeClr val="tx1"/>
          </a:fontRef>
        </p:style>
      </p:cxnSp>
      <p:sp>
        <p:nvSpPr>
          <p:cNvPr id="11" name="TextBox 7"/>
          <p:cNvSpPr txBox="1">
            <a:spLocks noChangeArrowheads="1"/>
          </p:cNvSpPr>
          <p:nvPr/>
        </p:nvSpPr>
        <p:spPr bwMode="auto">
          <a:xfrm>
            <a:off x="304800" y="4038600"/>
            <a:ext cx="8350491" cy="2677656"/>
          </a:xfrm>
          <a:prstGeom prst="rect">
            <a:avLst/>
          </a:prstGeom>
          <a:noFill/>
          <a:ln w="9525">
            <a:noFill/>
            <a:miter lim="800000"/>
            <a:headEnd/>
            <a:tailEnd/>
          </a:ln>
        </p:spPr>
        <p:txBody>
          <a:bodyPr wrap="none">
            <a:spAutoFit/>
          </a:bodyPr>
          <a:lstStyle/>
          <a:p>
            <a:endParaRPr lang="en-US" sz="2400" b="0" dirty="0" smtClean="0">
              <a:solidFill>
                <a:schemeClr val="tx1"/>
              </a:solidFill>
            </a:endParaRPr>
          </a:p>
          <a:p>
            <a:pPr>
              <a:buFont typeface="Arial" pitchFamily="34" charset="0"/>
              <a:buChar char="•"/>
            </a:pPr>
            <a:r>
              <a:rPr lang="en-US" sz="2400" dirty="0" smtClean="0"/>
              <a:t>  New approach</a:t>
            </a:r>
          </a:p>
          <a:p>
            <a:pPr lvl="1">
              <a:buFont typeface="Arial" pitchFamily="34" charset="0"/>
              <a:buChar char="•"/>
            </a:pPr>
            <a:r>
              <a:rPr lang="en-US" sz="2400" dirty="0" smtClean="0"/>
              <a:t>  </a:t>
            </a:r>
            <a:r>
              <a:rPr lang="en-US" sz="2400" b="1" dirty="0" smtClean="0"/>
              <a:t>Use all available memory </a:t>
            </a:r>
          </a:p>
          <a:p>
            <a:pPr lvl="1">
              <a:buFont typeface="Arial" pitchFamily="34" charset="0"/>
              <a:buChar char="•"/>
            </a:pPr>
            <a:r>
              <a:rPr lang="en-US" sz="2400" dirty="0" smtClean="0"/>
              <a:t>  c&gt;1 copies of data </a:t>
            </a:r>
            <a:r>
              <a:rPr lang="en-US" sz="2400" dirty="0" smtClean="0">
                <a:sym typeface="Symbol"/>
              </a:rPr>
              <a:t> </a:t>
            </a:r>
            <a:r>
              <a:rPr lang="en-US" sz="2400" dirty="0" smtClean="0"/>
              <a:t>M</a:t>
            </a:r>
            <a:r>
              <a:rPr lang="en-US" sz="2400" b="0" dirty="0" smtClean="0">
                <a:solidFill>
                  <a:schemeClr val="tx1"/>
                </a:solidFill>
              </a:rPr>
              <a:t>emory </a:t>
            </a:r>
            <a:r>
              <a:rPr lang="en-US" sz="2400" b="0" dirty="0">
                <a:solidFill>
                  <a:schemeClr val="tx1"/>
                </a:solidFill>
              </a:rPr>
              <a:t>per processor = </a:t>
            </a:r>
            <a:r>
              <a:rPr lang="en-US" sz="2400" b="0" dirty="0" smtClean="0">
                <a:solidFill>
                  <a:schemeClr val="tx1"/>
                </a:solidFill>
              </a:rPr>
              <a:t> M </a:t>
            </a:r>
            <a:r>
              <a:rPr lang="en-US" sz="2400" b="0" dirty="0" smtClean="0">
                <a:solidFill>
                  <a:schemeClr val="tx1"/>
                </a:solidFill>
                <a:sym typeface="Symbol"/>
              </a:rPr>
              <a:t> </a:t>
            </a:r>
            <a:r>
              <a:rPr lang="en-US" sz="2400" dirty="0" smtClean="0">
                <a:sym typeface="Symbol"/>
              </a:rPr>
              <a:t> c </a:t>
            </a:r>
            <a:r>
              <a:rPr lang="en-US" sz="2400" b="0" dirty="0" smtClean="0">
                <a:solidFill>
                  <a:schemeClr val="tx1"/>
                </a:solidFill>
              </a:rPr>
              <a:t>n</a:t>
            </a:r>
            <a:r>
              <a:rPr lang="en-US" sz="3200" b="0" baseline="30000" dirty="0" smtClean="0">
                <a:solidFill>
                  <a:schemeClr val="tx1"/>
                </a:solidFill>
              </a:rPr>
              <a:t>2</a:t>
            </a:r>
            <a:r>
              <a:rPr lang="en-US" sz="2400" b="0" dirty="0" smtClean="0">
                <a:solidFill>
                  <a:schemeClr val="tx1"/>
                </a:solidFill>
              </a:rPr>
              <a:t> </a:t>
            </a:r>
            <a:r>
              <a:rPr lang="en-US" sz="2400" b="0" dirty="0">
                <a:solidFill>
                  <a:schemeClr val="tx1"/>
                </a:solidFill>
              </a:rPr>
              <a:t>/ </a:t>
            </a:r>
            <a:r>
              <a:rPr lang="en-US" sz="2400" b="0" dirty="0" smtClean="0">
                <a:solidFill>
                  <a:schemeClr val="tx1"/>
                </a:solidFill>
              </a:rPr>
              <a:t>P</a:t>
            </a:r>
            <a:endParaRPr lang="en-US" sz="2400" dirty="0"/>
          </a:p>
          <a:p>
            <a:pPr lvl="1">
              <a:buFont typeface="Arial" pitchFamily="34" charset="0"/>
              <a:buChar char="•"/>
            </a:pPr>
            <a:r>
              <a:rPr lang="en-US" sz="2400" b="0" dirty="0" smtClean="0">
                <a:solidFill>
                  <a:schemeClr val="tx1"/>
                </a:solidFill>
              </a:rPr>
              <a:t>  Lower bounds get smaller</a:t>
            </a:r>
          </a:p>
          <a:p>
            <a:pPr lvl="1">
              <a:buFont typeface="Arial" pitchFamily="34" charset="0"/>
              <a:buChar char="•"/>
            </a:pPr>
            <a:r>
              <a:rPr lang="en-US" sz="2400" dirty="0" smtClean="0"/>
              <a:t>  New </a:t>
            </a:r>
            <a:r>
              <a:rPr lang="en-US" sz="2400" b="1" dirty="0" smtClean="0"/>
              <a:t>2.5D algorithms </a:t>
            </a:r>
            <a:r>
              <a:rPr lang="en-US" sz="2400" dirty="0" smtClean="0"/>
              <a:t>can attain new lower bounds</a:t>
            </a:r>
          </a:p>
          <a:p>
            <a:pPr lvl="2">
              <a:buFont typeface="Arial" pitchFamily="34" charset="0"/>
              <a:buChar char="•"/>
            </a:pPr>
            <a:r>
              <a:rPr lang="en-US" sz="2400" b="0" dirty="0" smtClean="0">
                <a:solidFill>
                  <a:schemeClr val="tx1"/>
                </a:solidFill>
              </a:rPr>
              <a:t>  P processors in (P/c)</a:t>
            </a:r>
            <a:r>
              <a:rPr lang="en-US" sz="2400" b="0" baseline="30000" dirty="0" smtClean="0">
                <a:solidFill>
                  <a:schemeClr val="tx1"/>
                </a:solidFill>
              </a:rPr>
              <a:t>1/2</a:t>
            </a:r>
            <a:r>
              <a:rPr lang="en-US" sz="2400" dirty="0" smtClean="0"/>
              <a:t> x (P/c)</a:t>
            </a:r>
            <a:r>
              <a:rPr lang="en-US" sz="2400" baseline="30000" dirty="0" smtClean="0"/>
              <a:t>1/2</a:t>
            </a:r>
            <a:r>
              <a:rPr lang="en-US" sz="2400" dirty="0" smtClean="0"/>
              <a:t> x  c   mesh</a:t>
            </a:r>
            <a:endParaRPr lang="en-US" sz="2400" b="0" dirty="0">
              <a:solidFill>
                <a:schemeClr val="tx1"/>
              </a:solidFil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1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Subtitle 5"/>
          <p:cNvSpPr>
            <a:spLocks noGrp="1"/>
          </p:cNvSpPr>
          <p:nvPr>
            <p:ph type="subTitle" idx="1"/>
          </p:nvPr>
        </p:nvSpPr>
        <p:spPr>
          <a:xfrm>
            <a:off x="1371600" y="13151"/>
            <a:ext cx="6400800" cy="596449"/>
          </a:xfrm>
        </p:spPr>
        <p:txBody>
          <a:bodyPr/>
          <a:lstStyle/>
          <a:p>
            <a:r>
              <a:rPr lang="en-US" dirty="0" smtClean="0">
                <a:solidFill>
                  <a:schemeClr val="tx1"/>
                </a:solidFill>
              </a:rPr>
              <a:t>2.5D </a:t>
            </a:r>
            <a:r>
              <a:rPr lang="en-US" dirty="0" err="1" smtClean="0">
                <a:solidFill>
                  <a:schemeClr val="tx1"/>
                </a:solidFill>
              </a:rPr>
              <a:t>Matmul</a:t>
            </a:r>
            <a:r>
              <a:rPr lang="en-US" dirty="0" smtClean="0">
                <a:solidFill>
                  <a:schemeClr val="tx1"/>
                </a:solidFill>
              </a:rPr>
              <a:t> versus </a:t>
            </a:r>
            <a:r>
              <a:rPr lang="en-US" dirty="0" err="1" smtClean="0">
                <a:solidFill>
                  <a:schemeClr val="tx1"/>
                </a:solidFill>
              </a:rPr>
              <a:t>ScaLAPACK</a:t>
            </a:r>
            <a:endParaRPr lang="en-US" dirty="0">
              <a:solidFill>
                <a:schemeClr val="tx1"/>
              </a:solidFill>
            </a:endParaRPr>
          </a:p>
        </p:txBody>
      </p:sp>
      <p:sp>
        <p:nvSpPr>
          <p:cNvPr id="4" name="TextBox 3"/>
          <p:cNvSpPr txBox="1"/>
          <p:nvPr/>
        </p:nvSpPr>
        <p:spPr>
          <a:xfrm>
            <a:off x="1066800" y="533400"/>
            <a:ext cx="7651005" cy="1323439"/>
          </a:xfrm>
          <a:prstGeom prst="rect">
            <a:avLst/>
          </a:prstGeom>
          <a:noFill/>
        </p:spPr>
        <p:txBody>
          <a:bodyPr wrap="none" rtlCol="0">
            <a:spAutoFit/>
          </a:bodyPr>
          <a:lstStyle/>
          <a:p>
            <a:pPr>
              <a:buFont typeface="Arial" pitchFamily="34" charset="0"/>
              <a:buChar char="•"/>
            </a:pPr>
            <a:r>
              <a:rPr lang="en-US" dirty="0" smtClean="0"/>
              <a:t>  </a:t>
            </a:r>
            <a:r>
              <a:rPr lang="en-US" sz="2000" dirty="0" smtClean="0"/>
              <a:t>2D     algorithms use P</a:t>
            </a:r>
            <a:r>
              <a:rPr lang="en-US" sz="2000" baseline="30000" dirty="0" smtClean="0"/>
              <a:t>1/2</a:t>
            </a:r>
            <a:r>
              <a:rPr lang="en-US" sz="2000" dirty="0" smtClean="0"/>
              <a:t>  x   P</a:t>
            </a:r>
            <a:r>
              <a:rPr lang="en-US" sz="2000" baseline="30000" dirty="0" smtClean="0"/>
              <a:t>1/2</a:t>
            </a:r>
            <a:r>
              <a:rPr lang="en-US" sz="2000" dirty="0" smtClean="0"/>
              <a:t> mesh  and  minimal memory</a:t>
            </a:r>
          </a:p>
          <a:p>
            <a:pPr>
              <a:buFont typeface="Arial" pitchFamily="34" charset="0"/>
              <a:buChar char="•"/>
            </a:pPr>
            <a:r>
              <a:rPr lang="en-US" sz="2000" dirty="0" smtClean="0"/>
              <a:t>  2.5D algorithms use (P/c)</a:t>
            </a:r>
            <a:r>
              <a:rPr lang="en-US" sz="2000" baseline="30000" dirty="0" smtClean="0"/>
              <a:t>1/2</a:t>
            </a:r>
            <a:r>
              <a:rPr lang="en-US" sz="2000" dirty="0" smtClean="0"/>
              <a:t>  x (P/c)</a:t>
            </a:r>
            <a:r>
              <a:rPr lang="en-US" sz="2000" baseline="30000" dirty="0" smtClean="0"/>
              <a:t>1/2</a:t>
            </a:r>
            <a:r>
              <a:rPr lang="en-US" sz="2000" dirty="0" smtClean="0"/>
              <a:t>  x c</a:t>
            </a:r>
            <a:r>
              <a:rPr lang="en-US" sz="2000" baseline="30000" dirty="0" smtClean="0"/>
              <a:t>1/2</a:t>
            </a:r>
            <a:r>
              <a:rPr lang="en-US" sz="2000" dirty="0" smtClean="0"/>
              <a:t>  mesh  and c-fold memory</a:t>
            </a:r>
          </a:p>
          <a:p>
            <a:pPr lvl="1">
              <a:buFont typeface="Arial" pitchFamily="34" charset="0"/>
              <a:buChar char="•"/>
            </a:pPr>
            <a:r>
              <a:rPr lang="en-US" sz="2000" dirty="0" smtClean="0"/>
              <a:t>  </a:t>
            </a:r>
            <a:r>
              <a:rPr lang="en-US" sz="2000" dirty="0" err="1" smtClean="0"/>
              <a:t>Matmul</a:t>
            </a:r>
            <a:r>
              <a:rPr lang="en-US" sz="2000" dirty="0" smtClean="0"/>
              <a:t> sends c</a:t>
            </a:r>
            <a:r>
              <a:rPr lang="en-US" sz="2000" baseline="30000" dirty="0" smtClean="0"/>
              <a:t>1/2</a:t>
            </a:r>
            <a:r>
              <a:rPr lang="en-US" sz="2000" dirty="0" smtClean="0"/>
              <a:t> times fewer words – lower bound</a:t>
            </a:r>
          </a:p>
          <a:p>
            <a:pPr lvl="1">
              <a:buFont typeface="Arial" pitchFamily="34" charset="0"/>
              <a:buChar char="•"/>
            </a:pPr>
            <a:r>
              <a:rPr lang="en-US" sz="2000" dirty="0" smtClean="0"/>
              <a:t>  </a:t>
            </a:r>
            <a:r>
              <a:rPr lang="en-US" sz="2000" dirty="0" err="1" smtClean="0"/>
              <a:t>Matmul</a:t>
            </a:r>
            <a:r>
              <a:rPr lang="en-US" sz="2000" dirty="0" smtClean="0"/>
              <a:t> sends c</a:t>
            </a:r>
            <a:r>
              <a:rPr lang="en-US" sz="2000" baseline="30000" dirty="0" smtClean="0"/>
              <a:t>3/2</a:t>
            </a:r>
            <a:r>
              <a:rPr lang="en-US" sz="2000" dirty="0" smtClean="0"/>
              <a:t> times fewer messages – lower bound</a:t>
            </a:r>
          </a:p>
        </p:txBody>
      </p:sp>
      <p:cxnSp>
        <p:nvCxnSpPr>
          <p:cNvPr id="7" name="Straight Connector 6"/>
          <p:cNvCxnSpPr/>
          <p:nvPr/>
        </p:nvCxnSpPr>
        <p:spPr>
          <a:xfrm>
            <a:off x="381000" y="1905000"/>
            <a:ext cx="8382000"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11" name="Group 10"/>
          <p:cNvGrpSpPr/>
          <p:nvPr/>
        </p:nvGrpSpPr>
        <p:grpSpPr>
          <a:xfrm>
            <a:off x="304800" y="2057400"/>
            <a:ext cx="8636450" cy="4433096"/>
            <a:chOff x="304800" y="2348704"/>
            <a:chExt cx="8636450" cy="4433096"/>
          </a:xfrm>
        </p:grpSpPr>
        <p:pic>
          <p:nvPicPr>
            <p:cNvPr id="2" name="Picture 1" descr="mm_ss_p2048.pdf"/>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04800" y="2348704"/>
              <a:ext cx="6341382" cy="4433096"/>
            </a:xfrm>
            <a:prstGeom prst="rect">
              <a:avLst/>
            </a:prstGeom>
          </p:spPr>
        </p:pic>
        <p:sp>
          <p:nvSpPr>
            <p:cNvPr id="8" name="TextBox 7"/>
            <p:cNvSpPr txBox="1"/>
            <p:nvPr/>
          </p:nvSpPr>
          <p:spPr>
            <a:xfrm>
              <a:off x="7010400" y="3346507"/>
              <a:ext cx="1930850" cy="830997"/>
            </a:xfrm>
            <a:prstGeom prst="rect">
              <a:avLst/>
            </a:prstGeom>
            <a:noFill/>
          </p:spPr>
          <p:txBody>
            <a:bodyPr wrap="none" rtlCol="0">
              <a:spAutoFit/>
            </a:bodyPr>
            <a:lstStyle/>
            <a:p>
              <a:r>
                <a:rPr lang="en-US" sz="2400" dirty="0" smtClean="0"/>
                <a:t>Perfect</a:t>
              </a:r>
            </a:p>
            <a:p>
              <a:r>
                <a:rPr lang="en-US" sz="2400" dirty="0" smtClean="0"/>
                <a:t>Strong Scaling</a:t>
              </a:r>
              <a:endParaRPr lang="en-US" sz="2400" dirty="0"/>
            </a:p>
          </p:txBody>
        </p:sp>
        <p:cxnSp>
          <p:nvCxnSpPr>
            <p:cNvPr id="10" name="Straight Arrow Connector 9"/>
            <p:cNvCxnSpPr>
              <a:stCxn id="8" idx="1"/>
            </p:cNvCxnSpPr>
            <p:nvPr/>
          </p:nvCxnSpPr>
          <p:spPr>
            <a:xfrm rot="10800000">
              <a:off x="6400800" y="3720304"/>
              <a:ext cx="609600" cy="4170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sp>
        <p:nvSpPr>
          <p:cNvPr id="12" name="TextBox 11"/>
          <p:cNvSpPr txBox="1"/>
          <p:nvPr/>
        </p:nvSpPr>
        <p:spPr>
          <a:xfrm>
            <a:off x="6768798" y="4419600"/>
            <a:ext cx="2375202" cy="1569660"/>
          </a:xfrm>
          <a:prstGeom prst="rect">
            <a:avLst/>
          </a:prstGeom>
          <a:noFill/>
        </p:spPr>
        <p:txBody>
          <a:bodyPr wrap="none" rtlCol="0">
            <a:spAutoFit/>
          </a:bodyPr>
          <a:lstStyle/>
          <a:p>
            <a:r>
              <a:rPr lang="en-US" sz="2400" dirty="0" smtClean="0"/>
              <a:t>Critical to use all </a:t>
            </a:r>
          </a:p>
          <a:p>
            <a:r>
              <a:rPr lang="en-US" sz="2400" dirty="0" smtClean="0"/>
              <a:t>links of BG/P’s </a:t>
            </a:r>
          </a:p>
          <a:p>
            <a:r>
              <a:rPr lang="en-US" sz="2400" dirty="0" smtClean="0"/>
              <a:t>3D torus </a:t>
            </a:r>
          </a:p>
          <a:p>
            <a:r>
              <a:rPr lang="en-US" sz="2400" dirty="0" smtClean="0"/>
              <a:t>interconnect</a:t>
            </a:r>
            <a:endParaRPr lang="en-US" sz="2400" dirty="0"/>
          </a:p>
        </p:txBody>
      </p:sp>
      <p:sp>
        <p:nvSpPr>
          <p:cNvPr id="13" name="TextBox 12"/>
          <p:cNvSpPr txBox="1"/>
          <p:nvPr/>
        </p:nvSpPr>
        <p:spPr>
          <a:xfrm>
            <a:off x="1600200" y="6400800"/>
            <a:ext cx="6024598" cy="523220"/>
          </a:xfrm>
          <a:prstGeom prst="rect">
            <a:avLst/>
          </a:prstGeom>
          <a:noFill/>
        </p:spPr>
        <p:txBody>
          <a:bodyPr wrap="none" rtlCol="0">
            <a:spAutoFit/>
          </a:bodyPr>
          <a:lstStyle/>
          <a:p>
            <a:r>
              <a:rPr lang="en-US" sz="2800" b="1" dirty="0" smtClean="0">
                <a:solidFill>
                  <a:srgbClr val="0824F2"/>
                </a:solidFill>
              </a:rPr>
              <a:t>Distinguished Paper Award, EuroPar’11</a:t>
            </a:r>
            <a:endParaRPr lang="en-US" sz="2800" b="1" dirty="0">
              <a:solidFill>
                <a:srgbClr val="0824F2"/>
              </a:solidFill>
            </a:endParaRPr>
          </a:p>
        </p:txBody>
      </p:sp>
    </p:spTree>
    <p:extLst>
      <p:ext uri="{BB962C8B-B14F-4D97-AF65-F5344CB8AC3E}">
        <p14:creationId xmlns:p14="http://schemas.microsoft.com/office/powerpoint/2010/main" val="84170485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Lst>
  </p:timing>
</p:sld>
</file>

<file path=ppt/slides/slide1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Subtitle 5"/>
          <p:cNvSpPr>
            <a:spLocks noGrp="1"/>
          </p:cNvSpPr>
          <p:nvPr>
            <p:ph type="subTitle" idx="1"/>
          </p:nvPr>
        </p:nvSpPr>
        <p:spPr>
          <a:xfrm>
            <a:off x="1066800" y="13151"/>
            <a:ext cx="7239000" cy="1752600"/>
          </a:xfrm>
        </p:spPr>
        <p:txBody>
          <a:bodyPr>
            <a:normAutofit/>
          </a:bodyPr>
          <a:lstStyle/>
          <a:p>
            <a:r>
              <a:rPr lang="en-US" dirty="0" smtClean="0">
                <a:solidFill>
                  <a:schemeClr val="tx1"/>
                </a:solidFill>
              </a:rPr>
              <a:t>Timing Breakdown for</a:t>
            </a:r>
          </a:p>
          <a:p>
            <a:r>
              <a:rPr lang="en-US" dirty="0" smtClean="0">
                <a:solidFill>
                  <a:schemeClr val="tx1"/>
                </a:solidFill>
              </a:rPr>
              <a:t>2D </a:t>
            </a:r>
            <a:r>
              <a:rPr lang="en-US" dirty="0" err="1" smtClean="0">
                <a:solidFill>
                  <a:schemeClr val="tx1"/>
                </a:solidFill>
              </a:rPr>
              <a:t>vs</a:t>
            </a:r>
            <a:r>
              <a:rPr lang="en-US" dirty="0" smtClean="0">
                <a:solidFill>
                  <a:schemeClr val="tx1"/>
                </a:solidFill>
              </a:rPr>
              <a:t> 2.5D Gaussian Elimination:</a:t>
            </a:r>
          </a:p>
          <a:p>
            <a:r>
              <a:rPr lang="en-US" dirty="0" smtClean="0">
                <a:solidFill>
                  <a:schemeClr val="tx1"/>
                </a:solidFill>
              </a:rPr>
              <a:t>How much communication can we avoid?</a:t>
            </a:r>
          </a:p>
          <a:p>
            <a:endParaRPr lang="en-US" dirty="0"/>
          </a:p>
        </p:txBody>
      </p:sp>
      <p:pic>
        <p:nvPicPr>
          <p:cNvPr id="2" name="Picture 1" descr="lu_pvt_ct.pdf"/>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33653" y="1752600"/>
            <a:ext cx="6967347" cy="4870691"/>
          </a:xfrm>
          <a:prstGeom prst="rect">
            <a:avLst/>
          </a:prstGeom>
        </p:spPr>
      </p:pic>
      <p:cxnSp>
        <p:nvCxnSpPr>
          <p:cNvPr id="5" name="Straight Connector 4"/>
          <p:cNvCxnSpPr/>
          <p:nvPr/>
        </p:nvCxnSpPr>
        <p:spPr>
          <a:xfrm>
            <a:off x="457200" y="1752600"/>
            <a:ext cx="8229600" cy="0"/>
          </a:xfrm>
          <a:prstGeom prst="line">
            <a:avLst/>
          </a:prstGeom>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990600" y="5943600"/>
            <a:ext cx="1267783" cy="369332"/>
          </a:xfrm>
          <a:prstGeom prst="rect">
            <a:avLst/>
          </a:prstGeom>
          <a:noFill/>
        </p:spPr>
        <p:txBody>
          <a:bodyPr wrap="none" rtlCol="0">
            <a:spAutoFit/>
          </a:bodyPr>
          <a:lstStyle/>
          <a:p>
            <a:r>
              <a:rPr lang="en-US" dirty="0" smtClean="0"/>
              <a:t>No pivoting</a:t>
            </a:r>
            <a:endParaRPr lang="en-US" dirty="0"/>
          </a:p>
        </p:txBody>
      </p:sp>
      <p:sp>
        <p:nvSpPr>
          <p:cNvPr id="10" name="TextBox 9"/>
          <p:cNvSpPr txBox="1"/>
          <p:nvPr/>
        </p:nvSpPr>
        <p:spPr>
          <a:xfrm>
            <a:off x="7315200" y="5105400"/>
            <a:ext cx="940770" cy="369332"/>
          </a:xfrm>
          <a:prstGeom prst="rect">
            <a:avLst/>
          </a:prstGeom>
          <a:noFill/>
        </p:spPr>
        <p:txBody>
          <a:bodyPr wrap="none" rtlCol="0">
            <a:spAutoFit/>
          </a:bodyPr>
          <a:lstStyle/>
          <a:p>
            <a:r>
              <a:rPr lang="en-US" dirty="0" smtClean="0"/>
              <a:t>Pivoting</a:t>
            </a:r>
            <a:endParaRPr lang="en-US" dirty="0"/>
          </a:p>
        </p:txBody>
      </p:sp>
      <p:cxnSp>
        <p:nvCxnSpPr>
          <p:cNvPr id="12" name="Straight Arrow Connector 11"/>
          <p:cNvCxnSpPr/>
          <p:nvPr/>
        </p:nvCxnSpPr>
        <p:spPr>
          <a:xfrm rot="10800000">
            <a:off x="6477001" y="4800600"/>
            <a:ext cx="838200" cy="48946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a:stCxn id="9" idx="3"/>
          </p:cNvCxnSpPr>
          <p:nvPr/>
        </p:nvCxnSpPr>
        <p:spPr>
          <a:xfrm flipV="1">
            <a:off x="2258383" y="5105400"/>
            <a:ext cx="484817" cy="102286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1600200" y="6400800"/>
            <a:ext cx="6024598" cy="523220"/>
          </a:xfrm>
          <a:prstGeom prst="rect">
            <a:avLst/>
          </a:prstGeom>
          <a:noFill/>
        </p:spPr>
        <p:txBody>
          <a:bodyPr wrap="none" rtlCol="0">
            <a:spAutoFit/>
          </a:bodyPr>
          <a:lstStyle/>
          <a:p>
            <a:r>
              <a:rPr lang="en-US" sz="2800" b="1" dirty="0" smtClean="0">
                <a:solidFill>
                  <a:srgbClr val="0824F2"/>
                </a:solidFill>
              </a:rPr>
              <a:t>Distinguished Paper Award, EuroPar’11</a:t>
            </a:r>
            <a:endParaRPr lang="en-US" sz="2800" b="1" dirty="0">
              <a:solidFill>
                <a:srgbClr val="0824F2"/>
              </a:solidFill>
            </a:endParaRPr>
          </a:p>
        </p:txBody>
      </p:sp>
      <p:sp>
        <p:nvSpPr>
          <p:cNvPr id="3" name="TextBox 2"/>
          <p:cNvSpPr txBox="1"/>
          <p:nvPr/>
        </p:nvSpPr>
        <p:spPr>
          <a:xfrm>
            <a:off x="7162800" y="3200400"/>
            <a:ext cx="1839015" cy="707886"/>
          </a:xfrm>
          <a:prstGeom prst="rect">
            <a:avLst/>
          </a:prstGeom>
          <a:noFill/>
        </p:spPr>
        <p:txBody>
          <a:bodyPr wrap="none" rtlCol="0">
            <a:spAutoFit/>
          </a:bodyPr>
          <a:lstStyle/>
          <a:p>
            <a:r>
              <a:rPr lang="en-US" sz="2000" dirty="0" smtClean="0"/>
              <a:t>Communication </a:t>
            </a:r>
          </a:p>
          <a:p>
            <a:r>
              <a:rPr lang="en-US" sz="2000" dirty="0" smtClean="0"/>
              <a:t>Reduced 86%</a:t>
            </a:r>
            <a:endParaRPr lang="en-US" sz="2000" dirty="0"/>
          </a:p>
        </p:txBody>
      </p:sp>
      <p:cxnSp>
        <p:nvCxnSpPr>
          <p:cNvPr id="7" name="Straight Arrow Connector 6"/>
          <p:cNvCxnSpPr/>
          <p:nvPr/>
        </p:nvCxnSpPr>
        <p:spPr>
          <a:xfrm flipH="1">
            <a:off x="6172200" y="3505200"/>
            <a:ext cx="990600" cy="6858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3636465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1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458200" cy="1143000"/>
          </a:xfrm>
        </p:spPr>
        <p:txBody>
          <a:bodyPr>
            <a:normAutofit fontScale="90000"/>
          </a:bodyPr>
          <a:lstStyle/>
          <a:p>
            <a:r>
              <a:rPr lang="en-US" dirty="0" smtClean="0"/>
              <a:t>Implications for Architectural Scaling</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Machine parameters:</a:t>
            </a:r>
          </a:p>
          <a:p>
            <a:pPr lvl="1"/>
            <a:r>
              <a:rPr lang="en-US" dirty="0" smtClean="0">
                <a:sym typeface="Symbol"/>
              </a:rPr>
              <a:t> = seconds per flop (multiply or add)</a:t>
            </a:r>
          </a:p>
          <a:p>
            <a:pPr lvl="1"/>
            <a:r>
              <a:rPr lang="en-US" dirty="0" smtClean="0">
                <a:sym typeface="Symbol"/>
              </a:rPr>
              <a:t> = reciprocal bandwidth (in seconds)</a:t>
            </a:r>
          </a:p>
          <a:p>
            <a:pPr lvl="1"/>
            <a:r>
              <a:rPr lang="en-US" dirty="0" smtClean="0">
                <a:sym typeface="Symbol"/>
              </a:rPr>
              <a:t> = latency (in seconds)</a:t>
            </a:r>
          </a:p>
          <a:p>
            <a:pPr lvl="1"/>
            <a:r>
              <a:rPr lang="en-US" dirty="0" smtClean="0">
                <a:sym typeface="Symbol"/>
              </a:rPr>
              <a:t>M = local (fast) memory size</a:t>
            </a:r>
          </a:p>
          <a:p>
            <a:pPr lvl="1"/>
            <a:r>
              <a:rPr lang="en-US" dirty="0" smtClean="0">
                <a:sym typeface="Symbol"/>
              </a:rPr>
              <a:t>P = number of processors</a:t>
            </a:r>
          </a:p>
          <a:p>
            <a:r>
              <a:rPr lang="en-US" dirty="0" smtClean="0">
                <a:sym typeface="Symbol"/>
              </a:rPr>
              <a:t>Goal: relationships among these parameters that guarantees that communication is not the bottleneck for direct linear algebra</a:t>
            </a:r>
          </a:p>
          <a:p>
            <a:r>
              <a:rPr lang="en-US" sz="3000" dirty="0" smtClean="0">
                <a:sym typeface="Symbol"/>
              </a:rPr>
              <a:t>Time =  * #flops +  * </a:t>
            </a:r>
            <a:r>
              <a:rPr lang="en-US" sz="3000" dirty="0">
                <a:sym typeface="Symbol"/>
              </a:rPr>
              <a:t>#</a:t>
            </a:r>
            <a:r>
              <a:rPr lang="en-US" sz="3000" dirty="0" smtClean="0">
                <a:sym typeface="Symbol"/>
              </a:rPr>
              <a:t>flops/M</a:t>
            </a:r>
            <a:r>
              <a:rPr lang="en-US" sz="3000" baseline="30000" dirty="0" smtClean="0">
                <a:sym typeface="Symbol"/>
              </a:rPr>
              <a:t>1/2</a:t>
            </a:r>
            <a:r>
              <a:rPr lang="en-US" sz="3000" dirty="0" smtClean="0">
                <a:sym typeface="Symbol"/>
              </a:rPr>
              <a:t> +  * </a:t>
            </a:r>
            <a:r>
              <a:rPr lang="en-US" sz="3000" dirty="0">
                <a:sym typeface="Symbol"/>
              </a:rPr>
              <a:t>#flops/</a:t>
            </a:r>
            <a:r>
              <a:rPr lang="en-US" sz="3000" dirty="0" smtClean="0">
                <a:sym typeface="Symbol"/>
              </a:rPr>
              <a:t>M</a:t>
            </a:r>
            <a:r>
              <a:rPr lang="en-US" sz="3000" baseline="30000" dirty="0" smtClean="0">
                <a:sym typeface="Symbol"/>
              </a:rPr>
              <a:t>3/</a:t>
            </a:r>
            <a:r>
              <a:rPr lang="en-US" sz="3000" baseline="30000" dirty="0">
                <a:sym typeface="Symbol"/>
              </a:rPr>
              <a:t>2</a:t>
            </a:r>
            <a:r>
              <a:rPr lang="en-US" sz="3000" dirty="0">
                <a:sym typeface="Symbol"/>
              </a:rPr>
              <a:t> </a:t>
            </a:r>
            <a:endParaRPr lang="en-US" sz="3000" dirty="0" smtClean="0">
              <a:sym typeface="Symbo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xmlns:p14="http://schemas.microsoft.com/office/powerpoint/2010/mai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458200" cy="1143000"/>
          </a:xfrm>
        </p:spPr>
        <p:txBody>
          <a:bodyPr>
            <a:normAutofit fontScale="90000"/>
          </a:bodyPr>
          <a:lstStyle/>
          <a:p>
            <a:r>
              <a:rPr lang="en-US" dirty="0" smtClean="0"/>
              <a:t>Implications for Architectural Scaling</a:t>
            </a:r>
            <a:br>
              <a:rPr lang="en-US" dirty="0" smtClean="0"/>
            </a:br>
            <a:r>
              <a:rPr lang="en-US" dirty="0" smtClean="0"/>
              <a:t>Sequential Case:</a:t>
            </a:r>
            <a:endParaRPr lang="en-US" dirty="0"/>
          </a:p>
        </p:txBody>
      </p:sp>
      <p:sp>
        <p:nvSpPr>
          <p:cNvPr id="3" name="Content Placeholder 2"/>
          <p:cNvSpPr>
            <a:spLocks noGrp="1"/>
          </p:cNvSpPr>
          <p:nvPr>
            <p:ph idx="1"/>
          </p:nvPr>
        </p:nvSpPr>
        <p:spPr>
          <a:xfrm>
            <a:off x="304800" y="1600200"/>
            <a:ext cx="8686800" cy="4525963"/>
          </a:xfrm>
        </p:spPr>
        <p:txBody>
          <a:bodyPr>
            <a:normAutofit/>
          </a:bodyPr>
          <a:lstStyle/>
          <a:p>
            <a:r>
              <a:rPr lang="en-US" dirty="0" smtClean="0">
                <a:sym typeface="Symbol"/>
              </a:rPr>
              <a:t>Requirements so that “most” time is spent doing arithmetic on n x n dense matrices, n</a:t>
            </a:r>
            <a:r>
              <a:rPr lang="en-US" baseline="30000" dirty="0" smtClean="0">
                <a:sym typeface="Symbol"/>
              </a:rPr>
              <a:t>2</a:t>
            </a:r>
            <a:r>
              <a:rPr lang="en-US" dirty="0" smtClean="0">
                <a:sym typeface="Symbol"/>
              </a:rPr>
              <a:t> &gt; M</a:t>
            </a:r>
          </a:p>
          <a:p>
            <a:pPr lvl="1"/>
            <a:r>
              <a:rPr lang="en-US" dirty="0" smtClean="0">
                <a:sym typeface="Symbol"/>
              </a:rPr>
              <a:t> M</a:t>
            </a:r>
            <a:r>
              <a:rPr lang="en-US" baseline="30000" dirty="0" smtClean="0">
                <a:sym typeface="Symbol"/>
              </a:rPr>
              <a:t>1/2</a:t>
            </a:r>
            <a:r>
              <a:rPr lang="en-US" dirty="0" smtClean="0">
                <a:sym typeface="Symbol"/>
              </a:rPr>
              <a:t>    </a:t>
            </a:r>
          </a:p>
          <a:p>
            <a:pPr lvl="2"/>
            <a:r>
              <a:rPr lang="en-US" dirty="0" smtClean="0">
                <a:sym typeface="Symbol"/>
              </a:rPr>
              <a:t>In other words, time to add two rows of largest locally storable square matrix exceeds reciprocal bandwidth</a:t>
            </a:r>
          </a:p>
          <a:p>
            <a:pPr lvl="1"/>
            <a:r>
              <a:rPr lang="en-US" dirty="0" smtClean="0">
                <a:sym typeface="Symbol"/>
              </a:rPr>
              <a:t> M</a:t>
            </a:r>
            <a:r>
              <a:rPr lang="en-US" baseline="30000" dirty="0" smtClean="0">
                <a:sym typeface="Symbol"/>
              </a:rPr>
              <a:t>3/2</a:t>
            </a:r>
            <a:r>
              <a:rPr lang="en-US" dirty="0" smtClean="0">
                <a:sym typeface="Symbol"/>
              </a:rPr>
              <a:t>   </a:t>
            </a:r>
          </a:p>
          <a:p>
            <a:pPr lvl="2"/>
            <a:r>
              <a:rPr lang="en-US" dirty="0" smtClean="0">
                <a:sym typeface="Symbol"/>
              </a:rPr>
              <a:t>In other words, time to multiply 2 largest locally storable square matrices exceeds latency</a:t>
            </a:r>
          </a:p>
          <a:p>
            <a:r>
              <a:rPr lang="en-US" dirty="0" smtClean="0">
                <a:sym typeface="Symbol"/>
              </a:rPr>
              <a:t>Applies to </a:t>
            </a:r>
            <a:r>
              <a:rPr lang="en-US" i="1" dirty="0" smtClean="0">
                <a:sym typeface="Symbol"/>
              </a:rPr>
              <a:t>every</a:t>
            </a:r>
            <a:r>
              <a:rPr lang="en-US" dirty="0" smtClean="0">
                <a:sym typeface="Symbol"/>
              </a:rPr>
              <a:t> level of memory hierarchy</a:t>
            </a:r>
          </a:p>
        </p:txBody>
      </p:sp>
      <p:sp>
        <p:nvSpPr>
          <p:cNvPr id="4" name="TextBox 3"/>
          <p:cNvSpPr txBox="1"/>
          <p:nvPr/>
        </p:nvSpPr>
        <p:spPr>
          <a:xfrm>
            <a:off x="3200400" y="3962400"/>
            <a:ext cx="5562600" cy="523220"/>
          </a:xfrm>
          <a:prstGeom prst="rect">
            <a:avLst/>
          </a:prstGeom>
          <a:noFill/>
        </p:spPr>
        <p:txBody>
          <a:bodyPr wrap="square" rtlCol="0">
            <a:spAutoFit/>
          </a:bodyPr>
          <a:lstStyle/>
          <a:p>
            <a:pPr marL="0" lvl="1"/>
            <a:r>
              <a:rPr lang="en-US" sz="2800" dirty="0" smtClean="0">
                <a:solidFill>
                  <a:srgbClr val="FF0000"/>
                </a:solidFill>
                <a:sym typeface="Symbol"/>
              </a:rPr>
              <a:t> M      for old algorithms</a:t>
            </a:r>
          </a:p>
        </p:txBody>
      </p:sp>
      <p:sp>
        <p:nvSpPr>
          <p:cNvPr id="5" name="TextBox 4"/>
          <p:cNvSpPr txBox="1"/>
          <p:nvPr/>
        </p:nvSpPr>
        <p:spPr>
          <a:xfrm>
            <a:off x="3276600" y="2667000"/>
            <a:ext cx="5562600" cy="523220"/>
          </a:xfrm>
          <a:prstGeom prst="rect">
            <a:avLst/>
          </a:prstGeom>
          <a:noFill/>
        </p:spPr>
        <p:txBody>
          <a:bodyPr wrap="square" rtlCol="0">
            <a:spAutoFit/>
          </a:bodyPr>
          <a:lstStyle/>
          <a:p>
            <a:pPr marL="0" lvl="1"/>
            <a:r>
              <a:rPr lang="en-US" sz="2800" dirty="0" smtClean="0">
                <a:solidFill>
                  <a:srgbClr val="FF0000"/>
                </a:solidFill>
                <a:sym typeface="Symbol"/>
              </a:rPr>
              <a:t> M</a:t>
            </a:r>
            <a:r>
              <a:rPr lang="en-US" sz="2800" baseline="30000" dirty="0" smtClean="0">
                <a:solidFill>
                  <a:srgbClr val="FF0000"/>
                </a:solidFill>
                <a:sym typeface="Symbol"/>
              </a:rPr>
              <a:t>1/3</a:t>
            </a:r>
            <a:r>
              <a:rPr lang="en-US" sz="2800" dirty="0" smtClean="0">
                <a:solidFill>
                  <a:srgbClr val="FF0000"/>
                </a:solidFill>
                <a:sym typeface="Symbol"/>
              </a:rPr>
              <a:t>      for old algorithms</a:t>
            </a:r>
          </a:p>
        </p:txBody>
      </p:sp>
      <p:sp>
        <p:nvSpPr>
          <p:cNvPr id="6" name="TextBox 5"/>
          <p:cNvSpPr txBox="1"/>
          <p:nvPr/>
        </p:nvSpPr>
        <p:spPr>
          <a:xfrm>
            <a:off x="609600" y="5877580"/>
            <a:ext cx="8534400" cy="523220"/>
          </a:xfrm>
          <a:prstGeom prst="rect">
            <a:avLst/>
          </a:prstGeom>
          <a:noFill/>
        </p:spPr>
        <p:txBody>
          <a:bodyPr wrap="square" rtlCol="0">
            <a:spAutoFit/>
          </a:bodyPr>
          <a:lstStyle/>
          <a:p>
            <a:pPr marL="0" lvl="1"/>
            <a:r>
              <a:rPr lang="en-US" sz="2800" dirty="0" smtClean="0">
                <a:solidFill>
                  <a:srgbClr val="FF0000"/>
                </a:solidFill>
                <a:sym typeface="Symbol"/>
              </a:rPr>
              <a:t>Stricter requirements on architecture for old algorithms</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Lst>
  </p:timing>
</p:sld>
</file>

<file path=ppt/slides/slide1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458200" cy="1143000"/>
          </a:xfrm>
        </p:spPr>
        <p:txBody>
          <a:bodyPr>
            <a:normAutofit fontScale="90000"/>
          </a:bodyPr>
          <a:lstStyle/>
          <a:p>
            <a:r>
              <a:rPr lang="en-US" dirty="0" smtClean="0"/>
              <a:t>Implications for Architectural Scaling</a:t>
            </a:r>
            <a:br>
              <a:rPr lang="en-US" dirty="0" smtClean="0"/>
            </a:br>
            <a:r>
              <a:rPr lang="en-US" dirty="0" smtClean="0"/>
              <a:t>Parallel Case:</a:t>
            </a:r>
            <a:endParaRPr lang="en-US" dirty="0"/>
          </a:p>
        </p:txBody>
      </p:sp>
      <p:sp>
        <p:nvSpPr>
          <p:cNvPr id="3" name="Content Placeholder 2"/>
          <p:cNvSpPr>
            <a:spLocks noGrp="1"/>
          </p:cNvSpPr>
          <p:nvPr>
            <p:ph idx="1"/>
          </p:nvPr>
        </p:nvSpPr>
        <p:spPr>
          <a:xfrm>
            <a:off x="457200" y="1600200"/>
            <a:ext cx="8686800" cy="4525963"/>
          </a:xfrm>
        </p:spPr>
        <p:txBody>
          <a:bodyPr>
            <a:normAutofit/>
          </a:bodyPr>
          <a:lstStyle/>
          <a:p>
            <a:r>
              <a:rPr lang="en-US" dirty="0" smtClean="0">
                <a:sym typeface="Symbol"/>
              </a:rPr>
              <a:t>Requirements so that “most” time is spent doing arithmetic on n x n dense matrices</a:t>
            </a:r>
          </a:p>
          <a:p>
            <a:pPr lvl="1"/>
            <a:r>
              <a:rPr lang="en-US" dirty="0" smtClean="0">
                <a:sym typeface="Symbol"/>
              </a:rPr>
              <a:t> (n/p</a:t>
            </a:r>
            <a:r>
              <a:rPr lang="en-US" baseline="30000" dirty="0" smtClean="0">
                <a:sym typeface="Symbol"/>
              </a:rPr>
              <a:t>1/2</a:t>
            </a:r>
            <a:r>
              <a:rPr lang="en-US" dirty="0" smtClean="0">
                <a:sym typeface="Symbol"/>
              </a:rPr>
              <a:t>)    </a:t>
            </a:r>
          </a:p>
          <a:p>
            <a:pPr lvl="2"/>
            <a:r>
              <a:rPr lang="en-US" dirty="0" smtClean="0">
                <a:sym typeface="Symbol"/>
              </a:rPr>
              <a:t>In other words, time to add two rows of locally stored square matrix exceeds reciprocal bandwidth</a:t>
            </a:r>
          </a:p>
          <a:p>
            <a:pPr lvl="1"/>
            <a:r>
              <a:rPr lang="en-US" dirty="0" smtClean="0">
                <a:sym typeface="Symbol"/>
              </a:rPr>
              <a:t> (n/p</a:t>
            </a:r>
            <a:r>
              <a:rPr lang="en-US" baseline="30000" dirty="0" smtClean="0">
                <a:sym typeface="Symbol"/>
              </a:rPr>
              <a:t>1/2</a:t>
            </a:r>
            <a:r>
              <a:rPr lang="en-US" dirty="0" smtClean="0">
                <a:sym typeface="Symbol"/>
              </a:rPr>
              <a:t>)</a:t>
            </a:r>
            <a:r>
              <a:rPr lang="en-US" baseline="30000" dirty="0" smtClean="0">
                <a:sym typeface="Symbol"/>
              </a:rPr>
              <a:t>3</a:t>
            </a:r>
            <a:r>
              <a:rPr lang="en-US" dirty="0" smtClean="0">
                <a:sym typeface="Symbol"/>
              </a:rPr>
              <a:t>   </a:t>
            </a:r>
          </a:p>
          <a:p>
            <a:pPr lvl="2"/>
            <a:r>
              <a:rPr lang="en-US" dirty="0" smtClean="0">
                <a:sym typeface="Symbol"/>
              </a:rPr>
              <a:t>In other words, time to multiply 2 locally stored square matrices exceeds latency</a:t>
            </a:r>
          </a:p>
        </p:txBody>
      </p:sp>
      <p:sp>
        <p:nvSpPr>
          <p:cNvPr id="5" name="TextBox 4"/>
          <p:cNvSpPr txBox="1"/>
          <p:nvPr/>
        </p:nvSpPr>
        <p:spPr>
          <a:xfrm>
            <a:off x="3810000" y="3962400"/>
            <a:ext cx="2473754" cy="523220"/>
          </a:xfrm>
          <a:prstGeom prst="rect">
            <a:avLst/>
          </a:prstGeom>
          <a:noFill/>
        </p:spPr>
        <p:txBody>
          <a:bodyPr wrap="none" rtlCol="0">
            <a:spAutoFit/>
          </a:bodyPr>
          <a:lstStyle/>
          <a:p>
            <a:pPr marL="0" lvl="1"/>
            <a:r>
              <a:rPr lang="en-US" sz="2800" dirty="0" smtClean="0">
                <a:solidFill>
                  <a:srgbClr val="FF0000"/>
                </a:solidFill>
                <a:sym typeface="Symbol"/>
              </a:rPr>
              <a:t> (n/p</a:t>
            </a:r>
            <a:r>
              <a:rPr lang="en-US" sz="2800" baseline="30000" dirty="0" smtClean="0">
                <a:solidFill>
                  <a:srgbClr val="FF0000"/>
                </a:solidFill>
                <a:sym typeface="Symbol"/>
              </a:rPr>
              <a:t>1/2</a:t>
            </a:r>
            <a:r>
              <a:rPr lang="en-US" sz="2800" dirty="0" smtClean="0">
                <a:solidFill>
                  <a:srgbClr val="FF0000"/>
                </a:solidFill>
                <a:sym typeface="Symbol"/>
              </a:rPr>
              <a:t>)</a:t>
            </a:r>
            <a:r>
              <a:rPr lang="en-US" sz="2800" baseline="30000" dirty="0" smtClean="0">
                <a:solidFill>
                  <a:srgbClr val="FF0000"/>
                </a:solidFill>
                <a:sym typeface="Symbol"/>
              </a:rPr>
              <a:t>2</a:t>
            </a:r>
            <a:r>
              <a:rPr lang="en-US" sz="2800" dirty="0" smtClean="0">
                <a:solidFill>
                  <a:srgbClr val="FF0000"/>
                </a:solidFill>
                <a:sym typeface="Symbol"/>
              </a:rPr>
              <a:t>   </a:t>
            </a:r>
          </a:p>
        </p:txBody>
      </p:sp>
      <p:sp>
        <p:nvSpPr>
          <p:cNvPr id="6" name="TextBox 5"/>
          <p:cNvSpPr txBox="1"/>
          <p:nvPr/>
        </p:nvSpPr>
        <p:spPr>
          <a:xfrm>
            <a:off x="6629400" y="3962400"/>
            <a:ext cx="1923925" cy="523220"/>
          </a:xfrm>
          <a:prstGeom prst="rect">
            <a:avLst/>
          </a:prstGeom>
          <a:noFill/>
        </p:spPr>
        <p:txBody>
          <a:bodyPr wrap="none" rtlCol="0">
            <a:spAutoFit/>
          </a:bodyPr>
          <a:lstStyle/>
          <a:p>
            <a:pPr marL="0" lvl="1"/>
            <a:r>
              <a:rPr lang="en-US" sz="2800" dirty="0" smtClean="0">
                <a:solidFill>
                  <a:srgbClr val="0824F2"/>
                </a:solidFill>
                <a:sym typeface="Symbol"/>
              </a:rPr>
              <a:t> M</a:t>
            </a:r>
            <a:r>
              <a:rPr lang="en-US" sz="2800" baseline="30000" dirty="0" smtClean="0">
                <a:solidFill>
                  <a:srgbClr val="0824F2"/>
                </a:solidFill>
                <a:sym typeface="Symbol"/>
              </a:rPr>
              <a:t>3/2</a:t>
            </a:r>
            <a:r>
              <a:rPr lang="en-US" sz="2800" dirty="0" smtClean="0">
                <a:solidFill>
                  <a:srgbClr val="0824F2"/>
                </a:solidFill>
                <a:sym typeface="Symbol"/>
              </a:rPr>
              <a:t>   </a:t>
            </a:r>
          </a:p>
        </p:txBody>
      </p:sp>
      <p:sp>
        <p:nvSpPr>
          <p:cNvPr id="7" name="TextBox 6"/>
          <p:cNvSpPr txBox="1"/>
          <p:nvPr/>
        </p:nvSpPr>
        <p:spPr>
          <a:xfrm>
            <a:off x="6629400" y="2590800"/>
            <a:ext cx="1895071" cy="523220"/>
          </a:xfrm>
          <a:prstGeom prst="rect">
            <a:avLst/>
          </a:prstGeom>
          <a:noFill/>
        </p:spPr>
        <p:txBody>
          <a:bodyPr wrap="none" rtlCol="0">
            <a:spAutoFit/>
          </a:bodyPr>
          <a:lstStyle/>
          <a:p>
            <a:pPr marL="0" lvl="1"/>
            <a:r>
              <a:rPr lang="en-US" sz="2800" dirty="0" smtClean="0">
                <a:solidFill>
                  <a:srgbClr val="0824F2"/>
                </a:solidFill>
                <a:sym typeface="Symbol"/>
              </a:rPr>
              <a:t> M</a:t>
            </a:r>
            <a:r>
              <a:rPr lang="en-US" sz="2800" baseline="30000" dirty="0" smtClean="0">
                <a:solidFill>
                  <a:srgbClr val="0824F2"/>
                </a:solidFill>
                <a:sym typeface="Symbol"/>
              </a:rPr>
              <a:t>1/2</a:t>
            </a:r>
            <a:r>
              <a:rPr lang="en-US" sz="2800" dirty="0" smtClean="0">
                <a:solidFill>
                  <a:srgbClr val="0824F2"/>
                </a:solidFill>
                <a:sym typeface="Symbol"/>
              </a:rPr>
              <a:t>   </a:t>
            </a:r>
          </a:p>
        </p:txBody>
      </p:sp>
      <p:sp>
        <p:nvSpPr>
          <p:cNvPr id="8" name="TextBox 7"/>
          <p:cNvSpPr txBox="1"/>
          <p:nvPr/>
        </p:nvSpPr>
        <p:spPr>
          <a:xfrm>
            <a:off x="457200" y="5410200"/>
            <a:ext cx="8382000" cy="523220"/>
          </a:xfrm>
          <a:prstGeom prst="rect">
            <a:avLst/>
          </a:prstGeom>
          <a:noFill/>
        </p:spPr>
        <p:txBody>
          <a:bodyPr wrap="square" rtlCol="0">
            <a:spAutoFit/>
          </a:bodyPr>
          <a:lstStyle/>
          <a:p>
            <a:pPr marL="0" lvl="1"/>
            <a:r>
              <a:rPr lang="en-US" sz="2800" dirty="0" smtClean="0">
                <a:solidFill>
                  <a:srgbClr val="FF0000"/>
                </a:solidFill>
                <a:sym typeface="Symbol"/>
              </a:rPr>
              <a:t>Stricter requirements on architecture for old algorithms</a:t>
            </a:r>
          </a:p>
        </p:txBody>
      </p:sp>
      <p:sp>
        <p:nvSpPr>
          <p:cNvPr id="9" name="TextBox 8"/>
          <p:cNvSpPr txBox="1"/>
          <p:nvPr/>
        </p:nvSpPr>
        <p:spPr>
          <a:xfrm>
            <a:off x="457200" y="5953780"/>
            <a:ext cx="8382000" cy="523220"/>
          </a:xfrm>
          <a:prstGeom prst="rect">
            <a:avLst/>
          </a:prstGeom>
          <a:noFill/>
        </p:spPr>
        <p:txBody>
          <a:bodyPr wrap="square" rtlCol="0">
            <a:spAutoFit/>
          </a:bodyPr>
          <a:lstStyle/>
          <a:p>
            <a:pPr marL="0" lvl="1"/>
            <a:r>
              <a:rPr lang="en-US" sz="2800" dirty="0" smtClean="0">
                <a:solidFill>
                  <a:srgbClr val="0824F2"/>
                </a:solidFill>
                <a:sym typeface="Symbol"/>
              </a:rPr>
              <a:t>Looser requirements on architecture for 2.5D algorithms</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1"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1"/>
      <p:bldP spid="9" grpId="0"/>
    </p:bldLst>
  </p:timing>
</p:sld>
</file>

<file path=ppt/slides/slide1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62466" name="Picture 4" descr="passbulges.pdf"/>
          <p:cNvPicPr>
            <a:picLocks noChangeAspect="1"/>
          </p:cNvPicPr>
          <p:nvPr/>
        </p:nvPicPr>
        <p:blipFill>
          <a:blip r:embed="rId3" cstate="print"/>
          <a:srcRect/>
          <a:stretch>
            <a:fillRect/>
          </a:stretch>
        </p:blipFill>
        <p:spPr bwMode="auto">
          <a:xfrm>
            <a:off x="3509963" y="2627313"/>
            <a:ext cx="4738687" cy="2093912"/>
          </a:xfrm>
          <a:prstGeom prst="rect">
            <a:avLst/>
          </a:prstGeom>
          <a:noFill/>
          <a:ln w="9525">
            <a:noFill/>
            <a:miter lim="800000"/>
            <a:headEnd/>
            <a:tailEnd/>
          </a:ln>
        </p:spPr>
      </p:pic>
      <p:pic>
        <p:nvPicPr>
          <p:cNvPr id="62467" name="Picture 5" descr="clearbulges.pdf"/>
          <p:cNvPicPr>
            <a:picLocks noChangeAspect="1"/>
          </p:cNvPicPr>
          <p:nvPr/>
        </p:nvPicPr>
        <p:blipFill>
          <a:blip r:embed="rId4" cstate="print"/>
          <a:srcRect/>
          <a:stretch>
            <a:fillRect/>
          </a:stretch>
        </p:blipFill>
        <p:spPr bwMode="auto">
          <a:xfrm>
            <a:off x="4343400" y="5181600"/>
            <a:ext cx="2876550" cy="1146175"/>
          </a:xfrm>
          <a:prstGeom prst="rect">
            <a:avLst/>
          </a:prstGeom>
          <a:noFill/>
          <a:ln w="9525">
            <a:noFill/>
            <a:miter lim="800000"/>
            <a:headEnd/>
            <a:tailEnd/>
          </a:ln>
        </p:spPr>
      </p:pic>
      <p:sp>
        <p:nvSpPr>
          <p:cNvPr id="62468" name="Rectangle 6"/>
          <p:cNvSpPr>
            <a:spLocks noChangeArrowheads="1"/>
          </p:cNvSpPr>
          <p:nvPr/>
        </p:nvSpPr>
        <p:spPr bwMode="auto">
          <a:xfrm>
            <a:off x="488950" y="631825"/>
            <a:ext cx="8385175" cy="153988"/>
          </a:xfrm>
          <a:prstGeom prst="rect">
            <a:avLst/>
          </a:prstGeom>
          <a:solidFill>
            <a:schemeClr val="bg1"/>
          </a:solidFill>
          <a:ln w="12700" algn="ctr">
            <a:noFill/>
            <a:round/>
            <a:headEnd type="none" w="sm" len="sm"/>
            <a:tailEnd type="none" w="sm" len="sm"/>
          </a:ln>
        </p:spPr>
        <p:txBody>
          <a:bodyPr/>
          <a:lstStyle/>
          <a:p>
            <a:pPr eaLnBrk="0" hangingPunct="0"/>
            <a:endParaRPr lang="en-US"/>
          </a:p>
        </p:txBody>
      </p:sp>
      <p:pic>
        <p:nvPicPr>
          <p:cNvPr id="62469" name="Picture 3" descr="createbulges.pdf"/>
          <p:cNvPicPr>
            <a:picLocks noChangeAspect="1"/>
          </p:cNvPicPr>
          <p:nvPr/>
        </p:nvPicPr>
        <p:blipFill>
          <a:blip r:embed="rId5" cstate="print"/>
          <a:srcRect/>
          <a:stretch>
            <a:fillRect/>
          </a:stretch>
        </p:blipFill>
        <p:spPr bwMode="auto">
          <a:xfrm>
            <a:off x="3535363" y="112713"/>
            <a:ext cx="4740275" cy="2079625"/>
          </a:xfrm>
          <a:prstGeom prst="rect">
            <a:avLst/>
          </a:prstGeom>
          <a:solidFill>
            <a:schemeClr val="bg1"/>
          </a:solidFill>
          <a:ln w="9525">
            <a:noFill/>
            <a:miter lim="800000"/>
            <a:headEnd/>
            <a:tailEnd/>
          </a:ln>
        </p:spPr>
      </p:pic>
      <p:sp>
        <p:nvSpPr>
          <p:cNvPr id="62470" name="TextBox 7"/>
          <p:cNvSpPr txBox="1">
            <a:spLocks noChangeArrowheads="1"/>
          </p:cNvSpPr>
          <p:nvPr/>
        </p:nvSpPr>
        <p:spPr bwMode="auto">
          <a:xfrm>
            <a:off x="304800" y="1647825"/>
            <a:ext cx="3124200" cy="1661993"/>
          </a:xfrm>
          <a:prstGeom prst="rect">
            <a:avLst/>
          </a:prstGeom>
          <a:noFill/>
          <a:ln w="9525">
            <a:noFill/>
            <a:miter lim="800000"/>
            <a:headEnd/>
            <a:tailEnd/>
          </a:ln>
        </p:spPr>
        <p:txBody>
          <a:bodyPr wrap="square">
            <a:spAutoFit/>
          </a:bodyPr>
          <a:lstStyle/>
          <a:p>
            <a:r>
              <a:rPr lang="en-US" sz="2400" dirty="0" smtClean="0">
                <a:solidFill>
                  <a:schemeClr val="tx1"/>
                </a:solidFill>
              </a:rPr>
              <a:t>Illustration </a:t>
            </a:r>
            <a:r>
              <a:rPr lang="en-US" sz="2400" dirty="0">
                <a:solidFill>
                  <a:schemeClr val="tx1"/>
                </a:solidFill>
              </a:rPr>
              <a:t>of </a:t>
            </a:r>
          </a:p>
          <a:p>
            <a:r>
              <a:rPr lang="en-US" sz="2400" dirty="0">
                <a:solidFill>
                  <a:schemeClr val="tx1"/>
                </a:solidFill>
              </a:rPr>
              <a:t>Parallel SBR</a:t>
            </a:r>
          </a:p>
          <a:p>
            <a:endParaRPr lang="en-US" dirty="0" smtClean="0">
              <a:solidFill>
                <a:schemeClr val="tx1"/>
              </a:solidFill>
            </a:endParaRPr>
          </a:p>
          <a:p>
            <a:r>
              <a:rPr lang="en-US" dirty="0" smtClean="0"/>
              <a:t>Pipeline multiple bulge c</a:t>
            </a:r>
            <a:r>
              <a:rPr lang="en-US" dirty="0" smtClean="0">
                <a:solidFill>
                  <a:schemeClr val="tx1"/>
                </a:solidFill>
              </a:rPr>
              <a:t>hases from one processor </a:t>
            </a:r>
            <a:r>
              <a:rPr lang="en-US" dirty="0" smtClean="0"/>
              <a:t>to next</a:t>
            </a:r>
            <a:endParaRPr lang="en-US" dirty="0">
              <a:solidFill>
                <a:schemeClr val="tx1"/>
              </a:solidFill>
            </a:endParaRPr>
          </a:p>
        </p:txBody>
      </p:sp>
    </p:spTree>
    <p:extLst>
      <p:ext uri="{BB962C8B-B14F-4D97-AF65-F5344CB8AC3E}">
        <p14:creationId xmlns:p14="http://schemas.microsoft.com/office/powerpoint/2010/main" val="611179962"/>
      </p:ext>
    </p:extLst>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Autotuning</a:t>
            </a:r>
            <a:r>
              <a:rPr lang="en-US" dirty="0" smtClean="0"/>
              <a:t> search space for SBR</a:t>
            </a:r>
            <a:endParaRPr lang="en-US" dirty="0"/>
          </a:p>
        </p:txBody>
      </p:sp>
      <p:sp>
        <p:nvSpPr>
          <p:cNvPr id="3" name="Content Placeholder 2"/>
          <p:cNvSpPr>
            <a:spLocks noGrp="1"/>
          </p:cNvSpPr>
          <p:nvPr>
            <p:ph idx="1"/>
          </p:nvPr>
        </p:nvSpPr>
        <p:spPr/>
        <p:txBody>
          <a:bodyPr>
            <a:normAutofit lnSpcReduction="10000"/>
          </a:bodyPr>
          <a:lstStyle/>
          <a:p>
            <a:pPr marL="514350" indent="-514350"/>
            <a:r>
              <a:rPr lang="en-US" sz="2800" dirty="0" smtClean="0"/>
              <a:t>Number of sweeps and diagonals per sweep: {</a:t>
            </a:r>
            <a:r>
              <a:rPr lang="en-US" sz="2800" dirty="0" err="1" smtClean="0"/>
              <a:t>d</a:t>
            </a:r>
            <a:r>
              <a:rPr lang="en-US" sz="2800" baseline="-25000" dirty="0" err="1" smtClean="0"/>
              <a:t>i</a:t>
            </a:r>
            <a:r>
              <a:rPr lang="en-US" sz="2800" dirty="0" smtClean="0"/>
              <a:t>}</a:t>
            </a:r>
          </a:p>
          <a:p>
            <a:pPr marL="914400" lvl="1" indent="-514350"/>
            <a:r>
              <a:rPr lang="en-US" sz="2400" dirty="0" smtClean="0"/>
              <a:t>Satisfying </a:t>
            </a:r>
            <a:r>
              <a:rPr lang="en-US" sz="2400" dirty="0" smtClean="0">
                <a:sym typeface="Symbol"/>
              </a:rPr>
              <a:t> </a:t>
            </a:r>
            <a:r>
              <a:rPr lang="en-US" sz="2400" dirty="0" err="1" smtClean="0"/>
              <a:t>d</a:t>
            </a:r>
            <a:r>
              <a:rPr lang="en-US" sz="2400" baseline="-25000" dirty="0" err="1" smtClean="0"/>
              <a:t>i</a:t>
            </a:r>
            <a:r>
              <a:rPr lang="en-US" sz="2400" dirty="0" smtClean="0"/>
              <a:t> = b</a:t>
            </a:r>
          </a:p>
          <a:p>
            <a:pPr marL="514350" indent="-514350"/>
            <a:r>
              <a:rPr lang="en-US" sz="2800" dirty="0" smtClean="0"/>
              <a:t>Parameters for </a:t>
            </a:r>
            <a:r>
              <a:rPr lang="en-US" sz="2800" dirty="0" err="1" smtClean="0"/>
              <a:t>i</a:t>
            </a:r>
            <a:r>
              <a:rPr lang="en-US" sz="2800" baseline="30000" dirty="0" err="1" smtClean="0"/>
              <a:t>th</a:t>
            </a:r>
            <a:r>
              <a:rPr lang="en-US" sz="2800" dirty="0" smtClean="0"/>
              <a:t> sweep</a:t>
            </a:r>
          </a:p>
          <a:p>
            <a:pPr marL="914400" lvl="1" indent="-514350"/>
            <a:r>
              <a:rPr lang="en-US" sz="2400" dirty="0" smtClean="0"/>
              <a:t>Number of columns in each parallelogram: </a:t>
            </a:r>
            <a:r>
              <a:rPr lang="en-US" sz="2400" dirty="0" err="1" smtClean="0"/>
              <a:t>c</a:t>
            </a:r>
            <a:r>
              <a:rPr lang="en-US" sz="2400" baseline="-25000" dirty="0" err="1" smtClean="0"/>
              <a:t>i</a:t>
            </a:r>
            <a:endParaRPr lang="en-US" sz="2400" baseline="-25000" dirty="0" smtClean="0"/>
          </a:p>
          <a:p>
            <a:pPr marL="1314450" lvl="2" indent="-514350"/>
            <a:r>
              <a:rPr lang="en-US" sz="2000" dirty="0" smtClean="0"/>
              <a:t>Satisfying </a:t>
            </a:r>
            <a:r>
              <a:rPr lang="en-US" sz="2000" dirty="0" err="1" smtClean="0"/>
              <a:t>c</a:t>
            </a:r>
            <a:r>
              <a:rPr lang="en-US" sz="2000" baseline="-25000" dirty="0" err="1" smtClean="0"/>
              <a:t>i</a:t>
            </a:r>
            <a:r>
              <a:rPr lang="en-US" sz="2000" dirty="0" smtClean="0"/>
              <a:t> + </a:t>
            </a:r>
            <a:r>
              <a:rPr lang="en-US" sz="2000" dirty="0" err="1" smtClean="0"/>
              <a:t>d</a:t>
            </a:r>
            <a:r>
              <a:rPr lang="en-US" sz="2000" baseline="-25000" dirty="0" err="1" smtClean="0"/>
              <a:t>i</a:t>
            </a:r>
            <a:r>
              <a:rPr lang="en-US" sz="2000" dirty="0" smtClean="0"/>
              <a:t> </a:t>
            </a:r>
            <a:r>
              <a:rPr lang="en-US" sz="2000" dirty="0" smtClean="0">
                <a:sym typeface="Symbol"/>
              </a:rPr>
              <a:t> b</a:t>
            </a:r>
            <a:r>
              <a:rPr lang="en-US" sz="2000" baseline="-25000" dirty="0" smtClean="0">
                <a:sym typeface="Symbol"/>
              </a:rPr>
              <a:t>i </a:t>
            </a:r>
            <a:r>
              <a:rPr lang="en-US" sz="2000" dirty="0" smtClean="0">
                <a:sym typeface="Symbol"/>
              </a:rPr>
              <a:t>= bandwidth after first i-1 sweeps </a:t>
            </a:r>
          </a:p>
          <a:p>
            <a:pPr marL="914400" lvl="1" indent="-514350"/>
            <a:r>
              <a:rPr lang="en-US" sz="2400" dirty="0" smtClean="0">
                <a:sym typeface="Symbol"/>
              </a:rPr>
              <a:t>Number of bulges chased at a time:  mult</a:t>
            </a:r>
            <a:r>
              <a:rPr lang="en-US" sz="2400" baseline="-25000" dirty="0" smtClean="0">
                <a:sym typeface="Symbol"/>
              </a:rPr>
              <a:t>i</a:t>
            </a:r>
          </a:p>
          <a:p>
            <a:pPr marL="914400" lvl="1" indent="-514350"/>
            <a:r>
              <a:rPr lang="en-US" sz="2400" dirty="0" smtClean="0">
                <a:sym typeface="Symbol"/>
              </a:rPr>
              <a:t>Number of times bulge is chased in a row: </a:t>
            </a:r>
            <a:r>
              <a:rPr lang="en-US" sz="2400" dirty="0" err="1" smtClean="0">
                <a:sym typeface="Symbol"/>
              </a:rPr>
              <a:t>hops</a:t>
            </a:r>
            <a:r>
              <a:rPr lang="en-US" sz="2400" baseline="-25000" dirty="0" err="1" smtClean="0">
                <a:sym typeface="Symbol"/>
              </a:rPr>
              <a:t>i</a:t>
            </a:r>
            <a:endParaRPr lang="en-US" sz="2400" baseline="-25000" dirty="0" smtClean="0">
              <a:sym typeface="Symbol"/>
            </a:endParaRPr>
          </a:p>
          <a:p>
            <a:pPr marL="514350" indent="-514350"/>
            <a:r>
              <a:rPr lang="en-US" sz="2800" dirty="0" smtClean="0">
                <a:sym typeface="Symbol"/>
              </a:rPr>
              <a:t>Parameters for individual bulge chases</a:t>
            </a:r>
          </a:p>
          <a:p>
            <a:pPr marL="914400" lvl="1" indent="-514350"/>
            <a:r>
              <a:rPr lang="en-US" sz="2400" dirty="0" smtClean="0">
                <a:sym typeface="Symbol"/>
              </a:rPr>
              <a:t>Algorithm choice (BLAS1, BLAS2, BLAS3 varieties)</a:t>
            </a:r>
          </a:p>
          <a:p>
            <a:pPr marL="914400" lvl="1" indent="-514350"/>
            <a:r>
              <a:rPr lang="en-US" sz="2400" dirty="0" smtClean="0">
                <a:sym typeface="Symbol"/>
              </a:rPr>
              <a:t>Inner blocking size for BLAS3</a:t>
            </a:r>
            <a:endParaRPr lang="en-US" sz="2400" dirty="0" smtClean="0"/>
          </a:p>
          <a:p>
            <a:pPr marL="514350" indent="-514350"/>
            <a:endParaRPr lang="en-US" dirty="0"/>
          </a:p>
        </p:txBody>
      </p:sp>
    </p:spTree>
    <p:extLst>
      <p:ext uri="{BB962C8B-B14F-4D97-AF65-F5344CB8AC3E}">
        <p14:creationId xmlns:p14="http://schemas.microsoft.com/office/powerpoint/2010/main" val="2484493210"/>
      </p:ext>
    </p:extLst>
  </p:cSld>
  <p:clrMapOvr>
    <a:masterClrMapping/>
  </p:clrMapOvr>
  <p:timing>
    <p:tnLst>
      <p:par>
        <p:cTn xmlns:p14="http://schemas.microsoft.com/office/powerpoint/2010/mai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Communication-Avoiding SBR: Theory</a:t>
            </a:r>
            <a:endParaRPr lang="en-US" dirty="0"/>
          </a:p>
        </p:txBody>
      </p:sp>
      <p:sp>
        <p:nvSpPr>
          <p:cNvPr id="3" name="Content Placeholder 2"/>
          <p:cNvSpPr>
            <a:spLocks noGrp="1"/>
          </p:cNvSpPr>
          <p:nvPr>
            <p:ph idx="1"/>
          </p:nvPr>
        </p:nvSpPr>
        <p:spPr>
          <a:xfrm>
            <a:off x="457200" y="1371600"/>
            <a:ext cx="8686800" cy="1828799"/>
          </a:xfrm>
        </p:spPr>
        <p:txBody>
          <a:bodyPr>
            <a:normAutofit fontScale="92500" lnSpcReduction="10000"/>
          </a:bodyPr>
          <a:lstStyle/>
          <a:p>
            <a:r>
              <a:rPr lang="en-US" dirty="0" smtClean="0"/>
              <a:t>Goal: choose tuning parameters to minimize communication (as  opposed to run time...)</a:t>
            </a:r>
          </a:p>
          <a:p>
            <a:pPr lvl="1"/>
            <a:r>
              <a:rPr lang="en-US" dirty="0" smtClean="0"/>
              <a:t>Reduce bandwidth by half at each sweep</a:t>
            </a:r>
          </a:p>
          <a:p>
            <a:pPr lvl="1"/>
            <a:r>
              <a:rPr lang="en-US" dirty="0" smtClean="0"/>
              <a:t>Start with big c, then halve; small </a:t>
            </a:r>
            <a:r>
              <a:rPr lang="en-US" dirty="0" err="1" smtClean="0"/>
              <a:t>mult</a:t>
            </a:r>
            <a:r>
              <a:rPr lang="en-US" dirty="0" smtClean="0"/>
              <a:t>, then double</a:t>
            </a:r>
            <a:endParaRPr lang="en-US" dirty="0"/>
          </a:p>
        </p:txBody>
      </p:sp>
      <p:graphicFrame>
        <p:nvGraphicFramePr>
          <p:cNvPr id="4" name="Table 3"/>
          <p:cNvGraphicFramePr>
            <a:graphicFrameLocks noGrp="1"/>
          </p:cNvGraphicFramePr>
          <p:nvPr/>
        </p:nvGraphicFramePr>
        <p:xfrm>
          <a:off x="838200" y="3276600"/>
          <a:ext cx="7467600" cy="1854200"/>
        </p:xfrm>
        <a:graphic>
          <a:graphicData uri="http://schemas.openxmlformats.org/drawingml/2006/table">
            <a:tbl>
              <a:tblPr firstRow="1" bandRow="1">
                <a:tableStyleId>{5C22544A-7EE6-4342-B048-85BDC9FD1C3A}</a:tableStyleId>
              </a:tblPr>
              <a:tblGrid>
                <a:gridCol w="2209800"/>
                <a:gridCol w="860214"/>
                <a:gridCol w="2530686"/>
                <a:gridCol w="1866900"/>
              </a:tblGrid>
              <a:tr h="370840">
                <a:tc>
                  <a:txBody>
                    <a:bodyPr/>
                    <a:lstStyle/>
                    <a:p>
                      <a:r>
                        <a:rPr lang="en-US" b="0" dirty="0" smtClean="0">
                          <a:solidFill>
                            <a:schemeClr val="tx1"/>
                          </a:solidFill>
                        </a:rPr>
                        <a:t>Algorithm</a:t>
                      </a:r>
                      <a:endParaRPr 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b="0" dirty="0" smtClean="0">
                          <a:solidFill>
                            <a:schemeClr val="tx1"/>
                          </a:solidFill>
                        </a:rPr>
                        <a:t>#Flops</a:t>
                      </a:r>
                      <a:endParaRPr 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b="0" dirty="0" smtClean="0">
                          <a:solidFill>
                            <a:schemeClr val="tx1"/>
                          </a:solidFill>
                        </a:rPr>
                        <a:t>#</a:t>
                      </a:r>
                      <a:r>
                        <a:rPr lang="en-US" b="0" dirty="0" err="1" smtClean="0">
                          <a:solidFill>
                            <a:schemeClr val="tx1"/>
                          </a:solidFill>
                        </a:rPr>
                        <a:t>Words_moved</a:t>
                      </a:r>
                      <a:endParaRPr 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b="0" dirty="0" smtClean="0">
                          <a:solidFill>
                            <a:schemeClr val="tx1"/>
                          </a:solidFill>
                        </a:rPr>
                        <a:t>Data reuse</a:t>
                      </a:r>
                      <a:endParaRPr 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0840">
                <a:tc>
                  <a:txBody>
                    <a:bodyPr/>
                    <a:lstStyle/>
                    <a:p>
                      <a:r>
                        <a:rPr lang="en-US" b="0" dirty="0" smtClean="0">
                          <a:solidFill>
                            <a:schemeClr val="tx1"/>
                          </a:solidFill>
                        </a:rPr>
                        <a:t>Schwarz</a:t>
                      </a:r>
                      <a:endParaRPr 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b="0" dirty="0" smtClean="0">
                          <a:solidFill>
                            <a:schemeClr val="tx1"/>
                          </a:solidFill>
                        </a:rPr>
                        <a:t>4n</a:t>
                      </a:r>
                      <a:r>
                        <a:rPr lang="en-US" b="0" baseline="30000" dirty="0" smtClean="0">
                          <a:solidFill>
                            <a:schemeClr val="tx1"/>
                          </a:solidFill>
                        </a:rPr>
                        <a:t>2</a:t>
                      </a:r>
                      <a:r>
                        <a:rPr lang="en-US" b="0" dirty="0" smtClean="0">
                          <a:solidFill>
                            <a:schemeClr val="tx1"/>
                          </a:solidFill>
                        </a:rPr>
                        <a:t>b</a:t>
                      </a:r>
                      <a:endParaRPr 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b="0" dirty="0" smtClean="0">
                          <a:solidFill>
                            <a:schemeClr val="tx1"/>
                          </a:solidFill>
                        </a:rPr>
                        <a:t>O(n</a:t>
                      </a:r>
                      <a:r>
                        <a:rPr lang="en-US" b="0" baseline="30000" dirty="0" smtClean="0">
                          <a:solidFill>
                            <a:schemeClr val="tx1"/>
                          </a:solidFill>
                        </a:rPr>
                        <a:t>2</a:t>
                      </a:r>
                      <a:r>
                        <a:rPr lang="en-US" b="0" dirty="0" smtClean="0">
                          <a:solidFill>
                            <a:schemeClr val="tx1"/>
                          </a:solidFill>
                        </a:rPr>
                        <a:t>b)</a:t>
                      </a:r>
                      <a:endParaRPr 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b="0" dirty="0" smtClean="0">
                          <a:solidFill>
                            <a:schemeClr val="tx1"/>
                          </a:solidFill>
                        </a:rPr>
                        <a:t>O(1)</a:t>
                      </a:r>
                      <a:endParaRPr 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0840">
                <a:tc>
                  <a:txBody>
                    <a:bodyPr/>
                    <a:lstStyle/>
                    <a:p>
                      <a:r>
                        <a:rPr lang="en-US" b="0" dirty="0" smtClean="0">
                          <a:solidFill>
                            <a:schemeClr val="tx1"/>
                          </a:solidFill>
                        </a:rPr>
                        <a:t>M-H</a:t>
                      </a:r>
                      <a:endParaRPr 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b="0" dirty="0" smtClean="0">
                          <a:solidFill>
                            <a:schemeClr val="tx1"/>
                          </a:solidFill>
                        </a:rPr>
                        <a:t>6n</a:t>
                      </a:r>
                      <a:r>
                        <a:rPr lang="en-US" b="0" baseline="30000" dirty="0" smtClean="0">
                          <a:solidFill>
                            <a:schemeClr val="tx1"/>
                          </a:solidFill>
                        </a:rPr>
                        <a:t>2</a:t>
                      </a:r>
                      <a:r>
                        <a:rPr lang="en-US" b="0" dirty="0" smtClean="0">
                          <a:solidFill>
                            <a:schemeClr val="tx1"/>
                          </a:solidFill>
                        </a:rPr>
                        <a:t>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b="0" dirty="0" smtClean="0">
                          <a:solidFill>
                            <a:schemeClr val="tx1"/>
                          </a:solidFill>
                        </a:rPr>
                        <a:t>O(n</a:t>
                      </a:r>
                      <a:r>
                        <a:rPr lang="en-US" b="0" baseline="30000" dirty="0" smtClean="0">
                          <a:solidFill>
                            <a:schemeClr val="tx1"/>
                          </a:solidFill>
                        </a:rPr>
                        <a:t>2</a:t>
                      </a:r>
                      <a:r>
                        <a:rPr lang="en-US" b="0" dirty="0" smtClean="0">
                          <a:solidFill>
                            <a:schemeClr val="tx1"/>
                          </a:solidFill>
                        </a:rPr>
                        <a:t>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b="0" dirty="0" smtClean="0">
                          <a:solidFill>
                            <a:schemeClr val="tx1"/>
                          </a:solidFill>
                        </a:rPr>
                        <a:t>O(1)</a:t>
                      </a:r>
                      <a:endParaRPr 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0840">
                <a:tc>
                  <a:txBody>
                    <a:bodyPr/>
                    <a:lstStyle/>
                    <a:p>
                      <a:r>
                        <a:rPr lang="en-US" b="0" dirty="0" smtClean="0">
                          <a:solidFill>
                            <a:schemeClr val="tx1"/>
                          </a:solidFill>
                        </a:rPr>
                        <a:t>SBR (best </a:t>
                      </a:r>
                      <a:r>
                        <a:rPr lang="en-US" b="0" dirty="0" err="1" smtClean="0">
                          <a:solidFill>
                            <a:schemeClr val="tx1"/>
                          </a:solidFill>
                        </a:rPr>
                        <a:t>params</a:t>
                      </a:r>
                      <a:r>
                        <a:rPr lang="en-US" b="0" dirty="0" smtClean="0">
                          <a:solidFill>
                            <a:schemeClr val="tx1"/>
                          </a:solidFill>
                        </a:rPr>
                        <a:t>)</a:t>
                      </a:r>
                      <a:endParaRPr 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b="0" dirty="0" smtClean="0">
                          <a:solidFill>
                            <a:schemeClr val="tx1"/>
                          </a:solidFill>
                        </a:rPr>
                        <a:t>5n</a:t>
                      </a:r>
                      <a:r>
                        <a:rPr lang="en-US" b="0" baseline="30000" dirty="0" smtClean="0">
                          <a:solidFill>
                            <a:schemeClr val="tx1"/>
                          </a:solidFill>
                        </a:rPr>
                        <a:t>2</a:t>
                      </a:r>
                      <a:r>
                        <a:rPr lang="en-US" b="0" dirty="0" smtClean="0">
                          <a:solidFill>
                            <a:schemeClr val="tx1"/>
                          </a:solidFill>
                        </a:rPr>
                        <a:t>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b="0" dirty="0" smtClean="0">
                          <a:solidFill>
                            <a:schemeClr val="tx1"/>
                          </a:solidFill>
                        </a:rPr>
                        <a:t>O(n</a:t>
                      </a:r>
                      <a:r>
                        <a:rPr lang="en-US" b="0" baseline="30000" dirty="0" smtClean="0">
                          <a:solidFill>
                            <a:schemeClr val="tx1"/>
                          </a:solidFill>
                        </a:rPr>
                        <a:t>2 </a:t>
                      </a:r>
                      <a:r>
                        <a:rPr lang="en-US" b="0" baseline="0" dirty="0" smtClean="0">
                          <a:solidFill>
                            <a:schemeClr val="tx1"/>
                          </a:solidFill>
                        </a:rPr>
                        <a:t> </a:t>
                      </a:r>
                      <a:r>
                        <a:rPr lang="en-US" b="0" dirty="0" smtClean="0">
                          <a:solidFill>
                            <a:schemeClr val="tx1"/>
                          </a:solidFill>
                        </a:rPr>
                        <a:t>log 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b="0" dirty="0" smtClean="0">
                          <a:solidFill>
                            <a:schemeClr val="tx1"/>
                          </a:solidFill>
                        </a:rPr>
                        <a:t>O(b / log b)</a:t>
                      </a:r>
                      <a:endParaRPr 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0840">
                <a:tc>
                  <a:txBody>
                    <a:bodyPr/>
                    <a:lstStyle/>
                    <a:p>
                      <a:r>
                        <a:rPr lang="en-US" b="0" dirty="0" smtClean="0">
                          <a:solidFill>
                            <a:srgbClr val="0824F2"/>
                          </a:solidFill>
                        </a:rPr>
                        <a:t>CA-SBR</a:t>
                      </a:r>
                      <a:r>
                        <a:rPr lang="en-US" b="0" dirty="0" smtClean="0">
                          <a:solidFill>
                            <a:schemeClr val="tx1"/>
                          </a:solidFill>
                        </a:rPr>
                        <a:t> (1</a:t>
                      </a:r>
                      <a:r>
                        <a:rPr lang="en-US" b="0" dirty="0" smtClean="0">
                          <a:solidFill>
                            <a:schemeClr val="tx1"/>
                          </a:solidFill>
                          <a:sym typeface="Symbol"/>
                        </a:rPr>
                        <a:t>bM </a:t>
                      </a:r>
                      <a:r>
                        <a:rPr lang="en-US" b="0" baseline="30000" dirty="0" smtClean="0">
                          <a:solidFill>
                            <a:schemeClr val="tx1"/>
                          </a:solidFill>
                          <a:sym typeface="Symbol"/>
                        </a:rPr>
                        <a:t>1/2</a:t>
                      </a:r>
                      <a:r>
                        <a:rPr lang="en-US" b="0" dirty="0" smtClean="0">
                          <a:solidFill>
                            <a:schemeClr val="tx1"/>
                          </a:solidFill>
                          <a:sym typeface="Symbol"/>
                        </a:rPr>
                        <a:t>/3)</a:t>
                      </a:r>
                      <a:endParaRPr 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b="0" dirty="0" smtClean="0">
                          <a:solidFill>
                            <a:schemeClr val="tx1"/>
                          </a:solidFill>
                        </a:rPr>
                        <a:t>5n</a:t>
                      </a:r>
                      <a:r>
                        <a:rPr lang="en-US" b="0" baseline="30000" dirty="0" smtClean="0">
                          <a:solidFill>
                            <a:schemeClr val="tx1"/>
                          </a:solidFill>
                        </a:rPr>
                        <a:t>2</a:t>
                      </a:r>
                      <a:r>
                        <a:rPr lang="en-US" b="0" dirty="0" smtClean="0">
                          <a:solidFill>
                            <a:schemeClr val="tx1"/>
                          </a:solidFill>
                        </a:rPr>
                        <a:t>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b="0" dirty="0" smtClean="0">
                          <a:solidFill>
                            <a:srgbClr val="0824F2"/>
                          </a:solidFill>
                        </a:rPr>
                        <a:t>O(n</a:t>
                      </a:r>
                      <a:r>
                        <a:rPr lang="en-US" b="0" baseline="30000" dirty="0" smtClean="0">
                          <a:solidFill>
                            <a:srgbClr val="0824F2"/>
                          </a:solidFill>
                        </a:rPr>
                        <a:t>2</a:t>
                      </a:r>
                      <a:r>
                        <a:rPr lang="en-US" b="0" dirty="0" smtClean="0">
                          <a:solidFill>
                            <a:srgbClr val="0824F2"/>
                          </a:solidFill>
                        </a:rPr>
                        <a:t>b</a:t>
                      </a:r>
                      <a:r>
                        <a:rPr lang="en-US" b="0" baseline="30000" dirty="0" smtClean="0">
                          <a:solidFill>
                            <a:srgbClr val="0824F2"/>
                          </a:solidFill>
                        </a:rPr>
                        <a:t>2</a:t>
                      </a:r>
                      <a:r>
                        <a:rPr lang="en-US" b="0" dirty="0" smtClean="0">
                          <a:solidFill>
                            <a:srgbClr val="0824F2"/>
                          </a:solidFill>
                        </a:rPr>
                        <a:t>/ 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b="0" dirty="0" smtClean="0">
                          <a:solidFill>
                            <a:srgbClr val="0824F2"/>
                          </a:solidFill>
                        </a:rPr>
                        <a:t>O(M/b)</a:t>
                      </a:r>
                      <a:endParaRPr lang="en-US" b="0" dirty="0">
                        <a:solidFill>
                          <a:srgbClr val="0824F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p:sp>
        <p:nvSpPr>
          <p:cNvPr id="5" name="Content Placeholder 2"/>
          <p:cNvSpPr txBox="1">
            <a:spLocks/>
          </p:cNvSpPr>
          <p:nvPr/>
        </p:nvSpPr>
        <p:spPr>
          <a:xfrm>
            <a:off x="533400" y="5410200"/>
            <a:ext cx="8610600" cy="1066799"/>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800" b="0" i="0" u="none" strike="noStrike" kern="1200" cap="none" spc="0" normalizeH="0" baseline="0" noProof="0" dirty="0" smtClean="0">
                <a:ln>
                  <a:noFill/>
                </a:ln>
                <a:solidFill>
                  <a:schemeClr val="tx1"/>
                </a:solidFill>
                <a:effectLst/>
                <a:uLnTx/>
                <a:uFillTx/>
                <a:latin typeface="+mn-lt"/>
                <a:ea typeface="+mn-ea"/>
                <a:cs typeface="+mn-cs"/>
              </a:rPr>
              <a:t>Beats</a:t>
            </a:r>
            <a:r>
              <a:rPr kumimoji="0" lang="en-US" sz="2800" b="0" i="0" u="none" strike="noStrike" kern="1200" cap="none" spc="0" normalizeH="0" noProof="0" dirty="0" smtClean="0">
                <a:ln>
                  <a:noFill/>
                </a:ln>
                <a:solidFill>
                  <a:schemeClr val="tx1"/>
                </a:solidFill>
                <a:effectLst/>
                <a:uLnTx/>
                <a:uFillTx/>
                <a:latin typeface="+mn-lt"/>
                <a:ea typeface="+mn-ea"/>
                <a:cs typeface="+mn-cs"/>
              </a:rPr>
              <a:t> O(M</a:t>
            </a:r>
            <a:r>
              <a:rPr kumimoji="0" lang="en-US" sz="2800" b="0" i="0" u="none" strike="noStrike" kern="1200" cap="none" spc="0" normalizeH="0" baseline="30000" noProof="0" dirty="0" smtClean="0">
                <a:ln>
                  <a:noFill/>
                </a:ln>
                <a:solidFill>
                  <a:schemeClr val="tx1"/>
                </a:solidFill>
                <a:effectLst/>
                <a:uLnTx/>
                <a:uFillTx/>
                <a:latin typeface="+mn-lt"/>
                <a:ea typeface="+mn-ea"/>
                <a:cs typeface="+mn-cs"/>
              </a:rPr>
              <a:t>1/2</a:t>
            </a:r>
            <a:r>
              <a:rPr kumimoji="0" lang="en-US" sz="2800" b="0" i="0" u="none" strike="noStrike" kern="1200" cap="none" spc="0" normalizeH="0" noProof="0" dirty="0" smtClean="0">
                <a:ln>
                  <a:noFill/>
                </a:ln>
                <a:solidFill>
                  <a:schemeClr val="tx1"/>
                </a:solidFill>
                <a:effectLst/>
                <a:uLnTx/>
                <a:uFillTx/>
                <a:latin typeface="+mn-lt"/>
                <a:ea typeface="+mn-ea"/>
                <a:cs typeface="+mn-cs"/>
              </a:rPr>
              <a:t>) reuse for 3-nested-loop-like algorithms</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sz="2800" dirty="0" smtClean="0"/>
              <a:t>Similar theoretical improvements for dist. </a:t>
            </a:r>
            <a:r>
              <a:rPr lang="en-US" sz="2800" dirty="0" err="1" smtClean="0"/>
              <a:t>mem</a:t>
            </a:r>
            <a:r>
              <a:rPr lang="en-US" sz="2800" dirty="0" smtClean="0"/>
              <a:t>.</a:t>
            </a:r>
            <a:endParaRPr kumimoji="0" lang="en-US" sz="2800" b="0" i="0" u="none" strike="noStrike" kern="1200" cap="none" spc="0" normalizeH="0" noProof="0" dirty="0" smtClean="0">
              <a:ln>
                <a:noFill/>
              </a:ln>
              <a:solidFill>
                <a:schemeClr val="tx1"/>
              </a:solidFill>
              <a:effectLst/>
              <a:uLnTx/>
              <a:uFillTx/>
              <a:latin typeface="+mn-lt"/>
              <a:ea typeface="+mn-ea"/>
              <a:cs typeface="+mn-cs"/>
            </a:endParaRPr>
          </a:p>
        </p:txBody>
      </p:sp>
    </p:spTree>
    <p:extLst>
      <p:ext uri="{BB962C8B-B14F-4D97-AF65-F5344CB8AC3E}">
        <p14:creationId xmlns:p14="http://schemas.microsoft.com/office/powerpoint/2010/main" val="3121612647"/>
      </p:ext>
    </p:extLst>
  </p:cSld>
  <p:clrMapOvr>
    <a:masterClrMapping/>
  </p:clrMapOvr>
  <p:timing>
    <p:tnLst>
      <p:par>
        <p:cTn xmlns:p14="http://schemas.microsoft.com/office/powerpoint/2010/mai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Band Reduction – prior work</a:t>
            </a:r>
            <a:endParaRPr lang="en-US" dirty="0"/>
          </a:p>
        </p:txBody>
      </p:sp>
      <p:sp>
        <p:nvSpPr>
          <p:cNvPr id="3" name="Content Placeholder 2"/>
          <p:cNvSpPr>
            <a:spLocks noGrp="1"/>
          </p:cNvSpPr>
          <p:nvPr>
            <p:ph idx="1"/>
          </p:nvPr>
        </p:nvSpPr>
        <p:spPr/>
        <p:txBody>
          <a:bodyPr/>
          <a:lstStyle/>
          <a:p>
            <a:r>
              <a:rPr lang="en-US" sz="2400" dirty="0" smtClean="0"/>
              <a:t>1963 – </a:t>
            </a:r>
            <a:r>
              <a:rPr lang="en-US" sz="2400" dirty="0" err="1" smtClean="0"/>
              <a:t>Rutishauser</a:t>
            </a:r>
            <a:r>
              <a:rPr lang="en-US" sz="2400" dirty="0" smtClean="0"/>
              <a:t>: Givens down diagonals and Householder</a:t>
            </a:r>
          </a:p>
          <a:p>
            <a:r>
              <a:rPr lang="en-US" sz="2400" dirty="0" smtClean="0"/>
              <a:t>1968 – Schwartz: Givens up columns</a:t>
            </a:r>
          </a:p>
          <a:p>
            <a:r>
              <a:rPr lang="en-US" sz="2400" dirty="0" smtClean="0"/>
              <a:t>1975 – </a:t>
            </a:r>
            <a:r>
              <a:rPr lang="en-US" sz="2400" dirty="0" err="1" smtClean="0"/>
              <a:t>Muraka</a:t>
            </a:r>
            <a:r>
              <a:rPr lang="en-US" sz="2400" dirty="0" smtClean="0"/>
              <a:t>/</a:t>
            </a:r>
            <a:r>
              <a:rPr lang="en-US" sz="2400" dirty="0" err="1" smtClean="0"/>
              <a:t>Horikoshi</a:t>
            </a:r>
            <a:r>
              <a:rPr lang="en-US" sz="2400" dirty="0" smtClean="0"/>
              <a:t>: improved R’s Householder alg.</a:t>
            </a:r>
          </a:p>
          <a:p>
            <a:r>
              <a:rPr lang="en-US" sz="2400" dirty="0" smtClean="0"/>
              <a:t>1984 – Kaufman: </a:t>
            </a:r>
            <a:r>
              <a:rPr lang="en-US" sz="2400" dirty="0" err="1" smtClean="0"/>
              <a:t>vectorized</a:t>
            </a:r>
            <a:r>
              <a:rPr lang="en-US" sz="2400" dirty="0" smtClean="0"/>
              <a:t> S’s alg. (LAPACK’s </a:t>
            </a:r>
            <a:r>
              <a:rPr lang="en-US" sz="2400" dirty="0" err="1" smtClean="0"/>
              <a:t>xsbtrd</a:t>
            </a:r>
            <a:r>
              <a:rPr lang="en-US" sz="2400" dirty="0" smtClean="0"/>
              <a:t>)</a:t>
            </a:r>
          </a:p>
          <a:p>
            <a:r>
              <a:rPr lang="en-US" sz="2400" dirty="0" smtClean="0"/>
              <a:t>1993 – Lang: parallelized M/H’s alg. (dist. </a:t>
            </a:r>
            <a:r>
              <a:rPr lang="en-US" sz="2400" dirty="0" err="1" smtClean="0"/>
              <a:t>mem</a:t>
            </a:r>
            <a:r>
              <a:rPr lang="en-US" sz="2400" dirty="0" smtClean="0"/>
              <a:t>.)</a:t>
            </a:r>
          </a:p>
          <a:p>
            <a:r>
              <a:rPr lang="en-US" sz="2400" dirty="0" smtClean="0"/>
              <a:t>2000 – </a:t>
            </a:r>
            <a:r>
              <a:rPr lang="en-US" sz="2400" dirty="0" err="1" smtClean="0"/>
              <a:t>Bischof</a:t>
            </a:r>
            <a:r>
              <a:rPr lang="en-US" sz="2400" dirty="0" smtClean="0"/>
              <a:t>/Lang/Sun: generalized all but S’s alg.</a:t>
            </a:r>
          </a:p>
          <a:p>
            <a:r>
              <a:rPr lang="en-US" sz="2400" dirty="0" smtClean="0"/>
              <a:t>2009 – Davis/</a:t>
            </a:r>
            <a:r>
              <a:rPr lang="en-US" sz="2400" dirty="0" err="1" smtClean="0"/>
              <a:t>Rajamanickam</a:t>
            </a:r>
            <a:r>
              <a:rPr lang="en-US" sz="2400" dirty="0" smtClean="0"/>
              <a:t>: Givens in blocks</a:t>
            </a:r>
          </a:p>
          <a:p>
            <a:r>
              <a:rPr lang="en-US" sz="2400" dirty="0" smtClean="0"/>
              <a:t>2011 – </a:t>
            </a:r>
            <a:r>
              <a:rPr lang="en-US" sz="2400" dirty="0" err="1" smtClean="0"/>
              <a:t>Luszczek</a:t>
            </a:r>
            <a:r>
              <a:rPr lang="en-US" sz="2400" dirty="0" smtClean="0"/>
              <a:t>/</a:t>
            </a:r>
            <a:r>
              <a:rPr lang="en-US" sz="2400" dirty="0" err="1" smtClean="0"/>
              <a:t>Ltaief</a:t>
            </a:r>
            <a:r>
              <a:rPr lang="en-US" sz="2400" dirty="0" smtClean="0"/>
              <a:t>/</a:t>
            </a:r>
            <a:r>
              <a:rPr lang="en-US" sz="2400" dirty="0" err="1" smtClean="0"/>
              <a:t>Dongarra</a:t>
            </a:r>
            <a:r>
              <a:rPr lang="en-US" sz="2400" dirty="0" smtClean="0"/>
              <a:t>: parallelized M/H’s </a:t>
            </a:r>
            <a:r>
              <a:rPr lang="en-US" sz="2400" dirty="0" err="1" smtClean="0"/>
              <a:t>alg</a:t>
            </a:r>
            <a:r>
              <a:rPr lang="en-US" sz="2400" dirty="0" smtClean="0"/>
              <a:t> (shared </a:t>
            </a:r>
            <a:r>
              <a:rPr lang="en-US" sz="2400" dirty="0" err="1" smtClean="0"/>
              <a:t>mem</a:t>
            </a:r>
            <a:r>
              <a:rPr lang="en-US" sz="2400" dirty="0" smtClean="0"/>
              <a:t>.)</a:t>
            </a:r>
            <a:endParaRPr lang="en-US" sz="2400" dirty="0"/>
          </a:p>
        </p:txBody>
      </p:sp>
    </p:spTree>
    <p:extLst>
      <p:ext uri="{BB962C8B-B14F-4D97-AF65-F5344CB8AC3E}">
        <p14:creationId xmlns:p14="http://schemas.microsoft.com/office/powerpoint/2010/main" val="597296511"/>
      </p:ext>
    </p:extLst>
  </p:cSld>
  <p:clrMapOvr>
    <a:masterClrMapping/>
  </p:clrMapOvr>
  <p:timing>
    <p:tnLst>
      <p:par>
        <p:cTn xmlns:p14="http://schemas.microsoft.com/office/powerpoint/2010/mai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5" name="Title 1"/>
          <p:cNvSpPr>
            <a:spLocks noGrp="1"/>
          </p:cNvSpPr>
          <p:nvPr>
            <p:ph type="title"/>
          </p:nvPr>
        </p:nvSpPr>
        <p:spPr>
          <a:xfrm>
            <a:off x="779463" y="112712"/>
            <a:ext cx="7296150" cy="801688"/>
          </a:xfrm>
        </p:spPr>
        <p:txBody>
          <a:bodyPr>
            <a:noAutofit/>
          </a:bodyPr>
          <a:lstStyle/>
          <a:p>
            <a:pPr algn="ctr"/>
            <a:r>
              <a:rPr lang="en-US" sz="3200" dirty="0" smtClean="0">
                <a:solidFill>
                  <a:srgbClr val="0824F2"/>
                </a:solidFill>
              </a:rPr>
              <a:t>Can we do even better?</a:t>
            </a:r>
          </a:p>
        </p:txBody>
      </p:sp>
      <p:sp>
        <p:nvSpPr>
          <p:cNvPr id="4" name="Slide Number Placeholder 3"/>
          <p:cNvSpPr>
            <a:spLocks noGrp="1"/>
          </p:cNvSpPr>
          <p:nvPr>
            <p:ph type="sldNum" sz="quarter" idx="11"/>
          </p:nvPr>
        </p:nvSpPr>
        <p:spPr>
          <a:xfrm>
            <a:off x="9832975" y="6400800"/>
            <a:ext cx="1905000" cy="457200"/>
          </a:xfrm>
        </p:spPr>
        <p:txBody>
          <a:bodyPr/>
          <a:lstStyle/>
          <a:p>
            <a:pPr>
              <a:defRPr/>
            </a:pPr>
            <a:fld id="{1110692E-4516-4640-ACA1-F899B3563FBA}" type="slidenum">
              <a:rPr lang="en-US" smtClean="0"/>
              <a:pPr>
                <a:defRPr/>
              </a:pPr>
              <a:t>121</a:t>
            </a:fld>
            <a:endParaRPr lang="en-US" dirty="0"/>
          </a:p>
        </p:txBody>
      </p:sp>
      <p:sp>
        <p:nvSpPr>
          <p:cNvPr id="30727" name="Rectangle 11"/>
          <p:cNvSpPr>
            <a:spLocks noChangeArrowheads="1"/>
          </p:cNvSpPr>
          <p:nvPr/>
        </p:nvSpPr>
        <p:spPr bwMode="auto">
          <a:xfrm>
            <a:off x="6796088" y="4476750"/>
            <a:ext cx="1843087" cy="282575"/>
          </a:xfrm>
          <a:prstGeom prst="rect">
            <a:avLst/>
          </a:prstGeom>
          <a:solidFill>
            <a:schemeClr val="bg1"/>
          </a:solidFill>
          <a:ln w="12700" algn="ctr">
            <a:noFill/>
            <a:round/>
            <a:headEnd type="none" w="sm" len="sm"/>
            <a:tailEnd type="none" w="sm" len="sm"/>
          </a:ln>
        </p:spPr>
        <p:txBody>
          <a:bodyPr/>
          <a:lstStyle/>
          <a:p>
            <a:pPr eaLnBrk="0" hangingPunct="0"/>
            <a:endParaRPr lang="en-US"/>
          </a:p>
        </p:txBody>
      </p:sp>
      <p:sp>
        <p:nvSpPr>
          <p:cNvPr id="30728" name="Rectangle 12"/>
          <p:cNvSpPr>
            <a:spLocks noChangeArrowheads="1"/>
          </p:cNvSpPr>
          <p:nvPr/>
        </p:nvSpPr>
        <p:spPr bwMode="auto">
          <a:xfrm>
            <a:off x="6861175" y="5118100"/>
            <a:ext cx="1843088" cy="282575"/>
          </a:xfrm>
          <a:prstGeom prst="rect">
            <a:avLst/>
          </a:prstGeom>
          <a:solidFill>
            <a:schemeClr val="bg1"/>
          </a:solidFill>
          <a:ln w="12700" algn="ctr">
            <a:noFill/>
            <a:round/>
            <a:headEnd type="none" w="sm" len="sm"/>
            <a:tailEnd type="none" w="sm" len="sm"/>
          </a:ln>
        </p:spPr>
        <p:txBody>
          <a:bodyPr/>
          <a:lstStyle/>
          <a:p>
            <a:pPr eaLnBrk="0" hangingPunct="0"/>
            <a:endParaRPr lang="en-US"/>
          </a:p>
        </p:txBody>
      </p:sp>
      <p:sp>
        <p:nvSpPr>
          <p:cNvPr id="30729" name="Rectangle 13"/>
          <p:cNvSpPr>
            <a:spLocks noChangeArrowheads="1"/>
          </p:cNvSpPr>
          <p:nvPr/>
        </p:nvSpPr>
        <p:spPr bwMode="auto">
          <a:xfrm>
            <a:off x="6778625" y="5773738"/>
            <a:ext cx="1843088" cy="280987"/>
          </a:xfrm>
          <a:prstGeom prst="rect">
            <a:avLst/>
          </a:prstGeom>
          <a:solidFill>
            <a:schemeClr val="bg1"/>
          </a:solidFill>
          <a:ln w="12700" algn="ctr">
            <a:noFill/>
            <a:round/>
            <a:headEnd type="none" w="sm" len="sm"/>
            <a:tailEnd type="none" w="sm" len="sm"/>
          </a:ln>
        </p:spPr>
        <p:txBody>
          <a:bodyPr/>
          <a:lstStyle/>
          <a:p>
            <a:pPr eaLnBrk="0" hangingPunct="0"/>
            <a:endParaRPr lang="en-US"/>
          </a:p>
        </p:txBody>
      </p:sp>
      <p:sp>
        <p:nvSpPr>
          <p:cNvPr id="30730" name="Rectangle 14"/>
          <p:cNvSpPr>
            <a:spLocks noChangeArrowheads="1"/>
          </p:cNvSpPr>
          <p:nvPr/>
        </p:nvSpPr>
        <p:spPr bwMode="auto">
          <a:xfrm>
            <a:off x="6778625" y="6400800"/>
            <a:ext cx="1843088" cy="280988"/>
          </a:xfrm>
          <a:prstGeom prst="rect">
            <a:avLst/>
          </a:prstGeom>
          <a:solidFill>
            <a:schemeClr val="bg1"/>
          </a:solidFill>
          <a:ln w="12700" algn="ctr">
            <a:noFill/>
            <a:round/>
            <a:headEnd type="none" w="sm" len="sm"/>
            <a:tailEnd type="none" w="sm" len="sm"/>
          </a:ln>
        </p:spPr>
        <p:txBody>
          <a:bodyPr/>
          <a:lstStyle/>
          <a:p>
            <a:pPr eaLnBrk="0" hangingPunct="0"/>
            <a:endParaRPr lang="en-US"/>
          </a:p>
        </p:txBody>
      </p:sp>
      <p:sp>
        <p:nvSpPr>
          <p:cNvPr id="30731" name="TextBox 7"/>
          <p:cNvSpPr txBox="1">
            <a:spLocks noChangeArrowheads="1"/>
          </p:cNvSpPr>
          <p:nvPr/>
        </p:nvSpPr>
        <p:spPr bwMode="auto">
          <a:xfrm>
            <a:off x="262551" y="1032808"/>
            <a:ext cx="7500320" cy="1938992"/>
          </a:xfrm>
          <a:prstGeom prst="rect">
            <a:avLst/>
          </a:prstGeom>
          <a:noFill/>
          <a:ln w="9525">
            <a:noFill/>
            <a:miter lim="800000"/>
            <a:headEnd/>
            <a:tailEnd/>
          </a:ln>
        </p:spPr>
        <p:txBody>
          <a:bodyPr wrap="none">
            <a:spAutoFit/>
          </a:bodyPr>
          <a:lstStyle/>
          <a:p>
            <a:pPr algn="l">
              <a:buFont typeface="Arial" pitchFamily="34" charset="0"/>
              <a:buChar char="•"/>
            </a:pPr>
            <a:r>
              <a:rPr lang="en-US" b="0" dirty="0">
                <a:solidFill>
                  <a:schemeClr val="tx1"/>
                </a:solidFill>
              </a:rPr>
              <a:t>  </a:t>
            </a:r>
            <a:r>
              <a:rPr lang="en-US" sz="2400" b="0" dirty="0" smtClean="0">
                <a:solidFill>
                  <a:schemeClr val="tx1"/>
                </a:solidFill>
              </a:rPr>
              <a:t>Assume </a:t>
            </a:r>
            <a:r>
              <a:rPr lang="en-US" sz="2400" b="0" dirty="0" err="1">
                <a:solidFill>
                  <a:schemeClr val="tx1"/>
                </a:solidFill>
              </a:rPr>
              <a:t>nxn</a:t>
            </a:r>
            <a:r>
              <a:rPr lang="en-US" sz="2400" b="0" dirty="0">
                <a:solidFill>
                  <a:schemeClr val="tx1"/>
                </a:solidFill>
              </a:rPr>
              <a:t> matrices on P </a:t>
            </a:r>
            <a:r>
              <a:rPr lang="en-US" sz="2400" b="0" dirty="0" smtClean="0">
                <a:solidFill>
                  <a:schemeClr val="tx1"/>
                </a:solidFill>
              </a:rPr>
              <a:t>processors</a:t>
            </a:r>
            <a:r>
              <a:rPr lang="en-US" sz="2400" dirty="0" smtClean="0"/>
              <a:t> </a:t>
            </a:r>
            <a:endParaRPr lang="en-US" sz="2400" b="0" dirty="0" smtClean="0">
              <a:solidFill>
                <a:schemeClr val="tx1"/>
              </a:solidFill>
            </a:endParaRPr>
          </a:p>
          <a:p>
            <a:pPr algn="l">
              <a:buFont typeface="Arial" pitchFamily="34" charset="0"/>
              <a:buChar char="•"/>
            </a:pPr>
            <a:r>
              <a:rPr lang="en-US" sz="2400" dirty="0" smtClean="0"/>
              <a:t>  </a:t>
            </a:r>
            <a:r>
              <a:rPr lang="en-US" sz="2400" dirty="0" smtClean="0">
                <a:solidFill>
                  <a:srgbClr val="0824F2"/>
                </a:solidFill>
              </a:rPr>
              <a:t>Why just one copy of data:</a:t>
            </a:r>
            <a:r>
              <a:rPr lang="en-US" sz="2400" b="0" dirty="0" smtClean="0">
                <a:solidFill>
                  <a:srgbClr val="0824F2"/>
                </a:solidFill>
              </a:rPr>
              <a:t>  M = O(n</a:t>
            </a:r>
            <a:r>
              <a:rPr lang="en-US" sz="2400" b="0" baseline="30000" dirty="0" smtClean="0">
                <a:solidFill>
                  <a:srgbClr val="0824F2"/>
                </a:solidFill>
              </a:rPr>
              <a:t>2</a:t>
            </a:r>
            <a:r>
              <a:rPr lang="en-US" sz="2400" b="0" dirty="0" smtClean="0">
                <a:solidFill>
                  <a:srgbClr val="0824F2"/>
                </a:solidFill>
              </a:rPr>
              <a:t> </a:t>
            </a:r>
            <a:r>
              <a:rPr lang="en-US" sz="2400" b="0" dirty="0">
                <a:solidFill>
                  <a:srgbClr val="0824F2"/>
                </a:solidFill>
              </a:rPr>
              <a:t>/ P</a:t>
            </a:r>
            <a:r>
              <a:rPr lang="en-US" sz="2400" b="0" dirty="0" smtClean="0">
                <a:solidFill>
                  <a:srgbClr val="0824F2"/>
                </a:solidFill>
              </a:rPr>
              <a:t>) per processor?</a:t>
            </a:r>
            <a:endParaRPr lang="en-US" sz="2400" b="0" dirty="0">
              <a:solidFill>
                <a:srgbClr val="0824F2"/>
              </a:solidFill>
            </a:endParaRPr>
          </a:p>
          <a:p>
            <a:pPr algn="l">
              <a:buFont typeface="Arial" pitchFamily="34" charset="0"/>
              <a:buChar char="•"/>
            </a:pPr>
            <a:r>
              <a:rPr lang="en-US" sz="2400" b="0" dirty="0">
                <a:solidFill>
                  <a:schemeClr val="tx1"/>
                </a:solidFill>
              </a:rPr>
              <a:t>  </a:t>
            </a:r>
            <a:r>
              <a:rPr lang="en-US" sz="2400" b="0" dirty="0" smtClean="0">
                <a:solidFill>
                  <a:srgbClr val="0824F2"/>
                </a:solidFill>
              </a:rPr>
              <a:t>Increase M to reduce lower bounds:</a:t>
            </a:r>
            <a:endParaRPr lang="en-US" sz="2400" b="0" dirty="0">
              <a:solidFill>
                <a:srgbClr val="0824F2"/>
              </a:solidFill>
            </a:endParaRPr>
          </a:p>
          <a:p>
            <a:pPr lvl="1" algn="l"/>
            <a:r>
              <a:rPr lang="en-US" sz="2400" b="0" dirty="0" smtClean="0">
                <a:solidFill>
                  <a:schemeClr val="tx1"/>
                </a:solidFill>
              </a:rPr>
              <a:t>#</a:t>
            </a:r>
            <a:r>
              <a:rPr lang="en-US" sz="2400" b="0" dirty="0" err="1" smtClean="0">
                <a:solidFill>
                  <a:schemeClr val="tx1"/>
                </a:solidFill>
              </a:rPr>
              <a:t>words_moved</a:t>
            </a:r>
            <a:r>
              <a:rPr lang="en-US" sz="2400" b="0" dirty="0" smtClean="0">
                <a:solidFill>
                  <a:schemeClr val="tx1"/>
                </a:solidFill>
              </a:rPr>
              <a:t>    =   </a:t>
            </a:r>
            <a:r>
              <a:rPr lang="en-US" sz="2400" b="0" dirty="0" smtClean="0">
                <a:sym typeface="Symbol" pitchFamily="18" charset="2"/>
              </a:rPr>
              <a:t>( (n</a:t>
            </a:r>
            <a:r>
              <a:rPr lang="en-US" sz="2400" b="0" baseline="30000" dirty="0" smtClean="0">
                <a:sym typeface="Symbol" pitchFamily="18" charset="2"/>
              </a:rPr>
              <a:t>3</a:t>
            </a:r>
            <a:r>
              <a:rPr lang="en-US" sz="2400" b="0" dirty="0" smtClean="0">
                <a:sym typeface="Symbol" pitchFamily="18" charset="2"/>
              </a:rPr>
              <a:t>/ P)  / M</a:t>
            </a:r>
            <a:r>
              <a:rPr lang="en-US" sz="2400" b="0" baseline="30000" dirty="0" smtClean="0">
                <a:sym typeface="Symbol" pitchFamily="18" charset="2"/>
              </a:rPr>
              <a:t>1/2</a:t>
            </a:r>
            <a:r>
              <a:rPr lang="en-US" sz="2400" b="0" dirty="0" smtClean="0">
                <a:sym typeface="Symbol" pitchFamily="18" charset="2"/>
              </a:rPr>
              <a:t> )  =  </a:t>
            </a:r>
            <a:r>
              <a:rPr lang="en-US" sz="2400" b="0" dirty="0">
                <a:solidFill>
                  <a:schemeClr val="tx1"/>
                </a:solidFill>
                <a:sym typeface="Symbol" pitchFamily="18" charset="2"/>
              </a:rPr>
              <a:t>( n</a:t>
            </a:r>
            <a:r>
              <a:rPr lang="en-US" sz="2400" b="0" baseline="30000" dirty="0">
                <a:solidFill>
                  <a:schemeClr val="tx1"/>
                </a:solidFill>
                <a:sym typeface="Symbol" pitchFamily="18" charset="2"/>
              </a:rPr>
              <a:t>2</a:t>
            </a:r>
            <a:r>
              <a:rPr lang="en-US" sz="2400" b="0" dirty="0">
                <a:solidFill>
                  <a:schemeClr val="tx1"/>
                </a:solidFill>
                <a:sym typeface="Symbol" pitchFamily="18" charset="2"/>
              </a:rPr>
              <a:t> /  P</a:t>
            </a:r>
            <a:r>
              <a:rPr lang="en-US" sz="2400" b="0" baseline="30000" dirty="0">
                <a:solidFill>
                  <a:schemeClr val="tx1"/>
                </a:solidFill>
                <a:sym typeface="Symbol" pitchFamily="18" charset="2"/>
              </a:rPr>
              <a:t>1/2</a:t>
            </a:r>
            <a:r>
              <a:rPr lang="en-US" sz="2400" b="0" dirty="0">
                <a:solidFill>
                  <a:schemeClr val="tx1"/>
                </a:solidFill>
                <a:sym typeface="Symbol" pitchFamily="18" charset="2"/>
              </a:rPr>
              <a:t> )      </a:t>
            </a:r>
            <a:r>
              <a:rPr lang="en-US" sz="2400" b="0" dirty="0" smtClean="0">
                <a:solidFill>
                  <a:schemeClr val="tx1"/>
                </a:solidFill>
                <a:sym typeface="Symbol" pitchFamily="18" charset="2"/>
              </a:rPr>
              <a:t>         </a:t>
            </a:r>
          </a:p>
          <a:p>
            <a:pPr lvl="1" algn="l"/>
            <a:r>
              <a:rPr lang="en-US" sz="2400" b="0" dirty="0" smtClean="0">
                <a:solidFill>
                  <a:schemeClr val="tx1"/>
                </a:solidFill>
                <a:sym typeface="Symbol" pitchFamily="18" charset="2"/>
              </a:rPr>
              <a:t>#</a:t>
            </a:r>
            <a:r>
              <a:rPr lang="en-US" sz="2400" b="0" dirty="0">
                <a:solidFill>
                  <a:schemeClr val="tx1"/>
                </a:solidFill>
                <a:sym typeface="Symbol" pitchFamily="18" charset="2"/>
              </a:rPr>
              <a:t>messages </a:t>
            </a:r>
            <a:r>
              <a:rPr lang="en-US" sz="2400" b="0" dirty="0" smtClean="0">
                <a:solidFill>
                  <a:schemeClr val="tx1"/>
                </a:solidFill>
                <a:sym typeface="Symbol" pitchFamily="18" charset="2"/>
              </a:rPr>
              <a:t>           </a:t>
            </a:r>
            <a:r>
              <a:rPr lang="en-US" sz="2400" b="0" dirty="0" smtClean="0"/>
              <a:t>=   </a:t>
            </a:r>
            <a:r>
              <a:rPr lang="en-US" sz="2400" b="0" dirty="0" smtClean="0">
                <a:sym typeface="Symbol" pitchFamily="18" charset="2"/>
              </a:rPr>
              <a:t>( (n</a:t>
            </a:r>
            <a:r>
              <a:rPr lang="en-US" sz="2400" b="0" baseline="30000" dirty="0" smtClean="0">
                <a:sym typeface="Symbol" pitchFamily="18" charset="2"/>
              </a:rPr>
              <a:t>3</a:t>
            </a:r>
            <a:r>
              <a:rPr lang="en-US" sz="2400" b="0" dirty="0" smtClean="0">
                <a:sym typeface="Symbol" pitchFamily="18" charset="2"/>
              </a:rPr>
              <a:t>/ P)  / M</a:t>
            </a:r>
            <a:r>
              <a:rPr lang="en-US" sz="2400" b="0" baseline="30000" dirty="0" smtClean="0">
                <a:sym typeface="Symbol" pitchFamily="18" charset="2"/>
              </a:rPr>
              <a:t>3/2</a:t>
            </a:r>
            <a:r>
              <a:rPr lang="en-US" sz="2400" b="0" dirty="0" smtClean="0">
                <a:sym typeface="Symbol" pitchFamily="18" charset="2"/>
              </a:rPr>
              <a:t> )  </a:t>
            </a:r>
            <a:r>
              <a:rPr lang="en-US" sz="2400" b="0" dirty="0" smtClean="0">
                <a:solidFill>
                  <a:schemeClr val="tx1"/>
                </a:solidFill>
                <a:sym typeface="Symbol" pitchFamily="18" charset="2"/>
              </a:rPr>
              <a:t>=  </a:t>
            </a:r>
            <a:r>
              <a:rPr lang="en-US" sz="2400" b="0" dirty="0">
                <a:solidFill>
                  <a:schemeClr val="tx1"/>
                </a:solidFill>
                <a:sym typeface="Symbol" pitchFamily="18" charset="2"/>
              </a:rPr>
              <a:t>( P</a:t>
            </a:r>
            <a:r>
              <a:rPr lang="en-US" sz="2400" b="0" baseline="30000" dirty="0">
                <a:solidFill>
                  <a:schemeClr val="tx1"/>
                </a:solidFill>
                <a:sym typeface="Symbol" pitchFamily="18" charset="2"/>
              </a:rPr>
              <a:t>1/2</a:t>
            </a:r>
            <a:r>
              <a:rPr lang="en-US" sz="2400" b="0" dirty="0">
                <a:solidFill>
                  <a:schemeClr val="tx1"/>
                </a:solidFill>
                <a:sym typeface="Symbol" pitchFamily="18" charset="2"/>
              </a:rPr>
              <a:t> )</a:t>
            </a:r>
            <a:endParaRPr lang="en-US" sz="2400" b="0" dirty="0">
              <a:solidFill>
                <a:schemeClr val="tx1"/>
              </a:solidFill>
            </a:endParaRPr>
          </a:p>
        </p:txBody>
      </p:sp>
      <p:graphicFrame>
        <p:nvGraphicFramePr>
          <p:cNvPr id="13" name="Table 12"/>
          <p:cNvGraphicFramePr>
            <a:graphicFrameLocks noGrp="1"/>
          </p:cNvGraphicFramePr>
          <p:nvPr>
            <p:extLst>
              <p:ext uri="{D42A27DB-BD31-4B8C-83A1-F6EECF244321}">
                <p14:modId xmlns:p14="http://schemas.microsoft.com/office/powerpoint/2010/main" val="1497696000"/>
              </p:ext>
            </p:extLst>
          </p:nvPr>
        </p:nvGraphicFramePr>
        <p:xfrm>
          <a:off x="533400" y="3200400"/>
          <a:ext cx="8077200" cy="3383280"/>
        </p:xfrm>
        <a:graphic>
          <a:graphicData uri="http://schemas.openxmlformats.org/drawingml/2006/table">
            <a:tbl>
              <a:tblPr firstRow="1" bandRow="1">
                <a:tableStyleId>{5C22544A-7EE6-4342-B048-85BDC9FD1C3A}</a:tableStyleId>
              </a:tblPr>
              <a:tblGrid>
                <a:gridCol w="1905000"/>
                <a:gridCol w="1600200"/>
                <a:gridCol w="2229613"/>
                <a:gridCol w="2342387"/>
              </a:tblGrid>
              <a:tr h="370840">
                <a:tc>
                  <a:txBody>
                    <a:bodyPr/>
                    <a:lstStyle/>
                    <a:p>
                      <a:r>
                        <a:rPr lang="en-US" sz="2000" dirty="0" smtClean="0">
                          <a:solidFill>
                            <a:schemeClr val="tx1"/>
                          </a:solidFill>
                          <a:latin typeface="Calibri"/>
                          <a:cs typeface="Calibri"/>
                        </a:rPr>
                        <a:t>Algorithm</a:t>
                      </a:r>
                      <a:endParaRPr lang="en-US" sz="2000" dirty="0">
                        <a:solidFill>
                          <a:schemeClr val="tx1"/>
                        </a:solidFill>
                        <a:latin typeface="Calibri"/>
                        <a:cs typeface="Calibri"/>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dirty="0" smtClean="0">
                          <a:solidFill>
                            <a:schemeClr val="tx1"/>
                          </a:solidFill>
                          <a:latin typeface="Calibri"/>
                          <a:cs typeface="Calibri"/>
                        </a:rPr>
                        <a:t>Reference</a:t>
                      </a:r>
                      <a:endParaRPr lang="en-US" sz="2000" dirty="0">
                        <a:latin typeface="Calibri"/>
                        <a:cs typeface="Calibri"/>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dirty="0" smtClean="0">
                          <a:solidFill>
                            <a:schemeClr val="tx1"/>
                          </a:solidFill>
                          <a:latin typeface="Calibri"/>
                          <a:cs typeface="Calibri"/>
                        </a:rPr>
                        <a:t>Factor exceeding lower bound for #</a:t>
                      </a:r>
                      <a:r>
                        <a:rPr lang="en-US" sz="2000" dirty="0" err="1" smtClean="0">
                          <a:solidFill>
                            <a:schemeClr val="tx1"/>
                          </a:solidFill>
                          <a:latin typeface="Calibri"/>
                          <a:cs typeface="Calibri"/>
                        </a:rPr>
                        <a:t>words_moved</a:t>
                      </a:r>
                      <a:endParaRPr lang="en-US" sz="2000" dirty="0">
                        <a:latin typeface="Calibri"/>
                        <a:cs typeface="Calibri"/>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dirty="0" smtClean="0">
                          <a:solidFill>
                            <a:schemeClr val="tx1"/>
                          </a:solidFill>
                          <a:latin typeface="Calibri"/>
                          <a:cs typeface="Calibri"/>
                        </a:rPr>
                        <a:t>Factor</a:t>
                      </a:r>
                      <a:r>
                        <a:rPr lang="en-US" sz="2000" baseline="0" dirty="0" smtClean="0">
                          <a:solidFill>
                            <a:schemeClr val="tx1"/>
                          </a:solidFill>
                          <a:latin typeface="Calibri"/>
                          <a:cs typeface="Calibri"/>
                        </a:rPr>
                        <a:t> exceeding lower bound for #messages</a:t>
                      </a:r>
                      <a:endParaRPr lang="en-US" sz="2000" dirty="0">
                        <a:latin typeface="Calibri"/>
                        <a:cs typeface="Calibri"/>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0840">
                <a:tc>
                  <a:txBody>
                    <a:bodyPr/>
                    <a:lstStyle/>
                    <a:p>
                      <a:r>
                        <a:rPr lang="en-US" sz="2000" b="1" dirty="0" smtClean="0">
                          <a:latin typeface="Calibri"/>
                          <a:cs typeface="Calibri"/>
                        </a:rPr>
                        <a:t>Matrix Multiply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b="1" dirty="0" smtClean="0">
                          <a:latin typeface="Calibri"/>
                          <a:cs typeface="Calibri"/>
                        </a:rPr>
                        <a:t>[Cannon, 69]</a:t>
                      </a:r>
                      <a:endParaRPr lang="en-US" sz="2000" b="1" dirty="0">
                        <a:latin typeface="Calibri"/>
                        <a:cs typeface="Calibri"/>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b="1" dirty="0" smtClean="0">
                          <a:latin typeface="Calibri"/>
                          <a:cs typeface="Calibri"/>
                        </a:rPr>
                        <a:t>1</a:t>
                      </a:r>
                      <a:endParaRPr lang="en-US" sz="2000" b="1" dirty="0">
                        <a:latin typeface="Calibri"/>
                        <a:cs typeface="Calibri"/>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b="1" dirty="0" smtClean="0">
                          <a:latin typeface="Calibri"/>
                          <a:cs typeface="Calibri"/>
                        </a:rPr>
                        <a:t>1</a:t>
                      </a:r>
                      <a:endParaRPr lang="en-US" sz="2000" b="1" dirty="0">
                        <a:latin typeface="Calibri"/>
                        <a:cs typeface="Calibri"/>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0840">
                <a:tc>
                  <a:txBody>
                    <a:bodyPr/>
                    <a:lstStyle/>
                    <a:p>
                      <a:r>
                        <a:rPr lang="en-US" sz="2000" b="1" dirty="0" err="1" smtClean="0">
                          <a:latin typeface="Calibri"/>
                          <a:cs typeface="Calibri"/>
                        </a:rPr>
                        <a:t>Cholesky</a:t>
                      </a:r>
                      <a:endParaRPr lang="en-US" sz="2000" b="1" dirty="0">
                        <a:latin typeface="Calibri"/>
                        <a:cs typeface="Calibri"/>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b="1" dirty="0" err="1" smtClean="0">
                          <a:latin typeface="Calibri"/>
                          <a:cs typeface="Calibri"/>
                        </a:rPr>
                        <a:t>ScaLAPACK</a:t>
                      </a:r>
                      <a:endParaRPr lang="en-US" sz="2000" b="1" dirty="0">
                        <a:latin typeface="Calibri"/>
                        <a:cs typeface="Calibri"/>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b="1" dirty="0" smtClean="0">
                          <a:latin typeface="Calibri"/>
                          <a:cs typeface="Calibri"/>
                        </a:rPr>
                        <a:t>log P</a:t>
                      </a:r>
                      <a:endParaRPr lang="en-US" sz="2000" b="1" dirty="0">
                        <a:latin typeface="Calibri"/>
                        <a:cs typeface="Calibri"/>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b="1" dirty="0" smtClean="0">
                          <a:latin typeface="Calibri"/>
                          <a:cs typeface="Calibri"/>
                        </a:rPr>
                        <a:t>log P</a:t>
                      </a:r>
                      <a:endParaRPr lang="en-US" sz="2000" b="1" dirty="0">
                        <a:latin typeface="Calibri"/>
                        <a:cs typeface="Calibri"/>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0840">
                <a:tc>
                  <a:txBody>
                    <a:bodyPr/>
                    <a:lstStyle/>
                    <a:p>
                      <a:r>
                        <a:rPr lang="en-US" sz="2000" b="1" dirty="0" smtClean="0">
                          <a:latin typeface="Calibri"/>
                          <a:cs typeface="Calibri"/>
                        </a:rPr>
                        <a:t>LU</a:t>
                      </a:r>
                      <a:endParaRPr lang="en-US" sz="2000" b="1" dirty="0">
                        <a:latin typeface="Calibri"/>
                        <a:cs typeface="Calibri"/>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b="1" dirty="0" smtClean="0">
                          <a:solidFill>
                            <a:srgbClr val="0824F2"/>
                          </a:solidFill>
                          <a:latin typeface="Calibri"/>
                          <a:cs typeface="Calibri"/>
                        </a:rPr>
                        <a:t>[GDX10]</a:t>
                      </a:r>
                      <a:endParaRPr lang="en-US" sz="2000" b="1" dirty="0">
                        <a:solidFill>
                          <a:srgbClr val="0824F2"/>
                        </a:solidFill>
                        <a:latin typeface="Calibri"/>
                        <a:cs typeface="Calibri"/>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b="1" dirty="0" smtClean="0">
                          <a:latin typeface="Calibri"/>
                          <a:cs typeface="Calibri"/>
                        </a:rPr>
                        <a:t>log</a:t>
                      </a:r>
                      <a:r>
                        <a:rPr lang="en-US" sz="2000" b="1" baseline="0" dirty="0" smtClean="0">
                          <a:latin typeface="Calibri"/>
                          <a:cs typeface="Calibri"/>
                        </a:rPr>
                        <a:t> P</a:t>
                      </a:r>
                      <a:endParaRPr lang="en-US" sz="2000" b="1" dirty="0">
                        <a:latin typeface="Calibri"/>
                        <a:cs typeface="Calibri"/>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b="1" dirty="0" smtClean="0">
                          <a:solidFill>
                            <a:srgbClr val="0824F2"/>
                          </a:solidFill>
                          <a:latin typeface="Calibri"/>
                          <a:cs typeface="Calibri"/>
                        </a:rPr>
                        <a:t>log P</a:t>
                      </a:r>
                      <a:endParaRPr lang="en-US" sz="2000" b="1" baseline="30000" dirty="0">
                        <a:solidFill>
                          <a:srgbClr val="0824F2"/>
                        </a:solidFill>
                        <a:latin typeface="Calibri"/>
                        <a:cs typeface="Calibri"/>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0840">
                <a:tc>
                  <a:txBody>
                    <a:bodyPr/>
                    <a:lstStyle/>
                    <a:p>
                      <a:r>
                        <a:rPr lang="en-US" sz="2000" b="1" dirty="0" smtClean="0">
                          <a:latin typeface="Calibri"/>
                          <a:cs typeface="Calibri"/>
                        </a:rPr>
                        <a:t>QR</a:t>
                      </a:r>
                      <a:endParaRPr lang="en-US" sz="2000" b="1" dirty="0">
                        <a:latin typeface="Calibri"/>
                        <a:cs typeface="Calibri"/>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b="1" dirty="0" smtClean="0">
                          <a:solidFill>
                            <a:srgbClr val="0824F2"/>
                          </a:solidFill>
                          <a:latin typeface="Calibri"/>
                          <a:cs typeface="Calibri"/>
                        </a:rPr>
                        <a:t>[DGHL08]</a:t>
                      </a:r>
                      <a:endParaRPr lang="en-US" sz="2000" b="1" dirty="0">
                        <a:solidFill>
                          <a:srgbClr val="0824F2"/>
                        </a:solidFill>
                        <a:latin typeface="Calibri"/>
                        <a:cs typeface="Calibri"/>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b="1" dirty="0" smtClean="0">
                          <a:latin typeface="Calibri"/>
                          <a:cs typeface="Calibri"/>
                        </a:rPr>
                        <a:t>log P</a:t>
                      </a:r>
                      <a:endParaRPr lang="en-US" sz="2000" b="1" dirty="0">
                        <a:latin typeface="Calibri"/>
                        <a:cs typeface="Calibri"/>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b="1" dirty="0" smtClean="0">
                          <a:solidFill>
                            <a:srgbClr val="0824F2"/>
                          </a:solidFill>
                          <a:latin typeface="Calibri"/>
                          <a:cs typeface="Calibri"/>
                        </a:rPr>
                        <a:t> log</a:t>
                      </a:r>
                      <a:r>
                        <a:rPr lang="en-US" sz="2000" b="1" baseline="30000" dirty="0" smtClean="0">
                          <a:solidFill>
                            <a:srgbClr val="0824F2"/>
                          </a:solidFill>
                          <a:latin typeface="Calibri"/>
                          <a:cs typeface="Calibri"/>
                        </a:rPr>
                        <a:t>3</a:t>
                      </a:r>
                      <a:r>
                        <a:rPr lang="en-US" sz="2000" b="1" dirty="0" smtClean="0">
                          <a:solidFill>
                            <a:srgbClr val="0824F2"/>
                          </a:solidFill>
                          <a:latin typeface="Calibri"/>
                          <a:cs typeface="Calibri"/>
                        </a:rPr>
                        <a:t> P</a:t>
                      </a:r>
                      <a:endParaRPr lang="en-US" sz="2000" b="1" baseline="30000" dirty="0" smtClean="0">
                        <a:solidFill>
                          <a:srgbClr val="0824F2"/>
                        </a:solidFill>
                        <a:latin typeface="Calibri"/>
                        <a:cs typeface="Calibri"/>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0840">
                <a:tc>
                  <a:txBody>
                    <a:bodyPr/>
                    <a:lstStyle/>
                    <a:p>
                      <a:r>
                        <a:rPr lang="en-US" sz="2000" b="1" dirty="0" smtClean="0">
                          <a:latin typeface="Calibri"/>
                          <a:cs typeface="Calibri"/>
                        </a:rPr>
                        <a:t>Sym </a:t>
                      </a:r>
                      <a:r>
                        <a:rPr lang="en-US" sz="2000" b="1" dirty="0" err="1" smtClean="0">
                          <a:latin typeface="Calibri"/>
                          <a:cs typeface="Calibri"/>
                        </a:rPr>
                        <a:t>Eig</a:t>
                      </a:r>
                      <a:r>
                        <a:rPr lang="en-US" sz="2000" b="1" dirty="0" smtClean="0">
                          <a:latin typeface="Calibri"/>
                          <a:cs typeface="Calibri"/>
                        </a:rPr>
                        <a:t>, SVD</a:t>
                      </a:r>
                      <a:endParaRPr lang="en-US" sz="2000" b="1" dirty="0">
                        <a:latin typeface="Calibri"/>
                        <a:cs typeface="Calibri"/>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b="1" dirty="0" smtClean="0">
                          <a:solidFill>
                            <a:srgbClr val="0824F2"/>
                          </a:solidFill>
                          <a:latin typeface="Calibri"/>
                          <a:cs typeface="Calibri"/>
                        </a:rPr>
                        <a:t>[BDD11]</a:t>
                      </a:r>
                      <a:endParaRPr lang="en-US" sz="2000" b="1" dirty="0">
                        <a:solidFill>
                          <a:srgbClr val="0824F2"/>
                        </a:solidFill>
                        <a:latin typeface="Calibri"/>
                        <a:cs typeface="Calibri"/>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b="1" dirty="0" smtClean="0">
                          <a:latin typeface="Calibri"/>
                          <a:cs typeface="Calibri"/>
                        </a:rPr>
                        <a:t>log P</a:t>
                      </a:r>
                      <a:endParaRPr lang="en-US" sz="2000" b="1" dirty="0">
                        <a:latin typeface="Calibri"/>
                        <a:cs typeface="Calibri"/>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b="1" dirty="0" smtClean="0">
                          <a:solidFill>
                            <a:srgbClr val="0824F2"/>
                          </a:solidFill>
                          <a:latin typeface="Calibri"/>
                          <a:cs typeface="Calibri"/>
                        </a:rPr>
                        <a:t>log</a:t>
                      </a:r>
                      <a:r>
                        <a:rPr lang="en-US" sz="2000" b="1" baseline="30000" dirty="0" smtClean="0">
                          <a:solidFill>
                            <a:srgbClr val="0824F2"/>
                          </a:solidFill>
                          <a:latin typeface="Calibri"/>
                          <a:cs typeface="Calibri"/>
                        </a:rPr>
                        <a:t>3</a:t>
                      </a:r>
                      <a:r>
                        <a:rPr lang="en-US" sz="2000" b="1" dirty="0" smtClean="0">
                          <a:solidFill>
                            <a:srgbClr val="0824F2"/>
                          </a:solidFill>
                          <a:latin typeface="Calibri"/>
                          <a:cs typeface="Calibri"/>
                        </a:rPr>
                        <a:t> P</a:t>
                      </a:r>
                      <a:endParaRPr lang="en-US" sz="2000" b="1" baseline="30000" dirty="0" smtClean="0">
                        <a:solidFill>
                          <a:srgbClr val="0824F2"/>
                        </a:solidFill>
                        <a:latin typeface="Calibri"/>
                        <a:cs typeface="Calibri"/>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0840">
                <a:tc>
                  <a:txBody>
                    <a:bodyPr/>
                    <a:lstStyle/>
                    <a:p>
                      <a:r>
                        <a:rPr lang="en-US" sz="2000" b="1" dirty="0" err="1" smtClean="0">
                          <a:latin typeface="Calibri"/>
                          <a:cs typeface="Calibri"/>
                        </a:rPr>
                        <a:t>Nonsym</a:t>
                      </a:r>
                      <a:r>
                        <a:rPr lang="en-US" sz="2000" b="1" dirty="0" smtClean="0">
                          <a:latin typeface="Calibri"/>
                          <a:cs typeface="Calibri"/>
                        </a:rPr>
                        <a:t> </a:t>
                      </a:r>
                      <a:r>
                        <a:rPr lang="en-US" sz="2000" b="1" dirty="0" err="1" smtClean="0">
                          <a:latin typeface="Calibri"/>
                          <a:cs typeface="Calibri"/>
                        </a:rPr>
                        <a:t>Eig</a:t>
                      </a:r>
                      <a:endParaRPr lang="en-US" sz="2000" b="1" dirty="0">
                        <a:latin typeface="Calibri"/>
                        <a:cs typeface="Calibri"/>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b="1" dirty="0" smtClean="0">
                          <a:solidFill>
                            <a:srgbClr val="0824F2"/>
                          </a:solidFill>
                          <a:latin typeface="Calibri"/>
                          <a:cs typeface="Calibri"/>
                        </a:rPr>
                        <a:t>[BDD11]</a:t>
                      </a:r>
                      <a:endParaRPr lang="en-US" sz="2000" b="1" dirty="0">
                        <a:solidFill>
                          <a:srgbClr val="0824F2"/>
                        </a:solidFill>
                        <a:latin typeface="Calibri"/>
                        <a:cs typeface="Calibri"/>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b="1" dirty="0" smtClean="0">
                          <a:solidFill>
                            <a:srgbClr val="0824F2"/>
                          </a:solidFill>
                          <a:latin typeface="Calibri"/>
                          <a:cs typeface="Calibri"/>
                        </a:rPr>
                        <a:t>log P</a:t>
                      </a:r>
                      <a:endParaRPr lang="en-US" sz="2000" b="1" dirty="0">
                        <a:solidFill>
                          <a:srgbClr val="0824F2"/>
                        </a:solidFill>
                        <a:latin typeface="Calibri"/>
                        <a:cs typeface="Calibri"/>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b="1" dirty="0" smtClean="0">
                          <a:solidFill>
                            <a:srgbClr val="0824F2"/>
                          </a:solidFill>
                          <a:latin typeface="Calibri"/>
                          <a:cs typeface="Calibri"/>
                        </a:rPr>
                        <a:t> log</a:t>
                      </a:r>
                      <a:r>
                        <a:rPr lang="en-US" sz="2000" b="1" baseline="30000" dirty="0" smtClean="0">
                          <a:solidFill>
                            <a:srgbClr val="0824F2"/>
                          </a:solidFill>
                          <a:latin typeface="Calibri"/>
                          <a:cs typeface="Calibri"/>
                        </a:rPr>
                        <a:t>3</a:t>
                      </a:r>
                      <a:r>
                        <a:rPr lang="en-US" sz="2000" b="1" dirty="0" smtClean="0">
                          <a:solidFill>
                            <a:srgbClr val="0824F2"/>
                          </a:solidFill>
                          <a:latin typeface="Calibri"/>
                          <a:cs typeface="Calibri"/>
                        </a:rPr>
                        <a:t> P</a:t>
                      </a:r>
                      <a:endParaRPr lang="en-US" sz="2000" b="1" baseline="30000" dirty="0" smtClean="0">
                        <a:solidFill>
                          <a:srgbClr val="0824F2"/>
                        </a:solidFill>
                        <a:latin typeface="Calibri"/>
                        <a:cs typeface="Calibri"/>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p:cxnSp>
        <p:nvCxnSpPr>
          <p:cNvPr id="14" name="Straight Connector 13"/>
          <p:cNvCxnSpPr/>
          <p:nvPr/>
        </p:nvCxnSpPr>
        <p:spPr>
          <a:xfrm>
            <a:off x="381000" y="990600"/>
            <a:ext cx="83058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68613641"/>
      </p:ext>
    </p:extLst>
  </p:cSld>
  <p:clrMapOvr>
    <a:masterClrMapping/>
  </p:clrMapOvr>
  <p:timing>
    <p:tnLst>
      <p:par>
        <p:cTn xmlns:p14="http://schemas.microsoft.com/office/powerpoint/2010/mai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26315</TotalTime>
  <Words>12650</Words>
  <Application>Microsoft Macintosh PowerPoint</Application>
  <PresentationFormat>On-screen Show (4:3)</PresentationFormat>
  <Paragraphs>2131</Paragraphs>
  <Slides>121</Slides>
  <Notes>47</Notes>
  <HiddenSlides>16</HiddenSlides>
  <MMClips>2</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121</vt:i4>
      </vt:variant>
    </vt:vector>
  </HeadingPairs>
  <TitlesOfParts>
    <vt:vector size="123" baseType="lpstr">
      <vt:lpstr>Office Theme</vt:lpstr>
      <vt:lpstr>Equation</vt:lpstr>
      <vt:lpstr>Introduction to  Communication-Avoiding Algorithms  www.cs.berkeley.edu/~demmel/SC11_tutorial</vt:lpstr>
      <vt:lpstr>Why avoid communication? (1/2)</vt:lpstr>
      <vt:lpstr>Why avoid communication? (2/2)</vt:lpstr>
      <vt:lpstr>PowerPoint Presentation</vt:lpstr>
      <vt:lpstr>Summary of CA Linear Algebra</vt:lpstr>
      <vt:lpstr>Lower bound for all “direct” linear algebra</vt:lpstr>
      <vt:lpstr>Lower bound for all “direct” linear algebra</vt:lpstr>
      <vt:lpstr>Lower bound for all “direct” linear algebra</vt:lpstr>
      <vt:lpstr>Can we attain these lower bounds?</vt:lpstr>
      <vt:lpstr>Naïve Matrix Multiply</vt:lpstr>
      <vt:lpstr>Naïve Matrix Multiply</vt:lpstr>
      <vt:lpstr>Naïve Matrix Multiply</vt:lpstr>
      <vt:lpstr>Blocked (Tiled) Matrix Multiply</vt:lpstr>
      <vt:lpstr>Blocked (Tiled) Matrix Multiply</vt:lpstr>
      <vt:lpstr>Does blocked matmul attain lower bound?</vt:lpstr>
      <vt:lpstr>Recursive Matrix Multiplication (RMM) (1/2)</vt:lpstr>
      <vt:lpstr>Recursive Matrix Multiplication (RMM) (2/2)</vt:lpstr>
      <vt:lpstr>How hard is hand-tuning matmul, anyway?</vt:lpstr>
      <vt:lpstr>How hard is hand-tuning matmul, anyway?</vt:lpstr>
      <vt:lpstr>Parallel MatMul with 2D Processor Layout</vt:lpstr>
      <vt:lpstr>SUMMA Algorithm</vt:lpstr>
      <vt:lpstr>SUMMA – n x n matmul on P1/2 x P1/2 grid  </vt:lpstr>
      <vt:lpstr>SUMMA– n x n matmul on P1/2 x P1/2 grid </vt:lpstr>
      <vt:lpstr>SUMMA Communication Costs</vt:lpstr>
      <vt:lpstr>Can we do better? </vt:lpstr>
      <vt:lpstr>2.5D Matrix Multiplication </vt:lpstr>
      <vt:lpstr>2.5D Matrix Multiplication </vt:lpstr>
      <vt:lpstr>2.5D Matmul on BG/P, n=64K</vt:lpstr>
      <vt:lpstr>2.5D Matmul on BG/P, 16K nodes / 64K cores</vt:lpstr>
      <vt:lpstr>2.5D Matmul on BG/P, 16K nodes / 64K cores</vt:lpstr>
      <vt:lpstr>Extending to rest of Direct Linear Algebra Naïve Gaussian Elimination: A =LU</vt:lpstr>
      <vt:lpstr>Communication in sequential One-sided Factorizations (LU, QR, …)</vt:lpstr>
      <vt:lpstr>TSQR: QR of a Tall, Skinny matrix</vt:lpstr>
      <vt:lpstr>TSQR: QR of a Tall, Skinny matrix</vt:lpstr>
      <vt:lpstr>TSQR: An Architecture-Dependent Algorithm</vt:lpstr>
      <vt:lpstr>TSQR Performance Results</vt:lpstr>
      <vt:lpstr>Back to LU: Using similar idea for TSLU as TSQR:  Use reduction tree, to do “Tournament Pivoting”</vt:lpstr>
      <vt:lpstr>Exascale Machine Parameters Source: DOE Exascale Workshop</vt:lpstr>
      <vt:lpstr>Exascale  predicted speedups for Gaussian Elimination:    2D CA-LU vs ScaLAPACK-LU </vt:lpstr>
      <vt:lpstr>2.5D vs 2D LU With and Without Pivoting</vt:lpstr>
      <vt:lpstr>Summary of dense sequential algorithms  attaining communication lower bounds</vt:lpstr>
      <vt:lpstr>Summary of dense parallel algorithms  attaining communication lower bounds</vt:lpstr>
      <vt:lpstr>Summary of dense parallel algorithms  attaining communication lower bounds</vt:lpstr>
      <vt:lpstr>Summary of dense parallel algorithms  attaining communication lower bounds</vt:lpstr>
      <vt:lpstr>Summary of dense parallel algorithms  attaining communication lower bounds</vt:lpstr>
      <vt:lpstr>Can we do even better?</vt:lpstr>
      <vt:lpstr>Symmetric Band Reduction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Conventional vs CA - SBR</vt:lpstr>
      <vt:lpstr>Speedups of Sym. Band Reduction vs DSBTRD</vt:lpstr>
      <vt:lpstr>New lower bound for Strassen’s fast matrix multiplication</vt:lpstr>
      <vt:lpstr>Performance on 7k Processes</vt:lpstr>
      <vt:lpstr>Summary of Direct Linear Algebra</vt:lpstr>
      <vt:lpstr>Avoiding Communication in Iterative Linear Algebra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Minimizing Communication of GMRES to solve Ax=b</vt:lpstr>
      <vt:lpstr>PowerPoint Presentation</vt:lpstr>
      <vt:lpstr>Speed ups of GMRES on 8-core Intel Clovertown </vt:lpstr>
      <vt:lpstr>PowerPoint Presentation</vt:lpstr>
      <vt:lpstr>Tuning space for Krylov Methods</vt:lpstr>
      <vt:lpstr>Summary of Iterative Linear Algebra</vt:lpstr>
      <vt:lpstr>For further information</vt:lpstr>
      <vt:lpstr>Collaborators and Supporters</vt:lpstr>
      <vt:lpstr>Summary</vt:lpstr>
      <vt:lpstr>Extra Slides</vt:lpstr>
      <vt:lpstr>Exascale Machine Parameters</vt:lpstr>
      <vt:lpstr>Direct linear algebra:    Prior Work on Matmul</vt:lpstr>
      <vt:lpstr>Eigenvalue Algorithms</vt:lpstr>
      <vt:lpstr>Exascale predicted speedups for  Matrix Powers Kernel over SpMV for 2D Poisson (5 point stencil)</vt:lpstr>
      <vt:lpstr>Communication-Avoiding LU:  Use reduction tree, to do “Tournament Pivoting”</vt:lpstr>
      <vt:lpstr>Collaborators</vt:lpstr>
      <vt:lpstr>Summary of dense parallel algorithms  attaining communication lower bounds</vt:lpstr>
      <vt:lpstr>Summary of dense parallel algorithms  attaining communication lower bounds</vt:lpstr>
      <vt:lpstr>Summary of dense parallel algorithms  attaining communication lower bounds</vt:lpstr>
      <vt:lpstr>Summary of dense parallel algorithms  attaining communication lower bounds</vt:lpstr>
      <vt:lpstr>Can we do even better?</vt:lpstr>
      <vt:lpstr>Can we do even better?</vt:lpstr>
      <vt:lpstr>Beating   #words_moved  =  (n2/P1/2) </vt:lpstr>
      <vt:lpstr>Lower bound for  Strassen’s fast matrix multiplication</vt:lpstr>
      <vt:lpstr>Sequential Strong Scaling</vt:lpstr>
      <vt:lpstr>Parallel Strong Scaling</vt:lpstr>
      <vt:lpstr>Weak Scaling</vt:lpstr>
      <vt:lpstr>Performance Model Assumptions</vt:lpstr>
      <vt:lpstr>PowerPoint Presentation</vt:lpstr>
      <vt:lpstr>Observations</vt:lpstr>
      <vt:lpstr>Collaborators and Supporters</vt:lpstr>
      <vt:lpstr>Example Place Holder</vt:lpstr>
      <vt:lpstr>Reading List Topics (so far)</vt:lpstr>
      <vt:lpstr>Are we using all the hardware resources?</vt:lpstr>
      <vt:lpstr>PowerPoint Presentation</vt:lpstr>
      <vt:lpstr>PowerPoint Presentation</vt:lpstr>
      <vt:lpstr>Implications for Architectural Scaling</vt:lpstr>
      <vt:lpstr>Implications for Architectural Scaling Sequential Case:</vt:lpstr>
      <vt:lpstr>Implications for Architectural Scaling Parallel Case:</vt:lpstr>
      <vt:lpstr>PowerPoint Presentation</vt:lpstr>
      <vt:lpstr>Autotuning search space for SBR</vt:lpstr>
      <vt:lpstr>Communication-Avoiding SBR: Theory</vt:lpstr>
      <vt:lpstr>Band Reduction – prior work</vt:lpstr>
      <vt:lpstr>Can we do even better?</vt:lpstr>
    </vt:vector>
  </TitlesOfParts>
  <Company>EECS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Past, Present and Future of  High Performance  Linear Algebra Libraries</dc:title>
  <dc:creator>EECS</dc:creator>
  <cp:lastModifiedBy>James Demmel</cp:lastModifiedBy>
  <cp:revision>247</cp:revision>
  <cp:lastPrinted>2011-11-12T21:20:35Z</cp:lastPrinted>
  <dcterms:created xsi:type="dcterms:W3CDTF">2010-11-11T01:36:48Z</dcterms:created>
  <dcterms:modified xsi:type="dcterms:W3CDTF">2011-11-13T16:18:09Z</dcterms:modified>
</cp:coreProperties>
</file>