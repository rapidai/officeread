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sldIdLst>
    <p:sldId id="360" r:id="rId2"/>
    <p:sldId id="359" r:id="rId3"/>
    <p:sldId id="361" r:id="rId4"/>
    <p:sldId id="334" r:id="rId5"/>
    <p:sldId id="351" r:id="rId6"/>
    <p:sldId id="352" r:id="rId7"/>
    <p:sldId id="335" r:id="rId8"/>
    <p:sldId id="339" r:id="rId9"/>
    <p:sldId id="340" r:id="rId10"/>
    <p:sldId id="341" r:id="rId11"/>
    <p:sldId id="346" r:id="rId12"/>
    <p:sldId id="347" r:id="rId13"/>
    <p:sldId id="348" r:id="rId14"/>
    <p:sldId id="349" r:id="rId15"/>
    <p:sldId id="350" r:id="rId16"/>
    <p:sldId id="342" r:id="rId17"/>
    <p:sldId id="343" r:id="rId18"/>
    <p:sldId id="344" r:id="rId19"/>
    <p:sldId id="356" r:id="rId20"/>
    <p:sldId id="345" r:id="rId21"/>
    <p:sldId id="357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1031F"/>
    <a:srgbClr val="FFC145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643" autoAdjust="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D7FB67D-0204-42B3-BF9E-D3A1F2B190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6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536575" y="6248400"/>
            <a:ext cx="2054225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3251200" y="6248400"/>
            <a:ext cx="2887663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8150" y="62579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7958277-E36D-44D2-BEC0-77B7955A7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50EB5-F61A-44DD-9F43-E1C3C75D84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ED8A5-7559-4411-963F-ED6FA8C56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F8813-9071-4A57-8DCA-6DB6EFD674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36698-0BF7-4490-983D-98461242E4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FA034-6B5A-4202-88FD-974B2620A3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544D47-705F-44B2-9B5F-7AE53597BA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9A758-F654-4631-8A92-3343EF029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C4C3C7-2832-41FF-9A8D-C34B5DB585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325A6-B3C4-4B3F-A314-2C7A9EC262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5D5FC-88BF-49D9-8A55-FF24B8A84D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10AFF46-D9A7-4823-92F1-57E0100F59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8288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9243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B98BF3-915D-48C5-B4F3-65F8A85D12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8288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9243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77A57BD-27E2-41EA-807B-05CB57D36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9219" name="Rectangle 3"/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20" name="Rectangle 4"/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21" name="Line 5"/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3075"/>
            <a:ext cx="8153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28800"/>
            <a:ext cx="81534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922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7BC8F872-CA80-44BE-AC5A-74FE695FA2C3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95600" y="1828800"/>
            <a:ext cx="32766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 Since the days of Verne and Wells, science fiction writers have explored the implications of artificial intelligence and genetic engineering …</a:t>
            </a:r>
          </a:p>
        </p:txBody>
      </p:sp>
      <p:pic>
        <p:nvPicPr>
          <p:cNvPr id="671751" name="Picture 7" descr="robot"/>
          <p:cNvPicPr>
            <a:picLocks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828800"/>
            <a:ext cx="2478088" cy="3657600"/>
          </a:xfrm>
          <a:noFill/>
          <a:ln/>
        </p:spPr>
      </p:pic>
      <p:pic>
        <p:nvPicPr>
          <p:cNvPr id="671754" name="Picture 10" descr="0394588169"/>
          <p:cNvPicPr>
            <a:picLocks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6248400" y="1981200"/>
            <a:ext cx="2373313" cy="3581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43200" y="1828800"/>
            <a:ext cx="34290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Ecology and terraforming …</a:t>
            </a:r>
          </a:p>
        </p:txBody>
      </p:sp>
      <p:pic>
        <p:nvPicPr>
          <p:cNvPr id="674825" name="Picture 9" descr="055357239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96000" y="1828800"/>
            <a:ext cx="2454275" cy="4038600"/>
          </a:xfrm>
          <a:noFill/>
          <a:ln/>
        </p:spPr>
      </p:pic>
      <p:pic>
        <p:nvPicPr>
          <p:cNvPr id="674828" name="Picture 12" descr="Dune_f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" y="1981200"/>
            <a:ext cx="2305050" cy="3886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67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95600" y="1828800"/>
            <a:ext cx="37338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Overpopulation ...</a:t>
            </a:r>
          </a:p>
        </p:txBody>
      </p:sp>
      <p:pic>
        <p:nvPicPr>
          <p:cNvPr id="673800" name="Picture 8" descr="harrison_make_berkx1416"/>
          <p:cNvPicPr>
            <a:picLocks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905000"/>
            <a:ext cx="2378075" cy="4038600"/>
          </a:xfrm>
          <a:noFill/>
          <a:ln/>
        </p:spPr>
      </p:pic>
      <p:pic>
        <p:nvPicPr>
          <p:cNvPr id="673804" name="Picture 12" descr="standonz2"/>
          <p:cNvPicPr>
            <a:picLocks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6324600" y="1981200"/>
            <a:ext cx="2228850" cy="3886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19400" y="1828800"/>
            <a:ext cx="31242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  and the transformation of human nature through advanced biotechnology</a:t>
            </a:r>
          </a:p>
        </p:txBody>
      </p:sp>
      <p:pic>
        <p:nvPicPr>
          <p:cNvPr id="677897" name="Picture 9" descr="pohl%20cover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828800"/>
            <a:ext cx="2636838" cy="4038600"/>
          </a:xfrm>
          <a:noFill/>
          <a:ln/>
        </p:spPr>
      </p:pic>
      <p:pic>
        <p:nvPicPr>
          <p:cNvPr id="677900" name="Picture 12" descr="044667610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5943600" y="1905000"/>
            <a:ext cx="2655888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70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4876800" cy="4038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A number of political theorists have suggested that government grows by using crises and emergencies as an excuse to expand its powers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After the crisis is over the increased powers rarely return to their pre-crisis level</a:t>
            </a:r>
          </a:p>
        </p:txBody>
      </p:sp>
      <p:graphicFrame>
        <p:nvGraphicFramePr>
          <p:cNvPr id="70451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5867400" y="1981200"/>
          <a:ext cx="2624138" cy="3962400"/>
        </p:xfrm>
        <a:graphic>
          <a:graphicData uri="http://schemas.openxmlformats.org/presentationml/2006/ole">
            <p:oleObj spid="_x0000_s704516" name="Bitmap Image" r:id="rId3" imgW="1400000" imgH="2114845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More Recent Work</a:t>
            </a:r>
          </a:p>
        </p:txBody>
      </p:sp>
      <p:sp>
        <p:nvSpPr>
          <p:cNvPr id="70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828800"/>
            <a:ext cx="32766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200">
                <a:solidFill>
                  <a:srgbClr val="FFBF1F"/>
                </a:solidFill>
              </a:rPr>
              <a:t>   George Lucas dramatised the same idea in his second </a:t>
            </a:r>
            <a:r>
              <a:rPr lang="en-US" sz="3200" i="1">
                <a:solidFill>
                  <a:srgbClr val="FFBF1F"/>
                </a:solidFill>
              </a:rPr>
              <a:t>Star Wars </a:t>
            </a:r>
            <a:r>
              <a:rPr lang="en-US" sz="3200">
                <a:solidFill>
                  <a:srgbClr val="FFBF1F"/>
                </a:solidFill>
              </a:rPr>
              <a:t>trilogy</a:t>
            </a:r>
          </a:p>
        </p:txBody>
      </p:sp>
      <p:pic>
        <p:nvPicPr>
          <p:cNvPr id="705540" name="Picture 4" descr="Palpatine00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505200" y="1905000"/>
            <a:ext cx="5181600" cy="388778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Nanotech in Science Fiction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828800"/>
            <a:ext cx="5486400" cy="4191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 The potential benefits and hazards of nanotechnology have featured prominently in science fiction as well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900">
                <a:solidFill>
                  <a:srgbClr val="FFBF1F"/>
                </a:solidFill>
              </a:rPr>
              <a:t>  Michael Crichton’s </a:t>
            </a:r>
            <a:r>
              <a:rPr lang="en-US" sz="2900" i="1">
                <a:solidFill>
                  <a:srgbClr val="FFBF1F"/>
                </a:solidFill>
              </a:rPr>
              <a:t>Prey</a:t>
            </a:r>
            <a:r>
              <a:rPr lang="en-US" sz="2900">
                <a:solidFill>
                  <a:srgbClr val="FFBF1F"/>
                </a:solidFill>
              </a:rPr>
              <a:t>, for example, dramatises the “grey goo” scenario of nanobots running amuck, gobbling up everything in sight</a:t>
            </a:r>
            <a:endParaRPr lang="en-US" sz="2900" i="1">
              <a:solidFill>
                <a:srgbClr val="FFBF1F"/>
              </a:solidFill>
            </a:endParaRPr>
          </a:p>
        </p:txBody>
      </p:sp>
      <p:pic>
        <p:nvPicPr>
          <p:cNvPr id="680967" name="Picture 7" descr="Prey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791200" y="1905000"/>
            <a:ext cx="2751138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Nanotech in Science Fiction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828800"/>
            <a:ext cx="5486400" cy="4191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 Neal Stephenson’s </a:t>
            </a:r>
            <a:r>
              <a:rPr lang="en-US" sz="2400" i="1">
                <a:solidFill>
                  <a:srgbClr val="FFBF1F"/>
                </a:solidFill>
              </a:rPr>
              <a:t>The Diamond Age</a:t>
            </a:r>
            <a:r>
              <a:rPr lang="en-US" sz="2400">
                <a:solidFill>
                  <a:srgbClr val="FFBF1F"/>
                </a:solidFill>
              </a:rPr>
              <a:t> depicts a world in which nanotechnology has given us amazing powers, including the ability to grow entire islands and cities out of crystal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 The downside is that only the upper classes benefit from this technology while ordinary people live in squalor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 The plot turns on a poor child’s accidental discovery of a rich child’s abandoned interactive nano-powered “illustrated primer”</a:t>
            </a:r>
            <a:endParaRPr lang="en-US" sz="2400" i="1">
              <a:solidFill>
                <a:srgbClr val="FFBF1F"/>
              </a:solidFill>
            </a:endParaRPr>
          </a:p>
        </p:txBody>
      </p:sp>
      <p:pic>
        <p:nvPicPr>
          <p:cNvPr id="685063" name="Picture 7" descr="n538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19800" y="1828800"/>
            <a:ext cx="2439988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Nanotech in Science Fiction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0" y="1828800"/>
            <a:ext cx="31242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solidFill>
                  <a:srgbClr val="FFBF1F"/>
                </a:solidFill>
              </a:rPr>
              <a:t>     Vernor Vinge’s novels deal with the concept of the “Singularity,” a hypothetical point in our supposedly </a:t>
            </a:r>
            <a:r>
              <a:rPr lang="en-US" sz="2000" i="1">
                <a:solidFill>
                  <a:srgbClr val="FFBF1F"/>
                </a:solidFill>
              </a:rPr>
              <a:t>very near future</a:t>
            </a:r>
            <a:r>
              <a:rPr lang="en-US" sz="2000">
                <a:solidFill>
                  <a:srgbClr val="FFBF1F"/>
                </a:solidFill>
              </a:rPr>
              <a:t> where the advance of nanotechnology, biotechnology, and artificial intelligence will transform the human race into superhuman beings beyond our present comprehension</a:t>
            </a:r>
          </a:p>
        </p:txBody>
      </p:sp>
      <p:pic>
        <p:nvPicPr>
          <p:cNvPr id="686087" name="Picture 7" descr="Image:VernorVinge RainbowsEnd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172200" y="1905000"/>
            <a:ext cx="2559050" cy="3903663"/>
          </a:xfrm>
          <a:noFill/>
          <a:ln/>
        </p:spPr>
      </p:pic>
      <p:pic>
        <p:nvPicPr>
          <p:cNvPr id="686090" name="Picture 10" descr="Marooned-in-Realtime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533400" y="1981200"/>
            <a:ext cx="2673350" cy="3962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Nanotech in Science Fiction</a:t>
            </a:r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0" y="1828800"/>
            <a:ext cx="289560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  This “Singularity” idea, which originated in Vinge’s science fiction novels, is now being embraced not only by other science fiction writers but also by nonfiction futurists such as Ray Kurzweil</a:t>
            </a:r>
            <a:endParaRPr lang="en-US" sz="2400" i="1">
              <a:solidFill>
                <a:srgbClr val="FFBF1F"/>
              </a:solidFill>
            </a:endParaRPr>
          </a:p>
        </p:txBody>
      </p:sp>
      <p:pic>
        <p:nvPicPr>
          <p:cNvPr id="689159" name="Picture 7" descr="singularity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867400" y="1828800"/>
            <a:ext cx="2773363" cy="4191000"/>
          </a:xfrm>
          <a:noFill/>
          <a:ln/>
        </p:spPr>
      </p:pic>
      <p:pic>
        <p:nvPicPr>
          <p:cNvPr id="689162" name="Picture 10" descr="newton_lg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" y="1905000"/>
            <a:ext cx="2636838" cy="3962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Prediction or Influence?</a:t>
            </a:r>
          </a:p>
        </p:txBody>
      </p:sp>
      <p:sp>
        <p:nvSpPr>
          <p:cNvPr id="69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4876800" cy="4038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>
                <a:solidFill>
                  <a:srgbClr val="FFBF1F"/>
                </a:solidFill>
              </a:rPr>
              <a:t>The personal communicators in the 1966 </a:t>
            </a:r>
            <a:r>
              <a:rPr lang="en-US" sz="3600" i="1">
                <a:solidFill>
                  <a:srgbClr val="FFBF1F"/>
                </a:solidFill>
              </a:rPr>
              <a:t>Star Trek</a:t>
            </a:r>
            <a:r>
              <a:rPr lang="en-US" sz="3600">
                <a:solidFill>
                  <a:srgbClr val="FFBF1F"/>
                </a:solidFill>
              </a:rPr>
              <a:t> look a lot like today’s cell phones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>
                <a:solidFill>
                  <a:srgbClr val="FFBF1F"/>
                </a:solidFill>
              </a:rPr>
              <a:t>But is that because they predicted them?</a:t>
            </a:r>
          </a:p>
        </p:txBody>
      </p:sp>
      <p:pic>
        <p:nvPicPr>
          <p:cNvPr id="699396" name="Picture 4" descr="Image:Tos communicato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638800" y="1905000"/>
            <a:ext cx="2551113" cy="3962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Prediction or Influence?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3962400" cy="4038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>
                <a:solidFill>
                  <a:srgbClr val="FFBF1F"/>
                </a:solidFill>
              </a:rPr>
              <a:t>Or is it because the people who created cell phones were influenced by </a:t>
            </a:r>
            <a:r>
              <a:rPr lang="en-US" sz="3600" i="1">
                <a:solidFill>
                  <a:srgbClr val="FFBF1F"/>
                </a:solidFill>
              </a:rPr>
              <a:t>Star Trek</a:t>
            </a:r>
            <a:r>
              <a:rPr lang="en-US" sz="3600">
                <a:solidFill>
                  <a:srgbClr val="FFBF1F"/>
                </a:solidFill>
              </a:rPr>
              <a:t>?</a:t>
            </a:r>
          </a:p>
        </p:txBody>
      </p:sp>
      <p:graphicFrame>
        <p:nvGraphicFramePr>
          <p:cNvPr id="700420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267200" y="2133600"/>
          <a:ext cx="4343400" cy="3454400"/>
        </p:xfrm>
        <a:graphic>
          <a:graphicData uri="http://schemas.openxmlformats.org/presentationml/2006/ole">
            <p:oleObj spid="_x0000_s700420" name="Bitmap Image" r:id="rId3" imgW="2980952" imgH="2371429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Prediction or Influence?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38100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600">
                <a:solidFill>
                  <a:srgbClr val="FFBF1F"/>
                </a:solidFill>
              </a:rPr>
              <a:t>In his 1942 short story “Waldo,” Robert Heinlein predicted the use of remote manipulators</a:t>
            </a:r>
          </a:p>
        </p:txBody>
      </p:sp>
      <p:pic>
        <p:nvPicPr>
          <p:cNvPr id="701444" name="Picture 4" descr="Image:Waldo Astounding SF Aug 194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486400" y="1828800"/>
            <a:ext cx="2932113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Prediction or Influence?</a:t>
            </a: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3429000" cy="3886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3600">
                <a:solidFill>
                  <a:srgbClr val="FFBF1F"/>
                </a:solidFill>
              </a:rPr>
              <a:t> When they were finally invented in real life, they were called “Waldoes,” in honour of Heinlein’s story</a:t>
            </a:r>
          </a:p>
        </p:txBody>
      </p:sp>
      <p:graphicFrame>
        <p:nvGraphicFramePr>
          <p:cNvPr id="702468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702468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702469" name="Picture 5" descr="FigBH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3810000" y="1828800"/>
            <a:ext cx="4876800" cy="39560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Prediction or Influence?</a:t>
            </a:r>
          </a:p>
        </p:txBody>
      </p:sp>
      <p:sp>
        <p:nvSpPr>
          <p:cNvPr id="70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5562600" cy="4267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“This machine ... has access to the Congressional Library St. Louis Annex, does it not?” 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“Certainly. Hooked into the Interlibrary Net, rather, though you can restrict a query to one library.”</a:t>
            </a:r>
            <a:endParaRPr lang="en-US" sz="12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endParaRPr lang="en-US" sz="12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– conversation from Heinlein’s </a:t>
            </a:r>
            <a:r>
              <a:rPr lang="en-US" sz="2400" i="1">
                <a:solidFill>
                  <a:srgbClr val="FFBF1F"/>
                </a:solidFill>
              </a:rPr>
              <a:t>I Will Fear No Evil</a:t>
            </a:r>
            <a:r>
              <a:rPr lang="en-US" sz="2400">
                <a:solidFill>
                  <a:srgbClr val="FFBF1F"/>
                </a:solidFill>
              </a:rPr>
              <a:t>  (</a:t>
            </a:r>
            <a:r>
              <a:rPr lang="en-US" sz="2400" u="sng">
                <a:solidFill>
                  <a:srgbClr val="FFBF1F"/>
                </a:solidFill>
              </a:rPr>
              <a:t>1970</a:t>
            </a:r>
            <a:r>
              <a:rPr lang="en-US" sz="2400">
                <a:solidFill>
                  <a:srgbClr val="FFBF1F"/>
                </a:solidFill>
              </a:rPr>
              <a:t>)</a:t>
            </a:r>
          </a:p>
        </p:txBody>
      </p:sp>
      <p:graphicFrame>
        <p:nvGraphicFramePr>
          <p:cNvPr id="703492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703492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703493" name="Picture 5" descr="Robert_A_Heinlein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5791200" y="1905000"/>
            <a:ext cx="2828925" cy="39624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69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5720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</a:t>
            </a:r>
            <a:r>
              <a:rPr lang="en-US" sz="2800" b="1">
                <a:solidFill>
                  <a:srgbClr val="FFBF1F"/>
                </a:solidFill>
              </a:rPr>
              <a:t>How are they </a:t>
            </a:r>
            <a:r>
              <a:rPr lang="en-US" sz="2800" b="1" i="1">
                <a:solidFill>
                  <a:srgbClr val="FFBF1F"/>
                </a:solidFill>
              </a:rPr>
              <a:t>similar</a:t>
            </a:r>
            <a:r>
              <a:rPr lang="en-US" sz="2800" b="1">
                <a:solidFill>
                  <a:srgbClr val="FFBF1F"/>
                </a:solidFill>
              </a:rPr>
              <a:t>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b="1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Both concern themselves with the </a:t>
            </a:r>
            <a:r>
              <a:rPr lang="en-US" sz="2800" i="1">
                <a:solidFill>
                  <a:srgbClr val="FFBF1F"/>
                </a:solidFill>
              </a:rPr>
              <a:t>possible</a:t>
            </a:r>
            <a:r>
              <a:rPr lang="en-US" sz="2800">
                <a:solidFill>
                  <a:srgbClr val="FFBF1F"/>
                </a:solidFill>
              </a:rPr>
              <a:t>, not just the </a:t>
            </a:r>
            <a:r>
              <a:rPr lang="en-US" sz="2800" i="1">
                <a:solidFill>
                  <a:srgbClr val="FFBF1F"/>
                </a:solidFill>
              </a:rPr>
              <a:t>actual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Both project possible states of affairs and either invite us to realise them or warn us to avoid them</a:t>
            </a:r>
            <a:endParaRPr lang="en-US" sz="2400">
              <a:solidFill>
                <a:srgbClr val="FFBF1F"/>
              </a:solidFill>
            </a:endParaRPr>
          </a:p>
        </p:txBody>
      </p:sp>
      <p:graphicFrame>
        <p:nvGraphicFramePr>
          <p:cNvPr id="695300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695300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695301" name="Picture 5" descr="philosopher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5334000" y="1828800"/>
            <a:ext cx="3313113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83058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</a:t>
            </a:r>
            <a:r>
              <a:rPr lang="en-US" sz="2800" b="1">
                <a:solidFill>
                  <a:srgbClr val="FFBF1F"/>
                </a:solidFill>
              </a:rPr>
              <a:t>How are they </a:t>
            </a:r>
            <a:r>
              <a:rPr lang="en-US" sz="2800" b="1" i="1">
                <a:solidFill>
                  <a:srgbClr val="FFBF1F"/>
                </a:solidFill>
              </a:rPr>
              <a:t>different</a:t>
            </a:r>
            <a:r>
              <a:rPr lang="en-US" sz="2800" b="1">
                <a:solidFill>
                  <a:srgbClr val="FFBF1F"/>
                </a:solidFill>
              </a:rPr>
              <a:t>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Philosophy proceeds by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</a:t>
            </a:r>
            <a:r>
              <a:rPr lang="en-US" sz="2800" i="1">
                <a:solidFill>
                  <a:srgbClr val="FFBF1F"/>
                </a:solidFill>
              </a:rPr>
              <a:t>logical argument</a:t>
            </a:r>
            <a:endParaRPr lang="en-US" sz="2800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It starts from </a:t>
            </a:r>
            <a:r>
              <a:rPr lang="en-US" sz="2800" i="1">
                <a:solidFill>
                  <a:srgbClr val="FFBF1F"/>
                </a:solidFill>
              </a:rPr>
              <a:t>premises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   you already accept</a:t>
            </a:r>
            <a:r>
              <a:rPr lang="en-US" sz="2800">
                <a:solidFill>
                  <a:srgbClr val="FFBF1F"/>
                </a:solidFill>
              </a:rPr>
              <a:t>, and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attempts to show how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those premises </a:t>
            </a:r>
            <a:r>
              <a:rPr lang="en-US" sz="2800" i="1">
                <a:solidFill>
                  <a:srgbClr val="FFBF1F"/>
                </a:solidFill>
              </a:rPr>
              <a:t>logically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   commit you</a:t>
            </a:r>
            <a:r>
              <a:rPr lang="en-US" sz="2800">
                <a:solidFill>
                  <a:srgbClr val="FFBF1F"/>
                </a:solidFill>
              </a:rPr>
              <a:t> to conclusions you don’t </a:t>
            </a:r>
            <a:r>
              <a:rPr lang="en-US" sz="2800" i="1">
                <a:solidFill>
                  <a:srgbClr val="FFBF1F"/>
                </a:solidFill>
              </a:rPr>
              <a:t>yet</a:t>
            </a:r>
            <a:r>
              <a:rPr lang="en-US" sz="2800">
                <a:solidFill>
                  <a:srgbClr val="FFBF1F"/>
                </a:solidFill>
              </a:rPr>
              <a:t> accept</a:t>
            </a:r>
            <a:endParaRPr lang="en-US" sz="2400">
              <a:solidFill>
                <a:srgbClr val="FFBF1F"/>
              </a:solidFill>
            </a:endParaRPr>
          </a:p>
        </p:txBody>
      </p:sp>
      <p:graphicFrame>
        <p:nvGraphicFramePr>
          <p:cNvPr id="696324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696324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696325" name="Picture 5" descr="euclid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4724400" y="1981200"/>
            <a:ext cx="3962400" cy="331787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1910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Hence in philosophy it never makes sense to dismiss a philosophical argument as “subjective” or “just someone’s opinion”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Whether or not you do accept the premises is a </a:t>
            </a:r>
            <a:r>
              <a:rPr lang="en-US" sz="2400" i="1" u="sng">
                <a:solidFill>
                  <a:srgbClr val="FFBF1F"/>
                </a:solidFill>
              </a:rPr>
              <a:t>fact</a:t>
            </a:r>
            <a:endParaRPr lang="en-US" sz="2400" u="sng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Whether or not those premises logically entail the conclusion is also a </a:t>
            </a:r>
            <a:r>
              <a:rPr lang="en-US" sz="2400" i="1" u="sng">
                <a:solidFill>
                  <a:srgbClr val="FFBF1F"/>
                </a:solidFill>
              </a:rPr>
              <a:t>fact</a:t>
            </a:r>
            <a:endParaRPr lang="en-US" sz="2400" u="sng">
              <a:solidFill>
                <a:srgbClr val="FFBF1F"/>
              </a:solidFill>
            </a:endParaRPr>
          </a:p>
        </p:txBody>
      </p:sp>
      <p:graphicFrame>
        <p:nvGraphicFramePr>
          <p:cNvPr id="697348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697348" name="Chart" r:id="rId3" imgW="4000410" imgH="1943134" progId="MSGraph.Chart.8">
              <p:embed followColorScheme="full"/>
            </p:oleObj>
          </a:graphicData>
        </a:graphic>
      </p:graphicFrame>
      <p:graphicFrame>
        <p:nvGraphicFramePr>
          <p:cNvPr id="697349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4572000" y="1905000"/>
          <a:ext cx="4114800" cy="3889375"/>
        </p:xfrm>
        <a:graphic>
          <a:graphicData uri="http://schemas.openxmlformats.org/presentationml/2006/ole">
            <p:oleObj spid="_x0000_s697349" name="Bitmap Image" r:id="rId4" imgW="2600000" imgH="2457143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6482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Once you accept the premises of a logically valid argument, you </a:t>
            </a:r>
            <a:r>
              <a:rPr lang="en-US" sz="2800" i="1">
                <a:solidFill>
                  <a:srgbClr val="FFBF1F"/>
                </a:solidFill>
              </a:rPr>
              <a:t>cannot reject the conclusion without contradicting yourself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200" i="1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Socrates: “What is more shameful than to be in disagreement with oneself?”</a:t>
            </a:r>
          </a:p>
        </p:txBody>
      </p:sp>
      <p:graphicFrame>
        <p:nvGraphicFramePr>
          <p:cNvPr id="710660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710660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710664" name="Picture 8" descr="munch-scream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4953000" y="1828800"/>
            <a:ext cx="3563938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55626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Science fiction, by contrast, doesn’t necessarily deal with </a:t>
            </a:r>
            <a:r>
              <a:rPr lang="en-US" sz="2400" i="1">
                <a:solidFill>
                  <a:srgbClr val="FFBF1F"/>
                </a:solidFill>
              </a:rPr>
              <a:t>proofs</a:t>
            </a:r>
            <a:r>
              <a:rPr lang="en-US" sz="2400">
                <a:solidFill>
                  <a:srgbClr val="FFBF1F"/>
                </a:solidFill>
              </a:rPr>
              <a:t> and </a:t>
            </a:r>
            <a:r>
              <a:rPr lang="en-US" sz="2400" i="1">
                <a:solidFill>
                  <a:srgbClr val="FFBF1F"/>
                </a:solidFill>
              </a:rPr>
              <a:t>arguments</a:t>
            </a:r>
            <a:r>
              <a:rPr lang="en-US" sz="2400">
                <a:solidFill>
                  <a:srgbClr val="FFBF1F"/>
                </a:solidFill>
              </a:rPr>
              <a:t>  (though these may occur incidentally)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It projects possibilities </a:t>
            </a:r>
            <a:r>
              <a:rPr lang="en-US" sz="2400" i="1">
                <a:solidFill>
                  <a:srgbClr val="FFBF1F"/>
                </a:solidFill>
              </a:rPr>
              <a:t>vividly</a:t>
            </a:r>
            <a:r>
              <a:rPr lang="en-US" sz="2400">
                <a:solidFill>
                  <a:srgbClr val="FFBF1F"/>
                </a:solidFill>
              </a:rPr>
              <a:t> so that we can feel what they would be like, and engages our </a:t>
            </a:r>
            <a:r>
              <a:rPr lang="en-US" sz="2400" i="1">
                <a:solidFill>
                  <a:srgbClr val="FFBF1F"/>
                </a:solidFill>
              </a:rPr>
              <a:t>emotions</a:t>
            </a:r>
            <a:r>
              <a:rPr lang="en-US" sz="2400">
                <a:solidFill>
                  <a:srgbClr val="FFBF1F"/>
                </a:solidFill>
              </a:rPr>
              <a:t> for or against them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But doesn’t philosophy do this too, through its use of thought-experiments?</a:t>
            </a:r>
          </a:p>
        </p:txBody>
      </p:sp>
      <p:graphicFrame>
        <p:nvGraphicFramePr>
          <p:cNvPr id="698372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698372" name="Chart" r:id="rId3" imgW="4000410" imgH="1943134" progId="MSGraph.Chart.8">
              <p:embed followColorScheme="full"/>
            </p:oleObj>
          </a:graphicData>
        </a:graphic>
      </p:graphicFrame>
      <p:pic>
        <p:nvPicPr>
          <p:cNvPr id="698376" name="Picture 8" descr="picture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5791200" y="1828800"/>
            <a:ext cx="2792413" cy="4114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>
                <a:solidFill>
                  <a:srgbClr val="FFBF1F"/>
                </a:solidFill>
              </a:rPr>
              <a:t>Science Fiction and Philosophy</a:t>
            </a: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55626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200">
                <a:solidFill>
                  <a:srgbClr val="FFBF1F"/>
                </a:solidFill>
              </a:rPr>
              <a:t>An important similarity between science fiction and philosophy is that they can both </a:t>
            </a:r>
            <a:r>
              <a:rPr lang="en-US" sz="3200" i="1">
                <a:solidFill>
                  <a:srgbClr val="FFBF1F"/>
                </a:solidFill>
              </a:rPr>
              <a:t>convince</a:t>
            </a:r>
            <a:r>
              <a:rPr lang="en-US" sz="3200">
                <a:solidFill>
                  <a:srgbClr val="FFBF1F"/>
                </a:solidFill>
              </a:rPr>
              <a:t> us that some possible future is worth pursuing (or avoiding) by drawing on beliefs and emotional reactions already latent within us</a:t>
            </a:r>
            <a:endParaRPr lang="en-US" sz="3200" i="1">
              <a:solidFill>
                <a:srgbClr val="FFBF1F"/>
              </a:solidFill>
            </a:endParaRPr>
          </a:p>
        </p:txBody>
      </p:sp>
      <p:graphicFrame>
        <p:nvGraphicFramePr>
          <p:cNvPr id="711684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86300" y="3924300"/>
          <a:ext cx="4000500" cy="1943100"/>
        </p:xfrm>
        <a:graphic>
          <a:graphicData uri="http://schemas.openxmlformats.org/presentationml/2006/ole">
            <p:oleObj spid="_x0000_s711684" name="Chart" r:id="rId3" imgW="4000410" imgH="1943134" progId="MSGraph.Chart.8">
              <p:embed followColorScheme="full"/>
            </p:oleObj>
          </a:graphicData>
        </a:graphic>
      </p:graphicFrame>
      <p:graphicFrame>
        <p:nvGraphicFramePr>
          <p:cNvPr id="711685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5943600" y="1828800"/>
          <a:ext cx="2782888" cy="4114800"/>
        </p:xfrm>
        <a:graphic>
          <a:graphicData uri="http://schemas.openxmlformats.org/presentationml/2006/ole">
            <p:oleObj spid="_x0000_s711685" name="Bitmap Image" r:id="rId4" imgW="2352381" imgH="3476190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L-Nanoethics-9a">
  <a:themeElements>
    <a:clrScheme name="Refined 1">
      <a:dk1>
        <a:srgbClr val="666633"/>
      </a:dk1>
      <a:lt1>
        <a:srgbClr val="FFFFFF"/>
      </a:lt1>
      <a:dk2>
        <a:srgbClr val="000000"/>
      </a:dk2>
      <a:lt2>
        <a:srgbClr val="FFFFFF"/>
      </a:lt2>
      <a:accent1>
        <a:srgbClr val="666699"/>
      </a:accent1>
      <a:accent2>
        <a:srgbClr val="990000"/>
      </a:accent2>
      <a:accent3>
        <a:srgbClr val="AAAAAA"/>
      </a:accent3>
      <a:accent4>
        <a:srgbClr val="DADADA"/>
      </a:accent4>
      <a:accent5>
        <a:srgbClr val="B8B8CA"/>
      </a:accent5>
      <a:accent6>
        <a:srgbClr val="8A0000"/>
      </a:accent6>
      <a:hlink>
        <a:srgbClr val="999900"/>
      </a:hlink>
      <a:folHlink>
        <a:srgbClr val="FFFFFF"/>
      </a:folHlink>
    </a:clrScheme>
    <a:fontScheme name="Refined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RL-Nanoethics-9a</Template>
  <TotalTime>10</TotalTime>
  <Words>746</Words>
  <Application>Microsoft PowerPoint</Application>
  <PresentationFormat>On-screen Show (4:3)</PresentationFormat>
  <Paragraphs>67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RL-Nanoethics-9a</vt:lpstr>
      <vt:lpstr>Bitmap Image</vt:lpstr>
      <vt:lpstr>Chart</vt:lpstr>
      <vt:lpstr>More Recent Work</vt:lpstr>
      <vt:lpstr>More Recent Work</vt:lpstr>
      <vt:lpstr>More Recent Work</vt:lpstr>
      <vt:lpstr>More Recent Work</vt:lpstr>
      <vt:lpstr>More Recent Work</vt:lpstr>
      <vt:lpstr>More Recent Work</vt:lpstr>
      <vt:lpstr>Nanotech in Science Fiction</vt:lpstr>
      <vt:lpstr>Nanotech in Science Fiction</vt:lpstr>
      <vt:lpstr>Nanotech in Science Fiction</vt:lpstr>
      <vt:lpstr>Nanotech in Science Fiction</vt:lpstr>
      <vt:lpstr>Prediction or Influence?</vt:lpstr>
      <vt:lpstr>Prediction or Influence?</vt:lpstr>
      <vt:lpstr>Prediction or Influence?</vt:lpstr>
      <vt:lpstr>Prediction or Influence?</vt:lpstr>
      <vt:lpstr>Prediction or Influence?</vt:lpstr>
      <vt:lpstr>Science Fiction and Philosophy</vt:lpstr>
      <vt:lpstr>Science Fiction and Philosophy</vt:lpstr>
      <vt:lpstr>Science Fiction and Philosophy</vt:lpstr>
      <vt:lpstr>Science Fiction and Philosophy</vt:lpstr>
      <vt:lpstr>Science Fiction and Philosophy</vt:lpstr>
      <vt:lpstr>Science Fiction and Philosophy</vt:lpstr>
    </vt:vector>
  </TitlesOfParts>
  <Company>Auburn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Fiction, Philosophy, and the Future  Nanoethics Lecture IX</dc:title>
  <dc:creator>Roderick Tracy Long</dc:creator>
  <cp:lastModifiedBy>Roderick Tracy Long</cp:lastModifiedBy>
  <cp:revision>6</cp:revision>
  <dcterms:created xsi:type="dcterms:W3CDTF">2008-04-18T20:57:22Z</dcterms:created>
  <dcterms:modified xsi:type="dcterms:W3CDTF">2008-04-18T21:08:22Z</dcterms:modified>
</cp:coreProperties>
</file>