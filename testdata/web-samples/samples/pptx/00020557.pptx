
<file path=[Content_Types].xml><?xml version="1.0" encoding="utf-8"?>
<Types xmlns="http://schemas.openxmlformats.org/package/2006/content-types">
  <Override PartName="/ppt/slides/slide41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50.xml" ContentType="application/vnd.openxmlformats-officedocument.presentationml.slide+xml"/>
  <Override PartName="/ppt/slides/slide18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60.xml" ContentType="application/vnd.openxmlformats-officedocument.presentationml.slide+xml"/>
  <Override PartName="/ppt/slides/slide28.xml" ContentType="application/vnd.openxmlformats-officedocument.presentationml.slide+xml"/>
  <Override PartName="/ppt/slides/slide37.xml" ContentType="application/vnd.openxmlformats-officedocument.presentationml.slide+xml"/>
  <Override PartName="/ppt/slides/slide70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Default Extension="vml" ContentType="application/vnd.openxmlformats-officedocument.vmlDrawing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Default Extension="jpeg" ContentType="image/jpeg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notesSlides/notesSlide40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42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slides/slide19.xml" ContentType="application/vnd.openxmlformats-officedocument.presentationml.slide+xml"/>
  <Override PartName="/ppt/notesSlides/notesSlide27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61.xml" ContentType="application/vnd.openxmlformats-officedocument.presentationml.slide+xml"/>
  <Override PartName="/ppt/slides/slide29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8.xml" ContentType="application/vnd.openxmlformats-officedocument.presentationml.slide+xml"/>
  <Override PartName="/ppt/slides/slide71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slides/slide67.xml" ContentType="application/vnd.openxmlformats-officedocument.presentationml.slide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ppt/embeddings/oleObject2.bin" ContentType="application/vnd.openxmlformats-officedocument.oleObject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4.xml" ContentType="application/vnd.openxmlformats-officedocument.presentationml.slide+xml"/>
  <Default Extension="bin" ContentType="application/vnd.openxmlformats-officedocument.presentationml.printerSettings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slide5.xml" ContentType="application/vnd.openxmlformats-officedocument.presentationml.slide+xml"/>
  <Override PartName="/ppt/notesSlides/notesSlide41.xml" ContentType="application/vnd.openxmlformats-officedocument.presentationml.notesSlide+xml"/>
  <Override PartName="/ppt/slideLayouts/slideLayout6.xml" ContentType="application/vnd.openxmlformats-officedocument.presentationml.slideLayout+xml"/>
  <Default Extension="xml" ContentType="application/xml"/>
  <Override PartName="/ppt/slides/slide43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8.xml" ContentType="application/vnd.openxmlformats-officedocument.presentationml.notes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60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s/slide62.xml" ContentType="application/vnd.openxmlformats-officedocument.presentationml.slide+xml"/>
  <Override PartName="/ppt/notesSlides/notesSlide37.xml" ContentType="application/vnd.openxmlformats-officedocument.presentationml.notesSlide+xml"/>
  <Override PartName="/docProps/app.xml" ContentType="application/vnd.openxmlformats-officedocument.extended-properties+xml"/>
  <Override PartName="/ppt/slides/slide39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docProps/core.xml" ContentType="application/vnd.openxmlformats-package.core-properties+xml"/>
  <Override PartName="/ppt/slides/slide68.xml" ContentType="application/vnd.openxmlformats-officedocument.presentationml.slide+xml"/>
  <Override PartName="/ppt/theme/theme3.xml" ContentType="application/vnd.openxmlformats-officedocument.theme+xml"/>
  <Override PartName="/ppt/notesSlides/notesSlide4.xml" ContentType="application/vnd.openxmlformats-officedocument.presentationml.notesSlide+xml"/>
  <Override PartName="/ppt/embeddings/oleObject3.bin" ContentType="application/vnd.openxmlformats-officedocument.oleObject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slide6.xml" ContentType="application/vnd.openxmlformats-officedocument.presentationml.slide+xml"/>
  <Override PartName="/ppt/notesSlides/notesSlide42.xml" ContentType="application/vnd.openxmlformats-officedocument.presentationml.notesSlide+xml"/>
  <Override PartName="/ppt/slideLayouts/slideLayout7.xml" ContentType="application/vnd.openxmlformats-officedocument.presentationml.slideLayout+xml"/>
  <Default Extension="png" ContentType="image/png"/>
  <Override PartName="/ppt/slides/slide44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61.xml" ContentType="application/vnd.openxmlformats-officedocument.presentationml.notesSlide+xml"/>
  <Override PartName="/ppt/notesSlides/notesSlide29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48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slides/slide69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embeddings/oleObject4.bin" ContentType="application/vnd.openxmlformats-officedocument.oleObject"/>
  <Override PartName="/ppt/slides/slide20.xml" ContentType="application/vnd.openxmlformats-officedocument.presentationml.slide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24.xml" ContentType="application/vnd.openxmlformats-officedocument.presentationml.notesSlide+xml"/>
  <Override PartName="/ppt/viewProps.xml" ContentType="application/vnd.openxmlformats-officedocument.presentationml.viewProps+xml"/>
  <Default Extension="rels" ContentType="application/vnd.openxmlformats-package.relationships+xml"/>
  <Override PartName="/ppt/slides/slide26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slide7.xml" ContentType="application/vnd.openxmlformats-officedocument.presentationml.slide+xml"/>
  <Override PartName="/ppt/notesSlides/notesSlide43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s/slide45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notesSlides/notesSlide49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embeddings/oleObject5.bin" ContentType="application/vnd.openxmlformats-officedocument.oleObject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3.xml" ContentType="application/vnd.openxmlformats-officedocument.presentationml.slideLayout+xml"/>
  <Override PartName="/ppt/slides/slide40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slide8.xml" ContentType="application/vnd.openxmlformats-officedocument.presentationml.slide+xml"/>
  <Override PartName="/ppt/notesSlides/notesSlide44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46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slides/slide6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20.xml" ContentType="application/vnd.openxmlformats-officedocument.presentationml.notesSlide+xml"/>
  <Override PartName="/ppt/embeddings/oleObject6.bin" ContentType="application/vnd.openxmlformats-officedocument.oleObject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519" r:id="rId2"/>
    <p:sldId id="516" r:id="rId3"/>
    <p:sldId id="553" r:id="rId4"/>
    <p:sldId id="554" r:id="rId5"/>
    <p:sldId id="555" r:id="rId6"/>
    <p:sldId id="501" r:id="rId7"/>
    <p:sldId id="475" r:id="rId8"/>
    <p:sldId id="569" r:id="rId9"/>
    <p:sldId id="570" r:id="rId10"/>
    <p:sldId id="551" r:id="rId11"/>
    <p:sldId id="556" r:id="rId12"/>
    <p:sldId id="560" r:id="rId13"/>
    <p:sldId id="557" r:id="rId14"/>
    <p:sldId id="558" r:id="rId15"/>
    <p:sldId id="559" r:id="rId16"/>
    <p:sldId id="521" r:id="rId17"/>
    <p:sldId id="522" r:id="rId18"/>
    <p:sldId id="523" r:id="rId19"/>
    <p:sldId id="524" r:id="rId20"/>
    <p:sldId id="525" r:id="rId21"/>
    <p:sldId id="526" r:id="rId22"/>
    <p:sldId id="527" r:id="rId23"/>
    <p:sldId id="528" r:id="rId24"/>
    <p:sldId id="529" r:id="rId25"/>
    <p:sldId id="530" r:id="rId26"/>
    <p:sldId id="531" r:id="rId27"/>
    <p:sldId id="532" r:id="rId28"/>
    <p:sldId id="533" r:id="rId29"/>
    <p:sldId id="534" r:id="rId30"/>
    <p:sldId id="535" r:id="rId31"/>
    <p:sldId id="536" r:id="rId32"/>
    <p:sldId id="537" r:id="rId33"/>
    <p:sldId id="538" r:id="rId34"/>
    <p:sldId id="539" r:id="rId35"/>
    <p:sldId id="540" r:id="rId36"/>
    <p:sldId id="541" r:id="rId37"/>
    <p:sldId id="542" r:id="rId38"/>
    <p:sldId id="543" r:id="rId39"/>
    <p:sldId id="544" r:id="rId40"/>
    <p:sldId id="545" r:id="rId41"/>
    <p:sldId id="546" r:id="rId42"/>
    <p:sldId id="547" r:id="rId43"/>
    <p:sldId id="548" r:id="rId44"/>
    <p:sldId id="549" r:id="rId45"/>
    <p:sldId id="550" r:id="rId46"/>
    <p:sldId id="517" r:id="rId47"/>
    <p:sldId id="476" r:id="rId48"/>
    <p:sldId id="477" r:id="rId49"/>
    <p:sldId id="478" r:id="rId50"/>
    <p:sldId id="514" r:id="rId51"/>
    <p:sldId id="479" r:id="rId52"/>
    <p:sldId id="480" r:id="rId53"/>
    <p:sldId id="481" r:id="rId54"/>
    <p:sldId id="482" r:id="rId55"/>
    <p:sldId id="483" r:id="rId56"/>
    <p:sldId id="504" r:id="rId57"/>
    <p:sldId id="505" r:id="rId58"/>
    <p:sldId id="506" r:id="rId59"/>
    <p:sldId id="507" r:id="rId60"/>
    <p:sldId id="508" r:id="rId61"/>
    <p:sldId id="509" r:id="rId62"/>
    <p:sldId id="510" r:id="rId63"/>
    <p:sldId id="562" r:id="rId64"/>
    <p:sldId id="563" r:id="rId65"/>
    <p:sldId id="564" r:id="rId66"/>
    <p:sldId id="567" r:id="rId67"/>
    <p:sldId id="568" r:id="rId68"/>
    <p:sldId id="511" r:id="rId69"/>
    <p:sldId id="512" r:id="rId70"/>
    <p:sldId id="513" r:id="rId71"/>
    <p:sldId id="518" r:id="rId72"/>
    <p:sldId id="561" r:id="rId73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50AAE6"/>
    <a:srgbClr val="5A6EB4"/>
    <a:srgbClr val="A00078"/>
    <a:srgbClr val="A01E28"/>
    <a:srgbClr val="A08232"/>
    <a:srgbClr val="DCA01E"/>
    <a:srgbClr val="FA8214"/>
    <a:srgbClr val="82BE3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701" autoAdjust="0"/>
    <p:restoredTop sz="91212" autoAdjust="0"/>
  </p:normalViewPr>
  <p:slideViewPr>
    <p:cSldViewPr>
      <p:cViewPr varScale="1">
        <p:scale>
          <a:sx n="80" d="100"/>
          <a:sy n="80" d="100"/>
        </p:scale>
        <p:origin x="-169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552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handoutMaster" Target="handoutMasters/handoutMaster1.xml"/><Relationship Id="rId76" Type="http://schemas.openxmlformats.org/officeDocument/2006/relationships/printerSettings" Target="printerSettings/printerSettings1.bin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png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theme" Target="../theme/theme3.xml"/><Relationship Id="rId2" Type="http://schemas.openxmlformats.org/officeDocument/2006/relationships/image" Target="../media/image8.jpe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660775" y="468313"/>
            <a:ext cx="2759075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r>
              <a:rPr lang="de-DE"/>
              <a:t>Prof. Dr. Max Mustermann | Musterfakultät</a:t>
            </a:r>
          </a:p>
        </p:txBody>
      </p:sp>
      <p:pic>
        <p:nvPicPr>
          <p:cNvPr id="9219" name="Picture 6" descr="KITlogo_RG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9275" y="107950"/>
            <a:ext cx="108108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541338" y="8532813"/>
            <a:ext cx="2592387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de-DE" sz="800"/>
              <a:t>KIT – die Kooperation von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de-DE" sz="800"/>
              <a:t>Forschungszentrum Karlsruhe GmbH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de-DE" sz="800"/>
              <a:t>und Universität Karlsruhe (TH)</a:t>
            </a:r>
          </a:p>
        </p:txBody>
      </p:sp>
      <p:pic>
        <p:nvPicPr>
          <p:cNvPr id="9221" name="Picture 9" descr="fzk_sw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4900" y="8493125"/>
            <a:ext cx="115252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10" descr="Wortbildmarke_schwarz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13325" y="8493125"/>
            <a:ext cx="129222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de-DE"/>
              <a:t>Prof. Dr. Max Mustermann | Musterfakultät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3DC7419-8CCA-8249-925D-E2D57E29ABC1}" type="slidenum">
              <a:rPr lang="de-DE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mtClean="0"/>
              <a:t>Prof. Dr. Max Mustermann | Musterfakultät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DC7419-8CCA-8249-925D-E2D57E29ABC1}" type="slidenum">
              <a:rPr lang="de-DE" smtClean="0"/>
              <a:pPr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60E4BA-78FE-E440-B132-F5BC9EED7C1B}" type="slidenum">
              <a:rPr lang="en-GB"/>
              <a:pPr/>
              <a:t>2</a:t>
            </a:fld>
            <a:endParaRPr lang="en-GB"/>
          </a:p>
        </p:txBody>
      </p:sp>
      <p:sp>
        <p:nvSpPr>
          <p:cNvPr id="1239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43E200-D30F-644C-9AA2-442AD09166D7}" type="slidenum">
              <a:rPr lang="en-US"/>
              <a:pPr/>
              <a:t>3</a:t>
            </a:fld>
            <a:endParaRPr lang="en-US"/>
          </a:p>
        </p:txBody>
      </p:sp>
      <p:sp>
        <p:nvSpPr>
          <p:cNvPr id="88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Kent Beck and Ward Cunningham, based on Christopher Alexander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31D09C-D302-D74E-A8F0-E188353607E2}" type="slidenum">
              <a:rPr lang="en-US"/>
              <a:pPr/>
              <a:t>4</a:t>
            </a:fld>
            <a:endParaRPr lang="en-US"/>
          </a:p>
        </p:txBody>
      </p:sp>
      <p:sp>
        <p:nvSpPr>
          <p:cNvPr id="88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Website created </a:t>
            </a:r>
            <a:r>
              <a:rPr lang="en-US" dirty="0" smtClean="0"/>
              <a:t>1994</a:t>
            </a:r>
          </a:p>
          <a:p>
            <a:r>
              <a:rPr lang="en-US" dirty="0" smtClean="0"/>
              <a:t>PLOP pattern languages of programming</a:t>
            </a:r>
          </a:p>
          <a:p>
            <a:r>
              <a:rPr lang="de-DE" dirty="0" smtClean="0"/>
              <a:t>Ward Cunningham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DEDD8B-C261-A245-A54C-23140B6FBBED}" type="slidenum">
              <a:rPr lang="en-US"/>
              <a:pPr/>
              <a:t>5</a:t>
            </a:fld>
            <a:endParaRPr lang="en-US"/>
          </a:p>
        </p:txBody>
      </p:sp>
      <p:sp>
        <p:nvSpPr>
          <p:cNvPr id="88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wiki, 1995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D3F5D0-6E32-9A42-AB23-E505DA8C4C98}" type="slidenum">
              <a:rPr lang="en-GB">
                <a:latin typeface="Times" charset="0"/>
                <a:ea typeface="Osaka" charset="-128"/>
                <a:cs typeface="Osaka" charset="-128"/>
              </a:rPr>
              <a:pPr/>
              <a:t>6</a:t>
            </a:fld>
            <a:endParaRPr lang="en-GB">
              <a:latin typeface="Times" charset="0"/>
              <a:ea typeface="Osaka" charset="-128"/>
              <a:cs typeface="Osaka" charset="-128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ABDDED-3657-6549-BE99-60A89D6506A3}" type="slidenum">
              <a:rPr lang="en-GB">
                <a:latin typeface="Times" charset="0"/>
                <a:ea typeface="Osaka" charset="-128"/>
                <a:cs typeface="Osaka" charset="-128"/>
              </a:rPr>
              <a:pPr/>
              <a:t>7</a:t>
            </a:fld>
            <a:endParaRPr lang="en-GB">
              <a:latin typeface="Times" charset="0"/>
              <a:ea typeface="Osaka" charset="-128"/>
              <a:cs typeface="Osaka" charset="-128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2015A435-AA1B-EB4A-8681-20B6CA6FC71B}" type="slidenum">
              <a:rPr lang="en-US" sz="1200"/>
              <a:pPr algn="r"/>
              <a:t>12</a:t>
            </a:fld>
            <a:endParaRPr 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7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 why does Wikipedia work,</a:t>
            </a:r>
            <a:r>
              <a:rPr lang="en-US" baseline="0" dirty="0" smtClean="0"/>
              <a:t> and wiki clock not?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mtClean="0"/>
              <a:t>Prof. Dr. Max Mustermann | Musterfakultät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DC7419-8CCA-8249-925D-E2D57E29ABC1}" type="slidenum">
              <a:rPr lang="de-DE" smtClean="0"/>
              <a:pPr/>
              <a:t>15</a:t>
            </a:fld>
            <a:endParaRPr 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are far less ambitious. (Stolen from Brewster Kahle)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4B6E1A5B-43C2-FB49-B85F-3E06C757DA72}" type="slidenum">
              <a:rPr lang="en-US" sz="1200">
                <a:ea typeface="ヒラギノ角ゴ Pro W3" charset="-128"/>
                <a:cs typeface="ヒラギノ角ゴ Pro W3" charset="-128"/>
              </a:rPr>
              <a:pPr algn="r"/>
              <a:t>17</a:t>
            </a:fld>
            <a:endParaRPr lang="en-US" sz="1200"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C6271F2A-5684-684D-8F37-A19C1F17DC2C}" type="slidenum">
              <a:rPr lang="en-US" sz="1200">
                <a:ea typeface="ヒラギノ角ゴ Pro W3" charset="-128"/>
                <a:cs typeface="ヒラギノ角ゴ Pro W3" charset="-128"/>
              </a:rPr>
              <a:pPr algn="r"/>
              <a:t>18</a:t>
            </a:fld>
            <a:endParaRPr lang="en-US" sz="1200"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All answers are wrong.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BC9A2428-1632-3244-83C2-FAA3073234D9}" type="slidenum">
              <a:rPr lang="en-US" sz="1200">
                <a:ea typeface="ヒラギノ角ゴ Pro W3" charset="-128"/>
                <a:cs typeface="ヒラギノ角ゴ Pro W3" charset="-128"/>
              </a:rPr>
              <a:pPr algn="r"/>
              <a:t>25</a:t>
            </a:fld>
            <a:endParaRPr lang="en-US" sz="1200"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9470CB-F7FE-BC41-9AA1-83CBF63F48D9}" type="slidenum">
              <a:rPr lang="en-US"/>
              <a:pPr/>
              <a:t>37</a:t>
            </a:fld>
            <a:endParaRPr lang="en-US"/>
          </a:p>
        </p:txBody>
      </p:sp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 article in the Wikipedia today. Note that the text has a lot of links to other articles.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B8758B-8CBC-204C-8883-C5DBC52C1CF4}" type="slidenum">
              <a:rPr lang="en-US"/>
              <a:pPr/>
              <a:t>38</a:t>
            </a:fld>
            <a:endParaRPr lang="en-US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But we don’t just know that the articles are somehow connected, we can say more about these connections.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FFB85A-8B22-974C-80BD-E0DFA5E1DAF9}" type="slidenum">
              <a:rPr lang="en-US"/>
              <a:pPr/>
              <a:t>39</a:t>
            </a:fld>
            <a:endParaRPr lang="en-US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can say what type of connection exists between to things.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0FDB64-E48A-A546-84BA-F233549B87D2}" type="slidenum">
              <a:rPr lang="en-US"/>
              <a:pPr/>
              <a:t>40</a:t>
            </a:fld>
            <a:endParaRPr lang="en-US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That the island is “located in” the Adriatic.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9607CD-D616-6641-90D5-C22AB57575EC}" type="slidenum">
              <a:rPr lang="en-US"/>
              <a:pPr/>
              <a:t>41</a:t>
            </a:fld>
            <a:endParaRPr lang="en-US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AAB79B-D646-5848-AFE0-258BDAE976F5}" type="slidenum">
              <a:rPr lang="en-US"/>
              <a:pPr/>
              <a:t>42</a:t>
            </a:fld>
            <a:endParaRPr lang="en-US"/>
          </a:p>
        </p:txBody>
      </p:sp>
      <p:sp>
        <p:nvSpPr>
          <p:cNvPr id="28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6A79DE-FF93-CE49-A4D9-2D4C64AAA886}" type="slidenum">
              <a:rPr lang="en-US"/>
              <a:pPr/>
              <a:t>43</a:t>
            </a:fld>
            <a:endParaRPr lang="en-US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 here we show the syntax how a typed link can be created.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2979CEF2-87A4-EB41-A3C1-D89348188489}" type="slidenum">
              <a:rPr lang="en-US" sz="1200"/>
              <a:pPr algn="r"/>
              <a:t>44</a:t>
            </a:fld>
            <a:endParaRPr lang="en-US" sz="1200"/>
          </a:p>
        </p:txBody>
      </p:sp>
      <p:sp>
        <p:nvSpPr>
          <p:cNvPr id="561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1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Instead of having typed links, one could also use templates. The template then defines the semantics.</a:t>
            </a:r>
          </a:p>
          <a:p>
            <a:pPr eaLnBrk="1" hangingPunct="1"/>
            <a:r>
              <a:rPr lang="en-US"/>
              <a:t>Templates are already heavily used in many wikis.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3C0828-72E2-494B-A3C3-B5F4EF61C893}" type="slidenum">
              <a:rPr lang="en-US"/>
              <a:pPr/>
              <a:t>45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Other thing: the stated knowledge can also be reused inside the wiki, in form of inline queries.</a:t>
            </a:r>
          </a:p>
          <a:p>
            <a:pPr eaLnBrk="1" hangingPunct="1"/>
            <a:r>
              <a:rPr lang="en-US"/>
              <a:t>This is an example.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84D2C0-3D3C-9E48-B1C6-C02B2FDF31E3}" type="slidenum">
              <a:rPr lang="en-GB"/>
              <a:pPr/>
              <a:t>46</a:t>
            </a:fld>
            <a:endParaRPr lang="en-GB"/>
          </a:p>
        </p:txBody>
      </p:sp>
      <p:sp>
        <p:nvSpPr>
          <p:cNvPr id="1241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1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41F790-772D-A04C-8BFC-47C68BA95CFA}" type="slidenum">
              <a:rPr lang="en-GB">
                <a:latin typeface="Times" charset="0"/>
                <a:ea typeface="Osaka" charset="-128"/>
                <a:cs typeface="Osaka" charset="-128"/>
              </a:rPr>
              <a:pPr/>
              <a:t>47</a:t>
            </a:fld>
            <a:endParaRPr lang="en-GB">
              <a:latin typeface="Times" charset="0"/>
              <a:ea typeface="Osaka" charset="-128"/>
              <a:cs typeface="Osaka" charset="-128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74F86B-4D23-8D40-A1F5-D5E51B7F6A79}" type="slidenum">
              <a:rPr lang="en-GB">
                <a:latin typeface="Times" charset="0"/>
                <a:ea typeface="Osaka" charset="-128"/>
                <a:cs typeface="Osaka" charset="-128"/>
              </a:rPr>
              <a:pPr/>
              <a:t>48</a:t>
            </a:fld>
            <a:endParaRPr lang="en-GB">
              <a:latin typeface="Times" charset="0"/>
              <a:ea typeface="Osaka" charset="-128"/>
              <a:cs typeface="Osaka" charset="-128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dirty="0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04B396-E62B-7A45-A56B-D8F2D36AB29F}" type="slidenum">
              <a:rPr lang="en-GB">
                <a:latin typeface="Times" charset="0"/>
                <a:ea typeface="Osaka" charset="-128"/>
                <a:cs typeface="Osaka" charset="-128"/>
              </a:rPr>
              <a:pPr/>
              <a:t>49</a:t>
            </a:fld>
            <a:endParaRPr lang="en-GB">
              <a:latin typeface="Times" charset="0"/>
              <a:ea typeface="Osaka" charset="-128"/>
              <a:cs typeface="Osaka" charset="-128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1AD216-FF69-6046-BC17-B3B0E0BC0AEE}" type="slidenum">
              <a:rPr lang="en-GB"/>
              <a:pPr/>
              <a:t>50</a:t>
            </a:fld>
            <a:endParaRPr lang="en-GB"/>
          </a:p>
        </p:txBody>
      </p:sp>
      <p:sp>
        <p:nvSpPr>
          <p:cNvPr id="128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5D3C4A-329E-8B46-B131-4CD414CB1004}" type="slidenum">
              <a:rPr lang="en-GB">
                <a:latin typeface="Times" charset="0"/>
                <a:ea typeface="Osaka" charset="-128"/>
                <a:cs typeface="Osaka" charset="-128"/>
              </a:rPr>
              <a:pPr/>
              <a:t>51</a:t>
            </a:fld>
            <a:endParaRPr lang="en-GB">
              <a:latin typeface="Times" charset="0"/>
              <a:ea typeface="Osaka" charset="-128"/>
              <a:cs typeface="Osaka" charset="-128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8908CD-B639-714E-A90E-C1DE41DD3761}" type="slidenum">
              <a:rPr lang="en-GB">
                <a:latin typeface="Times" charset="0"/>
                <a:ea typeface="Osaka" charset="-128"/>
                <a:cs typeface="Osaka" charset="-128"/>
              </a:rPr>
              <a:pPr/>
              <a:t>52</a:t>
            </a:fld>
            <a:endParaRPr lang="en-GB">
              <a:latin typeface="Times" charset="0"/>
              <a:ea typeface="Osaka" charset="-128"/>
              <a:cs typeface="Osaka" charset="-128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86CC80-37EC-6C4B-B22D-98640853C050}" type="slidenum">
              <a:rPr lang="en-GB">
                <a:latin typeface="Times" charset="0"/>
                <a:ea typeface="Osaka" charset="-128"/>
                <a:cs typeface="Osaka" charset="-128"/>
              </a:rPr>
              <a:pPr/>
              <a:t>53</a:t>
            </a:fld>
            <a:endParaRPr lang="en-GB">
              <a:latin typeface="Times" charset="0"/>
              <a:ea typeface="Osaka" charset="-128"/>
              <a:cs typeface="Osaka" charset="-128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201E73-F825-7043-B18F-56D0FF9D989B}" type="slidenum">
              <a:rPr lang="en-GB">
                <a:latin typeface="Times" charset="0"/>
                <a:ea typeface="Osaka" charset="-128"/>
                <a:cs typeface="Osaka" charset="-128"/>
              </a:rPr>
              <a:pPr/>
              <a:t>54</a:t>
            </a:fld>
            <a:endParaRPr lang="en-GB">
              <a:latin typeface="Times" charset="0"/>
              <a:ea typeface="Osaka" charset="-128"/>
              <a:cs typeface="Osaka" charset="-128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5232E7-22A3-F24E-A1CD-2B1763D6CD3A}" type="slidenum">
              <a:rPr lang="en-GB">
                <a:latin typeface="Times" charset="0"/>
                <a:ea typeface="Osaka" charset="-128"/>
                <a:cs typeface="Osaka" charset="-128"/>
              </a:rPr>
              <a:pPr/>
              <a:t>55</a:t>
            </a:fld>
            <a:endParaRPr lang="en-GB">
              <a:latin typeface="Times" charset="0"/>
              <a:ea typeface="Osaka" charset="-128"/>
              <a:cs typeface="Osaka" charset="-128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3C0828-72E2-494B-A3C3-B5F4EF61C893}" type="slidenum">
              <a:rPr lang="en-US"/>
              <a:pPr/>
              <a:t>56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Other thing: the stated knowledge can also be reused inside the wiki, in form of inline queries.</a:t>
            </a:r>
          </a:p>
          <a:p>
            <a:pPr eaLnBrk="1" hangingPunct="1"/>
            <a:r>
              <a:rPr lang="en-US"/>
              <a:t>This is an example.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D9DA15-7CEE-284B-8BB3-AEC7872EFB20}" type="slidenum">
              <a:rPr lang="en-US"/>
              <a:pPr/>
              <a:t>57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Other thing: the stated knowledge can also be reused inside the wiki, in form of inline queries.</a:t>
            </a:r>
          </a:p>
          <a:p>
            <a:pPr eaLnBrk="1" hangingPunct="1"/>
            <a:r>
              <a:rPr lang="en-US"/>
              <a:t>This is an example.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9F8831-81CF-CF43-AF26-944FA7923146}" type="slidenum">
              <a:rPr lang="en-US"/>
              <a:pPr/>
              <a:t>58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Data can be formatted in many different ways. This example takes the population of the North American states.</a:t>
            </a:r>
          </a:p>
          <a:p>
            <a:pPr eaLnBrk="1" hangingPunct="1"/>
            <a:r>
              <a:rPr lang="en-US"/>
              <a:t>Here it is displayed as a table.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D9DA15-7CEE-284B-8BB3-AEC7872EFB20}" type="slidenum">
              <a:rPr lang="en-US"/>
              <a:pPr/>
              <a:t>59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Other thing: the stated knowledge can also be reused inside the wiki, in form of inline queries.</a:t>
            </a:r>
          </a:p>
          <a:p>
            <a:pPr eaLnBrk="1" hangingPunct="1"/>
            <a:r>
              <a:rPr lang="en-US"/>
              <a:t>This is an example.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1B2CA3-C75C-8948-A561-93C3925F8EFF}" type="slidenum">
              <a:rPr lang="en-US"/>
              <a:pPr/>
              <a:t>60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As a pie chart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D9DA15-7CEE-284B-8BB3-AEC7872EFB20}" type="slidenum">
              <a:rPr lang="en-US"/>
              <a:pPr/>
              <a:t>61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Other thing: the stated knowledge can also be reused inside the wiki, in form of inline queries.</a:t>
            </a:r>
          </a:p>
          <a:p>
            <a:pPr eaLnBrk="1" hangingPunct="1"/>
            <a:r>
              <a:rPr lang="en-US"/>
              <a:t>This is an example.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0BB3F9-06A4-054B-B351-EF984D8DDC7F}" type="slidenum">
              <a:rPr lang="en-US"/>
              <a:pPr/>
              <a:t>62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As a bar chart.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CE92FD9C-3FEE-4C4C-8A6E-84C375DF83E9}" type="slidenum">
              <a:rPr lang="en-US" sz="1200"/>
              <a:pPr algn="r"/>
              <a:t>69</a:t>
            </a:fld>
            <a:endParaRPr 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>
                <a:latin typeface="Times" charset="0"/>
                <a:ea typeface="Osaka" charset="-128"/>
                <a:cs typeface="Osaka" charset="-128"/>
              </a:rPr>
              <a:t>Or on a map. This example is the Venice city wiki, displaying the bakeries in downtown Venice.</a:t>
            </a:r>
          </a:p>
          <a:p>
            <a:pPr eaLnBrk="1" hangingPunct="1"/>
            <a:r>
              <a:rPr lang="en-US">
                <a:latin typeface="Times" charset="0"/>
                <a:ea typeface="Osaka" charset="-128"/>
                <a:cs typeface="Osaka" charset="-128"/>
              </a:rPr>
              <a:t>And yes, the example is in Italian.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>
              <a:latin typeface="Times" charset="0"/>
              <a:ea typeface="Osaka" charset="-128"/>
              <a:cs typeface="Osaka" charset="-128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piderwe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0" y="2133600"/>
            <a:ext cx="8991600" cy="8991600"/>
          </a:xfrm>
          <a:prstGeom prst="rect">
            <a:avLst/>
          </a:prstGeom>
        </p:spPr>
      </p:pic>
      <p:pic>
        <p:nvPicPr>
          <p:cNvPr id="5" name="Picture 9" descr="II_rahmen_neu_tite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3175"/>
            <a:ext cx="9144000" cy="6870700"/>
          </a:xfrm>
          <a:prstGeom prst="rect">
            <a:avLst/>
          </a:prstGeom>
          <a:noFill/>
        </p:spPr>
      </p:pic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96875" y="6475413"/>
            <a:ext cx="36703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800"/>
              <a:t>KIT – University of the State of Baden-Württemberg and</a:t>
            </a:r>
          </a:p>
          <a:p>
            <a:r>
              <a:rPr lang="en-US" sz="800"/>
              <a:t>National Large-scale Research Center of the Helmholtz Association</a:t>
            </a:r>
            <a:endParaRPr lang="de-DE" sz="800"/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385763" y="3367088"/>
            <a:ext cx="45370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de-DE" sz="1000" dirty="0" smtClean="0">
                <a:solidFill>
                  <a:schemeClr val="bg1"/>
                </a:solidFill>
              </a:rPr>
              <a:t>Institut AIFB – Angewandte Informatik und Formale Beschreibungsverfahren</a:t>
            </a: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7318375" y="6497638"/>
            <a:ext cx="1727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algn="r"/>
            <a:r>
              <a:rPr lang="de-DE" sz="1600" b="1">
                <a:solidFill>
                  <a:schemeClr val="bg1"/>
                </a:solidFill>
              </a:rPr>
              <a:t>www.kit.edu</a:t>
            </a:r>
          </a:p>
        </p:txBody>
      </p:sp>
      <p:pic>
        <p:nvPicPr>
          <p:cNvPr id="9" name="Picture 13" descr="KIT-Logo-rgb_en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8" y="333375"/>
            <a:ext cx="1619250" cy="747713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95288" y="1268413"/>
            <a:ext cx="8389937" cy="649287"/>
          </a:xfrm>
        </p:spPr>
        <p:txBody>
          <a:bodyPr/>
          <a:lstStyle>
            <a:lvl1pPr>
              <a:lnSpc>
                <a:spcPct val="90000"/>
              </a:lnSpc>
              <a:defRPr sz="2600"/>
            </a:lvl1pPr>
          </a:lstStyle>
          <a:p>
            <a:r>
              <a:rPr lang="de-DE"/>
              <a:t>Titel durch Klicken hinzufügen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96875" y="2232025"/>
            <a:ext cx="8370888" cy="620713"/>
          </a:xfrm>
        </p:spPr>
        <p:txBody>
          <a:bodyPr/>
          <a:lstStyle>
            <a:lvl1pPr marL="0" indent="0">
              <a:spcBef>
                <a:spcPct val="0"/>
              </a:spcBef>
              <a:buFontTx/>
              <a:buNone/>
              <a:defRPr sz="1800" b="1">
                <a:solidFill>
                  <a:srgbClr val="000000"/>
                </a:solidFill>
              </a:defRPr>
            </a:lvl1pPr>
          </a:lstStyle>
          <a:p>
            <a:r>
              <a:rPr lang="de-DE"/>
              <a:t>Untertitel durch Klicken hinzufügen</a:t>
            </a:r>
          </a:p>
        </p:txBody>
      </p:sp>
      <p:pic>
        <p:nvPicPr>
          <p:cNvPr id="12" name="Picture 11" descr="ccbyncsa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620000" y="6128382"/>
            <a:ext cx="478659" cy="168618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8077200" y="6078379"/>
            <a:ext cx="9906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 smtClean="0"/>
              <a:t>Evan Leeson</a:t>
            </a:r>
            <a:endParaRPr lang="en-US" sz="1000" b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Denny </a:t>
            </a:r>
            <a:r>
              <a:rPr lang="en-US" dirty="0" err="1" smtClean="0"/>
              <a:t>Vrandecic</a:t>
            </a:r>
            <a:r>
              <a:rPr lang="en-US" dirty="0" smtClean="0"/>
              <a:t> – Semantic </a:t>
            </a:r>
            <a:r>
              <a:rPr lang="en-US" dirty="0" err="1" smtClean="0"/>
              <a:t>MediaWiki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Denny </a:t>
            </a:r>
            <a:r>
              <a:rPr lang="en-US" dirty="0" err="1" smtClean="0"/>
              <a:t>Vrandecic</a:t>
            </a:r>
            <a:r>
              <a:rPr lang="en-US" dirty="0" smtClean="0"/>
              <a:t> – Semantic </a:t>
            </a:r>
            <a:r>
              <a:rPr lang="en-US" dirty="0" err="1" smtClean="0"/>
              <a:t>MediaWiki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2113" y="1198563"/>
            <a:ext cx="4102100" cy="4894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6613" y="1198563"/>
            <a:ext cx="4102100" cy="4894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Denny </a:t>
            </a:r>
            <a:r>
              <a:rPr lang="en-US" dirty="0" err="1" smtClean="0"/>
              <a:t>Vrandecic</a:t>
            </a:r>
            <a:r>
              <a:rPr lang="en-US" dirty="0" smtClean="0"/>
              <a:t> – Semantic </a:t>
            </a:r>
            <a:r>
              <a:rPr lang="en-US" dirty="0" err="1" smtClean="0"/>
              <a:t>MediaWiki</a:t>
            </a:r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Denny </a:t>
            </a:r>
            <a:r>
              <a:rPr lang="en-US" dirty="0" err="1" smtClean="0"/>
              <a:t>Vrandecic</a:t>
            </a:r>
            <a:r>
              <a:rPr lang="en-US" dirty="0" smtClean="0"/>
              <a:t> – Semantic </a:t>
            </a:r>
            <a:r>
              <a:rPr lang="en-US" dirty="0" err="1" smtClean="0"/>
              <a:t>MediaWiki</a:t>
            </a:r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Denny </a:t>
            </a:r>
            <a:r>
              <a:rPr lang="en-US" dirty="0" err="1" smtClean="0"/>
              <a:t>Vrandecic</a:t>
            </a:r>
            <a:r>
              <a:rPr lang="en-US" dirty="0" smtClean="0"/>
              <a:t> – Semantic </a:t>
            </a:r>
            <a:r>
              <a:rPr lang="en-US" dirty="0" err="1" smtClean="0"/>
              <a:t>MediaWiki</a:t>
            </a:r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Denny </a:t>
            </a:r>
            <a:r>
              <a:rPr lang="en-US" dirty="0" err="1" smtClean="0"/>
              <a:t>Vrandecic</a:t>
            </a:r>
            <a:r>
              <a:rPr lang="en-US" dirty="0" smtClean="0"/>
              <a:t> – Semantic </a:t>
            </a:r>
            <a:r>
              <a:rPr lang="en-US" dirty="0" err="1" smtClean="0"/>
              <a:t>MediaWiki</a:t>
            </a:r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Denny </a:t>
            </a:r>
            <a:r>
              <a:rPr lang="en-US" dirty="0" err="1" smtClean="0"/>
              <a:t>Vrandecic</a:t>
            </a:r>
            <a:r>
              <a:rPr lang="en-US" dirty="0" smtClean="0"/>
              <a:t> – Semantic </a:t>
            </a:r>
            <a:r>
              <a:rPr lang="en-US" dirty="0" err="1" smtClean="0"/>
              <a:t>MediaWiki</a:t>
            </a:r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Denny </a:t>
            </a:r>
            <a:r>
              <a:rPr lang="en-US" dirty="0" err="1" smtClean="0"/>
              <a:t>Vrandecic</a:t>
            </a:r>
            <a:r>
              <a:rPr lang="en-US" dirty="0" smtClean="0"/>
              <a:t> – Semantic </a:t>
            </a:r>
            <a:r>
              <a:rPr lang="en-US" dirty="0" err="1" smtClean="0"/>
              <a:t>MediaWiki</a:t>
            </a:r>
            <a:endParaRPr lang="de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Denny </a:t>
            </a:r>
            <a:r>
              <a:rPr lang="en-US" dirty="0" err="1" smtClean="0"/>
              <a:t>Vrandecic</a:t>
            </a:r>
            <a:r>
              <a:rPr lang="en-US" dirty="0" smtClean="0"/>
              <a:t> – Semantic </a:t>
            </a:r>
            <a:r>
              <a:rPr lang="en-US" dirty="0" err="1" smtClean="0"/>
              <a:t>MediaWiki</a:t>
            </a:r>
            <a:endParaRPr lang="de-D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59563" y="333375"/>
            <a:ext cx="2089150" cy="5759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90525" y="333375"/>
            <a:ext cx="6116638" cy="5759450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Denny </a:t>
            </a:r>
            <a:r>
              <a:rPr lang="en-US" dirty="0" err="1" smtClean="0"/>
              <a:t>Vrandecic</a:t>
            </a:r>
            <a:r>
              <a:rPr lang="en-US" dirty="0" smtClean="0"/>
              <a:t> – Semantic </a:t>
            </a:r>
            <a:r>
              <a:rPr lang="en-US" dirty="0" err="1" smtClean="0"/>
              <a:t>MediaWiki</a:t>
            </a:r>
            <a:endParaRPr lang="de-D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II_rahmen_neu_folg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0525" y="333375"/>
            <a:ext cx="691197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Folientitel durch klicken hinzufügen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2113" y="1198563"/>
            <a:ext cx="8356600" cy="489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Karlsruhe Institute of Technology (KIT).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011863" y="6453188"/>
            <a:ext cx="273685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spcBef>
                <a:spcPct val="50000"/>
              </a:spcBef>
            </a:pPr>
            <a:r>
              <a:rPr lang="de-DE" sz="900" dirty="0" smtClean="0"/>
              <a:t>Institut AIFB</a:t>
            </a:r>
            <a:endParaRPr lang="de-DE" sz="900" dirty="0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50825" y="6453188"/>
            <a:ext cx="325438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spcBef>
                <a:spcPct val="50000"/>
              </a:spcBef>
            </a:pPr>
            <a:fld id="{DBB142A6-931C-FD4E-A19F-872E97E86334}" type="slidenum">
              <a:rPr lang="de-DE" sz="900" b="1"/>
              <a:pPr>
                <a:spcBef>
                  <a:spcPct val="50000"/>
                </a:spcBef>
              </a:pPr>
              <a:t>‹#›</a:t>
            </a:fld>
            <a:endParaRPr lang="de-DE" sz="900" b="1"/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755650" y="6453188"/>
            <a:ext cx="814388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spcBef>
                <a:spcPct val="50000"/>
              </a:spcBef>
            </a:pPr>
            <a:r>
              <a:rPr lang="de-DE" sz="900" dirty="0" smtClean="0"/>
              <a:t>21.09.2011</a:t>
            </a:r>
            <a:endParaRPr lang="de-DE" sz="900" dirty="0"/>
          </a:p>
        </p:txBody>
      </p:sp>
      <p:pic>
        <p:nvPicPr>
          <p:cNvPr id="1038" name="Picture 9" descr="KITlogo_4c_frutige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667625" y="341313"/>
            <a:ext cx="10842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Semantic </a:t>
            </a:r>
            <a:r>
              <a:rPr lang="en-US" dirty="0" err="1" smtClean="0"/>
              <a:t>MediaWiki</a:t>
            </a:r>
            <a:r>
              <a:rPr lang="en-US" dirty="0" smtClean="0"/>
              <a:t> tutorial</a:t>
            </a: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60000"/>
        <a:buBlip>
          <a:blip r:embed="rId15"/>
        </a:buBlip>
        <a:defRPr sz="20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0000"/>
        <a:buBlip>
          <a:blip r:embed="rId15"/>
        </a:buBlip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Blip>
          <a:blip r:embed="rId15"/>
        </a:buBlip>
        <a:defRPr sz="16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Blip>
          <a:blip r:embed="rId15"/>
        </a:buBlip>
        <a:defRPr sz="14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5"/>
        </a:buBlip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5"/>
        </a:buBlip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5"/>
        </a:buBlip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5"/>
        </a:buBlip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berkeley.referata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0.png"/><Relationship Id="rId12" Type="http://schemas.openxmlformats.org/officeDocument/2006/relationships/oleObject" Target="../embeddings/oleObject2.bin"/><Relationship Id="rId13" Type="http://schemas.openxmlformats.org/officeDocument/2006/relationships/image" Target="../media/image21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12.png"/><Relationship Id="rId10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Relationship Id="rId7" Type="http://schemas.openxmlformats.org/officeDocument/2006/relationships/oleObject" Target="../embeddings/oleObject3.bin"/><Relationship Id="rId8" Type="http://schemas.openxmlformats.org/officeDocument/2006/relationships/oleObject" Target="../embeddings/oleObject4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hyperlink" Target="http://pageoftext.com/wikiclock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5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jpeg"/></Relationships>
</file>

<file path=ppt/slides/_rels/slide37.xml.rels><?xml version="1.0" encoding="UTF-8" standalone="yes"?>
<Relationships xmlns="http://schemas.openxmlformats.org/package/2006/relationships"><Relationship Id="rId11" Type="http://schemas.openxmlformats.org/officeDocument/2006/relationships/hyperlink" Target="http://en.wikipedia.org/wiki/Olive" TargetMode="External"/><Relationship Id="rId12" Type="http://schemas.openxmlformats.org/officeDocument/2006/relationships/hyperlink" Target="http://en.wikipedia.org/wiki/Diocletian's_Palace" TargetMode="External"/><Relationship Id="rId13" Type="http://schemas.openxmlformats.org/officeDocument/2006/relationships/hyperlink" Target="http://en.wikipedia.org/wiki/Split" TargetMode="External"/><Relationship Id="rId14" Type="http://schemas.openxmlformats.org/officeDocument/2006/relationships/hyperlink" Target="http://en.wikipedia.org/wiki/White_House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en.wikipedia.org/wiki/Croatia" TargetMode="External"/><Relationship Id="rId4" Type="http://schemas.openxmlformats.org/officeDocument/2006/relationships/hyperlink" Target="http://en.wikipedia.org/wiki/Adriatic_Sea" TargetMode="External"/><Relationship Id="rId5" Type="http://schemas.openxmlformats.org/officeDocument/2006/relationships/hyperlink" Target="http://en.wikipedia.org/w/index.php?title=Supetar&amp;action=edit" TargetMode="External"/><Relationship Id="rId6" Type="http://schemas.openxmlformats.org/officeDocument/2006/relationships/hyperlink" Target="http://en.wikipedia.org/wiki/Novo_Selo" TargetMode="External"/><Relationship Id="rId7" Type="http://schemas.openxmlformats.org/officeDocument/2006/relationships/hyperlink" Target="http://en.wikipedia.org/wiki/Tourism" TargetMode="External"/><Relationship Id="rId8" Type="http://schemas.openxmlformats.org/officeDocument/2006/relationships/hyperlink" Target="http://en.wikipedia.org/wiki/Fishing" TargetMode="External"/><Relationship Id="rId9" Type="http://schemas.openxmlformats.org/officeDocument/2006/relationships/hyperlink" Target="http://en.wikipedia.org/wiki/Agriculture" TargetMode="External"/><Relationship Id="rId10" Type="http://schemas.openxmlformats.org/officeDocument/2006/relationships/hyperlink" Target="http://en.wikipedia.org/wiki/Wine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4" Type="http://schemas.openxmlformats.org/officeDocument/2006/relationships/hyperlink" Target="http://www.chickipedia.com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0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4" Type="http://schemas.openxmlformats.org/officeDocument/2006/relationships/oleObject" Target="../embeddings/oleObject6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semantic-mediawiki.org" TargetMode="Externa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Semantic </a:t>
            </a:r>
            <a:r>
              <a:rPr lang="en-US" dirty="0" err="1" smtClean="0"/>
              <a:t>MediaWiki</a:t>
            </a:r>
            <a:r>
              <a:rPr lang="en-US" dirty="0" smtClean="0"/>
              <a:t> Tutorial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Markus </a:t>
            </a:r>
            <a:r>
              <a:rPr lang="en-US" dirty="0" err="1" smtClean="0"/>
              <a:t>Krötzsch</a:t>
            </a:r>
            <a:r>
              <a:rPr lang="en-US" dirty="0" smtClean="0"/>
              <a:t>, Oxford</a:t>
            </a:r>
          </a:p>
          <a:p>
            <a:r>
              <a:rPr lang="en-US" dirty="0" smtClean="0"/>
              <a:t>Denny </a:t>
            </a:r>
            <a:r>
              <a:rPr lang="en-US" dirty="0" err="1" smtClean="0"/>
              <a:t>Vrandečić</a:t>
            </a:r>
            <a:r>
              <a:rPr lang="en-US" dirty="0" smtClean="0"/>
              <a:t>, KIT</a:t>
            </a:r>
          </a:p>
          <a:p>
            <a:r>
              <a:rPr lang="en-US" dirty="0" smtClean="0"/>
              <a:t>Berlin </a:t>
            </a:r>
            <a:r>
              <a:rPr lang="en-US" dirty="0" err="1" smtClean="0"/>
              <a:t>SMWCon</a:t>
            </a:r>
            <a:r>
              <a:rPr lang="en-US" dirty="0" smtClean="0"/>
              <a:t> Fall 2011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BEBD4CB8-5BD3-9E4B-ACC3-D8A3CE8CB7C9}" type="slidenum">
              <a:rPr lang="de-DE"/>
              <a:pPr/>
              <a:t>2</a:t>
            </a:fld>
            <a:endParaRPr lang="de-DE"/>
          </a:p>
        </p:txBody>
      </p:sp>
      <p:sp>
        <p:nvSpPr>
          <p:cNvPr id="1238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123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Wikis, </a:t>
            </a:r>
            <a:r>
              <a:rPr lang="en-US" dirty="0" err="1" smtClean="0"/>
              <a:t>MediaWiki</a:t>
            </a:r>
            <a:r>
              <a:rPr lang="en-US" dirty="0" smtClean="0"/>
              <a:t>, and Wikipedia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Semantic </a:t>
            </a:r>
            <a:r>
              <a:rPr lang="en-US" dirty="0" err="1"/>
              <a:t>MediaWiki</a:t>
            </a:r>
            <a:r>
              <a:rPr lang="en-US" dirty="0"/>
              <a:t> (SMW)</a:t>
            </a:r>
          </a:p>
          <a:p>
            <a:pPr>
              <a:lnSpc>
                <a:spcPct val="90000"/>
              </a:lnSpc>
            </a:pPr>
            <a:r>
              <a:rPr lang="en-US" dirty="0"/>
              <a:t>Create instance data with in the wiki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self descriptions using existing concepts and newly created concepts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affiliation, interests, etc. </a:t>
            </a:r>
          </a:p>
          <a:p>
            <a:pPr>
              <a:lnSpc>
                <a:spcPct val="90000"/>
              </a:lnSpc>
            </a:pPr>
            <a:r>
              <a:rPr lang="en-US" dirty="0"/>
              <a:t>Collaborative ontology design with SMW</a:t>
            </a:r>
          </a:p>
          <a:p>
            <a:pPr>
              <a:lnSpc>
                <a:spcPct val="90000"/>
              </a:lnSpc>
            </a:pPr>
            <a:r>
              <a:rPr lang="en-US" dirty="0"/>
              <a:t>Export data</a:t>
            </a:r>
            <a:r>
              <a:rPr lang="en-US" dirty="0" smtClean="0"/>
              <a:t> 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Use </a:t>
            </a:r>
            <a:r>
              <a:rPr lang="en-US" dirty="0" smtClean="0">
                <a:hlinkClick r:id="rId3"/>
              </a:rPr>
              <a:t>http://scratchpad.referata.com</a:t>
            </a:r>
            <a:r>
              <a:rPr lang="en-US" dirty="0" smtClean="0"/>
              <a:t> for </a:t>
            </a:r>
            <a:r>
              <a:rPr lang="en-US" dirty="0" smtClean="0"/>
              <a:t>testing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This is introductory – you might want to go to the Developers consultations in the other room</a:t>
            </a:r>
            <a:endParaRPr lang="en-US" dirty="0" smtClean="0"/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0037"/>
            <a:ext cx="7258050" cy="690563"/>
          </a:xfrm>
        </p:spPr>
        <p:txBody>
          <a:bodyPr>
            <a:normAutofit/>
          </a:bodyPr>
          <a:lstStyle/>
          <a:p>
            <a:r>
              <a:rPr lang="en-US" dirty="0"/>
              <a:t>Long, long time ago…</a:t>
            </a:r>
          </a:p>
        </p:txBody>
      </p:sp>
      <p:pic>
        <p:nvPicPr>
          <p:cNvPr id="879619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116013" y="1209675"/>
            <a:ext cx="2741612" cy="4114800"/>
          </a:xfrm>
          <a:noFill/>
          <a:ln/>
        </p:spPr>
      </p:pic>
      <p:pic>
        <p:nvPicPr>
          <p:cNvPr id="87962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4427538" y="1217613"/>
            <a:ext cx="3714750" cy="2933700"/>
          </a:xfrm>
          <a:noFill/>
          <a:ln/>
        </p:spPr>
      </p:pic>
      <p:sp>
        <p:nvSpPr>
          <p:cNvPr id="879621" name="Text Box 5"/>
          <p:cNvSpPr txBox="1">
            <a:spLocks noChangeArrowheads="1"/>
          </p:cNvSpPr>
          <p:nvPr/>
        </p:nvSpPr>
        <p:spPr bwMode="auto">
          <a:xfrm>
            <a:off x="3995738" y="4313238"/>
            <a:ext cx="4392612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/>
              <a:t>Using Pattern Languages for Object Oriented Programming, OOPSLA87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96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3"/>
          <p:cNvSpPr txBox="1">
            <a:spLocks/>
          </p:cNvSpPr>
          <p:nvPr/>
        </p:nvSpPr>
        <p:spPr bwMode="auto">
          <a:xfrm>
            <a:off x="544513" y="1135063"/>
            <a:ext cx="8356600" cy="511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marL="314325" marR="0" lvl="0" indent="-314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4"/>
              </a:buBlip>
              <a:tabLst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Many books,</a:t>
            </a:r>
          </a:p>
          <a:p>
            <a:pPr marL="314325" marR="0" lvl="0" indent="-314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200" b="1" kern="0" dirty="0" smtClean="0"/>
              <a:t>	many conferences</a:t>
            </a:r>
          </a:p>
          <a:p>
            <a:pPr marL="314325" marR="0" lvl="0" indent="-314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200" b="1" kern="0" dirty="0" smtClean="0"/>
              <a:t>	on design patterns</a:t>
            </a:r>
          </a:p>
          <a:p>
            <a:pPr marL="314325" marR="0" lvl="0" indent="-314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4"/>
              </a:buBlip>
              <a:tabLst/>
              <a:defRPr/>
            </a:pPr>
            <a:endParaRPr kumimoji="0" 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14325" marR="0" lvl="0" indent="-314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4"/>
              </a:buBlip>
              <a:tabLst/>
              <a:defRPr/>
            </a:pPr>
            <a:endParaRPr kumimoji="0" 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14325" marR="0" lvl="0" indent="-314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4"/>
              </a:buBlip>
              <a:tabLst/>
              <a:defRPr/>
            </a:pPr>
            <a:r>
              <a:rPr lang="en-US" sz="2200" b="1" kern="0" noProof="0" dirty="0" smtClean="0"/>
              <a:t>Idea: Collecting design patterns</a:t>
            </a:r>
            <a:endParaRPr kumimoji="0" 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90575" marR="0" lvl="1" indent="-314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pic>
        <p:nvPicPr>
          <p:cNvPr id="88166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6"/>
          <a:srcRect l="-44520" r="-44520"/>
          <a:stretch>
            <a:fillRect/>
          </a:stretch>
        </p:blipFill>
        <p:spPr>
          <a:xfrm>
            <a:off x="4183398" y="203200"/>
            <a:ext cx="3001007" cy="1835152"/>
          </a:xfrm>
          <a:noFill/>
          <a:ln/>
        </p:spPr>
      </p:pic>
      <p:sp>
        <p:nvSpPr>
          <p:cNvPr id="8816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</a:t>
            </a:r>
          </a:p>
        </p:txBody>
      </p:sp>
      <p:pic>
        <p:nvPicPr>
          <p:cNvPr id="881671" name="Picture 7"/>
          <p:cNvPicPr>
            <a:picLocks noGrp="1" noChangeAspect="1" noChangeArrowheads="1"/>
          </p:cNvPicPr>
          <p:nvPr>
            <p:ph idx="4294967295"/>
          </p:nvPr>
        </p:nvPicPr>
        <p:blipFill>
          <a:blip r:embed="rId7"/>
          <a:srcRect/>
          <a:stretch>
            <a:fillRect/>
          </a:stretch>
        </p:blipFill>
        <p:spPr>
          <a:xfrm>
            <a:off x="3939143" y="569335"/>
            <a:ext cx="1231057" cy="1668606"/>
          </a:xfrm>
          <a:noFill/>
          <a:ln/>
        </p:spPr>
      </p:pic>
      <p:pic>
        <p:nvPicPr>
          <p:cNvPr id="881672" name="Picture 8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8"/>
          <a:srcRect/>
          <a:stretch>
            <a:fillRect/>
          </a:stretch>
        </p:blipFill>
        <p:spPr>
          <a:xfrm>
            <a:off x="6259353" y="569335"/>
            <a:ext cx="1439736" cy="2052642"/>
          </a:xfrm>
          <a:noFill/>
          <a:ln/>
        </p:spPr>
      </p:pic>
      <p:pic>
        <p:nvPicPr>
          <p:cNvPr id="881676" name="Picture 1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254885" y="3962400"/>
            <a:ext cx="1609099" cy="1270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81677" name="Object 13"/>
          <p:cNvGraphicFramePr>
            <a:graphicFrameLocks noChangeAspect="1"/>
          </p:cNvGraphicFramePr>
          <p:nvPr/>
        </p:nvGraphicFramePr>
        <p:xfrm>
          <a:off x="3109608" y="3609955"/>
          <a:ext cx="3371273" cy="2849277"/>
        </p:xfrm>
        <a:graphic>
          <a:graphicData uri="http://schemas.openxmlformats.org/presentationml/2006/ole">
            <p:oleObj spid="_x0000_s973826" name="Bitmap" r:id="rId10" imgW="8430802" imgH="7125695" progId="">
              <p:embed/>
            </p:oleObj>
          </a:graphicData>
        </a:graphic>
      </p:graphicFrame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3663853" y="2288248"/>
            <a:ext cx="2320210" cy="667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7" name="Object 9"/>
          <p:cNvGraphicFramePr>
            <a:graphicFrameLocks noChangeAspect="1"/>
          </p:cNvGraphicFramePr>
          <p:nvPr/>
        </p:nvGraphicFramePr>
        <p:xfrm>
          <a:off x="6259353" y="2455151"/>
          <a:ext cx="1994035" cy="904856"/>
        </p:xfrm>
        <a:graphic>
          <a:graphicData uri="http://schemas.openxmlformats.org/presentationml/2006/ole">
            <p:oleObj spid="_x0000_s973827" name="Bitmap" r:id="rId12" imgW="1533739" imgH="695238" progId="">
              <p:embed/>
            </p:oleObj>
          </a:graphicData>
        </a:graphic>
      </p:graphicFrame>
      <p:pic>
        <p:nvPicPr>
          <p:cNvPr id="881674" name="Picture 10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13"/>
          <a:srcRect/>
          <a:stretch>
            <a:fillRect/>
          </a:stretch>
        </p:blipFill>
        <p:spPr>
          <a:xfrm>
            <a:off x="7370143" y="203200"/>
            <a:ext cx="1530970" cy="2058466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 Web Page</a:t>
            </a:r>
          </a:p>
        </p:txBody>
      </p:sp>
      <p:pic>
        <p:nvPicPr>
          <p:cNvPr id="883724" name="Picture 12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2286000" y="1943100"/>
            <a:ext cx="990600" cy="990600"/>
          </a:xfrm>
          <a:noFill/>
          <a:ln/>
        </p:spPr>
      </p:pic>
      <p:pic>
        <p:nvPicPr>
          <p:cNvPr id="88371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5"/>
          <a:srcRect/>
          <a:stretch>
            <a:fillRect/>
          </a:stretch>
        </p:blipFill>
        <p:spPr>
          <a:xfrm>
            <a:off x="609600" y="1212850"/>
            <a:ext cx="1708150" cy="1316038"/>
          </a:xfrm>
          <a:noFill/>
          <a:ln/>
        </p:spPr>
      </p:pic>
      <p:pic>
        <p:nvPicPr>
          <p:cNvPr id="883715" name="Picture 3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6"/>
          <a:srcRect/>
          <a:stretch>
            <a:fillRect/>
          </a:stretch>
        </p:blipFill>
        <p:spPr>
          <a:xfrm>
            <a:off x="6411912" y="1212850"/>
            <a:ext cx="1254125" cy="1019175"/>
          </a:xfrm>
          <a:noFill/>
          <a:ln/>
        </p:spPr>
      </p:pic>
      <p:graphicFrame>
        <p:nvGraphicFramePr>
          <p:cNvPr id="883722" name="Object 10"/>
          <p:cNvGraphicFramePr>
            <a:graphicFrameLocks noChangeAspect="1"/>
          </p:cNvGraphicFramePr>
          <p:nvPr>
            <p:ph sz="half" idx="4294967295"/>
          </p:nvPr>
        </p:nvGraphicFramePr>
        <p:xfrm>
          <a:off x="676275" y="3814763"/>
          <a:ext cx="2524125" cy="2038350"/>
        </p:xfrm>
        <a:graphic>
          <a:graphicData uri="http://schemas.openxmlformats.org/presentationml/2006/ole">
            <p:oleObj spid="_x0000_s975874" name="Bitmap" r:id="rId7" imgW="8266667" imgH="6676190" progId="">
              <p:embed/>
            </p:oleObj>
          </a:graphicData>
        </a:graphic>
      </p:graphicFrame>
      <p:graphicFrame>
        <p:nvGraphicFramePr>
          <p:cNvPr id="883723" name="Object 11"/>
          <p:cNvGraphicFramePr>
            <a:graphicFrameLocks noChangeAspect="1"/>
          </p:cNvGraphicFramePr>
          <p:nvPr>
            <p:ph idx="4294967295"/>
          </p:nvPr>
        </p:nvGraphicFramePr>
        <p:xfrm>
          <a:off x="4572000" y="3033713"/>
          <a:ext cx="4378325" cy="3214687"/>
        </p:xfrm>
        <a:graphic>
          <a:graphicData uri="http://schemas.openxmlformats.org/presentationml/2006/ole">
            <p:oleObj spid="_x0000_s975875" name="Bitmap" r:id="rId8" imgW="8449854" imgH="6200000" progId="">
              <p:embed/>
            </p:oleObj>
          </a:graphicData>
        </a:graphic>
      </p:graphicFrame>
      <p:sp>
        <p:nvSpPr>
          <p:cNvPr id="883717" name="AutoShape 5"/>
          <p:cNvSpPr>
            <a:spLocks noChangeArrowheads="1"/>
          </p:cNvSpPr>
          <p:nvPr/>
        </p:nvSpPr>
        <p:spPr bwMode="auto">
          <a:xfrm>
            <a:off x="3348038" y="1295400"/>
            <a:ext cx="2592387" cy="431800"/>
          </a:xfrm>
          <a:prstGeom prst="leftArrow">
            <a:avLst>
              <a:gd name="adj1" fmla="val 50000"/>
              <a:gd name="adj2" fmla="val 15009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HTML</a:t>
            </a:r>
          </a:p>
        </p:txBody>
      </p:sp>
      <p:sp>
        <p:nvSpPr>
          <p:cNvPr id="883718" name="AutoShape 6"/>
          <p:cNvSpPr>
            <a:spLocks noChangeArrowheads="1"/>
          </p:cNvSpPr>
          <p:nvPr/>
        </p:nvSpPr>
        <p:spPr bwMode="auto">
          <a:xfrm>
            <a:off x="1619250" y="2663825"/>
            <a:ext cx="485775" cy="976312"/>
          </a:xfrm>
          <a:prstGeom prst="downArrow">
            <a:avLst>
              <a:gd name="adj1" fmla="val 50000"/>
              <a:gd name="adj2" fmla="val 5024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883719" name="Line 7"/>
          <p:cNvSpPr>
            <a:spLocks noChangeShapeType="1"/>
          </p:cNvSpPr>
          <p:nvPr/>
        </p:nvSpPr>
        <p:spPr bwMode="auto">
          <a:xfrm flipV="1">
            <a:off x="4356100" y="1222375"/>
            <a:ext cx="792163" cy="576262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3720" name="Line 8"/>
          <p:cNvSpPr>
            <a:spLocks noChangeShapeType="1"/>
          </p:cNvSpPr>
          <p:nvPr/>
        </p:nvSpPr>
        <p:spPr bwMode="auto">
          <a:xfrm>
            <a:off x="4356100" y="1222375"/>
            <a:ext cx="863600" cy="71913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3721" name="AutoShape 9"/>
          <p:cNvSpPr>
            <a:spLocks noChangeArrowheads="1"/>
          </p:cNvSpPr>
          <p:nvPr/>
        </p:nvSpPr>
        <p:spPr bwMode="auto">
          <a:xfrm>
            <a:off x="3348038" y="1943100"/>
            <a:ext cx="2592387" cy="431800"/>
          </a:xfrm>
          <a:prstGeom prst="leftArrow">
            <a:avLst>
              <a:gd name="adj1" fmla="val 50000"/>
              <a:gd name="adj2" fmla="val 15009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Simple Syntax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284663" y="1871662"/>
            <a:ext cx="863600" cy="719138"/>
            <a:chOff x="2744" y="1389"/>
            <a:chExt cx="544" cy="453"/>
          </a:xfrm>
        </p:grpSpPr>
        <p:sp>
          <p:nvSpPr>
            <p:cNvPr id="883727" name="Line 15"/>
            <p:cNvSpPr>
              <a:spLocks noChangeShapeType="1"/>
            </p:cNvSpPr>
            <p:nvPr/>
          </p:nvSpPr>
          <p:spPr bwMode="auto">
            <a:xfrm flipV="1">
              <a:off x="2744" y="1389"/>
              <a:ext cx="499" cy="363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3728" name="Line 16"/>
            <p:cNvSpPr>
              <a:spLocks noChangeShapeType="1"/>
            </p:cNvSpPr>
            <p:nvPr/>
          </p:nvSpPr>
          <p:spPr bwMode="auto">
            <a:xfrm>
              <a:off x="2744" y="1389"/>
              <a:ext cx="544" cy="453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83729" name="AutoShape 17"/>
          <p:cNvSpPr>
            <a:spLocks noChangeArrowheads="1"/>
          </p:cNvSpPr>
          <p:nvPr/>
        </p:nvSpPr>
        <p:spPr bwMode="auto">
          <a:xfrm>
            <a:off x="6553200" y="2332038"/>
            <a:ext cx="485775" cy="792162"/>
          </a:xfrm>
          <a:prstGeom prst="upDownArrow">
            <a:avLst>
              <a:gd name="adj1" fmla="val 50000"/>
              <a:gd name="adj2" fmla="val 3261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3730" name="AutoShape 18"/>
          <p:cNvSpPr>
            <a:spLocks noChangeArrowheads="1"/>
          </p:cNvSpPr>
          <p:nvPr/>
        </p:nvSpPr>
        <p:spPr bwMode="auto">
          <a:xfrm>
            <a:off x="3627438" y="4679950"/>
            <a:ext cx="792162" cy="431800"/>
          </a:xfrm>
          <a:prstGeom prst="leftArrow">
            <a:avLst>
              <a:gd name="adj1" fmla="val 50000"/>
              <a:gd name="adj2" fmla="val 4586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/>
              <a:t>HTML</a:t>
            </a:r>
          </a:p>
        </p:txBody>
      </p:sp>
      <p:sp>
        <p:nvSpPr>
          <p:cNvPr id="883725" name="AutoShape 13"/>
          <p:cNvSpPr>
            <a:spLocks noChangeArrowheads="1"/>
          </p:cNvSpPr>
          <p:nvPr/>
        </p:nvSpPr>
        <p:spPr bwMode="auto">
          <a:xfrm rot="-5400000">
            <a:off x="2304256" y="3131344"/>
            <a:ext cx="935037" cy="431800"/>
          </a:xfrm>
          <a:prstGeom prst="leftArrow">
            <a:avLst>
              <a:gd name="adj1" fmla="val 50000"/>
              <a:gd name="adj2" fmla="val 541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/>
              <a:t>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8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 L 0.25 0.33333  E" pathEditMode="relative" ptsTypes="">
                                      <p:cBhvr>
                                        <p:cTn id="59" dur="2000" fill="hold"/>
                                        <p:tgtEl>
                                          <p:spTgt spid="8837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000"/>
                                        <p:tgtEl>
                                          <p:spTgt spid="883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8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717" grpId="0" animBg="1"/>
      <p:bldP spid="883717" grpId="1" animBg="1"/>
      <p:bldP spid="883718" grpId="0" animBg="1"/>
      <p:bldP spid="883718" grpId="1" animBg="1"/>
      <p:bldP spid="883719" grpId="0" animBg="1"/>
      <p:bldP spid="883719" grpId="1" animBg="1"/>
      <p:bldP spid="883720" grpId="0" animBg="1"/>
      <p:bldP spid="883720" grpId="1" animBg="1"/>
      <p:bldP spid="883721" grpId="0" animBg="1"/>
      <p:bldP spid="883721" grpId="1" animBg="1"/>
      <p:bldP spid="883729" grpId="0" animBg="1"/>
      <p:bldP spid="883730" grpId="0" animBg="1"/>
      <p:bldP spid="883725" grpId="0" animBg="1"/>
      <p:bldP spid="88372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Editing the wiki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575" y="1128713"/>
            <a:ext cx="3844925" cy="5132387"/>
          </a:xfrm>
        </p:spPr>
        <p:txBody>
          <a:bodyPr/>
          <a:lstStyle/>
          <a:p>
            <a:r>
              <a:rPr lang="en-US" dirty="0" smtClean="0"/>
              <a:t>Create a new page or go to an existing one</a:t>
            </a:r>
          </a:p>
          <a:p>
            <a:r>
              <a:rPr lang="en-US" dirty="0"/>
              <a:t>Click on “edit”</a:t>
            </a:r>
          </a:p>
          <a:p>
            <a:r>
              <a:rPr lang="en-US" dirty="0"/>
              <a:t>Try to add or change text </a:t>
            </a:r>
          </a:p>
          <a:p>
            <a:r>
              <a:rPr lang="en-US" dirty="0"/>
              <a:t>You can cancel anytime, preview (just for you), or save the changes so that everyone can see them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75" y="1447800"/>
            <a:ext cx="5191125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24300" y="3476625"/>
            <a:ext cx="5924550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0" name="Line 7"/>
          <p:cNvSpPr>
            <a:spLocks noChangeShapeType="1"/>
          </p:cNvSpPr>
          <p:nvPr/>
        </p:nvSpPr>
        <p:spPr bwMode="auto">
          <a:xfrm flipV="1">
            <a:off x="2438401" y="1624012"/>
            <a:ext cx="4070350" cy="585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1" name="Line 8"/>
          <p:cNvSpPr>
            <a:spLocks noChangeShapeType="1"/>
          </p:cNvSpPr>
          <p:nvPr/>
        </p:nvSpPr>
        <p:spPr bwMode="auto">
          <a:xfrm>
            <a:off x="3810000" y="2819400"/>
            <a:ext cx="604838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2" name="Line 9"/>
          <p:cNvSpPr>
            <a:spLocks noChangeShapeType="1"/>
          </p:cNvSpPr>
          <p:nvPr/>
        </p:nvSpPr>
        <p:spPr bwMode="auto">
          <a:xfrm>
            <a:off x="1295400" y="3429000"/>
            <a:ext cx="4503739" cy="2538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3" name="Line 10"/>
          <p:cNvSpPr>
            <a:spLocks noChangeShapeType="1"/>
          </p:cNvSpPr>
          <p:nvPr/>
        </p:nvSpPr>
        <p:spPr bwMode="auto">
          <a:xfrm>
            <a:off x="2667000" y="3124200"/>
            <a:ext cx="5862638" cy="2890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4" name="Line 11"/>
          <p:cNvSpPr>
            <a:spLocks noChangeShapeType="1"/>
          </p:cNvSpPr>
          <p:nvPr/>
        </p:nvSpPr>
        <p:spPr bwMode="auto">
          <a:xfrm>
            <a:off x="914400" y="3810000"/>
            <a:ext cx="3644900" cy="22050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overview of wiki markup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'''three apostrophes''' will make text </a:t>
            </a:r>
            <a:r>
              <a:rPr lang="en-US" b="1" dirty="0"/>
              <a:t>bold</a:t>
            </a:r>
            <a:endParaRPr lang="en-US" dirty="0"/>
          </a:p>
          <a:p>
            <a:r>
              <a:rPr lang="en-US" dirty="0"/>
              <a:t>''two apostrophes''' will make text </a:t>
            </a:r>
            <a:r>
              <a:rPr lang="en-US" i="1" dirty="0"/>
              <a:t>italic</a:t>
            </a:r>
            <a:endParaRPr lang="en-US" dirty="0"/>
          </a:p>
          <a:p>
            <a:r>
              <a:rPr lang="en-US" dirty="0"/>
              <a:t>[[Text in double square brackets]] will be </a:t>
            </a:r>
            <a:r>
              <a:rPr lang="en-US" u="sng" dirty="0">
                <a:solidFill>
                  <a:srgbClr val="3366FF"/>
                </a:solidFill>
              </a:rPr>
              <a:t>links</a:t>
            </a:r>
            <a:r>
              <a:rPr lang="en-US" dirty="0"/>
              <a:t> to the page named as the text in the brackets</a:t>
            </a:r>
          </a:p>
          <a:p>
            <a:r>
              <a:rPr lang="en-US" dirty="0"/>
              <a:t>[[Link </a:t>
            </a:r>
            <a:r>
              <a:rPr lang="en-US" dirty="0" err="1"/>
              <a:t>target|link</a:t>
            </a:r>
            <a:r>
              <a:rPr lang="en-US" dirty="0"/>
              <a:t> text]] will display a link that looks like </a:t>
            </a:r>
            <a:r>
              <a:rPr lang="en-US" u="sng" dirty="0">
                <a:solidFill>
                  <a:srgbClr val="3366FF"/>
                </a:solidFill>
              </a:rPr>
              <a:t>link </a:t>
            </a:r>
            <a:r>
              <a:rPr lang="en-US" u="sng" dirty="0" smtClean="0">
                <a:solidFill>
                  <a:srgbClr val="3366FF"/>
                </a:solidFill>
              </a:rPr>
              <a:t>text</a:t>
            </a:r>
            <a:r>
              <a:rPr lang="en-US" dirty="0" smtClean="0"/>
              <a:t> but </a:t>
            </a:r>
            <a:r>
              <a:rPr lang="en-US" dirty="0"/>
              <a:t>links to link target</a:t>
            </a:r>
          </a:p>
          <a:p>
            <a:r>
              <a:rPr lang="en-US" dirty="0"/>
              <a:t>The wiki is case </a:t>
            </a:r>
            <a:r>
              <a:rPr lang="en-US" dirty="0" err="1"/>
              <a:t>sensitve</a:t>
            </a:r>
            <a:r>
              <a:rPr lang="en-US" dirty="0"/>
              <a:t> – but not on the first letter of a link</a:t>
            </a:r>
          </a:p>
          <a:p>
            <a:r>
              <a:rPr lang="en-US" dirty="0"/>
              <a:t>The wiki is Unicode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page in the wiki belongs to a namespace</a:t>
            </a:r>
          </a:p>
          <a:p>
            <a:r>
              <a:rPr lang="en-US" dirty="0" smtClean="0"/>
              <a:t>Example namespaces: Talk, Category, Template, Help, File, User, User, etc.</a:t>
            </a:r>
          </a:p>
          <a:p>
            <a:r>
              <a:rPr lang="en-US" dirty="0" smtClean="0"/>
              <a:t>Default namespace is empty (like for articles in Wikipedia)</a:t>
            </a:r>
          </a:p>
          <a:p>
            <a:r>
              <a:rPr lang="en-US" dirty="0" smtClean="0"/>
              <a:t>Some namespaces have special semantics</a:t>
            </a:r>
          </a:p>
          <a:p>
            <a:endParaRPr lang="en-US" dirty="0" smtClean="0"/>
          </a:p>
          <a:p>
            <a:r>
              <a:rPr lang="en-US" dirty="0" smtClean="0"/>
              <a:t>Semantic </a:t>
            </a:r>
            <a:r>
              <a:rPr lang="en-US" dirty="0" err="1" smtClean="0"/>
              <a:t>MediaWiki</a:t>
            </a:r>
            <a:r>
              <a:rPr lang="en-US" dirty="0" smtClean="0"/>
              <a:t> introduces further namespaces</a:t>
            </a:r>
          </a:p>
          <a:p>
            <a:pPr lvl="1"/>
            <a:r>
              <a:rPr lang="en-US" dirty="0" smtClean="0"/>
              <a:t>Property</a:t>
            </a:r>
          </a:p>
          <a:p>
            <a:pPr lvl="1"/>
            <a:r>
              <a:rPr lang="en-US" dirty="0" smtClean="0"/>
              <a:t>Concept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Parser functions / Templates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They are called in </a:t>
            </a:r>
            <a:r>
              <a:rPr lang="en-US" dirty="0" err="1" smtClean="0"/>
              <a:t>wikitext</a:t>
            </a:r>
            <a:r>
              <a:rPr lang="en-US" dirty="0" smtClean="0"/>
              <a:t> with {{ }}</a:t>
            </a:r>
          </a:p>
          <a:p>
            <a:r>
              <a:rPr lang="en-US" dirty="0" smtClean="0"/>
              <a:t>Template call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smtClean="0">
                <a:latin typeface="Consolas"/>
                <a:cs typeface="Consolas"/>
              </a:rPr>
              <a:t>{{City}}</a:t>
            </a:r>
          </a:p>
          <a:p>
            <a:r>
              <a:rPr lang="en-US" dirty="0" smtClean="0"/>
              <a:t>Can also have parameters (by name or by position)</a:t>
            </a:r>
          </a:p>
          <a:p>
            <a:pPr>
              <a:buNone/>
            </a:pPr>
            <a:r>
              <a:rPr lang="en-US" dirty="0" smtClean="0">
                <a:latin typeface="Consolas"/>
                <a:cs typeface="Consolas"/>
              </a:rPr>
              <a:t>	 {{</a:t>
            </a:r>
            <a:r>
              <a:rPr lang="en-US" dirty="0" err="1" smtClean="0">
                <a:latin typeface="Consolas"/>
                <a:cs typeface="Consolas"/>
              </a:rPr>
              <a:t>City|population</a:t>
            </a:r>
            <a:r>
              <a:rPr lang="en-US" dirty="0" smtClean="0">
                <a:latin typeface="Consolas"/>
                <a:cs typeface="Consolas"/>
              </a:rPr>
              <a:t>=200,000}}</a:t>
            </a:r>
          </a:p>
          <a:p>
            <a:pPr>
              <a:buNone/>
            </a:pPr>
            <a:r>
              <a:rPr lang="en-US" dirty="0" smtClean="0">
                <a:latin typeface="Consolas"/>
                <a:cs typeface="Consolas"/>
              </a:rPr>
              <a:t>	 {{City|200,000}}</a:t>
            </a:r>
          </a:p>
          <a:p>
            <a:endParaRPr lang="en-US" dirty="0" smtClean="0"/>
          </a:p>
          <a:p>
            <a:r>
              <a:rPr lang="en-US" dirty="0" smtClean="0"/>
              <a:t>Function call work the same way (but may have a : or #)</a:t>
            </a:r>
          </a:p>
          <a:p>
            <a:pPr>
              <a:buNone/>
            </a:pPr>
            <a:r>
              <a:rPr lang="en-US" dirty="0" smtClean="0">
                <a:latin typeface="Consolas"/>
                <a:cs typeface="Consolas"/>
              </a:rPr>
              <a:t>	 {{#expr:20+4}}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95400" y="1143000"/>
            <a:ext cx="763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edit</a:t>
            </a:r>
            <a:endParaRPr lang="en-US" sz="2800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1676400"/>
            <a:ext cx="6096000" cy="3657600"/>
          </a:xfrm>
          <a:prstGeom prst="rect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447800" y="1676400"/>
            <a:ext cx="4186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urier New"/>
                <a:cs typeface="Courier New"/>
              </a:rPr>
              <a:t>wow. I can change the web.</a:t>
            </a:r>
            <a:endParaRPr lang="en-US" sz="2000" dirty="0">
              <a:latin typeface="Courier New"/>
              <a:cs typeface="Courier Ne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56832" y="2038290"/>
            <a:ext cx="4648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urier New"/>
                <a:cs typeface="Courier New"/>
              </a:rPr>
              <a:t>let’s write an encyclopedia!</a:t>
            </a:r>
            <a:endParaRPr lang="en-US"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kipedia July 2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905000"/>
            <a:ext cx="8915400" cy="25353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6375" y="117475"/>
            <a:ext cx="6480175" cy="6480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 far…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Human collaborations can achieve great things</a:t>
            </a:r>
          </a:p>
          <a:p>
            <a:endParaRPr lang="en-US" sz="2400" dirty="0" smtClean="0"/>
          </a:p>
          <a:p>
            <a:r>
              <a:rPr lang="en-US" sz="2400" dirty="0" smtClean="0"/>
              <a:t>But some things are better left to machines…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4" name="Rectangle 6"/>
          <p:cNvSpPr>
            <a:spLocks noChangeArrowheads="1"/>
          </p:cNvSpPr>
          <p:nvPr/>
        </p:nvSpPr>
        <p:spPr bwMode="auto">
          <a:xfrm>
            <a:off x="8388350" y="908050"/>
            <a:ext cx="576263" cy="79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Wiki Clock</a:t>
            </a:r>
          </a:p>
        </p:txBody>
      </p:sp>
      <p:pic>
        <p:nvPicPr>
          <p:cNvPr id="63693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263" y="1365250"/>
            <a:ext cx="8642350" cy="3792538"/>
          </a:xfrm>
          <a:prstGeom prst="rect">
            <a:avLst/>
          </a:prstGeom>
          <a:noFill/>
        </p:spPr>
      </p:pic>
      <p:sp>
        <p:nvSpPr>
          <p:cNvPr id="636935" name="Rectangle 7"/>
          <p:cNvSpPr>
            <a:spLocks noChangeArrowheads="1"/>
          </p:cNvSpPr>
          <p:nvPr/>
        </p:nvSpPr>
        <p:spPr bwMode="auto">
          <a:xfrm>
            <a:off x="5724525" y="5949950"/>
            <a:ext cx="3346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4"/>
              </a:rPr>
              <a:t>http://pageoftext.com/wikiclock</a:t>
            </a:r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534218" y="2350532"/>
            <a:ext cx="2590800" cy="2092570"/>
          </a:xfrm>
          <a:prstGeom prst="rect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5511800" y="1981200"/>
            <a:ext cx="556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>
                <a:solidFill>
                  <a:srgbClr val="558ED5"/>
                </a:solidFill>
              </a:rPr>
              <a:t>edit</a:t>
            </a:r>
            <a:endParaRPr lang="en-US" u="sng" dirty="0">
              <a:solidFill>
                <a:srgbClr val="558ED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2218" y="2350532"/>
            <a:ext cx="2590800" cy="2092570"/>
          </a:xfrm>
          <a:prstGeom prst="rect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939800" y="1981200"/>
            <a:ext cx="556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>
                <a:solidFill>
                  <a:srgbClr val="558ED5"/>
                </a:solidFill>
              </a:rPr>
              <a:t>edit</a:t>
            </a:r>
            <a:endParaRPr lang="en-US" u="sng" dirty="0">
              <a:solidFill>
                <a:srgbClr val="558ED5"/>
              </a:solidFill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9218" y="2198133"/>
            <a:ext cx="2349500" cy="23495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" name="Picture 9" descr="LS0093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218" y="2072719"/>
            <a:ext cx="1749072" cy="24114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8800">
                <a:solidFill>
                  <a:schemeClr val="bg1"/>
                </a:solidFill>
                <a:latin typeface="Calibri" charset="0"/>
                <a:ea typeface="Osaka" charset="-128"/>
                <a:cs typeface="Osaka" charset="-128"/>
              </a:rPr>
              <a:t>Universal Access to</a:t>
            </a:r>
          </a:p>
          <a:p>
            <a:pPr algn="ctr"/>
            <a:r>
              <a:rPr lang="en-US" sz="8800">
                <a:solidFill>
                  <a:schemeClr val="bg1"/>
                </a:solidFill>
                <a:latin typeface="Calibri" charset="0"/>
                <a:ea typeface="Osaka" charset="-128"/>
                <a:cs typeface="Osaka" charset="-128"/>
              </a:rPr>
              <a:t>All Knowledge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What Wikipedia knows</a:t>
            </a:r>
          </a:p>
        </p:txBody>
      </p:sp>
      <p:sp>
        <p:nvSpPr>
          <p:cNvPr id="693251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Wikipedia has articles about…</a:t>
            </a:r>
          </a:p>
          <a:p>
            <a:pPr lvl="1" eaLnBrk="1" hangingPunct="1"/>
            <a:r>
              <a:rPr lang="en-US"/>
              <a:t>… all cities</a:t>
            </a:r>
          </a:p>
          <a:p>
            <a:pPr lvl="1" eaLnBrk="1" hangingPunct="1"/>
            <a:r>
              <a:rPr lang="en-US"/>
              <a:t>… their populations</a:t>
            </a:r>
          </a:p>
          <a:p>
            <a:pPr lvl="1" eaLnBrk="1" hangingPunct="1"/>
            <a:r>
              <a:rPr lang="en-US"/>
              <a:t>… their mayors</a:t>
            </a:r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eaLnBrk="1" hangingPunct="1">
              <a:buFont typeface="Wingdings" charset="2"/>
              <a:buNone/>
            </a:pPr>
            <a:r>
              <a:rPr lang="en-US"/>
              <a:t>	So can I ask for a list of the world’s ten largest cities with a female mayor?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Let’s see what happens…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de-DE"/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9690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</p:pic>
      <p:sp>
        <p:nvSpPr>
          <p:cNvPr id="703493" name="Rectangle 5"/>
          <p:cNvSpPr>
            <a:spLocks noChangeArrowheads="1"/>
          </p:cNvSpPr>
          <p:nvPr/>
        </p:nvSpPr>
        <p:spPr bwMode="auto">
          <a:xfrm>
            <a:off x="0" y="1916113"/>
            <a:ext cx="9144000" cy="40338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703494" name="Rectangle 6"/>
          <p:cNvSpPr>
            <a:spLocks noChangeArrowheads="1"/>
          </p:cNvSpPr>
          <p:nvPr/>
        </p:nvSpPr>
        <p:spPr bwMode="auto">
          <a:xfrm>
            <a:off x="107950" y="692150"/>
            <a:ext cx="6048375" cy="4333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496649" name="Rectangle 9"/>
          <p:cNvSpPr>
            <a:spLocks noChangeArrowheads="1"/>
          </p:cNvSpPr>
          <p:nvPr/>
        </p:nvSpPr>
        <p:spPr bwMode="auto">
          <a:xfrm>
            <a:off x="155575" y="1700213"/>
            <a:ext cx="4608513" cy="1793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70349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175" y="6350"/>
            <a:ext cx="9144000" cy="59690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966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3" grpId="0" animBg="1"/>
      <p:bldP spid="703494" grpId="0" animBg="1"/>
      <p:bldP spid="4966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Wikipedia’s answer: lists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0" y="0"/>
          <a:ext cx="9144000" cy="7634288"/>
        </p:xfrm>
        <a:graphic>
          <a:graphicData uri="http://schemas.openxmlformats.org/presentationml/2006/ole">
            <p:oleObj spid="_x0000_s916482" name="Bitmap" r:id="rId4" imgW="8097380" imgH="6761905" progId="">
              <p:embed/>
            </p:oleObj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de-DE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753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>
            <a:prstShdw prst="shdw17" dist="17961" dir="2700000">
              <a:srgbClr val="000000">
                <a:alpha val="74998"/>
              </a:srgbClr>
            </a:prst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de-DE">
              <a:ea typeface="+mn-ea"/>
            </a:endParaRPr>
          </a:p>
        </p:txBody>
      </p:sp>
      <p:pic>
        <p:nvPicPr>
          <p:cNvPr id="28675" name="Picture 3" descr="Wikipedia_doesn't_have_all_the_answer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5163" y="-1684338"/>
            <a:ext cx="7794625" cy="9744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>
                <a:latin typeface="Lucida Console" charset="0"/>
              </a:rPr>
              <a:t>Computer </a:t>
            </a:r>
            <a:r>
              <a:rPr lang="en-US" sz="4000" dirty="0">
                <a:latin typeface="Lucida Console" charset="0"/>
              </a:rPr>
              <a:t>are stupid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What humans see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de-DE"/>
          </a:p>
        </p:txBody>
      </p:sp>
      <p:pic>
        <p:nvPicPr>
          <p:cNvPr id="3072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08050"/>
            <a:ext cx="9144000" cy="5214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What humans see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en-GB"/>
              <a:t>Karlsruhe</a:t>
            </a:r>
          </a:p>
          <a:p>
            <a:pPr eaLnBrk="1" hangingPunct="1"/>
            <a:r>
              <a:rPr lang="en-GB"/>
              <a:t>... </a:t>
            </a:r>
            <a:r>
              <a:rPr lang="en-GB" b="1"/>
              <a:t>has a population </a:t>
            </a:r>
            <a:r>
              <a:rPr lang="en-GB"/>
              <a:t>of 285,812</a:t>
            </a:r>
          </a:p>
          <a:p>
            <a:pPr eaLnBrk="1" hangingPunct="1"/>
            <a:r>
              <a:rPr lang="en-GB"/>
              <a:t>... </a:t>
            </a:r>
            <a:r>
              <a:rPr lang="en-GB" b="1"/>
              <a:t>is located </a:t>
            </a:r>
            <a:r>
              <a:rPr lang="en-GB"/>
              <a:t>in</a:t>
            </a:r>
            <a:r>
              <a:rPr lang="en-GB" b="1"/>
              <a:t> </a:t>
            </a:r>
            <a:r>
              <a:rPr lang="en-GB"/>
              <a:t>Germany</a:t>
            </a:r>
          </a:p>
          <a:p>
            <a:pPr eaLnBrk="1" hangingPunct="1"/>
            <a:r>
              <a:rPr lang="en-GB"/>
              <a:t>... </a:t>
            </a:r>
            <a:r>
              <a:rPr lang="en-GB" b="1"/>
              <a:t>was founded </a:t>
            </a:r>
            <a:r>
              <a:rPr lang="en-GB"/>
              <a:t>in 1715</a:t>
            </a:r>
          </a:p>
          <a:p>
            <a:pPr eaLnBrk="1" hangingPunct="1"/>
            <a:r>
              <a:rPr lang="en-GB"/>
              <a:t>... </a:t>
            </a:r>
            <a:r>
              <a:rPr lang="en-GB" b="1"/>
              <a:t>has mayor </a:t>
            </a:r>
            <a:r>
              <a:rPr lang="en-GB"/>
              <a:t>Heinz Fenrich</a:t>
            </a:r>
            <a:endParaRPr lang="en-US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computers see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de-DE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066800"/>
            <a:ext cx="9144000" cy="587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sh dir="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What computers see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en-GB"/>
              <a:t>Karlsruhe</a:t>
            </a:r>
          </a:p>
          <a:p>
            <a:pPr eaLnBrk="1" hangingPunct="1"/>
            <a:r>
              <a:rPr lang="en-GB"/>
              <a:t>... 285,812</a:t>
            </a:r>
          </a:p>
          <a:p>
            <a:pPr eaLnBrk="1" hangingPunct="1"/>
            <a:r>
              <a:rPr lang="en-GB"/>
              <a:t>... Germany</a:t>
            </a:r>
          </a:p>
          <a:p>
            <a:pPr eaLnBrk="1" hangingPunct="1"/>
            <a:r>
              <a:rPr lang="en-GB"/>
              <a:t>... 1715</a:t>
            </a:r>
          </a:p>
          <a:p>
            <a:pPr eaLnBrk="1" hangingPunct="1"/>
            <a:r>
              <a:rPr lang="en-GB"/>
              <a:t>... Heinz Fenrich</a:t>
            </a:r>
          </a:p>
          <a:p>
            <a:pPr eaLnBrk="1" hangingPunct="1">
              <a:buFont typeface="Wingdings" charset="2"/>
              <a:buNone/>
            </a:pPr>
            <a:endParaRPr lang="en-GB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latin typeface="Lucida Console" charset="0"/>
              </a:rPr>
              <a:t>Computer </a:t>
            </a:r>
            <a:r>
              <a:rPr lang="en-US" sz="3600" dirty="0">
                <a:latin typeface="Lucida Console" charset="0"/>
              </a:rPr>
              <a:t>don</a:t>
            </a:r>
            <a:r>
              <a:rPr lang="en-US" sz="3600" dirty="0"/>
              <a:t>‘</a:t>
            </a:r>
            <a:r>
              <a:rPr lang="en-US" sz="3600" dirty="0">
                <a:latin typeface="Lucida Console" charset="0"/>
              </a:rPr>
              <a:t>t make connections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latin typeface="Lucida Console" charset="0"/>
              </a:rPr>
              <a:t>Computer </a:t>
            </a:r>
            <a:r>
              <a:rPr lang="en-US" sz="3600" dirty="0">
                <a:latin typeface="Lucida Console" charset="0"/>
              </a:rPr>
              <a:t>need our help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0" y="0"/>
            <a:ext cx="9144000" cy="106363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Bild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81000"/>
            <a:ext cx="5486400" cy="5486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The</a:t>
            </a:r>
            <a:r>
              <a:rPr lang="de-DE" dirty="0" smtClean="0"/>
              <a:t> IDEA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3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tx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55362" name="Picture 2" descr="http://upload.wikimedia.org/wikipedia/de/4/4f/Brac_Povlj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6513" y="333375"/>
            <a:ext cx="9251951" cy="61515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1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tx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57410" name="Picture 2" descr="http://upload.wikimedia.org/wikipedia/commons/d/d7/Blac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6513" y="765175"/>
            <a:ext cx="9251951" cy="54721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9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tx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59458" name="Picture 2" descr="http://upload.wikimedia.org/wikipedia/commons/3/35/Pu%C4%8Di%C5%A1%C4%87a_Bay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8175" y="0"/>
            <a:ext cx="5216525" cy="69580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7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tx2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61506" name="Picture 2" descr="http://upload.wikimedia.org/wikipedia/commons/4/4d/Sumartin_cap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80975" y="1268413"/>
            <a:ext cx="9505950" cy="38957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77E47BC0-8703-7849-B8CC-912AEFE55264}" type="slidenum">
              <a:rPr lang="de-DE"/>
              <a:pPr/>
              <a:t>37</a:t>
            </a:fld>
            <a:endParaRPr lang="de-DE"/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Wikipedia today</a:t>
            </a:r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816100"/>
            <a:ext cx="8867775" cy="4349750"/>
          </a:xfrm>
          <a:noFill/>
          <a:ln/>
        </p:spPr>
        <p:txBody>
          <a:bodyPr/>
          <a:lstStyle/>
          <a:p>
            <a:pPr>
              <a:buFont typeface="Wingdings" charset="2"/>
              <a:buNone/>
            </a:pPr>
            <a:r>
              <a:rPr lang="en-US" sz="2400" b="1"/>
              <a:t>	Brač</a:t>
            </a:r>
            <a:r>
              <a:rPr lang="en-US" sz="2400"/>
              <a:t> is a </a:t>
            </a:r>
            <a:r>
              <a:rPr lang="en-US" sz="2400">
                <a:hlinkClick r:id="rId3" tooltip="Croatia"/>
              </a:rPr>
              <a:t>Croatian</a:t>
            </a:r>
            <a:r>
              <a:rPr lang="en-US" sz="2400"/>
              <a:t> island in the </a:t>
            </a:r>
            <a:r>
              <a:rPr lang="en-US" sz="2400">
                <a:hlinkClick r:id="rId4" tooltip="Adriatic Sea"/>
              </a:rPr>
              <a:t>Adriatic Sea</a:t>
            </a:r>
            <a:r>
              <a:rPr lang="en-US" sz="2400"/>
              <a:t>. The island has a population of 13,000, living in numerous little towns, ranging from the 'main town' </a:t>
            </a:r>
            <a:r>
              <a:rPr lang="en-US" sz="2400">
                <a:hlinkClick r:id="rId5" tooltip="Supetar"/>
              </a:rPr>
              <a:t>Supetar</a:t>
            </a:r>
            <a:r>
              <a:rPr lang="en-US" sz="2400"/>
              <a:t>, with more than 2,500 inhabitants, to </a:t>
            </a:r>
            <a:r>
              <a:rPr lang="en-US" sz="2400">
                <a:hlinkClick r:id="rId6" tooltip="Novo Selo"/>
              </a:rPr>
              <a:t>Novo Selo</a:t>
            </a:r>
            <a:r>
              <a:rPr lang="en-US" sz="2400"/>
              <a:t>, where only a dozen people live.</a:t>
            </a:r>
          </a:p>
          <a:p>
            <a:pPr>
              <a:buFont typeface="Wingdings" charset="2"/>
              <a:buNone/>
            </a:pPr>
            <a:r>
              <a:rPr lang="en-US" sz="2400"/>
              <a:t>	Today, Brač lives mostly on </a:t>
            </a:r>
            <a:r>
              <a:rPr lang="en-US" sz="2400">
                <a:hlinkClick r:id="rId7" tooltip="Tourism"/>
              </a:rPr>
              <a:t>tourism</a:t>
            </a:r>
            <a:r>
              <a:rPr lang="en-US" sz="2400"/>
              <a:t>, but </a:t>
            </a:r>
            <a:r>
              <a:rPr lang="en-US" sz="2400">
                <a:hlinkClick r:id="rId8" tooltip="Fishing"/>
              </a:rPr>
              <a:t>fishing</a:t>
            </a:r>
            <a:r>
              <a:rPr lang="en-US" sz="2400"/>
              <a:t> and </a:t>
            </a:r>
            <a:r>
              <a:rPr lang="en-US" sz="2400">
                <a:hlinkClick r:id="rId9" tooltip="Agriculture"/>
              </a:rPr>
              <a:t>agriculture</a:t>
            </a:r>
            <a:r>
              <a:rPr lang="en-US" sz="2400"/>
              <a:t> (especially </a:t>
            </a:r>
            <a:r>
              <a:rPr lang="en-US" sz="2400">
                <a:hlinkClick r:id="rId10" tooltip="Wine"/>
              </a:rPr>
              <a:t>wine</a:t>
            </a:r>
            <a:r>
              <a:rPr lang="en-US" sz="2400"/>
              <a:t> and </a:t>
            </a:r>
            <a:r>
              <a:rPr lang="en-US" sz="2400">
                <a:hlinkClick r:id="rId11" tooltip="Olive"/>
              </a:rPr>
              <a:t>olives</a:t>
            </a:r>
            <a:r>
              <a:rPr lang="en-US" sz="2400"/>
              <a:t>) are very important too, as is selling its precious, white stone (which was used in building </a:t>
            </a:r>
            <a:r>
              <a:rPr lang="en-US" sz="2400">
                <a:hlinkClick r:id="rId12" tooltip="Diocletian's Palace"/>
              </a:rPr>
              <a:t>Diocletian's Palace</a:t>
            </a:r>
            <a:r>
              <a:rPr lang="en-US" sz="2400"/>
              <a:t> in </a:t>
            </a:r>
            <a:r>
              <a:rPr lang="en-US" sz="2400">
                <a:hlinkClick r:id="rId13" tooltip="Split"/>
              </a:rPr>
              <a:t>Split</a:t>
            </a:r>
            <a:r>
              <a:rPr lang="en-US" sz="2400"/>
              <a:t>, and is built into the </a:t>
            </a:r>
            <a:r>
              <a:rPr lang="en-US" sz="2400">
                <a:hlinkClick r:id="rId14" tooltip="White House"/>
              </a:rPr>
              <a:t>White House</a:t>
            </a:r>
            <a:r>
              <a:rPr lang="en-US" sz="2400"/>
              <a:t> in </a:t>
            </a:r>
            <a:r>
              <a:rPr lang="en-US" sz="2400">
                <a:hlinkClick r:id="rId14" tooltip="White House"/>
              </a:rPr>
              <a:t>Washington, DC</a:t>
            </a:r>
            <a:r>
              <a:rPr lang="en-US" sz="2400"/>
              <a:t>, too).</a:t>
            </a:r>
          </a:p>
          <a:p>
            <a:pPr>
              <a:buFont typeface="Wingdings" charset="2"/>
              <a:buNone/>
            </a:pPr>
            <a:r>
              <a:rPr lang="en-US" sz="2400"/>
              <a:t>	</a:t>
            </a:r>
            <a:r>
              <a:rPr lang="en-US" sz="2400" i="1"/>
              <a:t>Category: </a:t>
            </a:r>
            <a:r>
              <a:rPr lang="en-US" sz="2400" i="1">
                <a:hlinkClick r:id="rId14" tooltip="White House"/>
              </a:rPr>
              <a:t>Croatian Island</a:t>
            </a:r>
            <a:endParaRPr lang="en-US" sz="2400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50207621-BD52-2C4B-9AA8-941C148D8F6E}" type="slidenum">
              <a:rPr lang="de-DE"/>
              <a:pPr/>
              <a:t>38</a:t>
            </a:fld>
            <a:endParaRPr lang="de-DE"/>
          </a:p>
        </p:txBody>
      </p:sp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are they linked?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 		</a:t>
            </a:r>
            <a:r>
              <a:rPr lang="en-US" dirty="0" smtClean="0"/>
              <a:t>			</a:t>
            </a:r>
            <a:r>
              <a:rPr lang="en-US" dirty="0"/>
              <a:t>Croatia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Adriatic Sea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</a:t>
            </a:r>
            <a:r>
              <a:rPr lang="en-US" dirty="0" err="1"/>
              <a:t>Supetar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Novo </a:t>
            </a:r>
            <a:r>
              <a:rPr lang="en-US" dirty="0" err="1"/>
              <a:t>Selo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tourism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fishing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agriculture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5AFF1D19-D2A3-1649-9533-36DFC186686C}" type="slidenum">
              <a:rPr lang="de-DE"/>
              <a:pPr/>
              <a:t>39</a:t>
            </a:fld>
            <a:endParaRPr lang="de-DE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are they linked?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 </a:t>
            </a:r>
            <a:r>
              <a:rPr lang="en-US" dirty="0" smtClean="0"/>
              <a:t>		belongs </a:t>
            </a:r>
            <a:r>
              <a:rPr lang="en-US" dirty="0"/>
              <a:t>to</a:t>
            </a:r>
            <a:r>
              <a:rPr lang="en-US" dirty="0" smtClean="0"/>
              <a:t>		Croatia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Adriatic Sea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</a:t>
            </a:r>
            <a:r>
              <a:rPr lang="en-US" dirty="0" err="1"/>
              <a:t>Supetar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Novo </a:t>
            </a:r>
            <a:r>
              <a:rPr lang="en-US" dirty="0" err="1"/>
              <a:t>Selo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tourism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fishing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agriculture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7323988B-A85B-0243-805D-3E04F4BF9FC4}" type="slidenum">
              <a:rPr lang="de-DE"/>
              <a:pPr/>
              <a:t>40</a:t>
            </a:fld>
            <a:endParaRPr lang="de-DE"/>
          </a:p>
        </p:txBody>
      </p:sp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are they linked?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 </a:t>
            </a:r>
            <a:r>
              <a:rPr lang="en-US" dirty="0" smtClean="0"/>
              <a:t>		belongs to		</a:t>
            </a:r>
            <a:r>
              <a:rPr lang="en-US" dirty="0"/>
              <a:t>Croatia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located in		Adriatic Sea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</a:t>
            </a:r>
            <a:r>
              <a:rPr lang="en-US" dirty="0" err="1"/>
              <a:t>Supetar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Novo </a:t>
            </a:r>
            <a:r>
              <a:rPr lang="en-US" dirty="0" err="1"/>
              <a:t>Selo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tourism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fishing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agriculture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CBC825EE-E172-FB4E-B3E6-461B45B12694}" type="slidenum">
              <a:rPr lang="de-DE"/>
              <a:pPr/>
              <a:t>41</a:t>
            </a:fld>
            <a:endParaRPr lang="de-DE"/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are they linked?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 </a:t>
            </a:r>
            <a:r>
              <a:rPr lang="en-US" dirty="0" smtClean="0"/>
              <a:t>		belongs </a:t>
            </a:r>
            <a:r>
              <a:rPr lang="en-US" dirty="0"/>
              <a:t>to</a:t>
            </a:r>
            <a:r>
              <a:rPr lang="en-US" dirty="0" smtClean="0"/>
              <a:t>		Croatia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located in		Adriatic Sea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has town		</a:t>
            </a:r>
            <a:r>
              <a:rPr lang="en-US" dirty="0" err="1"/>
              <a:t>Supetar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has town		Novo </a:t>
            </a:r>
            <a:r>
              <a:rPr lang="en-US" dirty="0" err="1"/>
              <a:t>Selo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tourism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fishing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			agriculture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228DDAC0-E74A-E141-94A3-5BD2DF0B758C}" type="slidenum">
              <a:rPr lang="de-DE"/>
              <a:pPr/>
              <a:t>42</a:t>
            </a:fld>
            <a:endParaRPr lang="de-DE"/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are they linked?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 </a:t>
            </a:r>
            <a:r>
              <a:rPr lang="en-US" dirty="0" smtClean="0"/>
              <a:t>		belongs </a:t>
            </a:r>
            <a:r>
              <a:rPr lang="en-US" dirty="0"/>
              <a:t>to</a:t>
            </a:r>
            <a:r>
              <a:rPr lang="en-US" dirty="0" smtClean="0"/>
              <a:t>		Croatia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located in		Adriatic Sea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has town		</a:t>
            </a:r>
            <a:r>
              <a:rPr lang="en-US" dirty="0" err="1"/>
              <a:t>Supetar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has town		Novo </a:t>
            </a:r>
            <a:r>
              <a:rPr lang="en-US" dirty="0" err="1"/>
              <a:t>Selo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lives	on		tourism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lives on		fishing</a:t>
            </a:r>
          </a:p>
          <a:p>
            <a:pPr>
              <a:buFont typeface="Wingdings" charset="2"/>
              <a:buNone/>
            </a:pPr>
            <a:r>
              <a:rPr lang="en-US" dirty="0" err="1"/>
              <a:t>Brač</a:t>
            </a:r>
            <a:r>
              <a:rPr lang="en-US" dirty="0"/>
              <a:t>		lives on		agriculture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67EB265E-8D41-0D45-9ECA-6CFBB3FED698}" type="slidenum">
              <a:rPr lang="de-DE"/>
              <a:pPr/>
              <a:t>43</a:t>
            </a:fld>
            <a:endParaRPr lang="de-DE"/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323850" y="2997200"/>
            <a:ext cx="6335713" cy="213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>
                <a:latin typeface="Courier New" charset="0"/>
              </a:rPr>
              <a:t>Bra</a:t>
            </a:r>
            <a:r>
              <a:rPr lang="en-US" sz="3200">
                <a:latin typeface="Courier New" charset="0"/>
                <a:ea typeface="Courier New" charset="0"/>
                <a:cs typeface="Courier New" charset="0"/>
              </a:rPr>
              <a:t>č</a:t>
            </a:r>
            <a:r>
              <a:rPr lang="en-US" sz="3200">
                <a:latin typeface="Courier New" charset="0"/>
              </a:rPr>
              <a:t> is a </a:t>
            </a:r>
          </a:p>
          <a:p>
            <a:pPr>
              <a:spcBef>
                <a:spcPct val="20000"/>
              </a:spcBef>
            </a:pPr>
            <a:r>
              <a:rPr lang="en-US" sz="3200">
                <a:latin typeface="Courier New" charset="0"/>
              </a:rPr>
              <a:t>[[Croatia]]n			       island with an area of        396 km².</a:t>
            </a:r>
          </a:p>
        </p:txBody>
      </p:sp>
      <p:sp>
        <p:nvSpPr>
          <p:cNvPr id="291853" name="Rectangle 13"/>
          <p:cNvSpPr>
            <a:spLocks noChangeArrowheads="1"/>
          </p:cNvSpPr>
          <p:nvPr/>
        </p:nvSpPr>
        <p:spPr bwMode="auto">
          <a:xfrm>
            <a:off x="179388" y="2924175"/>
            <a:ext cx="7561262" cy="223361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1843" name="Text Box 3"/>
          <p:cNvSpPr txBox="1">
            <a:spLocks noChangeArrowheads="1"/>
          </p:cNvSpPr>
          <p:nvPr/>
        </p:nvSpPr>
        <p:spPr bwMode="auto">
          <a:xfrm>
            <a:off x="323850" y="2997200"/>
            <a:ext cx="6985000" cy="213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200">
                <a:latin typeface="Courier New" charset="0"/>
              </a:rPr>
              <a:t>Bra</a:t>
            </a:r>
            <a:r>
              <a:rPr lang="en-US" sz="3200">
                <a:latin typeface="Courier New" charset="0"/>
                <a:ea typeface="Courier New" charset="0"/>
                <a:cs typeface="Courier New" charset="0"/>
              </a:rPr>
              <a:t>č</a:t>
            </a:r>
            <a:r>
              <a:rPr lang="en-US" sz="3200">
                <a:latin typeface="Courier New" charset="0"/>
              </a:rPr>
              <a:t> is a</a:t>
            </a:r>
          </a:p>
          <a:p>
            <a:pPr>
              <a:spcBef>
                <a:spcPct val="20000"/>
              </a:spcBef>
            </a:pPr>
            <a:r>
              <a:rPr lang="en-US" sz="3200">
                <a:latin typeface="Courier New" charset="0"/>
              </a:rPr>
              <a:t>[[</a:t>
            </a:r>
            <a:r>
              <a:rPr lang="en-US" sz="3200">
                <a:solidFill>
                  <a:schemeClr val="hlink"/>
                </a:solidFill>
                <a:latin typeface="Courier New" charset="0"/>
              </a:rPr>
              <a:t>belongs to::</a:t>
            </a:r>
            <a:r>
              <a:rPr lang="en-US" sz="3200">
                <a:latin typeface="Courier New" charset="0"/>
              </a:rPr>
              <a:t>Croatia]]n	 island with an area of [[</a:t>
            </a:r>
            <a:r>
              <a:rPr lang="en-US" sz="3200">
                <a:solidFill>
                  <a:schemeClr val="hlink"/>
                </a:solidFill>
                <a:latin typeface="Courier New" charset="0"/>
              </a:rPr>
              <a:t>area::</a:t>
            </a:r>
            <a:r>
              <a:rPr lang="en-US" sz="3200">
                <a:latin typeface="Courier New" charset="0"/>
              </a:rPr>
              <a:t>396 km²]].</a:t>
            </a:r>
          </a:p>
        </p:txBody>
      </p:sp>
      <p:sp>
        <p:nvSpPr>
          <p:cNvPr id="291844" name="Line 4"/>
          <p:cNvSpPr>
            <a:spLocks noChangeShapeType="1"/>
          </p:cNvSpPr>
          <p:nvPr/>
        </p:nvSpPr>
        <p:spPr bwMode="auto">
          <a:xfrm flipH="1" flipV="1">
            <a:off x="2555875" y="5732463"/>
            <a:ext cx="158432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1845" name="Line 5"/>
          <p:cNvSpPr>
            <a:spLocks noChangeShapeType="1"/>
          </p:cNvSpPr>
          <p:nvPr/>
        </p:nvSpPr>
        <p:spPr bwMode="auto">
          <a:xfrm flipV="1">
            <a:off x="4356100" y="5732463"/>
            <a:ext cx="12954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184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Typed links</a:t>
            </a:r>
          </a:p>
        </p:txBody>
      </p:sp>
      <p:sp>
        <p:nvSpPr>
          <p:cNvPr id="2918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288" y="1671638"/>
            <a:ext cx="7850187" cy="1252537"/>
          </a:xfrm>
        </p:spPr>
        <p:txBody>
          <a:bodyPr/>
          <a:lstStyle/>
          <a:p>
            <a:r>
              <a:rPr lang="en-US" sz="3600"/>
              <a:t>Extend wiki with typed links</a:t>
            </a:r>
            <a:endParaRPr lang="en-US" sz="3600" b="1">
              <a:solidFill>
                <a:schemeClr val="accent2"/>
              </a:solidFill>
            </a:endParaRPr>
          </a:p>
          <a:p>
            <a:r>
              <a:rPr lang="en-US" sz="3600"/>
              <a:t>So the computer “understands” it</a:t>
            </a:r>
          </a:p>
        </p:txBody>
      </p:sp>
      <p:sp>
        <p:nvSpPr>
          <p:cNvPr id="291848" name="Oval 8"/>
          <p:cNvSpPr>
            <a:spLocks noChangeArrowheads="1"/>
          </p:cNvSpPr>
          <p:nvPr/>
        </p:nvSpPr>
        <p:spPr bwMode="auto">
          <a:xfrm>
            <a:off x="3708400" y="5229225"/>
            <a:ext cx="1008063" cy="1008063"/>
          </a:xfrm>
          <a:prstGeom prst="ellipse">
            <a:avLst/>
          </a:prstGeom>
          <a:gradFill rotWithShape="1">
            <a:gsLst>
              <a:gs pos="0">
                <a:srgbClr val="7F7F7F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Brač</a:t>
            </a:r>
          </a:p>
        </p:txBody>
      </p:sp>
      <p:sp>
        <p:nvSpPr>
          <p:cNvPr id="291849" name="Oval 9"/>
          <p:cNvSpPr>
            <a:spLocks noChangeArrowheads="1"/>
          </p:cNvSpPr>
          <p:nvPr/>
        </p:nvSpPr>
        <p:spPr bwMode="auto">
          <a:xfrm>
            <a:off x="5651500" y="5229225"/>
            <a:ext cx="1008063" cy="1008063"/>
          </a:xfrm>
          <a:prstGeom prst="ellipse">
            <a:avLst/>
          </a:prstGeom>
          <a:gradFill rotWithShape="1">
            <a:gsLst>
              <a:gs pos="0">
                <a:srgbClr val="7F7F7F"/>
              </a:gs>
              <a:gs pos="100000">
                <a:srgbClr val="FFFFFF"/>
              </a:gs>
            </a:gsLst>
            <a:lin ang="27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Croatia</a:t>
            </a:r>
          </a:p>
        </p:txBody>
      </p:sp>
      <p:sp>
        <p:nvSpPr>
          <p:cNvPr id="291850" name="Text Box 10"/>
          <p:cNvSpPr txBox="1">
            <a:spLocks noChangeArrowheads="1"/>
          </p:cNvSpPr>
          <p:nvPr/>
        </p:nvSpPr>
        <p:spPr bwMode="auto">
          <a:xfrm>
            <a:off x="4716463" y="5445125"/>
            <a:ext cx="984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belongs</a:t>
            </a:r>
          </a:p>
          <a:p>
            <a:pPr algn="ctr"/>
            <a:r>
              <a:rPr lang="en-US"/>
              <a:t>to</a:t>
            </a:r>
          </a:p>
        </p:txBody>
      </p:sp>
      <p:sp>
        <p:nvSpPr>
          <p:cNvPr id="291851" name="Text Box 11"/>
          <p:cNvSpPr txBox="1">
            <a:spLocks noChangeArrowheads="1"/>
          </p:cNvSpPr>
          <p:nvPr/>
        </p:nvSpPr>
        <p:spPr bwMode="auto">
          <a:xfrm>
            <a:off x="2767013" y="54451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area</a:t>
            </a:r>
          </a:p>
        </p:txBody>
      </p:sp>
      <p:sp>
        <p:nvSpPr>
          <p:cNvPr id="291852" name="Rectangle 12"/>
          <p:cNvSpPr>
            <a:spLocks noChangeArrowheads="1"/>
          </p:cNvSpPr>
          <p:nvPr/>
        </p:nvSpPr>
        <p:spPr bwMode="auto">
          <a:xfrm>
            <a:off x="1331913" y="5518150"/>
            <a:ext cx="1223962" cy="431800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396 km²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9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9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9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2" grpId="0"/>
      <p:bldP spid="291842" grpId="1"/>
      <p:bldP spid="291853" grpId="0" animBg="1"/>
      <p:bldP spid="291843" grpId="0"/>
      <p:bldP spid="291844" grpId="0" animBg="1"/>
      <p:bldP spid="291845" grpId="0" animBg="1"/>
      <p:bldP spid="291848" grpId="0" animBg="1"/>
      <p:bldP spid="291849" grpId="0" animBg="1"/>
      <p:bldP spid="291850" grpId="0"/>
      <p:bldP spid="291851" grpId="0"/>
      <p:bldP spid="29185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900" y="2636838"/>
            <a:ext cx="7989888" cy="1439862"/>
          </a:xfrm>
          <a:noFill/>
          <a:ln/>
        </p:spPr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de-DE" sz="3600">
                <a:latin typeface="Courier New" charset="0"/>
              </a:rPr>
              <a:t>Karlsruhe is a city in</a:t>
            </a:r>
          </a:p>
        </p:txBody>
      </p:sp>
      <p:sp>
        <p:nvSpPr>
          <p:cNvPr id="560133" name="Rectangle 3"/>
          <p:cNvSpPr>
            <a:spLocks noChangeArrowheads="1"/>
          </p:cNvSpPr>
          <p:nvPr/>
        </p:nvSpPr>
        <p:spPr bwMode="auto">
          <a:xfrm>
            <a:off x="468313" y="3284538"/>
            <a:ext cx="4608512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Wingdings" charset="2"/>
              <a:buNone/>
            </a:pPr>
            <a:r>
              <a:rPr lang="de-DE" sz="3600">
                <a:latin typeface="Courier New" charset="0"/>
              </a:rPr>
              <a:t>[[Germany]].</a:t>
            </a:r>
          </a:p>
        </p:txBody>
      </p:sp>
      <p:sp>
        <p:nvSpPr>
          <p:cNvPr id="560135" name="Rectangle 7"/>
          <p:cNvSpPr>
            <a:spLocks noChangeArrowheads="1"/>
          </p:cNvSpPr>
          <p:nvPr/>
        </p:nvSpPr>
        <p:spPr bwMode="auto">
          <a:xfrm>
            <a:off x="468313" y="3284538"/>
            <a:ext cx="3959225" cy="1225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0134" name="Rectangle 3"/>
          <p:cNvSpPr>
            <a:spLocks noChangeArrowheads="1"/>
          </p:cNvSpPr>
          <p:nvPr/>
        </p:nvSpPr>
        <p:spPr bwMode="auto">
          <a:xfrm>
            <a:off x="468313" y="3284538"/>
            <a:ext cx="8424862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Wingdings" charset="2"/>
              <a:buNone/>
            </a:pPr>
            <a:r>
              <a:rPr lang="de-DE" sz="3600">
                <a:latin typeface="Courier New" charset="0"/>
              </a:rPr>
              <a:t>[[</a:t>
            </a:r>
            <a:r>
              <a:rPr lang="de-DE" sz="3600">
                <a:solidFill>
                  <a:schemeClr val="accent1"/>
                </a:solidFill>
                <a:latin typeface="Courier New" charset="0"/>
              </a:rPr>
              <a:t>Country::</a:t>
            </a:r>
            <a:r>
              <a:rPr lang="de-DE" sz="3600">
                <a:latin typeface="Courier New" charset="0"/>
              </a:rPr>
              <a:t>Germany]].</a:t>
            </a:r>
          </a:p>
        </p:txBody>
      </p:sp>
      <p:graphicFrame>
        <p:nvGraphicFramePr>
          <p:cNvPr id="560205" name="Group 77"/>
          <p:cNvGraphicFramePr>
            <a:graphicFrameLocks noGrp="1"/>
          </p:cNvGraphicFramePr>
          <p:nvPr/>
        </p:nvGraphicFramePr>
        <p:xfrm>
          <a:off x="611188" y="4797425"/>
          <a:ext cx="6985000" cy="2738440"/>
        </p:xfrm>
        <a:graphic>
          <a:graphicData uri="http://schemas.openxmlformats.org/drawingml/2006/table">
            <a:tbl>
              <a:tblPr/>
              <a:tblGrid>
                <a:gridCol w="2327275"/>
                <a:gridCol w="2330450"/>
                <a:gridCol w="2327275"/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Subject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Predicate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</a:rPr>
                        <a:t>Object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60207" name="Rectangle 3"/>
          <p:cNvSpPr>
            <a:spLocks noChangeArrowheads="1"/>
          </p:cNvSpPr>
          <p:nvPr/>
        </p:nvSpPr>
        <p:spPr bwMode="auto">
          <a:xfrm>
            <a:off x="381000" y="2592659"/>
            <a:ext cx="30956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Wingdings" charset="2"/>
              <a:buNone/>
            </a:pPr>
            <a:r>
              <a:rPr lang="de-DE" sz="3600" dirty="0">
                <a:latin typeface="Courier New" charset="0"/>
              </a:rPr>
              <a:t>Karlsruhe</a:t>
            </a:r>
          </a:p>
        </p:txBody>
      </p:sp>
      <p:sp>
        <p:nvSpPr>
          <p:cNvPr id="560208" name="Text Box 80"/>
          <p:cNvSpPr txBox="1">
            <a:spLocks noChangeArrowheads="1"/>
          </p:cNvSpPr>
          <p:nvPr/>
        </p:nvSpPr>
        <p:spPr bwMode="auto">
          <a:xfrm>
            <a:off x="611188" y="5391150"/>
            <a:ext cx="1363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</a:rPr>
              <a:t>Karlsruhe</a:t>
            </a:r>
          </a:p>
        </p:txBody>
      </p:sp>
      <p:sp>
        <p:nvSpPr>
          <p:cNvPr id="560209" name="Rectangle 3"/>
          <p:cNvSpPr>
            <a:spLocks noChangeArrowheads="1"/>
          </p:cNvSpPr>
          <p:nvPr/>
        </p:nvSpPr>
        <p:spPr bwMode="auto">
          <a:xfrm>
            <a:off x="3492500" y="3284538"/>
            <a:ext cx="30956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Wingdings" charset="2"/>
              <a:buNone/>
            </a:pPr>
            <a:r>
              <a:rPr lang="de-DE" sz="3600">
                <a:latin typeface="Courier New" charset="0"/>
              </a:rPr>
              <a:t>Germany</a:t>
            </a:r>
          </a:p>
        </p:txBody>
      </p:sp>
      <p:sp>
        <p:nvSpPr>
          <p:cNvPr id="560210" name="Text Box 82"/>
          <p:cNvSpPr txBox="1">
            <a:spLocks noChangeArrowheads="1"/>
          </p:cNvSpPr>
          <p:nvPr/>
        </p:nvSpPr>
        <p:spPr bwMode="auto">
          <a:xfrm>
            <a:off x="5273675" y="5397500"/>
            <a:ext cx="1322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</a:rPr>
              <a:t>Germany</a:t>
            </a:r>
          </a:p>
        </p:txBody>
      </p:sp>
      <p:sp>
        <p:nvSpPr>
          <p:cNvPr id="560211" name="Rectangle 3"/>
          <p:cNvSpPr>
            <a:spLocks noChangeArrowheads="1"/>
          </p:cNvSpPr>
          <p:nvPr/>
        </p:nvSpPr>
        <p:spPr bwMode="auto">
          <a:xfrm>
            <a:off x="1023938" y="3284538"/>
            <a:ext cx="30956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Font typeface="Wingdings" charset="2"/>
              <a:buNone/>
            </a:pPr>
            <a:r>
              <a:rPr lang="de-DE" sz="3600">
                <a:solidFill>
                  <a:schemeClr val="accent1"/>
                </a:solidFill>
                <a:latin typeface="Courier New" charset="0"/>
              </a:rPr>
              <a:t>Country</a:t>
            </a:r>
          </a:p>
        </p:txBody>
      </p:sp>
      <p:sp>
        <p:nvSpPr>
          <p:cNvPr id="560212" name="Text Box 84"/>
          <p:cNvSpPr txBox="1">
            <a:spLocks noChangeArrowheads="1"/>
          </p:cNvSpPr>
          <p:nvPr/>
        </p:nvSpPr>
        <p:spPr bwMode="auto">
          <a:xfrm>
            <a:off x="2938463" y="5392738"/>
            <a:ext cx="1173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</a:rPr>
              <a:t>Country</a:t>
            </a:r>
          </a:p>
        </p:txBody>
      </p:sp>
      <p:sp>
        <p:nvSpPr>
          <p:cNvPr id="560213" name="Text Box 85"/>
          <p:cNvSpPr txBox="1">
            <a:spLocks noChangeArrowheads="1"/>
          </p:cNvSpPr>
          <p:nvPr/>
        </p:nvSpPr>
        <p:spPr bwMode="auto">
          <a:xfrm>
            <a:off x="620713" y="5918200"/>
            <a:ext cx="1363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</a:rPr>
              <a:t>Karlsruhe</a:t>
            </a:r>
          </a:p>
        </p:txBody>
      </p:sp>
      <p:sp>
        <p:nvSpPr>
          <p:cNvPr id="560214" name="Text Box 86"/>
          <p:cNvSpPr txBox="1">
            <a:spLocks noChangeArrowheads="1"/>
          </p:cNvSpPr>
          <p:nvPr/>
        </p:nvSpPr>
        <p:spPr bwMode="auto">
          <a:xfrm>
            <a:off x="5283200" y="5924550"/>
            <a:ext cx="1863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</a:rPr>
              <a:t>Heinz Fenrich</a:t>
            </a:r>
          </a:p>
        </p:txBody>
      </p:sp>
      <p:sp>
        <p:nvSpPr>
          <p:cNvPr id="560215" name="Text Box 87"/>
          <p:cNvSpPr txBox="1">
            <a:spLocks noChangeArrowheads="1"/>
          </p:cNvSpPr>
          <p:nvPr/>
        </p:nvSpPr>
        <p:spPr bwMode="auto">
          <a:xfrm>
            <a:off x="2947988" y="5919788"/>
            <a:ext cx="995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</a:rPr>
              <a:t>Mayor</a:t>
            </a:r>
          </a:p>
        </p:txBody>
      </p:sp>
      <p:sp>
        <p:nvSpPr>
          <p:cNvPr id="560216" name="Text Box 88"/>
          <p:cNvSpPr txBox="1">
            <a:spLocks noChangeArrowheads="1"/>
          </p:cNvSpPr>
          <p:nvPr/>
        </p:nvSpPr>
        <p:spPr bwMode="auto">
          <a:xfrm>
            <a:off x="673100" y="6453188"/>
            <a:ext cx="1863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</a:rPr>
              <a:t>Heinz Fenrich</a:t>
            </a:r>
          </a:p>
        </p:txBody>
      </p:sp>
      <p:sp>
        <p:nvSpPr>
          <p:cNvPr id="560217" name="Text Box 89"/>
          <p:cNvSpPr txBox="1">
            <a:spLocks noChangeArrowheads="1"/>
          </p:cNvSpPr>
          <p:nvPr/>
        </p:nvSpPr>
        <p:spPr bwMode="auto">
          <a:xfrm>
            <a:off x="5335588" y="6459538"/>
            <a:ext cx="81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</a:rPr>
              <a:t>Male</a:t>
            </a:r>
          </a:p>
        </p:txBody>
      </p:sp>
      <p:sp>
        <p:nvSpPr>
          <p:cNvPr id="560218" name="Text Box 90"/>
          <p:cNvSpPr txBox="1">
            <a:spLocks noChangeArrowheads="1"/>
          </p:cNvSpPr>
          <p:nvPr/>
        </p:nvSpPr>
        <p:spPr bwMode="auto">
          <a:xfrm>
            <a:off x="3000375" y="6454775"/>
            <a:ext cx="1108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</a:rPr>
              <a:t>Gender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6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1000"/>
                                        <p:tgtEl>
                                          <p:spTgt spid="560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0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0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74971E-6 L 3.88889E-6 0.3988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602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560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6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2.65325E-6 L 0.20868 0.29378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560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1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560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6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65325E-6 L 0.22448 0.28337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602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" y="1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560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6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6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6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6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6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6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6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3" grpId="0"/>
      <p:bldP spid="560135" grpId="0" animBg="1"/>
      <p:bldP spid="560134" grpId="0"/>
      <p:bldP spid="560207" grpId="0"/>
      <p:bldP spid="560207" grpId="1"/>
      <p:bldP spid="560208" grpId="0"/>
      <p:bldP spid="560209" grpId="0"/>
      <p:bldP spid="560209" grpId="1"/>
      <p:bldP spid="560209" grpId="2"/>
      <p:bldP spid="560210" grpId="0"/>
      <p:bldP spid="560211" grpId="0"/>
      <p:bldP spid="560211" grpId="1"/>
      <p:bldP spid="560211" grpId="2"/>
      <p:bldP spid="560212" grpId="0"/>
      <p:bldP spid="560213" grpId="0"/>
      <p:bldP spid="560214" grpId="0"/>
      <p:bldP spid="560215" grpId="0"/>
      <p:bldP spid="560216" grpId="0"/>
      <p:bldP spid="560217" grpId="0"/>
      <p:bldP spid="5602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Annotating with templates</a:t>
            </a:r>
            <a:endParaRPr lang="en-US" dirty="0"/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989138"/>
            <a:ext cx="7129462" cy="3741737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{</a:t>
            </a:r>
            <a:r>
              <a:rPr lang="en-US" sz="3600" dirty="0" smtClean="0">
                <a:latin typeface="Courier New" charset="0"/>
              </a:rPr>
              <a:t>{City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 smtClean="0">
                <a:latin typeface="Courier New" charset="0"/>
              </a:rPr>
              <a:t>|Mayor=Heinz </a:t>
            </a:r>
            <a:r>
              <a:rPr lang="en-US" sz="3600" dirty="0" err="1" smtClean="0">
                <a:latin typeface="Courier New" charset="0"/>
              </a:rPr>
              <a:t>Fenrich</a:t>
            </a:r>
            <a:endParaRPr lang="en-US" sz="3600" dirty="0" smtClean="0">
              <a:latin typeface="Courier New" charset="0"/>
            </a:endParaRP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 smtClean="0">
                <a:latin typeface="Courier New" charset="0"/>
              </a:rPr>
              <a:t>|Population=285812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 smtClean="0">
                <a:latin typeface="Courier New" charset="0"/>
              </a:rPr>
              <a:t>|Country=Germany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 smtClean="0">
                <a:latin typeface="Courier New" charset="0"/>
              </a:rPr>
              <a:t>}</a:t>
            </a:r>
            <a:r>
              <a:rPr lang="en-US" sz="3600" dirty="0">
                <a:latin typeface="Courier New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43F0B056-CE1D-F345-8F0A-290B9E327D29}" type="slidenum">
              <a:rPr lang="de-DE"/>
              <a:pPr/>
              <a:t>46</a:t>
            </a:fld>
            <a:endParaRPr lang="de-DE"/>
          </a:p>
        </p:txBody>
      </p:sp>
      <p:sp>
        <p:nvSpPr>
          <p:cNvPr id="1240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 MediaWiki</a:t>
            </a:r>
          </a:p>
        </p:txBody>
      </p:sp>
      <p:sp>
        <p:nvSpPr>
          <p:cNvPr id="1240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575" y="1371600"/>
            <a:ext cx="8813800" cy="4911725"/>
          </a:xfrm>
        </p:spPr>
        <p:txBody>
          <a:bodyPr/>
          <a:lstStyle/>
          <a:p>
            <a:r>
              <a:rPr lang="en-US" sz="2000" dirty="0"/>
              <a:t>Extension of </a:t>
            </a:r>
            <a:r>
              <a:rPr lang="en-US" sz="2000" b="1" dirty="0" err="1"/>
              <a:t>MediaWiki</a:t>
            </a:r>
            <a:endParaRPr lang="en-US" sz="2000" b="1" dirty="0"/>
          </a:p>
          <a:p>
            <a:pPr lvl="1"/>
            <a:r>
              <a:rPr lang="en-US" sz="1800" dirty="0"/>
              <a:t>Popular Wiki engine</a:t>
            </a:r>
          </a:p>
          <a:p>
            <a:pPr lvl="1"/>
            <a:r>
              <a:rPr lang="en-US" sz="1800" dirty="0"/>
              <a:t>Powers Wikipedia</a:t>
            </a:r>
          </a:p>
          <a:p>
            <a:r>
              <a:rPr lang="en-US" sz="2000" b="1" dirty="0"/>
              <a:t>Wikis</a:t>
            </a:r>
            <a:r>
              <a:rPr lang="en-US" sz="2000" dirty="0"/>
              <a:t> are websites that </a:t>
            </a:r>
            <a:r>
              <a:rPr lang="en-US" sz="2000" dirty="0" smtClean="0"/>
              <a:t>anyone</a:t>
            </a:r>
          </a:p>
          <a:p>
            <a:pPr>
              <a:buNone/>
            </a:pPr>
            <a:r>
              <a:rPr lang="en-US" sz="2000" dirty="0" smtClean="0"/>
              <a:t>	 </a:t>
            </a:r>
            <a:r>
              <a:rPr lang="en-US" sz="2000" dirty="0"/>
              <a:t>can edit</a:t>
            </a:r>
          </a:p>
          <a:p>
            <a:pPr lvl="1"/>
            <a:r>
              <a:rPr lang="en-US" sz="1800" dirty="0"/>
              <a:t>Easy to use</a:t>
            </a:r>
          </a:p>
          <a:p>
            <a:r>
              <a:rPr lang="en-US" sz="2000" dirty="0"/>
              <a:t>Extends </a:t>
            </a:r>
            <a:r>
              <a:rPr lang="en-US" sz="2000" dirty="0" err="1"/>
              <a:t>MediaWiki</a:t>
            </a:r>
            <a:r>
              <a:rPr lang="en-US" sz="2000" dirty="0"/>
              <a:t> by enabling…</a:t>
            </a:r>
          </a:p>
          <a:p>
            <a:pPr lvl="1"/>
            <a:r>
              <a:rPr lang="en-US" sz="1800" dirty="0"/>
              <a:t>Typed links</a:t>
            </a:r>
          </a:p>
          <a:p>
            <a:pPr lvl="1"/>
            <a:r>
              <a:rPr lang="en-US" sz="1800" dirty="0"/>
              <a:t>Property – Value</a:t>
            </a:r>
          </a:p>
          <a:p>
            <a:pPr lvl="1"/>
            <a:r>
              <a:rPr lang="en-US" sz="1800" dirty="0"/>
              <a:t>Inline queries</a:t>
            </a:r>
          </a:p>
          <a:p>
            <a:pPr lvl="1"/>
            <a:r>
              <a:rPr lang="en-US" sz="1800" dirty="0"/>
              <a:t>New ways to explore the content</a:t>
            </a:r>
          </a:p>
          <a:p>
            <a:r>
              <a:rPr lang="en-US" sz="2000" dirty="0"/>
              <a:t>Open source and well documented</a:t>
            </a:r>
          </a:p>
          <a:p>
            <a:r>
              <a:rPr lang="en-US" sz="2000" dirty="0"/>
              <a:t>We will learn how to use </a:t>
            </a:r>
            <a:r>
              <a:rPr lang="en-US" sz="2000" b="1" dirty="0"/>
              <a:t>Semantic </a:t>
            </a:r>
            <a:r>
              <a:rPr lang="en-US" sz="2000" b="1" dirty="0" err="1"/>
              <a:t>MediaWiki</a:t>
            </a:r>
            <a:r>
              <a:rPr lang="en-US" sz="2000" dirty="0"/>
              <a:t> (SMW)</a:t>
            </a:r>
          </a:p>
        </p:txBody>
      </p:sp>
      <p:pic>
        <p:nvPicPr>
          <p:cNvPr id="6" name="Bild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108364"/>
            <a:ext cx="3616036" cy="361603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68313" y="6572250"/>
            <a:ext cx="3541712" cy="217488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GB" sz="700" b="0"/>
              <a:t>Slide </a:t>
            </a:r>
            <a:fld id="{6BB05E3E-40FE-3943-929C-89BAAA48B09C}" type="slidenum">
              <a:rPr lang="en-GB" sz="700" b="0"/>
              <a:pPr algn="l"/>
              <a:t>47</a:t>
            </a:fld>
            <a:endParaRPr lang="en-GB" sz="700" b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semantic markup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198563"/>
            <a:ext cx="7989887" cy="4894262"/>
          </a:xfrm>
        </p:spPr>
        <p:txBody>
          <a:bodyPr/>
          <a:lstStyle/>
          <a:p>
            <a:r>
              <a:rPr lang="en-US" sz="2400" dirty="0"/>
              <a:t>To add a page P to category C type [[</a:t>
            </a:r>
            <a:r>
              <a:rPr lang="en-US" sz="2400" dirty="0" err="1"/>
              <a:t>Category:C</a:t>
            </a:r>
            <a:r>
              <a:rPr lang="en-US" sz="2400" dirty="0"/>
              <a:t>]] on page P</a:t>
            </a:r>
          </a:p>
          <a:p>
            <a:r>
              <a:rPr lang="en-US" sz="2400" dirty="0"/>
              <a:t>To make a typed link of type R from page P1 to page P2 type [[R::P2]] on page P1</a:t>
            </a:r>
          </a:p>
          <a:p>
            <a:r>
              <a:rPr lang="en-US" sz="2400" dirty="0"/>
              <a:t>To state the value V of an attribute A on page P type [[A::V]] on page P</a:t>
            </a:r>
          </a:p>
          <a:p>
            <a:r>
              <a:rPr lang="en-US" sz="2400" dirty="0"/>
              <a:t>Example:	</a:t>
            </a:r>
          </a:p>
        </p:txBody>
      </p:sp>
      <p:pic>
        <p:nvPicPr>
          <p:cNvPr id="5632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0988" y="4210050"/>
            <a:ext cx="8863012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values and types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5575" y="1128713"/>
            <a:ext cx="8385175" cy="2208212"/>
          </a:xfrm>
        </p:spPr>
        <p:txBody>
          <a:bodyPr/>
          <a:lstStyle/>
          <a:p>
            <a:pPr marL="457200" indent="-457200"/>
            <a:r>
              <a:rPr lang="en-US" sz="2200" dirty="0"/>
              <a:t>Attributes like [[</a:t>
            </a:r>
            <a:r>
              <a:rPr lang="en-US" sz="2200" dirty="0" err="1"/>
              <a:t>birthdate::February</a:t>
            </a:r>
            <a:r>
              <a:rPr lang="en-US" sz="2200" dirty="0"/>
              <a:t> 27 1978]] or [[population::3,635,389]] must know the </a:t>
            </a:r>
            <a:r>
              <a:rPr lang="en-US" sz="2200" b="1" i="1" dirty="0"/>
              <a:t>type</a:t>
            </a:r>
            <a:r>
              <a:rPr lang="en-US" sz="2200" dirty="0"/>
              <a:t> of the value</a:t>
            </a:r>
          </a:p>
          <a:p>
            <a:pPr marL="457200" indent="-457200"/>
            <a:r>
              <a:rPr lang="en-US" sz="2200" dirty="0"/>
              <a:t>This is done by adding [[has </a:t>
            </a:r>
            <a:r>
              <a:rPr lang="en-US" sz="2200" dirty="0" err="1"/>
              <a:t>type::T</a:t>
            </a:r>
            <a:r>
              <a:rPr lang="en-US" sz="2200" dirty="0"/>
              <a:t>]] on the page of the attribute</a:t>
            </a:r>
          </a:p>
          <a:p>
            <a:pPr marL="457200" indent="-457200"/>
            <a:r>
              <a:rPr lang="en-US" sz="2200" dirty="0"/>
              <a:t>Available, predefined types:</a:t>
            </a:r>
          </a:p>
        </p:txBody>
      </p:sp>
      <p:sp>
        <p:nvSpPr>
          <p:cNvPr id="5734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93713" y="3206750"/>
            <a:ext cx="4330700" cy="3219450"/>
          </a:xfrm>
        </p:spPr>
        <p:txBody>
          <a:bodyPr/>
          <a:lstStyle/>
          <a:p>
            <a:r>
              <a:rPr lang="de-DE" sz="2200" dirty="0" smtClean="0"/>
              <a:t>Page</a:t>
            </a:r>
          </a:p>
          <a:p>
            <a:r>
              <a:rPr lang="de-DE" sz="2200" dirty="0" smtClean="0"/>
              <a:t>String</a:t>
            </a:r>
          </a:p>
          <a:p>
            <a:r>
              <a:rPr lang="de-DE" sz="2200" dirty="0" err="1" smtClean="0"/>
              <a:t>Number</a:t>
            </a:r>
            <a:endParaRPr lang="de-DE" sz="2200" dirty="0" smtClean="0"/>
          </a:p>
          <a:p>
            <a:r>
              <a:rPr lang="de-DE" sz="2200" dirty="0" err="1" smtClean="0"/>
              <a:t>Boolean</a:t>
            </a:r>
            <a:endParaRPr lang="de-DE" sz="2200" dirty="0" smtClean="0"/>
          </a:p>
          <a:p>
            <a:r>
              <a:rPr lang="de-DE" sz="2200" dirty="0" smtClean="0"/>
              <a:t>Date</a:t>
            </a:r>
          </a:p>
          <a:p>
            <a:r>
              <a:rPr lang="de-DE" sz="2200" dirty="0" smtClean="0"/>
              <a:t>Text</a:t>
            </a:r>
          </a:p>
          <a:p>
            <a:r>
              <a:rPr lang="de-DE" sz="2200" dirty="0" smtClean="0"/>
              <a:t>Code</a:t>
            </a:r>
          </a:p>
          <a:p>
            <a:r>
              <a:rPr lang="de-DE" sz="2200" dirty="0" err="1" smtClean="0"/>
              <a:t>Temperature</a:t>
            </a:r>
            <a:endParaRPr lang="de-DE" sz="2200" dirty="0"/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4572000" y="3124200"/>
            <a:ext cx="457200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Tx/>
              <a:buBlip>
                <a:blip r:embed="rId3"/>
              </a:buBlip>
              <a:tabLst/>
              <a:defRPr/>
            </a:pPr>
            <a:r>
              <a:rPr kumimoji="0" lang="de-DE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Telephone </a:t>
            </a:r>
            <a:r>
              <a:rPr kumimoji="0" lang="de-DE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number</a:t>
            </a:r>
            <a:endParaRPr kumimoji="0" lang="de-DE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Tx/>
              <a:buBlip>
                <a:blip r:embed="rId3"/>
              </a:buBlip>
              <a:tabLst/>
              <a:defRPr/>
            </a:pPr>
            <a:r>
              <a:rPr lang="de-DE" sz="2200" kern="0" dirty="0" err="1" smtClean="0">
                <a:latin typeface="+mn-lt"/>
              </a:rPr>
              <a:t>Record</a:t>
            </a:r>
            <a:endParaRPr kumimoji="0" lang="de-DE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Tx/>
              <a:buBlip>
                <a:blip r:embed="rId3"/>
              </a:buBlip>
              <a:tabLst/>
              <a:defRPr/>
            </a:pPr>
            <a:r>
              <a:rPr kumimoji="0" lang="de-DE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URL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Tx/>
              <a:buBlip>
                <a:blip r:embed="rId3"/>
              </a:buBlip>
              <a:tabLst/>
              <a:defRPr/>
            </a:pPr>
            <a:r>
              <a:rPr lang="de-DE" sz="2200" kern="0" dirty="0" smtClean="0">
                <a:latin typeface="+mn-lt"/>
              </a:rPr>
              <a:t>Email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Tx/>
              <a:buBlip>
                <a:blip r:embed="rId3"/>
              </a:buBlip>
              <a:tabLst/>
              <a:defRPr/>
            </a:pPr>
            <a:r>
              <a:rPr kumimoji="0" lang="de-DE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Annotation</a:t>
            </a:r>
            <a:r>
              <a:rPr kumimoji="0" lang="de-DE" sz="22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URI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Tx/>
              <a:buBlip>
                <a:blip r:embed="rId3"/>
              </a:buBlip>
              <a:tabLst/>
              <a:defRPr/>
            </a:pPr>
            <a:r>
              <a:rPr lang="de-DE" sz="2200" kern="0" baseline="0" dirty="0" err="1" smtClean="0">
                <a:latin typeface="+mn-lt"/>
              </a:rPr>
              <a:t>Geographic</a:t>
            </a:r>
            <a:r>
              <a:rPr lang="de-DE" sz="2200" kern="0" dirty="0" smtClean="0">
                <a:latin typeface="+mn-lt"/>
              </a:rPr>
              <a:t> </a:t>
            </a:r>
            <a:r>
              <a:rPr lang="de-DE" sz="2200" kern="0" dirty="0" err="1" smtClean="0">
                <a:latin typeface="+mn-lt"/>
              </a:rPr>
              <a:t>coordinate</a:t>
            </a:r>
            <a:r>
              <a:rPr lang="de-DE" sz="2200" kern="0" dirty="0" smtClean="0">
                <a:latin typeface="+mn-lt"/>
              </a:rPr>
              <a:t> (S </a:t>
            </a:r>
            <a:r>
              <a:rPr lang="de-DE" sz="2200" kern="0" dirty="0" err="1" smtClean="0">
                <a:latin typeface="+mn-lt"/>
              </a:rPr>
              <a:t>Maps</a:t>
            </a:r>
            <a:r>
              <a:rPr lang="de-DE" sz="2200" kern="0" dirty="0" smtClean="0">
                <a:latin typeface="+mn-lt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Tx/>
              <a:buBlip>
                <a:blip r:embed="rId3"/>
              </a:buBlip>
              <a:tabLst/>
              <a:defRPr/>
            </a:pPr>
            <a:r>
              <a:rPr kumimoji="0" lang="de-DE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Enumeration</a:t>
            </a:r>
            <a:endParaRPr kumimoji="0" lang="de-DE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Tx/>
              <a:buBlip>
                <a:blip r:embed="rId3"/>
              </a:buBlip>
              <a:tabLst/>
              <a:defRPr/>
            </a:pPr>
            <a:r>
              <a:rPr lang="de-DE" sz="2200" kern="0" dirty="0" err="1" smtClean="0">
                <a:latin typeface="+mn-lt"/>
              </a:rPr>
              <a:t>Custom</a:t>
            </a:r>
            <a:r>
              <a:rPr lang="de-DE" sz="2200" kern="0" dirty="0" smtClean="0">
                <a:latin typeface="+mn-lt"/>
              </a:rPr>
              <a:t> </a:t>
            </a:r>
            <a:r>
              <a:rPr lang="de-DE" sz="2200" kern="0" dirty="0" err="1" smtClean="0">
                <a:latin typeface="+mn-lt"/>
              </a:rPr>
              <a:t>units</a:t>
            </a:r>
            <a:endParaRPr kumimoji="0" lang="de-DE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your own information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0175" y="1128713"/>
            <a:ext cx="8782050" cy="957262"/>
          </a:xfrm>
        </p:spPr>
        <p:txBody>
          <a:bodyPr/>
          <a:lstStyle/>
          <a:p>
            <a:r>
              <a:rPr lang="en-US" sz="2200"/>
              <a:t>Now add information about yourself</a:t>
            </a:r>
          </a:p>
          <a:p>
            <a:r>
              <a:rPr lang="en-US" sz="2200"/>
              <a:t>For example: nationality, affiliation, age, birthday, hair color, likes…</a:t>
            </a: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127000" y="2151063"/>
            <a:ext cx="2513013" cy="4249737"/>
          </a:xfrm>
        </p:spPr>
        <p:txBody>
          <a:bodyPr/>
          <a:lstStyle/>
          <a:p>
            <a:r>
              <a:rPr lang="en-US" sz="2200"/>
              <a:t>Save or preview to see if and how the information has been understood</a:t>
            </a:r>
          </a:p>
          <a:p>
            <a:r>
              <a:rPr lang="en-US" sz="2200"/>
              <a:t>Blue links mean there is a page about it</a:t>
            </a:r>
          </a:p>
          <a:p>
            <a:r>
              <a:rPr lang="en-US" sz="2200"/>
              <a:t>Red link means there is no page about it</a:t>
            </a:r>
          </a:p>
        </p:txBody>
      </p:sp>
      <p:pic>
        <p:nvPicPr>
          <p:cNvPr id="5837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6363" y="2454275"/>
            <a:ext cx="6497637" cy="440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5" name="Line 6"/>
          <p:cNvSpPr>
            <a:spLocks noChangeShapeType="1"/>
          </p:cNvSpPr>
          <p:nvPr/>
        </p:nvSpPr>
        <p:spPr bwMode="auto">
          <a:xfrm flipV="1">
            <a:off x="2490788" y="5197475"/>
            <a:ext cx="901700" cy="541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376" name="Line 7"/>
          <p:cNvSpPr>
            <a:spLocks noChangeShapeType="1"/>
          </p:cNvSpPr>
          <p:nvPr/>
        </p:nvSpPr>
        <p:spPr bwMode="auto">
          <a:xfrm>
            <a:off x="2466975" y="4487863"/>
            <a:ext cx="974725" cy="300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2FFCD1E0-F69E-E84C-BB3E-278741A4F72D}" type="slidenum">
              <a:rPr lang="de-DE"/>
              <a:pPr/>
              <a:t>50</a:t>
            </a:fld>
            <a:endParaRPr lang="de-DE"/>
          </a:p>
        </p:txBody>
      </p:sp>
      <p:pic>
        <p:nvPicPr>
          <p:cNvPr id="128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951038"/>
            <a:ext cx="7248525" cy="4906962"/>
          </a:xfrm>
          <a:prstGeom prst="rect">
            <a:avLst/>
          </a:prstGeom>
          <a:noFill/>
        </p:spPr>
      </p:pic>
      <p:sp>
        <p:nvSpPr>
          <p:cNvPr id="1283079" name="Rectangle 7"/>
          <p:cNvSpPr>
            <a:spLocks noChangeArrowheads="1"/>
          </p:cNvSpPr>
          <p:nvPr/>
        </p:nvSpPr>
        <p:spPr bwMode="auto">
          <a:xfrm>
            <a:off x="5075238" y="1787525"/>
            <a:ext cx="2311400" cy="31908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 Forms</a:t>
            </a:r>
          </a:p>
        </p:txBody>
      </p:sp>
      <p:sp>
        <p:nvSpPr>
          <p:cNvPr id="128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990600"/>
            <a:ext cx="7661275" cy="4114800"/>
          </a:xfrm>
        </p:spPr>
        <p:txBody>
          <a:bodyPr/>
          <a:lstStyle/>
          <a:p>
            <a:r>
              <a:rPr lang="en-US" sz="2800" dirty="0"/>
              <a:t>Example from </a:t>
            </a:r>
            <a:r>
              <a:rPr lang="en-US" sz="2800" dirty="0">
                <a:hlinkClick r:id="rId4"/>
              </a:rPr>
              <a:t>http://www.chickipedia.com</a:t>
            </a:r>
            <a:r>
              <a:rPr lang="en-US" sz="2800" dirty="0"/>
              <a:t> </a:t>
            </a:r>
          </a:p>
          <a:p>
            <a:r>
              <a:rPr lang="en-US" sz="2800" dirty="0"/>
              <a:t>Semantic Forms</a:t>
            </a:r>
            <a:r>
              <a:rPr lang="en-US" sz="2800" dirty="0" smtClean="0"/>
              <a:t> [[</a:t>
            </a:r>
            <a:r>
              <a:rPr lang="en-US" sz="2800" dirty="0" err="1" smtClean="0"/>
              <a:t>developer</a:t>
            </a:r>
            <a:r>
              <a:rPr lang="en-US" sz="2800" dirty="0" err="1"/>
              <a:t>::Yaron</a:t>
            </a:r>
            <a:r>
              <a:rPr lang="en-US" sz="2800" dirty="0"/>
              <a:t> </a:t>
            </a:r>
            <a:r>
              <a:rPr lang="en-US" sz="2800" dirty="0" err="1" smtClean="0"/>
              <a:t>Koren</a:t>
            </a:r>
            <a:r>
              <a:rPr lang="en-US" sz="2800" dirty="0" smtClean="0"/>
              <a:t>]]</a:t>
            </a:r>
            <a:endParaRPr lang="en-US" sz="2800" dirty="0"/>
          </a:p>
        </p:txBody>
      </p:sp>
      <p:sp>
        <p:nvSpPr>
          <p:cNvPr id="1283078" name="Text Box 6"/>
          <p:cNvSpPr txBox="1">
            <a:spLocks noChangeArrowheads="1"/>
          </p:cNvSpPr>
          <p:nvPr/>
        </p:nvSpPr>
        <p:spPr bwMode="auto">
          <a:xfrm>
            <a:off x="7018338" y="2741613"/>
            <a:ext cx="2097087" cy="3022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Forms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can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make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the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wiki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look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like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a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database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application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,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but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remain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still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much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</a:t>
            </a:r>
            <a:r>
              <a:rPr lang="de-DE" sz="2400" dirty="0" err="1">
                <a:latin typeface="+mn-lt"/>
                <a:ea typeface="Osaka" pitchFamily="-1" charset="-128"/>
                <a:cs typeface="Osaka" pitchFamily="-1" charset="-128"/>
              </a:rPr>
              <a:t>more</a:t>
            </a:r>
            <a:r>
              <a:rPr lang="de-DE" sz="2400" dirty="0">
                <a:latin typeface="+mn-lt"/>
                <a:ea typeface="Osaka" pitchFamily="-1" charset="-128"/>
                <a:cs typeface="Osaka" pitchFamily="-1" charset="-128"/>
              </a:rPr>
              <a:t> flexible.</a:t>
            </a:r>
            <a:endParaRPr lang="de-DE" u="sng" dirty="0">
              <a:latin typeface="+mn-lt"/>
              <a:ea typeface="Osaka" pitchFamily="-1" charset="-128"/>
              <a:cs typeface="Osaka" pitchFamily="-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Collaborative ontology engineering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071563"/>
            <a:ext cx="7989888" cy="4957762"/>
          </a:xfrm>
        </p:spPr>
        <p:txBody>
          <a:bodyPr/>
          <a:lstStyle/>
          <a:p>
            <a:r>
              <a:rPr lang="en-US"/>
              <a:t>There are pages describing categories and properties</a:t>
            </a:r>
          </a:p>
          <a:p>
            <a:r>
              <a:rPr lang="en-US"/>
              <a:t>Informal description</a:t>
            </a:r>
          </a:p>
          <a:p>
            <a:pPr lvl="1"/>
            <a:r>
              <a:rPr lang="en-US"/>
              <a:t>Can be discussed</a:t>
            </a:r>
          </a:p>
          <a:p>
            <a:pPr lvl="1"/>
            <a:r>
              <a:rPr lang="en-US"/>
              <a:t>Can be edited</a:t>
            </a:r>
          </a:p>
          <a:p>
            <a:endParaRPr lang="en-US"/>
          </a:p>
          <a:p>
            <a:r>
              <a:rPr lang="en-US"/>
              <a:t>Extensional descript.</a:t>
            </a:r>
          </a:p>
          <a:p>
            <a:pPr lvl="1"/>
            <a:r>
              <a:rPr lang="en-US"/>
              <a:t>List of all instances</a:t>
            </a:r>
          </a:p>
          <a:p>
            <a:pPr lvl="1"/>
            <a:r>
              <a:rPr lang="en-US"/>
              <a:t>But: only direct ones</a:t>
            </a:r>
          </a:p>
          <a:p>
            <a:pPr lvl="1"/>
            <a:endParaRPr lang="en-US"/>
          </a:p>
          <a:p>
            <a:r>
              <a:rPr lang="en-US"/>
              <a:t>Supercategories</a:t>
            </a:r>
          </a:p>
        </p:txBody>
      </p:sp>
      <p:pic>
        <p:nvPicPr>
          <p:cNvPr id="5939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2047875"/>
            <a:ext cx="5486400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8" name="Line 5"/>
          <p:cNvSpPr>
            <a:spLocks noChangeShapeType="1"/>
          </p:cNvSpPr>
          <p:nvPr/>
        </p:nvSpPr>
        <p:spPr bwMode="auto">
          <a:xfrm>
            <a:off x="3286125" y="6000750"/>
            <a:ext cx="720725" cy="242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399" name="Line 6"/>
          <p:cNvSpPr>
            <a:spLocks noChangeShapeType="1"/>
          </p:cNvSpPr>
          <p:nvPr/>
        </p:nvSpPr>
        <p:spPr bwMode="auto">
          <a:xfrm>
            <a:off x="3429000" y="4572000"/>
            <a:ext cx="5175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400" name="Line 7"/>
          <p:cNvSpPr>
            <a:spLocks noChangeShapeType="1"/>
          </p:cNvSpPr>
          <p:nvPr/>
        </p:nvSpPr>
        <p:spPr bwMode="auto">
          <a:xfrm flipV="1">
            <a:off x="3214688" y="2201863"/>
            <a:ext cx="1754187" cy="44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401" name="Line 8"/>
          <p:cNvSpPr>
            <a:spLocks noChangeShapeType="1"/>
          </p:cNvSpPr>
          <p:nvPr/>
        </p:nvSpPr>
        <p:spPr bwMode="auto">
          <a:xfrm>
            <a:off x="2786063" y="3071813"/>
            <a:ext cx="979487" cy="80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68313" y="6572250"/>
            <a:ext cx="3541712" cy="217488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GB" sz="700" b="0"/>
              <a:t>Slide </a:t>
            </a:r>
            <a:fld id="{E01E542D-B0C5-7B44-80CC-ACF5F299AF31}" type="slidenum">
              <a:rPr lang="en-GB" sz="700" b="0"/>
              <a:pPr algn="l"/>
              <a:t>52</a:t>
            </a:fld>
            <a:endParaRPr lang="en-GB" sz="700" b="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Social aspects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575" y="1141413"/>
            <a:ext cx="8702675" cy="3363912"/>
          </a:xfrm>
        </p:spPr>
        <p:txBody>
          <a:bodyPr/>
          <a:lstStyle/>
          <a:p>
            <a:r>
              <a:rPr lang="en-US"/>
              <a:t>Task: come up with a vocabulary and the relation between the vocabularies for the whole group, using the wiki</a:t>
            </a:r>
          </a:p>
          <a:p>
            <a:pPr lvl="1"/>
            <a:r>
              <a:rPr lang="en-US"/>
              <a:t>How to decide which properties and categories are important?</a:t>
            </a:r>
          </a:p>
          <a:p>
            <a:pPr lvl="1"/>
            <a:r>
              <a:rPr lang="en-US"/>
              <a:t>How to define the properties or categories?</a:t>
            </a:r>
          </a:p>
          <a:p>
            <a:pPr lvl="1"/>
            <a:r>
              <a:rPr lang="en-US"/>
              <a:t>How to ensure high quality data? What does it mean?</a:t>
            </a:r>
          </a:p>
          <a:p>
            <a:pPr lvl="1"/>
            <a:r>
              <a:rPr lang="en-US"/>
              <a:t>How to control the wiki knowledge base and its growth?</a:t>
            </a:r>
          </a:p>
          <a:p>
            <a:r>
              <a:rPr lang="en-US"/>
              <a:t>Browse the wiki to see the results and connections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Querying the knowledge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575" y="1128713"/>
            <a:ext cx="2906713" cy="51323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/>
              <a:t>Go to </a:t>
            </a:r>
            <a:r>
              <a:rPr lang="en-US" sz="2000" dirty="0" err="1"/>
              <a:t>Special:Ask</a:t>
            </a: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/>
              <a:t>Enter a query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Queries look like this: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Conditions on a category: [[</a:t>
            </a:r>
            <a:r>
              <a:rPr lang="en-US" sz="1800" dirty="0" err="1"/>
              <a:t>Category:X</a:t>
            </a:r>
            <a:r>
              <a:rPr lang="en-US" sz="1800" dirty="0"/>
              <a:t>]]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Conditions on a property: [[R::X]]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Property conditions can be ranges, [[R::&gt;X]], [[R::&lt;X]]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Property conditions: any value [[R::+]]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Print statements:</a:t>
            </a:r>
            <a:r>
              <a:rPr lang="en-US" sz="1800" dirty="0" smtClean="0"/>
              <a:t> ?R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Examples follow</a:t>
            </a:r>
          </a:p>
          <a:p>
            <a:pPr>
              <a:lnSpc>
                <a:spcPct val="80000"/>
              </a:lnSpc>
            </a:pPr>
            <a:r>
              <a:rPr lang="en-US" sz="2000" dirty="0"/>
              <a:t>See also online docs</a:t>
            </a:r>
          </a:p>
        </p:txBody>
      </p:sp>
      <p:pic>
        <p:nvPicPr>
          <p:cNvPr id="6144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50" y="998538"/>
            <a:ext cx="7694613" cy="608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 examples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[[population::&gt;1,000,000]] anything with a population of over a Million</a:t>
            </a:r>
          </a:p>
          <a:p>
            <a:r>
              <a:rPr lang="en-US" sz="2400" dirty="0"/>
              <a:t>[[located </a:t>
            </a:r>
            <a:r>
              <a:rPr lang="en-US" sz="2400" dirty="0" err="1"/>
              <a:t>in:</a:t>
            </a:r>
            <a:r>
              <a:rPr lang="en-US" sz="2400" dirty="0" err="1" smtClean="0"/>
              <a:t>:Korea</a:t>
            </a:r>
            <a:r>
              <a:rPr lang="en-US" sz="2400" dirty="0" smtClean="0"/>
              <a:t>]</a:t>
            </a:r>
            <a:r>
              <a:rPr lang="en-US" sz="2400" dirty="0"/>
              <a:t>] anything that is located in Korea</a:t>
            </a:r>
          </a:p>
          <a:p>
            <a:r>
              <a:rPr lang="en-US" sz="2400" dirty="0"/>
              <a:t>[[affiliation::+]] anything that has any stated affiliation</a:t>
            </a:r>
          </a:p>
          <a:p>
            <a:r>
              <a:rPr lang="en-US" sz="2400" dirty="0"/>
              <a:t>[[</a:t>
            </a:r>
            <a:r>
              <a:rPr lang="en-US" sz="2400" dirty="0" err="1"/>
              <a:t>Category:Tutor</a:t>
            </a:r>
            <a:r>
              <a:rPr lang="en-US" sz="2400" dirty="0"/>
              <a:t>]] all tutors</a:t>
            </a:r>
          </a:p>
          <a:p>
            <a:r>
              <a:rPr lang="en-US" sz="2400" dirty="0"/>
              <a:t>[[</a:t>
            </a:r>
            <a:r>
              <a:rPr lang="en-US" sz="2400" dirty="0" err="1"/>
              <a:t>Category:Tutor||Student</a:t>
            </a:r>
            <a:r>
              <a:rPr lang="en-US" sz="2400" dirty="0"/>
              <a:t>]] all tutors</a:t>
            </a:r>
            <a:r>
              <a:rPr lang="en-US" sz="2400" dirty="0" smtClean="0"/>
              <a:t> or students </a:t>
            </a:r>
            <a:r>
              <a:rPr lang="en-US" sz="2400" dirty="0"/>
              <a:t>(logical or)</a:t>
            </a:r>
          </a:p>
          <a:p>
            <a:r>
              <a:rPr lang="en-US" sz="2400" dirty="0"/>
              <a:t>[[</a:t>
            </a:r>
            <a:r>
              <a:rPr lang="en-US" sz="2400" dirty="0" err="1"/>
              <a:t>Category:Tutor</a:t>
            </a:r>
            <a:r>
              <a:rPr lang="en-US" sz="2400" dirty="0"/>
              <a:t>]] [[</a:t>
            </a:r>
            <a:r>
              <a:rPr lang="en-US" sz="2400" dirty="0" err="1"/>
              <a:t>Category:Student</a:t>
            </a:r>
            <a:r>
              <a:rPr lang="en-US" sz="2400" dirty="0"/>
              <a:t>]] everyone who is </a:t>
            </a:r>
            <a:r>
              <a:rPr lang="en-US" sz="2400" dirty="0" smtClean="0"/>
              <a:t>both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Querying and social aspects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14438"/>
            <a:ext cx="8389937" cy="4957762"/>
          </a:xfrm>
        </p:spPr>
        <p:txBody>
          <a:bodyPr/>
          <a:lstStyle/>
          <a:p>
            <a:r>
              <a:rPr lang="en-US"/>
              <a:t>Querying can only be done on aligned vocabularies</a:t>
            </a:r>
          </a:p>
          <a:p>
            <a:pPr lvl="1"/>
            <a:r>
              <a:rPr lang="en-US"/>
              <a:t>If half of the people use “affiliation” and the other half “works for” you cannot query the knowledge easily</a:t>
            </a:r>
          </a:p>
          <a:p>
            <a:r>
              <a:rPr lang="en-US"/>
              <a:t>Inside SMW, information integration usually happens with social tools, not with technology</a:t>
            </a:r>
          </a:p>
          <a:p>
            <a:r>
              <a:rPr lang="en-US"/>
              <a:t>Gardening tools can help with aligning vocabularies, but not replace them</a:t>
            </a:r>
          </a:p>
          <a:p>
            <a:pPr lvl="1"/>
            <a:r>
              <a:rPr lang="en-US"/>
              <a:t>Tools that allow you to rename a property throughout the wiki</a:t>
            </a:r>
          </a:p>
          <a:p>
            <a:pPr lvl="1"/>
            <a:r>
              <a:rPr lang="en-US"/>
              <a:t>Or to join two different names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Querying the wiki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989138"/>
            <a:ext cx="7129462" cy="3741737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{{#ask: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	[[</a:t>
            </a:r>
            <a:r>
              <a:rPr lang="en-US" sz="3600" dirty="0" err="1">
                <a:latin typeface="Courier New" charset="0"/>
              </a:rPr>
              <a:t>Category:City</a:t>
            </a:r>
            <a:r>
              <a:rPr lang="en-US" sz="3600" dirty="0">
                <a:latin typeface="Courier New" charset="0"/>
              </a:rPr>
              <a:t>]]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	[[</a:t>
            </a:r>
            <a:r>
              <a:rPr lang="en-US" sz="3600" dirty="0" err="1">
                <a:latin typeface="Courier New" charset="0"/>
              </a:rPr>
              <a:t>Mayor.Gender::Female</a:t>
            </a:r>
            <a:r>
              <a:rPr lang="en-US" sz="3600" dirty="0">
                <a:latin typeface="Courier New" charset="0"/>
              </a:rPr>
              <a:t>]]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 smtClean="0">
                <a:latin typeface="Courier New" charset="0"/>
              </a:rPr>
              <a:t>| sort</a:t>
            </a:r>
            <a:r>
              <a:rPr lang="en-US" sz="3600" dirty="0">
                <a:latin typeface="Courier New" charset="0"/>
              </a:rPr>
              <a:t>=Population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}}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Querying the wiki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9138"/>
            <a:ext cx="8077200" cy="3741737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{{#ask: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	[[</a:t>
            </a:r>
            <a:r>
              <a:rPr lang="en-US" sz="3600" dirty="0" err="1" smtClean="0">
                <a:latin typeface="Courier New" charset="0"/>
              </a:rPr>
              <a:t>Category:Country</a:t>
            </a:r>
            <a:r>
              <a:rPr lang="en-US" sz="3600" dirty="0" smtClean="0">
                <a:latin typeface="Courier New" charset="0"/>
              </a:rPr>
              <a:t>]</a:t>
            </a:r>
            <a:r>
              <a:rPr lang="en-US" sz="3600" dirty="0">
                <a:latin typeface="Courier New" charset="0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	[</a:t>
            </a:r>
            <a:r>
              <a:rPr lang="en-US" sz="3600" dirty="0" smtClean="0">
                <a:latin typeface="Courier New" charset="0"/>
              </a:rPr>
              <a:t>[</a:t>
            </a:r>
            <a:r>
              <a:rPr lang="en-US" sz="3600" dirty="0" err="1" smtClean="0">
                <a:latin typeface="Courier New" charset="0"/>
              </a:rPr>
              <a:t>Continent::North</a:t>
            </a:r>
            <a:r>
              <a:rPr lang="en-US" sz="3600" dirty="0" smtClean="0">
                <a:latin typeface="Courier New" charset="0"/>
              </a:rPr>
              <a:t> America]</a:t>
            </a:r>
            <a:r>
              <a:rPr lang="en-US" sz="3600" dirty="0">
                <a:latin typeface="Courier New" charset="0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 smtClean="0">
                <a:latin typeface="Courier New" charset="0"/>
              </a:rPr>
              <a:t>|?Population</a:t>
            </a:r>
            <a:endParaRPr lang="en-US" sz="3600" dirty="0">
              <a:latin typeface="Courier New" charset="0"/>
            </a:endParaRP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}}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Result rendering</a:t>
            </a:r>
          </a:p>
        </p:txBody>
      </p:sp>
      <p:sp>
        <p:nvSpPr>
          <p:cNvPr id="4813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endParaRPr lang="de-DE"/>
          </a:p>
        </p:txBody>
      </p:sp>
      <p:pic>
        <p:nvPicPr>
          <p:cNvPr id="48134" name="Picture 4" descr="poptab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388" y="908050"/>
            <a:ext cx="8785225" cy="541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Querying the wiki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9138"/>
            <a:ext cx="8077200" cy="3741737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{{#ask: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	[[</a:t>
            </a:r>
            <a:r>
              <a:rPr lang="en-US" sz="3600" dirty="0" err="1" smtClean="0">
                <a:latin typeface="Courier New" charset="0"/>
              </a:rPr>
              <a:t>Category:Country</a:t>
            </a:r>
            <a:r>
              <a:rPr lang="en-US" sz="3600" dirty="0" smtClean="0">
                <a:latin typeface="Courier New" charset="0"/>
              </a:rPr>
              <a:t>]</a:t>
            </a:r>
            <a:r>
              <a:rPr lang="en-US" sz="3600" dirty="0">
                <a:latin typeface="Courier New" charset="0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	[</a:t>
            </a:r>
            <a:r>
              <a:rPr lang="en-US" sz="3600" dirty="0" smtClean="0">
                <a:latin typeface="Courier New" charset="0"/>
              </a:rPr>
              <a:t>[</a:t>
            </a:r>
            <a:r>
              <a:rPr lang="en-US" sz="3600" dirty="0" err="1" smtClean="0">
                <a:latin typeface="Courier New" charset="0"/>
              </a:rPr>
              <a:t>Continent::North</a:t>
            </a:r>
            <a:r>
              <a:rPr lang="en-US" sz="3600" dirty="0" smtClean="0">
                <a:latin typeface="Courier New" charset="0"/>
              </a:rPr>
              <a:t> America]</a:t>
            </a:r>
            <a:r>
              <a:rPr lang="en-US" sz="3600" dirty="0">
                <a:latin typeface="Courier New" charset="0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 smtClean="0">
                <a:latin typeface="Courier New" charset="0"/>
              </a:rPr>
              <a:t>|?Population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 smtClean="0">
                <a:latin typeface="Courier New" charset="0"/>
              </a:rPr>
              <a:t>|format=</a:t>
            </a:r>
            <a:r>
              <a:rPr lang="en-US" sz="3600" dirty="0" err="1" smtClean="0">
                <a:latin typeface="Courier New" charset="0"/>
              </a:rPr>
              <a:t>piechart</a:t>
            </a:r>
            <a:endParaRPr lang="en-US" sz="3600" dirty="0" smtClean="0">
              <a:latin typeface="Courier New" charset="0"/>
            </a:endParaRP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}}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Pie chart</a:t>
            </a:r>
          </a:p>
        </p:txBody>
      </p:sp>
      <p:sp>
        <p:nvSpPr>
          <p:cNvPr id="4915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endParaRPr lang="de-DE"/>
          </a:p>
        </p:txBody>
      </p:sp>
      <p:pic>
        <p:nvPicPr>
          <p:cNvPr id="49158" name="Picture 4" descr="poppi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825" y="908050"/>
            <a:ext cx="8027988" cy="565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Querying the wiki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9138"/>
            <a:ext cx="8077200" cy="3741737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{{#ask: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	[[</a:t>
            </a:r>
            <a:r>
              <a:rPr lang="en-US" sz="3600" dirty="0" err="1" smtClean="0">
                <a:latin typeface="Courier New" charset="0"/>
              </a:rPr>
              <a:t>Category:Country</a:t>
            </a:r>
            <a:r>
              <a:rPr lang="en-US" sz="3600" dirty="0" smtClean="0">
                <a:latin typeface="Courier New" charset="0"/>
              </a:rPr>
              <a:t>]</a:t>
            </a:r>
            <a:r>
              <a:rPr lang="en-US" sz="3600" dirty="0">
                <a:latin typeface="Courier New" charset="0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	[</a:t>
            </a:r>
            <a:r>
              <a:rPr lang="en-US" sz="3600" dirty="0" smtClean="0">
                <a:latin typeface="Courier New" charset="0"/>
              </a:rPr>
              <a:t>[</a:t>
            </a:r>
            <a:r>
              <a:rPr lang="en-US" sz="3600" dirty="0" err="1" smtClean="0">
                <a:latin typeface="Courier New" charset="0"/>
              </a:rPr>
              <a:t>Continent::North</a:t>
            </a:r>
            <a:r>
              <a:rPr lang="en-US" sz="3600" dirty="0" smtClean="0">
                <a:latin typeface="Courier New" charset="0"/>
              </a:rPr>
              <a:t> America]</a:t>
            </a:r>
            <a:r>
              <a:rPr lang="en-US" sz="3600" dirty="0">
                <a:latin typeface="Courier New" charset="0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 smtClean="0">
                <a:latin typeface="Courier New" charset="0"/>
              </a:rPr>
              <a:t>|?Population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 smtClean="0">
                <a:latin typeface="Courier New" charset="0"/>
              </a:rPr>
              <a:t>|format=</a:t>
            </a:r>
            <a:r>
              <a:rPr lang="en-US" sz="3600" dirty="0" err="1" smtClean="0">
                <a:latin typeface="Courier New" charset="0"/>
              </a:rPr>
              <a:t>barchart</a:t>
            </a:r>
            <a:endParaRPr lang="en-US" sz="3600" dirty="0" smtClean="0">
              <a:latin typeface="Courier New" charset="0"/>
            </a:endParaRP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sz="3600" dirty="0">
                <a:latin typeface="Courier New" charset="0"/>
              </a:rPr>
              <a:t>}}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Bar chart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endParaRPr lang="de-DE"/>
          </a:p>
        </p:txBody>
      </p:sp>
      <p:pic>
        <p:nvPicPr>
          <p:cNvPr id="50182" name="Picture 4" descr="popba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388" y="836613"/>
            <a:ext cx="8713787" cy="462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Templates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2113" y="4831825"/>
            <a:ext cx="8356600" cy="1426184"/>
          </a:xfrm>
        </p:spPr>
        <p:txBody>
          <a:bodyPr/>
          <a:lstStyle/>
          <a:p>
            <a:r>
              <a:rPr lang="en-US" dirty="0" smtClean="0"/>
              <a:t>Results of a query (1) rendered by a template (2)</a:t>
            </a:r>
            <a:endParaRPr lang="en-US" dirty="0"/>
          </a:p>
        </p:txBody>
      </p:sp>
      <p:sp>
        <p:nvSpPr>
          <p:cNvPr id="4" name="Gefaltete Ecke 3"/>
          <p:cNvSpPr/>
          <p:nvPr/>
        </p:nvSpPr>
        <p:spPr>
          <a:xfrm rot="10800000" flipH="1" flipV="1">
            <a:off x="1951920" y="1086068"/>
            <a:ext cx="3396383" cy="3415524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/>
          <p:cNvSpPr txBox="1"/>
          <p:nvPr/>
        </p:nvSpPr>
        <p:spPr>
          <a:xfrm>
            <a:off x="1896289" y="4039927"/>
            <a:ext cx="832069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(1)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1951920" y="1361494"/>
            <a:ext cx="3989548" cy="255454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600" dirty="0" smtClean="0"/>
              <a:t>{{#</a:t>
            </a:r>
            <a:r>
              <a:rPr lang="de-DE" sz="1600" dirty="0" err="1" smtClean="0"/>
              <a:t>ask</a:t>
            </a:r>
            <a:r>
              <a:rPr lang="de-DE" sz="1600" dirty="0" smtClean="0"/>
              <a:t>: [[</a:t>
            </a:r>
            <a:r>
              <a:rPr lang="de-DE" sz="1600" dirty="0" err="1" smtClean="0"/>
              <a:t>Category:Employee</a:t>
            </a:r>
            <a:r>
              <a:rPr lang="de-DE" sz="1600" dirty="0" smtClean="0"/>
              <a:t>]]</a:t>
            </a:r>
          </a:p>
          <a:p>
            <a:r>
              <a:rPr lang="de-DE" sz="1600" dirty="0" smtClean="0"/>
              <a:t>   [[</a:t>
            </a:r>
            <a:r>
              <a:rPr lang="de-DE" sz="1600" dirty="0" err="1" smtClean="0"/>
              <a:t>Position::Professor||Professorin</a:t>
            </a:r>
            <a:r>
              <a:rPr lang="de-DE" sz="1600" dirty="0" smtClean="0"/>
              <a:t>]]</a:t>
            </a:r>
          </a:p>
          <a:p>
            <a:r>
              <a:rPr lang="de-DE" sz="1600" dirty="0" smtClean="0"/>
              <a:t>	| ?Picture</a:t>
            </a:r>
          </a:p>
          <a:p>
            <a:r>
              <a:rPr lang="de-DE" sz="1600" dirty="0" smtClean="0"/>
              <a:t>	| ?</a:t>
            </a:r>
            <a:r>
              <a:rPr lang="de-DE" sz="1600" dirty="0" err="1" smtClean="0"/>
              <a:t>Telephon</a:t>
            </a:r>
            <a:endParaRPr lang="de-DE" sz="1600" dirty="0" smtClean="0"/>
          </a:p>
          <a:p>
            <a:r>
              <a:rPr lang="de-DE" sz="1600" dirty="0" smtClean="0"/>
              <a:t>	| ?Email</a:t>
            </a:r>
          </a:p>
          <a:p>
            <a:r>
              <a:rPr lang="de-DE" sz="1600" dirty="0" smtClean="0"/>
              <a:t>	| ?</a:t>
            </a:r>
            <a:r>
              <a:rPr lang="de-DE" sz="1600" dirty="0" err="1" smtClean="0"/>
              <a:t>Room</a:t>
            </a:r>
            <a:endParaRPr lang="de-DE" sz="1600" dirty="0" smtClean="0"/>
          </a:p>
          <a:p>
            <a:r>
              <a:rPr lang="de-DE" sz="1600" dirty="0" smtClean="0"/>
              <a:t>	| </a:t>
            </a:r>
            <a:r>
              <a:rPr lang="de-DE" sz="1600" dirty="0" err="1" smtClean="0"/>
              <a:t>sort=Lastname</a:t>
            </a:r>
            <a:endParaRPr lang="de-DE" sz="1600" dirty="0" smtClean="0"/>
          </a:p>
          <a:p>
            <a:r>
              <a:rPr lang="de-DE" sz="1600" b="1" dirty="0" smtClean="0"/>
              <a:t>	| </a:t>
            </a:r>
            <a:r>
              <a:rPr lang="de-DE" sz="1600" b="1" dirty="0" err="1" smtClean="0"/>
              <a:t>format=template</a:t>
            </a:r>
            <a:endParaRPr lang="de-DE" sz="1600" b="1" dirty="0" smtClean="0"/>
          </a:p>
          <a:p>
            <a:r>
              <a:rPr lang="de-DE" sz="1600" b="1" dirty="0" smtClean="0"/>
              <a:t>	| </a:t>
            </a:r>
            <a:r>
              <a:rPr lang="de-DE" sz="1600" b="1" dirty="0" err="1" smtClean="0"/>
              <a:t>template=Personlist</a:t>
            </a:r>
            <a:endParaRPr lang="de-DE" sz="1600" b="1" dirty="0" smtClean="0"/>
          </a:p>
          <a:p>
            <a:r>
              <a:rPr lang="de-DE" sz="1600" dirty="0" smtClean="0"/>
              <a:t>}}</a:t>
            </a:r>
            <a:endParaRPr lang="en-US" sz="1600" dirty="0"/>
          </a:p>
        </p:txBody>
      </p:sp>
      <p:pic>
        <p:nvPicPr>
          <p:cNvPr id="7" name="Bild 6" descr="Screen shot 2010-06-22 at 14.00.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561" y="1086070"/>
            <a:ext cx="1617629" cy="341552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8" name="Textfeld 7"/>
          <p:cNvSpPr txBox="1"/>
          <p:nvPr/>
        </p:nvSpPr>
        <p:spPr>
          <a:xfrm>
            <a:off x="5865951" y="4039928"/>
            <a:ext cx="832069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(2)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Timeline</a:t>
            </a:r>
          </a:p>
        </p:txBody>
      </p:sp>
      <p:pic>
        <p:nvPicPr>
          <p:cNvPr id="28675" name="Content Placeholder 6" descr="Bildschirmfoto 2010-07-08 um 09.18.16.png"/>
          <p:cNvPicPr>
            <a:picLocks noGrp="1" noChangeAspect="1"/>
          </p:cNvPicPr>
          <p:nvPr>
            <p:ph idx="1"/>
          </p:nvPr>
        </p:nvPicPr>
        <p:blipFill>
          <a:blip r:embed="rId2"/>
          <a:srcRect t="-28307" b="-28307"/>
          <a:stretch>
            <a:fillRect/>
          </a:stretch>
        </p:blipFill>
        <p:spPr>
          <a:xfrm>
            <a:off x="152400" y="277813"/>
            <a:ext cx="8763000" cy="5437187"/>
          </a:xfrm>
        </p:spPr>
      </p:pic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228600" y="5867400"/>
            <a:ext cx="38576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/>
              <a:t>http://www.techpresentations.org/Conferences</a:t>
            </a:r>
            <a:endParaRPr lang="en-GB" sz="14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791200" y="3429000"/>
            <a:ext cx="3200400" cy="2892425"/>
          </a:xfrm>
          <a:prstGeom prst="rect">
            <a:avLst/>
          </a:prstGeom>
          <a:gradFill rotWithShape="1">
            <a:gsLst>
              <a:gs pos="0">
                <a:srgbClr val="E6FAF5"/>
              </a:gs>
              <a:gs pos="64999">
                <a:srgbClr val="C0EFE4"/>
              </a:gs>
              <a:gs pos="100000">
                <a:srgbClr val="A4EBDA"/>
              </a:gs>
            </a:gsLst>
            <a:lin ang="5400000" scaled="1"/>
          </a:gradFill>
          <a:ln w="9525">
            <a:solidFill>
              <a:srgbClr val="009683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{{#ask: [[Category:Conference]]</a:t>
            </a:r>
          </a:p>
          <a:p>
            <a:pPr>
              <a:defRPr/>
            </a:pPr>
            <a:r>
              <a:rPr lang="en-US" sz="1600" b="1">
                <a:solidFill>
                  <a:srgbClr val="3F3F3F"/>
                </a:solidFill>
                <a:latin typeface="Calibri" charset="0"/>
              </a:rPr>
              <a:t>|?Start date</a:t>
            </a:r>
          </a:p>
          <a:p>
            <a:pPr>
              <a:defRPr/>
            </a:pPr>
            <a:r>
              <a:rPr lang="en-US" sz="1600" b="1">
                <a:solidFill>
                  <a:srgbClr val="3F3F3F"/>
                </a:solidFill>
                <a:latin typeface="Calibri" charset="0"/>
              </a:rPr>
              <a:t>|?End date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|?Location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|sort=Start date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|order=desc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|format=timeline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|timelineposition=today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|timelinebands=DAY,MONTH, YEAR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|limit=5000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}}</a:t>
            </a:r>
            <a:endParaRPr lang="en-GB" sz="1600">
              <a:solidFill>
                <a:srgbClr val="3F3F3F"/>
              </a:solidFill>
              <a:latin typeface="Calibri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Calendar format</a:t>
            </a:r>
            <a:endParaRPr lang="en-GB"/>
          </a:p>
        </p:txBody>
      </p:sp>
      <p:pic>
        <p:nvPicPr>
          <p:cNvPr id="29699" name="Content Placeholder 6" descr="Bildschirmfoto 2010-07-08 um 09.26.15.png"/>
          <p:cNvPicPr>
            <a:picLocks noGrp="1" noChangeAspect="1"/>
          </p:cNvPicPr>
          <p:nvPr>
            <p:ph idx="1"/>
          </p:nvPr>
        </p:nvPicPr>
        <p:blipFill>
          <a:blip r:embed="rId2"/>
          <a:srcRect t="-10172" b="-10172"/>
          <a:stretch>
            <a:fillRect/>
          </a:stretch>
        </p:blipFill>
        <p:spPr>
          <a:xfrm>
            <a:off x="152400" y="762000"/>
            <a:ext cx="8842375" cy="5486400"/>
          </a:xfrm>
        </p:spPr>
      </p:pic>
      <p:sp>
        <p:nvSpPr>
          <p:cNvPr id="29702" name="Rectangle 7"/>
          <p:cNvSpPr>
            <a:spLocks noChangeArrowheads="1"/>
          </p:cNvSpPr>
          <p:nvPr/>
        </p:nvSpPr>
        <p:spPr bwMode="auto">
          <a:xfrm>
            <a:off x="228600" y="5943600"/>
            <a:ext cx="45720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400"/>
              <a:t>http://discoursedb.org/wiki/Opinion_calendar</a:t>
            </a:r>
            <a:endParaRPr lang="en-GB" sz="14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956175" y="3851010"/>
            <a:ext cx="4038600" cy="2397389"/>
          </a:xfrm>
          <a:prstGeom prst="rect">
            <a:avLst/>
          </a:prstGeom>
          <a:gradFill rotWithShape="1">
            <a:gsLst>
              <a:gs pos="0">
                <a:srgbClr val="E6FAF5"/>
              </a:gs>
              <a:gs pos="64999">
                <a:srgbClr val="C0EFE4"/>
              </a:gs>
              <a:gs pos="100000">
                <a:srgbClr val="A4EBDA"/>
              </a:gs>
            </a:gsLst>
            <a:lin ang="5400000" scaled="1"/>
          </a:gradFill>
          <a:ln w="9525">
            <a:solidFill>
              <a:srgbClr val="009683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{{#ask: [[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+mn-ea"/>
                <a:cs typeface="+mn-cs"/>
              </a:rPr>
              <a:t>Category:Items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]]</a:t>
            </a:r>
          </a:p>
          <a:p>
            <a:pPr>
              <a:defRPr/>
            </a:pP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[[Was published on::&gt;{{#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+mn-ea"/>
                <a:cs typeface="+mn-cs"/>
              </a:rPr>
              <a:t>calendarstartdate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:}}]]</a:t>
            </a:r>
          </a:p>
          <a:p>
            <a:pPr>
              <a:defRPr/>
            </a:pP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[[Was published on::&lt;{{#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+mn-ea"/>
                <a:cs typeface="+mn-cs"/>
              </a:rPr>
              <a:t>calendarenddate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:}}]]</a:t>
            </a:r>
          </a:p>
          <a:p>
            <a:pPr>
              <a:defRPr/>
            </a:pP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|</a:t>
            </a:r>
            <a:r>
              <a:rPr lang="en-US" sz="16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? Was published on</a:t>
            </a:r>
          </a:p>
          <a:p>
            <a:pPr>
              <a:defRPr/>
            </a:pP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|limit=200</a:t>
            </a:r>
          </a:p>
          <a:p>
            <a:pPr>
              <a:defRPr/>
            </a:pP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|format=calendar</a:t>
            </a:r>
          </a:p>
          <a:p>
            <a:pPr>
              <a:defRPr/>
            </a:pPr>
            <a:r>
              <a:rPr lang="en-US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}}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8" descr="Bildschirmfoto 2010-07-08 um 12.24.35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626" y="1219200"/>
            <a:ext cx="914400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Graph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77000" y="914400"/>
            <a:ext cx="2667000" cy="2800350"/>
          </a:xfrm>
          <a:prstGeom prst="rect">
            <a:avLst/>
          </a:prstGeom>
          <a:gradFill rotWithShape="1">
            <a:gsLst>
              <a:gs pos="0">
                <a:srgbClr val="E6FAF5"/>
              </a:gs>
              <a:gs pos="64999">
                <a:srgbClr val="C0EFE4"/>
              </a:gs>
              <a:gs pos="100000">
                <a:srgbClr val="A4EBDA"/>
              </a:gs>
            </a:gsLst>
            <a:lin ang="5400000" scaled="1"/>
          </a:gradFill>
          <a:ln w="9525">
            <a:solidFill>
              <a:srgbClr val="009683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{{#ask: [[Category:Person]]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?has child 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?knows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format=graph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graphcolor=Yes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graphlink=Yes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graphlegend=Yes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graphlabel=No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graphsize=10,10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rankdir=TB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}}</a:t>
            </a:r>
            <a:endParaRPr lang="en-GB" sz="1600">
              <a:solidFill>
                <a:srgbClr val="3F3F3F"/>
              </a:solidFill>
              <a:latin typeface="Calibri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Process diagram</a:t>
            </a:r>
          </a:p>
        </p:txBody>
      </p:sp>
      <p:pic>
        <p:nvPicPr>
          <p:cNvPr id="35845" name="Content Placeholder 5" descr="reviewprocess.pn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941388"/>
            <a:ext cx="5075238" cy="5307012"/>
          </a:xfrm>
        </p:spPr>
      </p:pic>
      <p:pic>
        <p:nvPicPr>
          <p:cNvPr id="35846" name="Picture 7" descr="Bild 13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990600"/>
            <a:ext cx="10826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562600" y="1600200"/>
            <a:ext cx="3276600" cy="4278313"/>
          </a:xfrm>
          <a:prstGeom prst="rect">
            <a:avLst/>
          </a:prstGeom>
          <a:gradFill rotWithShape="1">
            <a:gsLst>
              <a:gs pos="0">
                <a:srgbClr val="E6FAF5"/>
              </a:gs>
              <a:gs pos="64999">
                <a:srgbClr val="C0EFE4"/>
              </a:gs>
              <a:gs pos="100000">
                <a:srgbClr val="A4EBDA"/>
              </a:gs>
            </a:gsLst>
            <a:lin ang="5400000" scaled="1"/>
          </a:gradFill>
          <a:ln w="9525">
            <a:solidFill>
              <a:srgbClr val="009683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{{#ask: [[Category:Process Step]] 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[[Category:{{PAGENAME}}]]   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?has OrSuccessor=hasorsuccessor 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?has Successor=hassuccessor 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?hascontruesuccessor 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?hasconfalsesuccessor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?has Condition=hascondition 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?has Role=hasrole 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?uses Resource=usesresource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?has Status=hasstatus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format=process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graphsize=12,12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graphvalidation=no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showroles=yes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showstatus=yes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| showresources=yes</a:t>
            </a:r>
          </a:p>
          <a:p>
            <a:pPr>
              <a:defRPr/>
            </a:pPr>
            <a:r>
              <a:rPr lang="en-US" sz="1600">
                <a:solidFill>
                  <a:srgbClr val="3F3F3F"/>
                </a:solidFill>
                <a:latin typeface="Calibri" charset="0"/>
              </a:rPr>
              <a:t>}}</a:t>
            </a:r>
            <a:endParaRPr lang="en-GB" sz="1600">
              <a:solidFill>
                <a:srgbClr val="3F3F3F"/>
              </a:solidFill>
              <a:latin typeface="Calibri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>
            <p:ph idx="4294967295"/>
          </p:nvPr>
        </p:nvGraphicFramePr>
        <p:xfrm>
          <a:off x="0" y="0"/>
          <a:ext cx="9144000" cy="6858000"/>
        </p:xfrm>
        <a:graphic>
          <a:graphicData uri="http://schemas.openxmlformats.org/presentationml/2006/ole">
            <p:oleObj spid="_x0000_s885762" name="Bitmap" r:id="rId4" imgW="9723810" imgH="6342857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Google Maps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747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4000" cy="788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External data reuse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14438"/>
            <a:ext cx="7461250" cy="4957762"/>
          </a:xfrm>
        </p:spPr>
        <p:txBody>
          <a:bodyPr/>
          <a:lstStyle/>
          <a:p>
            <a:r>
              <a:rPr lang="de-DE"/>
              <a:t>Computer understands wiki content</a:t>
            </a:r>
          </a:p>
          <a:p>
            <a:pPr lvl="1"/>
            <a:r>
              <a:rPr lang="de-DE"/>
              <a:t>Knowledge based applications</a:t>
            </a:r>
          </a:p>
          <a:p>
            <a:r>
              <a:rPr lang="de-DE"/>
              <a:t>A number of export formats</a:t>
            </a:r>
          </a:p>
          <a:p>
            <a:pPr lvl="1"/>
            <a:r>
              <a:rPr lang="de-DE"/>
              <a:t>RDF/XML, SPARQL, RDFa, CSV, JSON, iCal, vCard, Bibtex, ...</a:t>
            </a:r>
          </a:p>
          <a:p>
            <a:r>
              <a:rPr lang="de-DE"/>
              <a:t>RDF APIs in programming languages</a:t>
            </a:r>
          </a:p>
          <a:p>
            <a:pPr lvl="1"/>
            <a:r>
              <a:rPr lang="de-DE"/>
              <a:t>Java, JavaScript, C/C++, Python, Ruby, Haskell, .Net, PHP, Common Lisp, Prolog, …</a:t>
            </a:r>
          </a:p>
          <a:p>
            <a:r>
              <a:rPr lang="de-DE"/>
              <a:t>Standards based</a:t>
            </a:r>
          </a:p>
          <a:p>
            <a:pPr lvl="1"/>
            <a:r>
              <a:rPr lang="de-DE"/>
              <a:t>URIs, XML, RDF, OWL, SPARQL,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Thank you for your attention!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5257800"/>
            <a:ext cx="68271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hlinkClick r:id="rId2"/>
              </a:rPr>
              <a:t>http://semantic-mediawiki.org</a:t>
            </a:r>
            <a:r>
              <a:rPr lang="en-US" sz="4000" dirty="0" smtClean="0"/>
              <a:t> </a:t>
            </a:r>
            <a:endParaRPr lang="en-US" sz="4000" dirty="0"/>
          </a:p>
        </p:txBody>
      </p:sp>
      <p:pic>
        <p:nvPicPr>
          <p:cNvPr id="7" name="Bild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38862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IT_master_ppt2003_e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D9D9D9"/>
      </a:lt2>
      <a:accent1>
        <a:srgbClr val="009682"/>
      </a:accent1>
      <a:accent2>
        <a:srgbClr val="4664AA"/>
      </a:accent2>
      <a:accent3>
        <a:srgbClr val="FFFFFF"/>
      </a:accent3>
      <a:accent4>
        <a:srgbClr val="000000"/>
      </a:accent4>
      <a:accent5>
        <a:srgbClr val="AAC9C1"/>
      </a:accent5>
      <a:accent6>
        <a:srgbClr val="3F5A9A"/>
      </a:accent6>
      <a:hlink>
        <a:srgbClr val="808080"/>
      </a:hlink>
      <a:folHlink>
        <a:srgbClr val="7D92C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D9D9D9"/>
        </a:lt2>
        <a:accent1>
          <a:srgbClr val="009682"/>
        </a:accent1>
        <a:accent2>
          <a:srgbClr val="4664AA"/>
        </a:accent2>
        <a:accent3>
          <a:srgbClr val="FFFFFF"/>
        </a:accent3>
        <a:accent4>
          <a:srgbClr val="000000"/>
        </a:accent4>
        <a:accent5>
          <a:srgbClr val="AAC9C1"/>
        </a:accent5>
        <a:accent6>
          <a:srgbClr val="3F5A9A"/>
        </a:accent6>
        <a:hlink>
          <a:srgbClr val="808080"/>
        </a:hlink>
        <a:folHlink>
          <a:srgbClr val="7D92C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2402</TotalTime>
  <Words>2754</Words>
  <Application>Microsoft Macintosh PowerPoint</Application>
  <PresentationFormat>On-screen Show (4:3)</PresentationFormat>
  <Paragraphs>470</Paragraphs>
  <Slides>72</Slides>
  <Notes>61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4" baseType="lpstr">
      <vt:lpstr>KIT_master_ppt2003_en</vt:lpstr>
      <vt:lpstr>Bitmap</vt:lpstr>
      <vt:lpstr>Semantic MediaWiki Tutorial</vt:lpstr>
      <vt:lpstr>Overview</vt:lpstr>
      <vt:lpstr>Long, long time ago…</vt:lpstr>
      <vt:lpstr>Design Patterns</vt:lpstr>
      <vt:lpstr>Design Patterns Web Page</vt:lpstr>
      <vt:lpstr>Editing the wiki</vt:lpstr>
      <vt:lpstr>Quick overview of wiki markup</vt:lpstr>
      <vt:lpstr>Namespaces</vt:lpstr>
      <vt:lpstr>Parser functions / Templates</vt:lpstr>
      <vt:lpstr>Slide 10</vt:lpstr>
      <vt:lpstr>Slide 11</vt:lpstr>
      <vt:lpstr>Slide 12</vt:lpstr>
      <vt:lpstr>So far…</vt:lpstr>
      <vt:lpstr>Wiki Clock</vt:lpstr>
      <vt:lpstr>Slide 15</vt:lpstr>
      <vt:lpstr>Slide 16</vt:lpstr>
      <vt:lpstr>What Wikipedia knows</vt:lpstr>
      <vt:lpstr>Let’s see what happens…</vt:lpstr>
      <vt:lpstr>Wikipedia’s answer: lists</vt:lpstr>
      <vt:lpstr>Slide 20</vt:lpstr>
      <vt:lpstr>Slide 21</vt:lpstr>
      <vt:lpstr>Slide 22</vt:lpstr>
      <vt:lpstr>Slide 23</vt:lpstr>
      <vt:lpstr>Computer are stupid</vt:lpstr>
      <vt:lpstr>What humans see</vt:lpstr>
      <vt:lpstr>What humans see</vt:lpstr>
      <vt:lpstr>What computers see</vt:lpstr>
      <vt:lpstr>What computers see</vt:lpstr>
      <vt:lpstr>Computer don‘t make connections</vt:lpstr>
      <vt:lpstr>Computer need our help</vt:lpstr>
      <vt:lpstr>Slide 31</vt:lpstr>
      <vt:lpstr>The IDEA</vt:lpstr>
      <vt:lpstr>Slide 33</vt:lpstr>
      <vt:lpstr>Slide 34</vt:lpstr>
      <vt:lpstr>Slide 35</vt:lpstr>
      <vt:lpstr>Slide 36</vt:lpstr>
      <vt:lpstr>Wikipedia today</vt:lpstr>
      <vt:lpstr>How are they linked?</vt:lpstr>
      <vt:lpstr>How are they linked?</vt:lpstr>
      <vt:lpstr>How are they linked?</vt:lpstr>
      <vt:lpstr>How are they linked?</vt:lpstr>
      <vt:lpstr>How are they linked?</vt:lpstr>
      <vt:lpstr>Typed links</vt:lpstr>
      <vt:lpstr>Slide 44</vt:lpstr>
      <vt:lpstr>Annotating with templates</vt:lpstr>
      <vt:lpstr>Semantic MediaWiki</vt:lpstr>
      <vt:lpstr>Overview of semantic markup</vt:lpstr>
      <vt:lpstr>Data values and types</vt:lpstr>
      <vt:lpstr>Add your own information</vt:lpstr>
      <vt:lpstr>Semantic Forms</vt:lpstr>
      <vt:lpstr>Collaborative ontology engineering</vt:lpstr>
      <vt:lpstr>Social aspects</vt:lpstr>
      <vt:lpstr>Querying the knowledge</vt:lpstr>
      <vt:lpstr>Query examples</vt:lpstr>
      <vt:lpstr>Querying and social aspects</vt:lpstr>
      <vt:lpstr>Querying the wiki</vt:lpstr>
      <vt:lpstr>Querying the wiki</vt:lpstr>
      <vt:lpstr>Result rendering</vt:lpstr>
      <vt:lpstr>Querying the wiki</vt:lpstr>
      <vt:lpstr>Pie chart</vt:lpstr>
      <vt:lpstr>Querying the wiki</vt:lpstr>
      <vt:lpstr>Bar chart</vt:lpstr>
      <vt:lpstr>Templates</vt:lpstr>
      <vt:lpstr>Timeline</vt:lpstr>
      <vt:lpstr>Calendar format</vt:lpstr>
      <vt:lpstr>Graph</vt:lpstr>
      <vt:lpstr>Process diagram</vt:lpstr>
      <vt:lpstr>Slide 68</vt:lpstr>
      <vt:lpstr>Google Maps</vt:lpstr>
      <vt:lpstr>Slide 70</vt:lpstr>
      <vt:lpstr>External data reuse</vt:lpstr>
      <vt:lpstr>Questions?</vt:lpstr>
    </vt:vector>
  </TitlesOfParts>
  <Company>AIFB, Universität Karlsruhe (TH)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Government &amp; Linked Data</dc:title>
  <dc:creator>Denny Vrandecic</dc:creator>
  <cp:lastModifiedBy>Denny Vrandecic</cp:lastModifiedBy>
  <cp:revision>42</cp:revision>
  <dcterms:created xsi:type="dcterms:W3CDTF">2011-09-21T07:11:30Z</dcterms:created>
  <dcterms:modified xsi:type="dcterms:W3CDTF">2011-09-21T07:49:19Z</dcterms:modified>
</cp:coreProperties>
</file>