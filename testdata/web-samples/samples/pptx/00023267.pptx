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5"/>
  </p:notesMasterIdLst>
  <p:handoutMasterIdLst>
    <p:handoutMasterId r:id="rId26"/>
  </p:handoutMasterIdLst>
  <p:sldIdLst>
    <p:sldId id="376" r:id="rId2"/>
    <p:sldId id="513" r:id="rId3"/>
    <p:sldId id="486" r:id="rId4"/>
    <p:sldId id="511" r:id="rId5"/>
    <p:sldId id="480" r:id="rId6"/>
    <p:sldId id="493" r:id="rId7"/>
    <p:sldId id="499" r:id="rId8"/>
    <p:sldId id="505" r:id="rId9"/>
    <p:sldId id="489" r:id="rId10"/>
    <p:sldId id="510" r:id="rId11"/>
    <p:sldId id="488" r:id="rId12"/>
    <p:sldId id="514" r:id="rId13"/>
    <p:sldId id="481" r:id="rId14"/>
    <p:sldId id="496" r:id="rId15"/>
    <p:sldId id="500" r:id="rId16"/>
    <p:sldId id="494" r:id="rId17"/>
    <p:sldId id="497" r:id="rId18"/>
    <p:sldId id="495" r:id="rId19"/>
    <p:sldId id="518" r:id="rId20"/>
    <p:sldId id="515" r:id="rId21"/>
    <p:sldId id="516" r:id="rId22"/>
    <p:sldId id="526" r:id="rId23"/>
    <p:sldId id="517" r:id="rId24"/>
  </p:sldIdLst>
  <p:sldSz cx="9144000" cy="6858000" type="screen4x3"/>
  <p:notesSz cx="6881813" cy="9296400"/>
  <p:defaultTextStyle>
    <a:defPPr>
      <a:defRPr lang="en-US"/>
    </a:defPPr>
    <a:lvl1pPr algn="l" rtl="0" eaLnBrk="0" fontAlgn="base" hangingPunct="0">
      <a:spcBef>
        <a:spcPct val="20000"/>
      </a:spcBef>
      <a:spcAft>
        <a:spcPct val="0"/>
      </a:spcAft>
      <a:buClr>
        <a:srgbClr val="000066"/>
      </a:buClr>
      <a:buFont typeface="Wingdings" pitchFamily="2" charset="2"/>
      <a:buChar char="Ø"/>
      <a:defRPr sz="2600" kern="1200">
        <a:solidFill>
          <a:srgbClr val="1D3275"/>
        </a:solidFill>
        <a:latin typeface="Arial" charset="0"/>
        <a:ea typeface="+mn-ea"/>
        <a:cs typeface="Arial" charset="0"/>
      </a:defRPr>
    </a:lvl1pPr>
    <a:lvl2pPr marL="457200" algn="l" rtl="0" eaLnBrk="0" fontAlgn="base" hangingPunct="0">
      <a:spcBef>
        <a:spcPct val="20000"/>
      </a:spcBef>
      <a:spcAft>
        <a:spcPct val="0"/>
      </a:spcAft>
      <a:buClr>
        <a:srgbClr val="000066"/>
      </a:buClr>
      <a:buFont typeface="Wingdings" pitchFamily="2" charset="2"/>
      <a:buChar char="Ø"/>
      <a:defRPr sz="2600" kern="1200">
        <a:solidFill>
          <a:srgbClr val="1D3275"/>
        </a:solidFill>
        <a:latin typeface="Arial" charset="0"/>
        <a:ea typeface="+mn-ea"/>
        <a:cs typeface="Arial" charset="0"/>
      </a:defRPr>
    </a:lvl2pPr>
    <a:lvl3pPr marL="914400" algn="l" rtl="0" eaLnBrk="0" fontAlgn="base" hangingPunct="0">
      <a:spcBef>
        <a:spcPct val="20000"/>
      </a:spcBef>
      <a:spcAft>
        <a:spcPct val="0"/>
      </a:spcAft>
      <a:buClr>
        <a:srgbClr val="000066"/>
      </a:buClr>
      <a:buFont typeface="Wingdings" pitchFamily="2" charset="2"/>
      <a:buChar char="Ø"/>
      <a:defRPr sz="2600" kern="1200">
        <a:solidFill>
          <a:srgbClr val="1D3275"/>
        </a:solidFill>
        <a:latin typeface="Arial" charset="0"/>
        <a:ea typeface="+mn-ea"/>
        <a:cs typeface="Arial" charset="0"/>
      </a:defRPr>
    </a:lvl3pPr>
    <a:lvl4pPr marL="1371600" algn="l" rtl="0" eaLnBrk="0" fontAlgn="base" hangingPunct="0">
      <a:spcBef>
        <a:spcPct val="20000"/>
      </a:spcBef>
      <a:spcAft>
        <a:spcPct val="0"/>
      </a:spcAft>
      <a:buClr>
        <a:srgbClr val="000066"/>
      </a:buClr>
      <a:buFont typeface="Wingdings" pitchFamily="2" charset="2"/>
      <a:buChar char="Ø"/>
      <a:defRPr sz="2600" kern="1200">
        <a:solidFill>
          <a:srgbClr val="1D3275"/>
        </a:solidFill>
        <a:latin typeface="Arial" charset="0"/>
        <a:ea typeface="+mn-ea"/>
        <a:cs typeface="Arial" charset="0"/>
      </a:defRPr>
    </a:lvl4pPr>
    <a:lvl5pPr marL="1828800" algn="l" rtl="0" eaLnBrk="0" fontAlgn="base" hangingPunct="0">
      <a:spcBef>
        <a:spcPct val="20000"/>
      </a:spcBef>
      <a:spcAft>
        <a:spcPct val="0"/>
      </a:spcAft>
      <a:buClr>
        <a:srgbClr val="000066"/>
      </a:buClr>
      <a:buFont typeface="Wingdings" pitchFamily="2" charset="2"/>
      <a:buChar char="Ø"/>
      <a:defRPr sz="2600" kern="1200">
        <a:solidFill>
          <a:srgbClr val="1D3275"/>
        </a:solidFill>
        <a:latin typeface="Arial" charset="0"/>
        <a:ea typeface="+mn-ea"/>
        <a:cs typeface="Arial" charset="0"/>
      </a:defRPr>
    </a:lvl5pPr>
    <a:lvl6pPr marL="2286000" algn="l" defTabSz="914400" rtl="0" eaLnBrk="1" latinLnBrk="0" hangingPunct="1">
      <a:defRPr sz="2600" kern="1200">
        <a:solidFill>
          <a:srgbClr val="1D3275"/>
        </a:solidFill>
        <a:latin typeface="Arial" charset="0"/>
        <a:ea typeface="+mn-ea"/>
        <a:cs typeface="Arial" charset="0"/>
      </a:defRPr>
    </a:lvl6pPr>
    <a:lvl7pPr marL="2743200" algn="l" defTabSz="914400" rtl="0" eaLnBrk="1" latinLnBrk="0" hangingPunct="1">
      <a:defRPr sz="2600" kern="1200">
        <a:solidFill>
          <a:srgbClr val="1D3275"/>
        </a:solidFill>
        <a:latin typeface="Arial" charset="0"/>
        <a:ea typeface="+mn-ea"/>
        <a:cs typeface="Arial" charset="0"/>
      </a:defRPr>
    </a:lvl7pPr>
    <a:lvl8pPr marL="3200400" algn="l" defTabSz="914400" rtl="0" eaLnBrk="1" latinLnBrk="0" hangingPunct="1">
      <a:defRPr sz="2600" kern="1200">
        <a:solidFill>
          <a:srgbClr val="1D3275"/>
        </a:solidFill>
        <a:latin typeface="Arial" charset="0"/>
        <a:ea typeface="+mn-ea"/>
        <a:cs typeface="Arial" charset="0"/>
      </a:defRPr>
    </a:lvl8pPr>
    <a:lvl9pPr marL="3657600" algn="l" defTabSz="914400" rtl="0" eaLnBrk="1" latinLnBrk="0" hangingPunct="1">
      <a:defRPr sz="2600" kern="1200">
        <a:solidFill>
          <a:srgbClr val="1D3275"/>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CC0000"/>
    <a:srgbClr val="BBBBFF"/>
    <a:srgbClr val="ABABFF"/>
    <a:srgbClr val="9999FF"/>
    <a:srgbClr val="663300"/>
    <a:srgbClr val="000000"/>
    <a:srgbClr val="3333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473" autoAdjust="0"/>
    <p:restoredTop sz="73786" autoAdjust="0"/>
  </p:normalViewPr>
  <p:slideViewPr>
    <p:cSldViewPr>
      <p:cViewPr varScale="1">
        <p:scale>
          <a:sx n="50" d="100"/>
          <a:sy n="50" d="100"/>
        </p:scale>
        <p:origin x="-708" y="-96"/>
      </p:cViewPr>
      <p:guideLst>
        <p:guide orient="horz"/>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192" y="672"/>
      </p:cViewPr>
      <p:guideLst>
        <p:guide orient="horz" pos="2927"/>
        <p:guide pos="216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87675" cy="471488"/>
          </a:xfrm>
          <a:prstGeom prst="rect">
            <a:avLst/>
          </a:prstGeom>
          <a:noFill/>
          <a:ln w="9525">
            <a:noFill/>
            <a:miter lim="800000"/>
            <a:headEnd/>
            <a:tailEnd/>
          </a:ln>
          <a:effectLst/>
        </p:spPr>
        <p:txBody>
          <a:bodyPr vert="horz" wrap="square" lIns="92510" tIns="46256" rIns="92510" bIns="46256" numCol="1" anchor="t" anchorCtr="0" compatLnSpc="1">
            <a:prstTxWarp prst="textNoShape">
              <a:avLst/>
            </a:prstTxWarp>
          </a:bodyPr>
          <a:lstStyle>
            <a:lvl1pPr defTabSz="930275">
              <a:spcBef>
                <a:spcPct val="0"/>
              </a:spcBef>
              <a:buClrTx/>
              <a:buFontTx/>
              <a:buNone/>
              <a:defRPr sz="1200">
                <a:solidFill>
                  <a:schemeClr val="tx1"/>
                </a:solidFill>
                <a:latin typeface="Tahoma" pitchFamily="34" charset="0"/>
              </a:defRPr>
            </a:lvl1pPr>
          </a:lstStyle>
          <a:p>
            <a:endParaRPr lang="en-US"/>
          </a:p>
        </p:txBody>
      </p:sp>
      <p:sp>
        <p:nvSpPr>
          <p:cNvPr id="4099" name="Rectangle 3"/>
          <p:cNvSpPr>
            <a:spLocks noGrp="1" noChangeArrowheads="1"/>
          </p:cNvSpPr>
          <p:nvPr>
            <p:ph type="dt" sz="quarter" idx="1"/>
          </p:nvPr>
        </p:nvSpPr>
        <p:spPr bwMode="auto">
          <a:xfrm>
            <a:off x="3908425" y="0"/>
            <a:ext cx="2986088" cy="471488"/>
          </a:xfrm>
          <a:prstGeom prst="rect">
            <a:avLst/>
          </a:prstGeom>
          <a:noFill/>
          <a:ln w="9525">
            <a:noFill/>
            <a:miter lim="800000"/>
            <a:headEnd/>
            <a:tailEnd/>
          </a:ln>
          <a:effectLst/>
        </p:spPr>
        <p:txBody>
          <a:bodyPr vert="horz" wrap="square" lIns="92510" tIns="46256" rIns="92510" bIns="46256" numCol="1" anchor="t" anchorCtr="0" compatLnSpc="1">
            <a:prstTxWarp prst="textNoShape">
              <a:avLst/>
            </a:prstTxWarp>
          </a:bodyPr>
          <a:lstStyle>
            <a:lvl1pPr algn="r" defTabSz="930275">
              <a:spcBef>
                <a:spcPct val="0"/>
              </a:spcBef>
              <a:buClrTx/>
              <a:buFontTx/>
              <a:buNone/>
              <a:defRPr sz="1200">
                <a:solidFill>
                  <a:schemeClr val="tx1"/>
                </a:solidFill>
                <a:latin typeface="Tahoma" pitchFamily="34" charset="0"/>
              </a:defRPr>
            </a:lvl1pPr>
          </a:lstStyle>
          <a:p>
            <a:endParaRPr lang="en-US"/>
          </a:p>
        </p:txBody>
      </p:sp>
      <p:sp>
        <p:nvSpPr>
          <p:cNvPr id="4100" name="Rectangle 4"/>
          <p:cNvSpPr>
            <a:spLocks noGrp="1" noChangeArrowheads="1"/>
          </p:cNvSpPr>
          <p:nvPr>
            <p:ph type="ftr" sz="quarter" idx="2"/>
          </p:nvPr>
        </p:nvSpPr>
        <p:spPr bwMode="auto">
          <a:xfrm>
            <a:off x="0" y="8801100"/>
            <a:ext cx="2987675" cy="471488"/>
          </a:xfrm>
          <a:prstGeom prst="rect">
            <a:avLst/>
          </a:prstGeom>
          <a:noFill/>
          <a:ln w="9525">
            <a:noFill/>
            <a:miter lim="800000"/>
            <a:headEnd/>
            <a:tailEnd/>
          </a:ln>
          <a:effectLst/>
        </p:spPr>
        <p:txBody>
          <a:bodyPr vert="horz" wrap="square" lIns="92510" tIns="46256" rIns="92510" bIns="46256" numCol="1" anchor="b" anchorCtr="0" compatLnSpc="1">
            <a:prstTxWarp prst="textNoShape">
              <a:avLst/>
            </a:prstTxWarp>
          </a:bodyPr>
          <a:lstStyle>
            <a:lvl1pPr defTabSz="930275">
              <a:spcBef>
                <a:spcPct val="0"/>
              </a:spcBef>
              <a:buClrTx/>
              <a:buFontTx/>
              <a:buNone/>
              <a:defRPr sz="1200">
                <a:solidFill>
                  <a:schemeClr val="tx1"/>
                </a:solidFill>
                <a:latin typeface="Tahoma" pitchFamily="34" charset="0"/>
              </a:defRPr>
            </a:lvl1pPr>
          </a:lstStyle>
          <a:p>
            <a:endParaRPr lang="en-US"/>
          </a:p>
        </p:txBody>
      </p:sp>
      <p:sp>
        <p:nvSpPr>
          <p:cNvPr id="4101" name="Rectangle 5"/>
          <p:cNvSpPr>
            <a:spLocks noGrp="1" noChangeArrowheads="1"/>
          </p:cNvSpPr>
          <p:nvPr>
            <p:ph type="sldNum" sz="quarter" idx="3"/>
          </p:nvPr>
        </p:nvSpPr>
        <p:spPr bwMode="auto">
          <a:xfrm>
            <a:off x="3908425" y="8801100"/>
            <a:ext cx="2986088" cy="471488"/>
          </a:xfrm>
          <a:prstGeom prst="rect">
            <a:avLst/>
          </a:prstGeom>
          <a:noFill/>
          <a:ln w="9525">
            <a:noFill/>
            <a:miter lim="800000"/>
            <a:headEnd/>
            <a:tailEnd/>
          </a:ln>
          <a:effectLst/>
        </p:spPr>
        <p:txBody>
          <a:bodyPr vert="horz" wrap="square" lIns="92510" tIns="46256" rIns="92510" bIns="46256" numCol="1" anchor="b" anchorCtr="0" compatLnSpc="1">
            <a:prstTxWarp prst="textNoShape">
              <a:avLst/>
            </a:prstTxWarp>
          </a:bodyPr>
          <a:lstStyle>
            <a:lvl1pPr algn="r" defTabSz="930275">
              <a:spcBef>
                <a:spcPct val="0"/>
              </a:spcBef>
              <a:buClrTx/>
              <a:buFontTx/>
              <a:buNone/>
              <a:defRPr sz="1200">
                <a:solidFill>
                  <a:schemeClr val="tx1"/>
                </a:solidFill>
                <a:latin typeface="Tahoma" pitchFamily="34" charset="0"/>
              </a:defRPr>
            </a:lvl1pPr>
          </a:lstStyle>
          <a:p>
            <a:fld id="{83016DCA-08E7-405A-BAC7-1D71B6BF68DA}"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82913" cy="469900"/>
          </a:xfrm>
          <a:prstGeom prst="rect">
            <a:avLst/>
          </a:prstGeom>
          <a:noFill/>
          <a:ln w="9525">
            <a:noFill/>
            <a:miter lim="800000"/>
            <a:headEnd/>
            <a:tailEnd/>
          </a:ln>
          <a:effectLst/>
        </p:spPr>
        <p:txBody>
          <a:bodyPr vert="horz" wrap="square" lIns="92510" tIns="46256" rIns="92510" bIns="46256" numCol="1" anchor="t" anchorCtr="0" compatLnSpc="1">
            <a:prstTxWarp prst="textNoShape">
              <a:avLst/>
            </a:prstTxWarp>
          </a:bodyPr>
          <a:lstStyle>
            <a:lvl1pPr defTabSz="928688">
              <a:spcBef>
                <a:spcPct val="0"/>
              </a:spcBef>
              <a:buClrTx/>
              <a:buFontTx/>
              <a:buNone/>
              <a:defRPr sz="1200">
                <a:solidFill>
                  <a:schemeClr val="tx1"/>
                </a:solidFill>
                <a:latin typeface="Tahoma" pitchFamily="34" charset="0"/>
              </a:defRPr>
            </a:lvl1pPr>
          </a:lstStyle>
          <a:p>
            <a:endParaRPr lang="en-US"/>
          </a:p>
        </p:txBody>
      </p:sp>
      <p:sp>
        <p:nvSpPr>
          <p:cNvPr id="2051" name="Rectangle 3"/>
          <p:cNvSpPr>
            <a:spLocks noGrp="1" noChangeArrowheads="1"/>
          </p:cNvSpPr>
          <p:nvPr>
            <p:ph type="dt" idx="1"/>
          </p:nvPr>
        </p:nvSpPr>
        <p:spPr bwMode="auto">
          <a:xfrm>
            <a:off x="3898900" y="0"/>
            <a:ext cx="2982913" cy="469900"/>
          </a:xfrm>
          <a:prstGeom prst="rect">
            <a:avLst/>
          </a:prstGeom>
          <a:noFill/>
          <a:ln w="9525">
            <a:noFill/>
            <a:miter lim="800000"/>
            <a:headEnd/>
            <a:tailEnd/>
          </a:ln>
          <a:effectLst/>
        </p:spPr>
        <p:txBody>
          <a:bodyPr vert="horz" wrap="square" lIns="92510" tIns="46256" rIns="92510" bIns="46256" numCol="1" anchor="t" anchorCtr="0" compatLnSpc="1">
            <a:prstTxWarp prst="textNoShape">
              <a:avLst/>
            </a:prstTxWarp>
          </a:bodyPr>
          <a:lstStyle>
            <a:lvl1pPr algn="r" defTabSz="928688">
              <a:spcBef>
                <a:spcPct val="0"/>
              </a:spcBef>
              <a:buClrTx/>
              <a:buFontTx/>
              <a:buNone/>
              <a:defRPr sz="1200">
                <a:solidFill>
                  <a:schemeClr val="tx1"/>
                </a:solidFill>
                <a:latin typeface="Tahoma" pitchFamily="34" charset="0"/>
              </a:defRPr>
            </a:lvl1pPr>
          </a:lstStyle>
          <a:p>
            <a:endParaRPr lang="en-US"/>
          </a:p>
        </p:txBody>
      </p:sp>
      <p:sp>
        <p:nvSpPr>
          <p:cNvPr id="2052" name="Rectangle 4"/>
          <p:cNvSpPr>
            <a:spLocks noChangeArrowheads="1" noTextEdit="1"/>
          </p:cNvSpPr>
          <p:nvPr>
            <p:ph type="sldImg" idx="2"/>
          </p:nvPr>
        </p:nvSpPr>
        <p:spPr bwMode="auto">
          <a:xfrm>
            <a:off x="1147763" y="708025"/>
            <a:ext cx="4594225" cy="3444875"/>
          </a:xfrm>
          <a:prstGeom prst="rect">
            <a:avLst/>
          </a:prstGeom>
          <a:noFill/>
          <a:ln w="12700">
            <a:solidFill>
              <a:srgbClr val="000000"/>
            </a:solidFill>
            <a:miter lim="800000"/>
            <a:headEnd/>
            <a:tailEnd/>
          </a:ln>
          <a:effectLst/>
        </p:spPr>
      </p:sp>
      <p:sp>
        <p:nvSpPr>
          <p:cNvPr id="2053" name="Rectangle 5"/>
          <p:cNvSpPr>
            <a:spLocks noGrp="1" noChangeArrowheads="1"/>
          </p:cNvSpPr>
          <p:nvPr>
            <p:ph type="body" sz="quarter" idx="3"/>
          </p:nvPr>
        </p:nvSpPr>
        <p:spPr bwMode="auto">
          <a:xfrm>
            <a:off x="917575" y="4389438"/>
            <a:ext cx="5046663" cy="4233862"/>
          </a:xfrm>
          <a:prstGeom prst="rect">
            <a:avLst/>
          </a:prstGeom>
          <a:noFill/>
          <a:ln w="9525">
            <a:noFill/>
            <a:miter lim="800000"/>
            <a:headEnd/>
            <a:tailEnd/>
          </a:ln>
          <a:effectLst/>
        </p:spPr>
        <p:txBody>
          <a:bodyPr vert="horz" wrap="square" lIns="92510" tIns="46256" rIns="92510" bIns="46256"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4" name="Rectangle 6"/>
          <p:cNvSpPr>
            <a:spLocks noGrp="1" noChangeArrowheads="1"/>
          </p:cNvSpPr>
          <p:nvPr>
            <p:ph type="ftr" sz="quarter" idx="4"/>
          </p:nvPr>
        </p:nvSpPr>
        <p:spPr bwMode="auto">
          <a:xfrm>
            <a:off x="0" y="8856663"/>
            <a:ext cx="2982913" cy="469900"/>
          </a:xfrm>
          <a:prstGeom prst="rect">
            <a:avLst/>
          </a:prstGeom>
          <a:noFill/>
          <a:ln w="9525">
            <a:noFill/>
            <a:miter lim="800000"/>
            <a:headEnd/>
            <a:tailEnd/>
          </a:ln>
          <a:effectLst/>
        </p:spPr>
        <p:txBody>
          <a:bodyPr vert="horz" wrap="square" lIns="92510" tIns="46256" rIns="92510" bIns="46256" numCol="1" anchor="b" anchorCtr="0" compatLnSpc="1">
            <a:prstTxWarp prst="textNoShape">
              <a:avLst/>
            </a:prstTxWarp>
          </a:bodyPr>
          <a:lstStyle>
            <a:lvl1pPr defTabSz="928688">
              <a:spcBef>
                <a:spcPct val="0"/>
              </a:spcBef>
              <a:buClrTx/>
              <a:buFontTx/>
              <a:buNone/>
              <a:defRPr sz="1200">
                <a:solidFill>
                  <a:schemeClr val="tx1"/>
                </a:solidFill>
                <a:latin typeface="Tahoma" pitchFamily="34" charset="0"/>
              </a:defRPr>
            </a:lvl1pPr>
          </a:lstStyle>
          <a:p>
            <a:endParaRPr lang="en-US"/>
          </a:p>
        </p:txBody>
      </p:sp>
      <p:sp>
        <p:nvSpPr>
          <p:cNvPr id="2055" name="Rectangle 7"/>
          <p:cNvSpPr>
            <a:spLocks noGrp="1" noChangeArrowheads="1"/>
          </p:cNvSpPr>
          <p:nvPr>
            <p:ph type="sldNum" sz="quarter" idx="5"/>
          </p:nvPr>
        </p:nvSpPr>
        <p:spPr bwMode="auto">
          <a:xfrm>
            <a:off x="3898900" y="8856663"/>
            <a:ext cx="2982913" cy="469900"/>
          </a:xfrm>
          <a:prstGeom prst="rect">
            <a:avLst/>
          </a:prstGeom>
          <a:noFill/>
          <a:ln w="9525">
            <a:noFill/>
            <a:miter lim="800000"/>
            <a:headEnd/>
            <a:tailEnd/>
          </a:ln>
          <a:effectLst/>
        </p:spPr>
        <p:txBody>
          <a:bodyPr vert="horz" wrap="square" lIns="92510" tIns="46256" rIns="92510" bIns="46256" numCol="1" anchor="b" anchorCtr="0" compatLnSpc="1">
            <a:prstTxWarp prst="textNoShape">
              <a:avLst/>
            </a:prstTxWarp>
          </a:bodyPr>
          <a:lstStyle>
            <a:lvl1pPr algn="r" defTabSz="928688">
              <a:spcBef>
                <a:spcPct val="0"/>
              </a:spcBef>
              <a:buClrTx/>
              <a:buFontTx/>
              <a:buNone/>
              <a:defRPr sz="1200">
                <a:solidFill>
                  <a:schemeClr val="tx1"/>
                </a:solidFill>
                <a:latin typeface="Tahoma" pitchFamily="34" charset="0"/>
              </a:defRPr>
            </a:lvl1pPr>
          </a:lstStyle>
          <a:p>
            <a:fld id="{718ED680-7808-4B57-8606-520CCF999DE2}"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Tahoma"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Tahoma"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Tahom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A17922-2F14-41E8-8598-76B4EADEF1D2}" type="slidenum">
              <a:rPr lang="en-US"/>
              <a:pPr/>
              <a:t>1</a:t>
            </a:fld>
            <a:endParaRPr lang="en-US"/>
          </a:p>
        </p:txBody>
      </p:sp>
      <p:sp>
        <p:nvSpPr>
          <p:cNvPr id="228354" name="Rectangle 2"/>
          <p:cNvSpPr>
            <a:spLocks noChangeArrowheads="1" noTextEdit="1"/>
          </p:cNvSpPr>
          <p:nvPr>
            <p:ph type="sldImg"/>
          </p:nvPr>
        </p:nvSpPr>
        <p:spPr>
          <a:ln/>
        </p:spPr>
      </p:sp>
      <p:sp>
        <p:nvSpPr>
          <p:cNvPr id="228355" name="Rectangle 3"/>
          <p:cNvSpPr>
            <a:spLocks noGrp="1" noChangeArrowheads="1"/>
          </p:cNvSpPr>
          <p:nvPr>
            <p:ph type="body" idx="1"/>
          </p:nvPr>
        </p:nvSpPr>
        <p:spPr/>
        <p:txBody>
          <a:bodyPr/>
          <a:lstStyle/>
          <a:p>
            <a:pPr marL="228600" indent="-228600">
              <a:buFontTx/>
              <a:buChar char="•"/>
            </a:pPr>
            <a:endParaRPr lang="en-US"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7D1C38-8DAB-4B4B-B432-BF6619F90A39}" type="slidenum">
              <a:rPr lang="en-US"/>
              <a:pPr/>
              <a:t>3</a:t>
            </a:fld>
            <a:endParaRPr lang="en-US"/>
          </a:p>
        </p:txBody>
      </p:sp>
      <p:sp>
        <p:nvSpPr>
          <p:cNvPr id="787458" name="Rectangle 2"/>
          <p:cNvSpPr>
            <a:spLocks noChangeArrowheads="1" noTextEdit="1"/>
          </p:cNvSpPr>
          <p:nvPr>
            <p:ph type="sldImg"/>
          </p:nvPr>
        </p:nvSpPr>
        <p:spPr>
          <a:ln/>
        </p:spPr>
      </p:sp>
      <p:sp>
        <p:nvSpPr>
          <p:cNvPr id="787459" name="Rectangle 3"/>
          <p:cNvSpPr>
            <a:spLocks noGrp="1" noChangeArrowheads="1"/>
          </p:cNvSpPr>
          <p:nvPr>
            <p:ph type="body" idx="1"/>
          </p:nvPr>
        </p:nvSpPr>
        <p:spPr/>
        <p:txBody>
          <a:bodyPr/>
          <a:lstStyle/>
          <a:p>
            <a:r>
              <a:rPr lang="en-US"/>
              <a:t>VBA’s five out of six business lines provide tangible benefits.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158535-D601-4B49-B9A2-D3B2ED1A1972}" type="slidenum">
              <a:rPr lang="en-US"/>
              <a:pPr/>
              <a:t>5</a:t>
            </a:fld>
            <a:endParaRPr lang="en-US"/>
          </a:p>
        </p:txBody>
      </p:sp>
      <p:sp>
        <p:nvSpPr>
          <p:cNvPr id="788482" name="Rectangle 2"/>
          <p:cNvSpPr>
            <a:spLocks noChangeArrowheads="1" noTextEdit="1"/>
          </p:cNvSpPr>
          <p:nvPr>
            <p:ph type="sldImg"/>
          </p:nvPr>
        </p:nvSpPr>
        <p:spPr>
          <a:ln/>
        </p:spPr>
      </p:sp>
      <p:sp>
        <p:nvSpPr>
          <p:cNvPr id="788483" name="Rectangle 3"/>
          <p:cNvSpPr>
            <a:spLocks noGrp="1" noChangeArrowheads="1"/>
          </p:cNvSpPr>
          <p:nvPr>
            <p:ph type="body" idx="1"/>
          </p:nvPr>
        </p:nvSpPr>
        <p:spPr/>
        <p:txBody>
          <a:bodyPr/>
          <a:lstStyle/>
          <a:p>
            <a:r>
              <a:rPr lang="en-US" sz="1100">
                <a:latin typeface="Arial" charset="0"/>
                <a:cs typeface="Times New Roman" pitchFamily="18" charset="0"/>
              </a:rPr>
              <a:t>In response to Public Law 107-95, </a:t>
            </a:r>
            <a:r>
              <a:rPr lang="en-US" sz="1100" i="1">
                <a:latin typeface="Arial" charset="0"/>
                <a:cs typeface="Times New Roman" pitchFamily="18" charset="0"/>
              </a:rPr>
              <a:t>the Homeless Veterans Comprehensive Assistance Act of 2001</a:t>
            </a:r>
            <a:r>
              <a:rPr lang="en-US" sz="1100">
                <a:latin typeface="Arial" charset="0"/>
                <a:cs typeface="Times New Roman" pitchFamily="18" charset="0"/>
              </a:rPr>
              <a:t>, the Veterans Benefits Administration established twenty full-time Homeless Veterans Outreach Coordinators.  One coordinator was placed at each of the 20 VA Regional Offices that have the largest Veteran populations within the jurisdictions of those offices.  The remaining 37 VA Regional Offices have a part-time Homeless Veterans Outreach Coordinator.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CE30D8-486E-4B40-9679-48A9B10052CB}" type="slidenum">
              <a:rPr lang="en-US"/>
              <a:pPr/>
              <a:t>6</a:t>
            </a:fld>
            <a:endParaRPr lang="en-US"/>
          </a:p>
        </p:txBody>
      </p:sp>
      <p:sp>
        <p:nvSpPr>
          <p:cNvPr id="799746" name="Rectangle 2"/>
          <p:cNvSpPr>
            <a:spLocks noChangeArrowheads="1" noTextEdit="1"/>
          </p:cNvSpPr>
          <p:nvPr>
            <p:ph type="sldImg"/>
          </p:nvPr>
        </p:nvSpPr>
        <p:spPr>
          <a:ln/>
        </p:spPr>
      </p:sp>
      <p:sp>
        <p:nvSpPr>
          <p:cNvPr id="799747" name="Rectangle 3"/>
          <p:cNvSpPr>
            <a:spLocks noGrp="1" noChangeArrowheads="1"/>
          </p:cNvSpPr>
          <p:nvPr>
            <p:ph type="body" idx="1"/>
          </p:nvPr>
        </p:nvSpPr>
        <p:spPr/>
        <p:txBody>
          <a:bodyPr/>
          <a:lstStyle/>
          <a:p>
            <a:r>
              <a:rPr lang="en-US" sz="1100">
                <a:latin typeface="Arial" charset="0"/>
                <a:cs typeface="Times New Roman" pitchFamily="18" charset="0"/>
              </a:rPr>
              <a:t>In response to Public Law 107-95, </a:t>
            </a:r>
            <a:r>
              <a:rPr lang="en-US" sz="1100" i="1">
                <a:latin typeface="Arial" charset="0"/>
                <a:cs typeface="Times New Roman" pitchFamily="18" charset="0"/>
              </a:rPr>
              <a:t>the Homeless Veterans Comprehensive Assistance Act of 2001</a:t>
            </a:r>
            <a:r>
              <a:rPr lang="en-US" sz="1100">
                <a:latin typeface="Arial" charset="0"/>
                <a:cs typeface="Times New Roman" pitchFamily="18" charset="0"/>
              </a:rPr>
              <a:t>, the Veterans Benefits Administration established twenty full-time Homeless Veterans Outreach Coordinators.  One coordinator was placed at each of the 20 VA Regional Offices that have the largest Veteran populations within the jurisdictions of those offices.  The remaining 37 VA Regional Offices have a part-time Homeless Veterans Outreach Coordinator.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F074D0-D8B7-499C-AF3F-7C59D0D941F8}" type="slidenum">
              <a:rPr lang="en-US"/>
              <a:pPr/>
              <a:t>7</a:t>
            </a:fld>
            <a:endParaRPr lang="en-US"/>
          </a:p>
        </p:txBody>
      </p:sp>
      <p:sp>
        <p:nvSpPr>
          <p:cNvPr id="789506" name="Rectangle 2"/>
          <p:cNvSpPr>
            <a:spLocks noChangeArrowheads="1" noTextEdit="1"/>
          </p:cNvSpPr>
          <p:nvPr>
            <p:ph type="sldImg"/>
          </p:nvPr>
        </p:nvSpPr>
        <p:spPr>
          <a:ln/>
        </p:spPr>
      </p:sp>
      <p:sp>
        <p:nvSpPr>
          <p:cNvPr id="789507" name="Rectangle 3"/>
          <p:cNvSpPr>
            <a:spLocks noGrp="1" noChangeArrowheads="1"/>
          </p:cNvSpPr>
          <p:nvPr>
            <p:ph type="body" idx="1"/>
          </p:nvPr>
        </p:nvSpPr>
        <p:spPr/>
        <p:txBody>
          <a:bodyPr/>
          <a:lstStyle/>
          <a:p>
            <a:r>
              <a:rPr lang="en-US" sz="1100">
                <a:latin typeface="Arial" charset="0"/>
                <a:cs typeface="Times New Roman" pitchFamily="18" charset="0"/>
              </a:rPr>
              <a:t>The Homeless Veterans Outreach Coordinators conduct outreach at homeless shelters, homeless Stand Downs, and through coordination with other federal, state, and local community agencies and organizations.</a:t>
            </a:r>
          </a:p>
          <a:p>
            <a:endParaRPr lang="en-US" sz="1100">
              <a:latin typeface="Arial" charset="0"/>
              <a:cs typeface="Arial" charset="0"/>
            </a:endParaRPr>
          </a:p>
          <a:p>
            <a:r>
              <a:rPr lang="en-US" sz="1100">
                <a:latin typeface="Arial" charset="0"/>
                <a:cs typeface="Arial" charset="0"/>
              </a:rPr>
              <a:t>Through these efforts in FY 2010, we provided 8,300 hours of outreach for homeless Veterans contacting some 6,400 homeless shelters and agencies.  </a:t>
            </a:r>
          </a:p>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13CEBE-F0CD-4C7B-94E2-44901C9B1A8A}" type="slidenum">
              <a:rPr lang="en-US"/>
              <a:pPr/>
              <a:t>8</a:t>
            </a:fld>
            <a:endParaRPr lang="en-US"/>
          </a:p>
        </p:txBody>
      </p:sp>
      <p:sp>
        <p:nvSpPr>
          <p:cNvPr id="791554" name="Rectangle 2"/>
          <p:cNvSpPr>
            <a:spLocks noChangeArrowheads="1" noTextEdit="1"/>
          </p:cNvSpPr>
          <p:nvPr>
            <p:ph type="sldImg"/>
          </p:nvPr>
        </p:nvSpPr>
        <p:spPr>
          <a:ln/>
        </p:spPr>
      </p:sp>
      <p:sp>
        <p:nvSpPr>
          <p:cNvPr id="791555" name="Rectangle 3"/>
          <p:cNvSpPr>
            <a:spLocks noGrp="1" noChangeArrowheads="1"/>
          </p:cNvSpPr>
          <p:nvPr>
            <p:ph type="body" idx="1"/>
          </p:nvPr>
        </p:nvSpPr>
        <p:spPr/>
        <p:txBody>
          <a:bodyPr/>
          <a:lstStyle/>
          <a:p>
            <a:r>
              <a:rPr lang="en-US" sz="1100">
                <a:latin typeface="Arial" charset="0"/>
                <a:cs typeface="Arial" charset="0"/>
              </a:rPr>
              <a:t>In FY 2010, the Homeless Veterans Outreach Coordinators and other regional office staff made over 3,000 referrals to the Veterans Health Administration and the Department of Labor’s employment for homeless Veterans program.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44CD58-AB54-429C-8C32-20A198A4644E}" type="slidenum">
              <a:rPr lang="en-US"/>
              <a:pPr/>
              <a:t>9</a:t>
            </a:fld>
            <a:endParaRPr lang="en-US"/>
          </a:p>
        </p:txBody>
      </p:sp>
      <p:sp>
        <p:nvSpPr>
          <p:cNvPr id="792578" name="Rectangle 2"/>
          <p:cNvSpPr>
            <a:spLocks noChangeArrowheads="1" noTextEdit="1"/>
          </p:cNvSpPr>
          <p:nvPr>
            <p:ph type="sldImg"/>
          </p:nvPr>
        </p:nvSpPr>
        <p:spPr>
          <a:ln/>
        </p:spPr>
      </p:sp>
      <p:sp>
        <p:nvSpPr>
          <p:cNvPr id="792579" name="Rectangle 3"/>
          <p:cNvSpPr>
            <a:spLocks noGrp="1" noChangeArrowheads="1"/>
          </p:cNvSpPr>
          <p:nvPr>
            <p:ph type="body" idx="1"/>
          </p:nvPr>
        </p:nvSpPr>
        <p:spPr/>
        <p:txBody>
          <a:bodyPr/>
          <a:lstStyle/>
          <a:p>
            <a:pPr>
              <a:buClr>
                <a:srgbClr val="000066"/>
              </a:buClr>
              <a:buFont typeface="Wingdings" pitchFamily="2" charset="2"/>
              <a:buNone/>
            </a:pPr>
            <a:r>
              <a:rPr lang="en-US" sz="1300" b="1">
                <a:latin typeface="Arial" charset="0"/>
              </a:rPr>
              <a:t>Pre-Discharge Program (includes Guard and Reservists</a:t>
            </a:r>
            <a:r>
              <a:rPr lang="en-US" sz="1300">
                <a:latin typeface="Arial" charset="0"/>
              </a:rPr>
              <a:t>) - </a:t>
            </a:r>
            <a:r>
              <a:rPr lang="en-US" sz="1300">
                <a:latin typeface="Arial" charset="0"/>
                <a:cs typeface="Arial" charset="0"/>
              </a:rPr>
              <a:t>Prevention efforts include VBA’s Pre-Discharge Programs where Veterans can apply for disability benefits within 180 days of less of their separation from the military.</a:t>
            </a:r>
            <a:r>
              <a:rPr lang="en-US" sz="1400">
                <a:latin typeface="Arial" charset="0"/>
                <a:cs typeface="Arial" charset="0"/>
              </a:rPr>
              <a:t> </a:t>
            </a:r>
            <a:endParaRPr lang="en-US" sz="1300">
              <a:latin typeface="Arial" charset="0"/>
            </a:endParaRPr>
          </a:p>
          <a:p>
            <a:pPr lvl="1">
              <a:buClr>
                <a:srgbClr val="000066"/>
              </a:buClr>
            </a:pPr>
            <a:r>
              <a:rPr lang="en-US" sz="1300">
                <a:latin typeface="Arial" charset="0"/>
              </a:rPr>
              <a:t>Benefits Delivery at Discharge (BDD)--- Between 60-180 days of separation from active duty</a:t>
            </a:r>
          </a:p>
          <a:p>
            <a:pPr lvl="1">
              <a:buClr>
                <a:srgbClr val="000066"/>
              </a:buClr>
            </a:pPr>
            <a:r>
              <a:rPr lang="en-US" sz="1300">
                <a:latin typeface="Arial" charset="0"/>
              </a:rPr>
              <a:t>Quick Start ---Less than 60 days remaining on active duty</a:t>
            </a:r>
          </a:p>
          <a:p>
            <a:pPr>
              <a:buClr>
                <a:srgbClr val="000066"/>
              </a:buClr>
            </a:pPr>
            <a:endParaRPr lang="en-US" sz="1400" b="1">
              <a:latin typeface="Arial" charset="0"/>
            </a:endParaRPr>
          </a:p>
          <a:p>
            <a:pPr>
              <a:buClr>
                <a:srgbClr val="000066"/>
              </a:buClr>
            </a:pPr>
            <a:r>
              <a:rPr lang="en-US" sz="1400" b="1">
                <a:latin typeface="Arial" charset="0"/>
              </a:rPr>
              <a:t>Transition Assistance Program (TAP</a:t>
            </a:r>
            <a:r>
              <a:rPr lang="en-US" sz="1400">
                <a:latin typeface="Arial" charset="0"/>
              </a:rPr>
              <a:t>) </a:t>
            </a:r>
            <a:r>
              <a:rPr lang="en-US" sz="1300">
                <a:latin typeface="Arial" charset="0"/>
              </a:rPr>
              <a:t>is a Department of Defense (DoD) program that partners with the Department of Labor (DOL), the Department of Veterans Affairs (VA) </a:t>
            </a:r>
            <a:r>
              <a:rPr lang="en-US" sz="1300">
                <a:latin typeface="Arial" charset="0"/>
                <a:cs typeface="Times New Roman" pitchFamily="18" charset="0"/>
              </a:rPr>
              <a:t>The VA provide benefits briefing through this nationally coordinated federal effort to assist military men and women to ease the transition to civilian life through employment and job training assistance.</a:t>
            </a:r>
            <a:r>
              <a:rPr lang="en-US" sz="1400">
                <a:latin typeface="Arial" charset="0"/>
                <a:cs typeface="Times New Roman" pitchFamily="18" charset="0"/>
              </a:rPr>
              <a:t> </a:t>
            </a:r>
            <a:r>
              <a:rPr lang="en-US" sz="1400">
                <a:latin typeface="Arial" charset="0"/>
              </a:rPr>
              <a:t> </a:t>
            </a:r>
          </a:p>
          <a:p>
            <a:pPr lvl="1">
              <a:buClr>
                <a:schemeClr val="accent2"/>
              </a:buClr>
            </a:pPr>
            <a:r>
              <a:rPr lang="en-US" sz="1300">
                <a:latin typeface="Arial" charset="0"/>
              </a:rPr>
              <a:t>Pre-separation counseling—mandatory for all transitioning Service Members</a:t>
            </a:r>
          </a:p>
          <a:p>
            <a:pPr lvl="1">
              <a:buFont typeface="Wingdings" pitchFamily="2" charset="2"/>
              <a:buNone/>
            </a:pPr>
            <a:r>
              <a:rPr lang="en-US" sz="1300">
                <a:latin typeface="Arial" charset="0"/>
              </a:rPr>
              <a:t>TAP employment workshops— administered through  DOL to the transitioning Service Member</a:t>
            </a:r>
          </a:p>
          <a:p>
            <a:pPr lvl="1">
              <a:buFont typeface="Wingdings" pitchFamily="2" charset="2"/>
              <a:buNone/>
            </a:pPr>
            <a:r>
              <a:rPr lang="en-US" sz="1300">
                <a:latin typeface="Arial" charset="0"/>
              </a:rPr>
              <a:t>VA benefits briefing— All over in depth benefit briefings</a:t>
            </a:r>
          </a:p>
          <a:p>
            <a:pPr lvl="1">
              <a:buFont typeface="Wingdings" pitchFamily="2" charset="2"/>
              <a:buNone/>
            </a:pPr>
            <a:r>
              <a:rPr lang="en-US" sz="1300">
                <a:latin typeface="Arial" charset="0"/>
              </a:rPr>
              <a:t>Disabled Transition Assistance Program—Vocational Rehabilitation &amp; Employment</a:t>
            </a:r>
            <a:r>
              <a:rPr lang="en-US" sz="1300" b="1">
                <a:latin typeface="Arial" charset="0"/>
              </a:rPr>
              <a:t> </a:t>
            </a:r>
            <a:r>
              <a:rPr lang="en-US" sz="1300">
                <a:latin typeface="Arial" charset="0"/>
              </a:rPr>
              <a:t>Program</a:t>
            </a:r>
          </a:p>
          <a:p>
            <a:pPr>
              <a:buClr>
                <a:srgbClr val="1D3275"/>
              </a:buClr>
              <a:buFont typeface="Wingdings" pitchFamily="2" charset="2"/>
              <a:buNone/>
            </a:pPr>
            <a:endParaRPr lang="en-US" sz="1300">
              <a:latin typeface="Arial" charset="0"/>
            </a:endParaRPr>
          </a:p>
          <a:p>
            <a:pPr>
              <a:buClr>
                <a:srgbClr val="1D3275"/>
              </a:buClr>
              <a:buFont typeface="Wingdings" pitchFamily="2" charset="2"/>
              <a:buNone/>
            </a:pPr>
            <a:r>
              <a:rPr lang="en-US" sz="1300" b="1">
                <a:latin typeface="Arial" charset="0"/>
              </a:rPr>
              <a:t>Post 9/11 GI Bill</a:t>
            </a:r>
            <a:r>
              <a:rPr lang="en-US" sz="1300">
                <a:latin typeface="Arial" charset="0"/>
              </a:rPr>
              <a:t> -Access to education benefits to support financial stability</a:t>
            </a:r>
          </a:p>
          <a:p>
            <a:pPr>
              <a:buClr>
                <a:srgbClr val="1D3275"/>
              </a:buClr>
              <a:buFont typeface="Wingdings" pitchFamily="2" charset="2"/>
              <a:buNone/>
            </a:pPr>
            <a:endParaRPr lang="en-US" sz="1300" b="1">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35DBF2-345B-4841-B344-C839EE22C9AE}" type="slidenum">
              <a:rPr lang="en-US"/>
              <a:pPr/>
              <a:t>10</a:t>
            </a:fld>
            <a:endParaRPr lang="en-US"/>
          </a:p>
        </p:txBody>
      </p:sp>
      <p:sp>
        <p:nvSpPr>
          <p:cNvPr id="793602" name="Rectangle 2"/>
          <p:cNvSpPr>
            <a:spLocks noChangeArrowheads="1" noTextEdit="1"/>
          </p:cNvSpPr>
          <p:nvPr>
            <p:ph type="sldImg"/>
          </p:nvPr>
        </p:nvSpPr>
        <p:spPr>
          <a:ln/>
        </p:spPr>
      </p:sp>
      <p:sp>
        <p:nvSpPr>
          <p:cNvPr id="793603" name="Rectangle 3"/>
          <p:cNvSpPr>
            <a:spLocks noGrp="1" noChangeArrowheads="1"/>
          </p:cNvSpPr>
          <p:nvPr>
            <p:ph type="body" idx="1"/>
          </p:nvPr>
        </p:nvSpPr>
        <p:spPr/>
        <p:txBody>
          <a:bodyPr/>
          <a:lstStyle/>
          <a:p>
            <a:pPr>
              <a:buClr>
                <a:srgbClr val="1D3275"/>
              </a:buClr>
              <a:buFont typeface="Wingdings" pitchFamily="2" charset="2"/>
              <a:buNone/>
            </a:pPr>
            <a:r>
              <a:rPr lang="en-US" sz="1300" b="1">
                <a:latin typeface="Arial" charset="0"/>
              </a:rPr>
              <a:t>Home Loan Guaranty – </a:t>
            </a:r>
            <a:r>
              <a:rPr lang="en-US" sz="1300">
                <a:latin typeface="Arial" charset="0"/>
              </a:rPr>
              <a:t>Servicing for foreclosure avoidance</a:t>
            </a:r>
            <a:endParaRPr lang="en-US" sz="1300" b="1">
              <a:latin typeface="Arial" charset="0"/>
            </a:endParaRPr>
          </a:p>
          <a:p>
            <a:pPr>
              <a:buClr>
                <a:srgbClr val="1D3275"/>
              </a:buClr>
              <a:buFont typeface="Wingdings" pitchFamily="2" charset="2"/>
              <a:buNone/>
            </a:pPr>
            <a:endParaRPr lang="en-US" sz="1300" b="1">
              <a:latin typeface="Arial" charset="0"/>
            </a:endParaRPr>
          </a:p>
          <a:p>
            <a:pPr>
              <a:buClr>
                <a:srgbClr val="1D3275"/>
              </a:buClr>
              <a:buFont typeface="Wingdings" pitchFamily="2" charset="2"/>
              <a:buNone/>
            </a:pPr>
            <a:r>
              <a:rPr lang="en-US" sz="1300" b="1">
                <a:latin typeface="Arial" charset="0"/>
              </a:rPr>
              <a:t>Vocational Rehabilitation &amp; Employment </a:t>
            </a:r>
            <a:r>
              <a:rPr lang="en-US" sz="1300">
                <a:latin typeface="Arial" charset="0"/>
              </a:rPr>
              <a:t>– Chapter 31</a:t>
            </a:r>
          </a:p>
          <a:p>
            <a:pPr>
              <a:buClr>
                <a:srgbClr val="1D3275"/>
              </a:buClr>
              <a:buFont typeface="Wingdings" pitchFamily="2" charset="2"/>
              <a:buNone/>
            </a:pPr>
            <a:endParaRPr lang="en-US" sz="700">
              <a:latin typeface="Arial" charset="0"/>
            </a:endParaRPr>
          </a:p>
          <a:p>
            <a:pPr>
              <a:buClr>
                <a:srgbClr val="1D3275"/>
              </a:buClr>
              <a:buFont typeface="Wingdings" pitchFamily="2" charset="2"/>
              <a:buNone/>
            </a:pPr>
            <a:r>
              <a:rPr lang="en-US" sz="1300" b="1">
                <a:latin typeface="Arial" charset="0"/>
              </a:rPr>
              <a:t>Resumption of benefits from date of release of incarceration </a:t>
            </a:r>
            <a:r>
              <a:rPr lang="en-US" sz="1300">
                <a:latin typeface="Arial" charset="0"/>
              </a:rPr>
              <a:t>– Early intervention with this cohort provides us the ability to conduct outreach for those that are anticipating release from incarceration with 30 days or less in working with the parole board and other prison officials.</a:t>
            </a:r>
          </a:p>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540003-2B2F-4FC7-8B94-F3E473DEADE2}" type="slidenum">
              <a:rPr lang="en-US"/>
              <a:pPr/>
              <a:t>13</a:t>
            </a:fld>
            <a:endParaRPr lang="en-US"/>
          </a:p>
        </p:txBody>
      </p:sp>
      <p:sp>
        <p:nvSpPr>
          <p:cNvPr id="790530" name="Rectangle 2"/>
          <p:cNvSpPr>
            <a:spLocks noChangeArrowheads="1" noTextEdit="1"/>
          </p:cNvSpPr>
          <p:nvPr>
            <p:ph type="sldImg"/>
          </p:nvPr>
        </p:nvSpPr>
        <p:spPr>
          <a:ln/>
        </p:spPr>
      </p:sp>
      <p:sp>
        <p:nvSpPr>
          <p:cNvPr id="790531" name="Rectangle 3"/>
          <p:cNvSpPr>
            <a:spLocks noGrp="1" noChangeArrowheads="1"/>
          </p:cNvSpPr>
          <p:nvPr>
            <p:ph type="body" idx="1"/>
          </p:nvPr>
        </p:nvSpPr>
        <p:spPr/>
        <p:txBody>
          <a:bodyPr/>
          <a:lstStyle/>
          <a:p>
            <a:r>
              <a:rPr lang="en-US" sz="1100">
                <a:latin typeface="Arial" charset="0"/>
                <a:cs typeface="Arial" charset="0"/>
              </a:rPr>
              <a:t>The HVOCs manage and monitor homeless Veterans claims that are in their VARO’s jurisdiction to ensure they are expedited.</a:t>
            </a:r>
          </a:p>
          <a:p>
            <a:endParaRPr lang="en-US" sz="1100">
              <a:latin typeface="Arial" charset="0"/>
              <a:cs typeface="Arial" charset="0"/>
            </a:endParaRPr>
          </a:p>
          <a:p>
            <a:pPr>
              <a:buClr>
                <a:schemeClr val="accent2"/>
              </a:buClr>
              <a:buFont typeface="Wingdings" pitchFamily="2" charset="2"/>
              <a:buNone/>
            </a:pPr>
            <a:r>
              <a:rPr lang="en-US" sz="1100">
                <a:latin typeface="Arial" charset="0"/>
              </a:rPr>
              <a:t>Some circumstances may prevent the claim from being expedited:</a:t>
            </a:r>
          </a:p>
          <a:p>
            <a:pPr lvl="1"/>
            <a:r>
              <a:rPr lang="en-US" sz="1100">
                <a:latin typeface="Arial" charset="0"/>
              </a:rPr>
              <a:t>Incomplete application</a:t>
            </a:r>
          </a:p>
          <a:p>
            <a:pPr lvl="1"/>
            <a:r>
              <a:rPr lang="en-US" sz="1100">
                <a:latin typeface="Arial" charset="0"/>
              </a:rPr>
              <a:t>Failure to report for VA examination</a:t>
            </a:r>
          </a:p>
          <a:p>
            <a:pPr lvl="1"/>
            <a:r>
              <a:rPr lang="en-US" sz="1100">
                <a:latin typeface="Arial" charset="0"/>
              </a:rPr>
              <a:t>Veteran moved (unable to locate)</a:t>
            </a:r>
          </a:p>
          <a:p>
            <a:pPr lvl="1"/>
            <a:r>
              <a:rPr lang="en-US" sz="1100">
                <a:latin typeface="Arial" charset="0"/>
              </a:rPr>
              <a:t>Unable to verify military service, etc.</a:t>
            </a:r>
            <a:endParaRPr lang="en-US" sz="1100">
              <a:latin typeface="Arial" charset="0"/>
              <a:cs typeface="Arial" charset="0"/>
            </a:endParaRPr>
          </a:p>
          <a:p>
            <a:endParaRPr lang="en-US" sz="1100"/>
          </a:p>
          <a:p>
            <a:r>
              <a:rPr lang="en-US" sz="1100">
                <a:latin typeface="Arial" charset="0"/>
              </a:rPr>
              <a:t>VBA tracks performance of the compensation and pension claims of homeless veterans using Average Days Pending -ADP (inventory) and Average Days to Complete - ADC (completed work).</a:t>
            </a:r>
          </a:p>
          <a:p>
            <a:endParaRPr lang="en-US" sz="1100">
              <a:latin typeface="Arial" charset="0"/>
            </a:endParaRPr>
          </a:p>
          <a:p>
            <a:r>
              <a:rPr lang="en-US" sz="1100">
                <a:latin typeface="Arial" charset="0"/>
                <a:cs typeface="Arial" charset="0"/>
              </a:rPr>
              <a:t>In FY 2010, over 7,700 claims were completed for homeless Veterans which is a 42 percent increase from the just over 5,800 completed homeless claims from FY 2009.</a:t>
            </a:r>
            <a:r>
              <a:rPr lang="en-US" sz="1100"/>
              <a:t> </a:t>
            </a:r>
          </a:p>
          <a:p>
            <a:endParaRPr lang="en-US" sz="1100">
              <a:latin typeface="Arial" charset="0"/>
              <a:cs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0AED173-B842-4AB8-80F0-81070ADDE8B4}" type="slidenum">
              <a:rPr lang="en-US"/>
              <a:pPr/>
              <a:t>14</a:t>
            </a:fld>
            <a:endParaRPr lang="en-US"/>
          </a:p>
        </p:txBody>
      </p:sp>
      <p:sp>
        <p:nvSpPr>
          <p:cNvPr id="764930" name="Rectangle 7"/>
          <p:cNvSpPr txBox="1">
            <a:spLocks noGrp="1" noChangeArrowheads="1"/>
          </p:cNvSpPr>
          <p:nvPr/>
        </p:nvSpPr>
        <p:spPr bwMode="auto">
          <a:xfrm>
            <a:off x="3898900" y="8831263"/>
            <a:ext cx="2982913" cy="465137"/>
          </a:xfrm>
          <a:prstGeom prst="rect">
            <a:avLst/>
          </a:prstGeom>
          <a:noFill/>
          <a:ln w="9525">
            <a:noFill/>
            <a:miter lim="800000"/>
            <a:headEnd/>
            <a:tailEnd/>
          </a:ln>
        </p:spPr>
        <p:txBody>
          <a:bodyPr lIns="93177" tIns="46589" rIns="93177" bIns="46589" anchor="b"/>
          <a:lstStyle/>
          <a:p>
            <a:pPr algn="r" defTabSz="931863">
              <a:spcBef>
                <a:spcPct val="0"/>
              </a:spcBef>
              <a:buClrTx/>
              <a:buFontTx/>
              <a:buNone/>
            </a:pPr>
            <a:fld id="{A45DD943-0C2F-4950-96C0-782FBD7AD7FE}" type="slidenum">
              <a:rPr lang="en-US" sz="1200">
                <a:solidFill>
                  <a:schemeClr val="tx1"/>
                </a:solidFill>
                <a:latin typeface="Tahoma" pitchFamily="34" charset="0"/>
              </a:rPr>
              <a:pPr algn="r" defTabSz="931863">
                <a:spcBef>
                  <a:spcPct val="0"/>
                </a:spcBef>
                <a:buClrTx/>
                <a:buFontTx/>
                <a:buNone/>
              </a:pPr>
              <a:t>14</a:t>
            </a:fld>
            <a:endParaRPr lang="en-US" sz="1200">
              <a:solidFill>
                <a:schemeClr val="tx1"/>
              </a:solidFill>
              <a:latin typeface="Tahoma" pitchFamily="34" charset="0"/>
            </a:endParaRPr>
          </a:p>
        </p:txBody>
      </p:sp>
      <p:sp>
        <p:nvSpPr>
          <p:cNvPr id="764931" name="Rectangle 2"/>
          <p:cNvSpPr>
            <a:spLocks noChangeArrowheads="1" noTextEdit="1"/>
          </p:cNvSpPr>
          <p:nvPr>
            <p:ph type="sldImg"/>
          </p:nvPr>
        </p:nvSpPr>
        <p:spPr>
          <a:xfrm>
            <a:off x="1119188" y="696913"/>
            <a:ext cx="4648200" cy="3486150"/>
          </a:xfrm>
          <a:ln/>
        </p:spPr>
      </p:sp>
      <p:sp>
        <p:nvSpPr>
          <p:cNvPr id="764932" name="Rectangle 3"/>
          <p:cNvSpPr>
            <a:spLocks noGrp="1" noChangeArrowheads="1"/>
          </p:cNvSpPr>
          <p:nvPr>
            <p:ph type="body" idx="1"/>
          </p:nvPr>
        </p:nvSpPr>
        <p:spPr>
          <a:xfrm>
            <a:off x="917575" y="4414838"/>
            <a:ext cx="5046663" cy="4184650"/>
          </a:xfrm>
        </p:spPr>
        <p:txBody>
          <a:bodyPr lIns="93177" tIns="46589" rIns="93177" bIns="46589"/>
          <a:lstStyle/>
          <a:p>
            <a:pPr eaLnBrk="1" hangingPunct="1"/>
            <a:r>
              <a:rPr lang="en-US" sz="1400">
                <a:solidFill>
                  <a:srgbClr val="000000"/>
                </a:solidFill>
                <a:latin typeface="Arial" charset="0"/>
              </a:rPr>
              <a:t>The current monthly rate for the MGIB (which is the biggest education program) is:  </a:t>
            </a:r>
          </a:p>
          <a:p>
            <a:pPr eaLnBrk="1" hangingPunct="1"/>
            <a:endParaRPr lang="en-US" sz="1400">
              <a:solidFill>
                <a:srgbClr val="000000"/>
              </a:solidFill>
              <a:latin typeface="Arial" charset="0"/>
            </a:endParaRPr>
          </a:p>
          <a:p>
            <a:pPr eaLnBrk="1" hangingPunct="1"/>
            <a:r>
              <a:rPr lang="en-US" sz="1400">
                <a:solidFill>
                  <a:srgbClr val="000000"/>
                </a:solidFill>
                <a:latin typeface="Arial" charset="0"/>
              </a:rPr>
              <a:t>Full time 	$1,034.00 </a:t>
            </a:r>
          </a:p>
          <a:p>
            <a:pPr eaLnBrk="1" hangingPunct="1"/>
            <a:r>
              <a:rPr lang="en-US" sz="1400">
                <a:solidFill>
                  <a:srgbClr val="000000"/>
                </a:solidFill>
                <a:latin typeface="Arial" charset="0"/>
              </a:rPr>
              <a:t>¾ time 	$775.00 </a:t>
            </a:r>
          </a:p>
          <a:p>
            <a:pPr eaLnBrk="1" hangingPunct="1"/>
            <a:r>
              <a:rPr lang="en-US" sz="1400">
                <a:solidFill>
                  <a:srgbClr val="000000"/>
                </a:solidFill>
                <a:latin typeface="Arial" charset="0"/>
              </a:rPr>
              <a:t>½ time 	$517.00 </a:t>
            </a:r>
          </a:p>
          <a:p>
            <a:pPr eaLnBrk="1" hangingPunct="1"/>
            <a:endParaRPr lang="en-US" sz="1400">
              <a:solidFill>
                <a:srgbClr val="000000"/>
              </a:solidFill>
              <a:latin typeface="Arial" charset="0"/>
            </a:endParaRPr>
          </a:p>
          <a:p>
            <a:pPr eaLnBrk="1" hangingPunct="1"/>
            <a:r>
              <a:rPr lang="en-US" sz="1400">
                <a:solidFill>
                  <a:srgbClr val="000000"/>
                </a:solidFill>
                <a:latin typeface="Arial" charset="0"/>
              </a:rPr>
              <a:t>The above rates apply to those completing an enlistment of three years or more, and are participating in training at an accredited institution.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662B9086-5D9B-4361-9017-704BB41957C5}" type="slidenum">
              <a:rPr lang="en-US"/>
              <a:pPr/>
              <a:t>17</a:t>
            </a:fld>
            <a:endParaRPr lang="en-US"/>
          </a:p>
        </p:txBody>
      </p:sp>
      <p:sp>
        <p:nvSpPr>
          <p:cNvPr id="766978" name="Rectangle 7"/>
          <p:cNvSpPr txBox="1">
            <a:spLocks noGrp="1" noChangeArrowheads="1"/>
          </p:cNvSpPr>
          <p:nvPr/>
        </p:nvSpPr>
        <p:spPr bwMode="auto">
          <a:xfrm>
            <a:off x="3898900" y="8831263"/>
            <a:ext cx="2982913" cy="465137"/>
          </a:xfrm>
          <a:prstGeom prst="rect">
            <a:avLst/>
          </a:prstGeom>
          <a:noFill/>
          <a:ln w="9525">
            <a:noFill/>
            <a:miter lim="800000"/>
            <a:headEnd/>
            <a:tailEnd/>
          </a:ln>
        </p:spPr>
        <p:txBody>
          <a:bodyPr lIns="93177" tIns="46589" rIns="93177" bIns="46589" anchor="b"/>
          <a:lstStyle/>
          <a:p>
            <a:pPr algn="r" defTabSz="931863">
              <a:spcBef>
                <a:spcPct val="0"/>
              </a:spcBef>
              <a:buClrTx/>
              <a:buFontTx/>
              <a:buNone/>
            </a:pPr>
            <a:fld id="{FA9755AD-E889-4CDE-A3D1-74E5C0BE5320}" type="slidenum">
              <a:rPr lang="en-US" sz="1200">
                <a:solidFill>
                  <a:schemeClr val="tx1"/>
                </a:solidFill>
                <a:latin typeface="Tahoma" pitchFamily="34" charset="0"/>
              </a:rPr>
              <a:pPr algn="r" defTabSz="931863">
                <a:spcBef>
                  <a:spcPct val="0"/>
                </a:spcBef>
                <a:buClrTx/>
                <a:buFontTx/>
                <a:buNone/>
              </a:pPr>
              <a:t>17</a:t>
            </a:fld>
            <a:endParaRPr lang="en-US" sz="1200">
              <a:solidFill>
                <a:schemeClr val="tx1"/>
              </a:solidFill>
              <a:latin typeface="Tahoma" pitchFamily="34" charset="0"/>
            </a:endParaRPr>
          </a:p>
        </p:txBody>
      </p:sp>
      <p:sp>
        <p:nvSpPr>
          <p:cNvPr id="766979" name="Rectangle 2"/>
          <p:cNvSpPr>
            <a:spLocks noChangeArrowheads="1" noTextEdit="1"/>
          </p:cNvSpPr>
          <p:nvPr>
            <p:ph type="sldImg"/>
          </p:nvPr>
        </p:nvSpPr>
        <p:spPr>
          <a:xfrm>
            <a:off x="1117600" y="696913"/>
            <a:ext cx="4648200" cy="3486150"/>
          </a:xfrm>
          <a:ln/>
        </p:spPr>
      </p:sp>
      <p:sp>
        <p:nvSpPr>
          <p:cNvPr id="766980" name="Rectangle 3"/>
          <p:cNvSpPr>
            <a:spLocks noGrp="1" noChangeArrowheads="1"/>
          </p:cNvSpPr>
          <p:nvPr>
            <p:ph type="body" idx="1"/>
          </p:nvPr>
        </p:nvSpPr>
        <p:spPr>
          <a:xfrm>
            <a:off x="917575" y="4416425"/>
            <a:ext cx="5046663" cy="4183063"/>
          </a:xfrm>
        </p:spPr>
        <p:txBody>
          <a:bodyPr lIns="93177" tIns="46589" rIns="93177" bIns="46589"/>
          <a:lstStyle/>
          <a:p>
            <a:pPr eaLnBrk="1" hangingPunct="1"/>
            <a:r>
              <a:rPr lang="en-US"/>
              <a:t>Goal of the program is provide early intervention services to active servicemembers and veterans.  Currently, SM can apply anytime throughout their medical rehabilitation status.  SM should submit SMR and memo rating which will note 20% or greater.  VRE staff is coordinated to provide all early intervention services at the military bases.  Services include assisting with developing career opportunities to include vocational testing, counseling, training and employment services or if employment is not goal right now exploring the independent living program.   Last FY over 11,000 veteran’s successfully completed the program.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090C2F1-BCBF-4B61-9229-9E8E3681386F}" type="slidenum">
              <a:rPr lang="en-US"/>
              <a:pPr/>
              <a:t>18</a:t>
            </a:fld>
            <a:endParaRPr lang="en-US"/>
          </a:p>
        </p:txBody>
      </p:sp>
      <p:sp>
        <p:nvSpPr>
          <p:cNvPr id="762882" name="Rectangle 7"/>
          <p:cNvSpPr txBox="1">
            <a:spLocks noGrp="1" noChangeArrowheads="1"/>
          </p:cNvSpPr>
          <p:nvPr/>
        </p:nvSpPr>
        <p:spPr bwMode="auto">
          <a:xfrm>
            <a:off x="3898900" y="8831263"/>
            <a:ext cx="2982913" cy="465137"/>
          </a:xfrm>
          <a:prstGeom prst="rect">
            <a:avLst/>
          </a:prstGeom>
          <a:noFill/>
          <a:ln w="9525">
            <a:noFill/>
            <a:miter lim="800000"/>
            <a:headEnd/>
            <a:tailEnd/>
          </a:ln>
        </p:spPr>
        <p:txBody>
          <a:bodyPr lIns="93177" tIns="46589" rIns="93177" bIns="46589" anchor="b"/>
          <a:lstStyle/>
          <a:p>
            <a:pPr algn="r" defTabSz="931863">
              <a:spcBef>
                <a:spcPct val="0"/>
              </a:spcBef>
              <a:buClrTx/>
              <a:buFontTx/>
              <a:buNone/>
            </a:pPr>
            <a:fld id="{353351B8-A270-491D-8A2F-226991BF05E2}" type="slidenum">
              <a:rPr lang="en-US" sz="1200">
                <a:solidFill>
                  <a:schemeClr val="tx1"/>
                </a:solidFill>
                <a:latin typeface="Tahoma" pitchFamily="34" charset="0"/>
              </a:rPr>
              <a:pPr algn="r" defTabSz="931863">
                <a:spcBef>
                  <a:spcPct val="0"/>
                </a:spcBef>
                <a:buClrTx/>
                <a:buFontTx/>
                <a:buNone/>
              </a:pPr>
              <a:t>18</a:t>
            </a:fld>
            <a:endParaRPr lang="en-US" sz="1200">
              <a:solidFill>
                <a:schemeClr val="tx1"/>
              </a:solidFill>
              <a:latin typeface="Tahoma" pitchFamily="34" charset="0"/>
            </a:endParaRPr>
          </a:p>
        </p:txBody>
      </p:sp>
      <p:sp>
        <p:nvSpPr>
          <p:cNvPr id="762883" name="Rectangle 2"/>
          <p:cNvSpPr>
            <a:spLocks noChangeArrowheads="1" noTextEdit="1"/>
          </p:cNvSpPr>
          <p:nvPr>
            <p:ph type="sldImg"/>
          </p:nvPr>
        </p:nvSpPr>
        <p:spPr>
          <a:xfrm>
            <a:off x="1120775" y="698500"/>
            <a:ext cx="4645025" cy="3484563"/>
          </a:xfrm>
          <a:ln/>
        </p:spPr>
      </p:sp>
      <p:sp>
        <p:nvSpPr>
          <p:cNvPr id="762884" name="Rectangle 3"/>
          <p:cNvSpPr>
            <a:spLocks noGrp="1" noChangeArrowheads="1"/>
          </p:cNvSpPr>
          <p:nvPr>
            <p:ph type="body" idx="1"/>
          </p:nvPr>
        </p:nvSpPr>
        <p:spPr>
          <a:xfrm>
            <a:off x="230188" y="4414838"/>
            <a:ext cx="6499225" cy="4183062"/>
          </a:xfrm>
        </p:spPr>
        <p:txBody>
          <a:bodyPr lIns="91819" tIns="45908" rIns="91819" bIns="45908"/>
          <a:lstStyle/>
          <a:p>
            <a:pPr eaLnBrk="1" hangingPunct="1">
              <a:lnSpc>
                <a:spcPct val="90000"/>
              </a:lnSpc>
              <a:buClr>
                <a:schemeClr val="tx1"/>
              </a:buClr>
            </a:pPr>
            <a:endParaRPr lang="en-US" sz="1400"/>
          </a:p>
          <a:p>
            <a:pPr eaLnBrk="1" hangingPunct="1">
              <a:lnSpc>
                <a:spcPct val="90000"/>
              </a:lnSpc>
              <a:buClr>
                <a:schemeClr val="tx1"/>
              </a:buClr>
              <a:buFontTx/>
              <a:buChar char="•"/>
            </a:pPr>
            <a:endParaRPr lang="en-US" sz="1400"/>
          </a:p>
          <a:p>
            <a:pPr eaLnBrk="1" hangingPunct="1">
              <a:lnSpc>
                <a:spcPct val="90000"/>
              </a:lnSpc>
              <a:buClr>
                <a:schemeClr val="tx1"/>
              </a:buClr>
              <a:buFontTx/>
              <a:buChar char="•"/>
            </a:pPr>
            <a:endParaRPr lang="en-US"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C586F6BE-9931-46C0-8077-951D77826E2E}" type="slidenum">
              <a:rPr lang="en-US"/>
              <a:pPr/>
              <a:t>22</a:t>
            </a:fld>
            <a:endParaRPr lang="en-US"/>
          </a:p>
        </p:txBody>
      </p:sp>
      <p:sp>
        <p:nvSpPr>
          <p:cNvPr id="818178" name="Rectangle 7"/>
          <p:cNvSpPr txBox="1">
            <a:spLocks noGrp="1" noChangeArrowheads="1"/>
          </p:cNvSpPr>
          <p:nvPr/>
        </p:nvSpPr>
        <p:spPr bwMode="auto">
          <a:xfrm>
            <a:off x="3898900" y="8831263"/>
            <a:ext cx="2982913" cy="465137"/>
          </a:xfrm>
          <a:prstGeom prst="rect">
            <a:avLst/>
          </a:prstGeom>
          <a:noFill/>
          <a:ln w="9525">
            <a:noFill/>
            <a:miter lim="800000"/>
            <a:headEnd/>
            <a:tailEnd/>
          </a:ln>
        </p:spPr>
        <p:txBody>
          <a:bodyPr lIns="90399" tIns="45200" rIns="90399" bIns="45200" anchor="b"/>
          <a:lstStyle/>
          <a:p>
            <a:pPr algn="r" defTabSz="904875" eaLnBrk="1" hangingPunct="1">
              <a:spcBef>
                <a:spcPct val="0"/>
              </a:spcBef>
              <a:buClrTx/>
              <a:buFontTx/>
              <a:buNone/>
            </a:pPr>
            <a:fld id="{41843303-A2C3-4C86-9286-4FB79C4D9C9B}" type="slidenum">
              <a:rPr lang="en-US" sz="1200">
                <a:solidFill>
                  <a:schemeClr val="tx1"/>
                </a:solidFill>
                <a:latin typeface="Times New Roman" pitchFamily="18" charset="0"/>
              </a:rPr>
              <a:pPr algn="r" defTabSz="904875" eaLnBrk="1" hangingPunct="1">
                <a:spcBef>
                  <a:spcPct val="0"/>
                </a:spcBef>
                <a:buClrTx/>
                <a:buFontTx/>
                <a:buNone/>
              </a:pPr>
              <a:t>22</a:t>
            </a:fld>
            <a:endParaRPr lang="en-US" sz="1200">
              <a:solidFill>
                <a:schemeClr val="tx1"/>
              </a:solidFill>
              <a:latin typeface="Times New Roman" pitchFamily="18" charset="0"/>
            </a:endParaRPr>
          </a:p>
        </p:txBody>
      </p:sp>
      <p:sp>
        <p:nvSpPr>
          <p:cNvPr id="818179" name="Rectangle 2"/>
          <p:cNvSpPr>
            <a:spLocks noGrp="1" noRot="1" noChangeAspect="1" noChangeArrowheads="1" noTextEdit="1"/>
          </p:cNvSpPr>
          <p:nvPr>
            <p:ph type="sldImg"/>
          </p:nvPr>
        </p:nvSpPr>
        <p:spPr>
          <a:xfrm>
            <a:off x="1117600" y="696913"/>
            <a:ext cx="4648200" cy="3486150"/>
          </a:xfrm>
          <a:ln/>
        </p:spPr>
      </p:sp>
      <p:sp>
        <p:nvSpPr>
          <p:cNvPr id="818180" name="Rectangle 3"/>
          <p:cNvSpPr>
            <a:spLocks noGrp="1" noChangeArrowheads="1"/>
          </p:cNvSpPr>
          <p:nvPr>
            <p:ph type="body" idx="1"/>
          </p:nvPr>
        </p:nvSpPr>
        <p:spPr>
          <a:xfrm>
            <a:off x="917575" y="4416425"/>
            <a:ext cx="5046663" cy="4183063"/>
          </a:xfrm>
        </p:spPr>
        <p:txBody>
          <a:bodyPr lIns="90399" tIns="45200" rIns="90399" bIns="45200"/>
          <a:lstStyle/>
          <a:p>
            <a:pPr eaLnBrk="1" hangingPunct="1"/>
            <a:r>
              <a:rPr lang="en-US" sz="2800"/>
              <a:t>Help your Buddy----- know this number and remember it:</a:t>
            </a:r>
          </a:p>
          <a:p>
            <a:pPr eaLnBrk="1" hangingPunct="1"/>
            <a:endParaRPr lang="en-US" sz="2800"/>
          </a:p>
          <a:p>
            <a:pPr eaLnBrk="1" hangingPunct="1"/>
            <a:r>
              <a:rPr lang="en-US" sz="2800"/>
              <a:t>1-800-273-TALK push 1 for Veteran.</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23234" name="Line 2"/>
          <p:cNvSpPr>
            <a:spLocks noChangeShapeType="1"/>
          </p:cNvSpPr>
          <p:nvPr/>
        </p:nvSpPr>
        <p:spPr bwMode="auto">
          <a:xfrm flipV="1">
            <a:off x="374650" y="3259138"/>
            <a:ext cx="8769350" cy="4762"/>
          </a:xfrm>
          <a:prstGeom prst="line">
            <a:avLst/>
          </a:prstGeom>
          <a:noFill/>
          <a:ln w="25400">
            <a:solidFill>
              <a:srgbClr val="CC0000"/>
            </a:solidFill>
            <a:round/>
            <a:headEnd type="none" w="sm" len="sm"/>
            <a:tailEnd type="none" w="sm" len="sm"/>
          </a:ln>
          <a:effectLst/>
        </p:spPr>
        <p:txBody>
          <a:bodyPr/>
          <a:lstStyle/>
          <a:p>
            <a:endParaRPr lang="en-US"/>
          </a:p>
        </p:txBody>
      </p:sp>
      <p:sp>
        <p:nvSpPr>
          <p:cNvPr id="223235" name="Freeform 3"/>
          <p:cNvSpPr>
            <a:spLocks/>
          </p:cNvSpPr>
          <p:nvPr/>
        </p:nvSpPr>
        <p:spPr bwMode="auto">
          <a:xfrm>
            <a:off x="25400" y="452438"/>
            <a:ext cx="1588" cy="1587"/>
          </a:xfrm>
          <a:custGeom>
            <a:avLst/>
            <a:gdLst/>
            <a:ahLst/>
            <a:cxnLst>
              <a:cxn ang="0">
                <a:pos x="0" y="0"/>
              </a:cxn>
              <a:cxn ang="0">
                <a:pos x="0" y="0"/>
              </a:cxn>
            </a:cxnLst>
            <a:rect l="0" t="0" r="r" b="b"/>
            <a:pathLst>
              <a:path w="1" h="1">
                <a:moveTo>
                  <a:pt x="0" y="0"/>
                </a:moveTo>
                <a:lnTo>
                  <a:pt x="0" y="0"/>
                </a:lnTo>
              </a:path>
            </a:pathLst>
          </a:custGeom>
          <a:noFill/>
          <a:ln w="12700" cap="rnd" cmpd="sng">
            <a:solidFill>
              <a:schemeClr val="tx1"/>
            </a:solidFill>
            <a:prstDash val="solid"/>
            <a:round/>
            <a:headEnd type="none" w="sm" len="sm"/>
            <a:tailEnd type="none" w="sm" len="sm"/>
          </a:ln>
          <a:effectLst/>
        </p:spPr>
        <p:txBody>
          <a:bodyPr/>
          <a:lstStyle/>
          <a:p>
            <a:endParaRPr lang="en-US"/>
          </a:p>
        </p:txBody>
      </p:sp>
      <p:sp>
        <p:nvSpPr>
          <p:cNvPr id="223236" name="Freeform 4"/>
          <p:cNvSpPr>
            <a:spLocks/>
          </p:cNvSpPr>
          <p:nvPr/>
        </p:nvSpPr>
        <p:spPr bwMode="auto">
          <a:xfrm>
            <a:off x="25400" y="6305550"/>
            <a:ext cx="1588" cy="1588"/>
          </a:xfrm>
          <a:custGeom>
            <a:avLst/>
            <a:gdLst/>
            <a:ahLst/>
            <a:cxnLst>
              <a:cxn ang="0">
                <a:pos x="0" y="0"/>
              </a:cxn>
              <a:cxn ang="0">
                <a:pos x="0" y="0"/>
              </a:cxn>
            </a:cxnLst>
            <a:rect l="0" t="0" r="r" b="b"/>
            <a:pathLst>
              <a:path w="1" h="1">
                <a:moveTo>
                  <a:pt x="0" y="0"/>
                </a:moveTo>
                <a:lnTo>
                  <a:pt x="0" y="0"/>
                </a:lnTo>
              </a:path>
            </a:pathLst>
          </a:custGeom>
          <a:noFill/>
          <a:ln w="12700" cap="rnd" cmpd="sng">
            <a:solidFill>
              <a:schemeClr val="tx1"/>
            </a:solidFill>
            <a:prstDash val="solid"/>
            <a:round/>
            <a:headEnd type="none" w="sm" len="sm"/>
            <a:tailEnd type="none" w="sm" len="sm"/>
          </a:ln>
          <a:effectLst/>
        </p:spPr>
        <p:txBody>
          <a:bodyPr/>
          <a:lstStyle/>
          <a:p>
            <a:endParaRPr lang="en-US"/>
          </a:p>
        </p:txBody>
      </p:sp>
      <p:sp>
        <p:nvSpPr>
          <p:cNvPr id="223237" name="Line 5"/>
          <p:cNvSpPr>
            <a:spLocks noChangeShapeType="1"/>
          </p:cNvSpPr>
          <p:nvPr/>
        </p:nvSpPr>
        <p:spPr bwMode="auto">
          <a:xfrm>
            <a:off x="373063" y="3182938"/>
            <a:ext cx="8770937" cy="4762"/>
          </a:xfrm>
          <a:prstGeom prst="line">
            <a:avLst/>
          </a:prstGeom>
          <a:noFill/>
          <a:ln w="76200">
            <a:solidFill>
              <a:srgbClr val="1D3275"/>
            </a:solidFill>
            <a:round/>
            <a:headEnd type="none" w="sm" len="sm"/>
            <a:tailEnd type="none" w="sm" len="sm"/>
          </a:ln>
          <a:effectLst/>
        </p:spPr>
        <p:txBody>
          <a:bodyPr/>
          <a:lstStyle/>
          <a:p>
            <a:endParaRPr lang="en-US"/>
          </a:p>
        </p:txBody>
      </p:sp>
      <p:sp>
        <p:nvSpPr>
          <p:cNvPr id="223240" name="Rectangle 8"/>
          <p:cNvSpPr>
            <a:spLocks noChangeArrowheads="1"/>
          </p:cNvSpPr>
          <p:nvPr/>
        </p:nvSpPr>
        <p:spPr bwMode="auto">
          <a:xfrm>
            <a:off x="0" y="0"/>
            <a:ext cx="314325" cy="6858000"/>
          </a:xfrm>
          <a:prstGeom prst="rect">
            <a:avLst/>
          </a:prstGeom>
          <a:gradFill rotWithShape="0">
            <a:gsLst>
              <a:gs pos="0">
                <a:srgbClr val="1D3275"/>
              </a:gs>
              <a:gs pos="100000">
                <a:srgbClr val="1D3275">
                  <a:gamma/>
                  <a:shade val="60000"/>
                  <a:invGamma/>
                </a:srgbClr>
              </a:gs>
            </a:gsLst>
            <a:lin ang="0" scaled="1"/>
          </a:gradFill>
          <a:ln w="12700">
            <a:solidFill>
              <a:srgbClr val="000080"/>
            </a:solidFill>
            <a:miter lim="800000"/>
            <a:headEnd/>
            <a:tailEnd/>
          </a:ln>
          <a:effectLst/>
        </p:spPr>
        <p:txBody>
          <a:bodyPr wrap="none" anchor="ctr"/>
          <a:lstStyle/>
          <a:p>
            <a:endParaRPr lang="en-US"/>
          </a:p>
        </p:txBody>
      </p:sp>
      <p:sp>
        <p:nvSpPr>
          <p:cNvPr id="223241" name="Rectangle 9"/>
          <p:cNvSpPr>
            <a:spLocks noChangeArrowheads="1"/>
          </p:cNvSpPr>
          <p:nvPr/>
        </p:nvSpPr>
        <p:spPr bwMode="auto">
          <a:xfrm>
            <a:off x="376238" y="0"/>
            <a:ext cx="142875" cy="6858000"/>
          </a:xfrm>
          <a:prstGeom prst="rect">
            <a:avLst/>
          </a:prstGeom>
          <a:gradFill rotWithShape="0">
            <a:gsLst>
              <a:gs pos="0">
                <a:srgbClr val="FF0000"/>
              </a:gs>
              <a:gs pos="100000">
                <a:srgbClr val="FF0000">
                  <a:gamma/>
                  <a:shade val="69804"/>
                  <a:invGamma/>
                </a:srgbClr>
              </a:gs>
            </a:gsLst>
            <a:lin ang="0" scaled="1"/>
          </a:gradFill>
          <a:ln w="12700">
            <a:solidFill>
              <a:srgbClr val="FF0000"/>
            </a:solidFill>
            <a:miter lim="800000"/>
            <a:headEnd/>
            <a:tailEnd/>
          </a:ln>
          <a:effectLst/>
        </p:spPr>
        <p:txBody>
          <a:bodyPr wrap="none" anchor="ctr"/>
          <a:lstStyle/>
          <a:p>
            <a:endParaRPr lang="en-US"/>
          </a:p>
        </p:txBody>
      </p:sp>
      <p:sp>
        <p:nvSpPr>
          <p:cNvPr id="223238" name="Rectangle 6"/>
          <p:cNvSpPr>
            <a:spLocks noChangeArrowheads="1"/>
          </p:cNvSpPr>
          <p:nvPr/>
        </p:nvSpPr>
        <p:spPr bwMode="auto">
          <a:xfrm>
            <a:off x="1719263" y="304800"/>
            <a:ext cx="6053137" cy="4545013"/>
          </a:xfrm>
          <a:prstGeom prst="rect">
            <a:avLst/>
          </a:prstGeom>
          <a:noFill/>
          <a:ln w="9525">
            <a:noFill/>
            <a:miter lim="800000"/>
            <a:headEnd/>
            <a:tailEnd/>
          </a:ln>
          <a:effectLst>
            <a:outerShdw dist="17961" dir="2700000" algn="ctr" rotWithShape="0">
              <a:srgbClr val="808080"/>
            </a:outerShdw>
          </a:effectLst>
        </p:spPr>
        <p:txBody>
          <a:bodyPr lIns="92075" tIns="46038" rIns="92075" bIns="46038">
            <a:spAutoFit/>
          </a:bodyPr>
          <a:lstStyle/>
          <a:p>
            <a:pPr algn="ctr" eaLnBrk="1" hangingPunct="1">
              <a:spcBef>
                <a:spcPct val="0"/>
              </a:spcBef>
              <a:buClrTx/>
              <a:buFontTx/>
              <a:buNone/>
            </a:pPr>
            <a:r>
              <a:rPr lang="en-US" sz="4800" b="1">
                <a:latin typeface="Century Gothic" pitchFamily="34" charset="0"/>
              </a:rPr>
              <a:t>Veterans Benefits </a:t>
            </a:r>
          </a:p>
          <a:p>
            <a:pPr algn="ctr" eaLnBrk="1" hangingPunct="1">
              <a:spcBef>
                <a:spcPct val="0"/>
              </a:spcBef>
              <a:buClrTx/>
              <a:buFontTx/>
              <a:buNone/>
            </a:pPr>
            <a:r>
              <a:rPr lang="en-US" sz="4800" b="1">
                <a:latin typeface="Century Gothic" pitchFamily="34" charset="0"/>
              </a:rPr>
              <a:t>Administration</a:t>
            </a:r>
          </a:p>
          <a:p>
            <a:pPr algn="ctr" eaLnBrk="1" hangingPunct="1">
              <a:spcBef>
                <a:spcPct val="0"/>
              </a:spcBef>
              <a:buClrTx/>
              <a:buFontTx/>
              <a:buNone/>
            </a:pPr>
            <a:endParaRPr lang="en-US" sz="2800" b="1">
              <a:latin typeface="Century Gothic" pitchFamily="34" charset="0"/>
            </a:endParaRPr>
          </a:p>
          <a:p>
            <a:pPr algn="ctr" eaLnBrk="1" hangingPunct="1">
              <a:spcBef>
                <a:spcPct val="0"/>
              </a:spcBef>
              <a:buClrTx/>
              <a:buFontTx/>
              <a:buNone/>
            </a:pPr>
            <a:endParaRPr lang="en-US" sz="2800" b="1" i="1">
              <a:effectLst>
                <a:outerShdw blurRad="38100" dist="38100" dir="2700000" algn="tl">
                  <a:srgbClr val="C0C0C0"/>
                </a:outerShdw>
              </a:effectLst>
              <a:latin typeface="Century Schoolbook" pitchFamily="18" charset="0"/>
            </a:endParaRPr>
          </a:p>
          <a:p>
            <a:pPr algn="ctr" eaLnBrk="1" hangingPunct="1">
              <a:spcBef>
                <a:spcPct val="0"/>
              </a:spcBef>
              <a:buClrTx/>
              <a:buFontTx/>
              <a:buNone/>
            </a:pPr>
            <a:endParaRPr lang="en-US" sz="2800" b="1" i="1">
              <a:effectLst>
                <a:outerShdw blurRad="38100" dist="38100" dir="2700000" algn="tl">
                  <a:srgbClr val="C0C0C0"/>
                </a:outerShdw>
              </a:effectLst>
              <a:latin typeface="Century Schoolbook" pitchFamily="18" charset="0"/>
            </a:endParaRPr>
          </a:p>
          <a:p>
            <a:pPr algn="ctr" eaLnBrk="1" hangingPunct="1">
              <a:spcBef>
                <a:spcPct val="0"/>
              </a:spcBef>
              <a:buClrTx/>
              <a:buFontTx/>
              <a:buNone/>
            </a:pPr>
            <a:endParaRPr lang="en-US" sz="2800" b="1" i="1">
              <a:effectLst>
                <a:outerShdw blurRad="38100" dist="38100" dir="2700000" algn="tl">
                  <a:srgbClr val="C0C0C0"/>
                </a:outerShdw>
              </a:effectLst>
              <a:latin typeface="Century Schoolbook" pitchFamily="18" charset="0"/>
            </a:endParaRPr>
          </a:p>
          <a:p>
            <a:pPr algn="ctr" eaLnBrk="1" hangingPunct="1">
              <a:spcBef>
                <a:spcPct val="0"/>
              </a:spcBef>
              <a:buClrTx/>
              <a:buFontTx/>
              <a:buNone/>
            </a:pPr>
            <a:endParaRPr lang="en-US" sz="2800" b="1" i="1">
              <a:effectLst>
                <a:outerShdw blurRad="38100" dist="38100" dir="2700000" algn="tl">
                  <a:srgbClr val="C0C0C0"/>
                </a:outerShdw>
              </a:effectLst>
              <a:latin typeface="Century Schoolbook" pitchFamily="18" charset="0"/>
            </a:endParaRPr>
          </a:p>
          <a:p>
            <a:pPr algn="ctr" eaLnBrk="1" hangingPunct="1">
              <a:spcBef>
                <a:spcPct val="0"/>
              </a:spcBef>
              <a:buClrTx/>
              <a:buFontTx/>
              <a:buNone/>
            </a:pPr>
            <a:endParaRPr lang="en-US" sz="2800" b="1" i="1">
              <a:effectLst>
                <a:outerShdw blurRad="38100" dist="38100" dir="2700000" algn="tl">
                  <a:srgbClr val="C0C0C0"/>
                </a:outerShdw>
              </a:effectLst>
              <a:latin typeface="Century Schoolbook" pitchFamily="18" charset="0"/>
            </a:endParaRPr>
          </a:p>
          <a:p>
            <a:pPr algn="ctr" eaLnBrk="1" hangingPunct="1">
              <a:spcBef>
                <a:spcPct val="0"/>
              </a:spcBef>
              <a:buClrTx/>
              <a:buFontTx/>
              <a:buNone/>
            </a:pPr>
            <a:endParaRPr lang="en-US" sz="2800" b="1" i="1">
              <a:effectLst>
                <a:outerShdw blurRad="38100" dist="38100" dir="2700000" algn="tl">
                  <a:srgbClr val="C0C0C0"/>
                </a:outerShdw>
              </a:effectLst>
              <a:latin typeface="Century Schoolbook" pitchFamily="18" charset="0"/>
            </a:endParaRPr>
          </a:p>
        </p:txBody>
      </p:sp>
      <p:pic>
        <p:nvPicPr>
          <p:cNvPr id="223239" name="Picture 7"/>
          <p:cNvPicPr>
            <a:picLocks noChangeArrowheads="1"/>
          </p:cNvPicPr>
          <p:nvPr/>
        </p:nvPicPr>
        <p:blipFill>
          <a:blip r:embed="rId2" cstate="print"/>
          <a:srcRect/>
          <a:stretch>
            <a:fillRect/>
          </a:stretch>
        </p:blipFill>
        <p:spPr bwMode="auto">
          <a:xfrm>
            <a:off x="3429000" y="1985963"/>
            <a:ext cx="2532063" cy="2532062"/>
          </a:xfrm>
          <a:prstGeom prst="rect">
            <a:avLst/>
          </a:prstGeom>
          <a:noFill/>
          <a:ln w="9525">
            <a:noFill/>
            <a:miter lim="800000"/>
            <a:headEnd/>
            <a:tailEnd/>
          </a:ln>
          <a:effectLst/>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91E484CB-B46C-4C3B-84DF-A0572C3331FC}" type="slidenum">
              <a:rPr lang="en-US"/>
              <a:pPr/>
              <a:t>‹#›</a:t>
            </a:fld>
            <a:endParaRPr lang="en-US"/>
          </a:p>
        </p:txBody>
      </p:sp>
      <p:sp>
        <p:nvSpPr>
          <p:cNvPr id="5" name="Date Placeholder 4"/>
          <p:cNvSpPr>
            <a:spLocks noGrp="1"/>
          </p:cNvSpPr>
          <p:nvPr>
            <p:ph type="dt" sz="half" idx="11"/>
          </p:nvPr>
        </p:nvSpPr>
        <p:spPr/>
        <p:txBody>
          <a:bodyPr/>
          <a:lstStyle>
            <a:lvl1pPr>
              <a:defRPr i="0">
                <a:latin typeface="+mn-lt"/>
              </a:defRPr>
            </a:lvl1pPr>
          </a:lstStyle>
          <a:p>
            <a:endParaRPr lang="en-US"/>
          </a:p>
          <a:p>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a:lvl1pPr>
          </a:lstStyle>
          <a:p>
            <a:fld id="{D7007734-19F8-4E1B-A9AF-1AC3246D847A}" type="slidenum">
              <a:rPr lang="en-US"/>
              <a:pPr/>
              <a:t>‹#›</a:t>
            </a:fld>
            <a:endParaRPr lang="en-US"/>
          </a:p>
        </p:txBody>
      </p:sp>
      <p:sp>
        <p:nvSpPr>
          <p:cNvPr id="5" name="Date Placeholder 4"/>
          <p:cNvSpPr>
            <a:spLocks noGrp="1"/>
          </p:cNvSpPr>
          <p:nvPr>
            <p:ph type="dt" sz="half" idx="11"/>
          </p:nvPr>
        </p:nvSpPr>
        <p:spPr/>
        <p:txBody>
          <a:bodyPr/>
          <a:lstStyle>
            <a:lvl1pPr>
              <a:defRPr i="0">
                <a:latin typeface="+mn-lt"/>
              </a:defRPr>
            </a:lvl1pPr>
          </a:lstStyle>
          <a:p>
            <a:endParaRPr lang="en-US"/>
          </a:p>
          <a:p>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287463" y="1789113"/>
            <a:ext cx="3743325" cy="4262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83188" y="1789113"/>
            <a:ext cx="3744912" cy="42624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lvl1pPr>
              <a:defRPr/>
            </a:lvl1pPr>
          </a:lstStyle>
          <a:p>
            <a:fld id="{2AC7986D-BA3C-4D82-9245-CF62CC69C245}" type="slidenum">
              <a:rPr lang="en-US"/>
              <a:pPr/>
              <a:t>‹#›</a:t>
            </a:fld>
            <a:endParaRPr lang="en-US"/>
          </a:p>
        </p:txBody>
      </p:sp>
      <p:sp>
        <p:nvSpPr>
          <p:cNvPr id="6" name="Date Placeholder 5"/>
          <p:cNvSpPr>
            <a:spLocks noGrp="1"/>
          </p:cNvSpPr>
          <p:nvPr>
            <p:ph type="dt" sz="half" idx="11"/>
          </p:nvPr>
        </p:nvSpPr>
        <p:spPr/>
        <p:txBody>
          <a:bodyPr/>
          <a:lstStyle>
            <a:lvl1pPr>
              <a:defRPr i="0">
                <a:latin typeface="+mn-lt"/>
              </a:defRPr>
            </a:lvl1pPr>
          </a:lstStyle>
          <a:p>
            <a:endParaRPr lang="en-US"/>
          </a:p>
          <a:p>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lvl1pPr>
              <a:defRPr/>
            </a:lvl1pPr>
          </a:lstStyle>
          <a:p>
            <a:fld id="{9619FDE6-47EB-4893-8776-3233178AE039}" type="slidenum">
              <a:rPr lang="en-US"/>
              <a:pPr/>
              <a:t>‹#›</a:t>
            </a:fld>
            <a:endParaRPr lang="en-US"/>
          </a:p>
        </p:txBody>
      </p:sp>
      <p:sp>
        <p:nvSpPr>
          <p:cNvPr id="8" name="Date Placeholder 7"/>
          <p:cNvSpPr>
            <a:spLocks noGrp="1"/>
          </p:cNvSpPr>
          <p:nvPr>
            <p:ph type="dt" sz="half" idx="11"/>
          </p:nvPr>
        </p:nvSpPr>
        <p:spPr/>
        <p:txBody>
          <a:bodyPr/>
          <a:lstStyle>
            <a:lvl1pPr>
              <a:defRPr i="0">
                <a:latin typeface="+mn-lt"/>
              </a:defRPr>
            </a:lvl1pPr>
          </a:lstStyle>
          <a:p>
            <a:endParaRPr lang="en-US"/>
          </a:p>
          <a:p>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82EAD435-BC66-451C-8ADF-4E2993715B04}" type="slidenum">
              <a:rPr lang="en-US"/>
              <a:pPr/>
              <a:t>‹#›</a:t>
            </a:fld>
            <a:endParaRPr lang="en-US"/>
          </a:p>
        </p:txBody>
      </p:sp>
      <p:sp>
        <p:nvSpPr>
          <p:cNvPr id="4" name="Date Placeholder 3"/>
          <p:cNvSpPr>
            <a:spLocks noGrp="1"/>
          </p:cNvSpPr>
          <p:nvPr>
            <p:ph type="dt" sz="half" idx="11"/>
          </p:nvPr>
        </p:nvSpPr>
        <p:spPr/>
        <p:txBody>
          <a:bodyPr/>
          <a:lstStyle>
            <a:lvl1pPr>
              <a:defRPr i="0">
                <a:latin typeface="+mn-lt"/>
              </a:defRPr>
            </a:lvl1pPr>
          </a:lstStyle>
          <a:p>
            <a:endParaRPr lang="en-US"/>
          </a:p>
          <a:p>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BC662A84-234D-402E-9991-0C155516A932}" type="slidenum">
              <a:rPr lang="en-US"/>
              <a:pPr/>
              <a:t>‹#›</a:t>
            </a:fld>
            <a:endParaRPr lang="en-US"/>
          </a:p>
        </p:txBody>
      </p:sp>
      <p:sp>
        <p:nvSpPr>
          <p:cNvPr id="3" name="Date Placeholder 2"/>
          <p:cNvSpPr>
            <a:spLocks noGrp="1"/>
          </p:cNvSpPr>
          <p:nvPr>
            <p:ph type="dt" sz="half" idx="11"/>
          </p:nvPr>
        </p:nvSpPr>
        <p:spPr/>
        <p:txBody>
          <a:bodyPr/>
          <a:lstStyle>
            <a:lvl1pPr>
              <a:defRPr i="0">
                <a:latin typeface="+mn-lt"/>
              </a:defRPr>
            </a:lvl1pPr>
          </a:lstStyle>
          <a:p>
            <a:endParaRPr lang="en-US"/>
          </a:p>
          <a:p>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2FDAE20E-EA14-4666-9E25-A6A2A4EA28D3}" type="slidenum">
              <a:rPr lang="en-US"/>
              <a:pPr/>
              <a:t>‹#›</a:t>
            </a:fld>
            <a:endParaRPr lang="en-US"/>
          </a:p>
        </p:txBody>
      </p:sp>
      <p:sp>
        <p:nvSpPr>
          <p:cNvPr id="6" name="Date Placeholder 5"/>
          <p:cNvSpPr>
            <a:spLocks noGrp="1"/>
          </p:cNvSpPr>
          <p:nvPr>
            <p:ph type="dt" sz="half" idx="11"/>
          </p:nvPr>
        </p:nvSpPr>
        <p:spPr/>
        <p:txBody>
          <a:bodyPr/>
          <a:lstStyle>
            <a:lvl1pPr>
              <a:defRPr i="0">
                <a:latin typeface="+mn-lt"/>
              </a:defRPr>
            </a:lvl1pPr>
          </a:lstStyle>
          <a:p>
            <a:endParaRPr lang="en-US"/>
          </a:p>
          <a:p>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348DC02F-97EA-4EBD-97BF-DC4F460970F4}" type="slidenum">
              <a:rPr lang="en-US"/>
              <a:pPr/>
              <a:t>‹#›</a:t>
            </a:fld>
            <a:endParaRPr lang="en-US"/>
          </a:p>
        </p:txBody>
      </p:sp>
      <p:sp>
        <p:nvSpPr>
          <p:cNvPr id="6" name="Date Placeholder 5"/>
          <p:cNvSpPr>
            <a:spLocks noGrp="1"/>
          </p:cNvSpPr>
          <p:nvPr>
            <p:ph type="dt" sz="half" idx="11"/>
          </p:nvPr>
        </p:nvSpPr>
        <p:spPr/>
        <p:txBody>
          <a:bodyPr/>
          <a:lstStyle>
            <a:lvl1pPr>
              <a:defRPr i="0">
                <a:latin typeface="+mn-lt"/>
              </a:defRPr>
            </a:lvl1pPr>
          </a:lstStyle>
          <a:p>
            <a:endParaRPr lang="en-US"/>
          </a:p>
          <a:p>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2C2C84AE-D9B2-410A-B04D-A4BEA935AB2A}" type="slidenum">
              <a:rPr lang="en-US"/>
              <a:pPr/>
              <a:t>‹#›</a:t>
            </a:fld>
            <a:endParaRPr lang="en-US"/>
          </a:p>
        </p:txBody>
      </p:sp>
      <p:sp>
        <p:nvSpPr>
          <p:cNvPr id="5" name="Date Placeholder 4"/>
          <p:cNvSpPr>
            <a:spLocks noGrp="1"/>
          </p:cNvSpPr>
          <p:nvPr>
            <p:ph type="dt" sz="half" idx="11"/>
          </p:nvPr>
        </p:nvSpPr>
        <p:spPr/>
        <p:txBody>
          <a:bodyPr/>
          <a:lstStyle>
            <a:lvl1pPr>
              <a:defRPr i="0">
                <a:latin typeface="+mn-lt"/>
              </a:defRPr>
            </a:lvl1pPr>
          </a:lstStyle>
          <a:p>
            <a:endParaRPr lang="en-US"/>
          </a:p>
          <a:p>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0263" y="0"/>
            <a:ext cx="1963737" cy="60515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287463" y="0"/>
            <a:ext cx="5740400" cy="60515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DE682811-4DDF-4239-8558-5BB6CC8ED6CA}" type="slidenum">
              <a:rPr lang="en-US"/>
              <a:pPr/>
              <a:t>‹#›</a:t>
            </a:fld>
            <a:endParaRPr lang="en-US"/>
          </a:p>
        </p:txBody>
      </p:sp>
      <p:sp>
        <p:nvSpPr>
          <p:cNvPr id="5" name="Date Placeholder 4"/>
          <p:cNvSpPr>
            <a:spLocks noGrp="1"/>
          </p:cNvSpPr>
          <p:nvPr>
            <p:ph type="dt" sz="half" idx="11"/>
          </p:nvPr>
        </p:nvSpPr>
        <p:spPr/>
        <p:txBody>
          <a:bodyPr/>
          <a:lstStyle>
            <a:lvl1pPr>
              <a:defRPr i="0">
                <a:latin typeface="+mn-lt"/>
              </a:defRPr>
            </a:lvl1pPr>
          </a:lstStyle>
          <a:p>
            <a:endParaRPr lang="en-US"/>
          </a:p>
          <a:p>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2210" name="Line 2"/>
          <p:cNvSpPr>
            <a:spLocks noChangeShapeType="1"/>
          </p:cNvSpPr>
          <p:nvPr/>
        </p:nvSpPr>
        <p:spPr bwMode="auto">
          <a:xfrm>
            <a:off x="1389063" y="985838"/>
            <a:ext cx="7754937" cy="4762"/>
          </a:xfrm>
          <a:prstGeom prst="line">
            <a:avLst/>
          </a:prstGeom>
          <a:noFill/>
          <a:ln w="50800">
            <a:solidFill>
              <a:srgbClr val="CC0000"/>
            </a:solidFill>
            <a:round/>
            <a:headEnd type="none" w="sm" len="sm"/>
            <a:tailEnd type="none" w="sm" len="sm"/>
          </a:ln>
          <a:effectLst/>
        </p:spPr>
        <p:txBody>
          <a:bodyPr/>
          <a:lstStyle/>
          <a:p>
            <a:endParaRPr lang="en-US"/>
          </a:p>
        </p:txBody>
      </p:sp>
      <p:sp>
        <p:nvSpPr>
          <p:cNvPr id="222211" name="Rectangle 3"/>
          <p:cNvSpPr>
            <a:spLocks noChangeArrowheads="1"/>
          </p:cNvSpPr>
          <p:nvPr/>
        </p:nvSpPr>
        <p:spPr bwMode="auto">
          <a:xfrm>
            <a:off x="423863" y="6396038"/>
            <a:ext cx="8720137" cy="53975"/>
          </a:xfrm>
          <a:prstGeom prst="rect">
            <a:avLst/>
          </a:prstGeom>
          <a:gradFill rotWithShape="0">
            <a:gsLst>
              <a:gs pos="0">
                <a:srgbClr val="1D3275"/>
              </a:gs>
              <a:gs pos="100000">
                <a:srgbClr val="1D3275">
                  <a:gamma/>
                  <a:shade val="60000"/>
                  <a:invGamma/>
                </a:srgbClr>
              </a:gs>
            </a:gsLst>
            <a:lin ang="0" scaled="1"/>
          </a:gradFill>
          <a:ln w="12700">
            <a:solidFill>
              <a:srgbClr val="000080"/>
            </a:solidFill>
            <a:miter lim="800000"/>
            <a:headEnd/>
            <a:tailEnd/>
          </a:ln>
          <a:effectLst/>
        </p:spPr>
        <p:txBody>
          <a:bodyPr wrap="none" anchor="ctr"/>
          <a:lstStyle/>
          <a:p>
            <a:endParaRPr lang="en-US"/>
          </a:p>
        </p:txBody>
      </p:sp>
      <p:sp>
        <p:nvSpPr>
          <p:cNvPr id="222212" name="Rectangle 4"/>
          <p:cNvSpPr>
            <a:spLocks noChangeArrowheads="1"/>
          </p:cNvSpPr>
          <p:nvPr/>
        </p:nvSpPr>
        <p:spPr bwMode="auto">
          <a:xfrm>
            <a:off x="1041400" y="823913"/>
            <a:ext cx="8102600" cy="79375"/>
          </a:xfrm>
          <a:prstGeom prst="rect">
            <a:avLst/>
          </a:prstGeom>
          <a:gradFill rotWithShape="0">
            <a:gsLst>
              <a:gs pos="0">
                <a:srgbClr val="1D3275"/>
              </a:gs>
              <a:gs pos="100000">
                <a:srgbClr val="1D3275">
                  <a:gamma/>
                  <a:shade val="89804"/>
                  <a:invGamma/>
                </a:srgbClr>
              </a:gs>
            </a:gsLst>
            <a:lin ang="0" scaled="1"/>
          </a:gradFill>
          <a:ln w="12700">
            <a:solidFill>
              <a:srgbClr val="000080"/>
            </a:solidFill>
            <a:miter lim="800000"/>
            <a:headEnd/>
            <a:tailEnd/>
          </a:ln>
          <a:effectLst/>
        </p:spPr>
        <p:txBody>
          <a:bodyPr wrap="none" anchor="ctr"/>
          <a:lstStyle/>
          <a:p>
            <a:endParaRPr lang="en-US"/>
          </a:p>
        </p:txBody>
      </p:sp>
      <p:sp>
        <p:nvSpPr>
          <p:cNvPr id="222213" name="Freeform 5"/>
          <p:cNvSpPr>
            <a:spLocks/>
          </p:cNvSpPr>
          <p:nvPr/>
        </p:nvSpPr>
        <p:spPr bwMode="auto">
          <a:xfrm>
            <a:off x="25400" y="452438"/>
            <a:ext cx="1588" cy="1587"/>
          </a:xfrm>
          <a:custGeom>
            <a:avLst/>
            <a:gdLst/>
            <a:ahLst/>
            <a:cxnLst>
              <a:cxn ang="0">
                <a:pos x="0" y="0"/>
              </a:cxn>
              <a:cxn ang="0">
                <a:pos x="0" y="0"/>
              </a:cxn>
            </a:cxnLst>
            <a:rect l="0" t="0" r="r" b="b"/>
            <a:pathLst>
              <a:path w="1" h="1">
                <a:moveTo>
                  <a:pt x="0" y="0"/>
                </a:moveTo>
                <a:lnTo>
                  <a:pt x="0" y="0"/>
                </a:lnTo>
              </a:path>
            </a:pathLst>
          </a:custGeom>
          <a:noFill/>
          <a:ln w="12700" cap="rnd" cmpd="sng">
            <a:solidFill>
              <a:schemeClr val="tx1"/>
            </a:solidFill>
            <a:prstDash val="solid"/>
            <a:round/>
            <a:headEnd type="none" w="sm" len="sm"/>
            <a:tailEnd type="none" w="sm" len="sm"/>
          </a:ln>
          <a:effectLst/>
        </p:spPr>
        <p:txBody>
          <a:bodyPr/>
          <a:lstStyle/>
          <a:p>
            <a:endParaRPr lang="en-US"/>
          </a:p>
        </p:txBody>
      </p:sp>
      <p:sp>
        <p:nvSpPr>
          <p:cNvPr id="222214" name="Freeform 6"/>
          <p:cNvSpPr>
            <a:spLocks/>
          </p:cNvSpPr>
          <p:nvPr/>
        </p:nvSpPr>
        <p:spPr bwMode="auto">
          <a:xfrm>
            <a:off x="25400" y="6305550"/>
            <a:ext cx="1588" cy="1588"/>
          </a:xfrm>
          <a:custGeom>
            <a:avLst/>
            <a:gdLst/>
            <a:ahLst/>
            <a:cxnLst>
              <a:cxn ang="0">
                <a:pos x="0" y="0"/>
              </a:cxn>
              <a:cxn ang="0">
                <a:pos x="0" y="0"/>
              </a:cxn>
            </a:cxnLst>
            <a:rect l="0" t="0" r="r" b="b"/>
            <a:pathLst>
              <a:path w="1" h="1">
                <a:moveTo>
                  <a:pt x="0" y="0"/>
                </a:moveTo>
                <a:lnTo>
                  <a:pt x="0" y="0"/>
                </a:lnTo>
              </a:path>
            </a:pathLst>
          </a:custGeom>
          <a:noFill/>
          <a:ln w="12700" cap="rnd" cmpd="sng">
            <a:solidFill>
              <a:schemeClr val="tx1"/>
            </a:solidFill>
            <a:prstDash val="solid"/>
            <a:round/>
            <a:headEnd type="none" w="sm" len="sm"/>
            <a:tailEnd type="none" w="sm" len="sm"/>
          </a:ln>
          <a:effectLst/>
        </p:spPr>
        <p:txBody>
          <a:bodyPr/>
          <a:lstStyle/>
          <a:p>
            <a:endParaRPr lang="en-US"/>
          </a:p>
        </p:txBody>
      </p:sp>
      <p:sp>
        <p:nvSpPr>
          <p:cNvPr id="222215" name="Rectangle 7"/>
          <p:cNvSpPr>
            <a:spLocks noGrp="1" noChangeArrowheads="1"/>
          </p:cNvSpPr>
          <p:nvPr>
            <p:ph type="title"/>
          </p:nvPr>
        </p:nvSpPr>
        <p:spPr bwMode="auto">
          <a:xfrm>
            <a:off x="2020888" y="0"/>
            <a:ext cx="7123112" cy="838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p>
            <a:pPr lvl="0"/>
            <a:r>
              <a:rPr lang="en-US" smtClean="0"/>
              <a:t>Click to edit Master title style</a:t>
            </a:r>
          </a:p>
        </p:txBody>
      </p:sp>
      <p:sp>
        <p:nvSpPr>
          <p:cNvPr id="222216" name="Rectangle 8"/>
          <p:cNvSpPr>
            <a:spLocks noGrp="1" noChangeArrowheads="1"/>
          </p:cNvSpPr>
          <p:nvPr>
            <p:ph type="body" idx="1"/>
          </p:nvPr>
        </p:nvSpPr>
        <p:spPr bwMode="auto">
          <a:xfrm>
            <a:off x="1287463" y="1789113"/>
            <a:ext cx="7640637" cy="4262437"/>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222217" name="Picture 9"/>
          <p:cNvPicPr>
            <a:picLocks noChangeArrowheads="1"/>
          </p:cNvPicPr>
          <p:nvPr/>
        </p:nvPicPr>
        <p:blipFill>
          <a:blip r:embed="rId13" cstate="print"/>
          <a:srcRect/>
          <a:stretch>
            <a:fillRect/>
          </a:stretch>
        </p:blipFill>
        <p:spPr bwMode="auto">
          <a:xfrm>
            <a:off x="609600" y="0"/>
            <a:ext cx="1435100" cy="1435100"/>
          </a:xfrm>
          <a:prstGeom prst="rect">
            <a:avLst/>
          </a:prstGeom>
          <a:noFill/>
          <a:ln w="9525">
            <a:noFill/>
            <a:miter lim="800000"/>
            <a:headEnd/>
            <a:tailEnd/>
          </a:ln>
          <a:effectLst/>
        </p:spPr>
      </p:pic>
      <p:sp>
        <p:nvSpPr>
          <p:cNvPr id="222218" name="Rectangle 10"/>
          <p:cNvSpPr>
            <a:spLocks noGrp="1" noChangeArrowheads="1"/>
          </p:cNvSpPr>
          <p:nvPr>
            <p:ph type="sldNum" sz="quarter" idx="4"/>
          </p:nvPr>
        </p:nvSpPr>
        <p:spPr bwMode="auto">
          <a:xfrm>
            <a:off x="4803775" y="6400800"/>
            <a:ext cx="1905000" cy="457200"/>
          </a:xfrm>
          <a:prstGeom prst="rect">
            <a:avLst/>
          </a:prstGeom>
          <a:noFill/>
          <a:ln w="9525">
            <a:noFill/>
            <a:miter lim="800000"/>
            <a:headEnd/>
            <a:tailEnd/>
          </a:ln>
          <a:effectLst/>
        </p:spPr>
        <p:txBody>
          <a:bodyPr vert="horz" wrap="square" lIns="92075" tIns="46038" rIns="92075" bIns="46038" numCol="1" anchor="ctr" anchorCtr="1" compatLnSpc="1">
            <a:prstTxWarp prst="textNoShape">
              <a:avLst/>
            </a:prstTxWarp>
          </a:bodyPr>
          <a:lstStyle>
            <a:lvl1pPr algn="ctr">
              <a:spcBef>
                <a:spcPct val="0"/>
              </a:spcBef>
              <a:buClrTx/>
              <a:buFontTx/>
              <a:buNone/>
              <a:defRPr sz="1600" b="1">
                <a:effectLst>
                  <a:outerShdw blurRad="38100" dist="38100" dir="2700000" algn="tl">
                    <a:srgbClr val="C0C0C0"/>
                  </a:outerShdw>
                </a:effectLst>
                <a:latin typeface="+mn-lt"/>
              </a:defRPr>
            </a:lvl1pPr>
          </a:lstStyle>
          <a:p>
            <a:fld id="{61751E2F-817B-44F1-B4E7-4BF21BA0DD6F}" type="slidenum">
              <a:rPr lang="en-US"/>
              <a:pPr/>
              <a:t>‹#›</a:t>
            </a:fld>
            <a:endParaRPr lang="en-US"/>
          </a:p>
        </p:txBody>
      </p:sp>
      <p:sp>
        <p:nvSpPr>
          <p:cNvPr id="222219" name="Rectangle 11"/>
          <p:cNvSpPr>
            <a:spLocks noChangeArrowheads="1"/>
          </p:cNvSpPr>
          <p:nvPr/>
        </p:nvSpPr>
        <p:spPr bwMode="auto">
          <a:xfrm>
            <a:off x="0" y="0"/>
            <a:ext cx="314325" cy="6858000"/>
          </a:xfrm>
          <a:prstGeom prst="rect">
            <a:avLst/>
          </a:prstGeom>
          <a:gradFill rotWithShape="0">
            <a:gsLst>
              <a:gs pos="0">
                <a:srgbClr val="1D3275"/>
              </a:gs>
              <a:gs pos="100000">
                <a:srgbClr val="1D3275">
                  <a:gamma/>
                  <a:shade val="60000"/>
                  <a:invGamma/>
                </a:srgbClr>
              </a:gs>
            </a:gsLst>
            <a:lin ang="0" scaled="1"/>
          </a:gradFill>
          <a:ln w="12700">
            <a:solidFill>
              <a:srgbClr val="000080"/>
            </a:solidFill>
            <a:miter lim="800000"/>
            <a:headEnd/>
            <a:tailEnd/>
          </a:ln>
          <a:effectLst/>
        </p:spPr>
        <p:txBody>
          <a:bodyPr wrap="none" anchor="ctr"/>
          <a:lstStyle/>
          <a:p>
            <a:endParaRPr lang="en-US"/>
          </a:p>
        </p:txBody>
      </p:sp>
      <p:sp>
        <p:nvSpPr>
          <p:cNvPr id="222220" name="Rectangle 12"/>
          <p:cNvSpPr>
            <a:spLocks noChangeArrowheads="1"/>
          </p:cNvSpPr>
          <p:nvPr/>
        </p:nvSpPr>
        <p:spPr bwMode="auto">
          <a:xfrm>
            <a:off x="376238" y="0"/>
            <a:ext cx="142875" cy="6858000"/>
          </a:xfrm>
          <a:prstGeom prst="rect">
            <a:avLst/>
          </a:prstGeom>
          <a:gradFill rotWithShape="0">
            <a:gsLst>
              <a:gs pos="0">
                <a:srgbClr val="FF0000"/>
              </a:gs>
              <a:gs pos="100000">
                <a:srgbClr val="FF0000">
                  <a:gamma/>
                  <a:shade val="69804"/>
                  <a:invGamma/>
                </a:srgbClr>
              </a:gs>
            </a:gsLst>
            <a:lin ang="0" scaled="1"/>
          </a:gradFill>
          <a:ln w="12700">
            <a:solidFill>
              <a:srgbClr val="FF0000"/>
            </a:solidFill>
            <a:miter lim="800000"/>
            <a:headEnd/>
            <a:tailEnd/>
          </a:ln>
          <a:effectLst/>
        </p:spPr>
        <p:txBody>
          <a:bodyPr wrap="none" anchor="ctr"/>
          <a:lstStyle/>
          <a:p>
            <a:endParaRPr lang="en-US"/>
          </a:p>
        </p:txBody>
      </p:sp>
      <p:sp>
        <p:nvSpPr>
          <p:cNvPr id="222221" name="Rectangle 13"/>
          <p:cNvSpPr>
            <a:spLocks noChangeArrowheads="1"/>
          </p:cNvSpPr>
          <p:nvPr/>
        </p:nvSpPr>
        <p:spPr bwMode="auto">
          <a:xfrm>
            <a:off x="469900" y="6400800"/>
            <a:ext cx="184150" cy="457200"/>
          </a:xfrm>
          <a:prstGeom prst="rect">
            <a:avLst/>
          </a:prstGeom>
          <a:noFill/>
          <a:ln w="9525">
            <a:noFill/>
            <a:miter lim="800000"/>
            <a:headEnd/>
            <a:tailEnd/>
          </a:ln>
          <a:effectLst/>
        </p:spPr>
        <p:txBody>
          <a:bodyPr wrap="none" lIns="92075" tIns="46038" rIns="92075" bIns="46038">
            <a:spAutoFit/>
          </a:bodyPr>
          <a:lstStyle/>
          <a:p>
            <a:pPr>
              <a:spcBef>
                <a:spcPct val="0"/>
              </a:spcBef>
              <a:buClrTx/>
              <a:buFontTx/>
              <a:buNone/>
            </a:pPr>
            <a:endParaRPr lang="en-US" sz="2400">
              <a:solidFill>
                <a:schemeClr val="tx1"/>
              </a:solidFill>
              <a:latin typeface="Tahoma" pitchFamily="34" charset="0"/>
            </a:endParaRPr>
          </a:p>
        </p:txBody>
      </p:sp>
      <p:sp>
        <p:nvSpPr>
          <p:cNvPr id="222222" name="Rectangle 14"/>
          <p:cNvSpPr>
            <a:spLocks noChangeArrowheads="1"/>
          </p:cNvSpPr>
          <p:nvPr/>
        </p:nvSpPr>
        <p:spPr bwMode="auto">
          <a:xfrm>
            <a:off x="469900" y="6400800"/>
            <a:ext cx="184150" cy="457200"/>
          </a:xfrm>
          <a:prstGeom prst="rect">
            <a:avLst/>
          </a:prstGeom>
          <a:noFill/>
          <a:ln w="9525">
            <a:noFill/>
            <a:miter lim="800000"/>
            <a:headEnd/>
            <a:tailEnd/>
          </a:ln>
          <a:effectLst/>
        </p:spPr>
        <p:txBody>
          <a:bodyPr wrap="none" lIns="92075" tIns="46038" rIns="92075" bIns="46038">
            <a:spAutoFit/>
          </a:bodyPr>
          <a:lstStyle/>
          <a:p>
            <a:pPr>
              <a:spcBef>
                <a:spcPct val="0"/>
              </a:spcBef>
              <a:buClrTx/>
              <a:buFontTx/>
              <a:buNone/>
            </a:pPr>
            <a:endParaRPr lang="en-US" sz="2400">
              <a:solidFill>
                <a:schemeClr val="tx1"/>
              </a:solidFill>
              <a:latin typeface="Tahoma" pitchFamily="34" charset="0"/>
            </a:endParaRPr>
          </a:p>
        </p:txBody>
      </p:sp>
      <p:sp>
        <p:nvSpPr>
          <p:cNvPr id="222223" name="Rectangle 15"/>
          <p:cNvSpPr>
            <a:spLocks noChangeArrowheads="1"/>
          </p:cNvSpPr>
          <p:nvPr/>
        </p:nvSpPr>
        <p:spPr bwMode="auto">
          <a:xfrm>
            <a:off x="644525" y="6450013"/>
            <a:ext cx="3336925" cy="336550"/>
          </a:xfrm>
          <a:prstGeom prst="rect">
            <a:avLst/>
          </a:prstGeom>
          <a:noFill/>
          <a:ln w="9525">
            <a:noFill/>
            <a:miter lim="800000"/>
            <a:headEnd/>
            <a:tailEnd/>
          </a:ln>
          <a:effectLst/>
        </p:spPr>
        <p:txBody>
          <a:bodyPr wrap="none" lIns="92075" tIns="46038" rIns="92075" bIns="46038">
            <a:spAutoFit/>
          </a:bodyPr>
          <a:lstStyle/>
          <a:p>
            <a:pPr>
              <a:spcBef>
                <a:spcPct val="0"/>
              </a:spcBef>
              <a:buClrTx/>
              <a:buFontTx/>
              <a:buNone/>
            </a:pPr>
            <a:r>
              <a:rPr lang="en-US" sz="1600" b="1">
                <a:effectLst>
                  <a:outerShdw blurRad="38100" dist="38100" dir="2700000" algn="tl">
                    <a:srgbClr val="C0C0C0"/>
                  </a:outerShdw>
                </a:effectLst>
                <a:latin typeface="Century Gothic" pitchFamily="34" charset="0"/>
              </a:rPr>
              <a:t>Veterans Benefits Administration</a:t>
            </a:r>
          </a:p>
        </p:txBody>
      </p:sp>
      <p:sp>
        <p:nvSpPr>
          <p:cNvPr id="222225" name="Rectangle 17"/>
          <p:cNvSpPr>
            <a:spLocks noGrp="1" noChangeArrowheads="1"/>
          </p:cNvSpPr>
          <p:nvPr>
            <p:ph type="dt" sz="half" idx="2"/>
          </p:nvPr>
        </p:nvSpPr>
        <p:spPr bwMode="auto">
          <a:xfrm>
            <a:off x="7239000" y="6477000"/>
            <a:ext cx="1905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400" b="1" i="1">
                <a:solidFill>
                  <a:srgbClr val="000066"/>
                </a:solidFill>
                <a:effectLst>
                  <a:outerShdw blurRad="38100" dist="38100" dir="2700000" algn="tl">
                    <a:srgbClr val="C0C0C0"/>
                  </a:outerShdw>
                </a:effectLst>
                <a:latin typeface="Century Schoolbook" pitchFamily="18" charset="0"/>
              </a:defRPr>
            </a:lvl1pPr>
          </a:lstStyle>
          <a:p>
            <a:endParaRPr lang="en-US">
              <a:latin typeface="+mn-lt"/>
            </a:endParaRPr>
          </a:p>
          <a:p>
            <a:endParaRPr 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ransition/>
  <p:hf hdr="0" ftr="0"/>
  <p:txStyles>
    <p:titleStyle>
      <a:lvl1pPr algn="ctr" rtl="0" eaLnBrk="0" fontAlgn="base" hangingPunct="0">
        <a:spcBef>
          <a:spcPct val="0"/>
        </a:spcBef>
        <a:spcAft>
          <a:spcPct val="0"/>
        </a:spcAft>
        <a:defRPr sz="3200">
          <a:solidFill>
            <a:srgbClr val="000066"/>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200">
          <a:solidFill>
            <a:srgbClr val="000066"/>
          </a:solidFill>
          <a:effectLst>
            <a:outerShdw blurRad="38100" dist="38100" dir="2700000" algn="tl">
              <a:srgbClr val="C0C0C0"/>
            </a:outerShdw>
          </a:effectLst>
          <a:latin typeface="Century Gothic" pitchFamily="34" charset="0"/>
        </a:defRPr>
      </a:lvl2pPr>
      <a:lvl3pPr algn="ctr" rtl="0" eaLnBrk="0" fontAlgn="base" hangingPunct="0">
        <a:spcBef>
          <a:spcPct val="0"/>
        </a:spcBef>
        <a:spcAft>
          <a:spcPct val="0"/>
        </a:spcAft>
        <a:defRPr sz="3200">
          <a:solidFill>
            <a:srgbClr val="000066"/>
          </a:solidFill>
          <a:effectLst>
            <a:outerShdw blurRad="38100" dist="38100" dir="2700000" algn="tl">
              <a:srgbClr val="C0C0C0"/>
            </a:outerShdw>
          </a:effectLst>
          <a:latin typeface="Century Gothic" pitchFamily="34" charset="0"/>
        </a:defRPr>
      </a:lvl3pPr>
      <a:lvl4pPr algn="ctr" rtl="0" eaLnBrk="0" fontAlgn="base" hangingPunct="0">
        <a:spcBef>
          <a:spcPct val="0"/>
        </a:spcBef>
        <a:spcAft>
          <a:spcPct val="0"/>
        </a:spcAft>
        <a:defRPr sz="3200">
          <a:solidFill>
            <a:srgbClr val="000066"/>
          </a:solidFill>
          <a:effectLst>
            <a:outerShdw blurRad="38100" dist="38100" dir="2700000" algn="tl">
              <a:srgbClr val="C0C0C0"/>
            </a:outerShdw>
          </a:effectLst>
          <a:latin typeface="Century Gothic" pitchFamily="34" charset="0"/>
        </a:defRPr>
      </a:lvl4pPr>
      <a:lvl5pPr algn="ctr" rtl="0" eaLnBrk="0" fontAlgn="base" hangingPunct="0">
        <a:spcBef>
          <a:spcPct val="0"/>
        </a:spcBef>
        <a:spcAft>
          <a:spcPct val="0"/>
        </a:spcAft>
        <a:defRPr sz="3200">
          <a:solidFill>
            <a:srgbClr val="000066"/>
          </a:solidFill>
          <a:effectLst>
            <a:outerShdw blurRad="38100" dist="38100" dir="2700000" algn="tl">
              <a:srgbClr val="C0C0C0"/>
            </a:outerShdw>
          </a:effectLst>
          <a:latin typeface="Century Gothic" pitchFamily="34" charset="0"/>
        </a:defRPr>
      </a:lvl5pPr>
      <a:lvl6pPr marL="457200" algn="ctr" rtl="0" eaLnBrk="0" fontAlgn="base" hangingPunct="0">
        <a:spcBef>
          <a:spcPct val="0"/>
        </a:spcBef>
        <a:spcAft>
          <a:spcPct val="0"/>
        </a:spcAft>
        <a:defRPr sz="3200">
          <a:solidFill>
            <a:srgbClr val="000066"/>
          </a:solidFill>
          <a:effectLst>
            <a:outerShdw blurRad="38100" dist="38100" dir="2700000" algn="tl">
              <a:srgbClr val="C0C0C0"/>
            </a:outerShdw>
          </a:effectLst>
          <a:latin typeface="Century Gothic" pitchFamily="34" charset="0"/>
        </a:defRPr>
      </a:lvl6pPr>
      <a:lvl7pPr marL="914400" algn="ctr" rtl="0" eaLnBrk="0" fontAlgn="base" hangingPunct="0">
        <a:spcBef>
          <a:spcPct val="0"/>
        </a:spcBef>
        <a:spcAft>
          <a:spcPct val="0"/>
        </a:spcAft>
        <a:defRPr sz="3200">
          <a:solidFill>
            <a:srgbClr val="000066"/>
          </a:solidFill>
          <a:effectLst>
            <a:outerShdw blurRad="38100" dist="38100" dir="2700000" algn="tl">
              <a:srgbClr val="C0C0C0"/>
            </a:outerShdw>
          </a:effectLst>
          <a:latin typeface="Century Gothic" pitchFamily="34" charset="0"/>
        </a:defRPr>
      </a:lvl7pPr>
      <a:lvl8pPr marL="1371600" algn="ctr" rtl="0" eaLnBrk="0" fontAlgn="base" hangingPunct="0">
        <a:spcBef>
          <a:spcPct val="0"/>
        </a:spcBef>
        <a:spcAft>
          <a:spcPct val="0"/>
        </a:spcAft>
        <a:defRPr sz="3200">
          <a:solidFill>
            <a:srgbClr val="000066"/>
          </a:solidFill>
          <a:effectLst>
            <a:outerShdw blurRad="38100" dist="38100" dir="2700000" algn="tl">
              <a:srgbClr val="C0C0C0"/>
            </a:outerShdw>
          </a:effectLst>
          <a:latin typeface="Century Gothic" pitchFamily="34" charset="0"/>
        </a:defRPr>
      </a:lvl8pPr>
      <a:lvl9pPr marL="1828800" algn="ctr" rtl="0" eaLnBrk="0" fontAlgn="base" hangingPunct="0">
        <a:spcBef>
          <a:spcPct val="0"/>
        </a:spcBef>
        <a:spcAft>
          <a:spcPct val="0"/>
        </a:spcAft>
        <a:defRPr sz="3200">
          <a:solidFill>
            <a:srgbClr val="000066"/>
          </a:solidFill>
          <a:effectLst>
            <a:outerShdw blurRad="38100" dist="38100" dir="2700000" algn="tl">
              <a:srgbClr val="C0C0C0"/>
            </a:outerShdw>
          </a:effectLst>
          <a:latin typeface="Century Gothic" pitchFamily="34" charset="0"/>
        </a:defRPr>
      </a:lvl9pPr>
    </p:titleStyle>
    <p:bodyStyle>
      <a:lvl1pPr marL="342900" indent="-342900" algn="l" rtl="0" eaLnBrk="0" fontAlgn="base" hangingPunct="0">
        <a:spcBef>
          <a:spcPct val="20000"/>
        </a:spcBef>
        <a:spcAft>
          <a:spcPct val="0"/>
        </a:spcAft>
        <a:buClr>
          <a:srgbClr val="CC0000"/>
        </a:buClr>
        <a:buFont typeface="Wingdings" pitchFamily="2" charset="2"/>
        <a:buChar char="§"/>
        <a:defRPr sz="2600">
          <a:solidFill>
            <a:srgbClr val="1D3275"/>
          </a:solidFill>
          <a:latin typeface="+mn-lt"/>
          <a:ea typeface="+mn-ea"/>
          <a:cs typeface="+mn-cs"/>
        </a:defRPr>
      </a:lvl1pPr>
      <a:lvl2pPr marL="742950" indent="-285750" algn="l" rtl="0" eaLnBrk="0" fontAlgn="base" hangingPunct="0">
        <a:spcBef>
          <a:spcPct val="20000"/>
        </a:spcBef>
        <a:spcAft>
          <a:spcPct val="0"/>
        </a:spcAft>
        <a:buChar char="–"/>
        <a:defRPr sz="2200">
          <a:solidFill>
            <a:srgbClr val="1D3275"/>
          </a:solidFill>
          <a:latin typeface="Tahoma" pitchFamily="34" charset="0"/>
        </a:defRPr>
      </a:lvl2pPr>
      <a:lvl3pPr marL="1143000" indent="-228600" algn="l" rtl="0" eaLnBrk="0" fontAlgn="base" hangingPunct="0">
        <a:spcBef>
          <a:spcPct val="20000"/>
        </a:spcBef>
        <a:spcAft>
          <a:spcPct val="0"/>
        </a:spcAft>
        <a:buClr>
          <a:srgbClr val="CC0000"/>
        </a:buClr>
        <a:buChar char="•"/>
        <a:defRPr sz="2000">
          <a:solidFill>
            <a:srgbClr val="1D3275"/>
          </a:solidFill>
          <a:latin typeface="Tahoma" pitchFamily="34" charset="0"/>
        </a:defRPr>
      </a:lvl3pPr>
      <a:lvl4pPr marL="1600200" indent="-228600" algn="l" rtl="0" eaLnBrk="0" fontAlgn="base" hangingPunct="0">
        <a:spcBef>
          <a:spcPct val="20000"/>
        </a:spcBef>
        <a:spcAft>
          <a:spcPct val="0"/>
        </a:spcAft>
        <a:buChar char="–"/>
        <a:defRPr>
          <a:solidFill>
            <a:srgbClr val="1D3275"/>
          </a:solidFill>
          <a:latin typeface="Tahoma" pitchFamily="34" charset="0"/>
        </a:defRPr>
      </a:lvl4pPr>
      <a:lvl5pPr marL="2057400" indent="-228600" algn="l" rtl="0" eaLnBrk="0" fontAlgn="base" hangingPunct="0">
        <a:spcBef>
          <a:spcPct val="20000"/>
        </a:spcBef>
        <a:spcAft>
          <a:spcPct val="0"/>
        </a:spcAft>
        <a:buChar char="»"/>
        <a:defRPr>
          <a:solidFill>
            <a:srgbClr val="1D3275"/>
          </a:solidFill>
          <a:latin typeface="Tahoma" pitchFamily="34" charset="0"/>
        </a:defRPr>
      </a:lvl5pPr>
      <a:lvl6pPr marL="2514600" indent="-228600" algn="l" rtl="0" eaLnBrk="0" fontAlgn="base" hangingPunct="0">
        <a:spcBef>
          <a:spcPct val="20000"/>
        </a:spcBef>
        <a:spcAft>
          <a:spcPct val="0"/>
        </a:spcAft>
        <a:buChar char="»"/>
        <a:defRPr>
          <a:solidFill>
            <a:srgbClr val="1D3275"/>
          </a:solidFill>
          <a:latin typeface="Tahoma" pitchFamily="34" charset="0"/>
        </a:defRPr>
      </a:lvl6pPr>
      <a:lvl7pPr marL="2971800" indent="-228600" algn="l" rtl="0" eaLnBrk="0" fontAlgn="base" hangingPunct="0">
        <a:spcBef>
          <a:spcPct val="20000"/>
        </a:spcBef>
        <a:spcAft>
          <a:spcPct val="0"/>
        </a:spcAft>
        <a:buChar char="»"/>
        <a:defRPr>
          <a:solidFill>
            <a:srgbClr val="1D3275"/>
          </a:solidFill>
          <a:latin typeface="Tahoma" pitchFamily="34" charset="0"/>
        </a:defRPr>
      </a:lvl7pPr>
      <a:lvl8pPr marL="3429000" indent="-228600" algn="l" rtl="0" eaLnBrk="0" fontAlgn="base" hangingPunct="0">
        <a:spcBef>
          <a:spcPct val="20000"/>
        </a:spcBef>
        <a:spcAft>
          <a:spcPct val="0"/>
        </a:spcAft>
        <a:buChar char="»"/>
        <a:defRPr>
          <a:solidFill>
            <a:srgbClr val="1D3275"/>
          </a:solidFill>
          <a:latin typeface="Tahoma" pitchFamily="34" charset="0"/>
        </a:defRPr>
      </a:lvl8pPr>
      <a:lvl9pPr marL="3886200" indent="-228600" algn="l" rtl="0" eaLnBrk="0" fontAlgn="base" hangingPunct="0">
        <a:spcBef>
          <a:spcPct val="20000"/>
        </a:spcBef>
        <a:spcAft>
          <a:spcPct val="0"/>
        </a:spcAft>
        <a:buChar char="»"/>
        <a:defRPr>
          <a:solidFill>
            <a:srgbClr val="1D3275"/>
          </a:solidFill>
          <a:latin typeface="Tahoma"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hyperlink" Target="http://www.va.gov/HOMELESS/docs/HCHV_Sites_ByState.pdf" TargetMode="External"/><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hyperlink" Target="http://www1.va.gov/HOMELESS/NationalCallCenter.asp" TargetMode="External"/><Relationship Id="rId1" Type="http://schemas.openxmlformats.org/officeDocument/2006/relationships/slideLayout" Target="../slideLayouts/slideLayout7.xml"/><Relationship Id="rId6" Type="http://schemas.openxmlformats.org/officeDocument/2006/relationships/hyperlink" Target="http://www.nationalresourcedirectory.gov/" TargetMode="External"/><Relationship Id="rId5" Type="http://schemas.openxmlformats.org/officeDocument/2006/relationships/image" Target="../media/image7.png"/><Relationship Id="rId4" Type="http://schemas.openxmlformats.org/officeDocument/2006/relationships/hyperlink" Target="http://www.suicidepreventionlifeline.org/Veterans/Default.aspx" TargetMode="External"/><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61" name="Text Box 5"/>
          <p:cNvSpPr txBox="1">
            <a:spLocks noChangeArrowheads="1"/>
          </p:cNvSpPr>
          <p:nvPr/>
        </p:nvSpPr>
        <p:spPr bwMode="auto">
          <a:xfrm>
            <a:off x="914400" y="3657600"/>
            <a:ext cx="7791450" cy="3697288"/>
          </a:xfrm>
          <a:prstGeom prst="rect">
            <a:avLst/>
          </a:prstGeom>
          <a:noFill/>
          <a:ln w="12700">
            <a:noFill/>
            <a:miter lim="800000"/>
            <a:headEnd type="none" w="sm" len="sm"/>
            <a:tailEnd type="none" w="sm" len="sm"/>
          </a:ln>
          <a:effectLst/>
        </p:spPr>
        <p:txBody>
          <a:bodyPr>
            <a:spAutoFit/>
          </a:bodyPr>
          <a:lstStyle/>
          <a:p>
            <a:pPr algn="ctr">
              <a:spcBef>
                <a:spcPct val="0"/>
              </a:spcBef>
              <a:buClrTx/>
              <a:buFontTx/>
              <a:buNone/>
            </a:pPr>
            <a:endParaRPr lang="en-US" sz="2400">
              <a:solidFill>
                <a:srgbClr val="000066"/>
              </a:solidFill>
              <a:latin typeface="Century Gothic" pitchFamily="34" charset="0"/>
              <a:cs typeface="Times New Roman" pitchFamily="18" charset="0"/>
            </a:endParaRPr>
          </a:p>
          <a:p>
            <a:pPr algn="ctr">
              <a:spcBef>
                <a:spcPct val="0"/>
              </a:spcBef>
              <a:buClrTx/>
              <a:buFontTx/>
              <a:buNone/>
            </a:pPr>
            <a:endParaRPr lang="en-US" sz="2400">
              <a:solidFill>
                <a:srgbClr val="000066"/>
              </a:solidFill>
              <a:effectLst>
                <a:outerShdw blurRad="38100" dist="38100" dir="2700000" algn="tl">
                  <a:srgbClr val="C0C0C0"/>
                </a:outerShdw>
              </a:effectLst>
              <a:latin typeface="Century Gothic" pitchFamily="34" charset="0"/>
              <a:cs typeface="Times New Roman" pitchFamily="18" charset="0"/>
            </a:endParaRPr>
          </a:p>
          <a:p>
            <a:pPr fontAlgn="t">
              <a:spcBef>
                <a:spcPct val="0"/>
              </a:spcBef>
              <a:buClrTx/>
              <a:buFontTx/>
              <a:buNone/>
            </a:pPr>
            <a:r>
              <a:rPr lang="en-US" sz="2400" b="1">
                <a:solidFill>
                  <a:srgbClr val="000000"/>
                </a:solidFill>
                <a:effectLst>
                  <a:outerShdw blurRad="38100" dist="38100" dir="2700000" algn="tl">
                    <a:srgbClr val="C0C0C0"/>
                  </a:outerShdw>
                </a:effectLst>
                <a:latin typeface="Verdana" pitchFamily="34" charset="0"/>
                <a:ea typeface="Calibri" pitchFamily="34" charset="0"/>
                <a:cs typeface="Calibri" pitchFamily="34" charset="0"/>
              </a:rPr>
              <a:t>         </a:t>
            </a:r>
            <a:r>
              <a:rPr lang="en-US" sz="2000" b="1">
                <a:solidFill>
                  <a:srgbClr val="000000"/>
                </a:solidFill>
                <a:effectLst>
                  <a:outerShdw blurRad="38100" dist="38100" dir="2700000" algn="tl">
                    <a:srgbClr val="C0C0C0"/>
                  </a:outerShdw>
                </a:effectLst>
                <a:latin typeface="Verdana" pitchFamily="34" charset="0"/>
                <a:ea typeface="Calibri" pitchFamily="34" charset="0"/>
                <a:cs typeface="Calibri" pitchFamily="34" charset="0"/>
              </a:rPr>
              <a:t>Supportive Services for Veteran Families           </a:t>
            </a:r>
          </a:p>
          <a:p>
            <a:pPr fontAlgn="t">
              <a:spcBef>
                <a:spcPct val="0"/>
              </a:spcBef>
              <a:buClrTx/>
              <a:buFontTx/>
              <a:buNone/>
            </a:pPr>
            <a:r>
              <a:rPr lang="en-US" sz="2000" b="1">
                <a:solidFill>
                  <a:srgbClr val="000000"/>
                </a:solidFill>
                <a:effectLst>
                  <a:outerShdw blurRad="38100" dist="38100" dir="2700000" algn="tl">
                    <a:srgbClr val="C0C0C0"/>
                  </a:outerShdw>
                </a:effectLst>
                <a:latin typeface="Verdana" pitchFamily="34" charset="0"/>
                <a:ea typeface="Calibri" pitchFamily="34" charset="0"/>
                <a:cs typeface="Calibri" pitchFamily="34" charset="0"/>
              </a:rPr>
              <a:t>                                     (SSVF)</a:t>
            </a:r>
            <a:r>
              <a:rPr lang="en-US" sz="2400" b="1">
                <a:solidFill>
                  <a:srgbClr val="000000"/>
                </a:solidFill>
                <a:effectLst>
                  <a:outerShdw blurRad="38100" dist="38100" dir="2700000" algn="tl">
                    <a:srgbClr val="C0C0C0"/>
                  </a:outerShdw>
                </a:effectLst>
                <a:latin typeface="Verdana" pitchFamily="34" charset="0"/>
                <a:ea typeface="Calibri" pitchFamily="34" charset="0"/>
                <a:cs typeface="Calibri" pitchFamily="34" charset="0"/>
              </a:rPr>
              <a:t>    </a:t>
            </a:r>
          </a:p>
          <a:p>
            <a:pPr fontAlgn="t">
              <a:spcBef>
                <a:spcPct val="0"/>
              </a:spcBef>
              <a:buClrTx/>
              <a:buFontTx/>
              <a:buNone/>
            </a:pPr>
            <a:r>
              <a:rPr lang="en-US" sz="2000" b="1">
                <a:solidFill>
                  <a:srgbClr val="000000"/>
                </a:solidFill>
                <a:effectLst>
                  <a:outerShdw blurRad="38100" dist="38100" dir="2700000" algn="tl">
                    <a:srgbClr val="C0C0C0"/>
                  </a:outerShdw>
                </a:effectLst>
                <a:latin typeface="Verdana" pitchFamily="34" charset="0"/>
                <a:ea typeface="Calibri" pitchFamily="34" charset="0"/>
                <a:cs typeface="Calibri" pitchFamily="34" charset="0"/>
              </a:rPr>
              <a:t>                                    </a:t>
            </a:r>
            <a:endParaRPr lang="en-US" sz="1600" b="1">
              <a:solidFill>
                <a:srgbClr val="000000"/>
              </a:solidFill>
              <a:effectLst>
                <a:outerShdw blurRad="38100" dist="38100" dir="2700000" algn="tl">
                  <a:srgbClr val="C0C0C0"/>
                </a:outerShdw>
              </a:effectLst>
              <a:latin typeface="Verdana" pitchFamily="34" charset="0"/>
              <a:cs typeface="Times New Roman" pitchFamily="18" charset="0"/>
            </a:endParaRPr>
          </a:p>
          <a:p>
            <a:pPr algn="ctr">
              <a:spcBef>
                <a:spcPct val="0"/>
              </a:spcBef>
              <a:buClrTx/>
              <a:buFontTx/>
              <a:buNone/>
            </a:pPr>
            <a:r>
              <a:rPr lang="en-US" sz="2000">
                <a:solidFill>
                  <a:srgbClr val="000066"/>
                </a:solidFill>
                <a:effectLst>
                  <a:outerShdw blurRad="38100" dist="38100" dir="2700000" algn="tl">
                    <a:srgbClr val="C0C0C0"/>
                  </a:outerShdw>
                </a:effectLst>
                <a:cs typeface="Times New Roman" pitchFamily="18" charset="0"/>
              </a:rPr>
              <a:t>September 20, 2011</a:t>
            </a:r>
          </a:p>
          <a:p>
            <a:pPr algn="ctr">
              <a:spcBef>
                <a:spcPct val="0"/>
              </a:spcBef>
              <a:buClrTx/>
              <a:buFontTx/>
              <a:buNone/>
            </a:pPr>
            <a:endParaRPr lang="en-US" sz="2000">
              <a:solidFill>
                <a:srgbClr val="000066"/>
              </a:solidFill>
              <a:effectLst>
                <a:outerShdw blurRad="38100" dist="38100" dir="2700000" algn="tl">
                  <a:srgbClr val="C0C0C0"/>
                </a:outerShdw>
              </a:effectLst>
              <a:cs typeface="Times New Roman" pitchFamily="18" charset="0"/>
            </a:endParaRPr>
          </a:p>
          <a:p>
            <a:pPr algn="ctr">
              <a:spcBef>
                <a:spcPct val="0"/>
              </a:spcBef>
              <a:buClrTx/>
              <a:buFontTx/>
              <a:buNone/>
            </a:pPr>
            <a:r>
              <a:rPr lang="en-US" sz="2400">
                <a:solidFill>
                  <a:srgbClr val="000066"/>
                </a:solidFill>
                <a:effectLst>
                  <a:outerShdw blurRad="38100" dist="38100" dir="2700000" algn="tl">
                    <a:srgbClr val="C0C0C0"/>
                  </a:outerShdw>
                </a:effectLst>
              </a:rPr>
              <a:t>Richard Ivy</a:t>
            </a:r>
          </a:p>
          <a:p>
            <a:pPr algn="ctr" eaLnBrk="1" hangingPunct="1">
              <a:buClrTx/>
              <a:buFontTx/>
              <a:buNone/>
            </a:pPr>
            <a:r>
              <a:rPr lang="en-US" sz="2400">
                <a:solidFill>
                  <a:srgbClr val="000066"/>
                </a:solidFill>
                <a:effectLst>
                  <a:outerShdw blurRad="38100" dist="38100" dir="2700000" algn="tl">
                    <a:srgbClr val="C0C0C0"/>
                  </a:outerShdw>
                </a:effectLst>
              </a:rPr>
              <a:t>Benefits Assistance Service</a:t>
            </a:r>
          </a:p>
          <a:p>
            <a:pPr algn="ctr">
              <a:spcBef>
                <a:spcPct val="0"/>
              </a:spcBef>
              <a:buClrTx/>
              <a:buFontTx/>
              <a:buNone/>
            </a:pPr>
            <a:endParaRPr lang="en-US" sz="2800">
              <a:solidFill>
                <a:srgbClr val="000066"/>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1"/>
          <p:cNvSpPr>
            <a:spLocks noGrp="1"/>
          </p:cNvSpPr>
          <p:nvPr>
            <p:ph type="sldNum" sz="quarter" idx="10"/>
          </p:nvPr>
        </p:nvSpPr>
        <p:spPr/>
        <p:txBody>
          <a:bodyPr/>
          <a:lstStyle/>
          <a:p>
            <a:fld id="{D2396F8D-5212-4778-93AE-8C4E26CD22CA}" type="slidenum">
              <a:rPr lang="en-US"/>
              <a:pPr/>
              <a:t>2</a:t>
            </a:fld>
            <a:endParaRPr lang="en-US"/>
          </a:p>
        </p:txBody>
      </p:sp>
      <p:sp>
        <p:nvSpPr>
          <p:cNvPr id="6" name="Date Placeholder 2"/>
          <p:cNvSpPr>
            <a:spLocks noGrp="1"/>
          </p:cNvSpPr>
          <p:nvPr>
            <p:ph type="dt" sz="half" idx="11"/>
          </p:nvPr>
        </p:nvSpPr>
        <p:spPr/>
        <p:txBody>
          <a:bodyPr/>
          <a:lstStyle/>
          <a:p>
            <a:endParaRPr lang="en-US"/>
          </a:p>
          <a:p>
            <a:endParaRPr lang="en-US" i="1">
              <a:latin typeface="Century Schoolbook" pitchFamily="18" charset="0"/>
            </a:endParaRPr>
          </a:p>
        </p:txBody>
      </p:sp>
      <p:graphicFrame>
        <p:nvGraphicFramePr>
          <p:cNvPr id="795650" name="Object 2"/>
          <p:cNvGraphicFramePr>
            <a:graphicFrameLocks noChangeAspect="1"/>
          </p:cNvGraphicFramePr>
          <p:nvPr/>
        </p:nvGraphicFramePr>
        <p:xfrm>
          <a:off x="685800" y="1752600"/>
          <a:ext cx="8226425" cy="3352800"/>
        </p:xfrm>
        <a:graphic>
          <a:graphicData uri="http://schemas.openxmlformats.org/presentationml/2006/ole">
            <p:oleObj spid="_x0000_s795650" name="MS Org Chart" r:id="rId3" imgW="7708680" imgH="2050920" progId="OrgPlusWOPX.4">
              <p:embed followColorScheme="full"/>
            </p:oleObj>
          </a:graphicData>
        </a:graphic>
      </p:graphicFrame>
      <p:sp>
        <p:nvSpPr>
          <p:cNvPr id="795651" name="Rectangle 3"/>
          <p:cNvSpPr>
            <a:spLocks noChangeArrowheads="1"/>
          </p:cNvSpPr>
          <p:nvPr/>
        </p:nvSpPr>
        <p:spPr bwMode="auto">
          <a:xfrm>
            <a:off x="2057400" y="228600"/>
            <a:ext cx="7086600" cy="519113"/>
          </a:xfrm>
          <a:prstGeom prst="rect">
            <a:avLst/>
          </a:prstGeom>
          <a:noFill/>
          <a:ln w="9525">
            <a:noFill/>
            <a:miter lim="800000"/>
            <a:headEnd/>
            <a:tailEnd/>
          </a:ln>
          <a:effectLst/>
        </p:spPr>
        <p:txBody>
          <a:bodyPr lIns="92075" tIns="46038" rIns="92075" bIns="46038">
            <a:spAutoFit/>
          </a:bodyPr>
          <a:lstStyle/>
          <a:p>
            <a:pPr>
              <a:buFont typeface="Wingdings" pitchFamily="2" charset="2"/>
              <a:buNone/>
            </a:pPr>
            <a:r>
              <a:rPr lang="en-US" sz="2800" b="1">
                <a:solidFill>
                  <a:schemeClr val="tx1"/>
                </a:solidFill>
                <a:latin typeface="Verdana" pitchFamily="34" charset="0"/>
              </a:rPr>
              <a:t>  Department of Veterans Affairs</a:t>
            </a:r>
          </a:p>
        </p:txBody>
      </p:sp>
      <p:sp>
        <p:nvSpPr>
          <p:cNvPr id="795652" name="Text Box 4"/>
          <p:cNvSpPr txBox="1">
            <a:spLocks noChangeArrowheads="1"/>
          </p:cNvSpPr>
          <p:nvPr/>
        </p:nvSpPr>
        <p:spPr bwMode="auto">
          <a:xfrm>
            <a:off x="762000" y="5562600"/>
            <a:ext cx="8077200" cy="641350"/>
          </a:xfrm>
          <a:prstGeom prst="rect">
            <a:avLst/>
          </a:prstGeom>
          <a:noFill/>
          <a:ln w="9525">
            <a:noFill/>
            <a:miter lim="800000"/>
            <a:headEnd/>
            <a:tailEnd/>
          </a:ln>
          <a:effectLst/>
        </p:spPr>
        <p:txBody>
          <a:bodyPr lIns="92075" tIns="46038" rIns="92075" bIns="46038">
            <a:spAutoFit/>
          </a:bodyPr>
          <a:lstStyle/>
          <a:p>
            <a:pPr marL="457200" indent="-457200">
              <a:spcBef>
                <a:spcPct val="50000"/>
              </a:spcBef>
              <a:buFont typeface="Wingdings" pitchFamily="2" charset="2"/>
              <a:buNone/>
            </a:pPr>
            <a:r>
              <a:rPr lang="en-US" sz="1800">
                <a:solidFill>
                  <a:schemeClr val="tx1"/>
                </a:solidFill>
                <a:latin typeface="Arial"/>
              </a:rPr>
              <a:t>“</a:t>
            </a:r>
            <a:r>
              <a:rPr lang="en-US" sz="1800">
                <a:solidFill>
                  <a:schemeClr val="tx1"/>
                </a:solidFill>
                <a:latin typeface="Verdana" pitchFamily="34" charset="0"/>
              </a:rPr>
              <a:t>To care for him who shall have borne the battle and for his widow   and orphan,</a:t>
            </a:r>
            <a:r>
              <a:rPr lang="en-US" sz="1800">
                <a:solidFill>
                  <a:schemeClr val="tx1"/>
                </a:solidFill>
                <a:latin typeface="Arial"/>
              </a:rPr>
              <a:t>”</a:t>
            </a:r>
            <a:r>
              <a:rPr lang="en-US" sz="1800">
                <a:solidFill>
                  <a:schemeClr val="tx1"/>
                </a:solidFill>
                <a:latin typeface="Verdana" pitchFamily="34" charset="0"/>
              </a:rPr>
              <a:t>    President Lincoln</a:t>
            </a:r>
            <a:endParaRPr 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99753377-EEA4-4BB8-BF2B-7E6A10A06AEA}" type="slidenum">
              <a:rPr lang="en-US"/>
              <a:pPr/>
              <a:t>3</a:t>
            </a:fld>
            <a:endParaRPr lang="en-US"/>
          </a:p>
        </p:txBody>
      </p:sp>
      <p:sp>
        <p:nvSpPr>
          <p:cNvPr id="5" name="Date Placeholder 4"/>
          <p:cNvSpPr>
            <a:spLocks noGrp="1"/>
          </p:cNvSpPr>
          <p:nvPr>
            <p:ph type="dt" sz="half" idx="11"/>
          </p:nvPr>
        </p:nvSpPr>
        <p:spPr/>
        <p:txBody>
          <a:bodyPr/>
          <a:lstStyle/>
          <a:p>
            <a:endParaRPr lang="en-US"/>
          </a:p>
          <a:p>
            <a:endParaRPr lang="en-US" i="1">
              <a:latin typeface="Century Schoolbook" pitchFamily="18" charset="0"/>
            </a:endParaRPr>
          </a:p>
        </p:txBody>
      </p:sp>
      <p:sp>
        <p:nvSpPr>
          <p:cNvPr id="748546" name="Rectangle 2"/>
          <p:cNvSpPr>
            <a:spLocks noGrp="1" noChangeArrowheads="1"/>
          </p:cNvSpPr>
          <p:nvPr>
            <p:ph type="title"/>
          </p:nvPr>
        </p:nvSpPr>
        <p:spPr>
          <a:xfrm>
            <a:off x="1981200" y="0"/>
            <a:ext cx="7010400" cy="838200"/>
          </a:xfrm>
        </p:spPr>
        <p:txBody>
          <a:bodyPr/>
          <a:lstStyle/>
          <a:p>
            <a:r>
              <a:rPr lang="en-US" sz="3600">
                <a:latin typeface="Arial" charset="0"/>
              </a:rPr>
              <a:t>Veterans Benefits Administration</a:t>
            </a:r>
          </a:p>
        </p:txBody>
      </p:sp>
      <p:sp>
        <p:nvSpPr>
          <p:cNvPr id="748547" name="Rectangle 3"/>
          <p:cNvSpPr>
            <a:spLocks noGrp="1" noChangeArrowheads="1"/>
          </p:cNvSpPr>
          <p:nvPr>
            <p:ph type="body" idx="1"/>
          </p:nvPr>
        </p:nvSpPr>
        <p:spPr>
          <a:xfrm>
            <a:off x="1066800" y="1600200"/>
            <a:ext cx="7869238" cy="4572000"/>
          </a:xfrm>
        </p:spPr>
        <p:txBody>
          <a:bodyPr/>
          <a:lstStyle/>
          <a:p>
            <a:pPr>
              <a:buClr>
                <a:srgbClr val="1D3275"/>
              </a:buClr>
              <a:buFont typeface="Wingdings" pitchFamily="2" charset="2"/>
              <a:buChar char="Ø"/>
            </a:pPr>
            <a:r>
              <a:rPr lang="en-US" sz="2200">
                <a:latin typeface="Arial" charset="0"/>
              </a:rPr>
              <a:t>Benefits Assistance</a:t>
            </a:r>
          </a:p>
          <a:p>
            <a:pPr>
              <a:buClr>
                <a:srgbClr val="1D3275"/>
              </a:buClr>
              <a:buFont typeface="Wingdings" pitchFamily="2" charset="2"/>
              <a:buChar char="Ø"/>
            </a:pPr>
            <a:endParaRPr lang="en-US" sz="2200">
              <a:latin typeface="Arial" charset="0"/>
            </a:endParaRPr>
          </a:p>
          <a:p>
            <a:pPr>
              <a:buClr>
                <a:srgbClr val="1D3275"/>
              </a:buClr>
              <a:buFont typeface="Wingdings" pitchFamily="2" charset="2"/>
              <a:buChar char="Ø"/>
            </a:pPr>
            <a:r>
              <a:rPr lang="en-US" sz="2200">
                <a:latin typeface="Arial" charset="0"/>
              </a:rPr>
              <a:t>Compensation and Pension</a:t>
            </a:r>
          </a:p>
          <a:p>
            <a:pPr>
              <a:buClr>
                <a:srgbClr val="1D3275"/>
              </a:buClr>
              <a:buFont typeface="Wingdings" pitchFamily="2" charset="2"/>
              <a:buChar char="Ø"/>
            </a:pPr>
            <a:endParaRPr lang="en-US" sz="2200">
              <a:latin typeface="Arial" charset="0"/>
            </a:endParaRPr>
          </a:p>
          <a:p>
            <a:pPr>
              <a:buClr>
                <a:srgbClr val="1D3275"/>
              </a:buClr>
              <a:buFont typeface="Wingdings" pitchFamily="2" charset="2"/>
              <a:buChar char="Ø"/>
            </a:pPr>
            <a:r>
              <a:rPr lang="en-US" sz="2200">
                <a:latin typeface="Arial" charset="0"/>
              </a:rPr>
              <a:t>Education</a:t>
            </a:r>
          </a:p>
          <a:p>
            <a:pPr>
              <a:buClr>
                <a:srgbClr val="1D3275"/>
              </a:buClr>
              <a:buFont typeface="Wingdings" pitchFamily="2" charset="2"/>
              <a:buChar char="Ø"/>
            </a:pPr>
            <a:endParaRPr lang="en-US" sz="2200">
              <a:latin typeface="Arial" charset="0"/>
            </a:endParaRPr>
          </a:p>
          <a:p>
            <a:pPr>
              <a:buClr>
                <a:srgbClr val="1D3275"/>
              </a:buClr>
              <a:buFont typeface="Wingdings" pitchFamily="2" charset="2"/>
              <a:buChar char="Ø"/>
            </a:pPr>
            <a:r>
              <a:rPr lang="en-US" sz="2200">
                <a:latin typeface="Arial" charset="0"/>
              </a:rPr>
              <a:t>Loan Guaranty</a:t>
            </a:r>
          </a:p>
          <a:p>
            <a:pPr>
              <a:buClr>
                <a:srgbClr val="1D3275"/>
              </a:buClr>
              <a:buFont typeface="Wingdings" pitchFamily="2" charset="2"/>
              <a:buChar char="Ø"/>
            </a:pPr>
            <a:endParaRPr lang="en-US" sz="2200">
              <a:latin typeface="Arial" charset="0"/>
            </a:endParaRPr>
          </a:p>
          <a:p>
            <a:pPr>
              <a:buClr>
                <a:srgbClr val="1D3275"/>
              </a:buClr>
              <a:buFont typeface="Wingdings" pitchFamily="2" charset="2"/>
              <a:buChar char="Ø"/>
            </a:pPr>
            <a:r>
              <a:rPr lang="en-US" sz="2200">
                <a:latin typeface="Arial" charset="0"/>
              </a:rPr>
              <a:t>Vocational Rehabilitation &amp; Employment (VR&amp;E)</a:t>
            </a:r>
          </a:p>
          <a:p>
            <a:pPr>
              <a:buClr>
                <a:srgbClr val="1D3275"/>
              </a:buClr>
              <a:buFont typeface="Wingdings" pitchFamily="2" charset="2"/>
              <a:buChar char="Ø"/>
            </a:pPr>
            <a:endParaRPr lang="en-US" sz="2200">
              <a:latin typeface="Arial" charset="0"/>
            </a:endParaRPr>
          </a:p>
          <a:p>
            <a:pPr>
              <a:buClr>
                <a:srgbClr val="1D3275"/>
              </a:buClr>
              <a:buFont typeface="Wingdings" pitchFamily="2" charset="2"/>
              <a:buChar char="Ø"/>
            </a:pPr>
            <a:r>
              <a:rPr lang="en-US" sz="2200">
                <a:latin typeface="Arial" charset="0"/>
              </a:rPr>
              <a:t>Insurance</a:t>
            </a:r>
          </a:p>
          <a:p>
            <a:pPr>
              <a:buFont typeface="Wingdings" pitchFamily="2" charset="2"/>
              <a:buNone/>
            </a:pPr>
            <a:endParaRPr lang="en-US" sz="28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61B083D-2DFA-4EC0-B0A5-497362FDCC4A}" type="slidenum">
              <a:rPr lang="en-US"/>
              <a:pPr/>
              <a:t>4</a:t>
            </a:fld>
            <a:endParaRPr lang="en-US"/>
          </a:p>
        </p:txBody>
      </p:sp>
      <p:sp>
        <p:nvSpPr>
          <p:cNvPr id="5" name="Date Placeholder 4"/>
          <p:cNvSpPr>
            <a:spLocks noGrp="1"/>
          </p:cNvSpPr>
          <p:nvPr>
            <p:ph type="dt" sz="half" idx="11"/>
          </p:nvPr>
        </p:nvSpPr>
        <p:spPr/>
        <p:txBody>
          <a:bodyPr/>
          <a:lstStyle/>
          <a:p>
            <a:endParaRPr lang="en-US"/>
          </a:p>
          <a:p>
            <a:endParaRPr lang="en-US" i="1">
              <a:latin typeface="Century Schoolbook" pitchFamily="18" charset="0"/>
            </a:endParaRPr>
          </a:p>
        </p:txBody>
      </p:sp>
      <p:sp>
        <p:nvSpPr>
          <p:cNvPr id="784386" name="Rectangle 2"/>
          <p:cNvSpPr>
            <a:spLocks noGrp="1" noChangeArrowheads="1"/>
          </p:cNvSpPr>
          <p:nvPr>
            <p:ph type="title"/>
          </p:nvPr>
        </p:nvSpPr>
        <p:spPr/>
        <p:txBody>
          <a:bodyPr/>
          <a:lstStyle/>
          <a:p>
            <a:r>
              <a:rPr lang="en-US" sz="3600">
                <a:latin typeface="Arial" charset="0"/>
              </a:rPr>
              <a:t>Benefits Assistance</a:t>
            </a:r>
          </a:p>
        </p:txBody>
      </p:sp>
      <p:sp>
        <p:nvSpPr>
          <p:cNvPr id="784387" name="Rectangle 3"/>
          <p:cNvSpPr>
            <a:spLocks noGrp="1" noChangeArrowheads="1"/>
          </p:cNvSpPr>
          <p:nvPr>
            <p:ph type="body" idx="1"/>
          </p:nvPr>
        </p:nvSpPr>
        <p:spPr>
          <a:xfrm>
            <a:off x="1066800" y="1447800"/>
            <a:ext cx="7640638" cy="4495800"/>
          </a:xfrm>
        </p:spPr>
        <p:txBody>
          <a:bodyPr/>
          <a:lstStyle/>
          <a:p>
            <a:pPr>
              <a:lnSpc>
                <a:spcPct val="90000"/>
              </a:lnSpc>
              <a:buFont typeface="Wingdings" pitchFamily="2" charset="2"/>
              <a:buNone/>
            </a:pPr>
            <a:r>
              <a:rPr lang="en-US" sz="2400" b="1">
                <a:latin typeface="Arial" charset="0"/>
              </a:rPr>
              <a:t>Mission</a:t>
            </a:r>
          </a:p>
          <a:p>
            <a:pPr>
              <a:lnSpc>
                <a:spcPct val="90000"/>
              </a:lnSpc>
              <a:buFont typeface="Wingdings" pitchFamily="2" charset="2"/>
              <a:buNone/>
            </a:pPr>
            <a:endParaRPr lang="en-US" sz="1200" b="1">
              <a:latin typeface="Arial" charset="0"/>
              <a:cs typeface="Times New Roman" pitchFamily="18" charset="0"/>
            </a:endParaRPr>
          </a:p>
          <a:p>
            <a:pPr fontAlgn="t">
              <a:lnSpc>
                <a:spcPct val="90000"/>
              </a:lnSpc>
              <a:buClr>
                <a:srgbClr val="000066"/>
              </a:buClr>
              <a:buFont typeface="Wingdings" pitchFamily="2" charset="2"/>
              <a:buNone/>
            </a:pPr>
            <a:r>
              <a:rPr lang="en-US" sz="2200">
                <a:latin typeface="Arial" charset="0"/>
                <a:cs typeface="Arial" charset="0"/>
              </a:rPr>
              <a:t>    </a:t>
            </a:r>
            <a:r>
              <a:rPr lang="en-US" sz="2000">
                <a:latin typeface="Arial" charset="0"/>
                <a:cs typeface="Arial" charset="0"/>
              </a:rPr>
              <a:t>The Mission of the Benefits Assistance Service is to serve as advocates for Veterans, Service members, eligible beneficiaries and other stakeholders, to ensure they are knowledgeable and informed about accessing and receiving VA benefits and services. </a:t>
            </a:r>
          </a:p>
          <a:p>
            <a:pPr fontAlgn="t">
              <a:lnSpc>
                <a:spcPct val="90000"/>
              </a:lnSpc>
              <a:buClr>
                <a:srgbClr val="000066"/>
              </a:buClr>
              <a:buFont typeface="Wingdings" pitchFamily="2" charset="2"/>
              <a:buNone/>
            </a:pPr>
            <a:endParaRPr lang="en-US" sz="2000">
              <a:latin typeface="Arial" charset="0"/>
              <a:cs typeface="Arial" charset="0"/>
            </a:endParaRPr>
          </a:p>
          <a:p>
            <a:pPr>
              <a:lnSpc>
                <a:spcPct val="90000"/>
              </a:lnSpc>
              <a:buFont typeface="Wingdings" pitchFamily="2" charset="2"/>
              <a:buNone/>
            </a:pPr>
            <a:r>
              <a:rPr lang="en-US" sz="2400" b="1">
                <a:latin typeface="Arial" charset="0"/>
              </a:rPr>
              <a:t>Vision</a:t>
            </a:r>
          </a:p>
          <a:p>
            <a:pPr fontAlgn="t">
              <a:lnSpc>
                <a:spcPct val="90000"/>
              </a:lnSpc>
              <a:buClr>
                <a:srgbClr val="000066"/>
              </a:buClr>
              <a:buFont typeface="Wingdings" pitchFamily="2" charset="2"/>
              <a:buNone/>
            </a:pPr>
            <a:endParaRPr lang="en-US" sz="1400">
              <a:latin typeface="Arial" charset="0"/>
              <a:cs typeface="Arial" charset="0"/>
            </a:endParaRPr>
          </a:p>
          <a:p>
            <a:pPr fontAlgn="t">
              <a:lnSpc>
                <a:spcPct val="90000"/>
              </a:lnSpc>
              <a:buClr>
                <a:srgbClr val="000066"/>
              </a:buClr>
              <a:buFont typeface="Wingdings" pitchFamily="2" charset="2"/>
              <a:buNone/>
            </a:pPr>
            <a:r>
              <a:rPr lang="en-US" sz="2000">
                <a:latin typeface="Arial" charset="0"/>
                <a:cs typeface="Arial" charset="0"/>
              </a:rPr>
              <a:t>    Our Vision for the Benefits Assistance Service is to be the premier organization for our clients; to proactively provide information and knowledge about VA benefits and services, in a positive 21st century experience that is consistent, concise and relevant.</a:t>
            </a:r>
            <a:r>
              <a:rPr lang="en-US" sz="2200">
                <a:latin typeface="Arial" charset="0"/>
                <a:cs typeface="Arial" charset="0"/>
              </a:rPr>
              <a:t> </a:t>
            </a:r>
          </a:p>
          <a:p>
            <a:pPr fontAlgn="t">
              <a:lnSpc>
                <a:spcPct val="90000"/>
              </a:lnSpc>
              <a:buClr>
                <a:srgbClr val="000066"/>
              </a:buClr>
              <a:buFont typeface="Wingdings" pitchFamily="2" charset="2"/>
              <a:buNone/>
            </a:pPr>
            <a:r>
              <a:rPr lang="en-US" sz="2200">
                <a:latin typeface="Arial" charset="0"/>
                <a:cs typeface="Arial" charset="0"/>
              </a:rPr>
              <a:t/>
            </a:r>
            <a:br>
              <a:rPr lang="en-US" sz="2200">
                <a:latin typeface="Arial" charset="0"/>
                <a:cs typeface="Arial" charset="0"/>
              </a:rPr>
            </a:br>
            <a:r>
              <a:rPr lang="en-US" sz="2200">
                <a:latin typeface="Arial" charset="0"/>
                <a:cs typeface="Arial" charset="0"/>
              </a:rPr>
              <a:t/>
            </a:r>
            <a:br>
              <a:rPr lang="en-US" sz="2200">
                <a:latin typeface="Arial" charset="0"/>
                <a:cs typeface="Arial" charset="0"/>
              </a:rPr>
            </a:br>
            <a:endParaRPr lang="en-US" sz="2200">
              <a:latin typeface="Arial" charset="0"/>
              <a:cs typeface="Arial" charset="0"/>
            </a:endParaRPr>
          </a:p>
          <a:p>
            <a:pPr>
              <a:lnSpc>
                <a:spcPct val="90000"/>
              </a:lnSpc>
              <a:buClr>
                <a:srgbClr val="000066"/>
              </a:buClr>
              <a:buFont typeface="Wingdings" pitchFamily="2" charset="2"/>
              <a:buNone/>
            </a:pPr>
            <a:endParaRPr lang="en-US" sz="2200">
              <a:latin typeface="Arial" charset="0"/>
              <a:cs typeface="Arial"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0DD51D02-B5DF-40F9-A86F-8B5FD5A71A7D}" type="slidenum">
              <a:rPr lang="en-US"/>
              <a:pPr/>
              <a:t>5</a:t>
            </a:fld>
            <a:endParaRPr lang="en-US"/>
          </a:p>
        </p:txBody>
      </p:sp>
      <p:sp>
        <p:nvSpPr>
          <p:cNvPr id="5" name="Date Placeholder 4"/>
          <p:cNvSpPr>
            <a:spLocks noGrp="1"/>
          </p:cNvSpPr>
          <p:nvPr>
            <p:ph type="dt" sz="half" idx="11"/>
          </p:nvPr>
        </p:nvSpPr>
        <p:spPr/>
        <p:txBody>
          <a:bodyPr/>
          <a:lstStyle/>
          <a:p>
            <a:endParaRPr lang="en-US"/>
          </a:p>
          <a:p>
            <a:endParaRPr lang="en-US" i="1">
              <a:latin typeface="Century Schoolbook" pitchFamily="18" charset="0"/>
            </a:endParaRPr>
          </a:p>
        </p:txBody>
      </p:sp>
      <p:sp>
        <p:nvSpPr>
          <p:cNvPr id="741379" name="Rectangle 3"/>
          <p:cNvSpPr>
            <a:spLocks noGrp="1" noChangeArrowheads="1"/>
          </p:cNvSpPr>
          <p:nvPr>
            <p:ph type="body" idx="1"/>
          </p:nvPr>
        </p:nvSpPr>
        <p:spPr>
          <a:xfrm>
            <a:off x="1066800" y="1600200"/>
            <a:ext cx="7640638" cy="4343400"/>
          </a:xfrm>
        </p:spPr>
        <p:txBody>
          <a:bodyPr/>
          <a:lstStyle/>
          <a:p>
            <a:pPr>
              <a:buFont typeface="Wingdings" pitchFamily="2" charset="2"/>
              <a:buNone/>
            </a:pPr>
            <a:endParaRPr lang="en-US" sz="1600" b="1">
              <a:latin typeface="Arial" charset="0"/>
              <a:cs typeface="Times New Roman" pitchFamily="18" charset="0"/>
            </a:endParaRPr>
          </a:p>
          <a:p>
            <a:pPr>
              <a:buClr>
                <a:srgbClr val="000066"/>
              </a:buClr>
              <a:buFont typeface="Wingdings" pitchFamily="2" charset="2"/>
              <a:buChar char="Ø"/>
            </a:pPr>
            <a:r>
              <a:rPr lang="en-US" sz="2400">
                <a:latin typeface="Arial" charset="0"/>
                <a:cs typeface="Arial" charset="0"/>
              </a:rPr>
              <a:t>Full-time VBA Homeless Veterans Outreach Coordinators (HVOC) at 20 Regional Offices (RO) with the largest Veteran populations</a:t>
            </a:r>
          </a:p>
          <a:p>
            <a:pPr>
              <a:buClr>
                <a:srgbClr val="000066"/>
              </a:buClr>
              <a:buFont typeface="Wingdings" pitchFamily="2" charset="2"/>
              <a:buNone/>
            </a:pPr>
            <a:endParaRPr lang="en-US" sz="2400">
              <a:latin typeface="Arial" charset="0"/>
              <a:cs typeface="Arial" charset="0"/>
            </a:endParaRPr>
          </a:p>
          <a:p>
            <a:pPr>
              <a:buClr>
                <a:srgbClr val="000066"/>
              </a:buClr>
              <a:buFont typeface="Wingdings" pitchFamily="2" charset="2"/>
              <a:buChar char="Ø"/>
            </a:pPr>
            <a:r>
              <a:rPr lang="en-US" sz="2400">
                <a:latin typeface="Arial" charset="0"/>
                <a:cs typeface="Arial" charset="0"/>
              </a:rPr>
              <a:t>Remaining RO have a part-time HVOC (with collateral duties)</a:t>
            </a:r>
          </a:p>
        </p:txBody>
      </p:sp>
      <p:sp>
        <p:nvSpPr>
          <p:cNvPr id="661511" name="Rectangle 7"/>
          <p:cNvSpPr>
            <a:spLocks noChangeArrowheads="1"/>
          </p:cNvSpPr>
          <p:nvPr/>
        </p:nvSpPr>
        <p:spPr bwMode="auto">
          <a:xfrm>
            <a:off x="2020888" y="152400"/>
            <a:ext cx="7123112" cy="609600"/>
          </a:xfrm>
          <a:prstGeom prst="rect">
            <a:avLst/>
          </a:prstGeom>
          <a:noFill/>
          <a:ln w="9525">
            <a:noFill/>
            <a:miter lim="800000"/>
            <a:headEnd/>
            <a:tailEnd/>
          </a:ln>
          <a:effectLst/>
        </p:spPr>
        <p:txBody>
          <a:bodyPr lIns="92075" tIns="46038" rIns="92075" bIns="46038" anchor="b"/>
          <a:lstStyle/>
          <a:p>
            <a:pPr algn="ctr">
              <a:spcBef>
                <a:spcPct val="40000"/>
              </a:spcBef>
              <a:buClrTx/>
              <a:buFontTx/>
              <a:buNone/>
            </a:pPr>
            <a:r>
              <a:rPr lang="en-US" sz="2400">
                <a:solidFill>
                  <a:srgbClr val="000066"/>
                </a:solidFill>
                <a:effectLst>
                  <a:outerShdw blurRad="38100" dist="38100" dir="2700000" algn="tl">
                    <a:srgbClr val="C0C0C0"/>
                  </a:outerShdw>
                </a:effectLst>
              </a:rPr>
              <a:t>Benefits Assistance                                                   </a:t>
            </a:r>
            <a:r>
              <a:rPr lang="en-US" sz="2000">
                <a:solidFill>
                  <a:srgbClr val="000066"/>
                </a:solidFill>
                <a:effectLst>
                  <a:outerShdw blurRad="38100" dist="38100" dir="2700000" algn="tl">
                    <a:srgbClr val="C0C0C0"/>
                  </a:outerShdw>
                </a:effectLst>
              </a:rPr>
              <a:t>VBA Homeless Veterans Outreach Program</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Slide Number Placeholder 1"/>
          <p:cNvSpPr>
            <a:spLocks noGrp="1"/>
          </p:cNvSpPr>
          <p:nvPr>
            <p:ph type="sldNum" sz="quarter" idx="10"/>
          </p:nvPr>
        </p:nvSpPr>
        <p:spPr/>
        <p:txBody>
          <a:bodyPr/>
          <a:lstStyle/>
          <a:p>
            <a:fld id="{D09B0540-FD36-46AF-84F4-29832E734A79}" type="slidenum">
              <a:rPr lang="en-US"/>
              <a:pPr/>
              <a:t>6</a:t>
            </a:fld>
            <a:endParaRPr lang="en-US"/>
          </a:p>
        </p:txBody>
      </p:sp>
      <p:sp>
        <p:nvSpPr>
          <p:cNvPr id="375"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759811" name="Rectangle 3"/>
          <p:cNvSpPr>
            <a:spLocks noChangeArrowheads="1"/>
          </p:cNvSpPr>
          <p:nvPr/>
        </p:nvSpPr>
        <p:spPr bwMode="auto">
          <a:xfrm>
            <a:off x="423863" y="6396038"/>
            <a:ext cx="8720137" cy="53975"/>
          </a:xfrm>
          <a:prstGeom prst="rect">
            <a:avLst/>
          </a:prstGeom>
          <a:gradFill rotWithShape="0">
            <a:gsLst>
              <a:gs pos="0">
                <a:srgbClr val="1D3275"/>
              </a:gs>
              <a:gs pos="100000">
                <a:srgbClr val="111E46"/>
              </a:gs>
            </a:gsLst>
            <a:lin ang="0" scaled="1"/>
          </a:gradFill>
          <a:ln w="12700">
            <a:solidFill>
              <a:srgbClr val="000080"/>
            </a:solidFill>
            <a:miter lim="800000"/>
            <a:headEnd/>
            <a:tailEnd/>
          </a:ln>
        </p:spPr>
        <p:txBody>
          <a:bodyPr wrap="none" anchor="ctr"/>
          <a:lstStyle/>
          <a:p>
            <a:pPr>
              <a:spcBef>
                <a:spcPct val="0"/>
              </a:spcBef>
              <a:buClrTx/>
              <a:buFontTx/>
              <a:buNone/>
            </a:pPr>
            <a:endParaRPr lang="en-US" sz="3200">
              <a:solidFill>
                <a:schemeClr val="tx1"/>
              </a:solidFill>
              <a:latin typeface="Tahoma" pitchFamily="34" charset="0"/>
            </a:endParaRPr>
          </a:p>
        </p:txBody>
      </p:sp>
      <p:sp>
        <p:nvSpPr>
          <p:cNvPr id="759813" name="Freeform 5"/>
          <p:cNvSpPr>
            <a:spLocks/>
          </p:cNvSpPr>
          <p:nvPr/>
        </p:nvSpPr>
        <p:spPr bwMode="auto">
          <a:xfrm>
            <a:off x="25400" y="452438"/>
            <a:ext cx="1588" cy="1587"/>
          </a:xfrm>
          <a:custGeom>
            <a:avLst/>
            <a:gdLst>
              <a:gd name="T0" fmla="*/ 0 w 1"/>
              <a:gd name="T1" fmla="*/ 0 h 1"/>
              <a:gd name="T2" fmla="*/ 0 w 1"/>
              <a:gd name="T3" fmla="*/ 0 h 1"/>
              <a:gd name="T4" fmla="*/ 0 60000 65536"/>
              <a:gd name="T5" fmla="*/ 0 60000 65536"/>
              <a:gd name="T6" fmla="*/ 0 w 1"/>
              <a:gd name="T7" fmla="*/ 0 h 1"/>
              <a:gd name="T8" fmla="*/ 1 w 1"/>
              <a:gd name="T9" fmla="*/ 1 h 1"/>
            </a:gdLst>
            <a:ahLst/>
            <a:cxnLst>
              <a:cxn ang="T4">
                <a:pos x="T0" y="T1"/>
              </a:cxn>
              <a:cxn ang="T5">
                <a:pos x="T2" y="T3"/>
              </a:cxn>
            </a:cxnLst>
            <a:rect l="T6" t="T7" r="T8" b="T9"/>
            <a:pathLst>
              <a:path w="1" h="1">
                <a:moveTo>
                  <a:pt x="0" y="0"/>
                </a:moveTo>
                <a:lnTo>
                  <a:pt x="0" y="0"/>
                </a:lnTo>
              </a:path>
            </a:pathLst>
          </a:custGeom>
          <a:noFill/>
          <a:ln w="12700" cap="rnd">
            <a:solidFill>
              <a:schemeClr val="tx1"/>
            </a:solidFill>
            <a:round/>
            <a:headEnd type="none" w="sm" len="sm"/>
            <a:tailEnd type="none" w="sm" len="sm"/>
          </a:ln>
        </p:spPr>
        <p:txBody>
          <a:bodyPr/>
          <a:lstStyle/>
          <a:p>
            <a:pPr>
              <a:spcBef>
                <a:spcPct val="0"/>
              </a:spcBef>
              <a:buClrTx/>
              <a:buFontTx/>
              <a:buNone/>
            </a:pPr>
            <a:endParaRPr lang="en-US" sz="3200">
              <a:solidFill>
                <a:schemeClr val="tx1"/>
              </a:solidFill>
              <a:latin typeface="Tahoma" pitchFamily="34" charset="0"/>
            </a:endParaRPr>
          </a:p>
        </p:txBody>
      </p:sp>
      <p:sp>
        <p:nvSpPr>
          <p:cNvPr id="759814" name="Freeform 6"/>
          <p:cNvSpPr>
            <a:spLocks/>
          </p:cNvSpPr>
          <p:nvPr/>
        </p:nvSpPr>
        <p:spPr bwMode="auto">
          <a:xfrm>
            <a:off x="25400" y="6305550"/>
            <a:ext cx="1588" cy="1588"/>
          </a:xfrm>
          <a:custGeom>
            <a:avLst/>
            <a:gdLst>
              <a:gd name="T0" fmla="*/ 0 w 1"/>
              <a:gd name="T1" fmla="*/ 0 h 1"/>
              <a:gd name="T2" fmla="*/ 0 w 1"/>
              <a:gd name="T3" fmla="*/ 0 h 1"/>
              <a:gd name="T4" fmla="*/ 0 60000 65536"/>
              <a:gd name="T5" fmla="*/ 0 60000 65536"/>
              <a:gd name="T6" fmla="*/ 0 w 1"/>
              <a:gd name="T7" fmla="*/ 0 h 1"/>
              <a:gd name="T8" fmla="*/ 1 w 1"/>
              <a:gd name="T9" fmla="*/ 1 h 1"/>
            </a:gdLst>
            <a:ahLst/>
            <a:cxnLst>
              <a:cxn ang="T4">
                <a:pos x="T0" y="T1"/>
              </a:cxn>
              <a:cxn ang="T5">
                <a:pos x="T2" y="T3"/>
              </a:cxn>
            </a:cxnLst>
            <a:rect l="T6" t="T7" r="T8" b="T9"/>
            <a:pathLst>
              <a:path w="1" h="1">
                <a:moveTo>
                  <a:pt x="0" y="0"/>
                </a:moveTo>
                <a:lnTo>
                  <a:pt x="0" y="0"/>
                </a:lnTo>
              </a:path>
            </a:pathLst>
          </a:custGeom>
          <a:noFill/>
          <a:ln w="12700" cap="rnd">
            <a:solidFill>
              <a:schemeClr val="tx1"/>
            </a:solidFill>
            <a:round/>
            <a:headEnd type="none" w="sm" len="sm"/>
            <a:tailEnd type="none" w="sm" len="sm"/>
          </a:ln>
        </p:spPr>
        <p:txBody>
          <a:bodyPr/>
          <a:lstStyle/>
          <a:p>
            <a:pPr>
              <a:spcBef>
                <a:spcPct val="0"/>
              </a:spcBef>
              <a:buClrTx/>
              <a:buFontTx/>
              <a:buNone/>
            </a:pPr>
            <a:endParaRPr lang="en-US" sz="3200">
              <a:solidFill>
                <a:schemeClr val="tx1"/>
              </a:solidFill>
              <a:latin typeface="Tahoma" pitchFamily="34" charset="0"/>
            </a:endParaRPr>
          </a:p>
        </p:txBody>
      </p:sp>
      <p:sp>
        <p:nvSpPr>
          <p:cNvPr id="10247" name="Rectangle 7"/>
          <p:cNvSpPr>
            <a:spLocks noChangeArrowheads="1"/>
          </p:cNvSpPr>
          <p:nvPr/>
        </p:nvSpPr>
        <p:spPr bwMode="auto">
          <a:xfrm>
            <a:off x="2020888" y="0"/>
            <a:ext cx="7123112" cy="882650"/>
          </a:xfrm>
          <a:prstGeom prst="rect">
            <a:avLst/>
          </a:prstGeom>
          <a:noFill/>
          <a:ln w="9525">
            <a:noFill/>
            <a:miter lim="800000"/>
            <a:headEnd/>
            <a:tailEnd/>
          </a:ln>
          <a:effectLst/>
        </p:spPr>
        <p:txBody>
          <a:bodyPr lIns="92075" tIns="46038" rIns="92075" bIns="46038" anchor="b"/>
          <a:lstStyle/>
          <a:p>
            <a:pPr algn="ctr">
              <a:spcBef>
                <a:spcPct val="0"/>
              </a:spcBef>
              <a:buClrTx/>
              <a:buFontTx/>
              <a:buNone/>
              <a:defRPr/>
            </a:pPr>
            <a:endParaRPr lang="en-US" sz="2000">
              <a:effectLst>
                <a:outerShdw blurRad="38100" dist="38100" dir="2700000" algn="tl">
                  <a:srgbClr val="C0C0C0"/>
                </a:outerShdw>
              </a:effectLst>
              <a:latin typeface="Century Schoolbook" pitchFamily="18" charset="0"/>
              <a:cs typeface="+mn-cs"/>
            </a:endParaRPr>
          </a:p>
        </p:txBody>
      </p:sp>
      <p:sp>
        <p:nvSpPr>
          <p:cNvPr id="759816" name="Rectangle 8"/>
          <p:cNvSpPr>
            <a:spLocks noChangeArrowheads="1"/>
          </p:cNvSpPr>
          <p:nvPr/>
        </p:nvSpPr>
        <p:spPr bwMode="auto">
          <a:xfrm>
            <a:off x="1287463" y="1789113"/>
            <a:ext cx="7640637" cy="4262437"/>
          </a:xfrm>
          <a:prstGeom prst="rect">
            <a:avLst/>
          </a:prstGeom>
          <a:noFill/>
          <a:ln w="9525">
            <a:noFill/>
            <a:miter lim="800000"/>
            <a:headEnd/>
            <a:tailEnd/>
          </a:ln>
        </p:spPr>
        <p:txBody>
          <a:bodyPr lIns="92075" tIns="46038" rIns="92075" bIns="46038"/>
          <a:lstStyle/>
          <a:p>
            <a:pPr marL="342900" indent="-342900">
              <a:buClr>
                <a:srgbClr val="1D3275"/>
              </a:buClr>
              <a:buFont typeface="Wingdings" pitchFamily="2" charset="2"/>
              <a:buNone/>
            </a:pPr>
            <a:endParaRPr lang="en-US" sz="2400">
              <a:latin typeface="Tahoma" pitchFamily="34" charset="0"/>
            </a:endParaRPr>
          </a:p>
        </p:txBody>
      </p:sp>
      <p:sp>
        <p:nvSpPr>
          <p:cNvPr id="10250" name="Rectangle 10"/>
          <p:cNvSpPr>
            <a:spLocks noChangeArrowheads="1"/>
          </p:cNvSpPr>
          <p:nvPr/>
        </p:nvSpPr>
        <p:spPr bwMode="auto">
          <a:xfrm>
            <a:off x="4803775" y="6400800"/>
            <a:ext cx="1905000" cy="457200"/>
          </a:xfrm>
          <a:prstGeom prst="rect">
            <a:avLst/>
          </a:prstGeom>
          <a:noFill/>
          <a:ln w="9525">
            <a:noFill/>
            <a:miter lim="800000"/>
            <a:headEnd/>
            <a:tailEnd/>
          </a:ln>
          <a:effectLst/>
        </p:spPr>
        <p:txBody>
          <a:bodyPr lIns="92075" tIns="46038" rIns="92075" bIns="46038" anchor="ctr" anchorCtr="1"/>
          <a:lstStyle/>
          <a:p>
            <a:pPr algn="ctr">
              <a:spcBef>
                <a:spcPct val="0"/>
              </a:spcBef>
              <a:buClrTx/>
              <a:buFontTx/>
              <a:buNone/>
              <a:defRPr/>
            </a:pPr>
            <a:fld id="{7BCDDEAE-A4F9-4E33-937D-68A6532D7270}" type="slidenum">
              <a:rPr lang="en-US" sz="1600" b="1" i="1">
                <a:effectLst>
                  <a:outerShdw blurRad="38100" dist="38100" dir="2700000" algn="tl">
                    <a:srgbClr val="C0C0C0"/>
                  </a:outerShdw>
                </a:effectLst>
                <a:latin typeface="Century Schoolbook" pitchFamily="18" charset="0"/>
                <a:cs typeface="+mn-cs"/>
              </a:rPr>
              <a:pPr algn="ctr">
                <a:spcBef>
                  <a:spcPct val="0"/>
                </a:spcBef>
                <a:buClrTx/>
                <a:buFontTx/>
                <a:buNone/>
                <a:defRPr/>
              </a:pPr>
              <a:t>6</a:t>
            </a:fld>
            <a:endParaRPr lang="en-US" sz="1600" b="1" i="1">
              <a:effectLst>
                <a:outerShdw blurRad="38100" dist="38100" dir="2700000" algn="tl">
                  <a:srgbClr val="C0C0C0"/>
                </a:outerShdw>
              </a:effectLst>
              <a:latin typeface="Century Schoolbook" pitchFamily="18" charset="0"/>
              <a:cs typeface="+mn-cs"/>
            </a:endParaRPr>
          </a:p>
        </p:txBody>
      </p:sp>
      <p:sp>
        <p:nvSpPr>
          <p:cNvPr id="759819" name="Rectangle 11"/>
          <p:cNvSpPr>
            <a:spLocks noChangeArrowheads="1"/>
          </p:cNvSpPr>
          <p:nvPr/>
        </p:nvSpPr>
        <p:spPr bwMode="auto">
          <a:xfrm>
            <a:off x="0" y="0"/>
            <a:ext cx="314325" cy="6858000"/>
          </a:xfrm>
          <a:prstGeom prst="rect">
            <a:avLst/>
          </a:prstGeom>
          <a:gradFill rotWithShape="0">
            <a:gsLst>
              <a:gs pos="0">
                <a:srgbClr val="1D3275"/>
              </a:gs>
              <a:gs pos="100000">
                <a:srgbClr val="111E46"/>
              </a:gs>
            </a:gsLst>
            <a:lin ang="0" scaled="1"/>
          </a:gradFill>
          <a:ln w="12700">
            <a:solidFill>
              <a:srgbClr val="000080"/>
            </a:solidFill>
            <a:miter lim="800000"/>
            <a:headEnd/>
            <a:tailEnd/>
          </a:ln>
        </p:spPr>
        <p:txBody>
          <a:bodyPr wrap="none" anchor="ctr"/>
          <a:lstStyle/>
          <a:p>
            <a:pPr>
              <a:spcBef>
                <a:spcPct val="0"/>
              </a:spcBef>
              <a:buClrTx/>
              <a:buFontTx/>
              <a:buNone/>
            </a:pPr>
            <a:endParaRPr lang="en-US" sz="3200">
              <a:solidFill>
                <a:schemeClr val="tx1"/>
              </a:solidFill>
              <a:latin typeface="Tahoma" pitchFamily="34" charset="0"/>
            </a:endParaRPr>
          </a:p>
        </p:txBody>
      </p:sp>
      <p:sp>
        <p:nvSpPr>
          <p:cNvPr id="759820" name="Rectangle 12"/>
          <p:cNvSpPr>
            <a:spLocks noChangeArrowheads="1"/>
          </p:cNvSpPr>
          <p:nvPr/>
        </p:nvSpPr>
        <p:spPr bwMode="auto">
          <a:xfrm>
            <a:off x="376238" y="0"/>
            <a:ext cx="142875" cy="6858000"/>
          </a:xfrm>
          <a:prstGeom prst="rect">
            <a:avLst/>
          </a:prstGeom>
          <a:gradFill rotWithShape="0">
            <a:gsLst>
              <a:gs pos="0">
                <a:srgbClr val="FF0000"/>
              </a:gs>
              <a:gs pos="100000">
                <a:srgbClr val="B20000"/>
              </a:gs>
            </a:gsLst>
            <a:lin ang="0" scaled="1"/>
          </a:gradFill>
          <a:ln w="12700">
            <a:solidFill>
              <a:srgbClr val="FF0000"/>
            </a:solidFill>
            <a:miter lim="800000"/>
            <a:headEnd/>
            <a:tailEnd/>
          </a:ln>
        </p:spPr>
        <p:txBody>
          <a:bodyPr wrap="none" anchor="ctr"/>
          <a:lstStyle/>
          <a:p>
            <a:pPr>
              <a:spcBef>
                <a:spcPct val="0"/>
              </a:spcBef>
              <a:buClrTx/>
              <a:buFontTx/>
              <a:buNone/>
            </a:pPr>
            <a:endParaRPr lang="en-US" sz="3200">
              <a:solidFill>
                <a:schemeClr val="tx1"/>
              </a:solidFill>
              <a:latin typeface="Tahoma" pitchFamily="34" charset="0"/>
            </a:endParaRPr>
          </a:p>
        </p:txBody>
      </p:sp>
      <p:sp>
        <p:nvSpPr>
          <p:cNvPr id="759821" name="Rectangle 13"/>
          <p:cNvSpPr>
            <a:spLocks noChangeArrowheads="1"/>
          </p:cNvSpPr>
          <p:nvPr/>
        </p:nvSpPr>
        <p:spPr bwMode="auto">
          <a:xfrm>
            <a:off x="469900" y="6400800"/>
            <a:ext cx="184150" cy="457200"/>
          </a:xfrm>
          <a:prstGeom prst="rect">
            <a:avLst/>
          </a:prstGeom>
          <a:noFill/>
          <a:ln w="9525">
            <a:noFill/>
            <a:miter lim="800000"/>
            <a:headEnd/>
            <a:tailEnd/>
          </a:ln>
        </p:spPr>
        <p:txBody>
          <a:bodyPr wrap="none" lIns="92075" tIns="46038" rIns="92075" bIns="46038">
            <a:spAutoFit/>
          </a:bodyPr>
          <a:lstStyle/>
          <a:p>
            <a:pPr>
              <a:spcBef>
                <a:spcPct val="0"/>
              </a:spcBef>
              <a:buClrTx/>
              <a:buFontTx/>
              <a:buNone/>
            </a:pPr>
            <a:endParaRPr lang="en-US" sz="2400">
              <a:solidFill>
                <a:schemeClr val="tx1"/>
              </a:solidFill>
              <a:latin typeface="Tahoma" pitchFamily="34" charset="0"/>
            </a:endParaRPr>
          </a:p>
        </p:txBody>
      </p:sp>
      <p:sp>
        <p:nvSpPr>
          <p:cNvPr id="759822" name="Rectangle 14"/>
          <p:cNvSpPr>
            <a:spLocks noChangeArrowheads="1"/>
          </p:cNvSpPr>
          <p:nvPr/>
        </p:nvSpPr>
        <p:spPr bwMode="auto">
          <a:xfrm>
            <a:off x="469900" y="6400800"/>
            <a:ext cx="184150" cy="457200"/>
          </a:xfrm>
          <a:prstGeom prst="rect">
            <a:avLst/>
          </a:prstGeom>
          <a:noFill/>
          <a:ln w="9525">
            <a:noFill/>
            <a:miter lim="800000"/>
            <a:headEnd/>
            <a:tailEnd/>
          </a:ln>
        </p:spPr>
        <p:txBody>
          <a:bodyPr wrap="none" lIns="92075" tIns="46038" rIns="92075" bIns="46038">
            <a:spAutoFit/>
          </a:bodyPr>
          <a:lstStyle/>
          <a:p>
            <a:pPr>
              <a:spcBef>
                <a:spcPct val="0"/>
              </a:spcBef>
              <a:buClrTx/>
              <a:buFontTx/>
              <a:buNone/>
            </a:pPr>
            <a:endParaRPr lang="en-US" sz="2400">
              <a:solidFill>
                <a:schemeClr val="tx1"/>
              </a:solidFill>
              <a:latin typeface="Tahoma" pitchFamily="34" charset="0"/>
            </a:endParaRPr>
          </a:p>
        </p:txBody>
      </p:sp>
      <p:sp>
        <p:nvSpPr>
          <p:cNvPr id="10256" name="Rectangle 16"/>
          <p:cNvSpPr>
            <a:spLocks noChangeArrowheads="1"/>
          </p:cNvSpPr>
          <p:nvPr/>
        </p:nvSpPr>
        <p:spPr bwMode="auto">
          <a:xfrm>
            <a:off x="2020888" y="0"/>
            <a:ext cx="7123112" cy="914400"/>
          </a:xfrm>
          <a:prstGeom prst="rect">
            <a:avLst/>
          </a:prstGeom>
          <a:noFill/>
          <a:ln w="9525">
            <a:noFill/>
            <a:miter lim="800000"/>
            <a:headEnd/>
            <a:tailEnd/>
          </a:ln>
          <a:effectLst/>
        </p:spPr>
        <p:txBody>
          <a:bodyPr lIns="92075" tIns="46038" rIns="92075" bIns="46038" anchor="b"/>
          <a:lstStyle/>
          <a:p>
            <a:pPr algn="ctr">
              <a:spcBef>
                <a:spcPct val="0"/>
              </a:spcBef>
              <a:buClrTx/>
              <a:buFontTx/>
              <a:buNone/>
            </a:pPr>
            <a:r>
              <a:rPr lang="en-US" sz="2400">
                <a:solidFill>
                  <a:schemeClr val="tx1"/>
                </a:solidFill>
              </a:rPr>
              <a:t>Full-time VBA Homeless Veterans Outreach Coordinators (HVOC) at 20 Regional Offices</a:t>
            </a:r>
            <a:r>
              <a:rPr lang="en-US"/>
              <a:t> </a:t>
            </a:r>
          </a:p>
        </p:txBody>
      </p:sp>
      <p:sp>
        <p:nvSpPr>
          <p:cNvPr id="759825" name="Freeform 17"/>
          <p:cNvSpPr>
            <a:spLocks noChangeAspect="1"/>
          </p:cNvSpPr>
          <p:nvPr/>
        </p:nvSpPr>
        <p:spPr bwMode="auto">
          <a:xfrm>
            <a:off x="7604125" y="5730875"/>
            <a:ext cx="825500" cy="276225"/>
          </a:xfrm>
          <a:custGeom>
            <a:avLst/>
            <a:gdLst>
              <a:gd name="T0" fmla="*/ 109065246 w 707"/>
              <a:gd name="T1" fmla="*/ 10086706 h 246"/>
              <a:gd name="T2" fmla="*/ 51805672 w 707"/>
              <a:gd name="T3" fmla="*/ 95823138 h 246"/>
              <a:gd name="T4" fmla="*/ 98158608 w 707"/>
              <a:gd name="T5" fmla="*/ 107170817 h 246"/>
              <a:gd name="T6" fmla="*/ 132241121 w 707"/>
              <a:gd name="T7" fmla="*/ 127343097 h 246"/>
              <a:gd name="T8" fmla="*/ 85888203 w 707"/>
              <a:gd name="T9" fmla="*/ 245861594 h 246"/>
              <a:gd name="T10" fmla="*/ 294475787 w 707"/>
              <a:gd name="T11" fmla="*/ 277381553 h 246"/>
              <a:gd name="T12" fmla="*/ 651662844 w 707"/>
              <a:gd name="T13" fmla="*/ 267295975 h 246"/>
              <a:gd name="T14" fmla="*/ 837073349 w 707"/>
              <a:gd name="T15" fmla="*/ 267295975 h 246"/>
              <a:gd name="T16" fmla="*/ 860250392 w 707"/>
              <a:gd name="T17" fmla="*/ 234513914 h 246"/>
              <a:gd name="T18" fmla="*/ 894332905 w 707"/>
              <a:gd name="T19" fmla="*/ 213079533 h 246"/>
              <a:gd name="T20" fmla="*/ 963861699 w 707"/>
              <a:gd name="T21" fmla="*/ 117257518 h 246"/>
              <a:gd name="T22" fmla="*/ 952955061 w 707"/>
              <a:gd name="T23" fmla="*/ 85736436 h 246"/>
              <a:gd name="T24" fmla="*/ 917508781 w 707"/>
              <a:gd name="T25" fmla="*/ 74388757 h 246"/>
              <a:gd name="T26" fmla="*/ 778451194 w 707"/>
              <a:gd name="T27" fmla="*/ 0 h 246"/>
              <a:gd name="T28" fmla="*/ 109065246 w 707"/>
              <a:gd name="T29" fmla="*/ 10086706 h 2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7"/>
              <a:gd name="T46" fmla="*/ 0 h 246"/>
              <a:gd name="T47" fmla="*/ 707 w 707"/>
              <a:gd name="T48" fmla="*/ 246 h 2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7" h="246">
                <a:moveTo>
                  <a:pt x="80" y="8"/>
                </a:moveTo>
                <a:cubicBezTo>
                  <a:pt x="51" y="18"/>
                  <a:pt x="0" y="31"/>
                  <a:pt x="38" y="76"/>
                </a:cubicBezTo>
                <a:cubicBezTo>
                  <a:pt x="46" y="85"/>
                  <a:pt x="61" y="82"/>
                  <a:pt x="72" y="85"/>
                </a:cubicBezTo>
                <a:cubicBezTo>
                  <a:pt x="80" y="90"/>
                  <a:pt x="94" y="91"/>
                  <a:pt x="97" y="101"/>
                </a:cubicBezTo>
                <a:cubicBezTo>
                  <a:pt x="106" y="131"/>
                  <a:pt x="72" y="168"/>
                  <a:pt x="63" y="195"/>
                </a:cubicBezTo>
                <a:cubicBezTo>
                  <a:pt x="116" y="246"/>
                  <a:pt x="128" y="228"/>
                  <a:pt x="216" y="220"/>
                </a:cubicBezTo>
                <a:cubicBezTo>
                  <a:pt x="330" y="198"/>
                  <a:pt x="295" y="204"/>
                  <a:pt x="478" y="212"/>
                </a:cubicBezTo>
                <a:cubicBezTo>
                  <a:pt x="530" y="224"/>
                  <a:pt x="546" y="232"/>
                  <a:pt x="614" y="212"/>
                </a:cubicBezTo>
                <a:cubicBezTo>
                  <a:pt x="624" y="209"/>
                  <a:pt x="624" y="193"/>
                  <a:pt x="631" y="186"/>
                </a:cubicBezTo>
                <a:cubicBezTo>
                  <a:pt x="638" y="179"/>
                  <a:pt x="648" y="175"/>
                  <a:pt x="656" y="169"/>
                </a:cubicBezTo>
                <a:cubicBezTo>
                  <a:pt x="675" y="141"/>
                  <a:pt x="697" y="125"/>
                  <a:pt x="707" y="93"/>
                </a:cubicBezTo>
                <a:cubicBezTo>
                  <a:pt x="704" y="85"/>
                  <a:pt x="705" y="74"/>
                  <a:pt x="699" y="68"/>
                </a:cubicBezTo>
                <a:cubicBezTo>
                  <a:pt x="693" y="62"/>
                  <a:pt x="681" y="63"/>
                  <a:pt x="673" y="59"/>
                </a:cubicBezTo>
                <a:cubicBezTo>
                  <a:pt x="635" y="38"/>
                  <a:pt x="612" y="13"/>
                  <a:pt x="571" y="0"/>
                </a:cubicBezTo>
                <a:cubicBezTo>
                  <a:pt x="272" y="12"/>
                  <a:pt x="436" y="8"/>
                  <a:pt x="80" y="8"/>
                </a:cubicBezTo>
                <a:close/>
              </a:path>
            </a:pathLst>
          </a:custGeom>
          <a:gradFill rotWithShape="0">
            <a:gsLst>
              <a:gs pos="0">
                <a:srgbClr val="99FFCC"/>
              </a:gs>
              <a:gs pos="100000">
                <a:srgbClr val="84DCB0"/>
              </a:gs>
            </a:gsLst>
            <a:path path="rect">
              <a:fillToRect l="50000" t="50000" r="50000" b="50000"/>
            </a:path>
          </a:gradFill>
          <a:ln w="12700">
            <a:solidFill>
              <a:schemeClr val="tx1"/>
            </a:solidFill>
            <a:round/>
            <a:headEnd type="none" w="sm" len="sm"/>
            <a:tailEnd type="none" w="sm" len="sm"/>
          </a:ln>
        </p:spPr>
        <p:txBody>
          <a:bodyPr/>
          <a:lstStyle/>
          <a:p>
            <a:pPr>
              <a:spcBef>
                <a:spcPct val="0"/>
              </a:spcBef>
              <a:buClrTx/>
              <a:buFontTx/>
              <a:buNone/>
            </a:pPr>
            <a:endParaRPr lang="en-US" sz="3200">
              <a:solidFill>
                <a:schemeClr val="tx1"/>
              </a:solidFill>
              <a:latin typeface="Tahoma" pitchFamily="34" charset="0"/>
            </a:endParaRPr>
          </a:p>
        </p:txBody>
      </p:sp>
      <p:sp>
        <p:nvSpPr>
          <p:cNvPr id="759826" name="Text Box 18"/>
          <p:cNvSpPr txBox="1">
            <a:spLocks noChangeAspect="1" noChangeArrowheads="1"/>
          </p:cNvSpPr>
          <p:nvPr/>
        </p:nvSpPr>
        <p:spPr bwMode="auto">
          <a:xfrm>
            <a:off x="7742238" y="5983288"/>
            <a:ext cx="6921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San Juan</a:t>
            </a:r>
          </a:p>
        </p:txBody>
      </p:sp>
      <p:sp>
        <p:nvSpPr>
          <p:cNvPr id="759828" name="Freeform 20"/>
          <p:cNvSpPr>
            <a:spLocks noChangeAspect="1"/>
          </p:cNvSpPr>
          <p:nvPr/>
        </p:nvSpPr>
        <p:spPr bwMode="auto">
          <a:xfrm>
            <a:off x="1128713" y="2132013"/>
            <a:ext cx="1163637" cy="950912"/>
          </a:xfrm>
          <a:custGeom>
            <a:avLst/>
            <a:gdLst>
              <a:gd name="T0" fmla="*/ 0 w 2439"/>
              <a:gd name="T1" fmla="*/ 359445276 h 1876"/>
              <a:gd name="T2" fmla="*/ 8194123 w 2439"/>
              <a:gd name="T3" fmla="*/ 302663781 h 1876"/>
              <a:gd name="T4" fmla="*/ 134523886 w 2439"/>
              <a:gd name="T5" fmla="*/ 7707659 h 1876"/>
              <a:gd name="T6" fmla="*/ 151367751 w 2439"/>
              <a:gd name="T7" fmla="*/ 0 h 1876"/>
              <a:gd name="T8" fmla="*/ 174585139 w 2439"/>
              <a:gd name="T9" fmla="*/ 44192068 h 1876"/>
              <a:gd name="T10" fmla="*/ 166390542 w 2439"/>
              <a:gd name="T11" fmla="*/ 71426379 h 1876"/>
              <a:gd name="T12" fmla="*/ 245602749 w 2439"/>
              <a:gd name="T13" fmla="*/ 79905511 h 1876"/>
              <a:gd name="T14" fmla="*/ 270185645 w 2439"/>
              <a:gd name="T15" fmla="*/ 100716590 h 1876"/>
              <a:gd name="T16" fmla="*/ 380581307 w 2439"/>
              <a:gd name="T17" fmla="*/ 93265416 h 1876"/>
              <a:gd name="T18" fmla="*/ 531721543 w 2439"/>
              <a:gd name="T19" fmla="*/ 114590980 h 1876"/>
              <a:gd name="T20" fmla="*/ 555166506 w 2439"/>
              <a:gd name="T21" fmla="*/ 186531339 h 1876"/>
              <a:gd name="T22" fmla="*/ 490749872 w 2439"/>
              <a:gd name="T23" fmla="*/ 266693364 h 1876"/>
              <a:gd name="T24" fmla="*/ 507138708 w 2439"/>
              <a:gd name="T25" fmla="*/ 309086997 h 1876"/>
              <a:gd name="T26" fmla="*/ 490749872 w 2439"/>
              <a:gd name="T27" fmla="*/ 323218377 h 1876"/>
              <a:gd name="T28" fmla="*/ 460021089 w 2439"/>
              <a:gd name="T29" fmla="*/ 482000871 h 1876"/>
              <a:gd name="T30" fmla="*/ 237635728 w 2439"/>
              <a:gd name="T31" fmla="*/ 424191418 h 1876"/>
              <a:gd name="T32" fmla="*/ 0 w 2439"/>
              <a:gd name="T33" fmla="*/ 359445276 h 18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39"/>
              <a:gd name="T52" fmla="*/ 0 h 1876"/>
              <a:gd name="T53" fmla="*/ 2439 w 2439"/>
              <a:gd name="T54" fmla="*/ 1876 h 18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39" h="1876">
                <a:moveTo>
                  <a:pt x="0" y="1399"/>
                </a:moveTo>
                <a:lnTo>
                  <a:pt x="36" y="1178"/>
                </a:lnTo>
                <a:lnTo>
                  <a:pt x="591" y="30"/>
                </a:lnTo>
                <a:lnTo>
                  <a:pt x="665" y="0"/>
                </a:lnTo>
                <a:lnTo>
                  <a:pt x="767" y="172"/>
                </a:lnTo>
                <a:lnTo>
                  <a:pt x="731" y="278"/>
                </a:lnTo>
                <a:lnTo>
                  <a:pt x="1079" y="311"/>
                </a:lnTo>
                <a:lnTo>
                  <a:pt x="1187" y="392"/>
                </a:lnTo>
                <a:lnTo>
                  <a:pt x="1672" y="363"/>
                </a:lnTo>
                <a:lnTo>
                  <a:pt x="2336" y="446"/>
                </a:lnTo>
                <a:lnTo>
                  <a:pt x="2439" y="726"/>
                </a:lnTo>
                <a:lnTo>
                  <a:pt x="2156" y="1038"/>
                </a:lnTo>
                <a:lnTo>
                  <a:pt x="2228" y="1203"/>
                </a:lnTo>
                <a:lnTo>
                  <a:pt x="2156" y="1258"/>
                </a:lnTo>
                <a:lnTo>
                  <a:pt x="2021" y="1876"/>
                </a:lnTo>
                <a:lnTo>
                  <a:pt x="1044" y="1651"/>
                </a:lnTo>
                <a:lnTo>
                  <a:pt x="0" y="1399"/>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29" name="Freeform 21"/>
          <p:cNvSpPr>
            <a:spLocks noChangeAspect="1"/>
          </p:cNvSpPr>
          <p:nvPr/>
        </p:nvSpPr>
        <p:spPr bwMode="auto">
          <a:xfrm>
            <a:off x="1497013" y="2967038"/>
            <a:ext cx="962025" cy="1417637"/>
          </a:xfrm>
          <a:custGeom>
            <a:avLst/>
            <a:gdLst>
              <a:gd name="T0" fmla="*/ 284706560 w 2019"/>
              <a:gd name="T1" fmla="*/ 57924217 h 2794"/>
              <a:gd name="T2" fmla="*/ 458391341 w 2019"/>
              <a:gd name="T3" fmla="*/ 86242461 h 2794"/>
              <a:gd name="T4" fmla="*/ 387328253 w 2019"/>
              <a:gd name="T5" fmla="*/ 553240257 h 2794"/>
              <a:gd name="T6" fmla="*/ 379608707 w 2019"/>
              <a:gd name="T7" fmla="*/ 646948871 h 2794"/>
              <a:gd name="T8" fmla="*/ 356223739 w 2019"/>
              <a:gd name="T9" fmla="*/ 646948871 h 2794"/>
              <a:gd name="T10" fmla="*/ 323984235 w 2019"/>
              <a:gd name="T11" fmla="*/ 719289431 h 2794"/>
              <a:gd name="T12" fmla="*/ 0 w 2019"/>
              <a:gd name="T13" fmla="*/ 287561147 h 2794"/>
              <a:gd name="T14" fmla="*/ 62889957 w 2019"/>
              <a:gd name="T15" fmla="*/ 0 h 2794"/>
              <a:gd name="T16" fmla="*/ 284706560 w 2019"/>
              <a:gd name="T17" fmla="*/ 57924217 h 2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19"/>
              <a:gd name="T28" fmla="*/ 0 h 2794"/>
              <a:gd name="T29" fmla="*/ 2019 w 2019"/>
              <a:gd name="T30" fmla="*/ 2794 h 27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19" h="2794">
                <a:moveTo>
                  <a:pt x="1254" y="225"/>
                </a:moveTo>
                <a:lnTo>
                  <a:pt x="2019" y="335"/>
                </a:lnTo>
                <a:lnTo>
                  <a:pt x="1706" y="2149"/>
                </a:lnTo>
                <a:lnTo>
                  <a:pt x="1672" y="2513"/>
                </a:lnTo>
                <a:lnTo>
                  <a:pt x="1569" y="2513"/>
                </a:lnTo>
                <a:lnTo>
                  <a:pt x="1427" y="2794"/>
                </a:lnTo>
                <a:lnTo>
                  <a:pt x="0" y="1117"/>
                </a:lnTo>
                <a:lnTo>
                  <a:pt x="277" y="0"/>
                </a:lnTo>
                <a:lnTo>
                  <a:pt x="1254" y="225"/>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30" name="Freeform 22"/>
          <p:cNvSpPr>
            <a:spLocks noChangeAspect="1"/>
          </p:cNvSpPr>
          <p:nvPr/>
        </p:nvSpPr>
        <p:spPr bwMode="auto">
          <a:xfrm>
            <a:off x="2092325" y="1803400"/>
            <a:ext cx="781050" cy="1404938"/>
          </a:xfrm>
          <a:custGeom>
            <a:avLst/>
            <a:gdLst>
              <a:gd name="T0" fmla="*/ 118665614 w 1635"/>
              <a:gd name="T1" fmla="*/ 0 h 2768"/>
              <a:gd name="T2" fmla="*/ 174575431 w 1635"/>
              <a:gd name="T3" fmla="*/ 7470838 h 2768"/>
              <a:gd name="T4" fmla="*/ 158601411 w 1635"/>
              <a:gd name="T5" fmla="*/ 86303191 h 2768"/>
              <a:gd name="T6" fmla="*/ 174575431 w 1635"/>
              <a:gd name="T7" fmla="*/ 173379401 h 2768"/>
              <a:gd name="T8" fmla="*/ 230941906 w 1635"/>
              <a:gd name="T9" fmla="*/ 259167382 h 2768"/>
              <a:gd name="T10" fmla="*/ 214511198 w 1635"/>
              <a:gd name="T11" fmla="*/ 331816622 h 2768"/>
              <a:gd name="T12" fmla="*/ 199449597 w 1635"/>
              <a:gd name="T13" fmla="*/ 352684106 h 2768"/>
              <a:gd name="T14" fmla="*/ 206296083 w 1635"/>
              <a:gd name="T15" fmla="*/ 374581438 h 2768"/>
              <a:gd name="T16" fmla="*/ 230941906 w 1635"/>
              <a:gd name="T17" fmla="*/ 361185298 h 2768"/>
              <a:gd name="T18" fmla="*/ 270192702 w 1635"/>
              <a:gd name="T19" fmla="*/ 483040278 h 2768"/>
              <a:gd name="T20" fmla="*/ 302369564 w 1635"/>
              <a:gd name="T21" fmla="*/ 475569442 h 2768"/>
              <a:gd name="T22" fmla="*/ 357823142 w 1635"/>
              <a:gd name="T23" fmla="*/ 483040278 h 2768"/>
              <a:gd name="T24" fmla="*/ 365809913 w 1635"/>
              <a:gd name="T25" fmla="*/ 469128961 h 2768"/>
              <a:gd name="T26" fmla="*/ 373112609 w 1635"/>
              <a:gd name="T27" fmla="*/ 483040278 h 2768"/>
              <a:gd name="T28" fmla="*/ 349607549 w 1635"/>
              <a:gd name="T29" fmla="*/ 713096384 h 2768"/>
              <a:gd name="T30" fmla="*/ 174575431 w 1635"/>
              <a:gd name="T31" fmla="*/ 677287227 h 2768"/>
              <a:gd name="T32" fmla="*/ 0 w 1635"/>
              <a:gd name="T33" fmla="*/ 648948907 h 2768"/>
              <a:gd name="T34" fmla="*/ 30807285 w 1635"/>
              <a:gd name="T35" fmla="*/ 489738602 h 2768"/>
              <a:gd name="T36" fmla="*/ 47238000 w 1635"/>
              <a:gd name="T37" fmla="*/ 475569442 h 2768"/>
              <a:gd name="T38" fmla="*/ 30807285 w 1635"/>
              <a:gd name="T39" fmla="*/ 433061961 h 2768"/>
              <a:gd name="T40" fmla="*/ 95388897 w 1635"/>
              <a:gd name="T41" fmla="*/ 352684106 h 2768"/>
              <a:gd name="T42" fmla="*/ 71884315 w 1635"/>
              <a:gd name="T43" fmla="*/ 280550107 h 2768"/>
              <a:gd name="T44" fmla="*/ 118665614 w 1635"/>
              <a:gd name="T45" fmla="*/ 0 h 27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35"/>
              <a:gd name="T70" fmla="*/ 0 h 2768"/>
              <a:gd name="T71" fmla="*/ 1635 w 1635"/>
              <a:gd name="T72" fmla="*/ 2768 h 276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35" h="2768">
                <a:moveTo>
                  <a:pt x="520" y="0"/>
                </a:moveTo>
                <a:lnTo>
                  <a:pt x="765" y="29"/>
                </a:lnTo>
                <a:lnTo>
                  <a:pt x="695" y="335"/>
                </a:lnTo>
                <a:lnTo>
                  <a:pt x="765" y="673"/>
                </a:lnTo>
                <a:lnTo>
                  <a:pt x="1012" y="1006"/>
                </a:lnTo>
                <a:lnTo>
                  <a:pt x="940" y="1288"/>
                </a:lnTo>
                <a:lnTo>
                  <a:pt x="874" y="1369"/>
                </a:lnTo>
                <a:lnTo>
                  <a:pt x="904" y="1454"/>
                </a:lnTo>
                <a:lnTo>
                  <a:pt x="1012" y="1402"/>
                </a:lnTo>
                <a:lnTo>
                  <a:pt x="1184" y="1875"/>
                </a:lnTo>
                <a:lnTo>
                  <a:pt x="1325" y="1846"/>
                </a:lnTo>
                <a:lnTo>
                  <a:pt x="1568" y="1875"/>
                </a:lnTo>
                <a:lnTo>
                  <a:pt x="1603" y="1821"/>
                </a:lnTo>
                <a:lnTo>
                  <a:pt x="1635" y="1875"/>
                </a:lnTo>
                <a:lnTo>
                  <a:pt x="1532" y="2768"/>
                </a:lnTo>
                <a:lnTo>
                  <a:pt x="765" y="2629"/>
                </a:lnTo>
                <a:lnTo>
                  <a:pt x="0" y="2519"/>
                </a:lnTo>
                <a:lnTo>
                  <a:pt x="135" y="1901"/>
                </a:lnTo>
                <a:lnTo>
                  <a:pt x="207" y="1846"/>
                </a:lnTo>
                <a:lnTo>
                  <a:pt x="135" y="1681"/>
                </a:lnTo>
                <a:lnTo>
                  <a:pt x="418" y="1369"/>
                </a:lnTo>
                <a:lnTo>
                  <a:pt x="315" y="1089"/>
                </a:lnTo>
                <a:lnTo>
                  <a:pt x="520" y="0"/>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31" name="Freeform 23"/>
          <p:cNvSpPr>
            <a:spLocks noChangeAspect="1"/>
          </p:cNvSpPr>
          <p:nvPr/>
        </p:nvSpPr>
        <p:spPr bwMode="auto">
          <a:xfrm>
            <a:off x="2306638" y="3136900"/>
            <a:ext cx="749300" cy="1020763"/>
          </a:xfrm>
          <a:custGeom>
            <a:avLst/>
            <a:gdLst>
              <a:gd name="T0" fmla="*/ 71567960 w 1567"/>
              <a:gd name="T1" fmla="*/ 0 h 2010"/>
              <a:gd name="T2" fmla="*/ 246943346 w 1567"/>
              <a:gd name="T3" fmla="*/ 35848594 h 2010"/>
              <a:gd name="T4" fmla="*/ 230937882 w 1567"/>
              <a:gd name="T5" fmla="*/ 137204797 h 2010"/>
              <a:gd name="T6" fmla="*/ 358296428 w 1567"/>
              <a:gd name="T7" fmla="*/ 165574384 h 2010"/>
              <a:gd name="T8" fmla="*/ 310279558 w 1567"/>
              <a:gd name="T9" fmla="*/ 518386619 h 2010"/>
              <a:gd name="T10" fmla="*/ 0 w 1567"/>
              <a:gd name="T11" fmla="*/ 467837533 h 2010"/>
              <a:gd name="T12" fmla="*/ 71567960 w 1567"/>
              <a:gd name="T13" fmla="*/ 0 h 2010"/>
              <a:gd name="T14" fmla="*/ 0 60000 65536"/>
              <a:gd name="T15" fmla="*/ 0 60000 65536"/>
              <a:gd name="T16" fmla="*/ 0 60000 65536"/>
              <a:gd name="T17" fmla="*/ 0 60000 65536"/>
              <a:gd name="T18" fmla="*/ 0 60000 65536"/>
              <a:gd name="T19" fmla="*/ 0 60000 65536"/>
              <a:gd name="T20" fmla="*/ 0 60000 65536"/>
              <a:gd name="T21" fmla="*/ 0 w 1567"/>
              <a:gd name="T22" fmla="*/ 0 h 2010"/>
              <a:gd name="T23" fmla="*/ 1567 w 1567"/>
              <a:gd name="T24" fmla="*/ 2010 h 20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7" h="2010">
                <a:moveTo>
                  <a:pt x="313" y="0"/>
                </a:moveTo>
                <a:lnTo>
                  <a:pt x="1080" y="139"/>
                </a:lnTo>
                <a:lnTo>
                  <a:pt x="1010" y="532"/>
                </a:lnTo>
                <a:lnTo>
                  <a:pt x="1567" y="642"/>
                </a:lnTo>
                <a:lnTo>
                  <a:pt x="1357" y="2010"/>
                </a:lnTo>
                <a:lnTo>
                  <a:pt x="0" y="1814"/>
                </a:lnTo>
                <a:lnTo>
                  <a:pt x="313" y="0"/>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32" name="Freeform 24"/>
          <p:cNvSpPr>
            <a:spLocks noChangeAspect="1"/>
          </p:cNvSpPr>
          <p:nvPr/>
        </p:nvSpPr>
        <p:spPr bwMode="auto">
          <a:xfrm>
            <a:off x="2424113" y="1820863"/>
            <a:ext cx="1427162" cy="949325"/>
          </a:xfrm>
          <a:custGeom>
            <a:avLst/>
            <a:gdLst>
              <a:gd name="T0" fmla="*/ 15884087 w 2996"/>
              <a:gd name="T1" fmla="*/ 0 h 1872"/>
              <a:gd name="T2" fmla="*/ 679836924 w 2996"/>
              <a:gd name="T3" fmla="*/ 114954537 h 1872"/>
              <a:gd name="T4" fmla="*/ 664633557 w 2996"/>
              <a:gd name="T5" fmla="*/ 409412654 h 1872"/>
              <a:gd name="T6" fmla="*/ 648522732 w 2996"/>
              <a:gd name="T7" fmla="*/ 481419849 h 1872"/>
              <a:gd name="T8" fmla="*/ 221242013 w 2996"/>
              <a:gd name="T9" fmla="*/ 431529081 h 1872"/>
              <a:gd name="T10" fmla="*/ 213299735 w 2996"/>
              <a:gd name="T11" fmla="*/ 474733499 h 1872"/>
              <a:gd name="T12" fmla="*/ 206038646 w 2996"/>
              <a:gd name="T13" fmla="*/ 460846582 h 1872"/>
              <a:gd name="T14" fmla="*/ 198096845 w 2996"/>
              <a:gd name="T15" fmla="*/ 474733499 h 1872"/>
              <a:gd name="T16" fmla="*/ 142956296 w 2996"/>
              <a:gd name="T17" fmla="*/ 467275823 h 1872"/>
              <a:gd name="T18" fmla="*/ 110961363 w 2996"/>
              <a:gd name="T19" fmla="*/ 474733499 h 1872"/>
              <a:gd name="T20" fmla="*/ 71932115 w 2996"/>
              <a:gd name="T21" fmla="*/ 353092645 h 1872"/>
              <a:gd name="T22" fmla="*/ 47425031 w 2996"/>
              <a:gd name="T23" fmla="*/ 366465344 h 1872"/>
              <a:gd name="T24" fmla="*/ 40617909 w 2996"/>
              <a:gd name="T25" fmla="*/ 344606026 h 1872"/>
              <a:gd name="T26" fmla="*/ 55594054 w 2996"/>
              <a:gd name="T27" fmla="*/ 323775650 h 1872"/>
              <a:gd name="T28" fmla="*/ 71932115 w 2996"/>
              <a:gd name="T29" fmla="*/ 251253667 h 1872"/>
              <a:gd name="T30" fmla="*/ 15884087 w 2996"/>
              <a:gd name="T31" fmla="*/ 165616663 h 1872"/>
              <a:gd name="T32" fmla="*/ 0 w 2996"/>
              <a:gd name="T33" fmla="*/ 78693577 h 1872"/>
              <a:gd name="T34" fmla="*/ 15884087 w 2996"/>
              <a:gd name="T35" fmla="*/ 0 h 18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96"/>
              <a:gd name="T55" fmla="*/ 0 h 1872"/>
              <a:gd name="T56" fmla="*/ 2996 w 2996"/>
              <a:gd name="T57" fmla="*/ 1872 h 18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96" h="1872">
                <a:moveTo>
                  <a:pt x="70" y="0"/>
                </a:moveTo>
                <a:lnTo>
                  <a:pt x="2996" y="447"/>
                </a:lnTo>
                <a:lnTo>
                  <a:pt x="2929" y="1592"/>
                </a:lnTo>
                <a:lnTo>
                  <a:pt x="2858" y="1872"/>
                </a:lnTo>
                <a:lnTo>
                  <a:pt x="975" y="1678"/>
                </a:lnTo>
                <a:lnTo>
                  <a:pt x="940" y="1846"/>
                </a:lnTo>
                <a:lnTo>
                  <a:pt x="908" y="1792"/>
                </a:lnTo>
                <a:lnTo>
                  <a:pt x="873" y="1846"/>
                </a:lnTo>
                <a:lnTo>
                  <a:pt x="630" y="1817"/>
                </a:lnTo>
                <a:lnTo>
                  <a:pt x="489" y="1846"/>
                </a:lnTo>
                <a:lnTo>
                  <a:pt x="317" y="1373"/>
                </a:lnTo>
                <a:lnTo>
                  <a:pt x="209" y="1425"/>
                </a:lnTo>
                <a:lnTo>
                  <a:pt x="179" y="1340"/>
                </a:lnTo>
                <a:lnTo>
                  <a:pt x="245" y="1259"/>
                </a:lnTo>
                <a:lnTo>
                  <a:pt x="317" y="977"/>
                </a:lnTo>
                <a:lnTo>
                  <a:pt x="70" y="644"/>
                </a:lnTo>
                <a:lnTo>
                  <a:pt x="0" y="306"/>
                </a:lnTo>
                <a:lnTo>
                  <a:pt x="70" y="0"/>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33" name="Freeform 25"/>
          <p:cNvSpPr>
            <a:spLocks noChangeAspect="1"/>
          </p:cNvSpPr>
          <p:nvPr/>
        </p:nvSpPr>
        <p:spPr bwMode="auto">
          <a:xfrm>
            <a:off x="2789238" y="2670175"/>
            <a:ext cx="996950" cy="839788"/>
          </a:xfrm>
          <a:custGeom>
            <a:avLst/>
            <a:gdLst>
              <a:gd name="T0" fmla="*/ 475327158 w 2091"/>
              <a:gd name="T1" fmla="*/ 50193484 h 1651"/>
              <a:gd name="T2" fmla="*/ 475327158 w 2091"/>
              <a:gd name="T3" fmla="*/ 231303857 h 1651"/>
              <a:gd name="T4" fmla="*/ 458960212 w 2091"/>
              <a:gd name="T5" fmla="*/ 427161651 h 1651"/>
              <a:gd name="T6" fmla="*/ 126617418 w 2091"/>
              <a:gd name="T7" fmla="*/ 404652186 h 1651"/>
              <a:gd name="T8" fmla="*/ 0 w 2091"/>
              <a:gd name="T9" fmla="*/ 376191977 h 1651"/>
              <a:gd name="T10" fmla="*/ 15912581 w 2091"/>
              <a:gd name="T11" fmla="*/ 274511534 h 1651"/>
              <a:gd name="T12" fmla="*/ 39326360 w 2091"/>
              <a:gd name="T13" fmla="*/ 43466535 h 1651"/>
              <a:gd name="T14" fmla="*/ 47282885 w 2091"/>
              <a:gd name="T15" fmla="*/ 0 h 1651"/>
              <a:gd name="T16" fmla="*/ 475327158 w 2091"/>
              <a:gd name="T17" fmla="*/ 50193484 h 16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91"/>
              <a:gd name="T28" fmla="*/ 0 h 1651"/>
              <a:gd name="T29" fmla="*/ 2091 w 2091"/>
              <a:gd name="T30" fmla="*/ 1651 h 165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91" h="1651">
                <a:moveTo>
                  <a:pt x="2091" y="194"/>
                </a:moveTo>
                <a:lnTo>
                  <a:pt x="2091" y="894"/>
                </a:lnTo>
                <a:lnTo>
                  <a:pt x="2019" y="1651"/>
                </a:lnTo>
                <a:lnTo>
                  <a:pt x="557" y="1564"/>
                </a:lnTo>
                <a:lnTo>
                  <a:pt x="0" y="1454"/>
                </a:lnTo>
                <a:lnTo>
                  <a:pt x="70" y="1061"/>
                </a:lnTo>
                <a:lnTo>
                  <a:pt x="173" y="168"/>
                </a:lnTo>
                <a:lnTo>
                  <a:pt x="208" y="0"/>
                </a:lnTo>
                <a:lnTo>
                  <a:pt x="2091" y="194"/>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34" name="Freeform 26"/>
          <p:cNvSpPr>
            <a:spLocks noChangeAspect="1"/>
          </p:cNvSpPr>
          <p:nvPr/>
        </p:nvSpPr>
        <p:spPr bwMode="auto">
          <a:xfrm>
            <a:off x="2955925" y="3465513"/>
            <a:ext cx="1047750" cy="777875"/>
          </a:xfrm>
          <a:custGeom>
            <a:avLst/>
            <a:gdLst>
              <a:gd name="T0" fmla="*/ 47674286 w 2199"/>
              <a:gd name="T1" fmla="*/ 0 h 1536"/>
              <a:gd name="T2" fmla="*/ 379578001 w 2199"/>
              <a:gd name="T3" fmla="*/ 22312758 h 1536"/>
              <a:gd name="T4" fmla="*/ 499217752 w 2199"/>
              <a:gd name="T5" fmla="*/ 35905823 h 1536"/>
              <a:gd name="T6" fmla="*/ 499217752 w 2199"/>
              <a:gd name="T7" fmla="*/ 136955143 h 1536"/>
              <a:gd name="T8" fmla="*/ 490818127 w 2199"/>
              <a:gd name="T9" fmla="*/ 393938488 h 1536"/>
              <a:gd name="T10" fmla="*/ 427252272 w 2199"/>
              <a:gd name="T11" fmla="*/ 387013580 h 1536"/>
              <a:gd name="T12" fmla="*/ 0 w 2199"/>
              <a:gd name="T13" fmla="*/ 350851519 h 1536"/>
              <a:gd name="T14" fmla="*/ 47674286 w 2199"/>
              <a:gd name="T15" fmla="*/ 0 h 1536"/>
              <a:gd name="T16" fmla="*/ 0 60000 65536"/>
              <a:gd name="T17" fmla="*/ 0 60000 65536"/>
              <a:gd name="T18" fmla="*/ 0 60000 65536"/>
              <a:gd name="T19" fmla="*/ 0 60000 65536"/>
              <a:gd name="T20" fmla="*/ 0 60000 65536"/>
              <a:gd name="T21" fmla="*/ 0 60000 65536"/>
              <a:gd name="T22" fmla="*/ 0 60000 65536"/>
              <a:gd name="T23" fmla="*/ 0 60000 65536"/>
              <a:gd name="T24" fmla="*/ 0 w 2199"/>
              <a:gd name="T25" fmla="*/ 0 h 1536"/>
              <a:gd name="T26" fmla="*/ 2199 w 2199"/>
              <a:gd name="T27" fmla="*/ 1536 h 1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99" h="1536">
                <a:moveTo>
                  <a:pt x="210" y="0"/>
                </a:moveTo>
                <a:lnTo>
                  <a:pt x="1672" y="87"/>
                </a:lnTo>
                <a:lnTo>
                  <a:pt x="2199" y="140"/>
                </a:lnTo>
                <a:lnTo>
                  <a:pt x="2199" y="534"/>
                </a:lnTo>
                <a:lnTo>
                  <a:pt x="2162" y="1536"/>
                </a:lnTo>
                <a:lnTo>
                  <a:pt x="1882" y="1509"/>
                </a:lnTo>
                <a:lnTo>
                  <a:pt x="0" y="1368"/>
                </a:lnTo>
                <a:lnTo>
                  <a:pt x="210" y="0"/>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35" name="Freeform 27"/>
          <p:cNvSpPr>
            <a:spLocks noChangeAspect="1"/>
          </p:cNvSpPr>
          <p:nvPr/>
        </p:nvSpPr>
        <p:spPr bwMode="auto">
          <a:xfrm>
            <a:off x="3821113" y="2046288"/>
            <a:ext cx="906462" cy="582612"/>
          </a:xfrm>
          <a:custGeom>
            <a:avLst/>
            <a:gdLst>
              <a:gd name="T0" fmla="*/ 15137963 w 1907"/>
              <a:gd name="T1" fmla="*/ 0 h 1145"/>
              <a:gd name="T2" fmla="*/ 392688198 w 1907"/>
              <a:gd name="T3" fmla="*/ 14757636 h 1145"/>
              <a:gd name="T4" fmla="*/ 407826157 w 1907"/>
              <a:gd name="T5" fmla="*/ 51005258 h 1145"/>
              <a:gd name="T6" fmla="*/ 407826157 w 1907"/>
              <a:gd name="T7" fmla="*/ 79485066 h 1145"/>
              <a:gd name="T8" fmla="*/ 423868201 w 1907"/>
              <a:gd name="T9" fmla="*/ 144730490 h 1145"/>
              <a:gd name="T10" fmla="*/ 423868201 w 1907"/>
              <a:gd name="T11" fmla="*/ 187709429 h 1145"/>
              <a:gd name="T12" fmla="*/ 430872246 w 1907"/>
              <a:gd name="T13" fmla="*/ 216966206 h 1145"/>
              <a:gd name="T14" fmla="*/ 430872246 w 1907"/>
              <a:gd name="T15" fmla="*/ 296451304 h 1145"/>
              <a:gd name="T16" fmla="*/ 0 w 1907"/>
              <a:gd name="T17" fmla="*/ 296451304 h 1145"/>
              <a:gd name="T18" fmla="*/ 15137963 w 1907"/>
              <a:gd name="T19" fmla="*/ 0 h 11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07"/>
              <a:gd name="T31" fmla="*/ 0 h 1145"/>
              <a:gd name="T32" fmla="*/ 1907 w 1907"/>
              <a:gd name="T33" fmla="*/ 1145 h 11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07" h="1145">
                <a:moveTo>
                  <a:pt x="67" y="0"/>
                </a:moveTo>
                <a:lnTo>
                  <a:pt x="1738" y="57"/>
                </a:lnTo>
                <a:lnTo>
                  <a:pt x="1805" y="197"/>
                </a:lnTo>
                <a:lnTo>
                  <a:pt x="1805" y="307"/>
                </a:lnTo>
                <a:lnTo>
                  <a:pt x="1876" y="559"/>
                </a:lnTo>
                <a:lnTo>
                  <a:pt x="1876" y="725"/>
                </a:lnTo>
                <a:lnTo>
                  <a:pt x="1907" y="838"/>
                </a:lnTo>
                <a:lnTo>
                  <a:pt x="1907" y="1145"/>
                </a:lnTo>
                <a:lnTo>
                  <a:pt x="0" y="1145"/>
                </a:lnTo>
                <a:lnTo>
                  <a:pt x="67" y="0"/>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36" name="Freeform 28"/>
          <p:cNvSpPr>
            <a:spLocks noChangeAspect="1"/>
          </p:cNvSpPr>
          <p:nvPr/>
        </p:nvSpPr>
        <p:spPr bwMode="auto">
          <a:xfrm>
            <a:off x="3786188" y="2628900"/>
            <a:ext cx="1011237" cy="622300"/>
          </a:xfrm>
          <a:custGeom>
            <a:avLst/>
            <a:gdLst>
              <a:gd name="T0" fmla="*/ 16154511 w 2120"/>
              <a:gd name="T1" fmla="*/ 0 h 1232"/>
              <a:gd name="T2" fmla="*/ 450049508 w 2120"/>
              <a:gd name="T3" fmla="*/ 0 h 1232"/>
              <a:gd name="T4" fmla="*/ 458240524 w 2120"/>
              <a:gd name="T5" fmla="*/ 21942136 h 1232"/>
              <a:gd name="T6" fmla="*/ 450049508 w 2120"/>
              <a:gd name="T7" fmla="*/ 51028090 h 1232"/>
              <a:gd name="T8" fmla="*/ 465976483 w 2120"/>
              <a:gd name="T9" fmla="*/ 64805565 h 1232"/>
              <a:gd name="T10" fmla="*/ 465976483 w 2120"/>
              <a:gd name="T11" fmla="*/ 221205906 h 1232"/>
              <a:gd name="T12" fmla="*/ 473939971 w 2120"/>
              <a:gd name="T13" fmla="*/ 257180590 h 1232"/>
              <a:gd name="T14" fmla="*/ 458240524 w 2120"/>
              <a:gd name="T15" fmla="*/ 279122780 h 1232"/>
              <a:gd name="T16" fmla="*/ 482358515 w 2120"/>
              <a:gd name="T17" fmla="*/ 314332218 h 1232"/>
              <a:gd name="T18" fmla="*/ 450049508 w 2120"/>
              <a:gd name="T19" fmla="*/ 286011517 h 1232"/>
              <a:gd name="T20" fmla="*/ 404771392 w 2120"/>
              <a:gd name="T21" fmla="*/ 279122780 h 1232"/>
              <a:gd name="T22" fmla="*/ 380425872 w 2120"/>
              <a:gd name="T23" fmla="*/ 279122780 h 1232"/>
              <a:gd name="T24" fmla="*/ 341063967 w 2120"/>
              <a:gd name="T25" fmla="*/ 257180590 h 1232"/>
              <a:gd name="T26" fmla="*/ 0 w 2120"/>
              <a:gd name="T27" fmla="*/ 250036770 h 1232"/>
              <a:gd name="T28" fmla="*/ 0 w 2120"/>
              <a:gd name="T29" fmla="*/ 71439235 h 1232"/>
              <a:gd name="T30" fmla="*/ 16154511 w 2120"/>
              <a:gd name="T31" fmla="*/ 0 h 12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20"/>
              <a:gd name="T49" fmla="*/ 0 h 1232"/>
              <a:gd name="T50" fmla="*/ 2120 w 2120"/>
              <a:gd name="T51" fmla="*/ 1232 h 12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20" h="1232">
                <a:moveTo>
                  <a:pt x="71" y="0"/>
                </a:moveTo>
                <a:lnTo>
                  <a:pt x="1978" y="0"/>
                </a:lnTo>
                <a:lnTo>
                  <a:pt x="2014" y="86"/>
                </a:lnTo>
                <a:lnTo>
                  <a:pt x="1978" y="200"/>
                </a:lnTo>
                <a:lnTo>
                  <a:pt x="2048" y="254"/>
                </a:lnTo>
                <a:lnTo>
                  <a:pt x="2048" y="867"/>
                </a:lnTo>
                <a:lnTo>
                  <a:pt x="2083" y="1008"/>
                </a:lnTo>
                <a:lnTo>
                  <a:pt x="2014" y="1094"/>
                </a:lnTo>
                <a:lnTo>
                  <a:pt x="2120" y="1232"/>
                </a:lnTo>
                <a:lnTo>
                  <a:pt x="1978" y="1121"/>
                </a:lnTo>
                <a:lnTo>
                  <a:pt x="1779" y="1094"/>
                </a:lnTo>
                <a:lnTo>
                  <a:pt x="1672" y="1094"/>
                </a:lnTo>
                <a:lnTo>
                  <a:pt x="1499" y="1008"/>
                </a:lnTo>
                <a:lnTo>
                  <a:pt x="0" y="980"/>
                </a:lnTo>
                <a:lnTo>
                  <a:pt x="0" y="280"/>
                </a:lnTo>
                <a:lnTo>
                  <a:pt x="71" y="0"/>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37" name="Freeform 29"/>
          <p:cNvSpPr>
            <a:spLocks noChangeAspect="1"/>
          </p:cNvSpPr>
          <p:nvPr/>
        </p:nvSpPr>
        <p:spPr bwMode="auto">
          <a:xfrm>
            <a:off x="3751263" y="3124200"/>
            <a:ext cx="1211262" cy="611188"/>
          </a:xfrm>
          <a:custGeom>
            <a:avLst/>
            <a:gdLst>
              <a:gd name="T0" fmla="*/ 119844821 w 2540"/>
              <a:gd name="T1" fmla="*/ 208728295 h 1204"/>
              <a:gd name="T2" fmla="*/ 0 w 2540"/>
              <a:gd name="T3" fmla="*/ 195070990 h 1204"/>
              <a:gd name="T4" fmla="*/ 16373498 w 2540"/>
              <a:gd name="T5" fmla="*/ 0 h 1204"/>
              <a:gd name="T6" fmla="*/ 357260278 w 2540"/>
              <a:gd name="T7" fmla="*/ 7215469 h 1204"/>
              <a:gd name="T8" fmla="*/ 396602434 w 2540"/>
              <a:gd name="T9" fmla="*/ 29376615 h 1204"/>
              <a:gd name="T10" fmla="*/ 420934962 w 2540"/>
              <a:gd name="T11" fmla="*/ 29376615 h 1204"/>
              <a:gd name="T12" fmla="*/ 466189409 w 2540"/>
              <a:gd name="T13" fmla="*/ 36334214 h 1204"/>
              <a:gd name="T14" fmla="*/ 498481928 w 2540"/>
              <a:gd name="T15" fmla="*/ 64937699 h 1204"/>
              <a:gd name="T16" fmla="*/ 513490722 w 2540"/>
              <a:gd name="T17" fmla="*/ 130648521 h 1204"/>
              <a:gd name="T18" fmla="*/ 538051196 w 2540"/>
              <a:gd name="T19" fmla="*/ 179867441 h 1204"/>
              <a:gd name="T20" fmla="*/ 538051196 w 2540"/>
              <a:gd name="T21" fmla="*/ 215943763 h 1204"/>
              <a:gd name="T22" fmla="*/ 546465172 w 2540"/>
              <a:gd name="T23" fmla="*/ 258720306 h 1204"/>
              <a:gd name="T24" fmla="*/ 546465172 w 2540"/>
              <a:gd name="T25" fmla="*/ 281139386 h 1204"/>
              <a:gd name="T26" fmla="*/ 577620344 w 2540"/>
              <a:gd name="T27" fmla="*/ 310258117 h 1204"/>
              <a:gd name="T28" fmla="*/ 119844821 w 2540"/>
              <a:gd name="T29" fmla="*/ 310258117 h 1204"/>
              <a:gd name="T30" fmla="*/ 119844821 w 2540"/>
              <a:gd name="T31" fmla="*/ 208728295 h 12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40"/>
              <a:gd name="T49" fmla="*/ 0 h 1204"/>
              <a:gd name="T50" fmla="*/ 2540 w 2540"/>
              <a:gd name="T51" fmla="*/ 1204 h 120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40" h="1204">
                <a:moveTo>
                  <a:pt x="527" y="810"/>
                </a:moveTo>
                <a:lnTo>
                  <a:pt x="0" y="757"/>
                </a:lnTo>
                <a:lnTo>
                  <a:pt x="72" y="0"/>
                </a:lnTo>
                <a:lnTo>
                  <a:pt x="1571" y="28"/>
                </a:lnTo>
                <a:lnTo>
                  <a:pt x="1744" y="114"/>
                </a:lnTo>
                <a:lnTo>
                  <a:pt x="1851" y="114"/>
                </a:lnTo>
                <a:lnTo>
                  <a:pt x="2050" y="141"/>
                </a:lnTo>
                <a:lnTo>
                  <a:pt x="2192" y="252"/>
                </a:lnTo>
                <a:lnTo>
                  <a:pt x="2258" y="507"/>
                </a:lnTo>
                <a:lnTo>
                  <a:pt x="2366" y="698"/>
                </a:lnTo>
                <a:lnTo>
                  <a:pt x="2366" y="838"/>
                </a:lnTo>
                <a:lnTo>
                  <a:pt x="2403" y="1004"/>
                </a:lnTo>
                <a:lnTo>
                  <a:pt x="2403" y="1091"/>
                </a:lnTo>
                <a:lnTo>
                  <a:pt x="2540" y="1204"/>
                </a:lnTo>
                <a:lnTo>
                  <a:pt x="527" y="1204"/>
                </a:lnTo>
                <a:lnTo>
                  <a:pt x="527" y="810"/>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38" name="Freeform 30"/>
          <p:cNvSpPr>
            <a:spLocks noChangeAspect="1"/>
          </p:cNvSpPr>
          <p:nvPr/>
        </p:nvSpPr>
        <p:spPr bwMode="auto">
          <a:xfrm>
            <a:off x="3984625" y="3735388"/>
            <a:ext cx="1076325" cy="508000"/>
          </a:xfrm>
          <a:custGeom>
            <a:avLst/>
            <a:gdLst>
              <a:gd name="T0" fmla="*/ 8414601 w 2257"/>
              <a:gd name="T1" fmla="*/ 0 h 1002"/>
              <a:gd name="T2" fmla="*/ 466205537 w 2257"/>
              <a:gd name="T3" fmla="*/ 0 h 1002"/>
              <a:gd name="T4" fmla="*/ 489629544 w 2257"/>
              <a:gd name="T5" fmla="*/ 20819891 h 1002"/>
              <a:gd name="T6" fmla="*/ 474392661 w 2257"/>
              <a:gd name="T7" fmla="*/ 42924991 h 1002"/>
              <a:gd name="T8" fmla="*/ 513281144 w 2257"/>
              <a:gd name="T9" fmla="*/ 78652811 h 1002"/>
              <a:gd name="T10" fmla="*/ 513281144 w 2257"/>
              <a:gd name="T11" fmla="*/ 257548903 h 1002"/>
              <a:gd name="T12" fmla="*/ 0 w 2257"/>
              <a:gd name="T13" fmla="*/ 257548903 h 1002"/>
              <a:gd name="T14" fmla="*/ 8414601 w 2257"/>
              <a:gd name="T15" fmla="*/ 0 h 1002"/>
              <a:gd name="T16" fmla="*/ 0 60000 65536"/>
              <a:gd name="T17" fmla="*/ 0 60000 65536"/>
              <a:gd name="T18" fmla="*/ 0 60000 65536"/>
              <a:gd name="T19" fmla="*/ 0 60000 65536"/>
              <a:gd name="T20" fmla="*/ 0 60000 65536"/>
              <a:gd name="T21" fmla="*/ 0 60000 65536"/>
              <a:gd name="T22" fmla="*/ 0 60000 65536"/>
              <a:gd name="T23" fmla="*/ 0 60000 65536"/>
              <a:gd name="T24" fmla="*/ 0 w 2257"/>
              <a:gd name="T25" fmla="*/ 0 h 1002"/>
              <a:gd name="T26" fmla="*/ 2257 w 2257"/>
              <a:gd name="T27" fmla="*/ 1002 h 10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7" h="1002">
                <a:moveTo>
                  <a:pt x="37" y="0"/>
                </a:moveTo>
                <a:lnTo>
                  <a:pt x="2050" y="0"/>
                </a:lnTo>
                <a:lnTo>
                  <a:pt x="2153" y="81"/>
                </a:lnTo>
                <a:lnTo>
                  <a:pt x="2086" y="167"/>
                </a:lnTo>
                <a:lnTo>
                  <a:pt x="2257" y="306"/>
                </a:lnTo>
                <a:lnTo>
                  <a:pt x="2257" y="1002"/>
                </a:lnTo>
                <a:lnTo>
                  <a:pt x="0" y="1002"/>
                </a:lnTo>
                <a:lnTo>
                  <a:pt x="37" y="0"/>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39" name="Freeform 31"/>
          <p:cNvSpPr>
            <a:spLocks noChangeAspect="1"/>
          </p:cNvSpPr>
          <p:nvPr/>
        </p:nvSpPr>
        <p:spPr bwMode="auto">
          <a:xfrm>
            <a:off x="3851275" y="4229100"/>
            <a:ext cx="1260475" cy="736600"/>
          </a:xfrm>
          <a:custGeom>
            <a:avLst/>
            <a:gdLst>
              <a:gd name="T0" fmla="*/ 63684278 w 2643"/>
              <a:gd name="T1" fmla="*/ 6939147 h 1453"/>
              <a:gd name="T2" fmla="*/ 577024782 w 2643"/>
              <a:gd name="T3" fmla="*/ 6939147 h 1453"/>
              <a:gd name="T4" fmla="*/ 584985373 w 2643"/>
              <a:gd name="T5" fmla="*/ 71445645 h 1453"/>
              <a:gd name="T6" fmla="*/ 592945964 w 2643"/>
              <a:gd name="T7" fmla="*/ 150601507 h 1453"/>
              <a:gd name="T8" fmla="*/ 601134040 w 2643"/>
              <a:gd name="T9" fmla="*/ 265737676 h 1453"/>
              <a:gd name="T10" fmla="*/ 592945964 w 2643"/>
              <a:gd name="T11" fmla="*/ 360056473 h 1453"/>
              <a:gd name="T12" fmla="*/ 601134040 w 2643"/>
              <a:gd name="T13" fmla="*/ 373420208 h 1453"/>
              <a:gd name="T14" fmla="*/ 577024782 w 2643"/>
              <a:gd name="T15" fmla="*/ 360056473 h 1453"/>
              <a:gd name="T16" fmla="*/ 553370974 w 2643"/>
              <a:gd name="T17" fmla="*/ 351575184 h 1453"/>
              <a:gd name="T18" fmla="*/ 521528611 w 2643"/>
              <a:gd name="T19" fmla="*/ 351575184 h 1453"/>
              <a:gd name="T20" fmla="*/ 474220398 w 2643"/>
              <a:gd name="T21" fmla="*/ 373420208 h 1453"/>
              <a:gd name="T22" fmla="*/ 465804835 w 2643"/>
              <a:gd name="T23" fmla="*/ 351575184 h 1453"/>
              <a:gd name="T24" fmla="*/ 426684341 w 2643"/>
              <a:gd name="T25" fmla="*/ 344636039 h 1453"/>
              <a:gd name="T26" fmla="*/ 411445619 w 2643"/>
              <a:gd name="T27" fmla="*/ 366224039 h 1453"/>
              <a:gd name="T28" fmla="*/ 373235070 w 2643"/>
              <a:gd name="T29" fmla="*/ 315595353 h 1453"/>
              <a:gd name="T30" fmla="*/ 340710726 w 2643"/>
              <a:gd name="T31" fmla="*/ 330501232 h 1453"/>
              <a:gd name="T32" fmla="*/ 332295639 w 2643"/>
              <a:gd name="T33" fmla="*/ 308142160 h 1453"/>
              <a:gd name="T34" fmla="*/ 253827165 w 2643"/>
              <a:gd name="T35" fmla="*/ 287839281 h 1453"/>
              <a:gd name="T36" fmla="*/ 205836553 w 2643"/>
              <a:gd name="T37" fmla="*/ 259055555 h 1453"/>
              <a:gd name="T38" fmla="*/ 190825317 w 2643"/>
              <a:gd name="T39" fmla="*/ 243635628 h 1453"/>
              <a:gd name="T40" fmla="*/ 199013394 w 2643"/>
              <a:gd name="T41" fmla="*/ 64249967 h 1453"/>
              <a:gd name="T42" fmla="*/ 0 w 2643"/>
              <a:gd name="T43" fmla="*/ 42918992 h 1453"/>
              <a:gd name="T44" fmla="*/ 0 w 2643"/>
              <a:gd name="T45" fmla="*/ 0 h 1453"/>
              <a:gd name="T46" fmla="*/ 63684278 w 2643"/>
              <a:gd name="T47" fmla="*/ 6939147 h 145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643"/>
              <a:gd name="T73" fmla="*/ 0 h 1453"/>
              <a:gd name="T74" fmla="*/ 2643 w 2643"/>
              <a:gd name="T75" fmla="*/ 1453 h 145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643" h="1453">
                <a:moveTo>
                  <a:pt x="280" y="27"/>
                </a:moveTo>
                <a:lnTo>
                  <a:pt x="2537" y="27"/>
                </a:lnTo>
                <a:lnTo>
                  <a:pt x="2572" y="278"/>
                </a:lnTo>
                <a:lnTo>
                  <a:pt x="2607" y="586"/>
                </a:lnTo>
                <a:lnTo>
                  <a:pt x="2643" y="1034"/>
                </a:lnTo>
                <a:lnTo>
                  <a:pt x="2607" y="1401"/>
                </a:lnTo>
                <a:lnTo>
                  <a:pt x="2643" y="1453"/>
                </a:lnTo>
                <a:lnTo>
                  <a:pt x="2537" y="1401"/>
                </a:lnTo>
                <a:lnTo>
                  <a:pt x="2433" y="1368"/>
                </a:lnTo>
                <a:lnTo>
                  <a:pt x="2293" y="1368"/>
                </a:lnTo>
                <a:lnTo>
                  <a:pt x="2085" y="1453"/>
                </a:lnTo>
                <a:lnTo>
                  <a:pt x="2048" y="1368"/>
                </a:lnTo>
                <a:lnTo>
                  <a:pt x="1876" y="1341"/>
                </a:lnTo>
                <a:lnTo>
                  <a:pt x="1809" y="1425"/>
                </a:lnTo>
                <a:lnTo>
                  <a:pt x="1641" y="1228"/>
                </a:lnTo>
                <a:lnTo>
                  <a:pt x="1498" y="1286"/>
                </a:lnTo>
                <a:lnTo>
                  <a:pt x="1461" y="1199"/>
                </a:lnTo>
                <a:lnTo>
                  <a:pt x="1116" y="1120"/>
                </a:lnTo>
                <a:lnTo>
                  <a:pt x="905" y="1008"/>
                </a:lnTo>
                <a:lnTo>
                  <a:pt x="839" y="948"/>
                </a:lnTo>
                <a:lnTo>
                  <a:pt x="875" y="250"/>
                </a:lnTo>
                <a:lnTo>
                  <a:pt x="0" y="167"/>
                </a:lnTo>
                <a:lnTo>
                  <a:pt x="0" y="0"/>
                </a:lnTo>
                <a:lnTo>
                  <a:pt x="280" y="27"/>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40" name="Freeform 32"/>
          <p:cNvSpPr>
            <a:spLocks noChangeAspect="1"/>
          </p:cNvSpPr>
          <p:nvPr/>
        </p:nvSpPr>
        <p:spPr bwMode="auto">
          <a:xfrm>
            <a:off x="4745038" y="3025775"/>
            <a:ext cx="828675" cy="652463"/>
          </a:xfrm>
          <a:custGeom>
            <a:avLst/>
            <a:gdLst>
              <a:gd name="T0" fmla="*/ 347533275 w 1741"/>
              <a:gd name="T1" fmla="*/ 79272224 h 1284"/>
              <a:gd name="T2" fmla="*/ 363844983 w 1741"/>
              <a:gd name="T3" fmla="*/ 79272224 h 1284"/>
              <a:gd name="T4" fmla="*/ 370641449 w 1741"/>
              <a:gd name="T5" fmla="*/ 101478316 h 1284"/>
              <a:gd name="T6" fmla="*/ 379024344 w 1741"/>
              <a:gd name="T7" fmla="*/ 129624156 h 1284"/>
              <a:gd name="T8" fmla="*/ 394429793 w 1741"/>
              <a:gd name="T9" fmla="*/ 144342203 h 1284"/>
              <a:gd name="T10" fmla="*/ 370641449 w 1741"/>
              <a:gd name="T11" fmla="*/ 208895872 h 1284"/>
              <a:gd name="T12" fmla="*/ 347533275 w 1741"/>
              <a:gd name="T13" fmla="*/ 230069406 h 1284"/>
              <a:gd name="T14" fmla="*/ 355462564 w 1741"/>
              <a:gd name="T15" fmla="*/ 252276006 h 1284"/>
              <a:gd name="T16" fmla="*/ 331448131 w 1741"/>
              <a:gd name="T17" fmla="*/ 288168127 h 1284"/>
              <a:gd name="T18" fmla="*/ 324198060 w 1741"/>
              <a:gd name="T19" fmla="*/ 324576463 h 1284"/>
              <a:gd name="T20" fmla="*/ 307659787 w 1741"/>
              <a:gd name="T21" fmla="*/ 309083522 h 1284"/>
              <a:gd name="T22" fmla="*/ 71817716 w 1741"/>
              <a:gd name="T23" fmla="*/ 331548261 h 1284"/>
              <a:gd name="T24" fmla="*/ 71817716 w 1741"/>
              <a:gd name="T25" fmla="*/ 309083522 h 1284"/>
              <a:gd name="T26" fmla="*/ 63434821 w 1741"/>
              <a:gd name="T27" fmla="*/ 266219603 h 1284"/>
              <a:gd name="T28" fmla="*/ 63434821 w 1741"/>
              <a:gd name="T29" fmla="*/ 230069406 h 1284"/>
              <a:gd name="T30" fmla="*/ 38967244 w 1741"/>
              <a:gd name="T31" fmla="*/ 180750539 h 1284"/>
              <a:gd name="T32" fmla="*/ 24014917 w 1741"/>
              <a:gd name="T33" fmla="*/ 114905633 h 1284"/>
              <a:gd name="T34" fmla="*/ 0 w 1741"/>
              <a:gd name="T35" fmla="*/ 79272224 h 1284"/>
              <a:gd name="T36" fmla="*/ 15632022 w 1741"/>
              <a:gd name="T37" fmla="*/ 57065607 h 1284"/>
              <a:gd name="T38" fmla="*/ 7702727 w 1741"/>
              <a:gd name="T39" fmla="*/ 20657263 h 1284"/>
              <a:gd name="T40" fmla="*/ 316042206 w 1741"/>
              <a:gd name="T41" fmla="*/ 0 h 1284"/>
              <a:gd name="T42" fmla="*/ 339150856 w 1741"/>
              <a:gd name="T43" fmla="*/ 20657263 h 1284"/>
              <a:gd name="T44" fmla="*/ 331448131 w 1741"/>
              <a:gd name="T45" fmla="*/ 43122011 h 1284"/>
              <a:gd name="T46" fmla="*/ 347533275 w 1741"/>
              <a:gd name="T47" fmla="*/ 79272224 h 128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41"/>
              <a:gd name="T73" fmla="*/ 0 h 1284"/>
              <a:gd name="T74" fmla="*/ 1741 w 1741"/>
              <a:gd name="T75" fmla="*/ 1284 h 128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41" h="1284">
                <a:moveTo>
                  <a:pt x="1534" y="307"/>
                </a:moveTo>
                <a:lnTo>
                  <a:pt x="1606" y="307"/>
                </a:lnTo>
                <a:lnTo>
                  <a:pt x="1636" y="393"/>
                </a:lnTo>
                <a:lnTo>
                  <a:pt x="1673" y="502"/>
                </a:lnTo>
                <a:lnTo>
                  <a:pt x="1741" y="559"/>
                </a:lnTo>
                <a:lnTo>
                  <a:pt x="1636" y="809"/>
                </a:lnTo>
                <a:lnTo>
                  <a:pt x="1534" y="891"/>
                </a:lnTo>
                <a:lnTo>
                  <a:pt x="1569" y="977"/>
                </a:lnTo>
                <a:lnTo>
                  <a:pt x="1463" y="1116"/>
                </a:lnTo>
                <a:lnTo>
                  <a:pt x="1431" y="1257"/>
                </a:lnTo>
                <a:lnTo>
                  <a:pt x="1358" y="1197"/>
                </a:lnTo>
                <a:lnTo>
                  <a:pt x="317" y="1284"/>
                </a:lnTo>
                <a:lnTo>
                  <a:pt x="317" y="1197"/>
                </a:lnTo>
                <a:lnTo>
                  <a:pt x="280" y="1031"/>
                </a:lnTo>
                <a:lnTo>
                  <a:pt x="280" y="891"/>
                </a:lnTo>
                <a:lnTo>
                  <a:pt x="172" y="700"/>
                </a:lnTo>
                <a:lnTo>
                  <a:pt x="106" y="445"/>
                </a:lnTo>
                <a:lnTo>
                  <a:pt x="0" y="307"/>
                </a:lnTo>
                <a:lnTo>
                  <a:pt x="69" y="221"/>
                </a:lnTo>
                <a:lnTo>
                  <a:pt x="34" y="80"/>
                </a:lnTo>
                <a:lnTo>
                  <a:pt x="1395" y="0"/>
                </a:lnTo>
                <a:lnTo>
                  <a:pt x="1497" y="80"/>
                </a:lnTo>
                <a:lnTo>
                  <a:pt x="1463" y="167"/>
                </a:lnTo>
                <a:lnTo>
                  <a:pt x="1534" y="307"/>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41" name="Freeform 33"/>
          <p:cNvSpPr>
            <a:spLocks noChangeAspect="1"/>
          </p:cNvSpPr>
          <p:nvPr/>
        </p:nvSpPr>
        <p:spPr bwMode="auto">
          <a:xfrm>
            <a:off x="4897438" y="3632200"/>
            <a:ext cx="927100" cy="765175"/>
          </a:xfrm>
          <a:custGeom>
            <a:avLst/>
            <a:gdLst>
              <a:gd name="T0" fmla="*/ 354388886 w 1947"/>
              <a:gd name="T1" fmla="*/ 345518643 h 1508"/>
              <a:gd name="T2" fmla="*/ 85933179 w 1947"/>
              <a:gd name="T3" fmla="*/ 374097006 h 1508"/>
              <a:gd name="T4" fmla="*/ 77997357 w 1947"/>
              <a:gd name="T5" fmla="*/ 309473229 h 1508"/>
              <a:gd name="T6" fmla="*/ 77997357 w 1947"/>
              <a:gd name="T7" fmla="*/ 130277630 h 1508"/>
              <a:gd name="T8" fmla="*/ 39225335 w 1947"/>
              <a:gd name="T9" fmla="*/ 94489980 h 1508"/>
              <a:gd name="T10" fmla="*/ 54416533 w 1947"/>
              <a:gd name="T11" fmla="*/ 72347609 h 1508"/>
              <a:gd name="T12" fmla="*/ 0 w 1947"/>
              <a:gd name="T13" fmla="*/ 22399636 h 1508"/>
              <a:gd name="T14" fmla="*/ 236032423 w 1947"/>
              <a:gd name="T15" fmla="*/ 0 h 1508"/>
              <a:gd name="T16" fmla="*/ 252584570 w 1947"/>
              <a:gd name="T17" fmla="*/ 15448111 h 1508"/>
              <a:gd name="T18" fmla="*/ 259839947 w 1947"/>
              <a:gd name="T19" fmla="*/ 58444551 h 1508"/>
              <a:gd name="T20" fmla="*/ 307454877 w 1947"/>
              <a:gd name="T21" fmla="*/ 130277630 h 1508"/>
              <a:gd name="T22" fmla="*/ 331715654 w 1947"/>
              <a:gd name="T23" fmla="*/ 130277630 h 1508"/>
              <a:gd name="T24" fmla="*/ 346680197 w 1947"/>
              <a:gd name="T25" fmla="*/ 137744204 h 1508"/>
              <a:gd name="T26" fmla="*/ 338063930 w 1947"/>
              <a:gd name="T27" fmla="*/ 172759068 h 1508"/>
              <a:gd name="T28" fmla="*/ 371167630 w 1947"/>
              <a:gd name="T29" fmla="*/ 215756003 h 1508"/>
              <a:gd name="T30" fmla="*/ 402230472 w 1947"/>
              <a:gd name="T31" fmla="*/ 230431324 h 1508"/>
              <a:gd name="T32" fmla="*/ 394521306 w 1947"/>
              <a:gd name="T33" fmla="*/ 266219544 h 1508"/>
              <a:gd name="T34" fmla="*/ 402230472 w 1947"/>
              <a:gd name="T35" fmla="*/ 287589129 h 1508"/>
              <a:gd name="T36" fmla="*/ 425357492 w 1947"/>
              <a:gd name="T37" fmla="*/ 287589129 h 1508"/>
              <a:gd name="T38" fmla="*/ 433746626 w 1947"/>
              <a:gd name="T39" fmla="*/ 273428322 h 1508"/>
              <a:gd name="T40" fmla="*/ 441455792 w 1947"/>
              <a:gd name="T41" fmla="*/ 309473229 h 1508"/>
              <a:gd name="T42" fmla="*/ 425357492 w 1947"/>
              <a:gd name="T43" fmla="*/ 338824378 h 1508"/>
              <a:gd name="T44" fmla="*/ 394521306 w 1947"/>
              <a:gd name="T45" fmla="*/ 388257813 h 1508"/>
              <a:gd name="T46" fmla="*/ 354388886 w 1947"/>
              <a:gd name="T47" fmla="*/ 381821313 h 1508"/>
              <a:gd name="T48" fmla="*/ 371167630 w 1947"/>
              <a:gd name="T49" fmla="*/ 366888228 h 1508"/>
              <a:gd name="T50" fmla="*/ 354388886 w 1947"/>
              <a:gd name="T51" fmla="*/ 345518643 h 150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7"/>
              <a:gd name="T79" fmla="*/ 0 h 1508"/>
              <a:gd name="T80" fmla="*/ 1947 w 1947"/>
              <a:gd name="T81" fmla="*/ 1508 h 150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7" h="1508">
                <a:moveTo>
                  <a:pt x="1563" y="1342"/>
                </a:moveTo>
                <a:lnTo>
                  <a:pt x="379" y="1453"/>
                </a:lnTo>
                <a:lnTo>
                  <a:pt x="344" y="1202"/>
                </a:lnTo>
                <a:lnTo>
                  <a:pt x="344" y="506"/>
                </a:lnTo>
                <a:lnTo>
                  <a:pt x="173" y="367"/>
                </a:lnTo>
                <a:lnTo>
                  <a:pt x="240" y="281"/>
                </a:lnTo>
                <a:lnTo>
                  <a:pt x="0" y="87"/>
                </a:lnTo>
                <a:lnTo>
                  <a:pt x="1041" y="0"/>
                </a:lnTo>
                <a:lnTo>
                  <a:pt x="1114" y="60"/>
                </a:lnTo>
                <a:lnTo>
                  <a:pt x="1146" y="227"/>
                </a:lnTo>
                <a:lnTo>
                  <a:pt x="1356" y="506"/>
                </a:lnTo>
                <a:lnTo>
                  <a:pt x="1463" y="506"/>
                </a:lnTo>
                <a:lnTo>
                  <a:pt x="1529" y="535"/>
                </a:lnTo>
                <a:lnTo>
                  <a:pt x="1491" y="671"/>
                </a:lnTo>
                <a:lnTo>
                  <a:pt x="1637" y="838"/>
                </a:lnTo>
                <a:lnTo>
                  <a:pt x="1774" y="895"/>
                </a:lnTo>
                <a:lnTo>
                  <a:pt x="1740" y="1034"/>
                </a:lnTo>
                <a:lnTo>
                  <a:pt x="1774" y="1117"/>
                </a:lnTo>
                <a:lnTo>
                  <a:pt x="1876" y="1117"/>
                </a:lnTo>
                <a:lnTo>
                  <a:pt x="1913" y="1062"/>
                </a:lnTo>
                <a:lnTo>
                  <a:pt x="1947" y="1202"/>
                </a:lnTo>
                <a:lnTo>
                  <a:pt x="1876" y="1316"/>
                </a:lnTo>
                <a:lnTo>
                  <a:pt x="1740" y="1508"/>
                </a:lnTo>
                <a:lnTo>
                  <a:pt x="1563" y="1483"/>
                </a:lnTo>
                <a:lnTo>
                  <a:pt x="1637" y="1425"/>
                </a:lnTo>
                <a:lnTo>
                  <a:pt x="1563" y="1342"/>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42" name="Freeform 34"/>
          <p:cNvSpPr>
            <a:spLocks noChangeAspect="1"/>
          </p:cNvSpPr>
          <p:nvPr/>
        </p:nvSpPr>
        <p:spPr bwMode="auto">
          <a:xfrm>
            <a:off x="5076825" y="4313238"/>
            <a:ext cx="649288" cy="750887"/>
          </a:xfrm>
          <a:custGeom>
            <a:avLst/>
            <a:gdLst>
              <a:gd name="T0" fmla="*/ 269469809 w 1361"/>
              <a:gd name="T1" fmla="*/ 36294736 h 1480"/>
              <a:gd name="T2" fmla="*/ 309753797 w 1361"/>
              <a:gd name="T3" fmla="*/ 42730038 h 1480"/>
              <a:gd name="T4" fmla="*/ 294277277 w 1361"/>
              <a:gd name="T5" fmla="*/ 115320001 h 1480"/>
              <a:gd name="T6" fmla="*/ 294277277 w 1361"/>
              <a:gd name="T7" fmla="*/ 151099787 h 1480"/>
              <a:gd name="T8" fmla="*/ 269469809 w 1361"/>
              <a:gd name="T9" fmla="*/ 187137277 h 1480"/>
              <a:gd name="T10" fmla="*/ 246710806 w 1361"/>
              <a:gd name="T11" fmla="*/ 245311721 h 1480"/>
              <a:gd name="T12" fmla="*/ 230551603 w 1361"/>
              <a:gd name="T13" fmla="*/ 288042314 h 1480"/>
              <a:gd name="T14" fmla="*/ 237834503 w 1361"/>
              <a:gd name="T15" fmla="*/ 338237064 h 1480"/>
              <a:gd name="T16" fmla="*/ 230551603 w 1361"/>
              <a:gd name="T17" fmla="*/ 366809320 h 1480"/>
              <a:gd name="T18" fmla="*/ 40056443 w 1361"/>
              <a:gd name="T19" fmla="*/ 380967087 h 1480"/>
              <a:gd name="T20" fmla="*/ 40056443 w 1361"/>
              <a:gd name="T21" fmla="*/ 331029566 h 1480"/>
              <a:gd name="T22" fmla="*/ 16159210 w 1361"/>
              <a:gd name="T23" fmla="*/ 331029566 h 1480"/>
              <a:gd name="T24" fmla="*/ 7965586 w 1361"/>
              <a:gd name="T25" fmla="*/ 317643995 h 1480"/>
              <a:gd name="T26" fmla="*/ 16159210 w 1361"/>
              <a:gd name="T27" fmla="*/ 223174768 h 1480"/>
              <a:gd name="T28" fmla="*/ 7965586 w 1361"/>
              <a:gd name="T29" fmla="*/ 107854767 h 1480"/>
              <a:gd name="T30" fmla="*/ 0 w 1361"/>
              <a:gd name="T31" fmla="*/ 28572771 h 1480"/>
              <a:gd name="T32" fmla="*/ 269469809 w 1361"/>
              <a:gd name="T33" fmla="*/ 0 h 1480"/>
              <a:gd name="T34" fmla="*/ 286311694 w 1361"/>
              <a:gd name="T35" fmla="*/ 21365273 h 1480"/>
              <a:gd name="T36" fmla="*/ 269469809 w 1361"/>
              <a:gd name="T37" fmla="*/ 36294736 h 148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1"/>
              <a:gd name="T58" fmla="*/ 0 h 1480"/>
              <a:gd name="T59" fmla="*/ 1361 w 1361"/>
              <a:gd name="T60" fmla="*/ 1480 h 148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1" h="1480">
                <a:moveTo>
                  <a:pt x="1184" y="141"/>
                </a:moveTo>
                <a:lnTo>
                  <a:pt x="1361" y="166"/>
                </a:lnTo>
                <a:lnTo>
                  <a:pt x="1293" y="448"/>
                </a:lnTo>
                <a:lnTo>
                  <a:pt x="1293" y="587"/>
                </a:lnTo>
                <a:lnTo>
                  <a:pt x="1184" y="727"/>
                </a:lnTo>
                <a:lnTo>
                  <a:pt x="1084" y="953"/>
                </a:lnTo>
                <a:lnTo>
                  <a:pt x="1013" y="1119"/>
                </a:lnTo>
                <a:lnTo>
                  <a:pt x="1045" y="1314"/>
                </a:lnTo>
                <a:lnTo>
                  <a:pt x="1013" y="1425"/>
                </a:lnTo>
                <a:lnTo>
                  <a:pt x="176" y="1480"/>
                </a:lnTo>
                <a:lnTo>
                  <a:pt x="176" y="1286"/>
                </a:lnTo>
                <a:lnTo>
                  <a:pt x="71" y="1286"/>
                </a:lnTo>
                <a:lnTo>
                  <a:pt x="35" y="1234"/>
                </a:lnTo>
                <a:lnTo>
                  <a:pt x="71" y="867"/>
                </a:lnTo>
                <a:lnTo>
                  <a:pt x="35" y="419"/>
                </a:lnTo>
                <a:lnTo>
                  <a:pt x="0" y="111"/>
                </a:lnTo>
                <a:lnTo>
                  <a:pt x="1184" y="0"/>
                </a:lnTo>
                <a:lnTo>
                  <a:pt x="1258" y="83"/>
                </a:lnTo>
                <a:lnTo>
                  <a:pt x="1184" y="141"/>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43" name="Freeform 35"/>
          <p:cNvSpPr>
            <a:spLocks noChangeAspect="1"/>
          </p:cNvSpPr>
          <p:nvPr/>
        </p:nvSpPr>
        <p:spPr bwMode="auto">
          <a:xfrm>
            <a:off x="5427663" y="3167063"/>
            <a:ext cx="595312" cy="1031875"/>
          </a:xfrm>
          <a:custGeom>
            <a:avLst/>
            <a:gdLst>
              <a:gd name="T0" fmla="*/ 0 w 1254"/>
              <a:gd name="T1" fmla="*/ 251467332 h 2036"/>
              <a:gd name="T2" fmla="*/ 7211630 w 1254"/>
              <a:gd name="T3" fmla="*/ 215249846 h 2036"/>
              <a:gd name="T4" fmla="*/ 31101012 w 1254"/>
              <a:gd name="T5" fmla="*/ 179546270 h 2036"/>
              <a:gd name="T6" fmla="*/ 23212894 w 1254"/>
              <a:gd name="T7" fmla="*/ 157456244 h 2036"/>
              <a:gd name="T8" fmla="*/ 46200765 w 1254"/>
              <a:gd name="T9" fmla="*/ 136393532 h 2036"/>
              <a:gd name="T10" fmla="*/ 69864186 w 1254"/>
              <a:gd name="T11" fmla="*/ 72178049 h 2036"/>
              <a:gd name="T12" fmla="*/ 54539403 w 1254"/>
              <a:gd name="T13" fmla="*/ 57537170 h 2036"/>
              <a:gd name="T14" fmla="*/ 46200765 w 1254"/>
              <a:gd name="T15" fmla="*/ 29539197 h 2036"/>
              <a:gd name="T16" fmla="*/ 218833152 w 1254"/>
              <a:gd name="T17" fmla="*/ 0 h 2036"/>
              <a:gd name="T18" fmla="*/ 218833152 w 1254"/>
              <a:gd name="T19" fmla="*/ 78856346 h 2036"/>
              <a:gd name="T20" fmla="*/ 243173048 w 1254"/>
              <a:gd name="T21" fmla="*/ 86048554 h 2036"/>
              <a:gd name="T22" fmla="*/ 266385994 w 1254"/>
              <a:gd name="T23" fmla="*/ 323645413 h 2036"/>
              <a:gd name="T24" fmla="*/ 282612750 w 1254"/>
              <a:gd name="T25" fmla="*/ 366027286 h 2036"/>
              <a:gd name="T26" fmla="*/ 243173048 w 1254"/>
              <a:gd name="T27" fmla="*/ 436664080 h 2036"/>
              <a:gd name="T28" fmla="*/ 243173048 w 1254"/>
              <a:gd name="T29" fmla="*/ 472881566 h 2036"/>
              <a:gd name="T30" fmla="*/ 211170531 w 1254"/>
              <a:gd name="T31" fmla="*/ 493430368 h 2036"/>
              <a:gd name="T32" fmla="*/ 218833152 w 1254"/>
              <a:gd name="T33" fmla="*/ 501649889 h 2036"/>
              <a:gd name="T34" fmla="*/ 180070001 w 1254"/>
              <a:gd name="T35" fmla="*/ 508842097 h 2036"/>
              <a:gd name="T36" fmla="*/ 171731364 w 1254"/>
              <a:gd name="T37" fmla="*/ 522969557 h 2036"/>
              <a:gd name="T38" fmla="*/ 148743499 w 1254"/>
              <a:gd name="T39" fmla="*/ 522969557 h 2036"/>
              <a:gd name="T40" fmla="*/ 141080878 w 1254"/>
              <a:gd name="T41" fmla="*/ 501649889 h 2036"/>
              <a:gd name="T42" fmla="*/ 148743499 w 1254"/>
              <a:gd name="T43" fmla="*/ 465946313 h 2036"/>
              <a:gd name="T44" fmla="*/ 117867962 w 1254"/>
              <a:gd name="T45" fmla="*/ 451305450 h 2036"/>
              <a:gd name="T46" fmla="*/ 84963932 w 1254"/>
              <a:gd name="T47" fmla="*/ 408409667 h 2036"/>
              <a:gd name="T48" fmla="*/ 93528066 w 1254"/>
              <a:gd name="T49" fmla="*/ 373476449 h 2036"/>
              <a:gd name="T50" fmla="*/ 78653817 w 1254"/>
              <a:gd name="T51" fmla="*/ 366027286 h 2036"/>
              <a:gd name="T52" fmla="*/ 54539403 w 1254"/>
              <a:gd name="T53" fmla="*/ 366027286 h 2036"/>
              <a:gd name="T54" fmla="*/ 7211630 w 1254"/>
              <a:gd name="T55" fmla="*/ 294363179 h 2036"/>
              <a:gd name="T56" fmla="*/ 0 w 1254"/>
              <a:gd name="T57" fmla="*/ 251467332 h 20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54"/>
              <a:gd name="T88" fmla="*/ 0 h 2036"/>
              <a:gd name="T89" fmla="*/ 1254 w 1254"/>
              <a:gd name="T90" fmla="*/ 2036 h 20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54" h="2036">
                <a:moveTo>
                  <a:pt x="0" y="979"/>
                </a:moveTo>
                <a:lnTo>
                  <a:pt x="32" y="838"/>
                </a:lnTo>
                <a:lnTo>
                  <a:pt x="138" y="699"/>
                </a:lnTo>
                <a:lnTo>
                  <a:pt x="103" y="613"/>
                </a:lnTo>
                <a:lnTo>
                  <a:pt x="205" y="531"/>
                </a:lnTo>
                <a:lnTo>
                  <a:pt x="310" y="281"/>
                </a:lnTo>
                <a:lnTo>
                  <a:pt x="242" y="224"/>
                </a:lnTo>
                <a:lnTo>
                  <a:pt x="205" y="115"/>
                </a:lnTo>
                <a:lnTo>
                  <a:pt x="971" y="0"/>
                </a:lnTo>
                <a:lnTo>
                  <a:pt x="971" y="307"/>
                </a:lnTo>
                <a:lnTo>
                  <a:pt x="1079" y="335"/>
                </a:lnTo>
                <a:lnTo>
                  <a:pt x="1182" y="1260"/>
                </a:lnTo>
                <a:lnTo>
                  <a:pt x="1254" y="1425"/>
                </a:lnTo>
                <a:lnTo>
                  <a:pt x="1079" y="1700"/>
                </a:lnTo>
                <a:lnTo>
                  <a:pt x="1079" y="1841"/>
                </a:lnTo>
                <a:lnTo>
                  <a:pt x="937" y="1921"/>
                </a:lnTo>
                <a:lnTo>
                  <a:pt x="971" y="1953"/>
                </a:lnTo>
                <a:lnTo>
                  <a:pt x="799" y="1981"/>
                </a:lnTo>
                <a:lnTo>
                  <a:pt x="762" y="2036"/>
                </a:lnTo>
                <a:lnTo>
                  <a:pt x="660" y="2036"/>
                </a:lnTo>
                <a:lnTo>
                  <a:pt x="626" y="1953"/>
                </a:lnTo>
                <a:lnTo>
                  <a:pt x="660" y="1814"/>
                </a:lnTo>
                <a:lnTo>
                  <a:pt x="523" y="1757"/>
                </a:lnTo>
                <a:lnTo>
                  <a:pt x="377" y="1590"/>
                </a:lnTo>
                <a:lnTo>
                  <a:pt x="415" y="1454"/>
                </a:lnTo>
                <a:lnTo>
                  <a:pt x="349" y="1425"/>
                </a:lnTo>
                <a:lnTo>
                  <a:pt x="242" y="1425"/>
                </a:lnTo>
                <a:lnTo>
                  <a:pt x="32" y="1146"/>
                </a:lnTo>
                <a:lnTo>
                  <a:pt x="0" y="979"/>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44" name="Freeform 36"/>
          <p:cNvSpPr>
            <a:spLocks noChangeAspect="1"/>
          </p:cNvSpPr>
          <p:nvPr/>
        </p:nvSpPr>
        <p:spPr bwMode="auto">
          <a:xfrm>
            <a:off x="5942013" y="3267075"/>
            <a:ext cx="479425" cy="762000"/>
          </a:xfrm>
          <a:custGeom>
            <a:avLst/>
            <a:gdLst>
              <a:gd name="T0" fmla="*/ 55079126 w 1007"/>
              <a:gd name="T1" fmla="*/ 22046357 h 1505"/>
              <a:gd name="T2" fmla="*/ 197197465 w 1007"/>
              <a:gd name="T3" fmla="*/ 0 h 1505"/>
              <a:gd name="T4" fmla="*/ 228250581 w 1007"/>
              <a:gd name="T5" fmla="*/ 257633952 h 1505"/>
              <a:gd name="T6" fmla="*/ 228250581 w 1007"/>
              <a:gd name="T7" fmla="*/ 279680364 h 1505"/>
              <a:gd name="T8" fmla="*/ 188811100 w 1007"/>
              <a:gd name="T9" fmla="*/ 293779638 h 1505"/>
              <a:gd name="T10" fmla="*/ 165691585 w 1007"/>
              <a:gd name="T11" fmla="*/ 343768341 h 1505"/>
              <a:gd name="T12" fmla="*/ 134185229 w 1007"/>
              <a:gd name="T13" fmla="*/ 343768341 h 1505"/>
              <a:gd name="T14" fmla="*/ 118318473 w 1007"/>
              <a:gd name="T15" fmla="*/ 372735976 h 1505"/>
              <a:gd name="T16" fmla="*/ 78652372 w 1007"/>
              <a:gd name="T17" fmla="*/ 379144875 h 1505"/>
              <a:gd name="T18" fmla="*/ 55079126 w 1007"/>
              <a:gd name="T19" fmla="*/ 372735976 h 1505"/>
              <a:gd name="T20" fmla="*/ 0 w 1007"/>
              <a:gd name="T21" fmla="*/ 385809968 h 1505"/>
              <a:gd name="T22" fmla="*/ 39666116 w 1007"/>
              <a:gd name="T23" fmla="*/ 315313093 h 1505"/>
              <a:gd name="T24" fmla="*/ 23346619 w 1007"/>
              <a:gd name="T25" fmla="*/ 273015271 h 1505"/>
              <a:gd name="T26" fmla="*/ 0 w 1007"/>
              <a:gd name="T27" fmla="*/ 35889445 h 1505"/>
              <a:gd name="T28" fmla="*/ 39666116 w 1007"/>
              <a:gd name="T29" fmla="*/ 42810732 h 1505"/>
              <a:gd name="T30" fmla="*/ 55079126 w 1007"/>
              <a:gd name="T31" fmla="*/ 22046357 h 150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07"/>
              <a:gd name="T49" fmla="*/ 0 h 1505"/>
              <a:gd name="T50" fmla="*/ 1007 w 1007"/>
              <a:gd name="T51" fmla="*/ 1505 h 150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07" h="1505">
                <a:moveTo>
                  <a:pt x="243" y="86"/>
                </a:moveTo>
                <a:lnTo>
                  <a:pt x="870" y="0"/>
                </a:lnTo>
                <a:lnTo>
                  <a:pt x="1007" y="1005"/>
                </a:lnTo>
                <a:lnTo>
                  <a:pt x="1007" y="1091"/>
                </a:lnTo>
                <a:lnTo>
                  <a:pt x="833" y="1146"/>
                </a:lnTo>
                <a:lnTo>
                  <a:pt x="731" y="1341"/>
                </a:lnTo>
                <a:lnTo>
                  <a:pt x="592" y="1341"/>
                </a:lnTo>
                <a:lnTo>
                  <a:pt x="522" y="1454"/>
                </a:lnTo>
                <a:lnTo>
                  <a:pt x="347" y="1479"/>
                </a:lnTo>
                <a:lnTo>
                  <a:pt x="243" y="1454"/>
                </a:lnTo>
                <a:lnTo>
                  <a:pt x="0" y="1505"/>
                </a:lnTo>
                <a:lnTo>
                  <a:pt x="175" y="1230"/>
                </a:lnTo>
                <a:lnTo>
                  <a:pt x="103" y="1065"/>
                </a:lnTo>
                <a:lnTo>
                  <a:pt x="0" y="140"/>
                </a:lnTo>
                <a:lnTo>
                  <a:pt x="175" y="167"/>
                </a:lnTo>
                <a:lnTo>
                  <a:pt x="243" y="86"/>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45" name="Freeform 37"/>
          <p:cNvSpPr>
            <a:spLocks noChangeAspect="1"/>
          </p:cNvSpPr>
          <p:nvPr/>
        </p:nvSpPr>
        <p:spPr bwMode="auto">
          <a:xfrm>
            <a:off x="5789613" y="3749675"/>
            <a:ext cx="1047750" cy="550863"/>
          </a:xfrm>
          <a:custGeom>
            <a:avLst/>
            <a:gdLst>
              <a:gd name="T0" fmla="*/ 16118388 w 2199"/>
              <a:gd name="T1" fmla="*/ 249480189 h 1089"/>
              <a:gd name="T2" fmla="*/ 8399629 w 2199"/>
              <a:gd name="T3" fmla="*/ 213657417 h 1089"/>
              <a:gd name="T4" fmla="*/ 47447012 w 2199"/>
              <a:gd name="T5" fmla="*/ 206492661 h 1089"/>
              <a:gd name="T6" fmla="*/ 39728733 w 2199"/>
              <a:gd name="T7" fmla="*/ 198304584 h 1089"/>
              <a:gd name="T8" fmla="*/ 71965509 w 2199"/>
              <a:gd name="T9" fmla="*/ 177834646 h 1089"/>
              <a:gd name="T10" fmla="*/ 71965509 w 2199"/>
              <a:gd name="T11" fmla="*/ 141755918 h 1089"/>
              <a:gd name="T12" fmla="*/ 127131291 w 2199"/>
              <a:gd name="T13" fmla="*/ 128706155 h 1089"/>
              <a:gd name="T14" fmla="*/ 150741629 w 2199"/>
              <a:gd name="T15" fmla="*/ 135103074 h 1089"/>
              <a:gd name="T16" fmla="*/ 190469871 w 2199"/>
              <a:gd name="T17" fmla="*/ 128706155 h 1089"/>
              <a:gd name="T18" fmla="*/ 206361454 w 2199"/>
              <a:gd name="T19" fmla="*/ 99792183 h 1089"/>
              <a:gd name="T20" fmla="*/ 237917344 w 2199"/>
              <a:gd name="T21" fmla="*/ 99792183 h 1089"/>
              <a:gd name="T22" fmla="*/ 261073669 w 2199"/>
              <a:gd name="T23" fmla="*/ 49895839 h 1089"/>
              <a:gd name="T24" fmla="*/ 300575113 w 2199"/>
              <a:gd name="T25" fmla="*/ 35822788 h 1089"/>
              <a:gd name="T26" fmla="*/ 300575113 w 2199"/>
              <a:gd name="T27" fmla="*/ 13817604 h 1089"/>
              <a:gd name="T28" fmla="*/ 324866321 w 2199"/>
              <a:gd name="T29" fmla="*/ 0 h 1089"/>
              <a:gd name="T30" fmla="*/ 380258871 w 2199"/>
              <a:gd name="T31" fmla="*/ 29169936 h 1089"/>
              <a:gd name="T32" fmla="*/ 427252272 w 2199"/>
              <a:gd name="T33" fmla="*/ 21749729 h 1089"/>
              <a:gd name="T34" fmla="*/ 443597928 w 2199"/>
              <a:gd name="T35" fmla="*/ 35822788 h 1089"/>
              <a:gd name="T36" fmla="*/ 451543481 w 2199"/>
              <a:gd name="T37" fmla="*/ 71389619 h 1089"/>
              <a:gd name="T38" fmla="*/ 466753716 w 2199"/>
              <a:gd name="T39" fmla="*/ 106700478 h 1089"/>
              <a:gd name="T40" fmla="*/ 499217752 w 2199"/>
              <a:gd name="T41" fmla="*/ 113609278 h 1089"/>
              <a:gd name="T42" fmla="*/ 403869209 w 2199"/>
              <a:gd name="T43" fmla="*/ 213657417 h 1089"/>
              <a:gd name="T44" fmla="*/ 0 w 2199"/>
              <a:gd name="T45" fmla="*/ 278650180 h 1089"/>
              <a:gd name="T46" fmla="*/ 16118388 w 2199"/>
              <a:gd name="T47" fmla="*/ 249480189 h 108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199"/>
              <a:gd name="T73" fmla="*/ 0 h 1089"/>
              <a:gd name="T74" fmla="*/ 2199 w 2199"/>
              <a:gd name="T75" fmla="*/ 1089 h 108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199" h="1089">
                <a:moveTo>
                  <a:pt x="71" y="975"/>
                </a:moveTo>
                <a:lnTo>
                  <a:pt x="37" y="835"/>
                </a:lnTo>
                <a:lnTo>
                  <a:pt x="209" y="807"/>
                </a:lnTo>
                <a:lnTo>
                  <a:pt x="175" y="775"/>
                </a:lnTo>
                <a:lnTo>
                  <a:pt x="317" y="695"/>
                </a:lnTo>
                <a:lnTo>
                  <a:pt x="317" y="554"/>
                </a:lnTo>
                <a:lnTo>
                  <a:pt x="560" y="503"/>
                </a:lnTo>
                <a:lnTo>
                  <a:pt x="664" y="528"/>
                </a:lnTo>
                <a:lnTo>
                  <a:pt x="839" y="503"/>
                </a:lnTo>
                <a:lnTo>
                  <a:pt x="909" y="390"/>
                </a:lnTo>
                <a:lnTo>
                  <a:pt x="1048" y="390"/>
                </a:lnTo>
                <a:lnTo>
                  <a:pt x="1150" y="195"/>
                </a:lnTo>
                <a:lnTo>
                  <a:pt x="1324" y="140"/>
                </a:lnTo>
                <a:lnTo>
                  <a:pt x="1324" y="54"/>
                </a:lnTo>
                <a:lnTo>
                  <a:pt x="1431" y="0"/>
                </a:lnTo>
                <a:lnTo>
                  <a:pt x="1675" y="114"/>
                </a:lnTo>
                <a:lnTo>
                  <a:pt x="1882" y="85"/>
                </a:lnTo>
                <a:lnTo>
                  <a:pt x="1954" y="140"/>
                </a:lnTo>
                <a:lnTo>
                  <a:pt x="1989" y="279"/>
                </a:lnTo>
                <a:lnTo>
                  <a:pt x="2056" y="417"/>
                </a:lnTo>
                <a:lnTo>
                  <a:pt x="2199" y="444"/>
                </a:lnTo>
                <a:lnTo>
                  <a:pt x="1779" y="835"/>
                </a:lnTo>
                <a:lnTo>
                  <a:pt x="0" y="1089"/>
                </a:lnTo>
                <a:lnTo>
                  <a:pt x="71" y="975"/>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46" name="Freeform 38"/>
          <p:cNvSpPr>
            <a:spLocks noChangeAspect="1"/>
          </p:cNvSpPr>
          <p:nvPr/>
        </p:nvSpPr>
        <p:spPr bwMode="auto">
          <a:xfrm>
            <a:off x="5692775" y="4114800"/>
            <a:ext cx="1209675" cy="496888"/>
          </a:xfrm>
          <a:custGeom>
            <a:avLst/>
            <a:gdLst>
              <a:gd name="T0" fmla="*/ 15423354 w 2540"/>
              <a:gd name="T1" fmla="*/ 143742773 h 979"/>
              <a:gd name="T2" fmla="*/ 46270066 w 2540"/>
              <a:gd name="T3" fmla="*/ 94282857 h 979"/>
              <a:gd name="T4" fmla="*/ 449772351 w 2540"/>
              <a:gd name="T5" fmla="*/ 28851480 h 979"/>
              <a:gd name="T6" fmla="*/ 576107735 w 2540"/>
              <a:gd name="T7" fmla="*/ 0 h 979"/>
              <a:gd name="T8" fmla="*/ 552292387 w 2540"/>
              <a:gd name="T9" fmla="*/ 57960794 h 979"/>
              <a:gd name="T10" fmla="*/ 528930429 w 2540"/>
              <a:gd name="T11" fmla="*/ 57960794 h 979"/>
              <a:gd name="T12" fmla="*/ 441607048 w 2540"/>
              <a:gd name="T13" fmla="*/ 137302517 h 979"/>
              <a:gd name="T14" fmla="*/ 426183698 w 2540"/>
              <a:gd name="T15" fmla="*/ 173109404 h 979"/>
              <a:gd name="T16" fmla="*/ 346571873 w 2540"/>
              <a:gd name="T17" fmla="*/ 187020235 h 979"/>
              <a:gd name="T18" fmla="*/ 141531980 w 2540"/>
              <a:gd name="T19" fmla="*/ 223599608 h 979"/>
              <a:gd name="T20" fmla="*/ 0 w 2540"/>
              <a:gd name="T21" fmla="*/ 252193754 h 979"/>
              <a:gd name="T22" fmla="*/ 0 w 2540"/>
              <a:gd name="T23" fmla="*/ 216386867 h 979"/>
              <a:gd name="T24" fmla="*/ 15423354 w 2540"/>
              <a:gd name="T25" fmla="*/ 143742773 h 9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40"/>
              <a:gd name="T40" fmla="*/ 0 h 979"/>
              <a:gd name="T41" fmla="*/ 2540 w 2540"/>
              <a:gd name="T42" fmla="*/ 979 h 9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40" h="979">
                <a:moveTo>
                  <a:pt x="68" y="558"/>
                </a:moveTo>
                <a:lnTo>
                  <a:pt x="204" y="366"/>
                </a:lnTo>
                <a:lnTo>
                  <a:pt x="1983" y="112"/>
                </a:lnTo>
                <a:lnTo>
                  <a:pt x="2540" y="0"/>
                </a:lnTo>
                <a:lnTo>
                  <a:pt x="2435" y="225"/>
                </a:lnTo>
                <a:lnTo>
                  <a:pt x="2332" y="225"/>
                </a:lnTo>
                <a:lnTo>
                  <a:pt x="1947" y="533"/>
                </a:lnTo>
                <a:lnTo>
                  <a:pt x="1879" y="672"/>
                </a:lnTo>
                <a:lnTo>
                  <a:pt x="1528" y="726"/>
                </a:lnTo>
                <a:lnTo>
                  <a:pt x="624" y="868"/>
                </a:lnTo>
                <a:lnTo>
                  <a:pt x="0" y="979"/>
                </a:lnTo>
                <a:lnTo>
                  <a:pt x="0" y="840"/>
                </a:lnTo>
                <a:lnTo>
                  <a:pt x="68" y="558"/>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47" name="Freeform 39"/>
          <p:cNvSpPr>
            <a:spLocks noChangeAspect="1"/>
          </p:cNvSpPr>
          <p:nvPr/>
        </p:nvSpPr>
        <p:spPr bwMode="auto">
          <a:xfrm>
            <a:off x="6356350" y="3109913"/>
            <a:ext cx="565150" cy="709612"/>
          </a:xfrm>
          <a:custGeom>
            <a:avLst/>
            <a:gdLst>
              <a:gd name="T0" fmla="*/ 78886748 w 1187"/>
              <a:gd name="T1" fmla="*/ 58312120 h 1397"/>
              <a:gd name="T2" fmla="*/ 118103952 w 1187"/>
              <a:gd name="T3" fmla="*/ 71728725 h 1397"/>
              <a:gd name="T4" fmla="*/ 126037980 w 1187"/>
              <a:gd name="T5" fmla="*/ 86436026 h 1397"/>
              <a:gd name="T6" fmla="*/ 204924698 w 1187"/>
              <a:gd name="T7" fmla="*/ 43088739 h 1397"/>
              <a:gd name="T8" fmla="*/ 213311959 w 1187"/>
              <a:gd name="T9" fmla="*/ 13933182 h 1397"/>
              <a:gd name="T10" fmla="*/ 252302115 w 1187"/>
              <a:gd name="T11" fmla="*/ 0 h 1397"/>
              <a:gd name="T12" fmla="*/ 267716849 w 1187"/>
              <a:gd name="T13" fmla="*/ 121009916 h 1397"/>
              <a:gd name="T14" fmla="*/ 269077112 w 1187"/>
              <a:gd name="T15" fmla="*/ 238150237 h 1397"/>
              <a:gd name="T16" fmla="*/ 236660691 w 1187"/>
              <a:gd name="T17" fmla="*/ 274272434 h 1397"/>
              <a:gd name="T18" fmla="*/ 196990700 w 1187"/>
              <a:gd name="T19" fmla="*/ 338260925 h 1397"/>
              <a:gd name="T20" fmla="*/ 173868600 w 1187"/>
              <a:gd name="T21" fmla="*/ 360450388 h 1397"/>
              <a:gd name="T22" fmla="*/ 157547341 w 1187"/>
              <a:gd name="T23" fmla="*/ 346259677 h 1397"/>
              <a:gd name="T24" fmla="*/ 110623217 w 1187"/>
              <a:gd name="T25" fmla="*/ 353741839 h 1397"/>
              <a:gd name="T26" fmla="*/ 55311370 w 1187"/>
              <a:gd name="T27" fmla="*/ 324327746 h 1397"/>
              <a:gd name="T28" fmla="*/ 31056106 w 1187"/>
              <a:gd name="T29" fmla="*/ 338260925 h 1397"/>
              <a:gd name="T30" fmla="*/ 0 w 1187"/>
              <a:gd name="T31" fmla="*/ 78953355 h 1397"/>
              <a:gd name="T32" fmla="*/ 78886748 w 1187"/>
              <a:gd name="T33" fmla="*/ 58312120 h 139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87"/>
              <a:gd name="T52" fmla="*/ 0 h 1397"/>
              <a:gd name="T53" fmla="*/ 1187 w 1187"/>
              <a:gd name="T54" fmla="*/ 1397 h 139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87" h="1397">
                <a:moveTo>
                  <a:pt x="348" y="226"/>
                </a:moveTo>
                <a:lnTo>
                  <a:pt x="521" y="278"/>
                </a:lnTo>
                <a:lnTo>
                  <a:pt x="556" y="335"/>
                </a:lnTo>
                <a:lnTo>
                  <a:pt x="904" y="167"/>
                </a:lnTo>
                <a:lnTo>
                  <a:pt x="941" y="54"/>
                </a:lnTo>
                <a:lnTo>
                  <a:pt x="1113" y="0"/>
                </a:lnTo>
                <a:lnTo>
                  <a:pt x="1181" y="469"/>
                </a:lnTo>
                <a:lnTo>
                  <a:pt x="1187" y="923"/>
                </a:lnTo>
                <a:lnTo>
                  <a:pt x="1044" y="1063"/>
                </a:lnTo>
                <a:lnTo>
                  <a:pt x="869" y="1311"/>
                </a:lnTo>
                <a:lnTo>
                  <a:pt x="767" y="1397"/>
                </a:lnTo>
                <a:lnTo>
                  <a:pt x="695" y="1342"/>
                </a:lnTo>
                <a:lnTo>
                  <a:pt x="488" y="1371"/>
                </a:lnTo>
                <a:lnTo>
                  <a:pt x="244" y="1257"/>
                </a:lnTo>
                <a:lnTo>
                  <a:pt x="137" y="1311"/>
                </a:lnTo>
                <a:lnTo>
                  <a:pt x="0" y="306"/>
                </a:lnTo>
                <a:lnTo>
                  <a:pt x="348" y="226"/>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48" name="Freeform 40"/>
          <p:cNvSpPr>
            <a:spLocks noChangeAspect="1"/>
          </p:cNvSpPr>
          <p:nvPr/>
        </p:nvSpPr>
        <p:spPr bwMode="auto">
          <a:xfrm>
            <a:off x="6719888" y="3348038"/>
            <a:ext cx="649287" cy="681037"/>
          </a:xfrm>
          <a:custGeom>
            <a:avLst/>
            <a:gdLst>
              <a:gd name="T0" fmla="*/ 55924197 w 1359"/>
              <a:gd name="T1" fmla="*/ 317283072 h 1342"/>
              <a:gd name="T2" fmla="*/ 23282600 w 1359"/>
              <a:gd name="T3" fmla="*/ 310329595 h 1342"/>
              <a:gd name="T4" fmla="*/ 16434750 w 1359"/>
              <a:gd name="T5" fmla="*/ 289211874 h 1342"/>
              <a:gd name="T6" fmla="*/ 7989241 w 1359"/>
              <a:gd name="T7" fmla="*/ 274789829 h 1342"/>
              <a:gd name="T8" fmla="*/ 0 w 1359"/>
              <a:gd name="T9" fmla="*/ 238992708 h 1342"/>
              <a:gd name="T10" fmla="*/ 23282600 w 1359"/>
              <a:gd name="T11" fmla="*/ 216844297 h 1342"/>
              <a:gd name="T12" fmla="*/ 63228808 w 1359"/>
              <a:gd name="T13" fmla="*/ 152976041 h 1342"/>
              <a:gd name="T14" fmla="*/ 95870398 w 1359"/>
              <a:gd name="T15" fmla="*/ 116921152 h 1342"/>
              <a:gd name="T16" fmla="*/ 94500637 w 1359"/>
              <a:gd name="T17" fmla="*/ 0 h 1342"/>
              <a:gd name="T18" fmla="*/ 119152990 w 1359"/>
              <a:gd name="T19" fmla="*/ 101726217 h 1342"/>
              <a:gd name="T20" fmla="*/ 182838067 w 1359"/>
              <a:gd name="T21" fmla="*/ 94515449 h 1342"/>
              <a:gd name="T22" fmla="*/ 189914289 w 1359"/>
              <a:gd name="T23" fmla="*/ 144477291 h 1342"/>
              <a:gd name="T24" fmla="*/ 238077607 w 1359"/>
              <a:gd name="T25" fmla="*/ 94515449 h 1342"/>
              <a:gd name="T26" fmla="*/ 310208697 w 1359"/>
              <a:gd name="T27" fmla="*/ 80865788 h 1342"/>
              <a:gd name="T28" fmla="*/ 301991087 w 1359"/>
              <a:gd name="T29" fmla="*/ 116921152 h 1342"/>
              <a:gd name="T30" fmla="*/ 270719257 w 1359"/>
              <a:gd name="T31" fmla="*/ 101726217 h 1342"/>
              <a:gd name="T32" fmla="*/ 229860475 w 1359"/>
              <a:gd name="T33" fmla="*/ 159929517 h 1342"/>
              <a:gd name="T34" fmla="*/ 222555879 w 1359"/>
              <a:gd name="T35" fmla="*/ 166882487 h 1342"/>
              <a:gd name="T36" fmla="*/ 189914289 w 1359"/>
              <a:gd name="T37" fmla="*/ 216844297 h 1342"/>
              <a:gd name="T38" fmla="*/ 166631697 w 1359"/>
              <a:gd name="T39" fmla="*/ 274789829 h 1342"/>
              <a:gd name="T40" fmla="*/ 175077203 w 1359"/>
              <a:gd name="T41" fmla="*/ 296937733 h 1342"/>
              <a:gd name="T42" fmla="*/ 87196042 w 1359"/>
              <a:gd name="T43" fmla="*/ 345612069 h 1342"/>
              <a:gd name="T44" fmla="*/ 55924197 w 1359"/>
              <a:gd name="T45" fmla="*/ 317283072 h 134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59"/>
              <a:gd name="T70" fmla="*/ 0 h 1342"/>
              <a:gd name="T71" fmla="*/ 1359 w 1359"/>
              <a:gd name="T72" fmla="*/ 1342 h 134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59" h="1342">
                <a:moveTo>
                  <a:pt x="245" y="1232"/>
                </a:moveTo>
                <a:lnTo>
                  <a:pt x="102" y="1205"/>
                </a:lnTo>
                <a:lnTo>
                  <a:pt x="72" y="1123"/>
                </a:lnTo>
                <a:lnTo>
                  <a:pt x="35" y="1067"/>
                </a:lnTo>
                <a:lnTo>
                  <a:pt x="0" y="928"/>
                </a:lnTo>
                <a:lnTo>
                  <a:pt x="102" y="842"/>
                </a:lnTo>
                <a:lnTo>
                  <a:pt x="277" y="594"/>
                </a:lnTo>
                <a:lnTo>
                  <a:pt x="420" y="454"/>
                </a:lnTo>
                <a:lnTo>
                  <a:pt x="414" y="0"/>
                </a:lnTo>
                <a:lnTo>
                  <a:pt x="522" y="395"/>
                </a:lnTo>
                <a:lnTo>
                  <a:pt x="801" y="367"/>
                </a:lnTo>
                <a:lnTo>
                  <a:pt x="832" y="561"/>
                </a:lnTo>
                <a:lnTo>
                  <a:pt x="1043" y="367"/>
                </a:lnTo>
                <a:lnTo>
                  <a:pt x="1359" y="314"/>
                </a:lnTo>
                <a:lnTo>
                  <a:pt x="1323" y="454"/>
                </a:lnTo>
                <a:lnTo>
                  <a:pt x="1186" y="395"/>
                </a:lnTo>
                <a:lnTo>
                  <a:pt x="1007" y="621"/>
                </a:lnTo>
                <a:lnTo>
                  <a:pt x="975" y="648"/>
                </a:lnTo>
                <a:lnTo>
                  <a:pt x="832" y="842"/>
                </a:lnTo>
                <a:lnTo>
                  <a:pt x="730" y="1067"/>
                </a:lnTo>
                <a:lnTo>
                  <a:pt x="767" y="1153"/>
                </a:lnTo>
                <a:lnTo>
                  <a:pt x="382" y="1342"/>
                </a:lnTo>
                <a:lnTo>
                  <a:pt x="245" y="1232"/>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49" name="Freeform 41"/>
          <p:cNvSpPr>
            <a:spLocks noChangeAspect="1"/>
          </p:cNvSpPr>
          <p:nvPr/>
        </p:nvSpPr>
        <p:spPr bwMode="auto">
          <a:xfrm>
            <a:off x="7748588" y="2301875"/>
            <a:ext cx="184150" cy="439738"/>
          </a:xfrm>
          <a:custGeom>
            <a:avLst/>
            <a:gdLst>
              <a:gd name="T0" fmla="*/ 0 w 382"/>
              <a:gd name="T1" fmla="*/ 28104641 h 866"/>
              <a:gd name="T2" fmla="*/ 80174190 w 382"/>
              <a:gd name="T3" fmla="*/ 0 h 866"/>
              <a:gd name="T4" fmla="*/ 88772836 w 382"/>
              <a:gd name="T5" fmla="*/ 28104641 h 866"/>
              <a:gd name="T6" fmla="*/ 80174190 w 382"/>
              <a:gd name="T7" fmla="*/ 72453194 h 866"/>
              <a:gd name="T8" fmla="*/ 80174190 w 382"/>
              <a:gd name="T9" fmla="*/ 187450774 h 866"/>
              <a:gd name="T10" fmla="*/ 88772836 w 382"/>
              <a:gd name="T11" fmla="*/ 216844153 h 866"/>
              <a:gd name="T12" fmla="*/ 48336964 w 382"/>
              <a:gd name="T13" fmla="*/ 223290426 h 866"/>
              <a:gd name="T14" fmla="*/ 40435871 w 382"/>
              <a:gd name="T15" fmla="*/ 172495624 h 866"/>
              <a:gd name="T16" fmla="*/ 16499746 w 382"/>
              <a:gd name="T17" fmla="*/ 151610614 h 866"/>
              <a:gd name="T18" fmla="*/ 0 w 382"/>
              <a:gd name="T19" fmla="*/ 28104641 h 8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2"/>
              <a:gd name="T31" fmla="*/ 0 h 866"/>
              <a:gd name="T32" fmla="*/ 382 w 382"/>
              <a:gd name="T33" fmla="*/ 866 h 8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2" h="866">
                <a:moveTo>
                  <a:pt x="0" y="109"/>
                </a:moveTo>
                <a:lnTo>
                  <a:pt x="345" y="0"/>
                </a:lnTo>
                <a:lnTo>
                  <a:pt x="382" y="109"/>
                </a:lnTo>
                <a:lnTo>
                  <a:pt x="345" y="281"/>
                </a:lnTo>
                <a:lnTo>
                  <a:pt x="345" y="727"/>
                </a:lnTo>
                <a:lnTo>
                  <a:pt x="382" y="841"/>
                </a:lnTo>
                <a:lnTo>
                  <a:pt x="208" y="866"/>
                </a:lnTo>
                <a:lnTo>
                  <a:pt x="174" y="669"/>
                </a:lnTo>
                <a:lnTo>
                  <a:pt x="71" y="588"/>
                </a:lnTo>
                <a:lnTo>
                  <a:pt x="0" y="109"/>
                </a:lnTo>
                <a:close/>
              </a:path>
            </a:pathLst>
          </a:custGeom>
          <a:solidFill>
            <a:srgbClr val="000000"/>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10282" name="Freeform 42"/>
          <p:cNvSpPr>
            <a:spLocks noChangeAspect="1"/>
          </p:cNvSpPr>
          <p:nvPr/>
        </p:nvSpPr>
        <p:spPr bwMode="auto">
          <a:xfrm>
            <a:off x="1254125" y="1444625"/>
            <a:ext cx="933450" cy="708025"/>
          </a:xfrm>
          <a:custGeom>
            <a:avLst/>
            <a:gdLst/>
            <a:ahLst/>
            <a:cxnLst>
              <a:cxn ang="0">
                <a:pos x="1114" y="1313"/>
              </a:cxn>
              <a:cxn ang="0">
                <a:pos x="630" y="1340"/>
              </a:cxn>
              <a:cxn ang="0">
                <a:pos x="522" y="1260"/>
              </a:cxn>
              <a:cxn ang="0">
                <a:pos x="174" y="1228"/>
              </a:cxn>
              <a:cxn ang="0">
                <a:pos x="210" y="1120"/>
              </a:cxn>
              <a:cxn ang="0">
                <a:pos x="107" y="949"/>
              </a:cxn>
              <a:cxn ang="0">
                <a:pos x="0" y="838"/>
              </a:cxn>
              <a:cxn ang="0">
                <a:pos x="107" y="80"/>
              </a:cxn>
              <a:cxn ang="0">
                <a:pos x="485" y="220"/>
              </a:cxn>
              <a:cxn ang="0">
                <a:pos x="313" y="502"/>
              </a:cxn>
              <a:cxn ang="0">
                <a:pos x="419" y="667"/>
              </a:cxn>
              <a:cxn ang="0">
                <a:pos x="696" y="419"/>
              </a:cxn>
              <a:cxn ang="0">
                <a:pos x="732" y="0"/>
              </a:cxn>
              <a:cxn ang="0">
                <a:pos x="1958" y="307"/>
              </a:cxn>
              <a:cxn ang="0">
                <a:pos x="1779" y="1393"/>
              </a:cxn>
              <a:cxn ang="0">
                <a:pos x="1114" y="1313"/>
              </a:cxn>
            </a:cxnLst>
            <a:rect l="0" t="0" r="r" b="b"/>
            <a:pathLst>
              <a:path w="1958" h="1393">
                <a:moveTo>
                  <a:pt x="1114" y="1313"/>
                </a:moveTo>
                <a:lnTo>
                  <a:pt x="630" y="1340"/>
                </a:lnTo>
                <a:lnTo>
                  <a:pt x="522" y="1260"/>
                </a:lnTo>
                <a:lnTo>
                  <a:pt x="174" y="1228"/>
                </a:lnTo>
                <a:lnTo>
                  <a:pt x="210" y="1120"/>
                </a:lnTo>
                <a:lnTo>
                  <a:pt x="107" y="949"/>
                </a:lnTo>
                <a:lnTo>
                  <a:pt x="0" y="838"/>
                </a:lnTo>
                <a:lnTo>
                  <a:pt x="107" y="80"/>
                </a:lnTo>
                <a:lnTo>
                  <a:pt x="485" y="220"/>
                </a:lnTo>
                <a:lnTo>
                  <a:pt x="313" y="502"/>
                </a:lnTo>
                <a:lnTo>
                  <a:pt x="419" y="667"/>
                </a:lnTo>
                <a:lnTo>
                  <a:pt x="696" y="419"/>
                </a:lnTo>
                <a:lnTo>
                  <a:pt x="732" y="0"/>
                </a:lnTo>
                <a:lnTo>
                  <a:pt x="1958" y="307"/>
                </a:lnTo>
                <a:lnTo>
                  <a:pt x="1779" y="1393"/>
                </a:lnTo>
                <a:lnTo>
                  <a:pt x="1114" y="1313"/>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283" name="Freeform 43"/>
          <p:cNvSpPr>
            <a:spLocks noChangeAspect="1"/>
          </p:cNvSpPr>
          <p:nvPr/>
        </p:nvSpPr>
        <p:spPr bwMode="auto">
          <a:xfrm>
            <a:off x="976313" y="1925638"/>
            <a:ext cx="1163637" cy="952500"/>
          </a:xfrm>
          <a:custGeom>
            <a:avLst/>
            <a:gdLst/>
            <a:ahLst/>
            <a:cxnLst>
              <a:cxn ang="0">
                <a:pos x="0" y="1400"/>
              </a:cxn>
              <a:cxn ang="0">
                <a:pos x="36" y="1177"/>
              </a:cxn>
              <a:cxn ang="0">
                <a:pos x="591" y="30"/>
              </a:cxn>
              <a:cxn ang="0">
                <a:pos x="665" y="0"/>
              </a:cxn>
              <a:cxn ang="0">
                <a:pos x="767" y="171"/>
              </a:cxn>
              <a:cxn ang="0">
                <a:pos x="731" y="279"/>
              </a:cxn>
              <a:cxn ang="0">
                <a:pos x="1078" y="311"/>
              </a:cxn>
              <a:cxn ang="0">
                <a:pos x="1186" y="391"/>
              </a:cxn>
              <a:cxn ang="0">
                <a:pos x="1672" y="364"/>
              </a:cxn>
              <a:cxn ang="0">
                <a:pos x="2335" y="444"/>
              </a:cxn>
              <a:cxn ang="0">
                <a:pos x="2439" y="726"/>
              </a:cxn>
              <a:cxn ang="0">
                <a:pos x="2156" y="1038"/>
              </a:cxn>
              <a:cxn ang="0">
                <a:pos x="2228" y="1202"/>
              </a:cxn>
              <a:cxn ang="0">
                <a:pos x="2156" y="1259"/>
              </a:cxn>
              <a:cxn ang="0">
                <a:pos x="2019" y="1877"/>
              </a:cxn>
              <a:cxn ang="0">
                <a:pos x="1044" y="1651"/>
              </a:cxn>
              <a:cxn ang="0">
                <a:pos x="0" y="1400"/>
              </a:cxn>
            </a:cxnLst>
            <a:rect l="0" t="0" r="r" b="b"/>
            <a:pathLst>
              <a:path w="2439" h="1877">
                <a:moveTo>
                  <a:pt x="0" y="1400"/>
                </a:moveTo>
                <a:lnTo>
                  <a:pt x="36" y="1177"/>
                </a:lnTo>
                <a:lnTo>
                  <a:pt x="591" y="30"/>
                </a:lnTo>
                <a:lnTo>
                  <a:pt x="665" y="0"/>
                </a:lnTo>
                <a:lnTo>
                  <a:pt x="767" y="171"/>
                </a:lnTo>
                <a:lnTo>
                  <a:pt x="731" y="279"/>
                </a:lnTo>
                <a:lnTo>
                  <a:pt x="1078" y="311"/>
                </a:lnTo>
                <a:lnTo>
                  <a:pt x="1186" y="391"/>
                </a:lnTo>
                <a:lnTo>
                  <a:pt x="1672" y="364"/>
                </a:lnTo>
                <a:lnTo>
                  <a:pt x="2335" y="444"/>
                </a:lnTo>
                <a:lnTo>
                  <a:pt x="2439" y="726"/>
                </a:lnTo>
                <a:lnTo>
                  <a:pt x="2156" y="1038"/>
                </a:lnTo>
                <a:lnTo>
                  <a:pt x="2228" y="1202"/>
                </a:lnTo>
                <a:lnTo>
                  <a:pt x="2156" y="1259"/>
                </a:lnTo>
                <a:lnTo>
                  <a:pt x="2019" y="1877"/>
                </a:lnTo>
                <a:lnTo>
                  <a:pt x="1044" y="1651"/>
                </a:lnTo>
                <a:lnTo>
                  <a:pt x="0" y="1400"/>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284" name="Freeform 44"/>
          <p:cNvSpPr>
            <a:spLocks noChangeAspect="1"/>
          </p:cNvSpPr>
          <p:nvPr/>
        </p:nvSpPr>
        <p:spPr bwMode="auto">
          <a:xfrm>
            <a:off x="914400" y="2667000"/>
            <a:ext cx="1179513" cy="1985963"/>
          </a:xfrm>
          <a:custGeom>
            <a:avLst/>
            <a:gdLst/>
            <a:ahLst/>
            <a:cxnLst>
              <a:cxn ang="0">
                <a:pos x="942" y="1367"/>
              </a:cxn>
              <a:cxn ang="0">
                <a:pos x="2370" y="3043"/>
              </a:cxn>
              <a:cxn ang="0">
                <a:pos x="2370" y="3210"/>
              </a:cxn>
              <a:cxn ang="0">
                <a:pos x="2370" y="3265"/>
              </a:cxn>
              <a:cxn ang="0">
                <a:pos x="2474" y="3350"/>
              </a:cxn>
              <a:cxn ang="0">
                <a:pos x="2370" y="3465"/>
              </a:cxn>
              <a:cxn ang="0">
                <a:pos x="2265" y="3797"/>
              </a:cxn>
              <a:cxn ang="0">
                <a:pos x="2303" y="3911"/>
              </a:cxn>
              <a:cxn ang="0">
                <a:pos x="1535" y="3882"/>
              </a:cxn>
              <a:cxn ang="0">
                <a:pos x="1428" y="3404"/>
              </a:cxn>
              <a:cxn ang="0">
                <a:pos x="1188" y="3184"/>
              </a:cxn>
              <a:cxn ang="0">
                <a:pos x="869" y="3099"/>
              </a:cxn>
              <a:cxn ang="0">
                <a:pos x="732" y="2902"/>
              </a:cxn>
              <a:cxn ang="0">
                <a:pos x="557" y="2877"/>
              </a:cxn>
              <a:cxn ang="0">
                <a:pos x="246" y="2155"/>
              </a:cxn>
              <a:cxn ang="0">
                <a:pos x="349" y="2040"/>
              </a:cxn>
              <a:cxn ang="0">
                <a:pos x="211" y="1843"/>
              </a:cxn>
              <a:cxn ang="0">
                <a:pos x="211" y="1733"/>
              </a:cxn>
              <a:cxn ang="0">
                <a:pos x="313" y="1649"/>
              </a:cxn>
              <a:cxn ang="0">
                <a:pos x="246" y="1508"/>
              </a:cxn>
              <a:cxn ang="0">
                <a:pos x="175" y="1535"/>
              </a:cxn>
              <a:cxn ang="0">
                <a:pos x="104" y="1315"/>
              </a:cxn>
              <a:cxn ang="0">
                <a:pos x="0" y="1146"/>
              </a:cxn>
              <a:cxn ang="0">
                <a:pos x="37" y="698"/>
              </a:cxn>
              <a:cxn ang="0">
                <a:pos x="0" y="557"/>
              </a:cxn>
              <a:cxn ang="0">
                <a:pos x="175" y="0"/>
              </a:cxn>
              <a:cxn ang="0">
                <a:pos x="1193" y="251"/>
              </a:cxn>
              <a:cxn ang="0">
                <a:pos x="942" y="1367"/>
              </a:cxn>
            </a:cxnLst>
            <a:rect l="0" t="0" r="r" b="b"/>
            <a:pathLst>
              <a:path w="2474" h="3911">
                <a:moveTo>
                  <a:pt x="942" y="1367"/>
                </a:moveTo>
                <a:lnTo>
                  <a:pt x="2370" y="3043"/>
                </a:lnTo>
                <a:lnTo>
                  <a:pt x="2370" y="3210"/>
                </a:lnTo>
                <a:lnTo>
                  <a:pt x="2370" y="3265"/>
                </a:lnTo>
                <a:lnTo>
                  <a:pt x="2474" y="3350"/>
                </a:lnTo>
                <a:lnTo>
                  <a:pt x="2370" y="3465"/>
                </a:lnTo>
                <a:lnTo>
                  <a:pt x="2265" y="3797"/>
                </a:lnTo>
                <a:lnTo>
                  <a:pt x="2303" y="3911"/>
                </a:lnTo>
                <a:lnTo>
                  <a:pt x="1535" y="3882"/>
                </a:lnTo>
                <a:lnTo>
                  <a:pt x="1428" y="3404"/>
                </a:lnTo>
                <a:lnTo>
                  <a:pt x="1188" y="3184"/>
                </a:lnTo>
                <a:lnTo>
                  <a:pt x="869" y="3099"/>
                </a:lnTo>
                <a:lnTo>
                  <a:pt x="732" y="2902"/>
                </a:lnTo>
                <a:lnTo>
                  <a:pt x="557" y="2877"/>
                </a:lnTo>
                <a:lnTo>
                  <a:pt x="246" y="2155"/>
                </a:lnTo>
                <a:lnTo>
                  <a:pt x="349" y="2040"/>
                </a:lnTo>
                <a:lnTo>
                  <a:pt x="211" y="1843"/>
                </a:lnTo>
                <a:lnTo>
                  <a:pt x="211" y="1733"/>
                </a:lnTo>
                <a:lnTo>
                  <a:pt x="313" y="1649"/>
                </a:lnTo>
                <a:lnTo>
                  <a:pt x="246" y="1508"/>
                </a:lnTo>
                <a:lnTo>
                  <a:pt x="175" y="1535"/>
                </a:lnTo>
                <a:lnTo>
                  <a:pt x="104" y="1315"/>
                </a:lnTo>
                <a:lnTo>
                  <a:pt x="0" y="1146"/>
                </a:lnTo>
                <a:lnTo>
                  <a:pt x="37" y="698"/>
                </a:lnTo>
                <a:lnTo>
                  <a:pt x="0" y="557"/>
                </a:lnTo>
                <a:lnTo>
                  <a:pt x="175" y="0"/>
                </a:lnTo>
                <a:lnTo>
                  <a:pt x="1193" y="251"/>
                </a:lnTo>
                <a:lnTo>
                  <a:pt x="942" y="1367"/>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285" name="Freeform 45"/>
          <p:cNvSpPr>
            <a:spLocks noChangeAspect="1"/>
          </p:cNvSpPr>
          <p:nvPr/>
        </p:nvSpPr>
        <p:spPr bwMode="auto">
          <a:xfrm>
            <a:off x="1343025" y="2763838"/>
            <a:ext cx="958850" cy="1416050"/>
          </a:xfrm>
          <a:custGeom>
            <a:avLst/>
            <a:gdLst/>
            <a:ahLst/>
            <a:cxnLst>
              <a:cxn ang="0">
                <a:pos x="1252" y="226"/>
              </a:cxn>
              <a:cxn ang="0">
                <a:pos x="2018" y="335"/>
              </a:cxn>
              <a:cxn ang="0">
                <a:pos x="1705" y="2152"/>
              </a:cxn>
              <a:cxn ang="0">
                <a:pos x="1672" y="2513"/>
              </a:cxn>
              <a:cxn ang="0">
                <a:pos x="1568" y="2513"/>
              </a:cxn>
              <a:cxn ang="0">
                <a:pos x="1426" y="2792"/>
              </a:cxn>
              <a:cxn ang="0">
                <a:pos x="0" y="1116"/>
              </a:cxn>
              <a:cxn ang="0">
                <a:pos x="277" y="0"/>
              </a:cxn>
              <a:cxn ang="0">
                <a:pos x="1252" y="226"/>
              </a:cxn>
            </a:cxnLst>
            <a:rect l="0" t="0" r="r" b="b"/>
            <a:pathLst>
              <a:path w="2018" h="2792">
                <a:moveTo>
                  <a:pt x="1252" y="226"/>
                </a:moveTo>
                <a:lnTo>
                  <a:pt x="2018" y="335"/>
                </a:lnTo>
                <a:lnTo>
                  <a:pt x="1705" y="2152"/>
                </a:lnTo>
                <a:lnTo>
                  <a:pt x="1672" y="2513"/>
                </a:lnTo>
                <a:lnTo>
                  <a:pt x="1568" y="2513"/>
                </a:lnTo>
                <a:lnTo>
                  <a:pt x="1426" y="2792"/>
                </a:lnTo>
                <a:lnTo>
                  <a:pt x="0" y="1116"/>
                </a:lnTo>
                <a:lnTo>
                  <a:pt x="277" y="0"/>
                </a:lnTo>
                <a:lnTo>
                  <a:pt x="1252" y="226"/>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286" name="Freeform 46"/>
          <p:cNvSpPr>
            <a:spLocks noChangeAspect="1"/>
          </p:cNvSpPr>
          <p:nvPr/>
        </p:nvSpPr>
        <p:spPr bwMode="auto">
          <a:xfrm>
            <a:off x="1939925" y="1600200"/>
            <a:ext cx="777875" cy="1406525"/>
          </a:xfrm>
          <a:custGeom>
            <a:avLst/>
            <a:gdLst/>
            <a:ahLst/>
            <a:cxnLst>
              <a:cxn ang="0">
                <a:pos x="522" y="0"/>
              </a:cxn>
              <a:cxn ang="0">
                <a:pos x="766" y="27"/>
              </a:cxn>
              <a:cxn ang="0">
                <a:pos x="696" y="335"/>
              </a:cxn>
              <a:cxn ang="0">
                <a:pos x="766" y="672"/>
              </a:cxn>
              <a:cxn ang="0">
                <a:pos x="1012" y="1006"/>
              </a:cxn>
              <a:cxn ang="0">
                <a:pos x="941" y="1287"/>
              </a:cxn>
              <a:cxn ang="0">
                <a:pos x="875" y="1368"/>
              </a:cxn>
              <a:cxn ang="0">
                <a:pos x="905" y="1453"/>
              </a:cxn>
              <a:cxn ang="0">
                <a:pos x="1012" y="1399"/>
              </a:cxn>
              <a:cxn ang="0">
                <a:pos x="1186" y="1874"/>
              </a:cxn>
              <a:cxn ang="0">
                <a:pos x="1325" y="1844"/>
              </a:cxn>
              <a:cxn ang="0">
                <a:pos x="1569" y="1874"/>
              </a:cxn>
              <a:cxn ang="0">
                <a:pos x="1604" y="1819"/>
              </a:cxn>
              <a:cxn ang="0">
                <a:pos x="1637" y="1874"/>
              </a:cxn>
              <a:cxn ang="0">
                <a:pos x="1534" y="2767"/>
              </a:cxn>
              <a:cxn ang="0">
                <a:pos x="766" y="2628"/>
              </a:cxn>
              <a:cxn ang="0">
                <a:pos x="0" y="2519"/>
              </a:cxn>
              <a:cxn ang="0">
                <a:pos x="137" y="1901"/>
              </a:cxn>
              <a:cxn ang="0">
                <a:pos x="209" y="1844"/>
              </a:cxn>
              <a:cxn ang="0">
                <a:pos x="137" y="1680"/>
              </a:cxn>
              <a:cxn ang="0">
                <a:pos x="420" y="1368"/>
              </a:cxn>
              <a:cxn ang="0">
                <a:pos x="316" y="1086"/>
              </a:cxn>
              <a:cxn ang="0">
                <a:pos x="522" y="0"/>
              </a:cxn>
            </a:cxnLst>
            <a:rect l="0" t="0" r="r" b="b"/>
            <a:pathLst>
              <a:path w="1637" h="2767">
                <a:moveTo>
                  <a:pt x="522" y="0"/>
                </a:moveTo>
                <a:lnTo>
                  <a:pt x="766" y="27"/>
                </a:lnTo>
                <a:lnTo>
                  <a:pt x="696" y="335"/>
                </a:lnTo>
                <a:lnTo>
                  <a:pt x="766" y="672"/>
                </a:lnTo>
                <a:lnTo>
                  <a:pt x="1012" y="1006"/>
                </a:lnTo>
                <a:lnTo>
                  <a:pt x="941" y="1287"/>
                </a:lnTo>
                <a:lnTo>
                  <a:pt x="875" y="1368"/>
                </a:lnTo>
                <a:lnTo>
                  <a:pt x="905" y="1453"/>
                </a:lnTo>
                <a:lnTo>
                  <a:pt x="1012" y="1399"/>
                </a:lnTo>
                <a:lnTo>
                  <a:pt x="1186" y="1874"/>
                </a:lnTo>
                <a:lnTo>
                  <a:pt x="1325" y="1844"/>
                </a:lnTo>
                <a:lnTo>
                  <a:pt x="1569" y="1874"/>
                </a:lnTo>
                <a:lnTo>
                  <a:pt x="1604" y="1819"/>
                </a:lnTo>
                <a:lnTo>
                  <a:pt x="1637" y="1874"/>
                </a:lnTo>
                <a:lnTo>
                  <a:pt x="1534" y="2767"/>
                </a:lnTo>
                <a:lnTo>
                  <a:pt x="766" y="2628"/>
                </a:lnTo>
                <a:lnTo>
                  <a:pt x="0" y="2519"/>
                </a:lnTo>
                <a:lnTo>
                  <a:pt x="137" y="1901"/>
                </a:lnTo>
                <a:lnTo>
                  <a:pt x="209" y="1844"/>
                </a:lnTo>
                <a:lnTo>
                  <a:pt x="137" y="1680"/>
                </a:lnTo>
                <a:lnTo>
                  <a:pt x="420" y="1368"/>
                </a:lnTo>
                <a:lnTo>
                  <a:pt x="316" y="1086"/>
                </a:lnTo>
                <a:lnTo>
                  <a:pt x="522" y="0"/>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287" name="Freeform 47"/>
          <p:cNvSpPr>
            <a:spLocks noChangeAspect="1"/>
          </p:cNvSpPr>
          <p:nvPr/>
        </p:nvSpPr>
        <p:spPr bwMode="auto">
          <a:xfrm>
            <a:off x="2154238" y="2935288"/>
            <a:ext cx="747712" cy="1020762"/>
          </a:xfrm>
          <a:custGeom>
            <a:avLst/>
            <a:gdLst/>
            <a:ahLst/>
            <a:cxnLst>
              <a:cxn ang="0">
                <a:pos x="313" y="0"/>
              </a:cxn>
              <a:cxn ang="0">
                <a:pos x="1081" y="139"/>
              </a:cxn>
              <a:cxn ang="0">
                <a:pos x="1010" y="531"/>
              </a:cxn>
              <a:cxn ang="0">
                <a:pos x="1567" y="642"/>
              </a:cxn>
              <a:cxn ang="0">
                <a:pos x="1357" y="2011"/>
              </a:cxn>
              <a:cxn ang="0">
                <a:pos x="0" y="1817"/>
              </a:cxn>
              <a:cxn ang="0">
                <a:pos x="313" y="0"/>
              </a:cxn>
            </a:cxnLst>
            <a:rect l="0" t="0" r="r" b="b"/>
            <a:pathLst>
              <a:path w="1567" h="2011">
                <a:moveTo>
                  <a:pt x="313" y="0"/>
                </a:moveTo>
                <a:lnTo>
                  <a:pt x="1081" y="139"/>
                </a:lnTo>
                <a:lnTo>
                  <a:pt x="1010" y="531"/>
                </a:lnTo>
                <a:lnTo>
                  <a:pt x="1567" y="642"/>
                </a:lnTo>
                <a:lnTo>
                  <a:pt x="1357" y="2011"/>
                </a:lnTo>
                <a:lnTo>
                  <a:pt x="0" y="1817"/>
                </a:lnTo>
                <a:lnTo>
                  <a:pt x="313" y="0"/>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288" name="Freeform 48"/>
          <p:cNvSpPr>
            <a:spLocks noChangeAspect="1"/>
          </p:cNvSpPr>
          <p:nvPr/>
        </p:nvSpPr>
        <p:spPr bwMode="auto">
          <a:xfrm>
            <a:off x="1973263" y="3854450"/>
            <a:ext cx="828675" cy="1189038"/>
          </a:xfrm>
          <a:custGeom>
            <a:avLst/>
            <a:gdLst/>
            <a:ahLst/>
            <a:cxnLst>
              <a:cxn ang="0">
                <a:pos x="103" y="640"/>
              </a:cxn>
              <a:cxn ang="0">
                <a:pos x="245" y="361"/>
              </a:cxn>
              <a:cxn ang="0">
                <a:pos x="349" y="361"/>
              </a:cxn>
              <a:cxn ang="0">
                <a:pos x="382" y="0"/>
              </a:cxn>
              <a:cxn ang="0">
                <a:pos x="1739" y="194"/>
              </a:cxn>
              <a:cxn ang="0">
                <a:pos x="1498" y="2346"/>
              </a:cxn>
              <a:cxn ang="0">
                <a:pos x="1008" y="2261"/>
              </a:cxn>
              <a:cxn ang="0">
                <a:pos x="103" y="1733"/>
              </a:cxn>
              <a:cxn ang="0">
                <a:pos x="175" y="1594"/>
              </a:cxn>
              <a:cxn ang="0">
                <a:pos x="37" y="1508"/>
              </a:cxn>
              <a:cxn ang="0">
                <a:pos x="0" y="1394"/>
              </a:cxn>
              <a:cxn ang="0">
                <a:pos x="103" y="1062"/>
              </a:cxn>
              <a:cxn ang="0">
                <a:pos x="209" y="947"/>
              </a:cxn>
              <a:cxn ang="0">
                <a:pos x="103" y="862"/>
              </a:cxn>
              <a:cxn ang="0">
                <a:pos x="103" y="640"/>
              </a:cxn>
            </a:cxnLst>
            <a:rect l="0" t="0" r="r" b="b"/>
            <a:pathLst>
              <a:path w="1739" h="2346">
                <a:moveTo>
                  <a:pt x="103" y="640"/>
                </a:moveTo>
                <a:lnTo>
                  <a:pt x="245" y="361"/>
                </a:lnTo>
                <a:lnTo>
                  <a:pt x="349" y="361"/>
                </a:lnTo>
                <a:lnTo>
                  <a:pt x="382" y="0"/>
                </a:lnTo>
                <a:lnTo>
                  <a:pt x="1739" y="194"/>
                </a:lnTo>
                <a:lnTo>
                  <a:pt x="1498" y="2346"/>
                </a:lnTo>
                <a:lnTo>
                  <a:pt x="1008" y="2261"/>
                </a:lnTo>
                <a:lnTo>
                  <a:pt x="103" y="1733"/>
                </a:lnTo>
                <a:lnTo>
                  <a:pt x="175" y="1594"/>
                </a:lnTo>
                <a:lnTo>
                  <a:pt x="37" y="1508"/>
                </a:lnTo>
                <a:lnTo>
                  <a:pt x="0" y="1394"/>
                </a:lnTo>
                <a:lnTo>
                  <a:pt x="103" y="1062"/>
                </a:lnTo>
                <a:lnTo>
                  <a:pt x="209" y="947"/>
                </a:lnTo>
                <a:lnTo>
                  <a:pt x="103" y="862"/>
                </a:lnTo>
                <a:lnTo>
                  <a:pt x="103" y="640"/>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289" name="Freeform 49"/>
          <p:cNvSpPr>
            <a:spLocks noChangeAspect="1"/>
          </p:cNvSpPr>
          <p:nvPr/>
        </p:nvSpPr>
        <p:spPr bwMode="auto">
          <a:xfrm>
            <a:off x="2270125" y="1614488"/>
            <a:ext cx="1427163" cy="949325"/>
          </a:xfrm>
          <a:custGeom>
            <a:avLst/>
            <a:gdLst/>
            <a:ahLst/>
            <a:cxnLst>
              <a:cxn ang="0">
                <a:pos x="70" y="0"/>
              </a:cxn>
              <a:cxn ang="0">
                <a:pos x="2996" y="446"/>
              </a:cxn>
              <a:cxn ang="0">
                <a:pos x="2928" y="1592"/>
              </a:cxn>
              <a:cxn ang="0">
                <a:pos x="2857" y="1874"/>
              </a:cxn>
              <a:cxn ang="0">
                <a:pos x="975" y="1677"/>
              </a:cxn>
              <a:cxn ang="0">
                <a:pos x="941" y="1847"/>
              </a:cxn>
              <a:cxn ang="0">
                <a:pos x="908" y="1792"/>
              </a:cxn>
              <a:cxn ang="0">
                <a:pos x="873" y="1847"/>
              </a:cxn>
              <a:cxn ang="0">
                <a:pos x="629" y="1817"/>
              </a:cxn>
              <a:cxn ang="0">
                <a:pos x="490" y="1847"/>
              </a:cxn>
              <a:cxn ang="0">
                <a:pos x="316" y="1372"/>
              </a:cxn>
              <a:cxn ang="0">
                <a:pos x="209" y="1426"/>
              </a:cxn>
              <a:cxn ang="0">
                <a:pos x="179" y="1341"/>
              </a:cxn>
              <a:cxn ang="0">
                <a:pos x="245" y="1260"/>
              </a:cxn>
              <a:cxn ang="0">
                <a:pos x="316" y="979"/>
              </a:cxn>
              <a:cxn ang="0">
                <a:pos x="70" y="645"/>
              </a:cxn>
              <a:cxn ang="0">
                <a:pos x="0" y="308"/>
              </a:cxn>
              <a:cxn ang="0">
                <a:pos x="70" y="0"/>
              </a:cxn>
            </a:cxnLst>
            <a:rect l="0" t="0" r="r" b="b"/>
            <a:pathLst>
              <a:path w="2996" h="1874">
                <a:moveTo>
                  <a:pt x="70" y="0"/>
                </a:moveTo>
                <a:lnTo>
                  <a:pt x="2996" y="446"/>
                </a:lnTo>
                <a:lnTo>
                  <a:pt x="2928" y="1592"/>
                </a:lnTo>
                <a:lnTo>
                  <a:pt x="2857" y="1874"/>
                </a:lnTo>
                <a:lnTo>
                  <a:pt x="975" y="1677"/>
                </a:lnTo>
                <a:lnTo>
                  <a:pt x="941" y="1847"/>
                </a:lnTo>
                <a:lnTo>
                  <a:pt x="908" y="1792"/>
                </a:lnTo>
                <a:lnTo>
                  <a:pt x="873" y="1847"/>
                </a:lnTo>
                <a:lnTo>
                  <a:pt x="629" y="1817"/>
                </a:lnTo>
                <a:lnTo>
                  <a:pt x="490" y="1847"/>
                </a:lnTo>
                <a:lnTo>
                  <a:pt x="316" y="1372"/>
                </a:lnTo>
                <a:lnTo>
                  <a:pt x="209" y="1426"/>
                </a:lnTo>
                <a:lnTo>
                  <a:pt x="179" y="1341"/>
                </a:lnTo>
                <a:lnTo>
                  <a:pt x="245" y="1260"/>
                </a:lnTo>
                <a:lnTo>
                  <a:pt x="316" y="979"/>
                </a:lnTo>
                <a:lnTo>
                  <a:pt x="70" y="645"/>
                </a:lnTo>
                <a:lnTo>
                  <a:pt x="0" y="308"/>
                </a:lnTo>
                <a:lnTo>
                  <a:pt x="70" y="0"/>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290" name="Freeform 50"/>
          <p:cNvSpPr>
            <a:spLocks noChangeAspect="1"/>
          </p:cNvSpPr>
          <p:nvPr/>
        </p:nvSpPr>
        <p:spPr bwMode="auto">
          <a:xfrm>
            <a:off x="2633663" y="2465388"/>
            <a:ext cx="998537" cy="836612"/>
          </a:xfrm>
          <a:custGeom>
            <a:avLst/>
            <a:gdLst/>
            <a:ahLst/>
            <a:cxnLst>
              <a:cxn ang="0">
                <a:pos x="2090" y="197"/>
              </a:cxn>
              <a:cxn ang="0">
                <a:pos x="2090" y="895"/>
              </a:cxn>
              <a:cxn ang="0">
                <a:pos x="2020" y="1653"/>
              </a:cxn>
              <a:cxn ang="0">
                <a:pos x="557" y="1566"/>
              </a:cxn>
              <a:cxn ang="0">
                <a:pos x="0" y="1455"/>
              </a:cxn>
              <a:cxn ang="0">
                <a:pos x="71" y="1063"/>
              </a:cxn>
              <a:cxn ang="0">
                <a:pos x="174" y="170"/>
              </a:cxn>
              <a:cxn ang="0">
                <a:pos x="208" y="0"/>
              </a:cxn>
              <a:cxn ang="0">
                <a:pos x="2090" y="197"/>
              </a:cxn>
            </a:cxnLst>
            <a:rect l="0" t="0" r="r" b="b"/>
            <a:pathLst>
              <a:path w="2090" h="1653">
                <a:moveTo>
                  <a:pt x="2090" y="197"/>
                </a:moveTo>
                <a:lnTo>
                  <a:pt x="2090" y="895"/>
                </a:lnTo>
                <a:lnTo>
                  <a:pt x="2020" y="1653"/>
                </a:lnTo>
                <a:lnTo>
                  <a:pt x="557" y="1566"/>
                </a:lnTo>
                <a:lnTo>
                  <a:pt x="0" y="1455"/>
                </a:lnTo>
                <a:lnTo>
                  <a:pt x="71" y="1063"/>
                </a:lnTo>
                <a:lnTo>
                  <a:pt x="174" y="170"/>
                </a:lnTo>
                <a:lnTo>
                  <a:pt x="208" y="0"/>
                </a:lnTo>
                <a:lnTo>
                  <a:pt x="2090" y="197"/>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291" name="Freeform 51"/>
          <p:cNvSpPr>
            <a:spLocks noChangeAspect="1"/>
          </p:cNvSpPr>
          <p:nvPr/>
        </p:nvSpPr>
        <p:spPr bwMode="auto">
          <a:xfrm>
            <a:off x="2801938" y="3259138"/>
            <a:ext cx="1047750" cy="779462"/>
          </a:xfrm>
          <a:custGeom>
            <a:avLst/>
            <a:gdLst/>
            <a:ahLst/>
            <a:cxnLst>
              <a:cxn ang="0">
                <a:pos x="210" y="0"/>
              </a:cxn>
              <a:cxn ang="0">
                <a:pos x="1673" y="87"/>
              </a:cxn>
              <a:cxn ang="0">
                <a:pos x="2199" y="139"/>
              </a:cxn>
              <a:cxn ang="0">
                <a:pos x="2199" y="534"/>
              </a:cxn>
              <a:cxn ang="0">
                <a:pos x="2163" y="1536"/>
              </a:cxn>
              <a:cxn ang="0">
                <a:pos x="1882" y="1509"/>
              </a:cxn>
              <a:cxn ang="0">
                <a:pos x="0" y="1369"/>
              </a:cxn>
              <a:cxn ang="0">
                <a:pos x="210" y="0"/>
              </a:cxn>
            </a:cxnLst>
            <a:rect l="0" t="0" r="r" b="b"/>
            <a:pathLst>
              <a:path w="2199" h="1536">
                <a:moveTo>
                  <a:pt x="210" y="0"/>
                </a:moveTo>
                <a:lnTo>
                  <a:pt x="1673" y="87"/>
                </a:lnTo>
                <a:lnTo>
                  <a:pt x="2199" y="139"/>
                </a:lnTo>
                <a:lnTo>
                  <a:pt x="2199" y="534"/>
                </a:lnTo>
                <a:lnTo>
                  <a:pt x="2163" y="1536"/>
                </a:lnTo>
                <a:lnTo>
                  <a:pt x="1882" y="1509"/>
                </a:lnTo>
                <a:lnTo>
                  <a:pt x="0" y="1369"/>
                </a:lnTo>
                <a:lnTo>
                  <a:pt x="210" y="0"/>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292" name="Freeform 52"/>
          <p:cNvSpPr>
            <a:spLocks noChangeAspect="1"/>
          </p:cNvSpPr>
          <p:nvPr/>
        </p:nvSpPr>
        <p:spPr bwMode="auto">
          <a:xfrm>
            <a:off x="2686050" y="3956050"/>
            <a:ext cx="1011238" cy="1103313"/>
          </a:xfrm>
          <a:custGeom>
            <a:avLst/>
            <a:gdLst/>
            <a:ahLst/>
            <a:cxnLst>
              <a:cxn ang="0">
                <a:pos x="241" y="0"/>
              </a:cxn>
              <a:cxn ang="0">
                <a:pos x="2123" y="140"/>
              </a:cxn>
              <a:cxn ang="0">
                <a:pos x="2123" y="305"/>
              </a:cxn>
              <a:cxn ang="0">
                <a:pos x="2021" y="2126"/>
              </a:cxn>
              <a:cxn ang="0">
                <a:pos x="1043" y="2067"/>
              </a:cxn>
              <a:cxn ang="0">
                <a:pos x="348" y="2041"/>
              </a:cxn>
              <a:cxn ang="0">
                <a:pos x="277" y="2180"/>
              </a:cxn>
              <a:cxn ang="0">
                <a:pos x="0" y="2152"/>
              </a:cxn>
              <a:cxn ang="0">
                <a:pos x="241" y="0"/>
              </a:cxn>
            </a:cxnLst>
            <a:rect l="0" t="0" r="r" b="b"/>
            <a:pathLst>
              <a:path w="2123" h="2180">
                <a:moveTo>
                  <a:pt x="241" y="0"/>
                </a:moveTo>
                <a:lnTo>
                  <a:pt x="2123" y="140"/>
                </a:lnTo>
                <a:lnTo>
                  <a:pt x="2123" y="305"/>
                </a:lnTo>
                <a:lnTo>
                  <a:pt x="2021" y="2126"/>
                </a:lnTo>
                <a:lnTo>
                  <a:pt x="1043" y="2067"/>
                </a:lnTo>
                <a:lnTo>
                  <a:pt x="348" y="2041"/>
                </a:lnTo>
                <a:lnTo>
                  <a:pt x="277" y="2180"/>
                </a:lnTo>
                <a:lnTo>
                  <a:pt x="0" y="2152"/>
                </a:lnTo>
                <a:lnTo>
                  <a:pt x="241" y="0"/>
                </a:lnTo>
                <a:close/>
              </a:path>
            </a:pathLst>
          </a:custGeom>
          <a:gradFill rotWithShape="0">
            <a:gsLst>
              <a:gs pos="0">
                <a:schemeClr val="hlink"/>
              </a:gs>
              <a:gs pos="100000">
                <a:schemeClr val="hlink">
                  <a:gamma/>
                  <a:shade val="86275"/>
                  <a:invGamma/>
                </a:schemeClr>
              </a:gs>
            </a:gsLst>
            <a:path path="rect">
              <a:fillToRect l="50000" t="50000" r="50000" b="50000"/>
            </a:path>
          </a:gradFill>
          <a:ln w="1588">
            <a:solidFill>
              <a:srgbClr val="000000"/>
            </a:solidFill>
            <a:prstDash val="solid"/>
            <a:round/>
            <a:headEnd/>
            <a:tailEnd/>
          </a:ln>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759861" name="Freeform 53"/>
          <p:cNvSpPr>
            <a:spLocks noChangeAspect="1"/>
          </p:cNvSpPr>
          <p:nvPr/>
        </p:nvSpPr>
        <p:spPr bwMode="auto">
          <a:xfrm>
            <a:off x="3665538" y="1843088"/>
            <a:ext cx="911225" cy="577850"/>
          </a:xfrm>
          <a:custGeom>
            <a:avLst/>
            <a:gdLst>
              <a:gd name="T0" fmla="*/ 15461261 w 1911"/>
              <a:gd name="T1" fmla="*/ 0 h 1146"/>
              <a:gd name="T2" fmla="*/ 395393468 w 1911"/>
              <a:gd name="T3" fmla="*/ 14746266 h 1146"/>
              <a:gd name="T4" fmla="*/ 411536594 w 1911"/>
              <a:gd name="T5" fmla="*/ 50595653 h 1146"/>
              <a:gd name="T6" fmla="*/ 411536594 w 1911"/>
              <a:gd name="T7" fmla="*/ 78308758 h 1146"/>
              <a:gd name="T8" fmla="*/ 427679721 w 1911"/>
              <a:gd name="T9" fmla="*/ 142380024 h 1146"/>
              <a:gd name="T10" fmla="*/ 427679721 w 1911"/>
              <a:gd name="T11" fmla="*/ 184839879 h 1146"/>
              <a:gd name="T12" fmla="*/ 434500793 w 1911"/>
              <a:gd name="T13" fmla="*/ 213824137 h 1146"/>
              <a:gd name="T14" fmla="*/ 434500793 w 1911"/>
              <a:gd name="T15" fmla="*/ 291370528 h 1146"/>
              <a:gd name="T16" fmla="*/ 0 w 1911"/>
              <a:gd name="T17" fmla="*/ 291370528 h 1146"/>
              <a:gd name="T18" fmla="*/ 15461261 w 1911"/>
              <a:gd name="T19" fmla="*/ 0 h 114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11"/>
              <a:gd name="T31" fmla="*/ 0 h 1146"/>
              <a:gd name="T32" fmla="*/ 1911 w 1911"/>
              <a:gd name="T33" fmla="*/ 1146 h 114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11" h="1146">
                <a:moveTo>
                  <a:pt x="68" y="0"/>
                </a:moveTo>
                <a:lnTo>
                  <a:pt x="1739" y="58"/>
                </a:lnTo>
                <a:lnTo>
                  <a:pt x="1810" y="199"/>
                </a:lnTo>
                <a:lnTo>
                  <a:pt x="1810" y="308"/>
                </a:lnTo>
                <a:lnTo>
                  <a:pt x="1881" y="560"/>
                </a:lnTo>
                <a:lnTo>
                  <a:pt x="1881" y="727"/>
                </a:lnTo>
                <a:lnTo>
                  <a:pt x="1911" y="841"/>
                </a:lnTo>
                <a:lnTo>
                  <a:pt x="1911" y="1146"/>
                </a:lnTo>
                <a:lnTo>
                  <a:pt x="0" y="1146"/>
                </a:lnTo>
                <a:lnTo>
                  <a:pt x="68" y="0"/>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62" name="Freeform 54"/>
          <p:cNvSpPr>
            <a:spLocks noChangeAspect="1"/>
          </p:cNvSpPr>
          <p:nvPr/>
        </p:nvSpPr>
        <p:spPr bwMode="auto">
          <a:xfrm>
            <a:off x="3632200" y="2420938"/>
            <a:ext cx="1012825" cy="627062"/>
          </a:xfrm>
          <a:custGeom>
            <a:avLst/>
            <a:gdLst>
              <a:gd name="T0" fmla="*/ 16113731 w 2126"/>
              <a:gd name="T1" fmla="*/ 0 h 1234"/>
              <a:gd name="T2" fmla="*/ 449827128 w 2126"/>
              <a:gd name="T3" fmla="*/ 0 h 1234"/>
              <a:gd name="T4" fmla="*/ 457997849 w 2126"/>
              <a:gd name="T5" fmla="*/ 21948694 h 1234"/>
              <a:gd name="T6" fmla="*/ 449827128 w 2126"/>
              <a:gd name="T7" fmla="*/ 51644192 h 1234"/>
              <a:gd name="T8" fmla="*/ 465714086 w 2126"/>
              <a:gd name="T9" fmla="*/ 65846073 h 1234"/>
              <a:gd name="T10" fmla="*/ 465714086 w 2126"/>
              <a:gd name="T11" fmla="*/ 223876862 h 1234"/>
              <a:gd name="T12" fmla="*/ 473884807 w 2126"/>
              <a:gd name="T13" fmla="*/ 260544221 h 1234"/>
              <a:gd name="T14" fmla="*/ 457997849 w 2126"/>
              <a:gd name="T15" fmla="*/ 282492971 h 1234"/>
              <a:gd name="T16" fmla="*/ 482509061 w 2126"/>
              <a:gd name="T17" fmla="*/ 318644046 h 1234"/>
              <a:gd name="T18" fmla="*/ 449827128 w 2126"/>
              <a:gd name="T19" fmla="*/ 289465349 h 1234"/>
              <a:gd name="T20" fmla="*/ 403982288 w 2126"/>
              <a:gd name="T21" fmla="*/ 282492971 h 1234"/>
              <a:gd name="T22" fmla="*/ 379924608 w 2126"/>
              <a:gd name="T23" fmla="*/ 282492971 h 1234"/>
              <a:gd name="T24" fmla="*/ 340661222 w 2126"/>
              <a:gd name="T25" fmla="*/ 260544221 h 1234"/>
              <a:gd name="T26" fmla="*/ 0 w 2126"/>
              <a:gd name="T27" fmla="*/ 253056067 h 1234"/>
              <a:gd name="T28" fmla="*/ 0 w 2126"/>
              <a:gd name="T29" fmla="*/ 72817959 h 1234"/>
              <a:gd name="T30" fmla="*/ 16113731 w 2126"/>
              <a:gd name="T31" fmla="*/ 0 h 123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26"/>
              <a:gd name="T49" fmla="*/ 0 h 1234"/>
              <a:gd name="T50" fmla="*/ 2126 w 2126"/>
              <a:gd name="T51" fmla="*/ 1234 h 123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26" h="1234">
                <a:moveTo>
                  <a:pt x="71" y="0"/>
                </a:moveTo>
                <a:lnTo>
                  <a:pt x="1982" y="0"/>
                </a:lnTo>
                <a:lnTo>
                  <a:pt x="2018" y="85"/>
                </a:lnTo>
                <a:lnTo>
                  <a:pt x="1982" y="200"/>
                </a:lnTo>
                <a:lnTo>
                  <a:pt x="2052" y="255"/>
                </a:lnTo>
                <a:lnTo>
                  <a:pt x="2052" y="867"/>
                </a:lnTo>
                <a:lnTo>
                  <a:pt x="2088" y="1009"/>
                </a:lnTo>
                <a:lnTo>
                  <a:pt x="2018" y="1094"/>
                </a:lnTo>
                <a:lnTo>
                  <a:pt x="2126" y="1234"/>
                </a:lnTo>
                <a:lnTo>
                  <a:pt x="1982" y="1121"/>
                </a:lnTo>
                <a:lnTo>
                  <a:pt x="1780" y="1094"/>
                </a:lnTo>
                <a:lnTo>
                  <a:pt x="1674" y="1094"/>
                </a:lnTo>
                <a:lnTo>
                  <a:pt x="1501" y="1009"/>
                </a:lnTo>
                <a:lnTo>
                  <a:pt x="0" y="980"/>
                </a:lnTo>
                <a:lnTo>
                  <a:pt x="0" y="282"/>
                </a:lnTo>
                <a:lnTo>
                  <a:pt x="71" y="0"/>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63" name="Freeform 55"/>
          <p:cNvSpPr>
            <a:spLocks noChangeAspect="1"/>
          </p:cNvSpPr>
          <p:nvPr/>
        </p:nvSpPr>
        <p:spPr bwMode="auto">
          <a:xfrm>
            <a:off x="3598863" y="2919413"/>
            <a:ext cx="1209675" cy="611187"/>
          </a:xfrm>
          <a:custGeom>
            <a:avLst/>
            <a:gdLst>
              <a:gd name="T0" fmla="*/ 119304419 w 2540"/>
              <a:gd name="T1" fmla="*/ 208381270 h 1205"/>
              <a:gd name="T2" fmla="*/ 0 w 2540"/>
              <a:gd name="T3" fmla="*/ 195003635 h 1205"/>
              <a:gd name="T4" fmla="*/ 15877224 w 2540"/>
              <a:gd name="T5" fmla="*/ 0 h 1205"/>
              <a:gd name="T6" fmla="*/ 356324993 w 2540"/>
              <a:gd name="T7" fmla="*/ 7460538 h 1205"/>
              <a:gd name="T8" fmla="*/ 395563692 w 2540"/>
              <a:gd name="T9" fmla="*/ 29327842 h 1205"/>
              <a:gd name="T10" fmla="*/ 419605735 w 2540"/>
              <a:gd name="T11" fmla="*/ 29327842 h 1205"/>
              <a:gd name="T12" fmla="*/ 465422396 w 2540"/>
              <a:gd name="T13" fmla="*/ 36273569 h 1205"/>
              <a:gd name="T14" fmla="*/ 498083609 w 2540"/>
              <a:gd name="T15" fmla="*/ 65344249 h 1205"/>
              <a:gd name="T16" fmla="*/ 512146432 w 2540"/>
              <a:gd name="T17" fmla="*/ 130688497 h 1205"/>
              <a:gd name="T18" fmla="*/ 536642342 w 2540"/>
              <a:gd name="T19" fmla="*/ 179825408 h 1205"/>
              <a:gd name="T20" fmla="*/ 536642342 w 2540"/>
              <a:gd name="T21" fmla="*/ 215584651 h 1205"/>
              <a:gd name="T22" fmla="*/ 545034340 w 2540"/>
              <a:gd name="T23" fmla="*/ 258547276 h 1205"/>
              <a:gd name="T24" fmla="*/ 545034340 w 2540"/>
              <a:gd name="T25" fmla="*/ 280928947 h 1205"/>
              <a:gd name="T26" fmla="*/ 576107735 w 2540"/>
              <a:gd name="T27" fmla="*/ 309999627 h 1205"/>
              <a:gd name="T28" fmla="*/ 119304419 w 2540"/>
              <a:gd name="T29" fmla="*/ 309999627 h 1205"/>
              <a:gd name="T30" fmla="*/ 119304419 w 2540"/>
              <a:gd name="T31" fmla="*/ 208381270 h 120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40"/>
              <a:gd name="T49" fmla="*/ 0 h 1205"/>
              <a:gd name="T50" fmla="*/ 2540 w 2540"/>
              <a:gd name="T51" fmla="*/ 1205 h 120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40" h="1205">
                <a:moveTo>
                  <a:pt x="526" y="810"/>
                </a:moveTo>
                <a:lnTo>
                  <a:pt x="0" y="758"/>
                </a:lnTo>
                <a:lnTo>
                  <a:pt x="70" y="0"/>
                </a:lnTo>
                <a:lnTo>
                  <a:pt x="1571" y="29"/>
                </a:lnTo>
                <a:lnTo>
                  <a:pt x="1744" y="114"/>
                </a:lnTo>
                <a:lnTo>
                  <a:pt x="1850" y="114"/>
                </a:lnTo>
                <a:lnTo>
                  <a:pt x="2052" y="141"/>
                </a:lnTo>
                <a:lnTo>
                  <a:pt x="2196" y="254"/>
                </a:lnTo>
                <a:lnTo>
                  <a:pt x="2258" y="508"/>
                </a:lnTo>
                <a:lnTo>
                  <a:pt x="2366" y="699"/>
                </a:lnTo>
                <a:lnTo>
                  <a:pt x="2366" y="838"/>
                </a:lnTo>
                <a:lnTo>
                  <a:pt x="2403" y="1005"/>
                </a:lnTo>
                <a:lnTo>
                  <a:pt x="2403" y="1092"/>
                </a:lnTo>
                <a:lnTo>
                  <a:pt x="2540" y="1205"/>
                </a:lnTo>
                <a:lnTo>
                  <a:pt x="526" y="1205"/>
                </a:lnTo>
                <a:lnTo>
                  <a:pt x="526" y="810"/>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64" name="Freeform 56"/>
          <p:cNvSpPr>
            <a:spLocks noChangeAspect="1"/>
          </p:cNvSpPr>
          <p:nvPr/>
        </p:nvSpPr>
        <p:spPr bwMode="auto">
          <a:xfrm>
            <a:off x="3830638" y="3530600"/>
            <a:ext cx="1074737" cy="508000"/>
          </a:xfrm>
          <a:custGeom>
            <a:avLst/>
            <a:gdLst>
              <a:gd name="T0" fmla="*/ 8162668 w 2257"/>
              <a:gd name="T1" fmla="*/ 0 h 1002"/>
              <a:gd name="T2" fmla="*/ 464831051 w 2257"/>
              <a:gd name="T3" fmla="*/ 0 h 1002"/>
              <a:gd name="T4" fmla="*/ 488185738 w 2257"/>
              <a:gd name="T5" fmla="*/ 20819891 h 1002"/>
              <a:gd name="T6" fmla="*/ 472767054 w 2257"/>
              <a:gd name="T7" fmla="*/ 42667950 h 1002"/>
              <a:gd name="T8" fmla="*/ 511767681 w 2257"/>
              <a:gd name="T9" fmla="*/ 78652811 h 1002"/>
              <a:gd name="T10" fmla="*/ 511767681 w 2257"/>
              <a:gd name="T11" fmla="*/ 257548903 h 1002"/>
              <a:gd name="T12" fmla="*/ 0 w 2257"/>
              <a:gd name="T13" fmla="*/ 257548903 h 1002"/>
              <a:gd name="T14" fmla="*/ 8162668 w 2257"/>
              <a:gd name="T15" fmla="*/ 0 h 1002"/>
              <a:gd name="T16" fmla="*/ 0 60000 65536"/>
              <a:gd name="T17" fmla="*/ 0 60000 65536"/>
              <a:gd name="T18" fmla="*/ 0 60000 65536"/>
              <a:gd name="T19" fmla="*/ 0 60000 65536"/>
              <a:gd name="T20" fmla="*/ 0 60000 65536"/>
              <a:gd name="T21" fmla="*/ 0 60000 65536"/>
              <a:gd name="T22" fmla="*/ 0 60000 65536"/>
              <a:gd name="T23" fmla="*/ 0 60000 65536"/>
              <a:gd name="T24" fmla="*/ 0 w 2257"/>
              <a:gd name="T25" fmla="*/ 0 h 1002"/>
              <a:gd name="T26" fmla="*/ 2257 w 2257"/>
              <a:gd name="T27" fmla="*/ 1002 h 10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7" h="1002">
                <a:moveTo>
                  <a:pt x="36" y="0"/>
                </a:moveTo>
                <a:lnTo>
                  <a:pt x="2050" y="0"/>
                </a:lnTo>
                <a:lnTo>
                  <a:pt x="2153" y="81"/>
                </a:lnTo>
                <a:lnTo>
                  <a:pt x="2085" y="166"/>
                </a:lnTo>
                <a:lnTo>
                  <a:pt x="2257" y="306"/>
                </a:lnTo>
                <a:lnTo>
                  <a:pt x="2257" y="1002"/>
                </a:lnTo>
                <a:lnTo>
                  <a:pt x="0" y="1002"/>
                </a:lnTo>
                <a:lnTo>
                  <a:pt x="36" y="0"/>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65" name="Freeform 57"/>
          <p:cNvSpPr>
            <a:spLocks noChangeAspect="1"/>
          </p:cNvSpPr>
          <p:nvPr/>
        </p:nvSpPr>
        <p:spPr bwMode="auto">
          <a:xfrm>
            <a:off x="3697288" y="4024313"/>
            <a:ext cx="1258887" cy="736600"/>
          </a:xfrm>
          <a:custGeom>
            <a:avLst/>
            <a:gdLst>
              <a:gd name="T0" fmla="*/ 63799180 w 2642"/>
              <a:gd name="T1" fmla="*/ 6939147 h 1453"/>
              <a:gd name="T2" fmla="*/ 576234822 w 2642"/>
              <a:gd name="T3" fmla="*/ 6939147 h 1453"/>
              <a:gd name="T4" fmla="*/ 584181246 w 2642"/>
              <a:gd name="T5" fmla="*/ 71702669 h 1453"/>
              <a:gd name="T6" fmla="*/ 591900860 w 2642"/>
              <a:gd name="T7" fmla="*/ 150858532 h 1453"/>
              <a:gd name="T8" fmla="*/ 599847283 w 2642"/>
              <a:gd name="T9" fmla="*/ 265737676 h 1453"/>
              <a:gd name="T10" fmla="*/ 591900860 w 2642"/>
              <a:gd name="T11" fmla="*/ 359542425 h 1453"/>
              <a:gd name="T12" fmla="*/ 599847283 w 2642"/>
              <a:gd name="T13" fmla="*/ 373420208 h 1453"/>
              <a:gd name="T14" fmla="*/ 576234822 w 2642"/>
              <a:gd name="T15" fmla="*/ 359542425 h 1453"/>
              <a:gd name="T16" fmla="*/ 552622361 w 2642"/>
              <a:gd name="T17" fmla="*/ 351575184 h 1453"/>
              <a:gd name="T18" fmla="*/ 520609382 w 2642"/>
              <a:gd name="T19" fmla="*/ 351575184 h 1453"/>
              <a:gd name="T20" fmla="*/ 473384340 w 2642"/>
              <a:gd name="T21" fmla="*/ 373420208 h 1453"/>
              <a:gd name="T22" fmla="*/ 465210631 w 2642"/>
              <a:gd name="T23" fmla="*/ 351575184 h 1453"/>
              <a:gd name="T24" fmla="*/ 426613513 w 2642"/>
              <a:gd name="T25" fmla="*/ 344636039 h 1453"/>
              <a:gd name="T26" fmla="*/ 411628856 w 2642"/>
              <a:gd name="T27" fmla="*/ 366224039 h 1453"/>
              <a:gd name="T28" fmla="*/ 372577167 w 2642"/>
              <a:gd name="T29" fmla="*/ 315595353 h 1453"/>
              <a:gd name="T30" fmla="*/ 340337378 w 2642"/>
              <a:gd name="T31" fmla="*/ 330244208 h 1453"/>
              <a:gd name="T32" fmla="*/ 331709574 w 2642"/>
              <a:gd name="T33" fmla="*/ 308399184 h 1453"/>
              <a:gd name="T34" fmla="*/ 253379862 w 2642"/>
              <a:gd name="T35" fmla="*/ 288096305 h 1453"/>
              <a:gd name="T36" fmla="*/ 205473976 w 2642"/>
              <a:gd name="T37" fmla="*/ 258541507 h 1453"/>
              <a:gd name="T38" fmla="*/ 190488842 w 2642"/>
              <a:gd name="T39" fmla="*/ 243635628 h 1453"/>
              <a:gd name="T40" fmla="*/ 198662552 w 2642"/>
              <a:gd name="T41" fmla="*/ 63992943 h 1453"/>
              <a:gd name="T42" fmla="*/ 0 w 2642"/>
              <a:gd name="T43" fmla="*/ 42404943 h 1453"/>
              <a:gd name="T44" fmla="*/ 0 w 2642"/>
              <a:gd name="T45" fmla="*/ 0 h 1453"/>
              <a:gd name="T46" fmla="*/ 63799180 w 2642"/>
              <a:gd name="T47" fmla="*/ 6939147 h 145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642"/>
              <a:gd name="T73" fmla="*/ 0 h 1453"/>
              <a:gd name="T74" fmla="*/ 2642 w 2642"/>
              <a:gd name="T75" fmla="*/ 1453 h 145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642" h="1453">
                <a:moveTo>
                  <a:pt x="281" y="27"/>
                </a:moveTo>
                <a:lnTo>
                  <a:pt x="2538" y="27"/>
                </a:lnTo>
                <a:lnTo>
                  <a:pt x="2573" y="279"/>
                </a:lnTo>
                <a:lnTo>
                  <a:pt x="2607" y="587"/>
                </a:lnTo>
                <a:lnTo>
                  <a:pt x="2642" y="1034"/>
                </a:lnTo>
                <a:lnTo>
                  <a:pt x="2607" y="1399"/>
                </a:lnTo>
                <a:lnTo>
                  <a:pt x="2642" y="1453"/>
                </a:lnTo>
                <a:lnTo>
                  <a:pt x="2538" y="1399"/>
                </a:lnTo>
                <a:lnTo>
                  <a:pt x="2434" y="1368"/>
                </a:lnTo>
                <a:lnTo>
                  <a:pt x="2293" y="1368"/>
                </a:lnTo>
                <a:lnTo>
                  <a:pt x="2085" y="1453"/>
                </a:lnTo>
                <a:lnTo>
                  <a:pt x="2049" y="1368"/>
                </a:lnTo>
                <a:lnTo>
                  <a:pt x="1879" y="1341"/>
                </a:lnTo>
                <a:lnTo>
                  <a:pt x="1813" y="1425"/>
                </a:lnTo>
                <a:lnTo>
                  <a:pt x="1641" y="1228"/>
                </a:lnTo>
                <a:lnTo>
                  <a:pt x="1499" y="1285"/>
                </a:lnTo>
                <a:lnTo>
                  <a:pt x="1461" y="1200"/>
                </a:lnTo>
                <a:lnTo>
                  <a:pt x="1116" y="1121"/>
                </a:lnTo>
                <a:lnTo>
                  <a:pt x="905" y="1006"/>
                </a:lnTo>
                <a:lnTo>
                  <a:pt x="839" y="948"/>
                </a:lnTo>
                <a:lnTo>
                  <a:pt x="875" y="249"/>
                </a:lnTo>
                <a:lnTo>
                  <a:pt x="0" y="165"/>
                </a:lnTo>
                <a:lnTo>
                  <a:pt x="0" y="0"/>
                </a:lnTo>
                <a:lnTo>
                  <a:pt x="281" y="27"/>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66" name="Freeform 58"/>
          <p:cNvSpPr>
            <a:spLocks noChangeAspect="1"/>
          </p:cNvSpPr>
          <p:nvPr/>
        </p:nvSpPr>
        <p:spPr bwMode="auto">
          <a:xfrm>
            <a:off x="3182938" y="4108450"/>
            <a:ext cx="1920875" cy="2087563"/>
          </a:xfrm>
          <a:custGeom>
            <a:avLst/>
            <a:gdLst>
              <a:gd name="T0" fmla="*/ 238637896 w 4035"/>
              <a:gd name="T1" fmla="*/ 0 h 4115"/>
              <a:gd name="T2" fmla="*/ 443055186 w 4035"/>
              <a:gd name="T3" fmla="*/ 21618323 h 4115"/>
              <a:gd name="T4" fmla="*/ 434896587 w 4035"/>
              <a:gd name="T5" fmla="*/ 201511942 h 4115"/>
              <a:gd name="T6" fmla="*/ 449854177 w 4035"/>
              <a:gd name="T7" fmla="*/ 216438898 h 4115"/>
              <a:gd name="T8" fmla="*/ 497672290 w 4035"/>
              <a:gd name="T9" fmla="*/ 246035099 h 4115"/>
              <a:gd name="T10" fmla="*/ 575858905 w 4035"/>
              <a:gd name="T11" fmla="*/ 266366444 h 4115"/>
              <a:gd name="T12" fmla="*/ 584470707 w 4035"/>
              <a:gd name="T13" fmla="*/ 288241963 h 4115"/>
              <a:gd name="T14" fmla="*/ 616651425 w 4035"/>
              <a:gd name="T15" fmla="*/ 273572718 h 4115"/>
              <a:gd name="T16" fmla="*/ 655631135 w 4035"/>
              <a:gd name="T17" fmla="*/ 324272320 h 4115"/>
              <a:gd name="T18" fmla="*/ 670588725 w 4035"/>
              <a:gd name="T19" fmla="*/ 302654004 h 4115"/>
              <a:gd name="T20" fmla="*/ 709115232 w 4035"/>
              <a:gd name="T21" fmla="*/ 309603075 h 4115"/>
              <a:gd name="T22" fmla="*/ 717273832 w 4035"/>
              <a:gd name="T23" fmla="*/ 331478594 h 4115"/>
              <a:gd name="T24" fmla="*/ 741976230 w 4035"/>
              <a:gd name="T25" fmla="*/ 317580961 h 4115"/>
              <a:gd name="T26" fmla="*/ 764412140 w 4035"/>
              <a:gd name="T27" fmla="*/ 309603075 h 4115"/>
              <a:gd name="T28" fmla="*/ 796366257 w 4035"/>
              <a:gd name="T29" fmla="*/ 309603075 h 4115"/>
              <a:gd name="T30" fmla="*/ 843504566 w 4035"/>
              <a:gd name="T31" fmla="*/ 331478594 h 4115"/>
              <a:gd name="T32" fmla="*/ 867753762 w 4035"/>
              <a:gd name="T33" fmla="*/ 331478594 h 4115"/>
              <a:gd name="T34" fmla="*/ 867753762 w 4035"/>
              <a:gd name="T35" fmla="*/ 381406076 h 4115"/>
              <a:gd name="T36" fmla="*/ 882937954 w 4035"/>
              <a:gd name="T37" fmla="*/ 468650949 h 4115"/>
              <a:gd name="T38" fmla="*/ 899481278 w 4035"/>
              <a:gd name="T39" fmla="*/ 504680798 h 4115"/>
              <a:gd name="T40" fmla="*/ 914438868 w 4035"/>
              <a:gd name="T41" fmla="*/ 554608915 h 4115"/>
              <a:gd name="T42" fmla="*/ 891096553 w 4035"/>
              <a:gd name="T43" fmla="*/ 669648040 h 4115"/>
              <a:gd name="T44" fmla="*/ 851663165 w 4035"/>
              <a:gd name="T45" fmla="*/ 691523559 h 4115"/>
              <a:gd name="T46" fmla="*/ 819935649 w 4035"/>
              <a:gd name="T47" fmla="*/ 684574996 h 4115"/>
              <a:gd name="T48" fmla="*/ 803845052 w 4035"/>
              <a:gd name="T49" fmla="*/ 734502478 h 4115"/>
              <a:gd name="T50" fmla="*/ 741976230 w 4035"/>
              <a:gd name="T51" fmla="*/ 741708753 h 4115"/>
              <a:gd name="T52" fmla="*/ 647472536 w 4035"/>
              <a:gd name="T53" fmla="*/ 842850752 h 4115"/>
              <a:gd name="T54" fmla="*/ 639541014 w 4035"/>
              <a:gd name="T55" fmla="*/ 993920233 h 4115"/>
              <a:gd name="T56" fmla="*/ 662430126 w 4035"/>
              <a:gd name="T57" fmla="*/ 1059032383 h 4115"/>
              <a:gd name="T58" fmla="*/ 513763006 w 4035"/>
              <a:gd name="T59" fmla="*/ 1022744315 h 4115"/>
              <a:gd name="T60" fmla="*/ 482261973 w 4035"/>
              <a:gd name="T61" fmla="*/ 964581236 h 4115"/>
              <a:gd name="T62" fmla="*/ 482261973 w 4035"/>
              <a:gd name="T63" fmla="*/ 892263826 h 4115"/>
              <a:gd name="T64" fmla="*/ 347872164 w 4035"/>
              <a:gd name="T65" fmla="*/ 656008118 h 4115"/>
              <a:gd name="T66" fmla="*/ 252915742 w 4035"/>
              <a:gd name="T67" fmla="*/ 656008118 h 4115"/>
              <a:gd name="T68" fmla="*/ 213255693 w 4035"/>
              <a:gd name="T69" fmla="*/ 734502478 h 4115"/>
              <a:gd name="T70" fmla="*/ 126004668 w 4035"/>
              <a:gd name="T71" fmla="*/ 662442273 h 4115"/>
              <a:gd name="T72" fmla="*/ 118525843 w 4035"/>
              <a:gd name="T73" fmla="*/ 569793075 h 4115"/>
              <a:gd name="T74" fmla="*/ 55750125 w 4035"/>
              <a:gd name="T75" fmla="*/ 547917556 h 4115"/>
              <a:gd name="T76" fmla="*/ 0 w 4035"/>
              <a:gd name="T77" fmla="*/ 453466282 h 4115"/>
              <a:gd name="T78" fmla="*/ 221640894 w 4035"/>
              <a:gd name="T79" fmla="*/ 468650949 h 4115"/>
              <a:gd name="T80" fmla="*/ 238637896 w 4035"/>
              <a:gd name="T81" fmla="*/ 0 h 411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035"/>
              <a:gd name="T124" fmla="*/ 0 h 4115"/>
              <a:gd name="T125" fmla="*/ 4035 w 4035"/>
              <a:gd name="T126" fmla="*/ 4115 h 411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035" h="4115">
                <a:moveTo>
                  <a:pt x="1053" y="0"/>
                </a:moveTo>
                <a:lnTo>
                  <a:pt x="1955" y="84"/>
                </a:lnTo>
                <a:lnTo>
                  <a:pt x="1919" y="783"/>
                </a:lnTo>
                <a:lnTo>
                  <a:pt x="1985" y="841"/>
                </a:lnTo>
                <a:lnTo>
                  <a:pt x="2196" y="956"/>
                </a:lnTo>
                <a:lnTo>
                  <a:pt x="2541" y="1035"/>
                </a:lnTo>
                <a:lnTo>
                  <a:pt x="2579" y="1120"/>
                </a:lnTo>
                <a:lnTo>
                  <a:pt x="2721" y="1063"/>
                </a:lnTo>
                <a:lnTo>
                  <a:pt x="2893" y="1260"/>
                </a:lnTo>
                <a:lnTo>
                  <a:pt x="2959" y="1176"/>
                </a:lnTo>
                <a:lnTo>
                  <a:pt x="3129" y="1203"/>
                </a:lnTo>
                <a:lnTo>
                  <a:pt x="3165" y="1288"/>
                </a:lnTo>
                <a:lnTo>
                  <a:pt x="3274" y="1234"/>
                </a:lnTo>
                <a:lnTo>
                  <a:pt x="3373" y="1203"/>
                </a:lnTo>
                <a:lnTo>
                  <a:pt x="3514" y="1203"/>
                </a:lnTo>
                <a:lnTo>
                  <a:pt x="3722" y="1288"/>
                </a:lnTo>
                <a:lnTo>
                  <a:pt x="3829" y="1288"/>
                </a:lnTo>
                <a:lnTo>
                  <a:pt x="3829" y="1482"/>
                </a:lnTo>
                <a:lnTo>
                  <a:pt x="3896" y="1821"/>
                </a:lnTo>
                <a:lnTo>
                  <a:pt x="3969" y="1961"/>
                </a:lnTo>
                <a:lnTo>
                  <a:pt x="4035" y="2155"/>
                </a:lnTo>
                <a:lnTo>
                  <a:pt x="3932" y="2602"/>
                </a:lnTo>
                <a:lnTo>
                  <a:pt x="3758" y="2687"/>
                </a:lnTo>
                <a:lnTo>
                  <a:pt x="3618" y="2660"/>
                </a:lnTo>
                <a:lnTo>
                  <a:pt x="3547" y="2854"/>
                </a:lnTo>
                <a:lnTo>
                  <a:pt x="3274" y="2882"/>
                </a:lnTo>
                <a:lnTo>
                  <a:pt x="2857" y="3275"/>
                </a:lnTo>
                <a:lnTo>
                  <a:pt x="2822" y="3862"/>
                </a:lnTo>
                <a:lnTo>
                  <a:pt x="2923" y="4115"/>
                </a:lnTo>
                <a:lnTo>
                  <a:pt x="2267" y="3974"/>
                </a:lnTo>
                <a:lnTo>
                  <a:pt x="2128" y="3748"/>
                </a:lnTo>
                <a:lnTo>
                  <a:pt x="2128" y="3467"/>
                </a:lnTo>
                <a:lnTo>
                  <a:pt x="1535" y="2549"/>
                </a:lnTo>
                <a:lnTo>
                  <a:pt x="1116" y="2549"/>
                </a:lnTo>
                <a:lnTo>
                  <a:pt x="941" y="2854"/>
                </a:lnTo>
                <a:lnTo>
                  <a:pt x="556" y="2574"/>
                </a:lnTo>
                <a:lnTo>
                  <a:pt x="523" y="2214"/>
                </a:lnTo>
                <a:lnTo>
                  <a:pt x="246" y="2129"/>
                </a:lnTo>
                <a:lnTo>
                  <a:pt x="0" y="1762"/>
                </a:lnTo>
                <a:lnTo>
                  <a:pt x="978" y="1821"/>
                </a:lnTo>
                <a:lnTo>
                  <a:pt x="1053" y="0"/>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67" name="Freeform 59"/>
          <p:cNvSpPr>
            <a:spLocks noChangeAspect="1"/>
          </p:cNvSpPr>
          <p:nvPr/>
        </p:nvSpPr>
        <p:spPr bwMode="auto">
          <a:xfrm>
            <a:off x="4492625" y="1773238"/>
            <a:ext cx="862013" cy="1090612"/>
          </a:xfrm>
          <a:custGeom>
            <a:avLst/>
            <a:gdLst>
              <a:gd name="T0" fmla="*/ 291551516 w 1809"/>
              <a:gd name="T1" fmla="*/ 251676287 h 2151"/>
              <a:gd name="T2" fmla="*/ 291551516 w 1809"/>
              <a:gd name="T3" fmla="*/ 309775370 h 2151"/>
              <a:gd name="T4" fmla="*/ 259989650 w 1809"/>
              <a:gd name="T5" fmla="*/ 345765550 h 2151"/>
              <a:gd name="T6" fmla="*/ 276565646 w 1809"/>
              <a:gd name="T7" fmla="*/ 351935541 h 2151"/>
              <a:gd name="T8" fmla="*/ 268164238 w 1809"/>
              <a:gd name="T9" fmla="*/ 424430531 h 2151"/>
              <a:gd name="T10" fmla="*/ 316074803 w 1809"/>
              <a:gd name="T11" fmla="*/ 481501303 h 2151"/>
              <a:gd name="T12" fmla="*/ 354903022 w 1809"/>
              <a:gd name="T13" fmla="*/ 496668459 h 2151"/>
              <a:gd name="T14" fmla="*/ 363304430 w 1809"/>
              <a:gd name="T15" fmla="*/ 532145149 h 2151"/>
              <a:gd name="T16" fmla="*/ 54949636 w 1809"/>
              <a:gd name="T17" fmla="*/ 552968173 h 2151"/>
              <a:gd name="T18" fmla="*/ 54949636 w 1809"/>
              <a:gd name="T19" fmla="*/ 395638083 h 2151"/>
              <a:gd name="T20" fmla="*/ 39055054 w 1809"/>
              <a:gd name="T21" fmla="*/ 381499175 h 2151"/>
              <a:gd name="T22" fmla="*/ 47229642 w 1809"/>
              <a:gd name="T23" fmla="*/ 351935541 h 2151"/>
              <a:gd name="T24" fmla="*/ 39055054 w 1809"/>
              <a:gd name="T25" fmla="*/ 330084270 h 2151"/>
              <a:gd name="T26" fmla="*/ 39055054 w 1809"/>
              <a:gd name="T27" fmla="*/ 251676287 h 2151"/>
              <a:gd name="T28" fmla="*/ 32243295 w 1809"/>
              <a:gd name="T29" fmla="*/ 222369716 h 2151"/>
              <a:gd name="T30" fmla="*/ 32243295 w 1809"/>
              <a:gd name="T31" fmla="*/ 202060816 h 2151"/>
              <a:gd name="T32" fmla="*/ 32243295 w 1809"/>
              <a:gd name="T33" fmla="*/ 179438359 h 2151"/>
              <a:gd name="T34" fmla="*/ 16121409 w 1809"/>
              <a:gd name="T35" fmla="*/ 114655193 h 2151"/>
              <a:gd name="T36" fmla="*/ 16121409 w 1809"/>
              <a:gd name="T37" fmla="*/ 86634437 h 2151"/>
              <a:gd name="T38" fmla="*/ 0 w 1809"/>
              <a:gd name="T39" fmla="*/ 50386673 h 2151"/>
              <a:gd name="T40" fmla="*/ 118755273 w 1809"/>
              <a:gd name="T41" fmla="*/ 35476579 h 2151"/>
              <a:gd name="T42" fmla="*/ 141234347 w 1809"/>
              <a:gd name="T43" fmla="*/ 0 h 2151"/>
              <a:gd name="T44" fmla="*/ 157810343 w 1809"/>
              <a:gd name="T45" fmla="*/ 57841974 h 2151"/>
              <a:gd name="T46" fmla="*/ 244776423 w 1809"/>
              <a:gd name="T47" fmla="*/ 78922075 h 2151"/>
              <a:gd name="T48" fmla="*/ 276565646 w 1809"/>
              <a:gd name="T49" fmla="*/ 122881679 h 2151"/>
              <a:gd name="T50" fmla="*/ 347409848 w 1809"/>
              <a:gd name="T51" fmla="*/ 107457461 h 2151"/>
              <a:gd name="T52" fmla="*/ 363304430 w 1809"/>
              <a:gd name="T53" fmla="*/ 122881679 h 2151"/>
              <a:gd name="T54" fmla="*/ 410760877 w 1809"/>
              <a:gd name="T55" fmla="*/ 114655193 h 2151"/>
              <a:gd name="T56" fmla="*/ 299498807 w 1809"/>
              <a:gd name="T57" fmla="*/ 244735110 h 2151"/>
              <a:gd name="T58" fmla="*/ 291551516 w 1809"/>
              <a:gd name="T59" fmla="*/ 251676287 h 215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809"/>
              <a:gd name="T91" fmla="*/ 0 h 2151"/>
              <a:gd name="T92" fmla="*/ 1809 w 1809"/>
              <a:gd name="T93" fmla="*/ 2151 h 215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809" h="2151">
                <a:moveTo>
                  <a:pt x="1284" y="979"/>
                </a:moveTo>
                <a:lnTo>
                  <a:pt x="1284" y="1205"/>
                </a:lnTo>
                <a:lnTo>
                  <a:pt x="1145" y="1345"/>
                </a:lnTo>
                <a:lnTo>
                  <a:pt x="1218" y="1369"/>
                </a:lnTo>
                <a:lnTo>
                  <a:pt x="1181" y="1651"/>
                </a:lnTo>
                <a:lnTo>
                  <a:pt x="1392" y="1873"/>
                </a:lnTo>
                <a:lnTo>
                  <a:pt x="1563" y="1932"/>
                </a:lnTo>
                <a:lnTo>
                  <a:pt x="1600" y="2070"/>
                </a:lnTo>
                <a:lnTo>
                  <a:pt x="242" y="2151"/>
                </a:lnTo>
                <a:lnTo>
                  <a:pt x="242" y="1539"/>
                </a:lnTo>
                <a:lnTo>
                  <a:pt x="172" y="1484"/>
                </a:lnTo>
                <a:lnTo>
                  <a:pt x="208" y="1369"/>
                </a:lnTo>
                <a:lnTo>
                  <a:pt x="172" y="1284"/>
                </a:lnTo>
                <a:lnTo>
                  <a:pt x="172" y="979"/>
                </a:lnTo>
                <a:lnTo>
                  <a:pt x="142" y="865"/>
                </a:lnTo>
                <a:lnTo>
                  <a:pt x="142" y="786"/>
                </a:lnTo>
                <a:lnTo>
                  <a:pt x="142" y="698"/>
                </a:lnTo>
                <a:lnTo>
                  <a:pt x="71" y="446"/>
                </a:lnTo>
                <a:lnTo>
                  <a:pt x="71" y="337"/>
                </a:lnTo>
                <a:lnTo>
                  <a:pt x="0" y="196"/>
                </a:lnTo>
                <a:lnTo>
                  <a:pt x="523" y="138"/>
                </a:lnTo>
                <a:lnTo>
                  <a:pt x="622" y="0"/>
                </a:lnTo>
                <a:lnTo>
                  <a:pt x="695" y="225"/>
                </a:lnTo>
                <a:lnTo>
                  <a:pt x="1078" y="307"/>
                </a:lnTo>
                <a:lnTo>
                  <a:pt x="1218" y="478"/>
                </a:lnTo>
                <a:lnTo>
                  <a:pt x="1530" y="418"/>
                </a:lnTo>
                <a:lnTo>
                  <a:pt x="1600" y="478"/>
                </a:lnTo>
                <a:lnTo>
                  <a:pt x="1809" y="446"/>
                </a:lnTo>
                <a:lnTo>
                  <a:pt x="1319" y="952"/>
                </a:lnTo>
                <a:lnTo>
                  <a:pt x="1284" y="979"/>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68" name="Freeform 60"/>
          <p:cNvSpPr>
            <a:spLocks noChangeAspect="1"/>
          </p:cNvSpPr>
          <p:nvPr/>
        </p:nvSpPr>
        <p:spPr bwMode="auto">
          <a:xfrm>
            <a:off x="4592638" y="2822575"/>
            <a:ext cx="827087" cy="650875"/>
          </a:xfrm>
          <a:custGeom>
            <a:avLst/>
            <a:gdLst>
              <a:gd name="T0" fmla="*/ 346094315 w 1739"/>
              <a:gd name="T1" fmla="*/ 78897591 h 1286"/>
              <a:gd name="T2" fmla="*/ 362155208 w 1739"/>
              <a:gd name="T3" fmla="*/ 78897591 h 1286"/>
              <a:gd name="T4" fmla="*/ 369393526 w 1739"/>
              <a:gd name="T5" fmla="*/ 100927627 h 1286"/>
              <a:gd name="T6" fmla="*/ 377536930 w 1739"/>
              <a:gd name="T7" fmla="*/ 128848939 h 1286"/>
              <a:gd name="T8" fmla="*/ 393371432 w 1739"/>
              <a:gd name="T9" fmla="*/ 143450126 h 1286"/>
              <a:gd name="T10" fmla="*/ 369393526 w 1739"/>
              <a:gd name="T11" fmla="*/ 207746530 h 1286"/>
              <a:gd name="T12" fmla="*/ 346094315 w 1739"/>
              <a:gd name="T13" fmla="*/ 228751665 h 1286"/>
              <a:gd name="T14" fmla="*/ 354237719 w 1739"/>
              <a:gd name="T15" fmla="*/ 250525602 h 1286"/>
              <a:gd name="T16" fmla="*/ 330486203 w 1739"/>
              <a:gd name="T17" fmla="*/ 286644153 h 1286"/>
              <a:gd name="T18" fmla="*/ 323021496 w 1739"/>
              <a:gd name="T19" fmla="*/ 322763147 h 1286"/>
              <a:gd name="T20" fmla="*/ 306508773 w 1739"/>
              <a:gd name="T21" fmla="*/ 307137091 h 1286"/>
              <a:gd name="T22" fmla="*/ 71254577 w 1739"/>
              <a:gd name="T23" fmla="*/ 329423225 h 1286"/>
              <a:gd name="T24" fmla="*/ 71254577 w 1739"/>
              <a:gd name="T25" fmla="*/ 307137091 h 1286"/>
              <a:gd name="T26" fmla="*/ 62885258 w 1739"/>
              <a:gd name="T27" fmla="*/ 264358462 h 1286"/>
              <a:gd name="T28" fmla="*/ 62885258 w 1739"/>
              <a:gd name="T29" fmla="*/ 228751665 h 1286"/>
              <a:gd name="T30" fmla="*/ 38455031 w 1739"/>
              <a:gd name="T31" fmla="*/ 179825218 h 1286"/>
              <a:gd name="T32" fmla="*/ 24430220 w 1739"/>
              <a:gd name="T33" fmla="*/ 114759980 h 1286"/>
              <a:gd name="T34" fmla="*/ 0 w 1739"/>
              <a:gd name="T35" fmla="*/ 78897591 h 1286"/>
              <a:gd name="T36" fmla="*/ 15834510 w 1739"/>
              <a:gd name="T37" fmla="*/ 57124145 h 1286"/>
              <a:gd name="T38" fmla="*/ 7691100 w 1739"/>
              <a:gd name="T39" fmla="*/ 20749045 h 1286"/>
              <a:gd name="T40" fmla="*/ 314878092 w 1739"/>
              <a:gd name="T41" fmla="*/ 0 h 1286"/>
              <a:gd name="T42" fmla="*/ 337950911 w 1739"/>
              <a:gd name="T43" fmla="*/ 20749045 h 1286"/>
              <a:gd name="T44" fmla="*/ 330486203 w 1739"/>
              <a:gd name="T45" fmla="*/ 43291285 h 1286"/>
              <a:gd name="T46" fmla="*/ 346094315 w 1739"/>
              <a:gd name="T47" fmla="*/ 78897591 h 128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739"/>
              <a:gd name="T73" fmla="*/ 0 h 1286"/>
              <a:gd name="T74" fmla="*/ 1739 w 1739"/>
              <a:gd name="T75" fmla="*/ 1286 h 128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739" h="1286">
                <a:moveTo>
                  <a:pt x="1530" y="308"/>
                </a:moveTo>
                <a:lnTo>
                  <a:pt x="1601" y="308"/>
                </a:lnTo>
                <a:lnTo>
                  <a:pt x="1633" y="394"/>
                </a:lnTo>
                <a:lnTo>
                  <a:pt x="1669" y="503"/>
                </a:lnTo>
                <a:lnTo>
                  <a:pt x="1739" y="560"/>
                </a:lnTo>
                <a:lnTo>
                  <a:pt x="1633" y="811"/>
                </a:lnTo>
                <a:lnTo>
                  <a:pt x="1530" y="893"/>
                </a:lnTo>
                <a:lnTo>
                  <a:pt x="1566" y="978"/>
                </a:lnTo>
                <a:lnTo>
                  <a:pt x="1461" y="1119"/>
                </a:lnTo>
                <a:lnTo>
                  <a:pt x="1428" y="1260"/>
                </a:lnTo>
                <a:lnTo>
                  <a:pt x="1355" y="1199"/>
                </a:lnTo>
                <a:lnTo>
                  <a:pt x="315" y="1286"/>
                </a:lnTo>
                <a:lnTo>
                  <a:pt x="315" y="1199"/>
                </a:lnTo>
                <a:lnTo>
                  <a:pt x="278" y="1032"/>
                </a:lnTo>
                <a:lnTo>
                  <a:pt x="278" y="893"/>
                </a:lnTo>
                <a:lnTo>
                  <a:pt x="170" y="702"/>
                </a:lnTo>
                <a:lnTo>
                  <a:pt x="108" y="448"/>
                </a:lnTo>
                <a:lnTo>
                  <a:pt x="0" y="308"/>
                </a:lnTo>
                <a:lnTo>
                  <a:pt x="70" y="223"/>
                </a:lnTo>
                <a:lnTo>
                  <a:pt x="34" y="81"/>
                </a:lnTo>
                <a:lnTo>
                  <a:pt x="1392" y="0"/>
                </a:lnTo>
                <a:lnTo>
                  <a:pt x="1494" y="81"/>
                </a:lnTo>
                <a:lnTo>
                  <a:pt x="1461" y="169"/>
                </a:lnTo>
                <a:lnTo>
                  <a:pt x="1530" y="308"/>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69" name="Freeform 61"/>
          <p:cNvSpPr>
            <a:spLocks noChangeAspect="1"/>
          </p:cNvSpPr>
          <p:nvPr/>
        </p:nvSpPr>
        <p:spPr bwMode="auto">
          <a:xfrm>
            <a:off x="4743450" y="3429000"/>
            <a:ext cx="925513" cy="765175"/>
          </a:xfrm>
          <a:custGeom>
            <a:avLst/>
            <a:gdLst>
              <a:gd name="T0" fmla="*/ 353176647 w 1947"/>
              <a:gd name="T1" fmla="*/ 345003621 h 1508"/>
              <a:gd name="T2" fmla="*/ 85639195 w 1947"/>
              <a:gd name="T3" fmla="*/ 374354771 h 1508"/>
              <a:gd name="T4" fmla="*/ 77730743 w 1947"/>
              <a:gd name="T5" fmla="*/ 309473229 h 1508"/>
              <a:gd name="T6" fmla="*/ 77730743 w 1947"/>
              <a:gd name="T7" fmla="*/ 130277630 h 1508"/>
              <a:gd name="T8" fmla="*/ 38865372 w 1947"/>
              <a:gd name="T9" fmla="*/ 94232216 h 1508"/>
              <a:gd name="T10" fmla="*/ 54230690 w 1947"/>
              <a:gd name="T11" fmla="*/ 72347609 h 1508"/>
              <a:gd name="T12" fmla="*/ 0 w 1947"/>
              <a:gd name="T13" fmla="*/ 22399636 h 1508"/>
              <a:gd name="T14" fmla="*/ 234999492 w 1947"/>
              <a:gd name="T15" fmla="*/ 0 h 1508"/>
              <a:gd name="T16" fmla="*/ 251494309 w 1947"/>
              <a:gd name="T17" fmla="*/ 15705368 h 1508"/>
              <a:gd name="T18" fmla="*/ 258951176 w 1947"/>
              <a:gd name="T19" fmla="*/ 58187294 h 1508"/>
              <a:gd name="T20" fmla="*/ 305951253 w 1947"/>
              <a:gd name="T21" fmla="*/ 130277630 h 1508"/>
              <a:gd name="T22" fmla="*/ 330354937 w 1947"/>
              <a:gd name="T23" fmla="*/ 130277630 h 1508"/>
              <a:gd name="T24" fmla="*/ 345268195 w 1947"/>
              <a:gd name="T25" fmla="*/ 137486440 h 1508"/>
              <a:gd name="T26" fmla="*/ 336907682 w 1947"/>
              <a:gd name="T27" fmla="*/ 173531853 h 1508"/>
              <a:gd name="T28" fmla="*/ 369671880 w 1947"/>
              <a:gd name="T29" fmla="*/ 216528281 h 1508"/>
              <a:gd name="T30" fmla="*/ 400854577 w 1947"/>
              <a:gd name="T31" fmla="*/ 231204110 h 1508"/>
              <a:gd name="T32" fmla="*/ 392494064 w 1947"/>
              <a:gd name="T33" fmla="*/ 266476801 h 1508"/>
              <a:gd name="T34" fmla="*/ 400854577 w 1947"/>
              <a:gd name="T35" fmla="*/ 287589129 h 1508"/>
              <a:gd name="T36" fmla="*/ 423902555 w 1947"/>
              <a:gd name="T37" fmla="*/ 287589129 h 1508"/>
              <a:gd name="T38" fmla="*/ 432263067 w 1947"/>
              <a:gd name="T39" fmla="*/ 273171065 h 1508"/>
              <a:gd name="T40" fmla="*/ 439945727 w 1947"/>
              <a:gd name="T41" fmla="*/ 309473229 h 1508"/>
              <a:gd name="T42" fmla="*/ 423902555 w 1947"/>
              <a:gd name="T43" fmla="*/ 338567121 h 1508"/>
              <a:gd name="T44" fmla="*/ 392494064 w 1947"/>
              <a:gd name="T45" fmla="*/ 388257813 h 1508"/>
              <a:gd name="T46" fmla="*/ 353176647 w 1947"/>
              <a:gd name="T47" fmla="*/ 381306292 h 1508"/>
              <a:gd name="T48" fmla="*/ 369671880 w 1947"/>
              <a:gd name="T49" fmla="*/ 366630971 h 1508"/>
              <a:gd name="T50" fmla="*/ 353176647 w 1947"/>
              <a:gd name="T51" fmla="*/ 345003621 h 150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7"/>
              <a:gd name="T79" fmla="*/ 0 h 1508"/>
              <a:gd name="T80" fmla="*/ 1947 w 1947"/>
              <a:gd name="T81" fmla="*/ 1508 h 150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7" h="1508">
                <a:moveTo>
                  <a:pt x="1563" y="1340"/>
                </a:moveTo>
                <a:lnTo>
                  <a:pt x="379" y="1454"/>
                </a:lnTo>
                <a:lnTo>
                  <a:pt x="344" y="1202"/>
                </a:lnTo>
                <a:lnTo>
                  <a:pt x="344" y="506"/>
                </a:lnTo>
                <a:lnTo>
                  <a:pt x="172" y="366"/>
                </a:lnTo>
                <a:lnTo>
                  <a:pt x="240" y="281"/>
                </a:lnTo>
                <a:lnTo>
                  <a:pt x="0" y="87"/>
                </a:lnTo>
                <a:lnTo>
                  <a:pt x="1040" y="0"/>
                </a:lnTo>
                <a:lnTo>
                  <a:pt x="1113" y="61"/>
                </a:lnTo>
                <a:lnTo>
                  <a:pt x="1146" y="226"/>
                </a:lnTo>
                <a:lnTo>
                  <a:pt x="1354" y="506"/>
                </a:lnTo>
                <a:lnTo>
                  <a:pt x="1462" y="506"/>
                </a:lnTo>
                <a:lnTo>
                  <a:pt x="1528" y="534"/>
                </a:lnTo>
                <a:lnTo>
                  <a:pt x="1491" y="674"/>
                </a:lnTo>
                <a:lnTo>
                  <a:pt x="1636" y="841"/>
                </a:lnTo>
                <a:lnTo>
                  <a:pt x="1774" y="898"/>
                </a:lnTo>
                <a:lnTo>
                  <a:pt x="1737" y="1035"/>
                </a:lnTo>
                <a:lnTo>
                  <a:pt x="1774" y="1117"/>
                </a:lnTo>
                <a:lnTo>
                  <a:pt x="1876" y="1117"/>
                </a:lnTo>
                <a:lnTo>
                  <a:pt x="1913" y="1061"/>
                </a:lnTo>
                <a:lnTo>
                  <a:pt x="1947" y="1202"/>
                </a:lnTo>
                <a:lnTo>
                  <a:pt x="1876" y="1315"/>
                </a:lnTo>
                <a:lnTo>
                  <a:pt x="1737" y="1508"/>
                </a:lnTo>
                <a:lnTo>
                  <a:pt x="1563" y="1481"/>
                </a:lnTo>
                <a:lnTo>
                  <a:pt x="1636" y="1424"/>
                </a:lnTo>
                <a:lnTo>
                  <a:pt x="1563" y="1340"/>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70" name="Freeform 62"/>
          <p:cNvSpPr>
            <a:spLocks noChangeAspect="1"/>
          </p:cNvSpPr>
          <p:nvPr/>
        </p:nvSpPr>
        <p:spPr bwMode="auto">
          <a:xfrm>
            <a:off x="4924425" y="4108450"/>
            <a:ext cx="646113" cy="750888"/>
          </a:xfrm>
          <a:custGeom>
            <a:avLst/>
            <a:gdLst>
              <a:gd name="T0" fmla="*/ 268021302 w 1358"/>
              <a:gd name="T1" fmla="*/ 36197163 h 1482"/>
              <a:gd name="T2" fmla="*/ 307409440 w 1358"/>
              <a:gd name="T3" fmla="*/ 43128434 h 1482"/>
              <a:gd name="T4" fmla="*/ 292468915 w 1358"/>
              <a:gd name="T5" fmla="*/ 115008979 h 1482"/>
              <a:gd name="T6" fmla="*/ 292468915 w 1358"/>
              <a:gd name="T7" fmla="*/ 151206158 h 1482"/>
              <a:gd name="T8" fmla="*/ 268021302 w 1358"/>
              <a:gd name="T9" fmla="*/ 186889540 h 1482"/>
              <a:gd name="T10" fmla="*/ 245157986 w 1358"/>
              <a:gd name="T11" fmla="*/ 245420784 h 1482"/>
              <a:gd name="T12" fmla="*/ 229312047 w 1358"/>
              <a:gd name="T13" fmla="*/ 287522749 h 1482"/>
              <a:gd name="T14" fmla="*/ 236555837 w 1358"/>
              <a:gd name="T15" fmla="*/ 337838815 h 1482"/>
              <a:gd name="T16" fmla="*/ 229312047 w 1358"/>
              <a:gd name="T17" fmla="*/ 366591432 h 1482"/>
              <a:gd name="T18" fmla="*/ 39841098 w 1358"/>
              <a:gd name="T19" fmla="*/ 380453975 h 1482"/>
              <a:gd name="T20" fmla="*/ 39841098 w 1358"/>
              <a:gd name="T21" fmla="*/ 330651167 h 1482"/>
              <a:gd name="T22" fmla="*/ 15619474 w 1358"/>
              <a:gd name="T23" fmla="*/ 330651167 h 1482"/>
              <a:gd name="T24" fmla="*/ 7696737 w 1358"/>
              <a:gd name="T25" fmla="*/ 316788117 h 1482"/>
              <a:gd name="T26" fmla="*/ 15619474 w 1358"/>
              <a:gd name="T27" fmla="*/ 223086687 h 1482"/>
              <a:gd name="T28" fmla="*/ 7696737 w 1358"/>
              <a:gd name="T29" fmla="*/ 108334590 h 1482"/>
              <a:gd name="T30" fmla="*/ 0 w 1358"/>
              <a:gd name="T31" fmla="*/ 29265883 h 1482"/>
              <a:gd name="T32" fmla="*/ 268021302 w 1358"/>
              <a:gd name="T33" fmla="*/ 0 h 1482"/>
              <a:gd name="T34" fmla="*/ 284546184 w 1358"/>
              <a:gd name="T35" fmla="*/ 21563964 h 1482"/>
              <a:gd name="T36" fmla="*/ 268021302 w 1358"/>
              <a:gd name="T37" fmla="*/ 36197163 h 14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58"/>
              <a:gd name="T58" fmla="*/ 0 h 1482"/>
              <a:gd name="T59" fmla="*/ 1358 w 1358"/>
              <a:gd name="T60" fmla="*/ 1482 h 14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58" h="1482">
                <a:moveTo>
                  <a:pt x="1184" y="141"/>
                </a:moveTo>
                <a:lnTo>
                  <a:pt x="1358" y="168"/>
                </a:lnTo>
                <a:lnTo>
                  <a:pt x="1292" y="448"/>
                </a:lnTo>
                <a:lnTo>
                  <a:pt x="1292" y="589"/>
                </a:lnTo>
                <a:lnTo>
                  <a:pt x="1184" y="728"/>
                </a:lnTo>
                <a:lnTo>
                  <a:pt x="1083" y="956"/>
                </a:lnTo>
                <a:lnTo>
                  <a:pt x="1013" y="1120"/>
                </a:lnTo>
                <a:lnTo>
                  <a:pt x="1045" y="1316"/>
                </a:lnTo>
                <a:lnTo>
                  <a:pt x="1013" y="1428"/>
                </a:lnTo>
                <a:lnTo>
                  <a:pt x="176" y="1482"/>
                </a:lnTo>
                <a:lnTo>
                  <a:pt x="176" y="1288"/>
                </a:lnTo>
                <a:lnTo>
                  <a:pt x="69" y="1288"/>
                </a:lnTo>
                <a:lnTo>
                  <a:pt x="34" y="1234"/>
                </a:lnTo>
                <a:lnTo>
                  <a:pt x="69" y="869"/>
                </a:lnTo>
                <a:lnTo>
                  <a:pt x="34" y="422"/>
                </a:lnTo>
                <a:lnTo>
                  <a:pt x="0" y="114"/>
                </a:lnTo>
                <a:lnTo>
                  <a:pt x="1184" y="0"/>
                </a:lnTo>
                <a:lnTo>
                  <a:pt x="1257" y="84"/>
                </a:lnTo>
                <a:lnTo>
                  <a:pt x="1184" y="141"/>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71" name="Freeform 63"/>
          <p:cNvSpPr>
            <a:spLocks noChangeAspect="1"/>
          </p:cNvSpPr>
          <p:nvPr/>
        </p:nvSpPr>
        <p:spPr bwMode="auto">
          <a:xfrm>
            <a:off x="5006975" y="4830763"/>
            <a:ext cx="762000" cy="657225"/>
          </a:xfrm>
          <a:custGeom>
            <a:avLst/>
            <a:gdLst>
              <a:gd name="T0" fmla="*/ 189606163 w 1601"/>
              <a:gd name="T1" fmla="*/ 0 h 1288"/>
              <a:gd name="T2" fmla="*/ 212033039 w 1601"/>
              <a:gd name="T3" fmla="*/ 58844593 h 1288"/>
              <a:gd name="T4" fmla="*/ 180998088 w 1601"/>
              <a:gd name="T5" fmla="*/ 123677177 h 1288"/>
              <a:gd name="T6" fmla="*/ 172843120 w 1601"/>
              <a:gd name="T7" fmla="*/ 174970846 h 1288"/>
              <a:gd name="T8" fmla="*/ 307629087 w 1601"/>
              <a:gd name="T9" fmla="*/ 168201125 h 1288"/>
              <a:gd name="T10" fmla="*/ 307629087 w 1601"/>
              <a:gd name="T11" fmla="*/ 196581702 h 1288"/>
              <a:gd name="T12" fmla="*/ 331188254 w 1601"/>
              <a:gd name="T13" fmla="*/ 225483262 h 1288"/>
              <a:gd name="T14" fmla="*/ 284295997 w 1601"/>
              <a:gd name="T15" fmla="*/ 233034203 h 1288"/>
              <a:gd name="T16" fmla="*/ 276141029 w 1601"/>
              <a:gd name="T17" fmla="*/ 241105617 h 1288"/>
              <a:gd name="T18" fmla="*/ 323259363 w 1601"/>
              <a:gd name="T19" fmla="*/ 277558182 h 1288"/>
              <a:gd name="T20" fmla="*/ 362675836 w 1601"/>
              <a:gd name="T21" fmla="*/ 335360793 h 1288"/>
              <a:gd name="T22" fmla="*/ 315330948 w 1601"/>
              <a:gd name="T23" fmla="*/ 305678013 h 1288"/>
              <a:gd name="T24" fmla="*/ 307629087 w 1601"/>
              <a:gd name="T25" fmla="*/ 335360793 h 1288"/>
              <a:gd name="T26" fmla="*/ 228342975 w 1601"/>
              <a:gd name="T27" fmla="*/ 335360793 h 1288"/>
              <a:gd name="T28" fmla="*/ 228342975 w 1601"/>
              <a:gd name="T29" fmla="*/ 320779894 h 1288"/>
              <a:gd name="T30" fmla="*/ 220414561 w 1601"/>
              <a:gd name="T31" fmla="*/ 298387818 h 1288"/>
              <a:gd name="T32" fmla="*/ 196855394 w 1601"/>
              <a:gd name="T33" fmla="*/ 305678013 h 1288"/>
              <a:gd name="T34" fmla="*/ 172843120 w 1601"/>
              <a:gd name="T35" fmla="*/ 284588140 h 1288"/>
              <a:gd name="T36" fmla="*/ 149510506 w 1601"/>
              <a:gd name="T37" fmla="*/ 291878334 h 1288"/>
              <a:gd name="T38" fmla="*/ 149510506 w 1601"/>
              <a:gd name="T39" fmla="*/ 314010173 h 1288"/>
              <a:gd name="T40" fmla="*/ 23332621 w 1601"/>
              <a:gd name="T41" fmla="*/ 305678013 h 1288"/>
              <a:gd name="T42" fmla="*/ 46665242 w 1601"/>
              <a:gd name="T43" fmla="*/ 189291508 h 1288"/>
              <a:gd name="T44" fmla="*/ 31714150 w 1601"/>
              <a:gd name="T45" fmla="*/ 138779091 h 1288"/>
              <a:gd name="T46" fmla="*/ 15177649 w 1601"/>
              <a:gd name="T47" fmla="*/ 102326558 h 1288"/>
              <a:gd name="T48" fmla="*/ 0 w 1601"/>
              <a:gd name="T49" fmla="*/ 14059919 h 1288"/>
              <a:gd name="T50" fmla="*/ 189606163 w 1601"/>
              <a:gd name="T51" fmla="*/ 0 h 128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01"/>
              <a:gd name="T79" fmla="*/ 0 h 1288"/>
              <a:gd name="T80" fmla="*/ 1601 w 1601"/>
              <a:gd name="T81" fmla="*/ 1288 h 128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01" h="1288">
                <a:moveTo>
                  <a:pt x="837" y="0"/>
                </a:moveTo>
                <a:lnTo>
                  <a:pt x="936" y="226"/>
                </a:lnTo>
                <a:lnTo>
                  <a:pt x="799" y="475"/>
                </a:lnTo>
                <a:lnTo>
                  <a:pt x="763" y="672"/>
                </a:lnTo>
                <a:lnTo>
                  <a:pt x="1358" y="646"/>
                </a:lnTo>
                <a:lnTo>
                  <a:pt x="1358" y="755"/>
                </a:lnTo>
                <a:lnTo>
                  <a:pt x="1462" y="866"/>
                </a:lnTo>
                <a:lnTo>
                  <a:pt x="1255" y="895"/>
                </a:lnTo>
                <a:lnTo>
                  <a:pt x="1219" y="926"/>
                </a:lnTo>
                <a:lnTo>
                  <a:pt x="1427" y="1066"/>
                </a:lnTo>
                <a:lnTo>
                  <a:pt x="1601" y="1288"/>
                </a:lnTo>
                <a:lnTo>
                  <a:pt x="1392" y="1174"/>
                </a:lnTo>
                <a:lnTo>
                  <a:pt x="1358" y="1288"/>
                </a:lnTo>
                <a:lnTo>
                  <a:pt x="1008" y="1288"/>
                </a:lnTo>
                <a:lnTo>
                  <a:pt x="1008" y="1232"/>
                </a:lnTo>
                <a:lnTo>
                  <a:pt x="973" y="1146"/>
                </a:lnTo>
                <a:lnTo>
                  <a:pt x="869" y="1174"/>
                </a:lnTo>
                <a:lnTo>
                  <a:pt x="763" y="1093"/>
                </a:lnTo>
                <a:lnTo>
                  <a:pt x="660" y="1121"/>
                </a:lnTo>
                <a:lnTo>
                  <a:pt x="660" y="1206"/>
                </a:lnTo>
                <a:lnTo>
                  <a:pt x="103" y="1174"/>
                </a:lnTo>
                <a:lnTo>
                  <a:pt x="206" y="727"/>
                </a:lnTo>
                <a:lnTo>
                  <a:pt x="140" y="533"/>
                </a:lnTo>
                <a:lnTo>
                  <a:pt x="67" y="393"/>
                </a:lnTo>
                <a:lnTo>
                  <a:pt x="0" y="54"/>
                </a:lnTo>
                <a:lnTo>
                  <a:pt x="837" y="0"/>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72" name="Freeform 64"/>
          <p:cNvSpPr>
            <a:spLocks noChangeAspect="1"/>
          </p:cNvSpPr>
          <p:nvPr/>
        </p:nvSpPr>
        <p:spPr bwMode="auto">
          <a:xfrm>
            <a:off x="5038725" y="2227263"/>
            <a:ext cx="738188" cy="792162"/>
          </a:xfrm>
          <a:custGeom>
            <a:avLst/>
            <a:gdLst>
              <a:gd name="T0" fmla="*/ 67397480 w 1547"/>
              <a:gd name="T1" fmla="*/ 29351925 h 1568"/>
              <a:gd name="T2" fmla="*/ 130013678 w 1547"/>
              <a:gd name="T3" fmla="*/ 0 h 1568"/>
              <a:gd name="T4" fmla="*/ 122271982 w 1547"/>
              <a:gd name="T5" fmla="*/ 35987803 h 1568"/>
              <a:gd name="T6" fmla="*/ 143219939 w 1547"/>
              <a:gd name="T7" fmla="*/ 34966783 h 1568"/>
              <a:gd name="T8" fmla="*/ 214261087 w 1547"/>
              <a:gd name="T9" fmla="*/ 63297680 h 1568"/>
              <a:gd name="T10" fmla="*/ 270501797 w 1547"/>
              <a:gd name="T11" fmla="*/ 78866605 h 1568"/>
              <a:gd name="T12" fmla="*/ 293954409 w 1547"/>
              <a:gd name="T13" fmla="*/ 92393979 h 1568"/>
              <a:gd name="T14" fmla="*/ 293954409 w 1547"/>
              <a:gd name="T15" fmla="*/ 120724877 h 1568"/>
              <a:gd name="T16" fmla="*/ 317634633 w 1547"/>
              <a:gd name="T17" fmla="*/ 141654044 h 1568"/>
              <a:gd name="T18" fmla="*/ 313080487 w 1547"/>
              <a:gd name="T19" fmla="*/ 207504005 h 1568"/>
              <a:gd name="T20" fmla="*/ 352244044 w 1547"/>
              <a:gd name="T21" fmla="*/ 156457567 h 1568"/>
              <a:gd name="T22" fmla="*/ 321049765 w 1547"/>
              <a:gd name="T23" fmla="*/ 271056862 h 1568"/>
              <a:gd name="T24" fmla="*/ 332889877 w 1547"/>
              <a:gd name="T25" fmla="*/ 371108205 h 1568"/>
              <a:gd name="T26" fmla="*/ 158475660 w 1547"/>
              <a:gd name="T27" fmla="*/ 400204488 h 1568"/>
              <a:gd name="T28" fmla="*/ 151189217 w 1547"/>
              <a:gd name="T29" fmla="*/ 378254332 h 1568"/>
              <a:gd name="T30" fmla="*/ 135023048 w 1547"/>
              <a:gd name="T31" fmla="*/ 378254332 h 1568"/>
              <a:gd name="T32" fmla="*/ 119312073 w 1547"/>
              <a:gd name="T33" fmla="*/ 342777308 h 1568"/>
              <a:gd name="T34" fmla="*/ 126826158 w 1547"/>
              <a:gd name="T35" fmla="*/ 320316895 h 1568"/>
              <a:gd name="T36" fmla="*/ 103601128 w 1547"/>
              <a:gd name="T37" fmla="*/ 299642888 h 1568"/>
              <a:gd name="T38" fmla="*/ 95176626 w 1547"/>
              <a:gd name="T39" fmla="*/ 264420928 h 1568"/>
              <a:gd name="T40" fmla="*/ 56240666 w 1547"/>
              <a:gd name="T41" fmla="*/ 249362277 h 1568"/>
              <a:gd name="T42" fmla="*/ 8196894 w 1547"/>
              <a:gd name="T43" fmla="*/ 192700483 h 1568"/>
              <a:gd name="T44" fmla="*/ 16621877 w 1547"/>
              <a:gd name="T45" fmla="*/ 120724877 h 1568"/>
              <a:gd name="T46" fmla="*/ 0 w 1547"/>
              <a:gd name="T47" fmla="*/ 114599263 h 1568"/>
              <a:gd name="T48" fmla="*/ 31649517 w 1547"/>
              <a:gd name="T49" fmla="*/ 78866605 h 1568"/>
              <a:gd name="T50" fmla="*/ 31649517 w 1547"/>
              <a:gd name="T51" fmla="*/ 21184272 h 1568"/>
              <a:gd name="T52" fmla="*/ 39618796 w 1547"/>
              <a:gd name="T53" fmla="*/ 14292764 h 1568"/>
              <a:gd name="T54" fmla="*/ 67397480 w 1547"/>
              <a:gd name="T55" fmla="*/ 29351925 h 156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47"/>
              <a:gd name="T85" fmla="*/ 0 h 1568"/>
              <a:gd name="T86" fmla="*/ 1547 w 1547"/>
              <a:gd name="T87" fmla="*/ 1568 h 156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47" h="1568">
                <a:moveTo>
                  <a:pt x="296" y="115"/>
                </a:moveTo>
                <a:lnTo>
                  <a:pt x="571" y="0"/>
                </a:lnTo>
                <a:lnTo>
                  <a:pt x="537" y="141"/>
                </a:lnTo>
                <a:lnTo>
                  <a:pt x="629" y="137"/>
                </a:lnTo>
                <a:lnTo>
                  <a:pt x="941" y="248"/>
                </a:lnTo>
                <a:lnTo>
                  <a:pt x="1188" y="309"/>
                </a:lnTo>
                <a:lnTo>
                  <a:pt x="1291" y="362"/>
                </a:lnTo>
                <a:lnTo>
                  <a:pt x="1291" y="473"/>
                </a:lnTo>
                <a:lnTo>
                  <a:pt x="1395" y="555"/>
                </a:lnTo>
                <a:lnTo>
                  <a:pt x="1375" y="813"/>
                </a:lnTo>
                <a:lnTo>
                  <a:pt x="1547" y="613"/>
                </a:lnTo>
                <a:lnTo>
                  <a:pt x="1410" y="1062"/>
                </a:lnTo>
                <a:lnTo>
                  <a:pt x="1462" y="1454"/>
                </a:lnTo>
                <a:lnTo>
                  <a:pt x="696" y="1568"/>
                </a:lnTo>
                <a:lnTo>
                  <a:pt x="664" y="1482"/>
                </a:lnTo>
                <a:lnTo>
                  <a:pt x="593" y="1482"/>
                </a:lnTo>
                <a:lnTo>
                  <a:pt x="524" y="1343"/>
                </a:lnTo>
                <a:lnTo>
                  <a:pt x="557" y="1255"/>
                </a:lnTo>
                <a:lnTo>
                  <a:pt x="455" y="1174"/>
                </a:lnTo>
                <a:lnTo>
                  <a:pt x="418" y="1036"/>
                </a:lnTo>
                <a:lnTo>
                  <a:pt x="247" y="977"/>
                </a:lnTo>
                <a:lnTo>
                  <a:pt x="36" y="755"/>
                </a:lnTo>
                <a:lnTo>
                  <a:pt x="73" y="473"/>
                </a:lnTo>
                <a:lnTo>
                  <a:pt x="0" y="449"/>
                </a:lnTo>
                <a:lnTo>
                  <a:pt x="139" y="309"/>
                </a:lnTo>
                <a:lnTo>
                  <a:pt x="139" y="83"/>
                </a:lnTo>
                <a:lnTo>
                  <a:pt x="174" y="56"/>
                </a:lnTo>
                <a:lnTo>
                  <a:pt x="296" y="115"/>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73" name="Freeform 65"/>
          <p:cNvSpPr>
            <a:spLocks noChangeAspect="1"/>
          </p:cNvSpPr>
          <p:nvPr/>
        </p:nvSpPr>
        <p:spPr bwMode="auto">
          <a:xfrm>
            <a:off x="5273675" y="2963863"/>
            <a:ext cx="596900" cy="1031875"/>
          </a:xfrm>
          <a:custGeom>
            <a:avLst/>
            <a:gdLst>
              <a:gd name="T0" fmla="*/ 0 w 1253"/>
              <a:gd name="T1" fmla="*/ 251724287 h 2036"/>
              <a:gd name="T2" fmla="*/ 7488641 w 1253"/>
              <a:gd name="T3" fmla="*/ 215506801 h 2036"/>
              <a:gd name="T4" fmla="*/ 31317007 w 1253"/>
              <a:gd name="T5" fmla="*/ 179289315 h 2036"/>
              <a:gd name="T6" fmla="*/ 23147142 w 1253"/>
              <a:gd name="T7" fmla="*/ 157456244 h 2036"/>
              <a:gd name="T8" fmla="*/ 46521516 w 1253"/>
              <a:gd name="T9" fmla="*/ 136393532 h 2036"/>
              <a:gd name="T10" fmla="*/ 70576639 w 1253"/>
              <a:gd name="T11" fmla="*/ 71921094 h 2036"/>
              <a:gd name="T12" fmla="*/ 54691373 w 1253"/>
              <a:gd name="T13" fmla="*/ 57280215 h 2036"/>
              <a:gd name="T14" fmla="*/ 46521516 w 1253"/>
              <a:gd name="T15" fmla="*/ 29282242 h 2036"/>
              <a:gd name="T16" fmla="*/ 220353731 w 1253"/>
              <a:gd name="T17" fmla="*/ 0 h 2036"/>
              <a:gd name="T18" fmla="*/ 220353731 w 1253"/>
              <a:gd name="T19" fmla="*/ 78856346 h 2036"/>
              <a:gd name="T20" fmla="*/ 244862350 w 1253"/>
              <a:gd name="T21" fmla="*/ 85534644 h 2036"/>
              <a:gd name="T22" fmla="*/ 268236775 w 1253"/>
              <a:gd name="T23" fmla="*/ 323131503 h 2036"/>
              <a:gd name="T24" fmla="*/ 284349258 w 1253"/>
              <a:gd name="T25" fmla="*/ 366027286 h 2036"/>
              <a:gd name="T26" fmla="*/ 244862350 w 1253"/>
              <a:gd name="T27" fmla="*/ 437434945 h 2036"/>
              <a:gd name="T28" fmla="*/ 244862350 w 1253"/>
              <a:gd name="T29" fmla="*/ 473395476 h 2036"/>
              <a:gd name="T30" fmla="*/ 212637861 w 1253"/>
              <a:gd name="T31" fmla="*/ 493944279 h 2036"/>
              <a:gd name="T32" fmla="*/ 220353731 w 1253"/>
              <a:gd name="T33" fmla="*/ 501906844 h 2036"/>
              <a:gd name="T34" fmla="*/ 181547624 w 1253"/>
              <a:gd name="T35" fmla="*/ 508585142 h 2036"/>
              <a:gd name="T36" fmla="*/ 173151012 w 1253"/>
              <a:gd name="T37" fmla="*/ 522969557 h 2036"/>
              <a:gd name="T38" fmla="*/ 150003877 w 1253"/>
              <a:gd name="T39" fmla="*/ 522969557 h 2036"/>
              <a:gd name="T40" fmla="*/ 141607265 w 1253"/>
              <a:gd name="T41" fmla="*/ 501906844 h 2036"/>
              <a:gd name="T42" fmla="*/ 150003877 w 1253"/>
              <a:gd name="T43" fmla="*/ 466717179 h 2036"/>
              <a:gd name="T44" fmla="*/ 118686855 w 1253"/>
              <a:gd name="T45" fmla="*/ 452075808 h 2036"/>
              <a:gd name="T46" fmla="*/ 85781148 w 1253"/>
              <a:gd name="T47" fmla="*/ 409180025 h 2036"/>
              <a:gd name="T48" fmla="*/ 94177760 w 1253"/>
              <a:gd name="T49" fmla="*/ 373219494 h 2036"/>
              <a:gd name="T50" fmla="*/ 79200006 w 1253"/>
              <a:gd name="T51" fmla="*/ 366027286 h 2036"/>
              <a:gd name="T52" fmla="*/ 54691373 w 1253"/>
              <a:gd name="T53" fmla="*/ 366027286 h 2036"/>
              <a:gd name="T54" fmla="*/ 7488641 w 1253"/>
              <a:gd name="T55" fmla="*/ 294106224 h 2036"/>
              <a:gd name="T56" fmla="*/ 0 w 1253"/>
              <a:gd name="T57" fmla="*/ 251724287 h 20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53"/>
              <a:gd name="T88" fmla="*/ 0 h 2036"/>
              <a:gd name="T89" fmla="*/ 1253 w 1253"/>
              <a:gd name="T90" fmla="*/ 2036 h 20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53" h="2036">
                <a:moveTo>
                  <a:pt x="0" y="980"/>
                </a:moveTo>
                <a:lnTo>
                  <a:pt x="33" y="839"/>
                </a:lnTo>
                <a:lnTo>
                  <a:pt x="138" y="698"/>
                </a:lnTo>
                <a:lnTo>
                  <a:pt x="102" y="613"/>
                </a:lnTo>
                <a:lnTo>
                  <a:pt x="205" y="531"/>
                </a:lnTo>
                <a:lnTo>
                  <a:pt x="311" y="280"/>
                </a:lnTo>
                <a:lnTo>
                  <a:pt x="241" y="223"/>
                </a:lnTo>
                <a:lnTo>
                  <a:pt x="205" y="114"/>
                </a:lnTo>
                <a:lnTo>
                  <a:pt x="971" y="0"/>
                </a:lnTo>
                <a:lnTo>
                  <a:pt x="971" y="307"/>
                </a:lnTo>
                <a:lnTo>
                  <a:pt x="1079" y="333"/>
                </a:lnTo>
                <a:lnTo>
                  <a:pt x="1182" y="1258"/>
                </a:lnTo>
                <a:lnTo>
                  <a:pt x="1253" y="1425"/>
                </a:lnTo>
                <a:lnTo>
                  <a:pt x="1079" y="1703"/>
                </a:lnTo>
                <a:lnTo>
                  <a:pt x="1079" y="1843"/>
                </a:lnTo>
                <a:lnTo>
                  <a:pt x="937" y="1923"/>
                </a:lnTo>
                <a:lnTo>
                  <a:pt x="971" y="1954"/>
                </a:lnTo>
                <a:lnTo>
                  <a:pt x="800" y="1980"/>
                </a:lnTo>
                <a:lnTo>
                  <a:pt x="763" y="2036"/>
                </a:lnTo>
                <a:lnTo>
                  <a:pt x="661" y="2036"/>
                </a:lnTo>
                <a:lnTo>
                  <a:pt x="624" y="1954"/>
                </a:lnTo>
                <a:lnTo>
                  <a:pt x="661" y="1817"/>
                </a:lnTo>
                <a:lnTo>
                  <a:pt x="523" y="1760"/>
                </a:lnTo>
                <a:lnTo>
                  <a:pt x="378" y="1593"/>
                </a:lnTo>
                <a:lnTo>
                  <a:pt x="415" y="1453"/>
                </a:lnTo>
                <a:lnTo>
                  <a:pt x="349" y="1425"/>
                </a:lnTo>
                <a:lnTo>
                  <a:pt x="241" y="1425"/>
                </a:lnTo>
                <a:lnTo>
                  <a:pt x="33" y="1145"/>
                </a:lnTo>
                <a:lnTo>
                  <a:pt x="0" y="980"/>
                </a:lnTo>
                <a:close/>
              </a:path>
            </a:pathLst>
          </a:custGeom>
          <a:gradFill rotWithShape="0">
            <a:gsLst>
              <a:gs pos="0">
                <a:srgbClr val="FFFFCC"/>
              </a:gs>
              <a:gs pos="100000">
                <a:srgbClr val="DCDCB0"/>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74" name="Freeform 66"/>
          <p:cNvSpPr>
            <a:spLocks noChangeAspect="1"/>
          </p:cNvSpPr>
          <p:nvPr/>
        </p:nvSpPr>
        <p:spPr bwMode="auto">
          <a:xfrm>
            <a:off x="5370513" y="4349750"/>
            <a:ext cx="531812" cy="923925"/>
          </a:xfrm>
          <a:custGeom>
            <a:avLst/>
            <a:gdLst>
              <a:gd name="T0" fmla="*/ 80304561 w 1115"/>
              <a:gd name="T1" fmla="*/ 28958972 h 1817"/>
              <a:gd name="T2" fmla="*/ 222259698 w 1115"/>
              <a:gd name="T3" fmla="*/ 0 h 1817"/>
              <a:gd name="T4" fmla="*/ 238411990 w 1115"/>
              <a:gd name="T5" fmla="*/ 14479232 h 1817"/>
              <a:gd name="T6" fmla="*/ 238411990 w 1115"/>
              <a:gd name="T7" fmla="*/ 318288899 h 1817"/>
              <a:gd name="T8" fmla="*/ 253653823 w 1115"/>
              <a:gd name="T9" fmla="*/ 449121118 h 1817"/>
              <a:gd name="T10" fmla="*/ 198828024 w 1115"/>
              <a:gd name="T11" fmla="*/ 456102166 h 1817"/>
              <a:gd name="T12" fmla="*/ 159017025 w 1115"/>
              <a:gd name="T13" fmla="*/ 469805948 h 1817"/>
              <a:gd name="T14" fmla="*/ 135357840 w 1115"/>
              <a:gd name="T15" fmla="*/ 441105804 h 1817"/>
              <a:gd name="T16" fmla="*/ 135357840 w 1115"/>
              <a:gd name="T17" fmla="*/ 412922286 h 1817"/>
              <a:gd name="T18" fmla="*/ 0 w 1115"/>
              <a:gd name="T19" fmla="*/ 419645020 h 1817"/>
              <a:gd name="T20" fmla="*/ 8189905 w 1115"/>
              <a:gd name="T21" fmla="*/ 368708647 h 1817"/>
              <a:gd name="T22" fmla="*/ 39355994 w 1115"/>
              <a:gd name="T23" fmla="*/ 304326804 h 1817"/>
              <a:gd name="T24" fmla="*/ 16834354 w 1115"/>
              <a:gd name="T25" fmla="*/ 245891678 h 1817"/>
              <a:gd name="T26" fmla="*/ 24114213 w 1115"/>
              <a:gd name="T27" fmla="*/ 216933222 h 1817"/>
              <a:gd name="T28" fmla="*/ 16834354 w 1115"/>
              <a:gd name="T29" fmla="*/ 166255161 h 1817"/>
              <a:gd name="T30" fmla="*/ 32758666 w 1115"/>
              <a:gd name="T31" fmla="*/ 123850696 h 1817"/>
              <a:gd name="T32" fmla="*/ 55735796 w 1115"/>
              <a:gd name="T33" fmla="*/ 64898992 h 1817"/>
              <a:gd name="T34" fmla="*/ 80304561 w 1115"/>
              <a:gd name="T35" fmla="*/ 28958972 h 181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15"/>
              <a:gd name="T55" fmla="*/ 0 h 1817"/>
              <a:gd name="T56" fmla="*/ 1115 w 1115"/>
              <a:gd name="T57" fmla="*/ 1817 h 181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15" h="1817">
                <a:moveTo>
                  <a:pt x="353" y="112"/>
                </a:moveTo>
                <a:lnTo>
                  <a:pt x="977" y="0"/>
                </a:lnTo>
                <a:lnTo>
                  <a:pt x="1048" y="56"/>
                </a:lnTo>
                <a:lnTo>
                  <a:pt x="1048" y="1231"/>
                </a:lnTo>
                <a:lnTo>
                  <a:pt x="1115" y="1737"/>
                </a:lnTo>
                <a:lnTo>
                  <a:pt x="874" y="1764"/>
                </a:lnTo>
                <a:lnTo>
                  <a:pt x="699" y="1817"/>
                </a:lnTo>
                <a:lnTo>
                  <a:pt x="595" y="1706"/>
                </a:lnTo>
                <a:lnTo>
                  <a:pt x="595" y="1597"/>
                </a:lnTo>
                <a:lnTo>
                  <a:pt x="0" y="1623"/>
                </a:lnTo>
                <a:lnTo>
                  <a:pt x="36" y="1426"/>
                </a:lnTo>
                <a:lnTo>
                  <a:pt x="173" y="1177"/>
                </a:lnTo>
                <a:lnTo>
                  <a:pt x="74" y="951"/>
                </a:lnTo>
                <a:lnTo>
                  <a:pt x="106" y="839"/>
                </a:lnTo>
                <a:lnTo>
                  <a:pt x="74" y="643"/>
                </a:lnTo>
                <a:lnTo>
                  <a:pt x="144" y="479"/>
                </a:lnTo>
                <a:lnTo>
                  <a:pt x="245" y="251"/>
                </a:lnTo>
                <a:lnTo>
                  <a:pt x="353" y="112"/>
                </a:lnTo>
                <a:close/>
              </a:path>
            </a:pathLst>
          </a:custGeom>
          <a:gradFill rotWithShape="0">
            <a:gsLst>
              <a:gs pos="0">
                <a:srgbClr val="99FFCC"/>
              </a:gs>
              <a:gs pos="100000">
                <a:srgbClr val="82D8AD"/>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75" name="Freeform 67"/>
          <p:cNvSpPr>
            <a:spLocks noChangeAspect="1"/>
          </p:cNvSpPr>
          <p:nvPr/>
        </p:nvSpPr>
        <p:spPr bwMode="auto">
          <a:xfrm>
            <a:off x="5340350" y="2138363"/>
            <a:ext cx="828675" cy="369887"/>
          </a:xfrm>
          <a:custGeom>
            <a:avLst/>
            <a:gdLst>
              <a:gd name="T0" fmla="*/ 110231395 w 1740"/>
              <a:gd name="T1" fmla="*/ 51915116 h 726"/>
              <a:gd name="T2" fmla="*/ 157862603 w 1740"/>
              <a:gd name="T3" fmla="*/ 36340637 h 726"/>
              <a:gd name="T4" fmla="*/ 157862603 w 1740"/>
              <a:gd name="T5" fmla="*/ 58923607 h 726"/>
              <a:gd name="T6" fmla="*/ 228628570 w 1740"/>
              <a:gd name="T7" fmla="*/ 79949602 h 726"/>
              <a:gd name="T8" fmla="*/ 244732483 w 1740"/>
              <a:gd name="T9" fmla="*/ 43349127 h 726"/>
              <a:gd name="T10" fmla="*/ 315498511 w 1740"/>
              <a:gd name="T11" fmla="*/ 29332139 h 726"/>
              <a:gd name="T12" fmla="*/ 379233125 w 1740"/>
              <a:gd name="T13" fmla="*/ 43349127 h 726"/>
              <a:gd name="T14" fmla="*/ 394656477 w 1740"/>
              <a:gd name="T15" fmla="*/ 72941112 h 726"/>
              <a:gd name="T16" fmla="*/ 363356383 w 1740"/>
              <a:gd name="T17" fmla="*/ 95004915 h 726"/>
              <a:gd name="T18" fmla="*/ 324117204 w 1740"/>
              <a:gd name="T19" fmla="*/ 79949602 h 726"/>
              <a:gd name="T20" fmla="*/ 221823912 w 1740"/>
              <a:gd name="T21" fmla="*/ 124596375 h 726"/>
              <a:gd name="T22" fmla="*/ 173739821 w 1740"/>
              <a:gd name="T23" fmla="*/ 188452332 h 726"/>
              <a:gd name="T24" fmla="*/ 150151165 w 1740"/>
              <a:gd name="T25" fmla="*/ 167167024 h 726"/>
              <a:gd name="T26" fmla="*/ 150151165 w 1740"/>
              <a:gd name="T27" fmla="*/ 138354059 h 726"/>
              <a:gd name="T28" fmla="*/ 126789204 w 1740"/>
              <a:gd name="T29" fmla="*/ 124596375 h 726"/>
              <a:gd name="T30" fmla="*/ 70765997 w 1740"/>
              <a:gd name="T31" fmla="*/ 108762567 h 726"/>
              <a:gd name="T32" fmla="*/ 0 w 1740"/>
              <a:gd name="T33" fmla="*/ 79949602 h 726"/>
              <a:gd name="T34" fmla="*/ 110231395 w 1740"/>
              <a:gd name="T35" fmla="*/ 0 h 726"/>
              <a:gd name="T36" fmla="*/ 110231395 w 1740"/>
              <a:gd name="T37" fmla="*/ 51915116 h 7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40"/>
              <a:gd name="T58" fmla="*/ 0 h 726"/>
              <a:gd name="T59" fmla="*/ 1740 w 1740"/>
              <a:gd name="T60" fmla="*/ 726 h 7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40" h="726">
                <a:moveTo>
                  <a:pt x="486" y="200"/>
                </a:moveTo>
                <a:lnTo>
                  <a:pt x="696" y="140"/>
                </a:lnTo>
                <a:lnTo>
                  <a:pt x="696" y="227"/>
                </a:lnTo>
                <a:lnTo>
                  <a:pt x="1008" y="308"/>
                </a:lnTo>
                <a:lnTo>
                  <a:pt x="1079" y="167"/>
                </a:lnTo>
                <a:lnTo>
                  <a:pt x="1391" y="113"/>
                </a:lnTo>
                <a:lnTo>
                  <a:pt x="1672" y="167"/>
                </a:lnTo>
                <a:lnTo>
                  <a:pt x="1740" y="281"/>
                </a:lnTo>
                <a:lnTo>
                  <a:pt x="1602" y="366"/>
                </a:lnTo>
                <a:lnTo>
                  <a:pt x="1429" y="308"/>
                </a:lnTo>
                <a:lnTo>
                  <a:pt x="978" y="480"/>
                </a:lnTo>
                <a:lnTo>
                  <a:pt x="766" y="726"/>
                </a:lnTo>
                <a:lnTo>
                  <a:pt x="662" y="644"/>
                </a:lnTo>
                <a:lnTo>
                  <a:pt x="662" y="533"/>
                </a:lnTo>
                <a:lnTo>
                  <a:pt x="559" y="480"/>
                </a:lnTo>
                <a:lnTo>
                  <a:pt x="312" y="419"/>
                </a:lnTo>
                <a:lnTo>
                  <a:pt x="0" y="308"/>
                </a:lnTo>
                <a:lnTo>
                  <a:pt x="486" y="0"/>
                </a:lnTo>
                <a:lnTo>
                  <a:pt x="486" y="200"/>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76" name="Freeform 68"/>
          <p:cNvSpPr>
            <a:spLocks noChangeAspect="1"/>
          </p:cNvSpPr>
          <p:nvPr/>
        </p:nvSpPr>
        <p:spPr bwMode="auto">
          <a:xfrm>
            <a:off x="5902325" y="2366963"/>
            <a:ext cx="547688" cy="739775"/>
          </a:xfrm>
          <a:custGeom>
            <a:avLst/>
            <a:gdLst>
              <a:gd name="T0" fmla="*/ 118870640 w 1151"/>
              <a:gd name="T1" fmla="*/ 0 h 1457"/>
              <a:gd name="T2" fmla="*/ 173438167 w 1151"/>
              <a:gd name="T3" fmla="*/ 21912979 h 1457"/>
              <a:gd name="T4" fmla="*/ 197891403 w 1151"/>
              <a:gd name="T5" fmla="*/ 86620191 h 1457"/>
              <a:gd name="T6" fmla="*/ 189740325 w 1151"/>
              <a:gd name="T7" fmla="*/ 123227618 h 1457"/>
              <a:gd name="T8" fmla="*/ 173438167 w 1151"/>
              <a:gd name="T9" fmla="*/ 137664173 h 1457"/>
              <a:gd name="T10" fmla="*/ 173438167 w 1151"/>
              <a:gd name="T11" fmla="*/ 159577144 h 1457"/>
              <a:gd name="T12" fmla="*/ 228911182 w 1151"/>
              <a:gd name="T13" fmla="*/ 123227618 h 1457"/>
              <a:gd name="T14" fmla="*/ 260610039 w 1151"/>
              <a:gd name="T15" fmla="*/ 188192769 h 1457"/>
              <a:gd name="T16" fmla="*/ 221212624 w 1151"/>
              <a:gd name="T17" fmla="*/ 332817527 h 1457"/>
              <a:gd name="T18" fmla="*/ 142418388 w 1151"/>
              <a:gd name="T19" fmla="*/ 353699282 h 1457"/>
              <a:gd name="T20" fmla="*/ 0 w 1151"/>
              <a:gd name="T21" fmla="*/ 375612253 h 1457"/>
              <a:gd name="T22" fmla="*/ 24227221 w 1151"/>
              <a:gd name="T23" fmla="*/ 353699282 h 1457"/>
              <a:gd name="T24" fmla="*/ 39397371 w 1151"/>
              <a:gd name="T25" fmla="*/ 260634336 h 1457"/>
              <a:gd name="T26" fmla="*/ 0 w 1151"/>
              <a:gd name="T27" fmla="*/ 188192769 h 1457"/>
              <a:gd name="T28" fmla="*/ 8151082 w 1151"/>
              <a:gd name="T29" fmla="*/ 101314647 h 1457"/>
              <a:gd name="T30" fmla="*/ 32151809 w 1151"/>
              <a:gd name="T31" fmla="*/ 64965136 h 1457"/>
              <a:gd name="T32" fmla="*/ 47321951 w 1151"/>
              <a:gd name="T33" fmla="*/ 80175469 h 1457"/>
              <a:gd name="T34" fmla="*/ 63850621 w 1151"/>
              <a:gd name="T35" fmla="*/ 36349511 h 1457"/>
              <a:gd name="T36" fmla="*/ 118870640 w 1151"/>
              <a:gd name="T37" fmla="*/ 0 h 14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51"/>
              <a:gd name="T58" fmla="*/ 0 h 1457"/>
              <a:gd name="T59" fmla="*/ 1151 w 1151"/>
              <a:gd name="T60" fmla="*/ 1457 h 14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51" h="1457">
                <a:moveTo>
                  <a:pt x="525" y="0"/>
                </a:moveTo>
                <a:lnTo>
                  <a:pt x="766" y="85"/>
                </a:lnTo>
                <a:lnTo>
                  <a:pt x="874" y="336"/>
                </a:lnTo>
                <a:lnTo>
                  <a:pt x="838" y="478"/>
                </a:lnTo>
                <a:lnTo>
                  <a:pt x="766" y="534"/>
                </a:lnTo>
                <a:lnTo>
                  <a:pt x="766" y="619"/>
                </a:lnTo>
                <a:lnTo>
                  <a:pt x="1011" y="478"/>
                </a:lnTo>
                <a:lnTo>
                  <a:pt x="1151" y="730"/>
                </a:lnTo>
                <a:lnTo>
                  <a:pt x="977" y="1291"/>
                </a:lnTo>
                <a:lnTo>
                  <a:pt x="629" y="1372"/>
                </a:lnTo>
                <a:lnTo>
                  <a:pt x="0" y="1457"/>
                </a:lnTo>
                <a:lnTo>
                  <a:pt x="107" y="1372"/>
                </a:lnTo>
                <a:lnTo>
                  <a:pt x="174" y="1011"/>
                </a:lnTo>
                <a:lnTo>
                  <a:pt x="0" y="730"/>
                </a:lnTo>
                <a:lnTo>
                  <a:pt x="36" y="393"/>
                </a:lnTo>
                <a:lnTo>
                  <a:pt x="142" y="252"/>
                </a:lnTo>
                <a:lnTo>
                  <a:pt x="209" y="311"/>
                </a:lnTo>
                <a:lnTo>
                  <a:pt x="282" y="141"/>
                </a:lnTo>
                <a:lnTo>
                  <a:pt x="525" y="0"/>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77" name="Freeform 69"/>
          <p:cNvSpPr>
            <a:spLocks noChangeAspect="1"/>
          </p:cNvSpPr>
          <p:nvPr/>
        </p:nvSpPr>
        <p:spPr bwMode="auto">
          <a:xfrm>
            <a:off x="5786438" y="3060700"/>
            <a:ext cx="481012" cy="765175"/>
          </a:xfrm>
          <a:custGeom>
            <a:avLst/>
            <a:gdLst>
              <a:gd name="T0" fmla="*/ 54988223 w 1007"/>
              <a:gd name="T1" fmla="*/ 21884615 h 1508"/>
              <a:gd name="T2" fmla="*/ 198505114 w 1007"/>
              <a:gd name="T3" fmla="*/ 0 h 1508"/>
              <a:gd name="T4" fmla="*/ 229764199 w 1007"/>
              <a:gd name="T5" fmla="*/ 258752430 h 1508"/>
              <a:gd name="T6" fmla="*/ 229764199 w 1007"/>
              <a:gd name="T7" fmla="*/ 280637101 h 1508"/>
              <a:gd name="T8" fmla="*/ 190063284 w 1007"/>
              <a:gd name="T9" fmla="*/ 294797908 h 1508"/>
              <a:gd name="T10" fmla="*/ 166790333 w 1007"/>
              <a:gd name="T11" fmla="*/ 345518643 h 1508"/>
              <a:gd name="T12" fmla="*/ 135075075 w 1007"/>
              <a:gd name="T13" fmla="*/ 345518643 h 1508"/>
              <a:gd name="T14" fmla="*/ 119331579 w 1007"/>
              <a:gd name="T15" fmla="*/ 375127049 h 1508"/>
              <a:gd name="T16" fmla="*/ 79402338 w 1007"/>
              <a:gd name="T17" fmla="*/ 381563549 h 1508"/>
              <a:gd name="T18" fmla="*/ 54988223 w 1007"/>
              <a:gd name="T19" fmla="*/ 375127049 h 1508"/>
              <a:gd name="T20" fmla="*/ 0 w 1007"/>
              <a:gd name="T21" fmla="*/ 388257813 h 1508"/>
              <a:gd name="T22" fmla="*/ 39700930 w 1007"/>
              <a:gd name="T23" fmla="*/ 316682514 h 1508"/>
              <a:gd name="T24" fmla="*/ 23501283 w 1007"/>
              <a:gd name="T25" fmla="*/ 273685579 h 1508"/>
              <a:gd name="T26" fmla="*/ 0 w 1007"/>
              <a:gd name="T27" fmla="*/ 35530408 h 1508"/>
              <a:gd name="T28" fmla="*/ 39700930 w 1007"/>
              <a:gd name="T29" fmla="*/ 43254208 h 1508"/>
              <a:gd name="T30" fmla="*/ 54988223 w 1007"/>
              <a:gd name="T31" fmla="*/ 21884615 h 15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07"/>
              <a:gd name="T49" fmla="*/ 0 h 1508"/>
              <a:gd name="T50" fmla="*/ 1007 w 1007"/>
              <a:gd name="T51" fmla="*/ 1508 h 150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07" h="1508">
                <a:moveTo>
                  <a:pt x="241" y="85"/>
                </a:moveTo>
                <a:lnTo>
                  <a:pt x="870" y="0"/>
                </a:lnTo>
                <a:lnTo>
                  <a:pt x="1007" y="1005"/>
                </a:lnTo>
                <a:lnTo>
                  <a:pt x="1007" y="1090"/>
                </a:lnTo>
                <a:lnTo>
                  <a:pt x="833" y="1145"/>
                </a:lnTo>
                <a:lnTo>
                  <a:pt x="731" y="1342"/>
                </a:lnTo>
                <a:lnTo>
                  <a:pt x="592" y="1342"/>
                </a:lnTo>
                <a:lnTo>
                  <a:pt x="523" y="1457"/>
                </a:lnTo>
                <a:lnTo>
                  <a:pt x="348" y="1482"/>
                </a:lnTo>
                <a:lnTo>
                  <a:pt x="241" y="1457"/>
                </a:lnTo>
                <a:lnTo>
                  <a:pt x="0" y="1508"/>
                </a:lnTo>
                <a:lnTo>
                  <a:pt x="174" y="1230"/>
                </a:lnTo>
                <a:lnTo>
                  <a:pt x="103" y="1063"/>
                </a:lnTo>
                <a:lnTo>
                  <a:pt x="0" y="138"/>
                </a:lnTo>
                <a:lnTo>
                  <a:pt x="174" y="168"/>
                </a:lnTo>
                <a:lnTo>
                  <a:pt x="241" y="85"/>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78" name="Freeform 70"/>
          <p:cNvSpPr>
            <a:spLocks noChangeAspect="1"/>
          </p:cNvSpPr>
          <p:nvPr/>
        </p:nvSpPr>
        <p:spPr bwMode="auto">
          <a:xfrm>
            <a:off x="5635625" y="3543300"/>
            <a:ext cx="1047750" cy="552450"/>
          </a:xfrm>
          <a:custGeom>
            <a:avLst/>
            <a:gdLst>
              <a:gd name="T0" fmla="*/ 16133348 w 2198"/>
              <a:gd name="T1" fmla="*/ 251177000 h 1089"/>
              <a:gd name="T2" fmla="*/ 8407264 w 2198"/>
              <a:gd name="T3" fmla="*/ 214890335 h 1089"/>
              <a:gd name="T4" fmla="*/ 47263148 w 2198"/>
              <a:gd name="T5" fmla="*/ 208199047 h 1089"/>
              <a:gd name="T6" fmla="*/ 39537544 w 2198"/>
              <a:gd name="T7" fmla="*/ 200221246 h 1089"/>
              <a:gd name="T8" fmla="*/ 71803764 w 2198"/>
              <a:gd name="T9" fmla="*/ 179632981 h 1089"/>
              <a:gd name="T10" fmla="*/ 71803764 w 2198"/>
              <a:gd name="T11" fmla="*/ 143603517 h 1089"/>
              <a:gd name="T12" fmla="*/ 126565629 w 2198"/>
              <a:gd name="T13" fmla="*/ 130478111 h 1089"/>
              <a:gd name="T14" fmla="*/ 150878853 w 2198"/>
              <a:gd name="T15" fmla="*/ 136912230 h 1089"/>
              <a:gd name="T16" fmla="*/ 190643283 w 2198"/>
              <a:gd name="T17" fmla="*/ 130478111 h 1089"/>
              <a:gd name="T18" fmla="*/ 206321868 w 2198"/>
              <a:gd name="T19" fmla="*/ 100882734 h 1089"/>
              <a:gd name="T20" fmla="*/ 237906416 w 2198"/>
              <a:gd name="T21" fmla="*/ 100882734 h 1089"/>
              <a:gd name="T22" fmla="*/ 261083763 w 2198"/>
              <a:gd name="T23" fmla="*/ 50184166 h 1089"/>
              <a:gd name="T24" fmla="*/ 300621293 w 2198"/>
              <a:gd name="T25" fmla="*/ 36029480 h 1089"/>
              <a:gd name="T26" fmla="*/ 300621293 w 2198"/>
              <a:gd name="T27" fmla="*/ 14154690 h 1089"/>
              <a:gd name="T28" fmla="*/ 325161894 w 2198"/>
              <a:gd name="T29" fmla="*/ 0 h 1089"/>
              <a:gd name="T30" fmla="*/ 380150631 w 2198"/>
              <a:gd name="T31" fmla="*/ 29080983 h 1089"/>
              <a:gd name="T32" fmla="*/ 427641141 w 2198"/>
              <a:gd name="T33" fmla="*/ 22132494 h 1089"/>
              <a:gd name="T34" fmla="*/ 443547104 w 2198"/>
              <a:gd name="T35" fmla="*/ 36029480 h 1089"/>
              <a:gd name="T36" fmla="*/ 451726987 w 2198"/>
              <a:gd name="T37" fmla="*/ 72058960 h 1089"/>
              <a:gd name="T38" fmla="*/ 467178671 w 2198"/>
              <a:gd name="T39" fmla="*/ 107573514 h 1089"/>
              <a:gd name="T40" fmla="*/ 499444876 w 2198"/>
              <a:gd name="T41" fmla="*/ 115294114 h 1089"/>
              <a:gd name="T42" fmla="*/ 404236953 w 2198"/>
              <a:gd name="T43" fmla="*/ 214890335 h 1089"/>
              <a:gd name="T44" fmla="*/ 0 w 2198"/>
              <a:gd name="T45" fmla="*/ 280258038 h 1089"/>
              <a:gd name="T46" fmla="*/ 16133348 w 2198"/>
              <a:gd name="T47" fmla="*/ 251177000 h 108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198"/>
              <a:gd name="T73" fmla="*/ 0 h 1089"/>
              <a:gd name="T74" fmla="*/ 2198 w 2198"/>
              <a:gd name="T75" fmla="*/ 1089 h 108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198" h="1089">
                <a:moveTo>
                  <a:pt x="71" y="976"/>
                </a:moveTo>
                <a:lnTo>
                  <a:pt x="37" y="835"/>
                </a:lnTo>
                <a:lnTo>
                  <a:pt x="208" y="809"/>
                </a:lnTo>
                <a:lnTo>
                  <a:pt x="174" y="778"/>
                </a:lnTo>
                <a:lnTo>
                  <a:pt x="316" y="698"/>
                </a:lnTo>
                <a:lnTo>
                  <a:pt x="316" y="558"/>
                </a:lnTo>
                <a:lnTo>
                  <a:pt x="557" y="507"/>
                </a:lnTo>
                <a:lnTo>
                  <a:pt x="664" y="532"/>
                </a:lnTo>
                <a:lnTo>
                  <a:pt x="839" y="507"/>
                </a:lnTo>
                <a:lnTo>
                  <a:pt x="908" y="392"/>
                </a:lnTo>
                <a:lnTo>
                  <a:pt x="1047" y="392"/>
                </a:lnTo>
                <a:lnTo>
                  <a:pt x="1149" y="195"/>
                </a:lnTo>
                <a:lnTo>
                  <a:pt x="1323" y="140"/>
                </a:lnTo>
                <a:lnTo>
                  <a:pt x="1323" y="55"/>
                </a:lnTo>
                <a:lnTo>
                  <a:pt x="1431" y="0"/>
                </a:lnTo>
                <a:lnTo>
                  <a:pt x="1673" y="113"/>
                </a:lnTo>
                <a:lnTo>
                  <a:pt x="1882" y="86"/>
                </a:lnTo>
                <a:lnTo>
                  <a:pt x="1952" y="140"/>
                </a:lnTo>
                <a:lnTo>
                  <a:pt x="1988" y="280"/>
                </a:lnTo>
                <a:lnTo>
                  <a:pt x="2056" y="418"/>
                </a:lnTo>
                <a:lnTo>
                  <a:pt x="2198" y="448"/>
                </a:lnTo>
                <a:lnTo>
                  <a:pt x="1779" y="835"/>
                </a:lnTo>
                <a:lnTo>
                  <a:pt x="0" y="1089"/>
                </a:lnTo>
                <a:lnTo>
                  <a:pt x="71" y="976"/>
                </a:lnTo>
                <a:close/>
              </a:path>
            </a:pathLst>
          </a:custGeom>
          <a:gradFill rotWithShape="0">
            <a:gsLst>
              <a:gs pos="0">
                <a:srgbClr val="99FFCC"/>
              </a:gs>
              <a:gs pos="100000">
                <a:srgbClr val="82D8AD"/>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79" name="Freeform 71"/>
          <p:cNvSpPr>
            <a:spLocks noChangeAspect="1"/>
          </p:cNvSpPr>
          <p:nvPr/>
        </p:nvSpPr>
        <p:spPr bwMode="auto">
          <a:xfrm>
            <a:off x="5540375" y="3911600"/>
            <a:ext cx="1206500" cy="496888"/>
          </a:xfrm>
          <a:custGeom>
            <a:avLst/>
            <a:gdLst>
              <a:gd name="T0" fmla="*/ 14891248 w 2540"/>
              <a:gd name="T1" fmla="*/ 143814774 h 977"/>
              <a:gd name="T2" fmla="*/ 46253122 w 2540"/>
              <a:gd name="T3" fmla="*/ 93893531 h 977"/>
              <a:gd name="T4" fmla="*/ 447639947 w 2540"/>
              <a:gd name="T5" fmla="*/ 28193945 h 977"/>
              <a:gd name="T6" fmla="*/ 573087517 w 2540"/>
              <a:gd name="T7" fmla="*/ 0 h 977"/>
              <a:gd name="T8" fmla="*/ 549622526 w 2540"/>
              <a:gd name="T9" fmla="*/ 57681222 h 977"/>
              <a:gd name="T10" fmla="*/ 526157535 w 2540"/>
              <a:gd name="T11" fmla="*/ 57681222 h 977"/>
              <a:gd name="T12" fmla="*/ 439517450 w 2540"/>
              <a:gd name="T13" fmla="*/ 136830880 h 977"/>
              <a:gd name="T14" fmla="*/ 423723706 w 2540"/>
              <a:gd name="T15" fmla="*/ 173301535 h 977"/>
              <a:gd name="T16" fmla="*/ 344754986 w 2540"/>
              <a:gd name="T17" fmla="*/ 187269323 h 977"/>
              <a:gd name="T18" fmla="*/ 140790005 w 2540"/>
              <a:gd name="T19" fmla="*/ 223739977 h 977"/>
              <a:gd name="T20" fmla="*/ 0 w 2540"/>
              <a:gd name="T21" fmla="*/ 252710015 h 977"/>
              <a:gd name="T22" fmla="*/ 0 w 2540"/>
              <a:gd name="T23" fmla="*/ 216238852 h 977"/>
              <a:gd name="T24" fmla="*/ 14891248 w 2540"/>
              <a:gd name="T25" fmla="*/ 143814774 h 9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40"/>
              <a:gd name="T40" fmla="*/ 0 h 977"/>
              <a:gd name="T41" fmla="*/ 2540 w 2540"/>
              <a:gd name="T42" fmla="*/ 977 h 9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40" h="977">
                <a:moveTo>
                  <a:pt x="66" y="556"/>
                </a:moveTo>
                <a:lnTo>
                  <a:pt x="205" y="363"/>
                </a:lnTo>
                <a:lnTo>
                  <a:pt x="1984" y="109"/>
                </a:lnTo>
                <a:lnTo>
                  <a:pt x="2540" y="0"/>
                </a:lnTo>
                <a:lnTo>
                  <a:pt x="2436" y="223"/>
                </a:lnTo>
                <a:lnTo>
                  <a:pt x="2332" y="223"/>
                </a:lnTo>
                <a:lnTo>
                  <a:pt x="1948" y="529"/>
                </a:lnTo>
                <a:lnTo>
                  <a:pt x="1878" y="670"/>
                </a:lnTo>
                <a:lnTo>
                  <a:pt x="1528" y="724"/>
                </a:lnTo>
                <a:lnTo>
                  <a:pt x="624" y="865"/>
                </a:lnTo>
                <a:lnTo>
                  <a:pt x="0" y="977"/>
                </a:lnTo>
                <a:lnTo>
                  <a:pt x="0" y="836"/>
                </a:lnTo>
                <a:lnTo>
                  <a:pt x="66" y="556"/>
                </a:lnTo>
                <a:close/>
              </a:path>
            </a:pathLst>
          </a:custGeom>
          <a:gradFill rotWithShape="0">
            <a:gsLst>
              <a:gs pos="0">
                <a:srgbClr val="99FFCC"/>
              </a:gs>
              <a:gs pos="100000">
                <a:srgbClr val="82D8AD"/>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80" name="Freeform 72"/>
          <p:cNvSpPr>
            <a:spLocks noChangeAspect="1"/>
          </p:cNvSpPr>
          <p:nvPr/>
        </p:nvSpPr>
        <p:spPr bwMode="auto">
          <a:xfrm>
            <a:off x="5837238" y="4278313"/>
            <a:ext cx="595312" cy="979487"/>
          </a:xfrm>
          <a:custGeom>
            <a:avLst/>
            <a:gdLst>
              <a:gd name="T0" fmla="*/ 258948870 w 1254"/>
              <a:gd name="T1" fmla="*/ 222844453 h 1932"/>
              <a:gd name="T2" fmla="*/ 282612750 w 1254"/>
              <a:gd name="T3" fmla="*/ 273993801 h 1932"/>
              <a:gd name="T4" fmla="*/ 258948870 w 1254"/>
              <a:gd name="T5" fmla="*/ 316917324 h 1932"/>
              <a:gd name="T6" fmla="*/ 267513004 w 1254"/>
              <a:gd name="T7" fmla="*/ 395568792 h 1932"/>
              <a:gd name="T8" fmla="*/ 78202823 w 1254"/>
              <a:gd name="T9" fmla="*/ 417673152 h 1932"/>
              <a:gd name="T10" fmla="*/ 94655076 w 1254"/>
              <a:gd name="T11" fmla="*/ 446717570 h 1932"/>
              <a:gd name="T12" fmla="*/ 110205341 w 1254"/>
              <a:gd name="T13" fmla="*/ 460854221 h 1932"/>
              <a:gd name="T14" fmla="*/ 70315179 w 1254"/>
              <a:gd name="T15" fmla="*/ 496581152 h 1932"/>
              <a:gd name="T16" fmla="*/ 63103552 w 1254"/>
              <a:gd name="T17" fmla="*/ 446717570 h 1932"/>
              <a:gd name="T18" fmla="*/ 31101012 w 1254"/>
              <a:gd name="T19" fmla="*/ 482701541 h 1932"/>
              <a:gd name="T20" fmla="*/ 16001266 w 1254"/>
              <a:gd name="T21" fmla="*/ 352644763 h 1932"/>
              <a:gd name="T22" fmla="*/ 16001266 w 1254"/>
              <a:gd name="T23" fmla="*/ 50634715 h 1932"/>
              <a:gd name="T24" fmla="*/ 0 w 1254"/>
              <a:gd name="T25" fmla="*/ 36241026 h 1932"/>
              <a:gd name="T26" fmla="*/ 203733406 w 1254"/>
              <a:gd name="T27" fmla="*/ 0 h 1932"/>
              <a:gd name="T28" fmla="*/ 258948870 w 1254"/>
              <a:gd name="T29" fmla="*/ 222844453 h 19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54"/>
              <a:gd name="T46" fmla="*/ 0 h 1932"/>
              <a:gd name="T47" fmla="*/ 1254 w 1254"/>
              <a:gd name="T48" fmla="*/ 1932 h 19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54" h="1932">
                <a:moveTo>
                  <a:pt x="1149" y="867"/>
                </a:moveTo>
                <a:lnTo>
                  <a:pt x="1254" y="1066"/>
                </a:lnTo>
                <a:lnTo>
                  <a:pt x="1149" y="1233"/>
                </a:lnTo>
                <a:lnTo>
                  <a:pt x="1187" y="1539"/>
                </a:lnTo>
                <a:lnTo>
                  <a:pt x="347" y="1625"/>
                </a:lnTo>
                <a:lnTo>
                  <a:pt x="420" y="1738"/>
                </a:lnTo>
                <a:lnTo>
                  <a:pt x="489" y="1793"/>
                </a:lnTo>
                <a:lnTo>
                  <a:pt x="312" y="1932"/>
                </a:lnTo>
                <a:lnTo>
                  <a:pt x="280" y="1738"/>
                </a:lnTo>
                <a:lnTo>
                  <a:pt x="138" y="1878"/>
                </a:lnTo>
                <a:lnTo>
                  <a:pt x="71" y="1372"/>
                </a:lnTo>
                <a:lnTo>
                  <a:pt x="71" y="197"/>
                </a:lnTo>
                <a:lnTo>
                  <a:pt x="0" y="141"/>
                </a:lnTo>
                <a:lnTo>
                  <a:pt x="904" y="0"/>
                </a:lnTo>
                <a:lnTo>
                  <a:pt x="1149" y="867"/>
                </a:lnTo>
                <a:close/>
              </a:path>
            </a:pathLst>
          </a:custGeom>
          <a:gradFill rotWithShape="0">
            <a:gsLst>
              <a:gs pos="0">
                <a:srgbClr val="99FFCC"/>
              </a:gs>
              <a:gs pos="100000">
                <a:srgbClr val="82D8AD"/>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81" name="Freeform 73"/>
          <p:cNvSpPr>
            <a:spLocks noChangeAspect="1"/>
          </p:cNvSpPr>
          <p:nvPr/>
        </p:nvSpPr>
        <p:spPr bwMode="auto">
          <a:xfrm>
            <a:off x="6000750" y="5016500"/>
            <a:ext cx="1279525" cy="979488"/>
          </a:xfrm>
          <a:custGeom>
            <a:avLst/>
            <a:gdLst>
              <a:gd name="T0" fmla="*/ 0 w 2685"/>
              <a:gd name="T1" fmla="*/ 43102557 h 1928"/>
              <a:gd name="T2" fmla="*/ 190760250 w 2685"/>
              <a:gd name="T3" fmla="*/ 20906077 h 1928"/>
              <a:gd name="T4" fmla="*/ 205975870 w 2685"/>
              <a:gd name="T5" fmla="*/ 35875787 h 1928"/>
              <a:gd name="T6" fmla="*/ 379703909 w 2685"/>
              <a:gd name="T7" fmla="*/ 28132847 h 1928"/>
              <a:gd name="T8" fmla="*/ 396281973 w 2685"/>
              <a:gd name="T9" fmla="*/ 43102557 h 1928"/>
              <a:gd name="T10" fmla="*/ 404230274 w 2685"/>
              <a:gd name="T11" fmla="*/ 0 h 1928"/>
              <a:gd name="T12" fmla="*/ 435569333 w 2685"/>
              <a:gd name="T13" fmla="*/ 0 h 1928"/>
              <a:gd name="T14" fmla="*/ 570237384 w 2685"/>
              <a:gd name="T15" fmla="*/ 252677422 h 1928"/>
              <a:gd name="T16" fmla="*/ 601349606 w 2685"/>
              <a:gd name="T17" fmla="*/ 309975486 h 1928"/>
              <a:gd name="T18" fmla="*/ 609752056 w 2685"/>
              <a:gd name="T19" fmla="*/ 404439155 h 1928"/>
              <a:gd name="T20" fmla="*/ 585679839 w 2685"/>
              <a:gd name="T21" fmla="*/ 483416959 h 1928"/>
              <a:gd name="T22" fmla="*/ 545938331 w 2685"/>
              <a:gd name="T23" fmla="*/ 497612419 h 1928"/>
              <a:gd name="T24" fmla="*/ 522774410 w 2685"/>
              <a:gd name="T25" fmla="*/ 447025535 h 1928"/>
              <a:gd name="T26" fmla="*/ 483486931 w 2685"/>
              <a:gd name="T27" fmla="*/ 440573007 h 1928"/>
              <a:gd name="T28" fmla="*/ 458733254 w 2685"/>
              <a:gd name="T29" fmla="*/ 331913878 h 1928"/>
              <a:gd name="T30" fmla="*/ 435569333 w 2685"/>
              <a:gd name="T31" fmla="*/ 331913878 h 1928"/>
              <a:gd name="T32" fmla="*/ 412405888 w 2685"/>
              <a:gd name="T33" fmla="*/ 303006797 h 1928"/>
              <a:gd name="T34" fmla="*/ 412405888 w 2685"/>
              <a:gd name="T35" fmla="*/ 259904192 h 1928"/>
              <a:gd name="T36" fmla="*/ 388106359 w 2685"/>
              <a:gd name="T37" fmla="*/ 252677422 h 1928"/>
              <a:gd name="T38" fmla="*/ 396281973 w 2685"/>
              <a:gd name="T39" fmla="*/ 201316295 h 1928"/>
              <a:gd name="T40" fmla="*/ 379703909 w 2685"/>
              <a:gd name="T41" fmla="*/ 151245572 h 1928"/>
              <a:gd name="T42" fmla="*/ 332695083 w 2685"/>
              <a:gd name="T43" fmla="*/ 108401079 h 1928"/>
              <a:gd name="T44" fmla="*/ 277511120 w 2685"/>
              <a:gd name="T45" fmla="*/ 72267227 h 1928"/>
              <a:gd name="T46" fmla="*/ 198481716 w 2685"/>
              <a:gd name="T47" fmla="*/ 136533950 h 1928"/>
              <a:gd name="T48" fmla="*/ 158967044 w 2685"/>
              <a:gd name="T49" fmla="*/ 86462687 h 1928"/>
              <a:gd name="T50" fmla="*/ 118544046 w 2685"/>
              <a:gd name="T51" fmla="*/ 78977836 h 1928"/>
              <a:gd name="T52" fmla="*/ 79256210 w 2685"/>
              <a:gd name="T53" fmla="*/ 100400066 h 1928"/>
              <a:gd name="T54" fmla="*/ 32247369 w 2685"/>
              <a:gd name="T55" fmla="*/ 86462687 h 1928"/>
              <a:gd name="T56" fmla="*/ 16578071 w 2685"/>
              <a:gd name="T57" fmla="*/ 72267227 h 1928"/>
              <a:gd name="T58" fmla="*/ 0 w 2685"/>
              <a:gd name="T59" fmla="*/ 43102557 h 192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685"/>
              <a:gd name="T91" fmla="*/ 0 h 1928"/>
              <a:gd name="T92" fmla="*/ 2685 w 2685"/>
              <a:gd name="T93" fmla="*/ 1928 h 192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685" h="1928">
                <a:moveTo>
                  <a:pt x="0" y="167"/>
                </a:moveTo>
                <a:lnTo>
                  <a:pt x="840" y="81"/>
                </a:lnTo>
                <a:lnTo>
                  <a:pt x="907" y="139"/>
                </a:lnTo>
                <a:lnTo>
                  <a:pt x="1672" y="109"/>
                </a:lnTo>
                <a:lnTo>
                  <a:pt x="1745" y="167"/>
                </a:lnTo>
                <a:lnTo>
                  <a:pt x="1780" y="0"/>
                </a:lnTo>
                <a:lnTo>
                  <a:pt x="1918" y="0"/>
                </a:lnTo>
                <a:lnTo>
                  <a:pt x="2511" y="979"/>
                </a:lnTo>
                <a:lnTo>
                  <a:pt x="2648" y="1201"/>
                </a:lnTo>
                <a:lnTo>
                  <a:pt x="2685" y="1567"/>
                </a:lnTo>
                <a:lnTo>
                  <a:pt x="2579" y="1873"/>
                </a:lnTo>
                <a:lnTo>
                  <a:pt x="2404" y="1928"/>
                </a:lnTo>
                <a:lnTo>
                  <a:pt x="2302" y="1732"/>
                </a:lnTo>
                <a:lnTo>
                  <a:pt x="2129" y="1707"/>
                </a:lnTo>
                <a:lnTo>
                  <a:pt x="2020" y="1286"/>
                </a:lnTo>
                <a:lnTo>
                  <a:pt x="1918" y="1286"/>
                </a:lnTo>
                <a:lnTo>
                  <a:pt x="1816" y="1174"/>
                </a:lnTo>
                <a:lnTo>
                  <a:pt x="1816" y="1007"/>
                </a:lnTo>
                <a:lnTo>
                  <a:pt x="1709" y="979"/>
                </a:lnTo>
                <a:lnTo>
                  <a:pt x="1745" y="780"/>
                </a:lnTo>
                <a:lnTo>
                  <a:pt x="1672" y="586"/>
                </a:lnTo>
                <a:lnTo>
                  <a:pt x="1465" y="420"/>
                </a:lnTo>
                <a:lnTo>
                  <a:pt x="1222" y="280"/>
                </a:lnTo>
                <a:lnTo>
                  <a:pt x="874" y="529"/>
                </a:lnTo>
                <a:lnTo>
                  <a:pt x="700" y="335"/>
                </a:lnTo>
                <a:lnTo>
                  <a:pt x="522" y="306"/>
                </a:lnTo>
                <a:lnTo>
                  <a:pt x="349" y="389"/>
                </a:lnTo>
                <a:lnTo>
                  <a:pt x="142" y="335"/>
                </a:lnTo>
                <a:lnTo>
                  <a:pt x="73" y="280"/>
                </a:lnTo>
                <a:lnTo>
                  <a:pt x="0" y="167"/>
                </a:lnTo>
                <a:close/>
              </a:path>
            </a:pathLst>
          </a:custGeom>
          <a:gradFill rotWithShape="0">
            <a:gsLst>
              <a:gs pos="0">
                <a:srgbClr val="99FFCC"/>
              </a:gs>
              <a:gs pos="100000">
                <a:srgbClr val="82D8AD"/>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82" name="Freeform 74"/>
          <p:cNvSpPr>
            <a:spLocks noChangeAspect="1"/>
          </p:cNvSpPr>
          <p:nvPr/>
        </p:nvSpPr>
        <p:spPr bwMode="auto">
          <a:xfrm>
            <a:off x="6200775" y="2906713"/>
            <a:ext cx="566738" cy="708025"/>
          </a:xfrm>
          <a:custGeom>
            <a:avLst/>
            <a:gdLst>
              <a:gd name="T0" fmla="*/ 79330903 w 1187"/>
              <a:gd name="T1" fmla="*/ 57877489 h 1396"/>
              <a:gd name="T2" fmla="*/ 118996340 w 1187"/>
              <a:gd name="T3" fmla="*/ 71768180 h 1396"/>
              <a:gd name="T4" fmla="*/ 126975102 w 1187"/>
              <a:gd name="T5" fmla="*/ 85915995 h 1396"/>
              <a:gd name="T6" fmla="*/ 206077753 w 1187"/>
              <a:gd name="T7" fmla="*/ 42700603 h 1396"/>
              <a:gd name="T8" fmla="*/ 214512453 w 1187"/>
              <a:gd name="T9" fmla="*/ 13890679 h 1396"/>
              <a:gd name="T10" fmla="*/ 253950204 w 1187"/>
              <a:gd name="T11" fmla="*/ 0 h 1396"/>
              <a:gd name="T12" fmla="*/ 269223476 w 1187"/>
              <a:gd name="T13" fmla="*/ 120385034 h 1396"/>
              <a:gd name="T14" fmla="*/ 270591382 w 1187"/>
              <a:gd name="T15" fmla="*/ 237425716 h 1396"/>
              <a:gd name="T16" fmla="*/ 238220903 w 1187"/>
              <a:gd name="T17" fmla="*/ 272923889 h 1396"/>
              <a:gd name="T18" fmla="*/ 198327244 w 1187"/>
              <a:gd name="T19" fmla="*/ 337232418 h 1396"/>
              <a:gd name="T20" fmla="*/ 174619271 w 1187"/>
              <a:gd name="T21" fmla="*/ 359096993 h 1396"/>
              <a:gd name="T22" fmla="*/ 158661807 w 1187"/>
              <a:gd name="T23" fmla="*/ 345206318 h 1396"/>
              <a:gd name="T24" fmla="*/ 111017608 w 1187"/>
              <a:gd name="T25" fmla="*/ 352151656 h 1396"/>
              <a:gd name="T26" fmla="*/ 55850661 w 1187"/>
              <a:gd name="T27" fmla="*/ 323084602 h 1396"/>
              <a:gd name="T28" fmla="*/ 31230744 w 1187"/>
              <a:gd name="T29" fmla="*/ 337232418 h 1396"/>
              <a:gd name="T30" fmla="*/ 0 w 1187"/>
              <a:gd name="T31" fmla="*/ 78713010 h 1396"/>
              <a:gd name="T32" fmla="*/ 79330903 w 1187"/>
              <a:gd name="T33" fmla="*/ 57877489 h 139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87"/>
              <a:gd name="T52" fmla="*/ 0 h 1396"/>
              <a:gd name="T53" fmla="*/ 1187 w 1187"/>
              <a:gd name="T54" fmla="*/ 1396 h 139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87" h="1396">
                <a:moveTo>
                  <a:pt x="348" y="225"/>
                </a:moveTo>
                <a:lnTo>
                  <a:pt x="522" y="279"/>
                </a:lnTo>
                <a:lnTo>
                  <a:pt x="557" y="334"/>
                </a:lnTo>
                <a:lnTo>
                  <a:pt x="904" y="166"/>
                </a:lnTo>
                <a:lnTo>
                  <a:pt x="941" y="54"/>
                </a:lnTo>
                <a:lnTo>
                  <a:pt x="1114" y="0"/>
                </a:lnTo>
                <a:lnTo>
                  <a:pt x="1181" y="468"/>
                </a:lnTo>
                <a:lnTo>
                  <a:pt x="1187" y="923"/>
                </a:lnTo>
                <a:lnTo>
                  <a:pt x="1045" y="1061"/>
                </a:lnTo>
                <a:lnTo>
                  <a:pt x="870" y="1311"/>
                </a:lnTo>
                <a:lnTo>
                  <a:pt x="766" y="1396"/>
                </a:lnTo>
                <a:lnTo>
                  <a:pt x="696" y="1342"/>
                </a:lnTo>
                <a:lnTo>
                  <a:pt x="487" y="1369"/>
                </a:lnTo>
                <a:lnTo>
                  <a:pt x="245" y="1256"/>
                </a:lnTo>
                <a:lnTo>
                  <a:pt x="137" y="1311"/>
                </a:lnTo>
                <a:lnTo>
                  <a:pt x="0" y="306"/>
                </a:lnTo>
                <a:lnTo>
                  <a:pt x="348" y="225"/>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83" name="Freeform 75"/>
          <p:cNvSpPr>
            <a:spLocks noChangeAspect="1"/>
          </p:cNvSpPr>
          <p:nvPr/>
        </p:nvSpPr>
        <p:spPr bwMode="auto">
          <a:xfrm>
            <a:off x="6267450" y="4237038"/>
            <a:ext cx="714375" cy="866775"/>
          </a:xfrm>
          <a:custGeom>
            <a:avLst/>
            <a:gdLst>
              <a:gd name="T0" fmla="*/ 0 w 1500"/>
              <a:gd name="T1" fmla="*/ 20909298 h 1706"/>
              <a:gd name="T2" fmla="*/ 79385164 w 1500"/>
              <a:gd name="T3" fmla="*/ 6969765 h 1706"/>
              <a:gd name="T4" fmla="*/ 158996547 w 1500"/>
              <a:gd name="T5" fmla="*/ 0 h 1706"/>
              <a:gd name="T6" fmla="*/ 150831243 w 1500"/>
              <a:gd name="T7" fmla="*/ 43109104 h 1706"/>
              <a:gd name="T8" fmla="*/ 190297115 w 1500"/>
              <a:gd name="T9" fmla="*/ 49820765 h 1706"/>
              <a:gd name="T10" fmla="*/ 198462419 w 1500"/>
              <a:gd name="T11" fmla="*/ 86218716 h 1706"/>
              <a:gd name="T12" fmla="*/ 229535816 w 1500"/>
              <a:gd name="T13" fmla="*/ 122099939 h 1706"/>
              <a:gd name="T14" fmla="*/ 261289834 w 1500"/>
              <a:gd name="T15" fmla="*/ 165209567 h 1706"/>
              <a:gd name="T16" fmla="*/ 292363231 w 1500"/>
              <a:gd name="T17" fmla="*/ 194637230 h 1706"/>
              <a:gd name="T18" fmla="*/ 292363231 w 1500"/>
              <a:gd name="T19" fmla="*/ 216837537 h 1706"/>
              <a:gd name="T20" fmla="*/ 316859142 w 1500"/>
              <a:gd name="T21" fmla="*/ 230518453 h 1706"/>
              <a:gd name="T22" fmla="*/ 316859142 w 1500"/>
              <a:gd name="T23" fmla="*/ 252718760 h 1706"/>
              <a:gd name="T24" fmla="*/ 331829104 w 1500"/>
              <a:gd name="T25" fmla="*/ 259430421 h 1706"/>
              <a:gd name="T26" fmla="*/ 340221102 w 1500"/>
              <a:gd name="T27" fmla="*/ 252718760 h 1706"/>
              <a:gd name="T28" fmla="*/ 308693839 w 1500"/>
              <a:gd name="T29" fmla="*/ 397277138 h 1706"/>
              <a:gd name="T30" fmla="*/ 277393746 w 1500"/>
              <a:gd name="T31" fmla="*/ 397277138 h 1706"/>
              <a:gd name="T32" fmla="*/ 269455138 w 1500"/>
              <a:gd name="T33" fmla="*/ 440386226 h 1706"/>
              <a:gd name="T34" fmla="*/ 252897835 w 1500"/>
              <a:gd name="T35" fmla="*/ 425414293 h 1706"/>
              <a:gd name="T36" fmla="*/ 79385164 w 1500"/>
              <a:gd name="T37" fmla="*/ 433158361 h 1706"/>
              <a:gd name="T38" fmla="*/ 64188508 w 1500"/>
              <a:gd name="T39" fmla="*/ 418186428 h 1706"/>
              <a:gd name="T40" fmla="*/ 55569323 w 1500"/>
              <a:gd name="T41" fmla="*/ 339195609 h 1706"/>
              <a:gd name="T42" fmla="*/ 79385164 w 1500"/>
              <a:gd name="T43" fmla="*/ 296086013 h 1706"/>
              <a:gd name="T44" fmla="*/ 55569323 w 1500"/>
              <a:gd name="T45" fmla="*/ 244716589 h 1706"/>
              <a:gd name="T46" fmla="*/ 0 w 1500"/>
              <a:gd name="T47" fmla="*/ 20909298 h 170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00"/>
              <a:gd name="T73" fmla="*/ 0 h 1706"/>
              <a:gd name="T74" fmla="*/ 1500 w 1500"/>
              <a:gd name="T75" fmla="*/ 1706 h 170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00" h="1706">
                <a:moveTo>
                  <a:pt x="0" y="81"/>
                </a:moveTo>
                <a:lnTo>
                  <a:pt x="350" y="27"/>
                </a:lnTo>
                <a:lnTo>
                  <a:pt x="701" y="0"/>
                </a:lnTo>
                <a:lnTo>
                  <a:pt x="665" y="167"/>
                </a:lnTo>
                <a:lnTo>
                  <a:pt x="839" y="193"/>
                </a:lnTo>
                <a:lnTo>
                  <a:pt x="875" y="334"/>
                </a:lnTo>
                <a:lnTo>
                  <a:pt x="1012" y="473"/>
                </a:lnTo>
                <a:lnTo>
                  <a:pt x="1152" y="640"/>
                </a:lnTo>
                <a:lnTo>
                  <a:pt x="1289" y="754"/>
                </a:lnTo>
                <a:lnTo>
                  <a:pt x="1289" y="840"/>
                </a:lnTo>
                <a:lnTo>
                  <a:pt x="1397" y="893"/>
                </a:lnTo>
                <a:lnTo>
                  <a:pt x="1397" y="979"/>
                </a:lnTo>
                <a:lnTo>
                  <a:pt x="1463" y="1005"/>
                </a:lnTo>
                <a:lnTo>
                  <a:pt x="1500" y="979"/>
                </a:lnTo>
                <a:lnTo>
                  <a:pt x="1361" y="1539"/>
                </a:lnTo>
                <a:lnTo>
                  <a:pt x="1223" y="1539"/>
                </a:lnTo>
                <a:lnTo>
                  <a:pt x="1188" y="1706"/>
                </a:lnTo>
                <a:lnTo>
                  <a:pt x="1115" y="1648"/>
                </a:lnTo>
                <a:lnTo>
                  <a:pt x="350" y="1678"/>
                </a:lnTo>
                <a:lnTo>
                  <a:pt x="283" y="1620"/>
                </a:lnTo>
                <a:lnTo>
                  <a:pt x="245" y="1314"/>
                </a:lnTo>
                <a:lnTo>
                  <a:pt x="350" y="1147"/>
                </a:lnTo>
                <a:lnTo>
                  <a:pt x="245" y="948"/>
                </a:lnTo>
                <a:lnTo>
                  <a:pt x="0" y="81"/>
                </a:lnTo>
                <a:close/>
              </a:path>
            </a:pathLst>
          </a:custGeom>
          <a:gradFill rotWithShape="0">
            <a:gsLst>
              <a:gs pos="0">
                <a:srgbClr val="99FFCC"/>
              </a:gs>
              <a:gs pos="100000">
                <a:srgbClr val="82D8AD"/>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84" name="Freeform 76"/>
          <p:cNvSpPr>
            <a:spLocks noChangeAspect="1"/>
          </p:cNvSpPr>
          <p:nvPr/>
        </p:nvSpPr>
        <p:spPr bwMode="auto">
          <a:xfrm>
            <a:off x="6584950" y="4151313"/>
            <a:ext cx="677863" cy="596900"/>
          </a:xfrm>
          <a:custGeom>
            <a:avLst/>
            <a:gdLst>
              <a:gd name="T0" fmla="*/ 188682163 w 1426"/>
              <a:gd name="T1" fmla="*/ 296268984 h 1176"/>
              <a:gd name="T2" fmla="*/ 180321538 w 1426"/>
              <a:gd name="T3" fmla="*/ 302967357 h 1176"/>
              <a:gd name="T4" fmla="*/ 165407607 w 1426"/>
              <a:gd name="T5" fmla="*/ 296268984 h 1176"/>
              <a:gd name="T6" fmla="*/ 165407607 w 1426"/>
              <a:gd name="T7" fmla="*/ 274113141 h 1176"/>
              <a:gd name="T8" fmla="*/ 141003121 w 1426"/>
              <a:gd name="T9" fmla="*/ 260458996 h 1176"/>
              <a:gd name="T10" fmla="*/ 141003121 w 1426"/>
              <a:gd name="T11" fmla="*/ 238303153 h 1176"/>
              <a:gd name="T12" fmla="*/ 110045774 w 1426"/>
              <a:gd name="T13" fmla="*/ 208934264 h 1176"/>
              <a:gd name="T14" fmla="*/ 78410593 w 1426"/>
              <a:gd name="T15" fmla="*/ 165910786 h 1176"/>
              <a:gd name="T16" fmla="*/ 47453261 w 1426"/>
              <a:gd name="T17" fmla="*/ 130100830 h 1176"/>
              <a:gd name="T18" fmla="*/ 39318432 w 1426"/>
              <a:gd name="T19" fmla="*/ 93775724 h 1176"/>
              <a:gd name="T20" fmla="*/ 8134832 w 1426"/>
              <a:gd name="T21" fmla="*/ 87077351 h 1176"/>
              <a:gd name="T22" fmla="*/ 0 w 1426"/>
              <a:gd name="T23" fmla="*/ 87077351 h 1176"/>
              <a:gd name="T24" fmla="*/ 8134832 w 1426"/>
              <a:gd name="T25" fmla="*/ 44053857 h 1176"/>
              <a:gd name="T26" fmla="*/ 31409399 w 1426"/>
              <a:gd name="T27" fmla="*/ 35552096 h 1176"/>
              <a:gd name="T28" fmla="*/ 39318432 w 1426"/>
              <a:gd name="T29" fmla="*/ 21640669 h 1176"/>
              <a:gd name="T30" fmla="*/ 141003121 w 1426"/>
              <a:gd name="T31" fmla="*/ 0 h 1176"/>
              <a:gd name="T32" fmla="*/ 141003121 w 1426"/>
              <a:gd name="T33" fmla="*/ 14684448 h 1176"/>
              <a:gd name="T34" fmla="*/ 165407607 w 1426"/>
              <a:gd name="T35" fmla="*/ 29111560 h 1176"/>
              <a:gd name="T36" fmla="*/ 244044441 w 1426"/>
              <a:gd name="T37" fmla="*/ 14684448 h 1176"/>
              <a:gd name="T38" fmla="*/ 322228793 w 1426"/>
              <a:gd name="T39" fmla="*/ 80121642 h 1176"/>
              <a:gd name="T40" fmla="*/ 235683342 w 1426"/>
              <a:gd name="T41" fmla="*/ 245001526 h 1176"/>
              <a:gd name="T42" fmla="*/ 196365400 w 1426"/>
              <a:gd name="T43" fmla="*/ 260458996 h 1176"/>
              <a:gd name="T44" fmla="*/ 188682163 w 1426"/>
              <a:gd name="T45" fmla="*/ 296268984 h 117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426"/>
              <a:gd name="T70" fmla="*/ 0 h 1176"/>
              <a:gd name="T71" fmla="*/ 1426 w 1426"/>
              <a:gd name="T72" fmla="*/ 1176 h 117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426" h="1176">
                <a:moveTo>
                  <a:pt x="835" y="1150"/>
                </a:moveTo>
                <a:lnTo>
                  <a:pt x="798" y="1176"/>
                </a:lnTo>
                <a:lnTo>
                  <a:pt x="732" y="1150"/>
                </a:lnTo>
                <a:lnTo>
                  <a:pt x="732" y="1064"/>
                </a:lnTo>
                <a:lnTo>
                  <a:pt x="624" y="1011"/>
                </a:lnTo>
                <a:lnTo>
                  <a:pt x="624" y="925"/>
                </a:lnTo>
                <a:lnTo>
                  <a:pt x="487" y="811"/>
                </a:lnTo>
                <a:lnTo>
                  <a:pt x="347" y="644"/>
                </a:lnTo>
                <a:lnTo>
                  <a:pt x="210" y="505"/>
                </a:lnTo>
                <a:lnTo>
                  <a:pt x="174" y="364"/>
                </a:lnTo>
                <a:lnTo>
                  <a:pt x="36" y="338"/>
                </a:lnTo>
                <a:lnTo>
                  <a:pt x="0" y="338"/>
                </a:lnTo>
                <a:lnTo>
                  <a:pt x="36" y="171"/>
                </a:lnTo>
                <a:lnTo>
                  <a:pt x="139" y="138"/>
                </a:lnTo>
                <a:lnTo>
                  <a:pt x="174" y="84"/>
                </a:lnTo>
                <a:lnTo>
                  <a:pt x="624" y="0"/>
                </a:lnTo>
                <a:lnTo>
                  <a:pt x="624" y="57"/>
                </a:lnTo>
                <a:lnTo>
                  <a:pt x="732" y="113"/>
                </a:lnTo>
                <a:lnTo>
                  <a:pt x="1080" y="57"/>
                </a:lnTo>
                <a:lnTo>
                  <a:pt x="1426" y="311"/>
                </a:lnTo>
                <a:lnTo>
                  <a:pt x="1043" y="951"/>
                </a:lnTo>
                <a:lnTo>
                  <a:pt x="869" y="1011"/>
                </a:lnTo>
                <a:lnTo>
                  <a:pt x="835" y="1150"/>
                </a:lnTo>
                <a:close/>
              </a:path>
            </a:pathLst>
          </a:custGeom>
          <a:gradFill rotWithShape="0">
            <a:gsLst>
              <a:gs pos="0">
                <a:srgbClr val="99FFCC"/>
              </a:gs>
              <a:gs pos="100000">
                <a:srgbClr val="82D8AD"/>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85" name="Freeform 77"/>
          <p:cNvSpPr>
            <a:spLocks noChangeAspect="1"/>
          </p:cNvSpPr>
          <p:nvPr/>
        </p:nvSpPr>
        <p:spPr bwMode="auto">
          <a:xfrm>
            <a:off x="6432550" y="3729038"/>
            <a:ext cx="1230313" cy="579437"/>
          </a:xfrm>
          <a:custGeom>
            <a:avLst/>
            <a:gdLst>
              <a:gd name="T0" fmla="*/ 538749378 w 2581"/>
              <a:gd name="T1" fmla="*/ 0 h 1142"/>
              <a:gd name="T2" fmla="*/ 561926064 w 2581"/>
              <a:gd name="T3" fmla="*/ 49171465 h 1142"/>
              <a:gd name="T4" fmla="*/ 530569540 w 2581"/>
              <a:gd name="T5" fmla="*/ 78519800 h 1142"/>
              <a:gd name="T6" fmla="*/ 586466533 w 2581"/>
              <a:gd name="T7" fmla="*/ 78519800 h 1142"/>
              <a:gd name="T8" fmla="*/ 561926064 w 2581"/>
              <a:gd name="T9" fmla="*/ 120483300 h 1142"/>
              <a:gd name="T10" fmla="*/ 499212420 w 2581"/>
              <a:gd name="T11" fmla="*/ 120483300 h 1142"/>
              <a:gd name="T12" fmla="*/ 514436286 w 2581"/>
              <a:gd name="T13" fmla="*/ 149831651 h 1142"/>
              <a:gd name="T14" fmla="*/ 538749378 w 2581"/>
              <a:gd name="T15" fmla="*/ 156782355 h 1142"/>
              <a:gd name="T16" fmla="*/ 491032104 w 2581"/>
              <a:gd name="T17" fmla="*/ 199775344 h 1142"/>
              <a:gd name="T18" fmla="*/ 459902480 w 2581"/>
              <a:gd name="T19" fmla="*/ 264908196 h 1142"/>
              <a:gd name="T20" fmla="*/ 395597796 w 2581"/>
              <a:gd name="T21" fmla="*/ 293999333 h 1142"/>
              <a:gd name="T22" fmla="*/ 316978394 w 2581"/>
              <a:gd name="T23" fmla="*/ 228608665 h 1142"/>
              <a:gd name="T24" fmla="*/ 237904179 w 2581"/>
              <a:gd name="T25" fmla="*/ 243025579 h 1142"/>
              <a:gd name="T26" fmla="*/ 213363710 w 2581"/>
              <a:gd name="T27" fmla="*/ 228608665 h 1142"/>
              <a:gd name="T28" fmla="*/ 213363710 w 2581"/>
              <a:gd name="T29" fmla="*/ 213934505 h 1142"/>
              <a:gd name="T30" fmla="*/ 111112839 w 2581"/>
              <a:gd name="T31" fmla="*/ 235559877 h 1142"/>
              <a:gd name="T32" fmla="*/ 103159901 w 2581"/>
              <a:gd name="T33" fmla="*/ 249461792 h 1142"/>
              <a:gd name="T34" fmla="*/ 79755838 w 2581"/>
              <a:gd name="T35" fmla="*/ 257957492 h 1142"/>
              <a:gd name="T36" fmla="*/ 0 w 2581"/>
              <a:gd name="T37" fmla="*/ 264908196 h 1142"/>
              <a:gd name="T38" fmla="*/ 15905884 w 2581"/>
              <a:gd name="T39" fmla="*/ 228608665 h 1142"/>
              <a:gd name="T40" fmla="*/ 103159901 w 2581"/>
              <a:gd name="T41" fmla="*/ 149831651 h 1142"/>
              <a:gd name="T42" fmla="*/ 126791369 w 2581"/>
              <a:gd name="T43" fmla="*/ 149831651 h 1142"/>
              <a:gd name="T44" fmla="*/ 150422808 w 2581"/>
              <a:gd name="T45" fmla="*/ 92421716 h 1142"/>
              <a:gd name="T46" fmla="*/ 538749378 w 2581"/>
              <a:gd name="T47" fmla="*/ 0 h 11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581"/>
              <a:gd name="T73" fmla="*/ 0 h 1142"/>
              <a:gd name="T74" fmla="*/ 2581 w 2581"/>
              <a:gd name="T75" fmla="*/ 1142 h 11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581" h="1142">
                <a:moveTo>
                  <a:pt x="2371" y="0"/>
                </a:moveTo>
                <a:lnTo>
                  <a:pt x="2473" y="191"/>
                </a:lnTo>
                <a:lnTo>
                  <a:pt x="2335" y="305"/>
                </a:lnTo>
                <a:lnTo>
                  <a:pt x="2581" y="305"/>
                </a:lnTo>
                <a:lnTo>
                  <a:pt x="2473" y="468"/>
                </a:lnTo>
                <a:lnTo>
                  <a:pt x="2197" y="468"/>
                </a:lnTo>
                <a:lnTo>
                  <a:pt x="2264" y="582"/>
                </a:lnTo>
                <a:lnTo>
                  <a:pt x="2371" y="609"/>
                </a:lnTo>
                <a:lnTo>
                  <a:pt x="2161" y="776"/>
                </a:lnTo>
                <a:lnTo>
                  <a:pt x="2024" y="1029"/>
                </a:lnTo>
                <a:lnTo>
                  <a:pt x="1741" y="1142"/>
                </a:lnTo>
                <a:lnTo>
                  <a:pt x="1395" y="888"/>
                </a:lnTo>
                <a:lnTo>
                  <a:pt x="1047" y="944"/>
                </a:lnTo>
                <a:lnTo>
                  <a:pt x="939" y="888"/>
                </a:lnTo>
                <a:lnTo>
                  <a:pt x="939" y="831"/>
                </a:lnTo>
                <a:lnTo>
                  <a:pt x="489" y="915"/>
                </a:lnTo>
                <a:lnTo>
                  <a:pt x="454" y="969"/>
                </a:lnTo>
                <a:lnTo>
                  <a:pt x="351" y="1002"/>
                </a:lnTo>
                <a:lnTo>
                  <a:pt x="0" y="1029"/>
                </a:lnTo>
                <a:lnTo>
                  <a:pt x="70" y="888"/>
                </a:lnTo>
                <a:lnTo>
                  <a:pt x="454" y="582"/>
                </a:lnTo>
                <a:lnTo>
                  <a:pt x="558" y="582"/>
                </a:lnTo>
                <a:lnTo>
                  <a:pt x="662" y="359"/>
                </a:lnTo>
                <a:lnTo>
                  <a:pt x="2371" y="0"/>
                </a:lnTo>
                <a:close/>
              </a:path>
            </a:pathLst>
          </a:custGeom>
          <a:gradFill rotWithShape="0">
            <a:gsLst>
              <a:gs pos="0">
                <a:srgbClr val="99FFCC"/>
              </a:gs>
              <a:gs pos="100000">
                <a:srgbClr val="82D8AD"/>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86" name="Freeform 78"/>
          <p:cNvSpPr>
            <a:spLocks noChangeAspect="1"/>
          </p:cNvSpPr>
          <p:nvPr/>
        </p:nvSpPr>
        <p:spPr bwMode="auto">
          <a:xfrm>
            <a:off x="6484938" y="3330575"/>
            <a:ext cx="1077912" cy="636588"/>
          </a:xfrm>
          <a:custGeom>
            <a:avLst/>
            <a:gdLst>
              <a:gd name="T0" fmla="*/ 0 w 2265"/>
              <a:gd name="T1" fmla="*/ 322646722 h 1256"/>
              <a:gd name="T2" fmla="*/ 94895269 w 2265"/>
              <a:gd name="T3" fmla="*/ 223232534 h 1256"/>
              <a:gd name="T4" fmla="*/ 125922970 w 2265"/>
              <a:gd name="T5" fmla="*/ 251489732 h 1256"/>
              <a:gd name="T6" fmla="*/ 213117685 w 2265"/>
              <a:gd name="T7" fmla="*/ 202424832 h 1256"/>
              <a:gd name="T8" fmla="*/ 204964581 w 2265"/>
              <a:gd name="T9" fmla="*/ 180075838 h 1256"/>
              <a:gd name="T10" fmla="*/ 228065677 w 2265"/>
              <a:gd name="T11" fmla="*/ 122277084 h 1256"/>
              <a:gd name="T12" fmla="*/ 260225572 w 2265"/>
              <a:gd name="T13" fmla="*/ 72441285 h 1256"/>
              <a:gd name="T14" fmla="*/ 267699568 w 2265"/>
              <a:gd name="T15" fmla="*/ 65762166 h 1256"/>
              <a:gd name="T16" fmla="*/ 308012983 w 2265"/>
              <a:gd name="T17" fmla="*/ 7192531 h 1256"/>
              <a:gd name="T18" fmla="*/ 339267183 w 2265"/>
              <a:gd name="T19" fmla="*/ 22605969 h 1256"/>
              <a:gd name="T20" fmla="*/ 354667755 w 2265"/>
              <a:gd name="T21" fmla="*/ 0 h 1256"/>
              <a:gd name="T22" fmla="*/ 401775582 w 2265"/>
              <a:gd name="T23" fmla="*/ 36220643 h 1256"/>
              <a:gd name="T24" fmla="*/ 393622478 w 2265"/>
              <a:gd name="T25" fmla="*/ 72441285 h 1256"/>
              <a:gd name="T26" fmla="*/ 481043721 w 2265"/>
              <a:gd name="T27" fmla="*/ 108148486 h 1256"/>
              <a:gd name="T28" fmla="*/ 488744245 w 2265"/>
              <a:gd name="T29" fmla="*/ 165947239 h 1256"/>
              <a:gd name="T30" fmla="*/ 440956834 w 2265"/>
              <a:gd name="T31" fmla="*/ 158240776 h 1256"/>
              <a:gd name="T32" fmla="*/ 481043721 w 2265"/>
              <a:gd name="T33" fmla="*/ 187268874 h 1256"/>
              <a:gd name="T34" fmla="*/ 504824520 w 2265"/>
              <a:gd name="T35" fmla="*/ 180075838 h 1256"/>
              <a:gd name="T36" fmla="*/ 512977624 w 2265"/>
              <a:gd name="T37" fmla="*/ 202424832 h 1256"/>
              <a:gd name="T38" fmla="*/ 125922970 w 2265"/>
              <a:gd name="T39" fmla="*/ 294646491 h 1256"/>
              <a:gd name="T40" fmla="*/ 0 w 2265"/>
              <a:gd name="T41" fmla="*/ 322646722 h 125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65"/>
              <a:gd name="T64" fmla="*/ 0 h 1256"/>
              <a:gd name="T65" fmla="*/ 2265 w 2265"/>
              <a:gd name="T66" fmla="*/ 1256 h 125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65" h="1256">
                <a:moveTo>
                  <a:pt x="0" y="1256"/>
                </a:moveTo>
                <a:lnTo>
                  <a:pt x="419" y="869"/>
                </a:lnTo>
                <a:lnTo>
                  <a:pt x="556" y="979"/>
                </a:lnTo>
                <a:lnTo>
                  <a:pt x="941" y="788"/>
                </a:lnTo>
                <a:lnTo>
                  <a:pt x="905" y="701"/>
                </a:lnTo>
                <a:lnTo>
                  <a:pt x="1007" y="476"/>
                </a:lnTo>
                <a:lnTo>
                  <a:pt x="1149" y="282"/>
                </a:lnTo>
                <a:lnTo>
                  <a:pt x="1182" y="256"/>
                </a:lnTo>
                <a:lnTo>
                  <a:pt x="1360" y="28"/>
                </a:lnTo>
                <a:lnTo>
                  <a:pt x="1498" y="88"/>
                </a:lnTo>
                <a:lnTo>
                  <a:pt x="1566" y="0"/>
                </a:lnTo>
                <a:lnTo>
                  <a:pt x="1774" y="141"/>
                </a:lnTo>
                <a:lnTo>
                  <a:pt x="1738" y="282"/>
                </a:lnTo>
                <a:lnTo>
                  <a:pt x="2124" y="421"/>
                </a:lnTo>
                <a:lnTo>
                  <a:pt x="2158" y="646"/>
                </a:lnTo>
                <a:lnTo>
                  <a:pt x="1947" y="616"/>
                </a:lnTo>
                <a:lnTo>
                  <a:pt x="2124" y="729"/>
                </a:lnTo>
                <a:lnTo>
                  <a:pt x="2229" y="701"/>
                </a:lnTo>
                <a:lnTo>
                  <a:pt x="2265" y="788"/>
                </a:lnTo>
                <a:lnTo>
                  <a:pt x="556" y="1147"/>
                </a:lnTo>
                <a:lnTo>
                  <a:pt x="0" y="1256"/>
                </a:lnTo>
                <a:close/>
              </a:path>
            </a:pathLst>
          </a:custGeom>
          <a:gradFill rotWithShape="0">
            <a:gsLst>
              <a:gs pos="0">
                <a:srgbClr val="99FFCC"/>
              </a:gs>
              <a:gs pos="100000">
                <a:srgbClr val="82D8AD"/>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87" name="Freeform 79"/>
          <p:cNvSpPr>
            <a:spLocks noChangeAspect="1"/>
          </p:cNvSpPr>
          <p:nvPr/>
        </p:nvSpPr>
        <p:spPr bwMode="auto">
          <a:xfrm>
            <a:off x="6567488" y="3143250"/>
            <a:ext cx="647700" cy="682625"/>
          </a:xfrm>
          <a:custGeom>
            <a:avLst/>
            <a:gdLst>
              <a:gd name="T0" fmla="*/ 55714092 w 1361"/>
              <a:gd name="T1" fmla="*/ 317901415 h 1346"/>
              <a:gd name="T2" fmla="*/ 23554197 w 1361"/>
              <a:gd name="T3" fmla="*/ 310185626 h 1346"/>
              <a:gd name="T4" fmla="*/ 16306718 w 1361"/>
              <a:gd name="T5" fmla="*/ 288580502 h 1346"/>
              <a:gd name="T6" fmla="*/ 8153121 w 1361"/>
              <a:gd name="T7" fmla="*/ 274691674 h 1346"/>
              <a:gd name="T8" fmla="*/ 0 w 1361"/>
              <a:gd name="T9" fmla="*/ 238683409 h 1346"/>
              <a:gd name="T10" fmla="*/ 23554197 w 1361"/>
              <a:gd name="T11" fmla="*/ 216821159 h 1346"/>
              <a:gd name="T12" fmla="*/ 63188115 w 1361"/>
              <a:gd name="T13" fmla="*/ 152520545 h 1346"/>
              <a:gd name="T14" fmla="*/ 95348479 w 1361"/>
              <a:gd name="T15" fmla="*/ 117027069 h 1346"/>
              <a:gd name="T16" fmla="*/ 93989785 w 1361"/>
              <a:gd name="T17" fmla="*/ 0 h 1346"/>
              <a:gd name="T18" fmla="*/ 118449612 w 1361"/>
              <a:gd name="T19" fmla="*/ 101594982 h 1346"/>
              <a:gd name="T20" fmla="*/ 181637727 w 1361"/>
              <a:gd name="T21" fmla="*/ 94392936 h 1346"/>
              <a:gd name="T22" fmla="*/ 188885207 w 1361"/>
              <a:gd name="T23" fmla="*/ 144547630 h 1346"/>
              <a:gd name="T24" fmla="*/ 236446167 w 1361"/>
              <a:gd name="T25" fmla="*/ 94392936 h 1346"/>
              <a:gd name="T26" fmla="*/ 308240486 w 1361"/>
              <a:gd name="T27" fmla="*/ 81018867 h 1346"/>
              <a:gd name="T28" fmla="*/ 300087369 w 1361"/>
              <a:gd name="T29" fmla="*/ 117027069 h 1346"/>
              <a:gd name="T30" fmla="*/ 268832643 w 1361"/>
              <a:gd name="T31" fmla="*/ 101594982 h 1346"/>
              <a:gd name="T32" fmla="*/ 228519102 w 1361"/>
              <a:gd name="T33" fmla="*/ 160236842 h 1346"/>
              <a:gd name="T34" fmla="*/ 221045095 w 1361"/>
              <a:gd name="T35" fmla="*/ 166924130 h 1346"/>
              <a:gd name="T36" fmla="*/ 188885207 w 1361"/>
              <a:gd name="T37" fmla="*/ 216821159 h 1346"/>
              <a:gd name="T38" fmla="*/ 165784074 w 1361"/>
              <a:gd name="T39" fmla="*/ 274691674 h 1346"/>
              <a:gd name="T40" fmla="*/ 173937191 w 1361"/>
              <a:gd name="T41" fmla="*/ 297068175 h 1346"/>
              <a:gd name="T42" fmla="*/ 86742305 w 1361"/>
              <a:gd name="T43" fmla="*/ 346193828 h 1346"/>
              <a:gd name="T44" fmla="*/ 55714092 w 1361"/>
              <a:gd name="T45" fmla="*/ 317901415 h 13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61"/>
              <a:gd name="T70" fmla="*/ 0 h 1346"/>
              <a:gd name="T71" fmla="*/ 1361 w 1361"/>
              <a:gd name="T72" fmla="*/ 1346 h 13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61" h="1346">
                <a:moveTo>
                  <a:pt x="246" y="1236"/>
                </a:moveTo>
                <a:lnTo>
                  <a:pt x="104" y="1206"/>
                </a:lnTo>
                <a:lnTo>
                  <a:pt x="72" y="1122"/>
                </a:lnTo>
                <a:lnTo>
                  <a:pt x="36" y="1068"/>
                </a:lnTo>
                <a:lnTo>
                  <a:pt x="0" y="928"/>
                </a:lnTo>
                <a:lnTo>
                  <a:pt x="104" y="843"/>
                </a:lnTo>
                <a:lnTo>
                  <a:pt x="279" y="593"/>
                </a:lnTo>
                <a:lnTo>
                  <a:pt x="421" y="455"/>
                </a:lnTo>
                <a:lnTo>
                  <a:pt x="415" y="0"/>
                </a:lnTo>
                <a:lnTo>
                  <a:pt x="523" y="395"/>
                </a:lnTo>
                <a:lnTo>
                  <a:pt x="802" y="367"/>
                </a:lnTo>
                <a:lnTo>
                  <a:pt x="834" y="562"/>
                </a:lnTo>
                <a:lnTo>
                  <a:pt x="1044" y="367"/>
                </a:lnTo>
                <a:lnTo>
                  <a:pt x="1361" y="315"/>
                </a:lnTo>
                <a:lnTo>
                  <a:pt x="1325" y="455"/>
                </a:lnTo>
                <a:lnTo>
                  <a:pt x="1187" y="395"/>
                </a:lnTo>
                <a:lnTo>
                  <a:pt x="1009" y="623"/>
                </a:lnTo>
                <a:lnTo>
                  <a:pt x="976" y="649"/>
                </a:lnTo>
                <a:lnTo>
                  <a:pt x="834" y="843"/>
                </a:lnTo>
                <a:lnTo>
                  <a:pt x="732" y="1068"/>
                </a:lnTo>
                <a:lnTo>
                  <a:pt x="768" y="1155"/>
                </a:lnTo>
                <a:lnTo>
                  <a:pt x="383" y="1346"/>
                </a:lnTo>
                <a:lnTo>
                  <a:pt x="246" y="1236"/>
                </a:lnTo>
                <a:close/>
              </a:path>
            </a:pathLst>
          </a:custGeom>
          <a:gradFill rotWithShape="0">
            <a:gsLst>
              <a:gs pos="0">
                <a:srgbClr val="99FFCC"/>
              </a:gs>
              <a:gs pos="100000">
                <a:srgbClr val="82D8AD"/>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88" name="Freeform 80"/>
          <p:cNvSpPr>
            <a:spLocks noChangeAspect="1"/>
          </p:cNvSpPr>
          <p:nvPr/>
        </p:nvSpPr>
        <p:spPr bwMode="auto">
          <a:xfrm>
            <a:off x="6948488" y="3178175"/>
            <a:ext cx="663575" cy="376238"/>
          </a:xfrm>
          <a:custGeom>
            <a:avLst/>
            <a:gdLst>
              <a:gd name="T0" fmla="*/ 0 w 1392"/>
              <a:gd name="T1" fmla="*/ 77856900 h 741"/>
              <a:gd name="T2" fmla="*/ 253609624 w 1392"/>
              <a:gd name="T3" fmla="*/ 0 h 741"/>
              <a:gd name="T4" fmla="*/ 268835137 w 1392"/>
              <a:gd name="T5" fmla="*/ 20881972 h 741"/>
              <a:gd name="T6" fmla="*/ 276788977 w 1392"/>
              <a:gd name="T7" fmla="*/ 38154903 h 741"/>
              <a:gd name="T8" fmla="*/ 284970205 w 1392"/>
              <a:gd name="T9" fmla="*/ 129675163 h 741"/>
              <a:gd name="T10" fmla="*/ 316330310 w 1392"/>
              <a:gd name="T11" fmla="*/ 129675163 h 741"/>
              <a:gd name="T12" fmla="*/ 308149559 w 1392"/>
              <a:gd name="T13" fmla="*/ 191032433 h 741"/>
              <a:gd name="T14" fmla="*/ 272471451 w 1392"/>
              <a:gd name="T15" fmla="*/ 183040552 h 741"/>
              <a:gd name="T16" fmla="*/ 253609624 w 1392"/>
              <a:gd name="T17" fmla="*/ 129675163 h 741"/>
              <a:gd name="T18" fmla="*/ 241338198 w 1392"/>
              <a:gd name="T19" fmla="*/ 107504039 h 741"/>
              <a:gd name="T20" fmla="*/ 237247584 w 1392"/>
              <a:gd name="T21" fmla="*/ 46662652 h 741"/>
              <a:gd name="T22" fmla="*/ 245428812 w 1392"/>
              <a:gd name="T23" fmla="*/ 25006879 h 741"/>
              <a:gd name="T24" fmla="*/ 225430519 w 1392"/>
              <a:gd name="T25" fmla="*/ 67802565 h 741"/>
              <a:gd name="T26" fmla="*/ 233157446 w 1392"/>
              <a:gd name="T27" fmla="*/ 125808189 h 741"/>
              <a:gd name="T28" fmla="*/ 257700238 w 1392"/>
              <a:gd name="T29" fmla="*/ 172212923 h 741"/>
              <a:gd name="T30" fmla="*/ 173390907 w 1392"/>
              <a:gd name="T31" fmla="*/ 150557159 h 741"/>
              <a:gd name="T32" fmla="*/ 181571659 w 1392"/>
              <a:gd name="T33" fmla="*/ 114206760 h 741"/>
              <a:gd name="T34" fmla="*/ 134303874 w 1392"/>
              <a:gd name="T35" fmla="*/ 77856900 h 741"/>
              <a:gd name="T36" fmla="*/ 118850942 w 1392"/>
              <a:gd name="T37" fmla="*/ 100543384 h 741"/>
              <a:gd name="T38" fmla="*/ 127032201 w 1392"/>
              <a:gd name="T39" fmla="*/ 64450935 h 741"/>
              <a:gd name="T40" fmla="*/ 54994250 w 1392"/>
              <a:gd name="T41" fmla="*/ 77856900 h 741"/>
              <a:gd name="T42" fmla="*/ 7272152 w 1392"/>
              <a:gd name="T43" fmla="*/ 128128577 h 741"/>
              <a:gd name="T44" fmla="*/ 0 w 1392"/>
              <a:gd name="T45" fmla="*/ 77856900 h 7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92"/>
              <a:gd name="T70" fmla="*/ 0 h 741"/>
              <a:gd name="T71" fmla="*/ 1392 w 1392"/>
              <a:gd name="T72" fmla="*/ 741 h 74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92" h="741">
                <a:moveTo>
                  <a:pt x="0" y="302"/>
                </a:moveTo>
                <a:lnTo>
                  <a:pt x="1116" y="0"/>
                </a:lnTo>
                <a:lnTo>
                  <a:pt x="1183" y="81"/>
                </a:lnTo>
                <a:lnTo>
                  <a:pt x="1218" y="148"/>
                </a:lnTo>
                <a:lnTo>
                  <a:pt x="1254" y="503"/>
                </a:lnTo>
                <a:lnTo>
                  <a:pt x="1392" y="503"/>
                </a:lnTo>
                <a:lnTo>
                  <a:pt x="1356" y="741"/>
                </a:lnTo>
                <a:lnTo>
                  <a:pt x="1199" y="710"/>
                </a:lnTo>
                <a:lnTo>
                  <a:pt x="1116" y="503"/>
                </a:lnTo>
                <a:lnTo>
                  <a:pt x="1062" y="417"/>
                </a:lnTo>
                <a:lnTo>
                  <a:pt x="1044" y="181"/>
                </a:lnTo>
                <a:lnTo>
                  <a:pt x="1080" y="97"/>
                </a:lnTo>
                <a:lnTo>
                  <a:pt x="992" y="263"/>
                </a:lnTo>
                <a:lnTo>
                  <a:pt x="1026" y="488"/>
                </a:lnTo>
                <a:lnTo>
                  <a:pt x="1134" y="668"/>
                </a:lnTo>
                <a:lnTo>
                  <a:pt x="763" y="584"/>
                </a:lnTo>
                <a:lnTo>
                  <a:pt x="799" y="443"/>
                </a:lnTo>
                <a:lnTo>
                  <a:pt x="591" y="302"/>
                </a:lnTo>
                <a:lnTo>
                  <a:pt x="523" y="390"/>
                </a:lnTo>
                <a:lnTo>
                  <a:pt x="559" y="250"/>
                </a:lnTo>
                <a:lnTo>
                  <a:pt x="242" y="302"/>
                </a:lnTo>
                <a:lnTo>
                  <a:pt x="32" y="497"/>
                </a:lnTo>
                <a:lnTo>
                  <a:pt x="0" y="302"/>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89" name="Freeform 81"/>
          <p:cNvSpPr>
            <a:spLocks noChangeAspect="1"/>
          </p:cNvSpPr>
          <p:nvPr/>
        </p:nvSpPr>
        <p:spPr bwMode="auto">
          <a:xfrm>
            <a:off x="7529513" y="3246438"/>
            <a:ext cx="82550" cy="187325"/>
          </a:xfrm>
          <a:custGeom>
            <a:avLst/>
            <a:gdLst>
              <a:gd name="T0" fmla="*/ 8102710 w 174"/>
              <a:gd name="T1" fmla="*/ 0 h 367"/>
              <a:gd name="T2" fmla="*/ 35337570 w 174"/>
              <a:gd name="T3" fmla="*/ 66174719 h 367"/>
              <a:gd name="T4" fmla="*/ 39163809 w 174"/>
              <a:gd name="T5" fmla="*/ 95614866 h 367"/>
              <a:gd name="T6" fmla="*/ 8102710 w 174"/>
              <a:gd name="T7" fmla="*/ 95614866 h 367"/>
              <a:gd name="T8" fmla="*/ 0 w 174"/>
              <a:gd name="T9" fmla="*/ 3126337 h 367"/>
              <a:gd name="T10" fmla="*/ 8102710 w 174"/>
              <a:gd name="T11" fmla="*/ 0 h 367"/>
              <a:gd name="T12" fmla="*/ 0 60000 65536"/>
              <a:gd name="T13" fmla="*/ 0 60000 65536"/>
              <a:gd name="T14" fmla="*/ 0 60000 65536"/>
              <a:gd name="T15" fmla="*/ 0 60000 65536"/>
              <a:gd name="T16" fmla="*/ 0 60000 65536"/>
              <a:gd name="T17" fmla="*/ 0 60000 65536"/>
              <a:gd name="T18" fmla="*/ 0 w 174"/>
              <a:gd name="T19" fmla="*/ 0 h 367"/>
              <a:gd name="T20" fmla="*/ 174 w 174"/>
              <a:gd name="T21" fmla="*/ 367 h 367"/>
            </a:gdLst>
            <a:ahLst/>
            <a:cxnLst>
              <a:cxn ang="T12">
                <a:pos x="T0" y="T1"/>
              </a:cxn>
              <a:cxn ang="T13">
                <a:pos x="T2" y="T3"/>
              </a:cxn>
              <a:cxn ang="T14">
                <a:pos x="T4" y="T5"/>
              </a:cxn>
              <a:cxn ang="T15">
                <a:pos x="T6" y="T7"/>
              </a:cxn>
              <a:cxn ang="T16">
                <a:pos x="T8" y="T9"/>
              </a:cxn>
              <a:cxn ang="T17">
                <a:pos x="T10" y="T11"/>
              </a:cxn>
            </a:cxnLst>
            <a:rect l="T18" t="T19" r="T20" b="T21"/>
            <a:pathLst>
              <a:path w="174" h="367">
                <a:moveTo>
                  <a:pt x="36" y="0"/>
                </a:moveTo>
                <a:lnTo>
                  <a:pt x="157" y="254"/>
                </a:lnTo>
                <a:lnTo>
                  <a:pt x="174" y="367"/>
                </a:lnTo>
                <a:lnTo>
                  <a:pt x="36" y="367"/>
                </a:lnTo>
                <a:lnTo>
                  <a:pt x="0" y="12"/>
                </a:lnTo>
                <a:lnTo>
                  <a:pt x="36" y="0"/>
                </a:lnTo>
                <a:close/>
              </a:path>
            </a:pathLst>
          </a:custGeom>
          <a:solidFill>
            <a:srgbClr val="FFDDFF"/>
          </a:soli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90" name="Freeform 82"/>
          <p:cNvSpPr>
            <a:spLocks noChangeAspect="1"/>
          </p:cNvSpPr>
          <p:nvPr/>
        </p:nvSpPr>
        <p:spPr bwMode="auto">
          <a:xfrm>
            <a:off x="6732588" y="2762250"/>
            <a:ext cx="842962" cy="582613"/>
          </a:xfrm>
          <a:custGeom>
            <a:avLst/>
            <a:gdLst>
              <a:gd name="T0" fmla="*/ 0 w 1775"/>
              <a:gd name="T1" fmla="*/ 73404163 h 1148"/>
              <a:gd name="T2" fmla="*/ 39469147 w 1775"/>
              <a:gd name="T3" fmla="*/ 29876674 h 1148"/>
              <a:gd name="T4" fmla="*/ 47588650 w 1775"/>
              <a:gd name="T5" fmla="*/ 65935235 h 1148"/>
              <a:gd name="T6" fmla="*/ 321616866 w 1775"/>
              <a:gd name="T7" fmla="*/ 0 h 1148"/>
              <a:gd name="T8" fmla="*/ 337855396 w 1775"/>
              <a:gd name="T9" fmla="*/ 1030230 h 1148"/>
              <a:gd name="T10" fmla="*/ 361537160 w 1775"/>
              <a:gd name="T11" fmla="*/ 7984537 h 1148"/>
              <a:gd name="T12" fmla="*/ 361537160 w 1775"/>
              <a:gd name="T13" fmla="*/ 36830987 h 1148"/>
              <a:gd name="T14" fmla="*/ 385218450 w 1775"/>
              <a:gd name="T15" fmla="*/ 36830987 h 1148"/>
              <a:gd name="T16" fmla="*/ 361537160 w 1775"/>
              <a:gd name="T17" fmla="*/ 87312267 h 1148"/>
              <a:gd name="T18" fmla="*/ 377098947 w 1775"/>
              <a:gd name="T19" fmla="*/ 116159210 h 1148"/>
              <a:gd name="T20" fmla="*/ 400329549 w 1775"/>
              <a:gd name="T21" fmla="*/ 138051373 h 1148"/>
              <a:gd name="T22" fmla="*/ 377098947 w 1775"/>
              <a:gd name="T23" fmla="*/ 181063724 h 1148"/>
              <a:gd name="T24" fmla="*/ 354094402 w 1775"/>
              <a:gd name="T25" fmla="*/ 210683086 h 1148"/>
              <a:gd name="T26" fmla="*/ 102394002 w 1775"/>
              <a:gd name="T27" fmla="*/ 288466012 h 1148"/>
              <a:gd name="T28" fmla="*/ 39469147 w 1775"/>
              <a:gd name="T29" fmla="*/ 295677621 h 1148"/>
              <a:gd name="T30" fmla="*/ 15111103 w 1775"/>
              <a:gd name="T31" fmla="*/ 193941597 h 1148"/>
              <a:gd name="T32" fmla="*/ 0 w 1775"/>
              <a:gd name="T33" fmla="*/ 73404163 h 11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75"/>
              <a:gd name="T52" fmla="*/ 0 h 1148"/>
              <a:gd name="T53" fmla="*/ 1775 w 1775"/>
              <a:gd name="T54" fmla="*/ 1148 h 114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75" h="1148">
                <a:moveTo>
                  <a:pt x="0" y="285"/>
                </a:moveTo>
                <a:lnTo>
                  <a:pt x="175" y="116"/>
                </a:lnTo>
                <a:lnTo>
                  <a:pt x="211" y="256"/>
                </a:lnTo>
                <a:lnTo>
                  <a:pt x="1426" y="0"/>
                </a:lnTo>
                <a:lnTo>
                  <a:pt x="1498" y="4"/>
                </a:lnTo>
                <a:lnTo>
                  <a:pt x="1603" y="31"/>
                </a:lnTo>
                <a:lnTo>
                  <a:pt x="1603" y="143"/>
                </a:lnTo>
                <a:lnTo>
                  <a:pt x="1708" y="143"/>
                </a:lnTo>
                <a:lnTo>
                  <a:pt x="1603" y="339"/>
                </a:lnTo>
                <a:lnTo>
                  <a:pt x="1672" y="451"/>
                </a:lnTo>
                <a:lnTo>
                  <a:pt x="1775" y="536"/>
                </a:lnTo>
                <a:lnTo>
                  <a:pt x="1672" y="703"/>
                </a:lnTo>
                <a:lnTo>
                  <a:pt x="1570" y="818"/>
                </a:lnTo>
                <a:lnTo>
                  <a:pt x="454" y="1120"/>
                </a:lnTo>
                <a:lnTo>
                  <a:pt x="175" y="1148"/>
                </a:lnTo>
                <a:lnTo>
                  <a:pt x="67" y="753"/>
                </a:lnTo>
                <a:lnTo>
                  <a:pt x="0" y="285"/>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91" name="Freeform 83"/>
          <p:cNvSpPr>
            <a:spLocks noChangeAspect="1"/>
          </p:cNvSpPr>
          <p:nvPr/>
        </p:nvSpPr>
        <p:spPr bwMode="auto">
          <a:xfrm>
            <a:off x="6815138" y="2152650"/>
            <a:ext cx="1044575" cy="795338"/>
          </a:xfrm>
          <a:custGeom>
            <a:avLst/>
            <a:gdLst>
              <a:gd name="T0" fmla="*/ 38761633 w 2194"/>
              <a:gd name="T1" fmla="*/ 280293442 h 1572"/>
              <a:gd name="T2" fmla="*/ 38761633 w 2194"/>
              <a:gd name="T3" fmla="*/ 244712639 h 1572"/>
              <a:gd name="T4" fmla="*/ 78883499 w 2194"/>
              <a:gd name="T5" fmla="*/ 215275529 h 1572"/>
              <a:gd name="T6" fmla="*/ 134418805 w 2194"/>
              <a:gd name="T7" fmla="*/ 230377840 h 1572"/>
              <a:gd name="T8" fmla="*/ 165700337 w 2194"/>
              <a:gd name="T9" fmla="*/ 208619888 h 1572"/>
              <a:gd name="T10" fmla="*/ 212849023 w 2194"/>
              <a:gd name="T11" fmla="*/ 165872002 h 1572"/>
              <a:gd name="T12" fmla="*/ 189954558 w 2194"/>
              <a:gd name="T13" fmla="*/ 116212942 h 1572"/>
              <a:gd name="T14" fmla="*/ 205141834 w 2194"/>
              <a:gd name="T15" fmla="*/ 108021773 h 1572"/>
              <a:gd name="T16" fmla="*/ 244357181 w 2194"/>
              <a:gd name="T17" fmla="*/ 44539942 h 1572"/>
              <a:gd name="T18" fmla="*/ 370615545 w 2194"/>
              <a:gd name="T19" fmla="*/ 0 h 1572"/>
              <a:gd name="T20" fmla="*/ 386709325 w 2194"/>
              <a:gd name="T21" fmla="*/ 122868078 h 1572"/>
              <a:gd name="T22" fmla="*/ 410510770 w 2194"/>
              <a:gd name="T23" fmla="*/ 144114050 h 1572"/>
              <a:gd name="T24" fmla="*/ 418444109 w 2194"/>
              <a:gd name="T25" fmla="*/ 194029589 h 1572"/>
              <a:gd name="T26" fmla="*/ 426604550 w 2194"/>
              <a:gd name="T27" fmla="*/ 258791433 h 1572"/>
              <a:gd name="T28" fmla="*/ 434538365 w 2194"/>
              <a:gd name="T29" fmla="*/ 327392919 h 1572"/>
              <a:gd name="T30" fmla="*/ 418444109 w 2194"/>
              <a:gd name="T31" fmla="*/ 366812731 h 1572"/>
              <a:gd name="T32" fmla="*/ 466046046 w 2194"/>
              <a:gd name="T33" fmla="*/ 344543274 h 1572"/>
              <a:gd name="T34" fmla="*/ 482140302 w 2194"/>
              <a:gd name="T35" fmla="*/ 322785323 h 1572"/>
              <a:gd name="T36" fmla="*/ 497327578 w 2194"/>
              <a:gd name="T37" fmla="*/ 330720486 h 1572"/>
              <a:gd name="T38" fmla="*/ 418444109 w 2194"/>
              <a:gd name="T39" fmla="*/ 402393471 h 1572"/>
              <a:gd name="T40" fmla="*/ 418444109 w 2194"/>
              <a:gd name="T41" fmla="*/ 366812731 h 1572"/>
              <a:gd name="T42" fmla="*/ 355654895 w 2194"/>
              <a:gd name="T43" fmla="*/ 344543274 h 1572"/>
              <a:gd name="T44" fmla="*/ 323693485 w 2194"/>
              <a:gd name="T45" fmla="*/ 344543274 h 1572"/>
              <a:gd name="T46" fmla="*/ 323693485 w 2194"/>
              <a:gd name="T47" fmla="*/ 315873676 h 1572"/>
              <a:gd name="T48" fmla="*/ 299892517 w 2194"/>
              <a:gd name="T49" fmla="*/ 308962535 h 1572"/>
              <a:gd name="T50" fmla="*/ 283572111 w 2194"/>
              <a:gd name="T51" fmla="*/ 307938512 h 1572"/>
              <a:gd name="T52" fmla="*/ 8160445 w 2194"/>
              <a:gd name="T53" fmla="*/ 373468373 h 1572"/>
              <a:gd name="T54" fmla="*/ 0 w 2194"/>
              <a:gd name="T55" fmla="*/ 337631627 h 1572"/>
              <a:gd name="T56" fmla="*/ 38761633 w 2194"/>
              <a:gd name="T57" fmla="*/ 280293442 h 15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94"/>
              <a:gd name="T88" fmla="*/ 0 h 1572"/>
              <a:gd name="T89" fmla="*/ 2194 w 2194"/>
              <a:gd name="T90" fmla="*/ 1572 h 15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94" h="1572">
                <a:moveTo>
                  <a:pt x="171" y="1095"/>
                </a:moveTo>
                <a:lnTo>
                  <a:pt x="171" y="956"/>
                </a:lnTo>
                <a:lnTo>
                  <a:pt x="348" y="841"/>
                </a:lnTo>
                <a:lnTo>
                  <a:pt x="593" y="900"/>
                </a:lnTo>
                <a:lnTo>
                  <a:pt x="731" y="815"/>
                </a:lnTo>
                <a:lnTo>
                  <a:pt x="939" y="648"/>
                </a:lnTo>
                <a:lnTo>
                  <a:pt x="838" y="454"/>
                </a:lnTo>
                <a:lnTo>
                  <a:pt x="905" y="422"/>
                </a:lnTo>
                <a:lnTo>
                  <a:pt x="1078" y="174"/>
                </a:lnTo>
                <a:lnTo>
                  <a:pt x="1635" y="0"/>
                </a:lnTo>
                <a:lnTo>
                  <a:pt x="1706" y="480"/>
                </a:lnTo>
                <a:lnTo>
                  <a:pt x="1811" y="563"/>
                </a:lnTo>
                <a:lnTo>
                  <a:pt x="1846" y="758"/>
                </a:lnTo>
                <a:lnTo>
                  <a:pt x="1882" y="1011"/>
                </a:lnTo>
                <a:lnTo>
                  <a:pt x="1917" y="1279"/>
                </a:lnTo>
                <a:lnTo>
                  <a:pt x="1846" y="1433"/>
                </a:lnTo>
                <a:lnTo>
                  <a:pt x="2056" y="1346"/>
                </a:lnTo>
                <a:lnTo>
                  <a:pt x="2127" y="1261"/>
                </a:lnTo>
                <a:lnTo>
                  <a:pt x="2194" y="1292"/>
                </a:lnTo>
                <a:lnTo>
                  <a:pt x="1846" y="1572"/>
                </a:lnTo>
                <a:lnTo>
                  <a:pt x="1846" y="1433"/>
                </a:lnTo>
                <a:lnTo>
                  <a:pt x="1569" y="1346"/>
                </a:lnTo>
                <a:lnTo>
                  <a:pt x="1428" y="1346"/>
                </a:lnTo>
                <a:lnTo>
                  <a:pt x="1428" y="1234"/>
                </a:lnTo>
                <a:lnTo>
                  <a:pt x="1323" y="1207"/>
                </a:lnTo>
                <a:lnTo>
                  <a:pt x="1251" y="1203"/>
                </a:lnTo>
                <a:lnTo>
                  <a:pt x="36" y="1459"/>
                </a:lnTo>
                <a:lnTo>
                  <a:pt x="0" y="1319"/>
                </a:lnTo>
                <a:lnTo>
                  <a:pt x="171" y="1095"/>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92" name="Freeform 84"/>
          <p:cNvSpPr>
            <a:spLocks noChangeAspect="1"/>
          </p:cNvSpPr>
          <p:nvPr/>
        </p:nvSpPr>
        <p:spPr bwMode="auto">
          <a:xfrm>
            <a:off x="7478713" y="2835275"/>
            <a:ext cx="215900" cy="439738"/>
          </a:xfrm>
          <a:custGeom>
            <a:avLst/>
            <a:gdLst>
              <a:gd name="T0" fmla="*/ 15354271 w 451"/>
              <a:gd name="T1" fmla="*/ 194927841 h 866"/>
              <a:gd name="T2" fmla="*/ 0 w 451"/>
              <a:gd name="T3" fmla="*/ 174042831 h 866"/>
              <a:gd name="T4" fmla="*/ 23375126 w 451"/>
              <a:gd name="T5" fmla="*/ 144390991 h 866"/>
              <a:gd name="T6" fmla="*/ 46979076 w 451"/>
              <a:gd name="T7" fmla="*/ 101331684 h 866"/>
              <a:gd name="T8" fmla="*/ 23375126 w 451"/>
              <a:gd name="T9" fmla="*/ 79414864 h 866"/>
              <a:gd name="T10" fmla="*/ 7562723 w 451"/>
              <a:gd name="T11" fmla="*/ 50536866 h 866"/>
              <a:gd name="T12" fmla="*/ 31625287 w 451"/>
              <a:gd name="T13" fmla="*/ 0 h 866"/>
              <a:gd name="T14" fmla="*/ 39874963 w 451"/>
              <a:gd name="T15" fmla="*/ 0 h 866"/>
              <a:gd name="T16" fmla="*/ 103354348 w 451"/>
              <a:gd name="T17" fmla="*/ 22432225 h 866"/>
              <a:gd name="T18" fmla="*/ 103354348 w 451"/>
              <a:gd name="T19" fmla="*/ 29135943 h 866"/>
              <a:gd name="T20" fmla="*/ 103354348 w 451"/>
              <a:gd name="T21" fmla="*/ 22432225 h 866"/>
              <a:gd name="T22" fmla="*/ 91208420 w 451"/>
              <a:gd name="T23" fmla="*/ 68843383 h 866"/>
              <a:gd name="T24" fmla="*/ 103354348 w 451"/>
              <a:gd name="T25" fmla="*/ 115512977 h 866"/>
              <a:gd name="T26" fmla="*/ 79749926 w 451"/>
              <a:gd name="T27" fmla="*/ 223290426 h 866"/>
              <a:gd name="T28" fmla="*/ 31625287 w 451"/>
              <a:gd name="T29" fmla="*/ 209109134 h 866"/>
              <a:gd name="T30" fmla="*/ 15354271 w 451"/>
              <a:gd name="T31" fmla="*/ 194927841 h 8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1"/>
              <a:gd name="T49" fmla="*/ 0 h 866"/>
              <a:gd name="T50" fmla="*/ 451 w 451"/>
              <a:gd name="T51" fmla="*/ 866 h 8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1" h="866">
                <a:moveTo>
                  <a:pt x="67" y="756"/>
                </a:moveTo>
                <a:lnTo>
                  <a:pt x="0" y="675"/>
                </a:lnTo>
                <a:lnTo>
                  <a:pt x="102" y="560"/>
                </a:lnTo>
                <a:lnTo>
                  <a:pt x="205" y="393"/>
                </a:lnTo>
                <a:lnTo>
                  <a:pt x="102" y="308"/>
                </a:lnTo>
                <a:lnTo>
                  <a:pt x="33" y="196"/>
                </a:lnTo>
                <a:lnTo>
                  <a:pt x="138" y="0"/>
                </a:lnTo>
                <a:lnTo>
                  <a:pt x="174" y="0"/>
                </a:lnTo>
                <a:lnTo>
                  <a:pt x="451" y="87"/>
                </a:lnTo>
                <a:lnTo>
                  <a:pt x="451" y="113"/>
                </a:lnTo>
                <a:lnTo>
                  <a:pt x="451" y="87"/>
                </a:lnTo>
                <a:lnTo>
                  <a:pt x="398" y="267"/>
                </a:lnTo>
                <a:lnTo>
                  <a:pt x="451" y="448"/>
                </a:lnTo>
                <a:lnTo>
                  <a:pt x="348" y="866"/>
                </a:lnTo>
                <a:lnTo>
                  <a:pt x="138" y="811"/>
                </a:lnTo>
                <a:lnTo>
                  <a:pt x="67" y="756"/>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93" name="Freeform 85"/>
          <p:cNvSpPr>
            <a:spLocks noChangeAspect="1"/>
          </p:cNvSpPr>
          <p:nvPr/>
        </p:nvSpPr>
        <p:spPr bwMode="auto">
          <a:xfrm>
            <a:off x="7594600" y="2097088"/>
            <a:ext cx="182563" cy="439737"/>
          </a:xfrm>
          <a:custGeom>
            <a:avLst/>
            <a:gdLst>
              <a:gd name="T0" fmla="*/ 0 w 384"/>
              <a:gd name="T1" fmla="*/ 27652594 h 865"/>
              <a:gd name="T2" fmla="*/ 78658034 w 384"/>
              <a:gd name="T3" fmla="*/ 0 h 865"/>
              <a:gd name="T4" fmla="*/ 86794921 w 384"/>
              <a:gd name="T5" fmla="*/ 27652594 h 865"/>
              <a:gd name="T6" fmla="*/ 78658034 w 384"/>
              <a:gd name="T7" fmla="*/ 72620670 h 865"/>
              <a:gd name="T8" fmla="*/ 78658034 w 384"/>
              <a:gd name="T9" fmla="*/ 187366609 h 865"/>
              <a:gd name="T10" fmla="*/ 86794921 w 384"/>
              <a:gd name="T11" fmla="*/ 217086721 h 865"/>
              <a:gd name="T12" fmla="*/ 47692206 w 384"/>
              <a:gd name="T13" fmla="*/ 223547549 h 865"/>
              <a:gd name="T14" fmla="*/ 39781146 w 384"/>
              <a:gd name="T15" fmla="*/ 173152686 h 865"/>
              <a:gd name="T16" fmla="*/ 16047956 w 384"/>
              <a:gd name="T17" fmla="*/ 151702169 h 865"/>
              <a:gd name="T18" fmla="*/ 0 w 384"/>
              <a:gd name="T19" fmla="*/ 27652594 h 8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4"/>
              <a:gd name="T31" fmla="*/ 0 h 865"/>
              <a:gd name="T32" fmla="*/ 384 w 384"/>
              <a:gd name="T33" fmla="*/ 865 h 8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4" h="865">
                <a:moveTo>
                  <a:pt x="0" y="107"/>
                </a:moveTo>
                <a:lnTo>
                  <a:pt x="348" y="0"/>
                </a:lnTo>
                <a:lnTo>
                  <a:pt x="384" y="107"/>
                </a:lnTo>
                <a:lnTo>
                  <a:pt x="348" y="281"/>
                </a:lnTo>
                <a:lnTo>
                  <a:pt x="348" y="725"/>
                </a:lnTo>
                <a:lnTo>
                  <a:pt x="384" y="840"/>
                </a:lnTo>
                <a:lnTo>
                  <a:pt x="211" y="865"/>
                </a:lnTo>
                <a:lnTo>
                  <a:pt x="176" y="670"/>
                </a:lnTo>
                <a:lnTo>
                  <a:pt x="71" y="587"/>
                </a:lnTo>
                <a:lnTo>
                  <a:pt x="0" y="107"/>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94" name="Freeform 86"/>
          <p:cNvSpPr>
            <a:spLocks noChangeAspect="1"/>
          </p:cNvSpPr>
          <p:nvPr/>
        </p:nvSpPr>
        <p:spPr bwMode="auto">
          <a:xfrm>
            <a:off x="7712075" y="2635250"/>
            <a:ext cx="200025" cy="165100"/>
          </a:xfrm>
          <a:custGeom>
            <a:avLst/>
            <a:gdLst>
              <a:gd name="T0" fmla="*/ 0 w 418"/>
              <a:gd name="T1" fmla="*/ 14369832 h 323"/>
              <a:gd name="T2" fmla="*/ 87932047 w 418"/>
              <a:gd name="T3" fmla="*/ 0 h 323"/>
              <a:gd name="T4" fmla="*/ 95717707 w 418"/>
              <a:gd name="T5" fmla="*/ 51209110 h 323"/>
              <a:gd name="T6" fmla="*/ 8014879 w 418"/>
              <a:gd name="T7" fmla="*/ 84390124 h 323"/>
              <a:gd name="T8" fmla="*/ 0 w 418"/>
              <a:gd name="T9" fmla="*/ 14369832 h 323"/>
              <a:gd name="T10" fmla="*/ 0 60000 65536"/>
              <a:gd name="T11" fmla="*/ 0 60000 65536"/>
              <a:gd name="T12" fmla="*/ 0 60000 65536"/>
              <a:gd name="T13" fmla="*/ 0 60000 65536"/>
              <a:gd name="T14" fmla="*/ 0 60000 65536"/>
              <a:gd name="T15" fmla="*/ 0 w 418"/>
              <a:gd name="T16" fmla="*/ 0 h 323"/>
              <a:gd name="T17" fmla="*/ 418 w 418"/>
              <a:gd name="T18" fmla="*/ 323 h 323"/>
            </a:gdLst>
            <a:ahLst/>
            <a:cxnLst>
              <a:cxn ang="T10">
                <a:pos x="T0" y="T1"/>
              </a:cxn>
              <a:cxn ang="T11">
                <a:pos x="T2" y="T3"/>
              </a:cxn>
              <a:cxn ang="T12">
                <a:pos x="T4" y="T5"/>
              </a:cxn>
              <a:cxn ang="T13">
                <a:pos x="T6" y="T7"/>
              </a:cxn>
              <a:cxn ang="T14">
                <a:pos x="T8" y="T9"/>
              </a:cxn>
            </a:cxnLst>
            <a:rect l="T15" t="T16" r="T17" b="T18"/>
            <a:pathLst>
              <a:path w="418" h="323">
                <a:moveTo>
                  <a:pt x="0" y="55"/>
                </a:moveTo>
                <a:lnTo>
                  <a:pt x="384" y="0"/>
                </a:lnTo>
                <a:lnTo>
                  <a:pt x="418" y="196"/>
                </a:lnTo>
                <a:lnTo>
                  <a:pt x="35" y="323"/>
                </a:lnTo>
                <a:lnTo>
                  <a:pt x="0" y="55"/>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95" name="Freeform 87"/>
          <p:cNvSpPr>
            <a:spLocks noChangeAspect="1"/>
          </p:cNvSpPr>
          <p:nvPr/>
        </p:nvSpPr>
        <p:spPr bwMode="auto">
          <a:xfrm>
            <a:off x="7694613" y="2492375"/>
            <a:ext cx="400050" cy="171450"/>
          </a:xfrm>
          <a:custGeom>
            <a:avLst/>
            <a:gdLst>
              <a:gd name="T0" fmla="*/ 39426411 w 838"/>
              <a:gd name="T1" fmla="*/ 15270750 h 337"/>
              <a:gd name="T2" fmla="*/ 126711325 w 838"/>
              <a:gd name="T3" fmla="*/ 0 h 337"/>
              <a:gd name="T4" fmla="*/ 158161070 w 838"/>
              <a:gd name="T5" fmla="*/ 43224733 h 337"/>
              <a:gd name="T6" fmla="*/ 174797989 w 838"/>
              <a:gd name="T7" fmla="*/ 36494941 h 337"/>
              <a:gd name="T8" fmla="*/ 190978527 w 838"/>
              <a:gd name="T9" fmla="*/ 15270750 h 337"/>
              <a:gd name="T10" fmla="*/ 190978527 w 838"/>
              <a:gd name="T11" fmla="*/ 51507240 h 337"/>
              <a:gd name="T12" fmla="*/ 174797989 w 838"/>
              <a:gd name="T13" fmla="*/ 72990391 h 337"/>
              <a:gd name="T14" fmla="*/ 142891863 w 838"/>
              <a:gd name="T15" fmla="*/ 72990391 h 337"/>
              <a:gd name="T16" fmla="*/ 118734644 w 838"/>
              <a:gd name="T17" fmla="*/ 51507240 h 337"/>
              <a:gd name="T18" fmla="*/ 95716977 w 838"/>
              <a:gd name="T19" fmla="*/ 72990391 h 337"/>
              <a:gd name="T20" fmla="*/ 8204368 w 838"/>
              <a:gd name="T21" fmla="*/ 87225824 h 337"/>
              <a:gd name="T22" fmla="*/ 0 w 838"/>
              <a:gd name="T23" fmla="*/ 21741590 h 337"/>
              <a:gd name="T24" fmla="*/ 39426411 w 838"/>
              <a:gd name="T25" fmla="*/ 15270750 h 3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38"/>
              <a:gd name="T40" fmla="*/ 0 h 337"/>
              <a:gd name="T41" fmla="*/ 838 w 838"/>
              <a:gd name="T42" fmla="*/ 337 h 3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38" h="337">
                <a:moveTo>
                  <a:pt x="173" y="59"/>
                </a:moveTo>
                <a:lnTo>
                  <a:pt x="556" y="0"/>
                </a:lnTo>
                <a:lnTo>
                  <a:pt x="694" y="167"/>
                </a:lnTo>
                <a:lnTo>
                  <a:pt x="767" y="141"/>
                </a:lnTo>
                <a:lnTo>
                  <a:pt x="838" y="59"/>
                </a:lnTo>
                <a:lnTo>
                  <a:pt x="838" y="199"/>
                </a:lnTo>
                <a:lnTo>
                  <a:pt x="767" y="282"/>
                </a:lnTo>
                <a:lnTo>
                  <a:pt x="627" y="282"/>
                </a:lnTo>
                <a:lnTo>
                  <a:pt x="521" y="199"/>
                </a:lnTo>
                <a:lnTo>
                  <a:pt x="420" y="282"/>
                </a:lnTo>
                <a:lnTo>
                  <a:pt x="36" y="337"/>
                </a:lnTo>
                <a:lnTo>
                  <a:pt x="0" y="84"/>
                </a:lnTo>
                <a:lnTo>
                  <a:pt x="173" y="59"/>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96" name="Freeform 88"/>
          <p:cNvSpPr>
            <a:spLocks noChangeAspect="1"/>
          </p:cNvSpPr>
          <p:nvPr/>
        </p:nvSpPr>
        <p:spPr bwMode="auto">
          <a:xfrm>
            <a:off x="7893050" y="2592388"/>
            <a:ext cx="100013" cy="142875"/>
          </a:xfrm>
          <a:custGeom>
            <a:avLst/>
            <a:gdLst>
              <a:gd name="T0" fmla="*/ 48321741 w 207"/>
              <a:gd name="T1" fmla="*/ 21766160 h 279"/>
              <a:gd name="T2" fmla="*/ 7936782 w 207"/>
              <a:gd name="T3" fmla="*/ 73165827 h 279"/>
              <a:gd name="T4" fmla="*/ 0 w 207"/>
              <a:gd name="T5" fmla="*/ 21766160 h 279"/>
              <a:gd name="T6" fmla="*/ 23577461 w 207"/>
              <a:gd name="T7" fmla="*/ 0 h 279"/>
              <a:gd name="T8" fmla="*/ 48321741 w 207"/>
              <a:gd name="T9" fmla="*/ 21766160 h 279"/>
              <a:gd name="T10" fmla="*/ 0 60000 65536"/>
              <a:gd name="T11" fmla="*/ 0 60000 65536"/>
              <a:gd name="T12" fmla="*/ 0 60000 65536"/>
              <a:gd name="T13" fmla="*/ 0 60000 65536"/>
              <a:gd name="T14" fmla="*/ 0 60000 65536"/>
              <a:gd name="T15" fmla="*/ 0 w 207"/>
              <a:gd name="T16" fmla="*/ 0 h 279"/>
              <a:gd name="T17" fmla="*/ 207 w 207"/>
              <a:gd name="T18" fmla="*/ 279 h 279"/>
            </a:gdLst>
            <a:ahLst/>
            <a:cxnLst>
              <a:cxn ang="T10">
                <a:pos x="T0" y="T1"/>
              </a:cxn>
              <a:cxn ang="T11">
                <a:pos x="T2" y="T3"/>
              </a:cxn>
              <a:cxn ang="T12">
                <a:pos x="T4" y="T5"/>
              </a:cxn>
              <a:cxn ang="T13">
                <a:pos x="T6" y="T7"/>
              </a:cxn>
              <a:cxn ang="T14">
                <a:pos x="T8" y="T9"/>
              </a:cxn>
            </a:cxnLst>
            <a:rect l="T15" t="T16" r="T17" b="T18"/>
            <a:pathLst>
              <a:path w="207" h="279">
                <a:moveTo>
                  <a:pt x="207" y="83"/>
                </a:moveTo>
                <a:lnTo>
                  <a:pt x="34" y="279"/>
                </a:lnTo>
                <a:lnTo>
                  <a:pt x="0" y="83"/>
                </a:lnTo>
                <a:lnTo>
                  <a:pt x="101" y="0"/>
                </a:lnTo>
                <a:lnTo>
                  <a:pt x="207" y="83"/>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97" name="Freeform 89"/>
          <p:cNvSpPr>
            <a:spLocks noChangeAspect="1"/>
          </p:cNvSpPr>
          <p:nvPr/>
        </p:nvSpPr>
        <p:spPr bwMode="auto">
          <a:xfrm>
            <a:off x="7756525" y="2012950"/>
            <a:ext cx="198438" cy="509588"/>
          </a:xfrm>
          <a:custGeom>
            <a:avLst/>
            <a:gdLst>
              <a:gd name="T0" fmla="*/ 0 w 419"/>
              <a:gd name="T1" fmla="*/ 4618712 h 1006"/>
              <a:gd name="T2" fmla="*/ 34092979 w 419"/>
              <a:gd name="T3" fmla="*/ 0 h 1006"/>
              <a:gd name="T4" fmla="*/ 87924140 w 419"/>
              <a:gd name="T5" fmla="*/ 170889800 h 1006"/>
              <a:gd name="T6" fmla="*/ 93980050 w 419"/>
              <a:gd name="T7" fmla="*/ 240426257 h 1006"/>
              <a:gd name="T8" fmla="*/ 9868858 w 419"/>
              <a:gd name="T9" fmla="*/ 258131144 h 1006"/>
              <a:gd name="T10" fmla="*/ 1794467 w 419"/>
              <a:gd name="T11" fmla="*/ 228623169 h 1006"/>
              <a:gd name="T12" fmla="*/ 1794467 w 419"/>
              <a:gd name="T13" fmla="*/ 114696308 h 1006"/>
              <a:gd name="T14" fmla="*/ 9868858 w 419"/>
              <a:gd name="T15" fmla="*/ 70049622 h 1006"/>
              <a:gd name="T16" fmla="*/ 1794467 w 419"/>
              <a:gd name="T17" fmla="*/ 42594167 h 1006"/>
              <a:gd name="T18" fmla="*/ 0 w 419"/>
              <a:gd name="T19" fmla="*/ 4618712 h 10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9"/>
              <a:gd name="T31" fmla="*/ 0 h 1006"/>
              <a:gd name="T32" fmla="*/ 419 w 419"/>
              <a:gd name="T33" fmla="*/ 1006 h 10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9" h="1006">
                <a:moveTo>
                  <a:pt x="0" y="18"/>
                </a:moveTo>
                <a:lnTo>
                  <a:pt x="152" y="0"/>
                </a:lnTo>
                <a:lnTo>
                  <a:pt x="392" y="666"/>
                </a:lnTo>
                <a:lnTo>
                  <a:pt x="419" y="937"/>
                </a:lnTo>
                <a:lnTo>
                  <a:pt x="44" y="1006"/>
                </a:lnTo>
                <a:lnTo>
                  <a:pt x="8" y="891"/>
                </a:lnTo>
                <a:lnTo>
                  <a:pt x="8" y="447"/>
                </a:lnTo>
                <a:lnTo>
                  <a:pt x="44" y="273"/>
                </a:lnTo>
                <a:lnTo>
                  <a:pt x="8" y="166"/>
                </a:lnTo>
                <a:lnTo>
                  <a:pt x="0" y="18"/>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59898" name="Freeform 90"/>
          <p:cNvSpPr>
            <a:spLocks noChangeAspect="1"/>
          </p:cNvSpPr>
          <p:nvPr/>
        </p:nvSpPr>
        <p:spPr bwMode="auto">
          <a:xfrm>
            <a:off x="7827963" y="1528763"/>
            <a:ext cx="407987" cy="820737"/>
          </a:xfrm>
          <a:custGeom>
            <a:avLst/>
            <a:gdLst>
              <a:gd name="T0" fmla="*/ 59657241 w 855"/>
              <a:gd name="T1" fmla="*/ 15143610 h 1620"/>
              <a:gd name="T2" fmla="*/ 91307017 w 855"/>
              <a:gd name="T3" fmla="*/ 0 h 1620"/>
              <a:gd name="T4" fmla="*/ 115443139 w 855"/>
              <a:gd name="T5" fmla="*/ 7187021 h 1620"/>
              <a:gd name="T6" fmla="*/ 147093408 w 855"/>
              <a:gd name="T7" fmla="*/ 150666559 h 1620"/>
              <a:gd name="T8" fmla="*/ 194682334 w 855"/>
              <a:gd name="T9" fmla="*/ 186856997 h 1620"/>
              <a:gd name="T10" fmla="*/ 194682334 w 855"/>
              <a:gd name="T11" fmla="*/ 201743743 h 1620"/>
              <a:gd name="T12" fmla="*/ 194682334 w 855"/>
              <a:gd name="T13" fmla="*/ 237677827 h 1620"/>
              <a:gd name="T14" fmla="*/ 139351678 w 855"/>
              <a:gd name="T15" fmla="*/ 273355621 h 1620"/>
              <a:gd name="T16" fmla="*/ 123868188 w 855"/>
              <a:gd name="T17" fmla="*/ 302615900 h 1620"/>
              <a:gd name="T18" fmla="*/ 59657241 w 855"/>
              <a:gd name="T19" fmla="*/ 352153442 h 1620"/>
              <a:gd name="T20" fmla="*/ 54647830 w 855"/>
              <a:gd name="T21" fmla="*/ 415808164 h 1620"/>
              <a:gd name="T22" fmla="*/ 0 w 855"/>
              <a:gd name="T23" fmla="*/ 244864847 h 1620"/>
              <a:gd name="T24" fmla="*/ 20037651 w 855"/>
              <a:gd name="T25" fmla="*/ 137062594 h 1620"/>
              <a:gd name="T26" fmla="*/ 12523531 w 855"/>
              <a:gd name="T27" fmla="*/ 51077706 h 1620"/>
              <a:gd name="T28" fmla="*/ 36659664 w 855"/>
              <a:gd name="T29" fmla="*/ 7187021 h 1620"/>
              <a:gd name="T30" fmla="*/ 59657241 w 855"/>
              <a:gd name="T31" fmla="*/ 15143610 h 162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55"/>
              <a:gd name="T49" fmla="*/ 0 h 1620"/>
              <a:gd name="T50" fmla="*/ 855 w 855"/>
              <a:gd name="T51" fmla="*/ 1620 h 162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55" h="1620">
                <a:moveTo>
                  <a:pt x="262" y="59"/>
                </a:moveTo>
                <a:lnTo>
                  <a:pt x="401" y="0"/>
                </a:lnTo>
                <a:lnTo>
                  <a:pt x="507" y="28"/>
                </a:lnTo>
                <a:lnTo>
                  <a:pt x="646" y="587"/>
                </a:lnTo>
                <a:lnTo>
                  <a:pt x="855" y="728"/>
                </a:lnTo>
                <a:lnTo>
                  <a:pt x="855" y="786"/>
                </a:lnTo>
                <a:lnTo>
                  <a:pt x="855" y="926"/>
                </a:lnTo>
                <a:lnTo>
                  <a:pt x="612" y="1065"/>
                </a:lnTo>
                <a:lnTo>
                  <a:pt x="544" y="1179"/>
                </a:lnTo>
                <a:lnTo>
                  <a:pt x="262" y="1372"/>
                </a:lnTo>
                <a:lnTo>
                  <a:pt x="240" y="1620"/>
                </a:lnTo>
                <a:lnTo>
                  <a:pt x="0" y="954"/>
                </a:lnTo>
                <a:lnTo>
                  <a:pt x="88" y="534"/>
                </a:lnTo>
                <a:lnTo>
                  <a:pt x="55" y="199"/>
                </a:lnTo>
                <a:lnTo>
                  <a:pt x="161" y="28"/>
                </a:lnTo>
                <a:lnTo>
                  <a:pt x="262" y="59"/>
                </a:lnTo>
                <a:close/>
              </a:path>
            </a:pathLst>
          </a:custGeom>
          <a:gradFill rotWithShape="0">
            <a:gsLst>
              <a:gs pos="0">
                <a:srgbClr val="FFDDFF"/>
              </a:gs>
              <a:gs pos="100000">
                <a:srgbClr val="DCBFDC"/>
              </a:gs>
            </a:gsLst>
            <a:path path="rect">
              <a:fillToRect l="50000" t="50000" r="50000" b="50000"/>
            </a:path>
          </a:gradFill>
          <a:ln w="1588">
            <a:solidFill>
              <a:srgbClr val="00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grpSp>
        <p:nvGrpSpPr>
          <p:cNvPr id="759899" name="Group 91"/>
          <p:cNvGrpSpPr>
            <a:grpSpLocks noChangeAspect="1"/>
          </p:cNvGrpSpPr>
          <p:nvPr/>
        </p:nvGrpSpPr>
        <p:grpSpPr bwMode="auto">
          <a:xfrm>
            <a:off x="381000" y="1477963"/>
            <a:ext cx="754063" cy="511175"/>
            <a:chOff x="419" y="82"/>
            <a:chExt cx="755" cy="756"/>
          </a:xfrm>
        </p:grpSpPr>
        <p:sp>
          <p:nvSpPr>
            <p:cNvPr id="10332" name="Freeform 92"/>
            <p:cNvSpPr>
              <a:spLocks noChangeAspect="1"/>
            </p:cNvSpPr>
            <p:nvPr/>
          </p:nvSpPr>
          <p:spPr bwMode="auto">
            <a:xfrm>
              <a:off x="419" y="82"/>
              <a:ext cx="750" cy="751"/>
            </a:xfrm>
            <a:custGeom>
              <a:avLst/>
              <a:gdLst/>
              <a:ahLst/>
              <a:cxnLst>
                <a:cxn ang="0">
                  <a:pos x="648" y="491"/>
                </a:cxn>
                <a:cxn ang="0">
                  <a:pos x="689" y="533"/>
                </a:cxn>
                <a:cxn ang="0">
                  <a:pos x="724" y="579"/>
                </a:cxn>
                <a:cxn ang="0">
                  <a:pos x="746" y="610"/>
                </a:cxn>
                <a:cxn ang="0">
                  <a:pos x="744" y="720"/>
                </a:cxn>
                <a:cxn ang="0">
                  <a:pos x="706" y="716"/>
                </a:cxn>
                <a:cxn ang="0">
                  <a:pos x="707" y="644"/>
                </a:cxn>
                <a:cxn ang="0">
                  <a:pos x="687" y="600"/>
                </a:cxn>
                <a:cxn ang="0">
                  <a:pos x="647" y="560"/>
                </a:cxn>
                <a:cxn ang="0">
                  <a:pos x="612" y="523"/>
                </a:cxn>
                <a:cxn ang="0">
                  <a:pos x="588" y="490"/>
                </a:cxn>
                <a:cxn ang="0">
                  <a:pos x="552" y="483"/>
                </a:cxn>
                <a:cxn ang="0">
                  <a:pos x="518" y="462"/>
                </a:cxn>
                <a:cxn ang="0">
                  <a:pos x="494" y="477"/>
                </a:cxn>
                <a:cxn ang="0">
                  <a:pos x="474" y="485"/>
                </a:cxn>
                <a:cxn ang="0">
                  <a:pos x="436" y="487"/>
                </a:cxn>
                <a:cxn ang="0">
                  <a:pos x="434" y="466"/>
                </a:cxn>
                <a:cxn ang="0">
                  <a:pos x="398" y="493"/>
                </a:cxn>
                <a:cxn ang="0">
                  <a:pos x="374" y="527"/>
                </a:cxn>
                <a:cxn ang="0">
                  <a:pos x="370" y="551"/>
                </a:cxn>
                <a:cxn ang="0">
                  <a:pos x="309" y="554"/>
                </a:cxn>
                <a:cxn ang="0">
                  <a:pos x="269" y="579"/>
                </a:cxn>
                <a:cxn ang="0">
                  <a:pos x="226" y="587"/>
                </a:cxn>
                <a:cxn ang="0">
                  <a:pos x="195" y="599"/>
                </a:cxn>
                <a:cxn ang="0">
                  <a:pos x="156" y="607"/>
                </a:cxn>
                <a:cxn ang="0">
                  <a:pos x="126" y="611"/>
                </a:cxn>
                <a:cxn ang="0">
                  <a:pos x="85" y="615"/>
                </a:cxn>
                <a:cxn ang="0">
                  <a:pos x="47" y="622"/>
                </a:cxn>
                <a:cxn ang="0">
                  <a:pos x="8" y="635"/>
                </a:cxn>
                <a:cxn ang="0">
                  <a:pos x="18" y="620"/>
                </a:cxn>
                <a:cxn ang="0">
                  <a:pos x="48" y="614"/>
                </a:cxn>
                <a:cxn ang="0">
                  <a:pos x="83" y="605"/>
                </a:cxn>
                <a:cxn ang="0">
                  <a:pos x="125" y="595"/>
                </a:cxn>
                <a:cxn ang="0">
                  <a:pos x="150" y="596"/>
                </a:cxn>
                <a:cxn ang="0">
                  <a:pos x="186" y="583"/>
                </a:cxn>
                <a:cxn ang="0">
                  <a:pos x="212" y="565"/>
                </a:cxn>
                <a:cxn ang="0">
                  <a:pos x="246" y="538"/>
                </a:cxn>
                <a:cxn ang="0">
                  <a:pos x="278" y="515"/>
                </a:cxn>
                <a:cxn ang="0">
                  <a:pos x="292" y="501"/>
                </a:cxn>
                <a:cxn ang="0">
                  <a:pos x="248" y="472"/>
                </a:cxn>
                <a:cxn ang="0">
                  <a:pos x="220" y="450"/>
                </a:cxn>
                <a:cxn ang="0">
                  <a:pos x="220" y="408"/>
                </a:cxn>
                <a:cxn ang="0">
                  <a:pos x="230" y="381"/>
                </a:cxn>
                <a:cxn ang="0">
                  <a:pos x="259" y="340"/>
                </a:cxn>
                <a:cxn ang="0">
                  <a:pos x="290" y="301"/>
                </a:cxn>
                <a:cxn ang="0">
                  <a:pos x="246" y="290"/>
                </a:cxn>
                <a:cxn ang="0">
                  <a:pos x="220" y="260"/>
                </a:cxn>
                <a:cxn ang="0">
                  <a:pos x="247" y="228"/>
                </a:cxn>
                <a:cxn ang="0">
                  <a:pos x="276" y="208"/>
                </a:cxn>
                <a:cxn ang="0">
                  <a:pos x="275" y="159"/>
                </a:cxn>
                <a:cxn ang="0">
                  <a:pos x="246" y="133"/>
                </a:cxn>
                <a:cxn ang="0">
                  <a:pos x="264" y="78"/>
                </a:cxn>
                <a:cxn ang="0">
                  <a:pos x="295" y="69"/>
                </a:cxn>
                <a:cxn ang="0">
                  <a:pos x="329" y="38"/>
                </a:cxn>
                <a:cxn ang="0">
                  <a:pos x="358" y="8"/>
                </a:cxn>
                <a:cxn ang="0">
                  <a:pos x="398" y="5"/>
                </a:cxn>
                <a:cxn ang="0">
                  <a:pos x="437" y="8"/>
                </a:cxn>
                <a:cxn ang="0">
                  <a:pos x="488" y="27"/>
                </a:cxn>
                <a:cxn ang="0">
                  <a:pos x="518" y="38"/>
                </a:cxn>
                <a:cxn ang="0">
                  <a:pos x="557" y="55"/>
                </a:cxn>
                <a:cxn ang="0">
                  <a:pos x="602" y="77"/>
                </a:cxn>
              </a:cxnLst>
              <a:rect l="0" t="0" r="r" b="b"/>
              <a:pathLst>
                <a:path w="751" h="751">
                  <a:moveTo>
                    <a:pt x="636" y="90"/>
                  </a:moveTo>
                  <a:lnTo>
                    <a:pt x="617" y="469"/>
                  </a:lnTo>
                  <a:lnTo>
                    <a:pt x="618" y="470"/>
                  </a:lnTo>
                  <a:lnTo>
                    <a:pt x="622" y="473"/>
                  </a:lnTo>
                  <a:lnTo>
                    <a:pt x="626" y="475"/>
                  </a:lnTo>
                  <a:lnTo>
                    <a:pt x="630" y="477"/>
                  </a:lnTo>
                  <a:lnTo>
                    <a:pt x="632" y="477"/>
                  </a:lnTo>
                  <a:lnTo>
                    <a:pt x="635" y="478"/>
                  </a:lnTo>
                  <a:lnTo>
                    <a:pt x="638" y="480"/>
                  </a:lnTo>
                  <a:lnTo>
                    <a:pt x="642" y="483"/>
                  </a:lnTo>
                  <a:lnTo>
                    <a:pt x="645" y="487"/>
                  </a:lnTo>
                  <a:lnTo>
                    <a:pt x="648" y="491"/>
                  </a:lnTo>
                  <a:lnTo>
                    <a:pt x="650" y="497"/>
                  </a:lnTo>
                  <a:lnTo>
                    <a:pt x="652" y="503"/>
                  </a:lnTo>
                  <a:lnTo>
                    <a:pt x="654" y="510"/>
                  </a:lnTo>
                  <a:lnTo>
                    <a:pt x="657" y="515"/>
                  </a:lnTo>
                  <a:lnTo>
                    <a:pt x="662" y="520"/>
                  </a:lnTo>
                  <a:lnTo>
                    <a:pt x="666" y="523"/>
                  </a:lnTo>
                  <a:lnTo>
                    <a:pt x="672" y="527"/>
                  </a:lnTo>
                  <a:lnTo>
                    <a:pt x="676" y="529"/>
                  </a:lnTo>
                  <a:lnTo>
                    <a:pt x="680" y="529"/>
                  </a:lnTo>
                  <a:lnTo>
                    <a:pt x="683" y="530"/>
                  </a:lnTo>
                  <a:lnTo>
                    <a:pt x="686" y="531"/>
                  </a:lnTo>
                  <a:lnTo>
                    <a:pt x="689" y="533"/>
                  </a:lnTo>
                  <a:lnTo>
                    <a:pt x="692" y="536"/>
                  </a:lnTo>
                  <a:lnTo>
                    <a:pt x="696" y="539"/>
                  </a:lnTo>
                  <a:lnTo>
                    <a:pt x="700" y="544"/>
                  </a:lnTo>
                  <a:lnTo>
                    <a:pt x="704" y="549"/>
                  </a:lnTo>
                  <a:lnTo>
                    <a:pt x="706" y="554"/>
                  </a:lnTo>
                  <a:lnTo>
                    <a:pt x="707" y="559"/>
                  </a:lnTo>
                  <a:lnTo>
                    <a:pt x="708" y="564"/>
                  </a:lnTo>
                  <a:lnTo>
                    <a:pt x="710" y="568"/>
                  </a:lnTo>
                  <a:lnTo>
                    <a:pt x="713" y="572"/>
                  </a:lnTo>
                  <a:lnTo>
                    <a:pt x="716" y="575"/>
                  </a:lnTo>
                  <a:lnTo>
                    <a:pt x="720" y="577"/>
                  </a:lnTo>
                  <a:lnTo>
                    <a:pt x="724" y="579"/>
                  </a:lnTo>
                  <a:lnTo>
                    <a:pt x="727" y="579"/>
                  </a:lnTo>
                  <a:lnTo>
                    <a:pt x="730" y="579"/>
                  </a:lnTo>
                  <a:lnTo>
                    <a:pt x="733" y="579"/>
                  </a:lnTo>
                  <a:lnTo>
                    <a:pt x="736" y="579"/>
                  </a:lnTo>
                  <a:lnTo>
                    <a:pt x="740" y="581"/>
                  </a:lnTo>
                  <a:lnTo>
                    <a:pt x="744" y="583"/>
                  </a:lnTo>
                  <a:lnTo>
                    <a:pt x="747" y="586"/>
                  </a:lnTo>
                  <a:lnTo>
                    <a:pt x="749" y="589"/>
                  </a:lnTo>
                  <a:lnTo>
                    <a:pt x="750" y="592"/>
                  </a:lnTo>
                  <a:lnTo>
                    <a:pt x="750" y="595"/>
                  </a:lnTo>
                  <a:lnTo>
                    <a:pt x="748" y="602"/>
                  </a:lnTo>
                  <a:lnTo>
                    <a:pt x="746" y="610"/>
                  </a:lnTo>
                  <a:lnTo>
                    <a:pt x="744" y="619"/>
                  </a:lnTo>
                  <a:lnTo>
                    <a:pt x="743" y="628"/>
                  </a:lnTo>
                  <a:lnTo>
                    <a:pt x="744" y="636"/>
                  </a:lnTo>
                  <a:lnTo>
                    <a:pt x="745" y="642"/>
                  </a:lnTo>
                  <a:lnTo>
                    <a:pt x="746" y="646"/>
                  </a:lnTo>
                  <a:lnTo>
                    <a:pt x="744" y="652"/>
                  </a:lnTo>
                  <a:lnTo>
                    <a:pt x="742" y="664"/>
                  </a:lnTo>
                  <a:lnTo>
                    <a:pt x="740" y="680"/>
                  </a:lnTo>
                  <a:lnTo>
                    <a:pt x="740" y="696"/>
                  </a:lnTo>
                  <a:lnTo>
                    <a:pt x="742" y="708"/>
                  </a:lnTo>
                  <a:lnTo>
                    <a:pt x="743" y="712"/>
                  </a:lnTo>
                  <a:lnTo>
                    <a:pt x="744" y="720"/>
                  </a:lnTo>
                  <a:lnTo>
                    <a:pt x="744" y="728"/>
                  </a:lnTo>
                  <a:lnTo>
                    <a:pt x="744" y="736"/>
                  </a:lnTo>
                  <a:lnTo>
                    <a:pt x="742" y="742"/>
                  </a:lnTo>
                  <a:lnTo>
                    <a:pt x="739" y="748"/>
                  </a:lnTo>
                  <a:lnTo>
                    <a:pt x="734" y="750"/>
                  </a:lnTo>
                  <a:lnTo>
                    <a:pt x="728" y="748"/>
                  </a:lnTo>
                  <a:lnTo>
                    <a:pt x="721" y="743"/>
                  </a:lnTo>
                  <a:lnTo>
                    <a:pt x="716" y="738"/>
                  </a:lnTo>
                  <a:lnTo>
                    <a:pt x="712" y="734"/>
                  </a:lnTo>
                  <a:lnTo>
                    <a:pt x="709" y="728"/>
                  </a:lnTo>
                  <a:lnTo>
                    <a:pt x="708" y="722"/>
                  </a:lnTo>
                  <a:lnTo>
                    <a:pt x="706" y="716"/>
                  </a:lnTo>
                  <a:lnTo>
                    <a:pt x="706" y="710"/>
                  </a:lnTo>
                  <a:lnTo>
                    <a:pt x="706" y="703"/>
                  </a:lnTo>
                  <a:lnTo>
                    <a:pt x="704" y="691"/>
                  </a:lnTo>
                  <a:lnTo>
                    <a:pt x="702" y="684"/>
                  </a:lnTo>
                  <a:lnTo>
                    <a:pt x="700" y="678"/>
                  </a:lnTo>
                  <a:lnTo>
                    <a:pt x="698" y="672"/>
                  </a:lnTo>
                  <a:lnTo>
                    <a:pt x="698" y="666"/>
                  </a:lnTo>
                  <a:lnTo>
                    <a:pt x="699" y="661"/>
                  </a:lnTo>
                  <a:lnTo>
                    <a:pt x="701" y="656"/>
                  </a:lnTo>
                  <a:lnTo>
                    <a:pt x="704" y="652"/>
                  </a:lnTo>
                  <a:lnTo>
                    <a:pt x="706" y="648"/>
                  </a:lnTo>
                  <a:lnTo>
                    <a:pt x="707" y="644"/>
                  </a:lnTo>
                  <a:lnTo>
                    <a:pt x="706" y="641"/>
                  </a:lnTo>
                  <a:lnTo>
                    <a:pt x="704" y="638"/>
                  </a:lnTo>
                  <a:lnTo>
                    <a:pt x="702" y="636"/>
                  </a:lnTo>
                  <a:lnTo>
                    <a:pt x="700" y="634"/>
                  </a:lnTo>
                  <a:lnTo>
                    <a:pt x="699" y="633"/>
                  </a:lnTo>
                  <a:lnTo>
                    <a:pt x="701" y="628"/>
                  </a:lnTo>
                  <a:lnTo>
                    <a:pt x="702" y="623"/>
                  </a:lnTo>
                  <a:lnTo>
                    <a:pt x="699" y="618"/>
                  </a:lnTo>
                  <a:lnTo>
                    <a:pt x="694" y="614"/>
                  </a:lnTo>
                  <a:lnTo>
                    <a:pt x="690" y="609"/>
                  </a:lnTo>
                  <a:lnTo>
                    <a:pt x="688" y="604"/>
                  </a:lnTo>
                  <a:lnTo>
                    <a:pt x="687" y="600"/>
                  </a:lnTo>
                  <a:lnTo>
                    <a:pt x="684" y="597"/>
                  </a:lnTo>
                  <a:lnTo>
                    <a:pt x="678" y="593"/>
                  </a:lnTo>
                  <a:lnTo>
                    <a:pt x="672" y="590"/>
                  </a:lnTo>
                  <a:lnTo>
                    <a:pt x="669" y="587"/>
                  </a:lnTo>
                  <a:lnTo>
                    <a:pt x="667" y="585"/>
                  </a:lnTo>
                  <a:lnTo>
                    <a:pt x="665" y="580"/>
                  </a:lnTo>
                  <a:lnTo>
                    <a:pt x="664" y="575"/>
                  </a:lnTo>
                  <a:lnTo>
                    <a:pt x="663" y="571"/>
                  </a:lnTo>
                  <a:lnTo>
                    <a:pt x="661" y="569"/>
                  </a:lnTo>
                  <a:lnTo>
                    <a:pt x="656" y="565"/>
                  </a:lnTo>
                  <a:lnTo>
                    <a:pt x="652" y="563"/>
                  </a:lnTo>
                  <a:lnTo>
                    <a:pt x="647" y="560"/>
                  </a:lnTo>
                  <a:lnTo>
                    <a:pt x="643" y="556"/>
                  </a:lnTo>
                  <a:lnTo>
                    <a:pt x="638" y="552"/>
                  </a:lnTo>
                  <a:lnTo>
                    <a:pt x="635" y="548"/>
                  </a:lnTo>
                  <a:lnTo>
                    <a:pt x="632" y="545"/>
                  </a:lnTo>
                  <a:lnTo>
                    <a:pt x="630" y="542"/>
                  </a:lnTo>
                  <a:lnTo>
                    <a:pt x="629" y="541"/>
                  </a:lnTo>
                  <a:lnTo>
                    <a:pt x="628" y="539"/>
                  </a:lnTo>
                  <a:lnTo>
                    <a:pt x="626" y="537"/>
                  </a:lnTo>
                  <a:lnTo>
                    <a:pt x="623" y="534"/>
                  </a:lnTo>
                  <a:lnTo>
                    <a:pt x="619" y="530"/>
                  </a:lnTo>
                  <a:lnTo>
                    <a:pt x="616" y="527"/>
                  </a:lnTo>
                  <a:lnTo>
                    <a:pt x="612" y="523"/>
                  </a:lnTo>
                  <a:lnTo>
                    <a:pt x="608" y="521"/>
                  </a:lnTo>
                  <a:lnTo>
                    <a:pt x="606" y="519"/>
                  </a:lnTo>
                  <a:lnTo>
                    <a:pt x="603" y="517"/>
                  </a:lnTo>
                  <a:lnTo>
                    <a:pt x="601" y="515"/>
                  </a:lnTo>
                  <a:lnTo>
                    <a:pt x="600" y="511"/>
                  </a:lnTo>
                  <a:lnTo>
                    <a:pt x="599" y="506"/>
                  </a:lnTo>
                  <a:lnTo>
                    <a:pt x="599" y="501"/>
                  </a:lnTo>
                  <a:lnTo>
                    <a:pt x="599" y="497"/>
                  </a:lnTo>
                  <a:lnTo>
                    <a:pt x="598" y="494"/>
                  </a:lnTo>
                  <a:lnTo>
                    <a:pt x="594" y="492"/>
                  </a:lnTo>
                  <a:lnTo>
                    <a:pt x="591" y="491"/>
                  </a:lnTo>
                  <a:lnTo>
                    <a:pt x="588" y="490"/>
                  </a:lnTo>
                  <a:lnTo>
                    <a:pt x="584" y="489"/>
                  </a:lnTo>
                  <a:lnTo>
                    <a:pt x="580" y="488"/>
                  </a:lnTo>
                  <a:lnTo>
                    <a:pt x="577" y="487"/>
                  </a:lnTo>
                  <a:lnTo>
                    <a:pt x="574" y="487"/>
                  </a:lnTo>
                  <a:lnTo>
                    <a:pt x="572" y="487"/>
                  </a:lnTo>
                  <a:lnTo>
                    <a:pt x="570" y="488"/>
                  </a:lnTo>
                  <a:lnTo>
                    <a:pt x="569" y="488"/>
                  </a:lnTo>
                  <a:lnTo>
                    <a:pt x="566" y="488"/>
                  </a:lnTo>
                  <a:lnTo>
                    <a:pt x="562" y="487"/>
                  </a:lnTo>
                  <a:lnTo>
                    <a:pt x="559" y="486"/>
                  </a:lnTo>
                  <a:lnTo>
                    <a:pt x="555" y="485"/>
                  </a:lnTo>
                  <a:lnTo>
                    <a:pt x="552" y="483"/>
                  </a:lnTo>
                  <a:lnTo>
                    <a:pt x="548" y="481"/>
                  </a:lnTo>
                  <a:lnTo>
                    <a:pt x="546" y="480"/>
                  </a:lnTo>
                  <a:lnTo>
                    <a:pt x="543" y="477"/>
                  </a:lnTo>
                  <a:lnTo>
                    <a:pt x="538" y="476"/>
                  </a:lnTo>
                  <a:lnTo>
                    <a:pt x="534" y="474"/>
                  </a:lnTo>
                  <a:lnTo>
                    <a:pt x="532" y="471"/>
                  </a:lnTo>
                  <a:lnTo>
                    <a:pt x="530" y="469"/>
                  </a:lnTo>
                  <a:lnTo>
                    <a:pt x="528" y="467"/>
                  </a:lnTo>
                  <a:lnTo>
                    <a:pt x="526" y="465"/>
                  </a:lnTo>
                  <a:lnTo>
                    <a:pt x="524" y="463"/>
                  </a:lnTo>
                  <a:lnTo>
                    <a:pt x="521" y="462"/>
                  </a:lnTo>
                  <a:lnTo>
                    <a:pt x="518" y="462"/>
                  </a:lnTo>
                  <a:lnTo>
                    <a:pt x="515" y="463"/>
                  </a:lnTo>
                  <a:lnTo>
                    <a:pt x="512" y="467"/>
                  </a:lnTo>
                  <a:lnTo>
                    <a:pt x="507" y="473"/>
                  </a:lnTo>
                  <a:lnTo>
                    <a:pt x="504" y="475"/>
                  </a:lnTo>
                  <a:lnTo>
                    <a:pt x="503" y="474"/>
                  </a:lnTo>
                  <a:lnTo>
                    <a:pt x="502" y="471"/>
                  </a:lnTo>
                  <a:lnTo>
                    <a:pt x="500" y="469"/>
                  </a:lnTo>
                  <a:lnTo>
                    <a:pt x="498" y="467"/>
                  </a:lnTo>
                  <a:lnTo>
                    <a:pt x="496" y="467"/>
                  </a:lnTo>
                  <a:lnTo>
                    <a:pt x="494" y="469"/>
                  </a:lnTo>
                  <a:lnTo>
                    <a:pt x="494" y="473"/>
                  </a:lnTo>
                  <a:lnTo>
                    <a:pt x="494" y="477"/>
                  </a:lnTo>
                  <a:lnTo>
                    <a:pt x="494" y="480"/>
                  </a:lnTo>
                  <a:lnTo>
                    <a:pt x="493" y="483"/>
                  </a:lnTo>
                  <a:lnTo>
                    <a:pt x="491" y="484"/>
                  </a:lnTo>
                  <a:lnTo>
                    <a:pt x="489" y="484"/>
                  </a:lnTo>
                  <a:lnTo>
                    <a:pt x="486" y="484"/>
                  </a:lnTo>
                  <a:lnTo>
                    <a:pt x="484" y="483"/>
                  </a:lnTo>
                  <a:lnTo>
                    <a:pt x="482" y="482"/>
                  </a:lnTo>
                  <a:lnTo>
                    <a:pt x="480" y="481"/>
                  </a:lnTo>
                  <a:lnTo>
                    <a:pt x="479" y="481"/>
                  </a:lnTo>
                  <a:lnTo>
                    <a:pt x="477" y="483"/>
                  </a:lnTo>
                  <a:lnTo>
                    <a:pt x="476" y="485"/>
                  </a:lnTo>
                  <a:lnTo>
                    <a:pt x="474" y="485"/>
                  </a:lnTo>
                  <a:lnTo>
                    <a:pt x="471" y="487"/>
                  </a:lnTo>
                  <a:lnTo>
                    <a:pt x="468" y="490"/>
                  </a:lnTo>
                  <a:lnTo>
                    <a:pt x="465" y="494"/>
                  </a:lnTo>
                  <a:lnTo>
                    <a:pt x="462" y="495"/>
                  </a:lnTo>
                  <a:lnTo>
                    <a:pt x="460" y="495"/>
                  </a:lnTo>
                  <a:lnTo>
                    <a:pt x="456" y="493"/>
                  </a:lnTo>
                  <a:lnTo>
                    <a:pt x="451" y="491"/>
                  </a:lnTo>
                  <a:lnTo>
                    <a:pt x="447" y="489"/>
                  </a:lnTo>
                  <a:lnTo>
                    <a:pt x="444" y="487"/>
                  </a:lnTo>
                  <a:lnTo>
                    <a:pt x="441" y="487"/>
                  </a:lnTo>
                  <a:lnTo>
                    <a:pt x="439" y="488"/>
                  </a:lnTo>
                  <a:lnTo>
                    <a:pt x="436" y="487"/>
                  </a:lnTo>
                  <a:lnTo>
                    <a:pt x="434" y="485"/>
                  </a:lnTo>
                  <a:lnTo>
                    <a:pt x="436" y="481"/>
                  </a:lnTo>
                  <a:lnTo>
                    <a:pt x="438" y="477"/>
                  </a:lnTo>
                  <a:lnTo>
                    <a:pt x="441" y="475"/>
                  </a:lnTo>
                  <a:lnTo>
                    <a:pt x="443" y="473"/>
                  </a:lnTo>
                  <a:lnTo>
                    <a:pt x="444" y="471"/>
                  </a:lnTo>
                  <a:lnTo>
                    <a:pt x="445" y="469"/>
                  </a:lnTo>
                  <a:lnTo>
                    <a:pt x="444" y="467"/>
                  </a:lnTo>
                  <a:lnTo>
                    <a:pt x="443" y="466"/>
                  </a:lnTo>
                  <a:lnTo>
                    <a:pt x="440" y="465"/>
                  </a:lnTo>
                  <a:lnTo>
                    <a:pt x="437" y="465"/>
                  </a:lnTo>
                  <a:lnTo>
                    <a:pt x="434" y="466"/>
                  </a:lnTo>
                  <a:lnTo>
                    <a:pt x="430" y="467"/>
                  </a:lnTo>
                  <a:lnTo>
                    <a:pt x="428" y="469"/>
                  </a:lnTo>
                  <a:lnTo>
                    <a:pt x="427" y="472"/>
                  </a:lnTo>
                  <a:lnTo>
                    <a:pt x="425" y="475"/>
                  </a:lnTo>
                  <a:lnTo>
                    <a:pt x="424" y="478"/>
                  </a:lnTo>
                  <a:lnTo>
                    <a:pt x="423" y="480"/>
                  </a:lnTo>
                  <a:lnTo>
                    <a:pt x="421" y="482"/>
                  </a:lnTo>
                  <a:lnTo>
                    <a:pt x="416" y="485"/>
                  </a:lnTo>
                  <a:lnTo>
                    <a:pt x="411" y="487"/>
                  </a:lnTo>
                  <a:lnTo>
                    <a:pt x="406" y="489"/>
                  </a:lnTo>
                  <a:lnTo>
                    <a:pt x="401" y="490"/>
                  </a:lnTo>
                  <a:lnTo>
                    <a:pt x="398" y="493"/>
                  </a:lnTo>
                  <a:lnTo>
                    <a:pt x="395" y="497"/>
                  </a:lnTo>
                  <a:lnTo>
                    <a:pt x="394" y="500"/>
                  </a:lnTo>
                  <a:lnTo>
                    <a:pt x="394" y="503"/>
                  </a:lnTo>
                  <a:lnTo>
                    <a:pt x="396" y="507"/>
                  </a:lnTo>
                  <a:lnTo>
                    <a:pt x="395" y="509"/>
                  </a:lnTo>
                  <a:lnTo>
                    <a:pt x="390" y="511"/>
                  </a:lnTo>
                  <a:lnTo>
                    <a:pt x="383" y="511"/>
                  </a:lnTo>
                  <a:lnTo>
                    <a:pt x="378" y="512"/>
                  </a:lnTo>
                  <a:lnTo>
                    <a:pt x="375" y="514"/>
                  </a:lnTo>
                  <a:lnTo>
                    <a:pt x="374" y="517"/>
                  </a:lnTo>
                  <a:lnTo>
                    <a:pt x="374" y="521"/>
                  </a:lnTo>
                  <a:lnTo>
                    <a:pt x="374" y="527"/>
                  </a:lnTo>
                  <a:lnTo>
                    <a:pt x="374" y="532"/>
                  </a:lnTo>
                  <a:lnTo>
                    <a:pt x="377" y="534"/>
                  </a:lnTo>
                  <a:lnTo>
                    <a:pt x="381" y="535"/>
                  </a:lnTo>
                  <a:lnTo>
                    <a:pt x="384" y="536"/>
                  </a:lnTo>
                  <a:lnTo>
                    <a:pt x="385" y="539"/>
                  </a:lnTo>
                  <a:lnTo>
                    <a:pt x="385" y="542"/>
                  </a:lnTo>
                  <a:lnTo>
                    <a:pt x="384" y="544"/>
                  </a:lnTo>
                  <a:lnTo>
                    <a:pt x="382" y="546"/>
                  </a:lnTo>
                  <a:lnTo>
                    <a:pt x="379" y="547"/>
                  </a:lnTo>
                  <a:lnTo>
                    <a:pt x="376" y="549"/>
                  </a:lnTo>
                  <a:lnTo>
                    <a:pt x="373" y="550"/>
                  </a:lnTo>
                  <a:lnTo>
                    <a:pt x="370" y="551"/>
                  </a:lnTo>
                  <a:lnTo>
                    <a:pt x="366" y="551"/>
                  </a:lnTo>
                  <a:lnTo>
                    <a:pt x="364" y="551"/>
                  </a:lnTo>
                  <a:lnTo>
                    <a:pt x="360" y="550"/>
                  </a:lnTo>
                  <a:lnTo>
                    <a:pt x="354" y="549"/>
                  </a:lnTo>
                  <a:lnTo>
                    <a:pt x="346" y="549"/>
                  </a:lnTo>
                  <a:lnTo>
                    <a:pt x="338" y="548"/>
                  </a:lnTo>
                  <a:lnTo>
                    <a:pt x="330" y="548"/>
                  </a:lnTo>
                  <a:lnTo>
                    <a:pt x="322" y="549"/>
                  </a:lnTo>
                  <a:lnTo>
                    <a:pt x="318" y="549"/>
                  </a:lnTo>
                  <a:lnTo>
                    <a:pt x="315" y="550"/>
                  </a:lnTo>
                  <a:lnTo>
                    <a:pt x="313" y="552"/>
                  </a:lnTo>
                  <a:lnTo>
                    <a:pt x="309" y="554"/>
                  </a:lnTo>
                  <a:lnTo>
                    <a:pt x="304" y="556"/>
                  </a:lnTo>
                  <a:lnTo>
                    <a:pt x="299" y="559"/>
                  </a:lnTo>
                  <a:lnTo>
                    <a:pt x="294" y="560"/>
                  </a:lnTo>
                  <a:lnTo>
                    <a:pt x="291" y="561"/>
                  </a:lnTo>
                  <a:lnTo>
                    <a:pt x="288" y="561"/>
                  </a:lnTo>
                  <a:lnTo>
                    <a:pt x="286" y="563"/>
                  </a:lnTo>
                  <a:lnTo>
                    <a:pt x="284" y="565"/>
                  </a:lnTo>
                  <a:lnTo>
                    <a:pt x="282" y="567"/>
                  </a:lnTo>
                  <a:lnTo>
                    <a:pt x="280" y="570"/>
                  </a:lnTo>
                  <a:lnTo>
                    <a:pt x="277" y="573"/>
                  </a:lnTo>
                  <a:lnTo>
                    <a:pt x="274" y="576"/>
                  </a:lnTo>
                  <a:lnTo>
                    <a:pt x="269" y="579"/>
                  </a:lnTo>
                  <a:lnTo>
                    <a:pt x="264" y="581"/>
                  </a:lnTo>
                  <a:lnTo>
                    <a:pt x="261" y="582"/>
                  </a:lnTo>
                  <a:lnTo>
                    <a:pt x="258" y="583"/>
                  </a:lnTo>
                  <a:lnTo>
                    <a:pt x="254" y="583"/>
                  </a:lnTo>
                  <a:lnTo>
                    <a:pt x="252" y="583"/>
                  </a:lnTo>
                  <a:lnTo>
                    <a:pt x="251" y="583"/>
                  </a:lnTo>
                  <a:lnTo>
                    <a:pt x="250" y="583"/>
                  </a:lnTo>
                  <a:lnTo>
                    <a:pt x="246" y="583"/>
                  </a:lnTo>
                  <a:lnTo>
                    <a:pt x="242" y="584"/>
                  </a:lnTo>
                  <a:lnTo>
                    <a:pt x="237" y="585"/>
                  </a:lnTo>
                  <a:lnTo>
                    <a:pt x="232" y="585"/>
                  </a:lnTo>
                  <a:lnTo>
                    <a:pt x="226" y="587"/>
                  </a:lnTo>
                  <a:lnTo>
                    <a:pt x="223" y="589"/>
                  </a:lnTo>
                  <a:lnTo>
                    <a:pt x="221" y="590"/>
                  </a:lnTo>
                  <a:lnTo>
                    <a:pt x="220" y="593"/>
                  </a:lnTo>
                  <a:lnTo>
                    <a:pt x="218" y="595"/>
                  </a:lnTo>
                  <a:lnTo>
                    <a:pt x="216" y="597"/>
                  </a:lnTo>
                  <a:lnTo>
                    <a:pt x="213" y="598"/>
                  </a:lnTo>
                  <a:lnTo>
                    <a:pt x="210" y="598"/>
                  </a:lnTo>
                  <a:lnTo>
                    <a:pt x="207" y="598"/>
                  </a:lnTo>
                  <a:lnTo>
                    <a:pt x="204" y="598"/>
                  </a:lnTo>
                  <a:lnTo>
                    <a:pt x="202" y="598"/>
                  </a:lnTo>
                  <a:lnTo>
                    <a:pt x="200" y="599"/>
                  </a:lnTo>
                  <a:lnTo>
                    <a:pt x="195" y="599"/>
                  </a:lnTo>
                  <a:lnTo>
                    <a:pt x="191" y="600"/>
                  </a:lnTo>
                  <a:lnTo>
                    <a:pt x="189" y="600"/>
                  </a:lnTo>
                  <a:lnTo>
                    <a:pt x="183" y="600"/>
                  </a:lnTo>
                  <a:lnTo>
                    <a:pt x="182" y="600"/>
                  </a:lnTo>
                  <a:lnTo>
                    <a:pt x="179" y="601"/>
                  </a:lnTo>
                  <a:lnTo>
                    <a:pt x="176" y="601"/>
                  </a:lnTo>
                  <a:lnTo>
                    <a:pt x="171" y="602"/>
                  </a:lnTo>
                  <a:lnTo>
                    <a:pt x="166" y="603"/>
                  </a:lnTo>
                  <a:lnTo>
                    <a:pt x="162" y="604"/>
                  </a:lnTo>
                  <a:lnTo>
                    <a:pt x="159" y="605"/>
                  </a:lnTo>
                  <a:lnTo>
                    <a:pt x="158" y="606"/>
                  </a:lnTo>
                  <a:lnTo>
                    <a:pt x="156" y="607"/>
                  </a:lnTo>
                  <a:lnTo>
                    <a:pt x="154" y="607"/>
                  </a:lnTo>
                  <a:lnTo>
                    <a:pt x="152" y="607"/>
                  </a:lnTo>
                  <a:lnTo>
                    <a:pt x="148" y="607"/>
                  </a:lnTo>
                  <a:lnTo>
                    <a:pt x="144" y="607"/>
                  </a:lnTo>
                  <a:lnTo>
                    <a:pt x="140" y="606"/>
                  </a:lnTo>
                  <a:lnTo>
                    <a:pt x="136" y="606"/>
                  </a:lnTo>
                  <a:lnTo>
                    <a:pt x="135" y="607"/>
                  </a:lnTo>
                  <a:lnTo>
                    <a:pt x="134" y="609"/>
                  </a:lnTo>
                  <a:lnTo>
                    <a:pt x="133" y="610"/>
                  </a:lnTo>
                  <a:lnTo>
                    <a:pt x="131" y="611"/>
                  </a:lnTo>
                  <a:lnTo>
                    <a:pt x="128" y="612"/>
                  </a:lnTo>
                  <a:lnTo>
                    <a:pt x="126" y="611"/>
                  </a:lnTo>
                  <a:lnTo>
                    <a:pt x="123" y="610"/>
                  </a:lnTo>
                  <a:lnTo>
                    <a:pt x="120" y="610"/>
                  </a:lnTo>
                  <a:lnTo>
                    <a:pt x="117" y="612"/>
                  </a:lnTo>
                  <a:lnTo>
                    <a:pt x="112" y="614"/>
                  </a:lnTo>
                  <a:lnTo>
                    <a:pt x="106" y="616"/>
                  </a:lnTo>
                  <a:lnTo>
                    <a:pt x="100" y="618"/>
                  </a:lnTo>
                  <a:lnTo>
                    <a:pt x="98" y="618"/>
                  </a:lnTo>
                  <a:lnTo>
                    <a:pt x="97" y="618"/>
                  </a:lnTo>
                  <a:lnTo>
                    <a:pt x="95" y="616"/>
                  </a:lnTo>
                  <a:lnTo>
                    <a:pt x="92" y="615"/>
                  </a:lnTo>
                  <a:lnTo>
                    <a:pt x="88" y="615"/>
                  </a:lnTo>
                  <a:lnTo>
                    <a:pt x="85" y="615"/>
                  </a:lnTo>
                  <a:lnTo>
                    <a:pt x="83" y="615"/>
                  </a:lnTo>
                  <a:lnTo>
                    <a:pt x="80" y="615"/>
                  </a:lnTo>
                  <a:lnTo>
                    <a:pt x="78" y="616"/>
                  </a:lnTo>
                  <a:lnTo>
                    <a:pt x="76" y="618"/>
                  </a:lnTo>
                  <a:lnTo>
                    <a:pt x="73" y="618"/>
                  </a:lnTo>
                  <a:lnTo>
                    <a:pt x="70" y="618"/>
                  </a:lnTo>
                  <a:lnTo>
                    <a:pt x="67" y="618"/>
                  </a:lnTo>
                  <a:lnTo>
                    <a:pt x="64" y="618"/>
                  </a:lnTo>
                  <a:lnTo>
                    <a:pt x="61" y="619"/>
                  </a:lnTo>
                  <a:lnTo>
                    <a:pt x="56" y="620"/>
                  </a:lnTo>
                  <a:lnTo>
                    <a:pt x="52" y="621"/>
                  </a:lnTo>
                  <a:lnTo>
                    <a:pt x="47" y="622"/>
                  </a:lnTo>
                  <a:lnTo>
                    <a:pt x="42" y="624"/>
                  </a:lnTo>
                  <a:lnTo>
                    <a:pt x="38" y="625"/>
                  </a:lnTo>
                  <a:lnTo>
                    <a:pt x="35" y="626"/>
                  </a:lnTo>
                  <a:lnTo>
                    <a:pt x="30" y="626"/>
                  </a:lnTo>
                  <a:lnTo>
                    <a:pt x="25" y="626"/>
                  </a:lnTo>
                  <a:lnTo>
                    <a:pt x="20" y="626"/>
                  </a:lnTo>
                  <a:lnTo>
                    <a:pt x="16" y="626"/>
                  </a:lnTo>
                  <a:lnTo>
                    <a:pt x="13" y="626"/>
                  </a:lnTo>
                  <a:lnTo>
                    <a:pt x="10" y="628"/>
                  </a:lnTo>
                  <a:lnTo>
                    <a:pt x="9" y="630"/>
                  </a:lnTo>
                  <a:lnTo>
                    <a:pt x="9" y="633"/>
                  </a:lnTo>
                  <a:lnTo>
                    <a:pt x="8" y="635"/>
                  </a:lnTo>
                  <a:lnTo>
                    <a:pt x="4" y="635"/>
                  </a:lnTo>
                  <a:lnTo>
                    <a:pt x="1" y="634"/>
                  </a:lnTo>
                  <a:lnTo>
                    <a:pt x="0" y="633"/>
                  </a:lnTo>
                  <a:lnTo>
                    <a:pt x="0" y="631"/>
                  </a:lnTo>
                  <a:lnTo>
                    <a:pt x="1" y="626"/>
                  </a:lnTo>
                  <a:lnTo>
                    <a:pt x="2" y="622"/>
                  </a:lnTo>
                  <a:lnTo>
                    <a:pt x="4" y="620"/>
                  </a:lnTo>
                  <a:lnTo>
                    <a:pt x="6" y="621"/>
                  </a:lnTo>
                  <a:lnTo>
                    <a:pt x="8" y="621"/>
                  </a:lnTo>
                  <a:lnTo>
                    <a:pt x="11" y="621"/>
                  </a:lnTo>
                  <a:lnTo>
                    <a:pt x="14" y="621"/>
                  </a:lnTo>
                  <a:lnTo>
                    <a:pt x="18" y="620"/>
                  </a:lnTo>
                  <a:lnTo>
                    <a:pt x="22" y="618"/>
                  </a:lnTo>
                  <a:lnTo>
                    <a:pt x="25" y="617"/>
                  </a:lnTo>
                  <a:lnTo>
                    <a:pt x="26" y="616"/>
                  </a:lnTo>
                  <a:lnTo>
                    <a:pt x="26" y="617"/>
                  </a:lnTo>
                  <a:lnTo>
                    <a:pt x="27" y="618"/>
                  </a:lnTo>
                  <a:lnTo>
                    <a:pt x="29" y="618"/>
                  </a:lnTo>
                  <a:lnTo>
                    <a:pt x="33" y="618"/>
                  </a:lnTo>
                  <a:lnTo>
                    <a:pt x="37" y="618"/>
                  </a:lnTo>
                  <a:lnTo>
                    <a:pt x="40" y="618"/>
                  </a:lnTo>
                  <a:lnTo>
                    <a:pt x="42" y="617"/>
                  </a:lnTo>
                  <a:lnTo>
                    <a:pt x="45" y="616"/>
                  </a:lnTo>
                  <a:lnTo>
                    <a:pt x="48" y="614"/>
                  </a:lnTo>
                  <a:lnTo>
                    <a:pt x="52" y="613"/>
                  </a:lnTo>
                  <a:lnTo>
                    <a:pt x="55" y="612"/>
                  </a:lnTo>
                  <a:lnTo>
                    <a:pt x="59" y="612"/>
                  </a:lnTo>
                  <a:lnTo>
                    <a:pt x="62" y="612"/>
                  </a:lnTo>
                  <a:lnTo>
                    <a:pt x="65" y="614"/>
                  </a:lnTo>
                  <a:lnTo>
                    <a:pt x="68" y="614"/>
                  </a:lnTo>
                  <a:lnTo>
                    <a:pt x="70" y="612"/>
                  </a:lnTo>
                  <a:lnTo>
                    <a:pt x="72" y="610"/>
                  </a:lnTo>
                  <a:lnTo>
                    <a:pt x="74" y="609"/>
                  </a:lnTo>
                  <a:lnTo>
                    <a:pt x="76" y="608"/>
                  </a:lnTo>
                  <a:lnTo>
                    <a:pt x="79" y="606"/>
                  </a:lnTo>
                  <a:lnTo>
                    <a:pt x="83" y="605"/>
                  </a:lnTo>
                  <a:lnTo>
                    <a:pt x="87" y="604"/>
                  </a:lnTo>
                  <a:lnTo>
                    <a:pt x="90" y="603"/>
                  </a:lnTo>
                  <a:lnTo>
                    <a:pt x="94" y="603"/>
                  </a:lnTo>
                  <a:lnTo>
                    <a:pt x="98" y="604"/>
                  </a:lnTo>
                  <a:lnTo>
                    <a:pt x="102" y="604"/>
                  </a:lnTo>
                  <a:lnTo>
                    <a:pt x="106" y="605"/>
                  </a:lnTo>
                  <a:lnTo>
                    <a:pt x="112" y="603"/>
                  </a:lnTo>
                  <a:lnTo>
                    <a:pt x="116" y="602"/>
                  </a:lnTo>
                  <a:lnTo>
                    <a:pt x="118" y="601"/>
                  </a:lnTo>
                  <a:lnTo>
                    <a:pt x="120" y="599"/>
                  </a:lnTo>
                  <a:lnTo>
                    <a:pt x="122" y="597"/>
                  </a:lnTo>
                  <a:lnTo>
                    <a:pt x="125" y="595"/>
                  </a:lnTo>
                  <a:lnTo>
                    <a:pt x="126" y="594"/>
                  </a:lnTo>
                  <a:lnTo>
                    <a:pt x="127" y="593"/>
                  </a:lnTo>
                  <a:lnTo>
                    <a:pt x="129" y="593"/>
                  </a:lnTo>
                  <a:lnTo>
                    <a:pt x="132" y="591"/>
                  </a:lnTo>
                  <a:lnTo>
                    <a:pt x="135" y="590"/>
                  </a:lnTo>
                  <a:lnTo>
                    <a:pt x="138" y="589"/>
                  </a:lnTo>
                  <a:lnTo>
                    <a:pt x="142" y="590"/>
                  </a:lnTo>
                  <a:lnTo>
                    <a:pt x="144" y="591"/>
                  </a:lnTo>
                  <a:lnTo>
                    <a:pt x="148" y="591"/>
                  </a:lnTo>
                  <a:lnTo>
                    <a:pt x="150" y="591"/>
                  </a:lnTo>
                  <a:lnTo>
                    <a:pt x="150" y="593"/>
                  </a:lnTo>
                  <a:lnTo>
                    <a:pt x="150" y="596"/>
                  </a:lnTo>
                  <a:lnTo>
                    <a:pt x="154" y="599"/>
                  </a:lnTo>
                  <a:lnTo>
                    <a:pt x="160" y="599"/>
                  </a:lnTo>
                  <a:lnTo>
                    <a:pt x="165" y="595"/>
                  </a:lnTo>
                  <a:lnTo>
                    <a:pt x="168" y="589"/>
                  </a:lnTo>
                  <a:lnTo>
                    <a:pt x="170" y="586"/>
                  </a:lnTo>
                  <a:lnTo>
                    <a:pt x="172" y="585"/>
                  </a:lnTo>
                  <a:lnTo>
                    <a:pt x="174" y="585"/>
                  </a:lnTo>
                  <a:lnTo>
                    <a:pt x="178" y="585"/>
                  </a:lnTo>
                  <a:lnTo>
                    <a:pt x="181" y="584"/>
                  </a:lnTo>
                  <a:lnTo>
                    <a:pt x="184" y="583"/>
                  </a:lnTo>
                  <a:lnTo>
                    <a:pt x="185" y="583"/>
                  </a:lnTo>
                  <a:lnTo>
                    <a:pt x="186" y="583"/>
                  </a:lnTo>
                  <a:lnTo>
                    <a:pt x="187" y="580"/>
                  </a:lnTo>
                  <a:lnTo>
                    <a:pt x="188" y="577"/>
                  </a:lnTo>
                  <a:lnTo>
                    <a:pt x="190" y="575"/>
                  </a:lnTo>
                  <a:lnTo>
                    <a:pt x="192" y="574"/>
                  </a:lnTo>
                  <a:lnTo>
                    <a:pt x="194" y="573"/>
                  </a:lnTo>
                  <a:lnTo>
                    <a:pt x="198" y="571"/>
                  </a:lnTo>
                  <a:lnTo>
                    <a:pt x="201" y="569"/>
                  </a:lnTo>
                  <a:lnTo>
                    <a:pt x="205" y="567"/>
                  </a:lnTo>
                  <a:lnTo>
                    <a:pt x="208" y="566"/>
                  </a:lnTo>
                  <a:lnTo>
                    <a:pt x="210" y="565"/>
                  </a:lnTo>
                  <a:lnTo>
                    <a:pt x="211" y="565"/>
                  </a:lnTo>
                  <a:lnTo>
                    <a:pt x="212" y="565"/>
                  </a:lnTo>
                  <a:lnTo>
                    <a:pt x="214" y="564"/>
                  </a:lnTo>
                  <a:lnTo>
                    <a:pt x="218" y="564"/>
                  </a:lnTo>
                  <a:lnTo>
                    <a:pt x="221" y="563"/>
                  </a:lnTo>
                  <a:lnTo>
                    <a:pt x="223" y="563"/>
                  </a:lnTo>
                  <a:lnTo>
                    <a:pt x="226" y="561"/>
                  </a:lnTo>
                  <a:lnTo>
                    <a:pt x="229" y="558"/>
                  </a:lnTo>
                  <a:lnTo>
                    <a:pt x="232" y="555"/>
                  </a:lnTo>
                  <a:lnTo>
                    <a:pt x="236" y="551"/>
                  </a:lnTo>
                  <a:lnTo>
                    <a:pt x="239" y="547"/>
                  </a:lnTo>
                  <a:lnTo>
                    <a:pt x="242" y="545"/>
                  </a:lnTo>
                  <a:lnTo>
                    <a:pt x="244" y="542"/>
                  </a:lnTo>
                  <a:lnTo>
                    <a:pt x="246" y="538"/>
                  </a:lnTo>
                  <a:lnTo>
                    <a:pt x="245" y="534"/>
                  </a:lnTo>
                  <a:lnTo>
                    <a:pt x="246" y="531"/>
                  </a:lnTo>
                  <a:lnTo>
                    <a:pt x="256" y="531"/>
                  </a:lnTo>
                  <a:lnTo>
                    <a:pt x="262" y="532"/>
                  </a:lnTo>
                  <a:lnTo>
                    <a:pt x="267" y="531"/>
                  </a:lnTo>
                  <a:lnTo>
                    <a:pt x="271" y="530"/>
                  </a:lnTo>
                  <a:lnTo>
                    <a:pt x="274" y="528"/>
                  </a:lnTo>
                  <a:lnTo>
                    <a:pt x="276" y="525"/>
                  </a:lnTo>
                  <a:lnTo>
                    <a:pt x="278" y="523"/>
                  </a:lnTo>
                  <a:lnTo>
                    <a:pt x="278" y="521"/>
                  </a:lnTo>
                  <a:lnTo>
                    <a:pt x="278" y="518"/>
                  </a:lnTo>
                  <a:lnTo>
                    <a:pt x="278" y="515"/>
                  </a:lnTo>
                  <a:lnTo>
                    <a:pt x="278" y="512"/>
                  </a:lnTo>
                  <a:lnTo>
                    <a:pt x="278" y="511"/>
                  </a:lnTo>
                  <a:lnTo>
                    <a:pt x="283" y="509"/>
                  </a:lnTo>
                  <a:lnTo>
                    <a:pt x="288" y="506"/>
                  </a:lnTo>
                  <a:lnTo>
                    <a:pt x="293" y="504"/>
                  </a:lnTo>
                  <a:lnTo>
                    <a:pt x="296" y="502"/>
                  </a:lnTo>
                  <a:lnTo>
                    <a:pt x="300" y="501"/>
                  </a:lnTo>
                  <a:lnTo>
                    <a:pt x="301" y="501"/>
                  </a:lnTo>
                  <a:lnTo>
                    <a:pt x="300" y="501"/>
                  </a:lnTo>
                  <a:lnTo>
                    <a:pt x="299" y="501"/>
                  </a:lnTo>
                  <a:lnTo>
                    <a:pt x="296" y="501"/>
                  </a:lnTo>
                  <a:lnTo>
                    <a:pt x="292" y="501"/>
                  </a:lnTo>
                  <a:lnTo>
                    <a:pt x="287" y="501"/>
                  </a:lnTo>
                  <a:lnTo>
                    <a:pt x="280" y="501"/>
                  </a:lnTo>
                  <a:lnTo>
                    <a:pt x="272" y="501"/>
                  </a:lnTo>
                  <a:lnTo>
                    <a:pt x="267" y="501"/>
                  </a:lnTo>
                  <a:lnTo>
                    <a:pt x="262" y="501"/>
                  </a:lnTo>
                  <a:lnTo>
                    <a:pt x="260" y="501"/>
                  </a:lnTo>
                  <a:lnTo>
                    <a:pt x="258" y="500"/>
                  </a:lnTo>
                  <a:lnTo>
                    <a:pt x="256" y="498"/>
                  </a:lnTo>
                  <a:lnTo>
                    <a:pt x="256" y="496"/>
                  </a:lnTo>
                  <a:lnTo>
                    <a:pt x="256" y="492"/>
                  </a:lnTo>
                  <a:lnTo>
                    <a:pt x="253" y="482"/>
                  </a:lnTo>
                  <a:lnTo>
                    <a:pt x="248" y="472"/>
                  </a:lnTo>
                  <a:lnTo>
                    <a:pt x="243" y="465"/>
                  </a:lnTo>
                  <a:lnTo>
                    <a:pt x="239" y="463"/>
                  </a:lnTo>
                  <a:lnTo>
                    <a:pt x="236" y="463"/>
                  </a:lnTo>
                  <a:lnTo>
                    <a:pt x="232" y="462"/>
                  </a:lnTo>
                  <a:lnTo>
                    <a:pt x="228" y="463"/>
                  </a:lnTo>
                  <a:lnTo>
                    <a:pt x="226" y="464"/>
                  </a:lnTo>
                  <a:lnTo>
                    <a:pt x="222" y="467"/>
                  </a:lnTo>
                  <a:lnTo>
                    <a:pt x="218" y="467"/>
                  </a:lnTo>
                  <a:lnTo>
                    <a:pt x="214" y="466"/>
                  </a:lnTo>
                  <a:lnTo>
                    <a:pt x="214" y="461"/>
                  </a:lnTo>
                  <a:lnTo>
                    <a:pt x="217" y="454"/>
                  </a:lnTo>
                  <a:lnTo>
                    <a:pt x="220" y="450"/>
                  </a:lnTo>
                  <a:lnTo>
                    <a:pt x="222" y="447"/>
                  </a:lnTo>
                  <a:lnTo>
                    <a:pt x="226" y="445"/>
                  </a:lnTo>
                  <a:lnTo>
                    <a:pt x="228" y="442"/>
                  </a:lnTo>
                  <a:lnTo>
                    <a:pt x="226" y="436"/>
                  </a:lnTo>
                  <a:lnTo>
                    <a:pt x="223" y="430"/>
                  </a:lnTo>
                  <a:lnTo>
                    <a:pt x="220" y="426"/>
                  </a:lnTo>
                  <a:lnTo>
                    <a:pt x="218" y="423"/>
                  </a:lnTo>
                  <a:lnTo>
                    <a:pt x="215" y="419"/>
                  </a:lnTo>
                  <a:lnTo>
                    <a:pt x="214" y="415"/>
                  </a:lnTo>
                  <a:lnTo>
                    <a:pt x="215" y="412"/>
                  </a:lnTo>
                  <a:lnTo>
                    <a:pt x="218" y="409"/>
                  </a:lnTo>
                  <a:lnTo>
                    <a:pt x="220" y="408"/>
                  </a:lnTo>
                  <a:lnTo>
                    <a:pt x="220" y="407"/>
                  </a:lnTo>
                  <a:lnTo>
                    <a:pt x="221" y="406"/>
                  </a:lnTo>
                  <a:lnTo>
                    <a:pt x="221" y="403"/>
                  </a:lnTo>
                  <a:lnTo>
                    <a:pt x="220" y="401"/>
                  </a:lnTo>
                  <a:lnTo>
                    <a:pt x="220" y="399"/>
                  </a:lnTo>
                  <a:lnTo>
                    <a:pt x="219" y="395"/>
                  </a:lnTo>
                  <a:lnTo>
                    <a:pt x="220" y="393"/>
                  </a:lnTo>
                  <a:lnTo>
                    <a:pt x="222" y="390"/>
                  </a:lnTo>
                  <a:lnTo>
                    <a:pt x="224" y="388"/>
                  </a:lnTo>
                  <a:lnTo>
                    <a:pt x="226" y="387"/>
                  </a:lnTo>
                  <a:lnTo>
                    <a:pt x="228" y="384"/>
                  </a:lnTo>
                  <a:lnTo>
                    <a:pt x="230" y="381"/>
                  </a:lnTo>
                  <a:lnTo>
                    <a:pt x="231" y="377"/>
                  </a:lnTo>
                  <a:lnTo>
                    <a:pt x="233" y="374"/>
                  </a:lnTo>
                  <a:lnTo>
                    <a:pt x="236" y="371"/>
                  </a:lnTo>
                  <a:lnTo>
                    <a:pt x="238" y="368"/>
                  </a:lnTo>
                  <a:lnTo>
                    <a:pt x="239" y="363"/>
                  </a:lnTo>
                  <a:lnTo>
                    <a:pt x="241" y="357"/>
                  </a:lnTo>
                  <a:lnTo>
                    <a:pt x="244" y="354"/>
                  </a:lnTo>
                  <a:lnTo>
                    <a:pt x="250" y="353"/>
                  </a:lnTo>
                  <a:lnTo>
                    <a:pt x="254" y="352"/>
                  </a:lnTo>
                  <a:lnTo>
                    <a:pt x="256" y="349"/>
                  </a:lnTo>
                  <a:lnTo>
                    <a:pt x="258" y="345"/>
                  </a:lnTo>
                  <a:lnTo>
                    <a:pt x="259" y="340"/>
                  </a:lnTo>
                  <a:lnTo>
                    <a:pt x="259" y="337"/>
                  </a:lnTo>
                  <a:lnTo>
                    <a:pt x="260" y="334"/>
                  </a:lnTo>
                  <a:lnTo>
                    <a:pt x="265" y="331"/>
                  </a:lnTo>
                  <a:lnTo>
                    <a:pt x="271" y="329"/>
                  </a:lnTo>
                  <a:lnTo>
                    <a:pt x="275" y="327"/>
                  </a:lnTo>
                  <a:lnTo>
                    <a:pt x="278" y="325"/>
                  </a:lnTo>
                  <a:lnTo>
                    <a:pt x="280" y="320"/>
                  </a:lnTo>
                  <a:lnTo>
                    <a:pt x="282" y="313"/>
                  </a:lnTo>
                  <a:lnTo>
                    <a:pt x="285" y="309"/>
                  </a:lnTo>
                  <a:lnTo>
                    <a:pt x="287" y="305"/>
                  </a:lnTo>
                  <a:lnTo>
                    <a:pt x="289" y="303"/>
                  </a:lnTo>
                  <a:lnTo>
                    <a:pt x="290" y="301"/>
                  </a:lnTo>
                  <a:lnTo>
                    <a:pt x="290" y="299"/>
                  </a:lnTo>
                  <a:lnTo>
                    <a:pt x="288" y="297"/>
                  </a:lnTo>
                  <a:lnTo>
                    <a:pt x="285" y="297"/>
                  </a:lnTo>
                  <a:lnTo>
                    <a:pt x="283" y="297"/>
                  </a:lnTo>
                  <a:lnTo>
                    <a:pt x="281" y="296"/>
                  </a:lnTo>
                  <a:lnTo>
                    <a:pt x="279" y="295"/>
                  </a:lnTo>
                  <a:lnTo>
                    <a:pt x="276" y="295"/>
                  </a:lnTo>
                  <a:lnTo>
                    <a:pt x="272" y="293"/>
                  </a:lnTo>
                  <a:lnTo>
                    <a:pt x="268" y="292"/>
                  </a:lnTo>
                  <a:lnTo>
                    <a:pt x="262" y="291"/>
                  </a:lnTo>
                  <a:lnTo>
                    <a:pt x="254" y="291"/>
                  </a:lnTo>
                  <a:lnTo>
                    <a:pt x="246" y="290"/>
                  </a:lnTo>
                  <a:lnTo>
                    <a:pt x="238" y="289"/>
                  </a:lnTo>
                  <a:lnTo>
                    <a:pt x="232" y="288"/>
                  </a:lnTo>
                  <a:lnTo>
                    <a:pt x="228" y="287"/>
                  </a:lnTo>
                  <a:lnTo>
                    <a:pt x="224" y="286"/>
                  </a:lnTo>
                  <a:lnTo>
                    <a:pt x="222" y="284"/>
                  </a:lnTo>
                  <a:lnTo>
                    <a:pt x="220" y="281"/>
                  </a:lnTo>
                  <a:lnTo>
                    <a:pt x="219" y="279"/>
                  </a:lnTo>
                  <a:lnTo>
                    <a:pt x="218" y="274"/>
                  </a:lnTo>
                  <a:lnTo>
                    <a:pt x="217" y="272"/>
                  </a:lnTo>
                  <a:lnTo>
                    <a:pt x="216" y="269"/>
                  </a:lnTo>
                  <a:lnTo>
                    <a:pt x="218" y="265"/>
                  </a:lnTo>
                  <a:lnTo>
                    <a:pt x="220" y="260"/>
                  </a:lnTo>
                  <a:lnTo>
                    <a:pt x="221" y="257"/>
                  </a:lnTo>
                  <a:lnTo>
                    <a:pt x="223" y="255"/>
                  </a:lnTo>
                  <a:lnTo>
                    <a:pt x="226" y="253"/>
                  </a:lnTo>
                  <a:lnTo>
                    <a:pt x="229" y="251"/>
                  </a:lnTo>
                  <a:lnTo>
                    <a:pt x="231" y="247"/>
                  </a:lnTo>
                  <a:lnTo>
                    <a:pt x="232" y="243"/>
                  </a:lnTo>
                  <a:lnTo>
                    <a:pt x="234" y="238"/>
                  </a:lnTo>
                  <a:lnTo>
                    <a:pt x="236" y="234"/>
                  </a:lnTo>
                  <a:lnTo>
                    <a:pt x="239" y="232"/>
                  </a:lnTo>
                  <a:lnTo>
                    <a:pt x="242" y="231"/>
                  </a:lnTo>
                  <a:lnTo>
                    <a:pt x="246" y="229"/>
                  </a:lnTo>
                  <a:lnTo>
                    <a:pt x="247" y="228"/>
                  </a:lnTo>
                  <a:lnTo>
                    <a:pt x="250" y="226"/>
                  </a:lnTo>
                  <a:lnTo>
                    <a:pt x="252" y="223"/>
                  </a:lnTo>
                  <a:lnTo>
                    <a:pt x="256" y="221"/>
                  </a:lnTo>
                  <a:lnTo>
                    <a:pt x="260" y="219"/>
                  </a:lnTo>
                  <a:lnTo>
                    <a:pt x="264" y="217"/>
                  </a:lnTo>
                  <a:lnTo>
                    <a:pt x="266" y="217"/>
                  </a:lnTo>
                  <a:lnTo>
                    <a:pt x="268" y="217"/>
                  </a:lnTo>
                  <a:lnTo>
                    <a:pt x="271" y="219"/>
                  </a:lnTo>
                  <a:lnTo>
                    <a:pt x="274" y="219"/>
                  </a:lnTo>
                  <a:lnTo>
                    <a:pt x="275" y="217"/>
                  </a:lnTo>
                  <a:lnTo>
                    <a:pt x="276" y="213"/>
                  </a:lnTo>
                  <a:lnTo>
                    <a:pt x="276" y="208"/>
                  </a:lnTo>
                  <a:lnTo>
                    <a:pt x="276" y="205"/>
                  </a:lnTo>
                  <a:lnTo>
                    <a:pt x="276" y="203"/>
                  </a:lnTo>
                  <a:lnTo>
                    <a:pt x="280" y="199"/>
                  </a:lnTo>
                  <a:lnTo>
                    <a:pt x="283" y="194"/>
                  </a:lnTo>
                  <a:lnTo>
                    <a:pt x="284" y="190"/>
                  </a:lnTo>
                  <a:lnTo>
                    <a:pt x="283" y="186"/>
                  </a:lnTo>
                  <a:lnTo>
                    <a:pt x="281" y="183"/>
                  </a:lnTo>
                  <a:lnTo>
                    <a:pt x="278" y="178"/>
                  </a:lnTo>
                  <a:lnTo>
                    <a:pt x="274" y="172"/>
                  </a:lnTo>
                  <a:lnTo>
                    <a:pt x="273" y="164"/>
                  </a:lnTo>
                  <a:lnTo>
                    <a:pt x="274" y="160"/>
                  </a:lnTo>
                  <a:lnTo>
                    <a:pt x="275" y="159"/>
                  </a:lnTo>
                  <a:lnTo>
                    <a:pt x="276" y="158"/>
                  </a:lnTo>
                  <a:lnTo>
                    <a:pt x="274" y="157"/>
                  </a:lnTo>
                  <a:lnTo>
                    <a:pt x="270" y="154"/>
                  </a:lnTo>
                  <a:lnTo>
                    <a:pt x="266" y="152"/>
                  </a:lnTo>
                  <a:lnTo>
                    <a:pt x="262" y="150"/>
                  </a:lnTo>
                  <a:lnTo>
                    <a:pt x="258" y="148"/>
                  </a:lnTo>
                  <a:lnTo>
                    <a:pt x="254" y="147"/>
                  </a:lnTo>
                  <a:lnTo>
                    <a:pt x="250" y="146"/>
                  </a:lnTo>
                  <a:lnTo>
                    <a:pt x="248" y="144"/>
                  </a:lnTo>
                  <a:lnTo>
                    <a:pt x="246" y="142"/>
                  </a:lnTo>
                  <a:lnTo>
                    <a:pt x="245" y="138"/>
                  </a:lnTo>
                  <a:lnTo>
                    <a:pt x="246" y="133"/>
                  </a:lnTo>
                  <a:lnTo>
                    <a:pt x="246" y="130"/>
                  </a:lnTo>
                  <a:lnTo>
                    <a:pt x="246" y="127"/>
                  </a:lnTo>
                  <a:lnTo>
                    <a:pt x="243" y="120"/>
                  </a:lnTo>
                  <a:lnTo>
                    <a:pt x="240" y="111"/>
                  </a:lnTo>
                  <a:lnTo>
                    <a:pt x="240" y="104"/>
                  </a:lnTo>
                  <a:lnTo>
                    <a:pt x="241" y="98"/>
                  </a:lnTo>
                  <a:lnTo>
                    <a:pt x="246" y="92"/>
                  </a:lnTo>
                  <a:lnTo>
                    <a:pt x="249" y="90"/>
                  </a:lnTo>
                  <a:lnTo>
                    <a:pt x="252" y="86"/>
                  </a:lnTo>
                  <a:lnTo>
                    <a:pt x="256" y="83"/>
                  </a:lnTo>
                  <a:lnTo>
                    <a:pt x="260" y="80"/>
                  </a:lnTo>
                  <a:lnTo>
                    <a:pt x="264" y="78"/>
                  </a:lnTo>
                  <a:lnTo>
                    <a:pt x="267" y="76"/>
                  </a:lnTo>
                  <a:lnTo>
                    <a:pt x="270" y="75"/>
                  </a:lnTo>
                  <a:lnTo>
                    <a:pt x="272" y="75"/>
                  </a:lnTo>
                  <a:lnTo>
                    <a:pt x="274" y="76"/>
                  </a:lnTo>
                  <a:lnTo>
                    <a:pt x="277" y="77"/>
                  </a:lnTo>
                  <a:lnTo>
                    <a:pt x="279" y="78"/>
                  </a:lnTo>
                  <a:lnTo>
                    <a:pt x="282" y="79"/>
                  </a:lnTo>
                  <a:lnTo>
                    <a:pt x="284" y="79"/>
                  </a:lnTo>
                  <a:lnTo>
                    <a:pt x="287" y="78"/>
                  </a:lnTo>
                  <a:lnTo>
                    <a:pt x="290" y="77"/>
                  </a:lnTo>
                  <a:lnTo>
                    <a:pt x="292" y="74"/>
                  </a:lnTo>
                  <a:lnTo>
                    <a:pt x="295" y="69"/>
                  </a:lnTo>
                  <a:lnTo>
                    <a:pt x="296" y="66"/>
                  </a:lnTo>
                  <a:lnTo>
                    <a:pt x="296" y="64"/>
                  </a:lnTo>
                  <a:lnTo>
                    <a:pt x="301" y="62"/>
                  </a:lnTo>
                  <a:lnTo>
                    <a:pt x="308" y="59"/>
                  </a:lnTo>
                  <a:lnTo>
                    <a:pt x="312" y="55"/>
                  </a:lnTo>
                  <a:lnTo>
                    <a:pt x="316" y="50"/>
                  </a:lnTo>
                  <a:lnTo>
                    <a:pt x="318" y="46"/>
                  </a:lnTo>
                  <a:lnTo>
                    <a:pt x="321" y="42"/>
                  </a:lnTo>
                  <a:lnTo>
                    <a:pt x="322" y="39"/>
                  </a:lnTo>
                  <a:lnTo>
                    <a:pt x="324" y="38"/>
                  </a:lnTo>
                  <a:lnTo>
                    <a:pt x="326" y="38"/>
                  </a:lnTo>
                  <a:lnTo>
                    <a:pt x="329" y="38"/>
                  </a:lnTo>
                  <a:lnTo>
                    <a:pt x="331" y="38"/>
                  </a:lnTo>
                  <a:lnTo>
                    <a:pt x="332" y="36"/>
                  </a:lnTo>
                  <a:lnTo>
                    <a:pt x="334" y="33"/>
                  </a:lnTo>
                  <a:lnTo>
                    <a:pt x="337" y="29"/>
                  </a:lnTo>
                  <a:lnTo>
                    <a:pt x="340" y="24"/>
                  </a:lnTo>
                  <a:lnTo>
                    <a:pt x="343" y="21"/>
                  </a:lnTo>
                  <a:lnTo>
                    <a:pt x="346" y="20"/>
                  </a:lnTo>
                  <a:lnTo>
                    <a:pt x="349" y="19"/>
                  </a:lnTo>
                  <a:lnTo>
                    <a:pt x="352" y="16"/>
                  </a:lnTo>
                  <a:lnTo>
                    <a:pt x="354" y="13"/>
                  </a:lnTo>
                  <a:lnTo>
                    <a:pt x="355" y="10"/>
                  </a:lnTo>
                  <a:lnTo>
                    <a:pt x="358" y="8"/>
                  </a:lnTo>
                  <a:lnTo>
                    <a:pt x="362" y="4"/>
                  </a:lnTo>
                  <a:lnTo>
                    <a:pt x="367" y="2"/>
                  </a:lnTo>
                  <a:lnTo>
                    <a:pt x="369" y="1"/>
                  </a:lnTo>
                  <a:lnTo>
                    <a:pt x="371" y="2"/>
                  </a:lnTo>
                  <a:lnTo>
                    <a:pt x="375" y="4"/>
                  </a:lnTo>
                  <a:lnTo>
                    <a:pt x="380" y="4"/>
                  </a:lnTo>
                  <a:lnTo>
                    <a:pt x="382" y="2"/>
                  </a:lnTo>
                  <a:lnTo>
                    <a:pt x="384" y="0"/>
                  </a:lnTo>
                  <a:lnTo>
                    <a:pt x="388" y="0"/>
                  </a:lnTo>
                  <a:lnTo>
                    <a:pt x="392" y="1"/>
                  </a:lnTo>
                  <a:lnTo>
                    <a:pt x="395" y="3"/>
                  </a:lnTo>
                  <a:lnTo>
                    <a:pt x="398" y="5"/>
                  </a:lnTo>
                  <a:lnTo>
                    <a:pt x="401" y="6"/>
                  </a:lnTo>
                  <a:lnTo>
                    <a:pt x="404" y="6"/>
                  </a:lnTo>
                  <a:lnTo>
                    <a:pt x="407" y="4"/>
                  </a:lnTo>
                  <a:lnTo>
                    <a:pt x="409" y="4"/>
                  </a:lnTo>
                  <a:lnTo>
                    <a:pt x="412" y="3"/>
                  </a:lnTo>
                  <a:lnTo>
                    <a:pt x="416" y="3"/>
                  </a:lnTo>
                  <a:lnTo>
                    <a:pt x="422" y="3"/>
                  </a:lnTo>
                  <a:lnTo>
                    <a:pt x="426" y="3"/>
                  </a:lnTo>
                  <a:lnTo>
                    <a:pt x="430" y="4"/>
                  </a:lnTo>
                  <a:lnTo>
                    <a:pt x="434" y="4"/>
                  </a:lnTo>
                  <a:lnTo>
                    <a:pt x="436" y="6"/>
                  </a:lnTo>
                  <a:lnTo>
                    <a:pt x="437" y="8"/>
                  </a:lnTo>
                  <a:lnTo>
                    <a:pt x="439" y="10"/>
                  </a:lnTo>
                  <a:lnTo>
                    <a:pt x="442" y="14"/>
                  </a:lnTo>
                  <a:lnTo>
                    <a:pt x="446" y="17"/>
                  </a:lnTo>
                  <a:lnTo>
                    <a:pt x="450" y="20"/>
                  </a:lnTo>
                  <a:lnTo>
                    <a:pt x="456" y="24"/>
                  </a:lnTo>
                  <a:lnTo>
                    <a:pt x="462" y="25"/>
                  </a:lnTo>
                  <a:lnTo>
                    <a:pt x="469" y="26"/>
                  </a:lnTo>
                  <a:lnTo>
                    <a:pt x="476" y="25"/>
                  </a:lnTo>
                  <a:lnTo>
                    <a:pt x="480" y="25"/>
                  </a:lnTo>
                  <a:lnTo>
                    <a:pt x="484" y="26"/>
                  </a:lnTo>
                  <a:lnTo>
                    <a:pt x="486" y="26"/>
                  </a:lnTo>
                  <a:lnTo>
                    <a:pt x="488" y="27"/>
                  </a:lnTo>
                  <a:lnTo>
                    <a:pt x="488" y="28"/>
                  </a:lnTo>
                  <a:lnTo>
                    <a:pt x="489" y="30"/>
                  </a:lnTo>
                  <a:lnTo>
                    <a:pt x="489" y="32"/>
                  </a:lnTo>
                  <a:lnTo>
                    <a:pt x="490" y="36"/>
                  </a:lnTo>
                  <a:lnTo>
                    <a:pt x="494" y="39"/>
                  </a:lnTo>
                  <a:lnTo>
                    <a:pt x="498" y="41"/>
                  </a:lnTo>
                  <a:lnTo>
                    <a:pt x="504" y="41"/>
                  </a:lnTo>
                  <a:lnTo>
                    <a:pt x="506" y="40"/>
                  </a:lnTo>
                  <a:lnTo>
                    <a:pt x="510" y="40"/>
                  </a:lnTo>
                  <a:lnTo>
                    <a:pt x="513" y="39"/>
                  </a:lnTo>
                  <a:lnTo>
                    <a:pt x="516" y="39"/>
                  </a:lnTo>
                  <a:lnTo>
                    <a:pt x="518" y="38"/>
                  </a:lnTo>
                  <a:lnTo>
                    <a:pt x="521" y="39"/>
                  </a:lnTo>
                  <a:lnTo>
                    <a:pt x="522" y="40"/>
                  </a:lnTo>
                  <a:lnTo>
                    <a:pt x="524" y="41"/>
                  </a:lnTo>
                  <a:lnTo>
                    <a:pt x="526" y="44"/>
                  </a:lnTo>
                  <a:lnTo>
                    <a:pt x="531" y="47"/>
                  </a:lnTo>
                  <a:lnTo>
                    <a:pt x="536" y="48"/>
                  </a:lnTo>
                  <a:lnTo>
                    <a:pt x="542" y="46"/>
                  </a:lnTo>
                  <a:lnTo>
                    <a:pt x="546" y="44"/>
                  </a:lnTo>
                  <a:lnTo>
                    <a:pt x="551" y="44"/>
                  </a:lnTo>
                  <a:lnTo>
                    <a:pt x="555" y="46"/>
                  </a:lnTo>
                  <a:lnTo>
                    <a:pt x="556" y="50"/>
                  </a:lnTo>
                  <a:lnTo>
                    <a:pt x="557" y="55"/>
                  </a:lnTo>
                  <a:lnTo>
                    <a:pt x="558" y="58"/>
                  </a:lnTo>
                  <a:lnTo>
                    <a:pt x="562" y="60"/>
                  </a:lnTo>
                  <a:lnTo>
                    <a:pt x="566" y="60"/>
                  </a:lnTo>
                  <a:lnTo>
                    <a:pt x="569" y="59"/>
                  </a:lnTo>
                  <a:lnTo>
                    <a:pt x="574" y="60"/>
                  </a:lnTo>
                  <a:lnTo>
                    <a:pt x="579" y="62"/>
                  </a:lnTo>
                  <a:lnTo>
                    <a:pt x="585" y="64"/>
                  </a:lnTo>
                  <a:lnTo>
                    <a:pt x="590" y="66"/>
                  </a:lnTo>
                  <a:lnTo>
                    <a:pt x="595" y="69"/>
                  </a:lnTo>
                  <a:lnTo>
                    <a:pt x="598" y="72"/>
                  </a:lnTo>
                  <a:lnTo>
                    <a:pt x="600" y="74"/>
                  </a:lnTo>
                  <a:lnTo>
                    <a:pt x="602" y="77"/>
                  </a:lnTo>
                  <a:lnTo>
                    <a:pt x="604" y="78"/>
                  </a:lnTo>
                  <a:lnTo>
                    <a:pt x="608" y="78"/>
                  </a:lnTo>
                  <a:lnTo>
                    <a:pt x="612" y="74"/>
                  </a:lnTo>
                  <a:lnTo>
                    <a:pt x="614" y="73"/>
                  </a:lnTo>
                  <a:lnTo>
                    <a:pt x="617" y="72"/>
                  </a:lnTo>
                  <a:lnTo>
                    <a:pt x="621" y="74"/>
                  </a:lnTo>
                  <a:lnTo>
                    <a:pt x="625" y="76"/>
                  </a:lnTo>
                  <a:lnTo>
                    <a:pt x="628" y="78"/>
                  </a:lnTo>
                  <a:lnTo>
                    <a:pt x="632" y="82"/>
                  </a:lnTo>
                  <a:lnTo>
                    <a:pt x="634" y="86"/>
                  </a:lnTo>
                  <a:lnTo>
                    <a:pt x="636" y="9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33" name="Freeform 93"/>
            <p:cNvSpPr>
              <a:spLocks noChangeAspect="1"/>
            </p:cNvSpPr>
            <p:nvPr/>
          </p:nvSpPr>
          <p:spPr bwMode="auto">
            <a:xfrm>
              <a:off x="1033" y="171"/>
              <a:ext cx="27" cy="383"/>
            </a:xfrm>
            <a:custGeom>
              <a:avLst/>
              <a:gdLst/>
              <a:ahLst/>
              <a:cxnLst>
                <a:cxn ang="0">
                  <a:pos x="7" y="376"/>
                </a:cxn>
                <a:cxn ang="0">
                  <a:pos x="8" y="379"/>
                </a:cxn>
                <a:cxn ang="0">
                  <a:pos x="27" y="0"/>
                </a:cxn>
                <a:cxn ang="0">
                  <a:pos x="19" y="0"/>
                </a:cxn>
                <a:cxn ang="0">
                  <a:pos x="0" y="379"/>
                </a:cxn>
                <a:cxn ang="0">
                  <a:pos x="2" y="382"/>
                </a:cxn>
                <a:cxn ang="0">
                  <a:pos x="0" y="379"/>
                </a:cxn>
                <a:cxn ang="0">
                  <a:pos x="0" y="380"/>
                </a:cxn>
                <a:cxn ang="0">
                  <a:pos x="2" y="382"/>
                </a:cxn>
                <a:cxn ang="0">
                  <a:pos x="7" y="376"/>
                </a:cxn>
              </a:cxnLst>
              <a:rect l="0" t="0" r="r" b="b"/>
              <a:pathLst>
                <a:path w="28" h="383">
                  <a:moveTo>
                    <a:pt x="7" y="376"/>
                  </a:moveTo>
                  <a:lnTo>
                    <a:pt x="8" y="379"/>
                  </a:lnTo>
                  <a:lnTo>
                    <a:pt x="27" y="0"/>
                  </a:lnTo>
                  <a:lnTo>
                    <a:pt x="19" y="0"/>
                  </a:lnTo>
                  <a:lnTo>
                    <a:pt x="0" y="379"/>
                  </a:lnTo>
                  <a:lnTo>
                    <a:pt x="2" y="382"/>
                  </a:lnTo>
                  <a:lnTo>
                    <a:pt x="0" y="379"/>
                  </a:lnTo>
                  <a:lnTo>
                    <a:pt x="0" y="380"/>
                  </a:lnTo>
                  <a:lnTo>
                    <a:pt x="2" y="382"/>
                  </a:lnTo>
                  <a:lnTo>
                    <a:pt x="7" y="37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34" name="Freeform 94"/>
            <p:cNvSpPr>
              <a:spLocks noChangeAspect="1"/>
            </p:cNvSpPr>
            <p:nvPr/>
          </p:nvSpPr>
          <p:spPr bwMode="auto">
            <a:xfrm>
              <a:off x="1034" y="547"/>
              <a:ext cx="16" cy="19"/>
            </a:xfrm>
            <a:custGeom>
              <a:avLst/>
              <a:gdLst/>
              <a:ahLst/>
              <a:cxnLst>
                <a:cxn ang="0">
                  <a:pos x="15" y="6"/>
                </a:cxn>
                <a:cxn ang="0">
                  <a:pos x="15" y="6"/>
                </a:cxn>
                <a:cxn ang="0">
                  <a:pos x="13" y="6"/>
                </a:cxn>
                <a:cxn ang="0">
                  <a:pos x="10" y="4"/>
                </a:cxn>
                <a:cxn ang="0">
                  <a:pos x="6" y="1"/>
                </a:cxn>
                <a:cxn ang="0">
                  <a:pos x="5" y="0"/>
                </a:cxn>
                <a:cxn ang="0">
                  <a:pos x="0" y="6"/>
                </a:cxn>
                <a:cxn ang="0">
                  <a:pos x="1" y="8"/>
                </a:cxn>
                <a:cxn ang="0">
                  <a:pos x="4" y="10"/>
                </a:cxn>
                <a:cxn ang="0">
                  <a:pos x="9" y="14"/>
                </a:cxn>
                <a:cxn ang="0">
                  <a:pos x="15" y="16"/>
                </a:cxn>
                <a:cxn ang="0">
                  <a:pos x="15" y="6"/>
                </a:cxn>
              </a:cxnLst>
              <a:rect l="0" t="0" r="r" b="b"/>
              <a:pathLst>
                <a:path w="16" h="17">
                  <a:moveTo>
                    <a:pt x="15" y="6"/>
                  </a:moveTo>
                  <a:lnTo>
                    <a:pt x="15" y="6"/>
                  </a:lnTo>
                  <a:lnTo>
                    <a:pt x="13" y="6"/>
                  </a:lnTo>
                  <a:lnTo>
                    <a:pt x="10" y="4"/>
                  </a:lnTo>
                  <a:lnTo>
                    <a:pt x="6" y="1"/>
                  </a:lnTo>
                  <a:lnTo>
                    <a:pt x="5" y="0"/>
                  </a:lnTo>
                  <a:lnTo>
                    <a:pt x="0" y="6"/>
                  </a:lnTo>
                  <a:lnTo>
                    <a:pt x="1" y="8"/>
                  </a:lnTo>
                  <a:lnTo>
                    <a:pt x="4" y="10"/>
                  </a:lnTo>
                  <a:lnTo>
                    <a:pt x="9" y="14"/>
                  </a:lnTo>
                  <a:lnTo>
                    <a:pt x="15" y="16"/>
                  </a:lnTo>
                  <a:lnTo>
                    <a:pt x="15" y="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35" name="Freeform 95"/>
            <p:cNvSpPr>
              <a:spLocks noChangeAspect="1"/>
            </p:cNvSpPr>
            <p:nvPr/>
          </p:nvSpPr>
          <p:spPr bwMode="auto">
            <a:xfrm>
              <a:off x="1048" y="554"/>
              <a:ext cx="27" cy="33"/>
            </a:xfrm>
            <a:custGeom>
              <a:avLst/>
              <a:gdLst/>
              <a:ahLst/>
              <a:cxnLst>
                <a:cxn ang="0">
                  <a:pos x="26" y="31"/>
                </a:cxn>
                <a:cxn ang="0">
                  <a:pos x="26" y="31"/>
                </a:cxn>
                <a:cxn ang="0">
                  <a:pos x="24" y="23"/>
                </a:cxn>
                <a:cxn ang="0">
                  <a:pos x="22" y="17"/>
                </a:cxn>
                <a:cxn ang="0">
                  <a:pos x="18" y="13"/>
                </a:cxn>
                <a:cxn ang="0">
                  <a:pos x="14" y="8"/>
                </a:cxn>
                <a:cxn ang="0">
                  <a:pos x="11" y="5"/>
                </a:cxn>
                <a:cxn ang="0">
                  <a:pos x="6" y="2"/>
                </a:cxn>
                <a:cxn ang="0">
                  <a:pos x="3" y="1"/>
                </a:cxn>
                <a:cxn ang="0">
                  <a:pos x="0" y="0"/>
                </a:cxn>
                <a:cxn ang="0">
                  <a:pos x="0" y="9"/>
                </a:cxn>
                <a:cxn ang="0">
                  <a:pos x="2" y="9"/>
                </a:cxn>
                <a:cxn ang="0">
                  <a:pos x="4" y="10"/>
                </a:cxn>
                <a:cxn ang="0">
                  <a:pos x="6" y="11"/>
                </a:cxn>
                <a:cxn ang="0">
                  <a:pos x="9" y="13"/>
                </a:cxn>
                <a:cxn ang="0">
                  <a:pos x="12" y="17"/>
                </a:cxn>
                <a:cxn ang="0">
                  <a:pos x="14" y="21"/>
                </a:cxn>
                <a:cxn ang="0">
                  <a:pos x="16" y="26"/>
                </a:cxn>
                <a:cxn ang="0">
                  <a:pos x="18" y="31"/>
                </a:cxn>
                <a:cxn ang="0">
                  <a:pos x="18" y="32"/>
                </a:cxn>
                <a:cxn ang="0">
                  <a:pos x="26" y="31"/>
                </a:cxn>
              </a:cxnLst>
              <a:rect l="0" t="0" r="r" b="b"/>
              <a:pathLst>
                <a:path w="27" h="33">
                  <a:moveTo>
                    <a:pt x="26" y="31"/>
                  </a:moveTo>
                  <a:lnTo>
                    <a:pt x="26" y="31"/>
                  </a:lnTo>
                  <a:lnTo>
                    <a:pt x="24" y="23"/>
                  </a:lnTo>
                  <a:lnTo>
                    <a:pt x="22" y="17"/>
                  </a:lnTo>
                  <a:lnTo>
                    <a:pt x="18" y="13"/>
                  </a:lnTo>
                  <a:lnTo>
                    <a:pt x="14" y="8"/>
                  </a:lnTo>
                  <a:lnTo>
                    <a:pt x="11" y="5"/>
                  </a:lnTo>
                  <a:lnTo>
                    <a:pt x="6" y="2"/>
                  </a:lnTo>
                  <a:lnTo>
                    <a:pt x="3" y="1"/>
                  </a:lnTo>
                  <a:lnTo>
                    <a:pt x="0" y="0"/>
                  </a:lnTo>
                  <a:lnTo>
                    <a:pt x="0" y="9"/>
                  </a:lnTo>
                  <a:lnTo>
                    <a:pt x="2" y="9"/>
                  </a:lnTo>
                  <a:lnTo>
                    <a:pt x="4" y="10"/>
                  </a:lnTo>
                  <a:lnTo>
                    <a:pt x="6" y="11"/>
                  </a:lnTo>
                  <a:lnTo>
                    <a:pt x="9" y="13"/>
                  </a:lnTo>
                  <a:lnTo>
                    <a:pt x="12" y="17"/>
                  </a:lnTo>
                  <a:lnTo>
                    <a:pt x="14" y="21"/>
                  </a:lnTo>
                  <a:lnTo>
                    <a:pt x="16" y="26"/>
                  </a:lnTo>
                  <a:lnTo>
                    <a:pt x="18" y="31"/>
                  </a:lnTo>
                  <a:lnTo>
                    <a:pt x="18" y="32"/>
                  </a:lnTo>
                  <a:lnTo>
                    <a:pt x="26" y="3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36" name="Freeform 96"/>
            <p:cNvSpPr>
              <a:spLocks noChangeAspect="1"/>
            </p:cNvSpPr>
            <p:nvPr/>
          </p:nvSpPr>
          <p:spPr bwMode="auto">
            <a:xfrm>
              <a:off x="1068" y="584"/>
              <a:ext cx="35" cy="33"/>
            </a:xfrm>
            <a:custGeom>
              <a:avLst/>
              <a:gdLst/>
              <a:ahLst/>
              <a:cxnLst>
                <a:cxn ang="0">
                  <a:pos x="35" y="22"/>
                </a:cxn>
                <a:cxn ang="0">
                  <a:pos x="35" y="22"/>
                </a:cxn>
                <a:cxn ang="0">
                  <a:pos x="33" y="22"/>
                </a:cxn>
                <a:cxn ang="0">
                  <a:pos x="30" y="22"/>
                </a:cxn>
                <a:cxn ang="0">
                  <a:pos x="26" y="20"/>
                </a:cxn>
                <a:cxn ang="0">
                  <a:pos x="20" y="17"/>
                </a:cxn>
                <a:cxn ang="0">
                  <a:pos x="16" y="14"/>
                </a:cxn>
                <a:cxn ang="0">
                  <a:pos x="12" y="10"/>
                </a:cxn>
                <a:cxn ang="0">
                  <a:pos x="10" y="6"/>
                </a:cxn>
                <a:cxn ang="0">
                  <a:pos x="8" y="0"/>
                </a:cxn>
                <a:cxn ang="0">
                  <a:pos x="0" y="1"/>
                </a:cxn>
                <a:cxn ang="0">
                  <a:pos x="2" y="8"/>
                </a:cxn>
                <a:cxn ang="0">
                  <a:pos x="6" y="15"/>
                </a:cxn>
                <a:cxn ang="0">
                  <a:pos x="11" y="20"/>
                </a:cxn>
                <a:cxn ang="0">
                  <a:pos x="16" y="24"/>
                </a:cxn>
                <a:cxn ang="0">
                  <a:pos x="22" y="28"/>
                </a:cxn>
                <a:cxn ang="0">
                  <a:pos x="27" y="30"/>
                </a:cxn>
                <a:cxn ang="0">
                  <a:pos x="32" y="30"/>
                </a:cxn>
                <a:cxn ang="0">
                  <a:pos x="35" y="32"/>
                </a:cxn>
                <a:cxn ang="0">
                  <a:pos x="35" y="22"/>
                </a:cxn>
              </a:cxnLst>
              <a:rect l="0" t="0" r="r" b="b"/>
              <a:pathLst>
                <a:path w="36" h="33">
                  <a:moveTo>
                    <a:pt x="35" y="22"/>
                  </a:moveTo>
                  <a:lnTo>
                    <a:pt x="35" y="22"/>
                  </a:lnTo>
                  <a:lnTo>
                    <a:pt x="33" y="22"/>
                  </a:lnTo>
                  <a:lnTo>
                    <a:pt x="30" y="22"/>
                  </a:lnTo>
                  <a:lnTo>
                    <a:pt x="26" y="20"/>
                  </a:lnTo>
                  <a:lnTo>
                    <a:pt x="20" y="17"/>
                  </a:lnTo>
                  <a:lnTo>
                    <a:pt x="16" y="14"/>
                  </a:lnTo>
                  <a:lnTo>
                    <a:pt x="12" y="10"/>
                  </a:lnTo>
                  <a:lnTo>
                    <a:pt x="10" y="6"/>
                  </a:lnTo>
                  <a:lnTo>
                    <a:pt x="8" y="0"/>
                  </a:lnTo>
                  <a:lnTo>
                    <a:pt x="0" y="1"/>
                  </a:lnTo>
                  <a:lnTo>
                    <a:pt x="2" y="8"/>
                  </a:lnTo>
                  <a:lnTo>
                    <a:pt x="6" y="15"/>
                  </a:lnTo>
                  <a:lnTo>
                    <a:pt x="11" y="20"/>
                  </a:lnTo>
                  <a:lnTo>
                    <a:pt x="16" y="24"/>
                  </a:lnTo>
                  <a:lnTo>
                    <a:pt x="22" y="28"/>
                  </a:lnTo>
                  <a:lnTo>
                    <a:pt x="27" y="30"/>
                  </a:lnTo>
                  <a:lnTo>
                    <a:pt x="32" y="30"/>
                  </a:lnTo>
                  <a:lnTo>
                    <a:pt x="35" y="32"/>
                  </a:lnTo>
                  <a:lnTo>
                    <a:pt x="35" y="2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37" name="Freeform 97"/>
            <p:cNvSpPr>
              <a:spLocks noChangeAspect="1"/>
            </p:cNvSpPr>
            <p:nvPr/>
          </p:nvSpPr>
          <p:spPr bwMode="auto">
            <a:xfrm>
              <a:off x="1102" y="608"/>
              <a:ext cx="29" cy="35"/>
            </a:xfrm>
            <a:custGeom>
              <a:avLst/>
              <a:gdLst/>
              <a:ahLst/>
              <a:cxnLst>
                <a:cxn ang="0">
                  <a:pos x="28" y="34"/>
                </a:cxn>
                <a:cxn ang="0">
                  <a:pos x="28" y="34"/>
                </a:cxn>
                <a:cxn ang="0">
                  <a:pos x="27" y="27"/>
                </a:cxn>
                <a:cxn ang="0">
                  <a:pos x="25" y="22"/>
                </a:cxn>
                <a:cxn ang="0">
                  <a:pos x="21" y="16"/>
                </a:cxn>
                <a:cxn ang="0">
                  <a:pos x="16" y="11"/>
                </a:cxn>
                <a:cxn ang="0">
                  <a:pos x="12" y="7"/>
                </a:cxn>
                <a:cxn ang="0">
                  <a:pos x="9" y="4"/>
                </a:cxn>
                <a:cxn ang="0">
                  <a:pos x="4" y="1"/>
                </a:cxn>
                <a:cxn ang="0">
                  <a:pos x="0" y="0"/>
                </a:cxn>
                <a:cxn ang="0">
                  <a:pos x="0" y="9"/>
                </a:cxn>
                <a:cxn ang="0">
                  <a:pos x="1" y="9"/>
                </a:cxn>
                <a:cxn ang="0">
                  <a:pos x="3" y="10"/>
                </a:cxn>
                <a:cxn ang="0">
                  <a:pos x="7" y="14"/>
                </a:cxn>
                <a:cxn ang="0">
                  <a:pos x="11" y="16"/>
                </a:cxn>
                <a:cxn ang="0">
                  <a:pos x="14" y="21"/>
                </a:cxn>
                <a:cxn ang="0">
                  <a:pos x="17" y="26"/>
                </a:cxn>
                <a:cxn ang="0">
                  <a:pos x="19" y="30"/>
                </a:cxn>
                <a:cxn ang="0">
                  <a:pos x="20" y="34"/>
                </a:cxn>
                <a:cxn ang="0">
                  <a:pos x="28" y="34"/>
                </a:cxn>
              </a:cxnLst>
              <a:rect l="0" t="0" r="r" b="b"/>
              <a:pathLst>
                <a:path w="29" h="35">
                  <a:moveTo>
                    <a:pt x="28" y="34"/>
                  </a:moveTo>
                  <a:lnTo>
                    <a:pt x="28" y="34"/>
                  </a:lnTo>
                  <a:lnTo>
                    <a:pt x="27" y="27"/>
                  </a:lnTo>
                  <a:lnTo>
                    <a:pt x="25" y="22"/>
                  </a:lnTo>
                  <a:lnTo>
                    <a:pt x="21" y="16"/>
                  </a:lnTo>
                  <a:lnTo>
                    <a:pt x="16" y="11"/>
                  </a:lnTo>
                  <a:lnTo>
                    <a:pt x="12" y="7"/>
                  </a:lnTo>
                  <a:lnTo>
                    <a:pt x="9" y="4"/>
                  </a:lnTo>
                  <a:lnTo>
                    <a:pt x="4" y="1"/>
                  </a:lnTo>
                  <a:lnTo>
                    <a:pt x="0" y="0"/>
                  </a:lnTo>
                  <a:lnTo>
                    <a:pt x="0" y="9"/>
                  </a:lnTo>
                  <a:lnTo>
                    <a:pt x="1" y="9"/>
                  </a:lnTo>
                  <a:lnTo>
                    <a:pt x="3" y="10"/>
                  </a:lnTo>
                  <a:lnTo>
                    <a:pt x="7" y="14"/>
                  </a:lnTo>
                  <a:lnTo>
                    <a:pt x="11" y="16"/>
                  </a:lnTo>
                  <a:lnTo>
                    <a:pt x="14" y="21"/>
                  </a:lnTo>
                  <a:lnTo>
                    <a:pt x="17" y="26"/>
                  </a:lnTo>
                  <a:lnTo>
                    <a:pt x="19" y="30"/>
                  </a:lnTo>
                  <a:lnTo>
                    <a:pt x="20" y="34"/>
                  </a:lnTo>
                  <a:lnTo>
                    <a:pt x="28" y="3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38" name="Freeform 98"/>
            <p:cNvSpPr>
              <a:spLocks noChangeAspect="1"/>
            </p:cNvSpPr>
            <p:nvPr/>
          </p:nvSpPr>
          <p:spPr bwMode="auto">
            <a:xfrm>
              <a:off x="1122" y="641"/>
              <a:ext cx="30" cy="26"/>
            </a:xfrm>
            <a:custGeom>
              <a:avLst/>
              <a:gdLst/>
              <a:ahLst/>
              <a:cxnLst>
                <a:cxn ang="0">
                  <a:pos x="27" y="16"/>
                </a:cxn>
                <a:cxn ang="0">
                  <a:pos x="26" y="16"/>
                </a:cxn>
                <a:cxn ang="0">
                  <a:pos x="24" y="16"/>
                </a:cxn>
                <a:cxn ang="0">
                  <a:pos x="21" y="16"/>
                </a:cxn>
                <a:cxn ang="0">
                  <a:pos x="19" y="14"/>
                </a:cxn>
                <a:cxn ang="0">
                  <a:pos x="16" y="12"/>
                </a:cxn>
                <a:cxn ang="0">
                  <a:pos x="13" y="10"/>
                </a:cxn>
                <a:cxn ang="0">
                  <a:pos x="11" y="7"/>
                </a:cxn>
                <a:cxn ang="0">
                  <a:pos x="9" y="4"/>
                </a:cxn>
                <a:cxn ang="0">
                  <a:pos x="8" y="0"/>
                </a:cxn>
                <a:cxn ang="0">
                  <a:pos x="0" y="0"/>
                </a:cxn>
                <a:cxn ang="0">
                  <a:pos x="1" y="6"/>
                </a:cxn>
                <a:cxn ang="0">
                  <a:pos x="3" y="11"/>
                </a:cxn>
                <a:cxn ang="0">
                  <a:pos x="7" y="16"/>
                </a:cxn>
                <a:cxn ang="0">
                  <a:pos x="11" y="19"/>
                </a:cxn>
                <a:cxn ang="0">
                  <a:pos x="15" y="22"/>
                </a:cxn>
                <a:cxn ang="0">
                  <a:pos x="20" y="24"/>
                </a:cxn>
                <a:cxn ang="0">
                  <a:pos x="24" y="25"/>
                </a:cxn>
                <a:cxn ang="0">
                  <a:pos x="29" y="24"/>
                </a:cxn>
                <a:cxn ang="0">
                  <a:pos x="28" y="24"/>
                </a:cxn>
                <a:cxn ang="0">
                  <a:pos x="27" y="16"/>
                </a:cxn>
              </a:cxnLst>
              <a:rect l="0" t="0" r="r" b="b"/>
              <a:pathLst>
                <a:path w="30" h="26">
                  <a:moveTo>
                    <a:pt x="27" y="16"/>
                  </a:moveTo>
                  <a:lnTo>
                    <a:pt x="26" y="16"/>
                  </a:lnTo>
                  <a:lnTo>
                    <a:pt x="24" y="16"/>
                  </a:lnTo>
                  <a:lnTo>
                    <a:pt x="21" y="16"/>
                  </a:lnTo>
                  <a:lnTo>
                    <a:pt x="19" y="14"/>
                  </a:lnTo>
                  <a:lnTo>
                    <a:pt x="16" y="12"/>
                  </a:lnTo>
                  <a:lnTo>
                    <a:pt x="13" y="10"/>
                  </a:lnTo>
                  <a:lnTo>
                    <a:pt x="11" y="7"/>
                  </a:lnTo>
                  <a:lnTo>
                    <a:pt x="9" y="4"/>
                  </a:lnTo>
                  <a:lnTo>
                    <a:pt x="8" y="0"/>
                  </a:lnTo>
                  <a:lnTo>
                    <a:pt x="0" y="0"/>
                  </a:lnTo>
                  <a:lnTo>
                    <a:pt x="1" y="6"/>
                  </a:lnTo>
                  <a:lnTo>
                    <a:pt x="3" y="11"/>
                  </a:lnTo>
                  <a:lnTo>
                    <a:pt x="7" y="16"/>
                  </a:lnTo>
                  <a:lnTo>
                    <a:pt x="11" y="19"/>
                  </a:lnTo>
                  <a:lnTo>
                    <a:pt x="15" y="22"/>
                  </a:lnTo>
                  <a:lnTo>
                    <a:pt x="20" y="24"/>
                  </a:lnTo>
                  <a:lnTo>
                    <a:pt x="24" y="25"/>
                  </a:lnTo>
                  <a:lnTo>
                    <a:pt x="29" y="24"/>
                  </a:lnTo>
                  <a:lnTo>
                    <a:pt x="28" y="24"/>
                  </a:lnTo>
                  <a:lnTo>
                    <a:pt x="27" y="1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39" name="Freeform 99"/>
            <p:cNvSpPr>
              <a:spLocks noChangeAspect="1"/>
            </p:cNvSpPr>
            <p:nvPr/>
          </p:nvSpPr>
          <p:spPr bwMode="auto">
            <a:xfrm>
              <a:off x="1149" y="657"/>
              <a:ext cx="25" cy="23"/>
            </a:xfrm>
            <a:custGeom>
              <a:avLst/>
              <a:gdLst/>
              <a:ahLst/>
              <a:cxnLst>
                <a:cxn ang="0">
                  <a:pos x="24" y="22"/>
                </a:cxn>
                <a:cxn ang="0">
                  <a:pos x="24" y="22"/>
                </a:cxn>
                <a:cxn ang="0">
                  <a:pos x="24" y="16"/>
                </a:cxn>
                <a:cxn ang="0">
                  <a:pos x="23" y="12"/>
                </a:cxn>
                <a:cxn ang="0">
                  <a:pos x="20" y="8"/>
                </a:cxn>
                <a:cxn ang="0">
                  <a:pos x="16" y="5"/>
                </a:cxn>
                <a:cxn ang="0">
                  <a:pos x="12" y="2"/>
                </a:cxn>
                <a:cxn ang="0">
                  <a:pos x="7" y="0"/>
                </a:cxn>
                <a:cxn ang="0">
                  <a:pos x="3" y="0"/>
                </a:cxn>
                <a:cxn ang="0">
                  <a:pos x="0" y="0"/>
                </a:cxn>
                <a:cxn ang="0">
                  <a:pos x="1" y="8"/>
                </a:cxn>
                <a:cxn ang="0">
                  <a:pos x="3" y="8"/>
                </a:cxn>
                <a:cxn ang="0">
                  <a:pos x="6" y="8"/>
                </a:cxn>
                <a:cxn ang="0">
                  <a:pos x="8" y="10"/>
                </a:cxn>
                <a:cxn ang="0">
                  <a:pos x="11" y="12"/>
                </a:cxn>
                <a:cxn ang="0">
                  <a:pos x="14" y="14"/>
                </a:cxn>
                <a:cxn ang="0">
                  <a:pos x="15" y="16"/>
                </a:cxn>
                <a:cxn ang="0">
                  <a:pos x="16" y="18"/>
                </a:cxn>
                <a:cxn ang="0">
                  <a:pos x="16" y="19"/>
                </a:cxn>
                <a:cxn ang="0">
                  <a:pos x="24" y="22"/>
                </a:cxn>
              </a:cxnLst>
              <a:rect l="0" t="0" r="r" b="b"/>
              <a:pathLst>
                <a:path w="25" h="23">
                  <a:moveTo>
                    <a:pt x="24" y="22"/>
                  </a:moveTo>
                  <a:lnTo>
                    <a:pt x="24" y="22"/>
                  </a:lnTo>
                  <a:lnTo>
                    <a:pt x="24" y="16"/>
                  </a:lnTo>
                  <a:lnTo>
                    <a:pt x="23" y="12"/>
                  </a:lnTo>
                  <a:lnTo>
                    <a:pt x="20" y="8"/>
                  </a:lnTo>
                  <a:lnTo>
                    <a:pt x="16" y="5"/>
                  </a:lnTo>
                  <a:lnTo>
                    <a:pt x="12" y="2"/>
                  </a:lnTo>
                  <a:lnTo>
                    <a:pt x="7" y="0"/>
                  </a:lnTo>
                  <a:lnTo>
                    <a:pt x="3" y="0"/>
                  </a:lnTo>
                  <a:lnTo>
                    <a:pt x="0" y="0"/>
                  </a:lnTo>
                  <a:lnTo>
                    <a:pt x="1" y="8"/>
                  </a:lnTo>
                  <a:lnTo>
                    <a:pt x="3" y="8"/>
                  </a:lnTo>
                  <a:lnTo>
                    <a:pt x="6" y="8"/>
                  </a:lnTo>
                  <a:lnTo>
                    <a:pt x="8" y="10"/>
                  </a:lnTo>
                  <a:lnTo>
                    <a:pt x="11" y="12"/>
                  </a:lnTo>
                  <a:lnTo>
                    <a:pt x="14" y="14"/>
                  </a:lnTo>
                  <a:lnTo>
                    <a:pt x="15" y="16"/>
                  </a:lnTo>
                  <a:lnTo>
                    <a:pt x="16" y="18"/>
                  </a:lnTo>
                  <a:lnTo>
                    <a:pt x="16" y="19"/>
                  </a:lnTo>
                  <a:lnTo>
                    <a:pt x="24" y="2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40" name="Freeform 100"/>
            <p:cNvSpPr>
              <a:spLocks noChangeAspect="1"/>
            </p:cNvSpPr>
            <p:nvPr/>
          </p:nvSpPr>
          <p:spPr bwMode="auto">
            <a:xfrm>
              <a:off x="1157" y="676"/>
              <a:ext cx="17" cy="35"/>
            </a:xfrm>
            <a:custGeom>
              <a:avLst/>
              <a:gdLst/>
              <a:ahLst/>
              <a:cxnLst>
                <a:cxn ang="0">
                  <a:pos x="8" y="35"/>
                </a:cxn>
                <a:cxn ang="0">
                  <a:pos x="9" y="35"/>
                </a:cxn>
                <a:cxn ang="0">
                  <a:pos x="9" y="26"/>
                </a:cxn>
                <a:cxn ang="0">
                  <a:pos x="11" y="17"/>
                </a:cxn>
                <a:cxn ang="0">
                  <a:pos x="14" y="10"/>
                </a:cxn>
                <a:cxn ang="0">
                  <a:pos x="16" y="3"/>
                </a:cxn>
                <a:cxn ang="0">
                  <a:pos x="8" y="0"/>
                </a:cxn>
                <a:cxn ang="0">
                  <a:pos x="6" y="7"/>
                </a:cxn>
                <a:cxn ang="0">
                  <a:pos x="3" y="16"/>
                </a:cxn>
                <a:cxn ang="0">
                  <a:pos x="1" y="26"/>
                </a:cxn>
                <a:cxn ang="0">
                  <a:pos x="0" y="35"/>
                </a:cxn>
                <a:cxn ang="0">
                  <a:pos x="0" y="35"/>
                </a:cxn>
                <a:cxn ang="0">
                  <a:pos x="8" y="35"/>
                </a:cxn>
              </a:cxnLst>
              <a:rect l="0" t="0" r="r" b="b"/>
              <a:pathLst>
                <a:path w="17" h="36">
                  <a:moveTo>
                    <a:pt x="8" y="35"/>
                  </a:moveTo>
                  <a:lnTo>
                    <a:pt x="9" y="35"/>
                  </a:lnTo>
                  <a:lnTo>
                    <a:pt x="9" y="26"/>
                  </a:lnTo>
                  <a:lnTo>
                    <a:pt x="11" y="17"/>
                  </a:lnTo>
                  <a:lnTo>
                    <a:pt x="14" y="10"/>
                  </a:lnTo>
                  <a:lnTo>
                    <a:pt x="16" y="3"/>
                  </a:lnTo>
                  <a:lnTo>
                    <a:pt x="8" y="0"/>
                  </a:lnTo>
                  <a:lnTo>
                    <a:pt x="6" y="7"/>
                  </a:lnTo>
                  <a:lnTo>
                    <a:pt x="3" y="16"/>
                  </a:lnTo>
                  <a:lnTo>
                    <a:pt x="1" y="26"/>
                  </a:lnTo>
                  <a:lnTo>
                    <a:pt x="0" y="35"/>
                  </a:lnTo>
                  <a:lnTo>
                    <a:pt x="0" y="35"/>
                  </a:lnTo>
                  <a:lnTo>
                    <a:pt x="8" y="3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41" name="Freeform 101"/>
            <p:cNvSpPr>
              <a:spLocks noChangeAspect="1"/>
            </p:cNvSpPr>
            <p:nvPr/>
          </p:nvSpPr>
          <p:spPr bwMode="auto">
            <a:xfrm>
              <a:off x="1158" y="711"/>
              <a:ext cx="11" cy="26"/>
            </a:xfrm>
            <a:custGeom>
              <a:avLst/>
              <a:gdLst/>
              <a:ahLst/>
              <a:cxnLst>
                <a:cxn ang="0">
                  <a:pos x="9" y="26"/>
                </a:cxn>
                <a:cxn ang="0">
                  <a:pos x="9" y="26"/>
                </a:cxn>
                <a:cxn ang="0">
                  <a:pos x="11" y="18"/>
                </a:cxn>
                <a:cxn ang="0">
                  <a:pos x="10" y="13"/>
                </a:cxn>
                <a:cxn ang="0">
                  <a:pos x="9" y="7"/>
                </a:cxn>
                <a:cxn ang="0">
                  <a:pos x="8" y="0"/>
                </a:cxn>
                <a:cxn ang="0">
                  <a:pos x="0" y="0"/>
                </a:cxn>
                <a:cxn ang="0">
                  <a:pos x="1" y="9"/>
                </a:cxn>
                <a:cxn ang="0">
                  <a:pos x="2" y="14"/>
                </a:cxn>
                <a:cxn ang="0">
                  <a:pos x="3" y="18"/>
                </a:cxn>
                <a:cxn ang="0">
                  <a:pos x="1" y="22"/>
                </a:cxn>
                <a:cxn ang="0">
                  <a:pos x="9" y="26"/>
                </a:cxn>
              </a:cxnLst>
              <a:rect l="0" t="0" r="r" b="b"/>
              <a:pathLst>
                <a:path w="12" h="27">
                  <a:moveTo>
                    <a:pt x="9" y="26"/>
                  </a:moveTo>
                  <a:lnTo>
                    <a:pt x="9" y="26"/>
                  </a:lnTo>
                  <a:lnTo>
                    <a:pt x="11" y="18"/>
                  </a:lnTo>
                  <a:lnTo>
                    <a:pt x="10" y="13"/>
                  </a:lnTo>
                  <a:lnTo>
                    <a:pt x="9" y="7"/>
                  </a:lnTo>
                  <a:lnTo>
                    <a:pt x="8" y="0"/>
                  </a:lnTo>
                  <a:lnTo>
                    <a:pt x="0" y="0"/>
                  </a:lnTo>
                  <a:lnTo>
                    <a:pt x="1" y="9"/>
                  </a:lnTo>
                  <a:lnTo>
                    <a:pt x="2" y="14"/>
                  </a:lnTo>
                  <a:lnTo>
                    <a:pt x="3" y="18"/>
                  </a:lnTo>
                  <a:lnTo>
                    <a:pt x="1" y="22"/>
                  </a:lnTo>
                  <a:lnTo>
                    <a:pt x="9" y="2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42" name="Freeform 102"/>
            <p:cNvSpPr>
              <a:spLocks noChangeAspect="1"/>
            </p:cNvSpPr>
            <p:nvPr/>
          </p:nvSpPr>
          <p:spPr bwMode="auto">
            <a:xfrm>
              <a:off x="1155" y="732"/>
              <a:ext cx="13" cy="59"/>
            </a:xfrm>
            <a:custGeom>
              <a:avLst/>
              <a:gdLst/>
              <a:ahLst/>
              <a:cxnLst>
                <a:cxn ang="0">
                  <a:pos x="10" y="56"/>
                </a:cxn>
                <a:cxn ang="0">
                  <a:pos x="10" y="55"/>
                </a:cxn>
                <a:cxn ang="0">
                  <a:pos x="8" y="45"/>
                </a:cxn>
                <a:cxn ang="0">
                  <a:pos x="8" y="29"/>
                </a:cxn>
                <a:cxn ang="0">
                  <a:pos x="9" y="14"/>
                </a:cxn>
                <a:cxn ang="0">
                  <a:pos x="12" y="4"/>
                </a:cxn>
                <a:cxn ang="0">
                  <a:pos x="4" y="0"/>
                </a:cxn>
                <a:cxn ang="0">
                  <a:pos x="1" y="13"/>
                </a:cxn>
                <a:cxn ang="0">
                  <a:pos x="0" y="29"/>
                </a:cxn>
                <a:cxn ang="0">
                  <a:pos x="0" y="45"/>
                </a:cxn>
                <a:cxn ang="0">
                  <a:pos x="2" y="58"/>
                </a:cxn>
                <a:cxn ang="0">
                  <a:pos x="2" y="57"/>
                </a:cxn>
                <a:cxn ang="0">
                  <a:pos x="10" y="56"/>
                </a:cxn>
              </a:cxnLst>
              <a:rect l="0" t="0" r="r" b="b"/>
              <a:pathLst>
                <a:path w="13" h="59">
                  <a:moveTo>
                    <a:pt x="10" y="56"/>
                  </a:moveTo>
                  <a:lnTo>
                    <a:pt x="10" y="55"/>
                  </a:lnTo>
                  <a:lnTo>
                    <a:pt x="8" y="45"/>
                  </a:lnTo>
                  <a:lnTo>
                    <a:pt x="8" y="29"/>
                  </a:lnTo>
                  <a:lnTo>
                    <a:pt x="9" y="14"/>
                  </a:lnTo>
                  <a:lnTo>
                    <a:pt x="12" y="4"/>
                  </a:lnTo>
                  <a:lnTo>
                    <a:pt x="4" y="0"/>
                  </a:lnTo>
                  <a:lnTo>
                    <a:pt x="1" y="13"/>
                  </a:lnTo>
                  <a:lnTo>
                    <a:pt x="0" y="29"/>
                  </a:lnTo>
                  <a:lnTo>
                    <a:pt x="0" y="45"/>
                  </a:lnTo>
                  <a:lnTo>
                    <a:pt x="2" y="58"/>
                  </a:lnTo>
                  <a:lnTo>
                    <a:pt x="2" y="57"/>
                  </a:lnTo>
                  <a:lnTo>
                    <a:pt x="10" y="5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43" name="Freeform 103"/>
            <p:cNvSpPr>
              <a:spLocks noChangeAspect="1"/>
            </p:cNvSpPr>
            <p:nvPr/>
          </p:nvSpPr>
          <p:spPr bwMode="auto">
            <a:xfrm>
              <a:off x="1145" y="789"/>
              <a:ext cx="24" cy="49"/>
            </a:xfrm>
            <a:custGeom>
              <a:avLst/>
              <a:gdLst/>
              <a:ahLst/>
              <a:cxnLst>
                <a:cxn ang="0">
                  <a:pos x="0" y="45"/>
                </a:cxn>
                <a:cxn ang="0">
                  <a:pos x="0" y="45"/>
                </a:cxn>
                <a:cxn ang="0">
                  <a:pos x="8" y="48"/>
                </a:cxn>
                <a:cxn ang="0">
                  <a:pos x="16" y="45"/>
                </a:cxn>
                <a:cxn ang="0">
                  <a:pos x="20" y="37"/>
                </a:cxn>
                <a:cxn ang="0">
                  <a:pos x="22" y="29"/>
                </a:cxn>
                <a:cxn ang="0">
                  <a:pos x="23" y="21"/>
                </a:cxn>
                <a:cxn ang="0">
                  <a:pos x="22" y="13"/>
                </a:cxn>
                <a:cxn ang="0">
                  <a:pos x="21" y="5"/>
                </a:cxn>
                <a:cxn ang="0">
                  <a:pos x="20" y="0"/>
                </a:cxn>
                <a:cxn ang="0">
                  <a:pos x="12" y="1"/>
                </a:cxn>
                <a:cxn ang="0">
                  <a:pos x="13" y="6"/>
                </a:cxn>
                <a:cxn ang="0">
                  <a:pos x="14" y="13"/>
                </a:cxn>
                <a:cxn ang="0">
                  <a:pos x="14" y="21"/>
                </a:cxn>
                <a:cxn ang="0">
                  <a:pos x="14" y="29"/>
                </a:cxn>
                <a:cxn ang="0">
                  <a:pos x="12" y="35"/>
                </a:cxn>
                <a:cxn ang="0">
                  <a:pos x="10" y="38"/>
                </a:cxn>
                <a:cxn ang="0">
                  <a:pos x="8" y="39"/>
                </a:cxn>
                <a:cxn ang="0">
                  <a:pos x="4" y="37"/>
                </a:cxn>
                <a:cxn ang="0">
                  <a:pos x="0" y="45"/>
                </a:cxn>
              </a:cxnLst>
              <a:rect l="0" t="0" r="r" b="b"/>
              <a:pathLst>
                <a:path w="24" h="49">
                  <a:moveTo>
                    <a:pt x="0" y="45"/>
                  </a:moveTo>
                  <a:lnTo>
                    <a:pt x="0" y="45"/>
                  </a:lnTo>
                  <a:lnTo>
                    <a:pt x="8" y="48"/>
                  </a:lnTo>
                  <a:lnTo>
                    <a:pt x="16" y="45"/>
                  </a:lnTo>
                  <a:lnTo>
                    <a:pt x="20" y="37"/>
                  </a:lnTo>
                  <a:lnTo>
                    <a:pt x="22" y="29"/>
                  </a:lnTo>
                  <a:lnTo>
                    <a:pt x="23" y="21"/>
                  </a:lnTo>
                  <a:lnTo>
                    <a:pt x="22" y="13"/>
                  </a:lnTo>
                  <a:lnTo>
                    <a:pt x="21" y="5"/>
                  </a:lnTo>
                  <a:lnTo>
                    <a:pt x="20" y="0"/>
                  </a:lnTo>
                  <a:lnTo>
                    <a:pt x="12" y="1"/>
                  </a:lnTo>
                  <a:lnTo>
                    <a:pt x="13" y="6"/>
                  </a:lnTo>
                  <a:lnTo>
                    <a:pt x="14" y="13"/>
                  </a:lnTo>
                  <a:lnTo>
                    <a:pt x="14" y="21"/>
                  </a:lnTo>
                  <a:lnTo>
                    <a:pt x="14" y="29"/>
                  </a:lnTo>
                  <a:lnTo>
                    <a:pt x="12" y="35"/>
                  </a:lnTo>
                  <a:lnTo>
                    <a:pt x="10" y="38"/>
                  </a:lnTo>
                  <a:lnTo>
                    <a:pt x="8" y="39"/>
                  </a:lnTo>
                  <a:lnTo>
                    <a:pt x="4" y="37"/>
                  </a:lnTo>
                  <a:lnTo>
                    <a:pt x="0" y="4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44" name="Freeform 104"/>
            <p:cNvSpPr>
              <a:spLocks noChangeAspect="1"/>
            </p:cNvSpPr>
            <p:nvPr/>
          </p:nvSpPr>
          <p:spPr bwMode="auto">
            <a:xfrm>
              <a:off x="1120" y="784"/>
              <a:ext cx="30" cy="52"/>
            </a:xfrm>
            <a:custGeom>
              <a:avLst/>
              <a:gdLst/>
              <a:ahLst/>
              <a:cxnLst>
                <a:cxn ang="0">
                  <a:pos x="1" y="0"/>
                </a:cxn>
                <a:cxn ang="0">
                  <a:pos x="1" y="0"/>
                </a:cxn>
                <a:cxn ang="0">
                  <a:pos x="0" y="7"/>
                </a:cxn>
                <a:cxn ang="0">
                  <a:pos x="1" y="14"/>
                </a:cxn>
                <a:cxn ang="0">
                  <a:pos x="3" y="20"/>
                </a:cxn>
                <a:cxn ang="0">
                  <a:pos x="4" y="27"/>
                </a:cxn>
                <a:cxn ang="0">
                  <a:pos x="7" y="33"/>
                </a:cxn>
                <a:cxn ang="0">
                  <a:pos x="12" y="38"/>
                </a:cxn>
                <a:cxn ang="0">
                  <a:pos x="17" y="43"/>
                </a:cxn>
                <a:cxn ang="0">
                  <a:pos x="25" y="49"/>
                </a:cxn>
                <a:cxn ang="0">
                  <a:pos x="29" y="41"/>
                </a:cxn>
                <a:cxn ang="0">
                  <a:pos x="23" y="37"/>
                </a:cxn>
                <a:cxn ang="0">
                  <a:pos x="17" y="33"/>
                </a:cxn>
                <a:cxn ang="0">
                  <a:pos x="14" y="29"/>
                </a:cxn>
                <a:cxn ang="0">
                  <a:pos x="12" y="24"/>
                </a:cxn>
                <a:cxn ang="0">
                  <a:pos x="11" y="19"/>
                </a:cxn>
                <a:cxn ang="0">
                  <a:pos x="9" y="13"/>
                </a:cxn>
                <a:cxn ang="0">
                  <a:pos x="9" y="7"/>
                </a:cxn>
                <a:cxn ang="0">
                  <a:pos x="9" y="0"/>
                </a:cxn>
                <a:cxn ang="0">
                  <a:pos x="1" y="0"/>
                </a:cxn>
              </a:cxnLst>
              <a:rect l="0" t="0" r="r" b="b"/>
              <a:pathLst>
                <a:path w="30" h="50">
                  <a:moveTo>
                    <a:pt x="1" y="0"/>
                  </a:moveTo>
                  <a:lnTo>
                    <a:pt x="1" y="0"/>
                  </a:lnTo>
                  <a:lnTo>
                    <a:pt x="0" y="7"/>
                  </a:lnTo>
                  <a:lnTo>
                    <a:pt x="1" y="14"/>
                  </a:lnTo>
                  <a:lnTo>
                    <a:pt x="3" y="20"/>
                  </a:lnTo>
                  <a:lnTo>
                    <a:pt x="4" y="27"/>
                  </a:lnTo>
                  <a:lnTo>
                    <a:pt x="7" y="33"/>
                  </a:lnTo>
                  <a:lnTo>
                    <a:pt x="12" y="38"/>
                  </a:lnTo>
                  <a:lnTo>
                    <a:pt x="17" y="43"/>
                  </a:lnTo>
                  <a:lnTo>
                    <a:pt x="25" y="49"/>
                  </a:lnTo>
                  <a:lnTo>
                    <a:pt x="29" y="41"/>
                  </a:lnTo>
                  <a:lnTo>
                    <a:pt x="23" y="37"/>
                  </a:lnTo>
                  <a:lnTo>
                    <a:pt x="17" y="33"/>
                  </a:lnTo>
                  <a:lnTo>
                    <a:pt x="14" y="29"/>
                  </a:lnTo>
                  <a:lnTo>
                    <a:pt x="12" y="24"/>
                  </a:lnTo>
                  <a:lnTo>
                    <a:pt x="11" y="19"/>
                  </a:lnTo>
                  <a:lnTo>
                    <a:pt x="9" y="13"/>
                  </a:lnTo>
                  <a:lnTo>
                    <a:pt x="9" y="7"/>
                  </a:lnTo>
                  <a:lnTo>
                    <a:pt x="9" y="0"/>
                  </a:lnTo>
                  <a:lnTo>
                    <a:pt x="1"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45" name="Freeform 105"/>
            <p:cNvSpPr>
              <a:spLocks noChangeAspect="1"/>
            </p:cNvSpPr>
            <p:nvPr/>
          </p:nvSpPr>
          <p:spPr bwMode="auto">
            <a:xfrm>
              <a:off x="1114" y="753"/>
              <a:ext cx="16" cy="33"/>
            </a:xfrm>
            <a:custGeom>
              <a:avLst/>
              <a:gdLst/>
              <a:ahLst/>
              <a:cxnLst>
                <a:cxn ang="0">
                  <a:pos x="0" y="1"/>
                </a:cxn>
                <a:cxn ang="0">
                  <a:pos x="0" y="1"/>
                </a:cxn>
                <a:cxn ang="0">
                  <a:pos x="2" y="7"/>
                </a:cxn>
                <a:cxn ang="0">
                  <a:pos x="4" y="13"/>
                </a:cxn>
                <a:cxn ang="0">
                  <a:pos x="6" y="20"/>
                </a:cxn>
                <a:cxn ang="0">
                  <a:pos x="8" y="31"/>
                </a:cxn>
                <a:cxn ang="0">
                  <a:pos x="16" y="31"/>
                </a:cxn>
                <a:cxn ang="0">
                  <a:pos x="14" y="18"/>
                </a:cxn>
                <a:cxn ang="0">
                  <a:pos x="12" y="10"/>
                </a:cxn>
                <a:cxn ang="0">
                  <a:pos x="10" y="4"/>
                </a:cxn>
                <a:cxn ang="0">
                  <a:pos x="8" y="0"/>
                </a:cxn>
                <a:cxn ang="0">
                  <a:pos x="0" y="1"/>
                </a:cxn>
              </a:cxnLst>
              <a:rect l="0" t="0" r="r" b="b"/>
              <a:pathLst>
                <a:path w="17" h="32">
                  <a:moveTo>
                    <a:pt x="0" y="1"/>
                  </a:moveTo>
                  <a:lnTo>
                    <a:pt x="0" y="1"/>
                  </a:lnTo>
                  <a:lnTo>
                    <a:pt x="2" y="7"/>
                  </a:lnTo>
                  <a:lnTo>
                    <a:pt x="4" y="13"/>
                  </a:lnTo>
                  <a:lnTo>
                    <a:pt x="6" y="20"/>
                  </a:lnTo>
                  <a:lnTo>
                    <a:pt x="8" y="31"/>
                  </a:lnTo>
                  <a:lnTo>
                    <a:pt x="16" y="31"/>
                  </a:lnTo>
                  <a:lnTo>
                    <a:pt x="14" y="18"/>
                  </a:lnTo>
                  <a:lnTo>
                    <a:pt x="12" y="10"/>
                  </a:lnTo>
                  <a:lnTo>
                    <a:pt x="10" y="4"/>
                  </a:lnTo>
                  <a:lnTo>
                    <a:pt x="8" y="0"/>
                  </a:lnTo>
                  <a:lnTo>
                    <a:pt x="0"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46" name="Freeform 106"/>
            <p:cNvSpPr>
              <a:spLocks noChangeAspect="1"/>
            </p:cNvSpPr>
            <p:nvPr/>
          </p:nvSpPr>
          <p:spPr bwMode="auto">
            <a:xfrm>
              <a:off x="1114" y="732"/>
              <a:ext cx="14" cy="23"/>
            </a:xfrm>
            <a:custGeom>
              <a:avLst/>
              <a:gdLst/>
              <a:ahLst/>
              <a:cxnLst>
                <a:cxn ang="0">
                  <a:pos x="6" y="0"/>
                </a:cxn>
                <a:cxn ang="0">
                  <a:pos x="6" y="0"/>
                </a:cxn>
                <a:cxn ang="0">
                  <a:pos x="3" y="4"/>
                </a:cxn>
                <a:cxn ang="0">
                  <a:pos x="1" y="10"/>
                </a:cxn>
                <a:cxn ang="0">
                  <a:pos x="0" y="16"/>
                </a:cxn>
                <a:cxn ang="0">
                  <a:pos x="0" y="23"/>
                </a:cxn>
                <a:cxn ang="0">
                  <a:pos x="8" y="22"/>
                </a:cxn>
                <a:cxn ang="0">
                  <a:pos x="8" y="16"/>
                </a:cxn>
                <a:cxn ang="0">
                  <a:pos x="9" y="12"/>
                </a:cxn>
                <a:cxn ang="0">
                  <a:pos x="11" y="8"/>
                </a:cxn>
                <a:cxn ang="0">
                  <a:pos x="14" y="3"/>
                </a:cxn>
                <a:cxn ang="0">
                  <a:pos x="14" y="4"/>
                </a:cxn>
                <a:cxn ang="0">
                  <a:pos x="6" y="0"/>
                </a:cxn>
              </a:cxnLst>
              <a:rect l="0" t="0" r="r" b="b"/>
              <a:pathLst>
                <a:path w="15" h="24">
                  <a:moveTo>
                    <a:pt x="6" y="0"/>
                  </a:moveTo>
                  <a:lnTo>
                    <a:pt x="6" y="0"/>
                  </a:lnTo>
                  <a:lnTo>
                    <a:pt x="3" y="4"/>
                  </a:lnTo>
                  <a:lnTo>
                    <a:pt x="1" y="10"/>
                  </a:lnTo>
                  <a:lnTo>
                    <a:pt x="0" y="16"/>
                  </a:lnTo>
                  <a:lnTo>
                    <a:pt x="0" y="23"/>
                  </a:lnTo>
                  <a:lnTo>
                    <a:pt x="8" y="22"/>
                  </a:lnTo>
                  <a:lnTo>
                    <a:pt x="8" y="16"/>
                  </a:lnTo>
                  <a:lnTo>
                    <a:pt x="9" y="12"/>
                  </a:lnTo>
                  <a:lnTo>
                    <a:pt x="11" y="8"/>
                  </a:lnTo>
                  <a:lnTo>
                    <a:pt x="14" y="3"/>
                  </a:lnTo>
                  <a:lnTo>
                    <a:pt x="14" y="4"/>
                  </a:lnTo>
                  <a:lnTo>
                    <a:pt x="6"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47" name="Freeform 107"/>
            <p:cNvSpPr>
              <a:spLocks noChangeAspect="1"/>
            </p:cNvSpPr>
            <p:nvPr/>
          </p:nvSpPr>
          <p:spPr bwMode="auto">
            <a:xfrm>
              <a:off x="1118" y="716"/>
              <a:ext cx="13" cy="21"/>
            </a:xfrm>
            <a:custGeom>
              <a:avLst/>
              <a:gdLst/>
              <a:ahLst/>
              <a:cxnLst>
                <a:cxn ang="0">
                  <a:pos x="1" y="5"/>
                </a:cxn>
                <a:cxn ang="0">
                  <a:pos x="1" y="5"/>
                </a:cxn>
                <a:cxn ang="0">
                  <a:pos x="2" y="7"/>
                </a:cxn>
                <a:cxn ang="0">
                  <a:pos x="3" y="9"/>
                </a:cxn>
                <a:cxn ang="0">
                  <a:pos x="2" y="11"/>
                </a:cxn>
                <a:cxn ang="0">
                  <a:pos x="0" y="15"/>
                </a:cxn>
                <a:cxn ang="0">
                  <a:pos x="8" y="19"/>
                </a:cxn>
                <a:cxn ang="0">
                  <a:pos x="10" y="14"/>
                </a:cxn>
                <a:cxn ang="0">
                  <a:pos x="11" y="9"/>
                </a:cxn>
                <a:cxn ang="0">
                  <a:pos x="10" y="5"/>
                </a:cxn>
                <a:cxn ang="0">
                  <a:pos x="8" y="0"/>
                </a:cxn>
                <a:cxn ang="0">
                  <a:pos x="1" y="5"/>
                </a:cxn>
              </a:cxnLst>
              <a:rect l="0" t="0" r="r" b="b"/>
              <a:pathLst>
                <a:path w="12" h="20">
                  <a:moveTo>
                    <a:pt x="1" y="5"/>
                  </a:moveTo>
                  <a:lnTo>
                    <a:pt x="1" y="5"/>
                  </a:lnTo>
                  <a:lnTo>
                    <a:pt x="2" y="7"/>
                  </a:lnTo>
                  <a:lnTo>
                    <a:pt x="3" y="9"/>
                  </a:lnTo>
                  <a:lnTo>
                    <a:pt x="2" y="11"/>
                  </a:lnTo>
                  <a:lnTo>
                    <a:pt x="0" y="15"/>
                  </a:lnTo>
                  <a:lnTo>
                    <a:pt x="8" y="19"/>
                  </a:lnTo>
                  <a:lnTo>
                    <a:pt x="10" y="14"/>
                  </a:lnTo>
                  <a:lnTo>
                    <a:pt x="11" y="9"/>
                  </a:lnTo>
                  <a:lnTo>
                    <a:pt x="10" y="5"/>
                  </a:lnTo>
                  <a:lnTo>
                    <a:pt x="8" y="0"/>
                  </a:lnTo>
                  <a:lnTo>
                    <a:pt x="1"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48" name="Freeform 108"/>
            <p:cNvSpPr>
              <a:spLocks noChangeAspect="1"/>
            </p:cNvSpPr>
            <p:nvPr/>
          </p:nvSpPr>
          <p:spPr bwMode="auto">
            <a:xfrm>
              <a:off x="1114" y="709"/>
              <a:ext cx="14" cy="14"/>
            </a:xfrm>
            <a:custGeom>
              <a:avLst/>
              <a:gdLst/>
              <a:ahLst/>
              <a:cxnLst>
                <a:cxn ang="0">
                  <a:pos x="2" y="0"/>
                </a:cxn>
                <a:cxn ang="0">
                  <a:pos x="2" y="0"/>
                </a:cxn>
                <a:cxn ang="0">
                  <a:pos x="0" y="6"/>
                </a:cxn>
                <a:cxn ang="0">
                  <a:pos x="2" y="11"/>
                </a:cxn>
                <a:cxn ang="0">
                  <a:pos x="4" y="13"/>
                </a:cxn>
                <a:cxn ang="0">
                  <a:pos x="6" y="14"/>
                </a:cxn>
                <a:cxn ang="0">
                  <a:pos x="13" y="9"/>
                </a:cxn>
                <a:cxn ang="0">
                  <a:pos x="9" y="6"/>
                </a:cxn>
                <a:cxn ang="0">
                  <a:pos x="7" y="5"/>
                </a:cxn>
                <a:cxn ang="0">
                  <a:pos x="8" y="7"/>
                </a:cxn>
                <a:cxn ang="0">
                  <a:pos x="10" y="4"/>
                </a:cxn>
                <a:cxn ang="0">
                  <a:pos x="2" y="0"/>
                </a:cxn>
              </a:cxnLst>
              <a:rect l="0" t="0" r="r" b="b"/>
              <a:pathLst>
                <a:path w="14" h="15">
                  <a:moveTo>
                    <a:pt x="2" y="0"/>
                  </a:moveTo>
                  <a:lnTo>
                    <a:pt x="2" y="0"/>
                  </a:lnTo>
                  <a:lnTo>
                    <a:pt x="0" y="6"/>
                  </a:lnTo>
                  <a:lnTo>
                    <a:pt x="2" y="11"/>
                  </a:lnTo>
                  <a:lnTo>
                    <a:pt x="4" y="13"/>
                  </a:lnTo>
                  <a:lnTo>
                    <a:pt x="6" y="14"/>
                  </a:lnTo>
                  <a:lnTo>
                    <a:pt x="13" y="9"/>
                  </a:lnTo>
                  <a:lnTo>
                    <a:pt x="9" y="6"/>
                  </a:lnTo>
                  <a:lnTo>
                    <a:pt x="7" y="5"/>
                  </a:lnTo>
                  <a:lnTo>
                    <a:pt x="8" y="7"/>
                  </a:lnTo>
                  <a:lnTo>
                    <a:pt x="10" y="4"/>
                  </a:lnTo>
                  <a:lnTo>
                    <a:pt x="2"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49" name="Freeform 109"/>
            <p:cNvSpPr>
              <a:spLocks noChangeAspect="1"/>
            </p:cNvSpPr>
            <p:nvPr/>
          </p:nvSpPr>
          <p:spPr bwMode="auto">
            <a:xfrm>
              <a:off x="1106" y="690"/>
              <a:ext cx="21" cy="23"/>
            </a:xfrm>
            <a:custGeom>
              <a:avLst/>
              <a:gdLst/>
              <a:ahLst/>
              <a:cxnLst>
                <a:cxn ang="0">
                  <a:pos x="0" y="3"/>
                </a:cxn>
                <a:cxn ang="0">
                  <a:pos x="0" y="3"/>
                </a:cxn>
                <a:cxn ang="0">
                  <a:pos x="4" y="10"/>
                </a:cxn>
                <a:cxn ang="0">
                  <a:pos x="9" y="14"/>
                </a:cxn>
                <a:cxn ang="0">
                  <a:pos x="11" y="16"/>
                </a:cxn>
                <a:cxn ang="0">
                  <a:pos x="10" y="19"/>
                </a:cxn>
                <a:cxn ang="0">
                  <a:pos x="18" y="23"/>
                </a:cxn>
                <a:cxn ang="0">
                  <a:pos x="19" y="15"/>
                </a:cxn>
                <a:cxn ang="0">
                  <a:pos x="16" y="8"/>
                </a:cxn>
                <a:cxn ang="0">
                  <a:pos x="11" y="4"/>
                </a:cxn>
                <a:cxn ang="0">
                  <a:pos x="8" y="0"/>
                </a:cxn>
                <a:cxn ang="0">
                  <a:pos x="0" y="3"/>
                </a:cxn>
              </a:cxnLst>
              <a:rect l="0" t="0" r="r" b="b"/>
              <a:pathLst>
                <a:path w="20" h="24">
                  <a:moveTo>
                    <a:pt x="0" y="3"/>
                  </a:moveTo>
                  <a:lnTo>
                    <a:pt x="0" y="3"/>
                  </a:lnTo>
                  <a:lnTo>
                    <a:pt x="4" y="10"/>
                  </a:lnTo>
                  <a:lnTo>
                    <a:pt x="9" y="14"/>
                  </a:lnTo>
                  <a:lnTo>
                    <a:pt x="11" y="16"/>
                  </a:lnTo>
                  <a:lnTo>
                    <a:pt x="10" y="19"/>
                  </a:lnTo>
                  <a:lnTo>
                    <a:pt x="18" y="23"/>
                  </a:lnTo>
                  <a:lnTo>
                    <a:pt x="19" y="15"/>
                  </a:lnTo>
                  <a:lnTo>
                    <a:pt x="16" y="8"/>
                  </a:lnTo>
                  <a:lnTo>
                    <a:pt x="11" y="4"/>
                  </a:lnTo>
                  <a:lnTo>
                    <a:pt x="8" y="0"/>
                  </a:lnTo>
                  <a:lnTo>
                    <a:pt x="0"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50" name="Freeform 110"/>
            <p:cNvSpPr>
              <a:spLocks noChangeAspect="1"/>
            </p:cNvSpPr>
            <p:nvPr/>
          </p:nvSpPr>
          <p:spPr bwMode="auto">
            <a:xfrm>
              <a:off x="1096" y="671"/>
              <a:ext cx="19" cy="23"/>
            </a:xfrm>
            <a:custGeom>
              <a:avLst/>
              <a:gdLst/>
              <a:ahLst/>
              <a:cxnLst>
                <a:cxn ang="0">
                  <a:pos x="0" y="8"/>
                </a:cxn>
                <a:cxn ang="0">
                  <a:pos x="0" y="8"/>
                </a:cxn>
                <a:cxn ang="0">
                  <a:pos x="5" y="11"/>
                </a:cxn>
                <a:cxn ang="0">
                  <a:pos x="6" y="13"/>
                </a:cxn>
                <a:cxn ang="0">
                  <a:pos x="8" y="17"/>
                </a:cxn>
                <a:cxn ang="0">
                  <a:pos x="10" y="22"/>
                </a:cxn>
                <a:cxn ang="0">
                  <a:pos x="18" y="19"/>
                </a:cxn>
                <a:cxn ang="0">
                  <a:pos x="16" y="14"/>
                </a:cxn>
                <a:cxn ang="0">
                  <a:pos x="14" y="9"/>
                </a:cxn>
                <a:cxn ang="0">
                  <a:pos x="10" y="4"/>
                </a:cxn>
                <a:cxn ang="0">
                  <a:pos x="3" y="0"/>
                </a:cxn>
                <a:cxn ang="0">
                  <a:pos x="0" y="8"/>
                </a:cxn>
              </a:cxnLst>
              <a:rect l="0" t="0" r="r" b="b"/>
              <a:pathLst>
                <a:path w="19" h="23">
                  <a:moveTo>
                    <a:pt x="0" y="8"/>
                  </a:moveTo>
                  <a:lnTo>
                    <a:pt x="0" y="8"/>
                  </a:lnTo>
                  <a:lnTo>
                    <a:pt x="5" y="11"/>
                  </a:lnTo>
                  <a:lnTo>
                    <a:pt x="6" y="13"/>
                  </a:lnTo>
                  <a:lnTo>
                    <a:pt x="8" y="17"/>
                  </a:lnTo>
                  <a:lnTo>
                    <a:pt x="10" y="22"/>
                  </a:lnTo>
                  <a:lnTo>
                    <a:pt x="18" y="19"/>
                  </a:lnTo>
                  <a:lnTo>
                    <a:pt x="16" y="14"/>
                  </a:lnTo>
                  <a:lnTo>
                    <a:pt x="14" y="9"/>
                  </a:lnTo>
                  <a:lnTo>
                    <a:pt x="10" y="4"/>
                  </a:lnTo>
                  <a:lnTo>
                    <a:pt x="3"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51" name="Freeform 111"/>
            <p:cNvSpPr>
              <a:spLocks noChangeAspect="1"/>
            </p:cNvSpPr>
            <p:nvPr/>
          </p:nvSpPr>
          <p:spPr bwMode="auto">
            <a:xfrm>
              <a:off x="1080" y="662"/>
              <a:ext cx="19" cy="19"/>
            </a:xfrm>
            <a:custGeom>
              <a:avLst/>
              <a:gdLst/>
              <a:ahLst/>
              <a:cxnLst>
                <a:cxn ang="0">
                  <a:pos x="0" y="2"/>
                </a:cxn>
                <a:cxn ang="0">
                  <a:pos x="0" y="2"/>
                </a:cxn>
                <a:cxn ang="0">
                  <a:pos x="2" y="8"/>
                </a:cxn>
                <a:cxn ang="0">
                  <a:pos x="5" y="11"/>
                </a:cxn>
                <a:cxn ang="0">
                  <a:pos x="9" y="14"/>
                </a:cxn>
                <a:cxn ang="0">
                  <a:pos x="16" y="18"/>
                </a:cxn>
                <a:cxn ang="0">
                  <a:pos x="19" y="10"/>
                </a:cxn>
                <a:cxn ang="0">
                  <a:pos x="13" y="8"/>
                </a:cxn>
                <a:cxn ang="0">
                  <a:pos x="11" y="6"/>
                </a:cxn>
                <a:cxn ang="0">
                  <a:pos x="10" y="4"/>
                </a:cxn>
                <a:cxn ang="0">
                  <a:pos x="8" y="0"/>
                </a:cxn>
                <a:cxn ang="0">
                  <a:pos x="0" y="2"/>
                </a:cxn>
              </a:cxnLst>
              <a:rect l="0" t="0" r="r" b="b"/>
              <a:pathLst>
                <a:path w="20" h="19">
                  <a:moveTo>
                    <a:pt x="0" y="2"/>
                  </a:moveTo>
                  <a:lnTo>
                    <a:pt x="0" y="2"/>
                  </a:lnTo>
                  <a:lnTo>
                    <a:pt x="2" y="8"/>
                  </a:lnTo>
                  <a:lnTo>
                    <a:pt x="5" y="11"/>
                  </a:lnTo>
                  <a:lnTo>
                    <a:pt x="9" y="14"/>
                  </a:lnTo>
                  <a:lnTo>
                    <a:pt x="16" y="18"/>
                  </a:lnTo>
                  <a:lnTo>
                    <a:pt x="19" y="10"/>
                  </a:lnTo>
                  <a:lnTo>
                    <a:pt x="13" y="8"/>
                  </a:lnTo>
                  <a:lnTo>
                    <a:pt x="11" y="6"/>
                  </a:lnTo>
                  <a:lnTo>
                    <a:pt x="10" y="4"/>
                  </a:lnTo>
                  <a:lnTo>
                    <a:pt x="8" y="0"/>
                  </a:lnTo>
                  <a:lnTo>
                    <a:pt x="0"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52" name="Freeform 112"/>
            <p:cNvSpPr>
              <a:spLocks noChangeAspect="1"/>
            </p:cNvSpPr>
            <p:nvPr/>
          </p:nvSpPr>
          <p:spPr bwMode="auto">
            <a:xfrm>
              <a:off x="1074" y="643"/>
              <a:ext cx="16" cy="21"/>
            </a:xfrm>
            <a:custGeom>
              <a:avLst/>
              <a:gdLst/>
              <a:ahLst/>
              <a:cxnLst>
                <a:cxn ang="0">
                  <a:pos x="0" y="8"/>
                </a:cxn>
                <a:cxn ang="0">
                  <a:pos x="0" y="8"/>
                </a:cxn>
                <a:cxn ang="0">
                  <a:pos x="4" y="10"/>
                </a:cxn>
                <a:cxn ang="0">
                  <a:pos x="4" y="11"/>
                </a:cxn>
                <a:cxn ang="0">
                  <a:pos x="5" y="14"/>
                </a:cxn>
                <a:cxn ang="0">
                  <a:pos x="6" y="20"/>
                </a:cxn>
                <a:cxn ang="0">
                  <a:pos x="14" y="17"/>
                </a:cxn>
                <a:cxn ang="0">
                  <a:pos x="13" y="12"/>
                </a:cxn>
                <a:cxn ang="0">
                  <a:pos x="12" y="8"/>
                </a:cxn>
                <a:cxn ang="0">
                  <a:pos x="9" y="4"/>
                </a:cxn>
                <a:cxn ang="0">
                  <a:pos x="2" y="0"/>
                </a:cxn>
                <a:cxn ang="0">
                  <a:pos x="0" y="8"/>
                </a:cxn>
              </a:cxnLst>
              <a:rect l="0" t="0" r="r" b="b"/>
              <a:pathLst>
                <a:path w="15" h="21">
                  <a:moveTo>
                    <a:pt x="0" y="8"/>
                  </a:moveTo>
                  <a:lnTo>
                    <a:pt x="0" y="8"/>
                  </a:lnTo>
                  <a:lnTo>
                    <a:pt x="4" y="10"/>
                  </a:lnTo>
                  <a:lnTo>
                    <a:pt x="4" y="11"/>
                  </a:lnTo>
                  <a:lnTo>
                    <a:pt x="5" y="14"/>
                  </a:lnTo>
                  <a:lnTo>
                    <a:pt x="6" y="20"/>
                  </a:lnTo>
                  <a:lnTo>
                    <a:pt x="14" y="17"/>
                  </a:lnTo>
                  <a:lnTo>
                    <a:pt x="13" y="12"/>
                  </a:lnTo>
                  <a:lnTo>
                    <a:pt x="12" y="8"/>
                  </a:lnTo>
                  <a:lnTo>
                    <a:pt x="9" y="4"/>
                  </a:lnTo>
                  <a:lnTo>
                    <a:pt x="2"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53" name="Freeform 113"/>
            <p:cNvSpPr>
              <a:spLocks noChangeAspect="1"/>
            </p:cNvSpPr>
            <p:nvPr/>
          </p:nvSpPr>
          <p:spPr bwMode="auto">
            <a:xfrm>
              <a:off x="1044" y="622"/>
              <a:ext cx="33" cy="31"/>
            </a:xfrm>
            <a:custGeom>
              <a:avLst/>
              <a:gdLst/>
              <a:ahLst/>
              <a:cxnLst>
                <a:cxn ang="0">
                  <a:pos x="0" y="2"/>
                </a:cxn>
                <a:cxn ang="0">
                  <a:pos x="0" y="1"/>
                </a:cxn>
                <a:cxn ang="0">
                  <a:pos x="2" y="4"/>
                </a:cxn>
                <a:cxn ang="0">
                  <a:pos x="4" y="8"/>
                </a:cxn>
                <a:cxn ang="0">
                  <a:pos x="7" y="11"/>
                </a:cxn>
                <a:cxn ang="0">
                  <a:pos x="11" y="15"/>
                </a:cxn>
                <a:cxn ang="0">
                  <a:pos x="16" y="20"/>
                </a:cxn>
                <a:cxn ang="0">
                  <a:pos x="20" y="24"/>
                </a:cxn>
                <a:cxn ang="0">
                  <a:pos x="25" y="26"/>
                </a:cxn>
                <a:cxn ang="0">
                  <a:pos x="30" y="30"/>
                </a:cxn>
                <a:cxn ang="0">
                  <a:pos x="32" y="22"/>
                </a:cxn>
                <a:cxn ang="0">
                  <a:pos x="29" y="20"/>
                </a:cxn>
                <a:cxn ang="0">
                  <a:pos x="25" y="17"/>
                </a:cxn>
                <a:cxn ang="0">
                  <a:pos x="21" y="13"/>
                </a:cxn>
                <a:cxn ang="0">
                  <a:pos x="16" y="10"/>
                </a:cxn>
                <a:cxn ang="0">
                  <a:pos x="14" y="6"/>
                </a:cxn>
                <a:cxn ang="0">
                  <a:pos x="10" y="2"/>
                </a:cxn>
                <a:cxn ang="0">
                  <a:pos x="8" y="0"/>
                </a:cxn>
                <a:cxn ang="0">
                  <a:pos x="9" y="1"/>
                </a:cxn>
                <a:cxn ang="0">
                  <a:pos x="8" y="0"/>
                </a:cxn>
                <a:cxn ang="0">
                  <a:pos x="0" y="2"/>
                </a:cxn>
              </a:cxnLst>
              <a:rect l="0" t="0" r="r" b="b"/>
              <a:pathLst>
                <a:path w="33" h="31">
                  <a:moveTo>
                    <a:pt x="0" y="2"/>
                  </a:moveTo>
                  <a:lnTo>
                    <a:pt x="0" y="1"/>
                  </a:lnTo>
                  <a:lnTo>
                    <a:pt x="2" y="4"/>
                  </a:lnTo>
                  <a:lnTo>
                    <a:pt x="4" y="8"/>
                  </a:lnTo>
                  <a:lnTo>
                    <a:pt x="7" y="11"/>
                  </a:lnTo>
                  <a:lnTo>
                    <a:pt x="11" y="15"/>
                  </a:lnTo>
                  <a:lnTo>
                    <a:pt x="16" y="20"/>
                  </a:lnTo>
                  <a:lnTo>
                    <a:pt x="20" y="24"/>
                  </a:lnTo>
                  <a:lnTo>
                    <a:pt x="25" y="26"/>
                  </a:lnTo>
                  <a:lnTo>
                    <a:pt x="30" y="30"/>
                  </a:lnTo>
                  <a:lnTo>
                    <a:pt x="32" y="22"/>
                  </a:lnTo>
                  <a:lnTo>
                    <a:pt x="29" y="20"/>
                  </a:lnTo>
                  <a:lnTo>
                    <a:pt x="25" y="17"/>
                  </a:lnTo>
                  <a:lnTo>
                    <a:pt x="21" y="13"/>
                  </a:lnTo>
                  <a:lnTo>
                    <a:pt x="16" y="10"/>
                  </a:lnTo>
                  <a:lnTo>
                    <a:pt x="14" y="6"/>
                  </a:lnTo>
                  <a:lnTo>
                    <a:pt x="10" y="2"/>
                  </a:lnTo>
                  <a:lnTo>
                    <a:pt x="8" y="0"/>
                  </a:lnTo>
                  <a:lnTo>
                    <a:pt x="9" y="1"/>
                  </a:lnTo>
                  <a:lnTo>
                    <a:pt x="8" y="0"/>
                  </a:lnTo>
                  <a:lnTo>
                    <a:pt x="0"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54" name="Freeform 114"/>
            <p:cNvSpPr>
              <a:spLocks noChangeAspect="1"/>
            </p:cNvSpPr>
            <p:nvPr/>
          </p:nvSpPr>
          <p:spPr bwMode="auto">
            <a:xfrm>
              <a:off x="1023" y="596"/>
              <a:ext cx="30" cy="28"/>
            </a:xfrm>
            <a:custGeom>
              <a:avLst/>
              <a:gdLst/>
              <a:ahLst/>
              <a:cxnLst>
                <a:cxn ang="0">
                  <a:pos x="0" y="8"/>
                </a:cxn>
                <a:cxn ang="0">
                  <a:pos x="0" y="8"/>
                </a:cxn>
                <a:cxn ang="0">
                  <a:pos x="2" y="9"/>
                </a:cxn>
                <a:cxn ang="0">
                  <a:pos x="5" y="12"/>
                </a:cxn>
                <a:cxn ang="0">
                  <a:pos x="9" y="15"/>
                </a:cxn>
                <a:cxn ang="0">
                  <a:pos x="12" y="18"/>
                </a:cxn>
                <a:cxn ang="0">
                  <a:pos x="16" y="22"/>
                </a:cxn>
                <a:cxn ang="0">
                  <a:pos x="19" y="24"/>
                </a:cxn>
                <a:cxn ang="0">
                  <a:pos x="21" y="27"/>
                </a:cxn>
                <a:cxn ang="0">
                  <a:pos x="29" y="24"/>
                </a:cxn>
                <a:cxn ang="0">
                  <a:pos x="28" y="22"/>
                </a:cxn>
                <a:cxn ang="0">
                  <a:pos x="24" y="19"/>
                </a:cxn>
                <a:cxn ang="0">
                  <a:pos x="22" y="16"/>
                </a:cxn>
                <a:cxn ang="0">
                  <a:pos x="18" y="12"/>
                </a:cxn>
                <a:cxn ang="0">
                  <a:pos x="14" y="8"/>
                </a:cxn>
                <a:cxn ang="0">
                  <a:pos x="10" y="5"/>
                </a:cxn>
                <a:cxn ang="0">
                  <a:pos x="7" y="2"/>
                </a:cxn>
                <a:cxn ang="0">
                  <a:pos x="4" y="0"/>
                </a:cxn>
                <a:cxn ang="0">
                  <a:pos x="5" y="1"/>
                </a:cxn>
                <a:cxn ang="0">
                  <a:pos x="0" y="8"/>
                </a:cxn>
              </a:cxnLst>
              <a:rect l="0" t="0" r="r" b="b"/>
              <a:pathLst>
                <a:path w="30" h="28">
                  <a:moveTo>
                    <a:pt x="0" y="8"/>
                  </a:moveTo>
                  <a:lnTo>
                    <a:pt x="0" y="8"/>
                  </a:lnTo>
                  <a:lnTo>
                    <a:pt x="2" y="9"/>
                  </a:lnTo>
                  <a:lnTo>
                    <a:pt x="5" y="12"/>
                  </a:lnTo>
                  <a:lnTo>
                    <a:pt x="9" y="15"/>
                  </a:lnTo>
                  <a:lnTo>
                    <a:pt x="12" y="18"/>
                  </a:lnTo>
                  <a:lnTo>
                    <a:pt x="16" y="22"/>
                  </a:lnTo>
                  <a:lnTo>
                    <a:pt x="19" y="24"/>
                  </a:lnTo>
                  <a:lnTo>
                    <a:pt x="21" y="27"/>
                  </a:lnTo>
                  <a:lnTo>
                    <a:pt x="29" y="24"/>
                  </a:lnTo>
                  <a:lnTo>
                    <a:pt x="28" y="22"/>
                  </a:lnTo>
                  <a:lnTo>
                    <a:pt x="24" y="19"/>
                  </a:lnTo>
                  <a:lnTo>
                    <a:pt x="22" y="16"/>
                  </a:lnTo>
                  <a:lnTo>
                    <a:pt x="18" y="12"/>
                  </a:lnTo>
                  <a:lnTo>
                    <a:pt x="14" y="8"/>
                  </a:lnTo>
                  <a:lnTo>
                    <a:pt x="10" y="5"/>
                  </a:lnTo>
                  <a:lnTo>
                    <a:pt x="7" y="2"/>
                  </a:lnTo>
                  <a:lnTo>
                    <a:pt x="4" y="0"/>
                  </a:lnTo>
                  <a:lnTo>
                    <a:pt x="5" y="1"/>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55" name="Freeform 115"/>
            <p:cNvSpPr>
              <a:spLocks noChangeAspect="1"/>
            </p:cNvSpPr>
            <p:nvPr/>
          </p:nvSpPr>
          <p:spPr bwMode="auto">
            <a:xfrm>
              <a:off x="1013" y="589"/>
              <a:ext cx="16" cy="16"/>
            </a:xfrm>
            <a:custGeom>
              <a:avLst/>
              <a:gdLst/>
              <a:ahLst/>
              <a:cxnLst>
                <a:cxn ang="0">
                  <a:pos x="0" y="0"/>
                </a:cxn>
                <a:cxn ang="0">
                  <a:pos x="0" y="0"/>
                </a:cxn>
                <a:cxn ang="0">
                  <a:pos x="1" y="5"/>
                </a:cxn>
                <a:cxn ang="0">
                  <a:pos x="2" y="11"/>
                </a:cxn>
                <a:cxn ang="0">
                  <a:pos x="5" y="14"/>
                </a:cxn>
                <a:cxn ang="0">
                  <a:pos x="9" y="17"/>
                </a:cxn>
                <a:cxn ang="0">
                  <a:pos x="14" y="10"/>
                </a:cxn>
                <a:cxn ang="0">
                  <a:pos x="11" y="7"/>
                </a:cxn>
                <a:cxn ang="0">
                  <a:pos x="10" y="7"/>
                </a:cxn>
                <a:cxn ang="0">
                  <a:pos x="9" y="4"/>
                </a:cxn>
                <a:cxn ang="0">
                  <a:pos x="8" y="0"/>
                </a:cxn>
                <a:cxn ang="0">
                  <a:pos x="0" y="0"/>
                </a:cxn>
              </a:cxnLst>
              <a:rect l="0" t="0" r="r" b="b"/>
              <a:pathLst>
                <a:path w="15" h="18">
                  <a:moveTo>
                    <a:pt x="0" y="0"/>
                  </a:moveTo>
                  <a:lnTo>
                    <a:pt x="0" y="0"/>
                  </a:lnTo>
                  <a:lnTo>
                    <a:pt x="1" y="5"/>
                  </a:lnTo>
                  <a:lnTo>
                    <a:pt x="2" y="11"/>
                  </a:lnTo>
                  <a:lnTo>
                    <a:pt x="5" y="14"/>
                  </a:lnTo>
                  <a:lnTo>
                    <a:pt x="9" y="17"/>
                  </a:lnTo>
                  <a:lnTo>
                    <a:pt x="14" y="10"/>
                  </a:lnTo>
                  <a:lnTo>
                    <a:pt x="11" y="7"/>
                  </a:lnTo>
                  <a:lnTo>
                    <a:pt x="10" y="7"/>
                  </a:lnTo>
                  <a:lnTo>
                    <a:pt x="9" y="4"/>
                  </a:lnTo>
                  <a:lnTo>
                    <a:pt x="8" y="0"/>
                  </a:lnTo>
                  <a:lnTo>
                    <a:pt x="0"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56" name="Freeform 116"/>
            <p:cNvSpPr>
              <a:spLocks noChangeAspect="1"/>
            </p:cNvSpPr>
            <p:nvPr/>
          </p:nvSpPr>
          <p:spPr bwMode="auto">
            <a:xfrm>
              <a:off x="1012" y="570"/>
              <a:ext cx="13" cy="19"/>
            </a:xfrm>
            <a:custGeom>
              <a:avLst/>
              <a:gdLst/>
              <a:ahLst/>
              <a:cxnLst>
                <a:cxn ang="0">
                  <a:pos x="0" y="8"/>
                </a:cxn>
                <a:cxn ang="0">
                  <a:pos x="0" y="8"/>
                </a:cxn>
                <a:cxn ang="0">
                  <a:pos x="2" y="9"/>
                </a:cxn>
                <a:cxn ang="0">
                  <a:pos x="2" y="9"/>
                </a:cxn>
                <a:cxn ang="0">
                  <a:pos x="1" y="13"/>
                </a:cxn>
                <a:cxn ang="0">
                  <a:pos x="2" y="18"/>
                </a:cxn>
                <a:cxn ang="0">
                  <a:pos x="10" y="18"/>
                </a:cxn>
                <a:cxn ang="0">
                  <a:pos x="11" y="13"/>
                </a:cxn>
                <a:cxn ang="0">
                  <a:pos x="10" y="8"/>
                </a:cxn>
                <a:cxn ang="0">
                  <a:pos x="7" y="3"/>
                </a:cxn>
                <a:cxn ang="0">
                  <a:pos x="3" y="0"/>
                </a:cxn>
                <a:cxn ang="0">
                  <a:pos x="0" y="8"/>
                </a:cxn>
              </a:cxnLst>
              <a:rect l="0" t="0" r="r" b="b"/>
              <a:pathLst>
                <a:path w="12" h="19">
                  <a:moveTo>
                    <a:pt x="0" y="8"/>
                  </a:moveTo>
                  <a:lnTo>
                    <a:pt x="0" y="8"/>
                  </a:lnTo>
                  <a:lnTo>
                    <a:pt x="2" y="9"/>
                  </a:lnTo>
                  <a:lnTo>
                    <a:pt x="2" y="9"/>
                  </a:lnTo>
                  <a:lnTo>
                    <a:pt x="1" y="13"/>
                  </a:lnTo>
                  <a:lnTo>
                    <a:pt x="2" y="18"/>
                  </a:lnTo>
                  <a:lnTo>
                    <a:pt x="10" y="18"/>
                  </a:lnTo>
                  <a:lnTo>
                    <a:pt x="11" y="13"/>
                  </a:lnTo>
                  <a:lnTo>
                    <a:pt x="10" y="8"/>
                  </a:lnTo>
                  <a:lnTo>
                    <a:pt x="7" y="3"/>
                  </a:lnTo>
                  <a:lnTo>
                    <a:pt x="3"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57" name="Freeform 117"/>
            <p:cNvSpPr>
              <a:spLocks noChangeAspect="1"/>
            </p:cNvSpPr>
            <p:nvPr/>
          </p:nvSpPr>
          <p:spPr bwMode="auto">
            <a:xfrm>
              <a:off x="986" y="566"/>
              <a:ext cx="30" cy="14"/>
            </a:xfrm>
            <a:custGeom>
              <a:avLst/>
              <a:gdLst/>
              <a:ahLst/>
              <a:cxnLst>
                <a:cxn ang="0">
                  <a:pos x="4" y="9"/>
                </a:cxn>
                <a:cxn ang="0">
                  <a:pos x="5" y="8"/>
                </a:cxn>
                <a:cxn ang="0">
                  <a:pos x="4" y="8"/>
                </a:cxn>
                <a:cxn ang="0">
                  <a:pos x="6" y="9"/>
                </a:cxn>
                <a:cxn ang="0">
                  <a:pos x="9" y="8"/>
                </a:cxn>
                <a:cxn ang="0">
                  <a:pos x="12" y="9"/>
                </a:cxn>
                <a:cxn ang="0">
                  <a:pos x="16" y="10"/>
                </a:cxn>
                <a:cxn ang="0">
                  <a:pos x="19" y="11"/>
                </a:cxn>
                <a:cxn ang="0">
                  <a:pos x="22" y="12"/>
                </a:cxn>
                <a:cxn ang="0">
                  <a:pos x="25" y="13"/>
                </a:cxn>
                <a:cxn ang="0">
                  <a:pos x="28" y="5"/>
                </a:cxn>
                <a:cxn ang="0">
                  <a:pos x="24" y="4"/>
                </a:cxn>
                <a:cxn ang="0">
                  <a:pos x="20" y="3"/>
                </a:cxn>
                <a:cxn ang="0">
                  <a:pos x="17" y="2"/>
                </a:cxn>
                <a:cxn ang="0">
                  <a:pos x="13" y="1"/>
                </a:cxn>
                <a:cxn ang="0">
                  <a:pos x="9" y="0"/>
                </a:cxn>
                <a:cxn ang="0">
                  <a:pos x="6" y="0"/>
                </a:cxn>
                <a:cxn ang="0">
                  <a:pos x="3" y="0"/>
                </a:cxn>
                <a:cxn ang="0">
                  <a:pos x="0" y="2"/>
                </a:cxn>
                <a:cxn ang="0">
                  <a:pos x="0" y="1"/>
                </a:cxn>
                <a:cxn ang="0">
                  <a:pos x="4" y="9"/>
                </a:cxn>
              </a:cxnLst>
              <a:rect l="0" t="0" r="r" b="b"/>
              <a:pathLst>
                <a:path w="29" h="14">
                  <a:moveTo>
                    <a:pt x="4" y="9"/>
                  </a:moveTo>
                  <a:lnTo>
                    <a:pt x="5" y="8"/>
                  </a:lnTo>
                  <a:lnTo>
                    <a:pt x="4" y="8"/>
                  </a:lnTo>
                  <a:lnTo>
                    <a:pt x="6" y="9"/>
                  </a:lnTo>
                  <a:lnTo>
                    <a:pt x="9" y="8"/>
                  </a:lnTo>
                  <a:lnTo>
                    <a:pt x="12" y="9"/>
                  </a:lnTo>
                  <a:lnTo>
                    <a:pt x="16" y="10"/>
                  </a:lnTo>
                  <a:lnTo>
                    <a:pt x="19" y="11"/>
                  </a:lnTo>
                  <a:lnTo>
                    <a:pt x="22" y="12"/>
                  </a:lnTo>
                  <a:lnTo>
                    <a:pt x="25" y="13"/>
                  </a:lnTo>
                  <a:lnTo>
                    <a:pt x="28" y="5"/>
                  </a:lnTo>
                  <a:lnTo>
                    <a:pt x="24" y="4"/>
                  </a:lnTo>
                  <a:lnTo>
                    <a:pt x="20" y="3"/>
                  </a:lnTo>
                  <a:lnTo>
                    <a:pt x="17" y="2"/>
                  </a:lnTo>
                  <a:lnTo>
                    <a:pt x="13" y="1"/>
                  </a:lnTo>
                  <a:lnTo>
                    <a:pt x="9" y="0"/>
                  </a:lnTo>
                  <a:lnTo>
                    <a:pt x="6" y="0"/>
                  </a:lnTo>
                  <a:lnTo>
                    <a:pt x="3" y="0"/>
                  </a:lnTo>
                  <a:lnTo>
                    <a:pt x="0" y="2"/>
                  </a:lnTo>
                  <a:lnTo>
                    <a:pt x="0" y="1"/>
                  </a:lnTo>
                  <a:lnTo>
                    <a:pt x="4"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58" name="Freeform 118"/>
            <p:cNvSpPr>
              <a:spLocks noChangeAspect="1"/>
            </p:cNvSpPr>
            <p:nvPr/>
          </p:nvSpPr>
          <p:spPr bwMode="auto">
            <a:xfrm>
              <a:off x="963" y="561"/>
              <a:ext cx="30" cy="14"/>
            </a:xfrm>
            <a:custGeom>
              <a:avLst/>
              <a:gdLst/>
              <a:ahLst/>
              <a:cxnLst>
                <a:cxn ang="0">
                  <a:pos x="0" y="5"/>
                </a:cxn>
                <a:cxn ang="0">
                  <a:pos x="1" y="5"/>
                </a:cxn>
                <a:cxn ang="0">
                  <a:pos x="4" y="7"/>
                </a:cxn>
                <a:cxn ang="0">
                  <a:pos x="7" y="10"/>
                </a:cxn>
                <a:cxn ang="0">
                  <a:pos x="11" y="11"/>
                </a:cxn>
                <a:cxn ang="0">
                  <a:pos x="15" y="12"/>
                </a:cxn>
                <a:cxn ang="0">
                  <a:pos x="19" y="14"/>
                </a:cxn>
                <a:cxn ang="0">
                  <a:pos x="24" y="14"/>
                </a:cxn>
                <a:cxn ang="0">
                  <a:pos x="26" y="15"/>
                </a:cxn>
                <a:cxn ang="0">
                  <a:pos x="30" y="14"/>
                </a:cxn>
                <a:cxn ang="0">
                  <a:pos x="26" y="6"/>
                </a:cxn>
                <a:cxn ang="0">
                  <a:pos x="26" y="6"/>
                </a:cxn>
                <a:cxn ang="0">
                  <a:pos x="24" y="6"/>
                </a:cxn>
                <a:cxn ang="0">
                  <a:pos x="20" y="6"/>
                </a:cxn>
                <a:cxn ang="0">
                  <a:pos x="18" y="4"/>
                </a:cxn>
                <a:cxn ang="0">
                  <a:pos x="14" y="3"/>
                </a:cxn>
                <a:cxn ang="0">
                  <a:pos x="11" y="2"/>
                </a:cxn>
                <a:cxn ang="0">
                  <a:pos x="8" y="0"/>
                </a:cxn>
                <a:cxn ang="0">
                  <a:pos x="6" y="0"/>
                </a:cxn>
                <a:cxn ang="0">
                  <a:pos x="7" y="0"/>
                </a:cxn>
                <a:cxn ang="0">
                  <a:pos x="0" y="5"/>
                </a:cxn>
              </a:cxnLst>
              <a:rect l="0" t="0" r="r" b="b"/>
              <a:pathLst>
                <a:path w="31" h="16">
                  <a:moveTo>
                    <a:pt x="0" y="5"/>
                  </a:moveTo>
                  <a:lnTo>
                    <a:pt x="1" y="5"/>
                  </a:lnTo>
                  <a:lnTo>
                    <a:pt x="4" y="7"/>
                  </a:lnTo>
                  <a:lnTo>
                    <a:pt x="7" y="10"/>
                  </a:lnTo>
                  <a:lnTo>
                    <a:pt x="11" y="11"/>
                  </a:lnTo>
                  <a:lnTo>
                    <a:pt x="15" y="12"/>
                  </a:lnTo>
                  <a:lnTo>
                    <a:pt x="19" y="14"/>
                  </a:lnTo>
                  <a:lnTo>
                    <a:pt x="24" y="14"/>
                  </a:lnTo>
                  <a:lnTo>
                    <a:pt x="26" y="15"/>
                  </a:lnTo>
                  <a:lnTo>
                    <a:pt x="30" y="14"/>
                  </a:lnTo>
                  <a:lnTo>
                    <a:pt x="26" y="6"/>
                  </a:lnTo>
                  <a:lnTo>
                    <a:pt x="26" y="6"/>
                  </a:lnTo>
                  <a:lnTo>
                    <a:pt x="24" y="6"/>
                  </a:lnTo>
                  <a:lnTo>
                    <a:pt x="20" y="6"/>
                  </a:lnTo>
                  <a:lnTo>
                    <a:pt x="18" y="4"/>
                  </a:lnTo>
                  <a:lnTo>
                    <a:pt x="14" y="3"/>
                  </a:lnTo>
                  <a:lnTo>
                    <a:pt x="11" y="2"/>
                  </a:lnTo>
                  <a:lnTo>
                    <a:pt x="8" y="0"/>
                  </a:lnTo>
                  <a:lnTo>
                    <a:pt x="6" y="0"/>
                  </a:lnTo>
                  <a:lnTo>
                    <a:pt x="7" y="0"/>
                  </a:lnTo>
                  <a:lnTo>
                    <a:pt x="0"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59" name="Freeform 119"/>
            <p:cNvSpPr>
              <a:spLocks noChangeAspect="1"/>
            </p:cNvSpPr>
            <p:nvPr/>
          </p:nvSpPr>
          <p:spPr bwMode="auto">
            <a:xfrm>
              <a:off x="947" y="552"/>
              <a:ext cx="24" cy="14"/>
            </a:xfrm>
            <a:custGeom>
              <a:avLst/>
              <a:gdLst/>
              <a:ahLst/>
              <a:cxnLst>
                <a:cxn ang="0">
                  <a:pos x="0" y="4"/>
                </a:cxn>
                <a:cxn ang="0">
                  <a:pos x="0" y="3"/>
                </a:cxn>
                <a:cxn ang="0">
                  <a:pos x="4" y="8"/>
                </a:cxn>
                <a:cxn ang="0">
                  <a:pos x="9" y="10"/>
                </a:cxn>
                <a:cxn ang="0">
                  <a:pos x="13" y="12"/>
                </a:cxn>
                <a:cxn ang="0">
                  <a:pos x="15" y="13"/>
                </a:cxn>
                <a:cxn ang="0">
                  <a:pos x="22" y="8"/>
                </a:cxn>
                <a:cxn ang="0">
                  <a:pos x="17" y="4"/>
                </a:cxn>
                <a:cxn ang="0">
                  <a:pos x="12" y="2"/>
                </a:cxn>
                <a:cxn ang="0">
                  <a:pos x="9" y="1"/>
                </a:cxn>
                <a:cxn ang="0">
                  <a:pos x="8" y="0"/>
                </a:cxn>
                <a:cxn ang="0">
                  <a:pos x="8" y="0"/>
                </a:cxn>
                <a:cxn ang="0">
                  <a:pos x="0" y="4"/>
                </a:cxn>
              </a:cxnLst>
              <a:rect l="0" t="0" r="r" b="b"/>
              <a:pathLst>
                <a:path w="23" h="14">
                  <a:moveTo>
                    <a:pt x="0" y="4"/>
                  </a:moveTo>
                  <a:lnTo>
                    <a:pt x="0" y="3"/>
                  </a:lnTo>
                  <a:lnTo>
                    <a:pt x="4" y="8"/>
                  </a:lnTo>
                  <a:lnTo>
                    <a:pt x="9" y="10"/>
                  </a:lnTo>
                  <a:lnTo>
                    <a:pt x="13" y="12"/>
                  </a:lnTo>
                  <a:lnTo>
                    <a:pt x="15" y="13"/>
                  </a:lnTo>
                  <a:lnTo>
                    <a:pt x="22" y="8"/>
                  </a:lnTo>
                  <a:lnTo>
                    <a:pt x="17" y="4"/>
                  </a:lnTo>
                  <a:lnTo>
                    <a:pt x="12" y="2"/>
                  </a:lnTo>
                  <a:lnTo>
                    <a:pt x="9" y="1"/>
                  </a:lnTo>
                  <a:lnTo>
                    <a:pt x="8" y="0"/>
                  </a:lnTo>
                  <a:lnTo>
                    <a:pt x="8" y="0"/>
                  </a:lnTo>
                  <a:lnTo>
                    <a:pt x="0" y="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60" name="Freeform 120"/>
            <p:cNvSpPr>
              <a:spLocks noChangeAspect="1"/>
            </p:cNvSpPr>
            <p:nvPr/>
          </p:nvSpPr>
          <p:spPr bwMode="auto">
            <a:xfrm>
              <a:off x="928" y="540"/>
              <a:ext cx="29" cy="16"/>
            </a:xfrm>
            <a:custGeom>
              <a:avLst/>
              <a:gdLst/>
              <a:ahLst/>
              <a:cxnLst>
                <a:cxn ang="0">
                  <a:pos x="6" y="11"/>
                </a:cxn>
                <a:cxn ang="0">
                  <a:pos x="6" y="12"/>
                </a:cxn>
                <a:cxn ang="0">
                  <a:pos x="9" y="9"/>
                </a:cxn>
                <a:cxn ang="0">
                  <a:pos x="10" y="8"/>
                </a:cxn>
                <a:cxn ang="0">
                  <a:pos x="12" y="8"/>
                </a:cxn>
                <a:cxn ang="0">
                  <a:pos x="13" y="9"/>
                </a:cxn>
                <a:cxn ang="0">
                  <a:pos x="15" y="10"/>
                </a:cxn>
                <a:cxn ang="0">
                  <a:pos x="16" y="12"/>
                </a:cxn>
                <a:cxn ang="0">
                  <a:pos x="18" y="14"/>
                </a:cxn>
                <a:cxn ang="0">
                  <a:pos x="19" y="16"/>
                </a:cxn>
                <a:cxn ang="0">
                  <a:pos x="27" y="12"/>
                </a:cxn>
                <a:cxn ang="0">
                  <a:pos x="25" y="9"/>
                </a:cxn>
                <a:cxn ang="0">
                  <a:pos x="23" y="7"/>
                </a:cxn>
                <a:cxn ang="0">
                  <a:pos x="20" y="4"/>
                </a:cxn>
                <a:cxn ang="0">
                  <a:pos x="17" y="1"/>
                </a:cxn>
                <a:cxn ang="0">
                  <a:pos x="12" y="0"/>
                </a:cxn>
                <a:cxn ang="0">
                  <a:pos x="8" y="0"/>
                </a:cxn>
                <a:cxn ang="0">
                  <a:pos x="4" y="2"/>
                </a:cxn>
                <a:cxn ang="0">
                  <a:pos x="0" y="6"/>
                </a:cxn>
                <a:cxn ang="0">
                  <a:pos x="0" y="7"/>
                </a:cxn>
                <a:cxn ang="0">
                  <a:pos x="6" y="11"/>
                </a:cxn>
              </a:cxnLst>
              <a:rect l="0" t="0" r="r" b="b"/>
              <a:pathLst>
                <a:path w="28" h="17">
                  <a:moveTo>
                    <a:pt x="6" y="11"/>
                  </a:moveTo>
                  <a:lnTo>
                    <a:pt x="6" y="12"/>
                  </a:lnTo>
                  <a:lnTo>
                    <a:pt x="9" y="9"/>
                  </a:lnTo>
                  <a:lnTo>
                    <a:pt x="10" y="8"/>
                  </a:lnTo>
                  <a:lnTo>
                    <a:pt x="12" y="8"/>
                  </a:lnTo>
                  <a:lnTo>
                    <a:pt x="13" y="9"/>
                  </a:lnTo>
                  <a:lnTo>
                    <a:pt x="15" y="10"/>
                  </a:lnTo>
                  <a:lnTo>
                    <a:pt x="16" y="12"/>
                  </a:lnTo>
                  <a:lnTo>
                    <a:pt x="18" y="14"/>
                  </a:lnTo>
                  <a:lnTo>
                    <a:pt x="19" y="16"/>
                  </a:lnTo>
                  <a:lnTo>
                    <a:pt x="27" y="12"/>
                  </a:lnTo>
                  <a:lnTo>
                    <a:pt x="25" y="9"/>
                  </a:lnTo>
                  <a:lnTo>
                    <a:pt x="23" y="7"/>
                  </a:lnTo>
                  <a:lnTo>
                    <a:pt x="20" y="4"/>
                  </a:lnTo>
                  <a:lnTo>
                    <a:pt x="17" y="1"/>
                  </a:lnTo>
                  <a:lnTo>
                    <a:pt x="12" y="0"/>
                  </a:lnTo>
                  <a:lnTo>
                    <a:pt x="8" y="0"/>
                  </a:lnTo>
                  <a:lnTo>
                    <a:pt x="4" y="2"/>
                  </a:lnTo>
                  <a:lnTo>
                    <a:pt x="0" y="6"/>
                  </a:lnTo>
                  <a:lnTo>
                    <a:pt x="0" y="7"/>
                  </a:lnTo>
                  <a:lnTo>
                    <a:pt x="6" y="1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61" name="Freeform 121"/>
            <p:cNvSpPr>
              <a:spLocks noChangeAspect="1"/>
            </p:cNvSpPr>
            <p:nvPr/>
          </p:nvSpPr>
          <p:spPr bwMode="auto">
            <a:xfrm>
              <a:off x="917" y="547"/>
              <a:ext cx="19" cy="14"/>
            </a:xfrm>
            <a:custGeom>
              <a:avLst/>
              <a:gdLst/>
              <a:ahLst/>
              <a:cxnLst>
                <a:cxn ang="0">
                  <a:pos x="0" y="9"/>
                </a:cxn>
                <a:cxn ang="0">
                  <a:pos x="0" y="8"/>
                </a:cxn>
                <a:cxn ang="0">
                  <a:pos x="2" y="12"/>
                </a:cxn>
                <a:cxn ang="0">
                  <a:pos x="8" y="14"/>
                </a:cxn>
                <a:cxn ang="0">
                  <a:pos x="12" y="10"/>
                </a:cxn>
                <a:cxn ang="0">
                  <a:pos x="17" y="4"/>
                </a:cxn>
                <a:cxn ang="0">
                  <a:pos x="10" y="0"/>
                </a:cxn>
                <a:cxn ang="0">
                  <a:pos x="6" y="5"/>
                </a:cxn>
                <a:cxn ang="0">
                  <a:pos x="5" y="6"/>
                </a:cxn>
                <a:cxn ang="0">
                  <a:pos x="8" y="6"/>
                </a:cxn>
                <a:cxn ang="0">
                  <a:pos x="8" y="5"/>
                </a:cxn>
                <a:cxn ang="0">
                  <a:pos x="7" y="4"/>
                </a:cxn>
                <a:cxn ang="0">
                  <a:pos x="0" y="9"/>
                </a:cxn>
              </a:cxnLst>
              <a:rect l="0" t="0" r="r" b="b"/>
              <a:pathLst>
                <a:path w="18" h="15">
                  <a:moveTo>
                    <a:pt x="0" y="9"/>
                  </a:moveTo>
                  <a:lnTo>
                    <a:pt x="0" y="8"/>
                  </a:lnTo>
                  <a:lnTo>
                    <a:pt x="2" y="12"/>
                  </a:lnTo>
                  <a:lnTo>
                    <a:pt x="8" y="14"/>
                  </a:lnTo>
                  <a:lnTo>
                    <a:pt x="12" y="10"/>
                  </a:lnTo>
                  <a:lnTo>
                    <a:pt x="17" y="4"/>
                  </a:lnTo>
                  <a:lnTo>
                    <a:pt x="10" y="0"/>
                  </a:lnTo>
                  <a:lnTo>
                    <a:pt x="6" y="5"/>
                  </a:lnTo>
                  <a:lnTo>
                    <a:pt x="5" y="6"/>
                  </a:lnTo>
                  <a:lnTo>
                    <a:pt x="8" y="6"/>
                  </a:lnTo>
                  <a:lnTo>
                    <a:pt x="8" y="5"/>
                  </a:lnTo>
                  <a:lnTo>
                    <a:pt x="7" y="4"/>
                  </a:lnTo>
                  <a:lnTo>
                    <a:pt x="0"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62" name="Freeform 122"/>
            <p:cNvSpPr>
              <a:spLocks noChangeAspect="1"/>
            </p:cNvSpPr>
            <p:nvPr/>
          </p:nvSpPr>
          <p:spPr bwMode="auto">
            <a:xfrm>
              <a:off x="910" y="547"/>
              <a:ext cx="14" cy="9"/>
            </a:xfrm>
            <a:custGeom>
              <a:avLst/>
              <a:gdLst/>
              <a:ahLst/>
              <a:cxnLst>
                <a:cxn ang="0">
                  <a:pos x="8" y="6"/>
                </a:cxn>
                <a:cxn ang="0">
                  <a:pos x="8" y="6"/>
                </a:cxn>
                <a:cxn ang="0">
                  <a:pos x="7" y="8"/>
                </a:cxn>
                <a:cxn ang="0">
                  <a:pos x="5" y="8"/>
                </a:cxn>
                <a:cxn ang="0">
                  <a:pos x="6" y="8"/>
                </a:cxn>
                <a:cxn ang="0">
                  <a:pos x="8" y="10"/>
                </a:cxn>
                <a:cxn ang="0">
                  <a:pos x="14" y="5"/>
                </a:cxn>
                <a:cxn ang="0">
                  <a:pos x="12" y="3"/>
                </a:cxn>
                <a:cxn ang="0">
                  <a:pos x="9" y="0"/>
                </a:cxn>
                <a:cxn ang="0">
                  <a:pos x="3" y="0"/>
                </a:cxn>
                <a:cxn ang="0">
                  <a:pos x="0" y="5"/>
                </a:cxn>
                <a:cxn ang="0">
                  <a:pos x="8" y="6"/>
                </a:cxn>
              </a:cxnLst>
              <a:rect l="0" t="0" r="r" b="b"/>
              <a:pathLst>
                <a:path w="15" h="11">
                  <a:moveTo>
                    <a:pt x="8" y="6"/>
                  </a:moveTo>
                  <a:lnTo>
                    <a:pt x="8" y="6"/>
                  </a:lnTo>
                  <a:lnTo>
                    <a:pt x="7" y="8"/>
                  </a:lnTo>
                  <a:lnTo>
                    <a:pt x="5" y="8"/>
                  </a:lnTo>
                  <a:lnTo>
                    <a:pt x="6" y="8"/>
                  </a:lnTo>
                  <a:lnTo>
                    <a:pt x="8" y="10"/>
                  </a:lnTo>
                  <a:lnTo>
                    <a:pt x="14" y="5"/>
                  </a:lnTo>
                  <a:lnTo>
                    <a:pt x="12" y="3"/>
                  </a:lnTo>
                  <a:lnTo>
                    <a:pt x="9" y="0"/>
                  </a:lnTo>
                  <a:lnTo>
                    <a:pt x="3" y="0"/>
                  </a:lnTo>
                  <a:lnTo>
                    <a:pt x="0" y="5"/>
                  </a:lnTo>
                  <a:lnTo>
                    <a:pt x="8" y="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63" name="Freeform 123"/>
            <p:cNvSpPr>
              <a:spLocks noChangeAspect="1"/>
            </p:cNvSpPr>
            <p:nvPr/>
          </p:nvSpPr>
          <p:spPr bwMode="auto">
            <a:xfrm>
              <a:off x="909" y="552"/>
              <a:ext cx="11" cy="16"/>
            </a:xfrm>
            <a:custGeom>
              <a:avLst/>
              <a:gdLst/>
              <a:ahLst/>
              <a:cxnLst>
                <a:cxn ang="0">
                  <a:pos x="6" y="17"/>
                </a:cxn>
                <a:cxn ang="0">
                  <a:pos x="7" y="16"/>
                </a:cxn>
                <a:cxn ang="0">
                  <a:pos x="10" y="12"/>
                </a:cxn>
                <a:cxn ang="0">
                  <a:pos x="10" y="8"/>
                </a:cxn>
                <a:cxn ang="0">
                  <a:pos x="10" y="4"/>
                </a:cxn>
                <a:cxn ang="0">
                  <a:pos x="10" y="1"/>
                </a:cxn>
                <a:cxn ang="0">
                  <a:pos x="2" y="0"/>
                </a:cxn>
                <a:cxn ang="0">
                  <a:pos x="0" y="4"/>
                </a:cxn>
                <a:cxn ang="0">
                  <a:pos x="2" y="8"/>
                </a:cxn>
                <a:cxn ang="0">
                  <a:pos x="2" y="10"/>
                </a:cxn>
                <a:cxn ang="0">
                  <a:pos x="2" y="11"/>
                </a:cxn>
                <a:cxn ang="0">
                  <a:pos x="2" y="10"/>
                </a:cxn>
                <a:cxn ang="0">
                  <a:pos x="6" y="17"/>
                </a:cxn>
              </a:cxnLst>
              <a:rect l="0" t="0" r="r" b="b"/>
              <a:pathLst>
                <a:path w="11" h="18">
                  <a:moveTo>
                    <a:pt x="6" y="17"/>
                  </a:moveTo>
                  <a:lnTo>
                    <a:pt x="7" y="16"/>
                  </a:lnTo>
                  <a:lnTo>
                    <a:pt x="10" y="12"/>
                  </a:lnTo>
                  <a:lnTo>
                    <a:pt x="10" y="8"/>
                  </a:lnTo>
                  <a:lnTo>
                    <a:pt x="10" y="4"/>
                  </a:lnTo>
                  <a:lnTo>
                    <a:pt x="10" y="1"/>
                  </a:lnTo>
                  <a:lnTo>
                    <a:pt x="2" y="0"/>
                  </a:lnTo>
                  <a:lnTo>
                    <a:pt x="0" y="4"/>
                  </a:lnTo>
                  <a:lnTo>
                    <a:pt x="2" y="8"/>
                  </a:lnTo>
                  <a:lnTo>
                    <a:pt x="2" y="10"/>
                  </a:lnTo>
                  <a:lnTo>
                    <a:pt x="2" y="11"/>
                  </a:lnTo>
                  <a:lnTo>
                    <a:pt x="2" y="10"/>
                  </a:lnTo>
                  <a:lnTo>
                    <a:pt x="6" y="17"/>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64" name="Freeform 124"/>
            <p:cNvSpPr>
              <a:spLocks noChangeAspect="1"/>
            </p:cNvSpPr>
            <p:nvPr/>
          </p:nvSpPr>
          <p:spPr bwMode="auto">
            <a:xfrm>
              <a:off x="902" y="561"/>
              <a:ext cx="13" cy="12"/>
            </a:xfrm>
            <a:custGeom>
              <a:avLst/>
              <a:gdLst/>
              <a:ahLst/>
              <a:cxnLst>
                <a:cxn ang="0">
                  <a:pos x="0" y="8"/>
                </a:cxn>
                <a:cxn ang="0">
                  <a:pos x="0" y="8"/>
                </a:cxn>
                <a:cxn ang="0">
                  <a:pos x="4" y="8"/>
                </a:cxn>
                <a:cxn ang="0">
                  <a:pos x="6" y="9"/>
                </a:cxn>
                <a:cxn ang="0">
                  <a:pos x="10" y="8"/>
                </a:cxn>
                <a:cxn ang="0">
                  <a:pos x="12" y="6"/>
                </a:cxn>
                <a:cxn ang="0">
                  <a:pos x="8" y="0"/>
                </a:cxn>
                <a:cxn ang="0">
                  <a:pos x="7" y="0"/>
                </a:cxn>
                <a:cxn ang="0">
                  <a:pos x="6" y="0"/>
                </a:cxn>
                <a:cxn ang="0">
                  <a:pos x="4" y="0"/>
                </a:cxn>
                <a:cxn ang="0">
                  <a:pos x="3" y="0"/>
                </a:cxn>
                <a:cxn ang="0">
                  <a:pos x="4" y="0"/>
                </a:cxn>
                <a:cxn ang="0">
                  <a:pos x="0" y="8"/>
                </a:cxn>
              </a:cxnLst>
              <a:rect l="0" t="0" r="r" b="b"/>
              <a:pathLst>
                <a:path w="13" h="10">
                  <a:moveTo>
                    <a:pt x="0" y="8"/>
                  </a:moveTo>
                  <a:lnTo>
                    <a:pt x="0" y="8"/>
                  </a:lnTo>
                  <a:lnTo>
                    <a:pt x="4" y="8"/>
                  </a:lnTo>
                  <a:lnTo>
                    <a:pt x="6" y="9"/>
                  </a:lnTo>
                  <a:lnTo>
                    <a:pt x="10" y="8"/>
                  </a:lnTo>
                  <a:lnTo>
                    <a:pt x="12" y="6"/>
                  </a:lnTo>
                  <a:lnTo>
                    <a:pt x="8" y="0"/>
                  </a:lnTo>
                  <a:lnTo>
                    <a:pt x="7" y="0"/>
                  </a:lnTo>
                  <a:lnTo>
                    <a:pt x="6" y="0"/>
                  </a:lnTo>
                  <a:lnTo>
                    <a:pt x="4" y="0"/>
                  </a:lnTo>
                  <a:lnTo>
                    <a:pt x="3" y="0"/>
                  </a:lnTo>
                  <a:lnTo>
                    <a:pt x="4"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65" name="Freeform 125"/>
            <p:cNvSpPr>
              <a:spLocks noChangeAspect="1"/>
            </p:cNvSpPr>
            <p:nvPr/>
          </p:nvSpPr>
          <p:spPr bwMode="auto">
            <a:xfrm>
              <a:off x="893" y="559"/>
              <a:ext cx="14" cy="12"/>
            </a:xfrm>
            <a:custGeom>
              <a:avLst/>
              <a:gdLst/>
              <a:ahLst/>
              <a:cxnLst>
                <a:cxn ang="0">
                  <a:pos x="8" y="8"/>
                </a:cxn>
                <a:cxn ang="0">
                  <a:pos x="8" y="8"/>
                </a:cxn>
                <a:cxn ang="0">
                  <a:pos x="8" y="8"/>
                </a:cxn>
                <a:cxn ang="0">
                  <a:pos x="6" y="8"/>
                </a:cxn>
                <a:cxn ang="0">
                  <a:pos x="7" y="9"/>
                </a:cxn>
                <a:cxn ang="0">
                  <a:pos x="10" y="11"/>
                </a:cxn>
                <a:cxn ang="0">
                  <a:pos x="14" y="3"/>
                </a:cxn>
                <a:cxn ang="0">
                  <a:pos x="11" y="2"/>
                </a:cxn>
                <a:cxn ang="0">
                  <a:pos x="10" y="0"/>
                </a:cxn>
                <a:cxn ang="0">
                  <a:pos x="4" y="0"/>
                </a:cxn>
                <a:cxn ang="0">
                  <a:pos x="1" y="4"/>
                </a:cxn>
                <a:cxn ang="0">
                  <a:pos x="0" y="4"/>
                </a:cxn>
                <a:cxn ang="0">
                  <a:pos x="8" y="8"/>
                </a:cxn>
              </a:cxnLst>
              <a:rect l="0" t="0" r="r" b="b"/>
              <a:pathLst>
                <a:path w="15" h="12">
                  <a:moveTo>
                    <a:pt x="8" y="8"/>
                  </a:moveTo>
                  <a:lnTo>
                    <a:pt x="8" y="8"/>
                  </a:lnTo>
                  <a:lnTo>
                    <a:pt x="8" y="8"/>
                  </a:lnTo>
                  <a:lnTo>
                    <a:pt x="6" y="8"/>
                  </a:lnTo>
                  <a:lnTo>
                    <a:pt x="7" y="9"/>
                  </a:lnTo>
                  <a:lnTo>
                    <a:pt x="10" y="11"/>
                  </a:lnTo>
                  <a:lnTo>
                    <a:pt x="14" y="3"/>
                  </a:lnTo>
                  <a:lnTo>
                    <a:pt x="11" y="2"/>
                  </a:lnTo>
                  <a:lnTo>
                    <a:pt x="10" y="0"/>
                  </a:lnTo>
                  <a:lnTo>
                    <a:pt x="4" y="0"/>
                  </a:lnTo>
                  <a:lnTo>
                    <a:pt x="1" y="4"/>
                  </a:lnTo>
                  <a:lnTo>
                    <a:pt x="0" y="4"/>
                  </a:lnTo>
                  <a:lnTo>
                    <a:pt x="8"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66" name="Freeform 126"/>
            <p:cNvSpPr>
              <a:spLocks noChangeAspect="1"/>
            </p:cNvSpPr>
            <p:nvPr/>
          </p:nvSpPr>
          <p:spPr bwMode="auto">
            <a:xfrm>
              <a:off x="885" y="563"/>
              <a:ext cx="16" cy="12"/>
            </a:xfrm>
            <a:custGeom>
              <a:avLst/>
              <a:gdLst/>
              <a:ahLst/>
              <a:cxnLst>
                <a:cxn ang="0">
                  <a:pos x="6" y="11"/>
                </a:cxn>
                <a:cxn ang="0">
                  <a:pos x="6" y="11"/>
                </a:cxn>
                <a:cxn ang="0">
                  <a:pos x="9" y="9"/>
                </a:cxn>
                <a:cxn ang="0">
                  <a:pos x="10" y="8"/>
                </a:cxn>
                <a:cxn ang="0">
                  <a:pos x="14" y="7"/>
                </a:cxn>
                <a:cxn ang="0">
                  <a:pos x="16" y="4"/>
                </a:cxn>
                <a:cxn ang="0">
                  <a:pos x="8" y="0"/>
                </a:cxn>
                <a:cxn ang="0">
                  <a:pos x="8" y="0"/>
                </a:cxn>
                <a:cxn ang="0">
                  <a:pos x="8" y="0"/>
                </a:cxn>
                <a:cxn ang="0">
                  <a:pos x="4" y="2"/>
                </a:cxn>
                <a:cxn ang="0">
                  <a:pos x="0" y="7"/>
                </a:cxn>
                <a:cxn ang="0">
                  <a:pos x="6" y="11"/>
                </a:cxn>
              </a:cxnLst>
              <a:rect l="0" t="0" r="r" b="b"/>
              <a:pathLst>
                <a:path w="17" h="12">
                  <a:moveTo>
                    <a:pt x="6" y="11"/>
                  </a:moveTo>
                  <a:lnTo>
                    <a:pt x="6" y="11"/>
                  </a:lnTo>
                  <a:lnTo>
                    <a:pt x="9" y="9"/>
                  </a:lnTo>
                  <a:lnTo>
                    <a:pt x="10" y="8"/>
                  </a:lnTo>
                  <a:lnTo>
                    <a:pt x="14" y="7"/>
                  </a:lnTo>
                  <a:lnTo>
                    <a:pt x="16" y="4"/>
                  </a:lnTo>
                  <a:lnTo>
                    <a:pt x="8" y="0"/>
                  </a:lnTo>
                  <a:lnTo>
                    <a:pt x="8" y="0"/>
                  </a:lnTo>
                  <a:lnTo>
                    <a:pt x="8" y="0"/>
                  </a:lnTo>
                  <a:lnTo>
                    <a:pt x="4" y="2"/>
                  </a:lnTo>
                  <a:lnTo>
                    <a:pt x="0" y="7"/>
                  </a:lnTo>
                  <a:lnTo>
                    <a:pt x="6" y="1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67" name="Freeform 127"/>
            <p:cNvSpPr>
              <a:spLocks noChangeAspect="1"/>
            </p:cNvSpPr>
            <p:nvPr/>
          </p:nvSpPr>
          <p:spPr bwMode="auto">
            <a:xfrm>
              <a:off x="874" y="570"/>
              <a:ext cx="17" cy="12"/>
            </a:xfrm>
            <a:custGeom>
              <a:avLst/>
              <a:gdLst/>
              <a:ahLst/>
              <a:cxnLst>
                <a:cxn ang="0">
                  <a:pos x="0" y="10"/>
                </a:cxn>
                <a:cxn ang="0">
                  <a:pos x="0" y="10"/>
                </a:cxn>
                <a:cxn ang="0">
                  <a:pos x="4" y="11"/>
                </a:cxn>
                <a:cxn ang="0">
                  <a:pos x="8" y="12"/>
                </a:cxn>
                <a:cxn ang="0">
                  <a:pos x="13" y="9"/>
                </a:cxn>
                <a:cxn ang="0">
                  <a:pos x="16" y="4"/>
                </a:cxn>
                <a:cxn ang="0">
                  <a:pos x="10" y="0"/>
                </a:cxn>
                <a:cxn ang="0">
                  <a:pos x="8" y="4"/>
                </a:cxn>
                <a:cxn ang="0">
                  <a:pos x="6" y="3"/>
                </a:cxn>
                <a:cxn ang="0">
                  <a:pos x="2" y="2"/>
                </a:cxn>
                <a:cxn ang="0">
                  <a:pos x="2" y="2"/>
                </a:cxn>
                <a:cxn ang="0">
                  <a:pos x="0" y="10"/>
                </a:cxn>
              </a:cxnLst>
              <a:rect l="0" t="0" r="r" b="b"/>
              <a:pathLst>
                <a:path w="17" h="13">
                  <a:moveTo>
                    <a:pt x="0" y="10"/>
                  </a:moveTo>
                  <a:lnTo>
                    <a:pt x="0" y="10"/>
                  </a:lnTo>
                  <a:lnTo>
                    <a:pt x="4" y="11"/>
                  </a:lnTo>
                  <a:lnTo>
                    <a:pt x="8" y="12"/>
                  </a:lnTo>
                  <a:lnTo>
                    <a:pt x="13" y="9"/>
                  </a:lnTo>
                  <a:lnTo>
                    <a:pt x="16" y="4"/>
                  </a:lnTo>
                  <a:lnTo>
                    <a:pt x="10" y="0"/>
                  </a:lnTo>
                  <a:lnTo>
                    <a:pt x="8" y="4"/>
                  </a:lnTo>
                  <a:lnTo>
                    <a:pt x="6" y="3"/>
                  </a:lnTo>
                  <a:lnTo>
                    <a:pt x="2" y="2"/>
                  </a:lnTo>
                  <a:lnTo>
                    <a:pt x="2" y="2"/>
                  </a:lnTo>
                  <a:lnTo>
                    <a:pt x="0" y="1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68" name="Freeform 128"/>
            <p:cNvSpPr>
              <a:spLocks noChangeAspect="1"/>
            </p:cNvSpPr>
            <p:nvPr/>
          </p:nvSpPr>
          <p:spPr bwMode="auto">
            <a:xfrm>
              <a:off x="858" y="566"/>
              <a:ext cx="19" cy="16"/>
            </a:xfrm>
            <a:custGeom>
              <a:avLst/>
              <a:gdLst/>
              <a:ahLst/>
              <a:cxnLst>
                <a:cxn ang="0">
                  <a:pos x="4" y="7"/>
                </a:cxn>
                <a:cxn ang="0">
                  <a:pos x="5" y="7"/>
                </a:cxn>
                <a:cxn ang="0">
                  <a:pos x="4" y="8"/>
                </a:cxn>
                <a:cxn ang="0">
                  <a:pos x="7" y="9"/>
                </a:cxn>
                <a:cxn ang="0">
                  <a:pos x="10" y="11"/>
                </a:cxn>
                <a:cxn ang="0">
                  <a:pos x="16" y="14"/>
                </a:cxn>
                <a:cxn ang="0">
                  <a:pos x="18" y="6"/>
                </a:cxn>
                <a:cxn ang="0">
                  <a:pos x="14" y="3"/>
                </a:cxn>
                <a:cxn ang="0">
                  <a:pos x="10" y="1"/>
                </a:cxn>
                <a:cxn ang="0">
                  <a:pos x="6" y="0"/>
                </a:cxn>
                <a:cxn ang="0">
                  <a:pos x="0" y="0"/>
                </a:cxn>
                <a:cxn ang="0">
                  <a:pos x="0" y="0"/>
                </a:cxn>
                <a:cxn ang="0">
                  <a:pos x="4" y="7"/>
                </a:cxn>
              </a:cxnLst>
              <a:rect l="0" t="0" r="r" b="b"/>
              <a:pathLst>
                <a:path w="19" h="15">
                  <a:moveTo>
                    <a:pt x="4" y="7"/>
                  </a:moveTo>
                  <a:lnTo>
                    <a:pt x="5" y="7"/>
                  </a:lnTo>
                  <a:lnTo>
                    <a:pt x="4" y="8"/>
                  </a:lnTo>
                  <a:lnTo>
                    <a:pt x="7" y="9"/>
                  </a:lnTo>
                  <a:lnTo>
                    <a:pt x="10" y="11"/>
                  </a:lnTo>
                  <a:lnTo>
                    <a:pt x="16" y="14"/>
                  </a:lnTo>
                  <a:lnTo>
                    <a:pt x="18" y="6"/>
                  </a:lnTo>
                  <a:lnTo>
                    <a:pt x="14" y="3"/>
                  </a:lnTo>
                  <a:lnTo>
                    <a:pt x="10" y="1"/>
                  </a:lnTo>
                  <a:lnTo>
                    <a:pt x="6" y="0"/>
                  </a:lnTo>
                  <a:lnTo>
                    <a:pt x="0" y="0"/>
                  </a:lnTo>
                  <a:lnTo>
                    <a:pt x="0" y="0"/>
                  </a:lnTo>
                  <a:lnTo>
                    <a:pt x="4" y="7"/>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69" name="Freeform 129"/>
            <p:cNvSpPr>
              <a:spLocks noChangeAspect="1"/>
            </p:cNvSpPr>
            <p:nvPr/>
          </p:nvSpPr>
          <p:spPr bwMode="auto">
            <a:xfrm>
              <a:off x="850" y="561"/>
              <a:ext cx="13" cy="14"/>
            </a:xfrm>
            <a:custGeom>
              <a:avLst/>
              <a:gdLst/>
              <a:ahLst/>
              <a:cxnLst>
                <a:cxn ang="0">
                  <a:pos x="2" y="0"/>
                </a:cxn>
                <a:cxn ang="0">
                  <a:pos x="2" y="1"/>
                </a:cxn>
                <a:cxn ang="0">
                  <a:pos x="0" y="7"/>
                </a:cxn>
                <a:cxn ang="0">
                  <a:pos x="3" y="12"/>
                </a:cxn>
                <a:cxn ang="0">
                  <a:pos x="8" y="14"/>
                </a:cxn>
                <a:cxn ang="0">
                  <a:pos x="12" y="13"/>
                </a:cxn>
                <a:cxn ang="0">
                  <a:pos x="8" y="6"/>
                </a:cxn>
                <a:cxn ang="0">
                  <a:pos x="8" y="5"/>
                </a:cxn>
                <a:cxn ang="0">
                  <a:pos x="8" y="7"/>
                </a:cxn>
                <a:cxn ang="0">
                  <a:pos x="8" y="5"/>
                </a:cxn>
                <a:cxn ang="0">
                  <a:pos x="8" y="5"/>
                </a:cxn>
                <a:cxn ang="0">
                  <a:pos x="2" y="0"/>
                </a:cxn>
              </a:cxnLst>
              <a:rect l="0" t="0" r="r" b="b"/>
              <a:pathLst>
                <a:path w="13" h="15">
                  <a:moveTo>
                    <a:pt x="2" y="0"/>
                  </a:moveTo>
                  <a:lnTo>
                    <a:pt x="2" y="1"/>
                  </a:lnTo>
                  <a:lnTo>
                    <a:pt x="0" y="7"/>
                  </a:lnTo>
                  <a:lnTo>
                    <a:pt x="3" y="12"/>
                  </a:lnTo>
                  <a:lnTo>
                    <a:pt x="8" y="14"/>
                  </a:lnTo>
                  <a:lnTo>
                    <a:pt x="12" y="13"/>
                  </a:lnTo>
                  <a:lnTo>
                    <a:pt x="8" y="6"/>
                  </a:lnTo>
                  <a:lnTo>
                    <a:pt x="8" y="5"/>
                  </a:lnTo>
                  <a:lnTo>
                    <a:pt x="8" y="7"/>
                  </a:lnTo>
                  <a:lnTo>
                    <a:pt x="8" y="5"/>
                  </a:lnTo>
                  <a:lnTo>
                    <a:pt x="8" y="5"/>
                  </a:lnTo>
                  <a:lnTo>
                    <a:pt x="2"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70" name="Freeform 130"/>
            <p:cNvSpPr>
              <a:spLocks noChangeAspect="1"/>
            </p:cNvSpPr>
            <p:nvPr/>
          </p:nvSpPr>
          <p:spPr bwMode="auto">
            <a:xfrm>
              <a:off x="851" y="549"/>
              <a:ext cx="16" cy="19"/>
            </a:xfrm>
            <a:custGeom>
              <a:avLst/>
              <a:gdLst/>
              <a:ahLst/>
              <a:cxnLst>
                <a:cxn ang="0">
                  <a:pos x="8" y="2"/>
                </a:cxn>
                <a:cxn ang="0">
                  <a:pos x="10" y="0"/>
                </a:cxn>
                <a:cxn ang="0">
                  <a:pos x="8" y="2"/>
                </a:cxn>
                <a:cxn ang="0">
                  <a:pos x="6" y="4"/>
                </a:cxn>
                <a:cxn ang="0">
                  <a:pos x="2" y="7"/>
                </a:cxn>
                <a:cxn ang="0">
                  <a:pos x="0" y="10"/>
                </a:cxn>
                <a:cxn ang="0">
                  <a:pos x="6" y="16"/>
                </a:cxn>
                <a:cxn ang="0">
                  <a:pos x="9" y="12"/>
                </a:cxn>
                <a:cxn ang="0">
                  <a:pos x="11" y="10"/>
                </a:cxn>
                <a:cxn ang="0">
                  <a:pos x="13" y="8"/>
                </a:cxn>
                <a:cxn ang="0">
                  <a:pos x="14" y="7"/>
                </a:cxn>
                <a:cxn ang="0">
                  <a:pos x="15" y="6"/>
                </a:cxn>
                <a:cxn ang="0">
                  <a:pos x="8" y="2"/>
                </a:cxn>
              </a:cxnLst>
              <a:rect l="0" t="0" r="r" b="b"/>
              <a:pathLst>
                <a:path w="16" h="17">
                  <a:moveTo>
                    <a:pt x="8" y="2"/>
                  </a:moveTo>
                  <a:lnTo>
                    <a:pt x="10" y="0"/>
                  </a:lnTo>
                  <a:lnTo>
                    <a:pt x="8" y="2"/>
                  </a:lnTo>
                  <a:lnTo>
                    <a:pt x="6" y="4"/>
                  </a:lnTo>
                  <a:lnTo>
                    <a:pt x="2" y="7"/>
                  </a:lnTo>
                  <a:lnTo>
                    <a:pt x="0" y="10"/>
                  </a:lnTo>
                  <a:lnTo>
                    <a:pt x="6" y="16"/>
                  </a:lnTo>
                  <a:lnTo>
                    <a:pt x="9" y="12"/>
                  </a:lnTo>
                  <a:lnTo>
                    <a:pt x="11" y="10"/>
                  </a:lnTo>
                  <a:lnTo>
                    <a:pt x="13" y="8"/>
                  </a:lnTo>
                  <a:lnTo>
                    <a:pt x="14" y="7"/>
                  </a:lnTo>
                  <a:lnTo>
                    <a:pt x="15" y="6"/>
                  </a:lnTo>
                  <a:lnTo>
                    <a:pt x="8"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71" name="Freeform 131"/>
            <p:cNvSpPr>
              <a:spLocks noChangeAspect="1"/>
            </p:cNvSpPr>
            <p:nvPr/>
          </p:nvSpPr>
          <p:spPr bwMode="auto">
            <a:xfrm>
              <a:off x="859" y="542"/>
              <a:ext cx="11" cy="14"/>
            </a:xfrm>
            <a:custGeom>
              <a:avLst/>
              <a:gdLst/>
              <a:ahLst/>
              <a:cxnLst>
                <a:cxn ang="0">
                  <a:pos x="0" y="9"/>
                </a:cxn>
                <a:cxn ang="0">
                  <a:pos x="0" y="9"/>
                </a:cxn>
                <a:cxn ang="0">
                  <a:pos x="0" y="9"/>
                </a:cxn>
                <a:cxn ang="0">
                  <a:pos x="0" y="9"/>
                </a:cxn>
                <a:cxn ang="0">
                  <a:pos x="0" y="9"/>
                </a:cxn>
                <a:cxn ang="0">
                  <a:pos x="7" y="13"/>
                </a:cxn>
                <a:cxn ang="0">
                  <a:pos x="9" y="9"/>
                </a:cxn>
                <a:cxn ang="0">
                  <a:pos x="8" y="5"/>
                </a:cxn>
                <a:cxn ang="0">
                  <a:pos x="4" y="1"/>
                </a:cxn>
                <a:cxn ang="0">
                  <a:pos x="0" y="0"/>
                </a:cxn>
                <a:cxn ang="0">
                  <a:pos x="0" y="9"/>
                </a:cxn>
              </a:cxnLst>
              <a:rect l="0" t="0" r="r" b="b"/>
              <a:pathLst>
                <a:path w="10" h="14">
                  <a:moveTo>
                    <a:pt x="0" y="9"/>
                  </a:moveTo>
                  <a:lnTo>
                    <a:pt x="0" y="9"/>
                  </a:lnTo>
                  <a:lnTo>
                    <a:pt x="0" y="9"/>
                  </a:lnTo>
                  <a:lnTo>
                    <a:pt x="0" y="9"/>
                  </a:lnTo>
                  <a:lnTo>
                    <a:pt x="0" y="9"/>
                  </a:lnTo>
                  <a:lnTo>
                    <a:pt x="7" y="13"/>
                  </a:lnTo>
                  <a:lnTo>
                    <a:pt x="9" y="9"/>
                  </a:lnTo>
                  <a:lnTo>
                    <a:pt x="8" y="5"/>
                  </a:lnTo>
                  <a:lnTo>
                    <a:pt x="4" y="1"/>
                  </a:lnTo>
                  <a:lnTo>
                    <a:pt x="0" y="0"/>
                  </a:lnTo>
                  <a:lnTo>
                    <a:pt x="0"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72" name="Freeform 132"/>
            <p:cNvSpPr>
              <a:spLocks noChangeAspect="1"/>
            </p:cNvSpPr>
            <p:nvPr/>
          </p:nvSpPr>
          <p:spPr bwMode="auto">
            <a:xfrm>
              <a:off x="843" y="542"/>
              <a:ext cx="16" cy="12"/>
            </a:xfrm>
            <a:custGeom>
              <a:avLst/>
              <a:gdLst/>
              <a:ahLst/>
              <a:cxnLst>
                <a:cxn ang="0">
                  <a:pos x="8" y="10"/>
                </a:cxn>
                <a:cxn ang="0">
                  <a:pos x="7" y="11"/>
                </a:cxn>
                <a:cxn ang="0">
                  <a:pos x="8" y="10"/>
                </a:cxn>
                <a:cxn ang="0">
                  <a:pos x="10" y="9"/>
                </a:cxn>
                <a:cxn ang="0">
                  <a:pos x="12" y="8"/>
                </a:cxn>
                <a:cxn ang="0">
                  <a:pos x="16" y="9"/>
                </a:cxn>
                <a:cxn ang="0">
                  <a:pos x="16" y="0"/>
                </a:cxn>
                <a:cxn ang="0">
                  <a:pos x="12" y="0"/>
                </a:cxn>
                <a:cxn ang="0">
                  <a:pos x="8" y="1"/>
                </a:cxn>
                <a:cxn ang="0">
                  <a:pos x="4" y="3"/>
                </a:cxn>
                <a:cxn ang="0">
                  <a:pos x="0" y="6"/>
                </a:cxn>
                <a:cxn ang="0">
                  <a:pos x="0" y="6"/>
                </a:cxn>
                <a:cxn ang="0">
                  <a:pos x="8" y="10"/>
                </a:cxn>
              </a:cxnLst>
              <a:rect l="0" t="0" r="r" b="b"/>
              <a:pathLst>
                <a:path w="17" h="12">
                  <a:moveTo>
                    <a:pt x="8" y="10"/>
                  </a:moveTo>
                  <a:lnTo>
                    <a:pt x="7" y="11"/>
                  </a:lnTo>
                  <a:lnTo>
                    <a:pt x="8" y="10"/>
                  </a:lnTo>
                  <a:lnTo>
                    <a:pt x="10" y="9"/>
                  </a:lnTo>
                  <a:lnTo>
                    <a:pt x="12" y="8"/>
                  </a:lnTo>
                  <a:lnTo>
                    <a:pt x="16" y="9"/>
                  </a:lnTo>
                  <a:lnTo>
                    <a:pt x="16" y="0"/>
                  </a:lnTo>
                  <a:lnTo>
                    <a:pt x="12" y="0"/>
                  </a:lnTo>
                  <a:lnTo>
                    <a:pt x="8" y="1"/>
                  </a:lnTo>
                  <a:lnTo>
                    <a:pt x="4" y="3"/>
                  </a:lnTo>
                  <a:lnTo>
                    <a:pt x="0" y="6"/>
                  </a:lnTo>
                  <a:lnTo>
                    <a:pt x="0" y="6"/>
                  </a:lnTo>
                  <a:lnTo>
                    <a:pt x="8" y="1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73" name="Freeform 133"/>
            <p:cNvSpPr>
              <a:spLocks noChangeAspect="1"/>
            </p:cNvSpPr>
            <p:nvPr/>
          </p:nvSpPr>
          <p:spPr bwMode="auto">
            <a:xfrm>
              <a:off x="839" y="549"/>
              <a:ext cx="14" cy="14"/>
            </a:xfrm>
            <a:custGeom>
              <a:avLst/>
              <a:gdLst/>
              <a:ahLst/>
              <a:cxnLst>
                <a:cxn ang="0">
                  <a:pos x="9" y="12"/>
                </a:cxn>
                <a:cxn ang="0">
                  <a:pos x="9" y="12"/>
                </a:cxn>
                <a:cxn ang="0">
                  <a:pos x="9" y="12"/>
                </a:cxn>
                <a:cxn ang="0">
                  <a:pos x="10" y="10"/>
                </a:cxn>
                <a:cxn ang="0">
                  <a:pos x="12" y="6"/>
                </a:cxn>
                <a:cxn ang="0">
                  <a:pos x="14" y="4"/>
                </a:cxn>
                <a:cxn ang="0">
                  <a:pos x="6" y="0"/>
                </a:cxn>
                <a:cxn ang="0">
                  <a:pos x="4" y="2"/>
                </a:cxn>
                <a:cxn ang="0">
                  <a:pos x="2" y="6"/>
                </a:cxn>
                <a:cxn ang="0">
                  <a:pos x="1" y="9"/>
                </a:cxn>
                <a:cxn ang="0">
                  <a:pos x="0" y="12"/>
                </a:cxn>
                <a:cxn ang="0">
                  <a:pos x="9" y="12"/>
                </a:cxn>
              </a:cxnLst>
              <a:rect l="0" t="0" r="r" b="b"/>
              <a:pathLst>
                <a:path w="15" h="13">
                  <a:moveTo>
                    <a:pt x="9" y="12"/>
                  </a:moveTo>
                  <a:lnTo>
                    <a:pt x="9" y="12"/>
                  </a:lnTo>
                  <a:lnTo>
                    <a:pt x="9" y="12"/>
                  </a:lnTo>
                  <a:lnTo>
                    <a:pt x="10" y="10"/>
                  </a:lnTo>
                  <a:lnTo>
                    <a:pt x="12" y="6"/>
                  </a:lnTo>
                  <a:lnTo>
                    <a:pt x="14" y="4"/>
                  </a:lnTo>
                  <a:lnTo>
                    <a:pt x="6" y="0"/>
                  </a:lnTo>
                  <a:lnTo>
                    <a:pt x="4" y="2"/>
                  </a:lnTo>
                  <a:lnTo>
                    <a:pt x="2" y="6"/>
                  </a:lnTo>
                  <a:lnTo>
                    <a:pt x="1" y="9"/>
                  </a:lnTo>
                  <a:lnTo>
                    <a:pt x="0" y="12"/>
                  </a:lnTo>
                  <a:lnTo>
                    <a:pt x="9" y="1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74" name="Freeform 134"/>
            <p:cNvSpPr>
              <a:spLocks noChangeAspect="1"/>
            </p:cNvSpPr>
            <p:nvPr/>
          </p:nvSpPr>
          <p:spPr bwMode="auto">
            <a:xfrm>
              <a:off x="824" y="561"/>
              <a:ext cx="24" cy="14"/>
            </a:xfrm>
            <a:custGeom>
              <a:avLst/>
              <a:gdLst/>
              <a:ahLst/>
              <a:cxnLst>
                <a:cxn ang="0">
                  <a:pos x="1" y="14"/>
                </a:cxn>
                <a:cxn ang="0">
                  <a:pos x="1" y="14"/>
                </a:cxn>
                <a:cxn ang="0">
                  <a:pos x="7" y="12"/>
                </a:cxn>
                <a:cxn ang="0">
                  <a:pos x="13" y="10"/>
                </a:cxn>
                <a:cxn ang="0">
                  <a:pos x="19" y="6"/>
                </a:cxn>
                <a:cxn ang="0">
                  <a:pos x="23" y="1"/>
                </a:cxn>
                <a:cxn ang="0">
                  <a:pos x="13" y="1"/>
                </a:cxn>
                <a:cxn ang="0">
                  <a:pos x="13" y="0"/>
                </a:cxn>
                <a:cxn ang="0">
                  <a:pos x="9" y="2"/>
                </a:cxn>
                <a:cxn ang="0">
                  <a:pos x="5" y="4"/>
                </a:cxn>
                <a:cxn ang="0">
                  <a:pos x="0" y="6"/>
                </a:cxn>
                <a:cxn ang="0">
                  <a:pos x="1" y="6"/>
                </a:cxn>
                <a:cxn ang="0">
                  <a:pos x="1" y="14"/>
                </a:cxn>
              </a:cxnLst>
              <a:rect l="0" t="0" r="r" b="b"/>
              <a:pathLst>
                <a:path w="24" h="15">
                  <a:moveTo>
                    <a:pt x="1" y="14"/>
                  </a:moveTo>
                  <a:lnTo>
                    <a:pt x="1" y="14"/>
                  </a:lnTo>
                  <a:lnTo>
                    <a:pt x="7" y="12"/>
                  </a:lnTo>
                  <a:lnTo>
                    <a:pt x="13" y="10"/>
                  </a:lnTo>
                  <a:lnTo>
                    <a:pt x="19" y="6"/>
                  </a:lnTo>
                  <a:lnTo>
                    <a:pt x="23" y="1"/>
                  </a:lnTo>
                  <a:lnTo>
                    <a:pt x="13" y="1"/>
                  </a:lnTo>
                  <a:lnTo>
                    <a:pt x="13" y="0"/>
                  </a:lnTo>
                  <a:lnTo>
                    <a:pt x="9" y="2"/>
                  </a:lnTo>
                  <a:lnTo>
                    <a:pt x="5" y="4"/>
                  </a:lnTo>
                  <a:lnTo>
                    <a:pt x="0" y="6"/>
                  </a:lnTo>
                  <a:lnTo>
                    <a:pt x="1" y="6"/>
                  </a:lnTo>
                  <a:lnTo>
                    <a:pt x="1" y="1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75" name="Freeform 135"/>
            <p:cNvSpPr>
              <a:spLocks noChangeAspect="1"/>
            </p:cNvSpPr>
            <p:nvPr/>
          </p:nvSpPr>
          <p:spPr bwMode="auto">
            <a:xfrm>
              <a:off x="808" y="568"/>
              <a:ext cx="16" cy="14"/>
            </a:xfrm>
            <a:custGeom>
              <a:avLst/>
              <a:gdLst/>
              <a:ahLst/>
              <a:cxnLst>
                <a:cxn ang="0">
                  <a:pos x="8" y="15"/>
                </a:cxn>
                <a:cxn ang="0">
                  <a:pos x="8" y="15"/>
                </a:cxn>
                <a:cxn ang="0">
                  <a:pos x="9" y="14"/>
                </a:cxn>
                <a:cxn ang="0">
                  <a:pos x="11" y="10"/>
                </a:cxn>
                <a:cxn ang="0">
                  <a:pos x="13" y="9"/>
                </a:cxn>
                <a:cxn ang="0">
                  <a:pos x="16" y="8"/>
                </a:cxn>
                <a:cxn ang="0">
                  <a:pos x="16" y="0"/>
                </a:cxn>
                <a:cxn ang="0">
                  <a:pos x="9" y="1"/>
                </a:cxn>
                <a:cxn ang="0">
                  <a:pos x="4" y="5"/>
                </a:cxn>
                <a:cxn ang="0">
                  <a:pos x="1" y="10"/>
                </a:cxn>
                <a:cxn ang="0">
                  <a:pos x="0" y="15"/>
                </a:cxn>
                <a:cxn ang="0">
                  <a:pos x="8" y="15"/>
                </a:cxn>
              </a:cxnLst>
              <a:rect l="0" t="0" r="r" b="b"/>
              <a:pathLst>
                <a:path w="17" h="16">
                  <a:moveTo>
                    <a:pt x="8" y="15"/>
                  </a:moveTo>
                  <a:lnTo>
                    <a:pt x="8" y="15"/>
                  </a:lnTo>
                  <a:lnTo>
                    <a:pt x="9" y="14"/>
                  </a:lnTo>
                  <a:lnTo>
                    <a:pt x="11" y="10"/>
                  </a:lnTo>
                  <a:lnTo>
                    <a:pt x="13" y="9"/>
                  </a:lnTo>
                  <a:lnTo>
                    <a:pt x="16" y="8"/>
                  </a:lnTo>
                  <a:lnTo>
                    <a:pt x="16" y="0"/>
                  </a:lnTo>
                  <a:lnTo>
                    <a:pt x="9" y="1"/>
                  </a:lnTo>
                  <a:lnTo>
                    <a:pt x="4" y="5"/>
                  </a:lnTo>
                  <a:lnTo>
                    <a:pt x="1" y="10"/>
                  </a:lnTo>
                  <a:lnTo>
                    <a:pt x="0" y="15"/>
                  </a:lnTo>
                  <a:lnTo>
                    <a:pt x="8" y="1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76" name="Freeform 136"/>
            <p:cNvSpPr>
              <a:spLocks noChangeAspect="1"/>
            </p:cNvSpPr>
            <p:nvPr/>
          </p:nvSpPr>
          <p:spPr bwMode="auto">
            <a:xfrm>
              <a:off x="808" y="582"/>
              <a:ext cx="11" cy="16"/>
            </a:xfrm>
            <a:custGeom>
              <a:avLst/>
              <a:gdLst/>
              <a:ahLst/>
              <a:cxnLst>
                <a:cxn ang="0">
                  <a:pos x="0" y="15"/>
                </a:cxn>
                <a:cxn ang="0">
                  <a:pos x="0" y="15"/>
                </a:cxn>
                <a:cxn ang="0">
                  <a:pos x="7" y="13"/>
                </a:cxn>
                <a:cxn ang="0">
                  <a:pos x="10" y="7"/>
                </a:cxn>
                <a:cxn ang="0">
                  <a:pos x="8" y="3"/>
                </a:cxn>
                <a:cxn ang="0">
                  <a:pos x="8" y="0"/>
                </a:cxn>
                <a:cxn ang="0">
                  <a:pos x="0" y="0"/>
                </a:cxn>
                <a:cxn ang="0">
                  <a:pos x="0" y="4"/>
                </a:cxn>
                <a:cxn ang="0">
                  <a:pos x="2" y="7"/>
                </a:cxn>
                <a:cxn ang="0">
                  <a:pos x="3" y="5"/>
                </a:cxn>
                <a:cxn ang="0">
                  <a:pos x="0" y="6"/>
                </a:cxn>
                <a:cxn ang="0">
                  <a:pos x="0" y="15"/>
                </a:cxn>
              </a:cxnLst>
              <a:rect l="0" t="0" r="r" b="b"/>
              <a:pathLst>
                <a:path w="11" h="16">
                  <a:moveTo>
                    <a:pt x="0" y="15"/>
                  </a:moveTo>
                  <a:lnTo>
                    <a:pt x="0" y="15"/>
                  </a:lnTo>
                  <a:lnTo>
                    <a:pt x="7" y="13"/>
                  </a:lnTo>
                  <a:lnTo>
                    <a:pt x="10" y="7"/>
                  </a:lnTo>
                  <a:lnTo>
                    <a:pt x="8" y="3"/>
                  </a:lnTo>
                  <a:lnTo>
                    <a:pt x="8" y="0"/>
                  </a:lnTo>
                  <a:lnTo>
                    <a:pt x="0" y="0"/>
                  </a:lnTo>
                  <a:lnTo>
                    <a:pt x="0" y="4"/>
                  </a:lnTo>
                  <a:lnTo>
                    <a:pt x="2" y="7"/>
                  </a:lnTo>
                  <a:lnTo>
                    <a:pt x="3" y="5"/>
                  </a:lnTo>
                  <a:lnTo>
                    <a:pt x="0" y="6"/>
                  </a:lnTo>
                  <a:lnTo>
                    <a:pt x="0" y="1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77" name="Freeform 137"/>
            <p:cNvSpPr>
              <a:spLocks noChangeAspect="1"/>
            </p:cNvSpPr>
            <p:nvPr/>
          </p:nvSpPr>
          <p:spPr bwMode="auto">
            <a:xfrm>
              <a:off x="788" y="589"/>
              <a:ext cx="22" cy="12"/>
            </a:xfrm>
            <a:custGeom>
              <a:avLst/>
              <a:gdLst/>
              <a:ahLst/>
              <a:cxnLst>
                <a:cxn ang="0">
                  <a:pos x="9" y="11"/>
                </a:cxn>
                <a:cxn ang="0">
                  <a:pos x="9" y="11"/>
                </a:cxn>
                <a:cxn ang="0">
                  <a:pos x="10" y="10"/>
                </a:cxn>
                <a:cxn ang="0">
                  <a:pos x="14" y="9"/>
                </a:cxn>
                <a:cxn ang="0">
                  <a:pos x="21" y="9"/>
                </a:cxn>
                <a:cxn ang="0">
                  <a:pos x="21" y="0"/>
                </a:cxn>
                <a:cxn ang="0">
                  <a:pos x="14" y="1"/>
                </a:cxn>
                <a:cxn ang="0">
                  <a:pos x="7" y="2"/>
                </a:cxn>
                <a:cxn ang="0">
                  <a:pos x="3" y="5"/>
                </a:cxn>
                <a:cxn ang="0">
                  <a:pos x="0" y="11"/>
                </a:cxn>
                <a:cxn ang="0">
                  <a:pos x="9" y="11"/>
                </a:cxn>
              </a:cxnLst>
              <a:rect l="0" t="0" r="r" b="b"/>
              <a:pathLst>
                <a:path w="22" h="12">
                  <a:moveTo>
                    <a:pt x="9" y="11"/>
                  </a:moveTo>
                  <a:lnTo>
                    <a:pt x="9" y="11"/>
                  </a:lnTo>
                  <a:lnTo>
                    <a:pt x="10" y="10"/>
                  </a:lnTo>
                  <a:lnTo>
                    <a:pt x="14" y="9"/>
                  </a:lnTo>
                  <a:lnTo>
                    <a:pt x="21" y="9"/>
                  </a:lnTo>
                  <a:lnTo>
                    <a:pt x="21" y="0"/>
                  </a:lnTo>
                  <a:lnTo>
                    <a:pt x="14" y="1"/>
                  </a:lnTo>
                  <a:lnTo>
                    <a:pt x="7" y="2"/>
                  </a:lnTo>
                  <a:lnTo>
                    <a:pt x="3" y="5"/>
                  </a:lnTo>
                  <a:lnTo>
                    <a:pt x="0" y="11"/>
                  </a:lnTo>
                  <a:lnTo>
                    <a:pt x="9" y="1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grpSp>
      <p:sp>
        <p:nvSpPr>
          <p:cNvPr id="759946" name="Rectangle 138"/>
          <p:cNvSpPr>
            <a:spLocks noChangeAspect="1" noChangeArrowheads="1"/>
          </p:cNvSpPr>
          <p:nvPr/>
        </p:nvSpPr>
        <p:spPr bwMode="auto">
          <a:xfrm>
            <a:off x="304800" y="2012950"/>
            <a:ext cx="781050" cy="228600"/>
          </a:xfrm>
          <a:prstGeom prst="rect">
            <a:avLst/>
          </a:prstGeom>
          <a:noFill/>
          <a:ln w="9525">
            <a:noFill/>
            <a:miter lim="800000"/>
            <a:headEnd/>
            <a:tailEnd/>
          </a:ln>
        </p:spPr>
        <p:txBody>
          <a:bodyPr wrap="none" lIns="92058" tIns="46030" rIns="92058" bIns="46030">
            <a:spAutoFit/>
          </a:bodyPr>
          <a:lstStyle/>
          <a:p>
            <a:pPr>
              <a:spcBef>
                <a:spcPct val="0"/>
              </a:spcBef>
              <a:buClrTx/>
              <a:buFontTx/>
              <a:buNone/>
            </a:pPr>
            <a:r>
              <a:rPr lang="en-US" sz="900" b="1">
                <a:solidFill>
                  <a:srgbClr val="000099"/>
                </a:solidFill>
              </a:rPr>
              <a:t>Anchorage</a:t>
            </a:r>
          </a:p>
        </p:txBody>
      </p:sp>
      <p:grpSp>
        <p:nvGrpSpPr>
          <p:cNvPr id="759947" name="Group 139"/>
          <p:cNvGrpSpPr>
            <a:grpSpLocks noChangeAspect="1"/>
          </p:cNvGrpSpPr>
          <p:nvPr/>
        </p:nvGrpSpPr>
        <p:grpSpPr bwMode="auto">
          <a:xfrm>
            <a:off x="1181100" y="5318125"/>
            <a:ext cx="1047750" cy="690563"/>
            <a:chOff x="866" y="2641"/>
            <a:chExt cx="733" cy="455"/>
          </a:xfrm>
        </p:grpSpPr>
        <p:sp>
          <p:nvSpPr>
            <p:cNvPr id="10380" name="Freeform 140"/>
            <p:cNvSpPr>
              <a:spLocks noChangeAspect="1"/>
            </p:cNvSpPr>
            <p:nvPr/>
          </p:nvSpPr>
          <p:spPr bwMode="auto">
            <a:xfrm>
              <a:off x="1469" y="2953"/>
              <a:ext cx="124" cy="139"/>
            </a:xfrm>
            <a:custGeom>
              <a:avLst/>
              <a:gdLst/>
              <a:ahLst/>
              <a:cxnLst>
                <a:cxn ang="0">
                  <a:pos x="48" y="7"/>
                </a:cxn>
                <a:cxn ang="0">
                  <a:pos x="40" y="4"/>
                </a:cxn>
                <a:cxn ang="0">
                  <a:pos x="32" y="1"/>
                </a:cxn>
                <a:cxn ang="0">
                  <a:pos x="28" y="1"/>
                </a:cxn>
                <a:cxn ang="0">
                  <a:pos x="28" y="12"/>
                </a:cxn>
                <a:cxn ang="0">
                  <a:pos x="31" y="27"/>
                </a:cxn>
                <a:cxn ang="0">
                  <a:pos x="27" y="33"/>
                </a:cxn>
                <a:cxn ang="0">
                  <a:pos x="18" y="38"/>
                </a:cxn>
                <a:cxn ang="0">
                  <a:pos x="17" y="45"/>
                </a:cxn>
                <a:cxn ang="0">
                  <a:pos x="15" y="51"/>
                </a:cxn>
                <a:cxn ang="0">
                  <a:pos x="8" y="54"/>
                </a:cxn>
                <a:cxn ang="0">
                  <a:pos x="1" y="60"/>
                </a:cxn>
                <a:cxn ang="0">
                  <a:pos x="2" y="66"/>
                </a:cxn>
                <a:cxn ang="0">
                  <a:pos x="6" y="74"/>
                </a:cxn>
                <a:cxn ang="0">
                  <a:pos x="9" y="83"/>
                </a:cxn>
                <a:cxn ang="0">
                  <a:pos x="9" y="89"/>
                </a:cxn>
                <a:cxn ang="0">
                  <a:pos x="8" y="102"/>
                </a:cxn>
                <a:cxn ang="0">
                  <a:pos x="10" y="120"/>
                </a:cxn>
                <a:cxn ang="0">
                  <a:pos x="16" y="127"/>
                </a:cxn>
                <a:cxn ang="0">
                  <a:pos x="22" y="131"/>
                </a:cxn>
                <a:cxn ang="0">
                  <a:pos x="29" y="131"/>
                </a:cxn>
                <a:cxn ang="0">
                  <a:pos x="41" y="132"/>
                </a:cxn>
                <a:cxn ang="0">
                  <a:pos x="46" y="137"/>
                </a:cxn>
                <a:cxn ang="0">
                  <a:pos x="51" y="137"/>
                </a:cxn>
                <a:cxn ang="0">
                  <a:pos x="57" y="128"/>
                </a:cxn>
                <a:cxn ang="0">
                  <a:pos x="64" y="117"/>
                </a:cxn>
                <a:cxn ang="0">
                  <a:pos x="72" y="115"/>
                </a:cxn>
                <a:cxn ang="0">
                  <a:pos x="78" y="113"/>
                </a:cxn>
                <a:cxn ang="0">
                  <a:pos x="91" y="109"/>
                </a:cxn>
                <a:cxn ang="0">
                  <a:pos x="100" y="105"/>
                </a:cxn>
                <a:cxn ang="0">
                  <a:pos x="107" y="100"/>
                </a:cxn>
                <a:cxn ang="0">
                  <a:pos x="112" y="95"/>
                </a:cxn>
                <a:cxn ang="0">
                  <a:pos x="116" y="90"/>
                </a:cxn>
                <a:cxn ang="0">
                  <a:pos x="123" y="85"/>
                </a:cxn>
                <a:cxn ang="0">
                  <a:pos x="125" y="79"/>
                </a:cxn>
                <a:cxn ang="0">
                  <a:pos x="124" y="73"/>
                </a:cxn>
                <a:cxn ang="0">
                  <a:pos x="119" y="71"/>
                </a:cxn>
                <a:cxn ang="0">
                  <a:pos x="112" y="71"/>
                </a:cxn>
                <a:cxn ang="0">
                  <a:pos x="109" y="62"/>
                </a:cxn>
                <a:cxn ang="0">
                  <a:pos x="107" y="51"/>
                </a:cxn>
                <a:cxn ang="0">
                  <a:pos x="105" y="44"/>
                </a:cxn>
                <a:cxn ang="0">
                  <a:pos x="103" y="39"/>
                </a:cxn>
                <a:cxn ang="0">
                  <a:pos x="98" y="42"/>
                </a:cxn>
                <a:cxn ang="0">
                  <a:pos x="93" y="40"/>
                </a:cxn>
                <a:cxn ang="0">
                  <a:pos x="89" y="29"/>
                </a:cxn>
                <a:cxn ang="0">
                  <a:pos x="83" y="22"/>
                </a:cxn>
                <a:cxn ang="0">
                  <a:pos x="78" y="18"/>
                </a:cxn>
                <a:cxn ang="0">
                  <a:pos x="70" y="14"/>
                </a:cxn>
                <a:cxn ang="0">
                  <a:pos x="61" y="10"/>
                </a:cxn>
                <a:cxn ang="0">
                  <a:pos x="53" y="7"/>
                </a:cxn>
              </a:cxnLst>
              <a:rect l="0" t="0" r="r" b="b"/>
              <a:pathLst>
                <a:path w="126" h="139">
                  <a:moveTo>
                    <a:pt x="50" y="7"/>
                  </a:moveTo>
                  <a:lnTo>
                    <a:pt x="48" y="7"/>
                  </a:lnTo>
                  <a:lnTo>
                    <a:pt x="44" y="6"/>
                  </a:lnTo>
                  <a:lnTo>
                    <a:pt x="40" y="4"/>
                  </a:lnTo>
                  <a:lnTo>
                    <a:pt x="36" y="2"/>
                  </a:lnTo>
                  <a:lnTo>
                    <a:pt x="32" y="1"/>
                  </a:lnTo>
                  <a:lnTo>
                    <a:pt x="30" y="0"/>
                  </a:lnTo>
                  <a:lnTo>
                    <a:pt x="28" y="1"/>
                  </a:lnTo>
                  <a:lnTo>
                    <a:pt x="27" y="4"/>
                  </a:lnTo>
                  <a:lnTo>
                    <a:pt x="28" y="12"/>
                  </a:lnTo>
                  <a:lnTo>
                    <a:pt x="30" y="20"/>
                  </a:lnTo>
                  <a:lnTo>
                    <a:pt x="31" y="27"/>
                  </a:lnTo>
                  <a:lnTo>
                    <a:pt x="30" y="31"/>
                  </a:lnTo>
                  <a:lnTo>
                    <a:pt x="27" y="33"/>
                  </a:lnTo>
                  <a:lnTo>
                    <a:pt x="22" y="35"/>
                  </a:lnTo>
                  <a:lnTo>
                    <a:pt x="18" y="38"/>
                  </a:lnTo>
                  <a:lnTo>
                    <a:pt x="17" y="41"/>
                  </a:lnTo>
                  <a:lnTo>
                    <a:pt x="17" y="45"/>
                  </a:lnTo>
                  <a:lnTo>
                    <a:pt x="17" y="48"/>
                  </a:lnTo>
                  <a:lnTo>
                    <a:pt x="15" y="51"/>
                  </a:lnTo>
                  <a:lnTo>
                    <a:pt x="12" y="52"/>
                  </a:lnTo>
                  <a:lnTo>
                    <a:pt x="8" y="54"/>
                  </a:lnTo>
                  <a:lnTo>
                    <a:pt x="4" y="56"/>
                  </a:lnTo>
                  <a:lnTo>
                    <a:pt x="1" y="60"/>
                  </a:lnTo>
                  <a:lnTo>
                    <a:pt x="0" y="63"/>
                  </a:lnTo>
                  <a:lnTo>
                    <a:pt x="2" y="66"/>
                  </a:lnTo>
                  <a:lnTo>
                    <a:pt x="4" y="70"/>
                  </a:lnTo>
                  <a:lnTo>
                    <a:pt x="6" y="74"/>
                  </a:lnTo>
                  <a:lnTo>
                    <a:pt x="8" y="79"/>
                  </a:lnTo>
                  <a:lnTo>
                    <a:pt x="9" y="83"/>
                  </a:lnTo>
                  <a:lnTo>
                    <a:pt x="9" y="85"/>
                  </a:lnTo>
                  <a:lnTo>
                    <a:pt x="9" y="89"/>
                  </a:lnTo>
                  <a:lnTo>
                    <a:pt x="8" y="94"/>
                  </a:lnTo>
                  <a:lnTo>
                    <a:pt x="8" y="102"/>
                  </a:lnTo>
                  <a:lnTo>
                    <a:pt x="9" y="111"/>
                  </a:lnTo>
                  <a:lnTo>
                    <a:pt x="10" y="120"/>
                  </a:lnTo>
                  <a:lnTo>
                    <a:pt x="13" y="125"/>
                  </a:lnTo>
                  <a:lnTo>
                    <a:pt x="16" y="127"/>
                  </a:lnTo>
                  <a:lnTo>
                    <a:pt x="19" y="129"/>
                  </a:lnTo>
                  <a:lnTo>
                    <a:pt x="22" y="131"/>
                  </a:lnTo>
                  <a:lnTo>
                    <a:pt x="25" y="132"/>
                  </a:lnTo>
                  <a:lnTo>
                    <a:pt x="29" y="131"/>
                  </a:lnTo>
                  <a:lnTo>
                    <a:pt x="35" y="131"/>
                  </a:lnTo>
                  <a:lnTo>
                    <a:pt x="41" y="132"/>
                  </a:lnTo>
                  <a:lnTo>
                    <a:pt x="44" y="135"/>
                  </a:lnTo>
                  <a:lnTo>
                    <a:pt x="46" y="137"/>
                  </a:lnTo>
                  <a:lnTo>
                    <a:pt x="48" y="138"/>
                  </a:lnTo>
                  <a:lnTo>
                    <a:pt x="51" y="137"/>
                  </a:lnTo>
                  <a:lnTo>
                    <a:pt x="54" y="133"/>
                  </a:lnTo>
                  <a:lnTo>
                    <a:pt x="57" y="128"/>
                  </a:lnTo>
                  <a:lnTo>
                    <a:pt x="60" y="122"/>
                  </a:lnTo>
                  <a:lnTo>
                    <a:pt x="64" y="117"/>
                  </a:lnTo>
                  <a:lnTo>
                    <a:pt x="69" y="115"/>
                  </a:lnTo>
                  <a:lnTo>
                    <a:pt x="72" y="115"/>
                  </a:lnTo>
                  <a:lnTo>
                    <a:pt x="75" y="114"/>
                  </a:lnTo>
                  <a:lnTo>
                    <a:pt x="78" y="113"/>
                  </a:lnTo>
                  <a:lnTo>
                    <a:pt x="86" y="111"/>
                  </a:lnTo>
                  <a:lnTo>
                    <a:pt x="91" y="109"/>
                  </a:lnTo>
                  <a:lnTo>
                    <a:pt x="96" y="107"/>
                  </a:lnTo>
                  <a:lnTo>
                    <a:pt x="100" y="105"/>
                  </a:lnTo>
                  <a:lnTo>
                    <a:pt x="104" y="103"/>
                  </a:lnTo>
                  <a:lnTo>
                    <a:pt x="107" y="100"/>
                  </a:lnTo>
                  <a:lnTo>
                    <a:pt x="110" y="97"/>
                  </a:lnTo>
                  <a:lnTo>
                    <a:pt x="112" y="95"/>
                  </a:lnTo>
                  <a:lnTo>
                    <a:pt x="113" y="93"/>
                  </a:lnTo>
                  <a:lnTo>
                    <a:pt x="116" y="90"/>
                  </a:lnTo>
                  <a:lnTo>
                    <a:pt x="119" y="87"/>
                  </a:lnTo>
                  <a:lnTo>
                    <a:pt x="123" y="85"/>
                  </a:lnTo>
                  <a:lnTo>
                    <a:pt x="124" y="82"/>
                  </a:lnTo>
                  <a:lnTo>
                    <a:pt x="125" y="79"/>
                  </a:lnTo>
                  <a:lnTo>
                    <a:pt x="125" y="76"/>
                  </a:lnTo>
                  <a:lnTo>
                    <a:pt x="124" y="73"/>
                  </a:lnTo>
                  <a:lnTo>
                    <a:pt x="122" y="72"/>
                  </a:lnTo>
                  <a:lnTo>
                    <a:pt x="119" y="71"/>
                  </a:lnTo>
                  <a:lnTo>
                    <a:pt x="115" y="71"/>
                  </a:lnTo>
                  <a:lnTo>
                    <a:pt x="112" y="71"/>
                  </a:lnTo>
                  <a:lnTo>
                    <a:pt x="110" y="67"/>
                  </a:lnTo>
                  <a:lnTo>
                    <a:pt x="109" y="62"/>
                  </a:lnTo>
                  <a:lnTo>
                    <a:pt x="109" y="56"/>
                  </a:lnTo>
                  <a:lnTo>
                    <a:pt x="107" y="51"/>
                  </a:lnTo>
                  <a:lnTo>
                    <a:pt x="107" y="47"/>
                  </a:lnTo>
                  <a:lnTo>
                    <a:pt x="105" y="44"/>
                  </a:lnTo>
                  <a:lnTo>
                    <a:pt x="105" y="40"/>
                  </a:lnTo>
                  <a:lnTo>
                    <a:pt x="103" y="39"/>
                  </a:lnTo>
                  <a:lnTo>
                    <a:pt x="101" y="40"/>
                  </a:lnTo>
                  <a:lnTo>
                    <a:pt x="98" y="42"/>
                  </a:lnTo>
                  <a:lnTo>
                    <a:pt x="95" y="42"/>
                  </a:lnTo>
                  <a:lnTo>
                    <a:pt x="93" y="40"/>
                  </a:lnTo>
                  <a:lnTo>
                    <a:pt x="92" y="35"/>
                  </a:lnTo>
                  <a:lnTo>
                    <a:pt x="89" y="29"/>
                  </a:lnTo>
                  <a:lnTo>
                    <a:pt x="86" y="25"/>
                  </a:lnTo>
                  <a:lnTo>
                    <a:pt x="83" y="22"/>
                  </a:lnTo>
                  <a:lnTo>
                    <a:pt x="80" y="20"/>
                  </a:lnTo>
                  <a:lnTo>
                    <a:pt x="78" y="18"/>
                  </a:lnTo>
                  <a:lnTo>
                    <a:pt x="74" y="16"/>
                  </a:lnTo>
                  <a:lnTo>
                    <a:pt x="70" y="14"/>
                  </a:lnTo>
                  <a:lnTo>
                    <a:pt x="66" y="12"/>
                  </a:lnTo>
                  <a:lnTo>
                    <a:pt x="61" y="10"/>
                  </a:lnTo>
                  <a:lnTo>
                    <a:pt x="57" y="8"/>
                  </a:lnTo>
                  <a:lnTo>
                    <a:pt x="53" y="7"/>
                  </a:lnTo>
                  <a:lnTo>
                    <a:pt x="50" y="7"/>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81" name="Freeform 141"/>
            <p:cNvSpPr>
              <a:spLocks noChangeAspect="1"/>
            </p:cNvSpPr>
            <p:nvPr/>
          </p:nvSpPr>
          <p:spPr bwMode="auto">
            <a:xfrm>
              <a:off x="1491" y="2949"/>
              <a:ext cx="31" cy="19"/>
            </a:xfrm>
            <a:custGeom>
              <a:avLst/>
              <a:gdLst/>
              <a:ahLst/>
              <a:cxnLst>
                <a:cxn ang="0">
                  <a:pos x="9" y="8"/>
                </a:cxn>
                <a:cxn ang="0">
                  <a:pos x="10" y="8"/>
                </a:cxn>
                <a:cxn ang="0">
                  <a:pos x="9" y="8"/>
                </a:cxn>
                <a:cxn ang="0">
                  <a:pos x="8" y="9"/>
                </a:cxn>
                <a:cxn ang="0">
                  <a:pos x="10" y="9"/>
                </a:cxn>
                <a:cxn ang="0">
                  <a:pos x="13" y="10"/>
                </a:cxn>
                <a:cxn ang="0">
                  <a:pos x="16" y="12"/>
                </a:cxn>
                <a:cxn ang="0">
                  <a:pos x="20" y="14"/>
                </a:cxn>
                <a:cxn ang="0">
                  <a:pos x="26" y="15"/>
                </a:cxn>
                <a:cxn ang="0">
                  <a:pos x="30" y="15"/>
                </a:cxn>
                <a:cxn ang="0">
                  <a:pos x="27" y="7"/>
                </a:cxn>
                <a:cxn ang="0">
                  <a:pos x="26" y="7"/>
                </a:cxn>
                <a:cxn ang="0">
                  <a:pos x="23" y="6"/>
                </a:cxn>
                <a:cxn ang="0">
                  <a:pos x="20" y="4"/>
                </a:cxn>
                <a:cxn ang="0">
                  <a:pos x="16" y="2"/>
                </a:cxn>
                <a:cxn ang="0">
                  <a:pos x="11" y="1"/>
                </a:cxn>
                <a:cxn ang="0">
                  <a:pos x="8" y="0"/>
                </a:cxn>
                <a:cxn ang="0">
                  <a:pos x="2" y="2"/>
                </a:cxn>
                <a:cxn ang="0">
                  <a:pos x="0" y="8"/>
                </a:cxn>
                <a:cxn ang="0">
                  <a:pos x="1" y="8"/>
                </a:cxn>
                <a:cxn ang="0">
                  <a:pos x="9" y="8"/>
                </a:cxn>
              </a:cxnLst>
              <a:rect l="0" t="0" r="r" b="b"/>
              <a:pathLst>
                <a:path w="31" h="16">
                  <a:moveTo>
                    <a:pt x="9" y="8"/>
                  </a:moveTo>
                  <a:lnTo>
                    <a:pt x="10" y="8"/>
                  </a:lnTo>
                  <a:lnTo>
                    <a:pt x="9" y="8"/>
                  </a:lnTo>
                  <a:lnTo>
                    <a:pt x="8" y="9"/>
                  </a:lnTo>
                  <a:lnTo>
                    <a:pt x="10" y="9"/>
                  </a:lnTo>
                  <a:lnTo>
                    <a:pt x="13" y="10"/>
                  </a:lnTo>
                  <a:lnTo>
                    <a:pt x="16" y="12"/>
                  </a:lnTo>
                  <a:lnTo>
                    <a:pt x="20" y="14"/>
                  </a:lnTo>
                  <a:lnTo>
                    <a:pt x="26" y="15"/>
                  </a:lnTo>
                  <a:lnTo>
                    <a:pt x="30" y="15"/>
                  </a:lnTo>
                  <a:lnTo>
                    <a:pt x="27" y="7"/>
                  </a:lnTo>
                  <a:lnTo>
                    <a:pt x="26" y="7"/>
                  </a:lnTo>
                  <a:lnTo>
                    <a:pt x="23" y="6"/>
                  </a:lnTo>
                  <a:lnTo>
                    <a:pt x="20" y="4"/>
                  </a:lnTo>
                  <a:lnTo>
                    <a:pt x="16" y="2"/>
                  </a:lnTo>
                  <a:lnTo>
                    <a:pt x="11" y="1"/>
                  </a:lnTo>
                  <a:lnTo>
                    <a:pt x="8" y="0"/>
                  </a:lnTo>
                  <a:lnTo>
                    <a:pt x="2" y="2"/>
                  </a:lnTo>
                  <a:lnTo>
                    <a:pt x="0" y="8"/>
                  </a:lnTo>
                  <a:lnTo>
                    <a:pt x="1" y="8"/>
                  </a:lnTo>
                  <a:lnTo>
                    <a:pt x="9"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82" name="Freeform 142"/>
            <p:cNvSpPr>
              <a:spLocks noChangeAspect="1"/>
            </p:cNvSpPr>
            <p:nvPr/>
          </p:nvSpPr>
          <p:spPr bwMode="auto">
            <a:xfrm>
              <a:off x="1492" y="2957"/>
              <a:ext cx="11" cy="31"/>
            </a:xfrm>
            <a:custGeom>
              <a:avLst/>
              <a:gdLst/>
              <a:ahLst/>
              <a:cxnLst>
                <a:cxn ang="0">
                  <a:pos x="10" y="30"/>
                </a:cxn>
                <a:cxn ang="0">
                  <a:pos x="10" y="30"/>
                </a:cxn>
                <a:cxn ang="0">
                  <a:pos x="13" y="23"/>
                </a:cxn>
                <a:cxn ang="0">
                  <a:pos x="11" y="16"/>
                </a:cxn>
                <a:cxn ang="0">
                  <a:pos x="9" y="7"/>
                </a:cxn>
                <a:cxn ang="0">
                  <a:pos x="8" y="0"/>
                </a:cxn>
                <a:cxn ang="0">
                  <a:pos x="0" y="0"/>
                </a:cxn>
                <a:cxn ang="0">
                  <a:pos x="1" y="8"/>
                </a:cxn>
                <a:cxn ang="0">
                  <a:pos x="3" y="17"/>
                </a:cxn>
                <a:cxn ang="0">
                  <a:pos x="3" y="23"/>
                </a:cxn>
                <a:cxn ang="0">
                  <a:pos x="5" y="24"/>
                </a:cxn>
                <a:cxn ang="0">
                  <a:pos x="5" y="24"/>
                </a:cxn>
                <a:cxn ang="0">
                  <a:pos x="10" y="30"/>
                </a:cxn>
              </a:cxnLst>
              <a:rect l="0" t="0" r="r" b="b"/>
              <a:pathLst>
                <a:path w="14" h="31">
                  <a:moveTo>
                    <a:pt x="10" y="30"/>
                  </a:moveTo>
                  <a:lnTo>
                    <a:pt x="10" y="30"/>
                  </a:lnTo>
                  <a:lnTo>
                    <a:pt x="13" y="23"/>
                  </a:lnTo>
                  <a:lnTo>
                    <a:pt x="11" y="16"/>
                  </a:lnTo>
                  <a:lnTo>
                    <a:pt x="9" y="7"/>
                  </a:lnTo>
                  <a:lnTo>
                    <a:pt x="8" y="0"/>
                  </a:lnTo>
                  <a:lnTo>
                    <a:pt x="0" y="0"/>
                  </a:lnTo>
                  <a:lnTo>
                    <a:pt x="1" y="8"/>
                  </a:lnTo>
                  <a:lnTo>
                    <a:pt x="3" y="17"/>
                  </a:lnTo>
                  <a:lnTo>
                    <a:pt x="3" y="23"/>
                  </a:lnTo>
                  <a:lnTo>
                    <a:pt x="5" y="24"/>
                  </a:lnTo>
                  <a:lnTo>
                    <a:pt x="5" y="24"/>
                  </a:lnTo>
                  <a:lnTo>
                    <a:pt x="10" y="3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83" name="Freeform 143"/>
            <p:cNvSpPr>
              <a:spLocks noChangeAspect="1"/>
            </p:cNvSpPr>
            <p:nvPr/>
          </p:nvSpPr>
          <p:spPr bwMode="auto">
            <a:xfrm>
              <a:off x="1481" y="2981"/>
              <a:ext cx="22" cy="14"/>
            </a:xfrm>
            <a:custGeom>
              <a:avLst/>
              <a:gdLst/>
              <a:ahLst/>
              <a:cxnLst>
                <a:cxn ang="0">
                  <a:pos x="10" y="13"/>
                </a:cxn>
                <a:cxn ang="0">
                  <a:pos x="10" y="13"/>
                </a:cxn>
                <a:cxn ang="0">
                  <a:pos x="10" y="12"/>
                </a:cxn>
                <a:cxn ang="0">
                  <a:pos x="12" y="11"/>
                </a:cxn>
                <a:cxn ang="0">
                  <a:pos x="17" y="9"/>
                </a:cxn>
                <a:cxn ang="0">
                  <a:pos x="21" y="6"/>
                </a:cxn>
                <a:cxn ang="0">
                  <a:pos x="16" y="0"/>
                </a:cxn>
                <a:cxn ang="0">
                  <a:pos x="13" y="1"/>
                </a:cxn>
                <a:cxn ang="0">
                  <a:pos x="8" y="3"/>
                </a:cxn>
                <a:cxn ang="0">
                  <a:pos x="3" y="7"/>
                </a:cxn>
                <a:cxn ang="0">
                  <a:pos x="0" y="13"/>
                </a:cxn>
                <a:cxn ang="0">
                  <a:pos x="10" y="13"/>
                </a:cxn>
              </a:cxnLst>
              <a:rect l="0" t="0" r="r" b="b"/>
              <a:pathLst>
                <a:path w="22" h="14">
                  <a:moveTo>
                    <a:pt x="10" y="13"/>
                  </a:moveTo>
                  <a:lnTo>
                    <a:pt x="10" y="13"/>
                  </a:lnTo>
                  <a:lnTo>
                    <a:pt x="10" y="12"/>
                  </a:lnTo>
                  <a:lnTo>
                    <a:pt x="12" y="11"/>
                  </a:lnTo>
                  <a:lnTo>
                    <a:pt x="17" y="9"/>
                  </a:lnTo>
                  <a:lnTo>
                    <a:pt x="21" y="6"/>
                  </a:lnTo>
                  <a:lnTo>
                    <a:pt x="16" y="0"/>
                  </a:lnTo>
                  <a:lnTo>
                    <a:pt x="13" y="1"/>
                  </a:lnTo>
                  <a:lnTo>
                    <a:pt x="8" y="3"/>
                  </a:lnTo>
                  <a:lnTo>
                    <a:pt x="3" y="7"/>
                  </a:lnTo>
                  <a:lnTo>
                    <a:pt x="0" y="13"/>
                  </a:lnTo>
                  <a:lnTo>
                    <a:pt x="10" y="1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84" name="Freeform 144"/>
            <p:cNvSpPr>
              <a:spLocks noChangeAspect="1"/>
            </p:cNvSpPr>
            <p:nvPr/>
          </p:nvSpPr>
          <p:spPr bwMode="auto">
            <a:xfrm>
              <a:off x="1481" y="2993"/>
              <a:ext cx="11" cy="17"/>
            </a:xfrm>
            <a:custGeom>
              <a:avLst/>
              <a:gdLst/>
              <a:ahLst/>
              <a:cxnLst>
                <a:cxn ang="0">
                  <a:pos x="1" y="15"/>
                </a:cxn>
                <a:cxn ang="0">
                  <a:pos x="1" y="15"/>
                </a:cxn>
                <a:cxn ang="0">
                  <a:pos x="6" y="13"/>
                </a:cxn>
                <a:cxn ang="0">
                  <a:pos x="9" y="9"/>
                </a:cxn>
                <a:cxn ang="0">
                  <a:pos x="10" y="4"/>
                </a:cxn>
                <a:cxn ang="0">
                  <a:pos x="10" y="0"/>
                </a:cxn>
                <a:cxn ang="0">
                  <a:pos x="0" y="0"/>
                </a:cxn>
                <a:cxn ang="0">
                  <a:pos x="0" y="4"/>
                </a:cxn>
                <a:cxn ang="0">
                  <a:pos x="1" y="6"/>
                </a:cxn>
                <a:cxn ang="0">
                  <a:pos x="0" y="7"/>
                </a:cxn>
                <a:cxn ang="0">
                  <a:pos x="0" y="7"/>
                </a:cxn>
                <a:cxn ang="0">
                  <a:pos x="1" y="15"/>
                </a:cxn>
              </a:cxnLst>
              <a:rect l="0" t="0" r="r" b="b"/>
              <a:pathLst>
                <a:path w="11" h="16">
                  <a:moveTo>
                    <a:pt x="1" y="15"/>
                  </a:moveTo>
                  <a:lnTo>
                    <a:pt x="1" y="15"/>
                  </a:lnTo>
                  <a:lnTo>
                    <a:pt x="6" y="13"/>
                  </a:lnTo>
                  <a:lnTo>
                    <a:pt x="9" y="9"/>
                  </a:lnTo>
                  <a:lnTo>
                    <a:pt x="10" y="4"/>
                  </a:lnTo>
                  <a:lnTo>
                    <a:pt x="10" y="0"/>
                  </a:lnTo>
                  <a:lnTo>
                    <a:pt x="0" y="0"/>
                  </a:lnTo>
                  <a:lnTo>
                    <a:pt x="0" y="4"/>
                  </a:lnTo>
                  <a:lnTo>
                    <a:pt x="1" y="6"/>
                  </a:lnTo>
                  <a:lnTo>
                    <a:pt x="0" y="7"/>
                  </a:lnTo>
                  <a:lnTo>
                    <a:pt x="0" y="7"/>
                  </a:lnTo>
                  <a:lnTo>
                    <a:pt x="1" y="1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85" name="Freeform 145"/>
            <p:cNvSpPr>
              <a:spLocks noChangeAspect="1"/>
            </p:cNvSpPr>
            <p:nvPr/>
          </p:nvSpPr>
          <p:spPr bwMode="auto">
            <a:xfrm>
              <a:off x="1465" y="3001"/>
              <a:ext cx="19" cy="17"/>
            </a:xfrm>
            <a:custGeom>
              <a:avLst/>
              <a:gdLst/>
              <a:ahLst/>
              <a:cxnLst>
                <a:cxn ang="0">
                  <a:pos x="8" y="14"/>
                </a:cxn>
                <a:cxn ang="0">
                  <a:pos x="8" y="15"/>
                </a:cxn>
                <a:cxn ang="0">
                  <a:pos x="8" y="14"/>
                </a:cxn>
                <a:cxn ang="0">
                  <a:pos x="11" y="12"/>
                </a:cxn>
                <a:cxn ang="0">
                  <a:pos x="14" y="10"/>
                </a:cxn>
                <a:cxn ang="0">
                  <a:pos x="17" y="8"/>
                </a:cxn>
                <a:cxn ang="0">
                  <a:pos x="16" y="0"/>
                </a:cxn>
                <a:cxn ang="0">
                  <a:pos x="10" y="2"/>
                </a:cxn>
                <a:cxn ang="0">
                  <a:pos x="6" y="5"/>
                </a:cxn>
                <a:cxn ang="0">
                  <a:pos x="2" y="10"/>
                </a:cxn>
                <a:cxn ang="0">
                  <a:pos x="0" y="15"/>
                </a:cxn>
                <a:cxn ang="0">
                  <a:pos x="0" y="16"/>
                </a:cxn>
                <a:cxn ang="0">
                  <a:pos x="8" y="14"/>
                </a:cxn>
              </a:cxnLst>
              <a:rect l="0" t="0" r="r" b="b"/>
              <a:pathLst>
                <a:path w="18" h="17">
                  <a:moveTo>
                    <a:pt x="8" y="14"/>
                  </a:moveTo>
                  <a:lnTo>
                    <a:pt x="8" y="15"/>
                  </a:lnTo>
                  <a:lnTo>
                    <a:pt x="8" y="14"/>
                  </a:lnTo>
                  <a:lnTo>
                    <a:pt x="11" y="12"/>
                  </a:lnTo>
                  <a:lnTo>
                    <a:pt x="14" y="10"/>
                  </a:lnTo>
                  <a:lnTo>
                    <a:pt x="17" y="8"/>
                  </a:lnTo>
                  <a:lnTo>
                    <a:pt x="16" y="0"/>
                  </a:lnTo>
                  <a:lnTo>
                    <a:pt x="10" y="2"/>
                  </a:lnTo>
                  <a:lnTo>
                    <a:pt x="6" y="5"/>
                  </a:lnTo>
                  <a:lnTo>
                    <a:pt x="2" y="10"/>
                  </a:lnTo>
                  <a:lnTo>
                    <a:pt x="0" y="15"/>
                  </a:lnTo>
                  <a:lnTo>
                    <a:pt x="0" y="16"/>
                  </a:lnTo>
                  <a:lnTo>
                    <a:pt x="8" y="1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86" name="Freeform 146"/>
            <p:cNvSpPr>
              <a:spLocks noChangeAspect="1"/>
            </p:cNvSpPr>
            <p:nvPr/>
          </p:nvSpPr>
          <p:spPr bwMode="auto">
            <a:xfrm>
              <a:off x="1465" y="3015"/>
              <a:ext cx="19" cy="18"/>
            </a:xfrm>
            <a:custGeom>
              <a:avLst/>
              <a:gdLst/>
              <a:ahLst/>
              <a:cxnLst>
                <a:cxn ang="0">
                  <a:pos x="16" y="16"/>
                </a:cxn>
                <a:cxn ang="0">
                  <a:pos x="16" y="16"/>
                </a:cxn>
                <a:cxn ang="0">
                  <a:pos x="14" y="10"/>
                </a:cxn>
                <a:cxn ang="0">
                  <a:pos x="12" y="6"/>
                </a:cxn>
                <a:cxn ang="0">
                  <a:pos x="10" y="2"/>
                </a:cxn>
                <a:cxn ang="0">
                  <a:pos x="8" y="0"/>
                </a:cxn>
                <a:cxn ang="0">
                  <a:pos x="0" y="2"/>
                </a:cxn>
                <a:cxn ang="0">
                  <a:pos x="2" y="6"/>
                </a:cxn>
                <a:cxn ang="0">
                  <a:pos x="4" y="10"/>
                </a:cxn>
                <a:cxn ang="0">
                  <a:pos x="6" y="13"/>
                </a:cxn>
                <a:cxn ang="0">
                  <a:pos x="8" y="17"/>
                </a:cxn>
                <a:cxn ang="0">
                  <a:pos x="16" y="16"/>
                </a:cxn>
              </a:cxnLst>
              <a:rect l="0" t="0" r="r" b="b"/>
              <a:pathLst>
                <a:path w="17" h="18">
                  <a:moveTo>
                    <a:pt x="16" y="16"/>
                  </a:moveTo>
                  <a:lnTo>
                    <a:pt x="16" y="16"/>
                  </a:lnTo>
                  <a:lnTo>
                    <a:pt x="14" y="10"/>
                  </a:lnTo>
                  <a:lnTo>
                    <a:pt x="12" y="6"/>
                  </a:lnTo>
                  <a:lnTo>
                    <a:pt x="10" y="2"/>
                  </a:lnTo>
                  <a:lnTo>
                    <a:pt x="8" y="0"/>
                  </a:lnTo>
                  <a:lnTo>
                    <a:pt x="0" y="2"/>
                  </a:lnTo>
                  <a:lnTo>
                    <a:pt x="2" y="6"/>
                  </a:lnTo>
                  <a:lnTo>
                    <a:pt x="4" y="10"/>
                  </a:lnTo>
                  <a:lnTo>
                    <a:pt x="6" y="13"/>
                  </a:lnTo>
                  <a:lnTo>
                    <a:pt x="8" y="17"/>
                  </a:lnTo>
                  <a:lnTo>
                    <a:pt x="16" y="1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87" name="Freeform 147"/>
            <p:cNvSpPr>
              <a:spLocks noChangeAspect="1"/>
            </p:cNvSpPr>
            <p:nvPr/>
          </p:nvSpPr>
          <p:spPr bwMode="auto">
            <a:xfrm>
              <a:off x="1474" y="3031"/>
              <a:ext cx="10" cy="17"/>
            </a:xfrm>
            <a:custGeom>
              <a:avLst/>
              <a:gdLst/>
              <a:ahLst/>
              <a:cxnLst>
                <a:cxn ang="0">
                  <a:pos x="8" y="16"/>
                </a:cxn>
                <a:cxn ang="0">
                  <a:pos x="8" y="16"/>
                </a:cxn>
                <a:cxn ang="0">
                  <a:pos x="9" y="10"/>
                </a:cxn>
                <a:cxn ang="0">
                  <a:pos x="10" y="7"/>
                </a:cxn>
                <a:cxn ang="0">
                  <a:pos x="9" y="4"/>
                </a:cxn>
                <a:cxn ang="0">
                  <a:pos x="8" y="0"/>
                </a:cxn>
                <a:cxn ang="0">
                  <a:pos x="0" y="1"/>
                </a:cxn>
                <a:cxn ang="0">
                  <a:pos x="1" y="5"/>
                </a:cxn>
                <a:cxn ang="0">
                  <a:pos x="0" y="7"/>
                </a:cxn>
                <a:cxn ang="0">
                  <a:pos x="1" y="10"/>
                </a:cxn>
                <a:cxn ang="0">
                  <a:pos x="0" y="16"/>
                </a:cxn>
                <a:cxn ang="0">
                  <a:pos x="0" y="15"/>
                </a:cxn>
                <a:cxn ang="0">
                  <a:pos x="8" y="16"/>
                </a:cxn>
              </a:cxnLst>
              <a:rect l="0" t="0" r="r" b="b"/>
              <a:pathLst>
                <a:path w="11" h="17">
                  <a:moveTo>
                    <a:pt x="8" y="16"/>
                  </a:moveTo>
                  <a:lnTo>
                    <a:pt x="8" y="16"/>
                  </a:lnTo>
                  <a:lnTo>
                    <a:pt x="9" y="10"/>
                  </a:lnTo>
                  <a:lnTo>
                    <a:pt x="10" y="7"/>
                  </a:lnTo>
                  <a:lnTo>
                    <a:pt x="9" y="4"/>
                  </a:lnTo>
                  <a:lnTo>
                    <a:pt x="8" y="0"/>
                  </a:lnTo>
                  <a:lnTo>
                    <a:pt x="0" y="1"/>
                  </a:lnTo>
                  <a:lnTo>
                    <a:pt x="1" y="5"/>
                  </a:lnTo>
                  <a:lnTo>
                    <a:pt x="0" y="7"/>
                  </a:lnTo>
                  <a:lnTo>
                    <a:pt x="1" y="10"/>
                  </a:lnTo>
                  <a:lnTo>
                    <a:pt x="0" y="16"/>
                  </a:lnTo>
                  <a:lnTo>
                    <a:pt x="0" y="15"/>
                  </a:lnTo>
                  <a:lnTo>
                    <a:pt x="8" y="1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88" name="Freeform 148"/>
            <p:cNvSpPr>
              <a:spLocks noChangeAspect="1"/>
            </p:cNvSpPr>
            <p:nvPr/>
          </p:nvSpPr>
          <p:spPr bwMode="auto">
            <a:xfrm>
              <a:off x="1472" y="3046"/>
              <a:ext cx="11" cy="39"/>
            </a:xfrm>
            <a:custGeom>
              <a:avLst/>
              <a:gdLst/>
              <a:ahLst/>
              <a:cxnLst>
                <a:cxn ang="0">
                  <a:pos x="13" y="29"/>
                </a:cxn>
                <a:cxn ang="0">
                  <a:pos x="13" y="28"/>
                </a:cxn>
                <a:cxn ang="0">
                  <a:pos x="11" y="26"/>
                </a:cxn>
                <a:cxn ang="0">
                  <a:pos x="10" y="18"/>
                </a:cxn>
                <a:cxn ang="0">
                  <a:pos x="9" y="9"/>
                </a:cxn>
                <a:cxn ang="0">
                  <a:pos x="9" y="2"/>
                </a:cxn>
                <a:cxn ang="0">
                  <a:pos x="1" y="0"/>
                </a:cxn>
                <a:cxn ang="0">
                  <a:pos x="0" y="9"/>
                </a:cxn>
                <a:cxn ang="0">
                  <a:pos x="2" y="19"/>
                </a:cxn>
                <a:cxn ang="0">
                  <a:pos x="3" y="28"/>
                </a:cxn>
                <a:cxn ang="0">
                  <a:pos x="7" y="35"/>
                </a:cxn>
                <a:cxn ang="0">
                  <a:pos x="7" y="34"/>
                </a:cxn>
                <a:cxn ang="0">
                  <a:pos x="13" y="29"/>
                </a:cxn>
              </a:cxnLst>
              <a:rect l="0" t="0" r="r" b="b"/>
              <a:pathLst>
                <a:path w="14" h="36">
                  <a:moveTo>
                    <a:pt x="13" y="29"/>
                  </a:moveTo>
                  <a:lnTo>
                    <a:pt x="13" y="28"/>
                  </a:lnTo>
                  <a:lnTo>
                    <a:pt x="11" y="26"/>
                  </a:lnTo>
                  <a:lnTo>
                    <a:pt x="10" y="18"/>
                  </a:lnTo>
                  <a:lnTo>
                    <a:pt x="9" y="9"/>
                  </a:lnTo>
                  <a:lnTo>
                    <a:pt x="9" y="2"/>
                  </a:lnTo>
                  <a:lnTo>
                    <a:pt x="1" y="0"/>
                  </a:lnTo>
                  <a:lnTo>
                    <a:pt x="0" y="9"/>
                  </a:lnTo>
                  <a:lnTo>
                    <a:pt x="2" y="19"/>
                  </a:lnTo>
                  <a:lnTo>
                    <a:pt x="3" y="28"/>
                  </a:lnTo>
                  <a:lnTo>
                    <a:pt x="7" y="35"/>
                  </a:lnTo>
                  <a:lnTo>
                    <a:pt x="7" y="34"/>
                  </a:lnTo>
                  <a:lnTo>
                    <a:pt x="13" y="2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89" name="Freeform 149"/>
            <p:cNvSpPr>
              <a:spLocks noChangeAspect="1"/>
            </p:cNvSpPr>
            <p:nvPr/>
          </p:nvSpPr>
          <p:spPr bwMode="auto">
            <a:xfrm>
              <a:off x="1479" y="3075"/>
              <a:ext cx="16" cy="15"/>
            </a:xfrm>
            <a:custGeom>
              <a:avLst/>
              <a:gdLst/>
              <a:ahLst/>
              <a:cxnLst>
                <a:cxn ang="0">
                  <a:pos x="15" y="5"/>
                </a:cxn>
                <a:cxn ang="0">
                  <a:pos x="15" y="5"/>
                </a:cxn>
                <a:cxn ang="0">
                  <a:pos x="14" y="5"/>
                </a:cxn>
                <a:cxn ang="0">
                  <a:pos x="11" y="4"/>
                </a:cxn>
                <a:cxn ang="0">
                  <a:pos x="8" y="2"/>
                </a:cxn>
                <a:cxn ang="0">
                  <a:pos x="6" y="0"/>
                </a:cxn>
                <a:cxn ang="0">
                  <a:pos x="0" y="5"/>
                </a:cxn>
                <a:cxn ang="0">
                  <a:pos x="3" y="8"/>
                </a:cxn>
                <a:cxn ang="0">
                  <a:pos x="7" y="10"/>
                </a:cxn>
                <a:cxn ang="0">
                  <a:pos x="11" y="13"/>
                </a:cxn>
                <a:cxn ang="0">
                  <a:pos x="15" y="14"/>
                </a:cxn>
                <a:cxn ang="0">
                  <a:pos x="15" y="5"/>
                </a:cxn>
              </a:cxnLst>
              <a:rect l="0" t="0" r="r" b="b"/>
              <a:pathLst>
                <a:path w="16" h="15">
                  <a:moveTo>
                    <a:pt x="15" y="5"/>
                  </a:moveTo>
                  <a:lnTo>
                    <a:pt x="15" y="5"/>
                  </a:lnTo>
                  <a:lnTo>
                    <a:pt x="14" y="5"/>
                  </a:lnTo>
                  <a:lnTo>
                    <a:pt x="11" y="4"/>
                  </a:lnTo>
                  <a:lnTo>
                    <a:pt x="8" y="2"/>
                  </a:lnTo>
                  <a:lnTo>
                    <a:pt x="6" y="0"/>
                  </a:lnTo>
                  <a:lnTo>
                    <a:pt x="0" y="5"/>
                  </a:lnTo>
                  <a:lnTo>
                    <a:pt x="3" y="8"/>
                  </a:lnTo>
                  <a:lnTo>
                    <a:pt x="7" y="10"/>
                  </a:lnTo>
                  <a:lnTo>
                    <a:pt x="11" y="13"/>
                  </a:lnTo>
                  <a:lnTo>
                    <a:pt x="15" y="14"/>
                  </a:lnTo>
                  <a:lnTo>
                    <a:pt x="15"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90" name="Freeform 150"/>
            <p:cNvSpPr>
              <a:spLocks noChangeAspect="1"/>
            </p:cNvSpPr>
            <p:nvPr/>
          </p:nvSpPr>
          <p:spPr bwMode="auto">
            <a:xfrm>
              <a:off x="1493" y="3079"/>
              <a:ext cx="22" cy="8"/>
            </a:xfrm>
            <a:custGeom>
              <a:avLst/>
              <a:gdLst/>
              <a:ahLst/>
              <a:cxnLst>
                <a:cxn ang="0">
                  <a:pos x="23" y="6"/>
                </a:cxn>
                <a:cxn ang="0">
                  <a:pos x="23" y="6"/>
                </a:cxn>
                <a:cxn ang="0">
                  <a:pos x="17" y="1"/>
                </a:cxn>
                <a:cxn ang="0">
                  <a:pos x="10" y="0"/>
                </a:cxn>
                <a:cxn ang="0">
                  <a:pos x="4" y="0"/>
                </a:cxn>
                <a:cxn ang="0">
                  <a:pos x="0" y="0"/>
                </a:cxn>
                <a:cxn ang="0">
                  <a:pos x="0" y="10"/>
                </a:cxn>
                <a:cxn ang="0">
                  <a:pos x="4" y="8"/>
                </a:cxn>
                <a:cxn ang="0">
                  <a:pos x="10" y="9"/>
                </a:cxn>
                <a:cxn ang="0">
                  <a:pos x="15" y="9"/>
                </a:cxn>
                <a:cxn ang="0">
                  <a:pos x="15" y="9"/>
                </a:cxn>
                <a:cxn ang="0">
                  <a:pos x="15" y="10"/>
                </a:cxn>
                <a:cxn ang="0">
                  <a:pos x="23" y="6"/>
                </a:cxn>
              </a:cxnLst>
              <a:rect l="0" t="0" r="r" b="b"/>
              <a:pathLst>
                <a:path w="24" h="11">
                  <a:moveTo>
                    <a:pt x="23" y="6"/>
                  </a:moveTo>
                  <a:lnTo>
                    <a:pt x="23" y="6"/>
                  </a:lnTo>
                  <a:lnTo>
                    <a:pt x="17" y="1"/>
                  </a:lnTo>
                  <a:lnTo>
                    <a:pt x="10" y="0"/>
                  </a:lnTo>
                  <a:lnTo>
                    <a:pt x="4" y="0"/>
                  </a:lnTo>
                  <a:lnTo>
                    <a:pt x="0" y="0"/>
                  </a:lnTo>
                  <a:lnTo>
                    <a:pt x="0" y="10"/>
                  </a:lnTo>
                  <a:lnTo>
                    <a:pt x="4" y="8"/>
                  </a:lnTo>
                  <a:lnTo>
                    <a:pt x="10" y="9"/>
                  </a:lnTo>
                  <a:lnTo>
                    <a:pt x="15" y="9"/>
                  </a:lnTo>
                  <a:lnTo>
                    <a:pt x="15" y="9"/>
                  </a:lnTo>
                  <a:lnTo>
                    <a:pt x="15" y="10"/>
                  </a:lnTo>
                  <a:lnTo>
                    <a:pt x="23" y="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91" name="Freeform 151"/>
            <p:cNvSpPr>
              <a:spLocks noChangeAspect="1"/>
            </p:cNvSpPr>
            <p:nvPr/>
          </p:nvSpPr>
          <p:spPr bwMode="auto">
            <a:xfrm>
              <a:off x="1509" y="3083"/>
              <a:ext cx="18" cy="13"/>
            </a:xfrm>
            <a:custGeom>
              <a:avLst/>
              <a:gdLst/>
              <a:ahLst/>
              <a:cxnLst>
                <a:cxn ang="0">
                  <a:pos x="10" y="0"/>
                </a:cxn>
                <a:cxn ang="0">
                  <a:pos x="10" y="1"/>
                </a:cxn>
                <a:cxn ang="0">
                  <a:pos x="8" y="3"/>
                </a:cxn>
                <a:cxn ang="0">
                  <a:pos x="8" y="3"/>
                </a:cxn>
                <a:cxn ang="0">
                  <a:pos x="9" y="3"/>
                </a:cxn>
                <a:cxn ang="0">
                  <a:pos x="8" y="2"/>
                </a:cxn>
                <a:cxn ang="0">
                  <a:pos x="0" y="7"/>
                </a:cxn>
                <a:cxn ang="0">
                  <a:pos x="4" y="11"/>
                </a:cxn>
                <a:cxn ang="0">
                  <a:pos x="8" y="12"/>
                </a:cxn>
                <a:cxn ang="0">
                  <a:pos x="14" y="10"/>
                </a:cxn>
                <a:cxn ang="0">
                  <a:pos x="17" y="5"/>
                </a:cxn>
                <a:cxn ang="0">
                  <a:pos x="17" y="5"/>
                </a:cxn>
                <a:cxn ang="0">
                  <a:pos x="10" y="0"/>
                </a:cxn>
              </a:cxnLst>
              <a:rect l="0" t="0" r="r" b="b"/>
              <a:pathLst>
                <a:path w="18" h="13">
                  <a:moveTo>
                    <a:pt x="10" y="0"/>
                  </a:moveTo>
                  <a:lnTo>
                    <a:pt x="10" y="1"/>
                  </a:lnTo>
                  <a:lnTo>
                    <a:pt x="8" y="3"/>
                  </a:lnTo>
                  <a:lnTo>
                    <a:pt x="8" y="3"/>
                  </a:lnTo>
                  <a:lnTo>
                    <a:pt x="9" y="3"/>
                  </a:lnTo>
                  <a:lnTo>
                    <a:pt x="8" y="2"/>
                  </a:lnTo>
                  <a:lnTo>
                    <a:pt x="0" y="7"/>
                  </a:lnTo>
                  <a:lnTo>
                    <a:pt x="4" y="11"/>
                  </a:lnTo>
                  <a:lnTo>
                    <a:pt x="8" y="12"/>
                  </a:lnTo>
                  <a:lnTo>
                    <a:pt x="14" y="10"/>
                  </a:lnTo>
                  <a:lnTo>
                    <a:pt x="17" y="5"/>
                  </a:lnTo>
                  <a:lnTo>
                    <a:pt x="17" y="5"/>
                  </a:lnTo>
                  <a:lnTo>
                    <a:pt x="10"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92" name="Freeform 152"/>
            <p:cNvSpPr>
              <a:spLocks noChangeAspect="1"/>
            </p:cNvSpPr>
            <p:nvPr/>
          </p:nvSpPr>
          <p:spPr bwMode="auto">
            <a:xfrm>
              <a:off x="1519" y="3063"/>
              <a:ext cx="20" cy="27"/>
            </a:xfrm>
            <a:custGeom>
              <a:avLst/>
              <a:gdLst/>
              <a:ahLst/>
              <a:cxnLst>
                <a:cxn ang="0">
                  <a:pos x="19" y="1"/>
                </a:cxn>
                <a:cxn ang="0">
                  <a:pos x="19" y="0"/>
                </a:cxn>
                <a:cxn ang="0">
                  <a:pos x="12" y="3"/>
                </a:cxn>
                <a:cxn ang="0">
                  <a:pos x="7" y="9"/>
                </a:cxn>
                <a:cxn ang="0">
                  <a:pos x="3" y="16"/>
                </a:cxn>
                <a:cxn ang="0">
                  <a:pos x="0" y="21"/>
                </a:cxn>
                <a:cxn ang="0">
                  <a:pos x="7" y="26"/>
                </a:cxn>
                <a:cxn ang="0">
                  <a:pos x="11" y="20"/>
                </a:cxn>
                <a:cxn ang="0">
                  <a:pos x="14" y="14"/>
                </a:cxn>
                <a:cxn ang="0">
                  <a:pos x="17" y="10"/>
                </a:cxn>
                <a:cxn ang="0">
                  <a:pos x="19" y="9"/>
                </a:cxn>
                <a:cxn ang="0">
                  <a:pos x="19" y="9"/>
                </a:cxn>
                <a:cxn ang="0">
                  <a:pos x="19" y="1"/>
                </a:cxn>
              </a:cxnLst>
              <a:rect l="0" t="0" r="r" b="b"/>
              <a:pathLst>
                <a:path w="20" h="27">
                  <a:moveTo>
                    <a:pt x="19" y="1"/>
                  </a:moveTo>
                  <a:lnTo>
                    <a:pt x="19" y="0"/>
                  </a:lnTo>
                  <a:lnTo>
                    <a:pt x="12" y="3"/>
                  </a:lnTo>
                  <a:lnTo>
                    <a:pt x="7" y="9"/>
                  </a:lnTo>
                  <a:lnTo>
                    <a:pt x="3" y="16"/>
                  </a:lnTo>
                  <a:lnTo>
                    <a:pt x="0" y="21"/>
                  </a:lnTo>
                  <a:lnTo>
                    <a:pt x="7" y="26"/>
                  </a:lnTo>
                  <a:lnTo>
                    <a:pt x="11" y="20"/>
                  </a:lnTo>
                  <a:lnTo>
                    <a:pt x="14" y="14"/>
                  </a:lnTo>
                  <a:lnTo>
                    <a:pt x="17" y="10"/>
                  </a:lnTo>
                  <a:lnTo>
                    <a:pt x="19" y="9"/>
                  </a:lnTo>
                  <a:lnTo>
                    <a:pt x="19" y="9"/>
                  </a:lnTo>
                  <a:lnTo>
                    <a:pt x="19"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93" name="Freeform 153"/>
            <p:cNvSpPr>
              <a:spLocks noChangeAspect="1"/>
            </p:cNvSpPr>
            <p:nvPr/>
          </p:nvSpPr>
          <p:spPr bwMode="auto">
            <a:xfrm>
              <a:off x="1538" y="3060"/>
              <a:ext cx="19" cy="13"/>
            </a:xfrm>
            <a:custGeom>
              <a:avLst/>
              <a:gdLst/>
              <a:ahLst/>
              <a:cxnLst>
                <a:cxn ang="0">
                  <a:pos x="16" y="0"/>
                </a:cxn>
                <a:cxn ang="0">
                  <a:pos x="16" y="0"/>
                </a:cxn>
                <a:cxn ang="0">
                  <a:pos x="9" y="2"/>
                </a:cxn>
                <a:cxn ang="0">
                  <a:pos x="5" y="2"/>
                </a:cxn>
                <a:cxn ang="0">
                  <a:pos x="3" y="3"/>
                </a:cxn>
                <a:cxn ang="0">
                  <a:pos x="0" y="4"/>
                </a:cxn>
                <a:cxn ang="0">
                  <a:pos x="0" y="12"/>
                </a:cxn>
                <a:cxn ang="0">
                  <a:pos x="4" y="11"/>
                </a:cxn>
                <a:cxn ang="0">
                  <a:pos x="7" y="10"/>
                </a:cxn>
                <a:cxn ang="0">
                  <a:pos x="10" y="10"/>
                </a:cxn>
                <a:cxn ang="0">
                  <a:pos x="18" y="8"/>
                </a:cxn>
                <a:cxn ang="0">
                  <a:pos x="16" y="0"/>
                </a:cxn>
              </a:cxnLst>
              <a:rect l="0" t="0" r="r" b="b"/>
              <a:pathLst>
                <a:path w="19" h="13">
                  <a:moveTo>
                    <a:pt x="16" y="0"/>
                  </a:moveTo>
                  <a:lnTo>
                    <a:pt x="16" y="0"/>
                  </a:lnTo>
                  <a:lnTo>
                    <a:pt x="9" y="2"/>
                  </a:lnTo>
                  <a:lnTo>
                    <a:pt x="5" y="2"/>
                  </a:lnTo>
                  <a:lnTo>
                    <a:pt x="3" y="3"/>
                  </a:lnTo>
                  <a:lnTo>
                    <a:pt x="0" y="4"/>
                  </a:lnTo>
                  <a:lnTo>
                    <a:pt x="0" y="12"/>
                  </a:lnTo>
                  <a:lnTo>
                    <a:pt x="4" y="11"/>
                  </a:lnTo>
                  <a:lnTo>
                    <a:pt x="7" y="10"/>
                  </a:lnTo>
                  <a:lnTo>
                    <a:pt x="10" y="10"/>
                  </a:lnTo>
                  <a:lnTo>
                    <a:pt x="18" y="8"/>
                  </a:lnTo>
                  <a:lnTo>
                    <a:pt x="16"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94" name="Freeform 154"/>
            <p:cNvSpPr>
              <a:spLocks noChangeAspect="1"/>
            </p:cNvSpPr>
            <p:nvPr/>
          </p:nvSpPr>
          <p:spPr bwMode="auto">
            <a:xfrm>
              <a:off x="1555" y="3044"/>
              <a:ext cx="33" cy="25"/>
            </a:xfrm>
            <a:custGeom>
              <a:avLst/>
              <a:gdLst/>
              <a:ahLst/>
              <a:cxnLst>
                <a:cxn ang="0">
                  <a:pos x="24" y="1"/>
                </a:cxn>
                <a:cxn ang="0">
                  <a:pos x="24" y="0"/>
                </a:cxn>
                <a:cxn ang="0">
                  <a:pos x="23" y="1"/>
                </a:cxn>
                <a:cxn ang="0">
                  <a:pos x="22" y="3"/>
                </a:cxn>
                <a:cxn ang="0">
                  <a:pos x="19" y="5"/>
                </a:cxn>
                <a:cxn ang="0">
                  <a:pos x="16" y="8"/>
                </a:cxn>
                <a:cxn ang="0">
                  <a:pos x="13" y="10"/>
                </a:cxn>
                <a:cxn ang="0">
                  <a:pos x="9" y="12"/>
                </a:cxn>
                <a:cxn ang="0">
                  <a:pos x="5" y="14"/>
                </a:cxn>
                <a:cxn ang="0">
                  <a:pos x="0" y="16"/>
                </a:cxn>
                <a:cxn ang="0">
                  <a:pos x="1" y="24"/>
                </a:cxn>
                <a:cxn ang="0">
                  <a:pos x="7" y="22"/>
                </a:cxn>
                <a:cxn ang="0">
                  <a:pos x="12" y="20"/>
                </a:cxn>
                <a:cxn ang="0">
                  <a:pos x="17" y="18"/>
                </a:cxn>
                <a:cxn ang="0">
                  <a:pos x="21" y="14"/>
                </a:cxn>
                <a:cxn ang="0">
                  <a:pos x="25" y="12"/>
                </a:cxn>
                <a:cxn ang="0">
                  <a:pos x="27" y="8"/>
                </a:cxn>
                <a:cxn ang="0">
                  <a:pos x="30" y="6"/>
                </a:cxn>
                <a:cxn ang="0">
                  <a:pos x="32" y="4"/>
                </a:cxn>
                <a:cxn ang="0">
                  <a:pos x="32" y="3"/>
                </a:cxn>
                <a:cxn ang="0">
                  <a:pos x="24" y="1"/>
                </a:cxn>
              </a:cxnLst>
              <a:rect l="0" t="0" r="r" b="b"/>
              <a:pathLst>
                <a:path w="33" h="25">
                  <a:moveTo>
                    <a:pt x="24" y="1"/>
                  </a:moveTo>
                  <a:lnTo>
                    <a:pt x="24" y="0"/>
                  </a:lnTo>
                  <a:lnTo>
                    <a:pt x="23" y="1"/>
                  </a:lnTo>
                  <a:lnTo>
                    <a:pt x="22" y="3"/>
                  </a:lnTo>
                  <a:lnTo>
                    <a:pt x="19" y="5"/>
                  </a:lnTo>
                  <a:lnTo>
                    <a:pt x="16" y="8"/>
                  </a:lnTo>
                  <a:lnTo>
                    <a:pt x="13" y="10"/>
                  </a:lnTo>
                  <a:lnTo>
                    <a:pt x="9" y="12"/>
                  </a:lnTo>
                  <a:lnTo>
                    <a:pt x="5" y="14"/>
                  </a:lnTo>
                  <a:lnTo>
                    <a:pt x="0" y="16"/>
                  </a:lnTo>
                  <a:lnTo>
                    <a:pt x="1" y="24"/>
                  </a:lnTo>
                  <a:lnTo>
                    <a:pt x="7" y="22"/>
                  </a:lnTo>
                  <a:lnTo>
                    <a:pt x="12" y="20"/>
                  </a:lnTo>
                  <a:lnTo>
                    <a:pt x="17" y="18"/>
                  </a:lnTo>
                  <a:lnTo>
                    <a:pt x="21" y="14"/>
                  </a:lnTo>
                  <a:lnTo>
                    <a:pt x="25" y="12"/>
                  </a:lnTo>
                  <a:lnTo>
                    <a:pt x="27" y="8"/>
                  </a:lnTo>
                  <a:lnTo>
                    <a:pt x="30" y="6"/>
                  </a:lnTo>
                  <a:lnTo>
                    <a:pt x="32" y="4"/>
                  </a:lnTo>
                  <a:lnTo>
                    <a:pt x="32" y="3"/>
                  </a:lnTo>
                  <a:lnTo>
                    <a:pt x="24"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95" name="Freeform 155"/>
            <p:cNvSpPr>
              <a:spLocks noChangeAspect="1"/>
            </p:cNvSpPr>
            <p:nvPr/>
          </p:nvSpPr>
          <p:spPr bwMode="auto">
            <a:xfrm>
              <a:off x="1579" y="3033"/>
              <a:ext cx="19" cy="15"/>
            </a:xfrm>
            <a:custGeom>
              <a:avLst/>
              <a:gdLst/>
              <a:ahLst/>
              <a:cxnLst>
                <a:cxn ang="0">
                  <a:pos x="10" y="0"/>
                </a:cxn>
                <a:cxn ang="0">
                  <a:pos x="10" y="0"/>
                </a:cxn>
                <a:cxn ang="0">
                  <a:pos x="9" y="1"/>
                </a:cxn>
                <a:cxn ang="0">
                  <a:pos x="7" y="3"/>
                </a:cxn>
                <a:cxn ang="0">
                  <a:pos x="4" y="6"/>
                </a:cxn>
                <a:cxn ang="0">
                  <a:pos x="0" y="11"/>
                </a:cxn>
                <a:cxn ang="0">
                  <a:pos x="8" y="14"/>
                </a:cxn>
                <a:cxn ang="0">
                  <a:pos x="9" y="12"/>
                </a:cxn>
                <a:cxn ang="0">
                  <a:pos x="12" y="10"/>
                </a:cxn>
                <a:cxn ang="0">
                  <a:pos x="16" y="6"/>
                </a:cxn>
                <a:cxn ang="0">
                  <a:pos x="18" y="2"/>
                </a:cxn>
                <a:cxn ang="0">
                  <a:pos x="18" y="2"/>
                </a:cxn>
                <a:cxn ang="0">
                  <a:pos x="10" y="0"/>
                </a:cxn>
              </a:cxnLst>
              <a:rect l="0" t="0" r="r" b="b"/>
              <a:pathLst>
                <a:path w="19" h="15">
                  <a:moveTo>
                    <a:pt x="10" y="0"/>
                  </a:moveTo>
                  <a:lnTo>
                    <a:pt x="10" y="0"/>
                  </a:lnTo>
                  <a:lnTo>
                    <a:pt x="9" y="1"/>
                  </a:lnTo>
                  <a:lnTo>
                    <a:pt x="7" y="3"/>
                  </a:lnTo>
                  <a:lnTo>
                    <a:pt x="4" y="6"/>
                  </a:lnTo>
                  <a:lnTo>
                    <a:pt x="0" y="11"/>
                  </a:lnTo>
                  <a:lnTo>
                    <a:pt x="8" y="14"/>
                  </a:lnTo>
                  <a:lnTo>
                    <a:pt x="9" y="12"/>
                  </a:lnTo>
                  <a:lnTo>
                    <a:pt x="12" y="10"/>
                  </a:lnTo>
                  <a:lnTo>
                    <a:pt x="16" y="6"/>
                  </a:lnTo>
                  <a:lnTo>
                    <a:pt x="18" y="2"/>
                  </a:lnTo>
                  <a:lnTo>
                    <a:pt x="18" y="2"/>
                  </a:lnTo>
                  <a:lnTo>
                    <a:pt x="10"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96" name="Freeform 156"/>
            <p:cNvSpPr>
              <a:spLocks noChangeAspect="1"/>
            </p:cNvSpPr>
            <p:nvPr/>
          </p:nvSpPr>
          <p:spPr bwMode="auto">
            <a:xfrm>
              <a:off x="1589" y="3021"/>
              <a:ext cx="10" cy="19"/>
            </a:xfrm>
            <a:custGeom>
              <a:avLst/>
              <a:gdLst/>
              <a:ahLst/>
              <a:cxnLst>
                <a:cxn ang="0">
                  <a:pos x="1" y="8"/>
                </a:cxn>
                <a:cxn ang="0">
                  <a:pos x="1" y="8"/>
                </a:cxn>
                <a:cxn ang="0">
                  <a:pos x="1" y="7"/>
                </a:cxn>
                <a:cxn ang="0">
                  <a:pos x="1" y="8"/>
                </a:cxn>
                <a:cxn ang="0">
                  <a:pos x="1" y="11"/>
                </a:cxn>
                <a:cxn ang="0">
                  <a:pos x="0" y="12"/>
                </a:cxn>
                <a:cxn ang="0">
                  <a:pos x="8" y="15"/>
                </a:cxn>
                <a:cxn ang="0">
                  <a:pos x="9" y="11"/>
                </a:cxn>
                <a:cxn ang="0">
                  <a:pos x="9" y="8"/>
                </a:cxn>
                <a:cxn ang="0">
                  <a:pos x="7" y="3"/>
                </a:cxn>
                <a:cxn ang="0">
                  <a:pos x="3" y="0"/>
                </a:cxn>
                <a:cxn ang="0">
                  <a:pos x="3" y="0"/>
                </a:cxn>
                <a:cxn ang="0">
                  <a:pos x="1" y="8"/>
                </a:cxn>
              </a:cxnLst>
              <a:rect l="0" t="0" r="r" b="b"/>
              <a:pathLst>
                <a:path w="10" h="16">
                  <a:moveTo>
                    <a:pt x="1" y="8"/>
                  </a:moveTo>
                  <a:lnTo>
                    <a:pt x="1" y="8"/>
                  </a:lnTo>
                  <a:lnTo>
                    <a:pt x="1" y="7"/>
                  </a:lnTo>
                  <a:lnTo>
                    <a:pt x="1" y="8"/>
                  </a:lnTo>
                  <a:lnTo>
                    <a:pt x="1" y="11"/>
                  </a:lnTo>
                  <a:lnTo>
                    <a:pt x="0" y="12"/>
                  </a:lnTo>
                  <a:lnTo>
                    <a:pt x="8" y="15"/>
                  </a:lnTo>
                  <a:lnTo>
                    <a:pt x="9" y="11"/>
                  </a:lnTo>
                  <a:lnTo>
                    <a:pt x="9" y="8"/>
                  </a:lnTo>
                  <a:lnTo>
                    <a:pt x="7" y="3"/>
                  </a:lnTo>
                  <a:lnTo>
                    <a:pt x="3" y="0"/>
                  </a:lnTo>
                  <a:lnTo>
                    <a:pt x="3" y="0"/>
                  </a:lnTo>
                  <a:lnTo>
                    <a:pt x="1"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97" name="Freeform 157"/>
            <p:cNvSpPr>
              <a:spLocks noChangeAspect="1"/>
            </p:cNvSpPr>
            <p:nvPr/>
          </p:nvSpPr>
          <p:spPr bwMode="auto">
            <a:xfrm>
              <a:off x="1575" y="3019"/>
              <a:ext cx="19" cy="14"/>
            </a:xfrm>
            <a:custGeom>
              <a:avLst/>
              <a:gdLst/>
              <a:ahLst/>
              <a:cxnLst>
                <a:cxn ang="0">
                  <a:pos x="0" y="2"/>
                </a:cxn>
                <a:cxn ang="0">
                  <a:pos x="0" y="1"/>
                </a:cxn>
                <a:cxn ang="0">
                  <a:pos x="3" y="8"/>
                </a:cxn>
                <a:cxn ang="0">
                  <a:pos x="10" y="9"/>
                </a:cxn>
                <a:cxn ang="0">
                  <a:pos x="13" y="9"/>
                </a:cxn>
                <a:cxn ang="0">
                  <a:pos x="15" y="10"/>
                </a:cxn>
                <a:cxn ang="0">
                  <a:pos x="18" y="2"/>
                </a:cxn>
                <a:cxn ang="0">
                  <a:pos x="13" y="1"/>
                </a:cxn>
                <a:cxn ang="0">
                  <a:pos x="10" y="1"/>
                </a:cxn>
                <a:cxn ang="0">
                  <a:pos x="9" y="1"/>
                </a:cxn>
                <a:cxn ang="0">
                  <a:pos x="8" y="1"/>
                </a:cxn>
                <a:cxn ang="0">
                  <a:pos x="8" y="0"/>
                </a:cxn>
                <a:cxn ang="0">
                  <a:pos x="0" y="2"/>
                </a:cxn>
              </a:cxnLst>
              <a:rect l="0" t="0" r="r" b="b"/>
              <a:pathLst>
                <a:path w="19" h="11">
                  <a:moveTo>
                    <a:pt x="0" y="2"/>
                  </a:moveTo>
                  <a:lnTo>
                    <a:pt x="0" y="1"/>
                  </a:lnTo>
                  <a:lnTo>
                    <a:pt x="3" y="8"/>
                  </a:lnTo>
                  <a:lnTo>
                    <a:pt x="10" y="9"/>
                  </a:lnTo>
                  <a:lnTo>
                    <a:pt x="13" y="9"/>
                  </a:lnTo>
                  <a:lnTo>
                    <a:pt x="15" y="10"/>
                  </a:lnTo>
                  <a:lnTo>
                    <a:pt x="18" y="2"/>
                  </a:lnTo>
                  <a:lnTo>
                    <a:pt x="13" y="1"/>
                  </a:lnTo>
                  <a:lnTo>
                    <a:pt x="10" y="1"/>
                  </a:lnTo>
                  <a:lnTo>
                    <a:pt x="9" y="1"/>
                  </a:lnTo>
                  <a:lnTo>
                    <a:pt x="8" y="1"/>
                  </a:lnTo>
                  <a:lnTo>
                    <a:pt x="8" y="0"/>
                  </a:lnTo>
                  <a:lnTo>
                    <a:pt x="0"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98" name="Freeform 158"/>
            <p:cNvSpPr>
              <a:spLocks noChangeAspect="1"/>
            </p:cNvSpPr>
            <p:nvPr/>
          </p:nvSpPr>
          <p:spPr bwMode="auto">
            <a:xfrm>
              <a:off x="1572" y="2999"/>
              <a:ext cx="11" cy="23"/>
            </a:xfrm>
            <a:custGeom>
              <a:avLst/>
              <a:gdLst/>
              <a:ahLst/>
              <a:cxnLst>
                <a:cxn ang="0">
                  <a:pos x="0" y="2"/>
                </a:cxn>
                <a:cxn ang="0">
                  <a:pos x="0" y="2"/>
                </a:cxn>
                <a:cxn ang="0">
                  <a:pos x="0" y="6"/>
                </a:cxn>
                <a:cxn ang="0">
                  <a:pos x="2" y="11"/>
                </a:cxn>
                <a:cxn ang="0">
                  <a:pos x="2" y="16"/>
                </a:cxn>
                <a:cxn ang="0">
                  <a:pos x="3" y="22"/>
                </a:cxn>
                <a:cxn ang="0">
                  <a:pos x="11" y="20"/>
                </a:cxn>
                <a:cxn ang="0">
                  <a:pos x="10" y="16"/>
                </a:cxn>
                <a:cxn ang="0">
                  <a:pos x="10" y="10"/>
                </a:cxn>
                <a:cxn ang="0">
                  <a:pos x="8" y="4"/>
                </a:cxn>
                <a:cxn ang="0">
                  <a:pos x="8" y="0"/>
                </a:cxn>
                <a:cxn ang="0">
                  <a:pos x="0" y="2"/>
                </a:cxn>
              </a:cxnLst>
              <a:rect l="0" t="0" r="r" b="b"/>
              <a:pathLst>
                <a:path w="12" h="23">
                  <a:moveTo>
                    <a:pt x="0" y="2"/>
                  </a:moveTo>
                  <a:lnTo>
                    <a:pt x="0" y="2"/>
                  </a:lnTo>
                  <a:lnTo>
                    <a:pt x="0" y="6"/>
                  </a:lnTo>
                  <a:lnTo>
                    <a:pt x="2" y="11"/>
                  </a:lnTo>
                  <a:lnTo>
                    <a:pt x="2" y="16"/>
                  </a:lnTo>
                  <a:lnTo>
                    <a:pt x="3" y="22"/>
                  </a:lnTo>
                  <a:lnTo>
                    <a:pt x="11" y="20"/>
                  </a:lnTo>
                  <a:lnTo>
                    <a:pt x="10" y="16"/>
                  </a:lnTo>
                  <a:lnTo>
                    <a:pt x="10" y="10"/>
                  </a:lnTo>
                  <a:lnTo>
                    <a:pt x="8" y="4"/>
                  </a:lnTo>
                  <a:lnTo>
                    <a:pt x="8" y="0"/>
                  </a:lnTo>
                  <a:lnTo>
                    <a:pt x="0"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399" name="Freeform 159"/>
            <p:cNvSpPr>
              <a:spLocks noChangeAspect="1"/>
            </p:cNvSpPr>
            <p:nvPr/>
          </p:nvSpPr>
          <p:spPr bwMode="auto">
            <a:xfrm>
              <a:off x="1567" y="2988"/>
              <a:ext cx="14" cy="14"/>
            </a:xfrm>
            <a:custGeom>
              <a:avLst/>
              <a:gdLst/>
              <a:ahLst/>
              <a:cxnLst>
                <a:cxn ang="0">
                  <a:pos x="5" y="8"/>
                </a:cxn>
                <a:cxn ang="0">
                  <a:pos x="5" y="7"/>
                </a:cxn>
                <a:cxn ang="0">
                  <a:pos x="4" y="8"/>
                </a:cxn>
                <a:cxn ang="0">
                  <a:pos x="3" y="7"/>
                </a:cxn>
                <a:cxn ang="0">
                  <a:pos x="3" y="9"/>
                </a:cxn>
                <a:cxn ang="0">
                  <a:pos x="5" y="13"/>
                </a:cxn>
                <a:cxn ang="0">
                  <a:pos x="13" y="11"/>
                </a:cxn>
                <a:cxn ang="0">
                  <a:pos x="11" y="8"/>
                </a:cxn>
                <a:cxn ang="0">
                  <a:pos x="11" y="3"/>
                </a:cxn>
                <a:cxn ang="0">
                  <a:pos x="5" y="0"/>
                </a:cxn>
                <a:cxn ang="0">
                  <a:pos x="0" y="2"/>
                </a:cxn>
                <a:cxn ang="0">
                  <a:pos x="1" y="1"/>
                </a:cxn>
                <a:cxn ang="0">
                  <a:pos x="5" y="8"/>
                </a:cxn>
              </a:cxnLst>
              <a:rect l="0" t="0" r="r" b="b"/>
              <a:pathLst>
                <a:path w="14" h="14">
                  <a:moveTo>
                    <a:pt x="5" y="8"/>
                  </a:moveTo>
                  <a:lnTo>
                    <a:pt x="5" y="7"/>
                  </a:lnTo>
                  <a:lnTo>
                    <a:pt x="4" y="8"/>
                  </a:lnTo>
                  <a:lnTo>
                    <a:pt x="3" y="7"/>
                  </a:lnTo>
                  <a:lnTo>
                    <a:pt x="3" y="9"/>
                  </a:lnTo>
                  <a:lnTo>
                    <a:pt x="5" y="13"/>
                  </a:lnTo>
                  <a:lnTo>
                    <a:pt x="13" y="11"/>
                  </a:lnTo>
                  <a:lnTo>
                    <a:pt x="11" y="8"/>
                  </a:lnTo>
                  <a:lnTo>
                    <a:pt x="11" y="3"/>
                  </a:lnTo>
                  <a:lnTo>
                    <a:pt x="5" y="0"/>
                  </a:lnTo>
                  <a:lnTo>
                    <a:pt x="0" y="2"/>
                  </a:lnTo>
                  <a:lnTo>
                    <a:pt x="1" y="1"/>
                  </a:lnTo>
                  <a:lnTo>
                    <a:pt x="5"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00" name="Freeform 160"/>
            <p:cNvSpPr>
              <a:spLocks noChangeAspect="1"/>
            </p:cNvSpPr>
            <p:nvPr/>
          </p:nvSpPr>
          <p:spPr bwMode="auto">
            <a:xfrm>
              <a:off x="1557" y="2987"/>
              <a:ext cx="17" cy="13"/>
            </a:xfrm>
            <a:custGeom>
              <a:avLst/>
              <a:gdLst/>
              <a:ahLst/>
              <a:cxnLst>
                <a:cxn ang="0">
                  <a:pos x="0" y="2"/>
                </a:cxn>
                <a:cxn ang="0">
                  <a:pos x="0" y="2"/>
                </a:cxn>
                <a:cxn ang="0">
                  <a:pos x="1" y="8"/>
                </a:cxn>
                <a:cxn ang="0">
                  <a:pos x="7" y="12"/>
                </a:cxn>
                <a:cxn ang="0">
                  <a:pos x="11" y="12"/>
                </a:cxn>
                <a:cxn ang="0">
                  <a:pos x="15" y="9"/>
                </a:cxn>
                <a:cxn ang="0">
                  <a:pos x="11" y="2"/>
                </a:cxn>
                <a:cxn ang="0">
                  <a:pos x="9" y="4"/>
                </a:cxn>
                <a:cxn ang="0">
                  <a:pos x="8" y="4"/>
                </a:cxn>
                <a:cxn ang="0">
                  <a:pos x="9" y="4"/>
                </a:cxn>
                <a:cxn ang="0">
                  <a:pos x="8" y="0"/>
                </a:cxn>
                <a:cxn ang="0">
                  <a:pos x="0" y="2"/>
                </a:cxn>
              </a:cxnLst>
              <a:rect l="0" t="0" r="r" b="b"/>
              <a:pathLst>
                <a:path w="16" h="13">
                  <a:moveTo>
                    <a:pt x="0" y="2"/>
                  </a:moveTo>
                  <a:lnTo>
                    <a:pt x="0" y="2"/>
                  </a:lnTo>
                  <a:lnTo>
                    <a:pt x="1" y="8"/>
                  </a:lnTo>
                  <a:lnTo>
                    <a:pt x="7" y="12"/>
                  </a:lnTo>
                  <a:lnTo>
                    <a:pt x="11" y="12"/>
                  </a:lnTo>
                  <a:lnTo>
                    <a:pt x="15" y="9"/>
                  </a:lnTo>
                  <a:lnTo>
                    <a:pt x="11" y="2"/>
                  </a:lnTo>
                  <a:lnTo>
                    <a:pt x="9" y="4"/>
                  </a:lnTo>
                  <a:lnTo>
                    <a:pt x="8" y="4"/>
                  </a:lnTo>
                  <a:lnTo>
                    <a:pt x="9" y="4"/>
                  </a:lnTo>
                  <a:lnTo>
                    <a:pt x="8" y="0"/>
                  </a:lnTo>
                  <a:lnTo>
                    <a:pt x="0"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01" name="Freeform 161"/>
            <p:cNvSpPr>
              <a:spLocks noChangeAspect="1"/>
            </p:cNvSpPr>
            <p:nvPr/>
          </p:nvSpPr>
          <p:spPr bwMode="auto">
            <a:xfrm>
              <a:off x="1547" y="2969"/>
              <a:ext cx="19" cy="21"/>
            </a:xfrm>
            <a:custGeom>
              <a:avLst/>
              <a:gdLst/>
              <a:ahLst/>
              <a:cxnLst>
                <a:cxn ang="0">
                  <a:pos x="0" y="8"/>
                </a:cxn>
                <a:cxn ang="0">
                  <a:pos x="0" y="7"/>
                </a:cxn>
                <a:cxn ang="0">
                  <a:pos x="2" y="9"/>
                </a:cxn>
                <a:cxn ang="0">
                  <a:pos x="5" y="12"/>
                </a:cxn>
                <a:cxn ang="0">
                  <a:pos x="8" y="15"/>
                </a:cxn>
                <a:cxn ang="0">
                  <a:pos x="10" y="20"/>
                </a:cxn>
                <a:cxn ang="0">
                  <a:pos x="18" y="18"/>
                </a:cxn>
                <a:cxn ang="0">
                  <a:pos x="15" y="11"/>
                </a:cxn>
                <a:cxn ang="0">
                  <a:pos x="11" y="6"/>
                </a:cxn>
                <a:cxn ang="0">
                  <a:pos x="7" y="2"/>
                </a:cxn>
                <a:cxn ang="0">
                  <a:pos x="3" y="0"/>
                </a:cxn>
                <a:cxn ang="0">
                  <a:pos x="3" y="0"/>
                </a:cxn>
                <a:cxn ang="0">
                  <a:pos x="0" y="8"/>
                </a:cxn>
              </a:cxnLst>
              <a:rect l="0" t="0" r="r" b="b"/>
              <a:pathLst>
                <a:path w="19" h="21">
                  <a:moveTo>
                    <a:pt x="0" y="8"/>
                  </a:moveTo>
                  <a:lnTo>
                    <a:pt x="0" y="7"/>
                  </a:lnTo>
                  <a:lnTo>
                    <a:pt x="2" y="9"/>
                  </a:lnTo>
                  <a:lnTo>
                    <a:pt x="5" y="12"/>
                  </a:lnTo>
                  <a:lnTo>
                    <a:pt x="8" y="15"/>
                  </a:lnTo>
                  <a:lnTo>
                    <a:pt x="10" y="20"/>
                  </a:lnTo>
                  <a:lnTo>
                    <a:pt x="18" y="18"/>
                  </a:lnTo>
                  <a:lnTo>
                    <a:pt x="15" y="11"/>
                  </a:lnTo>
                  <a:lnTo>
                    <a:pt x="11" y="6"/>
                  </a:lnTo>
                  <a:lnTo>
                    <a:pt x="7" y="2"/>
                  </a:lnTo>
                  <a:lnTo>
                    <a:pt x="3" y="0"/>
                  </a:lnTo>
                  <a:lnTo>
                    <a:pt x="3"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02" name="Freeform 162"/>
            <p:cNvSpPr>
              <a:spLocks noChangeAspect="1"/>
            </p:cNvSpPr>
            <p:nvPr/>
          </p:nvSpPr>
          <p:spPr bwMode="auto">
            <a:xfrm>
              <a:off x="1518" y="2956"/>
              <a:ext cx="33" cy="22"/>
            </a:xfrm>
            <a:custGeom>
              <a:avLst/>
              <a:gdLst/>
              <a:ahLst/>
              <a:cxnLst>
                <a:cxn ang="0">
                  <a:pos x="3" y="8"/>
                </a:cxn>
                <a:cxn ang="0">
                  <a:pos x="2" y="8"/>
                </a:cxn>
                <a:cxn ang="0">
                  <a:pos x="4" y="8"/>
                </a:cxn>
                <a:cxn ang="0">
                  <a:pos x="7" y="9"/>
                </a:cxn>
                <a:cxn ang="0">
                  <a:pos x="11" y="11"/>
                </a:cxn>
                <a:cxn ang="0">
                  <a:pos x="15" y="13"/>
                </a:cxn>
                <a:cxn ang="0">
                  <a:pos x="19" y="15"/>
                </a:cxn>
                <a:cxn ang="0">
                  <a:pos x="23" y="17"/>
                </a:cxn>
                <a:cxn ang="0">
                  <a:pos x="27" y="19"/>
                </a:cxn>
                <a:cxn ang="0">
                  <a:pos x="29" y="21"/>
                </a:cxn>
                <a:cxn ang="0">
                  <a:pos x="32" y="13"/>
                </a:cxn>
                <a:cxn ang="0">
                  <a:pos x="31" y="12"/>
                </a:cxn>
                <a:cxn ang="0">
                  <a:pos x="27" y="9"/>
                </a:cxn>
                <a:cxn ang="0">
                  <a:pos x="23" y="7"/>
                </a:cxn>
                <a:cxn ang="0">
                  <a:pos x="19" y="5"/>
                </a:cxn>
                <a:cxn ang="0">
                  <a:pos x="13" y="3"/>
                </a:cxn>
                <a:cxn ang="0">
                  <a:pos x="9" y="1"/>
                </a:cxn>
                <a:cxn ang="0">
                  <a:pos x="4" y="0"/>
                </a:cxn>
                <a:cxn ang="0">
                  <a:pos x="1" y="0"/>
                </a:cxn>
                <a:cxn ang="0">
                  <a:pos x="0" y="0"/>
                </a:cxn>
                <a:cxn ang="0">
                  <a:pos x="3" y="8"/>
                </a:cxn>
              </a:cxnLst>
              <a:rect l="0" t="0" r="r" b="b"/>
              <a:pathLst>
                <a:path w="33" h="22">
                  <a:moveTo>
                    <a:pt x="3" y="8"/>
                  </a:moveTo>
                  <a:lnTo>
                    <a:pt x="2" y="8"/>
                  </a:lnTo>
                  <a:lnTo>
                    <a:pt x="4" y="8"/>
                  </a:lnTo>
                  <a:lnTo>
                    <a:pt x="7" y="9"/>
                  </a:lnTo>
                  <a:lnTo>
                    <a:pt x="11" y="11"/>
                  </a:lnTo>
                  <a:lnTo>
                    <a:pt x="15" y="13"/>
                  </a:lnTo>
                  <a:lnTo>
                    <a:pt x="19" y="15"/>
                  </a:lnTo>
                  <a:lnTo>
                    <a:pt x="23" y="17"/>
                  </a:lnTo>
                  <a:lnTo>
                    <a:pt x="27" y="19"/>
                  </a:lnTo>
                  <a:lnTo>
                    <a:pt x="29" y="21"/>
                  </a:lnTo>
                  <a:lnTo>
                    <a:pt x="32" y="13"/>
                  </a:lnTo>
                  <a:lnTo>
                    <a:pt x="31" y="12"/>
                  </a:lnTo>
                  <a:lnTo>
                    <a:pt x="27" y="9"/>
                  </a:lnTo>
                  <a:lnTo>
                    <a:pt x="23" y="7"/>
                  </a:lnTo>
                  <a:lnTo>
                    <a:pt x="19" y="5"/>
                  </a:lnTo>
                  <a:lnTo>
                    <a:pt x="13" y="3"/>
                  </a:lnTo>
                  <a:lnTo>
                    <a:pt x="9" y="1"/>
                  </a:lnTo>
                  <a:lnTo>
                    <a:pt x="4" y="0"/>
                  </a:lnTo>
                  <a:lnTo>
                    <a:pt x="1" y="0"/>
                  </a:lnTo>
                  <a:lnTo>
                    <a:pt x="0" y="0"/>
                  </a:lnTo>
                  <a:lnTo>
                    <a:pt x="3"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03" name="Freeform 163"/>
            <p:cNvSpPr>
              <a:spLocks noChangeAspect="1"/>
            </p:cNvSpPr>
            <p:nvPr/>
          </p:nvSpPr>
          <p:spPr bwMode="auto">
            <a:xfrm>
              <a:off x="1380" y="2821"/>
              <a:ext cx="103" cy="67"/>
            </a:xfrm>
            <a:custGeom>
              <a:avLst/>
              <a:gdLst/>
              <a:ahLst/>
              <a:cxnLst>
                <a:cxn ang="0">
                  <a:pos x="23" y="0"/>
                </a:cxn>
                <a:cxn ang="0">
                  <a:pos x="14" y="0"/>
                </a:cxn>
                <a:cxn ang="0">
                  <a:pos x="7" y="4"/>
                </a:cxn>
                <a:cxn ang="0">
                  <a:pos x="1" y="8"/>
                </a:cxn>
                <a:cxn ang="0">
                  <a:pos x="1" y="16"/>
                </a:cxn>
                <a:cxn ang="0">
                  <a:pos x="6" y="25"/>
                </a:cxn>
                <a:cxn ang="0">
                  <a:pos x="13" y="31"/>
                </a:cxn>
                <a:cxn ang="0">
                  <a:pos x="19" y="39"/>
                </a:cxn>
                <a:cxn ang="0">
                  <a:pos x="25" y="42"/>
                </a:cxn>
                <a:cxn ang="0">
                  <a:pos x="32" y="42"/>
                </a:cxn>
                <a:cxn ang="0">
                  <a:pos x="33" y="38"/>
                </a:cxn>
                <a:cxn ang="0">
                  <a:pos x="37" y="36"/>
                </a:cxn>
                <a:cxn ang="0">
                  <a:pos x="41" y="41"/>
                </a:cxn>
                <a:cxn ang="0">
                  <a:pos x="45" y="50"/>
                </a:cxn>
                <a:cxn ang="0">
                  <a:pos x="51" y="58"/>
                </a:cxn>
                <a:cxn ang="0">
                  <a:pos x="59" y="65"/>
                </a:cxn>
                <a:cxn ang="0">
                  <a:pos x="65" y="66"/>
                </a:cxn>
                <a:cxn ang="0">
                  <a:pos x="69" y="66"/>
                </a:cxn>
                <a:cxn ang="0">
                  <a:pos x="76" y="66"/>
                </a:cxn>
                <a:cxn ang="0">
                  <a:pos x="81" y="64"/>
                </a:cxn>
                <a:cxn ang="0">
                  <a:pos x="89" y="60"/>
                </a:cxn>
                <a:cxn ang="0">
                  <a:pos x="97" y="57"/>
                </a:cxn>
                <a:cxn ang="0">
                  <a:pos x="102" y="56"/>
                </a:cxn>
                <a:cxn ang="0">
                  <a:pos x="104" y="48"/>
                </a:cxn>
                <a:cxn ang="0">
                  <a:pos x="103" y="40"/>
                </a:cxn>
                <a:cxn ang="0">
                  <a:pos x="100" y="30"/>
                </a:cxn>
                <a:cxn ang="0">
                  <a:pos x="88" y="26"/>
                </a:cxn>
                <a:cxn ang="0">
                  <a:pos x="80" y="24"/>
                </a:cxn>
                <a:cxn ang="0">
                  <a:pos x="75" y="22"/>
                </a:cxn>
                <a:cxn ang="0">
                  <a:pos x="71" y="20"/>
                </a:cxn>
                <a:cxn ang="0">
                  <a:pos x="67" y="16"/>
                </a:cxn>
                <a:cxn ang="0">
                  <a:pos x="60" y="11"/>
                </a:cxn>
                <a:cxn ang="0">
                  <a:pos x="51" y="10"/>
                </a:cxn>
                <a:cxn ang="0">
                  <a:pos x="40" y="13"/>
                </a:cxn>
                <a:cxn ang="0">
                  <a:pos x="36" y="17"/>
                </a:cxn>
                <a:cxn ang="0">
                  <a:pos x="32" y="16"/>
                </a:cxn>
                <a:cxn ang="0">
                  <a:pos x="30" y="8"/>
                </a:cxn>
                <a:cxn ang="0">
                  <a:pos x="27" y="2"/>
                </a:cxn>
              </a:cxnLst>
              <a:rect l="0" t="0" r="r" b="b"/>
              <a:pathLst>
                <a:path w="105" h="67">
                  <a:moveTo>
                    <a:pt x="26" y="2"/>
                  </a:moveTo>
                  <a:lnTo>
                    <a:pt x="23" y="0"/>
                  </a:lnTo>
                  <a:lnTo>
                    <a:pt x="19" y="0"/>
                  </a:lnTo>
                  <a:lnTo>
                    <a:pt x="14" y="0"/>
                  </a:lnTo>
                  <a:lnTo>
                    <a:pt x="11" y="2"/>
                  </a:lnTo>
                  <a:lnTo>
                    <a:pt x="7" y="4"/>
                  </a:lnTo>
                  <a:lnTo>
                    <a:pt x="3" y="6"/>
                  </a:lnTo>
                  <a:lnTo>
                    <a:pt x="1" y="8"/>
                  </a:lnTo>
                  <a:lnTo>
                    <a:pt x="0" y="12"/>
                  </a:lnTo>
                  <a:lnTo>
                    <a:pt x="1" y="16"/>
                  </a:lnTo>
                  <a:lnTo>
                    <a:pt x="3" y="20"/>
                  </a:lnTo>
                  <a:lnTo>
                    <a:pt x="6" y="25"/>
                  </a:lnTo>
                  <a:lnTo>
                    <a:pt x="9" y="28"/>
                  </a:lnTo>
                  <a:lnTo>
                    <a:pt x="13" y="31"/>
                  </a:lnTo>
                  <a:lnTo>
                    <a:pt x="16" y="35"/>
                  </a:lnTo>
                  <a:lnTo>
                    <a:pt x="19" y="39"/>
                  </a:lnTo>
                  <a:lnTo>
                    <a:pt x="22" y="42"/>
                  </a:lnTo>
                  <a:lnTo>
                    <a:pt x="25" y="42"/>
                  </a:lnTo>
                  <a:lnTo>
                    <a:pt x="29" y="42"/>
                  </a:lnTo>
                  <a:lnTo>
                    <a:pt x="32" y="42"/>
                  </a:lnTo>
                  <a:lnTo>
                    <a:pt x="33" y="40"/>
                  </a:lnTo>
                  <a:lnTo>
                    <a:pt x="33" y="38"/>
                  </a:lnTo>
                  <a:lnTo>
                    <a:pt x="35" y="36"/>
                  </a:lnTo>
                  <a:lnTo>
                    <a:pt x="37" y="36"/>
                  </a:lnTo>
                  <a:lnTo>
                    <a:pt x="39" y="38"/>
                  </a:lnTo>
                  <a:lnTo>
                    <a:pt x="41" y="41"/>
                  </a:lnTo>
                  <a:lnTo>
                    <a:pt x="43" y="45"/>
                  </a:lnTo>
                  <a:lnTo>
                    <a:pt x="45" y="50"/>
                  </a:lnTo>
                  <a:lnTo>
                    <a:pt x="47" y="54"/>
                  </a:lnTo>
                  <a:lnTo>
                    <a:pt x="51" y="58"/>
                  </a:lnTo>
                  <a:lnTo>
                    <a:pt x="55" y="62"/>
                  </a:lnTo>
                  <a:lnTo>
                    <a:pt x="59" y="65"/>
                  </a:lnTo>
                  <a:lnTo>
                    <a:pt x="63" y="66"/>
                  </a:lnTo>
                  <a:lnTo>
                    <a:pt x="65" y="66"/>
                  </a:lnTo>
                  <a:lnTo>
                    <a:pt x="67" y="66"/>
                  </a:lnTo>
                  <a:lnTo>
                    <a:pt x="69" y="66"/>
                  </a:lnTo>
                  <a:lnTo>
                    <a:pt x="73" y="66"/>
                  </a:lnTo>
                  <a:lnTo>
                    <a:pt x="76" y="66"/>
                  </a:lnTo>
                  <a:lnTo>
                    <a:pt x="79" y="65"/>
                  </a:lnTo>
                  <a:lnTo>
                    <a:pt x="81" y="64"/>
                  </a:lnTo>
                  <a:lnTo>
                    <a:pt x="84" y="63"/>
                  </a:lnTo>
                  <a:lnTo>
                    <a:pt x="89" y="60"/>
                  </a:lnTo>
                  <a:lnTo>
                    <a:pt x="93" y="58"/>
                  </a:lnTo>
                  <a:lnTo>
                    <a:pt x="97" y="57"/>
                  </a:lnTo>
                  <a:lnTo>
                    <a:pt x="100" y="56"/>
                  </a:lnTo>
                  <a:lnTo>
                    <a:pt x="102" y="56"/>
                  </a:lnTo>
                  <a:lnTo>
                    <a:pt x="103" y="52"/>
                  </a:lnTo>
                  <a:lnTo>
                    <a:pt x="104" y="48"/>
                  </a:lnTo>
                  <a:lnTo>
                    <a:pt x="103" y="44"/>
                  </a:lnTo>
                  <a:lnTo>
                    <a:pt x="103" y="40"/>
                  </a:lnTo>
                  <a:lnTo>
                    <a:pt x="103" y="35"/>
                  </a:lnTo>
                  <a:lnTo>
                    <a:pt x="100" y="30"/>
                  </a:lnTo>
                  <a:lnTo>
                    <a:pt x="93" y="27"/>
                  </a:lnTo>
                  <a:lnTo>
                    <a:pt x="88" y="26"/>
                  </a:lnTo>
                  <a:lnTo>
                    <a:pt x="84" y="25"/>
                  </a:lnTo>
                  <a:lnTo>
                    <a:pt x="80" y="24"/>
                  </a:lnTo>
                  <a:lnTo>
                    <a:pt x="77" y="23"/>
                  </a:lnTo>
                  <a:lnTo>
                    <a:pt x="75" y="22"/>
                  </a:lnTo>
                  <a:lnTo>
                    <a:pt x="73" y="21"/>
                  </a:lnTo>
                  <a:lnTo>
                    <a:pt x="71" y="20"/>
                  </a:lnTo>
                  <a:lnTo>
                    <a:pt x="69" y="18"/>
                  </a:lnTo>
                  <a:lnTo>
                    <a:pt x="67" y="16"/>
                  </a:lnTo>
                  <a:lnTo>
                    <a:pt x="63" y="13"/>
                  </a:lnTo>
                  <a:lnTo>
                    <a:pt x="60" y="11"/>
                  </a:lnTo>
                  <a:lnTo>
                    <a:pt x="56" y="10"/>
                  </a:lnTo>
                  <a:lnTo>
                    <a:pt x="51" y="10"/>
                  </a:lnTo>
                  <a:lnTo>
                    <a:pt x="45" y="12"/>
                  </a:lnTo>
                  <a:lnTo>
                    <a:pt x="40" y="13"/>
                  </a:lnTo>
                  <a:lnTo>
                    <a:pt x="37" y="15"/>
                  </a:lnTo>
                  <a:lnTo>
                    <a:pt x="36" y="17"/>
                  </a:lnTo>
                  <a:lnTo>
                    <a:pt x="34" y="17"/>
                  </a:lnTo>
                  <a:lnTo>
                    <a:pt x="32" y="16"/>
                  </a:lnTo>
                  <a:lnTo>
                    <a:pt x="31" y="12"/>
                  </a:lnTo>
                  <a:lnTo>
                    <a:pt x="30" y="8"/>
                  </a:lnTo>
                  <a:lnTo>
                    <a:pt x="29" y="5"/>
                  </a:lnTo>
                  <a:lnTo>
                    <a:pt x="27" y="2"/>
                  </a:lnTo>
                  <a:lnTo>
                    <a:pt x="26"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04" name="Freeform 164"/>
            <p:cNvSpPr>
              <a:spLocks noChangeAspect="1"/>
            </p:cNvSpPr>
            <p:nvPr/>
          </p:nvSpPr>
          <p:spPr bwMode="auto">
            <a:xfrm>
              <a:off x="1389" y="2817"/>
              <a:ext cx="21" cy="15"/>
            </a:xfrm>
            <a:custGeom>
              <a:avLst/>
              <a:gdLst/>
              <a:ahLst/>
              <a:cxnLst>
                <a:cxn ang="0">
                  <a:pos x="3" y="11"/>
                </a:cxn>
                <a:cxn ang="0">
                  <a:pos x="4" y="10"/>
                </a:cxn>
                <a:cxn ang="0">
                  <a:pos x="6" y="9"/>
                </a:cxn>
                <a:cxn ang="0">
                  <a:pos x="10" y="8"/>
                </a:cxn>
                <a:cxn ang="0">
                  <a:pos x="13" y="8"/>
                </a:cxn>
                <a:cxn ang="0">
                  <a:pos x="14" y="9"/>
                </a:cxn>
                <a:cxn ang="0">
                  <a:pos x="20" y="4"/>
                </a:cxn>
                <a:cxn ang="0">
                  <a:pos x="14" y="0"/>
                </a:cxn>
                <a:cxn ang="0">
                  <a:pos x="10" y="0"/>
                </a:cxn>
                <a:cxn ang="0">
                  <a:pos x="4" y="1"/>
                </a:cxn>
                <a:cxn ang="0">
                  <a:pos x="0" y="4"/>
                </a:cxn>
                <a:cxn ang="0">
                  <a:pos x="0" y="3"/>
                </a:cxn>
                <a:cxn ang="0">
                  <a:pos x="3" y="11"/>
                </a:cxn>
              </a:cxnLst>
              <a:rect l="0" t="0" r="r" b="b"/>
              <a:pathLst>
                <a:path w="21" h="12">
                  <a:moveTo>
                    <a:pt x="3" y="11"/>
                  </a:moveTo>
                  <a:lnTo>
                    <a:pt x="4" y="10"/>
                  </a:lnTo>
                  <a:lnTo>
                    <a:pt x="6" y="9"/>
                  </a:lnTo>
                  <a:lnTo>
                    <a:pt x="10" y="8"/>
                  </a:lnTo>
                  <a:lnTo>
                    <a:pt x="13" y="8"/>
                  </a:lnTo>
                  <a:lnTo>
                    <a:pt x="14" y="9"/>
                  </a:lnTo>
                  <a:lnTo>
                    <a:pt x="20" y="4"/>
                  </a:lnTo>
                  <a:lnTo>
                    <a:pt x="14" y="0"/>
                  </a:lnTo>
                  <a:lnTo>
                    <a:pt x="10" y="0"/>
                  </a:lnTo>
                  <a:lnTo>
                    <a:pt x="4" y="1"/>
                  </a:lnTo>
                  <a:lnTo>
                    <a:pt x="0" y="4"/>
                  </a:lnTo>
                  <a:lnTo>
                    <a:pt x="0" y="3"/>
                  </a:lnTo>
                  <a:lnTo>
                    <a:pt x="3" y="1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05" name="Freeform 165"/>
            <p:cNvSpPr>
              <a:spLocks noChangeAspect="1"/>
            </p:cNvSpPr>
            <p:nvPr/>
          </p:nvSpPr>
          <p:spPr bwMode="auto">
            <a:xfrm>
              <a:off x="1375" y="2820"/>
              <a:ext cx="19" cy="15"/>
            </a:xfrm>
            <a:custGeom>
              <a:avLst/>
              <a:gdLst/>
              <a:ahLst/>
              <a:cxnLst>
                <a:cxn ang="0">
                  <a:pos x="9" y="13"/>
                </a:cxn>
                <a:cxn ang="0">
                  <a:pos x="10" y="13"/>
                </a:cxn>
                <a:cxn ang="0">
                  <a:pos x="10" y="12"/>
                </a:cxn>
                <a:cxn ang="0">
                  <a:pos x="11" y="11"/>
                </a:cxn>
                <a:cxn ang="0">
                  <a:pos x="14" y="9"/>
                </a:cxn>
                <a:cxn ang="0">
                  <a:pos x="17" y="8"/>
                </a:cxn>
                <a:cxn ang="0">
                  <a:pos x="14" y="0"/>
                </a:cxn>
                <a:cxn ang="0">
                  <a:pos x="11" y="1"/>
                </a:cxn>
                <a:cxn ang="0">
                  <a:pos x="6" y="4"/>
                </a:cxn>
                <a:cxn ang="0">
                  <a:pos x="2" y="8"/>
                </a:cxn>
                <a:cxn ang="0">
                  <a:pos x="0" y="13"/>
                </a:cxn>
                <a:cxn ang="0">
                  <a:pos x="1" y="14"/>
                </a:cxn>
                <a:cxn ang="0">
                  <a:pos x="9" y="13"/>
                </a:cxn>
              </a:cxnLst>
              <a:rect l="0" t="0" r="r" b="b"/>
              <a:pathLst>
                <a:path w="18" h="15">
                  <a:moveTo>
                    <a:pt x="9" y="13"/>
                  </a:moveTo>
                  <a:lnTo>
                    <a:pt x="10" y="13"/>
                  </a:lnTo>
                  <a:lnTo>
                    <a:pt x="10" y="12"/>
                  </a:lnTo>
                  <a:lnTo>
                    <a:pt x="11" y="11"/>
                  </a:lnTo>
                  <a:lnTo>
                    <a:pt x="14" y="9"/>
                  </a:lnTo>
                  <a:lnTo>
                    <a:pt x="17" y="8"/>
                  </a:lnTo>
                  <a:lnTo>
                    <a:pt x="14" y="0"/>
                  </a:lnTo>
                  <a:lnTo>
                    <a:pt x="11" y="1"/>
                  </a:lnTo>
                  <a:lnTo>
                    <a:pt x="6" y="4"/>
                  </a:lnTo>
                  <a:lnTo>
                    <a:pt x="2" y="8"/>
                  </a:lnTo>
                  <a:lnTo>
                    <a:pt x="0" y="13"/>
                  </a:lnTo>
                  <a:lnTo>
                    <a:pt x="1" y="14"/>
                  </a:lnTo>
                  <a:lnTo>
                    <a:pt x="9" y="1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06" name="Freeform 166"/>
            <p:cNvSpPr>
              <a:spLocks noChangeAspect="1"/>
            </p:cNvSpPr>
            <p:nvPr/>
          </p:nvSpPr>
          <p:spPr bwMode="auto">
            <a:xfrm>
              <a:off x="1376" y="2832"/>
              <a:ext cx="18" cy="23"/>
            </a:xfrm>
            <a:custGeom>
              <a:avLst/>
              <a:gdLst/>
              <a:ahLst/>
              <a:cxnLst>
                <a:cxn ang="0">
                  <a:pos x="15" y="14"/>
                </a:cxn>
                <a:cxn ang="0">
                  <a:pos x="15" y="14"/>
                </a:cxn>
                <a:cxn ang="0">
                  <a:pos x="13" y="12"/>
                </a:cxn>
                <a:cxn ang="0">
                  <a:pos x="11" y="7"/>
                </a:cxn>
                <a:cxn ang="0">
                  <a:pos x="9" y="3"/>
                </a:cxn>
                <a:cxn ang="0">
                  <a:pos x="8" y="0"/>
                </a:cxn>
                <a:cxn ang="0">
                  <a:pos x="0" y="1"/>
                </a:cxn>
                <a:cxn ang="0">
                  <a:pos x="1" y="6"/>
                </a:cxn>
                <a:cxn ang="0">
                  <a:pos x="3" y="12"/>
                </a:cxn>
                <a:cxn ang="0">
                  <a:pos x="7" y="17"/>
                </a:cxn>
                <a:cxn ang="0">
                  <a:pos x="11" y="22"/>
                </a:cxn>
                <a:cxn ang="0">
                  <a:pos x="12" y="22"/>
                </a:cxn>
                <a:cxn ang="0">
                  <a:pos x="15" y="14"/>
                </a:cxn>
              </a:cxnLst>
              <a:rect l="0" t="0" r="r" b="b"/>
              <a:pathLst>
                <a:path w="16" h="23">
                  <a:moveTo>
                    <a:pt x="15" y="14"/>
                  </a:moveTo>
                  <a:lnTo>
                    <a:pt x="15" y="14"/>
                  </a:lnTo>
                  <a:lnTo>
                    <a:pt x="13" y="12"/>
                  </a:lnTo>
                  <a:lnTo>
                    <a:pt x="11" y="7"/>
                  </a:lnTo>
                  <a:lnTo>
                    <a:pt x="9" y="3"/>
                  </a:lnTo>
                  <a:lnTo>
                    <a:pt x="8" y="0"/>
                  </a:lnTo>
                  <a:lnTo>
                    <a:pt x="0" y="1"/>
                  </a:lnTo>
                  <a:lnTo>
                    <a:pt x="1" y="6"/>
                  </a:lnTo>
                  <a:lnTo>
                    <a:pt x="3" y="12"/>
                  </a:lnTo>
                  <a:lnTo>
                    <a:pt x="7" y="17"/>
                  </a:lnTo>
                  <a:lnTo>
                    <a:pt x="11" y="22"/>
                  </a:lnTo>
                  <a:lnTo>
                    <a:pt x="12" y="22"/>
                  </a:lnTo>
                  <a:lnTo>
                    <a:pt x="15" y="1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07" name="Freeform 167"/>
            <p:cNvSpPr>
              <a:spLocks noChangeAspect="1"/>
            </p:cNvSpPr>
            <p:nvPr/>
          </p:nvSpPr>
          <p:spPr bwMode="auto">
            <a:xfrm>
              <a:off x="1388" y="2846"/>
              <a:ext cx="16" cy="22"/>
            </a:xfrm>
            <a:custGeom>
              <a:avLst/>
              <a:gdLst/>
              <a:ahLst/>
              <a:cxnLst>
                <a:cxn ang="0">
                  <a:pos x="15" y="13"/>
                </a:cxn>
                <a:cxn ang="0">
                  <a:pos x="15" y="13"/>
                </a:cxn>
                <a:cxn ang="0">
                  <a:pos x="14" y="12"/>
                </a:cxn>
                <a:cxn ang="0">
                  <a:pos x="11" y="8"/>
                </a:cxn>
                <a:cxn ang="0">
                  <a:pos x="7" y="4"/>
                </a:cxn>
                <a:cxn ang="0">
                  <a:pos x="3" y="0"/>
                </a:cxn>
                <a:cxn ang="0">
                  <a:pos x="0" y="8"/>
                </a:cxn>
                <a:cxn ang="0">
                  <a:pos x="2" y="9"/>
                </a:cxn>
                <a:cxn ang="0">
                  <a:pos x="5" y="13"/>
                </a:cxn>
                <a:cxn ang="0">
                  <a:pos x="7" y="17"/>
                </a:cxn>
                <a:cxn ang="0">
                  <a:pos x="13" y="21"/>
                </a:cxn>
                <a:cxn ang="0">
                  <a:pos x="15" y="13"/>
                </a:cxn>
              </a:cxnLst>
              <a:rect l="0" t="0" r="r" b="b"/>
              <a:pathLst>
                <a:path w="16" h="22">
                  <a:moveTo>
                    <a:pt x="15" y="13"/>
                  </a:moveTo>
                  <a:lnTo>
                    <a:pt x="15" y="13"/>
                  </a:lnTo>
                  <a:lnTo>
                    <a:pt x="14" y="12"/>
                  </a:lnTo>
                  <a:lnTo>
                    <a:pt x="11" y="8"/>
                  </a:lnTo>
                  <a:lnTo>
                    <a:pt x="7" y="4"/>
                  </a:lnTo>
                  <a:lnTo>
                    <a:pt x="3" y="0"/>
                  </a:lnTo>
                  <a:lnTo>
                    <a:pt x="0" y="8"/>
                  </a:lnTo>
                  <a:lnTo>
                    <a:pt x="2" y="9"/>
                  </a:lnTo>
                  <a:lnTo>
                    <a:pt x="5" y="13"/>
                  </a:lnTo>
                  <a:lnTo>
                    <a:pt x="7" y="17"/>
                  </a:lnTo>
                  <a:lnTo>
                    <a:pt x="13" y="21"/>
                  </a:lnTo>
                  <a:lnTo>
                    <a:pt x="15" y="1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08" name="Freeform 168"/>
            <p:cNvSpPr>
              <a:spLocks noChangeAspect="1"/>
            </p:cNvSpPr>
            <p:nvPr/>
          </p:nvSpPr>
          <p:spPr bwMode="auto">
            <a:xfrm>
              <a:off x="1401" y="2859"/>
              <a:ext cx="17" cy="10"/>
            </a:xfrm>
            <a:custGeom>
              <a:avLst/>
              <a:gdLst/>
              <a:ahLst/>
              <a:cxnLst>
                <a:cxn ang="0">
                  <a:pos x="8" y="3"/>
                </a:cxn>
                <a:cxn ang="0">
                  <a:pos x="8" y="3"/>
                </a:cxn>
                <a:cxn ang="0">
                  <a:pos x="8" y="1"/>
                </a:cxn>
                <a:cxn ang="0">
                  <a:pos x="4" y="1"/>
                </a:cxn>
                <a:cxn ang="0">
                  <a:pos x="2" y="0"/>
                </a:cxn>
                <a:cxn ang="0">
                  <a:pos x="0" y="8"/>
                </a:cxn>
                <a:cxn ang="0">
                  <a:pos x="4" y="9"/>
                </a:cxn>
                <a:cxn ang="0">
                  <a:pos x="8" y="9"/>
                </a:cxn>
                <a:cxn ang="0">
                  <a:pos x="14" y="7"/>
                </a:cxn>
                <a:cxn ang="0">
                  <a:pos x="16" y="1"/>
                </a:cxn>
                <a:cxn ang="0">
                  <a:pos x="16" y="1"/>
                </a:cxn>
                <a:cxn ang="0">
                  <a:pos x="8" y="3"/>
                </a:cxn>
              </a:cxnLst>
              <a:rect l="0" t="0" r="r" b="b"/>
              <a:pathLst>
                <a:path w="17" h="10">
                  <a:moveTo>
                    <a:pt x="8" y="3"/>
                  </a:moveTo>
                  <a:lnTo>
                    <a:pt x="8" y="3"/>
                  </a:lnTo>
                  <a:lnTo>
                    <a:pt x="8" y="1"/>
                  </a:lnTo>
                  <a:lnTo>
                    <a:pt x="4" y="1"/>
                  </a:lnTo>
                  <a:lnTo>
                    <a:pt x="2" y="0"/>
                  </a:lnTo>
                  <a:lnTo>
                    <a:pt x="0" y="8"/>
                  </a:lnTo>
                  <a:lnTo>
                    <a:pt x="4" y="9"/>
                  </a:lnTo>
                  <a:lnTo>
                    <a:pt x="8" y="9"/>
                  </a:lnTo>
                  <a:lnTo>
                    <a:pt x="14" y="7"/>
                  </a:lnTo>
                  <a:lnTo>
                    <a:pt x="16" y="1"/>
                  </a:lnTo>
                  <a:lnTo>
                    <a:pt x="16" y="1"/>
                  </a:lnTo>
                  <a:lnTo>
                    <a:pt x="8"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09" name="Freeform 169"/>
            <p:cNvSpPr>
              <a:spLocks noChangeAspect="1"/>
            </p:cNvSpPr>
            <p:nvPr/>
          </p:nvSpPr>
          <p:spPr bwMode="auto">
            <a:xfrm>
              <a:off x="1409" y="2853"/>
              <a:ext cx="14" cy="7"/>
            </a:xfrm>
            <a:custGeom>
              <a:avLst/>
              <a:gdLst/>
              <a:ahLst/>
              <a:cxnLst>
                <a:cxn ang="0">
                  <a:pos x="14" y="3"/>
                </a:cxn>
                <a:cxn ang="0">
                  <a:pos x="14" y="4"/>
                </a:cxn>
                <a:cxn ang="0">
                  <a:pos x="10" y="0"/>
                </a:cxn>
                <a:cxn ang="0">
                  <a:pos x="4" y="0"/>
                </a:cxn>
                <a:cxn ang="0">
                  <a:pos x="0" y="4"/>
                </a:cxn>
                <a:cxn ang="0">
                  <a:pos x="0" y="9"/>
                </a:cxn>
                <a:cxn ang="0">
                  <a:pos x="8" y="7"/>
                </a:cxn>
                <a:cxn ang="0">
                  <a:pos x="8" y="8"/>
                </a:cxn>
                <a:cxn ang="0">
                  <a:pos x="8" y="8"/>
                </a:cxn>
                <a:cxn ang="0">
                  <a:pos x="7" y="8"/>
                </a:cxn>
                <a:cxn ang="0">
                  <a:pos x="7" y="9"/>
                </a:cxn>
                <a:cxn ang="0">
                  <a:pos x="14" y="3"/>
                </a:cxn>
              </a:cxnLst>
              <a:rect l="0" t="0" r="r" b="b"/>
              <a:pathLst>
                <a:path w="15" h="10">
                  <a:moveTo>
                    <a:pt x="14" y="3"/>
                  </a:moveTo>
                  <a:lnTo>
                    <a:pt x="14" y="4"/>
                  </a:lnTo>
                  <a:lnTo>
                    <a:pt x="10" y="0"/>
                  </a:lnTo>
                  <a:lnTo>
                    <a:pt x="4" y="0"/>
                  </a:lnTo>
                  <a:lnTo>
                    <a:pt x="0" y="4"/>
                  </a:lnTo>
                  <a:lnTo>
                    <a:pt x="0" y="9"/>
                  </a:lnTo>
                  <a:lnTo>
                    <a:pt x="8" y="7"/>
                  </a:lnTo>
                  <a:lnTo>
                    <a:pt x="8" y="8"/>
                  </a:lnTo>
                  <a:lnTo>
                    <a:pt x="8" y="8"/>
                  </a:lnTo>
                  <a:lnTo>
                    <a:pt x="7" y="8"/>
                  </a:lnTo>
                  <a:lnTo>
                    <a:pt x="7" y="9"/>
                  </a:lnTo>
                  <a:lnTo>
                    <a:pt x="14"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10" name="Freeform 170"/>
            <p:cNvSpPr>
              <a:spLocks noChangeAspect="1"/>
            </p:cNvSpPr>
            <p:nvPr/>
          </p:nvSpPr>
          <p:spPr bwMode="auto">
            <a:xfrm>
              <a:off x="1416" y="2856"/>
              <a:ext cx="18" cy="23"/>
            </a:xfrm>
            <a:custGeom>
              <a:avLst/>
              <a:gdLst/>
              <a:ahLst/>
              <a:cxnLst>
                <a:cxn ang="0">
                  <a:pos x="15" y="16"/>
                </a:cxn>
                <a:cxn ang="0">
                  <a:pos x="15" y="16"/>
                </a:cxn>
                <a:cxn ang="0">
                  <a:pos x="13" y="14"/>
                </a:cxn>
                <a:cxn ang="0">
                  <a:pos x="11" y="9"/>
                </a:cxn>
                <a:cxn ang="0">
                  <a:pos x="9" y="4"/>
                </a:cxn>
                <a:cxn ang="0">
                  <a:pos x="7" y="0"/>
                </a:cxn>
                <a:cxn ang="0">
                  <a:pos x="0" y="6"/>
                </a:cxn>
                <a:cxn ang="0">
                  <a:pos x="1" y="8"/>
                </a:cxn>
                <a:cxn ang="0">
                  <a:pos x="3" y="12"/>
                </a:cxn>
                <a:cxn ang="0">
                  <a:pos x="5" y="16"/>
                </a:cxn>
                <a:cxn ang="0">
                  <a:pos x="8" y="22"/>
                </a:cxn>
                <a:cxn ang="0">
                  <a:pos x="15" y="16"/>
                </a:cxn>
              </a:cxnLst>
              <a:rect l="0" t="0" r="r" b="b"/>
              <a:pathLst>
                <a:path w="16" h="23">
                  <a:moveTo>
                    <a:pt x="15" y="16"/>
                  </a:moveTo>
                  <a:lnTo>
                    <a:pt x="15" y="16"/>
                  </a:lnTo>
                  <a:lnTo>
                    <a:pt x="13" y="14"/>
                  </a:lnTo>
                  <a:lnTo>
                    <a:pt x="11" y="9"/>
                  </a:lnTo>
                  <a:lnTo>
                    <a:pt x="9" y="4"/>
                  </a:lnTo>
                  <a:lnTo>
                    <a:pt x="7" y="0"/>
                  </a:lnTo>
                  <a:lnTo>
                    <a:pt x="0" y="6"/>
                  </a:lnTo>
                  <a:lnTo>
                    <a:pt x="1" y="8"/>
                  </a:lnTo>
                  <a:lnTo>
                    <a:pt x="3" y="12"/>
                  </a:lnTo>
                  <a:lnTo>
                    <a:pt x="5" y="16"/>
                  </a:lnTo>
                  <a:lnTo>
                    <a:pt x="8" y="22"/>
                  </a:lnTo>
                  <a:lnTo>
                    <a:pt x="15" y="1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11" name="Freeform 171"/>
            <p:cNvSpPr>
              <a:spLocks noChangeAspect="1"/>
            </p:cNvSpPr>
            <p:nvPr/>
          </p:nvSpPr>
          <p:spPr bwMode="auto">
            <a:xfrm>
              <a:off x="1424" y="2872"/>
              <a:ext cx="20" cy="20"/>
            </a:xfrm>
            <a:custGeom>
              <a:avLst/>
              <a:gdLst/>
              <a:ahLst/>
              <a:cxnLst>
                <a:cxn ang="0">
                  <a:pos x="18" y="11"/>
                </a:cxn>
                <a:cxn ang="0">
                  <a:pos x="19" y="11"/>
                </a:cxn>
                <a:cxn ang="0">
                  <a:pos x="17" y="10"/>
                </a:cxn>
                <a:cxn ang="0">
                  <a:pos x="13" y="7"/>
                </a:cxn>
                <a:cxn ang="0">
                  <a:pos x="10" y="4"/>
                </a:cxn>
                <a:cxn ang="0">
                  <a:pos x="7" y="0"/>
                </a:cxn>
                <a:cxn ang="0">
                  <a:pos x="0" y="5"/>
                </a:cxn>
                <a:cxn ang="0">
                  <a:pos x="3" y="9"/>
                </a:cxn>
                <a:cxn ang="0">
                  <a:pos x="8" y="14"/>
                </a:cxn>
                <a:cxn ang="0">
                  <a:pos x="13" y="18"/>
                </a:cxn>
                <a:cxn ang="0">
                  <a:pos x="19" y="19"/>
                </a:cxn>
                <a:cxn ang="0">
                  <a:pos x="19" y="19"/>
                </a:cxn>
                <a:cxn ang="0">
                  <a:pos x="18" y="11"/>
                </a:cxn>
              </a:cxnLst>
              <a:rect l="0" t="0" r="r" b="b"/>
              <a:pathLst>
                <a:path w="20" h="20">
                  <a:moveTo>
                    <a:pt x="18" y="11"/>
                  </a:moveTo>
                  <a:lnTo>
                    <a:pt x="19" y="11"/>
                  </a:lnTo>
                  <a:lnTo>
                    <a:pt x="17" y="10"/>
                  </a:lnTo>
                  <a:lnTo>
                    <a:pt x="13" y="7"/>
                  </a:lnTo>
                  <a:lnTo>
                    <a:pt x="10" y="4"/>
                  </a:lnTo>
                  <a:lnTo>
                    <a:pt x="7" y="0"/>
                  </a:lnTo>
                  <a:lnTo>
                    <a:pt x="0" y="5"/>
                  </a:lnTo>
                  <a:lnTo>
                    <a:pt x="3" y="9"/>
                  </a:lnTo>
                  <a:lnTo>
                    <a:pt x="8" y="14"/>
                  </a:lnTo>
                  <a:lnTo>
                    <a:pt x="13" y="18"/>
                  </a:lnTo>
                  <a:lnTo>
                    <a:pt x="19" y="19"/>
                  </a:lnTo>
                  <a:lnTo>
                    <a:pt x="19" y="19"/>
                  </a:lnTo>
                  <a:lnTo>
                    <a:pt x="18" y="1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12" name="Freeform 172"/>
            <p:cNvSpPr>
              <a:spLocks noChangeAspect="1"/>
            </p:cNvSpPr>
            <p:nvPr/>
          </p:nvSpPr>
          <p:spPr bwMode="auto">
            <a:xfrm>
              <a:off x="1442" y="2879"/>
              <a:ext cx="22" cy="14"/>
            </a:xfrm>
            <a:custGeom>
              <a:avLst/>
              <a:gdLst/>
              <a:ahLst/>
              <a:cxnLst>
                <a:cxn ang="0">
                  <a:pos x="20" y="0"/>
                </a:cxn>
                <a:cxn ang="0">
                  <a:pos x="20" y="1"/>
                </a:cxn>
                <a:cxn ang="0">
                  <a:pos x="18" y="2"/>
                </a:cxn>
                <a:cxn ang="0">
                  <a:pos x="16" y="2"/>
                </a:cxn>
                <a:cxn ang="0">
                  <a:pos x="14" y="3"/>
                </a:cxn>
                <a:cxn ang="0">
                  <a:pos x="11" y="2"/>
                </a:cxn>
                <a:cxn ang="0">
                  <a:pos x="7" y="2"/>
                </a:cxn>
                <a:cxn ang="0">
                  <a:pos x="5" y="2"/>
                </a:cxn>
                <a:cxn ang="0">
                  <a:pos x="3" y="2"/>
                </a:cxn>
                <a:cxn ang="0">
                  <a:pos x="0" y="3"/>
                </a:cxn>
                <a:cxn ang="0">
                  <a:pos x="1" y="11"/>
                </a:cxn>
                <a:cxn ang="0">
                  <a:pos x="3" y="12"/>
                </a:cxn>
                <a:cxn ang="0">
                  <a:pos x="5" y="12"/>
                </a:cxn>
                <a:cxn ang="0">
                  <a:pos x="7" y="12"/>
                </a:cxn>
                <a:cxn ang="0">
                  <a:pos x="11" y="12"/>
                </a:cxn>
                <a:cxn ang="0">
                  <a:pos x="14" y="11"/>
                </a:cxn>
                <a:cxn ang="0">
                  <a:pos x="17" y="10"/>
                </a:cxn>
                <a:cxn ang="0">
                  <a:pos x="21" y="10"/>
                </a:cxn>
                <a:cxn ang="0">
                  <a:pos x="24" y="8"/>
                </a:cxn>
                <a:cxn ang="0">
                  <a:pos x="24" y="8"/>
                </a:cxn>
                <a:cxn ang="0">
                  <a:pos x="20" y="0"/>
                </a:cxn>
              </a:cxnLst>
              <a:rect l="0" t="0" r="r" b="b"/>
              <a:pathLst>
                <a:path w="25" h="13">
                  <a:moveTo>
                    <a:pt x="20" y="0"/>
                  </a:moveTo>
                  <a:lnTo>
                    <a:pt x="20" y="1"/>
                  </a:lnTo>
                  <a:lnTo>
                    <a:pt x="18" y="2"/>
                  </a:lnTo>
                  <a:lnTo>
                    <a:pt x="16" y="2"/>
                  </a:lnTo>
                  <a:lnTo>
                    <a:pt x="14" y="3"/>
                  </a:lnTo>
                  <a:lnTo>
                    <a:pt x="11" y="2"/>
                  </a:lnTo>
                  <a:lnTo>
                    <a:pt x="7" y="2"/>
                  </a:lnTo>
                  <a:lnTo>
                    <a:pt x="5" y="2"/>
                  </a:lnTo>
                  <a:lnTo>
                    <a:pt x="3" y="2"/>
                  </a:lnTo>
                  <a:lnTo>
                    <a:pt x="0" y="3"/>
                  </a:lnTo>
                  <a:lnTo>
                    <a:pt x="1" y="11"/>
                  </a:lnTo>
                  <a:lnTo>
                    <a:pt x="3" y="12"/>
                  </a:lnTo>
                  <a:lnTo>
                    <a:pt x="5" y="12"/>
                  </a:lnTo>
                  <a:lnTo>
                    <a:pt x="7" y="12"/>
                  </a:lnTo>
                  <a:lnTo>
                    <a:pt x="11" y="12"/>
                  </a:lnTo>
                  <a:lnTo>
                    <a:pt x="14" y="11"/>
                  </a:lnTo>
                  <a:lnTo>
                    <a:pt x="17" y="10"/>
                  </a:lnTo>
                  <a:lnTo>
                    <a:pt x="21" y="10"/>
                  </a:lnTo>
                  <a:lnTo>
                    <a:pt x="24" y="8"/>
                  </a:lnTo>
                  <a:lnTo>
                    <a:pt x="24" y="8"/>
                  </a:lnTo>
                  <a:lnTo>
                    <a:pt x="20"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13" name="Freeform 173"/>
            <p:cNvSpPr>
              <a:spLocks noChangeAspect="1"/>
            </p:cNvSpPr>
            <p:nvPr/>
          </p:nvSpPr>
          <p:spPr bwMode="auto">
            <a:xfrm>
              <a:off x="1462" y="2873"/>
              <a:ext cx="20" cy="16"/>
            </a:xfrm>
            <a:custGeom>
              <a:avLst/>
              <a:gdLst/>
              <a:ahLst/>
              <a:cxnLst>
                <a:cxn ang="0">
                  <a:pos x="19" y="0"/>
                </a:cxn>
                <a:cxn ang="0">
                  <a:pos x="18" y="0"/>
                </a:cxn>
                <a:cxn ang="0">
                  <a:pos x="14" y="1"/>
                </a:cxn>
                <a:cxn ang="0">
                  <a:pos x="10" y="2"/>
                </a:cxn>
                <a:cxn ang="0">
                  <a:pos x="5" y="4"/>
                </a:cxn>
                <a:cxn ang="0">
                  <a:pos x="0" y="7"/>
                </a:cxn>
                <a:cxn ang="0">
                  <a:pos x="4" y="15"/>
                </a:cxn>
                <a:cxn ang="0">
                  <a:pos x="9" y="12"/>
                </a:cxn>
                <a:cxn ang="0">
                  <a:pos x="13" y="10"/>
                </a:cxn>
                <a:cxn ang="0">
                  <a:pos x="15" y="9"/>
                </a:cxn>
                <a:cxn ang="0">
                  <a:pos x="18" y="9"/>
                </a:cxn>
                <a:cxn ang="0">
                  <a:pos x="17" y="8"/>
                </a:cxn>
                <a:cxn ang="0">
                  <a:pos x="19" y="0"/>
                </a:cxn>
              </a:cxnLst>
              <a:rect l="0" t="0" r="r" b="b"/>
              <a:pathLst>
                <a:path w="20" h="16">
                  <a:moveTo>
                    <a:pt x="19" y="0"/>
                  </a:moveTo>
                  <a:lnTo>
                    <a:pt x="18" y="0"/>
                  </a:lnTo>
                  <a:lnTo>
                    <a:pt x="14" y="1"/>
                  </a:lnTo>
                  <a:lnTo>
                    <a:pt x="10" y="2"/>
                  </a:lnTo>
                  <a:lnTo>
                    <a:pt x="5" y="4"/>
                  </a:lnTo>
                  <a:lnTo>
                    <a:pt x="0" y="7"/>
                  </a:lnTo>
                  <a:lnTo>
                    <a:pt x="4" y="15"/>
                  </a:lnTo>
                  <a:lnTo>
                    <a:pt x="9" y="12"/>
                  </a:lnTo>
                  <a:lnTo>
                    <a:pt x="13" y="10"/>
                  </a:lnTo>
                  <a:lnTo>
                    <a:pt x="15" y="9"/>
                  </a:lnTo>
                  <a:lnTo>
                    <a:pt x="18" y="9"/>
                  </a:lnTo>
                  <a:lnTo>
                    <a:pt x="17" y="8"/>
                  </a:lnTo>
                  <a:lnTo>
                    <a:pt x="19"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14" name="Freeform 174"/>
            <p:cNvSpPr>
              <a:spLocks noChangeAspect="1"/>
            </p:cNvSpPr>
            <p:nvPr/>
          </p:nvSpPr>
          <p:spPr bwMode="auto">
            <a:xfrm>
              <a:off x="1479" y="2864"/>
              <a:ext cx="11" cy="19"/>
            </a:xfrm>
            <a:custGeom>
              <a:avLst/>
              <a:gdLst/>
              <a:ahLst/>
              <a:cxnLst>
                <a:cxn ang="0">
                  <a:pos x="0" y="3"/>
                </a:cxn>
                <a:cxn ang="0">
                  <a:pos x="0" y="3"/>
                </a:cxn>
                <a:cxn ang="0">
                  <a:pos x="0" y="6"/>
                </a:cxn>
                <a:cxn ang="0">
                  <a:pos x="0" y="9"/>
                </a:cxn>
                <a:cxn ang="0">
                  <a:pos x="0" y="10"/>
                </a:cxn>
                <a:cxn ang="0">
                  <a:pos x="2" y="10"/>
                </a:cxn>
                <a:cxn ang="0">
                  <a:pos x="0" y="18"/>
                </a:cxn>
                <a:cxn ang="0">
                  <a:pos x="6" y="16"/>
                </a:cxn>
                <a:cxn ang="0">
                  <a:pos x="8" y="10"/>
                </a:cxn>
                <a:cxn ang="0">
                  <a:pos x="10" y="6"/>
                </a:cxn>
                <a:cxn ang="0">
                  <a:pos x="8" y="0"/>
                </a:cxn>
                <a:cxn ang="0">
                  <a:pos x="0" y="3"/>
                </a:cxn>
              </a:cxnLst>
              <a:rect l="0" t="0" r="r" b="b"/>
              <a:pathLst>
                <a:path w="11" h="19">
                  <a:moveTo>
                    <a:pt x="0" y="3"/>
                  </a:moveTo>
                  <a:lnTo>
                    <a:pt x="0" y="3"/>
                  </a:lnTo>
                  <a:lnTo>
                    <a:pt x="0" y="6"/>
                  </a:lnTo>
                  <a:lnTo>
                    <a:pt x="0" y="9"/>
                  </a:lnTo>
                  <a:lnTo>
                    <a:pt x="0" y="10"/>
                  </a:lnTo>
                  <a:lnTo>
                    <a:pt x="2" y="10"/>
                  </a:lnTo>
                  <a:lnTo>
                    <a:pt x="0" y="18"/>
                  </a:lnTo>
                  <a:lnTo>
                    <a:pt x="6" y="16"/>
                  </a:lnTo>
                  <a:lnTo>
                    <a:pt x="8" y="10"/>
                  </a:lnTo>
                  <a:lnTo>
                    <a:pt x="10" y="6"/>
                  </a:lnTo>
                  <a:lnTo>
                    <a:pt x="8" y="0"/>
                  </a:lnTo>
                  <a:lnTo>
                    <a:pt x="0"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15" name="Freeform 175"/>
            <p:cNvSpPr>
              <a:spLocks noChangeAspect="1"/>
            </p:cNvSpPr>
            <p:nvPr/>
          </p:nvSpPr>
          <p:spPr bwMode="auto">
            <a:xfrm>
              <a:off x="1472" y="2844"/>
              <a:ext cx="16" cy="24"/>
            </a:xfrm>
            <a:custGeom>
              <a:avLst/>
              <a:gdLst/>
              <a:ahLst/>
              <a:cxnLst>
                <a:cxn ang="0">
                  <a:pos x="0" y="8"/>
                </a:cxn>
                <a:cxn ang="0">
                  <a:pos x="0" y="8"/>
                </a:cxn>
                <a:cxn ang="0">
                  <a:pos x="5" y="11"/>
                </a:cxn>
                <a:cxn ang="0">
                  <a:pos x="7" y="13"/>
                </a:cxn>
                <a:cxn ang="0">
                  <a:pos x="7" y="17"/>
                </a:cxn>
                <a:cxn ang="0">
                  <a:pos x="7" y="23"/>
                </a:cxn>
                <a:cxn ang="0">
                  <a:pos x="15" y="20"/>
                </a:cxn>
                <a:cxn ang="0">
                  <a:pos x="15" y="17"/>
                </a:cxn>
                <a:cxn ang="0">
                  <a:pos x="15" y="11"/>
                </a:cxn>
                <a:cxn ang="0">
                  <a:pos x="11" y="4"/>
                </a:cxn>
                <a:cxn ang="0">
                  <a:pos x="1" y="0"/>
                </a:cxn>
                <a:cxn ang="0">
                  <a:pos x="0" y="8"/>
                </a:cxn>
              </a:cxnLst>
              <a:rect l="0" t="0" r="r" b="b"/>
              <a:pathLst>
                <a:path w="16" h="24">
                  <a:moveTo>
                    <a:pt x="0" y="8"/>
                  </a:moveTo>
                  <a:lnTo>
                    <a:pt x="0" y="8"/>
                  </a:lnTo>
                  <a:lnTo>
                    <a:pt x="5" y="11"/>
                  </a:lnTo>
                  <a:lnTo>
                    <a:pt x="7" y="13"/>
                  </a:lnTo>
                  <a:lnTo>
                    <a:pt x="7" y="17"/>
                  </a:lnTo>
                  <a:lnTo>
                    <a:pt x="7" y="23"/>
                  </a:lnTo>
                  <a:lnTo>
                    <a:pt x="15" y="20"/>
                  </a:lnTo>
                  <a:lnTo>
                    <a:pt x="15" y="17"/>
                  </a:lnTo>
                  <a:lnTo>
                    <a:pt x="15" y="11"/>
                  </a:lnTo>
                  <a:lnTo>
                    <a:pt x="11" y="4"/>
                  </a:lnTo>
                  <a:lnTo>
                    <a:pt x="1"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16" name="Freeform 176"/>
            <p:cNvSpPr>
              <a:spLocks noChangeAspect="1"/>
            </p:cNvSpPr>
            <p:nvPr/>
          </p:nvSpPr>
          <p:spPr bwMode="auto">
            <a:xfrm>
              <a:off x="1446" y="2837"/>
              <a:ext cx="28" cy="19"/>
            </a:xfrm>
            <a:custGeom>
              <a:avLst/>
              <a:gdLst/>
              <a:ahLst/>
              <a:cxnLst>
                <a:cxn ang="0">
                  <a:pos x="0" y="5"/>
                </a:cxn>
                <a:cxn ang="0">
                  <a:pos x="0" y="5"/>
                </a:cxn>
                <a:cxn ang="0">
                  <a:pos x="2" y="7"/>
                </a:cxn>
                <a:cxn ang="0">
                  <a:pos x="5" y="9"/>
                </a:cxn>
                <a:cxn ang="0">
                  <a:pos x="7" y="10"/>
                </a:cxn>
                <a:cxn ang="0">
                  <a:pos x="10" y="11"/>
                </a:cxn>
                <a:cxn ang="0">
                  <a:pos x="13" y="12"/>
                </a:cxn>
                <a:cxn ang="0">
                  <a:pos x="17" y="13"/>
                </a:cxn>
                <a:cxn ang="0">
                  <a:pos x="21" y="14"/>
                </a:cxn>
                <a:cxn ang="0">
                  <a:pos x="26" y="15"/>
                </a:cxn>
                <a:cxn ang="0">
                  <a:pos x="27" y="7"/>
                </a:cxn>
                <a:cxn ang="0">
                  <a:pos x="23" y="6"/>
                </a:cxn>
                <a:cxn ang="0">
                  <a:pos x="19" y="5"/>
                </a:cxn>
                <a:cxn ang="0">
                  <a:pos x="15" y="4"/>
                </a:cxn>
                <a:cxn ang="0">
                  <a:pos x="13" y="3"/>
                </a:cxn>
                <a:cxn ang="0">
                  <a:pos x="10" y="2"/>
                </a:cxn>
                <a:cxn ang="0">
                  <a:pos x="9" y="1"/>
                </a:cxn>
                <a:cxn ang="0">
                  <a:pos x="7" y="0"/>
                </a:cxn>
                <a:cxn ang="0">
                  <a:pos x="7" y="0"/>
                </a:cxn>
                <a:cxn ang="0">
                  <a:pos x="0" y="5"/>
                </a:cxn>
              </a:cxnLst>
              <a:rect l="0" t="0" r="r" b="b"/>
              <a:pathLst>
                <a:path w="28" h="16">
                  <a:moveTo>
                    <a:pt x="0" y="5"/>
                  </a:moveTo>
                  <a:lnTo>
                    <a:pt x="0" y="5"/>
                  </a:lnTo>
                  <a:lnTo>
                    <a:pt x="2" y="7"/>
                  </a:lnTo>
                  <a:lnTo>
                    <a:pt x="5" y="9"/>
                  </a:lnTo>
                  <a:lnTo>
                    <a:pt x="7" y="10"/>
                  </a:lnTo>
                  <a:lnTo>
                    <a:pt x="10" y="11"/>
                  </a:lnTo>
                  <a:lnTo>
                    <a:pt x="13" y="12"/>
                  </a:lnTo>
                  <a:lnTo>
                    <a:pt x="17" y="13"/>
                  </a:lnTo>
                  <a:lnTo>
                    <a:pt x="21" y="14"/>
                  </a:lnTo>
                  <a:lnTo>
                    <a:pt x="26" y="15"/>
                  </a:lnTo>
                  <a:lnTo>
                    <a:pt x="27" y="7"/>
                  </a:lnTo>
                  <a:lnTo>
                    <a:pt x="23" y="6"/>
                  </a:lnTo>
                  <a:lnTo>
                    <a:pt x="19" y="5"/>
                  </a:lnTo>
                  <a:lnTo>
                    <a:pt x="15" y="4"/>
                  </a:lnTo>
                  <a:lnTo>
                    <a:pt x="13" y="3"/>
                  </a:lnTo>
                  <a:lnTo>
                    <a:pt x="10" y="2"/>
                  </a:lnTo>
                  <a:lnTo>
                    <a:pt x="9" y="1"/>
                  </a:lnTo>
                  <a:lnTo>
                    <a:pt x="7" y="0"/>
                  </a:lnTo>
                  <a:lnTo>
                    <a:pt x="7" y="0"/>
                  </a:lnTo>
                  <a:lnTo>
                    <a:pt x="0"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17" name="Freeform 177"/>
            <p:cNvSpPr>
              <a:spLocks noChangeAspect="1"/>
            </p:cNvSpPr>
            <p:nvPr/>
          </p:nvSpPr>
          <p:spPr bwMode="auto">
            <a:xfrm>
              <a:off x="1436" y="2827"/>
              <a:ext cx="18" cy="16"/>
            </a:xfrm>
            <a:custGeom>
              <a:avLst/>
              <a:gdLst/>
              <a:ahLst/>
              <a:cxnLst>
                <a:cxn ang="0">
                  <a:pos x="0" y="8"/>
                </a:cxn>
                <a:cxn ang="0">
                  <a:pos x="0" y="9"/>
                </a:cxn>
                <a:cxn ang="0">
                  <a:pos x="3" y="9"/>
                </a:cxn>
                <a:cxn ang="0">
                  <a:pos x="5" y="10"/>
                </a:cxn>
                <a:cxn ang="0">
                  <a:pos x="8" y="13"/>
                </a:cxn>
                <a:cxn ang="0">
                  <a:pos x="10" y="15"/>
                </a:cxn>
                <a:cxn ang="0">
                  <a:pos x="17" y="10"/>
                </a:cxn>
                <a:cxn ang="0">
                  <a:pos x="13" y="6"/>
                </a:cxn>
                <a:cxn ang="0">
                  <a:pos x="10" y="4"/>
                </a:cxn>
                <a:cxn ang="0">
                  <a:pos x="5" y="1"/>
                </a:cxn>
                <a:cxn ang="0">
                  <a:pos x="0" y="0"/>
                </a:cxn>
                <a:cxn ang="0">
                  <a:pos x="0" y="0"/>
                </a:cxn>
                <a:cxn ang="0">
                  <a:pos x="0" y="8"/>
                </a:cxn>
              </a:cxnLst>
              <a:rect l="0" t="0" r="r" b="b"/>
              <a:pathLst>
                <a:path w="18" h="16">
                  <a:moveTo>
                    <a:pt x="0" y="8"/>
                  </a:moveTo>
                  <a:lnTo>
                    <a:pt x="0" y="9"/>
                  </a:lnTo>
                  <a:lnTo>
                    <a:pt x="3" y="9"/>
                  </a:lnTo>
                  <a:lnTo>
                    <a:pt x="5" y="10"/>
                  </a:lnTo>
                  <a:lnTo>
                    <a:pt x="8" y="13"/>
                  </a:lnTo>
                  <a:lnTo>
                    <a:pt x="10" y="15"/>
                  </a:lnTo>
                  <a:lnTo>
                    <a:pt x="17" y="10"/>
                  </a:lnTo>
                  <a:lnTo>
                    <a:pt x="13" y="6"/>
                  </a:lnTo>
                  <a:lnTo>
                    <a:pt x="10" y="4"/>
                  </a:lnTo>
                  <a:lnTo>
                    <a:pt x="5" y="1"/>
                  </a:lnTo>
                  <a:lnTo>
                    <a:pt x="0" y="0"/>
                  </a:lnTo>
                  <a:lnTo>
                    <a:pt x="0"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18" name="Freeform 178"/>
            <p:cNvSpPr>
              <a:spLocks noChangeAspect="1"/>
            </p:cNvSpPr>
            <p:nvPr/>
          </p:nvSpPr>
          <p:spPr bwMode="auto">
            <a:xfrm>
              <a:off x="1414" y="2828"/>
              <a:ext cx="23" cy="8"/>
            </a:xfrm>
            <a:custGeom>
              <a:avLst/>
              <a:gdLst/>
              <a:ahLst/>
              <a:cxnLst>
                <a:cxn ang="0">
                  <a:pos x="8" y="9"/>
                </a:cxn>
                <a:cxn ang="0">
                  <a:pos x="8" y="10"/>
                </a:cxn>
                <a:cxn ang="0">
                  <a:pos x="13" y="9"/>
                </a:cxn>
                <a:cxn ang="0">
                  <a:pos x="18" y="7"/>
                </a:cxn>
                <a:cxn ang="0">
                  <a:pos x="23" y="7"/>
                </a:cxn>
                <a:cxn ang="0">
                  <a:pos x="23" y="0"/>
                </a:cxn>
                <a:cxn ang="0">
                  <a:pos x="18" y="0"/>
                </a:cxn>
                <a:cxn ang="0">
                  <a:pos x="12" y="1"/>
                </a:cxn>
                <a:cxn ang="0">
                  <a:pos x="6" y="3"/>
                </a:cxn>
                <a:cxn ang="0">
                  <a:pos x="0" y="6"/>
                </a:cxn>
                <a:cxn ang="0">
                  <a:pos x="0" y="7"/>
                </a:cxn>
                <a:cxn ang="0">
                  <a:pos x="8" y="9"/>
                </a:cxn>
              </a:cxnLst>
              <a:rect l="0" t="0" r="r" b="b"/>
              <a:pathLst>
                <a:path w="24" h="11">
                  <a:moveTo>
                    <a:pt x="8" y="9"/>
                  </a:moveTo>
                  <a:lnTo>
                    <a:pt x="8" y="10"/>
                  </a:lnTo>
                  <a:lnTo>
                    <a:pt x="13" y="9"/>
                  </a:lnTo>
                  <a:lnTo>
                    <a:pt x="18" y="7"/>
                  </a:lnTo>
                  <a:lnTo>
                    <a:pt x="23" y="7"/>
                  </a:lnTo>
                  <a:lnTo>
                    <a:pt x="23" y="0"/>
                  </a:lnTo>
                  <a:lnTo>
                    <a:pt x="18" y="0"/>
                  </a:lnTo>
                  <a:lnTo>
                    <a:pt x="12" y="1"/>
                  </a:lnTo>
                  <a:lnTo>
                    <a:pt x="6" y="3"/>
                  </a:lnTo>
                  <a:lnTo>
                    <a:pt x="0" y="6"/>
                  </a:lnTo>
                  <a:lnTo>
                    <a:pt x="0" y="7"/>
                  </a:lnTo>
                  <a:lnTo>
                    <a:pt x="8"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19" name="Freeform 179"/>
            <p:cNvSpPr>
              <a:spLocks noChangeAspect="1"/>
            </p:cNvSpPr>
            <p:nvPr/>
          </p:nvSpPr>
          <p:spPr bwMode="auto">
            <a:xfrm>
              <a:off x="1406" y="2835"/>
              <a:ext cx="18" cy="8"/>
            </a:xfrm>
            <a:custGeom>
              <a:avLst/>
              <a:gdLst/>
              <a:ahLst/>
              <a:cxnLst>
                <a:cxn ang="0">
                  <a:pos x="0" y="0"/>
                </a:cxn>
                <a:cxn ang="0">
                  <a:pos x="1" y="0"/>
                </a:cxn>
                <a:cxn ang="0">
                  <a:pos x="3" y="5"/>
                </a:cxn>
                <a:cxn ang="0">
                  <a:pos x="7" y="8"/>
                </a:cxn>
                <a:cxn ang="0">
                  <a:pos x="12" y="8"/>
                </a:cxn>
                <a:cxn ang="0">
                  <a:pos x="15" y="3"/>
                </a:cxn>
                <a:cxn ang="0">
                  <a:pos x="7" y="2"/>
                </a:cxn>
                <a:cxn ang="0">
                  <a:pos x="8" y="1"/>
                </a:cxn>
                <a:cxn ang="0">
                  <a:pos x="9" y="1"/>
                </a:cxn>
                <a:cxn ang="0">
                  <a:pos x="9" y="0"/>
                </a:cxn>
                <a:cxn ang="0">
                  <a:pos x="9" y="0"/>
                </a:cxn>
                <a:cxn ang="0">
                  <a:pos x="0" y="0"/>
                </a:cxn>
              </a:cxnLst>
              <a:rect l="0" t="0" r="r" b="b"/>
              <a:pathLst>
                <a:path w="16" h="9">
                  <a:moveTo>
                    <a:pt x="0" y="0"/>
                  </a:moveTo>
                  <a:lnTo>
                    <a:pt x="1" y="0"/>
                  </a:lnTo>
                  <a:lnTo>
                    <a:pt x="3" y="5"/>
                  </a:lnTo>
                  <a:lnTo>
                    <a:pt x="7" y="8"/>
                  </a:lnTo>
                  <a:lnTo>
                    <a:pt x="12" y="8"/>
                  </a:lnTo>
                  <a:lnTo>
                    <a:pt x="15" y="3"/>
                  </a:lnTo>
                  <a:lnTo>
                    <a:pt x="7" y="2"/>
                  </a:lnTo>
                  <a:lnTo>
                    <a:pt x="8" y="1"/>
                  </a:lnTo>
                  <a:lnTo>
                    <a:pt x="9" y="1"/>
                  </a:lnTo>
                  <a:lnTo>
                    <a:pt x="9" y="0"/>
                  </a:lnTo>
                  <a:lnTo>
                    <a:pt x="9" y="0"/>
                  </a:lnTo>
                  <a:lnTo>
                    <a:pt x="0"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20" name="Freeform 180"/>
            <p:cNvSpPr>
              <a:spLocks noChangeAspect="1"/>
            </p:cNvSpPr>
            <p:nvPr/>
          </p:nvSpPr>
          <p:spPr bwMode="auto">
            <a:xfrm>
              <a:off x="1404" y="2820"/>
              <a:ext cx="12" cy="15"/>
            </a:xfrm>
            <a:custGeom>
              <a:avLst/>
              <a:gdLst/>
              <a:ahLst/>
              <a:cxnLst>
                <a:cxn ang="0">
                  <a:pos x="0" y="5"/>
                </a:cxn>
                <a:cxn ang="0">
                  <a:pos x="0" y="5"/>
                </a:cxn>
                <a:cxn ang="0">
                  <a:pos x="0" y="6"/>
                </a:cxn>
                <a:cxn ang="0">
                  <a:pos x="2" y="9"/>
                </a:cxn>
                <a:cxn ang="0">
                  <a:pos x="3" y="11"/>
                </a:cxn>
                <a:cxn ang="0">
                  <a:pos x="3" y="14"/>
                </a:cxn>
                <a:cxn ang="0">
                  <a:pos x="12" y="14"/>
                </a:cxn>
                <a:cxn ang="0">
                  <a:pos x="11" y="9"/>
                </a:cxn>
                <a:cxn ang="0">
                  <a:pos x="10" y="4"/>
                </a:cxn>
                <a:cxn ang="0">
                  <a:pos x="7" y="1"/>
                </a:cxn>
                <a:cxn ang="0">
                  <a:pos x="6" y="0"/>
                </a:cxn>
                <a:cxn ang="0">
                  <a:pos x="0" y="5"/>
                </a:cxn>
              </a:cxnLst>
              <a:rect l="0" t="0" r="r" b="b"/>
              <a:pathLst>
                <a:path w="13" h="15">
                  <a:moveTo>
                    <a:pt x="0" y="5"/>
                  </a:moveTo>
                  <a:lnTo>
                    <a:pt x="0" y="5"/>
                  </a:lnTo>
                  <a:lnTo>
                    <a:pt x="0" y="6"/>
                  </a:lnTo>
                  <a:lnTo>
                    <a:pt x="2" y="9"/>
                  </a:lnTo>
                  <a:lnTo>
                    <a:pt x="3" y="11"/>
                  </a:lnTo>
                  <a:lnTo>
                    <a:pt x="3" y="14"/>
                  </a:lnTo>
                  <a:lnTo>
                    <a:pt x="12" y="14"/>
                  </a:lnTo>
                  <a:lnTo>
                    <a:pt x="11" y="9"/>
                  </a:lnTo>
                  <a:lnTo>
                    <a:pt x="10" y="4"/>
                  </a:lnTo>
                  <a:lnTo>
                    <a:pt x="7" y="1"/>
                  </a:lnTo>
                  <a:lnTo>
                    <a:pt x="6" y="0"/>
                  </a:lnTo>
                  <a:lnTo>
                    <a:pt x="0"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21" name="Freeform 181"/>
            <p:cNvSpPr>
              <a:spLocks noChangeAspect="1"/>
            </p:cNvSpPr>
            <p:nvPr/>
          </p:nvSpPr>
          <p:spPr bwMode="auto">
            <a:xfrm>
              <a:off x="1394" y="2898"/>
              <a:ext cx="23" cy="17"/>
            </a:xfrm>
            <a:custGeom>
              <a:avLst/>
              <a:gdLst/>
              <a:ahLst/>
              <a:cxnLst>
                <a:cxn ang="0">
                  <a:pos x="11" y="2"/>
                </a:cxn>
                <a:cxn ang="0">
                  <a:pos x="9" y="1"/>
                </a:cxn>
                <a:cxn ang="0">
                  <a:pos x="6" y="0"/>
                </a:cxn>
                <a:cxn ang="0">
                  <a:pos x="4" y="0"/>
                </a:cxn>
                <a:cxn ang="0">
                  <a:pos x="2" y="1"/>
                </a:cxn>
                <a:cxn ang="0">
                  <a:pos x="1" y="4"/>
                </a:cxn>
                <a:cxn ang="0">
                  <a:pos x="0" y="6"/>
                </a:cxn>
                <a:cxn ang="0">
                  <a:pos x="0" y="8"/>
                </a:cxn>
                <a:cxn ang="0">
                  <a:pos x="0" y="10"/>
                </a:cxn>
                <a:cxn ang="0">
                  <a:pos x="1" y="13"/>
                </a:cxn>
                <a:cxn ang="0">
                  <a:pos x="3" y="15"/>
                </a:cxn>
                <a:cxn ang="0">
                  <a:pos x="4" y="16"/>
                </a:cxn>
                <a:cxn ang="0">
                  <a:pos x="7" y="16"/>
                </a:cxn>
                <a:cxn ang="0">
                  <a:pos x="9" y="15"/>
                </a:cxn>
                <a:cxn ang="0">
                  <a:pos x="13" y="14"/>
                </a:cxn>
                <a:cxn ang="0">
                  <a:pos x="15" y="14"/>
                </a:cxn>
                <a:cxn ang="0">
                  <a:pos x="18" y="14"/>
                </a:cxn>
                <a:cxn ang="0">
                  <a:pos x="21" y="12"/>
                </a:cxn>
                <a:cxn ang="0">
                  <a:pos x="22" y="10"/>
                </a:cxn>
                <a:cxn ang="0">
                  <a:pos x="22" y="8"/>
                </a:cxn>
                <a:cxn ang="0">
                  <a:pos x="22" y="5"/>
                </a:cxn>
                <a:cxn ang="0">
                  <a:pos x="20" y="3"/>
                </a:cxn>
                <a:cxn ang="0">
                  <a:pos x="17" y="2"/>
                </a:cxn>
                <a:cxn ang="0">
                  <a:pos x="14" y="2"/>
                </a:cxn>
                <a:cxn ang="0">
                  <a:pos x="11" y="2"/>
                </a:cxn>
              </a:cxnLst>
              <a:rect l="0" t="0" r="r" b="b"/>
              <a:pathLst>
                <a:path w="23" h="17">
                  <a:moveTo>
                    <a:pt x="11" y="2"/>
                  </a:moveTo>
                  <a:lnTo>
                    <a:pt x="9" y="1"/>
                  </a:lnTo>
                  <a:lnTo>
                    <a:pt x="6" y="0"/>
                  </a:lnTo>
                  <a:lnTo>
                    <a:pt x="4" y="0"/>
                  </a:lnTo>
                  <a:lnTo>
                    <a:pt x="2" y="1"/>
                  </a:lnTo>
                  <a:lnTo>
                    <a:pt x="1" y="4"/>
                  </a:lnTo>
                  <a:lnTo>
                    <a:pt x="0" y="6"/>
                  </a:lnTo>
                  <a:lnTo>
                    <a:pt x="0" y="8"/>
                  </a:lnTo>
                  <a:lnTo>
                    <a:pt x="0" y="10"/>
                  </a:lnTo>
                  <a:lnTo>
                    <a:pt x="1" y="13"/>
                  </a:lnTo>
                  <a:lnTo>
                    <a:pt x="3" y="15"/>
                  </a:lnTo>
                  <a:lnTo>
                    <a:pt x="4" y="16"/>
                  </a:lnTo>
                  <a:lnTo>
                    <a:pt x="7" y="16"/>
                  </a:lnTo>
                  <a:lnTo>
                    <a:pt x="9" y="15"/>
                  </a:lnTo>
                  <a:lnTo>
                    <a:pt x="13" y="14"/>
                  </a:lnTo>
                  <a:lnTo>
                    <a:pt x="15" y="14"/>
                  </a:lnTo>
                  <a:lnTo>
                    <a:pt x="18" y="14"/>
                  </a:lnTo>
                  <a:lnTo>
                    <a:pt x="21" y="12"/>
                  </a:lnTo>
                  <a:lnTo>
                    <a:pt x="22" y="10"/>
                  </a:lnTo>
                  <a:lnTo>
                    <a:pt x="22" y="8"/>
                  </a:lnTo>
                  <a:lnTo>
                    <a:pt x="22" y="5"/>
                  </a:lnTo>
                  <a:lnTo>
                    <a:pt x="20" y="3"/>
                  </a:lnTo>
                  <a:lnTo>
                    <a:pt x="17" y="2"/>
                  </a:lnTo>
                  <a:lnTo>
                    <a:pt x="14" y="2"/>
                  </a:lnTo>
                  <a:lnTo>
                    <a:pt x="11"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22" name="Freeform 182"/>
            <p:cNvSpPr>
              <a:spLocks noChangeAspect="1"/>
            </p:cNvSpPr>
            <p:nvPr/>
          </p:nvSpPr>
          <p:spPr bwMode="auto">
            <a:xfrm>
              <a:off x="1394" y="2894"/>
              <a:ext cx="14" cy="8"/>
            </a:xfrm>
            <a:custGeom>
              <a:avLst/>
              <a:gdLst/>
              <a:ahLst/>
              <a:cxnLst>
                <a:cxn ang="0">
                  <a:pos x="6" y="7"/>
                </a:cxn>
                <a:cxn ang="0">
                  <a:pos x="6" y="7"/>
                </a:cxn>
                <a:cxn ang="0">
                  <a:pos x="6" y="8"/>
                </a:cxn>
                <a:cxn ang="0">
                  <a:pos x="8" y="9"/>
                </a:cxn>
                <a:cxn ang="0">
                  <a:pos x="10" y="10"/>
                </a:cxn>
                <a:cxn ang="0">
                  <a:pos x="14" y="2"/>
                </a:cxn>
                <a:cxn ang="0">
                  <a:pos x="12" y="1"/>
                </a:cxn>
                <a:cxn ang="0">
                  <a:pos x="8" y="0"/>
                </a:cxn>
                <a:cxn ang="0">
                  <a:pos x="4" y="0"/>
                </a:cxn>
                <a:cxn ang="0">
                  <a:pos x="0" y="3"/>
                </a:cxn>
                <a:cxn ang="0">
                  <a:pos x="6" y="7"/>
                </a:cxn>
              </a:cxnLst>
              <a:rect l="0" t="0" r="r" b="b"/>
              <a:pathLst>
                <a:path w="15" h="11">
                  <a:moveTo>
                    <a:pt x="6" y="7"/>
                  </a:moveTo>
                  <a:lnTo>
                    <a:pt x="6" y="7"/>
                  </a:lnTo>
                  <a:lnTo>
                    <a:pt x="6" y="8"/>
                  </a:lnTo>
                  <a:lnTo>
                    <a:pt x="8" y="9"/>
                  </a:lnTo>
                  <a:lnTo>
                    <a:pt x="10" y="10"/>
                  </a:lnTo>
                  <a:lnTo>
                    <a:pt x="14" y="2"/>
                  </a:lnTo>
                  <a:lnTo>
                    <a:pt x="12" y="1"/>
                  </a:lnTo>
                  <a:lnTo>
                    <a:pt x="8" y="0"/>
                  </a:lnTo>
                  <a:lnTo>
                    <a:pt x="4" y="0"/>
                  </a:lnTo>
                  <a:lnTo>
                    <a:pt x="0" y="3"/>
                  </a:lnTo>
                  <a:lnTo>
                    <a:pt x="6" y="7"/>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23" name="Freeform 183"/>
            <p:cNvSpPr>
              <a:spLocks noChangeAspect="1"/>
            </p:cNvSpPr>
            <p:nvPr/>
          </p:nvSpPr>
          <p:spPr bwMode="auto">
            <a:xfrm>
              <a:off x="1389" y="2897"/>
              <a:ext cx="11" cy="14"/>
            </a:xfrm>
            <a:custGeom>
              <a:avLst/>
              <a:gdLst/>
              <a:ahLst/>
              <a:cxnLst>
                <a:cxn ang="0">
                  <a:pos x="8" y="10"/>
                </a:cxn>
                <a:cxn ang="0">
                  <a:pos x="8" y="11"/>
                </a:cxn>
                <a:cxn ang="0">
                  <a:pos x="9" y="9"/>
                </a:cxn>
                <a:cxn ang="0">
                  <a:pos x="8" y="7"/>
                </a:cxn>
                <a:cxn ang="0">
                  <a:pos x="9" y="6"/>
                </a:cxn>
                <a:cxn ang="0">
                  <a:pos x="10" y="4"/>
                </a:cxn>
                <a:cxn ang="0">
                  <a:pos x="3" y="0"/>
                </a:cxn>
                <a:cxn ang="0">
                  <a:pos x="1" y="3"/>
                </a:cxn>
                <a:cxn ang="0">
                  <a:pos x="0" y="7"/>
                </a:cxn>
                <a:cxn ang="0">
                  <a:pos x="0" y="9"/>
                </a:cxn>
                <a:cxn ang="0">
                  <a:pos x="0" y="12"/>
                </a:cxn>
                <a:cxn ang="0">
                  <a:pos x="0" y="13"/>
                </a:cxn>
                <a:cxn ang="0">
                  <a:pos x="8" y="10"/>
                </a:cxn>
              </a:cxnLst>
              <a:rect l="0" t="0" r="r" b="b"/>
              <a:pathLst>
                <a:path w="11" h="14">
                  <a:moveTo>
                    <a:pt x="8" y="10"/>
                  </a:moveTo>
                  <a:lnTo>
                    <a:pt x="8" y="11"/>
                  </a:lnTo>
                  <a:lnTo>
                    <a:pt x="9" y="9"/>
                  </a:lnTo>
                  <a:lnTo>
                    <a:pt x="8" y="7"/>
                  </a:lnTo>
                  <a:lnTo>
                    <a:pt x="9" y="6"/>
                  </a:lnTo>
                  <a:lnTo>
                    <a:pt x="10" y="4"/>
                  </a:lnTo>
                  <a:lnTo>
                    <a:pt x="3" y="0"/>
                  </a:lnTo>
                  <a:lnTo>
                    <a:pt x="1" y="3"/>
                  </a:lnTo>
                  <a:lnTo>
                    <a:pt x="0" y="7"/>
                  </a:lnTo>
                  <a:lnTo>
                    <a:pt x="0" y="9"/>
                  </a:lnTo>
                  <a:lnTo>
                    <a:pt x="0" y="12"/>
                  </a:lnTo>
                  <a:lnTo>
                    <a:pt x="0" y="13"/>
                  </a:lnTo>
                  <a:lnTo>
                    <a:pt x="8" y="1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24" name="Freeform 184"/>
            <p:cNvSpPr>
              <a:spLocks noChangeAspect="1"/>
            </p:cNvSpPr>
            <p:nvPr/>
          </p:nvSpPr>
          <p:spPr bwMode="auto">
            <a:xfrm>
              <a:off x="1390" y="2907"/>
              <a:ext cx="13" cy="15"/>
            </a:xfrm>
            <a:custGeom>
              <a:avLst/>
              <a:gdLst/>
              <a:ahLst/>
              <a:cxnLst>
                <a:cxn ang="0">
                  <a:pos x="9" y="3"/>
                </a:cxn>
                <a:cxn ang="0">
                  <a:pos x="9" y="3"/>
                </a:cxn>
                <a:cxn ang="0">
                  <a:pos x="9" y="3"/>
                </a:cxn>
                <a:cxn ang="0">
                  <a:pos x="9" y="3"/>
                </a:cxn>
                <a:cxn ang="0">
                  <a:pos x="9" y="2"/>
                </a:cxn>
                <a:cxn ang="0">
                  <a:pos x="8" y="0"/>
                </a:cxn>
                <a:cxn ang="0">
                  <a:pos x="0" y="3"/>
                </a:cxn>
                <a:cxn ang="0">
                  <a:pos x="1" y="6"/>
                </a:cxn>
                <a:cxn ang="0">
                  <a:pos x="4" y="9"/>
                </a:cxn>
                <a:cxn ang="0">
                  <a:pos x="7" y="11"/>
                </a:cxn>
                <a:cxn ang="0">
                  <a:pos x="12" y="11"/>
                </a:cxn>
                <a:cxn ang="0">
                  <a:pos x="9" y="3"/>
                </a:cxn>
              </a:cxnLst>
              <a:rect l="0" t="0" r="r" b="b"/>
              <a:pathLst>
                <a:path w="13" h="12">
                  <a:moveTo>
                    <a:pt x="9" y="3"/>
                  </a:moveTo>
                  <a:lnTo>
                    <a:pt x="9" y="3"/>
                  </a:lnTo>
                  <a:lnTo>
                    <a:pt x="9" y="3"/>
                  </a:lnTo>
                  <a:lnTo>
                    <a:pt x="9" y="3"/>
                  </a:lnTo>
                  <a:lnTo>
                    <a:pt x="9" y="2"/>
                  </a:lnTo>
                  <a:lnTo>
                    <a:pt x="8" y="0"/>
                  </a:lnTo>
                  <a:lnTo>
                    <a:pt x="0" y="3"/>
                  </a:lnTo>
                  <a:lnTo>
                    <a:pt x="1" y="6"/>
                  </a:lnTo>
                  <a:lnTo>
                    <a:pt x="4" y="9"/>
                  </a:lnTo>
                  <a:lnTo>
                    <a:pt x="7" y="11"/>
                  </a:lnTo>
                  <a:lnTo>
                    <a:pt x="12" y="11"/>
                  </a:lnTo>
                  <a:lnTo>
                    <a:pt x="9"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25" name="Freeform 185"/>
            <p:cNvSpPr>
              <a:spLocks noChangeAspect="1"/>
            </p:cNvSpPr>
            <p:nvPr/>
          </p:nvSpPr>
          <p:spPr bwMode="auto">
            <a:xfrm>
              <a:off x="1399" y="2907"/>
              <a:ext cx="14" cy="15"/>
            </a:xfrm>
            <a:custGeom>
              <a:avLst/>
              <a:gdLst/>
              <a:ahLst/>
              <a:cxnLst>
                <a:cxn ang="0">
                  <a:pos x="12" y="1"/>
                </a:cxn>
                <a:cxn ang="0">
                  <a:pos x="13" y="0"/>
                </a:cxn>
                <a:cxn ang="0">
                  <a:pos x="10" y="1"/>
                </a:cxn>
                <a:cxn ang="0">
                  <a:pos x="7" y="1"/>
                </a:cxn>
                <a:cxn ang="0">
                  <a:pos x="4" y="2"/>
                </a:cxn>
                <a:cxn ang="0">
                  <a:pos x="0" y="3"/>
                </a:cxn>
                <a:cxn ang="0">
                  <a:pos x="3" y="11"/>
                </a:cxn>
                <a:cxn ang="0">
                  <a:pos x="5" y="10"/>
                </a:cxn>
                <a:cxn ang="0">
                  <a:pos x="8" y="9"/>
                </a:cxn>
                <a:cxn ang="0">
                  <a:pos x="10" y="9"/>
                </a:cxn>
                <a:cxn ang="0">
                  <a:pos x="13" y="9"/>
                </a:cxn>
                <a:cxn ang="0">
                  <a:pos x="14" y="9"/>
                </a:cxn>
                <a:cxn ang="0">
                  <a:pos x="12" y="1"/>
                </a:cxn>
              </a:cxnLst>
              <a:rect l="0" t="0" r="r" b="b"/>
              <a:pathLst>
                <a:path w="15" h="12">
                  <a:moveTo>
                    <a:pt x="12" y="1"/>
                  </a:moveTo>
                  <a:lnTo>
                    <a:pt x="13" y="0"/>
                  </a:lnTo>
                  <a:lnTo>
                    <a:pt x="10" y="1"/>
                  </a:lnTo>
                  <a:lnTo>
                    <a:pt x="7" y="1"/>
                  </a:lnTo>
                  <a:lnTo>
                    <a:pt x="4" y="2"/>
                  </a:lnTo>
                  <a:lnTo>
                    <a:pt x="0" y="3"/>
                  </a:lnTo>
                  <a:lnTo>
                    <a:pt x="3" y="11"/>
                  </a:lnTo>
                  <a:lnTo>
                    <a:pt x="5" y="10"/>
                  </a:lnTo>
                  <a:lnTo>
                    <a:pt x="8" y="9"/>
                  </a:lnTo>
                  <a:lnTo>
                    <a:pt x="10" y="9"/>
                  </a:lnTo>
                  <a:lnTo>
                    <a:pt x="13" y="9"/>
                  </a:lnTo>
                  <a:lnTo>
                    <a:pt x="14" y="9"/>
                  </a:lnTo>
                  <a:lnTo>
                    <a:pt x="12"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26" name="Freeform 186"/>
            <p:cNvSpPr>
              <a:spLocks noChangeAspect="1"/>
            </p:cNvSpPr>
            <p:nvPr/>
          </p:nvSpPr>
          <p:spPr bwMode="auto">
            <a:xfrm>
              <a:off x="1411" y="2902"/>
              <a:ext cx="11" cy="15"/>
            </a:xfrm>
            <a:custGeom>
              <a:avLst/>
              <a:gdLst/>
              <a:ahLst/>
              <a:cxnLst>
                <a:cxn ang="0">
                  <a:pos x="1" y="2"/>
                </a:cxn>
                <a:cxn ang="0">
                  <a:pos x="1" y="2"/>
                </a:cxn>
                <a:cxn ang="0">
                  <a:pos x="0" y="4"/>
                </a:cxn>
                <a:cxn ang="0">
                  <a:pos x="1" y="6"/>
                </a:cxn>
                <a:cxn ang="0">
                  <a:pos x="1" y="5"/>
                </a:cxn>
                <a:cxn ang="0">
                  <a:pos x="0" y="6"/>
                </a:cxn>
                <a:cxn ang="0">
                  <a:pos x="2" y="14"/>
                </a:cxn>
                <a:cxn ang="0">
                  <a:pos x="6" y="12"/>
                </a:cxn>
                <a:cxn ang="0">
                  <a:pos x="9" y="7"/>
                </a:cxn>
                <a:cxn ang="0">
                  <a:pos x="10" y="4"/>
                </a:cxn>
                <a:cxn ang="0">
                  <a:pos x="9" y="0"/>
                </a:cxn>
                <a:cxn ang="0">
                  <a:pos x="1" y="2"/>
                </a:cxn>
              </a:cxnLst>
              <a:rect l="0" t="0" r="r" b="b"/>
              <a:pathLst>
                <a:path w="11" h="15">
                  <a:moveTo>
                    <a:pt x="1" y="2"/>
                  </a:moveTo>
                  <a:lnTo>
                    <a:pt x="1" y="2"/>
                  </a:lnTo>
                  <a:lnTo>
                    <a:pt x="0" y="4"/>
                  </a:lnTo>
                  <a:lnTo>
                    <a:pt x="1" y="6"/>
                  </a:lnTo>
                  <a:lnTo>
                    <a:pt x="1" y="5"/>
                  </a:lnTo>
                  <a:lnTo>
                    <a:pt x="0" y="6"/>
                  </a:lnTo>
                  <a:lnTo>
                    <a:pt x="2" y="14"/>
                  </a:lnTo>
                  <a:lnTo>
                    <a:pt x="6" y="12"/>
                  </a:lnTo>
                  <a:lnTo>
                    <a:pt x="9" y="7"/>
                  </a:lnTo>
                  <a:lnTo>
                    <a:pt x="10" y="4"/>
                  </a:lnTo>
                  <a:lnTo>
                    <a:pt x="9" y="0"/>
                  </a:lnTo>
                  <a:lnTo>
                    <a:pt x="1"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27" name="Freeform 187"/>
            <p:cNvSpPr>
              <a:spLocks noChangeAspect="1"/>
            </p:cNvSpPr>
            <p:nvPr/>
          </p:nvSpPr>
          <p:spPr bwMode="auto">
            <a:xfrm>
              <a:off x="1404" y="2896"/>
              <a:ext cx="20" cy="7"/>
            </a:xfrm>
            <a:custGeom>
              <a:avLst/>
              <a:gdLst/>
              <a:ahLst/>
              <a:cxnLst>
                <a:cxn ang="0">
                  <a:pos x="0" y="8"/>
                </a:cxn>
                <a:cxn ang="0">
                  <a:pos x="0" y="8"/>
                </a:cxn>
                <a:cxn ang="0">
                  <a:pos x="5" y="9"/>
                </a:cxn>
                <a:cxn ang="0">
                  <a:pos x="8" y="8"/>
                </a:cxn>
                <a:cxn ang="0">
                  <a:pos x="9" y="9"/>
                </a:cxn>
                <a:cxn ang="0">
                  <a:pos x="9" y="8"/>
                </a:cxn>
                <a:cxn ang="0">
                  <a:pos x="17" y="6"/>
                </a:cxn>
                <a:cxn ang="0">
                  <a:pos x="13" y="1"/>
                </a:cxn>
                <a:cxn ang="0">
                  <a:pos x="8" y="0"/>
                </a:cxn>
                <a:cxn ang="0">
                  <a:pos x="5" y="0"/>
                </a:cxn>
                <a:cxn ang="0">
                  <a:pos x="4" y="0"/>
                </a:cxn>
                <a:cxn ang="0">
                  <a:pos x="0" y="8"/>
                </a:cxn>
              </a:cxnLst>
              <a:rect l="0" t="0" r="r" b="b"/>
              <a:pathLst>
                <a:path w="18" h="10">
                  <a:moveTo>
                    <a:pt x="0" y="8"/>
                  </a:moveTo>
                  <a:lnTo>
                    <a:pt x="0" y="8"/>
                  </a:lnTo>
                  <a:lnTo>
                    <a:pt x="5" y="9"/>
                  </a:lnTo>
                  <a:lnTo>
                    <a:pt x="8" y="8"/>
                  </a:lnTo>
                  <a:lnTo>
                    <a:pt x="9" y="9"/>
                  </a:lnTo>
                  <a:lnTo>
                    <a:pt x="9" y="8"/>
                  </a:lnTo>
                  <a:lnTo>
                    <a:pt x="17" y="6"/>
                  </a:lnTo>
                  <a:lnTo>
                    <a:pt x="13" y="1"/>
                  </a:lnTo>
                  <a:lnTo>
                    <a:pt x="8" y="0"/>
                  </a:lnTo>
                  <a:lnTo>
                    <a:pt x="5" y="0"/>
                  </a:lnTo>
                  <a:lnTo>
                    <a:pt x="4"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28" name="Freeform 188"/>
            <p:cNvSpPr>
              <a:spLocks noChangeAspect="1"/>
            </p:cNvSpPr>
            <p:nvPr/>
          </p:nvSpPr>
          <p:spPr bwMode="auto">
            <a:xfrm>
              <a:off x="1331" y="2851"/>
              <a:ext cx="32" cy="28"/>
            </a:xfrm>
            <a:custGeom>
              <a:avLst/>
              <a:gdLst/>
              <a:ahLst/>
              <a:cxnLst>
                <a:cxn ang="0">
                  <a:pos x="20" y="5"/>
                </a:cxn>
                <a:cxn ang="0">
                  <a:pos x="18" y="3"/>
                </a:cxn>
                <a:cxn ang="0">
                  <a:pos x="14" y="1"/>
                </a:cxn>
                <a:cxn ang="0">
                  <a:pos x="9" y="0"/>
                </a:cxn>
                <a:cxn ang="0">
                  <a:pos x="6" y="1"/>
                </a:cxn>
                <a:cxn ang="0">
                  <a:pos x="4" y="3"/>
                </a:cxn>
                <a:cxn ang="0">
                  <a:pos x="1" y="5"/>
                </a:cxn>
                <a:cxn ang="0">
                  <a:pos x="0" y="7"/>
                </a:cxn>
                <a:cxn ang="0">
                  <a:pos x="0" y="9"/>
                </a:cxn>
                <a:cxn ang="0">
                  <a:pos x="2" y="11"/>
                </a:cxn>
                <a:cxn ang="0">
                  <a:pos x="3" y="11"/>
                </a:cxn>
                <a:cxn ang="0">
                  <a:pos x="4" y="13"/>
                </a:cxn>
                <a:cxn ang="0">
                  <a:pos x="4" y="15"/>
                </a:cxn>
                <a:cxn ang="0">
                  <a:pos x="4" y="18"/>
                </a:cxn>
                <a:cxn ang="0">
                  <a:pos x="4" y="21"/>
                </a:cxn>
                <a:cxn ang="0">
                  <a:pos x="3" y="24"/>
                </a:cxn>
                <a:cxn ang="0">
                  <a:pos x="3" y="26"/>
                </a:cxn>
                <a:cxn ang="0">
                  <a:pos x="4" y="27"/>
                </a:cxn>
                <a:cxn ang="0">
                  <a:pos x="5" y="27"/>
                </a:cxn>
                <a:cxn ang="0">
                  <a:pos x="6" y="27"/>
                </a:cxn>
                <a:cxn ang="0">
                  <a:pos x="8" y="28"/>
                </a:cxn>
                <a:cxn ang="0">
                  <a:pos x="10" y="29"/>
                </a:cxn>
                <a:cxn ang="0">
                  <a:pos x="11" y="28"/>
                </a:cxn>
                <a:cxn ang="0">
                  <a:pos x="12" y="27"/>
                </a:cxn>
                <a:cxn ang="0">
                  <a:pos x="14" y="27"/>
                </a:cxn>
                <a:cxn ang="0">
                  <a:pos x="16" y="26"/>
                </a:cxn>
                <a:cxn ang="0">
                  <a:pos x="18" y="25"/>
                </a:cxn>
                <a:cxn ang="0">
                  <a:pos x="20" y="25"/>
                </a:cxn>
                <a:cxn ang="0">
                  <a:pos x="21" y="25"/>
                </a:cxn>
                <a:cxn ang="0">
                  <a:pos x="22" y="27"/>
                </a:cxn>
                <a:cxn ang="0">
                  <a:pos x="24" y="27"/>
                </a:cxn>
                <a:cxn ang="0">
                  <a:pos x="25" y="26"/>
                </a:cxn>
                <a:cxn ang="0">
                  <a:pos x="26" y="25"/>
                </a:cxn>
                <a:cxn ang="0">
                  <a:pos x="26" y="23"/>
                </a:cxn>
                <a:cxn ang="0">
                  <a:pos x="28" y="23"/>
                </a:cxn>
                <a:cxn ang="0">
                  <a:pos x="30" y="21"/>
                </a:cxn>
                <a:cxn ang="0">
                  <a:pos x="31" y="19"/>
                </a:cxn>
                <a:cxn ang="0">
                  <a:pos x="32" y="17"/>
                </a:cxn>
                <a:cxn ang="0">
                  <a:pos x="32" y="15"/>
                </a:cxn>
                <a:cxn ang="0">
                  <a:pos x="31" y="13"/>
                </a:cxn>
                <a:cxn ang="0">
                  <a:pos x="31" y="13"/>
                </a:cxn>
                <a:cxn ang="0">
                  <a:pos x="31" y="12"/>
                </a:cxn>
                <a:cxn ang="0">
                  <a:pos x="30" y="11"/>
                </a:cxn>
                <a:cxn ang="0">
                  <a:pos x="29" y="11"/>
                </a:cxn>
                <a:cxn ang="0">
                  <a:pos x="28" y="10"/>
                </a:cxn>
                <a:cxn ang="0">
                  <a:pos x="26" y="10"/>
                </a:cxn>
                <a:cxn ang="0">
                  <a:pos x="24" y="9"/>
                </a:cxn>
                <a:cxn ang="0">
                  <a:pos x="21" y="7"/>
                </a:cxn>
                <a:cxn ang="0">
                  <a:pos x="20" y="5"/>
                </a:cxn>
              </a:cxnLst>
              <a:rect l="0" t="0" r="r" b="b"/>
              <a:pathLst>
                <a:path w="33" h="30">
                  <a:moveTo>
                    <a:pt x="20" y="5"/>
                  </a:moveTo>
                  <a:lnTo>
                    <a:pt x="18" y="3"/>
                  </a:lnTo>
                  <a:lnTo>
                    <a:pt x="14" y="1"/>
                  </a:lnTo>
                  <a:lnTo>
                    <a:pt x="9" y="0"/>
                  </a:lnTo>
                  <a:lnTo>
                    <a:pt x="6" y="1"/>
                  </a:lnTo>
                  <a:lnTo>
                    <a:pt x="4" y="3"/>
                  </a:lnTo>
                  <a:lnTo>
                    <a:pt x="1" y="5"/>
                  </a:lnTo>
                  <a:lnTo>
                    <a:pt x="0" y="7"/>
                  </a:lnTo>
                  <a:lnTo>
                    <a:pt x="0" y="9"/>
                  </a:lnTo>
                  <a:lnTo>
                    <a:pt x="2" y="11"/>
                  </a:lnTo>
                  <a:lnTo>
                    <a:pt x="3" y="11"/>
                  </a:lnTo>
                  <a:lnTo>
                    <a:pt x="4" y="13"/>
                  </a:lnTo>
                  <a:lnTo>
                    <a:pt x="4" y="15"/>
                  </a:lnTo>
                  <a:lnTo>
                    <a:pt x="4" y="18"/>
                  </a:lnTo>
                  <a:lnTo>
                    <a:pt x="4" y="21"/>
                  </a:lnTo>
                  <a:lnTo>
                    <a:pt x="3" y="24"/>
                  </a:lnTo>
                  <a:lnTo>
                    <a:pt x="3" y="26"/>
                  </a:lnTo>
                  <a:lnTo>
                    <a:pt x="4" y="27"/>
                  </a:lnTo>
                  <a:lnTo>
                    <a:pt x="5" y="27"/>
                  </a:lnTo>
                  <a:lnTo>
                    <a:pt x="6" y="27"/>
                  </a:lnTo>
                  <a:lnTo>
                    <a:pt x="8" y="28"/>
                  </a:lnTo>
                  <a:lnTo>
                    <a:pt x="10" y="29"/>
                  </a:lnTo>
                  <a:lnTo>
                    <a:pt x="11" y="28"/>
                  </a:lnTo>
                  <a:lnTo>
                    <a:pt x="12" y="27"/>
                  </a:lnTo>
                  <a:lnTo>
                    <a:pt x="14" y="27"/>
                  </a:lnTo>
                  <a:lnTo>
                    <a:pt x="16" y="26"/>
                  </a:lnTo>
                  <a:lnTo>
                    <a:pt x="18" y="25"/>
                  </a:lnTo>
                  <a:lnTo>
                    <a:pt x="20" y="25"/>
                  </a:lnTo>
                  <a:lnTo>
                    <a:pt x="21" y="25"/>
                  </a:lnTo>
                  <a:lnTo>
                    <a:pt x="22" y="27"/>
                  </a:lnTo>
                  <a:lnTo>
                    <a:pt x="24" y="27"/>
                  </a:lnTo>
                  <a:lnTo>
                    <a:pt x="25" y="26"/>
                  </a:lnTo>
                  <a:lnTo>
                    <a:pt x="26" y="25"/>
                  </a:lnTo>
                  <a:lnTo>
                    <a:pt x="26" y="23"/>
                  </a:lnTo>
                  <a:lnTo>
                    <a:pt x="28" y="23"/>
                  </a:lnTo>
                  <a:lnTo>
                    <a:pt x="30" y="21"/>
                  </a:lnTo>
                  <a:lnTo>
                    <a:pt x="31" y="19"/>
                  </a:lnTo>
                  <a:lnTo>
                    <a:pt x="32" y="17"/>
                  </a:lnTo>
                  <a:lnTo>
                    <a:pt x="32" y="15"/>
                  </a:lnTo>
                  <a:lnTo>
                    <a:pt x="31" y="13"/>
                  </a:lnTo>
                  <a:lnTo>
                    <a:pt x="31" y="13"/>
                  </a:lnTo>
                  <a:lnTo>
                    <a:pt x="31" y="12"/>
                  </a:lnTo>
                  <a:lnTo>
                    <a:pt x="30" y="11"/>
                  </a:lnTo>
                  <a:lnTo>
                    <a:pt x="29" y="11"/>
                  </a:lnTo>
                  <a:lnTo>
                    <a:pt x="28" y="10"/>
                  </a:lnTo>
                  <a:lnTo>
                    <a:pt x="26" y="10"/>
                  </a:lnTo>
                  <a:lnTo>
                    <a:pt x="24" y="9"/>
                  </a:lnTo>
                  <a:lnTo>
                    <a:pt x="21" y="7"/>
                  </a:lnTo>
                  <a:lnTo>
                    <a:pt x="20"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29" name="Freeform 189"/>
            <p:cNvSpPr>
              <a:spLocks noChangeAspect="1"/>
            </p:cNvSpPr>
            <p:nvPr/>
          </p:nvSpPr>
          <p:spPr bwMode="auto">
            <a:xfrm>
              <a:off x="1334" y="2846"/>
              <a:ext cx="22" cy="13"/>
            </a:xfrm>
            <a:custGeom>
              <a:avLst/>
              <a:gdLst/>
              <a:ahLst/>
              <a:cxnLst>
                <a:cxn ang="0">
                  <a:pos x="5" y="9"/>
                </a:cxn>
                <a:cxn ang="0">
                  <a:pos x="4" y="10"/>
                </a:cxn>
                <a:cxn ang="0">
                  <a:pos x="6" y="10"/>
                </a:cxn>
                <a:cxn ang="0">
                  <a:pos x="9" y="10"/>
                </a:cxn>
                <a:cxn ang="0">
                  <a:pos x="12" y="11"/>
                </a:cxn>
                <a:cxn ang="0">
                  <a:pos x="13" y="12"/>
                </a:cxn>
                <a:cxn ang="0">
                  <a:pos x="21" y="9"/>
                </a:cxn>
                <a:cxn ang="0">
                  <a:pos x="17" y="4"/>
                </a:cxn>
                <a:cxn ang="0">
                  <a:pos x="12" y="1"/>
                </a:cxn>
                <a:cxn ang="0">
                  <a:pos x="6" y="0"/>
                </a:cxn>
                <a:cxn ang="0">
                  <a:pos x="1" y="1"/>
                </a:cxn>
                <a:cxn ang="0">
                  <a:pos x="0" y="2"/>
                </a:cxn>
                <a:cxn ang="0">
                  <a:pos x="5" y="9"/>
                </a:cxn>
              </a:cxnLst>
              <a:rect l="0" t="0" r="r" b="b"/>
              <a:pathLst>
                <a:path w="22" h="13">
                  <a:moveTo>
                    <a:pt x="5" y="9"/>
                  </a:moveTo>
                  <a:lnTo>
                    <a:pt x="4" y="10"/>
                  </a:lnTo>
                  <a:lnTo>
                    <a:pt x="6" y="10"/>
                  </a:lnTo>
                  <a:lnTo>
                    <a:pt x="9" y="10"/>
                  </a:lnTo>
                  <a:lnTo>
                    <a:pt x="12" y="11"/>
                  </a:lnTo>
                  <a:lnTo>
                    <a:pt x="13" y="12"/>
                  </a:lnTo>
                  <a:lnTo>
                    <a:pt x="21" y="9"/>
                  </a:lnTo>
                  <a:lnTo>
                    <a:pt x="17" y="4"/>
                  </a:lnTo>
                  <a:lnTo>
                    <a:pt x="12" y="1"/>
                  </a:lnTo>
                  <a:lnTo>
                    <a:pt x="6" y="0"/>
                  </a:lnTo>
                  <a:lnTo>
                    <a:pt x="1" y="1"/>
                  </a:lnTo>
                  <a:lnTo>
                    <a:pt x="0" y="2"/>
                  </a:lnTo>
                  <a:lnTo>
                    <a:pt x="5"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30" name="Freeform 190"/>
            <p:cNvSpPr>
              <a:spLocks noChangeAspect="1"/>
            </p:cNvSpPr>
            <p:nvPr/>
          </p:nvSpPr>
          <p:spPr bwMode="auto">
            <a:xfrm>
              <a:off x="1327" y="2848"/>
              <a:ext cx="13" cy="15"/>
            </a:xfrm>
            <a:custGeom>
              <a:avLst/>
              <a:gdLst/>
              <a:ahLst/>
              <a:cxnLst>
                <a:cxn ang="0">
                  <a:pos x="8" y="9"/>
                </a:cxn>
                <a:cxn ang="0">
                  <a:pos x="8" y="9"/>
                </a:cxn>
                <a:cxn ang="0">
                  <a:pos x="8" y="10"/>
                </a:cxn>
                <a:cxn ang="0">
                  <a:pos x="10" y="9"/>
                </a:cxn>
                <a:cxn ang="0">
                  <a:pos x="12" y="7"/>
                </a:cxn>
                <a:cxn ang="0">
                  <a:pos x="7" y="0"/>
                </a:cxn>
                <a:cxn ang="0">
                  <a:pos x="5" y="2"/>
                </a:cxn>
                <a:cxn ang="0">
                  <a:pos x="2" y="5"/>
                </a:cxn>
                <a:cxn ang="0">
                  <a:pos x="0" y="9"/>
                </a:cxn>
                <a:cxn ang="0">
                  <a:pos x="1" y="14"/>
                </a:cxn>
                <a:cxn ang="0">
                  <a:pos x="8" y="9"/>
                </a:cxn>
              </a:cxnLst>
              <a:rect l="0" t="0" r="r" b="b"/>
              <a:pathLst>
                <a:path w="13" h="15">
                  <a:moveTo>
                    <a:pt x="8" y="9"/>
                  </a:moveTo>
                  <a:lnTo>
                    <a:pt x="8" y="9"/>
                  </a:lnTo>
                  <a:lnTo>
                    <a:pt x="8" y="10"/>
                  </a:lnTo>
                  <a:lnTo>
                    <a:pt x="10" y="9"/>
                  </a:lnTo>
                  <a:lnTo>
                    <a:pt x="12" y="7"/>
                  </a:lnTo>
                  <a:lnTo>
                    <a:pt x="7" y="0"/>
                  </a:lnTo>
                  <a:lnTo>
                    <a:pt x="5" y="2"/>
                  </a:lnTo>
                  <a:lnTo>
                    <a:pt x="2" y="5"/>
                  </a:lnTo>
                  <a:lnTo>
                    <a:pt x="0" y="9"/>
                  </a:lnTo>
                  <a:lnTo>
                    <a:pt x="1" y="14"/>
                  </a:lnTo>
                  <a:lnTo>
                    <a:pt x="8"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31" name="Freeform 191"/>
            <p:cNvSpPr>
              <a:spLocks noChangeAspect="1"/>
            </p:cNvSpPr>
            <p:nvPr/>
          </p:nvSpPr>
          <p:spPr bwMode="auto">
            <a:xfrm>
              <a:off x="1328" y="2858"/>
              <a:ext cx="12" cy="10"/>
            </a:xfrm>
            <a:custGeom>
              <a:avLst/>
              <a:gdLst/>
              <a:ahLst/>
              <a:cxnLst>
                <a:cxn ang="0">
                  <a:pos x="11" y="8"/>
                </a:cxn>
                <a:cxn ang="0">
                  <a:pos x="11" y="7"/>
                </a:cxn>
                <a:cxn ang="0">
                  <a:pos x="11" y="5"/>
                </a:cxn>
                <a:cxn ang="0">
                  <a:pos x="9" y="2"/>
                </a:cxn>
                <a:cxn ang="0">
                  <a:pos x="7" y="2"/>
                </a:cxn>
                <a:cxn ang="0">
                  <a:pos x="7" y="0"/>
                </a:cxn>
                <a:cxn ang="0">
                  <a:pos x="0" y="5"/>
                </a:cxn>
                <a:cxn ang="0">
                  <a:pos x="2" y="7"/>
                </a:cxn>
                <a:cxn ang="0">
                  <a:pos x="3" y="8"/>
                </a:cxn>
                <a:cxn ang="0">
                  <a:pos x="3" y="8"/>
                </a:cxn>
                <a:cxn ang="0">
                  <a:pos x="3" y="10"/>
                </a:cxn>
                <a:cxn ang="0">
                  <a:pos x="3" y="9"/>
                </a:cxn>
                <a:cxn ang="0">
                  <a:pos x="11" y="8"/>
                </a:cxn>
              </a:cxnLst>
              <a:rect l="0" t="0" r="r" b="b"/>
              <a:pathLst>
                <a:path w="12" h="11">
                  <a:moveTo>
                    <a:pt x="11" y="8"/>
                  </a:moveTo>
                  <a:lnTo>
                    <a:pt x="11" y="7"/>
                  </a:lnTo>
                  <a:lnTo>
                    <a:pt x="11" y="5"/>
                  </a:lnTo>
                  <a:lnTo>
                    <a:pt x="9" y="2"/>
                  </a:lnTo>
                  <a:lnTo>
                    <a:pt x="7" y="2"/>
                  </a:lnTo>
                  <a:lnTo>
                    <a:pt x="7" y="0"/>
                  </a:lnTo>
                  <a:lnTo>
                    <a:pt x="0" y="5"/>
                  </a:lnTo>
                  <a:lnTo>
                    <a:pt x="2" y="7"/>
                  </a:lnTo>
                  <a:lnTo>
                    <a:pt x="3" y="8"/>
                  </a:lnTo>
                  <a:lnTo>
                    <a:pt x="3" y="8"/>
                  </a:lnTo>
                  <a:lnTo>
                    <a:pt x="3" y="10"/>
                  </a:lnTo>
                  <a:lnTo>
                    <a:pt x="3" y="9"/>
                  </a:lnTo>
                  <a:lnTo>
                    <a:pt x="11"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32" name="Freeform 192"/>
            <p:cNvSpPr>
              <a:spLocks noChangeAspect="1"/>
            </p:cNvSpPr>
            <p:nvPr/>
          </p:nvSpPr>
          <p:spPr bwMode="auto">
            <a:xfrm>
              <a:off x="1330" y="2865"/>
              <a:ext cx="10" cy="16"/>
            </a:xfrm>
            <a:custGeom>
              <a:avLst/>
              <a:gdLst/>
              <a:ahLst/>
              <a:cxnLst>
                <a:cxn ang="0">
                  <a:pos x="7" y="9"/>
                </a:cxn>
                <a:cxn ang="0">
                  <a:pos x="7" y="9"/>
                </a:cxn>
                <a:cxn ang="0">
                  <a:pos x="8" y="10"/>
                </a:cxn>
                <a:cxn ang="0">
                  <a:pos x="9" y="8"/>
                </a:cxn>
                <a:cxn ang="0">
                  <a:pos x="9" y="4"/>
                </a:cxn>
                <a:cxn ang="0">
                  <a:pos x="9" y="0"/>
                </a:cxn>
                <a:cxn ang="0">
                  <a:pos x="1" y="1"/>
                </a:cxn>
                <a:cxn ang="0">
                  <a:pos x="1" y="4"/>
                </a:cxn>
                <a:cxn ang="0">
                  <a:pos x="1" y="7"/>
                </a:cxn>
                <a:cxn ang="0">
                  <a:pos x="0" y="10"/>
                </a:cxn>
                <a:cxn ang="0">
                  <a:pos x="1" y="15"/>
                </a:cxn>
                <a:cxn ang="0">
                  <a:pos x="7" y="9"/>
                </a:cxn>
              </a:cxnLst>
              <a:rect l="0" t="0" r="r" b="b"/>
              <a:pathLst>
                <a:path w="10" h="16">
                  <a:moveTo>
                    <a:pt x="7" y="9"/>
                  </a:moveTo>
                  <a:lnTo>
                    <a:pt x="7" y="9"/>
                  </a:lnTo>
                  <a:lnTo>
                    <a:pt x="8" y="10"/>
                  </a:lnTo>
                  <a:lnTo>
                    <a:pt x="9" y="8"/>
                  </a:lnTo>
                  <a:lnTo>
                    <a:pt x="9" y="4"/>
                  </a:lnTo>
                  <a:lnTo>
                    <a:pt x="9" y="0"/>
                  </a:lnTo>
                  <a:lnTo>
                    <a:pt x="1" y="1"/>
                  </a:lnTo>
                  <a:lnTo>
                    <a:pt x="1" y="4"/>
                  </a:lnTo>
                  <a:lnTo>
                    <a:pt x="1" y="7"/>
                  </a:lnTo>
                  <a:lnTo>
                    <a:pt x="0" y="10"/>
                  </a:lnTo>
                  <a:lnTo>
                    <a:pt x="1" y="15"/>
                  </a:lnTo>
                  <a:lnTo>
                    <a:pt x="7"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33" name="Freeform 193"/>
            <p:cNvSpPr>
              <a:spLocks noChangeAspect="1"/>
            </p:cNvSpPr>
            <p:nvPr/>
          </p:nvSpPr>
          <p:spPr bwMode="auto">
            <a:xfrm>
              <a:off x="1331" y="2874"/>
              <a:ext cx="11" cy="7"/>
            </a:xfrm>
            <a:custGeom>
              <a:avLst/>
              <a:gdLst/>
              <a:ahLst/>
              <a:cxnLst>
                <a:cxn ang="0">
                  <a:pos x="10" y="1"/>
                </a:cxn>
                <a:cxn ang="0">
                  <a:pos x="8" y="1"/>
                </a:cxn>
                <a:cxn ang="0">
                  <a:pos x="6" y="0"/>
                </a:cxn>
                <a:cxn ang="0">
                  <a:pos x="6" y="0"/>
                </a:cxn>
                <a:cxn ang="0">
                  <a:pos x="5" y="0"/>
                </a:cxn>
                <a:cxn ang="0">
                  <a:pos x="0" y="5"/>
                </a:cxn>
                <a:cxn ang="0">
                  <a:pos x="2" y="7"/>
                </a:cxn>
                <a:cxn ang="0">
                  <a:pos x="3" y="8"/>
                </a:cxn>
                <a:cxn ang="0">
                  <a:pos x="5" y="8"/>
                </a:cxn>
                <a:cxn ang="0">
                  <a:pos x="7" y="9"/>
                </a:cxn>
                <a:cxn ang="0">
                  <a:pos x="6" y="8"/>
                </a:cxn>
                <a:cxn ang="0">
                  <a:pos x="10" y="1"/>
                </a:cxn>
              </a:cxnLst>
              <a:rect l="0" t="0" r="r" b="b"/>
              <a:pathLst>
                <a:path w="11" h="10">
                  <a:moveTo>
                    <a:pt x="10" y="1"/>
                  </a:moveTo>
                  <a:lnTo>
                    <a:pt x="8" y="1"/>
                  </a:lnTo>
                  <a:lnTo>
                    <a:pt x="6" y="0"/>
                  </a:lnTo>
                  <a:lnTo>
                    <a:pt x="6" y="0"/>
                  </a:lnTo>
                  <a:lnTo>
                    <a:pt x="5" y="0"/>
                  </a:lnTo>
                  <a:lnTo>
                    <a:pt x="0" y="5"/>
                  </a:lnTo>
                  <a:lnTo>
                    <a:pt x="2" y="7"/>
                  </a:lnTo>
                  <a:lnTo>
                    <a:pt x="3" y="8"/>
                  </a:lnTo>
                  <a:lnTo>
                    <a:pt x="5" y="8"/>
                  </a:lnTo>
                  <a:lnTo>
                    <a:pt x="7" y="9"/>
                  </a:lnTo>
                  <a:lnTo>
                    <a:pt x="6" y="8"/>
                  </a:lnTo>
                  <a:lnTo>
                    <a:pt x="10"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34" name="Freeform 194"/>
            <p:cNvSpPr>
              <a:spLocks noChangeAspect="1"/>
            </p:cNvSpPr>
            <p:nvPr/>
          </p:nvSpPr>
          <p:spPr bwMode="auto">
            <a:xfrm>
              <a:off x="1337" y="2874"/>
              <a:ext cx="11" cy="8"/>
            </a:xfrm>
            <a:custGeom>
              <a:avLst/>
              <a:gdLst/>
              <a:ahLst/>
              <a:cxnLst>
                <a:cxn ang="0">
                  <a:pos x="6" y="0"/>
                </a:cxn>
                <a:cxn ang="0">
                  <a:pos x="6" y="0"/>
                </a:cxn>
                <a:cxn ang="0">
                  <a:pos x="4" y="0"/>
                </a:cxn>
                <a:cxn ang="0">
                  <a:pos x="3" y="2"/>
                </a:cxn>
                <a:cxn ang="0">
                  <a:pos x="4" y="1"/>
                </a:cxn>
                <a:cxn ang="0">
                  <a:pos x="4" y="2"/>
                </a:cxn>
                <a:cxn ang="0">
                  <a:pos x="0" y="8"/>
                </a:cxn>
                <a:cxn ang="0">
                  <a:pos x="4" y="10"/>
                </a:cxn>
                <a:cxn ang="0">
                  <a:pos x="7" y="8"/>
                </a:cxn>
                <a:cxn ang="0">
                  <a:pos x="8" y="8"/>
                </a:cxn>
                <a:cxn ang="0">
                  <a:pos x="10" y="8"/>
                </a:cxn>
                <a:cxn ang="0">
                  <a:pos x="9" y="8"/>
                </a:cxn>
                <a:cxn ang="0">
                  <a:pos x="6" y="0"/>
                </a:cxn>
              </a:cxnLst>
              <a:rect l="0" t="0" r="r" b="b"/>
              <a:pathLst>
                <a:path w="11" h="11">
                  <a:moveTo>
                    <a:pt x="6" y="0"/>
                  </a:moveTo>
                  <a:lnTo>
                    <a:pt x="6" y="0"/>
                  </a:lnTo>
                  <a:lnTo>
                    <a:pt x="4" y="0"/>
                  </a:lnTo>
                  <a:lnTo>
                    <a:pt x="3" y="2"/>
                  </a:lnTo>
                  <a:lnTo>
                    <a:pt x="4" y="1"/>
                  </a:lnTo>
                  <a:lnTo>
                    <a:pt x="4" y="2"/>
                  </a:lnTo>
                  <a:lnTo>
                    <a:pt x="0" y="8"/>
                  </a:lnTo>
                  <a:lnTo>
                    <a:pt x="4" y="10"/>
                  </a:lnTo>
                  <a:lnTo>
                    <a:pt x="7" y="8"/>
                  </a:lnTo>
                  <a:lnTo>
                    <a:pt x="8" y="8"/>
                  </a:lnTo>
                  <a:lnTo>
                    <a:pt x="10" y="8"/>
                  </a:lnTo>
                  <a:lnTo>
                    <a:pt x="9" y="8"/>
                  </a:lnTo>
                  <a:lnTo>
                    <a:pt x="6"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35" name="Freeform 195"/>
            <p:cNvSpPr>
              <a:spLocks noChangeAspect="1"/>
            </p:cNvSpPr>
            <p:nvPr/>
          </p:nvSpPr>
          <p:spPr bwMode="auto">
            <a:xfrm>
              <a:off x="1342" y="2872"/>
              <a:ext cx="12" cy="8"/>
            </a:xfrm>
            <a:custGeom>
              <a:avLst/>
              <a:gdLst/>
              <a:ahLst/>
              <a:cxnLst>
                <a:cxn ang="0">
                  <a:pos x="13" y="3"/>
                </a:cxn>
                <a:cxn ang="0">
                  <a:pos x="12" y="2"/>
                </a:cxn>
                <a:cxn ang="0">
                  <a:pos x="8" y="0"/>
                </a:cxn>
                <a:cxn ang="0">
                  <a:pos x="5" y="0"/>
                </a:cxn>
                <a:cxn ang="0">
                  <a:pos x="3" y="1"/>
                </a:cxn>
                <a:cxn ang="0">
                  <a:pos x="0" y="2"/>
                </a:cxn>
                <a:cxn ang="0">
                  <a:pos x="3" y="10"/>
                </a:cxn>
                <a:cxn ang="0">
                  <a:pos x="6" y="9"/>
                </a:cxn>
                <a:cxn ang="0">
                  <a:pos x="8" y="8"/>
                </a:cxn>
                <a:cxn ang="0">
                  <a:pos x="7" y="8"/>
                </a:cxn>
                <a:cxn ang="0">
                  <a:pos x="6" y="7"/>
                </a:cxn>
                <a:cxn ang="0">
                  <a:pos x="5" y="6"/>
                </a:cxn>
                <a:cxn ang="0">
                  <a:pos x="13" y="3"/>
                </a:cxn>
              </a:cxnLst>
              <a:rect l="0" t="0" r="r" b="b"/>
              <a:pathLst>
                <a:path w="14" h="11">
                  <a:moveTo>
                    <a:pt x="13" y="3"/>
                  </a:moveTo>
                  <a:lnTo>
                    <a:pt x="12" y="2"/>
                  </a:lnTo>
                  <a:lnTo>
                    <a:pt x="8" y="0"/>
                  </a:lnTo>
                  <a:lnTo>
                    <a:pt x="5" y="0"/>
                  </a:lnTo>
                  <a:lnTo>
                    <a:pt x="3" y="1"/>
                  </a:lnTo>
                  <a:lnTo>
                    <a:pt x="0" y="2"/>
                  </a:lnTo>
                  <a:lnTo>
                    <a:pt x="3" y="10"/>
                  </a:lnTo>
                  <a:lnTo>
                    <a:pt x="6" y="9"/>
                  </a:lnTo>
                  <a:lnTo>
                    <a:pt x="8" y="8"/>
                  </a:lnTo>
                  <a:lnTo>
                    <a:pt x="7" y="8"/>
                  </a:lnTo>
                  <a:lnTo>
                    <a:pt x="6" y="7"/>
                  </a:lnTo>
                  <a:lnTo>
                    <a:pt x="5" y="6"/>
                  </a:lnTo>
                  <a:lnTo>
                    <a:pt x="13"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36" name="Freeform 196"/>
            <p:cNvSpPr>
              <a:spLocks noChangeAspect="1"/>
            </p:cNvSpPr>
            <p:nvPr/>
          </p:nvSpPr>
          <p:spPr bwMode="auto">
            <a:xfrm>
              <a:off x="1348" y="2874"/>
              <a:ext cx="14" cy="6"/>
            </a:xfrm>
            <a:custGeom>
              <a:avLst/>
              <a:gdLst/>
              <a:ahLst/>
              <a:cxnLst>
                <a:cxn ang="0">
                  <a:pos x="5" y="0"/>
                </a:cxn>
                <a:cxn ang="0">
                  <a:pos x="4" y="2"/>
                </a:cxn>
                <a:cxn ang="0">
                  <a:pos x="5" y="0"/>
                </a:cxn>
                <a:cxn ang="0">
                  <a:pos x="6" y="0"/>
                </a:cxn>
                <a:cxn ang="0">
                  <a:pos x="7" y="0"/>
                </a:cxn>
                <a:cxn ang="0">
                  <a:pos x="8" y="1"/>
                </a:cxn>
                <a:cxn ang="0">
                  <a:pos x="0" y="4"/>
                </a:cxn>
                <a:cxn ang="0">
                  <a:pos x="3" y="8"/>
                </a:cxn>
                <a:cxn ang="0">
                  <a:pos x="7" y="8"/>
                </a:cxn>
                <a:cxn ang="0">
                  <a:pos x="11" y="6"/>
                </a:cxn>
                <a:cxn ang="0">
                  <a:pos x="13" y="2"/>
                </a:cxn>
                <a:cxn ang="0">
                  <a:pos x="13" y="4"/>
                </a:cxn>
                <a:cxn ang="0">
                  <a:pos x="5" y="0"/>
                </a:cxn>
              </a:cxnLst>
              <a:rect l="0" t="0" r="r" b="b"/>
              <a:pathLst>
                <a:path w="14" h="9">
                  <a:moveTo>
                    <a:pt x="5" y="0"/>
                  </a:moveTo>
                  <a:lnTo>
                    <a:pt x="4" y="2"/>
                  </a:lnTo>
                  <a:lnTo>
                    <a:pt x="5" y="0"/>
                  </a:lnTo>
                  <a:lnTo>
                    <a:pt x="6" y="0"/>
                  </a:lnTo>
                  <a:lnTo>
                    <a:pt x="7" y="0"/>
                  </a:lnTo>
                  <a:lnTo>
                    <a:pt x="8" y="1"/>
                  </a:lnTo>
                  <a:lnTo>
                    <a:pt x="0" y="4"/>
                  </a:lnTo>
                  <a:lnTo>
                    <a:pt x="3" y="8"/>
                  </a:lnTo>
                  <a:lnTo>
                    <a:pt x="7" y="8"/>
                  </a:lnTo>
                  <a:lnTo>
                    <a:pt x="11" y="6"/>
                  </a:lnTo>
                  <a:lnTo>
                    <a:pt x="13" y="2"/>
                  </a:lnTo>
                  <a:lnTo>
                    <a:pt x="13" y="4"/>
                  </a:lnTo>
                  <a:lnTo>
                    <a:pt x="5"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37" name="Freeform 197"/>
            <p:cNvSpPr>
              <a:spLocks noChangeAspect="1"/>
            </p:cNvSpPr>
            <p:nvPr/>
          </p:nvSpPr>
          <p:spPr bwMode="auto">
            <a:xfrm>
              <a:off x="1352" y="2868"/>
              <a:ext cx="12" cy="12"/>
            </a:xfrm>
            <a:custGeom>
              <a:avLst/>
              <a:gdLst/>
              <a:ahLst/>
              <a:cxnLst>
                <a:cxn ang="0">
                  <a:pos x="5" y="0"/>
                </a:cxn>
                <a:cxn ang="0">
                  <a:pos x="5" y="0"/>
                </a:cxn>
                <a:cxn ang="0">
                  <a:pos x="4" y="2"/>
                </a:cxn>
                <a:cxn ang="0">
                  <a:pos x="2" y="3"/>
                </a:cxn>
                <a:cxn ang="0">
                  <a:pos x="0" y="6"/>
                </a:cxn>
                <a:cxn ang="0">
                  <a:pos x="8" y="10"/>
                </a:cxn>
                <a:cxn ang="0">
                  <a:pos x="7" y="10"/>
                </a:cxn>
                <a:cxn ang="0">
                  <a:pos x="8" y="10"/>
                </a:cxn>
                <a:cxn ang="0">
                  <a:pos x="11" y="7"/>
                </a:cxn>
                <a:cxn ang="0">
                  <a:pos x="13" y="4"/>
                </a:cxn>
                <a:cxn ang="0">
                  <a:pos x="5" y="0"/>
                </a:cxn>
              </a:cxnLst>
              <a:rect l="0" t="0" r="r" b="b"/>
              <a:pathLst>
                <a:path w="14" h="11">
                  <a:moveTo>
                    <a:pt x="5" y="0"/>
                  </a:moveTo>
                  <a:lnTo>
                    <a:pt x="5" y="0"/>
                  </a:lnTo>
                  <a:lnTo>
                    <a:pt x="4" y="2"/>
                  </a:lnTo>
                  <a:lnTo>
                    <a:pt x="2" y="3"/>
                  </a:lnTo>
                  <a:lnTo>
                    <a:pt x="0" y="6"/>
                  </a:lnTo>
                  <a:lnTo>
                    <a:pt x="8" y="10"/>
                  </a:lnTo>
                  <a:lnTo>
                    <a:pt x="7" y="10"/>
                  </a:lnTo>
                  <a:lnTo>
                    <a:pt x="8" y="10"/>
                  </a:lnTo>
                  <a:lnTo>
                    <a:pt x="11" y="7"/>
                  </a:lnTo>
                  <a:lnTo>
                    <a:pt x="13" y="4"/>
                  </a:lnTo>
                  <a:lnTo>
                    <a:pt x="5"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38" name="Freeform 198"/>
            <p:cNvSpPr>
              <a:spLocks noChangeAspect="1"/>
            </p:cNvSpPr>
            <p:nvPr/>
          </p:nvSpPr>
          <p:spPr bwMode="auto">
            <a:xfrm>
              <a:off x="1358" y="2862"/>
              <a:ext cx="10" cy="14"/>
            </a:xfrm>
            <a:custGeom>
              <a:avLst/>
              <a:gdLst/>
              <a:ahLst/>
              <a:cxnLst>
                <a:cxn ang="0">
                  <a:pos x="0" y="4"/>
                </a:cxn>
                <a:cxn ang="0">
                  <a:pos x="0" y="3"/>
                </a:cxn>
                <a:cxn ang="0">
                  <a:pos x="0" y="4"/>
                </a:cxn>
                <a:cxn ang="0">
                  <a:pos x="1" y="4"/>
                </a:cxn>
                <a:cxn ang="0">
                  <a:pos x="1" y="6"/>
                </a:cxn>
                <a:cxn ang="0">
                  <a:pos x="0" y="6"/>
                </a:cxn>
                <a:cxn ang="0">
                  <a:pos x="8" y="10"/>
                </a:cxn>
                <a:cxn ang="0">
                  <a:pos x="9" y="6"/>
                </a:cxn>
                <a:cxn ang="0">
                  <a:pos x="9" y="3"/>
                </a:cxn>
                <a:cxn ang="0">
                  <a:pos x="8" y="1"/>
                </a:cxn>
                <a:cxn ang="0">
                  <a:pos x="8" y="0"/>
                </a:cxn>
                <a:cxn ang="0">
                  <a:pos x="8" y="0"/>
                </a:cxn>
                <a:cxn ang="0">
                  <a:pos x="0" y="4"/>
                </a:cxn>
              </a:cxnLst>
              <a:rect l="0" t="0" r="r" b="b"/>
              <a:pathLst>
                <a:path w="10" h="11">
                  <a:moveTo>
                    <a:pt x="0" y="4"/>
                  </a:moveTo>
                  <a:lnTo>
                    <a:pt x="0" y="3"/>
                  </a:lnTo>
                  <a:lnTo>
                    <a:pt x="0" y="4"/>
                  </a:lnTo>
                  <a:lnTo>
                    <a:pt x="1" y="4"/>
                  </a:lnTo>
                  <a:lnTo>
                    <a:pt x="1" y="6"/>
                  </a:lnTo>
                  <a:lnTo>
                    <a:pt x="0" y="6"/>
                  </a:lnTo>
                  <a:lnTo>
                    <a:pt x="8" y="10"/>
                  </a:lnTo>
                  <a:lnTo>
                    <a:pt x="9" y="6"/>
                  </a:lnTo>
                  <a:lnTo>
                    <a:pt x="9" y="3"/>
                  </a:lnTo>
                  <a:lnTo>
                    <a:pt x="8" y="1"/>
                  </a:lnTo>
                  <a:lnTo>
                    <a:pt x="8" y="0"/>
                  </a:lnTo>
                  <a:lnTo>
                    <a:pt x="8" y="0"/>
                  </a:lnTo>
                  <a:lnTo>
                    <a:pt x="0" y="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39" name="Freeform 199"/>
            <p:cNvSpPr>
              <a:spLocks noChangeAspect="1"/>
            </p:cNvSpPr>
            <p:nvPr/>
          </p:nvSpPr>
          <p:spPr bwMode="auto">
            <a:xfrm>
              <a:off x="1357" y="2856"/>
              <a:ext cx="10" cy="8"/>
            </a:xfrm>
            <a:custGeom>
              <a:avLst/>
              <a:gdLst/>
              <a:ahLst/>
              <a:cxnLst>
                <a:cxn ang="0">
                  <a:pos x="4" y="9"/>
                </a:cxn>
                <a:cxn ang="0">
                  <a:pos x="2" y="10"/>
                </a:cxn>
                <a:cxn ang="0">
                  <a:pos x="1" y="10"/>
                </a:cxn>
                <a:cxn ang="0">
                  <a:pos x="2" y="10"/>
                </a:cxn>
                <a:cxn ang="0">
                  <a:pos x="1" y="9"/>
                </a:cxn>
                <a:cxn ang="0">
                  <a:pos x="1" y="10"/>
                </a:cxn>
                <a:cxn ang="0">
                  <a:pos x="9" y="6"/>
                </a:cxn>
                <a:cxn ang="0">
                  <a:pos x="9" y="5"/>
                </a:cxn>
                <a:cxn ang="0">
                  <a:pos x="6" y="3"/>
                </a:cxn>
                <a:cxn ang="0">
                  <a:pos x="5" y="2"/>
                </a:cxn>
                <a:cxn ang="0">
                  <a:pos x="2" y="0"/>
                </a:cxn>
                <a:cxn ang="0">
                  <a:pos x="0" y="1"/>
                </a:cxn>
                <a:cxn ang="0">
                  <a:pos x="4" y="9"/>
                </a:cxn>
              </a:cxnLst>
              <a:rect l="0" t="0" r="r" b="b"/>
              <a:pathLst>
                <a:path w="10" h="11">
                  <a:moveTo>
                    <a:pt x="4" y="9"/>
                  </a:moveTo>
                  <a:lnTo>
                    <a:pt x="2" y="10"/>
                  </a:lnTo>
                  <a:lnTo>
                    <a:pt x="1" y="10"/>
                  </a:lnTo>
                  <a:lnTo>
                    <a:pt x="2" y="10"/>
                  </a:lnTo>
                  <a:lnTo>
                    <a:pt x="1" y="9"/>
                  </a:lnTo>
                  <a:lnTo>
                    <a:pt x="1" y="10"/>
                  </a:lnTo>
                  <a:lnTo>
                    <a:pt x="9" y="6"/>
                  </a:lnTo>
                  <a:lnTo>
                    <a:pt x="9" y="5"/>
                  </a:lnTo>
                  <a:lnTo>
                    <a:pt x="6" y="3"/>
                  </a:lnTo>
                  <a:lnTo>
                    <a:pt x="5" y="2"/>
                  </a:lnTo>
                  <a:lnTo>
                    <a:pt x="2" y="0"/>
                  </a:lnTo>
                  <a:lnTo>
                    <a:pt x="0" y="1"/>
                  </a:lnTo>
                  <a:lnTo>
                    <a:pt x="4"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40" name="Freeform 200"/>
            <p:cNvSpPr>
              <a:spLocks noChangeAspect="1"/>
            </p:cNvSpPr>
            <p:nvPr/>
          </p:nvSpPr>
          <p:spPr bwMode="auto">
            <a:xfrm>
              <a:off x="1347" y="2855"/>
              <a:ext cx="17" cy="8"/>
            </a:xfrm>
            <a:custGeom>
              <a:avLst/>
              <a:gdLst/>
              <a:ahLst/>
              <a:cxnLst>
                <a:cxn ang="0">
                  <a:pos x="0" y="2"/>
                </a:cxn>
                <a:cxn ang="0">
                  <a:pos x="0" y="2"/>
                </a:cxn>
                <a:cxn ang="0">
                  <a:pos x="2" y="6"/>
                </a:cxn>
                <a:cxn ang="0">
                  <a:pos x="6" y="9"/>
                </a:cxn>
                <a:cxn ang="0">
                  <a:pos x="9" y="10"/>
                </a:cxn>
                <a:cxn ang="0">
                  <a:pos x="14" y="10"/>
                </a:cxn>
                <a:cxn ang="0">
                  <a:pos x="10" y="2"/>
                </a:cxn>
                <a:cxn ang="0">
                  <a:pos x="10" y="2"/>
                </a:cxn>
                <a:cxn ang="0">
                  <a:pos x="10" y="1"/>
                </a:cxn>
                <a:cxn ang="0">
                  <a:pos x="8" y="0"/>
                </a:cxn>
                <a:cxn ang="0">
                  <a:pos x="8" y="0"/>
                </a:cxn>
                <a:cxn ang="0">
                  <a:pos x="0" y="2"/>
                </a:cxn>
              </a:cxnLst>
              <a:rect l="0" t="0" r="r" b="b"/>
              <a:pathLst>
                <a:path w="15" h="11">
                  <a:moveTo>
                    <a:pt x="0" y="2"/>
                  </a:moveTo>
                  <a:lnTo>
                    <a:pt x="0" y="2"/>
                  </a:lnTo>
                  <a:lnTo>
                    <a:pt x="2" y="6"/>
                  </a:lnTo>
                  <a:lnTo>
                    <a:pt x="6" y="9"/>
                  </a:lnTo>
                  <a:lnTo>
                    <a:pt x="9" y="10"/>
                  </a:lnTo>
                  <a:lnTo>
                    <a:pt x="14" y="10"/>
                  </a:lnTo>
                  <a:lnTo>
                    <a:pt x="10" y="2"/>
                  </a:lnTo>
                  <a:lnTo>
                    <a:pt x="10" y="2"/>
                  </a:lnTo>
                  <a:lnTo>
                    <a:pt x="10" y="1"/>
                  </a:lnTo>
                  <a:lnTo>
                    <a:pt x="8" y="0"/>
                  </a:lnTo>
                  <a:lnTo>
                    <a:pt x="8" y="0"/>
                  </a:lnTo>
                  <a:lnTo>
                    <a:pt x="0"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41" name="Freeform 201"/>
            <p:cNvSpPr>
              <a:spLocks noChangeAspect="1"/>
            </p:cNvSpPr>
            <p:nvPr/>
          </p:nvSpPr>
          <p:spPr bwMode="auto">
            <a:xfrm>
              <a:off x="1295" y="2771"/>
              <a:ext cx="78" cy="30"/>
            </a:xfrm>
            <a:custGeom>
              <a:avLst/>
              <a:gdLst/>
              <a:ahLst/>
              <a:cxnLst>
                <a:cxn ang="0">
                  <a:pos x="64" y="12"/>
                </a:cxn>
                <a:cxn ang="0">
                  <a:pos x="59" y="10"/>
                </a:cxn>
                <a:cxn ang="0">
                  <a:pos x="55" y="6"/>
                </a:cxn>
                <a:cxn ang="0">
                  <a:pos x="51" y="4"/>
                </a:cxn>
                <a:cxn ang="0">
                  <a:pos x="48" y="5"/>
                </a:cxn>
                <a:cxn ang="0">
                  <a:pos x="46" y="6"/>
                </a:cxn>
                <a:cxn ang="0">
                  <a:pos x="43" y="6"/>
                </a:cxn>
                <a:cxn ang="0">
                  <a:pos x="41" y="5"/>
                </a:cxn>
                <a:cxn ang="0">
                  <a:pos x="39" y="2"/>
                </a:cxn>
                <a:cxn ang="0">
                  <a:pos x="35" y="0"/>
                </a:cxn>
                <a:cxn ang="0">
                  <a:pos x="33" y="2"/>
                </a:cxn>
                <a:cxn ang="0">
                  <a:pos x="34" y="5"/>
                </a:cxn>
                <a:cxn ang="0">
                  <a:pos x="29" y="6"/>
                </a:cxn>
                <a:cxn ang="0">
                  <a:pos x="26" y="4"/>
                </a:cxn>
                <a:cxn ang="0">
                  <a:pos x="23" y="3"/>
                </a:cxn>
                <a:cxn ang="0">
                  <a:pos x="19" y="5"/>
                </a:cxn>
                <a:cxn ang="0">
                  <a:pos x="16" y="7"/>
                </a:cxn>
                <a:cxn ang="0">
                  <a:pos x="12" y="6"/>
                </a:cxn>
                <a:cxn ang="0">
                  <a:pos x="9" y="6"/>
                </a:cxn>
                <a:cxn ang="0">
                  <a:pos x="9" y="10"/>
                </a:cxn>
                <a:cxn ang="0">
                  <a:pos x="8" y="14"/>
                </a:cxn>
                <a:cxn ang="0">
                  <a:pos x="6" y="16"/>
                </a:cxn>
                <a:cxn ang="0">
                  <a:pos x="2" y="22"/>
                </a:cxn>
                <a:cxn ang="0">
                  <a:pos x="1" y="29"/>
                </a:cxn>
                <a:cxn ang="0">
                  <a:pos x="18" y="26"/>
                </a:cxn>
                <a:cxn ang="0">
                  <a:pos x="24" y="22"/>
                </a:cxn>
                <a:cxn ang="0">
                  <a:pos x="31" y="22"/>
                </a:cxn>
                <a:cxn ang="0">
                  <a:pos x="38" y="22"/>
                </a:cxn>
                <a:cxn ang="0">
                  <a:pos x="41" y="24"/>
                </a:cxn>
                <a:cxn ang="0">
                  <a:pos x="43" y="25"/>
                </a:cxn>
                <a:cxn ang="0">
                  <a:pos x="48" y="24"/>
                </a:cxn>
                <a:cxn ang="0">
                  <a:pos x="57" y="24"/>
                </a:cxn>
                <a:cxn ang="0">
                  <a:pos x="61" y="26"/>
                </a:cxn>
                <a:cxn ang="0">
                  <a:pos x="64" y="27"/>
                </a:cxn>
                <a:cxn ang="0">
                  <a:pos x="68" y="25"/>
                </a:cxn>
                <a:cxn ang="0">
                  <a:pos x="71" y="24"/>
                </a:cxn>
                <a:cxn ang="0">
                  <a:pos x="72" y="21"/>
                </a:cxn>
                <a:cxn ang="0">
                  <a:pos x="74" y="16"/>
                </a:cxn>
                <a:cxn ang="0">
                  <a:pos x="74" y="12"/>
                </a:cxn>
                <a:cxn ang="0">
                  <a:pos x="72" y="9"/>
                </a:cxn>
              </a:cxnLst>
              <a:rect l="0" t="0" r="r" b="b"/>
              <a:pathLst>
                <a:path w="75" h="30">
                  <a:moveTo>
                    <a:pt x="68" y="10"/>
                  </a:moveTo>
                  <a:lnTo>
                    <a:pt x="64" y="12"/>
                  </a:lnTo>
                  <a:lnTo>
                    <a:pt x="62" y="12"/>
                  </a:lnTo>
                  <a:lnTo>
                    <a:pt x="59" y="10"/>
                  </a:lnTo>
                  <a:lnTo>
                    <a:pt x="57" y="8"/>
                  </a:lnTo>
                  <a:lnTo>
                    <a:pt x="55" y="6"/>
                  </a:lnTo>
                  <a:lnTo>
                    <a:pt x="53" y="4"/>
                  </a:lnTo>
                  <a:lnTo>
                    <a:pt x="51" y="4"/>
                  </a:lnTo>
                  <a:lnTo>
                    <a:pt x="50" y="4"/>
                  </a:lnTo>
                  <a:lnTo>
                    <a:pt x="48" y="5"/>
                  </a:lnTo>
                  <a:lnTo>
                    <a:pt x="47" y="6"/>
                  </a:lnTo>
                  <a:lnTo>
                    <a:pt x="46" y="6"/>
                  </a:lnTo>
                  <a:lnTo>
                    <a:pt x="44" y="6"/>
                  </a:lnTo>
                  <a:lnTo>
                    <a:pt x="43" y="6"/>
                  </a:lnTo>
                  <a:lnTo>
                    <a:pt x="42" y="6"/>
                  </a:lnTo>
                  <a:lnTo>
                    <a:pt x="41" y="5"/>
                  </a:lnTo>
                  <a:lnTo>
                    <a:pt x="40" y="4"/>
                  </a:lnTo>
                  <a:lnTo>
                    <a:pt x="39" y="2"/>
                  </a:lnTo>
                  <a:lnTo>
                    <a:pt x="37" y="0"/>
                  </a:lnTo>
                  <a:lnTo>
                    <a:pt x="35" y="0"/>
                  </a:lnTo>
                  <a:lnTo>
                    <a:pt x="34" y="0"/>
                  </a:lnTo>
                  <a:lnTo>
                    <a:pt x="33" y="2"/>
                  </a:lnTo>
                  <a:lnTo>
                    <a:pt x="34" y="3"/>
                  </a:lnTo>
                  <a:lnTo>
                    <a:pt x="34" y="5"/>
                  </a:lnTo>
                  <a:lnTo>
                    <a:pt x="32" y="6"/>
                  </a:lnTo>
                  <a:lnTo>
                    <a:pt x="29" y="6"/>
                  </a:lnTo>
                  <a:lnTo>
                    <a:pt x="28" y="5"/>
                  </a:lnTo>
                  <a:lnTo>
                    <a:pt x="26" y="4"/>
                  </a:lnTo>
                  <a:lnTo>
                    <a:pt x="25" y="4"/>
                  </a:lnTo>
                  <a:lnTo>
                    <a:pt x="23" y="3"/>
                  </a:lnTo>
                  <a:lnTo>
                    <a:pt x="21" y="4"/>
                  </a:lnTo>
                  <a:lnTo>
                    <a:pt x="19" y="5"/>
                  </a:lnTo>
                  <a:lnTo>
                    <a:pt x="18" y="6"/>
                  </a:lnTo>
                  <a:lnTo>
                    <a:pt x="16" y="7"/>
                  </a:lnTo>
                  <a:lnTo>
                    <a:pt x="14" y="7"/>
                  </a:lnTo>
                  <a:lnTo>
                    <a:pt x="12" y="6"/>
                  </a:lnTo>
                  <a:lnTo>
                    <a:pt x="10" y="6"/>
                  </a:lnTo>
                  <a:lnTo>
                    <a:pt x="9" y="6"/>
                  </a:lnTo>
                  <a:lnTo>
                    <a:pt x="9" y="8"/>
                  </a:lnTo>
                  <a:lnTo>
                    <a:pt x="9" y="10"/>
                  </a:lnTo>
                  <a:lnTo>
                    <a:pt x="9" y="12"/>
                  </a:lnTo>
                  <a:lnTo>
                    <a:pt x="8" y="14"/>
                  </a:lnTo>
                  <a:lnTo>
                    <a:pt x="7" y="15"/>
                  </a:lnTo>
                  <a:lnTo>
                    <a:pt x="6" y="16"/>
                  </a:lnTo>
                  <a:lnTo>
                    <a:pt x="4" y="18"/>
                  </a:lnTo>
                  <a:lnTo>
                    <a:pt x="2" y="22"/>
                  </a:lnTo>
                  <a:lnTo>
                    <a:pt x="0" y="26"/>
                  </a:lnTo>
                  <a:lnTo>
                    <a:pt x="1" y="29"/>
                  </a:lnTo>
                  <a:lnTo>
                    <a:pt x="9" y="28"/>
                  </a:lnTo>
                  <a:lnTo>
                    <a:pt x="18" y="26"/>
                  </a:lnTo>
                  <a:lnTo>
                    <a:pt x="22" y="24"/>
                  </a:lnTo>
                  <a:lnTo>
                    <a:pt x="24" y="22"/>
                  </a:lnTo>
                  <a:lnTo>
                    <a:pt x="28" y="22"/>
                  </a:lnTo>
                  <a:lnTo>
                    <a:pt x="31" y="22"/>
                  </a:lnTo>
                  <a:lnTo>
                    <a:pt x="35" y="22"/>
                  </a:lnTo>
                  <a:lnTo>
                    <a:pt x="38" y="22"/>
                  </a:lnTo>
                  <a:lnTo>
                    <a:pt x="40" y="23"/>
                  </a:lnTo>
                  <a:lnTo>
                    <a:pt x="41" y="24"/>
                  </a:lnTo>
                  <a:lnTo>
                    <a:pt x="42" y="24"/>
                  </a:lnTo>
                  <a:lnTo>
                    <a:pt x="43" y="25"/>
                  </a:lnTo>
                  <a:lnTo>
                    <a:pt x="45" y="24"/>
                  </a:lnTo>
                  <a:lnTo>
                    <a:pt x="48" y="24"/>
                  </a:lnTo>
                  <a:lnTo>
                    <a:pt x="53" y="24"/>
                  </a:lnTo>
                  <a:lnTo>
                    <a:pt x="57" y="24"/>
                  </a:lnTo>
                  <a:lnTo>
                    <a:pt x="60" y="25"/>
                  </a:lnTo>
                  <a:lnTo>
                    <a:pt x="61" y="26"/>
                  </a:lnTo>
                  <a:lnTo>
                    <a:pt x="62" y="27"/>
                  </a:lnTo>
                  <a:lnTo>
                    <a:pt x="64" y="27"/>
                  </a:lnTo>
                  <a:lnTo>
                    <a:pt x="66" y="26"/>
                  </a:lnTo>
                  <a:lnTo>
                    <a:pt x="68" y="25"/>
                  </a:lnTo>
                  <a:lnTo>
                    <a:pt x="69" y="24"/>
                  </a:lnTo>
                  <a:lnTo>
                    <a:pt x="71" y="24"/>
                  </a:lnTo>
                  <a:lnTo>
                    <a:pt x="72" y="23"/>
                  </a:lnTo>
                  <a:lnTo>
                    <a:pt x="72" y="21"/>
                  </a:lnTo>
                  <a:lnTo>
                    <a:pt x="74" y="18"/>
                  </a:lnTo>
                  <a:lnTo>
                    <a:pt x="74" y="16"/>
                  </a:lnTo>
                  <a:lnTo>
                    <a:pt x="74" y="14"/>
                  </a:lnTo>
                  <a:lnTo>
                    <a:pt x="74" y="12"/>
                  </a:lnTo>
                  <a:lnTo>
                    <a:pt x="74" y="10"/>
                  </a:lnTo>
                  <a:lnTo>
                    <a:pt x="72" y="9"/>
                  </a:lnTo>
                  <a:lnTo>
                    <a:pt x="68" y="1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42" name="Freeform 202"/>
            <p:cNvSpPr>
              <a:spLocks noChangeAspect="1"/>
            </p:cNvSpPr>
            <p:nvPr/>
          </p:nvSpPr>
          <p:spPr bwMode="auto">
            <a:xfrm>
              <a:off x="1349" y="2778"/>
              <a:ext cx="16" cy="10"/>
            </a:xfrm>
            <a:custGeom>
              <a:avLst/>
              <a:gdLst/>
              <a:ahLst/>
              <a:cxnLst>
                <a:cxn ang="0">
                  <a:pos x="0" y="4"/>
                </a:cxn>
                <a:cxn ang="0">
                  <a:pos x="0" y="4"/>
                </a:cxn>
                <a:cxn ang="0">
                  <a:pos x="2" y="7"/>
                </a:cxn>
                <a:cxn ang="0">
                  <a:pos x="7" y="9"/>
                </a:cxn>
                <a:cxn ang="0">
                  <a:pos x="11" y="9"/>
                </a:cxn>
                <a:cxn ang="0">
                  <a:pos x="15" y="8"/>
                </a:cxn>
                <a:cxn ang="0">
                  <a:pos x="12" y="0"/>
                </a:cxn>
                <a:cxn ang="0">
                  <a:pos x="10" y="1"/>
                </a:cxn>
                <a:cxn ang="0">
                  <a:pos x="8" y="1"/>
                </a:cxn>
                <a:cxn ang="0">
                  <a:pos x="8" y="1"/>
                </a:cxn>
                <a:cxn ang="0">
                  <a:pos x="6" y="0"/>
                </a:cxn>
                <a:cxn ang="0">
                  <a:pos x="0" y="4"/>
                </a:cxn>
              </a:cxnLst>
              <a:rect l="0" t="0" r="r" b="b"/>
              <a:pathLst>
                <a:path w="16" h="10">
                  <a:moveTo>
                    <a:pt x="0" y="4"/>
                  </a:moveTo>
                  <a:lnTo>
                    <a:pt x="0" y="4"/>
                  </a:lnTo>
                  <a:lnTo>
                    <a:pt x="2" y="7"/>
                  </a:lnTo>
                  <a:lnTo>
                    <a:pt x="7" y="9"/>
                  </a:lnTo>
                  <a:lnTo>
                    <a:pt x="11" y="9"/>
                  </a:lnTo>
                  <a:lnTo>
                    <a:pt x="15" y="8"/>
                  </a:lnTo>
                  <a:lnTo>
                    <a:pt x="12" y="0"/>
                  </a:lnTo>
                  <a:lnTo>
                    <a:pt x="10" y="1"/>
                  </a:lnTo>
                  <a:lnTo>
                    <a:pt x="8" y="1"/>
                  </a:lnTo>
                  <a:lnTo>
                    <a:pt x="8" y="1"/>
                  </a:lnTo>
                  <a:lnTo>
                    <a:pt x="6" y="0"/>
                  </a:lnTo>
                  <a:lnTo>
                    <a:pt x="0" y="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43" name="Freeform 203"/>
            <p:cNvSpPr>
              <a:spLocks noChangeAspect="1"/>
            </p:cNvSpPr>
            <p:nvPr/>
          </p:nvSpPr>
          <p:spPr bwMode="auto">
            <a:xfrm>
              <a:off x="1342" y="2771"/>
              <a:ext cx="11" cy="15"/>
            </a:xfrm>
            <a:custGeom>
              <a:avLst/>
              <a:gdLst/>
              <a:ahLst/>
              <a:cxnLst>
                <a:cxn ang="0">
                  <a:pos x="1" y="10"/>
                </a:cxn>
                <a:cxn ang="0">
                  <a:pos x="2" y="9"/>
                </a:cxn>
                <a:cxn ang="0">
                  <a:pos x="2" y="10"/>
                </a:cxn>
                <a:cxn ang="0">
                  <a:pos x="3" y="9"/>
                </a:cxn>
                <a:cxn ang="0">
                  <a:pos x="4" y="9"/>
                </a:cxn>
                <a:cxn ang="0">
                  <a:pos x="5" y="11"/>
                </a:cxn>
                <a:cxn ang="0">
                  <a:pos x="12" y="7"/>
                </a:cxn>
                <a:cxn ang="0">
                  <a:pos x="9" y="4"/>
                </a:cxn>
                <a:cxn ang="0">
                  <a:pos x="6" y="1"/>
                </a:cxn>
                <a:cxn ang="0">
                  <a:pos x="2" y="0"/>
                </a:cxn>
                <a:cxn ang="0">
                  <a:pos x="0" y="1"/>
                </a:cxn>
                <a:cxn ang="0">
                  <a:pos x="1" y="0"/>
                </a:cxn>
                <a:cxn ang="0">
                  <a:pos x="1" y="10"/>
                </a:cxn>
              </a:cxnLst>
              <a:rect l="0" t="0" r="r" b="b"/>
              <a:pathLst>
                <a:path w="13" h="12">
                  <a:moveTo>
                    <a:pt x="1" y="10"/>
                  </a:moveTo>
                  <a:lnTo>
                    <a:pt x="2" y="9"/>
                  </a:lnTo>
                  <a:lnTo>
                    <a:pt x="2" y="10"/>
                  </a:lnTo>
                  <a:lnTo>
                    <a:pt x="3" y="9"/>
                  </a:lnTo>
                  <a:lnTo>
                    <a:pt x="4" y="9"/>
                  </a:lnTo>
                  <a:lnTo>
                    <a:pt x="5" y="11"/>
                  </a:lnTo>
                  <a:lnTo>
                    <a:pt x="12" y="7"/>
                  </a:lnTo>
                  <a:lnTo>
                    <a:pt x="9" y="4"/>
                  </a:lnTo>
                  <a:lnTo>
                    <a:pt x="6" y="1"/>
                  </a:lnTo>
                  <a:lnTo>
                    <a:pt x="2" y="0"/>
                  </a:lnTo>
                  <a:lnTo>
                    <a:pt x="0" y="1"/>
                  </a:lnTo>
                  <a:lnTo>
                    <a:pt x="1" y="0"/>
                  </a:lnTo>
                  <a:lnTo>
                    <a:pt x="1" y="1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44" name="Freeform 204"/>
            <p:cNvSpPr>
              <a:spLocks noChangeAspect="1"/>
            </p:cNvSpPr>
            <p:nvPr/>
          </p:nvSpPr>
          <p:spPr bwMode="auto">
            <a:xfrm>
              <a:off x="1339" y="2771"/>
              <a:ext cx="7" cy="15"/>
            </a:xfrm>
            <a:custGeom>
              <a:avLst/>
              <a:gdLst/>
              <a:ahLst/>
              <a:cxnLst>
                <a:cxn ang="0">
                  <a:pos x="0" y="11"/>
                </a:cxn>
                <a:cxn ang="0">
                  <a:pos x="0" y="11"/>
                </a:cxn>
                <a:cxn ang="0">
                  <a:pos x="3" y="11"/>
                </a:cxn>
                <a:cxn ang="0">
                  <a:pos x="5" y="10"/>
                </a:cxn>
                <a:cxn ang="0">
                  <a:pos x="6" y="10"/>
                </a:cxn>
                <a:cxn ang="0">
                  <a:pos x="6" y="10"/>
                </a:cxn>
                <a:cxn ang="0">
                  <a:pos x="6" y="0"/>
                </a:cxn>
                <a:cxn ang="0">
                  <a:pos x="2" y="2"/>
                </a:cxn>
                <a:cxn ang="0">
                  <a:pos x="1" y="3"/>
                </a:cxn>
                <a:cxn ang="0">
                  <a:pos x="2" y="3"/>
                </a:cxn>
                <a:cxn ang="0">
                  <a:pos x="1" y="3"/>
                </a:cxn>
                <a:cxn ang="0">
                  <a:pos x="0" y="11"/>
                </a:cxn>
              </a:cxnLst>
              <a:rect l="0" t="0" r="r" b="b"/>
              <a:pathLst>
                <a:path w="7" h="12">
                  <a:moveTo>
                    <a:pt x="0" y="11"/>
                  </a:moveTo>
                  <a:lnTo>
                    <a:pt x="0" y="11"/>
                  </a:lnTo>
                  <a:lnTo>
                    <a:pt x="3" y="11"/>
                  </a:lnTo>
                  <a:lnTo>
                    <a:pt x="5" y="10"/>
                  </a:lnTo>
                  <a:lnTo>
                    <a:pt x="6" y="10"/>
                  </a:lnTo>
                  <a:lnTo>
                    <a:pt x="6" y="10"/>
                  </a:lnTo>
                  <a:lnTo>
                    <a:pt x="6" y="0"/>
                  </a:lnTo>
                  <a:lnTo>
                    <a:pt x="2" y="2"/>
                  </a:lnTo>
                  <a:lnTo>
                    <a:pt x="1" y="3"/>
                  </a:lnTo>
                  <a:lnTo>
                    <a:pt x="2" y="3"/>
                  </a:lnTo>
                  <a:lnTo>
                    <a:pt x="1" y="3"/>
                  </a:lnTo>
                  <a:lnTo>
                    <a:pt x="0" y="1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45" name="Freeform 205"/>
            <p:cNvSpPr>
              <a:spLocks noChangeAspect="1"/>
            </p:cNvSpPr>
            <p:nvPr/>
          </p:nvSpPr>
          <p:spPr bwMode="auto">
            <a:xfrm>
              <a:off x="1332" y="2772"/>
              <a:ext cx="9" cy="14"/>
            </a:xfrm>
            <a:custGeom>
              <a:avLst/>
              <a:gdLst/>
              <a:ahLst/>
              <a:cxnLst>
                <a:cxn ang="0">
                  <a:pos x="0" y="6"/>
                </a:cxn>
                <a:cxn ang="0">
                  <a:pos x="0" y="5"/>
                </a:cxn>
                <a:cxn ang="0">
                  <a:pos x="1" y="7"/>
                </a:cxn>
                <a:cxn ang="0">
                  <a:pos x="3" y="9"/>
                </a:cxn>
                <a:cxn ang="0">
                  <a:pos x="5" y="9"/>
                </a:cxn>
                <a:cxn ang="0">
                  <a:pos x="7" y="10"/>
                </a:cxn>
                <a:cxn ang="0">
                  <a:pos x="8" y="1"/>
                </a:cxn>
                <a:cxn ang="0">
                  <a:pos x="7" y="1"/>
                </a:cxn>
                <a:cxn ang="0">
                  <a:pos x="6" y="1"/>
                </a:cxn>
                <a:cxn ang="0">
                  <a:pos x="7" y="2"/>
                </a:cxn>
                <a:cxn ang="0">
                  <a:pos x="7" y="1"/>
                </a:cxn>
                <a:cxn ang="0">
                  <a:pos x="7" y="0"/>
                </a:cxn>
                <a:cxn ang="0">
                  <a:pos x="0" y="6"/>
                </a:cxn>
              </a:cxnLst>
              <a:rect l="0" t="0" r="r" b="b"/>
              <a:pathLst>
                <a:path w="9" h="11">
                  <a:moveTo>
                    <a:pt x="0" y="6"/>
                  </a:moveTo>
                  <a:lnTo>
                    <a:pt x="0" y="5"/>
                  </a:lnTo>
                  <a:lnTo>
                    <a:pt x="1" y="7"/>
                  </a:lnTo>
                  <a:lnTo>
                    <a:pt x="3" y="9"/>
                  </a:lnTo>
                  <a:lnTo>
                    <a:pt x="5" y="9"/>
                  </a:lnTo>
                  <a:lnTo>
                    <a:pt x="7" y="10"/>
                  </a:lnTo>
                  <a:lnTo>
                    <a:pt x="8" y="1"/>
                  </a:lnTo>
                  <a:lnTo>
                    <a:pt x="7" y="1"/>
                  </a:lnTo>
                  <a:lnTo>
                    <a:pt x="6" y="1"/>
                  </a:lnTo>
                  <a:lnTo>
                    <a:pt x="7" y="2"/>
                  </a:lnTo>
                  <a:lnTo>
                    <a:pt x="7" y="1"/>
                  </a:lnTo>
                  <a:lnTo>
                    <a:pt x="7" y="0"/>
                  </a:lnTo>
                  <a:lnTo>
                    <a:pt x="0" y="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46" name="Freeform 206"/>
            <p:cNvSpPr>
              <a:spLocks noChangeAspect="1"/>
            </p:cNvSpPr>
            <p:nvPr/>
          </p:nvSpPr>
          <p:spPr bwMode="auto">
            <a:xfrm>
              <a:off x="1327" y="2767"/>
              <a:ext cx="13" cy="15"/>
            </a:xfrm>
            <a:custGeom>
              <a:avLst/>
              <a:gdLst/>
              <a:ahLst/>
              <a:cxnLst>
                <a:cxn ang="0">
                  <a:pos x="3" y="10"/>
                </a:cxn>
                <a:cxn ang="0">
                  <a:pos x="4" y="9"/>
                </a:cxn>
                <a:cxn ang="0">
                  <a:pos x="3" y="10"/>
                </a:cxn>
                <a:cxn ang="0">
                  <a:pos x="4" y="10"/>
                </a:cxn>
                <a:cxn ang="0">
                  <a:pos x="5" y="12"/>
                </a:cxn>
                <a:cxn ang="0">
                  <a:pos x="12" y="7"/>
                </a:cxn>
                <a:cxn ang="0">
                  <a:pos x="10" y="4"/>
                </a:cxn>
                <a:cxn ang="0">
                  <a:pos x="7" y="1"/>
                </a:cxn>
                <a:cxn ang="0">
                  <a:pos x="3" y="0"/>
                </a:cxn>
                <a:cxn ang="0">
                  <a:pos x="0" y="2"/>
                </a:cxn>
                <a:cxn ang="0">
                  <a:pos x="0" y="1"/>
                </a:cxn>
                <a:cxn ang="0">
                  <a:pos x="3" y="10"/>
                </a:cxn>
              </a:cxnLst>
              <a:rect l="0" t="0" r="r" b="b"/>
              <a:pathLst>
                <a:path w="13" h="13">
                  <a:moveTo>
                    <a:pt x="3" y="10"/>
                  </a:moveTo>
                  <a:lnTo>
                    <a:pt x="4" y="9"/>
                  </a:lnTo>
                  <a:lnTo>
                    <a:pt x="3" y="10"/>
                  </a:lnTo>
                  <a:lnTo>
                    <a:pt x="4" y="10"/>
                  </a:lnTo>
                  <a:lnTo>
                    <a:pt x="5" y="12"/>
                  </a:lnTo>
                  <a:lnTo>
                    <a:pt x="12" y="7"/>
                  </a:lnTo>
                  <a:lnTo>
                    <a:pt x="10" y="4"/>
                  </a:lnTo>
                  <a:lnTo>
                    <a:pt x="7" y="1"/>
                  </a:lnTo>
                  <a:lnTo>
                    <a:pt x="3" y="0"/>
                  </a:lnTo>
                  <a:lnTo>
                    <a:pt x="0" y="2"/>
                  </a:lnTo>
                  <a:lnTo>
                    <a:pt x="0" y="1"/>
                  </a:lnTo>
                  <a:lnTo>
                    <a:pt x="3" y="1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47" name="Freeform 207"/>
            <p:cNvSpPr>
              <a:spLocks noChangeAspect="1"/>
            </p:cNvSpPr>
            <p:nvPr/>
          </p:nvSpPr>
          <p:spPr bwMode="auto">
            <a:xfrm>
              <a:off x="1322" y="2768"/>
              <a:ext cx="10" cy="18"/>
            </a:xfrm>
            <a:custGeom>
              <a:avLst/>
              <a:gdLst/>
              <a:ahLst/>
              <a:cxnLst>
                <a:cxn ang="0">
                  <a:pos x="4" y="14"/>
                </a:cxn>
                <a:cxn ang="0">
                  <a:pos x="4" y="14"/>
                </a:cxn>
                <a:cxn ang="0">
                  <a:pos x="9" y="11"/>
                </a:cxn>
                <a:cxn ang="0">
                  <a:pos x="10" y="6"/>
                </a:cxn>
                <a:cxn ang="0">
                  <a:pos x="10" y="5"/>
                </a:cxn>
                <a:cxn ang="0">
                  <a:pos x="7" y="8"/>
                </a:cxn>
                <a:cxn ang="0">
                  <a:pos x="4" y="0"/>
                </a:cxn>
                <a:cxn ang="0">
                  <a:pos x="0" y="5"/>
                </a:cxn>
                <a:cxn ang="0">
                  <a:pos x="2" y="7"/>
                </a:cxn>
                <a:cxn ang="0">
                  <a:pos x="2" y="6"/>
                </a:cxn>
                <a:cxn ang="0">
                  <a:pos x="4" y="5"/>
                </a:cxn>
                <a:cxn ang="0">
                  <a:pos x="4" y="14"/>
                </a:cxn>
              </a:cxnLst>
              <a:rect l="0" t="0" r="r" b="b"/>
              <a:pathLst>
                <a:path w="11" h="15">
                  <a:moveTo>
                    <a:pt x="4" y="14"/>
                  </a:moveTo>
                  <a:lnTo>
                    <a:pt x="4" y="14"/>
                  </a:lnTo>
                  <a:lnTo>
                    <a:pt x="9" y="11"/>
                  </a:lnTo>
                  <a:lnTo>
                    <a:pt x="10" y="6"/>
                  </a:lnTo>
                  <a:lnTo>
                    <a:pt x="10" y="5"/>
                  </a:lnTo>
                  <a:lnTo>
                    <a:pt x="7" y="8"/>
                  </a:lnTo>
                  <a:lnTo>
                    <a:pt x="4" y="0"/>
                  </a:lnTo>
                  <a:lnTo>
                    <a:pt x="0" y="5"/>
                  </a:lnTo>
                  <a:lnTo>
                    <a:pt x="2" y="7"/>
                  </a:lnTo>
                  <a:lnTo>
                    <a:pt x="2" y="6"/>
                  </a:lnTo>
                  <a:lnTo>
                    <a:pt x="4" y="5"/>
                  </a:lnTo>
                  <a:lnTo>
                    <a:pt x="4" y="1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48" name="Freeform 208"/>
            <p:cNvSpPr>
              <a:spLocks noChangeAspect="1"/>
            </p:cNvSpPr>
            <p:nvPr/>
          </p:nvSpPr>
          <p:spPr bwMode="auto">
            <a:xfrm>
              <a:off x="1318" y="2771"/>
              <a:ext cx="10" cy="15"/>
            </a:xfrm>
            <a:custGeom>
              <a:avLst/>
              <a:gdLst/>
              <a:ahLst/>
              <a:cxnLst>
                <a:cxn ang="0">
                  <a:pos x="0" y="8"/>
                </a:cxn>
                <a:cxn ang="0">
                  <a:pos x="0" y="8"/>
                </a:cxn>
                <a:cxn ang="0">
                  <a:pos x="1" y="9"/>
                </a:cxn>
                <a:cxn ang="0">
                  <a:pos x="3" y="10"/>
                </a:cxn>
                <a:cxn ang="0">
                  <a:pos x="5" y="10"/>
                </a:cxn>
                <a:cxn ang="0">
                  <a:pos x="9" y="11"/>
                </a:cxn>
                <a:cxn ang="0">
                  <a:pos x="9" y="2"/>
                </a:cxn>
                <a:cxn ang="0">
                  <a:pos x="7" y="2"/>
                </a:cxn>
                <a:cxn ang="0">
                  <a:pos x="7" y="2"/>
                </a:cxn>
                <a:cxn ang="0">
                  <a:pos x="5" y="1"/>
                </a:cxn>
                <a:cxn ang="0">
                  <a:pos x="4" y="0"/>
                </a:cxn>
                <a:cxn ang="0">
                  <a:pos x="0" y="8"/>
                </a:cxn>
              </a:cxnLst>
              <a:rect l="0" t="0" r="r" b="b"/>
              <a:pathLst>
                <a:path w="10" h="12">
                  <a:moveTo>
                    <a:pt x="0" y="8"/>
                  </a:moveTo>
                  <a:lnTo>
                    <a:pt x="0" y="8"/>
                  </a:lnTo>
                  <a:lnTo>
                    <a:pt x="1" y="9"/>
                  </a:lnTo>
                  <a:lnTo>
                    <a:pt x="3" y="10"/>
                  </a:lnTo>
                  <a:lnTo>
                    <a:pt x="5" y="10"/>
                  </a:lnTo>
                  <a:lnTo>
                    <a:pt x="9" y="11"/>
                  </a:lnTo>
                  <a:lnTo>
                    <a:pt x="9" y="2"/>
                  </a:lnTo>
                  <a:lnTo>
                    <a:pt x="7" y="2"/>
                  </a:lnTo>
                  <a:lnTo>
                    <a:pt x="7" y="2"/>
                  </a:lnTo>
                  <a:lnTo>
                    <a:pt x="5" y="1"/>
                  </a:lnTo>
                  <a:lnTo>
                    <a:pt x="4"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49" name="Freeform 209"/>
            <p:cNvSpPr>
              <a:spLocks noChangeAspect="1"/>
            </p:cNvSpPr>
            <p:nvPr/>
          </p:nvSpPr>
          <p:spPr bwMode="auto">
            <a:xfrm>
              <a:off x="1310" y="2770"/>
              <a:ext cx="12" cy="15"/>
            </a:xfrm>
            <a:custGeom>
              <a:avLst/>
              <a:gdLst/>
              <a:ahLst/>
              <a:cxnLst>
                <a:cxn ang="0">
                  <a:pos x="5" y="11"/>
                </a:cxn>
                <a:cxn ang="0">
                  <a:pos x="5" y="11"/>
                </a:cxn>
                <a:cxn ang="0">
                  <a:pos x="7" y="10"/>
                </a:cxn>
                <a:cxn ang="0">
                  <a:pos x="8" y="9"/>
                </a:cxn>
                <a:cxn ang="0">
                  <a:pos x="12" y="1"/>
                </a:cxn>
                <a:cxn ang="0">
                  <a:pos x="8" y="0"/>
                </a:cxn>
                <a:cxn ang="0">
                  <a:pos x="4" y="1"/>
                </a:cxn>
                <a:cxn ang="0">
                  <a:pos x="1" y="3"/>
                </a:cxn>
                <a:cxn ang="0">
                  <a:pos x="0" y="5"/>
                </a:cxn>
                <a:cxn ang="0">
                  <a:pos x="0" y="5"/>
                </a:cxn>
                <a:cxn ang="0">
                  <a:pos x="5" y="11"/>
                </a:cxn>
              </a:cxnLst>
              <a:rect l="0" t="0" r="r" b="b"/>
              <a:pathLst>
                <a:path w="13" h="12">
                  <a:moveTo>
                    <a:pt x="5" y="11"/>
                  </a:moveTo>
                  <a:lnTo>
                    <a:pt x="5" y="11"/>
                  </a:lnTo>
                  <a:lnTo>
                    <a:pt x="7" y="10"/>
                  </a:lnTo>
                  <a:lnTo>
                    <a:pt x="8" y="9"/>
                  </a:lnTo>
                  <a:lnTo>
                    <a:pt x="12" y="1"/>
                  </a:lnTo>
                  <a:lnTo>
                    <a:pt x="8" y="0"/>
                  </a:lnTo>
                  <a:lnTo>
                    <a:pt x="4" y="1"/>
                  </a:lnTo>
                  <a:lnTo>
                    <a:pt x="1" y="3"/>
                  </a:lnTo>
                  <a:lnTo>
                    <a:pt x="0" y="5"/>
                  </a:lnTo>
                  <a:lnTo>
                    <a:pt x="0" y="5"/>
                  </a:lnTo>
                  <a:lnTo>
                    <a:pt x="5" y="1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50" name="Freeform 210"/>
            <p:cNvSpPr>
              <a:spLocks noChangeAspect="1"/>
            </p:cNvSpPr>
            <p:nvPr/>
          </p:nvSpPr>
          <p:spPr bwMode="auto">
            <a:xfrm>
              <a:off x="1285" y="2772"/>
              <a:ext cx="13" cy="14"/>
            </a:xfrm>
            <a:custGeom>
              <a:avLst/>
              <a:gdLst/>
              <a:ahLst/>
              <a:cxnLst>
                <a:cxn ang="0">
                  <a:pos x="1" y="9"/>
                </a:cxn>
                <a:cxn ang="0">
                  <a:pos x="0" y="8"/>
                </a:cxn>
                <a:cxn ang="0">
                  <a:pos x="2" y="9"/>
                </a:cxn>
                <a:cxn ang="0">
                  <a:pos x="4" y="10"/>
                </a:cxn>
                <a:cxn ang="0">
                  <a:pos x="8" y="10"/>
                </a:cxn>
                <a:cxn ang="0">
                  <a:pos x="12" y="8"/>
                </a:cxn>
                <a:cxn ang="0">
                  <a:pos x="6" y="2"/>
                </a:cxn>
                <a:cxn ang="0">
                  <a:pos x="6" y="2"/>
                </a:cxn>
                <a:cxn ang="0">
                  <a:pos x="4" y="1"/>
                </a:cxn>
                <a:cxn ang="0">
                  <a:pos x="2" y="0"/>
                </a:cxn>
                <a:cxn ang="0">
                  <a:pos x="1" y="0"/>
                </a:cxn>
                <a:cxn ang="0">
                  <a:pos x="1" y="9"/>
                </a:cxn>
              </a:cxnLst>
              <a:rect l="0" t="0" r="r" b="b"/>
              <a:pathLst>
                <a:path w="13" h="11">
                  <a:moveTo>
                    <a:pt x="1" y="9"/>
                  </a:moveTo>
                  <a:lnTo>
                    <a:pt x="0" y="8"/>
                  </a:lnTo>
                  <a:lnTo>
                    <a:pt x="2" y="9"/>
                  </a:lnTo>
                  <a:lnTo>
                    <a:pt x="4" y="10"/>
                  </a:lnTo>
                  <a:lnTo>
                    <a:pt x="8" y="10"/>
                  </a:lnTo>
                  <a:lnTo>
                    <a:pt x="12" y="8"/>
                  </a:lnTo>
                  <a:lnTo>
                    <a:pt x="6" y="2"/>
                  </a:lnTo>
                  <a:lnTo>
                    <a:pt x="6" y="2"/>
                  </a:lnTo>
                  <a:lnTo>
                    <a:pt x="4" y="1"/>
                  </a:lnTo>
                  <a:lnTo>
                    <a:pt x="2" y="0"/>
                  </a:lnTo>
                  <a:lnTo>
                    <a:pt x="1" y="0"/>
                  </a:lnTo>
                  <a:lnTo>
                    <a:pt x="1"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51" name="Freeform 211"/>
            <p:cNvSpPr>
              <a:spLocks noChangeAspect="1"/>
            </p:cNvSpPr>
            <p:nvPr/>
          </p:nvSpPr>
          <p:spPr bwMode="auto">
            <a:xfrm>
              <a:off x="1281" y="2772"/>
              <a:ext cx="11" cy="16"/>
            </a:xfrm>
            <a:custGeom>
              <a:avLst/>
              <a:gdLst/>
              <a:ahLst/>
              <a:cxnLst>
                <a:cxn ang="0">
                  <a:pos x="9" y="12"/>
                </a:cxn>
                <a:cxn ang="0">
                  <a:pos x="9" y="12"/>
                </a:cxn>
                <a:cxn ang="0">
                  <a:pos x="10" y="8"/>
                </a:cxn>
                <a:cxn ang="0">
                  <a:pos x="10" y="6"/>
                </a:cxn>
                <a:cxn ang="0">
                  <a:pos x="9" y="6"/>
                </a:cxn>
                <a:cxn ang="0">
                  <a:pos x="6" y="9"/>
                </a:cxn>
                <a:cxn ang="0">
                  <a:pos x="6" y="0"/>
                </a:cxn>
                <a:cxn ang="0">
                  <a:pos x="1" y="4"/>
                </a:cxn>
                <a:cxn ang="0">
                  <a:pos x="0" y="6"/>
                </a:cxn>
                <a:cxn ang="0">
                  <a:pos x="0" y="8"/>
                </a:cxn>
                <a:cxn ang="0">
                  <a:pos x="1" y="10"/>
                </a:cxn>
                <a:cxn ang="0">
                  <a:pos x="9" y="12"/>
                </a:cxn>
              </a:cxnLst>
              <a:rect l="0" t="0" r="r" b="b"/>
              <a:pathLst>
                <a:path w="11" h="13">
                  <a:moveTo>
                    <a:pt x="9" y="12"/>
                  </a:moveTo>
                  <a:lnTo>
                    <a:pt x="9" y="12"/>
                  </a:lnTo>
                  <a:lnTo>
                    <a:pt x="10" y="8"/>
                  </a:lnTo>
                  <a:lnTo>
                    <a:pt x="10" y="6"/>
                  </a:lnTo>
                  <a:lnTo>
                    <a:pt x="9" y="6"/>
                  </a:lnTo>
                  <a:lnTo>
                    <a:pt x="6" y="9"/>
                  </a:lnTo>
                  <a:lnTo>
                    <a:pt x="6" y="0"/>
                  </a:lnTo>
                  <a:lnTo>
                    <a:pt x="1" y="4"/>
                  </a:lnTo>
                  <a:lnTo>
                    <a:pt x="0" y="6"/>
                  </a:lnTo>
                  <a:lnTo>
                    <a:pt x="0" y="8"/>
                  </a:lnTo>
                  <a:lnTo>
                    <a:pt x="1" y="10"/>
                  </a:lnTo>
                  <a:lnTo>
                    <a:pt x="9" y="1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52" name="Freeform 212"/>
            <p:cNvSpPr>
              <a:spLocks noChangeAspect="1"/>
            </p:cNvSpPr>
            <p:nvPr/>
          </p:nvSpPr>
          <p:spPr bwMode="auto">
            <a:xfrm>
              <a:off x="1277" y="2782"/>
              <a:ext cx="14" cy="7"/>
            </a:xfrm>
            <a:custGeom>
              <a:avLst/>
              <a:gdLst/>
              <a:ahLst/>
              <a:cxnLst>
                <a:cxn ang="0">
                  <a:pos x="8" y="9"/>
                </a:cxn>
                <a:cxn ang="0">
                  <a:pos x="8" y="9"/>
                </a:cxn>
                <a:cxn ang="0">
                  <a:pos x="8" y="7"/>
                </a:cxn>
                <a:cxn ang="0">
                  <a:pos x="9" y="8"/>
                </a:cxn>
                <a:cxn ang="0">
                  <a:pos x="12" y="6"/>
                </a:cxn>
                <a:cxn ang="0">
                  <a:pos x="13" y="2"/>
                </a:cxn>
                <a:cxn ang="0">
                  <a:pos x="5" y="1"/>
                </a:cxn>
                <a:cxn ang="0">
                  <a:pos x="5" y="0"/>
                </a:cxn>
                <a:cxn ang="0">
                  <a:pos x="3" y="2"/>
                </a:cxn>
                <a:cxn ang="0">
                  <a:pos x="0" y="5"/>
                </a:cxn>
                <a:cxn ang="0">
                  <a:pos x="8" y="9"/>
                </a:cxn>
              </a:cxnLst>
              <a:rect l="0" t="0" r="r" b="b"/>
              <a:pathLst>
                <a:path w="14" h="10">
                  <a:moveTo>
                    <a:pt x="8" y="9"/>
                  </a:moveTo>
                  <a:lnTo>
                    <a:pt x="8" y="9"/>
                  </a:lnTo>
                  <a:lnTo>
                    <a:pt x="8" y="7"/>
                  </a:lnTo>
                  <a:lnTo>
                    <a:pt x="9" y="8"/>
                  </a:lnTo>
                  <a:lnTo>
                    <a:pt x="12" y="6"/>
                  </a:lnTo>
                  <a:lnTo>
                    <a:pt x="13" y="2"/>
                  </a:lnTo>
                  <a:lnTo>
                    <a:pt x="5" y="1"/>
                  </a:lnTo>
                  <a:lnTo>
                    <a:pt x="5" y="0"/>
                  </a:lnTo>
                  <a:lnTo>
                    <a:pt x="3" y="2"/>
                  </a:lnTo>
                  <a:lnTo>
                    <a:pt x="0" y="5"/>
                  </a:lnTo>
                  <a:lnTo>
                    <a:pt x="8"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53" name="Freeform 213"/>
            <p:cNvSpPr>
              <a:spLocks noChangeAspect="1"/>
            </p:cNvSpPr>
            <p:nvPr/>
          </p:nvSpPr>
          <p:spPr bwMode="auto">
            <a:xfrm>
              <a:off x="1272" y="2787"/>
              <a:ext cx="16" cy="18"/>
            </a:xfrm>
            <a:custGeom>
              <a:avLst/>
              <a:gdLst/>
              <a:ahLst/>
              <a:cxnLst>
                <a:cxn ang="0">
                  <a:pos x="12" y="8"/>
                </a:cxn>
                <a:cxn ang="0">
                  <a:pos x="12" y="8"/>
                </a:cxn>
                <a:cxn ang="0">
                  <a:pos x="6" y="9"/>
                </a:cxn>
                <a:cxn ang="0">
                  <a:pos x="8" y="10"/>
                </a:cxn>
                <a:cxn ang="0">
                  <a:pos x="10" y="8"/>
                </a:cxn>
                <a:cxn ang="0">
                  <a:pos x="12" y="4"/>
                </a:cxn>
                <a:cxn ang="0">
                  <a:pos x="4" y="0"/>
                </a:cxn>
                <a:cxn ang="0">
                  <a:pos x="2" y="4"/>
                </a:cxn>
                <a:cxn ang="0">
                  <a:pos x="0" y="10"/>
                </a:cxn>
                <a:cxn ang="0">
                  <a:pos x="4" y="17"/>
                </a:cxn>
                <a:cxn ang="0">
                  <a:pos x="14" y="16"/>
                </a:cxn>
                <a:cxn ang="0">
                  <a:pos x="12" y="8"/>
                </a:cxn>
              </a:cxnLst>
              <a:rect l="0" t="0" r="r" b="b"/>
              <a:pathLst>
                <a:path w="15" h="18">
                  <a:moveTo>
                    <a:pt x="12" y="8"/>
                  </a:moveTo>
                  <a:lnTo>
                    <a:pt x="12" y="8"/>
                  </a:lnTo>
                  <a:lnTo>
                    <a:pt x="6" y="9"/>
                  </a:lnTo>
                  <a:lnTo>
                    <a:pt x="8" y="10"/>
                  </a:lnTo>
                  <a:lnTo>
                    <a:pt x="10" y="8"/>
                  </a:lnTo>
                  <a:lnTo>
                    <a:pt x="12" y="4"/>
                  </a:lnTo>
                  <a:lnTo>
                    <a:pt x="4" y="0"/>
                  </a:lnTo>
                  <a:lnTo>
                    <a:pt x="2" y="4"/>
                  </a:lnTo>
                  <a:lnTo>
                    <a:pt x="0" y="10"/>
                  </a:lnTo>
                  <a:lnTo>
                    <a:pt x="4" y="17"/>
                  </a:lnTo>
                  <a:lnTo>
                    <a:pt x="14" y="16"/>
                  </a:lnTo>
                  <a:lnTo>
                    <a:pt x="12"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54" name="Freeform 214"/>
            <p:cNvSpPr>
              <a:spLocks noChangeAspect="1"/>
            </p:cNvSpPr>
            <p:nvPr/>
          </p:nvSpPr>
          <p:spPr bwMode="auto">
            <a:xfrm>
              <a:off x="1285" y="2788"/>
              <a:ext cx="21" cy="17"/>
            </a:xfrm>
            <a:custGeom>
              <a:avLst/>
              <a:gdLst/>
              <a:ahLst/>
              <a:cxnLst>
                <a:cxn ang="0">
                  <a:pos x="20" y="0"/>
                </a:cxn>
                <a:cxn ang="0">
                  <a:pos x="20" y="0"/>
                </a:cxn>
                <a:cxn ang="0">
                  <a:pos x="15" y="1"/>
                </a:cxn>
                <a:cxn ang="0">
                  <a:pos x="12" y="3"/>
                </a:cxn>
                <a:cxn ang="0">
                  <a:pos x="8" y="5"/>
                </a:cxn>
                <a:cxn ang="0">
                  <a:pos x="0" y="7"/>
                </a:cxn>
                <a:cxn ang="0">
                  <a:pos x="2" y="16"/>
                </a:cxn>
                <a:cxn ang="0">
                  <a:pos x="11" y="13"/>
                </a:cxn>
                <a:cxn ang="0">
                  <a:pos x="16" y="11"/>
                </a:cxn>
                <a:cxn ang="0">
                  <a:pos x="18" y="10"/>
                </a:cxn>
                <a:cxn ang="0">
                  <a:pos x="20" y="10"/>
                </a:cxn>
                <a:cxn ang="0">
                  <a:pos x="20" y="0"/>
                </a:cxn>
              </a:cxnLst>
              <a:rect l="0" t="0" r="r" b="b"/>
              <a:pathLst>
                <a:path w="21" h="17">
                  <a:moveTo>
                    <a:pt x="20" y="0"/>
                  </a:moveTo>
                  <a:lnTo>
                    <a:pt x="20" y="0"/>
                  </a:lnTo>
                  <a:lnTo>
                    <a:pt x="15" y="1"/>
                  </a:lnTo>
                  <a:lnTo>
                    <a:pt x="12" y="3"/>
                  </a:lnTo>
                  <a:lnTo>
                    <a:pt x="8" y="5"/>
                  </a:lnTo>
                  <a:lnTo>
                    <a:pt x="0" y="7"/>
                  </a:lnTo>
                  <a:lnTo>
                    <a:pt x="2" y="16"/>
                  </a:lnTo>
                  <a:lnTo>
                    <a:pt x="11" y="13"/>
                  </a:lnTo>
                  <a:lnTo>
                    <a:pt x="16" y="11"/>
                  </a:lnTo>
                  <a:lnTo>
                    <a:pt x="18" y="10"/>
                  </a:lnTo>
                  <a:lnTo>
                    <a:pt x="20" y="10"/>
                  </a:lnTo>
                  <a:lnTo>
                    <a:pt x="20"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55" name="Freeform 215"/>
            <p:cNvSpPr>
              <a:spLocks noChangeAspect="1"/>
            </p:cNvSpPr>
            <p:nvPr/>
          </p:nvSpPr>
          <p:spPr bwMode="auto">
            <a:xfrm>
              <a:off x="1305" y="2788"/>
              <a:ext cx="18" cy="8"/>
            </a:xfrm>
            <a:custGeom>
              <a:avLst/>
              <a:gdLst/>
              <a:ahLst/>
              <a:cxnLst>
                <a:cxn ang="0">
                  <a:pos x="14" y="3"/>
                </a:cxn>
                <a:cxn ang="0">
                  <a:pos x="14" y="3"/>
                </a:cxn>
                <a:cxn ang="0">
                  <a:pos x="10" y="1"/>
                </a:cxn>
                <a:cxn ang="0">
                  <a:pos x="7" y="1"/>
                </a:cxn>
                <a:cxn ang="0">
                  <a:pos x="3" y="0"/>
                </a:cxn>
                <a:cxn ang="0">
                  <a:pos x="0" y="0"/>
                </a:cxn>
                <a:cxn ang="0">
                  <a:pos x="0" y="10"/>
                </a:cxn>
                <a:cxn ang="0">
                  <a:pos x="3" y="10"/>
                </a:cxn>
                <a:cxn ang="0">
                  <a:pos x="7" y="9"/>
                </a:cxn>
                <a:cxn ang="0">
                  <a:pos x="9" y="10"/>
                </a:cxn>
                <a:cxn ang="0">
                  <a:pos x="10" y="10"/>
                </a:cxn>
                <a:cxn ang="0">
                  <a:pos x="14" y="3"/>
                </a:cxn>
              </a:cxnLst>
              <a:rect l="0" t="0" r="r" b="b"/>
              <a:pathLst>
                <a:path w="15" h="11">
                  <a:moveTo>
                    <a:pt x="14" y="3"/>
                  </a:moveTo>
                  <a:lnTo>
                    <a:pt x="14" y="3"/>
                  </a:lnTo>
                  <a:lnTo>
                    <a:pt x="10" y="1"/>
                  </a:lnTo>
                  <a:lnTo>
                    <a:pt x="7" y="1"/>
                  </a:lnTo>
                  <a:lnTo>
                    <a:pt x="3" y="0"/>
                  </a:lnTo>
                  <a:lnTo>
                    <a:pt x="0" y="0"/>
                  </a:lnTo>
                  <a:lnTo>
                    <a:pt x="0" y="10"/>
                  </a:lnTo>
                  <a:lnTo>
                    <a:pt x="3" y="10"/>
                  </a:lnTo>
                  <a:lnTo>
                    <a:pt x="7" y="9"/>
                  </a:lnTo>
                  <a:lnTo>
                    <a:pt x="9" y="10"/>
                  </a:lnTo>
                  <a:lnTo>
                    <a:pt x="10" y="10"/>
                  </a:lnTo>
                  <a:lnTo>
                    <a:pt x="14"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56" name="Freeform 216"/>
            <p:cNvSpPr>
              <a:spLocks noChangeAspect="1"/>
            </p:cNvSpPr>
            <p:nvPr/>
          </p:nvSpPr>
          <p:spPr bwMode="auto">
            <a:xfrm>
              <a:off x="1315" y="2791"/>
              <a:ext cx="9" cy="14"/>
            </a:xfrm>
            <a:custGeom>
              <a:avLst/>
              <a:gdLst/>
              <a:ahLst/>
              <a:cxnLst>
                <a:cxn ang="0">
                  <a:pos x="6" y="0"/>
                </a:cxn>
                <a:cxn ang="0">
                  <a:pos x="6" y="0"/>
                </a:cxn>
                <a:cxn ang="0">
                  <a:pos x="5" y="0"/>
                </a:cxn>
                <a:cxn ang="0">
                  <a:pos x="6" y="1"/>
                </a:cxn>
                <a:cxn ang="0">
                  <a:pos x="5" y="0"/>
                </a:cxn>
                <a:cxn ang="0">
                  <a:pos x="4" y="0"/>
                </a:cxn>
                <a:cxn ang="0">
                  <a:pos x="0" y="6"/>
                </a:cxn>
                <a:cxn ang="0">
                  <a:pos x="1" y="7"/>
                </a:cxn>
                <a:cxn ang="0">
                  <a:pos x="2" y="8"/>
                </a:cxn>
                <a:cxn ang="0">
                  <a:pos x="5" y="10"/>
                </a:cxn>
                <a:cxn ang="0">
                  <a:pos x="8" y="8"/>
                </a:cxn>
                <a:cxn ang="0">
                  <a:pos x="8" y="8"/>
                </a:cxn>
                <a:cxn ang="0">
                  <a:pos x="6" y="0"/>
                </a:cxn>
              </a:cxnLst>
              <a:rect l="0" t="0" r="r" b="b"/>
              <a:pathLst>
                <a:path w="9" h="11">
                  <a:moveTo>
                    <a:pt x="6" y="0"/>
                  </a:moveTo>
                  <a:lnTo>
                    <a:pt x="6" y="0"/>
                  </a:lnTo>
                  <a:lnTo>
                    <a:pt x="5" y="0"/>
                  </a:lnTo>
                  <a:lnTo>
                    <a:pt x="6" y="1"/>
                  </a:lnTo>
                  <a:lnTo>
                    <a:pt x="5" y="0"/>
                  </a:lnTo>
                  <a:lnTo>
                    <a:pt x="4" y="0"/>
                  </a:lnTo>
                  <a:lnTo>
                    <a:pt x="0" y="6"/>
                  </a:lnTo>
                  <a:lnTo>
                    <a:pt x="1" y="7"/>
                  </a:lnTo>
                  <a:lnTo>
                    <a:pt x="2" y="8"/>
                  </a:lnTo>
                  <a:lnTo>
                    <a:pt x="5" y="10"/>
                  </a:lnTo>
                  <a:lnTo>
                    <a:pt x="8" y="8"/>
                  </a:lnTo>
                  <a:lnTo>
                    <a:pt x="8" y="8"/>
                  </a:lnTo>
                  <a:lnTo>
                    <a:pt x="6"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57" name="Freeform 217"/>
            <p:cNvSpPr>
              <a:spLocks noChangeAspect="1"/>
            </p:cNvSpPr>
            <p:nvPr/>
          </p:nvSpPr>
          <p:spPr bwMode="auto">
            <a:xfrm>
              <a:off x="1321" y="2790"/>
              <a:ext cx="20" cy="14"/>
            </a:xfrm>
            <a:custGeom>
              <a:avLst/>
              <a:gdLst/>
              <a:ahLst/>
              <a:cxnLst>
                <a:cxn ang="0">
                  <a:pos x="19" y="4"/>
                </a:cxn>
                <a:cxn ang="0">
                  <a:pos x="19" y="4"/>
                </a:cxn>
                <a:cxn ang="0">
                  <a:pos x="14" y="1"/>
                </a:cxn>
                <a:cxn ang="0">
                  <a:pos x="9" y="0"/>
                </a:cxn>
                <a:cxn ang="0">
                  <a:pos x="4" y="1"/>
                </a:cxn>
                <a:cxn ang="0">
                  <a:pos x="0" y="1"/>
                </a:cxn>
                <a:cxn ang="0">
                  <a:pos x="2" y="10"/>
                </a:cxn>
                <a:cxn ang="0">
                  <a:pos x="4" y="9"/>
                </a:cxn>
                <a:cxn ang="0">
                  <a:pos x="9" y="10"/>
                </a:cxn>
                <a:cxn ang="0">
                  <a:pos x="12" y="9"/>
                </a:cxn>
                <a:cxn ang="0">
                  <a:pos x="12" y="9"/>
                </a:cxn>
                <a:cxn ang="0">
                  <a:pos x="19" y="4"/>
                </a:cxn>
              </a:cxnLst>
              <a:rect l="0" t="0" r="r" b="b"/>
              <a:pathLst>
                <a:path w="20" h="11">
                  <a:moveTo>
                    <a:pt x="19" y="4"/>
                  </a:moveTo>
                  <a:lnTo>
                    <a:pt x="19" y="4"/>
                  </a:lnTo>
                  <a:lnTo>
                    <a:pt x="14" y="1"/>
                  </a:lnTo>
                  <a:lnTo>
                    <a:pt x="9" y="0"/>
                  </a:lnTo>
                  <a:lnTo>
                    <a:pt x="4" y="1"/>
                  </a:lnTo>
                  <a:lnTo>
                    <a:pt x="0" y="1"/>
                  </a:lnTo>
                  <a:lnTo>
                    <a:pt x="2" y="10"/>
                  </a:lnTo>
                  <a:lnTo>
                    <a:pt x="4" y="9"/>
                  </a:lnTo>
                  <a:lnTo>
                    <a:pt x="9" y="10"/>
                  </a:lnTo>
                  <a:lnTo>
                    <a:pt x="12" y="9"/>
                  </a:lnTo>
                  <a:lnTo>
                    <a:pt x="12" y="9"/>
                  </a:lnTo>
                  <a:lnTo>
                    <a:pt x="19" y="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58" name="Freeform 218"/>
            <p:cNvSpPr>
              <a:spLocks noChangeAspect="1"/>
            </p:cNvSpPr>
            <p:nvPr/>
          </p:nvSpPr>
          <p:spPr bwMode="auto">
            <a:xfrm>
              <a:off x="1332" y="2794"/>
              <a:ext cx="11" cy="9"/>
            </a:xfrm>
            <a:custGeom>
              <a:avLst/>
              <a:gdLst/>
              <a:ahLst/>
              <a:cxnLst>
                <a:cxn ang="0">
                  <a:pos x="6" y="0"/>
                </a:cxn>
                <a:cxn ang="0">
                  <a:pos x="6" y="0"/>
                </a:cxn>
                <a:cxn ang="0">
                  <a:pos x="7" y="0"/>
                </a:cxn>
                <a:cxn ang="0">
                  <a:pos x="6" y="0"/>
                </a:cxn>
                <a:cxn ang="0">
                  <a:pos x="7" y="0"/>
                </a:cxn>
                <a:cxn ang="0">
                  <a:pos x="6" y="0"/>
                </a:cxn>
                <a:cxn ang="0">
                  <a:pos x="0" y="4"/>
                </a:cxn>
                <a:cxn ang="0">
                  <a:pos x="2" y="6"/>
                </a:cxn>
                <a:cxn ang="0">
                  <a:pos x="5" y="8"/>
                </a:cxn>
                <a:cxn ang="0">
                  <a:pos x="8" y="8"/>
                </a:cxn>
                <a:cxn ang="0">
                  <a:pos x="12" y="6"/>
                </a:cxn>
                <a:cxn ang="0">
                  <a:pos x="6" y="0"/>
                </a:cxn>
              </a:cxnLst>
              <a:rect l="0" t="0" r="r" b="b"/>
              <a:pathLst>
                <a:path w="13" h="9">
                  <a:moveTo>
                    <a:pt x="6" y="0"/>
                  </a:moveTo>
                  <a:lnTo>
                    <a:pt x="6" y="0"/>
                  </a:lnTo>
                  <a:lnTo>
                    <a:pt x="7" y="0"/>
                  </a:lnTo>
                  <a:lnTo>
                    <a:pt x="6" y="0"/>
                  </a:lnTo>
                  <a:lnTo>
                    <a:pt x="7" y="0"/>
                  </a:lnTo>
                  <a:lnTo>
                    <a:pt x="6" y="0"/>
                  </a:lnTo>
                  <a:lnTo>
                    <a:pt x="0" y="4"/>
                  </a:lnTo>
                  <a:lnTo>
                    <a:pt x="2" y="6"/>
                  </a:lnTo>
                  <a:lnTo>
                    <a:pt x="5" y="8"/>
                  </a:lnTo>
                  <a:lnTo>
                    <a:pt x="8" y="8"/>
                  </a:lnTo>
                  <a:lnTo>
                    <a:pt x="12" y="6"/>
                  </a:lnTo>
                  <a:lnTo>
                    <a:pt x="6"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59" name="Freeform 219"/>
            <p:cNvSpPr>
              <a:spLocks noChangeAspect="1"/>
            </p:cNvSpPr>
            <p:nvPr/>
          </p:nvSpPr>
          <p:spPr bwMode="auto">
            <a:xfrm>
              <a:off x="1340" y="2792"/>
              <a:ext cx="12" cy="9"/>
            </a:xfrm>
            <a:custGeom>
              <a:avLst/>
              <a:gdLst/>
              <a:ahLst/>
              <a:cxnLst>
                <a:cxn ang="0">
                  <a:pos x="5" y="1"/>
                </a:cxn>
                <a:cxn ang="0">
                  <a:pos x="5" y="1"/>
                </a:cxn>
                <a:cxn ang="0">
                  <a:pos x="6" y="0"/>
                </a:cxn>
                <a:cxn ang="0">
                  <a:pos x="5" y="0"/>
                </a:cxn>
                <a:cxn ang="0">
                  <a:pos x="3" y="1"/>
                </a:cxn>
                <a:cxn ang="0">
                  <a:pos x="0" y="3"/>
                </a:cxn>
                <a:cxn ang="0">
                  <a:pos x="5" y="8"/>
                </a:cxn>
                <a:cxn ang="0">
                  <a:pos x="7" y="8"/>
                </a:cxn>
                <a:cxn ang="0">
                  <a:pos x="7" y="7"/>
                </a:cxn>
                <a:cxn ang="0">
                  <a:pos x="10" y="7"/>
                </a:cxn>
                <a:cxn ang="0">
                  <a:pos x="13" y="4"/>
                </a:cxn>
                <a:cxn ang="0">
                  <a:pos x="13" y="4"/>
                </a:cxn>
                <a:cxn ang="0">
                  <a:pos x="5" y="1"/>
                </a:cxn>
              </a:cxnLst>
              <a:rect l="0" t="0" r="r" b="b"/>
              <a:pathLst>
                <a:path w="14" h="9">
                  <a:moveTo>
                    <a:pt x="5" y="1"/>
                  </a:moveTo>
                  <a:lnTo>
                    <a:pt x="5" y="1"/>
                  </a:lnTo>
                  <a:lnTo>
                    <a:pt x="6" y="0"/>
                  </a:lnTo>
                  <a:lnTo>
                    <a:pt x="5" y="0"/>
                  </a:lnTo>
                  <a:lnTo>
                    <a:pt x="3" y="1"/>
                  </a:lnTo>
                  <a:lnTo>
                    <a:pt x="0" y="3"/>
                  </a:lnTo>
                  <a:lnTo>
                    <a:pt x="5" y="8"/>
                  </a:lnTo>
                  <a:lnTo>
                    <a:pt x="7" y="8"/>
                  </a:lnTo>
                  <a:lnTo>
                    <a:pt x="7" y="7"/>
                  </a:lnTo>
                  <a:lnTo>
                    <a:pt x="10" y="7"/>
                  </a:lnTo>
                  <a:lnTo>
                    <a:pt x="13" y="4"/>
                  </a:lnTo>
                  <a:lnTo>
                    <a:pt x="13" y="4"/>
                  </a:lnTo>
                  <a:lnTo>
                    <a:pt x="5"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60" name="Freeform 220"/>
            <p:cNvSpPr>
              <a:spLocks noChangeAspect="1"/>
            </p:cNvSpPr>
            <p:nvPr/>
          </p:nvSpPr>
          <p:spPr bwMode="auto">
            <a:xfrm>
              <a:off x="1345" y="2784"/>
              <a:ext cx="11" cy="13"/>
            </a:xfrm>
            <a:custGeom>
              <a:avLst/>
              <a:gdLst/>
              <a:ahLst/>
              <a:cxnLst>
                <a:cxn ang="0">
                  <a:pos x="2" y="1"/>
                </a:cxn>
                <a:cxn ang="0">
                  <a:pos x="2" y="1"/>
                </a:cxn>
                <a:cxn ang="0">
                  <a:pos x="1" y="2"/>
                </a:cxn>
                <a:cxn ang="0">
                  <a:pos x="2" y="4"/>
                </a:cxn>
                <a:cxn ang="0">
                  <a:pos x="0" y="6"/>
                </a:cxn>
                <a:cxn ang="0">
                  <a:pos x="0" y="8"/>
                </a:cxn>
                <a:cxn ang="0">
                  <a:pos x="8" y="12"/>
                </a:cxn>
                <a:cxn ang="0">
                  <a:pos x="8" y="9"/>
                </a:cxn>
                <a:cxn ang="0">
                  <a:pos x="10" y="6"/>
                </a:cxn>
                <a:cxn ang="0">
                  <a:pos x="10" y="2"/>
                </a:cxn>
                <a:cxn ang="0">
                  <a:pos x="10" y="0"/>
                </a:cxn>
                <a:cxn ang="0">
                  <a:pos x="2" y="1"/>
                </a:cxn>
              </a:cxnLst>
              <a:rect l="0" t="0" r="r" b="b"/>
              <a:pathLst>
                <a:path w="11" h="13">
                  <a:moveTo>
                    <a:pt x="2" y="1"/>
                  </a:moveTo>
                  <a:lnTo>
                    <a:pt x="2" y="1"/>
                  </a:lnTo>
                  <a:lnTo>
                    <a:pt x="1" y="2"/>
                  </a:lnTo>
                  <a:lnTo>
                    <a:pt x="2" y="4"/>
                  </a:lnTo>
                  <a:lnTo>
                    <a:pt x="0" y="6"/>
                  </a:lnTo>
                  <a:lnTo>
                    <a:pt x="0" y="8"/>
                  </a:lnTo>
                  <a:lnTo>
                    <a:pt x="8" y="12"/>
                  </a:lnTo>
                  <a:lnTo>
                    <a:pt x="8" y="9"/>
                  </a:lnTo>
                  <a:lnTo>
                    <a:pt x="10" y="6"/>
                  </a:lnTo>
                  <a:lnTo>
                    <a:pt x="10" y="2"/>
                  </a:lnTo>
                  <a:lnTo>
                    <a:pt x="10" y="0"/>
                  </a:lnTo>
                  <a:lnTo>
                    <a:pt x="2"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61" name="Freeform 221"/>
            <p:cNvSpPr>
              <a:spLocks noChangeAspect="1"/>
            </p:cNvSpPr>
            <p:nvPr/>
          </p:nvSpPr>
          <p:spPr bwMode="auto">
            <a:xfrm>
              <a:off x="1342" y="2776"/>
              <a:ext cx="11" cy="13"/>
            </a:xfrm>
            <a:custGeom>
              <a:avLst/>
              <a:gdLst/>
              <a:ahLst/>
              <a:cxnLst>
                <a:cxn ang="0">
                  <a:pos x="2" y="10"/>
                </a:cxn>
                <a:cxn ang="0">
                  <a:pos x="2" y="10"/>
                </a:cxn>
                <a:cxn ang="0">
                  <a:pos x="5" y="9"/>
                </a:cxn>
                <a:cxn ang="0">
                  <a:pos x="4" y="8"/>
                </a:cxn>
                <a:cxn ang="0">
                  <a:pos x="2" y="7"/>
                </a:cxn>
                <a:cxn ang="0">
                  <a:pos x="3" y="10"/>
                </a:cxn>
                <a:cxn ang="0">
                  <a:pos x="11" y="9"/>
                </a:cxn>
                <a:cxn ang="0">
                  <a:pos x="12" y="7"/>
                </a:cxn>
                <a:cxn ang="0">
                  <a:pos x="10" y="2"/>
                </a:cxn>
                <a:cxn ang="0">
                  <a:pos x="5" y="0"/>
                </a:cxn>
                <a:cxn ang="0">
                  <a:pos x="0" y="1"/>
                </a:cxn>
                <a:cxn ang="0">
                  <a:pos x="2" y="10"/>
                </a:cxn>
              </a:cxnLst>
              <a:rect l="0" t="0" r="r" b="b"/>
              <a:pathLst>
                <a:path w="13" h="11">
                  <a:moveTo>
                    <a:pt x="2" y="10"/>
                  </a:moveTo>
                  <a:lnTo>
                    <a:pt x="2" y="10"/>
                  </a:lnTo>
                  <a:lnTo>
                    <a:pt x="5" y="9"/>
                  </a:lnTo>
                  <a:lnTo>
                    <a:pt x="4" y="8"/>
                  </a:lnTo>
                  <a:lnTo>
                    <a:pt x="2" y="7"/>
                  </a:lnTo>
                  <a:lnTo>
                    <a:pt x="3" y="10"/>
                  </a:lnTo>
                  <a:lnTo>
                    <a:pt x="11" y="9"/>
                  </a:lnTo>
                  <a:lnTo>
                    <a:pt x="12" y="7"/>
                  </a:lnTo>
                  <a:lnTo>
                    <a:pt x="10" y="2"/>
                  </a:lnTo>
                  <a:lnTo>
                    <a:pt x="5" y="0"/>
                  </a:lnTo>
                  <a:lnTo>
                    <a:pt x="0" y="1"/>
                  </a:lnTo>
                  <a:lnTo>
                    <a:pt x="2" y="1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62" name="Freeform 222"/>
            <p:cNvSpPr>
              <a:spLocks noChangeAspect="1"/>
            </p:cNvSpPr>
            <p:nvPr/>
          </p:nvSpPr>
          <p:spPr bwMode="auto">
            <a:xfrm>
              <a:off x="1153" y="2722"/>
              <a:ext cx="78" cy="53"/>
            </a:xfrm>
            <a:custGeom>
              <a:avLst/>
              <a:gdLst/>
              <a:ahLst/>
              <a:cxnLst>
                <a:cxn ang="0">
                  <a:pos x="75" y="47"/>
                </a:cxn>
                <a:cxn ang="0">
                  <a:pos x="74" y="43"/>
                </a:cxn>
                <a:cxn ang="0">
                  <a:pos x="71" y="41"/>
                </a:cxn>
                <a:cxn ang="0">
                  <a:pos x="70" y="39"/>
                </a:cxn>
                <a:cxn ang="0">
                  <a:pos x="69" y="35"/>
                </a:cxn>
                <a:cxn ang="0">
                  <a:pos x="66" y="31"/>
                </a:cxn>
                <a:cxn ang="0">
                  <a:pos x="63" y="34"/>
                </a:cxn>
                <a:cxn ang="0">
                  <a:pos x="61" y="33"/>
                </a:cxn>
                <a:cxn ang="0">
                  <a:pos x="61" y="29"/>
                </a:cxn>
                <a:cxn ang="0">
                  <a:pos x="59" y="25"/>
                </a:cxn>
                <a:cxn ang="0">
                  <a:pos x="55" y="23"/>
                </a:cxn>
                <a:cxn ang="0">
                  <a:pos x="53" y="21"/>
                </a:cxn>
                <a:cxn ang="0">
                  <a:pos x="55" y="17"/>
                </a:cxn>
                <a:cxn ang="0">
                  <a:pos x="51" y="12"/>
                </a:cxn>
                <a:cxn ang="0">
                  <a:pos x="47" y="10"/>
                </a:cxn>
                <a:cxn ang="0">
                  <a:pos x="42" y="9"/>
                </a:cxn>
                <a:cxn ang="0">
                  <a:pos x="38" y="5"/>
                </a:cxn>
                <a:cxn ang="0">
                  <a:pos x="29" y="0"/>
                </a:cxn>
                <a:cxn ang="0">
                  <a:pos x="25" y="3"/>
                </a:cxn>
                <a:cxn ang="0">
                  <a:pos x="21" y="9"/>
                </a:cxn>
                <a:cxn ang="0">
                  <a:pos x="19" y="13"/>
                </a:cxn>
                <a:cxn ang="0">
                  <a:pos x="17" y="18"/>
                </a:cxn>
                <a:cxn ang="0">
                  <a:pos x="11" y="20"/>
                </a:cxn>
                <a:cxn ang="0">
                  <a:pos x="2" y="23"/>
                </a:cxn>
                <a:cxn ang="0">
                  <a:pos x="1" y="24"/>
                </a:cxn>
                <a:cxn ang="0">
                  <a:pos x="7" y="29"/>
                </a:cxn>
                <a:cxn ang="0">
                  <a:pos x="9" y="34"/>
                </a:cxn>
                <a:cxn ang="0">
                  <a:pos x="11" y="37"/>
                </a:cxn>
                <a:cxn ang="0">
                  <a:pos x="15" y="38"/>
                </a:cxn>
                <a:cxn ang="0">
                  <a:pos x="19" y="39"/>
                </a:cxn>
                <a:cxn ang="0">
                  <a:pos x="21" y="43"/>
                </a:cxn>
                <a:cxn ang="0">
                  <a:pos x="23" y="45"/>
                </a:cxn>
                <a:cxn ang="0">
                  <a:pos x="25" y="49"/>
                </a:cxn>
                <a:cxn ang="0">
                  <a:pos x="27" y="51"/>
                </a:cxn>
                <a:cxn ang="0">
                  <a:pos x="29" y="51"/>
                </a:cxn>
                <a:cxn ang="0">
                  <a:pos x="31" y="52"/>
                </a:cxn>
                <a:cxn ang="0">
                  <a:pos x="37" y="51"/>
                </a:cxn>
                <a:cxn ang="0">
                  <a:pos x="43" y="49"/>
                </a:cxn>
                <a:cxn ang="0">
                  <a:pos x="44" y="47"/>
                </a:cxn>
                <a:cxn ang="0">
                  <a:pos x="40" y="41"/>
                </a:cxn>
                <a:cxn ang="0">
                  <a:pos x="39" y="39"/>
                </a:cxn>
                <a:cxn ang="0">
                  <a:pos x="40" y="37"/>
                </a:cxn>
                <a:cxn ang="0">
                  <a:pos x="43" y="39"/>
                </a:cxn>
                <a:cxn ang="0">
                  <a:pos x="43" y="40"/>
                </a:cxn>
                <a:cxn ang="0">
                  <a:pos x="44" y="41"/>
                </a:cxn>
                <a:cxn ang="0">
                  <a:pos x="46" y="40"/>
                </a:cxn>
                <a:cxn ang="0">
                  <a:pos x="47" y="39"/>
                </a:cxn>
                <a:cxn ang="0">
                  <a:pos x="49" y="41"/>
                </a:cxn>
                <a:cxn ang="0">
                  <a:pos x="46" y="43"/>
                </a:cxn>
                <a:cxn ang="0">
                  <a:pos x="45" y="45"/>
                </a:cxn>
                <a:cxn ang="0">
                  <a:pos x="45" y="47"/>
                </a:cxn>
                <a:cxn ang="0">
                  <a:pos x="47" y="49"/>
                </a:cxn>
                <a:cxn ang="0">
                  <a:pos x="49" y="47"/>
                </a:cxn>
                <a:cxn ang="0">
                  <a:pos x="51" y="44"/>
                </a:cxn>
                <a:cxn ang="0">
                  <a:pos x="52" y="45"/>
                </a:cxn>
                <a:cxn ang="0">
                  <a:pos x="55" y="50"/>
                </a:cxn>
                <a:cxn ang="0">
                  <a:pos x="63" y="51"/>
                </a:cxn>
                <a:cxn ang="0">
                  <a:pos x="67" y="51"/>
                </a:cxn>
                <a:cxn ang="0">
                  <a:pos x="70" y="51"/>
                </a:cxn>
                <a:cxn ang="0">
                  <a:pos x="74" y="51"/>
                </a:cxn>
              </a:cxnLst>
              <a:rect l="0" t="0" r="r" b="b"/>
              <a:pathLst>
                <a:path w="76" h="53">
                  <a:moveTo>
                    <a:pt x="75" y="49"/>
                  </a:moveTo>
                  <a:lnTo>
                    <a:pt x="75" y="47"/>
                  </a:lnTo>
                  <a:lnTo>
                    <a:pt x="75" y="45"/>
                  </a:lnTo>
                  <a:lnTo>
                    <a:pt x="74" y="43"/>
                  </a:lnTo>
                  <a:lnTo>
                    <a:pt x="73" y="42"/>
                  </a:lnTo>
                  <a:lnTo>
                    <a:pt x="71" y="41"/>
                  </a:lnTo>
                  <a:lnTo>
                    <a:pt x="71" y="41"/>
                  </a:lnTo>
                  <a:lnTo>
                    <a:pt x="70" y="39"/>
                  </a:lnTo>
                  <a:lnTo>
                    <a:pt x="70" y="37"/>
                  </a:lnTo>
                  <a:lnTo>
                    <a:pt x="69" y="35"/>
                  </a:lnTo>
                  <a:lnTo>
                    <a:pt x="68" y="33"/>
                  </a:lnTo>
                  <a:lnTo>
                    <a:pt x="66" y="31"/>
                  </a:lnTo>
                  <a:lnTo>
                    <a:pt x="64" y="33"/>
                  </a:lnTo>
                  <a:lnTo>
                    <a:pt x="63" y="34"/>
                  </a:lnTo>
                  <a:lnTo>
                    <a:pt x="61" y="34"/>
                  </a:lnTo>
                  <a:lnTo>
                    <a:pt x="61" y="33"/>
                  </a:lnTo>
                  <a:lnTo>
                    <a:pt x="61" y="31"/>
                  </a:lnTo>
                  <a:lnTo>
                    <a:pt x="61" y="29"/>
                  </a:lnTo>
                  <a:lnTo>
                    <a:pt x="60" y="27"/>
                  </a:lnTo>
                  <a:lnTo>
                    <a:pt x="59" y="25"/>
                  </a:lnTo>
                  <a:lnTo>
                    <a:pt x="57" y="25"/>
                  </a:lnTo>
                  <a:lnTo>
                    <a:pt x="55" y="23"/>
                  </a:lnTo>
                  <a:lnTo>
                    <a:pt x="53" y="22"/>
                  </a:lnTo>
                  <a:lnTo>
                    <a:pt x="53" y="21"/>
                  </a:lnTo>
                  <a:lnTo>
                    <a:pt x="54" y="19"/>
                  </a:lnTo>
                  <a:lnTo>
                    <a:pt x="55" y="17"/>
                  </a:lnTo>
                  <a:lnTo>
                    <a:pt x="54" y="15"/>
                  </a:lnTo>
                  <a:lnTo>
                    <a:pt x="51" y="12"/>
                  </a:lnTo>
                  <a:lnTo>
                    <a:pt x="49" y="11"/>
                  </a:lnTo>
                  <a:lnTo>
                    <a:pt x="47" y="10"/>
                  </a:lnTo>
                  <a:lnTo>
                    <a:pt x="44" y="10"/>
                  </a:lnTo>
                  <a:lnTo>
                    <a:pt x="42" y="9"/>
                  </a:lnTo>
                  <a:lnTo>
                    <a:pt x="41" y="7"/>
                  </a:lnTo>
                  <a:lnTo>
                    <a:pt x="38" y="5"/>
                  </a:lnTo>
                  <a:lnTo>
                    <a:pt x="34" y="2"/>
                  </a:lnTo>
                  <a:lnTo>
                    <a:pt x="29" y="0"/>
                  </a:lnTo>
                  <a:lnTo>
                    <a:pt x="27" y="1"/>
                  </a:lnTo>
                  <a:lnTo>
                    <a:pt x="25" y="3"/>
                  </a:lnTo>
                  <a:lnTo>
                    <a:pt x="23" y="5"/>
                  </a:lnTo>
                  <a:lnTo>
                    <a:pt x="21" y="9"/>
                  </a:lnTo>
                  <a:lnTo>
                    <a:pt x="20" y="11"/>
                  </a:lnTo>
                  <a:lnTo>
                    <a:pt x="19" y="13"/>
                  </a:lnTo>
                  <a:lnTo>
                    <a:pt x="18" y="15"/>
                  </a:lnTo>
                  <a:lnTo>
                    <a:pt x="17" y="18"/>
                  </a:lnTo>
                  <a:lnTo>
                    <a:pt x="15" y="19"/>
                  </a:lnTo>
                  <a:lnTo>
                    <a:pt x="11" y="20"/>
                  </a:lnTo>
                  <a:lnTo>
                    <a:pt x="6" y="21"/>
                  </a:lnTo>
                  <a:lnTo>
                    <a:pt x="2" y="23"/>
                  </a:lnTo>
                  <a:lnTo>
                    <a:pt x="0" y="23"/>
                  </a:lnTo>
                  <a:lnTo>
                    <a:pt x="1" y="24"/>
                  </a:lnTo>
                  <a:lnTo>
                    <a:pt x="4" y="26"/>
                  </a:lnTo>
                  <a:lnTo>
                    <a:pt x="7" y="29"/>
                  </a:lnTo>
                  <a:lnTo>
                    <a:pt x="9" y="31"/>
                  </a:lnTo>
                  <a:lnTo>
                    <a:pt x="9" y="34"/>
                  </a:lnTo>
                  <a:lnTo>
                    <a:pt x="10" y="36"/>
                  </a:lnTo>
                  <a:lnTo>
                    <a:pt x="11" y="37"/>
                  </a:lnTo>
                  <a:lnTo>
                    <a:pt x="13" y="38"/>
                  </a:lnTo>
                  <a:lnTo>
                    <a:pt x="15" y="38"/>
                  </a:lnTo>
                  <a:lnTo>
                    <a:pt x="17" y="39"/>
                  </a:lnTo>
                  <a:lnTo>
                    <a:pt x="19" y="39"/>
                  </a:lnTo>
                  <a:lnTo>
                    <a:pt x="21" y="41"/>
                  </a:lnTo>
                  <a:lnTo>
                    <a:pt x="21" y="43"/>
                  </a:lnTo>
                  <a:lnTo>
                    <a:pt x="22" y="44"/>
                  </a:lnTo>
                  <a:lnTo>
                    <a:pt x="23" y="45"/>
                  </a:lnTo>
                  <a:lnTo>
                    <a:pt x="23" y="47"/>
                  </a:lnTo>
                  <a:lnTo>
                    <a:pt x="25" y="49"/>
                  </a:lnTo>
                  <a:lnTo>
                    <a:pt x="26" y="50"/>
                  </a:lnTo>
                  <a:lnTo>
                    <a:pt x="27" y="51"/>
                  </a:lnTo>
                  <a:lnTo>
                    <a:pt x="29" y="51"/>
                  </a:lnTo>
                  <a:lnTo>
                    <a:pt x="29" y="51"/>
                  </a:lnTo>
                  <a:lnTo>
                    <a:pt x="30" y="52"/>
                  </a:lnTo>
                  <a:lnTo>
                    <a:pt x="31" y="52"/>
                  </a:lnTo>
                  <a:lnTo>
                    <a:pt x="33" y="51"/>
                  </a:lnTo>
                  <a:lnTo>
                    <a:pt x="37" y="51"/>
                  </a:lnTo>
                  <a:lnTo>
                    <a:pt x="40" y="50"/>
                  </a:lnTo>
                  <a:lnTo>
                    <a:pt x="43" y="49"/>
                  </a:lnTo>
                  <a:lnTo>
                    <a:pt x="45" y="49"/>
                  </a:lnTo>
                  <a:lnTo>
                    <a:pt x="44" y="47"/>
                  </a:lnTo>
                  <a:lnTo>
                    <a:pt x="42" y="44"/>
                  </a:lnTo>
                  <a:lnTo>
                    <a:pt x="40" y="41"/>
                  </a:lnTo>
                  <a:lnTo>
                    <a:pt x="39" y="39"/>
                  </a:lnTo>
                  <a:lnTo>
                    <a:pt x="39" y="39"/>
                  </a:lnTo>
                  <a:lnTo>
                    <a:pt x="39" y="37"/>
                  </a:lnTo>
                  <a:lnTo>
                    <a:pt x="40" y="37"/>
                  </a:lnTo>
                  <a:lnTo>
                    <a:pt x="41" y="37"/>
                  </a:lnTo>
                  <a:lnTo>
                    <a:pt x="43" y="39"/>
                  </a:lnTo>
                  <a:lnTo>
                    <a:pt x="43" y="39"/>
                  </a:lnTo>
                  <a:lnTo>
                    <a:pt x="43" y="40"/>
                  </a:lnTo>
                  <a:lnTo>
                    <a:pt x="43" y="41"/>
                  </a:lnTo>
                  <a:lnTo>
                    <a:pt x="44" y="41"/>
                  </a:lnTo>
                  <a:lnTo>
                    <a:pt x="45" y="41"/>
                  </a:lnTo>
                  <a:lnTo>
                    <a:pt x="46" y="40"/>
                  </a:lnTo>
                  <a:lnTo>
                    <a:pt x="47" y="39"/>
                  </a:lnTo>
                  <a:lnTo>
                    <a:pt x="47" y="39"/>
                  </a:lnTo>
                  <a:lnTo>
                    <a:pt x="49" y="39"/>
                  </a:lnTo>
                  <a:lnTo>
                    <a:pt x="49" y="41"/>
                  </a:lnTo>
                  <a:lnTo>
                    <a:pt x="48" y="42"/>
                  </a:lnTo>
                  <a:lnTo>
                    <a:pt x="46" y="43"/>
                  </a:lnTo>
                  <a:lnTo>
                    <a:pt x="45" y="44"/>
                  </a:lnTo>
                  <a:lnTo>
                    <a:pt x="45" y="45"/>
                  </a:lnTo>
                  <a:lnTo>
                    <a:pt x="45" y="46"/>
                  </a:lnTo>
                  <a:lnTo>
                    <a:pt x="45" y="47"/>
                  </a:lnTo>
                  <a:lnTo>
                    <a:pt x="46" y="48"/>
                  </a:lnTo>
                  <a:lnTo>
                    <a:pt x="47" y="49"/>
                  </a:lnTo>
                  <a:lnTo>
                    <a:pt x="48" y="48"/>
                  </a:lnTo>
                  <a:lnTo>
                    <a:pt x="49" y="47"/>
                  </a:lnTo>
                  <a:lnTo>
                    <a:pt x="51" y="45"/>
                  </a:lnTo>
                  <a:lnTo>
                    <a:pt x="51" y="44"/>
                  </a:lnTo>
                  <a:lnTo>
                    <a:pt x="51" y="43"/>
                  </a:lnTo>
                  <a:lnTo>
                    <a:pt x="52" y="45"/>
                  </a:lnTo>
                  <a:lnTo>
                    <a:pt x="53" y="47"/>
                  </a:lnTo>
                  <a:lnTo>
                    <a:pt x="55" y="50"/>
                  </a:lnTo>
                  <a:lnTo>
                    <a:pt x="59" y="51"/>
                  </a:lnTo>
                  <a:lnTo>
                    <a:pt x="63" y="51"/>
                  </a:lnTo>
                  <a:lnTo>
                    <a:pt x="65" y="51"/>
                  </a:lnTo>
                  <a:lnTo>
                    <a:pt x="67" y="51"/>
                  </a:lnTo>
                  <a:lnTo>
                    <a:pt x="68" y="51"/>
                  </a:lnTo>
                  <a:lnTo>
                    <a:pt x="70" y="51"/>
                  </a:lnTo>
                  <a:lnTo>
                    <a:pt x="72" y="52"/>
                  </a:lnTo>
                  <a:lnTo>
                    <a:pt x="74" y="51"/>
                  </a:lnTo>
                  <a:lnTo>
                    <a:pt x="75" y="4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63" name="Freeform 223"/>
            <p:cNvSpPr>
              <a:spLocks noChangeAspect="1"/>
            </p:cNvSpPr>
            <p:nvPr/>
          </p:nvSpPr>
          <p:spPr bwMode="auto">
            <a:xfrm>
              <a:off x="1223" y="2761"/>
              <a:ext cx="10" cy="12"/>
            </a:xfrm>
            <a:custGeom>
              <a:avLst/>
              <a:gdLst/>
              <a:ahLst/>
              <a:cxnLst>
                <a:cxn ang="0">
                  <a:pos x="0" y="6"/>
                </a:cxn>
                <a:cxn ang="0">
                  <a:pos x="0" y="6"/>
                </a:cxn>
                <a:cxn ang="0">
                  <a:pos x="1" y="7"/>
                </a:cxn>
                <a:cxn ang="0">
                  <a:pos x="1" y="8"/>
                </a:cxn>
                <a:cxn ang="0">
                  <a:pos x="1" y="8"/>
                </a:cxn>
                <a:cxn ang="0">
                  <a:pos x="1" y="10"/>
                </a:cxn>
                <a:cxn ang="0">
                  <a:pos x="9" y="11"/>
                </a:cxn>
                <a:cxn ang="0">
                  <a:pos x="10" y="8"/>
                </a:cxn>
                <a:cxn ang="0">
                  <a:pos x="9" y="5"/>
                </a:cxn>
                <a:cxn ang="0">
                  <a:pos x="7" y="2"/>
                </a:cxn>
                <a:cxn ang="0">
                  <a:pos x="5" y="0"/>
                </a:cxn>
                <a:cxn ang="0">
                  <a:pos x="0" y="6"/>
                </a:cxn>
              </a:cxnLst>
              <a:rect l="0" t="0" r="r" b="b"/>
              <a:pathLst>
                <a:path w="11" h="12">
                  <a:moveTo>
                    <a:pt x="0" y="6"/>
                  </a:moveTo>
                  <a:lnTo>
                    <a:pt x="0" y="6"/>
                  </a:lnTo>
                  <a:lnTo>
                    <a:pt x="1" y="7"/>
                  </a:lnTo>
                  <a:lnTo>
                    <a:pt x="1" y="8"/>
                  </a:lnTo>
                  <a:lnTo>
                    <a:pt x="1" y="8"/>
                  </a:lnTo>
                  <a:lnTo>
                    <a:pt x="1" y="10"/>
                  </a:lnTo>
                  <a:lnTo>
                    <a:pt x="9" y="11"/>
                  </a:lnTo>
                  <a:lnTo>
                    <a:pt x="10" y="8"/>
                  </a:lnTo>
                  <a:lnTo>
                    <a:pt x="9" y="5"/>
                  </a:lnTo>
                  <a:lnTo>
                    <a:pt x="7" y="2"/>
                  </a:lnTo>
                  <a:lnTo>
                    <a:pt x="5" y="0"/>
                  </a:lnTo>
                  <a:lnTo>
                    <a:pt x="0" y="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64" name="Freeform 224"/>
            <p:cNvSpPr>
              <a:spLocks noChangeAspect="1"/>
            </p:cNvSpPr>
            <p:nvPr/>
          </p:nvSpPr>
          <p:spPr bwMode="auto">
            <a:xfrm>
              <a:off x="1217" y="2758"/>
              <a:ext cx="11" cy="8"/>
            </a:xfrm>
            <a:custGeom>
              <a:avLst/>
              <a:gdLst/>
              <a:ahLst/>
              <a:cxnLst>
                <a:cxn ang="0">
                  <a:pos x="0" y="0"/>
                </a:cxn>
                <a:cxn ang="0">
                  <a:pos x="0" y="0"/>
                </a:cxn>
                <a:cxn ang="0">
                  <a:pos x="0" y="3"/>
                </a:cxn>
                <a:cxn ang="0">
                  <a:pos x="2" y="6"/>
                </a:cxn>
                <a:cxn ang="0">
                  <a:pos x="4" y="8"/>
                </a:cxn>
                <a:cxn ang="0">
                  <a:pos x="4" y="8"/>
                </a:cxn>
                <a:cxn ang="0">
                  <a:pos x="10" y="2"/>
                </a:cxn>
                <a:cxn ang="0">
                  <a:pos x="8" y="1"/>
                </a:cxn>
                <a:cxn ang="0">
                  <a:pos x="8" y="2"/>
                </a:cxn>
                <a:cxn ang="0">
                  <a:pos x="8" y="1"/>
                </a:cxn>
                <a:cxn ang="0">
                  <a:pos x="9" y="0"/>
                </a:cxn>
                <a:cxn ang="0">
                  <a:pos x="0" y="0"/>
                </a:cxn>
              </a:cxnLst>
              <a:rect l="0" t="0" r="r" b="b"/>
              <a:pathLst>
                <a:path w="11" h="9">
                  <a:moveTo>
                    <a:pt x="0" y="0"/>
                  </a:moveTo>
                  <a:lnTo>
                    <a:pt x="0" y="0"/>
                  </a:lnTo>
                  <a:lnTo>
                    <a:pt x="0" y="3"/>
                  </a:lnTo>
                  <a:lnTo>
                    <a:pt x="2" y="6"/>
                  </a:lnTo>
                  <a:lnTo>
                    <a:pt x="4" y="8"/>
                  </a:lnTo>
                  <a:lnTo>
                    <a:pt x="4" y="8"/>
                  </a:lnTo>
                  <a:lnTo>
                    <a:pt x="10" y="2"/>
                  </a:lnTo>
                  <a:lnTo>
                    <a:pt x="8" y="1"/>
                  </a:lnTo>
                  <a:lnTo>
                    <a:pt x="8" y="2"/>
                  </a:lnTo>
                  <a:lnTo>
                    <a:pt x="8" y="1"/>
                  </a:lnTo>
                  <a:lnTo>
                    <a:pt x="9" y="0"/>
                  </a:lnTo>
                  <a:lnTo>
                    <a:pt x="0"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65" name="Freeform 225"/>
            <p:cNvSpPr>
              <a:spLocks noChangeAspect="1"/>
            </p:cNvSpPr>
            <p:nvPr/>
          </p:nvSpPr>
          <p:spPr bwMode="auto">
            <a:xfrm>
              <a:off x="1213" y="2748"/>
              <a:ext cx="18" cy="15"/>
            </a:xfrm>
            <a:custGeom>
              <a:avLst/>
              <a:gdLst/>
              <a:ahLst/>
              <a:cxnLst>
                <a:cxn ang="0">
                  <a:pos x="6" y="9"/>
                </a:cxn>
                <a:cxn ang="0">
                  <a:pos x="6" y="8"/>
                </a:cxn>
                <a:cxn ang="0">
                  <a:pos x="5" y="9"/>
                </a:cxn>
                <a:cxn ang="0">
                  <a:pos x="4" y="9"/>
                </a:cxn>
                <a:cxn ang="0">
                  <a:pos x="4" y="9"/>
                </a:cxn>
                <a:cxn ang="0">
                  <a:pos x="4" y="11"/>
                </a:cxn>
                <a:cxn ang="0">
                  <a:pos x="14" y="11"/>
                </a:cxn>
                <a:cxn ang="0">
                  <a:pos x="12" y="7"/>
                </a:cxn>
                <a:cxn ang="0">
                  <a:pos x="10" y="3"/>
                </a:cxn>
                <a:cxn ang="0">
                  <a:pos x="5" y="0"/>
                </a:cxn>
                <a:cxn ang="0">
                  <a:pos x="0" y="4"/>
                </a:cxn>
                <a:cxn ang="0">
                  <a:pos x="0" y="3"/>
                </a:cxn>
                <a:cxn ang="0">
                  <a:pos x="6" y="9"/>
                </a:cxn>
              </a:cxnLst>
              <a:rect l="0" t="0" r="r" b="b"/>
              <a:pathLst>
                <a:path w="15" h="12">
                  <a:moveTo>
                    <a:pt x="6" y="9"/>
                  </a:moveTo>
                  <a:lnTo>
                    <a:pt x="6" y="8"/>
                  </a:lnTo>
                  <a:lnTo>
                    <a:pt x="5" y="9"/>
                  </a:lnTo>
                  <a:lnTo>
                    <a:pt x="4" y="9"/>
                  </a:lnTo>
                  <a:lnTo>
                    <a:pt x="4" y="9"/>
                  </a:lnTo>
                  <a:lnTo>
                    <a:pt x="4" y="11"/>
                  </a:lnTo>
                  <a:lnTo>
                    <a:pt x="14" y="11"/>
                  </a:lnTo>
                  <a:lnTo>
                    <a:pt x="12" y="7"/>
                  </a:lnTo>
                  <a:lnTo>
                    <a:pt x="10" y="3"/>
                  </a:lnTo>
                  <a:lnTo>
                    <a:pt x="5" y="0"/>
                  </a:lnTo>
                  <a:lnTo>
                    <a:pt x="0" y="4"/>
                  </a:lnTo>
                  <a:lnTo>
                    <a:pt x="0" y="3"/>
                  </a:lnTo>
                  <a:lnTo>
                    <a:pt x="6"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66" name="Freeform 226"/>
            <p:cNvSpPr>
              <a:spLocks noChangeAspect="1"/>
            </p:cNvSpPr>
            <p:nvPr/>
          </p:nvSpPr>
          <p:spPr bwMode="auto">
            <a:xfrm>
              <a:off x="1208" y="2752"/>
              <a:ext cx="12" cy="9"/>
            </a:xfrm>
            <a:custGeom>
              <a:avLst/>
              <a:gdLst/>
              <a:ahLst/>
              <a:cxnLst>
                <a:cxn ang="0">
                  <a:pos x="0" y="1"/>
                </a:cxn>
                <a:cxn ang="0">
                  <a:pos x="0" y="1"/>
                </a:cxn>
                <a:cxn ang="0">
                  <a:pos x="1" y="4"/>
                </a:cxn>
                <a:cxn ang="0">
                  <a:pos x="4" y="8"/>
                </a:cxn>
                <a:cxn ang="0">
                  <a:pos x="9" y="8"/>
                </a:cxn>
                <a:cxn ang="0">
                  <a:pos x="11" y="5"/>
                </a:cxn>
                <a:cxn ang="0">
                  <a:pos x="5" y="0"/>
                </a:cxn>
                <a:cxn ang="0">
                  <a:pos x="5" y="0"/>
                </a:cxn>
                <a:cxn ang="0">
                  <a:pos x="7" y="0"/>
                </a:cxn>
                <a:cxn ang="0">
                  <a:pos x="9" y="3"/>
                </a:cxn>
                <a:cxn ang="0">
                  <a:pos x="9" y="1"/>
                </a:cxn>
                <a:cxn ang="0">
                  <a:pos x="0" y="1"/>
                </a:cxn>
              </a:cxnLst>
              <a:rect l="0" t="0" r="r" b="b"/>
              <a:pathLst>
                <a:path w="12" h="9">
                  <a:moveTo>
                    <a:pt x="0" y="1"/>
                  </a:moveTo>
                  <a:lnTo>
                    <a:pt x="0" y="1"/>
                  </a:lnTo>
                  <a:lnTo>
                    <a:pt x="1" y="4"/>
                  </a:lnTo>
                  <a:lnTo>
                    <a:pt x="4" y="8"/>
                  </a:lnTo>
                  <a:lnTo>
                    <a:pt x="9" y="8"/>
                  </a:lnTo>
                  <a:lnTo>
                    <a:pt x="11" y="5"/>
                  </a:lnTo>
                  <a:lnTo>
                    <a:pt x="5" y="0"/>
                  </a:lnTo>
                  <a:lnTo>
                    <a:pt x="5" y="0"/>
                  </a:lnTo>
                  <a:lnTo>
                    <a:pt x="7" y="0"/>
                  </a:lnTo>
                  <a:lnTo>
                    <a:pt x="9" y="3"/>
                  </a:lnTo>
                  <a:lnTo>
                    <a:pt x="9" y="1"/>
                  </a:lnTo>
                  <a:lnTo>
                    <a:pt x="0"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67" name="Freeform 227"/>
            <p:cNvSpPr>
              <a:spLocks noChangeAspect="1"/>
            </p:cNvSpPr>
            <p:nvPr/>
          </p:nvSpPr>
          <p:spPr bwMode="auto">
            <a:xfrm>
              <a:off x="1207" y="2742"/>
              <a:ext cx="11" cy="12"/>
            </a:xfrm>
            <a:custGeom>
              <a:avLst/>
              <a:gdLst/>
              <a:ahLst/>
              <a:cxnLst>
                <a:cxn ang="0">
                  <a:pos x="0" y="8"/>
                </a:cxn>
                <a:cxn ang="0">
                  <a:pos x="0" y="8"/>
                </a:cxn>
                <a:cxn ang="0">
                  <a:pos x="0" y="7"/>
                </a:cxn>
                <a:cxn ang="0">
                  <a:pos x="0" y="9"/>
                </a:cxn>
                <a:cxn ang="0">
                  <a:pos x="1" y="9"/>
                </a:cxn>
                <a:cxn ang="0">
                  <a:pos x="0" y="11"/>
                </a:cxn>
                <a:cxn ang="0">
                  <a:pos x="10" y="11"/>
                </a:cxn>
                <a:cxn ang="0">
                  <a:pos x="9" y="8"/>
                </a:cxn>
                <a:cxn ang="0">
                  <a:pos x="8" y="5"/>
                </a:cxn>
                <a:cxn ang="0">
                  <a:pos x="6" y="2"/>
                </a:cxn>
                <a:cxn ang="0">
                  <a:pos x="3" y="0"/>
                </a:cxn>
                <a:cxn ang="0">
                  <a:pos x="4" y="0"/>
                </a:cxn>
                <a:cxn ang="0">
                  <a:pos x="0" y="8"/>
                </a:cxn>
              </a:cxnLst>
              <a:rect l="0" t="0" r="r" b="b"/>
              <a:pathLst>
                <a:path w="11" h="12">
                  <a:moveTo>
                    <a:pt x="0" y="8"/>
                  </a:moveTo>
                  <a:lnTo>
                    <a:pt x="0" y="8"/>
                  </a:lnTo>
                  <a:lnTo>
                    <a:pt x="0" y="7"/>
                  </a:lnTo>
                  <a:lnTo>
                    <a:pt x="0" y="9"/>
                  </a:lnTo>
                  <a:lnTo>
                    <a:pt x="1" y="9"/>
                  </a:lnTo>
                  <a:lnTo>
                    <a:pt x="0" y="11"/>
                  </a:lnTo>
                  <a:lnTo>
                    <a:pt x="10" y="11"/>
                  </a:lnTo>
                  <a:lnTo>
                    <a:pt x="9" y="8"/>
                  </a:lnTo>
                  <a:lnTo>
                    <a:pt x="8" y="5"/>
                  </a:lnTo>
                  <a:lnTo>
                    <a:pt x="6" y="2"/>
                  </a:lnTo>
                  <a:lnTo>
                    <a:pt x="3" y="0"/>
                  </a:lnTo>
                  <a:lnTo>
                    <a:pt x="4"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68" name="Freeform 228"/>
            <p:cNvSpPr>
              <a:spLocks noChangeAspect="1"/>
            </p:cNvSpPr>
            <p:nvPr/>
          </p:nvSpPr>
          <p:spPr bwMode="auto">
            <a:xfrm>
              <a:off x="1201" y="2737"/>
              <a:ext cx="11" cy="14"/>
            </a:xfrm>
            <a:custGeom>
              <a:avLst/>
              <a:gdLst/>
              <a:ahLst/>
              <a:cxnLst>
                <a:cxn ang="0">
                  <a:pos x="3" y="0"/>
                </a:cxn>
                <a:cxn ang="0">
                  <a:pos x="4" y="0"/>
                </a:cxn>
                <a:cxn ang="0">
                  <a:pos x="0" y="4"/>
                </a:cxn>
                <a:cxn ang="0">
                  <a:pos x="2" y="9"/>
                </a:cxn>
                <a:cxn ang="0">
                  <a:pos x="4" y="11"/>
                </a:cxn>
                <a:cxn ang="0">
                  <a:pos x="6" y="13"/>
                </a:cxn>
                <a:cxn ang="0">
                  <a:pos x="10" y="5"/>
                </a:cxn>
                <a:cxn ang="0">
                  <a:pos x="8" y="4"/>
                </a:cxn>
                <a:cxn ang="0">
                  <a:pos x="7" y="4"/>
                </a:cxn>
                <a:cxn ang="0">
                  <a:pos x="8" y="6"/>
                </a:cxn>
                <a:cxn ang="0">
                  <a:pos x="6" y="8"/>
                </a:cxn>
                <a:cxn ang="0">
                  <a:pos x="7" y="8"/>
                </a:cxn>
                <a:cxn ang="0">
                  <a:pos x="3" y="0"/>
                </a:cxn>
              </a:cxnLst>
              <a:rect l="0" t="0" r="r" b="b"/>
              <a:pathLst>
                <a:path w="11" h="14">
                  <a:moveTo>
                    <a:pt x="3" y="0"/>
                  </a:moveTo>
                  <a:lnTo>
                    <a:pt x="4" y="0"/>
                  </a:lnTo>
                  <a:lnTo>
                    <a:pt x="0" y="4"/>
                  </a:lnTo>
                  <a:lnTo>
                    <a:pt x="2" y="9"/>
                  </a:lnTo>
                  <a:lnTo>
                    <a:pt x="4" y="11"/>
                  </a:lnTo>
                  <a:lnTo>
                    <a:pt x="6" y="13"/>
                  </a:lnTo>
                  <a:lnTo>
                    <a:pt x="10" y="5"/>
                  </a:lnTo>
                  <a:lnTo>
                    <a:pt x="8" y="4"/>
                  </a:lnTo>
                  <a:lnTo>
                    <a:pt x="7" y="4"/>
                  </a:lnTo>
                  <a:lnTo>
                    <a:pt x="8" y="6"/>
                  </a:lnTo>
                  <a:lnTo>
                    <a:pt x="6" y="8"/>
                  </a:lnTo>
                  <a:lnTo>
                    <a:pt x="7" y="8"/>
                  </a:lnTo>
                  <a:lnTo>
                    <a:pt x="3"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69" name="Freeform 229"/>
            <p:cNvSpPr>
              <a:spLocks noChangeAspect="1"/>
            </p:cNvSpPr>
            <p:nvPr/>
          </p:nvSpPr>
          <p:spPr bwMode="auto">
            <a:xfrm>
              <a:off x="1200" y="2728"/>
              <a:ext cx="12" cy="18"/>
            </a:xfrm>
            <a:custGeom>
              <a:avLst/>
              <a:gdLst/>
              <a:ahLst/>
              <a:cxnLst>
                <a:cxn ang="0">
                  <a:pos x="0" y="8"/>
                </a:cxn>
                <a:cxn ang="0">
                  <a:pos x="0" y="8"/>
                </a:cxn>
                <a:cxn ang="0">
                  <a:pos x="1" y="9"/>
                </a:cxn>
                <a:cxn ang="0">
                  <a:pos x="3" y="11"/>
                </a:cxn>
                <a:cxn ang="0">
                  <a:pos x="4" y="9"/>
                </a:cxn>
                <a:cxn ang="0">
                  <a:pos x="8" y="17"/>
                </a:cxn>
                <a:cxn ang="0">
                  <a:pos x="12" y="11"/>
                </a:cxn>
                <a:cxn ang="0">
                  <a:pos x="9" y="5"/>
                </a:cxn>
                <a:cxn ang="0">
                  <a:pos x="6" y="2"/>
                </a:cxn>
                <a:cxn ang="0">
                  <a:pos x="1" y="0"/>
                </a:cxn>
                <a:cxn ang="0">
                  <a:pos x="0" y="8"/>
                </a:cxn>
              </a:cxnLst>
              <a:rect l="0" t="0" r="r" b="b"/>
              <a:pathLst>
                <a:path w="13" h="18">
                  <a:moveTo>
                    <a:pt x="0" y="8"/>
                  </a:moveTo>
                  <a:lnTo>
                    <a:pt x="0" y="8"/>
                  </a:lnTo>
                  <a:lnTo>
                    <a:pt x="1" y="9"/>
                  </a:lnTo>
                  <a:lnTo>
                    <a:pt x="3" y="11"/>
                  </a:lnTo>
                  <a:lnTo>
                    <a:pt x="4" y="9"/>
                  </a:lnTo>
                  <a:lnTo>
                    <a:pt x="8" y="17"/>
                  </a:lnTo>
                  <a:lnTo>
                    <a:pt x="12" y="11"/>
                  </a:lnTo>
                  <a:lnTo>
                    <a:pt x="9" y="5"/>
                  </a:lnTo>
                  <a:lnTo>
                    <a:pt x="6" y="2"/>
                  </a:lnTo>
                  <a:lnTo>
                    <a:pt x="1" y="0"/>
                  </a:lnTo>
                  <a:lnTo>
                    <a:pt x="0"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70" name="Freeform 230"/>
            <p:cNvSpPr>
              <a:spLocks noChangeAspect="1"/>
            </p:cNvSpPr>
            <p:nvPr/>
          </p:nvSpPr>
          <p:spPr bwMode="auto">
            <a:xfrm>
              <a:off x="1189" y="2728"/>
              <a:ext cx="13" cy="9"/>
            </a:xfrm>
            <a:custGeom>
              <a:avLst/>
              <a:gdLst/>
              <a:ahLst/>
              <a:cxnLst>
                <a:cxn ang="0">
                  <a:pos x="0" y="3"/>
                </a:cxn>
                <a:cxn ang="0">
                  <a:pos x="0" y="2"/>
                </a:cxn>
                <a:cxn ang="0">
                  <a:pos x="2" y="6"/>
                </a:cxn>
                <a:cxn ang="0">
                  <a:pos x="7" y="7"/>
                </a:cxn>
                <a:cxn ang="0">
                  <a:pos x="10" y="7"/>
                </a:cxn>
                <a:cxn ang="0">
                  <a:pos x="11" y="8"/>
                </a:cxn>
                <a:cxn ang="0">
                  <a:pos x="12" y="1"/>
                </a:cxn>
                <a:cxn ang="0">
                  <a:pos x="10" y="0"/>
                </a:cxn>
                <a:cxn ang="0">
                  <a:pos x="7" y="0"/>
                </a:cxn>
                <a:cxn ang="0">
                  <a:pos x="8" y="0"/>
                </a:cxn>
                <a:cxn ang="0">
                  <a:pos x="8" y="1"/>
                </a:cxn>
                <a:cxn ang="0">
                  <a:pos x="8" y="0"/>
                </a:cxn>
                <a:cxn ang="0">
                  <a:pos x="0" y="3"/>
                </a:cxn>
              </a:cxnLst>
              <a:rect l="0" t="0" r="r" b="b"/>
              <a:pathLst>
                <a:path w="13" h="9">
                  <a:moveTo>
                    <a:pt x="0" y="3"/>
                  </a:moveTo>
                  <a:lnTo>
                    <a:pt x="0" y="2"/>
                  </a:lnTo>
                  <a:lnTo>
                    <a:pt x="2" y="6"/>
                  </a:lnTo>
                  <a:lnTo>
                    <a:pt x="7" y="7"/>
                  </a:lnTo>
                  <a:lnTo>
                    <a:pt x="10" y="7"/>
                  </a:lnTo>
                  <a:lnTo>
                    <a:pt x="11" y="8"/>
                  </a:lnTo>
                  <a:lnTo>
                    <a:pt x="12" y="1"/>
                  </a:lnTo>
                  <a:lnTo>
                    <a:pt x="10" y="0"/>
                  </a:lnTo>
                  <a:lnTo>
                    <a:pt x="7" y="0"/>
                  </a:lnTo>
                  <a:lnTo>
                    <a:pt x="8" y="0"/>
                  </a:lnTo>
                  <a:lnTo>
                    <a:pt x="8" y="1"/>
                  </a:lnTo>
                  <a:lnTo>
                    <a:pt x="8" y="0"/>
                  </a:lnTo>
                  <a:lnTo>
                    <a:pt x="0"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71" name="Freeform 231"/>
            <p:cNvSpPr>
              <a:spLocks noChangeAspect="1"/>
            </p:cNvSpPr>
            <p:nvPr/>
          </p:nvSpPr>
          <p:spPr bwMode="auto">
            <a:xfrm>
              <a:off x="1175" y="2718"/>
              <a:ext cx="23" cy="13"/>
            </a:xfrm>
            <a:custGeom>
              <a:avLst/>
              <a:gdLst/>
              <a:ahLst/>
              <a:cxnLst>
                <a:cxn ang="0">
                  <a:pos x="8" y="5"/>
                </a:cxn>
                <a:cxn ang="0">
                  <a:pos x="8" y="6"/>
                </a:cxn>
                <a:cxn ang="0">
                  <a:pos x="6" y="7"/>
                </a:cxn>
                <a:cxn ang="0">
                  <a:pos x="9" y="9"/>
                </a:cxn>
                <a:cxn ang="0">
                  <a:pos x="12" y="11"/>
                </a:cxn>
                <a:cxn ang="0">
                  <a:pos x="14" y="12"/>
                </a:cxn>
                <a:cxn ang="0">
                  <a:pos x="22" y="9"/>
                </a:cxn>
                <a:cxn ang="0">
                  <a:pos x="18" y="5"/>
                </a:cxn>
                <a:cxn ang="0">
                  <a:pos x="13" y="2"/>
                </a:cxn>
                <a:cxn ang="0">
                  <a:pos x="7" y="0"/>
                </a:cxn>
                <a:cxn ang="0">
                  <a:pos x="0" y="3"/>
                </a:cxn>
                <a:cxn ang="0">
                  <a:pos x="0" y="4"/>
                </a:cxn>
                <a:cxn ang="0">
                  <a:pos x="8" y="5"/>
                </a:cxn>
              </a:cxnLst>
              <a:rect l="0" t="0" r="r" b="b"/>
              <a:pathLst>
                <a:path w="23" h="13">
                  <a:moveTo>
                    <a:pt x="8" y="5"/>
                  </a:moveTo>
                  <a:lnTo>
                    <a:pt x="8" y="6"/>
                  </a:lnTo>
                  <a:lnTo>
                    <a:pt x="6" y="7"/>
                  </a:lnTo>
                  <a:lnTo>
                    <a:pt x="9" y="9"/>
                  </a:lnTo>
                  <a:lnTo>
                    <a:pt x="12" y="11"/>
                  </a:lnTo>
                  <a:lnTo>
                    <a:pt x="14" y="12"/>
                  </a:lnTo>
                  <a:lnTo>
                    <a:pt x="22" y="9"/>
                  </a:lnTo>
                  <a:lnTo>
                    <a:pt x="18" y="5"/>
                  </a:lnTo>
                  <a:lnTo>
                    <a:pt x="13" y="2"/>
                  </a:lnTo>
                  <a:lnTo>
                    <a:pt x="7" y="0"/>
                  </a:lnTo>
                  <a:lnTo>
                    <a:pt x="0" y="3"/>
                  </a:lnTo>
                  <a:lnTo>
                    <a:pt x="0" y="4"/>
                  </a:lnTo>
                  <a:lnTo>
                    <a:pt x="8"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72" name="Freeform 232"/>
            <p:cNvSpPr>
              <a:spLocks noChangeAspect="1"/>
            </p:cNvSpPr>
            <p:nvPr/>
          </p:nvSpPr>
          <p:spPr bwMode="auto">
            <a:xfrm>
              <a:off x="1168" y="2722"/>
              <a:ext cx="16" cy="16"/>
            </a:xfrm>
            <a:custGeom>
              <a:avLst/>
              <a:gdLst/>
              <a:ahLst/>
              <a:cxnLst>
                <a:cxn ang="0">
                  <a:pos x="8" y="12"/>
                </a:cxn>
                <a:cxn ang="0">
                  <a:pos x="8" y="12"/>
                </a:cxn>
                <a:cxn ang="0">
                  <a:pos x="9" y="10"/>
                </a:cxn>
                <a:cxn ang="0">
                  <a:pos x="11" y="7"/>
                </a:cxn>
                <a:cxn ang="0">
                  <a:pos x="13" y="5"/>
                </a:cxn>
                <a:cxn ang="0">
                  <a:pos x="15" y="1"/>
                </a:cxn>
                <a:cxn ang="0">
                  <a:pos x="7" y="0"/>
                </a:cxn>
                <a:cxn ang="0">
                  <a:pos x="6" y="0"/>
                </a:cxn>
                <a:cxn ang="0">
                  <a:pos x="4" y="3"/>
                </a:cxn>
                <a:cxn ang="0">
                  <a:pos x="2" y="6"/>
                </a:cxn>
                <a:cxn ang="0">
                  <a:pos x="0" y="8"/>
                </a:cxn>
                <a:cxn ang="0">
                  <a:pos x="8" y="12"/>
                </a:cxn>
              </a:cxnLst>
              <a:rect l="0" t="0" r="r" b="b"/>
              <a:pathLst>
                <a:path w="16" h="13">
                  <a:moveTo>
                    <a:pt x="8" y="12"/>
                  </a:moveTo>
                  <a:lnTo>
                    <a:pt x="8" y="12"/>
                  </a:lnTo>
                  <a:lnTo>
                    <a:pt x="9" y="10"/>
                  </a:lnTo>
                  <a:lnTo>
                    <a:pt x="11" y="7"/>
                  </a:lnTo>
                  <a:lnTo>
                    <a:pt x="13" y="5"/>
                  </a:lnTo>
                  <a:lnTo>
                    <a:pt x="15" y="1"/>
                  </a:lnTo>
                  <a:lnTo>
                    <a:pt x="7" y="0"/>
                  </a:lnTo>
                  <a:lnTo>
                    <a:pt x="6" y="0"/>
                  </a:lnTo>
                  <a:lnTo>
                    <a:pt x="4" y="3"/>
                  </a:lnTo>
                  <a:lnTo>
                    <a:pt x="2" y="6"/>
                  </a:lnTo>
                  <a:lnTo>
                    <a:pt x="0" y="8"/>
                  </a:lnTo>
                  <a:lnTo>
                    <a:pt x="8" y="1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73" name="Freeform 233"/>
            <p:cNvSpPr>
              <a:spLocks noChangeAspect="1"/>
            </p:cNvSpPr>
            <p:nvPr/>
          </p:nvSpPr>
          <p:spPr bwMode="auto">
            <a:xfrm>
              <a:off x="1166" y="2730"/>
              <a:ext cx="11" cy="16"/>
            </a:xfrm>
            <a:custGeom>
              <a:avLst/>
              <a:gdLst/>
              <a:ahLst/>
              <a:cxnLst>
                <a:cxn ang="0">
                  <a:pos x="1" y="14"/>
                </a:cxn>
                <a:cxn ang="0">
                  <a:pos x="1" y="15"/>
                </a:cxn>
                <a:cxn ang="0">
                  <a:pos x="5" y="12"/>
                </a:cxn>
                <a:cxn ang="0">
                  <a:pos x="8" y="8"/>
                </a:cxn>
                <a:cxn ang="0">
                  <a:pos x="9" y="6"/>
                </a:cxn>
                <a:cxn ang="0">
                  <a:pos x="10" y="4"/>
                </a:cxn>
                <a:cxn ang="0">
                  <a:pos x="2" y="0"/>
                </a:cxn>
                <a:cxn ang="0">
                  <a:pos x="1" y="3"/>
                </a:cxn>
                <a:cxn ang="0">
                  <a:pos x="0" y="5"/>
                </a:cxn>
                <a:cxn ang="0">
                  <a:pos x="0" y="7"/>
                </a:cxn>
                <a:cxn ang="0">
                  <a:pos x="1" y="5"/>
                </a:cxn>
                <a:cxn ang="0">
                  <a:pos x="0" y="6"/>
                </a:cxn>
                <a:cxn ang="0">
                  <a:pos x="1" y="14"/>
                </a:cxn>
              </a:cxnLst>
              <a:rect l="0" t="0" r="r" b="b"/>
              <a:pathLst>
                <a:path w="11" h="16">
                  <a:moveTo>
                    <a:pt x="1" y="14"/>
                  </a:moveTo>
                  <a:lnTo>
                    <a:pt x="1" y="15"/>
                  </a:lnTo>
                  <a:lnTo>
                    <a:pt x="5" y="12"/>
                  </a:lnTo>
                  <a:lnTo>
                    <a:pt x="8" y="8"/>
                  </a:lnTo>
                  <a:lnTo>
                    <a:pt x="9" y="6"/>
                  </a:lnTo>
                  <a:lnTo>
                    <a:pt x="10" y="4"/>
                  </a:lnTo>
                  <a:lnTo>
                    <a:pt x="2" y="0"/>
                  </a:lnTo>
                  <a:lnTo>
                    <a:pt x="1" y="3"/>
                  </a:lnTo>
                  <a:lnTo>
                    <a:pt x="0" y="5"/>
                  </a:lnTo>
                  <a:lnTo>
                    <a:pt x="0" y="7"/>
                  </a:lnTo>
                  <a:lnTo>
                    <a:pt x="1" y="5"/>
                  </a:lnTo>
                  <a:lnTo>
                    <a:pt x="0" y="6"/>
                  </a:lnTo>
                  <a:lnTo>
                    <a:pt x="1" y="1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74" name="Freeform 234"/>
            <p:cNvSpPr>
              <a:spLocks noChangeAspect="1"/>
            </p:cNvSpPr>
            <p:nvPr/>
          </p:nvSpPr>
          <p:spPr bwMode="auto">
            <a:xfrm>
              <a:off x="1141" y="2736"/>
              <a:ext cx="27" cy="14"/>
            </a:xfrm>
            <a:custGeom>
              <a:avLst/>
              <a:gdLst/>
              <a:ahLst/>
              <a:cxnLst>
                <a:cxn ang="0">
                  <a:pos x="13" y="5"/>
                </a:cxn>
                <a:cxn ang="0">
                  <a:pos x="12" y="13"/>
                </a:cxn>
                <a:cxn ang="0">
                  <a:pos x="14" y="12"/>
                </a:cxn>
                <a:cxn ang="0">
                  <a:pos x="18" y="11"/>
                </a:cxn>
                <a:cxn ang="0">
                  <a:pos x="23" y="9"/>
                </a:cxn>
                <a:cxn ang="0">
                  <a:pos x="26" y="8"/>
                </a:cxn>
                <a:cxn ang="0">
                  <a:pos x="25" y="0"/>
                </a:cxn>
                <a:cxn ang="0">
                  <a:pos x="20" y="1"/>
                </a:cxn>
                <a:cxn ang="0">
                  <a:pos x="16" y="3"/>
                </a:cxn>
                <a:cxn ang="0">
                  <a:pos x="12" y="4"/>
                </a:cxn>
                <a:cxn ang="0">
                  <a:pos x="10" y="5"/>
                </a:cxn>
                <a:cxn ang="0">
                  <a:pos x="9" y="13"/>
                </a:cxn>
                <a:cxn ang="0">
                  <a:pos x="10" y="5"/>
                </a:cxn>
                <a:cxn ang="0">
                  <a:pos x="0" y="8"/>
                </a:cxn>
                <a:cxn ang="0">
                  <a:pos x="9" y="13"/>
                </a:cxn>
                <a:cxn ang="0">
                  <a:pos x="13" y="5"/>
                </a:cxn>
              </a:cxnLst>
              <a:rect l="0" t="0" r="r" b="b"/>
              <a:pathLst>
                <a:path w="27" h="14">
                  <a:moveTo>
                    <a:pt x="13" y="5"/>
                  </a:moveTo>
                  <a:lnTo>
                    <a:pt x="12" y="13"/>
                  </a:lnTo>
                  <a:lnTo>
                    <a:pt x="14" y="12"/>
                  </a:lnTo>
                  <a:lnTo>
                    <a:pt x="18" y="11"/>
                  </a:lnTo>
                  <a:lnTo>
                    <a:pt x="23" y="9"/>
                  </a:lnTo>
                  <a:lnTo>
                    <a:pt x="26" y="8"/>
                  </a:lnTo>
                  <a:lnTo>
                    <a:pt x="25" y="0"/>
                  </a:lnTo>
                  <a:lnTo>
                    <a:pt x="20" y="1"/>
                  </a:lnTo>
                  <a:lnTo>
                    <a:pt x="16" y="3"/>
                  </a:lnTo>
                  <a:lnTo>
                    <a:pt x="12" y="4"/>
                  </a:lnTo>
                  <a:lnTo>
                    <a:pt x="10" y="5"/>
                  </a:lnTo>
                  <a:lnTo>
                    <a:pt x="9" y="13"/>
                  </a:lnTo>
                  <a:lnTo>
                    <a:pt x="10" y="5"/>
                  </a:lnTo>
                  <a:lnTo>
                    <a:pt x="0" y="8"/>
                  </a:lnTo>
                  <a:lnTo>
                    <a:pt x="9" y="13"/>
                  </a:lnTo>
                  <a:lnTo>
                    <a:pt x="13"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75" name="Freeform 235"/>
            <p:cNvSpPr>
              <a:spLocks noChangeAspect="1"/>
            </p:cNvSpPr>
            <p:nvPr/>
          </p:nvSpPr>
          <p:spPr bwMode="auto">
            <a:xfrm>
              <a:off x="1150" y="2741"/>
              <a:ext cx="16" cy="14"/>
            </a:xfrm>
            <a:custGeom>
              <a:avLst/>
              <a:gdLst/>
              <a:ahLst/>
              <a:cxnLst>
                <a:cxn ang="0">
                  <a:pos x="15" y="10"/>
                </a:cxn>
                <a:cxn ang="0">
                  <a:pos x="15" y="10"/>
                </a:cxn>
                <a:cxn ang="0">
                  <a:pos x="12" y="6"/>
                </a:cxn>
                <a:cxn ang="0">
                  <a:pos x="9" y="3"/>
                </a:cxn>
                <a:cxn ang="0">
                  <a:pos x="5" y="1"/>
                </a:cxn>
                <a:cxn ang="0">
                  <a:pos x="4" y="0"/>
                </a:cxn>
                <a:cxn ang="0">
                  <a:pos x="0" y="8"/>
                </a:cxn>
                <a:cxn ang="0">
                  <a:pos x="1" y="8"/>
                </a:cxn>
                <a:cxn ang="0">
                  <a:pos x="3" y="10"/>
                </a:cxn>
                <a:cxn ang="0">
                  <a:pos x="5" y="12"/>
                </a:cxn>
                <a:cxn ang="0">
                  <a:pos x="7" y="13"/>
                </a:cxn>
                <a:cxn ang="0">
                  <a:pos x="15" y="10"/>
                </a:cxn>
              </a:cxnLst>
              <a:rect l="0" t="0" r="r" b="b"/>
              <a:pathLst>
                <a:path w="16" h="14">
                  <a:moveTo>
                    <a:pt x="15" y="10"/>
                  </a:moveTo>
                  <a:lnTo>
                    <a:pt x="15" y="10"/>
                  </a:lnTo>
                  <a:lnTo>
                    <a:pt x="12" y="6"/>
                  </a:lnTo>
                  <a:lnTo>
                    <a:pt x="9" y="3"/>
                  </a:lnTo>
                  <a:lnTo>
                    <a:pt x="5" y="1"/>
                  </a:lnTo>
                  <a:lnTo>
                    <a:pt x="4" y="0"/>
                  </a:lnTo>
                  <a:lnTo>
                    <a:pt x="0" y="8"/>
                  </a:lnTo>
                  <a:lnTo>
                    <a:pt x="1" y="8"/>
                  </a:lnTo>
                  <a:lnTo>
                    <a:pt x="3" y="10"/>
                  </a:lnTo>
                  <a:lnTo>
                    <a:pt x="5" y="12"/>
                  </a:lnTo>
                  <a:lnTo>
                    <a:pt x="7" y="13"/>
                  </a:lnTo>
                  <a:lnTo>
                    <a:pt x="15" y="1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76" name="Freeform 236"/>
            <p:cNvSpPr>
              <a:spLocks noChangeAspect="1"/>
            </p:cNvSpPr>
            <p:nvPr/>
          </p:nvSpPr>
          <p:spPr bwMode="auto">
            <a:xfrm>
              <a:off x="1157" y="2752"/>
              <a:ext cx="10" cy="15"/>
            </a:xfrm>
            <a:custGeom>
              <a:avLst/>
              <a:gdLst/>
              <a:ahLst/>
              <a:cxnLst>
                <a:cxn ang="0">
                  <a:pos x="9" y="4"/>
                </a:cxn>
                <a:cxn ang="0">
                  <a:pos x="9" y="4"/>
                </a:cxn>
                <a:cxn ang="0">
                  <a:pos x="8" y="3"/>
                </a:cxn>
                <a:cxn ang="0">
                  <a:pos x="9" y="4"/>
                </a:cxn>
                <a:cxn ang="0">
                  <a:pos x="8" y="3"/>
                </a:cxn>
                <a:cxn ang="0">
                  <a:pos x="8" y="0"/>
                </a:cxn>
                <a:cxn ang="0">
                  <a:pos x="0" y="3"/>
                </a:cxn>
                <a:cxn ang="0">
                  <a:pos x="0" y="5"/>
                </a:cxn>
                <a:cxn ang="0">
                  <a:pos x="1" y="8"/>
                </a:cxn>
                <a:cxn ang="0">
                  <a:pos x="4" y="11"/>
                </a:cxn>
                <a:cxn ang="0">
                  <a:pos x="8" y="12"/>
                </a:cxn>
                <a:cxn ang="0">
                  <a:pos x="9" y="4"/>
                </a:cxn>
              </a:cxnLst>
              <a:rect l="0" t="0" r="r" b="b"/>
              <a:pathLst>
                <a:path w="10" h="13">
                  <a:moveTo>
                    <a:pt x="9" y="4"/>
                  </a:moveTo>
                  <a:lnTo>
                    <a:pt x="9" y="4"/>
                  </a:lnTo>
                  <a:lnTo>
                    <a:pt x="8" y="3"/>
                  </a:lnTo>
                  <a:lnTo>
                    <a:pt x="9" y="4"/>
                  </a:lnTo>
                  <a:lnTo>
                    <a:pt x="8" y="3"/>
                  </a:lnTo>
                  <a:lnTo>
                    <a:pt x="8" y="0"/>
                  </a:lnTo>
                  <a:lnTo>
                    <a:pt x="0" y="3"/>
                  </a:lnTo>
                  <a:lnTo>
                    <a:pt x="0" y="5"/>
                  </a:lnTo>
                  <a:lnTo>
                    <a:pt x="1" y="8"/>
                  </a:lnTo>
                  <a:lnTo>
                    <a:pt x="4" y="11"/>
                  </a:lnTo>
                  <a:lnTo>
                    <a:pt x="8" y="12"/>
                  </a:lnTo>
                  <a:lnTo>
                    <a:pt x="9" y="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77" name="Freeform 237"/>
            <p:cNvSpPr>
              <a:spLocks noChangeAspect="1"/>
            </p:cNvSpPr>
            <p:nvPr/>
          </p:nvSpPr>
          <p:spPr bwMode="auto">
            <a:xfrm>
              <a:off x="1165" y="2756"/>
              <a:ext cx="13" cy="10"/>
            </a:xfrm>
            <a:custGeom>
              <a:avLst/>
              <a:gdLst/>
              <a:ahLst/>
              <a:cxnLst>
                <a:cxn ang="0">
                  <a:pos x="12" y="5"/>
                </a:cxn>
                <a:cxn ang="0">
                  <a:pos x="11" y="5"/>
                </a:cxn>
                <a:cxn ang="0">
                  <a:pos x="9" y="2"/>
                </a:cxn>
                <a:cxn ang="0">
                  <a:pos x="6" y="1"/>
                </a:cxn>
                <a:cxn ang="0">
                  <a:pos x="3" y="0"/>
                </a:cxn>
                <a:cxn ang="0">
                  <a:pos x="1" y="0"/>
                </a:cxn>
                <a:cxn ang="0">
                  <a:pos x="0" y="8"/>
                </a:cxn>
                <a:cxn ang="0">
                  <a:pos x="2" y="8"/>
                </a:cxn>
                <a:cxn ang="0">
                  <a:pos x="3" y="9"/>
                </a:cxn>
                <a:cxn ang="0">
                  <a:pos x="4" y="9"/>
                </a:cxn>
                <a:cxn ang="0">
                  <a:pos x="4" y="9"/>
                </a:cxn>
                <a:cxn ang="0">
                  <a:pos x="4" y="9"/>
                </a:cxn>
                <a:cxn ang="0">
                  <a:pos x="12" y="5"/>
                </a:cxn>
              </a:cxnLst>
              <a:rect l="0" t="0" r="r" b="b"/>
              <a:pathLst>
                <a:path w="13" h="10">
                  <a:moveTo>
                    <a:pt x="12" y="5"/>
                  </a:moveTo>
                  <a:lnTo>
                    <a:pt x="11" y="5"/>
                  </a:lnTo>
                  <a:lnTo>
                    <a:pt x="9" y="2"/>
                  </a:lnTo>
                  <a:lnTo>
                    <a:pt x="6" y="1"/>
                  </a:lnTo>
                  <a:lnTo>
                    <a:pt x="3" y="0"/>
                  </a:lnTo>
                  <a:lnTo>
                    <a:pt x="1" y="0"/>
                  </a:lnTo>
                  <a:lnTo>
                    <a:pt x="0" y="8"/>
                  </a:lnTo>
                  <a:lnTo>
                    <a:pt x="2" y="8"/>
                  </a:lnTo>
                  <a:lnTo>
                    <a:pt x="3" y="9"/>
                  </a:lnTo>
                  <a:lnTo>
                    <a:pt x="4" y="9"/>
                  </a:lnTo>
                  <a:lnTo>
                    <a:pt x="4" y="9"/>
                  </a:lnTo>
                  <a:lnTo>
                    <a:pt x="4" y="9"/>
                  </a:lnTo>
                  <a:lnTo>
                    <a:pt x="12"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78" name="Freeform 238"/>
            <p:cNvSpPr>
              <a:spLocks noChangeAspect="1"/>
            </p:cNvSpPr>
            <p:nvPr/>
          </p:nvSpPr>
          <p:spPr bwMode="auto">
            <a:xfrm>
              <a:off x="1169" y="2761"/>
              <a:ext cx="11" cy="7"/>
            </a:xfrm>
            <a:custGeom>
              <a:avLst/>
              <a:gdLst/>
              <a:ahLst/>
              <a:cxnLst>
                <a:cxn ang="0">
                  <a:pos x="10" y="5"/>
                </a:cxn>
                <a:cxn ang="0">
                  <a:pos x="10" y="6"/>
                </a:cxn>
                <a:cxn ang="0">
                  <a:pos x="10" y="3"/>
                </a:cxn>
                <a:cxn ang="0">
                  <a:pos x="8" y="2"/>
                </a:cxn>
                <a:cxn ang="0">
                  <a:pos x="8" y="1"/>
                </a:cxn>
                <a:cxn ang="0">
                  <a:pos x="8" y="0"/>
                </a:cxn>
                <a:cxn ang="0">
                  <a:pos x="0" y="4"/>
                </a:cxn>
                <a:cxn ang="0">
                  <a:pos x="0" y="5"/>
                </a:cxn>
                <a:cxn ang="0">
                  <a:pos x="2" y="6"/>
                </a:cxn>
                <a:cxn ang="0">
                  <a:pos x="2" y="7"/>
                </a:cxn>
                <a:cxn ang="0">
                  <a:pos x="2" y="8"/>
                </a:cxn>
                <a:cxn ang="0">
                  <a:pos x="3" y="9"/>
                </a:cxn>
                <a:cxn ang="0">
                  <a:pos x="10" y="5"/>
                </a:cxn>
              </a:cxnLst>
              <a:rect l="0" t="0" r="r" b="b"/>
              <a:pathLst>
                <a:path w="11" h="10">
                  <a:moveTo>
                    <a:pt x="10" y="5"/>
                  </a:moveTo>
                  <a:lnTo>
                    <a:pt x="10" y="6"/>
                  </a:lnTo>
                  <a:lnTo>
                    <a:pt x="10" y="3"/>
                  </a:lnTo>
                  <a:lnTo>
                    <a:pt x="8" y="2"/>
                  </a:lnTo>
                  <a:lnTo>
                    <a:pt x="8" y="1"/>
                  </a:lnTo>
                  <a:lnTo>
                    <a:pt x="8" y="0"/>
                  </a:lnTo>
                  <a:lnTo>
                    <a:pt x="0" y="4"/>
                  </a:lnTo>
                  <a:lnTo>
                    <a:pt x="0" y="5"/>
                  </a:lnTo>
                  <a:lnTo>
                    <a:pt x="2" y="6"/>
                  </a:lnTo>
                  <a:lnTo>
                    <a:pt x="2" y="7"/>
                  </a:lnTo>
                  <a:lnTo>
                    <a:pt x="2" y="8"/>
                  </a:lnTo>
                  <a:lnTo>
                    <a:pt x="3" y="9"/>
                  </a:lnTo>
                  <a:lnTo>
                    <a:pt x="10"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79" name="Freeform 239"/>
            <p:cNvSpPr>
              <a:spLocks noChangeAspect="1"/>
            </p:cNvSpPr>
            <p:nvPr/>
          </p:nvSpPr>
          <p:spPr bwMode="auto">
            <a:xfrm>
              <a:off x="1173" y="2767"/>
              <a:ext cx="11" cy="14"/>
            </a:xfrm>
            <a:custGeom>
              <a:avLst/>
              <a:gdLst/>
              <a:ahLst/>
              <a:cxnLst>
                <a:cxn ang="0">
                  <a:pos x="11" y="2"/>
                </a:cxn>
                <a:cxn ang="0">
                  <a:pos x="9" y="1"/>
                </a:cxn>
                <a:cxn ang="0">
                  <a:pos x="8" y="2"/>
                </a:cxn>
                <a:cxn ang="0">
                  <a:pos x="9" y="2"/>
                </a:cxn>
                <a:cxn ang="0">
                  <a:pos x="8" y="1"/>
                </a:cxn>
                <a:cxn ang="0">
                  <a:pos x="7" y="0"/>
                </a:cxn>
                <a:cxn ang="0">
                  <a:pos x="0" y="4"/>
                </a:cxn>
                <a:cxn ang="0">
                  <a:pos x="1" y="7"/>
                </a:cxn>
                <a:cxn ang="0">
                  <a:pos x="3" y="9"/>
                </a:cxn>
                <a:cxn ang="0">
                  <a:pos x="7" y="10"/>
                </a:cxn>
                <a:cxn ang="0">
                  <a:pos x="9" y="11"/>
                </a:cxn>
                <a:cxn ang="0">
                  <a:pos x="7" y="10"/>
                </a:cxn>
                <a:cxn ang="0">
                  <a:pos x="11" y="2"/>
                </a:cxn>
              </a:cxnLst>
              <a:rect l="0" t="0" r="r" b="b"/>
              <a:pathLst>
                <a:path w="12" h="12">
                  <a:moveTo>
                    <a:pt x="11" y="2"/>
                  </a:moveTo>
                  <a:lnTo>
                    <a:pt x="9" y="1"/>
                  </a:lnTo>
                  <a:lnTo>
                    <a:pt x="8" y="2"/>
                  </a:lnTo>
                  <a:lnTo>
                    <a:pt x="9" y="2"/>
                  </a:lnTo>
                  <a:lnTo>
                    <a:pt x="8" y="1"/>
                  </a:lnTo>
                  <a:lnTo>
                    <a:pt x="7" y="0"/>
                  </a:lnTo>
                  <a:lnTo>
                    <a:pt x="0" y="4"/>
                  </a:lnTo>
                  <a:lnTo>
                    <a:pt x="1" y="7"/>
                  </a:lnTo>
                  <a:lnTo>
                    <a:pt x="3" y="9"/>
                  </a:lnTo>
                  <a:lnTo>
                    <a:pt x="7" y="10"/>
                  </a:lnTo>
                  <a:lnTo>
                    <a:pt x="9" y="11"/>
                  </a:lnTo>
                  <a:lnTo>
                    <a:pt x="7" y="10"/>
                  </a:lnTo>
                  <a:lnTo>
                    <a:pt x="11"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80" name="Freeform 240"/>
            <p:cNvSpPr>
              <a:spLocks noChangeAspect="1"/>
            </p:cNvSpPr>
            <p:nvPr/>
          </p:nvSpPr>
          <p:spPr bwMode="auto">
            <a:xfrm>
              <a:off x="1179" y="2768"/>
              <a:ext cx="9" cy="14"/>
            </a:xfrm>
            <a:custGeom>
              <a:avLst/>
              <a:gdLst/>
              <a:ahLst/>
              <a:cxnLst>
                <a:cxn ang="0">
                  <a:pos x="5" y="1"/>
                </a:cxn>
                <a:cxn ang="0">
                  <a:pos x="5" y="1"/>
                </a:cxn>
                <a:cxn ang="0">
                  <a:pos x="4" y="1"/>
                </a:cxn>
                <a:cxn ang="0">
                  <a:pos x="4" y="1"/>
                </a:cxn>
                <a:cxn ang="0">
                  <a:pos x="5" y="2"/>
                </a:cxn>
                <a:cxn ang="0">
                  <a:pos x="4" y="0"/>
                </a:cxn>
                <a:cxn ang="0">
                  <a:pos x="0" y="9"/>
                </a:cxn>
                <a:cxn ang="0">
                  <a:pos x="0" y="8"/>
                </a:cxn>
                <a:cxn ang="0">
                  <a:pos x="2" y="10"/>
                </a:cxn>
                <a:cxn ang="0">
                  <a:pos x="5" y="10"/>
                </a:cxn>
                <a:cxn ang="0">
                  <a:pos x="8" y="9"/>
                </a:cxn>
                <a:cxn ang="0">
                  <a:pos x="5" y="1"/>
                </a:cxn>
              </a:cxnLst>
              <a:rect l="0" t="0" r="r" b="b"/>
              <a:pathLst>
                <a:path w="9" h="11">
                  <a:moveTo>
                    <a:pt x="5" y="1"/>
                  </a:moveTo>
                  <a:lnTo>
                    <a:pt x="5" y="1"/>
                  </a:lnTo>
                  <a:lnTo>
                    <a:pt x="4" y="1"/>
                  </a:lnTo>
                  <a:lnTo>
                    <a:pt x="4" y="1"/>
                  </a:lnTo>
                  <a:lnTo>
                    <a:pt x="5" y="2"/>
                  </a:lnTo>
                  <a:lnTo>
                    <a:pt x="4" y="0"/>
                  </a:lnTo>
                  <a:lnTo>
                    <a:pt x="0" y="9"/>
                  </a:lnTo>
                  <a:lnTo>
                    <a:pt x="0" y="8"/>
                  </a:lnTo>
                  <a:lnTo>
                    <a:pt x="2" y="10"/>
                  </a:lnTo>
                  <a:lnTo>
                    <a:pt x="5" y="10"/>
                  </a:lnTo>
                  <a:lnTo>
                    <a:pt x="8" y="9"/>
                  </a:lnTo>
                  <a:lnTo>
                    <a:pt x="5"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81" name="Freeform 241"/>
            <p:cNvSpPr>
              <a:spLocks noChangeAspect="1"/>
            </p:cNvSpPr>
            <p:nvPr/>
          </p:nvSpPr>
          <p:spPr bwMode="auto">
            <a:xfrm>
              <a:off x="1184" y="2767"/>
              <a:ext cx="19" cy="14"/>
            </a:xfrm>
            <a:custGeom>
              <a:avLst/>
              <a:gdLst/>
              <a:ahLst/>
              <a:cxnLst>
                <a:cxn ang="0">
                  <a:pos x="8" y="3"/>
                </a:cxn>
                <a:cxn ang="0">
                  <a:pos x="8" y="3"/>
                </a:cxn>
                <a:cxn ang="0">
                  <a:pos x="11" y="0"/>
                </a:cxn>
                <a:cxn ang="0">
                  <a:pos x="7" y="0"/>
                </a:cxn>
                <a:cxn ang="0">
                  <a:pos x="4" y="1"/>
                </a:cxn>
                <a:cxn ang="0">
                  <a:pos x="0" y="2"/>
                </a:cxn>
                <a:cxn ang="0">
                  <a:pos x="3" y="10"/>
                </a:cxn>
                <a:cxn ang="0">
                  <a:pos x="5" y="9"/>
                </a:cxn>
                <a:cxn ang="0">
                  <a:pos x="9" y="8"/>
                </a:cxn>
                <a:cxn ang="0">
                  <a:pos x="12" y="8"/>
                </a:cxn>
                <a:cxn ang="0">
                  <a:pos x="17" y="3"/>
                </a:cxn>
                <a:cxn ang="0">
                  <a:pos x="8" y="3"/>
                </a:cxn>
              </a:cxnLst>
              <a:rect l="0" t="0" r="r" b="b"/>
              <a:pathLst>
                <a:path w="18" h="11">
                  <a:moveTo>
                    <a:pt x="8" y="3"/>
                  </a:moveTo>
                  <a:lnTo>
                    <a:pt x="8" y="3"/>
                  </a:lnTo>
                  <a:lnTo>
                    <a:pt x="11" y="0"/>
                  </a:lnTo>
                  <a:lnTo>
                    <a:pt x="7" y="0"/>
                  </a:lnTo>
                  <a:lnTo>
                    <a:pt x="4" y="1"/>
                  </a:lnTo>
                  <a:lnTo>
                    <a:pt x="0" y="2"/>
                  </a:lnTo>
                  <a:lnTo>
                    <a:pt x="3" y="10"/>
                  </a:lnTo>
                  <a:lnTo>
                    <a:pt x="5" y="9"/>
                  </a:lnTo>
                  <a:lnTo>
                    <a:pt x="9" y="8"/>
                  </a:lnTo>
                  <a:lnTo>
                    <a:pt x="12" y="8"/>
                  </a:lnTo>
                  <a:lnTo>
                    <a:pt x="17" y="3"/>
                  </a:lnTo>
                  <a:lnTo>
                    <a:pt x="8"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82" name="Freeform 242"/>
            <p:cNvSpPr>
              <a:spLocks noChangeAspect="1"/>
            </p:cNvSpPr>
            <p:nvPr/>
          </p:nvSpPr>
          <p:spPr bwMode="auto">
            <a:xfrm>
              <a:off x="1188" y="2758"/>
              <a:ext cx="14" cy="13"/>
            </a:xfrm>
            <a:custGeom>
              <a:avLst/>
              <a:gdLst/>
              <a:ahLst/>
              <a:cxnLst>
                <a:cxn ang="0">
                  <a:pos x="0" y="5"/>
                </a:cxn>
                <a:cxn ang="0">
                  <a:pos x="0" y="5"/>
                </a:cxn>
                <a:cxn ang="0">
                  <a:pos x="1" y="6"/>
                </a:cxn>
                <a:cxn ang="0">
                  <a:pos x="3" y="9"/>
                </a:cxn>
                <a:cxn ang="0">
                  <a:pos x="4" y="12"/>
                </a:cxn>
                <a:cxn ang="0">
                  <a:pos x="13" y="12"/>
                </a:cxn>
                <a:cxn ang="0">
                  <a:pos x="12" y="8"/>
                </a:cxn>
                <a:cxn ang="0">
                  <a:pos x="9" y="5"/>
                </a:cxn>
                <a:cxn ang="0">
                  <a:pos x="7" y="1"/>
                </a:cxn>
                <a:cxn ang="0">
                  <a:pos x="5" y="0"/>
                </a:cxn>
                <a:cxn ang="0">
                  <a:pos x="0" y="5"/>
                </a:cxn>
              </a:cxnLst>
              <a:rect l="0" t="0" r="r" b="b"/>
              <a:pathLst>
                <a:path w="14" h="13">
                  <a:moveTo>
                    <a:pt x="0" y="5"/>
                  </a:moveTo>
                  <a:lnTo>
                    <a:pt x="0" y="5"/>
                  </a:lnTo>
                  <a:lnTo>
                    <a:pt x="1" y="6"/>
                  </a:lnTo>
                  <a:lnTo>
                    <a:pt x="3" y="9"/>
                  </a:lnTo>
                  <a:lnTo>
                    <a:pt x="4" y="12"/>
                  </a:lnTo>
                  <a:lnTo>
                    <a:pt x="13" y="12"/>
                  </a:lnTo>
                  <a:lnTo>
                    <a:pt x="12" y="8"/>
                  </a:lnTo>
                  <a:lnTo>
                    <a:pt x="9" y="5"/>
                  </a:lnTo>
                  <a:lnTo>
                    <a:pt x="7" y="1"/>
                  </a:lnTo>
                  <a:lnTo>
                    <a:pt x="5" y="0"/>
                  </a:lnTo>
                  <a:lnTo>
                    <a:pt x="0"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83" name="Freeform 243"/>
            <p:cNvSpPr>
              <a:spLocks noChangeAspect="1"/>
            </p:cNvSpPr>
            <p:nvPr/>
          </p:nvSpPr>
          <p:spPr bwMode="auto">
            <a:xfrm>
              <a:off x="1187" y="2754"/>
              <a:ext cx="11" cy="13"/>
            </a:xfrm>
            <a:custGeom>
              <a:avLst/>
              <a:gdLst/>
              <a:ahLst/>
              <a:cxnLst>
                <a:cxn ang="0">
                  <a:pos x="9" y="3"/>
                </a:cxn>
                <a:cxn ang="0">
                  <a:pos x="10" y="3"/>
                </a:cxn>
                <a:cxn ang="0">
                  <a:pos x="5" y="0"/>
                </a:cxn>
                <a:cxn ang="0">
                  <a:pos x="1" y="3"/>
                </a:cxn>
                <a:cxn ang="0">
                  <a:pos x="0" y="5"/>
                </a:cxn>
                <a:cxn ang="0">
                  <a:pos x="1" y="10"/>
                </a:cxn>
                <a:cxn ang="0">
                  <a:pos x="6" y="5"/>
                </a:cxn>
                <a:cxn ang="0">
                  <a:pos x="8" y="8"/>
                </a:cxn>
                <a:cxn ang="0">
                  <a:pos x="8" y="7"/>
                </a:cxn>
                <a:cxn ang="0">
                  <a:pos x="5" y="9"/>
                </a:cxn>
                <a:cxn ang="0">
                  <a:pos x="3" y="7"/>
                </a:cxn>
                <a:cxn ang="0">
                  <a:pos x="4" y="8"/>
                </a:cxn>
                <a:cxn ang="0">
                  <a:pos x="9" y="3"/>
                </a:cxn>
              </a:cxnLst>
              <a:rect l="0" t="0" r="r" b="b"/>
              <a:pathLst>
                <a:path w="11" h="11">
                  <a:moveTo>
                    <a:pt x="9" y="3"/>
                  </a:moveTo>
                  <a:lnTo>
                    <a:pt x="10" y="3"/>
                  </a:lnTo>
                  <a:lnTo>
                    <a:pt x="5" y="0"/>
                  </a:lnTo>
                  <a:lnTo>
                    <a:pt x="1" y="3"/>
                  </a:lnTo>
                  <a:lnTo>
                    <a:pt x="0" y="5"/>
                  </a:lnTo>
                  <a:lnTo>
                    <a:pt x="1" y="10"/>
                  </a:lnTo>
                  <a:lnTo>
                    <a:pt x="6" y="5"/>
                  </a:lnTo>
                  <a:lnTo>
                    <a:pt x="8" y="8"/>
                  </a:lnTo>
                  <a:lnTo>
                    <a:pt x="8" y="7"/>
                  </a:lnTo>
                  <a:lnTo>
                    <a:pt x="5" y="9"/>
                  </a:lnTo>
                  <a:lnTo>
                    <a:pt x="3" y="7"/>
                  </a:lnTo>
                  <a:lnTo>
                    <a:pt x="4" y="8"/>
                  </a:lnTo>
                  <a:lnTo>
                    <a:pt x="9"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84" name="Freeform 244"/>
            <p:cNvSpPr>
              <a:spLocks noChangeAspect="1"/>
            </p:cNvSpPr>
            <p:nvPr/>
          </p:nvSpPr>
          <p:spPr bwMode="auto">
            <a:xfrm>
              <a:off x="1191" y="2756"/>
              <a:ext cx="9" cy="10"/>
            </a:xfrm>
            <a:custGeom>
              <a:avLst/>
              <a:gdLst/>
              <a:ahLst/>
              <a:cxnLst>
                <a:cxn ang="0">
                  <a:pos x="8" y="4"/>
                </a:cxn>
                <a:cxn ang="0">
                  <a:pos x="7" y="3"/>
                </a:cxn>
                <a:cxn ang="0">
                  <a:pos x="8" y="3"/>
                </a:cxn>
                <a:cxn ang="0">
                  <a:pos x="8" y="3"/>
                </a:cxn>
                <a:cxn ang="0">
                  <a:pos x="7" y="2"/>
                </a:cxn>
                <a:cxn ang="0">
                  <a:pos x="5" y="0"/>
                </a:cxn>
                <a:cxn ang="0">
                  <a:pos x="0" y="5"/>
                </a:cxn>
                <a:cxn ang="0">
                  <a:pos x="0" y="6"/>
                </a:cxn>
                <a:cxn ang="0">
                  <a:pos x="0" y="7"/>
                </a:cxn>
                <a:cxn ang="0">
                  <a:pos x="0" y="7"/>
                </a:cxn>
                <a:cxn ang="0">
                  <a:pos x="2" y="9"/>
                </a:cxn>
                <a:cxn ang="0">
                  <a:pos x="0" y="8"/>
                </a:cxn>
                <a:cxn ang="0">
                  <a:pos x="8" y="4"/>
                </a:cxn>
              </a:cxnLst>
              <a:rect l="0" t="0" r="r" b="b"/>
              <a:pathLst>
                <a:path w="9" h="10">
                  <a:moveTo>
                    <a:pt x="8" y="4"/>
                  </a:moveTo>
                  <a:lnTo>
                    <a:pt x="7" y="3"/>
                  </a:lnTo>
                  <a:lnTo>
                    <a:pt x="8" y="3"/>
                  </a:lnTo>
                  <a:lnTo>
                    <a:pt x="8" y="3"/>
                  </a:lnTo>
                  <a:lnTo>
                    <a:pt x="7" y="2"/>
                  </a:lnTo>
                  <a:lnTo>
                    <a:pt x="5" y="0"/>
                  </a:lnTo>
                  <a:lnTo>
                    <a:pt x="0" y="5"/>
                  </a:lnTo>
                  <a:lnTo>
                    <a:pt x="0" y="6"/>
                  </a:lnTo>
                  <a:lnTo>
                    <a:pt x="0" y="7"/>
                  </a:lnTo>
                  <a:lnTo>
                    <a:pt x="0" y="7"/>
                  </a:lnTo>
                  <a:lnTo>
                    <a:pt x="2" y="9"/>
                  </a:lnTo>
                  <a:lnTo>
                    <a:pt x="0" y="8"/>
                  </a:lnTo>
                  <a:lnTo>
                    <a:pt x="8" y="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85" name="Freeform 245"/>
            <p:cNvSpPr>
              <a:spLocks noChangeAspect="1"/>
            </p:cNvSpPr>
            <p:nvPr/>
          </p:nvSpPr>
          <p:spPr bwMode="auto">
            <a:xfrm>
              <a:off x="1191" y="2758"/>
              <a:ext cx="11" cy="8"/>
            </a:xfrm>
            <a:custGeom>
              <a:avLst/>
              <a:gdLst/>
              <a:ahLst/>
              <a:cxnLst>
                <a:cxn ang="0">
                  <a:pos x="2" y="2"/>
                </a:cxn>
                <a:cxn ang="0">
                  <a:pos x="2" y="2"/>
                </a:cxn>
                <a:cxn ang="0">
                  <a:pos x="3" y="1"/>
                </a:cxn>
                <a:cxn ang="0">
                  <a:pos x="4" y="1"/>
                </a:cxn>
                <a:cxn ang="0">
                  <a:pos x="4" y="0"/>
                </a:cxn>
                <a:cxn ang="0">
                  <a:pos x="8" y="2"/>
                </a:cxn>
                <a:cxn ang="0">
                  <a:pos x="0" y="7"/>
                </a:cxn>
                <a:cxn ang="0">
                  <a:pos x="4" y="10"/>
                </a:cxn>
                <a:cxn ang="0">
                  <a:pos x="8" y="8"/>
                </a:cxn>
                <a:cxn ang="0">
                  <a:pos x="10" y="6"/>
                </a:cxn>
                <a:cxn ang="0">
                  <a:pos x="12" y="2"/>
                </a:cxn>
                <a:cxn ang="0">
                  <a:pos x="2" y="2"/>
                </a:cxn>
              </a:cxnLst>
              <a:rect l="0" t="0" r="r" b="b"/>
              <a:pathLst>
                <a:path w="13" h="11">
                  <a:moveTo>
                    <a:pt x="2" y="2"/>
                  </a:moveTo>
                  <a:lnTo>
                    <a:pt x="2" y="2"/>
                  </a:lnTo>
                  <a:lnTo>
                    <a:pt x="3" y="1"/>
                  </a:lnTo>
                  <a:lnTo>
                    <a:pt x="4" y="1"/>
                  </a:lnTo>
                  <a:lnTo>
                    <a:pt x="4" y="0"/>
                  </a:lnTo>
                  <a:lnTo>
                    <a:pt x="8" y="2"/>
                  </a:lnTo>
                  <a:lnTo>
                    <a:pt x="0" y="7"/>
                  </a:lnTo>
                  <a:lnTo>
                    <a:pt x="4" y="10"/>
                  </a:lnTo>
                  <a:lnTo>
                    <a:pt x="8" y="8"/>
                  </a:lnTo>
                  <a:lnTo>
                    <a:pt x="10" y="6"/>
                  </a:lnTo>
                  <a:lnTo>
                    <a:pt x="12" y="2"/>
                  </a:lnTo>
                  <a:lnTo>
                    <a:pt x="2"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86" name="Freeform 246"/>
            <p:cNvSpPr>
              <a:spLocks noChangeAspect="1"/>
            </p:cNvSpPr>
            <p:nvPr/>
          </p:nvSpPr>
          <p:spPr bwMode="auto">
            <a:xfrm>
              <a:off x="1194" y="2756"/>
              <a:ext cx="12" cy="13"/>
            </a:xfrm>
            <a:custGeom>
              <a:avLst/>
              <a:gdLst/>
              <a:ahLst/>
              <a:cxnLst>
                <a:cxn ang="0">
                  <a:pos x="7" y="12"/>
                </a:cxn>
                <a:cxn ang="0">
                  <a:pos x="7" y="12"/>
                </a:cxn>
                <a:cxn ang="0">
                  <a:pos x="11" y="7"/>
                </a:cxn>
                <a:cxn ang="0">
                  <a:pos x="9" y="2"/>
                </a:cxn>
                <a:cxn ang="0">
                  <a:pos x="7" y="0"/>
                </a:cxn>
                <a:cxn ang="0">
                  <a:pos x="0" y="4"/>
                </a:cxn>
                <a:cxn ang="0">
                  <a:pos x="9" y="4"/>
                </a:cxn>
                <a:cxn ang="0">
                  <a:pos x="4" y="9"/>
                </a:cxn>
                <a:cxn ang="0">
                  <a:pos x="4" y="8"/>
                </a:cxn>
                <a:cxn ang="0">
                  <a:pos x="3" y="5"/>
                </a:cxn>
                <a:cxn ang="0">
                  <a:pos x="5" y="3"/>
                </a:cxn>
                <a:cxn ang="0">
                  <a:pos x="7" y="12"/>
                </a:cxn>
              </a:cxnLst>
              <a:rect l="0" t="0" r="r" b="b"/>
              <a:pathLst>
                <a:path w="12" h="13">
                  <a:moveTo>
                    <a:pt x="7" y="12"/>
                  </a:moveTo>
                  <a:lnTo>
                    <a:pt x="7" y="12"/>
                  </a:lnTo>
                  <a:lnTo>
                    <a:pt x="11" y="7"/>
                  </a:lnTo>
                  <a:lnTo>
                    <a:pt x="9" y="2"/>
                  </a:lnTo>
                  <a:lnTo>
                    <a:pt x="7" y="0"/>
                  </a:lnTo>
                  <a:lnTo>
                    <a:pt x="0" y="4"/>
                  </a:lnTo>
                  <a:lnTo>
                    <a:pt x="9" y="4"/>
                  </a:lnTo>
                  <a:lnTo>
                    <a:pt x="4" y="9"/>
                  </a:lnTo>
                  <a:lnTo>
                    <a:pt x="4" y="8"/>
                  </a:lnTo>
                  <a:lnTo>
                    <a:pt x="3" y="5"/>
                  </a:lnTo>
                  <a:lnTo>
                    <a:pt x="5" y="3"/>
                  </a:lnTo>
                  <a:lnTo>
                    <a:pt x="7" y="1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87" name="Freeform 247"/>
            <p:cNvSpPr>
              <a:spLocks noChangeAspect="1"/>
            </p:cNvSpPr>
            <p:nvPr/>
          </p:nvSpPr>
          <p:spPr bwMode="auto">
            <a:xfrm>
              <a:off x="1193" y="2760"/>
              <a:ext cx="10" cy="8"/>
            </a:xfrm>
            <a:custGeom>
              <a:avLst/>
              <a:gdLst/>
              <a:ahLst/>
              <a:cxnLst>
                <a:cxn ang="0">
                  <a:pos x="9" y="6"/>
                </a:cxn>
                <a:cxn ang="0">
                  <a:pos x="9" y="7"/>
                </a:cxn>
                <a:cxn ang="0">
                  <a:pos x="9" y="7"/>
                </a:cxn>
                <a:cxn ang="0">
                  <a:pos x="8" y="8"/>
                </a:cxn>
                <a:cxn ang="0">
                  <a:pos x="8" y="9"/>
                </a:cxn>
                <a:cxn ang="0">
                  <a:pos x="9" y="8"/>
                </a:cxn>
                <a:cxn ang="0">
                  <a:pos x="7" y="0"/>
                </a:cxn>
                <a:cxn ang="0">
                  <a:pos x="4" y="1"/>
                </a:cxn>
                <a:cxn ang="0">
                  <a:pos x="1" y="4"/>
                </a:cxn>
                <a:cxn ang="0">
                  <a:pos x="0" y="7"/>
                </a:cxn>
                <a:cxn ang="0">
                  <a:pos x="1" y="9"/>
                </a:cxn>
                <a:cxn ang="0">
                  <a:pos x="1" y="10"/>
                </a:cxn>
                <a:cxn ang="0">
                  <a:pos x="9" y="6"/>
                </a:cxn>
              </a:cxnLst>
              <a:rect l="0" t="0" r="r" b="b"/>
              <a:pathLst>
                <a:path w="10" h="11">
                  <a:moveTo>
                    <a:pt x="9" y="6"/>
                  </a:moveTo>
                  <a:lnTo>
                    <a:pt x="9" y="7"/>
                  </a:lnTo>
                  <a:lnTo>
                    <a:pt x="9" y="7"/>
                  </a:lnTo>
                  <a:lnTo>
                    <a:pt x="8" y="8"/>
                  </a:lnTo>
                  <a:lnTo>
                    <a:pt x="8" y="9"/>
                  </a:lnTo>
                  <a:lnTo>
                    <a:pt x="9" y="8"/>
                  </a:lnTo>
                  <a:lnTo>
                    <a:pt x="7" y="0"/>
                  </a:lnTo>
                  <a:lnTo>
                    <a:pt x="4" y="1"/>
                  </a:lnTo>
                  <a:lnTo>
                    <a:pt x="1" y="4"/>
                  </a:lnTo>
                  <a:lnTo>
                    <a:pt x="0" y="7"/>
                  </a:lnTo>
                  <a:lnTo>
                    <a:pt x="1" y="9"/>
                  </a:lnTo>
                  <a:lnTo>
                    <a:pt x="1" y="10"/>
                  </a:lnTo>
                  <a:lnTo>
                    <a:pt x="9" y="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88" name="Freeform 248"/>
            <p:cNvSpPr>
              <a:spLocks noChangeAspect="1"/>
            </p:cNvSpPr>
            <p:nvPr/>
          </p:nvSpPr>
          <p:spPr bwMode="auto">
            <a:xfrm>
              <a:off x="1193" y="2767"/>
              <a:ext cx="10" cy="9"/>
            </a:xfrm>
            <a:custGeom>
              <a:avLst/>
              <a:gdLst/>
              <a:ahLst/>
              <a:cxnLst>
                <a:cxn ang="0">
                  <a:pos x="6" y="0"/>
                </a:cxn>
                <a:cxn ang="0">
                  <a:pos x="5" y="1"/>
                </a:cxn>
                <a:cxn ang="0">
                  <a:pos x="6" y="0"/>
                </a:cxn>
                <a:cxn ang="0">
                  <a:pos x="8" y="1"/>
                </a:cxn>
                <a:cxn ang="0">
                  <a:pos x="8" y="0"/>
                </a:cxn>
                <a:cxn ang="0">
                  <a:pos x="0" y="4"/>
                </a:cxn>
                <a:cxn ang="0">
                  <a:pos x="1" y="5"/>
                </a:cxn>
                <a:cxn ang="0">
                  <a:pos x="2" y="7"/>
                </a:cxn>
                <a:cxn ang="0">
                  <a:pos x="6" y="9"/>
                </a:cxn>
                <a:cxn ang="0">
                  <a:pos x="9" y="7"/>
                </a:cxn>
                <a:cxn ang="0">
                  <a:pos x="8" y="8"/>
                </a:cxn>
                <a:cxn ang="0">
                  <a:pos x="6" y="0"/>
                </a:cxn>
              </a:cxnLst>
              <a:rect l="0" t="0" r="r" b="b"/>
              <a:pathLst>
                <a:path w="10" h="10">
                  <a:moveTo>
                    <a:pt x="6" y="0"/>
                  </a:moveTo>
                  <a:lnTo>
                    <a:pt x="5" y="1"/>
                  </a:lnTo>
                  <a:lnTo>
                    <a:pt x="6" y="0"/>
                  </a:lnTo>
                  <a:lnTo>
                    <a:pt x="8" y="1"/>
                  </a:lnTo>
                  <a:lnTo>
                    <a:pt x="8" y="0"/>
                  </a:lnTo>
                  <a:lnTo>
                    <a:pt x="0" y="4"/>
                  </a:lnTo>
                  <a:lnTo>
                    <a:pt x="1" y="5"/>
                  </a:lnTo>
                  <a:lnTo>
                    <a:pt x="2" y="7"/>
                  </a:lnTo>
                  <a:lnTo>
                    <a:pt x="6" y="9"/>
                  </a:lnTo>
                  <a:lnTo>
                    <a:pt x="9" y="7"/>
                  </a:lnTo>
                  <a:lnTo>
                    <a:pt x="8" y="8"/>
                  </a:lnTo>
                  <a:lnTo>
                    <a:pt x="6"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89" name="Freeform 249"/>
            <p:cNvSpPr>
              <a:spLocks noChangeAspect="1"/>
            </p:cNvSpPr>
            <p:nvPr/>
          </p:nvSpPr>
          <p:spPr bwMode="auto">
            <a:xfrm>
              <a:off x="1199" y="2762"/>
              <a:ext cx="10" cy="13"/>
            </a:xfrm>
            <a:custGeom>
              <a:avLst/>
              <a:gdLst/>
              <a:ahLst/>
              <a:cxnLst>
                <a:cxn ang="0">
                  <a:pos x="2" y="0"/>
                </a:cxn>
                <a:cxn ang="0">
                  <a:pos x="0" y="3"/>
                </a:cxn>
                <a:cxn ang="0">
                  <a:pos x="0" y="2"/>
                </a:cxn>
                <a:cxn ang="0">
                  <a:pos x="0" y="3"/>
                </a:cxn>
                <a:cxn ang="0">
                  <a:pos x="0" y="4"/>
                </a:cxn>
                <a:cxn ang="0">
                  <a:pos x="0" y="3"/>
                </a:cxn>
                <a:cxn ang="0">
                  <a:pos x="2" y="12"/>
                </a:cxn>
                <a:cxn ang="0">
                  <a:pos x="5" y="10"/>
                </a:cxn>
                <a:cxn ang="0">
                  <a:pos x="8" y="7"/>
                </a:cxn>
                <a:cxn ang="0">
                  <a:pos x="8" y="5"/>
                </a:cxn>
                <a:cxn ang="0">
                  <a:pos x="9" y="3"/>
                </a:cxn>
                <a:cxn ang="0">
                  <a:pos x="7" y="5"/>
                </a:cxn>
                <a:cxn ang="0">
                  <a:pos x="2" y="0"/>
                </a:cxn>
              </a:cxnLst>
              <a:rect l="0" t="0" r="r" b="b"/>
              <a:pathLst>
                <a:path w="10" h="13">
                  <a:moveTo>
                    <a:pt x="2" y="0"/>
                  </a:moveTo>
                  <a:lnTo>
                    <a:pt x="0" y="3"/>
                  </a:lnTo>
                  <a:lnTo>
                    <a:pt x="0" y="2"/>
                  </a:lnTo>
                  <a:lnTo>
                    <a:pt x="0" y="3"/>
                  </a:lnTo>
                  <a:lnTo>
                    <a:pt x="0" y="4"/>
                  </a:lnTo>
                  <a:lnTo>
                    <a:pt x="0" y="3"/>
                  </a:lnTo>
                  <a:lnTo>
                    <a:pt x="2" y="12"/>
                  </a:lnTo>
                  <a:lnTo>
                    <a:pt x="5" y="10"/>
                  </a:lnTo>
                  <a:lnTo>
                    <a:pt x="8" y="7"/>
                  </a:lnTo>
                  <a:lnTo>
                    <a:pt x="8" y="5"/>
                  </a:lnTo>
                  <a:lnTo>
                    <a:pt x="9" y="3"/>
                  </a:lnTo>
                  <a:lnTo>
                    <a:pt x="7" y="5"/>
                  </a:lnTo>
                  <a:lnTo>
                    <a:pt x="2"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90" name="Freeform 250"/>
            <p:cNvSpPr>
              <a:spLocks noChangeAspect="1"/>
            </p:cNvSpPr>
            <p:nvPr/>
          </p:nvSpPr>
          <p:spPr bwMode="auto">
            <a:xfrm>
              <a:off x="1200" y="2762"/>
              <a:ext cx="12" cy="16"/>
            </a:xfrm>
            <a:custGeom>
              <a:avLst/>
              <a:gdLst/>
              <a:ahLst/>
              <a:cxnLst>
                <a:cxn ang="0">
                  <a:pos x="11" y="7"/>
                </a:cxn>
                <a:cxn ang="0">
                  <a:pos x="11" y="7"/>
                </a:cxn>
                <a:cxn ang="0">
                  <a:pos x="9" y="6"/>
                </a:cxn>
                <a:cxn ang="0">
                  <a:pos x="9" y="5"/>
                </a:cxn>
                <a:cxn ang="0">
                  <a:pos x="8" y="2"/>
                </a:cxn>
                <a:cxn ang="0">
                  <a:pos x="1" y="0"/>
                </a:cxn>
                <a:cxn ang="0">
                  <a:pos x="6" y="5"/>
                </a:cxn>
                <a:cxn ang="0">
                  <a:pos x="0" y="6"/>
                </a:cxn>
                <a:cxn ang="0">
                  <a:pos x="2" y="9"/>
                </a:cxn>
                <a:cxn ang="0">
                  <a:pos x="5" y="13"/>
                </a:cxn>
                <a:cxn ang="0">
                  <a:pos x="11" y="15"/>
                </a:cxn>
                <a:cxn ang="0">
                  <a:pos x="11" y="7"/>
                </a:cxn>
              </a:cxnLst>
              <a:rect l="0" t="0" r="r" b="b"/>
              <a:pathLst>
                <a:path w="12" h="16">
                  <a:moveTo>
                    <a:pt x="11" y="7"/>
                  </a:moveTo>
                  <a:lnTo>
                    <a:pt x="11" y="7"/>
                  </a:lnTo>
                  <a:lnTo>
                    <a:pt x="9" y="6"/>
                  </a:lnTo>
                  <a:lnTo>
                    <a:pt x="9" y="5"/>
                  </a:lnTo>
                  <a:lnTo>
                    <a:pt x="8" y="2"/>
                  </a:lnTo>
                  <a:lnTo>
                    <a:pt x="1" y="0"/>
                  </a:lnTo>
                  <a:lnTo>
                    <a:pt x="6" y="5"/>
                  </a:lnTo>
                  <a:lnTo>
                    <a:pt x="0" y="6"/>
                  </a:lnTo>
                  <a:lnTo>
                    <a:pt x="2" y="9"/>
                  </a:lnTo>
                  <a:lnTo>
                    <a:pt x="5" y="13"/>
                  </a:lnTo>
                  <a:lnTo>
                    <a:pt x="11" y="15"/>
                  </a:lnTo>
                  <a:lnTo>
                    <a:pt x="11" y="7"/>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91" name="Freeform 251"/>
            <p:cNvSpPr>
              <a:spLocks noChangeAspect="1"/>
            </p:cNvSpPr>
            <p:nvPr/>
          </p:nvSpPr>
          <p:spPr bwMode="auto">
            <a:xfrm>
              <a:off x="1211" y="2768"/>
              <a:ext cx="11" cy="10"/>
            </a:xfrm>
            <a:custGeom>
              <a:avLst/>
              <a:gdLst/>
              <a:ahLst/>
              <a:cxnLst>
                <a:cxn ang="0">
                  <a:pos x="10" y="1"/>
                </a:cxn>
                <a:cxn ang="0">
                  <a:pos x="10" y="1"/>
                </a:cxn>
                <a:cxn ang="0">
                  <a:pos x="7" y="0"/>
                </a:cxn>
                <a:cxn ang="0">
                  <a:pos x="6" y="0"/>
                </a:cxn>
                <a:cxn ang="0">
                  <a:pos x="4" y="1"/>
                </a:cxn>
                <a:cxn ang="0">
                  <a:pos x="0" y="1"/>
                </a:cxn>
                <a:cxn ang="0">
                  <a:pos x="0" y="9"/>
                </a:cxn>
                <a:cxn ang="0">
                  <a:pos x="4" y="9"/>
                </a:cxn>
                <a:cxn ang="0">
                  <a:pos x="6" y="9"/>
                </a:cxn>
                <a:cxn ang="0">
                  <a:pos x="7" y="9"/>
                </a:cxn>
                <a:cxn ang="0">
                  <a:pos x="7" y="9"/>
                </a:cxn>
                <a:cxn ang="0">
                  <a:pos x="10" y="1"/>
                </a:cxn>
              </a:cxnLst>
              <a:rect l="0" t="0" r="r" b="b"/>
              <a:pathLst>
                <a:path w="11" h="10">
                  <a:moveTo>
                    <a:pt x="10" y="1"/>
                  </a:moveTo>
                  <a:lnTo>
                    <a:pt x="10" y="1"/>
                  </a:lnTo>
                  <a:lnTo>
                    <a:pt x="7" y="0"/>
                  </a:lnTo>
                  <a:lnTo>
                    <a:pt x="6" y="0"/>
                  </a:lnTo>
                  <a:lnTo>
                    <a:pt x="4" y="1"/>
                  </a:lnTo>
                  <a:lnTo>
                    <a:pt x="0" y="1"/>
                  </a:lnTo>
                  <a:lnTo>
                    <a:pt x="0" y="9"/>
                  </a:lnTo>
                  <a:lnTo>
                    <a:pt x="4" y="9"/>
                  </a:lnTo>
                  <a:lnTo>
                    <a:pt x="6" y="9"/>
                  </a:lnTo>
                  <a:lnTo>
                    <a:pt x="7" y="9"/>
                  </a:lnTo>
                  <a:lnTo>
                    <a:pt x="7" y="9"/>
                  </a:lnTo>
                  <a:lnTo>
                    <a:pt x="10"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92" name="Freeform 252"/>
            <p:cNvSpPr>
              <a:spLocks noChangeAspect="1"/>
            </p:cNvSpPr>
            <p:nvPr/>
          </p:nvSpPr>
          <p:spPr bwMode="auto">
            <a:xfrm>
              <a:off x="1219" y="2768"/>
              <a:ext cx="13" cy="14"/>
            </a:xfrm>
            <a:custGeom>
              <a:avLst/>
              <a:gdLst/>
              <a:ahLst/>
              <a:cxnLst>
                <a:cxn ang="0">
                  <a:pos x="4" y="2"/>
                </a:cxn>
                <a:cxn ang="0">
                  <a:pos x="4" y="2"/>
                </a:cxn>
                <a:cxn ang="0">
                  <a:pos x="4" y="1"/>
                </a:cxn>
                <a:cxn ang="0">
                  <a:pos x="5" y="0"/>
                </a:cxn>
                <a:cxn ang="0">
                  <a:pos x="4" y="0"/>
                </a:cxn>
                <a:cxn ang="0">
                  <a:pos x="2" y="0"/>
                </a:cxn>
                <a:cxn ang="0">
                  <a:pos x="0" y="8"/>
                </a:cxn>
                <a:cxn ang="0">
                  <a:pos x="2" y="8"/>
                </a:cxn>
                <a:cxn ang="0">
                  <a:pos x="5" y="10"/>
                </a:cxn>
                <a:cxn ang="0">
                  <a:pos x="10" y="8"/>
                </a:cxn>
                <a:cxn ang="0">
                  <a:pos x="12" y="3"/>
                </a:cxn>
                <a:cxn ang="0">
                  <a:pos x="4" y="2"/>
                </a:cxn>
              </a:cxnLst>
              <a:rect l="0" t="0" r="r" b="b"/>
              <a:pathLst>
                <a:path w="13" h="11">
                  <a:moveTo>
                    <a:pt x="4" y="2"/>
                  </a:moveTo>
                  <a:lnTo>
                    <a:pt x="4" y="2"/>
                  </a:lnTo>
                  <a:lnTo>
                    <a:pt x="4" y="1"/>
                  </a:lnTo>
                  <a:lnTo>
                    <a:pt x="5" y="0"/>
                  </a:lnTo>
                  <a:lnTo>
                    <a:pt x="4" y="0"/>
                  </a:lnTo>
                  <a:lnTo>
                    <a:pt x="2" y="0"/>
                  </a:lnTo>
                  <a:lnTo>
                    <a:pt x="0" y="8"/>
                  </a:lnTo>
                  <a:lnTo>
                    <a:pt x="2" y="8"/>
                  </a:lnTo>
                  <a:lnTo>
                    <a:pt x="5" y="10"/>
                  </a:lnTo>
                  <a:lnTo>
                    <a:pt x="10" y="8"/>
                  </a:lnTo>
                  <a:lnTo>
                    <a:pt x="12" y="3"/>
                  </a:lnTo>
                  <a:lnTo>
                    <a:pt x="4"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93" name="Freeform 253"/>
            <p:cNvSpPr>
              <a:spLocks noChangeAspect="1"/>
            </p:cNvSpPr>
            <p:nvPr/>
          </p:nvSpPr>
          <p:spPr bwMode="auto">
            <a:xfrm>
              <a:off x="914" y="2645"/>
              <a:ext cx="71" cy="54"/>
            </a:xfrm>
            <a:custGeom>
              <a:avLst/>
              <a:gdLst/>
              <a:ahLst/>
              <a:cxnLst>
                <a:cxn ang="0">
                  <a:pos x="36" y="7"/>
                </a:cxn>
                <a:cxn ang="0">
                  <a:pos x="30" y="7"/>
                </a:cxn>
                <a:cxn ang="0">
                  <a:pos x="24" y="9"/>
                </a:cxn>
                <a:cxn ang="0">
                  <a:pos x="20" y="10"/>
                </a:cxn>
                <a:cxn ang="0">
                  <a:pos x="16" y="12"/>
                </a:cxn>
                <a:cxn ang="0">
                  <a:pos x="10" y="14"/>
                </a:cxn>
                <a:cxn ang="0">
                  <a:pos x="5" y="18"/>
                </a:cxn>
                <a:cxn ang="0">
                  <a:pos x="0" y="28"/>
                </a:cxn>
                <a:cxn ang="0">
                  <a:pos x="2" y="38"/>
                </a:cxn>
                <a:cxn ang="0">
                  <a:pos x="7" y="43"/>
                </a:cxn>
                <a:cxn ang="0">
                  <a:pos x="11" y="46"/>
                </a:cxn>
                <a:cxn ang="0">
                  <a:pos x="15" y="48"/>
                </a:cxn>
                <a:cxn ang="0">
                  <a:pos x="20" y="48"/>
                </a:cxn>
                <a:cxn ang="0">
                  <a:pos x="24" y="48"/>
                </a:cxn>
                <a:cxn ang="0">
                  <a:pos x="26" y="52"/>
                </a:cxn>
                <a:cxn ang="0">
                  <a:pos x="32" y="54"/>
                </a:cxn>
                <a:cxn ang="0">
                  <a:pos x="36" y="54"/>
                </a:cxn>
                <a:cxn ang="0">
                  <a:pos x="42" y="55"/>
                </a:cxn>
                <a:cxn ang="0">
                  <a:pos x="48" y="56"/>
                </a:cxn>
                <a:cxn ang="0">
                  <a:pos x="54" y="55"/>
                </a:cxn>
                <a:cxn ang="0">
                  <a:pos x="56" y="51"/>
                </a:cxn>
                <a:cxn ang="0">
                  <a:pos x="58" y="48"/>
                </a:cxn>
                <a:cxn ang="0">
                  <a:pos x="62" y="45"/>
                </a:cxn>
                <a:cxn ang="0">
                  <a:pos x="65" y="42"/>
                </a:cxn>
                <a:cxn ang="0">
                  <a:pos x="66" y="37"/>
                </a:cxn>
                <a:cxn ang="0">
                  <a:pos x="67" y="34"/>
                </a:cxn>
                <a:cxn ang="0">
                  <a:pos x="67" y="31"/>
                </a:cxn>
                <a:cxn ang="0">
                  <a:pos x="67" y="28"/>
                </a:cxn>
                <a:cxn ang="0">
                  <a:pos x="66" y="23"/>
                </a:cxn>
                <a:cxn ang="0">
                  <a:pos x="69" y="19"/>
                </a:cxn>
                <a:cxn ang="0">
                  <a:pos x="69" y="16"/>
                </a:cxn>
                <a:cxn ang="0">
                  <a:pos x="66" y="13"/>
                </a:cxn>
                <a:cxn ang="0">
                  <a:pos x="62" y="8"/>
                </a:cxn>
                <a:cxn ang="0">
                  <a:pos x="61" y="3"/>
                </a:cxn>
                <a:cxn ang="0">
                  <a:pos x="53" y="0"/>
                </a:cxn>
                <a:cxn ang="0">
                  <a:pos x="45" y="3"/>
                </a:cxn>
                <a:cxn ang="0">
                  <a:pos x="41" y="6"/>
                </a:cxn>
              </a:cxnLst>
              <a:rect l="0" t="0" r="r" b="b"/>
              <a:pathLst>
                <a:path w="71" h="57">
                  <a:moveTo>
                    <a:pt x="39" y="7"/>
                  </a:moveTo>
                  <a:lnTo>
                    <a:pt x="36" y="7"/>
                  </a:lnTo>
                  <a:lnTo>
                    <a:pt x="34" y="7"/>
                  </a:lnTo>
                  <a:lnTo>
                    <a:pt x="30" y="7"/>
                  </a:lnTo>
                  <a:lnTo>
                    <a:pt x="27" y="8"/>
                  </a:lnTo>
                  <a:lnTo>
                    <a:pt x="24" y="9"/>
                  </a:lnTo>
                  <a:lnTo>
                    <a:pt x="22" y="9"/>
                  </a:lnTo>
                  <a:lnTo>
                    <a:pt x="20" y="10"/>
                  </a:lnTo>
                  <a:lnTo>
                    <a:pt x="18" y="11"/>
                  </a:lnTo>
                  <a:lnTo>
                    <a:pt x="16" y="12"/>
                  </a:lnTo>
                  <a:lnTo>
                    <a:pt x="13" y="13"/>
                  </a:lnTo>
                  <a:lnTo>
                    <a:pt x="10" y="14"/>
                  </a:lnTo>
                  <a:lnTo>
                    <a:pt x="7" y="15"/>
                  </a:lnTo>
                  <a:lnTo>
                    <a:pt x="5" y="18"/>
                  </a:lnTo>
                  <a:lnTo>
                    <a:pt x="2" y="23"/>
                  </a:lnTo>
                  <a:lnTo>
                    <a:pt x="0" y="28"/>
                  </a:lnTo>
                  <a:lnTo>
                    <a:pt x="0" y="34"/>
                  </a:lnTo>
                  <a:lnTo>
                    <a:pt x="2" y="38"/>
                  </a:lnTo>
                  <a:lnTo>
                    <a:pt x="4" y="41"/>
                  </a:lnTo>
                  <a:lnTo>
                    <a:pt x="7" y="43"/>
                  </a:lnTo>
                  <a:lnTo>
                    <a:pt x="9" y="45"/>
                  </a:lnTo>
                  <a:lnTo>
                    <a:pt x="11" y="46"/>
                  </a:lnTo>
                  <a:lnTo>
                    <a:pt x="13" y="48"/>
                  </a:lnTo>
                  <a:lnTo>
                    <a:pt x="15" y="48"/>
                  </a:lnTo>
                  <a:lnTo>
                    <a:pt x="17" y="48"/>
                  </a:lnTo>
                  <a:lnTo>
                    <a:pt x="20" y="48"/>
                  </a:lnTo>
                  <a:lnTo>
                    <a:pt x="22" y="48"/>
                  </a:lnTo>
                  <a:lnTo>
                    <a:pt x="24" y="48"/>
                  </a:lnTo>
                  <a:lnTo>
                    <a:pt x="25" y="50"/>
                  </a:lnTo>
                  <a:lnTo>
                    <a:pt x="26" y="52"/>
                  </a:lnTo>
                  <a:lnTo>
                    <a:pt x="29" y="52"/>
                  </a:lnTo>
                  <a:lnTo>
                    <a:pt x="32" y="54"/>
                  </a:lnTo>
                  <a:lnTo>
                    <a:pt x="34" y="54"/>
                  </a:lnTo>
                  <a:lnTo>
                    <a:pt x="36" y="54"/>
                  </a:lnTo>
                  <a:lnTo>
                    <a:pt x="39" y="54"/>
                  </a:lnTo>
                  <a:lnTo>
                    <a:pt x="42" y="55"/>
                  </a:lnTo>
                  <a:lnTo>
                    <a:pt x="45" y="55"/>
                  </a:lnTo>
                  <a:lnTo>
                    <a:pt x="48" y="56"/>
                  </a:lnTo>
                  <a:lnTo>
                    <a:pt x="51" y="56"/>
                  </a:lnTo>
                  <a:lnTo>
                    <a:pt x="54" y="55"/>
                  </a:lnTo>
                  <a:lnTo>
                    <a:pt x="55" y="54"/>
                  </a:lnTo>
                  <a:lnTo>
                    <a:pt x="56" y="51"/>
                  </a:lnTo>
                  <a:lnTo>
                    <a:pt x="58" y="49"/>
                  </a:lnTo>
                  <a:lnTo>
                    <a:pt x="58" y="48"/>
                  </a:lnTo>
                  <a:lnTo>
                    <a:pt x="60" y="46"/>
                  </a:lnTo>
                  <a:lnTo>
                    <a:pt x="62" y="45"/>
                  </a:lnTo>
                  <a:lnTo>
                    <a:pt x="64" y="44"/>
                  </a:lnTo>
                  <a:lnTo>
                    <a:pt x="65" y="42"/>
                  </a:lnTo>
                  <a:lnTo>
                    <a:pt x="66" y="40"/>
                  </a:lnTo>
                  <a:lnTo>
                    <a:pt x="66" y="37"/>
                  </a:lnTo>
                  <a:lnTo>
                    <a:pt x="66" y="36"/>
                  </a:lnTo>
                  <a:lnTo>
                    <a:pt x="67" y="34"/>
                  </a:lnTo>
                  <a:lnTo>
                    <a:pt x="67" y="32"/>
                  </a:lnTo>
                  <a:lnTo>
                    <a:pt x="67" y="31"/>
                  </a:lnTo>
                  <a:lnTo>
                    <a:pt x="67" y="30"/>
                  </a:lnTo>
                  <a:lnTo>
                    <a:pt x="67" y="28"/>
                  </a:lnTo>
                  <a:lnTo>
                    <a:pt x="66" y="26"/>
                  </a:lnTo>
                  <a:lnTo>
                    <a:pt x="66" y="23"/>
                  </a:lnTo>
                  <a:lnTo>
                    <a:pt x="68" y="21"/>
                  </a:lnTo>
                  <a:lnTo>
                    <a:pt x="69" y="19"/>
                  </a:lnTo>
                  <a:lnTo>
                    <a:pt x="70" y="18"/>
                  </a:lnTo>
                  <a:lnTo>
                    <a:pt x="69" y="16"/>
                  </a:lnTo>
                  <a:lnTo>
                    <a:pt x="68" y="15"/>
                  </a:lnTo>
                  <a:lnTo>
                    <a:pt x="66" y="13"/>
                  </a:lnTo>
                  <a:lnTo>
                    <a:pt x="64" y="11"/>
                  </a:lnTo>
                  <a:lnTo>
                    <a:pt x="62" y="8"/>
                  </a:lnTo>
                  <a:lnTo>
                    <a:pt x="62" y="5"/>
                  </a:lnTo>
                  <a:lnTo>
                    <a:pt x="61" y="3"/>
                  </a:lnTo>
                  <a:lnTo>
                    <a:pt x="58" y="1"/>
                  </a:lnTo>
                  <a:lnTo>
                    <a:pt x="53" y="0"/>
                  </a:lnTo>
                  <a:lnTo>
                    <a:pt x="48" y="1"/>
                  </a:lnTo>
                  <a:lnTo>
                    <a:pt x="45" y="3"/>
                  </a:lnTo>
                  <a:lnTo>
                    <a:pt x="43" y="4"/>
                  </a:lnTo>
                  <a:lnTo>
                    <a:pt x="41" y="6"/>
                  </a:lnTo>
                  <a:lnTo>
                    <a:pt x="39" y="7"/>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94" name="Freeform 254"/>
            <p:cNvSpPr>
              <a:spLocks noChangeAspect="1"/>
            </p:cNvSpPr>
            <p:nvPr/>
          </p:nvSpPr>
          <p:spPr bwMode="auto">
            <a:xfrm>
              <a:off x="928" y="2648"/>
              <a:ext cx="26" cy="12"/>
            </a:xfrm>
            <a:custGeom>
              <a:avLst/>
              <a:gdLst/>
              <a:ahLst/>
              <a:cxnLst>
                <a:cxn ang="0">
                  <a:pos x="8" y="9"/>
                </a:cxn>
                <a:cxn ang="0">
                  <a:pos x="8" y="9"/>
                </a:cxn>
                <a:cxn ang="0">
                  <a:pos x="7" y="11"/>
                </a:cxn>
                <a:cxn ang="0">
                  <a:pos x="8" y="10"/>
                </a:cxn>
                <a:cxn ang="0">
                  <a:pos x="11" y="9"/>
                </a:cxn>
                <a:cxn ang="0">
                  <a:pos x="13" y="9"/>
                </a:cxn>
                <a:cxn ang="0">
                  <a:pos x="16" y="8"/>
                </a:cxn>
                <a:cxn ang="0">
                  <a:pos x="19" y="8"/>
                </a:cxn>
                <a:cxn ang="0">
                  <a:pos x="22" y="8"/>
                </a:cxn>
                <a:cxn ang="0">
                  <a:pos x="25" y="8"/>
                </a:cxn>
                <a:cxn ang="0">
                  <a:pos x="25" y="0"/>
                </a:cxn>
                <a:cxn ang="0">
                  <a:pos x="22" y="0"/>
                </a:cxn>
                <a:cxn ang="0">
                  <a:pos x="19" y="0"/>
                </a:cxn>
                <a:cxn ang="0">
                  <a:pos x="16" y="0"/>
                </a:cxn>
                <a:cxn ang="0">
                  <a:pos x="12" y="1"/>
                </a:cxn>
                <a:cxn ang="0">
                  <a:pos x="9" y="2"/>
                </a:cxn>
                <a:cxn ang="0">
                  <a:pos x="7" y="2"/>
                </a:cxn>
                <a:cxn ang="0">
                  <a:pos x="3" y="3"/>
                </a:cxn>
                <a:cxn ang="0">
                  <a:pos x="0" y="7"/>
                </a:cxn>
                <a:cxn ang="0">
                  <a:pos x="0" y="8"/>
                </a:cxn>
                <a:cxn ang="0">
                  <a:pos x="8" y="9"/>
                </a:cxn>
              </a:cxnLst>
              <a:rect l="0" t="0" r="r" b="b"/>
              <a:pathLst>
                <a:path w="26" h="12">
                  <a:moveTo>
                    <a:pt x="8" y="9"/>
                  </a:moveTo>
                  <a:lnTo>
                    <a:pt x="8" y="9"/>
                  </a:lnTo>
                  <a:lnTo>
                    <a:pt x="7" y="11"/>
                  </a:lnTo>
                  <a:lnTo>
                    <a:pt x="8" y="10"/>
                  </a:lnTo>
                  <a:lnTo>
                    <a:pt x="11" y="9"/>
                  </a:lnTo>
                  <a:lnTo>
                    <a:pt x="13" y="9"/>
                  </a:lnTo>
                  <a:lnTo>
                    <a:pt x="16" y="8"/>
                  </a:lnTo>
                  <a:lnTo>
                    <a:pt x="19" y="8"/>
                  </a:lnTo>
                  <a:lnTo>
                    <a:pt x="22" y="8"/>
                  </a:lnTo>
                  <a:lnTo>
                    <a:pt x="25" y="8"/>
                  </a:lnTo>
                  <a:lnTo>
                    <a:pt x="25" y="0"/>
                  </a:lnTo>
                  <a:lnTo>
                    <a:pt x="22" y="0"/>
                  </a:lnTo>
                  <a:lnTo>
                    <a:pt x="19" y="0"/>
                  </a:lnTo>
                  <a:lnTo>
                    <a:pt x="16" y="0"/>
                  </a:lnTo>
                  <a:lnTo>
                    <a:pt x="12" y="1"/>
                  </a:lnTo>
                  <a:lnTo>
                    <a:pt x="9" y="2"/>
                  </a:lnTo>
                  <a:lnTo>
                    <a:pt x="7" y="2"/>
                  </a:lnTo>
                  <a:lnTo>
                    <a:pt x="3" y="3"/>
                  </a:lnTo>
                  <a:lnTo>
                    <a:pt x="0" y="7"/>
                  </a:lnTo>
                  <a:lnTo>
                    <a:pt x="0" y="8"/>
                  </a:lnTo>
                  <a:lnTo>
                    <a:pt x="8"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95" name="Freeform 255"/>
            <p:cNvSpPr>
              <a:spLocks noChangeAspect="1"/>
            </p:cNvSpPr>
            <p:nvPr/>
          </p:nvSpPr>
          <p:spPr bwMode="auto">
            <a:xfrm>
              <a:off x="918" y="2654"/>
              <a:ext cx="19" cy="10"/>
            </a:xfrm>
            <a:custGeom>
              <a:avLst/>
              <a:gdLst/>
              <a:ahLst/>
              <a:cxnLst>
                <a:cxn ang="0">
                  <a:pos x="6" y="8"/>
                </a:cxn>
                <a:cxn ang="0">
                  <a:pos x="6" y="8"/>
                </a:cxn>
                <a:cxn ang="0">
                  <a:pos x="7" y="9"/>
                </a:cxn>
                <a:cxn ang="0">
                  <a:pos x="10" y="8"/>
                </a:cxn>
                <a:cxn ang="0">
                  <a:pos x="14" y="7"/>
                </a:cxn>
                <a:cxn ang="0">
                  <a:pos x="18" y="3"/>
                </a:cxn>
                <a:cxn ang="0">
                  <a:pos x="10" y="2"/>
                </a:cxn>
                <a:cxn ang="0">
                  <a:pos x="11" y="0"/>
                </a:cxn>
                <a:cxn ang="0">
                  <a:pos x="8" y="0"/>
                </a:cxn>
                <a:cxn ang="0">
                  <a:pos x="4" y="1"/>
                </a:cxn>
                <a:cxn ang="0">
                  <a:pos x="0" y="4"/>
                </a:cxn>
                <a:cxn ang="0">
                  <a:pos x="6" y="8"/>
                </a:cxn>
              </a:cxnLst>
              <a:rect l="0" t="0" r="r" b="b"/>
              <a:pathLst>
                <a:path w="19" h="10">
                  <a:moveTo>
                    <a:pt x="6" y="8"/>
                  </a:moveTo>
                  <a:lnTo>
                    <a:pt x="6" y="8"/>
                  </a:lnTo>
                  <a:lnTo>
                    <a:pt x="7" y="9"/>
                  </a:lnTo>
                  <a:lnTo>
                    <a:pt x="10" y="8"/>
                  </a:lnTo>
                  <a:lnTo>
                    <a:pt x="14" y="7"/>
                  </a:lnTo>
                  <a:lnTo>
                    <a:pt x="18" y="3"/>
                  </a:lnTo>
                  <a:lnTo>
                    <a:pt x="10" y="2"/>
                  </a:lnTo>
                  <a:lnTo>
                    <a:pt x="11" y="0"/>
                  </a:lnTo>
                  <a:lnTo>
                    <a:pt x="8" y="0"/>
                  </a:lnTo>
                  <a:lnTo>
                    <a:pt x="4" y="1"/>
                  </a:lnTo>
                  <a:lnTo>
                    <a:pt x="0" y="4"/>
                  </a:lnTo>
                  <a:lnTo>
                    <a:pt x="6" y="8"/>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96" name="Freeform 256"/>
            <p:cNvSpPr>
              <a:spLocks noChangeAspect="1"/>
            </p:cNvSpPr>
            <p:nvPr/>
          </p:nvSpPr>
          <p:spPr bwMode="auto">
            <a:xfrm>
              <a:off x="910" y="2658"/>
              <a:ext cx="12" cy="23"/>
            </a:xfrm>
            <a:custGeom>
              <a:avLst/>
              <a:gdLst/>
              <a:ahLst/>
              <a:cxnLst>
                <a:cxn ang="0">
                  <a:pos x="8" y="21"/>
                </a:cxn>
                <a:cxn ang="0">
                  <a:pos x="8" y="21"/>
                </a:cxn>
                <a:cxn ang="0">
                  <a:pos x="8" y="17"/>
                </a:cxn>
                <a:cxn ang="0">
                  <a:pos x="10" y="12"/>
                </a:cxn>
                <a:cxn ang="0">
                  <a:pos x="13" y="7"/>
                </a:cxn>
                <a:cxn ang="0">
                  <a:pos x="14" y="4"/>
                </a:cxn>
                <a:cxn ang="0">
                  <a:pos x="7" y="0"/>
                </a:cxn>
                <a:cxn ang="0">
                  <a:pos x="5" y="3"/>
                </a:cxn>
                <a:cxn ang="0">
                  <a:pos x="2" y="9"/>
                </a:cxn>
                <a:cxn ang="0">
                  <a:pos x="0" y="15"/>
                </a:cxn>
                <a:cxn ang="0">
                  <a:pos x="0" y="22"/>
                </a:cxn>
                <a:cxn ang="0">
                  <a:pos x="8" y="21"/>
                </a:cxn>
              </a:cxnLst>
              <a:rect l="0" t="0" r="r" b="b"/>
              <a:pathLst>
                <a:path w="15" h="23">
                  <a:moveTo>
                    <a:pt x="8" y="21"/>
                  </a:moveTo>
                  <a:lnTo>
                    <a:pt x="8" y="21"/>
                  </a:lnTo>
                  <a:lnTo>
                    <a:pt x="8" y="17"/>
                  </a:lnTo>
                  <a:lnTo>
                    <a:pt x="10" y="12"/>
                  </a:lnTo>
                  <a:lnTo>
                    <a:pt x="13" y="7"/>
                  </a:lnTo>
                  <a:lnTo>
                    <a:pt x="14" y="4"/>
                  </a:lnTo>
                  <a:lnTo>
                    <a:pt x="7" y="0"/>
                  </a:lnTo>
                  <a:lnTo>
                    <a:pt x="5" y="3"/>
                  </a:lnTo>
                  <a:lnTo>
                    <a:pt x="2" y="9"/>
                  </a:lnTo>
                  <a:lnTo>
                    <a:pt x="0" y="15"/>
                  </a:lnTo>
                  <a:lnTo>
                    <a:pt x="0" y="22"/>
                  </a:lnTo>
                  <a:lnTo>
                    <a:pt x="8" y="2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97" name="Freeform 257"/>
            <p:cNvSpPr>
              <a:spLocks noChangeAspect="1"/>
            </p:cNvSpPr>
            <p:nvPr/>
          </p:nvSpPr>
          <p:spPr bwMode="auto">
            <a:xfrm>
              <a:off x="910" y="2678"/>
              <a:ext cx="17" cy="20"/>
            </a:xfrm>
            <a:custGeom>
              <a:avLst/>
              <a:gdLst/>
              <a:ahLst/>
              <a:cxnLst>
                <a:cxn ang="0">
                  <a:pos x="16" y="9"/>
                </a:cxn>
                <a:cxn ang="0">
                  <a:pos x="16" y="10"/>
                </a:cxn>
                <a:cxn ang="0">
                  <a:pos x="14" y="7"/>
                </a:cxn>
                <a:cxn ang="0">
                  <a:pos x="11" y="5"/>
                </a:cxn>
                <a:cxn ang="0">
                  <a:pos x="10" y="3"/>
                </a:cxn>
                <a:cxn ang="0">
                  <a:pos x="8" y="0"/>
                </a:cxn>
                <a:cxn ang="0">
                  <a:pos x="0" y="1"/>
                </a:cxn>
                <a:cxn ang="0">
                  <a:pos x="2" y="7"/>
                </a:cxn>
                <a:cxn ang="0">
                  <a:pos x="6" y="11"/>
                </a:cxn>
                <a:cxn ang="0">
                  <a:pos x="8" y="14"/>
                </a:cxn>
                <a:cxn ang="0">
                  <a:pos x="10" y="15"/>
                </a:cxn>
                <a:cxn ang="0">
                  <a:pos x="10" y="16"/>
                </a:cxn>
                <a:cxn ang="0">
                  <a:pos x="16" y="9"/>
                </a:cxn>
              </a:cxnLst>
              <a:rect l="0" t="0" r="r" b="b"/>
              <a:pathLst>
                <a:path w="17" h="17">
                  <a:moveTo>
                    <a:pt x="16" y="9"/>
                  </a:moveTo>
                  <a:lnTo>
                    <a:pt x="16" y="10"/>
                  </a:lnTo>
                  <a:lnTo>
                    <a:pt x="14" y="7"/>
                  </a:lnTo>
                  <a:lnTo>
                    <a:pt x="11" y="5"/>
                  </a:lnTo>
                  <a:lnTo>
                    <a:pt x="10" y="3"/>
                  </a:lnTo>
                  <a:lnTo>
                    <a:pt x="8" y="0"/>
                  </a:lnTo>
                  <a:lnTo>
                    <a:pt x="0" y="1"/>
                  </a:lnTo>
                  <a:lnTo>
                    <a:pt x="2" y="7"/>
                  </a:lnTo>
                  <a:lnTo>
                    <a:pt x="6" y="11"/>
                  </a:lnTo>
                  <a:lnTo>
                    <a:pt x="8" y="14"/>
                  </a:lnTo>
                  <a:lnTo>
                    <a:pt x="10" y="15"/>
                  </a:lnTo>
                  <a:lnTo>
                    <a:pt x="10" y="16"/>
                  </a:lnTo>
                  <a:lnTo>
                    <a:pt x="16"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98" name="Freeform 258"/>
            <p:cNvSpPr>
              <a:spLocks noChangeAspect="1"/>
            </p:cNvSpPr>
            <p:nvPr/>
          </p:nvSpPr>
          <p:spPr bwMode="auto">
            <a:xfrm>
              <a:off x="920" y="2687"/>
              <a:ext cx="11" cy="12"/>
            </a:xfrm>
            <a:custGeom>
              <a:avLst/>
              <a:gdLst/>
              <a:ahLst/>
              <a:cxnLst>
                <a:cxn ang="0">
                  <a:pos x="11" y="2"/>
                </a:cxn>
                <a:cxn ang="0">
                  <a:pos x="10" y="2"/>
                </a:cxn>
                <a:cxn ang="0">
                  <a:pos x="10" y="2"/>
                </a:cxn>
                <a:cxn ang="0">
                  <a:pos x="9" y="2"/>
                </a:cxn>
                <a:cxn ang="0">
                  <a:pos x="7" y="1"/>
                </a:cxn>
                <a:cxn ang="0">
                  <a:pos x="6" y="0"/>
                </a:cxn>
                <a:cxn ang="0">
                  <a:pos x="0" y="6"/>
                </a:cxn>
                <a:cxn ang="0">
                  <a:pos x="3" y="8"/>
                </a:cxn>
                <a:cxn ang="0">
                  <a:pos x="5" y="10"/>
                </a:cxn>
                <a:cxn ang="0">
                  <a:pos x="8" y="10"/>
                </a:cxn>
                <a:cxn ang="0">
                  <a:pos x="12" y="10"/>
                </a:cxn>
                <a:cxn ang="0">
                  <a:pos x="11" y="11"/>
                </a:cxn>
                <a:cxn ang="0">
                  <a:pos x="11" y="2"/>
                </a:cxn>
              </a:cxnLst>
              <a:rect l="0" t="0" r="r" b="b"/>
              <a:pathLst>
                <a:path w="13" h="12">
                  <a:moveTo>
                    <a:pt x="11" y="2"/>
                  </a:moveTo>
                  <a:lnTo>
                    <a:pt x="10" y="2"/>
                  </a:lnTo>
                  <a:lnTo>
                    <a:pt x="10" y="2"/>
                  </a:lnTo>
                  <a:lnTo>
                    <a:pt x="9" y="2"/>
                  </a:lnTo>
                  <a:lnTo>
                    <a:pt x="7" y="1"/>
                  </a:lnTo>
                  <a:lnTo>
                    <a:pt x="6" y="0"/>
                  </a:lnTo>
                  <a:lnTo>
                    <a:pt x="0" y="6"/>
                  </a:lnTo>
                  <a:lnTo>
                    <a:pt x="3" y="8"/>
                  </a:lnTo>
                  <a:lnTo>
                    <a:pt x="5" y="10"/>
                  </a:lnTo>
                  <a:lnTo>
                    <a:pt x="8" y="10"/>
                  </a:lnTo>
                  <a:lnTo>
                    <a:pt x="12" y="10"/>
                  </a:lnTo>
                  <a:lnTo>
                    <a:pt x="11" y="11"/>
                  </a:lnTo>
                  <a:lnTo>
                    <a:pt x="11"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499" name="Freeform 259"/>
            <p:cNvSpPr>
              <a:spLocks noChangeAspect="1"/>
            </p:cNvSpPr>
            <p:nvPr/>
          </p:nvSpPr>
          <p:spPr bwMode="auto">
            <a:xfrm>
              <a:off x="932" y="2689"/>
              <a:ext cx="12" cy="8"/>
            </a:xfrm>
            <a:custGeom>
              <a:avLst/>
              <a:gdLst/>
              <a:ahLst/>
              <a:cxnLst>
                <a:cxn ang="0">
                  <a:pos x="12" y="5"/>
                </a:cxn>
                <a:cxn ang="0">
                  <a:pos x="11" y="4"/>
                </a:cxn>
                <a:cxn ang="0">
                  <a:pos x="8" y="0"/>
                </a:cxn>
                <a:cxn ang="0">
                  <a:pos x="4" y="0"/>
                </a:cxn>
                <a:cxn ang="0">
                  <a:pos x="2" y="0"/>
                </a:cxn>
                <a:cxn ang="0">
                  <a:pos x="0" y="0"/>
                </a:cxn>
                <a:cxn ang="0">
                  <a:pos x="0" y="9"/>
                </a:cxn>
                <a:cxn ang="0">
                  <a:pos x="2" y="9"/>
                </a:cxn>
                <a:cxn ang="0">
                  <a:pos x="4" y="9"/>
                </a:cxn>
                <a:cxn ang="0">
                  <a:pos x="5" y="8"/>
                </a:cxn>
                <a:cxn ang="0">
                  <a:pos x="4" y="8"/>
                </a:cxn>
                <a:cxn ang="0">
                  <a:pos x="4" y="6"/>
                </a:cxn>
                <a:cxn ang="0">
                  <a:pos x="12" y="5"/>
                </a:cxn>
              </a:cxnLst>
              <a:rect l="0" t="0" r="r" b="b"/>
              <a:pathLst>
                <a:path w="13" h="10">
                  <a:moveTo>
                    <a:pt x="12" y="5"/>
                  </a:moveTo>
                  <a:lnTo>
                    <a:pt x="11" y="4"/>
                  </a:lnTo>
                  <a:lnTo>
                    <a:pt x="8" y="0"/>
                  </a:lnTo>
                  <a:lnTo>
                    <a:pt x="4" y="0"/>
                  </a:lnTo>
                  <a:lnTo>
                    <a:pt x="2" y="0"/>
                  </a:lnTo>
                  <a:lnTo>
                    <a:pt x="0" y="0"/>
                  </a:lnTo>
                  <a:lnTo>
                    <a:pt x="0" y="9"/>
                  </a:lnTo>
                  <a:lnTo>
                    <a:pt x="2" y="9"/>
                  </a:lnTo>
                  <a:lnTo>
                    <a:pt x="4" y="9"/>
                  </a:lnTo>
                  <a:lnTo>
                    <a:pt x="5" y="8"/>
                  </a:lnTo>
                  <a:lnTo>
                    <a:pt x="4" y="8"/>
                  </a:lnTo>
                  <a:lnTo>
                    <a:pt x="4" y="6"/>
                  </a:lnTo>
                  <a:lnTo>
                    <a:pt x="12" y="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00" name="Freeform 260"/>
            <p:cNvSpPr>
              <a:spLocks noChangeAspect="1"/>
            </p:cNvSpPr>
            <p:nvPr/>
          </p:nvSpPr>
          <p:spPr bwMode="auto">
            <a:xfrm>
              <a:off x="935" y="2694"/>
              <a:ext cx="14" cy="8"/>
            </a:xfrm>
            <a:custGeom>
              <a:avLst/>
              <a:gdLst/>
              <a:ahLst/>
              <a:cxnLst>
                <a:cxn ang="0">
                  <a:pos x="13" y="1"/>
                </a:cxn>
                <a:cxn ang="0">
                  <a:pos x="13" y="1"/>
                </a:cxn>
                <a:cxn ang="0">
                  <a:pos x="11" y="1"/>
                </a:cxn>
                <a:cxn ang="0">
                  <a:pos x="9" y="0"/>
                </a:cxn>
                <a:cxn ang="0">
                  <a:pos x="7" y="0"/>
                </a:cxn>
                <a:cxn ang="0">
                  <a:pos x="8" y="1"/>
                </a:cxn>
                <a:cxn ang="0">
                  <a:pos x="0" y="2"/>
                </a:cxn>
                <a:cxn ang="0">
                  <a:pos x="3" y="7"/>
                </a:cxn>
                <a:cxn ang="0">
                  <a:pos x="6" y="8"/>
                </a:cxn>
                <a:cxn ang="0">
                  <a:pos x="10" y="9"/>
                </a:cxn>
                <a:cxn ang="0">
                  <a:pos x="13" y="10"/>
                </a:cxn>
                <a:cxn ang="0">
                  <a:pos x="13" y="1"/>
                </a:cxn>
              </a:cxnLst>
              <a:rect l="0" t="0" r="r" b="b"/>
              <a:pathLst>
                <a:path w="14" h="11">
                  <a:moveTo>
                    <a:pt x="13" y="1"/>
                  </a:moveTo>
                  <a:lnTo>
                    <a:pt x="13" y="1"/>
                  </a:lnTo>
                  <a:lnTo>
                    <a:pt x="11" y="1"/>
                  </a:lnTo>
                  <a:lnTo>
                    <a:pt x="9" y="0"/>
                  </a:lnTo>
                  <a:lnTo>
                    <a:pt x="7" y="0"/>
                  </a:lnTo>
                  <a:lnTo>
                    <a:pt x="8" y="1"/>
                  </a:lnTo>
                  <a:lnTo>
                    <a:pt x="0" y="2"/>
                  </a:lnTo>
                  <a:lnTo>
                    <a:pt x="3" y="7"/>
                  </a:lnTo>
                  <a:lnTo>
                    <a:pt x="6" y="8"/>
                  </a:lnTo>
                  <a:lnTo>
                    <a:pt x="10" y="9"/>
                  </a:lnTo>
                  <a:lnTo>
                    <a:pt x="13" y="10"/>
                  </a:lnTo>
                  <a:lnTo>
                    <a:pt x="13"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01" name="Freeform 261"/>
            <p:cNvSpPr>
              <a:spLocks noChangeAspect="1"/>
            </p:cNvSpPr>
            <p:nvPr/>
          </p:nvSpPr>
          <p:spPr bwMode="auto">
            <a:xfrm>
              <a:off x="948" y="2694"/>
              <a:ext cx="23" cy="12"/>
            </a:xfrm>
            <a:custGeom>
              <a:avLst/>
              <a:gdLst/>
              <a:ahLst/>
              <a:cxnLst>
                <a:cxn ang="0">
                  <a:pos x="17" y="3"/>
                </a:cxn>
                <a:cxn ang="0">
                  <a:pos x="17" y="3"/>
                </a:cxn>
                <a:cxn ang="0">
                  <a:pos x="17" y="2"/>
                </a:cxn>
                <a:cxn ang="0">
                  <a:pos x="17" y="3"/>
                </a:cxn>
                <a:cxn ang="0">
                  <a:pos x="14" y="3"/>
                </a:cxn>
                <a:cxn ang="0">
                  <a:pos x="11" y="2"/>
                </a:cxn>
                <a:cxn ang="0">
                  <a:pos x="7" y="2"/>
                </a:cxn>
                <a:cxn ang="0">
                  <a:pos x="5" y="1"/>
                </a:cxn>
                <a:cxn ang="0">
                  <a:pos x="2" y="1"/>
                </a:cxn>
                <a:cxn ang="0">
                  <a:pos x="0" y="0"/>
                </a:cxn>
                <a:cxn ang="0">
                  <a:pos x="0" y="9"/>
                </a:cxn>
                <a:cxn ang="0">
                  <a:pos x="2" y="9"/>
                </a:cxn>
                <a:cxn ang="0">
                  <a:pos x="4" y="9"/>
                </a:cxn>
                <a:cxn ang="0">
                  <a:pos x="7" y="10"/>
                </a:cxn>
                <a:cxn ang="0">
                  <a:pos x="11" y="10"/>
                </a:cxn>
                <a:cxn ang="0">
                  <a:pos x="14" y="11"/>
                </a:cxn>
                <a:cxn ang="0">
                  <a:pos x="17" y="11"/>
                </a:cxn>
                <a:cxn ang="0">
                  <a:pos x="21" y="10"/>
                </a:cxn>
                <a:cxn ang="0">
                  <a:pos x="24" y="7"/>
                </a:cxn>
                <a:cxn ang="0">
                  <a:pos x="17" y="3"/>
                </a:cxn>
              </a:cxnLst>
              <a:rect l="0" t="0" r="r" b="b"/>
              <a:pathLst>
                <a:path w="25" h="12">
                  <a:moveTo>
                    <a:pt x="17" y="3"/>
                  </a:moveTo>
                  <a:lnTo>
                    <a:pt x="17" y="3"/>
                  </a:lnTo>
                  <a:lnTo>
                    <a:pt x="17" y="2"/>
                  </a:lnTo>
                  <a:lnTo>
                    <a:pt x="17" y="3"/>
                  </a:lnTo>
                  <a:lnTo>
                    <a:pt x="14" y="3"/>
                  </a:lnTo>
                  <a:lnTo>
                    <a:pt x="11" y="2"/>
                  </a:lnTo>
                  <a:lnTo>
                    <a:pt x="7" y="2"/>
                  </a:lnTo>
                  <a:lnTo>
                    <a:pt x="5" y="1"/>
                  </a:lnTo>
                  <a:lnTo>
                    <a:pt x="2" y="1"/>
                  </a:lnTo>
                  <a:lnTo>
                    <a:pt x="0" y="0"/>
                  </a:lnTo>
                  <a:lnTo>
                    <a:pt x="0" y="9"/>
                  </a:lnTo>
                  <a:lnTo>
                    <a:pt x="2" y="9"/>
                  </a:lnTo>
                  <a:lnTo>
                    <a:pt x="4" y="9"/>
                  </a:lnTo>
                  <a:lnTo>
                    <a:pt x="7" y="10"/>
                  </a:lnTo>
                  <a:lnTo>
                    <a:pt x="11" y="10"/>
                  </a:lnTo>
                  <a:lnTo>
                    <a:pt x="14" y="11"/>
                  </a:lnTo>
                  <a:lnTo>
                    <a:pt x="17" y="11"/>
                  </a:lnTo>
                  <a:lnTo>
                    <a:pt x="21" y="10"/>
                  </a:lnTo>
                  <a:lnTo>
                    <a:pt x="24" y="7"/>
                  </a:lnTo>
                  <a:lnTo>
                    <a:pt x="17" y="3"/>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02" name="Freeform 262"/>
            <p:cNvSpPr>
              <a:spLocks noChangeAspect="1"/>
            </p:cNvSpPr>
            <p:nvPr/>
          </p:nvSpPr>
          <p:spPr bwMode="auto">
            <a:xfrm>
              <a:off x="966" y="2688"/>
              <a:ext cx="11" cy="14"/>
            </a:xfrm>
            <a:custGeom>
              <a:avLst/>
              <a:gdLst/>
              <a:ahLst/>
              <a:cxnLst>
                <a:cxn ang="0">
                  <a:pos x="6" y="0"/>
                </a:cxn>
                <a:cxn ang="0">
                  <a:pos x="5" y="1"/>
                </a:cxn>
                <a:cxn ang="0">
                  <a:pos x="3" y="3"/>
                </a:cxn>
                <a:cxn ang="0">
                  <a:pos x="2" y="5"/>
                </a:cxn>
                <a:cxn ang="0">
                  <a:pos x="0" y="7"/>
                </a:cxn>
                <a:cxn ang="0">
                  <a:pos x="0" y="9"/>
                </a:cxn>
                <a:cxn ang="0">
                  <a:pos x="6" y="13"/>
                </a:cxn>
                <a:cxn ang="0">
                  <a:pos x="8" y="11"/>
                </a:cxn>
                <a:cxn ang="0">
                  <a:pos x="10" y="9"/>
                </a:cxn>
                <a:cxn ang="0">
                  <a:pos x="10" y="8"/>
                </a:cxn>
                <a:cxn ang="0">
                  <a:pos x="10" y="7"/>
                </a:cxn>
                <a:cxn ang="0">
                  <a:pos x="9" y="8"/>
                </a:cxn>
                <a:cxn ang="0">
                  <a:pos x="6" y="0"/>
                </a:cxn>
              </a:cxnLst>
              <a:rect l="0" t="0" r="r" b="b"/>
              <a:pathLst>
                <a:path w="11" h="14">
                  <a:moveTo>
                    <a:pt x="6" y="0"/>
                  </a:moveTo>
                  <a:lnTo>
                    <a:pt x="5" y="1"/>
                  </a:lnTo>
                  <a:lnTo>
                    <a:pt x="3" y="3"/>
                  </a:lnTo>
                  <a:lnTo>
                    <a:pt x="2" y="5"/>
                  </a:lnTo>
                  <a:lnTo>
                    <a:pt x="0" y="7"/>
                  </a:lnTo>
                  <a:lnTo>
                    <a:pt x="0" y="9"/>
                  </a:lnTo>
                  <a:lnTo>
                    <a:pt x="6" y="13"/>
                  </a:lnTo>
                  <a:lnTo>
                    <a:pt x="8" y="11"/>
                  </a:lnTo>
                  <a:lnTo>
                    <a:pt x="10" y="9"/>
                  </a:lnTo>
                  <a:lnTo>
                    <a:pt x="10" y="8"/>
                  </a:lnTo>
                  <a:lnTo>
                    <a:pt x="10" y="7"/>
                  </a:lnTo>
                  <a:lnTo>
                    <a:pt x="9" y="8"/>
                  </a:lnTo>
                  <a:lnTo>
                    <a:pt x="6"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03" name="Freeform 263"/>
            <p:cNvSpPr>
              <a:spLocks noChangeAspect="1"/>
            </p:cNvSpPr>
            <p:nvPr/>
          </p:nvSpPr>
          <p:spPr bwMode="auto">
            <a:xfrm>
              <a:off x="972" y="2684"/>
              <a:ext cx="13" cy="14"/>
            </a:xfrm>
            <a:custGeom>
              <a:avLst/>
              <a:gdLst/>
              <a:ahLst/>
              <a:cxnLst>
                <a:cxn ang="0">
                  <a:pos x="4" y="0"/>
                </a:cxn>
                <a:cxn ang="0">
                  <a:pos x="4" y="0"/>
                </a:cxn>
                <a:cxn ang="0">
                  <a:pos x="3" y="1"/>
                </a:cxn>
                <a:cxn ang="0">
                  <a:pos x="2" y="3"/>
                </a:cxn>
                <a:cxn ang="0">
                  <a:pos x="0" y="3"/>
                </a:cxn>
                <a:cxn ang="0">
                  <a:pos x="3" y="12"/>
                </a:cxn>
                <a:cxn ang="0">
                  <a:pos x="6" y="10"/>
                </a:cxn>
                <a:cxn ang="0">
                  <a:pos x="8" y="9"/>
                </a:cxn>
                <a:cxn ang="0">
                  <a:pos x="11" y="5"/>
                </a:cxn>
                <a:cxn ang="0">
                  <a:pos x="12" y="1"/>
                </a:cxn>
                <a:cxn ang="0">
                  <a:pos x="4" y="0"/>
                </a:cxn>
              </a:cxnLst>
              <a:rect l="0" t="0" r="r" b="b"/>
              <a:pathLst>
                <a:path w="13" h="13">
                  <a:moveTo>
                    <a:pt x="4" y="0"/>
                  </a:moveTo>
                  <a:lnTo>
                    <a:pt x="4" y="0"/>
                  </a:lnTo>
                  <a:lnTo>
                    <a:pt x="3" y="1"/>
                  </a:lnTo>
                  <a:lnTo>
                    <a:pt x="2" y="3"/>
                  </a:lnTo>
                  <a:lnTo>
                    <a:pt x="0" y="3"/>
                  </a:lnTo>
                  <a:lnTo>
                    <a:pt x="3" y="12"/>
                  </a:lnTo>
                  <a:lnTo>
                    <a:pt x="6" y="10"/>
                  </a:lnTo>
                  <a:lnTo>
                    <a:pt x="8" y="9"/>
                  </a:lnTo>
                  <a:lnTo>
                    <a:pt x="11" y="5"/>
                  </a:lnTo>
                  <a:lnTo>
                    <a:pt x="12" y="1"/>
                  </a:lnTo>
                  <a:lnTo>
                    <a:pt x="4"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04" name="Freeform 264"/>
            <p:cNvSpPr>
              <a:spLocks noChangeAspect="1"/>
            </p:cNvSpPr>
            <p:nvPr/>
          </p:nvSpPr>
          <p:spPr bwMode="auto">
            <a:xfrm>
              <a:off x="976" y="2678"/>
              <a:ext cx="11" cy="9"/>
            </a:xfrm>
            <a:custGeom>
              <a:avLst/>
              <a:gdLst/>
              <a:ahLst/>
              <a:cxnLst>
                <a:cxn ang="0">
                  <a:pos x="0" y="0"/>
                </a:cxn>
                <a:cxn ang="0">
                  <a:pos x="0" y="0"/>
                </a:cxn>
                <a:cxn ang="0">
                  <a:pos x="1" y="1"/>
                </a:cxn>
                <a:cxn ang="0">
                  <a:pos x="0" y="3"/>
                </a:cxn>
                <a:cxn ang="0">
                  <a:pos x="0" y="4"/>
                </a:cxn>
                <a:cxn ang="0">
                  <a:pos x="0" y="7"/>
                </a:cxn>
                <a:cxn ang="0">
                  <a:pos x="8" y="8"/>
                </a:cxn>
                <a:cxn ang="0">
                  <a:pos x="8" y="5"/>
                </a:cxn>
                <a:cxn ang="0">
                  <a:pos x="8" y="4"/>
                </a:cxn>
                <a:cxn ang="0">
                  <a:pos x="9" y="3"/>
                </a:cxn>
                <a:cxn ang="0">
                  <a:pos x="10" y="0"/>
                </a:cxn>
                <a:cxn ang="0">
                  <a:pos x="0" y="0"/>
                </a:cxn>
              </a:cxnLst>
              <a:rect l="0" t="0" r="r" b="b"/>
              <a:pathLst>
                <a:path w="11" h="9">
                  <a:moveTo>
                    <a:pt x="0" y="0"/>
                  </a:moveTo>
                  <a:lnTo>
                    <a:pt x="0" y="0"/>
                  </a:lnTo>
                  <a:lnTo>
                    <a:pt x="1" y="1"/>
                  </a:lnTo>
                  <a:lnTo>
                    <a:pt x="0" y="3"/>
                  </a:lnTo>
                  <a:lnTo>
                    <a:pt x="0" y="4"/>
                  </a:lnTo>
                  <a:lnTo>
                    <a:pt x="0" y="7"/>
                  </a:lnTo>
                  <a:lnTo>
                    <a:pt x="8" y="8"/>
                  </a:lnTo>
                  <a:lnTo>
                    <a:pt x="8" y="5"/>
                  </a:lnTo>
                  <a:lnTo>
                    <a:pt x="8" y="4"/>
                  </a:lnTo>
                  <a:lnTo>
                    <a:pt x="9" y="3"/>
                  </a:lnTo>
                  <a:lnTo>
                    <a:pt x="10" y="0"/>
                  </a:lnTo>
                  <a:lnTo>
                    <a:pt x="0"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05" name="Freeform 265"/>
            <p:cNvSpPr>
              <a:spLocks noChangeAspect="1"/>
            </p:cNvSpPr>
            <p:nvPr/>
          </p:nvSpPr>
          <p:spPr bwMode="auto">
            <a:xfrm>
              <a:off x="976" y="2674"/>
              <a:ext cx="11" cy="2"/>
            </a:xfrm>
            <a:custGeom>
              <a:avLst/>
              <a:gdLst/>
              <a:ahLst/>
              <a:cxnLst>
                <a:cxn ang="0">
                  <a:pos x="1" y="1"/>
                </a:cxn>
                <a:cxn ang="0">
                  <a:pos x="5" y="1"/>
                </a:cxn>
                <a:cxn ang="0">
                  <a:pos x="0" y="1"/>
                </a:cxn>
                <a:cxn ang="0">
                  <a:pos x="0" y="3"/>
                </a:cxn>
                <a:cxn ang="0">
                  <a:pos x="0" y="4"/>
                </a:cxn>
                <a:cxn ang="0">
                  <a:pos x="10" y="4"/>
                </a:cxn>
                <a:cxn ang="0">
                  <a:pos x="10" y="3"/>
                </a:cxn>
                <a:cxn ang="0">
                  <a:pos x="10" y="1"/>
                </a:cxn>
                <a:cxn ang="0">
                  <a:pos x="5" y="1"/>
                </a:cxn>
                <a:cxn ang="0">
                  <a:pos x="9" y="0"/>
                </a:cxn>
                <a:cxn ang="0">
                  <a:pos x="10" y="1"/>
                </a:cxn>
                <a:cxn ang="0">
                  <a:pos x="10" y="0"/>
                </a:cxn>
                <a:cxn ang="0">
                  <a:pos x="9" y="0"/>
                </a:cxn>
                <a:cxn ang="0">
                  <a:pos x="1" y="1"/>
                </a:cxn>
              </a:cxnLst>
              <a:rect l="0" t="0" r="r" b="b"/>
              <a:pathLst>
                <a:path w="11" h="5">
                  <a:moveTo>
                    <a:pt x="1" y="1"/>
                  </a:moveTo>
                  <a:lnTo>
                    <a:pt x="5" y="1"/>
                  </a:lnTo>
                  <a:lnTo>
                    <a:pt x="0" y="1"/>
                  </a:lnTo>
                  <a:lnTo>
                    <a:pt x="0" y="3"/>
                  </a:lnTo>
                  <a:lnTo>
                    <a:pt x="0" y="4"/>
                  </a:lnTo>
                  <a:lnTo>
                    <a:pt x="10" y="4"/>
                  </a:lnTo>
                  <a:lnTo>
                    <a:pt x="10" y="3"/>
                  </a:lnTo>
                  <a:lnTo>
                    <a:pt x="10" y="1"/>
                  </a:lnTo>
                  <a:lnTo>
                    <a:pt x="5" y="1"/>
                  </a:lnTo>
                  <a:lnTo>
                    <a:pt x="9" y="0"/>
                  </a:lnTo>
                  <a:lnTo>
                    <a:pt x="10" y="1"/>
                  </a:lnTo>
                  <a:lnTo>
                    <a:pt x="10" y="0"/>
                  </a:lnTo>
                  <a:lnTo>
                    <a:pt x="9" y="0"/>
                  </a:lnTo>
                  <a:lnTo>
                    <a:pt x="1"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06" name="Freeform 266"/>
            <p:cNvSpPr>
              <a:spLocks noChangeAspect="1"/>
            </p:cNvSpPr>
            <p:nvPr/>
          </p:nvSpPr>
          <p:spPr bwMode="auto">
            <a:xfrm>
              <a:off x="976" y="2663"/>
              <a:ext cx="10" cy="14"/>
            </a:xfrm>
            <a:custGeom>
              <a:avLst/>
              <a:gdLst/>
              <a:ahLst/>
              <a:cxnLst>
                <a:cxn ang="0">
                  <a:pos x="3" y="1"/>
                </a:cxn>
                <a:cxn ang="0">
                  <a:pos x="3" y="0"/>
                </a:cxn>
                <a:cxn ang="0">
                  <a:pos x="0" y="5"/>
                </a:cxn>
                <a:cxn ang="0">
                  <a:pos x="0" y="9"/>
                </a:cxn>
                <a:cxn ang="0">
                  <a:pos x="1" y="12"/>
                </a:cxn>
                <a:cxn ang="0">
                  <a:pos x="1" y="13"/>
                </a:cxn>
                <a:cxn ang="0">
                  <a:pos x="9" y="12"/>
                </a:cxn>
                <a:cxn ang="0">
                  <a:pos x="9" y="10"/>
                </a:cxn>
                <a:cxn ang="0">
                  <a:pos x="8" y="9"/>
                </a:cxn>
                <a:cxn ang="0">
                  <a:pos x="8" y="6"/>
                </a:cxn>
                <a:cxn ang="0">
                  <a:pos x="8" y="7"/>
                </a:cxn>
                <a:cxn ang="0">
                  <a:pos x="8" y="6"/>
                </a:cxn>
                <a:cxn ang="0">
                  <a:pos x="3" y="1"/>
                </a:cxn>
              </a:cxnLst>
              <a:rect l="0" t="0" r="r" b="b"/>
              <a:pathLst>
                <a:path w="10" h="14">
                  <a:moveTo>
                    <a:pt x="3" y="1"/>
                  </a:moveTo>
                  <a:lnTo>
                    <a:pt x="3" y="0"/>
                  </a:lnTo>
                  <a:lnTo>
                    <a:pt x="0" y="5"/>
                  </a:lnTo>
                  <a:lnTo>
                    <a:pt x="0" y="9"/>
                  </a:lnTo>
                  <a:lnTo>
                    <a:pt x="1" y="12"/>
                  </a:lnTo>
                  <a:lnTo>
                    <a:pt x="1" y="13"/>
                  </a:lnTo>
                  <a:lnTo>
                    <a:pt x="9" y="12"/>
                  </a:lnTo>
                  <a:lnTo>
                    <a:pt x="9" y="10"/>
                  </a:lnTo>
                  <a:lnTo>
                    <a:pt x="8" y="9"/>
                  </a:lnTo>
                  <a:lnTo>
                    <a:pt x="8" y="6"/>
                  </a:lnTo>
                  <a:lnTo>
                    <a:pt x="8" y="7"/>
                  </a:lnTo>
                  <a:lnTo>
                    <a:pt x="8" y="6"/>
                  </a:lnTo>
                  <a:lnTo>
                    <a:pt x="3" y="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07" name="Freeform 267"/>
            <p:cNvSpPr>
              <a:spLocks noChangeAspect="1"/>
            </p:cNvSpPr>
            <p:nvPr/>
          </p:nvSpPr>
          <p:spPr bwMode="auto">
            <a:xfrm>
              <a:off x="979" y="2657"/>
              <a:ext cx="10" cy="16"/>
            </a:xfrm>
            <a:custGeom>
              <a:avLst/>
              <a:gdLst/>
              <a:ahLst/>
              <a:cxnLst>
                <a:cxn ang="0">
                  <a:pos x="0" y="6"/>
                </a:cxn>
                <a:cxn ang="0">
                  <a:pos x="0" y="6"/>
                </a:cxn>
                <a:cxn ang="0">
                  <a:pos x="0" y="7"/>
                </a:cxn>
                <a:cxn ang="0">
                  <a:pos x="0" y="6"/>
                </a:cxn>
                <a:cxn ang="0">
                  <a:pos x="0" y="5"/>
                </a:cxn>
                <a:cxn ang="0">
                  <a:pos x="0" y="6"/>
                </a:cxn>
                <a:cxn ang="0">
                  <a:pos x="5" y="12"/>
                </a:cxn>
                <a:cxn ang="0">
                  <a:pos x="8" y="9"/>
                </a:cxn>
                <a:cxn ang="0">
                  <a:pos x="9" y="6"/>
                </a:cxn>
                <a:cxn ang="0">
                  <a:pos x="7" y="2"/>
                </a:cxn>
                <a:cxn ang="0">
                  <a:pos x="4" y="0"/>
                </a:cxn>
                <a:cxn ang="0">
                  <a:pos x="5" y="0"/>
                </a:cxn>
                <a:cxn ang="0">
                  <a:pos x="0" y="6"/>
                </a:cxn>
              </a:cxnLst>
              <a:rect l="0" t="0" r="r" b="b"/>
              <a:pathLst>
                <a:path w="10" h="13">
                  <a:moveTo>
                    <a:pt x="0" y="6"/>
                  </a:moveTo>
                  <a:lnTo>
                    <a:pt x="0" y="6"/>
                  </a:lnTo>
                  <a:lnTo>
                    <a:pt x="0" y="7"/>
                  </a:lnTo>
                  <a:lnTo>
                    <a:pt x="0" y="6"/>
                  </a:lnTo>
                  <a:lnTo>
                    <a:pt x="0" y="5"/>
                  </a:lnTo>
                  <a:lnTo>
                    <a:pt x="0" y="6"/>
                  </a:lnTo>
                  <a:lnTo>
                    <a:pt x="5" y="12"/>
                  </a:lnTo>
                  <a:lnTo>
                    <a:pt x="8" y="9"/>
                  </a:lnTo>
                  <a:lnTo>
                    <a:pt x="9" y="6"/>
                  </a:lnTo>
                  <a:lnTo>
                    <a:pt x="7" y="2"/>
                  </a:lnTo>
                  <a:lnTo>
                    <a:pt x="4" y="0"/>
                  </a:lnTo>
                  <a:lnTo>
                    <a:pt x="5" y="0"/>
                  </a:lnTo>
                  <a:lnTo>
                    <a:pt x="0" y="6"/>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08" name="Freeform 268"/>
            <p:cNvSpPr>
              <a:spLocks noChangeAspect="1"/>
            </p:cNvSpPr>
            <p:nvPr/>
          </p:nvSpPr>
          <p:spPr bwMode="auto">
            <a:xfrm>
              <a:off x="972" y="2648"/>
              <a:ext cx="13" cy="16"/>
            </a:xfrm>
            <a:custGeom>
              <a:avLst/>
              <a:gdLst/>
              <a:ahLst/>
              <a:cxnLst>
                <a:cxn ang="0">
                  <a:pos x="0" y="2"/>
                </a:cxn>
                <a:cxn ang="0">
                  <a:pos x="0" y="0"/>
                </a:cxn>
                <a:cxn ang="0">
                  <a:pos x="0" y="6"/>
                </a:cxn>
                <a:cxn ang="0">
                  <a:pos x="2" y="10"/>
                </a:cxn>
                <a:cxn ang="0">
                  <a:pos x="4" y="13"/>
                </a:cxn>
                <a:cxn ang="0">
                  <a:pos x="7" y="15"/>
                </a:cxn>
                <a:cxn ang="0">
                  <a:pos x="12" y="9"/>
                </a:cxn>
                <a:cxn ang="0">
                  <a:pos x="11" y="8"/>
                </a:cxn>
                <a:cxn ang="0">
                  <a:pos x="9" y="5"/>
                </a:cxn>
                <a:cxn ang="0">
                  <a:pos x="8" y="4"/>
                </a:cxn>
                <a:cxn ang="0">
                  <a:pos x="8" y="4"/>
                </a:cxn>
                <a:cxn ang="0">
                  <a:pos x="8" y="3"/>
                </a:cxn>
                <a:cxn ang="0">
                  <a:pos x="0" y="2"/>
                </a:cxn>
              </a:cxnLst>
              <a:rect l="0" t="0" r="r" b="b"/>
              <a:pathLst>
                <a:path w="13" h="16">
                  <a:moveTo>
                    <a:pt x="0" y="2"/>
                  </a:moveTo>
                  <a:lnTo>
                    <a:pt x="0" y="0"/>
                  </a:lnTo>
                  <a:lnTo>
                    <a:pt x="0" y="6"/>
                  </a:lnTo>
                  <a:lnTo>
                    <a:pt x="2" y="10"/>
                  </a:lnTo>
                  <a:lnTo>
                    <a:pt x="4" y="13"/>
                  </a:lnTo>
                  <a:lnTo>
                    <a:pt x="7" y="15"/>
                  </a:lnTo>
                  <a:lnTo>
                    <a:pt x="12" y="9"/>
                  </a:lnTo>
                  <a:lnTo>
                    <a:pt x="11" y="8"/>
                  </a:lnTo>
                  <a:lnTo>
                    <a:pt x="9" y="5"/>
                  </a:lnTo>
                  <a:lnTo>
                    <a:pt x="8" y="4"/>
                  </a:lnTo>
                  <a:lnTo>
                    <a:pt x="8" y="4"/>
                  </a:lnTo>
                  <a:lnTo>
                    <a:pt x="8" y="3"/>
                  </a:lnTo>
                  <a:lnTo>
                    <a:pt x="0"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09" name="Freeform 269"/>
            <p:cNvSpPr>
              <a:spLocks noChangeAspect="1"/>
            </p:cNvSpPr>
            <p:nvPr/>
          </p:nvSpPr>
          <p:spPr bwMode="auto">
            <a:xfrm>
              <a:off x="962" y="2641"/>
              <a:ext cx="20" cy="12"/>
            </a:xfrm>
            <a:custGeom>
              <a:avLst/>
              <a:gdLst/>
              <a:ahLst/>
              <a:cxnLst>
                <a:cxn ang="0">
                  <a:pos x="3" y="9"/>
                </a:cxn>
                <a:cxn ang="0">
                  <a:pos x="3" y="9"/>
                </a:cxn>
                <a:cxn ang="0">
                  <a:pos x="6" y="8"/>
                </a:cxn>
                <a:cxn ang="0">
                  <a:pos x="9" y="9"/>
                </a:cxn>
                <a:cxn ang="0">
                  <a:pos x="11" y="10"/>
                </a:cxn>
                <a:cxn ang="0">
                  <a:pos x="11" y="9"/>
                </a:cxn>
                <a:cxn ang="0">
                  <a:pos x="19" y="10"/>
                </a:cxn>
                <a:cxn ang="0">
                  <a:pos x="17" y="5"/>
                </a:cxn>
                <a:cxn ang="0">
                  <a:pos x="12" y="1"/>
                </a:cxn>
                <a:cxn ang="0">
                  <a:pos x="6" y="0"/>
                </a:cxn>
                <a:cxn ang="0">
                  <a:pos x="0" y="1"/>
                </a:cxn>
                <a:cxn ang="0">
                  <a:pos x="3" y="9"/>
                </a:cxn>
              </a:cxnLst>
              <a:rect l="0" t="0" r="r" b="b"/>
              <a:pathLst>
                <a:path w="20" h="11">
                  <a:moveTo>
                    <a:pt x="3" y="9"/>
                  </a:moveTo>
                  <a:lnTo>
                    <a:pt x="3" y="9"/>
                  </a:lnTo>
                  <a:lnTo>
                    <a:pt x="6" y="8"/>
                  </a:lnTo>
                  <a:lnTo>
                    <a:pt x="9" y="9"/>
                  </a:lnTo>
                  <a:lnTo>
                    <a:pt x="11" y="10"/>
                  </a:lnTo>
                  <a:lnTo>
                    <a:pt x="11" y="9"/>
                  </a:lnTo>
                  <a:lnTo>
                    <a:pt x="19" y="10"/>
                  </a:lnTo>
                  <a:lnTo>
                    <a:pt x="17" y="5"/>
                  </a:lnTo>
                  <a:lnTo>
                    <a:pt x="12" y="1"/>
                  </a:lnTo>
                  <a:lnTo>
                    <a:pt x="6" y="0"/>
                  </a:lnTo>
                  <a:lnTo>
                    <a:pt x="0" y="1"/>
                  </a:lnTo>
                  <a:lnTo>
                    <a:pt x="3"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10" name="Freeform 270"/>
            <p:cNvSpPr>
              <a:spLocks noChangeAspect="1"/>
            </p:cNvSpPr>
            <p:nvPr/>
          </p:nvSpPr>
          <p:spPr bwMode="auto">
            <a:xfrm>
              <a:off x="952" y="2642"/>
              <a:ext cx="13" cy="15"/>
            </a:xfrm>
            <a:custGeom>
              <a:avLst/>
              <a:gdLst/>
              <a:ahLst/>
              <a:cxnLst>
                <a:cxn ang="0">
                  <a:pos x="1" y="14"/>
                </a:cxn>
                <a:cxn ang="0">
                  <a:pos x="2" y="14"/>
                </a:cxn>
                <a:cxn ang="0">
                  <a:pos x="5" y="12"/>
                </a:cxn>
                <a:cxn ang="0">
                  <a:pos x="8" y="10"/>
                </a:cxn>
                <a:cxn ang="0">
                  <a:pos x="9" y="9"/>
                </a:cxn>
                <a:cxn ang="0">
                  <a:pos x="12" y="8"/>
                </a:cxn>
                <a:cxn ang="0">
                  <a:pos x="9" y="0"/>
                </a:cxn>
                <a:cxn ang="0">
                  <a:pos x="5" y="2"/>
                </a:cxn>
                <a:cxn ang="0">
                  <a:pos x="2" y="4"/>
                </a:cxn>
                <a:cxn ang="0">
                  <a:pos x="1" y="6"/>
                </a:cxn>
                <a:cxn ang="0">
                  <a:pos x="0" y="6"/>
                </a:cxn>
                <a:cxn ang="0">
                  <a:pos x="1" y="6"/>
                </a:cxn>
                <a:cxn ang="0">
                  <a:pos x="1" y="14"/>
                </a:cxn>
              </a:cxnLst>
              <a:rect l="0" t="0" r="r" b="b"/>
              <a:pathLst>
                <a:path w="13" h="15">
                  <a:moveTo>
                    <a:pt x="1" y="14"/>
                  </a:moveTo>
                  <a:lnTo>
                    <a:pt x="2" y="14"/>
                  </a:lnTo>
                  <a:lnTo>
                    <a:pt x="5" y="12"/>
                  </a:lnTo>
                  <a:lnTo>
                    <a:pt x="8" y="10"/>
                  </a:lnTo>
                  <a:lnTo>
                    <a:pt x="9" y="9"/>
                  </a:lnTo>
                  <a:lnTo>
                    <a:pt x="12" y="8"/>
                  </a:lnTo>
                  <a:lnTo>
                    <a:pt x="9" y="0"/>
                  </a:lnTo>
                  <a:lnTo>
                    <a:pt x="5" y="2"/>
                  </a:lnTo>
                  <a:lnTo>
                    <a:pt x="2" y="4"/>
                  </a:lnTo>
                  <a:lnTo>
                    <a:pt x="1" y="6"/>
                  </a:lnTo>
                  <a:lnTo>
                    <a:pt x="0" y="6"/>
                  </a:lnTo>
                  <a:lnTo>
                    <a:pt x="1" y="6"/>
                  </a:lnTo>
                  <a:lnTo>
                    <a:pt x="1" y="1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11" name="Freeform 271"/>
            <p:cNvSpPr>
              <a:spLocks noChangeAspect="1"/>
            </p:cNvSpPr>
            <p:nvPr/>
          </p:nvSpPr>
          <p:spPr bwMode="auto">
            <a:xfrm>
              <a:off x="870" y="2689"/>
              <a:ext cx="20" cy="38"/>
            </a:xfrm>
            <a:custGeom>
              <a:avLst/>
              <a:gdLst/>
              <a:ahLst/>
              <a:cxnLst>
                <a:cxn ang="0">
                  <a:pos x="8" y="0"/>
                </a:cxn>
                <a:cxn ang="0">
                  <a:pos x="8" y="0"/>
                </a:cxn>
                <a:cxn ang="0">
                  <a:pos x="6" y="0"/>
                </a:cxn>
                <a:cxn ang="0">
                  <a:pos x="5" y="2"/>
                </a:cxn>
                <a:cxn ang="0">
                  <a:pos x="4" y="5"/>
                </a:cxn>
                <a:cxn ang="0">
                  <a:pos x="2" y="8"/>
                </a:cxn>
                <a:cxn ang="0">
                  <a:pos x="1" y="11"/>
                </a:cxn>
                <a:cxn ang="0">
                  <a:pos x="0" y="14"/>
                </a:cxn>
                <a:cxn ang="0">
                  <a:pos x="0" y="17"/>
                </a:cxn>
                <a:cxn ang="0">
                  <a:pos x="0" y="20"/>
                </a:cxn>
                <a:cxn ang="0">
                  <a:pos x="2" y="25"/>
                </a:cxn>
                <a:cxn ang="0">
                  <a:pos x="3" y="30"/>
                </a:cxn>
                <a:cxn ang="0">
                  <a:pos x="4" y="34"/>
                </a:cxn>
                <a:cxn ang="0">
                  <a:pos x="6" y="36"/>
                </a:cxn>
                <a:cxn ang="0">
                  <a:pos x="8" y="37"/>
                </a:cxn>
                <a:cxn ang="0">
                  <a:pos x="9" y="37"/>
                </a:cxn>
                <a:cxn ang="0">
                  <a:pos x="10" y="34"/>
                </a:cxn>
                <a:cxn ang="0">
                  <a:pos x="10" y="31"/>
                </a:cxn>
                <a:cxn ang="0">
                  <a:pos x="10" y="28"/>
                </a:cxn>
                <a:cxn ang="0">
                  <a:pos x="10" y="26"/>
                </a:cxn>
                <a:cxn ang="0">
                  <a:pos x="11" y="26"/>
                </a:cxn>
                <a:cxn ang="0">
                  <a:pos x="13" y="25"/>
                </a:cxn>
                <a:cxn ang="0">
                  <a:pos x="14" y="24"/>
                </a:cxn>
                <a:cxn ang="0">
                  <a:pos x="15" y="23"/>
                </a:cxn>
                <a:cxn ang="0">
                  <a:pos x="14" y="22"/>
                </a:cxn>
                <a:cxn ang="0">
                  <a:pos x="14" y="20"/>
                </a:cxn>
                <a:cxn ang="0">
                  <a:pos x="13" y="19"/>
                </a:cxn>
                <a:cxn ang="0">
                  <a:pos x="12" y="18"/>
                </a:cxn>
                <a:cxn ang="0">
                  <a:pos x="12" y="15"/>
                </a:cxn>
                <a:cxn ang="0">
                  <a:pos x="14" y="12"/>
                </a:cxn>
                <a:cxn ang="0">
                  <a:pos x="16" y="11"/>
                </a:cxn>
                <a:cxn ang="0">
                  <a:pos x="18" y="10"/>
                </a:cxn>
                <a:cxn ang="0">
                  <a:pos x="19" y="9"/>
                </a:cxn>
                <a:cxn ang="0">
                  <a:pos x="18" y="8"/>
                </a:cxn>
                <a:cxn ang="0">
                  <a:pos x="17" y="6"/>
                </a:cxn>
                <a:cxn ang="0">
                  <a:pos x="16" y="5"/>
                </a:cxn>
                <a:cxn ang="0">
                  <a:pos x="14" y="5"/>
                </a:cxn>
                <a:cxn ang="0">
                  <a:pos x="12" y="6"/>
                </a:cxn>
                <a:cxn ang="0">
                  <a:pos x="10" y="4"/>
                </a:cxn>
                <a:cxn ang="0">
                  <a:pos x="9" y="3"/>
                </a:cxn>
                <a:cxn ang="0">
                  <a:pos x="8" y="0"/>
                </a:cxn>
              </a:cxnLst>
              <a:rect l="0" t="0" r="r" b="b"/>
              <a:pathLst>
                <a:path w="20" h="38">
                  <a:moveTo>
                    <a:pt x="8" y="0"/>
                  </a:moveTo>
                  <a:lnTo>
                    <a:pt x="8" y="0"/>
                  </a:lnTo>
                  <a:lnTo>
                    <a:pt x="6" y="0"/>
                  </a:lnTo>
                  <a:lnTo>
                    <a:pt x="5" y="2"/>
                  </a:lnTo>
                  <a:lnTo>
                    <a:pt x="4" y="5"/>
                  </a:lnTo>
                  <a:lnTo>
                    <a:pt x="2" y="8"/>
                  </a:lnTo>
                  <a:lnTo>
                    <a:pt x="1" y="11"/>
                  </a:lnTo>
                  <a:lnTo>
                    <a:pt x="0" y="14"/>
                  </a:lnTo>
                  <a:lnTo>
                    <a:pt x="0" y="17"/>
                  </a:lnTo>
                  <a:lnTo>
                    <a:pt x="0" y="20"/>
                  </a:lnTo>
                  <a:lnTo>
                    <a:pt x="2" y="25"/>
                  </a:lnTo>
                  <a:lnTo>
                    <a:pt x="3" y="30"/>
                  </a:lnTo>
                  <a:lnTo>
                    <a:pt x="4" y="34"/>
                  </a:lnTo>
                  <a:lnTo>
                    <a:pt x="6" y="36"/>
                  </a:lnTo>
                  <a:lnTo>
                    <a:pt x="8" y="37"/>
                  </a:lnTo>
                  <a:lnTo>
                    <a:pt x="9" y="37"/>
                  </a:lnTo>
                  <a:lnTo>
                    <a:pt x="10" y="34"/>
                  </a:lnTo>
                  <a:lnTo>
                    <a:pt x="10" y="31"/>
                  </a:lnTo>
                  <a:lnTo>
                    <a:pt x="10" y="28"/>
                  </a:lnTo>
                  <a:lnTo>
                    <a:pt x="10" y="26"/>
                  </a:lnTo>
                  <a:lnTo>
                    <a:pt x="11" y="26"/>
                  </a:lnTo>
                  <a:lnTo>
                    <a:pt x="13" y="25"/>
                  </a:lnTo>
                  <a:lnTo>
                    <a:pt x="14" y="24"/>
                  </a:lnTo>
                  <a:lnTo>
                    <a:pt x="15" y="23"/>
                  </a:lnTo>
                  <a:lnTo>
                    <a:pt x="14" y="22"/>
                  </a:lnTo>
                  <a:lnTo>
                    <a:pt x="14" y="20"/>
                  </a:lnTo>
                  <a:lnTo>
                    <a:pt x="13" y="19"/>
                  </a:lnTo>
                  <a:lnTo>
                    <a:pt x="12" y="18"/>
                  </a:lnTo>
                  <a:lnTo>
                    <a:pt x="12" y="15"/>
                  </a:lnTo>
                  <a:lnTo>
                    <a:pt x="14" y="12"/>
                  </a:lnTo>
                  <a:lnTo>
                    <a:pt x="16" y="11"/>
                  </a:lnTo>
                  <a:lnTo>
                    <a:pt x="18" y="10"/>
                  </a:lnTo>
                  <a:lnTo>
                    <a:pt x="19" y="9"/>
                  </a:lnTo>
                  <a:lnTo>
                    <a:pt x="18" y="8"/>
                  </a:lnTo>
                  <a:lnTo>
                    <a:pt x="17" y="6"/>
                  </a:lnTo>
                  <a:lnTo>
                    <a:pt x="16" y="5"/>
                  </a:lnTo>
                  <a:lnTo>
                    <a:pt x="14" y="5"/>
                  </a:lnTo>
                  <a:lnTo>
                    <a:pt x="12" y="6"/>
                  </a:lnTo>
                  <a:lnTo>
                    <a:pt x="10" y="4"/>
                  </a:lnTo>
                  <a:lnTo>
                    <a:pt x="9" y="3"/>
                  </a:lnTo>
                  <a:lnTo>
                    <a:pt x="8"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12" name="Freeform 272"/>
            <p:cNvSpPr>
              <a:spLocks noChangeAspect="1"/>
            </p:cNvSpPr>
            <p:nvPr/>
          </p:nvSpPr>
          <p:spPr bwMode="auto">
            <a:xfrm>
              <a:off x="870" y="2684"/>
              <a:ext cx="11" cy="14"/>
            </a:xfrm>
            <a:custGeom>
              <a:avLst/>
              <a:gdLst/>
              <a:ahLst/>
              <a:cxnLst>
                <a:cxn ang="0">
                  <a:pos x="8" y="11"/>
                </a:cxn>
                <a:cxn ang="0">
                  <a:pos x="7" y="12"/>
                </a:cxn>
                <a:cxn ang="0">
                  <a:pos x="9" y="9"/>
                </a:cxn>
                <a:cxn ang="0">
                  <a:pos x="9" y="8"/>
                </a:cxn>
                <a:cxn ang="0">
                  <a:pos x="8" y="9"/>
                </a:cxn>
                <a:cxn ang="0">
                  <a:pos x="4" y="6"/>
                </a:cxn>
                <a:cxn ang="0">
                  <a:pos x="12" y="4"/>
                </a:cxn>
                <a:cxn ang="0">
                  <a:pos x="8" y="0"/>
                </a:cxn>
                <a:cxn ang="0">
                  <a:pos x="4" y="2"/>
                </a:cxn>
                <a:cxn ang="0">
                  <a:pos x="1" y="5"/>
                </a:cxn>
                <a:cxn ang="0">
                  <a:pos x="0" y="8"/>
                </a:cxn>
                <a:cxn ang="0">
                  <a:pos x="0" y="8"/>
                </a:cxn>
                <a:cxn ang="0">
                  <a:pos x="8" y="11"/>
                </a:cxn>
              </a:cxnLst>
              <a:rect l="0" t="0" r="r" b="b"/>
              <a:pathLst>
                <a:path w="13" h="13">
                  <a:moveTo>
                    <a:pt x="8" y="11"/>
                  </a:moveTo>
                  <a:lnTo>
                    <a:pt x="7" y="12"/>
                  </a:lnTo>
                  <a:lnTo>
                    <a:pt x="9" y="9"/>
                  </a:lnTo>
                  <a:lnTo>
                    <a:pt x="9" y="8"/>
                  </a:lnTo>
                  <a:lnTo>
                    <a:pt x="8" y="9"/>
                  </a:lnTo>
                  <a:lnTo>
                    <a:pt x="4" y="6"/>
                  </a:lnTo>
                  <a:lnTo>
                    <a:pt x="12" y="4"/>
                  </a:lnTo>
                  <a:lnTo>
                    <a:pt x="8" y="0"/>
                  </a:lnTo>
                  <a:lnTo>
                    <a:pt x="4" y="2"/>
                  </a:lnTo>
                  <a:lnTo>
                    <a:pt x="1" y="5"/>
                  </a:lnTo>
                  <a:lnTo>
                    <a:pt x="0" y="8"/>
                  </a:lnTo>
                  <a:lnTo>
                    <a:pt x="0" y="8"/>
                  </a:lnTo>
                  <a:lnTo>
                    <a:pt x="8" y="11"/>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13" name="Freeform 273"/>
            <p:cNvSpPr>
              <a:spLocks noChangeAspect="1"/>
            </p:cNvSpPr>
            <p:nvPr/>
          </p:nvSpPr>
          <p:spPr bwMode="auto">
            <a:xfrm>
              <a:off x="866" y="2693"/>
              <a:ext cx="13" cy="15"/>
            </a:xfrm>
            <a:custGeom>
              <a:avLst/>
              <a:gdLst/>
              <a:ahLst/>
              <a:cxnLst>
                <a:cxn ang="0">
                  <a:pos x="8" y="12"/>
                </a:cxn>
                <a:cxn ang="0">
                  <a:pos x="8" y="12"/>
                </a:cxn>
                <a:cxn ang="0">
                  <a:pos x="8" y="10"/>
                </a:cxn>
                <a:cxn ang="0">
                  <a:pos x="9" y="8"/>
                </a:cxn>
                <a:cxn ang="0">
                  <a:pos x="10" y="5"/>
                </a:cxn>
                <a:cxn ang="0">
                  <a:pos x="12" y="2"/>
                </a:cxn>
                <a:cxn ang="0">
                  <a:pos x="4" y="0"/>
                </a:cxn>
                <a:cxn ang="0">
                  <a:pos x="2" y="2"/>
                </a:cxn>
                <a:cxn ang="0">
                  <a:pos x="1" y="6"/>
                </a:cxn>
                <a:cxn ang="0">
                  <a:pos x="0" y="9"/>
                </a:cxn>
                <a:cxn ang="0">
                  <a:pos x="0" y="14"/>
                </a:cxn>
                <a:cxn ang="0">
                  <a:pos x="8" y="12"/>
                </a:cxn>
              </a:cxnLst>
              <a:rect l="0" t="0" r="r" b="b"/>
              <a:pathLst>
                <a:path w="13" h="15">
                  <a:moveTo>
                    <a:pt x="8" y="12"/>
                  </a:moveTo>
                  <a:lnTo>
                    <a:pt x="8" y="12"/>
                  </a:lnTo>
                  <a:lnTo>
                    <a:pt x="8" y="10"/>
                  </a:lnTo>
                  <a:lnTo>
                    <a:pt x="9" y="8"/>
                  </a:lnTo>
                  <a:lnTo>
                    <a:pt x="10" y="5"/>
                  </a:lnTo>
                  <a:lnTo>
                    <a:pt x="12" y="2"/>
                  </a:lnTo>
                  <a:lnTo>
                    <a:pt x="4" y="0"/>
                  </a:lnTo>
                  <a:lnTo>
                    <a:pt x="2" y="2"/>
                  </a:lnTo>
                  <a:lnTo>
                    <a:pt x="1" y="6"/>
                  </a:lnTo>
                  <a:lnTo>
                    <a:pt x="0" y="9"/>
                  </a:lnTo>
                  <a:lnTo>
                    <a:pt x="0" y="14"/>
                  </a:lnTo>
                  <a:lnTo>
                    <a:pt x="8" y="1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14" name="Freeform 274"/>
            <p:cNvSpPr>
              <a:spLocks noChangeAspect="1"/>
            </p:cNvSpPr>
            <p:nvPr/>
          </p:nvSpPr>
          <p:spPr bwMode="auto">
            <a:xfrm>
              <a:off x="866" y="2706"/>
              <a:ext cx="13" cy="20"/>
            </a:xfrm>
            <a:custGeom>
              <a:avLst/>
              <a:gdLst/>
              <a:ahLst/>
              <a:cxnLst>
                <a:cxn ang="0">
                  <a:pos x="12" y="15"/>
                </a:cxn>
                <a:cxn ang="0">
                  <a:pos x="12" y="16"/>
                </a:cxn>
                <a:cxn ang="0">
                  <a:pos x="11" y="13"/>
                </a:cxn>
                <a:cxn ang="0">
                  <a:pos x="10" y="8"/>
                </a:cxn>
                <a:cxn ang="0">
                  <a:pos x="8" y="3"/>
                </a:cxn>
                <a:cxn ang="0">
                  <a:pos x="8" y="0"/>
                </a:cxn>
                <a:cxn ang="0">
                  <a:pos x="0" y="1"/>
                </a:cxn>
                <a:cxn ang="0">
                  <a:pos x="0" y="5"/>
                </a:cxn>
                <a:cxn ang="0">
                  <a:pos x="2" y="9"/>
                </a:cxn>
                <a:cxn ang="0">
                  <a:pos x="3" y="15"/>
                </a:cxn>
                <a:cxn ang="0">
                  <a:pos x="4" y="19"/>
                </a:cxn>
                <a:cxn ang="0">
                  <a:pos x="5" y="19"/>
                </a:cxn>
                <a:cxn ang="0">
                  <a:pos x="12" y="15"/>
                </a:cxn>
              </a:cxnLst>
              <a:rect l="0" t="0" r="r" b="b"/>
              <a:pathLst>
                <a:path w="13" h="20">
                  <a:moveTo>
                    <a:pt x="12" y="15"/>
                  </a:moveTo>
                  <a:lnTo>
                    <a:pt x="12" y="16"/>
                  </a:lnTo>
                  <a:lnTo>
                    <a:pt x="11" y="13"/>
                  </a:lnTo>
                  <a:lnTo>
                    <a:pt x="10" y="8"/>
                  </a:lnTo>
                  <a:lnTo>
                    <a:pt x="8" y="3"/>
                  </a:lnTo>
                  <a:lnTo>
                    <a:pt x="8" y="0"/>
                  </a:lnTo>
                  <a:lnTo>
                    <a:pt x="0" y="1"/>
                  </a:lnTo>
                  <a:lnTo>
                    <a:pt x="0" y="5"/>
                  </a:lnTo>
                  <a:lnTo>
                    <a:pt x="2" y="9"/>
                  </a:lnTo>
                  <a:lnTo>
                    <a:pt x="3" y="15"/>
                  </a:lnTo>
                  <a:lnTo>
                    <a:pt x="4" y="19"/>
                  </a:lnTo>
                  <a:lnTo>
                    <a:pt x="5" y="19"/>
                  </a:lnTo>
                  <a:lnTo>
                    <a:pt x="12" y="15"/>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15" name="Freeform 275"/>
            <p:cNvSpPr>
              <a:spLocks noChangeAspect="1"/>
            </p:cNvSpPr>
            <p:nvPr/>
          </p:nvSpPr>
          <p:spPr bwMode="auto">
            <a:xfrm>
              <a:off x="872" y="2720"/>
              <a:ext cx="13" cy="8"/>
            </a:xfrm>
            <a:custGeom>
              <a:avLst/>
              <a:gdLst/>
              <a:ahLst/>
              <a:cxnLst>
                <a:cxn ang="0">
                  <a:pos x="4" y="2"/>
                </a:cxn>
                <a:cxn ang="0">
                  <a:pos x="4" y="2"/>
                </a:cxn>
                <a:cxn ang="0">
                  <a:pos x="4" y="2"/>
                </a:cxn>
                <a:cxn ang="0">
                  <a:pos x="8" y="1"/>
                </a:cxn>
                <a:cxn ang="0">
                  <a:pos x="8" y="1"/>
                </a:cxn>
                <a:cxn ang="0">
                  <a:pos x="6" y="0"/>
                </a:cxn>
                <a:cxn ang="0">
                  <a:pos x="0" y="4"/>
                </a:cxn>
                <a:cxn ang="0">
                  <a:pos x="2" y="6"/>
                </a:cxn>
                <a:cxn ang="0">
                  <a:pos x="4" y="9"/>
                </a:cxn>
                <a:cxn ang="0">
                  <a:pos x="11" y="8"/>
                </a:cxn>
                <a:cxn ang="0">
                  <a:pos x="13" y="2"/>
                </a:cxn>
                <a:cxn ang="0">
                  <a:pos x="4" y="2"/>
                </a:cxn>
              </a:cxnLst>
              <a:rect l="0" t="0" r="r" b="b"/>
              <a:pathLst>
                <a:path w="14" h="10">
                  <a:moveTo>
                    <a:pt x="4" y="2"/>
                  </a:moveTo>
                  <a:lnTo>
                    <a:pt x="4" y="2"/>
                  </a:lnTo>
                  <a:lnTo>
                    <a:pt x="4" y="2"/>
                  </a:lnTo>
                  <a:lnTo>
                    <a:pt x="8" y="1"/>
                  </a:lnTo>
                  <a:lnTo>
                    <a:pt x="8" y="1"/>
                  </a:lnTo>
                  <a:lnTo>
                    <a:pt x="6" y="0"/>
                  </a:lnTo>
                  <a:lnTo>
                    <a:pt x="0" y="4"/>
                  </a:lnTo>
                  <a:lnTo>
                    <a:pt x="2" y="6"/>
                  </a:lnTo>
                  <a:lnTo>
                    <a:pt x="4" y="9"/>
                  </a:lnTo>
                  <a:lnTo>
                    <a:pt x="11" y="8"/>
                  </a:lnTo>
                  <a:lnTo>
                    <a:pt x="13" y="2"/>
                  </a:lnTo>
                  <a:lnTo>
                    <a:pt x="4"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16" name="Freeform 276"/>
            <p:cNvSpPr>
              <a:spLocks noChangeAspect="1"/>
            </p:cNvSpPr>
            <p:nvPr/>
          </p:nvSpPr>
          <p:spPr bwMode="auto">
            <a:xfrm>
              <a:off x="875" y="2711"/>
              <a:ext cx="10" cy="14"/>
            </a:xfrm>
            <a:custGeom>
              <a:avLst/>
              <a:gdLst/>
              <a:ahLst/>
              <a:cxnLst>
                <a:cxn ang="0">
                  <a:pos x="5" y="0"/>
                </a:cxn>
                <a:cxn ang="0">
                  <a:pos x="5" y="0"/>
                </a:cxn>
                <a:cxn ang="0">
                  <a:pos x="0" y="3"/>
                </a:cxn>
                <a:cxn ang="0">
                  <a:pos x="0" y="7"/>
                </a:cxn>
                <a:cxn ang="0">
                  <a:pos x="0" y="10"/>
                </a:cxn>
                <a:cxn ang="0">
                  <a:pos x="0" y="13"/>
                </a:cxn>
                <a:cxn ang="0">
                  <a:pos x="9" y="13"/>
                </a:cxn>
                <a:cxn ang="0">
                  <a:pos x="9" y="10"/>
                </a:cxn>
                <a:cxn ang="0">
                  <a:pos x="9" y="7"/>
                </a:cxn>
                <a:cxn ang="0">
                  <a:pos x="8" y="7"/>
                </a:cxn>
                <a:cxn ang="0">
                  <a:pos x="6" y="8"/>
                </a:cxn>
                <a:cxn ang="0">
                  <a:pos x="5" y="0"/>
                </a:cxn>
              </a:cxnLst>
              <a:rect l="0" t="0" r="r" b="b"/>
              <a:pathLst>
                <a:path w="10" h="14">
                  <a:moveTo>
                    <a:pt x="5" y="0"/>
                  </a:moveTo>
                  <a:lnTo>
                    <a:pt x="5" y="0"/>
                  </a:lnTo>
                  <a:lnTo>
                    <a:pt x="0" y="3"/>
                  </a:lnTo>
                  <a:lnTo>
                    <a:pt x="0" y="7"/>
                  </a:lnTo>
                  <a:lnTo>
                    <a:pt x="0" y="10"/>
                  </a:lnTo>
                  <a:lnTo>
                    <a:pt x="0" y="13"/>
                  </a:lnTo>
                  <a:lnTo>
                    <a:pt x="9" y="13"/>
                  </a:lnTo>
                  <a:lnTo>
                    <a:pt x="9" y="10"/>
                  </a:lnTo>
                  <a:lnTo>
                    <a:pt x="9" y="7"/>
                  </a:lnTo>
                  <a:lnTo>
                    <a:pt x="8" y="7"/>
                  </a:lnTo>
                  <a:lnTo>
                    <a:pt x="6" y="8"/>
                  </a:lnTo>
                  <a:lnTo>
                    <a:pt x="5"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17" name="Freeform 277"/>
            <p:cNvSpPr>
              <a:spLocks noChangeAspect="1"/>
            </p:cNvSpPr>
            <p:nvPr/>
          </p:nvSpPr>
          <p:spPr bwMode="auto">
            <a:xfrm>
              <a:off x="880" y="2709"/>
              <a:ext cx="11" cy="12"/>
            </a:xfrm>
            <a:custGeom>
              <a:avLst/>
              <a:gdLst/>
              <a:ahLst/>
              <a:cxnLst>
                <a:cxn ang="0">
                  <a:pos x="0" y="2"/>
                </a:cxn>
                <a:cxn ang="0">
                  <a:pos x="0" y="4"/>
                </a:cxn>
                <a:cxn ang="0">
                  <a:pos x="0" y="3"/>
                </a:cxn>
                <a:cxn ang="0">
                  <a:pos x="2" y="2"/>
                </a:cxn>
                <a:cxn ang="0">
                  <a:pos x="2" y="1"/>
                </a:cxn>
                <a:cxn ang="0">
                  <a:pos x="0" y="2"/>
                </a:cxn>
                <a:cxn ang="0">
                  <a:pos x="2" y="10"/>
                </a:cxn>
                <a:cxn ang="0">
                  <a:pos x="4" y="9"/>
                </a:cxn>
                <a:cxn ang="0">
                  <a:pos x="7" y="7"/>
                </a:cxn>
                <a:cxn ang="0">
                  <a:pos x="10" y="3"/>
                </a:cxn>
                <a:cxn ang="0">
                  <a:pos x="8" y="0"/>
                </a:cxn>
                <a:cxn ang="0">
                  <a:pos x="8" y="1"/>
                </a:cxn>
                <a:cxn ang="0">
                  <a:pos x="0" y="2"/>
                </a:cxn>
              </a:cxnLst>
              <a:rect l="0" t="0" r="r" b="b"/>
              <a:pathLst>
                <a:path w="11" h="11">
                  <a:moveTo>
                    <a:pt x="0" y="2"/>
                  </a:moveTo>
                  <a:lnTo>
                    <a:pt x="0" y="4"/>
                  </a:lnTo>
                  <a:lnTo>
                    <a:pt x="0" y="3"/>
                  </a:lnTo>
                  <a:lnTo>
                    <a:pt x="2" y="2"/>
                  </a:lnTo>
                  <a:lnTo>
                    <a:pt x="2" y="1"/>
                  </a:lnTo>
                  <a:lnTo>
                    <a:pt x="0" y="2"/>
                  </a:lnTo>
                  <a:lnTo>
                    <a:pt x="2" y="10"/>
                  </a:lnTo>
                  <a:lnTo>
                    <a:pt x="4" y="9"/>
                  </a:lnTo>
                  <a:lnTo>
                    <a:pt x="7" y="7"/>
                  </a:lnTo>
                  <a:lnTo>
                    <a:pt x="10" y="3"/>
                  </a:lnTo>
                  <a:lnTo>
                    <a:pt x="8" y="0"/>
                  </a:lnTo>
                  <a:lnTo>
                    <a:pt x="8" y="1"/>
                  </a:lnTo>
                  <a:lnTo>
                    <a:pt x="0"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18" name="Freeform 278"/>
            <p:cNvSpPr>
              <a:spLocks noChangeAspect="1"/>
            </p:cNvSpPr>
            <p:nvPr/>
          </p:nvSpPr>
          <p:spPr bwMode="auto">
            <a:xfrm>
              <a:off x="878" y="2704"/>
              <a:ext cx="11" cy="9"/>
            </a:xfrm>
            <a:custGeom>
              <a:avLst/>
              <a:gdLst/>
              <a:ahLst/>
              <a:cxnLst>
                <a:cxn ang="0">
                  <a:pos x="0" y="0"/>
                </a:cxn>
                <a:cxn ang="0">
                  <a:pos x="0" y="0"/>
                </a:cxn>
                <a:cxn ang="0">
                  <a:pos x="0" y="3"/>
                </a:cxn>
                <a:cxn ang="0">
                  <a:pos x="2" y="7"/>
                </a:cxn>
                <a:cxn ang="0">
                  <a:pos x="2" y="7"/>
                </a:cxn>
                <a:cxn ang="0">
                  <a:pos x="2" y="8"/>
                </a:cxn>
                <a:cxn ang="0">
                  <a:pos x="10" y="7"/>
                </a:cxn>
                <a:cxn ang="0">
                  <a:pos x="10" y="3"/>
                </a:cxn>
                <a:cxn ang="0">
                  <a:pos x="8" y="2"/>
                </a:cxn>
                <a:cxn ang="0">
                  <a:pos x="9" y="0"/>
                </a:cxn>
                <a:cxn ang="0">
                  <a:pos x="0" y="0"/>
                </a:cxn>
              </a:cxnLst>
              <a:rect l="0" t="0" r="r" b="b"/>
              <a:pathLst>
                <a:path w="11" h="9">
                  <a:moveTo>
                    <a:pt x="0" y="0"/>
                  </a:moveTo>
                  <a:lnTo>
                    <a:pt x="0" y="0"/>
                  </a:lnTo>
                  <a:lnTo>
                    <a:pt x="0" y="3"/>
                  </a:lnTo>
                  <a:lnTo>
                    <a:pt x="2" y="7"/>
                  </a:lnTo>
                  <a:lnTo>
                    <a:pt x="2" y="7"/>
                  </a:lnTo>
                  <a:lnTo>
                    <a:pt x="2" y="8"/>
                  </a:lnTo>
                  <a:lnTo>
                    <a:pt x="10" y="7"/>
                  </a:lnTo>
                  <a:lnTo>
                    <a:pt x="10" y="3"/>
                  </a:lnTo>
                  <a:lnTo>
                    <a:pt x="8" y="2"/>
                  </a:lnTo>
                  <a:lnTo>
                    <a:pt x="9" y="0"/>
                  </a:lnTo>
                  <a:lnTo>
                    <a:pt x="0" y="0"/>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19" name="Freeform 279"/>
            <p:cNvSpPr>
              <a:spLocks noChangeAspect="1"/>
            </p:cNvSpPr>
            <p:nvPr/>
          </p:nvSpPr>
          <p:spPr bwMode="auto">
            <a:xfrm>
              <a:off x="878" y="2695"/>
              <a:ext cx="17" cy="7"/>
            </a:xfrm>
            <a:custGeom>
              <a:avLst/>
              <a:gdLst/>
              <a:ahLst/>
              <a:cxnLst>
                <a:cxn ang="0">
                  <a:pos x="7" y="4"/>
                </a:cxn>
                <a:cxn ang="0">
                  <a:pos x="6" y="3"/>
                </a:cxn>
                <a:cxn ang="0">
                  <a:pos x="8" y="0"/>
                </a:cxn>
                <a:cxn ang="0">
                  <a:pos x="6" y="2"/>
                </a:cxn>
                <a:cxn ang="0">
                  <a:pos x="2" y="4"/>
                </a:cxn>
                <a:cxn ang="0">
                  <a:pos x="0" y="9"/>
                </a:cxn>
                <a:cxn ang="0">
                  <a:pos x="9" y="9"/>
                </a:cxn>
                <a:cxn ang="0">
                  <a:pos x="10" y="8"/>
                </a:cxn>
                <a:cxn ang="0">
                  <a:pos x="12" y="8"/>
                </a:cxn>
                <a:cxn ang="0">
                  <a:pos x="16" y="3"/>
                </a:cxn>
                <a:cxn ang="0">
                  <a:pos x="15" y="2"/>
                </a:cxn>
                <a:cxn ang="0">
                  <a:pos x="7" y="4"/>
                </a:cxn>
              </a:cxnLst>
              <a:rect l="0" t="0" r="r" b="b"/>
              <a:pathLst>
                <a:path w="17" h="10">
                  <a:moveTo>
                    <a:pt x="7" y="4"/>
                  </a:moveTo>
                  <a:lnTo>
                    <a:pt x="6" y="3"/>
                  </a:lnTo>
                  <a:lnTo>
                    <a:pt x="8" y="0"/>
                  </a:lnTo>
                  <a:lnTo>
                    <a:pt x="6" y="2"/>
                  </a:lnTo>
                  <a:lnTo>
                    <a:pt x="2" y="4"/>
                  </a:lnTo>
                  <a:lnTo>
                    <a:pt x="0" y="9"/>
                  </a:lnTo>
                  <a:lnTo>
                    <a:pt x="9" y="9"/>
                  </a:lnTo>
                  <a:lnTo>
                    <a:pt x="10" y="8"/>
                  </a:lnTo>
                  <a:lnTo>
                    <a:pt x="12" y="8"/>
                  </a:lnTo>
                  <a:lnTo>
                    <a:pt x="16" y="3"/>
                  </a:lnTo>
                  <a:lnTo>
                    <a:pt x="15" y="2"/>
                  </a:lnTo>
                  <a:lnTo>
                    <a:pt x="7" y="4"/>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20" name="Freeform 280"/>
            <p:cNvSpPr>
              <a:spLocks noChangeAspect="1"/>
            </p:cNvSpPr>
            <p:nvPr/>
          </p:nvSpPr>
          <p:spPr bwMode="auto">
            <a:xfrm>
              <a:off x="882" y="2690"/>
              <a:ext cx="12" cy="8"/>
            </a:xfrm>
            <a:custGeom>
              <a:avLst/>
              <a:gdLst/>
              <a:ahLst/>
              <a:cxnLst>
                <a:cxn ang="0">
                  <a:pos x="3" y="9"/>
                </a:cxn>
                <a:cxn ang="0">
                  <a:pos x="4" y="9"/>
                </a:cxn>
                <a:cxn ang="0">
                  <a:pos x="3" y="9"/>
                </a:cxn>
                <a:cxn ang="0">
                  <a:pos x="2" y="8"/>
                </a:cxn>
                <a:cxn ang="0">
                  <a:pos x="2" y="9"/>
                </a:cxn>
                <a:cxn ang="0">
                  <a:pos x="3" y="10"/>
                </a:cxn>
                <a:cxn ang="0">
                  <a:pos x="11" y="7"/>
                </a:cxn>
                <a:cxn ang="0">
                  <a:pos x="10" y="5"/>
                </a:cxn>
                <a:cxn ang="0">
                  <a:pos x="8" y="2"/>
                </a:cxn>
                <a:cxn ang="0">
                  <a:pos x="4" y="0"/>
                </a:cxn>
                <a:cxn ang="0">
                  <a:pos x="0" y="0"/>
                </a:cxn>
                <a:cxn ang="0">
                  <a:pos x="0" y="0"/>
                </a:cxn>
                <a:cxn ang="0">
                  <a:pos x="3" y="9"/>
                </a:cxn>
              </a:cxnLst>
              <a:rect l="0" t="0" r="r" b="b"/>
              <a:pathLst>
                <a:path w="12" h="11">
                  <a:moveTo>
                    <a:pt x="3" y="9"/>
                  </a:moveTo>
                  <a:lnTo>
                    <a:pt x="4" y="9"/>
                  </a:lnTo>
                  <a:lnTo>
                    <a:pt x="3" y="9"/>
                  </a:lnTo>
                  <a:lnTo>
                    <a:pt x="2" y="8"/>
                  </a:lnTo>
                  <a:lnTo>
                    <a:pt x="2" y="9"/>
                  </a:lnTo>
                  <a:lnTo>
                    <a:pt x="3" y="10"/>
                  </a:lnTo>
                  <a:lnTo>
                    <a:pt x="11" y="7"/>
                  </a:lnTo>
                  <a:lnTo>
                    <a:pt x="10" y="5"/>
                  </a:lnTo>
                  <a:lnTo>
                    <a:pt x="8" y="2"/>
                  </a:lnTo>
                  <a:lnTo>
                    <a:pt x="4" y="0"/>
                  </a:lnTo>
                  <a:lnTo>
                    <a:pt x="0" y="0"/>
                  </a:lnTo>
                  <a:lnTo>
                    <a:pt x="0" y="0"/>
                  </a:lnTo>
                  <a:lnTo>
                    <a:pt x="3" y="9"/>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sp>
          <p:nvSpPr>
            <p:cNvPr id="10521" name="Freeform 281"/>
            <p:cNvSpPr>
              <a:spLocks noChangeAspect="1"/>
            </p:cNvSpPr>
            <p:nvPr/>
          </p:nvSpPr>
          <p:spPr bwMode="auto">
            <a:xfrm>
              <a:off x="874" y="2688"/>
              <a:ext cx="12" cy="12"/>
            </a:xfrm>
            <a:custGeom>
              <a:avLst/>
              <a:gdLst/>
              <a:ahLst/>
              <a:cxnLst>
                <a:cxn ang="0">
                  <a:pos x="0" y="2"/>
                </a:cxn>
                <a:cxn ang="0">
                  <a:pos x="0" y="3"/>
                </a:cxn>
                <a:cxn ang="0">
                  <a:pos x="1" y="6"/>
                </a:cxn>
                <a:cxn ang="0">
                  <a:pos x="3" y="8"/>
                </a:cxn>
                <a:cxn ang="0">
                  <a:pos x="7" y="11"/>
                </a:cxn>
                <a:cxn ang="0">
                  <a:pos x="11" y="10"/>
                </a:cxn>
                <a:cxn ang="0">
                  <a:pos x="8" y="2"/>
                </a:cxn>
                <a:cxn ang="0">
                  <a:pos x="8" y="3"/>
                </a:cxn>
                <a:cxn ang="0">
                  <a:pos x="9" y="3"/>
                </a:cxn>
                <a:cxn ang="0">
                  <a:pos x="9" y="2"/>
                </a:cxn>
                <a:cxn ang="0">
                  <a:pos x="8" y="0"/>
                </a:cxn>
                <a:cxn ang="0">
                  <a:pos x="8" y="1"/>
                </a:cxn>
                <a:cxn ang="0">
                  <a:pos x="0" y="2"/>
                </a:cxn>
              </a:cxnLst>
              <a:rect l="0" t="0" r="r" b="b"/>
              <a:pathLst>
                <a:path w="12" h="12">
                  <a:moveTo>
                    <a:pt x="0" y="2"/>
                  </a:moveTo>
                  <a:lnTo>
                    <a:pt x="0" y="3"/>
                  </a:lnTo>
                  <a:lnTo>
                    <a:pt x="1" y="6"/>
                  </a:lnTo>
                  <a:lnTo>
                    <a:pt x="3" y="8"/>
                  </a:lnTo>
                  <a:lnTo>
                    <a:pt x="7" y="11"/>
                  </a:lnTo>
                  <a:lnTo>
                    <a:pt x="11" y="10"/>
                  </a:lnTo>
                  <a:lnTo>
                    <a:pt x="8" y="2"/>
                  </a:lnTo>
                  <a:lnTo>
                    <a:pt x="8" y="3"/>
                  </a:lnTo>
                  <a:lnTo>
                    <a:pt x="9" y="3"/>
                  </a:lnTo>
                  <a:lnTo>
                    <a:pt x="9" y="2"/>
                  </a:lnTo>
                  <a:lnTo>
                    <a:pt x="8" y="0"/>
                  </a:lnTo>
                  <a:lnTo>
                    <a:pt x="8" y="1"/>
                  </a:lnTo>
                  <a:lnTo>
                    <a:pt x="0" y="2"/>
                  </a:lnTo>
                </a:path>
              </a:pathLst>
            </a:custGeom>
            <a:gradFill rotWithShape="0">
              <a:gsLst>
                <a:gs pos="0">
                  <a:schemeClr val="hlink"/>
                </a:gs>
                <a:gs pos="100000">
                  <a:schemeClr val="hlink">
                    <a:gamma/>
                    <a:shade val="86275"/>
                    <a:invGamma/>
                  </a:schemeClr>
                </a:gs>
              </a:gsLst>
              <a:path path="rect">
                <a:fillToRect l="50000" t="50000" r="50000" b="50000"/>
              </a:path>
            </a:gradFill>
            <a:ln w="3175" cap="rnd" cmpd="sng">
              <a:solidFill>
                <a:schemeClr val="tx1"/>
              </a:solidFill>
              <a:round/>
              <a:headEnd/>
              <a:tailEnd/>
            </a:ln>
            <a:effectLst/>
          </p:spPr>
          <p:txBody>
            <a:bodyPr/>
            <a:lstStyle/>
            <a:p>
              <a:pPr>
                <a:spcBef>
                  <a:spcPct val="0"/>
                </a:spcBef>
                <a:buClrTx/>
                <a:buFontTx/>
                <a:buNone/>
                <a:defRPr/>
              </a:pPr>
              <a:endParaRPr lang="en-US" sz="3200">
                <a:solidFill>
                  <a:schemeClr val="tx1"/>
                </a:solidFill>
                <a:latin typeface="Tahoma" pitchFamily="34" charset="0"/>
                <a:cs typeface="+mn-cs"/>
              </a:endParaRPr>
            </a:p>
          </p:txBody>
        </p:sp>
      </p:grpSp>
      <p:sp>
        <p:nvSpPr>
          <p:cNvPr id="760090" name="Rectangle 282"/>
          <p:cNvSpPr>
            <a:spLocks noChangeAspect="1" noChangeArrowheads="1"/>
          </p:cNvSpPr>
          <p:nvPr/>
        </p:nvSpPr>
        <p:spPr bwMode="auto">
          <a:xfrm>
            <a:off x="1111250" y="5727700"/>
            <a:ext cx="6794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Honolulu</a:t>
            </a:r>
          </a:p>
        </p:txBody>
      </p:sp>
      <p:sp>
        <p:nvSpPr>
          <p:cNvPr id="760091" name="Text Box 283"/>
          <p:cNvSpPr txBox="1">
            <a:spLocks noChangeAspect="1" noChangeArrowheads="1"/>
          </p:cNvSpPr>
          <p:nvPr/>
        </p:nvSpPr>
        <p:spPr bwMode="auto">
          <a:xfrm>
            <a:off x="1590675" y="1782763"/>
            <a:ext cx="5588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Seattle</a:t>
            </a:r>
          </a:p>
        </p:txBody>
      </p:sp>
      <p:sp>
        <p:nvSpPr>
          <p:cNvPr id="760092" name="Text Box 284"/>
          <p:cNvSpPr txBox="1">
            <a:spLocks noChangeAspect="1" noChangeArrowheads="1"/>
          </p:cNvSpPr>
          <p:nvPr/>
        </p:nvSpPr>
        <p:spPr bwMode="auto">
          <a:xfrm>
            <a:off x="1293813" y="2209800"/>
            <a:ext cx="6477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Portland</a:t>
            </a:r>
          </a:p>
        </p:txBody>
      </p:sp>
      <p:sp>
        <p:nvSpPr>
          <p:cNvPr id="760093" name="Rectangle 285"/>
          <p:cNvSpPr>
            <a:spLocks noChangeAspect="1" noChangeArrowheads="1"/>
          </p:cNvSpPr>
          <p:nvPr/>
        </p:nvSpPr>
        <p:spPr bwMode="auto">
          <a:xfrm>
            <a:off x="8345488" y="1500188"/>
            <a:ext cx="34290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Togus</a:t>
            </a:r>
          </a:p>
        </p:txBody>
      </p:sp>
      <p:sp>
        <p:nvSpPr>
          <p:cNvPr id="760094" name="Rectangle 286"/>
          <p:cNvSpPr>
            <a:spLocks noChangeAspect="1" noChangeArrowheads="1"/>
          </p:cNvSpPr>
          <p:nvPr/>
        </p:nvSpPr>
        <p:spPr bwMode="auto">
          <a:xfrm>
            <a:off x="7056438" y="2613025"/>
            <a:ext cx="39370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Buffalo</a:t>
            </a:r>
          </a:p>
        </p:txBody>
      </p:sp>
      <p:sp>
        <p:nvSpPr>
          <p:cNvPr id="760095" name="Rectangle 287"/>
          <p:cNvSpPr>
            <a:spLocks noChangeAspect="1" noChangeArrowheads="1"/>
          </p:cNvSpPr>
          <p:nvPr/>
        </p:nvSpPr>
        <p:spPr bwMode="auto">
          <a:xfrm>
            <a:off x="6459538" y="1928813"/>
            <a:ext cx="88900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White River Jct. </a:t>
            </a:r>
          </a:p>
        </p:txBody>
      </p:sp>
      <p:sp>
        <p:nvSpPr>
          <p:cNvPr id="760096" name="Rectangle 288"/>
          <p:cNvSpPr>
            <a:spLocks noChangeAspect="1" noChangeArrowheads="1"/>
          </p:cNvSpPr>
          <p:nvPr/>
        </p:nvSpPr>
        <p:spPr bwMode="auto">
          <a:xfrm>
            <a:off x="7112000" y="1714500"/>
            <a:ext cx="63500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Manchester</a:t>
            </a:r>
          </a:p>
        </p:txBody>
      </p:sp>
      <p:sp>
        <p:nvSpPr>
          <p:cNvPr id="760097" name="Rectangle 289"/>
          <p:cNvSpPr>
            <a:spLocks noChangeAspect="1" noChangeArrowheads="1"/>
          </p:cNvSpPr>
          <p:nvPr/>
        </p:nvSpPr>
        <p:spPr bwMode="auto">
          <a:xfrm>
            <a:off x="8245475" y="2393950"/>
            <a:ext cx="547688" cy="136525"/>
          </a:xfrm>
          <a:prstGeom prst="rect">
            <a:avLst/>
          </a:prstGeom>
          <a:noFill/>
          <a:ln w="9525">
            <a:noFill/>
            <a:miter lim="800000"/>
            <a:headEnd/>
            <a:tailEnd/>
          </a:ln>
        </p:spPr>
        <p:txBody>
          <a:bodyPr lIns="0" tIns="0" rIns="0" bIns="0">
            <a:spAutoFit/>
          </a:bodyPr>
          <a:lstStyle/>
          <a:p>
            <a:pPr eaLnBrk="1" hangingPunct="1">
              <a:spcBef>
                <a:spcPct val="0"/>
              </a:spcBef>
              <a:buClrTx/>
              <a:buFontTx/>
              <a:buNone/>
            </a:pPr>
            <a:r>
              <a:rPr lang="en-US" sz="900" b="1">
                <a:solidFill>
                  <a:srgbClr val="000099"/>
                </a:solidFill>
              </a:rPr>
              <a:t>Boston</a:t>
            </a:r>
          </a:p>
        </p:txBody>
      </p:sp>
      <p:sp>
        <p:nvSpPr>
          <p:cNvPr id="760098" name="Rectangle 290"/>
          <p:cNvSpPr>
            <a:spLocks noChangeAspect="1" noChangeArrowheads="1"/>
          </p:cNvSpPr>
          <p:nvPr/>
        </p:nvSpPr>
        <p:spPr bwMode="auto">
          <a:xfrm>
            <a:off x="8177213" y="2613025"/>
            <a:ext cx="61595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Providence</a:t>
            </a:r>
          </a:p>
        </p:txBody>
      </p:sp>
      <p:sp>
        <p:nvSpPr>
          <p:cNvPr id="760099" name="Rectangle 291"/>
          <p:cNvSpPr>
            <a:spLocks noChangeAspect="1" noChangeArrowheads="1"/>
          </p:cNvSpPr>
          <p:nvPr/>
        </p:nvSpPr>
        <p:spPr bwMode="auto">
          <a:xfrm>
            <a:off x="8313738" y="2759075"/>
            <a:ext cx="45085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Hartford</a:t>
            </a:r>
          </a:p>
        </p:txBody>
      </p:sp>
      <p:sp>
        <p:nvSpPr>
          <p:cNvPr id="760100" name="Rectangle 292"/>
          <p:cNvSpPr>
            <a:spLocks noChangeAspect="1" noChangeArrowheads="1"/>
          </p:cNvSpPr>
          <p:nvPr/>
        </p:nvSpPr>
        <p:spPr bwMode="auto">
          <a:xfrm>
            <a:off x="7810500" y="3948113"/>
            <a:ext cx="48260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Roanoke</a:t>
            </a:r>
          </a:p>
        </p:txBody>
      </p:sp>
      <p:sp>
        <p:nvSpPr>
          <p:cNvPr id="760101" name="Rectangle 293"/>
          <p:cNvSpPr>
            <a:spLocks noChangeAspect="1" noChangeArrowheads="1"/>
          </p:cNvSpPr>
          <p:nvPr/>
        </p:nvSpPr>
        <p:spPr bwMode="auto">
          <a:xfrm>
            <a:off x="7832725" y="4146550"/>
            <a:ext cx="81915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Winston Salem</a:t>
            </a:r>
          </a:p>
        </p:txBody>
      </p:sp>
      <p:sp>
        <p:nvSpPr>
          <p:cNvPr id="760102" name="Rectangle 294"/>
          <p:cNvSpPr>
            <a:spLocks noChangeAspect="1" noChangeArrowheads="1"/>
          </p:cNvSpPr>
          <p:nvPr/>
        </p:nvSpPr>
        <p:spPr bwMode="auto">
          <a:xfrm>
            <a:off x="6096000" y="5572125"/>
            <a:ext cx="78105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St. Petersburg</a:t>
            </a:r>
          </a:p>
        </p:txBody>
      </p:sp>
      <p:sp>
        <p:nvSpPr>
          <p:cNvPr id="760103" name="Rectangle 295"/>
          <p:cNvSpPr>
            <a:spLocks noChangeAspect="1" noChangeArrowheads="1"/>
          </p:cNvSpPr>
          <p:nvPr/>
        </p:nvSpPr>
        <p:spPr bwMode="auto">
          <a:xfrm>
            <a:off x="8421688" y="3343275"/>
            <a:ext cx="693737" cy="238125"/>
          </a:xfrm>
          <a:prstGeom prst="rect">
            <a:avLst/>
          </a:prstGeom>
          <a:noFill/>
          <a:ln w="9525">
            <a:noFill/>
            <a:miter lim="800000"/>
            <a:headEnd/>
            <a:tailEnd/>
          </a:ln>
        </p:spPr>
        <p:txBody>
          <a:bodyPr/>
          <a:lstStyle/>
          <a:p>
            <a:pPr>
              <a:spcBef>
                <a:spcPct val="0"/>
              </a:spcBef>
              <a:buClrTx/>
              <a:buFontTx/>
              <a:buNone/>
            </a:pPr>
            <a:endParaRPr lang="en-US" sz="3200">
              <a:solidFill>
                <a:schemeClr val="tx1"/>
              </a:solidFill>
              <a:latin typeface="Tahoma" pitchFamily="34" charset="0"/>
            </a:endParaRPr>
          </a:p>
        </p:txBody>
      </p:sp>
      <p:sp>
        <p:nvSpPr>
          <p:cNvPr id="760104" name="Rectangle 296"/>
          <p:cNvSpPr>
            <a:spLocks noChangeAspect="1" noChangeArrowheads="1"/>
          </p:cNvSpPr>
          <p:nvPr/>
        </p:nvSpPr>
        <p:spPr bwMode="auto">
          <a:xfrm>
            <a:off x="7970838" y="3417888"/>
            <a:ext cx="62230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Wilmington</a:t>
            </a:r>
          </a:p>
        </p:txBody>
      </p:sp>
      <p:sp>
        <p:nvSpPr>
          <p:cNvPr id="760105" name="Rectangle 297"/>
          <p:cNvSpPr>
            <a:spLocks noChangeAspect="1" noChangeArrowheads="1"/>
          </p:cNvSpPr>
          <p:nvPr/>
        </p:nvSpPr>
        <p:spPr bwMode="auto">
          <a:xfrm>
            <a:off x="8450263" y="2949575"/>
            <a:ext cx="52070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New York</a:t>
            </a:r>
          </a:p>
        </p:txBody>
      </p:sp>
      <p:grpSp>
        <p:nvGrpSpPr>
          <p:cNvPr id="760106" name="Group 298"/>
          <p:cNvGrpSpPr>
            <a:grpSpLocks noChangeAspect="1"/>
          </p:cNvGrpSpPr>
          <p:nvPr/>
        </p:nvGrpSpPr>
        <p:grpSpPr bwMode="auto">
          <a:xfrm>
            <a:off x="7764463" y="2833688"/>
            <a:ext cx="593725" cy="204787"/>
            <a:chOff x="4926" y="1433"/>
            <a:chExt cx="414" cy="136"/>
          </a:xfrm>
        </p:grpSpPr>
        <p:sp>
          <p:nvSpPr>
            <p:cNvPr id="760107" name="Line 299"/>
            <p:cNvSpPr>
              <a:spLocks noChangeAspect="1" noChangeShapeType="1"/>
            </p:cNvSpPr>
            <p:nvPr/>
          </p:nvSpPr>
          <p:spPr bwMode="auto">
            <a:xfrm>
              <a:off x="4926" y="1433"/>
              <a:ext cx="374" cy="110"/>
            </a:xfrm>
            <a:prstGeom prst="line">
              <a:avLst/>
            </a:prstGeom>
            <a:noFill/>
            <a:ln w="12700">
              <a:solidFill>
                <a:srgbClr val="FF0000"/>
              </a:solidFill>
              <a:round/>
              <a:headEnd/>
              <a:tailEnd/>
            </a:ln>
          </p:spPr>
          <p:txBody>
            <a:bodyPr/>
            <a:lstStyle/>
            <a:p>
              <a:endParaRPr lang="en-US"/>
            </a:p>
          </p:txBody>
        </p:sp>
        <p:sp>
          <p:nvSpPr>
            <p:cNvPr id="760108" name="Freeform 300"/>
            <p:cNvSpPr>
              <a:spLocks noChangeAspect="1"/>
            </p:cNvSpPr>
            <p:nvPr/>
          </p:nvSpPr>
          <p:spPr bwMode="auto">
            <a:xfrm>
              <a:off x="5266" y="1504"/>
              <a:ext cx="74" cy="65"/>
            </a:xfrm>
            <a:custGeom>
              <a:avLst/>
              <a:gdLst>
                <a:gd name="T0" fmla="*/ 0 w 74"/>
                <a:gd name="T1" fmla="*/ 65 h 65"/>
                <a:gd name="T2" fmla="*/ 74 w 74"/>
                <a:gd name="T3" fmla="*/ 53 h 65"/>
                <a:gd name="T4" fmla="*/ 18 w 74"/>
                <a:gd name="T5" fmla="*/ 0 h 65"/>
                <a:gd name="T6" fmla="*/ 28 w 74"/>
                <a:gd name="T7" fmla="*/ 39 h 65"/>
                <a:gd name="T8" fmla="*/ 0 w 74"/>
                <a:gd name="T9" fmla="*/ 65 h 65"/>
                <a:gd name="T10" fmla="*/ 0 60000 65536"/>
                <a:gd name="T11" fmla="*/ 0 60000 65536"/>
                <a:gd name="T12" fmla="*/ 0 60000 65536"/>
                <a:gd name="T13" fmla="*/ 0 60000 65536"/>
                <a:gd name="T14" fmla="*/ 0 60000 65536"/>
                <a:gd name="T15" fmla="*/ 0 w 74"/>
                <a:gd name="T16" fmla="*/ 0 h 65"/>
                <a:gd name="T17" fmla="*/ 74 w 74"/>
                <a:gd name="T18" fmla="*/ 65 h 65"/>
              </a:gdLst>
              <a:ahLst/>
              <a:cxnLst>
                <a:cxn ang="T10">
                  <a:pos x="T0" y="T1"/>
                </a:cxn>
                <a:cxn ang="T11">
                  <a:pos x="T2" y="T3"/>
                </a:cxn>
                <a:cxn ang="T12">
                  <a:pos x="T4" y="T5"/>
                </a:cxn>
                <a:cxn ang="T13">
                  <a:pos x="T6" y="T7"/>
                </a:cxn>
                <a:cxn ang="T14">
                  <a:pos x="T8" y="T9"/>
                </a:cxn>
              </a:cxnLst>
              <a:rect l="T15" t="T16" r="T17" b="T18"/>
              <a:pathLst>
                <a:path w="74" h="65">
                  <a:moveTo>
                    <a:pt x="0" y="65"/>
                  </a:moveTo>
                  <a:lnTo>
                    <a:pt x="74" y="53"/>
                  </a:lnTo>
                  <a:lnTo>
                    <a:pt x="18" y="0"/>
                  </a:lnTo>
                  <a:lnTo>
                    <a:pt x="28" y="39"/>
                  </a:lnTo>
                  <a:lnTo>
                    <a:pt x="0" y="65"/>
                  </a:lnTo>
                  <a:close/>
                </a:path>
              </a:pathLst>
            </a:custGeom>
            <a:solidFill>
              <a:srgbClr val="FF0000"/>
            </a:solidFill>
            <a:ln w="9525">
              <a:solidFill>
                <a:srgbClr val="FF0000"/>
              </a:solidFill>
              <a:round/>
              <a:headEnd/>
              <a:tailEnd/>
            </a:ln>
          </p:spPr>
          <p:txBody>
            <a:bodyPr/>
            <a:lstStyle/>
            <a:p>
              <a:pPr>
                <a:spcBef>
                  <a:spcPct val="0"/>
                </a:spcBef>
                <a:buClrTx/>
                <a:buFontTx/>
                <a:buNone/>
              </a:pPr>
              <a:endParaRPr lang="en-US" sz="3200">
                <a:solidFill>
                  <a:schemeClr val="tx1"/>
                </a:solidFill>
                <a:latin typeface="Tahoma" pitchFamily="34" charset="0"/>
              </a:endParaRPr>
            </a:p>
          </p:txBody>
        </p:sp>
      </p:grpSp>
      <p:sp>
        <p:nvSpPr>
          <p:cNvPr id="760109" name="Rectangle 301"/>
          <p:cNvSpPr>
            <a:spLocks noChangeAspect="1" noChangeArrowheads="1"/>
          </p:cNvSpPr>
          <p:nvPr/>
        </p:nvSpPr>
        <p:spPr bwMode="auto">
          <a:xfrm>
            <a:off x="8083550" y="3262313"/>
            <a:ext cx="67310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Philadelphia</a:t>
            </a:r>
          </a:p>
        </p:txBody>
      </p:sp>
      <p:sp>
        <p:nvSpPr>
          <p:cNvPr id="760110" name="Text Box 302"/>
          <p:cNvSpPr txBox="1">
            <a:spLocks noChangeAspect="1" noChangeArrowheads="1"/>
          </p:cNvSpPr>
          <p:nvPr/>
        </p:nvSpPr>
        <p:spPr bwMode="auto">
          <a:xfrm>
            <a:off x="8382000" y="3097213"/>
            <a:ext cx="5905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Newark</a:t>
            </a:r>
          </a:p>
        </p:txBody>
      </p:sp>
      <p:sp>
        <p:nvSpPr>
          <p:cNvPr id="760111" name="Text Box 303"/>
          <p:cNvSpPr txBox="1">
            <a:spLocks noChangeAspect="1" noChangeArrowheads="1"/>
          </p:cNvSpPr>
          <p:nvPr/>
        </p:nvSpPr>
        <p:spPr bwMode="auto">
          <a:xfrm>
            <a:off x="7910513" y="3571875"/>
            <a:ext cx="7112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Baltimore</a:t>
            </a:r>
          </a:p>
        </p:txBody>
      </p:sp>
      <p:sp>
        <p:nvSpPr>
          <p:cNvPr id="760112" name="Text Box 304"/>
          <p:cNvSpPr txBox="1">
            <a:spLocks noChangeAspect="1" noChangeArrowheads="1"/>
          </p:cNvSpPr>
          <p:nvPr/>
        </p:nvSpPr>
        <p:spPr bwMode="auto">
          <a:xfrm>
            <a:off x="1590675" y="3267075"/>
            <a:ext cx="4699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Reno</a:t>
            </a:r>
          </a:p>
        </p:txBody>
      </p:sp>
      <p:sp>
        <p:nvSpPr>
          <p:cNvPr id="760113" name="Text Box 305"/>
          <p:cNvSpPr txBox="1">
            <a:spLocks noChangeAspect="1" noChangeArrowheads="1"/>
          </p:cNvSpPr>
          <p:nvPr/>
        </p:nvSpPr>
        <p:spPr bwMode="auto">
          <a:xfrm>
            <a:off x="2249488" y="3357563"/>
            <a:ext cx="685800" cy="365125"/>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Salt Lake</a:t>
            </a:r>
          </a:p>
          <a:p>
            <a:pPr>
              <a:spcBef>
                <a:spcPct val="0"/>
              </a:spcBef>
              <a:buClrTx/>
              <a:buFontTx/>
              <a:buNone/>
            </a:pPr>
            <a:r>
              <a:rPr lang="en-US" sz="900" b="1">
                <a:solidFill>
                  <a:srgbClr val="000099"/>
                </a:solidFill>
              </a:rPr>
              <a:t>  City</a:t>
            </a:r>
          </a:p>
        </p:txBody>
      </p:sp>
      <p:sp>
        <p:nvSpPr>
          <p:cNvPr id="760114" name="Text Box 306"/>
          <p:cNvSpPr txBox="1">
            <a:spLocks noChangeAspect="1" noChangeArrowheads="1"/>
          </p:cNvSpPr>
          <p:nvPr/>
        </p:nvSpPr>
        <p:spPr bwMode="auto">
          <a:xfrm>
            <a:off x="2733675" y="4338638"/>
            <a:ext cx="8890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Albuquerque</a:t>
            </a:r>
          </a:p>
        </p:txBody>
      </p:sp>
      <p:sp>
        <p:nvSpPr>
          <p:cNvPr id="760115" name="Text Box 307"/>
          <p:cNvSpPr txBox="1">
            <a:spLocks noChangeAspect="1" noChangeArrowheads="1"/>
          </p:cNvSpPr>
          <p:nvPr/>
        </p:nvSpPr>
        <p:spPr bwMode="auto">
          <a:xfrm>
            <a:off x="2047875" y="4541838"/>
            <a:ext cx="6286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Phoenix</a:t>
            </a:r>
          </a:p>
        </p:txBody>
      </p:sp>
      <p:sp>
        <p:nvSpPr>
          <p:cNvPr id="760116" name="Text Box 308"/>
          <p:cNvSpPr txBox="1">
            <a:spLocks noChangeAspect="1" noChangeArrowheads="1"/>
          </p:cNvSpPr>
          <p:nvPr/>
        </p:nvSpPr>
        <p:spPr bwMode="auto">
          <a:xfrm>
            <a:off x="3008313" y="3513138"/>
            <a:ext cx="5715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Denver</a:t>
            </a:r>
          </a:p>
        </p:txBody>
      </p:sp>
      <p:sp>
        <p:nvSpPr>
          <p:cNvPr id="760117" name="Text Box 309"/>
          <p:cNvSpPr txBox="1">
            <a:spLocks noChangeAspect="1" noChangeArrowheads="1"/>
          </p:cNvSpPr>
          <p:nvPr/>
        </p:nvSpPr>
        <p:spPr bwMode="auto">
          <a:xfrm>
            <a:off x="2073275" y="2586038"/>
            <a:ext cx="4953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Boise</a:t>
            </a:r>
          </a:p>
        </p:txBody>
      </p:sp>
      <p:sp>
        <p:nvSpPr>
          <p:cNvPr id="760118" name="Text Box 310"/>
          <p:cNvSpPr txBox="1">
            <a:spLocks noChangeAspect="1" noChangeArrowheads="1"/>
          </p:cNvSpPr>
          <p:nvPr/>
        </p:nvSpPr>
        <p:spPr bwMode="auto">
          <a:xfrm>
            <a:off x="2689225" y="2076450"/>
            <a:ext cx="8255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Ft. Harrison</a:t>
            </a:r>
          </a:p>
        </p:txBody>
      </p:sp>
      <p:sp>
        <p:nvSpPr>
          <p:cNvPr id="760119" name="Text Box 311"/>
          <p:cNvSpPr txBox="1">
            <a:spLocks noChangeAspect="1" noChangeArrowheads="1"/>
          </p:cNvSpPr>
          <p:nvPr/>
        </p:nvSpPr>
        <p:spPr bwMode="auto">
          <a:xfrm>
            <a:off x="2757488" y="2879725"/>
            <a:ext cx="7302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Cheyenne</a:t>
            </a:r>
          </a:p>
        </p:txBody>
      </p:sp>
      <p:sp>
        <p:nvSpPr>
          <p:cNvPr id="760120" name="Text Box 312"/>
          <p:cNvSpPr txBox="1">
            <a:spLocks noChangeAspect="1" noChangeArrowheads="1"/>
          </p:cNvSpPr>
          <p:nvPr/>
        </p:nvSpPr>
        <p:spPr bwMode="auto">
          <a:xfrm>
            <a:off x="3717925" y="2586038"/>
            <a:ext cx="7874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Sioux Falls</a:t>
            </a:r>
          </a:p>
        </p:txBody>
      </p:sp>
      <p:sp>
        <p:nvSpPr>
          <p:cNvPr id="760121" name="Text Box 313"/>
          <p:cNvSpPr txBox="1">
            <a:spLocks noChangeAspect="1" noChangeArrowheads="1"/>
          </p:cNvSpPr>
          <p:nvPr/>
        </p:nvSpPr>
        <p:spPr bwMode="auto">
          <a:xfrm>
            <a:off x="3856038" y="2076450"/>
            <a:ext cx="5016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Fargo</a:t>
            </a:r>
          </a:p>
        </p:txBody>
      </p:sp>
      <p:sp>
        <p:nvSpPr>
          <p:cNvPr id="760122" name="Text Box 314"/>
          <p:cNvSpPr txBox="1">
            <a:spLocks noChangeAspect="1" noChangeArrowheads="1"/>
          </p:cNvSpPr>
          <p:nvPr/>
        </p:nvSpPr>
        <p:spPr bwMode="auto">
          <a:xfrm>
            <a:off x="3856038" y="3097213"/>
            <a:ext cx="5905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Lincoln</a:t>
            </a:r>
          </a:p>
        </p:txBody>
      </p:sp>
      <p:sp>
        <p:nvSpPr>
          <p:cNvPr id="10555" name="AutoShape 315"/>
          <p:cNvSpPr>
            <a:spLocks noChangeAspect="1" noChangeArrowheads="1"/>
          </p:cNvSpPr>
          <p:nvPr/>
        </p:nvSpPr>
        <p:spPr bwMode="auto">
          <a:xfrm>
            <a:off x="3962400" y="4876800"/>
            <a:ext cx="381000" cy="204788"/>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760124" name="Rectangle 316"/>
          <p:cNvSpPr>
            <a:spLocks noChangeAspect="1" noChangeArrowheads="1"/>
          </p:cNvSpPr>
          <p:nvPr/>
        </p:nvSpPr>
        <p:spPr bwMode="auto">
          <a:xfrm>
            <a:off x="6781800" y="4343400"/>
            <a:ext cx="520700" cy="136525"/>
          </a:xfrm>
          <a:prstGeom prst="rect">
            <a:avLst/>
          </a:prstGeom>
          <a:noFill/>
          <a:ln w="9525">
            <a:noFill/>
            <a:miter lim="800000"/>
            <a:headEnd/>
            <a:tailEnd/>
          </a:ln>
        </p:spPr>
        <p:txBody>
          <a:bodyPr wrap="none" lIns="0" tIns="0" rIns="0" bIns="0">
            <a:spAutoFit/>
          </a:bodyPr>
          <a:lstStyle/>
          <a:p>
            <a:pPr eaLnBrk="1" hangingPunct="1">
              <a:spcBef>
                <a:spcPct val="0"/>
              </a:spcBef>
              <a:buClrTx/>
              <a:buFontTx/>
              <a:buNone/>
            </a:pPr>
            <a:r>
              <a:rPr lang="en-US" sz="900" b="1">
                <a:solidFill>
                  <a:srgbClr val="000099"/>
                </a:solidFill>
              </a:rPr>
              <a:t>Columbia</a:t>
            </a:r>
          </a:p>
        </p:txBody>
      </p:sp>
      <p:sp>
        <p:nvSpPr>
          <p:cNvPr id="760125" name="Text Box 317"/>
          <p:cNvSpPr txBox="1">
            <a:spLocks noChangeAspect="1" noChangeArrowheads="1"/>
          </p:cNvSpPr>
          <p:nvPr/>
        </p:nvSpPr>
        <p:spPr bwMode="auto">
          <a:xfrm>
            <a:off x="4572000" y="2286000"/>
            <a:ext cx="425450" cy="365125"/>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St. </a:t>
            </a:r>
          </a:p>
          <a:p>
            <a:pPr>
              <a:spcBef>
                <a:spcPct val="0"/>
              </a:spcBef>
              <a:buClrTx/>
              <a:buFontTx/>
              <a:buNone/>
            </a:pPr>
            <a:r>
              <a:rPr lang="en-US" sz="900" b="1">
                <a:solidFill>
                  <a:srgbClr val="000099"/>
                </a:solidFill>
              </a:rPr>
              <a:t>Paul</a:t>
            </a:r>
          </a:p>
        </p:txBody>
      </p:sp>
      <p:sp>
        <p:nvSpPr>
          <p:cNvPr id="760126" name="Text Box 318"/>
          <p:cNvSpPr txBox="1">
            <a:spLocks noChangeAspect="1" noChangeArrowheads="1"/>
          </p:cNvSpPr>
          <p:nvPr/>
        </p:nvSpPr>
        <p:spPr bwMode="auto">
          <a:xfrm>
            <a:off x="4267200" y="4922838"/>
            <a:ext cx="5461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WACO</a:t>
            </a:r>
          </a:p>
        </p:txBody>
      </p:sp>
      <p:sp>
        <p:nvSpPr>
          <p:cNvPr id="760127" name="Text Box 319"/>
          <p:cNvSpPr txBox="1">
            <a:spLocks noChangeAspect="1" noChangeArrowheads="1"/>
          </p:cNvSpPr>
          <p:nvPr/>
        </p:nvSpPr>
        <p:spPr bwMode="auto">
          <a:xfrm>
            <a:off x="4198938" y="4338638"/>
            <a:ext cx="7429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Muskogee</a:t>
            </a:r>
          </a:p>
        </p:txBody>
      </p:sp>
      <p:sp>
        <p:nvSpPr>
          <p:cNvPr id="760128" name="Text Box 320"/>
          <p:cNvSpPr txBox="1">
            <a:spLocks noChangeAspect="1" noChangeArrowheads="1"/>
          </p:cNvSpPr>
          <p:nvPr/>
        </p:nvSpPr>
        <p:spPr bwMode="auto">
          <a:xfrm>
            <a:off x="4198938" y="3684588"/>
            <a:ext cx="5905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Wichita</a:t>
            </a:r>
          </a:p>
        </p:txBody>
      </p:sp>
      <p:sp>
        <p:nvSpPr>
          <p:cNvPr id="760129" name="Text Box 321"/>
          <p:cNvSpPr txBox="1">
            <a:spLocks noChangeAspect="1" noChangeArrowheads="1"/>
          </p:cNvSpPr>
          <p:nvPr/>
        </p:nvSpPr>
        <p:spPr bwMode="auto">
          <a:xfrm>
            <a:off x="5080000" y="2568575"/>
            <a:ext cx="7556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Milwaukee</a:t>
            </a:r>
          </a:p>
        </p:txBody>
      </p:sp>
      <p:sp>
        <p:nvSpPr>
          <p:cNvPr id="760130" name="Text Box 322"/>
          <p:cNvSpPr txBox="1">
            <a:spLocks noChangeAspect="1" noChangeArrowheads="1"/>
          </p:cNvSpPr>
          <p:nvPr/>
        </p:nvSpPr>
        <p:spPr bwMode="auto">
          <a:xfrm>
            <a:off x="5913438" y="2659063"/>
            <a:ext cx="5524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Detroit</a:t>
            </a:r>
          </a:p>
        </p:txBody>
      </p:sp>
      <p:sp>
        <p:nvSpPr>
          <p:cNvPr id="760131" name="Text Box 323"/>
          <p:cNvSpPr txBox="1">
            <a:spLocks noChangeAspect="1" noChangeArrowheads="1"/>
          </p:cNvSpPr>
          <p:nvPr/>
        </p:nvSpPr>
        <p:spPr bwMode="auto">
          <a:xfrm>
            <a:off x="3922713" y="5362575"/>
            <a:ext cx="6477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Houston</a:t>
            </a:r>
          </a:p>
        </p:txBody>
      </p:sp>
      <p:sp>
        <p:nvSpPr>
          <p:cNvPr id="760132" name="Text Box 324"/>
          <p:cNvSpPr txBox="1">
            <a:spLocks noChangeAspect="1" noChangeArrowheads="1"/>
          </p:cNvSpPr>
          <p:nvPr/>
        </p:nvSpPr>
        <p:spPr bwMode="auto">
          <a:xfrm>
            <a:off x="4722813" y="5143500"/>
            <a:ext cx="8763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New Orleans</a:t>
            </a:r>
          </a:p>
        </p:txBody>
      </p:sp>
      <p:sp>
        <p:nvSpPr>
          <p:cNvPr id="760133" name="Text Box 325"/>
          <p:cNvSpPr txBox="1">
            <a:spLocks noChangeAspect="1" noChangeArrowheads="1"/>
          </p:cNvSpPr>
          <p:nvPr/>
        </p:nvSpPr>
        <p:spPr bwMode="auto">
          <a:xfrm>
            <a:off x="5364163" y="4922838"/>
            <a:ext cx="6413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Jackson</a:t>
            </a:r>
          </a:p>
        </p:txBody>
      </p:sp>
      <p:sp>
        <p:nvSpPr>
          <p:cNvPr id="760134" name="Text Box 326"/>
          <p:cNvSpPr txBox="1">
            <a:spLocks noChangeAspect="1" noChangeArrowheads="1"/>
          </p:cNvSpPr>
          <p:nvPr/>
        </p:nvSpPr>
        <p:spPr bwMode="auto">
          <a:xfrm>
            <a:off x="4935538" y="4286250"/>
            <a:ext cx="463550" cy="365125"/>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Little</a:t>
            </a:r>
          </a:p>
          <a:p>
            <a:pPr>
              <a:spcBef>
                <a:spcPct val="0"/>
              </a:spcBef>
              <a:buClrTx/>
              <a:buFontTx/>
              <a:buNone/>
            </a:pPr>
            <a:r>
              <a:rPr lang="en-US" sz="900" b="1">
                <a:solidFill>
                  <a:srgbClr val="000099"/>
                </a:solidFill>
              </a:rPr>
              <a:t>Rock</a:t>
            </a:r>
          </a:p>
        </p:txBody>
      </p:sp>
      <p:sp>
        <p:nvSpPr>
          <p:cNvPr id="760135" name="Text Box 327"/>
          <p:cNvSpPr txBox="1">
            <a:spLocks noChangeAspect="1" noChangeArrowheads="1"/>
          </p:cNvSpPr>
          <p:nvPr/>
        </p:nvSpPr>
        <p:spPr bwMode="auto">
          <a:xfrm>
            <a:off x="4814888" y="3536950"/>
            <a:ext cx="6667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St. Louis</a:t>
            </a:r>
          </a:p>
        </p:txBody>
      </p:sp>
      <p:sp>
        <p:nvSpPr>
          <p:cNvPr id="760136" name="Text Box 328"/>
          <p:cNvSpPr txBox="1">
            <a:spLocks noChangeAspect="1" noChangeArrowheads="1"/>
          </p:cNvSpPr>
          <p:nvPr/>
        </p:nvSpPr>
        <p:spPr bwMode="auto">
          <a:xfrm>
            <a:off x="4540250" y="2879725"/>
            <a:ext cx="8191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Des Moines</a:t>
            </a:r>
          </a:p>
        </p:txBody>
      </p:sp>
      <p:sp>
        <p:nvSpPr>
          <p:cNvPr id="760137" name="Text Box 329"/>
          <p:cNvSpPr txBox="1">
            <a:spLocks noChangeAspect="1" noChangeArrowheads="1"/>
          </p:cNvSpPr>
          <p:nvPr/>
        </p:nvSpPr>
        <p:spPr bwMode="auto">
          <a:xfrm>
            <a:off x="1041400" y="4632325"/>
            <a:ext cx="7429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San Diego</a:t>
            </a:r>
          </a:p>
        </p:txBody>
      </p:sp>
      <p:sp>
        <p:nvSpPr>
          <p:cNvPr id="760138" name="Text Box 330"/>
          <p:cNvSpPr txBox="1">
            <a:spLocks noChangeAspect="1" noChangeArrowheads="1"/>
          </p:cNvSpPr>
          <p:nvPr/>
        </p:nvSpPr>
        <p:spPr bwMode="auto">
          <a:xfrm>
            <a:off x="5638800" y="4119563"/>
            <a:ext cx="6858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Nashville</a:t>
            </a:r>
          </a:p>
        </p:txBody>
      </p:sp>
      <p:sp>
        <p:nvSpPr>
          <p:cNvPr id="760139" name="Text Box 331"/>
          <p:cNvSpPr txBox="1">
            <a:spLocks noChangeAspect="1" noChangeArrowheads="1"/>
          </p:cNvSpPr>
          <p:nvPr/>
        </p:nvSpPr>
        <p:spPr bwMode="auto">
          <a:xfrm>
            <a:off x="6313488" y="4500563"/>
            <a:ext cx="5715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Atlanta</a:t>
            </a:r>
          </a:p>
        </p:txBody>
      </p:sp>
      <p:sp>
        <p:nvSpPr>
          <p:cNvPr id="760140" name="Text Box 332"/>
          <p:cNvSpPr txBox="1">
            <a:spLocks noChangeAspect="1" noChangeArrowheads="1"/>
          </p:cNvSpPr>
          <p:nvPr/>
        </p:nvSpPr>
        <p:spPr bwMode="auto">
          <a:xfrm>
            <a:off x="5805488" y="4643438"/>
            <a:ext cx="8699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Montgomery</a:t>
            </a:r>
          </a:p>
        </p:txBody>
      </p:sp>
      <p:sp>
        <p:nvSpPr>
          <p:cNvPr id="760141" name="Text Box 333"/>
          <p:cNvSpPr txBox="1">
            <a:spLocks noChangeAspect="1" noChangeArrowheads="1"/>
          </p:cNvSpPr>
          <p:nvPr/>
        </p:nvSpPr>
        <p:spPr bwMode="auto">
          <a:xfrm>
            <a:off x="5570538" y="3344863"/>
            <a:ext cx="1211262" cy="228600"/>
          </a:xfrm>
          <a:prstGeom prst="rect">
            <a:avLst/>
          </a:prstGeom>
          <a:noFill/>
          <a:ln w="12700">
            <a:noFill/>
            <a:miter lim="800000"/>
            <a:headEnd type="none" w="sm" len="sm"/>
            <a:tailEnd type="none" w="sm" len="sm"/>
          </a:ln>
        </p:spPr>
        <p:txBody>
          <a:bodyPr lIns="91424" tIns="45712" rIns="91424" bIns="45712">
            <a:spAutoFit/>
          </a:bodyPr>
          <a:lstStyle/>
          <a:p>
            <a:pPr>
              <a:spcBef>
                <a:spcPct val="0"/>
              </a:spcBef>
              <a:buClrTx/>
              <a:buFontTx/>
              <a:buNone/>
            </a:pPr>
            <a:r>
              <a:rPr lang="en-US" sz="900" b="1">
                <a:solidFill>
                  <a:srgbClr val="000099"/>
                </a:solidFill>
              </a:rPr>
              <a:t>Indianapolis</a:t>
            </a:r>
          </a:p>
        </p:txBody>
      </p:sp>
      <p:sp>
        <p:nvSpPr>
          <p:cNvPr id="760142" name="Text Box 334"/>
          <p:cNvSpPr txBox="1">
            <a:spLocks noChangeAspect="1" noChangeArrowheads="1"/>
          </p:cNvSpPr>
          <p:nvPr/>
        </p:nvSpPr>
        <p:spPr bwMode="auto">
          <a:xfrm>
            <a:off x="5341938" y="3171825"/>
            <a:ext cx="6350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Chicago</a:t>
            </a:r>
          </a:p>
        </p:txBody>
      </p:sp>
      <p:sp>
        <p:nvSpPr>
          <p:cNvPr id="760143" name="Text Box 335"/>
          <p:cNvSpPr txBox="1">
            <a:spLocks noChangeAspect="1" noChangeArrowheads="1"/>
          </p:cNvSpPr>
          <p:nvPr/>
        </p:nvSpPr>
        <p:spPr bwMode="auto">
          <a:xfrm>
            <a:off x="5707063" y="3856038"/>
            <a:ext cx="7112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Louisville</a:t>
            </a:r>
          </a:p>
        </p:txBody>
      </p:sp>
      <p:sp>
        <p:nvSpPr>
          <p:cNvPr id="760144" name="Text Box 336"/>
          <p:cNvSpPr txBox="1">
            <a:spLocks noChangeAspect="1" noChangeArrowheads="1"/>
          </p:cNvSpPr>
          <p:nvPr/>
        </p:nvSpPr>
        <p:spPr bwMode="auto">
          <a:xfrm>
            <a:off x="6667500" y="2879725"/>
            <a:ext cx="7556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Pittsburgh</a:t>
            </a:r>
          </a:p>
        </p:txBody>
      </p:sp>
      <p:sp>
        <p:nvSpPr>
          <p:cNvPr id="760145" name="Text Box 337"/>
          <p:cNvSpPr txBox="1">
            <a:spLocks noChangeAspect="1" noChangeArrowheads="1"/>
          </p:cNvSpPr>
          <p:nvPr/>
        </p:nvSpPr>
        <p:spPr bwMode="auto">
          <a:xfrm>
            <a:off x="950913" y="3513138"/>
            <a:ext cx="6350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Oakland</a:t>
            </a:r>
          </a:p>
        </p:txBody>
      </p:sp>
      <p:sp>
        <p:nvSpPr>
          <p:cNvPr id="760146" name="Text Box 338"/>
          <p:cNvSpPr txBox="1">
            <a:spLocks noChangeAspect="1" noChangeArrowheads="1"/>
          </p:cNvSpPr>
          <p:nvPr/>
        </p:nvSpPr>
        <p:spPr bwMode="auto">
          <a:xfrm>
            <a:off x="6118225" y="3097213"/>
            <a:ext cx="7239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Cleveland</a:t>
            </a:r>
          </a:p>
        </p:txBody>
      </p:sp>
      <p:sp>
        <p:nvSpPr>
          <p:cNvPr id="760147" name="Text Box 339"/>
          <p:cNvSpPr txBox="1">
            <a:spLocks noChangeAspect="1" noChangeArrowheads="1"/>
          </p:cNvSpPr>
          <p:nvPr/>
        </p:nvSpPr>
        <p:spPr bwMode="auto">
          <a:xfrm>
            <a:off x="1181100" y="3973513"/>
            <a:ext cx="86360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Los Angeles</a:t>
            </a:r>
          </a:p>
        </p:txBody>
      </p:sp>
      <p:sp>
        <p:nvSpPr>
          <p:cNvPr id="760148" name="Line 340"/>
          <p:cNvSpPr>
            <a:spLocks noChangeAspect="1" noChangeShapeType="1"/>
          </p:cNvSpPr>
          <p:nvPr/>
        </p:nvSpPr>
        <p:spPr bwMode="auto">
          <a:xfrm>
            <a:off x="7286625" y="2032000"/>
            <a:ext cx="342900" cy="217488"/>
          </a:xfrm>
          <a:prstGeom prst="line">
            <a:avLst/>
          </a:prstGeom>
          <a:noFill/>
          <a:ln w="12700">
            <a:solidFill>
              <a:srgbClr val="FF0000"/>
            </a:solidFill>
            <a:round/>
            <a:headEnd type="triangle" w="med" len="med"/>
            <a:tailEnd type="none" w="sm" len="sm"/>
          </a:ln>
        </p:spPr>
        <p:txBody>
          <a:bodyPr/>
          <a:lstStyle/>
          <a:p>
            <a:endParaRPr lang="en-US"/>
          </a:p>
        </p:txBody>
      </p:sp>
      <p:sp>
        <p:nvSpPr>
          <p:cNvPr id="760149" name="Line 341"/>
          <p:cNvSpPr>
            <a:spLocks noChangeAspect="1" noChangeShapeType="1"/>
          </p:cNvSpPr>
          <p:nvPr/>
        </p:nvSpPr>
        <p:spPr bwMode="auto">
          <a:xfrm flipH="1">
            <a:off x="8086725" y="1590675"/>
            <a:ext cx="228600" cy="369888"/>
          </a:xfrm>
          <a:prstGeom prst="line">
            <a:avLst/>
          </a:prstGeom>
          <a:noFill/>
          <a:ln w="12700">
            <a:solidFill>
              <a:srgbClr val="FF0000"/>
            </a:solidFill>
            <a:round/>
            <a:headEnd type="triangle" w="med" len="med"/>
            <a:tailEnd/>
          </a:ln>
        </p:spPr>
        <p:txBody>
          <a:bodyPr/>
          <a:lstStyle/>
          <a:p>
            <a:endParaRPr lang="en-US"/>
          </a:p>
        </p:txBody>
      </p:sp>
      <p:sp>
        <p:nvSpPr>
          <p:cNvPr id="760150" name="Text Box 342"/>
          <p:cNvSpPr txBox="1">
            <a:spLocks noChangeAspect="1" noChangeArrowheads="1"/>
          </p:cNvSpPr>
          <p:nvPr/>
        </p:nvSpPr>
        <p:spPr bwMode="auto">
          <a:xfrm>
            <a:off x="6645275" y="3513138"/>
            <a:ext cx="7937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Huntington</a:t>
            </a:r>
          </a:p>
        </p:txBody>
      </p:sp>
      <p:sp>
        <p:nvSpPr>
          <p:cNvPr id="760151" name="Line 343"/>
          <p:cNvSpPr>
            <a:spLocks noChangeAspect="1" noChangeShapeType="1"/>
          </p:cNvSpPr>
          <p:nvPr/>
        </p:nvSpPr>
        <p:spPr bwMode="auto">
          <a:xfrm flipH="1">
            <a:off x="8040688" y="2466975"/>
            <a:ext cx="206375" cy="73025"/>
          </a:xfrm>
          <a:prstGeom prst="line">
            <a:avLst/>
          </a:prstGeom>
          <a:noFill/>
          <a:ln w="12700">
            <a:solidFill>
              <a:srgbClr val="FF0000"/>
            </a:solidFill>
            <a:round/>
            <a:headEnd type="triangle" w="med" len="med"/>
            <a:tailEnd/>
          </a:ln>
        </p:spPr>
        <p:txBody>
          <a:bodyPr/>
          <a:lstStyle/>
          <a:p>
            <a:endParaRPr lang="en-US"/>
          </a:p>
        </p:txBody>
      </p:sp>
      <p:sp>
        <p:nvSpPr>
          <p:cNvPr id="760152" name="Line 344"/>
          <p:cNvSpPr>
            <a:spLocks noChangeAspect="1" noChangeShapeType="1"/>
          </p:cNvSpPr>
          <p:nvPr/>
        </p:nvSpPr>
        <p:spPr bwMode="auto">
          <a:xfrm flipH="1">
            <a:off x="7972425" y="2686050"/>
            <a:ext cx="204788" cy="0"/>
          </a:xfrm>
          <a:prstGeom prst="line">
            <a:avLst/>
          </a:prstGeom>
          <a:noFill/>
          <a:ln w="12700">
            <a:solidFill>
              <a:srgbClr val="FF0000"/>
            </a:solidFill>
            <a:round/>
            <a:headEnd type="triangle" w="med" len="med"/>
            <a:tailEnd/>
          </a:ln>
        </p:spPr>
        <p:txBody>
          <a:bodyPr/>
          <a:lstStyle/>
          <a:p>
            <a:endParaRPr lang="en-US"/>
          </a:p>
        </p:txBody>
      </p:sp>
      <p:sp>
        <p:nvSpPr>
          <p:cNvPr id="760154" name="Line 346"/>
          <p:cNvSpPr>
            <a:spLocks noChangeAspect="1" noChangeShapeType="1"/>
          </p:cNvSpPr>
          <p:nvPr/>
        </p:nvSpPr>
        <p:spPr bwMode="auto">
          <a:xfrm flipH="1" flipV="1">
            <a:off x="7058025" y="4016375"/>
            <a:ext cx="706438" cy="204788"/>
          </a:xfrm>
          <a:prstGeom prst="line">
            <a:avLst/>
          </a:prstGeom>
          <a:noFill/>
          <a:ln w="12700">
            <a:solidFill>
              <a:srgbClr val="FF0000"/>
            </a:solidFill>
            <a:round/>
            <a:headEnd type="triangle" w="med" len="med"/>
            <a:tailEnd type="none" w="sm" len="sm"/>
          </a:ln>
        </p:spPr>
        <p:txBody>
          <a:bodyPr/>
          <a:lstStyle/>
          <a:p>
            <a:endParaRPr lang="en-US"/>
          </a:p>
        </p:txBody>
      </p:sp>
      <p:sp>
        <p:nvSpPr>
          <p:cNvPr id="760155" name="Line 347"/>
          <p:cNvSpPr>
            <a:spLocks noChangeAspect="1" noChangeShapeType="1"/>
          </p:cNvSpPr>
          <p:nvPr/>
        </p:nvSpPr>
        <p:spPr bwMode="auto">
          <a:xfrm>
            <a:off x="7629525" y="2906713"/>
            <a:ext cx="822325" cy="233362"/>
          </a:xfrm>
          <a:prstGeom prst="line">
            <a:avLst/>
          </a:prstGeom>
          <a:noFill/>
          <a:ln w="12700">
            <a:solidFill>
              <a:srgbClr val="FF0000"/>
            </a:solidFill>
            <a:round/>
            <a:headEnd type="none" w="sm" len="sm"/>
            <a:tailEnd type="triangle" w="med" len="med"/>
          </a:ln>
        </p:spPr>
        <p:txBody>
          <a:bodyPr/>
          <a:lstStyle/>
          <a:p>
            <a:endParaRPr lang="en-US"/>
          </a:p>
        </p:txBody>
      </p:sp>
      <p:sp>
        <p:nvSpPr>
          <p:cNvPr id="760156" name="Line 348"/>
          <p:cNvSpPr>
            <a:spLocks noChangeAspect="1" noChangeShapeType="1"/>
          </p:cNvSpPr>
          <p:nvPr/>
        </p:nvSpPr>
        <p:spPr bwMode="auto">
          <a:xfrm>
            <a:off x="7604125" y="3057525"/>
            <a:ext cx="412750" cy="217488"/>
          </a:xfrm>
          <a:prstGeom prst="line">
            <a:avLst/>
          </a:prstGeom>
          <a:noFill/>
          <a:ln w="12700">
            <a:solidFill>
              <a:srgbClr val="FF0000"/>
            </a:solidFill>
            <a:round/>
            <a:headEnd/>
            <a:tailEnd type="triangle" w="med" len="med"/>
          </a:ln>
        </p:spPr>
        <p:txBody>
          <a:bodyPr/>
          <a:lstStyle/>
          <a:p>
            <a:endParaRPr lang="en-US"/>
          </a:p>
        </p:txBody>
      </p:sp>
      <p:sp>
        <p:nvSpPr>
          <p:cNvPr id="760157" name="Line 349"/>
          <p:cNvSpPr>
            <a:spLocks noChangeAspect="1" noChangeShapeType="1"/>
          </p:cNvSpPr>
          <p:nvPr/>
        </p:nvSpPr>
        <p:spPr bwMode="auto">
          <a:xfrm>
            <a:off x="7561263" y="3198813"/>
            <a:ext cx="411162" cy="252412"/>
          </a:xfrm>
          <a:prstGeom prst="line">
            <a:avLst/>
          </a:prstGeom>
          <a:noFill/>
          <a:ln w="12700">
            <a:solidFill>
              <a:srgbClr val="FF0000"/>
            </a:solidFill>
            <a:round/>
            <a:headEnd type="none" w="sm" len="sm"/>
            <a:tailEnd type="triangle" w="med" len="med"/>
          </a:ln>
        </p:spPr>
        <p:txBody>
          <a:bodyPr/>
          <a:lstStyle/>
          <a:p>
            <a:endParaRPr lang="en-US"/>
          </a:p>
        </p:txBody>
      </p:sp>
      <p:sp>
        <p:nvSpPr>
          <p:cNvPr id="760158" name="Line 350"/>
          <p:cNvSpPr>
            <a:spLocks noChangeAspect="1" noChangeShapeType="1"/>
          </p:cNvSpPr>
          <p:nvPr/>
        </p:nvSpPr>
        <p:spPr bwMode="auto">
          <a:xfrm>
            <a:off x="7423150" y="3344863"/>
            <a:ext cx="549275" cy="292100"/>
          </a:xfrm>
          <a:prstGeom prst="line">
            <a:avLst/>
          </a:prstGeom>
          <a:noFill/>
          <a:ln w="12700">
            <a:solidFill>
              <a:srgbClr val="FF0000"/>
            </a:solidFill>
            <a:round/>
            <a:headEnd type="none" w="sm" len="sm"/>
            <a:tailEnd type="triangle" w="med" len="med"/>
          </a:ln>
        </p:spPr>
        <p:txBody>
          <a:bodyPr/>
          <a:lstStyle/>
          <a:p>
            <a:endParaRPr lang="en-US"/>
          </a:p>
        </p:txBody>
      </p:sp>
      <p:sp>
        <p:nvSpPr>
          <p:cNvPr id="760159" name="Text Box 351"/>
          <p:cNvSpPr txBox="1">
            <a:spLocks noChangeAspect="1" noChangeArrowheads="1"/>
          </p:cNvSpPr>
          <p:nvPr/>
        </p:nvSpPr>
        <p:spPr bwMode="auto">
          <a:xfrm>
            <a:off x="8108950" y="3756025"/>
            <a:ext cx="349250" cy="228600"/>
          </a:xfrm>
          <a:prstGeom prst="rect">
            <a:avLst/>
          </a:prstGeom>
          <a:noFill/>
          <a:ln w="12700">
            <a:noFill/>
            <a:miter lim="800000"/>
            <a:headEnd type="none" w="sm" len="sm"/>
            <a:tailEnd type="none" w="sm" len="sm"/>
          </a:ln>
        </p:spPr>
        <p:txBody>
          <a:bodyPr wrap="none" lIns="91424" tIns="45712" rIns="91424" bIns="45712">
            <a:spAutoFit/>
          </a:bodyPr>
          <a:lstStyle/>
          <a:p>
            <a:pPr>
              <a:spcBef>
                <a:spcPct val="0"/>
              </a:spcBef>
              <a:buClrTx/>
              <a:buFontTx/>
              <a:buNone/>
            </a:pPr>
            <a:r>
              <a:rPr lang="en-US" sz="900" b="1">
                <a:solidFill>
                  <a:srgbClr val="000099"/>
                </a:solidFill>
              </a:rPr>
              <a:t>DC</a:t>
            </a:r>
          </a:p>
        </p:txBody>
      </p:sp>
      <p:sp>
        <p:nvSpPr>
          <p:cNvPr id="760160" name="Line 352"/>
          <p:cNvSpPr>
            <a:spLocks noChangeAspect="1" noChangeShapeType="1"/>
          </p:cNvSpPr>
          <p:nvPr/>
        </p:nvSpPr>
        <p:spPr bwMode="auto">
          <a:xfrm>
            <a:off x="7332663" y="3467100"/>
            <a:ext cx="844550" cy="363538"/>
          </a:xfrm>
          <a:prstGeom prst="line">
            <a:avLst/>
          </a:prstGeom>
          <a:noFill/>
          <a:ln w="12700">
            <a:solidFill>
              <a:srgbClr val="FF0000"/>
            </a:solidFill>
            <a:round/>
            <a:headEnd type="none" w="sm" len="sm"/>
            <a:tailEnd type="triangle" w="med" len="med"/>
          </a:ln>
        </p:spPr>
        <p:txBody>
          <a:bodyPr/>
          <a:lstStyle/>
          <a:p>
            <a:endParaRPr lang="en-US"/>
          </a:p>
        </p:txBody>
      </p:sp>
      <p:sp>
        <p:nvSpPr>
          <p:cNvPr id="760161" name="Line 353"/>
          <p:cNvSpPr>
            <a:spLocks noChangeAspect="1" noChangeShapeType="1"/>
          </p:cNvSpPr>
          <p:nvPr/>
        </p:nvSpPr>
        <p:spPr bwMode="auto">
          <a:xfrm>
            <a:off x="7218363" y="3781425"/>
            <a:ext cx="593725" cy="166688"/>
          </a:xfrm>
          <a:prstGeom prst="line">
            <a:avLst/>
          </a:prstGeom>
          <a:noFill/>
          <a:ln w="12700">
            <a:solidFill>
              <a:srgbClr val="FF0000"/>
            </a:solidFill>
            <a:round/>
            <a:headEnd type="none" w="sm" len="sm"/>
            <a:tailEnd type="triangle" w="med" len="med"/>
          </a:ln>
        </p:spPr>
        <p:txBody>
          <a:bodyPr/>
          <a:lstStyle/>
          <a:p>
            <a:endParaRPr lang="en-US"/>
          </a:p>
        </p:txBody>
      </p:sp>
      <p:sp>
        <p:nvSpPr>
          <p:cNvPr id="10594" name="AutoShape 354"/>
          <p:cNvSpPr>
            <a:spLocks noChangeAspect="1" noChangeArrowheads="1"/>
          </p:cNvSpPr>
          <p:nvPr/>
        </p:nvSpPr>
        <p:spPr bwMode="auto">
          <a:xfrm>
            <a:off x="4495800" y="5351463"/>
            <a:ext cx="457200" cy="246062"/>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595" name="AutoShape 355"/>
          <p:cNvSpPr>
            <a:spLocks noChangeAspect="1" noChangeArrowheads="1"/>
          </p:cNvSpPr>
          <p:nvPr/>
        </p:nvSpPr>
        <p:spPr bwMode="auto">
          <a:xfrm>
            <a:off x="2209800" y="4267200"/>
            <a:ext cx="419100" cy="228600"/>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599" name="AutoShape 359"/>
          <p:cNvSpPr>
            <a:spLocks noChangeAspect="1" noChangeArrowheads="1"/>
          </p:cNvSpPr>
          <p:nvPr/>
        </p:nvSpPr>
        <p:spPr bwMode="auto">
          <a:xfrm>
            <a:off x="1066800" y="4114800"/>
            <a:ext cx="517525" cy="268288"/>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00" name="AutoShape 360"/>
          <p:cNvSpPr>
            <a:spLocks noChangeAspect="1" noChangeArrowheads="1"/>
          </p:cNvSpPr>
          <p:nvPr/>
        </p:nvSpPr>
        <p:spPr bwMode="auto">
          <a:xfrm>
            <a:off x="950913" y="3205163"/>
            <a:ext cx="496887" cy="268287"/>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07" name="AutoShape 367"/>
          <p:cNvSpPr>
            <a:spLocks noChangeAspect="1" noChangeArrowheads="1"/>
          </p:cNvSpPr>
          <p:nvPr/>
        </p:nvSpPr>
        <p:spPr bwMode="auto">
          <a:xfrm>
            <a:off x="1371600" y="1524000"/>
            <a:ext cx="555625" cy="300038"/>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14" name="AutoShape 374"/>
          <p:cNvSpPr>
            <a:spLocks noChangeAspect="1" noChangeArrowheads="1"/>
          </p:cNvSpPr>
          <p:nvPr/>
        </p:nvSpPr>
        <p:spPr bwMode="auto">
          <a:xfrm>
            <a:off x="5334000" y="5257800"/>
            <a:ext cx="457200" cy="238125"/>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17" name="AutoShape 377"/>
          <p:cNvSpPr>
            <a:spLocks noChangeAspect="1" noChangeArrowheads="1"/>
          </p:cNvSpPr>
          <p:nvPr/>
        </p:nvSpPr>
        <p:spPr bwMode="auto">
          <a:xfrm>
            <a:off x="6851650" y="5464175"/>
            <a:ext cx="387350" cy="204788"/>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18" name="AutoShape 378"/>
          <p:cNvSpPr>
            <a:spLocks noChangeAspect="1" noChangeArrowheads="1"/>
          </p:cNvSpPr>
          <p:nvPr/>
        </p:nvSpPr>
        <p:spPr bwMode="auto">
          <a:xfrm>
            <a:off x="6440488" y="4357688"/>
            <a:ext cx="265112" cy="144462"/>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23" name="AutoShape 383"/>
          <p:cNvSpPr>
            <a:spLocks noChangeAspect="1" noChangeArrowheads="1"/>
          </p:cNvSpPr>
          <p:nvPr/>
        </p:nvSpPr>
        <p:spPr bwMode="auto">
          <a:xfrm>
            <a:off x="5334000" y="3052763"/>
            <a:ext cx="373063" cy="200025"/>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24" name="AutoShape 384"/>
          <p:cNvSpPr>
            <a:spLocks noChangeAspect="1" noChangeArrowheads="1"/>
          </p:cNvSpPr>
          <p:nvPr/>
        </p:nvSpPr>
        <p:spPr bwMode="auto">
          <a:xfrm>
            <a:off x="6019800" y="2438400"/>
            <a:ext cx="381000" cy="196850"/>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27" name="AutoShape 387"/>
          <p:cNvSpPr>
            <a:spLocks noChangeAspect="1" noChangeArrowheads="1"/>
          </p:cNvSpPr>
          <p:nvPr/>
        </p:nvSpPr>
        <p:spPr bwMode="auto">
          <a:xfrm>
            <a:off x="5105400" y="3733800"/>
            <a:ext cx="336550" cy="176213"/>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29" name="AutoShape 389"/>
          <p:cNvSpPr>
            <a:spLocks noChangeAspect="1" noChangeArrowheads="1"/>
          </p:cNvSpPr>
          <p:nvPr/>
        </p:nvSpPr>
        <p:spPr bwMode="auto">
          <a:xfrm>
            <a:off x="6019800" y="4038600"/>
            <a:ext cx="341313" cy="184150"/>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33" name="AutoShape 393"/>
          <p:cNvSpPr>
            <a:spLocks noChangeAspect="1" noChangeArrowheads="1"/>
          </p:cNvSpPr>
          <p:nvPr/>
        </p:nvSpPr>
        <p:spPr bwMode="auto">
          <a:xfrm>
            <a:off x="6394450" y="2916238"/>
            <a:ext cx="387350" cy="209550"/>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34" name="AutoShape 394"/>
          <p:cNvSpPr>
            <a:spLocks noChangeAspect="1" noChangeArrowheads="1"/>
          </p:cNvSpPr>
          <p:nvPr/>
        </p:nvSpPr>
        <p:spPr bwMode="auto">
          <a:xfrm>
            <a:off x="6919913" y="3948113"/>
            <a:ext cx="395287" cy="209550"/>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35" name="AutoShape 395"/>
          <p:cNvSpPr>
            <a:spLocks noChangeAspect="1" noChangeArrowheads="1"/>
          </p:cNvSpPr>
          <p:nvPr/>
        </p:nvSpPr>
        <p:spPr bwMode="auto">
          <a:xfrm>
            <a:off x="7010400" y="3657600"/>
            <a:ext cx="455613" cy="239713"/>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760209" name="Line 401"/>
          <p:cNvSpPr>
            <a:spLocks noChangeAspect="1" noChangeShapeType="1"/>
          </p:cNvSpPr>
          <p:nvPr/>
        </p:nvSpPr>
        <p:spPr bwMode="auto">
          <a:xfrm>
            <a:off x="7675563" y="1822450"/>
            <a:ext cx="204787" cy="511175"/>
          </a:xfrm>
          <a:prstGeom prst="line">
            <a:avLst/>
          </a:prstGeom>
          <a:noFill/>
          <a:ln w="12700">
            <a:solidFill>
              <a:srgbClr val="FF0000"/>
            </a:solidFill>
            <a:round/>
            <a:headEnd type="triangle" w="med" len="med"/>
            <a:tailEnd type="none" w="sm" len="sm"/>
          </a:ln>
        </p:spPr>
        <p:txBody>
          <a:bodyPr/>
          <a:lstStyle/>
          <a:p>
            <a:endParaRPr lang="en-US"/>
          </a:p>
        </p:txBody>
      </p:sp>
      <p:sp>
        <p:nvSpPr>
          <p:cNvPr id="10642" name="AutoShape 402"/>
          <p:cNvSpPr>
            <a:spLocks noChangeAspect="1" noChangeArrowheads="1"/>
          </p:cNvSpPr>
          <p:nvPr/>
        </p:nvSpPr>
        <p:spPr bwMode="auto">
          <a:xfrm>
            <a:off x="7880350" y="2508250"/>
            <a:ext cx="136525" cy="73025"/>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45" name="AutoShape 405"/>
          <p:cNvSpPr>
            <a:spLocks noChangeAspect="1" noChangeArrowheads="1"/>
          </p:cNvSpPr>
          <p:nvPr/>
        </p:nvSpPr>
        <p:spPr bwMode="auto">
          <a:xfrm>
            <a:off x="7391400" y="2971800"/>
            <a:ext cx="457200" cy="247650"/>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10646" name="AutoShape 406"/>
          <p:cNvSpPr>
            <a:spLocks noChangeAspect="1" noChangeArrowheads="1"/>
          </p:cNvSpPr>
          <p:nvPr/>
        </p:nvSpPr>
        <p:spPr bwMode="auto">
          <a:xfrm>
            <a:off x="7537450" y="2849563"/>
            <a:ext cx="138113" cy="73025"/>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760215" name="Line 407"/>
          <p:cNvSpPr>
            <a:spLocks noChangeAspect="1" noChangeShapeType="1"/>
          </p:cNvSpPr>
          <p:nvPr/>
        </p:nvSpPr>
        <p:spPr bwMode="auto">
          <a:xfrm>
            <a:off x="7904163" y="2759075"/>
            <a:ext cx="411162" cy="74613"/>
          </a:xfrm>
          <a:prstGeom prst="line">
            <a:avLst/>
          </a:prstGeom>
          <a:noFill/>
          <a:ln w="12700">
            <a:solidFill>
              <a:srgbClr val="FF0000"/>
            </a:solidFill>
            <a:round/>
            <a:headEnd/>
            <a:tailEnd type="triangle" w="med" len="med"/>
          </a:ln>
        </p:spPr>
        <p:txBody>
          <a:bodyPr/>
          <a:lstStyle/>
          <a:p>
            <a:endParaRPr lang="en-US"/>
          </a:p>
        </p:txBody>
      </p:sp>
      <p:sp>
        <p:nvSpPr>
          <p:cNvPr id="10649" name="AutoShape 409"/>
          <p:cNvSpPr>
            <a:spLocks noChangeAspect="1" noChangeArrowheads="1"/>
          </p:cNvSpPr>
          <p:nvPr/>
        </p:nvSpPr>
        <p:spPr bwMode="auto">
          <a:xfrm>
            <a:off x="7675563" y="2781300"/>
            <a:ext cx="136525" cy="74613"/>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760218" name="Text Box 410"/>
          <p:cNvSpPr txBox="1">
            <a:spLocks noChangeArrowheads="1"/>
          </p:cNvSpPr>
          <p:nvPr/>
        </p:nvSpPr>
        <p:spPr bwMode="auto">
          <a:xfrm>
            <a:off x="7620000" y="4876800"/>
            <a:ext cx="1069975" cy="650875"/>
          </a:xfrm>
          <a:prstGeom prst="rect">
            <a:avLst/>
          </a:prstGeom>
          <a:noFill/>
          <a:ln w="12700">
            <a:solidFill>
              <a:schemeClr val="tx1"/>
            </a:solidFill>
            <a:miter lim="800000"/>
            <a:headEnd type="none" w="sm" len="sm"/>
            <a:tailEnd type="none" w="sm" len="sm"/>
          </a:ln>
        </p:spPr>
        <p:txBody>
          <a:bodyPr wrap="none" lIns="91424" tIns="45712" rIns="91424" bIns="45712">
            <a:spAutoFit/>
          </a:bodyPr>
          <a:lstStyle/>
          <a:p>
            <a:pPr eaLnBrk="1" hangingPunct="1">
              <a:spcBef>
                <a:spcPct val="0"/>
              </a:spcBef>
              <a:buClr>
                <a:srgbClr val="FFDDFF"/>
              </a:buClr>
              <a:buFont typeface="Wingdings" pitchFamily="2" charset="2"/>
              <a:buChar char="n"/>
            </a:pPr>
            <a:r>
              <a:rPr lang="en-US" sz="900" b="1">
                <a:solidFill>
                  <a:schemeClr val="tx1"/>
                </a:solidFill>
              </a:rPr>
              <a:t>Eastern Area</a:t>
            </a:r>
          </a:p>
          <a:p>
            <a:pPr eaLnBrk="1" hangingPunct="1">
              <a:spcBef>
                <a:spcPct val="0"/>
              </a:spcBef>
              <a:buClr>
                <a:srgbClr val="99FFCC"/>
              </a:buClr>
              <a:buFont typeface="Wingdings" pitchFamily="2" charset="2"/>
              <a:buChar char="n"/>
            </a:pPr>
            <a:r>
              <a:rPr lang="en-US" sz="900" b="1">
                <a:solidFill>
                  <a:schemeClr val="tx1"/>
                </a:solidFill>
              </a:rPr>
              <a:t>Southern Area</a:t>
            </a:r>
          </a:p>
          <a:p>
            <a:pPr eaLnBrk="1" hangingPunct="1">
              <a:spcBef>
                <a:spcPct val="0"/>
              </a:spcBef>
              <a:buClr>
                <a:srgbClr val="FFFF66"/>
              </a:buClr>
              <a:buFont typeface="Wingdings" pitchFamily="2" charset="2"/>
              <a:buChar char="n"/>
            </a:pPr>
            <a:r>
              <a:rPr lang="en-US" sz="900" b="1">
                <a:solidFill>
                  <a:schemeClr val="tx1"/>
                </a:solidFill>
              </a:rPr>
              <a:t>Central Area</a:t>
            </a:r>
          </a:p>
          <a:p>
            <a:pPr eaLnBrk="1" hangingPunct="1">
              <a:spcBef>
                <a:spcPct val="0"/>
              </a:spcBef>
              <a:buClr>
                <a:schemeClr val="hlink"/>
              </a:buClr>
              <a:buFont typeface="Wingdings" pitchFamily="2" charset="2"/>
              <a:buChar char="n"/>
            </a:pPr>
            <a:r>
              <a:rPr lang="en-US" sz="900" b="1">
                <a:solidFill>
                  <a:schemeClr val="tx1"/>
                </a:solidFill>
              </a:rPr>
              <a:t>Western Area</a:t>
            </a:r>
          </a:p>
        </p:txBody>
      </p:sp>
      <p:sp>
        <p:nvSpPr>
          <p:cNvPr id="2" name="AutoShape 383"/>
          <p:cNvSpPr>
            <a:spLocks noChangeAspect="1" noChangeArrowheads="1"/>
          </p:cNvSpPr>
          <p:nvPr/>
        </p:nvSpPr>
        <p:spPr bwMode="auto">
          <a:xfrm>
            <a:off x="5867400" y="3200400"/>
            <a:ext cx="373063" cy="200025"/>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3" name="AutoShape 405"/>
          <p:cNvSpPr>
            <a:spLocks noChangeAspect="1" noChangeArrowheads="1"/>
          </p:cNvSpPr>
          <p:nvPr/>
        </p:nvSpPr>
        <p:spPr bwMode="auto">
          <a:xfrm>
            <a:off x="7467600" y="2819400"/>
            <a:ext cx="457200" cy="247650"/>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4" name="AutoShape 405"/>
          <p:cNvSpPr>
            <a:spLocks noChangeAspect="1" noChangeArrowheads="1"/>
          </p:cNvSpPr>
          <p:nvPr/>
        </p:nvSpPr>
        <p:spPr bwMode="auto">
          <a:xfrm>
            <a:off x="7620000" y="2743200"/>
            <a:ext cx="457200" cy="247650"/>
          </a:xfrm>
          <a:prstGeom prst="star5">
            <a:avLst/>
          </a:prstGeom>
          <a:gradFill rotWithShape="0">
            <a:gsLst>
              <a:gs pos="0">
                <a:srgbClr val="FF0000"/>
              </a:gs>
              <a:gs pos="100000">
                <a:srgbClr val="FF0000">
                  <a:gamma/>
                  <a:shade val="46275"/>
                  <a:invGamma/>
                </a:srgbClr>
              </a:gs>
            </a:gsLst>
            <a:lin ang="5400000" scaled="1"/>
          </a:gradFill>
          <a:ln w="12700">
            <a:solidFill>
              <a:schemeClr val="tx1"/>
            </a:solidFill>
            <a:miter lim="800000"/>
            <a:headEnd type="none" w="sm" len="sm"/>
            <a:tailEnd type="none" w="sm" len="sm"/>
          </a:ln>
          <a:effectLst/>
        </p:spPr>
        <p:txBody>
          <a:bodyPr wrap="none" anchor="ctr"/>
          <a:lstStyle/>
          <a:p>
            <a:pPr>
              <a:spcBef>
                <a:spcPct val="0"/>
              </a:spcBef>
              <a:buClrTx/>
              <a:buFontTx/>
              <a:buNone/>
              <a:defRPr/>
            </a:pPr>
            <a:endParaRPr lang="en-US" sz="3200">
              <a:solidFill>
                <a:schemeClr val="tx1"/>
              </a:solidFill>
              <a:latin typeface="Tahoma" pitchFamily="34" charset="0"/>
              <a:cs typeface="+mn-cs"/>
            </a:endParaRPr>
          </a:p>
        </p:txBody>
      </p:sp>
      <p:sp>
        <p:nvSpPr>
          <p:cNvPr id="760222" name="Rectangle 414"/>
          <p:cNvSpPr>
            <a:spLocks noChangeArrowheads="1"/>
          </p:cNvSpPr>
          <p:nvPr/>
        </p:nvSpPr>
        <p:spPr bwMode="auto">
          <a:xfrm>
            <a:off x="2209800" y="1066800"/>
            <a:ext cx="6934200" cy="366713"/>
          </a:xfrm>
          <a:prstGeom prst="rect">
            <a:avLst/>
          </a:prstGeom>
          <a:noFill/>
          <a:ln w="9525">
            <a:noFill/>
            <a:miter lim="800000"/>
            <a:headEnd/>
            <a:tailEnd/>
          </a:ln>
          <a:effectLst/>
        </p:spPr>
        <p:txBody>
          <a:bodyPr lIns="92075" tIns="46038" rIns="92075" bIns="46038">
            <a:spAutoFit/>
          </a:bodyPr>
          <a:lstStyle/>
          <a:p>
            <a:pPr>
              <a:buFont typeface="Wingdings" pitchFamily="2" charset="2"/>
              <a:buNone/>
            </a:pPr>
            <a:r>
              <a:rPr lang="en-US" sz="1800">
                <a:solidFill>
                  <a:schemeClr val="tx1"/>
                </a:solidFill>
              </a:rPr>
              <a:t>Remaining RO have a part-time HVOC (with collateral duties)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B22079B-E328-4CD1-A4BE-24A136786280}" type="slidenum">
              <a:rPr lang="en-US"/>
              <a:pPr/>
              <a:t>7</a:t>
            </a:fld>
            <a:endParaRPr lang="en-US"/>
          </a:p>
        </p:txBody>
      </p:sp>
      <p:sp>
        <p:nvSpPr>
          <p:cNvPr id="5" name="Date Placeholder 4"/>
          <p:cNvSpPr>
            <a:spLocks noGrp="1"/>
          </p:cNvSpPr>
          <p:nvPr>
            <p:ph type="dt" sz="half" idx="11"/>
          </p:nvPr>
        </p:nvSpPr>
        <p:spPr/>
        <p:txBody>
          <a:bodyPr/>
          <a:lstStyle/>
          <a:p>
            <a:endParaRPr lang="en-US"/>
          </a:p>
          <a:p>
            <a:endParaRPr lang="en-US" i="1">
              <a:latin typeface="Century Schoolbook" pitchFamily="18" charset="0"/>
            </a:endParaRPr>
          </a:p>
        </p:txBody>
      </p:sp>
      <p:sp>
        <p:nvSpPr>
          <p:cNvPr id="770051" name="Rectangle 3"/>
          <p:cNvSpPr>
            <a:spLocks noGrp="1" noChangeArrowheads="1"/>
          </p:cNvSpPr>
          <p:nvPr>
            <p:ph type="body" idx="1"/>
          </p:nvPr>
        </p:nvSpPr>
        <p:spPr>
          <a:xfrm>
            <a:off x="1066800" y="1066800"/>
            <a:ext cx="7640638" cy="5029200"/>
          </a:xfrm>
        </p:spPr>
        <p:txBody>
          <a:bodyPr/>
          <a:lstStyle/>
          <a:p>
            <a:pPr>
              <a:buFont typeface="Wingdings" pitchFamily="2" charset="2"/>
              <a:buNone/>
            </a:pPr>
            <a:endParaRPr lang="en-US">
              <a:latin typeface="Arial" charset="0"/>
              <a:cs typeface="Arial" charset="0"/>
            </a:endParaRPr>
          </a:p>
          <a:p>
            <a:pPr>
              <a:buClr>
                <a:srgbClr val="000066"/>
              </a:buClr>
              <a:buFont typeface="Wingdings" pitchFamily="2" charset="2"/>
              <a:buChar char="Ø"/>
            </a:pPr>
            <a:r>
              <a:rPr lang="en-US" sz="2000">
                <a:latin typeface="Arial" charset="0"/>
                <a:cs typeface="Arial" charset="0"/>
              </a:rPr>
              <a:t>Conduct outreach to homeless Veterans and their families</a:t>
            </a:r>
          </a:p>
          <a:p>
            <a:pPr lvl="1">
              <a:buClr>
                <a:srgbClr val="000066"/>
              </a:buClr>
            </a:pPr>
            <a:r>
              <a:rPr lang="en-US" sz="2000">
                <a:latin typeface="Arial" charset="0"/>
                <a:cs typeface="Arial" charset="0"/>
              </a:rPr>
              <a:t>homeless shelters and stand downs</a:t>
            </a:r>
          </a:p>
          <a:p>
            <a:pPr lvl="1">
              <a:buClr>
                <a:srgbClr val="000066"/>
              </a:buClr>
            </a:pPr>
            <a:r>
              <a:rPr lang="en-US" sz="2000">
                <a:latin typeface="Arial" charset="0"/>
                <a:cs typeface="Arial" charset="0"/>
              </a:rPr>
              <a:t>VA Medical Centers, clinics and centers</a:t>
            </a:r>
          </a:p>
          <a:p>
            <a:pPr lvl="1">
              <a:buClr>
                <a:srgbClr val="000066"/>
              </a:buClr>
            </a:pPr>
            <a:r>
              <a:rPr lang="en-US" sz="2000">
                <a:latin typeface="Arial" charset="0"/>
                <a:cs typeface="Arial" charset="0"/>
              </a:rPr>
              <a:t>through state, tribal and local community partners</a:t>
            </a:r>
          </a:p>
          <a:p>
            <a:pPr lvl="1">
              <a:buClr>
                <a:srgbClr val="000066"/>
              </a:buClr>
            </a:pPr>
            <a:r>
              <a:rPr lang="en-US" sz="2000">
                <a:latin typeface="Arial" charset="0"/>
                <a:cs typeface="Arial" charset="0"/>
              </a:rPr>
              <a:t>other areas where homeless Veterans may be located</a:t>
            </a:r>
          </a:p>
          <a:p>
            <a:pPr lvl="1">
              <a:buClr>
                <a:srgbClr val="000066"/>
              </a:buClr>
            </a:pPr>
            <a:r>
              <a:rPr lang="en-US" sz="2000">
                <a:latin typeface="Arial" charset="0"/>
                <a:cs typeface="Arial" charset="0"/>
              </a:rPr>
              <a:t>Jails and prisons</a:t>
            </a:r>
          </a:p>
          <a:p>
            <a:pPr lvl="1">
              <a:buClr>
                <a:srgbClr val="000066"/>
              </a:buClr>
              <a:buFontTx/>
              <a:buNone/>
            </a:pPr>
            <a:endParaRPr lang="en-US" sz="2000">
              <a:latin typeface="Arial" charset="0"/>
              <a:cs typeface="Arial" charset="0"/>
            </a:endParaRPr>
          </a:p>
          <a:p>
            <a:pPr>
              <a:buClr>
                <a:srgbClr val="000066"/>
              </a:buClr>
              <a:buFont typeface="Wingdings" pitchFamily="2" charset="2"/>
              <a:buChar char="Ø"/>
            </a:pPr>
            <a:r>
              <a:rPr lang="en-US" sz="2000">
                <a:latin typeface="Arial" charset="0"/>
                <a:cs typeface="Arial" charset="0"/>
              </a:rPr>
              <a:t>Provide information and assistance on VA benefits and services including eligibility information, filing a claim, and referrals to other homeless programs for Veterans</a:t>
            </a:r>
          </a:p>
          <a:p>
            <a:pPr>
              <a:buClr>
                <a:srgbClr val="000066"/>
              </a:buClr>
              <a:buFont typeface="Wingdings" pitchFamily="2" charset="2"/>
              <a:buNone/>
            </a:pPr>
            <a:endParaRPr lang="en-US" sz="2000">
              <a:latin typeface="Arial" charset="0"/>
              <a:cs typeface="Arial" charset="0"/>
            </a:endParaRPr>
          </a:p>
        </p:txBody>
      </p:sp>
      <p:sp>
        <p:nvSpPr>
          <p:cNvPr id="661511" name="Rectangle 7"/>
          <p:cNvSpPr>
            <a:spLocks noChangeArrowheads="1"/>
          </p:cNvSpPr>
          <p:nvPr/>
        </p:nvSpPr>
        <p:spPr bwMode="auto">
          <a:xfrm>
            <a:off x="2020888" y="0"/>
            <a:ext cx="7123112" cy="762000"/>
          </a:xfrm>
          <a:prstGeom prst="rect">
            <a:avLst/>
          </a:prstGeom>
          <a:noFill/>
          <a:ln w="9525">
            <a:noFill/>
            <a:miter lim="800000"/>
            <a:headEnd/>
            <a:tailEnd/>
          </a:ln>
          <a:effectLst/>
        </p:spPr>
        <p:txBody>
          <a:bodyPr lIns="92075" tIns="46038" rIns="92075" bIns="46038" anchor="b"/>
          <a:lstStyle/>
          <a:p>
            <a:pPr algn="ctr">
              <a:spcBef>
                <a:spcPct val="40000"/>
              </a:spcBef>
              <a:buClrTx/>
              <a:buFontTx/>
              <a:buNone/>
            </a:pPr>
            <a:r>
              <a:rPr lang="en-US" sz="2400">
                <a:solidFill>
                  <a:srgbClr val="000066"/>
                </a:solidFill>
                <a:effectLst>
                  <a:outerShdw blurRad="38100" dist="38100" dir="2700000" algn="tl">
                    <a:srgbClr val="C0C0C0"/>
                  </a:outerShdw>
                </a:effectLst>
              </a:rPr>
              <a:t>Benefits Assistance                                                   </a:t>
            </a:r>
            <a:r>
              <a:rPr lang="en-US" sz="2000">
                <a:solidFill>
                  <a:srgbClr val="000066"/>
                </a:solidFill>
                <a:effectLst>
                  <a:outerShdw blurRad="38100" dist="38100" dir="2700000" algn="tl">
                    <a:srgbClr val="C0C0C0"/>
                  </a:outerShdw>
                </a:effectLst>
              </a:rPr>
              <a:t>VBA Homeless Veterans Outreach Program</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2FDA782A-32DD-496A-A059-5B91C8F583CB}" type="slidenum">
              <a:rPr lang="en-US"/>
              <a:pPr/>
              <a:t>8</a:t>
            </a:fld>
            <a:endParaRPr lang="en-US"/>
          </a:p>
        </p:txBody>
      </p:sp>
      <p:sp>
        <p:nvSpPr>
          <p:cNvPr id="5" name="Date Placeholder 4"/>
          <p:cNvSpPr>
            <a:spLocks noGrp="1"/>
          </p:cNvSpPr>
          <p:nvPr>
            <p:ph type="dt" sz="half" idx="11"/>
          </p:nvPr>
        </p:nvSpPr>
        <p:spPr/>
        <p:txBody>
          <a:bodyPr/>
          <a:lstStyle/>
          <a:p>
            <a:endParaRPr lang="en-US"/>
          </a:p>
          <a:p>
            <a:endParaRPr lang="en-US" i="1">
              <a:latin typeface="Century Schoolbook" pitchFamily="18" charset="0"/>
            </a:endParaRPr>
          </a:p>
        </p:txBody>
      </p:sp>
      <p:sp>
        <p:nvSpPr>
          <p:cNvPr id="776195" name="Rectangle 3"/>
          <p:cNvSpPr>
            <a:spLocks noGrp="1" noChangeArrowheads="1"/>
          </p:cNvSpPr>
          <p:nvPr>
            <p:ph type="body" idx="1"/>
          </p:nvPr>
        </p:nvSpPr>
        <p:spPr>
          <a:xfrm>
            <a:off x="1066800" y="1143000"/>
            <a:ext cx="7640638" cy="5029200"/>
          </a:xfrm>
        </p:spPr>
        <p:txBody>
          <a:bodyPr/>
          <a:lstStyle/>
          <a:p>
            <a:pPr>
              <a:buFont typeface="Wingdings" pitchFamily="2" charset="2"/>
              <a:buNone/>
            </a:pPr>
            <a:endParaRPr lang="en-US">
              <a:latin typeface="Arial" charset="0"/>
              <a:cs typeface="Arial" charset="0"/>
            </a:endParaRPr>
          </a:p>
          <a:p>
            <a:pPr>
              <a:buClr>
                <a:srgbClr val="000066"/>
              </a:buClr>
              <a:buFont typeface="Wingdings" pitchFamily="2" charset="2"/>
              <a:buChar char="Ø"/>
            </a:pPr>
            <a:r>
              <a:rPr lang="en-US" sz="2000">
                <a:latin typeface="Arial" charset="0"/>
                <a:cs typeface="Arial" charset="0"/>
              </a:rPr>
              <a:t>“No Wrong Door” Approach</a:t>
            </a:r>
          </a:p>
          <a:p>
            <a:pPr lvl="1">
              <a:buClr>
                <a:srgbClr val="000066"/>
              </a:buClr>
            </a:pPr>
            <a:r>
              <a:rPr lang="en-US" sz="2000">
                <a:latin typeface="Arial" charset="0"/>
                <a:cs typeface="Arial" charset="0"/>
              </a:rPr>
              <a:t>Collaboration with the Veterans Health Administration and other government and local community offices </a:t>
            </a:r>
          </a:p>
          <a:p>
            <a:pPr lvl="1">
              <a:buClr>
                <a:srgbClr val="000066"/>
              </a:buClr>
            </a:pPr>
            <a:r>
              <a:rPr lang="en-US" sz="2000">
                <a:latin typeface="Arial" charset="0"/>
                <a:cs typeface="Arial" charset="0"/>
              </a:rPr>
              <a:t>Homeless Veterans can enter the system through one access point and receive assistance for an array of services and benefits through referrals</a:t>
            </a:r>
          </a:p>
          <a:p>
            <a:pPr>
              <a:buClr>
                <a:srgbClr val="000066"/>
              </a:buClr>
              <a:buFont typeface="Wingdings" pitchFamily="2" charset="2"/>
              <a:buChar char="Ø"/>
            </a:pPr>
            <a:endParaRPr lang="en-US" sz="2000">
              <a:latin typeface="Arial" charset="0"/>
              <a:cs typeface="Arial" charset="0"/>
            </a:endParaRPr>
          </a:p>
        </p:txBody>
      </p:sp>
      <p:sp>
        <p:nvSpPr>
          <p:cNvPr id="661511" name="Rectangle 7"/>
          <p:cNvSpPr>
            <a:spLocks noChangeArrowheads="1"/>
          </p:cNvSpPr>
          <p:nvPr/>
        </p:nvSpPr>
        <p:spPr bwMode="auto">
          <a:xfrm>
            <a:off x="2020888" y="0"/>
            <a:ext cx="7123112" cy="762000"/>
          </a:xfrm>
          <a:prstGeom prst="rect">
            <a:avLst/>
          </a:prstGeom>
          <a:noFill/>
          <a:ln w="9525">
            <a:noFill/>
            <a:miter lim="800000"/>
            <a:headEnd/>
            <a:tailEnd/>
          </a:ln>
          <a:effectLst/>
        </p:spPr>
        <p:txBody>
          <a:bodyPr lIns="92075" tIns="46038" rIns="92075" bIns="46038" anchor="b"/>
          <a:lstStyle/>
          <a:p>
            <a:pPr algn="ctr">
              <a:spcBef>
                <a:spcPct val="40000"/>
              </a:spcBef>
              <a:buClrTx/>
              <a:buFontTx/>
              <a:buNone/>
            </a:pPr>
            <a:r>
              <a:rPr lang="en-US" sz="2400">
                <a:solidFill>
                  <a:srgbClr val="000066"/>
                </a:solidFill>
                <a:effectLst>
                  <a:outerShdw blurRad="38100" dist="38100" dir="2700000" algn="tl">
                    <a:srgbClr val="C0C0C0"/>
                  </a:outerShdw>
                </a:effectLst>
              </a:rPr>
              <a:t>Benefits Assistance                                                   </a:t>
            </a:r>
            <a:r>
              <a:rPr lang="en-US" sz="2000">
                <a:solidFill>
                  <a:srgbClr val="000066"/>
                </a:solidFill>
                <a:effectLst>
                  <a:outerShdw blurRad="38100" dist="38100" dir="2700000" algn="tl">
                    <a:srgbClr val="C0C0C0"/>
                  </a:outerShdw>
                </a:effectLst>
              </a:rPr>
              <a:t>VBA Homeless Veterans Outreach Program</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217C1BCD-D8EB-46E3-8F47-68C482E36E05}" type="slidenum">
              <a:rPr lang="en-US"/>
              <a:pPr/>
              <a:t>9</a:t>
            </a:fld>
            <a:endParaRPr lang="en-US"/>
          </a:p>
        </p:txBody>
      </p:sp>
      <p:sp>
        <p:nvSpPr>
          <p:cNvPr id="5" name="Date Placeholder 4"/>
          <p:cNvSpPr>
            <a:spLocks noGrp="1"/>
          </p:cNvSpPr>
          <p:nvPr>
            <p:ph type="dt" sz="half" idx="11"/>
          </p:nvPr>
        </p:nvSpPr>
        <p:spPr/>
        <p:txBody>
          <a:bodyPr/>
          <a:lstStyle/>
          <a:p>
            <a:endParaRPr lang="en-US"/>
          </a:p>
          <a:p>
            <a:endParaRPr lang="en-US" i="1">
              <a:latin typeface="Century Schoolbook" pitchFamily="18" charset="0"/>
            </a:endParaRPr>
          </a:p>
        </p:txBody>
      </p:sp>
      <p:sp>
        <p:nvSpPr>
          <p:cNvPr id="752642" name="Rectangle 1026"/>
          <p:cNvSpPr>
            <a:spLocks noGrp="1" noChangeArrowheads="1"/>
          </p:cNvSpPr>
          <p:nvPr>
            <p:ph type="title"/>
          </p:nvPr>
        </p:nvSpPr>
        <p:spPr/>
        <p:txBody>
          <a:bodyPr/>
          <a:lstStyle/>
          <a:p>
            <a:r>
              <a:rPr lang="en-US" sz="3400">
                <a:latin typeface="Arial" charset="0"/>
              </a:rPr>
              <a:t>Preventing Veteran Homelessness</a:t>
            </a:r>
          </a:p>
        </p:txBody>
      </p:sp>
      <p:sp>
        <p:nvSpPr>
          <p:cNvPr id="752643" name="Rectangle 1027"/>
          <p:cNvSpPr>
            <a:spLocks noGrp="1" noChangeArrowheads="1"/>
          </p:cNvSpPr>
          <p:nvPr>
            <p:ph type="body" idx="1"/>
          </p:nvPr>
        </p:nvSpPr>
        <p:spPr>
          <a:xfrm>
            <a:off x="1143000" y="1676400"/>
            <a:ext cx="7640638" cy="4262438"/>
          </a:xfrm>
        </p:spPr>
        <p:txBody>
          <a:bodyPr/>
          <a:lstStyle/>
          <a:p>
            <a:pPr>
              <a:lnSpc>
                <a:spcPct val="90000"/>
              </a:lnSpc>
              <a:buClr>
                <a:srgbClr val="000066"/>
              </a:buClr>
              <a:buFont typeface="Wingdings" pitchFamily="2" charset="2"/>
              <a:buChar char="Ø"/>
            </a:pPr>
            <a:r>
              <a:rPr lang="en-US" sz="2400">
                <a:latin typeface="Arial" charset="0"/>
              </a:rPr>
              <a:t>Pre-Discharge Program (includes Guard and Reservists)</a:t>
            </a:r>
          </a:p>
          <a:p>
            <a:pPr lvl="1">
              <a:lnSpc>
                <a:spcPct val="90000"/>
              </a:lnSpc>
              <a:buClr>
                <a:srgbClr val="000066"/>
              </a:buClr>
            </a:pPr>
            <a:r>
              <a:rPr lang="en-US">
                <a:latin typeface="Arial" charset="0"/>
              </a:rPr>
              <a:t>Benefits Delivery at Discharge (BDD)</a:t>
            </a:r>
          </a:p>
          <a:p>
            <a:pPr lvl="2">
              <a:lnSpc>
                <a:spcPct val="90000"/>
              </a:lnSpc>
              <a:buClr>
                <a:srgbClr val="000066"/>
              </a:buClr>
            </a:pPr>
            <a:r>
              <a:rPr lang="en-US" sz="1800">
                <a:latin typeface="Arial" charset="0"/>
              </a:rPr>
              <a:t>Between 60-180 days of separation from active duty</a:t>
            </a:r>
          </a:p>
          <a:p>
            <a:pPr lvl="1">
              <a:lnSpc>
                <a:spcPct val="90000"/>
              </a:lnSpc>
              <a:buClr>
                <a:srgbClr val="000066"/>
              </a:buClr>
            </a:pPr>
            <a:r>
              <a:rPr lang="en-US">
                <a:latin typeface="Arial" charset="0"/>
              </a:rPr>
              <a:t>Quick Start</a:t>
            </a:r>
          </a:p>
          <a:p>
            <a:pPr lvl="2">
              <a:lnSpc>
                <a:spcPct val="90000"/>
              </a:lnSpc>
              <a:buClr>
                <a:srgbClr val="000066"/>
              </a:buClr>
            </a:pPr>
            <a:r>
              <a:rPr lang="en-US" sz="1800">
                <a:latin typeface="Arial" charset="0"/>
              </a:rPr>
              <a:t>Less than 60 days remaining on active duty</a:t>
            </a:r>
          </a:p>
          <a:p>
            <a:pPr>
              <a:lnSpc>
                <a:spcPct val="90000"/>
              </a:lnSpc>
              <a:buClr>
                <a:srgbClr val="000066"/>
              </a:buClr>
              <a:buFont typeface="Wingdings" pitchFamily="2" charset="2"/>
              <a:buNone/>
            </a:pPr>
            <a:endParaRPr lang="en-US" sz="1200">
              <a:latin typeface="Arial" charset="0"/>
            </a:endParaRPr>
          </a:p>
          <a:p>
            <a:pPr>
              <a:lnSpc>
                <a:spcPct val="90000"/>
              </a:lnSpc>
              <a:buClr>
                <a:srgbClr val="1D3275"/>
              </a:buClr>
              <a:buFont typeface="Wingdings" pitchFamily="2" charset="2"/>
              <a:buChar char="Ø"/>
            </a:pPr>
            <a:r>
              <a:rPr lang="en-US" sz="2400">
                <a:latin typeface="Arial" charset="0"/>
              </a:rPr>
              <a:t>Transition Assistance Program (TAP)</a:t>
            </a:r>
          </a:p>
          <a:p>
            <a:pPr lvl="1">
              <a:lnSpc>
                <a:spcPct val="90000"/>
              </a:lnSpc>
              <a:buClr>
                <a:srgbClr val="1D3275"/>
              </a:buClr>
            </a:pPr>
            <a:r>
              <a:rPr lang="en-US">
                <a:latin typeface="Arial" charset="0"/>
              </a:rPr>
              <a:t>Access to VA benefits information prior to separating from military service</a:t>
            </a:r>
          </a:p>
          <a:p>
            <a:pPr>
              <a:lnSpc>
                <a:spcPct val="90000"/>
              </a:lnSpc>
              <a:buClr>
                <a:srgbClr val="1D3275"/>
              </a:buClr>
              <a:buFont typeface="Wingdings" pitchFamily="2" charset="2"/>
              <a:buChar char="Ø"/>
            </a:pPr>
            <a:r>
              <a:rPr lang="en-US" sz="2400">
                <a:latin typeface="Arial" charset="0"/>
              </a:rPr>
              <a:t>Post 9/11 GI Bill</a:t>
            </a:r>
          </a:p>
          <a:p>
            <a:pPr lvl="1">
              <a:lnSpc>
                <a:spcPct val="90000"/>
              </a:lnSpc>
              <a:buClr>
                <a:srgbClr val="1D3275"/>
              </a:buClr>
            </a:pPr>
            <a:r>
              <a:rPr lang="en-US">
                <a:latin typeface="Arial" charset="0"/>
              </a:rPr>
              <a:t>Access to education benefits to support financial stability</a:t>
            </a:r>
          </a:p>
          <a:p>
            <a:pPr lvl="1">
              <a:lnSpc>
                <a:spcPct val="90000"/>
              </a:lnSpc>
              <a:buClr>
                <a:srgbClr val="1D3275"/>
              </a:buClr>
              <a:buFontTx/>
              <a:buNone/>
            </a:pPr>
            <a:endParaRPr lang="en-US">
              <a:latin typeface="Arial" charset="0"/>
            </a:endParaRPr>
          </a:p>
          <a:p>
            <a:pPr>
              <a:lnSpc>
                <a:spcPct val="90000"/>
              </a:lnSpc>
              <a:buFont typeface="Wingdings" pitchFamily="2" charset="2"/>
              <a:buNone/>
            </a:pPr>
            <a:endParaRPr lang="en-US" sz="2400">
              <a:latin typeface="Arial"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35B94D92-EB1E-43B8-8AB9-532A0B23A682}" type="slidenum">
              <a:rPr lang="en-US"/>
              <a:pPr/>
              <a:t>10</a:t>
            </a:fld>
            <a:endParaRPr lang="en-US"/>
          </a:p>
        </p:txBody>
      </p:sp>
      <p:sp>
        <p:nvSpPr>
          <p:cNvPr id="5" name="Date Placeholder 4"/>
          <p:cNvSpPr>
            <a:spLocks noGrp="1"/>
          </p:cNvSpPr>
          <p:nvPr>
            <p:ph type="dt" sz="half" idx="11"/>
          </p:nvPr>
        </p:nvSpPr>
        <p:spPr/>
        <p:txBody>
          <a:bodyPr/>
          <a:lstStyle/>
          <a:p>
            <a:endParaRPr lang="en-US"/>
          </a:p>
          <a:p>
            <a:endParaRPr lang="en-US" i="1">
              <a:latin typeface="Century Schoolbook" pitchFamily="18" charset="0"/>
            </a:endParaRPr>
          </a:p>
        </p:txBody>
      </p:sp>
      <p:sp>
        <p:nvSpPr>
          <p:cNvPr id="783362" name="Rectangle 1026"/>
          <p:cNvSpPr>
            <a:spLocks noGrp="1" noChangeArrowheads="1"/>
          </p:cNvSpPr>
          <p:nvPr>
            <p:ph type="title"/>
          </p:nvPr>
        </p:nvSpPr>
        <p:spPr/>
        <p:txBody>
          <a:bodyPr/>
          <a:lstStyle/>
          <a:p>
            <a:r>
              <a:rPr lang="en-US" sz="3400">
                <a:latin typeface="Arial" charset="0"/>
              </a:rPr>
              <a:t>Preventing Veteran Homelessness</a:t>
            </a:r>
          </a:p>
        </p:txBody>
      </p:sp>
      <p:sp>
        <p:nvSpPr>
          <p:cNvPr id="783363" name="Rectangle 1027"/>
          <p:cNvSpPr>
            <a:spLocks noGrp="1" noChangeArrowheads="1"/>
          </p:cNvSpPr>
          <p:nvPr>
            <p:ph type="body" idx="1"/>
          </p:nvPr>
        </p:nvSpPr>
        <p:spPr>
          <a:xfrm>
            <a:off x="1143000" y="1219200"/>
            <a:ext cx="7640638" cy="4262438"/>
          </a:xfrm>
        </p:spPr>
        <p:txBody>
          <a:bodyPr/>
          <a:lstStyle/>
          <a:p>
            <a:pPr>
              <a:lnSpc>
                <a:spcPct val="90000"/>
              </a:lnSpc>
              <a:buClr>
                <a:srgbClr val="000066"/>
              </a:buClr>
              <a:buFont typeface="Wingdings" pitchFamily="2" charset="2"/>
              <a:buNone/>
            </a:pPr>
            <a:endParaRPr lang="en-US" sz="1200">
              <a:latin typeface="Arial" charset="0"/>
            </a:endParaRPr>
          </a:p>
          <a:p>
            <a:pPr lvl="1">
              <a:lnSpc>
                <a:spcPct val="90000"/>
              </a:lnSpc>
              <a:buClr>
                <a:srgbClr val="1D3275"/>
              </a:buClr>
              <a:buFontTx/>
              <a:buNone/>
            </a:pPr>
            <a:endParaRPr lang="en-US" sz="1100">
              <a:latin typeface="Arial" charset="0"/>
            </a:endParaRPr>
          </a:p>
          <a:p>
            <a:pPr>
              <a:lnSpc>
                <a:spcPct val="90000"/>
              </a:lnSpc>
              <a:buClr>
                <a:srgbClr val="1D3275"/>
              </a:buClr>
              <a:buFont typeface="Wingdings" pitchFamily="2" charset="2"/>
              <a:buChar char="Ø"/>
            </a:pPr>
            <a:r>
              <a:rPr lang="en-US" sz="2800">
                <a:latin typeface="Arial" charset="0"/>
              </a:rPr>
              <a:t>Home Loan Guaranty</a:t>
            </a:r>
          </a:p>
          <a:p>
            <a:pPr>
              <a:lnSpc>
                <a:spcPct val="90000"/>
              </a:lnSpc>
              <a:buClr>
                <a:srgbClr val="1D3275"/>
              </a:buClr>
              <a:buFont typeface="Wingdings" pitchFamily="2" charset="2"/>
              <a:buNone/>
            </a:pPr>
            <a:endParaRPr lang="en-US" sz="1400">
              <a:latin typeface="Arial" charset="0"/>
            </a:endParaRPr>
          </a:p>
          <a:p>
            <a:pPr>
              <a:lnSpc>
                <a:spcPct val="90000"/>
              </a:lnSpc>
              <a:buClr>
                <a:srgbClr val="1D3275"/>
              </a:buClr>
              <a:buFont typeface="Wingdings" pitchFamily="2" charset="2"/>
              <a:buChar char="Ø"/>
            </a:pPr>
            <a:r>
              <a:rPr lang="en-US" sz="2800">
                <a:latin typeface="Arial" charset="0"/>
              </a:rPr>
              <a:t>Vocational Rehabilitation &amp; Employment</a:t>
            </a:r>
          </a:p>
          <a:p>
            <a:pPr>
              <a:lnSpc>
                <a:spcPct val="90000"/>
              </a:lnSpc>
              <a:buClr>
                <a:srgbClr val="1D3275"/>
              </a:buClr>
              <a:buFont typeface="Wingdings" pitchFamily="2" charset="2"/>
              <a:buNone/>
            </a:pPr>
            <a:endParaRPr lang="en-US" sz="1400">
              <a:latin typeface="Arial" charset="0"/>
            </a:endParaRPr>
          </a:p>
          <a:p>
            <a:pPr>
              <a:lnSpc>
                <a:spcPct val="90000"/>
              </a:lnSpc>
              <a:buClr>
                <a:srgbClr val="1D3275"/>
              </a:buClr>
              <a:buFont typeface="Wingdings" pitchFamily="2" charset="2"/>
              <a:buChar char="Ø"/>
            </a:pPr>
            <a:r>
              <a:rPr lang="en-US" sz="2800">
                <a:latin typeface="Arial" charset="0"/>
              </a:rPr>
              <a:t>Resumption of benefits from date of release of incarceration</a:t>
            </a:r>
          </a:p>
          <a:p>
            <a:pPr lvl="1">
              <a:lnSpc>
                <a:spcPct val="90000"/>
              </a:lnSpc>
              <a:buClr>
                <a:srgbClr val="1D3275"/>
              </a:buClr>
            </a:pPr>
            <a:r>
              <a:rPr lang="en-US">
                <a:latin typeface="Arial" charset="0"/>
              </a:rPr>
              <a:t>evidence of anticipated release from incarceration needed from a parole board or other official prison source dated no more than 30 days before the anticipated release of incarceration </a:t>
            </a:r>
          </a:p>
          <a:p>
            <a:pPr lvl="1">
              <a:lnSpc>
                <a:spcPct val="90000"/>
              </a:lnSpc>
              <a:buClr>
                <a:srgbClr val="1D3275"/>
              </a:buClr>
            </a:pPr>
            <a:endParaRPr lang="en-US">
              <a:latin typeface="Arial" charset="0"/>
            </a:endParaRPr>
          </a:p>
          <a:p>
            <a:pPr>
              <a:lnSpc>
                <a:spcPct val="90000"/>
              </a:lnSpc>
              <a:buFont typeface="Wingdings" pitchFamily="2" charset="2"/>
              <a:buNone/>
            </a:pPr>
            <a:endParaRPr lang="en-US" sz="2400">
              <a:latin typeface="Arial"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E3CBD7B-760A-45A5-A1A9-E9A17C0DD3BA}" type="slidenum">
              <a:rPr lang="en-US"/>
              <a:pPr/>
              <a:t>11</a:t>
            </a:fld>
            <a:endParaRPr lang="en-US"/>
          </a:p>
        </p:txBody>
      </p:sp>
      <p:sp>
        <p:nvSpPr>
          <p:cNvPr id="5" name="Date Placeholder 4"/>
          <p:cNvSpPr>
            <a:spLocks noGrp="1"/>
          </p:cNvSpPr>
          <p:nvPr>
            <p:ph type="dt" sz="half" idx="11"/>
          </p:nvPr>
        </p:nvSpPr>
        <p:spPr/>
        <p:txBody>
          <a:bodyPr/>
          <a:lstStyle/>
          <a:p>
            <a:endParaRPr lang="en-US"/>
          </a:p>
          <a:p>
            <a:endParaRPr lang="en-US" i="1">
              <a:latin typeface="Century Schoolbook" pitchFamily="18" charset="0"/>
            </a:endParaRPr>
          </a:p>
        </p:txBody>
      </p:sp>
      <p:sp>
        <p:nvSpPr>
          <p:cNvPr id="751618" name="Rectangle 2"/>
          <p:cNvSpPr>
            <a:spLocks noGrp="1" noChangeArrowheads="1"/>
          </p:cNvSpPr>
          <p:nvPr>
            <p:ph type="title"/>
          </p:nvPr>
        </p:nvSpPr>
        <p:spPr/>
        <p:txBody>
          <a:bodyPr/>
          <a:lstStyle/>
          <a:p>
            <a:r>
              <a:rPr lang="en-US" sz="3600">
                <a:latin typeface="Arial" charset="0"/>
              </a:rPr>
              <a:t>Compensation and Pension </a:t>
            </a:r>
          </a:p>
        </p:txBody>
      </p:sp>
      <p:sp>
        <p:nvSpPr>
          <p:cNvPr id="751619" name="Rectangle 3"/>
          <p:cNvSpPr>
            <a:spLocks noGrp="1" noChangeArrowheads="1"/>
          </p:cNvSpPr>
          <p:nvPr>
            <p:ph type="body" idx="1"/>
          </p:nvPr>
        </p:nvSpPr>
        <p:spPr>
          <a:xfrm>
            <a:off x="1143000" y="1524000"/>
            <a:ext cx="7640638" cy="4262438"/>
          </a:xfrm>
        </p:spPr>
        <p:txBody>
          <a:bodyPr/>
          <a:lstStyle/>
          <a:p>
            <a:pPr>
              <a:lnSpc>
                <a:spcPct val="90000"/>
              </a:lnSpc>
              <a:buClr>
                <a:srgbClr val="000066"/>
              </a:buClr>
              <a:buFont typeface="Wingdings" pitchFamily="2" charset="2"/>
              <a:buChar char="Ø"/>
            </a:pPr>
            <a:r>
              <a:rPr lang="en-US" sz="2200">
                <a:latin typeface="Arial" charset="0"/>
              </a:rPr>
              <a:t>Disability Compensation</a:t>
            </a:r>
          </a:p>
          <a:p>
            <a:pPr lvl="1">
              <a:lnSpc>
                <a:spcPct val="90000"/>
              </a:lnSpc>
              <a:buClr>
                <a:srgbClr val="000066"/>
              </a:buClr>
            </a:pPr>
            <a:r>
              <a:rPr lang="en-US" sz="2000">
                <a:latin typeface="Arial" charset="0"/>
              </a:rPr>
              <a:t>Monetary benefit paid to Veterans who are disabled by an injury or illness that was incurred or aggravated during active military service</a:t>
            </a:r>
          </a:p>
          <a:p>
            <a:pPr lvl="1">
              <a:lnSpc>
                <a:spcPct val="90000"/>
              </a:lnSpc>
              <a:buClr>
                <a:srgbClr val="000066"/>
              </a:buClr>
            </a:pPr>
            <a:r>
              <a:rPr lang="en-US" sz="2000"/>
              <a:t>Disability may be rated from 0% to 100%, Payments made for 10% to 100%.</a:t>
            </a:r>
          </a:p>
          <a:p>
            <a:pPr lvl="1">
              <a:lnSpc>
                <a:spcPct val="90000"/>
              </a:lnSpc>
              <a:buFontTx/>
              <a:buNone/>
            </a:pPr>
            <a:endParaRPr lang="en-US" sz="2000">
              <a:latin typeface="Arial" charset="0"/>
            </a:endParaRPr>
          </a:p>
          <a:p>
            <a:pPr>
              <a:lnSpc>
                <a:spcPct val="90000"/>
              </a:lnSpc>
              <a:buClr>
                <a:srgbClr val="000066"/>
              </a:buClr>
              <a:buFont typeface="Wingdings" pitchFamily="2" charset="2"/>
              <a:buChar char="Ø"/>
            </a:pPr>
            <a:r>
              <a:rPr lang="en-US" sz="2200">
                <a:latin typeface="Arial" charset="0"/>
              </a:rPr>
              <a:t>Disability Pension  </a:t>
            </a:r>
          </a:p>
          <a:p>
            <a:pPr lvl="1">
              <a:lnSpc>
                <a:spcPct val="90000"/>
              </a:lnSpc>
              <a:buClr>
                <a:srgbClr val="000066"/>
              </a:buClr>
            </a:pPr>
            <a:r>
              <a:rPr lang="en-US" sz="2000">
                <a:latin typeface="Arial" charset="0"/>
              </a:rPr>
              <a:t>Needs-based benefit paid to Veterans with low incomes who are permanently and totally disabled or are age 65 or older</a:t>
            </a:r>
          </a:p>
          <a:p>
            <a:pPr lvl="1">
              <a:lnSpc>
                <a:spcPct val="90000"/>
              </a:lnSpc>
              <a:buClr>
                <a:srgbClr val="000066"/>
              </a:buClr>
            </a:pPr>
            <a:r>
              <a:rPr lang="en-US" sz="2000">
                <a:latin typeface="Arial" charset="0"/>
              </a:rPr>
              <a:t>Must have 90 days or more of active military service, at least one day of which was during a period of war</a:t>
            </a:r>
            <a:r>
              <a:rPr lang="en-US" sz="2000"/>
              <a:t>  </a:t>
            </a:r>
          </a:p>
          <a:p>
            <a:pPr lvl="1">
              <a:lnSpc>
                <a:spcPct val="90000"/>
              </a:lnSpc>
              <a:buFontTx/>
              <a:buNone/>
            </a:pPr>
            <a:endParaRPr lang="en-US" sz="20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sldNum" sz="quarter" idx="10"/>
          </p:nvPr>
        </p:nvSpPr>
        <p:spPr/>
        <p:txBody>
          <a:bodyPr/>
          <a:lstStyle/>
          <a:p>
            <a:fld id="{9118CA15-665C-4DC0-8A9F-EE36064A05C4}" type="slidenum">
              <a:rPr lang="en-US"/>
              <a:pPr/>
              <a:t>12</a:t>
            </a:fld>
            <a:endParaRPr lang="en-US"/>
          </a:p>
        </p:txBody>
      </p:sp>
      <p:sp>
        <p:nvSpPr>
          <p:cNvPr id="7" name="Date Placeholder 2"/>
          <p:cNvSpPr>
            <a:spLocks noGrp="1"/>
          </p:cNvSpPr>
          <p:nvPr>
            <p:ph type="dt" sz="half" idx="11"/>
          </p:nvPr>
        </p:nvSpPr>
        <p:spPr/>
        <p:txBody>
          <a:bodyPr/>
          <a:lstStyle/>
          <a:p>
            <a:endParaRPr lang="en-US"/>
          </a:p>
          <a:p>
            <a:endParaRPr lang="en-US" i="1">
              <a:latin typeface="Century Schoolbook" pitchFamily="18" charset="0"/>
            </a:endParaRPr>
          </a:p>
        </p:txBody>
      </p:sp>
      <p:graphicFrame>
        <p:nvGraphicFramePr>
          <p:cNvPr id="20571" name="Group 91"/>
          <p:cNvGraphicFramePr>
            <a:graphicFrameLocks noGrp="1"/>
          </p:cNvGraphicFramePr>
          <p:nvPr/>
        </p:nvGraphicFramePr>
        <p:xfrm>
          <a:off x="1447800" y="1600200"/>
          <a:ext cx="7162800" cy="4195763"/>
        </p:xfrm>
        <a:graphic>
          <a:graphicData uri="http://schemas.openxmlformats.org/drawingml/2006/table">
            <a:tbl>
              <a:tblPr/>
              <a:tblGrid>
                <a:gridCol w="1193800"/>
                <a:gridCol w="1193800"/>
                <a:gridCol w="1193800"/>
                <a:gridCol w="1193800"/>
                <a:gridCol w="1193800"/>
                <a:gridCol w="1193800"/>
              </a:tblGrid>
              <a:tr h="350838">
                <a:tc>
                  <a:txBody>
                    <a:bodyPr/>
                    <a:lstStyle/>
                    <a:p>
                      <a:pPr marL="0" marR="0" lvl="0" indent="0" algn="ct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500" b="1" i="0" u="none" strike="noStrike" cap="none" normalizeH="0" baseline="0" smtClean="0">
                          <a:ln>
                            <a:noFill/>
                          </a:ln>
                          <a:solidFill>
                            <a:srgbClr val="000099"/>
                          </a:solidFill>
                          <a:effectLst/>
                          <a:latin typeface="Tahoma" pitchFamily="34" charset="0"/>
                        </a:rPr>
                        <a:t>Rating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500" b="1" i="0" u="none" strike="noStrike" cap="none" normalizeH="0" baseline="0" smtClean="0">
                          <a:ln>
                            <a:noFill/>
                          </a:ln>
                          <a:solidFill>
                            <a:srgbClr val="000099"/>
                          </a:solidFill>
                          <a:effectLst/>
                          <a:latin typeface="Tahoma" pitchFamily="34" charset="0"/>
                        </a:rPr>
                        <a:t>Vet Only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500" b="1" i="0" u="none" strike="noStrike" cap="none" normalizeH="0" baseline="0" smtClean="0">
                          <a:ln>
                            <a:noFill/>
                          </a:ln>
                          <a:solidFill>
                            <a:srgbClr val="000099"/>
                          </a:solidFill>
                          <a:effectLst/>
                          <a:latin typeface="Tahoma" pitchFamily="34" charset="0"/>
                        </a:rPr>
                        <a:t>Vet+S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300" b="1" i="0" u="none" strike="noStrike" cap="none" normalizeH="0" baseline="0" smtClean="0">
                          <a:ln>
                            <a:noFill/>
                          </a:ln>
                          <a:solidFill>
                            <a:srgbClr val="000099"/>
                          </a:solidFill>
                          <a:effectLst/>
                          <a:latin typeface="Tahoma" pitchFamily="34" charset="0"/>
                        </a:rPr>
                        <a:t>Vet+S+1C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300" b="1" i="0" u="none" strike="noStrike" cap="none" normalizeH="0" baseline="0" smtClean="0">
                          <a:ln>
                            <a:noFill/>
                          </a:ln>
                          <a:solidFill>
                            <a:srgbClr val="000099"/>
                          </a:solidFill>
                          <a:effectLst/>
                          <a:latin typeface="Tahoma" pitchFamily="34" charset="0"/>
                        </a:rPr>
                        <a:t>Vet+S+2C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300" b="1" i="0" u="none" strike="noStrike" cap="none" normalizeH="0" baseline="0" smtClean="0">
                          <a:ln>
                            <a:noFill/>
                          </a:ln>
                          <a:solidFill>
                            <a:srgbClr val="000099"/>
                          </a:solidFill>
                          <a:effectLst/>
                          <a:latin typeface="Tahoma" pitchFamily="34" charset="0"/>
                        </a:rPr>
                        <a:t>Vet+S+3C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379413">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FF0000"/>
                          </a:solidFill>
                          <a:effectLst/>
                          <a:latin typeface="Tahoma" pitchFamily="34"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N/A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FF0000"/>
                          </a:solidFill>
                          <a:effectLst/>
                          <a:latin typeface="Tahoma" pitchFamily="34"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243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N/A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N/A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7038">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FF0000"/>
                          </a:solidFill>
                          <a:effectLst/>
                          <a:latin typeface="Tahoma" pitchFamily="34"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6DE2E"/>
                    </a:solid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376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6DE2E"/>
                    </a:solid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421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6DE2E"/>
                    </a:solid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453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6DE2E"/>
                    </a:solid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475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6DE2E"/>
                    </a:solid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497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6DE2E"/>
                    </a:solidFill>
                  </a:tcPr>
                </a:tc>
              </a:tr>
              <a:tr h="381000">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FF0000"/>
                          </a:solidFill>
                          <a:effectLst/>
                          <a:latin typeface="Tahoma" pitchFamily="34" charset="0"/>
                        </a:rPr>
                        <a:t>40%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541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601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644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674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704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FF0000"/>
                          </a:solidFill>
                          <a:effectLst/>
                          <a:latin typeface="Tahoma" pitchFamily="34" charset="0"/>
                        </a:rPr>
                        <a:t>50%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7E4BD"/>
                    </a:solid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770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7E4BD"/>
                    </a:solid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845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7E4BD"/>
                    </a:solid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899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7E4BD"/>
                    </a:solid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936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7E4BD"/>
                    </a:solid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973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7E4BD"/>
                    </a:solidFill>
                  </a:tcPr>
                </a:tc>
              </a:tr>
              <a:tr h="379413">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FF0000"/>
                          </a:solidFill>
                          <a:effectLst/>
                          <a:latin typeface="Tahoma" pitchFamily="34" charset="0"/>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974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1,064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1,129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1,174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1,219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FF0000"/>
                          </a:solidFill>
                          <a:effectLst/>
                          <a:latin typeface="Tahoma" pitchFamily="34" charset="0"/>
                        </a:rPr>
                        <a:t>70%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1,228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1,333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1,409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1,461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1,513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FF0000"/>
                          </a:solidFill>
                          <a:effectLst/>
                          <a:latin typeface="Tahoma" pitchFamily="34" charset="0"/>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1,427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1,547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1,634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1,694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1,754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FF0000"/>
                          </a:solidFill>
                          <a:effectLst/>
                          <a:latin typeface="Tahoma" pitchFamily="34" charset="0"/>
                        </a:rPr>
                        <a:t>90%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1,604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1,739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1,837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1,904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1,971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9413">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FF0000"/>
                          </a:solidFill>
                          <a:effectLst/>
                          <a:latin typeface="Tahoma" pitchFamily="34"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2,673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2,823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2,932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3,007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00000"/>
                        </a:lnSpc>
                        <a:spcBef>
                          <a:spcPct val="20000"/>
                        </a:spcBef>
                        <a:spcAft>
                          <a:spcPct val="0"/>
                        </a:spcAft>
                        <a:buClr>
                          <a:srgbClr val="CC0000"/>
                        </a:buClr>
                        <a:buSzTx/>
                        <a:buFont typeface="Wingdings" pitchFamily="2" charset="2"/>
                        <a:buNone/>
                        <a:tabLst/>
                      </a:pPr>
                      <a:r>
                        <a:rPr kumimoji="0" lang="en-US" sz="1800" b="1" i="0" u="none" strike="noStrike" cap="none" normalizeH="0" baseline="0" smtClean="0">
                          <a:ln>
                            <a:noFill/>
                          </a:ln>
                          <a:solidFill>
                            <a:srgbClr val="000099"/>
                          </a:solidFill>
                          <a:effectLst/>
                          <a:latin typeface="Tahoma" pitchFamily="34" charset="0"/>
                        </a:rPr>
                        <a:t>3,082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96760" name="Rectangle 88"/>
          <p:cNvSpPr>
            <a:spLocks noChangeArrowheads="1"/>
          </p:cNvSpPr>
          <p:nvPr/>
        </p:nvSpPr>
        <p:spPr bwMode="auto">
          <a:xfrm>
            <a:off x="2057400" y="152400"/>
            <a:ext cx="7086600" cy="519113"/>
          </a:xfrm>
          <a:prstGeom prst="rect">
            <a:avLst/>
          </a:prstGeom>
          <a:noFill/>
          <a:ln w="9525">
            <a:noFill/>
            <a:miter lim="800000"/>
            <a:headEnd/>
            <a:tailEnd/>
          </a:ln>
          <a:effectLst/>
        </p:spPr>
        <p:txBody>
          <a:bodyPr lIns="92075" tIns="46038" rIns="92075" bIns="46038">
            <a:spAutoFit/>
          </a:bodyPr>
          <a:lstStyle/>
          <a:p>
            <a:pPr>
              <a:buFont typeface="Wingdings" pitchFamily="2" charset="2"/>
              <a:buNone/>
            </a:pPr>
            <a:r>
              <a:rPr lang="en-US" sz="2800" b="1">
                <a:solidFill>
                  <a:srgbClr val="17375E"/>
                </a:solidFill>
                <a:latin typeface="Verdana" pitchFamily="34" charset="0"/>
              </a:rPr>
              <a:t>  </a:t>
            </a:r>
            <a:r>
              <a:rPr lang="en-US" sz="2800" b="1">
                <a:solidFill>
                  <a:schemeClr val="tx1"/>
                </a:solidFill>
                <a:latin typeface="Verdana" pitchFamily="34" charset="0"/>
              </a:rPr>
              <a:t>Compensation – Current Rates</a:t>
            </a:r>
          </a:p>
        </p:txBody>
      </p:sp>
      <p:sp>
        <p:nvSpPr>
          <p:cNvPr id="796761" name="Rectangle 89"/>
          <p:cNvSpPr>
            <a:spLocks noChangeArrowheads="1"/>
          </p:cNvSpPr>
          <p:nvPr/>
        </p:nvSpPr>
        <p:spPr bwMode="auto">
          <a:xfrm>
            <a:off x="5181600" y="5943600"/>
            <a:ext cx="3406775" cy="366713"/>
          </a:xfrm>
          <a:prstGeom prst="rect">
            <a:avLst/>
          </a:prstGeom>
          <a:noFill/>
          <a:ln w="9525">
            <a:noFill/>
            <a:miter lim="800000"/>
            <a:headEnd/>
            <a:tailEnd/>
          </a:ln>
          <a:effectLst/>
        </p:spPr>
        <p:txBody>
          <a:bodyPr wrap="none" lIns="92075" tIns="46038" rIns="92075" bIns="46038">
            <a:spAutoFit/>
          </a:bodyPr>
          <a:lstStyle/>
          <a:p>
            <a:pPr>
              <a:buFont typeface="Wingdings" pitchFamily="2" charset="2"/>
              <a:buNone/>
            </a:pPr>
            <a:r>
              <a:rPr lang="en-US" sz="1800" b="1">
                <a:solidFill>
                  <a:schemeClr val="tx1"/>
                </a:solidFill>
                <a:latin typeface="Tahoma" pitchFamily="34" charset="0"/>
              </a:rPr>
              <a:t>Rates effective Dec. 1, 2010</a:t>
            </a:r>
          </a:p>
        </p:txBody>
      </p:sp>
      <p:sp>
        <p:nvSpPr>
          <p:cNvPr id="796762" name="Rectangle 90"/>
          <p:cNvSpPr>
            <a:spLocks noChangeArrowheads="1"/>
          </p:cNvSpPr>
          <p:nvPr/>
        </p:nvSpPr>
        <p:spPr bwMode="auto">
          <a:xfrm>
            <a:off x="1524000" y="5943600"/>
            <a:ext cx="3452813" cy="366713"/>
          </a:xfrm>
          <a:prstGeom prst="rect">
            <a:avLst/>
          </a:prstGeom>
          <a:noFill/>
          <a:ln w="9525">
            <a:noFill/>
            <a:miter lim="800000"/>
            <a:headEnd/>
            <a:tailEnd/>
          </a:ln>
          <a:effectLst/>
        </p:spPr>
        <p:txBody>
          <a:bodyPr wrap="none" lIns="92075" tIns="46038" rIns="92075" bIns="46038">
            <a:spAutoFit/>
          </a:bodyPr>
          <a:lstStyle/>
          <a:p>
            <a:pPr eaLnBrk="1" hangingPunct="1">
              <a:spcBef>
                <a:spcPct val="50000"/>
              </a:spcBef>
              <a:buClrTx/>
              <a:buFontTx/>
              <a:buNone/>
            </a:pPr>
            <a:r>
              <a:rPr lang="en-US" sz="1800" b="1">
                <a:solidFill>
                  <a:schemeClr val="tx1"/>
                </a:solidFill>
                <a:latin typeface="Tahoma" pitchFamily="34" charset="0"/>
              </a:rPr>
              <a:t>S = Spouse     C = Child(ren)</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800C457-BDC2-44E3-8254-CC345C91C9BA}" type="slidenum">
              <a:rPr lang="en-US"/>
              <a:pPr/>
              <a:t>13</a:t>
            </a:fld>
            <a:endParaRPr lang="en-US"/>
          </a:p>
        </p:txBody>
      </p:sp>
      <p:sp>
        <p:nvSpPr>
          <p:cNvPr id="5" name="Date Placeholder 4"/>
          <p:cNvSpPr>
            <a:spLocks noGrp="1"/>
          </p:cNvSpPr>
          <p:nvPr>
            <p:ph type="dt" sz="half" idx="11"/>
          </p:nvPr>
        </p:nvSpPr>
        <p:spPr/>
        <p:txBody>
          <a:bodyPr/>
          <a:lstStyle/>
          <a:p>
            <a:endParaRPr lang="en-US"/>
          </a:p>
          <a:p>
            <a:endParaRPr lang="en-US" i="1">
              <a:latin typeface="Century Schoolbook" pitchFamily="18" charset="0"/>
            </a:endParaRPr>
          </a:p>
        </p:txBody>
      </p:sp>
      <p:sp>
        <p:nvSpPr>
          <p:cNvPr id="742403" name="Rectangle 3"/>
          <p:cNvSpPr>
            <a:spLocks noGrp="1" noChangeArrowheads="1"/>
          </p:cNvSpPr>
          <p:nvPr>
            <p:ph type="body" idx="1"/>
          </p:nvPr>
        </p:nvSpPr>
        <p:spPr>
          <a:xfrm>
            <a:off x="1066800" y="1676400"/>
            <a:ext cx="7640638" cy="3805238"/>
          </a:xfrm>
        </p:spPr>
        <p:txBody>
          <a:bodyPr/>
          <a:lstStyle/>
          <a:p>
            <a:pPr>
              <a:lnSpc>
                <a:spcPct val="90000"/>
              </a:lnSpc>
              <a:buClr>
                <a:srgbClr val="000066"/>
              </a:buClr>
              <a:buFont typeface="Wingdings" pitchFamily="2" charset="2"/>
              <a:buChar char="Ø"/>
            </a:pPr>
            <a:r>
              <a:rPr lang="en-US">
                <a:latin typeface="Arial" charset="0"/>
                <a:cs typeface="Arial" charset="0"/>
              </a:rPr>
              <a:t>Expedited claims processing</a:t>
            </a:r>
          </a:p>
          <a:p>
            <a:pPr lvl="1">
              <a:lnSpc>
                <a:spcPct val="90000"/>
              </a:lnSpc>
            </a:pPr>
            <a:r>
              <a:rPr lang="en-US" sz="2000">
                <a:latin typeface="Arial" charset="0"/>
                <a:cs typeface="Arial" charset="0"/>
              </a:rPr>
              <a:t>75 average days pending fiscal year 2011 target</a:t>
            </a:r>
          </a:p>
          <a:p>
            <a:pPr>
              <a:lnSpc>
                <a:spcPct val="90000"/>
              </a:lnSpc>
              <a:buClr>
                <a:srgbClr val="000066"/>
              </a:buClr>
              <a:buFont typeface="Wingdings" pitchFamily="2" charset="2"/>
              <a:buChar char="Ø"/>
            </a:pPr>
            <a:r>
              <a:rPr lang="en-US">
                <a:latin typeface="Arial" charset="0"/>
                <a:cs typeface="Arial" charset="0"/>
              </a:rPr>
              <a:t>Reporting system on homeless Veterans claims processing</a:t>
            </a:r>
          </a:p>
          <a:p>
            <a:pPr>
              <a:lnSpc>
                <a:spcPct val="90000"/>
              </a:lnSpc>
              <a:buClr>
                <a:srgbClr val="000066"/>
              </a:buClr>
              <a:buFont typeface="Wingdings" pitchFamily="2" charset="2"/>
              <a:buChar char="Ø"/>
            </a:pPr>
            <a:r>
              <a:rPr lang="en-US">
                <a:latin typeface="Arial" charset="0"/>
                <a:cs typeface="Arial" charset="0"/>
              </a:rPr>
              <a:t>Electronic “homeless” flash to properly identify homeless Veterans in our systems</a:t>
            </a:r>
          </a:p>
          <a:p>
            <a:pPr>
              <a:lnSpc>
                <a:spcPct val="90000"/>
              </a:lnSpc>
              <a:buClr>
                <a:srgbClr val="000066"/>
              </a:buClr>
              <a:buFont typeface="Wingdings" pitchFamily="2" charset="2"/>
              <a:buChar char="Ø"/>
            </a:pPr>
            <a:r>
              <a:rPr lang="en-US">
                <a:latin typeface="Arial" charset="0"/>
                <a:cs typeface="Arial" charset="0"/>
              </a:rPr>
              <a:t>VA Central Office oversight to ensure claim development and decisions are made expeditiously</a:t>
            </a:r>
          </a:p>
          <a:p>
            <a:pPr>
              <a:lnSpc>
                <a:spcPct val="90000"/>
              </a:lnSpc>
              <a:buFont typeface="Wingdings" pitchFamily="2" charset="2"/>
              <a:buNone/>
            </a:pPr>
            <a:endParaRPr lang="en-US" sz="2800">
              <a:latin typeface="Arial" charset="0"/>
              <a:cs typeface="Arial" charset="0"/>
            </a:endParaRPr>
          </a:p>
        </p:txBody>
      </p:sp>
      <p:sp>
        <p:nvSpPr>
          <p:cNvPr id="661511" name="Rectangle 7"/>
          <p:cNvSpPr>
            <a:spLocks noChangeArrowheads="1"/>
          </p:cNvSpPr>
          <p:nvPr/>
        </p:nvSpPr>
        <p:spPr bwMode="auto">
          <a:xfrm>
            <a:off x="2020888" y="0"/>
            <a:ext cx="7123112" cy="838200"/>
          </a:xfrm>
          <a:prstGeom prst="rect">
            <a:avLst/>
          </a:prstGeom>
          <a:noFill/>
          <a:ln w="9525">
            <a:noFill/>
            <a:miter lim="800000"/>
            <a:headEnd/>
            <a:tailEnd/>
          </a:ln>
          <a:effectLst/>
        </p:spPr>
        <p:txBody>
          <a:bodyPr lIns="92075" tIns="46038" rIns="92075" bIns="46038" anchor="b"/>
          <a:lstStyle/>
          <a:p>
            <a:pPr algn="ctr">
              <a:spcBef>
                <a:spcPct val="40000"/>
              </a:spcBef>
              <a:buClrTx/>
              <a:buFontTx/>
              <a:buNone/>
            </a:pPr>
            <a:r>
              <a:rPr lang="en-US">
                <a:solidFill>
                  <a:srgbClr val="000066"/>
                </a:solidFill>
                <a:effectLst>
                  <a:outerShdw blurRad="38100" dist="38100" dir="2700000" algn="tl">
                    <a:srgbClr val="C0C0C0"/>
                  </a:outerShdw>
                </a:effectLst>
              </a:rPr>
              <a:t>Compensation and Pension</a:t>
            </a:r>
            <a:r>
              <a:rPr lang="en-US" sz="2400">
                <a:solidFill>
                  <a:srgbClr val="000066"/>
                </a:solidFill>
                <a:effectLst>
                  <a:outerShdw blurRad="38100" dist="38100" dir="2700000" algn="tl">
                    <a:srgbClr val="C0C0C0"/>
                  </a:outerShdw>
                </a:effectLst>
              </a:rPr>
              <a:t>                             </a:t>
            </a:r>
            <a:r>
              <a:rPr lang="en-US" sz="2000">
                <a:solidFill>
                  <a:srgbClr val="000066"/>
                </a:solidFill>
                <a:effectLst>
                  <a:outerShdw blurRad="38100" dist="38100" dir="2700000" algn="tl">
                    <a:srgbClr val="C0C0C0"/>
                  </a:outerShdw>
                </a:effectLst>
              </a:rPr>
              <a:t>Claims Processing for Homeless Veterans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F1F44A8C-13A2-4C88-821C-E1513C61255E}" type="slidenum">
              <a:rPr lang="en-US"/>
              <a:pPr/>
              <a:t>14</a:t>
            </a:fld>
            <a:endParaRPr lang="en-US"/>
          </a:p>
        </p:txBody>
      </p:sp>
      <p:sp>
        <p:nvSpPr>
          <p:cNvPr id="5"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26626" name="Rectangle 2"/>
          <p:cNvSpPr>
            <a:spLocks noGrp="1" noChangeArrowheads="1"/>
          </p:cNvSpPr>
          <p:nvPr>
            <p:ph type="title" idx="4294967295"/>
          </p:nvPr>
        </p:nvSpPr>
        <p:spPr/>
        <p:txBody>
          <a:bodyPr/>
          <a:lstStyle/>
          <a:p>
            <a:r>
              <a:rPr lang="en-US" sz="3600">
                <a:latin typeface="Arial" charset="0"/>
              </a:rPr>
              <a:t>Education</a:t>
            </a:r>
          </a:p>
        </p:txBody>
      </p:sp>
      <p:sp>
        <p:nvSpPr>
          <p:cNvPr id="763907" name="Rectangle 3"/>
          <p:cNvSpPr>
            <a:spLocks noGrp="1" noChangeArrowheads="1"/>
          </p:cNvSpPr>
          <p:nvPr>
            <p:ph type="body" idx="4294967295"/>
          </p:nvPr>
        </p:nvSpPr>
        <p:spPr>
          <a:xfrm>
            <a:off x="1066800" y="1447800"/>
            <a:ext cx="7467600" cy="4570413"/>
          </a:xfrm>
          <a:noFill/>
        </p:spPr>
        <p:txBody>
          <a:bodyPr/>
          <a:lstStyle/>
          <a:p>
            <a:pPr>
              <a:lnSpc>
                <a:spcPct val="150000"/>
              </a:lnSpc>
              <a:buClr>
                <a:srgbClr val="1D3275"/>
              </a:buClr>
              <a:buFont typeface="Wingdings" pitchFamily="2" charset="2"/>
              <a:buChar char="Ø"/>
            </a:pPr>
            <a:r>
              <a:rPr lang="en-US" sz="2400">
                <a:latin typeface="Arial" charset="0"/>
              </a:rPr>
              <a:t>Post 9/11 GI Bill- (Chapter 33); August 2009</a:t>
            </a:r>
          </a:p>
          <a:p>
            <a:pPr>
              <a:lnSpc>
                <a:spcPct val="150000"/>
              </a:lnSpc>
              <a:buClr>
                <a:srgbClr val="1D3275"/>
              </a:buClr>
              <a:buFont typeface="Wingdings" pitchFamily="2" charset="2"/>
              <a:buChar char="Ø"/>
            </a:pPr>
            <a:r>
              <a:rPr lang="en-US" sz="2400">
                <a:latin typeface="Arial" charset="0"/>
              </a:rPr>
              <a:t>Montgomery GI Bill – Active Duty (Chapter 30)</a:t>
            </a:r>
          </a:p>
          <a:p>
            <a:pPr>
              <a:lnSpc>
                <a:spcPct val="150000"/>
              </a:lnSpc>
              <a:buClr>
                <a:srgbClr val="1D3275"/>
              </a:buClr>
              <a:buFont typeface="Wingdings" pitchFamily="2" charset="2"/>
              <a:buChar char="Ø"/>
            </a:pPr>
            <a:r>
              <a:rPr lang="en-US" sz="2400">
                <a:latin typeface="Arial" charset="0"/>
              </a:rPr>
              <a:t>Montgomery GI Bill – Selected Reserve (Chapter 1606)</a:t>
            </a:r>
          </a:p>
          <a:p>
            <a:pPr>
              <a:lnSpc>
                <a:spcPct val="150000"/>
              </a:lnSpc>
              <a:buClr>
                <a:srgbClr val="1D3275"/>
              </a:buClr>
              <a:buFont typeface="Wingdings" pitchFamily="2" charset="2"/>
              <a:buChar char="Ø"/>
            </a:pPr>
            <a:r>
              <a:rPr lang="en-US" sz="2400">
                <a:latin typeface="Arial" charset="0"/>
              </a:rPr>
              <a:t>Reserve Educational Assistance Program (REAP) (Chapter 1607)</a:t>
            </a:r>
          </a:p>
          <a:p>
            <a:pPr>
              <a:lnSpc>
                <a:spcPct val="150000"/>
              </a:lnSpc>
              <a:buClr>
                <a:srgbClr val="1D3275"/>
              </a:buClr>
              <a:buFont typeface="Wingdings" pitchFamily="2" charset="2"/>
              <a:buChar char="Ø"/>
            </a:pPr>
            <a:r>
              <a:rPr lang="en-US" sz="2400">
                <a:latin typeface="Arial" charset="0"/>
              </a:rPr>
              <a:t>Dependents’ Educational Assistance (DEA) (Chapter 35)</a:t>
            </a:r>
          </a:p>
          <a:p>
            <a:pPr>
              <a:lnSpc>
                <a:spcPct val="150000"/>
              </a:lnSpc>
              <a:buClr>
                <a:srgbClr val="1D3275"/>
              </a:buClr>
              <a:buFont typeface="Wingdings" pitchFamily="2" charset="2"/>
              <a:buNone/>
            </a:pPr>
            <a:endParaRPr lang="en-US" sz="2400">
              <a:latin typeface="Arial"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FB3F3B2E-B514-4E44-B5D5-4FB4531BB469}" type="slidenum">
              <a:rPr lang="en-US"/>
              <a:pPr/>
              <a:t>15</a:t>
            </a:fld>
            <a:endParaRPr lang="en-US"/>
          </a:p>
        </p:txBody>
      </p:sp>
      <p:sp>
        <p:nvSpPr>
          <p:cNvPr id="5"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2" name="Title 1"/>
          <p:cNvSpPr>
            <a:spLocks noGrp="1"/>
          </p:cNvSpPr>
          <p:nvPr>
            <p:ph type="title" idx="4294967295"/>
          </p:nvPr>
        </p:nvSpPr>
        <p:spPr/>
        <p:txBody>
          <a:bodyPr/>
          <a:lstStyle/>
          <a:p>
            <a:r>
              <a:rPr lang="en-US" sz="2600">
                <a:latin typeface="Arial" charset="0"/>
              </a:rPr>
              <a:t>Education</a:t>
            </a:r>
            <a:r>
              <a:rPr lang="en-US" sz="2400">
                <a:latin typeface="Arial" charset="0"/>
              </a:rPr>
              <a:t/>
            </a:r>
            <a:br>
              <a:rPr lang="en-US" sz="2400">
                <a:latin typeface="Arial" charset="0"/>
              </a:rPr>
            </a:br>
            <a:r>
              <a:rPr lang="en-US" sz="2000">
                <a:latin typeface="Arial" charset="0"/>
              </a:rPr>
              <a:t>Post 9/11 GI Bill</a:t>
            </a:r>
          </a:p>
        </p:txBody>
      </p:sp>
      <p:sp>
        <p:nvSpPr>
          <p:cNvPr id="771075" name="Content Placeholder 2"/>
          <p:cNvSpPr>
            <a:spLocks noGrp="1"/>
          </p:cNvSpPr>
          <p:nvPr>
            <p:ph idx="4294967295"/>
          </p:nvPr>
        </p:nvSpPr>
        <p:spPr>
          <a:xfrm>
            <a:off x="1143000" y="1371600"/>
            <a:ext cx="7640638" cy="4262438"/>
          </a:xfrm>
        </p:spPr>
        <p:txBody>
          <a:bodyPr/>
          <a:lstStyle/>
          <a:p>
            <a:pPr>
              <a:buClr>
                <a:srgbClr val="1D3275"/>
              </a:buClr>
              <a:buFont typeface="Wingdings" pitchFamily="2" charset="2"/>
              <a:buChar char="Ø"/>
            </a:pPr>
            <a:r>
              <a:rPr lang="en-US" sz="2000">
                <a:latin typeface="Arial" charset="0"/>
              </a:rPr>
              <a:t>Served on active duty after 09/10/01 will be eligible for the Post-9/11 GI Bill if the individual:</a:t>
            </a:r>
          </a:p>
          <a:p>
            <a:pPr lvl="1">
              <a:buClr>
                <a:srgbClr val="1D3275"/>
              </a:buClr>
            </a:pPr>
            <a:r>
              <a:rPr lang="en-US" sz="1800">
                <a:latin typeface="Arial" charset="0"/>
              </a:rPr>
              <a:t>Served for an aggregate period of at least 90 days.</a:t>
            </a:r>
          </a:p>
          <a:p>
            <a:pPr lvl="1">
              <a:buClr>
                <a:srgbClr val="1D3275"/>
              </a:buClr>
            </a:pPr>
            <a:r>
              <a:rPr lang="en-US" sz="1800">
                <a:latin typeface="Arial" charset="0"/>
              </a:rPr>
              <a:t>Served at least 30 continuous days and received a disability discharge.</a:t>
            </a:r>
          </a:p>
          <a:p>
            <a:pPr>
              <a:buClr>
                <a:srgbClr val="1D3275"/>
              </a:buClr>
              <a:buFont typeface="Wingdings" pitchFamily="2" charset="2"/>
              <a:buChar char="Ø"/>
            </a:pPr>
            <a:r>
              <a:rPr lang="en-US" sz="2000">
                <a:solidFill>
                  <a:srgbClr val="000066"/>
                </a:solidFill>
                <a:latin typeface="Arial" charset="0"/>
              </a:rPr>
              <a:t>Generally receive 36 months of benefits, but are limited to 48 months of combined benefits under educational assistance programs administered by VA</a:t>
            </a:r>
          </a:p>
          <a:p>
            <a:pPr>
              <a:buClr>
                <a:srgbClr val="000066"/>
              </a:buClr>
              <a:buFont typeface="Wingdings" pitchFamily="2" charset="2"/>
              <a:buChar char="Ø"/>
            </a:pPr>
            <a:r>
              <a:rPr lang="en-US" sz="2000">
                <a:latin typeface="Arial" charset="0"/>
              </a:rPr>
              <a:t>Benefits payable include:</a:t>
            </a:r>
            <a:r>
              <a:rPr lang="en-US" sz="1600">
                <a:latin typeface="Arial" charset="0"/>
              </a:rPr>
              <a:t> </a:t>
            </a:r>
          </a:p>
          <a:p>
            <a:pPr lvl="1">
              <a:buClr>
                <a:srgbClr val="000066"/>
              </a:buClr>
            </a:pPr>
            <a:r>
              <a:rPr lang="en-US" sz="1800">
                <a:latin typeface="Arial" charset="0"/>
              </a:rPr>
              <a:t>Tuition and Fees (amount determined by months of active duty)</a:t>
            </a:r>
          </a:p>
          <a:p>
            <a:pPr lvl="1">
              <a:buClr>
                <a:srgbClr val="000066"/>
              </a:buClr>
            </a:pPr>
            <a:r>
              <a:rPr lang="en-US" sz="1800">
                <a:latin typeface="Arial" charset="0"/>
              </a:rPr>
              <a:t>Monthly Housing Allowance</a:t>
            </a:r>
          </a:p>
          <a:p>
            <a:pPr lvl="2">
              <a:buClr>
                <a:srgbClr val="000066"/>
              </a:buClr>
            </a:pPr>
            <a:r>
              <a:rPr lang="en-US" sz="1600">
                <a:latin typeface="Arial" charset="0"/>
              </a:rPr>
              <a:t>Equivalent to the Basic Allowance for Housing (BAH) for an E-5 with dependents </a:t>
            </a:r>
          </a:p>
          <a:p>
            <a:pPr lvl="1">
              <a:buClr>
                <a:srgbClr val="000066"/>
              </a:buClr>
            </a:pPr>
            <a:r>
              <a:rPr lang="en-US" sz="1800">
                <a:latin typeface="Arial" charset="0"/>
              </a:rPr>
              <a:t>Stipend for Books and Supplies</a:t>
            </a:r>
          </a:p>
          <a:p>
            <a:pPr lvl="2">
              <a:buClr>
                <a:srgbClr val="000066"/>
              </a:buClr>
            </a:pPr>
            <a:r>
              <a:rPr lang="en-US" sz="1600">
                <a:latin typeface="Arial" charset="0"/>
              </a:rPr>
              <a:t>Up to $1,000 per year</a:t>
            </a:r>
          </a:p>
          <a:p>
            <a:pPr lvl="1">
              <a:buClr>
                <a:srgbClr val="1D3275"/>
              </a:buClr>
            </a:pPr>
            <a:endParaRPr lang="en-US" sz="1600">
              <a:latin typeface="Arial"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1"/>
          <p:cNvSpPr>
            <a:spLocks noGrp="1"/>
          </p:cNvSpPr>
          <p:nvPr>
            <p:ph type="sldNum" sz="quarter" idx="10"/>
          </p:nvPr>
        </p:nvSpPr>
        <p:spPr/>
        <p:txBody>
          <a:bodyPr/>
          <a:lstStyle/>
          <a:p>
            <a:fld id="{0479DA18-042E-4814-B9C0-A2F52ADF4664}" type="slidenum">
              <a:rPr lang="en-US"/>
              <a:pPr/>
              <a:t>16</a:t>
            </a:fld>
            <a:endParaRPr lang="en-US"/>
          </a:p>
        </p:txBody>
      </p:sp>
      <p:sp>
        <p:nvSpPr>
          <p:cNvPr id="6"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35842" name="Rectangle 2"/>
          <p:cNvSpPr>
            <a:spLocks noGrp="1" noChangeArrowheads="1"/>
          </p:cNvSpPr>
          <p:nvPr>
            <p:ph type="title" idx="4294967295"/>
          </p:nvPr>
        </p:nvSpPr>
        <p:spPr/>
        <p:txBody>
          <a:bodyPr/>
          <a:lstStyle/>
          <a:p>
            <a:r>
              <a:rPr lang="en-US" sz="3600">
                <a:latin typeface="Arial" charset="0"/>
              </a:rPr>
              <a:t>Loan Guaranty </a:t>
            </a:r>
          </a:p>
        </p:txBody>
      </p:sp>
      <p:sp>
        <p:nvSpPr>
          <p:cNvPr id="760835" name="Rectangle 3"/>
          <p:cNvSpPr>
            <a:spLocks noGrp="1" noChangeArrowheads="1"/>
          </p:cNvSpPr>
          <p:nvPr>
            <p:ph type="body" idx="4294967295"/>
          </p:nvPr>
        </p:nvSpPr>
        <p:spPr>
          <a:xfrm>
            <a:off x="1066800" y="1676400"/>
            <a:ext cx="7640638" cy="4262438"/>
          </a:xfrm>
        </p:spPr>
        <p:txBody>
          <a:bodyPr/>
          <a:lstStyle/>
          <a:p>
            <a:pPr>
              <a:lnSpc>
                <a:spcPct val="90000"/>
              </a:lnSpc>
              <a:buClr>
                <a:srgbClr val="1D3275"/>
              </a:buClr>
              <a:buFont typeface="Wingdings" pitchFamily="2" charset="2"/>
              <a:buChar char="Ø"/>
            </a:pPr>
            <a:r>
              <a:rPr lang="en-US">
                <a:latin typeface="Arial" charset="0"/>
              </a:rPr>
              <a:t>Zero downpayment loans made by mortgage lenders </a:t>
            </a:r>
          </a:p>
          <a:p>
            <a:pPr>
              <a:lnSpc>
                <a:spcPct val="90000"/>
              </a:lnSpc>
              <a:buClr>
                <a:srgbClr val="1D3275"/>
              </a:buClr>
              <a:buFont typeface="Wingdings" pitchFamily="2" charset="2"/>
              <a:buChar char="Ø"/>
            </a:pPr>
            <a:r>
              <a:rPr lang="en-US">
                <a:latin typeface="Arial" charset="0"/>
              </a:rPr>
              <a:t>VA guarantees up to $104,250</a:t>
            </a:r>
          </a:p>
          <a:p>
            <a:pPr>
              <a:lnSpc>
                <a:spcPct val="90000"/>
              </a:lnSpc>
              <a:buClr>
                <a:srgbClr val="1D3275"/>
              </a:buClr>
              <a:buFont typeface="Wingdings" pitchFamily="2" charset="2"/>
              <a:buChar char="Ø"/>
            </a:pPr>
            <a:r>
              <a:rPr lang="en-US">
                <a:latin typeface="Arial" charset="0"/>
              </a:rPr>
              <a:t>Maximum no downpayment loan: $417,000 in most areas; may be higher depending on area median price</a:t>
            </a:r>
          </a:p>
          <a:p>
            <a:pPr>
              <a:lnSpc>
                <a:spcPct val="90000"/>
              </a:lnSpc>
              <a:buClr>
                <a:srgbClr val="1D3275"/>
              </a:buClr>
              <a:buFont typeface="Wingdings" pitchFamily="2" charset="2"/>
              <a:buChar char="Ø"/>
            </a:pPr>
            <a:r>
              <a:rPr lang="en-US">
                <a:latin typeface="Arial" charset="0"/>
              </a:rPr>
              <a:t>Funding Fee (Regular Military) </a:t>
            </a:r>
          </a:p>
          <a:p>
            <a:pPr lvl="1">
              <a:lnSpc>
                <a:spcPct val="90000"/>
              </a:lnSpc>
            </a:pPr>
            <a:r>
              <a:rPr lang="en-US">
                <a:latin typeface="Arial" charset="0"/>
              </a:rPr>
              <a:t>1st time use 2.15%</a:t>
            </a:r>
          </a:p>
          <a:p>
            <a:pPr lvl="1">
              <a:lnSpc>
                <a:spcPct val="90000"/>
              </a:lnSpc>
            </a:pPr>
            <a:r>
              <a:rPr lang="en-US">
                <a:latin typeface="Arial" charset="0"/>
              </a:rPr>
              <a:t>2nd time use 3.3%</a:t>
            </a:r>
          </a:p>
          <a:p>
            <a:pPr lvl="1">
              <a:lnSpc>
                <a:spcPct val="90000"/>
              </a:lnSpc>
            </a:pPr>
            <a:r>
              <a:rPr lang="en-US">
                <a:latin typeface="Arial" charset="0"/>
              </a:rPr>
              <a:t>Funding fee waived for those with compensable service-connected disabilities</a:t>
            </a:r>
          </a:p>
          <a:p>
            <a:pPr lvl="1">
              <a:lnSpc>
                <a:spcPct val="90000"/>
              </a:lnSpc>
              <a:buFontTx/>
              <a:buNone/>
            </a:pPr>
            <a:endParaRPr lang="en-US">
              <a:latin typeface="Arial" charset="0"/>
            </a:endParaRPr>
          </a:p>
        </p:txBody>
      </p:sp>
      <p:sp>
        <p:nvSpPr>
          <p:cNvPr id="760836" name="Rectangle 4"/>
          <p:cNvSpPr>
            <a:spLocks noChangeArrowheads="1"/>
          </p:cNvSpPr>
          <p:nvPr/>
        </p:nvSpPr>
        <p:spPr bwMode="auto">
          <a:xfrm>
            <a:off x="5867400" y="3581400"/>
            <a:ext cx="3048000" cy="2819400"/>
          </a:xfrm>
          <a:prstGeom prst="rect">
            <a:avLst/>
          </a:prstGeom>
          <a:noFill/>
          <a:ln w="12700" cap="sq">
            <a:noFill/>
            <a:miter lim="800000"/>
            <a:headEnd type="none" w="sm" len="sm"/>
            <a:tailEnd type="none" w="sm" len="sm"/>
          </a:ln>
        </p:spPr>
        <p:txBody>
          <a:bodyPr lIns="91424" tIns="45712" rIns="91424" bIns="45712"/>
          <a:lstStyle/>
          <a:p>
            <a:pPr marL="342900" indent="-342900">
              <a:buClr>
                <a:srgbClr val="CC0000"/>
              </a:buClr>
              <a:buFont typeface="Wingdings" pitchFamily="2" charset="2"/>
              <a:buChar char="§"/>
            </a:pPr>
            <a:endParaRPr lang="en-US" sz="2200" b="1"/>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6A3C9717-0A0A-481F-92FE-7FAD29E9C2AB}" type="slidenum">
              <a:rPr lang="en-US"/>
              <a:pPr/>
              <a:t>17</a:t>
            </a:fld>
            <a:endParaRPr lang="en-US"/>
          </a:p>
        </p:txBody>
      </p:sp>
      <p:sp>
        <p:nvSpPr>
          <p:cNvPr id="5"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765955" name="Rectangle 3"/>
          <p:cNvSpPr>
            <a:spLocks noGrp="1" noChangeArrowheads="1"/>
          </p:cNvSpPr>
          <p:nvPr>
            <p:ph type="body" idx="4294967295"/>
          </p:nvPr>
        </p:nvSpPr>
        <p:spPr>
          <a:xfrm>
            <a:off x="1143000" y="1447800"/>
            <a:ext cx="7708900" cy="4800600"/>
          </a:xfrm>
        </p:spPr>
        <p:txBody>
          <a:bodyPr/>
          <a:lstStyle/>
          <a:p>
            <a:pPr>
              <a:lnSpc>
                <a:spcPct val="90000"/>
              </a:lnSpc>
              <a:buClr>
                <a:srgbClr val="1D3275"/>
              </a:buClr>
              <a:buFont typeface="Wingdings" pitchFamily="2" charset="2"/>
              <a:buChar char="Ø"/>
            </a:pPr>
            <a:r>
              <a:rPr lang="en-US" sz="2400">
                <a:latin typeface="Arial" charset="0"/>
              </a:rPr>
              <a:t>Achieve and maintain suitable employment</a:t>
            </a:r>
          </a:p>
          <a:p>
            <a:pPr lvl="1">
              <a:lnSpc>
                <a:spcPct val="90000"/>
              </a:lnSpc>
            </a:pPr>
            <a:r>
              <a:rPr lang="en-US" sz="2000">
                <a:latin typeface="Arial" charset="0"/>
              </a:rPr>
              <a:t>Evaluation of the Veteran’s abilities, skills, interests, and needs</a:t>
            </a:r>
          </a:p>
          <a:p>
            <a:pPr lvl="1">
              <a:lnSpc>
                <a:spcPct val="90000"/>
              </a:lnSpc>
            </a:pPr>
            <a:r>
              <a:rPr lang="en-US" sz="2000">
                <a:latin typeface="Arial" charset="0"/>
              </a:rPr>
              <a:t>On-the-job and non-paid work experience education or training such as certificate, two or four-year programs</a:t>
            </a:r>
          </a:p>
          <a:p>
            <a:pPr>
              <a:lnSpc>
                <a:spcPct val="90000"/>
              </a:lnSpc>
              <a:buClr>
                <a:srgbClr val="1D3275"/>
              </a:buClr>
              <a:buFont typeface="Wingdings" pitchFamily="2" charset="2"/>
              <a:buChar char="Ø"/>
            </a:pPr>
            <a:r>
              <a:rPr lang="en-US" sz="2400">
                <a:latin typeface="Arial" charset="0"/>
              </a:rPr>
              <a:t>Independent Living</a:t>
            </a:r>
          </a:p>
          <a:p>
            <a:pPr lvl="1">
              <a:lnSpc>
                <a:spcPct val="90000"/>
              </a:lnSpc>
            </a:pPr>
            <a:r>
              <a:rPr lang="en-US" sz="2000">
                <a:latin typeface="Arial" charset="0"/>
              </a:rPr>
              <a:t>Training in activities of daily living</a:t>
            </a:r>
          </a:p>
          <a:p>
            <a:pPr lvl="1">
              <a:lnSpc>
                <a:spcPct val="90000"/>
              </a:lnSpc>
            </a:pPr>
            <a:r>
              <a:rPr lang="en-US" sz="2000">
                <a:latin typeface="Arial" charset="0"/>
              </a:rPr>
              <a:t>Personal adjustment counseling</a:t>
            </a:r>
          </a:p>
          <a:p>
            <a:pPr>
              <a:lnSpc>
                <a:spcPct val="90000"/>
              </a:lnSpc>
              <a:buClr>
                <a:srgbClr val="1D3275"/>
              </a:buClr>
              <a:buFont typeface="Wingdings" pitchFamily="2" charset="2"/>
              <a:buChar char="Ø"/>
            </a:pPr>
            <a:r>
              <a:rPr lang="en-US" sz="2400">
                <a:latin typeface="Arial" charset="0"/>
              </a:rPr>
              <a:t>Coming Home to Work</a:t>
            </a:r>
          </a:p>
          <a:p>
            <a:pPr lvl="1">
              <a:lnSpc>
                <a:spcPct val="90000"/>
              </a:lnSpc>
            </a:pPr>
            <a:r>
              <a:rPr lang="en-US" sz="2000">
                <a:latin typeface="Arial" charset="0"/>
              </a:rPr>
              <a:t>Provides early intervention services to OEF/OIF Servicemembers and Veterans in accessing VR&amp;E services  </a:t>
            </a:r>
          </a:p>
          <a:p>
            <a:pPr>
              <a:lnSpc>
                <a:spcPct val="90000"/>
              </a:lnSpc>
              <a:buClr>
                <a:srgbClr val="1D3275"/>
              </a:buClr>
              <a:buFont typeface="Wingdings" pitchFamily="2" charset="2"/>
              <a:buChar char="Ø"/>
            </a:pPr>
            <a:r>
              <a:rPr lang="en-US" sz="2400">
                <a:latin typeface="Arial" charset="0"/>
              </a:rPr>
              <a:t>Vocational Educational Counseling</a:t>
            </a:r>
          </a:p>
          <a:p>
            <a:pPr lvl="1">
              <a:lnSpc>
                <a:spcPct val="90000"/>
              </a:lnSpc>
            </a:pPr>
            <a:r>
              <a:rPr lang="en-US" sz="2000">
                <a:latin typeface="Arial" charset="0"/>
              </a:rPr>
              <a:t>Assistance in establishing employment and educational goals when transitioning from military service</a:t>
            </a:r>
          </a:p>
          <a:p>
            <a:pPr lvl="1">
              <a:lnSpc>
                <a:spcPct val="90000"/>
              </a:lnSpc>
              <a:buFontTx/>
              <a:buNone/>
            </a:pPr>
            <a:endParaRPr lang="en-US" sz="2000">
              <a:latin typeface="Arial" charset="0"/>
            </a:endParaRPr>
          </a:p>
        </p:txBody>
      </p:sp>
      <p:sp>
        <p:nvSpPr>
          <p:cNvPr id="31746" name="Rectangle 2"/>
          <p:cNvSpPr>
            <a:spLocks noChangeArrowheads="1"/>
          </p:cNvSpPr>
          <p:nvPr/>
        </p:nvSpPr>
        <p:spPr bwMode="auto">
          <a:xfrm>
            <a:off x="2020888" y="152400"/>
            <a:ext cx="7123112" cy="685800"/>
          </a:xfrm>
          <a:prstGeom prst="rect">
            <a:avLst/>
          </a:prstGeom>
          <a:noFill/>
          <a:ln w="9525">
            <a:noFill/>
            <a:miter lim="800000"/>
            <a:headEnd/>
            <a:tailEnd/>
          </a:ln>
          <a:effectLst/>
        </p:spPr>
        <p:txBody>
          <a:bodyPr lIns="92075" tIns="46038" rIns="92075" bIns="46038" anchor="b"/>
          <a:lstStyle/>
          <a:p>
            <a:pPr algn="ctr">
              <a:spcBef>
                <a:spcPct val="0"/>
              </a:spcBef>
              <a:buClrTx/>
              <a:buFontTx/>
              <a:buNone/>
            </a:pPr>
            <a:r>
              <a:rPr lang="en-US" sz="3000">
                <a:solidFill>
                  <a:srgbClr val="000066"/>
                </a:solidFill>
                <a:effectLst>
                  <a:outerShdw blurRad="38100" dist="38100" dir="2700000" algn="tl">
                    <a:srgbClr val="C0C0C0"/>
                  </a:outerShdw>
                </a:effectLst>
              </a:rPr>
              <a:t>Vocational Rehabilitation &amp; Employment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876B3B5B-51F3-4D1B-AAB9-E75327AAC4E8}" type="slidenum">
              <a:rPr lang="en-US"/>
              <a:pPr/>
              <a:t>18</a:t>
            </a:fld>
            <a:endParaRPr lang="en-US"/>
          </a:p>
        </p:txBody>
      </p:sp>
      <p:sp>
        <p:nvSpPr>
          <p:cNvPr id="5"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40962" name="Rectangle 2"/>
          <p:cNvSpPr>
            <a:spLocks noGrp="1" noChangeArrowheads="1"/>
          </p:cNvSpPr>
          <p:nvPr>
            <p:ph type="title" idx="4294967295"/>
          </p:nvPr>
        </p:nvSpPr>
        <p:spPr/>
        <p:txBody>
          <a:bodyPr/>
          <a:lstStyle/>
          <a:p>
            <a:r>
              <a:rPr lang="en-US" sz="3600">
                <a:latin typeface="Arial" charset="0"/>
              </a:rPr>
              <a:t>Insurance</a:t>
            </a:r>
          </a:p>
        </p:txBody>
      </p:sp>
      <p:sp>
        <p:nvSpPr>
          <p:cNvPr id="761859" name="Rectangle 3"/>
          <p:cNvSpPr>
            <a:spLocks noGrp="1" noChangeArrowheads="1"/>
          </p:cNvSpPr>
          <p:nvPr>
            <p:ph type="body" idx="4294967295"/>
          </p:nvPr>
        </p:nvSpPr>
        <p:spPr>
          <a:xfrm>
            <a:off x="1143000" y="1371600"/>
            <a:ext cx="7640638" cy="3919538"/>
          </a:xfrm>
        </p:spPr>
        <p:txBody>
          <a:bodyPr/>
          <a:lstStyle/>
          <a:p>
            <a:pPr>
              <a:lnSpc>
                <a:spcPct val="140000"/>
              </a:lnSpc>
              <a:buClr>
                <a:srgbClr val="1D3275"/>
              </a:buClr>
              <a:buFont typeface="Wingdings" pitchFamily="2" charset="2"/>
              <a:buChar char="Ø"/>
            </a:pPr>
            <a:r>
              <a:rPr lang="en-US" sz="2000">
                <a:latin typeface="Arial" charset="0"/>
              </a:rPr>
              <a:t>Servicemembers’ Group Life Insurance </a:t>
            </a:r>
          </a:p>
          <a:p>
            <a:pPr>
              <a:lnSpc>
                <a:spcPct val="140000"/>
              </a:lnSpc>
              <a:buClr>
                <a:srgbClr val="1D3275"/>
              </a:buClr>
              <a:buFont typeface="Wingdings" pitchFamily="2" charset="2"/>
              <a:buChar char="Ø"/>
            </a:pPr>
            <a:r>
              <a:rPr lang="en-US" sz="2000">
                <a:latin typeface="Arial" charset="0"/>
              </a:rPr>
              <a:t>Veterans’ Group Life Insurance </a:t>
            </a:r>
          </a:p>
          <a:p>
            <a:pPr lvl="1">
              <a:lnSpc>
                <a:spcPct val="140000"/>
              </a:lnSpc>
              <a:buClr>
                <a:srgbClr val="1D3275"/>
              </a:buClr>
            </a:pPr>
            <a:r>
              <a:rPr lang="en-US" sz="1600">
                <a:latin typeface="Arial" charset="0"/>
              </a:rPr>
              <a:t>post-separation insurance which allows Servicemembers to convert their SGLI coverage to renewable term insurance</a:t>
            </a:r>
          </a:p>
          <a:p>
            <a:pPr>
              <a:lnSpc>
                <a:spcPct val="140000"/>
              </a:lnSpc>
              <a:buClr>
                <a:srgbClr val="1D3275"/>
              </a:buClr>
              <a:buFont typeface="Wingdings" pitchFamily="2" charset="2"/>
              <a:buChar char="Ø"/>
            </a:pPr>
            <a:r>
              <a:rPr lang="en-US" sz="2000">
                <a:latin typeface="Arial" charset="0"/>
              </a:rPr>
              <a:t>Service-Disabled Veterans Insurance</a:t>
            </a:r>
          </a:p>
          <a:p>
            <a:pPr lvl="1">
              <a:lnSpc>
                <a:spcPct val="140000"/>
              </a:lnSpc>
              <a:buClr>
                <a:srgbClr val="1D3275"/>
              </a:buClr>
            </a:pPr>
            <a:r>
              <a:rPr lang="en-US" sz="1600">
                <a:solidFill>
                  <a:srgbClr val="000066"/>
                </a:solidFill>
                <a:latin typeface="Arial" charset="0"/>
              </a:rPr>
              <a:t>Application must be made within two years of the granting of new service-connection for a disability</a:t>
            </a:r>
          </a:p>
          <a:p>
            <a:pPr>
              <a:lnSpc>
                <a:spcPct val="140000"/>
              </a:lnSpc>
              <a:buClr>
                <a:srgbClr val="1D3275"/>
              </a:buClr>
              <a:buFont typeface="Wingdings" pitchFamily="2" charset="2"/>
              <a:buChar char="Ø"/>
            </a:pPr>
            <a:r>
              <a:rPr lang="en-US" sz="2000">
                <a:latin typeface="Arial" charset="0"/>
              </a:rPr>
              <a:t>Veterans Mortgage Life Insurance</a:t>
            </a:r>
            <a:r>
              <a:rPr lang="en-US" sz="2200"/>
              <a:t> 	</a:t>
            </a:r>
          </a:p>
          <a:p>
            <a:pPr lvl="1">
              <a:lnSpc>
                <a:spcPct val="140000"/>
              </a:lnSpc>
              <a:buClr>
                <a:srgbClr val="1D3275"/>
              </a:buClr>
            </a:pPr>
            <a:r>
              <a:rPr lang="en-US" sz="1600">
                <a:latin typeface="Arial" charset="0"/>
              </a:rPr>
              <a:t>Veteran must have received a specially adapted housing grant from VA.</a:t>
            </a:r>
          </a:p>
          <a:p>
            <a:pPr lvl="1">
              <a:lnSpc>
                <a:spcPct val="140000"/>
              </a:lnSpc>
              <a:buClr>
                <a:srgbClr val="1D3275"/>
              </a:buClr>
            </a:pPr>
            <a:r>
              <a:rPr lang="en-US" sz="1600">
                <a:latin typeface="Arial" charset="0"/>
              </a:rPr>
              <a:t>amount of coverage equals the amount of the mortgage still owed but the maximum can never exceed $90,000</a:t>
            </a:r>
          </a:p>
          <a:p>
            <a:pPr>
              <a:lnSpc>
                <a:spcPct val="90000"/>
              </a:lnSpc>
            </a:pPr>
            <a:endParaRPr lang="en-US" sz="1600">
              <a:solidFill>
                <a:srgbClr val="000066"/>
              </a:solidFill>
              <a:latin typeface="Arial" charset="0"/>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D5B772E3-B0BD-41CD-BB9D-82D90605D4A8}" type="slidenum">
              <a:rPr lang="en-US"/>
              <a:pPr/>
              <a:t>19</a:t>
            </a:fld>
            <a:endParaRPr lang="en-US"/>
          </a:p>
        </p:txBody>
      </p:sp>
      <p:sp>
        <p:nvSpPr>
          <p:cNvPr id="5"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801794" name="Rectangle 2"/>
          <p:cNvSpPr>
            <a:spLocks noChangeArrowheads="1"/>
          </p:cNvSpPr>
          <p:nvPr/>
        </p:nvSpPr>
        <p:spPr bwMode="auto">
          <a:xfrm>
            <a:off x="609600" y="1371600"/>
            <a:ext cx="8534400" cy="4656138"/>
          </a:xfrm>
          <a:prstGeom prst="rect">
            <a:avLst/>
          </a:prstGeom>
          <a:noFill/>
          <a:ln w="9525">
            <a:noFill/>
            <a:miter lim="800000"/>
            <a:headEnd/>
            <a:tailEnd/>
          </a:ln>
          <a:effectLst/>
        </p:spPr>
        <p:txBody>
          <a:bodyPr lIns="92075" tIns="46038" rIns="92075" bIns="46038">
            <a:spAutoFit/>
          </a:bodyPr>
          <a:lstStyle/>
          <a:p>
            <a:pPr>
              <a:spcBef>
                <a:spcPct val="50000"/>
              </a:spcBef>
              <a:buClr>
                <a:schemeClr val="tx2"/>
              </a:buClr>
              <a:buFont typeface="Arial Black" pitchFamily="34" charset="0"/>
              <a:buChar char="»"/>
            </a:pPr>
            <a:r>
              <a:rPr lang="en-US" sz="2400">
                <a:solidFill>
                  <a:schemeClr val="tx1"/>
                </a:solidFill>
                <a:latin typeface="Verdana" pitchFamily="34" charset="0"/>
              </a:rPr>
              <a:t>Free VA health care for all rated service-connected conditions</a:t>
            </a:r>
          </a:p>
          <a:p>
            <a:pPr>
              <a:spcBef>
                <a:spcPct val="50000"/>
              </a:spcBef>
              <a:buClr>
                <a:schemeClr val="tx2"/>
              </a:buClr>
              <a:buFont typeface="Arial Black" pitchFamily="34" charset="0"/>
              <a:buChar char="»"/>
            </a:pPr>
            <a:r>
              <a:rPr lang="en-US" sz="2400">
                <a:solidFill>
                  <a:schemeClr val="tx1"/>
                </a:solidFill>
                <a:latin typeface="Verdana" pitchFamily="34" charset="0"/>
              </a:rPr>
              <a:t>Specially Adapted Housing Grant</a:t>
            </a:r>
          </a:p>
          <a:p>
            <a:pPr>
              <a:spcBef>
                <a:spcPct val="50000"/>
              </a:spcBef>
              <a:buClr>
                <a:schemeClr val="tx2"/>
              </a:buClr>
              <a:buFont typeface="Arial Black" pitchFamily="34" charset="0"/>
              <a:buChar char="»"/>
            </a:pPr>
            <a:r>
              <a:rPr lang="en-US" sz="2400">
                <a:solidFill>
                  <a:schemeClr val="tx1"/>
                </a:solidFill>
                <a:latin typeface="Verdana" pitchFamily="34" charset="0"/>
              </a:rPr>
              <a:t>Automobile Grant</a:t>
            </a:r>
          </a:p>
          <a:p>
            <a:pPr>
              <a:spcBef>
                <a:spcPct val="50000"/>
              </a:spcBef>
              <a:buClr>
                <a:schemeClr val="tx2"/>
              </a:buClr>
              <a:buFont typeface="Arial Black" pitchFamily="34" charset="0"/>
              <a:buChar char="»"/>
            </a:pPr>
            <a:r>
              <a:rPr lang="en-US" sz="2400">
                <a:solidFill>
                  <a:schemeClr val="tx1"/>
                </a:solidFill>
                <a:latin typeface="Verdana" pitchFamily="34" charset="0"/>
              </a:rPr>
              <a:t>Vocational rehabilitation &amp; employment services</a:t>
            </a:r>
          </a:p>
          <a:p>
            <a:pPr>
              <a:spcBef>
                <a:spcPct val="50000"/>
              </a:spcBef>
              <a:buClr>
                <a:schemeClr val="tx2"/>
              </a:buClr>
              <a:buFont typeface="Arial Black" pitchFamily="34" charset="0"/>
              <a:buChar char="»"/>
            </a:pPr>
            <a:r>
              <a:rPr lang="en-US" sz="2400">
                <a:solidFill>
                  <a:schemeClr val="tx1"/>
                </a:solidFill>
                <a:latin typeface="Verdana" pitchFamily="34" charset="0"/>
              </a:rPr>
              <a:t>VA life insurance - $10,000</a:t>
            </a:r>
          </a:p>
          <a:p>
            <a:pPr>
              <a:spcBef>
                <a:spcPct val="50000"/>
              </a:spcBef>
              <a:buClr>
                <a:schemeClr val="tx2"/>
              </a:buClr>
              <a:buFont typeface="Arial Black" pitchFamily="34" charset="0"/>
              <a:buChar char="»"/>
            </a:pPr>
            <a:r>
              <a:rPr lang="en-US" sz="2400">
                <a:solidFill>
                  <a:schemeClr val="tx1"/>
                </a:solidFill>
                <a:latin typeface="Verdana" pitchFamily="34" charset="0"/>
              </a:rPr>
              <a:t>Veteran’s preference in Federal hiring</a:t>
            </a:r>
          </a:p>
          <a:p>
            <a:pPr>
              <a:spcBef>
                <a:spcPct val="50000"/>
              </a:spcBef>
              <a:buClr>
                <a:schemeClr val="tx2"/>
              </a:buClr>
              <a:buFont typeface="Arial Black" pitchFamily="34" charset="0"/>
              <a:buChar char="»"/>
            </a:pPr>
            <a:r>
              <a:rPr lang="en-US" sz="2400">
                <a:solidFill>
                  <a:schemeClr val="tx1"/>
                </a:solidFill>
                <a:latin typeface="Verdana" pitchFamily="34" charset="0"/>
              </a:rPr>
              <a:t>VA home loan guaranty funding fee waived</a:t>
            </a:r>
          </a:p>
          <a:p>
            <a:pPr>
              <a:spcBef>
                <a:spcPct val="50000"/>
              </a:spcBef>
              <a:buClr>
                <a:schemeClr val="tx2"/>
              </a:buClr>
              <a:buFont typeface="Arial Black" pitchFamily="34" charset="0"/>
              <a:buChar char="»"/>
            </a:pPr>
            <a:r>
              <a:rPr lang="en-US" sz="2400">
                <a:solidFill>
                  <a:schemeClr val="tx1"/>
                </a:solidFill>
                <a:latin typeface="Verdana" pitchFamily="34" charset="0"/>
              </a:rPr>
              <a:t>Possible state and local benefits</a:t>
            </a:r>
          </a:p>
        </p:txBody>
      </p:sp>
      <p:sp>
        <p:nvSpPr>
          <p:cNvPr id="801795" name="Rectangle 3"/>
          <p:cNvSpPr>
            <a:spLocks noChangeArrowheads="1"/>
          </p:cNvSpPr>
          <p:nvPr/>
        </p:nvSpPr>
        <p:spPr bwMode="auto">
          <a:xfrm>
            <a:off x="2819400" y="228600"/>
            <a:ext cx="4398963" cy="641350"/>
          </a:xfrm>
          <a:prstGeom prst="rect">
            <a:avLst/>
          </a:prstGeom>
          <a:noFill/>
          <a:ln w="9525">
            <a:noFill/>
            <a:miter lim="800000"/>
            <a:headEnd/>
            <a:tailEnd/>
          </a:ln>
          <a:effectLst/>
        </p:spPr>
        <p:txBody>
          <a:bodyPr wrap="none" lIns="92075" tIns="46038" rIns="92075" bIns="46038">
            <a:spAutoFit/>
          </a:bodyPr>
          <a:lstStyle/>
          <a:p>
            <a:pPr>
              <a:buFont typeface="Wingdings" pitchFamily="2" charset="2"/>
              <a:buNone/>
            </a:pPr>
            <a:r>
              <a:rPr lang="en-US" sz="3600" b="1">
                <a:solidFill>
                  <a:schemeClr val="tx1"/>
                </a:solidFill>
                <a:latin typeface="Verdana" pitchFamily="34" charset="0"/>
              </a:rPr>
              <a:t>Related Benefits</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1"/>
          <p:cNvSpPr>
            <a:spLocks noGrp="1"/>
          </p:cNvSpPr>
          <p:nvPr>
            <p:ph type="sldNum" sz="quarter" idx="10"/>
          </p:nvPr>
        </p:nvSpPr>
        <p:spPr/>
        <p:txBody>
          <a:bodyPr/>
          <a:lstStyle/>
          <a:p>
            <a:fld id="{F90C74D5-FCEE-4AE1-8334-B46894181B0E}" type="slidenum">
              <a:rPr lang="en-US"/>
              <a:pPr/>
              <a:t>20</a:t>
            </a:fld>
            <a:endParaRPr lang="en-US"/>
          </a:p>
        </p:txBody>
      </p:sp>
      <p:sp>
        <p:nvSpPr>
          <p:cNvPr id="6"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797698" name="Rectangle 2"/>
          <p:cNvSpPr>
            <a:spLocks noChangeArrowheads="1"/>
          </p:cNvSpPr>
          <p:nvPr/>
        </p:nvSpPr>
        <p:spPr bwMode="auto">
          <a:xfrm>
            <a:off x="2971800" y="0"/>
            <a:ext cx="3963988" cy="641350"/>
          </a:xfrm>
          <a:prstGeom prst="rect">
            <a:avLst/>
          </a:prstGeom>
          <a:noFill/>
          <a:ln w="9525">
            <a:noFill/>
            <a:miter lim="800000"/>
            <a:headEnd/>
            <a:tailEnd/>
          </a:ln>
          <a:effectLst/>
        </p:spPr>
        <p:txBody>
          <a:bodyPr wrap="none" lIns="92075" tIns="46038" rIns="92075" bIns="46038">
            <a:spAutoFit/>
          </a:bodyPr>
          <a:lstStyle/>
          <a:p>
            <a:pPr>
              <a:buFont typeface="Wingdings" pitchFamily="2" charset="2"/>
              <a:buNone/>
            </a:pPr>
            <a:r>
              <a:rPr lang="en-US" sz="3600" b="1">
                <a:solidFill>
                  <a:schemeClr val="tx1"/>
                </a:solidFill>
                <a:latin typeface="Verdana" pitchFamily="34" charset="0"/>
              </a:rPr>
              <a:t>Burial Benefits</a:t>
            </a:r>
          </a:p>
        </p:txBody>
      </p:sp>
      <p:pic>
        <p:nvPicPr>
          <p:cNvPr id="797699" name="Picture 6" descr="Fort Sam Houston"/>
          <p:cNvPicPr>
            <a:picLocks noChangeAspect="1" noChangeArrowheads="1"/>
          </p:cNvPicPr>
          <p:nvPr/>
        </p:nvPicPr>
        <p:blipFill>
          <a:blip r:embed="rId2" cstate="print"/>
          <a:srcRect l="10738" b="18462"/>
          <a:stretch>
            <a:fillRect/>
          </a:stretch>
        </p:blipFill>
        <p:spPr bwMode="auto">
          <a:xfrm>
            <a:off x="5486400" y="3581400"/>
            <a:ext cx="3657600" cy="2822575"/>
          </a:xfrm>
          <a:prstGeom prst="rect">
            <a:avLst/>
          </a:prstGeom>
          <a:noFill/>
          <a:ln w="9525">
            <a:noFill/>
            <a:miter lim="800000"/>
            <a:headEnd/>
            <a:tailEnd/>
          </a:ln>
        </p:spPr>
      </p:pic>
      <p:sp>
        <p:nvSpPr>
          <p:cNvPr id="10243" name="Content Placeholder 3"/>
          <p:cNvSpPr>
            <a:spLocks/>
          </p:cNvSpPr>
          <p:nvPr/>
        </p:nvSpPr>
        <p:spPr bwMode="auto">
          <a:xfrm>
            <a:off x="609600" y="1371600"/>
            <a:ext cx="7162800" cy="4724400"/>
          </a:xfrm>
          <a:prstGeom prst="rect">
            <a:avLst/>
          </a:prstGeom>
          <a:noFill/>
          <a:ln w="9525">
            <a:noFill/>
            <a:miter lim="800000"/>
            <a:headEnd/>
            <a:tailEnd/>
          </a:ln>
        </p:spPr>
        <p:txBody>
          <a:bodyPr/>
          <a:lstStyle/>
          <a:p>
            <a:pPr marL="342900" indent="-342900">
              <a:buClr>
                <a:srgbClr val="CC0000"/>
              </a:buClr>
              <a:buFont typeface="Wingdings" pitchFamily="2" charset="2"/>
              <a:buNone/>
            </a:pPr>
            <a:r>
              <a:rPr lang="en-US" sz="3000" b="1">
                <a:solidFill>
                  <a:schemeClr val="tx1"/>
                </a:solidFill>
                <a:latin typeface="Tahoma" pitchFamily="34" charset="0"/>
              </a:rPr>
              <a:t>120+ Cemeteries Nationwide</a:t>
            </a:r>
          </a:p>
          <a:p>
            <a:pPr marL="342900" indent="-342900" eaLnBrk="1" hangingPunct="1">
              <a:buClr>
                <a:srgbClr val="CC0000"/>
              </a:buClr>
              <a:buFont typeface="Wingdings" pitchFamily="2" charset="2"/>
              <a:buNone/>
            </a:pPr>
            <a:endParaRPr lang="en-US" sz="3000">
              <a:solidFill>
                <a:schemeClr val="tx1"/>
              </a:solidFill>
              <a:latin typeface="Century Gothic" pitchFamily="34" charset="0"/>
            </a:endParaRPr>
          </a:p>
          <a:p>
            <a:pPr marL="342900" indent="-342900">
              <a:spcBef>
                <a:spcPct val="0"/>
              </a:spcBef>
              <a:buClr>
                <a:srgbClr val="CC0000"/>
              </a:buClr>
              <a:buFont typeface="Wingdings" pitchFamily="2" charset="2"/>
              <a:buChar char="§"/>
            </a:pPr>
            <a:r>
              <a:rPr lang="en-US" sz="2400">
                <a:solidFill>
                  <a:schemeClr val="tx1"/>
                </a:solidFill>
              </a:rPr>
              <a:t>Gravesite</a:t>
            </a:r>
          </a:p>
          <a:p>
            <a:pPr marL="342900" indent="-342900">
              <a:spcBef>
                <a:spcPct val="0"/>
              </a:spcBef>
              <a:buClr>
                <a:srgbClr val="CC0000"/>
              </a:buClr>
              <a:buFont typeface="Wingdings" pitchFamily="2" charset="2"/>
              <a:buChar char="§"/>
            </a:pPr>
            <a:r>
              <a:rPr lang="en-US" sz="2400">
                <a:solidFill>
                  <a:schemeClr val="tx1"/>
                </a:solidFill>
              </a:rPr>
              <a:t>Opening and closing</a:t>
            </a:r>
          </a:p>
          <a:p>
            <a:pPr marL="342900" indent="-342900">
              <a:spcBef>
                <a:spcPct val="0"/>
              </a:spcBef>
              <a:buClr>
                <a:srgbClr val="CC0000"/>
              </a:buClr>
              <a:buFont typeface="Wingdings" pitchFamily="2" charset="2"/>
              <a:buChar char="§"/>
            </a:pPr>
            <a:r>
              <a:rPr lang="en-US" sz="2400">
                <a:solidFill>
                  <a:schemeClr val="tx1"/>
                </a:solidFill>
              </a:rPr>
              <a:t>Headstone/marker/medallion</a:t>
            </a:r>
          </a:p>
          <a:p>
            <a:pPr marL="342900" indent="-342900">
              <a:spcBef>
                <a:spcPct val="0"/>
              </a:spcBef>
              <a:buClr>
                <a:srgbClr val="CC0000"/>
              </a:buClr>
              <a:buFont typeface="Wingdings" pitchFamily="2" charset="2"/>
              <a:buChar char="§"/>
            </a:pPr>
            <a:r>
              <a:rPr lang="en-US" sz="2400">
                <a:solidFill>
                  <a:schemeClr val="tx1"/>
                </a:solidFill>
              </a:rPr>
              <a:t>Burial flag</a:t>
            </a:r>
          </a:p>
          <a:p>
            <a:pPr marL="342900" indent="-342900">
              <a:spcBef>
                <a:spcPct val="0"/>
              </a:spcBef>
              <a:buClr>
                <a:srgbClr val="CC0000"/>
              </a:buClr>
              <a:buFont typeface="Wingdings" pitchFamily="2" charset="2"/>
              <a:buChar char="§"/>
            </a:pPr>
            <a:r>
              <a:rPr lang="en-US" sz="2400">
                <a:solidFill>
                  <a:schemeClr val="tx1"/>
                </a:solidFill>
              </a:rPr>
              <a:t>Funeral honors</a:t>
            </a:r>
          </a:p>
          <a:p>
            <a:pPr marL="342900" indent="-342900">
              <a:spcBef>
                <a:spcPct val="0"/>
              </a:spcBef>
              <a:buClr>
                <a:srgbClr val="CC0000"/>
              </a:buClr>
              <a:buFont typeface="Wingdings" pitchFamily="2" charset="2"/>
              <a:buChar char="§"/>
            </a:pPr>
            <a:r>
              <a:rPr lang="en-US" sz="2400">
                <a:solidFill>
                  <a:schemeClr val="tx1"/>
                </a:solidFill>
              </a:rPr>
              <a:t>Presidential Memorial Certificate</a:t>
            </a:r>
          </a:p>
          <a:p>
            <a:pPr marL="342900" indent="-342900">
              <a:spcBef>
                <a:spcPct val="0"/>
              </a:spcBef>
              <a:buClr>
                <a:srgbClr val="CC0000"/>
              </a:buClr>
              <a:buFont typeface="Wingdings" pitchFamily="2" charset="2"/>
              <a:buChar char="§"/>
            </a:pPr>
            <a:r>
              <a:rPr lang="en-US" sz="2400">
                <a:solidFill>
                  <a:schemeClr val="tx1"/>
                </a:solidFill>
              </a:rPr>
              <a:t>Burial cost reimbursement</a:t>
            </a:r>
          </a:p>
          <a:p>
            <a:pPr marL="342900" indent="-342900">
              <a:spcBef>
                <a:spcPct val="0"/>
              </a:spcBef>
              <a:buClr>
                <a:srgbClr val="CC0000"/>
              </a:buClr>
              <a:buFont typeface="Wingdings" pitchFamily="2" charset="2"/>
              <a:buChar char="§"/>
            </a:pPr>
            <a:r>
              <a:rPr lang="en-US" sz="2400">
                <a:solidFill>
                  <a:schemeClr val="tx1"/>
                </a:solidFill>
              </a:rPr>
              <a:t>Perpetual care</a:t>
            </a:r>
          </a:p>
          <a:p>
            <a:pPr marL="342900" indent="-342900">
              <a:spcBef>
                <a:spcPct val="0"/>
              </a:spcBef>
              <a:buClr>
                <a:srgbClr val="CC0000"/>
              </a:buClr>
              <a:buFont typeface="Wingdings" pitchFamily="2" charset="2"/>
              <a:buChar char="§"/>
            </a:pPr>
            <a:r>
              <a:rPr lang="en-US" sz="2400">
                <a:solidFill>
                  <a:schemeClr val="tx1"/>
                </a:solidFill>
              </a:rPr>
              <a:t>All at no cost to the family</a:t>
            </a:r>
          </a:p>
          <a:p>
            <a:pPr marL="342900" indent="-342900" eaLnBrk="1" hangingPunct="1">
              <a:buClr>
                <a:srgbClr val="CC0000"/>
              </a:buClr>
              <a:buFont typeface="Wingdings" pitchFamily="2" charset="2"/>
              <a:buChar char="§"/>
            </a:pPr>
            <a:endParaRPr lang="en-US" sz="2400">
              <a:solidFill>
                <a:schemeClr val="tx1"/>
              </a:solidFill>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sldNum" sz="quarter" idx="10"/>
          </p:nvPr>
        </p:nvSpPr>
        <p:spPr/>
        <p:txBody>
          <a:bodyPr/>
          <a:lstStyle/>
          <a:p>
            <a:fld id="{5CB90C20-81EA-4FE9-837A-2133E2D5BB50}" type="slidenum">
              <a:rPr lang="en-US"/>
              <a:pPr/>
              <a:t>21</a:t>
            </a:fld>
            <a:endParaRPr lang="en-US"/>
          </a:p>
        </p:txBody>
      </p:sp>
      <p:sp>
        <p:nvSpPr>
          <p:cNvPr id="7"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798723" name="Content Placeholder 4"/>
          <p:cNvSpPr>
            <a:spLocks/>
          </p:cNvSpPr>
          <p:nvPr/>
        </p:nvSpPr>
        <p:spPr bwMode="auto">
          <a:xfrm>
            <a:off x="4724400" y="1676400"/>
            <a:ext cx="4419600" cy="4195763"/>
          </a:xfrm>
          <a:prstGeom prst="rect">
            <a:avLst/>
          </a:prstGeom>
          <a:noFill/>
          <a:ln w="9525">
            <a:noFill/>
            <a:miter lim="800000"/>
            <a:headEnd/>
            <a:tailEnd/>
          </a:ln>
        </p:spPr>
        <p:txBody>
          <a:bodyPr/>
          <a:lstStyle/>
          <a:p>
            <a:pPr marL="342900" indent="-342900" algn="ctr">
              <a:buClr>
                <a:schemeClr val="tx2"/>
              </a:buClr>
              <a:buFont typeface="Arial Black" pitchFamily="34" charset="0"/>
              <a:buNone/>
            </a:pPr>
            <a:r>
              <a:rPr lang="en-US" sz="2000">
                <a:solidFill>
                  <a:schemeClr val="tx1"/>
                </a:solidFill>
                <a:latin typeface="Verdana" pitchFamily="34" charset="0"/>
              </a:rPr>
              <a:t>Benefits information</a:t>
            </a:r>
          </a:p>
          <a:p>
            <a:pPr marL="342900" indent="-342900" algn="ctr">
              <a:spcAft>
                <a:spcPct val="50000"/>
              </a:spcAft>
              <a:buClr>
                <a:schemeClr val="tx2"/>
              </a:buClr>
              <a:buFont typeface="Arial Black" pitchFamily="34" charset="0"/>
              <a:buNone/>
            </a:pPr>
            <a:r>
              <a:rPr lang="en-US" sz="2000">
                <a:solidFill>
                  <a:schemeClr val="tx2"/>
                </a:solidFill>
                <a:latin typeface="Verdana" pitchFamily="34" charset="0"/>
              </a:rPr>
              <a:t>(800) 827-1000</a:t>
            </a:r>
            <a:r>
              <a:rPr lang="en-US" sz="2000">
                <a:solidFill>
                  <a:schemeClr val="accent1"/>
                </a:solidFill>
                <a:latin typeface="Verdana" pitchFamily="34" charset="0"/>
              </a:rPr>
              <a:t> </a:t>
            </a:r>
          </a:p>
          <a:p>
            <a:pPr marL="342900" indent="-342900" algn="ctr">
              <a:buClr>
                <a:schemeClr val="tx2"/>
              </a:buClr>
              <a:buFont typeface="Arial Black" pitchFamily="34" charset="0"/>
              <a:buNone/>
            </a:pPr>
            <a:r>
              <a:rPr lang="en-US" sz="2000">
                <a:solidFill>
                  <a:schemeClr val="tx1"/>
                </a:solidFill>
                <a:latin typeface="Verdana" pitchFamily="34" charset="0"/>
              </a:rPr>
              <a:t>Education Benefits</a:t>
            </a:r>
          </a:p>
          <a:p>
            <a:pPr marL="342900" indent="-342900" algn="ctr">
              <a:spcAft>
                <a:spcPct val="50000"/>
              </a:spcAft>
              <a:buClr>
                <a:schemeClr val="tx2"/>
              </a:buClr>
              <a:buFont typeface="Arial Black" pitchFamily="34" charset="0"/>
              <a:buNone/>
            </a:pPr>
            <a:r>
              <a:rPr lang="en-US" sz="2000">
                <a:solidFill>
                  <a:schemeClr val="tx2"/>
                </a:solidFill>
                <a:latin typeface="Verdana" pitchFamily="34" charset="0"/>
              </a:rPr>
              <a:t>(888) 442-4551</a:t>
            </a:r>
          </a:p>
          <a:p>
            <a:pPr marL="342900" indent="-342900" algn="ctr">
              <a:buClr>
                <a:schemeClr val="tx2"/>
              </a:buClr>
              <a:buFont typeface="Arial Black" pitchFamily="34" charset="0"/>
              <a:buNone/>
            </a:pPr>
            <a:r>
              <a:rPr lang="en-US" sz="2000">
                <a:solidFill>
                  <a:schemeClr val="tx1"/>
                </a:solidFill>
                <a:latin typeface="Verdana" pitchFamily="34" charset="0"/>
              </a:rPr>
              <a:t>Health Care Eligibility</a:t>
            </a:r>
          </a:p>
          <a:p>
            <a:pPr marL="342900" indent="-342900" algn="ctr">
              <a:spcAft>
                <a:spcPct val="50000"/>
              </a:spcAft>
              <a:buClr>
                <a:schemeClr val="tx2"/>
              </a:buClr>
              <a:buFont typeface="Arial Black" pitchFamily="34" charset="0"/>
              <a:buNone/>
            </a:pPr>
            <a:r>
              <a:rPr lang="en-US" sz="2000">
                <a:solidFill>
                  <a:schemeClr val="tx2"/>
                </a:solidFill>
                <a:latin typeface="Verdana" pitchFamily="34" charset="0"/>
              </a:rPr>
              <a:t>(877) 222-8387</a:t>
            </a:r>
          </a:p>
          <a:p>
            <a:pPr marL="342900" indent="-342900" algn="ctr">
              <a:buClr>
                <a:schemeClr val="tx2"/>
              </a:buClr>
              <a:buFont typeface="Arial Black" pitchFamily="34" charset="0"/>
              <a:buNone/>
            </a:pPr>
            <a:r>
              <a:rPr lang="en-US" sz="2000">
                <a:solidFill>
                  <a:schemeClr val="tx1"/>
                </a:solidFill>
                <a:latin typeface="Verdana" pitchFamily="34" charset="0"/>
              </a:rPr>
              <a:t>SGLI/VGLI</a:t>
            </a:r>
          </a:p>
          <a:p>
            <a:pPr marL="342900" indent="-342900" algn="ctr">
              <a:spcAft>
                <a:spcPct val="50000"/>
              </a:spcAft>
              <a:buClr>
                <a:schemeClr val="tx2"/>
              </a:buClr>
              <a:buFont typeface="Arial Black" pitchFamily="34" charset="0"/>
              <a:buNone/>
            </a:pPr>
            <a:r>
              <a:rPr lang="en-US" sz="2000">
                <a:solidFill>
                  <a:schemeClr val="tx2"/>
                </a:solidFill>
                <a:latin typeface="Verdana" pitchFamily="34" charset="0"/>
              </a:rPr>
              <a:t>(800) 419-1473</a:t>
            </a:r>
          </a:p>
          <a:p>
            <a:pPr marL="342900" indent="-342900" algn="ctr">
              <a:buClr>
                <a:schemeClr val="tx2"/>
              </a:buClr>
              <a:buFont typeface="Arial Black" pitchFamily="34" charset="0"/>
              <a:buNone/>
            </a:pPr>
            <a:r>
              <a:rPr lang="en-US" sz="2000">
                <a:solidFill>
                  <a:schemeClr val="tx1"/>
                </a:solidFill>
                <a:latin typeface="Verdana" pitchFamily="34" charset="0"/>
              </a:rPr>
              <a:t>VA Life Insurance</a:t>
            </a:r>
          </a:p>
          <a:p>
            <a:pPr marL="342900" indent="-342900" algn="ctr">
              <a:buClr>
                <a:schemeClr val="tx2"/>
              </a:buClr>
              <a:buFont typeface="Arial Black" pitchFamily="34" charset="0"/>
              <a:buNone/>
            </a:pPr>
            <a:r>
              <a:rPr lang="en-US" sz="2000">
                <a:solidFill>
                  <a:schemeClr val="tx2"/>
                </a:solidFill>
                <a:latin typeface="Verdana" pitchFamily="34" charset="0"/>
              </a:rPr>
              <a:t>(800) 669-8477</a:t>
            </a:r>
          </a:p>
        </p:txBody>
      </p:sp>
      <p:sp>
        <p:nvSpPr>
          <p:cNvPr id="798724" name="Content Placeholder 6"/>
          <p:cNvSpPr>
            <a:spLocks/>
          </p:cNvSpPr>
          <p:nvPr/>
        </p:nvSpPr>
        <p:spPr bwMode="auto">
          <a:xfrm>
            <a:off x="228600" y="1524000"/>
            <a:ext cx="4572000" cy="4195763"/>
          </a:xfrm>
          <a:prstGeom prst="rect">
            <a:avLst/>
          </a:prstGeom>
          <a:noFill/>
          <a:ln w="9525">
            <a:noFill/>
            <a:miter lim="800000"/>
            <a:headEnd/>
            <a:tailEnd/>
          </a:ln>
        </p:spPr>
        <p:txBody>
          <a:bodyPr/>
          <a:lstStyle/>
          <a:p>
            <a:pPr marL="342900" indent="-342900" algn="ctr">
              <a:buClr>
                <a:srgbClr val="CC0000"/>
              </a:buClr>
              <a:buFont typeface="Wingdings" pitchFamily="2" charset="2"/>
              <a:buNone/>
            </a:pPr>
            <a:r>
              <a:rPr lang="en-US" sz="2000">
                <a:solidFill>
                  <a:schemeClr val="tx1"/>
                </a:solidFill>
              </a:rPr>
              <a:t>eBenefits</a:t>
            </a:r>
          </a:p>
          <a:p>
            <a:pPr marL="342900" indent="-342900" algn="ctr">
              <a:buClr>
                <a:srgbClr val="CC0000"/>
              </a:buClr>
              <a:buFont typeface="Wingdings" pitchFamily="2" charset="2"/>
              <a:buNone/>
            </a:pPr>
            <a:r>
              <a:rPr lang="en-US" sz="2000">
                <a:solidFill>
                  <a:schemeClr val="tx1"/>
                </a:solidFill>
              </a:rPr>
              <a:t>www.ebenefits.va.gov</a:t>
            </a:r>
          </a:p>
          <a:p>
            <a:pPr marL="342900" indent="-342900" algn="ctr">
              <a:buClr>
                <a:srgbClr val="CC0000"/>
              </a:buClr>
              <a:buFont typeface="Wingdings" pitchFamily="2" charset="2"/>
              <a:buNone/>
            </a:pPr>
            <a:endParaRPr lang="en-US" sz="2000">
              <a:solidFill>
                <a:schemeClr val="tx1"/>
              </a:solidFill>
            </a:endParaRPr>
          </a:p>
          <a:p>
            <a:pPr marL="342900" indent="-342900" algn="ctr">
              <a:buClr>
                <a:srgbClr val="CC0000"/>
              </a:buClr>
              <a:buFont typeface="Wingdings" pitchFamily="2" charset="2"/>
              <a:buNone/>
            </a:pPr>
            <a:r>
              <a:rPr lang="en-US" sz="2000">
                <a:solidFill>
                  <a:schemeClr val="tx1"/>
                </a:solidFill>
              </a:rPr>
              <a:t>VA Home Page  </a:t>
            </a:r>
          </a:p>
          <a:p>
            <a:pPr marL="342900" indent="-342900" algn="ctr">
              <a:buClr>
                <a:srgbClr val="CC0000"/>
              </a:buClr>
              <a:buFont typeface="Wingdings" pitchFamily="2" charset="2"/>
              <a:buNone/>
            </a:pPr>
            <a:r>
              <a:rPr lang="en-US" sz="2000">
                <a:solidFill>
                  <a:schemeClr val="tx1"/>
                </a:solidFill>
              </a:rPr>
              <a:t>www.va.gov</a:t>
            </a:r>
          </a:p>
          <a:p>
            <a:pPr marL="342900" indent="-342900" algn="ctr">
              <a:buClr>
                <a:srgbClr val="CC0000"/>
              </a:buClr>
              <a:buFont typeface="Wingdings" pitchFamily="2" charset="2"/>
              <a:buChar char="§"/>
            </a:pPr>
            <a:endParaRPr lang="en-US" sz="2000">
              <a:solidFill>
                <a:schemeClr val="tx1"/>
              </a:solidFill>
            </a:endParaRPr>
          </a:p>
          <a:p>
            <a:pPr marL="342900" indent="-342900" algn="ctr">
              <a:buClr>
                <a:srgbClr val="CC0000"/>
              </a:buClr>
              <a:buFont typeface="Wingdings" pitchFamily="2" charset="2"/>
              <a:buNone/>
            </a:pPr>
            <a:r>
              <a:rPr lang="en-US" sz="2000">
                <a:solidFill>
                  <a:schemeClr val="tx1"/>
                </a:solidFill>
              </a:rPr>
              <a:t>VA on Facebook </a:t>
            </a:r>
          </a:p>
          <a:p>
            <a:pPr marL="342900" indent="-342900" algn="ctr">
              <a:buClr>
                <a:srgbClr val="CC0000"/>
              </a:buClr>
              <a:buFont typeface="Wingdings" pitchFamily="2" charset="2"/>
              <a:buNone/>
            </a:pPr>
            <a:r>
              <a:rPr lang="en-US" sz="2000">
                <a:solidFill>
                  <a:schemeClr val="tx1"/>
                </a:solidFill>
              </a:rPr>
              <a:t>	www.facebook.com/Veterans</a:t>
            </a:r>
          </a:p>
          <a:p>
            <a:pPr marL="342900" indent="-342900" algn="ctr">
              <a:buClr>
                <a:srgbClr val="CC0000"/>
              </a:buClr>
              <a:buFont typeface="Wingdings" pitchFamily="2" charset="2"/>
              <a:buNone/>
            </a:pPr>
            <a:r>
              <a:rPr lang="en-US" sz="2000">
                <a:solidFill>
                  <a:schemeClr val="tx1"/>
                </a:solidFill>
              </a:rPr>
              <a:t>Affairs</a:t>
            </a:r>
          </a:p>
          <a:p>
            <a:pPr marL="342900" indent="-342900" algn="ctr">
              <a:buClr>
                <a:srgbClr val="CC0000"/>
              </a:buClr>
              <a:buFont typeface="Wingdings" pitchFamily="2" charset="2"/>
              <a:buNone/>
            </a:pPr>
            <a:endParaRPr lang="en-US" sz="2000">
              <a:solidFill>
                <a:schemeClr val="tx1"/>
              </a:solidFill>
            </a:endParaRPr>
          </a:p>
          <a:p>
            <a:pPr marL="342900" indent="-342900" algn="ctr">
              <a:buClr>
                <a:srgbClr val="CC0000"/>
              </a:buClr>
              <a:buFont typeface="Wingdings" pitchFamily="2" charset="2"/>
              <a:buNone/>
            </a:pPr>
            <a:r>
              <a:rPr lang="en-US" sz="2000">
                <a:solidFill>
                  <a:schemeClr val="tx1"/>
                </a:solidFill>
              </a:rPr>
              <a:t>VA on Twitter</a:t>
            </a:r>
          </a:p>
          <a:p>
            <a:pPr marL="342900" indent="-342900" algn="ctr">
              <a:buClr>
                <a:srgbClr val="CC0000"/>
              </a:buClr>
              <a:buFont typeface="Wingdings" pitchFamily="2" charset="2"/>
              <a:buNone/>
            </a:pPr>
            <a:r>
              <a:rPr lang="en-US" sz="2000" b="1">
                <a:solidFill>
                  <a:schemeClr val="tx1"/>
                </a:solidFill>
              </a:rPr>
              <a:t>	http://twitter.com/DeptVetAffairs</a:t>
            </a:r>
          </a:p>
          <a:p>
            <a:pPr marL="342900" indent="-342900" algn="ctr">
              <a:buClr>
                <a:srgbClr val="CC0000"/>
              </a:buClr>
              <a:buFont typeface="Wingdings" pitchFamily="2" charset="2"/>
              <a:buNone/>
            </a:pPr>
            <a:endParaRPr lang="en-US" sz="2200">
              <a:solidFill>
                <a:schemeClr val="hlink"/>
              </a:solidFill>
            </a:endParaRPr>
          </a:p>
        </p:txBody>
      </p:sp>
      <p:sp>
        <p:nvSpPr>
          <p:cNvPr id="798725" name="Rectangle 5"/>
          <p:cNvSpPr>
            <a:spLocks noChangeArrowheads="1"/>
          </p:cNvSpPr>
          <p:nvPr/>
        </p:nvSpPr>
        <p:spPr bwMode="auto">
          <a:xfrm>
            <a:off x="1752600" y="1066800"/>
            <a:ext cx="6199188" cy="457200"/>
          </a:xfrm>
          <a:prstGeom prst="rect">
            <a:avLst/>
          </a:prstGeom>
          <a:noFill/>
          <a:ln w="9525">
            <a:noFill/>
            <a:miter lim="800000"/>
            <a:headEnd/>
            <a:tailEnd/>
          </a:ln>
          <a:effectLst/>
        </p:spPr>
        <p:txBody>
          <a:bodyPr wrap="none" lIns="92075" tIns="46038" rIns="92075" bIns="46038">
            <a:spAutoFit/>
          </a:bodyPr>
          <a:lstStyle/>
          <a:p>
            <a:pPr>
              <a:buFont typeface="Wingdings" pitchFamily="2" charset="2"/>
              <a:buNone/>
            </a:pPr>
            <a:r>
              <a:rPr lang="en-US" sz="2400" b="1">
                <a:solidFill>
                  <a:schemeClr val="tx1"/>
                </a:solidFill>
              </a:rPr>
              <a:t>VA on the Internet                  VA by Phone</a:t>
            </a:r>
          </a:p>
        </p:txBody>
      </p:sp>
      <p:sp>
        <p:nvSpPr>
          <p:cNvPr id="798726" name="Rectangle 6"/>
          <p:cNvSpPr>
            <a:spLocks noChangeArrowheads="1"/>
          </p:cNvSpPr>
          <p:nvPr/>
        </p:nvSpPr>
        <p:spPr bwMode="auto">
          <a:xfrm>
            <a:off x="3505200" y="228600"/>
            <a:ext cx="2368550" cy="641350"/>
          </a:xfrm>
          <a:prstGeom prst="rect">
            <a:avLst/>
          </a:prstGeom>
          <a:noFill/>
          <a:ln w="9525">
            <a:noFill/>
            <a:miter lim="800000"/>
            <a:headEnd/>
            <a:tailEnd/>
          </a:ln>
          <a:effectLst/>
        </p:spPr>
        <p:txBody>
          <a:bodyPr wrap="none" lIns="92075" tIns="46038" rIns="92075" bIns="46038">
            <a:spAutoFit/>
          </a:bodyPr>
          <a:lstStyle/>
          <a:p>
            <a:pPr>
              <a:buFont typeface="Wingdings" pitchFamily="2" charset="2"/>
              <a:buNone/>
            </a:pPr>
            <a:r>
              <a:rPr lang="en-US" sz="3600">
                <a:solidFill>
                  <a:schemeClr val="tx1"/>
                </a:solidFill>
                <a:effectLst>
                  <a:outerShdw blurRad="38100" dist="38100" dir="2700000" algn="tl">
                    <a:srgbClr val="C0C0C0"/>
                  </a:outerShdw>
                </a:effectLst>
              </a:rPr>
              <a:t>Resources</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fld id="{CC18B22D-4076-4312-BDB4-4EEE7B42342B}" type="slidenum">
              <a:rPr lang="en-US"/>
              <a:pPr/>
              <a:t>22</a:t>
            </a:fld>
            <a:endParaRPr lang="en-US"/>
          </a:p>
        </p:txBody>
      </p:sp>
      <p:sp>
        <p:nvSpPr>
          <p:cNvPr id="8"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817154" name="Rectangle 2"/>
          <p:cNvSpPr>
            <a:spLocks noGrp="1" noChangeArrowheads="1"/>
          </p:cNvSpPr>
          <p:nvPr>
            <p:ph type="title" idx="4294967295"/>
          </p:nvPr>
        </p:nvSpPr>
        <p:spPr/>
        <p:txBody>
          <a:bodyPr lIns="91440" tIns="45720" rIns="91440" bIns="45720" anchor="ctr"/>
          <a:lstStyle/>
          <a:p>
            <a:r>
              <a:rPr lang="en-US" sz="4400">
                <a:solidFill>
                  <a:srgbClr val="10253F"/>
                </a:solidFill>
                <a:latin typeface="Arial Black" pitchFamily="34" charset="0"/>
              </a:rPr>
              <a:t>Help Your Buddy</a:t>
            </a:r>
          </a:p>
        </p:txBody>
      </p:sp>
      <p:sp>
        <p:nvSpPr>
          <p:cNvPr id="817155" name="Content Placeholder 6"/>
          <p:cNvSpPr>
            <a:spLocks noGrp="1"/>
          </p:cNvSpPr>
          <p:nvPr>
            <p:ph idx="4294967295"/>
          </p:nvPr>
        </p:nvSpPr>
        <p:spPr>
          <a:xfrm>
            <a:off x="400050" y="1600200"/>
            <a:ext cx="8743950" cy="4195763"/>
          </a:xfrm>
        </p:spPr>
        <p:txBody>
          <a:bodyPr lIns="91440" tIns="45720" rIns="91440" bIns="45720"/>
          <a:lstStyle/>
          <a:p>
            <a:pPr algn="ctr">
              <a:lnSpc>
                <a:spcPct val="80000"/>
              </a:lnSpc>
              <a:buFont typeface="Wingdings" pitchFamily="2" charset="2"/>
              <a:buNone/>
            </a:pPr>
            <a:endParaRPr lang="en-US" sz="3500" b="1"/>
          </a:p>
          <a:p>
            <a:pPr algn="ctr">
              <a:lnSpc>
                <a:spcPct val="80000"/>
              </a:lnSpc>
              <a:buFont typeface="Wingdings" pitchFamily="2" charset="2"/>
              <a:buNone/>
            </a:pPr>
            <a:r>
              <a:rPr lang="en-US" sz="3500" b="1"/>
              <a:t>VA’s </a:t>
            </a:r>
          </a:p>
          <a:p>
            <a:pPr algn="ctr">
              <a:lnSpc>
                <a:spcPct val="80000"/>
              </a:lnSpc>
              <a:buFont typeface="Wingdings" pitchFamily="2" charset="2"/>
              <a:buNone/>
            </a:pPr>
            <a:r>
              <a:rPr lang="en-US" sz="3500" b="1"/>
              <a:t>National Suicide Hotline Resource</a:t>
            </a:r>
          </a:p>
          <a:p>
            <a:pPr algn="ctr">
              <a:lnSpc>
                <a:spcPct val="80000"/>
              </a:lnSpc>
              <a:buFont typeface="Wingdings" pitchFamily="2" charset="2"/>
              <a:buNone/>
            </a:pPr>
            <a:r>
              <a:rPr lang="en-US" sz="3500" b="1"/>
              <a:t>1-800-273-TALK</a:t>
            </a:r>
          </a:p>
          <a:p>
            <a:pPr algn="ctr">
              <a:lnSpc>
                <a:spcPct val="80000"/>
              </a:lnSpc>
              <a:buFont typeface="Wingdings" pitchFamily="2" charset="2"/>
              <a:buNone/>
            </a:pPr>
            <a:r>
              <a:rPr lang="en-US" sz="3500" b="1"/>
              <a:t>                  (8255)</a:t>
            </a:r>
          </a:p>
          <a:p>
            <a:pPr>
              <a:buFont typeface="Wingdings" pitchFamily="2" charset="2"/>
              <a:buNone/>
            </a:pPr>
            <a:endParaRPr lang="en-US"/>
          </a:p>
        </p:txBody>
      </p:sp>
      <p:sp>
        <p:nvSpPr>
          <p:cNvPr id="817156" name="Text Box 4"/>
          <p:cNvSpPr txBox="1">
            <a:spLocks noChangeArrowheads="1"/>
          </p:cNvSpPr>
          <p:nvPr/>
        </p:nvSpPr>
        <p:spPr bwMode="auto">
          <a:xfrm>
            <a:off x="487363" y="950913"/>
            <a:ext cx="184150" cy="366712"/>
          </a:xfrm>
          <a:prstGeom prst="rect">
            <a:avLst/>
          </a:prstGeom>
          <a:noFill/>
          <a:ln w="9525">
            <a:noFill/>
            <a:miter lim="800000"/>
            <a:headEnd/>
            <a:tailEnd/>
          </a:ln>
        </p:spPr>
        <p:txBody>
          <a:bodyPr wrap="none">
            <a:spAutoFit/>
          </a:bodyPr>
          <a:lstStyle/>
          <a:p>
            <a:pPr eaLnBrk="1" hangingPunct="1">
              <a:spcBef>
                <a:spcPct val="0"/>
              </a:spcBef>
              <a:buClrTx/>
              <a:buFontTx/>
              <a:buNone/>
            </a:pPr>
            <a:endParaRPr lang="en-US" sz="1800">
              <a:solidFill>
                <a:schemeClr val="tx1"/>
              </a:solidFill>
            </a:endParaRPr>
          </a:p>
        </p:txBody>
      </p:sp>
      <p:pic>
        <p:nvPicPr>
          <p:cNvPr id="817157" name="Picture 5" descr="us-military-seals"/>
          <p:cNvPicPr>
            <a:picLocks noChangeAspect="1" noChangeArrowheads="1"/>
          </p:cNvPicPr>
          <p:nvPr/>
        </p:nvPicPr>
        <p:blipFill>
          <a:blip r:embed="rId3" cstate="print"/>
          <a:srcRect/>
          <a:stretch>
            <a:fillRect/>
          </a:stretch>
        </p:blipFill>
        <p:spPr bwMode="auto">
          <a:xfrm>
            <a:off x="838200" y="3810000"/>
            <a:ext cx="3657600" cy="2078038"/>
          </a:xfrm>
          <a:prstGeom prst="rect">
            <a:avLst/>
          </a:prstGeom>
          <a:noFill/>
          <a:ln w="9525">
            <a:noFill/>
            <a:miter lim="800000"/>
            <a:headEnd/>
            <a:tailEnd/>
          </a:ln>
        </p:spPr>
      </p:pic>
      <p:sp>
        <p:nvSpPr>
          <p:cNvPr id="817158" name="Slide Number Placeholder 5"/>
          <p:cNvSpPr txBox="1">
            <a:spLocks noGrp="1"/>
          </p:cNvSpPr>
          <p:nvPr/>
        </p:nvSpPr>
        <p:spPr bwMode="auto">
          <a:xfrm>
            <a:off x="8410575" y="6327775"/>
            <a:ext cx="647700" cy="365125"/>
          </a:xfrm>
          <a:prstGeom prst="rect">
            <a:avLst/>
          </a:prstGeom>
          <a:noFill/>
          <a:ln w="9525">
            <a:noFill/>
            <a:miter lim="800000"/>
            <a:headEnd/>
            <a:tailEnd/>
          </a:ln>
        </p:spPr>
        <p:txBody>
          <a:bodyPr anchor="ctr"/>
          <a:lstStyle/>
          <a:p>
            <a:pPr algn="r">
              <a:spcBef>
                <a:spcPct val="0"/>
              </a:spcBef>
              <a:buClrTx/>
              <a:buFontTx/>
              <a:buNone/>
            </a:pPr>
            <a:fld id="{01E02540-8428-47D4-B8CC-69630A2254E0}" type="slidenum">
              <a:rPr lang="en-US" sz="1400">
                <a:solidFill>
                  <a:schemeClr val="bg1"/>
                </a:solidFill>
              </a:rPr>
              <a:pPr algn="r">
                <a:spcBef>
                  <a:spcPct val="0"/>
                </a:spcBef>
                <a:buClrTx/>
                <a:buFontTx/>
                <a:buNone/>
              </a:pPr>
              <a:t>22</a:t>
            </a:fld>
            <a:endParaRPr lang="en-US" sz="1400">
              <a:solidFill>
                <a:schemeClr val="bg1"/>
              </a:solidFill>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1"/>
          <p:cNvSpPr>
            <a:spLocks noGrp="1"/>
          </p:cNvSpPr>
          <p:nvPr>
            <p:ph type="sldNum" sz="quarter" idx="10"/>
          </p:nvPr>
        </p:nvSpPr>
        <p:spPr/>
        <p:txBody>
          <a:bodyPr/>
          <a:lstStyle/>
          <a:p>
            <a:fld id="{5A033342-3240-4DA9-8D8F-DF898857485A}" type="slidenum">
              <a:rPr lang="en-US"/>
              <a:pPr/>
              <a:t>23</a:t>
            </a:fld>
            <a:endParaRPr lang="en-US"/>
          </a:p>
        </p:txBody>
      </p:sp>
      <p:sp>
        <p:nvSpPr>
          <p:cNvPr id="22" name="Date Placeholder 2"/>
          <p:cNvSpPr>
            <a:spLocks noGrp="1"/>
          </p:cNvSpPr>
          <p:nvPr>
            <p:ph type="dt" sz="half" idx="11"/>
          </p:nvPr>
        </p:nvSpPr>
        <p:spPr/>
        <p:txBody>
          <a:bodyPr/>
          <a:lstStyle/>
          <a:p>
            <a:endParaRPr lang="en-US"/>
          </a:p>
          <a:p>
            <a:endParaRPr lang="en-US" i="1">
              <a:latin typeface="Century Schoolbook" pitchFamily="18" charset="0"/>
            </a:endParaRPr>
          </a:p>
        </p:txBody>
      </p:sp>
      <p:sp>
        <p:nvSpPr>
          <p:cNvPr id="800770" name="Rectangle 2"/>
          <p:cNvSpPr>
            <a:spLocks noChangeArrowheads="1"/>
          </p:cNvSpPr>
          <p:nvPr/>
        </p:nvSpPr>
        <p:spPr bwMode="auto">
          <a:xfrm>
            <a:off x="-6350" y="2493963"/>
            <a:ext cx="8894763" cy="0"/>
          </a:xfrm>
          <a:prstGeom prst="rect">
            <a:avLst/>
          </a:prstGeom>
          <a:solidFill>
            <a:srgbClr val="EEEEEE"/>
          </a:solidFill>
          <a:ln w="9525">
            <a:noFill/>
            <a:miter lim="800000"/>
            <a:headEnd/>
            <a:tailEnd/>
          </a:ln>
          <a:effectLst/>
        </p:spPr>
        <p:txBody>
          <a:bodyPr lIns="92075" tIns="0" rIns="92075" bIns="0">
            <a:spAutoFit/>
          </a:bodyPr>
          <a:lstStyle/>
          <a:p>
            <a:endParaRPr lang="en-US"/>
          </a:p>
        </p:txBody>
      </p:sp>
      <p:sp>
        <p:nvSpPr>
          <p:cNvPr id="800773" name="Rectangle 5"/>
          <p:cNvSpPr>
            <a:spLocks noChangeArrowheads="1"/>
          </p:cNvSpPr>
          <p:nvPr/>
        </p:nvSpPr>
        <p:spPr bwMode="auto">
          <a:xfrm>
            <a:off x="82550" y="2493963"/>
            <a:ext cx="0" cy="88900"/>
          </a:xfrm>
          <a:prstGeom prst="rect">
            <a:avLst/>
          </a:prstGeom>
          <a:solidFill>
            <a:srgbClr val="FFFFFF"/>
          </a:solidFill>
          <a:ln w="9525">
            <a:noFill/>
            <a:miter lim="800000"/>
            <a:headEnd/>
            <a:tailEnd/>
          </a:ln>
          <a:effectLst/>
        </p:spPr>
        <p:txBody>
          <a:bodyPr lIns="92075" tIns="46038" rIns="92075" bIns="46038">
            <a:spAutoFit/>
          </a:bodyPr>
          <a:lstStyle/>
          <a:p>
            <a:endParaRPr lang="en-US"/>
          </a:p>
        </p:txBody>
      </p:sp>
      <p:pic>
        <p:nvPicPr>
          <p:cNvPr id="800772" name="Picture 4" descr="Call Center">
            <a:hlinkClick r:id="rId2"/>
          </p:cNvPr>
          <p:cNvPicPr>
            <a:picLocks noChangeAspect="1" noChangeArrowheads="1"/>
          </p:cNvPicPr>
          <p:nvPr/>
        </p:nvPicPr>
        <p:blipFill>
          <a:blip r:embed="rId3" cstate="print"/>
          <a:srcRect/>
          <a:stretch>
            <a:fillRect/>
          </a:stretch>
        </p:blipFill>
        <p:spPr bwMode="auto">
          <a:xfrm>
            <a:off x="2057400" y="2590800"/>
            <a:ext cx="2819400" cy="1809750"/>
          </a:xfrm>
          <a:prstGeom prst="rect">
            <a:avLst/>
          </a:prstGeom>
          <a:noFill/>
        </p:spPr>
      </p:pic>
      <p:sp>
        <p:nvSpPr>
          <p:cNvPr id="800774" name="Rectangle 6"/>
          <p:cNvSpPr>
            <a:spLocks noChangeArrowheads="1"/>
          </p:cNvSpPr>
          <p:nvPr/>
        </p:nvSpPr>
        <p:spPr bwMode="auto">
          <a:xfrm>
            <a:off x="-14288" y="2590800"/>
            <a:ext cx="8894763" cy="0"/>
          </a:xfrm>
          <a:prstGeom prst="rect">
            <a:avLst/>
          </a:prstGeom>
          <a:solidFill>
            <a:srgbClr val="EEEEEE"/>
          </a:solidFill>
          <a:ln w="9525">
            <a:noFill/>
            <a:miter lim="800000"/>
            <a:headEnd/>
            <a:tailEnd/>
          </a:ln>
          <a:effectLst/>
        </p:spPr>
        <p:txBody>
          <a:bodyPr lIns="92075" tIns="0" rIns="92075" bIns="0">
            <a:spAutoFit/>
          </a:bodyPr>
          <a:lstStyle/>
          <a:p>
            <a:endParaRPr lang="en-US"/>
          </a:p>
        </p:txBody>
      </p:sp>
      <p:sp>
        <p:nvSpPr>
          <p:cNvPr id="800777" name="Rectangle 9"/>
          <p:cNvSpPr>
            <a:spLocks noChangeArrowheads="1"/>
          </p:cNvSpPr>
          <p:nvPr/>
        </p:nvSpPr>
        <p:spPr bwMode="auto">
          <a:xfrm>
            <a:off x="74613" y="2590800"/>
            <a:ext cx="0" cy="88900"/>
          </a:xfrm>
          <a:prstGeom prst="rect">
            <a:avLst/>
          </a:prstGeom>
          <a:solidFill>
            <a:srgbClr val="FFFFFF"/>
          </a:solidFill>
          <a:ln w="9525">
            <a:noFill/>
            <a:miter lim="800000"/>
            <a:headEnd/>
            <a:tailEnd/>
          </a:ln>
          <a:effectLst/>
        </p:spPr>
        <p:txBody>
          <a:bodyPr lIns="92075" tIns="46038" rIns="92075" bIns="46038">
            <a:spAutoFit/>
          </a:bodyPr>
          <a:lstStyle/>
          <a:p>
            <a:endParaRPr lang="en-US"/>
          </a:p>
        </p:txBody>
      </p:sp>
      <p:pic>
        <p:nvPicPr>
          <p:cNvPr id="800776" name="Picture 8" descr="Veterans Chat">
            <a:hlinkClick r:id="rId4"/>
          </p:cNvPr>
          <p:cNvPicPr>
            <a:picLocks noChangeAspect="1" noChangeArrowheads="1"/>
          </p:cNvPicPr>
          <p:nvPr/>
        </p:nvPicPr>
        <p:blipFill>
          <a:blip r:embed="rId5" cstate="print"/>
          <a:srcRect/>
          <a:stretch>
            <a:fillRect/>
          </a:stretch>
        </p:blipFill>
        <p:spPr bwMode="auto">
          <a:xfrm>
            <a:off x="1905000" y="990600"/>
            <a:ext cx="2933700" cy="1620838"/>
          </a:xfrm>
          <a:prstGeom prst="rect">
            <a:avLst/>
          </a:prstGeom>
          <a:noFill/>
        </p:spPr>
      </p:pic>
      <p:sp>
        <p:nvSpPr>
          <p:cNvPr id="800778" name="Rectangle 10"/>
          <p:cNvSpPr>
            <a:spLocks noChangeArrowheads="1"/>
          </p:cNvSpPr>
          <p:nvPr/>
        </p:nvSpPr>
        <p:spPr bwMode="auto">
          <a:xfrm>
            <a:off x="-15875" y="2716213"/>
            <a:ext cx="8894763" cy="0"/>
          </a:xfrm>
          <a:prstGeom prst="rect">
            <a:avLst/>
          </a:prstGeom>
          <a:solidFill>
            <a:srgbClr val="EEEEEE"/>
          </a:solidFill>
          <a:ln w="9525">
            <a:noFill/>
            <a:miter lim="800000"/>
            <a:headEnd/>
            <a:tailEnd/>
          </a:ln>
          <a:effectLst/>
        </p:spPr>
        <p:txBody>
          <a:bodyPr lIns="92075" tIns="0" rIns="92075" bIns="0">
            <a:spAutoFit/>
          </a:bodyPr>
          <a:lstStyle/>
          <a:p>
            <a:endParaRPr lang="en-US"/>
          </a:p>
        </p:txBody>
      </p:sp>
      <p:sp>
        <p:nvSpPr>
          <p:cNvPr id="800781" name="Rectangle 13"/>
          <p:cNvSpPr>
            <a:spLocks noChangeArrowheads="1"/>
          </p:cNvSpPr>
          <p:nvPr/>
        </p:nvSpPr>
        <p:spPr bwMode="auto">
          <a:xfrm>
            <a:off x="73025" y="2716213"/>
            <a:ext cx="0" cy="88900"/>
          </a:xfrm>
          <a:prstGeom prst="rect">
            <a:avLst/>
          </a:prstGeom>
          <a:solidFill>
            <a:srgbClr val="FFFFFF"/>
          </a:solidFill>
          <a:ln w="9525">
            <a:noFill/>
            <a:miter lim="800000"/>
            <a:headEnd/>
            <a:tailEnd/>
          </a:ln>
          <a:effectLst/>
        </p:spPr>
        <p:txBody>
          <a:bodyPr lIns="92075" tIns="46038" rIns="92075" bIns="46038">
            <a:spAutoFit/>
          </a:bodyPr>
          <a:lstStyle/>
          <a:p>
            <a:endParaRPr lang="en-US"/>
          </a:p>
        </p:txBody>
      </p:sp>
      <p:pic>
        <p:nvPicPr>
          <p:cNvPr id="800780" name="Picture 12" descr="http://www.va.gov/homeless/images/nrd.png">
            <a:hlinkClick r:id="rId6"/>
          </p:cNvPr>
          <p:cNvPicPr>
            <a:picLocks noChangeAspect="1" noChangeArrowheads="1"/>
          </p:cNvPicPr>
          <p:nvPr/>
        </p:nvPicPr>
        <p:blipFill>
          <a:blip r:embed="rId7" cstate="print"/>
          <a:srcRect/>
          <a:stretch>
            <a:fillRect/>
          </a:stretch>
        </p:blipFill>
        <p:spPr bwMode="auto">
          <a:xfrm>
            <a:off x="6096000" y="990600"/>
            <a:ext cx="3048000" cy="1882775"/>
          </a:xfrm>
          <a:prstGeom prst="rect">
            <a:avLst/>
          </a:prstGeom>
          <a:noFill/>
        </p:spPr>
      </p:pic>
      <p:sp>
        <p:nvSpPr>
          <p:cNvPr id="800782" name="Rectangle 14"/>
          <p:cNvSpPr>
            <a:spLocks noChangeArrowheads="1"/>
          </p:cNvSpPr>
          <p:nvPr/>
        </p:nvSpPr>
        <p:spPr bwMode="auto">
          <a:xfrm>
            <a:off x="0" y="3043238"/>
            <a:ext cx="8894763" cy="0"/>
          </a:xfrm>
          <a:prstGeom prst="rect">
            <a:avLst/>
          </a:prstGeom>
          <a:solidFill>
            <a:srgbClr val="EEEEEE"/>
          </a:solidFill>
          <a:ln w="9525">
            <a:noFill/>
            <a:miter lim="800000"/>
            <a:headEnd/>
            <a:tailEnd/>
          </a:ln>
          <a:effectLst/>
        </p:spPr>
        <p:txBody>
          <a:bodyPr lIns="92075" tIns="0" rIns="92075" bIns="0">
            <a:spAutoFit/>
          </a:bodyPr>
          <a:lstStyle/>
          <a:p>
            <a:endParaRPr lang="en-US"/>
          </a:p>
        </p:txBody>
      </p:sp>
      <p:sp>
        <p:nvSpPr>
          <p:cNvPr id="800783" name="Rectangle 15"/>
          <p:cNvSpPr>
            <a:spLocks noChangeArrowheads="1"/>
          </p:cNvSpPr>
          <p:nvPr/>
        </p:nvSpPr>
        <p:spPr bwMode="auto">
          <a:xfrm>
            <a:off x="6248400" y="2819400"/>
            <a:ext cx="2667000" cy="3332163"/>
          </a:xfrm>
          <a:prstGeom prst="rect">
            <a:avLst/>
          </a:prstGeom>
          <a:solidFill>
            <a:srgbClr val="EEEEEE"/>
          </a:solidFill>
          <a:ln w="9525">
            <a:noFill/>
            <a:miter lim="800000"/>
            <a:headEnd/>
            <a:tailEnd/>
          </a:ln>
          <a:effectLst/>
        </p:spPr>
        <p:txBody>
          <a:bodyPr lIns="92075" tIns="238050" rIns="92075" bIns="46038">
            <a:spAutoFit/>
          </a:bodyPr>
          <a:lstStyle/>
          <a:p>
            <a:pPr algn="ctr" eaLnBrk="1" fontAlgn="t" hangingPunct="1">
              <a:spcBef>
                <a:spcPct val="0"/>
              </a:spcBef>
              <a:buClrTx/>
              <a:buFontTx/>
              <a:buNone/>
            </a:pPr>
            <a:r>
              <a:rPr lang="en-US" sz="2000">
                <a:solidFill>
                  <a:srgbClr val="000000"/>
                </a:solidFill>
              </a:rPr>
              <a:t>The National Resource Directory (NRD) is a Web site for wounded, ill and injured Service Members, Veterans, their families and those who support them.</a:t>
            </a:r>
          </a:p>
          <a:p>
            <a:pPr>
              <a:spcBef>
                <a:spcPct val="0"/>
              </a:spcBef>
              <a:buClrTx/>
              <a:buFontTx/>
              <a:buNone/>
            </a:pPr>
            <a:endParaRPr lang="en-US" sz="2000">
              <a:solidFill>
                <a:schemeClr val="tx1"/>
              </a:solidFill>
            </a:endParaRPr>
          </a:p>
        </p:txBody>
      </p:sp>
      <p:sp>
        <p:nvSpPr>
          <p:cNvPr id="800784" name="Rectangle 16"/>
          <p:cNvSpPr>
            <a:spLocks noChangeArrowheads="1"/>
          </p:cNvSpPr>
          <p:nvPr/>
        </p:nvSpPr>
        <p:spPr bwMode="auto">
          <a:xfrm>
            <a:off x="88900" y="3043238"/>
            <a:ext cx="0" cy="88900"/>
          </a:xfrm>
          <a:prstGeom prst="rect">
            <a:avLst/>
          </a:prstGeom>
          <a:solidFill>
            <a:srgbClr val="FFFFFF"/>
          </a:solidFill>
          <a:ln w="9525">
            <a:noFill/>
            <a:miter lim="800000"/>
            <a:headEnd/>
            <a:tailEnd/>
          </a:ln>
          <a:effectLst/>
        </p:spPr>
        <p:txBody>
          <a:bodyPr lIns="92075" tIns="46038" rIns="92075" bIns="46038">
            <a:spAutoFit/>
          </a:bodyPr>
          <a:lstStyle/>
          <a:p>
            <a:endParaRPr lang="en-US"/>
          </a:p>
        </p:txBody>
      </p:sp>
      <p:sp>
        <p:nvSpPr>
          <p:cNvPr id="800785" name="Rectangle 17"/>
          <p:cNvSpPr>
            <a:spLocks noChangeArrowheads="1"/>
          </p:cNvSpPr>
          <p:nvPr/>
        </p:nvSpPr>
        <p:spPr bwMode="auto">
          <a:xfrm>
            <a:off x="-11113" y="2516188"/>
            <a:ext cx="8894763" cy="0"/>
          </a:xfrm>
          <a:prstGeom prst="rect">
            <a:avLst/>
          </a:prstGeom>
          <a:solidFill>
            <a:srgbClr val="EEEEEE"/>
          </a:solidFill>
          <a:ln w="9525">
            <a:noFill/>
            <a:miter lim="800000"/>
            <a:headEnd/>
            <a:tailEnd/>
          </a:ln>
          <a:effectLst/>
        </p:spPr>
        <p:txBody>
          <a:bodyPr lIns="92075" tIns="0" rIns="92075" bIns="0">
            <a:spAutoFit/>
          </a:bodyPr>
          <a:lstStyle/>
          <a:p>
            <a:endParaRPr lang="en-US"/>
          </a:p>
        </p:txBody>
      </p:sp>
      <p:sp>
        <p:nvSpPr>
          <p:cNvPr id="800788" name="Rectangle 20"/>
          <p:cNvSpPr>
            <a:spLocks noChangeArrowheads="1"/>
          </p:cNvSpPr>
          <p:nvPr/>
        </p:nvSpPr>
        <p:spPr bwMode="auto">
          <a:xfrm>
            <a:off x="77788" y="2516188"/>
            <a:ext cx="0" cy="88900"/>
          </a:xfrm>
          <a:prstGeom prst="rect">
            <a:avLst/>
          </a:prstGeom>
          <a:solidFill>
            <a:srgbClr val="FFFFFF"/>
          </a:solidFill>
          <a:ln w="9525">
            <a:noFill/>
            <a:miter lim="800000"/>
            <a:headEnd/>
            <a:tailEnd/>
          </a:ln>
          <a:effectLst/>
        </p:spPr>
        <p:txBody>
          <a:bodyPr lIns="92075" tIns="46038" rIns="92075" bIns="46038">
            <a:spAutoFit/>
          </a:bodyPr>
          <a:lstStyle/>
          <a:p>
            <a:endParaRPr lang="en-US"/>
          </a:p>
        </p:txBody>
      </p:sp>
      <p:pic>
        <p:nvPicPr>
          <p:cNvPr id="800787" name="Picture 19" descr="http://www.va.gov/homeless/images/coordinator.png">
            <a:hlinkClick r:id="rId8"/>
          </p:cNvPr>
          <p:cNvPicPr>
            <a:picLocks noChangeAspect="1" noChangeArrowheads="1"/>
          </p:cNvPicPr>
          <p:nvPr/>
        </p:nvPicPr>
        <p:blipFill>
          <a:blip r:embed="rId9" cstate="print"/>
          <a:srcRect/>
          <a:stretch>
            <a:fillRect/>
          </a:stretch>
        </p:blipFill>
        <p:spPr bwMode="auto">
          <a:xfrm>
            <a:off x="2133600" y="4343400"/>
            <a:ext cx="2667000" cy="1703388"/>
          </a:xfrm>
          <a:prstGeom prst="rect">
            <a:avLst/>
          </a:prstGeom>
          <a:noFill/>
        </p:spPr>
      </p:pic>
      <p:sp>
        <p:nvSpPr>
          <p:cNvPr id="800789" name="Rectangle 21"/>
          <p:cNvSpPr>
            <a:spLocks noChangeArrowheads="1"/>
          </p:cNvSpPr>
          <p:nvPr/>
        </p:nvSpPr>
        <p:spPr bwMode="auto">
          <a:xfrm>
            <a:off x="0" y="3043238"/>
            <a:ext cx="8894763" cy="0"/>
          </a:xfrm>
          <a:prstGeom prst="rect">
            <a:avLst/>
          </a:prstGeom>
          <a:solidFill>
            <a:srgbClr val="EEEEEE"/>
          </a:solidFill>
          <a:ln w="9525">
            <a:noFill/>
            <a:miter lim="800000"/>
            <a:headEnd/>
            <a:tailEnd/>
          </a:ln>
          <a:effectLst/>
        </p:spPr>
        <p:txBody>
          <a:bodyPr lIns="92075" tIns="0" rIns="92075" bIns="0">
            <a:spAutoFit/>
          </a:bodyPr>
          <a:lstStyle/>
          <a:p>
            <a:endParaRPr lang="en-US"/>
          </a:p>
        </p:txBody>
      </p:sp>
      <p:sp>
        <p:nvSpPr>
          <p:cNvPr id="800791" name="Rectangle 23"/>
          <p:cNvSpPr>
            <a:spLocks noChangeArrowheads="1"/>
          </p:cNvSpPr>
          <p:nvPr/>
        </p:nvSpPr>
        <p:spPr bwMode="auto">
          <a:xfrm>
            <a:off x="88900" y="3043238"/>
            <a:ext cx="0" cy="88900"/>
          </a:xfrm>
          <a:prstGeom prst="rect">
            <a:avLst/>
          </a:prstGeom>
          <a:solidFill>
            <a:srgbClr val="FFFFFF"/>
          </a:solidFill>
          <a:ln w="9525">
            <a:noFill/>
            <a:miter lim="800000"/>
            <a:headEnd/>
            <a:tailEnd/>
          </a:ln>
          <a:effectLst/>
        </p:spPr>
        <p:txBody>
          <a:bodyPr lIns="92075" tIns="46038" rIns="92075" bIns="46038">
            <a:spAutoFit/>
          </a:bodyPr>
          <a:lstStyle/>
          <a:p>
            <a:endParaRPr lang="en-US"/>
          </a:p>
        </p:txBody>
      </p:sp>
      <p:sp>
        <p:nvSpPr>
          <p:cNvPr id="800792" name="Text Box 24"/>
          <p:cNvSpPr txBox="1">
            <a:spLocks noChangeArrowheads="1"/>
          </p:cNvSpPr>
          <p:nvPr/>
        </p:nvSpPr>
        <p:spPr bwMode="auto">
          <a:xfrm>
            <a:off x="2057400" y="6019800"/>
            <a:ext cx="2971800" cy="336550"/>
          </a:xfrm>
          <a:prstGeom prst="rect">
            <a:avLst/>
          </a:prstGeom>
          <a:noFill/>
          <a:ln w="9525">
            <a:noFill/>
            <a:miter lim="800000"/>
            <a:headEnd/>
            <a:tailEnd/>
          </a:ln>
          <a:effectLst/>
        </p:spPr>
        <p:txBody>
          <a:bodyPr lIns="92075" tIns="46038" rIns="92075" bIns="46038">
            <a:spAutoFit/>
          </a:bodyPr>
          <a:lstStyle/>
          <a:p>
            <a:pPr>
              <a:spcBef>
                <a:spcPct val="50000"/>
              </a:spcBef>
              <a:buFont typeface="Wingdings" pitchFamily="2" charset="2"/>
              <a:buNone/>
            </a:pPr>
            <a:r>
              <a:rPr lang="en-US" sz="1600">
                <a:solidFill>
                  <a:schemeClr val="tx1"/>
                </a:solidFill>
              </a:rPr>
              <a:t>Find a Homeless Coordinator</a:t>
            </a:r>
          </a:p>
        </p:txBody>
      </p:sp>
      <p:sp>
        <p:nvSpPr>
          <p:cNvPr id="800793" name="Rectangle 25"/>
          <p:cNvSpPr>
            <a:spLocks noChangeArrowheads="1"/>
          </p:cNvSpPr>
          <p:nvPr/>
        </p:nvSpPr>
        <p:spPr bwMode="auto">
          <a:xfrm>
            <a:off x="3657600" y="228600"/>
            <a:ext cx="2368550" cy="641350"/>
          </a:xfrm>
          <a:prstGeom prst="rect">
            <a:avLst/>
          </a:prstGeom>
          <a:noFill/>
          <a:ln w="9525">
            <a:noFill/>
            <a:miter lim="800000"/>
            <a:headEnd/>
            <a:tailEnd/>
          </a:ln>
          <a:effectLst/>
        </p:spPr>
        <p:txBody>
          <a:bodyPr wrap="none" lIns="92075" tIns="46038" rIns="92075" bIns="46038">
            <a:spAutoFit/>
          </a:bodyPr>
          <a:lstStyle/>
          <a:p>
            <a:pPr>
              <a:buFont typeface="Wingdings" pitchFamily="2" charset="2"/>
              <a:buNone/>
            </a:pPr>
            <a:r>
              <a:rPr lang="en-US" sz="3600">
                <a:solidFill>
                  <a:schemeClr val="tx1"/>
                </a:solidFill>
                <a:effectLst>
                  <a:outerShdw blurRad="38100" dist="38100" dir="2700000" algn="tl">
                    <a:srgbClr val="C0C0C0"/>
                  </a:outerShdw>
                </a:effectLst>
              </a:rPr>
              <a:t>Resources</a:t>
            </a:r>
          </a:p>
        </p:txBody>
      </p:sp>
    </p:spTree>
  </p:cSld>
  <p:clrMapOvr>
    <a:masterClrMapping/>
  </p:clrMapOvr>
  <p:transition/>
</p:sld>
</file>

<file path=ppt/theme/theme1.xml><?xml version="1.0" encoding="utf-8"?>
<a:theme xmlns:a="http://schemas.openxmlformats.org/drawingml/2006/main" name="VA">
  <a:themeElements>
    <a:clrScheme name="V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VA">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rgbClr val="000066"/>
          </a:buClr>
          <a:buSzTx/>
          <a:buFont typeface="Wingdings" pitchFamily="2" charset="2"/>
          <a:buChar char="Ø"/>
          <a:tabLst/>
          <a:defRPr kumimoji="0" lang="en-US" sz="2600" b="0" i="0" u="none" strike="noStrike" cap="none" normalizeH="0" baseline="0" smtClean="0">
            <a:ln>
              <a:noFill/>
            </a:ln>
            <a:solidFill>
              <a:srgbClr val="1D3275"/>
            </a:solidFill>
            <a:effectLst/>
            <a:latin typeface="Arial"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rgbClr val="000066"/>
          </a:buClr>
          <a:buSzTx/>
          <a:buFont typeface="Wingdings" pitchFamily="2" charset="2"/>
          <a:buChar char="Ø"/>
          <a:tabLst/>
          <a:defRPr kumimoji="0" lang="en-US" sz="2600" b="0" i="0" u="none" strike="noStrike" cap="none" normalizeH="0" baseline="0" smtClean="0">
            <a:ln>
              <a:noFill/>
            </a:ln>
            <a:solidFill>
              <a:srgbClr val="1D3275"/>
            </a:solidFill>
            <a:effectLst/>
            <a:latin typeface="Arial" charset="0"/>
            <a:cs typeface="Arial" charset="0"/>
          </a:defRPr>
        </a:defPPr>
      </a:lstStyle>
    </a:lnDef>
  </a:objectDefaults>
  <a:extraClrSchemeLst>
    <a:extraClrScheme>
      <a:clrScheme name="V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V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V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Settings\LGYBONTS\Application Data\Microsoft\Templates\VA.pot</Template>
  <TotalTime>8415</TotalTime>
  <Words>2005</Words>
  <Application>Microsoft Office PowerPoint</Application>
  <PresentationFormat>On-screen Show (4:3)</PresentationFormat>
  <Paragraphs>407</Paragraphs>
  <Slides>23</Slides>
  <Notes>13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4" baseType="lpstr">
      <vt:lpstr>Tahoma</vt:lpstr>
      <vt:lpstr>Century Gothic</vt:lpstr>
      <vt:lpstr>Wingdings</vt:lpstr>
      <vt:lpstr>Century Schoolbook</vt:lpstr>
      <vt:lpstr>Times New Roman</vt:lpstr>
      <vt:lpstr>Verdana</vt:lpstr>
      <vt:lpstr>Calibri</vt:lpstr>
      <vt:lpstr>Arial</vt:lpstr>
      <vt:lpstr>Arial Black</vt:lpstr>
      <vt:lpstr>VA</vt:lpstr>
      <vt:lpstr>MS Organization Chart 2.0</vt:lpstr>
      <vt:lpstr>Slide 1</vt:lpstr>
      <vt:lpstr>Slide 2</vt:lpstr>
      <vt:lpstr>Veterans Benefits Administration</vt:lpstr>
      <vt:lpstr>Benefits Assistance</vt:lpstr>
      <vt:lpstr>Slide 5</vt:lpstr>
      <vt:lpstr>Slide 6</vt:lpstr>
      <vt:lpstr>Slide 7</vt:lpstr>
      <vt:lpstr>Slide 8</vt:lpstr>
      <vt:lpstr>Preventing Veteran Homelessness</vt:lpstr>
      <vt:lpstr>Preventing Veteran Homelessness</vt:lpstr>
      <vt:lpstr>Compensation and Pension </vt:lpstr>
      <vt:lpstr>Slide 12</vt:lpstr>
      <vt:lpstr>Slide 13</vt:lpstr>
      <vt:lpstr>Education</vt:lpstr>
      <vt:lpstr>Education Post 9/11 GI Bill</vt:lpstr>
      <vt:lpstr>Loan Guaranty </vt:lpstr>
      <vt:lpstr>Slide 17</vt:lpstr>
      <vt:lpstr>Insurance</vt:lpstr>
      <vt:lpstr>Slide 19</vt:lpstr>
      <vt:lpstr>Slide 20</vt:lpstr>
      <vt:lpstr>Slide 21</vt:lpstr>
      <vt:lpstr>Help Your Buddy</vt:lpstr>
      <vt:lpstr>Slide 23</vt:lpstr>
    </vt:vector>
  </TitlesOfParts>
  <Company>VA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LGYBONTS</dc:creator>
  <cp:lastModifiedBy>VHALYNKUHNJ</cp:lastModifiedBy>
  <cp:revision>172</cp:revision>
  <cp:lastPrinted>2000-11-13T16:27:02Z</cp:lastPrinted>
  <dcterms:created xsi:type="dcterms:W3CDTF">2005-07-26T17:25:41Z</dcterms:created>
  <dcterms:modified xsi:type="dcterms:W3CDTF">2011-10-14T14:29:09Z</dcterms:modified>
</cp:coreProperties>
</file>