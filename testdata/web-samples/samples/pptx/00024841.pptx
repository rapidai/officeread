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xls" ContentType="application/vnd.ms-excel"/>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2.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351" r:id="rId3"/>
    <p:sldId id="382" r:id="rId4"/>
    <p:sldId id="354" r:id="rId5"/>
    <p:sldId id="388" r:id="rId6"/>
    <p:sldId id="389" r:id="rId7"/>
    <p:sldId id="367" r:id="rId8"/>
    <p:sldId id="390" r:id="rId9"/>
    <p:sldId id="350" r:id="rId10"/>
    <p:sldId id="383" r:id="rId11"/>
    <p:sldId id="384" r:id="rId12"/>
    <p:sldId id="362" r:id="rId13"/>
    <p:sldId id="38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5D5B"/>
    <a:srgbClr val="5E504E"/>
    <a:srgbClr val="CED64B"/>
    <a:srgbClr val="332B2A"/>
    <a:srgbClr val="0BD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76" autoAdjust="0"/>
  </p:normalViewPr>
  <p:slideViewPr>
    <p:cSldViewPr showGuides="1">
      <p:cViewPr>
        <p:scale>
          <a:sx n="70" d="100"/>
          <a:sy n="70" d="100"/>
        </p:scale>
        <p:origin x="-2178" y="-870"/>
      </p:cViewPr>
      <p:guideLst>
        <p:guide orient="horz" pos="2160"/>
        <p:guide pos="2880"/>
      </p:guideLst>
    </p:cSldViewPr>
  </p:slideViewPr>
  <p:notesTextViewPr>
    <p:cViewPr>
      <p:scale>
        <a:sx n="1" d="1"/>
        <a:sy n="1" d="1"/>
      </p:scale>
      <p:origin x="0" y="0"/>
    </p:cViewPr>
  </p:notesTextViewPr>
  <p:sorterViewPr>
    <p:cViewPr>
      <p:scale>
        <a:sx n="90" d="100"/>
        <a:sy n="90" d="100"/>
      </p:scale>
      <p:origin x="0" y="0"/>
    </p:cViewPr>
  </p:sorterViewPr>
  <p:notesViewPr>
    <p:cSldViewPr showGuides="1">
      <p:cViewPr varScale="1">
        <p:scale>
          <a:sx n="70" d="100"/>
          <a:sy n="70" d="100"/>
        </p:scale>
        <p:origin x="-76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B12DC8C-26AE-45F4-82BE-1D5265809B5D}" type="datetimeFigureOut">
              <a:rPr lang="en-US" smtClean="0"/>
              <a:t>1/7/2013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21FBD46-606C-4C42-BEBA-0668F1832EE6}" type="slidenum">
              <a:rPr lang="en-US" smtClean="0"/>
              <a:t>‹#›</a:t>
            </a:fld>
            <a:endParaRPr lang="en-US"/>
          </a:p>
        </p:txBody>
      </p:sp>
    </p:spTree>
    <p:extLst>
      <p:ext uri="{BB962C8B-B14F-4D97-AF65-F5344CB8AC3E}">
        <p14:creationId xmlns:p14="http://schemas.microsoft.com/office/powerpoint/2010/main" val="1206935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FAFAA7-4AA6-4FFA-98FD-56A4202A23F5}" type="datetimeFigureOut">
              <a:rPr lang="en-US" smtClean="0"/>
              <a:t>1/7/2013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3ECF61-8D90-4F46-ACFA-B0334AF32F02}" type="slidenum">
              <a:rPr lang="en-US" smtClean="0"/>
              <a:t>‹#›</a:t>
            </a:fld>
            <a:endParaRPr lang="en-US"/>
          </a:p>
        </p:txBody>
      </p:sp>
    </p:spTree>
    <p:extLst>
      <p:ext uri="{BB962C8B-B14F-4D97-AF65-F5344CB8AC3E}">
        <p14:creationId xmlns:p14="http://schemas.microsoft.com/office/powerpoint/2010/main" val="3701712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rPr>
              <a:t>Need to highlight or emphasize the work “recognized”.</a:t>
            </a:r>
          </a:p>
          <a:p>
            <a:endParaRPr lang="en-US" dirty="0"/>
          </a:p>
        </p:txBody>
      </p:sp>
      <p:sp>
        <p:nvSpPr>
          <p:cNvPr id="4" name="Slide Number Placeholder 3"/>
          <p:cNvSpPr>
            <a:spLocks noGrp="1"/>
          </p:cNvSpPr>
          <p:nvPr>
            <p:ph type="sldNum" sz="quarter" idx="10"/>
          </p:nvPr>
        </p:nvSpPr>
        <p:spPr/>
        <p:txBody>
          <a:bodyPr/>
          <a:lstStyle/>
          <a:p>
            <a:fld id="{606866E4-2765-4CA7-9922-B7A60E9DFFC1}"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467037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marL="104769" indent="-104769" defTabSz="895301">
              <a:defRPr/>
            </a:pPr>
            <a:r>
              <a:rPr lang="en-US" dirty="0" smtClean="0">
                <a:latin typeface="Arial" pitchFamily="34" charset="0"/>
                <a:cs typeface="Arial" pitchFamily="34" charset="0"/>
              </a:rPr>
              <a:t>BENCHMARKING VS. COMPARABLE REGIONS</a:t>
            </a:r>
            <a:endParaRPr lang="en-US" dirty="0" smtClean="0">
              <a:latin typeface="Arial" pitchFamily="34" charset="0"/>
              <a:ea typeface="Gulim" pitchFamily="34" charset="-127"/>
              <a:cs typeface="Arial" pitchFamily="34" charset="0"/>
            </a:endParaRPr>
          </a:p>
          <a:p>
            <a:pPr marL="104769" indent="-104769" defTabSz="895301">
              <a:defRPr/>
            </a:pPr>
            <a:r>
              <a:rPr lang="en-US" dirty="0" smtClean="0">
                <a:latin typeface="Arial" pitchFamily="34" charset="0"/>
                <a:ea typeface="Gulim" pitchFamily="34" charset="-127"/>
                <a:cs typeface="Arial" pitchFamily="34" charset="0"/>
              </a:rPr>
              <a:t>1 Rankings of the 200 largest metro areas based on cost of doing business, educational attainment, income growth, job growth, net migration, cost of living, culture and leisure, and colleges.  Decline driven by rising cost of doing business (fell from 103rd to 172nd), crime rate (47th to 89th) and low job growth (fell from 116th to 130th)</a:t>
            </a:r>
          </a:p>
          <a:p>
            <a:pPr marL="104769" indent="-104769" defTabSz="895301">
              <a:defRPr/>
            </a:pPr>
            <a:r>
              <a:rPr lang="en-US" dirty="0" smtClean="0">
                <a:latin typeface="Arial" pitchFamily="34" charset="0"/>
                <a:ea typeface="Gulim" pitchFamily="34" charset="-127"/>
                <a:cs typeface="Arial" pitchFamily="34" charset="0"/>
              </a:rPr>
              <a:t>2 Ranking of the 200 largest metro areas based on job growth, wages/salaries growth, relative high tech GDP, and high tech GDP location quotient (measure of high-tech concentration).  Decline driven by low job growth (fell from 89th to 123rd) and low wage growth (fell from 51st to 149th)</a:t>
            </a:r>
          </a:p>
          <a:p>
            <a:pPr defTabSz="448509">
              <a:defRPr/>
            </a:pPr>
            <a:r>
              <a:rPr lang="en-US" dirty="0" smtClean="0">
                <a:solidFill>
                  <a:srgbClr val="000000"/>
                </a:solidFill>
                <a:latin typeface="Arial" pitchFamily="34" charset="0"/>
                <a:cs typeface="Arial" pitchFamily="34" charset="0"/>
              </a:rPr>
              <a:t>SOURCE: Forbes; Milken</a:t>
            </a:r>
          </a:p>
          <a:p>
            <a:pPr defTabSz="448509">
              <a:defRPr/>
            </a:pPr>
            <a:endParaRPr lang="en-US" dirty="0"/>
          </a:p>
        </p:txBody>
      </p:sp>
      <p:sp>
        <p:nvSpPr>
          <p:cNvPr id="399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CD1C3BB-0E9C-4C3B-A4BF-C5D7CCD96936}" type="slidenum">
              <a:rPr lang="en-US" smtClean="0"/>
              <a:pPr fontAlgn="base">
                <a:spcBef>
                  <a:spcPct val="0"/>
                </a:spcBef>
                <a:spcAft>
                  <a:spcPct val="0"/>
                </a:spcAft>
                <a:defRPr/>
              </a:pPr>
              <a:t>3</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C6C20A1-EC87-42DE-BA74-152278E2BF09}" type="datetimeFigureOut">
              <a:rPr lang="en-US" smtClean="0"/>
              <a:t>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2DCEF-17A3-47EA-86BF-ABE6061E870E}"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25539081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hasCustomPrompt="1"/>
          </p:nvPr>
        </p:nvSpPr>
        <p:spPr/>
        <p:txBody>
          <a:bodyPr/>
          <a:lstStyle>
            <a:lvl2pPr marL="914400" indent="-457200">
              <a:lnSpc>
                <a:spcPct val="150000"/>
              </a:lnSpc>
              <a:buFont typeface="TradeGothic" pitchFamily="34" charset="0"/>
              <a:buChar char="–"/>
              <a:defRPr/>
            </a:lvl2pPr>
          </a:lstStyle>
          <a:p>
            <a:pPr marL="285750" indent="-285750">
              <a:lnSpc>
                <a:spcPct val="150000"/>
              </a:lnSpc>
              <a:buFont typeface="Knockout 49 Liteweight" pitchFamily="50" charset="0"/>
              <a:buChar char="&gt;"/>
            </a:pPr>
            <a:r>
              <a:rPr lang="en-US" sz="2800" dirty="0" smtClean="0">
                <a:latin typeface="TradeGothic" pitchFamily="34" charset="0"/>
              </a:rPr>
              <a:t>Bullet point text here – Trade Gothic 28 point</a:t>
            </a:r>
          </a:p>
          <a:p>
            <a:pPr marL="285750" indent="-285750">
              <a:lnSpc>
                <a:spcPct val="150000"/>
              </a:lnSpc>
              <a:buFont typeface="Knockout 49 Liteweight" pitchFamily="50" charset="0"/>
              <a:buChar char="&gt;"/>
            </a:pPr>
            <a:r>
              <a:rPr lang="en-US" sz="2800" dirty="0" smtClean="0">
                <a:latin typeface="TradeGothic" pitchFamily="34" charset="0"/>
              </a:rPr>
              <a:t>Bullet point text here – Trade Gothic 28 point</a:t>
            </a:r>
          </a:p>
          <a:p>
            <a:pPr marL="285750" indent="-285750">
              <a:lnSpc>
                <a:spcPct val="150000"/>
              </a:lnSpc>
              <a:buFont typeface="Knockout 49 Liteweight" pitchFamily="50" charset="0"/>
              <a:buChar char="&gt;"/>
            </a:pPr>
            <a:r>
              <a:rPr lang="en-US" sz="2800" dirty="0" smtClean="0">
                <a:latin typeface="TradeGothic" pitchFamily="34" charset="0"/>
              </a:rPr>
              <a:t>Bullet point text here – Trade Gothic 28 point</a:t>
            </a:r>
          </a:p>
          <a:p>
            <a:pPr marL="914400" lvl="1" indent="-457200">
              <a:lnSpc>
                <a:spcPct val="150000"/>
              </a:lnSpc>
              <a:buFont typeface="TradeGothic" pitchFamily="34" charset="0"/>
              <a:buChar char="–"/>
            </a:pPr>
            <a:r>
              <a:rPr lang="en-US" sz="2400" dirty="0" smtClean="0">
                <a:latin typeface="TradeGothic" pitchFamily="34" charset="0"/>
              </a:rPr>
              <a:t>Sub-bullet text here – 24 point</a:t>
            </a:r>
          </a:p>
          <a:p>
            <a:pPr marL="914400" lvl="1" indent="-457200">
              <a:lnSpc>
                <a:spcPct val="150000"/>
              </a:lnSpc>
              <a:buFont typeface="TradeGothic" pitchFamily="34" charset="0"/>
              <a:buChar char="–"/>
            </a:pPr>
            <a:r>
              <a:rPr lang="en-US" sz="2400" dirty="0" smtClean="0">
                <a:latin typeface="TradeGothic" pitchFamily="34" charset="0"/>
              </a:rPr>
              <a:t>Sub-bullet text here – 24 point</a:t>
            </a:r>
            <a:endParaRPr lang="en-US" sz="2400" dirty="0">
              <a:latin typeface="TradeGothic" pitchFamily="34" charset="0"/>
            </a:endParaRPr>
          </a:p>
        </p:txBody>
      </p:sp>
      <p:sp>
        <p:nvSpPr>
          <p:cNvPr id="4" name="Date Placeholder 3"/>
          <p:cNvSpPr>
            <a:spLocks noGrp="1"/>
          </p:cNvSpPr>
          <p:nvPr>
            <p:ph type="dt" sz="half" idx="10"/>
          </p:nvPr>
        </p:nvSpPr>
        <p:spPr/>
        <p:txBody>
          <a:bodyPr/>
          <a:lstStyle/>
          <a:p>
            <a:fld id="{CC6C20A1-EC87-42DE-BA74-152278E2BF09}" type="datetimeFigureOut">
              <a:rPr lang="en-US" smtClean="0"/>
              <a:t>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270444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6C20A1-EC87-42DE-BA74-152278E2BF09}" type="datetimeFigureOut">
              <a:rPr lang="en-US" smtClean="0"/>
              <a:t>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4287375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C6C20A1-EC87-42DE-BA74-152278E2BF09}" type="datetimeFigureOut">
              <a:rPr lang="en-US" smtClean="0"/>
              <a:t>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648392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C6C20A1-EC87-42DE-BA74-152278E2BF09}" type="datetimeFigureOut">
              <a:rPr lang="en-US" smtClean="0"/>
              <a:t>1/7/2013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3791793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C6C20A1-EC87-42DE-BA74-152278E2BF09}" type="datetimeFigureOut">
              <a:rPr lang="en-US" smtClean="0"/>
              <a:t>1/7/2013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1473111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6C20A1-EC87-42DE-BA74-152278E2BF09}" type="datetimeFigureOut">
              <a:rPr lang="en-US" smtClean="0"/>
              <a:t>1/7/2013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2073240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6C20A1-EC87-42DE-BA74-152278E2BF09}" type="datetimeFigureOut">
              <a:rPr lang="en-US" smtClean="0"/>
              <a:t>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2732476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6C20A1-EC87-42DE-BA74-152278E2BF09}" type="datetimeFigureOut">
              <a:rPr lang="en-US" smtClean="0"/>
              <a:t>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953620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6C20A1-EC87-42DE-BA74-152278E2BF09}" type="datetimeFigureOut">
              <a:rPr lang="en-US" smtClean="0"/>
              <a:t>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3498935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6C20A1-EC87-42DE-BA74-152278E2BF09}" type="datetimeFigureOut">
              <a:rPr lang="en-US" smtClean="0"/>
              <a:t>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2DCEF-17A3-47EA-86BF-ABE6061E870E}" type="slidenum">
              <a:rPr lang="en-US" smtClean="0"/>
              <a:t>‹#›</a:t>
            </a:fld>
            <a:endParaRPr lang="en-US"/>
          </a:p>
        </p:txBody>
      </p:sp>
    </p:spTree>
    <p:extLst>
      <p:ext uri="{BB962C8B-B14F-4D97-AF65-F5344CB8AC3E}">
        <p14:creationId xmlns:p14="http://schemas.microsoft.com/office/powerpoint/2010/main" val="3946017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ext Placeholder 2"/>
          <p:cNvSpPr>
            <a:spLocks noGrp="1"/>
          </p:cNvSpPr>
          <p:nvPr>
            <p:ph idx="1"/>
          </p:nvPr>
        </p:nvSpPr>
        <p:spPr>
          <a:xfrm>
            <a:off x="822963" y="1600203"/>
            <a:ext cx="7569721" cy="4525963"/>
          </a:xfrm>
          <a:prstGeom prst="rect">
            <a:avLst/>
          </a:prstGeom>
        </p:spPr>
        <p:txBody>
          <a:bodyPr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4" name="Footer Placeholder 2"/>
          <p:cNvSpPr>
            <a:spLocks noGrp="1"/>
          </p:cNvSpPr>
          <p:nvPr>
            <p:ph type="ftr" sz="quarter" idx="10"/>
          </p:nvPr>
        </p:nvSpPr>
        <p:spPr/>
        <p:txBody>
          <a:bodyPr/>
          <a:lstStyle>
            <a:lvl1pPr>
              <a:defRPr/>
            </a:lvl1pPr>
          </a:lstStyle>
          <a:p>
            <a:pPr>
              <a:defRPr/>
            </a:pPr>
            <a:endParaRPr lang="en-US">
              <a:solidFill>
                <a:prstClr val="black">
                  <a:tint val="75000"/>
                </a:prstClr>
              </a:solidFill>
            </a:endParaRPr>
          </a:p>
        </p:txBody>
      </p:sp>
    </p:spTree>
    <p:extLst>
      <p:ext uri="{BB962C8B-B14F-4D97-AF65-F5344CB8AC3E}">
        <p14:creationId xmlns:p14="http://schemas.microsoft.com/office/powerpoint/2010/main" val="923388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990600" y="381000"/>
            <a:ext cx="7848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76401"/>
            <a:ext cx="8229600" cy="4267200"/>
          </a:xfrm>
          <a:prstGeom prst="rect">
            <a:avLst/>
          </a:prstGeom>
        </p:spPr>
        <p:txBody>
          <a:bodyPr vert="horz" lIns="91440" tIns="45720" rIns="91440" bIns="45720" rtlCol="0">
            <a:normAutofit/>
          </a:bodyPr>
          <a:lstStyle/>
          <a:p>
            <a:pPr marL="285750" indent="-285750">
              <a:lnSpc>
                <a:spcPct val="150000"/>
              </a:lnSpc>
              <a:buFont typeface="Knockout 49 Liteweight" pitchFamily="50" charset="0"/>
              <a:buChar char="&gt;"/>
            </a:pPr>
            <a:r>
              <a:rPr lang="en-US" sz="2800" dirty="0" smtClean="0">
                <a:latin typeface="TradeGothic" pitchFamily="34" charset="0"/>
              </a:rPr>
              <a:t>Bullet point text here – Trade Gothic 28 point</a:t>
            </a:r>
          </a:p>
          <a:p>
            <a:pPr marL="285750" indent="-285750">
              <a:lnSpc>
                <a:spcPct val="150000"/>
              </a:lnSpc>
              <a:buFont typeface="Knockout 49 Liteweight" pitchFamily="50" charset="0"/>
              <a:buChar char="&gt;"/>
            </a:pPr>
            <a:r>
              <a:rPr lang="en-US" sz="2800" dirty="0" smtClean="0">
                <a:latin typeface="TradeGothic" pitchFamily="34" charset="0"/>
              </a:rPr>
              <a:t>Bullet point text here – Trade Gothic 28 point</a:t>
            </a:r>
          </a:p>
          <a:p>
            <a:pPr marL="285750" indent="-285750">
              <a:lnSpc>
                <a:spcPct val="150000"/>
              </a:lnSpc>
              <a:buFont typeface="Knockout 49 Liteweight" pitchFamily="50" charset="0"/>
              <a:buChar char="&gt;"/>
            </a:pPr>
            <a:r>
              <a:rPr lang="en-US" sz="2800" dirty="0" smtClean="0">
                <a:latin typeface="TradeGothic" pitchFamily="34" charset="0"/>
              </a:rPr>
              <a:t>Bullet point text here – Trade Gothic 28 point</a:t>
            </a:r>
          </a:p>
          <a:p>
            <a:pPr marL="914400" lvl="1" indent="-457200">
              <a:lnSpc>
                <a:spcPct val="150000"/>
              </a:lnSpc>
              <a:buFont typeface="TradeGothic" pitchFamily="34" charset="0"/>
              <a:buChar char="–"/>
            </a:pPr>
            <a:r>
              <a:rPr lang="en-US" sz="2400" dirty="0" smtClean="0">
                <a:latin typeface="TradeGothic" pitchFamily="34" charset="0"/>
              </a:rPr>
              <a:t>Sub-bullet text here – 24 point</a:t>
            </a:r>
          </a:p>
          <a:p>
            <a:pPr marL="914400" lvl="1" indent="-457200">
              <a:lnSpc>
                <a:spcPct val="150000"/>
              </a:lnSpc>
              <a:buFont typeface="TradeGothic" pitchFamily="34" charset="0"/>
              <a:buChar char="–"/>
            </a:pPr>
            <a:r>
              <a:rPr lang="en-US" sz="2400" dirty="0" smtClean="0">
                <a:latin typeface="TradeGothic" pitchFamily="34" charset="0"/>
              </a:rPr>
              <a:t>Sub-bullet text here – 24 point</a:t>
            </a:r>
            <a:endParaRPr lang="en-US" sz="2400" dirty="0">
              <a:latin typeface="TradeGothic" pitchFamily="34" charset="0"/>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6C20A1-EC87-42DE-BA74-152278E2BF09}" type="datetimeFigureOut">
              <a:rPr lang="en-US" smtClean="0"/>
              <a:t>1/7/2013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62DCEF-17A3-47EA-86BF-ABE6061E870E}" type="slidenum">
              <a:rPr lang="en-US" smtClean="0"/>
              <a:t>‹#›</a:t>
            </a:fld>
            <a:endParaRPr lang="en-US"/>
          </a:p>
        </p:txBody>
      </p:sp>
    </p:spTree>
    <p:extLst>
      <p:ext uri="{BB962C8B-B14F-4D97-AF65-F5344CB8AC3E}">
        <p14:creationId xmlns:p14="http://schemas.microsoft.com/office/powerpoint/2010/main" val="2124677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spcBef>
          <a:spcPct val="0"/>
        </a:spcBef>
        <a:buNone/>
        <a:defRPr sz="3600" b="1" kern="1200">
          <a:solidFill>
            <a:schemeClr val="tx1"/>
          </a:solidFill>
          <a:latin typeface="TradeGothic"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2800" b="1" kern="1200">
          <a:solidFill>
            <a:schemeClr val="tx1"/>
          </a:solidFill>
          <a:latin typeface="TradeGothic" pitchFamily="34" charset="0"/>
          <a:ea typeface="+mn-ea"/>
          <a:cs typeface="+mn-cs"/>
        </a:defRPr>
      </a:lvl1pPr>
      <a:lvl2pPr marL="914400" indent="-457200" algn="l" defTabSz="914400" rtl="0" eaLnBrk="1" latinLnBrk="0" hangingPunct="1">
        <a:lnSpc>
          <a:spcPct val="150000"/>
        </a:lnSpc>
        <a:spcBef>
          <a:spcPct val="20000"/>
        </a:spcBef>
        <a:buFont typeface="TradeGothic" pitchFamily="34" charset="0"/>
        <a:buChar char="–"/>
        <a:defRPr sz="2400" b="1" kern="1200">
          <a:solidFill>
            <a:schemeClr val="tx1"/>
          </a:solidFill>
          <a:latin typeface="TradeGothic" pitchFamily="34" charset="0"/>
          <a:ea typeface="+mn-ea"/>
          <a:cs typeface="+mn-cs"/>
        </a:defRPr>
      </a:lvl2pPr>
      <a:lvl3pPr marL="1143000" indent="-228600" algn="l" defTabSz="914400" rtl="0" eaLnBrk="1" latinLnBrk="0" hangingPunct="1">
        <a:spcBef>
          <a:spcPct val="20000"/>
        </a:spcBef>
        <a:buFont typeface="Arial" pitchFamily="34" charset="0"/>
        <a:buChar char="•"/>
        <a:defRPr sz="2000" b="1" kern="1200">
          <a:solidFill>
            <a:schemeClr val="tx1"/>
          </a:solidFill>
          <a:latin typeface="TradeGothic" pitchFamily="34" charset="0"/>
          <a:ea typeface="+mn-ea"/>
          <a:cs typeface="+mn-cs"/>
        </a:defRPr>
      </a:lvl3pPr>
      <a:lvl4pPr marL="1600200" indent="-228600" algn="l" defTabSz="914400" rtl="0" eaLnBrk="1" latinLnBrk="0" hangingPunct="1">
        <a:spcBef>
          <a:spcPct val="20000"/>
        </a:spcBef>
        <a:buFont typeface="Arial" pitchFamily="34" charset="0"/>
        <a:buChar char="–"/>
        <a:defRPr sz="1800" b="1" kern="1200">
          <a:solidFill>
            <a:schemeClr val="tx1"/>
          </a:solidFill>
          <a:latin typeface="TradeGothic" pitchFamily="34" charset="0"/>
          <a:ea typeface="+mn-ea"/>
          <a:cs typeface="+mn-cs"/>
        </a:defRPr>
      </a:lvl4pPr>
      <a:lvl5pPr marL="2057400" indent="-228600" algn="l" defTabSz="914400" rtl="0" eaLnBrk="1" latinLnBrk="0" hangingPunct="1">
        <a:spcBef>
          <a:spcPct val="20000"/>
        </a:spcBef>
        <a:buFont typeface="Arial" pitchFamily="34" charset="0"/>
        <a:buChar char="»"/>
        <a:defRPr sz="1800" b="1" kern="1200">
          <a:solidFill>
            <a:schemeClr val="tx1"/>
          </a:solidFill>
          <a:latin typeface="Trade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notesSlide" Target="../notesSlides/notesSlide2.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slideLayout" Target="../slideLayouts/slideLayout12.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4.pn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7.jpe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image" Target="../media/image3.png"/><Relationship Id="rId30"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image" Target="../media/image9.jpeg"/><Relationship Id="rId3" Type="http://schemas.openxmlformats.org/officeDocument/2006/relationships/tags" Target="../tags/tag27.xml"/><Relationship Id="rId21" Type="http://schemas.openxmlformats.org/officeDocument/2006/relationships/image" Target="../media/image12.jpeg"/><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image" Target="../media/image8.jpeg"/><Relationship Id="rId2" Type="http://schemas.openxmlformats.org/officeDocument/2006/relationships/tags" Target="../tags/tag26.xml"/><Relationship Id="rId16" Type="http://schemas.openxmlformats.org/officeDocument/2006/relationships/slideLayout" Target="../slideLayouts/slideLayout12.xml"/><Relationship Id="rId20" Type="http://schemas.openxmlformats.org/officeDocument/2006/relationships/image" Target="../media/image11.jp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19" Type="http://schemas.openxmlformats.org/officeDocument/2006/relationships/image" Target="../media/image10.jpeg"/><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9.png"/><Relationship Id="rId4" Type="http://schemas.openxmlformats.org/officeDocument/2006/relationships/oleObject" Target="../embeddings/Microsoft_Excel_97-2003_Worksheet1.xls"/></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20.png"/><Relationship Id="rId4" Type="http://schemas.openxmlformats.org/officeDocument/2006/relationships/oleObject" Target="../embeddings/Microsoft_Excel_97-2003_Worksheet2.xls"/></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35522" t="8557" b="83682"/>
          <a:stretch/>
        </p:blipFill>
        <p:spPr>
          <a:xfrm>
            <a:off x="3259540" y="1721275"/>
            <a:ext cx="5895833" cy="532262"/>
          </a:xfrm>
          <a:prstGeom prst="rect">
            <a:avLst/>
          </a:prstGeom>
        </p:spPr>
      </p:pic>
      <p:sp>
        <p:nvSpPr>
          <p:cNvPr id="4" name="TextBox 3"/>
          <p:cNvSpPr txBox="1"/>
          <p:nvPr/>
        </p:nvSpPr>
        <p:spPr>
          <a:xfrm>
            <a:off x="3311856" y="1841212"/>
            <a:ext cx="6213144" cy="292388"/>
          </a:xfrm>
          <a:prstGeom prst="rect">
            <a:avLst/>
          </a:prstGeom>
          <a:noFill/>
        </p:spPr>
        <p:txBody>
          <a:bodyPr wrap="square" rtlCol="0">
            <a:spAutoFit/>
          </a:bodyPr>
          <a:lstStyle/>
          <a:p>
            <a:r>
              <a:rPr lang="en-US" sz="1300" b="1" spc="20" dirty="0" smtClean="0">
                <a:latin typeface="TradeGothic" pitchFamily="34" charset="0"/>
              </a:rPr>
              <a:t>Minneapolis Saint Paul Regional Economic Development Partnership</a:t>
            </a:r>
            <a:endParaRPr lang="en-US" sz="1300" b="1" spc="20" dirty="0">
              <a:latin typeface="TradeGothic" pitchFamily="34" charset="0"/>
            </a:endParaRPr>
          </a:p>
        </p:txBody>
      </p:sp>
    </p:spTree>
    <p:extLst>
      <p:ext uri="{BB962C8B-B14F-4D97-AF65-F5344CB8AC3E}">
        <p14:creationId xmlns:p14="http://schemas.microsoft.com/office/powerpoint/2010/main" val="2105228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cap="small" dirty="0" smtClean="0">
                <a:latin typeface="+mn-lt"/>
              </a:rPr>
              <a:t>MISSION</a:t>
            </a:r>
            <a:endParaRPr lang="en-US" sz="3200" i="1" dirty="0">
              <a:latin typeface="+mn-lt"/>
            </a:endParaRPr>
          </a:p>
        </p:txBody>
      </p:sp>
      <p:sp>
        <p:nvSpPr>
          <p:cNvPr id="4" name="Content Placeholder 3"/>
          <p:cNvSpPr>
            <a:spLocks noGrp="1"/>
          </p:cNvSpPr>
          <p:nvPr>
            <p:ph idx="1"/>
          </p:nvPr>
        </p:nvSpPr>
        <p:spPr>
          <a:xfrm>
            <a:off x="647700" y="2286000"/>
            <a:ext cx="7848600" cy="3200400"/>
          </a:xfrm>
        </p:spPr>
        <p:txBody>
          <a:bodyPr>
            <a:noAutofit/>
          </a:bodyPr>
          <a:lstStyle/>
          <a:p>
            <a:pPr marL="0" indent="0" algn="ctr">
              <a:buNone/>
              <a:defRPr/>
            </a:pPr>
            <a:r>
              <a:rPr lang="en-US" sz="5400" dirty="0" smtClean="0">
                <a:latin typeface="+mn-lt"/>
              </a:rPr>
              <a:t>Accelerate </a:t>
            </a:r>
            <a:r>
              <a:rPr lang="en-US" sz="5400" dirty="0">
                <a:latin typeface="+mn-lt"/>
              </a:rPr>
              <a:t>job growth </a:t>
            </a:r>
            <a:r>
              <a:rPr lang="en-US" sz="4000" b="0" dirty="0">
                <a:latin typeface="+mn-lt"/>
              </a:rPr>
              <a:t>and</a:t>
            </a:r>
            <a:r>
              <a:rPr lang="en-US" sz="4800" dirty="0">
                <a:latin typeface="+mn-lt"/>
              </a:rPr>
              <a:t> </a:t>
            </a:r>
            <a:r>
              <a:rPr lang="en-US" sz="5400" dirty="0">
                <a:latin typeface="+mn-lt"/>
              </a:rPr>
              <a:t>capital investment </a:t>
            </a:r>
            <a:r>
              <a:rPr lang="en-US" sz="4000" b="0" dirty="0">
                <a:latin typeface="+mn-lt"/>
              </a:rPr>
              <a:t>in the </a:t>
            </a:r>
            <a:r>
              <a:rPr lang="en-US" sz="5400" dirty="0">
                <a:latin typeface="+mn-lt"/>
              </a:rPr>
              <a:t>Greater MSP Region</a:t>
            </a:r>
          </a:p>
          <a:p>
            <a:pPr marL="0" lvl="0" indent="0" algn="ctr">
              <a:buNone/>
            </a:pPr>
            <a:r>
              <a:rPr lang="en-US" sz="4400" b="0" dirty="0" smtClean="0"/>
              <a:t>	</a:t>
            </a:r>
            <a:endParaRPr lang="en-US" sz="4400" b="0" dirty="0"/>
          </a:p>
        </p:txBody>
      </p:sp>
    </p:spTree>
    <p:extLst>
      <p:ext uri="{BB962C8B-B14F-4D97-AF65-F5344CB8AC3E}">
        <p14:creationId xmlns:p14="http://schemas.microsoft.com/office/powerpoint/2010/main" val="2307305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TextBox 272"/>
          <p:cNvSpPr txBox="1"/>
          <p:nvPr/>
        </p:nvSpPr>
        <p:spPr>
          <a:xfrm>
            <a:off x="228600" y="1219200"/>
            <a:ext cx="8001000" cy="731838"/>
          </a:xfrm>
          <a:prstGeom prst="rect">
            <a:avLst/>
          </a:prstGeom>
          <a:noFill/>
        </p:spPr>
        <p:txBody>
          <a:bodyPr>
            <a:spAutoFit/>
          </a:bodyPr>
          <a:lstStyle/>
          <a:p>
            <a:pPr fontAlgn="auto">
              <a:spcBef>
                <a:spcPts val="0"/>
              </a:spcBef>
              <a:spcAft>
                <a:spcPts val="0"/>
              </a:spcAft>
              <a:defRPr/>
            </a:pPr>
            <a:endParaRPr lang="en-US" sz="1200" dirty="0">
              <a:effectLst>
                <a:outerShdw blurRad="69850" dist="43180" dir="5400000" sx="0" sy="0">
                  <a:srgbClr val="000000">
                    <a:alpha val="65000"/>
                  </a:srgbClr>
                </a:outerShdw>
              </a:effectLst>
              <a:latin typeface="+mn-lt"/>
              <a:cs typeface="+mn-cs"/>
            </a:endParaRPr>
          </a:p>
          <a:p>
            <a:pPr fontAlgn="auto">
              <a:spcBef>
                <a:spcPts val="0"/>
              </a:spcBef>
              <a:spcAft>
                <a:spcPts val="0"/>
              </a:spcAft>
              <a:defRPr/>
            </a:pPr>
            <a:endParaRPr lang="en-US" sz="1200" dirty="0">
              <a:effectLst>
                <a:outerShdw blurRad="69850" dist="43180" dir="5400000" sx="0" sy="0">
                  <a:srgbClr val="000000">
                    <a:alpha val="65000"/>
                  </a:srgbClr>
                </a:outerShdw>
              </a:effectLst>
              <a:latin typeface="+mn-lt"/>
              <a:cs typeface="+mn-cs"/>
            </a:endParaRPr>
          </a:p>
          <a:p>
            <a:pPr fontAlgn="auto">
              <a:spcBef>
                <a:spcPts val="0"/>
              </a:spcBef>
              <a:spcAft>
                <a:spcPts val="0"/>
              </a:spcAft>
              <a:defRPr/>
            </a:pPr>
            <a:endParaRPr lang="en-US" dirty="0">
              <a:latin typeface="+mn-lt"/>
              <a:cs typeface="+mn-cs"/>
            </a:endParaRPr>
          </a:p>
        </p:txBody>
      </p:sp>
      <p:sp>
        <p:nvSpPr>
          <p:cNvPr id="274" name="Rectangle 273"/>
          <p:cNvSpPr/>
          <p:nvPr/>
        </p:nvSpPr>
        <p:spPr>
          <a:xfrm>
            <a:off x="8458200" y="5257800"/>
            <a:ext cx="685800" cy="228600"/>
          </a:xfrm>
          <a:prstGeom prst="rect">
            <a:avLst/>
          </a:prstGeom>
          <a:solidFill>
            <a:srgbClr val="C0C67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p>
        </p:txBody>
      </p:sp>
      <p:sp>
        <p:nvSpPr>
          <p:cNvPr id="13316" name="Rectangle 10"/>
          <p:cNvSpPr>
            <a:spLocks noChangeArrowheads="1"/>
          </p:cNvSpPr>
          <p:nvPr>
            <p:custDataLst>
              <p:tags r:id="rId1"/>
            </p:custDataLst>
          </p:nvPr>
        </p:nvSpPr>
        <p:spPr bwMode="auto">
          <a:xfrm>
            <a:off x="60325" y="1828800"/>
            <a:ext cx="4048125" cy="3095625"/>
          </a:xfrm>
          <a:prstGeom prst="rect">
            <a:avLst/>
          </a:prstGeom>
          <a:solidFill>
            <a:schemeClr val="accent1"/>
          </a:solidFill>
          <a:ln w="9525">
            <a:solidFill>
              <a:schemeClr val="accent1"/>
            </a:solidFill>
            <a:miter lim="800000"/>
            <a:headEnd/>
            <a:tailEnd/>
          </a:ln>
          <a:effectLst>
            <a:outerShdw dist="35921" dir="2700000" algn="ctr" rotWithShape="0">
              <a:srgbClr val="808080"/>
            </a:outerShdw>
          </a:effectLst>
        </p:spPr>
        <p:txBody>
          <a:bodyPr wrap="none" lIns="93276" tIns="46638" rIns="93276" bIns="46638" anchor="ctr"/>
          <a:lstStyle/>
          <a:p>
            <a:pPr defTabSz="933450"/>
            <a:endParaRPr lang="en-US" b="1"/>
          </a:p>
        </p:txBody>
      </p:sp>
      <p:pic>
        <p:nvPicPr>
          <p:cNvPr id="13317" name="Picture 9"/>
          <p:cNvPicPr>
            <a:picLocks noChangeAspect="1" noChangeArrowheads="1"/>
          </p:cNvPicPr>
          <p:nvPr>
            <p:custDataLst>
              <p:tags r:id="rId2"/>
            </p:custDataLst>
          </p:nvPr>
        </p:nvPicPr>
        <p:blipFill>
          <a:blip r:embed="rId27">
            <a:extLst>
              <a:ext uri="{28A0092B-C50C-407E-A947-70E740481C1C}">
                <a14:useLocalDpi xmlns:a14="http://schemas.microsoft.com/office/drawing/2010/main" val="0"/>
              </a:ext>
            </a:extLst>
          </a:blip>
          <a:srcRect/>
          <a:stretch>
            <a:fillRect/>
          </a:stretch>
        </p:blipFill>
        <p:spPr bwMode="auto">
          <a:xfrm>
            <a:off x="112713" y="1882775"/>
            <a:ext cx="3932237" cy="301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Slide Number Placeholder 2"/>
          <p:cNvSpPr txBox="1">
            <a:spLocks noGrp="1"/>
          </p:cNvSpPr>
          <p:nvPr>
            <p:custDataLst>
              <p:tags r:id="rId3"/>
            </p:custDataLst>
          </p:nvPr>
        </p:nvSpPr>
        <p:spPr bwMode="auto">
          <a:xfrm>
            <a:off x="9102725" y="6580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33450" eaLnBrk="0" hangingPunct="0">
              <a:defRPr>
                <a:solidFill>
                  <a:schemeClr val="tx1"/>
                </a:solidFill>
                <a:latin typeface="Arial" pitchFamily="34" charset="0"/>
                <a:cs typeface="Arial" pitchFamily="34" charset="0"/>
              </a:defRPr>
            </a:lvl1pPr>
            <a:lvl2pPr marL="742950" indent="-285750" defTabSz="933450" eaLnBrk="0" hangingPunct="0">
              <a:defRPr>
                <a:solidFill>
                  <a:schemeClr val="tx1"/>
                </a:solidFill>
                <a:latin typeface="Arial" pitchFamily="34" charset="0"/>
                <a:cs typeface="Arial" pitchFamily="34" charset="0"/>
              </a:defRPr>
            </a:lvl2pPr>
            <a:lvl3pPr marL="1143000" indent="-228600" defTabSz="933450" eaLnBrk="0" hangingPunct="0">
              <a:defRPr>
                <a:solidFill>
                  <a:schemeClr val="tx1"/>
                </a:solidFill>
                <a:latin typeface="Arial" pitchFamily="34" charset="0"/>
                <a:cs typeface="Arial" pitchFamily="34" charset="0"/>
              </a:defRPr>
            </a:lvl3pPr>
            <a:lvl4pPr marL="1600200" indent="-228600" defTabSz="933450" eaLnBrk="0" hangingPunct="0">
              <a:defRPr>
                <a:solidFill>
                  <a:schemeClr val="tx1"/>
                </a:solidFill>
                <a:latin typeface="Arial" pitchFamily="34" charset="0"/>
                <a:cs typeface="Arial" pitchFamily="34" charset="0"/>
              </a:defRPr>
            </a:lvl4pPr>
            <a:lvl5pPr marL="2057400" indent="-228600" defTabSz="933450" eaLnBrk="0" hangingPunct="0">
              <a:defRPr>
                <a:solidFill>
                  <a:schemeClr val="tx1"/>
                </a:solidFill>
                <a:latin typeface="Arial" pitchFamily="34" charset="0"/>
                <a:cs typeface="Arial" pitchFamily="34" charset="0"/>
              </a:defRPr>
            </a:lvl5pPr>
            <a:lvl6pPr marL="2514600" indent="-228600" defTabSz="93345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93345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93345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93345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AFF30C0D-79CC-4129-A0EA-C6C37A180D61}" type="slidenum">
              <a:rPr lang="en-US" sz="1000">
                <a:solidFill>
                  <a:srgbClr val="808080"/>
                </a:solidFill>
              </a:rPr>
              <a:pPr eaLnBrk="1" hangingPunct="1"/>
              <a:t>3</a:t>
            </a:fld>
            <a:endParaRPr lang="en-US" sz="1000">
              <a:solidFill>
                <a:srgbClr val="808080"/>
              </a:solidFill>
            </a:endParaRPr>
          </a:p>
        </p:txBody>
      </p:sp>
      <p:sp>
        <p:nvSpPr>
          <p:cNvPr id="279" name="Rectangle 2"/>
          <p:cNvSpPr>
            <a:spLocks noChangeArrowheads="1"/>
          </p:cNvSpPr>
          <p:nvPr>
            <p:custDataLst>
              <p:tags r:id="rId4"/>
            </p:custDataLst>
          </p:nvPr>
        </p:nvSpPr>
        <p:spPr bwMode="auto">
          <a:xfrm>
            <a:off x="990600" y="790575"/>
            <a:ext cx="7620000" cy="492443"/>
          </a:xfrm>
          <a:prstGeom prst="rect">
            <a:avLst/>
          </a:prstGeom>
          <a:noFill/>
          <a:ln>
            <a:noFill/>
          </a:ln>
          <a:extLst/>
        </p:spPr>
        <p:txBody>
          <a:bodyPr lIns="0" tIns="0" rIns="0" bIns="0">
            <a:spAutoFit/>
          </a:bodyPr>
          <a:lstStyle/>
          <a:p>
            <a:pPr defTabSz="457056" fontAlgn="auto">
              <a:spcAft>
                <a:spcPts val="0"/>
              </a:spcAft>
              <a:defRPr/>
            </a:pPr>
            <a:r>
              <a:rPr lang="en-US" sz="3200" b="1" cap="small" dirty="0" smtClean="0">
                <a:ea typeface="+mj-ea"/>
                <a:cs typeface="+mj-cs"/>
              </a:rPr>
              <a:t>OUR REGION</a:t>
            </a:r>
            <a:endParaRPr lang="en-US" sz="3200" b="1" cap="small" dirty="0">
              <a:ea typeface="+mj-ea"/>
              <a:cs typeface="+mj-cs"/>
            </a:endParaRPr>
          </a:p>
        </p:txBody>
      </p:sp>
      <p:grpSp>
        <p:nvGrpSpPr>
          <p:cNvPr id="13320" name="Group 34"/>
          <p:cNvGrpSpPr>
            <a:grpSpLocks/>
          </p:cNvGrpSpPr>
          <p:nvPr/>
        </p:nvGrpSpPr>
        <p:grpSpPr bwMode="auto">
          <a:xfrm>
            <a:off x="3933825" y="2320925"/>
            <a:ext cx="4718050" cy="1241425"/>
            <a:chOff x="2448" y="1872"/>
            <a:chExt cx="2972" cy="782"/>
          </a:xfrm>
        </p:grpSpPr>
        <p:sp>
          <p:nvSpPr>
            <p:cNvPr id="13346" name="AutoShape 13"/>
            <p:cNvSpPr>
              <a:spLocks noChangeArrowheads="1"/>
            </p:cNvSpPr>
            <p:nvPr>
              <p:custDataLst>
                <p:tags r:id="rId22"/>
              </p:custDataLst>
            </p:nvPr>
          </p:nvSpPr>
          <p:spPr bwMode="auto">
            <a:xfrm>
              <a:off x="2448" y="1999"/>
              <a:ext cx="2972" cy="457"/>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3276" tIns="46638" rIns="93276" bIns="46638" anchor="ctr"/>
            <a:lstStyle/>
            <a:p>
              <a:pPr defTabSz="933450"/>
              <a:endParaRPr lang="en-US" b="1"/>
            </a:p>
          </p:txBody>
        </p:sp>
        <p:sp>
          <p:nvSpPr>
            <p:cNvPr id="13347" name="Rectangle 58"/>
            <p:cNvSpPr>
              <a:spLocks noChangeArrowheads="1"/>
            </p:cNvSpPr>
            <p:nvPr>
              <p:custDataLst>
                <p:tags r:id="rId23"/>
              </p:custDataLst>
            </p:nvPr>
          </p:nvSpPr>
          <p:spPr bwMode="gray">
            <a:xfrm>
              <a:off x="3379" y="2079"/>
              <a:ext cx="1857"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defTabSz="1282700">
                <a:buClr>
                  <a:schemeClr val="tx2"/>
                </a:buClr>
              </a:pPr>
              <a:r>
                <a:rPr lang="en-US" sz="2900" b="1">
                  <a:solidFill>
                    <a:schemeClr val="bg1"/>
                  </a:solidFill>
                </a:rPr>
                <a:t>$200 billion</a:t>
              </a:r>
              <a:r>
                <a:rPr lang="en-US" sz="2000">
                  <a:solidFill>
                    <a:schemeClr val="bg1"/>
                  </a:solidFill>
                </a:rPr>
                <a:t> in GMP</a:t>
              </a:r>
              <a:endParaRPr lang="cs-CZ" sz="2000">
                <a:solidFill>
                  <a:schemeClr val="bg1"/>
                </a:solidFill>
              </a:endParaRPr>
            </a:p>
          </p:txBody>
        </p:sp>
        <p:grpSp>
          <p:nvGrpSpPr>
            <p:cNvPr id="13348" name="Group 59"/>
            <p:cNvGrpSpPr>
              <a:grpSpLocks/>
            </p:cNvGrpSpPr>
            <p:nvPr/>
          </p:nvGrpSpPr>
          <p:grpSpPr bwMode="auto">
            <a:xfrm>
              <a:off x="2519" y="1872"/>
              <a:ext cx="814" cy="782"/>
              <a:chOff x="2519" y="1872"/>
              <a:chExt cx="814" cy="782"/>
            </a:xfrm>
          </p:grpSpPr>
          <p:sp>
            <p:nvSpPr>
              <p:cNvPr id="13349" name="Oval 6"/>
              <p:cNvSpPr>
                <a:spLocks noChangeArrowheads="1"/>
              </p:cNvSpPr>
              <p:nvPr>
                <p:custDataLst>
                  <p:tags r:id="rId24"/>
                </p:custDataLst>
              </p:nvPr>
            </p:nvSpPr>
            <p:spPr bwMode="gray">
              <a:xfrm>
                <a:off x="2519" y="2439"/>
                <a:ext cx="814" cy="215"/>
              </a:xfrm>
              <a:prstGeom prst="ellipse">
                <a:avLst/>
              </a:prstGeom>
              <a:gradFill rotWithShape="1">
                <a:gsLst>
                  <a:gs pos="0">
                    <a:srgbClr val="4D4D4D"/>
                  </a:gs>
                  <a:gs pos="100000">
                    <a:schemeClr val="accent1">
                      <a:alpha val="0"/>
                    </a:schemeClr>
                  </a:gs>
                </a:gsLst>
                <a:path path="shape">
                  <a:fillToRect l="50000" t="50000" r="50000" b="50000"/>
                </a:path>
              </a:gradFill>
              <a:ln>
                <a:noFill/>
              </a:ln>
              <a:extLst>
                <a:ext uri="{91240B29-F687-4F45-9708-019B960494DF}">
                  <a14:hiddenLine xmlns:a14="http://schemas.microsoft.com/office/drawing/2010/main" w="19050">
                    <a:solidFill>
                      <a:srgbClr val="000000"/>
                    </a:solidFill>
                    <a:round/>
                    <a:headEnd/>
                    <a:tailEnd/>
                  </a14:hiddenLine>
                </a:ext>
              </a:extLst>
            </p:spPr>
            <p:txBody>
              <a:bodyPr wrap="none" lIns="93272" tIns="46636" rIns="93272" bIns="46636" anchor="ctr"/>
              <a:lstStyle/>
              <a:p>
                <a:pPr defTabSz="933450"/>
                <a:endParaRPr lang="en-US" sz="2200" b="1"/>
              </a:p>
            </p:txBody>
          </p:sp>
          <p:sp>
            <p:nvSpPr>
              <p:cNvPr id="13350" name="Oval 10"/>
              <p:cNvSpPr>
                <a:spLocks noChangeArrowheads="1"/>
              </p:cNvSpPr>
              <p:nvPr/>
            </p:nvSpPr>
            <p:spPr bwMode="auto">
              <a:xfrm>
                <a:off x="2564" y="1882"/>
                <a:ext cx="701" cy="667"/>
              </a:xfrm>
              <a:prstGeom prst="ellipse">
                <a:avLst/>
              </a:prstGeom>
              <a:solidFill>
                <a:schemeClr val="accent2"/>
              </a:solidFill>
              <a:ln w="57150">
                <a:solidFill>
                  <a:srgbClr val="DDDDDD"/>
                </a:solidFill>
                <a:round/>
                <a:headEnd/>
                <a:tailEnd/>
              </a:ln>
            </p:spPr>
            <p:txBody>
              <a:bodyPr wrap="none" lIns="93276" tIns="46638" rIns="93276" bIns="46638" anchor="ctr"/>
              <a:lstStyle/>
              <a:p>
                <a:pPr defTabSz="933450"/>
                <a:endParaRPr lang="en-US" sz="2200" b="1"/>
              </a:p>
            </p:txBody>
          </p:sp>
          <p:pic>
            <p:nvPicPr>
              <p:cNvPr id="13351" name="Picture 113" descr="money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569" y="1884"/>
                <a:ext cx="697" cy="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52" name="Picture 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gray">
              <a:xfrm>
                <a:off x="2739" y="1909"/>
                <a:ext cx="365"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53" name="Oval 13"/>
              <p:cNvSpPr>
                <a:spLocks noChangeArrowheads="1"/>
              </p:cNvSpPr>
              <p:nvPr/>
            </p:nvSpPr>
            <p:spPr bwMode="auto">
              <a:xfrm>
                <a:off x="2558" y="1872"/>
                <a:ext cx="721" cy="690"/>
              </a:xfrm>
              <a:prstGeom prst="ellipse">
                <a:avLst/>
              </a:prstGeom>
              <a:noFill/>
              <a:ln w="76200">
                <a:solidFill>
                  <a:srgbClr val="DDDDDD">
                    <a:alpha val="50195"/>
                  </a:srgbClr>
                </a:solidFill>
                <a:round/>
                <a:headEnd/>
                <a:tailEnd/>
              </a:ln>
              <a:extLst>
                <a:ext uri="{909E8E84-426E-40DD-AFC4-6F175D3DCCD1}">
                  <a14:hiddenFill xmlns:a14="http://schemas.microsoft.com/office/drawing/2010/main">
                    <a:solidFill>
                      <a:srgbClr val="FFFFFF"/>
                    </a:solidFill>
                  </a14:hiddenFill>
                </a:ext>
              </a:extLst>
            </p:spPr>
            <p:txBody>
              <a:bodyPr wrap="none" lIns="93276" tIns="46638" rIns="93276" bIns="46638" anchor="ctr"/>
              <a:lstStyle/>
              <a:p>
                <a:pPr defTabSz="933450"/>
                <a:endParaRPr lang="en-US" sz="2200" b="1"/>
              </a:p>
            </p:txBody>
          </p:sp>
        </p:grpSp>
      </p:grpSp>
      <p:grpSp>
        <p:nvGrpSpPr>
          <p:cNvPr id="13321" name="Group 33"/>
          <p:cNvGrpSpPr>
            <a:grpSpLocks/>
          </p:cNvGrpSpPr>
          <p:nvPr/>
        </p:nvGrpSpPr>
        <p:grpSpPr bwMode="auto">
          <a:xfrm>
            <a:off x="3933825" y="1044575"/>
            <a:ext cx="4389438" cy="1225550"/>
            <a:chOff x="2112" y="741"/>
            <a:chExt cx="2765" cy="772"/>
          </a:xfrm>
        </p:grpSpPr>
        <p:sp>
          <p:nvSpPr>
            <p:cNvPr id="13339" name="Oval 13"/>
            <p:cNvSpPr>
              <a:spLocks noChangeArrowheads="1"/>
            </p:cNvSpPr>
            <p:nvPr>
              <p:custDataLst>
                <p:tags r:id="rId15"/>
              </p:custDataLst>
            </p:nvPr>
          </p:nvSpPr>
          <p:spPr bwMode="auto">
            <a:xfrm>
              <a:off x="2239" y="741"/>
              <a:ext cx="721" cy="689"/>
            </a:xfrm>
            <a:prstGeom prst="ellipse">
              <a:avLst/>
            </a:prstGeom>
            <a:noFill/>
            <a:ln w="76200">
              <a:solidFill>
                <a:srgbClr val="DDDDDD">
                  <a:alpha val="50195"/>
                </a:srgbClr>
              </a:solidFill>
              <a:round/>
              <a:headEnd/>
              <a:tailEnd/>
            </a:ln>
            <a:extLst>
              <a:ext uri="{909E8E84-426E-40DD-AFC4-6F175D3DCCD1}">
                <a14:hiddenFill xmlns:a14="http://schemas.microsoft.com/office/drawing/2010/main">
                  <a:solidFill>
                    <a:srgbClr val="FFFFFF"/>
                  </a:solidFill>
                </a14:hiddenFill>
              </a:ext>
            </a:extLst>
          </p:spPr>
          <p:txBody>
            <a:bodyPr wrap="none" lIns="93276" tIns="46638" rIns="93276" bIns="46638" anchor="ctr"/>
            <a:lstStyle/>
            <a:p>
              <a:pPr defTabSz="933450"/>
              <a:endParaRPr lang="en-US" sz="2200" b="1"/>
            </a:p>
          </p:txBody>
        </p:sp>
        <p:sp>
          <p:nvSpPr>
            <p:cNvPr id="13340" name="AutoShape 12"/>
            <p:cNvSpPr>
              <a:spLocks noChangeArrowheads="1"/>
            </p:cNvSpPr>
            <p:nvPr>
              <p:custDataLst>
                <p:tags r:id="rId16"/>
              </p:custDataLst>
            </p:nvPr>
          </p:nvSpPr>
          <p:spPr bwMode="auto">
            <a:xfrm>
              <a:off x="2112" y="821"/>
              <a:ext cx="2765" cy="457"/>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3276" tIns="46638" rIns="93276" bIns="46638" anchor="ctr"/>
            <a:lstStyle/>
            <a:p>
              <a:pPr defTabSz="933450"/>
              <a:endParaRPr lang="en-US" b="1"/>
            </a:p>
          </p:txBody>
        </p:sp>
        <p:sp>
          <p:nvSpPr>
            <p:cNvPr id="13341" name="Rectangle 14"/>
            <p:cNvSpPr>
              <a:spLocks noChangeArrowheads="1"/>
            </p:cNvSpPr>
            <p:nvPr>
              <p:custDataLst>
                <p:tags r:id="rId17"/>
              </p:custDataLst>
            </p:nvPr>
          </p:nvSpPr>
          <p:spPr bwMode="gray">
            <a:xfrm>
              <a:off x="3130" y="921"/>
              <a:ext cx="166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defTabSz="1282700">
                <a:buClr>
                  <a:schemeClr val="tx2"/>
                </a:buClr>
              </a:pPr>
              <a:r>
                <a:rPr lang="en-US" sz="2900" b="1" dirty="0">
                  <a:solidFill>
                    <a:schemeClr val="bg1"/>
                  </a:solidFill>
                </a:rPr>
                <a:t>13 county MSA</a:t>
              </a:r>
              <a:endParaRPr lang="cs-CZ" sz="2900" b="1" dirty="0">
                <a:solidFill>
                  <a:schemeClr val="bg1"/>
                </a:solidFill>
              </a:endParaRPr>
            </a:p>
          </p:txBody>
        </p:sp>
        <p:sp>
          <p:nvSpPr>
            <p:cNvPr id="13342" name="Oval 6"/>
            <p:cNvSpPr>
              <a:spLocks noChangeArrowheads="1"/>
            </p:cNvSpPr>
            <p:nvPr>
              <p:custDataLst>
                <p:tags r:id="rId18"/>
              </p:custDataLst>
            </p:nvPr>
          </p:nvSpPr>
          <p:spPr bwMode="gray">
            <a:xfrm>
              <a:off x="2200" y="1298"/>
              <a:ext cx="814" cy="215"/>
            </a:xfrm>
            <a:prstGeom prst="ellipse">
              <a:avLst/>
            </a:prstGeom>
            <a:gradFill rotWithShape="1">
              <a:gsLst>
                <a:gs pos="0">
                  <a:srgbClr val="4D4D4D"/>
                </a:gs>
                <a:gs pos="100000">
                  <a:schemeClr val="accent1">
                    <a:alpha val="0"/>
                  </a:schemeClr>
                </a:gs>
              </a:gsLst>
              <a:path path="shape">
                <a:fillToRect l="50000" t="50000" r="50000" b="50000"/>
              </a:path>
            </a:gradFill>
            <a:ln>
              <a:noFill/>
            </a:ln>
            <a:extLst>
              <a:ext uri="{91240B29-F687-4F45-9708-019B960494DF}">
                <a14:hiddenLine xmlns:a14="http://schemas.microsoft.com/office/drawing/2010/main" w="19050">
                  <a:solidFill>
                    <a:srgbClr val="000000"/>
                  </a:solidFill>
                  <a:round/>
                  <a:headEnd/>
                  <a:tailEnd/>
                </a14:hiddenLine>
              </a:ext>
            </a:extLst>
          </p:spPr>
          <p:txBody>
            <a:bodyPr wrap="none" lIns="93272" tIns="46636" rIns="93272" bIns="46636" anchor="ctr"/>
            <a:lstStyle/>
            <a:p>
              <a:pPr defTabSz="933450"/>
              <a:endParaRPr lang="en-US" sz="2200" b="1"/>
            </a:p>
          </p:txBody>
        </p:sp>
        <p:sp>
          <p:nvSpPr>
            <p:cNvPr id="13343" name="Oval 10"/>
            <p:cNvSpPr>
              <a:spLocks noChangeArrowheads="1"/>
            </p:cNvSpPr>
            <p:nvPr>
              <p:custDataLst>
                <p:tags r:id="rId19"/>
              </p:custDataLst>
            </p:nvPr>
          </p:nvSpPr>
          <p:spPr bwMode="auto">
            <a:xfrm>
              <a:off x="2245" y="741"/>
              <a:ext cx="701" cy="667"/>
            </a:xfrm>
            <a:prstGeom prst="ellipse">
              <a:avLst/>
            </a:prstGeom>
            <a:solidFill>
              <a:schemeClr val="accent2"/>
            </a:solidFill>
            <a:ln w="57150">
              <a:solidFill>
                <a:srgbClr val="DDDDDD"/>
              </a:solidFill>
              <a:round/>
              <a:headEnd/>
              <a:tailEnd/>
            </a:ln>
          </p:spPr>
          <p:txBody>
            <a:bodyPr wrap="none" lIns="93276" tIns="46638" rIns="93276" bIns="46638" anchor="ctr"/>
            <a:lstStyle/>
            <a:p>
              <a:pPr defTabSz="933450"/>
              <a:endParaRPr lang="en-US" sz="2200" b="1"/>
            </a:p>
          </p:txBody>
        </p:sp>
        <p:pic>
          <p:nvPicPr>
            <p:cNvPr id="13344" name="Picture 8"/>
            <p:cNvPicPr>
              <a:picLocks noChangeAspect="1" noChangeArrowheads="1"/>
            </p:cNvPicPr>
            <p:nvPr>
              <p:custDataLst>
                <p:tags r:id="rId20"/>
              </p:custDataLst>
            </p:nvPr>
          </p:nvPicPr>
          <p:blipFill>
            <a:blip r:embed="rId29">
              <a:extLst>
                <a:ext uri="{28A0092B-C50C-407E-A947-70E740481C1C}">
                  <a14:useLocalDpi xmlns:a14="http://schemas.microsoft.com/office/drawing/2010/main" val="0"/>
                </a:ext>
              </a:extLst>
            </a:blip>
            <a:srcRect/>
            <a:stretch>
              <a:fillRect/>
            </a:stretch>
          </p:blipFill>
          <p:spPr bwMode="gray">
            <a:xfrm>
              <a:off x="2420" y="769"/>
              <a:ext cx="36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5" name="Oval 67"/>
            <p:cNvSpPr>
              <a:spLocks noChangeArrowheads="1"/>
            </p:cNvSpPr>
            <p:nvPr>
              <p:custDataLst>
                <p:tags r:id="rId21"/>
              </p:custDataLst>
            </p:nvPr>
          </p:nvSpPr>
          <p:spPr bwMode="auto">
            <a:xfrm>
              <a:off x="2259" y="744"/>
              <a:ext cx="697" cy="662"/>
            </a:xfrm>
            <a:prstGeom prst="ellipse">
              <a:avLst/>
            </a:prstGeom>
            <a:blipFill dpi="0" rotWithShape="1">
              <a:blip r:embed="rId30"/>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wrap="none" lIns="93276" tIns="46638" rIns="93276" bIns="46638" anchor="ctr"/>
            <a:lstStyle/>
            <a:p>
              <a:pPr defTabSz="933450"/>
              <a:endParaRPr lang="en-US" b="1"/>
            </a:p>
          </p:txBody>
        </p:sp>
      </p:grpSp>
      <p:grpSp>
        <p:nvGrpSpPr>
          <p:cNvPr id="13322" name="Group 43"/>
          <p:cNvGrpSpPr>
            <a:grpSpLocks/>
          </p:cNvGrpSpPr>
          <p:nvPr/>
        </p:nvGrpSpPr>
        <p:grpSpPr bwMode="auto">
          <a:xfrm>
            <a:off x="2514600" y="4902200"/>
            <a:ext cx="5697538" cy="1241425"/>
            <a:chOff x="1584" y="2958"/>
            <a:chExt cx="3589" cy="782"/>
          </a:xfrm>
        </p:grpSpPr>
        <p:sp>
          <p:nvSpPr>
            <p:cNvPr id="13332" name="AutoShape 15"/>
            <p:cNvSpPr>
              <a:spLocks noChangeArrowheads="1"/>
            </p:cNvSpPr>
            <p:nvPr>
              <p:custDataLst>
                <p:tags r:id="rId8"/>
              </p:custDataLst>
            </p:nvPr>
          </p:nvSpPr>
          <p:spPr bwMode="auto">
            <a:xfrm>
              <a:off x="1584" y="3071"/>
              <a:ext cx="3589" cy="457"/>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3276" tIns="46638" rIns="93276" bIns="46638" anchor="ctr"/>
            <a:lstStyle/>
            <a:p>
              <a:pPr defTabSz="933450"/>
              <a:endParaRPr lang="en-US" b="1"/>
            </a:p>
          </p:txBody>
        </p:sp>
        <p:sp>
          <p:nvSpPr>
            <p:cNvPr id="13333" name="Rectangle 45"/>
            <p:cNvSpPr>
              <a:spLocks noChangeArrowheads="1"/>
            </p:cNvSpPr>
            <p:nvPr>
              <p:custDataLst>
                <p:tags r:id="rId9"/>
              </p:custDataLst>
            </p:nvPr>
          </p:nvSpPr>
          <p:spPr bwMode="gray">
            <a:xfrm>
              <a:off x="1748" y="3174"/>
              <a:ext cx="243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defTabSz="1282700">
                <a:lnSpc>
                  <a:spcPct val="85000"/>
                </a:lnSpc>
                <a:buClr>
                  <a:schemeClr val="tx2"/>
                </a:buClr>
              </a:pPr>
              <a:r>
                <a:rPr lang="en-US" sz="2000">
                  <a:solidFill>
                    <a:schemeClr val="bg1"/>
                  </a:solidFill>
                </a:rPr>
                <a:t>More than </a:t>
              </a:r>
              <a:r>
                <a:rPr lang="en-US" sz="2900" b="1">
                  <a:solidFill>
                    <a:schemeClr val="bg1"/>
                  </a:solidFill>
                </a:rPr>
                <a:t>3 million</a:t>
              </a:r>
              <a:r>
                <a:rPr lang="en-US" sz="2000">
                  <a:solidFill>
                    <a:schemeClr val="bg1"/>
                  </a:solidFill>
                </a:rPr>
                <a:t> residents</a:t>
              </a:r>
              <a:endParaRPr lang="cs-CZ" sz="2000">
                <a:solidFill>
                  <a:schemeClr val="bg1"/>
                </a:solidFill>
              </a:endParaRPr>
            </a:p>
          </p:txBody>
        </p:sp>
        <p:sp>
          <p:nvSpPr>
            <p:cNvPr id="13334" name="Oval 91"/>
            <p:cNvSpPr>
              <a:spLocks noChangeArrowheads="1"/>
            </p:cNvSpPr>
            <p:nvPr>
              <p:custDataLst>
                <p:tags r:id="rId10"/>
              </p:custDataLst>
            </p:nvPr>
          </p:nvSpPr>
          <p:spPr bwMode="gray">
            <a:xfrm>
              <a:off x="4277" y="3525"/>
              <a:ext cx="815" cy="215"/>
            </a:xfrm>
            <a:prstGeom prst="ellipse">
              <a:avLst/>
            </a:prstGeom>
            <a:gradFill rotWithShape="1">
              <a:gsLst>
                <a:gs pos="0">
                  <a:srgbClr val="4D4D4D"/>
                </a:gs>
                <a:gs pos="100000">
                  <a:schemeClr val="accent1">
                    <a:alpha val="0"/>
                  </a:schemeClr>
                </a:gs>
              </a:gsLst>
              <a:path path="shape">
                <a:fillToRect l="50000" t="50000" r="50000" b="50000"/>
              </a:path>
            </a:gradFill>
            <a:ln>
              <a:noFill/>
            </a:ln>
            <a:extLst>
              <a:ext uri="{91240B29-F687-4F45-9708-019B960494DF}">
                <a14:hiddenLine xmlns:a14="http://schemas.microsoft.com/office/drawing/2010/main" w="19050">
                  <a:solidFill>
                    <a:srgbClr val="000000"/>
                  </a:solidFill>
                  <a:round/>
                  <a:headEnd/>
                  <a:tailEnd/>
                </a14:hiddenLine>
              </a:ext>
            </a:extLst>
          </p:spPr>
          <p:txBody>
            <a:bodyPr wrap="none" lIns="93272" tIns="46636" rIns="93272" bIns="46636" anchor="ctr"/>
            <a:lstStyle/>
            <a:p>
              <a:pPr defTabSz="933450"/>
              <a:endParaRPr lang="en-US" sz="2200" b="1"/>
            </a:p>
          </p:txBody>
        </p:sp>
        <p:sp>
          <p:nvSpPr>
            <p:cNvPr id="13335" name="Oval 92"/>
            <p:cNvSpPr>
              <a:spLocks noChangeArrowheads="1"/>
            </p:cNvSpPr>
            <p:nvPr>
              <p:custDataLst>
                <p:tags r:id="rId11"/>
              </p:custDataLst>
            </p:nvPr>
          </p:nvSpPr>
          <p:spPr bwMode="auto">
            <a:xfrm>
              <a:off x="4322" y="2968"/>
              <a:ext cx="701" cy="667"/>
            </a:xfrm>
            <a:prstGeom prst="ellipse">
              <a:avLst/>
            </a:prstGeom>
            <a:solidFill>
              <a:schemeClr val="accent2"/>
            </a:solidFill>
            <a:ln w="57150">
              <a:solidFill>
                <a:srgbClr val="DDDDDD"/>
              </a:solidFill>
              <a:round/>
              <a:headEnd/>
              <a:tailEnd/>
            </a:ln>
          </p:spPr>
          <p:txBody>
            <a:bodyPr wrap="none" lIns="93276" tIns="46638" rIns="93276" bIns="46638" anchor="ctr"/>
            <a:lstStyle/>
            <a:p>
              <a:pPr defTabSz="933450"/>
              <a:endParaRPr lang="en-US" sz="2200" b="1"/>
            </a:p>
          </p:txBody>
        </p:sp>
        <p:pic>
          <p:nvPicPr>
            <p:cNvPr id="13336" name="Picture 8"/>
            <p:cNvPicPr>
              <a:picLocks noChangeAspect="1" noChangeArrowheads="1"/>
            </p:cNvPicPr>
            <p:nvPr>
              <p:custDataLst>
                <p:tags r:id="rId12"/>
              </p:custDataLst>
            </p:nvPr>
          </p:nvPicPr>
          <p:blipFill>
            <a:blip r:embed="rId29">
              <a:extLst>
                <a:ext uri="{28A0092B-C50C-407E-A947-70E740481C1C}">
                  <a14:useLocalDpi xmlns:a14="http://schemas.microsoft.com/office/drawing/2010/main" val="0"/>
                </a:ext>
              </a:extLst>
            </a:blip>
            <a:srcRect/>
            <a:stretch>
              <a:fillRect/>
            </a:stretch>
          </p:blipFill>
          <p:spPr bwMode="gray">
            <a:xfrm>
              <a:off x="4498" y="2996"/>
              <a:ext cx="365"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7" name="Oval 95"/>
            <p:cNvSpPr>
              <a:spLocks noChangeArrowheads="1"/>
            </p:cNvSpPr>
            <p:nvPr>
              <p:custDataLst>
                <p:tags r:id="rId13"/>
              </p:custDataLst>
            </p:nvPr>
          </p:nvSpPr>
          <p:spPr bwMode="auto">
            <a:xfrm>
              <a:off x="4316" y="2958"/>
              <a:ext cx="721" cy="689"/>
            </a:xfrm>
            <a:prstGeom prst="ellipse">
              <a:avLst/>
            </a:prstGeom>
            <a:noFill/>
            <a:ln w="76200">
              <a:solidFill>
                <a:srgbClr val="DDDDDD">
                  <a:alpha val="50195"/>
                </a:srgbClr>
              </a:solidFill>
              <a:round/>
              <a:headEnd/>
              <a:tailEnd/>
            </a:ln>
            <a:extLst>
              <a:ext uri="{909E8E84-426E-40DD-AFC4-6F175D3DCCD1}">
                <a14:hiddenFill xmlns:a14="http://schemas.microsoft.com/office/drawing/2010/main">
                  <a:solidFill>
                    <a:srgbClr val="FFFFFF"/>
                  </a:solidFill>
                </a14:hiddenFill>
              </a:ext>
            </a:extLst>
          </p:spPr>
          <p:txBody>
            <a:bodyPr wrap="none" lIns="93276" tIns="46638" rIns="93276" bIns="46638" anchor="ctr"/>
            <a:lstStyle/>
            <a:p>
              <a:pPr defTabSz="933450"/>
              <a:endParaRPr lang="en-US" sz="2200" b="1"/>
            </a:p>
          </p:txBody>
        </p:sp>
        <p:sp>
          <p:nvSpPr>
            <p:cNvPr id="13338" name="Oval 78" descr="3 million people"/>
            <p:cNvSpPr>
              <a:spLocks noChangeArrowheads="1"/>
            </p:cNvSpPr>
            <p:nvPr>
              <p:custDataLst>
                <p:tags r:id="rId14"/>
              </p:custDataLst>
            </p:nvPr>
          </p:nvSpPr>
          <p:spPr bwMode="auto">
            <a:xfrm>
              <a:off x="4331" y="2972"/>
              <a:ext cx="697" cy="662"/>
            </a:xfrm>
            <a:prstGeom prst="ellipse">
              <a:avLst/>
            </a:prstGeom>
            <a:blipFill dpi="0" rotWithShape="1">
              <a:blip r:embed="rId31"/>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wrap="none" lIns="93276" tIns="46638" rIns="93276" bIns="46638" anchor="ctr"/>
            <a:lstStyle/>
            <a:p>
              <a:pPr defTabSz="933450"/>
              <a:endParaRPr lang="en-US" b="1"/>
            </a:p>
          </p:txBody>
        </p:sp>
      </p:grpSp>
      <p:grpSp>
        <p:nvGrpSpPr>
          <p:cNvPr id="13323" name="Group 46"/>
          <p:cNvGrpSpPr>
            <a:grpSpLocks/>
          </p:cNvGrpSpPr>
          <p:nvPr/>
        </p:nvGrpSpPr>
        <p:grpSpPr bwMode="auto">
          <a:xfrm>
            <a:off x="3362325" y="3660775"/>
            <a:ext cx="5429250" cy="1241425"/>
            <a:chOff x="2118" y="2306"/>
            <a:chExt cx="3420" cy="782"/>
          </a:xfrm>
        </p:grpSpPr>
        <p:sp>
          <p:nvSpPr>
            <p:cNvPr id="13324" name="AutoShape 13"/>
            <p:cNvSpPr>
              <a:spLocks noChangeArrowheads="1"/>
            </p:cNvSpPr>
            <p:nvPr>
              <p:custDataLst>
                <p:tags r:id="rId5"/>
              </p:custDataLst>
            </p:nvPr>
          </p:nvSpPr>
          <p:spPr bwMode="auto">
            <a:xfrm>
              <a:off x="2118" y="2433"/>
              <a:ext cx="3420" cy="457"/>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lIns="93276" tIns="46638" rIns="93276" bIns="46638" anchor="ctr"/>
            <a:lstStyle/>
            <a:p>
              <a:pPr defTabSz="933450"/>
              <a:endParaRPr lang="en-US" b="1"/>
            </a:p>
          </p:txBody>
        </p:sp>
        <p:sp>
          <p:nvSpPr>
            <p:cNvPr id="13325" name="Rectangle 58"/>
            <p:cNvSpPr>
              <a:spLocks noChangeArrowheads="1"/>
            </p:cNvSpPr>
            <p:nvPr>
              <p:custDataLst>
                <p:tags r:id="rId6"/>
              </p:custDataLst>
            </p:nvPr>
          </p:nvSpPr>
          <p:spPr bwMode="gray">
            <a:xfrm>
              <a:off x="3059" y="2513"/>
              <a:ext cx="2437"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defTabSz="1282700">
                <a:buClr>
                  <a:schemeClr val="tx2"/>
                </a:buClr>
              </a:pPr>
              <a:r>
                <a:rPr lang="en-US" sz="2900" b="1">
                  <a:solidFill>
                    <a:schemeClr val="bg1"/>
                  </a:solidFill>
                </a:rPr>
                <a:t>44</a:t>
              </a:r>
              <a:r>
                <a:rPr lang="en-US" sz="2900" b="1" baseline="30000">
                  <a:solidFill>
                    <a:schemeClr val="bg1"/>
                  </a:solidFill>
                </a:rPr>
                <a:t>th</a:t>
              </a:r>
              <a:r>
                <a:rPr lang="en-US" sz="2900" b="1">
                  <a:solidFill>
                    <a:schemeClr val="bg1"/>
                  </a:solidFill>
                </a:rPr>
                <a:t> largest </a:t>
              </a:r>
              <a:r>
                <a:rPr lang="en-US" sz="2000">
                  <a:solidFill>
                    <a:schemeClr val="bg1"/>
                  </a:solidFill>
                </a:rPr>
                <a:t>global economy</a:t>
              </a:r>
              <a:endParaRPr lang="cs-CZ" sz="2000">
                <a:solidFill>
                  <a:schemeClr val="bg1"/>
                </a:solidFill>
              </a:endParaRPr>
            </a:p>
          </p:txBody>
        </p:sp>
        <p:grpSp>
          <p:nvGrpSpPr>
            <p:cNvPr id="13326" name="Group 59"/>
            <p:cNvGrpSpPr>
              <a:grpSpLocks/>
            </p:cNvGrpSpPr>
            <p:nvPr/>
          </p:nvGrpSpPr>
          <p:grpSpPr bwMode="auto">
            <a:xfrm>
              <a:off x="2199" y="2306"/>
              <a:ext cx="814" cy="782"/>
              <a:chOff x="2519" y="1872"/>
              <a:chExt cx="814" cy="782"/>
            </a:xfrm>
          </p:grpSpPr>
          <p:sp>
            <p:nvSpPr>
              <p:cNvPr id="13327" name="Oval 6"/>
              <p:cNvSpPr>
                <a:spLocks noChangeArrowheads="1"/>
              </p:cNvSpPr>
              <p:nvPr>
                <p:custDataLst>
                  <p:tags r:id="rId7"/>
                </p:custDataLst>
              </p:nvPr>
            </p:nvSpPr>
            <p:spPr bwMode="gray">
              <a:xfrm>
                <a:off x="2519" y="2439"/>
                <a:ext cx="814" cy="215"/>
              </a:xfrm>
              <a:prstGeom prst="ellipse">
                <a:avLst/>
              </a:prstGeom>
              <a:gradFill rotWithShape="1">
                <a:gsLst>
                  <a:gs pos="0">
                    <a:srgbClr val="4D4D4D"/>
                  </a:gs>
                  <a:gs pos="100000">
                    <a:schemeClr val="accent1">
                      <a:alpha val="0"/>
                    </a:schemeClr>
                  </a:gs>
                </a:gsLst>
                <a:path path="shape">
                  <a:fillToRect l="50000" t="50000" r="50000" b="50000"/>
                </a:path>
              </a:gradFill>
              <a:ln>
                <a:noFill/>
              </a:ln>
              <a:extLst>
                <a:ext uri="{91240B29-F687-4F45-9708-019B960494DF}">
                  <a14:hiddenLine xmlns:a14="http://schemas.microsoft.com/office/drawing/2010/main" w="19050">
                    <a:solidFill>
                      <a:srgbClr val="000000"/>
                    </a:solidFill>
                    <a:round/>
                    <a:headEnd/>
                    <a:tailEnd/>
                  </a14:hiddenLine>
                </a:ext>
              </a:extLst>
            </p:spPr>
            <p:txBody>
              <a:bodyPr wrap="none" lIns="93272" tIns="46636" rIns="93272" bIns="46636" anchor="ctr"/>
              <a:lstStyle/>
              <a:p>
                <a:pPr defTabSz="933450"/>
                <a:endParaRPr lang="en-US" sz="2200" b="1"/>
              </a:p>
            </p:txBody>
          </p:sp>
          <p:sp>
            <p:nvSpPr>
              <p:cNvPr id="13328" name="Oval 10"/>
              <p:cNvSpPr>
                <a:spLocks noChangeArrowheads="1"/>
              </p:cNvSpPr>
              <p:nvPr/>
            </p:nvSpPr>
            <p:spPr bwMode="auto">
              <a:xfrm>
                <a:off x="2564" y="1882"/>
                <a:ext cx="701" cy="667"/>
              </a:xfrm>
              <a:prstGeom prst="ellipse">
                <a:avLst/>
              </a:prstGeom>
              <a:solidFill>
                <a:schemeClr val="accent2"/>
              </a:solidFill>
              <a:ln w="57150">
                <a:solidFill>
                  <a:srgbClr val="DDDDDD"/>
                </a:solidFill>
                <a:round/>
                <a:headEnd/>
                <a:tailEnd/>
              </a:ln>
            </p:spPr>
            <p:txBody>
              <a:bodyPr wrap="none" lIns="93276" tIns="46638" rIns="93276" bIns="46638" anchor="ctr"/>
              <a:lstStyle/>
              <a:p>
                <a:pPr defTabSz="933450"/>
                <a:endParaRPr lang="en-US" sz="2200" b="1"/>
              </a:p>
            </p:txBody>
          </p:sp>
          <p:pic>
            <p:nvPicPr>
              <p:cNvPr id="13329" name="Picture 113" descr="money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569" y="1884"/>
                <a:ext cx="697" cy="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0" name="Picture 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gray">
              <a:xfrm>
                <a:off x="2739" y="1909"/>
                <a:ext cx="365"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1" name="Oval 13"/>
              <p:cNvSpPr>
                <a:spLocks noChangeArrowheads="1"/>
              </p:cNvSpPr>
              <p:nvPr/>
            </p:nvSpPr>
            <p:spPr bwMode="auto">
              <a:xfrm>
                <a:off x="2558" y="1872"/>
                <a:ext cx="721" cy="690"/>
              </a:xfrm>
              <a:prstGeom prst="ellipse">
                <a:avLst/>
              </a:prstGeom>
              <a:noFill/>
              <a:ln w="76200">
                <a:solidFill>
                  <a:srgbClr val="DDDDDD">
                    <a:alpha val="50195"/>
                  </a:srgbClr>
                </a:solidFill>
                <a:round/>
                <a:headEnd/>
                <a:tailEnd/>
              </a:ln>
              <a:extLst>
                <a:ext uri="{909E8E84-426E-40DD-AFC4-6F175D3DCCD1}">
                  <a14:hiddenFill xmlns:a14="http://schemas.microsoft.com/office/drawing/2010/main">
                    <a:solidFill>
                      <a:srgbClr val="FFFFFF"/>
                    </a:solidFill>
                  </a14:hiddenFill>
                </a:ext>
              </a:extLst>
            </p:spPr>
            <p:txBody>
              <a:bodyPr wrap="none" lIns="93276" tIns="46638" rIns="93276" bIns="46638" anchor="ctr"/>
              <a:lstStyle/>
              <a:p>
                <a:pPr defTabSz="933450"/>
                <a:endParaRPr lang="en-US" sz="2200" b="1"/>
              </a:p>
            </p:txBody>
          </p:sp>
        </p:grpSp>
      </p:grpSp>
    </p:spTree>
    <p:extLst>
      <p:ext uri="{BB962C8B-B14F-4D97-AF65-F5344CB8AC3E}">
        <p14:creationId xmlns:p14="http://schemas.microsoft.com/office/powerpoint/2010/main" val="9537964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5667375" y="3346355"/>
            <a:ext cx="3238500" cy="1231106"/>
            <a:chOff x="5667375" y="3450976"/>
            <a:chExt cx="3238500" cy="1231106"/>
          </a:xfrm>
        </p:grpSpPr>
        <p:sp>
          <p:nvSpPr>
            <p:cNvPr id="18437" name="AutoShape 75"/>
            <p:cNvSpPr>
              <a:spLocks noChangeArrowheads="1"/>
            </p:cNvSpPr>
            <p:nvPr/>
          </p:nvSpPr>
          <p:spPr bwMode="auto">
            <a:xfrm>
              <a:off x="5667375" y="3454400"/>
              <a:ext cx="3238500" cy="1196975"/>
            </a:xfrm>
            <a:prstGeom prst="roundRect">
              <a:avLst>
                <a:gd name="adj" fmla="val 16667"/>
              </a:avLst>
            </a:prstGeom>
            <a:solidFill>
              <a:srgbClr val="6FD4E4"/>
            </a:solidFill>
            <a:ln>
              <a:noFill/>
            </a:ln>
            <a:extLst/>
          </p:spPr>
          <p:txBody>
            <a:bodyPr wrap="none" lIns="89583" tIns="44791" rIns="89583" bIns="44791" anchor="ctr"/>
            <a:lstStyle/>
            <a:p>
              <a:pPr algn="ctr"/>
              <a:endParaRPr lang="en-US" sz="1200">
                <a:solidFill>
                  <a:srgbClr val="040708"/>
                </a:solidFill>
              </a:endParaRPr>
            </a:p>
          </p:txBody>
        </p:sp>
        <p:sp>
          <p:nvSpPr>
            <p:cNvPr id="18444" name="Rectangle 15"/>
            <p:cNvSpPr>
              <a:spLocks noChangeArrowheads="1"/>
            </p:cNvSpPr>
            <p:nvPr>
              <p:custDataLst>
                <p:tags r:id="rId15"/>
              </p:custDataLst>
            </p:nvPr>
          </p:nvSpPr>
          <p:spPr bwMode="auto">
            <a:xfrm>
              <a:off x="6781800" y="3450976"/>
              <a:ext cx="2089150"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73038" lvl="1" indent="-171450" defTabSz="892175">
                <a:buSzPct val="125000"/>
                <a:buFont typeface="Knockout 49 Liteweight" pitchFamily="50" charset="0"/>
                <a:buChar char="&gt;"/>
              </a:pPr>
              <a:r>
                <a:rPr lang="en-US" sz="1600" b="1" dirty="0">
                  <a:solidFill>
                    <a:prstClr val="black"/>
                  </a:solidFill>
                  <a:latin typeface="+mj-lt"/>
                </a:rPr>
                <a:t>Corporate headquarters</a:t>
              </a:r>
            </a:p>
            <a:p>
              <a:pPr marL="173038" lvl="1" indent="-171450" defTabSz="892175">
                <a:buSzPct val="125000"/>
                <a:buFont typeface="Knockout 49 Liteweight" pitchFamily="50" charset="0"/>
                <a:buChar char="&gt;"/>
              </a:pPr>
              <a:r>
                <a:rPr lang="en-US" sz="1600" b="1" dirty="0">
                  <a:solidFill>
                    <a:prstClr val="black"/>
                  </a:solidFill>
                  <a:latin typeface="+mj-lt"/>
                </a:rPr>
                <a:t>Creative services </a:t>
              </a:r>
            </a:p>
            <a:p>
              <a:pPr marL="173038" lvl="1" indent="-171450" defTabSz="892175">
                <a:buSzPct val="125000"/>
                <a:buFont typeface="Knockout 49 Liteweight" pitchFamily="50" charset="0"/>
                <a:buChar char="&gt;"/>
              </a:pPr>
              <a:r>
                <a:rPr lang="en-US" sz="1600" b="1" dirty="0">
                  <a:solidFill>
                    <a:prstClr val="black"/>
                  </a:solidFill>
                  <a:latin typeface="+mj-lt"/>
                </a:rPr>
                <a:t>Professional services </a:t>
              </a:r>
            </a:p>
            <a:p>
              <a:pPr marL="173038" lvl="1" indent="-171450" defTabSz="892175">
                <a:buSzPct val="125000"/>
                <a:buFont typeface="Knockout 49 Liteweight" pitchFamily="50" charset="0"/>
                <a:buChar char="&gt;"/>
              </a:pPr>
              <a:r>
                <a:rPr lang="en-US" sz="1600" b="1" dirty="0">
                  <a:solidFill>
                    <a:prstClr val="black"/>
                  </a:solidFill>
                  <a:latin typeface="+mj-lt"/>
                </a:rPr>
                <a:t>Data centers</a:t>
              </a:r>
            </a:p>
          </p:txBody>
        </p:sp>
      </p:grpSp>
      <p:grpSp>
        <p:nvGrpSpPr>
          <p:cNvPr id="29" name="Group 28"/>
          <p:cNvGrpSpPr/>
          <p:nvPr/>
        </p:nvGrpSpPr>
        <p:grpSpPr>
          <a:xfrm>
            <a:off x="293212" y="3246592"/>
            <a:ext cx="2624614" cy="1336675"/>
            <a:chOff x="293212" y="3351213"/>
            <a:chExt cx="2624614" cy="1336675"/>
          </a:xfrm>
        </p:grpSpPr>
        <p:sp>
          <p:nvSpPr>
            <p:cNvPr id="18438" name="AutoShape 74"/>
            <p:cNvSpPr>
              <a:spLocks noChangeArrowheads="1"/>
            </p:cNvSpPr>
            <p:nvPr/>
          </p:nvSpPr>
          <p:spPr bwMode="auto">
            <a:xfrm>
              <a:off x="293212" y="3351213"/>
              <a:ext cx="2624614" cy="1336675"/>
            </a:xfrm>
            <a:prstGeom prst="roundRect">
              <a:avLst>
                <a:gd name="adj" fmla="val 16667"/>
              </a:avLst>
            </a:prstGeom>
            <a:solidFill>
              <a:srgbClr val="6FD4E4"/>
            </a:solidFill>
            <a:ln>
              <a:noFill/>
            </a:ln>
            <a:extLst/>
          </p:spPr>
          <p:txBody>
            <a:bodyPr wrap="none" lIns="89583" tIns="44791" rIns="89583" bIns="44791" anchor="ctr"/>
            <a:lstStyle/>
            <a:p>
              <a:pPr algn="ctr"/>
              <a:endParaRPr lang="en-US" sz="1200">
                <a:solidFill>
                  <a:srgbClr val="040708"/>
                </a:solidFill>
              </a:endParaRPr>
            </a:p>
          </p:txBody>
        </p:sp>
        <p:sp>
          <p:nvSpPr>
            <p:cNvPr id="18445" name="Rectangle 25"/>
            <p:cNvSpPr>
              <a:spLocks noChangeArrowheads="1"/>
            </p:cNvSpPr>
            <p:nvPr>
              <p:custDataLst>
                <p:tags r:id="rId14"/>
              </p:custDataLst>
            </p:nvPr>
          </p:nvSpPr>
          <p:spPr bwMode="auto">
            <a:xfrm>
              <a:off x="457200" y="3381221"/>
              <a:ext cx="14732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90500" lvl="1" indent="-188913" defTabSz="892175">
                <a:buSzPct val="125000"/>
                <a:buFont typeface="Knockout 49 Liteweight" pitchFamily="50" charset="0"/>
                <a:buChar char="&gt;"/>
              </a:pPr>
              <a:r>
                <a:rPr lang="en-US" sz="1400" b="1" dirty="0">
                  <a:solidFill>
                    <a:prstClr val="black"/>
                  </a:solidFill>
                  <a:latin typeface="+mj-lt"/>
                </a:rPr>
                <a:t>R&amp;D centers</a:t>
              </a:r>
            </a:p>
            <a:p>
              <a:pPr marL="190500" lvl="1" indent="-188913" defTabSz="892175">
                <a:buSzPct val="125000"/>
                <a:buFont typeface="Knockout 49 Liteweight" pitchFamily="50" charset="0"/>
                <a:buChar char="&gt;"/>
              </a:pPr>
              <a:r>
                <a:rPr lang="en-US" sz="1400" b="1" dirty="0">
                  <a:solidFill>
                    <a:prstClr val="black"/>
                  </a:solidFill>
                  <a:latin typeface="+mj-lt"/>
                </a:rPr>
                <a:t>Software/ IT</a:t>
              </a:r>
            </a:p>
            <a:p>
              <a:pPr marL="190500" lvl="1" indent="-188913" defTabSz="892175">
                <a:buSzPct val="125000"/>
                <a:buFont typeface="Knockout 49 Liteweight" pitchFamily="50" charset="0"/>
                <a:buChar char="&gt;"/>
              </a:pPr>
              <a:r>
                <a:rPr lang="en-US" sz="1400" b="1" dirty="0">
                  <a:solidFill>
                    <a:prstClr val="black"/>
                  </a:solidFill>
                  <a:latin typeface="+mj-lt"/>
                </a:rPr>
                <a:t>Advanced </a:t>
              </a:r>
              <a:br>
                <a:rPr lang="en-US" sz="1400" b="1" dirty="0">
                  <a:solidFill>
                    <a:prstClr val="black"/>
                  </a:solidFill>
                  <a:latin typeface="+mj-lt"/>
                </a:rPr>
              </a:br>
              <a:r>
                <a:rPr lang="en-US" sz="1400" b="1" dirty="0">
                  <a:solidFill>
                    <a:prstClr val="black"/>
                  </a:solidFill>
                  <a:latin typeface="+mj-lt"/>
                </a:rPr>
                <a:t>manufacturing  </a:t>
              </a:r>
            </a:p>
            <a:p>
              <a:pPr marL="190500" lvl="1" indent="-188913" defTabSz="892175">
                <a:buSzPct val="125000"/>
                <a:buFont typeface="Knockout 49 Liteweight" pitchFamily="50" charset="0"/>
                <a:buChar char="&gt;"/>
              </a:pPr>
              <a:r>
                <a:rPr lang="en-US" sz="1400" b="1" dirty="0">
                  <a:solidFill>
                    <a:prstClr val="black"/>
                  </a:solidFill>
                  <a:latin typeface="+mj-lt"/>
                </a:rPr>
                <a:t>Energy/</a:t>
              </a:r>
              <a:br>
                <a:rPr lang="en-US" sz="1400" b="1" dirty="0">
                  <a:solidFill>
                    <a:prstClr val="black"/>
                  </a:solidFill>
                  <a:latin typeface="+mj-lt"/>
                </a:rPr>
              </a:br>
              <a:r>
                <a:rPr lang="en-US" sz="1400" b="1" dirty="0">
                  <a:solidFill>
                    <a:prstClr val="black"/>
                  </a:solidFill>
                  <a:latin typeface="+mj-lt"/>
                </a:rPr>
                <a:t>renewables</a:t>
              </a:r>
            </a:p>
          </p:txBody>
        </p:sp>
      </p:grpSp>
      <p:sp>
        <p:nvSpPr>
          <p:cNvPr id="2" name="Title 1"/>
          <p:cNvSpPr>
            <a:spLocks noGrp="1"/>
          </p:cNvSpPr>
          <p:nvPr>
            <p:ph type="title"/>
          </p:nvPr>
        </p:nvSpPr>
        <p:spPr/>
        <p:txBody>
          <a:bodyPr>
            <a:normAutofit/>
          </a:bodyPr>
          <a:lstStyle/>
          <a:p>
            <a:pPr defTabSz="457056" eaLnBrk="1" fontAlgn="auto" hangingPunct="1">
              <a:spcAft>
                <a:spcPts val="0"/>
              </a:spcAft>
              <a:defRPr/>
            </a:pPr>
            <a:r>
              <a:rPr lang="en-US" sz="3200" dirty="0" smtClean="0">
                <a:solidFill>
                  <a:srgbClr val="332B2A"/>
                </a:solidFill>
                <a:latin typeface="+mj-lt"/>
                <a:ea typeface="+mj-ea"/>
              </a:rPr>
              <a:t>REGIONAL ASSETS OF STRENGTH</a:t>
            </a:r>
            <a:endParaRPr lang="en-US" sz="3200" dirty="0">
              <a:solidFill>
                <a:srgbClr val="332B2A"/>
              </a:solidFill>
              <a:latin typeface="+mj-lt"/>
              <a:ea typeface="+mj-ea"/>
            </a:endParaRPr>
          </a:p>
        </p:txBody>
      </p:sp>
      <p:sp>
        <p:nvSpPr>
          <p:cNvPr id="4" name="Footer Placeholder 3"/>
          <p:cNvSpPr>
            <a:spLocks noGrp="1"/>
          </p:cNvSpPr>
          <p:nvPr>
            <p:ph type="ftr" sz="quarter" idx="10"/>
          </p:nvPr>
        </p:nvSpPr>
        <p:spPr/>
        <p:txBody>
          <a:bodyPr/>
          <a:lstStyle/>
          <a:p>
            <a:pPr>
              <a:defRPr/>
            </a:pPr>
            <a:fld id="{D0100210-085B-4641-874A-9F5A59A863AB}" type="slidenum">
              <a:rPr lang="en-US">
                <a:solidFill>
                  <a:prstClr val="black">
                    <a:tint val="75000"/>
                  </a:prstClr>
                </a:solidFill>
              </a:rPr>
              <a:pPr>
                <a:defRPr/>
              </a:pPr>
              <a:t>4</a:t>
            </a:fld>
            <a:endParaRPr lang="en-US" dirty="0">
              <a:solidFill>
                <a:prstClr val="black">
                  <a:tint val="75000"/>
                </a:prstClr>
              </a:solidFill>
            </a:endParaRPr>
          </a:p>
        </p:txBody>
      </p:sp>
      <p:sp>
        <p:nvSpPr>
          <p:cNvPr id="18440" name="AutoShape 72"/>
          <p:cNvSpPr>
            <a:spLocks noChangeArrowheads="1"/>
          </p:cNvSpPr>
          <p:nvPr/>
        </p:nvSpPr>
        <p:spPr bwMode="auto">
          <a:xfrm>
            <a:off x="1066800" y="1700366"/>
            <a:ext cx="2763838" cy="1166813"/>
          </a:xfrm>
          <a:prstGeom prst="roundRect">
            <a:avLst>
              <a:gd name="adj" fmla="val 16667"/>
            </a:avLst>
          </a:prstGeom>
          <a:solidFill>
            <a:srgbClr val="6FD4E4"/>
          </a:solidFill>
          <a:ln>
            <a:noFill/>
          </a:ln>
          <a:extLst/>
        </p:spPr>
        <p:txBody>
          <a:bodyPr wrap="none" lIns="89583" tIns="44791" rIns="89583" bIns="44791" anchor="ctr"/>
          <a:lstStyle/>
          <a:p>
            <a:pPr algn="ctr"/>
            <a:endParaRPr lang="en-US" sz="1200">
              <a:solidFill>
                <a:srgbClr val="040708"/>
              </a:solidFill>
            </a:endParaRPr>
          </a:p>
        </p:txBody>
      </p:sp>
      <p:grpSp>
        <p:nvGrpSpPr>
          <p:cNvPr id="25" name="Group 24"/>
          <p:cNvGrpSpPr/>
          <p:nvPr/>
        </p:nvGrpSpPr>
        <p:grpSpPr>
          <a:xfrm>
            <a:off x="1887523" y="3074773"/>
            <a:ext cx="1720818" cy="1720818"/>
            <a:chOff x="1810090" y="3034867"/>
            <a:chExt cx="1942760" cy="1942760"/>
          </a:xfrm>
        </p:grpSpPr>
        <p:grpSp>
          <p:nvGrpSpPr>
            <p:cNvPr id="18" name="Group 17"/>
            <p:cNvGrpSpPr/>
            <p:nvPr/>
          </p:nvGrpSpPr>
          <p:grpSpPr>
            <a:xfrm>
              <a:off x="1810090" y="3034867"/>
              <a:ext cx="1942760" cy="1942760"/>
              <a:chOff x="1795463" y="3034867"/>
              <a:chExt cx="1942760" cy="1942760"/>
            </a:xfrm>
          </p:grpSpPr>
          <p:sp>
            <p:nvSpPr>
              <p:cNvPr id="82" name="Oval 81"/>
              <p:cNvSpPr/>
              <p:nvPr/>
            </p:nvSpPr>
            <p:spPr>
              <a:xfrm>
                <a:off x="1795463" y="3034867"/>
                <a:ext cx="1942760" cy="1942760"/>
              </a:xfrm>
              <a:prstGeom prst="ellipse">
                <a:avLst/>
              </a:prstGeom>
              <a:solidFill>
                <a:srgbClr val="CED64B">
                  <a:alpha val="69804"/>
                </a:srgbClr>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83" name="Picture 82"/>
              <p:cNvPicPr>
                <a:picLocks noChangeAspect="1"/>
              </p:cNvPicPr>
              <p:nvPr/>
            </p:nvPicPr>
            <p:blipFill rotWithShape="1">
              <a:blip r:embed="rId17" cstate="print">
                <a:extLst>
                  <a:ext uri="{28A0092B-C50C-407E-A947-70E740481C1C}">
                    <a14:useLocalDpi xmlns:a14="http://schemas.microsoft.com/office/drawing/2010/main" val="0"/>
                  </a:ext>
                </a:extLst>
              </a:blip>
              <a:srcRect l="29795" r="595"/>
              <a:stretch/>
            </p:blipFill>
            <p:spPr>
              <a:xfrm>
                <a:off x="1932823" y="3137440"/>
                <a:ext cx="1709574" cy="1725783"/>
              </a:xfrm>
              <a:prstGeom prst="ellipse">
                <a:avLst/>
              </a:prstGeom>
            </p:spPr>
          </p:pic>
        </p:grpSp>
        <p:sp>
          <p:nvSpPr>
            <p:cNvPr id="18481" name="Freeform 115"/>
            <p:cNvSpPr>
              <a:spLocks/>
            </p:cNvSpPr>
            <p:nvPr>
              <p:custDataLst>
                <p:tags r:id="rId12"/>
              </p:custDataLst>
            </p:nvPr>
          </p:nvSpPr>
          <p:spPr bwMode="gray">
            <a:xfrm>
              <a:off x="1974202" y="4281602"/>
              <a:ext cx="1594498" cy="581623"/>
            </a:xfrm>
            <a:custGeom>
              <a:avLst/>
              <a:gdLst>
                <a:gd name="T0" fmla="*/ 0 w 1172"/>
                <a:gd name="T1" fmla="*/ 0 h 430"/>
                <a:gd name="T2" fmla="*/ 106 w 1172"/>
                <a:gd name="T3" fmla="*/ 0 h 430"/>
                <a:gd name="T4" fmla="*/ 55 w 1172"/>
                <a:gd name="T5" fmla="*/ 29 h 430"/>
                <a:gd name="T6" fmla="*/ 0 w 1172"/>
                <a:gd name="T7" fmla="*/ 0 h 430"/>
                <a:gd name="T8" fmla="*/ 0 60000 65536"/>
                <a:gd name="T9" fmla="*/ 0 60000 65536"/>
                <a:gd name="T10" fmla="*/ 0 60000 65536"/>
                <a:gd name="T11" fmla="*/ 0 60000 65536"/>
                <a:gd name="T12" fmla="*/ 0 w 1172"/>
                <a:gd name="T13" fmla="*/ 0 h 430"/>
                <a:gd name="T14" fmla="*/ 1172 w 1172"/>
                <a:gd name="T15" fmla="*/ 430 h 430"/>
              </a:gdLst>
              <a:ahLst/>
              <a:cxnLst>
                <a:cxn ang="T8">
                  <a:pos x="T0" y="T1"/>
                </a:cxn>
                <a:cxn ang="T9">
                  <a:pos x="T2" y="T3"/>
                </a:cxn>
                <a:cxn ang="T10">
                  <a:pos x="T4" y="T5"/>
                </a:cxn>
                <a:cxn ang="T11">
                  <a:pos x="T6" y="T7"/>
                </a:cxn>
              </a:cxnLst>
              <a:rect l="T12" t="T13" r="T14" b="T15"/>
              <a:pathLst>
                <a:path w="1172" h="430">
                  <a:moveTo>
                    <a:pt x="0" y="0"/>
                  </a:moveTo>
                  <a:lnTo>
                    <a:pt x="1172" y="0"/>
                  </a:lnTo>
                  <a:cubicBezTo>
                    <a:pt x="1172" y="0"/>
                    <a:pt x="1050" y="412"/>
                    <a:pt x="588" y="430"/>
                  </a:cubicBezTo>
                  <a:cubicBezTo>
                    <a:pt x="100" y="422"/>
                    <a:pt x="0" y="0"/>
                    <a:pt x="0" y="0"/>
                  </a:cubicBezTo>
                  <a:close/>
                </a:path>
              </a:pathLst>
            </a:custGeom>
            <a:solidFill>
              <a:srgbClr val="000000">
                <a:alpha val="40000"/>
              </a:srgbClr>
            </a:solidFill>
            <a:ln>
              <a:noFill/>
            </a:ln>
            <a:extLst>
              <a:ext uri="{91240B29-F687-4F45-9708-019B960494DF}">
                <a14:hiddenLine xmlns:a14="http://schemas.microsoft.com/office/drawing/2010/main" w="19050" cmpd="sng">
                  <a:solidFill>
                    <a:srgbClr val="000000"/>
                  </a:solidFill>
                  <a:prstDash val="solid"/>
                  <a:round/>
                  <a:headEnd type="none" w="med" len="med"/>
                  <a:tailEnd type="none" w="med" len="med"/>
                </a14:hiddenLine>
              </a:ext>
            </a:extLst>
          </p:spPr>
          <p:txBody>
            <a:bodyPr/>
            <a:lstStyle/>
            <a:p>
              <a:endParaRPr lang="en-US">
                <a:solidFill>
                  <a:prstClr val="black"/>
                </a:solidFill>
              </a:endParaRPr>
            </a:p>
          </p:txBody>
        </p:sp>
        <p:sp>
          <p:nvSpPr>
            <p:cNvPr id="18482" name="Rectangle 116"/>
            <p:cNvSpPr>
              <a:spLocks noChangeArrowheads="1"/>
            </p:cNvSpPr>
            <p:nvPr>
              <p:custDataLst>
                <p:tags r:id="rId13"/>
              </p:custDataLst>
            </p:nvPr>
          </p:nvSpPr>
          <p:spPr bwMode="gray">
            <a:xfrm>
              <a:off x="2083434" y="4324160"/>
              <a:ext cx="1394476" cy="34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defTabSz="874713">
                <a:lnSpc>
                  <a:spcPts val="1200"/>
                </a:lnSpc>
              </a:pPr>
              <a:r>
                <a:rPr lang="en-GB" sz="1600" b="1" dirty="0">
                  <a:solidFill>
                    <a:prstClr val="white"/>
                  </a:solidFill>
                  <a:latin typeface="+mj-lt"/>
                </a:rPr>
                <a:t>Innovation &amp; Technology</a:t>
              </a:r>
            </a:p>
          </p:txBody>
        </p:sp>
      </p:grpSp>
      <p:grpSp>
        <p:nvGrpSpPr>
          <p:cNvPr id="20" name="Group 19"/>
          <p:cNvGrpSpPr/>
          <p:nvPr/>
        </p:nvGrpSpPr>
        <p:grpSpPr>
          <a:xfrm>
            <a:off x="4911571" y="3130550"/>
            <a:ext cx="1720818" cy="1720818"/>
            <a:chOff x="4800600" y="3124200"/>
            <a:chExt cx="1942760" cy="1942760"/>
          </a:xfrm>
        </p:grpSpPr>
        <p:grpSp>
          <p:nvGrpSpPr>
            <p:cNvPr id="12" name="Group 11"/>
            <p:cNvGrpSpPr/>
            <p:nvPr/>
          </p:nvGrpSpPr>
          <p:grpSpPr>
            <a:xfrm>
              <a:off x="4800600" y="3124200"/>
              <a:ext cx="1942760" cy="1942760"/>
              <a:chOff x="4800600" y="3124200"/>
              <a:chExt cx="1942760" cy="1942760"/>
            </a:xfrm>
          </p:grpSpPr>
          <p:sp>
            <p:nvSpPr>
              <p:cNvPr id="75" name="Oval 74"/>
              <p:cNvSpPr/>
              <p:nvPr/>
            </p:nvSpPr>
            <p:spPr>
              <a:xfrm>
                <a:off x="4800600" y="3124200"/>
                <a:ext cx="1942760" cy="1942760"/>
              </a:xfrm>
              <a:prstGeom prst="ellipse">
                <a:avLst/>
              </a:prstGeom>
              <a:solidFill>
                <a:srgbClr val="CED64B">
                  <a:alpha val="69804"/>
                </a:srgbClr>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76" name="Picture 75"/>
              <p:cNvPicPr>
                <a:picLocks noChangeAspect="1"/>
              </p:cNvPicPr>
              <p:nvPr/>
            </p:nvPicPr>
            <p:blipFill rotWithShape="1">
              <a:blip r:embed="rId18" cstate="print">
                <a:extLst>
                  <a:ext uri="{28A0092B-C50C-407E-A947-70E740481C1C}">
                    <a14:useLocalDpi xmlns:a14="http://schemas.microsoft.com/office/drawing/2010/main" val="0"/>
                  </a:ext>
                </a:extLst>
              </a:blip>
              <a:srcRect l="15657" t="-736" r="15657" b="-1765"/>
              <a:stretch/>
            </p:blipFill>
            <p:spPr>
              <a:xfrm>
                <a:off x="4917193" y="3255208"/>
                <a:ext cx="1709574" cy="1697792"/>
              </a:xfrm>
              <a:prstGeom prst="ellipse">
                <a:avLst/>
              </a:prstGeom>
            </p:spPr>
          </p:pic>
        </p:grpSp>
        <p:sp>
          <p:nvSpPr>
            <p:cNvPr id="18474" name="Freeform 131"/>
            <p:cNvSpPr>
              <a:spLocks/>
            </p:cNvSpPr>
            <p:nvPr>
              <p:custDataLst>
                <p:tags r:id="rId10"/>
              </p:custDataLst>
            </p:nvPr>
          </p:nvSpPr>
          <p:spPr bwMode="gray">
            <a:xfrm>
              <a:off x="4978400" y="4410191"/>
              <a:ext cx="1587500" cy="542809"/>
            </a:xfrm>
            <a:custGeom>
              <a:avLst/>
              <a:gdLst>
                <a:gd name="T0" fmla="*/ 0 w 1172"/>
                <a:gd name="T1" fmla="*/ 0 h 430"/>
                <a:gd name="T2" fmla="*/ 89 w 1172"/>
                <a:gd name="T3" fmla="*/ 0 h 430"/>
                <a:gd name="T4" fmla="*/ 44 w 1172"/>
                <a:gd name="T5" fmla="*/ 7 h 430"/>
                <a:gd name="T6" fmla="*/ 0 w 1172"/>
                <a:gd name="T7" fmla="*/ 0 h 430"/>
                <a:gd name="T8" fmla="*/ 0 60000 65536"/>
                <a:gd name="T9" fmla="*/ 0 60000 65536"/>
                <a:gd name="T10" fmla="*/ 0 60000 65536"/>
                <a:gd name="T11" fmla="*/ 0 60000 65536"/>
                <a:gd name="T12" fmla="*/ 0 w 1172"/>
                <a:gd name="T13" fmla="*/ 0 h 430"/>
                <a:gd name="T14" fmla="*/ 1172 w 1172"/>
                <a:gd name="T15" fmla="*/ 430 h 430"/>
              </a:gdLst>
              <a:ahLst/>
              <a:cxnLst>
                <a:cxn ang="T8">
                  <a:pos x="T0" y="T1"/>
                </a:cxn>
                <a:cxn ang="T9">
                  <a:pos x="T2" y="T3"/>
                </a:cxn>
                <a:cxn ang="T10">
                  <a:pos x="T4" y="T5"/>
                </a:cxn>
                <a:cxn ang="T11">
                  <a:pos x="T6" y="T7"/>
                </a:cxn>
              </a:cxnLst>
              <a:rect l="T12" t="T13" r="T14" b="T15"/>
              <a:pathLst>
                <a:path w="1172" h="430">
                  <a:moveTo>
                    <a:pt x="0" y="0"/>
                  </a:moveTo>
                  <a:lnTo>
                    <a:pt x="1172" y="0"/>
                  </a:lnTo>
                  <a:cubicBezTo>
                    <a:pt x="1172" y="0"/>
                    <a:pt x="1050" y="412"/>
                    <a:pt x="588" y="430"/>
                  </a:cubicBezTo>
                  <a:cubicBezTo>
                    <a:pt x="100" y="422"/>
                    <a:pt x="0" y="0"/>
                    <a:pt x="0" y="0"/>
                  </a:cubicBezTo>
                  <a:close/>
                </a:path>
              </a:pathLst>
            </a:custGeom>
            <a:solidFill>
              <a:srgbClr val="000000">
                <a:alpha val="40000"/>
              </a:srgbClr>
            </a:solidFill>
            <a:ln>
              <a:noFill/>
            </a:ln>
            <a:extLst>
              <a:ext uri="{91240B29-F687-4F45-9708-019B960494DF}">
                <a14:hiddenLine xmlns:a14="http://schemas.microsoft.com/office/drawing/2010/main" w="19050" cmpd="sng">
                  <a:solidFill>
                    <a:srgbClr val="000000"/>
                  </a:solidFill>
                  <a:prstDash val="solid"/>
                  <a:round/>
                  <a:headEnd type="none" w="med" len="med"/>
                  <a:tailEnd type="none" w="med" len="med"/>
                </a14:hiddenLine>
              </a:ext>
            </a:extLst>
          </p:spPr>
          <p:txBody>
            <a:bodyPr/>
            <a:lstStyle/>
            <a:p>
              <a:endParaRPr lang="en-US">
                <a:solidFill>
                  <a:prstClr val="black"/>
                </a:solidFill>
              </a:endParaRPr>
            </a:p>
          </p:txBody>
        </p:sp>
        <p:sp>
          <p:nvSpPr>
            <p:cNvPr id="18475" name="Rectangle 132"/>
            <p:cNvSpPr>
              <a:spLocks noChangeArrowheads="1"/>
            </p:cNvSpPr>
            <p:nvPr>
              <p:custDataLst>
                <p:tags r:id="rId11"/>
              </p:custDataLst>
            </p:nvPr>
          </p:nvSpPr>
          <p:spPr bwMode="gray">
            <a:xfrm>
              <a:off x="5073724" y="4465118"/>
              <a:ext cx="1395637" cy="53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defTabSz="874713">
                <a:lnSpc>
                  <a:spcPts val="1200"/>
                </a:lnSpc>
              </a:pPr>
              <a:r>
                <a:rPr lang="en-GB" sz="1600" b="1" dirty="0">
                  <a:solidFill>
                    <a:prstClr val="white"/>
                  </a:solidFill>
                  <a:latin typeface="+mj-lt"/>
                </a:rPr>
                <a:t>Headquarters </a:t>
              </a:r>
              <a:r>
                <a:rPr lang="en-GB" sz="1600" b="1" dirty="0" smtClean="0">
                  <a:solidFill>
                    <a:prstClr val="white"/>
                  </a:solidFill>
                  <a:latin typeface="+mj-lt"/>
                </a:rPr>
                <a:t/>
              </a:r>
              <a:br>
                <a:rPr lang="en-GB" sz="1600" b="1" dirty="0" smtClean="0">
                  <a:solidFill>
                    <a:prstClr val="white"/>
                  </a:solidFill>
                  <a:latin typeface="+mj-lt"/>
                </a:rPr>
              </a:br>
              <a:r>
                <a:rPr lang="en-GB" sz="1600" b="1" dirty="0" smtClean="0">
                  <a:solidFill>
                    <a:prstClr val="white"/>
                  </a:solidFill>
                  <a:latin typeface="+mj-lt"/>
                </a:rPr>
                <a:t>&amp; </a:t>
              </a:r>
              <a:r>
                <a:rPr lang="en-GB" sz="1600" b="1" dirty="0">
                  <a:solidFill>
                    <a:prstClr val="white"/>
                  </a:solidFill>
                  <a:latin typeface="+mj-lt"/>
                </a:rPr>
                <a:t>Business </a:t>
              </a:r>
              <a:r>
                <a:rPr lang="en-GB" sz="1600" b="1" dirty="0" smtClean="0">
                  <a:solidFill>
                    <a:prstClr val="white"/>
                  </a:solidFill>
                  <a:latin typeface="+mj-lt"/>
                </a:rPr>
                <a:t/>
              </a:r>
              <a:br>
                <a:rPr lang="en-GB" sz="1600" b="1" dirty="0" smtClean="0">
                  <a:solidFill>
                    <a:prstClr val="white"/>
                  </a:solidFill>
                  <a:latin typeface="+mj-lt"/>
                </a:rPr>
              </a:br>
              <a:r>
                <a:rPr lang="en-GB" sz="1600" b="1" dirty="0" smtClean="0">
                  <a:solidFill>
                    <a:prstClr val="white"/>
                  </a:solidFill>
                  <a:latin typeface="+mj-lt"/>
                </a:rPr>
                <a:t>Services</a:t>
              </a:r>
              <a:endParaRPr lang="en-GB" sz="1600" b="1" dirty="0">
                <a:solidFill>
                  <a:prstClr val="white"/>
                </a:solidFill>
                <a:latin typeface="+mj-lt"/>
              </a:endParaRPr>
            </a:p>
          </p:txBody>
        </p:sp>
      </p:grpSp>
      <p:sp>
        <p:nvSpPr>
          <p:cNvPr id="18446" name="Rectangle 29"/>
          <p:cNvSpPr>
            <a:spLocks noChangeArrowheads="1"/>
          </p:cNvSpPr>
          <p:nvPr>
            <p:custDataLst>
              <p:tags r:id="rId1"/>
            </p:custDataLst>
          </p:nvPr>
        </p:nvSpPr>
        <p:spPr bwMode="auto">
          <a:xfrm>
            <a:off x="1219200" y="1807208"/>
            <a:ext cx="11303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90500" lvl="1" indent="-188913" defTabSz="892175">
              <a:buSzPct val="125000"/>
              <a:buFont typeface="Knockout 49 Liteweight" pitchFamily="50" charset="0"/>
              <a:buChar char="&gt;"/>
            </a:pPr>
            <a:r>
              <a:rPr lang="en-US" sz="1600" b="1" dirty="0">
                <a:solidFill>
                  <a:prstClr val="black"/>
                </a:solidFill>
                <a:latin typeface="+mj-lt"/>
              </a:rPr>
              <a:t>Financial advisory </a:t>
            </a:r>
          </a:p>
          <a:p>
            <a:pPr marL="190500" lvl="1" indent="-188913" defTabSz="892175">
              <a:buSzPct val="125000"/>
              <a:buFont typeface="Knockout 49 Liteweight" pitchFamily="50" charset="0"/>
              <a:buChar char="&gt;"/>
            </a:pPr>
            <a:r>
              <a:rPr lang="en-US" sz="1600" b="1" dirty="0">
                <a:solidFill>
                  <a:prstClr val="black"/>
                </a:solidFill>
                <a:latin typeface="+mj-lt"/>
              </a:rPr>
              <a:t>Banking</a:t>
            </a:r>
          </a:p>
          <a:p>
            <a:pPr marL="190500" lvl="1" indent="-188913" defTabSz="892175">
              <a:buSzPct val="125000"/>
              <a:buFont typeface="Knockout 49 Liteweight" pitchFamily="50" charset="0"/>
              <a:buChar char="&gt;"/>
            </a:pPr>
            <a:r>
              <a:rPr lang="en-US" sz="1600" b="1" dirty="0">
                <a:solidFill>
                  <a:prstClr val="black"/>
                </a:solidFill>
                <a:latin typeface="+mj-lt"/>
              </a:rPr>
              <a:t>Insurance</a:t>
            </a:r>
          </a:p>
        </p:txBody>
      </p:sp>
      <p:grpSp>
        <p:nvGrpSpPr>
          <p:cNvPr id="26" name="Group 25"/>
          <p:cNvGrpSpPr/>
          <p:nvPr/>
        </p:nvGrpSpPr>
        <p:grpSpPr>
          <a:xfrm>
            <a:off x="5554663" y="1700367"/>
            <a:ext cx="3528015" cy="1166812"/>
            <a:chOff x="5554662" y="1804988"/>
            <a:chExt cx="3221924" cy="1166812"/>
          </a:xfrm>
        </p:grpSpPr>
        <p:sp>
          <p:nvSpPr>
            <p:cNvPr id="18439" name="AutoShape 73"/>
            <p:cNvSpPr>
              <a:spLocks noChangeArrowheads="1"/>
            </p:cNvSpPr>
            <p:nvPr/>
          </p:nvSpPr>
          <p:spPr bwMode="auto">
            <a:xfrm>
              <a:off x="5554662" y="1804988"/>
              <a:ext cx="3028950" cy="1166812"/>
            </a:xfrm>
            <a:prstGeom prst="roundRect">
              <a:avLst>
                <a:gd name="adj" fmla="val 16667"/>
              </a:avLst>
            </a:prstGeom>
            <a:solidFill>
              <a:srgbClr val="6FD4E4"/>
            </a:solidFill>
            <a:ln>
              <a:noFill/>
            </a:ln>
            <a:extLst/>
          </p:spPr>
          <p:txBody>
            <a:bodyPr wrap="none" lIns="89583" tIns="44791" rIns="89583" bIns="44791" anchor="ctr"/>
            <a:lstStyle/>
            <a:p>
              <a:pPr algn="ctr"/>
              <a:endParaRPr lang="en-US" sz="1200">
                <a:solidFill>
                  <a:srgbClr val="040708"/>
                </a:solidFill>
              </a:endParaRPr>
            </a:p>
          </p:txBody>
        </p:sp>
        <p:sp>
          <p:nvSpPr>
            <p:cNvPr id="18447" name="Rectangle 10"/>
            <p:cNvSpPr>
              <a:spLocks noChangeArrowheads="1"/>
            </p:cNvSpPr>
            <p:nvPr>
              <p:custDataLst>
                <p:tags r:id="rId9"/>
              </p:custDataLst>
            </p:nvPr>
          </p:nvSpPr>
          <p:spPr bwMode="auto">
            <a:xfrm>
              <a:off x="6395336" y="1895951"/>
              <a:ext cx="238125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73038" lvl="1" indent="-171450" defTabSz="892175">
                <a:buSzPct val="125000"/>
                <a:buFont typeface="Knockout 49 Liteweight" pitchFamily="50" charset="0"/>
                <a:buChar char="&gt;"/>
              </a:pPr>
              <a:r>
                <a:rPr lang="en-US" sz="1600" b="1" dirty="0">
                  <a:solidFill>
                    <a:prstClr val="black"/>
                  </a:solidFill>
                  <a:latin typeface="+mj-lt"/>
                </a:rPr>
                <a:t>Bio tech</a:t>
              </a:r>
            </a:p>
            <a:p>
              <a:pPr marL="173038" lvl="1" indent="-171450" defTabSz="892175">
                <a:buSzPct val="125000"/>
                <a:buFont typeface="Knockout 49 Liteweight" pitchFamily="50" charset="0"/>
                <a:buChar char="&gt;"/>
              </a:pPr>
              <a:r>
                <a:rPr lang="en-US" sz="1600" b="1" dirty="0">
                  <a:solidFill>
                    <a:prstClr val="black"/>
                  </a:solidFill>
                  <a:latin typeface="+mj-lt"/>
                </a:rPr>
                <a:t>Healthcare </a:t>
              </a:r>
              <a:r>
                <a:rPr lang="en-US" sz="1600" b="1" dirty="0" smtClean="0">
                  <a:solidFill>
                    <a:prstClr val="black"/>
                  </a:solidFill>
                  <a:latin typeface="+mj-lt"/>
                </a:rPr>
                <a:t>providers</a:t>
              </a:r>
              <a:endParaRPr lang="en-US" sz="1600" b="1" dirty="0">
                <a:solidFill>
                  <a:prstClr val="black"/>
                </a:solidFill>
                <a:latin typeface="+mj-lt"/>
              </a:endParaRPr>
            </a:p>
            <a:p>
              <a:pPr marL="173038" lvl="1" indent="-171450" defTabSz="892175">
                <a:buSzPct val="125000"/>
                <a:buFont typeface="Knockout 49 Liteweight" pitchFamily="50" charset="0"/>
                <a:buChar char="&gt;"/>
              </a:pPr>
              <a:r>
                <a:rPr lang="en-US" sz="1600" b="1" dirty="0">
                  <a:solidFill>
                    <a:prstClr val="black"/>
                  </a:solidFill>
                  <a:latin typeface="+mj-lt"/>
                </a:rPr>
                <a:t>Healthcare </a:t>
              </a:r>
              <a:r>
                <a:rPr lang="en-US" sz="1600" b="1" dirty="0" smtClean="0">
                  <a:solidFill>
                    <a:prstClr val="black"/>
                  </a:solidFill>
                  <a:latin typeface="+mj-lt"/>
                </a:rPr>
                <a:t>payers </a:t>
              </a:r>
              <a:r>
                <a:rPr lang="en-US" sz="1600" b="1" dirty="0">
                  <a:solidFill>
                    <a:prstClr val="black"/>
                  </a:solidFill>
                  <a:latin typeface="+mj-lt"/>
                </a:rPr>
                <a:t>and IT</a:t>
              </a:r>
            </a:p>
            <a:p>
              <a:pPr marL="173038" lvl="1" indent="-171450" defTabSz="892175">
                <a:buSzPct val="125000"/>
                <a:buFont typeface="Knockout 49 Liteweight" pitchFamily="50" charset="0"/>
                <a:buChar char="&gt;"/>
              </a:pPr>
              <a:r>
                <a:rPr lang="en-US" sz="1600" b="1" dirty="0">
                  <a:solidFill>
                    <a:prstClr val="black"/>
                  </a:solidFill>
                  <a:latin typeface="+mj-lt"/>
                </a:rPr>
                <a:t>Medical devices </a:t>
              </a:r>
            </a:p>
          </p:txBody>
        </p:sp>
      </p:grpSp>
      <p:grpSp>
        <p:nvGrpSpPr>
          <p:cNvPr id="28" name="Group 27"/>
          <p:cNvGrpSpPr/>
          <p:nvPr/>
        </p:nvGrpSpPr>
        <p:grpSpPr>
          <a:xfrm>
            <a:off x="1676400" y="5123017"/>
            <a:ext cx="5257800" cy="782637"/>
            <a:chOff x="1676400" y="5227638"/>
            <a:chExt cx="5257800" cy="782637"/>
          </a:xfrm>
        </p:grpSpPr>
        <p:sp>
          <p:nvSpPr>
            <p:cNvPr id="18436" name="AutoShape 76"/>
            <p:cNvSpPr>
              <a:spLocks noChangeArrowheads="1"/>
            </p:cNvSpPr>
            <p:nvPr/>
          </p:nvSpPr>
          <p:spPr bwMode="auto">
            <a:xfrm>
              <a:off x="1676400" y="5227638"/>
              <a:ext cx="5106987" cy="782637"/>
            </a:xfrm>
            <a:prstGeom prst="roundRect">
              <a:avLst>
                <a:gd name="adj" fmla="val 16667"/>
              </a:avLst>
            </a:prstGeom>
            <a:solidFill>
              <a:srgbClr val="6FD4E4"/>
            </a:solidFill>
            <a:ln>
              <a:noFill/>
            </a:ln>
            <a:extLst/>
          </p:spPr>
          <p:txBody>
            <a:bodyPr wrap="none" lIns="89583" tIns="44791" rIns="89583" bIns="44791" anchor="ctr"/>
            <a:lstStyle/>
            <a:p>
              <a:pPr algn="ctr"/>
              <a:endParaRPr lang="en-US" sz="1200">
                <a:solidFill>
                  <a:srgbClr val="040708"/>
                </a:solidFill>
              </a:endParaRPr>
            </a:p>
          </p:txBody>
        </p:sp>
        <p:sp>
          <p:nvSpPr>
            <p:cNvPr id="18443" name="Rectangle 20"/>
            <p:cNvSpPr>
              <a:spLocks noChangeArrowheads="1"/>
            </p:cNvSpPr>
            <p:nvPr>
              <p:custDataLst>
                <p:tags r:id="rId8"/>
              </p:custDataLst>
            </p:nvPr>
          </p:nvSpPr>
          <p:spPr bwMode="auto">
            <a:xfrm>
              <a:off x="1852612" y="5368925"/>
              <a:ext cx="16192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90500" lvl="1" indent="-188913" defTabSz="892175">
                <a:buSzPct val="125000"/>
                <a:buFont typeface="Knockout 49 Liteweight" pitchFamily="50" charset="0"/>
                <a:buChar char="&gt;"/>
              </a:pPr>
              <a:r>
                <a:rPr lang="en-US" sz="1600" b="1" dirty="0" smtClean="0">
                  <a:solidFill>
                    <a:prstClr val="black"/>
                  </a:solidFill>
                  <a:latin typeface="+mj-lt"/>
                </a:rPr>
                <a:t>Food processors</a:t>
              </a:r>
              <a:endParaRPr lang="en-US" sz="1600" b="1" dirty="0">
                <a:solidFill>
                  <a:prstClr val="black"/>
                </a:solidFill>
                <a:latin typeface="+mj-lt"/>
              </a:endParaRPr>
            </a:p>
            <a:p>
              <a:pPr marL="190500" lvl="1" indent="-188913" defTabSz="892175">
                <a:buSzPct val="125000"/>
                <a:buFont typeface="Knockout 49 Liteweight" pitchFamily="50" charset="0"/>
                <a:buChar char="&gt;"/>
              </a:pPr>
              <a:r>
                <a:rPr lang="en-US" sz="1600" b="1" dirty="0" smtClean="0">
                  <a:solidFill>
                    <a:prstClr val="black"/>
                  </a:solidFill>
                  <a:latin typeface="+mj-lt"/>
                </a:rPr>
                <a:t>Food production</a:t>
              </a:r>
              <a:endParaRPr lang="en-US" sz="1600" dirty="0">
                <a:solidFill>
                  <a:prstClr val="black"/>
                </a:solidFill>
                <a:latin typeface="+mj-lt"/>
              </a:endParaRPr>
            </a:p>
          </p:txBody>
        </p:sp>
        <p:sp>
          <p:nvSpPr>
            <p:cNvPr id="18448" name="Text Box 78"/>
            <p:cNvSpPr txBox="1">
              <a:spLocks noChangeArrowheads="1"/>
            </p:cNvSpPr>
            <p:nvPr/>
          </p:nvSpPr>
          <p:spPr bwMode="auto">
            <a:xfrm>
              <a:off x="4654550" y="5286221"/>
              <a:ext cx="2279650" cy="582891"/>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9572" tIns="44787" rIns="89572" bIns="44787">
              <a:spAutoFit/>
            </a:bodyPr>
            <a:lstStyle>
              <a:lvl1pPr marL="342900" indent="-342900" defTabSz="893763" eaLnBrk="0" hangingPunct="0">
                <a:defRPr>
                  <a:solidFill>
                    <a:schemeClr val="tx1"/>
                  </a:solidFill>
                  <a:latin typeface="Arial" pitchFamily="34" charset="0"/>
                  <a:cs typeface="Arial" pitchFamily="34" charset="0"/>
                </a:defRPr>
              </a:lvl1pPr>
              <a:lvl2pPr marL="625475" indent="-168275" defTabSz="893763" eaLnBrk="0" hangingPunct="0">
                <a:defRPr>
                  <a:solidFill>
                    <a:schemeClr val="tx1"/>
                  </a:solidFill>
                  <a:latin typeface="Arial" pitchFamily="34" charset="0"/>
                  <a:cs typeface="Arial" pitchFamily="34" charset="0"/>
                </a:defRPr>
              </a:lvl2pPr>
              <a:lvl3pPr marL="1143000" indent="-228600" defTabSz="893763" eaLnBrk="0" hangingPunct="0">
                <a:defRPr>
                  <a:solidFill>
                    <a:schemeClr val="tx1"/>
                  </a:solidFill>
                  <a:latin typeface="Arial" pitchFamily="34" charset="0"/>
                  <a:cs typeface="Arial" pitchFamily="34" charset="0"/>
                </a:defRPr>
              </a:lvl3pPr>
              <a:lvl4pPr marL="1600200" indent="-228600" defTabSz="893763" eaLnBrk="0" hangingPunct="0">
                <a:defRPr>
                  <a:solidFill>
                    <a:schemeClr val="tx1"/>
                  </a:solidFill>
                  <a:latin typeface="Arial" pitchFamily="34" charset="0"/>
                  <a:cs typeface="Arial" pitchFamily="34" charset="0"/>
                </a:defRPr>
              </a:lvl4pPr>
              <a:lvl5pPr marL="2057400" indent="-228600" defTabSz="893763" eaLnBrk="0" hangingPunct="0">
                <a:defRPr>
                  <a:solidFill>
                    <a:schemeClr val="tx1"/>
                  </a:solidFill>
                  <a:latin typeface="Arial" pitchFamily="34" charset="0"/>
                  <a:cs typeface="Arial" pitchFamily="34" charset="0"/>
                </a:defRPr>
              </a:lvl5pPr>
              <a:lvl6pPr marL="2514600" indent="-228600" defTabSz="89376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89376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89376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893763" eaLnBrk="0" fontAlgn="base" hangingPunct="0">
                <a:spcBef>
                  <a:spcPct val="0"/>
                </a:spcBef>
                <a:spcAft>
                  <a:spcPct val="0"/>
                </a:spcAft>
                <a:defRPr>
                  <a:solidFill>
                    <a:schemeClr val="tx1"/>
                  </a:solidFill>
                  <a:latin typeface="Arial" pitchFamily="34" charset="0"/>
                  <a:cs typeface="Arial" pitchFamily="34" charset="0"/>
                </a:defRPr>
              </a:lvl9pPr>
            </a:lstStyle>
            <a:p>
              <a:pPr marL="628650" lvl="1" indent="-171450" eaLnBrk="1" hangingPunct="1">
                <a:buSzPct val="125000"/>
                <a:buFont typeface="Knockout 49 Liteweight" pitchFamily="50" charset="0"/>
                <a:buChar char="&gt;"/>
              </a:pPr>
              <a:r>
                <a:rPr lang="en-US" sz="1600" b="1" dirty="0">
                  <a:solidFill>
                    <a:prstClr val="black"/>
                  </a:solidFill>
                  <a:latin typeface="+mj-lt"/>
                </a:rPr>
                <a:t>Agrichemicals</a:t>
              </a:r>
            </a:p>
            <a:p>
              <a:pPr marL="628650" lvl="1" indent="-171450" eaLnBrk="1" hangingPunct="1">
                <a:buSzPct val="125000"/>
                <a:buFont typeface="Knockout 49 Liteweight" pitchFamily="50" charset="0"/>
                <a:buChar char="&gt;"/>
              </a:pPr>
              <a:r>
                <a:rPr lang="en-US" sz="1600" b="1" dirty="0">
                  <a:solidFill>
                    <a:prstClr val="black"/>
                  </a:solidFill>
                  <a:latin typeface="+mj-lt"/>
                </a:rPr>
                <a:t>Seed </a:t>
              </a:r>
              <a:r>
                <a:rPr lang="en-US" sz="1600" b="1" dirty="0" smtClean="0">
                  <a:solidFill>
                    <a:prstClr val="black"/>
                  </a:solidFill>
                  <a:latin typeface="+mj-lt"/>
                </a:rPr>
                <a:t>production</a:t>
              </a:r>
              <a:endParaRPr lang="en-US" sz="1600" b="1" dirty="0">
                <a:solidFill>
                  <a:prstClr val="black"/>
                </a:solidFill>
                <a:latin typeface="+mj-lt"/>
              </a:endParaRPr>
            </a:p>
          </p:txBody>
        </p:sp>
      </p:grpSp>
      <p:grpSp>
        <p:nvGrpSpPr>
          <p:cNvPr id="23" name="Group 22"/>
          <p:cNvGrpSpPr/>
          <p:nvPr/>
        </p:nvGrpSpPr>
        <p:grpSpPr>
          <a:xfrm>
            <a:off x="2473170" y="1371600"/>
            <a:ext cx="1720817" cy="1720818"/>
            <a:chOff x="2362200" y="1365250"/>
            <a:chExt cx="1942760" cy="1942760"/>
          </a:xfrm>
        </p:grpSpPr>
        <p:grpSp>
          <p:nvGrpSpPr>
            <p:cNvPr id="22" name="Group 21"/>
            <p:cNvGrpSpPr/>
            <p:nvPr/>
          </p:nvGrpSpPr>
          <p:grpSpPr>
            <a:xfrm>
              <a:off x="2362200" y="1365250"/>
              <a:ext cx="1942760" cy="1942760"/>
              <a:chOff x="2362200" y="1365250"/>
              <a:chExt cx="1942760" cy="1942760"/>
            </a:xfrm>
          </p:grpSpPr>
          <p:sp>
            <p:nvSpPr>
              <p:cNvPr id="68" name="Oval 67"/>
              <p:cNvSpPr/>
              <p:nvPr/>
            </p:nvSpPr>
            <p:spPr>
              <a:xfrm>
                <a:off x="2362200" y="1365250"/>
                <a:ext cx="1942760" cy="1942760"/>
              </a:xfrm>
              <a:prstGeom prst="ellipse">
                <a:avLst/>
              </a:prstGeom>
              <a:solidFill>
                <a:srgbClr val="CED64B">
                  <a:alpha val="69804"/>
                </a:srgbClr>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9" name="Picture 8"/>
              <p:cNvPicPr>
                <a:picLocks noChangeAspect="1"/>
              </p:cNvPicPr>
              <p:nvPr/>
            </p:nvPicPr>
            <p:blipFill rotWithShape="1">
              <a:blip r:embed="rId19" cstate="print">
                <a:extLst>
                  <a:ext uri="{28A0092B-C50C-407E-A947-70E740481C1C}">
                    <a14:useLocalDpi xmlns:a14="http://schemas.microsoft.com/office/drawing/2010/main" val="0"/>
                  </a:ext>
                </a:extLst>
              </a:blip>
              <a:srcRect l="14741" r="14311"/>
              <a:stretch/>
            </p:blipFill>
            <p:spPr>
              <a:xfrm>
                <a:off x="2500765" y="1489010"/>
                <a:ext cx="1689079" cy="1709574"/>
              </a:xfrm>
              <a:prstGeom prst="roundRect">
                <a:avLst>
                  <a:gd name="adj" fmla="val 50000"/>
                </a:avLst>
              </a:prstGeom>
            </p:spPr>
          </p:pic>
        </p:grpSp>
        <p:sp>
          <p:nvSpPr>
            <p:cNvPr id="18467" name="Freeform 107"/>
            <p:cNvSpPr>
              <a:spLocks/>
            </p:cNvSpPr>
            <p:nvPr>
              <p:custDataLst>
                <p:tags r:id="rId6"/>
              </p:custDataLst>
            </p:nvPr>
          </p:nvSpPr>
          <p:spPr bwMode="gray">
            <a:xfrm>
              <a:off x="2530261" y="2617902"/>
              <a:ext cx="1595825" cy="581623"/>
            </a:xfrm>
            <a:custGeom>
              <a:avLst/>
              <a:gdLst>
                <a:gd name="T0" fmla="*/ 0 w 1124"/>
                <a:gd name="T1" fmla="*/ 0 h 410"/>
                <a:gd name="T2" fmla="*/ 1124 w 1124"/>
                <a:gd name="T3" fmla="*/ 0 h 410"/>
                <a:gd name="T4" fmla="*/ 564 w 1124"/>
                <a:gd name="T5" fmla="*/ 410 h 410"/>
                <a:gd name="T6" fmla="*/ 0 w 1124"/>
                <a:gd name="T7" fmla="*/ 0 h 410"/>
                <a:gd name="T8" fmla="*/ 0 60000 65536"/>
                <a:gd name="T9" fmla="*/ 0 60000 65536"/>
                <a:gd name="T10" fmla="*/ 0 60000 65536"/>
                <a:gd name="T11" fmla="*/ 0 60000 65536"/>
                <a:gd name="T12" fmla="*/ 0 w 1124"/>
                <a:gd name="T13" fmla="*/ 0 h 410"/>
                <a:gd name="T14" fmla="*/ 1124 w 1124"/>
                <a:gd name="T15" fmla="*/ 410 h 410"/>
              </a:gdLst>
              <a:ahLst/>
              <a:cxnLst>
                <a:cxn ang="T8">
                  <a:pos x="T0" y="T1"/>
                </a:cxn>
                <a:cxn ang="T9">
                  <a:pos x="T2" y="T3"/>
                </a:cxn>
                <a:cxn ang="T10">
                  <a:pos x="T4" y="T5"/>
                </a:cxn>
                <a:cxn ang="T11">
                  <a:pos x="T6" y="T7"/>
                </a:cxn>
              </a:cxnLst>
              <a:rect l="T12" t="T13" r="T14" b="T15"/>
              <a:pathLst>
                <a:path w="1124" h="410">
                  <a:moveTo>
                    <a:pt x="0" y="0"/>
                  </a:moveTo>
                  <a:lnTo>
                    <a:pt x="1124" y="0"/>
                  </a:lnTo>
                  <a:cubicBezTo>
                    <a:pt x="1124" y="0"/>
                    <a:pt x="1046" y="378"/>
                    <a:pt x="564" y="410"/>
                  </a:cubicBezTo>
                  <a:cubicBezTo>
                    <a:pt x="92" y="386"/>
                    <a:pt x="0" y="0"/>
                    <a:pt x="0" y="0"/>
                  </a:cubicBezTo>
                  <a:close/>
                </a:path>
              </a:pathLst>
            </a:custGeom>
            <a:solidFill>
              <a:srgbClr val="000000">
                <a:alpha val="40000"/>
              </a:srgbClr>
            </a:solidFill>
            <a:ln>
              <a:noFill/>
            </a:ln>
            <a:extLst>
              <a:ext uri="{91240B29-F687-4F45-9708-019B960494DF}">
                <a14:hiddenLine xmlns:a14="http://schemas.microsoft.com/office/drawing/2010/main" w="19050" cmpd="sng">
                  <a:solidFill>
                    <a:srgbClr val="000000"/>
                  </a:solidFill>
                  <a:prstDash val="solid"/>
                  <a:round/>
                  <a:headEnd type="none" w="med" len="med"/>
                  <a:tailEnd type="none" w="med" len="med"/>
                </a14:hiddenLine>
              </a:ext>
            </a:extLst>
          </p:spPr>
          <p:txBody>
            <a:bodyPr/>
            <a:lstStyle/>
            <a:p>
              <a:endParaRPr lang="en-US">
                <a:solidFill>
                  <a:prstClr val="black"/>
                </a:solidFill>
              </a:endParaRPr>
            </a:p>
          </p:txBody>
        </p:sp>
        <p:sp>
          <p:nvSpPr>
            <p:cNvPr id="18468" name="Rectangle 108"/>
            <p:cNvSpPr>
              <a:spLocks noChangeArrowheads="1"/>
            </p:cNvSpPr>
            <p:nvPr>
              <p:custDataLst>
                <p:tags r:id="rId7"/>
              </p:custDataLst>
            </p:nvPr>
          </p:nvSpPr>
          <p:spPr bwMode="gray">
            <a:xfrm>
              <a:off x="2530262" y="2569640"/>
              <a:ext cx="1689077" cy="365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874713">
                <a:lnSpc>
                  <a:spcPts val="1200"/>
                </a:lnSpc>
              </a:pPr>
              <a:r>
                <a:rPr lang="en-GB" sz="1600" b="1" dirty="0" smtClean="0">
                  <a:solidFill>
                    <a:prstClr val="white"/>
                  </a:solidFill>
                  <a:effectLst>
                    <a:outerShdw blurRad="38100" dist="38100" dir="2700000" algn="tl">
                      <a:srgbClr val="000000">
                        <a:alpha val="43137"/>
                      </a:srgbClr>
                    </a:outerShdw>
                  </a:effectLst>
                  <a:latin typeface="+mj-lt"/>
                </a:rPr>
                <a:t>Financial Services</a:t>
              </a:r>
            </a:p>
            <a:p>
              <a:pPr algn="ctr" defTabSz="874713">
                <a:lnSpc>
                  <a:spcPts val="1200"/>
                </a:lnSpc>
              </a:pPr>
              <a:r>
                <a:rPr lang="en-GB" sz="1600" b="1" dirty="0" smtClean="0">
                  <a:solidFill>
                    <a:prstClr val="white"/>
                  </a:solidFill>
                  <a:effectLst>
                    <a:outerShdw blurRad="38100" dist="38100" dir="2700000" algn="tl">
                      <a:srgbClr val="000000">
                        <a:alpha val="43137"/>
                      </a:srgbClr>
                    </a:outerShdw>
                  </a:effectLst>
                  <a:latin typeface="+mj-lt"/>
                </a:rPr>
                <a:t>&amp; Insurance </a:t>
              </a:r>
              <a:endParaRPr lang="en-GB" sz="1600" b="1" dirty="0">
                <a:solidFill>
                  <a:prstClr val="white"/>
                </a:solidFill>
                <a:effectLst>
                  <a:outerShdw blurRad="38100" dist="38100" dir="2700000" algn="tl">
                    <a:srgbClr val="000000">
                      <a:alpha val="43137"/>
                    </a:srgbClr>
                  </a:outerShdw>
                </a:effectLst>
                <a:latin typeface="+mj-lt"/>
              </a:endParaRPr>
            </a:p>
          </p:txBody>
        </p:sp>
      </p:grpSp>
      <p:grpSp>
        <p:nvGrpSpPr>
          <p:cNvPr id="21" name="Group 20"/>
          <p:cNvGrpSpPr/>
          <p:nvPr/>
        </p:nvGrpSpPr>
        <p:grpSpPr>
          <a:xfrm>
            <a:off x="4530571" y="1377950"/>
            <a:ext cx="1720818" cy="1720818"/>
            <a:chOff x="4419600" y="1371600"/>
            <a:chExt cx="1942760" cy="1942760"/>
          </a:xfrm>
        </p:grpSpPr>
        <p:grpSp>
          <p:nvGrpSpPr>
            <p:cNvPr id="11" name="Group 10"/>
            <p:cNvGrpSpPr/>
            <p:nvPr/>
          </p:nvGrpSpPr>
          <p:grpSpPr>
            <a:xfrm>
              <a:off x="4419600" y="1371600"/>
              <a:ext cx="1942760" cy="1942760"/>
              <a:chOff x="4419600" y="1371600"/>
              <a:chExt cx="1942760" cy="1942760"/>
            </a:xfrm>
          </p:grpSpPr>
          <p:sp>
            <p:nvSpPr>
              <p:cNvPr id="71" name="Oval 70"/>
              <p:cNvSpPr/>
              <p:nvPr/>
            </p:nvSpPr>
            <p:spPr>
              <a:xfrm>
                <a:off x="4419600" y="1371600"/>
                <a:ext cx="1942760" cy="1942760"/>
              </a:xfrm>
              <a:prstGeom prst="ellipse">
                <a:avLst/>
              </a:prstGeom>
              <a:solidFill>
                <a:srgbClr val="CED64B">
                  <a:alpha val="69804"/>
                </a:srgbClr>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72" name="Picture 71"/>
              <p:cNvPicPr>
                <a:picLocks noChangeAspect="1"/>
              </p:cNvPicPr>
              <p:nvPr/>
            </p:nvPicPr>
            <p:blipFill rotWithShape="1">
              <a:blip r:embed="rId20">
                <a:extLst>
                  <a:ext uri="{28A0092B-C50C-407E-A947-70E740481C1C}">
                    <a14:useLocalDpi xmlns:a14="http://schemas.microsoft.com/office/drawing/2010/main" val="0"/>
                  </a:ext>
                </a:extLst>
              </a:blip>
              <a:srcRect l="1362" t="1155" r="38575" b="8186"/>
              <a:stretch/>
            </p:blipFill>
            <p:spPr>
              <a:xfrm>
                <a:off x="4536193" y="1488191"/>
                <a:ext cx="1709574" cy="1712209"/>
              </a:xfrm>
              <a:prstGeom prst="ellipse">
                <a:avLst/>
              </a:prstGeom>
            </p:spPr>
          </p:pic>
        </p:grpSp>
        <p:sp>
          <p:nvSpPr>
            <p:cNvPr id="18461" name="Freeform 135"/>
            <p:cNvSpPr>
              <a:spLocks/>
            </p:cNvSpPr>
            <p:nvPr>
              <p:custDataLst>
                <p:tags r:id="rId4"/>
              </p:custDataLst>
            </p:nvPr>
          </p:nvSpPr>
          <p:spPr bwMode="gray">
            <a:xfrm>
              <a:off x="4598195" y="2652827"/>
              <a:ext cx="1590674" cy="547573"/>
            </a:xfrm>
            <a:custGeom>
              <a:avLst/>
              <a:gdLst>
                <a:gd name="T0" fmla="*/ 0 w 1172"/>
                <a:gd name="T1" fmla="*/ 0 h 430"/>
                <a:gd name="T2" fmla="*/ 47 w 1172"/>
                <a:gd name="T3" fmla="*/ 0 h 430"/>
                <a:gd name="T4" fmla="*/ 24 w 1172"/>
                <a:gd name="T5" fmla="*/ 7 h 430"/>
                <a:gd name="T6" fmla="*/ 0 w 1172"/>
                <a:gd name="T7" fmla="*/ 0 h 430"/>
                <a:gd name="T8" fmla="*/ 0 60000 65536"/>
                <a:gd name="T9" fmla="*/ 0 60000 65536"/>
                <a:gd name="T10" fmla="*/ 0 60000 65536"/>
                <a:gd name="T11" fmla="*/ 0 60000 65536"/>
                <a:gd name="T12" fmla="*/ 0 w 1172"/>
                <a:gd name="T13" fmla="*/ 0 h 430"/>
                <a:gd name="T14" fmla="*/ 1172 w 1172"/>
                <a:gd name="T15" fmla="*/ 430 h 430"/>
              </a:gdLst>
              <a:ahLst/>
              <a:cxnLst>
                <a:cxn ang="T8">
                  <a:pos x="T0" y="T1"/>
                </a:cxn>
                <a:cxn ang="T9">
                  <a:pos x="T2" y="T3"/>
                </a:cxn>
                <a:cxn ang="T10">
                  <a:pos x="T4" y="T5"/>
                </a:cxn>
                <a:cxn ang="T11">
                  <a:pos x="T6" y="T7"/>
                </a:cxn>
              </a:cxnLst>
              <a:rect l="T12" t="T13" r="T14" b="T15"/>
              <a:pathLst>
                <a:path w="1172" h="430">
                  <a:moveTo>
                    <a:pt x="0" y="0"/>
                  </a:moveTo>
                  <a:lnTo>
                    <a:pt x="1172" y="0"/>
                  </a:lnTo>
                  <a:cubicBezTo>
                    <a:pt x="1172" y="0"/>
                    <a:pt x="1050" y="412"/>
                    <a:pt x="588" y="430"/>
                  </a:cubicBezTo>
                  <a:cubicBezTo>
                    <a:pt x="100" y="422"/>
                    <a:pt x="0" y="0"/>
                    <a:pt x="0" y="0"/>
                  </a:cubicBezTo>
                  <a:close/>
                </a:path>
              </a:pathLst>
            </a:custGeom>
            <a:solidFill>
              <a:srgbClr val="000000">
                <a:alpha val="40000"/>
              </a:srgbClr>
            </a:solidFill>
            <a:ln>
              <a:noFill/>
            </a:ln>
            <a:extLst>
              <a:ext uri="{91240B29-F687-4F45-9708-019B960494DF}">
                <a14:hiddenLine xmlns:a14="http://schemas.microsoft.com/office/drawing/2010/main" w="19050" cmpd="sng">
                  <a:solidFill>
                    <a:srgbClr val="000000"/>
                  </a:solidFill>
                  <a:prstDash val="solid"/>
                  <a:round/>
                  <a:headEnd type="none" w="med" len="med"/>
                  <a:tailEnd type="none" w="med" len="med"/>
                </a14:hiddenLine>
              </a:ext>
            </a:extLst>
          </p:spPr>
          <p:txBody>
            <a:bodyPr/>
            <a:lstStyle/>
            <a:p>
              <a:endParaRPr lang="en-US">
                <a:solidFill>
                  <a:prstClr val="black"/>
                </a:solidFill>
              </a:endParaRPr>
            </a:p>
          </p:txBody>
        </p:sp>
        <p:sp>
          <p:nvSpPr>
            <p:cNvPr id="18463" name="Rectangle 139"/>
            <p:cNvSpPr>
              <a:spLocks noChangeArrowheads="1"/>
            </p:cNvSpPr>
            <p:nvPr>
              <p:custDataLst>
                <p:tags r:id="rId5"/>
              </p:custDataLst>
            </p:nvPr>
          </p:nvSpPr>
          <p:spPr bwMode="gray">
            <a:xfrm>
              <a:off x="4672149" y="2724061"/>
              <a:ext cx="1394476" cy="365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defTabSz="874713">
                <a:lnSpc>
                  <a:spcPts val="1200"/>
                </a:lnSpc>
              </a:pPr>
              <a:r>
                <a:rPr lang="en-GB" sz="1600" b="1" dirty="0">
                  <a:solidFill>
                    <a:prstClr val="white"/>
                  </a:solidFill>
                  <a:latin typeface="+mj-lt"/>
                </a:rPr>
                <a:t>Health &amp;</a:t>
              </a:r>
              <a:r>
                <a:rPr lang="en-GB" sz="1600" b="1" dirty="0" smtClean="0">
                  <a:solidFill>
                    <a:prstClr val="white"/>
                  </a:solidFill>
                  <a:latin typeface="+mj-lt"/>
                </a:rPr>
                <a:t> </a:t>
              </a:r>
              <a:r>
                <a:rPr lang="en-GB" sz="1600" b="1" dirty="0">
                  <a:solidFill>
                    <a:prstClr val="white"/>
                  </a:solidFill>
                  <a:latin typeface="+mj-lt"/>
                </a:rPr>
                <a:t>Life Sciences</a:t>
              </a:r>
            </a:p>
          </p:txBody>
        </p:sp>
      </p:grpSp>
      <p:grpSp>
        <p:nvGrpSpPr>
          <p:cNvPr id="19" name="Group 18"/>
          <p:cNvGrpSpPr/>
          <p:nvPr/>
        </p:nvGrpSpPr>
        <p:grpSpPr>
          <a:xfrm>
            <a:off x="3384582" y="4118161"/>
            <a:ext cx="1720818" cy="1720818"/>
            <a:chOff x="3218922" y="4052093"/>
            <a:chExt cx="1942760" cy="1942760"/>
          </a:xfrm>
        </p:grpSpPr>
        <p:grpSp>
          <p:nvGrpSpPr>
            <p:cNvPr id="15" name="Group 14"/>
            <p:cNvGrpSpPr/>
            <p:nvPr/>
          </p:nvGrpSpPr>
          <p:grpSpPr>
            <a:xfrm>
              <a:off x="3218922" y="4052093"/>
              <a:ext cx="1942760" cy="1942760"/>
              <a:chOff x="3218922" y="4052093"/>
              <a:chExt cx="1942760" cy="1942760"/>
            </a:xfrm>
          </p:grpSpPr>
          <p:sp>
            <p:nvSpPr>
              <p:cNvPr id="79" name="Oval 78"/>
              <p:cNvSpPr/>
              <p:nvPr/>
            </p:nvSpPr>
            <p:spPr>
              <a:xfrm>
                <a:off x="3218922" y="4052093"/>
                <a:ext cx="1942760" cy="1942760"/>
              </a:xfrm>
              <a:prstGeom prst="ellipse">
                <a:avLst/>
              </a:prstGeom>
              <a:solidFill>
                <a:srgbClr val="CED64B">
                  <a:alpha val="69804"/>
                </a:srgbClr>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80" name="Picture 79"/>
              <p:cNvPicPr>
                <a:picLocks noChangeAspect="1"/>
              </p:cNvPicPr>
              <p:nvPr/>
            </p:nvPicPr>
            <p:blipFill rotWithShape="1">
              <a:blip r:embed="rId21" cstate="print">
                <a:extLst>
                  <a:ext uri="{28A0092B-C50C-407E-A947-70E740481C1C}">
                    <a14:useLocalDpi xmlns:a14="http://schemas.microsoft.com/office/drawing/2010/main" val="0"/>
                  </a:ext>
                </a:extLst>
              </a:blip>
              <a:srcRect l="16725" t="-308" r="16725" b="-1"/>
              <a:stretch/>
            </p:blipFill>
            <p:spPr>
              <a:xfrm>
                <a:off x="3335515" y="4163427"/>
                <a:ext cx="1709574" cy="1714831"/>
              </a:xfrm>
              <a:prstGeom prst="ellipse">
                <a:avLst/>
              </a:prstGeom>
            </p:spPr>
          </p:pic>
        </p:grpSp>
        <p:sp>
          <p:nvSpPr>
            <p:cNvPr id="18454" name="Freeform 123"/>
            <p:cNvSpPr>
              <a:spLocks/>
            </p:cNvSpPr>
            <p:nvPr>
              <p:custDataLst>
                <p:tags r:id="rId2"/>
              </p:custDataLst>
            </p:nvPr>
          </p:nvSpPr>
          <p:spPr bwMode="gray">
            <a:xfrm>
              <a:off x="3375714" y="5292838"/>
              <a:ext cx="1624666" cy="585420"/>
            </a:xfrm>
            <a:custGeom>
              <a:avLst/>
              <a:gdLst>
                <a:gd name="T0" fmla="*/ 0 w 1124"/>
                <a:gd name="T1" fmla="*/ 0 h 410"/>
                <a:gd name="T2" fmla="*/ 1124 w 1124"/>
                <a:gd name="T3" fmla="*/ 0 h 410"/>
                <a:gd name="T4" fmla="*/ 564 w 1124"/>
                <a:gd name="T5" fmla="*/ 410 h 410"/>
                <a:gd name="T6" fmla="*/ 0 w 1124"/>
                <a:gd name="T7" fmla="*/ 0 h 410"/>
                <a:gd name="T8" fmla="*/ 0 60000 65536"/>
                <a:gd name="T9" fmla="*/ 0 60000 65536"/>
                <a:gd name="T10" fmla="*/ 0 60000 65536"/>
                <a:gd name="T11" fmla="*/ 0 60000 65536"/>
                <a:gd name="T12" fmla="*/ 0 w 1124"/>
                <a:gd name="T13" fmla="*/ 0 h 410"/>
                <a:gd name="T14" fmla="*/ 1124 w 1124"/>
                <a:gd name="T15" fmla="*/ 410 h 410"/>
              </a:gdLst>
              <a:ahLst/>
              <a:cxnLst>
                <a:cxn ang="T8">
                  <a:pos x="T0" y="T1"/>
                </a:cxn>
                <a:cxn ang="T9">
                  <a:pos x="T2" y="T3"/>
                </a:cxn>
                <a:cxn ang="T10">
                  <a:pos x="T4" y="T5"/>
                </a:cxn>
                <a:cxn ang="T11">
                  <a:pos x="T6" y="T7"/>
                </a:cxn>
              </a:cxnLst>
              <a:rect l="T12" t="T13" r="T14" b="T15"/>
              <a:pathLst>
                <a:path w="1124" h="410">
                  <a:moveTo>
                    <a:pt x="0" y="0"/>
                  </a:moveTo>
                  <a:lnTo>
                    <a:pt x="1124" y="0"/>
                  </a:lnTo>
                  <a:cubicBezTo>
                    <a:pt x="1124" y="0"/>
                    <a:pt x="1002" y="396"/>
                    <a:pt x="564" y="410"/>
                  </a:cubicBezTo>
                  <a:cubicBezTo>
                    <a:pt x="102" y="398"/>
                    <a:pt x="0" y="0"/>
                    <a:pt x="0" y="0"/>
                  </a:cubicBezTo>
                  <a:close/>
                </a:path>
              </a:pathLst>
            </a:custGeom>
            <a:solidFill>
              <a:srgbClr val="000000">
                <a:alpha val="40000"/>
              </a:srgbClr>
            </a:solidFill>
            <a:ln>
              <a:noFill/>
            </a:ln>
            <a:extLst>
              <a:ext uri="{91240B29-F687-4F45-9708-019B960494DF}">
                <a14:hiddenLine xmlns:a14="http://schemas.microsoft.com/office/drawing/2010/main" w="19050" cmpd="sng">
                  <a:solidFill>
                    <a:srgbClr val="000000"/>
                  </a:solidFill>
                  <a:prstDash val="solid"/>
                  <a:round/>
                  <a:headEnd type="none" w="med" len="med"/>
                  <a:tailEnd type="none" w="med" len="med"/>
                </a14:hiddenLine>
              </a:ext>
            </a:extLst>
          </p:spPr>
          <p:txBody>
            <a:bodyPr/>
            <a:lstStyle/>
            <a:p>
              <a:endParaRPr lang="en-US">
                <a:solidFill>
                  <a:prstClr val="black"/>
                </a:solidFill>
              </a:endParaRPr>
            </a:p>
          </p:txBody>
        </p:sp>
        <p:sp>
          <p:nvSpPr>
            <p:cNvPr id="18455" name="Rectangle 124"/>
            <p:cNvSpPr>
              <a:spLocks noChangeArrowheads="1"/>
            </p:cNvSpPr>
            <p:nvPr>
              <p:custDataLst>
                <p:tags r:id="rId3"/>
              </p:custDataLst>
            </p:nvPr>
          </p:nvSpPr>
          <p:spPr bwMode="gray">
            <a:xfrm>
              <a:off x="3490041" y="5392658"/>
              <a:ext cx="1395637" cy="365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defTabSz="874713">
                <a:lnSpc>
                  <a:spcPts val="1200"/>
                </a:lnSpc>
              </a:pPr>
              <a:r>
                <a:rPr lang="en-GB" sz="1600" b="1" dirty="0" smtClean="0">
                  <a:solidFill>
                    <a:prstClr val="white"/>
                  </a:solidFill>
                  <a:latin typeface="+mj-lt"/>
                </a:rPr>
                <a:t>Food &amp; Agribusiness</a:t>
              </a:r>
              <a:endParaRPr lang="en-GB" sz="1600" b="1" dirty="0">
                <a:solidFill>
                  <a:prstClr val="white"/>
                </a:solidFill>
                <a:latin typeface="+mj-lt"/>
              </a:endParaRPr>
            </a:p>
          </p:txBody>
        </p:sp>
      </p:grpSp>
    </p:spTree>
    <p:extLst>
      <p:ext uri="{BB962C8B-B14F-4D97-AF65-F5344CB8AC3E}">
        <p14:creationId xmlns:p14="http://schemas.microsoft.com/office/powerpoint/2010/main" val="115278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8440"/>
                                        </p:tgtEl>
                                        <p:attrNameLst>
                                          <p:attrName>style.visibility</p:attrName>
                                        </p:attrNameLst>
                                      </p:cBhvr>
                                      <p:to>
                                        <p:strVal val="visible"/>
                                      </p:to>
                                    </p:set>
                                    <p:animEffect transition="in" filter="fade">
                                      <p:cBhvr>
                                        <p:cTn id="35" dur="500"/>
                                        <p:tgtEl>
                                          <p:spTgt spid="18440"/>
                                        </p:tgtEl>
                                      </p:cBhvr>
                                    </p:animEffect>
                                  </p:childTnLst>
                                </p:cTn>
                              </p:par>
                              <p:par>
                                <p:cTn id="36" presetID="10" presetClass="entr" presetSubtype="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446"/>
                                        </p:tgtEl>
                                        <p:attrNameLst>
                                          <p:attrName>style.visibility</p:attrName>
                                        </p:attrNameLst>
                                      </p:cBhvr>
                                      <p:to>
                                        <p:strVal val="visible"/>
                                      </p:to>
                                    </p:set>
                                    <p:animEffect transition="in" filter="fade">
                                      <p:cBhvr>
                                        <p:cTn id="41" dur="500"/>
                                        <p:tgtEl>
                                          <p:spTgt spid="18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0" grpId="0" animBg="1"/>
      <p:bldP spid="1844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mj-lt"/>
              </a:rPr>
              <a:t>ELEVATOR SPEECH</a:t>
            </a:r>
            <a:endParaRPr lang="en-US" sz="3200" dirty="0">
              <a:latin typeface="+mj-lt"/>
            </a:endParaRPr>
          </a:p>
        </p:txBody>
      </p:sp>
      <p:sp>
        <p:nvSpPr>
          <p:cNvPr id="3" name="Content Placeholder 2"/>
          <p:cNvSpPr>
            <a:spLocks noGrp="1"/>
          </p:cNvSpPr>
          <p:nvPr>
            <p:ph idx="1"/>
          </p:nvPr>
        </p:nvSpPr>
        <p:spPr>
          <a:xfrm>
            <a:off x="228600" y="1524000"/>
            <a:ext cx="7848600" cy="4267199"/>
          </a:xfrm>
        </p:spPr>
        <p:style>
          <a:lnRef idx="1">
            <a:schemeClr val="accent1"/>
          </a:lnRef>
          <a:fillRef idx="2">
            <a:schemeClr val="accent1"/>
          </a:fillRef>
          <a:effectRef idx="1">
            <a:schemeClr val="accent1"/>
          </a:effectRef>
          <a:fontRef idx="minor">
            <a:schemeClr val="dk1"/>
          </a:fontRef>
        </p:style>
        <p:txBody>
          <a:bodyPr>
            <a:normAutofit/>
          </a:bodyPr>
          <a:lstStyle/>
          <a:p>
            <a:endParaRPr lang="en-US" sz="900" dirty="0" smtClean="0"/>
          </a:p>
          <a:p>
            <a:pPr indent="571500"/>
            <a:r>
              <a:rPr lang="en-US" sz="3200" dirty="0" smtClean="0"/>
              <a:t>History of prosperity</a:t>
            </a:r>
          </a:p>
          <a:p>
            <a:endParaRPr lang="en-US" sz="2200" dirty="0"/>
          </a:p>
          <a:p>
            <a:pPr indent="571500"/>
            <a:r>
              <a:rPr lang="en-US" sz="3200" dirty="0"/>
              <a:t>Large and diverse private sector</a:t>
            </a:r>
          </a:p>
          <a:p>
            <a:endParaRPr lang="en-US" sz="2200" dirty="0"/>
          </a:p>
          <a:p>
            <a:pPr indent="571500"/>
            <a:r>
              <a:rPr lang="en-US" sz="3200" dirty="0"/>
              <a:t>Talented workforce</a:t>
            </a:r>
          </a:p>
          <a:p>
            <a:endParaRPr lang="en-US" sz="2200" dirty="0"/>
          </a:p>
          <a:p>
            <a:pPr indent="571500"/>
            <a:r>
              <a:rPr lang="en-US" sz="3200" dirty="0"/>
              <a:t>Culture of research and </a:t>
            </a:r>
            <a:r>
              <a:rPr lang="en-US" sz="3200" dirty="0" smtClean="0"/>
              <a:t>development </a:t>
            </a:r>
            <a:endParaRPr lang="en-US" sz="3200" dirty="0"/>
          </a:p>
        </p:txBody>
      </p:sp>
    </p:spTree>
    <p:extLst>
      <p:ext uri="{BB962C8B-B14F-4D97-AF65-F5344CB8AC3E}">
        <p14:creationId xmlns:p14="http://schemas.microsoft.com/office/powerpoint/2010/main" val="198632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mj-lt"/>
              </a:rPr>
              <a:t>KEEPING COMPETITIVE</a:t>
            </a:r>
            <a:endParaRPr lang="en-US" sz="3200" dirty="0">
              <a:latin typeface="+mj-lt"/>
            </a:endParaRPr>
          </a:p>
        </p:txBody>
      </p:sp>
      <p:sp>
        <p:nvSpPr>
          <p:cNvPr id="3" name="Content Placeholder 2"/>
          <p:cNvSpPr>
            <a:spLocks noGrp="1"/>
          </p:cNvSpPr>
          <p:nvPr>
            <p:ph idx="1"/>
          </p:nvPr>
        </p:nvSpPr>
        <p:spPr>
          <a:xfrm>
            <a:off x="457200" y="1447800"/>
            <a:ext cx="7543800" cy="4267200"/>
          </a:xfrm>
        </p:spPr>
        <p:style>
          <a:lnRef idx="1">
            <a:schemeClr val="accent1"/>
          </a:lnRef>
          <a:fillRef idx="2">
            <a:schemeClr val="accent1"/>
          </a:fillRef>
          <a:effectRef idx="1">
            <a:schemeClr val="accent1"/>
          </a:effectRef>
          <a:fontRef idx="minor">
            <a:schemeClr val="dk1"/>
          </a:fontRef>
        </p:style>
        <p:txBody>
          <a:bodyPr>
            <a:normAutofit/>
          </a:bodyPr>
          <a:lstStyle/>
          <a:p>
            <a:endParaRPr lang="en-US" sz="3200" dirty="0" smtClean="0"/>
          </a:p>
          <a:p>
            <a:pPr indent="571500"/>
            <a:r>
              <a:rPr lang="en-US" sz="3600" dirty="0" smtClean="0"/>
              <a:t>Cost of doing business</a:t>
            </a:r>
          </a:p>
          <a:p>
            <a:endParaRPr lang="en-US" sz="2400" dirty="0"/>
          </a:p>
          <a:p>
            <a:pPr indent="571500"/>
            <a:r>
              <a:rPr lang="en-US" sz="3600" dirty="0" smtClean="0"/>
              <a:t>Human capital and infrastructure</a:t>
            </a:r>
          </a:p>
          <a:p>
            <a:endParaRPr lang="en-US" sz="2400" dirty="0"/>
          </a:p>
          <a:p>
            <a:pPr indent="571500"/>
            <a:r>
              <a:rPr lang="en-US" sz="3600" dirty="0" smtClean="0"/>
              <a:t>Economic development toolkit</a:t>
            </a:r>
            <a:endParaRPr lang="en-US" sz="3600" dirty="0"/>
          </a:p>
        </p:txBody>
      </p:sp>
    </p:spTree>
    <p:extLst>
      <p:ext uri="{BB962C8B-B14F-4D97-AF65-F5344CB8AC3E}">
        <p14:creationId xmlns:p14="http://schemas.microsoft.com/office/powerpoint/2010/main" val="124208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smtClean="0"/>
              <a:t>GOAL</a:t>
            </a:r>
            <a:endParaRPr lang="en-US" i="1" dirty="0">
              <a:solidFill>
                <a:srgbClr val="FF0000"/>
              </a:solidFill>
            </a:endParaRPr>
          </a:p>
        </p:txBody>
      </p:sp>
      <p:sp>
        <p:nvSpPr>
          <p:cNvPr id="6" name="Text Placeholder 4"/>
          <p:cNvSpPr txBox="1">
            <a:spLocks/>
          </p:cNvSpPr>
          <p:nvPr/>
        </p:nvSpPr>
        <p:spPr>
          <a:xfrm>
            <a:off x="990600" y="1524000"/>
            <a:ext cx="7184047" cy="1099725"/>
          </a:xfrm>
          <a:prstGeom prst="rect">
            <a:avLst/>
          </a:prstGeom>
        </p:spPr>
        <p:txBody>
          <a:bodyPr vert="horz" lIns="162552" tIns="81276" rIns="162552" bIns="81276" rtlCol="0">
            <a:noAutofit/>
          </a:bodyPr>
          <a:lstStyle>
            <a:lvl1pPr marL="0" indent="0" algn="l" defTabSz="1625519" rtl="0" eaLnBrk="1" latinLnBrk="0" hangingPunct="1">
              <a:lnSpc>
                <a:spcPct val="100000"/>
              </a:lnSpc>
              <a:spcBef>
                <a:spcPts val="0"/>
              </a:spcBef>
              <a:buClr>
                <a:srgbClr val="5F5F5F"/>
              </a:buClr>
              <a:buSzPct val="80000"/>
              <a:buFont typeface="HelveticaNeueLT Std Lt" pitchFamily="34" charset="0"/>
              <a:buNone/>
              <a:defRPr sz="5500" kern="1200" spc="0" baseline="0">
                <a:solidFill>
                  <a:schemeClr val="tx1"/>
                </a:solidFill>
                <a:latin typeface="HelveticaNeueLT Std Lt" pitchFamily="34" charset="0"/>
                <a:ea typeface="+mn-ea"/>
                <a:cs typeface="+mn-cs"/>
              </a:defRPr>
            </a:lvl1pPr>
            <a:lvl2pPr marL="1600200" indent="-685800" algn="l" defTabSz="1625519" rtl="0" eaLnBrk="1" latinLnBrk="0" hangingPunct="1">
              <a:lnSpc>
                <a:spcPct val="100000"/>
              </a:lnSpc>
              <a:spcBef>
                <a:spcPts val="0"/>
              </a:spcBef>
              <a:buClr>
                <a:srgbClr val="5F5F5F"/>
              </a:buClr>
              <a:buSzPct val="80000"/>
              <a:buFont typeface="HelveticaNeueLT Std Lt" pitchFamily="34" charset="0"/>
              <a:buChar char="•"/>
              <a:defRPr sz="4400" kern="1200">
                <a:solidFill>
                  <a:schemeClr val="tx1"/>
                </a:solidFill>
                <a:latin typeface="HelveticaNeueLT Std Lt" pitchFamily="34" charset="0"/>
                <a:ea typeface="+mn-ea"/>
                <a:cs typeface="+mn-cs"/>
              </a:defRPr>
            </a:lvl2pPr>
            <a:lvl3pPr marL="1600200" indent="-685800" algn="l" defTabSz="1625519" rtl="0" eaLnBrk="1" latinLnBrk="0" hangingPunct="1">
              <a:lnSpc>
                <a:spcPct val="100000"/>
              </a:lnSpc>
              <a:spcBef>
                <a:spcPts val="0"/>
              </a:spcBef>
              <a:buClr>
                <a:srgbClr val="5F5F5F"/>
              </a:buClr>
              <a:buSzPct val="80000"/>
              <a:buFont typeface="HelveticaNeueLT Std Lt" pitchFamily="34" charset="0"/>
              <a:buChar char="•"/>
              <a:defRPr sz="4000" kern="1200">
                <a:solidFill>
                  <a:schemeClr val="tx1"/>
                </a:solidFill>
                <a:latin typeface="HelveticaNeueLT Std Lt" pitchFamily="34" charset="0"/>
                <a:ea typeface="+mn-ea"/>
                <a:cs typeface="+mn-cs"/>
              </a:defRPr>
            </a:lvl3pPr>
            <a:lvl4pPr marL="1600200" indent="-685800" algn="l" defTabSz="1625519" rtl="0" eaLnBrk="1" latinLnBrk="0" hangingPunct="1">
              <a:lnSpc>
                <a:spcPct val="100000"/>
              </a:lnSpc>
              <a:spcBef>
                <a:spcPts val="0"/>
              </a:spcBef>
              <a:buClr>
                <a:srgbClr val="5F5F5F"/>
              </a:buClr>
              <a:buSzPct val="80000"/>
              <a:buFont typeface="HelveticaNeueLT Std Lt" pitchFamily="34" charset="0"/>
              <a:buChar char="•"/>
              <a:defRPr sz="3600" kern="1200">
                <a:solidFill>
                  <a:schemeClr val="tx1"/>
                </a:solidFill>
                <a:latin typeface="HelveticaNeueLT Std Lt" pitchFamily="34" charset="0"/>
                <a:ea typeface="+mn-ea"/>
                <a:cs typeface="+mn-cs"/>
              </a:defRPr>
            </a:lvl4pPr>
            <a:lvl5pPr marL="1600200" indent="-685800" algn="l" defTabSz="1625519" rtl="0" eaLnBrk="1" latinLnBrk="0" hangingPunct="1">
              <a:lnSpc>
                <a:spcPct val="100000"/>
              </a:lnSpc>
              <a:spcBef>
                <a:spcPts val="0"/>
              </a:spcBef>
              <a:buClr>
                <a:srgbClr val="5F5F5F"/>
              </a:buClr>
              <a:buSzPct val="80000"/>
              <a:buFont typeface="HelveticaNeueLT Std Lt" pitchFamily="34" charset="0"/>
              <a:buChar char="•"/>
              <a:defRPr sz="3200" kern="1200">
                <a:solidFill>
                  <a:schemeClr val="tx1"/>
                </a:solidFill>
                <a:latin typeface="HelveticaNeueLT Std Lt" pitchFamily="34" charset="0"/>
                <a:ea typeface="+mn-ea"/>
                <a:cs typeface="+mn-cs"/>
              </a:defRPr>
            </a:lvl5pPr>
            <a:lvl6pPr marL="4470176" indent="-406379" algn="l" defTabSz="1625519" rtl="0" eaLnBrk="1" latinLnBrk="0" hangingPunct="1">
              <a:spcBef>
                <a:spcPct val="20000"/>
              </a:spcBef>
              <a:buFont typeface="Arial" pitchFamily="34" charset="0"/>
              <a:buNone/>
              <a:defRPr sz="3500" kern="1200">
                <a:solidFill>
                  <a:schemeClr val="tx1"/>
                </a:solidFill>
                <a:latin typeface="+mn-lt"/>
                <a:ea typeface="+mn-ea"/>
                <a:cs typeface="+mn-cs"/>
              </a:defRPr>
            </a:lvl6pPr>
            <a:lvl7pPr marL="5282936" indent="-406379" algn="l" defTabSz="1625519"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6095695" indent="-406379" algn="l" defTabSz="1625519"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908454" indent="-406379" algn="l" defTabSz="1625519" rtl="0" eaLnBrk="1" latinLnBrk="0" hangingPunct="1">
              <a:spcBef>
                <a:spcPct val="20000"/>
              </a:spcBef>
              <a:buFont typeface="Arial" pitchFamily="34" charset="0"/>
              <a:buChar char="•"/>
              <a:defRPr sz="3500" kern="1200">
                <a:solidFill>
                  <a:schemeClr val="tx1"/>
                </a:solidFill>
                <a:latin typeface="+mn-lt"/>
                <a:ea typeface="+mn-ea"/>
                <a:cs typeface="+mn-cs"/>
              </a:defRPr>
            </a:lvl9pPr>
          </a:lstStyle>
          <a:p>
            <a:pPr algn="ctr">
              <a:defRPr/>
            </a:pPr>
            <a:r>
              <a:rPr lang="en-US" sz="3200" dirty="0" smtClean="0">
                <a:solidFill>
                  <a:prstClr val="black"/>
                </a:solidFill>
                <a:latin typeface="TradeGothic"/>
              </a:rPr>
              <a:t>A total increase of 100,000 jobs in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62250" y="2153226"/>
            <a:ext cx="3619500" cy="285174"/>
          </a:xfrm>
          <a:prstGeom prst="rect">
            <a:avLst/>
          </a:prstGeom>
        </p:spPr>
      </p:pic>
      <p:sp>
        <p:nvSpPr>
          <p:cNvPr id="22" name="Right Triangle 21"/>
          <p:cNvSpPr/>
          <p:nvPr/>
        </p:nvSpPr>
        <p:spPr>
          <a:xfrm flipH="1">
            <a:off x="1168308" y="3016790"/>
            <a:ext cx="6217858" cy="2559611"/>
          </a:xfrm>
          <a:prstGeom prst="rtTriangle">
            <a:avLst/>
          </a:prstGeom>
          <a:solidFill>
            <a:srgbClr val="CED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Right Triangle 19"/>
          <p:cNvSpPr/>
          <p:nvPr/>
        </p:nvSpPr>
        <p:spPr>
          <a:xfrm flipH="1">
            <a:off x="1168308" y="4078159"/>
            <a:ext cx="6217858" cy="1499749"/>
          </a:xfrm>
          <a:prstGeom prst="rtTriangle">
            <a:avLst/>
          </a:prstGeom>
          <a:solidFill>
            <a:srgbClr val="6FD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TextBox 22"/>
          <p:cNvSpPr txBox="1"/>
          <p:nvPr/>
        </p:nvSpPr>
        <p:spPr>
          <a:xfrm>
            <a:off x="746636" y="5632648"/>
            <a:ext cx="777363" cy="338554"/>
          </a:xfrm>
          <a:prstGeom prst="rect">
            <a:avLst/>
          </a:prstGeom>
          <a:noFill/>
        </p:spPr>
        <p:txBody>
          <a:bodyPr wrap="square" rtlCol="0">
            <a:spAutoFit/>
          </a:bodyPr>
          <a:lstStyle/>
          <a:p>
            <a:pPr algn="ctr"/>
            <a:r>
              <a:rPr lang="en-US" sz="1600" b="1" dirty="0" smtClean="0">
                <a:solidFill>
                  <a:prstClr val="black"/>
                </a:solidFill>
                <a:latin typeface="TradeGothic"/>
              </a:rPr>
              <a:t>2012</a:t>
            </a:r>
            <a:endParaRPr lang="en-US" sz="1600" b="1" dirty="0">
              <a:solidFill>
                <a:prstClr val="black"/>
              </a:solidFill>
              <a:latin typeface="TradeGothic"/>
            </a:endParaRPr>
          </a:p>
        </p:txBody>
      </p:sp>
      <p:sp>
        <p:nvSpPr>
          <p:cNvPr id="24" name="TextBox 23"/>
          <p:cNvSpPr txBox="1"/>
          <p:nvPr/>
        </p:nvSpPr>
        <p:spPr>
          <a:xfrm>
            <a:off x="7010400" y="5635823"/>
            <a:ext cx="777363" cy="338554"/>
          </a:xfrm>
          <a:prstGeom prst="rect">
            <a:avLst/>
          </a:prstGeom>
          <a:noFill/>
        </p:spPr>
        <p:txBody>
          <a:bodyPr wrap="square" rtlCol="0">
            <a:spAutoFit/>
          </a:bodyPr>
          <a:lstStyle/>
          <a:p>
            <a:pPr algn="ctr"/>
            <a:r>
              <a:rPr lang="en-US" sz="1600" b="1" dirty="0" smtClean="0">
                <a:solidFill>
                  <a:prstClr val="black"/>
                </a:solidFill>
                <a:latin typeface="TradeGothic"/>
              </a:rPr>
              <a:t>2016</a:t>
            </a:r>
            <a:endParaRPr lang="en-US" sz="1600" b="1" dirty="0">
              <a:solidFill>
                <a:prstClr val="black"/>
              </a:solidFill>
              <a:latin typeface="TradeGothic"/>
            </a:endParaRPr>
          </a:p>
        </p:txBody>
      </p:sp>
      <p:sp>
        <p:nvSpPr>
          <p:cNvPr id="25" name="TextBox 24"/>
          <p:cNvSpPr txBox="1"/>
          <p:nvPr/>
        </p:nvSpPr>
        <p:spPr>
          <a:xfrm>
            <a:off x="276225" y="2694057"/>
            <a:ext cx="3109452" cy="338554"/>
          </a:xfrm>
          <a:prstGeom prst="rect">
            <a:avLst/>
          </a:prstGeom>
          <a:noFill/>
        </p:spPr>
        <p:txBody>
          <a:bodyPr wrap="square" rtlCol="0">
            <a:spAutoFit/>
          </a:bodyPr>
          <a:lstStyle/>
          <a:p>
            <a:pPr algn="ctr"/>
            <a:r>
              <a:rPr lang="en-US" sz="1600" b="1" dirty="0" smtClean="0">
                <a:solidFill>
                  <a:prstClr val="black"/>
                </a:solidFill>
                <a:latin typeface="TradeGothic"/>
              </a:rPr>
              <a:t>100,000 New Jobs</a:t>
            </a:r>
            <a:endParaRPr lang="en-US" sz="1600" b="1" dirty="0">
              <a:solidFill>
                <a:prstClr val="black"/>
              </a:solidFill>
              <a:latin typeface="TradeGothic"/>
            </a:endParaRPr>
          </a:p>
        </p:txBody>
      </p:sp>
      <p:cxnSp>
        <p:nvCxnSpPr>
          <p:cNvPr id="8" name="Straight Connector 7"/>
          <p:cNvCxnSpPr/>
          <p:nvPr/>
        </p:nvCxnSpPr>
        <p:spPr>
          <a:xfrm>
            <a:off x="1123156" y="3001834"/>
            <a:ext cx="0" cy="25938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1121753" y="5581762"/>
            <a:ext cx="626964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a:xfrm>
            <a:off x="7410450" y="3016712"/>
            <a:ext cx="1906552" cy="1059862"/>
            <a:chOff x="7410450" y="3016712"/>
            <a:chExt cx="1906552" cy="1059862"/>
          </a:xfrm>
        </p:grpSpPr>
        <p:sp>
          <p:nvSpPr>
            <p:cNvPr id="17" name="Right Brace 16"/>
            <p:cNvSpPr/>
            <p:nvPr/>
          </p:nvSpPr>
          <p:spPr>
            <a:xfrm>
              <a:off x="7410450" y="3016712"/>
              <a:ext cx="255669" cy="1059862"/>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28" name="TextBox 27"/>
            <p:cNvSpPr txBox="1"/>
            <p:nvPr/>
          </p:nvSpPr>
          <p:spPr>
            <a:xfrm>
              <a:off x="7602456" y="3285033"/>
              <a:ext cx="1714546" cy="523220"/>
            </a:xfrm>
            <a:prstGeom prst="rect">
              <a:avLst/>
            </a:prstGeom>
            <a:noFill/>
          </p:spPr>
          <p:txBody>
            <a:bodyPr wrap="square" rtlCol="0">
              <a:spAutoFit/>
            </a:bodyPr>
            <a:lstStyle/>
            <a:p>
              <a:r>
                <a:rPr lang="en-US" sz="1400" b="1" dirty="0" smtClean="0">
                  <a:solidFill>
                    <a:prstClr val="black"/>
                  </a:solidFill>
                  <a:latin typeface="TradeGothic"/>
                </a:rPr>
                <a:t>25% Margin</a:t>
              </a:r>
            </a:p>
            <a:p>
              <a:r>
                <a:rPr lang="en-US" sz="1400" b="1" dirty="0" smtClean="0">
                  <a:solidFill>
                    <a:prstClr val="black"/>
                  </a:solidFill>
                  <a:latin typeface="TradeGothic"/>
                </a:rPr>
                <a:t>of Excellence</a:t>
              </a:r>
              <a:endParaRPr lang="en-US" sz="1400" b="1" dirty="0">
                <a:solidFill>
                  <a:prstClr val="black"/>
                </a:solidFill>
                <a:latin typeface="TradeGothic"/>
              </a:endParaRPr>
            </a:p>
          </p:txBody>
        </p:sp>
      </p:grpSp>
      <p:grpSp>
        <p:nvGrpSpPr>
          <p:cNvPr id="30" name="Group 29"/>
          <p:cNvGrpSpPr/>
          <p:nvPr/>
        </p:nvGrpSpPr>
        <p:grpSpPr>
          <a:xfrm>
            <a:off x="5276850" y="3781425"/>
            <a:ext cx="2310330" cy="386138"/>
            <a:chOff x="5276850" y="3781425"/>
            <a:chExt cx="2310330" cy="386138"/>
          </a:xfrm>
        </p:grpSpPr>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48807" y="3781425"/>
              <a:ext cx="1747366" cy="137672"/>
            </a:xfrm>
            <a:prstGeom prst="rect">
              <a:avLst/>
            </a:prstGeom>
          </p:spPr>
        </p:pic>
        <p:sp>
          <p:nvSpPr>
            <p:cNvPr id="29" name="TextBox 28"/>
            <p:cNvSpPr txBox="1"/>
            <p:nvPr/>
          </p:nvSpPr>
          <p:spPr>
            <a:xfrm>
              <a:off x="5276850" y="3859786"/>
              <a:ext cx="2310330" cy="307777"/>
            </a:xfrm>
            <a:prstGeom prst="rect">
              <a:avLst/>
            </a:prstGeom>
            <a:noFill/>
          </p:spPr>
          <p:txBody>
            <a:bodyPr wrap="square" rtlCol="0">
              <a:spAutoFit/>
            </a:bodyPr>
            <a:lstStyle/>
            <a:p>
              <a:pPr algn="ctr"/>
              <a:r>
                <a:rPr lang="en-US" sz="1400" b="1" dirty="0">
                  <a:solidFill>
                    <a:prstClr val="black"/>
                  </a:solidFill>
                  <a:latin typeface="TradeGothic"/>
                </a:rPr>
                <a:t>m</a:t>
              </a:r>
              <a:r>
                <a:rPr lang="en-US" sz="1400" b="1" dirty="0" smtClean="0">
                  <a:solidFill>
                    <a:prstClr val="black"/>
                  </a:solidFill>
                  <a:latin typeface="TradeGothic"/>
                </a:rPr>
                <a:t>argin of excellence</a:t>
              </a:r>
              <a:endParaRPr lang="en-US" sz="1400" b="1" dirty="0">
                <a:solidFill>
                  <a:prstClr val="black"/>
                </a:solidFill>
                <a:latin typeface="TradeGothic"/>
              </a:endParaRPr>
            </a:p>
          </p:txBody>
        </p:sp>
      </p:grpSp>
      <p:sp>
        <p:nvSpPr>
          <p:cNvPr id="18" name="TextBox 17"/>
          <p:cNvSpPr txBox="1"/>
          <p:nvPr/>
        </p:nvSpPr>
        <p:spPr>
          <a:xfrm>
            <a:off x="2702550" y="5637449"/>
            <a:ext cx="777363" cy="338554"/>
          </a:xfrm>
          <a:prstGeom prst="rect">
            <a:avLst/>
          </a:prstGeom>
          <a:noFill/>
        </p:spPr>
        <p:txBody>
          <a:bodyPr wrap="square" rtlCol="0">
            <a:spAutoFit/>
          </a:bodyPr>
          <a:lstStyle/>
          <a:p>
            <a:pPr algn="ctr"/>
            <a:r>
              <a:rPr lang="en-US" sz="1600" b="1" dirty="0" smtClean="0">
                <a:solidFill>
                  <a:prstClr val="black"/>
                </a:solidFill>
                <a:latin typeface="TradeGothic"/>
              </a:rPr>
              <a:t>2013</a:t>
            </a:r>
            <a:endParaRPr lang="en-US" sz="1600" b="1" dirty="0">
              <a:solidFill>
                <a:prstClr val="black"/>
              </a:solidFill>
              <a:latin typeface="TradeGothic"/>
            </a:endParaRPr>
          </a:p>
        </p:txBody>
      </p:sp>
      <p:sp>
        <p:nvSpPr>
          <p:cNvPr id="3" name="Rectangle 2"/>
          <p:cNvSpPr/>
          <p:nvPr/>
        </p:nvSpPr>
        <p:spPr>
          <a:xfrm>
            <a:off x="1121753" y="4558352"/>
            <a:ext cx="1969478" cy="1023708"/>
          </a:xfrm>
          <a:prstGeom prst="rect">
            <a:avLst/>
          </a:prstGeom>
          <a:solidFill>
            <a:srgbClr val="6FD4E4">
              <a:alpha val="30196"/>
            </a:srgbClr>
          </a:solidFill>
          <a:ln w="285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TextBox 31"/>
          <p:cNvSpPr txBox="1"/>
          <p:nvPr/>
        </p:nvSpPr>
        <p:spPr>
          <a:xfrm>
            <a:off x="1267166" y="3919097"/>
            <a:ext cx="1860734" cy="584775"/>
          </a:xfrm>
          <a:prstGeom prst="rect">
            <a:avLst/>
          </a:prstGeom>
          <a:noFill/>
        </p:spPr>
        <p:txBody>
          <a:bodyPr wrap="square" rtlCol="0">
            <a:spAutoFit/>
          </a:bodyPr>
          <a:lstStyle/>
          <a:p>
            <a:pPr algn="ctr"/>
            <a:r>
              <a:rPr lang="en-US" sz="1600" b="1" dirty="0" smtClean="0">
                <a:solidFill>
                  <a:prstClr val="black"/>
                </a:solidFill>
                <a:latin typeface="TradeGothic"/>
              </a:rPr>
              <a:t>22,700 </a:t>
            </a:r>
            <a:br>
              <a:rPr lang="en-US" sz="1600" b="1" dirty="0" smtClean="0">
                <a:solidFill>
                  <a:prstClr val="black"/>
                </a:solidFill>
                <a:latin typeface="TradeGothic"/>
              </a:rPr>
            </a:br>
            <a:r>
              <a:rPr lang="en-US" sz="1600" b="1" dirty="0" smtClean="0">
                <a:solidFill>
                  <a:prstClr val="black"/>
                </a:solidFill>
                <a:latin typeface="TradeGothic"/>
              </a:rPr>
              <a:t>Total New Jobs</a:t>
            </a:r>
            <a:endParaRPr lang="en-US" sz="1600" b="1" dirty="0">
              <a:solidFill>
                <a:prstClr val="black"/>
              </a:solidFill>
              <a:latin typeface="TradeGothic"/>
            </a:endParaRPr>
          </a:p>
        </p:txBody>
      </p:sp>
    </p:spTree>
    <p:extLst>
      <p:ext uri="{BB962C8B-B14F-4D97-AF65-F5344CB8AC3E}">
        <p14:creationId xmlns:p14="http://schemas.microsoft.com/office/powerpoint/2010/main" val="4055010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animBg="1"/>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mj-lt"/>
              </a:rPr>
              <a:t>PROSPER</a:t>
            </a:r>
            <a:endParaRPr lang="en-US" dirty="0">
              <a:latin typeface="+mj-lt"/>
            </a:endParaRPr>
          </a:p>
        </p:txBody>
      </p:sp>
      <p:sp>
        <p:nvSpPr>
          <p:cNvPr id="3" name="Content Placeholder 2"/>
          <p:cNvSpPr>
            <a:spLocks noGrp="1"/>
          </p:cNvSpPr>
          <p:nvPr>
            <p:ph idx="1"/>
          </p:nvPr>
        </p:nvSpPr>
        <p:spPr/>
        <p:txBody>
          <a:bodyPr>
            <a:normAutofit/>
          </a:bodyPr>
          <a:lstStyle/>
          <a:p>
            <a:pPr marL="0" indent="0" algn="ctr">
              <a:buNone/>
            </a:pPr>
            <a:endParaRPr lang="en-US" sz="4400" dirty="0" smtClean="0"/>
          </a:p>
          <a:p>
            <a:pPr marL="0" indent="0" algn="ctr">
              <a:buNone/>
            </a:pPr>
            <a:endParaRPr lang="en-US" sz="900" dirty="0"/>
          </a:p>
          <a:p>
            <a:pPr marL="0" indent="0" algn="ctr">
              <a:buNone/>
            </a:pPr>
            <a:r>
              <a:rPr lang="en-US" sz="5400" dirty="0" smtClean="0">
                <a:latin typeface="+mj-lt"/>
              </a:rPr>
              <a:t>The Momentum is Building</a:t>
            </a:r>
            <a:endParaRPr lang="en-US" sz="5400" dirty="0">
              <a:latin typeface="+mj-lt"/>
            </a:endParaRPr>
          </a:p>
        </p:txBody>
      </p:sp>
    </p:spTree>
    <p:extLst>
      <p:ext uri="{BB962C8B-B14F-4D97-AF65-F5344CB8AC3E}">
        <p14:creationId xmlns:p14="http://schemas.microsoft.com/office/powerpoint/2010/main" val="32877210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mj-lt"/>
              </a:rPr>
              <a:t>PRIVATE &amp; PUBLIC INVESTMENT</a:t>
            </a:r>
            <a:endParaRPr lang="en-US" sz="3200" dirty="0">
              <a:latin typeface="+mj-lt"/>
            </a:endParaRP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20523" r="8731"/>
          <a:stretch/>
        </p:blipFill>
        <p:spPr>
          <a:xfrm>
            <a:off x="1059723" y="3844776"/>
            <a:ext cx="3004199" cy="2022624"/>
          </a:xfrm>
          <a:prstGeom prst="roundRect">
            <a:avLst>
              <a:gd name="adj" fmla="val 4521"/>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95681" y="1641473"/>
            <a:ext cx="2216558" cy="2323713"/>
          </a:xfrm>
          <a:prstGeom prst="roundRect">
            <a:avLst>
              <a:gd name="adj" fmla="val 8663"/>
            </a:avLst>
          </a:prstGeom>
        </p:spPr>
      </p:pic>
      <p:pic>
        <p:nvPicPr>
          <p:cNvPr id="102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820" t="9453" r="2608" b="7984"/>
          <a:stretch/>
        </p:blipFill>
        <p:spPr bwMode="auto">
          <a:xfrm>
            <a:off x="4404814" y="4111388"/>
            <a:ext cx="3398293" cy="1719618"/>
          </a:xfrm>
          <a:prstGeom prst="roundRect">
            <a:avLst>
              <a:gd name="adj" fmla="val 635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59074" y="1647159"/>
            <a:ext cx="2845740" cy="1905000"/>
          </a:xfrm>
          <a:prstGeom prst="roundRect">
            <a:avLst>
              <a:gd name="adj" fmla="val 7354"/>
            </a:avLst>
          </a:prstGeom>
        </p:spPr>
      </p:pic>
      <p:sp>
        <p:nvSpPr>
          <p:cNvPr id="3" name="Content Placeholder 2"/>
          <p:cNvSpPr>
            <a:spLocks noGrp="1"/>
          </p:cNvSpPr>
          <p:nvPr>
            <p:ph idx="1"/>
          </p:nvPr>
        </p:nvSpPr>
        <p:spPr>
          <a:xfrm>
            <a:off x="443552" y="2590800"/>
            <a:ext cx="8229600" cy="848369"/>
          </a:xfrm>
        </p:spPr>
        <p:txBody>
          <a:bodyPr>
            <a:noAutofit/>
          </a:bodyPr>
          <a:lstStyle/>
          <a:p>
            <a:pPr marL="0" indent="0" algn="ctr">
              <a:buNone/>
            </a:pPr>
            <a:r>
              <a:rPr lang="en-US" sz="11500" dirty="0" smtClean="0">
                <a:latin typeface="+mj-lt"/>
              </a:rPr>
              <a:t>$8 Billion</a:t>
            </a:r>
            <a:endParaRPr lang="en-US" sz="11500" dirty="0">
              <a:latin typeface="+mj-lt"/>
            </a:endParaRPr>
          </a:p>
        </p:txBody>
      </p:sp>
    </p:spTree>
    <p:extLst>
      <p:ext uri="{BB962C8B-B14F-4D97-AF65-F5344CB8AC3E}">
        <p14:creationId xmlns:p14="http://schemas.microsoft.com/office/powerpoint/2010/main" val="268709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par>
                          <p:cTn id="10" fill="hold">
                            <p:stCondLst>
                              <p:cond delay="500"/>
                            </p:stCondLst>
                            <p:childTnLst>
                              <p:par>
                                <p:cTn id="11" presetID="53" presetClass="exit" presetSubtype="32" fill="hold" grpId="1" nodeType="afterEffect">
                                  <p:stCondLst>
                                    <p:cond delay="2500"/>
                                  </p:stCondLst>
                                  <p:childTnLst>
                                    <p:anim calcmode="lin" valueType="num">
                                      <p:cBhvr>
                                        <p:cTn id="12" dur="500"/>
                                        <p:tgtEl>
                                          <p:spTgt spid="3">
                                            <p:txEl>
                                              <p:pRg st="0" end="0"/>
                                            </p:txEl>
                                          </p:spTgt>
                                        </p:tgtEl>
                                        <p:attrNameLst>
                                          <p:attrName>ppt_w</p:attrName>
                                        </p:attrNameLst>
                                      </p:cBhvr>
                                      <p:tavLst>
                                        <p:tav tm="0">
                                          <p:val>
                                            <p:strVal val="ppt_w"/>
                                          </p:val>
                                        </p:tav>
                                        <p:tav tm="100000">
                                          <p:val>
                                            <p:fltVal val="0"/>
                                          </p:val>
                                        </p:tav>
                                      </p:tavLst>
                                    </p:anim>
                                    <p:anim calcmode="lin" valueType="num">
                                      <p:cBhvr>
                                        <p:cTn id="13" dur="500"/>
                                        <p:tgtEl>
                                          <p:spTgt spid="3">
                                            <p:txEl>
                                              <p:pRg st="0" end="0"/>
                                            </p:txEl>
                                          </p:spTgt>
                                        </p:tgtEl>
                                        <p:attrNameLst>
                                          <p:attrName>ppt_h</p:attrName>
                                        </p:attrNameLst>
                                      </p:cBhvr>
                                      <p:tavLst>
                                        <p:tav tm="0">
                                          <p:val>
                                            <p:strVal val="ppt_h"/>
                                          </p:val>
                                        </p:tav>
                                        <p:tav tm="100000">
                                          <p:val>
                                            <p:fltVal val="0"/>
                                          </p:val>
                                        </p:tav>
                                      </p:tavLst>
                                    </p:anim>
                                    <p:animEffect transition="out" filter="fade">
                                      <p:cBhvr>
                                        <p:cTn id="14" dur="500"/>
                                        <p:tgtEl>
                                          <p:spTgt spid="3">
                                            <p:txEl>
                                              <p:pRg st="0" end="0"/>
                                            </p:txEl>
                                          </p:spTgt>
                                        </p:tgtEl>
                                      </p:cBhvr>
                                    </p:animEffect>
                                    <p:set>
                                      <p:cBhvr>
                                        <p:cTn id="15" dur="1" fill="hold">
                                          <p:stCondLst>
                                            <p:cond delay="499"/>
                                          </p:stCondLst>
                                        </p:cTn>
                                        <p:tgtEl>
                                          <p:spTgt spid="3">
                                            <p:txEl>
                                              <p:pRg st="0" end="0"/>
                                            </p:txEl>
                                          </p:spTgt>
                                        </p:tgtEl>
                                        <p:attrNameLst>
                                          <p:attrName>style.visibility</p:attrName>
                                        </p:attrNameLst>
                                      </p:cBhvr>
                                      <p:to>
                                        <p:strVal val="hidden"/>
                                      </p:to>
                                    </p:se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fade">
                                      <p:cBhvr>
                                        <p:cTn id="27" dur="500"/>
                                        <p:tgtEl>
                                          <p:spTgt spid="1026"/>
                                        </p:tgtEl>
                                      </p:cBhvr>
                                    </p:animEffect>
                                  </p:childTnLst>
                                </p:cTn>
                              </p:par>
                            </p:childTnLst>
                          </p:cTn>
                        </p:par>
                        <p:par>
                          <p:cTn id="28" fill="hold">
                            <p:stCondLst>
                              <p:cond delay="5000"/>
                            </p:stCondLst>
                            <p:childTnLst>
                              <p:par>
                                <p:cTn id="29" presetID="10"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4" name="Chart 3"/>
          <p:cNvGraphicFramePr>
            <a:graphicFrameLocks/>
          </p:cNvGraphicFramePr>
          <p:nvPr>
            <p:extLst>
              <p:ext uri="{D42A27DB-BD31-4B8C-83A1-F6EECF244321}">
                <p14:modId xmlns:p14="http://schemas.microsoft.com/office/powerpoint/2010/main" val="2140846162"/>
              </p:ext>
            </p:extLst>
          </p:nvPr>
        </p:nvGraphicFramePr>
        <p:xfrm>
          <a:off x="381000" y="1219200"/>
          <a:ext cx="8458199" cy="4826000"/>
        </p:xfrm>
        <a:graphic>
          <a:graphicData uri="http://schemas.openxmlformats.org/presentationml/2006/ole">
            <mc:AlternateContent xmlns:mc="http://schemas.openxmlformats.org/markup-compatibility/2006">
              <mc:Choice xmlns:v="urn:schemas-microsoft-com:vml" Requires="v">
                <p:oleObj spid="_x0000_s2075" r:id="rId4" imgW="7059780" imgH="3792041" progId="Excel.Chart.8">
                  <p:embed/>
                </p:oleObj>
              </mc:Choice>
              <mc:Fallback>
                <p:oleObj r:id="rId4" imgW="7059780" imgH="3792041" progId="Excel.Char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219200"/>
                        <a:ext cx="8458199" cy="4826000"/>
                      </a:xfrm>
                      <a:prstGeom prst="rect">
                        <a:avLst/>
                      </a:prstGeom>
                      <a:noFill/>
                      <a:ln>
                        <a:noFill/>
                      </a:ln>
                      <a:extLst/>
                    </p:spPr>
                  </p:pic>
                </p:oleObj>
              </mc:Fallback>
            </mc:AlternateContent>
          </a:graphicData>
        </a:graphic>
      </p:graphicFrame>
      <p:sp>
        <p:nvSpPr>
          <p:cNvPr id="2" name="Title 1"/>
          <p:cNvSpPr>
            <a:spLocks noGrp="1"/>
          </p:cNvSpPr>
          <p:nvPr>
            <p:ph type="title"/>
          </p:nvPr>
        </p:nvSpPr>
        <p:spPr>
          <a:xfrm>
            <a:off x="822324" y="828675"/>
            <a:ext cx="8093075" cy="493713"/>
          </a:xfrm>
        </p:spPr>
        <p:txBody>
          <a:bodyPr>
            <a:noAutofit/>
          </a:bodyPr>
          <a:lstStyle/>
          <a:p>
            <a:pPr>
              <a:defRPr/>
            </a:pPr>
            <a:r>
              <a:rPr lang="en-US" sz="3200" dirty="0" smtClean="0">
                <a:latin typeface="+mj-lt"/>
              </a:rPr>
              <a:t>LEADING THE U.S. IN CONSTRUCTION STARTS</a:t>
            </a:r>
            <a:endParaRPr lang="en-US" sz="3200" dirty="0">
              <a:latin typeface="+mj-lt"/>
            </a:endParaRPr>
          </a:p>
        </p:txBody>
      </p:sp>
      <p:sp>
        <p:nvSpPr>
          <p:cNvPr id="20483"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fld id="{90D4556C-8D18-4F5C-B71E-865496671756}" type="slidenum">
              <a:rPr lang="en-US" smtClean="0"/>
              <a:pPr/>
              <a:t>10</a:t>
            </a:fld>
            <a:endParaRPr lang="en-US" smtClean="0"/>
          </a:p>
        </p:txBody>
      </p:sp>
      <p:sp>
        <p:nvSpPr>
          <p:cNvPr id="20485" name="TextBox 4"/>
          <p:cNvSpPr txBox="1">
            <a:spLocks noChangeArrowheads="1"/>
          </p:cNvSpPr>
          <p:nvPr/>
        </p:nvSpPr>
        <p:spPr bwMode="auto">
          <a:xfrm>
            <a:off x="1676400" y="5838825"/>
            <a:ext cx="568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400" dirty="0"/>
              <a:t>0%</a:t>
            </a:r>
          </a:p>
        </p:txBody>
      </p:sp>
      <p:sp>
        <p:nvSpPr>
          <p:cNvPr id="20486" name="TextBox 8"/>
          <p:cNvSpPr txBox="1">
            <a:spLocks noChangeArrowheads="1"/>
          </p:cNvSpPr>
          <p:nvPr/>
        </p:nvSpPr>
        <p:spPr bwMode="auto">
          <a:xfrm>
            <a:off x="2946400" y="5808663"/>
            <a:ext cx="7540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a:t>.5%</a:t>
            </a:r>
          </a:p>
        </p:txBody>
      </p:sp>
      <p:sp>
        <p:nvSpPr>
          <p:cNvPr id="20487" name="TextBox 9"/>
          <p:cNvSpPr txBox="1">
            <a:spLocks noChangeArrowheads="1"/>
          </p:cNvSpPr>
          <p:nvPr/>
        </p:nvSpPr>
        <p:spPr bwMode="auto">
          <a:xfrm>
            <a:off x="5570537" y="5808663"/>
            <a:ext cx="7540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dirty="0"/>
              <a:t>1.5%</a:t>
            </a:r>
          </a:p>
        </p:txBody>
      </p:sp>
      <p:sp>
        <p:nvSpPr>
          <p:cNvPr id="20488" name="TextBox 10"/>
          <p:cNvSpPr txBox="1">
            <a:spLocks noChangeArrowheads="1"/>
          </p:cNvSpPr>
          <p:nvPr/>
        </p:nvSpPr>
        <p:spPr bwMode="auto">
          <a:xfrm>
            <a:off x="6942138" y="5791200"/>
            <a:ext cx="754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dirty="0"/>
              <a:t>2.0%</a:t>
            </a:r>
          </a:p>
        </p:txBody>
      </p:sp>
      <p:sp>
        <p:nvSpPr>
          <p:cNvPr id="20489" name="TextBox 11"/>
          <p:cNvSpPr txBox="1">
            <a:spLocks noChangeArrowheads="1"/>
          </p:cNvSpPr>
          <p:nvPr/>
        </p:nvSpPr>
        <p:spPr bwMode="auto">
          <a:xfrm>
            <a:off x="8239125" y="5822950"/>
            <a:ext cx="752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dirty="0"/>
              <a:t>2.5%</a:t>
            </a:r>
          </a:p>
        </p:txBody>
      </p:sp>
      <p:sp>
        <p:nvSpPr>
          <p:cNvPr id="20490" name="TextBox 12"/>
          <p:cNvSpPr txBox="1">
            <a:spLocks noChangeArrowheads="1"/>
          </p:cNvSpPr>
          <p:nvPr/>
        </p:nvSpPr>
        <p:spPr bwMode="auto">
          <a:xfrm>
            <a:off x="4162425" y="5822950"/>
            <a:ext cx="7540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dirty="0"/>
              <a:t>1.0%</a:t>
            </a:r>
          </a:p>
        </p:txBody>
      </p:sp>
      <p:sp>
        <p:nvSpPr>
          <p:cNvPr id="14" name="TextBox 13"/>
          <p:cNvSpPr txBox="1"/>
          <p:nvPr/>
        </p:nvSpPr>
        <p:spPr>
          <a:xfrm>
            <a:off x="692150" y="6275387"/>
            <a:ext cx="2632075" cy="430213"/>
          </a:xfrm>
          <a:prstGeom prst="rect">
            <a:avLst/>
          </a:prstGeom>
          <a:noFill/>
        </p:spPr>
        <p:txBody>
          <a:bodyPr>
            <a:spAutoFit/>
          </a:bodyPr>
          <a:lstStyle/>
          <a:p>
            <a:pPr>
              <a:defRPr/>
            </a:pPr>
            <a:r>
              <a:rPr lang="en-US" sz="1100" dirty="0">
                <a:latin typeface="+mn-lt"/>
              </a:rPr>
              <a:t>Source: McGraw-Hill, and Citi Research, 9/21/12</a:t>
            </a:r>
          </a:p>
        </p:txBody>
      </p:sp>
    </p:spTree>
    <p:extLst>
      <p:ext uri="{BB962C8B-B14F-4D97-AF65-F5344CB8AC3E}">
        <p14:creationId xmlns:p14="http://schemas.microsoft.com/office/powerpoint/2010/main" val="27128015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3200" dirty="0" smtClean="0">
                <a:latin typeface="+mj-lt"/>
              </a:rPr>
              <a:t>LEADS IN MOST TYPES OF STARTS</a:t>
            </a:r>
            <a:endParaRPr lang="en-US" sz="3200" dirty="0">
              <a:latin typeface="+mj-lt"/>
            </a:endParaRPr>
          </a:p>
        </p:txBody>
      </p:sp>
      <p:sp>
        <p:nvSpPr>
          <p:cNvPr id="21507"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fld id="{75A02119-572A-45A1-92AB-3D917E351CA4}" type="slidenum">
              <a:rPr lang="en-US" smtClean="0"/>
              <a:pPr/>
              <a:t>11</a:t>
            </a:fld>
            <a:endParaRPr lang="en-US" smtClean="0"/>
          </a:p>
        </p:txBody>
      </p:sp>
      <p:graphicFrame>
        <p:nvGraphicFramePr>
          <p:cNvPr id="21508" name="Chart 3"/>
          <p:cNvGraphicFramePr>
            <a:graphicFrameLocks/>
          </p:cNvGraphicFramePr>
          <p:nvPr/>
        </p:nvGraphicFramePr>
        <p:xfrm>
          <a:off x="771525" y="1346200"/>
          <a:ext cx="7672388" cy="4449763"/>
        </p:xfrm>
        <a:graphic>
          <a:graphicData uri="http://schemas.openxmlformats.org/presentationml/2006/ole">
            <mc:AlternateContent xmlns:mc="http://schemas.openxmlformats.org/markup-compatibility/2006">
              <mc:Choice xmlns:v="urn:schemas-microsoft-com:vml" Requires="v">
                <p:oleObj spid="_x0000_s3099" r:id="rId4" imgW="7669433" imgH="4450466" progId="Excel.Chart.8">
                  <p:embed/>
                </p:oleObj>
              </mc:Choice>
              <mc:Fallback>
                <p:oleObj r:id="rId4" imgW="7669433" imgH="4450466" progId="Excel.Char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25" y="1346200"/>
                        <a:ext cx="7672388"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09" name="TextBox 4"/>
          <p:cNvSpPr txBox="1">
            <a:spLocks noChangeArrowheads="1"/>
          </p:cNvSpPr>
          <p:nvPr/>
        </p:nvSpPr>
        <p:spPr bwMode="auto">
          <a:xfrm>
            <a:off x="2187575" y="5648325"/>
            <a:ext cx="493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400"/>
              <a:t>0%</a:t>
            </a:r>
          </a:p>
        </p:txBody>
      </p:sp>
      <p:sp>
        <p:nvSpPr>
          <p:cNvPr id="21510" name="TextBox 5"/>
          <p:cNvSpPr txBox="1">
            <a:spLocks noChangeArrowheads="1"/>
          </p:cNvSpPr>
          <p:nvPr/>
        </p:nvSpPr>
        <p:spPr bwMode="auto">
          <a:xfrm>
            <a:off x="3192463" y="564832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400"/>
              <a:t>1.0%</a:t>
            </a:r>
          </a:p>
        </p:txBody>
      </p:sp>
      <p:sp>
        <p:nvSpPr>
          <p:cNvPr id="21511" name="TextBox 6"/>
          <p:cNvSpPr txBox="1">
            <a:spLocks noChangeArrowheads="1"/>
          </p:cNvSpPr>
          <p:nvPr/>
        </p:nvSpPr>
        <p:spPr bwMode="auto">
          <a:xfrm>
            <a:off x="4197350" y="5651500"/>
            <a:ext cx="622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400"/>
              <a:t>2.0%</a:t>
            </a:r>
          </a:p>
        </p:txBody>
      </p:sp>
      <p:sp>
        <p:nvSpPr>
          <p:cNvPr id="21512" name="TextBox 7"/>
          <p:cNvSpPr txBox="1">
            <a:spLocks noChangeArrowheads="1"/>
          </p:cNvSpPr>
          <p:nvPr/>
        </p:nvSpPr>
        <p:spPr bwMode="auto">
          <a:xfrm>
            <a:off x="5313363" y="5622925"/>
            <a:ext cx="593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400"/>
              <a:t>3.0%</a:t>
            </a:r>
          </a:p>
        </p:txBody>
      </p:sp>
      <p:sp>
        <p:nvSpPr>
          <p:cNvPr id="21513" name="TextBox 8"/>
          <p:cNvSpPr txBox="1">
            <a:spLocks noChangeArrowheads="1"/>
          </p:cNvSpPr>
          <p:nvPr/>
        </p:nvSpPr>
        <p:spPr bwMode="auto">
          <a:xfrm>
            <a:off x="6454775" y="5622925"/>
            <a:ext cx="601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561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561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561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561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400"/>
              <a:t>4.0%</a:t>
            </a:r>
          </a:p>
        </p:txBody>
      </p:sp>
      <p:sp>
        <p:nvSpPr>
          <p:cNvPr id="10" name="TextBox 9"/>
          <p:cNvSpPr txBox="1"/>
          <p:nvPr/>
        </p:nvSpPr>
        <p:spPr>
          <a:xfrm>
            <a:off x="692150" y="6045200"/>
            <a:ext cx="2632075" cy="430213"/>
          </a:xfrm>
          <a:prstGeom prst="rect">
            <a:avLst/>
          </a:prstGeom>
          <a:noFill/>
        </p:spPr>
        <p:txBody>
          <a:bodyPr>
            <a:spAutoFit/>
          </a:bodyPr>
          <a:lstStyle/>
          <a:p>
            <a:pPr>
              <a:defRPr/>
            </a:pPr>
            <a:r>
              <a:rPr lang="en-US" sz="1100" dirty="0">
                <a:latin typeface="+mn-lt"/>
              </a:rPr>
              <a:t>Source: McGraw-Hill, and Citi Research, 9/21/12</a:t>
            </a:r>
          </a:p>
        </p:txBody>
      </p:sp>
    </p:spTree>
    <p:extLst>
      <p:ext uri="{BB962C8B-B14F-4D97-AF65-F5344CB8AC3E}">
        <p14:creationId xmlns:p14="http://schemas.microsoft.com/office/powerpoint/2010/main" val="35108315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mj-lt"/>
              </a:rPr>
              <a:t>MSP EXPORT INITIATIVE</a:t>
            </a:r>
            <a:endParaRPr lang="en-US" sz="3200" dirty="0">
              <a:latin typeface="+mj-l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479048"/>
            <a:ext cx="3352800" cy="4342742"/>
          </a:xfrm>
          <a:prstGeom prst="rect">
            <a:avLst/>
          </a:prstGeom>
          <a:noFill/>
          <a:ln w="28575">
            <a:solidFill>
              <a:schemeClr val="bg1"/>
            </a:solidFill>
          </a:ln>
          <a:effectLst>
            <a:outerShdw blurRad="279400" dir="13500000" sy="23000" kx="1200000" algn="br" rotWithShape="0">
              <a:prstClr val="black">
                <a:alpha val="19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10191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mj-lt"/>
              </a:rPr>
              <a:t>REGIONAL MOMENTUM IS BUILDING</a:t>
            </a:r>
            <a:endParaRPr lang="en-US" sz="3200" dirty="0">
              <a:latin typeface="+mj-lt"/>
            </a:endParaRPr>
          </a:p>
        </p:txBody>
      </p:sp>
      <p:sp>
        <p:nvSpPr>
          <p:cNvPr id="3" name="Content Placeholder 2"/>
          <p:cNvSpPr>
            <a:spLocks noGrp="1"/>
          </p:cNvSpPr>
          <p:nvPr>
            <p:ph idx="1"/>
          </p:nvPr>
        </p:nvSpPr>
        <p:spPr>
          <a:xfrm>
            <a:off x="457200" y="1371600"/>
            <a:ext cx="8229600" cy="4267200"/>
          </a:xfrm>
        </p:spPr>
        <p:txBody>
          <a:bodyPr>
            <a:noAutofit/>
          </a:bodyPr>
          <a:lstStyle/>
          <a:p>
            <a:r>
              <a:rPr lang="en-US" dirty="0" smtClean="0">
                <a:latin typeface="+mn-lt"/>
              </a:rPr>
              <a:t>Great regional cooperation</a:t>
            </a:r>
          </a:p>
          <a:p>
            <a:endParaRPr lang="en-US" dirty="0">
              <a:latin typeface="+mn-lt"/>
            </a:endParaRPr>
          </a:p>
          <a:p>
            <a:r>
              <a:rPr lang="en-US" dirty="0" smtClean="0">
                <a:latin typeface="+mn-lt"/>
              </a:rPr>
              <a:t>Capital Investment is up</a:t>
            </a:r>
          </a:p>
          <a:p>
            <a:endParaRPr lang="en-US" dirty="0">
              <a:latin typeface="+mn-lt"/>
            </a:endParaRPr>
          </a:p>
          <a:p>
            <a:r>
              <a:rPr lang="en-US" dirty="0" smtClean="0">
                <a:latin typeface="+mn-lt"/>
              </a:rPr>
              <a:t>On track to add 100,000 jobs by 2016</a:t>
            </a:r>
          </a:p>
          <a:p>
            <a:endParaRPr lang="en-US" dirty="0" smtClean="0">
              <a:latin typeface="+mn-lt"/>
            </a:endParaRPr>
          </a:p>
          <a:p>
            <a:r>
              <a:rPr lang="en-US" dirty="0" smtClean="0">
                <a:latin typeface="+mn-lt"/>
              </a:rPr>
              <a:t>The region must make century decisions to ensure we continue to Prosper.</a:t>
            </a:r>
            <a:endParaRPr lang="en-US" dirty="0">
              <a:latin typeface="+mn-lt"/>
            </a:endParaRPr>
          </a:p>
        </p:txBody>
      </p:sp>
    </p:spTree>
    <p:extLst>
      <p:ext uri="{BB962C8B-B14F-4D97-AF65-F5344CB8AC3E}">
        <p14:creationId xmlns:p14="http://schemas.microsoft.com/office/powerpoint/2010/main" val="64274836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_2MY9lVhUSIDnoRcM3ru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O7EUKiB7ak.XyAeNPOiGJ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SS08D1hyJEKlOKPJDcyA6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K.fuiMcNaUycYwlsW.EUd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53BAIq5sqUa.I5eGdS2NY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UTfOLDE.xU6lVv0uHHyUP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Fgsl15xGy0.SlyWqnVlIy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GmlNCJGGi069MOpHIht.m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Kzymo4CsWEW45o5_vSwcN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2aZ_bJenE.YzycNUd9CI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HzOA.toTrEK.NZSUZifwE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m46crtfb6Ei0lN36AXEyC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X6c1b1QQGUGW06YXZdcAw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Vken03THhUaHk.bc8u5Ec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fUg3Rn3U0y2bvgFi4MKZ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1W5uldAgUiXwO5NBsg_y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nEHpDNkHmEe5fpeuUVLjw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XjvAztUqpEuNnBvFSmgpj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dmb04QV5bkq7HZPPFMU2B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Kea5R1N7UaWM42kvizt8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LH18jB9.XEiwe3KK8K3qD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53BAIq5sqUa.I5eGdS2NY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UTfOLDE.xU6lVv0uHHyUP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Fgsl15xGy0.SlyWqnVlIy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xkm0XbT_9EealchDvRARr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AGLYtKGhCkmiFtjPc3UEp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yP.9OmOUykWd6YLVwaEOY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xa.mVrvLU0q50tPpScQ3j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k9qkE9LUCkmiadN5Jz621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Vi5prf7T_UaKLrERnPo4C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hhRtsfNVq0yF32fpQjyE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qRh0kzvQO0GtEkuqoteqg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sluxtRDBk6CdnGR0YsL3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Xex0_basr0uG3kTFZhQb5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DxCzR9urF0qjzpKs0ypMg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cJQ_QojSUEua_WeM5QXfY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0Hm8TOM8d0OPJGVmwRejv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WJr5EB4AWUida0i.2Ii6t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layanwYU7U.zQ9hklemwx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1246</TotalTime>
  <Words>400</Words>
  <Application>Microsoft Office PowerPoint</Application>
  <PresentationFormat>On-screen Show (4:3)</PresentationFormat>
  <Paragraphs>103</Paragraphs>
  <Slides>13</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Office Theme</vt:lpstr>
      <vt:lpstr>Microsoft Excel Chart</vt:lpstr>
      <vt:lpstr>PowerPoint Presentation</vt:lpstr>
      <vt:lpstr>MISSION</vt:lpstr>
      <vt:lpstr>PowerPoint Presentation</vt:lpstr>
      <vt:lpstr>REGIONAL ASSETS OF STRENGTH</vt:lpstr>
      <vt:lpstr>ELEVATOR SPEECH</vt:lpstr>
      <vt:lpstr>KEEPING COMPETITIVE</vt:lpstr>
      <vt:lpstr>GOAL</vt:lpstr>
      <vt:lpstr>PROSPER</vt:lpstr>
      <vt:lpstr>PRIVATE &amp; PUBLIC INVESTMENT</vt:lpstr>
      <vt:lpstr>LEADING THE U.S. IN CONSTRUCTION STARTS</vt:lpstr>
      <vt:lpstr>LEADS IN MOST TYPES OF STARTS</vt:lpstr>
      <vt:lpstr>MSP EXPORT INITIATIVE</vt:lpstr>
      <vt:lpstr>REGIONAL MOMENTUM IS BUILDING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 Sontgerath</dc:creator>
  <cp:lastModifiedBy>Phoebe R Tollefson</cp:lastModifiedBy>
  <cp:revision>83</cp:revision>
  <dcterms:created xsi:type="dcterms:W3CDTF">2012-10-25T01:58:39Z</dcterms:created>
  <dcterms:modified xsi:type="dcterms:W3CDTF">2013-01-07T21:30:23Z</dcterms:modified>
</cp:coreProperties>
</file>