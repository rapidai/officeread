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Default Extension="wdp" ContentType="image/vnd.ms-photo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Default Extension="gif" ContentType="image/gif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257" r:id="rId4"/>
    <p:sldId id="259" r:id="rId5"/>
    <p:sldId id="260" r:id="rId6"/>
    <p:sldId id="273" r:id="rId7"/>
    <p:sldId id="261" r:id="rId8"/>
    <p:sldId id="272" r:id="rId9"/>
    <p:sldId id="271" r:id="rId10"/>
    <p:sldId id="274" r:id="rId11"/>
    <p:sldId id="263" r:id="rId12"/>
    <p:sldId id="265" r:id="rId13"/>
    <p:sldId id="266" r:id="rId14"/>
    <p:sldId id="264" r:id="rId15"/>
    <p:sldId id="267" r:id="rId16"/>
    <p:sldId id="270" r:id="rId17"/>
    <p:sldId id="269" r:id="rId18"/>
  </p:sldIdLst>
  <p:sldSz cx="9144000" cy="6858000" type="screen4x3"/>
  <p:notesSz cx="6858000" cy="92964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5" autoAdjust="0"/>
    <p:restoredTop sz="91348" autoAdjust="0"/>
  </p:normalViewPr>
  <p:slideViewPr>
    <p:cSldViewPr>
      <p:cViewPr>
        <p:scale>
          <a:sx n="100" d="100"/>
          <a:sy n="100" d="100"/>
        </p:scale>
        <p:origin x="-336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536" y="-78"/>
      </p:cViewPr>
      <p:guideLst>
        <p:guide orient="horz" pos="2928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DE45B-ABFB-4777-A7E6-B3EBDBE7C250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7DA0B6-51EC-4729-A6F4-0634DF4F6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575293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6B30B-1265-4F13-B63C-936101D1EA62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6425"/>
            <a:ext cx="548640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675"/>
            <a:ext cx="297180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D99D9-5C61-42EC-8573-44211AFC2F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7557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43489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65147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85633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5099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77282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01569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1965-66 Legislative Study</a:t>
            </a:r>
          </a:p>
          <a:p>
            <a:pPr marL="171450" indent="-171450">
              <a:buFont typeface="Arial" charset="0"/>
              <a:buChar char="•"/>
            </a:pPr>
            <a:r>
              <a:rPr lang="en-US" dirty="0" smtClean="0"/>
              <a:t>Enlarged school districts and their impact on public library service</a:t>
            </a:r>
          </a:p>
          <a:p>
            <a:pPr marL="171450" indent="-171450">
              <a:buFont typeface="Arial" charset="0"/>
              <a:buChar char="•"/>
            </a:pPr>
            <a:r>
              <a:rPr lang="en-US" dirty="0" smtClean="0"/>
              <a:t>How best to serve the 905,815 citizens without direct access to a public library</a:t>
            </a:r>
          </a:p>
          <a:p>
            <a:r>
              <a:rPr lang="en-US" dirty="0" smtClean="0"/>
              <a:t>1967 Legislative Study</a:t>
            </a:r>
          </a:p>
          <a:p>
            <a:r>
              <a:rPr lang="en-US" dirty="0" smtClean="0"/>
              <a:t>1993</a:t>
            </a:r>
            <a:r>
              <a:rPr lang="en-US" baseline="0" dirty="0" smtClean="0"/>
              <a:t> Legislative Study</a:t>
            </a:r>
          </a:p>
          <a:p>
            <a:pPr lvl="1"/>
            <a:r>
              <a:rPr lang="en-US" baseline="0" dirty="0" smtClean="0"/>
              <a:t>“Statewide service is a public expectation.” (p.6)</a:t>
            </a:r>
          </a:p>
          <a:p>
            <a:pPr lvl="1"/>
            <a:r>
              <a:rPr lang="en-US" baseline="0" dirty="0" smtClean="0"/>
              <a:t>Study addressed: reciprocal borrowing, </a:t>
            </a:r>
            <a:r>
              <a:rPr lang="en-US" baseline="0" dirty="0" err="1" smtClean="0"/>
              <a:t>unserved</a:t>
            </a:r>
            <a:r>
              <a:rPr lang="en-US" baseline="0" dirty="0" smtClean="0"/>
              <a:t> areas, library district restructuring particularly with respect to serving school students, organization of library districts and boards</a:t>
            </a:r>
          </a:p>
          <a:p>
            <a:pPr lvl="0"/>
            <a:r>
              <a:rPr lang="en-US" baseline="0" dirty="0" smtClean="0"/>
              <a:t>1994 Legislative Study</a:t>
            </a:r>
            <a:endParaRPr lang="en-US" dirty="0" smtClean="0"/>
          </a:p>
          <a:p>
            <a:pPr lvl="1"/>
            <a:r>
              <a:rPr lang="en-US" dirty="0" smtClean="0"/>
              <a:t>“The Committee finds unacceptable the current percentage of Indiana residents living in areas </a:t>
            </a:r>
            <a:r>
              <a:rPr lang="en-US" dirty="0" err="1" smtClean="0"/>
              <a:t>unserved</a:t>
            </a:r>
            <a:r>
              <a:rPr lang="en-US" dirty="0" smtClean="0"/>
              <a:t> by</a:t>
            </a:r>
            <a:r>
              <a:rPr lang="en-US" baseline="0" dirty="0" smtClean="0"/>
              <a:t> public libraries.” (p.11) </a:t>
            </a:r>
          </a:p>
          <a:p>
            <a:pPr lvl="1"/>
            <a:r>
              <a:rPr lang="en-US" baseline="0" dirty="0" smtClean="0"/>
              <a:t>Recommendation: county library planning commissions (see: preliminary draft 3298)</a:t>
            </a:r>
          </a:p>
          <a:p>
            <a:pPr lvl="0"/>
            <a:r>
              <a:rPr lang="en-US" baseline="0" dirty="0" smtClean="0"/>
              <a:t>2007 </a:t>
            </a:r>
            <a:r>
              <a:rPr lang="en-US" baseline="0" dirty="0" err="1" smtClean="0"/>
              <a:t>Unserved</a:t>
            </a:r>
            <a:r>
              <a:rPr lang="en-US" baseline="0" dirty="0" smtClean="0"/>
              <a:t> Taskforce – recommendations:</a:t>
            </a:r>
          </a:p>
          <a:p>
            <a:pPr lvl="1"/>
            <a:r>
              <a:rPr lang="en-US" baseline="0" dirty="0" smtClean="0"/>
              <a:t>publicly supported library service should be universally available;</a:t>
            </a:r>
          </a:p>
          <a:p>
            <a:pPr lvl="1"/>
            <a:r>
              <a:rPr lang="en-US" baseline="0" dirty="0" smtClean="0"/>
              <a:t>Indiana libraries should provide fair and equitable service – which led to standards discussions</a:t>
            </a:r>
          </a:p>
          <a:p>
            <a:pPr lvl="0"/>
            <a:r>
              <a:rPr lang="en-US" baseline="0" dirty="0" smtClean="0"/>
              <a:t>2007 </a:t>
            </a:r>
            <a:r>
              <a:rPr lang="en-US" baseline="0" dirty="0" err="1" smtClean="0"/>
              <a:t>Kernan</a:t>
            </a:r>
            <a:r>
              <a:rPr lang="en-US" baseline="0" dirty="0" smtClean="0"/>
              <a:t>-Shepard – recommendations included: 92 county libraries</a:t>
            </a:r>
          </a:p>
          <a:p>
            <a:pPr lvl="0"/>
            <a:r>
              <a:rPr lang="en-US" baseline="0" dirty="0" smtClean="0"/>
              <a:t>2008 Library Coalition – recommendations included: structures of libraries in each county to be analyzed </a:t>
            </a:r>
          </a:p>
          <a:p>
            <a:pPr lvl="1"/>
            <a:r>
              <a:rPr lang="en-US" baseline="0" dirty="0" smtClean="0"/>
              <a:t>SB348 (</a:t>
            </a:r>
            <a:r>
              <a:rPr lang="en-US" baseline="0" dirty="0" err="1" smtClean="0"/>
              <a:t>Gard</a:t>
            </a:r>
            <a:r>
              <a:rPr lang="en-US" baseline="0" dirty="0" smtClean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4730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938199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09041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10889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156372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07941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42427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3248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31391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124297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D99D9-5C61-42EC-8573-44211AFC2F2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61514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A5C9-50BA-4F0E-B6F2-5652E197A641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B3D53C2-D0CC-4EAB-8882-A23AD3D9C52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A5C9-50BA-4F0E-B6F2-5652E197A641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53C2-D0CC-4EAB-8882-A23AD3D9C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A5C9-50BA-4F0E-B6F2-5652E197A641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53C2-D0CC-4EAB-8882-A23AD3D9C52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A5C9-50BA-4F0E-B6F2-5652E197A641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53C2-D0CC-4EAB-8882-A23AD3D9C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A5C9-50BA-4F0E-B6F2-5652E197A641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53C2-D0CC-4EAB-8882-A23AD3D9C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A5C9-50BA-4F0E-B6F2-5652E197A641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53C2-D0CC-4EAB-8882-A23AD3D9C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A5C9-50BA-4F0E-B6F2-5652E197A641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53C2-D0CC-4EAB-8882-A23AD3D9C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A5C9-50BA-4F0E-B6F2-5652E197A641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53C2-D0CC-4EAB-8882-A23AD3D9C52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A5C9-50BA-4F0E-B6F2-5652E197A641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53C2-D0CC-4EAB-8882-A23AD3D9C52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A5C9-50BA-4F0E-B6F2-5652E197A641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53C2-D0CC-4EAB-8882-A23AD3D9C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A5C9-50BA-4F0E-B6F2-5652E197A641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D53C2-D0CC-4EAB-8882-A23AD3D9C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885A5C9-50BA-4F0E-B6F2-5652E197A641}" type="datetimeFigureOut">
              <a:rPr lang="en-US" smtClean="0"/>
              <a:pPr/>
              <a:t>7/11/2012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1B3D53C2-D0CC-4EAB-8882-A23AD3D9C52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braryDistricts201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800" y="3335336"/>
            <a:ext cx="3101975" cy="4672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EBDDC3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335336"/>
            <a:ext cx="6400800" cy="1236664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Hosted by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Ellen Stuckey, 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Kelly </a:t>
            </a:r>
            <a:r>
              <a:rPr lang="en-US" sz="2000" dirty="0" err="1" smtClean="0">
                <a:solidFill>
                  <a:schemeClr val="tx1"/>
                </a:solidFill>
              </a:rPr>
              <a:t>EhingeR</a:t>
            </a:r>
            <a:r>
              <a:rPr lang="en-US" sz="2000" dirty="0" smtClean="0">
                <a:solidFill>
                  <a:schemeClr val="tx1"/>
                </a:solidFill>
              </a:rPr>
              <a:t> &amp; Jake Speer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  <a:effectLst>
            <a:outerShdw blurRad="50800" dist="50800" dir="5400000" algn="ctr" rotWithShape="0">
              <a:srgbClr val="000000">
                <a:alpha val="37000"/>
              </a:srgbClr>
            </a:outerShdw>
          </a:effectLst>
        </p:spPr>
        <p:txBody>
          <a:bodyPr/>
          <a:lstStyle/>
          <a:p>
            <a:r>
              <a:rPr lang="en-US" dirty="0" smtClean="0"/>
              <a:t>Summit on Serving the </a:t>
            </a:r>
            <a:r>
              <a:rPr lang="en-US" dirty="0" err="1" smtClean="0"/>
              <a:t>Unserved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209800" y="4572000"/>
            <a:ext cx="358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Indiana State Library</a:t>
            </a:r>
          </a:p>
          <a:p>
            <a:pPr algn="ctr"/>
            <a:r>
              <a:rPr lang="en-US" dirty="0" smtClean="0"/>
              <a:t>July 11, 2012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873657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3002872" cy="4407408"/>
          </a:xfrm>
        </p:spPr>
        <p:txBody>
          <a:bodyPr/>
          <a:lstStyle/>
          <a:p>
            <a:r>
              <a:rPr lang="en-US" dirty="0" smtClean="0"/>
              <a:t>Overview of Indiana’s </a:t>
            </a:r>
            <a:r>
              <a:rPr lang="en-US" dirty="0" err="1" smtClean="0"/>
              <a:t>unserved</a:t>
            </a:r>
            <a:endParaRPr lang="en-US" dirty="0" smtClean="0"/>
          </a:p>
          <a:p>
            <a:r>
              <a:rPr lang="en-US" dirty="0" smtClean="0"/>
              <a:t>Studies addressing </a:t>
            </a:r>
            <a:r>
              <a:rPr lang="en-US" dirty="0" err="1" smtClean="0"/>
              <a:t>unserved</a:t>
            </a:r>
            <a:endParaRPr lang="en-US" dirty="0" smtClean="0"/>
          </a:p>
          <a:p>
            <a:r>
              <a:rPr lang="en-US" dirty="0" smtClean="0"/>
              <a:t>Prior Legislation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00" y="1981201"/>
            <a:ext cx="2743200" cy="4145278"/>
          </a:xfrm>
        </p:spPr>
        <p:txBody>
          <a:bodyPr/>
          <a:lstStyle/>
          <a:p>
            <a:r>
              <a:rPr lang="en-US" dirty="0" smtClean="0"/>
              <a:t>Discussion</a:t>
            </a:r>
          </a:p>
          <a:p>
            <a:r>
              <a:rPr lang="en-US" dirty="0" smtClean="0"/>
              <a:t>Related Issues</a:t>
            </a:r>
          </a:p>
          <a:p>
            <a:r>
              <a:rPr lang="en-US" dirty="0" smtClean="0"/>
              <a:t>What Happens Next</a:t>
            </a:r>
          </a:p>
          <a:p>
            <a:r>
              <a:rPr lang="en-US" dirty="0" smtClean="0"/>
              <a:t>Homework</a:t>
            </a:r>
            <a:endParaRPr lang="en-US" dirty="0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2133599"/>
            <a:ext cx="2198473" cy="330676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90084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2209799"/>
            <a:ext cx="4038600" cy="3916679"/>
          </a:xfrm>
        </p:spPr>
        <p:txBody>
          <a:bodyPr/>
          <a:lstStyle/>
          <a:p>
            <a:r>
              <a:rPr lang="en-US" dirty="0" smtClean="0"/>
              <a:t>38 counties</a:t>
            </a:r>
          </a:p>
          <a:p>
            <a:r>
              <a:rPr lang="en-US" dirty="0" smtClean="0"/>
              <a:t>128 libraries within those counties</a:t>
            </a:r>
          </a:p>
          <a:p>
            <a:r>
              <a:rPr lang="en-US" dirty="0" smtClean="0"/>
              <a:t>Over 160 libraries contiguous to an </a:t>
            </a:r>
            <a:r>
              <a:rPr lang="en-US" dirty="0" err="1" smtClean="0"/>
              <a:t>unserved</a:t>
            </a:r>
            <a:r>
              <a:rPr lang="en-US" dirty="0" smtClean="0"/>
              <a:t> area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555" y="1719263"/>
            <a:ext cx="2929890" cy="4406900"/>
          </a:xfrm>
        </p:spPr>
      </p:pic>
    </p:spTree>
    <p:extLst>
      <p:ext uri="{BB962C8B-B14F-4D97-AF65-F5344CB8AC3E}">
        <p14:creationId xmlns="" xmlns:p14="http://schemas.microsoft.com/office/powerpoint/2010/main" val="1111732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Overview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7269"/>
            <a:ext cx="4040188" cy="446331"/>
          </a:xfrm>
        </p:spPr>
        <p:txBody>
          <a:bodyPr/>
          <a:lstStyle/>
          <a:p>
            <a:r>
              <a:rPr lang="en-US" dirty="0" smtClean="0"/>
              <a:t>Top Ten Counties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09800"/>
            <a:ext cx="4040188" cy="4419600"/>
          </a:xfrm>
        </p:spPr>
        <p:txBody>
          <a:bodyPr/>
          <a:lstStyle/>
          <a:p>
            <a:r>
              <a:rPr lang="en-US" dirty="0" smtClean="0"/>
              <a:t>Clay (69%)</a:t>
            </a:r>
          </a:p>
          <a:p>
            <a:r>
              <a:rPr lang="en-US" dirty="0" smtClean="0"/>
              <a:t>Martin (66%)</a:t>
            </a:r>
          </a:p>
          <a:p>
            <a:r>
              <a:rPr lang="en-US" dirty="0" smtClean="0"/>
              <a:t>Miami (64%)</a:t>
            </a:r>
          </a:p>
          <a:p>
            <a:r>
              <a:rPr lang="en-US" dirty="0" smtClean="0"/>
              <a:t>Warren (59%)</a:t>
            </a:r>
          </a:p>
          <a:p>
            <a:r>
              <a:rPr lang="en-US" dirty="0" smtClean="0"/>
              <a:t>Rush (58%)</a:t>
            </a:r>
          </a:p>
          <a:p>
            <a:r>
              <a:rPr lang="en-US" dirty="0" smtClean="0"/>
              <a:t>Parke (58%)</a:t>
            </a:r>
          </a:p>
          <a:p>
            <a:r>
              <a:rPr lang="en-US" dirty="0" smtClean="0"/>
              <a:t>Adams (57%)</a:t>
            </a:r>
          </a:p>
          <a:p>
            <a:r>
              <a:rPr lang="en-US" dirty="0" smtClean="0"/>
              <a:t>Carroll (55%)</a:t>
            </a:r>
          </a:p>
          <a:p>
            <a:r>
              <a:rPr lang="en-US" dirty="0" smtClean="0"/>
              <a:t>Daviess (55%)</a:t>
            </a:r>
          </a:p>
          <a:p>
            <a:r>
              <a:rPr lang="en-US" dirty="0" smtClean="0"/>
              <a:t>DeKalb (54%)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67375" y="1903413"/>
            <a:ext cx="2943225" cy="4421187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</p:pic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4953001" y="2090738"/>
            <a:ext cx="1219200" cy="1428750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Unserved</a:t>
            </a:r>
            <a:r>
              <a:rPr kumimoji="0" lang="en-US" sz="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 Percentages in each County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7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  &gt; 50%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7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 21-50%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7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 10-20%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7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Arial" pitchFamily="34" charset="0"/>
              </a:rPr>
              <a:t>        &lt; 10%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7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7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7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7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5338763" y="2376488"/>
            <a:ext cx="228600" cy="200025"/>
          </a:xfrm>
          <a:prstGeom prst="irregularSeal1">
            <a:avLst/>
          </a:prstGeom>
          <a:solidFill>
            <a:srgbClr val="000080"/>
          </a:solidFill>
          <a:ln w="9525" algn="in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395913" y="2624138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5453063" y="2833688"/>
            <a:ext cx="114300" cy="114300"/>
          </a:xfrm>
          <a:prstGeom prst="irregularSeal1">
            <a:avLst/>
          </a:prstGeom>
          <a:solidFill>
            <a:srgbClr val="660066"/>
          </a:solidFill>
          <a:ln w="9525" algn="in">
            <a:solidFill>
              <a:srgbClr val="660066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5500688" y="3033713"/>
            <a:ext cx="85725" cy="114300"/>
          </a:xfrm>
          <a:prstGeom prst="irregularSeal1">
            <a:avLst/>
          </a:prstGeom>
          <a:solidFill>
            <a:srgbClr val="33CC33"/>
          </a:solidFill>
          <a:ln w="9525" algn="in">
            <a:solidFill>
              <a:srgbClr val="33CC33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auto">
          <a:xfrm>
            <a:off x="7024688" y="3976688"/>
            <a:ext cx="85725" cy="114300"/>
          </a:xfrm>
          <a:prstGeom prst="irregularSeal1">
            <a:avLst/>
          </a:prstGeom>
          <a:solidFill>
            <a:srgbClr val="33CC33"/>
          </a:solidFill>
          <a:ln w="9525" algn="in">
            <a:solidFill>
              <a:srgbClr val="33CC33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>
            <a:off x="7510463" y="2490788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0"/>
          <p:cNvSpPr>
            <a:spLocks noChangeArrowheads="1"/>
          </p:cNvSpPr>
          <p:nvPr/>
        </p:nvSpPr>
        <p:spPr bwMode="auto">
          <a:xfrm>
            <a:off x="8167688" y="2119313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11"/>
          <p:cNvSpPr>
            <a:spLocks noChangeArrowheads="1"/>
          </p:cNvSpPr>
          <p:nvPr/>
        </p:nvSpPr>
        <p:spPr bwMode="auto">
          <a:xfrm>
            <a:off x="7939088" y="3290888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12"/>
          <p:cNvSpPr>
            <a:spLocks noChangeArrowheads="1"/>
          </p:cNvSpPr>
          <p:nvPr/>
        </p:nvSpPr>
        <p:spPr bwMode="auto">
          <a:xfrm>
            <a:off x="7939088" y="3490913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auto">
          <a:xfrm>
            <a:off x="8281988" y="4376738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14"/>
          <p:cNvSpPr>
            <a:spLocks noChangeArrowheads="1"/>
          </p:cNvSpPr>
          <p:nvPr/>
        </p:nvSpPr>
        <p:spPr bwMode="auto">
          <a:xfrm>
            <a:off x="7053263" y="5319713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15"/>
          <p:cNvSpPr>
            <a:spLocks noChangeArrowheads="1"/>
          </p:cNvSpPr>
          <p:nvPr/>
        </p:nvSpPr>
        <p:spPr bwMode="auto">
          <a:xfrm>
            <a:off x="6424613" y="3652838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utoShape 16"/>
          <p:cNvSpPr>
            <a:spLocks noChangeArrowheads="1"/>
          </p:cNvSpPr>
          <p:nvPr/>
        </p:nvSpPr>
        <p:spPr bwMode="auto">
          <a:xfrm>
            <a:off x="7567613" y="2919413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AutoShape 17"/>
          <p:cNvSpPr>
            <a:spLocks noChangeArrowheads="1"/>
          </p:cNvSpPr>
          <p:nvPr/>
        </p:nvSpPr>
        <p:spPr bwMode="auto">
          <a:xfrm>
            <a:off x="8139113" y="2262188"/>
            <a:ext cx="228600" cy="200025"/>
          </a:xfrm>
          <a:prstGeom prst="irregularSeal1">
            <a:avLst/>
          </a:prstGeom>
          <a:solidFill>
            <a:srgbClr val="000080"/>
          </a:solidFill>
          <a:ln w="9525" algn="in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AutoShape 18"/>
          <p:cNvSpPr>
            <a:spLocks noChangeArrowheads="1"/>
          </p:cNvSpPr>
          <p:nvPr/>
        </p:nvSpPr>
        <p:spPr bwMode="auto">
          <a:xfrm rot="-4968088">
            <a:off x="8210551" y="2962275"/>
            <a:ext cx="228600" cy="200025"/>
          </a:xfrm>
          <a:prstGeom prst="irregularSeal1">
            <a:avLst/>
          </a:prstGeom>
          <a:solidFill>
            <a:srgbClr val="000080"/>
          </a:solidFill>
          <a:ln w="9525" algn="in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AutoShape 19"/>
          <p:cNvSpPr>
            <a:spLocks noChangeArrowheads="1"/>
          </p:cNvSpPr>
          <p:nvPr/>
        </p:nvSpPr>
        <p:spPr bwMode="auto">
          <a:xfrm rot="16200000">
            <a:off x="6738938" y="5119687"/>
            <a:ext cx="228600" cy="200025"/>
          </a:xfrm>
          <a:prstGeom prst="irregularSeal1">
            <a:avLst/>
          </a:prstGeom>
          <a:solidFill>
            <a:srgbClr val="000080"/>
          </a:solidFill>
          <a:ln w="9525" algn="in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AutoShape 20"/>
          <p:cNvSpPr>
            <a:spLocks noChangeArrowheads="1"/>
          </p:cNvSpPr>
          <p:nvPr/>
        </p:nvSpPr>
        <p:spPr bwMode="auto">
          <a:xfrm rot="16200000">
            <a:off x="6524626" y="5105400"/>
            <a:ext cx="228600" cy="200025"/>
          </a:xfrm>
          <a:prstGeom prst="irregularSeal1">
            <a:avLst/>
          </a:prstGeom>
          <a:solidFill>
            <a:srgbClr val="000080"/>
          </a:solidFill>
          <a:ln w="9525" algn="in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AutoShape 21"/>
          <p:cNvSpPr>
            <a:spLocks noChangeArrowheads="1"/>
          </p:cNvSpPr>
          <p:nvPr/>
        </p:nvSpPr>
        <p:spPr bwMode="auto">
          <a:xfrm rot="16200000">
            <a:off x="6496051" y="4362450"/>
            <a:ext cx="228600" cy="200025"/>
          </a:xfrm>
          <a:prstGeom prst="irregularSeal1">
            <a:avLst/>
          </a:prstGeom>
          <a:solidFill>
            <a:srgbClr val="000080"/>
          </a:solidFill>
          <a:ln w="9525" algn="in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AutoShape 22"/>
          <p:cNvSpPr>
            <a:spLocks noChangeArrowheads="1"/>
          </p:cNvSpPr>
          <p:nvPr/>
        </p:nvSpPr>
        <p:spPr bwMode="auto">
          <a:xfrm rot="16200000">
            <a:off x="6381751" y="3990975"/>
            <a:ext cx="228600" cy="200025"/>
          </a:xfrm>
          <a:prstGeom prst="irregularSeal1">
            <a:avLst/>
          </a:prstGeom>
          <a:solidFill>
            <a:srgbClr val="000080"/>
          </a:solidFill>
          <a:ln w="9525" algn="in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AutoShape 23"/>
          <p:cNvSpPr>
            <a:spLocks noChangeArrowheads="1"/>
          </p:cNvSpPr>
          <p:nvPr/>
        </p:nvSpPr>
        <p:spPr bwMode="auto">
          <a:xfrm rot="16200000">
            <a:off x="6296026" y="3390900"/>
            <a:ext cx="228600" cy="200025"/>
          </a:xfrm>
          <a:prstGeom prst="irregularSeal1">
            <a:avLst/>
          </a:prstGeom>
          <a:solidFill>
            <a:srgbClr val="000080"/>
          </a:solidFill>
          <a:ln w="9525" algn="in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AutoShape 24"/>
          <p:cNvSpPr>
            <a:spLocks noChangeArrowheads="1"/>
          </p:cNvSpPr>
          <p:nvPr/>
        </p:nvSpPr>
        <p:spPr bwMode="auto">
          <a:xfrm rot="16200000">
            <a:off x="6953251" y="3162300"/>
            <a:ext cx="228600" cy="200025"/>
          </a:xfrm>
          <a:prstGeom prst="irregularSeal1">
            <a:avLst/>
          </a:prstGeom>
          <a:solidFill>
            <a:srgbClr val="000080"/>
          </a:solidFill>
          <a:ln w="9525" algn="in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AutoShape 25"/>
          <p:cNvSpPr>
            <a:spLocks noChangeArrowheads="1"/>
          </p:cNvSpPr>
          <p:nvPr/>
        </p:nvSpPr>
        <p:spPr bwMode="auto">
          <a:xfrm rot="16200000">
            <a:off x="7353301" y="2962275"/>
            <a:ext cx="228600" cy="200025"/>
          </a:xfrm>
          <a:prstGeom prst="irregularSeal1">
            <a:avLst/>
          </a:prstGeom>
          <a:solidFill>
            <a:srgbClr val="000080"/>
          </a:solidFill>
          <a:ln w="9525" algn="in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AutoShape 26"/>
          <p:cNvSpPr>
            <a:spLocks noChangeArrowheads="1"/>
          </p:cNvSpPr>
          <p:nvPr/>
        </p:nvSpPr>
        <p:spPr bwMode="auto">
          <a:xfrm>
            <a:off x="7056438" y="3729038"/>
            <a:ext cx="114300" cy="114300"/>
          </a:xfrm>
          <a:prstGeom prst="irregularSeal1">
            <a:avLst/>
          </a:prstGeom>
          <a:solidFill>
            <a:srgbClr val="660066"/>
          </a:solidFill>
          <a:ln w="9525" algn="in">
            <a:solidFill>
              <a:srgbClr val="660066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AutoShape 27"/>
          <p:cNvSpPr>
            <a:spLocks noChangeArrowheads="1"/>
          </p:cNvSpPr>
          <p:nvPr/>
        </p:nvSpPr>
        <p:spPr bwMode="auto">
          <a:xfrm>
            <a:off x="7539038" y="2090738"/>
            <a:ext cx="114300" cy="114300"/>
          </a:xfrm>
          <a:prstGeom prst="irregularSeal1">
            <a:avLst/>
          </a:prstGeom>
          <a:solidFill>
            <a:srgbClr val="660066"/>
          </a:solidFill>
          <a:ln w="9525" algn="in">
            <a:solidFill>
              <a:srgbClr val="660066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AutoShape 28"/>
          <p:cNvSpPr>
            <a:spLocks noChangeArrowheads="1"/>
          </p:cNvSpPr>
          <p:nvPr/>
        </p:nvSpPr>
        <p:spPr bwMode="auto">
          <a:xfrm>
            <a:off x="6110288" y="5519738"/>
            <a:ext cx="114300" cy="114300"/>
          </a:xfrm>
          <a:prstGeom prst="irregularSeal1">
            <a:avLst/>
          </a:prstGeom>
          <a:solidFill>
            <a:srgbClr val="660066"/>
          </a:solidFill>
          <a:ln w="9525" algn="in">
            <a:solidFill>
              <a:srgbClr val="660066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4" name="AutoShape 29"/>
          <p:cNvSpPr>
            <a:spLocks noChangeArrowheads="1"/>
          </p:cNvSpPr>
          <p:nvPr/>
        </p:nvSpPr>
        <p:spPr bwMode="auto">
          <a:xfrm>
            <a:off x="7653338" y="3233738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5" name="AutoShape 30"/>
          <p:cNvSpPr>
            <a:spLocks noChangeArrowheads="1"/>
          </p:cNvSpPr>
          <p:nvPr/>
        </p:nvSpPr>
        <p:spPr bwMode="auto">
          <a:xfrm>
            <a:off x="6681788" y="4833938"/>
            <a:ext cx="114300" cy="114300"/>
          </a:xfrm>
          <a:prstGeom prst="irregularSeal1">
            <a:avLst/>
          </a:prstGeom>
          <a:solidFill>
            <a:srgbClr val="660066"/>
          </a:solidFill>
          <a:ln w="9525" algn="in">
            <a:solidFill>
              <a:srgbClr val="660066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3" name="AutoShape 31"/>
          <p:cNvSpPr>
            <a:spLocks noChangeArrowheads="1"/>
          </p:cNvSpPr>
          <p:nvPr/>
        </p:nvSpPr>
        <p:spPr bwMode="auto">
          <a:xfrm>
            <a:off x="7424738" y="3684588"/>
            <a:ext cx="85725" cy="114300"/>
          </a:xfrm>
          <a:prstGeom prst="irregularSeal1">
            <a:avLst/>
          </a:prstGeom>
          <a:solidFill>
            <a:srgbClr val="33CC33"/>
          </a:solidFill>
          <a:ln w="9525" algn="in">
            <a:solidFill>
              <a:srgbClr val="33CC33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4" name="AutoShape 32"/>
          <p:cNvSpPr>
            <a:spLocks noChangeArrowheads="1"/>
          </p:cNvSpPr>
          <p:nvPr/>
        </p:nvSpPr>
        <p:spPr bwMode="auto">
          <a:xfrm>
            <a:off x="7824788" y="2890838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5" name="AutoShape 33"/>
          <p:cNvSpPr>
            <a:spLocks noChangeArrowheads="1"/>
          </p:cNvSpPr>
          <p:nvPr/>
        </p:nvSpPr>
        <p:spPr bwMode="auto">
          <a:xfrm>
            <a:off x="7691438" y="3576638"/>
            <a:ext cx="85725" cy="114300"/>
          </a:xfrm>
          <a:prstGeom prst="irregularSeal1">
            <a:avLst/>
          </a:prstGeom>
          <a:solidFill>
            <a:srgbClr val="33CC33"/>
          </a:solidFill>
          <a:ln w="9525" algn="in">
            <a:solidFill>
              <a:srgbClr val="33CC33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6" name="AutoShape 34"/>
          <p:cNvSpPr>
            <a:spLocks noChangeArrowheads="1"/>
          </p:cNvSpPr>
          <p:nvPr/>
        </p:nvSpPr>
        <p:spPr bwMode="auto">
          <a:xfrm>
            <a:off x="7196138" y="2376488"/>
            <a:ext cx="114300" cy="114300"/>
          </a:xfrm>
          <a:prstGeom prst="irregularSeal1">
            <a:avLst/>
          </a:prstGeom>
          <a:solidFill>
            <a:srgbClr val="660066"/>
          </a:solidFill>
          <a:ln w="9525" algn="in">
            <a:solidFill>
              <a:srgbClr val="660066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7" name="AutoShape 35"/>
          <p:cNvSpPr>
            <a:spLocks noChangeArrowheads="1"/>
          </p:cNvSpPr>
          <p:nvPr/>
        </p:nvSpPr>
        <p:spPr bwMode="auto">
          <a:xfrm>
            <a:off x="6738938" y="3690938"/>
            <a:ext cx="114300" cy="114300"/>
          </a:xfrm>
          <a:prstGeom prst="irregularSeal1">
            <a:avLst/>
          </a:prstGeom>
          <a:solidFill>
            <a:srgbClr val="660066"/>
          </a:solidFill>
          <a:ln w="9525" algn="in">
            <a:solidFill>
              <a:srgbClr val="660066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8" name="AutoShape 36"/>
          <p:cNvSpPr>
            <a:spLocks noChangeArrowheads="1"/>
          </p:cNvSpPr>
          <p:nvPr/>
        </p:nvSpPr>
        <p:spPr bwMode="auto">
          <a:xfrm>
            <a:off x="5938838" y="5805488"/>
            <a:ext cx="85725" cy="114300"/>
          </a:xfrm>
          <a:prstGeom prst="irregularSeal1">
            <a:avLst/>
          </a:prstGeom>
          <a:solidFill>
            <a:srgbClr val="33CC33"/>
          </a:solidFill>
          <a:ln w="9525" algn="in">
            <a:solidFill>
              <a:srgbClr val="33CC33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9" name="AutoShape 37"/>
          <p:cNvSpPr>
            <a:spLocks noChangeArrowheads="1"/>
          </p:cNvSpPr>
          <p:nvPr/>
        </p:nvSpPr>
        <p:spPr bwMode="auto">
          <a:xfrm>
            <a:off x="6910388" y="2662238"/>
            <a:ext cx="85725" cy="114300"/>
          </a:xfrm>
          <a:prstGeom prst="irregularSeal1">
            <a:avLst/>
          </a:prstGeom>
          <a:solidFill>
            <a:srgbClr val="33CC33"/>
          </a:solidFill>
          <a:ln w="9525" algn="in">
            <a:solidFill>
              <a:srgbClr val="33CC33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0" name="AutoShape 38"/>
          <p:cNvSpPr>
            <a:spLocks noChangeArrowheads="1"/>
          </p:cNvSpPr>
          <p:nvPr/>
        </p:nvSpPr>
        <p:spPr bwMode="auto">
          <a:xfrm>
            <a:off x="8224838" y="3576638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1" name="AutoShape 39"/>
          <p:cNvSpPr>
            <a:spLocks noChangeArrowheads="1"/>
          </p:cNvSpPr>
          <p:nvPr/>
        </p:nvSpPr>
        <p:spPr bwMode="auto">
          <a:xfrm>
            <a:off x="8015288" y="4681538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2" name="AutoShape 40"/>
          <p:cNvSpPr>
            <a:spLocks noChangeArrowheads="1"/>
          </p:cNvSpPr>
          <p:nvPr/>
        </p:nvSpPr>
        <p:spPr bwMode="auto">
          <a:xfrm>
            <a:off x="7837488" y="4148138"/>
            <a:ext cx="228600" cy="200025"/>
          </a:xfrm>
          <a:prstGeom prst="irregularSeal1">
            <a:avLst/>
          </a:prstGeom>
          <a:solidFill>
            <a:srgbClr val="000080"/>
          </a:solidFill>
          <a:ln w="9525" algn="in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3" name="AutoShape 41"/>
          <p:cNvSpPr>
            <a:spLocks noChangeArrowheads="1"/>
          </p:cNvSpPr>
          <p:nvPr/>
        </p:nvSpPr>
        <p:spPr bwMode="auto">
          <a:xfrm>
            <a:off x="7232650" y="2122488"/>
            <a:ext cx="85725" cy="114300"/>
          </a:xfrm>
          <a:prstGeom prst="irregularSeal1">
            <a:avLst/>
          </a:prstGeom>
          <a:solidFill>
            <a:srgbClr val="33CC33"/>
          </a:solidFill>
          <a:ln w="9525" algn="in">
            <a:solidFill>
              <a:srgbClr val="33CC33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4" name="AutoShape 42"/>
          <p:cNvSpPr>
            <a:spLocks noChangeArrowheads="1"/>
          </p:cNvSpPr>
          <p:nvPr/>
        </p:nvSpPr>
        <p:spPr bwMode="auto">
          <a:xfrm>
            <a:off x="7323138" y="5221288"/>
            <a:ext cx="228600" cy="200025"/>
          </a:xfrm>
          <a:prstGeom prst="irregularSeal1">
            <a:avLst/>
          </a:prstGeom>
          <a:solidFill>
            <a:srgbClr val="000080"/>
          </a:solidFill>
          <a:ln w="9525" algn="in">
            <a:solidFill>
              <a:srgbClr val="00008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5" name="AutoShape 43"/>
          <p:cNvSpPr>
            <a:spLocks noChangeArrowheads="1"/>
          </p:cNvSpPr>
          <p:nvPr/>
        </p:nvSpPr>
        <p:spPr bwMode="auto">
          <a:xfrm>
            <a:off x="6705600" y="3005138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6" name="AutoShape 44"/>
          <p:cNvSpPr>
            <a:spLocks noChangeArrowheads="1"/>
          </p:cNvSpPr>
          <p:nvPr/>
        </p:nvSpPr>
        <p:spPr bwMode="auto">
          <a:xfrm>
            <a:off x="7780338" y="2613025"/>
            <a:ext cx="171450" cy="123825"/>
          </a:xfrm>
          <a:prstGeom prst="irregularSeal1">
            <a:avLst/>
          </a:prstGeom>
          <a:solidFill>
            <a:srgbClr val="FF0000"/>
          </a:solidFill>
          <a:ln w="9525" algn="in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0639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Overview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52600"/>
            <a:ext cx="8336872" cy="609600"/>
          </a:xfrm>
        </p:spPr>
        <p:txBody>
          <a:bodyPr/>
          <a:lstStyle/>
          <a:p>
            <a:r>
              <a:rPr lang="en-US" dirty="0" smtClean="0"/>
              <a:t>Counties with </a:t>
            </a:r>
            <a:r>
              <a:rPr lang="en-US" dirty="0" err="1" smtClean="0"/>
              <a:t>Unserved</a:t>
            </a:r>
            <a:r>
              <a:rPr lang="en-US" dirty="0" smtClean="0"/>
              <a:t> by ILF District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8260672" cy="4191000"/>
          </a:xfrm>
        </p:spPr>
        <p:txBody>
          <a:bodyPr/>
          <a:lstStyle/>
          <a:p>
            <a:pPr marL="114300" indent="0">
              <a:buNone/>
            </a:pPr>
            <a:r>
              <a:rPr lang="en-US" dirty="0" smtClean="0"/>
              <a:t>District 1: 	5 counties		5 / 11		45.5% </a:t>
            </a:r>
          </a:p>
          <a:p>
            <a:pPr marL="114300" indent="0">
              <a:buNone/>
            </a:pPr>
            <a:r>
              <a:rPr lang="en-US" dirty="0" smtClean="0"/>
              <a:t>District 2: 	7 counties		7 / 14		50.0%</a:t>
            </a:r>
          </a:p>
          <a:p>
            <a:pPr marL="114300" indent="0">
              <a:buNone/>
            </a:pPr>
            <a:r>
              <a:rPr lang="en-US" dirty="0" smtClean="0"/>
              <a:t>District 3: 	6 counties 		6 / 9		66.7%</a:t>
            </a:r>
          </a:p>
          <a:p>
            <a:pPr marL="114300" indent="0">
              <a:buNone/>
            </a:pPr>
            <a:r>
              <a:rPr lang="en-US" dirty="0" smtClean="0"/>
              <a:t>District 4: 	3 counties		3 / 8		37.5%</a:t>
            </a:r>
          </a:p>
          <a:p>
            <a:pPr marL="114300" indent="0">
              <a:buNone/>
            </a:pPr>
            <a:r>
              <a:rPr lang="en-US" dirty="0" smtClean="0"/>
              <a:t>District 5: 	3 counties		3 / 10		30.0%</a:t>
            </a:r>
          </a:p>
          <a:p>
            <a:pPr marL="114300" indent="0">
              <a:buNone/>
            </a:pPr>
            <a:r>
              <a:rPr lang="en-US" dirty="0" smtClean="0"/>
              <a:t>District 6: 	3 counties 		3 / 17		17.6%</a:t>
            </a:r>
          </a:p>
          <a:p>
            <a:pPr marL="114300" indent="0">
              <a:buNone/>
            </a:pPr>
            <a:r>
              <a:rPr lang="en-US" dirty="0" smtClean="0"/>
              <a:t>District 7: 	4 counties		4 / 11		36.4%</a:t>
            </a:r>
          </a:p>
          <a:p>
            <a:pPr marL="114300" indent="0">
              <a:buNone/>
            </a:pPr>
            <a:r>
              <a:rPr lang="en-US" dirty="0" smtClean="0"/>
              <a:t>District 8: 	7 counties		7 / 12		58.3%</a:t>
            </a:r>
          </a:p>
          <a:p>
            <a:pPr marL="114300" indent="0">
              <a:buNone/>
            </a:pPr>
            <a:r>
              <a:rPr lang="en-US" dirty="0" smtClean="0"/>
              <a:t>Statewide:		</a:t>
            </a:r>
            <a:r>
              <a:rPr lang="en-US" smtClean="0"/>
              <a:t>		38 </a:t>
            </a:r>
            <a:r>
              <a:rPr lang="en-US" dirty="0" smtClean="0"/>
              <a:t>/ 92	41.3%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20701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1816 Constitution</a:t>
            </a:r>
          </a:p>
          <a:p>
            <a:pPr lvl="1"/>
            <a:r>
              <a:rPr lang="en-US" dirty="0" smtClean="0"/>
              <a:t>County libraries</a:t>
            </a:r>
          </a:p>
          <a:p>
            <a:r>
              <a:rPr lang="en-US" dirty="0" smtClean="0"/>
              <a:t>Early 1900s</a:t>
            </a:r>
          </a:p>
          <a:p>
            <a:pPr lvl="1"/>
            <a:r>
              <a:rPr lang="en-US" dirty="0" smtClean="0"/>
              <a:t>Establishment of libraries</a:t>
            </a:r>
          </a:p>
          <a:p>
            <a:pPr lvl="1"/>
            <a:r>
              <a:rPr lang="en-US" dirty="0" smtClean="0"/>
              <a:t>Funding</a:t>
            </a:r>
          </a:p>
          <a:p>
            <a:pPr lvl="1"/>
            <a:r>
              <a:rPr lang="en-US" dirty="0" smtClean="0"/>
              <a:t>Township Act</a:t>
            </a:r>
          </a:p>
          <a:p>
            <a:pPr lvl="1"/>
            <a:r>
              <a:rPr lang="en-US" dirty="0" err="1" smtClean="0"/>
              <a:t>Contractuals</a:t>
            </a: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800" y="1719071"/>
            <a:ext cx="2667000" cy="4407408"/>
          </a:xfrm>
        </p:spPr>
        <p:txBody>
          <a:bodyPr/>
          <a:lstStyle/>
          <a:p>
            <a:r>
              <a:rPr lang="en-US" dirty="0" smtClean="0"/>
              <a:t>Library Law of 1947</a:t>
            </a:r>
          </a:p>
          <a:p>
            <a:pPr lvl="1"/>
            <a:r>
              <a:rPr lang="en-US" dirty="0" smtClean="0"/>
              <a:t>Studies on funding &amp; structure</a:t>
            </a:r>
          </a:p>
          <a:p>
            <a:pPr lvl="1"/>
            <a:r>
              <a:rPr lang="en-US" dirty="0" smtClean="0"/>
              <a:t>Discussions on </a:t>
            </a:r>
            <a:r>
              <a:rPr lang="en-US" dirty="0" err="1" smtClean="0"/>
              <a:t>Unserved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628900"/>
            <a:ext cx="19050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29946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Studies addressing </a:t>
            </a:r>
            <a:r>
              <a:rPr lang="en-US" dirty="0" err="1" smtClean="0"/>
              <a:t>unserved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70668" y="1908096"/>
            <a:ext cx="48006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1965-66  Legislative Study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1967 Legislative Study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1993 Legislative Study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1994 Legislative Study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2007 </a:t>
            </a:r>
            <a:r>
              <a:rPr lang="en-US" sz="2800" dirty="0" err="1" smtClean="0"/>
              <a:t>Unserved</a:t>
            </a:r>
            <a:r>
              <a:rPr lang="en-US" sz="2800" dirty="0" smtClean="0"/>
              <a:t> Taskforce 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2007 </a:t>
            </a:r>
            <a:r>
              <a:rPr lang="en-US" sz="2800" dirty="0" err="1" smtClean="0"/>
              <a:t>Kernan</a:t>
            </a:r>
            <a:r>
              <a:rPr lang="en-US" sz="2800" dirty="0" smtClean="0"/>
              <a:t>-Shepard Report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2008 Library Coalition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</p:txBody>
      </p:sp>
      <p:pic>
        <p:nvPicPr>
          <p:cNvPr id="1026" name="Picture 2" descr="http://4.bp.blogspot.com/-ZYAigSK0I6k/T2ohy1r0glI/AAAAAAAAAYc/8M8Yl7mU1vI/s1600/indiana%2Bgeneral%2Bassembly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604" y="2639115"/>
            <a:ext cx="3622002" cy="308540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847302573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Studies &amp; Legislation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895475"/>
            <a:ext cx="3621087" cy="308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381000" y="1905000"/>
            <a:ext cx="4495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1965-66  Legislative Study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1967 Legislative </a:t>
            </a:r>
            <a:r>
              <a:rPr lang="en-US" sz="2800" dirty="0" smtClean="0">
                <a:solidFill>
                  <a:schemeClr val="tx2"/>
                </a:solidFill>
              </a:rPr>
              <a:t>Study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>
                <a:solidFill>
                  <a:schemeClr val="tx2"/>
                </a:solidFill>
              </a:rPr>
              <a:t>1979</a:t>
            </a:r>
          </a:p>
          <a:p>
            <a:pPr lvl="1"/>
            <a:r>
              <a:rPr lang="en-US" sz="2000" dirty="0" smtClean="0">
                <a:solidFill>
                  <a:schemeClr val="tx2"/>
                </a:solidFill>
              </a:rPr>
              <a:t>Consolidation </a:t>
            </a:r>
            <a:r>
              <a:rPr lang="en-US" sz="2000" dirty="0">
                <a:solidFill>
                  <a:schemeClr val="tx2"/>
                </a:solidFill>
              </a:rPr>
              <a:t>of Fort Wayne Public &amp; Allen County </a:t>
            </a:r>
            <a:r>
              <a:rPr lang="en-US" sz="2000" dirty="0" smtClean="0">
                <a:solidFill>
                  <a:schemeClr val="tx2"/>
                </a:solidFill>
              </a:rPr>
              <a:t>Contractual</a:t>
            </a:r>
            <a:endParaRPr lang="en-US" sz="2800" dirty="0">
              <a:solidFill>
                <a:schemeClr val="tx2"/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1993 Legislative Study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1994 Legislative </a:t>
            </a:r>
            <a:r>
              <a:rPr lang="en-US" sz="2800" dirty="0" smtClean="0">
                <a:solidFill>
                  <a:schemeClr val="tx2"/>
                </a:solidFill>
              </a:rPr>
              <a:t>Study</a:t>
            </a:r>
          </a:p>
          <a:p>
            <a:pPr lvl="1"/>
            <a:r>
              <a:rPr lang="en-US" sz="2000" dirty="0" smtClean="0">
                <a:solidFill>
                  <a:schemeClr val="tx2"/>
                </a:solidFill>
              </a:rPr>
              <a:t>Committees in each county to study and recommend library structure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31457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Legislation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2514599"/>
            <a:ext cx="4222072" cy="361187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1999 </a:t>
            </a:r>
            <a:r>
              <a:rPr lang="en-US" dirty="0"/>
              <a:t>Sen. </a:t>
            </a:r>
            <a:r>
              <a:rPr lang="en-US" dirty="0" err="1" smtClean="0"/>
              <a:t>Gard</a:t>
            </a:r>
            <a:r>
              <a:rPr lang="en-US" dirty="0" smtClean="0"/>
              <a:t>                   	SEA </a:t>
            </a:r>
            <a:r>
              <a:rPr lang="en-US" dirty="0"/>
              <a:t>166-1999 </a:t>
            </a:r>
            <a:endParaRPr lang="en-US" dirty="0" smtClean="0"/>
          </a:p>
          <a:p>
            <a:pPr lvl="1"/>
            <a:r>
              <a:rPr lang="en-US" dirty="0" smtClean="0"/>
              <a:t>Hancock Co</a:t>
            </a:r>
            <a:r>
              <a:rPr lang="en-US" dirty="0"/>
              <a:t>. </a:t>
            </a:r>
            <a:r>
              <a:rPr lang="en-US" dirty="0" smtClean="0"/>
              <a:t>CEDIT</a:t>
            </a:r>
          </a:p>
          <a:p>
            <a:r>
              <a:rPr lang="en-US" dirty="0" smtClean="0"/>
              <a:t>2000 Rep. Ripley</a:t>
            </a:r>
          </a:p>
          <a:p>
            <a:pPr lvl="1"/>
            <a:r>
              <a:rPr lang="en-US" dirty="0" smtClean="0"/>
              <a:t>Gave Adams County townships the ability to partially or fully fund individual non-resident cards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590799"/>
            <a:ext cx="4038600" cy="3535679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1999 Sen</a:t>
            </a:r>
            <a:r>
              <a:rPr lang="en-US" dirty="0"/>
              <a:t>. </a:t>
            </a:r>
            <a:r>
              <a:rPr lang="en-US" dirty="0" smtClean="0"/>
              <a:t>Kruse</a:t>
            </a:r>
          </a:p>
          <a:p>
            <a:pPr lvl="1"/>
            <a:r>
              <a:rPr lang="en-US" dirty="0" smtClean="0"/>
              <a:t>Township-focused option to join library districts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175260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Passed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05400" y="175260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Failed</a:t>
            </a:r>
            <a:endParaRPr lang="en-US" dirty="0"/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428" y="4267200"/>
            <a:ext cx="1899743" cy="198810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80739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2007 </a:t>
            </a:r>
            <a:r>
              <a:rPr lang="en-US" dirty="0" err="1" smtClean="0"/>
              <a:t>Unserved</a:t>
            </a:r>
            <a:r>
              <a:rPr lang="en-US" dirty="0" smtClean="0"/>
              <a:t> Taskforce</a:t>
            </a:r>
          </a:p>
          <a:p>
            <a:pPr lvl="1"/>
            <a:r>
              <a:rPr lang="en-US" dirty="0" smtClean="0"/>
              <a:t>Publicly supported library service should be universally available</a:t>
            </a:r>
          </a:p>
          <a:p>
            <a:pPr lvl="1"/>
            <a:r>
              <a:rPr lang="en-US" dirty="0" smtClean="0"/>
              <a:t>Indiana libraries should provide fair &amp; equitable service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 smtClean="0"/>
              <a:t>Kernan</a:t>
            </a:r>
            <a:r>
              <a:rPr lang="en-US" dirty="0" smtClean="0"/>
              <a:t>-Shepard</a:t>
            </a:r>
          </a:p>
          <a:p>
            <a:pPr lvl="1"/>
            <a:r>
              <a:rPr lang="en-US" dirty="0" smtClean="0"/>
              <a:t>92 county libraries</a:t>
            </a:r>
          </a:p>
          <a:p>
            <a:r>
              <a:rPr lang="en-US" dirty="0" smtClean="0"/>
              <a:t>Library Coalition</a:t>
            </a:r>
          </a:p>
          <a:p>
            <a:pPr lvl="1"/>
            <a:r>
              <a:rPr lang="en-US" dirty="0" smtClean="0"/>
              <a:t>Structure &amp; funding of libraries </a:t>
            </a:r>
            <a:endParaRPr lang="en-US" dirty="0"/>
          </a:p>
          <a:p>
            <a:pPr lvl="1"/>
            <a:r>
              <a:rPr lang="en-US" dirty="0" smtClean="0"/>
              <a:t>Coalition representative of all sizes of public libraries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61240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Legislation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0"/>
            <a:ext cx="4038600" cy="475792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2009 Sen. </a:t>
            </a:r>
            <a:r>
              <a:rPr lang="en-US" dirty="0" err="1" smtClean="0"/>
              <a:t>Gard</a:t>
            </a:r>
            <a:endParaRPr lang="en-US" dirty="0" smtClean="0"/>
          </a:p>
          <a:p>
            <a:pPr lvl="1"/>
            <a:r>
              <a:rPr lang="en-US" dirty="0" smtClean="0"/>
              <a:t>Catalysts: Local Government Reform, Taskforce on </a:t>
            </a:r>
            <a:r>
              <a:rPr lang="en-US" dirty="0" err="1" smtClean="0"/>
              <a:t>Unserved</a:t>
            </a:r>
            <a:r>
              <a:rPr lang="en-US" dirty="0" smtClean="0"/>
              <a:t>, Library Coalition</a:t>
            </a:r>
          </a:p>
          <a:p>
            <a:pPr lvl="1"/>
            <a:r>
              <a:rPr lang="en-US" dirty="0" smtClean="0"/>
              <a:t>Addressed library structure &amp; funding</a:t>
            </a:r>
          </a:p>
          <a:p>
            <a:pPr lvl="1"/>
            <a:r>
              <a:rPr lang="en-US" dirty="0" smtClean="0"/>
              <a:t>Planning Committees in each county</a:t>
            </a:r>
          </a:p>
          <a:p>
            <a:pPr lvl="1"/>
            <a:r>
              <a:rPr lang="en-US" dirty="0" smtClean="0"/>
              <a:t>If Committee fails to develop plan, ISL develops plan for county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48200" y="1719070"/>
            <a:ext cx="4038600" cy="475792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2012 Sen. Kruse</a:t>
            </a:r>
          </a:p>
          <a:p>
            <a:pPr lvl="1"/>
            <a:r>
              <a:rPr lang="en-US" dirty="0" smtClean="0"/>
              <a:t>Initiated by DeKalb County Libraries</a:t>
            </a:r>
          </a:p>
          <a:p>
            <a:pPr lvl="1"/>
            <a:r>
              <a:rPr lang="en-US" dirty="0" smtClean="0"/>
              <a:t>Addressed only counties with </a:t>
            </a:r>
            <a:r>
              <a:rPr lang="en-US" dirty="0" err="1" smtClean="0"/>
              <a:t>unserved</a:t>
            </a:r>
            <a:endParaRPr lang="en-US" dirty="0" smtClean="0"/>
          </a:p>
          <a:p>
            <a:pPr lvl="1"/>
            <a:r>
              <a:rPr lang="en-US" dirty="0" smtClean="0"/>
              <a:t>Planning Committees formed</a:t>
            </a:r>
          </a:p>
          <a:p>
            <a:pPr lvl="1"/>
            <a:r>
              <a:rPr lang="en-US" dirty="0" smtClean="0"/>
              <a:t>A developed plan will be put to voters in a referendum</a:t>
            </a:r>
          </a:p>
          <a:p>
            <a:pPr lvl="1"/>
            <a:r>
              <a:rPr lang="en-US" dirty="0" smtClean="0"/>
              <a:t>If referendum fails, Committee disbanded for four years. 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63220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44310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#1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US" sz="4400" dirty="0" smtClean="0"/>
              <a:t>Legislation</a:t>
            </a:r>
          </a:p>
          <a:p>
            <a:pPr marL="114300" indent="0">
              <a:buNone/>
            </a:pPr>
            <a:r>
              <a:rPr lang="en-US" sz="4400" dirty="0" smtClean="0"/>
              <a:t>What features would you like to see in legislation to bring full service throughout Indiana?</a:t>
            </a:r>
            <a:endParaRPr lang="en-US" sz="4400" dirty="0"/>
          </a:p>
        </p:txBody>
      </p:sp>
    </p:spTree>
    <p:extLst>
      <p:ext uri="{BB962C8B-B14F-4D97-AF65-F5344CB8AC3E}">
        <p14:creationId xmlns="" xmlns:p14="http://schemas.microsoft.com/office/powerpoint/2010/main" val="3707896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Related issues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E-government Services</a:t>
            </a:r>
          </a:p>
          <a:p>
            <a:r>
              <a:rPr lang="en-US" dirty="0" smtClean="0"/>
              <a:t>Tax Caps</a:t>
            </a:r>
          </a:p>
          <a:p>
            <a:r>
              <a:rPr lang="en-US" dirty="0" smtClean="0"/>
              <a:t>Contracts with Townships</a:t>
            </a:r>
          </a:p>
          <a:p>
            <a:r>
              <a:rPr lang="en-US" dirty="0" smtClean="0"/>
              <a:t>Serving Schools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PLAC</a:t>
            </a:r>
          </a:p>
          <a:p>
            <a:r>
              <a:rPr lang="en-US" dirty="0" smtClean="0"/>
              <a:t>Reciprocal Borrowing</a:t>
            </a:r>
          </a:p>
          <a:p>
            <a:r>
              <a:rPr lang="en-US" dirty="0" smtClean="0"/>
              <a:t>Other?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4194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sz="4400" dirty="0" smtClean="0"/>
              <a:t>#2: What would you like to see to help you market this issue to your communities?</a:t>
            </a:r>
          </a:p>
          <a:p>
            <a:pPr marL="114300" indent="0">
              <a:buNone/>
            </a:pPr>
            <a:endParaRPr lang="en-US" sz="4400" dirty="0" smtClean="0"/>
          </a:p>
          <a:p>
            <a:pPr marL="114300" indent="0">
              <a:buNone/>
            </a:pPr>
            <a:r>
              <a:rPr lang="en-US" sz="4400" dirty="0" smtClean="0"/>
              <a:t>#3: What additional ways can you suggest to accomplish our goal of universal service?</a:t>
            </a:r>
            <a:endParaRPr lang="en-US" sz="4400" dirty="0"/>
          </a:p>
        </p:txBody>
      </p:sp>
    </p:spTree>
    <p:extLst>
      <p:ext uri="{BB962C8B-B14F-4D97-AF65-F5344CB8AC3E}">
        <p14:creationId xmlns="" xmlns:p14="http://schemas.microsoft.com/office/powerpoint/2010/main" val="3305542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Happens Next?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1981200"/>
            <a:ext cx="75438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tx2"/>
                </a:solidFill>
              </a:rPr>
              <a:t>Summit Follow-Up</a:t>
            </a:r>
          </a:p>
          <a:p>
            <a:pPr algn="ctr"/>
            <a:r>
              <a:rPr lang="en-US" sz="4000" dirty="0" smtClean="0">
                <a:solidFill>
                  <a:schemeClr val="tx2"/>
                </a:solidFill>
              </a:rPr>
              <a:t>August 9, 2012</a:t>
            </a:r>
          </a:p>
          <a:p>
            <a:pPr algn="ctr"/>
            <a:endParaRPr lang="en-US" sz="4000" dirty="0">
              <a:solidFill>
                <a:schemeClr val="tx2"/>
              </a:solidFill>
            </a:endParaRPr>
          </a:p>
          <a:p>
            <a:pPr algn="ctr"/>
            <a:r>
              <a:rPr lang="en-US" sz="2000" dirty="0">
                <a:solidFill>
                  <a:schemeClr val="tx2"/>
                </a:solidFill>
              </a:rPr>
              <a:t>Survey Results</a:t>
            </a:r>
          </a:p>
          <a:p>
            <a:pPr algn="ctr"/>
            <a:r>
              <a:rPr lang="en-US" sz="2000" dirty="0">
                <a:solidFill>
                  <a:schemeClr val="tx2"/>
                </a:solidFill>
              </a:rPr>
              <a:t>Draft Legislation</a:t>
            </a:r>
          </a:p>
          <a:p>
            <a:pPr algn="ctr"/>
            <a:r>
              <a:rPr lang="en-US" sz="2000" dirty="0">
                <a:solidFill>
                  <a:schemeClr val="tx2"/>
                </a:solidFill>
              </a:rPr>
              <a:t>Hearing from our Representatives</a:t>
            </a:r>
          </a:p>
          <a:p>
            <a:pPr algn="ctr"/>
            <a:r>
              <a:rPr lang="en-US" sz="2000" dirty="0">
                <a:solidFill>
                  <a:schemeClr val="tx2"/>
                </a:solidFill>
              </a:rPr>
              <a:t>Talking Points</a:t>
            </a:r>
          </a:p>
          <a:p>
            <a:pPr algn="ctr"/>
            <a:endParaRPr lang="en-US" sz="4000" dirty="0" smtClean="0">
              <a:solidFill>
                <a:schemeClr val="tx2"/>
              </a:solidFill>
            </a:endParaRPr>
          </a:p>
          <a:p>
            <a:pPr algn="ctr"/>
            <a:endParaRPr lang="en-US" sz="4000" dirty="0" smtClean="0">
              <a:solidFill>
                <a:schemeClr val="tx2"/>
              </a:solidFill>
            </a:endParaRPr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1016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1981200"/>
            <a:ext cx="8305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solidFill>
                  <a:schemeClr val="tx2"/>
                </a:solidFill>
              </a:rPr>
              <a:t>Online Survey</a:t>
            </a:r>
          </a:p>
          <a:p>
            <a:r>
              <a:rPr lang="en-US" sz="2000" dirty="0" smtClean="0">
                <a:solidFill>
                  <a:schemeClr val="tx2"/>
                </a:solidFill>
              </a:rPr>
              <a:t>Please complete the online survey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smtClean="0">
                <a:solidFill>
                  <a:schemeClr val="tx2"/>
                </a:solidFill>
              </a:rPr>
              <a:t>at: </a:t>
            </a:r>
          </a:p>
          <a:p>
            <a:pPr algn="ctr"/>
            <a:r>
              <a:rPr lang="en-US" sz="2000" dirty="0" smtClean="0">
                <a:solidFill>
                  <a:schemeClr val="tx2"/>
                </a:solidFill>
              </a:rPr>
              <a:t>https://www.surveymonkey.com/s/T7GBH72</a:t>
            </a:r>
          </a:p>
          <a:p>
            <a:endParaRPr lang="en-US" sz="2000" dirty="0" smtClean="0">
              <a:solidFill>
                <a:schemeClr val="tx2"/>
              </a:solidFill>
            </a:endParaRPr>
          </a:p>
          <a:p>
            <a:endParaRPr lang="en-US" sz="2000" dirty="0">
              <a:solidFill>
                <a:schemeClr val="tx2"/>
              </a:solidFill>
            </a:endParaRPr>
          </a:p>
          <a:p>
            <a:r>
              <a:rPr lang="en-US" sz="2000" dirty="0" smtClean="0">
                <a:solidFill>
                  <a:schemeClr val="tx2"/>
                </a:solidFill>
              </a:rPr>
              <a:t>Information needed: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>
                <a:solidFill>
                  <a:schemeClr val="tx2"/>
                </a:solidFill>
              </a:rPr>
              <a:t>A list of studies* (local, regional) suggesting a need to extend library service in your communities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>
                <a:solidFill>
                  <a:schemeClr val="tx2"/>
                </a:solidFill>
              </a:rPr>
              <a:t>A list  of your county’s attempts to extend service to </a:t>
            </a:r>
            <a:r>
              <a:rPr lang="en-US" sz="2000" dirty="0" err="1" smtClean="0">
                <a:solidFill>
                  <a:schemeClr val="tx2"/>
                </a:solidFill>
              </a:rPr>
              <a:t>unserved</a:t>
            </a:r>
            <a:r>
              <a:rPr lang="en-US" sz="2000" dirty="0" smtClean="0">
                <a:solidFill>
                  <a:schemeClr val="tx2"/>
                </a:solidFill>
              </a:rPr>
              <a:t> areas</a:t>
            </a:r>
          </a:p>
          <a:p>
            <a:endParaRPr lang="en-US" sz="2000" dirty="0"/>
          </a:p>
          <a:p>
            <a:r>
              <a:rPr lang="en-US" sz="2000" dirty="0" smtClean="0"/>
              <a:t>*Please email copies of the studies to Ehinger@apls.lib.in.us</a:t>
            </a: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34355724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920</TotalTime>
  <Words>684</Words>
  <Application>Microsoft Office PowerPoint</Application>
  <PresentationFormat>On-screen Show (4:3)</PresentationFormat>
  <Paragraphs>180</Paragraphs>
  <Slides>17</Slides>
  <Notes>17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Apothecary</vt:lpstr>
      <vt:lpstr>Summit on Serving the Unserved</vt:lpstr>
      <vt:lpstr>Today’s Agenda</vt:lpstr>
      <vt:lpstr>An Overview</vt:lpstr>
      <vt:lpstr>An Overview</vt:lpstr>
      <vt:lpstr>An Overview</vt:lpstr>
      <vt:lpstr>History</vt:lpstr>
      <vt:lpstr>Studies addressing unserved</vt:lpstr>
      <vt:lpstr>Studies &amp; Legislation</vt:lpstr>
      <vt:lpstr>Legislation</vt:lpstr>
      <vt:lpstr>Studies</vt:lpstr>
      <vt:lpstr>Legislation</vt:lpstr>
      <vt:lpstr>Discussion</vt:lpstr>
      <vt:lpstr>Discussion #1</vt:lpstr>
      <vt:lpstr>Related issues</vt:lpstr>
      <vt:lpstr>Discussion </vt:lpstr>
      <vt:lpstr>What Happens Next?</vt:lpstr>
      <vt:lpstr>Homework</vt:lpstr>
    </vt:vector>
  </TitlesOfParts>
  <Company>Decatur Public Library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Summit on Serving the Unserved</dc:title>
  <dc:creator>Kelly Ehinger</dc:creator>
  <cp:lastModifiedBy>wknapp</cp:lastModifiedBy>
  <cp:revision>74</cp:revision>
  <cp:lastPrinted>2012-07-10T15:49:24Z</cp:lastPrinted>
  <dcterms:created xsi:type="dcterms:W3CDTF">2012-06-19T19:36:44Z</dcterms:created>
  <dcterms:modified xsi:type="dcterms:W3CDTF">2012-07-11T13:16:08Z</dcterms:modified>
</cp:coreProperties>
</file>