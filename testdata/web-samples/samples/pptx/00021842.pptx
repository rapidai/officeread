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slides/slide38.xml" ContentType="application/vnd.openxmlformats-officedocument.presentationml.slide+xml"/>
  <Default Extension="rels" ContentType="application/vnd.openxmlformats-package.relationships+xml"/>
  <Default Extension="jpeg" ContentType="image/jpeg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34.xml" ContentType="application/vnd.openxmlformats-officedocument.presentationml.slide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30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7.xml" ContentType="application/vnd.openxmlformats-officedocument.presentationml.slide+xml"/>
  <Override PartName="/ppt/slides/slide35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1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slides/slide36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slides/slide37.xml" ContentType="application/vnd.openxmlformats-officedocument.presentationml.slide+xml"/>
  <Override PartName="/ppt/slides/slide2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796" r:id="rId1"/>
  </p:sldMasterIdLst>
  <p:notesMasterIdLst>
    <p:notesMasterId r:id="rId40"/>
  </p:notesMasterIdLst>
  <p:sldIdLst>
    <p:sldId id="256" r:id="rId2"/>
    <p:sldId id="279" r:id="rId3"/>
    <p:sldId id="280" r:id="rId4"/>
    <p:sldId id="283" r:id="rId5"/>
    <p:sldId id="258" r:id="rId6"/>
    <p:sldId id="261" r:id="rId7"/>
    <p:sldId id="260" r:id="rId8"/>
    <p:sldId id="276" r:id="rId9"/>
    <p:sldId id="284" r:id="rId10"/>
    <p:sldId id="267" r:id="rId11"/>
    <p:sldId id="273" r:id="rId12"/>
    <p:sldId id="287" r:id="rId13"/>
    <p:sldId id="263" r:id="rId14"/>
    <p:sldId id="269" r:id="rId15"/>
    <p:sldId id="265" r:id="rId16"/>
    <p:sldId id="285" r:id="rId17"/>
    <p:sldId id="259" r:id="rId18"/>
    <p:sldId id="295" r:id="rId19"/>
    <p:sldId id="286" r:id="rId20"/>
    <p:sldId id="292" r:id="rId21"/>
    <p:sldId id="293" r:id="rId22"/>
    <p:sldId id="294" r:id="rId23"/>
    <p:sldId id="296" r:id="rId24"/>
    <p:sldId id="288" r:id="rId25"/>
    <p:sldId id="270" r:id="rId26"/>
    <p:sldId id="275" r:id="rId27"/>
    <p:sldId id="272" r:id="rId28"/>
    <p:sldId id="274" r:id="rId29"/>
    <p:sldId id="289" r:id="rId30"/>
    <p:sldId id="266" r:id="rId31"/>
    <p:sldId id="262" r:id="rId32"/>
    <p:sldId id="257" r:id="rId33"/>
    <p:sldId id="297" r:id="rId34"/>
    <p:sldId id="290" r:id="rId35"/>
    <p:sldId id="278" r:id="rId36"/>
    <p:sldId id="277" r:id="rId37"/>
    <p:sldId id="281" r:id="rId38"/>
    <p:sldId id="282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89815" autoAdjust="0"/>
  </p:normalViewPr>
  <p:slideViewPr>
    <p:cSldViewPr snapToGrid="0" snapToObjects="1">
      <p:cViewPr varScale="1">
        <p:scale>
          <a:sx n="85" d="100"/>
          <a:sy n="85" d="100"/>
        </p:scale>
        <p:origin x="-101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interSettings" Target="printerSettings/printerSettings1.bin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FD0A0-5777-1145-BEDF-D8C8DA40ADEA}" type="datetimeFigureOut">
              <a:rPr lang="en-US" smtClean="0"/>
              <a:pPr/>
              <a:t>11/13/12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91D4A-E350-6742-9C37-00A44991AFE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Not-for-profit" TargetMode="External"/><Relationship Id="rId4" Type="http://schemas.openxmlformats.org/officeDocument/2006/relationships/hyperlink" Target="http://en.wikipedia.org/wiki/News_leak" TargetMode="External"/><Relationship Id="rId5" Type="http://schemas.openxmlformats.org/officeDocument/2006/relationships/hyperlink" Target="http://en.wikipedia.org/wiki/Journalism_sourcing" TargetMode="External"/><Relationship Id="rId6" Type="http://schemas.openxmlformats.org/officeDocument/2006/relationships/hyperlink" Target="http://en.wikipedia.org/wiki/Whistleblower" TargetMode="External"/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WikiLeaks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an international, online, self-described </a:t>
            </a:r>
            <a:r>
              <a: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  <a:hlinkClick r:id="rId3"/>
              </a:rPr>
              <a:t>not-for-profit[2] organisation publishing submissions of secret information, </a:t>
            </a:r>
            <a:r>
              <a: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  <a:hlinkClick r:id="rId4"/>
              </a:rPr>
              <a:t>news leaks,[5] and classified media from anonymous </a:t>
            </a:r>
            <a:r>
              <a: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  <a:hlinkClick r:id="rId5"/>
              </a:rPr>
              <a:t>news sources[2] and </a:t>
            </a:r>
            <a:r>
              <a:rPr lang="en-US" sz="1200" b="1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  <a:hlinkClick r:id="rId6"/>
              </a:rPr>
              <a:t>whistleblowers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6"/>
              </a:rPr>
              <a:t>.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They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claim almost two million hits/day.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91D4A-E350-6742-9C37-00A44991AFE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Website receives 500,000 downloads 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91D4A-E350-6742-9C37-00A44991AFE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As</a:t>
            </a:r>
            <a:r>
              <a:rPr lang="en-US" baseline="0" dirty="0" smtClean="0"/>
              <a:t> of June 2011: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 we have two million lines corrected every month and this figure continues to increase.  There are nearly forty million lines of text corrected to date, by over 30,000 volunteers.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91D4A-E350-6742-9C37-00A44991AFE7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91D4A-E350-6742-9C37-00A44991AFE7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447B-3ECA-8248-A441-6D10D89A727D}" type="datetimeFigureOut">
              <a:rPr lang="en-US" smtClean="0"/>
              <a:pPr/>
              <a:t>11/13/12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56213-B4C4-4C5C-8EAE-01416D175C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447B-3ECA-8248-A441-6D10D89A727D}" type="datetimeFigureOut">
              <a:rPr lang="en-US" smtClean="0"/>
              <a:pPr/>
              <a:t>11/13/12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302-F178-AC4C-A215-132E1BF459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447B-3ECA-8248-A441-6D10D89A727D}" type="datetimeFigureOut">
              <a:rPr lang="en-US" smtClean="0"/>
              <a:pPr/>
              <a:t>11/13/12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302-F178-AC4C-A215-132E1BF459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447B-3ECA-8248-A441-6D10D89A727D}" type="datetimeFigureOut">
              <a:rPr lang="en-US" smtClean="0"/>
              <a:pPr/>
              <a:t>11/13/12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302-F178-AC4C-A215-132E1BF459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447B-3ECA-8248-A441-6D10D89A727D}" type="datetimeFigureOut">
              <a:rPr lang="en-US" smtClean="0"/>
              <a:pPr/>
              <a:t>11/13/12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302-F178-AC4C-A215-132E1BF459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447B-3ECA-8248-A441-6D10D89A727D}" type="datetimeFigureOut">
              <a:rPr lang="en-US" smtClean="0"/>
              <a:pPr/>
              <a:t>11/13/12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302-F178-AC4C-A215-132E1BF459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447B-3ECA-8248-A441-6D10D89A727D}" type="datetimeFigureOut">
              <a:rPr lang="en-US" smtClean="0"/>
              <a:pPr/>
              <a:t>11/13/12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302-F178-AC4C-A215-132E1BF459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447B-3ECA-8248-A441-6D10D89A727D}" type="datetimeFigureOut">
              <a:rPr lang="en-US" smtClean="0"/>
              <a:pPr/>
              <a:t>11/13/12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302-F178-AC4C-A215-132E1BF459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3818447B-3ECA-8248-A441-6D10D89A727D}" type="datetimeFigureOut">
              <a:rPr lang="en-US" smtClean="0"/>
              <a:pPr/>
              <a:t>11/13/12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3F48E302-F178-AC4C-A215-132E1BF459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447B-3ECA-8248-A441-6D10D89A727D}" type="datetimeFigureOut">
              <a:rPr lang="en-US" smtClean="0"/>
              <a:pPr/>
              <a:t>11/13/12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302-F178-AC4C-A215-132E1BF459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447B-3ECA-8248-A441-6D10D89A727D}" type="datetimeFigureOut">
              <a:rPr lang="en-US" smtClean="0"/>
              <a:pPr/>
              <a:t>11/13/12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302-F178-AC4C-A215-132E1BF459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</a:lstStyle>
          <a:p>
            <a:fld id="{3818447B-3ECA-8248-A441-6D10D89A727D}" type="datetimeFigureOut">
              <a:rPr lang="en-US" smtClean="0"/>
              <a:pPr/>
              <a:t>11/13/12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</a:lstStyle>
          <a:p>
            <a:fld id="{3F48E302-F178-AC4C-A215-132E1BF4592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hyperlink" Target="http://www.nyc.gov/portal/site/nycgov/menuitem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dooleyj@oclc.org" TargetMode="External"/><Relationship Id="rId3" Type="http://schemas.openxmlformats.org/officeDocument/2006/relationships/hyperlink" Target="http://www.oclc.org/research/people/dooley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675760"/>
            <a:ext cx="8077200" cy="1672351"/>
          </a:xfrm>
        </p:spPr>
        <p:txBody>
          <a:bodyPr>
            <a:normAutofit/>
          </a:bodyPr>
          <a:lstStyle/>
          <a:p>
            <a:pPr algn="r"/>
            <a:r>
              <a:rPr lang="en-US" sz="2400" dirty="0" smtClean="0"/>
              <a:t>Jackie Dooley</a:t>
            </a:r>
            <a:br>
              <a:rPr lang="en-US" sz="2400" dirty="0" smtClean="0"/>
            </a:br>
            <a:r>
              <a:rPr lang="en-US" sz="2400" dirty="0" smtClean="0"/>
              <a:t>Program Officer, OCLC Research</a:t>
            </a:r>
            <a:br>
              <a:rPr lang="en-US" sz="2400" dirty="0" smtClean="0"/>
            </a:br>
            <a:r>
              <a:rPr lang="en-US" sz="2400" dirty="0" smtClean="0"/>
              <a:t>&amp; President, Society of American Archivists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171221"/>
            <a:ext cx="8077200" cy="2286001"/>
          </a:xfrm>
        </p:spPr>
        <p:txBody>
          <a:bodyPr>
            <a:normAutofit/>
          </a:bodyPr>
          <a:lstStyle/>
          <a:p>
            <a:r>
              <a:rPr lang="en-US" sz="5400" dirty="0" smtClean="0"/>
              <a:t>Digital Archives and Society</a:t>
            </a:r>
          </a:p>
          <a:p>
            <a:endParaRPr lang="en-US" sz="5400" dirty="0"/>
          </a:p>
        </p:txBody>
      </p:sp>
      <p:sp>
        <p:nvSpPr>
          <p:cNvPr id="4" name="TextBox 3"/>
          <p:cNvSpPr txBox="1"/>
          <p:nvPr/>
        </p:nvSpPr>
        <p:spPr>
          <a:xfrm>
            <a:off x="4275644" y="5357152"/>
            <a:ext cx="4487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smtClean="0"/>
              <a:t>Center for Jewish History</a:t>
            </a:r>
          </a:p>
          <a:p>
            <a:pPr algn="r"/>
            <a:r>
              <a:rPr lang="en-US" sz="2400" dirty="0" smtClean="0"/>
              <a:t>13 November 2012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3485" y="1961444"/>
            <a:ext cx="5965098" cy="4625609"/>
          </a:xfrm>
        </p:spPr>
        <p:txBody>
          <a:bodyPr/>
          <a:lstStyle/>
          <a:p>
            <a:r>
              <a:rPr lang="en-US" dirty="0" smtClean="0"/>
              <a:t>National security</a:t>
            </a:r>
          </a:p>
          <a:p>
            <a:r>
              <a:rPr lang="en-US" dirty="0" smtClean="0"/>
              <a:t>Government records</a:t>
            </a:r>
          </a:p>
          <a:p>
            <a:r>
              <a:rPr lang="en-US" dirty="0" smtClean="0"/>
              <a:t>International activism</a:t>
            </a:r>
          </a:p>
          <a:p>
            <a:r>
              <a:rPr lang="en-US" dirty="0" smtClean="0"/>
              <a:t>“Ephemera”</a:t>
            </a:r>
          </a:p>
          <a:p>
            <a:r>
              <a:rPr lang="en-US" dirty="0" smtClean="0"/>
              <a:t>Email privacy</a:t>
            </a:r>
          </a:p>
          <a:p>
            <a:r>
              <a:rPr lang="en-US" dirty="0" err="1" smtClean="0"/>
              <a:t>Crowdsourcing</a:t>
            </a:r>
            <a:endParaRPr lang="en-US" dirty="0" smtClean="0"/>
          </a:p>
          <a:p>
            <a:r>
              <a:rPr lang="en-US" dirty="0" smtClean="0"/>
              <a:t>Digital lives</a:t>
            </a:r>
          </a:p>
          <a:p>
            <a:r>
              <a:rPr lang="en-US" dirty="0" smtClean="0"/>
              <a:t>Digital archivists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9555" y="2232392"/>
            <a:ext cx="6892556" cy="3994938"/>
          </a:xfrm>
        </p:spPr>
        <p:txBody>
          <a:bodyPr/>
          <a:lstStyle/>
          <a:p>
            <a:r>
              <a:rPr lang="en-US" dirty="0" smtClean="0"/>
              <a:t>How would these cases have been different in the analog environment?</a:t>
            </a:r>
          </a:p>
          <a:p>
            <a:endParaRPr lang="en-US" dirty="0" smtClean="0"/>
          </a:p>
          <a:p>
            <a:r>
              <a:rPr lang="en-US" dirty="0" smtClean="0"/>
              <a:t>What are the implications for our work as archivists?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National Security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8710"/>
            <a:ext cx="5908445" cy="733847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err="1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Wikileaks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2557"/>
            <a:ext cx="8150578" cy="55206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06329" y="6353185"/>
            <a:ext cx="3183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http://</a:t>
            </a:r>
            <a:r>
              <a:rPr lang="en-US" dirty="0" err="1" smtClean="0">
                <a:solidFill>
                  <a:srgbClr val="000000"/>
                </a:solidFill>
              </a:rPr>
              <a:t>wikileaks.org/About.html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600251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Discrediting al Qaeda</a:t>
            </a:r>
            <a:b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</a:b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5965" y="6364878"/>
            <a:ext cx="940129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 smtClean="0">
                <a:solidFill>
                  <a:srgbClr val="000000"/>
                </a:solidFill>
              </a:rPr>
              <a:t>http://www.washingtontimes.com/news/2012/may/3/us-uses-bin-laden-letters-degrade-al-qaeda/</a:t>
            </a:r>
            <a:endParaRPr lang="en-US" sz="17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97" y="700276"/>
            <a:ext cx="7140222" cy="54899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0"/>
            <a:ext cx="8266791" cy="600251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NSC, FOIA, &amp;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Declassification of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Documents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97129" y="6439514"/>
            <a:ext cx="5426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http://</a:t>
            </a:r>
            <a:r>
              <a:rPr lang="en-US" dirty="0" err="1" smtClean="0"/>
              <a:t>en.wikipedia.org/wiki/National_Security_Archive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600251"/>
            <a:ext cx="7717781" cy="56668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66791" cy="600251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NSA &amp; Access to Declassified Documents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4889"/>
            <a:ext cx="7696754" cy="54227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37256" y="6439514"/>
            <a:ext cx="628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http://www.gwu.edu/~nsarchiv/NSAEBB/NSAEBB343/index.htm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Government Records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168633" cy="60025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Purged &amp; For Sale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6099" y="6449999"/>
            <a:ext cx="885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http://www.motherjones.com/mojo/2011/12/mitt-romney-records-massachusetts-governor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645" y="838065"/>
            <a:ext cx="6344356" cy="56119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00251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Increasing Transparency 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600251"/>
            <a:ext cx="6279444" cy="5618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21985" y="6292268"/>
            <a:ext cx="5139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hlinkClick r:id="rId3"/>
              </a:rPr>
              <a:t>http://www.nyc.gov/portal/site/nycgov/menuitem</a:t>
            </a:r>
            <a:r>
              <a:rPr lang="en-US" dirty="0" smtClean="0">
                <a:solidFill>
                  <a:srgbClr val="000000"/>
                </a:solidFill>
              </a:rPr>
              <a:t> …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Email Privacy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73188" cy="60025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For 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Politicians?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78130" y="6265333"/>
            <a:ext cx="5752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http://twitter.com/takedakesd/status/81584316295020544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3" y="1086556"/>
            <a:ext cx="6890298" cy="49445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8710"/>
            <a:ext cx="8450868" cy="733847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For Government Officials?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74" y="832557"/>
            <a:ext cx="6387500" cy="5218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78688" y="6377845"/>
            <a:ext cx="4373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http://</a:t>
            </a:r>
            <a:r>
              <a:rPr lang="en-US" dirty="0" err="1" smtClean="0"/>
              <a:t>en.wikipedia.org/wiki/David_Petraeus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9972"/>
            <a:ext cx="8686800" cy="60025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For Citizen Activists?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433871"/>
            <a:ext cx="935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http://scholarcitizen.williamcronon.net/2011/03/24/open-records-attack-on-academic-freedom/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80" y="690223"/>
            <a:ext cx="7402690" cy="57436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International Activism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27515" cy="60025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Documenting Genocide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74895" y="6265333"/>
            <a:ext cx="3725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http://</a:t>
            </a:r>
            <a:r>
              <a:rPr lang="en-US" dirty="0" err="1" smtClean="0">
                <a:solidFill>
                  <a:srgbClr val="000000"/>
                </a:solidFill>
              </a:rPr>
              <a:t>www.lib.utexas.edu/hrdi/about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99306"/>
            <a:ext cx="7814293" cy="51069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27515" cy="60025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Documenting Revolution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286" y="6449999"/>
            <a:ext cx="907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http://www.tahrirdocuments.org/2012/01/where-are-you-you-strong-children-of-our-country/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516" y="874889"/>
            <a:ext cx="6846809" cy="53904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“Ephemera”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497" y="0"/>
            <a:ext cx="7826022" cy="860552"/>
          </a:xfrm>
        </p:spPr>
        <p:txBody>
          <a:bodyPr/>
          <a:lstStyle/>
          <a:p>
            <a:r>
              <a:rPr lang="en-US" dirty="0" smtClean="0"/>
              <a:t>Blogs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97" y="1016000"/>
            <a:ext cx="7999856" cy="51928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3778" y="6278223"/>
            <a:ext cx="418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http://www.archive-it.org/collections/2722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Videos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26" y="917223"/>
            <a:ext cx="6194779" cy="5178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9426" y="6307667"/>
            <a:ext cx="7250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http://wayback.archive-it.org/2950/20120210032952/http://15ocroatia.org/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Websites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68" y="1030111"/>
            <a:ext cx="6457243" cy="51581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56667" y="6306445"/>
            <a:ext cx="4219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http://www.archive-it.org/collections/2950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… and Just About Anything Else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3663" y="6304002"/>
            <a:ext cx="889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http://blogs.loc.gov/digitalpreservation/2012/10/activist-archivists-and-digital-preservation/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247" y="910115"/>
            <a:ext cx="5728698" cy="5372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Crowdsourcing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814293" cy="60025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NARA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: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“Citizen Archivists”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" y="6430813"/>
            <a:ext cx="940198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 smtClean="0">
                <a:solidFill>
                  <a:srgbClr val="000000"/>
                </a:solidFill>
              </a:rPr>
              <a:t>http://todaysdocument.tumblr.com/post/14928295790/from-the-archivist-of-the-united-states-david</a:t>
            </a:r>
            <a:endParaRPr lang="en-US" sz="1700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57" y="600251"/>
            <a:ext cx="6626578" cy="58305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814293" cy="60025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NARA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: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“Free Government Information”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0251"/>
            <a:ext cx="8088390" cy="54325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33040" y="6271998"/>
            <a:ext cx="3380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http://freegovinfo.info/node/3802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461022" cy="60025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National Library of Australia: Trove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462832"/>
            <a:ext cx="9412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0000"/>
                </a:solidFill>
              </a:rPr>
              <a:t>http://www.crowdsourcing.org/video/newspaper-text-correction-in-trove---a-trove-how-to-screencast-/8772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819" y="734904"/>
            <a:ext cx="6180667" cy="55586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814293" cy="60025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National Archives of Australia: </a:t>
            </a:r>
            <a:r>
              <a:rPr lang="en-US" sz="3200" b="1" dirty="0" err="1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ArcHIVE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71143" y="6293555"/>
            <a:ext cx="267430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rgbClr val="000000"/>
                </a:solidFill>
              </a:rPr>
              <a:t>http://</a:t>
            </a:r>
            <a:r>
              <a:rPr lang="en-US" sz="1700" dirty="0" err="1" smtClean="0">
                <a:solidFill>
                  <a:srgbClr val="000000"/>
                </a:solidFill>
              </a:rPr>
              <a:t>transcribe.naa.gov.au</a:t>
            </a:r>
            <a:endParaRPr lang="en-US" sz="1700" dirty="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11" y="600250"/>
            <a:ext cx="7622382" cy="5693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Lives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4570"/>
            <a:ext cx="8321941" cy="600251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Too Permanent? 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0230" y="6265333"/>
            <a:ext cx="8073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http://www.nytimes.com/2010/07/25/magazine/25privacy-t2.html?pagewanted=all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74821"/>
            <a:ext cx="7814293" cy="5590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814293" cy="60025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What Happens in …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04057"/>
            <a:ext cx="848697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smtClean="0">
                <a:solidFill>
                  <a:srgbClr val="000000"/>
                </a:solidFill>
              </a:rPr>
              <a:t>http://www.nytimes.com/2011/01/09/magazine/09Immortality-t.html?pagewanted=</a:t>
            </a:r>
            <a:r>
              <a:rPr lang="en-US" sz="1700" dirty="0" err="1" smtClean="0">
                <a:solidFill>
                  <a:srgbClr val="000000"/>
                </a:solidFill>
              </a:rPr>
              <a:t>all&amp;_r</a:t>
            </a:r>
            <a:r>
              <a:rPr lang="en-US" sz="1700" dirty="0" smtClean="0">
                <a:solidFill>
                  <a:srgbClr val="000000"/>
                </a:solidFill>
              </a:rPr>
              <a:t>=0</a:t>
            </a:r>
            <a:endParaRPr lang="en-US" sz="17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129" y="745780"/>
            <a:ext cx="6256397" cy="5758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956" y="9792"/>
            <a:ext cx="8098074" cy="529694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Digital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 Lives … and After-Lives?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956" y="6273224"/>
            <a:ext cx="87620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0000"/>
                </a:solidFill>
              </a:rPr>
              <a:t>http://9ebookus.com/others/your-digital-afterlife-when-facebook-flickr-and-twitter-are-your-estate-whats-your-legacy.html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851" y="884135"/>
            <a:ext cx="5747749" cy="53890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956" y="9792"/>
            <a:ext cx="8098074" cy="529694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“Personal Archiving”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02167" y="6442501"/>
            <a:ext cx="6141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0000"/>
                </a:solidFill>
              </a:rPr>
              <a:t>http://</a:t>
            </a:r>
            <a:r>
              <a:rPr lang="en-US" sz="1600" dirty="0" err="1" smtClean="0">
                <a:solidFill>
                  <a:srgbClr val="000000"/>
                </a:solidFill>
              </a:rPr>
              <a:t>www.digitalpreservation.gov/personalarchiving/photos.html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56" y="654008"/>
            <a:ext cx="6957307" cy="56843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034341"/>
          </a:xfrm>
        </p:spPr>
        <p:txBody>
          <a:bodyPr/>
          <a:lstStyle/>
          <a:p>
            <a:r>
              <a:rPr lang="en-US" dirty="0" smtClean="0"/>
              <a:t>Digital Archivists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2" y="1807882"/>
            <a:ext cx="3210454" cy="20453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013" y="1485233"/>
            <a:ext cx="1714500" cy="2565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42" y="4330034"/>
            <a:ext cx="1741806" cy="20647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1287" y="4698334"/>
            <a:ext cx="1942713" cy="21596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6111" y="4330034"/>
            <a:ext cx="2335569" cy="21531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4555" y="1807882"/>
            <a:ext cx="2782245" cy="1790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2827" y="4145430"/>
            <a:ext cx="1983456" cy="22493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956" y="9792"/>
            <a:ext cx="8098074" cy="529694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Forensics 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&amp; Authenticity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40029" y="6441099"/>
            <a:ext cx="4603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0000"/>
                </a:solidFill>
              </a:rPr>
              <a:t>http://www.clir.org/pubs/abstract/reports/pub149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92" y="539486"/>
            <a:ext cx="7371572" cy="59016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836" y="0"/>
            <a:ext cx="9144000" cy="529694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cs typeface="Cambria"/>
              </a:rPr>
              <a:t>DAS: Re-inventing Our Profession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00711" y="6343114"/>
            <a:ext cx="4483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0000"/>
                </a:solidFill>
              </a:rPr>
              <a:t>http://www2.archivists.org/prof-education/das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36" y="708763"/>
            <a:ext cx="2676950" cy="58036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570" y="1499498"/>
            <a:ext cx="5537430" cy="45911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Your Turn: Discuss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2121647"/>
            <a:ext cx="4840941" cy="4318000"/>
          </a:xfrm>
        </p:spPr>
        <p:txBody>
          <a:bodyPr>
            <a:normAutofit/>
          </a:bodyPr>
          <a:lstStyle/>
          <a:p>
            <a:r>
              <a:rPr lang="en-US" dirty="0" smtClean="0"/>
              <a:t>National security</a:t>
            </a:r>
          </a:p>
          <a:p>
            <a:r>
              <a:rPr lang="en-US" dirty="0" smtClean="0"/>
              <a:t>Government records</a:t>
            </a:r>
          </a:p>
          <a:p>
            <a:r>
              <a:rPr lang="en-US" dirty="0" smtClean="0"/>
              <a:t>International activism</a:t>
            </a:r>
          </a:p>
          <a:p>
            <a:r>
              <a:rPr lang="en-US" dirty="0" smtClean="0"/>
              <a:t>“Ephemera”</a:t>
            </a:r>
          </a:p>
          <a:p>
            <a:r>
              <a:rPr lang="en-US" dirty="0" smtClean="0"/>
              <a:t>Email privacy</a:t>
            </a:r>
          </a:p>
          <a:p>
            <a:r>
              <a:rPr lang="en-US" dirty="0" err="1" smtClean="0"/>
              <a:t>Crowdsourcing</a:t>
            </a:r>
            <a:endParaRPr lang="en-US" dirty="0" smtClean="0"/>
          </a:p>
          <a:p>
            <a:r>
              <a:rPr lang="en-US" dirty="0" smtClean="0"/>
              <a:t>Digital lives</a:t>
            </a:r>
          </a:p>
          <a:p>
            <a:r>
              <a:rPr lang="en-US" dirty="0" smtClean="0"/>
              <a:t>Digital archivists</a:t>
            </a:r>
          </a:p>
          <a:p>
            <a:pPr>
              <a:buNone/>
            </a:pPr>
            <a:endParaRPr lang="en-US" sz="5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34444"/>
            <a:ext cx="8229600" cy="3973689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3600" dirty="0" smtClean="0"/>
              <a:t>Jackie Dooley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2200" dirty="0" smtClean="0">
                <a:hlinkClick r:id="rId2"/>
              </a:rPr>
              <a:t>dooleyj@oclc.org</a:t>
            </a:r>
            <a:endParaRPr lang="en-US" sz="2200" dirty="0" smtClean="0"/>
          </a:p>
          <a:p>
            <a:pPr algn="ctr">
              <a:buNone/>
            </a:pPr>
            <a:endParaRPr lang="en-US" sz="1081" dirty="0" smtClean="0"/>
          </a:p>
          <a:p>
            <a:pPr algn="ctr">
              <a:buNone/>
            </a:pPr>
            <a:r>
              <a:rPr lang="en-US" sz="2200" dirty="0" smtClean="0"/>
              <a:t>@</a:t>
            </a:r>
            <a:r>
              <a:rPr lang="en-US" sz="2200" dirty="0" err="1" smtClean="0"/>
              <a:t>minniedw</a:t>
            </a:r>
            <a:endParaRPr lang="en-US" sz="2200" dirty="0" smtClean="0"/>
          </a:p>
          <a:p>
            <a:pPr algn="ctr">
              <a:buNone/>
            </a:pPr>
            <a:endParaRPr lang="en-US" sz="1081" dirty="0" smtClean="0"/>
          </a:p>
          <a:p>
            <a:pPr algn="ctr">
              <a:buNone/>
            </a:pPr>
            <a:r>
              <a:rPr lang="en-US" sz="2200" dirty="0" smtClean="0">
                <a:hlinkClick r:id="rId3"/>
              </a:rPr>
              <a:t>http://www.oclc.org/research/people/dooley.html</a:t>
            </a:r>
            <a:endParaRPr lang="en-US" sz="2200" dirty="0" smtClean="0"/>
          </a:p>
          <a:p>
            <a:pPr algn="ctr">
              <a:buNone/>
            </a:pPr>
            <a:endParaRPr lang="en-US" sz="1081" dirty="0" smtClean="0"/>
          </a:p>
          <a:p>
            <a:pPr algn="ctr">
              <a:buNone/>
            </a:pPr>
            <a:r>
              <a:rPr lang="en-US" sz="2200" dirty="0" err="1" smtClean="0"/>
              <a:t>offtherecord.archivists.org</a:t>
            </a: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ＭＳ ゴシック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ＭＳ ゴシック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Module.thmx</Template>
  <TotalTime>1640</TotalTime>
  <Words>762</Words>
  <Application>Microsoft Macintosh PowerPoint</Application>
  <PresentationFormat>On-screen Show (4:3)</PresentationFormat>
  <Paragraphs>103</Paragraphs>
  <Slides>38</Slides>
  <Notes>4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Module</vt:lpstr>
      <vt:lpstr>Jackie Dooley Program Officer, OCLC Research &amp; President, Society of American Archivists</vt:lpstr>
      <vt:lpstr>Topics</vt:lpstr>
      <vt:lpstr>Two questions</vt:lpstr>
      <vt:lpstr>National Security</vt:lpstr>
      <vt:lpstr>Wikileaks</vt:lpstr>
      <vt:lpstr>Discrediting al Qaeda </vt:lpstr>
      <vt:lpstr>NSC, FOIA, &amp; Declassification of Documents</vt:lpstr>
      <vt:lpstr>NSA &amp; Access to Declassified Documents</vt:lpstr>
      <vt:lpstr>Government Records</vt:lpstr>
      <vt:lpstr>Purged &amp; For Sale</vt:lpstr>
      <vt:lpstr>Increasing Transparency </vt:lpstr>
      <vt:lpstr>Email Privacy</vt:lpstr>
      <vt:lpstr>For Politicians?</vt:lpstr>
      <vt:lpstr>For Government Officials?</vt:lpstr>
      <vt:lpstr>For Citizen Activists?</vt:lpstr>
      <vt:lpstr>International Activism</vt:lpstr>
      <vt:lpstr>Documenting Genocide</vt:lpstr>
      <vt:lpstr>Documenting Revolution</vt:lpstr>
      <vt:lpstr>“Ephemera”</vt:lpstr>
      <vt:lpstr>Blogs</vt:lpstr>
      <vt:lpstr>Videos </vt:lpstr>
      <vt:lpstr>Websites </vt:lpstr>
      <vt:lpstr>… and Just About Anything Else </vt:lpstr>
      <vt:lpstr>Crowdsourcing</vt:lpstr>
      <vt:lpstr>NARA: “Citizen Archivists”</vt:lpstr>
      <vt:lpstr>NARA: “Free Government Information”</vt:lpstr>
      <vt:lpstr>National Library of Australia: Trove</vt:lpstr>
      <vt:lpstr>National Archives of Australia: ArcHIVE</vt:lpstr>
      <vt:lpstr>Digital Lives</vt:lpstr>
      <vt:lpstr>Too Permanent? </vt:lpstr>
      <vt:lpstr>What Happens in …</vt:lpstr>
      <vt:lpstr>Digital Lives … and After-Lives?</vt:lpstr>
      <vt:lpstr>“Personal Archiving”</vt:lpstr>
      <vt:lpstr>Digital Archivists</vt:lpstr>
      <vt:lpstr>Forensics &amp; Authenticity</vt:lpstr>
      <vt:lpstr>DAS: Re-inventing Our Profession</vt:lpstr>
      <vt:lpstr>Your Turn: Discuss</vt:lpstr>
      <vt:lpstr>Thank you!</vt:lpstr>
    </vt:vector>
  </TitlesOfParts>
  <Company>OCLC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CJH lecture</dc:title>
  <dc:creator>OCLC Dooley</dc:creator>
  <cp:lastModifiedBy>OCLC Dooley</cp:lastModifiedBy>
  <cp:revision>102</cp:revision>
  <dcterms:created xsi:type="dcterms:W3CDTF">2012-11-13T21:00:19Z</dcterms:created>
  <dcterms:modified xsi:type="dcterms:W3CDTF">2012-11-13T21:03:58Z</dcterms:modified>
</cp:coreProperties>
</file>