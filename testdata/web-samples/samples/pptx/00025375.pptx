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71" r:id="rId5"/>
    <p:sldId id="272" r:id="rId6"/>
    <p:sldId id="262" r:id="rId7"/>
    <p:sldId id="263" r:id="rId8"/>
    <p:sldId id="264" r:id="rId9"/>
    <p:sldId id="265" r:id="rId10"/>
    <p:sldId id="260" r:id="rId11"/>
    <p:sldId id="266" r:id="rId12"/>
    <p:sldId id="261" r:id="rId13"/>
    <p:sldId id="274" r:id="rId14"/>
    <p:sldId id="267" r:id="rId15"/>
    <p:sldId id="268" r:id="rId16"/>
    <p:sldId id="269" r:id="rId17"/>
    <p:sldId id="270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5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809F2-97B9-4E4D-B4A5-79F763953A8C}" type="datetimeFigureOut">
              <a:rPr lang="en-CA" smtClean="0"/>
              <a:t>26/08/2011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0B597-8548-4078-8252-679316FA67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5188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0B597-8548-4078-8252-679316FA673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48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0B597-8548-4078-8252-679316FA673A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222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742351C1-E471-4AC6-94EC-03180113C701}" type="datetimeFigureOut">
              <a:rPr lang="en-CA" smtClean="0"/>
              <a:t>25/08/2011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BDD81AA-67BC-49B6-9CC0-8C1D1B508A2B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</a:rPr>
              <a:t>Lesson 7</a:t>
            </a:r>
            <a:endParaRPr lang="en-CA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Living on Purpose: Discover Your Calling and Passion</a:t>
            </a:r>
          </a:p>
        </p:txBody>
      </p:sp>
    </p:spTree>
    <p:extLst>
      <p:ext uri="{BB962C8B-B14F-4D97-AF65-F5344CB8AC3E}">
        <p14:creationId xmlns:p14="http://schemas.microsoft.com/office/powerpoint/2010/main" val="3942664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Learning Objectives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51510" indent="-514350">
              <a:buFont typeface="+mj-lt"/>
              <a:buAutoNum type="arabicPeriod"/>
            </a:pPr>
            <a:endParaRPr lang="en-CA" dirty="0" smtClean="0"/>
          </a:p>
          <a:p>
            <a:pPr marL="651510" indent="-514350">
              <a:buFont typeface="+mj-lt"/>
              <a:buAutoNum type="arabicPeriod"/>
            </a:pPr>
            <a:r>
              <a:rPr lang="en-CA" dirty="0" smtClean="0"/>
              <a:t>To </a:t>
            </a:r>
            <a:r>
              <a:rPr lang="en-CA" dirty="0"/>
              <a:t>realize why the idea of death can save many lives.</a:t>
            </a:r>
          </a:p>
          <a:p>
            <a:pPr marL="651510" indent="-514350">
              <a:buFont typeface="+mj-lt"/>
              <a:buAutoNum type="arabicPeriod"/>
            </a:pPr>
            <a:endParaRPr lang="en-CA" dirty="0" smtClean="0"/>
          </a:p>
          <a:p>
            <a:pPr marL="651510" indent="-514350">
              <a:buFont typeface="+mj-lt"/>
              <a:buAutoNum type="arabicPeriod"/>
            </a:pPr>
            <a:r>
              <a:rPr lang="en-CA" dirty="0" smtClean="0"/>
              <a:t>To </a:t>
            </a:r>
            <a:r>
              <a:rPr lang="en-CA" dirty="0"/>
              <a:t>understand the different types of life purpose.</a:t>
            </a:r>
          </a:p>
          <a:p>
            <a:pPr marL="651510" indent="-514350">
              <a:buFont typeface="+mj-lt"/>
              <a:buAutoNum type="arabicPeriod"/>
            </a:pPr>
            <a:endParaRPr lang="en-CA" dirty="0" smtClean="0"/>
          </a:p>
          <a:p>
            <a:pPr marL="651510" indent="-514350">
              <a:buFont typeface="+mj-lt"/>
              <a:buAutoNum type="arabicPeriod"/>
            </a:pPr>
            <a:r>
              <a:rPr lang="en-CA" dirty="0" smtClean="0"/>
              <a:t>To </a:t>
            </a:r>
            <a:r>
              <a:rPr lang="en-CA" dirty="0"/>
              <a:t>find out ways to discover your own purpose in life</a:t>
            </a:r>
            <a:r>
              <a:rPr lang="en-CA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6990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Introduction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resignation of Steve Jobs</a:t>
            </a:r>
          </a:p>
          <a:p>
            <a:r>
              <a:rPr lang="en-CA" dirty="0"/>
              <a:t>The death of Jack Layton</a:t>
            </a:r>
          </a:p>
          <a:p>
            <a:r>
              <a:rPr lang="en-CA" dirty="0"/>
              <a:t>If you were told that you only had 3 months to live, would you live any differently? What would you do with the remaining days of your life?</a:t>
            </a:r>
          </a:p>
          <a:p>
            <a:r>
              <a:rPr lang="en-CA" dirty="0"/>
              <a:t>Both Jack Layton and Steve Jobs are examples of people who have found their calling and mission in life so that they can die happy doing what they love</a:t>
            </a:r>
            <a:r>
              <a:rPr lang="en-CA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462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Steve Jobs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1168"/>
            <a:ext cx="8229600" cy="1656184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endParaRPr lang="en-CA" dirty="0" smtClean="0"/>
          </a:p>
          <a:p>
            <a:pPr marL="137160" indent="0" algn="ctr">
              <a:buNone/>
            </a:pPr>
            <a:r>
              <a:rPr lang="en-CA" sz="2400" dirty="0" smtClean="0"/>
              <a:t>“</a:t>
            </a:r>
            <a:r>
              <a:rPr lang="en-CA" sz="2400" dirty="0"/>
              <a:t>If today were the last day of my life, would I want to do what I am about to do today</a:t>
            </a:r>
            <a:r>
              <a:rPr lang="en-CA" sz="2400" dirty="0" smtClean="0"/>
              <a:t>?”</a:t>
            </a:r>
            <a:endParaRPr lang="en-CA" sz="2400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556792"/>
            <a:ext cx="5622540" cy="3654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257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Jack Layton (1950-2011)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73216"/>
            <a:ext cx="8229600" cy="1296143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CA" sz="2400" dirty="0" smtClean="0"/>
              <a:t>“As </a:t>
            </a:r>
            <a:r>
              <a:rPr lang="en-CA" sz="2400" dirty="0"/>
              <a:t>my time in political life draws to a close I want to share with you my belief in your power to change this country and this world</a:t>
            </a:r>
            <a:r>
              <a:rPr lang="en-CA" sz="2400" dirty="0" smtClean="0"/>
              <a:t>.”</a:t>
            </a:r>
            <a:endParaRPr lang="en-CA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140" y="2771711"/>
            <a:ext cx="4162408" cy="2601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1556792"/>
            <a:ext cx="8229600" cy="201622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Font typeface="Wingdings 2"/>
              <a:buNone/>
            </a:pPr>
            <a:r>
              <a:rPr lang="en-CA" sz="2400" dirty="0" smtClean="0"/>
              <a:t>“All my life I have worked to make things better. Hope and optimism have defined my political career, and I continue to be hopeful and optimistic about Canada.”</a:t>
            </a:r>
          </a:p>
        </p:txBody>
      </p:sp>
    </p:spTree>
    <p:extLst>
      <p:ext uri="{BB962C8B-B14F-4D97-AF65-F5344CB8AC3E}">
        <p14:creationId xmlns:p14="http://schemas.microsoft.com/office/powerpoint/2010/main" val="87257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The Power of Purpose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CA" dirty="0"/>
              <a:t>What makes one’s life rich in poverty and another unfulfilling in </a:t>
            </a:r>
            <a:r>
              <a:rPr lang="en-CA" dirty="0" smtClean="0"/>
              <a:t>abundance?</a:t>
            </a:r>
          </a:p>
          <a:p>
            <a:pPr marL="137160" indent="0">
              <a:buNone/>
            </a:pPr>
            <a:endParaRPr lang="en-CA" dirty="0"/>
          </a:p>
          <a:p>
            <a:pPr marL="137160" indent="0">
              <a:buNone/>
            </a:pPr>
            <a:r>
              <a:rPr lang="en-CA" dirty="0" smtClean="0"/>
              <a:t>The answer may be found in the seriousness of purpose.</a:t>
            </a:r>
          </a:p>
          <a:p>
            <a:pPr marL="137160" indent="0">
              <a:buNone/>
            </a:pPr>
            <a:endParaRPr lang="en-CA" dirty="0"/>
          </a:p>
          <a:p>
            <a:pPr marL="137160" indent="0">
              <a:buNone/>
            </a:pPr>
            <a:r>
              <a:rPr lang="en-CA" dirty="0" smtClean="0"/>
              <a:t>In fact, our survival, both individually and collectively, depends on it.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4622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Purpose and School Achievement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en-US" dirty="0"/>
              <a:t>Academic value and achievement motivation study </a:t>
            </a:r>
            <a:r>
              <a:rPr lang="en-CA" dirty="0" smtClean="0"/>
              <a:t>(</a:t>
            </a:r>
            <a:r>
              <a:rPr lang="en-CA" dirty="0"/>
              <a:t>Wong, 1998)</a:t>
            </a:r>
          </a:p>
          <a:p>
            <a:r>
              <a:rPr lang="en-CA" dirty="0"/>
              <a:t>Three wrong reasons for attending college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dirty="0" smtClean="0"/>
              <a:t>No </a:t>
            </a:r>
            <a:r>
              <a:rPr lang="en-CA" dirty="0"/>
              <a:t>better option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dirty="0" smtClean="0"/>
              <a:t>Parental </a:t>
            </a:r>
            <a:r>
              <a:rPr lang="en-CA" dirty="0"/>
              <a:t>pressure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dirty="0" smtClean="0"/>
              <a:t>Social </a:t>
            </a:r>
            <a:r>
              <a:rPr lang="en-CA" dirty="0"/>
              <a:t>interest</a:t>
            </a:r>
          </a:p>
          <a:p>
            <a:r>
              <a:rPr lang="en-CA" dirty="0"/>
              <a:t>Three right reasons for attending college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dirty="0" smtClean="0"/>
              <a:t>Intrinsic </a:t>
            </a:r>
            <a:r>
              <a:rPr lang="en-CA" dirty="0"/>
              <a:t>value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dirty="0" smtClean="0"/>
              <a:t>Instrumental </a:t>
            </a:r>
            <a:r>
              <a:rPr lang="en-CA" dirty="0"/>
              <a:t>value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dirty="0" smtClean="0"/>
              <a:t>Personal </a:t>
            </a:r>
            <a:r>
              <a:rPr lang="en-CA" dirty="0"/>
              <a:t>development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894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Purpose and Career Accomplishment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endParaRPr lang="en-CA" dirty="0" smtClean="0"/>
          </a:p>
          <a:p>
            <a:pPr marL="137160" indent="0">
              <a:buNone/>
            </a:pPr>
            <a:r>
              <a:rPr lang="en-CA" dirty="0" smtClean="0"/>
              <a:t>Three </a:t>
            </a:r>
            <a:r>
              <a:rPr lang="en-CA" dirty="0"/>
              <a:t>different attitudes towards </a:t>
            </a:r>
            <a:r>
              <a:rPr lang="en-CA" dirty="0" smtClean="0"/>
              <a:t>work:</a:t>
            </a:r>
          </a:p>
          <a:p>
            <a:pPr marL="137160" indent="0">
              <a:buNone/>
            </a:pPr>
            <a:endParaRPr lang="en-CA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CA" sz="2800" dirty="0" smtClean="0"/>
              <a:t>As </a:t>
            </a:r>
            <a:r>
              <a:rPr lang="en-CA" sz="2800" dirty="0"/>
              <a:t>a job to make a </a:t>
            </a:r>
            <a:r>
              <a:rPr lang="en-CA" sz="2800" dirty="0" smtClean="0"/>
              <a:t>living</a:t>
            </a:r>
          </a:p>
          <a:p>
            <a:pPr marL="971550" lvl="1" indent="-514350">
              <a:buFont typeface="+mj-lt"/>
              <a:buAutoNum type="arabicPeriod"/>
            </a:pPr>
            <a:endParaRPr lang="en-CA" sz="2800" dirty="0"/>
          </a:p>
          <a:p>
            <a:pPr marL="971550" lvl="1" indent="-514350">
              <a:buFont typeface="+mj-lt"/>
              <a:buAutoNum type="arabicPeriod"/>
            </a:pPr>
            <a:r>
              <a:rPr lang="en-CA" sz="2800" dirty="0" smtClean="0"/>
              <a:t>As </a:t>
            </a:r>
            <a:r>
              <a:rPr lang="en-CA" sz="2800" dirty="0"/>
              <a:t>a career for self-advancement</a:t>
            </a:r>
          </a:p>
          <a:p>
            <a:pPr marL="971550" lvl="1" indent="-514350">
              <a:buFont typeface="+mj-lt"/>
              <a:buAutoNum type="arabicPeriod"/>
            </a:pPr>
            <a:endParaRPr lang="en-CA" sz="28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CA" sz="2800" dirty="0" smtClean="0"/>
              <a:t>As </a:t>
            </a:r>
            <a:r>
              <a:rPr lang="en-CA" sz="2800" dirty="0"/>
              <a:t>a vocation for fulfilling a calling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8940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Changing Concepts of Calling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CA" dirty="0" smtClean="0"/>
              <a:t>Calling defined as fulfilling a specific life role for the greater good.</a:t>
            </a:r>
          </a:p>
          <a:p>
            <a:r>
              <a:rPr lang="en-CA" dirty="0" smtClean="0"/>
              <a:t>The theology of work according to Luther and Calvin.</a:t>
            </a:r>
          </a:p>
          <a:p>
            <a:r>
              <a:rPr lang="en-CA" dirty="0" smtClean="0"/>
              <a:t>A sense of calling from alternative transcendent sources.</a:t>
            </a:r>
          </a:p>
          <a:p>
            <a:r>
              <a:rPr lang="en-CA" dirty="0" smtClean="0"/>
              <a:t>The positive psychology of calling.</a:t>
            </a:r>
          </a:p>
          <a:p>
            <a:r>
              <a:rPr lang="en-CA" dirty="0" smtClean="0"/>
              <a:t>Calling to parenthood and child rearing.</a:t>
            </a:r>
          </a:p>
          <a:p>
            <a:r>
              <a:rPr lang="en-CA" dirty="0" smtClean="0"/>
              <a:t>Each person may have two or three callings in his or her lifetime.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8940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Intrinsic vs. Extrinsic Motivation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r>
              <a:rPr lang="en-CA" dirty="0" smtClean="0"/>
              <a:t>Intrinsic </a:t>
            </a:r>
            <a:r>
              <a:rPr lang="en-CA" dirty="0"/>
              <a:t>motivation refers to the pursuit of some activity for its own sake. Intrinsically motivated activities are rewarding and satisfying in their own right.</a:t>
            </a:r>
          </a:p>
          <a:p>
            <a:endParaRPr lang="en-CA" dirty="0" smtClean="0"/>
          </a:p>
          <a:p>
            <a:r>
              <a:rPr lang="en-CA" dirty="0" smtClean="0"/>
              <a:t>Extrinsic </a:t>
            </a:r>
            <a:r>
              <a:rPr lang="en-CA" dirty="0"/>
              <a:t>motivation refers to the pursuit of some activity for some external reward such as approval/praise, monetary incentives, and recognition or honor. Extrinsically motivated activities are a means to an end.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4622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Five Sources of Intrinsic Motivation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Love </a:t>
            </a:r>
            <a:r>
              <a:rPr lang="en-CA" dirty="0"/>
              <a:t>someone unconditionally</a:t>
            </a:r>
          </a:p>
          <a:p>
            <a:endParaRPr lang="en-CA" dirty="0" smtClean="0"/>
          </a:p>
          <a:p>
            <a:r>
              <a:rPr lang="en-CA" dirty="0" smtClean="0"/>
              <a:t>Do </a:t>
            </a:r>
            <a:r>
              <a:rPr lang="en-CA" dirty="0"/>
              <a:t>something you love</a:t>
            </a:r>
          </a:p>
          <a:p>
            <a:endParaRPr lang="en-CA" dirty="0" smtClean="0"/>
          </a:p>
          <a:p>
            <a:r>
              <a:rPr lang="en-CA" dirty="0" smtClean="0"/>
              <a:t>Learn </a:t>
            </a:r>
            <a:r>
              <a:rPr lang="en-CA" dirty="0"/>
              <a:t>something new</a:t>
            </a:r>
          </a:p>
          <a:p>
            <a:endParaRPr lang="en-CA" dirty="0" smtClean="0"/>
          </a:p>
          <a:p>
            <a:r>
              <a:rPr lang="en-CA" dirty="0" smtClean="0"/>
              <a:t>Do </a:t>
            </a:r>
            <a:r>
              <a:rPr lang="en-CA" dirty="0"/>
              <a:t>something kind</a:t>
            </a:r>
          </a:p>
          <a:p>
            <a:endParaRPr lang="en-CA" dirty="0" smtClean="0"/>
          </a:p>
          <a:p>
            <a:r>
              <a:rPr lang="en-CA" dirty="0" smtClean="0"/>
              <a:t>Pursue </a:t>
            </a:r>
            <a:r>
              <a:rPr lang="en-CA" dirty="0"/>
              <a:t>an ideal beyond self-interest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894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 smtClean="0">
                <a:solidFill>
                  <a:schemeClr val="accent3">
                    <a:lumMod val="50000"/>
                  </a:schemeClr>
                </a:solidFill>
                <a:effectLst/>
              </a:rPr>
              <a:t>Duncker’s</a:t>
            </a:r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 Candle Problem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CA" b="1" dirty="0" smtClean="0"/>
              <a:t>Problem: </a:t>
            </a:r>
            <a:r>
              <a:rPr lang="en-CA" dirty="0"/>
              <a:t>Fix a lit candle on a wall in a way so that the candle wax won’t drip onto the </a:t>
            </a:r>
            <a:r>
              <a:rPr lang="en-CA" dirty="0" smtClean="0"/>
              <a:t>table </a:t>
            </a:r>
            <a:r>
              <a:rPr lang="en-CA" dirty="0"/>
              <a:t>below. </a:t>
            </a:r>
            <a:r>
              <a:rPr lang="en-CA" dirty="0" smtClean="0"/>
              <a:t>You may </a:t>
            </a:r>
            <a:r>
              <a:rPr lang="en-CA" dirty="0"/>
              <a:t>only use the following items provided: a candle, a book of matches, a box of thumbtacks.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909" y="3797002"/>
            <a:ext cx="2886075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94237" y="3806527"/>
            <a:ext cx="2886075" cy="2790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chemeClr val="tx1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064622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 smtClean="0">
                <a:solidFill>
                  <a:schemeClr val="accent3">
                    <a:lumMod val="50000"/>
                  </a:schemeClr>
                </a:solidFill>
                <a:effectLst/>
              </a:rPr>
              <a:t>Duncker’s</a:t>
            </a:r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 Candle Problem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CA" b="1" dirty="0" smtClean="0"/>
              <a:t>Problem: </a:t>
            </a:r>
            <a:r>
              <a:rPr lang="en-CA" dirty="0"/>
              <a:t>Fix a lit candle on a wall in a way so that the candle wax won’t drip onto the </a:t>
            </a:r>
            <a:r>
              <a:rPr lang="en-CA" dirty="0" smtClean="0"/>
              <a:t>table </a:t>
            </a:r>
            <a:r>
              <a:rPr lang="en-CA" dirty="0"/>
              <a:t>below. </a:t>
            </a:r>
            <a:r>
              <a:rPr lang="en-CA" dirty="0" smtClean="0"/>
              <a:t>You may </a:t>
            </a:r>
            <a:r>
              <a:rPr lang="en-CA" dirty="0"/>
              <a:t>only use the following items provided: a candle, a book of matches, a box of thumbtacks.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909" y="3797002"/>
            <a:ext cx="2886075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37" y="3797002"/>
            <a:ext cx="2886075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9274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Approach vs. Avoidance Motivation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/>
          <a:lstStyle/>
          <a:p>
            <a:r>
              <a:rPr lang="en-CA" dirty="0" smtClean="0"/>
              <a:t>Approach </a:t>
            </a:r>
            <a:r>
              <a:rPr lang="en-CA" dirty="0"/>
              <a:t>motivation: primarily motivated to achieve some positive goals and outcomes.</a:t>
            </a:r>
          </a:p>
          <a:p>
            <a:endParaRPr lang="en-CA" dirty="0" smtClean="0"/>
          </a:p>
          <a:p>
            <a:r>
              <a:rPr lang="en-CA" dirty="0" smtClean="0"/>
              <a:t>Avoidance </a:t>
            </a:r>
            <a:r>
              <a:rPr lang="en-CA" dirty="0"/>
              <a:t>motivation: primarily motivated to avoid some negative outcomes, such as failure and stress.</a:t>
            </a:r>
          </a:p>
          <a:p>
            <a:endParaRPr lang="en-CA" dirty="0" smtClean="0"/>
          </a:p>
          <a:p>
            <a:r>
              <a:rPr lang="en-CA" dirty="0" smtClean="0"/>
              <a:t>Going </a:t>
            </a:r>
            <a:r>
              <a:rPr lang="en-CA" dirty="0"/>
              <a:t>through life with an avoidance orientation tends to create more stress and anxiety and less life satisfaction.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8940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Meaning vs. Happiness Motivation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 smtClean="0"/>
          </a:p>
          <a:p>
            <a:pPr lvl="0"/>
            <a:r>
              <a:rPr lang="en-US" dirty="0" smtClean="0"/>
              <a:t>A </a:t>
            </a:r>
            <a:r>
              <a:rPr lang="en-US" dirty="0"/>
              <a:t>meaning-orientation is more likely linked to intrinsic motivation and approach motivation.</a:t>
            </a:r>
            <a:endParaRPr lang="en-CA" dirty="0"/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A </a:t>
            </a:r>
            <a:r>
              <a:rPr lang="en-US" dirty="0"/>
              <a:t>happiness-orientation is more likely linked to extrinsic motivation.</a:t>
            </a:r>
            <a:endParaRPr lang="en-CA" dirty="0"/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These </a:t>
            </a:r>
            <a:r>
              <a:rPr lang="en-US" dirty="0"/>
              <a:t>two types of life orientations tend to result in different kinds of life goals</a:t>
            </a:r>
            <a:r>
              <a:rPr lang="en-US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8940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How do you find your purpose in life?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 smtClean="0"/>
          </a:p>
          <a:p>
            <a:pPr lvl="0"/>
            <a:r>
              <a:rPr lang="en-US" dirty="0" smtClean="0"/>
              <a:t>Be </a:t>
            </a:r>
            <a:r>
              <a:rPr lang="en-US" dirty="0"/>
              <a:t>consistent with inner goodness and ethical principles.</a:t>
            </a:r>
            <a:endParaRPr lang="en-CA" dirty="0"/>
          </a:p>
          <a:p>
            <a:pPr lvl="0"/>
            <a:r>
              <a:rPr lang="en-US" dirty="0" smtClean="0"/>
              <a:t>Look </a:t>
            </a:r>
            <a:r>
              <a:rPr lang="en-US" dirty="0"/>
              <a:t>deep into one’s own heart.</a:t>
            </a:r>
            <a:endParaRPr lang="en-CA" dirty="0"/>
          </a:p>
          <a:p>
            <a:pPr lvl="0"/>
            <a:r>
              <a:rPr lang="en-US" dirty="0" smtClean="0"/>
              <a:t>Assess </a:t>
            </a:r>
            <a:r>
              <a:rPr lang="en-US" dirty="0"/>
              <a:t>one’s unique gifts, strengths, and interests.</a:t>
            </a:r>
            <a:endParaRPr lang="en-CA" dirty="0"/>
          </a:p>
          <a:p>
            <a:pPr lvl="0"/>
            <a:r>
              <a:rPr lang="en-US" dirty="0" smtClean="0"/>
              <a:t>Assess </a:t>
            </a:r>
            <a:r>
              <a:rPr lang="en-US" dirty="0"/>
              <a:t>available opportunities and resources.</a:t>
            </a:r>
            <a:endParaRPr lang="en-CA" dirty="0"/>
          </a:p>
          <a:p>
            <a:pPr lvl="0"/>
            <a:r>
              <a:rPr lang="en-US" dirty="0" smtClean="0"/>
              <a:t>Seek </a:t>
            </a:r>
            <a:r>
              <a:rPr lang="en-US" dirty="0"/>
              <a:t>God’s will and consult experts</a:t>
            </a:r>
            <a:r>
              <a:rPr lang="en-US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8940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What is Your Mission in Life?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/>
          <a:lstStyle/>
          <a:p>
            <a:pPr marL="137160" indent="0">
              <a:buNone/>
            </a:pPr>
            <a:r>
              <a:rPr lang="en-US" dirty="0"/>
              <a:t>Perhaps, a good starting point for a purposeful life is a personal mission statement</a:t>
            </a:r>
            <a:r>
              <a:rPr lang="en-US" dirty="0" smtClean="0"/>
              <a:t>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Write a concise and realistic mission statement for your work or your life. Then, describe two or three objectives or life goals based on your mission statement</a:t>
            </a:r>
            <a:r>
              <a:rPr lang="en-US" dirty="0" smtClean="0"/>
              <a:t>.</a:t>
            </a:r>
          </a:p>
          <a:p>
            <a:pPr marL="137160" indent="0">
              <a:buNone/>
            </a:pPr>
            <a:endParaRPr lang="en-US" dirty="0" smtClean="0"/>
          </a:p>
          <a:p>
            <a:pPr marL="137160" indent="0">
              <a:buNone/>
            </a:pPr>
            <a:r>
              <a:rPr lang="en-US" dirty="0"/>
              <a:t>A mission statement is a practical guide for planning and actions</a:t>
            </a:r>
            <a:r>
              <a:rPr lang="en-US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48940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solidFill>
                  <a:schemeClr val="accent3">
                    <a:lumMod val="50000"/>
                  </a:schemeClr>
                </a:solidFill>
                <a:effectLst/>
              </a:rPr>
              <a:t>Recommended Readings</a:t>
            </a:r>
            <a:endParaRPr lang="en-CA" dirty="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Dale Bourke’s </a:t>
            </a:r>
            <a:r>
              <a:rPr lang="en-US" i="1" dirty="0"/>
              <a:t>Second calling: Passion and purpose for the rest of your life</a:t>
            </a:r>
            <a:endParaRPr lang="en-CA" dirty="0"/>
          </a:p>
          <a:p>
            <a:pPr lvl="0"/>
            <a:r>
              <a:rPr lang="en-US" dirty="0"/>
              <a:t>Charles Colson’s </a:t>
            </a:r>
            <a:r>
              <a:rPr lang="en-US" i="1" dirty="0"/>
              <a:t>The good life: Finding meaning, purpose, &amp; truth in your life</a:t>
            </a:r>
            <a:endParaRPr lang="en-CA" dirty="0"/>
          </a:p>
          <a:p>
            <a:pPr lvl="0"/>
            <a:r>
              <a:rPr lang="en-US" dirty="0"/>
              <a:t>Lee Hardy’s </a:t>
            </a:r>
            <a:r>
              <a:rPr lang="en-US" i="1" dirty="0"/>
              <a:t>The fabric of this world: Inquiries into calling, career choice, and the design of human work</a:t>
            </a:r>
            <a:endParaRPr lang="en-CA" dirty="0"/>
          </a:p>
          <a:p>
            <a:pPr lvl="0"/>
            <a:r>
              <a:rPr lang="en-US" dirty="0"/>
              <a:t>Richard </a:t>
            </a:r>
            <a:r>
              <a:rPr lang="en-US" dirty="0" err="1"/>
              <a:t>Leider’s</a:t>
            </a:r>
            <a:r>
              <a:rPr lang="en-US" dirty="0"/>
              <a:t> </a:t>
            </a:r>
            <a:r>
              <a:rPr lang="en-US" i="1" dirty="0"/>
              <a:t>The power of purpose: Creating meaning in your life and work</a:t>
            </a:r>
            <a:endParaRPr lang="en-CA" dirty="0"/>
          </a:p>
          <a:p>
            <a:pPr lvl="0"/>
            <a:r>
              <a:rPr lang="en-US" dirty="0"/>
              <a:t>Rick Warren’s </a:t>
            </a:r>
            <a:r>
              <a:rPr lang="en-US" i="1" dirty="0"/>
              <a:t>The purpose driven life</a:t>
            </a:r>
            <a:endParaRPr lang="en-CA" dirty="0"/>
          </a:p>
          <a:p>
            <a:pPr lvl="0"/>
            <a:r>
              <a:rPr lang="en-US" dirty="0"/>
              <a:t>Irvin </a:t>
            </a:r>
            <a:r>
              <a:rPr lang="en-US" dirty="0" err="1"/>
              <a:t>Yalom’s</a:t>
            </a:r>
            <a:r>
              <a:rPr lang="en-US" dirty="0"/>
              <a:t> </a:t>
            </a:r>
            <a:r>
              <a:rPr lang="en-US" i="1" dirty="0"/>
              <a:t>Momma and the meaning of life: Tales of </a:t>
            </a:r>
            <a:r>
              <a:rPr lang="en-US" i="1" dirty="0" smtClean="0"/>
              <a:t>psychotherapy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64927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1385</TotalTime>
  <Words>872</Words>
  <Application>Microsoft Office PowerPoint</Application>
  <PresentationFormat>On-screen Show (4:3)</PresentationFormat>
  <Paragraphs>106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Apex</vt:lpstr>
      <vt:lpstr>Lesson 7</vt:lpstr>
      <vt:lpstr>Learning Objectives</vt:lpstr>
      <vt:lpstr>Introduction</vt:lpstr>
      <vt:lpstr>Steve Jobs</vt:lpstr>
      <vt:lpstr>Jack Layton (1950-2011)</vt:lpstr>
      <vt:lpstr>The Power of Purpose</vt:lpstr>
      <vt:lpstr>Purpose and School Achievement</vt:lpstr>
      <vt:lpstr>Purpose and Career Accomplishment</vt:lpstr>
      <vt:lpstr>Changing Concepts of Calling</vt:lpstr>
      <vt:lpstr>Intrinsic vs. Extrinsic Motivation</vt:lpstr>
      <vt:lpstr>Five Sources of Intrinsic Motivation</vt:lpstr>
      <vt:lpstr>Duncker’s Candle Problem</vt:lpstr>
      <vt:lpstr>Duncker’s Candle Problem</vt:lpstr>
      <vt:lpstr>Approach vs. Avoidance Motivation</vt:lpstr>
      <vt:lpstr>Meaning vs. Happiness Motivation</vt:lpstr>
      <vt:lpstr>How do you find your purpose in life?</vt:lpstr>
      <vt:lpstr>What is Your Mission in Life?</vt:lpstr>
      <vt:lpstr>Recommended Readings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</dc:title>
  <dc:creator>Paul T. P. Wong</dc:creator>
  <cp:lastModifiedBy>Paul T. P. Wong</cp:lastModifiedBy>
  <cp:revision>12</cp:revision>
  <dcterms:created xsi:type="dcterms:W3CDTF">2011-08-25T20:50:23Z</dcterms:created>
  <dcterms:modified xsi:type="dcterms:W3CDTF">2011-08-26T19:56:18Z</dcterms:modified>
</cp:coreProperties>
</file>