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9">
  <p:sldMasterIdLst>
    <p:sldMasterId id="2147483660" r:id="rId2"/>
  </p:sldMasterIdLst>
  <p:notesMasterIdLst>
    <p:notesMasterId r:id="rId21"/>
  </p:notesMasterIdLst>
  <p:handoutMasterIdLst>
    <p:handoutMasterId r:id="rId22"/>
  </p:handoutMasterIdLst>
  <p:sldIdLst>
    <p:sldId id="296" r:id="rId3"/>
    <p:sldId id="299" r:id="rId4"/>
    <p:sldId id="266" r:id="rId5"/>
    <p:sldId id="297" r:id="rId6"/>
    <p:sldId id="302" r:id="rId7"/>
    <p:sldId id="279" r:id="rId8"/>
    <p:sldId id="304" r:id="rId9"/>
    <p:sldId id="307" r:id="rId10"/>
    <p:sldId id="315" r:id="rId11"/>
    <p:sldId id="314" r:id="rId12"/>
    <p:sldId id="309" r:id="rId13"/>
    <p:sldId id="316" r:id="rId14"/>
    <p:sldId id="318" r:id="rId15"/>
    <p:sldId id="317" r:id="rId16"/>
    <p:sldId id="313" r:id="rId17"/>
    <p:sldId id="311" r:id="rId18"/>
    <p:sldId id="310" r:id="rId19"/>
    <p:sldId id="287" r:id="rId20"/>
  </p:sldIdLst>
  <p:sldSz cx="9144000" cy="6858000" type="screen4x3"/>
  <p:notesSz cx="6735763" cy="9866313"/>
  <p:defaultTextStyle>
    <a:defPPr>
      <a:defRPr lang="nb-NO"/>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DBE8ED"/>
    <a:srgbClr val="CCCCFF"/>
    <a:srgbClr val="DDDDDD"/>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33" autoAdjust="0"/>
    <p:restoredTop sz="94725" autoAdjust="0"/>
  </p:normalViewPr>
  <p:slideViewPr>
    <p:cSldViewPr>
      <p:cViewPr>
        <p:scale>
          <a:sx n="80" d="100"/>
          <a:sy n="80" d="100"/>
        </p:scale>
        <p:origin x="-1896" y="-6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8" d="100"/>
          <a:sy n="88" d="100"/>
        </p:scale>
        <p:origin x="-2310" y="-120"/>
      </p:cViewPr>
      <p:guideLst>
        <p:guide orient="horz" pos="3108"/>
        <p:guide pos="2122"/>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18831" cy="49331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nb-NO"/>
          </a:p>
        </p:txBody>
      </p:sp>
      <p:sp>
        <p:nvSpPr>
          <p:cNvPr id="8195" name="Rectangle 3"/>
          <p:cNvSpPr>
            <a:spLocks noGrp="1" noChangeArrowheads="1"/>
          </p:cNvSpPr>
          <p:nvPr>
            <p:ph type="dt" sz="quarter" idx="1"/>
          </p:nvPr>
        </p:nvSpPr>
        <p:spPr bwMode="auto">
          <a:xfrm>
            <a:off x="3815373" y="0"/>
            <a:ext cx="2918831" cy="49331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fld id="{0BCE74BD-9B69-435C-A8AE-EF510632047F}" type="datetime1">
              <a:rPr lang="nb-NO" smtClean="0"/>
              <a:pPr/>
              <a:t>06.12.2012</a:t>
            </a:fld>
            <a:endParaRPr lang="nb-NO"/>
          </a:p>
        </p:txBody>
      </p:sp>
      <p:sp>
        <p:nvSpPr>
          <p:cNvPr id="8196" name="Rectangle 4"/>
          <p:cNvSpPr>
            <a:spLocks noGrp="1" noChangeArrowheads="1"/>
          </p:cNvSpPr>
          <p:nvPr>
            <p:ph type="ftr" sz="quarter" idx="2"/>
          </p:nvPr>
        </p:nvSpPr>
        <p:spPr bwMode="auto">
          <a:xfrm>
            <a:off x="0" y="9371285"/>
            <a:ext cx="2918831" cy="49331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nb-NO"/>
          </a:p>
        </p:txBody>
      </p:sp>
      <p:sp>
        <p:nvSpPr>
          <p:cNvPr id="8197" name="Rectangle 5"/>
          <p:cNvSpPr>
            <a:spLocks noGrp="1" noChangeArrowheads="1"/>
          </p:cNvSpPr>
          <p:nvPr>
            <p:ph type="sldNum" sz="quarter" idx="3"/>
          </p:nvPr>
        </p:nvSpPr>
        <p:spPr bwMode="auto">
          <a:xfrm>
            <a:off x="3815373" y="9371285"/>
            <a:ext cx="2918831" cy="49331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212C772-6C25-4AFF-AD1D-90A848388EF4}" type="slidenum">
              <a:rPr lang="nb-NO"/>
              <a:pPr/>
              <a:t>‹#›</a:t>
            </a:fld>
            <a:endParaRPr lang="nb-NO"/>
          </a:p>
        </p:txBody>
      </p:sp>
    </p:spTree>
    <p:extLst>
      <p:ext uri="{BB962C8B-B14F-4D97-AF65-F5344CB8AC3E}">
        <p14:creationId xmlns="" xmlns:p14="http://schemas.microsoft.com/office/powerpoint/2010/main" val="89052316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lang="nb-NO"/>
          </a:p>
        </p:txBody>
      </p:sp>
      <p:sp>
        <p:nvSpPr>
          <p:cNvPr id="3" name="Plassholder for dato 2"/>
          <p:cNvSpPr>
            <a:spLocks noGrp="1"/>
          </p:cNvSpPr>
          <p:nvPr>
            <p:ph type="dt" idx="1"/>
          </p:nvPr>
        </p:nvSpPr>
        <p:spPr>
          <a:xfrm>
            <a:off x="3815373" y="0"/>
            <a:ext cx="2918831" cy="493316"/>
          </a:xfrm>
          <a:prstGeom prst="rect">
            <a:avLst/>
          </a:prstGeom>
        </p:spPr>
        <p:txBody>
          <a:bodyPr vert="horz" lIns="91440" tIns="45720" rIns="91440" bIns="45720" rtlCol="0"/>
          <a:lstStyle>
            <a:lvl1pPr algn="r">
              <a:defRPr sz="1200"/>
            </a:lvl1pPr>
          </a:lstStyle>
          <a:p>
            <a:fld id="{E8457579-A1AB-494F-B98E-CDF864E3BDE0}" type="datetime1">
              <a:rPr lang="nb-NO" smtClean="0"/>
              <a:pPr/>
              <a:t>06.12.2012</a:t>
            </a:fld>
            <a:endParaRPr lang="nb-NO"/>
          </a:p>
        </p:txBody>
      </p:sp>
      <p:sp>
        <p:nvSpPr>
          <p:cNvPr id="4" name="Plassholder for lysbilde 3"/>
          <p:cNvSpPr>
            <a:spLocks noGrp="1" noRot="1" noChangeAspect="1"/>
          </p:cNvSpPr>
          <p:nvPr>
            <p:ph type="sldImg" idx="2"/>
          </p:nvPr>
        </p:nvSpPr>
        <p:spPr>
          <a:xfrm>
            <a:off x="901700" y="739775"/>
            <a:ext cx="4932363" cy="3700463"/>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p:cNvSpPr>
            <a:spLocks noGrp="1"/>
          </p:cNvSpPr>
          <p:nvPr>
            <p:ph type="body" sz="quarter" idx="3"/>
          </p:nvPr>
        </p:nvSpPr>
        <p:spPr>
          <a:xfrm>
            <a:off x="673577" y="4686499"/>
            <a:ext cx="5388610" cy="4439841"/>
          </a:xfrm>
          <a:prstGeom prst="rect">
            <a:avLst/>
          </a:prstGeom>
        </p:spPr>
        <p:txBody>
          <a:bodyPr vert="horz" lIns="91440" tIns="45720" rIns="91440" bIns="45720" rtlCol="0">
            <a:normAutofit/>
          </a:body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6" name="Plassholder for bunntekst 5"/>
          <p:cNvSpPr>
            <a:spLocks noGrp="1"/>
          </p:cNvSpPr>
          <p:nvPr>
            <p:ph type="ftr" sz="quarter" idx="4"/>
          </p:nvPr>
        </p:nvSpPr>
        <p:spPr>
          <a:xfrm>
            <a:off x="0" y="9371285"/>
            <a:ext cx="2918831" cy="493316"/>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p:cNvSpPr>
            <a:spLocks noGrp="1"/>
          </p:cNvSpPr>
          <p:nvPr>
            <p:ph type="sldNum" sz="quarter" idx="5"/>
          </p:nvPr>
        </p:nvSpPr>
        <p:spPr>
          <a:xfrm>
            <a:off x="3815373" y="9371285"/>
            <a:ext cx="2918831" cy="493316"/>
          </a:xfrm>
          <a:prstGeom prst="rect">
            <a:avLst/>
          </a:prstGeom>
        </p:spPr>
        <p:txBody>
          <a:bodyPr vert="horz" lIns="91440" tIns="45720" rIns="91440" bIns="45720" rtlCol="0" anchor="b"/>
          <a:lstStyle>
            <a:lvl1pPr algn="r">
              <a:defRPr sz="1200"/>
            </a:lvl1pPr>
          </a:lstStyle>
          <a:p>
            <a:fld id="{17EA0AA4-AE5C-456E-A8A9-E937612B537B}" type="slidenum">
              <a:rPr lang="nb-NO" smtClean="0"/>
              <a:pPr/>
              <a:t>‹#›</a:t>
            </a:fld>
            <a:endParaRPr lang="nb-NO"/>
          </a:p>
        </p:txBody>
      </p:sp>
    </p:spTree>
    <p:extLst>
      <p:ext uri="{BB962C8B-B14F-4D97-AF65-F5344CB8AC3E}">
        <p14:creationId xmlns="" xmlns:p14="http://schemas.microsoft.com/office/powerpoint/2010/main" val="2286217027"/>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Plassholder for lysbilde 1"/>
          <p:cNvSpPr>
            <a:spLocks noGrp="1" noRot="1" noChangeAspect="1" noTextEdit="1"/>
          </p:cNvSpPr>
          <p:nvPr>
            <p:ph type="sldImg"/>
          </p:nvPr>
        </p:nvSpPr>
        <p:spPr bwMode="auto">
          <a:noFill/>
          <a:ln>
            <a:solidFill>
              <a:srgbClr val="000000"/>
            </a:solidFill>
            <a:miter lim="800000"/>
            <a:headEnd/>
            <a:tailEnd/>
          </a:ln>
        </p:spPr>
      </p:sp>
      <p:sp>
        <p:nvSpPr>
          <p:cNvPr id="3" name="Plassholder for notater 2"/>
          <p:cNvSpPr>
            <a:spLocks noGrp="1"/>
          </p:cNvSpPr>
          <p:nvPr>
            <p:ph type="body" idx="1"/>
          </p:nvPr>
        </p:nvSpPr>
        <p:spPr/>
        <p:txBody>
          <a:bodyPr>
            <a:normAutofit lnSpcReduction="10000"/>
          </a:bodyPr>
          <a:lstStyle/>
          <a:p>
            <a:pPr fontAlgn="auto">
              <a:spcBef>
                <a:spcPts val="0"/>
              </a:spcBef>
              <a:spcAft>
                <a:spcPts val="0"/>
              </a:spcAft>
              <a:defRPr/>
            </a:pPr>
            <a:r>
              <a:rPr lang="nb-NO" dirty="0" smtClean="0"/>
              <a:t>Innledningsvis: Kort forklare roller og ansvar: Helse Sør-Øst, Sykehuspartner og IEH</a:t>
            </a:r>
          </a:p>
          <a:p>
            <a:pPr fontAlgn="auto">
              <a:spcBef>
                <a:spcPts val="0"/>
              </a:spcBef>
              <a:spcAft>
                <a:spcPts val="0"/>
              </a:spcAft>
              <a:defRPr/>
            </a:pPr>
            <a:endParaRPr lang="nb-NO" dirty="0" smtClean="0"/>
          </a:p>
          <a:p>
            <a:pPr fontAlgn="auto">
              <a:spcBef>
                <a:spcPts val="0"/>
              </a:spcBef>
              <a:spcAft>
                <a:spcPts val="0"/>
              </a:spcAft>
              <a:defRPr/>
            </a:pPr>
            <a:r>
              <a:rPr lang="nb-NO" dirty="0" smtClean="0"/>
              <a:t>04.10.2010: Si noe om hva som ble sagt om etiske krav i kontraktsmøtet</a:t>
            </a:r>
          </a:p>
          <a:p>
            <a:pPr fontAlgn="auto">
              <a:spcBef>
                <a:spcPts val="0"/>
              </a:spcBef>
              <a:spcAft>
                <a:spcPts val="0"/>
              </a:spcAft>
              <a:defRPr/>
            </a:pPr>
            <a:r>
              <a:rPr lang="nb-NO" dirty="0" smtClean="0"/>
              <a:t>Dato: Kort beskrive hensikten med egenrapporeringsskjema trinn 1. Vise skjema. Ble fristen overholdt? Hadde Sverre Monsen spørsmål til skjemaet?</a:t>
            </a:r>
          </a:p>
          <a:p>
            <a:pPr fontAlgn="auto">
              <a:spcBef>
                <a:spcPts val="0"/>
              </a:spcBef>
              <a:spcAft>
                <a:spcPts val="0"/>
              </a:spcAft>
              <a:defRPr/>
            </a:pPr>
            <a:r>
              <a:rPr lang="nb-NO" dirty="0" smtClean="0"/>
              <a:t>Dato: Kort beskrive hensikten med </a:t>
            </a:r>
            <a:r>
              <a:rPr lang="nb-NO" dirty="0" err="1" smtClean="0"/>
              <a:t>egenrapp.skjema</a:t>
            </a:r>
            <a:r>
              <a:rPr lang="nb-NO" dirty="0" smtClean="0"/>
              <a:t> for produsenter. Risikoanalyse i RAID</a:t>
            </a:r>
          </a:p>
          <a:p>
            <a:pPr fontAlgn="auto">
              <a:spcBef>
                <a:spcPts val="0"/>
              </a:spcBef>
              <a:spcAft>
                <a:spcPts val="0"/>
              </a:spcAft>
              <a:defRPr/>
            </a:pPr>
            <a:r>
              <a:rPr lang="nb-NO" dirty="0" smtClean="0"/>
              <a:t>Dato: Vurdering av svarene i trinn 1, samt risikorapport fra RAID. Vise vurderingsskjema</a:t>
            </a:r>
          </a:p>
          <a:p>
            <a:pPr fontAlgn="auto">
              <a:spcBef>
                <a:spcPts val="0"/>
              </a:spcBef>
              <a:spcAft>
                <a:spcPts val="0"/>
              </a:spcAft>
              <a:defRPr/>
            </a:pPr>
            <a:r>
              <a:rPr lang="nb-NO" dirty="0" smtClean="0"/>
              <a:t>Des. 2010: Besluttet å gjennomføre kontroll. Hvordan ble dette formidlet til SWM?</a:t>
            </a:r>
          </a:p>
          <a:p>
            <a:pPr fontAlgn="auto">
              <a:spcBef>
                <a:spcPts val="0"/>
              </a:spcBef>
              <a:spcAft>
                <a:spcPts val="0"/>
              </a:spcAft>
              <a:defRPr/>
            </a:pPr>
            <a:r>
              <a:rPr lang="nb-NO" dirty="0" smtClean="0"/>
              <a:t>Des. 2010: IEH utarbeider </a:t>
            </a:r>
            <a:r>
              <a:rPr lang="nb-NO" dirty="0" err="1" smtClean="0"/>
              <a:t>ToR</a:t>
            </a:r>
            <a:r>
              <a:rPr lang="nb-NO" dirty="0" smtClean="0"/>
              <a:t> (oppdragsbekreftelse). Si kort hva som står i denne.</a:t>
            </a:r>
          </a:p>
          <a:p>
            <a:pPr fontAlgn="auto">
              <a:spcBef>
                <a:spcPts val="0"/>
              </a:spcBef>
              <a:spcAft>
                <a:spcPts val="0"/>
              </a:spcAft>
              <a:defRPr/>
            </a:pPr>
            <a:r>
              <a:rPr lang="nb-NO" dirty="0" smtClean="0"/>
              <a:t>Jan 2011: Oppdraget tildeles </a:t>
            </a:r>
            <a:r>
              <a:rPr lang="nb-NO" dirty="0" err="1" smtClean="0"/>
              <a:t>Level</a:t>
            </a:r>
            <a:r>
              <a:rPr lang="nb-NO" dirty="0" smtClean="0"/>
              <a:t> Works. Si litt om selskapet (utbrytere fra Bureau Veritas)</a:t>
            </a:r>
          </a:p>
          <a:p>
            <a:pPr fontAlgn="auto">
              <a:spcBef>
                <a:spcPts val="0"/>
              </a:spcBef>
              <a:spcAft>
                <a:spcPts val="0"/>
              </a:spcAft>
              <a:defRPr/>
            </a:pPr>
            <a:r>
              <a:rPr lang="nb-NO" dirty="0" smtClean="0"/>
              <a:t>14. og 15. februar 2011 foretar LW en </a:t>
            </a:r>
            <a:r>
              <a:rPr lang="nb-NO" dirty="0" err="1" smtClean="0"/>
              <a:t>semi-annonsert</a:t>
            </a:r>
            <a:r>
              <a:rPr lang="nb-NO" dirty="0" smtClean="0"/>
              <a:t> kontroll hos produsent i India, dvs. underleverandør til SWM. Rapporten foreligger 19 februar og viser fire avvike fra de etiske kravene. </a:t>
            </a:r>
            <a:r>
              <a:rPr lang="nb-NO" dirty="0" err="1" smtClean="0"/>
              <a:t>Corrective</a:t>
            </a:r>
            <a:r>
              <a:rPr lang="nb-NO" dirty="0" smtClean="0"/>
              <a:t> Action Plan, eller forbedringsplan, beskriver manglene, hvordan de kan utbedres og tidsfrister.</a:t>
            </a:r>
          </a:p>
          <a:p>
            <a:pPr fontAlgn="auto">
              <a:spcBef>
                <a:spcPts val="0"/>
              </a:spcBef>
              <a:spcAft>
                <a:spcPts val="0"/>
              </a:spcAft>
              <a:defRPr/>
            </a:pPr>
            <a:r>
              <a:rPr lang="nb-NO" dirty="0" smtClean="0"/>
              <a:t>Mars 2011: Helse Sør-Øst sender rapport og CAP til SWM, sammen med et vedleggsbrev.</a:t>
            </a:r>
          </a:p>
          <a:p>
            <a:pPr fontAlgn="auto">
              <a:spcBef>
                <a:spcPts val="0"/>
              </a:spcBef>
              <a:spcAft>
                <a:spcPts val="0"/>
              </a:spcAft>
              <a:defRPr/>
            </a:pPr>
            <a:r>
              <a:rPr lang="nb-NO" dirty="0" smtClean="0"/>
              <a:t>Mai 2011: LW gjør ny kontroll. Produsenten viser god fremdrift i arbeidet.</a:t>
            </a:r>
          </a:p>
          <a:p>
            <a:pPr fontAlgn="auto">
              <a:spcBef>
                <a:spcPts val="0"/>
              </a:spcBef>
              <a:spcAft>
                <a:spcPts val="0"/>
              </a:spcAft>
              <a:defRPr/>
            </a:pPr>
            <a:r>
              <a:rPr lang="nb-NO" dirty="0" smtClean="0"/>
              <a:t>September: Status og planer ….</a:t>
            </a:r>
          </a:p>
          <a:p>
            <a:pPr fontAlgn="auto">
              <a:spcBef>
                <a:spcPts val="0"/>
              </a:spcBef>
              <a:spcAft>
                <a:spcPts val="0"/>
              </a:spcAft>
              <a:defRPr/>
            </a:pPr>
            <a:endParaRPr lang="nb-NO" dirty="0" smtClean="0"/>
          </a:p>
          <a:p>
            <a:pPr fontAlgn="auto">
              <a:spcBef>
                <a:spcPts val="0"/>
              </a:spcBef>
              <a:spcAft>
                <a:spcPts val="0"/>
              </a:spcAft>
              <a:defRPr/>
            </a:pPr>
            <a:r>
              <a:rPr lang="nb-NO" dirty="0" smtClean="0"/>
              <a:t>Grete: Si litt om hvor mye jobb det har vært, om læring og erfaringer.</a:t>
            </a:r>
          </a:p>
          <a:p>
            <a:pPr fontAlgn="auto">
              <a:spcBef>
                <a:spcPts val="0"/>
              </a:spcBef>
              <a:spcAft>
                <a:spcPts val="0"/>
              </a:spcAft>
              <a:defRPr/>
            </a:pPr>
            <a:endParaRPr lang="nb-NO" dirty="0" smtClean="0"/>
          </a:p>
        </p:txBody>
      </p:sp>
      <p:sp>
        <p:nvSpPr>
          <p:cNvPr id="49156" name="Plassholder for lysbildenumm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C6064C5-7481-43A4-AA05-4D1A3C057E99}" type="slidenum">
              <a:rPr lang="nb-NO"/>
              <a:pPr fontAlgn="base">
                <a:spcBef>
                  <a:spcPct val="0"/>
                </a:spcBef>
                <a:spcAft>
                  <a:spcPct val="0"/>
                </a:spcAft>
              </a:pPr>
              <a:t>12</a:t>
            </a:fld>
            <a:endParaRPr lang="nb-NO"/>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tellysbilde">
    <p:spTree>
      <p:nvGrpSpPr>
        <p:cNvPr id="1" name=""/>
        <p:cNvGrpSpPr/>
        <p:nvPr/>
      </p:nvGrpSpPr>
      <p:grpSpPr>
        <a:xfrm>
          <a:off x="0" y="0"/>
          <a:ext cx="0" cy="0"/>
          <a:chOff x="0" y="0"/>
          <a:chExt cx="0" cy="0"/>
        </a:xfrm>
      </p:grpSpPr>
      <p:sp>
        <p:nvSpPr>
          <p:cNvPr id="5" name="Rektangel 4"/>
          <p:cNvSpPr/>
          <p:nvPr userDrawn="1"/>
        </p:nvSpPr>
        <p:spPr>
          <a:xfrm>
            <a:off x="0" y="0"/>
            <a:ext cx="9144000" cy="27089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2800" dirty="0">
              <a:latin typeface="+mj-lt"/>
            </a:endParaRPr>
          </a:p>
        </p:txBody>
      </p:sp>
      <p:sp>
        <p:nvSpPr>
          <p:cNvPr id="2" name="Tittel 1"/>
          <p:cNvSpPr>
            <a:spLocks noGrp="1"/>
          </p:cNvSpPr>
          <p:nvPr>
            <p:ph type="ctrTitle"/>
          </p:nvPr>
        </p:nvSpPr>
        <p:spPr>
          <a:xfrm>
            <a:off x="683568" y="3068960"/>
            <a:ext cx="7776864" cy="1470025"/>
          </a:xfrm>
        </p:spPr>
        <p:txBody>
          <a:bodyPr/>
          <a:lstStyle>
            <a:lvl1pPr>
              <a:defRPr>
                <a:solidFill>
                  <a:schemeClr val="accent1"/>
                </a:solidFill>
              </a:defRPr>
            </a:lvl1pPr>
          </a:lstStyle>
          <a:p>
            <a:r>
              <a:rPr lang="nb-NO" smtClean="0"/>
              <a:t>Klikk for å redigere tittelstil</a:t>
            </a:r>
            <a:endParaRPr lang="nb-NO" dirty="0"/>
          </a:p>
        </p:txBody>
      </p:sp>
      <p:sp>
        <p:nvSpPr>
          <p:cNvPr id="3" name="Undertittel 2"/>
          <p:cNvSpPr>
            <a:spLocks noGrp="1"/>
          </p:cNvSpPr>
          <p:nvPr>
            <p:ph type="subTitle" idx="1"/>
          </p:nvPr>
        </p:nvSpPr>
        <p:spPr>
          <a:xfrm>
            <a:off x="683568" y="4509120"/>
            <a:ext cx="7776864" cy="1080120"/>
          </a:xfrm>
        </p:spPr>
        <p:txBody>
          <a:bodyPr/>
          <a:lstStyle>
            <a:lvl1pPr marL="0" indent="0" algn="ctr">
              <a:buNone/>
              <a:defRPr>
                <a:solidFill>
                  <a:schemeClr val="tx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nb-NO" smtClean="0"/>
              <a:t>Klikk for å redigere undertittelstil i malen</a:t>
            </a:r>
            <a:endParaRPr lang="nb-NO" dirty="0"/>
          </a:p>
        </p:txBody>
      </p:sp>
      <p:sp>
        <p:nvSpPr>
          <p:cNvPr id="8" name="Plassholder for bilde 7"/>
          <p:cNvSpPr>
            <a:spLocks noGrp="1"/>
          </p:cNvSpPr>
          <p:nvPr>
            <p:ph type="pic" sz="quarter" idx="10" hasCustomPrompt="1"/>
          </p:nvPr>
        </p:nvSpPr>
        <p:spPr>
          <a:xfrm>
            <a:off x="0" y="0"/>
            <a:ext cx="3131839" cy="2708920"/>
          </a:xfrm>
        </p:spPr>
        <p:txBody>
          <a:bodyPr/>
          <a:lstStyle>
            <a:lvl1pPr>
              <a:defRPr baseline="0"/>
            </a:lvl1pPr>
          </a:lstStyle>
          <a:p>
            <a:r>
              <a:rPr lang="nb-NO" dirty="0" smtClean="0"/>
              <a:t>Velg et bilde relevant for presentasjonen</a:t>
            </a:r>
            <a:endParaRPr lang="nb-NO" dirty="0"/>
          </a:p>
        </p:txBody>
      </p:sp>
      <p:sp>
        <p:nvSpPr>
          <p:cNvPr id="6" name="TekstSylinder 5"/>
          <p:cNvSpPr txBox="1"/>
          <p:nvPr userDrawn="1"/>
        </p:nvSpPr>
        <p:spPr>
          <a:xfrm>
            <a:off x="3203848" y="548680"/>
            <a:ext cx="5688632" cy="1354217"/>
          </a:xfrm>
          <a:prstGeom prst="rect">
            <a:avLst/>
          </a:prstGeom>
          <a:noFill/>
        </p:spPr>
        <p:txBody>
          <a:bodyPr wrap="square" rtlCol="0">
            <a:spAutoFit/>
          </a:bodyPr>
          <a:lstStyle/>
          <a:p>
            <a:r>
              <a:rPr lang="nb-NO" sz="2800" b="1" dirty="0" smtClean="0">
                <a:solidFill>
                  <a:schemeClr val="bg1"/>
                </a:solidFill>
                <a:latin typeface="+mn-lt"/>
              </a:rPr>
              <a:t>Helse Sør-Øst RHF</a:t>
            </a:r>
          </a:p>
          <a:p>
            <a:r>
              <a:rPr lang="nb-NO" sz="1800" b="1" dirty="0" smtClean="0">
                <a:solidFill>
                  <a:schemeClr val="bg1"/>
                </a:solidFill>
                <a:latin typeface="+mn-lt"/>
              </a:rPr>
              <a:t>Gode og likeverdige helsetjenester  til alle som trenger det, når de trenger det, uavhengig av alder, bosted, etnisk bakgrunn, kjønn og økonomi.</a:t>
            </a:r>
            <a:endParaRPr lang="nb-NO" sz="1800" b="1" dirty="0">
              <a:solidFill>
                <a:schemeClr val="bg1"/>
              </a:solidFill>
              <a:latin typeface="+mn-l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tellysbilde variant">
    <p:spTree>
      <p:nvGrpSpPr>
        <p:cNvPr id="1" name=""/>
        <p:cNvGrpSpPr/>
        <p:nvPr/>
      </p:nvGrpSpPr>
      <p:grpSpPr>
        <a:xfrm>
          <a:off x="0" y="0"/>
          <a:ext cx="0" cy="0"/>
          <a:chOff x="0" y="0"/>
          <a:chExt cx="0" cy="0"/>
        </a:xfrm>
      </p:grpSpPr>
      <p:sp>
        <p:nvSpPr>
          <p:cNvPr id="5" name="Rektangel 4"/>
          <p:cNvSpPr/>
          <p:nvPr userDrawn="1"/>
        </p:nvSpPr>
        <p:spPr>
          <a:xfrm>
            <a:off x="0" y="0"/>
            <a:ext cx="3851920" cy="6858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2800" dirty="0">
              <a:latin typeface="+mj-lt"/>
            </a:endParaRPr>
          </a:p>
        </p:txBody>
      </p:sp>
      <p:sp>
        <p:nvSpPr>
          <p:cNvPr id="2" name="Tittel 1"/>
          <p:cNvSpPr>
            <a:spLocks noGrp="1"/>
          </p:cNvSpPr>
          <p:nvPr>
            <p:ph type="ctrTitle"/>
          </p:nvPr>
        </p:nvSpPr>
        <p:spPr>
          <a:xfrm>
            <a:off x="3995936" y="548680"/>
            <a:ext cx="4896544" cy="2448272"/>
          </a:xfrm>
        </p:spPr>
        <p:txBody>
          <a:bodyPr/>
          <a:lstStyle>
            <a:lvl1pPr>
              <a:defRPr>
                <a:solidFill>
                  <a:schemeClr val="accent1"/>
                </a:solidFill>
              </a:defRPr>
            </a:lvl1pPr>
          </a:lstStyle>
          <a:p>
            <a:r>
              <a:rPr lang="nb-NO" smtClean="0"/>
              <a:t>Klikk for å redigere tittelstil</a:t>
            </a:r>
            <a:endParaRPr lang="nb-NO" dirty="0"/>
          </a:p>
        </p:txBody>
      </p:sp>
      <p:sp>
        <p:nvSpPr>
          <p:cNvPr id="3" name="Undertittel 2"/>
          <p:cNvSpPr>
            <a:spLocks noGrp="1"/>
          </p:cNvSpPr>
          <p:nvPr>
            <p:ph type="subTitle" idx="1"/>
          </p:nvPr>
        </p:nvSpPr>
        <p:spPr>
          <a:xfrm>
            <a:off x="3995936" y="3429000"/>
            <a:ext cx="4824536" cy="1752600"/>
          </a:xfrm>
        </p:spPr>
        <p:txBody>
          <a:bodyPr/>
          <a:lstStyle>
            <a:lvl1pPr marL="0" indent="0" algn="ctr">
              <a:buNone/>
              <a:defRPr>
                <a:solidFill>
                  <a:schemeClr val="tx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nb-NO" smtClean="0"/>
              <a:t>Klikk for å redigere undertittelstil i malen</a:t>
            </a:r>
            <a:endParaRPr lang="nb-NO" dirty="0"/>
          </a:p>
        </p:txBody>
      </p:sp>
      <p:sp>
        <p:nvSpPr>
          <p:cNvPr id="8" name="Plassholder for bilde 7"/>
          <p:cNvSpPr>
            <a:spLocks noGrp="1"/>
          </p:cNvSpPr>
          <p:nvPr>
            <p:ph type="pic" sz="quarter" idx="10"/>
          </p:nvPr>
        </p:nvSpPr>
        <p:spPr>
          <a:xfrm>
            <a:off x="36000" y="35999"/>
            <a:ext cx="3781088" cy="6792313"/>
          </a:xfrm>
        </p:spPr>
        <p:txBody>
          <a:bodyPr/>
          <a:lstStyle>
            <a:lvl1pPr marL="342900" marR="0" indent="-342900" algn="ctr" defTabSz="914400" rtl="0" eaLnBrk="1" fontAlgn="base" latinLnBrk="0" hangingPunct="1">
              <a:lnSpc>
                <a:spcPct val="100000"/>
              </a:lnSpc>
              <a:spcBef>
                <a:spcPct val="20000"/>
              </a:spcBef>
              <a:spcAft>
                <a:spcPct val="0"/>
              </a:spcAft>
              <a:buClrTx/>
              <a:buSzTx/>
              <a:buFontTx/>
              <a:buNone/>
              <a:tabLst/>
              <a:defRPr/>
            </a:lvl1pPr>
          </a:lstStyle>
          <a:p>
            <a:r>
              <a:rPr lang="nb-NO" smtClean="0"/>
              <a:t>Klikk ikonet for å legge til et bilde</a:t>
            </a:r>
            <a:endParaRPr lang="nb-NO"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a:xfrm>
            <a:off x="467544" y="332656"/>
            <a:ext cx="8229600" cy="792088"/>
          </a:xfrm>
        </p:spPr>
        <p:txBody>
          <a:bodyPr/>
          <a:lstStyle>
            <a:lvl1pPr algn="l">
              <a:defRPr b="1">
                <a:solidFill>
                  <a:schemeClr val="accent1"/>
                </a:solidFill>
                <a:effectLst/>
              </a:defRPr>
            </a:lvl1pPr>
          </a:lstStyle>
          <a:p>
            <a:r>
              <a:rPr lang="nb-NO" smtClean="0"/>
              <a:t>Klikk for å redigere tittelstil</a:t>
            </a:r>
            <a:endParaRPr lang="nb-NO" dirty="0"/>
          </a:p>
        </p:txBody>
      </p:sp>
      <p:sp>
        <p:nvSpPr>
          <p:cNvPr id="3" name="Plassholder for innhold 2"/>
          <p:cNvSpPr>
            <a:spLocks noGrp="1"/>
          </p:cNvSpPr>
          <p:nvPr>
            <p:ph idx="1"/>
          </p:nvPr>
        </p:nvSpPr>
        <p:spPr>
          <a:xfrm>
            <a:off x="467544" y="1268760"/>
            <a:ext cx="8229600" cy="4536504"/>
          </a:xfrm>
        </p:spPr>
        <p:txBody>
          <a:bodyPr/>
          <a:lstStyle>
            <a:lvl1pPr algn="l">
              <a:buFont typeface="Arial" pitchFamily="34" charset="0"/>
              <a:buChar char="•"/>
              <a:defRPr b="0">
                <a:solidFill>
                  <a:schemeClr val="tx1"/>
                </a:solidFill>
                <a:latin typeface="Cambria" pitchFamily="18" charset="0"/>
              </a:defRPr>
            </a:lvl1pPr>
            <a:lvl2pPr>
              <a:defRPr>
                <a:latin typeface="Cambria" pitchFamily="18" charset="0"/>
              </a:defRPr>
            </a:lvl2pPr>
            <a:lvl3pPr>
              <a:defRPr sz="2000" b="0">
                <a:latin typeface="Cambria" pitchFamily="18" charset="0"/>
              </a:defRPr>
            </a:lvl3pPr>
            <a:lvl4pPr>
              <a:defRPr>
                <a:latin typeface="Cambria" pitchFamily="18" charset="0"/>
              </a:defRPr>
            </a:lvl4pPr>
            <a:lvl5pPr>
              <a:defRPr>
                <a:latin typeface="Cambria" pitchFamily="18" charset="0"/>
              </a:defRPr>
            </a:lvl5p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a:xfrm>
            <a:off x="395536" y="188640"/>
            <a:ext cx="8229600" cy="1080120"/>
          </a:xfrm>
        </p:spPr>
        <p:txBody>
          <a:bodyPr/>
          <a:lstStyle>
            <a:lvl1pPr algn="l">
              <a:defRPr b="1">
                <a:solidFill>
                  <a:schemeClr val="accent1"/>
                </a:solidFill>
                <a:effectLst/>
              </a:defRPr>
            </a:lvl1pPr>
          </a:lstStyle>
          <a:p>
            <a:r>
              <a:rPr lang="nb-NO" smtClean="0"/>
              <a:t>Klikk for å redigere tittelstil</a:t>
            </a:r>
            <a:endParaRPr lang="nb-NO" dirty="0"/>
          </a:p>
        </p:txBody>
      </p:sp>
      <p:sp>
        <p:nvSpPr>
          <p:cNvPr id="3" name="Plassholder for innhold 2"/>
          <p:cNvSpPr>
            <a:spLocks noGrp="1"/>
          </p:cNvSpPr>
          <p:nvPr>
            <p:ph sz="half" idx="1"/>
          </p:nvPr>
        </p:nvSpPr>
        <p:spPr>
          <a:xfrm>
            <a:off x="457200" y="1268761"/>
            <a:ext cx="4038600" cy="4857404"/>
          </a:xfrm>
        </p:spPr>
        <p:txBody>
          <a:bodyPr/>
          <a:lstStyle>
            <a:lvl1pPr algn="l">
              <a:buFont typeface="Arial" pitchFamily="34" charset="0"/>
              <a:buChar char="•"/>
              <a:defRPr sz="2400" b="0">
                <a:solidFill>
                  <a:schemeClr val="tx1"/>
                </a:solidFill>
              </a:defRPr>
            </a:lvl1pPr>
            <a:lvl2pPr>
              <a:defRPr sz="2000"/>
            </a:lvl2pPr>
            <a:lvl3pPr>
              <a:defRPr sz="2000" b="0"/>
            </a:lvl3pPr>
            <a:lvl4pPr>
              <a:defRPr sz="1800"/>
            </a:lvl4pPr>
            <a:lvl5pPr>
              <a:defRPr sz="1800"/>
            </a:lvl5pPr>
            <a:lvl6pPr>
              <a:defRPr sz="1800"/>
            </a:lvl6pPr>
            <a:lvl7pPr>
              <a:defRPr sz="1800"/>
            </a:lvl7pPr>
            <a:lvl8pPr>
              <a:defRPr sz="1800"/>
            </a:lvl8pPr>
            <a:lvl9pPr>
              <a:defRPr sz="1800"/>
            </a:lvl9p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dirty="0"/>
          </a:p>
        </p:txBody>
      </p:sp>
      <p:sp>
        <p:nvSpPr>
          <p:cNvPr id="6" name="Plassholder for innhold 2"/>
          <p:cNvSpPr>
            <a:spLocks noGrp="1"/>
          </p:cNvSpPr>
          <p:nvPr>
            <p:ph sz="half" idx="10"/>
          </p:nvPr>
        </p:nvSpPr>
        <p:spPr>
          <a:xfrm>
            <a:off x="4572000" y="1268760"/>
            <a:ext cx="4038600" cy="4857404"/>
          </a:xfrm>
        </p:spPr>
        <p:txBody>
          <a:bodyPr/>
          <a:lstStyle>
            <a:lvl1pPr algn="l">
              <a:buFont typeface="Arial" pitchFamily="34" charset="0"/>
              <a:buChar char="•"/>
              <a:defRPr sz="2400" b="0">
                <a:solidFill>
                  <a:schemeClr val="tx1"/>
                </a:solidFill>
              </a:defRPr>
            </a:lvl1pPr>
            <a:lvl2pPr>
              <a:defRPr sz="2000"/>
            </a:lvl2pPr>
            <a:lvl3pPr>
              <a:defRPr sz="2000" b="0"/>
            </a:lvl3pPr>
            <a:lvl4pPr>
              <a:defRPr sz="1800"/>
            </a:lvl4pPr>
            <a:lvl5pPr>
              <a:defRPr sz="1800"/>
            </a:lvl5pPr>
            <a:lvl6pPr>
              <a:defRPr sz="1800"/>
            </a:lvl6pPr>
            <a:lvl7pPr>
              <a:defRPr sz="1800"/>
            </a:lvl7pPr>
            <a:lvl8pPr>
              <a:defRPr sz="1800"/>
            </a:lvl8pPr>
            <a:lvl9pPr>
              <a:defRPr sz="1800"/>
            </a:lvl9p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Inndelingsskift blått">
    <p:bg>
      <p:bgPr>
        <a:blipFill dpi="0" rotWithShape="1">
          <a:blip r:embed="rId2" cstate="screen">
            <a:lum/>
          </a:blip>
          <a:srcRect/>
          <a:stretch>
            <a:fillRect t="-4000" b="-4000"/>
          </a:stretch>
        </a:blipFill>
        <a:effectLst/>
      </p:bgPr>
    </p:bg>
    <p:spTree>
      <p:nvGrpSpPr>
        <p:cNvPr id="1" name=""/>
        <p:cNvGrpSpPr/>
        <p:nvPr/>
      </p:nvGrpSpPr>
      <p:grpSpPr>
        <a:xfrm>
          <a:off x="0" y="0"/>
          <a:ext cx="0" cy="0"/>
          <a:chOff x="0" y="0"/>
          <a:chExt cx="0" cy="0"/>
        </a:xfrm>
      </p:grpSpPr>
      <p:sp>
        <p:nvSpPr>
          <p:cNvPr id="3" name="Tittel 1"/>
          <p:cNvSpPr>
            <a:spLocks noGrp="1"/>
          </p:cNvSpPr>
          <p:nvPr>
            <p:ph type="title"/>
          </p:nvPr>
        </p:nvSpPr>
        <p:spPr>
          <a:xfrm>
            <a:off x="1475656" y="332656"/>
            <a:ext cx="7221488" cy="1224136"/>
          </a:xfrm>
        </p:spPr>
        <p:txBody>
          <a:bodyPr/>
          <a:lstStyle>
            <a:lvl1pPr algn="l">
              <a:defRPr>
                <a:solidFill>
                  <a:schemeClr val="bg1"/>
                </a:solidFill>
                <a:effectLst/>
                <a:latin typeface="Calibri" pitchFamily="34" charset="0"/>
                <a:cs typeface="Calibri" pitchFamily="34" charset="0"/>
              </a:defRPr>
            </a:lvl1pPr>
          </a:lstStyle>
          <a:p>
            <a:r>
              <a:rPr lang="nb-NO" smtClean="0"/>
              <a:t>Klikk for å redigere tittelstil</a:t>
            </a:r>
            <a:endParaRPr lang="nb-NO"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Inndelingsskift hvit">
    <p:bg>
      <p:bgPr>
        <a:blipFill dpi="0" rotWithShape="1">
          <a:blip r:embed="rId2" cstate="screen">
            <a:lum/>
          </a:blip>
          <a:srcRect/>
          <a:stretch>
            <a:fillRect t="-4000" b="-4000"/>
          </a:stretch>
        </a:blip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1691680" y="1124744"/>
            <a:ext cx="7221488" cy="1224136"/>
          </a:xfrm>
        </p:spPr>
        <p:txBody>
          <a:bodyPr/>
          <a:lstStyle>
            <a:lvl1pPr algn="l">
              <a:defRPr>
                <a:effectLst/>
                <a:latin typeface="Calibri" pitchFamily="34" charset="0"/>
                <a:cs typeface="Calibri" pitchFamily="34" charset="0"/>
              </a:defRPr>
            </a:lvl1pPr>
          </a:lstStyle>
          <a:p>
            <a:r>
              <a:rPr lang="nb-NO" smtClean="0"/>
              <a:t>Klikk for å redigere tittelstil</a:t>
            </a:r>
            <a:endParaRPr lang="nb-NO"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om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Sisteside">
    <p:bg>
      <p:bgPr>
        <a:solidFill>
          <a:schemeClr val="accent2"/>
        </a:solidFill>
        <a:effectLst/>
      </p:bgPr>
    </p:bg>
    <p:spTree>
      <p:nvGrpSpPr>
        <p:cNvPr id="1" name=""/>
        <p:cNvGrpSpPr/>
        <p:nvPr/>
      </p:nvGrpSpPr>
      <p:grpSpPr>
        <a:xfrm>
          <a:off x="0" y="0"/>
          <a:ext cx="0" cy="0"/>
          <a:chOff x="0" y="0"/>
          <a:chExt cx="0" cy="0"/>
        </a:xfrm>
      </p:grpSpPr>
      <p:pic>
        <p:nvPicPr>
          <p:cNvPr id="8" name="Bilde 7" descr="helse-sor-ost-negativ-for-farget-bakgrunn.png"/>
          <p:cNvPicPr>
            <a:picLocks noChangeAspect="1"/>
          </p:cNvPicPr>
          <p:nvPr userDrawn="1"/>
        </p:nvPicPr>
        <p:blipFill>
          <a:blip r:embed="rId2" cstate="screen"/>
          <a:stretch>
            <a:fillRect/>
          </a:stretch>
        </p:blipFill>
        <p:spPr>
          <a:xfrm>
            <a:off x="2867025" y="3071814"/>
            <a:ext cx="3409950" cy="714375"/>
          </a:xfrm>
          <a:prstGeom prst="rect">
            <a:avLst/>
          </a:prstGeom>
        </p:spPr>
      </p:pic>
      <p:sp>
        <p:nvSpPr>
          <p:cNvPr id="5" name="TekstSylinder 4"/>
          <p:cNvSpPr txBox="1"/>
          <p:nvPr userDrawn="1"/>
        </p:nvSpPr>
        <p:spPr>
          <a:xfrm>
            <a:off x="287524" y="5661248"/>
            <a:ext cx="8568952" cy="369332"/>
          </a:xfrm>
          <a:prstGeom prst="rect">
            <a:avLst/>
          </a:prstGeom>
          <a:noFill/>
        </p:spPr>
        <p:txBody>
          <a:bodyPr wrap="square" rtlCol="0">
            <a:spAutoFit/>
          </a:bodyPr>
          <a:lstStyle/>
          <a:p>
            <a:pPr algn="ctr"/>
            <a:r>
              <a:rPr lang="nb-NO" dirty="0" smtClean="0">
                <a:solidFill>
                  <a:schemeClr val="bg1"/>
                </a:solidFill>
              </a:rPr>
              <a:t>Nyhetsbrev og sosiale medier: </a:t>
            </a:r>
            <a:r>
              <a:rPr lang="nb-NO" dirty="0" err="1" smtClean="0">
                <a:solidFill>
                  <a:schemeClr val="bg1"/>
                </a:solidFill>
              </a:rPr>
              <a:t>www.helse-sorost.no/sosialemedier</a:t>
            </a:r>
            <a:endParaRPr lang="nb-NO" dirty="0">
              <a:solidFill>
                <a:schemeClr val="bg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tel og innhold">
    <p:spTree>
      <p:nvGrpSpPr>
        <p:cNvPr id="1" name=""/>
        <p:cNvGrpSpPr/>
        <p:nvPr/>
      </p:nvGrpSpPr>
      <p:grpSpPr>
        <a:xfrm>
          <a:off x="0" y="0"/>
          <a:ext cx="0" cy="0"/>
          <a:chOff x="0" y="0"/>
          <a:chExt cx="0" cy="0"/>
        </a:xfrm>
      </p:grpSpPr>
      <p:sp>
        <p:nvSpPr>
          <p:cNvPr id="3" name="Plassholder for innhold 2"/>
          <p:cNvSpPr>
            <a:spLocks noGrp="1"/>
          </p:cNvSpPr>
          <p:nvPr>
            <p:ph idx="1"/>
          </p:nvPr>
        </p:nvSpPr>
        <p:spPr/>
        <p:txBody>
          <a:body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4" name="Plassholder for dato 3"/>
          <p:cNvSpPr>
            <a:spLocks noGrp="1"/>
          </p:cNvSpPr>
          <p:nvPr>
            <p:ph type="dt" sz="half" idx="10"/>
          </p:nvPr>
        </p:nvSpPr>
        <p:spPr>
          <a:xfrm>
            <a:off x="457200" y="6356350"/>
            <a:ext cx="2133600" cy="365125"/>
          </a:xfrm>
          <a:prstGeom prst="rect">
            <a:avLst/>
          </a:prstGeom>
        </p:spPr>
        <p:txBody>
          <a:bodyPr/>
          <a:lstStyle>
            <a:lvl1pPr>
              <a:defRPr smtClean="0"/>
            </a:lvl1pPr>
          </a:lstStyle>
          <a:p>
            <a:pPr>
              <a:defRPr/>
            </a:pPr>
            <a:fld id="{A4AEA3AF-6B41-4E12-83A9-C19B64755501}" type="datetime1">
              <a:rPr lang="nb-NO"/>
              <a:pPr>
                <a:defRPr/>
              </a:pPr>
              <a:t>06.12.2012</a:t>
            </a:fld>
            <a:endParaRPr lang="nb-NO"/>
          </a:p>
        </p:txBody>
      </p:sp>
      <p:sp>
        <p:nvSpPr>
          <p:cNvPr id="5" name="Plassholder for bunntekst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nb-NO"/>
          </a:p>
        </p:txBody>
      </p:sp>
      <p:sp>
        <p:nvSpPr>
          <p:cNvPr id="6" name="Plassholder for lysbildenumm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94664B1-4F3C-494B-9ACF-E4EFB888E512}" type="slidenum">
              <a:rPr lang="nb-NO"/>
              <a:pPr>
                <a:defRPr/>
              </a:pPr>
              <a:t>‹#›</a:t>
            </a:fld>
            <a:endParaRPr lang="nb-N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12" descr="helse-sor-ost-cmyk"/>
          <p:cNvPicPr>
            <a:picLocks noChangeAspect="1" noChangeArrowheads="1"/>
          </p:cNvPicPr>
          <p:nvPr/>
        </p:nvPicPr>
        <p:blipFill>
          <a:blip r:embed="rId11" cstate="screen"/>
          <a:srcRect/>
          <a:stretch>
            <a:fillRect/>
          </a:stretch>
        </p:blipFill>
        <p:spPr bwMode="auto">
          <a:xfrm>
            <a:off x="6084890" y="5949951"/>
            <a:ext cx="2619375" cy="536575"/>
          </a:xfrm>
          <a:prstGeom prst="rect">
            <a:avLst/>
          </a:prstGeom>
          <a:noFill/>
        </p:spPr>
      </p:pic>
      <p:sp>
        <p:nvSpPr>
          <p:cNvPr id="1026" name="Rectangle 2"/>
          <p:cNvSpPr>
            <a:spLocks noGrp="1" noChangeArrowheads="1"/>
          </p:cNvSpPr>
          <p:nvPr>
            <p:ph type="title"/>
          </p:nvPr>
        </p:nvSpPr>
        <p:spPr bwMode="auto">
          <a:xfrm>
            <a:off x="457200" y="1772816"/>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nb-NO" dirty="0" smtClean="0"/>
              <a:t>Klikk for å redigere tittelstil</a:t>
            </a:r>
          </a:p>
        </p:txBody>
      </p:sp>
      <p:sp>
        <p:nvSpPr>
          <p:cNvPr id="1027" name="Rectangle 3"/>
          <p:cNvSpPr>
            <a:spLocks noGrp="1" noChangeArrowheads="1"/>
          </p:cNvSpPr>
          <p:nvPr>
            <p:ph type="body" idx="1"/>
          </p:nvPr>
        </p:nvSpPr>
        <p:spPr bwMode="auto">
          <a:xfrm>
            <a:off x="467544" y="2924945"/>
            <a:ext cx="8229600" cy="11129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endParaRPr lang="nb-NO" dirty="0" smtClean="0"/>
          </a:p>
        </p:txBody>
      </p:sp>
    </p:spTree>
  </p:cSld>
  <p:clrMap bg1="lt1" tx1="dk1" bg2="lt2" tx2="dk2" accent1="accent1" accent2="accent2" accent3="accent3" accent4="accent4" accent5="accent5" accent6="accent6" hlink="hlink" folHlink="folHlink"/>
  <p:sldLayoutIdLst>
    <p:sldLayoutId id="2147483661" r:id="rId1"/>
    <p:sldLayoutId id="2147483675" r:id="rId2"/>
    <p:sldLayoutId id="2147483662" r:id="rId3"/>
    <p:sldLayoutId id="2147483664" r:id="rId4"/>
    <p:sldLayoutId id="2147483673" r:id="rId5"/>
    <p:sldLayoutId id="2147483674" r:id="rId6"/>
    <p:sldLayoutId id="2147483672" r:id="rId7"/>
    <p:sldLayoutId id="2147483667" r:id="rId8"/>
    <p:sldLayoutId id="2147483676" r:id="rId9"/>
  </p:sldLayoutIdLst>
  <p:hf sldNum="0" hdr="0" ftr="0" dt="0"/>
  <p:txStyles>
    <p:titleStyle>
      <a:lvl1pPr algn="ctr" rtl="0" eaLnBrk="1" fontAlgn="base" hangingPunct="1">
        <a:spcBef>
          <a:spcPct val="0"/>
        </a:spcBef>
        <a:spcAft>
          <a:spcPct val="0"/>
        </a:spcAft>
        <a:defRPr sz="4000" b="1">
          <a:solidFill>
            <a:schemeClr val="accent1"/>
          </a:solidFill>
          <a:effectLst/>
          <a:latin typeface="Calibri" pitchFamily="34" charset="0"/>
          <a:ea typeface="+mj-ea"/>
          <a:cs typeface="Calibri" pitchFamily="34" charset="0"/>
        </a:defRPr>
      </a:lvl1pPr>
      <a:lvl2pPr algn="l" rtl="0" eaLnBrk="1" fontAlgn="base" hangingPunct="1">
        <a:spcBef>
          <a:spcPct val="0"/>
        </a:spcBef>
        <a:spcAft>
          <a:spcPct val="0"/>
        </a:spcAft>
        <a:defRPr sz="4000">
          <a:solidFill>
            <a:schemeClr val="tx2"/>
          </a:solidFill>
          <a:latin typeface="Arial" charset="0"/>
        </a:defRPr>
      </a:lvl2pPr>
      <a:lvl3pPr algn="l" rtl="0" eaLnBrk="1" fontAlgn="base" hangingPunct="1">
        <a:spcBef>
          <a:spcPct val="0"/>
        </a:spcBef>
        <a:spcAft>
          <a:spcPct val="0"/>
        </a:spcAft>
        <a:defRPr sz="4000">
          <a:solidFill>
            <a:schemeClr val="tx2"/>
          </a:solidFill>
          <a:latin typeface="Arial" charset="0"/>
        </a:defRPr>
      </a:lvl3pPr>
      <a:lvl4pPr algn="l" rtl="0" eaLnBrk="1" fontAlgn="base" hangingPunct="1">
        <a:spcBef>
          <a:spcPct val="0"/>
        </a:spcBef>
        <a:spcAft>
          <a:spcPct val="0"/>
        </a:spcAft>
        <a:defRPr sz="4000">
          <a:solidFill>
            <a:schemeClr val="tx2"/>
          </a:solidFill>
          <a:latin typeface="Arial" charset="0"/>
        </a:defRPr>
      </a:lvl4pPr>
      <a:lvl5pPr algn="l" rtl="0" eaLnBrk="1" fontAlgn="base" hangingPunct="1">
        <a:spcBef>
          <a:spcPct val="0"/>
        </a:spcBef>
        <a:spcAft>
          <a:spcPct val="0"/>
        </a:spcAft>
        <a:defRPr sz="4000">
          <a:solidFill>
            <a:schemeClr val="tx2"/>
          </a:solidFill>
          <a:latin typeface="Arial" charset="0"/>
        </a:defRPr>
      </a:lvl5pPr>
      <a:lvl6pPr marL="457200" algn="l" rtl="0" eaLnBrk="1" fontAlgn="base" hangingPunct="1">
        <a:spcBef>
          <a:spcPct val="0"/>
        </a:spcBef>
        <a:spcAft>
          <a:spcPct val="0"/>
        </a:spcAft>
        <a:defRPr sz="4000">
          <a:solidFill>
            <a:schemeClr val="tx2"/>
          </a:solidFill>
          <a:latin typeface="Arial" charset="0"/>
        </a:defRPr>
      </a:lvl6pPr>
      <a:lvl7pPr marL="914400" algn="l" rtl="0" eaLnBrk="1" fontAlgn="base" hangingPunct="1">
        <a:spcBef>
          <a:spcPct val="0"/>
        </a:spcBef>
        <a:spcAft>
          <a:spcPct val="0"/>
        </a:spcAft>
        <a:defRPr sz="4000">
          <a:solidFill>
            <a:schemeClr val="tx2"/>
          </a:solidFill>
          <a:latin typeface="Arial" charset="0"/>
        </a:defRPr>
      </a:lvl7pPr>
      <a:lvl8pPr marL="1371600" algn="l" rtl="0" eaLnBrk="1" fontAlgn="base" hangingPunct="1">
        <a:spcBef>
          <a:spcPct val="0"/>
        </a:spcBef>
        <a:spcAft>
          <a:spcPct val="0"/>
        </a:spcAft>
        <a:defRPr sz="4000">
          <a:solidFill>
            <a:schemeClr val="tx2"/>
          </a:solidFill>
          <a:latin typeface="Arial" charset="0"/>
        </a:defRPr>
      </a:lvl8pPr>
      <a:lvl9pPr marL="1828800" algn="l" rtl="0" eaLnBrk="1" fontAlgn="base" hangingPunct="1">
        <a:spcBef>
          <a:spcPct val="0"/>
        </a:spcBef>
        <a:spcAft>
          <a:spcPct val="0"/>
        </a:spcAft>
        <a:defRPr sz="4000">
          <a:solidFill>
            <a:schemeClr val="tx2"/>
          </a:solidFill>
          <a:latin typeface="Arial" charset="0"/>
        </a:defRPr>
      </a:lvl9pPr>
    </p:titleStyle>
    <p:bodyStyle>
      <a:lvl1pPr marL="342900" indent="-342900" algn="ctr" rtl="0" eaLnBrk="1" fontAlgn="base" hangingPunct="1">
        <a:spcBef>
          <a:spcPct val="20000"/>
        </a:spcBef>
        <a:spcAft>
          <a:spcPct val="0"/>
        </a:spcAft>
        <a:buNone/>
        <a:defRPr sz="2400" b="1">
          <a:solidFill>
            <a:schemeClr val="bg2"/>
          </a:solidFill>
          <a:latin typeface="Cambria" pitchFamily="18" charset="0"/>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400" b="1">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i="1">
          <a:solidFill>
            <a:schemeClr val="tx1"/>
          </a:solidFill>
          <a:latin typeface="+mn-lt"/>
        </a:defRPr>
      </a:lvl5pPr>
      <a:lvl6pPr marL="2514600" indent="-228600" algn="l" rtl="0" eaLnBrk="1" fontAlgn="base" hangingPunct="1">
        <a:spcBef>
          <a:spcPct val="20000"/>
        </a:spcBef>
        <a:spcAft>
          <a:spcPct val="0"/>
        </a:spcAft>
        <a:buChar char="»"/>
        <a:defRPr sz="2000" i="1">
          <a:solidFill>
            <a:schemeClr val="tx1"/>
          </a:solidFill>
          <a:latin typeface="+mn-lt"/>
        </a:defRPr>
      </a:lvl6pPr>
      <a:lvl7pPr marL="2971800" indent="-228600" algn="l" rtl="0" eaLnBrk="1" fontAlgn="base" hangingPunct="1">
        <a:spcBef>
          <a:spcPct val="20000"/>
        </a:spcBef>
        <a:spcAft>
          <a:spcPct val="0"/>
        </a:spcAft>
        <a:buChar char="»"/>
        <a:defRPr sz="2000" i="1">
          <a:solidFill>
            <a:schemeClr val="tx1"/>
          </a:solidFill>
          <a:latin typeface="+mn-lt"/>
        </a:defRPr>
      </a:lvl7pPr>
      <a:lvl8pPr marL="3429000" indent="-228600" algn="l" rtl="0" eaLnBrk="1" fontAlgn="base" hangingPunct="1">
        <a:spcBef>
          <a:spcPct val="20000"/>
        </a:spcBef>
        <a:spcAft>
          <a:spcPct val="0"/>
        </a:spcAft>
        <a:buChar char="»"/>
        <a:defRPr sz="2000" i="1">
          <a:solidFill>
            <a:schemeClr val="tx1"/>
          </a:solidFill>
          <a:latin typeface="+mn-lt"/>
        </a:defRPr>
      </a:lvl8pPr>
      <a:lvl9pPr marL="3886200" indent="-228600" algn="l" rtl="0" eaLnBrk="1" fontAlgn="base" hangingPunct="1">
        <a:spcBef>
          <a:spcPct val="20000"/>
        </a:spcBef>
        <a:spcAft>
          <a:spcPct val="0"/>
        </a:spcAft>
        <a:buChar char="»"/>
        <a:defRPr sz="2000" i="1">
          <a:solidFill>
            <a:schemeClr val="tx1"/>
          </a:solidFill>
          <a:latin typeface="+mn-lt"/>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etiskhandel.no/English/index.html" TargetMode="External"/><Relationship Id="rId2" Type="http://schemas.openxmlformats.org/officeDocument/2006/relationships/hyperlink" Target="http://www.youtube.com/watch?v=iJ_vvac2tyE&amp;list=UUkIrTSRB-QmCldJKquf_8BQ&amp;index=3&amp;feature=plcp" TargetMode="External"/><Relationship Id="rId1" Type="http://schemas.openxmlformats.org/officeDocument/2006/relationships/slideLayout" Target="../slideLayouts/slideLayout3.xml"/><Relationship Id="rId4" Type="http://schemas.openxmlformats.org/officeDocument/2006/relationships/hyperlink" Target="http://www.ethicaltrade.org/" TargetMode="External"/></Relationships>
</file>

<file path=ppt/slides/_rels/slide18.xml.rels><?xml version="1.0" encoding="UTF-8" standalone="yes"?>
<Relationships xmlns="http://schemas.openxmlformats.org/package/2006/relationships"><Relationship Id="rId2" Type="http://schemas.openxmlformats.org/officeDocument/2006/relationships/hyperlink" Target="mailto:Grete.solli@helse-sorost.no" TargetMode="Externa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ctrTitle"/>
          </p:nvPr>
        </p:nvSpPr>
        <p:spPr/>
        <p:txBody>
          <a:bodyPr/>
          <a:lstStyle/>
          <a:p>
            <a:r>
              <a:rPr lang="en-GB" dirty="0" smtClean="0"/>
              <a:t>The South-Eastern Norway Regional Health Authority</a:t>
            </a:r>
            <a:endParaRPr lang="nb-NO" dirty="0"/>
          </a:p>
        </p:txBody>
      </p:sp>
      <p:sp>
        <p:nvSpPr>
          <p:cNvPr id="3" name="Undertittel 2"/>
          <p:cNvSpPr>
            <a:spLocks noGrp="1"/>
          </p:cNvSpPr>
          <p:nvPr>
            <p:ph type="subTitle" idx="1"/>
          </p:nvPr>
        </p:nvSpPr>
        <p:spPr/>
        <p:txBody>
          <a:bodyPr/>
          <a:lstStyle/>
          <a:p>
            <a:r>
              <a:rPr lang="nb-NO" dirty="0" smtClean="0"/>
              <a:t>Grete Solli, </a:t>
            </a:r>
          </a:p>
          <a:p>
            <a:r>
              <a:rPr lang="nb-NO" dirty="0" smtClean="0"/>
              <a:t>Senior Adviser CSR</a:t>
            </a:r>
            <a:endParaRPr lang="nb-NO" dirty="0"/>
          </a:p>
        </p:txBody>
      </p:sp>
      <p:pic>
        <p:nvPicPr>
          <p:cNvPr id="5" name="Plassholder for bilde 4" descr="Tulips.jpg"/>
          <p:cNvPicPr>
            <a:picLocks noGrp="1" noChangeAspect="1"/>
          </p:cNvPicPr>
          <p:nvPr>
            <p:ph type="pic" sz="quarter" idx="10"/>
          </p:nvPr>
        </p:nvPicPr>
        <p:blipFill>
          <a:blip r:embed="rId2" cstate="screen"/>
          <a:srcRect/>
          <a:stretch>
            <a:fillRect/>
          </a:stretch>
        </p:blip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smtClean="0"/>
              <a:t>To </a:t>
            </a:r>
            <a:r>
              <a:rPr lang="nb-NO" dirty="0" err="1" smtClean="0"/>
              <a:t>walk</a:t>
            </a:r>
            <a:r>
              <a:rPr lang="nb-NO" dirty="0" smtClean="0"/>
              <a:t> </a:t>
            </a:r>
            <a:r>
              <a:rPr lang="nb-NO" dirty="0" err="1" smtClean="0"/>
              <a:t>the</a:t>
            </a:r>
            <a:r>
              <a:rPr lang="nb-NO" dirty="0" smtClean="0"/>
              <a:t> talk</a:t>
            </a:r>
            <a:endParaRPr lang="nb-NO" dirty="0"/>
          </a:p>
        </p:txBody>
      </p:sp>
      <p:sp>
        <p:nvSpPr>
          <p:cNvPr id="4" name="Rektangel 3"/>
          <p:cNvSpPr/>
          <p:nvPr/>
        </p:nvSpPr>
        <p:spPr>
          <a:xfrm>
            <a:off x="1691680" y="1844824"/>
            <a:ext cx="6048672" cy="1938992"/>
          </a:xfrm>
          <a:prstGeom prst="rect">
            <a:avLst/>
          </a:prstGeom>
        </p:spPr>
        <p:txBody>
          <a:bodyPr wrap="square">
            <a:spAutoFit/>
          </a:bodyPr>
          <a:lstStyle/>
          <a:p>
            <a:r>
              <a:rPr lang="nb-NO" sz="4000" i="1" dirty="0" smtClean="0">
                <a:solidFill>
                  <a:schemeClr val="bg1"/>
                </a:solidFill>
                <a:latin typeface="Georgia" pitchFamily="18" charset="0"/>
              </a:rPr>
              <a:t>- Taking </a:t>
            </a:r>
            <a:r>
              <a:rPr lang="nb-NO" sz="4000" i="1" dirty="0" err="1" smtClean="0">
                <a:solidFill>
                  <a:schemeClr val="bg1"/>
                </a:solidFill>
                <a:latin typeface="Georgia" pitchFamily="18" charset="0"/>
              </a:rPr>
              <a:t>corporate</a:t>
            </a:r>
            <a:r>
              <a:rPr lang="nb-NO" sz="4000" i="1" dirty="0" smtClean="0">
                <a:solidFill>
                  <a:schemeClr val="bg1"/>
                </a:solidFill>
                <a:latin typeface="Georgia" pitchFamily="18" charset="0"/>
              </a:rPr>
              <a:t> </a:t>
            </a:r>
            <a:r>
              <a:rPr lang="nb-NO" sz="4000" i="1" dirty="0" err="1" smtClean="0">
                <a:solidFill>
                  <a:schemeClr val="bg1"/>
                </a:solidFill>
                <a:latin typeface="Georgia" pitchFamily="18" charset="0"/>
              </a:rPr>
              <a:t>responsibility</a:t>
            </a:r>
            <a:r>
              <a:rPr lang="nb-NO" sz="4000" i="1" dirty="0" smtClean="0">
                <a:solidFill>
                  <a:schemeClr val="bg1"/>
                </a:solidFill>
                <a:latin typeface="Georgia" pitchFamily="18" charset="0"/>
              </a:rPr>
              <a:t> in  </a:t>
            </a:r>
            <a:r>
              <a:rPr lang="nb-NO" sz="4000" i="1" dirty="0" err="1" smtClean="0">
                <a:solidFill>
                  <a:schemeClr val="bg1"/>
                </a:solidFill>
                <a:latin typeface="Georgia" pitchFamily="18" charset="0"/>
              </a:rPr>
              <a:t>public</a:t>
            </a:r>
            <a:r>
              <a:rPr lang="nb-NO" sz="4000" i="1" dirty="0" smtClean="0">
                <a:solidFill>
                  <a:schemeClr val="bg1"/>
                </a:solidFill>
                <a:latin typeface="Georgia" pitchFamily="18" charset="0"/>
              </a:rPr>
              <a:t> </a:t>
            </a:r>
            <a:r>
              <a:rPr lang="nb-NO" sz="4000" i="1" dirty="0" err="1" smtClean="0">
                <a:solidFill>
                  <a:schemeClr val="bg1"/>
                </a:solidFill>
                <a:latin typeface="Georgia" pitchFamily="18" charset="0"/>
              </a:rPr>
              <a:t>procurement</a:t>
            </a:r>
            <a:endParaRPr lang="nb-NO" sz="4000" dirty="0">
              <a:solidFill>
                <a:schemeClr val="bg1"/>
              </a:solidFill>
            </a:endParaRPr>
          </a:p>
        </p:txBody>
      </p:sp>
      <p:pic>
        <p:nvPicPr>
          <p:cNvPr id="1026" name="Picture 2" descr="C:\Users\grsoll\Desktop\Barnearbeid_IEH.JPG"/>
          <p:cNvPicPr>
            <a:picLocks noChangeAspect="1" noChangeArrowheads="1"/>
          </p:cNvPicPr>
          <p:nvPr/>
        </p:nvPicPr>
        <p:blipFill>
          <a:blip r:embed="rId2" cstate="screen"/>
          <a:srcRect/>
          <a:stretch>
            <a:fillRect/>
          </a:stretch>
        </p:blipFill>
        <p:spPr bwMode="auto">
          <a:xfrm>
            <a:off x="1835696" y="4005064"/>
            <a:ext cx="3701988" cy="2467992"/>
          </a:xfrm>
          <a:prstGeom prst="rect">
            <a:avLst/>
          </a:prstGeom>
          <a:noFill/>
        </p:spPr>
      </p:pic>
      <p:sp>
        <p:nvSpPr>
          <p:cNvPr id="6" name="TekstSylinder 5"/>
          <p:cNvSpPr txBox="1"/>
          <p:nvPr/>
        </p:nvSpPr>
        <p:spPr>
          <a:xfrm>
            <a:off x="6767736" y="6519446"/>
            <a:ext cx="2376264" cy="338554"/>
          </a:xfrm>
          <a:prstGeom prst="rect">
            <a:avLst/>
          </a:prstGeom>
          <a:noFill/>
        </p:spPr>
        <p:txBody>
          <a:bodyPr wrap="square" rtlCol="0">
            <a:spAutoFit/>
          </a:bodyPr>
          <a:lstStyle/>
          <a:p>
            <a:r>
              <a:rPr lang="nb-NO" sz="1600" dirty="0" smtClean="0">
                <a:latin typeface="+mn-lt"/>
              </a:rPr>
              <a:t>Brussels </a:t>
            </a:r>
            <a:r>
              <a:rPr lang="nb-NO" sz="1600" dirty="0" err="1" smtClean="0">
                <a:latin typeface="+mn-lt"/>
              </a:rPr>
              <a:t>Oct</a:t>
            </a:r>
            <a:r>
              <a:rPr lang="nb-NO" sz="1600" dirty="0" smtClean="0">
                <a:latin typeface="+mn-lt"/>
              </a:rPr>
              <a:t>. 19th,2012</a:t>
            </a:r>
            <a:endParaRPr lang="nb-NO" sz="1600" dirty="0">
              <a:latin typeface="+mn-l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ANd9GcSM3uAXWxMySR1c0vQaneswLB9jw8wSqPiEhXDhCdTUC7ygxcpB"/>
          <p:cNvPicPr>
            <a:picLocks noChangeAspect="1" noChangeArrowheads="1"/>
          </p:cNvPicPr>
          <p:nvPr/>
        </p:nvPicPr>
        <p:blipFill>
          <a:blip r:embed="rId2" cstate="email"/>
          <a:srcRect/>
          <a:stretch>
            <a:fillRect/>
          </a:stretch>
        </p:blipFill>
        <p:spPr bwMode="auto">
          <a:xfrm>
            <a:off x="7867650" y="1125538"/>
            <a:ext cx="1276350" cy="1943422"/>
          </a:xfrm>
          <a:prstGeom prst="rect">
            <a:avLst/>
          </a:prstGeom>
          <a:noFill/>
          <a:ln w="9525">
            <a:solidFill>
              <a:schemeClr val="tx1"/>
            </a:solidFill>
            <a:miter lim="800000"/>
            <a:headEnd/>
            <a:tailEnd/>
          </a:ln>
        </p:spPr>
      </p:pic>
      <p:pic>
        <p:nvPicPr>
          <p:cNvPr id="47107" name="Picture 2" descr="P:\7. Informasjonsvirksomhet\7.2 Bilder\Offentlig\kolasje_nett.jpg"/>
          <p:cNvPicPr>
            <a:picLocks noChangeAspect="1" noChangeArrowheads="1"/>
          </p:cNvPicPr>
          <p:nvPr/>
        </p:nvPicPr>
        <p:blipFill>
          <a:blip r:embed="rId3" cstate="email"/>
          <a:srcRect/>
          <a:stretch>
            <a:fillRect/>
          </a:stretch>
        </p:blipFill>
        <p:spPr bwMode="auto">
          <a:xfrm>
            <a:off x="3138488" y="3792538"/>
            <a:ext cx="3219450" cy="2571750"/>
          </a:xfrm>
          <a:prstGeom prst="rect">
            <a:avLst/>
          </a:prstGeom>
          <a:noFill/>
          <a:ln w="9525">
            <a:solidFill>
              <a:schemeClr val="accent2"/>
            </a:solidFill>
            <a:miter lim="800000"/>
            <a:headEnd/>
            <a:tailEnd/>
          </a:ln>
        </p:spPr>
      </p:pic>
      <p:pic>
        <p:nvPicPr>
          <p:cNvPr id="47108" name="Picture 7"/>
          <p:cNvPicPr>
            <a:picLocks noChangeAspect="1" noChangeArrowheads="1"/>
          </p:cNvPicPr>
          <p:nvPr/>
        </p:nvPicPr>
        <p:blipFill>
          <a:blip r:embed="rId4" cstate="email">
            <a:lum bright="10000"/>
          </a:blip>
          <a:srcRect/>
          <a:stretch>
            <a:fillRect/>
          </a:stretch>
        </p:blipFill>
        <p:spPr bwMode="auto">
          <a:xfrm>
            <a:off x="6337300" y="3789039"/>
            <a:ext cx="2806700" cy="2646685"/>
          </a:xfrm>
          <a:prstGeom prst="rect">
            <a:avLst/>
          </a:prstGeom>
          <a:noFill/>
          <a:ln w="9525">
            <a:solidFill>
              <a:schemeClr val="accent2"/>
            </a:solidFill>
            <a:miter lim="800000"/>
            <a:headEnd/>
            <a:tailEnd/>
          </a:ln>
        </p:spPr>
      </p:pic>
      <p:sp>
        <p:nvSpPr>
          <p:cNvPr id="47109" name="TekstSylinder 6"/>
          <p:cNvSpPr txBox="1">
            <a:spLocks noChangeArrowheads="1"/>
          </p:cNvSpPr>
          <p:nvPr/>
        </p:nvSpPr>
        <p:spPr bwMode="auto">
          <a:xfrm rot="-5400000">
            <a:off x="-1108075" y="1567012"/>
            <a:ext cx="2643188" cy="461665"/>
          </a:xfrm>
          <a:prstGeom prst="rect">
            <a:avLst/>
          </a:prstGeom>
          <a:noFill/>
          <a:ln w="9525">
            <a:noFill/>
            <a:miter lim="800000"/>
            <a:headEnd/>
            <a:tailEnd/>
          </a:ln>
        </p:spPr>
        <p:txBody>
          <a:bodyPr>
            <a:spAutoFit/>
          </a:bodyPr>
          <a:lstStyle/>
          <a:p>
            <a:r>
              <a:rPr lang="nb-NO" sz="2400" b="1" dirty="0" err="1" smtClean="0">
                <a:solidFill>
                  <a:schemeClr val="accent1"/>
                </a:solidFill>
                <a:latin typeface="Calibri" pitchFamily="34" charset="0"/>
              </a:rPr>
              <a:t>Textiles</a:t>
            </a:r>
            <a:endParaRPr lang="nb-NO" sz="2400" b="1" dirty="0">
              <a:solidFill>
                <a:schemeClr val="accent1"/>
              </a:solidFill>
              <a:latin typeface="Calibri" pitchFamily="34" charset="0"/>
            </a:endParaRPr>
          </a:p>
        </p:txBody>
      </p:sp>
      <p:sp>
        <p:nvSpPr>
          <p:cNvPr id="47110" name="TekstSylinder 7"/>
          <p:cNvSpPr txBox="1">
            <a:spLocks noChangeArrowheads="1"/>
          </p:cNvSpPr>
          <p:nvPr/>
        </p:nvSpPr>
        <p:spPr bwMode="auto">
          <a:xfrm rot="-5400000">
            <a:off x="3849290" y="1604119"/>
            <a:ext cx="2304257" cy="769441"/>
          </a:xfrm>
          <a:prstGeom prst="rect">
            <a:avLst/>
          </a:prstGeom>
          <a:noFill/>
          <a:ln w="9525">
            <a:noFill/>
            <a:miter lim="800000"/>
            <a:headEnd/>
            <a:tailEnd/>
          </a:ln>
        </p:spPr>
        <p:txBody>
          <a:bodyPr wrap="square">
            <a:spAutoFit/>
          </a:bodyPr>
          <a:lstStyle/>
          <a:p>
            <a:r>
              <a:rPr lang="nb-NO" sz="2200" b="1" dirty="0" err="1" smtClean="0">
                <a:solidFill>
                  <a:schemeClr val="accent1"/>
                </a:solidFill>
                <a:latin typeface="Calibri" pitchFamily="34" charset="0"/>
              </a:rPr>
              <a:t>Medical</a:t>
            </a:r>
            <a:r>
              <a:rPr lang="nb-NO" sz="2200" b="1" dirty="0" smtClean="0">
                <a:solidFill>
                  <a:schemeClr val="accent1"/>
                </a:solidFill>
                <a:latin typeface="Calibri" pitchFamily="34" charset="0"/>
              </a:rPr>
              <a:t> </a:t>
            </a:r>
            <a:r>
              <a:rPr lang="nb-NO" sz="2200" b="1" dirty="0" err="1" smtClean="0">
                <a:solidFill>
                  <a:schemeClr val="accent1"/>
                </a:solidFill>
                <a:latin typeface="Calibri" pitchFamily="34" charset="0"/>
              </a:rPr>
              <a:t>equipment</a:t>
            </a:r>
            <a:endParaRPr lang="nb-NO" sz="2200" b="1" dirty="0">
              <a:solidFill>
                <a:schemeClr val="accent1"/>
              </a:solidFill>
              <a:latin typeface="Calibri" pitchFamily="34" charset="0"/>
            </a:endParaRPr>
          </a:p>
        </p:txBody>
      </p:sp>
      <p:sp>
        <p:nvSpPr>
          <p:cNvPr id="47111" name="TekstSylinder 10"/>
          <p:cNvSpPr txBox="1">
            <a:spLocks noChangeArrowheads="1"/>
          </p:cNvSpPr>
          <p:nvPr/>
        </p:nvSpPr>
        <p:spPr bwMode="auto">
          <a:xfrm>
            <a:off x="142874" y="58738"/>
            <a:ext cx="9001125" cy="584775"/>
          </a:xfrm>
          <a:prstGeom prst="rect">
            <a:avLst/>
          </a:prstGeom>
          <a:noFill/>
          <a:ln w="9525">
            <a:noFill/>
            <a:miter lim="800000"/>
            <a:headEnd/>
            <a:tailEnd/>
          </a:ln>
        </p:spPr>
        <p:txBody>
          <a:bodyPr wrap="square">
            <a:spAutoFit/>
          </a:bodyPr>
          <a:lstStyle/>
          <a:p>
            <a:r>
              <a:rPr lang="nb-NO" sz="3200" b="1" dirty="0" err="1" smtClean="0">
                <a:solidFill>
                  <a:schemeClr val="accent1"/>
                </a:solidFill>
              </a:rPr>
              <a:t>Purchasing</a:t>
            </a:r>
            <a:r>
              <a:rPr lang="nb-NO" sz="3200" b="1" dirty="0" smtClean="0">
                <a:solidFill>
                  <a:schemeClr val="accent1"/>
                </a:solidFill>
              </a:rPr>
              <a:t> </a:t>
            </a:r>
            <a:r>
              <a:rPr lang="nb-NO" sz="3200" b="1" dirty="0" err="1" smtClean="0">
                <a:solidFill>
                  <a:schemeClr val="accent1"/>
                </a:solidFill>
              </a:rPr>
              <a:t>products</a:t>
            </a:r>
            <a:r>
              <a:rPr lang="nb-NO" sz="3200" b="1" dirty="0" smtClean="0">
                <a:solidFill>
                  <a:schemeClr val="accent1"/>
                </a:solidFill>
              </a:rPr>
              <a:t> from </a:t>
            </a:r>
            <a:r>
              <a:rPr lang="nb-NO" sz="3200" b="1" dirty="0" err="1" smtClean="0">
                <a:solidFill>
                  <a:schemeClr val="accent1"/>
                </a:solidFill>
              </a:rPr>
              <a:t>low</a:t>
            </a:r>
            <a:r>
              <a:rPr lang="nb-NO" sz="3200" b="1" dirty="0" smtClean="0">
                <a:solidFill>
                  <a:schemeClr val="accent1"/>
                </a:solidFill>
              </a:rPr>
              <a:t> </a:t>
            </a:r>
            <a:r>
              <a:rPr lang="nb-NO" sz="3200" b="1" dirty="0" err="1" smtClean="0">
                <a:solidFill>
                  <a:schemeClr val="accent1"/>
                </a:solidFill>
              </a:rPr>
              <a:t>cost</a:t>
            </a:r>
            <a:r>
              <a:rPr lang="nb-NO" sz="3200" b="1" dirty="0" smtClean="0">
                <a:solidFill>
                  <a:schemeClr val="accent1"/>
                </a:solidFill>
              </a:rPr>
              <a:t> </a:t>
            </a:r>
            <a:r>
              <a:rPr lang="nb-NO" sz="3200" b="1" dirty="0" err="1" smtClean="0">
                <a:solidFill>
                  <a:schemeClr val="accent1"/>
                </a:solidFill>
              </a:rPr>
              <a:t>countries</a:t>
            </a:r>
            <a:r>
              <a:rPr lang="nb-NO" sz="3200" b="1" dirty="0" smtClean="0">
                <a:solidFill>
                  <a:schemeClr val="accent1"/>
                </a:solidFill>
              </a:rPr>
              <a:t> </a:t>
            </a:r>
            <a:endParaRPr lang="nb-NO" sz="3200" b="1" dirty="0">
              <a:solidFill>
                <a:schemeClr val="accent1"/>
              </a:solidFill>
            </a:endParaRPr>
          </a:p>
        </p:txBody>
      </p:sp>
      <p:pic>
        <p:nvPicPr>
          <p:cNvPr id="47112" name="Picture 4"/>
          <p:cNvPicPr>
            <a:picLocks noChangeAspect="1" noChangeArrowheads="1"/>
          </p:cNvPicPr>
          <p:nvPr/>
        </p:nvPicPr>
        <p:blipFill>
          <a:blip r:embed="rId5" cstate="email"/>
          <a:srcRect/>
          <a:stretch>
            <a:fillRect/>
          </a:stretch>
        </p:blipFill>
        <p:spPr bwMode="auto">
          <a:xfrm>
            <a:off x="0" y="3792538"/>
            <a:ext cx="3095625" cy="2500312"/>
          </a:xfrm>
          <a:prstGeom prst="rect">
            <a:avLst/>
          </a:prstGeom>
          <a:noFill/>
          <a:ln w="9525">
            <a:solidFill>
              <a:schemeClr val="accent2"/>
            </a:solidFill>
            <a:miter lim="800000"/>
            <a:headEnd/>
            <a:tailEnd/>
          </a:ln>
        </p:spPr>
      </p:pic>
      <p:sp>
        <p:nvSpPr>
          <p:cNvPr id="47114" name="TekstSylinder 22"/>
          <p:cNvSpPr txBox="1">
            <a:spLocks noChangeArrowheads="1"/>
          </p:cNvSpPr>
          <p:nvPr/>
        </p:nvSpPr>
        <p:spPr bwMode="auto">
          <a:xfrm>
            <a:off x="0" y="6472238"/>
            <a:ext cx="2987824" cy="430887"/>
          </a:xfrm>
          <a:prstGeom prst="rect">
            <a:avLst/>
          </a:prstGeom>
          <a:noFill/>
          <a:ln w="9525">
            <a:noFill/>
            <a:miter lim="800000"/>
            <a:headEnd/>
            <a:tailEnd/>
          </a:ln>
        </p:spPr>
        <p:txBody>
          <a:bodyPr wrap="square">
            <a:spAutoFit/>
          </a:bodyPr>
          <a:lstStyle/>
          <a:p>
            <a:r>
              <a:rPr lang="nb-NO" sz="2200" b="1" i="1" dirty="0" err="1" smtClean="0">
                <a:solidFill>
                  <a:schemeClr val="accent1"/>
                </a:solidFill>
                <a:latin typeface="Calibri" pitchFamily="34" charset="0"/>
              </a:rPr>
              <a:t>Textile</a:t>
            </a:r>
            <a:r>
              <a:rPr lang="nb-NO" sz="2200" b="1" i="1" dirty="0" smtClean="0">
                <a:solidFill>
                  <a:schemeClr val="accent1"/>
                </a:solidFill>
                <a:latin typeface="Calibri" pitchFamily="34" charset="0"/>
              </a:rPr>
              <a:t> </a:t>
            </a:r>
            <a:r>
              <a:rPr lang="nb-NO" sz="2200" b="1" i="1" dirty="0" err="1" smtClean="0">
                <a:solidFill>
                  <a:schemeClr val="accent1"/>
                </a:solidFill>
                <a:latin typeface="Calibri" pitchFamily="34" charset="0"/>
              </a:rPr>
              <a:t>industry</a:t>
            </a:r>
            <a:endParaRPr lang="nb-NO" sz="2200" b="1" i="1" dirty="0">
              <a:solidFill>
                <a:schemeClr val="accent1"/>
              </a:solidFill>
              <a:latin typeface="Calibri" pitchFamily="34" charset="0"/>
            </a:endParaRPr>
          </a:p>
        </p:txBody>
      </p:sp>
      <p:sp>
        <p:nvSpPr>
          <p:cNvPr id="47115" name="TekstSylinder 24"/>
          <p:cNvSpPr txBox="1">
            <a:spLocks noChangeArrowheads="1"/>
          </p:cNvSpPr>
          <p:nvPr/>
        </p:nvSpPr>
        <p:spPr bwMode="auto">
          <a:xfrm>
            <a:off x="2915816" y="6457950"/>
            <a:ext cx="3168352" cy="430887"/>
          </a:xfrm>
          <a:prstGeom prst="rect">
            <a:avLst/>
          </a:prstGeom>
          <a:noFill/>
          <a:ln w="9525">
            <a:noFill/>
            <a:miter lim="800000"/>
            <a:headEnd/>
            <a:tailEnd/>
          </a:ln>
        </p:spPr>
        <p:txBody>
          <a:bodyPr wrap="square">
            <a:spAutoFit/>
          </a:bodyPr>
          <a:lstStyle/>
          <a:p>
            <a:r>
              <a:rPr lang="nb-NO" sz="2200" b="1" i="1" dirty="0" smtClean="0">
                <a:solidFill>
                  <a:schemeClr val="accent1"/>
                </a:solidFill>
                <a:latin typeface="Calibri" pitchFamily="34" charset="0"/>
              </a:rPr>
              <a:t>Public </a:t>
            </a:r>
            <a:r>
              <a:rPr lang="nb-NO" sz="2200" b="1" i="1" dirty="0" err="1" smtClean="0">
                <a:solidFill>
                  <a:schemeClr val="accent1"/>
                </a:solidFill>
                <a:latin typeface="Calibri" pitchFamily="34" charset="0"/>
              </a:rPr>
              <a:t>procurments</a:t>
            </a:r>
            <a:endParaRPr lang="nb-NO" sz="2200" b="1" i="1" dirty="0">
              <a:solidFill>
                <a:schemeClr val="accent1"/>
              </a:solidFill>
              <a:latin typeface="Calibri" pitchFamily="34" charset="0"/>
            </a:endParaRPr>
          </a:p>
        </p:txBody>
      </p:sp>
      <p:sp>
        <p:nvSpPr>
          <p:cNvPr id="47116" name="TekstSylinder 25"/>
          <p:cNvSpPr txBox="1">
            <a:spLocks noChangeArrowheads="1"/>
          </p:cNvSpPr>
          <p:nvPr/>
        </p:nvSpPr>
        <p:spPr bwMode="auto">
          <a:xfrm>
            <a:off x="6226471" y="6427113"/>
            <a:ext cx="2917529" cy="430887"/>
          </a:xfrm>
          <a:prstGeom prst="rect">
            <a:avLst/>
          </a:prstGeom>
          <a:noFill/>
          <a:ln w="9525">
            <a:noFill/>
            <a:miter lim="800000"/>
            <a:headEnd/>
            <a:tailEnd/>
          </a:ln>
        </p:spPr>
        <p:txBody>
          <a:bodyPr wrap="square">
            <a:spAutoFit/>
          </a:bodyPr>
          <a:lstStyle/>
          <a:p>
            <a:r>
              <a:rPr lang="nb-NO" sz="2200" b="1" i="1" dirty="0" smtClean="0">
                <a:solidFill>
                  <a:schemeClr val="accent1"/>
                </a:solidFill>
                <a:latin typeface="Calibri" pitchFamily="34" charset="0"/>
              </a:rPr>
              <a:t>Electronics – </a:t>
            </a:r>
            <a:r>
              <a:rPr lang="nb-NO" sz="2200" b="1" i="1" dirty="0" err="1" smtClean="0">
                <a:solidFill>
                  <a:schemeClr val="accent1"/>
                </a:solidFill>
                <a:latin typeface="Calibri" pitchFamily="34" charset="0"/>
              </a:rPr>
              <a:t>Foxconn</a:t>
            </a:r>
            <a:r>
              <a:rPr lang="nb-NO" sz="2200" b="1" i="1" dirty="0" smtClean="0">
                <a:solidFill>
                  <a:schemeClr val="accent1"/>
                </a:solidFill>
                <a:latin typeface="Calibri" pitchFamily="34" charset="0"/>
              </a:rPr>
              <a:t>…</a:t>
            </a:r>
            <a:endParaRPr lang="nb-NO" sz="2200" b="1" i="1" dirty="0">
              <a:solidFill>
                <a:schemeClr val="accent1"/>
              </a:solidFill>
              <a:latin typeface="Calibri" pitchFamily="34" charset="0"/>
            </a:endParaRPr>
          </a:p>
        </p:txBody>
      </p:sp>
      <p:cxnSp>
        <p:nvCxnSpPr>
          <p:cNvPr id="31" name="Rett linje 30"/>
          <p:cNvCxnSpPr/>
          <p:nvPr/>
        </p:nvCxnSpPr>
        <p:spPr>
          <a:xfrm rot="10800000">
            <a:off x="0" y="6435725"/>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47118" name="TekstSylinder 7"/>
          <p:cNvSpPr txBox="1">
            <a:spLocks noChangeArrowheads="1"/>
          </p:cNvSpPr>
          <p:nvPr/>
        </p:nvSpPr>
        <p:spPr bwMode="auto">
          <a:xfrm rot="-5400000">
            <a:off x="6577012" y="1712913"/>
            <a:ext cx="2322513" cy="427038"/>
          </a:xfrm>
          <a:prstGeom prst="rect">
            <a:avLst/>
          </a:prstGeom>
          <a:noFill/>
          <a:ln w="9525">
            <a:noFill/>
            <a:miter lim="800000"/>
            <a:headEnd/>
            <a:tailEnd/>
          </a:ln>
        </p:spPr>
        <p:txBody>
          <a:bodyPr>
            <a:spAutoFit/>
          </a:bodyPr>
          <a:lstStyle/>
          <a:p>
            <a:r>
              <a:rPr lang="nb-NO" sz="2200" b="1" dirty="0" err="1" smtClean="0">
                <a:solidFill>
                  <a:schemeClr val="accent1"/>
                </a:solidFill>
                <a:latin typeface="Calibri" pitchFamily="34" charset="0"/>
              </a:rPr>
              <a:t>Furniture</a:t>
            </a:r>
            <a:endParaRPr lang="nb-NO" sz="2200" b="1" dirty="0">
              <a:solidFill>
                <a:schemeClr val="accent1"/>
              </a:solidFill>
              <a:latin typeface="Calibri" pitchFamily="34" charset="0"/>
            </a:endParaRPr>
          </a:p>
        </p:txBody>
      </p:sp>
      <p:pic>
        <p:nvPicPr>
          <p:cNvPr id="47119" name="Picture 7" descr="hjerne_985333a"/>
          <p:cNvPicPr>
            <a:picLocks noChangeAspect="1" noChangeArrowheads="1"/>
          </p:cNvPicPr>
          <p:nvPr/>
        </p:nvPicPr>
        <p:blipFill>
          <a:blip r:embed="rId6" cstate="email"/>
          <a:srcRect/>
          <a:stretch>
            <a:fillRect/>
          </a:stretch>
        </p:blipFill>
        <p:spPr bwMode="auto">
          <a:xfrm>
            <a:off x="5292080" y="1052513"/>
            <a:ext cx="2154883" cy="2087562"/>
          </a:xfrm>
          <a:prstGeom prst="rect">
            <a:avLst/>
          </a:prstGeom>
          <a:noFill/>
          <a:ln w="9525">
            <a:solidFill>
              <a:schemeClr val="tx1"/>
            </a:solidFill>
            <a:miter lim="800000"/>
            <a:headEnd/>
            <a:tailEnd/>
          </a:ln>
        </p:spPr>
      </p:pic>
      <p:pic>
        <p:nvPicPr>
          <p:cNvPr id="47120" name="Picture 20" descr="pinsetter_sakser_178.jpg"/>
          <p:cNvPicPr>
            <a:picLocks noChangeAspect="1" noChangeArrowheads="1"/>
          </p:cNvPicPr>
          <p:nvPr/>
        </p:nvPicPr>
        <p:blipFill>
          <a:blip r:embed="rId7" cstate="email"/>
          <a:srcRect/>
          <a:stretch>
            <a:fillRect/>
          </a:stretch>
        </p:blipFill>
        <p:spPr bwMode="auto">
          <a:xfrm>
            <a:off x="3132138" y="981075"/>
            <a:ext cx="1485900" cy="2054225"/>
          </a:xfrm>
          <a:prstGeom prst="rect">
            <a:avLst/>
          </a:prstGeom>
          <a:noFill/>
          <a:ln w="9525">
            <a:solidFill>
              <a:schemeClr val="tx1"/>
            </a:solidFill>
            <a:miter lim="800000"/>
            <a:headEnd/>
            <a:tailEnd/>
          </a:ln>
        </p:spPr>
      </p:pic>
      <p:pic>
        <p:nvPicPr>
          <p:cNvPr id="47121" name="Picture 21" descr="Helse Sør-Øst2"/>
          <p:cNvPicPr>
            <a:picLocks noChangeAspect="1" noChangeArrowheads="1"/>
          </p:cNvPicPr>
          <p:nvPr/>
        </p:nvPicPr>
        <p:blipFill>
          <a:blip r:embed="rId8" cstate="email"/>
          <a:srcRect/>
          <a:stretch>
            <a:fillRect/>
          </a:stretch>
        </p:blipFill>
        <p:spPr bwMode="auto">
          <a:xfrm>
            <a:off x="1835150" y="981075"/>
            <a:ext cx="1238250" cy="2076450"/>
          </a:xfrm>
          <a:prstGeom prst="rect">
            <a:avLst/>
          </a:prstGeom>
          <a:noFill/>
          <a:ln w="9525">
            <a:solidFill>
              <a:schemeClr val="tx1"/>
            </a:solidFill>
            <a:miter lim="800000"/>
            <a:headEnd/>
            <a:tailEnd/>
          </a:ln>
        </p:spPr>
      </p:pic>
      <p:sp>
        <p:nvSpPr>
          <p:cNvPr id="47122" name="TekstSylinder 6"/>
          <p:cNvSpPr txBox="1">
            <a:spLocks noChangeArrowheads="1"/>
          </p:cNvSpPr>
          <p:nvPr/>
        </p:nvSpPr>
        <p:spPr bwMode="auto">
          <a:xfrm rot="-5400000">
            <a:off x="393700" y="1592412"/>
            <a:ext cx="2643188" cy="461665"/>
          </a:xfrm>
          <a:prstGeom prst="rect">
            <a:avLst/>
          </a:prstGeom>
          <a:noFill/>
          <a:ln w="9525">
            <a:noFill/>
            <a:miter lim="800000"/>
            <a:headEnd/>
            <a:tailEnd/>
          </a:ln>
        </p:spPr>
        <p:txBody>
          <a:bodyPr>
            <a:spAutoFit/>
          </a:bodyPr>
          <a:lstStyle/>
          <a:p>
            <a:r>
              <a:rPr lang="nb-NO" sz="2400" b="1" dirty="0" err="1" smtClean="0">
                <a:solidFill>
                  <a:schemeClr val="accent1"/>
                </a:solidFill>
                <a:latin typeface="Calibri" pitchFamily="34" charset="0"/>
              </a:rPr>
              <a:t>Bandages</a:t>
            </a:r>
            <a:endParaRPr lang="nb-NO" sz="2400" b="1" dirty="0">
              <a:solidFill>
                <a:schemeClr val="accent1"/>
              </a:solidFill>
              <a:latin typeface="Calibri" pitchFamily="34" charset="0"/>
            </a:endParaRPr>
          </a:p>
        </p:txBody>
      </p:sp>
      <p:pic>
        <p:nvPicPr>
          <p:cNvPr id="47123" name="Picture 23" descr="TO_SPL_OBSERVASJONSPOST"/>
          <p:cNvPicPr>
            <a:picLocks noChangeAspect="1" noChangeArrowheads="1"/>
          </p:cNvPicPr>
          <p:nvPr/>
        </p:nvPicPr>
        <p:blipFill>
          <a:blip r:embed="rId9" cstate="email"/>
          <a:srcRect/>
          <a:stretch>
            <a:fillRect/>
          </a:stretch>
        </p:blipFill>
        <p:spPr bwMode="auto">
          <a:xfrm>
            <a:off x="323850" y="908050"/>
            <a:ext cx="1152525" cy="2098675"/>
          </a:xfrm>
          <a:prstGeom prst="rect">
            <a:avLst/>
          </a:prstGeom>
          <a:noFill/>
          <a:ln w="9525">
            <a:solidFill>
              <a:schemeClr val="tx1"/>
            </a:solidFill>
            <a:miter lim="800000"/>
            <a:headEnd/>
            <a:tailEnd/>
          </a:ln>
        </p:spPr>
      </p:pic>
      <p:sp>
        <p:nvSpPr>
          <p:cNvPr id="20" name="TekstSylinder 19"/>
          <p:cNvSpPr txBox="1"/>
          <p:nvPr/>
        </p:nvSpPr>
        <p:spPr>
          <a:xfrm>
            <a:off x="0" y="3140968"/>
            <a:ext cx="9577064" cy="523220"/>
          </a:xfrm>
          <a:prstGeom prst="rect">
            <a:avLst/>
          </a:prstGeom>
          <a:noFill/>
        </p:spPr>
        <p:txBody>
          <a:bodyPr wrap="square" rtlCol="0">
            <a:spAutoFit/>
          </a:bodyPr>
          <a:lstStyle/>
          <a:p>
            <a:pPr algn="ctr"/>
            <a:r>
              <a:rPr lang="nb-NO" sz="2700" b="1" dirty="0" smtClean="0">
                <a:solidFill>
                  <a:schemeClr val="accent1"/>
                </a:solidFill>
                <a:latin typeface="Arial" pitchFamily="34" charset="0"/>
                <a:cs typeface="Arial" pitchFamily="34" charset="0"/>
              </a:rPr>
              <a:t>…is taking a </a:t>
            </a:r>
            <a:r>
              <a:rPr lang="nb-NO" sz="2700" b="1" dirty="0" err="1" smtClean="0">
                <a:solidFill>
                  <a:schemeClr val="accent1"/>
                </a:solidFill>
                <a:latin typeface="Arial" pitchFamily="34" charset="0"/>
                <a:cs typeface="Arial" pitchFamily="34" charset="0"/>
              </a:rPr>
              <a:t>high</a:t>
            </a:r>
            <a:r>
              <a:rPr lang="nb-NO" sz="2700" b="1" dirty="0" smtClean="0">
                <a:solidFill>
                  <a:schemeClr val="accent1"/>
                </a:solidFill>
                <a:latin typeface="Arial" pitchFamily="34" charset="0"/>
                <a:cs typeface="Arial" pitchFamily="34" charset="0"/>
              </a:rPr>
              <a:t> risk </a:t>
            </a:r>
            <a:endParaRPr lang="nb-NO" sz="2700" b="1" dirty="0">
              <a:solidFill>
                <a:schemeClr val="accent1"/>
              </a:solidFill>
              <a:latin typeface="Arial" pitchFamily="34" charset="0"/>
              <a:cs typeface="Arial" pitchFamily="34" charset="0"/>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err="1" smtClean="0"/>
              <a:t>Our</a:t>
            </a:r>
            <a:r>
              <a:rPr lang="nb-NO" dirty="0" smtClean="0"/>
              <a:t> </a:t>
            </a:r>
            <a:r>
              <a:rPr lang="nb-NO" dirty="0" err="1" smtClean="0"/>
              <a:t>Board</a:t>
            </a:r>
            <a:r>
              <a:rPr lang="nb-NO" dirty="0" smtClean="0"/>
              <a:t> 10.12.2009: </a:t>
            </a:r>
            <a:endParaRPr lang="nb-NO" dirty="0"/>
          </a:p>
        </p:txBody>
      </p:sp>
      <p:sp>
        <p:nvSpPr>
          <p:cNvPr id="3" name="Rektangel 2"/>
          <p:cNvSpPr/>
          <p:nvPr/>
        </p:nvSpPr>
        <p:spPr>
          <a:xfrm>
            <a:off x="1187624" y="1916832"/>
            <a:ext cx="7056784" cy="3970318"/>
          </a:xfrm>
          <a:prstGeom prst="rect">
            <a:avLst/>
          </a:prstGeom>
        </p:spPr>
        <p:txBody>
          <a:bodyPr wrap="square">
            <a:spAutoFit/>
          </a:bodyPr>
          <a:lstStyle/>
          <a:p>
            <a:r>
              <a:rPr lang="en-GB" sz="3600" b="1" i="1" dirty="0" smtClean="0"/>
              <a:t>The South-Eastern Norway Regional Health Authority shall be a driving force for ethical trading and undertakes to set requirements for an ethical supply chain wherever this is a relevant issue. </a:t>
            </a:r>
            <a:endParaRPr lang="nb-NO" sz="3600" b="1" i="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err="1" smtClean="0"/>
              <a:t>Asking</a:t>
            </a:r>
            <a:r>
              <a:rPr lang="nb-NO" dirty="0" smtClean="0"/>
              <a:t> or </a:t>
            </a:r>
            <a:r>
              <a:rPr lang="nb-NO" dirty="0" err="1" smtClean="0"/>
              <a:t>demanding</a:t>
            </a:r>
            <a:r>
              <a:rPr lang="nb-NO" dirty="0" smtClean="0"/>
              <a:t>? </a:t>
            </a:r>
            <a:endParaRPr lang="nb-NO" dirty="0"/>
          </a:p>
        </p:txBody>
      </p:sp>
      <p:sp>
        <p:nvSpPr>
          <p:cNvPr id="3" name="Plassholder for innhold 2"/>
          <p:cNvSpPr>
            <a:spLocks noGrp="1"/>
          </p:cNvSpPr>
          <p:nvPr>
            <p:ph idx="1"/>
          </p:nvPr>
        </p:nvSpPr>
        <p:spPr/>
        <p:txBody>
          <a:bodyPr/>
          <a:lstStyle/>
          <a:p>
            <a:pPr>
              <a:buNone/>
            </a:pPr>
            <a:endParaRPr lang="nb-NO" dirty="0"/>
          </a:p>
        </p:txBody>
      </p:sp>
      <p:pic>
        <p:nvPicPr>
          <p:cNvPr id="4" name="Picture 2" descr="http://www.genderguide.com/postmann/dbase/bilder/ethics2.jpg"/>
          <p:cNvPicPr>
            <a:picLocks noChangeAspect="1" noChangeArrowheads="1"/>
          </p:cNvPicPr>
          <p:nvPr/>
        </p:nvPicPr>
        <p:blipFill>
          <a:blip r:embed="rId2" cstate="screen"/>
          <a:srcRect/>
          <a:stretch>
            <a:fillRect/>
          </a:stretch>
        </p:blipFill>
        <p:spPr bwMode="auto">
          <a:xfrm>
            <a:off x="2339752" y="1916832"/>
            <a:ext cx="4084637" cy="35274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err="1" smtClean="0"/>
              <a:t>Our</a:t>
            </a:r>
            <a:r>
              <a:rPr lang="nb-NO" dirty="0" smtClean="0"/>
              <a:t> </a:t>
            </a:r>
            <a:r>
              <a:rPr lang="nb-NO" dirty="0" err="1" smtClean="0"/>
              <a:t>success</a:t>
            </a:r>
            <a:r>
              <a:rPr lang="nb-NO" dirty="0" smtClean="0"/>
              <a:t> </a:t>
            </a:r>
            <a:r>
              <a:rPr lang="nb-NO" dirty="0" err="1" smtClean="0"/>
              <a:t>criteria</a:t>
            </a:r>
            <a:endParaRPr lang="nb-NO" dirty="0"/>
          </a:p>
        </p:txBody>
      </p:sp>
      <p:sp>
        <p:nvSpPr>
          <p:cNvPr id="3" name="Plassholder for innhold 2"/>
          <p:cNvSpPr>
            <a:spLocks noGrp="1"/>
          </p:cNvSpPr>
          <p:nvPr>
            <p:ph idx="1"/>
          </p:nvPr>
        </p:nvSpPr>
        <p:spPr>
          <a:xfrm>
            <a:off x="467544" y="1268760"/>
            <a:ext cx="3672408" cy="4536504"/>
          </a:xfrm>
        </p:spPr>
        <p:txBody>
          <a:bodyPr/>
          <a:lstStyle/>
          <a:p>
            <a:r>
              <a:rPr lang="nb-NO" sz="4000" dirty="0" err="1" smtClean="0">
                <a:solidFill>
                  <a:schemeClr val="accent1"/>
                </a:solidFill>
              </a:rPr>
              <a:t>Dialogue</a:t>
            </a:r>
            <a:endParaRPr lang="nb-NO" sz="4000" dirty="0" smtClean="0">
              <a:solidFill>
                <a:schemeClr val="accent1"/>
              </a:solidFill>
            </a:endParaRPr>
          </a:p>
          <a:p>
            <a:r>
              <a:rPr lang="nb-NO" sz="4000" dirty="0" smtClean="0">
                <a:solidFill>
                  <a:schemeClr val="accent1"/>
                </a:solidFill>
              </a:rPr>
              <a:t>Cooperation</a:t>
            </a:r>
          </a:p>
          <a:p>
            <a:r>
              <a:rPr lang="nb-NO" sz="4000" dirty="0" err="1" smtClean="0">
                <a:solidFill>
                  <a:schemeClr val="accent1"/>
                </a:solidFill>
              </a:rPr>
              <a:t>Capacity</a:t>
            </a:r>
            <a:r>
              <a:rPr lang="nb-NO" sz="4000" dirty="0" smtClean="0">
                <a:solidFill>
                  <a:schemeClr val="accent1"/>
                </a:solidFill>
              </a:rPr>
              <a:t> </a:t>
            </a:r>
            <a:r>
              <a:rPr lang="nb-NO" sz="4000" dirty="0" err="1" smtClean="0">
                <a:solidFill>
                  <a:schemeClr val="accent1"/>
                </a:solidFill>
              </a:rPr>
              <a:t>building</a:t>
            </a:r>
            <a:endParaRPr lang="nb-NO" sz="4000" dirty="0" smtClean="0">
              <a:solidFill>
                <a:schemeClr val="accent1"/>
              </a:solidFill>
            </a:endParaRPr>
          </a:p>
          <a:p>
            <a:r>
              <a:rPr lang="nb-NO" sz="4000" dirty="0" smtClean="0">
                <a:solidFill>
                  <a:schemeClr val="accent1"/>
                </a:solidFill>
              </a:rPr>
              <a:t>Time</a:t>
            </a:r>
          </a:p>
          <a:p>
            <a:r>
              <a:rPr lang="nb-NO" sz="4000" dirty="0" err="1" smtClean="0">
                <a:solidFill>
                  <a:schemeClr val="accent1"/>
                </a:solidFill>
              </a:rPr>
              <a:t>Demand</a:t>
            </a:r>
            <a:endParaRPr lang="nb-NO" sz="4000" dirty="0" smtClean="0">
              <a:solidFill>
                <a:schemeClr val="accent1"/>
              </a:solidFill>
            </a:endParaRPr>
          </a:p>
          <a:p>
            <a:r>
              <a:rPr lang="nb-NO" sz="4000" dirty="0" err="1" smtClean="0">
                <a:solidFill>
                  <a:schemeClr val="accent1"/>
                </a:solidFill>
              </a:rPr>
              <a:t>Following</a:t>
            </a:r>
            <a:r>
              <a:rPr lang="nb-NO" sz="4000" dirty="0" smtClean="0">
                <a:solidFill>
                  <a:schemeClr val="accent1"/>
                </a:solidFill>
              </a:rPr>
              <a:t> up</a:t>
            </a:r>
          </a:p>
          <a:p>
            <a:endParaRPr lang="nb-NO" dirty="0">
              <a:solidFill>
                <a:schemeClr val="accent1"/>
              </a:solidFill>
            </a:endParaRPr>
          </a:p>
        </p:txBody>
      </p:sp>
      <p:sp>
        <p:nvSpPr>
          <p:cNvPr id="5" name="TekstSylinder 4"/>
          <p:cNvSpPr txBox="1"/>
          <p:nvPr/>
        </p:nvSpPr>
        <p:spPr>
          <a:xfrm>
            <a:off x="4355976" y="1772816"/>
            <a:ext cx="3960440" cy="707886"/>
          </a:xfrm>
          <a:prstGeom prst="rect">
            <a:avLst/>
          </a:prstGeom>
          <a:noFill/>
        </p:spPr>
        <p:txBody>
          <a:bodyPr wrap="square" rtlCol="0">
            <a:spAutoFit/>
          </a:bodyPr>
          <a:lstStyle/>
          <a:p>
            <a:r>
              <a:rPr lang="nb-NO" sz="4000" dirty="0" err="1" smtClean="0">
                <a:solidFill>
                  <a:schemeClr val="accent1"/>
                </a:solidFill>
                <a:latin typeface="+mn-lt"/>
              </a:rPr>
              <a:t>But</a:t>
            </a:r>
            <a:r>
              <a:rPr lang="nb-NO" sz="4000" dirty="0" smtClean="0">
                <a:solidFill>
                  <a:schemeClr val="accent1"/>
                </a:solidFill>
                <a:latin typeface="+mn-lt"/>
              </a:rPr>
              <a:t> never:  </a:t>
            </a:r>
            <a:endParaRPr lang="nb-NO" sz="4000" dirty="0">
              <a:solidFill>
                <a:schemeClr val="accent1"/>
              </a:solidFill>
              <a:latin typeface="+mn-lt"/>
            </a:endParaRPr>
          </a:p>
        </p:txBody>
      </p:sp>
      <p:pic>
        <p:nvPicPr>
          <p:cNvPr id="2050" name="Picture 2"/>
          <p:cNvPicPr>
            <a:picLocks noChangeAspect="1" noChangeArrowheads="1"/>
          </p:cNvPicPr>
          <p:nvPr/>
        </p:nvPicPr>
        <p:blipFill>
          <a:blip r:embed="rId2" cstate="screen"/>
          <a:srcRect/>
          <a:stretch>
            <a:fillRect/>
          </a:stretch>
        </p:blipFill>
        <p:spPr bwMode="auto">
          <a:xfrm>
            <a:off x="4067944" y="2708920"/>
            <a:ext cx="3810000" cy="28575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box(in)">
                                      <p:cBhvr>
                                        <p:cTn id="12"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err="1" smtClean="0"/>
              <a:t>What</a:t>
            </a:r>
            <a:r>
              <a:rPr lang="nb-NO" dirty="0" smtClean="0"/>
              <a:t> </a:t>
            </a:r>
            <a:r>
              <a:rPr lang="nb-NO" dirty="0" smtClean="0"/>
              <a:t>i</a:t>
            </a:r>
            <a:r>
              <a:rPr lang="nb-NO" dirty="0" smtClean="0"/>
              <a:t>s </a:t>
            </a:r>
            <a:r>
              <a:rPr lang="nb-NO" dirty="0" err="1" smtClean="0"/>
              <a:t>important</a:t>
            </a:r>
            <a:r>
              <a:rPr lang="nb-NO" dirty="0" smtClean="0"/>
              <a:t> for </a:t>
            </a:r>
            <a:r>
              <a:rPr lang="nb-NO" dirty="0" err="1" smtClean="0"/>
              <a:t>the</a:t>
            </a:r>
            <a:r>
              <a:rPr lang="nb-NO" dirty="0" smtClean="0"/>
              <a:t> </a:t>
            </a:r>
            <a:r>
              <a:rPr lang="nb-NO" dirty="0" err="1" smtClean="0"/>
              <a:t>supplier</a:t>
            </a:r>
            <a:r>
              <a:rPr lang="nb-NO" dirty="0" smtClean="0"/>
              <a:t>? </a:t>
            </a:r>
            <a:endParaRPr lang="nb-NO" dirty="0"/>
          </a:p>
        </p:txBody>
      </p:sp>
      <p:sp>
        <p:nvSpPr>
          <p:cNvPr id="3" name="Plassholder for innhold 2"/>
          <p:cNvSpPr>
            <a:spLocks noGrp="1"/>
          </p:cNvSpPr>
          <p:nvPr>
            <p:ph idx="1"/>
          </p:nvPr>
        </p:nvSpPr>
        <p:spPr/>
        <p:txBody>
          <a:bodyPr/>
          <a:lstStyle/>
          <a:p>
            <a:r>
              <a:rPr lang="nb-NO" dirty="0" err="1" smtClean="0"/>
              <a:t>Dialogue</a:t>
            </a:r>
            <a:endParaRPr lang="nb-NO" dirty="0" smtClean="0"/>
          </a:p>
          <a:p>
            <a:r>
              <a:rPr lang="nb-NO" dirty="0" smtClean="0"/>
              <a:t>Standards</a:t>
            </a:r>
          </a:p>
          <a:p>
            <a:r>
              <a:rPr lang="nb-NO" dirty="0" err="1" smtClean="0"/>
              <a:t>Procedures</a:t>
            </a:r>
            <a:endParaRPr lang="nb-NO" dirty="0" smtClean="0"/>
          </a:p>
          <a:p>
            <a:r>
              <a:rPr lang="nb-NO" dirty="0" smtClean="0"/>
              <a:t>Trust</a:t>
            </a:r>
          </a:p>
          <a:p>
            <a:r>
              <a:rPr lang="nb-NO" dirty="0" smtClean="0"/>
              <a:t>Time</a:t>
            </a:r>
          </a:p>
          <a:p>
            <a:r>
              <a:rPr lang="nb-NO" dirty="0" err="1" smtClean="0"/>
              <a:t>Predictability</a:t>
            </a:r>
            <a:endParaRPr lang="nb-NO" dirty="0" smtClean="0"/>
          </a:p>
          <a:p>
            <a:pPr>
              <a:buNone/>
            </a:pPr>
            <a:r>
              <a:rPr lang="nb-NO" dirty="0" smtClean="0"/>
              <a:t>---------</a:t>
            </a:r>
          </a:p>
          <a:p>
            <a:r>
              <a:rPr lang="nb-NO" dirty="0" err="1" smtClean="0"/>
              <a:t>Reputation</a:t>
            </a:r>
            <a:endParaRPr lang="nb-NO" dirty="0" smtClean="0"/>
          </a:p>
          <a:p>
            <a:r>
              <a:rPr lang="nb-NO" dirty="0" err="1" smtClean="0"/>
              <a:t>Sustainbility</a:t>
            </a:r>
            <a:endParaRPr lang="nb-NO" dirty="0" smtClean="0"/>
          </a:p>
          <a:p>
            <a:r>
              <a:rPr lang="nb-NO" dirty="0" err="1" smtClean="0"/>
              <a:t>Competition</a:t>
            </a:r>
            <a:r>
              <a:rPr lang="nb-NO" dirty="0" smtClean="0"/>
              <a:t> </a:t>
            </a:r>
            <a:r>
              <a:rPr lang="nb-NO" dirty="0" err="1" smtClean="0"/>
              <a:t>advantage</a:t>
            </a:r>
            <a:endParaRPr lang="nb-NO" dirty="0" smtClean="0"/>
          </a:p>
          <a:p>
            <a:endParaRPr lang="nb-NO" dirty="0" smtClean="0"/>
          </a:p>
          <a:p>
            <a:endParaRPr lang="nb-NO" dirty="0" smtClean="0"/>
          </a:p>
          <a:p>
            <a:endParaRPr lang="nb-NO" dirty="0"/>
          </a:p>
        </p:txBody>
      </p:sp>
      <p:pic>
        <p:nvPicPr>
          <p:cNvPr id="4" name="Picture 4" descr="iStock_lege og businessmann"/>
          <p:cNvPicPr>
            <a:picLocks noChangeAspect="1" noChangeArrowheads="1"/>
          </p:cNvPicPr>
          <p:nvPr/>
        </p:nvPicPr>
        <p:blipFill>
          <a:blip r:embed="rId2" cstate="screen"/>
          <a:srcRect/>
          <a:stretch>
            <a:fillRect/>
          </a:stretch>
        </p:blipFill>
        <p:spPr bwMode="auto">
          <a:xfrm>
            <a:off x="3635896" y="1556792"/>
            <a:ext cx="4651672" cy="3096344"/>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err="1" smtClean="0"/>
              <a:t>Following</a:t>
            </a:r>
            <a:r>
              <a:rPr lang="nb-NO" dirty="0" smtClean="0"/>
              <a:t> up</a:t>
            </a:r>
            <a:endParaRPr lang="nb-NO" dirty="0"/>
          </a:p>
        </p:txBody>
      </p:sp>
      <p:sp>
        <p:nvSpPr>
          <p:cNvPr id="3" name="Plassholder for innhold 2"/>
          <p:cNvSpPr>
            <a:spLocks noGrp="1"/>
          </p:cNvSpPr>
          <p:nvPr>
            <p:ph idx="1"/>
          </p:nvPr>
        </p:nvSpPr>
        <p:spPr/>
        <p:txBody>
          <a:bodyPr/>
          <a:lstStyle/>
          <a:p>
            <a:r>
              <a:rPr lang="nb-NO" sz="2200" dirty="0" smtClean="0"/>
              <a:t>Standards make it </a:t>
            </a:r>
            <a:r>
              <a:rPr lang="nb-NO" sz="2200" dirty="0" err="1" smtClean="0"/>
              <a:t>easier</a:t>
            </a:r>
            <a:r>
              <a:rPr lang="nb-NO" sz="2200" dirty="0" smtClean="0"/>
              <a:t> for all parts</a:t>
            </a:r>
          </a:p>
          <a:p>
            <a:r>
              <a:rPr lang="nb-NO" sz="2200" dirty="0" err="1" smtClean="0"/>
              <a:t>Use</a:t>
            </a:r>
            <a:r>
              <a:rPr lang="nb-NO" sz="2200" dirty="0" smtClean="0"/>
              <a:t> </a:t>
            </a:r>
            <a:r>
              <a:rPr lang="nb-NO" sz="2200" dirty="0" err="1" smtClean="0"/>
              <a:t>the</a:t>
            </a:r>
            <a:r>
              <a:rPr lang="nb-NO" sz="2200" dirty="0" smtClean="0"/>
              <a:t> ILO </a:t>
            </a:r>
            <a:r>
              <a:rPr lang="nb-NO" sz="2200" dirty="0" err="1" smtClean="0"/>
              <a:t>conventions</a:t>
            </a:r>
            <a:r>
              <a:rPr lang="nb-NO" sz="2200" dirty="0" smtClean="0"/>
              <a:t> and </a:t>
            </a:r>
            <a:r>
              <a:rPr lang="nb-NO" sz="2200" dirty="0" err="1" smtClean="0"/>
              <a:t>national</a:t>
            </a:r>
            <a:r>
              <a:rPr lang="nb-NO" sz="2200" dirty="0" smtClean="0"/>
              <a:t> </a:t>
            </a:r>
            <a:r>
              <a:rPr lang="nb-NO" sz="2200" dirty="0" err="1" smtClean="0"/>
              <a:t>laws</a:t>
            </a:r>
            <a:endParaRPr lang="nb-NO" sz="2200" dirty="0" smtClean="0"/>
          </a:p>
          <a:p>
            <a:r>
              <a:rPr lang="nb-NO" sz="2200" dirty="0" smtClean="0"/>
              <a:t>Public </a:t>
            </a:r>
            <a:r>
              <a:rPr lang="nb-NO" sz="2200" dirty="0" err="1" smtClean="0"/>
              <a:t>procures</a:t>
            </a:r>
            <a:r>
              <a:rPr lang="nb-NO" sz="2200" dirty="0" smtClean="0"/>
              <a:t> </a:t>
            </a:r>
            <a:r>
              <a:rPr lang="nb-NO" sz="2200" dirty="0" err="1" smtClean="0"/>
              <a:t>should</a:t>
            </a:r>
            <a:r>
              <a:rPr lang="nb-NO" sz="2200" dirty="0" smtClean="0"/>
              <a:t> </a:t>
            </a:r>
            <a:r>
              <a:rPr lang="nb-NO" sz="2200" dirty="0" err="1" smtClean="0"/>
              <a:t>share</a:t>
            </a:r>
            <a:r>
              <a:rPr lang="nb-NO" sz="2200" dirty="0" smtClean="0"/>
              <a:t> </a:t>
            </a:r>
            <a:r>
              <a:rPr lang="nb-NO" sz="2200" dirty="0" err="1" smtClean="0"/>
              <a:t>their</a:t>
            </a:r>
            <a:r>
              <a:rPr lang="nb-NO" sz="2200" dirty="0" smtClean="0"/>
              <a:t> </a:t>
            </a:r>
            <a:r>
              <a:rPr lang="nb-NO" sz="2200" dirty="0" err="1" smtClean="0"/>
              <a:t>results</a:t>
            </a:r>
            <a:endParaRPr lang="nb-NO" sz="2200" dirty="0" smtClean="0"/>
          </a:p>
          <a:p>
            <a:r>
              <a:rPr lang="nb-NO" sz="2200" dirty="0" smtClean="0"/>
              <a:t>Be </a:t>
            </a:r>
            <a:r>
              <a:rPr lang="nb-NO" sz="2200" dirty="0" err="1" smtClean="0"/>
              <a:t>aware</a:t>
            </a:r>
            <a:r>
              <a:rPr lang="nb-NO" sz="2200" dirty="0" smtClean="0"/>
              <a:t> </a:t>
            </a:r>
            <a:r>
              <a:rPr lang="nb-NO" sz="2200" dirty="0" err="1" smtClean="0"/>
              <a:t>of</a:t>
            </a:r>
            <a:r>
              <a:rPr lang="nb-NO" sz="2200" dirty="0" smtClean="0"/>
              <a:t> </a:t>
            </a:r>
            <a:r>
              <a:rPr lang="nb-NO" sz="2200" dirty="0" err="1" smtClean="0"/>
              <a:t>audit</a:t>
            </a:r>
            <a:r>
              <a:rPr lang="nb-NO" sz="2200" dirty="0" smtClean="0"/>
              <a:t> </a:t>
            </a:r>
            <a:r>
              <a:rPr lang="nb-NO" sz="2200" dirty="0" err="1" smtClean="0"/>
              <a:t>fatigues</a:t>
            </a:r>
            <a:endParaRPr lang="nb-NO" sz="2200" dirty="0" smtClean="0"/>
          </a:p>
          <a:p>
            <a:r>
              <a:rPr lang="nb-NO" sz="2200" dirty="0" smtClean="0"/>
              <a:t>Start by </a:t>
            </a:r>
            <a:r>
              <a:rPr lang="nb-NO" sz="2200" dirty="0" err="1" smtClean="0"/>
              <a:t>checking</a:t>
            </a:r>
            <a:r>
              <a:rPr lang="nb-NO" sz="2200" dirty="0" smtClean="0"/>
              <a:t> </a:t>
            </a:r>
            <a:r>
              <a:rPr lang="nb-NO" sz="2200" dirty="0" err="1" smtClean="0"/>
              <a:t>the</a:t>
            </a:r>
            <a:r>
              <a:rPr lang="nb-NO" sz="2200" dirty="0" smtClean="0"/>
              <a:t> </a:t>
            </a:r>
            <a:r>
              <a:rPr lang="nb-NO" sz="2200" dirty="0" err="1" smtClean="0"/>
              <a:t>suppliers</a:t>
            </a:r>
            <a:r>
              <a:rPr lang="nb-NO" sz="2200" dirty="0" smtClean="0"/>
              <a:t> systems, not a far-</a:t>
            </a:r>
            <a:r>
              <a:rPr lang="nb-NO" sz="2200" dirty="0" err="1" smtClean="0"/>
              <a:t>distant</a:t>
            </a:r>
            <a:r>
              <a:rPr lang="nb-NO" sz="2200" dirty="0" smtClean="0"/>
              <a:t> </a:t>
            </a:r>
            <a:r>
              <a:rPr lang="nb-NO" sz="2200" dirty="0" err="1" smtClean="0"/>
              <a:t>factory</a:t>
            </a:r>
            <a:endParaRPr lang="nb-NO" sz="2200" dirty="0" smtClean="0"/>
          </a:p>
          <a:p>
            <a:r>
              <a:rPr lang="nb-NO" sz="2200" dirty="0" err="1" smtClean="0"/>
              <a:t>Demand</a:t>
            </a:r>
            <a:r>
              <a:rPr lang="nb-NO" sz="2200" dirty="0" smtClean="0"/>
              <a:t> </a:t>
            </a:r>
            <a:r>
              <a:rPr lang="nb-NO" sz="2200" dirty="0" err="1" smtClean="0"/>
              <a:t>improvements</a:t>
            </a:r>
            <a:r>
              <a:rPr lang="nb-NO" sz="2200" dirty="0" smtClean="0"/>
              <a:t> and </a:t>
            </a:r>
            <a:r>
              <a:rPr lang="nb-NO" sz="2200" dirty="0" err="1" smtClean="0"/>
              <a:t>cooperation</a:t>
            </a:r>
            <a:r>
              <a:rPr lang="nb-NO" sz="2200" dirty="0" smtClean="0"/>
              <a:t>, not </a:t>
            </a:r>
            <a:r>
              <a:rPr lang="nb-NO" sz="2200" dirty="0" err="1" smtClean="0"/>
              <a:t>guarantees</a:t>
            </a:r>
            <a:endParaRPr lang="nb-NO" sz="2200" dirty="0" smtClean="0"/>
          </a:p>
          <a:p>
            <a:r>
              <a:rPr lang="nb-NO" sz="2200" dirty="0" smtClean="0"/>
              <a:t>Be </a:t>
            </a:r>
            <a:r>
              <a:rPr lang="nb-NO" sz="2200" dirty="0" err="1" smtClean="0"/>
              <a:t>reasonable</a:t>
            </a:r>
            <a:r>
              <a:rPr lang="nb-NO" sz="2200" dirty="0" smtClean="0"/>
              <a:t> and </a:t>
            </a:r>
            <a:r>
              <a:rPr lang="nb-NO" sz="2200" dirty="0" err="1" smtClean="0"/>
              <a:t>predictable</a:t>
            </a:r>
            <a:endParaRPr lang="nb-NO" sz="2200" dirty="0" smtClean="0"/>
          </a:p>
          <a:p>
            <a:r>
              <a:rPr lang="nb-NO" sz="2200" dirty="0" smtClean="0"/>
              <a:t>Not ”</a:t>
            </a:r>
            <a:r>
              <a:rPr lang="nb-NO" sz="2200" dirty="0" err="1" smtClean="0"/>
              <a:t>compliance</a:t>
            </a:r>
            <a:r>
              <a:rPr lang="nb-NO" sz="2200" dirty="0" smtClean="0"/>
              <a:t> or die”, </a:t>
            </a:r>
            <a:r>
              <a:rPr lang="nb-NO" sz="2200" dirty="0" err="1" smtClean="0"/>
              <a:t>but</a:t>
            </a:r>
            <a:r>
              <a:rPr lang="nb-NO" sz="2200" dirty="0" smtClean="0"/>
              <a:t> ”</a:t>
            </a:r>
            <a:r>
              <a:rPr lang="nb-NO" sz="2200" dirty="0" err="1" smtClean="0"/>
              <a:t>cooperation</a:t>
            </a:r>
            <a:r>
              <a:rPr lang="nb-NO" sz="2200" dirty="0" smtClean="0"/>
              <a:t> or </a:t>
            </a:r>
            <a:r>
              <a:rPr lang="nb-NO" sz="2200" dirty="0" err="1" smtClean="0"/>
              <a:t>no</a:t>
            </a:r>
            <a:r>
              <a:rPr lang="nb-NO" sz="2200" dirty="0" smtClean="0"/>
              <a:t> </a:t>
            </a:r>
            <a:r>
              <a:rPr lang="nb-NO" sz="2200" dirty="0" err="1" smtClean="0"/>
              <a:t>new</a:t>
            </a:r>
            <a:r>
              <a:rPr lang="nb-NO" sz="2200" dirty="0" smtClean="0"/>
              <a:t> </a:t>
            </a:r>
            <a:r>
              <a:rPr lang="nb-NO" sz="2200" dirty="0" err="1" smtClean="0"/>
              <a:t>contract</a:t>
            </a:r>
            <a:r>
              <a:rPr lang="nb-NO" sz="2200" dirty="0" smtClean="0"/>
              <a:t>…”</a:t>
            </a:r>
          </a:p>
          <a:p>
            <a:r>
              <a:rPr lang="nb-NO" sz="2200" dirty="0" err="1" smtClean="0"/>
              <a:t>Communicate</a:t>
            </a:r>
            <a:r>
              <a:rPr lang="nb-NO" sz="2200" dirty="0" smtClean="0"/>
              <a:t> </a:t>
            </a:r>
            <a:r>
              <a:rPr lang="nb-NO" sz="2200" dirty="0" err="1" smtClean="0"/>
              <a:t>the</a:t>
            </a:r>
            <a:r>
              <a:rPr lang="nb-NO" sz="2200" dirty="0" smtClean="0"/>
              <a:t> </a:t>
            </a:r>
            <a:r>
              <a:rPr lang="nb-NO" sz="2200" dirty="0" err="1" smtClean="0"/>
              <a:t>importance</a:t>
            </a:r>
            <a:r>
              <a:rPr lang="nb-NO" sz="2200" dirty="0" smtClean="0"/>
              <a:t> from </a:t>
            </a:r>
            <a:r>
              <a:rPr lang="nb-NO" sz="2200" dirty="0" err="1" smtClean="0"/>
              <a:t>the</a:t>
            </a:r>
            <a:r>
              <a:rPr lang="nb-NO" sz="2200" dirty="0" smtClean="0"/>
              <a:t> </a:t>
            </a:r>
            <a:r>
              <a:rPr lang="nb-NO" sz="2200" dirty="0" err="1" smtClean="0"/>
              <a:t>top</a:t>
            </a:r>
            <a:r>
              <a:rPr lang="nb-NO" sz="2200" dirty="0" smtClean="0"/>
              <a:t> </a:t>
            </a:r>
            <a:r>
              <a:rPr lang="nb-NO" sz="2200" dirty="0" err="1" smtClean="0"/>
              <a:t>level</a:t>
            </a:r>
            <a:r>
              <a:rPr lang="nb-NO" sz="2200" dirty="0" smtClean="0"/>
              <a:t> </a:t>
            </a:r>
            <a:r>
              <a:rPr lang="nb-NO" sz="2200" dirty="0" err="1" smtClean="0"/>
              <a:t>management</a:t>
            </a:r>
            <a:endParaRPr lang="nb-NO" sz="2200" dirty="0" smtClean="0"/>
          </a:p>
          <a:p>
            <a:r>
              <a:rPr lang="nb-NO" sz="2200" dirty="0" smtClean="0"/>
              <a:t>AND: </a:t>
            </a:r>
            <a:r>
              <a:rPr lang="nb-NO" sz="2200" dirty="0" err="1" smtClean="0"/>
              <a:t>Following</a:t>
            </a:r>
            <a:r>
              <a:rPr lang="nb-NO" sz="2200" dirty="0" smtClean="0"/>
              <a:t> up </a:t>
            </a:r>
            <a:r>
              <a:rPr lang="nb-NO" sz="2200" dirty="0" err="1" smtClean="0"/>
              <a:t>etichal</a:t>
            </a:r>
            <a:r>
              <a:rPr lang="nb-NO" sz="2200" dirty="0" smtClean="0"/>
              <a:t> </a:t>
            </a:r>
            <a:r>
              <a:rPr lang="nb-NO" sz="2200" dirty="0" err="1" smtClean="0"/>
              <a:t>demands</a:t>
            </a:r>
            <a:r>
              <a:rPr lang="nb-NO" sz="2200" dirty="0" smtClean="0"/>
              <a:t> as a </a:t>
            </a:r>
            <a:r>
              <a:rPr lang="nb-NO" sz="2200" b="1" dirty="0" err="1" smtClean="0"/>
              <a:t>integrated</a:t>
            </a:r>
            <a:r>
              <a:rPr lang="nb-NO" sz="2200" dirty="0" smtClean="0"/>
              <a:t> part </a:t>
            </a:r>
            <a:r>
              <a:rPr lang="nb-NO" sz="2200" dirty="0" err="1" smtClean="0"/>
              <a:t>of</a:t>
            </a:r>
            <a:r>
              <a:rPr lang="nb-NO" sz="2200" dirty="0" smtClean="0"/>
              <a:t> generell </a:t>
            </a:r>
            <a:r>
              <a:rPr lang="nb-NO" sz="2200" dirty="0" err="1" smtClean="0"/>
              <a:t>following</a:t>
            </a:r>
            <a:r>
              <a:rPr lang="nb-NO" sz="2200" dirty="0" smtClean="0"/>
              <a:t> up </a:t>
            </a:r>
            <a:r>
              <a:rPr lang="nb-NO" sz="2200" dirty="0" err="1" smtClean="0"/>
              <a:t>of</a:t>
            </a:r>
            <a:r>
              <a:rPr lang="nb-NO" sz="2200" dirty="0" smtClean="0"/>
              <a:t> </a:t>
            </a:r>
            <a:r>
              <a:rPr lang="nb-NO" sz="2200" dirty="0" err="1" smtClean="0"/>
              <a:t>the</a:t>
            </a:r>
            <a:r>
              <a:rPr lang="nb-NO" sz="2200" dirty="0" smtClean="0"/>
              <a:t> </a:t>
            </a:r>
            <a:r>
              <a:rPr lang="nb-NO" sz="2200" dirty="0" err="1" smtClean="0"/>
              <a:t>supplier</a:t>
            </a:r>
            <a:r>
              <a:rPr lang="nb-NO" sz="2200" dirty="0" smtClean="0"/>
              <a:t> </a:t>
            </a:r>
            <a:r>
              <a:rPr lang="nb-NO" sz="2200" dirty="0" err="1" smtClean="0"/>
              <a:t>contract</a:t>
            </a:r>
            <a:endParaRPr lang="nb-NO" sz="2200" dirty="0" smtClean="0"/>
          </a:p>
          <a:p>
            <a:endParaRPr lang="nb-NO" dirty="0" smtClean="0"/>
          </a:p>
          <a:p>
            <a:endParaRPr lang="nb-NO"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cstate="print"/>
          <a:srcRect/>
          <a:stretch>
            <a:fillRect/>
          </a:stretch>
        </p:blipFill>
        <p:spPr bwMode="auto">
          <a:xfrm>
            <a:off x="1043608" y="0"/>
            <a:ext cx="7667897" cy="762620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cstate="print"/>
          <a:srcRect/>
          <a:stretch>
            <a:fillRect/>
          </a:stretch>
        </p:blipFill>
        <p:spPr bwMode="auto">
          <a:xfrm>
            <a:off x="1619672" y="-603448"/>
            <a:ext cx="7065962" cy="71326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err="1" smtClean="0"/>
              <a:t>But</a:t>
            </a:r>
            <a:r>
              <a:rPr lang="nb-NO" dirty="0" smtClean="0"/>
              <a:t> </a:t>
            </a:r>
            <a:r>
              <a:rPr lang="nb-NO" dirty="0" err="1" smtClean="0"/>
              <a:t>we</a:t>
            </a:r>
            <a:r>
              <a:rPr lang="nb-NO" dirty="0" smtClean="0"/>
              <a:t> have to show </a:t>
            </a:r>
            <a:r>
              <a:rPr lang="nb-NO" dirty="0" err="1" smtClean="0"/>
              <a:t>that</a:t>
            </a:r>
            <a:r>
              <a:rPr lang="nb-NO" dirty="0" smtClean="0"/>
              <a:t> </a:t>
            </a:r>
            <a:r>
              <a:rPr lang="nb-NO" dirty="0" err="1" smtClean="0"/>
              <a:t>we</a:t>
            </a:r>
            <a:r>
              <a:rPr lang="nb-NO" dirty="0" smtClean="0"/>
              <a:t> </a:t>
            </a:r>
            <a:r>
              <a:rPr lang="nb-NO" dirty="0" err="1" smtClean="0"/>
              <a:t>mean</a:t>
            </a:r>
            <a:r>
              <a:rPr lang="nb-NO" dirty="0" smtClean="0"/>
              <a:t> it</a:t>
            </a:r>
            <a:endParaRPr lang="nb-NO" dirty="0"/>
          </a:p>
        </p:txBody>
      </p:sp>
      <p:pic>
        <p:nvPicPr>
          <p:cNvPr id="4" name="Plassholder for innhold 3" descr="bilde.png"/>
          <p:cNvPicPr>
            <a:picLocks noGrp="1" noChangeAspect="1"/>
          </p:cNvPicPr>
          <p:nvPr>
            <p:ph idx="1"/>
          </p:nvPr>
        </p:nvPicPr>
        <p:blipFill>
          <a:blip r:embed="rId2" cstate="screen"/>
          <a:stretch>
            <a:fillRect/>
          </a:stretch>
        </p:blipFill>
        <p:spPr>
          <a:xfrm>
            <a:off x="899592" y="1340768"/>
            <a:ext cx="3652488" cy="4537075"/>
          </a:xfrm>
          <a:ln>
            <a:solidFill>
              <a:schemeClr val="accent1"/>
            </a:solidFill>
          </a:ln>
        </p:spPr>
      </p:pic>
      <p:pic>
        <p:nvPicPr>
          <p:cNvPr id="5" name="Plassholder for tabell 6" descr="Bilde India seks små bilder.jpg"/>
          <p:cNvPicPr>
            <a:picLocks noChangeAspect="1"/>
          </p:cNvPicPr>
          <p:nvPr/>
        </p:nvPicPr>
        <p:blipFill>
          <a:blip r:embed="rId3" cstate="email"/>
          <a:srcRect/>
          <a:stretch>
            <a:fillRect/>
          </a:stretch>
        </p:blipFill>
        <p:spPr bwMode="auto">
          <a:xfrm rot="21037169">
            <a:off x="4892857" y="2147344"/>
            <a:ext cx="3995936" cy="3459401"/>
          </a:xfrm>
          <a:prstGeom prst="rect">
            <a:avLst/>
          </a:prstGeom>
          <a:noFill/>
          <a:ln w="9525">
            <a:noFill/>
            <a:miter lim="800000"/>
            <a:headEnd/>
            <a:tailEnd/>
          </a:ln>
          <a:effectLst/>
        </p:spPr>
      </p:pic>
      <p:sp>
        <p:nvSpPr>
          <p:cNvPr id="6" name="TekstSylinder 5"/>
          <p:cNvSpPr txBox="1"/>
          <p:nvPr/>
        </p:nvSpPr>
        <p:spPr>
          <a:xfrm>
            <a:off x="4932040" y="1556792"/>
            <a:ext cx="3888432" cy="523220"/>
          </a:xfrm>
          <a:prstGeom prst="rect">
            <a:avLst/>
          </a:prstGeom>
          <a:noFill/>
        </p:spPr>
        <p:txBody>
          <a:bodyPr wrap="square" rtlCol="0">
            <a:spAutoFit/>
          </a:bodyPr>
          <a:lstStyle/>
          <a:p>
            <a:r>
              <a:rPr lang="nb-NO" sz="2800" b="1" dirty="0" smtClean="0">
                <a:solidFill>
                  <a:schemeClr val="accent1"/>
                </a:solidFill>
                <a:latin typeface="+mn-lt"/>
              </a:rPr>
              <a:t>AUDIT IN INDIA</a:t>
            </a:r>
            <a:endParaRPr lang="nb-NO" sz="2800" b="1" dirty="0">
              <a:solidFill>
                <a:schemeClr val="accent1"/>
              </a:solidFill>
              <a:latin typeface="+mn-lt"/>
            </a:endParaRPr>
          </a:p>
        </p:txBody>
      </p:sp>
      <p:sp>
        <p:nvSpPr>
          <p:cNvPr id="7" name="TekstSylinder 6"/>
          <p:cNvSpPr txBox="1"/>
          <p:nvPr/>
        </p:nvSpPr>
        <p:spPr>
          <a:xfrm rot="20803369">
            <a:off x="1555777" y="5596712"/>
            <a:ext cx="3888432" cy="523220"/>
          </a:xfrm>
          <a:prstGeom prst="rect">
            <a:avLst/>
          </a:prstGeom>
          <a:noFill/>
        </p:spPr>
        <p:txBody>
          <a:bodyPr wrap="square" rtlCol="0">
            <a:spAutoFit/>
          </a:bodyPr>
          <a:lstStyle/>
          <a:p>
            <a:r>
              <a:rPr lang="nb-NO" sz="2800" b="1" dirty="0" smtClean="0">
                <a:solidFill>
                  <a:schemeClr val="accent1"/>
                </a:solidFill>
                <a:latin typeface="+mn-lt"/>
              </a:rPr>
              <a:t>THAILAND</a:t>
            </a:r>
            <a:endParaRPr lang="nb-NO" sz="2800" b="1" dirty="0">
              <a:solidFill>
                <a:schemeClr val="accent1"/>
              </a:solidFill>
              <a:latin typeface="+mn-l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7" name="Rett linje 146"/>
          <p:cNvCxnSpPr/>
          <p:nvPr/>
        </p:nvCxnSpPr>
        <p:spPr>
          <a:xfrm rot="16200000" flipH="1">
            <a:off x="-2357438" y="3857626"/>
            <a:ext cx="5572125"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17" name="Rett linje 116"/>
          <p:cNvCxnSpPr/>
          <p:nvPr/>
        </p:nvCxnSpPr>
        <p:spPr>
          <a:xfrm rot="16200000" flipH="1">
            <a:off x="-500063" y="3857626"/>
            <a:ext cx="5572125"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19" name="Rett linje 118"/>
          <p:cNvCxnSpPr/>
          <p:nvPr/>
        </p:nvCxnSpPr>
        <p:spPr>
          <a:xfrm rot="5400000">
            <a:off x="1285875" y="3857626"/>
            <a:ext cx="5572125"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20" name="Rett linje 119"/>
          <p:cNvCxnSpPr/>
          <p:nvPr/>
        </p:nvCxnSpPr>
        <p:spPr>
          <a:xfrm rot="5400000">
            <a:off x="3071812" y="3857626"/>
            <a:ext cx="5572125"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22" name="Rett linje 121"/>
          <p:cNvCxnSpPr/>
          <p:nvPr/>
        </p:nvCxnSpPr>
        <p:spPr>
          <a:xfrm rot="5400000">
            <a:off x="4893469" y="3893344"/>
            <a:ext cx="5643562"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5" name="Rett pil 4"/>
          <p:cNvCxnSpPr/>
          <p:nvPr/>
        </p:nvCxnSpPr>
        <p:spPr>
          <a:xfrm>
            <a:off x="428625" y="1071563"/>
            <a:ext cx="8215313"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512" name="TekstSylinder 13"/>
          <p:cNvSpPr txBox="1">
            <a:spLocks noChangeArrowheads="1"/>
          </p:cNvSpPr>
          <p:nvPr/>
        </p:nvSpPr>
        <p:spPr bwMode="auto">
          <a:xfrm>
            <a:off x="1908175" y="723900"/>
            <a:ext cx="719138" cy="246063"/>
          </a:xfrm>
          <a:prstGeom prst="rect">
            <a:avLst/>
          </a:prstGeom>
          <a:noFill/>
          <a:ln w="9525">
            <a:noFill/>
            <a:miter lim="800000"/>
            <a:headEnd/>
            <a:tailEnd/>
          </a:ln>
        </p:spPr>
        <p:txBody>
          <a:bodyPr>
            <a:spAutoFit/>
          </a:bodyPr>
          <a:lstStyle/>
          <a:p>
            <a:r>
              <a:rPr lang="nb-NO" sz="1000">
                <a:latin typeface="Calibri" pitchFamily="34" charset="0"/>
                <a:ea typeface="MS PGothic" pitchFamily="34" charset="-128"/>
              </a:rPr>
              <a:t>Nov. 2011</a:t>
            </a:r>
          </a:p>
        </p:txBody>
      </p:sp>
      <p:sp>
        <p:nvSpPr>
          <p:cNvPr id="21513" name="TekstSylinder 14"/>
          <p:cNvSpPr txBox="1">
            <a:spLocks noChangeArrowheads="1"/>
          </p:cNvSpPr>
          <p:nvPr/>
        </p:nvSpPr>
        <p:spPr bwMode="auto">
          <a:xfrm>
            <a:off x="3708400" y="723900"/>
            <a:ext cx="792163" cy="246063"/>
          </a:xfrm>
          <a:prstGeom prst="rect">
            <a:avLst/>
          </a:prstGeom>
          <a:noFill/>
          <a:ln w="9525">
            <a:noFill/>
            <a:miter lim="800000"/>
            <a:headEnd/>
            <a:tailEnd/>
          </a:ln>
        </p:spPr>
        <p:txBody>
          <a:bodyPr>
            <a:spAutoFit/>
          </a:bodyPr>
          <a:lstStyle/>
          <a:p>
            <a:r>
              <a:rPr lang="nb-NO" sz="1000">
                <a:latin typeface="Calibri" pitchFamily="34" charset="0"/>
                <a:ea typeface="MS PGothic" pitchFamily="34" charset="-128"/>
              </a:rPr>
              <a:t>Jan. 2011</a:t>
            </a:r>
          </a:p>
        </p:txBody>
      </p:sp>
      <p:sp>
        <p:nvSpPr>
          <p:cNvPr id="21514" name="TekstSylinder 15"/>
          <p:cNvSpPr txBox="1">
            <a:spLocks noChangeArrowheads="1"/>
          </p:cNvSpPr>
          <p:nvPr/>
        </p:nvSpPr>
        <p:spPr bwMode="auto">
          <a:xfrm>
            <a:off x="5643563" y="723900"/>
            <a:ext cx="800100" cy="246063"/>
          </a:xfrm>
          <a:prstGeom prst="rect">
            <a:avLst/>
          </a:prstGeom>
          <a:noFill/>
          <a:ln w="9525">
            <a:noFill/>
            <a:miter lim="800000"/>
            <a:headEnd/>
            <a:tailEnd/>
          </a:ln>
        </p:spPr>
        <p:txBody>
          <a:bodyPr>
            <a:spAutoFit/>
          </a:bodyPr>
          <a:lstStyle/>
          <a:p>
            <a:r>
              <a:rPr lang="nb-NO" sz="1000">
                <a:latin typeface="Calibri" pitchFamily="34" charset="0"/>
                <a:ea typeface="MS PGothic" pitchFamily="34" charset="-128"/>
              </a:rPr>
              <a:t>April 2011</a:t>
            </a:r>
          </a:p>
        </p:txBody>
      </p:sp>
      <p:sp>
        <p:nvSpPr>
          <p:cNvPr id="21515" name="TekstSylinder 16"/>
          <p:cNvSpPr txBox="1">
            <a:spLocks noChangeArrowheads="1"/>
          </p:cNvSpPr>
          <p:nvPr/>
        </p:nvSpPr>
        <p:spPr bwMode="auto">
          <a:xfrm>
            <a:off x="7500938" y="714375"/>
            <a:ext cx="815975" cy="246063"/>
          </a:xfrm>
          <a:prstGeom prst="rect">
            <a:avLst/>
          </a:prstGeom>
          <a:noFill/>
          <a:ln w="9525">
            <a:noFill/>
            <a:miter lim="800000"/>
            <a:headEnd/>
            <a:tailEnd/>
          </a:ln>
        </p:spPr>
        <p:txBody>
          <a:bodyPr>
            <a:spAutoFit/>
          </a:bodyPr>
          <a:lstStyle/>
          <a:p>
            <a:r>
              <a:rPr lang="nb-NO" sz="1000">
                <a:latin typeface="Calibri" pitchFamily="34" charset="0"/>
                <a:ea typeface="MS PGothic" pitchFamily="34" charset="-128"/>
              </a:rPr>
              <a:t>Sept. 2011</a:t>
            </a:r>
          </a:p>
        </p:txBody>
      </p:sp>
      <p:sp>
        <p:nvSpPr>
          <p:cNvPr id="21516" name="TekstSylinder 37"/>
          <p:cNvSpPr txBox="1">
            <a:spLocks noChangeArrowheads="1"/>
          </p:cNvSpPr>
          <p:nvPr/>
        </p:nvSpPr>
        <p:spPr bwMode="auto">
          <a:xfrm>
            <a:off x="71438" y="723900"/>
            <a:ext cx="1285875" cy="246063"/>
          </a:xfrm>
          <a:prstGeom prst="rect">
            <a:avLst/>
          </a:prstGeom>
          <a:noFill/>
          <a:ln w="9525">
            <a:noFill/>
            <a:miter lim="800000"/>
            <a:headEnd/>
            <a:tailEnd/>
          </a:ln>
        </p:spPr>
        <p:txBody>
          <a:bodyPr>
            <a:spAutoFit/>
          </a:bodyPr>
          <a:lstStyle/>
          <a:p>
            <a:r>
              <a:rPr lang="nb-NO" sz="1000" dirty="0" err="1" smtClean="0">
                <a:latin typeface="Calibri" pitchFamily="34" charset="0"/>
              </a:rPr>
              <a:t>October</a:t>
            </a:r>
            <a:r>
              <a:rPr lang="nb-NO" sz="1000" dirty="0" smtClean="0">
                <a:latin typeface="Calibri" pitchFamily="34" charset="0"/>
              </a:rPr>
              <a:t> </a:t>
            </a:r>
            <a:r>
              <a:rPr lang="nb-NO" sz="1000" dirty="0">
                <a:latin typeface="Calibri" pitchFamily="34" charset="0"/>
              </a:rPr>
              <a:t>2010</a:t>
            </a:r>
          </a:p>
        </p:txBody>
      </p:sp>
      <p:grpSp>
        <p:nvGrpSpPr>
          <p:cNvPr id="2" name="Gruppe 120"/>
          <p:cNvGrpSpPr>
            <a:grpSpLocks/>
          </p:cNvGrpSpPr>
          <p:nvPr/>
        </p:nvGrpSpPr>
        <p:grpSpPr bwMode="auto">
          <a:xfrm>
            <a:off x="539750" y="1628775"/>
            <a:ext cx="2016125" cy="431800"/>
            <a:chOff x="785784" y="1571612"/>
            <a:chExt cx="2348138" cy="357190"/>
          </a:xfrm>
        </p:grpSpPr>
        <p:sp>
          <p:nvSpPr>
            <p:cNvPr id="123" name="Femkant 122"/>
            <p:cNvSpPr/>
            <p:nvPr/>
          </p:nvSpPr>
          <p:spPr bwMode="auto">
            <a:xfrm>
              <a:off x="785784" y="1571612"/>
              <a:ext cx="2348138" cy="357190"/>
            </a:xfrm>
            <a:prstGeom prst="homePlate">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b-NO" sz="1200"/>
            </a:p>
          </p:txBody>
        </p:sp>
        <p:sp>
          <p:nvSpPr>
            <p:cNvPr id="21551" name="TekstSylinder 150"/>
            <p:cNvSpPr txBox="1">
              <a:spLocks noChangeArrowheads="1"/>
            </p:cNvSpPr>
            <p:nvPr/>
          </p:nvSpPr>
          <p:spPr bwMode="auto">
            <a:xfrm>
              <a:off x="785786" y="1595134"/>
              <a:ext cx="2348136" cy="330786"/>
            </a:xfrm>
            <a:prstGeom prst="rect">
              <a:avLst/>
            </a:prstGeom>
            <a:noFill/>
            <a:ln w="9525">
              <a:noFill/>
              <a:miter lim="800000"/>
              <a:headEnd/>
              <a:tailEnd/>
            </a:ln>
          </p:spPr>
          <p:txBody>
            <a:bodyPr>
              <a:spAutoFit/>
            </a:bodyPr>
            <a:lstStyle/>
            <a:p>
              <a:r>
                <a:rPr lang="nb-NO" sz="1000">
                  <a:latin typeface="Calibri" pitchFamily="34" charset="0"/>
                </a:rPr>
                <a:t>Dato: Egenrapp.skjema trinn 1til leverandører. Svarfrist 25.10.2010.</a:t>
              </a:r>
            </a:p>
          </p:txBody>
        </p:sp>
      </p:grpSp>
      <p:grpSp>
        <p:nvGrpSpPr>
          <p:cNvPr id="3" name="Gruppe 124"/>
          <p:cNvGrpSpPr>
            <a:grpSpLocks/>
          </p:cNvGrpSpPr>
          <p:nvPr/>
        </p:nvGrpSpPr>
        <p:grpSpPr bwMode="auto">
          <a:xfrm>
            <a:off x="395288" y="1125538"/>
            <a:ext cx="1223962" cy="485775"/>
            <a:chOff x="428596" y="1142983"/>
            <a:chExt cx="1068147" cy="439798"/>
          </a:xfrm>
        </p:grpSpPr>
        <p:sp>
          <p:nvSpPr>
            <p:cNvPr id="126" name="Femkant 125"/>
            <p:cNvSpPr/>
            <p:nvPr/>
          </p:nvSpPr>
          <p:spPr bwMode="auto">
            <a:xfrm>
              <a:off x="428596" y="1142983"/>
              <a:ext cx="976710" cy="413928"/>
            </a:xfrm>
            <a:prstGeom prst="homePlate">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b-NO" sz="1200"/>
            </a:p>
          </p:txBody>
        </p:sp>
        <p:sp>
          <p:nvSpPr>
            <p:cNvPr id="21549" name="TekstSylinder 72"/>
            <p:cNvSpPr txBox="1">
              <a:spLocks noChangeArrowheads="1"/>
            </p:cNvSpPr>
            <p:nvPr/>
          </p:nvSpPr>
          <p:spPr bwMode="auto">
            <a:xfrm>
              <a:off x="428596" y="1182670"/>
              <a:ext cx="1068147" cy="400111"/>
            </a:xfrm>
            <a:prstGeom prst="rect">
              <a:avLst/>
            </a:prstGeom>
            <a:noFill/>
            <a:ln w="9525">
              <a:noFill/>
              <a:miter lim="800000"/>
              <a:headEnd/>
              <a:tailEnd/>
            </a:ln>
          </p:spPr>
          <p:txBody>
            <a:bodyPr>
              <a:spAutoFit/>
            </a:bodyPr>
            <a:lstStyle/>
            <a:p>
              <a:r>
                <a:rPr lang="nb-NO" sz="1000">
                  <a:latin typeface="Calibri" pitchFamily="34" charset="0"/>
                </a:rPr>
                <a:t>04.10.2010: Kontraktsmøte </a:t>
              </a:r>
            </a:p>
          </p:txBody>
        </p:sp>
      </p:grpSp>
      <p:sp>
        <p:nvSpPr>
          <p:cNvPr id="21519" name="Rectangle 2"/>
          <p:cNvSpPr txBox="1">
            <a:spLocks noChangeArrowheads="1"/>
          </p:cNvSpPr>
          <p:nvPr/>
        </p:nvSpPr>
        <p:spPr bwMode="auto">
          <a:xfrm>
            <a:off x="142875" y="142875"/>
            <a:ext cx="6500813" cy="500063"/>
          </a:xfrm>
          <a:prstGeom prst="rect">
            <a:avLst/>
          </a:prstGeom>
          <a:noFill/>
          <a:ln w="9525">
            <a:noFill/>
            <a:miter lim="800000"/>
            <a:headEnd/>
            <a:tailEnd/>
          </a:ln>
        </p:spPr>
        <p:txBody>
          <a:bodyPr/>
          <a:lstStyle/>
          <a:p>
            <a:r>
              <a:rPr lang="nb-NO" sz="3600" dirty="0" smtClean="0">
                <a:solidFill>
                  <a:schemeClr val="accent2">
                    <a:lumMod val="75000"/>
                  </a:schemeClr>
                </a:solidFill>
              </a:rPr>
              <a:t>Case 1, </a:t>
            </a:r>
            <a:r>
              <a:rPr lang="nb-NO" sz="3600" dirty="0" err="1" smtClean="0">
                <a:solidFill>
                  <a:schemeClr val="accent2">
                    <a:lumMod val="75000"/>
                  </a:schemeClr>
                </a:solidFill>
              </a:rPr>
              <a:t>Textiles</a:t>
            </a:r>
            <a:r>
              <a:rPr lang="nb-NO" sz="3600" dirty="0" smtClean="0">
                <a:solidFill>
                  <a:schemeClr val="accent2">
                    <a:lumMod val="75000"/>
                  </a:schemeClr>
                </a:solidFill>
              </a:rPr>
              <a:t> in India</a:t>
            </a:r>
            <a:endParaRPr lang="en-GB" sz="3600" dirty="0">
              <a:solidFill>
                <a:schemeClr val="accent2">
                  <a:lumMod val="75000"/>
                </a:schemeClr>
              </a:solidFill>
              <a:latin typeface="Calibri" pitchFamily="34" charset="0"/>
            </a:endParaRPr>
          </a:p>
        </p:txBody>
      </p:sp>
      <p:sp>
        <p:nvSpPr>
          <p:cNvPr id="61" name="Plassholder for lysbildenummer 60"/>
          <p:cNvSpPr>
            <a:spLocks noGrp="1"/>
          </p:cNvSpPr>
          <p:nvPr>
            <p:ph type="sldNum" sz="quarter" idx="12"/>
          </p:nvPr>
        </p:nvSpPr>
        <p:spPr/>
        <p:txBody>
          <a:bodyPr/>
          <a:lstStyle/>
          <a:p>
            <a:pPr>
              <a:defRPr/>
            </a:pPr>
            <a:fld id="{9EB015BF-9D0E-4E11-8393-5E42E2C63F84}" type="slidenum">
              <a:rPr lang="nb-NO" smtClean="0"/>
              <a:pPr>
                <a:defRPr/>
              </a:pPr>
              <a:t>12</a:t>
            </a:fld>
            <a:endParaRPr lang="nb-NO" dirty="0"/>
          </a:p>
        </p:txBody>
      </p:sp>
      <p:grpSp>
        <p:nvGrpSpPr>
          <p:cNvPr id="4" name="Gruppe 120"/>
          <p:cNvGrpSpPr>
            <a:grpSpLocks/>
          </p:cNvGrpSpPr>
          <p:nvPr/>
        </p:nvGrpSpPr>
        <p:grpSpPr bwMode="auto">
          <a:xfrm>
            <a:off x="971550" y="2133600"/>
            <a:ext cx="2016125" cy="431800"/>
            <a:chOff x="785785" y="1571612"/>
            <a:chExt cx="2000266" cy="357190"/>
          </a:xfrm>
        </p:grpSpPr>
        <p:sp>
          <p:nvSpPr>
            <p:cNvPr id="65" name="Femkant 64"/>
            <p:cNvSpPr/>
            <p:nvPr/>
          </p:nvSpPr>
          <p:spPr bwMode="auto">
            <a:xfrm>
              <a:off x="785785" y="1571612"/>
              <a:ext cx="2000266" cy="357190"/>
            </a:xfrm>
            <a:prstGeom prst="homePlate">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b-NO" sz="1200"/>
            </a:p>
          </p:txBody>
        </p:sp>
        <p:sp>
          <p:nvSpPr>
            <p:cNvPr id="21547" name="TekstSylinder 150"/>
            <p:cNvSpPr txBox="1">
              <a:spLocks noChangeArrowheads="1"/>
            </p:cNvSpPr>
            <p:nvPr/>
          </p:nvSpPr>
          <p:spPr bwMode="auto">
            <a:xfrm>
              <a:off x="785786" y="1571612"/>
              <a:ext cx="2000265" cy="330786"/>
            </a:xfrm>
            <a:prstGeom prst="rect">
              <a:avLst/>
            </a:prstGeom>
            <a:noFill/>
            <a:ln w="9525">
              <a:noFill/>
              <a:miter lim="800000"/>
              <a:headEnd/>
              <a:tailEnd/>
            </a:ln>
          </p:spPr>
          <p:txBody>
            <a:bodyPr>
              <a:spAutoFit/>
            </a:bodyPr>
            <a:lstStyle/>
            <a:p>
              <a:r>
                <a:rPr lang="nb-NO" sz="1000">
                  <a:latin typeface="Calibri" pitchFamily="34" charset="0"/>
                </a:rPr>
                <a:t>Dato: Egenrapp.skjema til produsenter. Returnert 05.11.2011</a:t>
              </a:r>
            </a:p>
          </p:txBody>
        </p:sp>
      </p:grpSp>
      <p:grpSp>
        <p:nvGrpSpPr>
          <p:cNvPr id="6" name="Gruppe 120"/>
          <p:cNvGrpSpPr>
            <a:grpSpLocks/>
          </p:cNvGrpSpPr>
          <p:nvPr/>
        </p:nvGrpSpPr>
        <p:grpSpPr bwMode="auto">
          <a:xfrm>
            <a:off x="2347913" y="3068638"/>
            <a:ext cx="1576387" cy="400050"/>
            <a:chOff x="785785" y="1571611"/>
            <a:chExt cx="2000266" cy="362926"/>
          </a:xfrm>
        </p:grpSpPr>
        <p:sp>
          <p:nvSpPr>
            <p:cNvPr id="76" name="Femkant 75"/>
            <p:cNvSpPr/>
            <p:nvPr/>
          </p:nvSpPr>
          <p:spPr bwMode="auto">
            <a:xfrm>
              <a:off x="785785" y="1571611"/>
              <a:ext cx="2000266" cy="357165"/>
            </a:xfrm>
            <a:prstGeom prst="homePlate">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b-NO" sz="1200"/>
            </a:p>
          </p:txBody>
        </p:sp>
        <p:sp>
          <p:nvSpPr>
            <p:cNvPr id="21545" name="TekstSylinder 150"/>
            <p:cNvSpPr txBox="1">
              <a:spLocks noChangeArrowheads="1"/>
            </p:cNvSpPr>
            <p:nvPr/>
          </p:nvSpPr>
          <p:spPr bwMode="auto">
            <a:xfrm>
              <a:off x="785786" y="1571611"/>
              <a:ext cx="2000265" cy="362926"/>
            </a:xfrm>
            <a:prstGeom prst="rect">
              <a:avLst/>
            </a:prstGeom>
            <a:noFill/>
            <a:ln w="9525">
              <a:noFill/>
              <a:miter lim="800000"/>
              <a:headEnd/>
              <a:tailEnd/>
            </a:ln>
          </p:spPr>
          <p:txBody>
            <a:bodyPr>
              <a:spAutoFit/>
            </a:bodyPr>
            <a:lstStyle/>
            <a:p>
              <a:r>
                <a:rPr lang="nb-NO" sz="1000">
                  <a:latin typeface="Calibri" pitchFamily="34" charset="0"/>
                </a:rPr>
                <a:t>Dato: Vurdering av skjema  trinn 1 for leverandører</a:t>
              </a:r>
            </a:p>
          </p:txBody>
        </p:sp>
      </p:grpSp>
      <p:grpSp>
        <p:nvGrpSpPr>
          <p:cNvPr id="7" name="Gruppe 120"/>
          <p:cNvGrpSpPr>
            <a:grpSpLocks/>
          </p:cNvGrpSpPr>
          <p:nvPr/>
        </p:nvGrpSpPr>
        <p:grpSpPr bwMode="auto">
          <a:xfrm>
            <a:off x="2355850" y="2636838"/>
            <a:ext cx="1568450" cy="400050"/>
            <a:chOff x="785785" y="1571609"/>
            <a:chExt cx="2000266" cy="362926"/>
          </a:xfrm>
        </p:grpSpPr>
        <p:sp>
          <p:nvSpPr>
            <p:cNvPr id="79" name="Femkant 78"/>
            <p:cNvSpPr/>
            <p:nvPr/>
          </p:nvSpPr>
          <p:spPr bwMode="auto">
            <a:xfrm>
              <a:off x="785785" y="1571609"/>
              <a:ext cx="2000266" cy="357165"/>
            </a:xfrm>
            <a:prstGeom prst="homePlate">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b-NO" sz="1200"/>
            </a:p>
          </p:txBody>
        </p:sp>
        <p:sp>
          <p:nvSpPr>
            <p:cNvPr id="21543" name="TekstSylinder 150"/>
            <p:cNvSpPr txBox="1">
              <a:spLocks noChangeArrowheads="1"/>
            </p:cNvSpPr>
            <p:nvPr/>
          </p:nvSpPr>
          <p:spPr bwMode="auto">
            <a:xfrm>
              <a:off x="785786" y="1571609"/>
              <a:ext cx="2000265" cy="362926"/>
            </a:xfrm>
            <a:prstGeom prst="rect">
              <a:avLst/>
            </a:prstGeom>
            <a:noFill/>
            <a:ln w="9525">
              <a:noFill/>
              <a:miter lim="800000"/>
              <a:headEnd/>
              <a:tailEnd/>
            </a:ln>
          </p:spPr>
          <p:txBody>
            <a:bodyPr>
              <a:spAutoFit/>
            </a:bodyPr>
            <a:lstStyle/>
            <a:p>
              <a:r>
                <a:rPr lang="nb-NO" sz="1000">
                  <a:latin typeface="Calibri" pitchFamily="34" charset="0"/>
                </a:rPr>
                <a:t>Dato: Risikoanalyse av skjema for produsenter</a:t>
              </a:r>
            </a:p>
          </p:txBody>
        </p:sp>
      </p:grpSp>
      <p:grpSp>
        <p:nvGrpSpPr>
          <p:cNvPr id="8" name="Gruppe 120"/>
          <p:cNvGrpSpPr>
            <a:grpSpLocks/>
          </p:cNvGrpSpPr>
          <p:nvPr/>
        </p:nvGrpSpPr>
        <p:grpSpPr bwMode="auto">
          <a:xfrm>
            <a:off x="3132138" y="3500438"/>
            <a:ext cx="1727200" cy="433387"/>
            <a:chOff x="785785" y="1564493"/>
            <a:chExt cx="2000266" cy="364309"/>
          </a:xfrm>
        </p:grpSpPr>
        <p:sp>
          <p:nvSpPr>
            <p:cNvPr id="82" name="Femkant 81"/>
            <p:cNvSpPr/>
            <p:nvPr/>
          </p:nvSpPr>
          <p:spPr bwMode="auto">
            <a:xfrm>
              <a:off x="785785" y="1571165"/>
              <a:ext cx="2000266" cy="357637"/>
            </a:xfrm>
            <a:prstGeom prst="homePlate">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b-NO" sz="1200"/>
            </a:p>
          </p:txBody>
        </p:sp>
        <p:sp>
          <p:nvSpPr>
            <p:cNvPr id="21541" name="TekstSylinder 150"/>
            <p:cNvSpPr txBox="1">
              <a:spLocks noChangeArrowheads="1"/>
            </p:cNvSpPr>
            <p:nvPr/>
          </p:nvSpPr>
          <p:spPr bwMode="auto">
            <a:xfrm>
              <a:off x="785786" y="1564493"/>
              <a:ext cx="2000265" cy="350355"/>
            </a:xfrm>
            <a:prstGeom prst="rect">
              <a:avLst/>
            </a:prstGeom>
            <a:noFill/>
            <a:ln w="9525">
              <a:noFill/>
              <a:miter lim="800000"/>
              <a:headEnd/>
              <a:tailEnd/>
            </a:ln>
          </p:spPr>
          <p:txBody>
            <a:bodyPr>
              <a:spAutoFit/>
            </a:bodyPr>
            <a:lstStyle/>
            <a:p>
              <a:r>
                <a:rPr lang="nb-NO" sz="1000">
                  <a:latin typeface="Calibri" pitchFamily="34" charset="0"/>
                </a:rPr>
                <a:t>Des.: Besluttet  å foreta kontroll hos produsent i India</a:t>
              </a:r>
            </a:p>
          </p:txBody>
        </p:sp>
      </p:grpSp>
      <p:grpSp>
        <p:nvGrpSpPr>
          <p:cNvPr id="9" name="Gruppe 120"/>
          <p:cNvGrpSpPr>
            <a:grpSpLocks/>
          </p:cNvGrpSpPr>
          <p:nvPr/>
        </p:nvGrpSpPr>
        <p:grpSpPr bwMode="auto">
          <a:xfrm>
            <a:off x="3276600" y="4005263"/>
            <a:ext cx="2447925" cy="431800"/>
            <a:chOff x="785785" y="1571612"/>
            <a:chExt cx="2000265" cy="357190"/>
          </a:xfrm>
        </p:grpSpPr>
        <p:sp>
          <p:nvSpPr>
            <p:cNvPr id="85" name="Femkant 84"/>
            <p:cNvSpPr/>
            <p:nvPr/>
          </p:nvSpPr>
          <p:spPr bwMode="auto">
            <a:xfrm>
              <a:off x="785785" y="1571612"/>
              <a:ext cx="2000265" cy="357190"/>
            </a:xfrm>
            <a:prstGeom prst="homePlate">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b-NO" sz="1200"/>
            </a:p>
          </p:txBody>
        </p:sp>
        <p:sp>
          <p:nvSpPr>
            <p:cNvPr id="21539" name="TekstSylinder 150"/>
            <p:cNvSpPr txBox="1">
              <a:spLocks noChangeArrowheads="1"/>
            </p:cNvSpPr>
            <p:nvPr/>
          </p:nvSpPr>
          <p:spPr bwMode="auto">
            <a:xfrm>
              <a:off x="785786" y="1571613"/>
              <a:ext cx="1941434" cy="269075"/>
            </a:xfrm>
            <a:prstGeom prst="rect">
              <a:avLst/>
            </a:prstGeom>
            <a:noFill/>
            <a:ln w="9525">
              <a:noFill/>
              <a:miter lim="800000"/>
              <a:headEnd/>
              <a:tailEnd/>
            </a:ln>
          </p:spPr>
          <p:txBody>
            <a:bodyPr>
              <a:spAutoFit/>
            </a:bodyPr>
            <a:lstStyle/>
            <a:p>
              <a:r>
                <a:rPr lang="nb-NO" sz="1000">
                  <a:latin typeface="Calibri" pitchFamily="34" charset="0"/>
                </a:rPr>
                <a:t>Des: Oppdragsbeskrivelse utarbeides, forespørsel til tre leverandører per e-post</a:t>
              </a:r>
            </a:p>
          </p:txBody>
        </p:sp>
      </p:grpSp>
      <p:grpSp>
        <p:nvGrpSpPr>
          <p:cNvPr id="10" name="Gruppe 120"/>
          <p:cNvGrpSpPr>
            <a:grpSpLocks/>
          </p:cNvGrpSpPr>
          <p:nvPr/>
        </p:nvGrpSpPr>
        <p:grpSpPr bwMode="auto">
          <a:xfrm>
            <a:off x="4148138" y="4508500"/>
            <a:ext cx="1576387" cy="433388"/>
            <a:chOff x="785785" y="1564493"/>
            <a:chExt cx="2000266" cy="404854"/>
          </a:xfrm>
        </p:grpSpPr>
        <p:sp>
          <p:nvSpPr>
            <p:cNvPr id="88" name="Femkant 87"/>
            <p:cNvSpPr/>
            <p:nvPr/>
          </p:nvSpPr>
          <p:spPr bwMode="auto">
            <a:xfrm>
              <a:off x="785785" y="1571908"/>
              <a:ext cx="2000266" cy="357398"/>
            </a:xfrm>
            <a:prstGeom prst="homePlate">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b-NO" sz="1200"/>
            </a:p>
          </p:txBody>
        </p:sp>
        <p:sp>
          <p:nvSpPr>
            <p:cNvPr id="21537" name="TekstSylinder 150"/>
            <p:cNvSpPr txBox="1">
              <a:spLocks noChangeArrowheads="1"/>
            </p:cNvSpPr>
            <p:nvPr/>
          </p:nvSpPr>
          <p:spPr bwMode="auto">
            <a:xfrm>
              <a:off x="785786" y="1564493"/>
              <a:ext cx="2000265" cy="404854"/>
            </a:xfrm>
            <a:prstGeom prst="rect">
              <a:avLst/>
            </a:prstGeom>
            <a:noFill/>
            <a:ln w="9525">
              <a:noFill/>
              <a:miter lim="800000"/>
              <a:headEnd/>
              <a:tailEnd/>
            </a:ln>
          </p:spPr>
          <p:txBody>
            <a:bodyPr>
              <a:spAutoFit/>
            </a:bodyPr>
            <a:lstStyle/>
            <a:p>
              <a:r>
                <a:rPr lang="nb-NO" sz="1000">
                  <a:latin typeface="Calibri" pitchFamily="34" charset="0"/>
                </a:rPr>
                <a:t>Jan.: Level Works tildeles oppdraget</a:t>
              </a:r>
            </a:p>
          </p:txBody>
        </p:sp>
      </p:grpSp>
      <p:grpSp>
        <p:nvGrpSpPr>
          <p:cNvPr id="11" name="Gruppe 120"/>
          <p:cNvGrpSpPr>
            <a:grpSpLocks/>
          </p:cNvGrpSpPr>
          <p:nvPr/>
        </p:nvGrpSpPr>
        <p:grpSpPr bwMode="auto">
          <a:xfrm>
            <a:off x="4572000" y="4941888"/>
            <a:ext cx="1719263" cy="431800"/>
            <a:chOff x="785785" y="1564495"/>
            <a:chExt cx="2000266" cy="364307"/>
          </a:xfrm>
        </p:grpSpPr>
        <p:sp>
          <p:nvSpPr>
            <p:cNvPr id="91" name="Femkant 90"/>
            <p:cNvSpPr/>
            <p:nvPr/>
          </p:nvSpPr>
          <p:spPr bwMode="auto">
            <a:xfrm>
              <a:off x="785785" y="1571191"/>
              <a:ext cx="2000266" cy="357611"/>
            </a:xfrm>
            <a:prstGeom prst="homePlate">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b-NO" sz="1200"/>
            </a:p>
          </p:txBody>
        </p:sp>
        <p:sp>
          <p:nvSpPr>
            <p:cNvPr id="21535" name="TekstSylinder 150"/>
            <p:cNvSpPr txBox="1">
              <a:spLocks noChangeArrowheads="1"/>
            </p:cNvSpPr>
            <p:nvPr/>
          </p:nvSpPr>
          <p:spPr bwMode="auto">
            <a:xfrm>
              <a:off x="785786" y="1564495"/>
              <a:ext cx="2000265" cy="274716"/>
            </a:xfrm>
            <a:prstGeom prst="rect">
              <a:avLst/>
            </a:prstGeom>
            <a:noFill/>
            <a:ln w="9525">
              <a:noFill/>
              <a:miter lim="800000"/>
              <a:headEnd/>
              <a:tailEnd/>
            </a:ln>
          </p:spPr>
          <p:txBody>
            <a:bodyPr>
              <a:spAutoFit/>
            </a:bodyPr>
            <a:lstStyle/>
            <a:p>
              <a:r>
                <a:rPr lang="nb-NO" sz="1000">
                  <a:latin typeface="Calibri" pitchFamily="34" charset="0"/>
                </a:rPr>
                <a:t>Medio feb.: Semi-annonsert kontroll. Rapport og CAP</a:t>
              </a:r>
            </a:p>
          </p:txBody>
        </p:sp>
      </p:grpSp>
      <p:grpSp>
        <p:nvGrpSpPr>
          <p:cNvPr id="12" name="Gruppe 120"/>
          <p:cNvGrpSpPr>
            <a:grpSpLocks/>
          </p:cNvGrpSpPr>
          <p:nvPr/>
        </p:nvGrpSpPr>
        <p:grpSpPr bwMode="auto">
          <a:xfrm>
            <a:off x="5219700" y="5445125"/>
            <a:ext cx="1873250" cy="576263"/>
            <a:chOff x="785785" y="1564492"/>
            <a:chExt cx="2000266" cy="364310"/>
          </a:xfrm>
        </p:grpSpPr>
        <p:sp>
          <p:nvSpPr>
            <p:cNvPr id="94" name="Femkant 93"/>
            <p:cNvSpPr/>
            <p:nvPr/>
          </p:nvSpPr>
          <p:spPr bwMode="auto">
            <a:xfrm>
              <a:off x="785785" y="1571518"/>
              <a:ext cx="2000266" cy="357284"/>
            </a:xfrm>
            <a:prstGeom prst="homePlate">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b-NO" sz="1200"/>
            </a:p>
          </p:txBody>
        </p:sp>
        <p:sp>
          <p:nvSpPr>
            <p:cNvPr id="21533" name="TekstSylinder 150"/>
            <p:cNvSpPr txBox="1">
              <a:spLocks noChangeArrowheads="1"/>
            </p:cNvSpPr>
            <p:nvPr/>
          </p:nvSpPr>
          <p:spPr bwMode="auto">
            <a:xfrm>
              <a:off x="785786" y="1564492"/>
              <a:ext cx="2000265" cy="350355"/>
            </a:xfrm>
            <a:prstGeom prst="rect">
              <a:avLst/>
            </a:prstGeom>
            <a:noFill/>
            <a:ln w="9525">
              <a:noFill/>
              <a:miter lim="800000"/>
              <a:headEnd/>
              <a:tailEnd/>
            </a:ln>
          </p:spPr>
          <p:txBody>
            <a:bodyPr>
              <a:spAutoFit/>
            </a:bodyPr>
            <a:lstStyle/>
            <a:p>
              <a:r>
                <a:rPr lang="nb-NO" sz="1000">
                  <a:latin typeface="Calibri" pitchFamily="34" charset="0"/>
                </a:rPr>
                <a:t>Medio mars: Brev til SWM med rapport, CAP og vedleggsbrev med frister for utbedring</a:t>
              </a:r>
            </a:p>
          </p:txBody>
        </p:sp>
      </p:grpSp>
      <p:grpSp>
        <p:nvGrpSpPr>
          <p:cNvPr id="13" name="Gruppe 120"/>
          <p:cNvGrpSpPr>
            <a:grpSpLocks/>
          </p:cNvGrpSpPr>
          <p:nvPr/>
        </p:nvGrpSpPr>
        <p:grpSpPr bwMode="auto">
          <a:xfrm>
            <a:off x="6156325" y="6092825"/>
            <a:ext cx="1584325" cy="431800"/>
            <a:chOff x="785785" y="1564492"/>
            <a:chExt cx="2000266" cy="364310"/>
          </a:xfrm>
        </p:grpSpPr>
        <p:sp>
          <p:nvSpPr>
            <p:cNvPr id="97" name="Femkant 96"/>
            <p:cNvSpPr/>
            <p:nvPr/>
          </p:nvSpPr>
          <p:spPr bwMode="auto">
            <a:xfrm>
              <a:off x="785785" y="1571189"/>
              <a:ext cx="2000266" cy="357613"/>
            </a:xfrm>
            <a:prstGeom prst="homePlate">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b-NO" sz="1200"/>
            </a:p>
          </p:txBody>
        </p:sp>
        <p:sp>
          <p:nvSpPr>
            <p:cNvPr id="21531" name="TekstSylinder 150"/>
            <p:cNvSpPr txBox="1">
              <a:spLocks noChangeArrowheads="1"/>
            </p:cNvSpPr>
            <p:nvPr/>
          </p:nvSpPr>
          <p:spPr bwMode="auto">
            <a:xfrm>
              <a:off x="785786" y="1564492"/>
              <a:ext cx="2000265" cy="253034"/>
            </a:xfrm>
            <a:prstGeom prst="rect">
              <a:avLst/>
            </a:prstGeom>
            <a:noFill/>
            <a:ln w="9525">
              <a:noFill/>
              <a:miter lim="800000"/>
              <a:headEnd/>
              <a:tailEnd/>
            </a:ln>
          </p:spPr>
          <p:txBody>
            <a:bodyPr>
              <a:spAutoFit/>
            </a:bodyPr>
            <a:lstStyle/>
            <a:p>
              <a:r>
                <a:rPr lang="nb-NO" sz="1000">
                  <a:latin typeface="Calibri" pitchFamily="34" charset="0"/>
                </a:rPr>
                <a:t>Mai: Oppfølging hos produsent. God fremdrift.</a:t>
              </a: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pPr algn="l">
              <a:defRPr/>
            </a:pPr>
            <a:r>
              <a:rPr lang="nb-NO" dirty="0" smtClean="0"/>
              <a:t>Letter to </a:t>
            </a:r>
            <a:r>
              <a:rPr lang="nb-NO" dirty="0" err="1" smtClean="0"/>
              <a:t>the</a:t>
            </a:r>
            <a:r>
              <a:rPr lang="nb-NO" dirty="0" smtClean="0"/>
              <a:t> </a:t>
            </a:r>
            <a:r>
              <a:rPr lang="nb-NO" dirty="0" err="1" smtClean="0"/>
              <a:t>fabric</a:t>
            </a:r>
            <a:r>
              <a:rPr lang="nb-NO" dirty="0" smtClean="0"/>
              <a:t> in India</a:t>
            </a:r>
            <a:endParaRPr lang="nb-NO" dirty="0"/>
          </a:p>
        </p:txBody>
      </p:sp>
      <p:sp>
        <p:nvSpPr>
          <p:cNvPr id="16387" name="Plassholder for innhold 2"/>
          <p:cNvSpPr>
            <a:spLocks noGrp="1"/>
          </p:cNvSpPr>
          <p:nvPr>
            <p:ph idx="1"/>
          </p:nvPr>
        </p:nvSpPr>
        <p:spPr>
          <a:xfrm>
            <a:off x="457200" y="1412875"/>
            <a:ext cx="8229600" cy="4713288"/>
          </a:xfrm>
        </p:spPr>
        <p:txBody>
          <a:bodyPr/>
          <a:lstStyle/>
          <a:p>
            <a:pPr>
              <a:buFont typeface="Arial" pitchFamily="34" charset="0"/>
              <a:buNone/>
            </a:pPr>
            <a:r>
              <a:rPr lang="en-US" sz="1400" smtClean="0"/>
              <a:t>Dear sir </a:t>
            </a:r>
            <a:br>
              <a:rPr lang="en-US" sz="1400" smtClean="0"/>
            </a:br>
            <a:r>
              <a:rPr lang="en-US" sz="1400" smtClean="0"/>
              <a:t/>
            </a:r>
            <a:br>
              <a:rPr lang="en-US" sz="1400" smtClean="0"/>
            </a:br>
            <a:r>
              <a:rPr lang="en-US" sz="1400" smtClean="0"/>
              <a:t>As you will know our company are supplying the type of garments we are now going to produce in Karlegroup to the Norwegian public hospitals. </a:t>
            </a:r>
            <a:endParaRPr lang="nb-NO" sz="1400" smtClean="0"/>
          </a:p>
          <a:p>
            <a:pPr>
              <a:buFont typeface="Arial" pitchFamily="34" charset="0"/>
              <a:buNone/>
            </a:pPr>
            <a:r>
              <a:rPr lang="en-US" sz="1400" smtClean="0"/>
              <a:t/>
            </a:r>
            <a:br>
              <a:rPr lang="en-US" sz="1400" smtClean="0"/>
            </a:br>
            <a:r>
              <a:rPr lang="en-US" sz="1400" smtClean="0"/>
              <a:t>As part of the tender we got, are also the rules with e.i. the Code of Conduct you were signing. One rule which we also have to comply with is that the companies with whom we are dealing / producing must open for a so called Social Audit. </a:t>
            </a:r>
            <a:br>
              <a:rPr lang="en-US" sz="1400" smtClean="0"/>
            </a:br>
            <a:r>
              <a:rPr lang="en-US" sz="1400" smtClean="0"/>
              <a:t/>
            </a:r>
            <a:br>
              <a:rPr lang="en-US" sz="1400" smtClean="0"/>
            </a:br>
            <a:r>
              <a:rPr lang="en-US" sz="1400" smtClean="0"/>
              <a:t>For what I know you might be familiar with this from others of your international customers. However I herewith inform that this Social Audit will be carried out by a company called: Level Works, a worldwide reckoned company doing this type of work. They have in mind being there on the 18. and / or the 19. of January, but will contact you for further details.</a:t>
            </a:r>
            <a:br>
              <a:rPr lang="en-US" sz="1400" smtClean="0"/>
            </a:br>
            <a:r>
              <a:rPr lang="en-US" sz="1400" smtClean="0"/>
              <a:t/>
            </a:r>
            <a:br>
              <a:rPr lang="en-US" sz="1400" smtClean="0"/>
            </a:br>
            <a:r>
              <a:rPr lang="en-US" sz="1400" smtClean="0"/>
              <a:t>For the sake of good order, and to avoid any insecureness regarding our relation I herewith state that: </a:t>
            </a:r>
            <a:br>
              <a:rPr lang="en-US" sz="1400" smtClean="0"/>
            </a:br>
            <a:r>
              <a:rPr lang="en-US" sz="1400" smtClean="0"/>
              <a:t/>
            </a:r>
            <a:br>
              <a:rPr lang="en-US" sz="1400" smtClean="0"/>
            </a:br>
            <a:r>
              <a:rPr lang="en-US" sz="1400" b="1" smtClean="0"/>
              <a:t>We will not penalize the factory / Karlegroup if for some reason the audit should show that you are breaching local law or ILO Convention. </a:t>
            </a:r>
            <a:br>
              <a:rPr lang="en-US" sz="1400" b="1" smtClean="0"/>
            </a:br>
            <a:r>
              <a:rPr lang="en-US" sz="1400" smtClean="0"/>
              <a:t/>
            </a:r>
            <a:br>
              <a:rPr lang="en-US" sz="1400" smtClean="0"/>
            </a:br>
            <a:r>
              <a:rPr lang="en-US" sz="1400" smtClean="0"/>
              <a:t>We have given you and xx as contact persons. In case you would want anyone else, or someone in addition, to be involved; please let me know. </a:t>
            </a:r>
            <a:br>
              <a:rPr lang="en-US" sz="1400" smtClean="0"/>
            </a:br>
            <a:r>
              <a:rPr lang="en-US" sz="1400" smtClean="0"/>
              <a:t/>
            </a:r>
            <a:br>
              <a:rPr lang="en-US" sz="1400" smtClean="0"/>
            </a:br>
            <a:r>
              <a:rPr lang="en-GB" sz="1400" smtClean="0"/>
              <a:t>Best regards</a:t>
            </a:r>
            <a:endParaRPr lang="nb-NO" sz="1400" smtClean="0"/>
          </a:p>
          <a:p>
            <a:endParaRPr lang="nb-NO"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err="1" smtClean="0"/>
              <a:t>Some</a:t>
            </a:r>
            <a:r>
              <a:rPr lang="nb-NO" dirty="0" smtClean="0"/>
              <a:t> </a:t>
            </a:r>
            <a:r>
              <a:rPr lang="nb-NO" dirty="0" err="1" smtClean="0"/>
              <a:t>pictures</a:t>
            </a:r>
            <a:endParaRPr lang="nb-NO" dirty="0"/>
          </a:p>
        </p:txBody>
      </p:sp>
      <p:sp>
        <p:nvSpPr>
          <p:cNvPr id="3" name="Plassholder for innhold 2"/>
          <p:cNvSpPr>
            <a:spLocks noGrp="1"/>
          </p:cNvSpPr>
          <p:nvPr>
            <p:ph idx="1"/>
          </p:nvPr>
        </p:nvSpPr>
        <p:spPr/>
        <p:txBody>
          <a:bodyPr/>
          <a:lstStyle/>
          <a:p>
            <a:endParaRPr lang="nb-NO"/>
          </a:p>
        </p:txBody>
      </p:sp>
      <p:pic>
        <p:nvPicPr>
          <p:cNvPr id="30722" name="Picture 2"/>
          <p:cNvPicPr>
            <a:picLocks noChangeAspect="1" noChangeArrowheads="1"/>
          </p:cNvPicPr>
          <p:nvPr/>
        </p:nvPicPr>
        <p:blipFill>
          <a:blip r:embed="rId2" cstate="print"/>
          <a:srcRect/>
          <a:stretch>
            <a:fillRect/>
          </a:stretch>
        </p:blipFill>
        <p:spPr bwMode="auto">
          <a:xfrm>
            <a:off x="144463" y="0"/>
            <a:ext cx="8999537" cy="87423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err="1" smtClean="0"/>
              <a:t>Cap</a:t>
            </a:r>
            <a:r>
              <a:rPr lang="nb-NO" dirty="0" smtClean="0"/>
              <a:t> – </a:t>
            </a:r>
            <a:r>
              <a:rPr lang="nb-NO" dirty="0" err="1" smtClean="0"/>
              <a:t>Correction</a:t>
            </a:r>
            <a:r>
              <a:rPr lang="nb-NO" dirty="0" smtClean="0"/>
              <a:t> Action Plan</a:t>
            </a:r>
            <a:endParaRPr lang="nb-NO" dirty="0"/>
          </a:p>
        </p:txBody>
      </p:sp>
      <p:sp>
        <p:nvSpPr>
          <p:cNvPr id="3" name="Plassholder for innhold 2"/>
          <p:cNvSpPr>
            <a:spLocks noGrp="1"/>
          </p:cNvSpPr>
          <p:nvPr>
            <p:ph idx="1"/>
          </p:nvPr>
        </p:nvSpPr>
        <p:spPr/>
        <p:txBody>
          <a:bodyPr/>
          <a:lstStyle/>
          <a:p>
            <a:r>
              <a:rPr lang="nb-NO" dirty="0" smtClean="0"/>
              <a:t>An </a:t>
            </a:r>
            <a:r>
              <a:rPr lang="nb-NO" dirty="0" err="1" smtClean="0"/>
              <a:t>important</a:t>
            </a:r>
            <a:r>
              <a:rPr lang="nb-NO" dirty="0" smtClean="0"/>
              <a:t> </a:t>
            </a:r>
            <a:r>
              <a:rPr lang="nb-NO" dirty="0" err="1" smtClean="0"/>
              <a:t>tool</a:t>
            </a:r>
            <a:r>
              <a:rPr lang="nb-NO" dirty="0" smtClean="0"/>
              <a:t> for </a:t>
            </a:r>
            <a:r>
              <a:rPr lang="nb-NO" dirty="0" err="1" smtClean="0"/>
              <a:t>improvements</a:t>
            </a:r>
            <a:endParaRPr lang="nb-NO" dirty="0"/>
          </a:p>
        </p:txBody>
      </p:sp>
      <p:graphicFrame>
        <p:nvGraphicFramePr>
          <p:cNvPr id="4" name="Tabell 3"/>
          <p:cNvGraphicFramePr>
            <a:graphicFrameLocks noGrp="1"/>
          </p:cNvGraphicFramePr>
          <p:nvPr/>
        </p:nvGraphicFramePr>
        <p:xfrm>
          <a:off x="899592" y="2060848"/>
          <a:ext cx="7848873" cy="5256583"/>
        </p:xfrm>
        <a:graphic>
          <a:graphicData uri="http://schemas.openxmlformats.org/drawingml/2006/table">
            <a:tbl>
              <a:tblPr/>
              <a:tblGrid>
                <a:gridCol w="782681"/>
                <a:gridCol w="654457"/>
                <a:gridCol w="1161714"/>
                <a:gridCol w="1090420"/>
                <a:gridCol w="726777"/>
                <a:gridCol w="727289"/>
                <a:gridCol w="945270"/>
                <a:gridCol w="1161714"/>
                <a:gridCol w="598551"/>
              </a:tblGrid>
              <a:tr h="268947">
                <a:tc gridSpan="9">
                  <a:txBody>
                    <a:bodyPr/>
                    <a:lstStyle/>
                    <a:p>
                      <a:pPr algn="ctr">
                        <a:spcAft>
                          <a:spcPts val="0"/>
                        </a:spcAft>
                        <a:tabLst>
                          <a:tab pos="5130800" algn="l"/>
                          <a:tab pos="7752080" algn="l"/>
                        </a:tabLst>
                      </a:pPr>
                      <a:r>
                        <a:rPr lang="en-GB" sz="700" b="1" dirty="0">
                          <a:solidFill>
                            <a:srgbClr val="000000"/>
                          </a:solidFill>
                          <a:latin typeface="Calibri"/>
                          <a:ea typeface="Times New Roman"/>
                          <a:cs typeface="Times New Roman"/>
                        </a:rPr>
                        <a:t>Corrective Action Plan</a:t>
                      </a:r>
                      <a:endParaRPr lang="nb-NO" sz="700" b="1" dirty="0">
                        <a:solidFill>
                          <a:srgbClr val="000000"/>
                        </a:solidFill>
                        <a:latin typeface="Calibri"/>
                        <a:ea typeface="Times New Roman"/>
                        <a:cs typeface="Times New Roman"/>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CCCC"/>
                    </a:solidFill>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tr>
              <a:tr h="1013530">
                <a:tc>
                  <a:txBody>
                    <a:bodyPr/>
                    <a:lstStyle/>
                    <a:p>
                      <a:pPr algn="ctr">
                        <a:spcAft>
                          <a:spcPts val="0"/>
                        </a:spcAft>
                      </a:pPr>
                      <a:r>
                        <a:rPr lang="en-GB" sz="500" b="1">
                          <a:solidFill>
                            <a:srgbClr val="000000"/>
                          </a:solidFill>
                          <a:latin typeface="Arial"/>
                          <a:ea typeface="PMingLiU"/>
                          <a:cs typeface="Tahoma"/>
                        </a:rPr>
                        <a:t>Non-Compliance Number</a:t>
                      </a:r>
                      <a:endParaRPr lang="nb-NO" sz="500" b="1">
                        <a:solidFill>
                          <a:srgbClr val="000000"/>
                        </a:solidFill>
                        <a:latin typeface="Arial"/>
                        <a:ea typeface="PMingLiU"/>
                        <a:cs typeface="Tahoma"/>
                      </a:endParaRPr>
                    </a:p>
                    <a:p>
                      <a:pPr algn="ctr">
                        <a:spcAft>
                          <a:spcPts val="0"/>
                        </a:spcAft>
                      </a:pPr>
                      <a:r>
                        <a:rPr lang="en-GB" sz="400" i="1">
                          <a:solidFill>
                            <a:srgbClr val="000000"/>
                          </a:solidFill>
                          <a:latin typeface="Arial"/>
                          <a:ea typeface="PMingLiU"/>
                          <a:cs typeface="Tahoma"/>
                        </a:rPr>
                        <a:t>The reference number of the non-compliance from the Audit Report,</a:t>
                      </a:r>
                      <a:endParaRPr lang="nb-NO" sz="400" i="1">
                        <a:solidFill>
                          <a:srgbClr val="000000"/>
                        </a:solidFill>
                        <a:latin typeface="Arial"/>
                        <a:ea typeface="PMingLiU"/>
                        <a:cs typeface="Tahoma"/>
                      </a:endParaRPr>
                    </a:p>
                    <a:p>
                      <a:pPr algn="ctr">
                        <a:spcAft>
                          <a:spcPts val="0"/>
                        </a:spcAft>
                      </a:pPr>
                      <a:r>
                        <a:rPr lang="en-GB" sz="400" i="1">
                          <a:solidFill>
                            <a:srgbClr val="000000"/>
                          </a:solidFill>
                          <a:latin typeface="Arial"/>
                          <a:ea typeface="PMingLiU"/>
                          <a:cs typeface="Tahoma"/>
                        </a:rPr>
                        <a:t>for example, Discrimination No.7</a:t>
                      </a:r>
                      <a:endParaRPr lang="nb-NO" sz="400" i="1">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spcAft>
                          <a:spcPts val="0"/>
                        </a:spcAft>
                      </a:pPr>
                      <a:r>
                        <a:rPr lang="en-GB" sz="500" b="1">
                          <a:solidFill>
                            <a:srgbClr val="000000"/>
                          </a:solidFill>
                          <a:latin typeface="Arial"/>
                          <a:ea typeface="PMingLiU"/>
                          <a:cs typeface="Tahoma"/>
                        </a:rPr>
                        <a:t>New or Carried Over</a:t>
                      </a:r>
                      <a:endParaRPr lang="nb-NO" sz="500" b="1">
                        <a:solidFill>
                          <a:srgbClr val="000000"/>
                        </a:solidFill>
                        <a:latin typeface="Arial"/>
                        <a:ea typeface="PMingLiU"/>
                        <a:cs typeface="Tahoma"/>
                      </a:endParaRPr>
                    </a:p>
                    <a:p>
                      <a:pPr algn="ctr">
                        <a:spcAft>
                          <a:spcPts val="0"/>
                        </a:spcAft>
                      </a:pPr>
                      <a:r>
                        <a:rPr lang="en-GB" sz="400" i="1">
                          <a:solidFill>
                            <a:srgbClr val="000000"/>
                          </a:solidFill>
                          <a:latin typeface="Arial"/>
                          <a:ea typeface="PMingLiU"/>
                          <a:cs typeface="Tahoma"/>
                        </a:rPr>
                        <a:t>Is this a new non-compliance identified at the follow-up or one carried over (C) that is still outstanding</a:t>
                      </a:r>
                      <a:endParaRPr lang="nb-NO" sz="400" i="1">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spcAft>
                          <a:spcPts val="0"/>
                        </a:spcAft>
                      </a:pPr>
                      <a:r>
                        <a:rPr lang="en-GB" sz="500" b="1">
                          <a:solidFill>
                            <a:srgbClr val="000000"/>
                          </a:solidFill>
                          <a:latin typeface="Arial"/>
                          <a:ea typeface="PMingLiU"/>
                          <a:cs typeface="Tahoma"/>
                        </a:rPr>
                        <a:t>Details of Non-Compliance</a:t>
                      </a:r>
                      <a:endParaRPr lang="nb-NO" sz="500" b="1">
                        <a:solidFill>
                          <a:srgbClr val="000000"/>
                        </a:solidFill>
                        <a:latin typeface="Arial"/>
                        <a:ea typeface="PMingLiU"/>
                        <a:cs typeface="Tahoma"/>
                      </a:endParaRPr>
                    </a:p>
                    <a:p>
                      <a:pPr algn="ctr">
                        <a:spcAft>
                          <a:spcPts val="0"/>
                        </a:spcAft>
                      </a:pPr>
                      <a:r>
                        <a:rPr lang="en-GB" sz="400" i="1">
                          <a:solidFill>
                            <a:srgbClr val="000000"/>
                          </a:solidFill>
                          <a:latin typeface="Arial"/>
                          <a:ea typeface="PMingLiU"/>
                          <a:cs typeface="Tahoma"/>
                        </a:rPr>
                        <a:t>Details of Non-Compliance</a:t>
                      </a:r>
                      <a:endParaRPr lang="nb-NO" sz="400" i="1">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spcAft>
                          <a:spcPts val="0"/>
                        </a:spcAft>
                      </a:pPr>
                      <a:r>
                        <a:rPr lang="en-GB" sz="500" b="1">
                          <a:solidFill>
                            <a:srgbClr val="000000"/>
                          </a:solidFill>
                          <a:latin typeface="Arial"/>
                          <a:ea typeface="PMingLiU"/>
                          <a:cs typeface="Tahoma"/>
                        </a:rPr>
                        <a:t>Recommended Corrective Actions</a:t>
                      </a:r>
                      <a:endParaRPr lang="nb-NO" sz="500" b="1">
                        <a:solidFill>
                          <a:srgbClr val="000000"/>
                        </a:solidFill>
                        <a:latin typeface="Arial"/>
                        <a:ea typeface="PMingLiU"/>
                        <a:cs typeface="Tahoma"/>
                      </a:endParaRPr>
                    </a:p>
                    <a:p>
                      <a:pPr algn="ctr">
                        <a:spcAft>
                          <a:spcPts val="0"/>
                        </a:spcAft>
                      </a:pPr>
                      <a:r>
                        <a:rPr lang="en-GB" sz="400" i="1">
                          <a:solidFill>
                            <a:srgbClr val="000000"/>
                          </a:solidFill>
                          <a:latin typeface="Arial"/>
                          <a:ea typeface="PMingLiU"/>
                          <a:cs typeface="Tahoma"/>
                        </a:rPr>
                        <a:t>Details of actions to be taken to clear non-compliance</a:t>
                      </a:r>
                      <a:endParaRPr lang="nb-NO" sz="400" i="1">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spcAft>
                          <a:spcPts val="0"/>
                        </a:spcAft>
                      </a:pPr>
                      <a:r>
                        <a:rPr lang="en-GB" sz="500" b="1">
                          <a:solidFill>
                            <a:srgbClr val="000000"/>
                          </a:solidFill>
                          <a:latin typeface="Arial"/>
                          <a:ea typeface="PMingLiU"/>
                          <a:cs typeface="Tahoma"/>
                        </a:rPr>
                        <a:t>Recommended Completion Timescale</a:t>
                      </a:r>
                      <a:endParaRPr lang="nb-NO" sz="500" b="1">
                        <a:solidFill>
                          <a:srgbClr val="000000"/>
                        </a:solidFill>
                        <a:latin typeface="Arial"/>
                        <a:ea typeface="PMingLiU"/>
                        <a:cs typeface="Tahoma"/>
                      </a:endParaRPr>
                    </a:p>
                    <a:p>
                      <a:pPr algn="ctr">
                        <a:spcAft>
                          <a:spcPts val="0"/>
                        </a:spcAft>
                      </a:pPr>
                      <a:r>
                        <a:rPr lang="en-GB" sz="400" i="1">
                          <a:solidFill>
                            <a:srgbClr val="000000"/>
                          </a:solidFill>
                          <a:latin typeface="Arial"/>
                          <a:ea typeface="PMingLiU"/>
                          <a:cs typeface="Tahoma"/>
                        </a:rPr>
                        <a:t>Timescale (Immediate, 30, 60, 90,180,365)</a:t>
                      </a:r>
                      <a:endParaRPr lang="nb-NO" sz="400" i="1">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spcAft>
                          <a:spcPts val="0"/>
                        </a:spcAft>
                      </a:pPr>
                      <a:r>
                        <a:rPr lang="en-GB" sz="500" b="1">
                          <a:solidFill>
                            <a:srgbClr val="000000"/>
                          </a:solidFill>
                          <a:latin typeface="Arial"/>
                          <a:ea typeface="PMingLiU"/>
                          <a:cs typeface="Tahoma"/>
                        </a:rPr>
                        <a:t>Verification Method</a:t>
                      </a:r>
                      <a:endParaRPr lang="nb-NO" sz="500" b="1">
                        <a:solidFill>
                          <a:srgbClr val="000000"/>
                        </a:solidFill>
                        <a:latin typeface="Arial"/>
                        <a:ea typeface="PMingLiU"/>
                        <a:cs typeface="Tahoma"/>
                      </a:endParaRPr>
                    </a:p>
                    <a:p>
                      <a:pPr algn="ctr">
                        <a:spcAft>
                          <a:spcPts val="0"/>
                        </a:spcAft>
                      </a:pPr>
                      <a:r>
                        <a:rPr lang="en-GB" sz="400" i="1">
                          <a:solidFill>
                            <a:srgbClr val="000000"/>
                          </a:solidFill>
                          <a:latin typeface="Arial"/>
                          <a:ea typeface="PMingLiU"/>
                          <a:cs typeface="Tahoma"/>
                        </a:rPr>
                        <a:t>Desktop / Follow-Up</a:t>
                      </a:r>
                      <a:endParaRPr lang="nb-NO" sz="400" i="1">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spcAft>
                          <a:spcPts val="0"/>
                        </a:spcAft>
                      </a:pPr>
                      <a:r>
                        <a:rPr lang="en-GB" sz="500" b="1">
                          <a:solidFill>
                            <a:srgbClr val="000000"/>
                          </a:solidFill>
                          <a:latin typeface="Arial"/>
                          <a:ea typeface="PMingLiU"/>
                          <a:cs typeface="Tahoma"/>
                        </a:rPr>
                        <a:t>Agreed by Management and Name of Responsible Person:</a:t>
                      </a:r>
                      <a:endParaRPr lang="nb-NO" sz="500" b="1">
                        <a:solidFill>
                          <a:srgbClr val="000000"/>
                        </a:solidFill>
                        <a:latin typeface="Arial"/>
                        <a:ea typeface="PMingLiU"/>
                        <a:cs typeface="Tahoma"/>
                      </a:endParaRPr>
                    </a:p>
                    <a:p>
                      <a:pPr algn="ctr">
                        <a:spcAft>
                          <a:spcPts val="0"/>
                        </a:spcAft>
                      </a:pPr>
                      <a:r>
                        <a:rPr lang="en-GB" sz="400" i="1">
                          <a:solidFill>
                            <a:srgbClr val="000000"/>
                          </a:solidFill>
                          <a:latin typeface="Arial"/>
                          <a:ea typeface="PMingLiU"/>
                          <a:cs typeface="Tahoma"/>
                        </a:rPr>
                        <a:t>Note if management agree to the non-compliance, and document name of responsible person</a:t>
                      </a:r>
                      <a:endParaRPr lang="nb-NO" sz="400" i="1">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spcAft>
                          <a:spcPts val="0"/>
                        </a:spcAft>
                      </a:pPr>
                      <a:r>
                        <a:rPr lang="en-GB" sz="500" b="1">
                          <a:solidFill>
                            <a:srgbClr val="000000"/>
                          </a:solidFill>
                          <a:latin typeface="Arial"/>
                          <a:ea typeface="PMingLiU"/>
                          <a:cs typeface="Tahoma"/>
                        </a:rPr>
                        <a:t>Verification Evidence and</a:t>
                      </a:r>
                      <a:endParaRPr lang="nb-NO" sz="500" b="1">
                        <a:solidFill>
                          <a:srgbClr val="000000"/>
                        </a:solidFill>
                        <a:latin typeface="Arial"/>
                        <a:ea typeface="PMingLiU"/>
                        <a:cs typeface="Tahoma"/>
                      </a:endParaRPr>
                    </a:p>
                    <a:p>
                      <a:pPr algn="ctr">
                        <a:spcAft>
                          <a:spcPts val="0"/>
                        </a:spcAft>
                      </a:pPr>
                      <a:r>
                        <a:rPr lang="en-GB" sz="500" b="1">
                          <a:solidFill>
                            <a:srgbClr val="000000"/>
                          </a:solidFill>
                          <a:latin typeface="Arial"/>
                          <a:ea typeface="PMingLiU"/>
                          <a:cs typeface="Tahoma"/>
                        </a:rPr>
                        <a:t>Comments</a:t>
                      </a:r>
                      <a:endParaRPr lang="nb-NO" sz="500" b="1">
                        <a:solidFill>
                          <a:srgbClr val="000000"/>
                        </a:solidFill>
                        <a:latin typeface="Arial"/>
                        <a:ea typeface="PMingLiU"/>
                        <a:cs typeface="Tahoma"/>
                      </a:endParaRPr>
                    </a:p>
                    <a:p>
                      <a:pPr algn="ctr">
                        <a:spcAft>
                          <a:spcPts val="0"/>
                        </a:spcAft>
                      </a:pPr>
                      <a:r>
                        <a:rPr lang="en-GB" sz="400" i="1">
                          <a:solidFill>
                            <a:srgbClr val="000000"/>
                          </a:solidFill>
                          <a:latin typeface="Arial"/>
                          <a:ea typeface="PMingLiU"/>
                          <a:cs typeface="Tahoma"/>
                        </a:rPr>
                        <a:t>Details on corrective action evidence</a:t>
                      </a:r>
                      <a:endParaRPr lang="nb-NO" sz="400" i="1">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spcAft>
                          <a:spcPts val="0"/>
                        </a:spcAft>
                      </a:pPr>
                      <a:r>
                        <a:rPr lang="en-GB" sz="500" b="1">
                          <a:solidFill>
                            <a:srgbClr val="000000"/>
                          </a:solidFill>
                          <a:latin typeface="Arial"/>
                          <a:ea typeface="PMingLiU"/>
                          <a:cs typeface="Tahoma"/>
                        </a:rPr>
                        <a:t>Status</a:t>
                      </a:r>
                      <a:endParaRPr lang="nb-NO" sz="500" b="1">
                        <a:solidFill>
                          <a:srgbClr val="000000"/>
                        </a:solidFill>
                        <a:latin typeface="Arial"/>
                        <a:ea typeface="PMingLiU"/>
                        <a:cs typeface="Tahoma"/>
                      </a:endParaRPr>
                    </a:p>
                    <a:p>
                      <a:pPr algn="ctr">
                        <a:spcAft>
                          <a:spcPts val="0"/>
                        </a:spcAft>
                      </a:pPr>
                      <a:r>
                        <a:rPr lang="en-GB" sz="400" b="0" i="1">
                          <a:solidFill>
                            <a:srgbClr val="000000"/>
                          </a:solidFill>
                          <a:latin typeface="Arial"/>
                          <a:ea typeface="PMingLiU"/>
                          <a:cs typeface="Tahoma"/>
                        </a:rPr>
                        <a:t>Open/Closed or comment</a:t>
                      </a:r>
                      <a:endParaRPr lang="nb-NO" sz="500" b="1">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1720334">
                <a:tc>
                  <a:txBody>
                    <a:bodyPr/>
                    <a:lstStyle/>
                    <a:p>
                      <a:pPr>
                        <a:spcAft>
                          <a:spcPts val="0"/>
                        </a:spcAft>
                      </a:pPr>
                      <a:r>
                        <a:rPr lang="en-GB" sz="500">
                          <a:solidFill>
                            <a:srgbClr val="000000"/>
                          </a:solidFill>
                          <a:latin typeface="Arial"/>
                          <a:ea typeface="PMingLiU"/>
                          <a:cs typeface="Tahoma"/>
                        </a:rPr>
                        <a:t>Health &amp; Safety 1</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spcAft>
                          <a:spcPts val="0"/>
                        </a:spcAft>
                      </a:pPr>
                      <a:r>
                        <a:rPr lang="en-GB" sz="500">
                          <a:solidFill>
                            <a:srgbClr val="000000"/>
                          </a:solidFill>
                          <a:latin typeface="Arial"/>
                          <a:ea typeface="PMingLiU"/>
                          <a:cs typeface="Tahoma"/>
                        </a:rPr>
                        <a:t>New</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spcAft>
                          <a:spcPts val="0"/>
                        </a:spcAft>
                      </a:pPr>
                      <a:r>
                        <a:rPr lang="en-GB" sz="500">
                          <a:solidFill>
                            <a:srgbClr val="000000"/>
                          </a:solidFill>
                          <a:latin typeface="Arial"/>
                          <a:ea typeface="PMingLiU"/>
                          <a:cs typeface="Tahoma"/>
                        </a:rPr>
                        <a:t>In accordance with The Factories Act, 1948 Sec 45 adequate number of workers have to be rained for first aid use.</a:t>
                      </a:r>
                      <a:endParaRPr lang="nb-NO" sz="500">
                        <a:solidFill>
                          <a:srgbClr val="000000"/>
                        </a:solidFill>
                        <a:latin typeface="Arial"/>
                        <a:ea typeface="PMingLiU"/>
                        <a:cs typeface="Tahoma"/>
                      </a:endParaRPr>
                    </a:p>
                    <a:p>
                      <a:pPr>
                        <a:spcAft>
                          <a:spcPts val="0"/>
                        </a:spcAft>
                      </a:pPr>
                      <a:r>
                        <a:rPr lang="en-GB" sz="500">
                          <a:solidFill>
                            <a:srgbClr val="000000"/>
                          </a:solidFill>
                          <a:latin typeface="Arial"/>
                          <a:ea typeface="PMingLiU"/>
                          <a:cs typeface="Tahoma"/>
                        </a:rPr>
                        <a:t>During the current assessment, it was noted that the factory had trained only 7 workers besides having the ambulance room, which is inadequate considering the number of workers in the factory, shifts and availability of first aid boxes.</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spcAft>
                          <a:spcPts val="0"/>
                        </a:spcAft>
                      </a:pPr>
                      <a:r>
                        <a:rPr lang="en-GB" sz="500">
                          <a:solidFill>
                            <a:srgbClr val="000000"/>
                          </a:solidFill>
                          <a:latin typeface="Arial"/>
                          <a:ea typeface="PMingLiU"/>
                          <a:cs typeface="Tahoma"/>
                        </a:rPr>
                        <a:t>The factory should train adequate number of workers for use of first aid to cover both the shifts according to the strength.</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spcAft>
                          <a:spcPts val="0"/>
                        </a:spcAft>
                      </a:pPr>
                      <a:r>
                        <a:rPr lang="en-GB" sz="500">
                          <a:solidFill>
                            <a:srgbClr val="000000"/>
                          </a:solidFill>
                          <a:latin typeface="Arial"/>
                          <a:ea typeface="PMingLiU"/>
                          <a:cs typeface="Tahoma"/>
                        </a:rPr>
                        <a:t>30 days	</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spcAft>
                          <a:spcPts val="0"/>
                        </a:spcAft>
                      </a:pPr>
                      <a:r>
                        <a:rPr lang="en-GB" sz="500">
                          <a:solidFill>
                            <a:srgbClr val="000000"/>
                          </a:solidFill>
                          <a:latin typeface="Arial"/>
                          <a:ea typeface="PMingLiU"/>
                          <a:cs typeface="Tahoma"/>
                        </a:rPr>
                        <a:t>Follow up</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spcAft>
                          <a:spcPts val="0"/>
                        </a:spcAft>
                      </a:pPr>
                      <a:r>
                        <a:rPr lang="en-GB" sz="500">
                          <a:solidFill>
                            <a:srgbClr val="000000"/>
                          </a:solidFill>
                          <a:latin typeface="Arial"/>
                          <a:ea typeface="PMingLiU"/>
                          <a:cs typeface="Tahoma"/>
                        </a:rPr>
                        <a:t>Yes. Responsible person Mr. xx</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spcAft>
                          <a:spcPts val="0"/>
                        </a:spcAft>
                      </a:pPr>
                      <a:r>
                        <a:rPr lang="en-GB" sz="500">
                          <a:solidFill>
                            <a:srgbClr val="000000"/>
                          </a:solidFill>
                          <a:latin typeface="Arial"/>
                          <a:ea typeface="PMingLiU"/>
                          <a:cs typeface="Tahoma"/>
                        </a:rPr>
                        <a:t>     </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spcAft>
                          <a:spcPts val="0"/>
                        </a:spcAft>
                      </a:pPr>
                      <a:r>
                        <a:rPr lang="en-GB" sz="500">
                          <a:solidFill>
                            <a:srgbClr val="000000"/>
                          </a:solidFill>
                          <a:latin typeface="Arial"/>
                          <a:ea typeface="PMingLiU"/>
                          <a:cs typeface="Tahoma"/>
                        </a:rPr>
                        <a:t>     </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253772">
                <a:tc>
                  <a:txBody>
                    <a:bodyPr/>
                    <a:lstStyle/>
                    <a:p>
                      <a:pPr>
                        <a:spcAft>
                          <a:spcPts val="0"/>
                        </a:spcAft>
                      </a:pPr>
                      <a:r>
                        <a:rPr lang="en-GB" sz="500">
                          <a:solidFill>
                            <a:srgbClr val="000000"/>
                          </a:solidFill>
                          <a:latin typeface="Arial"/>
                          <a:ea typeface="PMingLiU"/>
                          <a:cs typeface="Tahoma"/>
                        </a:rPr>
                        <a:t>Hours of Work 2</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spcAft>
                          <a:spcPts val="0"/>
                        </a:spcAft>
                      </a:pPr>
                      <a:r>
                        <a:rPr lang="en-GB" sz="500">
                          <a:solidFill>
                            <a:srgbClr val="000000"/>
                          </a:solidFill>
                          <a:latin typeface="Arial"/>
                          <a:ea typeface="PMingLiU"/>
                          <a:cs typeface="Tahoma"/>
                        </a:rPr>
                        <a:t>New</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spcAft>
                          <a:spcPts val="0"/>
                        </a:spcAft>
                      </a:pPr>
                      <a:r>
                        <a:rPr lang="en-GB" sz="500">
                          <a:solidFill>
                            <a:srgbClr val="000000"/>
                          </a:solidFill>
                          <a:latin typeface="Arial"/>
                          <a:ea typeface="PMingLiU"/>
                          <a:cs typeface="Tahoma"/>
                        </a:rPr>
                        <a:t>In accordance with The Factories Act, 1948, Sec 51, 54 &amp; 64 the total working hours in this factory (including overtime) should not exceed 60 hours in a week or 12 hours a day and the total overtime should not exceed 75 hours in a quarter.</a:t>
                      </a:r>
                      <a:endParaRPr lang="nb-NO" sz="500">
                        <a:solidFill>
                          <a:srgbClr val="000000"/>
                        </a:solidFill>
                        <a:latin typeface="Arial"/>
                        <a:ea typeface="PMingLiU"/>
                        <a:cs typeface="Tahoma"/>
                      </a:endParaRPr>
                    </a:p>
                    <a:p>
                      <a:pPr>
                        <a:spcAft>
                          <a:spcPts val="0"/>
                        </a:spcAft>
                      </a:pPr>
                      <a:r>
                        <a:rPr lang="en-GB" sz="500">
                          <a:solidFill>
                            <a:srgbClr val="000000"/>
                          </a:solidFill>
                          <a:latin typeface="Arial"/>
                          <a:ea typeface="PMingLiU"/>
                          <a:cs typeface="Tahoma"/>
                        </a:rPr>
                        <a:t>During the current assessment, it was noted that about 5% of the workers in the factory were working up to 16 hours a day and/or 100 hours in a week or doing overtime of about 150 hours a month.  Such excess overtime was more prominent in finishing. </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spcAft>
                          <a:spcPts val="0"/>
                        </a:spcAft>
                      </a:pPr>
                      <a:r>
                        <a:rPr lang="en-GB" sz="500">
                          <a:solidFill>
                            <a:srgbClr val="000000"/>
                          </a:solidFill>
                          <a:latin typeface="Arial"/>
                          <a:ea typeface="PMingLiU"/>
                          <a:cs typeface="Tahoma"/>
                        </a:rPr>
                        <a:t>Working hours to be limited to a maximum of 60 hours a week and overtime to be restricted to a maximum of 4 hours a day and 75 hours in a quarter.</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spcAft>
                          <a:spcPts val="0"/>
                        </a:spcAft>
                      </a:pPr>
                      <a:r>
                        <a:rPr lang="en-GB" sz="500">
                          <a:solidFill>
                            <a:srgbClr val="000000"/>
                          </a:solidFill>
                          <a:latin typeface="Arial"/>
                          <a:ea typeface="PMingLiU"/>
                          <a:cs typeface="Tahoma"/>
                        </a:rPr>
                        <a:t>180 days	</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spcAft>
                          <a:spcPts val="0"/>
                        </a:spcAft>
                      </a:pPr>
                      <a:r>
                        <a:rPr lang="en-GB" sz="500">
                          <a:solidFill>
                            <a:srgbClr val="000000"/>
                          </a:solidFill>
                          <a:latin typeface="Arial"/>
                          <a:ea typeface="PMingLiU"/>
                          <a:cs typeface="Tahoma"/>
                        </a:rPr>
                        <a:t>Follow up</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spcAft>
                          <a:spcPts val="0"/>
                        </a:spcAft>
                      </a:pPr>
                      <a:r>
                        <a:rPr lang="en-GB" sz="500">
                          <a:solidFill>
                            <a:srgbClr val="000000"/>
                          </a:solidFill>
                          <a:latin typeface="Arial"/>
                          <a:ea typeface="PMingLiU"/>
                          <a:cs typeface="Tahoma"/>
                        </a:rPr>
                        <a:t>Yes. Responsible person Mr. xx</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spcAft>
                          <a:spcPts val="0"/>
                        </a:spcAft>
                      </a:pPr>
                      <a:r>
                        <a:rPr lang="en-GB" sz="500">
                          <a:solidFill>
                            <a:srgbClr val="000000"/>
                          </a:solidFill>
                          <a:latin typeface="Arial"/>
                          <a:ea typeface="PMingLiU"/>
                          <a:cs typeface="Tahoma"/>
                        </a:rPr>
                        <a:t>     </a:t>
                      </a:r>
                      <a:endParaRPr lang="nb-NO" sz="50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spcAft>
                          <a:spcPts val="0"/>
                        </a:spcAft>
                      </a:pPr>
                      <a:r>
                        <a:rPr lang="en-GB" sz="500" dirty="0">
                          <a:solidFill>
                            <a:srgbClr val="000000"/>
                          </a:solidFill>
                          <a:latin typeface="Arial"/>
                          <a:ea typeface="PMingLiU"/>
                          <a:cs typeface="Tahoma"/>
                        </a:rPr>
                        <a:t>     </a:t>
                      </a:r>
                      <a:endParaRPr lang="nb-NO" sz="500" dirty="0">
                        <a:solidFill>
                          <a:srgbClr val="000000"/>
                        </a:solidFill>
                        <a:latin typeface="Arial"/>
                        <a:ea typeface="PMingLiU"/>
                        <a:cs typeface="Tahoma"/>
                      </a:endParaRPr>
                    </a:p>
                  </a:txBody>
                  <a:tcPr marL="42988" marR="42988" marT="42988" marB="429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smtClean="0"/>
              <a:t>Fair </a:t>
            </a:r>
            <a:r>
              <a:rPr lang="nb-NO" dirty="0" err="1" smtClean="0"/>
              <a:t>competition</a:t>
            </a:r>
            <a:endParaRPr lang="nb-NO" dirty="0"/>
          </a:p>
        </p:txBody>
      </p:sp>
      <p:sp>
        <p:nvSpPr>
          <p:cNvPr id="3" name="Plassholder for innhold 2"/>
          <p:cNvSpPr>
            <a:spLocks noGrp="1"/>
          </p:cNvSpPr>
          <p:nvPr>
            <p:ph idx="1"/>
          </p:nvPr>
        </p:nvSpPr>
        <p:spPr/>
        <p:txBody>
          <a:bodyPr/>
          <a:lstStyle/>
          <a:p>
            <a:r>
              <a:rPr lang="nb-NO" sz="3200" dirty="0" err="1" smtClean="0"/>
              <a:t>Supplier</a:t>
            </a:r>
            <a:r>
              <a:rPr lang="nb-NO" sz="3200" dirty="0" smtClean="0"/>
              <a:t> </a:t>
            </a:r>
            <a:r>
              <a:rPr lang="nb-NO" sz="3200" dirty="0" err="1" smtClean="0"/>
              <a:t>number</a:t>
            </a:r>
            <a:r>
              <a:rPr lang="nb-NO" sz="3200" dirty="0" smtClean="0"/>
              <a:t> 1 – Control </a:t>
            </a:r>
            <a:r>
              <a:rPr lang="nb-NO" sz="3200" dirty="0" err="1" smtClean="0"/>
              <a:t>of</a:t>
            </a:r>
            <a:r>
              <a:rPr lang="nb-NO" sz="3200" dirty="0" smtClean="0"/>
              <a:t> </a:t>
            </a:r>
            <a:r>
              <a:rPr lang="nb-NO" sz="3200" dirty="0" err="1" smtClean="0"/>
              <a:t>supply</a:t>
            </a:r>
            <a:r>
              <a:rPr lang="nb-NO" sz="3200" dirty="0" smtClean="0"/>
              <a:t> </a:t>
            </a:r>
            <a:r>
              <a:rPr lang="nb-NO" sz="3200" dirty="0" err="1" smtClean="0"/>
              <a:t>chain</a:t>
            </a:r>
            <a:r>
              <a:rPr lang="nb-NO" sz="3200" dirty="0" smtClean="0"/>
              <a:t> </a:t>
            </a:r>
            <a:r>
              <a:rPr lang="nb-NO" sz="3200" dirty="0" err="1" smtClean="0"/>
              <a:t>according</a:t>
            </a:r>
            <a:r>
              <a:rPr lang="nb-NO" sz="3200" dirty="0" smtClean="0"/>
              <a:t> to human rights and </a:t>
            </a:r>
            <a:r>
              <a:rPr lang="nb-NO" sz="3200" dirty="0" err="1" smtClean="0"/>
              <a:t>working</a:t>
            </a:r>
            <a:r>
              <a:rPr lang="nb-NO" sz="3200" dirty="0" smtClean="0"/>
              <a:t> </a:t>
            </a:r>
            <a:r>
              <a:rPr lang="nb-NO" sz="3200" dirty="0" err="1" smtClean="0"/>
              <a:t>conditions</a:t>
            </a:r>
            <a:endParaRPr lang="nb-NO" sz="3200" dirty="0" smtClean="0"/>
          </a:p>
          <a:p>
            <a:pPr>
              <a:buNone/>
            </a:pPr>
            <a:endParaRPr lang="nb-NO" sz="3200" dirty="0" smtClean="0"/>
          </a:p>
          <a:p>
            <a:r>
              <a:rPr lang="nb-NO" sz="3200" dirty="0" err="1" smtClean="0"/>
              <a:t>Supplier</a:t>
            </a:r>
            <a:r>
              <a:rPr lang="nb-NO" sz="3200" dirty="0" smtClean="0"/>
              <a:t> </a:t>
            </a:r>
            <a:r>
              <a:rPr lang="nb-NO" sz="3200" dirty="0" err="1" smtClean="0"/>
              <a:t>number</a:t>
            </a:r>
            <a:r>
              <a:rPr lang="nb-NO" sz="3200" dirty="0" smtClean="0"/>
              <a:t> 2 – Do not </a:t>
            </a:r>
            <a:r>
              <a:rPr lang="nb-NO" sz="3200" dirty="0" err="1" smtClean="0"/>
              <a:t>care</a:t>
            </a:r>
            <a:r>
              <a:rPr lang="nb-NO" sz="3200" dirty="0" smtClean="0"/>
              <a:t> </a:t>
            </a:r>
            <a:r>
              <a:rPr lang="nb-NO" sz="3200" dirty="0" err="1" smtClean="0"/>
              <a:t>about</a:t>
            </a:r>
            <a:r>
              <a:rPr lang="nb-NO" sz="3200" dirty="0" smtClean="0"/>
              <a:t> </a:t>
            </a:r>
            <a:r>
              <a:rPr lang="nb-NO" sz="3200" dirty="0" err="1" smtClean="0"/>
              <a:t>these</a:t>
            </a:r>
            <a:r>
              <a:rPr lang="nb-NO" sz="3200" dirty="0" smtClean="0"/>
              <a:t> </a:t>
            </a:r>
            <a:r>
              <a:rPr lang="nb-NO" sz="3200" dirty="0" err="1" smtClean="0"/>
              <a:t>issues</a:t>
            </a:r>
            <a:endParaRPr lang="nb-NO" sz="3200" dirty="0" smtClean="0"/>
          </a:p>
          <a:p>
            <a:endParaRPr lang="nb-NO" sz="3200" dirty="0" smtClean="0"/>
          </a:p>
          <a:p>
            <a:r>
              <a:rPr lang="nb-NO" sz="3200" dirty="0" smtClean="0"/>
              <a:t>Is it fair </a:t>
            </a:r>
            <a:r>
              <a:rPr lang="nb-NO" sz="3200" dirty="0" err="1" smtClean="0"/>
              <a:t>competition</a:t>
            </a:r>
            <a:r>
              <a:rPr lang="nb-NO" sz="3200" dirty="0" smtClean="0"/>
              <a:t> to </a:t>
            </a:r>
            <a:r>
              <a:rPr lang="nb-NO" sz="3200" dirty="0" err="1" smtClean="0"/>
              <a:t>treat</a:t>
            </a:r>
            <a:r>
              <a:rPr lang="nb-NO" sz="3200" dirty="0" smtClean="0"/>
              <a:t> </a:t>
            </a:r>
            <a:r>
              <a:rPr lang="nb-NO" sz="3200" dirty="0" err="1" smtClean="0"/>
              <a:t>them</a:t>
            </a:r>
            <a:r>
              <a:rPr lang="nb-NO" sz="3200" dirty="0" smtClean="0"/>
              <a:t> </a:t>
            </a:r>
            <a:r>
              <a:rPr lang="nb-NO" sz="3200" dirty="0" err="1" smtClean="0"/>
              <a:t>equally</a:t>
            </a:r>
            <a:r>
              <a:rPr lang="nb-NO" sz="3200" dirty="0" smtClean="0"/>
              <a:t>?</a:t>
            </a:r>
            <a:endParaRPr lang="nb-NO" sz="32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err="1" smtClean="0"/>
              <a:t>Interesting</a:t>
            </a:r>
            <a:r>
              <a:rPr lang="nb-NO" dirty="0" smtClean="0"/>
              <a:t> links</a:t>
            </a:r>
            <a:endParaRPr lang="nb-NO" dirty="0"/>
          </a:p>
        </p:txBody>
      </p:sp>
      <p:sp>
        <p:nvSpPr>
          <p:cNvPr id="4" name="Plassholder for innhold 3"/>
          <p:cNvSpPr>
            <a:spLocks noGrp="1"/>
          </p:cNvSpPr>
          <p:nvPr>
            <p:ph idx="1"/>
          </p:nvPr>
        </p:nvSpPr>
        <p:spPr>
          <a:xfrm>
            <a:off x="467544" y="1268760"/>
            <a:ext cx="8512267" cy="4228850"/>
          </a:xfrm>
          <a:prstGeom prst="rect">
            <a:avLst/>
          </a:prstGeom>
        </p:spPr>
        <p:txBody>
          <a:bodyPr wrap="none">
            <a:spAutoFit/>
          </a:bodyPr>
          <a:lstStyle/>
          <a:p>
            <a:r>
              <a:rPr lang="da-DK" dirty="0" smtClean="0"/>
              <a:t>British Medical Association:</a:t>
            </a:r>
          </a:p>
          <a:p>
            <a:pPr>
              <a:buNone/>
            </a:pPr>
            <a:r>
              <a:rPr lang="da-DK" sz="1400" dirty="0" smtClean="0"/>
              <a:t> </a:t>
            </a:r>
            <a:r>
              <a:rPr lang="da-DK" sz="1400" u="sng" dirty="0" smtClean="0">
                <a:hlinkClick r:id="rId2"/>
              </a:rPr>
              <a:t>http://www.youtube.com/watch?v=iJ_vvac2tyE&amp;list=UUkIrTSRB-QmCldJKquf_8BQ&amp;index=3&amp;feature=plcp</a:t>
            </a:r>
            <a:r>
              <a:rPr lang="da-DK" sz="1400" dirty="0" smtClean="0"/>
              <a:t> </a:t>
            </a:r>
          </a:p>
          <a:p>
            <a:pPr>
              <a:buNone/>
            </a:pPr>
            <a:endParaRPr lang="da-DK" sz="1400" dirty="0" smtClean="0"/>
          </a:p>
          <a:p>
            <a:r>
              <a:rPr lang="da-DK" dirty="0" smtClean="0"/>
              <a:t>IEH- Ethical Trading Initiativ Norway</a:t>
            </a:r>
          </a:p>
          <a:p>
            <a:pPr>
              <a:buNone/>
            </a:pPr>
            <a:endParaRPr lang="da-DK" sz="1400" dirty="0" smtClean="0"/>
          </a:p>
          <a:p>
            <a:pPr>
              <a:buNone/>
            </a:pPr>
            <a:r>
              <a:rPr lang="nb-NO" sz="1400" dirty="0" smtClean="0">
                <a:hlinkClick r:id="rId3"/>
              </a:rPr>
              <a:t>http://etiskhandel.no/English/index.html</a:t>
            </a:r>
            <a:r>
              <a:rPr lang="nb-NO" sz="1400" dirty="0" smtClean="0"/>
              <a:t> </a:t>
            </a:r>
          </a:p>
          <a:p>
            <a:pPr>
              <a:buNone/>
            </a:pPr>
            <a:endParaRPr lang="nb-NO" sz="1400" dirty="0" smtClean="0"/>
          </a:p>
          <a:p>
            <a:r>
              <a:rPr lang="nb-NO" dirty="0" smtClean="0"/>
              <a:t>ETI – </a:t>
            </a:r>
            <a:r>
              <a:rPr lang="nb-NO" dirty="0" err="1" smtClean="0"/>
              <a:t>Etichal</a:t>
            </a:r>
            <a:r>
              <a:rPr lang="nb-NO" dirty="0" smtClean="0"/>
              <a:t> </a:t>
            </a:r>
            <a:r>
              <a:rPr lang="nb-NO" dirty="0" err="1" smtClean="0"/>
              <a:t>Trading</a:t>
            </a:r>
            <a:r>
              <a:rPr lang="nb-NO" dirty="0" smtClean="0"/>
              <a:t> </a:t>
            </a:r>
            <a:r>
              <a:rPr lang="nb-NO" dirty="0" err="1" smtClean="0"/>
              <a:t>Initiative</a:t>
            </a:r>
            <a:r>
              <a:rPr lang="nb-NO" dirty="0" smtClean="0"/>
              <a:t> </a:t>
            </a:r>
            <a:r>
              <a:rPr lang="nb-NO" dirty="0" err="1" smtClean="0"/>
              <a:t>Britain</a:t>
            </a:r>
            <a:endParaRPr lang="nb-NO" dirty="0" smtClean="0"/>
          </a:p>
          <a:p>
            <a:pPr>
              <a:buNone/>
            </a:pPr>
            <a:endParaRPr lang="nb-NO" dirty="0" smtClean="0"/>
          </a:p>
          <a:p>
            <a:pPr>
              <a:buNone/>
            </a:pPr>
            <a:r>
              <a:rPr lang="nb-NO" sz="1400" dirty="0" smtClean="0">
                <a:hlinkClick r:id="rId4"/>
              </a:rPr>
              <a:t>http://www.ethicaltrade.org/</a:t>
            </a:r>
            <a:r>
              <a:rPr lang="nb-NO" sz="1400" dirty="0" smtClean="0"/>
              <a:t> </a:t>
            </a:r>
          </a:p>
          <a:p>
            <a:pPr>
              <a:buNone/>
            </a:pPr>
            <a:endParaRPr lang="nb-NO" dirty="0" smtClean="0"/>
          </a:p>
          <a:p>
            <a:endParaRPr lang="nb-NO"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Sylinder 2"/>
          <p:cNvSpPr txBox="1"/>
          <p:nvPr/>
        </p:nvSpPr>
        <p:spPr>
          <a:xfrm>
            <a:off x="1043608" y="1052736"/>
            <a:ext cx="7272808" cy="1077218"/>
          </a:xfrm>
          <a:prstGeom prst="rect">
            <a:avLst/>
          </a:prstGeom>
          <a:solidFill>
            <a:schemeClr val="bg1"/>
          </a:solidFill>
        </p:spPr>
        <p:txBody>
          <a:bodyPr wrap="square" rtlCol="0">
            <a:spAutoFit/>
          </a:bodyPr>
          <a:lstStyle/>
          <a:p>
            <a:r>
              <a:rPr lang="nb-NO" sz="3200" b="1" dirty="0" err="1" smtClean="0">
                <a:solidFill>
                  <a:schemeClr val="accent2"/>
                </a:solidFill>
                <a:latin typeface="+mn-lt"/>
              </a:rPr>
              <a:t>Thank</a:t>
            </a:r>
            <a:r>
              <a:rPr lang="nb-NO" sz="3200" b="1" dirty="0" smtClean="0">
                <a:solidFill>
                  <a:schemeClr val="accent2"/>
                </a:solidFill>
                <a:latin typeface="+mn-lt"/>
              </a:rPr>
              <a:t> </a:t>
            </a:r>
            <a:r>
              <a:rPr lang="nb-NO" sz="3200" b="1" dirty="0" err="1" smtClean="0">
                <a:solidFill>
                  <a:schemeClr val="accent2"/>
                </a:solidFill>
                <a:latin typeface="+mn-lt"/>
              </a:rPr>
              <a:t>you</a:t>
            </a:r>
            <a:r>
              <a:rPr lang="nb-NO" sz="3200" b="1" dirty="0" smtClean="0">
                <a:solidFill>
                  <a:schemeClr val="accent2"/>
                </a:solidFill>
                <a:latin typeface="+mn-lt"/>
              </a:rPr>
              <a:t>!</a:t>
            </a:r>
          </a:p>
          <a:p>
            <a:r>
              <a:rPr lang="nb-NO" sz="3200" b="1" dirty="0" err="1" smtClean="0">
                <a:solidFill>
                  <a:schemeClr val="bg1"/>
                </a:solidFill>
                <a:latin typeface="+mn-lt"/>
                <a:hlinkClick r:id="rId2"/>
              </a:rPr>
              <a:t>grete.solli@helse-sorost.no</a:t>
            </a:r>
            <a:r>
              <a:rPr lang="nb-NO" sz="3200" b="1" dirty="0" smtClean="0">
                <a:solidFill>
                  <a:schemeClr val="bg1"/>
                </a:solidFill>
                <a:latin typeface="+mn-lt"/>
              </a:rPr>
              <a:t> </a:t>
            </a:r>
            <a:endParaRPr lang="nb-NO" sz="3200" b="1" dirty="0">
              <a:solidFill>
                <a:schemeClr val="bg1"/>
              </a:solidFill>
              <a:latin typeface="+mn-l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Helse Sør-Øst (2012)">
  <a:themeElements>
    <a:clrScheme name="HSØ">
      <a:dk1>
        <a:srgbClr val="000000"/>
      </a:dk1>
      <a:lt1>
        <a:srgbClr val="FFFFFF"/>
      </a:lt1>
      <a:dk2>
        <a:srgbClr val="000000"/>
      </a:dk2>
      <a:lt2>
        <a:srgbClr val="808080"/>
      </a:lt2>
      <a:accent1>
        <a:srgbClr val="003388"/>
      </a:accent1>
      <a:accent2>
        <a:srgbClr val="5599EE"/>
      </a:accent2>
      <a:accent3>
        <a:srgbClr val="77AA88"/>
      </a:accent3>
      <a:accent4>
        <a:srgbClr val="BBBBBB"/>
      </a:accent4>
      <a:accent5>
        <a:srgbClr val="FFDD77"/>
      </a:accent5>
      <a:accent6>
        <a:srgbClr val="DD0022"/>
      </a:accent6>
      <a:hlink>
        <a:srgbClr val="5599EE"/>
      </a:hlink>
      <a:folHlink>
        <a:srgbClr val="5599EE"/>
      </a:folHlink>
    </a:clrScheme>
    <a:fontScheme name="HSØ">
      <a:majorFont>
        <a:latin typeface="Calibri"/>
        <a:ea typeface=""/>
        <a:cs typeface=""/>
      </a:majorFont>
      <a:minorFont>
        <a:latin typeface="Cambria"/>
        <a:ea typeface=""/>
        <a:cs typeface=""/>
      </a:minorFont>
    </a:fontScheme>
    <a:fmtScheme name="Aspek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41275">
          <a:solidFill>
            <a:schemeClr val="accent2"/>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600" dirty="0">
            <a:latin typeface="+mn-lt"/>
          </a:defRPr>
        </a:defPPr>
      </a:lstStyle>
    </a:txDef>
  </a:objectDefaults>
  <a:extraClrSchemeLst>
    <a:extraClrScheme>
      <a:clrScheme name="Standard utform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 utform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rd utform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rd utform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rd utform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rd utform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rd utform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rd utform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rd utform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rd utform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rd utform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rd utform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ns:customPropertyEditors xmlns:tns="http://schemas.microsoft.com/office/2006/customDocumentInformationPanel">
  <tns:showOnOpen>false</tns:showOnOpen>
  <tns:defaultPropertyEditorNamespace>Standardegenskaper</tns:defaultPropertyEditorNamespace>
</tns:customPropertyEditors>
</file>

<file path=customXml/itemProps1.xml><?xml version="1.0" encoding="utf-8"?>
<ds:datastoreItem xmlns:ds="http://schemas.openxmlformats.org/officeDocument/2006/customXml" ds:itemID="{5A3BDB2F-0740-41FF-8264-5F4706EEAFD0}">
  <ds:schemaRefs>
    <ds:schemaRef ds:uri="http://schemas.microsoft.com/office/2006/customDocumentInformationPanel"/>
  </ds:schemaRefs>
</ds:datastoreItem>
</file>

<file path=docProps/app.xml><?xml version="1.0" encoding="utf-8"?>
<Properties xmlns="http://schemas.openxmlformats.org/officeDocument/2006/extended-properties" xmlns:vt="http://schemas.openxmlformats.org/officeDocument/2006/docPropsVTypes">
  <Template>Helse Sør-Øst (2012)</Template>
  <TotalTime>333</TotalTime>
  <Words>1046</Words>
  <Application>Microsoft Office PowerPoint</Application>
  <PresentationFormat>Skjermfremvisning (4:3)</PresentationFormat>
  <Paragraphs>152</Paragraphs>
  <Slides>18</Slides>
  <Notes>1</Notes>
  <HiddenSlides>0</HiddenSlides>
  <MMClips>0</MMClips>
  <ScaleCrop>false</ScaleCrop>
  <HeadingPairs>
    <vt:vector size="4" baseType="variant">
      <vt:variant>
        <vt:lpstr>Tema</vt:lpstr>
      </vt:variant>
      <vt:variant>
        <vt:i4>1</vt:i4>
      </vt:variant>
      <vt:variant>
        <vt:lpstr>Lysbildetitler</vt:lpstr>
      </vt:variant>
      <vt:variant>
        <vt:i4>18</vt:i4>
      </vt:variant>
    </vt:vector>
  </HeadingPairs>
  <TitlesOfParts>
    <vt:vector size="19" baseType="lpstr">
      <vt:lpstr>Helse Sør-Øst (2012)</vt:lpstr>
      <vt:lpstr>The South-Eastern Norway Regional Health Authority</vt:lpstr>
      <vt:lpstr>To walk the talk</vt:lpstr>
      <vt:lpstr>Lysbilde 3</vt:lpstr>
      <vt:lpstr>Our Board 10.12.2009: </vt:lpstr>
      <vt:lpstr>Asking or demanding? </vt:lpstr>
      <vt:lpstr>Our success criteria</vt:lpstr>
      <vt:lpstr>What is important for the supplier? </vt:lpstr>
      <vt:lpstr>Following up</vt:lpstr>
      <vt:lpstr>Lysbilde 9</vt:lpstr>
      <vt:lpstr>Lysbilde 10</vt:lpstr>
      <vt:lpstr>But we have to show that we mean it</vt:lpstr>
      <vt:lpstr>Lysbilde 12</vt:lpstr>
      <vt:lpstr>Letter to the fabric in India</vt:lpstr>
      <vt:lpstr>Some pictures</vt:lpstr>
      <vt:lpstr>Cap – Correction Action Plan</vt:lpstr>
      <vt:lpstr>Fair competition</vt:lpstr>
      <vt:lpstr>Interesting links</vt:lpstr>
      <vt:lpstr>Lysbilde 18</vt:lpstr>
    </vt:vector>
  </TitlesOfParts>
  <Company>Helse Sør-Øst RHF</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Lysbilde 1</dc:title>
  <dc:creator>GRSOLL</dc:creator>
  <dc:description>PPT mal 2012 - husk å benytte stiler for tekst og grafer</dc:description>
  <cp:lastModifiedBy>Grete Solli</cp:lastModifiedBy>
  <cp:revision>52</cp:revision>
  <dcterms:created xsi:type="dcterms:W3CDTF">2012-09-17T11:41:27Z</dcterms:created>
  <dcterms:modified xsi:type="dcterms:W3CDTF">2012-12-06T07:24:13Z</dcterms:modified>
</cp:coreProperties>
</file>